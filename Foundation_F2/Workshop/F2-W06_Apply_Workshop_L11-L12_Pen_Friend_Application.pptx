
<file path=[Content_Types].xml><?xml version="1.0" encoding="utf-8"?>
<Types xmlns="http://schemas.openxmlformats.org/package/2006/content-types">
  <Default Extension="fntdata" ContentType="application/x-fontdata"/>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Lst>
  <p:notesMasterIdLst>
    <p:notesMasterId r:id="rId26"/>
  </p:notesMasterIdLst>
  <p:sldSz cx="12192000" cy="6858000"/>
  <p:notesSz cx="6858000" cy="12192000"/>
  <p:embeddedFontLst>
    <p:embeddedFont>
      <p:font typeface="Amiri" pitchFamily="2" charset="-78"/>
      <p:regular r:id="rIdFont1"/>
      <p:bold r:id="rIdFont2"/>
    </p:embeddedFont>
  </p:embeddedFontLst>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notesMaster" Target="notesMasters/notesMaster1.xml"/><Relationship Id="rId27" Type="http://schemas.openxmlformats.org/officeDocument/2006/relationships/presProps" Target="presProps.xml"/><Relationship Id="rId28" Type="http://schemas.openxmlformats.org/officeDocument/2006/relationships/viewProps" Target="viewProps.xml"/><Relationship Id="rId29" Type="http://schemas.openxmlformats.org/officeDocument/2006/relationships/theme" Target="theme/theme1.xml"/><Relationship Id="rId30" Type="http://schemas.openxmlformats.org/officeDocument/2006/relationships/tableStyles" Target="tableStyles.xml"/><Relationship Id="rIdFont1" Type="http://schemas.openxmlformats.org/officeDocument/2006/relationships/font" Target="fonts/font1.fntdata"/><Relationship Id="rIdFont2" Type="http://schemas.openxmlformats.org/officeDocument/2006/relationships/font" Target="fonts/font2.fntdata"/></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cs typeface="Amiri" pitchFamily="2" charset="-78"/>
      </a:defRPr>
    </a:lvl1pPr>
    <a:lvl2pPr marL="457200" algn="l" defTabSz="914400" rtl="0" eaLnBrk="1" latinLnBrk="0" hangingPunct="1">
      <a:defRPr sz="1200" kern="1200">
        <a:solidFill>
          <a:schemeClr val="tx1"/>
        </a:solidFill>
        <a:latin typeface="+mn-lt"/>
        <a:cs typeface="Amiri" pitchFamily="2" charset="-78"/>
      </a:defRPr>
    </a:lvl2pPr>
    <a:lvl3pPr marL="914400" algn="l" defTabSz="914400" rtl="0" eaLnBrk="1" latinLnBrk="0" hangingPunct="1">
      <a:defRPr sz="1200" kern="1200">
        <a:solidFill>
          <a:schemeClr val="tx1"/>
        </a:solidFill>
        <a:latin typeface="+mn-lt"/>
        <a:cs typeface="Amiri" pitchFamily="2" charset="-78"/>
      </a:defRPr>
    </a:lvl3pPr>
    <a:lvl4pPr marL="1371600" algn="l" defTabSz="914400" rtl="0" eaLnBrk="1" latinLnBrk="0" hangingPunct="1">
      <a:defRPr sz="1200" kern="1200">
        <a:solidFill>
          <a:schemeClr val="tx1"/>
        </a:solidFill>
        <a:latin typeface="+mn-lt"/>
        <a:cs typeface="Amiri" pitchFamily="2" charset="-78"/>
      </a:defRPr>
    </a:lvl4pPr>
    <a:lvl5pPr marL="1828800" algn="l" defTabSz="914400" rtl="0" eaLnBrk="1" latinLnBrk="0" hangingPunct="1">
      <a:defRPr sz="1200" kern="1200">
        <a:solidFill>
          <a:schemeClr val="tx1"/>
        </a:solidFill>
        <a:latin typeface="+mn-lt"/>
        <a:cs typeface="Amiri" pitchFamily="2" charset="-78"/>
      </a:defRPr>
    </a:lvl5pPr>
    <a:lvl6pPr marL="2286000" algn="l" defTabSz="914400" rtl="0" eaLnBrk="1" latinLnBrk="0" hangingPunct="1">
      <a:defRPr sz="1200" kern="1200">
        <a:solidFill>
          <a:schemeClr val="tx1"/>
        </a:solidFill>
        <a:latin typeface="+mn-lt"/>
        <a:cs typeface="Amiri" pitchFamily="2" charset="-78"/>
      </a:defRPr>
    </a:lvl6pPr>
    <a:lvl7pPr marL="2743200" algn="l" defTabSz="914400" rtl="0" eaLnBrk="1" latinLnBrk="0" hangingPunct="1">
      <a:defRPr sz="1200" kern="1200">
        <a:solidFill>
          <a:schemeClr val="tx1"/>
        </a:solidFill>
        <a:latin typeface="+mn-lt"/>
        <a:cs typeface="Amiri" pitchFamily="2" charset="-78"/>
      </a:defRPr>
    </a:lvl7pPr>
    <a:lvl8pPr marL="3200400" algn="l" defTabSz="914400" rtl="0" eaLnBrk="1" latinLnBrk="0" hangingPunct="1">
      <a:defRPr sz="1200" kern="1200">
        <a:solidFill>
          <a:schemeClr val="tx1"/>
        </a:solidFill>
        <a:latin typeface="+mn-lt"/>
        <a:cs typeface="Amiri" pitchFamily="2" charset="-78"/>
      </a:defRPr>
    </a:lvl8pPr>
    <a:lvl9pPr marL="3657600" algn="l" defTabSz="914400" rtl="0" eaLnBrk="1" latinLnBrk="0" hangingPunct="1">
      <a:defRPr sz="1200" kern="1200">
        <a:solidFill>
          <a:schemeClr val="tx1"/>
        </a:solidFill>
        <a:latin typeface="+mn-lt"/>
        <a:cs typeface="Amiri" pitchFamily="2" charset="-78"/>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APPLY WORKSHOP AT A GLANCE — the third lesson of the week (Learn F2-L11 · Learn F2-L12 · Apply). 60 minutes on Teams: teacher-led in the main room for the short whole-class steps, pairs or breakout rooms of two or three for speaking, individual writing.
0–3 Welcome + plan · 3–6 What we learnt this week · PART 1 REMEMBER: word race (4) · which lesson? sort (4) · PART 2 SPEAK: new dialogue (5) · mixed question cards (6) · role-play card (7) · 30–45 seconds talk (4) · PART 3 WRITE: sentence builder (3) · spot and fix (3) · connected writing (12) + buddy check (3) · CHECK YOURSELF: models + self-check (5).
PURPOSE: students APPLY the language of BOTH lessons in new contexts — the question cards, builder and common mistakes come from the two practice rooms; the dialogue, role-play, talk and writing task are new and join the lessons together.
CONTENT: F2-L11 (Writing a Short Personal Introduction) and F2-L12 (Show What You Can Say: F2 Review &amp; Assessment).
SET-UP: share this deck or its PDF in the chat. Pairs or breakout rooms for Part 2 (same-level rooms keep the routes simple). Everyone writes in their own book or document in Part 3.</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ar-SA" dirty="0">
                <a:latin typeface="Amiri" pitchFamily="2" charset="-78"/>
                <a:ea typeface="Amiri" pitchFamily="2" charset="-78"/>
                <a:cs typeface="Amiri" pitchFamily="2" charset="-78"/>
              </a:rPr>
              <a:t>WELCOME (1 min) — while students join.
• Greet each student by name as they arrive: السَّلَامُ عَلَيْكُمْ. Take the register (Pastoral Tracker: attendance 0/1).
• 2-MINUTE CHECK-IN (SEND training): a private chat to any student who seemed unsettled last lesson — “Are you okay today? 👍 / 👎”.
• Point to the four expectations — brief and positive: this is our class agreement.
• Talk code: “I will always give you thinking and practice time before I ask anyone.” Reading aloud is by invitation — a student may say “pass” and you return to them later.
• Follow-up on preparation: who learnt the five words? Quick private reminder to anyone who did not (Flipped Learning: follow up every time).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MAP (1 min). Apply = use what you learnt in F2-L11 and F2-L12 in a NEW situation. Point out the step number in the top-left of each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WHAT WE LEARNT (3 min, main room). Ask: “What can you say after F2-L11? After F2-L12?” Take two answers in the chat for each lesson (one word or one sentence is enough). Then read objective 3 — today’s new situation that needs BOTH lessons. Students tick their route goals at the end of the lesson.
F2-L11 language: form answers (one word or phrase); connected sentences with wa · ayḍan · thumma · li-anna; checking agreement and endings
F2-L12 language: all of F2: greetings + replies; -ka / -ki questions; ismī · ʿumrī · anā min · askunu fī · atakallamu; nisba agreement; hādhā / hādhihi; he / she forms; linking words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STEP 1 (4 min). Quick, energetic retrieval. Model one round with a student, then pairs race. Collect the best score in the chat. Listen for words students hesitate over and revisit them in Part 2.</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Step 1 reference — six words from F2-L11.</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Step 1 reference — six words from F2-L12.</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STEP 2 (4 min). Students read each card ALOUD (by invitation), then type its number in the chat with 1 or 2 (for example “card 3 → 2”). Then check the answer slide. Ask: “Which card could you use in BOTH lessons?” — this links the two lessons before Part 2.</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STEP 2 (4 min). Students read each card ALOUD (by invitation), then type its number in the chat with 1 or 2 (for example “card 3 → 2”). Then check the answer slide. Ask: “Which card could you use in BOTH lessons?” — this links the two lessons before Part 2.</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ar-SA" dirty="0">
                <a:latin typeface="Amiri" pitchFamily="2" charset="-78"/>
                <a:ea typeface="Amiri" pitchFamily="2" charset="-78"/>
                <a:cs typeface="Amiri" pitchFamily="2" charset="-78"/>
              </a:rPr>
              <a:t>STEP 3 (5 min). A NEW dialogue that joins F2-L11 and F2-L12. Teacher reads it once with a confident student; then pairs. Ask: “Which lines are from F2-L11? Which from F2-L12?” Greetings, names and ages revise the whole of F2 (F2-L12); the reason with لِأَنِّي / لِأَنَّ is the F2-L11 writing target.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STEP 4 (6 min, pairs or rooms). The questions come from the two practice rooms, now mixed so students switch between the lessons. Teacher: visit rooms and ask one Stretch follow-up question in each.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ar-SA" dirty="0">
                <a:latin typeface="Amiri" pitchFamily="2" charset="-78"/>
                <a:ea typeface="Amiri" pitchFamily="2" charset="-78"/>
                <a:cs typeface="Amiri" pitchFamily="2" charset="-78"/>
              </a:rPr>
              <a:t>STEP 5 (7 min). One NEW situation that needs both lessons: the form facts and linking words (F2-L11) with greetings, questions and he / she forms from the whole unit (F2-L12). SUPPORTED: the plan column gives the first words, not the full answer. To a girl Partner A says: مَا اسْمُكِ؟ · أَيْنَ تَسْكُنِينَ؟ · أَيَّ لُغَاتٍ تَتَكَلَّمِينَ؟ · لِمَاذَا تُرِيدِينَ …؟ — she answers أَنَا بِرِيطَانِيَّةٌ.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STEP 6 (4 min). Fluency: one talk that uses BOTH lessons. Two volunteers speak to the whole class at the end (open mic).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STEP 7 (3 min). Rows come from the F2-L11 and F2-L12 practice rooms. Read the English, choose the correct part from each column (start on the RIGHT). Pairs agree, then check. Students copy the correct sentences — they help in Step 9.</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STEP 7 (3 min). Rows come from the F2-L11 and F2-L12 practice rooms. Read the English, choose the correct part from each column (start on the RIGHT). Pairs agree, then check. Students copy the correct sentences — they help in Step 9.</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STEP 8 (3 min). Common mistakes from both lessons. Students type the corrected version in the chat before the answer slide. These are the mistakes to look for in the buddy check.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STEP 8 (3 min). Common mistakes from both lessons. Students type the corrected version in the chat before the answer slide. These are the mistakes to look for in the buddy check.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STEP 9 support. Core: use the Core frames for every bullet. Develop: use the Develop frames only if stuck. Stretch: no frames — add reasons, a time phrase and an extra detail.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STEP 9 (10 min writing, everyone on their own). Core: frames for every bullet (30–40 words). Develop: 40–70 words, frames only if stuck. Stretch: no frames, add reasons. Teacher reads ONE sentence per student (in the chat or the shared document) and gives one live correction.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BUDDY CHECK (3 min). Pairs swap texts (or share screens). Then everyone returns to the main room.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CHECK YOURSELF (2 min, main room). Each student finds one task they answered less fully and says it again using the model.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MODEL ANSWER (45 words). CHECK YOURSELF (2 min). Find each bullet point in the model, and one phrase from F2-L11 and one from F2-L12. Then each student copies ONE phrase from the model into their own text.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SELF-CHECK (1 min) against the website success criteria. Students tick privately, then type one WWW and one EBI in the chat (English is fine).
Teacher: one whole-class feedback point from live feedback. Pastoral: Curiosity &amp; Growth for honest reflection and a harder target next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CLOSE — thank students, dismiss calmly. After the lesson: complete the Pastoral Tracker (attendance, character, self-management, curiosity; demerits only for the five listed concerns). Note any student below 2/3 on the exit ticket for a Do Now check-in next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cs typeface="Amiri" pitchFamily="2" charset="-78"/>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cs typeface="Amiri" pitchFamily="2" charset="-78"/>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cs typeface="Amiri" pitchFamily="2" charset="-78"/>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cs typeface="Amiri" pitchFamily="2" charset="-78"/>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cs typeface="Amiri" pitchFamily="2" charset="-78"/>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cs typeface="Amiri" pitchFamily="2" charset="-78"/>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cs typeface="Amiri" pitchFamily="2" charset="-78"/>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cs typeface="Amiri" pitchFamily="2" charset="-78"/>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cs typeface="Amiri" pitchFamily="2" charset="-78"/>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cs typeface="Amiri" pitchFamily="2" charset="-78"/>
        </a:defRPr>
      </a:lvl9pPr>
    </p:bodyStyle>
    <p:otherStyle>
      <a:defPPr>
        <a:defRPr lang="en-US"/>
      </a:defPPr>
      <a:lvl1pPr marL="0" algn="l" defTabSz="914400" rtl="0" eaLnBrk="1" latinLnBrk="0" hangingPunct="1">
        <a:defRPr sz="1800" kern="1200">
          <a:solidFill>
            <a:schemeClr val="tx1"/>
          </a:solidFill>
          <a:latin typeface="+mn-lt"/>
          <a:cs typeface="Amiri" pitchFamily="2" charset="-78"/>
        </a:defRPr>
      </a:lvl1pPr>
      <a:lvl2pPr marL="457200" algn="l" defTabSz="914400" rtl="0" eaLnBrk="1" latinLnBrk="0" hangingPunct="1">
        <a:defRPr sz="1800" kern="1200">
          <a:solidFill>
            <a:schemeClr val="tx1"/>
          </a:solidFill>
          <a:latin typeface="+mn-lt"/>
          <a:cs typeface="Amiri" pitchFamily="2" charset="-78"/>
        </a:defRPr>
      </a:lvl2pPr>
      <a:lvl3pPr marL="914400" algn="l" defTabSz="914400" rtl="0" eaLnBrk="1" latinLnBrk="0" hangingPunct="1">
        <a:defRPr sz="1800" kern="1200">
          <a:solidFill>
            <a:schemeClr val="tx1"/>
          </a:solidFill>
          <a:latin typeface="+mn-lt"/>
          <a:cs typeface="Amiri" pitchFamily="2" charset="-78"/>
        </a:defRPr>
      </a:lvl3pPr>
      <a:lvl4pPr marL="1371600" algn="l" defTabSz="914400" rtl="0" eaLnBrk="1" latinLnBrk="0" hangingPunct="1">
        <a:defRPr sz="1800" kern="1200">
          <a:solidFill>
            <a:schemeClr val="tx1"/>
          </a:solidFill>
          <a:latin typeface="+mn-lt"/>
          <a:cs typeface="Amiri" pitchFamily="2" charset="-78"/>
        </a:defRPr>
      </a:lvl4pPr>
      <a:lvl5pPr marL="1828800" algn="l" defTabSz="914400" rtl="0" eaLnBrk="1" latinLnBrk="0" hangingPunct="1">
        <a:defRPr sz="1800" kern="1200">
          <a:solidFill>
            <a:schemeClr val="tx1"/>
          </a:solidFill>
          <a:latin typeface="+mn-lt"/>
          <a:cs typeface="Amiri" pitchFamily="2" charset="-78"/>
        </a:defRPr>
      </a:lvl5pPr>
      <a:lvl6pPr marL="2286000" algn="l" defTabSz="914400" rtl="0" eaLnBrk="1" latinLnBrk="0" hangingPunct="1">
        <a:defRPr sz="1800" kern="1200">
          <a:solidFill>
            <a:schemeClr val="tx1"/>
          </a:solidFill>
          <a:latin typeface="+mn-lt"/>
          <a:cs typeface="Amiri" pitchFamily="2" charset="-78"/>
        </a:defRPr>
      </a:lvl6pPr>
      <a:lvl7pPr marL="2743200" algn="l" defTabSz="914400" rtl="0" eaLnBrk="1" latinLnBrk="0" hangingPunct="1">
        <a:defRPr sz="1800" kern="1200">
          <a:solidFill>
            <a:schemeClr val="tx1"/>
          </a:solidFill>
          <a:latin typeface="+mn-lt"/>
          <a:cs typeface="Amiri" pitchFamily="2" charset="-78"/>
        </a:defRPr>
      </a:lvl7pPr>
      <a:lvl8pPr marL="3200400" algn="l" defTabSz="914400" rtl="0" eaLnBrk="1" latinLnBrk="0" hangingPunct="1">
        <a:defRPr sz="1800" kern="1200">
          <a:solidFill>
            <a:schemeClr val="tx1"/>
          </a:solidFill>
          <a:latin typeface="+mn-lt"/>
          <a:cs typeface="Amiri" pitchFamily="2" charset="-78"/>
        </a:defRPr>
      </a:lvl8pPr>
      <a:lvl9pPr marL="3657600" algn="l" defTabSz="914400" rtl="0" eaLnBrk="1" latinLnBrk="0" hangingPunct="1">
        <a:defRPr sz="1800" kern="1200">
          <a:solidFill>
            <a:schemeClr val="tx1"/>
          </a:solidFill>
          <a:latin typeface="+mn-lt"/>
          <a:cs typeface="Amiri" pitchFamily="2" charset="-78"/>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image" Target="../media/image-2-3.png"/><Relationship Id="rId4" Type="http://schemas.openxmlformats.org/officeDocument/2006/relationships/image" Target="../media/image-2-4.png"/><Relationship Id="rId5" Type="http://schemas.openxmlformats.org/officeDocument/2006/relationships/slideLayout" Target="../slideLayouts/slideLayout1.xml"/><Relationship Id="rId6"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image" Target="../media/image-24-1.png"/><Relationship Id="rId2" Type="http://schemas.openxmlformats.org/officeDocument/2006/relationships/slideLayout" Target="../slideLayouts/slideLayout1.xml"/><Relationship Id="rId3" Type="http://schemas.openxmlformats.org/officeDocument/2006/relationships/notesSlide" Target="../notesSlides/notesSlide24.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D1F3C"/>
        </a:solidFill>
      </p:bgPr>
    </p:bg>
    <p:spTree>
      <p:nvGrpSpPr>
        <p:cNvPr id="1" name=""/>
        <p:cNvGrpSpPr/>
        <p:nvPr/>
      </p:nvGrpSpPr>
      <p:grpSpPr>
        <a:xfrm>
          <a:off x="0" y="0"/>
          <a:ext cx="0" cy="0"/>
          <a:chOff x="0" y="0"/>
          <a:chExt cx="0" cy="0"/>
        </a:xfrm>
      </p:grpSpPr>
      <p:sp>
        <p:nvSpPr>
          <p:cNvPr id="2" name="Shape 0"/>
          <p:cNvSpPr/>
          <p:nvPr/>
        </p:nvSpPr>
        <p:spPr>
          <a:xfrm>
            <a:off x="7863840" y="-1463040"/>
            <a:ext cx="5852160" cy="5852160"/>
          </a:xfrm>
          <a:prstGeom prst="ellipse">
            <a:avLst/>
          </a:prstGeom>
          <a:solidFill>
            <a:srgbClr val="14315C"/>
          </a:solidFill>
          <a:ln w="12700">
            <a:solidFill>
              <a:srgbClr val="14315C"/>
            </a:solidFill>
            <a:prstDash val="solid"/>
          </a:ln>
        </p:spPr>
      </p:sp>
      <p:sp>
        <p:nvSpPr>
          <p:cNvPr id="3" name="Shape 1"/>
          <p:cNvSpPr/>
          <p:nvPr/>
        </p:nvSpPr>
        <p:spPr>
          <a:xfrm>
            <a:off x="8778240" y="-548640"/>
            <a:ext cx="4023360" cy="4023360"/>
          </a:xfrm>
          <a:prstGeom prst="ellipse">
            <a:avLst/>
          </a:prstGeom>
          <a:solidFill>
            <a:srgbClr val="1B3B6F"/>
          </a:solidFill>
          <a:ln w="12700">
            <a:solidFill>
              <a:srgbClr val="1B3B6F"/>
            </a:solidFill>
            <a:prstDash val="solid"/>
          </a:ln>
        </p:spPr>
      </p:sp>
      <p:pic>
        <p:nvPicPr>
          <p:cNvPr id="4" name="Image 0" descr="preencoded.png">    </p:cNvPr>
          <p:cNvPicPr>
            <a:picLocks noChangeAspect="1"/>
          </p:cNvPicPr>
          <p:nvPr/>
        </p:nvPicPr>
        <p:blipFill>
          <a:blip r:embed="rId1"/>
          <a:stretch>
            <a:fillRect/>
          </a:stretch>
        </p:blipFill>
        <p:spPr>
          <a:xfrm>
            <a:off x="10012680" y="685800"/>
            <a:ext cx="1554480" cy="1554480"/>
          </a:xfrm>
          <a:prstGeom prst="rect">
            <a:avLst/>
          </a:prstGeom>
        </p:spPr>
      </p:pic>
      <p:sp>
        <p:nvSpPr>
          <p:cNvPr id="5" name="Shape 2"/>
          <p:cNvSpPr/>
          <p:nvPr/>
        </p:nvSpPr>
        <p:spPr>
          <a:xfrm>
            <a:off x="457200" y="411480"/>
            <a:ext cx="502920" cy="502920"/>
          </a:xfrm>
          <a:prstGeom prst="ellipse">
            <a:avLst/>
          </a:prstGeom>
          <a:solidFill>
            <a:srgbClr val="1B3B6F"/>
          </a:solidFill>
          <a:ln w="15875">
            <a:solidFill>
              <a:srgbClr val="D4AF37"/>
            </a:solidFill>
            <a:prstDash val="solid"/>
          </a:ln>
        </p:spPr>
      </p:sp>
      <p:sp>
        <p:nvSpPr>
          <p:cNvPr id="6" name="Text 3"/>
          <p:cNvSpPr txBox="1"/>
          <p:nvPr/>
        </p:nvSpPr>
        <p:spPr>
          <a:xfrm>
            <a:off x="457200" y="393192"/>
            <a:ext cx="502920" cy="502920"/>
          </a:xfrm>
          <a:prstGeom prst="rect">
            <a:avLst/>
          </a:prstGeom>
          <a:noFill/>
          <a:ln/>
        </p:spPr>
        <p:txBody>
          <a:bodyPr wrap="square" lIns="0" tIns="0" rIns="0" bIns="0" rtlCol="0" anchor="ctr"/>
          <a:lstStyle/>
          <a:p>
            <a:pPr rtl="1" algn="ctr" indent="0" marL="0">
              <a:buNone/>
            </a:pPr>
            <a:r>
              <a:rPr lang="ar-SA" altLang="en-US" sz="2200" b="1" dirty="0">
                <a:solidFill>
                  <a:srgbClr val="D4AF37"/>
                </a:solidFill>
                <a:latin typeface="Amiri" pitchFamily="2" charset="-78"/>
                <a:ea typeface="Amiri" pitchFamily="2" charset="-78"/>
                <a:cs typeface="Amiri" pitchFamily="2" charset="-78"/>
              </a:rPr>
              <a:t>م</a:t>
            </a:r>
            <a:endParaRPr lang="ar-SA" sz="2200" dirty="0"/>
          </a:p>
        </p:txBody>
      </p:sp>
      <p:sp>
        <p:nvSpPr>
          <p:cNvPr id="7" name="Text 4"/>
          <p:cNvSpPr txBox="1"/>
          <p:nvPr/>
        </p:nvSpPr>
        <p:spPr>
          <a:xfrm>
            <a:off x="1078992" y="384048"/>
            <a:ext cx="5486400" cy="566928"/>
          </a:xfrm>
          <a:prstGeom prst="rect">
            <a:avLst/>
          </a:prstGeom>
          <a:noFill/>
          <a:ln/>
        </p:spPr>
        <p:txBody>
          <a:bodyPr wrap="square" lIns="0" tIns="0" rIns="0" bIns="0" rtlCol="0" anchor="ctr"/>
          <a:lstStyle/>
          <a:p>
            <a:pPr indent="0" marL="0">
              <a:buNone/>
            </a:pPr>
            <a:r>
              <a:rPr lang="en-US" sz="1400" b="1" dirty="0">
                <a:solidFill>
                  <a:srgbClr val="FFFFFF"/>
                </a:solidFill>
                <a:latin typeface="Cambria" pitchFamily="34" charset="0"/>
                <a:cs typeface="Amiri" pitchFamily="2" charset="-78"/>
              </a:rPr>
              <a:t>Al Madina Online School</a:t>
            </a:r>
            <a:endParaRPr lang="en-US" sz="1400" dirty="0"/>
          </a:p>
          <a:p>
            <a:pPr indent="0" marL="0">
              <a:buNone/>
            </a:pPr>
            <a:r>
              <a:rPr lang="en-US" sz="800" b="1" spc="200" kern="0" dirty="0">
                <a:solidFill>
                  <a:srgbClr val="D4AF37"/>
                </a:solidFill>
                <a:latin typeface="Calibri" pitchFamily="34" charset="0"/>
                <a:cs typeface="Amiri" pitchFamily="2" charset="-78"/>
              </a:rPr>
              <a:t>ARABIC DEPARTMENT · MIFTAH ARABIC</a:t>
            </a:r>
            <a:endParaRPr lang="en-US" sz="1400" dirty="0"/>
          </a:p>
        </p:txBody>
      </p:sp>
      <p:sp>
        <p:nvSpPr>
          <p:cNvPr id="8" name="Text 5"/>
          <p:cNvSpPr txBox="1"/>
          <p:nvPr/>
        </p:nvSpPr>
        <p:spPr>
          <a:xfrm>
            <a:off x="457200" y="1600200"/>
            <a:ext cx="8686800" cy="274320"/>
          </a:xfrm>
          <a:prstGeom prst="rect">
            <a:avLst/>
          </a:prstGeom>
          <a:noFill/>
          <a:ln/>
        </p:spPr>
        <p:txBody>
          <a:bodyPr wrap="square" lIns="0" tIns="0" rIns="0" bIns="0" rtlCol="0" anchor="ctr"/>
          <a:lstStyle/>
          <a:p>
            <a:pPr algn="l" indent="0" marL="0">
              <a:buNone/>
            </a:pPr>
            <a:r>
              <a:rPr lang="en-US" sz="1100" b="1" spc="200" kern="0" dirty="0">
                <a:solidFill>
                  <a:srgbClr val="D4AF37"/>
                </a:solidFill>
                <a:latin typeface="Calibri" pitchFamily="34" charset="0"/>
                <a:cs typeface="Amiri" pitchFamily="2" charset="-78"/>
              </a:rPr>
              <a:t>CAMBRIDGE IGCSE ARABIC 0544  ·  YEAR 7  ·  FOUNDATION F2  ·  F2-L11 + F2-L12 · APPLY WORKSHOP</a:t>
            </a:r>
            <a:endParaRPr lang="en-US" sz="1100" dirty="0"/>
          </a:p>
        </p:txBody>
      </p:sp>
      <p:sp>
        <p:nvSpPr>
          <p:cNvPr id="9" name="Text 6"/>
          <p:cNvSpPr txBox="1"/>
          <p:nvPr/>
        </p:nvSpPr>
        <p:spPr>
          <a:xfrm>
            <a:off x="457200" y="1965960"/>
            <a:ext cx="7315200" cy="548640"/>
          </a:xfrm>
          <a:prstGeom prst="rect">
            <a:avLst/>
          </a:prstGeom>
          <a:noFill/>
          <a:ln/>
        </p:spPr>
        <p:txBody>
          <a:bodyPr wrap="square" lIns="0" tIns="0" rIns="0" bIns="0" rtlCol="0" anchor="ctr"/>
          <a:lstStyle/>
          <a:p>
            <a:pPr algn="l" indent="0" marL="0">
              <a:buNone/>
            </a:pPr>
            <a:r>
              <a:rPr lang="en-US" sz="2600" b="1" dirty="0">
                <a:solidFill>
                  <a:srgbClr val="9FB3D1"/>
                </a:solidFill>
                <a:latin typeface="Cambria" pitchFamily="34" charset="0"/>
                <a:cs typeface="Amiri" pitchFamily="2" charset="-78"/>
              </a:rPr>
              <a:t>F2-W06</a:t>
            </a:r>
            <a:endParaRPr lang="en-US" sz="2600" dirty="0"/>
          </a:p>
        </p:txBody>
      </p:sp>
      <p:sp>
        <p:nvSpPr>
          <p:cNvPr id="10" name="Text 7"/>
          <p:cNvSpPr txBox="1"/>
          <p:nvPr/>
        </p:nvSpPr>
        <p:spPr>
          <a:xfrm>
            <a:off x="457200" y="2487168"/>
            <a:ext cx="8046720" cy="868680"/>
          </a:xfrm>
          <a:prstGeom prst="rect">
            <a:avLst/>
          </a:prstGeom>
          <a:noFill/>
          <a:ln/>
        </p:spPr>
        <p:txBody>
          <a:bodyPr wrap="square" lIns="0" tIns="0" rIns="0" bIns="0" rtlCol="0" anchor="ctr"/>
          <a:lstStyle/>
          <a:p>
            <a:pPr algn="l" indent="0" marL="0">
              <a:buNone/>
            </a:pPr>
            <a:r>
              <a:rPr lang="en-US" sz="2700" b="1" dirty="0">
                <a:solidFill>
                  <a:srgbClr val="FFFFFF"/>
                </a:solidFill>
                <a:latin typeface="Cambria" pitchFamily="34" charset="0"/>
                <a:cs typeface="Amiri" pitchFamily="2" charset="-78"/>
              </a:rPr>
              <a:t>Apply Workshop — Pen-Friend Application</a:t>
            </a:r>
            <a:endParaRPr lang="en-US" sz="2700" dirty="0"/>
          </a:p>
        </p:txBody>
      </p:sp>
      <p:sp>
        <p:nvSpPr>
          <p:cNvPr id="11" name="Text 8"/>
          <p:cNvSpPr txBox="1"/>
          <p:nvPr/>
        </p:nvSpPr>
        <p:spPr>
          <a:xfrm>
            <a:off x="457200" y="3310128"/>
            <a:ext cx="8046720" cy="868680"/>
          </a:xfrm>
          <a:prstGeom prst="rect">
            <a:avLst/>
          </a:prstGeom>
          <a:noFill/>
          <a:ln/>
        </p:spPr>
        <p:txBody>
          <a:bodyPr wrap="square" lIns="0" tIns="0" rIns="0" bIns="0" rtlCol="0" anchor="ctr"/>
          <a:lstStyle/>
          <a:p>
            <a:pPr rtl="1" algn="l" indent="0" marL="0">
              <a:buNone/>
            </a:pPr>
            <a:r>
              <a:rPr lang="ar-SA" altLang="en-US" sz="3600" b="1" dirty="0">
                <a:solidFill>
                  <a:srgbClr val="D4AF37"/>
                </a:solidFill>
                <a:latin typeface="Amiri" pitchFamily="2" charset="-78"/>
                <a:ea typeface="Amiri" pitchFamily="2" charset="-78"/>
                <a:cs typeface="Amiri" pitchFamily="2" charset="-78"/>
              </a:rPr>
              <a:t>وَرْشَةُ التَّطْبِيقِ — طَلَبُ صَدِيقٍ بِالمُرَاسَلَةِ</a:t>
            </a:r>
            <a:endParaRPr lang="ar-SA" sz="3600" dirty="0"/>
          </a:p>
        </p:txBody>
      </p:sp>
      <p:sp>
        <p:nvSpPr>
          <p:cNvPr id="12" name="Text 9"/>
          <p:cNvSpPr txBox="1"/>
          <p:nvPr/>
        </p:nvSpPr>
        <p:spPr>
          <a:xfrm>
            <a:off x="457200" y="4224528"/>
            <a:ext cx="7863840" cy="731520"/>
          </a:xfrm>
          <a:prstGeom prst="rect">
            <a:avLst/>
          </a:prstGeom>
          <a:noFill/>
          <a:ln/>
        </p:spPr>
        <p:txBody>
          <a:bodyPr wrap="square" lIns="0" tIns="0" rIns="0" bIns="0" rtlCol="0" anchor="t"/>
          <a:lstStyle/>
          <a:p>
            <a:pPr algn="l" indent="0" marL="0">
              <a:buNone/>
            </a:pPr>
            <a:r>
              <a:rPr lang="en-US" sz="1400" dirty="0">
                <a:solidFill>
                  <a:srgbClr val="C6D2E6"/>
                </a:solidFill>
                <a:latin typeface="Calibri" pitchFamily="34" charset="0"/>
                <a:cs typeface="Amiri" pitchFamily="2" charset="-78"/>
              </a:rPr>
              <a:t>Students use the whole of F2 for one real purpose: they fill in a pen-friend application form, answer a club coordinator’s questions, give a full introduction with a friend, and write a connected introduction with linking words and a reason.</a:t>
            </a:r>
            <a:endParaRPr lang="en-US" sz="1400" dirty="0"/>
          </a:p>
        </p:txBody>
      </p:sp>
      <p:sp>
        <p:nvSpPr>
          <p:cNvPr id="13" name="Shape 10"/>
          <p:cNvSpPr/>
          <p:nvPr/>
        </p:nvSpPr>
        <p:spPr>
          <a:xfrm>
            <a:off x="457200" y="5166360"/>
            <a:ext cx="2651760" cy="868680"/>
          </a:xfrm>
          <a:prstGeom prst="roundRect">
            <a:avLst>
              <a:gd name="adj" fmla="val 8421"/>
            </a:avLst>
          </a:prstGeom>
          <a:solidFill>
            <a:srgbClr val="16335F"/>
          </a:solidFill>
          <a:ln w="12700">
            <a:solidFill>
              <a:srgbClr val="2A4B7C"/>
            </a:solidFill>
            <a:prstDash val="solid"/>
          </a:ln>
        </p:spPr>
      </p:sp>
      <p:sp>
        <p:nvSpPr>
          <p:cNvPr id="14" name="Text 11"/>
          <p:cNvSpPr txBox="1"/>
          <p:nvPr/>
        </p:nvSpPr>
        <p:spPr>
          <a:xfrm>
            <a:off x="621792" y="5212080"/>
            <a:ext cx="2377440" cy="777240"/>
          </a:xfrm>
          <a:prstGeom prst="rect">
            <a:avLst/>
          </a:prstGeom>
          <a:noFill/>
          <a:ln/>
        </p:spPr>
        <p:txBody>
          <a:bodyPr wrap="square" lIns="0" tIns="0" rIns="0" bIns="0" rtlCol="0" anchor="ctr"/>
          <a:lstStyle/>
          <a:p>
            <a:pPr indent="0" marL="0">
              <a:buNone/>
            </a:pPr>
            <a:r>
              <a:rPr lang="en-US" sz="850" b="1" spc="200" kern="0" dirty="0">
                <a:solidFill>
                  <a:srgbClr val="D4AF37"/>
                </a:solidFill>
                <a:latin typeface="Calibri" pitchFamily="34" charset="0"/>
                <a:cs typeface="Amiri" pitchFamily="2" charset="-78"/>
              </a:rPr>
              <a:t>LESSON</a:t>
            </a:r>
            <a:endParaRPr lang="en-US" sz="850" dirty="0"/>
          </a:p>
          <a:p>
            <a:pPr indent="0" marL="0">
              <a:buNone/>
            </a:pPr>
            <a:r>
              <a:rPr lang="en-US" sz="1200" b="1" dirty="0">
                <a:solidFill>
                  <a:srgbClr val="FFFFFF"/>
                </a:solidFill>
                <a:latin typeface="Calibri" pitchFamily="34" charset="0"/>
                <a:cs typeface="Amiri" pitchFamily="2" charset="-78"/>
              </a:rPr>
              <a:t>Apply workshop · F2-L11 + F2-L12</a:t>
            </a:r>
            <a:endParaRPr lang="en-US" sz="850" dirty="0"/>
          </a:p>
        </p:txBody>
      </p:sp>
      <p:sp>
        <p:nvSpPr>
          <p:cNvPr id="15" name="Shape 12"/>
          <p:cNvSpPr/>
          <p:nvPr/>
        </p:nvSpPr>
        <p:spPr>
          <a:xfrm>
            <a:off x="3273552" y="5166360"/>
            <a:ext cx="2651760" cy="868680"/>
          </a:xfrm>
          <a:prstGeom prst="roundRect">
            <a:avLst>
              <a:gd name="adj" fmla="val 8421"/>
            </a:avLst>
          </a:prstGeom>
          <a:solidFill>
            <a:srgbClr val="16335F"/>
          </a:solidFill>
          <a:ln w="12700">
            <a:solidFill>
              <a:srgbClr val="2A4B7C"/>
            </a:solidFill>
            <a:prstDash val="solid"/>
          </a:ln>
        </p:spPr>
      </p:sp>
      <p:sp>
        <p:nvSpPr>
          <p:cNvPr id="16" name="Text 13"/>
          <p:cNvSpPr txBox="1"/>
          <p:nvPr/>
        </p:nvSpPr>
        <p:spPr>
          <a:xfrm>
            <a:off x="3438144" y="5212080"/>
            <a:ext cx="2377440" cy="777240"/>
          </a:xfrm>
          <a:prstGeom prst="rect">
            <a:avLst/>
          </a:prstGeom>
          <a:noFill/>
          <a:ln/>
        </p:spPr>
        <p:txBody>
          <a:bodyPr wrap="square" lIns="0" tIns="0" rIns="0" bIns="0" rtlCol="0" anchor="ctr"/>
          <a:lstStyle/>
          <a:p>
            <a:pPr indent="0" marL="0">
              <a:buNone/>
            </a:pPr>
            <a:r>
              <a:rPr lang="en-US" sz="850" b="1" spc="200" kern="0" dirty="0">
                <a:solidFill>
                  <a:srgbClr val="D4AF37"/>
                </a:solidFill>
                <a:latin typeface="Calibri" pitchFamily="34" charset="0"/>
                <a:cs typeface="Amiri" pitchFamily="2" charset="-78"/>
              </a:rPr>
              <a:t>DURATION</a:t>
            </a:r>
            <a:endParaRPr lang="en-US" sz="850" dirty="0"/>
          </a:p>
          <a:p>
            <a:pPr indent="0" marL="0">
              <a:buNone/>
            </a:pPr>
            <a:r>
              <a:rPr lang="en-US" sz="1200" b="1" dirty="0">
                <a:solidFill>
                  <a:srgbClr val="FFFFFF"/>
                </a:solidFill>
                <a:latin typeface="Calibri" pitchFamily="34" charset="0"/>
                <a:cs typeface="Amiri" pitchFamily="2" charset="-78"/>
              </a:rPr>
              <a:t>60 minutes · Teams</a:t>
            </a:r>
            <a:endParaRPr lang="en-US" sz="850" dirty="0"/>
          </a:p>
        </p:txBody>
      </p:sp>
      <p:sp>
        <p:nvSpPr>
          <p:cNvPr id="17" name="Shape 14"/>
          <p:cNvSpPr/>
          <p:nvPr/>
        </p:nvSpPr>
        <p:spPr>
          <a:xfrm>
            <a:off x="6089904" y="5166360"/>
            <a:ext cx="2651760" cy="868680"/>
          </a:xfrm>
          <a:prstGeom prst="roundRect">
            <a:avLst>
              <a:gd name="adj" fmla="val 8421"/>
            </a:avLst>
          </a:prstGeom>
          <a:solidFill>
            <a:srgbClr val="16335F"/>
          </a:solidFill>
          <a:ln w="12700">
            <a:solidFill>
              <a:srgbClr val="2A4B7C"/>
            </a:solidFill>
            <a:prstDash val="solid"/>
          </a:ln>
        </p:spPr>
      </p:sp>
      <p:sp>
        <p:nvSpPr>
          <p:cNvPr id="18" name="Text 15"/>
          <p:cNvSpPr txBox="1"/>
          <p:nvPr/>
        </p:nvSpPr>
        <p:spPr>
          <a:xfrm>
            <a:off x="6254496" y="5212080"/>
            <a:ext cx="2377440" cy="777240"/>
          </a:xfrm>
          <a:prstGeom prst="rect">
            <a:avLst/>
          </a:prstGeom>
          <a:noFill/>
          <a:ln/>
        </p:spPr>
        <p:txBody>
          <a:bodyPr wrap="square" lIns="0" tIns="0" rIns="0" bIns="0" rtlCol="0" anchor="ctr"/>
          <a:lstStyle/>
          <a:p>
            <a:pPr indent="0" marL="0">
              <a:buNone/>
            </a:pPr>
            <a:r>
              <a:rPr lang="en-US" sz="850" b="1" spc="200" kern="0" dirty="0">
                <a:solidFill>
                  <a:srgbClr val="D4AF37"/>
                </a:solidFill>
                <a:latin typeface="Calibri" pitchFamily="34" charset="0"/>
                <a:cs typeface="Amiri" pitchFamily="2" charset="-78"/>
              </a:rPr>
              <a:t>LEVEL</a:t>
            </a:r>
            <a:endParaRPr lang="en-US" sz="850" dirty="0"/>
          </a:p>
          <a:p>
            <a:pPr indent="0" marL="0">
              <a:buNone/>
            </a:pPr>
            <a:r>
              <a:rPr lang="en-US" sz="1200" b="1" dirty="0">
                <a:solidFill>
                  <a:srgbClr val="FFFFFF"/>
                </a:solidFill>
                <a:latin typeface="Calibri" pitchFamily="34" charset="0"/>
                <a:cs typeface="Amiri" pitchFamily="2" charset="-78"/>
              </a:rPr>
              <a:t>Foundation · end of unit F2</a:t>
            </a:r>
            <a:endParaRPr lang="en-US" sz="850" dirty="0"/>
          </a:p>
        </p:txBody>
      </p:sp>
      <p:sp>
        <p:nvSpPr>
          <p:cNvPr id="19" name="Shape 16"/>
          <p:cNvSpPr/>
          <p:nvPr/>
        </p:nvSpPr>
        <p:spPr>
          <a:xfrm>
            <a:off x="8906256" y="5166360"/>
            <a:ext cx="2651760" cy="868680"/>
          </a:xfrm>
          <a:prstGeom prst="roundRect">
            <a:avLst>
              <a:gd name="adj" fmla="val 8421"/>
            </a:avLst>
          </a:prstGeom>
          <a:solidFill>
            <a:srgbClr val="16335F"/>
          </a:solidFill>
          <a:ln w="12700">
            <a:solidFill>
              <a:srgbClr val="2A4B7C"/>
            </a:solidFill>
            <a:prstDash val="solid"/>
          </a:ln>
        </p:spPr>
      </p:sp>
      <p:sp>
        <p:nvSpPr>
          <p:cNvPr id="20" name="Text 17"/>
          <p:cNvSpPr txBox="1"/>
          <p:nvPr/>
        </p:nvSpPr>
        <p:spPr>
          <a:xfrm>
            <a:off x="9070848" y="5212080"/>
            <a:ext cx="2377440" cy="777240"/>
          </a:xfrm>
          <a:prstGeom prst="rect">
            <a:avLst/>
          </a:prstGeom>
          <a:noFill/>
          <a:ln/>
        </p:spPr>
        <p:txBody>
          <a:bodyPr wrap="square" lIns="0" tIns="0" rIns="0" bIns="0" rtlCol="0" anchor="ctr"/>
          <a:lstStyle/>
          <a:p>
            <a:pPr indent="0" marL="0">
              <a:buNone/>
            </a:pPr>
            <a:r>
              <a:rPr lang="en-US" sz="850" b="1" spc="200" kern="0" dirty="0">
                <a:solidFill>
                  <a:srgbClr val="D4AF37"/>
                </a:solidFill>
                <a:latin typeface="Calibri" pitchFamily="34" charset="0"/>
                <a:cs typeface="Amiri" pitchFamily="2" charset="-78"/>
              </a:rPr>
              <a:t>ON THE WEBSITE</a:t>
            </a:r>
            <a:endParaRPr lang="en-US" sz="850" dirty="0"/>
          </a:p>
          <a:p>
            <a:pPr indent="0" marL="0">
              <a:buNone/>
            </a:pPr>
            <a:r>
              <a:rPr lang="en-US" sz="1200" b="1" dirty="0">
                <a:solidFill>
                  <a:srgbClr val="FFFFFF"/>
                </a:solidFill>
                <a:latin typeface="Calibri" pitchFamily="34" charset="0"/>
                <a:cs typeface="Amiri" pitchFamily="2" charset="-78"/>
              </a:rPr>
              <a:t>Pathways › Foundation › F2 › F2-L12</a:t>
            </a:r>
            <a:endParaRPr lang="en-US" sz="85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F2-W06 · Apply workshop</a:t>
            </a:r>
            <a:endParaRPr lang="en-US" sz="950" dirty="0"/>
          </a:p>
        </p:txBody>
      </p:sp>
      <p:sp>
        <p:nvSpPr>
          <p:cNvPr id="8" name="Shape 6"/>
          <p:cNvSpPr/>
          <p:nvPr/>
        </p:nvSpPr>
        <p:spPr>
          <a:xfrm>
            <a:off x="7219188" y="274320"/>
            <a:ext cx="1540764" cy="329184"/>
          </a:xfrm>
          <a:prstGeom prst="roundRect">
            <a:avLst>
              <a:gd name="adj" fmla="val 50000"/>
            </a:avLst>
          </a:prstGeom>
          <a:solidFill>
            <a:srgbClr val="5A6472"/>
          </a:solidFill>
          <a:ln w="12700">
            <a:solidFill>
              <a:srgbClr val="5A6472"/>
            </a:solidFill>
            <a:prstDash val="solid"/>
          </a:ln>
        </p:spPr>
      </p:sp>
      <p:sp>
        <p:nvSpPr>
          <p:cNvPr id="9" name="Text 7"/>
          <p:cNvSpPr txBox="1"/>
          <p:nvPr/>
        </p:nvSpPr>
        <p:spPr>
          <a:xfrm>
            <a:off x="7219188" y="274320"/>
            <a:ext cx="154076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WELCOME · 1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5A6472"/>
                </a:solidFill>
                <a:latin typeface="Calibri" pitchFamily="34" charset="0"/>
                <a:cs typeface="Amiri" pitchFamily="2" charset="-78"/>
              </a:rPr>
              <a:t>BEFORE WE BEGIN</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Our online classroom</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آدَابُ الصَّفِّ</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F2 · Greetings &amp; Introductions · F2-W06 · Apply workshop (F2-L11 + F2-L12)</a:t>
            </a:r>
            <a:endParaRPr lang="en-US" sz="850" dirty="0"/>
          </a:p>
        </p:txBody>
      </p:sp>
      <p:sp>
        <p:nvSpPr>
          <p:cNvPr id="15" name="Shape 12"/>
          <p:cNvSpPr/>
          <p:nvPr/>
        </p:nvSpPr>
        <p:spPr>
          <a:xfrm>
            <a:off x="457200" y="1828800"/>
            <a:ext cx="5394960" cy="932688"/>
          </a:xfrm>
          <a:prstGeom prst="roundRect">
            <a:avLst>
              <a:gd name="adj" fmla="val 784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640080" y="2002536"/>
            <a:ext cx="585216" cy="585216"/>
          </a:xfrm>
          <a:prstGeom prst="ellipse">
            <a:avLst/>
          </a:prstGeom>
          <a:solidFill>
            <a:srgbClr val="EEF3FA"/>
          </a:solidFill>
          <a:ln w="12700">
            <a:solidFill>
              <a:srgbClr val="EEF3FA"/>
            </a:solidFill>
            <a:prstDash val="solid"/>
          </a:ln>
        </p:spPr>
      </p:sp>
      <p:pic>
        <p:nvPicPr>
          <p:cNvPr id="17" name="Image 0" descr="preencoded.png">    </p:cNvPr>
          <p:cNvPicPr>
            <a:picLocks noChangeAspect="1"/>
          </p:cNvPicPr>
          <p:nvPr/>
        </p:nvPicPr>
        <p:blipFill>
          <a:blip r:embed="rId1"/>
          <a:stretch>
            <a:fillRect/>
          </a:stretch>
        </p:blipFill>
        <p:spPr>
          <a:xfrm>
            <a:off x="777240" y="2139696"/>
            <a:ext cx="310896" cy="310896"/>
          </a:xfrm>
          <a:prstGeom prst="rect">
            <a:avLst/>
          </a:prstGeom>
        </p:spPr>
      </p:pic>
      <p:sp>
        <p:nvSpPr>
          <p:cNvPr id="18" name="Text 14"/>
          <p:cNvSpPr txBox="1"/>
          <p:nvPr/>
        </p:nvSpPr>
        <p:spPr>
          <a:xfrm>
            <a:off x="1371600" y="1901952"/>
            <a:ext cx="4389120" cy="786384"/>
          </a:xfrm>
          <a:prstGeom prst="rect">
            <a:avLst/>
          </a:prstGeom>
          <a:noFill/>
          <a:ln/>
        </p:spPr>
        <p:txBody>
          <a:bodyPr wrap="square" lIns="0" tIns="0" rIns="0" bIns="0" rtlCol="0" anchor="ctr"/>
          <a:lstStyle/>
          <a:p>
            <a:pPr indent="0" marL="0">
              <a:buNone/>
            </a:pPr>
            <a:r>
              <a:rPr lang="en-US" sz="1500" b="1" dirty="0">
                <a:solidFill>
                  <a:srgbClr val="1B3B6F"/>
                </a:solidFill>
                <a:latin typeface="Calibri" pitchFamily="34" charset="0"/>
                <a:cs typeface="Amiri" pitchFamily="2" charset="-78"/>
              </a:rPr>
              <a:t>Camera on</a:t>
            </a:r>
            <a:endParaRPr lang="en-US" sz="1500" dirty="0"/>
          </a:p>
          <a:p>
            <a:pPr indent="0" marL="0">
              <a:buNone/>
            </a:pPr>
            <a:r>
              <a:rPr lang="en-US" sz="1150" dirty="0">
                <a:solidFill>
                  <a:srgbClr val="5A6472"/>
                </a:solidFill>
                <a:latin typeface="Calibri" pitchFamily="34" charset="0"/>
                <a:cs typeface="Amiri" pitchFamily="2" charset="-78"/>
              </a:rPr>
              <a:t>So I can see you learning and help you quickly.</a:t>
            </a:r>
            <a:endParaRPr lang="en-US" sz="1500" dirty="0"/>
          </a:p>
        </p:txBody>
      </p:sp>
      <p:sp>
        <p:nvSpPr>
          <p:cNvPr id="19" name="Shape 15"/>
          <p:cNvSpPr/>
          <p:nvPr/>
        </p:nvSpPr>
        <p:spPr>
          <a:xfrm>
            <a:off x="457200" y="2907792"/>
            <a:ext cx="5394960" cy="932688"/>
          </a:xfrm>
          <a:prstGeom prst="roundRect">
            <a:avLst>
              <a:gd name="adj" fmla="val 784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0" name="Shape 16"/>
          <p:cNvSpPr/>
          <p:nvPr/>
        </p:nvSpPr>
        <p:spPr>
          <a:xfrm>
            <a:off x="640080" y="3081528"/>
            <a:ext cx="585216" cy="585216"/>
          </a:xfrm>
          <a:prstGeom prst="ellipse">
            <a:avLst/>
          </a:prstGeom>
          <a:solidFill>
            <a:srgbClr val="EEF3FA"/>
          </a:solidFill>
          <a:ln w="12700">
            <a:solidFill>
              <a:srgbClr val="EEF3FA"/>
            </a:solidFill>
            <a:prstDash val="solid"/>
          </a:ln>
        </p:spPr>
      </p:sp>
      <p:pic>
        <p:nvPicPr>
          <p:cNvPr id="21" name="Image 1" descr="preencoded.png">    </p:cNvPr>
          <p:cNvPicPr>
            <a:picLocks noChangeAspect="1"/>
          </p:cNvPicPr>
          <p:nvPr/>
        </p:nvPicPr>
        <p:blipFill>
          <a:blip r:embed="rId2"/>
          <a:stretch>
            <a:fillRect/>
          </a:stretch>
        </p:blipFill>
        <p:spPr>
          <a:xfrm>
            <a:off x="777240" y="3218688"/>
            <a:ext cx="310896" cy="310896"/>
          </a:xfrm>
          <a:prstGeom prst="rect">
            <a:avLst/>
          </a:prstGeom>
        </p:spPr>
      </p:pic>
      <p:sp>
        <p:nvSpPr>
          <p:cNvPr id="22" name="Text 17"/>
          <p:cNvSpPr txBox="1"/>
          <p:nvPr/>
        </p:nvSpPr>
        <p:spPr>
          <a:xfrm>
            <a:off x="1371600" y="2980944"/>
            <a:ext cx="4389120" cy="786384"/>
          </a:xfrm>
          <a:prstGeom prst="rect">
            <a:avLst/>
          </a:prstGeom>
          <a:noFill/>
          <a:ln/>
        </p:spPr>
        <p:txBody>
          <a:bodyPr wrap="square" lIns="0" tIns="0" rIns="0" bIns="0" rtlCol="0" anchor="ctr"/>
          <a:lstStyle/>
          <a:p>
            <a:pPr indent="0" marL="0">
              <a:buNone/>
            </a:pPr>
            <a:r>
              <a:rPr lang="en-US" sz="1500" b="1" dirty="0">
                <a:solidFill>
                  <a:srgbClr val="1B3B6F"/>
                </a:solidFill>
                <a:latin typeface="Calibri" pitchFamily="34" charset="0"/>
                <a:cs typeface="Amiri" pitchFamily="2" charset="-78"/>
              </a:rPr>
              <a:t>Mic muted</a:t>
            </a:r>
            <a:endParaRPr lang="en-US" sz="1500" dirty="0"/>
          </a:p>
          <a:p>
            <a:pPr indent="0" marL="0">
              <a:buNone/>
            </a:pPr>
            <a:r>
              <a:rPr lang="en-US" sz="1150" dirty="0">
                <a:solidFill>
                  <a:srgbClr val="5A6472"/>
                </a:solidFill>
                <a:latin typeface="Calibri" pitchFamily="34" charset="0"/>
                <a:cs typeface="Amiri" pitchFamily="2" charset="-78"/>
              </a:rPr>
              <a:t>Unmute only when invited to speak.</a:t>
            </a:r>
            <a:endParaRPr lang="en-US" sz="1500" dirty="0"/>
          </a:p>
        </p:txBody>
      </p:sp>
      <p:sp>
        <p:nvSpPr>
          <p:cNvPr id="23" name="Shape 18"/>
          <p:cNvSpPr/>
          <p:nvPr/>
        </p:nvSpPr>
        <p:spPr>
          <a:xfrm>
            <a:off x="457200" y="3986784"/>
            <a:ext cx="5394960" cy="932688"/>
          </a:xfrm>
          <a:prstGeom prst="roundRect">
            <a:avLst>
              <a:gd name="adj" fmla="val 784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4" name="Shape 19"/>
          <p:cNvSpPr/>
          <p:nvPr/>
        </p:nvSpPr>
        <p:spPr>
          <a:xfrm>
            <a:off x="640080" y="4160520"/>
            <a:ext cx="585216" cy="585216"/>
          </a:xfrm>
          <a:prstGeom prst="ellipse">
            <a:avLst/>
          </a:prstGeom>
          <a:solidFill>
            <a:srgbClr val="EEF3FA"/>
          </a:solidFill>
          <a:ln w="12700">
            <a:solidFill>
              <a:srgbClr val="EEF3FA"/>
            </a:solidFill>
            <a:prstDash val="solid"/>
          </a:ln>
        </p:spPr>
      </p:sp>
      <p:pic>
        <p:nvPicPr>
          <p:cNvPr id="25" name="Image 2" descr="preencoded.png">    </p:cNvPr>
          <p:cNvPicPr>
            <a:picLocks noChangeAspect="1"/>
          </p:cNvPicPr>
          <p:nvPr/>
        </p:nvPicPr>
        <p:blipFill>
          <a:blip r:embed="rId3"/>
          <a:stretch>
            <a:fillRect/>
          </a:stretch>
        </p:blipFill>
        <p:spPr>
          <a:xfrm>
            <a:off x="777240" y="4297680"/>
            <a:ext cx="310896" cy="310896"/>
          </a:xfrm>
          <a:prstGeom prst="rect">
            <a:avLst/>
          </a:prstGeom>
        </p:spPr>
      </p:pic>
      <p:sp>
        <p:nvSpPr>
          <p:cNvPr id="26" name="Text 20"/>
          <p:cNvSpPr txBox="1"/>
          <p:nvPr/>
        </p:nvSpPr>
        <p:spPr>
          <a:xfrm>
            <a:off x="1371600" y="4059936"/>
            <a:ext cx="4389120" cy="786384"/>
          </a:xfrm>
          <a:prstGeom prst="rect">
            <a:avLst/>
          </a:prstGeom>
          <a:noFill/>
          <a:ln/>
        </p:spPr>
        <p:txBody>
          <a:bodyPr wrap="square" lIns="0" tIns="0" rIns="0" bIns="0" rtlCol="0" anchor="ctr"/>
          <a:lstStyle/>
          <a:p>
            <a:pPr indent="0" marL="0">
              <a:buNone/>
            </a:pPr>
            <a:r>
              <a:rPr lang="en-US" sz="1500" b="1" dirty="0">
                <a:solidFill>
                  <a:srgbClr val="1B3B6F"/>
                </a:solidFill>
                <a:latin typeface="Calibri" pitchFamily="34" charset="0"/>
                <a:cs typeface="Amiri" pitchFamily="2" charset="-78"/>
              </a:rPr>
              <a:t>Chat for learning</a:t>
            </a:r>
            <a:endParaRPr lang="en-US" sz="1500" dirty="0"/>
          </a:p>
          <a:p>
            <a:pPr indent="0" marL="0">
              <a:buNone/>
            </a:pPr>
            <a:r>
              <a:rPr lang="en-US" sz="1150" dirty="0">
                <a:solidFill>
                  <a:srgbClr val="5A6472"/>
                </a:solidFill>
                <a:latin typeface="Calibri" pitchFamily="34" charset="0"/>
                <a:cs typeface="Amiri" pitchFamily="2" charset="-78"/>
              </a:rPr>
              <a:t>Answers, questions and Arabic only.</a:t>
            </a:r>
            <a:endParaRPr lang="en-US" sz="1500" dirty="0"/>
          </a:p>
        </p:txBody>
      </p:sp>
      <p:sp>
        <p:nvSpPr>
          <p:cNvPr id="27" name="Shape 21"/>
          <p:cNvSpPr/>
          <p:nvPr/>
        </p:nvSpPr>
        <p:spPr>
          <a:xfrm>
            <a:off x="457200" y="5065776"/>
            <a:ext cx="5394960" cy="932688"/>
          </a:xfrm>
          <a:prstGeom prst="roundRect">
            <a:avLst>
              <a:gd name="adj" fmla="val 784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8" name="Shape 22"/>
          <p:cNvSpPr/>
          <p:nvPr/>
        </p:nvSpPr>
        <p:spPr>
          <a:xfrm>
            <a:off x="640080" y="5239512"/>
            <a:ext cx="585216" cy="585216"/>
          </a:xfrm>
          <a:prstGeom prst="ellipse">
            <a:avLst/>
          </a:prstGeom>
          <a:solidFill>
            <a:srgbClr val="EEF3FA"/>
          </a:solidFill>
          <a:ln w="12700">
            <a:solidFill>
              <a:srgbClr val="EEF3FA"/>
            </a:solidFill>
            <a:prstDash val="solid"/>
          </a:ln>
        </p:spPr>
      </p:sp>
      <p:pic>
        <p:nvPicPr>
          <p:cNvPr id="29" name="Image 3" descr="preencoded.png">    </p:cNvPr>
          <p:cNvPicPr>
            <a:picLocks noChangeAspect="1"/>
          </p:cNvPicPr>
          <p:nvPr/>
        </p:nvPicPr>
        <p:blipFill>
          <a:blip r:embed="rId4"/>
          <a:stretch>
            <a:fillRect/>
          </a:stretch>
        </p:blipFill>
        <p:spPr>
          <a:xfrm>
            <a:off x="777240" y="5376672"/>
            <a:ext cx="310896" cy="310896"/>
          </a:xfrm>
          <a:prstGeom prst="rect">
            <a:avLst/>
          </a:prstGeom>
        </p:spPr>
      </p:pic>
      <p:sp>
        <p:nvSpPr>
          <p:cNvPr id="30" name="Text 23"/>
          <p:cNvSpPr txBox="1"/>
          <p:nvPr/>
        </p:nvSpPr>
        <p:spPr>
          <a:xfrm>
            <a:off x="1371600" y="5138928"/>
            <a:ext cx="4389120" cy="786384"/>
          </a:xfrm>
          <a:prstGeom prst="rect">
            <a:avLst/>
          </a:prstGeom>
          <a:noFill/>
          <a:ln/>
        </p:spPr>
        <p:txBody>
          <a:bodyPr wrap="square" lIns="0" tIns="0" rIns="0" bIns="0" rtlCol="0" anchor="ctr"/>
          <a:lstStyle/>
          <a:p>
            <a:pPr indent="0" marL="0">
              <a:buNone/>
            </a:pPr>
            <a:r>
              <a:rPr lang="en-US" sz="1500" b="1" dirty="0">
                <a:solidFill>
                  <a:srgbClr val="1B3B6F"/>
                </a:solidFill>
                <a:latin typeface="Calibri" pitchFamily="34" charset="0"/>
                <a:cs typeface="Amiri" pitchFamily="2" charset="-78"/>
              </a:rPr>
              <a:t>Raise your hand</a:t>
            </a:r>
            <a:endParaRPr lang="en-US" sz="1500" dirty="0"/>
          </a:p>
          <a:p>
            <a:pPr indent="0" marL="0">
              <a:buNone/>
            </a:pPr>
            <a:r>
              <a:rPr lang="en-US" sz="1150" dirty="0">
                <a:solidFill>
                  <a:srgbClr val="5A6472"/>
                </a:solidFill>
                <a:latin typeface="Calibri" pitchFamily="34" charset="0"/>
                <a:cs typeface="Amiri" pitchFamily="2" charset="-78"/>
              </a:rPr>
              <a:t>Use the hand button to ask for help.</a:t>
            </a:r>
            <a:endParaRPr lang="en-US" sz="1500" dirty="0"/>
          </a:p>
        </p:txBody>
      </p:sp>
      <p:sp>
        <p:nvSpPr>
          <p:cNvPr id="31" name="Shape 24"/>
          <p:cNvSpPr/>
          <p:nvPr/>
        </p:nvSpPr>
        <p:spPr>
          <a:xfrm>
            <a:off x="6172200" y="1828800"/>
            <a:ext cx="5559552" cy="4169664"/>
          </a:xfrm>
          <a:prstGeom prst="roundRect">
            <a:avLst>
              <a:gd name="adj" fmla="val 1754"/>
            </a:avLst>
          </a:prstGeom>
          <a:solidFill>
            <a:srgbClr val="F7F9FC"/>
          </a:solidFill>
          <a:ln w="9525">
            <a:solidFill>
              <a:srgbClr val="C9D6EA"/>
            </a:solidFill>
            <a:prstDash val="solid"/>
          </a:ln>
          <a:effectLst>
            <a:outerShdw sx="100000" sy="100000" kx="0" ky="0" algn="bl" rotWithShape="0" blurRad="50800" dist="19050" dir="5400000">
              <a:srgbClr val="000000">
                <a:alpha val="10000"/>
              </a:srgbClr>
            </a:outerShdw>
          </a:effectLst>
        </p:spPr>
      </p:sp>
      <p:sp>
        <p:nvSpPr>
          <p:cNvPr id="32" name="Text 25"/>
          <p:cNvSpPr txBox="1"/>
          <p:nvPr/>
        </p:nvSpPr>
        <p:spPr>
          <a:xfrm>
            <a:off x="6400800" y="1938528"/>
            <a:ext cx="5102352" cy="310896"/>
          </a:xfrm>
          <a:prstGeom prst="rect">
            <a:avLst/>
          </a:prstGeom>
          <a:noFill/>
          <a:ln/>
        </p:spPr>
        <p:txBody>
          <a:bodyPr wrap="square" lIns="0" tIns="0" rIns="0" bIns="0" rtlCol="0" anchor="ctr"/>
          <a:lstStyle/>
          <a:p>
            <a:pPr algn="l" indent="0" marL="0">
              <a:buNone/>
            </a:pPr>
            <a:r>
              <a:rPr lang="en-US" sz="1100" b="1" spc="200" kern="0" dirty="0">
                <a:solidFill>
                  <a:srgbClr val="1B3B6F"/>
                </a:solidFill>
                <a:latin typeface="Calibri" pitchFamily="34" charset="0"/>
                <a:cs typeface="Amiri" pitchFamily="2" charset="-78"/>
              </a:rPr>
              <a:t>HOW WE TALK — THE ORACY CODE</a:t>
            </a:r>
            <a:endParaRPr lang="en-US" sz="1100" dirty="0"/>
          </a:p>
        </p:txBody>
      </p:sp>
      <p:sp>
        <p:nvSpPr>
          <p:cNvPr id="33" name="Shape 26"/>
          <p:cNvSpPr/>
          <p:nvPr/>
        </p:nvSpPr>
        <p:spPr>
          <a:xfrm>
            <a:off x="6400800" y="2450592"/>
            <a:ext cx="548640" cy="548640"/>
          </a:xfrm>
          <a:prstGeom prst="ellipse">
            <a:avLst/>
          </a:prstGeom>
          <a:solidFill>
            <a:srgbClr val="1B3B6F"/>
          </a:solidFill>
          <a:ln w="12700">
            <a:solidFill>
              <a:srgbClr val="1B3B6F"/>
            </a:solidFill>
            <a:prstDash val="solid"/>
          </a:ln>
        </p:spPr>
      </p:sp>
      <p:sp>
        <p:nvSpPr>
          <p:cNvPr id="34" name="Text 27"/>
          <p:cNvSpPr txBox="1"/>
          <p:nvPr/>
        </p:nvSpPr>
        <p:spPr>
          <a:xfrm>
            <a:off x="6400800" y="24505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cs typeface="Amiri" pitchFamily="2" charset="-78"/>
              </a:rPr>
              <a:t>●</a:t>
            </a:r>
            <a:endParaRPr lang="en-US" sz="1800" dirty="0"/>
          </a:p>
        </p:txBody>
      </p:sp>
      <p:sp>
        <p:nvSpPr>
          <p:cNvPr id="35" name="Text 28"/>
          <p:cNvSpPr txBox="1"/>
          <p:nvPr/>
        </p:nvSpPr>
        <p:spPr>
          <a:xfrm>
            <a:off x="7059168" y="23774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cs typeface="Amiri" pitchFamily="2" charset="-78"/>
              </a:rPr>
              <a:t>Think</a:t>
            </a:r>
            <a:endParaRPr lang="en-US" sz="1400" dirty="0"/>
          </a:p>
          <a:p>
            <a:pPr indent="0" marL="0">
              <a:buNone/>
            </a:pPr>
            <a:r>
              <a:rPr lang="en-US" sz="1100" dirty="0">
                <a:solidFill>
                  <a:srgbClr val="5A6472"/>
                </a:solidFill>
                <a:latin typeface="Calibri" pitchFamily="34" charset="0"/>
                <a:cs typeface="Amiri" pitchFamily="2" charset="-78"/>
              </a:rPr>
              <a:t>silent preparation</a:t>
            </a:r>
            <a:endParaRPr lang="en-US" sz="1400" dirty="0"/>
          </a:p>
        </p:txBody>
      </p:sp>
      <p:sp>
        <p:nvSpPr>
          <p:cNvPr id="36" name="Shape 29"/>
          <p:cNvSpPr/>
          <p:nvPr/>
        </p:nvSpPr>
        <p:spPr>
          <a:xfrm>
            <a:off x="8997696" y="2450592"/>
            <a:ext cx="548640" cy="548640"/>
          </a:xfrm>
          <a:prstGeom prst="ellipse">
            <a:avLst/>
          </a:prstGeom>
          <a:solidFill>
            <a:srgbClr val="1B3B6F"/>
          </a:solidFill>
          <a:ln w="12700">
            <a:solidFill>
              <a:srgbClr val="1B3B6F"/>
            </a:solidFill>
            <a:prstDash val="solid"/>
          </a:ln>
        </p:spPr>
      </p:sp>
      <p:sp>
        <p:nvSpPr>
          <p:cNvPr id="37" name="Text 30"/>
          <p:cNvSpPr txBox="1"/>
          <p:nvPr/>
        </p:nvSpPr>
        <p:spPr>
          <a:xfrm>
            <a:off x="8997696" y="24505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cs typeface="Amiri" pitchFamily="2" charset="-78"/>
              </a:rPr>
              <a:t>↔</a:t>
            </a:r>
            <a:endParaRPr lang="en-US" sz="1800" dirty="0"/>
          </a:p>
        </p:txBody>
      </p:sp>
      <p:sp>
        <p:nvSpPr>
          <p:cNvPr id="38" name="Text 31"/>
          <p:cNvSpPr txBox="1"/>
          <p:nvPr/>
        </p:nvSpPr>
        <p:spPr>
          <a:xfrm>
            <a:off x="9656064" y="23774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cs typeface="Amiri" pitchFamily="2" charset="-78"/>
              </a:rPr>
              <a:t>Rehearse</a:t>
            </a:r>
            <a:endParaRPr lang="en-US" sz="1400" dirty="0"/>
          </a:p>
          <a:p>
            <a:pPr indent="0" marL="0">
              <a:buNone/>
            </a:pPr>
            <a:r>
              <a:rPr lang="en-US" sz="1100" dirty="0">
                <a:solidFill>
                  <a:srgbClr val="5A6472"/>
                </a:solidFill>
                <a:latin typeface="Calibri" pitchFamily="34" charset="0"/>
                <a:cs typeface="Amiri" pitchFamily="2" charset="-78"/>
              </a:rPr>
              <a:t>both partners speak</a:t>
            </a:r>
            <a:endParaRPr lang="en-US" sz="1400" dirty="0"/>
          </a:p>
        </p:txBody>
      </p:sp>
      <p:sp>
        <p:nvSpPr>
          <p:cNvPr id="39" name="Shape 32"/>
          <p:cNvSpPr/>
          <p:nvPr/>
        </p:nvSpPr>
        <p:spPr>
          <a:xfrm>
            <a:off x="6400800" y="3364992"/>
            <a:ext cx="548640" cy="548640"/>
          </a:xfrm>
          <a:prstGeom prst="ellipse">
            <a:avLst/>
          </a:prstGeom>
          <a:solidFill>
            <a:srgbClr val="1B3B6F"/>
          </a:solidFill>
          <a:ln w="12700">
            <a:solidFill>
              <a:srgbClr val="1B3B6F"/>
            </a:solidFill>
            <a:prstDash val="solid"/>
          </a:ln>
        </p:spPr>
      </p:sp>
      <p:sp>
        <p:nvSpPr>
          <p:cNvPr id="40" name="Text 33"/>
          <p:cNvSpPr txBox="1"/>
          <p:nvPr/>
        </p:nvSpPr>
        <p:spPr>
          <a:xfrm>
            <a:off x="6400800" y="33649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cs typeface="Amiri" pitchFamily="2" charset="-78"/>
              </a:rPr>
              <a:t>+</a:t>
            </a:r>
            <a:endParaRPr lang="en-US" sz="1800" dirty="0"/>
          </a:p>
        </p:txBody>
      </p:sp>
      <p:sp>
        <p:nvSpPr>
          <p:cNvPr id="41" name="Text 34"/>
          <p:cNvSpPr txBox="1"/>
          <p:nvPr/>
        </p:nvSpPr>
        <p:spPr>
          <a:xfrm>
            <a:off x="7059168" y="32918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cs typeface="Amiri" pitchFamily="2" charset="-78"/>
              </a:rPr>
              <a:t>Build</a:t>
            </a:r>
            <a:endParaRPr lang="en-US" sz="1400" dirty="0"/>
          </a:p>
          <a:p>
            <a:pPr indent="0" marL="0">
              <a:buNone/>
            </a:pPr>
            <a:r>
              <a:rPr lang="en-US" sz="1100" dirty="0">
                <a:solidFill>
                  <a:srgbClr val="5A6472"/>
                </a:solidFill>
                <a:latin typeface="Calibri" pitchFamily="34" charset="0"/>
                <a:cs typeface="Amiri" pitchFamily="2" charset="-78"/>
              </a:rPr>
              <a:t>add a reason or detail</a:t>
            </a:r>
            <a:endParaRPr lang="en-US" sz="1400" dirty="0"/>
          </a:p>
        </p:txBody>
      </p:sp>
      <p:sp>
        <p:nvSpPr>
          <p:cNvPr id="42" name="Shape 35"/>
          <p:cNvSpPr/>
          <p:nvPr/>
        </p:nvSpPr>
        <p:spPr>
          <a:xfrm>
            <a:off x="8997696" y="3364992"/>
            <a:ext cx="548640" cy="548640"/>
          </a:xfrm>
          <a:prstGeom prst="ellipse">
            <a:avLst/>
          </a:prstGeom>
          <a:solidFill>
            <a:srgbClr val="1B3B6F"/>
          </a:solidFill>
          <a:ln w="12700">
            <a:solidFill>
              <a:srgbClr val="1B3B6F"/>
            </a:solidFill>
            <a:prstDash val="solid"/>
          </a:ln>
        </p:spPr>
      </p:sp>
      <p:sp>
        <p:nvSpPr>
          <p:cNvPr id="43" name="Text 36"/>
          <p:cNvSpPr txBox="1"/>
          <p:nvPr/>
        </p:nvSpPr>
        <p:spPr>
          <a:xfrm>
            <a:off x="8997696" y="33649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cs typeface="Amiri" pitchFamily="2" charset="-78"/>
              </a:rPr>
              <a:t>?</a:t>
            </a:r>
            <a:endParaRPr lang="en-US" sz="1800" dirty="0"/>
          </a:p>
        </p:txBody>
      </p:sp>
      <p:sp>
        <p:nvSpPr>
          <p:cNvPr id="44" name="Text 37"/>
          <p:cNvSpPr txBox="1"/>
          <p:nvPr/>
        </p:nvSpPr>
        <p:spPr>
          <a:xfrm>
            <a:off x="9656064" y="32918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cs typeface="Amiri" pitchFamily="2" charset="-78"/>
              </a:rPr>
              <a:t>Challenge</a:t>
            </a:r>
            <a:endParaRPr lang="en-US" sz="1400" dirty="0"/>
          </a:p>
          <a:p>
            <a:pPr indent="0" marL="0">
              <a:buNone/>
            </a:pPr>
            <a:r>
              <a:rPr lang="en-US" sz="1100" dirty="0">
                <a:solidFill>
                  <a:srgbClr val="5A6472"/>
                </a:solidFill>
                <a:latin typeface="Calibri" pitchFamily="34" charset="0"/>
                <a:cs typeface="Amiri" pitchFamily="2" charset="-78"/>
              </a:rPr>
              <a:t>question respectfully</a:t>
            </a:r>
            <a:endParaRPr lang="en-US" sz="1400" dirty="0"/>
          </a:p>
        </p:txBody>
      </p:sp>
      <p:sp>
        <p:nvSpPr>
          <p:cNvPr id="45" name="Shape 38"/>
          <p:cNvSpPr/>
          <p:nvPr/>
        </p:nvSpPr>
        <p:spPr>
          <a:xfrm>
            <a:off x="6400800" y="4279392"/>
            <a:ext cx="548640" cy="548640"/>
          </a:xfrm>
          <a:prstGeom prst="ellipse">
            <a:avLst/>
          </a:prstGeom>
          <a:solidFill>
            <a:srgbClr val="1B3B6F"/>
          </a:solidFill>
          <a:ln w="12700">
            <a:solidFill>
              <a:srgbClr val="1B3B6F"/>
            </a:solidFill>
            <a:prstDash val="solid"/>
          </a:ln>
        </p:spPr>
      </p:sp>
      <p:sp>
        <p:nvSpPr>
          <p:cNvPr id="46" name="Text 39"/>
          <p:cNvSpPr txBox="1"/>
          <p:nvPr/>
        </p:nvSpPr>
        <p:spPr>
          <a:xfrm>
            <a:off x="6400800" y="42793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cs typeface="Amiri" pitchFamily="2" charset="-78"/>
              </a:rPr>
              <a:t>◎</a:t>
            </a:r>
            <a:endParaRPr lang="en-US" sz="1800" dirty="0"/>
          </a:p>
        </p:txBody>
      </p:sp>
      <p:sp>
        <p:nvSpPr>
          <p:cNvPr id="47" name="Text 40"/>
          <p:cNvSpPr txBox="1"/>
          <p:nvPr/>
        </p:nvSpPr>
        <p:spPr>
          <a:xfrm>
            <a:off x="7059168" y="42062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cs typeface="Amiri" pitchFamily="2" charset="-78"/>
              </a:rPr>
              <a:t>Share</a:t>
            </a:r>
            <a:endParaRPr lang="en-US" sz="1400" dirty="0"/>
          </a:p>
          <a:p>
            <a:pPr indent="0" marL="0">
              <a:buNone/>
            </a:pPr>
            <a:r>
              <a:rPr lang="en-US" sz="1100" dirty="0">
                <a:solidFill>
                  <a:srgbClr val="5A6472"/>
                </a:solidFill>
                <a:latin typeface="Calibri" pitchFamily="34" charset="0"/>
                <a:cs typeface="Amiri" pitchFamily="2" charset="-78"/>
              </a:rPr>
              <a:t>anyone may be invited</a:t>
            </a:r>
            <a:endParaRPr lang="en-US" sz="1400" dirty="0"/>
          </a:p>
        </p:txBody>
      </p:sp>
      <p:sp>
        <p:nvSpPr>
          <p:cNvPr id="48" name="Shape 41"/>
          <p:cNvSpPr/>
          <p:nvPr/>
        </p:nvSpPr>
        <p:spPr>
          <a:xfrm>
            <a:off x="8997696" y="4279392"/>
            <a:ext cx="548640" cy="548640"/>
          </a:xfrm>
          <a:prstGeom prst="ellipse">
            <a:avLst/>
          </a:prstGeom>
          <a:solidFill>
            <a:srgbClr val="1B3B6F"/>
          </a:solidFill>
          <a:ln w="12700">
            <a:solidFill>
              <a:srgbClr val="1B3B6F"/>
            </a:solidFill>
            <a:prstDash val="solid"/>
          </a:ln>
        </p:spPr>
      </p:sp>
      <p:sp>
        <p:nvSpPr>
          <p:cNvPr id="49" name="Text 42"/>
          <p:cNvSpPr txBox="1"/>
          <p:nvPr/>
        </p:nvSpPr>
        <p:spPr>
          <a:xfrm>
            <a:off x="8997696" y="42793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cs typeface="Amiri" pitchFamily="2" charset="-78"/>
              </a:rPr>
              <a:t>↺</a:t>
            </a:r>
            <a:endParaRPr lang="en-US" sz="1800" dirty="0"/>
          </a:p>
        </p:txBody>
      </p:sp>
      <p:sp>
        <p:nvSpPr>
          <p:cNvPr id="50" name="Text 43"/>
          <p:cNvSpPr txBox="1"/>
          <p:nvPr/>
        </p:nvSpPr>
        <p:spPr>
          <a:xfrm>
            <a:off x="9656064" y="42062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cs typeface="Amiri" pitchFamily="2" charset="-78"/>
              </a:rPr>
              <a:t>Summarise</a:t>
            </a:r>
            <a:endParaRPr lang="en-US" sz="1400" dirty="0"/>
          </a:p>
          <a:p>
            <a:pPr indent="0" marL="0">
              <a:buNone/>
            </a:pPr>
            <a:r>
              <a:rPr lang="en-US" sz="1100" dirty="0">
                <a:solidFill>
                  <a:srgbClr val="5A6472"/>
                </a:solidFill>
                <a:latin typeface="Calibri" pitchFamily="34" charset="0"/>
                <a:cs typeface="Amiri" pitchFamily="2" charset="-78"/>
              </a:rPr>
              <a:t>say it more precisely</a:t>
            </a:r>
            <a:endParaRPr lang="en-US" sz="1400" dirty="0"/>
          </a:p>
        </p:txBody>
      </p:sp>
      <p:sp>
        <p:nvSpPr>
          <p:cNvPr id="51" name="Text 44"/>
          <p:cNvSpPr txBox="1"/>
          <p:nvPr/>
        </p:nvSpPr>
        <p:spPr>
          <a:xfrm>
            <a:off x="6400800" y="5230368"/>
            <a:ext cx="5102352" cy="694944"/>
          </a:xfrm>
          <a:prstGeom prst="rect">
            <a:avLst/>
          </a:prstGeom>
          <a:noFill/>
          <a:ln/>
        </p:spPr>
        <p:txBody>
          <a:bodyPr wrap="square" lIns="0" tIns="0" rIns="0" bIns="0" rtlCol="0" anchor="ctr"/>
          <a:lstStyle/>
          <a:p>
            <a:pPr algn="l" indent="0" marL="0">
              <a:buNone/>
            </a:pPr>
            <a:r>
              <a:rPr lang="en-US" sz="1150" i="1" dirty="0">
                <a:solidFill>
                  <a:srgbClr val="8A6D1E"/>
                </a:solidFill>
                <a:latin typeface="Calibri" pitchFamily="34" charset="0"/>
                <a:cs typeface="Amiri" pitchFamily="2" charset="-78"/>
              </a:rPr>
              <a:t>I will always give you thinking and practice time before I ask anyone. Reading aloud is by invitation — you can always say “pass, please come back to me”.</a:t>
            </a:r>
            <a:endParaRPr lang="en-US" sz="1150" dirty="0"/>
          </a:p>
        </p:txBody>
      </p:sp>
      <p:sp>
        <p:nvSpPr>
          <p:cNvPr id="52" name="Text 45"/>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 / 24</a:t>
            </a:r>
            <a:endParaRPr lang="en-US" sz="8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F2-W06 · Apply workshop</a:t>
            </a:r>
            <a:endParaRPr lang="en-US" sz="950" dirty="0"/>
          </a:p>
        </p:txBody>
      </p:sp>
      <p:sp>
        <p:nvSpPr>
          <p:cNvPr id="8" name="Shape 6"/>
          <p:cNvSpPr/>
          <p:nvPr/>
        </p:nvSpPr>
        <p:spPr>
          <a:xfrm>
            <a:off x="7388352" y="274320"/>
            <a:ext cx="1371600" cy="329184"/>
          </a:xfrm>
          <a:prstGeom prst="roundRect">
            <a:avLst>
              <a:gd name="adj" fmla="val 50000"/>
            </a:avLst>
          </a:prstGeom>
          <a:solidFill>
            <a:srgbClr val="5A6472"/>
          </a:solidFill>
          <a:ln w="12700">
            <a:solidFill>
              <a:srgbClr val="5A6472"/>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WELCOME</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5A6472"/>
                </a:solidFill>
                <a:latin typeface="Calibri" pitchFamily="34" charset="0"/>
                <a:cs typeface="Amiri" pitchFamily="2" charset="-78"/>
              </a:rPr>
              <a:t>TODAY’S PLAN · LEARN, LEARN, APPLY</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500" b="1" dirty="0">
                <a:solidFill>
                  <a:srgbClr val="1B3B6F"/>
                </a:solidFill>
                <a:latin typeface="Cambria" pitchFamily="34" charset="0"/>
                <a:cs typeface="Amiri" pitchFamily="2" charset="-78"/>
              </a:rPr>
              <a:t>Two lessons — now use them together</a:t>
            </a:r>
            <a:endParaRPr lang="en-US" sz="25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خُطُوَاتُ الوَرْشَةِ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F2 · Greetings &amp; Introductions · F2-W06 · Apply workshop (F2-L11 + F2-L12)</a:t>
            </a:r>
            <a:endParaRPr lang="en-US" sz="850" dirty="0"/>
          </a:p>
        </p:txBody>
      </p:sp>
      <p:sp>
        <p:nvSpPr>
          <p:cNvPr id="15" name="Shape 12"/>
          <p:cNvSpPr/>
          <p:nvPr/>
        </p:nvSpPr>
        <p:spPr>
          <a:xfrm>
            <a:off x="457200" y="1828800"/>
            <a:ext cx="2152498" cy="3246120"/>
          </a:xfrm>
          <a:prstGeom prst="roundRect">
            <a:avLst>
              <a:gd name="adj" fmla="val 3398"/>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66928" y="1938528"/>
            <a:ext cx="1933042" cy="566928"/>
          </a:xfrm>
          <a:prstGeom prst="roundRect">
            <a:avLst>
              <a:gd name="adj" fmla="val 9677"/>
            </a:avLst>
          </a:prstGeom>
          <a:solidFill>
            <a:srgbClr val="1B3B6F"/>
          </a:solidFill>
          <a:ln w="12700">
            <a:solidFill>
              <a:srgbClr val="1B3B6F"/>
            </a:solidFill>
            <a:prstDash val="solid"/>
          </a:ln>
        </p:spPr>
      </p:sp>
      <p:sp>
        <p:nvSpPr>
          <p:cNvPr id="17" name="Text 14"/>
          <p:cNvSpPr txBox="1"/>
          <p:nvPr/>
        </p:nvSpPr>
        <p:spPr>
          <a:xfrm>
            <a:off x="603504" y="1956816"/>
            <a:ext cx="1859890"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TEACHER INSTRUCTION</a:t>
            </a:r>
            <a:endParaRPr lang="en-US" sz="1000" dirty="0"/>
          </a:p>
        </p:txBody>
      </p:sp>
      <p:sp>
        <p:nvSpPr>
          <p:cNvPr id="18" name="Text 15"/>
          <p:cNvSpPr txBox="1"/>
          <p:nvPr/>
        </p:nvSpPr>
        <p:spPr>
          <a:xfrm>
            <a:off x="603504" y="2249424"/>
            <a:ext cx="1859890"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6 min</a:t>
            </a:r>
            <a:endParaRPr lang="en-US" sz="1000" dirty="0"/>
          </a:p>
        </p:txBody>
      </p:sp>
      <p:sp>
        <p:nvSpPr>
          <p:cNvPr id="19" name="Shape 16"/>
          <p:cNvSpPr/>
          <p:nvPr/>
        </p:nvSpPr>
        <p:spPr>
          <a:xfrm>
            <a:off x="1332281" y="2651760"/>
            <a:ext cx="402336" cy="402336"/>
          </a:xfrm>
          <a:prstGeom prst="ellipse">
            <a:avLst/>
          </a:prstGeom>
          <a:solidFill>
            <a:srgbClr val="F4F1EA"/>
          </a:solidFill>
          <a:ln w="12700">
            <a:solidFill>
              <a:srgbClr val="F4F1EA"/>
            </a:solidFill>
            <a:prstDash val="solid"/>
          </a:ln>
        </p:spPr>
      </p:sp>
      <p:sp>
        <p:nvSpPr>
          <p:cNvPr id="20" name="Text 17"/>
          <p:cNvSpPr txBox="1"/>
          <p:nvPr/>
        </p:nvSpPr>
        <p:spPr>
          <a:xfrm>
            <a:off x="1332281"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1</a:t>
            </a:r>
            <a:endParaRPr lang="en-US" sz="1300" dirty="0"/>
          </a:p>
        </p:txBody>
      </p:sp>
      <p:sp>
        <p:nvSpPr>
          <p:cNvPr id="21" name="Text 18"/>
          <p:cNvSpPr txBox="1"/>
          <p:nvPr/>
        </p:nvSpPr>
        <p:spPr>
          <a:xfrm>
            <a:off x="585216" y="3145536"/>
            <a:ext cx="1896466"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What we learnt: F2-L11 and F2-L12.</a:t>
            </a:r>
            <a:endParaRPr lang="en-US" sz="1200" dirty="0"/>
          </a:p>
        </p:txBody>
      </p:sp>
      <p:sp>
        <p:nvSpPr>
          <p:cNvPr id="22" name="Text 19"/>
          <p:cNvSpPr txBox="1"/>
          <p:nvPr/>
        </p:nvSpPr>
        <p:spPr>
          <a:xfrm>
            <a:off x="548640" y="4526280"/>
            <a:ext cx="1969618" cy="438912"/>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مَاذَا تَعَلَّمْنَا؟</a:t>
            </a:r>
            <a:endParaRPr lang="ar-SA" sz="1500" dirty="0"/>
          </a:p>
        </p:txBody>
      </p:sp>
      <p:sp>
        <p:nvSpPr>
          <p:cNvPr id="23" name="Shape 20"/>
          <p:cNvSpPr/>
          <p:nvPr/>
        </p:nvSpPr>
        <p:spPr>
          <a:xfrm>
            <a:off x="2737714" y="1828800"/>
            <a:ext cx="2152498" cy="3246120"/>
          </a:xfrm>
          <a:prstGeom prst="roundRect">
            <a:avLst>
              <a:gd name="adj" fmla="val 3398"/>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4" name="Shape 21"/>
          <p:cNvSpPr/>
          <p:nvPr/>
        </p:nvSpPr>
        <p:spPr>
          <a:xfrm>
            <a:off x="2847442" y="1938528"/>
            <a:ext cx="1933042" cy="566928"/>
          </a:xfrm>
          <a:prstGeom prst="roundRect">
            <a:avLst>
              <a:gd name="adj" fmla="val 9677"/>
            </a:avLst>
          </a:prstGeom>
          <a:solidFill>
            <a:srgbClr val="2F6FB0"/>
          </a:solidFill>
          <a:ln w="12700">
            <a:solidFill>
              <a:srgbClr val="2F6FB0"/>
            </a:solidFill>
            <a:prstDash val="solid"/>
          </a:ln>
        </p:spPr>
      </p:sp>
      <p:sp>
        <p:nvSpPr>
          <p:cNvPr id="25" name="Text 22"/>
          <p:cNvSpPr txBox="1"/>
          <p:nvPr/>
        </p:nvSpPr>
        <p:spPr>
          <a:xfrm>
            <a:off x="2884018" y="1956816"/>
            <a:ext cx="1859890"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WE DO</a:t>
            </a:r>
            <a:endParaRPr lang="en-US" sz="1000" dirty="0"/>
          </a:p>
        </p:txBody>
      </p:sp>
      <p:sp>
        <p:nvSpPr>
          <p:cNvPr id="26" name="Text 23"/>
          <p:cNvSpPr txBox="1"/>
          <p:nvPr/>
        </p:nvSpPr>
        <p:spPr>
          <a:xfrm>
            <a:off x="2884018" y="2249424"/>
            <a:ext cx="1859890"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8 min</a:t>
            </a:r>
            <a:endParaRPr lang="en-US" sz="1000" dirty="0"/>
          </a:p>
        </p:txBody>
      </p:sp>
      <p:sp>
        <p:nvSpPr>
          <p:cNvPr id="27" name="Shape 24"/>
          <p:cNvSpPr/>
          <p:nvPr/>
        </p:nvSpPr>
        <p:spPr>
          <a:xfrm>
            <a:off x="3612794" y="2651760"/>
            <a:ext cx="402336" cy="402336"/>
          </a:xfrm>
          <a:prstGeom prst="ellipse">
            <a:avLst/>
          </a:prstGeom>
          <a:solidFill>
            <a:srgbClr val="F4F1EA"/>
          </a:solidFill>
          <a:ln w="12700">
            <a:solidFill>
              <a:srgbClr val="F4F1EA"/>
            </a:solidFill>
            <a:prstDash val="solid"/>
          </a:ln>
        </p:spPr>
      </p:sp>
      <p:sp>
        <p:nvSpPr>
          <p:cNvPr id="28" name="Text 25"/>
          <p:cNvSpPr txBox="1"/>
          <p:nvPr/>
        </p:nvSpPr>
        <p:spPr>
          <a:xfrm>
            <a:off x="3612794"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2</a:t>
            </a:r>
            <a:endParaRPr lang="en-US" sz="1300" dirty="0"/>
          </a:p>
        </p:txBody>
      </p:sp>
      <p:sp>
        <p:nvSpPr>
          <p:cNvPr id="29" name="Text 26"/>
          <p:cNvSpPr txBox="1"/>
          <p:nvPr/>
        </p:nvSpPr>
        <p:spPr>
          <a:xfrm>
            <a:off x="2865730" y="3145536"/>
            <a:ext cx="1896466"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Part 1 · Remember: word race and “which lesson?” sort.</a:t>
            </a:r>
            <a:endParaRPr lang="en-US" sz="1200" dirty="0"/>
          </a:p>
        </p:txBody>
      </p:sp>
      <p:sp>
        <p:nvSpPr>
          <p:cNvPr id="30" name="Text 27"/>
          <p:cNvSpPr txBox="1"/>
          <p:nvPr/>
        </p:nvSpPr>
        <p:spPr>
          <a:xfrm>
            <a:off x="2829154" y="4526280"/>
            <a:ext cx="1969618" cy="438912"/>
          </a:xfrm>
          <a:prstGeom prst="rect">
            <a:avLst/>
          </a:prstGeom>
          <a:noFill/>
          <a:ln/>
        </p:spPr>
        <p:txBody>
          <a:bodyPr wrap="square" lIns="0" tIns="0" rIns="0" bIns="0" rtlCol="0" anchor="ctr"/>
          <a:lstStyle/>
          <a:p>
            <a:pPr rtl="1" algn="ctr" indent="0" marL="0">
              <a:buNone/>
            </a:pPr>
            <a:r>
              <a:rPr lang="ar-SA" altLang="en-US" sz="1500" b="1" dirty="0">
                <a:solidFill>
                  <a:srgbClr val="2F6FB0"/>
                </a:solidFill>
                <a:latin typeface="Amiri" pitchFamily="2" charset="-78"/>
                <a:ea typeface="Amiri" pitchFamily="2" charset="-78"/>
                <a:cs typeface="Amiri" pitchFamily="2" charset="-78"/>
              </a:rPr>
              <a:t>تَذَكَّرْ</a:t>
            </a:r>
            <a:endParaRPr lang="ar-SA" sz="1500" dirty="0"/>
          </a:p>
        </p:txBody>
      </p:sp>
      <p:sp>
        <p:nvSpPr>
          <p:cNvPr id="31" name="Shape 28"/>
          <p:cNvSpPr/>
          <p:nvPr/>
        </p:nvSpPr>
        <p:spPr>
          <a:xfrm>
            <a:off x="5018227" y="1828800"/>
            <a:ext cx="2152498" cy="3246120"/>
          </a:xfrm>
          <a:prstGeom prst="roundRect">
            <a:avLst>
              <a:gd name="adj" fmla="val 3398"/>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2" name="Shape 29"/>
          <p:cNvSpPr/>
          <p:nvPr/>
        </p:nvSpPr>
        <p:spPr>
          <a:xfrm>
            <a:off x="5127955" y="1938528"/>
            <a:ext cx="1933042" cy="566928"/>
          </a:xfrm>
          <a:prstGeom prst="roundRect">
            <a:avLst>
              <a:gd name="adj" fmla="val 9677"/>
            </a:avLst>
          </a:prstGeom>
          <a:solidFill>
            <a:srgbClr val="1E6B52"/>
          </a:solidFill>
          <a:ln w="12700">
            <a:solidFill>
              <a:srgbClr val="1E6B52"/>
            </a:solidFill>
            <a:prstDash val="solid"/>
          </a:ln>
        </p:spPr>
      </p:sp>
      <p:sp>
        <p:nvSpPr>
          <p:cNvPr id="33" name="Text 30"/>
          <p:cNvSpPr txBox="1"/>
          <p:nvPr/>
        </p:nvSpPr>
        <p:spPr>
          <a:xfrm>
            <a:off x="5164531" y="1956816"/>
            <a:ext cx="1859890"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YOU DO</a:t>
            </a:r>
            <a:endParaRPr lang="en-US" sz="1000" dirty="0"/>
          </a:p>
        </p:txBody>
      </p:sp>
      <p:sp>
        <p:nvSpPr>
          <p:cNvPr id="34" name="Text 31"/>
          <p:cNvSpPr txBox="1"/>
          <p:nvPr/>
        </p:nvSpPr>
        <p:spPr>
          <a:xfrm>
            <a:off x="5164531" y="2249424"/>
            <a:ext cx="1859890"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22 min</a:t>
            </a:r>
            <a:endParaRPr lang="en-US" sz="1000" dirty="0"/>
          </a:p>
        </p:txBody>
      </p:sp>
      <p:sp>
        <p:nvSpPr>
          <p:cNvPr id="35" name="Shape 32"/>
          <p:cNvSpPr/>
          <p:nvPr/>
        </p:nvSpPr>
        <p:spPr>
          <a:xfrm>
            <a:off x="5893308" y="2651760"/>
            <a:ext cx="402336" cy="402336"/>
          </a:xfrm>
          <a:prstGeom prst="ellipse">
            <a:avLst/>
          </a:prstGeom>
          <a:solidFill>
            <a:srgbClr val="F4F1EA"/>
          </a:solidFill>
          <a:ln w="12700">
            <a:solidFill>
              <a:srgbClr val="F4F1EA"/>
            </a:solidFill>
            <a:prstDash val="solid"/>
          </a:ln>
        </p:spPr>
      </p:sp>
      <p:sp>
        <p:nvSpPr>
          <p:cNvPr id="36" name="Text 33"/>
          <p:cNvSpPr txBox="1"/>
          <p:nvPr/>
        </p:nvSpPr>
        <p:spPr>
          <a:xfrm>
            <a:off x="5893308"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3</a:t>
            </a:r>
            <a:endParaRPr lang="en-US" sz="1300" dirty="0"/>
          </a:p>
        </p:txBody>
      </p:sp>
      <p:sp>
        <p:nvSpPr>
          <p:cNvPr id="37" name="Text 34"/>
          <p:cNvSpPr txBox="1"/>
          <p:nvPr/>
        </p:nvSpPr>
        <p:spPr>
          <a:xfrm>
            <a:off x="5146243" y="3145536"/>
            <a:ext cx="1896466"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Part 2 · Speak: say the model dialogue · question cards · role-play card · short talk.</a:t>
            </a:r>
            <a:endParaRPr lang="en-US" sz="1200" dirty="0"/>
          </a:p>
        </p:txBody>
      </p:sp>
      <p:sp>
        <p:nvSpPr>
          <p:cNvPr id="38" name="Text 35"/>
          <p:cNvSpPr txBox="1"/>
          <p:nvPr/>
        </p:nvSpPr>
        <p:spPr>
          <a:xfrm>
            <a:off x="5109667" y="4526280"/>
            <a:ext cx="1969618" cy="438912"/>
          </a:xfrm>
          <a:prstGeom prst="rect">
            <a:avLst/>
          </a:prstGeom>
          <a:noFill/>
          <a:ln/>
        </p:spPr>
        <p:txBody>
          <a:bodyPr wrap="square" lIns="0" tIns="0" rIns="0" bIns="0" rtlCol="0" anchor="ctr"/>
          <a:lstStyle/>
          <a:p>
            <a:pPr rtl="1" algn="ctr" indent="0" marL="0">
              <a:buNone/>
            </a:pPr>
            <a:r>
              <a:rPr lang="ar-SA" altLang="en-US" sz="1500" b="1" dirty="0">
                <a:solidFill>
                  <a:srgbClr val="1E6B52"/>
                </a:solidFill>
                <a:latin typeface="Amiri" pitchFamily="2" charset="-78"/>
                <a:ea typeface="Amiri" pitchFamily="2" charset="-78"/>
                <a:cs typeface="Amiri" pitchFamily="2" charset="-78"/>
              </a:rPr>
              <a:t>تَكَلَّمْ</a:t>
            </a:r>
            <a:endParaRPr lang="ar-SA" sz="1500" dirty="0"/>
          </a:p>
        </p:txBody>
      </p:sp>
      <p:sp>
        <p:nvSpPr>
          <p:cNvPr id="39" name="Shape 36"/>
          <p:cNvSpPr/>
          <p:nvPr/>
        </p:nvSpPr>
        <p:spPr>
          <a:xfrm>
            <a:off x="7298741" y="1828800"/>
            <a:ext cx="2152498" cy="3246120"/>
          </a:xfrm>
          <a:prstGeom prst="roundRect">
            <a:avLst>
              <a:gd name="adj" fmla="val 3398"/>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0" name="Shape 37"/>
          <p:cNvSpPr/>
          <p:nvPr/>
        </p:nvSpPr>
        <p:spPr>
          <a:xfrm>
            <a:off x="7408469" y="1938528"/>
            <a:ext cx="1933042" cy="566928"/>
          </a:xfrm>
          <a:prstGeom prst="roundRect">
            <a:avLst>
              <a:gd name="adj" fmla="val 9677"/>
            </a:avLst>
          </a:prstGeom>
          <a:solidFill>
            <a:srgbClr val="1E6B52"/>
          </a:solidFill>
          <a:ln w="12700">
            <a:solidFill>
              <a:srgbClr val="1E6B52"/>
            </a:solidFill>
            <a:prstDash val="solid"/>
          </a:ln>
        </p:spPr>
      </p:sp>
      <p:sp>
        <p:nvSpPr>
          <p:cNvPr id="41" name="Text 38"/>
          <p:cNvSpPr txBox="1"/>
          <p:nvPr/>
        </p:nvSpPr>
        <p:spPr>
          <a:xfrm>
            <a:off x="7445045" y="1956816"/>
            <a:ext cx="1859890"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YOU DO</a:t>
            </a:r>
            <a:endParaRPr lang="en-US" sz="1000" dirty="0"/>
          </a:p>
        </p:txBody>
      </p:sp>
      <p:sp>
        <p:nvSpPr>
          <p:cNvPr id="42" name="Text 39"/>
          <p:cNvSpPr txBox="1"/>
          <p:nvPr/>
        </p:nvSpPr>
        <p:spPr>
          <a:xfrm>
            <a:off x="7445045" y="2249424"/>
            <a:ext cx="1859890"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19 min</a:t>
            </a:r>
            <a:endParaRPr lang="en-US" sz="1000" dirty="0"/>
          </a:p>
        </p:txBody>
      </p:sp>
      <p:sp>
        <p:nvSpPr>
          <p:cNvPr id="43" name="Shape 40"/>
          <p:cNvSpPr/>
          <p:nvPr/>
        </p:nvSpPr>
        <p:spPr>
          <a:xfrm>
            <a:off x="8173822" y="2651760"/>
            <a:ext cx="402336" cy="402336"/>
          </a:xfrm>
          <a:prstGeom prst="ellipse">
            <a:avLst/>
          </a:prstGeom>
          <a:solidFill>
            <a:srgbClr val="F4F1EA"/>
          </a:solidFill>
          <a:ln w="12700">
            <a:solidFill>
              <a:srgbClr val="F4F1EA"/>
            </a:solidFill>
            <a:prstDash val="solid"/>
          </a:ln>
        </p:spPr>
      </p:sp>
      <p:sp>
        <p:nvSpPr>
          <p:cNvPr id="44" name="Text 41"/>
          <p:cNvSpPr txBox="1"/>
          <p:nvPr/>
        </p:nvSpPr>
        <p:spPr>
          <a:xfrm>
            <a:off x="8173822"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4</a:t>
            </a:r>
            <a:endParaRPr lang="en-US" sz="1300" dirty="0"/>
          </a:p>
        </p:txBody>
      </p:sp>
      <p:sp>
        <p:nvSpPr>
          <p:cNvPr id="45" name="Text 42"/>
          <p:cNvSpPr txBox="1"/>
          <p:nvPr/>
        </p:nvSpPr>
        <p:spPr>
          <a:xfrm>
            <a:off x="7426757" y="3145536"/>
            <a:ext cx="1896466"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Part 3 · Write: sentence builder · spot and fix · write your text · buddy check.</a:t>
            </a:r>
            <a:endParaRPr lang="en-US" sz="1200" dirty="0"/>
          </a:p>
        </p:txBody>
      </p:sp>
      <p:sp>
        <p:nvSpPr>
          <p:cNvPr id="46" name="Text 43"/>
          <p:cNvSpPr txBox="1"/>
          <p:nvPr/>
        </p:nvSpPr>
        <p:spPr>
          <a:xfrm>
            <a:off x="7390181" y="4526280"/>
            <a:ext cx="1969618" cy="438912"/>
          </a:xfrm>
          <a:prstGeom prst="rect">
            <a:avLst/>
          </a:prstGeom>
          <a:noFill/>
          <a:ln/>
        </p:spPr>
        <p:txBody>
          <a:bodyPr wrap="square" lIns="0" tIns="0" rIns="0" bIns="0" rtlCol="0" anchor="ctr"/>
          <a:lstStyle/>
          <a:p>
            <a:pPr rtl="1" algn="ctr" indent="0" marL="0">
              <a:buNone/>
            </a:pPr>
            <a:r>
              <a:rPr lang="ar-SA" altLang="en-US" sz="1500" b="1" dirty="0">
                <a:solidFill>
                  <a:srgbClr val="1E6B52"/>
                </a:solidFill>
                <a:latin typeface="Amiri" pitchFamily="2" charset="-78"/>
                <a:ea typeface="Amiri" pitchFamily="2" charset="-78"/>
                <a:cs typeface="Amiri" pitchFamily="2" charset="-78"/>
              </a:rPr>
              <a:t>اكْتُبْ</a:t>
            </a:r>
            <a:endParaRPr lang="ar-SA" sz="1500" dirty="0"/>
          </a:p>
        </p:txBody>
      </p:sp>
      <p:sp>
        <p:nvSpPr>
          <p:cNvPr id="47" name="Shape 44"/>
          <p:cNvSpPr/>
          <p:nvPr/>
        </p:nvSpPr>
        <p:spPr>
          <a:xfrm>
            <a:off x="9579254" y="1828800"/>
            <a:ext cx="2152498" cy="3246120"/>
          </a:xfrm>
          <a:prstGeom prst="roundRect">
            <a:avLst>
              <a:gd name="adj" fmla="val 3398"/>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8" name="Shape 45"/>
          <p:cNvSpPr/>
          <p:nvPr/>
        </p:nvSpPr>
        <p:spPr>
          <a:xfrm>
            <a:off x="9688982" y="1938528"/>
            <a:ext cx="1933042" cy="566928"/>
          </a:xfrm>
          <a:prstGeom prst="roundRect">
            <a:avLst>
              <a:gd name="adj" fmla="val 9677"/>
            </a:avLst>
          </a:prstGeom>
          <a:solidFill>
            <a:srgbClr val="8A6D1E"/>
          </a:solidFill>
          <a:ln w="12700">
            <a:solidFill>
              <a:srgbClr val="8A6D1E"/>
            </a:solidFill>
            <a:prstDash val="solid"/>
          </a:ln>
        </p:spPr>
      </p:sp>
      <p:sp>
        <p:nvSpPr>
          <p:cNvPr id="49" name="Text 46"/>
          <p:cNvSpPr txBox="1"/>
          <p:nvPr/>
        </p:nvSpPr>
        <p:spPr>
          <a:xfrm>
            <a:off x="9725558" y="1956816"/>
            <a:ext cx="1859890"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FEEDBACK</a:t>
            </a:r>
            <a:endParaRPr lang="en-US" sz="1000" dirty="0"/>
          </a:p>
        </p:txBody>
      </p:sp>
      <p:sp>
        <p:nvSpPr>
          <p:cNvPr id="50" name="Text 47"/>
          <p:cNvSpPr txBox="1"/>
          <p:nvPr/>
        </p:nvSpPr>
        <p:spPr>
          <a:xfrm>
            <a:off x="9725558" y="2249424"/>
            <a:ext cx="1859890"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5 min</a:t>
            </a:r>
            <a:endParaRPr lang="en-US" sz="1000" dirty="0"/>
          </a:p>
        </p:txBody>
      </p:sp>
      <p:sp>
        <p:nvSpPr>
          <p:cNvPr id="51" name="Shape 48"/>
          <p:cNvSpPr/>
          <p:nvPr/>
        </p:nvSpPr>
        <p:spPr>
          <a:xfrm>
            <a:off x="10454335" y="2651760"/>
            <a:ext cx="402336" cy="402336"/>
          </a:xfrm>
          <a:prstGeom prst="ellipse">
            <a:avLst/>
          </a:prstGeom>
          <a:solidFill>
            <a:srgbClr val="F4F1EA"/>
          </a:solidFill>
          <a:ln w="12700">
            <a:solidFill>
              <a:srgbClr val="F4F1EA"/>
            </a:solidFill>
            <a:prstDash val="solid"/>
          </a:ln>
        </p:spPr>
      </p:sp>
      <p:sp>
        <p:nvSpPr>
          <p:cNvPr id="52" name="Text 49"/>
          <p:cNvSpPr txBox="1"/>
          <p:nvPr/>
        </p:nvSpPr>
        <p:spPr>
          <a:xfrm>
            <a:off x="10454335"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5</a:t>
            </a:r>
            <a:endParaRPr lang="en-US" sz="1300" dirty="0"/>
          </a:p>
        </p:txBody>
      </p:sp>
      <p:sp>
        <p:nvSpPr>
          <p:cNvPr id="53" name="Text 50"/>
          <p:cNvSpPr txBox="1"/>
          <p:nvPr/>
        </p:nvSpPr>
        <p:spPr>
          <a:xfrm>
            <a:off x="9707270" y="3145536"/>
            <a:ext cx="1896466"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Check yourself with the models.</a:t>
            </a:r>
            <a:endParaRPr lang="en-US" sz="1200" dirty="0"/>
          </a:p>
        </p:txBody>
      </p:sp>
      <p:sp>
        <p:nvSpPr>
          <p:cNvPr id="54" name="Text 51"/>
          <p:cNvSpPr txBox="1"/>
          <p:nvPr/>
        </p:nvSpPr>
        <p:spPr>
          <a:xfrm>
            <a:off x="9670694" y="4526280"/>
            <a:ext cx="1969618" cy="438912"/>
          </a:xfrm>
          <a:prstGeom prst="rect">
            <a:avLst/>
          </a:prstGeom>
          <a:noFill/>
          <a:ln/>
        </p:spPr>
        <p:txBody>
          <a:bodyPr wrap="square" lIns="0" tIns="0" rIns="0" bIns="0" rtlCol="0" anchor="ctr"/>
          <a:lstStyle/>
          <a:p>
            <a:pPr rtl="1" algn="ctr" indent="0" marL="0">
              <a:buNone/>
            </a:pPr>
            <a:r>
              <a:rPr lang="ar-SA" altLang="en-US" sz="1500" b="1" dirty="0">
                <a:solidFill>
                  <a:srgbClr val="8A6D1E"/>
                </a:solidFill>
                <a:latin typeface="Amiri" pitchFamily="2" charset="-78"/>
                <a:ea typeface="Amiri" pitchFamily="2" charset="-78"/>
                <a:cs typeface="Amiri" pitchFamily="2" charset="-78"/>
              </a:rPr>
              <a:t>قَارِنْ</a:t>
            </a:r>
            <a:endParaRPr lang="ar-SA" sz="1500" dirty="0"/>
          </a:p>
        </p:txBody>
      </p:sp>
      <p:sp>
        <p:nvSpPr>
          <p:cNvPr id="55" name="Shape 52"/>
          <p:cNvSpPr/>
          <p:nvPr/>
        </p:nvSpPr>
        <p:spPr>
          <a:xfrm>
            <a:off x="457200" y="5285232"/>
            <a:ext cx="11274552" cy="1024128"/>
          </a:xfrm>
          <a:prstGeom prst="roundRect">
            <a:avLst>
              <a:gd name="adj" fmla="val 7143"/>
            </a:avLst>
          </a:prstGeom>
          <a:solidFill>
            <a:srgbClr val="E9F5EE"/>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56" name="Text 53"/>
          <p:cNvSpPr txBox="1"/>
          <p:nvPr/>
        </p:nvSpPr>
        <p:spPr>
          <a:xfrm>
            <a:off x="685800" y="5358384"/>
            <a:ext cx="4572000" cy="274320"/>
          </a:xfrm>
          <a:prstGeom prst="rect">
            <a:avLst/>
          </a:prstGeom>
          <a:noFill/>
          <a:ln/>
        </p:spPr>
        <p:txBody>
          <a:bodyPr wrap="square" lIns="0" tIns="0" rIns="0" bIns="0" rtlCol="0" anchor="ctr"/>
          <a:lstStyle/>
          <a:p>
            <a:pPr algn="l" indent="0" marL="0">
              <a:buNone/>
            </a:pPr>
            <a:r>
              <a:rPr lang="en-US" sz="1000" b="1" spc="200" kern="0" dirty="0">
                <a:solidFill>
                  <a:srgbClr val="1E6B52"/>
                </a:solidFill>
                <a:latin typeface="Calibri" pitchFamily="34" charset="0"/>
                <a:cs typeface="Amiri" pitchFamily="2" charset="-78"/>
              </a:rPr>
              <a:t>HOW THE WORKSHOP RUNS</a:t>
            </a:r>
            <a:endParaRPr lang="en-US" sz="1000" dirty="0"/>
          </a:p>
        </p:txBody>
      </p:sp>
      <p:sp>
        <p:nvSpPr>
          <p:cNvPr id="57" name="Text 54"/>
          <p:cNvSpPr txBox="1"/>
          <p:nvPr/>
        </p:nvSpPr>
        <p:spPr>
          <a:xfrm>
            <a:off x="685800" y="5632704"/>
            <a:ext cx="10881360" cy="621792"/>
          </a:xfrm>
          <a:prstGeom prst="rect">
            <a:avLst/>
          </a:prstGeom>
          <a:noFill/>
          <a:ln/>
        </p:spPr>
        <p:txBody>
          <a:bodyPr wrap="square" lIns="0" tIns="0" rIns="0" bIns="0" rtlCol="0" anchor="t"/>
          <a:lstStyle/>
          <a:p>
            <a:pPr algn="l" indent="0" marL="0">
              <a:buNone/>
            </a:pPr>
            <a:r>
              <a:rPr lang="en-US" sz="1250" dirty="0">
                <a:solidFill>
                  <a:srgbClr val="1F2A37"/>
                </a:solidFill>
                <a:latin typeface="Calibri" pitchFamily="34" charset="0"/>
                <a:cs typeface="Amiri" pitchFamily="2" charset="-78"/>
              </a:rPr>
              <a:t>Today there is no new language: you USE the words and structures of the last two lessons together. Everybody speaks in every step and everybody writes their own text. Choose your route — Core, Develop or Stretch — and move up when you are ready.</a:t>
            </a:r>
            <a:endParaRPr lang="en-US" sz="1250" dirty="0"/>
          </a:p>
        </p:txBody>
      </p:sp>
      <p:sp>
        <p:nvSpPr>
          <p:cNvPr id="58" name="Text 55"/>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3 / 24</a:t>
            </a:r>
            <a:endParaRPr lang="en-US" sz="8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F2-W06 · Apply workshop</a:t>
            </a:r>
            <a:endParaRPr lang="en-US" sz="950" dirty="0"/>
          </a:p>
        </p:txBody>
      </p:sp>
      <p:sp>
        <p:nvSpPr>
          <p:cNvPr id="8" name="Shape 6"/>
          <p:cNvSpPr/>
          <p:nvPr/>
        </p:nvSpPr>
        <p:spPr>
          <a:xfrm>
            <a:off x="6308446" y="274320"/>
            <a:ext cx="2451506"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308446" y="274320"/>
            <a:ext cx="2451506"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TEACHER INSTRUCTION · 3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B3B6F"/>
                </a:solidFill>
                <a:latin typeface="Calibri" pitchFamily="34" charset="0"/>
                <a:cs typeface="Amiri" pitchFamily="2" charset="-78"/>
              </a:rPr>
              <a:t>WHAT WE LEARNT THIS WEEK · F2-L11 + F2-L12</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250" b="1" dirty="0">
                <a:solidFill>
                  <a:srgbClr val="1B3B6F"/>
                </a:solidFill>
                <a:latin typeface="Cambria" pitchFamily="34" charset="0"/>
                <a:cs typeface="Amiri" pitchFamily="2" charset="-78"/>
              </a:rPr>
              <a:t>This week’s two lessons — and today’s goal</a:t>
            </a:r>
            <a:endParaRPr lang="en-US" sz="225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نُطَبِّقُ مَا تَعَلَّمْنَا</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F2 · Greetings &amp; Introductions · F2-W06 · Apply workshop (F2-L11 + F2-L12)</a:t>
            </a:r>
            <a:endParaRPr lang="en-US" sz="850" dirty="0"/>
          </a:p>
        </p:txBody>
      </p:sp>
      <p:sp>
        <p:nvSpPr>
          <p:cNvPr id="15" name="Shape 12"/>
          <p:cNvSpPr/>
          <p:nvPr/>
        </p:nvSpPr>
        <p:spPr>
          <a:xfrm>
            <a:off x="457200" y="1810512"/>
            <a:ext cx="4663440" cy="4315968"/>
          </a:xfrm>
          <a:prstGeom prst="roundRect">
            <a:avLst>
              <a:gd name="adj" fmla="val 1695"/>
            </a:avLst>
          </a:prstGeom>
          <a:solidFill>
            <a:srgbClr val="F7F9FC"/>
          </a:solidFill>
          <a:ln w="9525">
            <a:solidFill>
              <a:srgbClr val="C9D6EA"/>
            </a:solidFill>
            <a:prstDash val="solid"/>
          </a:ln>
          <a:effectLst>
            <a:outerShdw sx="100000" sy="100000" kx="0" ky="0" algn="bl" rotWithShape="0" blurRad="50800" dist="19050" dir="5400000">
              <a:srgbClr val="000000">
                <a:alpha val="10000"/>
              </a:srgbClr>
            </a:outerShdw>
          </a:effectLst>
        </p:spPr>
      </p:sp>
      <p:sp>
        <p:nvSpPr>
          <p:cNvPr id="16" name="Text 13"/>
          <p:cNvSpPr txBox="1"/>
          <p:nvPr/>
        </p:nvSpPr>
        <p:spPr>
          <a:xfrm>
            <a:off x="685800" y="1920240"/>
            <a:ext cx="2743200" cy="292608"/>
          </a:xfrm>
          <a:prstGeom prst="rect">
            <a:avLst/>
          </a:prstGeom>
          <a:noFill/>
          <a:ln/>
        </p:spPr>
        <p:txBody>
          <a:bodyPr wrap="square" lIns="0" tIns="0" rIns="0" bIns="0" rtlCol="0" anchor="ctr"/>
          <a:lstStyle/>
          <a:p>
            <a:pPr algn="l" indent="0" marL="0">
              <a:buNone/>
            </a:pPr>
            <a:r>
              <a:rPr lang="en-US" sz="1100" b="1" spc="200" kern="0" dirty="0">
                <a:solidFill>
                  <a:srgbClr val="1B3B6F"/>
                </a:solidFill>
                <a:latin typeface="Calibri" pitchFamily="34" charset="0"/>
                <a:cs typeface="Amiri" pitchFamily="2" charset="-78"/>
              </a:rPr>
              <a:t>TODAY YOU WILL</a:t>
            </a:r>
            <a:endParaRPr lang="en-US" sz="1100" dirty="0"/>
          </a:p>
        </p:txBody>
      </p:sp>
      <p:sp>
        <p:nvSpPr>
          <p:cNvPr id="17" name="Text 14"/>
          <p:cNvSpPr txBox="1"/>
          <p:nvPr/>
        </p:nvSpPr>
        <p:spPr>
          <a:xfrm>
            <a:off x="2834640" y="1874520"/>
            <a:ext cx="2103120" cy="365760"/>
          </a:xfrm>
          <a:prstGeom prst="rect">
            <a:avLst/>
          </a:prstGeom>
          <a:noFill/>
          <a:ln/>
        </p:spPr>
        <p:txBody>
          <a:bodyPr wrap="square" lIns="0" tIns="0" rIns="0" bIns="0" rtlCol="0" anchor="ctr"/>
          <a:lstStyle/>
          <a:p>
            <a:pPr rtl="1" algn="r" indent="0" marL="0">
              <a:buNone/>
            </a:pPr>
            <a:r>
              <a:rPr lang="ar-SA" altLang="en-US" sz="1600" dirty="0">
                <a:solidFill>
                  <a:srgbClr val="8A6D1E"/>
                </a:solidFill>
                <a:latin typeface="Amiri" pitchFamily="2" charset="-78"/>
                <a:ea typeface="Amiri" pitchFamily="2" charset="-78"/>
                <a:cs typeface="Amiri" pitchFamily="2" charset="-78"/>
              </a:rPr>
              <a:t>سَتَتَعَلَّمُ اليَوْمَ</a:t>
            </a:r>
            <a:endParaRPr lang="ar-SA" sz="1600" dirty="0"/>
          </a:p>
        </p:txBody>
      </p:sp>
      <p:sp>
        <p:nvSpPr>
          <p:cNvPr id="18" name="Shape 15"/>
          <p:cNvSpPr/>
          <p:nvPr/>
        </p:nvSpPr>
        <p:spPr>
          <a:xfrm>
            <a:off x="685800" y="2395728"/>
            <a:ext cx="365760" cy="365760"/>
          </a:xfrm>
          <a:prstGeom prst="ellipse">
            <a:avLst/>
          </a:prstGeom>
          <a:solidFill>
            <a:srgbClr val="1B3B6F"/>
          </a:solidFill>
          <a:ln w="12700">
            <a:solidFill>
              <a:srgbClr val="1B3B6F"/>
            </a:solidFill>
            <a:prstDash val="solid"/>
          </a:ln>
        </p:spPr>
      </p:sp>
      <p:sp>
        <p:nvSpPr>
          <p:cNvPr id="19" name="Text 16"/>
          <p:cNvSpPr txBox="1"/>
          <p:nvPr/>
        </p:nvSpPr>
        <p:spPr>
          <a:xfrm>
            <a:off x="685800" y="2395728"/>
            <a:ext cx="365760" cy="365760"/>
          </a:xfrm>
          <a:prstGeom prst="rect">
            <a:avLst/>
          </a:prstGeom>
          <a:noFill/>
          <a:ln/>
        </p:spPr>
        <p:txBody>
          <a:bodyPr wrap="square" lIns="0" tIns="0" rIns="0" bIns="0" rtlCol="0" anchor="ctr"/>
          <a:lstStyle/>
          <a:p>
            <a:pPr algn="ctr" indent="0" marL="0">
              <a:buNone/>
            </a:pPr>
            <a:r>
              <a:rPr lang="en-US" sz="1200" b="1" dirty="0">
                <a:solidFill>
                  <a:srgbClr val="D4AF37"/>
                </a:solidFill>
                <a:latin typeface="Calibri" pitchFamily="34" charset="0"/>
                <a:cs typeface="Amiri" pitchFamily="2" charset="-78"/>
              </a:rPr>
              <a:t>1</a:t>
            </a:r>
            <a:endParaRPr lang="en-US" sz="1200" dirty="0"/>
          </a:p>
        </p:txBody>
      </p:sp>
      <p:sp>
        <p:nvSpPr>
          <p:cNvPr id="20" name="Text 17"/>
          <p:cNvSpPr txBox="1"/>
          <p:nvPr/>
        </p:nvSpPr>
        <p:spPr>
          <a:xfrm>
            <a:off x="1188720" y="2286000"/>
            <a:ext cx="3749040" cy="841248"/>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F2-L11: Writing a Short Personal Introduction</a:t>
            </a:r>
            <a:endParaRPr lang="en-US" sz="1300" dirty="0"/>
          </a:p>
        </p:txBody>
      </p:sp>
      <p:sp>
        <p:nvSpPr>
          <p:cNvPr id="21" name="Shape 18"/>
          <p:cNvSpPr/>
          <p:nvPr/>
        </p:nvSpPr>
        <p:spPr>
          <a:xfrm>
            <a:off x="685800" y="3291840"/>
            <a:ext cx="365760" cy="365760"/>
          </a:xfrm>
          <a:prstGeom prst="ellipse">
            <a:avLst/>
          </a:prstGeom>
          <a:solidFill>
            <a:srgbClr val="1B3B6F"/>
          </a:solidFill>
          <a:ln w="12700">
            <a:solidFill>
              <a:srgbClr val="1B3B6F"/>
            </a:solidFill>
            <a:prstDash val="solid"/>
          </a:ln>
        </p:spPr>
      </p:sp>
      <p:sp>
        <p:nvSpPr>
          <p:cNvPr id="22" name="Text 19"/>
          <p:cNvSpPr txBox="1"/>
          <p:nvPr/>
        </p:nvSpPr>
        <p:spPr>
          <a:xfrm>
            <a:off x="685800" y="3291840"/>
            <a:ext cx="365760" cy="365760"/>
          </a:xfrm>
          <a:prstGeom prst="rect">
            <a:avLst/>
          </a:prstGeom>
          <a:noFill/>
          <a:ln/>
        </p:spPr>
        <p:txBody>
          <a:bodyPr wrap="square" lIns="0" tIns="0" rIns="0" bIns="0" rtlCol="0" anchor="ctr"/>
          <a:lstStyle/>
          <a:p>
            <a:pPr algn="ctr" indent="0" marL="0">
              <a:buNone/>
            </a:pPr>
            <a:r>
              <a:rPr lang="en-US" sz="1200" b="1" dirty="0">
                <a:solidFill>
                  <a:srgbClr val="D4AF37"/>
                </a:solidFill>
                <a:latin typeface="Calibri" pitchFamily="34" charset="0"/>
                <a:cs typeface="Amiri" pitchFamily="2" charset="-78"/>
              </a:rPr>
              <a:t>2</a:t>
            </a:r>
            <a:endParaRPr lang="en-US" sz="1200" dirty="0"/>
          </a:p>
        </p:txBody>
      </p:sp>
      <p:sp>
        <p:nvSpPr>
          <p:cNvPr id="23" name="Text 20"/>
          <p:cNvSpPr txBox="1"/>
          <p:nvPr/>
        </p:nvSpPr>
        <p:spPr>
          <a:xfrm>
            <a:off x="1188720" y="3182112"/>
            <a:ext cx="3749040" cy="841248"/>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F2-L12: Show What You Can Say: F2 Review &amp; Assessment</a:t>
            </a:r>
            <a:endParaRPr lang="en-US" sz="1300" dirty="0"/>
          </a:p>
        </p:txBody>
      </p:sp>
      <p:sp>
        <p:nvSpPr>
          <p:cNvPr id="24" name="Shape 21"/>
          <p:cNvSpPr/>
          <p:nvPr/>
        </p:nvSpPr>
        <p:spPr>
          <a:xfrm>
            <a:off x="685800" y="4187952"/>
            <a:ext cx="365760" cy="365760"/>
          </a:xfrm>
          <a:prstGeom prst="ellipse">
            <a:avLst/>
          </a:prstGeom>
          <a:solidFill>
            <a:srgbClr val="1B3B6F"/>
          </a:solidFill>
          <a:ln w="12700">
            <a:solidFill>
              <a:srgbClr val="1B3B6F"/>
            </a:solidFill>
            <a:prstDash val="solid"/>
          </a:ln>
        </p:spPr>
      </p:sp>
      <p:sp>
        <p:nvSpPr>
          <p:cNvPr id="25" name="Text 22"/>
          <p:cNvSpPr txBox="1"/>
          <p:nvPr/>
        </p:nvSpPr>
        <p:spPr>
          <a:xfrm>
            <a:off x="685800" y="4187952"/>
            <a:ext cx="365760" cy="365760"/>
          </a:xfrm>
          <a:prstGeom prst="rect">
            <a:avLst/>
          </a:prstGeom>
          <a:noFill/>
          <a:ln/>
        </p:spPr>
        <p:txBody>
          <a:bodyPr wrap="square" lIns="0" tIns="0" rIns="0" bIns="0" rtlCol="0" anchor="ctr"/>
          <a:lstStyle/>
          <a:p>
            <a:pPr algn="ctr" indent="0" marL="0">
              <a:buNone/>
            </a:pPr>
            <a:r>
              <a:rPr lang="en-US" sz="1200" b="1" dirty="0">
                <a:solidFill>
                  <a:srgbClr val="D4AF37"/>
                </a:solidFill>
                <a:latin typeface="Calibri" pitchFamily="34" charset="0"/>
                <a:cs typeface="Amiri" pitchFamily="2" charset="-78"/>
              </a:rPr>
              <a:t>3</a:t>
            </a:r>
            <a:endParaRPr lang="en-US" sz="1200" dirty="0"/>
          </a:p>
        </p:txBody>
      </p:sp>
      <p:sp>
        <p:nvSpPr>
          <p:cNvPr id="26" name="Text 23"/>
          <p:cNvSpPr txBox="1"/>
          <p:nvPr/>
        </p:nvSpPr>
        <p:spPr>
          <a:xfrm>
            <a:off x="1188720" y="4078224"/>
            <a:ext cx="3749040" cy="841248"/>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Apply both: the pen-friend coordinator · My pen-friend application</a:t>
            </a:r>
            <a:endParaRPr lang="en-US" sz="1300" dirty="0"/>
          </a:p>
        </p:txBody>
      </p:sp>
      <p:sp>
        <p:nvSpPr>
          <p:cNvPr id="27" name="Shape 24"/>
          <p:cNvSpPr/>
          <p:nvPr/>
        </p:nvSpPr>
        <p:spPr>
          <a:xfrm>
            <a:off x="5349240" y="1810512"/>
            <a:ext cx="6382512" cy="1353312"/>
          </a:xfrm>
          <a:prstGeom prst="roundRect">
            <a:avLst>
              <a:gd name="adj" fmla="val 5405"/>
            </a:avLst>
          </a:prstGeom>
          <a:solidFill>
            <a:srgbClr val="E9F5EE"/>
          </a:solidFill>
          <a:ln w="9525">
            <a:solidFill>
              <a:srgbClr val="2E8B57"/>
            </a:solidFill>
            <a:prstDash val="solid"/>
          </a:ln>
        </p:spPr>
      </p:sp>
      <p:sp>
        <p:nvSpPr>
          <p:cNvPr id="28" name="Shape 25"/>
          <p:cNvSpPr/>
          <p:nvPr/>
        </p:nvSpPr>
        <p:spPr>
          <a:xfrm>
            <a:off x="5532120" y="1947672"/>
            <a:ext cx="1143000" cy="292608"/>
          </a:xfrm>
          <a:prstGeom prst="roundRect">
            <a:avLst>
              <a:gd name="adj" fmla="val 50000"/>
            </a:avLst>
          </a:prstGeom>
          <a:solidFill>
            <a:srgbClr val="2E8B57"/>
          </a:solidFill>
          <a:ln w="12700">
            <a:solidFill>
              <a:srgbClr val="2E8B57"/>
            </a:solidFill>
            <a:prstDash val="solid"/>
          </a:ln>
        </p:spPr>
      </p:sp>
      <p:sp>
        <p:nvSpPr>
          <p:cNvPr id="29" name="Text 26"/>
          <p:cNvSpPr txBox="1"/>
          <p:nvPr/>
        </p:nvSpPr>
        <p:spPr>
          <a:xfrm>
            <a:off x="5532120" y="1947672"/>
            <a:ext cx="1143000" cy="292608"/>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CORE</a:t>
            </a:r>
            <a:endParaRPr lang="en-US" sz="950" dirty="0"/>
          </a:p>
        </p:txBody>
      </p:sp>
      <p:sp>
        <p:nvSpPr>
          <p:cNvPr id="30" name="Text 27"/>
          <p:cNvSpPr txBox="1"/>
          <p:nvPr/>
        </p:nvSpPr>
        <p:spPr>
          <a:xfrm>
            <a:off x="6766560" y="1947672"/>
            <a:ext cx="1828800" cy="292608"/>
          </a:xfrm>
          <a:prstGeom prst="rect">
            <a:avLst/>
          </a:prstGeom>
          <a:noFill/>
          <a:ln/>
        </p:spPr>
        <p:txBody>
          <a:bodyPr wrap="square" lIns="0" tIns="0" rIns="0" bIns="0" rtlCol="0" anchor="ctr"/>
          <a:lstStyle/>
          <a:p>
            <a:pPr algn="l" indent="0" marL="0">
              <a:buNone/>
            </a:pPr>
            <a:r>
              <a:rPr lang="en-US" sz="1050" b="1" i="1" dirty="0">
                <a:solidFill>
                  <a:srgbClr val="2E8B57"/>
                </a:solidFill>
                <a:latin typeface="Calibri" pitchFamily="34" charset="0"/>
                <a:cs typeface="Amiri" pitchFamily="2" charset="-78"/>
              </a:rPr>
              <a:t>Everyone</a:t>
            </a:r>
            <a:endParaRPr lang="en-US" sz="1050" dirty="0"/>
          </a:p>
        </p:txBody>
      </p:sp>
      <p:sp>
        <p:nvSpPr>
          <p:cNvPr id="31" name="Text 28"/>
          <p:cNvSpPr txBox="1"/>
          <p:nvPr/>
        </p:nvSpPr>
        <p:spPr>
          <a:xfrm>
            <a:off x="5532120" y="2286000"/>
            <a:ext cx="6016752" cy="393192"/>
          </a:xfrm>
          <a:prstGeom prst="rect">
            <a:avLst/>
          </a:prstGeom>
          <a:noFill/>
          <a:ln/>
        </p:spPr>
        <p:txBody>
          <a:bodyPr wrap="square" lIns="0" tIns="0" rIns="0" bIns="0" rtlCol="0" anchor="ctr"/>
          <a:lstStyle/>
          <a:p>
            <a:pPr algn="l" indent="0" marL="0">
              <a:buNone/>
            </a:pPr>
            <a:r>
              <a:rPr lang="en-US" sz="1300" b="1" dirty="0">
                <a:solidFill>
                  <a:srgbClr val="2E8B57"/>
                </a:solidFill>
                <a:latin typeface="Calibri" pitchFamily="34" charset="0"/>
                <a:cs typeface="Amiri" pitchFamily="2" charset="-78"/>
              </a:rPr>
              <a:t>☐  Answer questions from BOTH lessons in full sentences.</a:t>
            </a:r>
            <a:endParaRPr lang="en-US" sz="1300" dirty="0"/>
          </a:p>
        </p:txBody>
      </p:sp>
      <p:sp>
        <p:nvSpPr>
          <p:cNvPr id="32" name="Text 29"/>
          <p:cNvSpPr txBox="1"/>
          <p:nvPr/>
        </p:nvSpPr>
        <p:spPr>
          <a:xfrm>
            <a:off x="5532120" y="2697480"/>
            <a:ext cx="6016752" cy="393192"/>
          </a:xfrm>
          <a:prstGeom prst="rect">
            <a:avLst/>
          </a:prstGeom>
          <a:noFill/>
          <a:ln/>
        </p:spPr>
        <p:txBody>
          <a:bodyPr wrap="square" lIns="0" tIns="0" rIns="0" bIns="0" rtlCol="0" anchor="ctr"/>
          <a:lstStyle/>
          <a:p>
            <a:pPr algn="l" indent="0" marL="0">
              <a:buNone/>
            </a:pPr>
            <a:r>
              <a:rPr lang="en-US" sz="1300" b="1" dirty="0">
                <a:solidFill>
                  <a:srgbClr val="2E8B57"/>
                </a:solidFill>
                <a:latin typeface="Calibri" pitchFamily="34" charset="0"/>
                <a:cs typeface="Amiri" pitchFamily="2" charset="-78"/>
              </a:rPr>
              <a:t>☐  Write the text using the frames.</a:t>
            </a:r>
            <a:endParaRPr lang="en-US" sz="1300" dirty="0"/>
          </a:p>
        </p:txBody>
      </p:sp>
      <p:sp>
        <p:nvSpPr>
          <p:cNvPr id="33" name="Shape 30"/>
          <p:cNvSpPr/>
          <p:nvPr/>
        </p:nvSpPr>
        <p:spPr>
          <a:xfrm>
            <a:off x="5349240" y="3273552"/>
            <a:ext cx="6382512" cy="1353312"/>
          </a:xfrm>
          <a:prstGeom prst="roundRect">
            <a:avLst>
              <a:gd name="adj" fmla="val 5405"/>
            </a:avLst>
          </a:prstGeom>
          <a:solidFill>
            <a:srgbClr val="FCF1E0"/>
          </a:solidFill>
          <a:ln w="9525">
            <a:solidFill>
              <a:srgbClr val="C9780A"/>
            </a:solidFill>
            <a:prstDash val="solid"/>
          </a:ln>
        </p:spPr>
      </p:sp>
      <p:sp>
        <p:nvSpPr>
          <p:cNvPr id="34" name="Shape 31"/>
          <p:cNvSpPr/>
          <p:nvPr/>
        </p:nvSpPr>
        <p:spPr>
          <a:xfrm>
            <a:off x="5532120" y="3410712"/>
            <a:ext cx="1143000" cy="292608"/>
          </a:xfrm>
          <a:prstGeom prst="roundRect">
            <a:avLst>
              <a:gd name="adj" fmla="val 50000"/>
            </a:avLst>
          </a:prstGeom>
          <a:solidFill>
            <a:srgbClr val="C9780A"/>
          </a:solidFill>
          <a:ln w="12700">
            <a:solidFill>
              <a:srgbClr val="C9780A"/>
            </a:solidFill>
            <a:prstDash val="solid"/>
          </a:ln>
        </p:spPr>
      </p:sp>
      <p:sp>
        <p:nvSpPr>
          <p:cNvPr id="35" name="Text 32"/>
          <p:cNvSpPr txBox="1"/>
          <p:nvPr/>
        </p:nvSpPr>
        <p:spPr>
          <a:xfrm>
            <a:off x="5532120" y="3410712"/>
            <a:ext cx="1143000" cy="292608"/>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DEVELOP</a:t>
            </a:r>
            <a:endParaRPr lang="en-US" sz="950" dirty="0"/>
          </a:p>
        </p:txBody>
      </p:sp>
      <p:sp>
        <p:nvSpPr>
          <p:cNvPr id="36" name="Text 33"/>
          <p:cNvSpPr txBox="1"/>
          <p:nvPr/>
        </p:nvSpPr>
        <p:spPr>
          <a:xfrm>
            <a:off x="6766560" y="3410712"/>
            <a:ext cx="1828800" cy="292608"/>
          </a:xfrm>
          <a:prstGeom prst="rect">
            <a:avLst/>
          </a:prstGeom>
          <a:noFill/>
          <a:ln/>
        </p:spPr>
        <p:txBody>
          <a:bodyPr wrap="square" lIns="0" tIns="0" rIns="0" bIns="0" rtlCol="0" anchor="ctr"/>
          <a:lstStyle/>
          <a:p>
            <a:pPr algn="l" indent="0" marL="0">
              <a:buNone/>
            </a:pPr>
            <a:r>
              <a:rPr lang="en-US" sz="1050" b="1" i="1" dirty="0">
                <a:solidFill>
                  <a:srgbClr val="C9780A"/>
                </a:solidFill>
                <a:latin typeface="Calibri" pitchFamily="34" charset="0"/>
                <a:cs typeface="Amiri" pitchFamily="2" charset="-78"/>
              </a:rPr>
              <a:t>Most of us</a:t>
            </a:r>
            <a:endParaRPr lang="en-US" sz="1050" dirty="0"/>
          </a:p>
        </p:txBody>
      </p:sp>
      <p:sp>
        <p:nvSpPr>
          <p:cNvPr id="37" name="Text 34"/>
          <p:cNvSpPr txBox="1"/>
          <p:nvPr/>
        </p:nvSpPr>
        <p:spPr>
          <a:xfrm>
            <a:off x="5532120" y="3749040"/>
            <a:ext cx="6016752" cy="393192"/>
          </a:xfrm>
          <a:prstGeom prst="rect">
            <a:avLst/>
          </a:prstGeom>
          <a:noFill/>
          <a:ln/>
        </p:spPr>
        <p:txBody>
          <a:bodyPr wrap="square" lIns="0" tIns="0" rIns="0" bIns="0" rtlCol="0" anchor="ctr"/>
          <a:lstStyle/>
          <a:p>
            <a:pPr algn="l" indent="0" marL="0">
              <a:buNone/>
            </a:pPr>
            <a:r>
              <a:rPr lang="en-US" sz="1300" b="1" dirty="0">
                <a:solidFill>
                  <a:srgbClr val="C9780A"/>
                </a:solidFill>
                <a:latin typeface="Calibri" pitchFamily="34" charset="0"/>
                <a:cs typeface="Amiri" pitchFamily="2" charset="-78"/>
              </a:rPr>
              <a:t>☐  Join both lessons in one conversation and a 30–45 seconds talk.</a:t>
            </a:r>
            <a:endParaRPr lang="en-US" sz="1300" dirty="0"/>
          </a:p>
        </p:txBody>
      </p:sp>
      <p:sp>
        <p:nvSpPr>
          <p:cNvPr id="38" name="Text 35"/>
          <p:cNvSpPr txBox="1"/>
          <p:nvPr/>
        </p:nvSpPr>
        <p:spPr>
          <a:xfrm>
            <a:off x="5532120" y="4160520"/>
            <a:ext cx="6016752" cy="393192"/>
          </a:xfrm>
          <a:prstGeom prst="rect">
            <a:avLst/>
          </a:prstGeom>
          <a:noFill/>
          <a:ln/>
        </p:spPr>
        <p:txBody>
          <a:bodyPr wrap="square" lIns="0" tIns="0" rIns="0" bIns="0" rtlCol="0" anchor="ctr"/>
          <a:lstStyle/>
          <a:p>
            <a:pPr algn="l" indent="0" marL="0">
              <a:buNone/>
            </a:pPr>
            <a:r>
              <a:rPr lang="en-US" sz="1300" b="1" dirty="0">
                <a:solidFill>
                  <a:srgbClr val="C9780A"/>
                </a:solidFill>
                <a:latin typeface="Calibri" pitchFamily="34" charset="0"/>
                <a:cs typeface="Amiri" pitchFamily="2" charset="-78"/>
              </a:rPr>
              <a:t>☐  Write the text, frames only if stuck.</a:t>
            </a:r>
            <a:endParaRPr lang="en-US" sz="1300" dirty="0"/>
          </a:p>
        </p:txBody>
      </p:sp>
      <p:sp>
        <p:nvSpPr>
          <p:cNvPr id="39" name="Shape 36"/>
          <p:cNvSpPr/>
          <p:nvPr/>
        </p:nvSpPr>
        <p:spPr>
          <a:xfrm>
            <a:off x="5349240" y="4736592"/>
            <a:ext cx="6382512" cy="1353312"/>
          </a:xfrm>
          <a:prstGeom prst="roundRect">
            <a:avLst>
              <a:gd name="adj" fmla="val 5405"/>
            </a:avLst>
          </a:prstGeom>
          <a:solidFill>
            <a:srgbClr val="FBEAEA"/>
          </a:solidFill>
          <a:ln w="9525">
            <a:solidFill>
              <a:srgbClr val="B83227"/>
            </a:solidFill>
            <a:prstDash val="solid"/>
          </a:ln>
        </p:spPr>
      </p:sp>
      <p:sp>
        <p:nvSpPr>
          <p:cNvPr id="40" name="Shape 37"/>
          <p:cNvSpPr/>
          <p:nvPr/>
        </p:nvSpPr>
        <p:spPr>
          <a:xfrm>
            <a:off x="5532120" y="4873752"/>
            <a:ext cx="1143000" cy="292608"/>
          </a:xfrm>
          <a:prstGeom prst="roundRect">
            <a:avLst>
              <a:gd name="adj" fmla="val 50000"/>
            </a:avLst>
          </a:prstGeom>
          <a:solidFill>
            <a:srgbClr val="B83227"/>
          </a:solidFill>
          <a:ln w="12700">
            <a:solidFill>
              <a:srgbClr val="B83227"/>
            </a:solidFill>
            <a:prstDash val="solid"/>
          </a:ln>
        </p:spPr>
      </p:sp>
      <p:sp>
        <p:nvSpPr>
          <p:cNvPr id="41" name="Text 38"/>
          <p:cNvSpPr txBox="1"/>
          <p:nvPr/>
        </p:nvSpPr>
        <p:spPr>
          <a:xfrm>
            <a:off x="5532120" y="4873752"/>
            <a:ext cx="1143000" cy="292608"/>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STRETCH</a:t>
            </a:r>
            <a:endParaRPr lang="en-US" sz="950" dirty="0"/>
          </a:p>
        </p:txBody>
      </p:sp>
      <p:sp>
        <p:nvSpPr>
          <p:cNvPr id="42" name="Text 39"/>
          <p:cNvSpPr txBox="1"/>
          <p:nvPr/>
        </p:nvSpPr>
        <p:spPr>
          <a:xfrm>
            <a:off x="6766560" y="4873752"/>
            <a:ext cx="1828800" cy="292608"/>
          </a:xfrm>
          <a:prstGeom prst="rect">
            <a:avLst/>
          </a:prstGeom>
          <a:noFill/>
          <a:ln/>
        </p:spPr>
        <p:txBody>
          <a:bodyPr wrap="square" lIns="0" tIns="0" rIns="0" bIns="0" rtlCol="0" anchor="ctr"/>
          <a:lstStyle/>
          <a:p>
            <a:pPr algn="l" indent="0" marL="0">
              <a:buNone/>
            </a:pPr>
            <a:r>
              <a:rPr lang="en-US" sz="1050" b="1" i="1" dirty="0">
                <a:solidFill>
                  <a:srgbClr val="B83227"/>
                </a:solidFill>
                <a:latin typeface="Calibri" pitchFamily="34" charset="0"/>
                <a:cs typeface="Amiri" pitchFamily="2" charset="-78"/>
              </a:rPr>
              <a:t>Aim high</a:t>
            </a:r>
            <a:endParaRPr lang="en-US" sz="1050" dirty="0"/>
          </a:p>
        </p:txBody>
      </p:sp>
      <p:sp>
        <p:nvSpPr>
          <p:cNvPr id="43" name="Text 40"/>
          <p:cNvSpPr txBox="1"/>
          <p:nvPr/>
        </p:nvSpPr>
        <p:spPr>
          <a:xfrm>
            <a:off x="5532120" y="5212080"/>
            <a:ext cx="6016752" cy="393192"/>
          </a:xfrm>
          <a:prstGeom prst="rect">
            <a:avLst/>
          </a:prstGeom>
          <a:noFill/>
          <a:ln/>
        </p:spPr>
        <p:txBody>
          <a:bodyPr wrap="square" lIns="0" tIns="0" rIns="0" bIns="0" rtlCol="0" anchor="ctr"/>
          <a:lstStyle/>
          <a:p>
            <a:pPr algn="l" indent="0" marL="0">
              <a:buNone/>
            </a:pPr>
            <a:r>
              <a:rPr lang="en-US" sz="1300" b="1" dirty="0">
                <a:solidFill>
                  <a:srgbClr val="B83227"/>
                </a:solidFill>
                <a:latin typeface="Calibri" pitchFamily="34" charset="0"/>
                <a:cs typeface="Amiri" pitchFamily="2" charset="-78"/>
              </a:rPr>
              <a:t>☐  Speak without notes; add reasons and opinions.</a:t>
            </a:r>
            <a:endParaRPr lang="en-US" sz="1300" dirty="0"/>
          </a:p>
        </p:txBody>
      </p:sp>
      <p:sp>
        <p:nvSpPr>
          <p:cNvPr id="44" name="Text 41"/>
          <p:cNvSpPr txBox="1"/>
          <p:nvPr/>
        </p:nvSpPr>
        <p:spPr>
          <a:xfrm>
            <a:off x="5532120" y="5623560"/>
            <a:ext cx="6016752" cy="393192"/>
          </a:xfrm>
          <a:prstGeom prst="rect">
            <a:avLst/>
          </a:prstGeom>
          <a:noFill/>
          <a:ln/>
        </p:spPr>
        <p:txBody>
          <a:bodyPr wrap="square" lIns="0" tIns="0" rIns="0" bIns="0" rtlCol="0" anchor="ctr"/>
          <a:lstStyle/>
          <a:p>
            <a:pPr algn="l" indent="0" marL="0">
              <a:buNone/>
            </a:pPr>
            <a:r>
              <a:rPr lang="en-US" sz="1300" b="1" dirty="0">
                <a:solidFill>
                  <a:srgbClr val="B83227"/>
                </a:solidFill>
                <a:latin typeface="Calibri" pitchFamily="34" charset="0"/>
                <a:cs typeface="Amiri" pitchFamily="2" charset="-78"/>
              </a:rPr>
              <a:t>☐  Add a reason (</a:t>
            </a:r>
            <a:pPr algn="l" indent="0" marL="0">
              <a:buNone/>
            </a:pPr>
            <a:r>
              <a:rPr lang="ar-SA" altLang="en-US" sz="1700" b="1" dirty="0">
                <a:solidFill>
                  <a:srgbClr val="B83227"/>
                </a:solidFill>
                <a:latin typeface="Amiri" pitchFamily="2" charset="-78"/>
                <a:ea typeface="Amiri" pitchFamily="2" charset="-78"/>
                <a:cs typeface="Amiri" pitchFamily="2" charset="-78"/>
              </a:rPr>
              <a:t>لِأَنَّ</a:t>
            </a:r>
            <a:pPr algn="l" indent="0" marL="0">
              <a:buNone/>
            </a:pPr>
            <a:r>
              <a:rPr lang="en-US" sz="1300" b="1" dirty="0">
                <a:solidFill>
                  <a:srgbClr val="B83227"/>
                </a:solidFill>
                <a:latin typeface="Calibri" pitchFamily="34" charset="0"/>
                <a:cs typeface="Amiri" pitchFamily="2" charset="-78"/>
              </a:rPr>
              <a:t>) and an extra detail to every point.</a:t>
            </a:r>
            <a:endParaRPr lang="en-US" sz="1300" dirty="0"/>
          </a:p>
        </p:txBody>
      </p:sp>
      <p:sp>
        <p:nvSpPr>
          <p:cNvPr id="45" name="Text 42"/>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4 / 24</a:t>
            </a:r>
            <a:endParaRPr lang="en-US" sz="8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F2-W06 · Apply workshop</a:t>
            </a:r>
            <a:endParaRPr lang="en-US" sz="950" dirty="0"/>
          </a:p>
        </p:txBody>
      </p:sp>
      <p:sp>
        <p:nvSpPr>
          <p:cNvPr id="8" name="Shape 6"/>
          <p:cNvSpPr/>
          <p:nvPr/>
        </p:nvSpPr>
        <p:spPr>
          <a:xfrm>
            <a:off x="7370978" y="274320"/>
            <a:ext cx="1388974"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70978" y="274320"/>
            <a:ext cx="138897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 · 4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cs typeface="Amiri" pitchFamily="2" charset="-78"/>
              </a:rPr>
              <a:t>PART 1 · STEP 1 · WORD RACE · 4 MINUTES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Word race: two lessons, one race</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سِبَاقُ الكَلِمَاتِ</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F2 · Greetings &amp; Introductions · F2-W06 · Apply workshop (F2-L11 + F2-L12)</a:t>
            </a:r>
            <a:endParaRPr lang="en-US" sz="850" dirty="0"/>
          </a:p>
        </p:txBody>
      </p:sp>
      <p:sp>
        <p:nvSpPr>
          <p:cNvPr id="15" name="Shape 12"/>
          <p:cNvSpPr/>
          <p:nvPr/>
        </p:nvSpPr>
        <p:spPr>
          <a:xfrm>
            <a:off x="457200" y="1810512"/>
            <a:ext cx="5715000" cy="4498848"/>
          </a:xfrm>
          <a:prstGeom prst="roundRect">
            <a:avLst>
              <a:gd name="adj" fmla="val 1626"/>
            </a:avLst>
          </a:prstGeom>
          <a:solidFill>
            <a:srgbClr val="F4F1EA"/>
          </a:solidFill>
          <a:ln w="9525">
            <a:solidFill>
              <a:srgbClr val="E8D49A"/>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640080" y="1920240"/>
            <a:ext cx="3108960" cy="292608"/>
          </a:xfrm>
          <a:prstGeom prst="roundRect">
            <a:avLst>
              <a:gd name="adj" fmla="val 50000"/>
            </a:avLst>
          </a:prstGeom>
          <a:solidFill>
            <a:srgbClr val="8A6D1E"/>
          </a:solidFill>
          <a:ln w="12700">
            <a:solidFill>
              <a:srgbClr val="8A6D1E"/>
            </a:solidFill>
            <a:prstDash val="solid"/>
          </a:ln>
        </p:spPr>
      </p:sp>
      <p:sp>
        <p:nvSpPr>
          <p:cNvPr id="17" name="Text 14"/>
          <p:cNvSpPr txBox="1"/>
          <p:nvPr/>
        </p:nvSpPr>
        <p:spPr>
          <a:xfrm>
            <a:off x="640080" y="1920240"/>
            <a:ext cx="3108960" cy="292608"/>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STEP 1 · PAIRS</a:t>
            </a:r>
            <a:endParaRPr lang="en-US" sz="900" dirty="0"/>
          </a:p>
        </p:txBody>
      </p:sp>
      <p:sp>
        <p:nvSpPr>
          <p:cNvPr id="18" name="Text 15"/>
          <p:cNvSpPr txBox="1"/>
          <p:nvPr/>
        </p:nvSpPr>
        <p:spPr>
          <a:xfrm>
            <a:off x="640080" y="2286000"/>
            <a:ext cx="5349240" cy="502920"/>
          </a:xfrm>
          <a:prstGeom prst="rect">
            <a:avLst/>
          </a:prstGeom>
          <a:noFill/>
          <a:ln/>
        </p:spPr>
        <p:txBody>
          <a:bodyPr wrap="square" lIns="0" tIns="0" rIns="0" bIns="0" rtlCol="0" anchor="ctr"/>
          <a:lstStyle/>
          <a:p>
            <a:pPr algn="l" indent="0" marL="0">
              <a:buNone/>
            </a:pPr>
            <a:r>
              <a:rPr lang="en-US" sz="2200" b="1" dirty="0">
                <a:solidFill>
                  <a:srgbClr val="1B3B6F"/>
                </a:solidFill>
                <a:latin typeface="Calibri" pitchFamily="34" charset="0"/>
                <a:cs typeface="Amiri" pitchFamily="2" charset="-78"/>
              </a:rPr>
              <a:t>🏁  English → Arabic, from both lessons</a:t>
            </a:r>
            <a:endParaRPr lang="en-US" sz="2200" dirty="0"/>
          </a:p>
        </p:txBody>
      </p:sp>
      <p:sp>
        <p:nvSpPr>
          <p:cNvPr id="19" name="Text 16"/>
          <p:cNvSpPr txBox="1"/>
          <p:nvPr/>
        </p:nvSpPr>
        <p:spPr>
          <a:xfrm>
            <a:off x="640080" y="2816352"/>
            <a:ext cx="5349240" cy="1188720"/>
          </a:xfrm>
          <a:prstGeom prst="rect">
            <a:avLst/>
          </a:prstGeom>
          <a:noFill/>
          <a:ln/>
        </p:spPr>
        <p:txBody>
          <a:bodyPr wrap="square" lIns="0" tIns="0" rIns="0" bIns="0" rtlCol="0" anchor="t"/>
          <a:lstStyle/>
          <a:p>
            <a:pPr algn="l" indent="0" marL="0">
              <a:buNone/>
            </a:pPr>
            <a:r>
              <a:rPr lang="en-US" sz="1350" dirty="0">
                <a:solidFill>
                  <a:srgbClr val="1F2A37"/>
                </a:solidFill>
                <a:latin typeface="Calibri" pitchFamily="34" charset="0"/>
                <a:cs typeface="Amiri" pitchFamily="2" charset="-78"/>
              </a:rPr>
              <a:t>The next two slides show words from F2-L11 and F2-L12. Partner A says a word in ENGLISH; Partner B says it in ARABIC. One point for every correct answer in 90 seconds — then swap.</a:t>
            </a:r>
            <a:endParaRPr lang="en-US" sz="1350" dirty="0"/>
          </a:p>
        </p:txBody>
      </p:sp>
      <p:sp>
        <p:nvSpPr>
          <p:cNvPr id="20" name="Text 17"/>
          <p:cNvSpPr txBox="1"/>
          <p:nvPr/>
        </p:nvSpPr>
        <p:spPr>
          <a:xfrm>
            <a:off x="640080" y="4041648"/>
            <a:ext cx="5303520" cy="256032"/>
          </a:xfrm>
          <a:prstGeom prst="rect">
            <a:avLst/>
          </a:prstGeom>
          <a:noFill/>
          <a:ln/>
        </p:spPr>
        <p:txBody>
          <a:bodyPr wrap="square" lIns="0" tIns="0" rIns="0" bIns="0" rtlCol="0" anchor="ctr"/>
          <a:lstStyle/>
          <a:p>
            <a:pPr algn="l" indent="0" marL="0">
              <a:buNone/>
            </a:pPr>
            <a:r>
              <a:rPr lang="en-US" sz="950" b="1" spc="200" kern="0" dirty="0">
                <a:solidFill>
                  <a:srgbClr val="8A6D1E"/>
                </a:solidFill>
                <a:latin typeface="Calibri" pitchFamily="34" charset="0"/>
                <a:cs typeface="Amiri" pitchFamily="2" charset="-78"/>
              </a:rPr>
              <a:t>HOW WE RUN IT ONLINE</a:t>
            </a:r>
            <a:endParaRPr lang="en-US" sz="950" dirty="0"/>
          </a:p>
        </p:txBody>
      </p:sp>
      <p:sp>
        <p:nvSpPr>
          <p:cNvPr id="21" name="Shape 18"/>
          <p:cNvSpPr/>
          <p:nvPr/>
        </p:nvSpPr>
        <p:spPr>
          <a:xfrm>
            <a:off x="658368" y="4407408"/>
            <a:ext cx="274320" cy="274320"/>
          </a:xfrm>
          <a:prstGeom prst="ellipse">
            <a:avLst/>
          </a:prstGeom>
          <a:solidFill>
            <a:srgbClr val="1B3B6F"/>
          </a:solidFill>
          <a:ln w="12700">
            <a:solidFill>
              <a:srgbClr val="1B3B6F"/>
            </a:solidFill>
            <a:prstDash val="solid"/>
          </a:ln>
        </p:spPr>
      </p:sp>
      <p:sp>
        <p:nvSpPr>
          <p:cNvPr id="22" name="Text 19"/>
          <p:cNvSpPr txBox="1"/>
          <p:nvPr/>
        </p:nvSpPr>
        <p:spPr>
          <a:xfrm>
            <a:off x="658368" y="4407408"/>
            <a:ext cx="274320" cy="27432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cs typeface="Amiri" pitchFamily="2" charset="-78"/>
              </a:rPr>
              <a:t>1</a:t>
            </a:r>
            <a:endParaRPr lang="en-US" sz="1000" dirty="0"/>
          </a:p>
        </p:txBody>
      </p:sp>
      <p:sp>
        <p:nvSpPr>
          <p:cNvPr id="23" name="Text 20"/>
          <p:cNvSpPr txBox="1"/>
          <p:nvPr/>
        </p:nvSpPr>
        <p:spPr>
          <a:xfrm>
            <a:off x="1024128" y="4334256"/>
            <a:ext cx="4983480" cy="457200"/>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Teacher: first round together (3 words from each slide).</a:t>
            </a:r>
            <a:endParaRPr lang="en-US" sz="1150" dirty="0"/>
          </a:p>
        </p:txBody>
      </p:sp>
      <p:sp>
        <p:nvSpPr>
          <p:cNvPr id="24" name="Shape 21"/>
          <p:cNvSpPr/>
          <p:nvPr/>
        </p:nvSpPr>
        <p:spPr>
          <a:xfrm>
            <a:off x="658368" y="4864608"/>
            <a:ext cx="274320" cy="274320"/>
          </a:xfrm>
          <a:prstGeom prst="ellipse">
            <a:avLst/>
          </a:prstGeom>
          <a:solidFill>
            <a:srgbClr val="1B3B6F"/>
          </a:solidFill>
          <a:ln w="12700">
            <a:solidFill>
              <a:srgbClr val="1B3B6F"/>
            </a:solidFill>
            <a:prstDash val="solid"/>
          </a:ln>
        </p:spPr>
      </p:sp>
      <p:sp>
        <p:nvSpPr>
          <p:cNvPr id="25" name="Text 22"/>
          <p:cNvSpPr txBox="1"/>
          <p:nvPr/>
        </p:nvSpPr>
        <p:spPr>
          <a:xfrm>
            <a:off x="658368" y="4864608"/>
            <a:ext cx="274320" cy="27432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cs typeface="Amiri" pitchFamily="2" charset="-78"/>
              </a:rPr>
              <a:t>2</a:t>
            </a:r>
            <a:endParaRPr lang="en-US" sz="1000" dirty="0"/>
          </a:p>
        </p:txBody>
      </p:sp>
      <p:sp>
        <p:nvSpPr>
          <p:cNvPr id="26" name="Text 23"/>
          <p:cNvSpPr txBox="1"/>
          <p:nvPr/>
        </p:nvSpPr>
        <p:spPr>
          <a:xfrm>
            <a:off x="1024128" y="4791456"/>
            <a:ext cx="4983480" cy="457200"/>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Pairs: 90 seconds each, as many as you can.</a:t>
            </a:r>
            <a:endParaRPr lang="en-US" sz="1150" dirty="0"/>
          </a:p>
        </p:txBody>
      </p:sp>
      <p:sp>
        <p:nvSpPr>
          <p:cNvPr id="27" name="Shape 24"/>
          <p:cNvSpPr/>
          <p:nvPr/>
        </p:nvSpPr>
        <p:spPr>
          <a:xfrm>
            <a:off x="658368" y="5321808"/>
            <a:ext cx="274320" cy="274320"/>
          </a:xfrm>
          <a:prstGeom prst="ellipse">
            <a:avLst/>
          </a:prstGeom>
          <a:solidFill>
            <a:srgbClr val="1B3B6F"/>
          </a:solidFill>
          <a:ln w="12700">
            <a:solidFill>
              <a:srgbClr val="1B3B6F"/>
            </a:solidFill>
            <a:prstDash val="solid"/>
          </a:ln>
        </p:spPr>
      </p:sp>
      <p:sp>
        <p:nvSpPr>
          <p:cNvPr id="28" name="Text 25"/>
          <p:cNvSpPr txBox="1"/>
          <p:nvPr/>
        </p:nvSpPr>
        <p:spPr>
          <a:xfrm>
            <a:off x="658368" y="5321808"/>
            <a:ext cx="274320" cy="27432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cs typeface="Amiri" pitchFamily="2" charset="-78"/>
              </a:rPr>
              <a:t>3</a:t>
            </a:r>
            <a:endParaRPr lang="en-US" sz="1000" dirty="0"/>
          </a:p>
        </p:txBody>
      </p:sp>
      <p:sp>
        <p:nvSpPr>
          <p:cNvPr id="29" name="Text 26"/>
          <p:cNvSpPr txBox="1"/>
          <p:nvPr/>
        </p:nvSpPr>
        <p:spPr>
          <a:xfrm>
            <a:off x="1024128" y="5248656"/>
            <a:ext cx="4983480" cy="457200"/>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Mix the lessons: one word from slide 1, one from slide 2.</a:t>
            </a:r>
            <a:endParaRPr lang="en-US" sz="1150" dirty="0"/>
          </a:p>
        </p:txBody>
      </p:sp>
      <p:sp>
        <p:nvSpPr>
          <p:cNvPr id="30" name="Shape 27"/>
          <p:cNvSpPr/>
          <p:nvPr/>
        </p:nvSpPr>
        <p:spPr>
          <a:xfrm>
            <a:off x="658368" y="5779008"/>
            <a:ext cx="274320" cy="274320"/>
          </a:xfrm>
          <a:prstGeom prst="ellipse">
            <a:avLst/>
          </a:prstGeom>
          <a:solidFill>
            <a:srgbClr val="1B3B6F"/>
          </a:solidFill>
          <a:ln w="12700">
            <a:solidFill>
              <a:srgbClr val="1B3B6F"/>
            </a:solidFill>
            <a:prstDash val="solid"/>
          </a:ln>
        </p:spPr>
      </p:sp>
      <p:sp>
        <p:nvSpPr>
          <p:cNvPr id="31" name="Text 28"/>
          <p:cNvSpPr txBox="1"/>
          <p:nvPr/>
        </p:nvSpPr>
        <p:spPr>
          <a:xfrm>
            <a:off x="658368" y="5779008"/>
            <a:ext cx="274320" cy="27432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cs typeface="Amiri" pitchFamily="2" charset="-78"/>
              </a:rPr>
              <a:t>4</a:t>
            </a:r>
            <a:endParaRPr lang="en-US" sz="1000" dirty="0"/>
          </a:p>
        </p:txBody>
      </p:sp>
      <p:sp>
        <p:nvSpPr>
          <p:cNvPr id="32" name="Text 29"/>
          <p:cNvSpPr txBox="1"/>
          <p:nvPr/>
        </p:nvSpPr>
        <p:spPr>
          <a:xfrm>
            <a:off x="1024128" y="5705856"/>
            <a:ext cx="4983480" cy="457200"/>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Last round: use two words — one from each lesson — in ONE sentence.</a:t>
            </a:r>
            <a:endParaRPr lang="en-US" sz="1150" dirty="0"/>
          </a:p>
        </p:txBody>
      </p:sp>
      <p:sp>
        <p:nvSpPr>
          <p:cNvPr id="33" name="Shape 30"/>
          <p:cNvSpPr/>
          <p:nvPr/>
        </p:nvSpPr>
        <p:spPr>
          <a:xfrm>
            <a:off x="6355080" y="1810512"/>
            <a:ext cx="5376672" cy="896112"/>
          </a:xfrm>
          <a:prstGeom prst="roundRect">
            <a:avLst>
              <a:gd name="adj" fmla="val 8163"/>
            </a:avLst>
          </a:prstGeom>
          <a:solidFill>
            <a:srgbClr val="E9F5EE"/>
          </a:solidFill>
          <a:ln w="9525">
            <a:solidFill>
              <a:srgbClr val="2E8B57"/>
            </a:solidFill>
            <a:prstDash val="solid"/>
          </a:ln>
          <a:effectLst>
            <a:outerShdw sx="100000" sy="100000" kx="0" ky="0" algn="bl" rotWithShape="0" blurRad="50800" dist="19050" dir="5400000">
              <a:srgbClr val="000000">
                <a:alpha val="10000"/>
              </a:srgbClr>
            </a:outerShdw>
          </a:effectLst>
        </p:spPr>
      </p:sp>
      <p:sp>
        <p:nvSpPr>
          <p:cNvPr id="34" name="Shape 31"/>
          <p:cNvSpPr/>
          <p:nvPr/>
        </p:nvSpPr>
        <p:spPr>
          <a:xfrm>
            <a:off x="6473952" y="1901952"/>
            <a:ext cx="1051560" cy="256032"/>
          </a:xfrm>
          <a:prstGeom prst="roundRect">
            <a:avLst>
              <a:gd name="adj" fmla="val 50000"/>
            </a:avLst>
          </a:prstGeom>
          <a:solidFill>
            <a:srgbClr val="2E8B57"/>
          </a:solidFill>
          <a:ln w="12700">
            <a:solidFill>
              <a:srgbClr val="2E8B57"/>
            </a:solidFill>
            <a:prstDash val="solid"/>
          </a:ln>
        </p:spPr>
      </p:sp>
      <p:sp>
        <p:nvSpPr>
          <p:cNvPr id="35" name="Text 32"/>
          <p:cNvSpPr txBox="1"/>
          <p:nvPr/>
        </p:nvSpPr>
        <p:spPr>
          <a:xfrm>
            <a:off x="6473952" y="1901952"/>
            <a:ext cx="1051560" cy="256032"/>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CORE</a:t>
            </a:r>
            <a:endParaRPr lang="en-US" sz="850" dirty="0"/>
          </a:p>
        </p:txBody>
      </p:sp>
      <p:sp>
        <p:nvSpPr>
          <p:cNvPr id="36" name="Text 33"/>
          <p:cNvSpPr txBox="1"/>
          <p:nvPr/>
        </p:nvSpPr>
        <p:spPr>
          <a:xfrm>
            <a:off x="6473952" y="2176272"/>
            <a:ext cx="5120640" cy="475488"/>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Say the Arabic word clearly.</a:t>
            </a:r>
            <a:endParaRPr lang="en-US" sz="1150" dirty="0"/>
          </a:p>
        </p:txBody>
      </p:sp>
      <p:sp>
        <p:nvSpPr>
          <p:cNvPr id="37" name="Shape 34"/>
          <p:cNvSpPr/>
          <p:nvPr/>
        </p:nvSpPr>
        <p:spPr>
          <a:xfrm>
            <a:off x="6355080" y="2816352"/>
            <a:ext cx="5376672" cy="896112"/>
          </a:xfrm>
          <a:prstGeom prst="roundRect">
            <a:avLst>
              <a:gd name="adj" fmla="val 8163"/>
            </a:avLst>
          </a:prstGeom>
          <a:solidFill>
            <a:srgbClr val="FCF1E0"/>
          </a:solidFill>
          <a:ln w="9525">
            <a:solidFill>
              <a:srgbClr val="C9780A"/>
            </a:solidFill>
            <a:prstDash val="solid"/>
          </a:ln>
          <a:effectLst>
            <a:outerShdw sx="100000" sy="100000" kx="0" ky="0" algn="bl" rotWithShape="0" blurRad="50800" dist="19050" dir="5400000">
              <a:srgbClr val="000000">
                <a:alpha val="10000"/>
              </a:srgbClr>
            </a:outerShdw>
          </a:effectLst>
        </p:spPr>
      </p:sp>
      <p:sp>
        <p:nvSpPr>
          <p:cNvPr id="38" name="Shape 35"/>
          <p:cNvSpPr/>
          <p:nvPr/>
        </p:nvSpPr>
        <p:spPr>
          <a:xfrm>
            <a:off x="6473952" y="2907792"/>
            <a:ext cx="1051560" cy="256032"/>
          </a:xfrm>
          <a:prstGeom prst="roundRect">
            <a:avLst>
              <a:gd name="adj" fmla="val 50000"/>
            </a:avLst>
          </a:prstGeom>
          <a:solidFill>
            <a:srgbClr val="C9780A"/>
          </a:solidFill>
          <a:ln w="12700">
            <a:solidFill>
              <a:srgbClr val="C9780A"/>
            </a:solidFill>
            <a:prstDash val="solid"/>
          </a:ln>
        </p:spPr>
      </p:sp>
      <p:sp>
        <p:nvSpPr>
          <p:cNvPr id="39" name="Text 36"/>
          <p:cNvSpPr txBox="1"/>
          <p:nvPr/>
        </p:nvSpPr>
        <p:spPr>
          <a:xfrm>
            <a:off x="6473952" y="2907792"/>
            <a:ext cx="1051560" cy="256032"/>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DEVELOP</a:t>
            </a:r>
            <a:endParaRPr lang="en-US" sz="850" dirty="0"/>
          </a:p>
        </p:txBody>
      </p:sp>
      <p:sp>
        <p:nvSpPr>
          <p:cNvPr id="40" name="Text 37"/>
          <p:cNvSpPr txBox="1"/>
          <p:nvPr/>
        </p:nvSpPr>
        <p:spPr>
          <a:xfrm>
            <a:off x="6473952" y="3182112"/>
            <a:ext cx="5120640" cy="475488"/>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Say the word, then a short sentence with it.</a:t>
            </a:r>
            <a:endParaRPr lang="en-US" sz="1150" dirty="0"/>
          </a:p>
        </p:txBody>
      </p:sp>
      <p:sp>
        <p:nvSpPr>
          <p:cNvPr id="41" name="Shape 38"/>
          <p:cNvSpPr/>
          <p:nvPr/>
        </p:nvSpPr>
        <p:spPr>
          <a:xfrm>
            <a:off x="6355080" y="3822192"/>
            <a:ext cx="5376672" cy="896112"/>
          </a:xfrm>
          <a:prstGeom prst="roundRect">
            <a:avLst>
              <a:gd name="adj" fmla="val 8163"/>
            </a:avLst>
          </a:prstGeom>
          <a:solidFill>
            <a:srgbClr val="FBEAEA"/>
          </a:solidFill>
          <a:ln w="9525">
            <a:solidFill>
              <a:srgbClr val="B83227"/>
            </a:solidFill>
            <a:prstDash val="solid"/>
          </a:ln>
          <a:effectLst>
            <a:outerShdw sx="100000" sy="100000" kx="0" ky="0" algn="bl" rotWithShape="0" blurRad="50800" dist="19050" dir="5400000">
              <a:srgbClr val="000000">
                <a:alpha val="10000"/>
              </a:srgbClr>
            </a:outerShdw>
          </a:effectLst>
        </p:spPr>
      </p:sp>
      <p:sp>
        <p:nvSpPr>
          <p:cNvPr id="42" name="Shape 39"/>
          <p:cNvSpPr/>
          <p:nvPr/>
        </p:nvSpPr>
        <p:spPr>
          <a:xfrm>
            <a:off x="6473952" y="3913632"/>
            <a:ext cx="1051560" cy="256032"/>
          </a:xfrm>
          <a:prstGeom prst="roundRect">
            <a:avLst>
              <a:gd name="adj" fmla="val 50000"/>
            </a:avLst>
          </a:prstGeom>
          <a:solidFill>
            <a:srgbClr val="B83227"/>
          </a:solidFill>
          <a:ln w="12700">
            <a:solidFill>
              <a:srgbClr val="B83227"/>
            </a:solidFill>
            <a:prstDash val="solid"/>
          </a:ln>
        </p:spPr>
      </p:sp>
      <p:sp>
        <p:nvSpPr>
          <p:cNvPr id="43" name="Text 40"/>
          <p:cNvSpPr txBox="1"/>
          <p:nvPr/>
        </p:nvSpPr>
        <p:spPr>
          <a:xfrm>
            <a:off x="6473952" y="3913632"/>
            <a:ext cx="1051560" cy="256032"/>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STRETCH</a:t>
            </a:r>
            <a:endParaRPr lang="en-US" sz="850" dirty="0"/>
          </a:p>
        </p:txBody>
      </p:sp>
      <p:sp>
        <p:nvSpPr>
          <p:cNvPr id="44" name="Text 41"/>
          <p:cNvSpPr txBox="1"/>
          <p:nvPr/>
        </p:nvSpPr>
        <p:spPr>
          <a:xfrm>
            <a:off x="6473952" y="4187952"/>
            <a:ext cx="5120640" cy="475488"/>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Join a word from each lesson in one sentence with </a:t>
            </a:r>
            <a:pPr algn="l" indent="0" marL="0">
              <a:buNone/>
            </a:pPr>
            <a:r>
              <a:rPr lang="ar-SA" altLang="en-US" sz="1500" dirty="0">
                <a:solidFill>
                  <a:srgbClr val="1F2A37"/>
                </a:solidFill>
                <a:latin typeface="Amiri" pitchFamily="2" charset="-78"/>
                <a:ea typeface="Amiri" pitchFamily="2" charset="-78"/>
                <a:cs typeface="Amiri" pitchFamily="2" charset="-78"/>
              </a:rPr>
              <a:t>وَ</a:t>
            </a:r>
            <a:pPr algn="l" indent="0" marL="0">
              <a:buNone/>
            </a:pPr>
            <a:r>
              <a:rPr lang="en-US" sz="1150" dirty="0">
                <a:solidFill>
                  <a:srgbClr val="1F2A37"/>
                </a:solidFill>
                <a:latin typeface="Calibri" pitchFamily="34" charset="0"/>
                <a:cs typeface="Amiri" pitchFamily="2" charset="-78"/>
              </a:rPr>
              <a:t> or </a:t>
            </a:r>
            <a:pPr algn="l" indent="0" marL="0">
              <a:buNone/>
            </a:pPr>
            <a:r>
              <a:rPr lang="ar-SA" altLang="en-US" sz="1500" dirty="0">
                <a:solidFill>
                  <a:srgbClr val="1F2A37"/>
                </a:solidFill>
                <a:latin typeface="Amiri" pitchFamily="2" charset="-78"/>
                <a:ea typeface="Amiri" pitchFamily="2" charset="-78"/>
                <a:cs typeface="Amiri" pitchFamily="2" charset="-78"/>
              </a:rPr>
              <a:t>لِأَنَّ</a:t>
            </a:r>
            <a:pPr algn="l" indent="0" marL="0">
              <a:buNone/>
            </a:pPr>
            <a:r>
              <a:rPr lang="en-US" sz="1150" dirty="0">
                <a:solidFill>
                  <a:srgbClr val="1F2A37"/>
                </a:solidFill>
                <a:latin typeface="Calibri" pitchFamily="34" charset="0"/>
                <a:cs typeface="Amiri" pitchFamily="2" charset="-78"/>
              </a:rPr>
              <a:t>.</a:t>
            </a:r>
            <a:endParaRPr lang="en-US" sz="1150" dirty="0"/>
          </a:p>
        </p:txBody>
      </p:sp>
      <p:sp>
        <p:nvSpPr>
          <p:cNvPr id="45" name="Shape 42"/>
          <p:cNvSpPr/>
          <p:nvPr/>
        </p:nvSpPr>
        <p:spPr>
          <a:xfrm>
            <a:off x="6355080" y="4828032"/>
            <a:ext cx="5376672" cy="1481328"/>
          </a:xfrm>
          <a:prstGeom prst="roundRect">
            <a:avLst>
              <a:gd name="adj" fmla="val 4938"/>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6" name="Text 43"/>
          <p:cNvSpPr txBox="1"/>
          <p:nvPr/>
        </p:nvSpPr>
        <p:spPr>
          <a:xfrm>
            <a:off x="6492240" y="4882896"/>
            <a:ext cx="2743200" cy="237744"/>
          </a:xfrm>
          <a:prstGeom prst="rect">
            <a:avLst/>
          </a:prstGeom>
          <a:noFill/>
          <a:ln/>
        </p:spPr>
        <p:txBody>
          <a:bodyPr wrap="square" lIns="0" tIns="0" rIns="0" bIns="0" rtlCol="0" anchor="ctr"/>
          <a:lstStyle/>
          <a:p>
            <a:pPr algn="l" indent="0" marL="0">
              <a:buNone/>
            </a:pPr>
            <a:r>
              <a:rPr lang="en-US" sz="950" b="1" spc="200" kern="0" dirty="0">
                <a:solidFill>
                  <a:srgbClr val="8A6D1E"/>
                </a:solidFill>
                <a:latin typeface="Calibri" pitchFamily="34" charset="0"/>
                <a:cs typeface="Amiri" pitchFamily="2" charset="-78"/>
              </a:rPr>
              <a:t>USEFUL LANGUAGE</a:t>
            </a:r>
            <a:endParaRPr lang="en-US" sz="950" dirty="0"/>
          </a:p>
        </p:txBody>
      </p:sp>
      <p:sp>
        <p:nvSpPr>
          <p:cNvPr id="47" name="Text 44"/>
          <p:cNvSpPr txBox="1"/>
          <p:nvPr/>
        </p:nvSpPr>
        <p:spPr>
          <a:xfrm>
            <a:off x="8732520" y="5138928"/>
            <a:ext cx="2880360" cy="283464"/>
          </a:xfrm>
          <a:prstGeom prst="rect">
            <a:avLst/>
          </a:prstGeom>
          <a:noFill/>
          <a:ln/>
        </p:spPr>
        <p:txBody>
          <a:bodyPr wrap="square" lIns="0" tIns="0" rIns="0" bIns="0" rtlCol="0" anchor="ctr"/>
          <a:lstStyle/>
          <a:p>
            <a:pPr rtl="1" algn="r" indent="0" marL="0">
              <a:buNone/>
            </a:pPr>
            <a:r>
              <a:rPr lang="ar-SA" altLang="en-US" sz="1300" b="1" dirty="0">
                <a:solidFill>
                  <a:srgbClr val="1B3B6F"/>
                </a:solidFill>
                <a:latin typeface="Amiri" pitchFamily="2" charset="-78"/>
                <a:ea typeface="Amiri" pitchFamily="2" charset="-78"/>
                <a:cs typeface="Amiri" pitchFamily="2" charset="-78"/>
              </a:rPr>
              <a:t>دَوْرُكَ! / دَوْرُكِ!</a:t>
            </a:r>
            <a:endParaRPr lang="ar-SA" sz="1300" dirty="0"/>
          </a:p>
        </p:txBody>
      </p:sp>
      <p:sp>
        <p:nvSpPr>
          <p:cNvPr id="48" name="Text 45"/>
          <p:cNvSpPr txBox="1"/>
          <p:nvPr/>
        </p:nvSpPr>
        <p:spPr>
          <a:xfrm>
            <a:off x="6492240" y="5138928"/>
            <a:ext cx="2194560" cy="283464"/>
          </a:xfrm>
          <a:prstGeom prst="rect">
            <a:avLst/>
          </a:prstGeom>
          <a:noFill/>
          <a:ln/>
        </p:spPr>
        <p:txBody>
          <a:bodyPr wrap="square" lIns="0" tIns="0" rIns="0" bIns="0" rtlCol="0" anchor="ctr"/>
          <a:lstStyle/>
          <a:p>
            <a:pPr algn="l" indent="0" marL="0">
              <a:buNone/>
            </a:pPr>
            <a:r>
              <a:rPr lang="en-US" sz="1000" i="1" dirty="0">
                <a:solidFill>
                  <a:srgbClr val="5A6472"/>
                </a:solidFill>
                <a:latin typeface="Calibri" pitchFamily="34" charset="0"/>
                <a:cs typeface="Amiri" pitchFamily="2" charset="-78"/>
              </a:rPr>
              <a:t>your turn! (m. / f.)</a:t>
            </a:r>
            <a:endParaRPr lang="en-US" sz="1000" dirty="0"/>
          </a:p>
        </p:txBody>
      </p:sp>
      <p:sp>
        <p:nvSpPr>
          <p:cNvPr id="49" name="Text 46"/>
          <p:cNvSpPr txBox="1"/>
          <p:nvPr/>
        </p:nvSpPr>
        <p:spPr>
          <a:xfrm>
            <a:off x="8732520" y="5422392"/>
            <a:ext cx="2880360" cy="283464"/>
          </a:xfrm>
          <a:prstGeom prst="rect">
            <a:avLst/>
          </a:prstGeom>
          <a:noFill/>
          <a:ln/>
        </p:spPr>
        <p:txBody>
          <a:bodyPr wrap="square" lIns="0" tIns="0" rIns="0" bIns="0" rtlCol="0" anchor="ctr"/>
          <a:lstStyle/>
          <a:p>
            <a:pPr rtl="1" algn="r" indent="0" marL="0">
              <a:buNone/>
            </a:pPr>
            <a:r>
              <a:rPr lang="ar-SA" altLang="en-US" sz="1300" b="1" dirty="0">
                <a:solidFill>
                  <a:srgbClr val="1B3B6F"/>
                </a:solidFill>
                <a:latin typeface="Amiri" pitchFamily="2" charset="-78"/>
                <a:ea typeface="Amiri" pitchFamily="2" charset="-78"/>
                <a:cs typeface="Amiri" pitchFamily="2" charset="-78"/>
              </a:rPr>
              <a:t>صَحِيحٌ!</a:t>
            </a:r>
            <a:endParaRPr lang="ar-SA" sz="1300" dirty="0"/>
          </a:p>
        </p:txBody>
      </p:sp>
      <p:sp>
        <p:nvSpPr>
          <p:cNvPr id="50" name="Text 47"/>
          <p:cNvSpPr txBox="1"/>
          <p:nvPr/>
        </p:nvSpPr>
        <p:spPr>
          <a:xfrm>
            <a:off x="6492240" y="5422392"/>
            <a:ext cx="2194560" cy="283464"/>
          </a:xfrm>
          <a:prstGeom prst="rect">
            <a:avLst/>
          </a:prstGeom>
          <a:noFill/>
          <a:ln/>
        </p:spPr>
        <p:txBody>
          <a:bodyPr wrap="square" lIns="0" tIns="0" rIns="0" bIns="0" rtlCol="0" anchor="ctr"/>
          <a:lstStyle/>
          <a:p>
            <a:pPr algn="l" indent="0" marL="0">
              <a:buNone/>
            </a:pPr>
            <a:r>
              <a:rPr lang="en-US" sz="1000" i="1" dirty="0">
                <a:solidFill>
                  <a:srgbClr val="5A6472"/>
                </a:solidFill>
                <a:latin typeface="Calibri" pitchFamily="34" charset="0"/>
                <a:cs typeface="Amiri" pitchFamily="2" charset="-78"/>
              </a:rPr>
              <a:t>correct!</a:t>
            </a:r>
            <a:endParaRPr lang="en-US" sz="1000" dirty="0"/>
          </a:p>
        </p:txBody>
      </p:sp>
      <p:sp>
        <p:nvSpPr>
          <p:cNvPr id="51" name="Text 48"/>
          <p:cNvSpPr txBox="1"/>
          <p:nvPr/>
        </p:nvSpPr>
        <p:spPr>
          <a:xfrm>
            <a:off x="8732520" y="5705856"/>
            <a:ext cx="2880360" cy="283464"/>
          </a:xfrm>
          <a:prstGeom prst="rect">
            <a:avLst/>
          </a:prstGeom>
          <a:noFill/>
          <a:ln/>
        </p:spPr>
        <p:txBody>
          <a:bodyPr wrap="square" lIns="0" tIns="0" rIns="0" bIns="0" rtlCol="0" anchor="ctr"/>
          <a:lstStyle/>
          <a:p>
            <a:pPr rtl="1" algn="r" indent="0" marL="0">
              <a:buNone/>
            </a:pPr>
            <a:r>
              <a:rPr lang="ar-SA" altLang="en-US" sz="1300" b="1" dirty="0">
                <a:solidFill>
                  <a:srgbClr val="1B3B6F"/>
                </a:solidFill>
                <a:latin typeface="Amiri" pitchFamily="2" charset="-78"/>
                <a:ea typeface="Amiri" pitchFamily="2" charset="-78"/>
                <a:cs typeface="Amiri" pitchFamily="2" charset="-78"/>
              </a:rPr>
              <a:t>حَاوِلْ مَرَّةً أُخْرَى</a:t>
            </a:r>
            <a:endParaRPr lang="ar-SA" sz="1300" dirty="0"/>
          </a:p>
        </p:txBody>
      </p:sp>
      <p:sp>
        <p:nvSpPr>
          <p:cNvPr id="52" name="Text 49"/>
          <p:cNvSpPr txBox="1"/>
          <p:nvPr/>
        </p:nvSpPr>
        <p:spPr>
          <a:xfrm>
            <a:off x="6492240" y="5705856"/>
            <a:ext cx="2194560" cy="283464"/>
          </a:xfrm>
          <a:prstGeom prst="rect">
            <a:avLst/>
          </a:prstGeom>
          <a:noFill/>
          <a:ln/>
        </p:spPr>
        <p:txBody>
          <a:bodyPr wrap="square" lIns="0" tIns="0" rIns="0" bIns="0" rtlCol="0" anchor="ctr"/>
          <a:lstStyle/>
          <a:p>
            <a:pPr algn="l" indent="0" marL="0">
              <a:buNone/>
            </a:pPr>
            <a:r>
              <a:rPr lang="en-US" sz="1000" i="1" dirty="0">
                <a:solidFill>
                  <a:srgbClr val="5A6472"/>
                </a:solidFill>
                <a:latin typeface="Calibri" pitchFamily="34" charset="0"/>
                <a:cs typeface="Amiri" pitchFamily="2" charset="-78"/>
              </a:rPr>
              <a:t>try again</a:t>
            </a:r>
            <a:endParaRPr lang="en-US" sz="1000" dirty="0"/>
          </a:p>
        </p:txBody>
      </p:sp>
      <p:sp>
        <p:nvSpPr>
          <p:cNvPr id="53" name="Text 50"/>
          <p:cNvSpPr txBox="1"/>
          <p:nvPr/>
        </p:nvSpPr>
        <p:spPr>
          <a:xfrm>
            <a:off x="8732520" y="5989320"/>
            <a:ext cx="2880360" cy="283464"/>
          </a:xfrm>
          <a:prstGeom prst="rect">
            <a:avLst/>
          </a:prstGeom>
          <a:noFill/>
          <a:ln/>
        </p:spPr>
        <p:txBody>
          <a:bodyPr wrap="square" lIns="0" tIns="0" rIns="0" bIns="0" rtlCol="0" anchor="ctr"/>
          <a:lstStyle/>
          <a:p>
            <a:pPr rtl="1" algn="r" indent="0" marL="0">
              <a:buNone/>
            </a:pPr>
            <a:r>
              <a:rPr lang="ar-SA" altLang="en-US" sz="1300" b="1" dirty="0">
                <a:solidFill>
                  <a:srgbClr val="1B3B6F"/>
                </a:solidFill>
                <a:latin typeface="Amiri" pitchFamily="2" charset="-78"/>
                <a:ea typeface="Amiri" pitchFamily="2" charset="-78"/>
                <a:cs typeface="Amiri" pitchFamily="2" charset="-78"/>
              </a:rPr>
              <a:t>نُقْطَةٌ لَكَ / لَكِ</a:t>
            </a:r>
            <a:endParaRPr lang="ar-SA" sz="1300" dirty="0"/>
          </a:p>
        </p:txBody>
      </p:sp>
      <p:sp>
        <p:nvSpPr>
          <p:cNvPr id="54" name="Text 51"/>
          <p:cNvSpPr txBox="1"/>
          <p:nvPr/>
        </p:nvSpPr>
        <p:spPr>
          <a:xfrm>
            <a:off x="6492240" y="5989320"/>
            <a:ext cx="2194560" cy="283464"/>
          </a:xfrm>
          <a:prstGeom prst="rect">
            <a:avLst/>
          </a:prstGeom>
          <a:noFill/>
          <a:ln/>
        </p:spPr>
        <p:txBody>
          <a:bodyPr wrap="square" lIns="0" tIns="0" rIns="0" bIns="0" rtlCol="0" anchor="ctr"/>
          <a:lstStyle/>
          <a:p>
            <a:pPr algn="l" indent="0" marL="0">
              <a:buNone/>
            </a:pPr>
            <a:r>
              <a:rPr lang="en-US" sz="1000" i="1" dirty="0">
                <a:solidFill>
                  <a:srgbClr val="5A6472"/>
                </a:solidFill>
                <a:latin typeface="Calibri" pitchFamily="34" charset="0"/>
                <a:cs typeface="Amiri" pitchFamily="2" charset="-78"/>
              </a:rPr>
              <a:t>a point for you (m. / f.)</a:t>
            </a:r>
            <a:endParaRPr lang="en-US" sz="1000" dirty="0"/>
          </a:p>
        </p:txBody>
      </p:sp>
      <p:sp>
        <p:nvSpPr>
          <p:cNvPr id="55" name="Text 52"/>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5 / 24</a:t>
            </a:r>
            <a:endParaRPr lang="en-US" sz="8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F2-W06 · Apply workshop</a:t>
            </a:r>
            <a:endParaRPr lang="en-US" sz="950" dirty="0"/>
          </a:p>
        </p:txBody>
      </p:sp>
      <p:sp>
        <p:nvSpPr>
          <p:cNvPr id="8" name="Shape 6"/>
          <p:cNvSpPr/>
          <p:nvPr/>
        </p:nvSpPr>
        <p:spPr>
          <a:xfrm>
            <a:off x="6308446" y="274320"/>
            <a:ext cx="2451506"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308446" y="274320"/>
            <a:ext cx="2451506"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TEACHER INSTRUCTION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B3B6F"/>
                </a:solidFill>
                <a:latin typeface="Calibri" pitchFamily="34" charset="0"/>
                <a:cs typeface="Amiri" pitchFamily="2" charset="-78"/>
              </a:rPr>
              <a:t>STEP 1 · WORDS FROM F2-L11</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000" b="1" dirty="0">
                <a:solidFill>
                  <a:srgbClr val="1B3B6F"/>
                </a:solidFill>
                <a:latin typeface="Cambria" pitchFamily="34" charset="0"/>
                <a:cs typeface="Amiri" pitchFamily="2" charset="-78"/>
              </a:rPr>
              <a:t>F2-L11 · Writing a Short Personal Introduction</a:t>
            </a:r>
            <a:endParaRPr lang="en-US" sz="20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كَلِمَاتُ الدَّرْسِ الأَوَّلِ</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F2 · Greetings &amp; Introductions · F2-W06 · Apply workshop (F2-L11 + F2-L12)</a:t>
            </a:r>
            <a:endParaRPr lang="en-US" sz="850" dirty="0"/>
          </a:p>
        </p:txBody>
      </p:sp>
      <p:sp>
        <p:nvSpPr>
          <p:cNvPr id="15" name="Shape 12"/>
          <p:cNvSpPr/>
          <p:nvPr/>
        </p:nvSpPr>
        <p:spPr>
          <a:xfrm>
            <a:off x="8101584"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8211312" y="1920240"/>
            <a:ext cx="310896" cy="310896"/>
          </a:xfrm>
          <a:prstGeom prst="ellipse">
            <a:avLst/>
          </a:prstGeom>
          <a:solidFill>
            <a:srgbClr val="F4F1EA"/>
          </a:solidFill>
          <a:ln w="12700">
            <a:solidFill>
              <a:srgbClr val="F4F1EA"/>
            </a:solidFill>
            <a:prstDash val="solid"/>
          </a:ln>
        </p:spPr>
      </p:sp>
      <p:sp>
        <p:nvSpPr>
          <p:cNvPr id="17" name="Text 14"/>
          <p:cNvSpPr txBox="1"/>
          <p:nvPr/>
        </p:nvSpPr>
        <p:spPr>
          <a:xfrm>
            <a:off x="8211312"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1</a:t>
            </a:r>
            <a:endParaRPr lang="en-US" sz="1000" dirty="0"/>
          </a:p>
        </p:txBody>
      </p:sp>
      <p:sp>
        <p:nvSpPr>
          <p:cNvPr id="18" name="Shape 15"/>
          <p:cNvSpPr/>
          <p:nvPr/>
        </p:nvSpPr>
        <p:spPr>
          <a:xfrm>
            <a:off x="8604504" y="1938528"/>
            <a:ext cx="704088" cy="256032"/>
          </a:xfrm>
          <a:prstGeom prst="roundRect">
            <a:avLst>
              <a:gd name="adj" fmla="val 50000"/>
            </a:avLst>
          </a:prstGeom>
          <a:solidFill>
            <a:srgbClr val="EFE7D2"/>
          </a:solidFill>
          <a:ln w="12700">
            <a:solidFill>
              <a:srgbClr val="EFE7D2"/>
            </a:solidFill>
            <a:prstDash val="solid"/>
          </a:ln>
        </p:spPr>
      </p:sp>
      <p:sp>
        <p:nvSpPr>
          <p:cNvPr id="19" name="Text 16"/>
          <p:cNvSpPr txBox="1"/>
          <p:nvPr/>
        </p:nvSpPr>
        <p:spPr>
          <a:xfrm>
            <a:off x="8604504" y="1938528"/>
            <a:ext cx="704088"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cs typeface="Amiri" pitchFamily="2" charset="-78"/>
              </a:rPr>
              <a:t>field</a:t>
            </a:r>
            <a:endParaRPr lang="en-US" sz="800" dirty="0"/>
          </a:p>
        </p:txBody>
      </p:sp>
      <p:sp>
        <p:nvSpPr>
          <p:cNvPr id="20" name="Shape 17"/>
          <p:cNvSpPr/>
          <p:nvPr/>
        </p:nvSpPr>
        <p:spPr>
          <a:xfrm>
            <a:off x="10872216" y="1938528"/>
            <a:ext cx="731520" cy="256032"/>
          </a:xfrm>
          <a:prstGeom prst="roundRect">
            <a:avLst>
              <a:gd name="adj" fmla="val 50000"/>
            </a:avLst>
          </a:prstGeom>
          <a:solidFill>
            <a:srgbClr val="2E8B57"/>
          </a:solidFill>
          <a:ln w="12700">
            <a:solidFill>
              <a:srgbClr val="2E8B57"/>
            </a:solidFill>
            <a:prstDash val="solid"/>
          </a:ln>
        </p:spPr>
      </p:sp>
      <p:sp>
        <p:nvSpPr>
          <p:cNvPr id="21" name="Text 18"/>
          <p:cNvSpPr txBox="1"/>
          <p:nvPr/>
        </p:nvSpPr>
        <p:spPr>
          <a:xfrm>
            <a:off x="10872216" y="1938528"/>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22" name="Text 19"/>
          <p:cNvSpPr txBox="1"/>
          <p:nvPr/>
        </p:nvSpPr>
        <p:spPr>
          <a:xfrm>
            <a:off x="8211312" y="2212848"/>
            <a:ext cx="3401568" cy="713232"/>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الاِسْمُ</a:t>
            </a:r>
            <a:endParaRPr lang="ar-SA" sz="3000" dirty="0"/>
          </a:p>
        </p:txBody>
      </p:sp>
      <p:sp>
        <p:nvSpPr>
          <p:cNvPr id="23" name="Text 20"/>
          <p:cNvSpPr txBox="1"/>
          <p:nvPr/>
        </p:nvSpPr>
        <p:spPr>
          <a:xfrm>
            <a:off x="8238744" y="290779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name</a:t>
            </a:r>
            <a:endParaRPr lang="en-US" sz="1350" dirty="0"/>
          </a:p>
          <a:p>
            <a:pPr indent="0" marL="0">
              <a:buNone/>
            </a:pPr>
            <a:r>
              <a:rPr lang="en-US" sz="1100" i="1" dirty="0">
                <a:solidFill>
                  <a:srgbClr val="5A6472"/>
                </a:solidFill>
                <a:latin typeface="Calibri" pitchFamily="34" charset="0"/>
                <a:cs typeface="Amiri" pitchFamily="2" charset="-78"/>
              </a:rPr>
              <a:t>al-ism</a:t>
            </a:r>
            <a:endParaRPr lang="en-US" sz="1350" dirty="0"/>
          </a:p>
        </p:txBody>
      </p:sp>
      <p:sp>
        <p:nvSpPr>
          <p:cNvPr id="24" name="Shape 21"/>
          <p:cNvSpPr/>
          <p:nvPr/>
        </p:nvSpPr>
        <p:spPr>
          <a:xfrm>
            <a:off x="10543032" y="3438144"/>
            <a:ext cx="1060704" cy="438912"/>
          </a:xfrm>
          <a:prstGeom prst="roundRect">
            <a:avLst>
              <a:gd name="adj" fmla="val 10417"/>
            </a:avLst>
          </a:prstGeom>
          <a:solidFill>
            <a:srgbClr val="F4F1EA"/>
          </a:solidFill>
          <a:ln w="9525">
            <a:solidFill>
              <a:srgbClr val="F4F1EA"/>
            </a:solidFill>
            <a:prstDash val="solid"/>
          </a:ln>
        </p:spPr>
      </p:sp>
      <p:sp>
        <p:nvSpPr>
          <p:cNvPr id="25" name="Text 22"/>
          <p:cNvSpPr txBox="1"/>
          <p:nvPr/>
        </p:nvSpPr>
        <p:spPr>
          <a:xfrm>
            <a:off x="10597896" y="3447288"/>
            <a:ext cx="950976" cy="155448"/>
          </a:xfrm>
          <a:prstGeom prst="rect">
            <a:avLst/>
          </a:prstGeom>
          <a:noFill/>
          <a:ln/>
        </p:spPr>
        <p:txBody>
          <a:bodyPr wrap="square" lIns="0" tIns="0" rIns="0" bIns="0" rtlCol="0" anchor="ctr"/>
          <a:lstStyle/>
          <a:p>
            <a:pPr algn="l" indent="0" marL="0">
              <a:buNone/>
            </a:pPr>
            <a:r>
              <a:rPr lang="en-US" sz="700" b="1" dirty="0">
                <a:solidFill>
                  <a:srgbClr val="8A6D1E"/>
                </a:solidFill>
                <a:latin typeface="Calibri" pitchFamily="34" charset="0"/>
                <a:cs typeface="Amiri" pitchFamily="2" charset="-78"/>
              </a:rPr>
              <a:t>first</a:t>
            </a:r>
            <a:endParaRPr lang="en-US" sz="700" dirty="0"/>
          </a:p>
        </p:txBody>
      </p:sp>
      <p:sp>
        <p:nvSpPr>
          <p:cNvPr id="26" name="Text 23"/>
          <p:cNvSpPr txBox="1"/>
          <p:nvPr/>
        </p:nvSpPr>
        <p:spPr>
          <a:xfrm>
            <a:off x="10588752" y="3575304"/>
            <a:ext cx="969264" cy="292608"/>
          </a:xfrm>
          <a:prstGeom prst="rect">
            <a:avLst/>
          </a:prstGeom>
          <a:noFill/>
          <a:ln/>
        </p:spPr>
        <p:txBody>
          <a:bodyPr wrap="square" lIns="0" tIns="0" rIns="0" bIns="0" rtlCol="0" anchor="ctr"/>
          <a:lstStyle/>
          <a:p>
            <a:pPr rtl="1" algn="ctr" indent="0" marL="0">
              <a:buNone/>
            </a:pPr>
            <a:r>
              <a:rPr lang="ar-SA" altLang="en-US" sz="1350" b="1" dirty="0">
                <a:solidFill>
                  <a:srgbClr val="1B3B6F"/>
                </a:solidFill>
                <a:latin typeface="Amiri" pitchFamily="2" charset="-78"/>
                <a:ea typeface="Amiri" pitchFamily="2" charset="-78"/>
                <a:cs typeface="Amiri" pitchFamily="2" charset="-78"/>
              </a:rPr>
              <a:t>الاِسْمُ الأَوَّلُ</a:t>
            </a:r>
            <a:endParaRPr lang="ar-SA" sz="1350" dirty="0"/>
          </a:p>
        </p:txBody>
      </p:sp>
      <p:sp>
        <p:nvSpPr>
          <p:cNvPr id="27" name="Shape 24"/>
          <p:cNvSpPr/>
          <p:nvPr/>
        </p:nvSpPr>
        <p:spPr>
          <a:xfrm>
            <a:off x="9390888" y="3438144"/>
            <a:ext cx="1060704" cy="438912"/>
          </a:xfrm>
          <a:prstGeom prst="roundRect">
            <a:avLst>
              <a:gd name="adj" fmla="val 10417"/>
            </a:avLst>
          </a:prstGeom>
          <a:solidFill>
            <a:srgbClr val="F4F1EA"/>
          </a:solidFill>
          <a:ln w="9525">
            <a:solidFill>
              <a:srgbClr val="F4F1EA"/>
            </a:solidFill>
            <a:prstDash val="solid"/>
          </a:ln>
        </p:spPr>
      </p:sp>
      <p:sp>
        <p:nvSpPr>
          <p:cNvPr id="28" name="Text 25"/>
          <p:cNvSpPr txBox="1"/>
          <p:nvPr/>
        </p:nvSpPr>
        <p:spPr>
          <a:xfrm>
            <a:off x="9445752" y="3447288"/>
            <a:ext cx="950976" cy="155448"/>
          </a:xfrm>
          <a:prstGeom prst="rect">
            <a:avLst/>
          </a:prstGeom>
          <a:noFill/>
          <a:ln/>
        </p:spPr>
        <p:txBody>
          <a:bodyPr wrap="square" lIns="0" tIns="0" rIns="0" bIns="0" rtlCol="0" anchor="ctr"/>
          <a:lstStyle/>
          <a:p>
            <a:pPr algn="l" indent="0" marL="0">
              <a:buNone/>
            </a:pPr>
            <a:r>
              <a:rPr lang="en-US" sz="700" b="1" dirty="0">
                <a:solidFill>
                  <a:srgbClr val="8A6D1E"/>
                </a:solidFill>
                <a:latin typeface="Calibri" pitchFamily="34" charset="0"/>
                <a:cs typeface="Amiri" pitchFamily="2" charset="-78"/>
              </a:rPr>
              <a:t>family</a:t>
            </a:r>
            <a:endParaRPr lang="en-US" sz="700" dirty="0"/>
          </a:p>
        </p:txBody>
      </p:sp>
      <p:sp>
        <p:nvSpPr>
          <p:cNvPr id="29" name="Text 26"/>
          <p:cNvSpPr txBox="1"/>
          <p:nvPr/>
        </p:nvSpPr>
        <p:spPr>
          <a:xfrm>
            <a:off x="9436608" y="3575304"/>
            <a:ext cx="969264" cy="292608"/>
          </a:xfrm>
          <a:prstGeom prst="rect">
            <a:avLst/>
          </a:prstGeom>
          <a:noFill/>
          <a:ln/>
        </p:spPr>
        <p:txBody>
          <a:bodyPr wrap="square" lIns="0" tIns="0" rIns="0" bIns="0" rtlCol="0" anchor="ctr"/>
          <a:lstStyle/>
          <a:p>
            <a:pPr rtl="1" algn="ctr" indent="0" marL="0">
              <a:buNone/>
            </a:pPr>
            <a:r>
              <a:rPr lang="ar-SA" altLang="en-US" sz="1350" b="1" dirty="0">
                <a:solidFill>
                  <a:srgbClr val="1B3B6F"/>
                </a:solidFill>
                <a:latin typeface="Amiri" pitchFamily="2" charset="-78"/>
                <a:ea typeface="Amiri" pitchFamily="2" charset="-78"/>
                <a:cs typeface="Amiri" pitchFamily="2" charset="-78"/>
              </a:rPr>
              <a:t>اِسْمُ العَائِلَةِ</a:t>
            </a:r>
            <a:endParaRPr lang="ar-SA" sz="1350" dirty="0"/>
          </a:p>
        </p:txBody>
      </p:sp>
      <p:sp>
        <p:nvSpPr>
          <p:cNvPr id="30" name="Shape 27"/>
          <p:cNvSpPr/>
          <p:nvPr/>
        </p:nvSpPr>
        <p:spPr>
          <a:xfrm>
            <a:off x="8238744" y="3438144"/>
            <a:ext cx="1060704" cy="438912"/>
          </a:xfrm>
          <a:prstGeom prst="roundRect">
            <a:avLst>
              <a:gd name="adj" fmla="val 10417"/>
            </a:avLst>
          </a:prstGeom>
          <a:solidFill>
            <a:srgbClr val="F4F1EA"/>
          </a:solidFill>
          <a:ln w="9525">
            <a:solidFill>
              <a:srgbClr val="F4F1EA"/>
            </a:solidFill>
            <a:prstDash val="solid"/>
          </a:ln>
        </p:spPr>
      </p:sp>
      <p:sp>
        <p:nvSpPr>
          <p:cNvPr id="31" name="Text 28"/>
          <p:cNvSpPr txBox="1"/>
          <p:nvPr/>
        </p:nvSpPr>
        <p:spPr>
          <a:xfrm>
            <a:off x="8293608" y="3447288"/>
            <a:ext cx="950976" cy="155448"/>
          </a:xfrm>
          <a:prstGeom prst="rect">
            <a:avLst/>
          </a:prstGeom>
          <a:noFill/>
          <a:ln/>
        </p:spPr>
        <p:txBody>
          <a:bodyPr wrap="square" lIns="0" tIns="0" rIns="0" bIns="0" rtlCol="0" anchor="ctr"/>
          <a:lstStyle/>
          <a:p>
            <a:pPr algn="l" indent="0" marL="0">
              <a:buNone/>
            </a:pPr>
            <a:r>
              <a:rPr lang="en-US" sz="700" b="1" dirty="0">
                <a:solidFill>
                  <a:srgbClr val="8A6D1E"/>
                </a:solidFill>
                <a:latin typeface="Calibri" pitchFamily="34" charset="0"/>
                <a:cs typeface="Amiri" pitchFamily="2" charset="-78"/>
              </a:rPr>
              <a:t>surname</a:t>
            </a:r>
            <a:endParaRPr lang="en-US" sz="700" dirty="0"/>
          </a:p>
        </p:txBody>
      </p:sp>
      <p:sp>
        <p:nvSpPr>
          <p:cNvPr id="32" name="Text 29"/>
          <p:cNvSpPr txBox="1"/>
          <p:nvPr/>
        </p:nvSpPr>
        <p:spPr>
          <a:xfrm>
            <a:off x="8284464" y="3575304"/>
            <a:ext cx="969264" cy="292608"/>
          </a:xfrm>
          <a:prstGeom prst="rect">
            <a:avLst/>
          </a:prstGeom>
          <a:noFill/>
          <a:ln/>
        </p:spPr>
        <p:txBody>
          <a:bodyPr wrap="square" lIns="0" tIns="0" rIns="0" bIns="0" rtlCol="0" anchor="ctr"/>
          <a:lstStyle/>
          <a:p>
            <a:pPr rtl="1" algn="ctr" indent="0" marL="0">
              <a:buNone/>
            </a:pPr>
            <a:r>
              <a:rPr lang="ar-SA" altLang="en-US" sz="1350" b="1" dirty="0">
                <a:solidFill>
                  <a:srgbClr val="1B3B6F"/>
                </a:solidFill>
                <a:latin typeface="Amiri" pitchFamily="2" charset="-78"/>
                <a:ea typeface="Amiri" pitchFamily="2" charset="-78"/>
                <a:cs typeface="Amiri" pitchFamily="2" charset="-78"/>
              </a:rPr>
              <a:t>اللَّقَبُ</a:t>
            </a:r>
            <a:endParaRPr lang="ar-SA" sz="1350" dirty="0"/>
          </a:p>
        </p:txBody>
      </p:sp>
      <p:sp>
        <p:nvSpPr>
          <p:cNvPr id="33" name="Shape 30"/>
          <p:cNvSpPr/>
          <p:nvPr/>
        </p:nvSpPr>
        <p:spPr>
          <a:xfrm>
            <a:off x="4279392"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4" name="Shape 31"/>
          <p:cNvSpPr/>
          <p:nvPr/>
        </p:nvSpPr>
        <p:spPr>
          <a:xfrm>
            <a:off x="4389120" y="1920240"/>
            <a:ext cx="310896" cy="310896"/>
          </a:xfrm>
          <a:prstGeom prst="ellipse">
            <a:avLst/>
          </a:prstGeom>
          <a:solidFill>
            <a:srgbClr val="F4F1EA"/>
          </a:solidFill>
          <a:ln w="12700">
            <a:solidFill>
              <a:srgbClr val="F4F1EA"/>
            </a:solidFill>
            <a:prstDash val="solid"/>
          </a:ln>
        </p:spPr>
      </p:sp>
      <p:sp>
        <p:nvSpPr>
          <p:cNvPr id="35" name="Text 32"/>
          <p:cNvSpPr txBox="1"/>
          <p:nvPr/>
        </p:nvSpPr>
        <p:spPr>
          <a:xfrm>
            <a:off x="4389120"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2</a:t>
            </a:r>
            <a:endParaRPr lang="en-US" sz="1000" dirty="0"/>
          </a:p>
        </p:txBody>
      </p:sp>
      <p:sp>
        <p:nvSpPr>
          <p:cNvPr id="36" name="Shape 33"/>
          <p:cNvSpPr/>
          <p:nvPr/>
        </p:nvSpPr>
        <p:spPr>
          <a:xfrm>
            <a:off x="4782312" y="1938528"/>
            <a:ext cx="704088" cy="256032"/>
          </a:xfrm>
          <a:prstGeom prst="roundRect">
            <a:avLst>
              <a:gd name="adj" fmla="val 50000"/>
            </a:avLst>
          </a:prstGeom>
          <a:solidFill>
            <a:srgbClr val="EFE7D2"/>
          </a:solidFill>
          <a:ln w="12700">
            <a:solidFill>
              <a:srgbClr val="EFE7D2"/>
            </a:solidFill>
            <a:prstDash val="solid"/>
          </a:ln>
        </p:spPr>
      </p:sp>
      <p:sp>
        <p:nvSpPr>
          <p:cNvPr id="37" name="Text 34"/>
          <p:cNvSpPr txBox="1"/>
          <p:nvPr/>
        </p:nvSpPr>
        <p:spPr>
          <a:xfrm>
            <a:off x="4782312" y="1938528"/>
            <a:ext cx="704088"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cs typeface="Amiri" pitchFamily="2" charset="-78"/>
              </a:rPr>
              <a:t>field</a:t>
            </a:r>
            <a:endParaRPr lang="en-US" sz="800" dirty="0"/>
          </a:p>
        </p:txBody>
      </p:sp>
      <p:sp>
        <p:nvSpPr>
          <p:cNvPr id="38" name="Shape 35"/>
          <p:cNvSpPr/>
          <p:nvPr/>
        </p:nvSpPr>
        <p:spPr>
          <a:xfrm>
            <a:off x="7050024" y="1938528"/>
            <a:ext cx="731520" cy="256032"/>
          </a:xfrm>
          <a:prstGeom prst="roundRect">
            <a:avLst>
              <a:gd name="adj" fmla="val 50000"/>
            </a:avLst>
          </a:prstGeom>
          <a:solidFill>
            <a:srgbClr val="2E8B57"/>
          </a:solidFill>
          <a:ln w="12700">
            <a:solidFill>
              <a:srgbClr val="2E8B57"/>
            </a:solidFill>
            <a:prstDash val="solid"/>
          </a:ln>
        </p:spPr>
      </p:sp>
      <p:sp>
        <p:nvSpPr>
          <p:cNvPr id="39" name="Text 36"/>
          <p:cNvSpPr txBox="1"/>
          <p:nvPr/>
        </p:nvSpPr>
        <p:spPr>
          <a:xfrm>
            <a:off x="7050024" y="1938528"/>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40" name="Text 37"/>
          <p:cNvSpPr txBox="1"/>
          <p:nvPr/>
        </p:nvSpPr>
        <p:spPr>
          <a:xfrm>
            <a:off x="4389120" y="2212848"/>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الجِنْسِيَّةُ</a:t>
            </a:r>
            <a:endParaRPr lang="ar-SA" sz="3000" dirty="0"/>
          </a:p>
        </p:txBody>
      </p:sp>
      <p:sp>
        <p:nvSpPr>
          <p:cNvPr id="41" name="Text 38"/>
          <p:cNvSpPr txBox="1"/>
          <p:nvPr/>
        </p:nvSpPr>
        <p:spPr>
          <a:xfrm>
            <a:off x="4416552" y="3127248"/>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nationality</a:t>
            </a:r>
            <a:endParaRPr lang="en-US" sz="1350" dirty="0"/>
          </a:p>
          <a:p>
            <a:pPr indent="0" marL="0">
              <a:buNone/>
            </a:pPr>
            <a:r>
              <a:rPr lang="en-US" sz="1100" i="1" dirty="0">
                <a:solidFill>
                  <a:srgbClr val="5A6472"/>
                </a:solidFill>
                <a:latin typeface="Calibri" pitchFamily="34" charset="0"/>
                <a:cs typeface="Amiri" pitchFamily="2" charset="-78"/>
              </a:rPr>
              <a:t>al-jin-siy-ya</a:t>
            </a:r>
            <a:endParaRPr lang="en-US" sz="1350" dirty="0"/>
          </a:p>
        </p:txBody>
      </p:sp>
      <p:sp>
        <p:nvSpPr>
          <p:cNvPr id="42" name="Text 39"/>
          <p:cNvSpPr txBox="1"/>
          <p:nvPr/>
        </p:nvSpPr>
        <p:spPr>
          <a:xfrm>
            <a:off x="4416552" y="3621024"/>
            <a:ext cx="3364992" cy="292608"/>
          </a:xfrm>
          <a:prstGeom prst="rect">
            <a:avLst/>
          </a:prstGeom>
          <a:noFill/>
          <a:ln/>
        </p:spPr>
        <p:txBody>
          <a:bodyPr wrap="square" lIns="0" tIns="0" rIns="0" bIns="0" rtlCol="0" anchor="ctr"/>
          <a:lstStyle/>
          <a:p>
            <a:pPr rtl="1" algn="r" indent="0" marL="0">
              <a:buNone/>
            </a:pPr>
            <a:r>
              <a:rPr lang="ar-SA" altLang="en-US" sz="1300" dirty="0">
                <a:solidFill>
                  <a:srgbClr val="8A6D1E"/>
                </a:solidFill>
                <a:latin typeface="Amiri" pitchFamily="2" charset="-78"/>
                <a:ea typeface="Amiri" pitchFamily="2" charset="-78"/>
                <a:cs typeface="Amiri" pitchFamily="2" charset="-78"/>
              </a:rPr>
              <a:t>الجِنْسِيَّةُ: مِصْرِيَّةٌ</a:t>
            </a:r>
            <a:endParaRPr lang="ar-SA" sz="1300" dirty="0"/>
          </a:p>
        </p:txBody>
      </p:sp>
      <p:sp>
        <p:nvSpPr>
          <p:cNvPr id="43" name="Shape 40"/>
          <p:cNvSpPr/>
          <p:nvPr/>
        </p:nvSpPr>
        <p:spPr>
          <a:xfrm>
            <a:off x="457200"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4" name="Shape 41"/>
          <p:cNvSpPr/>
          <p:nvPr/>
        </p:nvSpPr>
        <p:spPr>
          <a:xfrm>
            <a:off x="566928" y="1920240"/>
            <a:ext cx="310896" cy="310896"/>
          </a:xfrm>
          <a:prstGeom prst="ellipse">
            <a:avLst/>
          </a:prstGeom>
          <a:solidFill>
            <a:srgbClr val="F4F1EA"/>
          </a:solidFill>
          <a:ln w="12700">
            <a:solidFill>
              <a:srgbClr val="F4F1EA"/>
            </a:solidFill>
            <a:prstDash val="solid"/>
          </a:ln>
        </p:spPr>
      </p:sp>
      <p:sp>
        <p:nvSpPr>
          <p:cNvPr id="45" name="Text 42"/>
          <p:cNvSpPr txBox="1"/>
          <p:nvPr/>
        </p:nvSpPr>
        <p:spPr>
          <a:xfrm>
            <a:off x="566928"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3</a:t>
            </a:r>
            <a:endParaRPr lang="en-US" sz="1000" dirty="0"/>
          </a:p>
        </p:txBody>
      </p:sp>
      <p:sp>
        <p:nvSpPr>
          <p:cNvPr id="46" name="Shape 43"/>
          <p:cNvSpPr/>
          <p:nvPr/>
        </p:nvSpPr>
        <p:spPr>
          <a:xfrm>
            <a:off x="960120" y="1938528"/>
            <a:ext cx="704088" cy="256032"/>
          </a:xfrm>
          <a:prstGeom prst="roundRect">
            <a:avLst>
              <a:gd name="adj" fmla="val 50000"/>
            </a:avLst>
          </a:prstGeom>
          <a:solidFill>
            <a:srgbClr val="EFE7D2"/>
          </a:solidFill>
          <a:ln w="12700">
            <a:solidFill>
              <a:srgbClr val="EFE7D2"/>
            </a:solidFill>
            <a:prstDash val="solid"/>
          </a:ln>
        </p:spPr>
      </p:sp>
      <p:sp>
        <p:nvSpPr>
          <p:cNvPr id="47" name="Text 44"/>
          <p:cNvSpPr txBox="1"/>
          <p:nvPr/>
        </p:nvSpPr>
        <p:spPr>
          <a:xfrm>
            <a:off x="960120" y="1938528"/>
            <a:ext cx="704088"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cs typeface="Amiri" pitchFamily="2" charset="-78"/>
              </a:rPr>
              <a:t>field</a:t>
            </a:r>
            <a:endParaRPr lang="en-US" sz="800" dirty="0"/>
          </a:p>
        </p:txBody>
      </p:sp>
      <p:sp>
        <p:nvSpPr>
          <p:cNvPr id="48" name="Shape 45"/>
          <p:cNvSpPr/>
          <p:nvPr/>
        </p:nvSpPr>
        <p:spPr>
          <a:xfrm>
            <a:off x="3227832" y="1938528"/>
            <a:ext cx="731520" cy="256032"/>
          </a:xfrm>
          <a:prstGeom prst="roundRect">
            <a:avLst>
              <a:gd name="adj" fmla="val 50000"/>
            </a:avLst>
          </a:prstGeom>
          <a:solidFill>
            <a:srgbClr val="2E8B57"/>
          </a:solidFill>
          <a:ln w="12700">
            <a:solidFill>
              <a:srgbClr val="2E8B57"/>
            </a:solidFill>
            <a:prstDash val="solid"/>
          </a:ln>
        </p:spPr>
      </p:sp>
      <p:sp>
        <p:nvSpPr>
          <p:cNvPr id="49" name="Text 46"/>
          <p:cNvSpPr txBox="1"/>
          <p:nvPr/>
        </p:nvSpPr>
        <p:spPr>
          <a:xfrm>
            <a:off x="3227832" y="1938528"/>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50" name="Text 47"/>
          <p:cNvSpPr txBox="1"/>
          <p:nvPr/>
        </p:nvSpPr>
        <p:spPr>
          <a:xfrm>
            <a:off x="566928" y="2212848"/>
            <a:ext cx="3401568" cy="713232"/>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اللُّغَاتُ</a:t>
            </a:r>
            <a:endParaRPr lang="ar-SA" sz="3000" dirty="0"/>
          </a:p>
        </p:txBody>
      </p:sp>
      <p:sp>
        <p:nvSpPr>
          <p:cNvPr id="51" name="Text 48"/>
          <p:cNvSpPr txBox="1"/>
          <p:nvPr/>
        </p:nvSpPr>
        <p:spPr>
          <a:xfrm>
            <a:off x="594360" y="290779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languages</a:t>
            </a:r>
            <a:endParaRPr lang="en-US" sz="1350" dirty="0"/>
          </a:p>
          <a:p>
            <a:pPr indent="0" marL="0">
              <a:buNone/>
            </a:pPr>
            <a:r>
              <a:rPr lang="en-US" sz="1100" i="1" dirty="0">
                <a:solidFill>
                  <a:srgbClr val="5A6472"/>
                </a:solidFill>
                <a:latin typeface="Calibri" pitchFamily="34" charset="0"/>
                <a:cs typeface="Amiri" pitchFamily="2" charset="-78"/>
              </a:rPr>
              <a:t>al-lu-ghāt</a:t>
            </a:r>
            <a:endParaRPr lang="en-US" sz="1350" dirty="0"/>
          </a:p>
        </p:txBody>
      </p:sp>
      <p:sp>
        <p:nvSpPr>
          <p:cNvPr id="52" name="Shape 49"/>
          <p:cNvSpPr/>
          <p:nvPr/>
        </p:nvSpPr>
        <p:spPr>
          <a:xfrm>
            <a:off x="2898648" y="3438144"/>
            <a:ext cx="1060704" cy="438912"/>
          </a:xfrm>
          <a:prstGeom prst="roundRect">
            <a:avLst>
              <a:gd name="adj" fmla="val 10417"/>
            </a:avLst>
          </a:prstGeom>
          <a:solidFill>
            <a:srgbClr val="F4F1EA"/>
          </a:solidFill>
          <a:ln w="9525">
            <a:solidFill>
              <a:srgbClr val="F4F1EA"/>
            </a:solidFill>
            <a:prstDash val="solid"/>
          </a:ln>
        </p:spPr>
      </p:sp>
      <p:sp>
        <p:nvSpPr>
          <p:cNvPr id="53" name="Text 50"/>
          <p:cNvSpPr txBox="1"/>
          <p:nvPr/>
        </p:nvSpPr>
        <p:spPr>
          <a:xfrm>
            <a:off x="2953512" y="3447288"/>
            <a:ext cx="950976"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one</a:t>
            </a:r>
            <a:endParaRPr lang="en-US" sz="750" dirty="0"/>
          </a:p>
        </p:txBody>
      </p:sp>
      <p:sp>
        <p:nvSpPr>
          <p:cNvPr id="54" name="Text 51"/>
          <p:cNvSpPr txBox="1"/>
          <p:nvPr/>
        </p:nvSpPr>
        <p:spPr>
          <a:xfrm>
            <a:off x="2944368" y="3483864"/>
            <a:ext cx="969264"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اللُّغَةُ</a:t>
            </a:r>
            <a:endParaRPr lang="ar-SA" sz="1500" dirty="0"/>
          </a:p>
        </p:txBody>
      </p:sp>
      <p:sp>
        <p:nvSpPr>
          <p:cNvPr id="55" name="Shape 52"/>
          <p:cNvSpPr/>
          <p:nvPr/>
        </p:nvSpPr>
        <p:spPr>
          <a:xfrm>
            <a:off x="1746504" y="3438144"/>
            <a:ext cx="1060704" cy="438912"/>
          </a:xfrm>
          <a:prstGeom prst="roundRect">
            <a:avLst>
              <a:gd name="adj" fmla="val 10417"/>
            </a:avLst>
          </a:prstGeom>
          <a:solidFill>
            <a:srgbClr val="F4F1EA"/>
          </a:solidFill>
          <a:ln w="9525">
            <a:solidFill>
              <a:srgbClr val="F4F1EA"/>
            </a:solidFill>
            <a:prstDash val="solid"/>
          </a:ln>
        </p:spPr>
      </p:sp>
      <p:sp>
        <p:nvSpPr>
          <p:cNvPr id="56" name="Text 53"/>
          <p:cNvSpPr txBox="1"/>
          <p:nvPr/>
        </p:nvSpPr>
        <p:spPr>
          <a:xfrm>
            <a:off x="1801368" y="3447288"/>
            <a:ext cx="950976"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pl.</a:t>
            </a:r>
            <a:endParaRPr lang="en-US" sz="750" dirty="0"/>
          </a:p>
        </p:txBody>
      </p:sp>
      <p:sp>
        <p:nvSpPr>
          <p:cNvPr id="57" name="Text 54"/>
          <p:cNvSpPr txBox="1"/>
          <p:nvPr/>
        </p:nvSpPr>
        <p:spPr>
          <a:xfrm>
            <a:off x="1792224" y="3483864"/>
            <a:ext cx="969264"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اللُّغَاتُ</a:t>
            </a:r>
            <a:endParaRPr lang="ar-SA" sz="1500" dirty="0"/>
          </a:p>
        </p:txBody>
      </p:sp>
      <p:sp>
        <p:nvSpPr>
          <p:cNvPr id="58" name="Shape 55"/>
          <p:cNvSpPr/>
          <p:nvPr/>
        </p:nvSpPr>
        <p:spPr>
          <a:xfrm>
            <a:off x="594360" y="3438144"/>
            <a:ext cx="1060704" cy="438912"/>
          </a:xfrm>
          <a:prstGeom prst="roundRect">
            <a:avLst>
              <a:gd name="adj" fmla="val 10417"/>
            </a:avLst>
          </a:prstGeom>
          <a:solidFill>
            <a:srgbClr val="F4F1EA"/>
          </a:solidFill>
          <a:ln w="9525">
            <a:solidFill>
              <a:srgbClr val="F4F1EA"/>
            </a:solidFill>
            <a:prstDash val="solid"/>
          </a:ln>
        </p:spPr>
      </p:sp>
      <p:sp>
        <p:nvSpPr>
          <p:cNvPr id="59" name="Text 56"/>
          <p:cNvSpPr txBox="1"/>
          <p:nvPr/>
        </p:nvSpPr>
        <p:spPr>
          <a:xfrm>
            <a:off x="649224" y="3447288"/>
            <a:ext cx="950976" cy="155448"/>
          </a:xfrm>
          <a:prstGeom prst="rect">
            <a:avLst/>
          </a:prstGeom>
          <a:noFill/>
          <a:ln/>
        </p:spPr>
        <p:txBody>
          <a:bodyPr wrap="square" lIns="0" tIns="0" rIns="0" bIns="0" rtlCol="0" anchor="ctr"/>
          <a:lstStyle/>
          <a:p>
            <a:pPr algn="l" indent="0" marL="0">
              <a:buNone/>
            </a:pPr>
            <a:r>
              <a:rPr lang="en-US" sz="700" b="1" dirty="0">
                <a:solidFill>
                  <a:srgbClr val="8A6D1E"/>
                </a:solidFill>
                <a:latin typeface="Calibri" pitchFamily="34" charset="0"/>
                <a:cs typeface="Amiri" pitchFamily="2" charset="-78"/>
              </a:rPr>
              <a:t>first</a:t>
            </a:r>
            <a:endParaRPr lang="en-US" sz="700" dirty="0"/>
          </a:p>
        </p:txBody>
      </p:sp>
      <p:sp>
        <p:nvSpPr>
          <p:cNvPr id="60" name="Text 57"/>
          <p:cNvSpPr txBox="1"/>
          <p:nvPr/>
        </p:nvSpPr>
        <p:spPr>
          <a:xfrm>
            <a:off x="640080" y="3575304"/>
            <a:ext cx="969264" cy="292608"/>
          </a:xfrm>
          <a:prstGeom prst="rect">
            <a:avLst/>
          </a:prstGeom>
          <a:noFill/>
          <a:ln/>
        </p:spPr>
        <p:txBody>
          <a:bodyPr wrap="square" lIns="0" tIns="0" rIns="0" bIns="0" rtlCol="0" anchor="ctr"/>
          <a:lstStyle/>
          <a:p>
            <a:pPr rtl="1" algn="ctr" indent="0" marL="0">
              <a:buNone/>
            </a:pPr>
            <a:r>
              <a:rPr lang="ar-SA" altLang="en-US" sz="1350" b="1" dirty="0">
                <a:solidFill>
                  <a:srgbClr val="1B3B6F"/>
                </a:solidFill>
                <a:latin typeface="Amiri" pitchFamily="2" charset="-78"/>
                <a:ea typeface="Amiri" pitchFamily="2" charset="-78"/>
                <a:cs typeface="Amiri" pitchFamily="2" charset="-78"/>
              </a:rPr>
              <a:t>اللُّغَةُ الأُولَى</a:t>
            </a:r>
            <a:endParaRPr lang="ar-SA" sz="1350" dirty="0"/>
          </a:p>
        </p:txBody>
      </p:sp>
      <p:sp>
        <p:nvSpPr>
          <p:cNvPr id="61" name="Shape 58"/>
          <p:cNvSpPr/>
          <p:nvPr/>
        </p:nvSpPr>
        <p:spPr>
          <a:xfrm>
            <a:off x="8101584" y="4151376"/>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2" name="Shape 59"/>
          <p:cNvSpPr/>
          <p:nvPr/>
        </p:nvSpPr>
        <p:spPr>
          <a:xfrm>
            <a:off x="8211312" y="4261104"/>
            <a:ext cx="310896" cy="310896"/>
          </a:xfrm>
          <a:prstGeom prst="ellipse">
            <a:avLst/>
          </a:prstGeom>
          <a:solidFill>
            <a:srgbClr val="F4F1EA"/>
          </a:solidFill>
          <a:ln w="12700">
            <a:solidFill>
              <a:srgbClr val="F4F1EA"/>
            </a:solidFill>
            <a:prstDash val="solid"/>
          </a:ln>
        </p:spPr>
      </p:sp>
      <p:sp>
        <p:nvSpPr>
          <p:cNvPr id="63" name="Text 60"/>
          <p:cNvSpPr txBox="1"/>
          <p:nvPr/>
        </p:nvSpPr>
        <p:spPr>
          <a:xfrm>
            <a:off x="8211312" y="4261104"/>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4</a:t>
            </a:r>
            <a:endParaRPr lang="en-US" sz="1000" dirty="0"/>
          </a:p>
        </p:txBody>
      </p:sp>
      <p:sp>
        <p:nvSpPr>
          <p:cNvPr id="64" name="Shape 61"/>
          <p:cNvSpPr/>
          <p:nvPr/>
        </p:nvSpPr>
        <p:spPr>
          <a:xfrm>
            <a:off x="10872216" y="4279392"/>
            <a:ext cx="731520" cy="256032"/>
          </a:xfrm>
          <a:prstGeom prst="roundRect">
            <a:avLst>
              <a:gd name="adj" fmla="val 50000"/>
            </a:avLst>
          </a:prstGeom>
          <a:solidFill>
            <a:srgbClr val="2E8B57"/>
          </a:solidFill>
          <a:ln w="12700">
            <a:solidFill>
              <a:srgbClr val="2E8B57"/>
            </a:solidFill>
            <a:prstDash val="solid"/>
          </a:ln>
        </p:spPr>
      </p:sp>
      <p:sp>
        <p:nvSpPr>
          <p:cNvPr id="65" name="Text 62"/>
          <p:cNvSpPr txBox="1"/>
          <p:nvPr/>
        </p:nvSpPr>
        <p:spPr>
          <a:xfrm>
            <a:off x="10872216" y="4279392"/>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66" name="Text 63"/>
          <p:cNvSpPr txBox="1"/>
          <p:nvPr/>
        </p:nvSpPr>
        <p:spPr>
          <a:xfrm>
            <a:off x="8211312" y="4553712"/>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وَ</a:t>
            </a:r>
            <a:endParaRPr lang="ar-SA" sz="3000" dirty="0"/>
          </a:p>
        </p:txBody>
      </p:sp>
      <p:sp>
        <p:nvSpPr>
          <p:cNvPr id="67" name="Text 64"/>
          <p:cNvSpPr txBox="1"/>
          <p:nvPr/>
        </p:nvSpPr>
        <p:spPr>
          <a:xfrm>
            <a:off x="8238744" y="546811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and</a:t>
            </a:r>
            <a:endParaRPr lang="en-US" sz="1350" dirty="0"/>
          </a:p>
          <a:p>
            <a:pPr indent="0" marL="0">
              <a:buNone/>
            </a:pPr>
            <a:r>
              <a:rPr lang="en-US" sz="1100" i="1" dirty="0">
                <a:solidFill>
                  <a:srgbClr val="5A6472"/>
                </a:solidFill>
                <a:latin typeface="Calibri" pitchFamily="34" charset="0"/>
                <a:cs typeface="Amiri" pitchFamily="2" charset="-78"/>
              </a:rPr>
              <a:t>wa</a:t>
            </a:r>
            <a:endParaRPr lang="en-US" sz="1350" dirty="0"/>
          </a:p>
        </p:txBody>
      </p:sp>
      <p:sp>
        <p:nvSpPr>
          <p:cNvPr id="68" name="Shape 65"/>
          <p:cNvSpPr/>
          <p:nvPr/>
        </p:nvSpPr>
        <p:spPr>
          <a:xfrm>
            <a:off x="4279392" y="4151376"/>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9" name="Shape 66"/>
          <p:cNvSpPr/>
          <p:nvPr/>
        </p:nvSpPr>
        <p:spPr>
          <a:xfrm>
            <a:off x="4389120" y="4261104"/>
            <a:ext cx="310896" cy="310896"/>
          </a:xfrm>
          <a:prstGeom prst="ellipse">
            <a:avLst/>
          </a:prstGeom>
          <a:solidFill>
            <a:srgbClr val="F4F1EA"/>
          </a:solidFill>
          <a:ln w="12700">
            <a:solidFill>
              <a:srgbClr val="F4F1EA"/>
            </a:solidFill>
            <a:prstDash val="solid"/>
          </a:ln>
        </p:spPr>
      </p:sp>
      <p:sp>
        <p:nvSpPr>
          <p:cNvPr id="70" name="Text 67"/>
          <p:cNvSpPr txBox="1"/>
          <p:nvPr/>
        </p:nvSpPr>
        <p:spPr>
          <a:xfrm>
            <a:off x="4389120" y="4261104"/>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5</a:t>
            </a:r>
            <a:endParaRPr lang="en-US" sz="1000" dirty="0"/>
          </a:p>
        </p:txBody>
      </p:sp>
      <p:sp>
        <p:nvSpPr>
          <p:cNvPr id="71" name="Shape 68"/>
          <p:cNvSpPr/>
          <p:nvPr/>
        </p:nvSpPr>
        <p:spPr>
          <a:xfrm>
            <a:off x="7050024" y="4279392"/>
            <a:ext cx="731520" cy="256032"/>
          </a:xfrm>
          <a:prstGeom prst="roundRect">
            <a:avLst>
              <a:gd name="adj" fmla="val 50000"/>
            </a:avLst>
          </a:prstGeom>
          <a:solidFill>
            <a:srgbClr val="2E8B57"/>
          </a:solidFill>
          <a:ln w="12700">
            <a:solidFill>
              <a:srgbClr val="2E8B57"/>
            </a:solidFill>
            <a:prstDash val="solid"/>
          </a:ln>
        </p:spPr>
      </p:sp>
      <p:sp>
        <p:nvSpPr>
          <p:cNvPr id="72" name="Text 69"/>
          <p:cNvSpPr txBox="1"/>
          <p:nvPr/>
        </p:nvSpPr>
        <p:spPr>
          <a:xfrm>
            <a:off x="7050024" y="4279392"/>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73" name="Text 70"/>
          <p:cNvSpPr txBox="1"/>
          <p:nvPr/>
        </p:nvSpPr>
        <p:spPr>
          <a:xfrm>
            <a:off x="4389120" y="4553712"/>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ثُمَّ</a:t>
            </a:r>
            <a:endParaRPr lang="ar-SA" sz="3000" dirty="0"/>
          </a:p>
        </p:txBody>
      </p:sp>
      <p:sp>
        <p:nvSpPr>
          <p:cNvPr id="74" name="Text 71"/>
          <p:cNvSpPr txBox="1"/>
          <p:nvPr/>
        </p:nvSpPr>
        <p:spPr>
          <a:xfrm>
            <a:off x="4416552" y="546811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then</a:t>
            </a:r>
            <a:endParaRPr lang="en-US" sz="1350" dirty="0"/>
          </a:p>
          <a:p>
            <a:pPr indent="0" marL="0">
              <a:buNone/>
            </a:pPr>
            <a:r>
              <a:rPr lang="en-US" sz="1100" i="1" dirty="0">
                <a:solidFill>
                  <a:srgbClr val="5A6472"/>
                </a:solidFill>
                <a:latin typeface="Calibri" pitchFamily="34" charset="0"/>
                <a:cs typeface="Amiri" pitchFamily="2" charset="-78"/>
              </a:rPr>
              <a:t>thum-ma</a:t>
            </a:r>
            <a:endParaRPr lang="en-US" sz="1350" dirty="0"/>
          </a:p>
        </p:txBody>
      </p:sp>
      <p:sp>
        <p:nvSpPr>
          <p:cNvPr id="75" name="Shape 72"/>
          <p:cNvSpPr/>
          <p:nvPr/>
        </p:nvSpPr>
        <p:spPr>
          <a:xfrm>
            <a:off x="457200" y="4151376"/>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76" name="Shape 73"/>
          <p:cNvSpPr/>
          <p:nvPr/>
        </p:nvSpPr>
        <p:spPr>
          <a:xfrm>
            <a:off x="566928" y="4261104"/>
            <a:ext cx="310896" cy="310896"/>
          </a:xfrm>
          <a:prstGeom prst="ellipse">
            <a:avLst/>
          </a:prstGeom>
          <a:solidFill>
            <a:srgbClr val="F4F1EA"/>
          </a:solidFill>
          <a:ln w="12700">
            <a:solidFill>
              <a:srgbClr val="F4F1EA"/>
            </a:solidFill>
            <a:prstDash val="solid"/>
          </a:ln>
        </p:spPr>
      </p:sp>
      <p:sp>
        <p:nvSpPr>
          <p:cNvPr id="77" name="Text 74"/>
          <p:cNvSpPr txBox="1"/>
          <p:nvPr/>
        </p:nvSpPr>
        <p:spPr>
          <a:xfrm>
            <a:off x="566928" y="4261104"/>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6</a:t>
            </a:r>
            <a:endParaRPr lang="en-US" sz="1000" dirty="0"/>
          </a:p>
        </p:txBody>
      </p:sp>
      <p:sp>
        <p:nvSpPr>
          <p:cNvPr id="78" name="Shape 75"/>
          <p:cNvSpPr/>
          <p:nvPr/>
        </p:nvSpPr>
        <p:spPr>
          <a:xfrm>
            <a:off x="3227832" y="4279392"/>
            <a:ext cx="731520" cy="256032"/>
          </a:xfrm>
          <a:prstGeom prst="roundRect">
            <a:avLst>
              <a:gd name="adj" fmla="val 50000"/>
            </a:avLst>
          </a:prstGeom>
          <a:solidFill>
            <a:srgbClr val="2E8B57"/>
          </a:solidFill>
          <a:ln w="12700">
            <a:solidFill>
              <a:srgbClr val="2E8B57"/>
            </a:solidFill>
            <a:prstDash val="solid"/>
          </a:ln>
        </p:spPr>
      </p:sp>
      <p:sp>
        <p:nvSpPr>
          <p:cNvPr id="79" name="Text 76"/>
          <p:cNvSpPr txBox="1"/>
          <p:nvPr/>
        </p:nvSpPr>
        <p:spPr>
          <a:xfrm>
            <a:off x="3227832" y="4279392"/>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80" name="Text 77"/>
          <p:cNvSpPr txBox="1"/>
          <p:nvPr/>
        </p:nvSpPr>
        <p:spPr>
          <a:xfrm>
            <a:off x="566928" y="4553712"/>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لٰكِنَّ</a:t>
            </a:r>
            <a:endParaRPr lang="ar-SA" sz="3000" dirty="0"/>
          </a:p>
        </p:txBody>
      </p:sp>
      <p:sp>
        <p:nvSpPr>
          <p:cNvPr id="81" name="Text 78"/>
          <p:cNvSpPr txBox="1"/>
          <p:nvPr/>
        </p:nvSpPr>
        <p:spPr>
          <a:xfrm>
            <a:off x="594360" y="546811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but</a:t>
            </a:r>
            <a:endParaRPr lang="en-US" sz="1350" dirty="0"/>
          </a:p>
          <a:p>
            <a:pPr indent="0" marL="0">
              <a:buNone/>
            </a:pPr>
            <a:r>
              <a:rPr lang="en-US" sz="1100" i="1" dirty="0">
                <a:solidFill>
                  <a:srgbClr val="5A6472"/>
                </a:solidFill>
                <a:latin typeface="Calibri" pitchFamily="34" charset="0"/>
                <a:cs typeface="Amiri" pitchFamily="2" charset="-78"/>
              </a:rPr>
              <a:t>lā-kin-na</a:t>
            </a:r>
            <a:endParaRPr lang="en-US" sz="1350" dirty="0"/>
          </a:p>
        </p:txBody>
      </p:sp>
      <p:sp>
        <p:nvSpPr>
          <p:cNvPr id="82" name="Text 79"/>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6 / 24</a:t>
            </a:r>
            <a:endParaRPr lang="en-US" sz="8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F2-W06 · Apply workshop</a:t>
            </a:r>
            <a:endParaRPr lang="en-US" sz="950" dirty="0"/>
          </a:p>
        </p:txBody>
      </p:sp>
      <p:sp>
        <p:nvSpPr>
          <p:cNvPr id="8" name="Shape 6"/>
          <p:cNvSpPr/>
          <p:nvPr/>
        </p:nvSpPr>
        <p:spPr>
          <a:xfrm>
            <a:off x="6308446" y="274320"/>
            <a:ext cx="2451506"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308446" y="274320"/>
            <a:ext cx="2451506"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TEACHER INSTRUCTION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B3B6F"/>
                </a:solidFill>
                <a:latin typeface="Calibri" pitchFamily="34" charset="0"/>
                <a:cs typeface="Amiri" pitchFamily="2" charset="-78"/>
              </a:rPr>
              <a:t>STEP 1 · WORDS FROM F2-L12</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1750" b="1" dirty="0">
                <a:solidFill>
                  <a:srgbClr val="1B3B6F"/>
                </a:solidFill>
                <a:latin typeface="Cambria" pitchFamily="34" charset="0"/>
                <a:cs typeface="Amiri" pitchFamily="2" charset="-78"/>
              </a:rPr>
              <a:t>F2-L12 · Show What You Can Say: F2 Review &amp; Assessment</a:t>
            </a:r>
            <a:endParaRPr lang="en-US" sz="175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كَلِمَاتُ الدَّرْسِ الثَّانِي</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F2 · Greetings &amp; Introductions · F2-W06 · Apply workshop (F2-L11 + F2-L12)</a:t>
            </a:r>
            <a:endParaRPr lang="en-US" sz="850" dirty="0"/>
          </a:p>
        </p:txBody>
      </p:sp>
      <p:sp>
        <p:nvSpPr>
          <p:cNvPr id="15" name="Shape 12"/>
          <p:cNvSpPr/>
          <p:nvPr/>
        </p:nvSpPr>
        <p:spPr>
          <a:xfrm>
            <a:off x="8101584"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8211312" y="1920240"/>
            <a:ext cx="310896" cy="310896"/>
          </a:xfrm>
          <a:prstGeom prst="ellipse">
            <a:avLst/>
          </a:prstGeom>
          <a:solidFill>
            <a:srgbClr val="F4F1EA"/>
          </a:solidFill>
          <a:ln w="12700">
            <a:solidFill>
              <a:srgbClr val="F4F1EA"/>
            </a:solidFill>
            <a:prstDash val="solid"/>
          </a:ln>
        </p:spPr>
      </p:sp>
      <p:sp>
        <p:nvSpPr>
          <p:cNvPr id="17" name="Text 14"/>
          <p:cNvSpPr txBox="1"/>
          <p:nvPr/>
        </p:nvSpPr>
        <p:spPr>
          <a:xfrm>
            <a:off x="8211312"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7</a:t>
            </a:r>
            <a:endParaRPr lang="en-US" sz="1000" dirty="0"/>
          </a:p>
        </p:txBody>
      </p:sp>
      <p:sp>
        <p:nvSpPr>
          <p:cNvPr id="18" name="Shape 15"/>
          <p:cNvSpPr/>
          <p:nvPr/>
        </p:nvSpPr>
        <p:spPr>
          <a:xfrm>
            <a:off x="10872216" y="1938528"/>
            <a:ext cx="731520" cy="256032"/>
          </a:xfrm>
          <a:prstGeom prst="roundRect">
            <a:avLst>
              <a:gd name="adj" fmla="val 50000"/>
            </a:avLst>
          </a:prstGeom>
          <a:solidFill>
            <a:srgbClr val="2E8B57"/>
          </a:solidFill>
          <a:ln w="12700">
            <a:solidFill>
              <a:srgbClr val="2E8B57"/>
            </a:solidFill>
            <a:prstDash val="solid"/>
          </a:ln>
        </p:spPr>
      </p:sp>
      <p:sp>
        <p:nvSpPr>
          <p:cNvPr id="19" name="Text 16"/>
          <p:cNvSpPr txBox="1"/>
          <p:nvPr/>
        </p:nvSpPr>
        <p:spPr>
          <a:xfrm>
            <a:off x="10872216" y="1938528"/>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20" name="Text 17"/>
          <p:cNvSpPr txBox="1"/>
          <p:nvPr/>
        </p:nvSpPr>
        <p:spPr>
          <a:xfrm>
            <a:off x="8211312" y="2212848"/>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السَّلَامُ عَلَيْكُمْ</a:t>
            </a:r>
            <a:endParaRPr lang="ar-SA" sz="3000" dirty="0"/>
          </a:p>
        </p:txBody>
      </p:sp>
      <p:sp>
        <p:nvSpPr>
          <p:cNvPr id="21" name="Text 18"/>
          <p:cNvSpPr txBox="1"/>
          <p:nvPr/>
        </p:nvSpPr>
        <p:spPr>
          <a:xfrm>
            <a:off x="8238744" y="3127248"/>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peace be upon you</a:t>
            </a:r>
            <a:endParaRPr lang="en-US" sz="1350" dirty="0"/>
          </a:p>
          <a:p>
            <a:pPr indent="0" marL="0">
              <a:buNone/>
            </a:pPr>
            <a:r>
              <a:rPr lang="en-US" sz="1100" i="1" dirty="0">
                <a:solidFill>
                  <a:srgbClr val="5A6472"/>
                </a:solidFill>
                <a:latin typeface="Calibri" pitchFamily="34" charset="0"/>
                <a:cs typeface="Amiri" pitchFamily="2" charset="-78"/>
              </a:rPr>
              <a:t>as-sa-lā-mu ʿa-lay-kum</a:t>
            </a:r>
            <a:endParaRPr lang="en-US" sz="1350" dirty="0"/>
          </a:p>
        </p:txBody>
      </p:sp>
      <p:sp>
        <p:nvSpPr>
          <p:cNvPr id="22" name="Shape 19"/>
          <p:cNvSpPr/>
          <p:nvPr/>
        </p:nvSpPr>
        <p:spPr>
          <a:xfrm>
            <a:off x="4279392"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3" name="Shape 20"/>
          <p:cNvSpPr/>
          <p:nvPr/>
        </p:nvSpPr>
        <p:spPr>
          <a:xfrm>
            <a:off x="4389120" y="1920240"/>
            <a:ext cx="310896" cy="310896"/>
          </a:xfrm>
          <a:prstGeom prst="ellipse">
            <a:avLst/>
          </a:prstGeom>
          <a:solidFill>
            <a:srgbClr val="F4F1EA"/>
          </a:solidFill>
          <a:ln w="12700">
            <a:solidFill>
              <a:srgbClr val="F4F1EA"/>
            </a:solidFill>
            <a:prstDash val="solid"/>
          </a:ln>
        </p:spPr>
      </p:sp>
      <p:sp>
        <p:nvSpPr>
          <p:cNvPr id="24" name="Text 21"/>
          <p:cNvSpPr txBox="1"/>
          <p:nvPr/>
        </p:nvSpPr>
        <p:spPr>
          <a:xfrm>
            <a:off x="4389120"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8</a:t>
            </a:r>
            <a:endParaRPr lang="en-US" sz="1000" dirty="0"/>
          </a:p>
        </p:txBody>
      </p:sp>
      <p:sp>
        <p:nvSpPr>
          <p:cNvPr id="25" name="Shape 22"/>
          <p:cNvSpPr/>
          <p:nvPr/>
        </p:nvSpPr>
        <p:spPr>
          <a:xfrm>
            <a:off x="7050024" y="1938528"/>
            <a:ext cx="731520" cy="256032"/>
          </a:xfrm>
          <a:prstGeom prst="roundRect">
            <a:avLst>
              <a:gd name="adj" fmla="val 50000"/>
            </a:avLst>
          </a:prstGeom>
          <a:solidFill>
            <a:srgbClr val="2E8B57"/>
          </a:solidFill>
          <a:ln w="12700">
            <a:solidFill>
              <a:srgbClr val="2E8B57"/>
            </a:solidFill>
            <a:prstDash val="solid"/>
          </a:ln>
        </p:spPr>
      </p:sp>
      <p:sp>
        <p:nvSpPr>
          <p:cNvPr id="26" name="Text 23"/>
          <p:cNvSpPr txBox="1"/>
          <p:nvPr/>
        </p:nvSpPr>
        <p:spPr>
          <a:xfrm>
            <a:off x="7050024" y="1938528"/>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27" name="Text 24"/>
          <p:cNvSpPr txBox="1"/>
          <p:nvPr/>
        </p:nvSpPr>
        <p:spPr>
          <a:xfrm>
            <a:off x="4389120" y="2212848"/>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مَا اسْمُكَ؟ · مَا اسْمُكِ؟</a:t>
            </a:r>
            <a:endParaRPr lang="ar-SA" sz="3000" dirty="0"/>
          </a:p>
        </p:txBody>
      </p:sp>
      <p:sp>
        <p:nvSpPr>
          <p:cNvPr id="28" name="Text 25"/>
          <p:cNvSpPr txBox="1"/>
          <p:nvPr/>
        </p:nvSpPr>
        <p:spPr>
          <a:xfrm>
            <a:off x="4416552" y="3127248"/>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what is your name? (boy · girl)</a:t>
            </a:r>
            <a:endParaRPr lang="en-US" sz="1350" dirty="0"/>
          </a:p>
          <a:p>
            <a:pPr indent="0" marL="0">
              <a:buNone/>
            </a:pPr>
            <a:r>
              <a:rPr lang="en-US" sz="1100" i="1" dirty="0">
                <a:solidFill>
                  <a:srgbClr val="5A6472"/>
                </a:solidFill>
                <a:latin typeface="Calibri" pitchFamily="34" charset="0"/>
                <a:cs typeface="Amiri" pitchFamily="2" charset="-78"/>
              </a:rPr>
              <a:t>mā as-mu-ka? · mā as-mu-ki?</a:t>
            </a:r>
            <a:endParaRPr lang="en-US" sz="1350" dirty="0"/>
          </a:p>
        </p:txBody>
      </p:sp>
      <p:sp>
        <p:nvSpPr>
          <p:cNvPr id="29" name="Shape 26"/>
          <p:cNvSpPr/>
          <p:nvPr/>
        </p:nvSpPr>
        <p:spPr>
          <a:xfrm>
            <a:off x="457200"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0" name="Shape 27"/>
          <p:cNvSpPr/>
          <p:nvPr/>
        </p:nvSpPr>
        <p:spPr>
          <a:xfrm>
            <a:off x="566928" y="1920240"/>
            <a:ext cx="310896" cy="310896"/>
          </a:xfrm>
          <a:prstGeom prst="ellipse">
            <a:avLst/>
          </a:prstGeom>
          <a:solidFill>
            <a:srgbClr val="F4F1EA"/>
          </a:solidFill>
          <a:ln w="12700">
            <a:solidFill>
              <a:srgbClr val="F4F1EA"/>
            </a:solidFill>
            <a:prstDash val="solid"/>
          </a:ln>
        </p:spPr>
      </p:sp>
      <p:sp>
        <p:nvSpPr>
          <p:cNvPr id="31" name="Text 28"/>
          <p:cNvSpPr txBox="1"/>
          <p:nvPr/>
        </p:nvSpPr>
        <p:spPr>
          <a:xfrm>
            <a:off x="566928"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9</a:t>
            </a:r>
            <a:endParaRPr lang="en-US" sz="1000" dirty="0"/>
          </a:p>
        </p:txBody>
      </p:sp>
      <p:sp>
        <p:nvSpPr>
          <p:cNvPr id="32" name="Shape 29"/>
          <p:cNvSpPr/>
          <p:nvPr/>
        </p:nvSpPr>
        <p:spPr>
          <a:xfrm>
            <a:off x="3227832" y="1938528"/>
            <a:ext cx="731520" cy="256032"/>
          </a:xfrm>
          <a:prstGeom prst="roundRect">
            <a:avLst>
              <a:gd name="adj" fmla="val 50000"/>
            </a:avLst>
          </a:prstGeom>
          <a:solidFill>
            <a:srgbClr val="2E8B57"/>
          </a:solidFill>
          <a:ln w="12700">
            <a:solidFill>
              <a:srgbClr val="2E8B57"/>
            </a:solidFill>
            <a:prstDash val="solid"/>
          </a:ln>
        </p:spPr>
      </p:sp>
      <p:sp>
        <p:nvSpPr>
          <p:cNvPr id="33" name="Text 30"/>
          <p:cNvSpPr txBox="1"/>
          <p:nvPr/>
        </p:nvSpPr>
        <p:spPr>
          <a:xfrm>
            <a:off x="3227832" y="1938528"/>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34" name="Text 31"/>
          <p:cNvSpPr txBox="1"/>
          <p:nvPr/>
        </p:nvSpPr>
        <p:spPr>
          <a:xfrm>
            <a:off x="566928" y="2212848"/>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مِنْ أَيْنَ أَنْتَ؟</a:t>
            </a:r>
            <a:endParaRPr lang="ar-SA" sz="3000" dirty="0"/>
          </a:p>
        </p:txBody>
      </p:sp>
      <p:sp>
        <p:nvSpPr>
          <p:cNvPr id="35" name="Text 32"/>
          <p:cNvSpPr txBox="1"/>
          <p:nvPr/>
        </p:nvSpPr>
        <p:spPr>
          <a:xfrm>
            <a:off x="594360" y="3127248"/>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where are you from?</a:t>
            </a:r>
            <a:endParaRPr lang="en-US" sz="1350" dirty="0"/>
          </a:p>
          <a:p>
            <a:pPr indent="0" marL="0">
              <a:buNone/>
            </a:pPr>
            <a:r>
              <a:rPr lang="en-US" sz="1100" i="1" dirty="0">
                <a:solidFill>
                  <a:srgbClr val="5A6472"/>
                </a:solidFill>
                <a:latin typeface="Calibri" pitchFamily="34" charset="0"/>
                <a:cs typeface="Amiri" pitchFamily="2" charset="-78"/>
              </a:rPr>
              <a:t>min ay-na an-ta?</a:t>
            </a:r>
            <a:endParaRPr lang="en-US" sz="1350" dirty="0"/>
          </a:p>
        </p:txBody>
      </p:sp>
      <p:sp>
        <p:nvSpPr>
          <p:cNvPr id="36" name="Shape 33"/>
          <p:cNvSpPr/>
          <p:nvPr/>
        </p:nvSpPr>
        <p:spPr>
          <a:xfrm>
            <a:off x="8101584" y="4151376"/>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7" name="Shape 34"/>
          <p:cNvSpPr/>
          <p:nvPr/>
        </p:nvSpPr>
        <p:spPr>
          <a:xfrm>
            <a:off x="8211312" y="4261104"/>
            <a:ext cx="310896" cy="310896"/>
          </a:xfrm>
          <a:prstGeom prst="ellipse">
            <a:avLst/>
          </a:prstGeom>
          <a:solidFill>
            <a:srgbClr val="F4F1EA"/>
          </a:solidFill>
          <a:ln w="12700">
            <a:solidFill>
              <a:srgbClr val="F4F1EA"/>
            </a:solidFill>
            <a:prstDash val="solid"/>
          </a:ln>
        </p:spPr>
      </p:sp>
      <p:sp>
        <p:nvSpPr>
          <p:cNvPr id="38" name="Text 35"/>
          <p:cNvSpPr txBox="1"/>
          <p:nvPr/>
        </p:nvSpPr>
        <p:spPr>
          <a:xfrm>
            <a:off x="8211312" y="4261104"/>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10</a:t>
            </a:r>
            <a:endParaRPr lang="en-US" sz="1000" dirty="0"/>
          </a:p>
        </p:txBody>
      </p:sp>
      <p:sp>
        <p:nvSpPr>
          <p:cNvPr id="39" name="Shape 36"/>
          <p:cNvSpPr/>
          <p:nvPr/>
        </p:nvSpPr>
        <p:spPr>
          <a:xfrm>
            <a:off x="10872216" y="4279392"/>
            <a:ext cx="731520" cy="256032"/>
          </a:xfrm>
          <a:prstGeom prst="roundRect">
            <a:avLst>
              <a:gd name="adj" fmla="val 50000"/>
            </a:avLst>
          </a:prstGeom>
          <a:solidFill>
            <a:srgbClr val="2E8B57"/>
          </a:solidFill>
          <a:ln w="12700">
            <a:solidFill>
              <a:srgbClr val="2E8B57"/>
            </a:solidFill>
            <a:prstDash val="solid"/>
          </a:ln>
        </p:spPr>
      </p:sp>
      <p:sp>
        <p:nvSpPr>
          <p:cNvPr id="40" name="Text 37"/>
          <p:cNvSpPr txBox="1"/>
          <p:nvPr/>
        </p:nvSpPr>
        <p:spPr>
          <a:xfrm>
            <a:off x="10872216" y="4279392"/>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41" name="Text 38"/>
          <p:cNvSpPr txBox="1"/>
          <p:nvPr/>
        </p:nvSpPr>
        <p:spPr>
          <a:xfrm>
            <a:off x="8211312" y="4553712"/>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اسْمُهُ · اسْمُهَا</a:t>
            </a:r>
            <a:endParaRPr lang="ar-SA" sz="3000" dirty="0"/>
          </a:p>
        </p:txBody>
      </p:sp>
      <p:sp>
        <p:nvSpPr>
          <p:cNvPr id="42" name="Text 39"/>
          <p:cNvSpPr txBox="1"/>
          <p:nvPr/>
        </p:nvSpPr>
        <p:spPr>
          <a:xfrm>
            <a:off x="8238744" y="546811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his name · her name</a:t>
            </a:r>
            <a:endParaRPr lang="en-US" sz="1350" dirty="0"/>
          </a:p>
          <a:p>
            <a:pPr indent="0" marL="0">
              <a:buNone/>
            </a:pPr>
            <a:r>
              <a:rPr lang="en-US" sz="1100" i="1" dirty="0">
                <a:solidFill>
                  <a:srgbClr val="5A6472"/>
                </a:solidFill>
                <a:latin typeface="Calibri" pitchFamily="34" charset="0"/>
                <a:cs typeface="Amiri" pitchFamily="2" charset="-78"/>
              </a:rPr>
              <a:t>as-mu-hu · as-mu-hā</a:t>
            </a:r>
            <a:endParaRPr lang="en-US" sz="1350" dirty="0"/>
          </a:p>
        </p:txBody>
      </p:sp>
      <p:sp>
        <p:nvSpPr>
          <p:cNvPr id="43" name="Shape 40"/>
          <p:cNvSpPr/>
          <p:nvPr/>
        </p:nvSpPr>
        <p:spPr>
          <a:xfrm>
            <a:off x="4279392" y="4151376"/>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4" name="Shape 41"/>
          <p:cNvSpPr/>
          <p:nvPr/>
        </p:nvSpPr>
        <p:spPr>
          <a:xfrm>
            <a:off x="4389120" y="4261104"/>
            <a:ext cx="310896" cy="310896"/>
          </a:xfrm>
          <a:prstGeom prst="ellipse">
            <a:avLst/>
          </a:prstGeom>
          <a:solidFill>
            <a:srgbClr val="F4F1EA"/>
          </a:solidFill>
          <a:ln w="12700">
            <a:solidFill>
              <a:srgbClr val="F4F1EA"/>
            </a:solidFill>
            <a:prstDash val="solid"/>
          </a:ln>
        </p:spPr>
      </p:sp>
      <p:sp>
        <p:nvSpPr>
          <p:cNvPr id="45" name="Text 42"/>
          <p:cNvSpPr txBox="1"/>
          <p:nvPr/>
        </p:nvSpPr>
        <p:spPr>
          <a:xfrm>
            <a:off x="4389120" y="4261104"/>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11</a:t>
            </a:r>
            <a:endParaRPr lang="en-US" sz="1000" dirty="0"/>
          </a:p>
        </p:txBody>
      </p:sp>
      <p:sp>
        <p:nvSpPr>
          <p:cNvPr id="46" name="Shape 43"/>
          <p:cNvSpPr/>
          <p:nvPr/>
        </p:nvSpPr>
        <p:spPr>
          <a:xfrm>
            <a:off x="7050024" y="4279392"/>
            <a:ext cx="731520" cy="256032"/>
          </a:xfrm>
          <a:prstGeom prst="roundRect">
            <a:avLst>
              <a:gd name="adj" fmla="val 50000"/>
            </a:avLst>
          </a:prstGeom>
          <a:solidFill>
            <a:srgbClr val="2E8B57"/>
          </a:solidFill>
          <a:ln w="12700">
            <a:solidFill>
              <a:srgbClr val="2E8B57"/>
            </a:solidFill>
            <a:prstDash val="solid"/>
          </a:ln>
        </p:spPr>
      </p:sp>
      <p:sp>
        <p:nvSpPr>
          <p:cNvPr id="47" name="Text 44"/>
          <p:cNvSpPr txBox="1"/>
          <p:nvPr/>
        </p:nvSpPr>
        <p:spPr>
          <a:xfrm>
            <a:off x="7050024" y="4279392"/>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48" name="Text 45"/>
          <p:cNvSpPr txBox="1"/>
          <p:nvPr/>
        </p:nvSpPr>
        <p:spPr>
          <a:xfrm>
            <a:off x="4389120" y="4553712"/>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أَسْكُنُ فِي …</a:t>
            </a:r>
            <a:endParaRPr lang="ar-SA" sz="3000" dirty="0"/>
          </a:p>
        </p:txBody>
      </p:sp>
      <p:sp>
        <p:nvSpPr>
          <p:cNvPr id="49" name="Text 46"/>
          <p:cNvSpPr txBox="1"/>
          <p:nvPr/>
        </p:nvSpPr>
        <p:spPr>
          <a:xfrm>
            <a:off x="4416552" y="546811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I live in …</a:t>
            </a:r>
            <a:endParaRPr lang="en-US" sz="1350" dirty="0"/>
          </a:p>
          <a:p>
            <a:pPr indent="0" marL="0">
              <a:buNone/>
            </a:pPr>
            <a:r>
              <a:rPr lang="en-US" sz="1100" i="1" dirty="0">
                <a:solidFill>
                  <a:srgbClr val="5A6472"/>
                </a:solidFill>
                <a:latin typeface="Calibri" pitchFamily="34" charset="0"/>
                <a:cs typeface="Amiri" pitchFamily="2" charset="-78"/>
              </a:rPr>
              <a:t>as-ku-nu fī …</a:t>
            </a:r>
            <a:endParaRPr lang="en-US" sz="1350" dirty="0"/>
          </a:p>
        </p:txBody>
      </p:sp>
      <p:sp>
        <p:nvSpPr>
          <p:cNvPr id="50" name="Shape 47"/>
          <p:cNvSpPr/>
          <p:nvPr/>
        </p:nvSpPr>
        <p:spPr>
          <a:xfrm>
            <a:off x="457200" y="4151376"/>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51" name="Shape 48"/>
          <p:cNvSpPr/>
          <p:nvPr/>
        </p:nvSpPr>
        <p:spPr>
          <a:xfrm>
            <a:off x="566928" y="4261104"/>
            <a:ext cx="310896" cy="310896"/>
          </a:xfrm>
          <a:prstGeom prst="ellipse">
            <a:avLst/>
          </a:prstGeom>
          <a:solidFill>
            <a:srgbClr val="F4F1EA"/>
          </a:solidFill>
          <a:ln w="12700">
            <a:solidFill>
              <a:srgbClr val="F4F1EA"/>
            </a:solidFill>
            <a:prstDash val="solid"/>
          </a:ln>
        </p:spPr>
      </p:sp>
      <p:sp>
        <p:nvSpPr>
          <p:cNvPr id="52" name="Text 49"/>
          <p:cNvSpPr txBox="1"/>
          <p:nvPr/>
        </p:nvSpPr>
        <p:spPr>
          <a:xfrm>
            <a:off x="566928" y="4261104"/>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12</a:t>
            </a:r>
            <a:endParaRPr lang="en-US" sz="1000" dirty="0"/>
          </a:p>
        </p:txBody>
      </p:sp>
      <p:sp>
        <p:nvSpPr>
          <p:cNvPr id="53" name="Shape 50"/>
          <p:cNvSpPr/>
          <p:nvPr/>
        </p:nvSpPr>
        <p:spPr>
          <a:xfrm>
            <a:off x="3227832" y="4279392"/>
            <a:ext cx="731520" cy="256032"/>
          </a:xfrm>
          <a:prstGeom prst="roundRect">
            <a:avLst>
              <a:gd name="adj" fmla="val 50000"/>
            </a:avLst>
          </a:prstGeom>
          <a:solidFill>
            <a:srgbClr val="2E8B57"/>
          </a:solidFill>
          <a:ln w="12700">
            <a:solidFill>
              <a:srgbClr val="2E8B57"/>
            </a:solidFill>
            <a:prstDash val="solid"/>
          </a:ln>
        </p:spPr>
      </p:sp>
      <p:sp>
        <p:nvSpPr>
          <p:cNvPr id="54" name="Text 51"/>
          <p:cNvSpPr txBox="1"/>
          <p:nvPr/>
        </p:nvSpPr>
        <p:spPr>
          <a:xfrm>
            <a:off x="3227832" y="4279392"/>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55" name="Text 52"/>
          <p:cNvSpPr txBox="1"/>
          <p:nvPr/>
        </p:nvSpPr>
        <p:spPr>
          <a:xfrm>
            <a:off x="566928" y="4553712"/>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بِرِيطَانِيٌّ · بِرِيطَانِيَّةٌ</a:t>
            </a:r>
            <a:endParaRPr lang="ar-SA" sz="3000" dirty="0"/>
          </a:p>
        </p:txBody>
      </p:sp>
      <p:sp>
        <p:nvSpPr>
          <p:cNvPr id="56" name="Text 53"/>
          <p:cNvSpPr txBox="1"/>
          <p:nvPr/>
        </p:nvSpPr>
        <p:spPr>
          <a:xfrm>
            <a:off x="594360" y="546811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British (m. · f.)</a:t>
            </a:r>
            <a:endParaRPr lang="en-US" sz="1350" dirty="0"/>
          </a:p>
          <a:p>
            <a:pPr indent="0" marL="0">
              <a:buNone/>
            </a:pPr>
            <a:r>
              <a:rPr lang="en-US" sz="1100" i="1" dirty="0">
                <a:solidFill>
                  <a:srgbClr val="5A6472"/>
                </a:solidFill>
                <a:latin typeface="Calibri" pitchFamily="34" charset="0"/>
                <a:cs typeface="Amiri" pitchFamily="2" charset="-78"/>
              </a:rPr>
              <a:t>bi-rī-ṭā-niy-yun · bi-rī-ṭā-niy-ya-tun</a:t>
            </a:r>
            <a:endParaRPr lang="en-US" sz="1350" dirty="0"/>
          </a:p>
        </p:txBody>
      </p:sp>
      <p:sp>
        <p:nvSpPr>
          <p:cNvPr id="57" name="Text 54"/>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7 / 24</a:t>
            </a:r>
            <a:endParaRPr lang="en-US" sz="8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F2-W06 · Apply workshop</a:t>
            </a:r>
            <a:endParaRPr lang="en-US" sz="950" dirty="0"/>
          </a:p>
        </p:txBody>
      </p:sp>
      <p:sp>
        <p:nvSpPr>
          <p:cNvPr id="8" name="Shape 6"/>
          <p:cNvSpPr/>
          <p:nvPr/>
        </p:nvSpPr>
        <p:spPr>
          <a:xfrm>
            <a:off x="7370978" y="274320"/>
            <a:ext cx="1388974"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70978" y="274320"/>
            <a:ext cx="138897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 · 4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cs typeface="Amiri" pitchFamily="2" charset="-78"/>
              </a:rPr>
              <a:t>PART 1 · STEP 2 · SORT IT · READ EACH CARD, THEN SORT IT</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Question or answer?</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صَنِّفِ البِطَاقَاتِ</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F2 · Greetings &amp; Introductions · F2-W06 · Apply workshop (F2-L11 + F2-L12)</a:t>
            </a:r>
            <a:endParaRPr lang="en-US" sz="850" dirty="0"/>
          </a:p>
        </p:txBody>
      </p:sp>
      <p:sp>
        <p:nvSpPr>
          <p:cNvPr id="15" name="Shape 12"/>
          <p:cNvSpPr/>
          <p:nvPr/>
        </p:nvSpPr>
        <p:spPr>
          <a:xfrm>
            <a:off x="9015984" y="1810512"/>
            <a:ext cx="2715768" cy="438912"/>
          </a:xfrm>
          <a:prstGeom prst="roundRect">
            <a:avLst>
              <a:gd name="adj" fmla="val 12500"/>
            </a:avLst>
          </a:prstGeom>
          <a:solidFill>
            <a:srgbClr val="FFF4DC"/>
          </a:solidFill>
          <a:ln w="9525">
            <a:solidFill>
              <a:srgbClr val="E6C98A"/>
            </a:solidFill>
            <a:prstDash val="solid"/>
          </a:ln>
          <a:effectLst>
            <a:outerShdw sx="100000" sy="100000" kx="0" ky="0" algn="bl" rotWithShape="0" blurRad="50800" dist="19050" dir="5400000">
              <a:srgbClr val="000000">
                <a:alpha val="10000"/>
              </a:srgbClr>
            </a:outerShdw>
          </a:effectLst>
        </p:spPr>
      </p:sp>
      <p:sp>
        <p:nvSpPr>
          <p:cNvPr id="16" name="Text 13"/>
          <p:cNvSpPr txBox="1"/>
          <p:nvPr/>
        </p:nvSpPr>
        <p:spPr>
          <a:xfrm>
            <a:off x="9107424" y="1810512"/>
            <a:ext cx="2532888"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مَا اسْمُكِ؟</a:t>
            </a:r>
            <a:endParaRPr lang="ar-SA" sz="1800" dirty="0"/>
          </a:p>
        </p:txBody>
      </p:sp>
      <p:sp>
        <p:nvSpPr>
          <p:cNvPr id="17" name="Shape 14"/>
          <p:cNvSpPr/>
          <p:nvPr/>
        </p:nvSpPr>
        <p:spPr>
          <a:xfrm>
            <a:off x="6163056" y="1810512"/>
            <a:ext cx="2715768" cy="438912"/>
          </a:xfrm>
          <a:prstGeom prst="roundRect">
            <a:avLst>
              <a:gd name="adj" fmla="val 12500"/>
            </a:avLst>
          </a:prstGeom>
          <a:solidFill>
            <a:srgbClr val="FFF4DC"/>
          </a:solidFill>
          <a:ln w="9525">
            <a:solidFill>
              <a:srgbClr val="E6C98A"/>
            </a:solidFill>
            <a:prstDash val="solid"/>
          </a:ln>
          <a:effectLst>
            <a:outerShdw sx="100000" sy="100000" kx="0" ky="0" algn="bl" rotWithShape="0" blurRad="50800" dist="19050" dir="5400000">
              <a:srgbClr val="000000">
                <a:alpha val="10000"/>
              </a:srgbClr>
            </a:outerShdw>
          </a:effectLst>
        </p:spPr>
      </p:sp>
      <p:sp>
        <p:nvSpPr>
          <p:cNvPr id="18" name="Text 15"/>
          <p:cNvSpPr txBox="1"/>
          <p:nvPr/>
        </p:nvSpPr>
        <p:spPr>
          <a:xfrm>
            <a:off x="6254496" y="1810512"/>
            <a:ext cx="2532888"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عُمْرِي أَرْبَعَ عَشْرَةَ سَنَةً</a:t>
            </a:r>
            <a:endParaRPr lang="ar-SA" sz="1800" dirty="0"/>
          </a:p>
        </p:txBody>
      </p:sp>
      <p:sp>
        <p:nvSpPr>
          <p:cNvPr id="19" name="Shape 16"/>
          <p:cNvSpPr/>
          <p:nvPr/>
        </p:nvSpPr>
        <p:spPr>
          <a:xfrm>
            <a:off x="3310128" y="1810512"/>
            <a:ext cx="2715768" cy="438912"/>
          </a:xfrm>
          <a:prstGeom prst="roundRect">
            <a:avLst>
              <a:gd name="adj" fmla="val 12500"/>
            </a:avLst>
          </a:prstGeom>
          <a:solidFill>
            <a:srgbClr val="FFF4DC"/>
          </a:solidFill>
          <a:ln w="9525">
            <a:solidFill>
              <a:srgbClr val="E6C98A"/>
            </a:solidFill>
            <a:prstDash val="solid"/>
          </a:ln>
          <a:effectLst>
            <a:outerShdw sx="100000" sy="100000" kx="0" ky="0" algn="bl" rotWithShape="0" blurRad="50800" dist="19050" dir="5400000">
              <a:srgbClr val="000000">
                <a:alpha val="10000"/>
              </a:srgbClr>
            </a:outerShdw>
          </a:effectLst>
        </p:spPr>
      </p:sp>
      <p:sp>
        <p:nvSpPr>
          <p:cNvPr id="20" name="Text 17"/>
          <p:cNvSpPr txBox="1"/>
          <p:nvPr/>
        </p:nvSpPr>
        <p:spPr>
          <a:xfrm>
            <a:off x="3401568" y="1810512"/>
            <a:ext cx="2532888"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أَنَا مِنْ لِيبِيَا</a:t>
            </a:r>
            <a:endParaRPr lang="ar-SA" sz="1800" dirty="0"/>
          </a:p>
        </p:txBody>
      </p:sp>
      <p:sp>
        <p:nvSpPr>
          <p:cNvPr id="21" name="Shape 18"/>
          <p:cNvSpPr/>
          <p:nvPr/>
        </p:nvSpPr>
        <p:spPr>
          <a:xfrm>
            <a:off x="457200" y="1810512"/>
            <a:ext cx="2715768" cy="438912"/>
          </a:xfrm>
          <a:prstGeom prst="roundRect">
            <a:avLst>
              <a:gd name="adj" fmla="val 12500"/>
            </a:avLst>
          </a:prstGeom>
          <a:solidFill>
            <a:srgbClr val="FFF4DC"/>
          </a:solidFill>
          <a:ln w="9525">
            <a:solidFill>
              <a:srgbClr val="E6C98A"/>
            </a:solidFill>
            <a:prstDash val="solid"/>
          </a:ln>
          <a:effectLst>
            <a:outerShdw sx="100000" sy="100000" kx="0" ky="0" algn="bl" rotWithShape="0" blurRad="50800" dist="19050" dir="5400000">
              <a:srgbClr val="000000">
                <a:alpha val="10000"/>
              </a:srgbClr>
            </a:outerShdw>
          </a:effectLst>
        </p:spPr>
      </p:sp>
      <p:sp>
        <p:nvSpPr>
          <p:cNvPr id="22" name="Text 19"/>
          <p:cNvSpPr txBox="1"/>
          <p:nvPr/>
        </p:nvSpPr>
        <p:spPr>
          <a:xfrm>
            <a:off x="548640" y="1810512"/>
            <a:ext cx="2532888"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كَمْ عُمْرُكَ؟</a:t>
            </a:r>
            <a:endParaRPr lang="ar-SA" sz="1800" dirty="0"/>
          </a:p>
        </p:txBody>
      </p:sp>
      <p:sp>
        <p:nvSpPr>
          <p:cNvPr id="23" name="Shape 20"/>
          <p:cNvSpPr/>
          <p:nvPr/>
        </p:nvSpPr>
        <p:spPr>
          <a:xfrm>
            <a:off x="9015984" y="2322576"/>
            <a:ext cx="2715768" cy="438912"/>
          </a:xfrm>
          <a:prstGeom prst="roundRect">
            <a:avLst>
              <a:gd name="adj" fmla="val 12500"/>
            </a:avLst>
          </a:prstGeom>
          <a:solidFill>
            <a:srgbClr val="FFF4DC"/>
          </a:solidFill>
          <a:ln w="9525">
            <a:solidFill>
              <a:srgbClr val="E6C98A"/>
            </a:solidFill>
            <a:prstDash val="solid"/>
          </a:ln>
          <a:effectLst>
            <a:outerShdw sx="100000" sy="100000" kx="0" ky="0" algn="bl" rotWithShape="0" blurRad="50800" dist="19050" dir="5400000">
              <a:srgbClr val="000000">
                <a:alpha val="10000"/>
              </a:srgbClr>
            </a:outerShdw>
          </a:effectLst>
        </p:spPr>
      </p:sp>
      <p:sp>
        <p:nvSpPr>
          <p:cNvPr id="24" name="Text 21"/>
          <p:cNvSpPr txBox="1"/>
          <p:nvPr/>
        </p:nvSpPr>
        <p:spPr>
          <a:xfrm>
            <a:off x="9107424" y="2322576"/>
            <a:ext cx="2532888"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مِنْ أَيْنَ أَنْتَ؟</a:t>
            </a:r>
            <a:endParaRPr lang="ar-SA" sz="1800" dirty="0"/>
          </a:p>
        </p:txBody>
      </p:sp>
      <p:sp>
        <p:nvSpPr>
          <p:cNvPr id="25" name="Shape 22"/>
          <p:cNvSpPr/>
          <p:nvPr/>
        </p:nvSpPr>
        <p:spPr>
          <a:xfrm>
            <a:off x="6163056" y="2322576"/>
            <a:ext cx="2715768" cy="438912"/>
          </a:xfrm>
          <a:prstGeom prst="roundRect">
            <a:avLst>
              <a:gd name="adj" fmla="val 12500"/>
            </a:avLst>
          </a:prstGeom>
          <a:solidFill>
            <a:srgbClr val="FFF4DC"/>
          </a:solidFill>
          <a:ln w="9525">
            <a:solidFill>
              <a:srgbClr val="E6C98A"/>
            </a:solidFill>
            <a:prstDash val="solid"/>
          </a:ln>
          <a:effectLst>
            <a:outerShdw sx="100000" sy="100000" kx="0" ky="0" algn="bl" rotWithShape="0" blurRad="50800" dist="19050" dir="5400000">
              <a:srgbClr val="000000">
                <a:alpha val="10000"/>
              </a:srgbClr>
            </a:outerShdw>
          </a:effectLst>
        </p:spPr>
      </p:sp>
      <p:sp>
        <p:nvSpPr>
          <p:cNvPr id="26" name="Text 23"/>
          <p:cNvSpPr txBox="1"/>
          <p:nvPr/>
        </p:nvSpPr>
        <p:spPr>
          <a:xfrm>
            <a:off x="6254496" y="2322576"/>
            <a:ext cx="2532888"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أَتَكَلَّمُ العَرَبِيَّةَ أَيْضًا</a:t>
            </a:r>
            <a:endParaRPr lang="ar-SA" sz="1800" dirty="0"/>
          </a:p>
        </p:txBody>
      </p:sp>
      <p:sp>
        <p:nvSpPr>
          <p:cNvPr id="27" name="Shape 24"/>
          <p:cNvSpPr/>
          <p:nvPr/>
        </p:nvSpPr>
        <p:spPr>
          <a:xfrm>
            <a:off x="3310128" y="2322576"/>
            <a:ext cx="2715768" cy="438912"/>
          </a:xfrm>
          <a:prstGeom prst="roundRect">
            <a:avLst>
              <a:gd name="adj" fmla="val 12500"/>
            </a:avLst>
          </a:prstGeom>
          <a:solidFill>
            <a:srgbClr val="FFF4DC"/>
          </a:solidFill>
          <a:ln w="9525">
            <a:solidFill>
              <a:srgbClr val="E6C98A"/>
            </a:solidFill>
            <a:prstDash val="solid"/>
          </a:ln>
          <a:effectLst>
            <a:outerShdw sx="100000" sy="100000" kx="0" ky="0" algn="bl" rotWithShape="0" blurRad="50800" dist="19050" dir="5400000">
              <a:srgbClr val="000000">
                <a:alpha val="10000"/>
              </a:srgbClr>
            </a:outerShdw>
          </a:effectLst>
        </p:spPr>
      </p:sp>
      <p:sp>
        <p:nvSpPr>
          <p:cNvPr id="28" name="Text 25"/>
          <p:cNvSpPr txBox="1"/>
          <p:nvPr/>
        </p:nvSpPr>
        <p:spPr>
          <a:xfrm>
            <a:off x="3401568" y="2322576"/>
            <a:ext cx="2532888"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اسْمِي هِنْدٌ</a:t>
            </a:r>
            <a:endParaRPr lang="ar-SA" sz="1800" dirty="0"/>
          </a:p>
        </p:txBody>
      </p:sp>
      <p:sp>
        <p:nvSpPr>
          <p:cNvPr id="29" name="Shape 26"/>
          <p:cNvSpPr/>
          <p:nvPr/>
        </p:nvSpPr>
        <p:spPr>
          <a:xfrm>
            <a:off x="457200" y="2322576"/>
            <a:ext cx="2715768" cy="438912"/>
          </a:xfrm>
          <a:prstGeom prst="roundRect">
            <a:avLst>
              <a:gd name="adj" fmla="val 12500"/>
            </a:avLst>
          </a:prstGeom>
          <a:solidFill>
            <a:srgbClr val="FFF4DC"/>
          </a:solidFill>
          <a:ln w="9525">
            <a:solidFill>
              <a:srgbClr val="E6C98A"/>
            </a:solidFill>
            <a:prstDash val="solid"/>
          </a:ln>
          <a:effectLst>
            <a:outerShdw sx="100000" sy="100000" kx="0" ky="0" algn="bl" rotWithShape="0" blurRad="50800" dist="19050" dir="5400000">
              <a:srgbClr val="000000">
                <a:alpha val="10000"/>
              </a:srgbClr>
            </a:outerShdw>
          </a:effectLst>
        </p:spPr>
      </p:sp>
      <p:sp>
        <p:nvSpPr>
          <p:cNvPr id="30" name="Text 27"/>
          <p:cNvSpPr txBox="1"/>
          <p:nvPr/>
        </p:nvSpPr>
        <p:spPr>
          <a:xfrm>
            <a:off x="548640" y="2322576"/>
            <a:ext cx="2532888"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أَيَّ لُغَاتٍ تَتَكَلَّمُ؟</a:t>
            </a:r>
            <a:endParaRPr lang="ar-SA" sz="1800" dirty="0"/>
          </a:p>
        </p:txBody>
      </p:sp>
      <p:sp>
        <p:nvSpPr>
          <p:cNvPr id="31" name="Shape 28"/>
          <p:cNvSpPr/>
          <p:nvPr/>
        </p:nvSpPr>
        <p:spPr>
          <a:xfrm>
            <a:off x="6185916" y="3017520"/>
            <a:ext cx="5545836" cy="3291840"/>
          </a:xfrm>
          <a:prstGeom prst="roundRect">
            <a:avLst>
              <a:gd name="adj" fmla="val 2222"/>
            </a:avLst>
          </a:prstGeom>
          <a:solidFill>
            <a:srgbClr val="EEF3FA"/>
          </a:solidFill>
          <a:ln w="9525">
            <a:solidFill>
              <a:srgbClr val="C9D6EA"/>
            </a:solidFill>
            <a:prstDash val="solid"/>
          </a:ln>
        </p:spPr>
      </p:sp>
      <p:sp>
        <p:nvSpPr>
          <p:cNvPr id="32" name="Shape 29"/>
          <p:cNvSpPr/>
          <p:nvPr/>
        </p:nvSpPr>
        <p:spPr>
          <a:xfrm>
            <a:off x="6323076" y="3127248"/>
            <a:ext cx="5271516" cy="310896"/>
          </a:xfrm>
          <a:prstGeom prst="roundRect">
            <a:avLst>
              <a:gd name="adj" fmla="val 50000"/>
            </a:avLst>
          </a:prstGeom>
          <a:solidFill>
            <a:srgbClr val="2F6FB0"/>
          </a:solidFill>
          <a:ln w="12700">
            <a:solidFill>
              <a:srgbClr val="2F6FB0"/>
            </a:solidFill>
            <a:prstDash val="solid"/>
          </a:ln>
        </p:spPr>
      </p:sp>
      <p:sp>
        <p:nvSpPr>
          <p:cNvPr id="33" name="Text 30"/>
          <p:cNvSpPr txBox="1"/>
          <p:nvPr/>
        </p:nvSpPr>
        <p:spPr>
          <a:xfrm>
            <a:off x="6323076" y="3127248"/>
            <a:ext cx="5271516" cy="310896"/>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cs typeface="Amiri" pitchFamily="2" charset="-78"/>
              </a:rPr>
              <a:t>1 · Questions — you ASK</a:t>
            </a:r>
            <a:endParaRPr lang="en-US" sz="950" dirty="0"/>
          </a:p>
        </p:txBody>
      </p:sp>
      <p:sp>
        <p:nvSpPr>
          <p:cNvPr id="34" name="Shape 31"/>
          <p:cNvSpPr/>
          <p:nvPr/>
        </p:nvSpPr>
        <p:spPr>
          <a:xfrm>
            <a:off x="457200" y="3017520"/>
            <a:ext cx="5545836" cy="3291840"/>
          </a:xfrm>
          <a:prstGeom prst="roundRect">
            <a:avLst>
              <a:gd name="adj" fmla="val 2222"/>
            </a:avLst>
          </a:prstGeom>
          <a:solidFill>
            <a:srgbClr val="EEF3FA"/>
          </a:solidFill>
          <a:ln w="9525">
            <a:solidFill>
              <a:srgbClr val="C9D6EA"/>
            </a:solidFill>
            <a:prstDash val="solid"/>
          </a:ln>
        </p:spPr>
      </p:sp>
      <p:sp>
        <p:nvSpPr>
          <p:cNvPr id="35" name="Shape 32"/>
          <p:cNvSpPr/>
          <p:nvPr/>
        </p:nvSpPr>
        <p:spPr>
          <a:xfrm>
            <a:off x="594360" y="3127248"/>
            <a:ext cx="5271516" cy="310896"/>
          </a:xfrm>
          <a:prstGeom prst="roundRect">
            <a:avLst>
              <a:gd name="adj" fmla="val 50000"/>
            </a:avLst>
          </a:prstGeom>
          <a:solidFill>
            <a:srgbClr val="2F6FB0"/>
          </a:solidFill>
          <a:ln w="12700">
            <a:solidFill>
              <a:srgbClr val="2F6FB0"/>
            </a:solidFill>
            <a:prstDash val="solid"/>
          </a:ln>
        </p:spPr>
      </p:sp>
      <p:sp>
        <p:nvSpPr>
          <p:cNvPr id="36" name="Text 33"/>
          <p:cNvSpPr txBox="1"/>
          <p:nvPr/>
        </p:nvSpPr>
        <p:spPr>
          <a:xfrm>
            <a:off x="594360" y="3127248"/>
            <a:ext cx="5271516" cy="310896"/>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cs typeface="Amiri" pitchFamily="2" charset="-78"/>
              </a:rPr>
              <a:t>2 · Answers — you TELL</a:t>
            </a:r>
            <a:endParaRPr lang="en-US" sz="950" dirty="0"/>
          </a:p>
        </p:txBody>
      </p:sp>
      <p:sp>
        <p:nvSpPr>
          <p:cNvPr id="37" name="Text 34"/>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8 / 24</a:t>
            </a:r>
            <a:endParaRPr lang="en-US" sz="8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F2-W06 · Apply workshop</a:t>
            </a:r>
            <a:endParaRPr lang="en-US" sz="950" dirty="0"/>
          </a:p>
        </p:txBody>
      </p:sp>
      <p:sp>
        <p:nvSpPr>
          <p:cNvPr id="8" name="Shape 6"/>
          <p:cNvSpPr/>
          <p:nvPr/>
        </p:nvSpPr>
        <p:spPr>
          <a:xfrm>
            <a:off x="7143293" y="274320"/>
            <a:ext cx="1616659" cy="329184"/>
          </a:xfrm>
          <a:prstGeom prst="roundRect">
            <a:avLst>
              <a:gd name="adj" fmla="val 50000"/>
            </a:avLst>
          </a:prstGeom>
          <a:solidFill>
            <a:srgbClr val="8A6D1E"/>
          </a:solidFill>
          <a:ln w="12700">
            <a:solidFill>
              <a:srgbClr val="8A6D1E"/>
            </a:solidFill>
            <a:prstDash val="solid"/>
          </a:ln>
        </p:spPr>
      </p:sp>
      <p:sp>
        <p:nvSpPr>
          <p:cNvPr id="9" name="Text 7"/>
          <p:cNvSpPr txBox="1"/>
          <p:nvPr/>
        </p:nvSpPr>
        <p:spPr>
          <a:xfrm>
            <a:off x="7143293" y="274320"/>
            <a:ext cx="161665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FEEDBACK · 1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8A6D1E"/>
                </a:solidFill>
                <a:latin typeface="Calibri" pitchFamily="34" charset="0"/>
                <a:cs typeface="Amiri" pitchFamily="2" charset="-78"/>
              </a:rPr>
              <a:t>STEP 2 · ANSWERS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Sort: answers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صَنِّفِ البِطَاقَاتِ</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F2 · Greetings &amp; Introductions · F2-W06 · Apply workshop (F2-L11 + F2-L12)</a:t>
            </a:r>
            <a:endParaRPr lang="en-US" sz="850" dirty="0"/>
          </a:p>
        </p:txBody>
      </p:sp>
      <p:sp>
        <p:nvSpPr>
          <p:cNvPr id="15" name="Shape 12"/>
          <p:cNvSpPr/>
          <p:nvPr/>
        </p:nvSpPr>
        <p:spPr>
          <a:xfrm>
            <a:off x="6185916" y="1810512"/>
            <a:ext cx="5545836" cy="4498848"/>
          </a:xfrm>
          <a:prstGeom prst="roundRect">
            <a:avLst>
              <a:gd name="adj" fmla="val 1626"/>
            </a:avLst>
          </a:prstGeom>
          <a:solidFill>
            <a:srgbClr val="EEF3FA"/>
          </a:solidFill>
          <a:ln w="9525">
            <a:solidFill>
              <a:srgbClr val="C9D6EA"/>
            </a:solidFill>
            <a:prstDash val="solid"/>
          </a:ln>
        </p:spPr>
      </p:sp>
      <p:sp>
        <p:nvSpPr>
          <p:cNvPr id="16" name="Shape 13"/>
          <p:cNvSpPr/>
          <p:nvPr/>
        </p:nvSpPr>
        <p:spPr>
          <a:xfrm>
            <a:off x="6323076" y="1920240"/>
            <a:ext cx="5271516" cy="310896"/>
          </a:xfrm>
          <a:prstGeom prst="roundRect">
            <a:avLst>
              <a:gd name="adj" fmla="val 50000"/>
            </a:avLst>
          </a:prstGeom>
          <a:solidFill>
            <a:srgbClr val="2F6FB0"/>
          </a:solidFill>
          <a:ln w="12700">
            <a:solidFill>
              <a:srgbClr val="2F6FB0"/>
            </a:solidFill>
            <a:prstDash val="solid"/>
          </a:ln>
        </p:spPr>
      </p:sp>
      <p:sp>
        <p:nvSpPr>
          <p:cNvPr id="17" name="Text 14"/>
          <p:cNvSpPr txBox="1"/>
          <p:nvPr/>
        </p:nvSpPr>
        <p:spPr>
          <a:xfrm>
            <a:off x="6323076" y="1920240"/>
            <a:ext cx="5271516" cy="310896"/>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cs typeface="Amiri" pitchFamily="2" charset="-78"/>
              </a:rPr>
              <a:t>1 · Questions — you ASK</a:t>
            </a:r>
            <a:endParaRPr lang="en-US" sz="950" dirty="0"/>
          </a:p>
        </p:txBody>
      </p:sp>
      <p:sp>
        <p:nvSpPr>
          <p:cNvPr id="18" name="Shape 15"/>
          <p:cNvSpPr/>
          <p:nvPr/>
        </p:nvSpPr>
        <p:spPr>
          <a:xfrm>
            <a:off x="6323076" y="2377440"/>
            <a:ext cx="5271516" cy="438912"/>
          </a:xfrm>
          <a:prstGeom prst="roundRect">
            <a:avLst>
              <a:gd name="adj" fmla="val 12500"/>
            </a:avLst>
          </a:prstGeom>
          <a:solidFill>
            <a:srgbClr val="FFF4DC"/>
          </a:solidFill>
          <a:ln w="9525">
            <a:solidFill>
              <a:srgbClr val="E6C98A"/>
            </a:solidFill>
            <a:prstDash val="solid"/>
          </a:ln>
        </p:spPr>
      </p:sp>
      <p:sp>
        <p:nvSpPr>
          <p:cNvPr id="19" name="Text 16"/>
          <p:cNvSpPr txBox="1"/>
          <p:nvPr/>
        </p:nvSpPr>
        <p:spPr>
          <a:xfrm>
            <a:off x="6414516" y="2377440"/>
            <a:ext cx="5088636"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مَا اسْمُكِ؟</a:t>
            </a:r>
            <a:endParaRPr lang="ar-SA" sz="1800" dirty="0"/>
          </a:p>
        </p:txBody>
      </p:sp>
      <p:sp>
        <p:nvSpPr>
          <p:cNvPr id="20" name="Shape 17"/>
          <p:cNvSpPr/>
          <p:nvPr/>
        </p:nvSpPr>
        <p:spPr>
          <a:xfrm>
            <a:off x="6323076" y="2889504"/>
            <a:ext cx="5271516" cy="438912"/>
          </a:xfrm>
          <a:prstGeom prst="roundRect">
            <a:avLst>
              <a:gd name="adj" fmla="val 12500"/>
            </a:avLst>
          </a:prstGeom>
          <a:solidFill>
            <a:srgbClr val="FFF4DC"/>
          </a:solidFill>
          <a:ln w="9525">
            <a:solidFill>
              <a:srgbClr val="E6C98A"/>
            </a:solidFill>
            <a:prstDash val="solid"/>
          </a:ln>
        </p:spPr>
      </p:sp>
      <p:sp>
        <p:nvSpPr>
          <p:cNvPr id="21" name="Text 18"/>
          <p:cNvSpPr txBox="1"/>
          <p:nvPr/>
        </p:nvSpPr>
        <p:spPr>
          <a:xfrm>
            <a:off x="6414516" y="2889504"/>
            <a:ext cx="5088636"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كَمْ عُمْرُكَ؟</a:t>
            </a:r>
            <a:endParaRPr lang="ar-SA" sz="1800" dirty="0"/>
          </a:p>
        </p:txBody>
      </p:sp>
      <p:sp>
        <p:nvSpPr>
          <p:cNvPr id="22" name="Shape 19"/>
          <p:cNvSpPr/>
          <p:nvPr/>
        </p:nvSpPr>
        <p:spPr>
          <a:xfrm>
            <a:off x="6323076" y="3401568"/>
            <a:ext cx="5271516" cy="438912"/>
          </a:xfrm>
          <a:prstGeom prst="roundRect">
            <a:avLst>
              <a:gd name="adj" fmla="val 12500"/>
            </a:avLst>
          </a:prstGeom>
          <a:solidFill>
            <a:srgbClr val="FFF4DC"/>
          </a:solidFill>
          <a:ln w="9525">
            <a:solidFill>
              <a:srgbClr val="E6C98A"/>
            </a:solidFill>
            <a:prstDash val="solid"/>
          </a:ln>
        </p:spPr>
      </p:sp>
      <p:sp>
        <p:nvSpPr>
          <p:cNvPr id="23" name="Text 20"/>
          <p:cNvSpPr txBox="1"/>
          <p:nvPr/>
        </p:nvSpPr>
        <p:spPr>
          <a:xfrm>
            <a:off x="6414516" y="3401568"/>
            <a:ext cx="5088636"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مِنْ أَيْنَ أَنْتَ؟</a:t>
            </a:r>
            <a:endParaRPr lang="ar-SA" sz="1800" dirty="0"/>
          </a:p>
        </p:txBody>
      </p:sp>
      <p:sp>
        <p:nvSpPr>
          <p:cNvPr id="24" name="Shape 21"/>
          <p:cNvSpPr/>
          <p:nvPr/>
        </p:nvSpPr>
        <p:spPr>
          <a:xfrm>
            <a:off x="6323076" y="3913632"/>
            <a:ext cx="5271516" cy="438912"/>
          </a:xfrm>
          <a:prstGeom prst="roundRect">
            <a:avLst>
              <a:gd name="adj" fmla="val 12500"/>
            </a:avLst>
          </a:prstGeom>
          <a:solidFill>
            <a:srgbClr val="FFF4DC"/>
          </a:solidFill>
          <a:ln w="9525">
            <a:solidFill>
              <a:srgbClr val="E6C98A"/>
            </a:solidFill>
            <a:prstDash val="solid"/>
          </a:ln>
        </p:spPr>
      </p:sp>
      <p:sp>
        <p:nvSpPr>
          <p:cNvPr id="25" name="Text 22"/>
          <p:cNvSpPr txBox="1"/>
          <p:nvPr/>
        </p:nvSpPr>
        <p:spPr>
          <a:xfrm>
            <a:off x="6414516" y="3913632"/>
            <a:ext cx="5088636"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أَيَّ لُغَاتٍ تَتَكَلَّمُ؟</a:t>
            </a:r>
            <a:endParaRPr lang="ar-SA" sz="1800" dirty="0"/>
          </a:p>
        </p:txBody>
      </p:sp>
      <p:sp>
        <p:nvSpPr>
          <p:cNvPr id="26" name="Shape 23"/>
          <p:cNvSpPr/>
          <p:nvPr/>
        </p:nvSpPr>
        <p:spPr>
          <a:xfrm>
            <a:off x="457200" y="1810512"/>
            <a:ext cx="5545836" cy="4498848"/>
          </a:xfrm>
          <a:prstGeom prst="roundRect">
            <a:avLst>
              <a:gd name="adj" fmla="val 1626"/>
            </a:avLst>
          </a:prstGeom>
          <a:solidFill>
            <a:srgbClr val="EEF3FA"/>
          </a:solidFill>
          <a:ln w="9525">
            <a:solidFill>
              <a:srgbClr val="C9D6EA"/>
            </a:solidFill>
            <a:prstDash val="solid"/>
          </a:ln>
        </p:spPr>
      </p:sp>
      <p:sp>
        <p:nvSpPr>
          <p:cNvPr id="27" name="Shape 24"/>
          <p:cNvSpPr/>
          <p:nvPr/>
        </p:nvSpPr>
        <p:spPr>
          <a:xfrm>
            <a:off x="594360" y="1920240"/>
            <a:ext cx="5271516" cy="310896"/>
          </a:xfrm>
          <a:prstGeom prst="roundRect">
            <a:avLst>
              <a:gd name="adj" fmla="val 50000"/>
            </a:avLst>
          </a:prstGeom>
          <a:solidFill>
            <a:srgbClr val="2F6FB0"/>
          </a:solidFill>
          <a:ln w="12700">
            <a:solidFill>
              <a:srgbClr val="2F6FB0"/>
            </a:solidFill>
            <a:prstDash val="solid"/>
          </a:ln>
        </p:spPr>
      </p:sp>
      <p:sp>
        <p:nvSpPr>
          <p:cNvPr id="28" name="Text 25"/>
          <p:cNvSpPr txBox="1"/>
          <p:nvPr/>
        </p:nvSpPr>
        <p:spPr>
          <a:xfrm>
            <a:off x="594360" y="1920240"/>
            <a:ext cx="5271516" cy="310896"/>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cs typeface="Amiri" pitchFamily="2" charset="-78"/>
              </a:rPr>
              <a:t>2 · Answers — you TELL</a:t>
            </a:r>
            <a:endParaRPr lang="en-US" sz="950" dirty="0"/>
          </a:p>
        </p:txBody>
      </p:sp>
      <p:sp>
        <p:nvSpPr>
          <p:cNvPr id="29" name="Shape 26"/>
          <p:cNvSpPr/>
          <p:nvPr/>
        </p:nvSpPr>
        <p:spPr>
          <a:xfrm>
            <a:off x="594360" y="2377440"/>
            <a:ext cx="5271516" cy="438912"/>
          </a:xfrm>
          <a:prstGeom prst="roundRect">
            <a:avLst>
              <a:gd name="adj" fmla="val 12500"/>
            </a:avLst>
          </a:prstGeom>
          <a:solidFill>
            <a:srgbClr val="FFF4DC"/>
          </a:solidFill>
          <a:ln w="9525">
            <a:solidFill>
              <a:srgbClr val="E6C98A"/>
            </a:solidFill>
            <a:prstDash val="solid"/>
          </a:ln>
        </p:spPr>
      </p:sp>
      <p:sp>
        <p:nvSpPr>
          <p:cNvPr id="30" name="Text 27"/>
          <p:cNvSpPr txBox="1"/>
          <p:nvPr/>
        </p:nvSpPr>
        <p:spPr>
          <a:xfrm>
            <a:off x="685800" y="2377440"/>
            <a:ext cx="5088636"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عُمْرِي أَرْبَعَ عَشْرَةَ سَنَةً</a:t>
            </a:r>
            <a:endParaRPr lang="ar-SA" sz="1800" dirty="0"/>
          </a:p>
        </p:txBody>
      </p:sp>
      <p:sp>
        <p:nvSpPr>
          <p:cNvPr id="31" name="Shape 28"/>
          <p:cNvSpPr/>
          <p:nvPr/>
        </p:nvSpPr>
        <p:spPr>
          <a:xfrm>
            <a:off x="594360" y="2889504"/>
            <a:ext cx="5271516" cy="438912"/>
          </a:xfrm>
          <a:prstGeom prst="roundRect">
            <a:avLst>
              <a:gd name="adj" fmla="val 12500"/>
            </a:avLst>
          </a:prstGeom>
          <a:solidFill>
            <a:srgbClr val="FFF4DC"/>
          </a:solidFill>
          <a:ln w="9525">
            <a:solidFill>
              <a:srgbClr val="E6C98A"/>
            </a:solidFill>
            <a:prstDash val="solid"/>
          </a:ln>
        </p:spPr>
      </p:sp>
      <p:sp>
        <p:nvSpPr>
          <p:cNvPr id="32" name="Text 29"/>
          <p:cNvSpPr txBox="1"/>
          <p:nvPr/>
        </p:nvSpPr>
        <p:spPr>
          <a:xfrm>
            <a:off x="685800" y="2889504"/>
            <a:ext cx="5088636"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أَنَا مِنْ لِيبِيَا</a:t>
            </a:r>
            <a:endParaRPr lang="ar-SA" sz="1800" dirty="0"/>
          </a:p>
        </p:txBody>
      </p:sp>
      <p:sp>
        <p:nvSpPr>
          <p:cNvPr id="33" name="Shape 30"/>
          <p:cNvSpPr/>
          <p:nvPr/>
        </p:nvSpPr>
        <p:spPr>
          <a:xfrm>
            <a:off x="594360" y="3401568"/>
            <a:ext cx="5271516" cy="438912"/>
          </a:xfrm>
          <a:prstGeom prst="roundRect">
            <a:avLst>
              <a:gd name="adj" fmla="val 12500"/>
            </a:avLst>
          </a:prstGeom>
          <a:solidFill>
            <a:srgbClr val="FFF4DC"/>
          </a:solidFill>
          <a:ln w="9525">
            <a:solidFill>
              <a:srgbClr val="E6C98A"/>
            </a:solidFill>
            <a:prstDash val="solid"/>
          </a:ln>
        </p:spPr>
      </p:sp>
      <p:sp>
        <p:nvSpPr>
          <p:cNvPr id="34" name="Text 31"/>
          <p:cNvSpPr txBox="1"/>
          <p:nvPr/>
        </p:nvSpPr>
        <p:spPr>
          <a:xfrm>
            <a:off x="685800" y="3401568"/>
            <a:ext cx="5088636"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أَتَكَلَّمُ العَرَبِيَّةَ أَيْضًا</a:t>
            </a:r>
            <a:endParaRPr lang="ar-SA" sz="1800" dirty="0"/>
          </a:p>
        </p:txBody>
      </p:sp>
      <p:sp>
        <p:nvSpPr>
          <p:cNvPr id="35" name="Shape 32"/>
          <p:cNvSpPr/>
          <p:nvPr/>
        </p:nvSpPr>
        <p:spPr>
          <a:xfrm>
            <a:off x="594360" y="3913632"/>
            <a:ext cx="5271516" cy="438912"/>
          </a:xfrm>
          <a:prstGeom prst="roundRect">
            <a:avLst>
              <a:gd name="adj" fmla="val 12500"/>
            </a:avLst>
          </a:prstGeom>
          <a:solidFill>
            <a:srgbClr val="FFF4DC"/>
          </a:solidFill>
          <a:ln w="9525">
            <a:solidFill>
              <a:srgbClr val="E6C98A"/>
            </a:solidFill>
            <a:prstDash val="solid"/>
          </a:ln>
        </p:spPr>
      </p:sp>
      <p:sp>
        <p:nvSpPr>
          <p:cNvPr id="36" name="Text 33"/>
          <p:cNvSpPr txBox="1"/>
          <p:nvPr/>
        </p:nvSpPr>
        <p:spPr>
          <a:xfrm>
            <a:off x="685800" y="3913632"/>
            <a:ext cx="5088636"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اسْمِي هِنْدٌ</a:t>
            </a:r>
            <a:endParaRPr lang="ar-SA" sz="1800" dirty="0"/>
          </a:p>
        </p:txBody>
      </p:sp>
      <p:sp>
        <p:nvSpPr>
          <p:cNvPr id="37" name="Text 34"/>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9 / 24</a:t>
            </a:r>
            <a:endParaRPr lang="en-US" sz="8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F2-W06 · Apply workshop</a:t>
            </a:r>
            <a:endParaRPr lang="en-US" sz="950" dirty="0"/>
          </a:p>
        </p:txBody>
      </p:sp>
      <p:sp>
        <p:nvSpPr>
          <p:cNvPr id="8" name="Shape 6"/>
          <p:cNvSpPr/>
          <p:nvPr/>
        </p:nvSpPr>
        <p:spPr>
          <a:xfrm>
            <a:off x="7370978" y="274320"/>
            <a:ext cx="1388974"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70978" y="274320"/>
            <a:ext cx="138897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 · 5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934" b="1" spc="150" kern="0" dirty="0">
                <a:solidFill>
                  <a:srgbClr val="2F6FB0"/>
                </a:solidFill>
                <a:latin typeface="Calibri" pitchFamily="34" charset="0"/>
                <a:cs typeface="Amiri" pitchFamily="2" charset="-78"/>
              </a:rPr>
              <a:t>PART 2 · STEP 3 · SAY THE MODEL DIALOGUE · BOTH LESSONS IN ONE CONVERSATION</a:t>
            </a:r>
            <a:endParaRPr lang="en-US" sz="934"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At the pen-friend club</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فِي نَادِي المُرَاسَلَةِ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F2 · Greetings &amp; Introductions · F2-W06 · Apply workshop (F2-L11 + F2-L12)</a:t>
            </a:r>
            <a:endParaRPr lang="en-US" sz="850" dirty="0"/>
          </a:p>
        </p:txBody>
      </p:sp>
      <p:sp>
        <p:nvSpPr>
          <p:cNvPr id="15" name="Shape 12"/>
          <p:cNvSpPr/>
          <p:nvPr/>
        </p:nvSpPr>
        <p:spPr>
          <a:xfrm>
            <a:off x="457200" y="1810512"/>
            <a:ext cx="11274552" cy="384048"/>
          </a:xfrm>
          <a:prstGeom prst="rect">
            <a:avLst/>
          </a:prstGeom>
          <a:solidFill>
            <a:srgbClr val="1B3B6F"/>
          </a:solidFill>
          <a:ln w="12700">
            <a:solidFill>
              <a:srgbClr val="1B3B6F"/>
            </a:solidFill>
            <a:prstDash val="solid"/>
          </a:ln>
        </p:spPr>
      </p:sp>
      <p:sp>
        <p:nvSpPr>
          <p:cNvPr id="16" name="Text 13"/>
          <p:cNvSpPr txBox="1"/>
          <p:nvPr/>
        </p:nvSpPr>
        <p:spPr>
          <a:xfrm>
            <a:off x="7754112" y="1810512"/>
            <a:ext cx="3904488"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Meaning</a:t>
            </a:r>
            <a:endParaRPr lang="en-US" sz="1100" dirty="0"/>
          </a:p>
        </p:txBody>
      </p:sp>
      <p:sp>
        <p:nvSpPr>
          <p:cNvPr id="17" name="Text 14"/>
          <p:cNvSpPr txBox="1"/>
          <p:nvPr/>
        </p:nvSpPr>
        <p:spPr>
          <a:xfrm>
            <a:off x="1444752" y="1810512"/>
            <a:ext cx="616305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Say it in Arabic</a:t>
            </a:r>
            <a:endParaRPr lang="en-US" sz="1100" dirty="0"/>
          </a:p>
        </p:txBody>
      </p:sp>
      <p:sp>
        <p:nvSpPr>
          <p:cNvPr id="18" name="Text 15"/>
          <p:cNvSpPr txBox="1"/>
          <p:nvPr/>
        </p:nvSpPr>
        <p:spPr>
          <a:xfrm>
            <a:off x="530352" y="1810512"/>
            <a:ext cx="76809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Who</a:t>
            </a:r>
            <a:endParaRPr lang="en-US" sz="1100" dirty="0"/>
          </a:p>
        </p:txBody>
      </p:sp>
      <p:sp>
        <p:nvSpPr>
          <p:cNvPr id="19" name="Shape 16"/>
          <p:cNvSpPr/>
          <p:nvPr/>
        </p:nvSpPr>
        <p:spPr>
          <a:xfrm>
            <a:off x="457200" y="2267712"/>
            <a:ext cx="11274552" cy="559308"/>
          </a:xfrm>
          <a:prstGeom prst="roundRect">
            <a:avLst>
              <a:gd name="adj" fmla="val 8174"/>
            </a:avLst>
          </a:prstGeom>
          <a:solidFill>
            <a:srgbClr val="FFFFFF"/>
          </a:solidFill>
          <a:ln w="9525">
            <a:solidFill>
              <a:srgbClr val="D8D0BF"/>
            </a:solidFill>
            <a:prstDash val="solid"/>
          </a:ln>
        </p:spPr>
      </p:sp>
      <p:sp>
        <p:nvSpPr>
          <p:cNvPr id="20" name="Text 17"/>
          <p:cNvSpPr txBox="1"/>
          <p:nvPr/>
        </p:nvSpPr>
        <p:spPr>
          <a:xfrm>
            <a:off x="7790688" y="2267712"/>
            <a:ext cx="3867912"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Peace be upon you! How are you?</a:t>
            </a:r>
            <a:endParaRPr lang="en-US" sz="1100" dirty="0"/>
          </a:p>
        </p:txBody>
      </p:sp>
      <p:sp>
        <p:nvSpPr>
          <p:cNvPr id="21" name="Text 18"/>
          <p:cNvSpPr txBox="1"/>
          <p:nvPr/>
        </p:nvSpPr>
        <p:spPr>
          <a:xfrm>
            <a:off x="1463040" y="2267712"/>
            <a:ext cx="6126480" cy="559308"/>
          </a:xfrm>
          <a:prstGeom prst="rect">
            <a:avLst/>
          </a:prstGeom>
          <a:noFill/>
          <a:ln/>
        </p:spPr>
        <p:txBody>
          <a:bodyPr wrap="square" lIns="0" tIns="0" rIns="0" bIns="0" rtlCol="0" anchor="ctr"/>
          <a:lstStyle/>
          <a:p>
            <a:pPr rtl="1" algn="ctr" indent="0" marL="0">
              <a:buNone/>
            </a:pPr>
            <a:r>
              <a:rPr lang="ar-SA" altLang="en-US" sz="1900" b="1" dirty="0">
                <a:solidFill>
                  <a:srgbClr val="1B3B6F"/>
                </a:solidFill>
                <a:latin typeface="Amiri" pitchFamily="2" charset="-78"/>
                <a:ea typeface="Amiri" pitchFamily="2" charset="-78"/>
                <a:cs typeface="Amiri" pitchFamily="2" charset="-78"/>
              </a:rPr>
              <a:t>السَّلَامُ عَلَيْكُمْ! كَيْفَ حَالُكَ؟</a:t>
            </a:r>
            <a:endParaRPr lang="ar-SA" sz="1900" dirty="0"/>
          </a:p>
        </p:txBody>
      </p:sp>
      <p:sp>
        <p:nvSpPr>
          <p:cNvPr id="22" name="Text 19"/>
          <p:cNvSpPr txBox="1"/>
          <p:nvPr/>
        </p:nvSpPr>
        <p:spPr>
          <a:xfrm>
            <a:off x="566928" y="2267712"/>
            <a:ext cx="731520"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A</a:t>
            </a:r>
            <a:endParaRPr lang="en-US" sz="1100" dirty="0"/>
          </a:p>
        </p:txBody>
      </p:sp>
      <p:sp>
        <p:nvSpPr>
          <p:cNvPr id="23" name="Shape 20"/>
          <p:cNvSpPr/>
          <p:nvPr/>
        </p:nvSpPr>
        <p:spPr>
          <a:xfrm>
            <a:off x="457200" y="2881884"/>
            <a:ext cx="11274552" cy="559308"/>
          </a:xfrm>
          <a:prstGeom prst="roundRect">
            <a:avLst>
              <a:gd name="adj" fmla="val 8174"/>
            </a:avLst>
          </a:prstGeom>
          <a:solidFill>
            <a:srgbClr val="F4F1EA"/>
          </a:solidFill>
          <a:ln w="9525">
            <a:solidFill>
              <a:srgbClr val="D8D0BF"/>
            </a:solidFill>
            <a:prstDash val="solid"/>
          </a:ln>
        </p:spPr>
      </p:sp>
      <p:sp>
        <p:nvSpPr>
          <p:cNvPr id="24" name="Text 21"/>
          <p:cNvSpPr txBox="1"/>
          <p:nvPr/>
        </p:nvSpPr>
        <p:spPr>
          <a:xfrm>
            <a:off x="7790688" y="2881884"/>
            <a:ext cx="3867912"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And upon you be peace! Fine, praise be to God.</a:t>
            </a:r>
            <a:endParaRPr lang="en-US" sz="1100" dirty="0"/>
          </a:p>
        </p:txBody>
      </p:sp>
      <p:sp>
        <p:nvSpPr>
          <p:cNvPr id="25" name="Text 22"/>
          <p:cNvSpPr txBox="1"/>
          <p:nvPr/>
        </p:nvSpPr>
        <p:spPr>
          <a:xfrm>
            <a:off x="1463040" y="2881884"/>
            <a:ext cx="6126480" cy="559308"/>
          </a:xfrm>
          <a:prstGeom prst="rect">
            <a:avLst/>
          </a:prstGeom>
          <a:noFill/>
          <a:ln/>
        </p:spPr>
        <p:txBody>
          <a:bodyPr wrap="square" lIns="0" tIns="0" rIns="0" bIns="0" rtlCol="0" anchor="ctr"/>
          <a:lstStyle/>
          <a:p>
            <a:pPr rtl="1" algn="ctr" indent="0" marL="0">
              <a:buNone/>
            </a:pPr>
            <a:r>
              <a:rPr lang="ar-SA" altLang="en-US" sz="1900" b="1" dirty="0">
                <a:solidFill>
                  <a:srgbClr val="1B3B6F"/>
                </a:solidFill>
                <a:latin typeface="Amiri" pitchFamily="2" charset="-78"/>
                <a:ea typeface="Amiri" pitchFamily="2" charset="-78"/>
                <a:cs typeface="Amiri" pitchFamily="2" charset="-78"/>
              </a:rPr>
              <a:t>وَعَلَيْكُمُ السَّلَامُ! بِخَيْرٍ، الحَمْدُ لِلّٰهِ.</a:t>
            </a:r>
            <a:endParaRPr lang="ar-SA" sz="1900" dirty="0"/>
          </a:p>
        </p:txBody>
      </p:sp>
      <p:sp>
        <p:nvSpPr>
          <p:cNvPr id="26" name="Text 23"/>
          <p:cNvSpPr txBox="1"/>
          <p:nvPr/>
        </p:nvSpPr>
        <p:spPr>
          <a:xfrm>
            <a:off x="566928" y="2881884"/>
            <a:ext cx="731520"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B</a:t>
            </a:r>
            <a:endParaRPr lang="en-US" sz="1100" dirty="0"/>
          </a:p>
        </p:txBody>
      </p:sp>
      <p:sp>
        <p:nvSpPr>
          <p:cNvPr id="27" name="Shape 24"/>
          <p:cNvSpPr/>
          <p:nvPr/>
        </p:nvSpPr>
        <p:spPr>
          <a:xfrm>
            <a:off x="457200" y="3496056"/>
            <a:ext cx="11274552" cy="559308"/>
          </a:xfrm>
          <a:prstGeom prst="roundRect">
            <a:avLst>
              <a:gd name="adj" fmla="val 8174"/>
            </a:avLst>
          </a:prstGeom>
          <a:solidFill>
            <a:srgbClr val="FFFFFF"/>
          </a:solidFill>
          <a:ln w="9525">
            <a:solidFill>
              <a:srgbClr val="D8D0BF"/>
            </a:solidFill>
            <a:prstDash val="solid"/>
          </a:ln>
        </p:spPr>
      </p:sp>
      <p:sp>
        <p:nvSpPr>
          <p:cNvPr id="28" name="Text 25"/>
          <p:cNvSpPr txBox="1"/>
          <p:nvPr/>
        </p:nvSpPr>
        <p:spPr>
          <a:xfrm>
            <a:off x="7790688" y="3496056"/>
            <a:ext cx="3867912"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What is your name, and how old are you?</a:t>
            </a:r>
            <a:endParaRPr lang="en-US" sz="1100" dirty="0"/>
          </a:p>
        </p:txBody>
      </p:sp>
      <p:sp>
        <p:nvSpPr>
          <p:cNvPr id="29" name="Text 26"/>
          <p:cNvSpPr txBox="1"/>
          <p:nvPr/>
        </p:nvSpPr>
        <p:spPr>
          <a:xfrm>
            <a:off x="1463040" y="3496056"/>
            <a:ext cx="6126480" cy="559308"/>
          </a:xfrm>
          <a:prstGeom prst="rect">
            <a:avLst/>
          </a:prstGeom>
          <a:noFill/>
          <a:ln/>
        </p:spPr>
        <p:txBody>
          <a:bodyPr wrap="square" lIns="0" tIns="0" rIns="0" bIns="0" rtlCol="0" anchor="ctr"/>
          <a:lstStyle/>
          <a:p>
            <a:pPr rtl="1" algn="ctr" indent="0" marL="0">
              <a:buNone/>
            </a:pPr>
            <a:r>
              <a:rPr lang="ar-SA" altLang="en-US" sz="1900" b="1" dirty="0">
                <a:solidFill>
                  <a:srgbClr val="1B3B6F"/>
                </a:solidFill>
                <a:latin typeface="Amiri" pitchFamily="2" charset="-78"/>
                <a:ea typeface="Amiri" pitchFamily="2" charset="-78"/>
                <a:cs typeface="Amiri" pitchFamily="2" charset="-78"/>
              </a:rPr>
              <a:t>مَا اسْمُكَ، وَكَمْ عُمْرُكَ؟</a:t>
            </a:r>
            <a:endParaRPr lang="ar-SA" sz="1900" dirty="0"/>
          </a:p>
        </p:txBody>
      </p:sp>
      <p:sp>
        <p:nvSpPr>
          <p:cNvPr id="30" name="Text 27"/>
          <p:cNvSpPr txBox="1"/>
          <p:nvPr/>
        </p:nvSpPr>
        <p:spPr>
          <a:xfrm>
            <a:off x="566928" y="3496056"/>
            <a:ext cx="731520"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A</a:t>
            </a:r>
            <a:endParaRPr lang="en-US" sz="1100" dirty="0"/>
          </a:p>
        </p:txBody>
      </p:sp>
      <p:sp>
        <p:nvSpPr>
          <p:cNvPr id="31" name="Shape 28"/>
          <p:cNvSpPr/>
          <p:nvPr/>
        </p:nvSpPr>
        <p:spPr>
          <a:xfrm>
            <a:off x="457200" y="4110228"/>
            <a:ext cx="11274552" cy="559308"/>
          </a:xfrm>
          <a:prstGeom prst="roundRect">
            <a:avLst>
              <a:gd name="adj" fmla="val 8174"/>
            </a:avLst>
          </a:prstGeom>
          <a:solidFill>
            <a:srgbClr val="F4F1EA"/>
          </a:solidFill>
          <a:ln w="9525">
            <a:solidFill>
              <a:srgbClr val="D8D0BF"/>
            </a:solidFill>
            <a:prstDash val="solid"/>
          </a:ln>
        </p:spPr>
      </p:sp>
      <p:sp>
        <p:nvSpPr>
          <p:cNvPr id="32" name="Text 29"/>
          <p:cNvSpPr txBox="1"/>
          <p:nvPr/>
        </p:nvSpPr>
        <p:spPr>
          <a:xfrm>
            <a:off x="7790688" y="4110228"/>
            <a:ext cx="3867912"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My name is Hamza, and I am thirteen.</a:t>
            </a:r>
            <a:endParaRPr lang="en-US" sz="1100" dirty="0"/>
          </a:p>
        </p:txBody>
      </p:sp>
      <p:sp>
        <p:nvSpPr>
          <p:cNvPr id="33" name="Text 30"/>
          <p:cNvSpPr txBox="1"/>
          <p:nvPr/>
        </p:nvSpPr>
        <p:spPr>
          <a:xfrm>
            <a:off x="1463040" y="4110228"/>
            <a:ext cx="6126480" cy="559308"/>
          </a:xfrm>
          <a:prstGeom prst="rect">
            <a:avLst/>
          </a:prstGeom>
          <a:noFill/>
          <a:ln/>
        </p:spPr>
        <p:txBody>
          <a:bodyPr wrap="square" lIns="0" tIns="0" rIns="0" bIns="0" rtlCol="0" anchor="ctr"/>
          <a:lstStyle/>
          <a:p>
            <a:pPr rtl="1" algn="ctr" indent="0" marL="0">
              <a:buNone/>
            </a:pPr>
            <a:r>
              <a:rPr lang="ar-SA" altLang="en-US" sz="1900" b="1" dirty="0">
                <a:solidFill>
                  <a:srgbClr val="1B3B6F"/>
                </a:solidFill>
                <a:latin typeface="Amiri" pitchFamily="2" charset="-78"/>
                <a:ea typeface="Amiri" pitchFamily="2" charset="-78"/>
                <a:cs typeface="Amiri" pitchFamily="2" charset="-78"/>
              </a:rPr>
              <a:t>اسْمِي حَمْزَةُ، وَعُمْرِي ثَلَاثَ عَشْرَةَ سَنَةً.</a:t>
            </a:r>
            <a:endParaRPr lang="ar-SA" sz="1900" dirty="0"/>
          </a:p>
        </p:txBody>
      </p:sp>
      <p:sp>
        <p:nvSpPr>
          <p:cNvPr id="34" name="Text 31"/>
          <p:cNvSpPr txBox="1"/>
          <p:nvPr/>
        </p:nvSpPr>
        <p:spPr>
          <a:xfrm>
            <a:off x="566928" y="4110228"/>
            <a:ext cx="731520"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B</a:t>
            </a:r>
            <a:endParaRPr lang="en-US" sz="1100" dirty="0"/>
          </a:p>
        </p:txBody>
      </p:sp>
      <p:sp>
        <p:nvSpPr>
          <p:cNvPr id="35" name="Shape 32"/>
          <p:cNvSpPr/>
          <p:nvPr/>
        </p:nvSpPr>
        <p:spPr>
          <a:xfrm>
            <a:off x="457200" y="4724400"/>
            <a:ext cx="11274552" cy="559308"/>
          </a:xfrm>
          <a:prstGeom prst="roundRect">
            <a:avLst>
              <a:gd name="adj" fmla="val 8174"/>
            </a:avLst>
          </a:prstGeom>
          <a:solidFill>
            <a:srgbClr val="FFFFFF"/>
          </a:solidFill>
          <a:ln w="9525">
            <a:solidFill>
              <a:srgbClr val="D8D0BF"/>
            </a:solidFill>
            <a:prstDash val="solid"/>
          </a:ln>
        </p:spPr>
      </p:sp>
      <p:sp>
        <p:nvSpPr>
          <p:cNvPr id="36" name="Text 33"/>
          <p:cNvSpPr txBox="1"/>
          <p:nvPr/>
        </p:nvSpPr>
        <p:spPr>
          <a:xfrm>
            <a:off x="7790688" y="4724400"/>
            <a:ext cx="3867912"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Why do you learn Arabic?</a:t>
            </a:r>
            <a:endParaRPr lang="en-US" sz="1100" dirty="0"/>
          </a:p>
        </p:txBody>
      </p:sp>
      <p:sp>
        <p:nvSpPr>
          <p:cNvPr id="37" name="Text 34"/>
          <p:cNvSpPr txBox="1"/>
          <p:nvPr/>
        </p:nvSpPr>
        <p:spPr>
          <a:xfrm>
            <a:off x="1463040" y="4724400"/>
            <a:ext cx="6126480" cy="559308"/>
          </a:xfrm>
          <a:prstGeom prst="rect">
            <a:avLst/>
          </a:prstGeom>
          <a:noFill/>
          <a:ln/>
        </p:spPr>
        <p:txBody>
          <a:bodyPr wrap="square" lIns="0" tIns="0" rIns="0" bIns="0" rtlCol="0" anchor="ctr"/>
          <a:lstStyle/>
          <a:p>
            <a:pPr rtl="1" algn="ctr" indent="0" marL="0">
              <a:buNone/>
            </a:pPr>
            <a:r>
              <a:rPr lang="ar-SA" altLang="en-US" sz="1900" b="1" dirty="0">
                <a:solidFill>
                  <a:srgbClr val="1B3B6F"/>
                </a:solidFill>
                <a:latin typeface="Amiri" pitchFamily="2" charset="-78"/>
                <a:ea typeface="Amiri" pitchFamily="2" charset="-78"/>
                <a:cs typeface="Amiri" pitchFamily="2" charset="-78"/>
              </a:rPr>
              <a:t>لِمَاذَا تَتَعَلَّمُ العَرَبِيَّةَ؟</a:t>
            </a:r>
            <a:endParaRPr lang="ar-SA" sz="1900" dirty="0"/>
          </a:p>
        </p:txBody>
      </p:sp>
      <p:sp>
        <p:nvSpPr>
          <p:cNvPr id="38" name="Text 35"/>
          <p:cNvSpPr txBox="1"/>
          <p:nvPr/>
        </p:nvSpPr>
        <p:spPr>
          <a:xfrm>
            <a:off x="566928" y="4724400"/>
            <a:ext cx="731520"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A</a:t>
            </a:r>
            <a:endParaRPr lang="en-US" sz="1100" dirty="0"/>
          </a:p>
        </p:txBody>
      </p:sp>
      <p:sp>
        <p:nvSpPr>
          <p:cNvPr id="39" name="Shape 36"/>
          <p:cNvSpPr/>
          <p:nvPr/>
        </p:nvSpPr>
        <p:spPr>
          <a:xfrm>
            <a:off x="457200" y="5338572"/>
            <a:ext cx="11274552" cy="559308"/>
          </a:xfrm>
          <a:prstGeom prst="roundRect">
            <a:avLst>
              <a:gd name="adj" fmla="val 8174"/>
            </a:avLst>
          </a:prstGeom>
          <a:solidFill>
            <a:srgbClr val="F4F1EA"/>
          </a:solidFill>
          <a:ln w="9525">
            <a:solidFill>
              <a:srgbClr val="D8D0BF"/>
            </a:solidFill>
            <a:prstDash val="solid"/>
          </a:ln>
        </p:spPr>
      </p:sp>
      <p:sp>
        <p:nvSpPr>
          <p:cNvPr id="40" name="Text 37"/>
          <p:cNvSpPr txBox="1"/>
          <p:nvPr/>
        </p:nvSpPr>
        <p:spPr>
          <a:xfrm>
            <a:off x="7790688" y="5338572"/>
            <a:ext cx="3867912"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I learn Arabic because I love the Qur’an, and because my grandfather is from Jordan.</a:t>
            </a:r>
            <a:endParaRPr lang="en-US" sz="1100" dirty="0"/>
          </a:p>
        </p:txBody>
      </p:sp>
      <p:sp>
        <p:nvSpPr>
          <p:cNvPr id="41" name="Text 38"/>
          <p:cNvSpPr txBox="1"/>
          <p:nvPr/>
        </p:nvSpPr>
        <p:spPr>
          <a:xfrm>
            <a:off x="1463040" y="5338572"/>
            <a:ext cx="6126480" cy="559308"/>
          </a:xfrm>
          <a:prstGeom prst="rect">
            <a:avLst/>
          </a:prstGeom>
          <a:noFill/>
          <a:ln/>
        </p:spPr>
        <p:txBody>
          <a:bodyPr wrap="square" lIns="0" tIns="0" rIns="0" bIns="0" rtlCol="0" anchor="ctr"/>
          <a:lstStyle/>
          <a:p>
            <a:pPr rtl="1" algn="ctr" indent="0" marL="0">
              <a:buNone/>
            </a:pPr>
            <a:r>
              <a:rPr lang="ar-SA" altLang="en-US" sz="1900" b="1" dirty="0">
                <a:solidFill>
                  <a:srgbClr val="1B3B6F"/>
                </a:solidFill>
                <a:latin typeface="Amiri" pitchFamily="2" charset="-78"/>
                <a:ea typeface="Amiri" pitchFamily="2" charset="-78"/>
                <a:cs typeface="Amiri" pitchFamily="2" charset="-78"/>
              </a:rPr>
              <a:t>أَتَعَلَّمُ العَرَبِيَّةَ لِأَنِّي أُحِبُّ القُرْآنَ، وَلِأَنَّ جَدِّي مِنَ الأُرْدُنِّ.</a:t>
            </a:r>
            <a:endParaRPr lang="ar-SA" sz="1900" dirty="0"/>
          </a:p>
        </p:txBody>
      </p:sp>
      <p:sp>
        <p:nvSpPr>
          <p:cNvPr id="42" name="Text 39"/>
          <p:cNvSpPr txBox="1"/>
          <p:nvPr/>
        </p:nvSpPr>
        <p:spPr>
          <a:xfrm>
            <a:off x="566928" y="5338572"/>
            <a:ext cx="731520"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B</a:t>
            </a:r>
            <a:endParaRPr lang="en-US" sz="1100" dirty="0"/>
          </a:p>
        </p:txBody>
      </p:sp>
      <p:sp>
        <p:nvSpPr>
          <p:cNvPr id="43" name="Text 40"/>
          <p:cNvSpPr txBox="1"/>
          <p:nvPr/>
        </p:nvSpPr>
        <p:spPr>
          <a:xfrm>
            <a:off x="457200" y="5943600"/>
            <a:ext cx="11274552" cy="365760"/>
          </a:xfrm>
          <a:prstGeom prst="rect">
            <a:avLst/>
          </a:prstGeom>
          <a:noFill/>
          <a:ln/>
        </p:spPr>
        <p:txBody>
          <a:bodyPr wrap="square" lIns="0" tIns="0" rIns="0" bIns="0" rtlCol="0" anchor="ctr"/>
          <a:lstStyle/>
          <a:p>
            <a:pPr algn="l" indent="0" marL="0">
              <a:buNone/>
            </a:pPr>
            <a:r>
              <a:rPr lang="en-US" sz="1100" b="1" dirty="0">
                <a:solidFill>
                  <a:srgbClr val="1B3B6F"/>
                </a:solidFill>
                <a:latin typeface="Calibri" pitchFamily="34" charset="0"/>
                <a:cs typeface="Amiri" pitchFamily="2" charset="-78"/>
              </a:rPr>
              <a:t>Round 1: read it in pairs (A and B). Round 2: swap letters. Round 3: cover the Arabic and say it from the English. Then change TWO details — one from each lesson — and say it again.</a:t>
            </a:r>
            <a:endParaRPr lang="en-US" sz="1100" dirty="0"/>
          </a:p>
        </p:txBody>
      </p:sp>
      <p:sp>
        <p:nvSpPr>
          <p:cNvPr id="44" name="Text 41"/>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10 / 24</a:t>
            </a:r>
            <a:endParaRPr lang="en-US" sz="85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F2-W06 · Apply workshop</a:t>
            </a:r>
            <a:endParaRPr lang="en-US" sz="950" dirty="0"/>
          </a:p>
        </p:txBody>
      </p:sp>
      <p:sp>
        <p:nvSpPr>
          <p:cNvPr id="8" name="Shape 6"/>
          <p:cNvSpPr/>
          <p:nvPr/>
        </p:nvSpPr>
        <p:spPr>
          <a:xfrm>
            <a:off x="7295083" y="274320"/>
            <a:ext cx="1464869"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295083" y="274320"/>
            <a:ext cx="146486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 · 6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150" kern="0" dirty="0">
                <a:solidFill>
                  <a:srgbClr val="1E6B52"/>
                </a:solidFill>
                <a:latin typeface="Calibri" pitchFamily="34" charset="0"/>
                <a:cs typeface="Amiri" pitchFamily="2" charset="-78"/>
              </a:rPr>
              <a:t>STEP 4 · QUESTION CARDS · QUESTIONS FROM BOTH LESSONS, MIXED</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300" b="1" dirty="0">
                <a:solidFill>
                  <a:srgbClr val="1B3B6F"/>
                </a:solidFill>
                <a:latin typeface="Cambria" pitchFamily="34" charset="0"/>
                <a:cs typeface="Amiri" pitchFamily="2" charset="-78"/>
              </a:rPr>
              <a:t>Mixed questions — answer, then add more</a:t>
            </a:r>
            <a:endParaRPr lang="en-US" sz="23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أَسْئِلَةٌ مِنَ الدَّرْسَيْنِ</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F2 · Greetings &amp; Introductions · F2-W06 · Apply workshop (F2-L11 + F2-L12)</a:t>
            </a:r>
            <a:endParaRPr lang="en-US" sz="850" dirty="0"/>
          </a:p>
        </p:txBody>
      </p:sp>
      <p:sp>
        <p:nvSpPr>
          <p:cNvPr id="15" name="Shape 12"/>
          <p:cNvSpPr/>
          <p:nvPr/>
        </p:nvSpPr>
        <p:spPr>
          <a:xfrm>
            <a:off x="457200" y="1810512"/>
            <a:ext cx="11274552" cy="384048"/>
          </a:xfrm>
          <a:prstGeom prst="rect">
            <a:avLst/>
          </a:prstGeom>
          <a:solidFill>
            <a:srgbClr val="1B3B6F"/>
          </a:solidFill>
          <a:ln w="12700">
            <a:solidFill>
              <a:srgbClr val="1B3B6F"/>
            </a:solidFill>
            <a:prstDash val="solid"/>
          </a:ln>
        </p:spPr>
      </p:sp>
      <p:sp>
        <p:nvSpPr>
          <p:cNvPr id="16" name="Text 13"/>
          <p:cNvSpPr txBox="1"/>
          <p:nvPr/>
        </p:nvSpPr>
        <p:spPr>
          <a:xfrm>
            <a:off x="9720072" y="1810512"/>
            <a:ext cx="1938528"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Add more (Develop · Stretch)</a:t>
            </a:r>
            <a:endParaRPr lang="en-US" sz="1100" dirty="0"/>
          </a:p>
        </p:txBody>
      </p:sp>
      <p:sp>
        <p:nvSpPr>
          <p:cNvPr id="17" name="Text 14"/>
          <p:cNvSpPr txBox="1"/>
          <p:nvPr/>
        </p:nvSpPr>
        <p:spPr>
          <a:xfrm>
            <a:off x="6976872" y="1810512"/>
            <a:ext cx="259689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Start your answer (Core)</a:t>
            </a:r>
            <a:endParaRPr lang="en-US" sz="1100" dirty="0"/>
          </a:p>
        </p:txBody>
      </p:sp>
      <p:sp>
        <p:nvSpPr>
          <p:cNvPr id="18" name="Text 15"/>
          <p:cNvSpPr txBox="1"/>
          <p:nvPr/>
        </p:nvSpPr>
        <p:spPr>
          <a:xfrm>
            <a:off x="4599432" y="1810512"/>
            <a:ext cx="223113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Meaning</a:t>
            </a:r>
            <a:endParaRPr lang="en-US" sz="1100" dirty="0"/>
          </a:p>
        </p:txBody>
      </p:sp>
      <p:sp>
        <p:nvSpPr>
          <p:cNvPr id="19" name="Text 16"/>
          <p:cNvSpPr txBox="1"/>
          <p:nvPr/>
        </p:nvSpPr>
        <p:spPr>
          <a:xfrm>
            <a:off x="1033272" y="1810512"/>
            <a:ext cx="341985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Partner A asks</a:t>
            </a:r>
            <a:endParaRPr lang="en-US" sz="1100" dirty="0"/>
          </a:p>
        </p:txBody>
      </p:sp>
      <p:sp>
        <p:nvSpPr>
          <p:cNvPr id="20" name="Text 17"/>
          <p:cNvSpPr txBox="1"/>
          <p:nvPr/>
        </p:nvSpPr>
        <p:spPr>
          <a:xfrm>
            <a:off x="530352" y="1810512"/>
            <a:ext cx="35661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a:t>
            </a:r>
            <a:endParaRPr lang="en-US" sz="1100" dirty="0"/>
          </a:p>
        </p:txBody>
      </p:sp>
      <p:sp>
        <p:nvSpPr>
          <p:cNvPr id="21" name="Shape 18"/>
          <p:cNvSpPr/>
          <p:nvPr/>
        </p:nvSpPr>
        <p:spPr>
          <a:xfrm>
            <a:off x="457200" y="2267712"/>
            <a:ext cx="11274552" cy="559308"/>
          </a:xfrm>
          <a:prstGeom prst="roundRect">
            <a:avLst>
              <a:gd name="adj" fmla="val 8174"/>
            </a:avLst>
          </a:prstGeom>
          <a:solidFill>
            <a:srgbClr val="FFFFFF"/>
          </a:solidFill>
          <a:ln w="9525">
            <a:solidFill>
              <a:srgbClr val="D8D0BF"/>
            </a:solidFill>
            <a:prstDash val="solid"/>
          </a:ln>
        </p:spPr>
      </p:sp>
      <p:sp>
        <p:nvSpPr>
          <p:cNvPr id="22" name="Text 19"/>
          <p:cNvSpPr txBox="1"/>
          <p:nvPr/>
        </p:nvSpPr>
        <p:spPr>
          <a:xfrm>
            <a:off x="9738360" y="2267712"/>
            <a:ext cx="1901952" cy="55930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 وَاسْمُ عَائِلَتِي …</a:t>
            </a:r>
            <a:endParaRPr lang="ar-SA" sz="1500" dirty="0"/>
          </a:p>
        </p:txBody>
      </p:sp>
      <p:sp>
        <p:nvSpPr>
          <p:cNvPr id="23" name="Text 20"/>
          <p:cNvSpPr txBox="1"/>
          <p:nvPr/>
        </p:nvSpPr>
        <p:spPr>
          <a:xfrm>
            <a:off x="6995160" y="2267712"/>
            <a:ext cx="2560320" cy="559308"/>
          </a:xfrm>
          <a:prstGeom prst="rect">
            <a:avLst/>
          </a:prstGeom>
          <a:noFill/>
          <a:ln/>
        </p:spPr>
        <p:txBody>
          <a:bodyPr wrap="square" lIns="0" tIns="0" rIns="0" bIns="0" rtlCol="0" anchor="ctr"/>
          <a:lstStyle/>
          <a:p>
            <a:pPr rtl="1" algn="ctr" indent="0" marL="0">
              <a:buNone/>
            </a:pPr>
            <a:r>
              <a:rPr lang="ar-SA" altLang="en-US" sz="1600" b="1" dirty="0">
                <a:solidFill>
                  <a:srgbClr val="1B3B6F"/>
                </a:solidFill>
                <a:latin typeface="Amiri" pitchFamily="2" charset="-78"/>
                <a:ea typeface="Amiri" pitchFamily="2" charset="-78"/>
                <a:cs typeface="Amiri" pitchFamily="2" charset="-78"/>
              </a:rPr>
              <a:t>اسْمِي …</a:t>
            </a:r>
            <a:endParaRPr lang="ar-SA" sz="1600" dirty="0"/>
          </a:p>
        </p:txBody>
      </p:sp>
      <p:sp>
        <p:nvSpPr>
          <p:cNvPr id="24" name="Text 21"/>
          <p:cNvSpPr txBox="1"/>
          <p:nvPr/>
        </p:nvSpPr>
        <p:spPr>
          <a:xfrm>
            <a:off x="4636008" y="2267712"/>
            <a:ext cx="2194560"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Name? → say it in a sentence.</a:t>
            </a:r>
            <a:endParaRPr lang="en-US" sz="1100" dirty="0"/>
          </a:p>
        </p:txBody>
      </p:sp>
      <p:sp>
        <p:nvSpPr>
          <p:cNvPr id="25" name="Text 22"/>
          <p:cNvSpPr txBox="1"/>
          <p:nvPr/>
        </p:nvSpPr>
        <p:spPr>
          <a:xfrm>
            <a:off x="1051560" y="2267712"/>
            <a:ext cx="3383280" cy="559308"/>
          </a:xfrm>
          <a:prstGeom prst="rect">
            <a:avLst/>
          </a:prstGeom>
          <a:noFill/>
          <a:ln/>
        </p:spPr>
        <p:txBody>
          <a:bodyPr wrap="square" lIns="0" tIns="0" rIns="0" bIns="0" rtlCol="0" anchor="ctr"/>
          <a:lstStyle/>
          <a:p>
            <a:pPr rtl="1" algn="ctr" indent="0" marL="0">
              <a:buNone/>
            </a:pPr>
            <a:r>
              <a:rPr lang="ar-SA" altLang="en-US" sz="1700" b="1" dirty="0">
                <a:solidFill>
                  <a:srgbClr val="1B3B6F"/>
                </a:solidFill>
                <a:latin typeface="Amiri" pitchFamily="2" charset="-78"/>
                <a:ea typeface="Amiri" pitchFamily="2" charset="-78"/>
                <a:cs typeface="Amiri" pitchFamily="2" charset="-78"/>
              </a:rPr>
              <a:t>الاسْمُ؟ ← قُلْهُ فِي جُمْلَةٍ.</a:t>
            </a:r>
            <a:endParaRPr lang="ar-SA" sz="1700" dirty="0"/>
          </a:p>
        </p:txBody>
      </p:sp>
      <p:sp>
        <p:nvSpPr>
          <p:cNvPr id="26" name="Text 23"/>
          <p:cNvSpPr txBox="1"/>
          <p:nvPr/>
        </p:nvSpPr>
        <p:spPr>
          <a:xfrm>
            <a:off x="566928" y="2267712"/>
            <a:ext cx="320040"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1</a:t>
            </a:r>
            <a:endParaRPr lang="en-US" sz="1100" dirty="0"/>
          </a:p>
        </p:txBody>
      </p:sp>
      <p:sp>
        <p:nvSpPr>
          <p:cNvPr id="27" name="Shape 24"/>
          <p:cNvSpPr/>
          <p:nvPr/>
        </p:nvSpPr>
        <p:spPr>
          <a:xfrm>
            <a:off x="11091672" y="2313432"/>
            <a:ext cx="548640" cy="182880"/>
          </a:xfrm>
          <a:prstGeom prst="roundRect">
            <a:avLst>
              <a:gd name="adj" fmla="val 50000"/>
            </a:avLst>
          </a:prstGeom>
          <a:solidFill>
            <a:srgbClr val="2E8B57"/>
          </a:solidFill>
          <a:ln w="12700">
            <a:solidFill>
              <a:srgbClr val="2E8B57"/>
            </a:solidFill>
            <a:prstDash val="solid"/>
          </a:ln>
        </p:spPr>
      </p:sp>
      <p:sp>
        <p:nvSpPr>
          <p:cNvPr id="28" name="Text 25"/>
          <p:cNvSpPr txBox="1"/>
          <p:nvPr/>
        </p:nvSpPr>
        <p:spPr>
          <a:xfrm>
            <a:off x="11091672" y="2313432"/>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29" name="Shape 26"/>
          <p:cNvSpPr/>
          <p:nvPr/>
        </p:nvSpPr>
        <p:spPr>
          <a:xfrm>
            <a:off x="457200" y="2881884"/>
            <a:ext cx="11274552" cy="559308"/>
          </a:xfrm>
          <a:prstGeom prst="roundRect">
            <a:avLst>
              <a:gd name="adj" fmla="val 8174"/>
            </a:avLst>
          </a:prstGeom>
          <a:solidFill>
            <a:srgbClr val="F4F1EA"/>
          </a:solidFill>
          <a:ln w="9525">
            <a:solidFill>
              <a:srgbClr val="D8D0BF"/>
            </a:solidFill>
            <a:prstDash val="solid"/>
          </a:ln>
        </p:spPr>
      </p:sp>
      <p:sp>
        <p:nvSpPr>
          <p:cNvPr id="30" name="Text 27"/>
          <p:cNvSpPr txBox="1"/>
          <p:nvPr/>
        </p:nvSpPr>
        <p:spPr>
          <a:xfrm>
            <a:off x="9738360" y="2881884"/>
            <a:ext cx="1901952" cy="55930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 وَأَنْتَ؟ / وَأَنْتِ؟</a:t>
            </a:r>
            <a:endParaRPr lang="ar-SA" sz="1500" dirty="0"/>
          </a:p>
        </p:txBody>
      </p:sp>
      <p:sp>
        <p:nvSpPr>
          <p:cNvPr id="31" name="Text 28"/>
          <p:cNvSpPr txBox="1"/>
          <p:nvPr/>
        </p:nvSpPr>
        <p:spPr>
          <a:xfrm>
            <a:off x="6995160" y="2881884"/>
            <a:ext cx="2560320" cy="559308"/>
          </a:xfrm>
          <a:prstGeom prst="rect">
            <a:avLst/>
          </a:prstGeom>
          <a:noFill/>
          <a:ln/>
        </p:spPr>
        <p:txBody>
          <a:bodyPr wrap="square" lIns="0" tIns="0" rIns="0" bIns="0" rtlCol="0" anchor="ctr"/>
          <a:lstStyle/>
          <a:p>
            <a:pPr rtl="1" algn="ctr" indent="0" marL="0">
              <a:buNone/>
            </a:pPr>
            <a:r>
              <a:rPr lang="ar-SA" altLang="en-US" sz="1600" b="1" dirty="0">
                <a:solidFill>
                  <a:srgbClr val="1B3B6F"/>
                </a:solidFill>
                <a:latin typeface="Amiri" pitchFamily="2" charset="-78"/>
                <a:ea typeface="Amiri" pitchFamily="2" charset="-78"/>
                <a:cs typeface="Amiri" pitchFamily="2" charset="-78"/>
              </a:rPr>
              <a:t>بِخَيْرٍ، الحَمْدُ لِلّٰهِ.</a:t>
            </a:r>
            <a:endParaRPr lang="ar-SA" sz="1600" dirty="0"/>
          </a:p>
        </p:txBody>
      </p:sp>
      <p:sp>
        <p:nvSpPr>
          <p:cNvPr id="32" name="Text 29"/>
          <p:cNvSpPr txBox="1"/>
          <p:nvPr/>
        </p:nvSpPr>
        <p:spPr>
          <a:xfrm>
            <a:off x="4636008" y="2881884"/>
            <a:ext cx="2194560"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How are you? (boy / girl)</a:t>
            </a:r>
            <a:endParaRPr lang="en-US" sz="1100" dirty="0"/>
          </a:p>
        </p:txBody>
      </p:sp>
      <p:sp>
        <p:nvSpPr>
          <p:cNvPr id="33" name="Text 30"/>
          <p:cNvSpPr txBox="1"/>
          <p:nvPr/>
        </p:nvSpPr>
        <p:spPr>
          <a:xfrm>
            <a:off x="1051560" y="2881884"/>
            <a:ext cx="3383280" cy="559308"/>
          </a:xfrm>
          <a:prstGeom prst="rect">
            <a:avLst/>
          </a:prstGeom>
          <a:noFill/>
          <a:ln/>
        </p:spPr>
        <p:txBody>
          <a:bodyPr wrap="square" lIns="0" tIns="0" rIns="0" bIns="0" rtlCol="0" anchor="ctr"/>
          <a:lstStyle/>
          <a:p>
            <a:pPr rtl="1" algn="ctr" indent="0" marL="0">
              <a:buNone/>
            </a:pPr>
            <a:r>
              <a:rPr lang="ar-SA" altLang="en-US" sz="1700" b="1" dirty="0">
                <a:solidFill>
                  <a:srgbClr val="1B3B6F"/>
                </a:solidFill>
                <a:latin typeface="Amiri" pitchFamily="2" charset="-78"/>
                <a:ea typeface="Amiri" pitchFamily="2" charset="-78"/>
                <a:cs typeface="Amiri" pitchFamily="2" charset="-78"/>
              </a:rPr>
              <a:t>كَيْفَ حَالُكَ؟ / كَيْفَ حَالُكِ؟</a:t>
            </a:r>
            <a:endParaRPr lang="ar-SA" sz="1700" dirty="0"/>
          </a:p>
        </p:txBody>
      </p:sp>
      <p:sp>
        <p:nvSpPr>
          <p:cNvPr id="34" name="Text 31"/>
          <p:cNvSpPr txBox="1"/>
          <p:nvPr/>
        </p:nvSpPr>
        <p:spPr>
          <a:xfrm>
            <a:off x="566928" y="2881884"/>
            <a:ext cx="320040"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2</a:t>
            </a:r>
            <a:endParaRPr lang="en-US" sz="1100" dirty="0"/>
          </a:p>
        </p:txBody>
      </p:sp>
      <p:sp>
        <p:nvSpPr>
          <p:cNvPr id="35" name="Shape 32"/>
          <p:cNvSpPr/>
          <p:nvPr/>
        </p:nvSpPr>
        <p:spPr>
          <a:xfrm>
            <a:off x="11091672" y="2927604"/>
            <a:ext cx="548640" cy="182880"/>
          </a:xfrm>
          <a:prstGeom prst="roundRect">
            <a:avLst>
              <a:gd name="adj" fmla="val 50000"/>
            </a:avLst>
          </a:prstGeom>
          <a:solidFill>
            <a:srgbClr val="2E8B57"/>
          </a:solidFill>
          <a:ln w="12700">
            <a:solidFill>
              <a:srgbClr val="2E8B57"/>
            </a:solidFill>
            <a:prstDash val="solid"/>
          </a:ln>
        </p:spPr>
      </p:sp>
      <p:sp>
        <p:nvSpPr>
          <p:cNvPr id="36" name="Text 33"/>
          <p:cNvSpPr txBox="1"/>
          <p:nvPr/>
        </p:nvSpPr>
        <p:spPr>
          <a:xfrm>
            <a:off x="11091672" y="2927604"/>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37" name="Shape 34"/>
          <p:cNvSpPr/>
          <p:nvPr/>
        </p:nvSpPr>
        <p:spPr>
          <a:xfrm>
            <a:off x="457200" y="3496056"/>
            <a:ext cx="11274552" cy="559308"/>
          </a:xfrm>
          <a:prstGeom prst="roundRect">
            <a:avLst>
              <a:gd name="adj" fmla="val 8174"/>
            </a:avLst>
          </a:prstGeom>
          <a:solidFill>
            <a:srgbClr val="FFFFFF"/>
          </a:solidFill>
          <a:ln w="9525">
            <a:solidFill>
              <a:srgbClr val="D8D0BF"/>
            </a:solidFill>
            <a:prstDash val="solid"/>
          </a:ln>
        </p:spPr>
      </p:sp>
      <p:sp>
        <p:nvSpPr>
          <p:cNvPr id="38" name="Text 35"/>
          <p:cNvSpPr txBox="1"/>
          <p:nvPr/>
        </p:nvSpPr>
        <p:spPr>
          <a:xfrm>
            <a:off x="9738360" y="3496056"/>
            <a:ext cx="1901952" cy="55930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 وَعُمْرُ أَخِي …</a:t>
            </a:r>
            <a:endParaRPr lang="ar-SA" sz="1500" dirty="0"/>
          </a:p>
        </p:txBody>
      </p:sp>
      <p:sp>
        <p:nvSpPr>
          <p:cNvPr id="39" name="Text 36"/>
          <p:cNvSpPr txBox="1"/>
          <p:nvPr/>
        </p:nvSpPr>
        <p:spPr>
          <a:xfrm>
            <a:off x="6995160" y="3496056"/>
            <a:ext cx="2560320" cy="559308"/>
          </a:xfrm>
          <a:prstGeom prst="rect">
            <a:avLst/>
          </a:prstGeom>
          <a:noFill/>
          <a:ln/>
        </p:spPr>
        <p:txBody>
          <a:bodyPr wrap="square" lIns="0" tIns="0" rIns="0" bIns="0" rtlCol="0" anchor="ctr"/>
          <a:lstStyle/>
          <a:p>
            <a:pPr rtl="1" algn="ctr" indent="0" marL="0">
              <a:buNone/>
            </a:pPr>
            <a:r>
              <a:rPr lang="ar-SA" altLang="en-US" sz="1600" b="1" dirty="0">
                <a:solidFill>
                  <a:srgbClr val="1B3B6F"/>
                </a:solidFill>
                <a:latin typeface="Amiri" pitchFamily="2" charset="-78"/>
                <a:ea typeface="Amiri" pitchFamily="2" charset="-78"/>
                <a:cs typeface="Amiri" pitchFamily="2" charset="-78"/>
              </a:rPr>
              <a:t>عُمْرِي … سَنَةً</a:t>
            </a:r>
            <a:endParaRPr lang="ar-SA" sz="1600" dirty="0"/>
          </a:p>
        </p:txBody>
      </p:sp>
      <p:sp>
        <p:nvSpPr>
          <p:cNvPr id="40" name="Text 37"/>
          <p:cNvSpPr txBox="1"/>
          <p:nvPr/>
        </p:nvSpPr>
        <p:spPr>
          <a:xfrm>
            <a:off x="4636008" y="3496056"/>
            <a:ext cx="2194560"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Age? → in a sentence.</a:t>
            </a:r>
            <a:endParaRPr lang="en-US" sz="1100" dirty="0"/>
          </a:p>
        </p:txBody>
      </p:sp>
      <p:sp>
        <p:nvSpPr>
          <p:cNvPr id="41" name="Text 38"/>
          <p:cNvSpPr txBox="1"/>
          <p:nvPr/>
        </p:nvSpPr>
        <p:spPr>
          <a:xfrm>
            <a:off x="1051560" y="3496056"/>
            <a:ext cx="3383280" cy="559308"/>
          </a:xfrm>
          <a:prstGeom prst="rect">
            <a:avLst/>
          </a:prstGeom>
          <a:noFill/>
          <a:ln/>
        </p:spPr>
        <p:txBody>
          <a:bodyPr wrap="square" lIns="0" tIns="0" rIns="0" bIns="0" rtlCol="0" anchor="ctr"/>
          <a:lstStyle/>
          <a:p>
            <a:pPr rtl="1" algn="ctr" indent="0" marL="0">
              <a:buNone/>
            </a:pPr>
            <a:r>
              <a:rPr lang="ar-SA" altLang="en-US" sz="1700" b="1" dirty="0">
                <a:solidFill>
                  <a:srgbClr val="1B3B6F"/>
                </a:solidFill>
                <a:latin typeface="Amiri" pitchFamily="2" charset="-78"/>
                <a:ea typeface="Amiri" pitchFamily="2" charset="-78"/>
                <a:cs typeface="Amiri" pitchFamily="2" charset="-78"/>
              </a:rPr>
              <a:t>العُمْرُ؟ ← قُلْهُ فِي جُمْلَةٍ.</a:t>
            </a:r>
            <a:endParaRPr lang="ar-SA" sz="1700" dirty="0"/>
          </a:p>
        </p:txBody>
      </p:sp>
      <p:sp>
        <p:nvSpPr>
          <p:cNvPr id="42" name="Text 39"/>
          <p:cNvSpPr txBox="1"/>
          <p:nvPr/>
        </p:nvSpPr>
        <p:spPr>
          <a:xfrm>
            <a:off x="566928" y="3496056"/>
            <a:ext cx="320040"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3</a:t>
            </a:r>
            <a:endParaRPr lang="en-US" sz="1100" dirty="0"/>
          </a:p>
        </p:txBody>
      </p:sp>
      <p:sp>
        <p:nvSpPr>
          <p:cNvPr id="43" name="Shape 40"/>
          <p:cNvSpPr/>
          <p:nvPr/>
        </p:nvSpPr>
        <p:spPr>
          <a:xfrm>
            <a:off x="11091672" y="3541776"/>
            <a:ext cx="548640" cy="182880"/>
          </a:xfrm>
          <a:prstGeom prst="roundRect">
            <a:avLst>
              <a:gd name="adj" fmla="val 50000"/>
            </a:avLst>
          </a:prstGeom>
          <a:solidFill>
            <a:srgbClr val="2E8B57"/>
          </a:solidFill>
          <a:ln w="12700">
            <a:solidFill>
              <a:srgbClr val="2E8B57"/>
            </a:solidFill>
            <a:prstDash val="solid"/>
          </a:ln>
        </p:spPr>
      </p:sp>
      <p:sp>
        <p:nvSpPr>
          <p:cNvPr id="44" name="Text 41"/>
          <p:cNvSpPr txBox="1"/>
          <p:nvPr/>
        </p:nvSpPr>
        <p:spPr>
          <a:xfrm>
            <a:off x="11091672" y="3541776"/>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45" name="Shape 42"/>
          <p:cNvSpPr/>
          <p:nvPr/>
        </p:nvSpPr>
        <p:spPr>
          <a:xfrm>
            <a:off x="457200" y="4110228"/>
            <a:ext cx="11274552" cy="559308"/>
          </a:xfrm>
          <a:prstGeom prst="roundRect">
            <a:avLst>
              <a:gd name="adj" fmla="val 8174"/>
            </a:avLst>
          </a:prstGeom>
          <a:solidFill>
            <a:srgbClr val="F4F1EA"/>
          </a:solidFill>
          <a:ln w="9525">
            <a:solidFill>
              <a:srgbClr val="D8D0BF"/>
            </a:solidFill>
            <a:prstDash val="solid"/>
          </a:ln>
        </p:spPr>
      </p:sp>
      <p:sp>
        <p:nvSpPr>
          <p:cNvPr id="46" name="Text 43"/>
          <p:cNvSpPr txBox="1"/>
          <p:nvPr/>
        </p:nvSpPr>
        <p:spPr>
          <a:xfrm>
            <a:off x="9738360" y="4110228"/>
            <a:ext cx="1901952" cy="55930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 سَنَةً</a:t>
            </a:r>
            <a:endParaRPr lang="ar-SA" sz="1500" dirty="0"/>
          </a:p>
        </p:txBody>
      </p:sp>
      <p:sp>
        <p:nvSpPr>
          <p:cNvPr id="47" name="Text 44"/>
          <p:cNvSpPr txBox="1"/>
          <p:nvPr/>
        </p:nvSpPr>
        <p:spPr>
          <a:xfrm>
            <a:off x="6995160" y="4110228"/>
            <a:ext cx="2560320" cy="559308"/>
          </a:xfrm>
          <a:prstGeom prst="rect">
            <a:avLst/>
          </a:prstGeom>
          <a:noFill/>
          <a:ln/>
        </p:spPr>
        <p:txBody>
          <a:bodyPr wrap="square" lIns="0" tIns="0" rIns="0" bIns="0" rtlCol="0" anchor="ctr"/>
          <a:lstStyle/>
          <a:p>
            <a:pPr rtl="1" algn="ctr" indent="0" marL="0">
              <a:buNone/>
            </a:pPr>
            <a:r>
              <a:rPr lang="ar-SA" altLang="en-US" sz="1600" b="1" dirty="0">
                <a:solidFill>
                  <a:srgbClr val="1B3B6F"/>
                </a:solidFill>
                <a:latin typeface="Amiri" pitchFamily="2" charset="-78"/>
                <a:ea typeface="Amiri" pitchFamily="2" charset="-78"/>
                <a:cs typeface="Amiri" pitchFamily="2" charset="-78"/>
              </a:rPr>
              <a:t>اسْمِي … وَعُمْرِي …</a:t>
            </a:r>
            <a:endParaRPr lang="ar-SA" sz="1600" dirty="0"/>
          </a:p>
        </p:txBody>
      </p:sp>
      <p:sp>
        <p:nvSpPr>
          <p:cNvPr id="48" name="Text 45"/>
          <p:cNvSpPr txBox="1"/>
          <p:nvPr/>
        </p:nvSpPr>
        <p:spPr>
          <a:xfrm>
            <a:off x="4636008" y="4110228"/>
            <a:ext cx="2194560"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Name and age?</a:t>
            </a:r>
            <a:endParaRPr lang="en-US" sz="1100" dirty="0"/>
          </a:p>
        </p:txBody>
      </p:sp>
      <p:sp>
        <p:nvSpPr>
          <p:cNvPr id="49" name="Text 46"/>
          <p:cNvSpPr txBox="1"/>
          <p:nvPr/>
        </p:nvSpPr>
        <p:spPr>
          <a:xfrm>
            <a:off x="1051560" y="4110228"/>
            <a:ext cx="3383280" cy="559308"/>
          </a:xfrm>
          <a:prstGeom prst="rect">
            <a:avLst/>
          </a:prstGeom>
          <a:noFill/>
          <a:ln/>
        </p:spPr>
        <p:txBody>
          <a:bodyPr wrap="square" lIns="0" tIns="0" rIns="0" bIns="0" rtlCol="0" anchor="ctr"/>
          <a:lstStyle/>
          <a:p>
            <a:pPr rtl="1" algn="ctr" indent="0" marL="0">
              <a:buNone/>
            </a:pPr>
            <a:r>
              <a:rPr lang="ar-SA" altLang="en-US" sz="1700" b="1" dirty="0">
                <a:solidFill>
                  <a:srgbClr val="1B3B6F"/>
                </a:solidFill>
                <a:latin typeface="Amiri" pitchFamily="2" charset="-78"/>
                <a:ea typeface="Amiri" pitchFamily="2" charset="-78"/>
                <a:cs typeface="Amiri" pitchFamily="2" charset="-78"/>
              </a:rPr>
              <a:t>مَا اسْمُكَ وَكَمْ عُمْرُكَ؟</a:t>
            </a:r>
            <a:endParaRPr lang="ar-SA" sz="1700" dirty="0"/>
          </a:p>
        </p:txBody>
      </p:sp>
      <p:sp>
        <p:nvSpPr>
          <p:cNvPr id="50" name="Text 47"/>
          <p:cNvSpPr txBox="1"/>
          <p:nvPr/>
        </p:nvSpPr>
        <p:spPr>
          <a:xfrm>
            <a:off x="566928" y="4110228"/>
            <a:ext cx="320040"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4</a:t>
            </a:r>
            <a:endParaRPr lang="en-US" sz="1100" dirty="0"/>
          </a:p>
        </p:txBody>
      </p:sp>
      <p:sp>
        <p:nvSpPr>
          <p:cNvPr id="51" name="Shape 48"/>
          <p:cNvSpPr/>
          <p:nvPr/>
        </p:nvSpPr>
        <p:spPr>
          <a:xfrm>
            <a:off x="11091672" y="4155948"/>
            <a:ext cx="548640" cy="182880"/>
          </a:xfrm>
          <a:prstGeom prst="roundRect">
            <a:avLst>
              <a:gd name="adj" fmla="val 50000"/>
            </a:avLst>
          </a:prstGeom>
          <a:solidFill>
            <a:srgbClr val="2E8B57"/>
          </a:solidFill>
          <a:ln w="12700">
            <a:solidFill>
              <a:srgbClr val="2E8B57"/>
            </a:solidFill>
            <a:prstDash val="solid"/>
          </a:ln>
        </p:spPr>
      </p:sp>
      <p:sp>
        <p:nvSpPr>
          <p:cNvPr id="52" name="Text 49"/>
          <p:cNvSpPr txBox="1"/>
          <p:nvPr/>
        </p:nvSpPr>
        <p:spPr>
          <a:xfrm>
            <a:off x="11091672" y="4155948"/>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53" name="Shape 50"/>
          <p:cNvSpPr/>
          <p:nvPr/>
        </p:nvSpPr>
        <p:spPr>
          <a:xfrm>
            <a:off x="457200" y="4724400"/>
            <a:ext cx="11274552" cy="559308"/>
          </a:xfrm>
          <a:prstGeom prst="roundRect">
            <a:avLst>
              <a:gd name="adj" fmla="val 8174"/>
            </a:avLst>
          </a:prstGeom>
          <a:solidFill>
            <a:srgbClr val="FFFFFF"/>
          </a:solidFill>
          <a:ln w="9525">
            <a:solidFill>
              <a:srgbClr val="D8D0BF"/>
            </a:solidFill>
            <a:prstDash val="solid"/>
          </a:ln>
        </p:spPr>
      </p:sp>
      <p:sp>
        <p:nvSpPr>
          <p:cNvPr id="54" name="Text 51"/>
          <p:cNvSpPr txBox="1"/>
          <p:nvPr/>
        </p:nvSpPr>
        <p:spPr>
          <a:xfrm>
            <a:off x="9738360" y="4724400"/>
            <a:ext cx="1901952" cy="55930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 لٰكِنَّ عَائِلَتِي مِنْ …</a:t>
            </a:r>
            <a:endParaRPr lang="ar-SA" sz="1500" dirty="0"/>
          </a:p>
        </p:txBody>
      </p:sp>
      <p:sp>
        <p:nvSpPr>
          <p:cNvPr id="55" name="Text 52"/>
          <p:cNvSpPr txBox="1"/>
          <p:nvPr/>
        </p:nvSpPr>
        <p:spPr>
          <a:xfrm>
            <a:off x="6995160" y="4724400"/>
            <a:ext cx="2560320" cy="559308"/>
          </a:xfrm>
          <a:prstGeom prst="rect">
            <a:avLst/>
          </a:prstGeom>
          <a:noFill/>
          <a:ln/>
        </p:spPr>
        <p:txBody>
          <a:bodyPr wrap="square" lIns="0" tIns="0" rIns="0" bIns="0" rtlCol="0" anchor="ctr"/>
          <a:lstStyle/>
          <a:p>
            <a:pPr rtl="1" algn="ctr" indent="0" marL="0">
              <a:buNone/>
            </a:pPr>
            <a:r>
              <a:rPr lang="ar-SA" altLang="en-US" sz="1600" b="1" dirty="0">
                <a:solidFill>
                  <a:srgbClr val="1B3B6F"/>
                </a:solidFill>
                <a:latin typeface="Amiri" pitchFamily="2" charset="-78"/>
                <a:ea typeface="Amiri" pitchFamily="2" charset="-78"/>
                <a:cs typeface="Amiri" pitchFamily="2" charset="-78"/>
              </a:rPr>
              <a:t>أَنَا … ، وَأَسْكُنُ فِي …</a:t>
            </a:r>
            <a:endParaRPr lang="ar-SA" sz="1600" dirty="0"/>
          </a:p>
        </p:txBody>
      </p:sp>
      <p:sp>
        <p:nvSpPr>
          <p:cNvPr id="56" name="Text 53"/>
          <p:cNvSpPr txBox="1"/>
          <p:nvPr/>
        </p:nvSpPr>
        <p:spPr>
          <a:xfrm>
            <a:off x="4636008" y="4724400"/>
            <a:ext cx="2194560"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Nationality and residence?</a:t>
            </a:r>
            <a:endParaRPr lang="en-US" sz="1100" dirty="0"/>
          </a:p>
        </p:txBody>
      </p:sp>
      <p:sp>
        <p:nvSpPr>
          <p:cNvPr id="57" name="Text 54"/>
          <p:cNvSpPr txBox="1"/>
          <p:nvPr/>
        </p:nvSpPr>
        <p:spPr>
          <a:xfrm>
            <a:off x="1051560" y="4724400"/>
            <a:ext cx="3383280" cy="559308"/>
          </a:xfrm>
          <a:prstGeom prst="rect">
            <a:avLst/>
          </a:prstGeom>
          <a:noFill/>
          <a:ln/>
        </p:spPr>
        <p:txBody>
          <a:bodyPr wrap="square" lIns="0" tIns="0" rIns="0" bIns="0" rtlCol="0" anchor="ctr"/>
          <a:lstStyle/>
          <a:p>
            <a:pPr rtl="1" algn="ctr" indent="0" marL="0">
              <a:buNone/>
            </a:pPr>
            <a:r>
              <a:rPr lang="ar-SA" altLang="en-US" sz="1700" b="1" dirty="0">
                <a:solidFill>
                  <a:srgbClr val="1B3B6F"/>
                </a:solidFill>
                <a:latin typeface="Amiri" pitchFamily="2" charset="-78"/>
                <a:ea typeface="Amiri" pitchFamily="2" charset="-78"/>
                <a:cs typeface="Amiri" pitchFamily="2" charset="-78"/>
              </a:rPr>
              <a:t>الجِنْسِيَّةُ وَمَكَانُ السَّكَنِ؟</a:t>
            </a:r>
            <a:endParaRPr lang="ar-SA" sz="1700" dirty="0"/>
          </a:p>
        </p:txBody>
      </p:sp>
      <p:sp>
        <p:nvSpPr>
          <p:cNvPr id="58" name="Text 55"/>
          <p:cNvSpPr txBox="1"/>
          <p:nvPr/>
        </p:nvSpPr>
        <p:spPr>
          <a:xfrm>
            <a:off x="566928" y="4724400"/>
            <a:ext cx="320040"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5</a:t>
            </a:r>
            <a:endParaRPr lang="en-US" sz="1100" dirty="0"/>
          </a:p>
        </p:txBody>
      </p:sp>
      <p:sp>
        <p:nvSpPr>
          <p:cNvPr id="59" name="Shape 56"/>
          <p:cNvSpPr/>
          <p:nvPr/>
        </p:nvSpPr>
        <p:spPr>
          <a:xfrm>
            <a:off x="457200" y="5338572"/>
            <a:ext cx="11274552" cy="559308"/>
          </a:xfrm>
          <a:prstGeom prst="roundRect">
            <a:avLst>
              <a:gd name="adj" fmla="val 8174"/>
            </a:avLst>
          </a:prstGeom>
          <a:solidFill>
            <a:srgbClr val="F4F1EA"/>
          </a:solidFill>
          <a:ln w="9525">
            <a:solidFill>
              <a:srgbClr val="D8D0BF"/>
            </a:solidFill>
            <a:prstDash val="solid"/>
          </a:ln>
        </p:spPr>
      </p:sp>
      <p:sp>
        <p:nvSpPr>
          <p:cNvPr id="60" name="Text 57"/>
          <p:cNvSpPr txBox="1"/>
          <p:nvPr/>
        </p:nvSpPr>
        <p:spPr>
          <a:xfrm>
            <a:off x="9738360" y="5338572"/>
            <a:ext cx="1901952" cy="55930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 لٰكِنِّي أَسْكُنُ فِي …</a:t>
            </a:r>
            <a:endParaRPr lang="ar-SA" sz="1500" dirty="0"/>
          </a:p>
        </p:txBody>
      </p:sp>
      <p:sp>
        <p:nvSpPr>
          <p:cNvPr id="61" name="Text 58"/>
          <p:cNvSpPr txBox="1"/>
          <p:nvPr/>
        </p:nvSpPr>
        <p:spPr>
          <a:xfrm>
            <a:off x="6995160" y="5338572"/>
            <a:ext cx="2560320" cy="559308"/>
          </a:xfrm>
          <a:prstGeom prst="rect">
            <a:avLst/>
          </a:prstGeom>
          <a:noFill/>
          <a:ln/>
        </p:spPr>
        <p:txBody>
          <a:bodyPr wrap="square" lIns="0" tIns="0" rIns="0" bIns="0" rtlCol="0" anchor="ctr"/>
          <a:lstStyle/>
          <a:p>
            <a:pPr rtl="1" algn="ctr" indent="0" marL="0">
              <a:buNone/>
            </a:pPr>
            <a:r>
              <a:rPr lang="ar-SA" altLang="en-US" sz="1600" b="1" dirty="0">
                <a:solidFill>
                  <a:srgbClr val="1B3B6F"/>
                </a:solidFill>
                <a:latin typeface="Amiri" pitchFamily="2" charset="-78"/>
                <a:ea typeface="Amiri" pitchFamily="2" charset="-78"/>
                <a:cs typeface="Amiri" pitchFamily="2" charset="-78"/>
              </a:rPr>
              <a:t>أَنَا مِنْ … ، وَأَنَا …</a:t>
            </a:r>
            <a:endParaRPr lang="ar-SA" sz="1600" dirty="0"/>
          </a:p>
        </p:txBody>
      </p:sp>
      <p:sp>
        <p:nvSpPr>
          <p:cNvPr id="62" name="Text 59"/>
          <p:cNvSpPr txBox="1"/>
          <p:nvPr/>
        </p:nvSpPr>
        <p:spPr>
          <a:xfrm>
            <a:off x="4636008" y="5338572"/>
            <a:ext cx="2194560"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Where from? Nationality?</a:t>
            </a:r>
            <a:endParaRPr lang="en-US" sz="1100" dirty="0"/>
          </a:p>
        </p:txBody>
      </p:sp>
      <p:sp>
        <p:nvSpPr>
          <p:cNvPr id="63" name="Text 60"/>
          <p:cNvSpPr txBox="1"/>
          <p:nvPr/>
        </p:nvSpPr>
        <p:spPr>
          <a:xfrm>
            <a:off x="1051560" y="5338572"/>
            <a:ext cx="3383280" cy="559308"/>
          </a:xfrm>
          <a:prstGeom prst="rect">
            <a:avLst/>
          </a:prstGeom>
          <a:noFill/>
          <a:ln/>
        </p:spPr>
        <p:txBody>
          <a:bodyPr wrap="square" lIns="0" tIns="0" rIns="0" bIns="0" rtlCol="0" anchor="ctr"/>
          <a:lstStyle/>
          <a:p>
            <a:pPr rtl="1" algn="ctr" indent="0" marL="0">
              <a:buNone/>
            </a:pPr>
            <a:r>
              <a:rPr lang="ar-SA" altLang="en-US" sz="1700" b="1" dirty="0">
                <a:solidFill>
                  <a:srgbClr val="1B3B6F"/>
                </a:solidFill>
                <a:latin typeface="Amiri" pitchFamily="2" charset="-78"/>
                <a:ea typeface="Amiri" pitchFamily="2" charset="-78"/>
                <a:cs typeface="Amiri" pitchFamily="2" charset="-78"/>
              </a:rPr>
              <a:t>مِنْ أَيْنَ أَنْتَ؟ وَمَا جِنْسِيَّتُكَ؟</a:t>
            </a:r>
            <a:endParaRPr lang="ar-SA" sz="1700" dirty="0"/>
          </a:p>
        </p:txBody>
      </p:sp>
      <p:sp>
        <p:nvSpPr>
          <p:cNvPr id="64" name="Text 61"/>
          <p:cNvSpPr txBox="1"/>
          <p:nvPr/>
        </p:nvSpPr>
        <p:spPr>
          <a:xfrm>
            <a:off x="566928" y="5338572"/>
            <a:ext cx="320040"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6</a:t>
            </a:r>
            <a:endParaRPr lang="en-US" sz="1100" dirty="0"/>
          </a:p>
        </p:txBody>
      </p:sp>
      <p:sp>
        <p:nvSpPr>
          <p:cNvPr id="65" name="Text 62"/>
          <p:cNvSpPr txBox="1"/>
          <p:nvPr/>
        </p:nvSpPr>
        <p:spPr>
          <a:xfrm>
            <a:off x="457200" y="5943600"/>
            <a:ext cx="11274552" cy="365760"/>
          </a:xfrm>
          <a:prstGeom prst="rect">
            <a:avLst/>
          </a:prstGeom>
          <a:noFill/>
          <a:ln/>
        </p:spPr>
        <p:txBody>
          <a:bodyPr wrap="square" lIns="0" tIns="0" rIns="0" bIns="0" rtlCol="0" anchor="ctr"/>
          <a:lstStyle/>
          <a:p>
            <a:pPr algn="l" indent="0" marL="0">
              <a:buNone/>
            </a:pPr>
            <a:r>
              <a:rPr lang="en-US" sz="1100" b="1" dirty="0">
                <a:solidFill>
                  <a:srgbClr val="1B3B6F"/>
                </a:solidFill>
                <a:latin typeface="Calibri" pitchFamily="34" charset="0"/>
                <a:cs typeface="Amiri" pitchFamily="2" charset="-78"/>
              </a:rPr>
              <a:t>Odd numbers come from F2-L11, even numbers from F2-L12. Core: a full sentence from the starter. Develop: add the “more” part. Stretch: link two answers with </a:t>
            </a:r>
            <a:pPr algn="l" indent="0" marL="0">
              <a:buNone/>
            </a:pPr>
            <a:r>
              <a:rPr lang="ar-SA" altLang="en-US" sz="1450" b="1" dirty="0">
                <a:solidFill>
                  <a:srgbClr val="1B3B6F"/>
                </a:solidFill>
                <a:latin typeface="Amiri" pitchFamily="2" charset="-78"/>
                <a:ea typeface="Amiri" pitchFamily="2" charset="-78"/>
                <a:cs typeface="Amiri" pitchFamily="2" charset="-78"/>
              </a:rPr>
              <a:t>وَ</a:t>
            </a:r>
            <a:pPr algn="l" indent="0" marL="0">
              <a:buNone/>
            </a:pPr>
            <a:r>
              <a:rPr lang="en-US" sz="1100" b="1" dirty="0">
                <a:solidFill>
                  <a:srgbClr val="1B3B6F"/>
                </a:solidFill>
                <a:latin typeface="Calibri" pitchFamily="34" charset="0"/>
                <a:cs typeface="Amiri" pitchFamily="2" charset="-78"/>
              </a:rPr>
              <a:t>, </a:t>
            </a:r>
            <a:pPr algn="l" indent="0" marL="0">
              <a:buNone/>
            </a:pPr>
            <a:r>
              <a:rPr lang="ar-SA" altLang="en-US" sz="1450" b="1" dirty="0">
                <a:solidFill>
                  <a:srgbClr val="1B3B6F"/>
                </a:solidFill>
                <a:latin typeface="Amiri" pitchFamily="2" charset="-78"/>
                <a:ea typeface="Amiri" pitchFamily="2" charset="-78"/>
                <a:cs typeface="Amiri" pitchFamily="2" charset="-78"/>
              </a:rPr>
              <a:t>لِأَنَّ</a:t>
            </a:r>
            <a:pPr algn="l" indent="0" marL="0">
              <a:buNone/>
            </a:pPr>
            <a:r>
              <a:rPr lang="en-US" sz="1100" b="1" dirty="0">
                <a:solidFill>
                  <a:srgbClr val="1B3B6F"/>
                </a:solidFill>
                <a:latin typeface="Calibri" pitchFamily="34" charset="0"/>
                <a:cs typeface="Amiri" pitchFamily="2" charset="-78"/>
              </a:rPr>
              <a:t> or </a:t>
            </a:r>
            <a:pPr algn="l" indent="0" marL="0">
              <a:buNone/>
            </a:pPr>
            <a:r>
              <a:rPr lang="ar-SA" altLang="en-US" sz="1450" b="1" dirty="0">
                <a:solidFill>
                  <a:srgbClr val="1B3B6F"/>
                </a:solidFill>
                <a:latin typeface="Amiri" pitchFamily="2" charset="-78"/>
                <a:ea typeface="Amiri" pitchFamily="2" charset="-78"/>
                <a:cs typeface="Amiri" pitchFamily="2" charset="-78"/>
              </a:rPr>
              <a:t>لٰكِنَّ</a:t>
            </a:r>
            <a:pPr algn="l" indent="0" marL="0">
              <a:buNone/>
            </a:pPr>
            <a:r>
              <a:rPr lang="en-US" sz="1100" b="1" dirty="0">
                <a:solidFill>
                  <a:srgbClr val="1B3B6F"/>
                </a:solidFill>
                <a:latin typeface="Calibri" pitchFamily="34" charset="0"/>
                <a:cs typeface="Amiri" pitchFamily="2" charset="-78"/>
              </a:rPr>
              <a:t>. Swap after each question.</a:t>
            </a:r>
            <a:endParaRPr lang="en-US" sz="1100" dirty="0"/>
          </a:p>
        </p:txBody>
      </p:sp>
      <p:sp>
        <p:nvSpPr>
          <p:cNvPr id="66" name="Text 63"/>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11 / 24</a:t>
            </a:r>
            <a:endParaRPr lang="en-US" sz="85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F2-W06 · Apply workshop</a:t>
            </a:r>
            <a:endParaRPr lang="en-US" sz="950" dirty="0"/>
          </a:p>
        </p:txBody>
      </p:sp>
      <p:sp>
        <p:nvSpPr>
          <p:cNvPr id="8" name="Shape 6"/>
          <p:cNvSpPr/>
          <p:nvPr/>
        </p:nvSpPr>
        <p:spPr>
          <a:xfrm>
            <a:off x="7295083" y="274320"/>
            <a:ext cx="1464869"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295083" y="274320"/>
            <a:ext cx="146486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 · 7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150" kern="0" dirty="0">
                <a:solidFill>
                  <a:srgbClr val="1E6B52"/>
                </a:solidFill>
                <a:latin typeface="Calibri" pitchFamily="34" charset="0"/>
                <a:cs typeface="Amiri" pitchFamily="2" charset="-78"/>
              </a:rPr>
              <a:t>STEP 5 · ROLE-PLAY CARD · USE THE PLAN, THEN HIDE IT AND SPEAK</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150" b="1" dirty="0">
                <a:solidFill>
                  <a:srgbClr val="1B3B6F"/>
                </a:solidFill>
                <a:latin typeface="Cambria" pitchFamily="34" charset="0"/>
                <a:cs typeface="Amiri" pitchFamily="2" charset="-78"/>
              </a:rPr>
              <a:t>Role-play card — the pen-friend coordinator</a:t>
            </a:r>
            <a:endParaRPr lang="en-US" sz="215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مُنَسِّقُ النَّادِي</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F2 · Greetings &amp; Introductions · F2-W06 · Apply workshop (F2-L11 + F2-L12)</a:t>
            </a:r>
            <a:endParaRPr lang="en-US" sz="850" dirty="0"/>
          </a:p>
        </p:txBody>
      </p:sp>
      <p:sp>
        <p:nvSpPr>
          <p:cNvPr id="15" name="Shape 12"/>
          <p:cNvSpPr/>
          <p:nvPr/>
        </p:nvSpPr>
        <p:spPr>
          <a:xfrm>
            <a:off x="457200" y="1810512"/>
            <a:ext cx="11274552" cy="384048"/>
          </a:xfrm>
          <a:prstGeom prst="rect">
            <a:avLst/>
          </a:prstGeom>
          <a:solidFill>
            <a:srgbClr val="1B3B6F"/>
          </a:solidFill>
          <a:ln w="12700">
            <a:solidFill>
              <a:srgbClr val="1B3B6F"/>
            </a:solidFill>
            <a:prstDash val="solid"/>
          </a:ln>
        </p:spPr>
      </p:sp>
      <p:sp>
        <p:nvSpPr>
          <p:cNvPr id="16" name="Text 13"/>
          <p:cNvSpPr txBox="1"/>
          <p:nvPr/>
        </p:nvSpPr>
        <p:spPr>
          <a:xfrm>
            <a:off x="8257032" y="1810512"/>
            <a:ext cx="3401568"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Plan: first words</a:t>
            </a:r>
            <a:endParaRPr lang="en-US" sz="1100" dirty="0"/>
          </a:p>
        </p:txBody>
      </p:sp>
      <p:sp>
        <p:nvSpPr>
          <p:cNvPr id="17" name="Text 14"/>
          <p:cNvSpPr txBox="1"/>
          <p:nvPr/>
        </p:nvSpPr>
        <p:spPr>
          <a:xfrm>
            <a:off x="4965192" y="1810512"/>
            <a:ext cx="314553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Speaker’s task</a:t>
            </a:r>
            <a:endParaRPr lang="en-US" sz="1100" dirty="0"/>
          </a:p>
        </p:txBody>
      </p:sp>
      <p:sp>
        <p:nvSpPr>
          <p:cNvPr id="18" name="Text 15"/>
          <p:cNvSpPr txBox="1"/>
          <p:nvPr/>
        </p:nvSpPr>
        <p:spPr>
          <a:xfrm>
            <a:off x="1033272" y="1810512"/>
            <a:ext cx="378561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Partner A reads</a:t>
            </a:r>
            <a:endParaRPr lang="en-US" sz="1100" dirty="0"/>
          </a:p>
        </p:txBody>
      </p:sp>
      <p:sp>
        <p:nvSpPr>
          <p:cNvPr id="19" name="Text 16"/>
          <p:cNvSpPr txBox="1"/>
          <p:nvPr/>
        </p:nvSpPr>
        <p:spPr>
          <a:xfrm>
            <a:off x="530352" y="1810512"/>
            <a:ext cx="35661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a:t>
            </a:r>
            <a:endParaRPr lang="en-US" sz="1100" dirty="0"/>
          </a:p>
        </p:txBody>
      </p:sp>
      <p:sp>
        <p:nvSpPr>
          <p:cNvPr id="20" name="Shape 17"/>
          <p:cNvSpPr/>
          <p:nvPr/>
        </p:nvSpPr>
        <p:spPr>
          <a:xfrm>
            <a:off x="457200" y="2267712"/>
            <a:ext cx="11274552" cy="682142"/>
          </a:xfrm>
          <a:prstGeom prst="roundRect">
            <a:avLst>
              <a:gd name="adj" fmla="val 6702"/>
            </a:avLst>
          </a:prstGeom>
          <a:solidFill>
            <a:srgbClr val="FFFFFF"/>
          </a:solidFill>
          <a:ln w="9525">
            <a:solidFill>
              <a:srgbClr val="D8D0BF"/>
            </a:solidFill>
            <a:prstDash val="solid"/>
          </a:ln>
        </p:spPr>
      </p:sp>
      <p:sp>
        <p:nvSpPr>
          <p:cNvPr id="21" name="Text 18"/>
          <p:cNvSpPr txBox="1"/>
          <p:nvPr/>
        </p:nvSpPr>
        <p:spPr>
          <a:xfrm>
            <a:off x="8275320" y="2267712"/>
            <a:ext cx="3364992" cy="682142"/>
          </a:xfrm>
          <a:prstGeom prst="rect">
            <a:avLst/>
          </a:prstGeom>
          <a:noFill/>
          <a:ln/>
        </p:spPr>
        <p:txBody>
          <a:bodyPr wrap="square" lIns="0" tIns="0" rIns="0" bIns="0" rtlCol="0" anchor="ctr"/>
          <a:lstStyle/>
          <a:p>
            <a:pPr rtl="1" algn="ctr" indent="0" marL="0">
              <a:buNone/>
            </a:pPr>
            <a:r>
              <a:rPr lang="ar-SA" altLang="en-US" sz="1600" b="1" dirty="0">
                <a:solidFill>
                  <a:srgbClr val="1B3B6F"/>
                </a:solidFill>
                <a:latin typeface="Amiri" pitchFamily="2" charset="-78"/>
                <a:ea typeface="Amiri" pitchFamily="2" charset="-78"/>
                <a:cs typeface="Amiri" pitchFamily="2" charset="-78"/>
              </a:rPr>
              <a:t>مَا / كَمْ ← اسْمِي … ، وَعُمْرِي …</a:t>
            </a:r>
            <a:endParaRPr lang="ar-SA" sz="1600" dirty="0"/>
          </a:p>
        </p:txBody>
      </p:sp>
      <p:sp>
        <p:nvSpPr>
          <p:cNvPr id="22" name="Text 19"/>
          <p:cNvSpPr txBox="1"/>
          <p:nvPr/>
        </p:nvSpPr>
        <p:spPr>
          <a:xfrm>
            <a:off x="5001768" y="2267712"/>
            <a:ext cx="310896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Give your name and age in one sentence.</a:t>
            </a:r>
            <a:endParaRPr lang="en-US" sz="1100" dirty="0"/>
          </a:p>
        </p:txBody>
      </p:sp>
      <p:sp>
        <p:nvSpPr>
          <p:cNvPr id="23" name="Text 20"/>
          <p:cNvSpPr txBox="1"/>
          <p:nvPr/>
        </p:nvSpPr>
        <p:spPr>
          <a:xfrm>
            <a:off x="1051560" y="2267712"/>
            <a:ext cx="3749040" cy="682142"/>
          </a:xfrm>
          <a:prstGeom prst="rect">
            <a:avLst/>
          </a:prstGeom>
          <a:noFill/>
          <a:ln/>
        </p:spPr>
        <p:txBody>
          <a:bodyPr wrap="square" lIns="0" tIns="0" rIns="0" bIns="0" rtlCol="0" anchor="ctr"/>
          <a:lstStyle/>
          <a:p>
            <a:pPr rtl="1" algn="ctr" indent="0" marL="0">
              <a:buNone/>
            </a:pPr>
            <a:r>
              <a:rPr lang="ar-SA" altLang="en-US" sz="1700" b="1" dirty="0">
                <a:solidFill>
                  <a:srgbClr val="1B3B6F"/>
                </a:solidFill>
                <a:latin typeface="Amiri" pitchFamily="2" charset="-78"/>
                <a:ea typeface="Amiri" pitchFamily="2" charset="-78"/>
                <a:cs typeface="Amiri" pitchFamily="2" charset="-78"/>
              </a:rPr>
              <a:t>أَهْلًا! مَا اسْمُكَ، وَكَمْ عُمْرُكَ؟</a:t>
            </a:r>
            <a:endParaRPr lang="ar-SA" sz="1700" dirty="0"/>
          </a:p>
        </p:txBody>
      </p:sp>
      <p:sp>
        <p:nvSpPr>
          <p:cNvPr id="24" name="Text 21"/>
          <p:cNvSpPr txBox="1"/>
          <p:nvPr/>
        </p:nvSpPr>
        <p:spPr>
          <a:xfrm>
            <a:off x="566928" y="2267712"/>
            <a:ext cx="32004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1</a:t>
            </a:r>
            <a:endParaRPr lang="en-US" sz="1100" dirty="0"/>
          </a:p>
        </p:txBody>
      </p:sp>
      <p:sp>
        <p:nvSpPr>
          <p:cNvPr id="25" name="Shape 22"/>
          <p:cNvSpPr/>
          <p:nvPr/>
        </p:nvSpPr>
        <p:spPr>
          <a:xfrm>
            <a:off x="11091672" y="2313432"/>
            <a:ext cx="548640" cy="182880"/>
          </a:xfrm>
          <a:prstGeom prst="roundRect">
            <a:avLst>
              <a:gd name="adj" fmla="val 50000"/>
            </a:avLst>
          </a:prstGeom>
          <a:solidFill>
            <a:srgbClr val="2E8B57"/>
          </a:solidFill>
          <a:ln w="12700">
            <a:solidFill>
              <a:srgbClr val="2E8B57"/>
            </a:solidFill>
            <a:prstDash val="solid"/>
          </a:ln>
        </p:spPr>
      </p:sp>
      <p:sp>
        <p:nvSpPr>
          <p:cNvPr id="26" name="Text 23"/>
          <p:cNvSpPr txBox="1"/>
          <p:nvPr/>
        </p:nvSpPr>
        <p:spPr>
          <a:xfrm>
            <a:off x="11091672" y="2313432"/>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27" name="Shape 24"/>
          <p:cNvSpPr/>
          <p:nvPr/>
        </p:nvSpPr>
        <p:spPr>
          <a:xfrm>
            <a:off x="457200" y="3004718"/>
            <a:ext cx="11274552" cy="682142"/>
          </a:xfrm>
          <a:prstGeom prst="roundRect">
            <a:avLst>
              <a:gd name="adj" fmla="val 6702"/>
            </a:avLst>
          </a:prstGeom>
          <a:solidFill>
            <a:srgbClr val="F4F1EA"/>
          </a:solidFill>
          <a:ln w="9525">
            <a:solidFill>
              <a:srgbClr val="D8D0BF"/>
            </a:solidFill>
            <a:prstDash val="solid"/>
          </a:ln>
        </p:spPr>
      </p:sp>
      <p:sp>
        <p:nvSpPr>
          <p:cNvPr id="28" name="Text 25"/>
          <p:cNvSpPr txBox="1"/>
          <p:nvPr/>
        </p:nvSpPr>
        <p:spPr>
          <a:xfrm>
            <a:off x="8275320" y="3004718"/>
            <a:ext cx="3364992" cy="682142"/>
          </a:xfrm>
          <a:prstGeom prst="rect">
            <a:avLst/>
          </a:prstGeom>
          <a:noFill/>
          <a:ln/>
        </p:spPr>
        <p:txBody>
          <a:bodyPr wrap="square" lIns="0" tIns="0" rIns="0" bIns="0" rtlCol="0" anchor="ctr"/>
          <a:lstStyle/>
          <a:p>
            <a:pPr rtl="1" algn="ctr" indent="0" marL="0">
              <a:buNone/>
            </a:pPr>
            <a:r>
              <a:rPr lang="ar-SA" altLang="en-US" sz="1600" b="1" dirty="0">
                <a:solidFill>
                  <a:srgbClr val="1B3B6F"/>
                </a:solidFill>
                <a:latin typeface="Amiri" pitchFamily="2" charset="-78"/>
                <a:ea typeface="Amiri" pitchFamily="2" charset="-78"/>
                <a:cs typeface="Amiri" pitchFamily="2" charset="-78"/>
              </a:rPr>
              <a:t>مَا / أَيْنَ ← أَنَا … ، وَأَسْكُنُ فِي …</a:t>
            </a:r>
            <a:endParaRPr lang="ar-SA" sz="1600" dirty="0"/>
          </a:p>
        </p:txBody>
      </p:sp>
      <p:sp>
        <p:nvSpPr>
          <p:cNvPr id="29" name="Text 26"/>
          <p:cNvSpPr txBox="1"/>
          <p:nvPr/>
        </p:nvSpPr>
        <p:spPr>
          <a:xfrm>
            <a:off x="5001768" y="3004718"/>
            <a:ext cx="310896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Give your nationality and city.</a:t>
            </a:r>
            <a:endParaRPr lang="en-US" sz="1100" dirty="0"/>
          </a:p>
        </p:txBody>
      </p:sp>
      <p:sp>
        <p:nvSpPr>
          <p:cNvPr id="30" name="Text 27"/>
          <p:cNvSpPr txBox="1"/>
          <p:nvPr/>
        </p:nvSpPr>
        <p:spPr>
          <a:xfrm>
            <a:off x="1051560" y="3004718"/>
            <a:ext cx="3749040" cy="682142"/>
          </a:xfrm>
          <a:prstGeom prst="rect">
            <a:avLst/>
          </a:prstGeom>
          <a:noFill/>
          <a:ln/>
        </p:spPr>
        <p:txBody>
          <a:bodyPr wrap="square" lIns="0" tIns="0" rIns="0" bIns="0" rtlCol="0" anchor="ctr"/>
          <a:lstStyle/>
          <a:p>
            <a:pPr rtl="1" algn="ctr" indent="0" marL="0">
              <a:buNone/>
            </a:pPr>
            <a:r>
              <a:rPr lang="ar-SA" altLang="en-US" sz="1700" b="1" dirty="0">
                <a:solidFill>
                  <a:srgbClr val="1B3B6F"/>
                </a:solidFill>
                <a:latin typeface="Amiri" pitchFamily="2" charset="-78"/>
                <a:ea typeface="Amiri" pitchFamily="2" charset="-78"/>
                <a:cs typeface="Amiri" pitchFamily="2" charset="-78"/>
              </a:rPr>
              <a:t>مَا جِنْسِيَّتُكَ، وَأَيْنَ تَسْكُنُ؟</a:t>
            </a:r>
            <a:endParaRPr lang="ar-SA" sz="1700" dirty="0"/>
          </a:p>
        </p:txBody>
      </p:sp>
      <p:sp>
        <p:nvSpPr>
          <p:cNvPr id="31" name="Text 28"/>
          <p:cNvSpPr txBox="1"/>
          <p:nvPr/>
        </p:nvSpPr>
        <p:spPr>
          <a:xfrm>
            <a:off x="566928" y="3004718"/>
            <a:ext cx="32004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2</a:t>
            </a:r>
            <a:endParaRPr lang="en-US" sz="1100" dirty="0"/>
          </a:p>
        </p:txBody>
      </p:sp>
      <p:sp>
        <p:nvSpPr>
          <p:cNvPr id="32" name="Shape 29"/>
          <p:cNvSpPr/>
          <p:nvPr/>
        </p:nvSpPr>
        <p:spPr>
          <a:xfrm>
            <a:off x="11091672" y="3050438"/>
            <a:ext cx="548640" cy="182880"/>
          </a:xfrm>
          <a:prstGeom prst="roundRect">
            <a:avLst>
              <a:gd name="adj" fmla="val 50000"/>
            </a:avLst>
          </a:prstGeom>
          <a:solidFill>
            <a:srgbClr val="2E8B57"/>
          </a:solidFill>
          <a:ln w="12700">
            <a:solidFill>
              <a:srgbClr val="2E8B57"/>
            </a:solidFill>
            <a:prstDash val="solid"/>
          </a:ln>
        </p:spPr>
      </p:sp>
      <p:sp>
        <p:nvSpPr>
          <p:cNvPr id="33" name="Text 30"/>
          <p:cNvSpPr txBox="1"/>
          <p:nvPr/>
        </p:nvSpPr>
        <p:spPr>
          <a:xfrm>
            <a:off x="11091672" y="3050438"/>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34" name="Shape 31"/>
          <p:cNvSpPr/>
          <p:nvPr/>
        </p:nvSpPr>
        <p:spPr>
          <a:xfrm>
            <a:off x="457200" y="3741725"/>
            <a:ext cx="11274552" cy="682142"/>
          </a:xfrm>
          <a:prstGeom prst="roundRect">
            <a:avLst>
              <a:gd name="adj" fmla="val 6702"/>
            </a:avLst>
          </a:prstGeom>
          <a:solidFill>
            <a:srgbClr val="FFFFFF"/>
          </a:solidFill>
          <a:ln w="9525">
            <a:solidFill>
              <a:srgbClr val="D8D0BF"/>
            </a:solidFill>
            <a:prstDash val="solid"/>
          </a:ln>
        </p:spPr>
      </p:sp>
      <p:sp>
        <p:nvSpPr>
          <p:cNvPr id="35" name="Text 32"/>
          <p:cNvSpPr txBox="1"/>
          <p:nvPr/>
        </p:nvSpPr>
        <p:spPr>
          <a:xfrm>
            <a:off x="8275320" y="3741725"/>
            <a:ext cx="3364992" cy="682142"/>
          </a:xfrm>
          <a:prstGeom prst="rect">
            <a:avLst/>
          </a:prstGeom>
          <a:noFill/>
          <a:ln/>
        </p:spPr>
        <p:txBody>
          <a:bodyPr wrap="square" lIns="0" tIns="0" rIns="0" bIns="0" rtlCol="0" anchor="ctr"/>
          <a:lstStyle/>
          <a:p>
            <a:pPr rtl="1" algn="ctr" indent="0" marL="0">
              <a:buNone/>
            </a:pPr>
            <a:r>
              <a:rPr lang="ar-SA" altLang="en-US" sz="1600" b="1" dirty="0">
                <a:solidFill>
                  <a:srgbClr val="1B3B6F"/>
                </a:solidFill>
                <a:latin typeface="Amiri" pitchFamily="2" charset="-78"/>
                <a:ea typeface="Amiri" pitchFamily="2" charset="-78"/>
                <a:cs typeface="Amiri" pitchFamily="2" charset="-78"/>
              </a:rPr>
              <a:t>أَيَّ ← أَتَكَلَّمُ … ، وَ… أَيْضًا</a:t>
            </a:r>
            <a:endParaRPr lang="ar-SA" sz="1600" dirty="0"/>
          </a:p>
        </p:txBody>
      </p:sp>
      <p:sp>
        <p:nvSpPr>
          <p:cNvPr id="36" name="Text 33"/>
          <p:cNvSpPr txBox="1"/>
          <p:nvPr/>
        </p:nvSpPr>
        <p:spPr>
          <a:xfrm>
            <a:off x="5001768" y="3741725"/>
            <a:ext cx="310896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Name your languages with </a:t>
            </a:r>
            <a:pPr algn="l" indent="0" marL="0">
              <a:buNone/>
            </a:pPr>
            <a:r>
              <a:rPr lang="ar-SA" altLang="en-US" sz="1450" dirty="0">
                <a:solidFill>
                  <a:srgbClr val="5A6472"/>
                </a:solidFill>
                <a:latin typeface="Amiri" pitchFamily="2" charset="-78"/>
                <a:ea typeface="Amiri" pitchFamily="2" charset="-78"/>
                <a:cs typeface="Amiri" pitchFamily="2" charset="-78"/>
              </a:rPr>
              <a:t>أَيْضًا</a:t>
            </a:r>
            <a:pPr algn="l" indent="0" marL="0">
              <a:buNone/>
            </a:pPr>
            <a:r>
              <a:rPr lang="en-US" sz="1100" dirty="0">
                <a:solidFill>
                  <a:srgbClr val="5A6472"/>
                </a:solidFill>
                <a:latin typeface="Calibri" pitchFamily="34" charset="0"/>
                <a:cs typeface="Amiri" pitchFamily="2" charset="-78"/>
              </a:rPr>
              <a:t>.</a:t>
            </a:r>
            <a:endParaRPr lang="en-US" sz="1100" dirty="0"/>
          </a:p>
        </p:txBody>
      </p:sp>
      <p:sp>
        <p:nvSpPr>
          <p:cNvPr id="37" name="Text 34"/>
          <p:cNvSpPr txBox="1"/>
          <p:nvPr/>
        </p:nvSpPr>
        <p:spPr>
          <a:xfrm>
            <a:off x="1051560" y="3741725"/>
            <a:ext cx="3749040" cy="682142"/>
          </a:xfrm>
          <a:prstGeom prst="rect">
            <a:avLst/>
          </a:prstGeom>
          <a:noFill/>
          <a:ln/>
        </p:spPr>
        <p:txBody>
          <a:bodyPr wrap="square" lIns="0" tIns="0" rIns="0" bIns="0" rtlCol="0" anchor="ctr"/>
          <a:lstStyle/>
          <a:p>
            <a:pPr rtl="1" algn="ctr" indent="0" marL="0">
              <a:buNone/>
            </a:pPr>
            <a:r>
              <a:rPr lang="ar-SA" altLang="en-US" sz="1700" b="1" dirty="0">
                <a:solidFill>
                  <a:srgbClr val="1B3B6F"/>
                </a:solidFill>
                <a:latin typeface="Amiri" pitchFamily="2" charset="-78"/>
                <a:ea typeface="Amiri" pitchFamily="2" charset="-78"/>
                <a:cs typeface="Amiri" pitchFamily="2" charset="-78"/>
              </a:rPr>
              <a:t>أَيَّ لُغَاتٍ تَتَكَلَّمُ؟</a:t>
            </a:r>
            <a:endParaRPr lang="ar-SA" sz="1700" dirty="0"/>
          </a:p>
        </p:txBody>
      </p:sp>
      <p:sp>
        <p:nvSpPr>
          <p:cNvPr id="38" name="Text 35"/>
          <p:cNvSpPr txBox="1"/>
          <p:nvPr/>
        </p:nvSpPr>
        <p:spPr>
          <a:xfrm>
            <a:off x="566928" y="3741725"/>
            <a:ext cx="32004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3</a:t>
            </a:r>
            <a:endParaRPr lang="en-US" sz="1100" dirty="0"/>
          </a:p>
        </p:txBody>
      </p:sp>
      <p:sp>
        <p:nvSpPr>
          <p:cNvPr id="39" name="Shape 36"/>
          <p:cNvSpPr/>
          <p:nvPr/>
        </p:nvSpPr>
        <p:spPr>
          <a:xfrm>
            <a:off x="11091672" y="3787445"/>
            <a:ext cx="548640" cy="182880"/>
          </a:xfrm>
          <a:prstGeom prst="roundRect">
            <a:avLst>
              <a:gd name="adj" fmla="val 50000"/>
            </a:avLst>
          </a:prstGeom>
          <a:solidFill>
            <a:srgbClr val="2E8B57"/>
          </a:solidFill>
          <a:ln w="12700">
            <a:solidFill>
              <a:srgbClr val="2E8B57"/>
            </a:solidFill>
            <a:prstDash val="solid"/>
          </a:ln>
        </p:spPr>
      </p:sp>
      <p:sp>
        <p:nvSpPr>
          <p:cNvPr id="40" name="Text 37"/>
          <p:cNvSpPr txBox="1"/>
          <p:nvPr/>
        </p:nvSpPr>
        <p:spPr>
          <a:xfrm>
            <a:off x="11091672" y="3787445"/>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41" name="Shape 38"/>
          <p:cNvSpPr/>
          <p:nvPr/>
        </p:nvSpPr>
        <p:spPr>
          <a:xfrm>
            <a:off x="457200" y="4478731"/>
            <a:ext cx="11274552" cy="682142"/>
          </a:xfrm>
          <a:prstGeom prst="roundRect">
            <a:avLst>
              <a:gd name="adj" fmla="val 6702"/>
            </a:avLst>
          </a:prstGeom>
          <a:solidFill>
            <a:srgbClr val="F4F1EA"/>
          </a:solidFill>
          <a:ln w="9525">
            <a:solidFill>
              <a:srgbClr val="D8D0BF"/>
            </a:solidFill>
            <a:prstDash val="solid"/>
          </a:ln>
        </p:spPr>
      </p:sp>
      <p:sp>
        <p:nvSpPr>
          <p:cNvPr id="42" name="Text 39"/>
          <p:cNvSpPr txBox="1"/>
          <p:nvPr/>
        </p:nvSpPr>
        <p:spPr>
          <a:xfrm>
            <a:off x="8275320" y="4478731"/>
            <a:ext cx="3364992" cy="682142"/>
          </a:xfrm>
          <a:prstGeom prst="rect">
            <a:avLst/>
          </a:prstGeom>
          <a:noFill/>
          <a:ln/>
        </p:spPr>
        <p:txBody>
          <a:bodyPr wrap="square" lIns="0" tIns="0" rIns="0" bIns="0" rtlCol="0" anchor="ctr"/>
          <a:lstStyle/>
          <a:p>
            <a:pPr rtl="1" algn="ctr" indent="0" marL="0">
              <a:buNone/>
            </a:pPr>
            <a:r>
              <a:rPr lang="ar-SA" altLang="en-US" sz="1600" b="1" dirty="0">
                <a:solidFill>
                  <a:srgbClr val="1B3B6F"/>
                </a:solidFill>
                <a:latin typeface="Amiri" pitchFamily="2" charset="-78"/>
                <a:ea typeface="Amiri" pitchFamily="2" charset="-78"/>
                <a:cs typeface="Amiri" pitchFamily="2" charset="-78"/>
              </a:rPr>
              <a:t>حَدِّثْنِي ← صَدِيقِي اسْمُهُ … ، عُمْرُهُ … ، هُوَ …</a:t>
            </a:r>
            <a:endParaRPr lang="ar-SA" sz="1600" dirty="0"/>
          </a:p>
        </p:txBody>
      </p:sp>
      <p:sp>
        <p:nvSpPr>
          <p:cNvPr id="43" name="Text 40"/>
          <p:cNvSpPr txBox="1"/>
          <p:nvPr/>
        </p:nvSpPr>
        <p:spPr>
          <a:xfrm>
            <a:off x="5001768" y="4478731"/>
            <a:ext cx="310896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Describe a friend: name, age, city, one adjective.</a:t>
            </a:r>
            <a:endParaRPr lang="en-US" sz="1100" dirty="0"/>
          </a:p>
        </p:txBody>
      </p:sp>
      <p:sp>
        <p:nvSpPr>
          <p:cNvPr id="44" name="Text 41"/>
          <p:cNvSpPr txBox="1"/>
          <p:nvPr/>
        </p:nvSpPr>
        <p:spPr>
          <a:xfrm>
            <a:off x="1051560" y="4478731"/>
            <a:ext cx="3749040" cy="682142"/>
          </a:xfrm>
          <a:prstGeom prst="rect">
            <a:avLst/>
          </a:prstGeom>
          <a:noFill/>
          <a:ln/>
        </p:spPr>
        <p:txBody>
          <a:bodyPr wrap="square" lIns="0" tIns="0" rIns="0" bIns="0" rtlCol="0" anchor="ctr"/>
          <a:lstStyle/>
          <a:p>
            <a:pPr rtl="1" algn="ctr" indent="0" marL="0">
              <a:buNone/>
            </a:pPr>
            <a:r>
              <a:rPr lang="ar-SA" altLang="en-US" sz="1700" b="1" dirty="0">
                <a:solidFill>
                  <a:srgbClr val="1B3B6F"/>
                </a:solidFill>
                <a:latin typeface="Amiri" pitchFamily="2" charset="-78"/>
                <a:ea typeface="Amiri" pitchFamily="2" charset="-78"/>
                <a:cs typeface="Amiri" pitchFamily="2" charset="-78"/>
              </a:rPr>
              <a:t>حَدِّثْنِي عَنْ صَدِيقٍ أَوْ صَدِيقَةٍ.</a:t>
            </a:r>
            <a:endParaRPr lang="ar-SA" sz="1700" dirty="0"/>
          </a:p>
        </p:txBody>
      </p:sp>
      <p:sp>
        <p:nvSpPr>
          <p:cNvPr id="45" name="Text 42"/>
          <p:cNvSpPr txBox="1"/>
          <p:nvPr/>
        </p:nvSpPr>
        <p:spPr>
          <a:xfrm>
            <a:off x="566928" y="4478731"/>
            <a:ext cx="32004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4</a:t>
            </a:r>
            <a:endParaRPr lang="en-US" sz="1100" dirty="0"/>
          </a:p>
        </p:txBody>
      </p:sp>
      <p:sp>
        <p:nvSpPr>
          <p:cNvPr id="46" name="Shape 43"/>
          <p:cNvSpPr/>
          <p:nvPr/>
        </p:nvSpPr>
        <p:spPr>
          <a:xfrm>
            <a:off x="11091672" y="4524451"/>
            <a:ext cx="548640" cy="182880"/>
          </a:xfrm>
          <a:prstGeom prst="roundRect">
            <a:avLst>
              <a:gd name="adj" fmla="val 50000"/>
            </a:avLst>
          </a:prstGeom>
          <a:solidFill>
            <a:srgbClr val="2E8B57"/>
          </a:solidFill>
          <a:ln w="12700">
            <a:solidFill>
              <a:srgbClr val="2E8B57"/>
            </a:solidFill>
            <a:prstDash val="solid"/>
          </a:ln>
        </p:spPr>
      </p:sp>
      <p:sp>
        <p:nvSpPr>
          <p:cNvPr id="47" name="Text 44"/>
          <p:cNvSpPr txBox="1"/>
          <p:nvPr/>
        </p:nvSpPr>
        <p:spPr>
          <a:xfrm>
            <a:off x="11091672" y="4524451"/>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48" name="Shape 45"/>
          <p:cNvSpPr/>
          <p:nvPr/>
        </p:nvSpPr>
        <p:spPr>
          <a:xfrm>
            <a:off x="457200" y="5215738"/>
            <a:ext cx="11274552" cy="682142"/>
          </a:xfrm>
          <a:prstGeom prst="roundRect">
            <a:avLst>
              <a:gd name="adj" fmla="val 6702"/>
            </a:avLst>
          </a:prstGeom>
          <a:solidFill>
            <a:srgbClr val="FFFFFF"/>
          </a:solidFill>
          <a:ln w="9525">
            <a:solidFill>
              <a:srgbClr val="D8D0BF"/>
            </a:solidFill>
            <a:prstDash val="solid"/>
          </a:ln>
        </p:spPr>
      </p:sp>
      <p:sp>
        <p:nvSpPr>
          <p:cNvPr id="49" name="Text 46"/>
          <p:cNvSpPr txBox="1"/>
          <p:nvPr/>
        </p:nvSpPr>
        <p:spPr>
          <a:xfrm>
            <a:off x="8275320" y="5215738"/>
            <a:ext cx="3364992" cy="682142"/>
          </a:xfrm>
          <a:prstGeom prst="rect">
            <a:avLst/>
          </a:prstGeom>
          <a:noFill/>
          <a:ln/>
        </p:spPr>
        <p:txBody>
          <a:bodyPr wrap="square" lIns="0" tIns="0" rIns="0" bIns="0" rtlCol="0" anchor="ctr"/>
          <a:lstStyle/>
          <a:p>
            <a:pPr rtl="1" algn="ctr" indent="0" marL="0">
              <a:buNone/>
            </a:pPr>
            <a:r>
              <a:rPr lang="ar-SA" altLang="en-US" sz="1600" b="1" dirty="0">
                <a:solidFill>
                  <a:srgbClr val="1B3B6F"/>
                </a:solidFill>
                <a:latin typeface="Amiri" pitchFamily="2" charset="-78"/>
                <a:ea typeface="Amiri" pitchFamily="2" charset="-78"/>
                <a:cs typeface="Amiri" pitchFamily="2" charset="-78"/>
              </a:rPr>
              <a:t>لِمَاذَا ← أُرِيدُ … لِأَنِّي …</a:t>
            </a:r>
            <a:endParaRPr lang="ar-SA" sz="1600" dirty="0"/>
          </a:p>
        </p:txBody>
      </p:sp>
      <p:sp>
        <p:nvSpPr>
          <p:cNvPr id="50" name="Text 47"/>
          <p:cNvSpPr txBox="1"/>
          <p:nvPr/>
        </p:nvSpPr>
        <p:spPr>
          <a:xfrm>
            <a:off x="5001768" y="5215738"/>
            <a:ext cx="310896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Give a reason with </a:t>
            </a:r>
            <a:pPr algn="l" indent="0" marL="0">
              <a:buNone/>
            </a:pPr>
            <a:r>
              <a:rPr lang="ar-SA" altLang="en-US" sz="1450" dirty="0">
                <a:solidFill>
                  <a:srgbClr val="5A6472"/>
                </a:solidFill>
                <a:latin typeface="Amiri" pitchFamily="2" charset="-78"/>
                <a:ea typeface="Amiri" pitchFamily="2" charset="-78"/>
                <a:cs typeface="Amiri" pitchFamily="2" charset="-78"/>
              </a:rPr>
              <a:t>لِأَنِّي</a:t>
            </a:r>
            <a:pPr algn="l" indent="0" marL="0">
              <a:buNone/>
            </a:pPr>
            <a:r>
              <a:rPr lang="en-US" sz="1100" dirty="0">
                <a:solidFill>
                  <a:srgbClr val="5A6472"/>
                </a:solidFill>
                <a:latin typeface="Calibri" pitchFamily="34" charset="0"/>
                <a:cs typeface="Amiri" pitchFamily="2" charset="-78"/>
              </a:rPr>
              <a:t>.</a:t>
            </a:r>
            <a:endParaRPr lang="en-US" sz="1100" dirty="0"/>
          </a:p>
        </p:txBody>
      </p:sp>
      <p:sp>
        <p:nvSpPr>
          <p:cNvPr id="51" name="Text 48"/>
          <p:cNvSpPr txBox="1"/>
          <p:nvPr/>
        </p:nvSpPr>
        <p:spPr>
          <a:xfrm>
            <a:off x="1051560" y="5215738"/>
            <a:ext cx="3749040" cy="682142"/>
          </a:xfrm>
          <a:prstGeom prst="rect">
            <a:avLst/>
          </a:prstGeom>
          <a:noFill/>
          <a:ln/>
        </p:spPr>
        <p:txBody>
          <a:bodyPr wrap="square" lIns="0" tIns="0" rIns="0" bIns="0" rtlCol="0" anchor="ctr"/>
          <a:lstStyle/>
          <a:p>
            <a:pPr rtl="1" algn="ctr" indent="0" marL="0">
              <a:buNone/>
            </a:pPr>
            <a:r>
              <a:rPr lang="ar-SA" altLang="en-US" sz="1700" b="1" dirty="0">
                <a:solidFill>
                  <a:srgbClr val="1B3B6F"/>
                </a:solidFill>
                <a:latin typeface="Amiri" pitchFamily="2" charset="-78"/>
                <a:ea typeface="Amiri" pitchFamily="2" charset="-78"/>
                <a:cs typeface="Amiri" pitchFamily="2" charset="-78"/>
              </a:rPr>
              <a:t>لِمَاذَا تُرِيدُ صَدِيقًا بِالمُرَاسَلَةِ؟</a:t>
            </a:r>
            <a:endParaRPr lang="ar-SA" sz="1700" dirty="0"/>
          </a:p>
        </p:txBody>
      </p:sp>
      <p:sp>
        <p:nvSpPr>
          <p:cNvPr id="52" name="Text 49"/>
          <p:cNvSpPr txBox="1"/>
          <p:nvPr/>
        </p:nvSpPr>
        <p:spPr>
          <a:xfrm>
            <a:off x="566928" y="5215738"/>
            <a:ext cx="32004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5 !</a:t>
            </a:r>
            <a:endParaRPr lang="en-US" sz="1100" dirty="0"/>
          </a:p>
        </p:txBody>
      </p:sp>
      <p:sp>
        <p:nvSpPr>
          <p:cNvPr id="53" name="Shape 50"/>
          <p:cNvSpPr/>
          <p:nvPr/>
        </p:nvSpPr>
        <p:spPr>
          <a:xfrm>
            <a:off x="11091672" y="5261458"/>
            <a:ext cx="548640" cy="182880"/>
          </a:xfrm>
          <a:prstGeom prst="roundRect">
            <a:avLst>
              <a:gd name="adj" fmla="val 50000"/>
            </a:avLst>
          </a:prstGeom>
          <a:solidFill>
            <a:srgbClr val="2E8B57"/>
          </a:solidFill>
          <a:ln w="12700">
            <a:solidFill>
              <a:srgbClr val="2E8B57"/>
            </a:solidFill>
            <a:prstDash val="solid"/>
          </a:ln>
        </p:spPr>
      </p:sp>
      <p:sp>
        <p:nvSpPr>
          <p:cNvPr id="54" name="Text 51"/>
          <p:cNvSpPr txBox="1"/>
          <p:nvPr/>
        </p:nvSpPr>
        <p:spPr>
          <a:xfrm>
            <a:off x="11091672" y="5261458"/>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55" name="Text 52"/>
          <p:cNvSpPr txBox="1"/>
          <p:nvPr/>
        </p:nvSpPr>
        <p:spPr>
          <a:xfrm>
            <a:off x="457200" y="5943600"/>
            <a:ext cx="11274552" cy="365760"/>
          </a:xfrm>
          <a:prstGeom prst="rect">
            <a:avLst/>
          </a:prstGeom>
          <a:noFill/>
          <a:ln/>
        </p:spPr>
        <p:txBody>
          <a:bodyPr wrap="square" lIns="0" tIns="0" rIns="0" bIns="0" rtlCol="0" anchor="ctr"/>
          <a:lstStyle/>
          <a:p>
            <a:pPr algn="l" indent="0" marL="0">
              <a:buNone/>
            </a:pPr>
            <a:r>
              <a:rPr lang="en-US" sz="1150" b="1" dirty="0">
                <a:solidFill>
                  <a:srgbClr val="1B3B6F"/>
                </a:solidFill>
                <a:latin typeface="Calibri" pitchFamily="34" charset="0"/>
                <a:cs typeface="Amiri" pitchFamily="2" charset="-78"/>
              </a:rPr>
              <a:t>Speaker = a new member · Partner A = the coordinator. Read the plan for 1 minute, then hide it and speak. Task ! is a surprise. Then swap roles.</a:t>
            </a:r>
            <a:endParaRPr lang="en-US" sz="1150" dirty="0"/>
          </a:p>
        </p:txBody>
      </p:sp>
      <p:sp>
        <p:nvSpPr>
          <p:cNvPr id="56" name="Text 53"/>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12 / 24</a:t>
            </a:r>
            <a:endParaRPr lang="en-US" sz="85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F2-W06 · Apply workshop</a:t>
            </a:r>
            <a:endParaRPr lang="en-US" sz="950" dirty="0"/>
          </a:p>
        </p:txBody>
      </p:sp>
      <p:sp>
        <p:nvSpPr>
          <p:cNvPr id="8" name="Shape 6"/>
          <p:cNvSpPr/>
          <p:nvPr/>
        </p:nvSpPr>
        <p:spPr>
          <a:xfrm>
            <a:off x="7295083" y="274320"/>
            <a:ext cx="1464869"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295083" y="274320"/>
            <a:ext cx="146486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 · 4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E6B52"/>
                </a:solidFill>
                <a:latin typeface="Calibri" pitchFamily="34" charset="0"/>
                <a:cs typeface="Amiri" pitchFamily="2" charset="-78"/>
              </a:rPr>
              <a:t>STEP 6 · SHORT TALK · 30–45 SECONDS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My full introduction — and a friend</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تَعْرِيفٌ كَامِلٌ</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F2 · Greetings &amp; Introductions · F2-W06 · Apply workshop (F2-L11 + F2-L12)</a:t>
            </a:r>
            <a:endParaRPr lang="en-US" sz="850" dirty="0"/>
          </a:p>
        </p:txBody>
      </p:sp>
      <p:sp>
        <p:nvSpPr>
          <p:cNvPr id="15" name="Shape 12"/>
          <p:cNvSpPr/>
          <p:nvPr/>
        </p:nvSpPr>
        <p:spPr>
          <a:xfrm>
            <a:off x="457200" y="1810512"/>
            <a:ext cx="5715000" cy="4498848"/>
          </a:xfrm>
          <a:prstGeom prst="roundRect">
            <a:avLst>
              <a:gd name="adj" fmla="val 1626"/>
            </a:avLst>
          </a:prstGeom>
          <a:solidFill>
            <a:srgbClr val="F4F1EA"/>
          </a:solidFill>
          <a:ln w="9525">
            <a:solidFill>
              <a:srgbClr val="E8D49A"/>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640080" y="1920240"/>
            <a:ext cx="3108960" cy="292608"/>
          </a:xfrm>
          <a:prstGeom prst="roundRect">
            <a:avLst>
              <a:gd name="adj" fmla="val 50000"/>
            </a:avLst>
          </a:prstGeom>
          <a:solidFill>
            <a:srgbClr val="8A6D1E"/>
          </a:solidFill>
          <a:ln w="12700">
            <a:solidFill>
              <a:srgbClr val="8A6D1E"/>
            </a:solidFill>
            <a:prstDash val="solid"/>
          </a:ln>
        </p:spPr>
      </p:sp>
      <p:sp>
        <p:nvSpPr>
          <p:cNvPr id="17" name="Text 14"/>
          <p:cNvSpPr txBox="1"/>
          <p:nvPr/>
        </p:nvSpPr>
        <p:spPr>
          <a:xfrm>
            <a:off x="640080" y="1920240"/>
            <a:ext cx="3108960" cy="292608"/>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STEP 6 · PAIRS</a:t>
            </a:r>
            <a:endParaRPr lang="en-US" sz="900" dirty="0"/>
          </a:p>
        </p:txBody>
      </p:sp>
      <p:sp>
        <p:nvSpPr>
          <p:cNvPr id="18" name="Text 15"/>
          <p:cNvSpPr txBox="1"/>
          <p:nvPr/>
        </p:nvSpPr>
        <p:spPr>
          <a:xfrm>
            <a:off x="640080" y="2286000"/>
            <a:ext cx="5349240" cy="502920"/>
          </a:xfrm>
          <a:prstGeom prst="rect">
            <a:avLst/>
          </a:prstGeom>
          <a:noFill/>
          <a:ln/>
        </p:spPr>
        <p:txBody>
          <a:bodyPr wrap="square" lIns="0" tIns="0" rIns="0" bIns="0" rtlCol="0" anchor="ctr"/>
          <a:lstStyle/>
          <a:p>
            <a:pPr algn="l" indent="0" marL="0">
              <a:buNone/>
            </a:pPr>
            <a:r>
              <a:rPr lang="en-US" sz="2000" b="1" dirty="0">
                <a:solidFill>
                  <a:srgbClr val="1B3B6F"/>
                </a:solidFill>
                <a:latin typeface="Calibri" pitchFamily="34" charset="0"/>
                <a:cs typeface="Amiri" pitchFamily="2" charset="-78"/>
              </a:rPr>
              <a:t>⏱  Talk for 30–45 seconds — use both lessons</a:t>
            </a:r>
            <a:endParaRPr lang="en-US" sz="2000" dirty="0"/>
          </a:p>
        </p:txBody>
      </p:sp>
      <p:sp>
        <p:nvSpPr>
          <p:cNvPr id="19" name="Text 16"/>
          <p:cNvSpPr txBox="1"/>
          <p:nvPr/>
        </p:nvSpPr>
        <p:spPr>
          <a:xfrm>
            <a:off x="640080" y="2816352"/>
            <a:ext cx="5349240" cy="1188720"/>
          </a:xfrm>
          <a:prstGeom prst="rect">
            <a:avLst/>
          </a:prstGeom>
          <a:noFill/>
          <a:ln/>
        </p:spPr>
        <p:txBody>
          <a:bodyPr wrap="square" lIns="0" tIns="0" rIns="0" bIns="0" rtlCol="0" anchor="t"/>
          <a:lstStyle/>
          <a:p>
            <a:pPr algn="l" indent="0" marL="0">
              <a:buNone/>
            </a:pPr>
            <a:r>
              <a:rPr lang="en-US" sz="1350" dirty="0">
                <a:solidFill>
                  <a:srgbClr val="1F2A37"/>
                </a:solidFill>
                <a:latin typeface="Calibri" pitchFamily="34" charset="0"/>
                <a:cs typeface="Amiri" pitchFamily="2" charset="-78"/>
              </a:rPr>
              <a:t>Talk for 30–45 seconds: greet, give your name, age, nationality, city and languages, say why you learn Arabic, then add a friend (name, age, city). Use at least three linking words.</a:t>
            </a:r>
            <a:endParaRPr lang="en-US" sz="1350" dirty="0"/>
          </a:p>
        </p:txBody>
      </p:sp>
      <p:sp>
        <p:nvSpPr>
          <p:cNvPr id="20" name="Text 17"/>
          <p:cNvSpPr txBox="1"/>
          <p:nvPr/>
        </p:nvSpPr>
        <p:spPr>
          <a:xfrm>
            <a:off x="640080" y="4041648"/>
            <a:ext cx="5303520" cy="256032"/>
          </a:xfrm>
          <a:prstGeom prst="rect">
            <a:avLst/>
          </a:prstGeom>
          <a:noFill/>
          <a:ln/>
        </p:spPr>
        <p:txBody>
          <a:bodyPr wrap="square" lIns="0" tIns="0" rIns="0" bIns="0" rtlCol="0" anchor="ctr"/>
          <a:lstStyle/>
          <a:p>
            <a:pPr algn="l" indent="0" marL="0">
              <a:buNone/>
            </a:pPr>
            <a:r>
              <a:rPr lang="en-US" sz="950" b="1" spc="200" kern="0" dirty="0">
                <a:solidFill>
                  <a:srgbClr val="8A6D1E"/>
                </a:solidFill>
                <a:latin typeface="Calibri" pitchFamily="34" charset="0"/>
                <a:cs typeface="Amiri" pitchFamily="2" charset="-78"/>
              </a:rPr>
              <a:t>HOW WE RUN IT ONLINE</a:t>
            </a:r>
            <a:endParaRPr lang="en-US" sz="950" dirty="0"/>
          </a:p>
        </p:txBody>
      </p:sp>
      <p:sp>
        <p:nvSpPr>
          <p:cNvPr id="21" name="Shape 18"/>
          <p:cNvSpPr/>
          <p:nvPr/>
        </p:nvSpPr>
        <p:spPr>
          <a:xfrm>
            <a:off x="658368" y="4407408"/>
            <a:ext cx="274320" cy="274320"/>
          </a:xfrm>
          <a:prstGeom prst="ellipse">
            <a:avLst/>
          </a:prstGeom>
          <a:solidFill>
            <a:srgbClr val="1B3B6F"/>
          </a:solidFill>
          <a:ln w="12700">
            <a:solidFill>
              <a:srgbClr val="1B3B6F"/>
            </a:solidFill>
            <a:prstDash val="solid"/>
          </a:ln>
        </p:spPr>
      </p:sp>
      <p:sp>
        <p:nvSpPr>
          <p:cNvPr id="22" name="Text 19"/>
          <p:cNvSpPr txBox="1"/>
          <p:nvPr/>
        </p:nvSpPr>
        <p:spPr>
          <a:xfrm>
            <a:off x="658368" y="4407408"/>
            <a:ext cx="274320" cy="27432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cs typeface="Amiri" pitchFamily="2" charset="-78"/>
              </a:rPr>
              <a:t>1</a:t>
            </a:r>
            <a:endParaRPr lang="en-US" sz="1000" dirty="0"/>
          </a:p>
        </p:txBody>
      </p:sp>
      <p:sp>
        <p:nvSpPr>
          <p:cNvPr id="23" name="Text 20"/>
          <p:cNvSpPr txBox="1"/>
          <p:nvPr/>
        </p:nvSpPr>
        <p:spPr>
          <a:xfrm>
            <a:off x="1024128" y="4334256"/>
            <a:ext cx="4983480" cy="457200"/>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Think for 30 seconds: 2 key words from EACH lesson, no sentences.</a:t>
            </a:r>
            <a:endParaRPr lang="en-US" sz="1150" dirty="0"/>
          </a:p>
        </p:txBody>
      </p:sp>
      <p:sp>
        <p:nvSpPr>
          <p:cNvPr id="24" name="Shape 21"/>
          <p:cNvSpPr/>
          <p:nvPr/>
        </p:nvSpPr>
        <p:spPr>
          <a:xfrm>
            <a:off x="658368" y="4864608"/>
            <a:ext cx="274320" cy="274320"/>
          </a:xfrm>
          <a:prstGeom prst="ellipse">
            <a:avLst/>
          </a:prstGeom>
          <a:solidFill>
            <a:srgbClr val="1B3B6F"/>
          </a:solidFill>
          <a:ln w="12700">
            <a:solidFill>
              <a:srgbClr val="1B3B6F"/>
            </a:solidFill>
            <a:prstDash val="solid"/>
          </a:ln>
        </p:spPr>
      </p:sp>
      <p:sp>
        <p:nvSpPr>
          <p:cNvPr id="25" name="Text 22"/>
          <p:cNvSpPr txBox="1"/>
          <p:nvPr/>
        </p:nvSpPr>
        <p:spPr>
          <a:xfrm>
            <a:off x="658368" y="4864608"/>
            <a:ext cx="274320" cy="27432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cs typeface="Amiri" pitchFamily="2" charset="-78"/>
              </a:rPr>
              <a:t>2</a:t>
            </a:r>
            <a:endParaRPr lang="en-US" sz="1000" dirty="0"/>
          </a:p>
        </p:txBody>
      </p:sp>
      <p:sp>
        <p:nvSpPr>
          <p:cNvPr id="26" name="Text 23"/>
          <p:cNvSpPr txBox="1"/>
          <p:nvPr/>
        </p:nvSpPr>
        <p:spPr>
          <a:xfrm>
            <a:off x="1024128" y="4791456"/>
            <a:ext cx="4983480" cy="457200"/>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Speaker talks; the partner times it.</a:t>
            </a:r>
            <a:endParaRPr lang="en-US" sz="1150" dirty="0"/>
          </a:p>
        </p:txBody>
      </p:sp>
      <p:sp>
        <p:nvSpPr>
          <p:cNvPr id="27" name="Shape 24"/>
          <p:cNvSpPr/>
          <p:nvPr/>
        </p:nvSpPr>
        <p:spPr>
          <a:xfrm>
            <a:off x="658368" y="5321808"/>
            <a:ext cx="274320" cy="274320"/>
          </a:xfrm>
          <a:prstGeom prst="ellipse">
            <a:avLst/>
          </a:prstGeom>
          <a:solidFill>
            <a:srgbClr val="1B3B6F"/>
          </a:solidFill>
          <a:ln w="12700">
            <a:solidFill>
              <a:srgbClr val="1B3B6F"/>
            </a:solidFill>
            <a:prstDash val="solid"/>
          </a:ln>
        </p:spPr>
      </p:sp>
      <p:sp>
        <p:nvSpPr>
          <p:cNvPr id="28" name="Text 25"/>
          <p:cNvSpPr txBox="1"/>
          <p:nvPr/>
        </p:nvSpPr>
        <p:spPr>
          <a:xfrm>
            <a:off x="658368" y="5321808"/>
            <a:ext cx="274320" cy="27432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cs typeface="Amiri" pitchFamily="2" charset="-78"/>
              </a:rPr>
              <a:t>3</a:t>
            </a:r>
            <a:endParaRPr lang="en-US" sz="1000" dirty="0"/>
          </a:p>
        </p:txBody>
      </p:sp>
      <p:sp>
        <p:nvSpPr>
          <p:cNvPr id="29" name="Text 26"/>
          <p:cNvSpPr txBox="1"/>
          <p:nvPr/>
        </p:nvSpPr>
        <p:spPr>
          <a:xfrm>
            <a:off x="1024128" y="5248656"/>
            <a:ext cx="4983480" cy="457200"/>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Partner: one thing that went well + one thing to improve.</a:t>
            </a:r>
            <a:endParaRPr lang="en-US" sz="1150" dirty="0"/>
          </a:p>
        </p:txBody>
      </p:sp>
      <p:sp>
        <p:nvSpPr>
          <p:cNvPr id="30" name="Shape 27"/>
          <p:cNvSpPr/>
          <p:nvPr/>
        </p:nvSpPr>
        <p:spPr>
          <a:xfrm>
            <a:off x="658368" y="5779008"/>
            <a:ext cx="274320" cy="274320"/>
          </a:xfrm>
          <a:prstGeom prst="ellipse">
            <a:avLst/>
          </a:prstGeom>
          <a:solidFill>
            <a:srgbClr val="1B3B6F"/>
          </a:solidFill>
          <a:ln w="12700">
            <a:solidFill>
              <a:srgbClr val="1B3B6F"/>
            </a:solidFill>
            <a:prstDash val="solid"/>
          </a:ln>
        </p:spPr>
      </p:sp>
      <p:sp>
        <p:nvSpPr>
          <p:cNvPr id="31" name="Text 28"/>
          <p:cNvSpPr txBox="1"/>
          <p:nvPr/>
        </p:nvSpPr>
        <p:spPr>
          <a:xfrm>
            <a:off x="658368" y="5779008"/>
            <a:ext cx="274320" cy="27432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cs typeface="Amiri" pitchFamily="2" charset="-78"/>
              </a:rPr>
              <a:t>4</a:t>
            </a:r>
            <a:endParaRPr lang="en-US" sz="1000" dirty="0"/>
          </a:p>
        </p:txBody>
      </p:sp>
      <p:sp>
        <p:nvSpPr>
          <p:cNvPr id="32" name="Text 29"/>
          <p:cNvSpPr txBox="1"/>
          <p:nvPr/>
        </p:nvSpPr>
        <p:spPr>
          <a:xfrm>
            <a:off x="1024128" y="5705856"/>
            <a:ext cx="4983480" cy="457200"/>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Swap — then the teacher invites two volunteers.</a:t>
            </a:r>
            <a:endParaRPr lang="en-US" sz="1150" dirty="0"/>
          </a:p>
        </p:txBody>
      </p:sp>
      <p:sp>
        <p:nvSpPr>
          <p:cNvPr id="33" name="Shape 30"/>
          <p:cNvSpPr/>
          <p:nvPr/>
        </p:nvSpPr>
        <p:spPr>
          <a:xfrm>
            <a:off x="6355080" y="1810512"/>
            <a:ext cx="5376672" cy="896112"/>
          </a:xfrm>
          <a:prstGeom prst="roundRect">
            <a:avLst>
              <a:gd name="adj" fmla="val 8163"/>
            </a:avLst>
          </a:prstGeom>
          <a:solidFill>
            <a:srgbClr val="E9F5EE"/>
          </a:solidFill>
          <a:ln w="9525">
            <a:solidFill>
              <a:srgbClr val="2E8B57"/>
            </a:solidFill>
            <a:prstDash val="solid"/>
          </a:ln>
          <a:effectLst>
            <a:outerShdw sx="100000" sy="100000" kx="0" ky="0" algn="bl" rotWithShape="0" blurRad="50800" dist="19050" dir="5400000">
              <a:srgbClr val="000000">
                <a:alpha val="10000"/>
              </a:srgbClr>
            </a:outerShdw>
          </a:effectLst>
        </p:spPr>
      </p:sp>
      <p:sp>
        <p:nvSpPr>
          <p:cNvPr id="34" name="Shape 31"/>
          <p:cNvSpPr/>
          <p:nvPr/>
        </p:nvSpPr>
        <p:spPr>
          <a:xfrm>
            <a:off x="6473952" y="1901952"/>
            <a:ext cx="1051560" cy="256032"/>
          </a:xfrm>
          <a:prstGeom prst="roundRect">
            <a:avLst>
              <a:gd name="adj" fmla="val 50000"/>
            </a:avLst>
          </a:prstGeom>
          <a:solidFill>
            <a:srgbClr val="2E8B57"/>
          </a:solidFill>
          <a:ln w="12700">
            <a:solidFill>
              <a:srgbClr val="2E8B57"/>
            </a:solidFill>
            <a:prstDash val="solid"/>
          </a:ln>
        </p:spPr>
      </p:sp>
      <p:sp>
        <p:nvSpPr>
          <p:cNvPr id="35" name="Text 32"/>
          <p:cNvSpPr txBox="1"/>
          <p:nvPr/>
        </p:nvSpPr>
        <p:spPr>
          <a:xfrm>
            <a:off x="6473952" y="1901952"/>
            <a:ext cx="1051560" cy="256032"/>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CORE</a:t>
            </a:r>
            <a:endParaRPr lang="en-US" sz="850" dirty="0"/>
          </a:p>
        </p:txBody>
      </p:sp>
      <p:sp>
        <p:nvSpPr>
          <p:cNvPr id="36" name="Text 33"/>
          <p:cNvSpPr txBox="1"/>
          <p:nvPr/>
        </p:nvSpPr>
        <p:spPr>
          <a:xfrm>
            <a:off x="6473952" y="2176272"/>
            <a:ext cx="5120640" cy="475488"/>
          </a:xfrm>
          <a:prstGeom prst="rect">
            <a:avLst/>
          </a:prstGeom>
          <a:noFill/>
          <a:ln/>
        </p:spPr>
        <p:txBody>
          <a:bodyPr wrap="square" lIns="0" tIns="0" rIns="0" bIns="0" rtlCol="0" anchor="ctr"/>
          <a:lstStyle/>
          <a:p>
            <a:pPr rtl="1" algn="r" indent="0" marL="0">
              <a:buNone/>
            </a:pPr>
            <a:r>
              <a:rPr lang="ar-SA" altLang="en-US" sz="1450" dirty="0">
                <a:solidFill>
                  <a:srgbClr val="1F2A37"/>
                </a:solidFill>
                <a:latin typeface="Amiri" pitchFamily="2" charset="-78"/>
                <a:ea typeface="Amiri" pitchFamily="2" charset="-78"/>
                <a:cs typeface="Amiri" pitchFamily="2" charset="-78"/>
              </a:rPr>
              <a:t>السَّلَامُ عَلَيْكُمْ · اسْمِي … · عُمْرِي … · أَنَا … · أَسْكُنُ فِي …</a:t>
            </a:r>
            <a:endParaRPr lang="ar-SA" sz="1450" dirty="0"/>
          </a:p>
        </p:txBody>
      </p:sp>
      <p:sp>
        <p:nvSpPr>
          <p:cNvPr id="37" name="Shape 34"/>
          <p:cNvSpPr/>
          <p:nvPr/>
        </p:nvSpPr>
        <p:spPr>
          <a:xfrm>
            <a:off x="6355080" y="2816352"/>
            <a:ext cx="5376672" cy="896112"/>
          </a:xfrm>
          <a:prstGeom prst="roundRect">
            <a:avLst>
              <a:gd name="adj" fmla="val 8163"/>
            </a:avLst>
          </a:prstGeom>
          <a:solidFill>
            <a:srgbClr val="FCF1E0"/>
          </a:solidFill>
          <a:ln w="9525">
            <a:solidFill>
              <a:srgbClr val="C9780A"/>
            </a:solidFill>
            <a:prstDash val="solid"/>
          </a:ln>
          <a:effectLst>
            <a:outerShdw sx="100000" sy="100000" kx="0" ky="0" algn="bl" rotWithShape="0" blurRad="50800" dist="19050" dir="5400000">
              <a:srgbClr val="000000">
                <a:alpha val="10000"/>
              </a:srgbClr>
            </a:outerShdw>
          </a:effectLst>
        </p:spPr>
      </p:sp>
      <p:sp>
        <p:nvSpPr>
          <p:cNvPr id="38" name="Shape 35"/>
          <p:cNvSpPr/>
          <p:nvPr/>
        </p:nvSpPr>
        <p:spPr>
          <a:xfrm>
            <a:off x="6473952" y="2907792"/>
            <a:ext cx="1051560" cy="256032"/>
          </a:xfrm>
          <a:prstGeom prst="roundRect">
            <a:avLst>
              <a:gd name="adj" fmla="val 50000"/>
            </a:avLst>
          </a:prstGeom>
          <a:solidFill>
            <a:srgbClr val="C9780A"/>
          </a:solidFill>
          <a:ln w="12700">
            <a:solidFill>
              <a:srgbClr val="C9780A"/>
            </a:solidFill>
            <a:prstDash val="solid"/>
          </a:ln>
        </p:spPr>
      </p:sp>
      <p:sp>
        <p:nvSpPr>
          <p:cNvPr id="39" name="Text 36"/>
          <p:cNvSpPr txBox="1"/>
          <p:nvPr/>
        </p:nvSpPr>
        <p:spPr>
          <a:xfrm>
            <a:off x="6473952" y="2907792"/>
            <a:ext cx="1051560" cy="256032"/>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DEVELOP</a:t>
            </a:r>
            <a:endParaRPr lang="en-US" sz="850" dirty="0"/>
          </a:p>
        </p:txBody>
      </p:sp>
      <p:sp>
        <p:nvSpPr>
          <p:cNvPr id="40" name="Text 37"/>
          <p:cNvSpPr txBox="1"/>
          <p:nvPr/>
        </p:nvSpPr>
        <p:spPr>
          <a:xfrm>
            <a:off x="6473952" y="3182112"/>
            <a:ext cx="5120640" cy="475488"/>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Add a friend and link with </a:t>
            </a:r>
            <a:pPr algn="l" indent="0" marL="0">
              <a:buNone/>
            </a:pPr>
            <a:r>
              <a:rPr lang="ar-SA" altLang="en-US" sz="1500" dirty="0">
                <a:solidFill>
                  <a:srgbClr val="1F2A37"/>
                </a:solidFill>
                <a:latin typeface="Amiri" pitchFamily="2" charset="-78"/>
                <a:ea typeface="Amiri" pitchFamily="2" charset="-78"/>
                <a:cs typeface="Amiri" pitchFamily="2" charset="-78"/>
              </a:rPr>
              <a:t>وَ</a:t>
            </a:r>
            <a:pPr algn="l" indent="0" marL="0">
              <a:buNone/>
            </a:pPr>
            <a:r>
              <a:rPr lang="en-US" sz="1150" dirty="0">
                <a:solidFill>
                  <a:srgbClr val="1F2A37"/>
                </a:solidFill>
                <a:latin typeface="Calibri" pitchFamily="34" charset="0"/>
                <a:cs typeface="Amiri" pitchFamily="2" charset="-78"/>
              </a:rPr>
              <a:t> · </a:t>
            </a:r>
            <a:pPr algn="l" indent="0" marL="0">
              <a:buNone/>
            </a:pPr>
            <a:r>
              <a:rPr lang="ar-SA" altLang="en-US" sz="1500" dirty="0">
                <a:solidFill>
                  <a:srgbClr val="1F2A37"/>
                </a:solidFill>
                <a:latin typeface="Amiri" pitchFamily="2" charset="-78"/>
                <a:ea typeface="Amiri" pitchFamily="2" charset="-78"/>
                <a:cs typeface="Amiri" pitchFamily="2" charset="-78"/>
              </a:rPr>
              <a:t>أَيْضًا</a:t>
            </a:r>
            <a:pPr algn="l" indent="0" marL="0">
              <a:buNone/>
            </a:pPr>
            <a:r>
              <a:rPr lang="en-US" sz="1150" dirty="0">
                <a:solidFill>
                  <a:srgbClr val="1F2A37"/>
                </a:solidFill>
                <a:latin typeface="Calibri" pitchFamily="34" charset="0"/>
                <a:cs typeface="Amiri" pitchFamily="2" charset="-78"/>
              </a:rPr>
              <a:t> · </a:t>
            </a:r>
            <a:pPr algn="l" indent="0" marL="0">
              <a:buNone/>
            </a:pPr>
            <a:r>
              <a:rPr lang="ar-SA" altLang="en-US" sz="1500" dirty="0">
                <a:solidFill>
                  <a:srgbClr val="1F2A37"/>
                </a:solidFill>
                <a:latin typeface="Amiri" pitchFamily="2" charset="-78"/>
                <a:ea typeface="Amiri" pitchFamily="2" charset="-78"/>
                <a:cs typeface="Amiri" pitchFamily="2" charset="-78"/>
              </a:rPr>
              <a:t>ثُمَّ</a:t>
            </a:r>
            <a:pPr algn="l" indent="0" marL="0">
              <a:buNone/>
            </a:pPr>
            <a:r>
              <a:rPr lang="en-US" sz="1150" dirty="0">
                <a:solidFill>
                  <a:srgbClr val="1F2A37"/>
                </a:solidFill>
                <a:latin typeface="Calibri" pitchFamily="34" charset="0"/>
                <a:cs typeface="Amiri" pitchFamily="2" charset="-78"/>
              </a:rPr>
              <a:t>.</a:t>
            </a:r>
            <a:endParaRPr lang="en-US" sz="1150" dirty="0"/>
          </a:p>
        </p:txBody>
      </p:sp>
      <p:sp>
        <p:nvSpPr>
          <p:cNvPr id="41" name="Shape 38"/>
          <p:cNvSpPr/>
          <p:nvPr/>
        </p:nvSpPr>
        <p:spPr>
          <a:xfrm>
            <a:off x="6355080" y="3822192"/>
            <a:ext cx="5376672" cy="896112"/>
          </a:xfrm>
          <a:prstGeom prst="roundRect">
            <a:avLst>
              <a:gd name="adj" fmla="val 8163"/>
            </a:avLst>
          </a:prstGeom>
          <a:solidFill>
            <a:srgbClr val="FBEAEA"/>
          </a:solidFill>
          <a:ln w="9525">
            <a:solidFill>
              <a:srgbClr val="B83227"/>
            </a:solidFill>
            <a:prstDash val="solid"/>
          </a:ln>
          <a:effectLst>
            <a:outerShdw sx="100000" sy="100000" kx="0" ky="0" algn="bl" rotWithShape="0" blurRad="50800" dist="19050" dir="5400000">
              <a:srgbClr val="000000">
                <a:alpha val="10000"/>
              </a:srgbClr>
            </a:outerShdw>
          </a:effectLst>
        </p:spPr>
      </p:sp>
      <p:sp>
        <p:nvSpPr>
          <p:cNvPr id="42" name="Shape 39"/>
          <p:cNvSpPr/>
          <p:nvPr/>
        </p:nvSpPr>
        <p:spPr>
          <a:xfrm>
            <a:off x="6473952" y="3913632"/>
            <a:ext cx="1051560" cy="256032"/>
          </a:xfrm>
          <a:prstGeom prst="roundRect">
            <a:avLst>
              <a:gd name="adj" fmla="val 50000"/>
            </a:avLst>
          </a:prstGeom>
          <a:solidFill>
            <a:srgbClr val="B83227"/>
          </a:solidFill>
          <a:ln w="12700">
            <a:solidFill>
              <a:srgbClr val="B83227"/>
            </a:solidFill>
            <a:prstDash val="solid"/>
          </a:ln>
        </p:spPr>
      </p:sp>
      <p:sp>
        <p:nvSpPr>
          <p:cNvPr id="43" name="Text 40"/>
          <p:cNvSpPr txBox="1"/>
          <p:nvPr/>
        </p:nvSpPr>
        <p:spPr>
          <a:xfrm>
            <a:off x="6473952" y="3913632"/>
            <a:ext cx="1051560" cy="256032"/>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STRETCH</a:t>
            </a:r>
            <a:endParaRPr lang="en-US" sz="850" dirty="0"/>
          </a:p>
        </p:txBody>
      </p:sp>
      <p:sp>
        <p:nvSpPr>
          <p:cNvPr id="44" name="Text 41"/>
          <p:cNvSpPr txBox="1"/>
          <p:nvPr/>
        </p:nvSpPr>
        <p:spPr>
          <a:xfrm>
            <a:off x="6473952" y="4187952"/>
            <a:ext cx="5120640" cy="475488"/>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Add a reason (</a:t>
            </a:r>
            <a:pPr algn="l" indent="0" marL="0">
              <a:buNone/>
            </a:pPr>
            <a:r>
              <a:rPr lang="ar-SA" altLang="en-US" sz="1500" dirty="0">
                <a:solidFill>
                  <a:srgbClr val="1F2A37"/>
                </a:solidFill>
                <a:latin typeface="Amiri" pitchFamily="2" charset="-78"/>
                <a:ea typeface="Amiri" pitchFamily="2" charset="-78"/>
                <a:cs typeface="Amiri" pitchFamily="2" charset="-78"/>
              </a:rPr>
              <a:t>لِأَنِّي</a:t>
            </a:r>
            <a:pPr algn="l" indent="0" marL="0">
              <a:buNone/>
            </a:pPr>
            <a:r>
              <a:rPr lang="en-US" sz="1150" dirty="0">
                <a:solidFill>
                  <a:srgbClr val="1F2A37"/>
                </a:solidFill>
                <a:latin typeface="Calibri" pitchFamily="34" charset="0"/>
                <a:cs typeface="Amiri" pitchFamily="2" charset="-78"/>
              </a:rPr>
              <a:t> …) and a contrast (</a:t>
            </a:r>
            <a:pPr algn="l" indent="0" marL="0">
              <a:buNone/>
            </a:pPr>
            <a:r>
              <a:rPr lang="ar-SA" altLang="en-US" sz="1500" dirty="0">
                <a:solidFill>
                  <a:srgbClr val="1F2A37"/>
                </a:solidFill>
                <a:latin typeface="Amiri" pitchFamily="2" charset="-78"/>
                <a:ea typeface="Amiri" pitchFamily="2" charset="-78"/>
                <a:cs typeface="Amiri" pitchFamily="2" charset="-78"/>
              </a:rPr>
              <a:t>لٰكِنَّ عَائِلَتِي مِنْ</a:t>
            </a:r>
            <a:pPr algn="l" indent="0" marL="0">
              <a:buNone/>
            </a:pPr>
            <a:r>
              <a:rPr lang="en-US" sz="1150" dirty="0">
                <a:solidFill>
                  <a:srgbClr val="1F2A37"/>
                </a:solidFill>
                <a:latin typeface="Calibri" pitchFamily="34" charset="0"/>
                <a:cs typeface="Amiri" pitchFamily="2" charset="-78"/>
              </a:rPr>
              <a:t> …).</a:t>
            </a:r>
            <a:endParaRPr lang="en-US" sz="1150" dirty="0"/>
          </a:p>
        </p:txBody>
      </p:sp>
      <p:sp>
        <p:nvSpPr>
          <p:cNvPr id="45" name="Shape 42"/>
          <p:cNvSpPr/>
          <p:nvPr/>
        </p:nvSpPr>
        <p:spPr>
          <a:xfrm>
            <a:off x="6355080" y="4828032"/>
            <a:ext cx="5376672" cy="1481328"/>
          </a:xfrm>
          <a:prstGeom prst="roundRect">
            <a:avLst>
              <a:gd name="adj" fmla="val 4938"/>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6" name="Text 43"/>
          <p:cNvSpPr txBox="1"/>
          <p:nvPr/>
        </p:nvSpPr>
        <p:spPr>
          <a:xfrm>
            <a:off x="6492240" y="4882896"/>
            <a:ext cx="2743200" cy="237744"/>
          </a:xfrm>
          <a:prstGeom prst="rect">
            <a:avLst/>
          </a:prstGeom>
          <a:noFill/>
          <a:ln/>
        </p:spPr>
        <p:txBody>
          <a:bodyPr wrap="square" lIns="0" tIns="0" rIns="0" bIns="0" rtlCol="0" anchor="ctr"/>
          <a:lstStyle/>
          <a:p>
            <a:pPr algn="l" indent="0" marL="0">
              <a:buNone/>
            </a:pPr>
            <a:r>
              <a:rPr lang="en-US" sz="950" b="1" spc="200" kern="0" dirty="0">
                <a:solidFill>
                  <a:srgbClr val="8A6D1E"/>
                </a:solidFill>
                <a:latin typeface="Calibri" pitchFamily="34" charset="0"/>
                <a:cs typeface="Amiri" pitchFamily="2" charset="-78"/>
              </a:rPr>
              <a:t>USEFUL LANGUAGE</a:t>
            </a:r>
            <a:endParaRPr lang="en-US" sz="950" dirty="0"/>
          </a:p>
        </p:txBody>
      </p:sp>
      <p:sp>
        <p:nvSpPr>
          <p:cNvPr id="47" name="Text 44"/>
          <p:cNvSpPr txBox="1"/>
          <p:nvPr/>
        </p:nvSpPr>
        <p:spPr>
          <a:xfrm>
            <a:off x="8732520" y="5138928"/>
            <a:ext cx="2880360" cy="283464"/>
          </a:xfrm>
          <a:prstGeom prst="rect">
            <a:avLst/>
          </a:prstGeom>
          <a:noFill/>
          <a:ln/>
        </p:spPr>
        <p:txBody>
          <a:bodyPr wrap="square" lIns="0" tIns="0" rIns="0" bIns="0" rtlCol="0" anchor="ctr"/>
          <a:lstStyle/>
          <a:p>
            <a:pPr rtl="1" algn="r" indent="0" marL="0">
              <a:buNone/>
            </a:pPr>
            <a:r>
              <a:rPr lang="ar-SA" altLang="en-US" sz="1300" b="1" dirty="0">
                <a:solidFill>
                  <a:srgbClr val="1B3B6F"/>
                </a:solidFill>
                <a:latin typeface="Amiri" pitchFamily="2" charset="-78"/>
                <a:ea typeface="Amiri" pitchFamily="2" charset="-78"/>
                <a:cs typeface="Amiri" pitchFamily="2" charset="-78"/>
              </a:rPr>
              <a:t>اسْمِي … ، وَعُمْرِي … سَنَةً</a:t>
            </a:r>
            <a:endParaRPr lang="ar-SA" sz="1300" dirty="0"/>
          </a:p>
        </p:txBody>
      </p:sp>
      <p:sp>
        <p:nvSpPr>
          <p:cNvPr id="48" name="Text 45"/>
          <p:cNvSpPr txBox="1"/>
          <p:nvPr/>
        </p:nvSpPr>
        <p:spPr>
          <a:xfrm>
            <a:off x="6492240" y="5138928"/>
            <a:ext cx="2194560" cy="283464"/>
          </a:xfrm>
          <a:prstGeom prst="rect">
            <a:avLst/>
          </a:prstGeom>
          <a:noFill/>
          <a:ln/>
        </p:spPr>
        <p:txBody>
          <a:bodyPr wrap="square" lIns="0" tIns="0" rIns="0" bIns="0" rtlCol="0" anchor="ctr"/>
          <a:lstStyle/>
          <a:p>
            <a:pPr algn="l" indent="0" marL="0">
              <a:buNone/>
            </a:pPr>
            <a:r>
              <a:rPr lang="en-US" sz="1000" i="1" dirty="0">
                <a:solidFill>
                  <a:srgbClr val="5A6472"/>
                </a:solidFill>
                <a:latin typeface="Calibri" pitchFamily="34" charset="0"/>
                <a:cs typeface="Amiri" pitchFamily="2" charset="-78"/>
              </a:rPr>
              <a:t>my name is … and I am …</a:t>
            </a:r>
            <a:endParaRPr lang="en-US" sz="1000" dirty="0"/>
          </a:p>
        </p:txBody>
      </p:sp>
      <p:sp>
        <p:nvSpPr>
          <p:cNvPr id="49" name="Text 46"/>
          <p:cNvSpPr txBox="1"/>
          <p:nvPr/>
        </p:nvSpPr>
        <p:spPr>
          <a:xfrm>
            <a:off x="8732520" y="5422392"/>
            <a:ext cx="2880360" cy="283464"/>
          </a:xfrm>
          <a:prstGeom prst="rect">
            <a:avLst/>
          </a:prstGeom>
          <a:noFill/>
          <a:ln/>
        </p:spPr>
        <p:txBody>
          <a:bodyPr wrap="square" lIns="0" tIns="0" rIns="0" bIns="0" rtlCol="0" anchor="ctr"/>
          <a:lstStyle/>
          <a:p>
            <a:pPr rtl="1" algn="r" indent="0" marL="0">
              <a:buNone/>
            </a:pPr>
            <a:r>
              <a:rPr lang="ar-SA" altLang="en-US" sz="1300" b="1" dirty="0">
                <a:solidFill>
                  <a:srgbClr val="1B3B6F"/>
                </a:solidFill>
                <a:latin typeface="Amiri" pitchFamily="2" charset="-78"/>
                <a:ea typeface="Amiri" pitchFamily="2" charset="-78"/>
                <a:cs typeface="Amiri" pitchFamily="2" charset="-78"/>
              </a:rPr>
              <a:t>أَنَا … ، لٰكِنَّ عَائِلَتِي مِنْ …</a:t>
            </a:r>
            <a:endParaRPr lang="ar-SA" sz="1300" dirty="0"/>
          </a:p>
        </p:txBody>
      </p:sp>
      <p:sp>
        <p:nvSpPr>
          <p:cNvPr id="50" name="Text 47"/>
          <p:cNvSpPr txBox="1"/>
          <p:nvPr/>
        </p:nvSpPr>
        <p:spPr>
          <a:xfrm>
            <a:off x="6492240" y="5422392"/>
            <a:ext cx="2194560" cy="283464"/>
          </a:xfrm>
          <a:prstGeom prst="rect">
            <a:avLst/>
          </a:prstGeom>
          <a:noFill/>
          <a:ln/>
        </p:spPr>
        <p:txBody>
          <a:bodyPr wrap="square" lIns="0" tIns="0" rIns="0" bIns="0" rtlCol="0" anchor="ctr"/>
          <a:lstStyle/>
          <a:p>
            <a:pPr algn="l" indent="0" marL="0">
              <a:buNone/>
            </a:pPr>
            <a:r>
              <a:rPr lang="en-US" sz="1000" i="1" dirty="0">
                <a:solidFill>
                  <a:srgbClr val="5A6472"/>
                </a:solidFill>
                <a:latin typeface="Calibri" pitchFamily="34" charset="0"/>
                <a:cs typeface="Amiri" pitchFamily="2" charset="-78"/>
              </a:rPr>
              <a:t>I am …, but my family is from …</a:t>
            </a:r>
            <a:endParaRPr lang="en-US" sz="1000" dirty="0"/>
          </a:p>
        </p:txBody>
      </p:sp>
      <p:sp>
        <p:nvSpPr>
          <p:cNvPr id="51" name="Text 48"/>
          <p:cNvSpPr txBox="1"/>
          <p:nvPr/>
        </p:nvSpPr>
        <p:spPr>
          <a:xfrm>
            <a:off x="8732520" y="5705856"/>
            <a:ext cx="2880360" cy="283464"/>
          </a:xfrm>
          <a:prstGeom prst="rect">
            <a:avLst/>
          </a:prstGeom>
          <a:noFill/>
          <a:ln/>
        </p:spPr>
        <p:txBody>
          <a:bodyPr wrap="square" lIns="0" tIns="0" rIns="0" bIns="0" rtlCol="0" anchor="ctr"/>
          <a:lstStyle/>
          <a:p>
            <a:pPr rtl="1" algn="r" indent="0" marL="0">
              <a:buNone/>
            </a:pPr>
            <a:r>
              <a:rPr lang="ar-SA" altLang="en-US" sz="1300" b="1" dirty="0">
                <a:solidFill>
                  <a:srgbClr val="1B3B6F"/>
                </a:solidFill>
                <a:latin typeface="Amiri" pitchFamily="2" charset="-78"/>
                <a:ea typeface="Amiri" pitchFamily="2" charset="-78"/>
                <a:cs typeface="Amiri" pitchFamily="2" charset="-78"/>
              </a:rPr>
              <a:t>أَتَعَلَّمُ العَرَبِيَّةَ لِأَنِّي …</a:t>
            </a:r>
            <a:endParaRPr lang="ar-SA" sz="1300" dirty="0"/>
          </a:p>
        </p:txBody>
      </p:sp>
      <p:sp>
        <p:nvSpPr>
          <p:cNvPr id="52" name="Text 49"/>
          <p:cNvSpPr txBox="1"/>
          <p:nvPr/>
        </p:nvSpPr>
        <p:spPr>
          <a:xfrm>
            <a:off x="6492240" y="5705856"/>
            <a:ext cx="2194560" cy="283464"/>
          </a:xfrm>
          <a:prstGeom prst="rect">
            <a:avLst/>
          </a:prstGeom>
          <a:noFill/>
          <a:ln/>
        </p:spPr>
        <p:txBody>
          <a:bodyPr wrap="square" lIns="0" tIns="0" rIns="0" bIns="0" rtlCol="0" anchor="ctr"/>
          <a:lstStyle/>
          <a:p>
            <a:pPr algn="l" indent="0" marL="0">
              <a:buNone/>
            </a:pPr>
            <a:r>
              <a:rPr lang="en-US" sz="1000" i="1" dirty="0">
                <a:solidFill>
                  <a:srgbClr val="5A6472"/>
                </a:solidFill>
                <a:latin typeface="Calibri" pitchFamily="34" charset="0"/>
                <a:cs typeface="Amiri" pitchFamily="2" charset="-78"/>
              </a:rPr>
              <a:t>I learn Arabic because I …</a:t>
            </a:r>
            <a:endParaRPr lang="en-US" sz="1000" dirty="0"/>
          </a:p>
        </p:txBody>
      </p:sp>
      <p:sp>
        <p:nvSpPr>
          <p:cNvPr id="53" name="Text 50"/>
          <p:cNvSpPr txBox="1"/>
          <p:nvPr/>
        </p:nvSpPr>
        <p:spPr>
          <a:xfrm>
            <a:off x="8732520" y="5989320"/>
            <a:ext cx="2880360" cy="283464"/>
          </a:xfrm>
          <a:prstGeom prst="rect">
            <a:avLst/>
          </a:prstGeom>
          <a:noFill/>
          <a:ln/>
        </p:spPr>
        <p:txBody>
          <a:bodyPr wrap="square" lIns="0" tIns="0" rIns="0" bIns="0" rtlCol="0" anchor="ctr"/>
          <a:lstStyle/>
          <a:p>
            <a:pPr rtl="1" algn="r" indent="0" marL="0">
              <a:buNone/>
            </a:pPr>
            <a:r>
              <a:rPr lang="ar-SA" altLang="en-US" sz="1300" b="1" dirty="0">
                <a:solidFill>
                  <a:srgbClr val="1B3B6F"/>
                </a:solidFill>
                <a:latin typeface="Amiri" pitchFamily="2" charset="-78"/>
                <a:ea typeface="Amiri" pitchFamily="2" charset="-78"/>
                <a:cs typeface="Amiri" pitchFamily="2" charset="-78"/>
              </a:rPr>
              <a:t>صَدِيقِي اسْمُهُ … ، وَهُوَ …</a:t>
            </a:r>
            <a:endParaRPr lang="ar-SA" sz="1300" dirty="0"/>
          </a:p>
        </p:txBody>
      </p:sp>
      <p:sp>
        <p:nvSpPr>
          <p:cNvPr id="54" name="Text 51"/>
          <p:cNvSpPr txBox="1"/>
          <p:nvPr/>
        </p:nvSpPr>
        <p:spPr>
          <a:xfrm>
            <a:off x="6492240" y="5989320"/>
            <a:ext cx="2194560" cy="283464"/>
          </a:xfrm>
          <a:prstGeom prst="rect">
            <a:avLst/>
          </a:prstGeom>
          <a:noFill/>
          <a:ln/>
        </p:spPr>
        <p:txBody>
          <a:bodyPr wrap="square" lIns="0" tIns="0" rIns="0" bIns="0" rtlCol="0" anchor="ctr"/>
          <a:lstStyle/>
          <a:p>
            <a:pPr algn="l" indent="0" marL="0">
              <a:buNone/>
            </a:pPr>
            <a:r>
              <a:rPr lang="en-US" sz="1000" i="1" dirty="0">
                <a:solidFill>
                  <a:srgbClr val="5A6472"/>
                </a:solidFill>
                <a:latin typeface="Calibri" pitchFamily="34" charset="0"/>
                <a:cs typeface="Amiri" pitchFamily="2" charset="-78"/>
              </a:rPr>
              <a:t>my friend is called … and he is …</a:t>
            </a:r>
            <a:endParaRPr lang="en-US" sz="1000" dirty="0"/>
          </a:p>
        </p:txBody>
      </p:sp>
      <p:sp>
        <p:nvSpPr>
          <p:cNvPr id="55" name="Text 52"/>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13 / 24</a:t>
            </a:r>
            <a:endParaRPr lang="en-US" sz="85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F2-W06 · Apply workshop</a:t>
            </a:r>
            <a:endParaRPr lang="en-US" sz="950" dirty="0"/>
          </a:p>
        </p:txBody>
      </p:sp>
      <p:sp>
        <p:nvSpPr>
          <p:cNvPr id="8" name="Shape 6"/>
          <p:cNvSpPr/>
          <p:nvPr/>
        </p:nvSpPr>
        <p:spPr>
          <a:xfrm>
            <a:off x="7370978" y="274320"/>
            <a:ext cx="1388974"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70978" y="274320"/>
            <a:ext cx="138897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 · 3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cs typeface="Amiri" pitchFamily="2" charset="-78"/>
              </a:rPr>
              <a:t>PART 3 · STEP 7 · SENTENCE BUILDER · FROM BOTH LESSONS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Build three correct sentences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ابْنِ الجُمْلَةَ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F2 · Greetings &amp; Introductions · F2-W06 · Apply workshop (F2-L11 + F2-L12)</a:t>
            </a:r>
            <a:endParaRPr lang="en-US" sz="850" dirty="0"/>
          </a:p>
        </p:txBody>
      </p:sp>
      <p:sp>
        <p:nvSpPr>
          <p:cNvPr id="15" name="Text 12"/>
          <p:cNvSpPr txBox="1"/>
          <p:nvPr/>
        </p:nvSpPr>
        <p:spPr>
          <a:xfrm>
            <a:off x="9180576" y="1700784"/>
            <a:ext cx="2414016" cy="256032"/>
          </a:xfrm>
          <a:prstGeom prst="rect">
            <a:avLst/>
          </a:prstGeom>
          <a:noFill/>
          <a:ln/>
        </p:spPr>
        <p:txBody>
          <a:bodyPr wrap="square" lIns="0" tIns="0" rIns="0" bIns="0" rtlCol="0" anchor="ctr"/>
          <a:lstStyle/>
          <a:p>
            <a:pPr algn="ctr" indent="0" marL="0">
              <a:buNone/>
            </a:pPr>
            <a:r>
              <a:rPr lang="en-US" sz="1000" b="1" dirty="0">
                <a:solidFill>
                  <a:srgbClr val="2F6FB0"/>
                </a:solidFill>
                <a:latin typeface="Calibri" pitchFamily="34" charset="0"/>
                <a:cs typeface="Amiri" pitchFamily="2" charset="-78"/>
              </a:rPr>
              <a:t>Column 1 · start here</a:t>
            </a:r>
            <a:endParaRPr lang="en-US" sz="1000" dirty="0"/>
          </a:p>
        </p:txBody>
      </p:sp>
      <p:sp>
        <p:nvSpPr>
          <p:cNvPr id="16" name="Text 13"/>
          <p:cNvSpPr txBox="1"/>
          <p:nvPr/>
        </p:nvSpPr>
        <p:spPr>
          <a:xfrm>
            <a:off x="6624828" y="1700784"/>
            <a:ext cx="2414016" cy="256032"/>
          </a:xfrm>
          <a:prstGeom prst="rect">
            <a:avLst/>
          </a:prstGeom>
          <a:noFill/>
          <a:ln/>
        </p:spPr>
        <p:txBody>
          <a:bodyPr wrap="square" lIns="0" tIns="0" rIns="0" bIns="0" rtlCol="0" anchor="ctr"/>
          <a:lstStyle/>
          <a:p>
            <a:pPr algn="ctr" indent="0" marL="0">
              <a:buNone/>
            </a:pPr>
            <a:r>
              <a:rPr lang="en-US" sz="1000" b="1" dirty="0">
                <a:solidFill>
                  <a:srgbClr val="2F6FB0"/>
                </a:solidFill>
                <a:latin typeface="Calibri" pitchFamily="34" charset="0"/>
                <a:cs typeface="Amiri" pitchFamily="2" charset="-78"/>
              </a:rPr>
              <a:t>Column 2</a:t>
            </a:r>
            <a:endParaRPr lang="en-US" sz="1000" dirty="0"/>
          </a:p>
        </p:txBody>
      </p:sp>
      <p:sp>
        <p:nvSpPr>
          <p:cNvPr id="17" name="Text 14"/>
          <p:cNvSpPr txBox="1"/>
          <p:nvPr/>
        </p:nvSpPr>
        <p:spPr>
          <a:xfrm>
            <a:off x="4069080" y="1700784"/>
            <a:ext cx="2414016" cy="256032"/>
          </a:xfrm>
          <a:prstGeom prst="rect">
            <a:avLst/>
          </a:prstGeom>
          <a:noFill/>
          <a:ln/>
        </p:spPr>
        <p:txBody>
          <a:bodyPr wrap="square" lIns="0" tIns="0" rIns="0" bIns="0" rtlCol="0" anchor="ctr"/>
          <a:lstStyle/>
          <a:p>
            <a:pPr algn="ctr" indent="0" marL="0">
              <a:buNone/>
            </a:pPr>
            <a:r>
              <a:rPr lang="en-US" sz="1000" b="1" dirty="0">
                <a:solidFill>
                  <a:srgbClr val="2F6FB0"/>
                </a:solidFill>
                <a:latin typeface="Calibri" pitchFamily="34" charset="0"/>
                <a:cs typeface="Amiri" pitchFamily="2" charset="-78"/>
              </a:rPr>
              <a:t>Column 3</a:t>
            </a:r>
            <a:endParaRPr lang="en-US" sz="1000" dirty="0"/>
          </a:p>
        </p:txBody>
      </p:sp>
      <p:sp>
        <p:nvSpPr>
          <p:cNvPr id="18" name="Shape 15"/>
          <p:cNvSpPr/>
          <p:nvPr/>
        </p:nvSpPr>
        <p:spPr>
          <a:xfrm>
            <a:off x="457200" y="2011680"/>
            <a:ext cx="11274552" cy="1261872"/>
          </a:xfrm>
          <a:prstGeom prst="roundRect">
            <a:avLst>
              <a:gd name="adj" fmla="val 5797"/>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9" name="Shape 16"/>
          <p:cNvSpPr/>
          <p:nvPr/>
        </p:nvSpPr>
        <p:spPr>
          <a:xfrm>
            <a:off x="594360" y="2148840"/>
            <a:ext cx="365760" cy="365760"/>
          </a:xfrm>
          <a:prstGeom prst="ellipse">
            <a:avLst/>
          </a:prstGeom>
          <a:solidFill>
            <a:srgbClr val="2F6FB0"/>
          </a:solidFill>
          <a:ln w="12700">
            <a:solidFill>
              <a:srgbClr val="2F6FB0"/>
            </a:solidFill>
            <a:prstDash val="solid"/>
          </a:ln>
        </p:spPr>
      </p:sp>
      <p:sp>
        <p:nvSpPr>
          <p:cNvPr id="20" name="Text 17"/>
          <p:cNvSpPr txBox="1"/>
          <p:nvPr/>
        </p:nvSpPr>
        <p:spPr>
          <a:xfrm>
            <a:off x="594360" y="2148840"/>
            <a:ext cx="365760" cy="36576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cs typeface="Amiri" pitchFamily="2" charset="-78"/>
              </a:rPr>
              <a:t>1</a:t>
            </a:r>
            <a:endParaRPr lang="en-US" sz="1200" dirty="0"/>
          </a:p>
        </p:txBody>
      </p:sp>
      <p:sp>
        <p:nvSpPr>
          <p:cNvPr id="21" name="Text 18"/>
          <p:cNvSpPr txBox="1"/>
          <p:nvPr/>
        </p:nvSpPr>
        <p:spPr>
          <a:xfrm>
            <a:off x="1051560" y="2121408"/>
            <a:ext cx="2834640" cy="1042416"/>
          </a:xfrm>
          <a:prstGeom prst="rect">
            <a:avLst/>
          </a:prstGeom>
          <a:noFill/>
          <a:ln/>
        </p:spPr>
        <p:txBody>
          <a:bodyPr wrap="square" lIns="0" tIns="0" rIns="0" bIns="0" rtlCol="0" anchor="t"/>
          <a:lstStyle/>
          <a:p>
            <a:pPr algn="l" indent="0" marL="0">
              <a:buNone/>
            </a:pPr>
            <a:r>
              <a:rPr lang="en-US" sz="1400" b="1" dirty="0">
                <a:solidFill>
                  <a:srgbClr val="1B3B6F"/>
                </a:solidFill>
                <a:latin typeface="Calibri" pitchFamily="34" charset="0"/>
                <a:cs typeface="Amiri" pitchFamily="2" charset="-78"/>
              </a:rPr>
              <a:t>I am British, but my family is from Iraq.</a:t>
            </a:r>
            <a:endParaRPr lang="en-US" sz="1400" dirty="0"/>
          </a:p>
        </p:txBody>
      </p:sp>
      <p:sp>
        <p:nvSpPr>
          <p:cNvPr id="22" name="Shape 19"/>
          <p:cNvSpPr/>
          <p:nvPr/>
        </p:nvSpPr>
        <p:spPr>
          <a:xfrm>
            <a:off x="9180576" y="2103120"/>
            <a:ext cx="2414016" cy="512064"/>
          </a:xfrm>
          <a:prstGeom prst="roundRect">
            <a:avLst>
              <a:gd name="adj" fmla="val 10714"/>
            </a:avLst>
          </a:prstGeom>
          <a:solidFill>
            <a:srgbClr val="EEF3FA"/>
          </a:solidFill>
          <a:ln w="9525">
            <a:solidFill>
              <a:srgbClr val="C9D6EA"/>
            </a:solidFill>
            <a:prstDash val="solid"/>
          </a:ln>
        </p:spPr>
      </p:sp>
      <p:sp>
        <p:nvSpPr>
          <p:cNvPr id="23" name="Text 20"/>
          <p:cNvSpPr txBox="1"/>
          <p:nvPr/>
        </p:nvSpPr>
        <p:spPr>
          <a:xfrm>
            <a:off x="9235440" y="2103120"/>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A</a:t>
            </a:r>
            <a:endParaRPr lang="en-US" sz="1000" dirty="0"/>
          </a:p>
        </p:txBody>
      </p:sp>
      <p:sp>
        <p:nvSpPr>
          <p:cNvPr id="24" name="Text 21"/>
          <p:cNvSpPr txBox="1"/>
          <p:nvPr/>
        </p:nvSpPr>
        <p:spPr>
          <a:xfrm>
            <a:off x="9500616" y="2103120"/>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أَنَا بِرِيطَانِيٌّ،</a:t>
            </a:r>
            <a:endParaRPr lang="ar-SA" sz="1800" dirty="0"/>
          </a:p>
        </p:txBody>
      </p:sp>
      <p:sp>
        <p:nvSpPr>
          <p:cNvPr id="25" name="Shape 22"/>
          <p:cNvSpPr/>
          <p:nvPr/>
        </p:nvSpPr>
        <p:spPr>
          <a:xfrm>
            <a:off x="9180576" y="2670048"/>
            <a:ext cx="2414016" cy="512064"/>
          </a:xfrm>
          <a:prstGeom prst="roundRect">
            <a:avLst>
              <a:gd name="adj" fmla="val 10714"/>
            </a:avLst>
          </a:prstGeom>
          <a:solidFill>
            <a:srgbClr val="EEF3FA"/>
          </a:solidFill>
          <a:ln w="9525">
            <a:solidFill>
              <a:srgbClr val="C9D6EA"/>
            </a:solidFill>
            <a:prstDash val="solid"/>
          </a:ln>
        </p:spPr>
      </p:sp>
      <p:sp>
        <p:nvSpPr>
          <p:cNvPr id="26" name="Text 23"/>
          <p:cNvSpPr txBox="1"/>
          <p:nvPr/>
        </p:nvSpPr>
        <p:spPr>
          <a:xfrm>
            <a:off x="9235440" y="2670048"/>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B</a:t>
            </a:r>
            <a:endParaRPr lang="en-US" sz="1000" dirty="0"/>
          </a:p>
        </p:txBody>
      </p:sp>
      <p:sp>
        <p:nvSpPr>
          <p:cNvPr id="27" name="Text 24"/>
          <p:cNvSpPr txBox="1"/>
          <p:nvPr/>
        </p:nvSpPr>
        <p:spPr>
          <a:xfrm>
            <a:off x="9500616" y="2670048"/>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أَنَا بِرِيطَانِيَا،</a:t>
            </a:r>
            <a:endParaRPr lang="ar-SA" sz="1800" dirty="0"/>
          </a:p>
        </p:txBody>
      </p:sp>
      <p:sp>
        <p:nvSpPr>
          <p:cNvPr id="28" name="Shape 25"/>
          <p:cNvSpPr/>
          <p:nvPr/>
        </p:nvSpPr>
        <p:spPr>
          <a:xfrm>
            <a:off x="6624828" y="2103120"/>
            <a:ext cx="2414016" cy="512064"/>
          </a:xfrm>
          <a:prstGeom prst="roundRect">
            <a:avLst>
              <a:gd name="adj" fmla="val 10714"/>
            </a:avLst>
          </a:prstGeom>
          <a:solidFill>
            <a:srgbClr val="EEF3FA"/>
          </a:solidFill>
          <a:ln w="9525">
            <a:solidFill>
              <a:srgbClr val="C9D6EA"/>
            </a:solidFill>
            <a:prstDash val="solid"/>
          </a:ln>
        </p:spPr>
      </p:sp>
      <p:sp>
        <p:nvSpPr>
          <p:cNvPr id="29" name="Text 26"/>
          <p:cNvSpPr txBox="1"/>
          <p:nvPr/>
        </p:nvSpPr>
        <p:spPr>
          <a:xfrm>
            <a:off x="6679692" y="2103120"/>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A</a:t>
            </a:r>
            <a:endParaRPr lang="en-US" sz="1000" dirty="0"/>
          </a:p>
        </p:txBody>
      </p:sp>
      <p:sp>
        <p:nvSpPr>
          <p:cNvPr id="30" name="Text 27"/>
          <p:cNvSpPr txBox="1"/>
          <p:nvPr/>
        </p:nvSpPr>
        <p:spPr>
          <a:xfrm>
            <a:off x="6944868" y="2103120"/>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لٰكِنَّ</a:t>
            </a:r>
            <a:endParaRPr lang="ar-SA" sz="1800" dirty="0"/>
          </a:p>
        </p:txBody>
      </p:sp>
      <p:sp>
        <p:nvSpPr>
          <p:cNvPr id="31" name="Shape 28"/>
          <p:cNvSpPr/>
          <p:nvPr/>
        </p:nvSpPr>
        <p:spPr>
          <a:xfrm>
            <a:off x="6624828" y="2670048"/>
            <a:ext cx="2414016" cy="512064"/>
          </a:xfrm>
          <a:prstGeom prst="roundRect">
            <a:avLst>
              <a:gd name="adj" fmla="val 10714"/>
            </a:avLst>
          </a:prstGeom>
          <a:solidFill>
            <a:srgbClr val="EEF3FA"/>
          </a:solidFill>
          <a:ln w="9525">
            <a:solidFill>
              <a:srgbClr val="C9D6EA"/>
            </a:solidFill>
            <a:prstDash val="solid"/>
          </a:ln>
        </p:spPr>
      </p:sp>
      <p:sp>
        <p:nvSpPr>
          <p:cNvPr id="32" name="Text 29"/>
          <p:cNvSpPr txBox="1"/>
          <p:nvPr/>
        </p:nvSpPr>
        <p:spPr>
          <a:xfrm>
            <a:off x="6679692" y="2670048"/>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B</a:t>
            </a:r>
            <a:endParaRPr lang="en-US" sz="1000" dirty="0"/>
          </a:p>
        </p:txBody>
      </p:sp>
      <p:sp>
        <p:nvSpPr>
          <p:cNvPr id="33" name="Text 30"/>
          <p:cNvSpPr txBox="1"/>
          <p:nvPr/>
        </p:nvSpPr>
        <p:spPr>
          <a:xfrm>
            <a:off x="6944868" y="2670048"/>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لِأَنَّ</a:t>
            </a:r>
            <a:endParaRPr lang="ar-SA" sz="1800" dirty="0"/>
          </a:p>
        </p:txBody>
      </p:sp>
      <p:sp>
        <p:nvSpPr>
          <p:cNvPr id="34" name="Shape 31"/>
          <p:cNvSpPr/>
          <p:nvPr/>
        </p:nvSpPr>
        <p:spPr>
          <a:xfrm>
            <a:off x="4069080" y="2103120"/>
            <a:ext cx="2414016" cy="512064"/>
          </a:xfrm>
          <a:prstGeom prst="roundRect">
            <a:avLst>
              <a:gd name="adj" fmla="val 10714"/>
            </a:avLst>
          </a:prstGeom>
          <a:solidFill>
            <a:srgbClr val="EEF3FA"/>
          </a:solidFill>
          <a:ln w="9525">
            <a:solidFill>
              <a:srgbClr val="C9D6EA"/>
            </a:solidFill>
            <a:prstDash val="solid"/>
          </a:ln>
        </p:spPr>
      </p:sp>
      <p:sp>
        <p:nvSpPr>
          <p:cNvPr id="35" name="Text 32"/>
          <p:cNvSpPr txBox="1"/>
          <p:nvPr/>
        </p:nvSpPr>
        <p:spPr>
          <a:xfrm>
            <a:off x="4123944" y="2103120"/>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A</a:t>
            </a:r>
            <a:endParaRPr lang="en-US" sz="1000" dirty="0"/>
          </a:p>
        </p:txBody>
      </p:sp>
      <p:sp>
        <p:nvSpPr>
          <p:cNvPr id="36" name="Text 33"/>
          <p:cNvSpPr txBox="1"/>
          <p:nvPr/>
        </p:nvSpPr>
        <p:spPr>
          <a:xfrm>
            <a:off x="4389120" y="2103120"/>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عَائِلَتِي مِنَ العِرَاقِ.</a:t>
            </a:r>
            <a:endParaRPr lang="ar-SA" sz="1800" dirty="0"/>
          </a:p>
        </p:txBody>
      </p:sp>
      <p:sp>
        <p:nvSpPr>
          <p:cNvPr id="37" name="Shape 34"/>
          <p:cNvSpPr/>
          <p:nvPr/>
        </p:nvSpPr>
        <p:spPr>
          <a:xfrm>
            <a:off x="4069080" y="2670048"/>
            <a:ext cx="2414016" cy="512064"/>
          </a:xfrm>
          <a:prstGeom prst="roundRect">
            <a:avLst>
              <a:gd name="adj" fmla="val 10714"/>
            </a:avLst>
          </a:prstGeom>
          <a:solidFill>
            <a:srgbClr val="EEF3FA"/>
          </a:solidFill>
          <a:ln w="9525">
            <a:solidFill>
              <a:srgbClr val="C9D6EA"/>
            </a:solidFill>
            <a:prstDash val="solid"/>
          </a:ln>
        </p:spPr>
      </p:sp>
      <p:sp>
        <p:nvSpPr>
          <p:cNvPr id="38" name="Text 35"/>
          <p:cNvSpPr txBox="1"/>
          <p:nvPr/>
        </p:nvSpPr>
        <p:spPr>
          <a:xfrm>
            <a:off x="4123944" y="2670048"/>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B</a:t>
            </a:r>
            <a:endParaRPr lang="en-US" sz="1000" dirty="0"/>
          </a:p>
        </p:txBody>
      </p:sp>
      <p:sp>
        <p:nvSpPr>
          <p:cNvPr id="39" name="Text 36"/>
          <p:cNvSpPr txBox="1"/>
          <p:nvPr/>
        </p:nvSpPr>
        <p:spPr>
          <a:xfrm>
            <a:off x="4389120" y="2670048"/>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عَائِلَتِي فِي العِرَاقِ مِنْ.</a:t>
            </a:r>
            <a:endParaRPr lang="ar-SA" sz="1800" dirty="0"/>
          </a:p>
        </p:txBody>
      </p:sp>
      <p:sp>
        <p:nvSpPr>
          <p:cNvPr id="40" name="Shape 37"/>
          <p:cNvSpPr/>
          <p:nvPr/>
        </p:nvSpPr>
        <p:spPr>
          <a:xfrm>
            <a:off x="457200" y="3392424"/>
            <a:ext cx="11274552" cy="1261872"/>
          </a:xfrm>
          <a:prstGeom prst="roundRect">
            <a:avLst>
              <a:gd name="adj" fmla="val 5797"/>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1" name="Shape 38"/>
          <p:cNvSpPr/>
          <p:nvPr/>
        </p:nvSpPr>
        <p:spPr>
          <a:xfrm>
            <a:off x="594360" y="3529584"/>
            <a:ext cx="365760" cy="365760"/>
          </a:xfrm>
          <a:prstGeom prst="ellipse">
            <a:avLst/>
          </a:prstGeom>
          <a:solidFill>
            <a:srgbClr val="2F6FB0"/>
          </a:solidFill>
          <a:ln w="12700">
            <a:solidFill>
              <a:srgbClr val="2F6FB0"/>
            </a:solidFill>
            <a:prstDash val="solid"/>
          </a:ln>
        </p:spPr>
      </p:sp>
      <p:sp>
        <p:nvSpPr>
          <p:cNvPr id="42" name="Text 39"/>
          <p:cNvSpPr txBox="1"/>
          <p:nvPr/>
        </p:nvSpPr>
        <p:spPr>
          <a:xfrm>
            <a:off x="594360" y="3529584"/>
            <a:ext cx="365760" cy="36576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cs typeface="Amiri" pitchFamily="2" charset="-78"/>
              </a:rPr>
              <a:t>2</a:t>
            </a:r>
            <a:endParaRPr lang="en-US" sz="1200" dirty="0"/>
          </a:p>
        </p:txBody>
      </p:sp>
      <p:sp>
        <p:nvSpPr>
          <p:cNvPr id="43" name="Text 40"/>
          <p:cNvSpPr txBox="1"/>
          <p:nvPr/>
        </p:nvSpPr>
        <p:spPr>
          <a:xfrm>
            <a:off x="1051560" y="3502152"/>
            <a:ext cx="2834640" cy="1042416"/>
          </a:xfrm>
          <a:prstGeom prst="rect">
            <a:avLst/>
          </a:prstGeom>
          <a:noFill/>
          <a:ln/>
        </p:spPr>
        <p:txBody>
          <a:bodyPr wrap="square" lIns="0" tIns="0" rIns="0" bIns="0" rtlCol="0" anchor="t"/>
          <a:lstStyle/>
          <a:p>
            <a:pPr algn="l" indent="0" marL="0">
              <a:buNone/>
            </a:pPr>
            <a:r>
              <a:rPr lang="en-US" sz="1400" b="1" dirty="0">
                <a:solidFill>
                  <a:srgbClr val="1B3B6F"/>
                </a:solidFill>
                <a:latin typeface="Calibri" pitchFamily="34" charset="0"/>
                <a:cs typeface="Amiri" pitchFamily="2" charset="-78"/>
              </a:rPr>
              <a:t>My friend (f.) is Algerian and she speaks French.</a:t>
            </a:r>
            <a:endParaRPr lang="en-US" sz="1400" dirty="0"/>
          </a:p>
        </p:txBody>
      </p:sp>
      <p:sp>
        <p:nvSpPr>
          <p:cNvPr id="44" name="Shape 41"/>
          <p:cNvSpPr/>
          <p:nvPr/>
        </p:nvSpPr>
        <p:spPr>
          <a:xfrm>
            <a:off x="9180576" y="3483864"/>
            <a:ext cx="2414016" cy="512064"/>
          </a:xfrm>
          <a:prstGeom prst="roundRect">
            <a:avLst>
              <a:gd name="adj" fmla="val 10714"/>
            </a:avLst>
          </a:prstGeom>
          <a:solidFill>
            <a:srgbClr val="EEF3FA"/>
          </a:solidFill>
          <a:ln w="9525">
            <a:solidFill>
              <a:srgbClr val="C9D6EA"/>
            </a:solidFill>
            <a:prstDash val="solid"/>
          </a:ln>
        </p:spPr>
      </p:sp>
      <p:sp>
        <p:nvSpPr>
          <p:cNvPr id="45" name="Text 42"/>
          <p:cNvSpPr txBox="1"/>
          <p:nvPr/>
        </p:nvSpPr>
        <p:spPr>
          <a:xfrm>
            <a:off x="9235440" y="3483864"/>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A</a:t>
            </a:r>
            <a:endParaRPr lang="en-US" sz="1000" dirty="0"/>
          </a:p>
        </p:txBody>
      </p:sp>
      <p:sp>
        <p:nvSpPr>
          <p:cNvPr id="46" name="Text 43"/>
          <p:cNvSpPr txBox="1"/>
          <p:nvPr/>
        </p:nvSpPr>
        <p:spPr>
          <a:xfrm>
            <a:off x="9500616" y="3483864"/>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صَدِيقَتِي جَزَائِرِيَّةٌ،</a:t>
            </a:r>
            <a:endParaRPr lang="ar-SA" sz="1800" dirty="0"/>
          </a:p>
        </p:txBody>
      </p:sp>
      <p:sp>
        <p:nvSpPr>
          <p:cNvPr id="47" name="Shape 44"/>
          <p:cNvSpPr/>
          <p:nvPr/>
        </p:nvSpPr>
        <p:spPr>
          <a:xfrm>
            <a:off x="9180576" y="4050792"/>
            <a:ext cx="2414016" cy="512064"/>
          </a:xfrm>
          <a:prstGeom prst="roundRect">
            <a:avLst>
              <a:gd name="adj" fmla="val 10714"/>
            </a:avLst>
          </a:prstGeom>
          <a:solidFill>
            <a:srgbClr val="EEF3FA"/>
          </a:solidFill>
          <a:ln w="9525">
            <a:solidFill>
              <a:srgbClr val="C9D6EA"/>
            </a:solidFill>
            <a:prstDash val="solid"/>
          </a:ln>
        </p:spPr>
      </p:sp>
      <p:sp>
        <p:nvSpPr>
          <p:cNvPr id="48" name="Text 45"/>
          <p:cNvSpPr txBox="1"/>
          <p:nvPr/>
        </p:nvSpPr>
        <p:spPr>
          <a:xfrm>
            <a:off x="9235440" y="4050792"/>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B</a:t>
            </a:r>
            <a:endParaRPr lang="en-US" sz="1000" dirty="0"/>
          </a:p>
        </p:txBody>
      </p:sp>
      <p:sp>
        <p:nvSpPr>
          <p:cNvPr id="49" name="Text 46"/>
          <p:cNvSpPr txBox="1"/>
          <p:nvPr/>
        </p:nvSpPr>
        <p:spPr>
          <a:xfrm>
            <a:off x="9500616" y="4050792"/>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صَدِيقِي جَزَائِرِيَّةٌ،</a:t>
            </a:r>
            <a:endParaRPr lang="ar-SA" sz="1800" dirty="0"/>
          </a:p>
        </p:txBody>
      </p:sp>
      <p:sp>
        <p:nvSpPr>
          <p:cNvPr id="50" name="Shape 47"/>
          <p:cNvSpPr/>
          <p:nvPr/>
        </p:nvSpPr>
        <p:spPr>
          <a:xfrm>
            <a:off x="6624828" y="3483864"/>
            <a:ext cx="2414016" cy="512064"/>
          </a:xfrm>
          <a:prstGeom prst="roundRect">
            <a:avLst>
              <a:gd name="adj" fmla="val 10714"/>
            </a:avLst>
          </a:prstGeom>
          <a:solidFill>
            <a:srgbClr val="EEF3FA"/>
          </a:solidFill>
          <a:ln w="9525">
            <a:solidFill>
              <a:srgbClr val="C9D6EA"/>
            </a:solidFill>
            <a:prstDash val="solid"/>
          </a:ln>
        </p:spPr>
      </p:sp>
      <p:sp>
        <p:nvSpPr>
          <p:cNvPr id="51" name="Text 48"/>
          <p:cNvSpPr txBox="1"/>
          <p:nvPr/>
        </p:nvSpPr>
        <p:spPr>
          <a:xfrm>
            <a:off x="6679692" y="3483864"/>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A</a:t>
            </a:r>
            <a:endParaRPr lang="en-US" sz="1000" dirty="0"/>
          </a:p>
        </p:txBody>
      </p:sp>
      <p:sp>
        <p:nvSpPr>
          <p:cNvPr id="52" name="Text 49"/>
          <p:cNvSpPr txBox="1"/>
          <p:nvPr/>
        </p:nvSpPr>
        <p:spPr>
          <a:xfrm>
            <a:off x="6944868" y="3483864"/>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وَتَتَكَلَّمُ</a:t>
            </a:r>
            <a:endParaRPr lang="ar-SA" sz="1800" dirty="0"/>
          </a:p>
        </p:txBody>
      </p:sp>
      <p:sp>
        <p:nvSpPr>
          <p:cNvPr id="53" name="Shape 50"/>
          <p:cNvSpPr/>
          <p:nvPr/>
        </p:nvSpPr>
        <p:spPr>
          <a:xfrm>
            <a:off x="6624828" y="4050792"/>
            <a:ext cx="2414016" cy="512064"/>
          </a:xfrm>
          <a:prstGeom prst="roundRect">
            <a:avLst>
              <a:gd name="adj" fmla="val 10714"/>
            </a:avLst>
          </a:prstGeom>
          <a:solidFill>
            <a:srgbClr val="EEF3FA"/>
          </a:solidFill>
          <a:ln w="9525">
            <a:solidFill>
              <a:srgbClr val="C9D6EA"/>
            </a:solidFill>
            <a:prstDash val="solid"/>
          </a:ln>
        </p:spPr>
      </p:sp>
      <p:sp>
        <p:nvSpPr>
          <p:cNvPr id="54" name="Text 51"/>
          <p:cNvSpPr txBox="1"/>
          <p:nvPr/>
        </p:nvSpPr>
        <p:spPr>
          <a:xfrm>
            <a:off x="6679692" y="4050792"/>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B</a:t>
            </a:r>
            <a:endParaRPr lang="en-US" sz="1000" dirty="0"/>
          </a:p>
        </p:txBody>
      </p:sp>
      <p:sp>
        <p:nvSpPr>
          <p:cNvPr id="55" name="Text 52"/>
          <p:cNvSpPr txBox="1"/>
          <p:nvPr/>
        </p:nvSpPr>
        <p:spPr>
          <a:xfrm>
            <a:off x="6944868" y="4050792"/>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وَيَتَكَلَّمُ</a:t>
            </a:r>
            <a:endParaRPr lang="ar-SA" sz="1800" dirty="0"/>
          </a:p>
        </p:txBody>
      </p:sp>
      <p:sp>
        <p:nvSpPr>
          <p:cNvPr id="56" name="Shape 53"/>
          <p:cNvSpPr/>
          <p:nvPr/>
        </p:nvSpPr>
        <p:spPr>
          <a:xfrm>
            <a:off x="4069080" y="3483864"/>
            <a:ext cx="2414016" cy="512064"/>
          </a:xfrm>
          <a:prstGeom prst="roundRect">
            <a:avLst>
              <a:gd name="adj" fmla="val 10714"/>
            </a:avLst>
          </a:prstGeom>
          <a:solidFill>
            <a:srgbClr val="EEF3FA"/>
          </a:solidFill>
          <a:ln w="9525">
            <a:solidFill>
              <a:srgbClr val="C9D6EA"/>
            </a:solidFill>
            <a:prstDash val="solid"/>
          </a:ln>
        </p:spPr>
      </p:sp>
      <p:sp>
        <p:nvSpPr>
          <p:cNvPr id="57" name="Text 54"/>
          <p:cNvSpPr txBox="1"/>
          <p:nvPr/>
        </p:nvSpPr>
        <p:spPr>
          <a:xfrm>
            <a:off x="4123944" y="3483864"/>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A</a:t>
            </a:r>
            <a:endParaRPr lang="en-US" sz="1000" dirty="0"/>
          </a:p>
        </p:txBody>
      </p:sp>
      <p:sp>
        <p:nvSpPr>
          <p:cNvPr id="58" name="Text 55"/>
          <p:cNvSpPr txBox="1"/>
          <p:nvPr/>
        </p:nvSpPr>
        <p:spPr>
          <a:xfrm>
            <a:off x="4389120" y="3483864"/>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الفَرَنْسِيَّةَ.</a:t>
            </a:r>
            <a:endParaRPr lang="ar-SA" sz="1800" dirty="0"/>
          </a:p>
        </p:txBody>
      </p:sp>
      <p:sp>
        <p:nvSpPr>
          <p:cNvPr id="59" name="Shape 56"/>
          <p:cNvSpPr/>
          <p:nvPr/>
        </p:nvSpPr>
        <p:spPr>
          <a:xfrm>
            <a:off x="4069080" y="4050792"/>
            <a:ext cx="2414016" cy="512064"/>
          </a:xfrm>
          <a:prstGeom prst="roundRect">
            <a:avLst>
              <a:gd name="adj" fmla="val 10714"/>
            </a:avLst>
          </a:prstGeom>
          <a:solidFill>
            <a:srgbClr val="EEF3FA"/>
          </a:solidFill>
          <a:ln w="9525">
            <a:solidFill>
              <a:srgbClr val="C9D6EA"/>
            </a:solidFill>
            <a:prstDash val="solid"/>
          </a:ln>
        </p:spPr>
      </p:sp>
      <p:sp>
        <p:nvSpPr>
          <p:cNvPr id="60" name="Text 57"/>
          <p:cNvSpPr txBox="1"/>
          <p:nvPr/>
        </p:nvSpPr>
        <p:spPr>
          <a:xfrm>
            <a:off x="4123944" y="4050792"/>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B</a:t>
            </a:r>
            <a:endParaRPr lang="en-US" sz="1000" dirty="0"/>
          </a:p>
        </p:txBody>
      </p:sp>
      <p:sp>
        <p:nvSpPr>
          <p:cNvPr id="61" name="Text 58"/>
          <p:cNvSpPr txBox="1"/>
          <p:nvPr/>
        </p:nvSpPr>
        <p:spPr>
          <a:xfrm>
            <a:off x="4389120" y="4050792"/>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فَرَنْسَا.</a:t>
            </a:r>
            <a:endParaRPr lang="ar-SA" sz="1800" dirty="0"/>
          </a:p>
        </p:txBody>
      </p:sp>
      <p:sp>
        <p:nvSpPr>
          <p:cNvPr id="62" name="Shape 59"/>
          <p:cNvSpPr/>
          <p:nvPr/>
        </p:nvSpPr>
        <p:spPr>
          <a:xfrm>
            <a:off x="457200" y="4773168"/>
            <a:ext cx="11274552" cy="1261872"/>
          </a:xfrm>
          <a:prstGeom prst="roundRect">
            <a:avLst>
              <a:gd name="adj" fmla="val 5797"/>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3" name="Shape 60"/>
          <p:cNvSpPr/>
          <p:nvPr/>
        </p:nvSpPr>
        <p:spPr>
          <a:xfrm>
            <a:off x="594360" y="4910328"/>
            <a:ext cx="365760" cy="365760"/>
          </a:xfrm>
          <a:prstGeom prst="ellipse">
            <a:avLst/>
          </a:prstGeom>
          <a:solidFill>
            <a:srgbClr val="2F6FB0"/>
          </a:solidFill>
          <a:ln w="12700">
            <a:solidFill>
              <a:srgbClr val="2F6FB0"/>
            </a:solidFill>
            <a:prstDash val="solid"/>
          </a:ln>
        </p:spPr>
      </p:sp>
      <p:sp>
        <p:nvSpPr>
          <p:cNvPr id="64" name="Text 61"/>
          <p:cNvSpPr txBox="1"/>
          <p:nvPr/>
        </p:nvSpPr>
        <p:spPr>
          <a:xfrm>
            <a:off x="594360" y="4910328"/>
            <a:ext cx="365760" cy="36576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cs typeface="Amiri" pitchFamily="2" charset="-78"/>
              </a:rPr>
              <a:t>3</a:t>
            </a:r>
            <a:endParaRPr lang="en-US" sz="1200" dirty="0"/>
          </a:p>
        </p:txBody>
      </p:sp>
      <p:sp>
        <p:nvSpPr>
          <p:cNvPr id="65" name="Text 62"/>
          <p:cNvSpPr txBox="1"/>
          <p:nvPr/>
        </p:nvSpPr>
        <p:spPr>
          <a:xfrm>
            <a:off x="1051560" y="4882896"/>
            <a:ext cx="2834640" cy="1042416"/>
          </a:xfrm>
          <a:prstGeom prst="rect">
            <a:avLst/>
          </a:prstGeom>
          <a:noFill/>
          <a:ln/>
        </p:spPr>
        <p:txBody>
          <a:bodyPr wrap="square" lIns="0" tIns="0" rIns="0" bIns="0" rtlCol="0" anchor="t"/>
          <a:lstStyle/>
          <a:p>
            <a:pPr algn="l" indent="0" marL="0">
              <a:buNone/>
            </a:pPr>
            <a:r>
              <a:rPr lang="en-US" sz="1400" b="1" dirty="0">
                <a:solidFill>
                  <a:srgbClr val="1B3B6F"/>
                </a:solidFill>
                <a:latin typeface="Calibri" pitchFamily="34" charset="0"/>
                <a:cs typeface="Amiri" pitchFamily="2" charset="-78"/>
              </a:rPr>
              <a:t>I learn Arabic because I love it.</a:t>
            </a:r>
            <a:endParaRPr lang="en-US" sz="1400" dirty="0"/>
          </a:p>
        </p:txBody>
      </p:sp>
      <p:sp>
        <p:nvSpPr>
          <p:cNvPr id="66" name="Shape 63"/>
          <p:cNvSpPr/>
          <p:nvPr/>
        </p:nvSpPr>
        <p:spPr>
          <a:xfrm>
            <a:off x="9180576" y="4864608"/>
            <a:ext cx="2414016" cy="512064"/>
          </a:xfrm>
          <a:prstGeom prst="roundRect">
            <a:avLst>
              <a:gd name="adj" fmla="val 10714"/>
            </a:avLst>
          </a:prstGeom>
          <a:solidFill>
            <a:srgbClr val="EEF3FA"/>
          </a:solidFill>
          <a:ln w="9525">
            <a:solidFill>
              <a:srgbClr val="C9D6EA"/>
            </a:solidFill>
            <a:prstDash val="solid"/>
          </a:ln>
        </p:spPr>
      </p:sp>
      <p:sp>
        <p:nvSpPr>
          <p:cNvPr id="67" name="Text 64"/>
          <p:cNvSpPr txBox="1"/>
          <p:nvPr/>
        </p:nvSpPr>
        <p:spPr>
          <a:xfrm>
            <a:off x="9235440" y="4864608"/>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A</a:t>
            </a:r>
            <a:endParaRPr lang="en-US" sz="1000" dirty="0"/>
          </a:p>
        </p:txBody>
      </p:sp>
      <p:sp>
        <p:nvSpPr>
          <p:cNvPr id="68" name="Text 65"/>
          <p:cNvSpPr txBox="1"/>
          <p:nvPr/>
        </p:nvSpPr>
        <p:spPr>
          <a:xfrm>
            <a:off x="9500616" y="4864608"/>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أَتَعَلَّمُ العَرَبِيَّةَ</a:t>
            </a:r>
            <a:endParaRPr lang="ar-SA" sz="1800" dirty="0"/>
          </a:p>
        </p:txBody>
      </p:sp>
      <p:sp>
        <p:nvSpPr>
          <p:cNvPr id="69" name="Shape 66"/>
          <p:cNvSpPr/>
          <p:nvPr/>
        </p:nvSpPr>
        <p:spPr>
          <a:xfrm>
            <a:off x="9180576" y="5431536"/>
            <a:ext cx="2414016" cy="512064"/>
          </a:xfrm>
          <a:prstGeom prst="roundRect">
            <a:avLst>
              <a:gd name="adj" fmla="val 10714"/>
            </a:avLst>
          </a:prstGeom>
          <a:solidFill>
            <a:srgbClr val="EEF3FA"/>
          </a:solidFill>
          <a:ln w="9525">
            <a:solidFill>
              <a:srgbClr val="C9D6EA"/>
            </a:solidFill>
            <a:prstDash val="solid"/>
          </a:ln>
        </p:spPr>
      </p:sp>
      <p:sp>
        <p:nvSpPr>
          <p:cNvPr id="70" name="Text 67"/>
          <p:cNvSpPr txBox="1"/>
          <p:nvPr/>
        </p:nvSpPr>
        <p:spPr>
          <a:xfrm>
            <a:off x="9235440" y="5431536"/>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B</a:t>
            </a:r>
            <a:endParaRPr lang="en-US" sz="1000" dirty="0"/>
          </a:p>
        </p:txBody>
      </p:sp>
      <p:sp>
        <p:nvSpPr>
          <p:cNvPr id="71" name="Text 68"/>
          <p:cNvSpPr txBox="1"/>
          <p:nvPr/>
        </p:nvSpPr>
        <p:spPr>
          <a:xfrm>
            <a:off x="9500616" y="5431536"/>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يَتَعَلَّمُ العَرَبِيَّةَ</a:t>
            </a:r>
            <a:endParaRPr lang="ar-SA" sz="1800" dirty="0"/>
          </a:p>
        </p:txBody>
      </p:sp>
      <p:sp>
        <p:nvSpPr>
          <p:cNvPr id="72" name="Shape 69"/>
          <p:cNvSpPr/>
          <p:nvPr/>
        </p:nvSpPr>
        <p:spPr>
          <a:xfrm>
            <a:off x="6624828" y="4864608"/>
            <a:ext cx="2414016" cy="512064"/>
          </a:xfrm>
          <a:prstGeom prst="roundRect">
            <a:avLst>
              <a:gd name="adj" fmla="val 10714"/>
            </a:avLst>
          </a:prstGeom>
          <a:solidFill>
            <a:srgbClr val="EEF3FA"/>
          </a:solidFill>
          <a:ln w="9525">
            <a:solidFill>
              <a:srgbClr val="C9D6EA"/>
            </a:solidFill>
            <a:prstDash val="solid"/>
          </a:ln>
        </p:spPr>
      </p:sp>
      <p:sp>
        <p:nvSpPr>
          <p:cNvPr id="73" name="Text 70"/>
          <p:cNvSpPr txBox="1"/>
          <p:nvPr/>
        </p:nvSpPr>
        <p:spPr>
          <a:xfrm>
            <a:off x="6679692" y="4864608"/>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A</a:t>
            </a:r>
            <a:endParaRPr lang="en-US" sz="1000" dirty="0"/>
          </a:p>
        </p:txBody>
      </p:sp>
      <p:sp>
        <p:nvSpPr>
          <p:cNvPr id="74" name="Text 71"/>
          <p:cNvSpPr txBox="1"/>
          <p:nvPr/>
        </p:nvSpPr>
        <p:spPr>
          <a:xfrm>
            <a:off x="6944868" y="4864608"/>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لِأَنِّي</a:t>
            </a:r>
            <a:endParaRPr lang="ar-SA" sz="1800" dirty="0"/>
          </a:p>
        </p:txBody>
      </p:sp>
      <p:sp>
        <p:nvSpPr>
          <p:cNvPr id="75" name="Shape 72"/>
          <p:cNvSpPr/>
          <p:nvPr/>
        </p:nvSpPr>
        <p:spPr>
          <a:xfrm>
            <a:off x="6624828" y="5431536"/>
            <a:ext cx="2414016" cy="512064"/>
          </a:xfrm>
          <a:prstGeom prst="roundRect">
            <a:avLst>
              <a:gd name="adj" fmla="val 10714"/>
            </a:avLst>
          </a:prstGeom>
          <a:solidFill>
            <a:srgbClr val="EEF3FA"/>
          </a:solidFill>
          <a:ln w="9525">
            <a:solidFill>
              <a:srgbClr val="C9D6EA"/>
            </a:solidFill>
            <a:prstDash val="solid"/>
          </a:ln>
        </p:spPr>
      </p:sp>
      <p:sp>
        <p:nvSpPr>
          <p:cNvPr id="76" name="Text 73"/>
          <p:cNvSpPr txBox="1"/>
          <p:nvPr/>
        </p:nvSpPr>
        <p:spPr>
          <a:xfrm>
            <a:off x="6679692" y="5431536"/>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B</a:t>
            </a:r>
            <a:endParaRPr lang="en-US" sz="1000" dirty="0"/>
          </a:p>
        </p:txBody>
      </p:sp>
      <p:sp>
        <p:nvSpPr>
          <p:cNvPr id="77" name="Text 74"/>
          <p:cNvSpPr txBox="1"/>
          <p:nvPr/>
        </p:nvSpPr>
        <p:spPr>
          <a:xfrm>
            <a:off x="6944868" y="5431536"/>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لٰكِنِّي</a:t>
            </a:r>
            <a:endParaRPr lang="ar-SA" sz="1800" dirty="0"/>
          </a:p>
        </p:txBody>
      </p:sp>
      <p:sp>
        <p:nvSpPr>
          <p:cNvPr id="78" name="Shape 75"/>
          <p:cNvSpPr/>
          <p:nvPr/>
        </p:nvSpPr>
        <p:spPr>
          <a:xfrm>
            <a:off x="4069080" y="4864608"/>
            <a:ext cx="2414016" cy="512064"/>
          </a:xfrm>
          <a:prstGeom prst="roundRect">
            <a:avLst>
              <a:gd name="adj" fmla="val 10714"/>
            </a:avLst>
          </a:prstGeom>
          <a:solidFill>
            <a:srgbClr val="EEF3FA"/>
          </a:solidFill>
          <a:ln w="9525">
            <a:solidFill>
              <a:srgbClr val="C9D6EA"/>
            </a:solidFill>
            <a:prstDash val="solid"/>
          </a:ln>
        </p:spPr>
      </p:sp>
      <p:sp>
        <p:nvSpPr>
          <p:cNvPr id="79" name="Text 76"/>
          <p:cNvSpPr txBox="1"/>
          <p:nvPr/>
        </p:nvSpPr>
        <p:spPr>
          <a:xfrm>
            <a:off x="4123944" y="4864608"/>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A</a:t>
            </a:r>
            <a:endParaRPr lang="en-US" sz="1000" dirty="0"/>
          </a:p>
        </p:txBody>
      </p:sp>
      <p:sp>
        <p:nvSpPr>
          <p:cNvPr id="80" name="Text 77"/>
          <p:cNvSpPr txBox="1"/>
          <p:nvPr/>
        </p:nvSpPr>
        <p:spPr>
          <a:xfrm>
            <a:off x="4389120" y="4864608"/>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أُحِبُّهَا.</a:t>
            </a:r>
            <a:endParaRPr lang="ar-SA" sz="1800" dirty="0"/>
          </a:p>
        </p:txBody>
      </p:sp>
      <p:sp>
        <p:nvSpPr>
          <p:cNvPr id="81" name="Shape 78"/>
          <p:cNvSpPr/>
          <p:nvPr/>
        </p:nvSpPr>
        <p:spPr>
          <a:xfrm>
            <a:off x="4069080" y="5431536"/>
            <a:ext cx="2414016" cy="512064"/>
          </a:xfrm>
          <a:prstGeom prst="roundRect">
            <a:avLst>
              <a:gd name="adj" fmla="val 10714"/>
            </a:avLst>
          </a:prstGeom>
          <a:solidFill>
            <a:srgbClr val="EEF3FA"/>
          </a:solidFill>
          <a:ln w="9525">
            <a:solidFill>
              <a:srgbClr val="C9D6EA"/>
            </a:solidFill>
            <a:prstDash val="solid"/>
          </a:ln>
        </p:spPr>
      </p:sp>
      <p:sp>
        <p:nvSpPr>
          <p:cNvPr id="82" name="Text 79"/>
          <p:cNvSpPr txBox="1"/>
          <p:nvPr/>
        </p:nvSpPr>
        <p:spPr>
          <a:xfrm>
            <a:off x="4123944" y="5431536"/>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B</a:t>
            </a:r>
            <a:endParaRPr lang="en-US" sz="1000" dirty="0"/>
          </a:p>
        </p:txBody>
      </p:sp>
      <p:sp>
        <p:nvSpPr>
          <p:cNvPr id="83" name="Text 80"/>
          <p:cNvSpPr txBox="1"/>
          <p:nvPr/>
        </p:nvSpPr>
        <p:spPr>
          <a:xfrm>
            <a:off x="4389120" y="5431536"/>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أُحِبُّهُ.</a:t>
            </a:r>
            <a:endParaRPr lang="ar-SA" sz="1800" dirty="0"/>
          </a:p>
        </p:txBody>
      </p:sp>
      <p:sp>
        <p:nvSpPr>
          <p:cNvPr id="84" name="Text 81"/>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14 / 24</a:t>
            </a:r>
            <a:endParaRPr lang="en-US" sz="85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F2-W06 · Apply workshop</a:t>
            </a:r>
            <a:endParaRPr lang="en-US" sz="950" dirty="0"/>
          </a:p>
        </p:txBody>
      </p:sp>
      <p:sp>
        <p:nvSpPr>
          <p:cNvPr id="8" name="Shape 6"/>
          <p:cNvSpPr/>
          <p:nvPr/>
        </p:nvSpPr>
        <p:spPr>
          <a:xfrm>
            <a:off x="7143293" y="274320"/>
            <a:ext cx="1616659" cy="329184"/>
          </a:xfrm>
          <a:prstGeom prst="roundRect">
            <a:avLst>
              <a:gd name="adj" fmla="val 50000"/>
            </a:avLst>
          </a:prstGeom>
          <a:solidFill>
            <a:srgbClr val="8A6D1E"/>
          </a:solidFill>
          <a:ln w="12700">
            <a:solidFill>
              <a:srgbClr val="8A6D1E"/>
            </a:solidFill>
            <a:prstDash val="solid"/>
          </a:ln>
        </p:spPr>
      </p:sp>
      <p:sp>
        <p:nvSpPr>
          <p:cNvPr id="9" name="Text 7"/>
          <p:cNvSpPr txBox="1"/>
          <p:nvPr/>
        </p:nvSpPr>
        <p:spPr>
          <a:xfrm>
            <a:off x="7143293" y="274320"/>
            <a:ext cx="161665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FEEDBACK · 1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8A6D1E"/>
                </a:solidFill>
                <a:latin typeface="Calibri" pitchFamily="34" charset="0"/>
                <a:cs typeface="Amiri" pitchFamily="2" charset="-78"/>
              </a:rPr>
              <a:t>STEP 7 · CHECK YOUR SENTENCES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Sentence builder: answers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ابْنِ الجُمْلَةَ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F2 · Greetings &amp; Introductions · F2-W06 · Apply workshop (F2-L11 + F2-L12)</a:t>
            </a:r>
            <a:endParaRPr lang="en-US" sz="850" dirty="0"/>
          </a:p>
        </p:txBody>
      </p:sp>
      <p:sp>
        <p:nvSpPr>
          <p:cNvPr id="15" name="Shape 12"/>
          <p:cNvSpPr/>
          <p:nvPr/>
        </p:nvSpPr>
        <p:spPr>
          <a:xfrm>
            <a:off x="457200" y="1810512"/>
            <a:ext cx="11274552" cy="1353312"/>
          </a:xfrm>
          <a:prstGeom prst="roundRect">
            <a:avLst>
              <a:gd name="adj" fmla="val 5405"/>
            </a:avLst>
          </a:prstGeom>
          <a:solidFill>
            <a:srgbClr val="E6F4EC"/>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640080" y="1947672"/>
            <a:ext cx="365760" cy="365760"/>
          </a:xfrm>
          <a:prstGeom prst="ellipse">
            <a:avLst/>
          </a:prstGeom>
          <a:solidFill>
            <a:srgbClr val="2E8B57"/>
          </a:solidFill>
          <a:ln w="12700">
            <a:solidFill>
              <a:srgbClr val="2E8B57"/>
            </a:solidFill>
            <a:prstDash val="solid"/>
          </a:ln>
        </p:spPr>
      </p:sp>
      <p:sp>
        <p:nvSpPr>
          <p:cNvPr id="17" name="Text 14"/>
          <p:cNvSpPr txBox="1"/>
          <p:nvPr/>
        </p:nvSpPr>
        <p:spPr>
          <a:xfrm>
            <a:off x="640080" y="1947672"/>
            <a:ext cx="365760" cy="36576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cs typeface="Amiri" pitchFamily="2" charset="-78"/>
              </a:rPr>
              <a:t>1</a:t>
            </a:r>
            <a:endParaRPr lang="en-US" sz="1200" dirty="0"/>
          </a:p>
        </p:txBody>
      </p:sp>
      <p:sp>
        <p:nvSpPr>
          <p:cNvPr id="18" name="Text 15"/>
          <p:cNvSpPr txBox="1"/>
          <p:nvPr/>
        </p:nvSpPr>
        <p:spPr>
          <a:xfrm>
            <a:off x="1143000" y="1901952"/>
            <a:ext cx="3291840" cy="457200"/>
          </a:xfrm>
          <a:prstGeom prst="rect">
            <a:avLst/>
          </a:prstGeom>
          <a:noFill/>
          <a:ln/>
        </p:spPr>
        <p:txBody>
          <a:bodyPr wrap="square" lIns="0" tIns="0" rIns="0" bIns="0" rtlCol="0" anchor="ctr"/>
          <a:lstStyle/>
          <a:p>
            <a:pPr algn="l" indent="0" marL="0">
              <a:buNone/>
            </a:pPr>
            <a:r>
              <a:rPr lang="en-US" sz="1300" b="1" dirty="0">
                <a:solidFill>
                  <a:srgbClr val="1B3B6F"/>
                </a:solidFill>
                <a:latin typeface="Calibri" pitchFamily="34" charset="0"/>
                <a:cs typeface="Amiri" pitchFamily="2" charset="-78"/>
              </a:rPr>
              <a:t>I am British, but my family is from Iraq.</a:t>
            </a:r>
            <a:endParaRPr lang="en-US" sz="1300" dirty="0"/>
          </a:p>
        </p:txBody>
      </p:sp>
      <p:sp>
        <p:nvSpPr>
          <p:cNvPr id="19" name="Text 16"/>
          <p:cNvSpPr txBox="1"/>
          <p:nvPr/>
        </p:nvSpPr>
        <p:spPr>
          <a:xfrm>
            <a:off x="1143000" y="2359152"/>
            <a:ext cx="3291840" cy="256032"/>
          </a:xfrm>
          <a:prstGeom prst="rect">
            <a:avLst/>
          </a:prstGeom>
          <a:noFill/>
          <a:ln/>
        </p:spPr>
        <p:txBody>
          <a:bodyPr wrap="square" lIns="0" tIns="0" rIns="0" bIns="0" rtlCol="0" anchor="ctr"/>
          <a:lstStyle/>
          <a:p>
            <a:pPr algn="l" indent="0" marL="0">
              <a:buNone/>
            </a:pPr>
            <a:r>
              <a:rPr lang="en-US" sz="1050" b="1" dirty="0">
                <a:solidFill>
                  <a:srgbClr val="1E6B52"/>
                </a:solidFill>
                <a:latin typeface="Calibri" pitchFamily="34" charset="0"/>
                <a:cs typeface="Amiri" pitchFamily="2" charset="-78"/>
              </a:rPr>
              <a:t>Columns = A · A · A</a:t>
            </a:r>
            <a:endParaRPr lang="en-US" sz="1050" dirty="0"/>
          </a:p>
        </p:txBody>
      </p:sp>
      <p:sp>
        <p:nvSpPr>
          <p:cNvPr id="20" name="Text 17"/>
          <p:cNvSpPr txBox="1"/>
          <p:nvPr/>
        </p:nvSpPr>
        <p:spPr>
          <a:xfrm>
            <a:off x="1143000" y="2633472"/>
            <a:ext cx="3291840" cy="43891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Nationality = </a:t>
            </a:r>
            <a:pPr algn="l" indent="0" marL="0">
              <a:buNone/>
            </a:pPr>
            <a:r>
              <a:rPr lang="ar-SA" altLang="en-US" sz="1350" dirty="0">
                <a:solidFill>
                  <a:srgbClr val="5A6472"/>
                </a:solidFill>
                <a:latin typeface="Amiri" pitchFamily="2" charset="-78"/>
                <a:ea typeface="Amiri" pitchFamily="2" charset="-78"/>
                <a:cs typeface="Amiri" pitchFamily="2" charset="-78"/>
              </a:rPr>
              <a:t>بِرِيطَانِيٌّ</a:t>
            </a:r>
            <a:pPr algn="l" indent="0" marL="0">
              <a:buNone/>
            </a:pPr>
            <a:r>
              <a:rPr lang="en-US" sz="1050" i="1" dirty="0">
                <a:solidFill>
                  <a:srgbClr val="5A6472"/>
                </a:solidFill>
                <a:latin typeface="Calibri" pitchFamily="34" charset="0"/>
                <a:cs typeface="Amiri" pitchFamily="2" charset="-78"/>
              </a:rPr>
              <a:t>; but = </a:t>
            </a:r>
            <a:pPr algn="l" indent="0" marL="0">
              <a:buNone/>
            </a:pPr>
            <a:r>
              <a:rPr lang="ar-SA" altLang="en-US" sz="1350" dirty="0">
                <a:solidFill>
                  <a:srgbClr val="5A6472"/>
                </a:solidFill>
                <a:latin typeface="Amiri" pitchFamily="2" charset="-78"/>
                <a:ea typeface="Amiri" pitchFamily="2" charset="-78"/>
                <a:cs typeface="Amiri" pitchFamily="2" charset="-78"/>
              </a:rPr>
              <a:t>لٰكِنَّ</a:t>
            </a:r>
            <a:pPr algn="l" indent="0" marL="0">
              <a:buNone/>
            </a:pPr>
            <a:r>
              <a:rPr lang="en-US" sz="1050" i="1" dirty="0">
                <a:solidFill>
                  <a:srgbClr val="5A6472"/>
                </a:solidFill>
                <a:latin typeface="Calibri" pitchFamily="34" charset="0"/>
                <a:cs typeface="Amiri" pitchFamily="2" charset="-78"/>
              </a:rPr>
              <a:t>.</a:t>
            </a:r>
            <a:endParaRPr lang="en-US" sz="1050" dirty="0"/>
          </a:p>
        </p:txBody>
      </p:sp>
      <p:sp>
        <p:nvSpPr>
          <p:cNvPr id="21" name="Text 18"/>
          <p:cNvSpPr txBox="1"/>
          <p:nvPr/>
        </p:nvSpPr>
        <p:spPr>
          <a:xfrm>
            <a:off x="4572000" y="1901952"/>
            <a:ext cx="6949440" cy="1170432"/>
          </a:xfrm>
          <a:prstGeom prst="rect">
            <a:avLst/>
          </a:prstGeom>
          <a:noFill/>
          <a:ln/>
        </p:spPr>
        <p:txBody>
          <a:bodyPr wrap="square" lIns="0" tIns="0" rIns="0" bIns="0" rtlCol="0" anchor="ctr"/>
          <a:lstStyle/>
          <a:p>
            <a:pPr rtl="1" algn="r" indent="0" marL="0">
              <a:buNone/>
            </a:pPr>
            <a:r>
              <a:rPr lang="ar-SA" altLang="en-US" sz="2800" b="1" dirty="0">
                <a:solidFill>
                  <a:srgbClr val="1B3B6F"/>
                </a:solidFill>
                <a:latin typeface="Amiri" pitchFamily="2" charset="-78"/>
                <a:ea typeface="Amiri" pitchFamily="2" charset="-78"/>
                <a:cs typeface="Amiri" pitchFamily="2" charset="-78"/>
              </a:rPr>
              <a:t>أَنَا بِرِيطَانِيٌّ، لٰكِنَّ عَائِلَتِي مِنَ العِرَاقِ.</a:t>
            </a:r>
            <a:endParaRPr lang="ar-SA" sz="2800" dirty="0"/>
          </a:p>
        </p:txBody>
      </p:sp>
      <p:sp>
        <p:nvSpPr>
          <p:cNvPr id="22" name="Shape 19"/>
          <p:cNvSpPr/>
          <p:nvPr/>
        </p:nvSpPr>
        <p:spPr>
          <a:xfrm>
            <a:off x="457200" y="3291840"/>
            <a:ext cx="11274552" cy="1353312"/>
          </a:xfrm>
          <a:prstGeom prst="roundRect">
            <a:avLst>
              <a:gd name="adj" fmla="val 5405"/>
            </a:avLst>
          </a:prstGeom>
          <a:solidFill>
            <a:srgbClr val="E6F4EC"/>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23" name="Shape 20"/>
          <p:cNvSpPr/>
          <p:nvPr/>
        </p:nvSpPr>
        <p:spPr>
          <a:xfrm>
            <a:off x="640080" y="3429000"/>
            <a:ext cx="365760" cy="365760"/>
          </a:xfrm>
          <a:prstGeom prst="ellipse">
            <a:avLst/>
          </a:prstGeom>
          <a:solidFill>
            <a:srgbClr val="2E8B57"/>
          </a:solidFill>
          <a:ln w="12700">
            <a:solidFill>
              <a:srgbClr val="2E8B57"/>
            </a:solidFill>
            <a:prstDash val="solid"/>
          </a:ln>
        </p:spPr>
      </p:sp>
      <p:sp>
        <p:nvSpPr>
          <p:cNvPr id="24" name="Text 21"/>
          <p:cNvSpPr txBox="1"/>
          <p:nvPr/>
        </p:nvSpPr>
        <p:spPr>
          <a:xfrm>
            <a:off x="640080" y="3429000"/>
            <a:ext cx="365760" cy="36576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cs typeface="Amiri" pitchFamily="2" charset="-78"/>
              </a:rPr>
              <a:t>2</a:t>
            </a:r>
            <a:endParaRPr lang="en-US" sz="1200" dirty="0"/>
          </a:p>
        </p:txBody>
      </p:sp>
      <p:sp>
        <p:nvSpPr>
          <p:cNvPr id="25" name="Text 22"/>
          <p:cNvSpPr txBox="1"/>
          <p:nvPr/>
        </p:nvSpPr>
        <p:spPr>
          <a:xfrm>
            <a:off x="1143000" y="3383280"/>
            <a:ext cx="3291840" cy="457200"/>
          </a:xfrm>
          <a:prstGeom prst="rect">
            <a:avLst/>
          </a:prstGeom>
          <a:noFill/>
          <a:ln/>
        </p:spPr>
        <p:txBody>
          <a:bodyPr wrap="square" lIns="0" tIns="0" rIns="0" bIns="0" rtlCol="0" anchor="ctr"/>
          <a:lstStyle/>
          <a:p>
            <a:pPr algn="l" indent="0" marL="0">
              <a:buNone/>
            </a:pPr>
            <a:r>
              <a:rPr lang="en-US" sz="1300" b="1" dirty="0">
                <a:solidFill>
                  <a:srgbClr val="1B3B6F"/>
                </a:solidFill>
                <a:latin typeface="Calibri" pitchFamily="34" charset="0"/>
                <a:cs typeface="Amiri" pitchFamily="2" charset="-78"/>
              </a:rPr>
              <a:t>My friend (f.) is Algerian and she speaks French.</a:t>
            </a:r>
            <a:endParaRPr lang="en-US" sz="1300" dirty="0"/>
          </a:p>
        </p:txBody>
      </p:sp>
      <p:sp>
        <p:nvSpPr>
          <p:cNvPr id="26" name="Text 23"/>
          <p:cNvSpPr txBox="1"/>
          <p:nvPr/>
        </p:nvSpPr>
        <p:spPr>
          <a:xfrm>
            <a:off x="1143000" y="3840480"/>
            <a:ext cx="3291840" cy="256032"/>
          </a:xfrm>
          <a:prstGeom prst="rect">
            <a:avLst/>
          </a:prstGeom>
          <a:noFill/>
          <a:ln/>
        </p:spPr>
        <p:txBody>
          <a:bodyPr wrap="square" lIns="0" tIns="0" rIns="0" bIns="0" rtlCol="0" anchor="ctr"/>
          <a:lstStyle/>
          <a:p>
            <a:pPr algn="l" indent="0" marL="0">
              <a:buNone/>
            </a:pPr>
            <a:r>
              <a:rPr lang="en-US" sz="1050" b="1" dirty="0">
                <a:solidFill>
                  <a:srgbClr val="1E6B52"/>
                </a:solidFill>
                <a:latin typeface="Calibri" pitchFamily="34" charset="0"/>
                <a:cs typeface="Amiri" pitchFamily="2" charset="-78"/>
              </a:rPr>
              <a:t>Columns = A · A · A</a:t>
            </a:r>
            <a:endParaRPr lang="en-US" sz="1050" dirty="0"/>
          </a:p>
        </p:txBody>
      </p:sp>
      <p:sp>
        <p:nvSpPr>
          <p:cNvPr id="27" name="Text 24"/>
          <p:cNvSpPr txBox="1"/>
          <p:nvPr/>
        </p:nvSpPr>
        <p:spPr>
          <a:xfrm>
            <a:off x="1143000" y="4114800"/>
            <a:ext cx="3291840" cy="43891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A girl → </a:t>
            </a:r>
            <a:pPr algn="l" indent="0" marL="0">
              <a:buNone/>
            </a:pPr>
            <a:r>
              <a:rPr lang="ar-SA" altLang="en-US" sz="1350" dirty="0">
                <a:solidFill>
                  <a:srgbClr val="5A6472"/>
                </a:solidFill>
                <a:latin typeface="Amiri" pitchFamily="2" charset="-78"/>
                <a:ea typeface="Amiri" pitchFamily="2" charset="-78"/>
                <a:cs typeface="Amiri" pitchFamily="2" charset="-78"/>
              </a:rPr>
              <a:t>صَدِيقَتِي … جَزَائِرِيَّةٌ … تَتَكَلَّمُ</a:t>
            </a:r>
            <a:pPr algn="l" indent="0" marL="0">
              <a:buNone/>
            </a:pPr>
            <a:r>
              <a:rPr lang="en-US" sz="1050" i="1" dirty="0">
                <a:solidFill>
                  <a:srgbClr val="5A6472"/>
                </a:solidFill>
                <a:latin typeface="Calibri" pitchFamily="34" charset="0"/>
                <a:cs typeface="Amiri" pitchFamily="2" charset="-78"/>
              </a:rPr>
              <a:t>.</a:t>
            </a:r>
            <a:endParaRPr lang="en-US" sz="1050" dirty="0"/>
          </a:p>
        </p:txBody>
      </p:sp>
      <p:sp>
        <p:nvSpPr>
          <p:cNvPr id="28" name="Text 25"/>
          <p:cNvSpPr txBox="1"/>
          <p:nvPr/>
        </p:nvSpPr>
        <p:spPr>
          <a:xfrm>
            <a:off x="4572000" y="3383280"/>
            <a:ext cx="6949440" cy="1170432"/>
          </a:xfrm>
          <a:prstGeom prst="rect">
            <a:avLst/>
          </a:prstGeom>
          <a:noFill/>
          <a:ln/>
        </p:spPr>
        <p:txBody>
          <a:bodyPr wrap="square" lIns="0" tIns="0" rIns="0" bIns="0" rtlCol="0" anchor="ctr"/>
          <a:lstStyle/>
          <a:p>
            <a:pPr rtl="1" algn="r" indent="0" marL="0">
              <a:buNone/>
            </a:pPr>
            <a:r>
              <a:rPr lang="ar-SA" altLang="en-US" sz="2800" b="1" dirty="0">
                <a:solidFill>
                  <a:srgbClr val="1B3B6F"/>
                </a:solidFill>
                <a:latin typeface="Amiri" pitchFamily="2" charset="-78"/>
                <a:ea typeface="Amiri" pitchFamily="2" charset="-78"/>
                <a:cs typeface="Amiri" pitchFamily="2" charset="-78"/>
              </a:rPr>
              <a:t>صَدِيقَتِي جَزَائِرِيَّةٌ، وَتَتَكَلَّمُ الفَرَنْسِيَّةَ.</a:t>
            </a:r>
            <a:endParaRPr lang="ar-SA" sz="2800" dirty="0"/>
          </a:p>
        </p:txBody>
      </p:sp>
      <p:sp>
        <p:nvSpPr>
          <p:cNvPr id="29" name="Shape 26"/>
          <p:cNvSpPr/>
          <p:nvPr/>
        </p:nvSpPr>
        <p:spPr>
          <a:xfrm>
            <a:off x="457200" y="4773168"/>
            <a:ext cx="11274552" cy="1353312"/>
          </a:xfrm>
          <a:prstGeom prst="roundRect">
            <a:avLst>
              <a:gd name="adj" fmla="val 5405"/>
            </a:avLst>
          </a:prstGeom>
          <a:solidFill>
            <a:srgbClr val="E6F4EC"/>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30" name="Shape 27"/>
          <p:cNvSpPr/>
          <p:nvPr/>
        </p:nvSpPr>
        <p:spPr>
          <a:xfrm>
            <a:off x="640080" y="4910328"/>
            <a:ext cx="365760" cy="365760"/>
          </a:xfrm>
          <a:prstGeom prst="ellipse">
            <a:avLst/>
          </a:prstGeom>
          <a:solidFill>
            <a:srgbClr val="2E8B57"/>
          </a:solidFill>
          <a:ln w="12700">
            <a:solidFill>
              <a:srgbClr val="2E8B57"/>
            </a:solidFill>
            <a:prstDash val="solid"/>
          </a:ln>
        </p:spPr>
      </p:sp>
      <p:sp>
        <p:nvSpPr>
          <p:cNvPr id="31" name="Text 28"/>
          <p:cNvSpPr txBox="1"/>
          <p:nvPr/>
        </p:nvSpPr>
        <p:spPr>
          <a:xfrm>
            <a:off x="640080" y="4910328"/>
            <a:ext cx="365760" cy="36576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cs typeface="Amiri" pitchFamily="2" charset="-78"/>
              </a:rPr>
              <a:t>3</a:t>
            </a:r>
            <a:endParaRPr lang="en-US" sz="1200" dirty="0"/>
          </a:p>
        </p:txBody>
      </p:sp>
      <p:sp>
        <p:nvSpPr>
          <p:cNvPr id="32" name="Text 29"/>
          <p:cNvSpPr txBox="1"/>
          <p:nvPr/>
        </p:nvSpPr>
        <p:spPr>
          <a:xfrm>
            <a:off x="1143000" y="4864608"/>
            <a:ext cx="3291840" cy="457200"/>
          </a:xfrm>
          <a:prstGeom prst="rect">
            <a:avLst/>
          </a:prstGeom>
          <a:noFill/>
          <a:ln/>
        </p:spPr>
        <p:txBody>
          <a:bodyPr wrap="square" lIns="0" tIns="0" rIns="0" bIns="0" rtlCol="0" anchor="ctr"/>
          <a:lstStyle/>
          <a:p>
            <a:pPr algn="l" indent="0" marL="0">
              <a:buNone/>
            </a:pPr>
            <a:r>
              <a:rPr lang="en-US" sz="1300" b="1" dirty="0">
                <a:solidFill>
                  <a:srgbClr val="1B3B6F"/>
                </a:solidFill>
                <a:latin typeface="Calibri" pitchFamily="34" charset="0"/>
                <a:cs typeface="Amiri" pitchFamily="2" charset="-78"/>
              </a:rPr>
              <a:t>I learn Arabic because I love it.</a:t>
            </a:r>
            <a:endParaRPr lang="en-US" sz="1300" dirty="0"/>
          </a:p>
        </p:txBody>
      </p:sp>
      <p:sp>
        <p:nvSpPr>
          <p:cNvPr id="33" name="Text 30"/>
          <p:cNvSpPr txBox="1"/>
          <p:nvPr/>
        </p:nvSpPr>
        <p:spPr>
          <a:xfrm>
            <a:off x="1143000" y="5321808"/>
            <a:ext cx="3291840" cy="256032"/>
          </a:xfrm>
          <a:prstGeom prst="rect">
            <a:avLst/>
          </a:prstGeom>
          <a:noFill/>
          <a:ln/>
        </p:spPr>
        <p:txBody>
          <a:bodyPr wrap="square" lIns="0" tIns="0" rIns="0" bIns="0" rtlCol="0" anchor="ctr"/>
          <a:lstStyle/>
          <a:p>
            <a:pPr algn="l" indent="0" marL="0">
              <a:buNone/>
            </a:pPr>
            <a:r>
              <a:rPr lang="en-US" sz="1050" b="1" dirty="0">
                <a:solidFill>
                  <a:srgbClr val="1E6B52"/>
                </a:solidFill>
                <a:latin typeface="Calibri" pitchFamily="34" charset="0"/>
                <a:cs typeface="Amiri" pitchFamily="2" charset="-78"/>
              </a:rPr>
              <a:t>Columns = A · A · A</a:t>
            </a:r>
            <a:endParaRPr lang="en-US" sz="1050" dirty="0"/>
          </a:p>
        </p:txBody>
      </p:sp>
      <p:sp>
        <p:nvSpPr>
          <p:cNvPr id="34" name="Text 31"/>
          <p:cNvSpPr txBox="1"/>
          <p:nvPr/>
        </p:nvSpPr>
        <p:spPr>
          <a:xfrm>
            <a:off x="1143000" y="5596128"/>
            <a:ext cx="3291840" cy="43891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Because I = </a:t>
            </a:r>
            <a:pPr algn="l" indent="0" marL="0">
              <a:buNone/>
            </a:pPr>
            <a:r>
              <a:rPr lang="ar-SA" altLang="en-US" sz="1350" dirty="0">
                <a:solidFill>
                  <a:srgbClr val="5A6472"/>
                </a:solidFill>
                <a:latin typeface="Amiri" pitchFamily="2" charset="-78"/>
                <a:ea typeface="Amiri" pitchFamily="2" charset="-78"/>
                <a:cs typeface="Amiri" pitchFamily="2" charset="-78"/>
              </a:rPr>
              <a:t>لِأَنِّي</a:t>
            </a:r>
            <a:pPr algn="l" indent="0" marL="0">
              <a:buNone/>
            </a:pPr>
            <a:r>
              <a:rPr lang="en-US" sz="1050" i="1" dirty="0">
                <a:solidFill>
                  <a:srgbClr val="5A6472"/>
                </a:solidFill>
                <a:latin typeface="Calibri" pitchFamily="34" charset="0"/>
                <a:cs typeface="Amiri" pitchFamily="2" charset="-78"/>
              </a:rPr>
              <a:t>; Arabic is feminine → </a:t>
            </a:r>
            <a:pPr algn="l" indent="0" marL="0">
              <a:buNone/>
            </a:pPr>
            <a:r>
              <a:rPr lang="ar-SA" altLang="en-US" sz="1350" dirty="0">
                <a:solidFill>
                  <a:srgbClr val="5A6472"/>
                </a:solidFill>
                <a:latin typeface="Amiri" pitchFamily="2" charset="-78"/>
                <a:ea typeface="Amiri" pitchFamily="2" charset="-78"/>
                <a:cs typeface="Amiri" pitchFamily="2" charset="-78"/>
              </a:rPr>
              <a:t>أُحِبُّهَا</a:t>
            </a:r>
            <a:pPr algn="l" indent="0" marL="0">
              <a:buNone/>
            </a:pPr>
            <a:r>
              <a:rPr lang="en-US" sz="1050" i="1" dirty="0">
                <a:solidFill>
                  <a:srgbClr val="5A6472"/>
                </a:solidFill>
                <a:latin typeface="Calibri" pitchFamily="34" charset="0"/>
                <a:cs typeface="Amiri" pitchFamily="2" charset="-78"/>
              </a:rPr>
              <a:t>.</a:t>
            </a:r>
            <a:endParaRPr lang="en-US" sz="1050" dirty="0"/>
          </a:p>
        </p:txBody>
      </p:sp>
      <p:sp>
        <p:nvSpPr>
          <p:cNvPr id="35" name="Text 32"/>
          <p:cNvSpPr txBox="1"/>
          <p:nvPr/>
        </p:nvSpPr>
        <p:spPr>
          <a:xfrm>
            <a:off x="4572000" y="4864608"/>
            <a:ext cx="6949440" cy="1170432"/>
          </a:xfrm>
          <a:prstGeom prst="rect">
            <a:avLst/>
          </a:prstGeom>
          <a:noFill/>
          <a:ln/>
        </p:spPr>
        <p:txBody>
          <a:bodyPr wrap="square" lIns="0" tIns="0" rIns="0" bIns="0" rtlCol="0" anchor="ctr"/>
          <a:lstStyle/>
          <a:p>
            <a:pPr rtl="1" algn="r" indent="0" marL="0">
              <a:buNone/>
            </a:pPr>
            <a:r>
              <a:rPr lang="ar-SA" altLang="en-US" sz="2800" b="1" dirty="0">
                <a:solidFill>
                  <a:srgbClr val="1B3B6F"/>
                </a:solidFill>
                <a:latin typeface="Amiri" pitchFamily="2" charset="-78"/>
                <a:ea typeface="Amiri" pitchFamily="2" charset="-78"/>
                <a:cs typeface="Amiri" pitchFamily="2" charset="-78"/>
              </a:rPr>
              <a:t>أَتَعَلَّمُ العَرَبِيَّةَ لِأَنِّي أُحِبُّهَا.</a:t>
            </a:r>
            <a:endParaRPr lang="ar-SA" sz="2800" dirty="0"/>
          </a:p>
        </p:txBody>
      </p:sp>
      <p:sp>
        <p:nvSpPr>
          <p:cNvPr id="36" name="Text 33"/>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15 / 24</a:t>
            </a:r>
            <a:endParaRPr lang="en-US" sz="85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F2-W06 · Apply workshop</a:t>
            </a:r>
            <a:endParaRPr lang="en-US" sz="950" dirty="0"/>
          </a:p>
        </p:txBody>
      </p:sp>
      <p:sp>
        <p:nvSpPr>
          <p:cNvPr id="8" name="Shape 6"/>
          <p:cNvSpPr/>
          <p:nvPr/>
        </p:nvSpPr>
        <p:spPr>
          <a:xfrm>
            <a:off x="7370978" y="274320"/>
            <a:ext cx="1388974"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70978" y="274320"/>
            <a:ext cx="138897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 · 3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cs typeface="Amiri" pitchFamily="2" charset="-78"/>
              </a:rPr>
              <a:t>STEP 8 · SPOT AND FIX · MISTAKES FROM BOTH LESSONS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Find the mistake, fix it</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اكْتَشِفِ الخَطَأَ</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F2 · Greetings &amp; Introductions · F2-W06 · Apply workshop (F2-L11 + F2-L12)</a:t>
            </a:r>
            <a:endParaRPr lang="en-US" sz="850" dirty="0"/>
          </a:p>
        </p:txBody>
      </p:sp>
      <p:sp>
        <p:nvSpPr>
          <p:cNvPr id="15" name="Shape 12"/>
          <p:cNvSpPr/>
          <p:nvPr/>
        </p:nvSpPr>
        <p:spPr>
          <a:xfrm>
            <a:off x="457200" y="1810512"/>
            <a:ext cx="11274552" cy="1298448"/>
          </a:xfrm>
          <a:prstGeom prst="roundRect">
            <a:avLst>
              <a:gd name="adj" fmla="val 5634"/>
            </a:avLst>
          </a:prstGeom>
          <a:solidFill>
            <a:srgbClr val="FBEAEA"/>
          </a:solidFill>
          <a:ln w="9525">
            <a:solidFill>
              <a:srgbClr val="E3B4AE"/>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11183112" y="2249424"/>
            <a:ext cx="402336" cy="402336"/>
          </a:xfrm>
          <a:prstGeom prst="ellipse">
            <a:avLst/>
          </a:prstGeom>
          <a:solidFill>
            <a:srgbClr val="B83227"/>
          </a:solidFill>
          <a:ln w="12700">
            <a:solidFill>
              <a:srgbClr val="B83227"/>
            </a:solidFill>
            <a:prstDash val="solid"/>
          </a:ln>
        </p:spPr>
      </p:sp>
      <p:sp>
        <p:nvSpPr>
          <p:cNvPr id="17" name="Text 14"/>
          <p:cNvSpPr txBox="1"/>
          <p:nvPr/>
        </p:nvSpPr>
        <p:spPr>
          <a:xfrm>
            <a:off x="11183112" y="2249424"/>
            <a:ext cx="402336"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cs typeface="Amiri" pitchFamily="2" charset="-78"/>
              </a:rPr>
              <a:t>1</a:t>
            </a:r>
            <a:endParaRPr lang="en-US" sz="1300" dirty="0"/>
          </a:p>
        </p:txBody>
      </p:sp>
      <p:sp>
        <p:nvSpPr>
          <p:cNvPr id="18" name="Text 15"/>
          <p:cNvSpPr txBox="1"/>
          <p:nvPr/>
        </p:nvSpPr>
        <p:spPr>
          <a:xfrm>
            <a:off x="4023360" y="1901952"/>
            <a:ext cx="6976872" cy="1097280"/>
          </a:xfrm>
          <a:prstGeom prst="rect">
            <a:avLst/>
          </a:prstGeom>
          <a:noFill/>
          <a:ln/>
        </p:spPr>
        <p:txBody>
          <a:bodyPr wrap="square" lIns="0" tIns="0" rIns="0" bIns="0" rtlCol="0" anchor="ctr"/>
          <a:lstStyle/>
          <a:p>
            <a:pPr rtl="1" algn="r" indent="0" marL="0">
              <a:buNone/>
            </a:pPr>
            <a:r>
              <a:rPr lang="ar-SA" altLang="en-US" sz="3000" b="1" dirty="0">
                <a:solidFill>
                  <a:srgbClr val="B83227"/>
                </a:solidFill>
                <a:latin typeface="Amiri" pitchFamily="2" charset="-78"/>
                <a:ea typeface="Amiri" pitchFamily="2" charset="-78"/>
                <a:cs typeface="Amiri" pitchFamily="2" charset="-78"/>
              </a:rPr>
              <a:t>العُمْرُ: عُمْرِي ثَلَاثَ عَشْرَةَ سَنَةً وَأَنَا أُحِبُّ الرِّيَاضَةَ.</a:t>
            </a:r>
            <a:endParaRPr lang="ar-SA" sz="3000" dirty="0"/>
          </a:p>
        </p:txBody>
      </p:sp>
      <p:sp>
        <p:nvSpPr>
          <p:cNvPr id="19" name="Text 16"/>
          <p:cNvSpPr txBox="1"/>
          <p:nvPr/>
        </p:nvSpPr>
        <p:spPr>
          <a:xfrm>
            <a:off x="731520" y="1901952"/>
            <a:ext cx="3200400" cy="1097280"/>
          </a:xfrm>
          <a:prstGeom prst="rect">
            <a:avLst/>
          </a:prstGeom>
          <a:noFill/>
          <a:ln/>
        </p:spPr>
        <p:txBody>
          <a:bodyPr wrap="square" lIns="0" tIns="0" rIns="0" bIns="0" rtlCol="0" anchor="ctr"/>
          <a:lstStyle/>
          <a:p>
            <a:pPr algn="l" indent="0" marL="0">
              <a:buNone/>
            </a:pPr>
            <a:r>
              <a:rPr lang="en-US" sz="1300" i="1" dirty="0">
                <a:solidFill>
                  <a:srgbClr val="5A6472"/>
                </a:solidFill>
                <a:latin typeface="Calibri" pitchFamily="34" charset="0"/>
                <a:cs typeface="Amiri" pitchFamily="2" charset="-78"/>
              </a:rPr>
              <a:t>A form box needs a SHORT answer.</a:t>
            </a:r>
            <a:endParaRPr lang="en-US" sz="1300" dirty="0"/>
          </a:p>
        </p:txBody>
      </p:sp>
      <p:sp>
        <p:nvSpPr>
          <p:cNvPr id="20" name="Shape 17"/>
          <p:cNvSpPr/>
          <p:nvPr/>
        </p:nvSpPr>
        <p:spPr>
          <a:xfrm>
            <a:off x="457200" y="3255264"/>
            <a:ext cx="11274552" cy="1298448"/>
          </a:xfrm>
          <a:prstGeom prst="roundRect">
            <a:avLst>
              <a:gd name="adj" fmla="val 5634"/>
            </a:avLst>
          </a:prstGeom>
          <a:solidFill>
            <a:srgbClr val="FBEAEA"/>
          </a:solidFill>
          <a:ln w="9525">
            <a:solidFill>
              <a:srgbClr val="E3B4AE"/>
            </a:solidFill>
            <a:prstDash val="solid"/>
          </a:ln>
          <a:effectLst>
            <a:outerShdw sx="100000" sy="100000" kx="0" ky="0" algn="bl" rotWithShape="0" blurRad="50800" dist="19050" dir="5400000">
              <a:srgbClr val="000000">
                <a:alpha val="10000"/>
              </a:srgbClr>
            </a:outerShdw>
          </a:effectLst>
        </p:spPr>
      </p:sp>
      <p:sp>
        <p:nvSpPr>
          <p:cNvPr id="21" name="Shape 18"/>
          <p:cNvSpPr/>
          <p:nvPr/>
        </p:nvSpPr>
        <p:spPr>
          <a:xfrm>
            <a:off x="11183112" y="3694176"/>
            <a:ext cx="402336" cy="402336"/>
          </a:xfrm>
          <a:prstGeom prst="ellipse">
            <a:avLst/>
          </a:prstGeom>
          <a:solidFill>
            <a:srgbClr val="B83227"/>
          </a:solidFill>
          <a:ln w="12700">
            <a:solidFill>
              <a:srgbClr val="B83227"/>
            </a:solidFill>
            <a:prstDash val="solid"/>
          </a:ln>
        </p:spPr>
      </p:sp>
      <p:sp>
        <p:nvSpPr>
          <p:cNvPr id="22" name="Text 19"/>
          <p:cNvSpPr txBox="1"/>
          <p:nvPr/>
        </p:nvSpPr>
        <p:spPr>
          <a:xfrm>
            <a:off x="11183112" y="3694176"/>
            <a:ext cx="402336"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cs typeface="Amiri" pitchFamily="2" charset="-78"/>
              </a:rPr>
              <a:t>2</a:t>
            </a:r>
            <a:endParaRPr lang="en-US" sz="1300" dirty="0"/>
          </a:p>
        </p:txBody>
      </p:sp>
      <p:sp>
        <p:nvSpPr>
          <p:cNvPr id="23" name="Text 20"/>
          <p:cNvSpPr txBox="1"/>
          <p:nvPr/>
        </p:nvSpPr>
        <p:spPr>
          <a:xfrm>
            <a:off x="4023360" y="3346704"/>
            <a:ext cx="6976872" cy="1097280"/>
          </a:xfrm>
          <a:prstGeom prst="rect">
            <a:avLst/>
          </a:prstGeom>
          <a:noFill/>
          <a:ln/>
        </p:spPr>
        <p:txBody>
          <a:bodyPr wrap="square" lIns="0" tIns="0" rIns="0" bIns="0" rtlCol="0" anchor="ctr"/>
          <a:lstStyle/>
          <a:p>
            <a:pPr rtl="1" algn="r" indent="0" marL="0">
              <a:buNone/>
            </a:pPr>
            <a:r>
              <a:rPr lang="ar-SA" altLang="en-US" sz="3000" b="1" dirty="0">
                <a:solidFill>
                  <a:srgbClr val="B83227"/>
                </a:solidFill>
                <a:latin typeface="Amiri" pitchFamily="2" charset="-78"/>
                <a:ea typeface="Amiri" pitchFamily="2" charset="-78"/>
                <a:cs typeface="Amiri" pitchFamily="2" charset="-78"/>
              </a:rPr>
              <a:t>مَسَاءُ الخَيْرِ! — صَبَاحُ النُّورِ!</a:t>
            </a:r>
            <a:endParaRPr lang="ar-SA" sz="3000" dirty="0"/>
          </a:p>
        </p:txBody>
      </p:sp>
      <p:sp>
        <p:nvSpPr>
          <p:cNvPr id="24" name="Text 21"/>
          <p:cNvSpPr txBox="1"/>
          <p:nvPr/>
        </p:nvSpPr>
        <p:spPr>
          <a:xfrm>
            <a:off x="731520" y="3346704"/>
            <a:ext cx="3200400" cy="1097280"/>
          </a:xfrm>
          <a:prstGeom prst="rect">
            <a:avLst/>
          </a:prstGeom>
          <a:noFill/>
          <a:ln/>
        </p:spPr>
        <p:txBody>
          <a:bodyPr wrap="square" lIns="0" tIns="0" rIns="0" bIns="0" rtlCol="0" anchor="ctr"/>
          <a:lstStyle/>
          <a:p>
            <a:pPr algn="l" indent="0" marL="0">
              <a:buNone/>
            </a:pPr>
            <a:r>
              <a:rPr lang="en-US" sz="1300" i="1" dirty="0">
                <a:solidFill>
                  <a:srgbClr val="5A6472"/>
                </a:solidFill>
                <a:latin typeface="Calibri" pitchFamily="34" charset="0"/>
                <a:cs typeface="Amiri" pitchFamily="2" charset="-78"/>
              </a:rPr>
              <a:t>Match the time of day.</a:t>
            </a:r>
            <a:endParaRPr lang="en-US" sz="1300" dirty="0"/>
          </a:p>
        </p:txBody>
      </p:sp>
      <p:sp>
        <p:nvSpPr>
          <p:cNvPr id="25" name="Shape 22"/>
          <p:cNvSpPr/>
          <p:nvPr/>
        </p:nvSpPr>
        <p:spPr>
          <a:xfrm>
            <a:off x="457200" y="4700016"/>
            <a:ext cx="11274552" cy="1298448"/>
          </a:xfrm>
          <a:prstGeom prst="roundRect">
            <a:avLst>
              <a:gd name="adj" fmla="val 5634"/>
            </a:avLst>
          </a:prstGeom>
          <a:solidFill>
            <a:srgbClr val="FBEAEA"/>
          </a:solidFill>
          <a:ln w="9525">
            <a:solidFill>
              <a:srgbClr val="E3B4AE"/>
            </a:solidFill>
            <a:prstDash val="solid"/>
          </a:ln>
          <a:effectLst>
            <a:outerShdw sx="100000" sy="100000" kx="0" ky="0" algn="bl" rotWithShape="0" blurRad="50800" dist="19050" dir="5400000">
              <a:srgbClr val="000000">
                <a:alpha val="10000"/>
              </a:srgbClr>
            </a:outerShdw>
          </a:effectLst>
        </p:spPr>
      </p:sp>
      <p:sp>
        <p:nvSpPr>
          <p:cNvPr id="26" name="Shape 23"/>
          <p:cNvSpPr/>
          <p:nvPr/>
        </p:nvSpPr>
        <p:spPr>
          <a:xfrm>
            <a:off x="11183112" y="5138928"/>
            <a:ext cx="402336" cy="402336"/>
          </a:xfrm>
          <a:prstGeom prst="ellipse">
            <a:avLst/>
          </a:prstGeom>
          <a:solidFill>
            <a:srgbClr val="B83227"/>
          </a:solidFill>
          <a:ln w="12700">
            <a:solidFill>
              <a:srgbClr val="B83227"/>
            </a:solidFill>
            <a:prstDash val="solid"/>
          </a:ln>
        </p:spPr>
      </p:sp>
      <p:sp>
        <p:nvSpPr>
          <p:cNvPr id="27" name="Text 24"/>
          <p:cNvSpPr txBox="1"/>
          <p:nvPr/>
        </p:nvSpPr>
        <p:spPr>
          <a:xfrm>
            <a:off x="11183112" y="5138928"/>
            <a:ext cx="402336"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cs typeface="Amiri" pitchFamily="2" charset="-78"/>
              </a:rPr>
              <a:t>3</a:t>
            </a:r>
            <a:endParaRPr lang="en-US" sz="1300" dirty="0"/>
          </a:p>
        </p:txBody>
      </p:sp>
      <p:sp>
        <p:nvSpPr>
          <p:cNvPr id="28" name="Text 25"/>
          <p:cNvSpPr txBox="1"/>
          <p:nvPr/>
        </p:nvSpPr>
        <p:spPr>
          <a:xfrm>
            <a:off x="4023360" y="4791456"/>
            <a:ext cx="6976872" cy="1097280"/>
          </a:xfrm>
          <a:prstGeom prst="rect">
            <a:avLst/>
          </a:prstGeom>
          <a:noFill/>
          <a:ln/>
        </p:spPr>
        <p:txBody>
          <a:bodyPr wrap="square" lIns="0" tIns="0" rIns="0" bIns="0" rtlCol="0" anchor="ctr"/>
          <a:lstStyle/>
          <a:p>
            <a:pPr rtl="1" algn="r" indent="0" marL="0">
              <a:buNone/>
            </a:pPr>
            <a:r>
              <a:rPr lang="ar-SA" altLang="en-US" sz="3000" b="1" dirty="0">
                <a:solidFill>
                  <a:srgbClr val="B83227"/>
                </a:solidFill>
                <a:latin typeface="Amiri" pitchFamily="2" charset="-78"/>
                <a:ea typeface="Amiri" pitchFamily="2" charset="-78"/>
                <a:cs typeface="Amiri" pitchFamily="2" charset="-78"/>
              </a:rPr>
              <a:t>أَتَعَلَّمُ العَرَبِيَّةَ لِأَنَّ أُحِبُّهَا.</a:t>
            </a:r>
            <a:endParaRPr lang="ar-SA" sz="3000" dirty="0"/>
          </a:p>
        </p:txBody>
      </p:sp>
      <p:sp>
        <p:nvSpPr>
          <p:cNvPr id="29" name="Text 26"/>
          <p:cNvSpPr txBox="1"/>
          <p:nvPr/>
        </p:nvSpPr>
        <p:spPr>
          <a:xfrm>
            <a:off x="731520" y="4791456"/>
            <a:ext cx="3200400" cy="1097280"/>
          </a:xfrm>
          <a:prstGeom prst="rect">
            <a:avLst/>
          </a:prstGeom>
          <a:noFill/>
          <a:ln/>
        </p:spPr>
        <p:txBody>
          <a:bodyPr wrap="square" lIns="0" tIns="0" rIns="0" bIns="0" rtlCol="0" anchor="ctr"/>
          <a:lstStyle/>
          <a:p>
            <a:pPr algn="l" indent="0" marL="0">
              <a:buNone/>
            </a:pPr>
            <a:r>
              <a:rPr lang="ar-SA" altLang="en-US" sz="1700" dirty="0">
                <a:solidFill>
                  <a:srgbClr val="5A6472"/>
                </a:solidFill>
                <a:latin typeface="Amiri" pitchFamily="2" charset="-78"/>
                <a:ea typeface="Amiri" pitchFamily="2" charset="-78"/>
                <a:cs typeface="Amiri" pitchFamily="2" charset="-78"/>
              </a:rPr>
              <a:t>لِأَنَّ</a:t>
            </a:r>
            <a:pPr algn="l" indent="0" marL="0">
              <a:buNone/>
            </a:pPr>
            <a:r>
              <a:rPr lang="en-US" sz="1300" i="1" dirty="0">
                <a:solidFill>
                  <a:srgbClr val="5A6472"/>
                </a:solidFill>
                <a:latin typeface="Calibri" pitchFamily="34" charset="0"/>
                <a:cs typeface="Amiri" pitchFamily="2" charset="-78"/>
              </a:rPr>
              <a:t> + “I” …</a:t>
            </a:r>
            <a:endParaRPr lang="en-US" sz="1300" dirty="0"/>
          </a:p>
        </p:txBody>
      </p:sp>
      <p:sp>
        <p:nvSpPr>
          <p:cNvPr id="30" name="Text 27"/>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16 / 24</a:t>
            </a:r>
            <a:endParaRPr lang="en-US" sz="85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F2-W06 · Apply workshop</a:t>
            </a:r>
            <a:endParaRPr lang="en-US" sz="950" dirty="0"/>
          </a:p>
        </p:txBody>
      </p:sp>
      <p:sp>
        <p:nvSpPr>
          <p:cNvPr id="8" name="Shape 6"/>
          <p:cNvSpPr/>
          <p:nvPr/>
        </p:nvSpPr>
        <p:spPr>
          <a:xfrm>
            <a:off x="7143293" y="274320"/>
            <a:ext cx="1616659" cy="329184"/>
          </a:xfrm>
          <a:prstGeom prst="roundRect">
            <a:avLst>
              <a:gd name="adj" fmla="val 50000"/>
            </a:avLst>
          </a:prstGeom>
          <a:solidFill>
            <a:srgbClr val="8A6D1E"/>
          </a:solidFill>
          <a:ln w="12700">
            <a:solidFill>
              <a:srgbClr val="8A6D1E"/>
            </a:solidFill>
            <a:prstDash val="solid"/>
          </a:ln>
        </p:spPr>
      </p:sp>
      <p:sp>
        <p:nvSpPr>
          <p:cNvPr id="9" name="Text 7"/>
          <p:cNvSpPr txBox="1"/>
          <p:nvPr/>
        </p:nvSpPr>
        <p:spPr>
          <a:xfrm>
            <a:off x="7143293" y="274320"/>
            <a:ext cx="161665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FEEDBACK · 1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8A6D1E"/>
                </a:solidFill>
                <a:latin typeface="Calibri" pitchFamily="34" charset="0"/>
                <a:cs typeface="Amiri" pitchFamily="2" charset="-78"/>
              </a:rPr>
              <a:t>STEP 8 · CORRECTIONS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Spot and fix: corrections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اكْتَشِفِ الخَطَأَ</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F2 · Greetings &amp; Introductions · F2-W06 · Apply workshop (F2-L11 + F2-L12)</a:t>
            </a:r>
            <a:endParaRPr lang="en-US" sz="850" dirty="0"/>
          </a:p>
        </p:txBody>
      </p:sp>
      <p:sp>
        <p:nvSpPr>
          <p:cNvPr id="15" name="Shape 12"/>
          <p:cNvSpPr/>
          <p:nvPr/>
        </p:nvSpPr>
        <p:spPr>
          <a:xfrm>
            <a:off x="457200" y="1810512"/>
            <a:ext cx="11274552" cy="1298448"/>
          </a:xfrm>
          <a:prstGeom prst="roundRect">
            <a:avLst>
              <a:gd name="adj" fmla="val 5634"/>
            </a:avLst>
          </a:prstGeom>
          <a:solidFill>
            <a:srgbClr val="E6F4EC"/>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16" name="Text 13"/>
          <p:cNvSpPr txBox="1"/>
          <p:nvPr/>
        </p:nvSpPr>
        <p:spPr>
          <a:xfrm>
            <a:off x="8503920" y="1901952"/>
            <a:ext cx="3063240" cy="1097280"/>
          </a:xfrm>
          <a:prstGeom prst="rect">
            <a:avLst/>
          </a:prstGeom>
          <a:noFill/>
          <a:ln/>
        </p:spPr>
        <p:txBody>
          <a:bodyPr wrap="square" lIns="0" tIns="0" rIns="0" bIns="0" rtlCol="0" anchor="ctr"/>
          <a:lstStyle/>
          <a:p>
            <a:pPr rtl="1" algn="r" indent="0" marL="0">
              <a:lnSpc>
                <a:spcPct val="120000"/>
              </a:lnSpc>
              <a:buNone/>
            </a:pPr>
            <a:r>
              <a:rPr lang="ar-SA" altLang="en-US" sz="1800" b="1" dirty="0">
                <a:solidFill>
                  <a:srgbClr val="B83227"/>
                </a:solidFill>
                <a:latin typeface="Amiri" pitchFamily="2" charset="-78"/>
                <a:ea typeface="Amiri" pitchFamily="2" charset="-78"/>
                <a:cs typeface="Amiri" pitchFamily="2" charset="-78"/>
              </a:rPr>
              <a:t>العُمْرُ: عُمْرِي ثَلَاثَ عَشْرَةَ سَنَةً وَأَنَا أُحِبُّ الرِّيَاضَةَ.</a:t>
            </a:r>
            <a:endParaRPr lang="ar-SA" sz="1800" dirty="0"/>
          </a:p>
        </p:txBody>
      </p:sp>
      <p:sp>
        <p:nvSpPr>
          <p:cNvPr id="17" name="Shape 14"/>
          <p:cNvSpPr/>
          <p:nvPr/>
        </p:nvSpPr>
        <p:spPr>
          <a:xfrm>
            <a:off x="8641080" y="2459736"/>
            <a:ext cx="2834640" cy="0"/>
          </a:xfrm>
          <a:prstGeom prst="line">
            <a:avLst/>
          </a:prstGeom>
          <a:noFill/>
          <a:ln w="15875">
            <a:solidFill>
              <a:srgbClr val="B83227"/>
            </a:solidFill>
            <a:prstDash val="solid"/>
          </a:ln>
        </p:spPr>
      </p:sp>
      <p:sp>
        <p:nvSpPr>
          <p:cNvPr id="18" name="Text 15"/>
          <p:cNvSpPr txBox="1"/>
          <p:nvPr/>
        </p:nvSpPr>
        <p:spPr>
          <a:xfrm>
            <a:off x="8138160" y="1901952"/>
            <a:ext cx="365760" cy="1097280"/>
          </a:xfrm>
          <a:prstGeom prst="rect">
            <a:avLst/>
          </a:prstGeom>
          <a:noFill/>
          <a:ln/>
        </p:spPr>
        <p:txBody>
          <a:bodyPr wrap="square" lIns="0" tIns="0" rIns="0" bIns="0" rtlCol="0" anchor="ctr"/>
          <a:lstStyle/>
          <a:p>
            <a:pPr algn="ctr" indent="0" marL="0">
              <a:buNone/>
            </a:pPr>
            <a:r>
              <a:rPr lang="en-US" sz="2000" dirty="0">
                <a:solidFill>
                  <a:srgbClr val="5A6472"/>
                </a:solidFill>
                <a:latin typeface="Calibri" pitchFamily="34" charset="0"/>
                <a:cs typeface="Amiri" pitchFamily="2" charset="-78"/>
              </a:rPr>
              <a:t>←</a:t>
            </a:r>
            <a:endParaRPr lang="en-US" sz="2000" dirty="0"/>
          </a:p>
        </p:txBody>
      </p:sp>
      <p:sp>
        <p:nvSpPr>
          <p:cNvPr id="19" name="Text 16"/>
          <p:cNvSpPr txBox="1"/>
          <p:nvPr/>
        </p:nvSpPr>
        <p:spPr>
          <a:xfrm>
            <a:off x="3566160" y="1901952"/>
            <a:ext cx="4526280" cy="1097280"/>
          </a:xfrm>
          <a:prstGeom prst="rect">
            <a:avLst/>
          </a:prstGeom>
          <a:noFill/>
          <a:ln/>
        </p:spPr>
        <p:txBody>
          <a:bodyPr wrap="square" lIns="0" tIns="0" rIns="0" bIns="0" rtlCol="0" anchor="ctr"/>
          <a:lstStyle/>
          <a:p>
            <a:pPr rtl="1" algn="r" indent="0" marL="0">
              <a:buNone/>
            </a:pPr>
            <a:r>
              <a:rPr lang="ar-SA" altLang="en-US" sz="2400" b="1" dirty="0">
                <a:solidFill>
                  <a:srgbClr val="1E6B52"/>
                </a:solidFill>
                <a:latin typeface="Amiri" pitchFamily="2" charset="-78"/>
                <a:ea typeface="Amiri" pitchFamily="2" charset="-78"/>
                <a:cs typeface="Amiri" pitchFamily="2" charset="-78"/>
              </a:rPr>
              <a:t>العُمْرُ: ثَلَاثَ عَشْرَةَ سَنَةً.</a:t>
            </a:r>
            <a:endParaRPr lang="ar-SA" sz="2400" dirty="0"/>
          </a:p>
        </p:txBody>
      </p:sp>
      <p:sp>
        <p:nvSpPr>
          <p:cNvPr id="20" name="Text 17"/>
          <p:cNvSpPr txBox="1"/>
          <p:nvPr/>
        </p:nvSpPr>
        <p:spPr>
          <a:xfrm>
            <a:off x="685800" y="1901952"/>
            <a:ext cx="2788920" cy="1097280"/>
          </a:xfrm>
          <a:prstGeom prst="rect">
            <a:avLst/>
          </a:prstGeom>
          <a:noFill/>
          <a:ln/>
        </p:spPr>
        <p:txBody>
          <a:bodyPr wrap="square" lIns="0" tIns="0" rIns="0" bIns="0" rtlCol="0" anchor="ctr"/>
          <a:lstStyle/>
          <a:p>
            <a:pPr algn="l" indent="0" marL="0">
              <a:buNone/>
            </a:pPr>
            <a:r>
              <a:rPr lang="en-US" sz="1150" b="1" dirty="0">
                <a:solidFill>
                  <a:srgbClr val="1B3B6F"/>
                </a:solidFill>
                <a:latin typeface="Calibri" pitchFamily="34" charset="0"/>
                <a:cs typeface="Amiri" pitchFamily="2" charset="-78"/>
              </a:rPr>
              <a:t>Forms: short answers only; full sentences belong in the text.</a:t>
            </a:r>
            <a:endParaRPr lang="en-US" sz="1150" dirty="0"/>
          </a:p>
        </p:txBody>
      </p:sp>
      <p:sp>
        <p:nvSpPr>
          <p:cNvPr id="21" name="Shape 18"/>
          <p:cNvSpPr/>
          <p:nvPr/>
        </p:nvSpPr>
        <p:spPr>
          <a:xfrm>
            <a:off x="457200" y="3255264"/>
            <a:ext cx="11274552" cy="1298448"/>
          </a:xfrm>
          <a:prstGeom prst="roundRect">
            <a:avLst>
              <a:gd name="adj" fmla="val 5634"/>
            </a:avLst>
          </a:prstGeom>
          <a:solidFill>
            <a:srgbClr val="E6F4EC"/>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22" name="Text 19"/>
          <p:cNvSpPr txBox="1"/>
          <p:nvPr/>
        </p:nvSpPr>
        <p:spPr>
          <a:xfrm>
            <a:off x="8503920" y="3346704"/>
            <a:ext cx="3063240" cy="1097280"/>
          </a:xfrm>
          <a:prstGeom prst="rect">
            <a:avLst/>
          </a:prstGeom>
          <a:noFill/>
          <a:ln/>
        </p:spPr>
        <p:txBody>
          <a:bodyPr wrap="square" lIns="0" tIns="0" rIns="0" bIns="0" rtlCol="0" anchor="ctr"/>
          <a:lstStyle/>
          <a:p>
            <a:pPr rtl="1" algn="r" indent="0" marL="0">
              <a:buNone/>
            </a:pPr>
            <a:r>
              <a:rPr lang="ar-SA" altLang="en-US" sz="1800" b="1" dirty="0">
                <a:solidFill>
                  <a:srgbClr val="B83227"/>
                </a:solidFill>
                <a:latin typeface="Amiri" pitchFamily="2" charset="-78"/>
                <a:ea typeface="Amiri" pitchFamily="2" charset="-78"/>
                <a:cs typeface="Amiri" pitchFamily="2" charset="-78"/>
              </a:rPr>
              <a:t>مَسَاءُ الخَيْرِ! — صَبَاحُ النُّورِ!</a:t>
            </a:r>
            <a:endParaRPr lang="ar-SA" sz="1800" dirty="0"/>
          </a:p>
        </p:txBody>
      </p:sp>
      <p:sp>
        <p:nvSpPr>
          <p:cNvPr id="23" name="Shape 20"/>
          <p:cNvSpPr/>
          <p:nvPr/>
        </p:nvSpPr>
        <p:spPr>
          <a:xfrm>
            <a:off x="8641080" y="3904488"/>
            <a:ext cx="2834640" cy="0"/>
          </a:xfrm>
          <a:prstGeom prst="line">
            <a:avLst/>
          </a:prstGeom>
          <a:noFill/>
          <a:ln w="15875">
            <a:solidFill>
              <a:srgbClr val="B83227"/>
            </a:solidFill>
            <a:prstDash val="solid"/>
          </a:ln>
        </p:spPr>
      </p:sp>
      <p:sp>
        <p:nvSpPr>
          <p:cNvPr id="24" name="Text 21"/>
          <p:cNvSpPr txBox="1"/>
          <p:nvPr/>
        </p:nvSpPr>
        <p:spPr>
          <a:xfrm>
            <a:off x="8138160" y="3346704"/>
            <a:ext cx="365760" cy="1097280"/>
          </a:xfrm>
          <a:prstGeom prst="rect">
            <a:avLst/>
          </a:prstGeom>
          <a:noFill/>
          <a:ln/>
        </p:spPr>
        <p:txBody>
          <a:bodyPr wrap="square" lIns="0" tIns="0" rIns="0" bIns="0" rtlCol="0" anchor="ctr"/>
          <a:lstStyle/>
          <a:p>
            <a:pPr algn="ctr" indent="0" marL="0">
              <a:buNone/>
            </a:pPr>
            <a:r>
              <a:rPr lang="en-US" sz="2000" dirty="0">
                <a:solidFill>
                  <a:srgbClr val="5A6472"/>
                </a:solidFill>
                <a:latin typeface="Calibri" pitchFamily="34" charset="0"/>
                <a:cs typeface="Amiri" pitchFamily="2" charset="-78"/>
              </a:rPr>
              <a:t>←</a:t>
            </a:r>
            <a:endParaRPr lang="en-US" sz="2000" dirty="0"/>
          </a:p>
        </p:txBody>
      </p:sp>
      <p:sp>
        <p:nvSpPr>
          <p:cNvPr id="25" name="Text 22"/>
          <p:cNvSpPr txBox="1"/>
          <p:nvPr/>
        </p:nvSpPr>
        <p:spPr>
          <a:xfrm>
            <a:off x="3566160" y="3346704"/>
            <a:ext cx="4526280" cy="1097280"/>
          </a:xfrm>
          <a:prstGeom prst="rect">
            <a:avLst/>
          </a:prstGeom>
          <a:noFill/>
          <a:ln/>
        </p:spPr>
        <p:txBody>
          <a:bodyPr wrap="square" lIns="0" tIns="0" rIns="0" bIns="0" rtlCol="0" anchor="ctr"/>
          <a:lstStyle/>
          <a:p>
            <a:pPr rtl="1" algn="r" indent="0" marL="0">
              <a:buNone/>
            </a:pPr>
            <a:r>
              <a:rPr lang="ar-SA" altLang="en-US" sz="2400" b="1" dirty="0">
                <a:solidFill>
                  <a:srgbClr val="1E6B52"/>
                </a:solidFill>
                <a:latin typeface="Amiri" pitchFamily="2" charset="-78"/>
                <a:ea typeface="Amiri" pitchFamily="2" charset="-78"/>
                <a:cs typeface="Amiri" pitchFamily="2" charset="-78"/>
              </a:rPr>
              <a:t>مَسَاءُ الخَيْرِ! — مَسَاءُ النُّورِ!</a:t>
            </a:r>
            <a:endParaRPr lang="ar-SA" sz="2400" dirty="0"/>
          </a:p>
        </p:txBody>
      </p:sp>
      <p:sp>
        <p:nvSpPr>
          <p:cNvPr id="26" name="Text 23"/>
          <p:cNvSpPr txBox="1"/>
          <p:nvPr/>
        </p:nvSpPr>
        <p:spPr>
          <a:xfrm>
            <a:off x="685800" y="3346704"/>
            <a:ext cx="2788920" cy="1097280"/>
          </a:xfrm>
          <a:prstGeom prst="rect">
            <a:avLst/>
          </a:prstGeom>
          <a:noFill/>
          <a:ln/>
        </p:spPr>
        <p:txBody>
          <a:bodyPr wrap="square" lIns="0" tIns="0" rIns="0" bIns="0" rtlCol="0" anchor="ctr"/>
          <a:lstStyle/>
          <a:p>
            <a:pPr algn="l" indent="0" marL="0">
              <a:buNone/>
            </a:pPr>
            <a:r>
              <a:rPr lang="en-US" sz="1150" b="1" dirty="0">
                <a:solidFill>
                  <a:srgbClr val="1B3B6F"/>
                </a:solidFill>
                <a:latin typeface="Calibri" pitchFamily="34" charset="0"/>
                <a:cs typeface="Amiri" pitchFamily="2" charset="-78"/>
              </a:rPr>
              <a:t>Evening → evening reply: </a:t>
            </a:r>
            <a:pPr algn="l" indent="0" marL="0">
              <a:buNone/>
            </a:pPr>
            <a:r>
              <a:rPr lang="ar-SA" altLang="en-US" sz="1500" b="1" dirty="0">
                <a:solidFill>
                  <a:srgbClr val="1B3B6F"/>
                </a:solidFill>
                <a:latin typeface="Amiri" pitchFamily="2" charset="-78"/>
                <a:ea typeface="Amiri" pitchFamily="2" charset="-78"/>
                <a:cs typeface="Amiri" pitchFamily="2" charset="-78"/>
              </a:rPr>
              <a:t>مَسَاءُ النُّورِ</a:t>
            </a:r>
            <a:pPr algn="l" indent="0" marL="0">
              <a:buNone/>
            </a:pPr>
            <a:r>
              <a:rPr lang="en-US" sz="1150" b="1" dirty="0">
                <a:solidFill>
                  <a:srgbClr val="1B3B6F"/>
                </a:solidFill>
                <a:latin typeface="Calibri" pitchFamily="34" charset="0"/>
                <a:cs typeface="Amiri" pitchFamily="2" charset="-78"/>
              </a:rPr>
              <a:t>.</a:t>
            </a:r>
            <a:endParaRPr lang="en-US" sz="1150" dirty="0"/>
          </a:p>
        </p:txBody>
      </p:sp>
      <p:sp>
        <p:nvSpPr>
          <p:cNvPr id="27" name="Shape 24"/>
          <p:cNvSpPr/>
          <p:nvPr/>
        </p:nvSpPr>
        <p:spPr>
          <a:xfrm>
            <a:off x="457200" y="4700016"/>
            <a:ext cx="11274552" cy="1298448"/>
          </a:xfrm>
          <a:prstGeom prst="roundRect">
            <a:avLst>
              <a:gd name="adj" fmla="val 5634"/>
            </a:avLst>
          </a:prstGeom>
          <a:solidFill>
            <a:srgbClr val="E6F4EC"/>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28" name="Text 25"/>
          <p:cNvSpPr txBox="1"/>
          <p:nvPr/>
        </p:nvSpPr>
        <p:spPr>
          <a:xfrm>
            <a:off x="8503920" y="4791456"/>
            <a:ext cx="3063240" cy="1097280"/>
          </a:xfrm>
          <a:prstGeom prst="rect">
            <a:avLst/>
          </a:prstGeom>
          <a:noFill/>
          <a:ln/>
        </p:spPr>
        <p:txBody>
          <a:bodyPr wrap="square" lIns="0" tIns="0" rIns="0" bIns="0" rtlCol="0" anchor="ctr"/>
          <a:lstStyle/>
          <a:p>
            <a:pPr rtl="1" algn="r" indent="0" marL="0">
              <a:buNone/>
            </a:pPr>
            <a:r>
              <a:rPr lang="ar-SA" altLang="en-US" sz="1800" b="1" dirty="0">
                <a:solidFill>
                  <a:srgbClr val="B83227"/>
                </a:solidFill>
                <a:latin typeface="Amiri" pitchFamily="2" charset="-78"/>
                <a:ea typeface="Amiri" pitchFamily="2" charset="-78"/>
                <a:cs typeface="Amiri" pitchFamily="2" charset="-78"/>
              </a:rPr>
              <a:t>أَتَعَلَّمُ العَرَبِيَّةَ لِأَنَّ أُحِبُّهَا.</a:t>
            </a:r>
            <a:endParaRPr lang="ar-SA" sz="1800" dirty="0"/>
          </a:p>
        </p:txBody>
      </p:sp>
      <p:sp>
        <p:nvSpPr>
          <p:cNvPr id="29" name="Shape 26"/>
          <p:cNvSpPr/>
          <p:nvPr/>
        </p:nvSpPr>
        <p:spPr>
          <a:xfrm>
            <a:off x="8641080" y="5349240"/>
            <a:ext cx="2834640" cy="0"/>
          </a:xfrm>
          <a:prstGeom prst="line">
            <a:avLst/>
          </a:prstGeom>
          <a:noFill/>
          <a:ln w="15875">
            <a:solidFill>
              <a:srgbClr val="B83227"/>
            </a:solidFill>
            <a:prstDash val="solid"/>
          </a:ln>
        </p:spPr>
      </p:sp>
      <p:sp>
        <p:nvSpPr>
          <p:cNvPr id="30" name="Text 27"/>
          <p:cNvSpPr txBox="1"/>
          <p:nvPr/>
        </p:nvSpPr>
        <p:spPr>
          <a:xfrm>
            <a:off x="8138160" y="4791456"/>
            <a:ext cx="365760" cy="1097280"/>
          </a:xfrm>
          <a:prstGeom prst="rect">
            <a:avLst/>
          </a:prstGeom>
          <a:noFill/>
          <a:ln/>
        </p:spPr>
        <p:txBody>
          <a:bodyPr wrap="square" lIns="0" tIns="0" rIns="0" bIns="0" rtlCol="0" anchor="ctr"/>
          <a:lstStyle/>
          <a:p>
            <a:pPr algn="ctr" indent="0" marL="0">
              <a:buNone/>
            </a:pPr>
            <a:r>
              <a:rPr lang="en-US" sz="2000" dirty="0">
                <a:solidFill>
                  <a:srgbClr val="5A6472"/>
                </a:solidFill>
                <a:latin typeface="Calibri" pitchFamily="34" charset="0"/>
                <a:cs typeface="Amiri" pitchFamily="2" charset="-78"/>
              </a:rPr>
              <a:t>←</a:t>
            </a:r>
            <a:endParaRPr lang="en-US" sz="2000" dirty="0"/>
          </a:p>
        </p:txBody>
      </p:sp>
      <p:sp>
        <p:nvSpPr>
          <p:cNvPr id="31" name="Text 28"/>
          <p:cNvSpPr txBox="1"/>
          <p:nvPr/>
        </p:nvSpPr>
        <p:spPr>
          <a:xfrm>
            <a:off x="3566160" y="4791456"/>
            <a:ext cx="4526280" cy="1097280"/>
          </a:xfrm>
          <a:prstGeom prst="rect">
            <a:avLst/>
          </a:prstGeom>
          <a:noFill/>
          <a:ln/>
        </p:spPr>
        <p:txBody>
          <a:bodyPr wrap="square" lIns="0" tIns="0" rIns="0" bIns="0" rtlCol="0" anchor="ctr"/>
          <a:lstStyle/>
          <a:p>
            <a:pPr rtl="1" algn="r" indent="0" marL="0">
              <a:buNone/>
            </a:pPr>
            <a:r>
              <a:rPr lang="ar-SA" altLang="en-US" sz="2400" b="1" dirty="0">
                <a:solidFill>
                  <a:srgbClr val="1E6B52"/>
                </a:solidFill>
                <a:latin typeface="Amiri" pitchFamily="2" charset="-78"/>
                <a:ea typeface="Amiri" pitchFamily="2" charset="-78"/>
                <a:cs typeface="Amiri" pitchFamily="2" charset="-78"/>
              </a:rPr>
              <a:t>أَتَعَلَّمُ العَرَبِيَّةَ لِأَنِّي أُحِبُّهَا.</a:t>
            </a:r>
            <a:endParaRPr lang="ar-SA" sz="2400" dirty="0"/>
          </a:p>
        </p:txBody>
      </p:sp>
      <p:sp>
        <p:nvSpPr>
          <p:cNvPr id="32" name="Text 29"/>
          <p:cNvSpPr txBox="1"/>
          <p:nvPr/>
        </p:nvSpPr>
        <p:spPr>
          <a:xfrm>
            <a:off x="685800" y="4791456"/>
            <a:ext cx="2788920" cy="1097280"/>
          </a:xfrm>
          <a:prstGeom prst="rect">
            <a:avLst/>
          </a:prstGeom>
          <a:noFill/>
          <a:ln/>
        </p:spPr>
        <p:txBody>
          <a:bodyPr wrap="square" lIns="0" tIns="0" rIns="0" bIns="0" rtlCol="0" anchor="ctr"/>
          <a:lstStyle/>
          <a:p>
            <a:pPr algn="l" indent="0" marL="0">
              <a:buNone/>
            </a:pPr>
            <a:r>
              <a:rPr lang="en-US" sz="1150" b="1" dirty="0">
                <a:solidFill>
                  <a:srgbClr val="1B3B6F"/>
                </a:solidFill>
                <a:latin typeface="Calibri" pitchFamily="34" charset="0"/>
                <a:cs typeface="Amiri" pitchFamily="2" charset="-78"/>
              </a:rPr>
              <a:t>Because I → </a:t>
            </a:r>
            <a:pPr algn="l" indent="0" marL="0">
              <a:buNone/>
            </a:pPr>
            <a:r>
              <a:rPr lang="ar-SA" altLang="en-US" sz="1500" b="1" dirty="0">
                <a:solidFill>
                  <a:srgbClr val="1B3B6F"/>
                </a:solidFill>
                <a:latin typeface="Amiri" pitchFamily="2" charset="-78"/>
                <a:ea typeface="Amiri" pitchFamily="2" charset="-78"/>
                <a:cs typeface="Amiri" pitchFamily="2" charset="-78"/>
              </a:rPr>
              <a:t>لِأَنِّي</a:t>
            </a:r>
            <a:pPr algn="l" indent="0" marL="0">
              <a:buNone/>
            </a:pPr>
            <a:r>
              <a:rPr lang="en-US" sz="1150" b="1" dirty="0">
                <a:solidFill>
                  <a:srgbClr val="1B3B6F"/>
                </a:solidFill>
                <a:latin typeface="Calibri" pitchFamily="34" charset="0"/>
                <a:cs typeface="Amiri" pitchFamily="2" charset="-78"/>
              </a:rPr>
              <a:t>.</a:t>
            </a:r>
            <a:endParaRPr lang="en-US" sz="1150" dirty="0"/>
          </a:p>
        </p:txBody>
      </p:sp>
      <p:sp>
        <p:nvSpPr>
          <p:cNvPr id="33" name="Text 30"/>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17 / 24</a:t>
            </a:r>
            <a:endParaRPr lang="en-US" sz="85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F2-W06 · Apply workshop</a:t>
            </a:r>
            <a:endParaRPr lang="en-US" sz="950" dirty="0"/>
          </a:p>
        </p:txBody>
      </p:sp>
      <p:sp>
        <p:nvSpPr>
          <p:cNvPr id="8" name="Shape 6"/>
          <p:cNvSpPr/>
          <p:nvPr/>
        </p:nvSpPr>
        <p:spPr>
          <a:xfrm>
            <a:off x="7295083" y="274320"/>
            <a:ext cx="1464869"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295083" y="274320"/>
            <a:ext cx="146486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E6B52"/>
                </a:solidFill>
                <a:latin typeface="Calibri" pitchFamily="34" charset="0"/>
                <a:cs typeface="Amiri" pitchFamily="2" charset="-78"/>
              </a:rPr>
              <a:t>STEP 9 · WRITE YOUR TEXT · FRAMES IF YOU NEED THEM</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Your writing frames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قَوَالِبُ الكِتَابَةِ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F2 · Greetings &amp; Introductions · F2-W06 · Apply workshop (F2-L11 + F2-L12)</a:t>
            </a:r>
            <a:endParaRPr lang="en-US" sz="850" dirty="0"/>
          </a:p>
        </p:txBody>
      </p:sp>
      <p:sp>
        <p:nvSpPr>
          <p:cNvPr id="15" name="Shape 12"/>
          <p:cNvSpPr/>
          <p:nvPr/>
        </p:nvSpPr>
        <p:spPr>
          <a:xfrm>
            <a:off x="457200" y="1810512"/>
            <a:ext cx="5541264" cy="3566160"/>
          </a:xfrm>
          <a:prstGeom prst="roundRect">
            <a:avLst>
              <a:gd name="adj" fmla="val 2051"/>
            </a:avLst>
          </a:prstGeom>
          <a:solidFill>
            <a:srgbClr val="FCF1E0"/>
          </a:solidFill>
          <a:ln w="9525">
            <a:solidFill>
              <a:srgbClr val="C9780A"/>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94360" y="1901952"/>
            <a:ext cx="1051560" cy="274320"/>
          </a:xfrm>
          <a:prstGeom prst="roundRect">
            <a:avLst>
              <a:gd name="adj" fmla="val 50000"/>
            </a:avLst>
          </a:prstGeom>
          <a:solidFill>
            <a:srgbClr val="C9780A"/>
          </a:solidFill>
          <a:ln w="12700">
            <a:solidFill>
              <a:srgbClr val="C9780A"/>
            </a:solidFill>
            <a:prstDash val="solid"/>
          </a:ln>
        </p:spPr>
      </p:sp>
      <p:sp>
        <p:nvSpPr>
          <p:cNvPr id="17" name="Text 14"/>
          <p:cNvSpPr txBox="1"/>
          <p:nvPr/>
        </p:nvSpPr>
        <p:spPr>
          <a:xfrm>
            <a:off x="594360" y="1901952"/>
            <a:ext cx="105156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DEVELOP</a:t>
            </a:r>
            <a:endParaRPr lang="en-US" sz="850" dirty="0"/>
          </a:p>
        </p:txBody>
      </p:sp>
      <p:sp>
        <p:nvSpPr>
          <p:cNvPr id="18" name="Text 15"/>
          <p:cNvSpPr txBox="1"/>
          <p:nvPr/>
        </p:nvSpPr>
        <p:spPr>
          <a:xfrm>
            <a:off x="2468880" y="2249424"/>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 ، لٰكِنَّ عَائِلَتِي مِنْ ______ .</a:t>
            </a:r>
            <a:endParaRPr lang="ar-SA" sz="1800" dirty="0"/>
          </a:p>
        </p:txBody>
      </p:sp>
      <p:sp>
        <p:nvSpPr>
          <p:cNvPr id="19" name="Text 16"/>
          <p:cNvSpPr txBox="1"/>
          <p:nvPr/>
        </p:nvSpPr>
        <p:spPr>
          <a:xfrm>
            <a:off x="594360" y="2249424"/>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 but my family is from …</a:t>
            </a:r>
            <a:endParaRPr lang="en-US" sz="1050" dirty="0"/>
          </a:p>
        </p:txBody>
      </p:sp>
      <p:sp>
        <p:nvSpPr>
          <p:cNvPr id="20" name="Text 17"/>
          <p:cNvSpPr txBox="1"/>
          <p:nvPr/>
        </p:nvSpPr>
        <p:spPr>
          <a:xfrm>
            <a:off x="2468880" y="2816352"/>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أُرِيدُ صَدِيقًا بِالمُرَاسَلَةِ لِأَنِّي ______ .</a:t>
            </a:r>
            <a:endParaRPr lang="ar-SA" sz="1800" dirty="0"/>
          </a:p>
        </p:txBody>
      </p:sp>
      <p:sp>
        <p:nvSpPr>
          <p:cNvPr id="21" name="Text 18"/>
          <p:cNvSpPr txBox="1"/>
          <p:nvPr/>
        </p:nvSpPr>
        <p:spPr>
          <a:xfrm>
            <a:off x="594360" y="2816352"/>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I want a pen-friend because I …</a:t>
            </a:r>
            <a:endParaRPr lang="en-US" sz="1050" dirty="0"/>
          </a:p>
        </p:txBody>
      </p:sp>
      <p:sp>
        <p:nvSpPr>
          <p:cNvPr id="22" name="Text 19"/>
          <p:cNvSpPr txBox="1"/>
          <p:nvPr/>
        </p:nvSpPr>
        <p:spPr>
          <a:xfrm>
            <a:off x="2468880" y="3383280"/>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وَهُوَ / وَهِيَ ______ جِدًّا.</a:t>
            </a:r>
            <a:endParaRPr lang="ar-SA" sz="1800" dirty="0"/>
          </a:p>
        </p:txBody>
      </p:sp>
      <p:sp>
        <p:nvSpPr>
          <p:cNvPr id="23" name="Text 20"/>
          <p:cNvSpPr txBox="1"/>
          <p:nvPr/>
        </p:nvSpPr>
        <p:spPr>
          <a:xfrm>
            <a:off x="594360" y="3383280"/>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And he / she is very …</a:t>
            </a:r>
            <a:endParaRPr lang="en-US" sz="1050" dirty="0"/>
          </a:p>
        </p:txBody>
      </p:sp>
      <p:sp>
        <p:nvSpPr>
          <p:cNvPr id="24" name="Shape 21"/>
          <p:cNvSpPr/>
          <p:nvPr/>
        </p:nvSpPr>
        <p:spPr>
          <a:xfrm>
            <a:off x="6190488" y="1810512"/>
            <a:ext cx="5541264" cy="3566160"/>
          </a:xfrm>
          <a:prstGeom prst="roundRect">
            <a:avLst>
              <a:gd name="adj" fmla="val 2051"/>
            </a:avLst>
          </a:prstGeom>
          <a:solidFill>
            <a:srgbClr val="E9F5EE"/>
          </a:solidFill>
          <a:ln w="9525">
            <a:solidFill>
              <a:srgbClr val="2E8B57"/>
            </a:solidFill>
            <a:prstDash val="solid"/>
          </a:ln>
          <a:effectLst>
            <a:outerShdw sx="100000" sy="100000" kx="0" ky="0" algn="bl" rotWithShape="0" blurRad="50800" dist="19050" dir="5400000">
              <a:srgbClr val="000000">
                <a:alpha val="10000"/>
              </a:srgbClr>
            </a:outerShdw>
          </a:effectLst>
        </p:spPr>
      </p:sp>
      <p:sp>
        <p:nvSpPr>
          <p:cNvPr id="25" name="Shape 22"/>
          <p:cNvSpPr/>
          <p:nvPr/>
        </p:nvSpPr>
        <p:spPr>
          <a:xfrm>
            <a:off x="10543032" y="1901952"/>
            <a:ext cx="1051560" cy="274320"/>
          </a:xfrm>
          <a:prstGeom prst="roundRect">
            <a:avLst>
              <a:gd name="adj" fmla="val 50000"/>
            </a:avLst>
          </a:prstGeom>
          <a:solidFill>
            <a:srgbClr val="2E8B57"/>
          </a:solidFill>
          <a:ln w="12700">
            <a:solidFill>
              <a:srgbClr val="2E8B57"/>
            </a:solidFill>
            <a:prstDash val="solid"/>
          </a:ln>
        </p:spPr>
      </p:sp>
      <p:sp>
        <p:nvSpPr>
          <p:cNvPr id="26" name="Text 23"/>
          <p:cNvSpPr txBox="1"/>
          <p:nvPr/>
        </p:nvSpPr>
        <p:spPr>
          <a:xfrm>
            <a:off x="10543032" y="1901952"/>
            <a:ext cx="105156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CORE</a:t>
            </a:r>
            <a:endParaRPr lang="en-US" sz="850" dirty="0"/>
          </a:p>
        </p:txBody>
      </p:sp>
      <p:sp>
        <p:nvSpPr>
          <p:cNvPr id="27" name="Text 24"/>
          <p:cNvSpPr txBox="1"/>
          <p:nvPr/>
        </p:nvSpPr>
        <p:spPr>
          <a:xfrm>
            <a:off x="8202168" y="2249424"/>
            <a:ext cx="3383280" cy="538582"/>
          </a:xfrm>
          <a:prstGeom prst="rect">
            <a:avLst/>
          </a:prstGeom>
          <a:noFill/>
          <a:ln/>
        </p:spPr>
        <p:txBody>
          <a:bodyPr wrap="square" lIns="0" tIns="0" rIns="0" bIns="0" rtlCol="0" anchor="ctr"/>
          <a:lstStyle/>
          <a:p>
            <a:pPr rtl="1" algn="r" indent="0" marL="0">
              <a:buNone/>
            </a:pPr>
            <a:r>
              <a:rPr lang="ar-SA" altLang="en-US" sz="1450" b="1" dirty="0">
                <a:solidFill>
                  <a:srgbClr val="1B3B6F"/>
                </a:solidFill>
                <a:latin typeface="Amiri" pitchFamily="2" charset="-78"/>
                <a:ea typeface="Amiri" pitchFamily="2" charset="-78"/>
                <a:cs typeface="Amiri" pitchFamily="2" charset="-78"/>
              </a:rPr>
              <a:t>السَّلَامُ عَلَيْكُمْ! اسْمِي ______ ، وَعُمْرِي ______ سَنَةً.</a:t>
            </a:r>
            <a:endParaRPr lang="ar-SA" sz="1450" dirty="0"/>
          </a:p>
        </p:txBody>
      </p:sp>
      <p:sp>
        <p:nvSpPr>
          <p:cNvPr id="28" name="Text 25"/>
          <p:cNvSpPr txBox="1"/>
          <p:nvPr/>
        </p:nvSpPr>
        <p:spPr>
          <a:xfrm>
            <a:off x="6327648" y="2249424"/>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Peace be upon you! My name is … and I am …</a:t>
            </a:r>
            <a:endParaRPr lang="en-US" sz="1050" dirty="0"/>
          </a:p>
        </p:txBody>
      </p:sp>
      <p:sp>
        <p:nvSpPr>
          <p:cNvPr id="29" name="Text 26"/>
          <p:cNvSpPr txBox="1"/>
          <p:nvPr/>
        </p:nvSpPr>
        <p:spPr>
          <a:xfrm>
            <a:off x="8202168" y="2816352"/>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أَنَا ______ ، وَأَسْكُنُ فِي ______ .</a:t>
            </a:r>
            <a:endParaRPr lang="ar-SA" sz="1800" dirty="0"/>
          </a:p>
        </p:txBody>
      </p:sp>
      <p:sp>
        <p:nvSpPr>
          <p:cNvPr id="30" name="Text 27"/>
          <p:cNvSpPr txBox="1"/>
          <p:nvPr/>
        </p:nvSpPr>
        <p:spPr>
          <a:xfrm>
            <a:off x="6327648" y="2816352"/>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I am (nationality) and I live in …</a:t>
            </a:r>
            <a:endParaRPr lang="en-US" sz="1050" dirty="0"/>
          </a:p>
        </p:txBody>
      </p:sp>
      <p:sp>
        <p:nvSpPr>
          <p:cNvPr id="31" name="Text 28"/>
          <p:cNvSpPr txBox="1"/>
          <p:nvPr/>
        </p:nvSpPr>
        <p:spPr>
          <a:xfrm>
            <a:off x="8202168" y="3383280"/>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أَتَكَلَّمُ ______ ، وَ ______ أَيْضًا.</a:t>
            </a:r>
            <a:endParaRPr lang="ar-SA" sz="1800" dirty="0"/>
          </a:p>
        </p:txBody>
      </p:sp>
      <p:sp>
        <p:nvSpPr>
          <p:cNvPr id="32" name="Text 29"/>
          <p:cNvSpPr txBox="1"/>
          <p:nvPr/>
        </p:nvSpPr>
        <p:spPr>
          <a:xfrm>
            <a:off x="6327648" y="3383280"/>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I speak …, and … too.</a:t>
            </a:r>
            <a:endParaRPr lang="en-US" sz="1050" dirty="0"/>
          </a:p>
        </p:txBody>
      </p:sp>
      <p:sp>
        <p:nvSpPr>
          <p:cNvPr id="33" name="Text 30"/>
          <p:cNvSpPr txBox="1"/>
          <p:nvPr/>
        </p:nvSpPr>
        <p:spPr>
          <a:xfrm>
            <a:off x="8202168" y="3950208"/>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صَدِيقِي / صَدِيقَتِي اسْمُهُ / اسْمُهَا ______ .</a:t>
            </a:r>
            <a:endParaRPr lang="ar-SA" sz="1800" dirty="0"/>
          </a:p>
        </p:txBody>
      </p:sp>
      <p:sp>
        <p:nvSpPr>
          <p:cNvPr id="34" name="Text 31"/>
          <p:cNvSpPr txBox="1"/>
          <p:nvPr/>
        </p:nvSpPr>
        <p:spPr>
          <a:xfrm>
            <a:off x="6327648" y="3950208"/>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My friend is called …</a:t>
            </a:r>
            <a:endParaRPr lang="en-US" sz="1050" dirty="0"/>
          </a:p>
        </p:txBody>
      </p:sp>
      <p:sp>
        <p:nvSpPr>
          <p:cNvPr id="35" name="Text 32"/>
          <p:cNvSpPr txBox="1"/>
          <p:nvPr/>
        </p:nvSpPr>
        <p:spPr>
          <a:xfrm>
            <a:off x="8202168" y="4517136"/>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شُكْرًا، وَمَعَ السَّلَامَةِ!</a:t>
            </a:r>
            <a:endParaRPr lang="ar-SA" sz="1800" dirty="0"/>
          </a:p>
        </p:txBody>
      </p:sp>
      <p:sp>
        <p:nvSpPr>
          <p:cNvPr id="36" name="Text 33"/>
          <p:cNvSpPr txBox="1"/>
          <p:nvPr/>
        </p:nvSpPr>
        <p:spPr>
          <a:xfrm>
            <a:off x="6327648" y="4517136"/>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Thank you, and goodbye!</a:t>
            </a:r>
            <a:endParaRPr lang="en-US" sz="1050" dirty="0"/>
          </a:p>
        </p:txBody>
      </p:sp>
      <p:sp>
        <p:nvSpPr>
          <p:cNvPr id="37" name="Shape 34"/>
          <p:cNvSpPr/>
          <p:nvPr/>
        </p:nvSpPr>
        <p:spPr>
          <a:xfrm>
            <a:off x="457200" y="5504688"/>
            <a:ext cx="11274552" cy="804672"/>
          </a:xfrm>
          <a:prstGeom prst="roundRect">
            <a:avLst>
              <a:gd name="adj" fmla="val 909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8" name="Text 35"/>
          <p:cNvSpPr txBox="1"/>
          <p:nvPr/>
        </p:nvSpPr>
        <p:spPr>
          <a:xfrm>
            <a:off x="640080" y="5541264"/>
            <a:ext cx="1828800" cy="237744"/>
          </a:xfrm>
          <a:prstGeom prst="rect">
            <a:avLst/>
          </a:prstGeom>
          <a:noFill/>
          <a:ln/>
        </p:spPr>
        <p:txBody>
          <a:bodyPr wrap="square" lIns="0" tIns="0" rIns="0" bIns="0" rtlCol="0" anchor="ctr"/>
          <a:lstStyle/>
          <a:p>
            <a:pPr algn="l" indent="0" marL="0">
              <a:buNone/>
            </a:pPr>
            <a:r>
              <a:rPr lang="en-US" sz="950" b="1" spc="200" kern="0" dirty="0">
                <a:solidFill>
                  <a:srgbClr val="8A6D1E"/>
                </a:solidFill>
                <a:latin typeface="Calibri" pitchFamily="34" charset="0"/>
                <a:cs typeface="Amiri" pitchFamily="2" charset="-78"/>
              </a:rPr>
              <a:t>WORD BANK</a:t>
            </a:r>
            <a:endParaRPr lang="en-US" sz="950" dirty="0"/>
          </a:p>
        </p:txBody>
      </p:sp>
      <p:sp>
        <p:nvSpPr>
          <p:cNvPr id="39" name="Text 36"/>
          <p:cNvSpPr txBox="1"/>
          <p:nvPr/>
        </p:nvSpPr>
        <p:spPr>
          <a:xfrm>
            <a:off x="640080" y="5760720"/>
            <a:ext cx="10908792" cy="512064"/>
          </a:xfrm>
          <a:prstGeom prst="rect">
            <a:avLst/>
          </a:prstGeom>
          <a:noFill/>
          <a:ln/>
        </p:spPr>
        <p:txBody>
          <a:bodyPr wrap="square" lIns="0" tIns="0" rIns="0" bIns="0" rtlCol="0" anchor="ctr"/>
          <a:lstStyle/>
          <a:p>
            <a:pPr rtl="1" algn="r" indent="0" marL="0">
              <a:buNone/>
            </a:pPr>
            <a:r>
              <a:rPr lang="ar-SA" altLang="en-US" sz="1600" b="1" dirty="0">
                <a:solidFill>
                  <a:srgbClr val="1B3B6F"/>
                </a:solidFill>
                <a:latin typeface="Amiri" pitchFamily="2" charset="-78"/>
                <a:ea typeface="Amiri" pitchFamily="2" charset="-78"/>
                <a:cs typeface="Amiri" pitchFamily="2" charset="-78"/>
              </a:rPr>
              <a:t>وَ  ·  أَيْضًا  ·  ثُمَّ  ·  لِأَنَّ · لِأَنِّي  ·  لٰكِنَّ  ·  جِدًّا  ·  اسْمُهُ · اسْمُهَا  ·  يَسْكُنُ · تَسْكُنُ</a:t>
            </a:r>
            <a:endParaRPr lang="ar-SA" sz="1600" dirty="0"/>
          </a:p>
        </p:txBody>
      </p:sp>
      <p:sp>
        <p:nvSpPr>
          <p:cNvPr id="40" name="Text 37"/>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18 / 24</a:t>
            </a:r>
            <a:endParaRPr lang="en-US" sz="85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F2-W06 · Apply workshop</a:t>
            </a:r>
            <a:endParaRPr lang="en-US" sz="950" dirty="0"/>
          </a:p>
        </p:txBody>
      </p:sp>
      <p:sp>
        <p:nvSpPr>
          <p:cNvPr id="8" name="Shape 6"/>
          <p:cNvSpPr/>
          <p:nvPr/>
        </p:nvSpPr>
        <p:spPr>
          <a:xfrm>
            <a:off x="7219188" y="274320"/>
            <a:ext cx="1540764"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219188" y="274320"/>
            <a:ext cx="154076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 · 10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E6B52"/>
                </a:solidFill>
                <a:latin typeface="Calibri" pitchFamily="34" charset="0"/>
                <a:cs typeface="Amiri" pitchFamily="2" charset="-78"/>
              </a:rPr>
              <a:t>STEP 9 · WRITE YOUR TEXT · FORM + ABOUT 50–70 WORDS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My pen-friend application</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طَلَبُ العُضْوِيَّةِ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F2 · Greetings &amp; Introductions · F2-W06 · Apply workshop (F2-L11 + F2-L12)</a:t>
            </a:r>
            <a:endParaRPr lang="en-US" sz="850" dirty="0"/>
          </a:p>
        </p:txBody>
      </p:sp>
      <p:sp>
        <p:nvSpPr>
          <p:cNvPr id="15" name="Shape 12"/>
          <p:cNvSpPr/>
          <p:nvPr/>
        </p:nvSpPr>
        <p:spPr>
          <a:xfrm>
            <a:off x="457200" y="1810512"/>
            <a:ext cx="5577840" cy="4498848"/>
          </a:xfrm>
          <a:prstGeom prst="roundRect">
            <a:avLst>
              <a:gd name="adj" fmla="val 1626"/>
            </a:avLst>
          </a:prstGeom>
          <a:solidFill>
            <a:srgbClr val="F7F9FC"/>
          </a:solidFill>
          <a:ln w="9525">
            <a:solidFill>
              <a:srgbClr val="C9D6EA"/>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640080" y="1938528"/>
            <a:ext cx="1984248" cy="292608"/>
          </a:xfrm>
          <a:prstGeom prst="roundRect">
            <a:avLst>
              <a:gd name="adj" fmla="val 50000"/>
            </a:avLst>
          </a:prstGeom>
          <a:solidFill>
            <a:srgbClr val="1B3B6F"/>
          </a:solidFill>
          <a:ln w="12700">
            <a:solidFill>
              <a:srgbClr val="1B3B6F"/>
            </a:solidFill>
            <a:prstDash val="solid"/>
          </a:ln>
        </p:spPr>
      </p:sp>
      <p:sp>
        <p:nvSpPr>
          <p:cNvPr id="17" name="Text 14"/>
          <p:cNvSpPr txBox="1"/>
          <p:nvPr/>
        </p:nvSpPr>
        <p:spPr>
          <a:xfrm>
            <a:off x="640080" y="1938528"/>
            <a:ext cx="1984248" cy="292608"/>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WRITING · BOTH LESSONS</a:t>
            </a:r>
            <a:endParaRPr lang="en-US" sz="950" dirty="0"/>
          </a:p>
        </p:txBody>
      </p:sp>
      <p:sp>
        <p:nvSpPr>
          <p:cNvPr id="18" name="Text 15"/>
          <p:cNvSpPr txBox="1"/>
          <p:nvPr/>
        </p:nvSpPr>
        <p:spPr>
          <a:xfrm>
            <a:off x="640080" y="2331720"/>
            <a:ext cx="5212080" cy="914400"/>
          </a:xfrm>
          <a:prstGeom prst="rect">
            <a:avLst/>
          </a:prstGeom>
          <a:noFill/>
          <a:ln/>
        </p:spPr>
        <p:txBody>
          <a:bodyPr wrap="square" lIns="0" tIns="0" rIns="0" bIns="0" rtlCol="0" anchor="ctr"/>
          <a:lstStyle/>
          <a:p>
            <a:pPr algn="l" indent="0" marL="0">
              <a:buNone/>
            </a:pPr>
            <a:r>
              <a:rPr lang="en-US" sz="1100" b="1" dirty="0">
                <a:solidFill>
                  <a:srgbClr val="1F2A37"/>
                </a:solidFill>
                <a:latin typeface="Calibri" pitchFamily="34" charset="0"/>
                <a:cs typeface="Amiri" pitchFamily="2" charset="-78"/>
              </a:rPr>
              <a:t>Part 1: fill in the five form boxes with short answers — name · age · nationality · place of residence · languages. Part 2: write your introduction (about 50–70 words): • a greeting • name, age, nationality, city • languages • a friend: name, age, city, one adjective • why you want a pen-friend (give a reason) • a polite closing. Use at least four linking words.</a:t>
            </a:r>
            <a:endParaRPr lang="en-US" sz="1100" dirty="0"/>
          </a:p>
        </p:txBody>
      </p:sp>
      <p:sp>
        <p:nvSpPr>
          <p:cNvPr id="19" name="Text 16"/>
          <p:cNvSpPr txBox="1"/>
          <p:nvPr/>
        </p:nvSpPr>
        <p:spPr>
          <a:xfrm>
            <a:off x="685800" y="3310128"/>
            <a:ext cx="5212080" cy="530352"/>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  Every bullet point has at least one sentence.</a:t>
            </a:r>
            <a:endParaRPr lang="en-US" sz="1200" dirty="0"/>
          </a:p>
        </p:txBody>
      </p:sp>
      <p:sp>
        <p:nvSpPr>
          <p:cNvPr id="20" name="Text 17"/>
          <p:cNvSpPr txBox="1"/>
          <p:nvPr/>
        </p:nvSpPr>
        <p:spPr>
          <a:xfrm>
            <a:off x="685800" y="3840480"/>
            <a:ext cx="5212080" cy="530352"/>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  Language from F2-L11 AND F2-L12.</a:t>
            </a:r>
            <a:endParaRPr lang="en-US" sz="1200" dirty="0"/>
          </a:p>
        </p:txBody>
      </p:sp>
      <p:sp>
        <p:nvSpPr>
          <p:cNvPr id="21" name="Text 18"/>
          <p:cNvSpPr txBox="1"/>
          <p:nvPr/>
        </p:nvSpPr>
        <p:spPr>
          <a:xfrm>
            <a:off x="685800" y="4370832"/>
            <a:ext cx="5212080" cy="530352"/>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  Full sentences with the right ending (I · my · he · she).</a:t>
            </a:r>
            <a:endParaRPr lang="en-US" sz="1200" dirty="0"/>
          </a:p>
        </p:txBody>
      </p:sp>
      <p:sp>
        <p:nvSpPr>
          <p:cNvPr id="22" name="Text 19"/>
          <p:cNvSpPr txBox="1"/>
          <p:nvPr/>
        </p:nvSpPr>
        <p:spPr>
          <a:xfrm>
            <a:off x="685800" y="4901184"/>
            <a:ext cx="5212080" cy="530352"/>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  At least one </a:t>
            </a:r>
            <a:pPr algn="l" indent="0" marL="0">
              <a:buNone/>
            </a:pPr>
            <a:r>
              <a:rPr lang="ar-SA" altLang="en-US" sz="1550" dirty="0">
                <a:solidFill>
                  <a:srgbClr val="1F2A37"/>
                </a:solidFill>
                <a:latin typeface="Amiri" pitchFamily="2" charset="-78"/>
                <a:ea typeface="Amiri" pitchFamily="2" charset="-78"/>
                <a:cs typeface="Amiri" pitchFamily="2" charset="-78"/>
              </a:rPr>
              <a:t>وَ</a:t>
            </a:r>
            <a:pPr algn="l" indent="0" marL="0">
              <a:buNone/>
            </a:pPr>
            <a:r>
              <a:rPr lang="en-US" sz="1200" dirty="0">
                <a:solidFill>
                  <a:srgbClr val="1F2A37"/>
                </a:solidFill>
                <a:latin typeface="Calibri" pitchFamily="34" charset="0"/>
                <a:cs typeface="Amiri" pitchFamily="2" charset="-78"/>
              </a:rPr>
              <a:t> and one </a:t>
            </a:r>
            <a:pPr algn="l" indent="0" marL="0">
              <a:buNone/>
            </a:pPr>
            <a:r>
              <a:rPr lang="ar-SA" altLang="en-US" sz="1550" dirty="0">
                <a:solidFill>
                  <a:srgbClr val="1F2A37"/>
                </a:solidFill>
                <a:latin typeface="Amiri" pitchFamily="2" charset="-78"/>
                <a:ea typeface="Amiri" pitchFamily="2" charset="-78"/>
                <a:cs typeface="Amiri" pitchFamily="2" charset="-78"/>
              </a:rPr>
              <a:t>لِأَنَّ</a:t>
            </a:r>
            <a:pPr algn="l" indent="0" marL="0">
              <a:buNone/>
            </a:pPr>
            <a:r>
              <a:rPr lang="en-US" sz="1200" dirty="0">
                <a:solidFill>
                  <a:srgbClr val="1F2A37"/>
                </a:solidFill>
                <a:latin typeface="Calibri" pitchFamily="34" charset="0"/>
                <a:cs typeface="Amiri" pitchFamily="2" charset="-78"/>
              </a:rPr>
              <a:t> (Develop).</a:t>
            </a:r>
            <a:endParaRPr lang="en-US" sz="1200" dirty="0"/>
          </a:p>
        </p:txBody>
      </p:sp>
      <p:sp>
        <p:nvSpPr>
          <p:cNvPr id="23" name="Text 20"/>
          <p:cNvSpPr txBox="1"/>
          <p:nvPr/>
        </p:nvSpPr>
        <p:spPr>
          <a:xfrm>
            <a:off x="685800" y="5431536"/>
            <a:ext cx="5212080" cy="530352"/>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  Buddy check, then fix one thing.</a:t>
            </a:r>
            <a:endParaRPr lang="en-US" sz="1200" dirty="0"/>
          </a:p>
        </p:txBody>
      </p:sp>
      <p:sp>
        <p:nvSpPr>
          <p:cNvPr id="24" name="Shape 21"/>
          <p:cNvSpPr/>
          <p:nvPr/>
        </p:nvSpPr>
        <p:spPr>
          <a:xfrm>
            <a:off x="6217920" y="1810512"/>
            <a:ext cx="5513832" cy="4498848"/>
          </a:xfrm>
          <a:prstGeom prst="roundRect">
            <a:avLst>
              <a:gd name="adj" fmla="val 1626"/>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5" name="Text 22"/>
          <p:cNvSpPr txBox="1"/>
          <p:nvPr/>
        </p:nvSpPr>
        <p:spPr>
          <a:xfrm>
            <a:off x="6400800" y="1901952"/>
            <a:ext cx="5120640" cy="274320"/>
          </a:xfrm>
          <a:prstGeom prst="rect">
            <a:avLst/>
          </a:prstGeom>
          <a:noFill/>
          <a:ln/>
        </p:spPr>
        <p:txBody>
          <a:bodyPr wrap="square" lIns="0" tIns="0" rIns="0" bIns="0" rtlCol="0" anchor="ctr"/>
          <a:lstStyle/>
          <a:p>
            <a:pPr algn="l" indent="0" marL="0">
              <a:buNone/>
            </a:pPr>
            <a:r>
              <a:rPr lang="en-US" sz="950" b="1" spc="100" kern="0" dirty="0">
                <a:solidFill>
                  <a:srgbClr val="8A6D1E"/>
                </a:solidFill>
                <a:latin typeface="Calibri" pitchFamily="34" charset="0"/>
                <a:cs typeface="Amiri" pitchFamily="2" charset="-78"/>
              </a:rPr>
              <a:t>USEFUL LANGUAGE</a:t>
            </a:r>
            <a:endParaRPr lang="en-US" sz="950" dirty="0"/>
          </a:p>
        </p:txBody>
      </p:sp>
      <p:sp>
        <p:nvSpPr>
          <p:cNvPr id="26" name="Text 23"/>
          <p:cNvSpPr txBox="1"/>
          <p:nvPr/>
        </p:nvSpPr>
        <p:spPr>
          <a:xfrm>
            <a:off x="8412480" y="2231136"/>
            <a:ext cx="3154680" cy="40818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الاسْمُ: … · العُمْرُ: … · الجِنْسِيَّةُ: …</a:t>
            </a:r>
            <a:endParaRPr lang="ar-SA" sz="1800" dirty="0"/>
          </a:p>
        </p:txBody>
      </p:sp>
      <p:sp>
        <p:nvSpPr>
          <p:cNvPr id="27" name="Text 24"/>
          <p:cNvSpPr txBox="1"/>
          <p:nvPr/>
        </p:nvSpPr>
        <p:spPr>
          <a:xfrm>
            <a:off x="6400800" y="2560320"/>
            <a:ext cx="5166360" cy="276515"/>
          </a:xfrm>
          <a:prstGeom prst="rect">
            <a:avLst/>
          </a:prstGeom>
          <a:noFill/>
          <a:ln/>
        </p:spPr>
        <p:txBody>
          <a:bodyPr wrap="square" lIns="0" tIns="0" rIns="0" bIns="0" rtlCol="0" anchor="ctr"/>
          <a:lstStyle/>
          <a:p>
            <a:pPr algn="r" indent="0" marL="0">
              <a:buNone/>
            </a:pPr>
            <a:r>
              <a:rPr lang="en-US" sz="1050" i="1" dirty="0">
                <a:solidFill>
                  <a:srgbClr val="5A6472"/>
                </a:solidFill>
                <a:latin typeface="Calibri" pitchFamily="34" charset="0"/>
                <a:cs typeface="Amiri" pitchFamily="2" charset="-78"/>
              </a:rPr>
              <a:t>name: … · age: … · nationality: …</a:t>
            </a:r>
            <a:endParaRPr lang="en-US" sz="1050" dirty="0"/>
          </a:p>
        </p:txBody>
      </p:sp>
      <p:sp>
        <p:nvSpPr>
          <p:cNvPr id="28" name="Text 25"/>
          <p:cNvSpPr txBox="1"/>
          <p:nvPr/>
        </p:nvSpPr>
        <p:spPr>
          <a:xfrm>
            <a:off x="8412480" y="2889504"/>
            <a:ext cx="3154680" cy="40818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أَنَا … ، لٰكِنَّ عَائِلَتِي مِنْ …</a:t>
            </a:r>
            <a:endParaRPr lang="ar-SA" sz="1800" dirty="0"/>
          </a:p>
        </p:txBody>
      </p:sp>
      <p:sp>
        <p:nvSpPr>
          <p:cNvPr id="29" name="Text 26"/>
          <p:cNvSpPr txBox="1"/>
          <p:nvPr/>
        </p:nvSpPr>
        <p:spPr>
          <a:xfrm>
            <a:off x="6400800" y="3218688"/>
            <a:ext cx="5166360" cy="276515"/>
          </a:xfrm>
          <a:prstGeom prst="rect">
            <a:avLst/>
          </a:prstGeom>
          <a:noFill/>
          <a:ln/>
        </p:spPr>
        <p:txBody>
          <a:bodyPr wrap="square" lIns="0" tIns="0" rIns="0" bIns="0" rtlCol="0" anchor="ctr"/>
          <a:lstStyle/>
          <a:p>
            <a:pPr algn="r" indent="0" marL="0">
              <a:buNone/>
            </a:pPr>
            <a:r>
              <a:rPr lang="en-US" sz="1050" i="1" dirty="0">
                <a:solidFill>
                  <a:srgbClr val="5A6472"/>
                </a:solidFill>
                <a:latin typeface="Calibri" pitchFamily="34" charset="0"/>
                <a:cs typeface="Amiri" pitchFamily="2" charset="-78"/>
              </a:rPr>
              <a:t>I am …, but my family is from …</a:t>
            </a:r>
            <a:endParaRPr lang="en-US" sz="1050" dirty="0"/>
          </a:p>
        </p:txBody>
      </p:sp>
      <p:sp>
        <p:nvSpPr>
          <p:cNvPr id="30" name="Text 27"/>
          <p:cNvSpPr txBox="1"/>
          <p:nvPr/>
        </p:nvSpPr>
        <p:spPr>
          <a:xfrm>
            <a:off x="8412480" y="3547872"/>
            <a:ext cx="3154680" cy="40818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صَدِيقِي اسْمُهُ … ، وَعُمْرُهُ …</a:t>
            </a:r>
            <a:endParaRPr lang="ar-SA" sz="1800" dirty="0"/>
          </a:p>
        </p:txBody>
      </p:sp>
      <p:sp>
        <p:nvSpPr>
          <p:cNvPr id="31" name="Text 28"/>
          <p:cNvSpPr txBox="1"/>
          <p:nvPr/>
        </p:nvSpPr>
        <p:spPr>
          <a:xfrm>
            <a:off x="6400800" y="3877056"/>
            <a:ext cx="5166360" cy="276515"/>
          </a:xfrm>
          <a:prstGeom prst="rect">
            <a:avLst/>
          </a:prstGeom>
          <a:noFill/>
          <a:ln/>
        </p:spPr>
        <p:txBody>
          <a:bodyPr wrap="square" lIns="0" tIns="0" rIns="0" bIns="0" rtlCol="0" anchor="ctr"/>
          <a:lstStyle/>
          <a:p>
            <a:pPr algn="r" indent="0" marL="0">
              <a:buNone/>
            </a:pPr>
            <a:r>
              <a:rPr lang="en-US" sz="1050" i="1" dirty="0">
                <a:solidFill>
                  <a:srgbClr val="5A6472"/>
                </a:solidFill>
                <a:latin typeface="Calibri" pitchFamily="34" charset="0"/>
                <a:cs typeface="Amiri" pitchFamily="2" charset="-78"/>
              </a:rPr>
              <a:t>my friend is called … and he is …</a:t>
            </a:r>
            <a:endParaRPr lang="en-US" sz="1050" dirty="0"/>
          </a:p>
        </p:txBody>
      </p:sp>
      <p:sp>
        <p:nvSpPr>
          <p:cNvPr id="32" name="Text 29"/>
          <p:cNvSpPr txBox="1"/>
          <p:nvPr/>
        </p:nvSpPr>
        <p:spPr>
          <a:xfrm>
            <a:off x="8412480" y="4206240"/>
            <a:ext cx="3154680" cy="40818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أُرِيدُ صَدِيقًا بِالمُرَاسَلَةِ لِأَنِّي …</a:t>
            </a:r>
            <a:endParaRPr lang="ar-SA" sz="1800" dirty="0"/>
          </a:p>
        </p:txBody>
      </p:sp>
      <p:sp>
        <p:nvSpPr>
          <p:cNvPr id="33" name="Text 30"/>
          <p:cNvSpPr txBox="1"/>
          <p:nvPr/>
        </p:nvSpPr>
        <p:spPr>
          <a:xfrm>
            <a:off x="6400800" y="4535424"/>
            <a:ext cx="5166360" cy="276515"/>
          </a:xfrm>
          <a:prstGeom prst="rect">
            <a:avLst/>
          </a:prstGeom>
          <a:noFill/>
          <a:ln/>
        </p:spPr>
        <p:txBody>
          <a:bodyPr wrap="square" lIns="0" tIns="0" rIns="0" bIns="0" rtlCol="0" anchor="ctr"/>
          <a:lstStyle/>
          <a:p>
            <a:pPr algn="r" indent="0" marL="0">
              <a:buNone/>
            </a:pPr>
            <a:r>
              <a:rPr lang="en-US" sz="1050" i="1" dirty="0">
                <a:solidFill>
                  <a:srgbClr val="5A6472"/>
                </a:solidFill>
                <a:latin typeface="Calibri" pitchFamily="34" charset="0"/>
                <a:cs typeface="Amiri" pitchFamily="2" charset="-78"/>
              </a:rPr>
              <a:t>I want a pen-friend because I …</a:t>
            </a:r>
            <a:endParaRPr lang="en-US" sz="1050" dirty="0"/>
          </a:p>
        </p:txBody>
      </p:sp>
      <p:sp>
        <p:nvSpPr>
          <p:cNvPr id="34" name="Text 31"/>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19 / 24</a:t>
            </a:r>
            <a:endParaRPr lang="en-US" sz="85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F2-W06 · Apply workshop</a:t>
            </a:r>
            <a:endParaRPr lang="en-US" sz="950" dirty="0"/>
          </a:p>
        </p:txBody>
      </p:sp>
      <p:sp>
        <p:nvSpPr>
          <p:cNvPr id="8" name="Shape 6"/>
          <p:cNvSpPr/>
          <p:nvPr/>
        </p:nvSpPr>
        <p:spPr>
          <a:xfrm>
            <a:off x="7295083" y="274320"/>
            <a:ext cx="1464869"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295083" y="274320"/>
            <a:ext cx="146486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 · 3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E6B52"/>
                </a:solidFill>
                <a:latin typeface="Calibri" pitchFamily="34" charset="0"/>
                <a:cs typeface="Amiri" pitchFamily="2" charset="-78"/>
              </a:rPr>
              <a:t>STEP 9 · BUDDY CHECK · SWAP AND READ YOUR BUDDY’S TEXT</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Buddy check: five points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رَاجِعْ مَعَ زَمِيلِكَ</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F2 · Greetings &amp; Introductions · F2-W06 · Apply workshop (F2-L11 + F2-L12)</a:t>
            </a:r>
            <a:endParaRPr lang="en-US" sz="850" dirty="0"/>
          </a:p>
        </p:txBody>
      </p:sp>
      <p:sp>
        <p:nvSpPr>
          <p:cNvPr id="15" name="Shape 12"/>
          <p:cNvSpPr/>
          <p:nvPr/>
        </p:nvSpPr>
        <p:spPr>
          <a:xfrm>
            <a:off x="457200" y="1810512"/>
            <a:ext cx="11274552" cy="384048"/>
          </a:xfrm>
          <a:prstGeom prst="rect">
            <a:avLst/>
          </a:prstGeom>
          <a:solidFill>
            <a:srgbClr val="1B3B6F"/>
          </a:solidFill>
          <a:ln w="12700">
            <a:solidFill>
              <a:srgbClr val="1B3B6F"/>
            </a:solidFill>
            <a:prstDash val="solid"/>
          </a:ln>
        </p:spPr>
      </p:sp>
      <p:sp>
        <p:nvSpPr>
          <p:cNvPr id="16" name="Text 13"/>
          <p:cNvSpPr txBox="1"/>
          <p:nvPr/>
        </p:nvSpPr>
        <p:spPr>
          <a:xfrm>
            <a:off x="8759952" y="1810512"/>
            <a:ext cx="2898648"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Line / example</a:t>
            </a:r>
            <a:endParaRPr lang="en-US" sz="1100" dirty="0"/>
          </a:p>
        </p:txBody>
      </p:sp>
      <p:sp>
        <p:nvSpPr>
          <p:cNvPr id="17" name="Text 14"/>
          <p:cNvSpPr txBox="1"/>
          <p:nvPr/>
        </p:nvSpPr>
        <p:spPr>
          <a:xfrm>
            <a:off x="7845552" y="1810512"/>
            <a:ext cx="76809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 / ✗</a:t>
            </a:r>
            <a:endParaRPr lang="en-US" sz="1100" dirty="0"/>
          </a:p>
        </p:txBody>
      </p:sp>
      <p:sp>
        <p:nvSpPr>
          <p:cNvPr id="18" name="Text 15"/>
          <p:cNvSpPr txBox="1"/>
          <p:nvPr/>
        </p:nvSpPr>
        <p:spPr>
          <a:xfrm>
            <a:off x="6565392" y="1810512"/>
            <a:ext cx="113385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Route</a:t>
            </a:r>
            <a:endParaRPr lang="en-US" sz="1100" dirty="0"/>
          </a:p>
        </p:txBody>
      </p:sp>
      <p:sp>
        <p:nvSpPr>
          <p:cNvPr id="19" name="Text 16"/>
          <p:cNvSpPr txBox="1"/>
          <p:nvPr/>
        </p:nvSpPr>
        <p:spPr>
          <a:xfrm>
            <a:off x="530352" y="1810512"/>
            <a:ext cx="588873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Did the writer …</a:t>
            </a:r>
            <a:endParaRPr lang="en-US" sz="1100" dirty="0"/>
          </a:p>
        </p:txBody>
      </p:sp>
      <p:sp>
        <p:nvSpPr>
          <p:cNvPr id="20" name="Shape 17"/>
          <p:cNvSpPr/>
          <p:nvPr/>
        </p:nvSpPr>
        <p:spPr>
          <a:xfrm>
            <a:off x="457200" y="2267712"/>
            <a:ext cx="11274552" cy="682142"/>
          </a:xfrm>
          <a:prstGeom prst="roundRect">
            <a:avLst>
              <a:gd name="adj" fmla="val 6702"/>
            </a:avLst>
          </a:prstGeom>
          <a:solidFill>
            <a:srgbClr val="FFFFFF"/>
          </a:solidFill>
          <a:ln w="9525">
            <a:solidFill>
              <a:srgbClr val="D8D0BF"/>
            </a:solidFill>
            <a:prstDash val="solid"/>
          </a:ln>
        </p:spPr>
      </p:sp>
      <p:sp>
        <p:nvSpPr>
          <p:cNvPr id="21" name="Text 18"/>
          <p:cNvSpPr txBox="1"/>
          <p:nvPr/>
        </p:nvSpPr>
        <p:spPr>
          <a:xfrm>
            <a:off x="8796528" y="2267712"/>
            <a:ext cx="2862072" cy="682142"/>
          </a:xfrm>
          <a:prstGeom prst="rect">
            <a:avLst/>
          </a:prstGeom>
          <a:noFill/>
          <a:ln/>
        </p:spPr>
        <p:txBody>
          <a:bodyPr wrap="square" lIns="0" tIns="0" rIns="0" bIns="0" rtlCol="0" anchor="ctr"/>
          <a:lstStyle/>
          <a:p>
            <a:pPr algn="l" indent="0" marL="0">
              <a:buNone/>
            </a:pPr>
            <a:endParaRPr lang="en-US" sz="1100" dirty="0"/>
          </a:p>
        </p:txBody>
      </p:sp>
      <p:sp>
        <p:nvSpPr>
          <p:cNvPr id="22" name="Text 19"/>
          <p:cNvSpPr txBox="1"/>
          <p:nvPr/>
        </p:nvSpPr>
        <p:spPr>
          <a:xfrm>
            <a:off x="7882128" y="2267712"/>
            <a:ext cx="731520" cy="682142"/>
          </a:xfrm>
          <a:prstGeom prst="rect">
            <a:avLst/>
          </a:prstGeom>
          <a:noFill/>
          <a:ln/>
        </p:spPr>
        <p:txBody>
          <a:bodyPr wrap="square" lIns="0" tIns="0" rIns="0" bIns="0" rtlCol="0" anchor="ctr"/>
          <a:lstStyle/>
          <a:p>
            <a:pPr algn="l" indent="0" marL="0">
              <a:buNone/>
            </a:pPr>
            <a:endParaRPr lang="en-US" sz="1100" dirty="0"/>
          </a:p>
        </p:txBody>
      </p:sp>
      <p:sp>
        <p:nvSpPr>
          <p:cNvPr id="23" name="Text 20"/>
          <p:cNvSpPr txBox="1"/>
          <p:nvPr/>
        </p:nvSpPr>
        <p:spPr>
          <a:xfrm>
            <a:off x="6601968" y="2267712"/>
            <a:ext cx="109728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Core</a:t>
            </a:r>
            <a:endParaRPr lang="en-US" sz="1100" dirty="0"/>
          </a:p>
        </p:txBody>
      </p:sp>
      <p:sp>
        <p:nvSpPr>
          <p:cNvPr id="24" name="Text 21"/>
          <p:cNvSpPr txBox="1"/>
          <p:nvPr/>
        </p:nvSpPr>
        <p:spPr>
          <a:xfrm>
            <a:off x="566928" y="2267712"/>
            <a:ext cx="585216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answer EVERY bullet point?</a:t>
            </a:r>
            <a:endParaRPr lang="en-US" sz="1100" dirty="0"/>
          </a:p>
        </p:txBody>
      </p:sp>
      <p:sp>
        <p:nvSpPr>
          <p:cNvPr id="25" name="Shape 22"/>
          <p:cNvSpPr/>
          <p:nvPr/>
        </p:nvSpPr>
        <p:spPr>
          <a:xfrm>
            <a:off x="11091672" y="2313432"/>
            <a:ext cx="548640" cy="182880"/>
          </a:xfrm>
          <a:prstGeom prst="roundRect">
            <a:avLst>
              <a:gd name="adj" fmla="val 50000"/>
            </a:avLst>
          </a:prstGeom>
          <a:solidFill>
            <a:srgbClr val="2E8B57"/>
          </a:solidFill>
          <a:ln w="12700">
            <a:solidFill>
              <a:srgbClr val="2E8B57"/>
            </a:solidFill>
            <a:prstDash val="solid"/>
          </a:ln>
        </p:spPr>
      </p:sp>
      <p:sp>
        <p:nvSpPr>
          <p:cNvPr id="26" name="Text 23"/>
          <p:cNvSpPr txBox="1"/>
          <p:nvPr/>
        </p:nvSpPr>
        <p:spPr>
          <a:xfrm>
            <a:off x="11091672" y="2313432"/>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27" name="Shape 24"/>
          <p:cNvSpPr/>
          <p:nvPr/>
        </p:nvSpPr>
        <p:spPr>
          <a:xfrm>
            <a:off x="457200" y="3004718"/>
            <a:ext cx="11274552" cy="682142"/>
          </a:xfrm>
          <a:prstGeom prst="roundRect">
            <a:avLst>
              <a:gd name="adj" fmla="val 6702"/>
            </a:avLst>
          </a:prstGeom>
          <a:solidFill>
            <a:srgbClr val="F4F1EA"/>
          </a:solidFill>
          <a:ln w="9525">
            <a:solidFill>
              <a:srgbClr val="D8D0BF"/>
            </a:solidFill>
            <a:prstDash val="solid"/>
          </a:ln>
        </p:spPr>
      </p:sp>
      <p:sp>
        <p:nvSpPr>
          <p:cNvPr id="28" name="Text 25"/>
          <p:cNvSpPr txBox="1"/>
          <p:nvPr/>
        </p:nvSpPr>
        <p:spPr>
          <a:xfrm>
            <a:off x="8796528" y="3004718"/>
            <a:ext cx="2862072" cy="682142"/>
          </a:xfrm>
          <a:prstGeom prst="rect">
            <a:avLst/>
          </a:prstGeom>
          <a:noFill/>
          <a:ln/>
        </p:spPr>
        <p:txBody>
          <a:bodyPr wrap="square" lIns="0" tIns="0" rIns="0" bIns="0" rtlCol="0" anchor="ctr"/>
          <a:lstStyle/>
          <a:p>
            <a:pPr algn="l" indent="0" marL="0">
              <a:buNone/>
            </a:pPr>
            <a:endParaRPr lang="en-US" sz="1100" dirty="0"/>
          </a:p>
        </p:txBody>
      </p:sp>
      <p:sp>
        <p:nvSpPr>
          <p:cNvPr id="29" name="Text 26"/>
          <p:cNvSpPr txBox="1"/>
          <p:nvPr/>
        </p:nvSpPr>
        <p:spPr>
          <a:xfrm>
            <a:off x="7882128" y="3004718"/>
            <a:ext cx="731520" cy="682142"/>
          </a:xfrm>
          <a:prstGeom prst="rect">
            <a:avLst/>
          </a:prstGeom>
          <a:noFill/>
          <a:ln/>
        </p:spPr>
        <p:txBody>
          <a:bodyPr wrap="square" lIns="0" tIns="0" rIns="0" bIns="0" rtlCol="0" anchor="ctr"/>
          <a:lstStyle/>
          <a:p>
            <a:pPr algn="l" indent="0" marL="0">
              <a:buNone/>
            </a:pPr>
            <a:endParaRPr lang="en-US" sz="1100" dirty="0"/>
          </a:p>
        </p:txBody>
      </p:sp>
      <p:sp>
        <p:nvSpPr>
          <p:cNvPr id="30" name="Text 27"/>
          <p:cNvSpPr txBox="1"/>
          <p:nvPr/>
        </p:nvSpPr>
        <p:spPr>
          <a:xfrm>
            <a:off x="6601968" y="3004718"/>
            <a:ext cx="109728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Core</a:t>
            </a:r>
            <a:endParaRPr lang="en-US" sz="1100" dirty="0"/>
          </a:p>
        </p:txBody>
      </p:sp>
      <p:sp>
        <p:nvSpPr>
          <p:cNvPr id="31" name="Text 28"/>
          <p:cNvSpPr txBox="1"/>
          <p:nvPr/>
        </p:nvSpPr>
        <p:spPr>
          <a:xfrm>
            <a:off x="566928" y="3004718"/>
            <a:ext cx="585216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answer the form boxes briefly and write the text in full sentences?</a:t>
            </a:r>
            <a:endParaRPr lang="en-US" sz="1100" dirty="0"/>
          </a:p>
        </p:txBody>
      </p:sp>
      <p:sp>
        <p:nvSpPr>
          <p:cNvPr id="32" name="Shape 29"/>
          <p:cNvSpPr/>
          <p:nvPr/>
        </p:nvSpPr>
        <p:spPr>
          <a:xfrm>
            <a:off x="11091672" y="3050438"/>
            <a:ext cx="548640" cy="182880"/>
          </a:xfrm>
          <a:prstGeom prst="roundRect">
            <a:avLst>
              <a:gd name="adj" fmla="val 50000"/>
            </a:avLst>
          </a:prstGeom>
          <a:solidFill>
            <a:srgbClr val="2E8B57"/>
          </a:solidFill>
          <a:ln w="12700">
            <a:solidFill>
              <a:srgbClr val="2E8B57"/>
            </a:solidFill>
            <a:prstDash val="solid"/>
          </a:ln>
        </p:spPr>
      </p:sp>
      <p:sp>
        <p:nvSpPr>
          <p:cNvPr id="33" name="Text 30"/>
          <p:cNvSpPr txBox="1"/>
          <p:nvPr/>
        </p:nvSpPr>
        <p:spPr>
          <a:xfrm>
            <a:off x="11091672" y="3050438"/>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34" name="Shape 31"/>
          <p:cNvSpPr/>
          <p:nvPr/>
        </p:nvSpPr>
        <p:spPr>
          <a:xfrm>
            <a:off x="457200" y="3741725"/>
            <a:ext cx="11274552" cy="682142"/>
          </a:xfrm>
          <a:prstGeom prst="roundRect">
            <a:avLst>
              <a:gd name="adj" fmla="val 6702"/>
            </a:avLst>
          </a:prstGeom>
          <a:solidFill>
            <a:srgbClr val="FFFFFF"/>
          </a:solidFill>
          <a:ln w="9525">
            <a:solidFill>
              <a:srgbClr val="D8D0BF"/>
            </a:solidFill>
            <a:prstDash val="solid"/>
          </a:ln>
        </p:spPr>
      </p:sp>
      <p:sp>
        <p:nvSpPr>
          <p:cNvPr id="35" name="Text 32"/>
          <p:cNvSpPr txBox="1"/>
          <p:nvPr/>
        </p:nvSpPr>
        <p:spPr>
          <a:xfrm>
            <a:off x="8796528" y="3741725"/>
            <a:ext cx="2862072" cy="682142"/>
          </a:xfrm>
          <a:prstGeom prst="rect">
            <a:avLst/>
          </a:prstGeom>
          <a:noFill/>
          <a:ln/>
        </p:spPr>
        <p:txBody>
          <a:bodyPr wrap="square" lIns="0" tIns="0" rIns="0" bIns="0" rtlCol="0" anchor="ctr"/>
          <a:lstStyle/>
          <a:p>
            <a:pPr algn="l" indent="0" marL="0">
              <a:buNone/>
            </a:pPr>
            <a:endParaRPr lang="en-US" sz="1100" dirty="0"/>
          </a:p>
        </p:txBody>
      </p:sp>
      <p:sp>
        <p:nvSpPr>
          <p:cNvPr id="36" name="Text 33"/>
          <p:cNvSpPr txBox="1"/>
          <p:nvPr/>
        </p:nvSpPr>
        <p:spPr>
          <a:xfrm>
            <a:off x="7882128" y="3741725"/>
            <a:ext cx="731520" cy="682142"/>
          </a:xfrm>
          <a:prstGeom prst="rect">
            <a:avLst/>
          </a:prstGeom>
          <a:noFill/>
          <a:ln/>
        </p:spPr>
        <p:txBody>
          <a:bodyPr wrap="square" lIns="0" tIns="0" rIns="0" bIns="0" rtlCol="0" anchor="ctr"/>
          <a:lstStyle/>
          <a:p>
            <a:pPr algn="l" indent="0" marL="0">
              <a:buNone/>
            </a:pPr>
            <a:endParaRPr lang="en-US" sz="1100" dirty="0"/>
          </a:p>
        </p:txBody>
      </p:sp>
      <p:sp>
        <p:nvSpPr>
          <p:cNvPr id="37" name="Text 34"/>
          <p:cNvSpPr txBox="1"/>
          <p:nvPr/>
        </p:nvSpPr>
        <p:spPr>
          <a:xfrm>
            <a:off x="6601968" y="3741725"/>
            <a:ext cx="109728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Develop</a:t>
            </a:r>
            <a:endParaRPr lang="en-US" sz="1100" dirty="0"/>
          </a:p>
        </p:txBody>
      </p:sp>
      <p:sp>
        <p:nvSpPr>
          <p:cNvPr id="38" name="Text 35"/>
          <p:cNvSpPr txBox="1"/>
          <p:nvPr/>
        </p:nvSpPr>
        <p:spPr>
          <a:xfrm>
            <a:off x="566928" y="3741725"/>
            <a:ext cx="585216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use the right endings for I, he and she (</a:t>
            </a:r>
            <a:pPr algn="l" indent="0" marL="0">
              <a:buNone/>
            </a:pPr>
            <a:r>
              <a:rPr lang="ar-SA" altLang="en-US" sz="1450" dirty="0">
                <a:solidFill>
                  <a:srgbClr val="5A6472"/>
                </a:solidFill>
                <a:latin typeface="Amiri" pitchFamily="2" charset="-78"/>
                <a:ea typeface="Amiri" pitchFamily="2" charset="-78"/>
                <a:cs typeface="Amiri" pitchFamily="2" charset="-78"/>
              </a:rPr>
              <a:t>اسْمِي</a:t>
            </a:r>
            <a:pPr algn="l" indent="0" marL="0">
              <a:buNone/>
            </a:pPr>
            <a:r>
              <a:rPr lang="en-US" sz="1100" dirty="0">
                <a:solidFill>
                  <a:srgbClr val="5A6472"/>
                </a:solidFill>
                <a:latin typeface="Calibri" pitchFamily="34" charset="0"/>
                <a:cs typeface="Amiri" pitchFamily="2" charset="-78"/>
              </a:rPr>
              <a:t> · </a:t>
            </a:r>
            <a:pPr algn="l" indent="0" marL="0">
              <a:buNone/>
            </a:pPr>
            <a:r>
              <a:rPr lang="ar-SA" altLang="en-US" sz="1450" dirty="0">
                <a:solidFill>
                  <a:srgbClr val="5A6472"/>
                </a:solidFill>
                <a:latin typeface="Amiri" pitchFamily="2" charset="-78"/>
                <a:ea typeface="Amiri" pitchFamily="2" charset="-78"/>
                <a:cs typeface="Amiri" pitchFamily="2" charset="-78"/>
              </a:rPr>
              <a:t>اسْمُهُ</a:t>
            </a:r>
            <a:pPr algn="l" indent="0" marL="0">
              <a:buNone/>
            </a:pPr>
            <a:r>
              <a:rPr lang="en-US" sz="1100" dirty="0">
                <a:solidFill>
                  <a:srgbClr val="5A6472"/>
                </a:solidFill>
                <a:latin typeface="Calibri" pitchFamily="34" charset="0"/>
                <a:cs typeface="Amiri" pitchFamily="2" charset="-78"/>
              </a:rPr>
              <a:t> · </a:t>
            </a:r>
            <a:pPr algn="l" indent="0" marL="0">
              <a:buNone/>
            </a:pPr>
            <a:r>
              <a:rPr lang="ar-SA" altLang="en-US" sz="1450" dirty="0">
                <a:solidFill>
                  <a:srgbClr val="5A6472"/>
                </a:solidFill>
                <a:latin typeface="Amiri" pitchFamily="2" charset="-78"/>
                <a:ea typeface="Amiri" pitchFamily="2" charset="-78"/>
                <a:cs typeface="Amiri" pitchFamily="2" charset="-78"/>
              </a:rPr>
              <a:t>اسْمُهَا</a:t>
            </a:r>
            <a:pPr algn="l" indent="0" marL="0">
              <a:buNone/>
            </a:pPr>
            <a:r>
              <a:rPr lang="en-US" sz="1100" dirty="0">
                <a:solidFill>
                  <a:srgbClr val="5A6472"/>
                </a:solidFill>
                <a:latin typeface="Calibri" pitchFamily="34" charset="0"/>
                <a:cs typeface="Amiri" pitchFamily="2" charset="-78"/>
              </a:rPr>
              <a:t>)?</a:t>
            </a:r>
            <a:endParaRPr lang="en-US" sz="1100" dirty="0"/>
          </a:p>
        </p:txBody>
      </p:sp>
      <p:sp>
        <p:nvSpPr>
          <p:cNvPr id="39" name="Shape 36"/>
          <p:cNvSpPr/>
          <p:nvPr/>
        </p:nvSpPr>
        <p:spPr>
          <a:xfrm>
            <a:off x="457200" y="4478731"/>
            <a:ext cx="11274552" cy="682142"/>
          </a:xfrm>
          <a:prstGeom prst="roundRect">
            <a:avLst>
              <a:gd name="adj" fmla="val 6702"/>
            </a:avLst>
          </a:prstGeom>
          <a:solidFill>
            <a:srgbClr val="F4F1EA"/>
          </a:solidFill>
          <a:ln w="9525">
            <a:solidFill>
              <a:srgbClr val="D8D0BF"/>
            </a:solidFill>
            <a:prstDash val="solid"/>
          </a:ln>
        </p:spPr>
      </p:sp>
      <p:sp>
        <p:nvSpPr>
          <p:cNvPr id="40" name="Text 37"/>
          <p:cNvSpPr txBox="1"/>
          <p:nvPr/>
        </p:nvSpPr>
        <p:spPr>
          <a:xfrm>
            <a:off x="8796528" y="4478731"/>
            <a:ext cx="2862072" cy="682142"/>
          </a:xfrm>
          <a:prstGeom prst="rect">
            <a:avLst/>
          </a:prstGeom>
          <a:noFill/>
          <a:ln/>
        </p:spPr>
        <p:txBody>
          <a:bodyPr wrap="square" lIns="0" tIns="0" rIns="0" bIns="0" rtlCol="0" anchor="ctr"/>
          <a:lstStyle/>
          <a:p>
            <a:pPr algn="l" indent="0" marL="0">
              <a:buNone/>
            </a:pPr>
            <a:endParaRPr lang="en-US" sz="1100" dirty="0"/>
          </a:p>
        </p:txBody>
      </p:sp>
      <p:sp>
        <p:nvSpPr>
          <p:cNvPr id="41" name="Text 38"/>
          <p:cNvSpPr txBox="1"/>
          <p:nvPr/>
        </p:nvSpPr>
        <p:spPr>
          <a:xfrm>
            <a:off x="7882128" y="4478731"/>
            <a:ext cx="731520" cy="682142"/>
          </a:xfrm>
          <a:prstGeom prst="rect">
            <a:avLst/>
          </a:prstGeom>
          <a:noFill/>
          <a:ln/>
        </p:spPr>
        <p:txBody>
          <a:bodyPr wrap="square" lIns="0" tIns="0" rIns="0" bIns="0" rtlCol="0" anchor="ctr"/>
          <a:lstStyle/>
          <a:p>
            <a:pPr algn="l" indent="0" marL="0">
              <a:buNone/>
            </a:pPr>
            <a:endParaRPr lang="en-US" sz="1100" dirty="0"/>
          </a:p>
        </p:txBody>
      </p:sp>
      <p:sp>
        <p:nvSpPr>
          <p:cNvPr id="42" name="Text 39"/>
          <p:cNvSpPr txBox="1"/>
          <p:nvPr/>
        </p:nvSpPr>
        <p:spPr>
          <a:xfrm>
            <a:off x="6601968" y="4478731"/>
            <a:ext cx="109728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Develop</a:t>
            </a:r>
            <a:endParaRPr lang="en-US" sz="1100" dirty="0"/>
          </a:p>
        </p:txBody>
      </p:sp>
      <p:sp>
        <p:nvSpPr>
          <p:cNvPr id="43" name="Text 40"/>
          <p:cNvSpPr txBox="1"/>
          <p:nvPr/>
        </p:nvSpPr>
        <p:spPr>
          <a:xfrm>
            <a:off x="566928" y="4478731"/>
            <a:ext cx="585216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use linking words (</a:t>
            </a:r>
            <a:pPr algn="l" indent="0" marL="0">
              <a:buNone/>
            </a:pPr>
            <a:r>
              <a:rPr lang="ar-SA" altLang="en-US" sz="1450" dirty="0">
                <a:solidFill>
                  <a:srgbClr val="5A6472"/>
                </a:solidFill>
                <a:latin typeface="Amiri" pitchFamily="2" charset="-78"/>
                <a:ea typeface="Amiri" pitchFamily="2" charset="-78"/>
                <a:cs typeface="Amiri" pitchFamily="2" charset="-78"/>
              </a:rPr>
              <a:t>وَ</a:t>
            </a:r>
            <a:pPr algn="l" indent="0" marL="0">
              <a:buNone/>
            </a:pPr>
            <a:r>
              <a:rPr lang="en-US" sz="1100" dirty="0">
                <a:solidFill>
                  <a:srgbClr val="5A6472"/>
                </a:solidFill>
                <a:latin typeface="Calibri" pitchFamily="34" charset="0"/>
                <a:cs typeface="Amiri" pitchFamily="2" charset="-78"/>
              </a:rPr>
              <a:t> · </a:t>
            </a:r>
            <a:pPr algn="l" indent="0" marL="0">
              <a:buNone/>
            </a:pPr>
            <a:r>
              <a:rPr lang="ar-SA" altLang="en-US" sz="1450" dirty="0">
                <a:solidFill>
                  <a:srgbClr val="5A6472"/>
                </a:solidFill>
                <a:latin typeface="Amiri" pitchFamily="2" charset="-78"/>
                <a:ea typeface="Amiri" pitchFamily="2" charset="-78"/>
                <a:cs typeface="Amiri" pitchFamily="2" charset="-78"/>
              </a:rPr>
              <a:t>ثُمَّ</a:t>
            </a:r>
            <a:pPr algn="l" indent="0" marL="0">
              <a:buNone/>
            </a:pPr>
            <a:r>
              <a:rPr lang="en-US" sz="1100" dirty="0">
                <a:solidFill>
                  <a:srgbClr val="5A6472"/>
                </a:solidFill>
                <a:latin typeface="Calibri" pitchFamily="34" charset="0"/>
                <a:cs typeface="Amiri" pitchFamily="2" charset="-78"/>
              </a:rPr>
              <a:t> · </a:t>
            </a:r>
            <a:pPr algn="l" indent="0" marL="0">
              <a:buNone/>
            </a:pPr>
            <a:r>
              <a:rPr lang="ar-SA" altLang="en-US" sz="1450" dirty="0">
                <a:solidFill>
                  <a:srgbClr val="5A6472"/>
                </a:solidFill>
                <a:latin typeface="Amiri" pitchFamily="2" charset="-78"/>
                <a:ea typeface="Amiri" pitchFamily="2" charset="-78"/>
                <a:cs typeface="Amiri" pitchFamily="2" charset="-78"/>
              </a:rPr>
              <a:t>لِأَنَّ</a:t>
            </a:r>
            <a:pPr algn="l" indent="0" marL="0">
              <a:buNone/>
            </a:pPr>
            <a:r>
              <a:rPr lang="en-US" sz="1100" dirty="0">
                <a:solidFill>
                  <a:srgbClr val="5A6472"/>
                </a:solidFill>
                <a:latin typeface="Calibri" pitchFamily="34" charset="0"/>
                <a:cs typeface="Amiri" pitchFamily="2" charset="-78"/>
              </a:rPr>
              <a:t> · </a:t>
            </a:r>
            <a:pPr algn="l" indent="0" marL="0">
              <a:buNone/>
            </a:pPr>
            <a:r>
              <a:rPr lang="ar-SA" altLang="en-US" sz="1450" dirty="0">
                <a:solidFill>
                  <a:srgbClr val="5A6472"/>
                </a:solidFill>
                <a:latin typeface="Amiri" pitchFamily="2" charset="-78"/>
                <a:ea typeface="Amiri" pitchFamily="2" charset="-78"/>
                <a:cs typeface="Amiri" pitchFamily="2" charset="-78"/>
              </a:rPr>
              <a:t>لٰكِنَّ</a:t>
            </a:r>
            <a:pPr algn="l" indent="0" marL="0">
              <a:buNone/>
            </a:pPr>
            <a:r>
              <a:rPr lang="en-US" sz="1100" dirty="0">
                <a:solidFill>
                  <a:srgbClr val="5A6472"/>
                </a:solidFill>
                <a:latin typeface="Calibri" pitchFamily="34" charset="0"/>
                <a:cs typeface="Amiri" pitchFamily="2" charset="-78"/>
              </a:rPr>
              <a:t>)?</a:t>
            </a:r>
            <a:endParaRPr lang="en-US" sz="1100" dirty="0"/>
          </a:p>
        </p:txBody>
      </p:sp>
      <p:sp>
        <p:nvSpPr>
          <p:cNvPr id="44" name="Shape 41"/>
          <p:cNvSpPr/>
          <p:nvPr/>
        </p:nvSpPr>
        <p:spPr>
          <a:xfrm>
            <a:off x="457200" y="5215738"/>
            <a:ext cx="11274552" cy="682142"/>
          </a:xfrm>
          <a:prstGeom prst="roundRect">
            <a:avLst>
              <a:gd name="adj" fmla="val 6702"/>
            </a:avLst>
          </a:prstGeom>
          <a:solidFill>
            <a:srgbClr val="FFFFFF"/>
          </a:solidFill>
          <a:ln w="9525">
            <a:solidFill>
              <a:srgbClr val="D8D0BF"/>
            </a:solidFill>
            <a:prstDash val="solid"/>
          </a:ln>
        </p:spPr>
      </p:sp>
      <p:sp>
        <p:nvSpPr>
          <p:cNvPr id="45" name="Text 42"/>
          <p:cNvSpPr txBox="1"/>
          <p:nvPr/>
        </p:nvSpPr>
        <p:spPr>
          <a:xfrm>
            <a:off x="8796528" y="5215738"/>
            <a:ext cx="2862072" cy="682142"/>
          </a:xfrm>
          <a:prstGeom prst="rect">
            <a:avLst/>
          </a:prstGeom>
          <a:noFill/>
          <a:ln/>
        </p:spPr>
        <p:txBody>
          <a:bodyPr wrap="square" lIns="0" tIns="0" rIns="0" bIns="0" rtlCol="0" anchor="ctr"/>
          <a:lstStyle/>
          <a:p>
            <a:pPr algn="l" indent="0" marL="0">
              <a:buNone/>
            </a:pPr>
            <a:endParaRPr lang="en-US" sz="1100" dirty="0"/>
          </a:p>
        </p:txBody>
      </p:sp>
      <p:sp>
        <p:nvSpPr>
          <p:cNvPr id="46" name="Text 43"/>
          <p:cNvSpPr txBox="1"/>
          <p:nvPr/>
        </p:nvSpPr>
        <p:spPr>
          <a:xfrm>
            <a:off x="7882128" y="5215738"/>
            <a:ext cx="731520" cy="682142"/>
          </a:xfrm>
          <a:prstGeom prst="rect">
            <a:avLst/>
          </a:prstGeom>
          <a:noFill/>
          <a:ln/>
        </p:spPr>
        <p:txBody>
          <a:bodyPr wrap="square" lIns="0" tIns="0" rIns="0" bIns="0" rtlCol="0" anchor="ctr"/>
          <a:lstStyle/>
          <a:p>
            <a:pPr algn="l" indent="0" marL="0">
              <a:buNone/>
            </a:pPr>
            <a:endParaRPr lang="en-US" sz="1100" dirty="0"/>
          </a:p>
        </p:txBody>
      </p:sp>
      <p:sp>
        <p:nvSpPr>
          <p:cNvPr id="47" name="Text 44"/>
          <p:cNvSpPr txBox="1"/>
          <p:nvPr/>
        </p:nvSpPr>
        <p:spPr>
          <a:xfrm>
            <a:off x="6601968" y="5215738"/>
            <a:ext cx="109728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Stretch</a:t>
            </a:r>
            <a:endParaRPr lang="en-US" sz="1100" dirty="0"/>
          </a:p>
        </p:txBody>
      </p:sp>
      <p:sp>
        <p:nvSpPr>
          <p:cNvPr id="48" name="Text 45"/>
          <p:cNvSpPr txBox="1"/>
          <p:nvPr/>
        </p:nvSpPr>
        <p:spPr>
          <a:xfrm>
            <a:off x="566928" y="5215738"/>
            <a:ext cx="585216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add a reason, a time phrase or an opinion?</a:t>
            </a:r>
            <a:endParaRPr lang="en-US" sz="1100" dirty="0"/>
          </a:p>
        </p:txBody>
      </p:sp>
      <p:sp>
        <p:nvSpPr>
          <p:cNvPr id="49" name="Text 46"/>
          <p:cNvSpPr txBox="1"/>
          <p:nvPr/>
        </p:nvSpPr>
        <p:spPr>
          <a:xfrm>
            <a:off x="457200" y="5943600"/>
            <a:ext cx="11274552" cy="365760"/>
          </a:xfrm>
          <a:prstGeom prst="rect">
            <a:avLst/>
          </a:prstGeom>
          <a:noFill/>
          <a:ln/>
        </p:spPr>
        <p:txBody>
          <a:bodyPr wrap="square" lIns="0" tIns="0" rIns="0" bIns="0" rtlCol="0" anchor="ctr"/>
          <a:lstStyle/>
          <a:p>
            <a:pPr algn="l" indent="0" marL="0">
              <a:buNone/>
            </a:pPr>
            <a:r>
              <a:rPr lang="en-US" sz="1150" b="1" dirty="0">
                <a:solidFill>
                  <a:srgbClr val="1B3B6F"/>
                </a:solidFill>
                <a:latin typeface="Calibri" pitchFamily="34" charset="0"/>
                <a:cs typeface="Amiri" pitchFamily="2" charset="-78"/>
              </a:rPr>
              <a:t>Give back: one thing that went well + one thing to improve. The writer fixes ONE thing straight away.</a:t>
            </a:r>
            <a:endParaRPr lang="en-US" sz="1150" dirty="0"/>
          </a:p>
        </p:txBody>
      </p:sp>
      <p:sp>
        <p:nvSpPr>
          <p:cNvPr id="50" name="Text 47"/>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20 / 24</a:t>
            </a:r>
            <a:endParaRPr lang="en-US" sz="85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F2-W06 · Apply workshop</a:t>
            </a:r>
            <a:endParaRPr lang="en-US" sz="950" dirty="0"/>
          </a:p>
        </p:txBody>
      </p:sp>
      <p:sp>
        <p:nvSpPr>
          <p:cNvPr id="8" name="Shape 6"/>
          <p:cNvSpPr/>
          <p:nvPr/>
        </p:nvSpPr>
        <p:spPr>
          <a:xfrm>
            <a:off x="7143293" y="274320"/>
            <a:ext cx="1616659" cy="329184"/>
          </a:xfrm>
          <a:prstGeom prst="roundRect">
            <a:avLst>
              <a:gd name="adj" fmla="val 50000"/>
            </a:avLst>
          </a:prstGeom>
          <a:solidFill>
            <a:srgbClr val="8A6D1E"/>
          </a:solidFill>
          <a:ln w="12700">
            <a:solidFill>
              <a:srgbClr val="8A6D1E"/>
            </a:solidFill>
            <a:prstDash val="solid"/>
          </a:ln>
        </p:spPr>
      </p:sp>
      <p:sp>
        <p:nvSpPr>
          <p:cNvPr id="9" name="Text 7"/>
          <p:cNvSpPr txBox="1"/>
          <p:nvPr/>
        </p:nvSpPr>
        <p:spPr>
          <a:xfrm>
            <a:off x="7143293" y="274320"/>
            <a:ext cx="161665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FEEDBACK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8A6D1E"/>
                </a:solidFill>
                <a:latin typeface="Calibri" pitchFamily="34" charset="0"/>
                <a:cs typeface="Amiri" pitchFamily="2" charset="-78"/>
              </a:rPr>
              <a:t>CHECK YOURSELF · ROLE-PLAY CARD</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050" b="1" dirty="0">
                <a:solidFill>
                  <a:srgbClr val="1B3B6F"/>
                </a:solidFill>
                <a:latin typeface="Cambria" pitchFamily="34" charset="0"/>
                <a:cs typeface="Amiri" pitchFamily="2" charset="-78"/>
              </a:rPr>
              <a:t>Role-play card: compare with a strong answer</a:t>
            </a:r>
            <a:endParaRPr lang="en-US" sz="205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قَارِنْ إِجَابَتَكَ</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F2 · Greetings &amp; Introductions · F2-W06 · Apply workshop (F2-L11 + F2-L12)</a:t>
            </a:r>
            <a:endParaRPr lang="en-US" sz="850" dirty="0"/>
          </a:p>
        </p:txBody>
      </p:sp>
      <p:sp>
        <p:nvSpPr>
          <p:cNvPr id="15" name="Shape 12"/>
          <p:cNvSpPr/>
          <p:nvPr/>
        </p:nvSpPr>
        <p:spPr>
          <a:xfrm>
            <a:off x="457200" y="1810512"/>
            <a:ext cx="11274552" cy="384048"/>
          </a:xfrm>
          <a:prstGeom prst="rect">
            <a:avLst/>
          </a:prstGeom>
          <a:solidFill>
            <a:srgbClr val="1B3B6F"/>
          </a:solidFill>
          <a:ln w="12700">
            <a:solidFill>
              <a:srgbClr val="1B3B6F"/>
            </a:solidFill>
            <a:prstDash val="solid"/>
          </a:ln>
        </p:spPr>
      </p:sp>
      <p:sp>
        <p:nvSpPr>
          <p:cNvPr id="16" name="Text 13"/>
          <p:cNvSpPr txBox="1"/>
          <p:nvPr/>
        </p:nvSpPr>
        <p:spPr>
          <a:xfrm>
            <a:off x="4782312" y="1810512"/>
            <a:ext cx="6876288"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A strong answer (with English)</a:t>
            </a:r>
            <a:endParaRPr lang="en-US" sz="1100" dirty="0"/>
          </a:p>
        </p:txBody>
      </p:sp>
      <p:sp>
        <p:nvSpPr>
          <p:cNvPr id="17" name="Text 14"/>
          <p:cNvSpPr txBox="1"/>
          <p:nvPr/>
        </p:nvSpPr>
        <p:spPr>
          <a:xfrm>
            <a:off x="1033272" y="1810512"/>
            <a:ext cx="360273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Partner A reads</a:t>
            </a:r>
            <a:endParaRPr lang="en-US" sz="1100" dirty="0"/>
          </a:p>
        </p:txBody>
      </p:sp>
      <p:sp>
        <p:nvSpPr>
          <p:cNvPr id="18" name="Text 15"/>
          <p:cNvSpPr txBox="1"/>
          <p:nvPr/>
        </p:nvSpPr>
        <p:spPr>
          <a:xfrm>
            <a:off x="530352" y="1810512"/>
            <a:ext cx="35661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a:t>
            </a:r>
            <a:endParaRPr lang="en-US" sz="1100" dirty="0"/>
          </a:p>
        </p:txBody>
      </p:sp>
      <p:sp>
        <p:nvSpPr>
          <p:cNvPr id="19" name="Shape 16"/>
          <p:cNvSpPr/>
          <p:nvPr/>
        </p:nvSpPr>
        <p:spPr>
          <a:xfrm>
            <a:off x="457200" y="2267712"/>
            <a:ext cx="11274552" cy="682142"/>
          </a:xfrm>
          <a:prstGeom prst="roundRect">
            <a:avLst>
              <a:gd name="adj" fmla="val 6702"/>
            </a:avLst>
          </a:prstGeom>
          <a:solidFill>
            <a:srgbClr val="FFFFFF"/>
          </a:solidFill>
          <a:ln w="9525">
            <a:solidFill>
              <a:srgbClr val="D8D0BF"/>
            </a:solidFill>
            <a:prstDash val="solid"/>
          </a:ln>
        </p:spPr>
      </p:sp>
      <p:sp>
        <p:nvSpPr>
          <p:cNvPr id="20" name="Text 17"/>
          <p:cNvSpPr txBox="1"/>
          <p:nvPr/>
        </p:nvSpPr>
        <p:spPr>
          <a:xfrm>
            <a:off x="4800600" y="2286000"/>
            <a:ext cx="6839712" cy="422928"/>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اسْمِي دَاوُدُ، وَعُمْرِي أَرْبَعَ عَشْرَةَ سَنَةً.</a:t>
            </a:r>
            <a:endParaRPr lang="ar-SA" sz="1800" dirty="0"/>
          </a:p>
        </p:txBody>
      </p:sp>
      <p:sp>
        <p:nvSpPr>
          <p:cNvPr id="21" name="Text 18"/>
          <p:cNvSpPr txBox="1"/>
          <p:nvPr/>
        </p:nvSpPr>
        <p:spPr>
          <a:xfrm>
            <a:off x="4754880" y="2676997"/>
            <a:ext cx="6931152" cy="259214"/>
          </a:xfrm>
          <a:prstGeom prst="rect">
            <a:avLst/>
          </a:prstGeom>
          <a:noFill/>
          <a:ln/>
        </p:spPr>
        <p:txBody>
          <a:bodyPr wrap="square" lIns="0" tIns="0" rIns="0" bIns="0" rtlCol="0" anchor="ctr"/>
          <a:lstStyle/>
          <a:p>
            <a:pPr algn="ctr" indent="0" marL="0">
              <a:buNone/>
            </a:pPr>
            <a:r>
              <a:rPr lang="en-US" sz="950" i="1" dirty="0">
                <a:solidFill>
                  <a:srgbClr val="5A6472"/>
                </a:solidFill>
                <a:latin typeface="Calibri" pitchFamily="34" charset="0"/>
                <a:cs typeface="Amiri" pitchFamily="2" charset="-78"/>
              </a:rPr>
              <a:t>My name is Dawud, and I am fourteen.</a:t>
            </a:r>
            <a:endParaRPr lang="en-US" sz="950" dirty="0"/>
          </a:p>
        </p:txBody>
      </p:sp>
      <p:sp>
        <p:nvSpPr>
          <p:cNvPr id="22" name="Text 19"/>
          <p:cNvSpPr txBox="1"/>
          <p:nvPr/>
        </p:nvSpPr>
        <p:spPr>
          <a:xfrm>
            <a:off x="1051560" y="2267712"/>
            <a:ext cx="3566160" cy="682142"/>
          </a:xfrm>
          <a:prstGeom prst="rect">
            <a:avLst/>
          </a:prstGeom>
          <a:noFill/>
          <a:ln/>
        </p:spPr>
        <p:txBody>
          <a:bodyPr wrap="square" lIns="0" tIns="0" rIns="0" bIns="0" rtlCol="0" anchor="ctr"/>
          <a:lstStyle/>
          <a:p>
            <a:pPr rtl="1" algn="ctr" indent="0" marL="0">
              <a:buNone/>
            </a:pPr>
            <a:r>
              <a:rPr lang="ar-SA" altLang="en-US" sz="1600" b="1" dirty="0">
                <a:solidFill>
                  <a:srgbClr val="1B3B6F"/>
                </a:solidFill>
                <a:latin typeface="Amiri" pitchFamily="2" charset="-78"/>
                <a:ea typeface="Amiri" pitchFamily="2" charset="-78"/>
                <a:cs typeface="Amiri" pitchFamily="2" charset="-78"/>
              </a:rPr>
              <a:t>أَهْلًا! مَا اسْمُكَ، وَكَمْ عُمْرُكَ؟</a:t>
            </a:r>
            <a:endParaRPr lang="ar-SA" sz="1600" dirty="0"/>
          </a:p>
        </p:txBody>
      </p:sp>
      <p:sp>
        <p:nvSpPr>
          <p:cNvPr id="23" name="Text 20"/>
          <p:cNvSpPr txBox="1"/>
          <p:nvPr/>
        </p:nvSpPr>
        <p:spPr>
          <a:xfrm>
            <a:off x="566928" y="2267712"/>
            <a:ext cx="32004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1</a:t>
            </a:r>
            <a:endParaRPr lang="en-US" sz="1100" dirty="0"/>
          </a:p>
        </p:txBody>
      </p:sp>
      <p:sp>
        <p:nvSpPr>
          <p:cNvPr id="24" name="Shape 21"/>
          <p:cNvSpPr/>
          <p:nvPr/>
        </p:nvSpPr>
        <p:spPr>
          <a:xfrm>
            <a:off x="457200" y="3004718"/>
            <a:ext cx="11274552" cy="682142"/>
          </a:xfrm>
          <a:prstGeom prst="roundRect">
            <a:avLst>
              <a:gd name="adj" fmla="val 6702"/>
            </a:avLst>
          </a:prstGeom>
          <a:solidFill>
            <a:srgbClr val="F4F1EA"/>
          </a:solidFill>
          <a:ln w="9525">
            <a:solidFill>
              <a:srgbClr val="D8D0BF"/>
            </a:solidFill>
            <a:prstDash val="solid"/>
          </a:ln>
        </p:spPr>
      </p:sp>
      <p:sp>
        <p:nvSpPr>
          <p:cNvPr id="25" name="Text 22"/>
          <p:cNvSpPr txBox="1"/>
          <p:nvPr/>
        </p:nvSpPr>
        <p:spPr>
          <a:xfrm>
            <a:off x="4800600" y="3023006"/>
            <a:ext cx="6839712" cy="422928"/>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أَنَا بِرِيطَانِيٌّ، لٰكِنَّ عَائِلَتِي مِنَ السُّودَانِ، وَأَسْكُنُ فِي كَارْدِيف.</a:t>
            </a:r>
            <a:endParaRPr lang="ar-SA" sz="1800" dirty="0"/>
          </a:p>
        </p:txBody>
      </p:sp>
      <p:sp>
        <p:nvSpPr>
          <p:cNvPr id="26" name="Text 23"/>
          <p:cNvSpPr txBox="1"/>
          <p:nvPr/>
        </p:nvSpPr>
        <p:spPr>
          <a:xfrm>
            <a:off x="4754880" y="3414004"/>
            <a:ext cx="6931152" cy="259214"/>
          </a:xfrm>
          <a:prstGeom prst="rect">
            <a:avLst/>
          </a:prstGeom>
          <a:noFill/>
          <a:ln/>
        </p:spPr>
        <p:txBody>
          <a:bodyPr wrap="square" lIns="0" tIns="0" rIns="0" bIns="0" rtlCol="0" anchor="ctr"/>
          <a:lstStyle/>
          <a:p>
            <a:pPr algn="ctr" indent="0" marL="0">
              <a:buNone/>
            </a:pPr>
            <a:r>
              <a:rPr lang="en-US" sz="950" i="1" dirty="0">
                <a:solidFill>
                  <a:srgbClr val="5A6472"/>
                </a:solidFill>
                <a:latin typeface="Calibri" pitchFamily="34" charset="0"/>
                <a:cs typeface="Amiri" pitchFamily="2" charset="-78"/>
              </a:rPr>
              <a:t>I am British, but my family is from Sudan, and I live in Cardiff.</a:t>
            </a:r>
            <a:endParaRPr lang="en-US" sz="950" dirty="0"/>
          </a:p>
        </p:txBody>
      </p:sp>
      <p:sp>
        <p:nvSpPr>
          <p:cNvPr id="27" name="Text 24"/>
          <p:cNvSpPr txBox="1"/>
          <p:nvPr/>
        </p:nvSpPr>
        <p:spPr>
          <a:xfrm>
            <a:off x="1051560" y="3004718"/>
            <a:ext cx="3566160" cy="682142"/>
          </a:xfrm>
          <a:prstGeom prst="rect">
            <a:avLst/>
          </a:prstGeom>
          <a:noFill/>
          <a:ln/>
        </p:spPr>
        <p:txBody>
          <a:bodyPr wrap="square" lIns="0" tIns="0" rIns="0" bIns="0" rtlCol="0" anchor="ctr"/>
          <a:lstStyle/>
          <a:p>
            <a:pPr rtl="1" algn="ctr" indent="0" marL="0">
              <a:buNone/>
            </a:pPr>
            <a:r>
              <a:rPr lang="ar-SA" altLang="en-US" sz="1600" b="1" dirty="0">
                <a:solidFill>
                  <a:srgbClr val="1B3B6F"/>
                </a:solidFill>
                <a:latin typeface="Amiri" pitchFamily="2" charset="-78"/>
                <a:ea typeface="Amiri" pitchFamily="2" charset="-78"/>
                <a:cs typeface="Amiri" pitchFamily="2" charset="-78"/>
              </a:rPr>
              <a:t>مَا جِنْسِيَّتُكَ، وَأَيْنَ تَسْكُنُ؟</a:t>
            </a:r>
            <a:endParaRPr lang="ar-SA" sz="1600" dirty="0"/>
          </a:p>
        </p:txBody>
      </p:sp>
      <p:sp>
        <p:nvSpPr>
          <p:cNvPr id="28" name="Text 25"/>
          <p:cNvSpPr txBox="1"/>
          <p:nvPr/>
        </p:nvSpPr>
        <p:spPr>
          <a:xfrm>
            <a:off x="566928" y="3004718"/>
            <a:ext cx="32004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2</a:t>
            </a:r>
            <a:endParaRPr lang="en-US" sz="1100" dirty="0"/>
          </a:p>
        </p:txBody>
      </p:sp>
      <p:sp>
        <p:nvSpPr>
          <p:cNvPr id="29" name="Shape 26"/>
          <p:cNvSpPr/>
          <p:nvPr/>
        </p:nvSpPr>
        <p:spPr>
          <a:xfrm>
            <a:off x="457200" y="3741725"/>
            <a:ext cx="11274552" cy="682142"/>
          </a:xfrm>
          <a:prstGeom prst="roundRect">
            <a:avLst>
              <a:gd name="adj" fmla="val 6702"/>
            </a:avLst>
          </a:prstGeom>
          <a:solidFill>
            <a:srgbClr val="FFFFFF"/>
          </a:solidFill>
          <a:ln w="9525">
            <a:solidFill>
              <a:srgbClr val="D8D0BF"/>
            </a:solidFill>
            <a:prstDash val="solid"/>
          </a:ln>
        </p:spPr>
      </p:sp>
      <p:sp>
        <p:nvSpPr>
          <p:cNvPr id="30" name="Text 27"/>
          <p:cNvSpPr txBox="1"/>
          <p:nvPr/>
        </p:nvSpPr>
        <p:spPr>
          <a:xfrm>
            <a:off x="4800600" y="3760013"/>
            <a:ext cx="6839712" cy="422928"/>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أَتَكَلَّمُ الإِنْجِلِيزِيَّةَ، وَالعَرَبِيَّةَ أَيْضًا.</a:t>
            </a:r>
            <a:endParaRPr lang="ar-SA" sz="1800" dirty="0"/>
          </a:p>
        </p:txBody>
      </p:sp>
      <p:sp>
        <p:nvSpPr>
          <p:cNvPr id="31" name="Text 28"/>
          <p:cNvSpPr txBox="1"/>
          <p:nvPr/>
        </p:nvSpPr>
        <p:spPr>
          <a:xfrm>
            <a:off x="4754880" y="4151010"/>
            <a:ext cx="6931152" cy="259214"/>
          </a:xfrm>
          <a:prstGeom prst="rect">
            <a:avLst/>
          </a:prstGeom>
          <a:noFill/>
          <a:ln/>
        </p:spPr>
        <p:txBody>
          <a:bodyPr wrap="square" lIns="0" tIns="0" rIns="0" bIns="0" rtlCol="0" anchor="ctr"/>
          <a:lstStyle/>
          <a:p>
            <a:pPr algn="ctr" indent="0" marL="0">
              <a:buNone/>
            </a:pPr>
            <a:r>
              <a:rPr lang="en-US" sz="950" i="1" dirty="0">
                <a:solidFill>
                  <a:srgbClr val="5A6472"/>
                </a:solidFill>
                <a:latin typeface="Calibri" pitchFamily="34" charset="0"/>
                <a:cs typeface="Amiri" pitchFamily="2" charset="-78"/>
              </a:rPr>
              <a:t>I speak English, and Arabic too.</a:t>
            </a:r>
            <a:endParaRPr lang="en-US" sz="950" dirty="0"/>
          </a:p>
        </p:txBody>
      </p:sp>
      <p:sp>
        <p:nvSpPr>
          <p:cNvPr id="32" name="Text 29"/>
          <p:cNvSpPr txBox="1"/>
          <p:nvPr/>
        </p:nvSpPr>
        <p:spPr>
          <a:xfrm>
            <a:off x="1051560" y="3741725"/>
            <a:ext cx="3566160" cy="682142"/>
          </a:xfrm>
          <a:prstGeom prst="rect">
            <a:avLst/>
          </a:prstGeom>
          <a:noFill/>
          <a:ln/>
        </p:spPr>
        <p:txBody>
          <a:bodyPr wrap="square" lIns="0" tIns="0" rIns="0" bIns="0" rtlCol="0" anchor="ctr"/>
          <a:lstStyle/>
          <a:p>
            <a:pPr rtl="1" algn="ctr" indent="0" marL="0">
              <a:buNone/>
            </a:pPr>
            <a:r>
              <a:rPr lang="ar-SA" altLang="en-US" sz="1600" b="1" dirty="0">
                <a:solidFill>
                  <a:srgbClr val="1B3B6F"/>
                </a:solidFill>
                <a:latin typeface="Amiri" pitchFamily="2" charset="-78"/>
                <a:ea typeface="Amiri" pitchFamily="2" charset="-78"/>
                <a:cs typeface="Amiri" pitchFamily="2" charset="-78"/>
              </a:rPr>
              <a:t>أَيَّ لُغَاتٍ تَتَكَلَّمُ؟</a:t>
            </a:r>
            <a:endParaRPr lang="ar-SA" sz="1600" dirty="0"/>
          </a:p>
        </p:txBody>
      </p:sp>
      <p:sp>
        <p:nvSpPr>
          <p:cNvPr id="33" name="Text 30"/>
          <p:cNvSpPr txBox="1"/>
          <p:nvPr/>
        </p:nvSpPr>
        <p:spPr>
          <a:xfrm>
            <a:off x="566928" y="3741725"/>
            <a:ext cx="32004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3</a:t>
            </a:r>
            <a:endParaRPr lang="en-US" sz="1100" dirty="0"/>
          </a:p>
        </p:txBody>
      </p:sp>
      <p:sp>
        <p:nvSpPr>
          <p:cNvPr id="34" name="Shape 31"/>
          <p:cNvSpPr/>
          <p:nvPr/>
        </p:nvSpPr>
        <p:spPr>
          <a:xfrm>
            <a:off x="457200" y="4478731"/>
            <a:ext cx="11274552" cy="682142"/>
          </a:xfrm>
          <a:prstGeom prst="roundRect">
            <a:avLst>
              <a:gd name="adj" fmla="val 6702"/>
            </a:avLst>
          </a:prstGeom>
          <a:solidFill>
            <a:srgbClr val="F4F1EA"/>
          </a:solidFill>
          <a:ln w="9525">
            <a:solidFill>
              <a:srgbClr val="D8D0BF"/>
            </a:solidFill>
            <a:prstDash val="solid"/>
          </a:ln>
        </p:spPr>
      </p:sp>
      <p:sp>
        <p:nvSpPr>
          <p:cNvPr id="35" name="Text 32"/>
          <p:cNvSpPr txBox="1"/>
          <p:nvPr/>
        </p:nvSpPr>
        <p:spPr>
          <a:xfrm>
            <a:off x="4800600" y="4497019"/>
            <a:ext cx="6839712" cy="422928"/>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صَدِيقِي اسْمُهُ بِلَالٌ، عُمْرُهُ ثَلَاثَ عَشْرَةَ سَنَةً، يَسْكُنُ فِي كَارْدِيف، وَهُوَ لَطِيفٌ جِدًّا.</a:t>
            </a:r>
            <a:endParaRPr lang="ar-SA" sz="1800" dirty="0"/>
          </a:p>
        </p:txBody>
      </p:sp>
      <p:sp>
        <p:nvSpPr>
          <p:cNvPr id="36" name="Text 33"/>
          <p:cNvSpPr txBox="1"/>
          <p:nvPr/>
        </p:nvSpPr>
        <p:spPr>
          <a:xfrm>
            <a:off x="4754880" y="4888017"/>
            <a:ext cx="6931152" cy="259214"/>
          </a:xfrm>
          <a:prstGeom prst="rect">
            <a:avLst/>
          </a:prstGeom>
          <a:noFill/>
          <a:ln/>
        </p:spPr>
        <p:txBody>
          <a:bodyPr wrap="square" lIns="0" tIns="0" rIns="0" bIns="0" rtlCol="0" anchor="ctr"/>
          <a:lstStyle/>
          <a:p>
            <a:pPr algn="ctr" indent="0" marL="0">
              <a:buNone/>
            </a:pPr>
            <a:r>
              <a:rPr lang="en-US" sz="950" i="1" dirty="0">
                <a:solidFill>
                  <a:srgbClr val="5A6472"/>
                </a:solidFill>
                <a:latin typeface="Calibri" pitchFamily="34" charset="0"/>
                <a:cs typeface="Amiri" pitchFamily="2" charset="-78"/>
              </a:rPr>
              <a:t>My friend is called Bilal; he is thirteen, he lives in Cardiff, and he is very kind.</a:t>
            </a:r>
            <a:endParaRPr lang="en-US" sz="950" dirty="0"/>
          </a:p>
        </p:txBody>
      </p:sp>
      <p:sp>
        <p:nvSpPr>
          <p:cNvPr id="37" name="Text 34"/>
          <p:cNvSpPr txBox="1"/>
          <p:nvPr/>
        </p:nvSpPr>
        <p:spPr>
          <a:xfrm>
            <a:off x="1051560" y="4478731"/>
            <a:ext cx="3566160" cy="682142"/>
          </a:xfrm>
          <a:prstGeom prst="rect">
            <a:avLst/>
          </a:prstGeom>
          <a:noFill/>
          <a:ln/>
        </p:spPr>
        <p:txBody>
          <a:bodyPr wrap="square" lIns="0" tIns="0" rIns="0" bIns="0" rtlCol="0" anchor="ctr"/>
          <a:lstStyle/>
          <a:p>
            <a:pPr rtl="1" algn="ctr" indent="0" marL="0">
              <a:buNone/>
            </a:pPr>
            <a:r>
              <a:rPr lang="ar-SA" altLang="en-US" sz="1600" b="1" dirty="0">
                <a:solidFill>
                  <a:srgbClr val="1B3B6F"/>
                </a:solidFill>
                <a:latin typeface="Amiri" pitchFamily="2" charset="-78"/>
                <a:ea typeface="Amiri" pitchFamily="2" charset="-78"/>
                <a:cs typeface="Amiri" pitchFamily="2" charset="-78"/>
              </a:rPr>
              <a:t>حَدِّثْنِي عَنْ صَدِيقٍ أَوْ صَدِيقَةٍ.</a:t>
            </a:r>
            <a:endParaRPr lang="ar-SA" sz="1600" dirty="0"/>
          </a:p>
        </p:txBody>
      </p:sp>
      <p:sp>
        <p:nvSpPr>
          <p:cNvPr id="38" name="Text 35"/>
          <p:cNvSpPr txBox="1"/>
          <p:nvPr/>
        </p:nvSpPr>
        <p:spPr>
          <a:xfrm>
            <a:off x="566928" y="4478731"/>
            <a:ext cx="32004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4</a:t>
            </a:r>
            <a:endParaRPr lang="en-US" sz="1100" dirty="0"/>
          </a:p>
        </p:txBody>
      </p:sp>
      <p:sp>
        <p:nvSpPr>
          <p:cNvPr id="39" name="Shape 36"/>
          <p:cNvSpPr/>
          <p:nvPr/>
        </p:nvSpPr>
        <p:spPr>
          <a:xfrm>
            <a:off x="457200" y="5215738"/>
            <a:ext cx="11274552" cy="682142"/>
          </a:xfrm>
          <a:prstGeom prst="roundRect">
            <a:avLst>
              <a:gd name="adj" fmla="val 6702"/>
            </a:avLst>
          </a:prstGeom>
          <a:solidFill>
            <a:srgbClr val="FFFFFF"/>
          </a:solidFill>
          <a:ln w="9525">
            <a:solidFill>
              <a:srgbClr val="D8D0BF"/>
            </a:solidFill>
            <a:prstDash val="solid"/>
          </a:ln>
        </p:spPr>
      </p:sp>
      <p:sp>
        <p:nvSpPr>
          <p:cNvPr id="40" name="Text 37"/>
          <p:cNvSpPr txBox="1"/>
          <p:nvPr/>
        </p:nvSpPr>
        <p:spPr>
          <a:xfrm>
            <a:off x="4800600" y="5234026"/>
            <a:ext cx="6839712" cy="422928"/>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أُرِيدُ صَدِيقًا بِالمُرَاسَلَةِ لِأَنِّي أُحِبُّ اللُّغَةَ العَرَبِيَّةَ.</a:t>
            </a:r>
            <a:endParaRPr lang="ar-SA" sz="1800" dirty="0"/>
          </a:p>
        </p:txBody>
      </p:sp>
      <p:sp>
        <p:nvSpPr>
          <p:cNvPr id="41" name="Text 38"/>
          <p:cNvSpPr txBox="1"/>
          <p:nvPr/>
        </p:nvSpPr>
        <p:spPr>
          <a:xfrm>
            <a:off x="4754880" y="5625023"/>
            <a:ext cx="6931152" cy="259214"/>
          </a:xfrm>
          <a:prstGeom prst="rect">
            <a:avLst/>
          </a:prstGeom>
          <a:noFill/>
          <a:ln/>
        </p:spPr>
        <p:txBody>
          <a:bodyPr wrap="square" lIns="0" tIns="0" rIns="0" bIns="0" rtlCol="0" anchor="ctr"/>
          <a:lstStyle/>
          <a:p>
            <a:pPr algn="ctr" indent="0" marL="0">
              <a:buNone/>
            </a:pPr>
            <a:r>
              <a:rPr lang="en-US" sz="950" i="1" dirty="0">
                <a:solidFill>
                  <a:srgbClr val="5A6472"/>
                </a:solidFill>
                <a:latin typeface="Calibri" pitchFamily="34" charset="0"/>
                <a:cs typeface="Amiri" pitchFamily="2" charset="-78"/>
              </a:rPr>
              <a:t>I want a pen-friend because I love the Arabic language.</a:t>
            </a:r>
            <a:endParaRPr lang="en-US" sz="950" dirty="0"/>
          </a:p>
        </p:txBody>
      </p:sp>
      <p:sp>
        <p:nvSpPr>
          <p:cNvPr id="42" name="Text 39"/>
          <p:cNvSpPr txBox="1"/>
          <p:nvPr/>
        </p:nvSpPr>
        <p:spPr>
          <a:xfrm>
            <a:off x="1051560" y="5215738"/>
            <a:ext cx="3566160" cy="682142"/>
          </a:xfrm>
          <a:prstGeom prst="rect">
            <a:avLst/>
          </a:prstGeom>
          <a:noFill/>
          <a:ln/>
        </p:spPr>
        <p:txBody>
          <a:bodyPr wrap="square" lIns="0" tIns="0" rIns="0" bIns="0" rtlCol="0" anchor="ctr"/>
          <a:lstStyle/>
          <a:p>
            <a:pPr rtl="1" algn="ctr" indent="0" marL="0">
              <a:buNone/>
            </a:pPr>
            <a:r>
              <a:rPr lang="ar-SA" altLang="en-US" sz="1600" b="1" dirty="0">
                <a:solidFill>
                  <a:srgbClr val="1B3B6F"/>
                </a:solidFill>
                <a:latin typeface="Amiri" pitchFamily="2" charset="-78"/>
                <a:ea typeface="Amiri" pitchFamily="2" charset="-78"/>
                <a:cs typeface="Amiri" pitchFamily="2" charset="-78"/>
              </a:rPr>
              <a:t>لِمَاذَا تُرِيدُ صَدِيقًا بِالمُرَاسَلَةِ؟</a:t>
            </a:r>
            <a:endParaRPr lang="ar-SA" sz="1600" dirty="0"/>
          </a:p>
        </p:txBody>
      </p:sp>
      <p:sp>
        <p:nvSpPr>
          <p:cNvPr id="43" name="Text 40"/>
          <p:cNvSpPr txBox="1"/>
          <p:nvPr/>
        </p:nvSpPr>
        <p:spPr>
          <a:xfrm>
            <a:off x="566928" y="5215738"/>
            <a:ext cx="32004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5</a:t>
            </a:r>
            <a:endParaRPr lang="en-US" sz="1100" dirty="0"/>
          </a:p>
        </p:txBody>
      </p:sp>
      <p:sp>
        <p:nvSpPr>
          <p:cNvPr id="44" name="Text 41"/>
          <p:cNvSpPr txBox="1"/>
          <p:nvPr/>
        </p:nvSpPr>
        <p:spPr>
          <a:xfrm>
            <a:off x="457200" y="5943600"/>
            <a:ext cx="11274552" cy="365760"/>
          </a:xfrm>
          <a:prstGeom prst="rect">
            <a:avLst/>
          </a:prstGeom>
          <a:noFill/>
          <a:ln/>
        </p:spPr>
        <p:txBody>
          <a:bodyPr wrap="square" lIns="0" tIns="0" rIns="0" bIns="0" rtlCol="0" anchor="ctr"/>
          <a:lstStyle/>
          <a:p>
            <a:pPr algn="l" indent="0" marL="0">
              <a:buNone/>
            </a:pPr>
            <a:r>
              <a:rPr lang="en-US" sz="1150" b="1" dirty="0">
                <a:solidFill>
                  <a:srgbClr val="1B3B6F"/>
                </a:solidFill>
                <a:latin typeface="Calibri" pitchFamily="34" charset="0"/>
                <a:cs typeface="Amiri" pitchFamily="2" charset="-78"/>
              </a:rPr>
              <a:t>Did you answer every task in a full sentence? Find one phrase from each lesson in the models and say it aloud.</a:t>
            </a:r>
            <a:endParaRPr lang="en-US" sz="1150" dirty="0"/>
          </a:p>
        </p:txBody>
      </p:sp>
      <p:sp>
        <p:nvSpPr>
          <p:cNvPr id="45" name="Text 42"/>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21 / 24</a:t>
            </a:r>
            <a:endParaRPr lang="en-US" sz="85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F2-W06 · Apply workshop</a:t>
            </a:r>
            <a:endParaRPr lang="en-US" sz="950" dirty="0"/>
          </a:p>
        </p:txBody>
      </p:sp>
      <p:sp>
        <p:nvSpPr>
          <p:cNvPr id="8" name="Shape 6"/>
          <p:cNvSpPr/>
          <p:nvPr/>
        </p:nvSpPr>
        <p:spPr>
          <a:xfrm>
            <a:off x="7143293" y="274320"/>
            <a:ext cx="1616659" cy="329184"/>
          </a:xfrm>
          <a:prstGeom prst="roundRect">
            <a:avLst>
              <a:gd name="adj" fmla="val 50000"/>
            </a:avLst>
          </a:prstGeom>
          <a:solidFill>
            <a:srgbClr val="8A6D1E"/>
          </a:solidFill>
          <a:ln w="12700">
            <a:solidFill>
              <a:srgbClr val="8A6D1E"/>
            </a:solidFill>
            <a:prstDash val="solid"/>
          </a:ln>
        </p:spPr>
      </p:sp>
      <p:sp>
        <p:nvSpPr>
          <p:cNvPr id="9" name="Text 7"/>
          <p:cNvSpPr txBox="1"/>
          <p:nvPr/>
        </p:nvSpPr>
        <p:spPr>
          <a:xfrm>
            <a:off x="7143293" y="274320"/>
            <a:ext cx="161665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FEEDBACK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8A6D1E"/>
                </a:solidFill>
                <a:latin typeface="Calibri" pitchFamily="34" charset="0"/>
                <a:cs typeface="Amiri" pitchFamily="2" charset="-78"/>
              </a:rPr>
              <a:t>CHECK YOURSELF · WRITE YOUR TEXT · A STRONG ANSWER</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400" b="1" dirty="0">
                <a:solidFill>
                  <a:srgbClr val="1B3B6F"/>
                </a:solidFill>
                <a:latin typeface="Cambria" pitchFamily="34" charset="0"/>
                <a:cs typeface="Amiri" pitchFamily="2" charset="-78"/>
              </a:rPr>
              <a:t>Writing: compare with a strong answer</a:t>
            </a:r>
            <a:endParaRPr lang="en-US" sz="24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قَارِنْ إِجَابَتَكَ</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F2 · Greetings &amp; Introductions · F2-W06 · Apply workshop (F2-L11 + F2-L12)</a:t>
            </a:r>
            <a:endParaRPr lang="en-US" sz="850" dirty="0"/>
          </a:p>
        </p:txBody>
      </p:sp>
      <p:sp>
        <p:nvSpPr>
          <p:cNvPr id="15" name="Shape 12"/>
          <p:cNvSpPr/>
          <p:nvPr/>
        </p:nvSpPr>
        <p:spPr>
          <a:xfrm>
            <a:off x="457200" y="1810512"/>
            <a:ext cx="11274552" cy="3246120"/>
          </a:xfrm>
          <a:prstGeom prst="roundRect">
            <a:avLst>
              <a:gd name="adj" fmla="val 225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Text 13"/>
          <p:cNvSpPr txBox="1"/>
          <p:nvPr/>
        </p:nvSpPr>
        <p:spPr>
          <a:xfrm>
            <a:off x="685800" y="1938528"/>
            <a:ext cx="10817352" cy="2990088"/>
          </a:xfrm>
          <a:prstGeom prst="rect">
            <a:avLst/>
          </a:prstGeom>
          <a:noFill/>
          <a:ln/>
        </p:spPr>
        <p:txBody>
          <a:bodyPr wrap="square" lIns="0" tIns="0" rIns="0" bIns="0" rtlCol="0" anchor="ctr"/>
          <a:lstStyle/>
          <a:p>
            <a:pPr rtl="1" algn="r" indent="0" marL="0">
              <a:lnSpc>
                <a:spcPct val="120000"/>
              </a:lnSpc>
              <a:buNone/>
            </a:pPr>
            <a:r>
              <a:rPr lang="ar-SA" altLang="en-US" sz="2600" dirty="0">
                <a:solidFill>
                  <a:srgbClr val="1F2A37"/>
                </a:solidFill>
                <a:latin typeface="Amiri" pitchFamily="2" charset="-78"/>
                <a:ea typeface="Amiri" pitchFamily="2" charset="-78"/>
                <a:cs typeface="Amiri" pitchFamily="2" charset="-78"/>
              </a:rPr>
              <a:t>السَّلَامُ عَلَيْكُمْ! اسْمِي هِنْدٌ، وَعُمْرِي ثَلَاثَ عَشْرَةَ سَنَةً. أَنَا بِرِيطَانِيَّةٌ، لٰكِنَّ عَائِلَتِي مِنْ لِيبِيَا، وَأَسْكُنُ فِي مَانْشِسْتَرَ. أَتَكَلَّمُ الإِنْجِلِيزِيَّةَ، وَالعَرَبِيَّةَ أَيْضًا. صَدِيقَتِي اسْمُهَا آمِنَةُ، وَعُمْرُهَا أَرْبَعَ عَشْرَةَ سَنَةً، وَهِيَ لَطِيفَةٌ جِدًّا. أُرِيدُ صَدِيقَةً بِالمُرَاسَلَةِ لِأَنِّي أُحِبُّ اللُّغَةَ العَرَبِيَّةَ، وَأُرِيدُ أَنْ أَتَكَلَّمَ كَثِيرًا. شُكْرًا، وَمَعَ السَّلَامَةِ!</a:t>
            </a:r>
            <a:endParaRPr lang="ar-SA" sz="2600" dirty="0"/>
          </a:p>
        </p:txBody>
      </p:sp>
      <p:sp>
        <p:nvSpPr>
          <p:cNvPr id="17" name="Shape 14"/>
          <p:cNvSpPr/>
          <p:nvPr/>
        </p:nvSpPr>
        <p:spPr>
          <a:xfrm>
            <a:off x="457200" y="5166360"/>
            <a:ext cx="11274552" cy="1024128"/>
          </a:xfrm>
          <a:prstGeom prst="roundRect">
            <a:avLst>
              <a:gd name="adj" fmla="val 7143"/>
            </a:avLst>
          </a:prstGeom>
          <a:solidFill>
            <a:srgbClr val="F4F1EA"/>
          </a:solidFill>
          <a:ln w="9525">
            <a:solidFill>
              <a:srgbClr val="F4F1EA"/>
            </a:solidFill>
            <a:prstDash val="solid"/>
          </a:ln>
        </p:spPr>
      </p:sp>
      <p:sp>
        <p:nvSpPr>
          <p:cNvPr id="18" name="Text 15"/>
          <p:cNvSpPr txBox="1"/>
          <p:nvPr/>
        </p:nvSpPr>
        <p:spPr>
          <a:xfrm>
            <a:off x="640080" y="5202936"/>
            <a:ext cx="10908792" cy="950976"/>
          </a:xfrm>
          <a:prstGeom prst="rect">
            <a:avLst/>
          </a:prstGeom>
          <a:noFill/>
          <a:ln/>
        </p:spPr>
        <p:txBody>
          <a:bodyPr wrap="square" lIns="0" tIns="0" rIns="0" bIns="0" rtlCol="0" anchor="t"/>
          <a:lstStyle/>
          <a:p>
            <a:pPr algn="l" indent="0" marL="0">
              <a:buNone/>
            </a:pPr>
            <a:r>
              <a:rPr lang="en-US" sz="1150" i="1" dirty="0">
                <a:solidFill>
                  <a:srgbClr val="5A6472"/>
                </a:solidFill>
                <a:latin typeface="Calibri" pitchFamily="34" charset="0"/>
                <a:cs typeface="Amiri" pitchFamily="2" charset="-78"/>
              </a:rPr>
              <a:t>“Peace be upon you! My name is Hind, and I am thirteen. I am British, but my family is from Libya, and I live in Manchester. I speak English, and Arabic too. My friend is called Amina; she is fourteen, and she is very kind. I want a (girl) pen-friend because I love the Arabic language, and I want to speak a lot. Thank you, and goodbye!”</a:t>
            </a:r>
            <a:endParaRPr lang="en-US" sz="1150" dirty="0"/>
          </a:p>
        </p:txBody>
      </p:sp>
      <p:sp>
        <p:nvSpPr>
          <p:cNvPr id="19" name="Text 16"/>
          <p:cNvSpPr txBox="1"/>
          <p:nvPr/>
        </p:nvSpPr>
        <p:spPr>
          <a:xfrm>
            <a:off x="457200" y="6053328"/>
            <a:ext cx="2194560" cy="256032"/>
          </a:xfrm>
          <a:prstGeom prst="rect">
            <a:avLst/>
          </a:prstGeom>
          <a:noFill/>
          <a:ln/>
        </p:spPr>
        <p:txBody>
          <a:bodyPr wrap="square" lIns="0" tIns="0" rIns="0" bIns="0" rtlCol="0" anchor="ctr"/>
          <a:lstStyle/>
          <a:p>
            <a:pPr algn="l" indent="0" marL="0">
              <a:buNone/>
            </a:pPr>
            <a:r>
              <a:rPr lang="en-US" sz="950" b="1" spc="200" kern="0" dirty="0">
                <a:solidFill>
                  <a:srgbClr val="8A6D1E"/>
                </a:solidFill>
                <a:latin typeface="Calibri" pitchFamily="34" charset="0"/>
                <a:cs typeface="Amiri" pitchFamily="2" charset="-78"/>
              </a:rPr>
              <a:t>FIND IN THE MODEL:</a:t>
            </a:r>
            <a:endParaRPr lang="en-US" sz="950" dirty="0"/>
          </a:p>
        </p:txBody>
      </p:sp>
      <p:sp>
        <p:nvSpPr>
          <p:cNvPr id="20" name="Shape 17"/>
          <p:cNvSpPr/>
          <p:nvPr/>
        </p:nvSpPr>
        <p:spPr>
          <a:xfrm>
            <a:off x="2697480" y="6035040"/>
            <a:ext cx="2148840" cy="274320"/>
          </a:xfrm>
          <a:prstGeom prst="roundRect">
            <a:avLst>
              <a:gd name="adj" fmla="val 50000"/>
            </a:avLst>
          </a:prstGeom>
          <a:solidFill>
            <a:srgbClr val="1D5FBF"/>
          </a:solidFill>
          <a:ln w="12700">
            <a:solidFill>
              <a:srgbClr val="1D5FBF"/>
            </a:solidFill>
            <a:prstDash val="solid"/>
          </a:ln>
        </p:spPr>
      </p:sp>
      <p:sp>
        <p:nvSpPr>
          <p:cNvPr id="21" name="Text 18"/>
          <p:cNvSpPr txBox="1"/>
          <p:nvPr/>
        </p:nvSpPr>
        <p:spPr>
          <a:xfrm>
            <a:off x="2697480" y="6035040"/>
            <a:ext cx="2148840" cy="274320"/>
          </a:xfrm>
          <a:prstGeom prst="rect">
            <a:avLst/>
          </a:prstGeom>
          <a:noFill/>
          <a:ln/>
        </p:spPr>
        <p:txBody>
          <a:bodyPr wrap="square" lIns="0" tIns="0" rIns="0" bIns="0" rtlCol="0" anchor="ctr"/>
          <a:lstStyle/>
          <a:p>
            <a:pPr algn="ctr" indent="0" marL="0">
              <a:buNone/>
            </a:pPr>
            <a:r>
              <a:rPr lang="ar-SA" sz="950" b="1" dirty="0">
                <a:solidFill>
                  <a:srgbClr val="FFFFFF"/>
                </a:solidFill>
                <a:latin typeface="Amiri" pitchFamily="2" charset="-78"/>
                <a:ea typeface="Amiri" pitchFamily="2" charset="-78"/>
                <a:cs typeface="Amiri" pitchFamily="2" charset="-78"/>
              </a:rPr>
              <a:t>لٰكِنَّ عَائِلَتِي مِنْ لِيبِيَا</a:t>
            </a:r>
            <a:endParaRPr lang="en-US" sz="950" dirty="0"/>
          </a:p>
        </p:txBody>
      </p:sp>
      <p:sp>
        <p:nvSpPr>
          <p:cNvPr id="22" name="Shape 19"/>
          <p:cNvSpPr/>
          <p:nvPr/>
        </p:nvSpPr>
        <p:spPr>
          <a:xfrm>
            <a:off x="4983480" y="6035040"/>
            <a:ext cx="2148840" cy="274320"/>
          </a:xfrm>
          <a:prstGeom prst="roundRect">
            <a:avLst>
              <a:gd name="adj" fmla="val 50000"/>
            </a:avLst>
          </a:prstGeom>
          <a:solidFill>
            <a:srgbClr val="1B3B6F"/>
          </a:solidFill>
          <a:ln w="12700">
            <a:solidFill>
              <a:srgbClr val="1B3B6F"/>
            </a:solidFill>
            <a:prstDash val="solid"/>
          </a:ln>
        </p:spPr>
      </p:sp>
      <p:sp>
        <p:nvSpPr>
          <p:cNvPr id="23" name="Text 20"/>
          <p:cNvSpPr txBox="1"/>
          <p:nvPr/>
        </p:nvSpPr>
        <p:spPr>
          <a:xfrm>
            <a:off x="4983480" y="6035040"/>
            <a:ext cx="2148840" cy="274320"/>
          </a:xfrm>
          <a:prstGeom prst="rect">
            <a:avLst/>
          </a:prstGeom>
          <a:noFill/>
          <a:ln/>
        </p:spPr>
        <p:txBody>
          <a:bodyPr wrap="square" lIns="0" tIns="0" rIns="0" bIns="0" rtlCol="0" anchor="ctr"/>
          <a:lstStyle/>
          <a:p>
            <a:pPr algn="ctr" indent="0" marL="0">
              <a:buNone/>
            </a:pPr>
            <a:r>
              <a:rPr lang="ar-SA" sz="950" b="1" dirty="0">
                <a:solidFill>
                  <a:srgbClr val="FFFFFF"/>
                </a:solidFill>
                <a:latin typeface="Amiri" pitchFamily="2" charset="-78"/>
                <a:ea typeface="Amiri" pitchFamily="2" charset="-78"/>
                <a:cs typeface="Amiri" pitchFamily="2" charset="-78"/>
              </a:rPr>
              <a:t>وَالعَرَبِيَّةَ أَيْضًا</a:t>
            </a:r>
            <a:endParaRPr lang="en-US" sz="950" dirty="0"/>
          </a:p>
        </p:txBody>
      </p:sp>
      <p:sp>
        <p:nvSpPr>
          <p:cNvPr id="24" name="Shape 21"/>
          <p:cNvSpPr/>
          <p:nvPr/>
        </p:nvSpPr>
        <p:spPr>
          <a:xfrm>
            <a:off x="7269480" y="6035040"/>
            <a:ext cx="2148840" cy="274320"/>
          </a:xfrm>
          <a:prstGeom prst="roundRect">
            <a:avLst>
              <a:gd name="adj" fmla="val 50000"/>
            </a:avLst>
          </a:prstGeom>
          <a:solidFill>
            <a:srgbClr val="C77700"/>
          </a:solidFill>
          <a:ln w="12700">
            <a:solidFill>
              <a:srgbClr val="C77700"/>
            </a:solidFill>
            <a:prstDash val="solid"/>
          </a:ln>
        </p:spPr>
      </p:sp>
      <p:sp>
        <p:nvSpPr>
          <p:cNvPr id="25" name="Text 22"/>
          <p:cNvSpPr txBox="1"/>
          <p:nvPr/>
        </p:nvSpPr>
        <p:spPr>
          <a:xfrm>
            <a:off x="7269480" y="6035040"/>
            <a:ext cx="2148840" cy="274320"/>
          </a:xfrm>
          <a:prstGeom prst="rect">
            <a:avLst/>
          </a:prstGeom>
          <a:noFill/>
          <a:ln/>
        </p:spPr>
        <p:txBody>
          <a:bodyPr wrap="square" lIns="0" tIns="0" rIns="0" bIns="0" rtlCol="0" anchor="ctr"/>
          <a:lstStyle/>
          <a:p>
            <a:pPr algn="ctr" indent="0" marL="0">
              <a:buNone/>
            </a:pPr>
            <a:r>
              <a:rPr lang="ar-SA" sz="950" b="1" dirty="0">
                <a:solidFill>
                  <a:srgbClr val="FFFFFF"/>
                </a:solidFill>
                <a:latin typeface="Amiri" pitchFamily="2" charset="-78"/>
                <a:ea typeface="Amiri" pitchFamily="2" charset="-78"/>
                <a:cs typeface="Amiri" pitchFamily="2" charset="-78"/>
              </a:rPr>
              <a:t>اسْمُهَا آمِنَةُ</a:t>
            </a:r>
            <a:endParaRPr lang="en-US" sz="950" dirty="0"/>
          </a:p>
        </p:txBody>
      </p:sp>
      <p:sp>
        <p:nvSpPr>
          <p:cNvPr id="26" name="Shape 23"/>
          <p:cNvSpPr/>
          <p:nvPr/>
        </p:nvSpPr>
        <p:spPr>
          <a:xfrm>
            <a:off x="9555480" y="6035040"/>
            <a:ext cx="2148840" cy="274320"/>
          </a:xfrm>
          <a:prstGeom prst="roundRect">
            <a:avLst>
              <a:gd name="adj" fmla="val 50000"/>
            </a:avLst>
          </a:prstGeom>
          <a:solidFill>
            <a:srgbClr val="7B3FA0"/>
          </a:solidFill>
          <a:ln w="12700">
            <a:solidFill>
              <a:srgbClr val="7B3FA0"/>
            </a:solidFill>
            <a:prstDash val="solid"/>
          </a:ln>
        </p:spPr>
      </p:sp>
      <p:sp>
        <p:nvSpPr>
          <p:cNvPr id="27" name="Text 24"/>
          <p:cNvSpPr txBox="1"/>
          <p:nvPr/>
        </p:nvSpPr>
        <p:spPr>
          <a:xfrm>
            <a:off x="9555480" y="6035040"/>
            <a:ext cx="2148840" cy="274320"/>
          </a:xfrm>
          <a:prstGeom prst="rect">
            <a:avLst/>
          </a:prstGeom>
          <a:noFill/>
          <a:ln/>
        </p:spPr>
        <p:txBody>
          <a:bodyPr wrap="square" lIns="0" tIns="0" rIns="0" bIns="0" rtlCol="0" anchor="ctr"/>
          <a:lstStyle/>
          <a:p>
            <a:pPr algn="ctr" indent="0" marL="0">
              <a:buNone/>
            </a:pPr>
            <a:r>
              <a:rPr lang="ar-SA" sz="950" b="1" dirty="0">
                <a:solidFill>
                  <a:srgbClr val="FFFFFF"/>
                </a:solidFill>
                <a:latin typeface="Amiri" pitchFamily="2" charset="-78"/>
                <a:ea typeface="Amiri" pitchFamily="2" charset="-78"/>
                <a:cs typeface="Amiri" pitchFamily="2" charset="-78"/>
              </a:rPr>
              <a:t>لِأَنِّي أُحِبُّ</a:t>
            </a:r>
            <a:endParaRPr lang="en-US" sz="950" dirty="0"/>
          </a:p>
        </p:txBody>
      </p:sp>
      <p:sp>
        <p:nvSpPr>
          <p:cNvPr id="28" name="Text 25"/>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22 / 24</a:t>
            </a:r>
            <a:endParaRPr lang="en-US" sz="85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F2-W06 · Apply workshop</a:t>
            </a:r>
            <a:endParaRPr lang="en-US" sz="950" dirty="0"/>
          </a:p>
        </p:txBody>
      </p:sp>
      <p:sp>
        <p:nvSpPr>
          <p:cNvPr id="8" name="Shape 6"/>
          <p:cNvSpPr/>
          <p:nvPr/>
        </p:nvSpPr>
        <p:spPr>
          <a:xfrm>
            <a:off x="7143293" y="274320"/>
            <a:ext cx="1616659" cy="329184"/>
          </a:xfrm>
          <a:prstGeom prst="roundRect">
            <a:avLst>
              <a:gd name="adj" fmla="val 50000"/>
            </a:avLst>
          </a:prstGeom>
          <a:solidFill>
            <a:srgbClr val="8A6D1E"/>
          </a:solidFill>
          <a:ln w="12700">
            <a:solidFill>
              <a:srgbClr val="8A6D1E"/>
            </a:solidFill>
            <a:prstDash val="solid"/>
          </a:ln>
        </p:spPr>
      </p:sp>
      <p:sp>
        <p:nvSpPr>
          <p:cNvPr id="9" name="Text 7"/>
          <p:cNvSpPr txBox="1"/>
          <p:nvPr/>
        </p:nvSpPr>
        <p:spPr>
          <a:xfrm>
            <a:off x="7143293" y="274320"/>
            <a:ext cx="161665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FEEDBACK · 1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8A6D1E"/>
                </a:solidFill>
                <a:latin typeface="Calibri" pitchFamily="34" charset="0"/>
                <a:cs typeface="Amiri" pitchFamily="2" charset="-78"/>
              </a:rPr>
              <a:t>FEEDBACK · SUCCESS CRITERIA</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Check your work</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قَيِّمْ عَمَلَكَ</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F2 · Greetings &amp; Introductions · F2-W06 · Apply workshop (F2-L11 + F2-L12)</a:t>
            </a:r>
            <a:endParaRPr lang="en-US" sz="850" dirty="0"/>
          </a:p>
        </p:txBody>
      </p:sp>
      <p:sp>
        <p:nvSpPr>
          <p:cNvPr id="15" name="Shape 12"/>
          <p:cNvSpPr/>
          <p:nvPr/>
        </p:nvSpPr>
        <p:spPr>
          <a:xfrm>
            <a:off x="457200" y="1810512"/>
            <a:ext cx="7406640" cy="771754"/>
          </a:xfrm>
          <a:prstGeom prst="roundRect">
            <a:avLst>
              <a:gd name="adj" fmla="val 9479"/>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685800" y="2086661"/>
            <a:ext cx="219456" cy="219456"/>
          </a:xfrm>
          <a:prstGeom prst="rect">
            <a:avLst/>
          </a:prstGeom>
          <a:solidFill>
            <a:srgbClr val="FFFFFF"/>
          </a:solidFill>
          <a:ln w="19050">
            <a:solidFill>
              <a:srgbClr val="2E8B57"/>
            </a:solidFill>
            <a:prstDash val="solid"/>
          </a:ln>
        </p:spPr>
      </p:sp>
      <p:sp>
        <p:nvSpPr>
          <p:cNvPr id="17" name="Text 14"/>
          <p:cNvSpPr txBox="1"/>
          <p:nvPr/>
        </p:nvSpPr>
        <p:spPr>
          <a:xfrm>
            <a:off x="1097280" y="1810512"/>
            <a:ext cx="5394960" cy="771754"/>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I answered questions from F2-L11 and F2-L12 in full sentences.</a:t>
            </a:r>
            <a:endParaRPr lang="en-US" sz="1300" dirty="0"/>
          </a:p>
        </p:txBody>
      </p:sp>
      <p:sp>
        <p:nvSpPr>
          <p:cNvPr id="18" name="Shape 15"/>
          <p:cNvSpPr/>
          <p:nvPr/>
        </p:nvSpPr>
        <p:spPr>
          <a:xfrm>
            <a:off x="6583680" y="2068373"/>
            <a:ext cx="1097280" cy="256032"/>
          </a:xfrm>
          <a:prstGeom prst="roundRect">
            <a:avLst>
              <a:gd name="adj" fmla="val 50000"/>
            </a:avLst>
          </a:prstGeom>
          <a:solidFill>
            <a:srgbClr val="2E8B57"/>
          </a:solidFill>
          <a:ln w="12700">
            <a:solidFill>
              <a:srgbClr val="2E8B57"/>
            </a:solidFill>
            <a:prstDash val="solid"/>
          </a:ln>
        </p:spPr>
      </p:sp>
      <p:sp>
        <p:nvSpPr>
          <p:cNvPr id="19" name="Text 16"/>
          <p:cNvSpPr txBox="1"/>
          <p:nvPr/>
        </p:nvSpPr>
        <p:spPr>
          <a:xfrm>
            <a:off x="6583680" y="2068373"/>
            <a:ext cx="109728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20" name="Shape 17"/>
          <p:cNvSpPr/>
          <p:nvPr/>
        </p:nvSpPr>
        <p:spPr>
          <a:xfrm>
            <a:off x="457200" y="2710282"/>
            <a:ext cx="7406640" cy="771754"/>
          </a:xfrm>
          <a:prstGeom prst="roundRect">
            <a:avLst>
              <a:gd name="adj" fmla="val 9479"/>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1" name="Shape 18"/>
          <p:cNvSpPr/>
          <p:nvPr/>
        </p:nvSpPr>
        <p:spPr>
          <a:xfrm>
            <a:off x="685800" y="2986430"/>
            <a:ext cx="219456" cy="219456"/>
          </a:xfrm>
          <a:prstGeom prst="rect">
            <a:avLst/>
          </a:prstGeom>
          <a:solidFill>
            <a:srgbClr val="FFFFFF"/>
          </a:solidFill>
          <a:ln w="19050">
            <a:solidFill>
              <a:srgbClr val="2E8B57"/>
            </a:solidFill>
            <a:prstDash val="solid"/>
          </a:ln>
        </p:spPr>
      </p:sp>
      <p:sp>
        <p:nvSpPr>
          <p:cNvPr id="22" name="Text 19"/>
          <p:cNvSpPr txBox="1"/>
          <p:nvPr/>
        </p:nvSpPr>
        <p:spPr>
          <a:xfrm>
            <a:off x="1097280" y="2710282"/>
            <a:ext cx="5394960" cy="771754"/>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I wrote a sentence for every bullet point.</a:t>
            </a:r>
            <a:endParaRPr lang="en-US" sz="1300" dirty="0"/>
          </a:p>
        </p:txBody>
      </p:sp>
      <p:sp>
        <p:nvSpPr>
          <p:cNvPr id="23" name="Shape 20"/>
          <p:cNvSpPr/>
          <p:nvPr/>
        </p:nvSpPr>
        <p:spPr>
          <a:xfrm>
            <a:off x="6583680" y="2968142"/>
            <a:ext cx="1097280" cy="256032"/>
          </a:xfrm>
          <a:prstGeom prst="roundRect">
            <a:avLst>
              <a:gd name="adj" fmla="val 50000"/>
            </a:avLst>
          </a:prstGeom>
          <a:solidFill>
            <a:srgbClr val="2E8B57"/>
          </a:solidFill>
          <a:ln w="12700">
            <a:solidFill>
              <a:srgbClr val="2E8B57"/>
            </a:solidFill>
            <a:prstDash val="solid"/>
          </a:ln>
        </p:spPr>
      </p:sp>
      <p:sp>
        <p:nvSpPr>
          <p:cNvPr id="24" name="Text 21"/>
          <p:cNvSpPr txBox="1"/>
          <p:nvPr/>
        </p:nvSpPr>
        <p:spPr>
          <a:xfrm>
            <a:off x="6583680" y="2968142"/>
            <a:ext cx="109728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25" name="Shape 22"/>
          <p:cNvSpPr/>
          <p:nvPr/>
        </p:nvSpPr>
        <p:spPr>
          <a:xfrm>
            <a:off x="457200" y="3610051"/>
            <a:ext cx="7406640" cy="771754"/>
          </a:xfrm>
          <a:prstGeom prst="roundRect">
            <a:avLst>
              <a:gd name="adj" fmla="val 9479"/>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6" name="Shape 23"/>
          <p:cNvSpPr/>
          <p:nvPr/>
        </p:nvSpPr>
        <p:spPr>
          <a:xfrm>
            <a:off x="685800" y="3886200"/>
            <a:ext cx="219456" cy="219456"/>
          </a:xfrm>
          <a:prstGeom prst="rect">
            <a:avLst/>
          </a:prstGeom>
          <a:solidFill>
            <a:srgbClr val="FFFFFF"/>
          </a:solidFill>
          <a:ln w="19050">
            <a:solidFill>
              <a:srgbClr val="C9780A"/>
            </a:solidFill>
            <a:prstDash val="solid"/>
          </a:ln>
        </p:spPr>
      </p:sp>
      <p:sp>
        <p:nvSpPr>
          <p:cNvPr id="27" name="Text 24"/>
          <p:cNvSpPr txBox="1"/>
          <p:nvPr/>
        </p:nvSpPr>
        <p:spPr>
          <a:xfrm>
            <a:off x="1097280" y="3610051"/>
            <a:ext cx="5394960" cy="771754"/>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I used language from BOTH lessons when I spoke and when I wrote.</a:t>
            </a:r>
            <a:endParaRPr lang="en-US" sz="1300" dirty="0"/>
          </a:p>
        </p:txBody>
      </p:sp>
      <p:sp>
        <p:nvSpPr>
          <p:cNvPr id="28" name="Shape 25"/>
          <p:cNvSpPr/>
          <p:nvPr/>
        </p:nvSpPr>
        <p:spPr>
          <a:xfrm>
            <a:off x="6583680" y="3867912"/>
            <a:ext cx="1097280" cy="256032"/>
          </a:xfrm>
          <a:prstGeom prst="roundRect">
            <a:avLst>
              <a:gd name="adj" fmla="val 50000"/>
            </a:avLst>
          </a:prstGeom>
          <a:solidFill>
            <a:srgbClr val="C9780A"/>
          </a:solidFill>
          <a:ln w="12700">
            <a:solidFill>
              <a:srgbClr val="C9780A"/>
            </a:solidFill>
            <a:prstDash val="solid"/>
          </a:ln>
        </p:spPr>
      </p:sp>
      <p:sp>
        <p:nvSpPr>
          <p:cNvPr id="29" name="Text 26"/>
          <p:cNvSpPr txBox="1"/>
          <p:nvPr/>
        </p:nvSpPr>
        <p:spPr>
          <a:xfrm>
            <a:off x="6583680" y="3867912"/>
            <a:ext cx="109728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DEVELOP</a:t>
            </a:r>
            <a:endParaRPr lang="en-US" sz="800" dirty="0"/>
          </a:p>
        </p:txBody>
      </p:sp>
      <p:sp>
        <p:nvSpPr>
          <p:cNvPr id="30" name="Shape 27"/>
          <p:cNvSpPr/>
          <p:nvPr/>
        </p:nvSpPr>
        <p:spPr>
          <a:xfrm>
            <a:off x="457200" y="4509821"/>
            <a:ext cx="7406640" cy="771754"/>
          </a:xfrm>
          <a:prstGeom prst="roundRect">
            <a:avLst>
              <a:gd name="adj" fmla="val 9479"/>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1" name="Shape 28"/>
          <p:cNvSpPr/>
          <p:nvPr/>
        </p:nvSpPr>
        <p:spPr>
          <a:xfrm>
            <a:off x="685800" y="4785970"/>
            <a:ext cx="219456" cy="219456"/>
          </a:xfrm>
          <a:prstGeom prst="rect">
            <a:avLst/>
          </a:prstGeom>
          <a:solidFill>
            <a:srgbClr val="FFFFFF"/>
          </a:solidFill>
          <a:ln w="19050">
            <a:solidFill>
              <a:srgbClr val="C9780A"/>
            </a:solidFill>
            <a:prstDash val="solid"/>
          </a:ln>
        </p:spPr>
      </p:sp>
      <p:sp>
        <p:nvSpPr>
          <p:cNvPr id="32" name="Text 29"/>
          <p:cNvSpPr txBox="1"/>
          <p:nvPr/>
        </p:nvSpPr>
        <p:spPr>
          <a:xfrm>
            <a:off x="1097280" y="4509821"/>
            <a:ext cx="5394960" cy="771754"/>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My buddy checked my text and I fixed one mistake.</a:t>
            </a:r>
            <a:endParaRPr lang="en-US" sz="1300" dirty="0"/>
          </a:p>
        </p:txBody>
      </p:sp>
      <p:sp>
        <p:nvSpPr>
          <p:cNvPr id="33" name="Shape 30"/>
          <p:cNvSpPr/>
          <p:nvPr/>
        </p:nvSpPr>
        <p:spPr>
          <a:xfrm>
            <a:off x="6583680" y="4767682"/>
            <a:ext cx="1097280" cy="256032"/>
          </a:xfrm>
          <a:prstGeom prst="roundRect">
            <a:avLst>
              <a:gd name="adj" fmla="val 50000"/>
            </a:avLst>
          </a:prstGeom>
          <a:solidFill>
            <a:srgbClr val="C9780A"/>
          </a:solidFill>
          <a:ln w="12700">
            <a:solidFill>
              <a:srgbClr val="C9780A"/>
            </a:solidFill>
            <a:prstDash val="solid"/>
          </a:ln>
        </p:spPr>
      </p:sp>
      <p:sp>
        <p:nvSpPr>
          <p:cNvPr id="34" name="Text 31"/>
          <p:cNvSpPr txBox="1"/>
          <p:nvPr/>
        </p:nvSpPr>
        <p:spPr>
          <a:xfrm>
            <a:off x="6583680" y="4767682"/>
            <a:ext cx="109728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DEVELOP</a:t>
            </a:r>
            <a:endParaRPr lang="en-US" sz="800" dirty="0"/>
          </a:p>
        </p:txBody>
      </p:sp>
      <p:sp>
        <p:nvSpPr>
          <p:cNvPr id="35" name="Shape 32"/>
          <p:cNvSpPr/>
          <p:nvPr/>
        </p:nvSpPr>
        <p:spPr>
          <a:xfrm>
            <a:off x="457200" y="5409590"/>
            <a:ext cx="7406640" cy="771754"/>
          </a:xfrm>
          <a:prstGeom prst="roundRect">
            <a:avLst>
              <a:gd name="adj" fmla="val 9479"/>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6" name="Shape 33"/>
          <p:cNvSpPr/>
          <p:nvPr/>
        </p:nvSpPr>
        <p:spPr>
          <a:xfrm>
            <a:off x="685800" y="5685739"/>
            <a:ext cx="219456" cy="219456"/>
          </a:xfrm>
          <a:prstGeom prst="rect">
            <a:avLst/>
          </a:prstGeom>
          <a:solidFill>
            <a:srgbClr val="FFFFFF"/>
          </a:solidFill>
          <a:ln w="19050">
            <a:solidFill>
              <a:srgbClr val="B83227"/>
            </a:solidFill>
            <a:prstDash val="solid"/>
          </a:ln>
        </p:spPr>
      </p:sp>
      <p:sp>
        <p:nvSpPr>
          <p:cNvPr id="37" name="Text 34"/>
          <p:cNvSpPr txBox="1"/>
          <p:nvPr/>
        </p:nvSpPr>
        <p:spPr>
          <a:xfrm>
            <a:off x="1097280" y="5409590"/>
            <a:ext cx="5394960" cy="771754"/>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I added reasons (</a:t>
            </a:r>
            <a:pPr algn="l" indent="0" marL="0">
              <a:buNone/>
            </a:pPr>
            <a:r>
              <a:rPr lang="ar-SA" altLang="en-US" sz="1700" dirty="0">
                <a:solidFill>
                  <a:srgbClr val="1F2A37"/>
                </a:solidFill>
                <a:latin typeface="Amiri" pitchFamily="2" charset="-78"/>
                <a:ea typeface="Amiri" pitchFamily="2" charset="-78"/>
                <a:cs typeface="Amiri" pitchFamily="2" charset="-78"/>
              </a:rPr>
              <a:t>لِأَنَّ</a:t>
            </a:r>
            <a:pPr algn="l" indent="0" marL="0">
              <a:buNone/>
            </a:pPr>
            <a:r>
              <a:rPr lang="en-US" sz="1300" dirty="0">
                <a:solidFill>
                  <a:srgbClr val="1F2A37"/>
                </a:solidFill>
                <a:latin typeface="Calibri" pitchFamily="34" charset="0"/>
                <a:cs typeface="Amiri" pitchFamily="2" charset="-78"/>
              </a:rPr>
              <a:t>) and extra details without frames.</a:t>
            </a:r>
            <a:endParaRPr lang="en-US" sz="1300" dirty="0"/>
          </a:p>
        </p:txBody>
      </p:sp>
      <p:sp>
        <p:nvSpPr>
          <p:cNvPr id="38" name="Shape 35"/>
          <p:cNvSpPr/>
          <p:nvPr/>
        </p:nvSpPr>
        <p:spPr>
          <a:xfrm>
            <a:off x="6583680" y="5667451"/>
            <a:ext cx="1097280" cy="256032"/>
          </a:xfrm>
          <a:prstGeom prst="roundRect">
            <a:avLst>
              <a:gd name="adj" fmla="val 50000"/>
            </a:avLst>
          </a:prstGeom>
          <a:solidFill>
            <a:srgbClr val="B83227"/>
          </a:solidFill>
          <a:ln w="12700">
            <a:solidFill>
              <a:srgbClr val="B83227"/>
            </a:solidFill>
            <a:prstDash val="solid"/>
          </a:ln>
        </p:spPr>
      </p:sp>
      <p:sp>
        <p:nvSpPr>
          <p:cNvPr id="39" name="Text 36"/>
          <p:cNvSpPr txBox="1"/>
          <p:nvPr/>
        </p:nvSpPr>
        <p:spPr>
          <a:xfrm>
            <a:off x="6583680" y="5667451"/>
            <a:ext cx="109728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STRETCH</a:t>
            </a:r>
            <a:endParaRPr lang="en-US" sz="800" dirty="0"/>
          </a:p>
        </p:txBody>
      </p:sp>
      <p:sp>
        <p:nvSpPr>
          <p:cNvPr id="40" name="Shape 37"/>
          <p:cNvSpPr/>
          <p:nvPr/>
        </p:nvSpPr>
        <p:spPr>
          <a:xfrm>
            <a:off x="8092440" y="1810512"/>
            <a:ext cx="3639312" cy="2084832"/>
          </a:xfrm>
          <a:prstGeom prst="roundRect">
            <a:avLst>
              <a:gd name="adj" fmla="val 3509"/>
            </a:avLst>
          </a:prstGeom>
          <a:solidFill>
            <a:srgbClr val="E9F5EE"/>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41" name="Text 38"/>
          <p:cNvSpPr txBox="1"/>
          <p:nvPr/>
        </p:nvSpPr>
        <p:spPr>
          <a:xfrm>
            <a:off x="8275320" y="1920240"/>
            <a:ext cx="3273552" cy="1828800"/>
          </a:xfrm>
          <a:prstGeom prst="rect">
            <a:avLst/>
          </a:prstGeom>
          <a:noFill/>
          <a:ln/>
        </p:spPr>
        <p:txBody>
          <a:bodyPr wrap="square" lIns="0" tIns="0" rIns="0" bIns="0" rtlCol="0" anchor="ctr"/>
          <a:lstStyle/>
          <a:p>
            <a:pPr indent="0" marL="0">
              <a:buNone/>
            </a:pPr>
            <a:r>
              <a:rPr lang="en-US" sz="1800" b="1" dirty="0">
                <a:solidFill>
                  <a:srgbClr val="2E8B57"/>
                </a:solidFill>
                <a:latin typeface="Calibri" pitchFamily="34" charset="0"/>
                <a:cs typeface="Amiri" pitchFamily="2" charset="-78"/>
              </a:rPr>
              <a:t>WWW</a:t>
            </a:r>
            <a:endParaRPr lang="en-US" sz="1800" dirty="0"/>
          </a:p>
          <a:p>
            <a:pPr indent="0" marL="0">
              <a:buNone/>
            </a:pPr>
            <a:r>
              <a:rPr lang="en-US" sz="1200" dirty="0">
                <a:solidFill>
                  <a:srgbClr val="1F2A37"/>
                </a:solidFill>
                <a:latin typeface="Calibri" pitchFamily="34" charset="0"/>
                <a:cs typeface="Amiri" pitchFamily="2" charset="-78"/>
              </a:rPr>
              <a:t>What went well? One thing you did accurately.</a:t>
            </a:r>
            <a:endParaRPr lang="en-US" sz="1800" dirty="0"/>
          </a:p>
        </p:txBody>
      </p:sp>
      <p:sp>
        <p:nvSpPr>
          <p:cNvPr id="42" name="Shape 39"/>
          <p:cNvSpPr/>
          <p:nvPr/>
        </p:nvSpPr>
        <p:spPr>
          <a:xfrm>
            <a:off x="8092440" y="4041648"/>
            <a:ext cx="3639312" cy="2084832"/>
          </a:xfrm>
          <a:prstGeom prst="roundRect">
            <a:avLst>
              <a:gd name="adj" fmla="val 3509"/>
            </a:avLst>
          </a:prstGeom>
          <a:solidFill>
            <a:srgbClr val="FFF4E0"/>
          </a:solidFill>
          <a:ln w="9525">
            <a:solidFill>
              <a:srgbClr val="E8D49A"/>
            </a:solidFill>
            <a:prstDash val="solid"/>
          </a:ln>
          <a:effectLst>
            <a:outerShdw sx="100000" sy="100000" kx="0" ky="0" algn="bl" rotWithShape="0" blurRad="50800" dist="19050" dir="5400000">
              <a:srgbClr val="000000">
                <a:alpha val="10000"/>
              </a:srgbClr>
            </a:outerShdw>
          </a:effectLst>
        </p:spPr>
      </p:sp>
      <p:sp>
        <p:nvSpPr>
          <p:cNvPr id="43" name="Text 40"/>
          <p:cNvSpPr txBox="1"/>
          <p:nvPr/>
        </p:nvSpPr>
        <p:spPr>
          <a:xfrm>
            <a:off x="8275320" y="4151376"/>
            <a:ext cx="3273552" cy="1828800"/>
          </a:xfrm>
          <a:prstGeom prst="rect">
            <a:avLst/>
          </a:prstGeom>
          <a:noFill/>
          <a:ln/>
        </p:spPr>
        <p:txBody>
          <a:bodyPr wrap="square" lIns="0" tIns="0" rIns="0" bIns="0" rtlCol="0" anchor="ctr"/>
          <a:lstStyle/>
          <a:p>
            <a:pPr indent="0" marL="0">
              <a:buNone/>
            </a:pPr>
            <a:r>
              <a:rPr lang="en-US" sz="1800" b="1" dirty="0">
                <a:solidFill>
                  <a:srgbClr val="C9780A"/>
                </a:solidFill>
                <a:latin typeface="Calibri" pitchFamily="34" charset="0"/>
                <a:cs typeface="Amiri" pitchFamily="2" charset="-78"/>
              </a:rPr>
              <a:t>EBI</a:t>
            </a:r>
            <a:endParaRPr lang="en-US" sz="1800" dirty="0"/>
          </a:p>
          <a:p>
            <a:pPr indent="0" marL="0">
              <a:buNone/>
            </a:pPr>
            <a:r>
              <a:rPr lang="en-US" sz="1200" dirty="0">
                <a:solidFill>
                  <a:srgbClr val="1F2A37"/>
                </a:solidFill>
                <a:latin typeface="Calibri" pitchFamily="34" charset="0"/>
                <a:cs typeface="Amiri" pitchFamily="2" charset="-78"/>
              </a:rPr>
              <a:t>Even better if… One thing you will fix or add.</a:t>
            </a:r>
            <a:endParaRPr lang="en-US" sz="1800" dirty="0"/>
          </a:p>
        </p:txBody>
      </p:sp>
      <p:sp>
        <p:nvSpPr>
          <p:cNvPr id="44" name="Text 41"/>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23 / 24</a:t>
            </a:r>
            <a:endParaRPr lang="en-US" sz="85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solidFill>
          <a:srgbClr val="0D1F3C"/>
        </a:solidFill>
      </p:bgPr>
    </p:bg>
    <p:spTree>
      <p:nvGrpSpPr>
        <p:cNvPr id="1" name=""/>
        <p:cNvGrpSpPr/>
        <p:nvPr/>
      </p:nvGrpSpPr>
      <p:grpSpPr>
        <a:xfrm>
          <a:off x="0" y="0"/>
          <a:ext cx="0" cy="0"/>
          <a:chOff x="0" y="0"/>
          <a:chExt cx="0" cy="0"/>
        </a:xfrm>
      </p:grpSpPr>
      <p:sp>
        <p:nvSpPr>
          <p:cNvPr id="2" name="Shape 0"/>
          <p:cNvSpPr/>
          <p:nvPr/>
        </p:nvSpPr>
        <p:spPr>
          <a:xfrm>
            <a:off x="7863840" y="1097280"/>
            <a:ext cx="5852160" cy="5852160"/>
          </a:xfrm>
          <a:prstGeom prst="ellipse">
            <a:avLst/>
          </a:prstGeom>
          <a:solidFill>
            <a:srgbClr val="14315C"/>
          </a:solidFill>
          <a:ln w="12700">
            <a:solidFill>
              <a:srgbClr val="14315C"/>
            </a:solidFill>
            <a:prstDash val="solid"/>
          </a:ln>
        </p:spPr>
      </p:sp>
      <p:sp>
        <p:nvSpPr>
          <p:cNvPr id="3" name="Shape 1"/>
          <p:cNvSpPr/>
          <p:nvPr/>
        </p:nvSpPr>
        <p:spPr>
          <a:xfrm>
            <a:off x="9372600" y="2606040"/>
            <a:ext cx="1737360" cy="1737360"/>
          </a:xfrm>
          <a:prstGeom prst="ellipse">
            <a:avLst/>
          </a:prstGeom>
          <a:solidFill>
            <a:srgbClr val="D4AF37"/>
          </a:solidFill>
          <a:ln w="12700">
            <a:solidFill>
              <a:srgbClr val="D4AF37"/>
            </a:solidFill>
            <a:prstDash val="solid"/>
          </a:ln>
        </p:spPr>
      </p:sp>
      <p:pic>
        <p:nvPicPr>
          <p:cNvPr id="4" name="Image 0" descr="preencoded.png">    </p:cNvPr>
          <p:cNvPicPr>
            <a:picLocks noChangeAspect="1"/>
          </p:cNvPicPr>
          <p:nvPr/>
        </p:nvPicPr>
        <p:blipFill>
          <a:blip r:embed="rId1"/>
          <a:stretch>
            <a:fillRect/>
          </a:stretch>
        </p:blipFill>
        <p:spPr>
          <a:xfrm>
            <a:off x="9710928" y="2944368"/>
            <a:ext cx="1060704" cy="1060704"/>
          </a:xfrm>
          <a:prstGeom prst="rect">
            <a:avLst/>
          </a:prstGeom>
        </p:spPr>
      </p:pic>
      <p:sp>
        <p:nvSpPr>
          <p:cNvPr id="5" name="Text 2"/>
          <p:cNvSpPr txBox="1"/>
          <p:nvPr/>
        </p:nvSpPr>
        <p:spPr>
          <a:xfrm>
            <a:off x="457200" y="1280160"/>
            <a:ext cx="5486400" cy="274320"/>
          </a:xfrm>
          <a:prstGeom prst="rect">
            <a:avLst/>
          </a:prstGeom>
          <a:noFill/>
          <a:ln/>
        </p:spPr>
        <p:txBody>
          <a:bodyPr wrap="square" lIns="0" tIns="0" rIns="0" bIns="0" rtlCol="0" anchor="ctr"/>
          <a:lstStyle/>
          <a:p>
            <a:pPr algn="l" indent="0" marL="0">
              <a:buNone/>
            </a:pPr>
            <a:r>
              <a:rPr lang="en-US" sz="1100" b="1" spc="300" kern="0" dirty="0">
                <a:solidFill>
                  <a:srgbClr val="D4AF37"/>
                </a:solidFill>
                <a:latin typeface="Calibri" pitchFamily="34" charset="0"/>
                <a:cs typeface="Amiri" pitchFamily="2" charset="-78"/>
              </a:rPr>
              <a:t>F2-W06 COMPLETE</a:t>
            </a:r>
            <a:endParaRPr lang="en-US" sz="1100" dirty="0"/>
          </a:p>
        </p:txBody>
      </p:sp>
      <p:sp>
        <p:nvSpPr>
          <p:cNvPr id="6" name="Text 3"/>
          <p:cNvSpPr txBox="1"/>
          <p:nvPr/>
        </p:nvSpPr>
        <p:spPr>
          <a:xfrm>
            <a:off x="457200" y="1691640"/>
            <a:ext cx="7315200" cy="914400"/>
          </a:xfrm>
          <a:prstGeom prst="rect">
            <a:avLst/>
          </a:prstGeom>
          <a:noFill/>
          <a:ln/>
        </p:spPr>
        <p:txBody>
          <a:bodyPr wrap="square" lIns="0" tIns="0" rIns="0" bIns="0" rtlCol="0" anchor="ctr"/>
          <a:lstStyle/>
          <a:p>
            <a:pPr rtl="1" algn="l" indent="0" marL="0">
              <a:buNone/>
            </a:pPr>
            <a:r>
              <a:rPr lang="ar-SA" altLang="en-US" sz="4000" b="1" dirty="0">
                <a:solidFill>
                  <a:srgbClr val="FFFFFF"/>
                </a:solidFill>
                <a:latin typeface="Amiri" pitchFamily="2" charset="-78"/>
                <a:ea typeface="Amiri" pitchFamily="2" charset="-78"/>
                <a:cs typeface="Amiri" pitchFamily="2" charset="-78"/>
              </a:rPr>
              <a:t>أَحْسَنْتُمْ! إِلَى اللِّقَاءِ</a:t>
            </a:r>
            <a:endParaRPr lang="ar-SA" sz="4000" dirty="0"/>
          </a:p>
        </p:txBody>
      </p:sp>
      <p:sp>
        <p:nvSpPr>
          <p:cNvPr id="7" name="Text 4"/>
          <p:cNvSpPr txBox="1"/>
          <p:nvPr/>
        </p:nvSpPr>
        <p:spPr>
          <a:xfrm>
            <a:off x="457200" y="2606040"/>
            <a:ext cx="7315200" cy="411480"/>
          </a:xfrm>
          <a:prstGeom prst="rect">
            <a:avLst/>
          </a:prstGeom>
          <a:noFill/>
          <a:ln/>
        </p:spPr>
        <p:txBody>
          <a:bodyPr wrap="square" lIns="0" tIns="0" rIns="0" bIns="0" rtlCol="0" anchor="ctr"/>
          <a:lstStyle/>
          <a:p>
            <a:pPr algn="l" indent="0" marL="0">
              <a:buNone/>
            </a:pPr>
            <a:r>
              <a:rPr lang="en-US" sz="1600" i="1" dirty="0">
                <a:solidFill>
                  <a:srgbClr val="C6D2E6"/>
                </a:solidFill>
                <a:latin typeface="Calibri" pitchFamily="34" charset="0"/>
                <a:cs typeface="Amiri" pitchFamily="2" charset="-78"/>
              </a:rPr>
              <a:t>Well done — you used two lessons together!</a:t>
            </a:r>
            <a:endParaRPr lang="en-US" sz="1600" dirty="0"/>
          </a:p>
        </p:txBody>
      </p:sp>
      <p:sp>
        <p:nvSpPr>
          <p:cNvPr id="8" name="Text 5"/>
          <p:cNvSpPr txBox="1"/>
          <p:nvPr/>
        </p:nvSpPr>
        <p:spPr>
          <a:xfrm>
            <a:off x="457200" y="3566160"/>
            <a:ext cx="5486400" cy="274320"/>
          </a:xfrm>
          <a:prstGeom prst="rect">
            <a:avLst/>
          </a:prstGeom>
          <a:noFill/>
          <a:ln/>
        </p:spPr>
        <p:txBody>
          <a:bodyPr wrap="square" lIns="0" tIns="0" rIns="0" bIns="0" rtlCol="0" anchor="ctr"/>
          <a:lstStyle/>
          <a:p>
            <a:pPr algn="l" indent="0" marL="0">
              <a:buNone/>
            </a:pPr>
            <a:r>
              <a:rPr lang="en-US" sz="1100" b="1" spc="300" kern="0" dirty="0">
                <a:solidFill>
                  <a:srgbClr val="D4AF37"/>
                </a:solidFill>
                <a:latin typeface="Calibri" pitchFamily="34" charset="0"/>
                <a:cs typeface="Amiri" pitchFamily="2" charset="-78"/>
              </a:rPr>
              <a:t>NEXT LESSON</a:t>
            </a:r>
            <a:endParaRPr lang="en-US" sz="1100" dirty="0"/>
          </a:p>
        </p:txBody>
      </p:sp>
      <p:sp>
        <p:nvSpPr>
          <p:cNvPr id="9" name="Text 6"/>
          <p:cNvSpPr txBox="1"/>
          <p:nvPr/>
        </p:nvSpPr>
        <p:spPr>
          <a:xfrm>
            <a:off x="457200" y="3886200"/>
            <a:ext cx="7315200" cy="548640"/>
          </a:xfrm>
          <a:prstGeom prst="rect">
            <a:avLst/>
          </a:prstGeom>
          <a:noFill/>
          <a:ln/>
        </p:spPr>
        <p:txBody>
          <a:bodyPr wrap="square" lIns="0" tIns="0" rIns="0" bIns="0" rtlCol="0" anchor="ctr"/>
          <a:lstStyle/>
          <a:p>
            <a:pPr algn="l" indent="0" marL="0">
              <a:buNone/>
            </a:pPr>
            <a:r>
              <a:rPr lang="en-US" sz="2150" b="1" dirty="0">
                <a:solidFill>
                  <a:srgbClr val="FFFFFF"/>
                </a:solidFill>
                <a:latin typeface="Cambria" pitchFamily="34" charset="0"/>
                <a:cs typeface="Amiri" pitchFamily="2" charset="-78"/>
              </a:rPr>
              <a:t>F2 complete · Well done — the unit is complete</a:t>
            </a:r>
            <a:endParaRPr lang="en-US" sz="2150" dirty="0"/>
          </a:p>
        </p:txBody>
      </p:sp>
      <p:sp>
        <p:nvSpPr>
          <p:cNvPr id="10" name="Text 7"/>
          <p:cNvSpPr txBox="1"/>
          <p:nvPr/>
        </p:nvSpPr>
        <p:spPr>
          <a:xfrm>
            <a:off x="457200" y="4434840"/>
            <a:ext cx="7315200" cy="548640"/>
          </a:xfrm>
          <a:prstGeom prst="rect">
            <a:avLst/>
          </a:prstGeom>
          <a:noFill/>
          <a:ln/>
        </p:spPr>
        <p:txBody>
          <a:bodyPr wrap="square" lIns="0" tIns="0" rIns="0" bIns="0" rtlCol="0" anchor="ctr"/>
          <a:lstStyle/>
          <a:p>
            <a:pPr rtl="1" algn="l" indent="0" marL="0">
              <a:buNone/>
            </a:pPr>
            <a:r>
              <a:rPr lang="ar-SA" altLang="en-US" sz="2400" b="1" dirty="0">
                <a:solidFill>
                  <a:srgbClr val="D4AF37"/>
                </a:solidFill>
                <a:latin typeface="Amiri" pitchFamily="2" charset="-78"/>
                <a:ea typeface="Amiri" pitchFamily="2" charset="-78"/>
                <a:cs typeface="Amiri" pitchFamily="2" charset="-78"/>
              </a:rPr>
              <a:t>أَحْسَنْتُمْ</a:t>
            </a:r>
            <a:endParaRPr lang="ar-SA" sz="2400" dirty="0"/>
          </a:p>
        </p:txBody>
      </p:sp>
      <p:sp>
        <p:nvSpPr>
          <p:cNvPr id="11" name="Text 8"/>
          <p:cNvSpPr txBox="1"/>
          <p:nvPr/>
        </p:nvSpPr>
        <p:spPr>
          <a:xfrm>
            <a:off x="457200" y="5303520"/>
            <a:ext cx="7315200" cy="365760"/>
          </a:xfrm>
          <a:prstGeom prst="rect">
            <a:avLst/>
          </a:prstGeom>
          <a:noFill/>
          <a:ln/>
        </p:spPr>
        <p:txBody>
          <a:bodyPr wrap="square" lIns="0" tIns="0" rIns="0" bIns="0" rtlCol="0" anchor="ctr"/>
          <a:lstStyle/>
          <a:p>
            <a:pPr algn="l" indent="0" marL="0">
              <a:buNone/>
            </a:pPr>
            <a:r>
              <a:rPr lang="en-US" sz="1300" b="1" dirty="0">
                <a:solidFill>
                  <a:srgbClr val="FFFFFF"/>
                </a:solidFill>
                <a:latin typeface="Calibri" pitchFamily="34" charset="0"/>
                <a:cs typeface="Amiri" pitchFamily="2" charset="-78"/>
              </a:rPr>
              <a:t>Remember: keep using this unit’s language — say it, then write it.</a:t>
            </a:r>
            <a:endParaRPr lang="en-US" sz="13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Amiri" pitchFamily="2" charset="-78"/>
        <a:cs typeface="Amiri" pitchFamily="2" charset="-78"/>
        <a:font script="Arab" typeface="Amiri"/>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Amiri" pitchFamily="2" charset="-78"/>
        <a:cs typeface="Amiri" pitchFamily="2" charset="-78"/>
        <a:font script="Arab" typeface="Amiri"/>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24</Slides>
  <Notes>24</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24</vt:i4>
      </vt:variant>
    </vt:vector>
  </HeadingPairs>
  <TitlesOfParts>
    <vt:vector size="27"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vector>
  </TitlesOfParts>
  <Company>Al Madina Online School</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F2-W06 · Apply Workshop — Pen-Friend Application</dc:title>
  <dc:subject>PptxGenJS Presentation</dc:subject>
  <dc:creator>Al Madina Online School · Arabic Department</dc:creator>
  <cp:lastModifiedBy>Al Madina Online School · Arabic Department</cp:lastModifiedBy>
  <cp:revision>1</cp:revision>
  <dcterms:created xsi:type="dcterms:W3CDTF">2026-10-26T15:17:21Z</dcterms:created>
  <dcterms:modified xsi:type="dcterms:W3CDTF">2026-10-26T15:17:21Z</dcterms:modified>
</cp:coreProperties>
</file>