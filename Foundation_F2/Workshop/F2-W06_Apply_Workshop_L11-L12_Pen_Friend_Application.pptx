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APPLY WORKSHOP AT A GLANCE — the third lesson of the week (Learn F2-L11 · Learn F2-L12 · Apply). 60 minutes on Teams: teacher-led in the main room for the short whole-class steps, pairs or breakout rooms of two or three for speaking, individual writing.
0–3 Welcome + plan · 3–6 What we learnt this week · PART 1 REMEMBER: word race (4) · which lesson? sort (4) · PART 2 SPEAK: new dialogue (5) · mixed question cards (6) · role-play card (7) · 30–45 seconds talk (4) · PART 3 WRITE: sentence builder (3) · spot and fix (3) · connected writing (12) + buddy check (3) · CHECK YOURSELF: models + self-check (5).
PURPOSE: students APPLY the language of BOTH lessons in new contexts — the question cards, builder and common mistakes come from the two practice rooms; the dialogue, role-play, talk and writing task are new and join the lessons together.
CONTENT: F2-L11 (Writing a Short Personal Introduction) and F2-L12 (Show What You Can Say: F2 Review &amp; Assessment).
SET-UP: share this deck or its PDF in the chat. Pairs or breakout rooms for Part 2 (same-level rooms keep the routes simple). Everyone writes in their own book or document in Part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(1 min). Apply = use what you learnt in F2-L11 and F2-L12 in a NEW situation. Point out the step number in the top-left of each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WE LEARNT (3 min, main room). Ask: “What can you say after F2-L11? After F2-L12?” Take two answers in the chat for each lesson (one word or one sentence is enough). Then read objective 3 — today’s new situation that needs BOTH lessons. Students tick their route goals at the end of the lesson.
F2-L11 language: form answers (one word or phrase); connected sentences with wa · ayḍan · thumma · li-anna; checking agreement and endings
F2-L12 language: all of F2: greetings + replies; -ka / -ki questions; ismī · ʿumrī · anā min · askunu fī · atakallamu; nisba agreement; hādhā / hādhihi; he / she forms; linking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(4 min). Quick, energetic retrieval. Model one round with a student, then pairs race. Collect the best score in the chat. Listen for words students hesitate over and revisit them in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reference — six words from F2-L11.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reference — six words from F2-L12.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2 (4 min). Students read each card ALOUD (by invitation), then type its number in the chat with 1 or 2 (for example “card 3 → 2”). Then check the answer slide. Ask: “Which card could you use in BOTH lessons?” — this links the two lessons before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2 (4 min). Students read each card ALOUD (by invitation), then type its number in the chat with 1 or 2 (for example “card 3 → 2”). Then check the answer slide. Ask: “Which card could you use in BOTH lessons?” — this links the two lessons before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STEP 3 (5 min). A NEW dialogue that joins F2-L11 and F2-L12. Teacher reads it once with a confident student; then pairs. Ask: “Which lines are from F2-L11? Which from F2-L12?” Greetings, names and ages revise the whole of F2 (F2-L12); the reason with لِأَنِّي / لِأَنَّ is the F2-L11 writing target.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4 (6 min, pairs or rooms). The questions come from the two practice rooms, now mixed so students switch between the lessons. Teacher: visit rooms and ask one Stretch follow-up question in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STEP 5 (7 min). One NEW situation that needs both lessons: the form facts and linking words (F2-L11) with greetings, questions and he / she forms from the whole unit (F2-L12). SUPPORTED: the plan column gives the first words, not the full answer. To a girl Partner A says: مَا اسْمُكِ؟ · أَيْنَ تَسْكُنِينَ؟ · أَيَّ لُغَاتٍ تَتَكَلَّمِينَ؟ · لِمَاذَا تُرِيدِينَ …؟ — she answers أَنَا بِرِيطَانِيَّةٌ.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6 (4 min). Fluency: one talk that uses BOTH lessons. Two volunteers speak to the whole class at the end (open mic).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7 (3 min). Rows come from the F2-L11 and F2-L12 practice rooms. Read the English, choose the correct part from each column (start on the RIGHT). Pairs agree, then check. Students copy the correct sentences — they help in Step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7 (3 min). Rows come from the F2-L11 and F2-L12 practice rooms. Read the English, choose the correct part from each column (start on the RIGHT). Pairs agree, then check. Students copy the correct sentences — they help in Step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8 (3 min). Common mistakes from both lessons. Students type the corrected version in the chat before the answer slide. These are the mistakes to look for in the buddy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8 (3 min). Common mistakes from both lessons. Students type the corrected version in the chat before the answer slide. These are the mistakes to look for in the buddy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9 support. Core: use the Core frames for every bullet. Develop: use the Develop frames only if stuck. Stretch: no frames — add reasons, a time phrase and an extra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9 (10 min writing, everyone on their own). Core: frames for every bullet (30–40 words). Develop: 40–70 words, frames only if stuck. Stretch: no frames, add reasons. Teacher reads ONE sentence per student (in the chat or the shared document) and gives one live correction.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BUDDY CHECK (3 min). Pairs swap texts (or share screens). Then everyone returns to the main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YOURSELF (2 min, main room). Each student finds one task they answered less fully and says it again using the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(45 words). CHECK YOURSELF (2 min). Find each bullet point in the model, and one phrase from F2-L11 and one from F2-L12. Then each student copies ONE phrase from the model into their own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7  ·  FOUNDATION F2  ·  F2-L11 + F2-L12 · APPLY WORKSHOP</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F2-W06</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700" b="1" dirty="0">
                <a:solidFill>
                  <a:srgbClr val="FFFFFF"/>
                </a:solidFill>
                <a:latin typeface="Cambria" pitchFamily="34" charset="0"/>
                <a:cs typeface="Amiri" pitchFamily="2" charset="-78"/>
              </a:rPr>
              <a:t>Apply Workshop — Pen-Friend Application</a:t>
            </a:r>
            <a:endParaRPr lang="en-US" sz="27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وَرْشَةُ التَّطْبِيقِ — طَلَبُ صَدِيقٍ بِالمُرَاسَلَةِ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Students use the whole of F2 for one real purpose: they fill in a pen-friend application form, answer a club coordinator’s questions, give a full introduction with a friend, and write a connected introduction with linking words and a reason.</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Apply workshop · F2-L11 + F2-L12</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Foundation · end of unit F2</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Foundation › F2 › F2-L12</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F2-W06 · Apply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F2-W06 · Apply workshop (F2-L11 + F2-L12)</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24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F2-W06 · Apply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PLAN · LEARN, LEARN, APPLY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Two lessons — now use them together</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خُطُوَاتُ الوَرْشَةِ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F2-W06 · Apply workshop (F2-L11 + F2-L12)</a:t>
            </a:r>
            <a:endParaRPr lang="en-US" sz="850" dirty="0"/>
          </a:p>
        </p:txBody>
      </p:sp>
      <p:sp>
        <p:nvSpPr>
          <p:cNvPr id="15" name="Shape 12"/>
          <p:cNvSpPr/>
          <p:nvPr/>
        </p:nvSpPr>
        <p:spPr>
          <a:xfrm>
            <a:off x="457200"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933042" cy="566928"/>
          </a:xfrm>
          <a:prstGeom prst="roundRect">
            <a:avLst>
              <a:gd name="adj" fmla="val 9677"/>
            </a:avLst>
          </a:prstGeom>
          <a:solidFill>
            <a:srgbClr val="1B3B6F"/>
          </a:solidFill>
          <a:ln w="12700">
            <a:solidFill>
              <a:srgbClr val="1B3B6F"/>
            </a:solidFill>
            <a:prstDash val="solid"/>
          </a:ln>
        </p:spPr>
      </p:sp>
      <p:sp>
        <p:nvSpPr>
          <p:cNvPr id="17" name="Text 14"/>
          <p:cNvSpPr txBox="1"/>
          <p:nvPr/>
        </p:nvSpPr>
        <p:spPr>
          <a:xfrm>
            <a:off x="603504"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18" name="Text 15"/>
          <p:cNvSpPr txBox="1"/>
          <p:nvPr/>
        </p:nvSpPr>
        <p:spPr>
          <a:xfrm>
            <a:off x="603504"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6 min</a:t>
            </a:r>
            <a:endParaRPr lang="en-US" sz="1000" dirty="0"/>
          </a:p>
        </p:txBody>
      </p:sp>
      <p:sp>
        <p:nvSpPr>
          <p:cNvPr id="19" name="Shape 16"/>
          <p:cNvSpPr/>
          <p:nvPr/>
        </p:nvSpPr>
        <p:spPr>
          <a:xfrm>
            <a:off x="1332281"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33228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What we learnt: F2-L11 and F2-L12.</a:t>
            </a:r>
            <a:endParaRPr lang="en-US" sz="1200" dirty="0"/>
          </a:p>
        </p:txBody>
      </p:sp>
      <p:sp>
        <p:nvSpPr>
          <p:cNvPr id="22" name="Text 19"/>
          <p:cNvSpPr txBox="1"/>
          <p:nvPr/>
        </p:nvSpPr>
        <p:spPr>
          <a:xfrm>
            <a:off x="548640"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مَاذَا تَعَلَّمْنَا؟</a:t>
            </a:r>
            <a:endParaRPr lang="ar-SA" sz="1500" dirty="0"/>
          </a:p>
        </p:txBody>
      </p:sp>
      <p:sp>
        <p:nvSpPr>
          <p:cNvPr id="23" name="Shape 20"/>
          <p:cNvSpPr/>
          <p:nvPr/>
        </p:nvSpPr>
        <p:spPr>
          <a:xfrm>
            <a:off x="273771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847442" y="1938528"/>
            <a:ext cx="1933042" cy="566928"/>
          </a:xfrm>
          <a:prstGeom prst="roundRect">
            <a:avLst>
              <a:gd name="adj" fmla="val 9677"/>
            </a:avLst>
          </a:prstGeom>
          <a:solidFill>
            <a:srgbClr val="2F6FB0"/>
          </a:solidFill>
          <a:ln w="12700">
            <a:solidFill>
              <a:srgbClr val="2F6FB0"/>
            </a:solidFill>
            <a:prstDash val="solid"/>
          </a:ln>
        </p:spPr>
      </p:sp>
      <p:sp>
        <p:nvSpPr>
          <p:cNvPr id="25" name="Text 22"/>
          <p:cNvSpPr txBox="1"/>
          <p:nvPr/>
        </p:nvSpPr>
        <p:spPr>
          <a:xfrm>
            <a:off x="288401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26" name="Text 23"/>
          <p:cNvSpPr txBox="1"/>
          <p:nvPr/>
        </p:nvSpPr>
        <p:spPr>
          <a:xfrm>
            <a:off x="288401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8 min</a:t>
            </a:r>
            <a:endParaRPr lang="en-US" sz="1000" dirty="0"/>
          </a:p>
        </p:txBody>
      </p:sp>
      <p:sp>
        <p:nvSpPr>
          <p:cNvPr id="27" name="Shape 24"/>
          <p:cNvSpPr/>
          <p:nvPr/>
        </p:nvSpPr>
        <p:spPr>
          <a:xfrm>
            <a:off x="3612794"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6127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86573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Part 1 · Remember: word race and “which lesson?” sort.</a:t>
            </a:r>
            <a:endParaRPr lang="en-US" sz="1200" dirty="0"/>
          </a:p>
        </p:txBody>
      </p:sp>
      <p:sp>
        <p:nvSpPr>
          <p:cNvPr id="30" name="Text 27"/>
          <p:cNvSpPr txBox="1"/>
          <p:nvPr/>
        </p:nvSpPr>
        <p:spPr>
          <a:xfrm>
            <a:off x="282915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تَذَكَّرْ</a:t>
            </a:r>
            <a:endParaRPr lang="ar-SA" sz="1500" dirty="0"/>
          </a:p>
        </p:txBody>
      </p:sp>
      <p:sp>
        <p:nvSpPr>
          <p:cNvPr id="31" name="Shape 28"/>
          <p:cNvSpPr/>
          <p:nvPr/>
        </p:nvSpPr>
        <p:spPr>
          <a:xfrm>
            <a:off x="5018227"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127955" y="1938528"/>
            <a:ext cx="1933042" cy="566928"/>
          </a:xfrm>
          <a:prstGeom prst="roundRect">
            <a:avLst>
              <a:gd name="adj" fmla="val 9677"/>
            </a:avLst>
          </a:prstGeom>
          <a:solidFill>
            <a:srgbClr val="1E6B52"/>
          </a:solidFill>
          <a:ln w="12700">
            <a:solidFill>
              <a:srgbClr val="1E6B52"/>
            </a:solidFill>
            <a:prstDash val="solid"/>
          </a:ln>
        </p:spPr>
      </p:sp>
      <p:sp>
        <p:nvSpPr>
          <p:cNvPr id="33" name="Text 30"/>
          <p:cNvSpPr txBox="1"/>
          <p:nvPr/>
        </p:nvSpPr>
        <p:spPr>
          <a:xfrm>
            <a:off x="5164531"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34" name="Text 31"/>
          <p:cNvSpPr txBox="1"/>
          <p:nvPr/>
        </p:nvSpPr>
        <p:spPr>
          <a:xfrm>
            <a:off x="5164531"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22 min</a:t>
            </a:r>
            <a:endParaRPr lang="en-US" sz="1000" dirty="0"/>
          </a:p>
        </p:txBody>
      </p:sp>
      <p:sp>
        <p:nvSpPr>
          <p:cNvPr id="35" name="Shape 32"/>
          <p:cNvSpPr/>
          <p:nvPr/>
        </p:nvSpPr>
        <p:spPr>
          <a:xfrm>
            <a:off x="5893308"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5146243"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Part 2 · Speak: say the model dialogue · question cards · role-play card · short talk.</a:t>
            </a:r>
            <a:endParaRPr lang="en-US" sz="1200" dirty="0"/>
          </a:p>
        </p:txBody>
      </p:sp>
      <p:sp>
        <p:nvSpPr>
          <p:cNvPr id="38" name="Text 35"/>
          <p:cNvSpPr txBox="1"/>
          <p:nvPr/>
        </p:nvSpPr>
        <p:spPr>
          <a:xfrm>
            <a:off x="5109667"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تَكَلَّمْ</a:t>
            </a:r>
            <a:endParaRPr lang="ar-SA" sz="1500" dirty="0"/>
          </a:p>
        </p:txBody>
      </p:sp>
      <p:sp>
        <p:nvSpPr>
          <p:cNvPr id="39" name="Shape 36"/>
          <p:cNvSpPr/>
          <p:nvPr/>
        </p:nvSpPr>
        <p:spPr>
          <a:xfrm>
            <a:off x="7298741"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7408469" y="1938528"/>
            <a:ext cx="1933042"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7445045"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7445045"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19 min</a:t>
            </a:r>
            <a:endParaRPr lang="en-US" sz="1000" dirty="0"/>
          </a:p>
        </p:txBody>
      </p:sp>
      <p:sp>
        <p:nvSpPr>
          <p:cNvPr id="43" name="Shape 40"/>
          <p:cNvSpPr/>
          <p:nvPr/>
        </p:nvSpPr>
        <p:spPr>
          <a:xfrm>
            <a:off x="81738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81738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7426757"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Part 3 · Write: sentence builder · spot and fix · write your text · buddy check.</a:t>
            </a:r>
            <a:endParaRPr lang="en-US" sz="1200" dirty="0"/>
          </a:p>
        </p:txBody>
      </p:sp>
      <p:sp>
        <p:nvSpPr>
          <p:cNvPr id="46" name="Text 43"/>
          <p:cNvSpPr txBox="1"/>
          <p:nvPr/>
        </p:nvSpPr>
        <p:spPr>
          <a:xfrm>
            <a:off x="7390181"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اكْتُبْ</a:t>
            </a:r>
            <a:endParaRPr lang="ar-SA" sz="1500" dirty="0"/>
          </a:p>
        </p:txBody>
      </p:sp>
      <p:sp>
        <p:nvSpPr>
          <p:cNvPr id="47" name="Shape 44"/>
          <p:cNvSpPr/>
          <p:nvPr/>
        </p:nvSpPr>
        <p:spPr>
          <a:xfrm>
            <a:off x="957925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9688982" y="1938528"/>
            <a:ext cx="1933042"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972555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972555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1" name="Shape 48"/>
          <p:cNvSpPr/>
          <p:nvPr/>
        </p:nvSpPr>
        <p:spPr>
          <a:xfrm>
            <a:off x="10454335"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1045433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970727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Check yourself with the models.</a:t>
            </a:r>
            <a:endParaRPr lang="en-US" sz="1200" dirty="0"/>
          </a:p>
        </p:txBody>
      </p:sp>
      <p:sp>
        <p:nvSpPr>
          <p:cNvPr id="54" name="Text 51"/>
          <p:cNvSpPr txBox="1"/>
          <p:nvPr/>
        </p:nvSpPr>
        <p:spPr>
          <a:xfrm>
            <a:off x="967069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قَارِنْ</a:t>
            </a:r>
            <a:endParaRPr lang="ar-SA" sz="1500" dirty="0"/>
          </a:p>
        </p:txBody>
      </p:sp>
      <p:sp>
        <p:nvSpPr>
          <p:cNvPr id="55" name="Shape 52"/>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HOW THE WORKSHOP RUNS</a:t>
            </a:r>
            <a:endParaRPr lang="en-US" sz="1000" dirty="0"/>
          </a:p>
        </p:txBody>
      </p:sp>
      <p:sp>
        <p:nvSpPr>
          <p:cNvPr id="57" name="Text 54"/>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Today there is no new language: you USE the words and structures of the last two lessons together. Everybody speaks in every step and everybody writes their own text. Choose your route — Core, Develop or Stretch — and move up when you are ready.</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24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F2-W06 · Apply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WHAT WE LEARNT THIS WEEK · F2-L11 + F2-L12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cs typeface="Amiri" pitchFamily="2" charset="-78"/>
              </a:rPr>
              <a:t>This week’s two lessons — and today’s goal</a:t>
            </a:r>
            <a:endParaRPr lang="en-US" sz="22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نُطَبِّقُ مَا تَعَلَّمْنَا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F2-W06 · Apply workshop (F2-L11 + F2-L12)</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F2-L11: Writing a Short Personal Introduction</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F2-L12: Show What You Can Say: F2 Review &amp; Assessment</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Apply both: the pen-friend coordinator · My pen-friend application</a:t>
            </a:r>
            <a:endParaRPr lang="en-US" sz="1300" dirty="0"/>
          </a:p>
        </p:txBody>
      </p:sp>
      <p:sp>
        <p:nvSpPr>
          <p:cNvPr id="27" name="Shape 24"/>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28" name="Shape 25"/>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29" name="Text 26"/>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0" name="Text 27"/>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1" name="Text 28"/>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Answer questions from BOTH lessons in full sentences.</a:t>
            </a:r>
            <a:endParaRPr lang="en-US" sz="1300" dirty="0"/>
          </a:p>
        </p:txBody>
      </p:sp>
      <p:sp>
        <p:nvSpPr>
          <p:cNvPr id="32" name="Text 29"/>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Write the text using the frames.</a:t>
            </a:r>
            <a:endParaRPr lang="en-US" sz="1300" dirty="0"/>
          </a:p>
        </p:txBody>
      </p:sp>
      <p:sp>
        <p:nvSpPr>
          <p:cNvPr id="33" name="Shape 30"/>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4" name="Shape 31"/>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5" name="Text 32"/>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6" name="Text 33"/>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37" name="Text 34"/>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Join both lessons in one conversation and a 30–45 seconds talk.</a:t>
            </a:r>
            <a:endParaRPr lang="en-US" sz="1300" dirty="0"/>
          </a:p>
        </p:txBody>
      </p:sp>
      <p:sp>
        <p:nvSpPr>
          <p:cNvPr id="38" name="Text 35"/>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Write the text, frames only if stuck.</a:t>
            </a:r>
            <a:endParaRPr lang="en-US" sz="1300" dirty="0"/>
          </a:p>
        </p:txBody>
      </p:sp>
      <p:sp>
        <p:nvSpPr>
          <p:cNvPr id="39" name="Shape 36"/>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0" name="Shape 37"/>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1" name="Text 38"/>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2" name="Text 39"/>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3" name="Text 40"/>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Speak without notes; add reasons and opinions.</a:t>
            </a:r>
            <a:endParaRPr lang="en-US" sz="1300" dirty="0"/>
          </a:p>
        </p:txBody>
      </p:sp>
      <p:sp>
        <p:nvSpPr>
          <p:cNvPr id="44" name="Text 41"/>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Add a reason (‏</a:t>
            </a:r>
            <a:pPr algn="l" indent="0" marL="0">
              <a:buNone/>
            </a:pPr>
            <a:r>
              <a:rPr lang="ar-SA" altLang="en-US" sz="1700" b="1" dirty="0">
                <a:solidFill>
                  <a:srgbClr val="B83227"/>
                </a:solidFill>
                <a:latin typeface="Amiri" pitchFamily="2" charset="-78"/>
                <a:ea typeface="Amiri" pitchFamily="2" charset="-78"/>
                <a:cs typeface="Amiri" pitchFamily="2" charset="-78"/>
              </a:rPr>
              <a:t>لِأَنَّ</a:t>
            </a:r>
            <a:pPr algn="l" indent="0" marL="0">
              <a:buNone/>
            </a:pPr>
            <a:r>
              <a:rPr lang="en-US" sz="1300" b="1" dirty="0">
                <a:solidFill>
                  <a:srgbClr val="B83227"/>
                </a:solidFill>
                <a:latin typeface="Calibri" pitchFamily="34" charset="0"/>
                <a:cs typeface="Amiri" pitchFamily="2" charset="-78"/>
              </a:rPr>
              <a:t>‏) and an extra detail to every point.</a:t>
            </a:r>
            <a:endParaRPr lang="en-US" sz="130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24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F2-W06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PART 1 · STEP 1 · WORD RACE · 4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Word race: two lessons, one race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سِبَاقُ الكَلِمَاتِ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F2-W06 · Apply workshop (F2-L11 + F2-L12)</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STEP 1 · PAIRS</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English → Arabic, from both lessons</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The next two slides show words from F2-L11 and F2-L12. Partner A says a word in ENGLISH; Partner B says it in ARABIC. One point for every correct answer in 90 seconds — then swap.</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Teacher: first round together (3 words from each slide).</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Pairs: 90 seconds each, as many as you can.</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Mix the lessons: one word from slide 1, one from slide 2.</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Last round: use two words — one from each lesson — in ONE sentence.</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Say the Arabic word clearly.</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Say the word, then a short sentence with it.</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Join a word from each lesson in one sentence with ‏</a:t>
            </a:r>
            <a:pPr algn="l" indent="0" marL="0">
              <a:buNone/>
            </a:pPr>
            <a:r>
              <a:rPr lang="ar-SA" altLang="en-US" sz="1500" dirty="0">
                <a:solidFill>
                  <a:srgbClr val="1F2A37"/>
                </a:solidFill>
                <a:latin typeface="Amiri" pitchFamily="2" charset="-78"/>
                <a:ea typeface="Amiri" pitchFamily="2" charset="-78"/>
                <a:cs typeface="Amiri" pitchFamily="2" charset="-78"/>
              </a:rPr>
              <a:t>وَ</a:t>
            </a:r>
            <a:pPr algn="l" indent="0" marL="0">
              <a:buNone/>
            </a:pPr>
            <a:r>
              <a:rPr lang="en-US" sz="1150" dirty="0">
                <a:solidFill>
                  <a:srgbClr val="1F2A37"/>
                </a:solidFill>
                <a:latin typeface="Calibri" pitchFamily="34" charset="0"/>
                <a:cs typeface="Amiri" pitchFamily="2" charset="-78"/>
              </a:rPr>
              <a:t>‏ or ‏</a:t>
            </a:r>
            <a:pPr algn="l" indent="0" marL="0">
              <a:buNone/>
            </a:pPr>
            <a:r>
              <a:rPr lang="ar-SA" altLang="en-US" sz="1500" dirty="0">
                <a:solidFill>
                  <a:srgbClr val="1F2A37"/>
                </a:solidFill>
                <a:latin typeface="Amiri" pitchFamily="2" charset="-78"/>
                <a:ea typeface="Amiri" pitchFamily="2" charset="-78"/>
                <a:cs typeface="Amiri" pitchFamily="2" charset="-78"/>
              </a:rPr>
              <a:t>لِأَنَّ</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دَوْرُكَ! / دَوْرُكِ!</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your turn! (m. / f.)</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صَحِيحٌ!</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correct!</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حَاوِلْ مَرَّةً أُخْرَى</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try again</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نُقْطَةٌ لَكَ / لَكِ</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a point for you (m. / f.)</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24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F2-W06 · Apply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STEP 1 · WORDS FROM F2-L11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00" b="1" dirty="0">
                <a:solidFill>
                  <a:srgbClr val="1B3B6F"/>
                </a:solidFill>
                <a:latin typeface="Cambria" pitchFamily="34" charset="0"/>
                <a:cs typeface="Amiri" pitchFamily="2" charset="-78"/>
              </a:rPr>
              <a:t>F2-L11 · Writing a Short Personal Introduction</a:t>
            </a:r>
            <a:endParaRPr lang="en-US" sz="20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 الأَوَّلِ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F2-W06 · Apply workshop (F2-L11 + F2-L12)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field</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الاِسْمُ</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name</a:t>
            </a:r>
            <a:endParaRPr lang="en-US" sz="1350" dirty="0"/>
          </a:p>
          <a:p>
            <a:pPr indent="0" marL="0">
              <a:buNone/>
            </a:pPr>
            <a:r>
              <a:rPr lang="en-US" sz="1100" i="1" dirty="0">
                <a:solidFill>
                  <a:srgbClr val="5A6472"/>
                </a:solidFill>
                <a:latin typeface="Calibri" pitchFamily="34" charset="0"/>
                <a:cs typeface="Amiri" pitchFamily="2" charset="-78"/>
              </a:rPr>
              <a:t>al-ism</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first</a:t>
            </a:r>
            <a:endParaRPr lang="en-US" sz="700" dirty="0"/>
          </a:p>
        </p:txBody>
      </p:sp>
      <p:sp>
        <p:nvSpPr>
          <p:cNvPr id="26" name="Text 23"/>
          <p:cNvSpPr txBox="1"/>
          <p:nvPr/>
        </p:nvSpPr>
        <p:spPr>
          <a:xfrm>
            <a:off x="10588752"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الاِسْمُ الأَوَّلُ</a:t>
            </a:r>
            <a:endParaRPr lang="ar-SA" sz="135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family</a:t>
            </a:r>
            <a:endParaRPr lang="en-US" sz="700" dirty="0"/>
          </a:p>
        </p:txBody>
      </p:sp>
      <p:sp>
        <p:nvSpPr>
          <p:cNvPr id="29" name="Text 26"/>
          <p:cNvSpPr txBox="1"/>
          <p:nvPr/>
        </p:nvSpPr>
        <p:spPr>
          <a:xfrm>
            <a:off x="9436608"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اِسْمُ العَائِلَةِ</a:t>
            </a:r>
            <a:endParaRPr lang="ar-SA" sz="135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surname</a:t>
            </a:r>
            <a:endParaRPr lang="en-US" sz="700" dirty="0"/>
          </a:p>
        </p:txBody>
      </p:sp>
      <p:sp>
        <p:nvSpPr>
          <p:cNvPr id="32" name="Text 29"/>
          <p:cNvSpPr txBox="1"/>
          <p:nvPr/>
        </p:nvSpPr>
        <p:spPr>
          <a:xfrm>
            <a:off x="8284464"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اللَّقَبُ</a:t>
            </a:r>
            <a:endParaRPr lang="ar-SA" sz="135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6" name="Shape 33"/>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field</a:t>
            </a:r>
            <a:endParaRPr lang="en-US" sz="800" dirty="0"/>
          </a:p>
        </p:txBody>
      </p:sp>
      <p:sp>
        <p:nvSpPr>
          <p:cNvPr id="38" name="Shape 3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0" name="Text 37"/>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الجِنْسِيَّةُ</a:t>
            </a:r>
            <a:endParaRPr lang="ar-SA" sz="3000" dirty="0"/>
          </a:p>
        </p:txBody>
      </p:sp>
      <p:sp>
        <p:nvSpPr>
          <p:cNvPr id="41" name="Text 38"/>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nationality</a:t>
            </a:r>
            <a:endParaRPr lang="en-US" sz="1350" dirty="0"/>
          </a:p>
          <a:p>
            <a:pPr indent="0" marL="0">
              <a:buNone/>
            </a:pPr>
            <a:r>
              <a:rPr lang="en-US" sz="1100" i="1" dirty="0">
                <a:solidFill>
                  <a:srgbClr val="5A6472"/>
                </a:solidFill>
                <a:latin typeface="Calibri" pitchFamily="34" charset="0"/>
                <a:cs typeface="Amiri" pitchFamily="2" charset="-78"/>
              </a:rPr>
              <a:t>al-jin-siy-ya</a:t>
            </a:r>
            <a:endParaRPr lang="en-US" sz="1350" dirty="0"/>
          </a:p>
        </p:txBody>
      </p:sp>
      <p:sp>
        <p:nvSpPr>
          <p:cNvPr id="42" name="Text 39"/>
          <p:cNvSpPr txBox="1"/>
          <p:nvPr/>
        </p:nvSpPr>
        <p:spPr>
          <a:xfrm>
            <a:off x="4416552"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الجِنْسِيَّةُ: مِصْرِيَّةٌ</a:t>
            </a:r>
            <a:endParaRPr lang="ar-SA" sz="1300" dirty="0"/>
          </a:p>
        </p:txBody>
      </p:sp>
      <p:sp>
        <p:nvSpPr>
          <p:cNvPr id="43" name="Shape 40"/>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66928" y="1920240"/>
            <a:ext cx="310896" cy="310896"/>
          </a:xfrm>
          <a:prstGeom prst="ellipse">
            <a:avLst/>
          </a:prstGeom>
          <a:solidFill>
            <a:srgbClr val="F4F1EA"/>
          </a:solidFill>
          <a:ln w="12700">
            <a:solidFill>
              <a:srgbClr val="F4F1EA"/>
            </a:solidFill>
            <a:prstDash val="solid"/>
          </a:ln>
        </p:spPr>
      </p:sp>
      <p:sp>
        <p:nvSpPr>
          <p:cNvPr id="45" name="Text 42"/>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46" name="Shape 43"/>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47" name="Text 44"/>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field</a:t>
            </a:r>
            <a:endParaRPr lang="en-US" sz="800" dirty="0"/>
          </a:p>
        </p:txBody>
      </p:sp>
      <p:sp>
        <p:nvSpPr>
          <p:cNvPr id="48" name="Shape 45"/>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0" name="Text 47"/>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اللُّغَاتُ</a:t>
            </a:r>
            <a:endParaRPr lang="ar-SA" sz="3000" dirty="0"/>
          </a:p>
        </p:txBody>
      </p:sp>
      <p:sp>
        <p:nvSpPr>
          <p:cNvPr id="51" name="Text 48"/>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languages</a:t>
            </a:r>
            <a:endParaRPr lang="en-US" sz="1350" dirty="0"/>
          </a:p>
          <a:p>
            <a:pPr indent="0" marL="0">
              <a:buNone/>
            </a:pPr>
            <a:r>
              <a:rPr lang="en-US" sz="1100" i="1" dirty="0">
                <a:solidFill>
                  <a:srgbClr val="5A6472"/>
                </a:solidFill>
                <a:latin typeface="Calibri" pitchFamily="34" charset="0"/>
                <a:cs typeface="Amiri" pitchFamily="2" charset="-78"/>
              </a:rPr>
              <a:t>al-lu-ghāt</a:t>
            </a:r>
            <a:endParaRPr lang="en-US" sz="1350" dirty="0"/>
          </a:p>
        </p:txBody>
      </p:sp>
      <p:sp>
        <p:nvSpPr>
          <p:cNvPr id="52" name="Shape 49"/>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53" name="Text 50"/>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one</a:t>
            </a:r>
            <a:endParaRPr lang="en-US" sz="750" dirty="0"/>
          </a:p>
        </p:txBody>
      </p:sp>
      <p:sp>
        <p:nvSpPr>
          <p:cNvPr id="54" name="Text 51"/>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اللُّغَةُ</a:t>
            </a:r>
            <a:endParaRPr lang="ar-SA" sz="1500" dirty="0"/>
          </a:p>
        </p:txBody>
      </p:sp>
      <p:sp>
        <p:nvSpPr>
          <p:cNvPr id="55" name="Shape 52"/>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56" name="Text 53"/>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7" name="Text 54"/>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اللُّغَاتُ</a:t>
            </a:r>
            <a:endParaRPr lang="ar-SA" sz="1500" dirty="0"/>
          </a:p>
        </p:txBody>
      </p:sp>
      <p:sp>
        <p:nvSpPr>
          <p:cNvPr id="58" name="Shape 55"/>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59" name="Text 56"/>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first</a:t>
            </a:r>
            <a:endParaRPr lang="en-US" sz="700" dirty="0"/>
          </a:p>
        </p:txBody>
      </p:sp>
      <p:sp>
        <p:nvSpPr>
          <p:cNvPr id="60" name="Text 57"/>
          <p:cNvSpPr txBox="1"/>
          <p:nvPr/>
        </p:nvSpPr>
        <p:spPr>
          <a:xfrm>
            <a:off x="640080"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اللُّغَةُ الأُولَى</a:t>
            </a:r>
            <a:endParaRPr lang="ar-SA" sz="1350" dirty="0"/>
          </a:p>
        </p:txBody>
      </p:sp>
      <p:sp>
        <p:nvSpPr>
          <p:cNvPr id="61" name="Shape 5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8211312" y="4261104"/>
            <a:ext cx="310896" cy="310896"/>
          </a:xfrm>
          <a:prstGeom prst="ellipse">
            <a:avLst/>
          </a:prstGeom>
          <a:solidFill>
            <a:srgbClr val="F4F1EA"/>
          </a:solidFill>
          <a:ln w="12700">
            <a:solidFill>
              <a:srgbClr val="F4F1EA"/>
            </a:solidFill>
            <a:prstDash val="solid"/>
          </a:ln>
        </p:spPr>
      </p:sp>
      <p:sp>
        <p:nvSpPr>
          <p:cNvPr id="63" name="Text 6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64" name="Shape 61"/>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5" name="Text 62"/>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6" name="Text 63"/>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وَ</a:t>
            </a:r>
            <a:endParaRPr lang="ar-SA" sz="3000" dirty="0"/>
          </a:p>
        </p:txBody>
      </p:sp>
      <p:sp>
        <p:nvSpPr>
          <p:cNvPr id="67" name="Text 64"/>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and</a:t>
            </a:r>
            <a:endParaRPr lang="en-US" sz="1350" dirty="0"/>
          </a:p>
          <a:p>
            <a:pPr indent="0" marL="0">
              <a:buNone/>
            </a:pPr>
            <a:r>
              <a:rPr lang="en-US" sz="1100" i="1" dirty="0">
                <a:solidFill>
                  <a:srgbClr val="5A6472"/>
                </a:solidFill>
                <a:latin typeface="Calibri" pitchFamily="34" charset="0"/>
                <a:cs typeface="Amiri" pitchFamily="2" charset="-78"/>
              </a:rPr>
              <a:t>wa</a:t>
            </a:r>
            <a:endParaRPr lang="en-US" sz="1350" dirty="0"/>
          </a:p>
        </p:txBody>
      </p:sp>
      <p:sp>
        <p:nvSpPr>
          <p:cNvPr id="68" name="Shape 65"/>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9" name="Shape 66"/>
          <p:cNvSpPr/>
          <p:nvPr/>
        </p:nvSpPr>
        <p:spPr>
          <a:xfrm>
            <a:off x="4389120" y="4261104"/>
            <a:ext cx="310896" cy="310896"/>
          </a:xfrm>
          <a:prstGeom prst="ellipse">
            <a:avLst/>
          </a:prstGeom>
          <a:solidFill>
            <a:srgbClr val="F4F1EA"/>
          </a:solidFill>
          <a:ln w="12700">
            <a:solidFill>
              <a:srgbClr val="F4F1EA"/>
            </a:solidFill>
            <a:prstDash val="solid"/>
          </a:ln>
        </p:spPr>
      </p:sp>
      <p:sp>
        <p:nvSpPr>
          <p:cNvPr id="70" name="Text 67"/>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71" name="Shape 68"/>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72" name="Text 69"/>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73" name="Text 70"/>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ثُمَّ</a:t>
            </a:r>
            <a:endParaRPr lang="ar-SA" sz="3000" dirty="0"/>
          </a:p>
        </p:txBody>
      </p:sp>
      <p:sp>
        <p:nvSpPr>
          <p:cNvPr id="74" name="Text 71"/>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then</a:t>
            </a:r>
            <a:endParaRPr lang="en-US" sz="1350" dirty="0"/>
          </a:p>
          <a:p>
            <a:pPr indent="0" marL="0">
              <a:buNone/>
            </a:pPr>
            <a:r>
              <a:rPr lang="en-US" sz="1100" i="1" dirty="0">
                <a:solidFill>
                  <a:srgbClr val="5A6472"/>
                </a:solidFill>
                <a:latin typeface="Calibri" pitchFamily="34" charset="0"/>
                <a:cs typeface="Amiri" pitchFamily="2" charset="-78"/>
              </a:rPr>
              <a:t>thum-ma</a:t>
            </a:r>
            <a:endParaRPr lang="en-US" sz="1350" dirty="0"/>
          </a:p>
        </p:txBody>
      </p:sp>
      <p:sp>
        <p:nvSpPr>
          <p:cNvPr id="75" name="Shape 7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566928" y="4261104"/>
            <a:ext cx="310896" cy="310896"/>
          </a:xfrm>
          <a:prstGeom prst="ellipse">
            <a:avLst/>
          </a:prstGeom>
          <a:solidFill>
            <a:srgbClr val="F4F1EA"/>
          </a:solidFill>
          <a:ln w="12700">
            <a:solidFill>
              <a:srgbClr val="F4F1EA"/>
            </a:solidFill>
            <a:prstDash val="solid"/>
          </a:ln>
        </p:spPr>
      </p:sp>
      <p:sp>
        <p:nvSpPr>
          <p:cNvPr id="77" name="Text 7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78" name="Shape 7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79" name="Text 7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80" name="Text 7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لٰكِنَّ</a:t>
            </a:r>
            <a:endParaRPr lang="ar-SA" sz="3000" dirty="0"/>
          </a:p>
        </p:txBody>
      </p:sp>
      <p:sp>
        <p:nvSpPr>
          <p:cNvPr id="81" name="Text 7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but</a:t>
            </a:r>
            <a:endParaRPr lang="en-US" sz="1350" dirty="0"/>
          </a:p>
          <a:p>
            <a:pPr indent="0" marL="0">
              <a:buNone/>
            </a:pPr>
            <a:r>
              <a:rPr lang="en-US" sz="1100" i="1" dirty="0">
                <a:solidFill>
                  <a:srgbClr val="5A6472"/>
                </a:solidFill>
                <a:latin typeface="Calibri" pitchFamily="34" charset="0"/>
                <a:cs typeface="Amiri" pitchFamily="2" charset="-78"/>
              </a:rPr>
              <a:t>lā-kin-na</a:t>
            </a:r>
            <a:endParaRPr lang="en-US" sz="1350" dirty="0"/>
          </a:p>
        </p:txBody>
      </p:sp>
      <p:sp>
        <p:nvSpPr>
          <p:cNvPr id="82" name="Text 7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24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F2-W06 · Apply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STEP 1 · WORDS FROM F2-L12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F2-L12 · Show What You Can Say: F2 Review &amp; Assessment</a:t>
            </a:r>
            <a:endParaRPr lang="en-US" sz="1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 الثَّانِي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F2-W06 · Apply workshop (F2-L11 + F2-L12)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السَّلَامُ عَلَيْكُمْ</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peace be upon you</a:t>
            </a:r>
            <a:endParaRPr lang="en-US" sz="1350" dirty="0"/>
          </a:p>
          <a:p>
            <a:pPr indent="0" marL="0">
              <a:buNone/>
            </a:pPr>
            <a:r>
              <a:rPr lang="en-US" sz="1100" i="1" dirty="0">
                <a:solidFill>
                  <a:srgbClr val="5A6472"/>
                </a:solidFill>
                <a:latin typeface="Calibri" pitchFamily="34" charset="0"/>
                <a:cs typeface="Amiri" pitchFamily="2" charset="-78"/>
              </a:rPr>
              <a:t>as-sa-lā-mu ʿa-lay-kum</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مَا اسْمُكَ؟ · مَا اسْمُكِ؟</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what is your name? (boy · girl)</a:t>
            </a:r>
            <a:endParaRPr lang="en-US" sz="1350" dirty="0"/>
          </a:p>
          <a:p>
            <a:pPr indent="0" marL="0">
              <a:buNone/>
            </a:pPr>
            <a:r>
              <a:rPr lang="en-US" sz="1100" i="1" dirty="0">
                <a:solidFill>
                  <a:srgbClr val="5A6472"/>
                </a:solidFill>
                <a:latin typeface="Calibri" pitchFamily="34" charset="0"/>
                <a:cs typeface="Amiri" pitchFamily="2" charset="-78"/>
              </a:rPr>
              <a:t>mā as-mu-ka? · mā as-mu-ki?</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مِنْ أَيْنَ أَنْتَ؟</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where are you from?</a:t>
            </a:r>
            <a:endParaRPr lang="en-US" sz="1350" dirty="0"/>
          </a:p>
          <a:p>
            <a:pPr indent="0" marL="0">
              <a:buNone/>
            </a:pPr>
            <a:r>
              <a:rPr lang="en-US" sz="1100" i="1" dirty="0">
                <a:solidFill>
                  <a:srgbClr val="5A6472"/>
                </a:solidFill>
                <a:latin typeface="Calibri" pitchFamily="34" charset="0"/>
                <a:cs typeface="Amiri" pitchFamily="2" charset="-78"/>
              </a:rPr>
              <a:t>min ay-na an-ta?</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39" name="Shape 3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1" name="Text 3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اسْمُهُ · اسْمُهَا</a:t>
            </a:r>
            <a:endParaRPr lang="ar-SA" sz="3000" dirty="0"/>
          </a:p>
        </p:txBody>
      </p:sp>
      <p:sp>
        <p:nvSpPr>
          <p:cNvPr id="42" name="Text 3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his name · her name</a:t>
            </a:r>
            <a:endParaRPr lang="en-US" sz="1350" dirty="0"/>
          </a:p>
          <a:p>
            <a:pPr indent="0" marL="0">
              <a:buNone/>
            </a:pPr>
            <a:r>
              <a:rPr lang="en-US" sz="1100" i="1" dirty="0">
                <a:solidFill>
                  <a:srgbClr val="5A6472"/>
                </a:solidFill>
                <a:latin typeface="Calibri" pitchFamily="34" charset="0"/>
                <a:cs typeface="Amiri" pitchFamily="2" charset="-78"/>
              </a:rPr>
              <a:t>as-mu-hu · as-mu-hā</a:t>
            </a:r>
            <a:endParaRPr lang="en-US" sz="1350" dirty="0"/>
          </a:p>
        </p:txBody>
      </p:sp>
      <p:sp>
        <p:nvSpPr>
          <p:cNvPr id="43" name="Shape 4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4389120" y="4261104"/>
            <a:ext cx="310896" cy="310896"/>
          </a:xfrm>
          <a:prstGeom prst="ellipse">
            <a:avLst/>
          </a:prstGeom>
          <a:solidFill>
            <a:srgbClr val="F4F1EA"/>
          </a:solidFill>
          <a:ln w="12700">
            <a:solidFill>
              <a:srgbClr val="F4F1EA"/>
            </a:solidFill>
            <a:prstDash val="solid"/>
          </a:ln>
        </p:spPr>
      </p:sp>
      <p:sp>
        <p:nvSpPr>
          <p:cNvPr id="45" name="Text 4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46" name="Shape 43"/>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8" name="Text 45"/>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أَسْكُنُ فِي …</a:t>
            </a:r>
            <a:endParaRPr lang="ar-SA" sz="3000" dirty="0"/>
          </a:p>
        </p:txBody>
      </p:sp>
      <p:sp>
        <p:nvSpPr>
          <p:cNvPr id="49" name="Text 46"/>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live in …</a:t>
            </a:r>
            <a:endParaRPr lang="en-US" sz="1350" dirty="0"/>
          </a:p>
          <a:p>
            <a:pPr indent="0" marL="0">
              <a:buNone/>
            </a:pPr>
            <a:r>
              <a:rPr lang="en-US" sz="1100" i="1" dirty="0">
                <a:solidFill>
                  <a:srgbClr val="5A6472"/>
                </a:solidFill>
                <a:latin typeface="Calibri" pitchFamily="34" charset="0"/>
                <a:cs typeface="Amiri" pitchFamily="2" charset="-78"/>
              </a:rPr>
              <a:t>as-ku-nu fī …</a:t>
            </a:r>
            <a:endParaRPr lang="en-US" sz="1350" dirty="0"/>
          </a:p>
        </p:txBody>
      </p:sp>
      <p:sp>
        <p:nvSpPr>
          <p:cNvPr id="50" name="Shape 47"/>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1" name="Shape 48"/>
          <p:cNvSpPr/>
          <p:nvPr/>
        </p:nvSpPr>
        <p:spPr>
          <a:xfrm>
            <a:off x="566928" y="4261104"/>
            <a:ext cx="310896" cy="310896"/>
          </a:xfrm>
          <a:prstGeom prst="ellipse">
            <a:avLst/>
          </a:prstGeom>
          <a:solidFill>
            <a:srgbClr val="F4F1EA"/>
          </a:solidFill>
          <a:ln w="12700">
            <a:solidFill>
              <a:srgbClr val="F4F1EA"/>
            </a:solidFill>
            <a:prstDash val="solid"/>
          </a:ln>
        </p:spPr>
      </p:sp>
      <p:sp>
        <p:nvSpPr>
          <p:cNvPr id="52" name="Text 49"/>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53" name="Shape 50"/>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5" name="Text 5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بِرِيطَانِيٌّ · بِرِيطَانِيَّةٌ</a:t>
            </a:r>
            <a:endParaRPr lang="ar-SA" sz="3000" dirty="0"/>
          </a:p>
        </p:txBody>
      </p:sp>
      <p:sp>
        <p:nvSpPr>
          <p:cNvPr id="56" name="Text 5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British (m. · f.)</a:t>
            </a:r>
            <a:endParaRPr lang="en-US" sz="1350" dirty="0"/>
          </a:p>
          <a:p>
            <a:pPr indent="0" marL="0">
              <a:buNone/>
            </a:pPr>
            <a:r>
              <a:rPr lang="en-US" sz="1100" i="1" dirty="0">
                <a:solidFill>
                  <a:srgbClr val="5A6472"/>
                </a:solidFill>
                <a:latin typeface="Calibri" pitchFamily="34" charset="0"/>
                <a:cs typeface="Amiri" pitchFamily="2" charset="-78"/>
              </a:rPr>
              <a:t>bi-rī-ṭā-niy-yun · bi-rī-ṭā-niy-ya-tun</a:t>
            </a:r>
            <a:endParaRPr lang="en-US" sz="13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24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F2-W06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PART 1 · STEP 2 · SORT IT · READ EACH CARD, THEN SORT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 or answer?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 البِطَاقَاتِ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F2-W06 · Apply workshop (F2-L11 + F2-L12)</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مَا اسْمُكِ؟</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عُمْرِي أَرْبَعَ عَشْرَةَ سَنَةً</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أَنَا مِنْ لِيبِيَا</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كَمْ عُمْرُكَ؟</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مِنْ أَيْنَ أَنْتَ؟</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أَتَكَلَّمُ العَرَبِيَّةَ أَيْضًا</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اسْمِي هِنْدٌ</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أَيَّ لُغَاتٍ تَتَكَلَّمُ؟</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Questions — you ASK</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Answers — you TELL</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24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F2-W06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2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 البِطَاقَاتِ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F2-W06 · Apply workshop (F2-L11 + F2-L12)</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Questions — you ASK</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مَا اسْمُكِ؟</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كَمْ عُمْرُكَ؟</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مِنْ أَيْنَ أَنْتَ؟</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أَيَّ لُغَاتٍ تَتَكَلَّمُ؟</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Answers — you TELL</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عُمْرِي أَرْبَعَ عَشْرَةَ سَنَةً</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أَنَا مِنْ لِيبِيَا</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أَتَكَلَّمُ العَرَبِيَّةَ أَيْضًا</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اسْمِي هِنْدٌ</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24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F2-W06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34" b="1" spc="150" kern="0" dirty="0">
                <a:solidFill>
                  <a:srgbClr val="2F6FB0"/>
                </a:solidFill>
                <a:latin typeface="Calibri" pitchFamily="34" charset="0"/>
                <a:cs typeface="Amiri" pitchFamily="2" charset="-78"/>
              </a:rPr>
              <a:t>PART 2 · STEP 3 · SAY THE MODEL DIALOGUE · BOTH LESSONS IN ONE CONVERSATION</a:t>
            </a:r>
            <a:endParaRPr lang="en-US" sz="934"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At the pen-friend club</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فِي نَادِي المُرَاسَلَةِ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F2-W06 · Apply workshop (F2-L11 + F2-L12)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754112" y="1810512"/>
            <a:ext cx="3904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7" name="Text 14"/>
          <p:cNvSpPr txBox="1"/>
          <p:nvPr/>
        </p:nvSpPr>
        <p:spPr>
          <a:xfrm>
            <a:off x="1444752" y="1810512"/>
            <a:ext cx="6163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Say it in Arabic</a:t>
            </a:r>
            <a:endParaRPr lang="en-US" sz="1100" dirty="0"/>
          </a:p>
        </p:txBody>
      </p:sp>
      <p:sp>
        <p:nvSpPr>
          <p:cNvPr id="18" name="Text 15"/>
          <p:cNvSpPr txBox="1"/>
          <p:nvPr/>
        </p:nvSpPr>
        <p:spPr>
          <a:xfrm>
            <a:off x="530352" y="1810512"/>
            <a:ext cx="768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Who</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7790688" y="2267712"/>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Peace be upon you! How are you?</a:t>
            </a:r>
            <a:endParaRPr lang="en-US" sz="1100" dirty="0"/>
          </a:p>
        </p:txBody>
      </p:sp>
      <p:sp>
        <p:nvSpPr>
          <p:cNvPr id="21" name="Text 18"/>
          <p:cNvSpPr txBox="1"/>
          <p:nvPr/>
        </p:nvSpPr>
        <p:spPr>
          <a:xfrm>
            <a:off x="1463040" y="2267712"/>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السَّلَامُ عَلَيْكُمْ! كَيْفَ حَالُكَ؟</a:t>
            </a:r>
            <a:endParaRPr lang="ar-SA" sz="1900" dirty="0"/>
          </a:p>
        </p:txBody>
      </p:sp>
      <p:sp>
        <p:nvSpPr>
          <p:cNvPr id="22" name="Text 19"/>
          <p:cNvSpPr txBox="1"/>
          <p:nvPr/>
        </p:nvSpPr>
        <p:spPr>
          <a:xfrm>
            <a:off x="566928" y="2267712"/>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23" name="Shape 20"/>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4" name="Text 21"/>
          <p:cNvSpPr txBox="1"/>
          <p:nvPr/>
        </p:nvSpPr>
        <p:spPr>
          <a:xfrm>
            <a:off x="7790688" y="2881884"/>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And upon you be peace! Fine, praise be to God.</a:t>
            </a:r>
            <a:endParaRPr lang="en-US" sz="1100" dirty="0"/>
          </a:p>
        </p:txBody>
      </p:sp>
      <p:sp>
        <p:nvSpPr>
          <p:cNvPr id="25" name="Text 22"/>
          <p:cNvSpPr txBox="1"/>
          <p:nvPr/>
        </p:nvSpPr>
        <p:spPr>
          <a:xfrm>
            <a:off x="1463040" y="2881884"/>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وَعَلَيْكُمُ السَّلَامُ! بِخَيْرٍ، الحَمْدُ لِلّٰهِ.</a:t>
            </a:r>
            <a:endParaRPr lang="ar-SA" sz="1900" dirty="0"/>
          </a:p>
        </p:txBody>
      </p:sp>
      <p:sp>
        <p:nvSpPr>
          <p:cNvPr id="26" name="Text 23"/>
          <p:cNvSpPr txBox="1"/>
          <p:nvPr/>
        </p:nvSpPr>
        <p:spPr>
          <a:xfrm>
            <a:off x="566928" y="2881884"/>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27" name="Shape 24"/>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28" name="Text 25"/>
          <p:cNvSpPr txBox="1"/>
          <p:nvPr/>
        </p:nvSpPr>
        <p:spPr>
          <a:xfrm>
            <a:off x="7790688" y="3496056"/>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is your name, and how old are you?</a:t>
            </a:r>
            <a:endParaRPr lang="en-US" sz="1100" dirty="0"/>
          </a:p>
        </p:txBody>
      </p:sp>
      <p:sp>
        <p:nvSpPr>
          <p:cNvPr id="29" name="Text 26"/>
          <p:cNvSpPr txBox="1"/>
          <p:nvPr/>
        </p:nvSpPr>
        <p:spPr>
          <a:xfrm>
            <a:off x="1463040" y="3496056"/>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مَا اسْمُكَ، وَكَمْ عُمْرُكَ؟</a:t>
            </a:r>
            <a:endParaRPr lang="ar-SA" sz="1900" dirty="0"/>
          </a:p>
        </p:txBody>
      </p:sp>
      <p:sp>
        <p:nvSpPr>
          <p:cNvPr id="30" name="Text 27"/>
          <p:cNvSpPr txBox="1"/>
          <p:nvPr/>
        </p:nvSpPr>
        <p:spPr>
          <a:xfrm>
            <a:off x="566928" y="3496056"/>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31" name="Shape 2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2" name="Text 29"/>
          <p:cNvSpPr txBox="1"/>
          <p:nvPr/>
        </p:nvSpPr>
        <p:spPr>
          <a:xfrm>
            <a:off x="7790688" y="4110228"/>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My name is Hamza, and I am thirteen.</a:t>
            </a:r>
            <a:endParaRPr lang="en-US" sz="1100" dirty="0"/>
          </a:p>
        </p:txBody>
      </p:sp>
      <p:sp>
        <p:nvSpPr>
          <p:cNvPr id="33" name="Text 30"/>
          <p:cNvSpPr txBox="1"/>
          <p:nvPr/>
        </p:nvSpPr>
        <p:spPr>
          <a:xfrm>
            <a:off x="1463040" y="4110228"/>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اسْمِي حَمْزَةُ، وَعُمْرِي ثَلَاثَ عَشْرَةَ سَنَةً.</a:t>
            </a:r>
            <a:endParaRPr lang="ar-SA" sz="1900" dirty="0"/>
          </a:p>
        </p:txBody>
      </p:sp>
      <p:sp>
        <p:nvSpPr>
          <p:cNvPr id="34" name="Text 31"/>
          <p:cNvSpPr txBox="1"/>
          <p:nvPr/>
        </p:nvSpPr>
        <p:spPr>
          <a:xfrm>
            <a:off x="566928" y="4110228"/>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35" name="Shape 32"/>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36" name="Text 33"/>
          <p:cNvSpPr txBox="1"/>
          <p:nvPr/>
        </p:nvSpPr>
        <p:spPr>
          <a:xfrm>
            <a:off x="7790688" y="4724400"/>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Why do you learn Arabic?</a:t>
            </a:r>
            <a:endParaRPr lang="en-US" sz="1100" dirty="0"/>
          </a:p>
        </p:txBody>
      </p:sp>
      <p:sp>
        <p:nvSpPr>
          <p:cNvPr id="37" name="Text 34"/>
          <p:cNvSpPr txBox="1"/>
          <p:nvPr/>
        </p:nvSpPr>
        <p:spPr>
          <a:xfrm>
            <a:off x="1463040" y="4724400"/>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لِمَاذَا تَتَعَلَّمُ العَرَبِيَّةَ؟</a:t>
            </a:r>
            <a:endParaRPr lang="ar-SA" sz="1900" dirty="0"/>
          </a:p>
        </p:txBody>
      </p:sp>
      <p:sp>
        <p:nvSpPr>
          <p:cNvPr id="38" name="Text 35"/>
          <p:cNvSpPr txBox="1"/>
          <p:nvPr/>
        </p:nvSpPr>
        <p:spPr>
          <a:xfrm>
            <a:off x="566928" y="4724400"/>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39" name="Shape 3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0" name="Text 37"/>
          <p:cNvSpPr txBox="1"/>
          <p:nvPr/>
        </p:nvSpPr>
        <p:spPr>
          <a:xfrm>
            <a:off x="7790688" y="5338572"/>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learn Arabic because I love the Qur’an, and because my grandfather is from Jordan.</a:t>
            </a:r>
            <a:endParaRPr lang="en-US" sz="1100" dirty="0"/>
          </a:p>
        </p:txBody>
      </p:sp>
      <p:sp>
        <p:nvSpPr>
          <p:cNvPr id="41" name="Text 38"/>
          <p:cNvSpPr txBox="1"/>
          <p:nvPr/>
        </p:nvSpPr>
        <p:spPr>
          <a:xfrm>
            <a:off x="1463040" y="5338572"/>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أَتَعَلَّمُ العَرَبِيَّةَ لِأَنِّي أُحِبُّ القُرْآنَ، وَلِأَنَّ جَدِّي مِنَ الأُرْدُنِّ.</a:t>
            </a:r>
            <a:endParaRPr lang="ar-SA" sz="1900" dirty="0"/>
          </a:p>
        </p:txBody>
      </p:sp>
      <p:sp>
        <p:nvSpPr>
          <p:cNvPr id="42" name="Text 39"/>
          <p:cNvSpPr txBox="1"/>
          <p:nvPr/>
        </p:nvSpPr>
        <p:spPr>
          <a:xfrm>
            <a:off x="566928" y="5338572"/>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Round 1: read it in pairs (A and B). Round 2: swap letters. Round 3: cover the Arabic and say it from the English. Then change TWO details — one from each lesson — and say it again.</a:t>
            </a:r>
            <a:endParaRPr lang="en-US" sz="11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24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F2-W06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STEP 4 · QUESTION CARDS · QUESTIONS FROM BOTH LESSONS, MIXED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Mixed questions — answer, then add more</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مِنَ الدَّرْسَيْنِ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F2-W06 · Apply workshop (F2-L11 + F2-L12)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720072" y="1810512"/>
            <a:ext cx="1938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Add more (Develop · Stretch)</a:t>
            </a:r>
            <a:endParaRPr lang="en-US" sz="1100" dirty="0"/>
          </a:p>
        </p:txBody>
      </p:sp>
      <p:sp>
        <p:nvSpPr>
          <p:cNvPr id="17" name="Text 14"/>
          <p:cNvSpPr txBox="1"/>
          <p:nvPr/>
        </p:nvSpPr>
        <p:spPr>
          <a:xfrm>
            <a:off x="697687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Start your answer (Core)</a:t>
            </a:r>
            <a:endParaRPr lang="en-US" sz="1100" dirty="0"/>
          </a:p>
        </p:txBody>
      </p:sp>
      <p:sp>
        <p:nvSpPr>
          <p:cNvPr id="18" name="Text 15"/>
          <p:cNvSpPr txBox="1"/>
          <p:nvPr/>
        </p:nvSpPr>
        <p:spPr>
          <a:xfrm>
            <a:off x="459943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9" name="Text 16"/>
          <p:cNvSpPr txBox="1"/>
          <p:nvPr/>
        </p:nvSpPr>
        <p:spPr>
          <a:xfrm>
            <a:off x="1033272" y="1810512"/>
            <a:ext cx="3419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 A asks</a:t>
            </a:r>
            <a:endParaRPr lang="en-US" sz="1100" dirty="0"/>
          </a:p>
        </p:txBody>
      </p:sp>
      <p:sp>
        <p:nvSpPr>
          <p:cNvPr id="20" name="Text 17"/>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1" name="Shape 18"/>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2" name="Text 19"/>
          <p:cNvSpPr txBox="1"/>
          <p:nvPr/>
        </p:nvSpPr>
        <p:spPr>
          <a:xfrm>
            <a:off x="9738360" y="2267712"/>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وَاسْمُ عَائِلَتِي …</a:t>
            </a:r>
            <a:endParaRPr lang="ar-SA" sz="1500" dirty="0"/>
          </a:p>
        </p:txBody>
      </p:sp>
      <p:sp>
        <p:nvSpPr>
          <p:cNvPr id="23" name="Text 20"/>
          <p:cNvSpPr txBox="1"/>
          <p:nvPr/>
        </p:nvSpPr>
        <p:spPr>
          <a:xfrm>
            <a:off x="6995160" y="2267712"/>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اسْمِي …</a:t>
            </a:r>
            <a:endParaRPr lang="ar-SA" sz="1600" dirty="0"/>
          </a:p>
        </p:txBody>
      </p:sp>
      <p:sp>
        <p:nvSpPr>
          <p:cNvPr id="24" name="Text 21"/>
          <p:cNvSpPr txBox="1"/>
          <p:nvPr/>
        </p:nvSpPr>
        <p:spPr>
          <a:xfrm>
            <a:off x="4636008" y="226771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Name? → say it in a sentence.</a:t>
            </a:r>
            <a:endParaRPr lang="en-US" sz="1100" dirty="0"/>
          </a:p>
        </p:txBody>
      </p:sp>
      <p:sp>
        <p:nvSpPr>
          <p:cNvPr id="25" name="Text 22"/>
          <p:cNvSpPr txBox="1"/>
          <p:nvPr/>
        </p:nvSpPr>
        <p:spPr>
          <a:xfrm>
            <a:off x="1051560" y="2267712"/>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الاسْمُ؟ ← قُلْهُ فِي جُمْلَةٍ.</a:t>
            </a:r>
            <a:endParaRPr lang="ar-SA" sz="1700" dirty="0"/>
          </a:p>
        </p:txBody>
      </p:sp>
      <p:sp>
        <p:nvSpPr>
          <p:cNvPr id="26" name="Text 23"/>
          <p:cNvSpPr txBox="1"/>
          <p:nvPr/>
        </p:nvSpPr>
        <p:spPr>
          <a:xfrm>
            <a:off x="566928" y="2267712"/>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7" name="Shape 24"/>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9" name="Shape 26"/>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30" name="Text 27"/>
          <p:cNvSpPr txBox="1"/>
          <p:nvPr/>
        </p:nvSpPr>
        <p:spPr>
          <a:xfrm>
            <a:off x="9738360" y="2881884"/>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وَأَنْتَ؟ / وَأَنْتِ؟</a:t>
            </a:r>
            <a:endParaRPr lang="ar-SA" sz="1500" dirty="0"/>
          </a:p>
        </p:txBody>
      </p:sp>
      <p:sp>
        <p:nvSpPr>
          <p:cNvPr id="31" name="Text 28"/>
          <p:cNvSpPr txBox="1"/>
          <p:nvPr/>
        </p:nvSpPr>
        <p:spPr>
          <a:xfrm>
            <a:off x="6995160" y="2881884"/>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بِخَيْرٍ، الحَمْدُ لِلّٰهِ.</a:t>
            </a:r>
            <a:endParaRPr lang="ar-SA" sz="1600" dirty="0"/>
          </a:p>
        </p:txBody>
      </p:sp>
      <p:sp>
        <p:nvSpPr>
          <p:cNvPr id="32" name="Text 29"/>
          <p:cNvSpPr txBox="1"/>
          <p:nvPr/>
        </p:nvSpPr>
        <p:spPr>
          <a:xfrm>
            <a:off x="4636008" y="2881884"/>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 are you? (boy / girl)</a:t>
            </a:r>
            <a:endParaRPr lang="en-US" sz="1100" dirty="0"/>
          </a:p>
        </p:txBody>
      </p:sp>
      <p:sp>
        <p:nvSpPr>
          <p:cNvPr id="33" name="Text 30"/>
          <p:cNvSpPr txBox="1"/>
          <p:nvPr/>
        </p:nvSpPr>
        <p:spPr>
          <a:xfrm>
            <a:off x="1051560" y="2881884"/>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كَيْفَ حَالُكَ؟ / كَيْفَ حَالُكِ؟</a:t>
            </a:r>
            <a:endParaRPr lang="ar-SA" sz="1700" dirty="0"/>
          </a:p>
        </p:txBody>
      </p:sp>
      <p:sp>
        <p:nvSpPr>
          <p:cNvPr id="34" name="Text 31"/>
          <p:cNvSpPr txBox="1"/>
          <p:nvPr/>
        </p:nvSpPr>
        <p:spPr>
          <a:xfrm>
            <a:off x="566928" y="2881884"/>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5" name="Shape 32"/>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8" name="Text 35"/>
          <p:cNvSpPr txBox="1"/>
          <p:nvPr/>
        </p:nvSpPr>
        <p:spPr>
          <a:xfrm>
            <a:off x="9738360" y="3496056"/>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وَعُمْرُ أَخِي …</a:t>
            </a:r>
            <a:endParaRPr lang="ar-SA" sz="1500" dirty="0"/>
          </a:p>
        </p:txBody>
      </p:sp>
      <p:sp>
        <p:nvSpPr>
          <p:cNvPr id="39" name="Text 36"/>
          <p:cNvSpPr txBox="1"/>
          <p:nvPr/>
        </p:nvSpPr>
        <p:spPr>
          <a:xfrm>
            <a:off x="6995160" y="3496056"/>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عُمْرِي … سَنَةً</a:t>
            </a:r>
            <a:endParaRPr lang="ar-SA" sz="1600" dirty="0"/>
          </a:p>
        </p:txBody>
      </p:sp>
      <p:sp>
        <p:nvSpPr>
          <p:cNvPr id="40" name="Text 37"/>
          <p:cNvSpPr txBox="1"/>
          <p:nvPr/>
        </p:nvSpPr>
        <p:spPr>
          <a:xfrm>
            <a:off x="4636008" y="3496056"/>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Age? → in a sentence.</a:t>
            </a:r>
            <a:endParaRPr lang="en-US" sz="1100" dirty="0"/>
          </a:p>
        </p:txBody>
      </p:sp>
      <p:sp>
        <p:nvSpPr>
          <p:cNvPr id="41" name="Text 38"/>
          <p:cNvSpPr txBox="1"/>
          <p:nvPr/>
        </p:nvSpPr>
        <p:spPr>
          <a:xfrm>
            <a:off x="1051560" y="3496056"/>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العُمْرُ؟ ← قُلْهُ فِي جُمْلَةٍ.</a:t>
            </a:r>
            <a:endParaRPr lang="ar-SA" sz="1700" dirty="0"/>
          </a:p>
        </p:txBody>
      </p:sp>
      <p:sp>
        <p:nvSpPr>
          <p:cNvPr id="42" name="Text 39"/>
          <p:cNvSpPr txBox="1"/>
          <p:nvPr/>
        </p:nvSpPr>
        <p:spPr>
          <a:xfrm>
            <a:off x="566928" y="3496056"/>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43" name="Shape 40"/>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5" name="Shape 42"/>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9738360" y="4110228"/>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سَنَةً</a:t>
            </a:r>
            <a:endParaRPr lang="ar-SA" sz="1500" dirty="0"/>
          </a:p>
        </p:txBody>
      </p:sp>
      <p:sp>
        <p:nvSpPr>
          <p:cNvPr id="47" name="Text 44"/>
          <p:cNvSpPr txBox="1"/>
          <p:nvPr/>
        </p:nvSpPr>
        <p:spPr>
          <a:xfrm>
            <a:off x="6995160" y="4110228"/>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اسْمِي … وَعُمْرِي …</a:t>
            </a:r>
            <a:endParaRPr lang="ar-SA" sz="1600" dirty="0"/>
          </a:p>
        </p:txBody>
      </p:sp>
      <p:sp>
        <p:nvSpPr>
          <p:cNvPr id="48" name="Text 45"/>
          <p:cNvSpPr txBox="1"/>
          <p:nvPr/>
        </p:nvSpPr>
        <p:spPr>
          <a:xfrm>
            <a:off x="4636008" y="4110228"/>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Name and age?</a:t>
            </a:r>
            <a:endParaRPr lang="en-US" sz="1100" dirty="0"/>
          </a:p>
        </p:txBody>
      </p:sp>
      <p:sp>
        <p:nvSpPr>
          <p:cNvPr id="49" name="Text 46"/>
          <p:cNvSpPr txBox="1"/>
          <p:nvPr/>
        </p:nvSpPr>
        <p:spPr>
          <a:xfrm>
            <a:off x="1051560" y="4110228"/>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 اسْمُكَ وَكَمْ عُمْرُكَ؟</a:t>
            </a:r>
            <a:endParaRPr lang="ar-SA" sz="1700" dirty="0"/>
          </a:p>
        </p:txBody>
      </p:sp>
      <p:sp>
        <p:nvSpPr>
          <p:cNvPr id="50" name="Text 47"/>
          <p:cNvSpPr txBox="1"/>
          <p:nvPr/>
        </p:nvSpPr>
        <p:spPr>
          <a:xfrm>
            <a:off x="566928" y="4110228"/>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51" name="Shape 48"/>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52" name="Text 49"/>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3" name="Shape 50"/>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54" name="Text 51"/>
          <p:cNvSpPr txBox="1"/>
          <p:nvPr/>
        </p:nvSpPr>
        <p:spPr>
          <a:xfrm>
            <a:off x="9738360" y="4724400"/>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لٰكِنَّ عَائِلَتِي مِنْ …</a:t>
            </a:r>
            <a:endParaRPr lang="ar-SA" sz="1500" dirty="0"/>
          </a:p>
        </p:txBody>
      </p:sp>
      <p:sp>
        <p:nvSpPr>
          <p:cNvPr id="55" name="Text 52"/>
          <p:cNvSpPr txBox="1"/>
          <p:nvPr/>
        </p:nvSpPr>
        <p:spPr>
          <a:xfrm>
            <a:off x="6995160" y="4724400"/>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أَنَا … ، وَأَسْكُنُ فِي …</a:t>
            </a:r>
            <a:endParaRPr lang="ar-SA" sz="1600" dirty="0"/>
          </a:p>
        </p:txBody>
      </p:sp>
      <p:sp>
        <p:nvSpPr>
          <p:cNvPr id="56" name="Text 53"/>
          <p:cNvSpPr txBox="1"/>
          <p:nvPr/>
        </p:nvSpPr>
        <p:spPr>
          <a:xfrm>
            <a:off x="4636008" y="4724400"/>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Nationality and residence?</a:t>
            </a:r>
            <a:endParaRPr lang="en-US" sz="1100" dirty="0"/>
          </a:p>
        </p:txBody>
      </p:sp>
      <p:sp>
        <p:nvSpPr>
          <p:cNvPr id="57" name="Text 54"/>
          <p:cNvSpPr txBox="1"/>
          <p:nvPr/>
        </p:nvSpPr>
        <p:spPr>
          <a:xfrm>
            <a:off x="1051560" y="4724400"/>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الجِنْسِيَّةُ وَمَكَانُ السَّكَنِ؟</a:t>
            </a:r>
            <a:endParaRPr lang="ar-SA" sz="1700" dirty="0"/>
          </a:p>
        </p:txBody>
      </p:sp>
      <p:sp>
        <p:nvSpPr>
          <p:cNvPr id="58" name="Text 55"/>
          <p:cNvSpPr txBox="1"/>
          <p:nvPr/>
        </p:nvSpPr>
        <p:spPr>
          <a:xfrm>
            <a:off x="566928" y="4724400"/>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59" name="Shape 5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60" name="Text 57"/>
          <p:cNvSpPr txBox="1"/>
          <p:nvPr/>
        </p:nvSpPr>
        <p:spPr>
          <a:xfrm>
            <a:off x="9738360" y="5338572"/>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لٰكِنِّي أَسْكُنُ فِي …</a:t>
            </a:r>
            <a:endParaRPr lang="ar-SA" sz="1500" dirty="0"/>
          </a:p>
        </p:txBody>
      </p:sp>
      <p:sp>
        <p:nvSpPr>
          <p:cNvPr id="61" name="Text 58"/>
          <p:cNvSpPr txBox="1"/>
          <p:nvPr/>
        </p:nvSpPr>
        <p:spPr>
          <a:xfrm>
            <a:off x="6995160" y="5338572"/>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أَنَا مِنْ … ، وَأَنَا …</a:t>
            </a:r>
            <a:endParaRPr lang="ar-SA" sz="1600" dirty="0"/>
          </a:p>
        </p:txBody>
      </p:sp>
      <p:sp>
        <p:nvSpPr>
          <p:cNvPr id="62" name="Text 59"/>
          <p:cNvSpPr txBox="1"/>
          <p:nvPr/>
        </p:nvSpPr>
        <p:spPr>
          <a:xfrm>
            <a:off x="4636008" y="533857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Where from? Nationality?</a:t>
            </a:r>
            <a:endParaRPr lang="en-US" sz="1100" dirty="0"/>
          </a:p>
        </p:txBody>
      </p:sp>
      <p:sp>
        <p:nvSpPr>
          <p:cNvPr id="63" name="Text 60"/>
          <p:cNvSpPr txBox="1"/>
          <p:nvPr/>
        </p:nvSpPr>
        <p:spPr>
          <a:xfrm>
            <a:off x="1051560" y="5338572"/>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مِنْ أَيْنَ أَنْتَ؟ وَمَا جِنْسِيَّتُكَ؟</a:t>
            </a:r>
            <a:endParaRPr lang="ar-SA" sz="1700" dirty="0"/>
          </a:p>
        </p:txBody>
      </p:sp>
      <p:sp>
        <p:nvSpPr>
          <p:cNvPr id="64" name="Text 61"/>
          <p:cNvSpPr txBox="1"/>
          <p:nvPr/>
        </p:nvSpPr>
        <p:spPr>
          <a:xfrm>
            <a:off x="566928" y="5338572"/>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65" name="Text 6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Odd numbers come from F2-L11, even numbers from F2-L12. Core: a full sentence from the starter. Develop: add the “more” part. Stretch: link two answers with ‏</a:t>
            </a:r>
            <a:pPr algn="l" indent="0" marL="0">
              <a:buNone/>
            </a:pPr>
            <a:r>
              <a:rPr lang="ar-SA" altLang="en-US" sz="1450" b="1" dirty="0">
                <a:solidFill>
                  <a:srgbClr val="1B3B6F"/>
                </a:solidFill>
                <a:latin typeface="Amiri" pitchFamily="2" charset="-78"/>
                <a:ea typeface="Amiri" pitchFamily="2" charset="-78"/>
                <a:cs typeface="Amiri" pitchFamily="2" charset="-78"/>
              </a:rPr>
              <a:t>وَ</a:t>
            </a:r>
            <a:pPr algn="l" indent="0" marL="0">
              <a:buNone/>
            </a:pPr>
            <a:r>
              <a:rPr lang="en-US" sz="1100" b="1" dirty="0">
                <a:solidFill>
                  <a:srgbClr val="1B3B6F"/>
                </a:solidFill>
                <a:latin typeface="Calibri" pitchFamily="34" charset="0"/>
                <a:cs typeface="Amiri" pitchFamily="2" charset="-78"/>
              </a:rPr>
              <a:t>‏, ‏</a:t>
            </a:r>
            <a:pPr algn="l" indent="0" marL="0">
              <a:buNone/>
            </a:pPr>
            <a:r>
              <a:rPr lang="ar-SA" altLang="en-US" sz="1450" b="1" dirty="0">
                <a:solidFill>
                  <a:srgbClr val="1B3B6F"/>
                </a:solidFill>
                <a:latin typeface="Amiri" pitchFamily="2" charset="-78"/>
                <a:ea typeface="Amiri" pitchFamily="2" charset="-78"/>
                <a:cs typeface="Amiri" pitchFamily="2" charset="-78"/>
              </a:rPr>
              <a:t>لِأَنَّ</a:t>
            </a:r>
            <a:pPr algn="l" indent="0" marL="0">
              <a:buNone/>
            </a:pPr>
            <a:r>
              <a:rPr lang="en-US" sz="1100" b="1" dirty="0">
                <a:solidFill>
                  <a:srgbClr val="1B3B6F"/>
                </a:solidFill>
                <a:latin typeface="Calibri" pitchFamily="34" charset="0"/>
                <a:cs typeface="Amiri" pitchFamily="2" charset="-78"/>
              </a:rPr>
              <a:t>‏ or ‏</a:t>
            </a:r>
            <a:pPr algn="l" indent="0" marL="0">
              <a:buNone/>
            </a:pPr>
            <a:r>
              <a:rPr lang="ar-SA" altLang="en-US" sz="1450" b="1" dirty="0">
                <a:solidFill>
                  <a:srgbClr val="1B3B6F"/>
                </a:solidFill>
                <a:latin typeface="Amiri" pitchFamily="2" charset="-78"/>
                <a:ea typeface="Amiri" pitchFamily="2" charset="-78"/>
                <a:cs typeface="Amiri" pitchFamily="2" charset="-78"/>
              </a:rPr>
              <a:t>لٰكِنَّ</a:t>
            </a:r>
            <a:pPr algn="l" indent="0" marL="0">
              <a:buNone/>
            </a:pPr>
            <a:r>
              <a:rPr lang="en-US" sz="1100" b="1" dirty="0">
                <a:solidFill>
                  <a:srgbClr val="1B3B6F"/>
                </a:solidFill>
                <a:latin typeface="Calibri" pitchFamily="34" charset="0"/>
                <a:cs typeface="Amiri" pitchFamily="2" charset="-78"/>
              </a:rPr>
              <a:t>‏. Swap after each question.</a:t>
            </a:r>
            <a:endParaRPr lang="en-US" sz="1100" dirty="0"/>
          </a:p>
        </p:txBody>
      </p:sp>
      <p:sp>
        <p:nvSpPr>
          <p:cNvPr id="66" name="Text 6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24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F2-W06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7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STEP 5 · ROLE-PLAY CARD · USE THE PLAN, THEN HIDE IT AND SPEAK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50" b="1" dirty="0">
                <a:solidFill>
                  <a:srgbClr val="1B3B6F"/>
                </a:solidFill>
                <a:latin typeface="Cambria" pitchFamily="34" charset="0"/>
                <a:cs typeface="Amiri" pitchFamily="2" charset="-78"/>
              </a:rPr>
              <a:t>Role-play card — the pen-friend coordinator</a:t>
            </a:r>
            <a:endParaRPr lang="en-US" sz="21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مُنَسِّقُ النَّادِي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F2-W06 · Apply workshop (F2-L11 + F2-L12)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257032" y="1810512"/>
            <a:ext cx="34015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Plan: first words</a:t>
            </a:r>
            <a:endParaRPr lang="en-US" sz="1100" dirty="0"/>
          </a:p>
        </p:txBody>
      </p:sp>
      <p:sp>
        <p:nvSpPr>
          <p:cNvPr id="17" name="Text 14"/>
          <p:cNvSpPr txBox="1"/>
          <p:nvPr/>
        </p:nvSpPr>
        <p:spPr>
          <a:xfrm>
            <a:off x="496519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Speaker’s task</a:t>
            </a:r>
            <a:endParaRPr lang="en-US" sz="1100" dirty="0"/>
          </a:p>
        </p:txBody>
      </p:sp>
      <p:sp>
        <p:nvSpPr>
          <p:cNvPr id="18" name="Text 15"/>
          <p:cNvSpPr txBox="1"/>
          <p:nvPr/>
        </p:nvSpPr>
        <p:spPr>
          <a:xfrm>
            <a:off x="1033272" y="1810512"/>
            <a:ext cx="3785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 A reads</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275320" y="2267712"/>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 / كَمْ ← اسْمِي … ، وَعُمْرِي …</a:t>
            </a:r>
            <a:endParaRPr lang="ar-SA" sz="1600" dirty="0"/>
          </a:p>
        </p:txBody>
      </p:sp>
      <p:sp>
        <p:nvSpPr>
          <p:cNvPr id="22" name="Text 19"/>
          <p:cNvSpPr txBox="1"/>
          <p:nvPr/>
        </p:nvSpPr>
        <p:spPr>
          <a:xfrm>
            <a:off x="5001768" y="2267712"/>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Give your name and age in one sentence.</a:t>
            </a:r>
            <a:endParaRPr lang="en-US" sz="1100" dirty="0"/>
          </a:p>
        </p:txBody>
      </p:sp>
      <p:sp>
        <p:nvSpPr>
          <p:cNvPr id="23" name="Text 20"/>
          <p:cNvSpPr txBox="1"/>
          <p:nvPr/>
        </p:nvSpPr>
        <p:spPr>
          <a:xfrm>
            <a:off x="1051560" y="2267712"/>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أَهْلًا! مَا اسْمُكَ، وَكَمْ عُمْرُكَ؟</a:t>
            </a:r>
            <a:endParaRPr lang="ar-SA" sz="1700" dirty="0"/>
          </a:p>
        </p:txBody>
      </p:sp>
      <p:sp>
        <p:nvSpPr>
          <p:cNvPr id="24" name="Text 21"/>
          <p:cNvSpPr txBox="1"/>
          <p:nvPr/>
        </p:nvSpPr>
        <p:spPr>
          <a:xfrm>
            <a:off x="566928" y="2267712"/>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275320" y="3004718"/>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 / أَيْنَ ← أَنَا … ، وَأَسْكُنُ فِي …</a:t>
            </a:r>
            <a:endParaRPr lang="ar-SA" sz="1600" dirty="0"/>
          </a:p>
        </p:txBody>
      </p:sp>
      <p:sp>
        <p:nvSpPr>
          <p:cNvPr id="29" name="Text 26"/>
          <p:cNvSpPr txBox="1"/>
          <p:nvPr/>
        </p:nvSpPr>
        <p:spPr>
          <a:xfrm>
            <a:off x="5001768" y="300471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Give your nationality and city.</a:t>
            </a:r>
            <a:endParaRPr lang="en-US" sz="1100" dirty="0"/>
          </a:p>
        </p:txBody>
      </p:sp>
      <p:sp>
        <p:nvSpPr>
          <p:cNvPr id="30" name="Text 27"/>
          <p:cNvSpPr txBox="1"/>
          <p:nvPr/>
        </p:nvSpPr>
        <p:spPr>
          <a:xfrm>
            <a:off x="1051560" y="3004718"/>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 جِنْسِيَّتُكَ، وَأَيْنَ تَسْكُنُ؟</a:t>
            </a:r>
            <a:endParaRPr lang="ar-SA" sz="1700" dirty="0"/>
          </a:p>
        </p:txBody>
      </p:sp>
      <p:sp>
        <p:nvSpPr>
          <p:cNvPr id="31" name="Text 28"/>
          <p:cNvSpPr txBox="1"/>
          <p:nvPr/>
        </p:nvSpPr>
        <p:spPr>
          <a:xfrm>
            <a:off x="566928" y="300471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275320" y="3741725"/>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أَيَّ ← أَتَكَلَّمُ … ، وَ… أَيْضًا</a:t>
            </a:r>
            <a:endParaRPr lang="ar-SA" sz="1600" dirty="0"/>
          </a:p>
        </p:txBody>
      </p:sp>
      <p:sp>
        <p:nvSpPr>
          <p:cNvPr id="36" name="Text 33"/>
          <p:cNvSpPr txBox="1"/>
          <p:nvPr/>
        </p:nvSpPr>
        <p:spPr>
          <a:xfrm>
            <a:off x="5001768" y="3741725"/>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Name your languages with ‏</a:t>
            </a:r>
            <a:pPr algn="l" indent="0" marL="0">
              <a:buNone/>
            </a:pPr>
            <a:r>
              <a:rPr lang="ar-SA" altLang="en-US" sz="1450" dirty="0">
                <a:solidFill>
                  <a:srgbClr val="5A6472"/>
                </a:solidFill>
                <a:latin typeface="Amiri" pitchFamily="2" charset="-78"/>
                <a:ea typeface="Amiri" pitchFamily="2" charset="-78"/>
                <a:cs typeface="Amiri" pitchFamily="2" charset="-78"/>
              </a:rPr>
              <a:t>أَيْضًا</a:t>
            </a:r>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37" name="Text 34"/>
          <p:cNvSpPr txBox="1"/>
          <p:nvPr/>
        </p:nvSpPr>
        <p:spPr>
          <a:xfrm>
            <a:off x="1051560" y="3741725"/>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أَيَّ لُغَاتٍ تَتَكَلَّمُ؟</a:t>
            </a:r>
            <a:endParaRPr lang="ar-SA" sz="1700" dirty="0"/>
          </a:p>
        </p:txBody>
      </p:sp>
      <p:sp>
        <p:nvSpPr>
          <p:cNvPr id="38" name="Text 35"/>
          <p:cNvSpPr txBox="1"/>
          <p:nvPr/>
        </p:nvSpPr>
        <p:spPr>
          <a:xfrm>
            <a:off x="566928" y="3741725"/>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9" name="Shape 36"/>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2" name="Text 39"/>
          <p:cNvSpPr txBox="1"/>
          <p:nvPr/>
        </p:nvSpPr>
        <p:spPr>
          <a:xfrm>
            <a:off x="8275320" y="4478731"/>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حَدِّثْنِي ← صَدِيقِي اسْمُهُ … ، عُمْرُهُ … ، هُوَ …</a:t>
            </a:r>
            <a:endParaRPr lang="ar-SA" sz="1600" dirty="0"/>
          </a:p>
        </p:txBody>
      </p:sp>
      <p:sp>
        <p:nvSpPr>
          <p:cNvPr id="43" name="Text 40"/>
          <p:cNvSpPr txBox="1"/>
          <p:nvPr/>
        </p:nvSpPr>
        <p:spPr>
          <a:xfrm>
            <a:off x="5001768" y="4478731"/>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Describe a friend: name, age, city, one adjective.</a:t>
            </a:r>
            <a:endParaRPr lang="en-US" sz="1100" dirty="0"/>
          </a:p>
        </p:txBody>
      </p:sp>
      <p:sp>
        <p:nvSpPr>
          <p:cNvPr id="44" name="Text 41"/>
          <p:cNvSpPr txBox="1"/>
          <p:nvPr/>
        </p:nvSpPr>
        <p:spPr>
          <a:xfrm>
            <a:off x="1051560" y="4478731"/>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حَدِّثْنِي عَنْ صَدِيقٍ أَوْ صَدِيقَةٍ.</a:t>
            </a:r>
            <a:endParaRPr lang="ar-SA" sz="1700" dirty="0"/>
          </a:p>
        </p:txBody>
      </p:sp>
      <p:sp>
        <p:nvSpPr>
          <p:cNvPr id="45" name="Text 42"/>
          <p:cNvSpPr txBox="1"/>
          <p:nvPr/>
        </p:nvSpPr>
        <p:spPr>
          <a:xfrm>
            <a:off x="566928" y="4478731"/>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6" name="Shape 43"/>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Shape 45"/>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9" name="Text 46"/>
          <p:cNvSpPr txBox="1"/>
          <p:nvPr/>
        </p:nvSpPr>
        <p:spPr>
          <a:xfrm>
            <a:off x="8275320" y="5215738"/>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لِمَاذَا ← أُرِيدُ … لِأَنِّي …</a:t>
            </a:r>
            <a:endParaRPr lang="ar-SA" sz="1600" dirty="0"/>
          </a:p>
        </p:txBody>
      </p:sp>
      <p:sp>
        <p:nvSpPr>
          <p:cNvPr id="50" name="Text 47"/>
          <p:cNvSpPr txBox="1"/>
          <p:nvPr/>
        </p:nvSpPr>
        <p:spPr>
          <a:xfrm>
            <a:off x="5001768" y="521573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Give a reason with ‏</a:t>
            </a:r>
            <a:pPr algn="l" indent="0" marL="0">
              <a:buNone/>
            </a:pPr>
            <a:r>
              <a:rPr lang="ar-SA" altLang="en-US" sz="1450" dirty="0">
                <a:solidFill>
                  <a:srgbClr val="5A6472"/>
                </a:solidFill>
                <a:latin typeface="Amiri" pitchFamily="2" charset="-78"/>
                <a:ea typeface="Amiri" pitchFamily="2" charset="-78"/>
                <a:cs typeface="Amiri" pitchFamily="2" charset="-78"/>
              </a:rPr>
              <a:t>لِأَنِّي</a:t>
            </a:r>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51" name="Text 48"/>
          <p:cNvSpPr txBox="1"/>
          <p:nvPr/>
        </p:nvSpPr>
        <p:spPr>
          <a:xfrm>
            <a:off x="1051560" y="5215738"/>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لِمَاذَا تُرِيدُ صَدِيقًا بِالمُرَاسَلَةِ؟</a:t>
            </a:r>
            <a:endParaRPr lang="ar-SA" sz="1700" dirty="0"/>
          </a:p>
        </p:txBody>
      </p:sp>
      <p:sp>
        <p:nvSpPr>
          <p:cNvPr id="52" name="Text 49"/>
          <p:cNvSpPr txBox="1"/>
          <p:nvPr/>
        </p:nvSpPr>
        <p:spPr>
          <a:xfrm>
            <a:off x="566928" y="521573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 !</a:t>
            </a:r>
            <a:endParaRPr lang="en-US" sz="1100" dirty="0"/>
          </a:p>
        </p:txBody>
      </p:sp>
      <p:sp>
        <p:nvSpPr>
          <p:cNvPr id="53" name="Shape 50"/>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Text 5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Speaker = a new member · Partner A = the coordinator. Read the plan for 1 minute, then hide it and speak. Task ! is a surprise. Then swap roles.</a:t>
            </a:r>
            <a:endParaRPr lang="en-US" sz="11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24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F2-W06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6 · SHORT TALK · 30–45 SECONDS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My full introduction — and a friend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تَعْرِيفٌ كَامِلٌ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F2-W06 · Apply workshop (F2-L11 + F2-L12)</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STEP 6 · PAIRS</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000" b="1" dirty="0">
                <a:solidFill>
                  <a:srgbClr val="1B3B6F"/>
                </a:solidFill>
                <a:latin typeface="Calibri" pitchFamily="34" charset="0"/>
                <a:cs typeface="Amiri" pitchFamily="2" charset="-78"/>
              </a:rPr>
              <a:t>⏱  Talk for 30–45 seconds — use both lessons</a:t>
            </a:r>
            <a:endParaRPr lang="en-US" sz="20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Talk for 30–45 seconds: greet, give your name, age, nationality, city and languages, say why you learn Arabic, then add a friend (name, age, city). Use at least three linking words.</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Think for 30 seconds: 2 key words from EACH lesson, no sentences.</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Speaker talks; the partner times it.</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Partner: one thing that went well + one thing to improve.</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Swap — then the teacher invites two volunteers.</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rtl="1" algn="r" indent="0" marL="0">
              <a:buNone/>
            </a:pPr>
            <a:r>
              <a:rPr lang="ar-SA" altLang="en-US" sz="1450" dirty="0">
                <a:solidFill>
                  <a:srgbClr val="1F2A37"/>
                </a:solidFill>
                <a:latin typeface="Amiri" pitchFamily="2" charset="-78"/>
                <a:ea typeface="Amiri" pitchFamily="2" charset="-78"/>
                <a:cs typeface="Amiri" pitchFamily="2" charset="-78"/>
              </a:rPr>
              <a:t>السَّلَامُ عَلَيْكُمْ · اسْمِي … · عُمْرِي … · أَنَا … · أَسْكُنُ فِي …</a:t>
            </a:r>
            <a:endParaRPr lang="ar-SA" sz="14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Add a friend and link with ‏</a:t>
            </a:r>
            <a:pPr algn="l" indent="0" marL="0">
              <a:buNone/>
            </a:pPr>
            <a:r>
              <a:rPr lang="ar-SA" altLang="en-US" sz="1500" dirty="0">
                <a:solidFill>
                  <a:srgbClr val="1F2A37"/>
                </a:solidFill>
                <a:latin typeface="Amiri" pitchFamily="2" charset="-78"/>
                <a:ea typeface="Amiri" pitchFamily="2" charset="-78"/>
                <a:cs typeface="Amiri" pitchFamily="2" charset="-78"/>
              </a:rPr>
              <a:t>وَ</a:t>
            </a:r>
            <a:pPr algn="l" indent="0" marL="0">
              <a:buNone/>
            </a:pPr>
            <a:r>
              <a:rPr lang="en-US" sz="1150" dirty="0">
                <a:solidFill>
                  <a:srgbClr val="1F2A37"/>
                </a:solidFill>
                <a:latin typeface="Calibri" pitchFamily="34" charset="0"/>
                <a:cs typeface="Amiri" pitchFamily="2" charset="-78"/>
              </a:rPr>
              <a:t> · </a:t>
            </a:r>
            <a:pPr algn="l" indent="0" marL="0">
              <a:buNone/>
            </a:pPr>
            <a:r>
              <a:rPr lang="ar-SA" altLang="en-US" sz="1500" dirty="0">
                <a:solidFill>
                  <a:srgbClr val="1F2A37"/>
                </a:solidFill>
                <a:latin typeface="Amiri" pitchFamily="2" charset="-78"/>
                <a:ea typeface="Amiri" pitchFamily="2" charset="-78"/>
                <a:cs typeface="Amiri" pitchFamily="2" charset="-78"/>
              </a:rPr>
              <a:t>أَيْضًا</a:t>
            </a:r>
            <a:pPr algn="l" indent="0" marL="0">
              <a:buNone/>
            </a:pPr>
            <a:r>
              <a:rPr lang="en-US" sz="1150" dirty="0">
                <a:solidFill>
                  <a:srgbClr val="1F2A37"/>
                </a:solidFill>
                <a:latin typeface="Calibri" pitchFamily="34" charset="0"/>
                <a:cs typeface="Amiri" pitchFamily="2" charset="-78"/>
              </a:rPr>
              <a:t> · </a:t>
            </a:r>
            <a:pPr algn="l" indent="0" marL="0">
              <a:buNone/>
            </a:pPr>
            <a:r>
              <a:rPr lang="ar-SA" altLang="en-US" sz="1500" dirty="0">
                <a:solidFill>
                  <a:srgbClr val="1F2A37"/>
                </a:solidFill>
                <a:latin typeface="Amiri" pitchFamily="2" charset="-78"/>
                <a:ea typeface="Amiri" pitchFamily="2" charset="-78"/>
                <a:cs typeface="Amiri" pitchFamily="2" charset="-78"/>
              </a:rPr>
              <a:t>ثُمَّ</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Add a reason (‏</a:t>
            </a:r>
            <a:pPr algn="l" indent="0" marL="0">
              <a:buNone/>
            </a:pPr>
            <a:r>
              <a:rPr lang="ar-SA" altLang="en-US" sz="1500" dirty="0">
                <a:solidFill>
                  <a:srgbClr val="1F2A37"/>
                </a:solidFill>
                <a:latin typeface="Amiri" pitchFamily="2" charset="-78"/>
                <a:ea typeface="Amiri" pitchFamily="2" charset="-78"/>
                <a:cs typeface="Amiri" pitchFamily="2" charset="-78"/>
              </a:rPr>
              <a:t>لِأَنِّي</a:t>
            </a:r>
            <a:pPr algn="l" indent="0" marL="0">
              <a:buNone/>
            </a:pPr>
            <a:r>
              <a:rPr lang="en-US" sz="1150" dirty="0">
                <a:solidFill>
                  <a:srgbClr val="1F2A37"/>
                </a:solidFill>
                <a:latin typeface="Calibri" pitchFamily="34" charset="0"/>
                <a:cs typeface="Amiri" pitchFamily="2" charset="-78"/>
              </a:rPr>
              <a:t> …‏) and a contrast (‏</a:t>
            </a:r>
            <a:pPr algn="l" indent="0" marL="0">
              <a:buNone/>
            </a:pPr>
            <a:r>
              <a:rPr lang="ar-SA" altLang="en-US" sz="1500" dirty="0">
                <a:solidFill>
                  <a:srgbClr val="1F2A37"/>
                </a:solidFill>
                <a:latin typeface="Amiri" pitchFamily="2" charset="-78"/>
                <a:ea typeface="Amiri" pitchFamily="2" charset="-78"/>
                <a:cs typeface="Amiri" pitchFamily="2" charset="-78"/>
              </a:rPr>
              <a:t>لٰكِنَّ عَائِلَتِي مِنْ</a:t>
            </a:r>
            <a:pPr algn="l" indent="0" marL="0">
              <a:buNone/>
            </a:pPr>
            <a:r>
              <a:rPr lang="en-US" sz="1150" dirty="0">
                <a:solidFill>
                  <a:srgbClr val="1F2A37"/>
                </a:solidFill>
                <a:latin typeface="Calibri" pitchFamily="34" charset="0"/>
                <a:cs typeface="Amiri" pitchFamily="2" charset="-78"/>
              </a:rPr>
              <a:t> …‏).</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اسْمِي … ، وَعُمْرِي … سَنَةً</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my name is … and I am …</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أَنَا … ، لٰكِنَّ عَائِلَتِي مِنْ …</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I am …, but my family is from …</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أَتَعَلَّمُ العَرَبِيَّةَ لِأَنِّي …</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I learn Arabic because I …</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صَدِيقِي اسْمُهُ … ، وَهُوَ …</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my friend is called … and he is …</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24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F2-W06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PART 3 · STEP 7 · SENTENCE BUILDER · FROM BOTH LESSONS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Build three correct sentences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F2-W06 · Apply workshop (F2-L11 + F2-L12)</a:t>
            </a:r>
            <a:endParaRPr lang="en-US" sz="850" dirty="0"/>
          </a:p>
        </p:txBody>
      </p:sp>
      <p:sp>
        <p:nvSpPr>
          <p:cNvPr id="15" name="Text 12"/>
          <p:cNvSpPr txBox="1"/>
          <p:nvPr/>
        </p:nvSpPr>
        <p:spPr>
          <a:xfrm>
            <a:off x="9180576"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1 · start here</a:t>
            </a:r>
            <a:endParaRPr lang="en-US" sz="1000" dirty="0"/>
          </a:p>
        </p:txBody>
      </p:sp>
      <p:sp>
        <p:nvSpPr>
          <p:cNvPr id="16" name="Text 13"/>
          <p:cNvSpPr txBox="1"/>
          <p:nvPr/>
        </p:nvSpPr>
        <p:spPr>
          <a:xfrm>
            <a:off x="6624828"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2</a:t>
            </a:r>
            <a:endParaRPr lang="en-US" sz="1000" dirty="0"/>
          </a:p>
        </p:txBody>
      </p:sp>
      <p:sp>
        <p:nvSpPr>
          <p:cNvPr id="17" name="Text 14"/>
          <p:cNvSpPr txBox="1"/>
          <p:nvPr/>
        </p:nvSpPr>
        <p:spPr>
          <a:xfrm>
            <a:off x="4069080"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3</a:t>
            </a:r>
            <a:endParaRPr lang="en-US" sz="1000" dirty="0"/>
          </a:p>
        </p:txBody>
      </p:sp>
      <p:sp>
        <p:nvSpPr>
          <p:cNvPr id="18" name="Shape 15"/>
          <p:cNvSpPr/>
          <p:nvPr/>
        </p:nvSpPr>
        <p:spPr>
          <a:xfrm>
            <a:off x="457200" y="2011680"/>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9" name="Shape 16"/>
          <p:cNvSpPr/>
          <p:nvPr/>
        </p:nvSpPr>
        <p:spPr>
          <a:xfrm>
            <a:off x="594360" y="2148840"/>
            <a:ext cx="365760" cy="365760"/>
          </a:xfrm>
          <a:prstGeom prst="ellipse">
            <a:avLst/>
          </a:prstGeom>
          <a:solidFill>
            <a:srgbClr val="2F6FB0"/>
          </a:solidFill>
          <a:ln w="12700">
            <a:solidFill>
              <a:srgbClr val="2F6FB0"/>
            </a:solidFill>
            <a:prstDash val="solid"/>
          </a:ln>
        </p:spPr>
      </p:sp>
      <p:sp>
        <p:nvSpPr>
          <p:cNvPr id="20" name="Text 17"/>
          <p:cNvSpPr txBox="1"/>
          <p:nvPr/>
        </p:nvSpPr>
        <p:spPr>
          <a:xfrm>
            <a:off x="594360" y="214884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21" name="Text 18"/>
          <p:cNvSpPr txBox="1"/>
          <p:nvPr/>
        </p:nvSpPr>
        <p:spPr>
          <a:xfrm>
            <a:off x="1051560" y="2121408"/>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I am British, but my family is from Iraq.</a:t>
            </a:r>
            <a:endParaRPr lang="en-US" sz="1400" dirty="0"/>
          </a:p>
        </p:txBody>
      </p:sp>
      <p:sp>
        <p:nvSpPr>
          <p:cNvPr id="22" name="Shape 19"/>
          <p:cNvSpPr/>
          <p:nvPr/>
        </p:nvSpPr>
        <p:spPr>
          <a:xfrm>
            <a:off x="9180576" y="2103120"/>
            <a:ext cx="2414016" cy="512064"/>
          </a:xfrm>
          <a:prstGeom prst="roundRect">
            <a:avLst>
              <a:gd name="adj" fmla="val 10714"/>
            </a:avLst>
          </a:prstGeom>
          <a:solidFill>
            <a:srgbClr val="EEF3FA"/>
          </a:solidFill>
          <a:ln w="9525">
            <a:solidFill>
              <a:srgbClr val="C9D6EA"/>
            </a:solidFill>
            <a:prstDash val="solid"/>
          </a:ln>
        </p:spPr>
      </p:sp>
      <p:sp>
        <p:nvSpPr>
          <p:cNvPr id="23" name="Text 20"/>
          <p:cNvSpPr txBox="1"/>
          <p:nvPr/>
        </p:nvSpPr>
        <p:spPr>
          <a:xfrm>
            <a:off x="9235440"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24" name="Text 21"/>
          <p:cNvSpPr txBox="1"/>
          <p:nvPr/>
        </p:nvSpPr>
        <p:spPr>
          <a:xfrm>
            <a:off x="9500616"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أَنَا بِرِيطَانِيٌّ،</a:t>
            </a:r>
            <a:endParaRPr lang="ar-SA" sz="1800" dirty="0"/>
          </a:p>
        </p:txBody>
      </p:sp>
      <p:sp>
        <p:nvSpPr>
          <p:cNvPr id="25" name="Shape 22"/>
          <p:cNvSpPr/>
          <p:nvPr/>
        </p:nvSpPr>
        <p:spPr>
          <a:xfrm>
            <a:off x="9180576" y="2670048"/>
            <a:ext cx="2414016" cy="512064"/>
          </a:xfrm>
          <a:prstGeom prst="roundRect">
            <a:avLst>
              <a:gd name="adj" fmla="val 10714"/>
            </a:avLst>
          </a:prstGeom>
          <a:solidFill>
            <a:srgbClr val="EEF3FA"/>
          </a:solidFill>
          <a:ln w="9525">
            <a:solidFill>
              <a:srgbClr val="C9D6EA"/>
            </a:solidFill>
            <a:prstDash val="solid"/>
          </a:ln>
        </p:spPr>
      </p:sp>
      <p:sp>
        <p:nvSpPr>
          <p:cNvPr id="26" name="Text 23"/>
          <p:cNvSpPr txBox="1"/>
          <p:nvPr/>
        </p:nvSpPr>
        <p:spPr>
          <a:xfrm>
            <a:off x="9235440"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27" name="Text 24"/>
          <p:cNvSpPr txBox="1"/>
          <p:nvPr/>
        </p:nvSpPr>
        <p:spPr>
          <a:xfrm>
            <a:off x="9500616"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أَنَا بِرِيطَانِيَا،</a:t>
            </a:r>
            <a:endParaRPr lang="ar-SA" sz="1800" dirty="0"/>
          </a:p>
        </p:txBody>
      </p:sp>
      <p:sp>
        <p:nvSpPr>
          <p:cNvPr id="28" name="Shape 25"/>
          <p:cNvSpPr/>
          <p:nvPr/>
        </p:nvSpPr>
        <p:spPr>
          <a:xfrm>
            <a:off x="6624828" y="2103120"/>
            <a:ext cx="2414016" cy="512064"/>
          </a:xfrm>
          <a:prstGeom prst="roundRect">
            <a:avLst>
              <a:gd name="adj" fmla="val 10714"/>
            </a:avLst>
          </a:prstGeom>
          <a:solidFill>
            <a:srgbClr val="EEF3FA"/>
          </a:solidFill>
          <a:ln w="9525">
            <a:solidFill>
              <a:srgbClr val="C9D6EA"/>
            </a:solidFill>
            <a:prstDash val="solid"/>
          </a:ln>
        </p:spPr>
      </p:sp>
      <p:sp>
        <p:nvSpPr>
          <p:cNvPr id="29" name="Text 26"/>
          <p:cNvSpPr txBox="1"/>
          <p:nvPr/>
        </p:nvSpPr>
        <p:spPr>
          <a:xfrm>
            <a:off x="6679692"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0" name="Text 27"/>
          <p:cNvSpPr txBox="1"/>
          <p:nvPr/>
        </p:nvSpPr>
        <p:spPr>
          <a:xfrm>
            <a:off x="6944868"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لٰكِنَّ</a:t>
            </a:r>
            <a:endParaRPr lang="ar-SA" sz="1800" dirty="0"/>
          </a:p>
        </p:txBody>
      </p:sp>
      <p:sp>
        <p:nvSpPr>
          <p:cNvPr id="31" name="Shape 28"/>
          <p:cNvSpPr/>
          <p:nvPr/>
        </p:nvSpPr>
        <p:spPr>
          <a:xfrm>
            <a:off x="6624828" y="2670048"/>
            <a:ext cx="2414016" cy="512064"/>
          </a:xfrm>
          <a:prstGeom prst="roundRect">
            <a:avLst>
              <a:gd name="adj" fmla="val 10714"/>
            </a:avLst>
          </a:prstGeom>
          <a:solidFill>
            <a:srgbClr val="EEF3FA"/>
          </a:solidFill>
          <a:ln w="9525">
            <a:solidFill>
              <a:srgbClr val="C9D6EA"/>
            </a:solidFill>
            <a:prstDash val="solid"/>
          </a:ln>
        </p:spPr>
      </p:sp>
      <p:sp>
        <p:nvSpPr>
          <p:cNvPr id="32" name="Text 29"/>
          <p:cNvSpPr txBox="1"/>
          <p:nvPr/>
        </p:nvSpPr>
        <p:spPr>
          <a:xfrm>
            <a:off x="6679692"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3" name="Text 30"/>
          <p:cNvSpPr txBox="1"/>
          <p:nvPr/>
        </p:nvSpPr>
        <p:spPr>
          <a:xfrm>
            <a:off x="6944868"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لِأَنَّ</a:t>
            </a:r>
            <a:endParaRPr lang="ar-SA" sz="1800" dirty="0"/>
          </a:p>
        </p:txBody>
      </p:sp>
      <p:sp>
        <p:nvSpPr>
          <p:cNvPr id="34" name="Shape 31"/>
          <p:cNvSpPr/>
          <p:nvPr/>
        </p:nvSpPr>
        <p:spPr>
          <a:xfrm>
            <a:off x="4069080" y="2103120"/>
            <a:ext cx="2414016" cy="512064"/>
          </a:xfrm>
          <a:prstGeom prst="roundRect">
            <a:avLst>
              <a:gd name="adj" fmla="val 10714"/>
            </a:avLst>
          </a:prstGeom>
          <a:solidFill>
            <a:srgbClr val="EEF3FA"/>
          </a:solidFill>
          <a:ln w="9525">
            <a:solidFill>
              <a:srgbClr val="C9D6EA"/>
            </a:solidFill>
            <a:prstDash val="solid"/>
          </a:ln>
        </p:spPr>
      </p:sp>
      <p:sp>
        <p:nvSpPr>
          <p:cNvPr id="35" name="Text 32"/>
          <p:cNvSpPr txBox="1"/>
          <p:nvPr/>
        </p:nvSpPr>
        <p:spPr>
          <a:xfrm>
            <a:off x="4123944"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6" name="Text 33"/>
          <p:cNvSpPr txBox="1"/>
          <p:nvPr/>
        </p:nvSpPr>
        <p:spPr>
          <a:xfrm>
            <a:off x="4389120"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عَائِلَتِي مِنَ العِرَاقِ.</a:t>
            </a:r>
            <a:endParaRPr lang="ar-SA" sz="1800" dirty="0"/>
          </a:p>
        </p:txBody>
      </p:sp>
      <p:sp>
        <p:nvSpPr>
          <p:cNvPr id="37" name="Shape 34"/>
          <p:cNvSpPr/>
          <p:nvPr/>
        </p:nvSpPr>
        <p:spPr>
          <a:xfrm>
            <a:off x="4069080" y="2670048"/>
            <a:ext cx="2414016" cy="512064"/>
          </a:xfrm>
          <a:prstGeom prst="roundRect">
            <a:avLst>
              <a:gd name="adj" fmla="val 10714"/>
            </a:avLst>
          </a:prstGeom>
          <a:solidFill>
            <a:srgbClr val="EEF3FA"/>
          </a:solidFill>
          <a:ln w="9525">
            <a:solidFill>
              <a:srgbClr val="C9D6EA"/>
            </a:solidFill>
            <a:prstDash val="solid"/>
          </a:ln>
        </p:spPr>
      </p:sp>
      <p:sp>
        <p:nvSpPr>
          <p:cNvPr id="38" name="Text 35"/>
          <p:cNvSpPr txBox="1"/>
          <p:nvPr/>
        </p:nvSpPr>
        <p:spPr>
          <a:xfrm>
            <a:off x="4123944"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9" name="Text 36"/>
          <p:cNvSpPr txBox="1"/>
          <p:nvPr/>
        </p:nvSpPr>
        <p:spPr>
          <a:xfrm>
            <a:off x="4389120"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عَائِلَتِي فِي العِرَاقِ مِنْ.</a:t>
            </a:r>
            <a:endParaRPr lang="ar-SA" sz="1800" dirty="0"/>
          </a:p>
        </p:txBody>
      </p:sp>
      <p:sp>
        <p:nvSpPr>
          <p:cNvPr id="40" name="Shape 37"/>
          <p:cNvSpPr/>
          <p:nvPr/>
        </p:nvSpPr>
        <p:spPr>
          <a:xfrm>
            <a:off x="457200" y="3392424"/>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94360" y="3529584"/>
            <a:ext cx="365760" cy="365760"/>
          </a:xfrm>
          <a:prstGeom prst="ellipse">
            <a:avLst/>
          </a:prstGeom>
          <a:solidFill>
            <a:srgbClr val="2F6FB0"/>
          </a:solidFill>
          <a:ln w="12700">
            <a:solidFill>
              <a:srgbClr val="2F6FB0"/>
            </a:solidFill>
            <a:prstDash val="solid"/>
          </a:ln>
        </p:spPr>
      </p:sp>
      <p:sp>
        <p:nvSpPr>
          <p:cNvPr id="42" name="Text 39"/>
          <p:cNvSpPr txBox="1"/>
          <p:nvPr/>
        </p:nvSpPr>
        <p:spPr>
          <a:xfrm>
            <a:off x="594360" y="352958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43" name="Text 40"/>
          <p:cNvSpPr txBox="1"/>
          <p:nvPr/>
        </p:nvSpPr>
        <p:spPr>
          <a:xfrm>
            <a:off x="1051560" y="3502152"/>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My friend (f.) is Algerian and she speaks French.</a:t>
            </a:r>
            <a:endParaRPr lang="en-US" sz="1400" dirty="0"/>
          </a:p>
        </p:txBody>
      </p:sp>
      <p:sp>
        <p:nvSpPr>
          <p:cNvPr id="44" name="Shape 41"/>
          <p:cNvSpPr/>
          <p:nvPr/>
        </p:nvSpPr>
        <p:spPr>
          <a:xfrm>
            <a:off x="9180576" y="3483864"/>
            <a:ext cx="2414016" cy="512064"/>
          </a:xfrm>
          <a:prstGeom prst="roundRect">
            <a:avLst>
              <a:gd name="adj" fmla="val 10714"/>
            </a:avLst>
          </a:prstGeom>
          <a:solidFill>
            <a:srgbClr val="EEF3FA"/>
          </a:solidFill>
          <a:ln w="9525">
            <a:solidFill>
              <a:srgbClr val="C9D6EA"/>
            </a:solidFill>
            <a:prstDash val="solid"/>
          </a:ln>
        </p:spPr>
      </p:sp>
      <p:sp>
        <p:nvSpPr>
          <p:cNvPr id="45" name="Text 42"/>
          <p:cNvSpPr txBox="1"/>
          <p:nvPr/>
        </p:nvSpPr>
        <p:spPr>
          <a:xfrm>
            <a:off x="9235440"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46" name="Text 43"/>
          <p:cNvSpPr txBox="1"/>
          <p:nvPr/>
        </p:nvSpPr>
        <p:spPr>
          <a:xfrm>
            <a:off x="9500616"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صَدِيقَتِي جَزَائِرِيَّةٌ،</a:t>
            </a:r>
            <a:endParaRPr lang="ar-SA" sz="1800" dirty="0"/>
          </a:p>
        </p:txBody>
      </p:sp>
      <p:sp>
        <p:nvSpPr>
          <p:cNvPr id="47" name="Shape 44"/>
          <p:cNvSpPr/>
          <p:nvPr/>
        </p:nvSpPr>
        <p:spPr>
          <a:xfrm>
            <a:off x="9180576" y="4050792"/>
            <a:ext cx="2414016" cy="512064"/>
          </a:xfrm>
          <a:prstGeom prst="roundRect">
            <a:avLst>
              <a:gd name="adj" fmla="val 10714"/>
            </a:avLst>
          </a:prstGeom>
          <a:solidFill>
            <a:srgbClr val="EEF3FA"/>
          </a:solidFill>
          <a:ln w="9525">
            <a:solidFill>
              <a:srgbClr val="C9D6EA"/>
            </a:solidFill>
            <a:prstDash val="solid"/>
          </a:ln>
        </p:spPr>
      </p:sp>
      <p:sp>
        <p:nvSpPr>
          <p:cNvPr id="48" name="Text 45"/>
          <p:cNvSpPr txBox="1"/>
          <p:nvPr/>
        </p:nvSpPr>
        <p:spPr>
          <a:xfrm>
            <a:off x="9235440"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49" name="Text 46"/>
          <p:cNvSpPr txBox="1"/>
          <p:nvPr/>
        </p:nvSpPr>
        <p:spPr>
          <a:xfrm>
            <a:off x="9500616"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صَدِيقِي جَزَائِرِيَّةٌ،</a:t>
            </a:r>
            <a:endParaRPr lang="ar-SA" sz="1800" dirty="0"/>
          </a:p>
        </p:txBody>
      </p:sp>
      <p:sp>
        <p:nvSpPr>
          <p:cNvPr id="50" name="Shape 47"/>
          <p:cNvSpPr/>
          <p:nvPr/>
        </p:nvSpPr>
        <p:spPr>
          <a:xfrm>
            <a:off x="6624828" y="3483864"/>
            <a:ext cx="2414016" cy="512064"/>
          </a:xfrm>
          <a:prstGeom prst="roundRect">
            <a:avLst>
              <a:gd name="adj" fmla="val 10714"/>
            </a:avLst>
          </a:prstGeom>
          <a:solidFill>
            <a:srgbClr val="EEF3FA"/>
          </a:solidFill>
          <a:ln w="9525">
            <a:solidFill>
              <a:srgbClr val="C9D6EA"/>
            </a:solidFill>
            <a:prstDash val="solid"/>
          </a:ln>
        </p:spPr>
      </p:sp>
      <p:sp>
        <p:nvSpPr>
          <p:cNvPr id="51" name="Text 48"/>
          <p:cNvSpPr txBox="1"/>
          <p:nvPr/>
        </p:nvSpPr>
        <p:spPr>
          <a:xfrm>
            <a:off x="6679692"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2" name="Text 49"/>
          <p:cNvSpPr txBox="1"/>
          <p:nvPr/>
        </p:nvSpPr>
        <p:spPr>
          <a:xfrm>
            <a:off x="6944868"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وَتَتَكَلَّمُ</a:t>
            </a:r>
            <a:endParaRPr lang="ar-SA" sz="1800" dirty="0"/>
          </a:p>
        </p:txBody>
      </p:sp>
      <p:sp>
        <p:nvSpPr>
          <p:cNvPr id="53" name="Shape 50"/>
          <p:cNvSpPr/>
          <p:nvPr/>
        </p:nvSpPr>
        <p:spPr>
          <a:xfrm>
            <a:off x="6624828" y="4050792"/>
            <a:ext cx="2414016" cy="512064"/>
          </a:xfrm>
          <a:prstGeom prst="roundRect">
            <a:avLst>
              <a:gd name="adj" fmla="val 10714"/>
            </a:avLst>
          </a:prstGeom>
          <a:solidFill>
            <a:srgbClr val="EEF3FA"/>
          </a:solidFill>
          <a:ln w="9525">
            <a:solidFill>
              <a:srgbClr val="C9D6EA"/>
            </a:solidFill>
            <a:prstDash val="solid"/>
          </a:ln>
        </p:spPr>
      </p:sp>
      <p:sp>
        <p:nvSpPr>
          <p:cNvPr id="54" name="Text 51"/>
          <p:cNvSpPr txBox="1"/>
          <p:nvPr/>
        </p:nvSpPr>
        <p:spPr>
          <a:xfrm>
            <a:off x="6679692"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55" name="Text 52"/>
          <p:cNvSpPr txBox="1"/>
          <p:nvPr/>
        </p:nvSpPr>
        <p:spPr>
          <a:xfrm>
            <a:off x="6944868"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وَيَتَكَلَّمُ</a:t>
            </a:r>
            <a:endParaRPr lang="ar-SA" sz="1800" dirty="0"/>
          </a:p>
        </p:txBody>
      </p:sp>
      <p:sp>
        <p:nvSpPr>
          <p:cNvPr id="56" name="Shape 53"/>
          <p:cNvSpPr/>
          <p:nvPr/>
        </p:nvSpPr>
        <p:spPr>
          <a:xfrm>
            <a:off x="4069080" y="3483864"/>
            <a:ext cx="2414016" cy="512064"/>
          </a:xfrm>
          <a:prstGeom prst="roundRect">
            <a:avLst>
              <a:gd name="adj" fmla="val 10714"/>
            </a:avLst>
          </a:prstGeom>
          <a:solidFill>
            <a:srgbClr val="EEF3FA"/>
          </a:solidFill>
          <a:ln w="9525">
            <a:solidFill>
              <a:srgbClr val="C9D6EA"/>
            </a:solidFill>
            <a:prstDash val="solid"/>
          </a:ln>
        </p:spPr>
      </p:sp>
      <p:sp>
        <p:nvSpPr>
          <p:cNvPr id="57" name="Text 54"/>
          <p:cNvSpPr txBox="1"/>
          <p:nvPr/>
        </p:nvSpPr>
        <p:spPr>
          <a:xfrm>
            <a:off x="4123944"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8" name="Text 55"/>
          <p:cNvSpPr txBox="1"/>
          <p:nvPr/>
        </p:nvSpPr>
        <p:spPr>
          <a:xfrm>
            <a:off x="4389120"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الفَرَنْسِيَّةَ.</a:t>
            </a:r>
            <a:endParaRPr lang="ar-SA" sz="1800" dirty="0"/>
          </a:p>
        </p:txBody>
      </p:sp>
      <p:sp>
        <p:nvSpPr>
          <p:cNvPr id="59" name="Shape 56"/>
          <p:cNvSpPr/>
          <p:nvPr/>
        </p:nvSpPr>
        <p:spPr>
          <a:xfrm>
            <a:off x="4069080" y="4050792"/>
            <a:ext cx="2414016" cy="512064"/>
          </a:xfrm>
          <a:prstGeom prst="roundRect">
            <a:avLst>
              <a:gd name="adj" fmla="val 10714"/>
            </a:avLst>
          </a:prstGeom>
          <a:solidFill>
            <a:srgbClr val="EEF3FA"/>
          </a:solidFill>
          <a:ln w="9525">
            <a:solidFill>
              <a:srgbClr val="C9D6EA"/>
            </a:solidFill>
            <a:prstDash val="solid"/>
          </a:ln>
        </p:spPr>
      </p:sp>
      <p:sp>
        <p:nvSpPr>
          <p:cNvPr id="60" name="Text 57"/>
          <p:cNvSpPr txBox="1"/>
          <p:nvPr/>
        </p:nvSpPr>
        <p:spPr>
          <a:xfrm>
            <a:off x="4123944"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61" name="Text 58"/>
          <p:cNvSpPr txBox="1"/>
          <p:nvPr/>
        </p:nvSpPr>
        <p:spPr>
          <a:xfrm>
            <a:off x="4389120"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فَرَنْسَا.</a:t>
            </a:r>
            <a:endParaRPr lang="ar-SA" sz="1800" dirty="0"/>
          </a:p>
        </p:txBody>
      </p:sp>
      <p:sp>
        <p:nvSpPr>
          <p:cNvPr id="62" name="Shape 59"/>
          <p:cNvSpPr/>
          <p:nvPr/>
        </p:nvSpPr>
        <p:spPr>
          <a:xfrm>
            <a:off x="457200" y="4773168"/>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94360" y="4910328"/>
            <a:ext cx="365760" cy="365760"/>
          </a:xfrm>
          <a:prstGeom prst="ellipse">
            <a:avLst/>
          </a:prstGeom>
          <a:solidFill>
            <a:srgbClr val="2F6FB0"/>
          </a:solidFill>
          <a:ln w="12700">
            <a:solidFill>
              <a:srgbClr val="2F6FB0"/>
            </a:solidFill>
            <a:prstDash val="solid"/>
          </a:ln>
        </p:spPr>
      </p:sp>
      <p:sp>
        <p:nvSpPr>
          <p:cNvPr id="64" name="Text 61"/>
          <p:cNvSpPr txBox="1"/>
          <p:nvPr/>
        </p:nvSpPr>
        <p:spPr>
          <a:xfrm>
            <a:off x="59436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65" name="Text 62"/>
          <p:cNvSpPr txBox="1"/>
          <p:nvPr/>
        </p:nvSpPr>
        <p:spPr>
          <a:xfrm>
            <a:off x="1051560" y="4882896"/>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I learn Arabic because I love it.</a:t>
            </a:r>
            <a:endParaRPr lang="en-US" sz="1400" dirty="0"/>
          </a:p>
        </p:txBody>
      </p:sp>
      <p:sp>
        <p:nvSpPr>
          <p:cNvPr id="66" name="Shape 63"/>
          <p:cNvSpPr/>
          <p:nvPr/>
        </p:nvSpPr>
        <p:spPr>
          <a:xfrm>
            <a:off x="9180576" y="4864608"/>
            <a:ext cx="2414016" cy="512064"/>
          </a:xfrm>
          <a:prstGeom prst="roundRect">
            <a:avLst>
              <a:gd name="adj" fmla="val 10714"/>
            </a:avLst>
          </a:prstGeom>
          <a:solidFill>
            <a:srgbClr val="EEF3FA"/>
          </a:solidFill>
          <a:ln w="9525">
            <a:solidFill>
              <a:srgbClr val="C9D6EA"/>
            </a:solidFill>
            <a:prstDash val="solid"/>
          </a:ln>
        </p:spPr>
      </p:sp>
      <p:sp>
        <p:nvSpPr>
          <p:cNvPr id="67" name="Text 64"/>
          <p:cNvSpPr txBox="1"/>
          <p:nvPr/>
        </p:nvSpPr>
        <p:spPr>
          <a:xfrm>
            <a:off x="9235440"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68" name="Text 65"/>
          <p:cNvSpPr txBox="1"/>
          <p:nvPr/>
        </p:nvSpPr>
        <p:spPr>
          <a:xfrm>
            <a:off x="9500616"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أَتَعَلَّمُ العَرَبِيَّةَ</a:t>
            </a:r>
            <a:endParaRPr lang="ar-SA" sz="1800" dirty="0"/>
          </a:p>
        </p:txBody>
      </p:sp>
      <p:sp>
        <p:nvSpPr>
          <p:cNvPr id="69" name="Shape 66"/>
          <p:cNvSpPr/>
          <p:nvPr/>
        </p:nvSpPr>
        <p:spPr>
          <a:xfrm>
            <a:off x="9180576" y="5431536"/>
            <a:ext cx="2414016" cy="512064"/>
          </a:xfrm>
          <a:prstGeom prst="roundRect">
            <a:avLst>
              <a:gd name="adj" fmla="val 10714"/>
            </a:avLst>
          </a:prstGeom>
          <a:solidFill>
            <a:srgbClr val="EEF3FA"/>
          </a:solidFill>
          <a:ln w="9525">
            <a:solidFill>
              <a:srgbClr val="C9D6EA"/>
            </a:solidFill>
            <a:prstDash val="solid"/>
          </a:ln>
        </p:spPr>
      </p:sp>
      <p:sp>
        <p:nvSpPr>
          <p:cNvPr id="70" name="Text 67"/>
          <p:cNvSpPr txBox="1"/>
          <p:nvPr/>
        </p:nvSpPr>
        <p:spPr>
          <a:xfrm>
            <a:off x="9235440"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1" name="Text 68"/>
          <p:cNvSpPr txBox="1"/>
          <p:nvPr/>
        </p:nvSpPr>
        <p:spPr>
          <a:xfrm>
            <a:off x="9500616"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يَتَعَلَّمُ العَرَبِيَّةَ</a:t>
            </a:r>
            <a:endParaRPr lang="ar-SA" sz="1800" dirty="0"/>
          </a:p>
        </p:txBody>
      </p:sp>
      <p:sp>
        <p:nvSpPr>
          <p:cNvPr id="72" name="Shape 69"/>
          <p:cNvSpPr/>
          <p:nvPr/>
        </p:nvSpPr>
        <p:spPr>
          <a:xfrm>
            <a:off x="6624828" y="4864608"/>
            <a:ext cx="2414016" cy="512064"/>
          </a:xfrm>
          <a:prstGeom prst="roundRect">
            <a:avLst>
              <a:gd name="adj" fmla="val 10714"/>
            </a:avLst>
          </a:prstGeom>
          <a:solidFill>
            <a:srgbClr val="EEF3FA"/>
          </a:solidFill>
          <a:ln w="9525">
            <a:solidFill>
              <a:srgbClr val="C9D6EA"/>
            </a:solidFill>
            <a:prstDash val="solid"/>
          </a:ln>
        </p:spPr>
      </p:sp>
      <p:sp>
        <p:nvSpPr>
          <p:cNvPr id="73" name="Text 70"/>
          <p:cNvSpPr txBox="1"/>
          <p:nvPr/>
        </p:nvSpPr>
        <p:spPr>
          <a:xfrm>
            <a:off x="6679692"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74" name="Text 71"/>
          <p:cNvSpPr txBox="1"/>
          <p:nvPr/>
        </p:nvSpPr>
        <p:spPr>
          <a:xfrm>
            <a:off x="6944868"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لِأَنِّي</a:t>
            </a:r>
            <a:endParaRPr lang="ar-SA" sz="1800" dirty="0"/>
          </a:p>
        </p:txBody>
      </p:sp>
      <p:sp>
        <p:nvSpPr>
          <p:cNvPr id="75" name="Shape 72"/>
          <p:cNvSpPr/>
          <p:nvPr/>
        </p:nvSpPr>
        <p:spPr>
          <a:xfrm>
            <a:off x="6624828" y="5431536"/>
            <a:ext cx="2414016" cy="512064"/>
          </a:xfrm>
          <a:prstGeom prst="roundRect">
            <a:avLst>
              <a:gd name="adj" fmla="val 10714"/>
            </a:avLst>
          </a:prstGeom>
          <a:solidFill>
            <a:srgbClr val="EEF3FA"/>
          </a:solidFill>
          <a:ln w="9525">
            <a:solidFill>
              <a:srgbClr val="C9D6EA"/>
            </a:solidFill>
            <a:prstDash val="solid"/>
          </a:ln>
        </p:spPr>
      </p:sp>
      <p:sp>
        <p:nvSpPr>
          <p:cNvPr id="76" name="Text 73"/>
          <p:cNvSpPr txBox="1"/>
          <p:nvPr/>
        </p:nvSpPr>
        <p:spPr>
          <a:xfrm>
            <a:off x="6679692"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7" name="Text 74"/>
          <p:cNvSpPr txBox="1"/>
          <p:nvPr/>
        </p:nvSpPr>
        <p:spPr>
          <a:xfrm>
            <a:off x="6944868"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لٰكِنِّي</a:t>
            </a:r>
            <a:endParaRPr lang="ar-SA" sz="1800" dirty="0"/>
          </a:p>
        </p:txBody>
      </p:sp>
      <p:sp>
        <p:nvSpPr>
          <p:cNvPr id="78" name="Shape 75"/>
          <p:cNvSpPr/>
          <p:nvPr/>
        </p:nvSpPr>
        <p:spPr>
          <a:xfrm>
            <a:off x="4069080" y="4864608"/>
            <a:ext cx="2414016" cy="512064"/>
          </a:xfrm>
          <a:prstGeom prst="roundRect">
            <a:avLst>
              <a:gd name="adj" fmla="val 10714"/>
            </a:avLst>
          </a:prstGeom>
          <a:solidFill>
            <a:srgbClr val="EEF3FA"/>
          </a:solidFill>
          <a:ln w="9525">
            <a:solidFill>
              <a:srgbClr val="C9D6EA"/>
            </a:solidFill>
            <a:prstDash val="solid"/>
          </a:ln>
        </p:spPr>
      </p:sp>
      <p:sp>
        <p:nvSpPr>
          <p:cNvPr id="79" name="Text 76"/>
          <p:cNvSpPr txBox="1"/>
          <p:nvPr/>
        </p:nvSpPr>
        <p:spPr>
          <a:xfrm>
            <a:off x="4123944"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80" name="Text 77"/>
          <p:cNvSpPr txBox="1"/>
          <p:nvPr/>
        </p:nvSpPr>
        <p:spPr>
          <a:xfrm>
            <a:off x="4389120"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أُحِبُّهَا.</a:t>
            </a:r>
            <a:endParaRPr lang="ar-SA" sz="1800" dirty="0"/>
          </a:p>
        </p:txBody>
      </p:sp>
      <p:sp>
        <p:nvSpPr>
          <p:cNvPr id="81" name="Shape 78"/>
          <p:cNvSpPr/>
          <p:nvPr/>
        </p:nvSpPr>
        <p:spPr>
          <a:xfrm>
            <a:off x="4069080" y="5431536"/>
            <a:ext cx="2414016" cy="512064"/>
          </a:xfrm>
          <a:prstGeom prst="roundRect">
            <a:avLst>
              <a:gd name="adj" fmla="val 10714"/>
            </a:avLst>
          </a:prstGeom>
          <a:solidFill>
            <a:srgbClr val="EEF3FA"/>
          </a:solidFill>
          <a:ln w="9525">
            <a:solidFill>
              <a:srgbClr val="C9D6EA"/>
            </a:solidFill>
            <a:prstDash val="solid"/>
          </a:ln>
        </p:spPr>
      </p:sp>
      <p:sp>
        <p:nvSpPr>
          <p:cNvPr id="82" name="Text 79"/>
          <p:cNvSpPr txBox="1"/>
          <p:nvPr/>
        </p:nvSpPr>
        <p:spPr>
          <a:xfrm>
            <a:off x="4123944"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83" name="Text 80"/>
          <p:cNvSpPr txBox="1"/>
          <p:nvPr/>
        </p:nvSpPr>
        <p:spPr>
          <a:xfrm>
            <a:off x="4389120"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أُحِبُّهُ.</a:t>
            </a:r>
            <a:endParaRPr lang="ar-SA" sz="180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24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F2-W06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7 · CHECK YOUR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builder: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F2-W06 · Apply workshop (F2-L11 + F2-L12)</a:t>
            </a:r>
            <a:endParaRPr lang="en-US" sz="850" dirty="0"/>
          </a:p>
        </p:txBody>
      </p:sp>
      <p:sp>
        <p:nvSpPr>
          <p:cNvPr id="15" name="Shape 12"/>
          <p:cNvSpPr/>
          <p:nvPr/>
        </p:nvSpPr>
        <p:spPr>
          <a:xfrm>
            <a:off x="457200" y="1810512"/>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47672"/>
            <a:ext cx="365760" cy="365760"/>
          </a:xfrm>
          <a:prstGeom prst="ellipse">
            <a:avLst/>
          </a:prstGeom>
          <a:solidFill>
            <a:srgbClr val="2E8B57"/>
          </a:solidFill>
          <a:ln w="12700">
            <a:solidFill>
              <a:srgbClr val="2E8B57"/>
            </a:solidFill>
            <a:prstDash val="solid"/>
          </a:ln>
        </p:spPr>
      </p:sp>
      <p:sp>
        <p:nvSpPr>
          <p:cNvPr id="17" name="Text 14"/>
          <p:cNvSpPr txBox="1"/>
          <p:nvPr/>
        </p:nvSpPr>
        <p:spPr>
          <a:xfrm>
            <a:off x="640080" y="194767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Text 15"/>
          <p:cNvSpPr txBox="1"/>
          <p:nvPr/>
        </p:nvSpPr>
        <p:spPr>
          <a:xfrm>
            <a:off x="1143000" y="1901952"/>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I am British, but my family is from Iraq.</a:t>
            </a:r>
            <a:endParaRPr lang="en-US" sz="1300" dirty="0"/>
          </a:p>
        </p:txBody>
      </p:sp>
      <p:sp>
        <p:nvSpPr>
          <p:cNvPr id="19" name="Text 16"/>
          <p:cNvSpPr txBox="1"/>
          <p:nvPr/>
        </p:nvSpPr>
        <p:spPr>
          <a:xfrm>
            <a:off x="1143000" y="2359152"/>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20" name="Text 17"/>
          <p:cNvSpPr txBox="1"/>
          <p:nvPr/>
        </p:nvSpPr>
        <p:spPr>
          <a:xfrm>
            <a:off x="1143000" y="2633472"/>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Nationality = </a:t>
            </a:r>
            <a:pPr algn="l" indent="0" marL="0">
              <a:buNone/>
            </a:pPr>
            <a:r>
              <a:rPr lang="ar-SA" altLang="en-US" sz="1350" dirty="0">
                <a:solidFill>
                  <a:srgbClr val="5A6472"/>
                </a:solidFill>
                <a:latin typeface="Amiri" pitchFamily="2" charset="-78"/>
                <a:ea typeface="Amiri" pitchFamily="2" charset="-78"/>
                <a:cs typeface="Amiri" pitchFamily="2" charset="-78"/>
              </a:rPr>
              <a:t>بِرِيطَانِيٌّ</a:t>
            </a:r>
            <a:pPr algn="l" indent="0" marL="0">
              <a:buNone/>
            </a:pPr>
            <a:r>
              <a:rPr lang="en-US" sz="1050" i="1" dirty="0">
                <a:solidFill>
                  <a:srgbClr val="5A6472"/>
                </a:solidFill>
                <a:latin typeface="Calibri" pitchFamily="34" charset="0"/>
                <a:cs typeface="Amiri" pitchFamily="2" charset="-78"/>
              </a:rPr>
              <a:t>; but = </a:t>
            </a:r>
            <a:pPr algn="l" indent="0" marL="0">
              <a:buNone/>
            </a:pPr>
            <a:r>
              <a:rPr lang="ar-SA" altLang="en-US" sz="1350" dirty="0">
                <a:solidFill>
                  <a:srgbClr val="5A6472"/>
                </a:solidFill>
                <a:latin typeface="Amiri" pitchFamily="2" charset="-78"/>
                <a:ea typeface="Amiri" pitchFamily="2" charset="-78"/>
                <a:cs typeface="Amiri" pitchFamily="2" charset="-78"/>
              </a:rPr>
              <a:t>لٰكِنَّ</a:t>
            </a:r>
            <a:pPr algn="l" indent="0" marL="0">
              <a:buNone/>
            </a:pPr>
            <a:r>
              <a:rPr lang="en-US" sz="1050" i="1" dirty="0">
                <a:solidFill>
                  <a:srgbClr val="5A6472"/>
                </a:solidFill>
                <a:latin typeface="Calibri" pitchFamily="34" charset="0"/>
                <a:cs typeface="Amiri" pitchFamily="2" charset="-78"/>
              </a:rPr>
              <a:t>.</a:t>
            </a:r>
            <a:endParaRPr lang="en-US" sz="1050" dirty="0"/>
          </a:p>
        </p:txBody>
      </p:sp>
      <p:sp>
        <p:nvSpPr>
          <p:cNvPr id="21" name="Text 18"/>
          <p:cNvSpPr txBox="1"/>
          <p:nvPr/>
        </p:nvSpPr>
        <p:spPr>
          <a:xfrm>
            <a:off x="4572000" y="1901952"/>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أَنَا بِرِيطَانِيٌّ، لٰكِنَّ عَائِلَتِي مِنَ العِرَاقِ.</a:t>
            </a:r>
            <a:endParaRPr lang="ar-SA" sz="2800" dirty="0"/>
          </a:p>
        </p:txBody>
      </p:sp>
      <p:sp>
        <p:nvSpPr>
          <p:cNvPr id="22" name="Shape 19"/>
          <p:cNvSpPr/>
          <p:nvPr/>
        </p:nvSpPr>
        <p:spPr>
          <a:xfrm>
            <a:off x="457200" y="3291840"/>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640080" y="3429000"/>
            <a:ext cx="365760" cy="365760"/>
          </a:xfrm>
          <a:prstGeom prst="ellipse">
            <a:avLst/>
          </a:prstGeom>
          <a:solidFill>
            <a:srgbClr val="2E8B57"/>
          </a:solidFill>
          <a:ln w="12700">
            <a:solidFill>
              <a:srgbClr val="2E8B57"/>
            </a:solidFill>
            <a:prstDash val="solid"/>
          </a:ln>
        </p:spPr>
      </p:sp>
      <p:sp>
        <p:nvSpPr>
          <p:cNvPr id="24" name="Text 21"/>
          <p:cNvSpPr txBox="1"/>
          <p:nvPr/>
        </p:nvSpPr>
        <p:spPr>
          <a:xfrm>
            <a:off x="640080" y="342900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5" name="Text 22"/>
          <p:cNvSpPr txBox="1"/>
          <p:nvPr/>
        </p:nvSpPr>
        <p:spPr>
          <a:xfrm>
            <a:off x="1143000" y="3383280"/>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My friend (f.) is Algerian and she speaks French.</a:t>
            </a:r>
            <a:endParaRPr lang="en-US" sz="1300" dirty="0"/>
          </a:p>
        </p:txBody>
      </p:sp>
      <p:sp>
        <p:nvSpPr>
          <p:cNvPr id="26" name="Text 23"/>
          <p:cNvSpPr txBox="1"/>
          <p:nvPr/>
        </p:nvSpPr>
        <p:spPr>
          <a:xfrm>
            <a:off x="1143000" y="3840480"/>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27" name="Text 24"/>
          <p:cNvSpPr txBox="1"/>
          <p:nvPr/>
        </p:nvSpPr>
        <p:spPr>
          <a:xfrm>
            <a:off x="1143000" y="4114800"/>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 girl → </a:t>
            </a:r>
            <a:pPr algn="l" indent="0" marL="0">
              <a:buNone/>
            </a:pPr>
            <a:r>
              <a:rPr lang="ar-SA" altLang="en-US" sz="1350" dirty="0">
                <a:solidFill>
                  <a:srgbClr val="5A6472"/>
                </a:solidFill>
                <a:latin typeface="Amiri" pitchFamily="2" charset="-78"/>
                <a:ea typeface="Amiri" pitchFamily="2" charset="-78"/>
                <a:cs typeface="Amiri" pitchFamily="2" charset="-78"/>
              </a:rPr>
              <a:t>صَدِيقَتِي … جَزَائِرِيَّةٌ … تَتَكَلَّمُ</a:t>
            </a:r>
            <a:pPr algn="l" indent="0" marL="0">
              <a:buNone/>
            </a:pPr>
            <a:r>
              <a:rPr lang="en-US" sz="1050" i="1" dirty="0">
                <a:solidFill>
                  <a:srgbClr val="5A6472"/>
                </a:solidFill>
                <a:latin typeface="Calibri" pitchFamily="34" charset="0"/>
                <a:cs typeface="Amiri" pitchFamily="2" charset="-78"/>
              </a:rPr>
              <a:t>.</a:t>
            </a:r>
            <a:endParaRPr lang="en-US" sz="1050" dirty="0"/>
          </a:p>
        </p:txBody>
      </p:sp>
      <p:sp>
        <p:nvSpPr>
          <p:cNvPr id="28" name="Text 25"/>
          <p:cNvSpPr txBox="1"/>
          <p:nvPr/>
        </p:nvSpPr>
        <p:spPr>
          <a:xfrm>
            <a:off x="4572000" y="3383280"/>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صَدِيقَتِي جَزَائِرِيَّةٌ، وَتَتَكَلَّمُ الفَرَنْسِيَّةَ.</a:t>
            </a:r>
            <a:endParaRPr lang="ar-SA" sz="2800" dirty="0"/>
          </a:p>
        </p:txBody>
      </p:sp>
      <p:sp>
        <p:nvSpPr>
          <p:cNvPr id="29" name="Shape 26"/>
          <p:cNvSpPr/>
          <p:nvPr/>
        </p:nvSpPr>
        <p:spPr>
          <a:xfrm>
            <a:off x="457200" y="4773168"/>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40080" y="4910328"/>
            <a:ext cx="365760" cy="365760"/>
          </a:xfrm>
          <a:prstGeom prst="ellipse">
            <a:avLst/>
          </a:prstGeom>
          <a:solidFill>
            <a:srgbClr val="2E8B57"/>
          </a:solidFill>
          <a:ln w="12700">
            <a:solidFill>
              <a:srgbClr val="2E8B57"/>
            </a:solidFill>
            <a:prstDash val="solid"/>
          </a:ln>
        </p:spPr>
      </p:sp>
      <p:sp>
        <p:nvSpPr>
          <p:cNvPr id="31" name="Text 28"/>
          <p:cNvSpPr txBox="1"/>
          <p:nvPr/>
        </p:nvSpPr>
        <p:spPr>
          <a:xfrm>
            <a:off x="64008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2" name="Text 29"/>
          <p:cNvSpPr txBox="1"/>
          <p:nvPr/>
        </p:nvSpPr>
        <p:spPr>
          <a:xfrm>
            <a:off x="1143000" y="4864608"/>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I learn Arabic because I love it.</a:t>
            </a:r>
            <a:endParaRPr lang="en-US" sz="1300" dirty="0"/>
          </a:p>
        </p:txBody>
      </p:sp>
      <p:sp>
        <p:nvSpPr>
          <p:cNvPr id="33" name="Text 30"/>
          <p:cNvSpPr txBox="1"/>
          <p:nvPr/>
        </p:nvSpPr>
        <p:spPr>
          <a:xfrm>
            <a:off x="1143000" y="5321808"/>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34" name="Text 31"/>
          <p:cNvSpPr txBox="1"/>
          <p:nvPr/>
        </p:nvSpPr>
        <p:spPr>
          <a:xfrm>
            <a:off x="1143000" y="5596128"/>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Because I = </a:t>
            </a:r>
            <a:pPr algn="l" indent="0" marL="0">
              <a:buNone/>
            </a:pPr>
            <a:r>
              <a:rPr lang="ar-SA" altLang="en-US" sz="1350" dirty="0">
                <a:solidFill>
                  <a:srgbClr val="5A6472"/>
                </a:solidFill>
                <a:latin typeface="Amiri" pitchFamily="2" charset="-78"/>
                <a:ea typeface="Amiri" pitchFamily="2" charset="-78"/>
                <a:cs typeface="Amiri" pitchFamily="2" charset="-78"/>
              </a:rPr>
              <a:t>لِأَنِّي</a:t>
            </a:r>
            <a:pPr algn="l" indent="0" marL="0">
              <a:buNone/>
            </a:pPr>
            <a:r>
              <a:rPr lang="en-US" sz="1050" i="1" dirty="0">
                <a:solidFill>
                  <a:srgbClr val="5A6472"/>
                </a:solidFill>
                <a:latin typeface="Calibri" pitchFamily="34" charset="0"/>
                <a:cs typeface="Amiri" pitchFamily="2" charset="-78"/>
              </a:rPr>
              <a:t>; Arabic is feminine → </a:t>
            </a:r>
            <a:pPr algn="l" indent="0" marL="0">
              <a:buNone/>
            </a:pPr>
            <a:r>
              <a:rPr lang="ar-SA" altLang="en-US" sz="1350" dirty="0">
                <a:solidFill>
                  <a:srgbClr val="5A6472"/>
                </a:solidFill>
                <a:latin typeface="Amiri" pitchFamily="2" charset="-78"/>
                <a:ea typeface="Amiri" pitchFamily="2" charset="-78"/>
                <a:cs typeface="Amiri" pitchFamily="2" charset="-78"/>
              </a:rPr>
              <a:t>أُحِبُّهَا</a:t>
            </a:r>
            <a:pPr algn="l" indent="0" marL="0">
              <a:buNone/>
            </a:pPr>
            <a:r>
              <a:rPr lang="en-US" sz="1050" i="1" dirty="0">
                <a:solidFill>
                  <a:srgbClr val="5A6472"/>
                </a:solidFill>
                <a:latin typeface="Calibri" pitchFamily="34" charset="0"/>
                <a:cs typeface="Amiri" pitchFamily="2" charset="-78"/>
              </a:rPr>
              <a:t>.</a:t>
            </a:r>
            <a:endParaRPr lang="en-US" sz="1050" dirty="0"/>
          </a:p>
        </p:txBody>
      </p:sp>
      <p:sp>
        <p:nvSpPr>
          <p:cNvPr id="35" name="Text 32"/>
          <p:cNvSpPr txBox="1"/>
          <p:nvPr/>
        </p:nvSpPr>
        <p:spPr>
          <a:xfrm>
            <a:off x="4572000" y="4864608"/>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أَتَعَلَّمُ العَرَبِيَّةَ لِأَنِّي أُحِبُّهَا.</a:t>
            </a:r>
            <a:endParaRPr lang="ar-SA" sz="280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24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F2-W06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STEP 8 · SPOT AND FIX · MISTAKES FROM BOTH LESSONS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Find the mistake, fix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اكْتَشِفِ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F2-W06 · Apply workshop (F2-L11 + F2-L12)</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العُمْرُ: عُمْرِي ثَلَاثَ عَشْرَةَ سَنَةً وَأَنَا أُحِبُّ الرِّيَاضَةَ.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 form box needs a SHORT answer.</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مَسَاءُ الخَيْرِ! — صَبَاحُ النُّورِ!</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Match the time of day.</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أَتَعَلَّمُ العَرَبِيَّةَ لِأَنَّ أُحِبُّهَا.</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ar-SA" altLang="en-US" sz="1700" dirty="0">
                <a:solidFill>
                  <a:srgbClr val="5A6472"/>
                </a:solidFill>
                <a:latin typeface="Amiri" pitchFamily="2" charset="-78"/>
                <a:ea typeface="Amiri" pitchFamily="2" charset="-78"/>
                <a:cs typeface="Amiri" pitchFamily="2" charset="-78"/>
              </a:rPr>
              <a:t>لِأَنَّ</a:t>
            </a:r>
            <a:pPr algn="l" indent="0" marL="0">
              <a:buNone/>
            </a:pPr>
            <a:r>
              <a:rPr lang="en-US" sz="1300" i="1" dirty="0">
                <a:solidFill>
                  <a:srgbClr val="5A6472"/>
                </a:solidFill>
                <a:latin typeface="Calibri" pitchFamily="34" charset="0"/>
                <a:cs typeface="Amiri" pitchFamily="2" charset="-78"/>
              </a:rPr>
              <a:t> + “I” …</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24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F2-W06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8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Spot and fix: corrections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اكْتَشِفِ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F2-W06 · Apply workshop (F2-L11 + F2-L12)</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2" charset="-78"/>
                <a:ea typeface="Amiri" pitchFamily="2" charset="-78"/>
                <a:cs typeface="Amiri" pitchFamily="2" charset="-78"/>
              </a:rPr>
              <a:t>العُمْرُ: عُمْرِي ثَلَاثَ عَشْرَةَ سَنَةً وَأَنَا أُحِبُّ الرِّيَاضَةَ.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العُمْرُ: ثَلَاثَ عَشْرَةَ سَنَةً.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Forms: short answers only; full sentences belong in the text.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مَسَاءُ الخَيْرِ! — صَبَاحُ النُّورِ!</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مَسَاءُ الخَيْرِ! — مَسَاءُ النُّورِ!</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Evening → evening reply: ‏</a:t>
            </a:r>
            <a:pPr algn="l" indent="0" marL="0">
              <a:buNone/>
            </a:pPr>
            <a:r>
              <a:rPr lang="ar-SA" altLang="en-US" sz="1500" b="1" dirty="0">
                <a:solidFill>
                  <a:srgbClr val="1B3B6F"/>
                </a:solidFill>
                <a:latin typeface="Amiri" pitchFamily="2" charset="-78"/>
                <a:ea typeface="Amiri" pitchFamily="2" charset="-78"/>
                <a:cs typeface="Amiri" pitchFamily="2" charset="-78"/>
              </a:rPr>
              <a:t>مَسَاءُ النُّورِ</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أَتَعَلَّمُ العَرَبِيَّةَ لِأَنَّ أُحِبُّهَا.</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أَتَعَلَّمُ العَرَبِيَّةَ لِأَنِّي أُحِبُّهَا.</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Because I → ‏</a:t>
            </a:r>
            <a:pPr algn="l" indent="0" marL="0">
              <a:buNone/>
            </a:pPr>
            <a:r>
              <a:rPr lang="ar-SA" altLang="en-US" sz="1500" b="1" dirty="0">
                <a:solidFill>
                  <a:srgbClr val="1B3B6F"/>
                </a:solidFill>
                <a:latin typeface="Amiri" pitchFamily="2" charset="-78"/>
                <a:ea typeface="Amiri" pitchFamily="2" charset="-78"/>
                <a:cs typeface="Amiri" pitchFamily="2" charset="-78"/>
              </a:rPr>
              <a:t>لِأَنِّي</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24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F2-W06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9 · WRITE YOUR TEXT · FRAMES IF YOU NEED THEM</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Your writing frames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F2-W06 · Apply workshop (F2-L11 + F2-L12)</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 ، لٰكِنَّ عَائِلَتِي مِنْ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but my family is from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أُرِيدُ صَدِيقًا بِالمُرَاسَلَةِ لِأَنِّي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want a pen-friend because I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وَهُوَ / وَهِيَ ______ جِدًّا.</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And he / she is very …</a:t>
            </a:r>
            <a:endParaRPr lang="en-US" sz="1050" dirty="0"/>
          </a:p>
        </p:txBody>
      </p:sp>
      <p:sp>
        <p:nvSpPr>
          <p:cNvPr id="24" name="Shape 21"/>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7" name="Text 24"/>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450" b="1" dirty="0">
                <a:solidFill>
                  <a:srgbClr val="1B3B6F"/>
                </a:solidFill>
                <a:latin typeface="Amiri" pitchFamily="2" charset="-78"/>
                <a:ea typeface="Amiri" pitchFamily="2" charset="-78"/>
                <a:cs typeface="Amiri" pitchFamily="2" charset="-78"/>
              </a:rPr>
              <a:t>السَّلَامُ عَلَيْكُمْ! اسْمِي ______ ، وَعُمْرِي ______ سَنَةً.</a:t>
            </a:r>
            <a:endParaRPr lang="ar-SA" sz="1450" dirty="0"/>
          </a:p>
        </p:txBody>
      </p:sp>
      <p:sp>
        <p:nvSpPr>
          <p:cNvPr id="28" name="Text 25"/>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Peace be upon you! My name is … and I am …</a:t>
            </a:r>
            <a:endParaRPr lang="en-US" sz="1050" dirty="0"/>
          </a:p>
        </p:txBody>
      </p:sp>
      <p:sp>
        <p:nvSpPr>
          <p:cNvPr id="29" name="Text 26"/>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أَنَا ______ ، وَأَسْكُنُ فِي ______ .</a:t>
            </a:r>
            <a:endParaRPr lang="ar-SA" sz="1800" dirty="0"/>
          </a:p>
        </p:txBody>
      </p:sp>
      <p:sp>
        <p:nvSpPr>
          <p:cNvPr id="30" name="Text 27"/>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am (nationality) and I live in …</a:t>
            </a:r>
            <a:endParaRPr lang="en-US" sz="1050" dirty="0"/>
          </a:p>
        </p:txBody>
      </p:sp>
      <p:sp>
        <p:nvSpPr>
          <p:cNvPr id="31" name="Text 28"/>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أَتَكَلَّمُ ______ ، وَ ______ أَيْضًا.</a:t>
            </a:r>
            <a:endParaRPr lang="ar-SA" sz="1800" dirty="0"/>
          </a:p>
        </p:txBody>
      </p:sp>
      <p:sp>
        <p:nvSpPr>
          <p:cNvPr id="32" name="Text 29"/>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speak …, and … too.</a:t>
            </a:r>
            <a:endParaRPr lang="en-US" sz="1050" dirty="0"/>
          </a:p>
        </p:txBody>
      </p:sp>
      <p:sp>
        <p:nvSpPr>
          <p:cNvPr id="33" name="Text 30"/>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صَدِيقِي / صَدِيقَتِي اسْمُهُ / اسْمُهَا ______ .</a:t>
            </a:r>
            <a:endParaRPr lang="ar-SA" sz="1800" dirty="0"/>
          </a:p>
        </p:txBody>
      </p:sp>
      <p:sp>
        <p:nvSpPr>
          <p:cNvPr id="34" name="Text 31"/>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friend is called …</a:t>
            </a:r>
            <a:endParaRPr lang="en-US" sz="1050" dirty="0"/>
          </a:p>
        </p:txBody>
      </p:sp>
      <p:sp>
        <p:nvSpPr>
          <p:cNvPr id="35" name="Text 32"/>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شُكْرًا، وَمَعَ السَّلَامَةِ!</a:t>
            </a:r>
            <a:endParaRPr lang="ar-SA" sz="1800" dirty="0"/>
          </a:p>
        </p:txBody>
      </p:sp>
      <p:sp>
        <p:nvSpPr>
          <p:cNvPr id="36" name="Text 33"/>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Thank you, and goodbye!</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وَ  ·  أَيْضًا  ·  ثُمَّ  ·  لِأَنَّ · لِأَنِّي  ·  لٰكِنَّ  ·  جِدًّا  ·  اسْمُهُ · اسْمُهَا  ·  يَسْكُنُ · تَسْكُنُ</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24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F2-W06 · Apply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10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9 · WRITE YOUR TEXT · FORM + ABOUT 50–70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My pen-friend application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طَلَبُ العُضْوِيَّةِ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F2-W06 · Apply workshop (F2-L11 + F2-L12)</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984248"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1984248"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WRITING · BOTH LESSONS</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100" b="1" dirty="0">
                <a:solidFill>
                  <a:srgbClr val="1F2A37"/>
                </a:solidFill>
                <a:latin typeface="Calibri" pitchFamily="34" charset="0"/>
                <a:cs typeface="Amiri" pitchFamily="2" charset="-78"/>
              </a:rPr>
              <a:t>Part 1: fill in the five form boxes with short answers — name · age · nationality · place of residence · languages. Part 2: write your introduction (about 50–70 words): • a greeting • name, age, nationality, city • languages • a friend: name, age, city, one adjective • why you want a pen-friend (give a reason) • a polite closing. Use at least four linking words.</a:t>
            </a:r>
            <a:endParaRPr lang="en-US" sz="110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Every bullet point has at least one sentence.</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Language from F2-L11 AND F2-L12.</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Full sentences with the right ending (I · my · he · she).</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At least one ‏</a:t>
            </a:r>
            <a:pPr algn="l" indent="0" marL="0">
              <a:buNone/>
            </a:pPr>
            <a:r>
              <a:rPr lang="ar-SA" altLang="en-US" sz="1550" dirty="0">
                <a:solidFill>
                  <a:srgbClr val="1F2A37"/>
                </a:solidFill>
                <a:latin typeface="Amiri" pitchFamily="2" charset="-78"/>
                <a:ea typeface="Amiri" pitchFamily="2" charset="-78"/>
                <a:cs typeface="Amiri" pitchFamily="2" charset="-78"/>
              </a:rPr>
              <a:t>وَ</a:t>
            </a:r>
            <a:pPr algn="l" indent="0" marL="0">
              <a:buNone/>
            </a:pPr>
            <a:r>
              <a:rPr lang="en-US" sz="1200" dirty="0">
                <a:solidFill>
                  <a:srgbClr val="1F2A37"/>
                </a:solidFill>
                <a:latin typeface="Calibri" pitchFamily="34" charset="0"/>
                <a:cs typeface="Amiri" pitchFamily="2" charset="-78"/>
              </a:rPr>
              <a:t>‏ and one ‏</a:t>
            </a:r>
            <a:pPr algn="l" indent="0" marL="0">
              <a:buNone/>
            </a:pPr>
            <a:r>
              <a:rPr lang="ar-SA" altLang="en-US" sz="1550" dirty="0">
                <a:solidFill>
                  <a:srgbClr val="1F2A37"/>
                </a:solidFill>
                <a:latin typeface="Amiri" pitchFamily="2" charset="-78"/>
                <a:ea typeface="Amiri" pitchFamily="2" charset="-78"/>
                <a:cs typeface="Amiri" pitchFamily="2" charset="-78"/>
              </a:rPr>
              <a:t>لِأَنَّ</a:t>
            </a:r>
            <a:pPr algn="l" indent="0" marL="0">
              <a:buNone/>
            </a:pPr>
            <a:r>
              <a:rPr lang="en-US" sz="1200" dirty="0">
                <a:solidFill>
                  <a:srgbClr val="1F2A37"/>
                </a:solidFill>
                <a:latin typeface="Calibri" pitchFamily="34" charset="0"/>
                <a:cs typeface="Amiri" pitchFamily="2" charset="-78"/>
              </a:rPr>
              <a:t>‏ (Develop).</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Buddy check, then fix one thing.</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USEFUL LANGUAGE</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الاسْمُ: … · العُمْرُ: … · الجِنْسِيَّةُ: …</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name: … · age: … · nationality: …</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أَنَا … ، لٰكِنَّ عَائِلَتِي مِنْ …</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am …, but my family is from …</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صَدِيقِي اسْمُهُ … ، وَعُمْرُهُ …</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my friend is called … and he is …</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أُرِيدُ صَدِيقًا بِالمُرَاسَلَةِ لِأَنِّي …</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want a pen-friend because I …</a:t>
            </a:r>
            <a:endParaRPr lang="en-US" sz="10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24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F2-W06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9 · BUDDY CHECK · SWAP AND READ YOUR BUDDY’S TEXT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Buddy check: five points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رَاجِعْ مَعَ زَمِيلِكَ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F2-W06 · Apply workshop (F2-L11 + F2-L12)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5995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Line / example</a:t>
            </a:r>
            <a:endParaRPr lang="en-US" sz="1100" dirty="0"/>
          </a:p>
        </p:txBody>
      </p:sp>
      <p:sp>
        <p:nvSpPr>
          <p:cNvPr id="17" name="Text 14"/>
          <p:cNvSpPr txBox="1"/>
          <p:nvPr/>
        </p:nvSpPr>
        <p:spPr>
          <a:xfrm>
            <a:off x="7845552" y="1810512"/>
            <a:ext cx="768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 / ✗</a:t>
            </a:r>
            <a:endParaRPr lang="en-US" sz="1100" dirty="0"/>
          </a:p>
        </p:txBody>
      </p:sp>
      <p:sp>
        <p:nvSpPr>
          <p:cNvPr id="18" name="Text 15"/>
          <p:cNvSpPr txBox="1"/>
          <p:nvPr/>
        </p:nvSpPr>
        <p:spPr>
          <a:xfrm>
            <a:off x="6565392" y="1810512"/>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Route</a:t>
            </a:r>
            <a:endParaRPr lang="en-US" sz="1100" dirty="0"/>
          </a:p>
        </p:txBody>
      </p:sp>
      <p:sp>
        <p:nvSpPr>
          <p:cNvPr id="19" name="Text 16"/>
          <p:cNvSpPr txBox="1"/>
          <p:nvPr/>
        </p:nvSpPr>
        <p:spPr>
          <a:xfrm>
            <a:off x="53035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Did the writer …</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796528" y="2267712"/>
            <a:ext cx="2862072" cy="682142"/>
          </a:xfrm>
          <a:prstGeom prst="rect">
            <a:avLst/>
          </a:prstGeom>
          <a:noFill/>
          <a:ln/>
        </p:spPr>
        <p:txBody>
          <a:bodyPr wrap="square" lIns="0" tIns="0" rIns="0" bIns="0" rtlCol="0" anchor="ctr"/>
          <a:lstStyle/>
          <a:p>
            <a:pPr algn="l" indent="0" marL="0">
              <a:buNone/>
            </a:pPr>
            <a:endParaRPr lang="en-US" sz="1100" dirty="0"/>
          </a:p>
        </p:txBody>
      </p:sp>
      <p:sp>
        <p:nvSpPr>
          <p:cNvPr id="22" name="Text 19"/>
          <p:cNvSpPr txBox="1"/>
          <p:nvPr/>
        </p:nvSpPr>
        <p:spPr>
          <a:xfrm>
            <a:off x="7882128" y="2267712"/>
            <a:ext cx="731520" cy="682142"/>
          </a:xfrm>
          <a:prstGeom prst="rect">
            <a:avLst/>
          </a:prstGeom>
          <a:noFill/>
          <a:ln/>
        </p:spPr>
        <p:txBody>
          <a:bodyPr wrap="square" lIns="0" tIns="0" rIns="0" bIns="0" rtlCol="0" anchor="ctr"/>
          <a:lstStyle/>
          <a:p>
            <a:pPr algn="l" indent="0" marL="0">
              <a:buNone/>
            </a:pPr>
            <a:endParaRPr lang="en-US" sz="1100" dirty="0"/>
          </a:p>
        </p:txBody>
      </p:sp>
      <p:sp>
        <p:nvSpPr>
          <p:cNvPr id="23" name="Text 20"/>
          <p:cNvSpPr txBox="1"/>
          <p:nvPr/>
        </p:nvSpPr>
        <p:spPr>
          <a:xfrm>
            <a:off x="6601968" y="2267712"/>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Core</a:t>
            </a:r>
            <a:endParaRPr lang="en-US" sz="1100" dirty="0"/>
          </a:p>
        </p:txBody>
      </p:sp>
      <p:sp>
        <p:nvSpPr>
          <p:cNvPr id="24" name="Text 21"/>
          <p:cNvSpPr txBox="1"/>
          <p:nvPr/>
        </p:nvSpPr>
        <p:spPr>
          <a:xfrm>
            <a:off x="566928" y="2267712"/>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answer EVERY bullet point?</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796528" y="3004718"/>
            <a:ext cx="2862072" cy="682142"/>
          </a:xfrm>
          <a:prstGeom prst="rect">
            <a:avLst/>
          </a:prstGeom>
          <a:noFill/>
          <a:ln/>
        </p:spPr>
        <p:txBody>
          <a:bodyPr wrap="square" lIns="0" tIns="0" rIns="0" bIns="0" rtlCol="0" anchor="ctr"/>
          <a:lstStyle/>
          <a:p>
            <a:pPr algn="l" indent="0" marL="0">
              <a:buNone/>
            </a:pPr>
            <a:endParaRPr lang="en-US" sz="1100" dirty="0"/>
          </a:p>
        </p:txBody>
      </p:sp>
      <p:sp>
        <p:nvSpPr>
          <p:cNvPr id="29" name="Text 26"/>
          <p:cNvSpPr txBox="1"/>
          <p:nvPr/>
        </p:nvSpPr>
        <p:spPr>
          <a:xfrm>
            <a:off x="7882128" y="3004718"/>
            <a:ext cx="731520" cy="682142"/>
          </a:xfrm>
          <a:prstGeom prst="rect">
            <a:avLst/>
          </a:prstGeom>
          <a:noFill/>
          <a:ln/>
        </p:spPr>
        <p:txBody>
          <a:bodyPr wrap="square" lIns="0" tIns="0" rIns="0" bIns="0" rtlCol="0" anchor="ctr"/>
          <a:lstStyle/>
          <a:p>
            <a:pPr algn="l" indent="0" marL="0">
              <a:buNone/>
            </a:pPr>
            <a:endParaRPr lang="en-US" sz="1100" dirty="0"/>
          </a:p>
        </p:txBody>
      </p:sp>
      <p:sp>
        <p:nvSpPr>
          <p:cNvPr id="30" name="Text 27"/>
          <p:cNvSpPr txBox="1"/>
          <p:nvPr/>
        </p:nvSpPr>
        <p:spPr>
          <a:xfrm>
            <a:off x="6601968" y="3004718"/>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Core</a:t>
            </a:r>
            <a:endParaRPr lang="en-US" sz="1100" dirty="0"/>
          </a:p>
        </p:txBody>
      </p:sp>
      <p:sp>
        <p:nvSpPr>
          <p:cNvPr id="31" name="Text 28"/>
          <p:cNvSpPr txBox="1"/>
          <p:nvPr/>
        </p:nvSpPr>
        <p:spPr>
          <a:xfrm>
            <a:off x="566928" y="3004718"/>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answer the form boxes briefly and write the text in full sentences?</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796528" y="3741725"/>
            <a:ext cx="2862072" cy="682142"/>
          </a:xfrm>
          <a:prstGeom prst="rect">
            <a:avLst/>
          </a:prstGeom>
          <a:noFill/>
          <a:ln/>
        </p:spPr>
        <p:txBody>
          <a:bodyPr wrap="square" lIns="0" tIns="0" rIns="0" bIns="0" rtlCol="0" anchor="ctr"/>
          <a:lstStyle/>
          <a:p>
            <a:pPr algn="l" indent="0" marL="0">
              <a:buNone/>
            </a:pPr>
            <a:endParaRPr lang="en-US" sz="1100" dirty="0"/>
          </a:p>
        </p:txBody>
      </p:sp>
      <p:sp>
        <p:nvSpPr>
          <p:cNvPr id="36" name="Text 33"/>
          <p:cNvSpPr txBox="1"/>
          <p:nvPr/>
        </p:nvSpPr>
        <p:spPr>
          <a:xfrm>
            <a:off x="7882128" y="3741725"/>
            <a:ext cx="731520" cy="682142"/>
          </a:xfrm>
          <a:prstGeom prst="rect">
            <a:avLst/>
          </a:prstGeom>
          <a:noFill/>
          <a:ln/>
        </p:spPr>
        <p:txBody>
          <a:bodyPr wrap="square" lIns="0" tIns="0" rIns="0" bIns="0" rtlCol="0" anchor="ctr"/>
          <a:lstStyle/>
          <a:p>
            <a:pPr algn="l" indent="0" marL="0">
              <a:buNone/>
            </a:pPr>
            <a:endParaRPr lang="en-US" sz="1100" dirty="0"/>
          </a:p>
        </p:txBody>
      </p:sp>
      <p:sp>
        <p:nvSpPr>
          <p:cNvPr id="37" name="Text 34"/>
          <p:cNvSpPr txBox="1"/>
          <p:nvPr/>
        </p:nvSpPr>
        <p:spPr>
          <a:xfrm>
            <a:off x="6601968" y="3741725"/>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Develop</a:t>
            </a:r>
            <a:endParaRPr lang="en-US" sz="1100" dirty="0"/>
          </a:p>
        </p:txBody>
      </p:sp>
      <p:sp>
        <p:nvSpPr>
          <p:cNvPr id="38" name="Text 35"/>
          <p:cNvSpPr txBox="1"/>
          <p:nvPr/>
        </p:nvSpPr>
        <p:spPr>
          <a:xfrm>
            <a:off x="566928" y="3741725"/>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the right endings for I, he and she (‏</a:t>
            </a:r>
            <a:pPr algn="l" indent="0" marL="0">
              <a:buNone/>
            </a:pPr>
            <a:r>
              <a:rPr lang="ar-SA" altLang="en-US" sz="1450" dirty="0">
                <a:solidFill>
                  <a:srgbClr val="5A6472"/>
                </a:solidFill>
                <a:latin typeface="Amiri" pitchFamily="2" charset="-78"/>
                <a:ea typeface="Amiri" pitchFamily="2" charset="-78"/>
                <a:cs typeface="Amiri" pitchFamily="2" charset="-78"/>
              </a:rPr>
              <a:t>اسْمِي</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اسْمُهُ</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اسْمُهَا</a:t>
            </a:r>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8796528" y="4478731"/>
            <a:ext cx="2862072" cy="682142"/>
          </a:xfrm>
          <a:prstGeom prst="rect">
            <a:avLst/>
          </a:prstGeom>
          <a:noFill/>
          <a:ln/>
        </p:spPr>
        <p:txBody>
          <a:bodyPr wrap="square" lIns="0" tIns="0" rIns="0" bIns="0" rtlCol="0" anchor="ctr"/>
          <a:lstStyle/>
          <a:p>
            <a:pPr algn="l" indent="0" marL="0">
              <a:buNone/>
            </a:pPr>
            <a:endParaRPr lang="en-US" sz="1100" dirty="0"/>
          </a:p>
        </p:txBody>
      </p:sp>
      <p:sp>
        <p:nvSpPr>
          <p:cNvPr id="41" name="Text 38"/>
          <p:cNvSpPr txBox="1"/>
          <p:nvPr/>
        </p:nvSpPr>
        <p:spPr>
          <a:xfrm>
            <a:off x="7882128" y="4478731"/>
            <a:ext cx="731520" cy="682142"/>
          </a:xfrm>
          <a:prstGeom prst="rect">
            <a:avLst/>
          </a:prstGeom>
          <a:noFill/>
          <a:ln/>
        </p:spPr>
        <p:txBody>
          <a:bodyPr wrap="square" lIns="0" tIns="0" rIns="0" bIns="0" rtlCol="0" anchor="ctr"/>
          <a:lstStyle/>
          <a:p>
            <a:pPr algn="l" indent="0" marL="0">
              <a:buNone/>
            </a:pPr>
            <a:endParaRPr lang="en-US" sz="1100" dirty="0"/>
          </a:p>
        </p:txBody>
      </p:sp>
      <p:sp>
        <p:nvSpPr>
          <p:cNvPr id="42" name="Text 39"/>
          <p:cNvSpPr txBox="1"/>
          <p:nvPr/>
        </p:nvSpPr>
        <p:spPr>
          <a:xfrm>
            <a:off x="6601968" y="4478731"/>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Develop</a:t>
            </a:r>
            <a:endParaRPr lang="en-US" sz="1100" dirty="0"/>
          </a:p>
        </p:txBody>
      </p:sp>
      <p:sp>
        <p:nvSpPr>
          <p:cNvPr id="43" name="Text 40"/>
          <p:cNvSpPr txBox="1"/>
          <p:nvPr/>
        </p:nvSpPr>
        <p:spPr>
          <a:xfrm>
            <a:off x="566928" y="4478731"/>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linking words (‏</a:t>
            </a:r>
            <a:pPr algn="l" indent="0" marL="0">
              <a:buNone/>
            </a:pPr>
            <a:r>
              <a:rPr lang="ar-SA" altLang="en-US" sz="1450" dirty="0">
                <a:solidFill>
                  <a:srgbClr val="5A6472"/>
                </a:solidFill>
                <a:latin typeface="Amiri" pitchFamily="2" charset="-78"/>
                <a:ea typeface="Amiri" pitchFamily="2" charset="-78"/>
                <a:cs typeface="Amiri" pitchFamily="2" charset="-78"/>
              </a:rPr>
              <a:t>وَ</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ثُمَّ</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لِأَنَّ</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لٰكِنَّ</a:t>
            </a:r>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8796528" y="5215738"/>
            <a:ext cx="2862072" cy="682142"/>
          </a:xfrm>
          <a:prstGeom prst="rect">
            <a:avLst/>
          </a:prstGeom>
          <a:noFill/>
          <a:ln/>
        </p:spPr>
        <p:txBody>
          <a:bodyPr wrap="square" lIns="0" tIns="0" rIns="0" bIns="0" rtlCol="0" anchor="ctr"/>
          <a:lstStyle/>
          <a:p>
            <a:pPr algn="l" indent="0" marL="0">
              <a:buNone/>
            </a:pPr>
            <a:endParaRPr lang="en-US" sz="1100" dirty="0"/>
          </a:p>
        </p:txBody>
      </p:sp>
      <p:sp>
        <p:nvSpPr>
          <p:cNvPr id="46" name="Text 43"/>
          <p:cNvSpPr txBox="1"/>
          <p:nvPr/>
        </p:nvSpPr>
        <p:spPr>
          <a:xfrm>
            <a:off x="7882128" y="5215738"/>
            <a:ext cx="731520" cy="682142"/>
          </a:xfrm>
          <a:prstGeom prst="rect">
            <a:avLst/>
          </a:prstGeom>
          <a:noFill/>
          <a:ln/>
        </p:spPr>
        <p:txBody>
          <a:bodyPr wrap="square" lIns="0" tIns="0" rIns="0" bIns="0" rtlCol="0" anchor="ctr"/>
          <a:lstStyle/>
          <a:p>
            <a:pPr algn="l" indent="0" marL="0">
              <a:buNone/>
            </a:pPr>
            <a:endParaRPr lang="en-US" sz="1100" dirty="0"/>
          </a:p>
        </p:txBody>
      </p:sp>
      <p:sp>
        <p:nvSpPr>
          <p:cNvPr id="47" name="Text 44"/>
          <p:cNvSpPr txBox="1"/>
          <p:nvPr/>
        </p:nvSpPr>
        <p:spPr>
          <a:xfrm>
            <a:off x="6601968" y="5215738"/>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Stretch</a:t>
            </a:r>
            <a:endParaRPr lang="en-US" sz="1100" dirty="0"/>
          </a:p>
        </p:txBody>
      </p:sp>
      <p:sp>
        <p:nvSpPr>
          <p:cNvPr id="48" name="Text 45"/>
          <p:cNvSpPr txBox="1"/>
          <p:nvPr/>
        </p:nvSpPr>
        <p:spPr>
          <a:xfrm>
            <a:off x="566928" y="5215738"/>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add a reason, a time phrase or an opinion?</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Give back: one thing that went well + one thing to improve. The writer fixes ONE thing straight away.</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24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F2-W06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CHECK YOURSELF · ROLE-PLAY CARD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cs typeface="Amiri" pitchFamily="2" charset="-78"/>
              </a:rPr>
              <a:t>Role-play card: compare with a strong answer</a:t>
            </a:r>
            <a:endParaRPr lang="en-US" sz="20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قَارِنْ إِجَابَتَكَ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F2-W06 · Apply workshop (F2-L11 + F2-L12)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4782312" y="1810512"/>
            <a:ext cx="6876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 strong answer (with English)</a:t>
            </a:r>
            <a:endParaRPr lang="en-US" sz="1100" dirty="0"/>
          </a:p>
        </p:txBody>
      </p:sp>
      <p:sp>
        <p:nvSpPr>
          <p:cNvPr id="17" name="Text 14"/>
          <p:cNvSpPr txBox="1"/>
          <p:nvPr/>
        </p:nvSpPr>
        <p:spPr>
          <a:xfrm>
            <a:off x="1033272" y="1810512"/>
            <a:ext cx="3602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 A reads</a:t>
            </a:r>
            <a:endParaRPr lang="en-US" sz="1100" dirty="0"/>
          </a:p>
        </p:txBody>
      </p:sp>
      <p:sp>
        <p:nvSpPr>
          <p:cNvPr id="18" name="Text 15"/>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4800600" y="2286000"/>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اسْمِي دَاوُدُ، وَعُمْرِي أَرْبَعَ عَشْرَةَ سَنَةً.</a:t>
            </a:r>
            <a:endParaRPr lang="ar-SA" sz="1800" dirty="0"/>
          </a:p>
        </p:txBody>
      </p:sp>
      <p:sp>
        <p:nvSpPr>
          <p:cNvPr id="21" name="Text 18"/>
          <p:cNvSpPr txBox="1"/>
          <p:nvPr/>
        </p:nvSpPr>
        <p:spPr>
          <a:xfrm>
            <a:off x="4754880" y="2676997"/>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My name is Dawud, and I am fourteen.</a:t>
            </a:r>
            <a:endParaRPr lang="en-US" sz="950" dirty="0"/>
          </a:p>
        </p:txBody>
      </p:sp>
      <p:sp>
        <p:nvSpPr>
          <p:cNvPr id="22" name="Text 19"/>
          <p:cNvSpPr txBox="1"/>
          <p:nvPr/>
        </p:nvSpPr>
        <p:spPr>
          <a:xfrm>
            <a:off x="1051560" y="2267712"/>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أَهْلًا! مَا اسْمُكَ، وَكَمْ عُمْرُكَ؟</a:t>
            </a:r>
            <a:endParaRPr lang="ar-SA" sz="1600" dirty="0"/>
          </a:p>
        </p:txBody>
      </p:sp>
      <p:sp>
        <p:nvSpPr>
          <p:cNvPr id="23" name="Text 20"/>
          <p:cNvSpPr txBox="1"/>
          <p:nvPr/>
        </p:nvSpPr>
        <p:spPr>
          <a:xfrm>
            <a:off x="566928" y="2267712"/>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4" name="Shape 21"/>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5" name="Text 22"/>
          <p:cNvSpPr txBox="1"/>
          <p:nvPr/>
        </p:nvSpPr>
        <p:spPr>
          <a:xfrm>
            <a:off x="4800600" y="3023006"/>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أَنَا بِرِيطَانِيٌّ، لٰكِنَّ عَائِلَتِي مِنَ السُّودَانِ، وَأَسْكُنُ فِي كَارْدِيف.</a:t>
            </a:r>
            <a:endParaRPr lang="ar-SA" sz="1800" dirty="0"/>
          </a:p>
        </p:txBody>
      </p:sp>
      <p:sp>
        <p:nvSpPr>
          <p:cNvPr id="26" name="Text 23"/>
          <p:cNvSpPr txBox="1"/>
          <p:nvPr/>
        </p:nvSpPr>
        <p:spPr>
          <a:xfrm>
            <a:off x="4754880" y="3414004"/>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am British, but my family is from Sudan, and I live in Cardiff.</a:t>
            </a:r>
            <a:endParaRPr lang="en-US" sz="950" dirty="0"/>
          </a:p>
        </p:txBody>
      </p:sp>
      <p:sp>
        <p:nvSpPr>
          <p:cNvPr id="27" name="Text 24"/>
          <p:cNvSpPr txBox="1"/>
          <p:nvPr/>
        </p:nvSpPr>
        <p:spPr>
          <a:xfrm>
            <a:off x="1051560" y="3004718"/>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 جِنْسِيَّتُكَ، وَأَيْنَ تَسْكُنُ؟</a:t>
            </a:r>
            <a:endParaRPr lang="ar-SA" sz="1600" dirty="0"/>
          </a:p>
        </p:txBody>
      </p:sp>
      <p:sp>
        <p:nvSpPr>
          <p:cNvPr id="28" name="Text 25"/>
          <p:cNvSpPr txBox="1"/>
          <p:nvPr/>
        </p:nvSpPr>
        <p:spPr>
          <a:xfrm>
            <a:off x="566928" y="300471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29" name="Shape 26"/>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0" name="Text 27"/>
          <p:cNvSpPr txBox="1"/>
          <p:nvPr/>
        </p:nvSpPr>
        <p:spPr>
          <a:xfrm>
            <a:off x="4800600" y="3760013"/>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أَتَكَلَّمُ الإِنْجِلِيزِيَّةَ، وَالعَرَبِيَّةَ أَيْضًا.</a:t>
            </a:r>
            <a:endParaRPr lang="ar-SA" sz="1800" dirty="0"/>
          </a:p>
        </p:txBody>
      </p:sp>
      <p:sp>
        <p:nvSpPr>
          <p:cNvPr id="31" name="Text 28"/>
          <p:cNvSpPr txBox="1"/>
          <p:nvPr/>
        </p:nvSpPr>
        <p:spPr>
          <a:xfrm>
            <a:off x="4754880" y="4151010"/>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speak English, and Arabic too.</a:t>
            </a:r>
            <a:endParaRPr lang="en-US" sz="950" dirty="0"/>
          </a:p>
        </p:txBody>
      </p:sp>
      <p:sp>
        <p:nvSpPr>
          <p:cNvPr id="32" name="Text 29"/>
          <p:cNvSpPr txBox="1"/>
          <p:nvPr/>
        </p:nvSpPr>
        <p:spPr>
          <a:xfrm>
            <a:off x="1051560" y="3741725"/>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أَيَّ لُغَاتٍ تَتَكَلَّمُ؟</a:t>
            </a:r>
            <a:endParaRPr lang="ar-SA" sz="1600" dirty="0"/>
          </a:p>
        </p:txBody>
      </p:sp>
      <p:sp>
        <p:nvSpPr>
          <p:cNvPr id="33" name="Text 30"/>
          <p:cNvSpPr txBox="1"/>
          <p:nvPr/>
        </p:nvSpPr>
        <p:spPr>
          <a:xfrm>
            <a:off x="566928" y="3741725"/>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4" name="Shape 31"/>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5" name="Text 32"/>
          <p:cNvSpPr txBox="1"/>
          <p:nvPr/>
        </p:nvSpPr>
        <p:spPr>
          <a:xfrm>
            <a:off x="4800600" y="4497019"/>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صَدِيقِي اسْمُهُ بِلَالٌ، عُمْرُهُ ثَلَاثَ عَشْرَةَ سَنَةً، يَسْكُنُ فِي كَارْدِيف، وَهُوَ لَطِيفٌ جِدًّا.</a:t>
            </a:r>
            <a:endParaRPr lang="ar-SA" sz="1800" dirty="0"/>
          </a:p>
        </p:txBody>
      </p:sp>
      <p:sp>
        <p:nvSpPr>
          <p:cNvPr id="36" name="Text 33"/>
          <p:cNvSpPr txBox="1"/>
          <p:nvPr/>
        </p:nvSpPr>
        <p:spPr>
          <a:xfrm>
            <a:off x="4754880" y="4888017"/>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My friend is called Bilal; he is thirteen, he lives in Cardiff, and he is very kind.</a:t>
            </a:r>
            <a:endParaRPr lang="en-US" sz="950" dirty="0"/>
          </a:p>
        </p:txBody>
      </p:sp>
      <p:sp>
        <p:nvSpPr>
          <p:cNvPr id="37" name="Text 34"/>
          <p:cNvSpPr txBox="1"/>
          <p:nvPr/>
        </p:nvSpPr>
        <p:spPr>
          <a:xfrm>
            <a:off x="1051560" y="4478731"/>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حَدِّثْنِي عَنْ صَدِيقٍ أَوْ صَدِيقَةٍ.</a:t>
            </a:r>
            <a:endParaRPr lang="ar-SA" sz="1600" dirty="0"/>
          </a:p>
        </p:txBody>
      </p:sp>
      <p:sp>
        <p:nvSpPr>
          <p:cNvPr id="38" name="Text 35"/>
          <p:cNvSpPr txBox="1"/>
          <p:nvPr/>
        </p:nvSpPr>
        <p:spPr>
          <a:xfrm>
            <a:off x="566928" y="4478731"/>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4800600" y="5234026"/>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أُرِيدُ صَدِيقًا بِالمُرَاسَلَةِ لِأَنِّي أُحِبُّ اللُّغَةَ العَرَبِيَّةَ.</a:t>
            </a:r>
            <a:endParaRPr lang="ar-SA" sz="1800" dirty="0"/>
          </a:p>
        </p:txBody>
      </p:sp>
      <p:sp>
        <p:nvSpPr>
          <p:cNvPr id="41" name="Text 38"/>
          <p:cNvSpPr txBox="1"/>
          <p:nvPr/>
        </p:nvSpPr>
        <p:spPr>
          <a:xfrm>
            <a:off x="4754880" y="5625023"/>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want a pen-friend because I love the Arabic language.</a:t>
            </a:r>
            <a:endParaRPr lang="en-US" sz="950" dirty="0"/>
          </a:p>
        </p:txBody>
      </p:sp>
      <p:sp>
        <p:nvSpPr>
          <p:cNvPr id="42" name="Text 39"/>
          <p:cNvSpPr txBox="1"/>
          <p:nvPr/>
        </p:nvSpPr>
        <p:spPr>
          <a:xfrm>
            <a:off x="1051560" y="5215738"/>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لِمَاذَا تُرِيدُ صَدِيقًا بِالمُرَاسَلَةِ؟</a:t>
            </a:r>
            <a:endParaRPr lang="ar-SA" sz="1600" dirty="0"/>
          </a:p>
        </p:txBody>
      </p:sp>
      <p:sp>
        <p:nvSpPr>
          <p:cNvPr id="43" name="Text 40"/>
          <p:cNvSpPr txBox="1"/>
          <p:nvPr/>
        </p:nvSpPr>
        <p:spPr>
          <a:xfrm>
            <a:off x="566928" y="521573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44" name="Text 41"/>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Did you answer every task in a full sentence? Find one phrase from each lesson in the models and say it aloud.</a:t>
            </a:r>
            <a:endParaRPr lang="en-US" sz="115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24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F2-W06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CHECK YOURSELF · WRITE YOUR TEXT · A STRONG ANSWER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Writing: compare with a strong answer</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قَارِنْ إِجَابَتَكَ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F2-W06 · Apply workshop (F2-L11 + F2-L12)</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السَّلَامُ عَلَيْكُمْ! اسْمِي هِنْدٌ، وَعُمْرِي ثَلَاثَ عَشْرَةَ سَنَةً. أَنَا بِرِيطَانِيَّةٌ، لٰكِنَّ عَائِلَتِي مِنْ لِيبِيَا، وَأَسْكُنُ فِي مَانْشِسْتَرَ. أَتَكَلَّمُ الإِنْجِلِيزِيَّةَ، وَالعَرَبِيَّةَ أَيْضًا. صَدِيقَتِي اسْمُهَا آمِنَةُ، وَعُمْرُهَا أَرْبَعَ عَشْرَةَ سَنَةً، وَهِيَ لَطِيفَةٌ جِدًّا. أُرِيدُ صَدِيقَةً بِالمُرَاسَلَةِ لِأَنِّي أُحِبُّ اللُّغَةَ العَرَبِيَّةَ، وَأُرِيدُ أَنْ أَتَكَلَّمَ كَثِيرًا. شُكْرًا، وَمَعَ السَّلَامَةِ!</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“Peace be upon you! My name is Hind, and I am thirteen. I am British, but my family is from Libya, and I live in Manchester. I speak English, and Arabic too. My friend is called Amina; she is fourteen, and she is very kind. I want a (girl) pen-friend because I love the Arabic language, and I want to speak a lot. Thank you, and goodbye!”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لٰكِنَّ عَائِلَتِي مِنْ لِيبِيَا</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وَالعَرَبِيَّةَ أَيْضًا</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اسْمُهَا آمِنَةُ</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لِأَنِّي أُحِبُّ</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24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F2-W06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F2-W06 · Apply workshop (F2-L11 + F2-L12)</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answered questions from F2-L11 and F2-L12 in full sentences.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wrote a sentence for every bullet point.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language from BOTH lessons when I spoke and when I wrote.</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buddy checked my text and I fixed one mistake.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added reasons (‏</a:t>
            </a:r>
            <a:pPr algn="l" indent="0" marL="0">
              <a:buNone/>
            </a:pPr>
            <a:r>
              <a:rPr lang="ar-SA" altLang="en-US" sz="1700" dirty="0">
                <a:solidFill>
                  <a:srgbClr val="1F2A37"/>
                </a:solidFill>
                <a:latin typeface="Amiri" pitchFamily="2" charset="-78"/>
                <a:ea typeface="Amiri" pitchFamily="2" charset="-78"/>
                <a:cs typeface="Amiri" pitchFamily="2" charset="-78"/>
              </a:rPr>
              <a:t>لِأَنَّ</a:t>
            </a:r>
            <a:pPr algn="l" indent="0" marL="0">
              <a:buNone/>
            </a:pPr>
            <a:r>
              <a:rPr lang="en-US" sz="1300" dirty="0">
                <a:solidFill>
                  <a:srgbClr val="1F2A37"/>
                </a:solidFill>
                <a:latin typeface="Calibri" pitchFamily="34" charset="0"/>
                <a:cs typeface="Amiri" pitchFamily="2" charset="-78"/>
              </a:rPr>
              <a:t>‏) and extra details without frames.</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24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F2-W06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you used two lessons together!</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150" b="1" dirty="0">
                <a:solidFill>
                  <a:srgbClr val="FFFFFF"/>
                </a:solidFill>
                <a:latin typeface="Cambria" pitchFamily="34" charset="0"/>
                <a:cs typeface="Amiri" pitchFamily="2" charset="-78"/>
              </a:rPr>
              <a:t>F2 complete · Well done — the unit is complete</a:t>
            </a:r>
            <a:endParaRPr lang="en-US" sz="21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أَحْسَنْتُمْ</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keep using this unit’s language — say it, then write it.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F2-W06 · Apply Workshop — Pen-Friend Application</dc:title>
  <dc:subject>PptxGenJS Presentation</dc:subject>
  <dc:creator>Al Madina Online School · Arabic Department</dc:creator>
  <cp:lastModifiedBy>Al Madina Online School · Arabic Department</cp:lastModifiedBy>
  <cp:revision>1</cp:revision>
  <dcterms:created xsi:type="dcterms:W3CDTF">2026-10-26T15:47:26Z</dcterms:created>
  <dcterms:modified xsi:type="dcterms:W3CDTF">2026-10-26T15:47:26Z</dcterms:modified>
</cp:coreProperties>
</file>