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F2-L11 · Learn F2-L12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F2-L11 (Writing a Short Personal Introduction) and F2-L12 (Show What You Can Say: F2 Review &amp; Assessment).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F2-L11 and F2-L12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F2-L11? After F2-L12?” Take two answers in the chat for each lesson (one word or one sentence is enough). Then read objective 3 — today’s new situation that needs BOTH lessons. Students tick their route goals at the end of the lesson.
F2-L11 language: form answers (one word or phrase); connected sentences with wa · ayḍan · thumma · li-anna; checking agreement and endings
F2-L12 language: all of F2: greetings + replies; -ka / -ki questions; ismī · ʿumrī · anā min · askunu fī · atakallamu; nisba agreement; hādhā / hādhihi; he / she forms; linking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F2-L11 and F2-L12. Teacher reads it once with a confident student; then pairs. Ask: “Which lines are from F2-L11? Which from F2-L12?” Greetings, names and ages revise the whole of F2 (F2-L12); the reason with لِأَنِّي / لِأَنَّ is the F2-L11 writing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form facts and linking words (F2-L11) with greetings, questions and he / she forms from the whole unit (F2-L12). SUPPORTED: the plan column gives the first words, not the full answer. To a girl Partner A says: مَا اسْمُكِ؟ · أَيْنَ تَسْكُنِينَ؟ · أَيَّ لُغَاتٍ تَتَكَلَّمِينَ؟ · لِمَاذَا تُرِيدِينَ …؟ — she answers أَنَا بِرِيطَانِيَّةٌ.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F2-L11 and F2-L12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F2-L11 and F2-L12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F2-L11 and one from F2-L12.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F2-L11 + F2-L12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Apply Workshop — Pen-Friend Application</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طَلَبُ صَدِيقٍ بِالمُرَاسَلَةِ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the whole of F2 for one real purpose: they fill in a pen-friend application form, answer a club coordinator’s questions, give a full introduction with a friend, and write a connected introduction with linking words and a reason.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F2-L11 + F2-L12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F2-L11 and F2-L12.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F2-L11 + F2-L12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F2-L11: Writing a Short Personal Introduction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F2-L12: Show What You Can Say: F2 Review &amp; Assessment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pen-friend coordinator · My pen-friend application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F2-L11 and F2-L12.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F2-L11 · Writing a Short Personal Introduction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al-ism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الاِسْمُ الأَوَّلُ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family</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 العَائِلَةِ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surname</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اللَّقَبُ</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الجِنْسِيَّةُ</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al-jin-siy-ya</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الجِنْسِيَّةُ: مِصْرِيَّةٌ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اللُّغَاتُ</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languages</a:t>
            </a:r>
            <a:endParaRPr lang="en-US" sz="1350" dirty="0"/>
          </a:p>
          <a:p>
            <a:pPr indent="0" marL="0">
              <a:buNone/>
            </a:pPr>
            <a:r>
              <a:rPr lang="en-US" sz="1100" i="1" dirty="0">
                <a:solidFill>
                  <a:srgbClr val="5A6472"/>
                </a:solidFill>
                <a:latin typeface="Calibri" pitchFamily="34" charset="0"/>
                <a:cs typeface="Amiri" pitchFamily="2" charset="-78"/>
              </a:rPr>
              <a:t>al-lu-ghāt</a:t>
            </a:r>
            <a:endParaRPr lang="en-US" sz="1350" dirty="0"/>
          </a:p>
        </p:txBody>
      </p:sp>
      <p:sp>
        <p:nvSpPr>
          <p:cNvPr id="52" name="Shape 4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4" name="Text 5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اللُّغَةُ</a:t>
            </a:r>
            <a:endParaRPr lang="ar-SA" sz="1500" dirty="0"/>
          </a:p>
        </p:txBody>
      </p:sp>
      <p:sp>
        <p:nvSpPr>
          <p:cNvPr id="55" name="Shape 5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اللُّغَاتُ</a:t>
            </a:r>
            <a:endParaRPr lang="ar-SA" sz="1500" dirty="0"/>
          </a:p>
        </p:txBody>
      </p:sp>
      <p:sp>
        <p:nvSpPr>
          <p:cNvPr id="58" name="Shape 5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60" name="Text 57"/>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اللُّغَةُ الأُولَى</a:t>
            </a:r>
            <a:endParaRPr lang="ar-SA" sz="135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67" name="Text 6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0" name="Text 7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لٰكِنَّ</a:t>
            </a:r>
            <a:endParaRPr lang="ar-SA" sz="3000" dirty="0"/>
          </a:p>
        </p:txBody>
      </p:sp>
      <p:sp>
        <p:nvSpPr>
          <p:cNvPr id="81" name="Text 7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lā-kin-na</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F2-L12 · Show What You Can Say: F2 Review &amp; Assessment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السَّلَامُ عَلَيْكُمْ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be upon you</a:t>
            </a:r>
            <a:endParaRPr lang="en-US" sz="1350" dirty="0"/>
          </a:p>
          <a:p>
            <a:pPr indent="0" marL="0">
              <a:buNone/>
            </a:pPr>
            <a:r>
              <a:rPr lang="en-US" sz="1100" i="1" dirty="0">
                <a:solidFill>
                  <a:srgbClr val="5A6472"/>
                </a:solidFill>
                <a:latin typeface="Calibri" pitchFamily="34" charset="0"/>
                <a:cs typeface="Amiri" pitchFamily="2" charset="-78"/>
              </a:rPr>
              <a:t>as-sa-lā-mu ʿa-lay-kum</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اسْمُكَ؟ · مَا اسْمُكِ؟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(boy · girl)</a:t>
            </a:r>
            <a:endParaRPr lang="en-US" sz="1350" dirty="0"/>
          </a:p>
          <a:p>
            <a:pPr indent="0" marL="0">
              <a:buNone/>
            </a:pPr>
            <a:r>
              <a:rPr lang="en-US" sz="1100" i="1" dirty="0">
                <a:solidFill>
                  <a:srgbClr val="5A6472"/>
                </a:solidFill>
                <a:latin typeface="Calibri" pitchFamily="34" charset="0"/>
                <a:cs typeface="Amiri" pitchFamily="2" charset="-78"/>
              </a:rPr>
              <a:t>mā as-mu-ka? · mā as-mu-ki?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أَيْنَ أَنْتَ؟</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are you from?</a:t>
            </a:r>
            <a:endParaRPr lang="en-US" sz="1350" dirty="0"/>
          </a:p>
          <a:p>
            <a:pPr indent="0" marL="0">
              <a:buNone/>
            </a:pPr>
            <a:r>
              <a:rPr lang="en-US" sz="1100" i="1" dirty="0">
                <a:solidFill>
                  <a:srgbClr val="5A6472"/>
                </a:solidFill>
                <a:latin typeface="Calibri" pitchFamily="34" charset="0"/>
                <a:cs typeface="Amiri" pitchFamily="2" charset="-78"/>
              </a:rPr>
              <a:t>min ay-na an-ta?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اسْمُهُ · اسْمُهَا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name · her name</a:t>
            </a:r>
            <a:endParaRPr lang="en-US" sz="1350" dirty="0"/>
          </a:p>
          <a:p>
            <a:pPr indent="0" marL="0">
              <a:buNone/>
            </a:pPr>
            <a:r>
              <a:rPr lang="en-US" sz="1100" i="1" dirty="0">
                <a:solidFill>
                  <a:srgbClr val="5A6472"/>
                </a:solidFill>
                <a:latin typeface="Calibri" pitchFamily="34" charset="0"/>
                <a:cs typeface="Amiri" pitchFamily="2" charset="-78"/>
              </a:rPr>
              <a:t>as-mu-hu · as-mu-hā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 …</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 …</a:t>
            </a:r>
            <a:endParaRPr lang="en-US" sz="1350" dirty="0"/>
          </a:p>
          <a:p>
            <a:pPr indent="0" marL="0">
              <a:buNone/>
            </a:pPr>
            <a:r>
              <a:rPr lang="en-US" sz="1100" i="1" dirty="0">
                <a:solidFill>
                  <a:srgbClr val="5A6472"/>
                </a:solidFill>
                <a:latin typeface="Calibri" pitchFamily="34" charset="0"/>
                <a:cs typeface="Amiri" pitchFamily="2" charset="-78"/>
              </a:rPr>
              <a:t>as-ku-nu fī …</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بِرِيطَانِيٌّ · بِرِيطَانِيَّةٌ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British (m. · f.)</a:t>
            </a:r>
            <a:endParaRPr lang="en-US" sz="1350" dirty="0"/>
          </a:p>
          <a:p>
            <a:pPr indent="0" marL="0">
              <a:buNone/>
            </a:pPr>
            <a:r>
              <a:rPr lang="en-US" sz="1100" i="1" dirty="0">
                <a:solidFill>
                  <a:srgbClr val="5A6472"/>
                </a:solidFill>
                <a:latin typeface="Calibri" pitchFamily="34" charset="0"/>
                <a:cs typeface="Amiri" pitchFamily="2" charset="-78"/>
              </a:rPr>
              <a:t>bi-rī-ṭā-niy-yun · bi-rī-ṭā-niy-ya-tun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or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لِيبِيَا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أَيْنَ أَنْتَ؟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أَيْضًا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هِنْدٌ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لُغَاتٍ تَتَكَلَّمُ؟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Questions — you ASK</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Answers — you TELL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Questions — you ASK</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أَيْنَ أَنْتَ؟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لُغَاتٍ تَتَكَلَّمُ؟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Answers — you TELL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لِيبِيَا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أَيْضًا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هِنْدٌ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pen-friend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نَادِي المُرَاسَلَةِ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How are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السَّلَامُ عَلَيْكُمْ! كَيْفَ حَالُكَ؟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upon you be peace! Fine, praise be to God.</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وَعَلَيْكُمُ السَّلَامُ! بِخَيْرٍ، الحَمْدُ لِلّٰهِ.</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اسْمُكَ، وَكَمْ عُمْرُكَ؟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Hamza, and I am thirteen.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اسْمِي حَمْزَةُ، وَعُمْرِي ثَلَاثَ عَشْرَةَ سَنَةً.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learn Arabic?</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 تَتَعَلَّمُ العَرَبِيَّةَ؟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learn Arabic because I love the Qur’an, and because my grandfather is from Jordan.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أَتَعَلَّمُ العَرَبِيَّةَ لِأَنِّي أُحِبُّ القُرْآنَ، وَلِأَنَّ جَدِّي مِنَ الأُرْدُنِّ.</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 عَائِلَتِي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 say it in a sentence.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 قُلْهُ فِي جُمْلَةٍ.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وَأَنْتَ؟ / وَأَنْتِ؟</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بِخَيْرٍ، الحَمْدُ لِلّٰهِ.</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are you? (boy / girl)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حَالُكَ؟ / كَيْفَ حَالُكِ؟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 أَخِي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عُمْرِي … سَنَةً</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 in a sentence.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 ← قُلْهُ فِي جُمْلَةٍ.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عَائِلَتِي مِنْ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 وَأَسْكُنُ فِي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and residence?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 وَمَكَانُ السَّكَنِ؟</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لٰكِنِّي أَسْكُنُ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 ، وَأَنَا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from? Nationality?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وَمَا جِنْسِيَّتُكَ؟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F2-L11, even numbers from F2-L12.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the pen-friend coordinator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مُنَسِّقُ النَّادِي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كَمْ ← اسْمِي … ، وَعُمْرِي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name and age in one sentence.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 اسْمُكَ، وَكَمْ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أَيْنَ ← أَنَا … ، وَأَسْكُنُ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nationality and city.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 وَأَيْنَ تَسْكُنُ؟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أَتَكَلَّمُ … ، وَ… أَيْضًا</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your languages with </a:t>
            </a:r>
            <a:pPr algn="l" indent="0" marL="0">
              <a:buNone/>
            </a:pPr>
            <a:r>
              <a:rPr lang="ar-SA" altLang="en-US" sz="1450" dirty="0">
                <a:solidFill>
                  <a:srgbClr val="5A6472"/>
                </a:solidFill>
                <a:latin typeface="Amiri" pitchFamily="2" charset="-78"/>
                <a:ea typeface="Amiri" pitchFamily="2" charset="-78"/>
                <a:cs typeface="Amiri" pitchFamily="2" charset="-78"/>
              </a:rPr>
              <a:t>أَيْضًا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لُغَاتٍ تَتَكَلَّمُ؟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حَدِّثْنِي ← صَدِيقِي اسْمُهُ … ، عُمْرُهُ … ، هُوَ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friend: name, age, city, one adjective.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حَدِّثْنِي عَنْ صَدِيقٍ أَوْ صَدِيقَةٍ.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أُرِيدُ … لِأَنِّي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صَدِيقًا بِالمُرَاسَلَةِ؟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member · Partner A = the coordinator.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full introduction — and a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تَعْرِيفٌ 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greet, give your name, age, nationality, city and languages, say why you learn Arabic, then add a friend (name, age, city). Use at least three linking words.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السَّلَامُ عَلَيْكُمْ · اسْمِي … · عُمْرِي … · أَنَا … · أَسْكُنُ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friend and link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أَيْضًا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reason (</a:t>
            </a:r>
            <a:pPr algn="l" indent="0" marL="0">
              <a:buNone/>
            </a:pPr>
            <a:r>
              <a:rPr lang="ar-SA" altLang="en-US" sz="1500" dirty="0">
                <a:solidFill>
                  <a:srgbClr val="1F2A37"/>
                </a:solidFill>
                <a:latin typeface="Amiri" pitchFamily="2" charset="-78"/>
                <a:ea typeface="Amiri" pitchFamily="2" charset="-78"/>
                <a:cs typeface="Amiri" pitchFamily="2" charset="-78"/>
              </a:rPr>
              <a:t>لِأَنِّي</a:t>
            </a:r>
            <a:pPr algn="l" indent="0" marL="0">
              <a:buNone/>
            </a:pPr>
            <a:r>
              <a:rPr lang="en-US" sz="1150" dirty="0">
                <a:solidFill>
                  <a:srgbClr val="1F2A37"/>
                </a:solidFill>
                <a:latin typeface="Calibri" pitchFamily="34" charset="0"/>
                <a:cs typeface="Amiri" pitchFamily="2" charset="-78"/>
              </a:rPr>
              <a:t> …) and a contrast (</a:t>
            </a:r>
            <a:pPr algn="l" indent="0" marL="0">
              <a:buNone/>
            </a:pPr>
            <a:r>
              <a:rPr lang="ar-SA" altLang="en-US" sz="1500" dirty="0">
                <a:solidFill>
                  <a:srgbClr val="1F2A37"/>
                </a:solidFill>
                <a:latin typeface="Amiri" pitchFamily="2" charset="-78"/>
                <a:ea typeface="Amiri" pitchFamily="2" charset="-78"/>
                <a:cs typeface="Amiri" pitchFamily="2" charset="-78"/>
              </a:rPr>
              <a:t>لٰكِنَّ عَائِلَتِي مِنْ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 وَعُمْرِي … سَنَةً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name is … and I am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 لٰكِنَّ عَائِلَتِي مِنْ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but my family is from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أَتَعَلَّمُ العَرَبِيَّةَ لِأَنِّي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learn Arabic because I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صَدِيقِي اسْمُهُ … ، وَهُوَ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friend is called … and he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British, but my family is from Iraq.</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مِنَ العِرَاقِ.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فِي العِرَاقِ مِنْ.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friend (f.) is Algerian and she speaks French.</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صَدِيقَتِي جَزَائِرِيَّةٌ،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صَدِيقِي جَزَائِرِيَّةٌ،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وَتَتَكَلَّمُ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وَيَتَكَلَّمُ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الفَرَنْسِيَّةَ.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فَرَنْسَا.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learn Arabic because I love it.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أَتَعَلَّمُ العَرَبِيَّةَ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يَتَعَلَّمُ العَرَبِيَّةَ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British, but my family is from Iraq.</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Nationality = </a:t>
            </a:r>
            <a:pPr algn="l" indent="0" marL="0">
              <a:buNone/>
            </a:pPr>
            <a:r>
              <a:rPr lang="ar-SA" altLang="en-US" sz="1350" dirty="0">
                <a:solidFill>
                  <a:srgbClr val="5A6472"/>
                </a:solidFill>
                <a:latin typeface="Amiri" pitchFamily="2" charset="-78"/>
                <a:ea typeface="Amiri" pitchFamily="2" charset="-78"/>
                <a:cs typeface="Amiri" pitchFamily="2" charset="-78"/>
              </a:rPr>
              <a:t>بِرِيطَانِيٌّ</a:t>
            </a:r>
            <a:pPr algn="l" indent="0" marL="0">
              <a:buNone/>
            </a:pPr>
            <a:r>
              <a:rPr lang="en-US" sz="1050" i="1" dirty="0">
                <a:solidFill>
                  <a:srgbClr val="5A6472"/>
                </a:solidFill>
                <a:latin typeface="Calibri" pitchFamily="34" charset="0"/>
                <a:cs typeface="Amiri" pitchFamily="2" charset="-78"/>
              </a:rPr>
              <a:t>; but = </a:t>
            </a:r>
            <a:pPr algn="l" indent="0" marL="0">
              <a:buNone/>
            </a:pPr>
            <a:r>
              <a:rPr lang="ar-SA" altLang="en-US" sz="1350" dirty="0">
                <a:solidFill>
                  <a:srgbClr val="5A6472"/>
                </a:solidFill>
                <a:latin typeface="Amiri" pitchFamily="2" charset="-78"/>
                <a:ea typeface="Amiri" pitchFamily="2" charset="-78"/>
                <a:cs typeface="Amiri" pitchFamily="2" charset="-78"/>
              </a:rPr>
              <a:t>لٰكِنَّ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بِرِيطَانِيٌّ، لٰكِنَّ عَائِلَتِي مِنَ العِرَاقِ.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friend (f.) is Algerian and she speaks French.</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صَدِيقَتِي … جَزَائِرِيَّةٌ … تَتَكَلَّمُ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صَدِيقَتِي جَزَائِرِيَّةٌ، وَتَتَكَلَّمُ الفَرَنْسِيَّةَ.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learn Arabic because I love it.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 </a:t>
            </a:r>
            <a:pPr algn="l" indent="0" marL="0">
              <a:buNone/>
            </a:pPr>
            <a:r>
              <a:rPr lang="ar-SA" altLang="en-US" sz="1350" dirty="0">
                <a:solidFill>
                  <a:srgbClr val="5A6472"/>
                </a:solidFill>
                <a:latin typeface="Amiri" pitchFamily="2" charset="-78"/>
                <a:ea typeface="Amiri" pitchFamily="2" charset="-78"/>
                <a:cs typeface="Amiri" pitchFamily="2" charset="-78"/>
              </a:rPr>
              <a:t>لِأَنِّي</a:t>
            </a:r>
            <a:pPr algn="l" indent="0" marL="0">
              <a:buNone/>
            </a:pPr>
            <a:r>
              <a:rPr lang="en-US" sz="1050" i="1" dirty="0">
                <a:solidFill>
                  <a:srgbClr val="5A6472"/>
                </a:solidFill>
                <a:latin typeface="Calibri" pitchFamily="34" charset="0"/>
                <a:cs typeface="Amiri" pitchFamily="2" charset="-78"/>
              </a:rPr>
              <a:t>; Arabic is feminine → </a:t>
            </a:r>
            <a:pPr algn="l" indent="0" marL="0">
              <a:buNone/>
            </a:pPr>
            <a:r>
              <a:rPr lang="ar-SA" altLang="en-US" sz="1350" dirty="0">
                <a:solidFill>
                  <a:srgbClr val="5A6472"/>
                </a:solidFill>
                <a:latin typeface="Amiri" pitchFamily="2" charset="-78"/>
                <a:ea typeface="Amiri" pitchFamily="2" charset="-78"/>
                <a:cs typeface="Amiri" pitchFamily="2" charset="-78"/>
              </a:rPr>
              <a:t>أُحِبُّهَا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أَتَعَلَّمُ العَرَبِيَّةَ لِأَنِّي أُحِبُّهَا.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form box needs a SHORT answer.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مَسَاءُ الخَيْرِ! — صَبَاحُ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Match the time of day.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أَتَعَلَّمُ العَرَبِيَّةَ لِأَنَّ أُحِبُّهَا.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لِأَنَّ</a:t>
            </a:r>
            <a:pPr algn="l" indent="0" marL="0">
              <a:buNone/>
            </a:pPr>
            <a:r>
              <a:rPr lang="en-US" sz="1300" i="1" dirty="0">
                <a:solidFill>
                  <a:srgbClr val="5A6472"/>
                </a:solidFill>
                <a:latin typeface="Calibri" pitchFamily="34" charset="0"/>
                <a:cs typeface="Amiri" pitchFamily="2" charset="-78"/>
              </a:rPr>
              <a:t> + “I”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العُمْرُ: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Forms: short answers only; full sentences belong in the text.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مَسَاءُ الخَيْرِ! — صَبَاحُ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مَسَاءُ الخَيْرِ! — مَسَاءُ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Evening → evening reply: </a:t>
            </a:r>
            <a:pPr algn="l" indent="0" marL="0">
              <a:buNone/>
            </a:pPr>
            <a:r>
              <a:rPr lang="ar-SA" altLang="en-US" sz="1500" b="1" dirty="0">
                <a:solidFill>
                  <a:srgbClr val="1B3B6F"/>
                </a:solidFill>
                <a:latin typeface="Amiri" pitchFamily="2" charset="-78"/>
                <a:ea typeface="Amiri" pitchFamily="2" charset="-78"/>
                <a:cs typeface="Amiri" pitchFamily="2" charset="-78"/>
              </a:rPr>
              <a:t>مَسَاءُ النُّورِ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أَتَعَلَّمُ العَرَبِيَّةَ لِأَنَّ أُحِبُّهَا.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أَتَعَلَّمُ العَرَبِيَّةَ لِأَنِّي أُحِبُّهَا.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I → </a:t>
            </a:r>
            <a:pPr algn="l" indent="0" marL="0">
              <a:buNone/>
            </a:pPr>
            <a:r>
              <a:rPr lang="ar-SA" altLang="en-US" sz="1500" b="1" dirty="0">
                <a:solidFill>
                  <a:srgbClr val="1B3B6F"/>
                </a:solidFill>
                <a:latin typeface="Amiri" pitchFamily="2" charset="-78"/>
                <a:ea typeface="Amiri" pitchFamily="2" charset="-78"/>
                <a:cs typeface="Amiri" pitchFamily="2" charset="-78"/>
              </a:rPr>
              <a:t>لِأَنِّي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 لٰكِنَّ عَائِلَتِي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my family is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a pen-friend because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 وَهِيَ ______ جِدًّا.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 she is very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السَّلَامُ عَلَيْكُمْ! اسْمِي ______ ، وَعُمْرِي ______ سَنَةً.</a:t>
            </a:r>
            <a:endParaRPr lang="ar-SA" sz="145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My name is … and I am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وَأَسْكُنُ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(nationality) and I live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 وَ ______ أَيْضًا.</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 صَدِيقَتِي اسْمُهُ / اسْمُهَا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is called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وَمَعَ السَّلَامَةِ!</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and goodbye!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  ·  أَيْضًا  ·  ثُمَّ  ·  لِأَنَّ · لِأَنِّي  ·  لٰكِنَّ  ·  جِدًّا  ·  اسْمُهُ · اسْمُهَا  ·  يَسْكُنُ · تَسْكُنُ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FORM + ABOUT 50–70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pen-friend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العُضْوِيَّةِ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Part 1: fill in the five form boxes with short answers — name · age · nationality · place of residence · languages. Part 2: write your introduction (about 50–70 words): • a greeting • name, age, nationality, city • languages • a friend: name, age, city, one adjective • why you want a pen-friend (give a reason) • a polite closing. Use at least four linking words.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F2-L11 AND F2-L12.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الاسْمُ: … · العُمْرُ: … · الجِنْسِيَّةُ: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name: … · age: … · nationality: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 ، لٰكِنَّ عَائِلَتِي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 but my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اسْمُهُ … ، وَعُمْرُهُ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 is called … and he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a pen-friend because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form boxes briefly and write the text in full sentences?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endings for I, he and she (</a:t>
            </a:r>
            <a:pPr algn="l" indent="0" marL="0">
              <a:buNone/>
            </a:pPr>
            <a:r>
              <a:rPr lang="ar-SA" altLang="en-US" sz="1450" dirty="0">
                <a:solidFill>
                  <a:srgbClr val="5A6472"/>
                </a:solidFill>
                <a:latin typeface="Amiri" pitchFamily="2" charset="-78"/>
                <a:ea typeface="Amiri" pitchFamily="2" charset="-78"/>
                <a:cs typeface="Amiri" pitchFamily="2" charset="-78"/>
              </a:rPr>
              <a:t>اسْمِي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اسْمُهُ</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اسْمُهَا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دَاوُدُ، وَعُمْرِي أَرْبَعَ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Dawud, and I am fourteen.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 اسْمُكَ، وَكَمْ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 لٰكِنَّ عَائِلَتِي مِنَ السُّودَانِ، وَأَسْكُنُ فِي كَارْدِيف.</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British, but my family is from Sudan, and I live in Cardiff.</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جِنْسِيَّتُكَ، وَأَيْنَ تَسْكُنُ؟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الإِنْجِلِيزِيَّةَ، وَالعَرَبِيَّةَ أَيْضًا.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English, and Arabic too.</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لُغَاتٍ تَتَكَلَّمُ؟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اسْمُهُ بِلَالٌ، عُمْرُهُ ثَلَاثَ عَشْرَةَ سَنَةً، يَسْكُنُ فِي كَارْدِيف، وَهُوَ لَطِيفٌ جِدًّا.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friend is called Bilal; he is thirteen, he lives in Cardiff, and he is very kind.</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حَدِّثْنِي عَنْ صَدِيقٍ أَوْ صَدِيقَةٍ.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أُحِبُّ اللُّغَةَ العَرَبِيَّةَ.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a pen-friend because I love the Arabic language.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تُرِيدُ صَدِيقًا بِالمُرَاسَلَةِ؟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هِنْدٌ، وَعُمْرِي ثَلَاثَ عَشْرَةَ سَنَةً. أَنَا بِرِيطَانِيَّةٌ، لٰكِنَّ عَائِلَتِي مِنْ لِيبِيَا، وَأَسْكُنُ فِي مَانْشِسْتَرَ. أَتَكَلَّمُ الإِنْجِلِيزِيَّةَ، وَالعَرَبِيَّةَ أَيْضًا. صَدِيقَتِي اسْمُهَا آمِنَةُ، وَعُمْرُهَا أَرْبَعَ عَشْرَةَ سَنَةً، وَهِيَ لَطِيفَةٌ جِدًّا. أُرِيدُ صَدِيقَةً بِالمُرَاسَلَةِ لِأَنِّي أُحِبُّ اللُّغَةَ العَرَبِيَّةَ، وَأُرِيدُ أَنْ أَتَكَلَّمَ كَثِيرًا. شُكْرًا، وَمَعَ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Hind, and I am thirteen. I am British, but my family is from Libya, and I live in Manchester. I speak English, and Arabic too. My friend is called Amina; she is fourteen, and she is very kind. I want a (girl) pen-friend because I love the Arabic language, and I want to speak a lot. Thank you, and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عَائِلَتِي مِنْ لِيبِيَا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وَالعَرَبِيَّةَ أَيْضًا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آمِنَةُ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أُحِبُّ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F2-L11 and F2-L12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F2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F2-W06 · Apply Workshop — Pen-Friend Application</dc:title>
  <dc:subject>PptxGenJS Presentation</dc:subject>
  <dc:creator>Al Madina Online School · Arabic Department</dc:creator>
  <cp:lastModifiedBy>Al Madina Online School · Arabic Department</cp:lastModifiedBy>
  <cp:revision>1</cp:revision>
  <dcterms:created xsi:type="dcterms:W3CDTF">2026-10-26T15:04:32Z</dcterms:created>
  <dcterms:modified xsi:type="dcterms:W3CDTF">2026-10-26T15:04:32Z</dcterms:modified>
</cp:coreProperties>
</file>