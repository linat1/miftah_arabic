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5 (F2-L05). Website sections used: the four-question readiness check, eight people-noun pairs, the ة clue and exceptions, recycled object nouns, task language, the agreement pattern (noun + adjective, هَذَا / هَذِهِ), ten adjective pairs, the agreement mini-check (10), Gender Detective (14 rounds), listening (4 descriptions, 8 questions), the class-profile reading (8 questions), the speaking prompt and checklist, the three-descriptions writing task and the twelve-question checkpoint. Picture match: website visual game “Gender of Nouns and Masculine/Feminine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grammar heart of F2 — the same “make it match” decision returns in family, home, school, colours and clothing (website “Why this matters”).
• Core: ONE rule — feminine noun → add ة to the adjective. Work with the four ة-pairs (طَالِبٌ، مُعَلِّمٌ، صَدِيقٌ، زَمِيلٌ) and three adjectives. Develop: all pairs + هَذَا / هَذِهِ. Stretch: exceptions (أُخْتٌ، بِنْتٌ، أُمٌّ; شَمْسٌ، عَيْنٌ) and two adjectives.
• Plural forms are shown for reference (m / f / pl on every noun) but are not practised today.
• Urdu bridge: طالب، معلم، جدید، قدیم، طویل — five of today’s words are used in Urdu.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“readiness check” (the -ki question, the feminine nationality, the ة clue).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keeps the noun and adjective together: masculine with masculine, feminine with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طالب علم (student), معلم (teacher), جدید (modern), قدیم (ancient), طویل (long) — Urdu borrowed these from Arabic but did NOT borrow the ة agreement, so Urdu speakers need to add it consciously.
Website task language to recognise today: مُذَكَّرٌ أَمْ مُؤَنَّثٌ؟ (masculine or feminine?) · طَابِقْ (match) · اِخْتَرِ الصَّوَابَ (choose the correct answer) · لَاحِظِ النِّهَايَةَ (notice the ending) · مُمْتَازٌ!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(website active vocabulary, all eight pairs). Read each pair aloud; ask: “Does the feminine add ة?” → YES for rows 1–5 (pink), NO for rows 6–8: a different word altogether.
Plural column = reference only (the user-friendly m / f / pl record for students’ vocabulary books); not practised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ة CLUE (website section 2). “Most nouns ending in ة are feminine. It is a powerful clue, but some feminine words do not carry it.”
Website: USE actively now أُمٌّ، بِنْتٌ، أُخْتٌ; RECOGNISE for now أَرْضٌ، شَمْسٌ، يَدٌ، عَيْنٌ (F1 dictation words يَدٌ، عَيْنٌ return!).
Recycled objects (website): مَدْرَسَةٌ f · كِتَابٌ m · قَلَمٌ m · حَقِيبَةٌ f · بَيْتٌ m · سَيَّارَةٌ f · مَدِينَةٌ f · أُسْتَاذَةٌ f — ask the class to sort them in the chat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ADJECTIVES 1–5 (website). Website note: keep قَدِيمٌ / قَدِيمَةٌ mainly for THINGS; use كَبِيرٌ / كَبِيرَةٌ for big or older people. Gesture each adjective (big arms, small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ADJECTIVES 6–10 (website). ذَكِيٌّ → ذَكِيَّةٌ follows the same shadda pattern as the nationality ending (F2-L04: مِصْرِيٌّ → 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Make two decisions: first choose the noun’s gender; then give the adjective the same gender. Website: Arabic does not normally place the adjective before the noun; هَذَا goes with a masculine singular noun and هَذِهِ with a feminine singular noun.
Row 3 is the trap: أُخْتٌ has no ة, but it is feminine → هَذِهِ … قَصِيرَةٌ.
Website “Make the pair match”: مُذَكَّرٌ مَعَ مُذَكَّرٍ · مُؤَنَّثٌ مَعَ مُؤَنَّثٍ.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“achievable model”, built with a think-aloud. After writing, students circle every ة in the second sentence (4 of them, including زَمِيلَتِي where ة becomes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“Gender Detective” (5 of 14 rounds: sun, eye, mother, a female classmate, sister — the exceptions and the full sentence). The other 9 rounds are homework. Website: “Inspect each word, decide its gender and then choose the matching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“What was the clue?” for each (ة / a naturally feminine person / learnt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هَذَا زَمِيلٌ جَدِيدٌ. اِسْمُهُ يُوسُفُ. هُوَ لَطِيفٌ وَطَوِيلٌ. / هَذِهِ زَمِيلَةٌ جَدِيدَةٌ. اِسْمُهَا زَيْنَبُ. هِيَ ذَكِيَّةٌ وَسَعِيدَةٌ. / هَذَا طِفْلٌ صَغِيرٌ، وَهَذِهِ طِفْلَةٌ صَغِيرَةٌ. / هَذَا أَخٌ طَوِيلٌ، وَهَذِهِ أُخْتٌ قَصِيرَةٌ.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6). Website: “Track every masculine and feminine clue rather than translating one word at a time.” Develop: underline every ة in line 2 (there are 5). Stretch: find the feminine noun WITHOUT ة (أُخْتٌ) and the word where ة became ت before an ending (مَدْرَسَتُهُمْ).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6, 7 and 8 (questions 1, 2 and 5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CHECKLIST (the listener ticks 1–5 in chat): 1 chose هَذَا / هَذِهِ · 2 an accurate person noun · 3 adjective second · 4 adjective matched · 5 added a name (اِسْمُهُ / اِسْمُهَا).
Website “random speaking prompt”: show a character card (يُوسُفُ · male student · new) → هَذَا طَالِبٌ جَدِيدٌ. اِسْمُهُ يُوسُفُ. Then hide the model.
Routes (website): Core — four different people nouns with one agreeing adjective each · Develop — add demonstratives, names and four different adjectives · Stretch — two adjectives each and one irregular feminine noun.
Praise with the website task word مُمْتَازٌ! (to a boy) / مُمْتَازَةٌ! (to a girl) — agreement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noun + adjective phrases with four different people nouns. · Develop — Three connected descriptions with at least five different adjectives. · Stretch — An irregular feminine noun, two adjectives in one sentence and one described object.
Website writing task (Stretch): Website writing task: write three accurate descriptions of people, using at least five different adjectives from the lesson bank. Stretch: an irregular feminine noun, two adjectives in one sentence and one described object.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Evidence for the last chip: بِنْتٌ (a girl) — feminine without 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(F2-L06 · Polite Classroom Arabic) will spend class time USING this language, so students prepare it tonight — short, simple, easy to access (school guidance: “Simple, Short, Interesting, Relevant, Easy to access”). The five phrases are from the website F2-L06 polite-phrase bank. Notice that three of them change for a boy or a girl — exactly today’s rule!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Masculine and Feminine: Make the Pair Match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تَذْكِيرُ الأَسْمَاءِ وَتَأْنِيثُهَا وَمُطَابَقَةُ الصِّفَةِ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Learn the eight people-noun pairs and ten adjective pairs, use </a:t>
            </a:r>
            <a:pPr algn="l" indent="0" marL="0">
              <a:buNone/>
            </a:pPr>
            <a:r>
              <a:rPr lang="ar-SA" altLang="en-US" sz="1800" dirty="0">
                <a:solidFill>
                  <a:srgbClr val="C6D2E6"/>
                </a:solidFill>
                <a:latin typeface="Amiri" pitchFamily="34" charset="0"/>
                <a:ea typeface="Amiri" pitchFamily="34" charset="-122"/>
                <a:cs typeface="Amiri" pitchFamily="34" charset="-120"/>
              </a:rPr>
              <a:t>ة</a:t>
            </a:r>
            <a:pPr algn="l" indent="0" marL="0">
              <a:buNone/>
            </a:pPr>
            <a:r>
              <a:rPr lang="en-US" sz="1400" dirty="0">
                <a:solidFill>
                  <a:srgbClr val="C6D2E6"/>
                </a:solidFill>
                <a:latin typeface="Calibri" pitchFamily="34" charset="0"/>
                <a:ea typeface="Calibri" pitchFamily="34" charset="-122"/>
                <a:cs typeface="Calibri" pitchFamily="34" charset="-120"/>
              </a:rPr>
              <a:t> as a strong feminine clue (and know the exceptions), and build descriptions where the noun, the adjective and </a:t>
            </a:r>
            <a:pPr algn="l" indent="0" marL="0">
              <a:buNone/>
            </a:pPr>
            <a:r>
              <a:rPr lang="ar-SA" altLang="en-US" sz="1800" dirty="0">
                <a:solidFill>
                  <a:srgbClr val="C6D2E6"/>
                </a:solidFill>
                <a:latin typeface="Amiri" pitchFamily="34" charset="0"/>
                <a:ea typeface="Amiri" pitchFamily="34" charset="-122"/>
                <a:cs typeface="Amiri" pitchFamily="34" charset="-120"/>
              </a:rPr>
              <a:t>هَذَا / هَذِهِ</a:t>
            </a:r>
            <a:pPr algn="l" indent="0" marL="0">
              <a:buNone/>
            </a:pPr>
            <a:r>
              <a:rPr lang="en-US" sz="1400" dirty="0">
                <a:solidFill>
                  <a:srgbClr val="C6D2E6"/>
                </a:solidFill>
                <a:latin typeface="Calibri" pitchFamily="34" charset="0"/>
                <a:ea typeface="Calibri" pitchFamily="34" charset="-122"/>
                <a:cs typeface="Calibri" pitchFamily="34" charset="-120"/>
              </a:rPr>
              <a:t> all agree.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F2-L05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People words, the </a:t>
            </a:r>
            <a:pPr algn="ctr" indent="0" marL="0">
              <a:buNone/>
            </a:pPr>
            <a:r>
              <a:rPr lang="ar-SA" altLang="en-US" sz="1550" dirty="0">
                <a:solidFill>
                  <a:srgbClr val="1F2A37"/>
                </a:solidFill>
                <a:latin typeface="Amiri" pitchFamily="34" charset="0"/>
                <a:ea typeface="Amiri" pitchFamily="34" charset="-122"/>
                <a:cs typeface="Amiri" pitchFamily="34" charset="-120"/>
              </a:rPr>
              <a:t>ة</a:t>
            </a:r>
            <a:pPr algn="ctr" indent="0" marL="0">
              <a:buNone/>
            </a:pPr>
            <a:r>
              <a:rPr lang="en-US" sz="1200" dirty="0">
                <a:solidFill>
                  <a:srgbClr val="1F2A37"/>
                </a:solidFill>
                <a:latin typeface="Calibri" pitchFamily="34" charset="0"/>
                <a:ea typeface="Calibri" pitchFamily="34" charset="-122"/>
                <a:cs typeface="Calibri" pitchFamily="34" charset="-120"/>
              </a:rPr>
              <a:t> clue, then adjectives that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Gender Detective,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form of </a:t>
            </a:r>
            <a:pPr algn="l" indent="0" marL="0">
              <a:buNone/>
            </a:pPr>
            <a:r>
              <a:rPr lang="ar-SA" altLang="en-US" sz="1650" b="1" dirty="0">
                <a:solidFill>
                  <a:srgbClr val="1B3B6F"/>
                </a:solidFill>
                <a:latin typeface="Amiri" pitchFamily="34" charset="0"/>
                <a:ea typeface="Amiri" pitchFamily="34" charset="-122"/>
                <a:cs typeface="Amiri" pitchFamily="34" charset="-120"/>
              </a:rPr>
              <a:t>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is a strong feminine clue on many nouns?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form of </a:t>
            </a:r>
            <a:pPr algn="l" indent="0" marL="0">
              <a:buNone/>
            </a:pPr>
            <a:r>
              <a:rPr lang="ar-SA" altLang="en-US" sz="1650" b="1" dirty="0">
                <a:solidFill>
                  <a:srgbClr val="1B3B6F"/>
                </a:solidFill>
                <a:latin typeface="Amiri" pitchFamily="34" charset="0"/>
                <a:ea typeface="Amiri" pitchFamily="34" charset="-122"/>
                <a:cs typeface="Amiri" pitchFamily="34" charset="-120"/>
              </a:rPr>
              <a:t>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طُلَّابٌ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اسْمُكِ؟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kasra in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 is the feminine nationality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is a strong feminine clue on many nouns?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Tāʾ marbūṭa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is a common feminine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keeps the noun and adjective together: masculine with masculine, feminine with feminine.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 جَدِيدٌ  ·  طَالِبَةٌ جَدِيدَةٌ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use all eight people-noun pairs.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use all ten adjective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as a strong feminine clue, and know the exceptions.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adjective after its noun and keep the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learn the people nouns and match one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add </a:t>
            </a:r>
            <a:pPr algn="l" indent="0" marL="0">
              <a:buNone/>
            </a:pPr>
            <a:r>
              <a:rPr lang="ar-SA" altLang="en-US" sz="1700" b="1" dirty="0">
                <a:solidFill>
                  <a:srgbClr val="2E8B57"/>
                </a:solidFill>
                <a:latin typeface="Amiri" pitchFamily="34" charset="0"/>
                <a:ea typeface="Amiri" pitchFamily="34" charset="-122"/>
                <a:cs typeface="Amiri" pitchFamily="34" charset="-120"/>
              </a:rPr>
              <a:t>ة</a:t>
            </a:r>
            <a:pPr algn="l" indent="0" marL="0">
              <a:buNone/>
            </a:pPr>
            <a:r>
              <a:rPr lang="en-US" sz="1300" b="1" dirty="0">
                <a:solidFill>
                  <a:srgbClr val="2E8B57"/>
                </a:solidFill>
                <a:latin typeface="Calibri" pitchFamily="34" charset="0"/>
                <a:ea typeface="Calibri" pitchFamily="34" charset="-122"/>
                <a:cs typeface="Calibri" pitchFamily="34" charset="-120"/>
              </a:rPr>
              <a:t> to the adjective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full descriptions without a model.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هَذَا</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هَذِهِ</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combine two adjectives.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feminine nouns without </a:t>
            </a:r>
            <a:pPr algn="l" indent="0" marL="0">
              <a:buNone/>
            </a:pPr>
            <a:r>
              <a:rPr lang="ar-SA" altLang="en-US" sz="1700" b="1" dirty="0">
                <a:solidFill>
                  <a:srgbClr val="B83227"/>
                </a:solidFill>
                <a:latin typeface="Amiri" pitchFamily="34" charset="0"/>
                <a:ea typeface="Amiri" pitchFamily="34" charset="-122"/>
                <a:cs typeface="Amiri" pitchFamily="34" charset="-120"/>
              </a:rPr>
              <a:t>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people pairs, 10 adjective pairs and the feminine exceptions — all website active vocabulary. Core: the </a:t>
            </a:r>
            <a:pPr algn="l" indent="0" marL="0">
              <a:buNone/>
            </a:pPr>
            <a:r>
              <a:rPr lang="ar-SA" altLang="en-US" sz="2100" dirty="0">
                <a:solidFill>
                  <a:srgbClr val="C6D2E6"/>
                </a:solidFill>
                <a:latin typeface="Amiri" pitchFamily="34" charset="0"/>
                <a:ea typeface="Amiri" pitchFamily="34" charset="-122"/>
                <a:cs typeface="Amiri" pitchFamily="34" charset="-120"/>
              </a:rPr>
              <a:t>ة</a:t>
            </a:r>
            <a:pPr algn="l" indent="0" marL="0">
              <a:buNone/>
            </a:pPr>
            <a:r>
              <a:rPr lang="en-US" sz="1600" dirty="0">
                <a:solidFill>
                  <a:srgbClr val="C6D2E6"/>
                </a:solidFill>
                <a:latin typeface="Calibri" pitchFamily="34" charset="0"/>
                <a:ea typeface="Calibri" pitchFamily="34" charset="-122"/>
                <a:cs typeface="Calibri" pitchFamily="34" charset="-120"/>
              </a:rPr>
              <a:t> rule and the first four people pairs.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 8 pairs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ة clue + exceptions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Adjectives · 10 pairs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‎طالب علم‎ </a:t>
            </a:r>
            <a:pPr indent="0" marL="0">
              <a:buNone/>
            </a:pPr>
            <a:r>
              <a:rPr lang="en-US" sz="950" b="1" dirty="0">
                <a:solidFill>
                  <a:srgbClr val="2E8B57"/>
                </a:solidFill>
                <a:latin typeface="Calibri" pitchFamily="34" charset="0"/>
                <a:ea typeface="Calibri" pitchFamily="34" charset="-122"/>
                <a:cs typeface="Calibri" pitchFamily="34" charset="-120"/>
              </a:rPr>
              <a:t> tālib-e-ilm · student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‎معلم‎ </a:t>
            </a:r>
            <a:pPr indent="0" marL="0">
              <a:buNone/>
            </a:pPr>
            <a:r>
              <a:rPr lang="en-US" sz="950" b="1" dirty="0">
                <a:solidFill>
                  <a:srgbClr val="2E8B57"/>
                </a:solidFill>
                <a:latin typeface="Calibri" pitchFamily="34" charset="0"/>
                <a:ea typeface="Calibri" pitchFamily="34" charset="-122"/>
                <a:cs typeface="Calibri" pitchFamily="34" charset="-120"/>
              </a:rPr>
              <a:t> muallim · teacher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‎جدید‎ </a:t>
            </a:r>
            <a:pPr indent="0" marL="0">
              <a:buNone/>
            </a:pPr>
            <a:r>
              <a:rPr lang="en-US" sz="950" b="1" dirty="0">
                <a:solidFill>
                  <a:srgbClr val="2E8B57"/>
                </a:solidFill>
                <a:latin typeface="Calibri" pitchFamily="34" charset="0"/>
                <a:ea typeface="Calibri" pitchFamily="34" charset="-122"/>
                <a:cs typeface="Calibri" pitchFamily="34" charset="-120"/>
              </a:rPr>
              <a:t> jadīd · modern, new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قَدِيمٌ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‎قدیم‎ </a:t>
            </a:r>
            <a:pPr indent="0" marL="0">
              <a:buNone/>
            </a:pPr>
            <a:r>
              <a:rPr lang="en-US" sz="950" b="1" dirty="0">
                <a:solidFill>
                  <a:srgbClr val="2E8B57"/>
                </a:solidFill>
                <a:latin typeface="Calibri" pitchFamily="34" charset="0"/>
                <a:ea typeface="Calibri" pitchFamily="34" charset="-122"/>
                <a:cs typeface="Calibri" pitchFamily="34" charset="-120"/>
              </a:rPr>
              <a:t> qadīm · ancient, 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طَوِيلٌ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‎طویل‎ </a:t>
            </a:r>
            <a:pPr indent="0" marL="0">
              <a:buNone/>
            </a:pPr>
            <a:r>
              <a:rPr lang="en-US" sz="950" b="1" dirty="0">
                <a:solidFill>
                  <a:srgbClr val="2E8B57"/>
                </a:solidFill>
                <a:latin typeface="Calibri" pitchFamily="34" charset="0"/>
                <a:ea typeface="Calibri" pitchFamily="34" charset="-122"/>
                <a:cs typeface="Calibri" pitchFamily="34" charset="-120"/>
              </a:rPr>
              <a:t> tawīl · long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PEOPLE · EIGHT MASCULINE/FEMININE 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masculine, feminine,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الأَشْخَاصُ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36667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(reference)</a:t>
            </a:r>
            <a:endParaRPr lang="en-US" sz="1100" dirty="0"/>
          </a:p>
        </p:txBody>
      </p:sp>
      <p:sp>
        <p:nvSpPr>
          <p:cNvPr id="19" name="Text 16"/>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26287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طَالِبٌ</a:t>
            </a:r>
            <a:endParaRPr lang="ar-SA" sz="2100" dirty="0"/>
          </a:p>
        </p:txBody>
      </p:sp>
      <p:sp>
        <p:nvSpPr>
          <p:cNvPr id="22" name="Text 19"/>
          <p:cNvSpPr txBox="1"/>
          <p:nvPr/>
        </p:nvSpPr>
        <p:spPr>
          <a:xfrm>
            <a:off x="670255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طَالِبَ</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endParaRPr lang="ar-SA" sz="2100" dirty="0"/>
          </a:p>
        </p:txBody>
      </p:sp>
      <p:sp>
        <p:nvSpPr>
          <p:cNvPr id="23" name="Text 20"/>
          <p:cNvSpPr txBox="1"/>
          <p:nvPr/>
        </p:nvSpPr>
        <p:spPr>
          <a:xfrm>
            <a:off x="3685032" y="226771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طُلَّابٌ · طَالِبَاتٌ</a:t>
            </a:r>
            <a:endParaRPr lang="ar-SA" sz="2000" dirty="0"/>
          </a:p>
        </p:txBody>
      </p:sp>
      <p:sp>
        <p:nvSpPr>
          <p:cNvPr id="24" name="Text 21"/>
          <p:cNvSpPr txBox="1"/>
          <p:nvPr/>
        </p:nvSpPr>
        <p:spPr>
          <a:xfrm>
            <a:off x="566928" y="226771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26287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مُعَلِّمٌ</a:t>
            </a:r>
            <a:endParaRPr lang="ar-SA" sz="2100" dirty="0"/>
          </a:p>
        </p:txBody>
      </p:sp>
      <p:sp>
        <p:nvSpPr>
          <p:cNvPr id="29" name="Text 26"/>
          <p:cNvSpPr txBox="1"/>
          <p:nvPr/>
        </p:nvSpPr>
        <p:spPr>
          <a:xfrm>
            <a:off x="670255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مُعَلِّمَ</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endParaRPr lang="ar-SA" sz="2100" dirty="0"/>
          </a:p>
        </p:txBody>
      </p:sp>
      <p:sp>
        <p:nvSpPr>
          <p:cNvPr id="30" name="Text 27"/>
          <p:cNvSpPr txBox="1"/>
          <p:nvPr/>
        </p:nvSpPr>
        <p:spPr>
          <a:xfrm>
            <a:off x="3685032" y="277977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مُعَلِّمُونَ · مُعَلِّمَاتٌ</a:t>
            </a:r>
            <a:endParaRPr lang="ar-SA" sz="2000" dirty="0"/>
          </a:p>
        </p:txBody>
      </p:sp>
      <p:sp>
        <p:nvSpPr>
          <p:cNvPr id="31" name="Text 28"/>
          <p:cNvSpPr txBox="1"/>
          <p:nvPr/>
        </p:nvSpPr>
        <p:spPr>
          <a:xfrm>
            <a:off x="566928" y="277977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teacher</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26287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endParaRPr lang="ar-SA" sz="2100" dirty="0"/>
          </a:p>
        </p:txBody>
      </p:sp>
      <p:sp>
        <p:nvSpPr>
          <p:cNvPr id="36" name="Text 33"/>
          <p:cNvSpPr txBox="1"/>
          <p:nvPr/>
        </p:nvSpPr>
        <p:spPr>
          <a:xfrm>
            <a:off x="670255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endParaRPr lang="ar-SA" sz="2100" dirty="0"/>
          </a:p>
        </p:txBody>
      </p:sp>
      <p:sp>
        <p:nvSpPr>
          <p:cNvPr id="37" name="Text 34"/>
          <p:cNvSpPr txBox="1"/>
          <p:nvPr/>
        </p:nvSpPr>
        <p:spPr>
          <a:xfrm>
            <a:off x="3685032" y="329184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أَصْدِقَاءُ · صَدِيقَاتٌ</a:t>
            </a:r>
            <a:endParaRPr lang="ar-SA" sz="2000" dirty="0"/>
          </a:p>
        </p:txBody>
      </p:sp>
      <p:sp>
        <p:nvSpPr>
          <p:cNvPr id="38" name="Text 35"/>
          <p:cNvSpPr txBox="1"/>
          <p:nvPr/>
        </p:nvSpPr>
        <p:spPr>
          <a:xfrm>
            <a:off x="566928" y="329184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26287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زَمِيلٌ</a:t>
            </a:r>
            <a:endParaRPr lang="ar-SA" sz="2100" dirty="0"/>
          </a:p>
        </p:txBody>
      </p:sp>
      <p:sp>
        <p:nvSpPr>
          <p:cNvPr id="43" name="Text 40"/>
          <p:cNvSpPr txBox="1"/>
          <p:nvPr/>
        </p:nvSpPr>
        <p:spPr>
          <a:xfrm>
            <a:off x="670255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زَمِيلَ</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endParaRPr lang="ar-SA" sz="2100" dirty="0"/>
          </a:p>
        </p:txBody>
      </p:sp>
      <p:sp>
        <p:nvSpPr>
          <p:cNvPr id="44" name="Text 41"/>
          <p:cNvSpPr txBox="1"/>
          <p:nvPr/>
        </p:nvSpPr>
        <p:spPr>
          <a:xfrm>
            <a:off x="3685032" y="3803904"/>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زُمَلَاءُ · زَمِيلَاتٌ</a:t>
            </a:r>
            <a:endParaRPr lang="ar-SA" sz="2000" dirty="0"/>
          </a:p>
        </p:txBody>
      </p:sp>
      <p:sp>
        <p:nvSpPr>
          <p:cNvPr id="45" name="Text 42"/>
          <p:cNvSpPr txBox="1"/>
          <p:nvPr/>
        </p:nvSpPr>
        <p:spPr>
          <a:xfrm>
            <a:off x="566928" y="3803904"/>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classmate / colleague</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26287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طِفْلٌ</a:t>
            </a:r>
            <a:endParaRPr lang="ar-SA" sz="2100" dirty="0"/>
          </a:p>
        </p:txBody>
      </p:sp>
      <p:sp>
        <p:nvSpPr>
          <p:cNvPr id="50" name="Text 47"/>
          <p:cNvSpPr txBox="1"/>
          <p:nvPr/>
        </p:nvSpPr>
        <p:spPr>
          <a:xfrm>
            <a:off x="670255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طِفْلَ</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endParaRPr lang="ar-SA" sz="2100" dirty="0"/>
          </a:p>
        </p:txBody>
      </p:sp>
      <p:sp>
        <p:nvSpPr>
          <p:cNvPr id="51" name="Text 48"/>
          <p:cNvSpPr txBox="1"/>
          <p:nvPr/>
        </p:nvSpPr>
        <p:spPr>
          <a:xfrm>
            <a:off x="3685032" y="4315968"/>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أَطْفَالٌ</a:t>
            </a:r>
            <a:endParaRPr lang="ar-SA" sz="2000" dirty="0"/>
          </a:p>
        </p:txBody>
      </p:sp>
      <p:sp>
        <p:nvSpPr>
          <p:cNvPr id="52" name="Text 49"/>
          <p:cNvSpPr txBox="1"/>
          <p:nvPr/>
        </p:nvSpPr>
        <p:spPr>
          <a:xfrm>
            <a:off x="566928" y="4315968"/>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child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26287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وَلَدٌ</a:t>
            </a:r>
            <a:endParaRPr lang="ar-SA" sz="2100" dirty="0"/>
          </a:p>
        </p:txBody>
      </p:sp>
      <p:sp>
        <p:nvSpPr>
          <p:cNvPr id="55" name="Text 52"/>
          <p:cNvSpPr txBox="1"/>
          <p:nvPr/>
        </p:nvSpPr>
        <p:spPr>
          <a:xfrm>
            <a:off x="670255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بِنْتٌ</a:t>
            </a:r>
            <a:endParaRPr lang="ar-SA" sz="2100" dirty="0"/>
          </a:p>
        </p:txBody>
      </p:sp>
      <p:sp>
        <p:nvSpPr>
          <p:cNvPr id="56" name="Text 53"/>
          <p:cNvSpPr txBox="1"/>
          <p:nvPr/>
        </p:nvSpPr>
        <p:spPr>
          <a:xfrm>
            <a:off x="3685032" y="482803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أَوْلَادٌ · بَنَاتٌ</a:t>
            </a:r>
            <a:endParaRPr lang="ar-SA" sz="2000" dirty="0"/>
          </a:p>
        </p:txBody>
      </p:sp>
      <p:sp>
        <p:nvSpPr>
          <p:cNvPr id="57" name="Text 54"/>
          <p:cNvSpPr txBox="1"/>
          <p:nvPr/>
        </p:nvSpPr>
        <p:spPr>
          <a:xfrm>
            <a:off x="566928" y="482803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 / girl</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26287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رَجُلٌ</a:t>
            </a:r>
            <a:endParaRPr lang="ar-SA" sz="2100" dirty="0"/>
          </a:p>
        </p:txBody>
      </p:sp>
      <p:sp>
        <p:nvSpPr>
          <p:cNvPr id="60" name="Text 57"/>
          <p:cNvSpPr txBox="1"/>
          <p:nvPr/>
        </p:nvSpPr>
        <p:spPr>
          <a:xfrm>
            <a:off x="670255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اِمْرَأَةٌ</a:t>
            </a:r>
            <a:endParaRPr lang="ar-SA" sz="2100" dirty="0"/>
          </a:p>
        </p:txBody>
      </p:sp>
      <p:sp>
        <p:nvSpPr>
          <p:cNvPr id="61" name="Text 58"/>
          <p:cNvSpPr txBox="1"/>
          <p:nvPr/>
        </p:nvSpPr>
        <p:spPr>
          <a:xfrm>
            <a:off x="3685032" y="534009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رِجَالٌ · نِسَاءٌ</a:t>
            </a:r>
            <a:endParaRPr lang="ar-SA" sz="2000" dirty="0"/>
          </a:p>
        </p:txBody>
      </p:sp>
      <p:sp>
        <p:nvSpPr>
          <p:cNvPr id="62" name="Text 59"/>
          <p:cNvSpPr txBox="1"/>
          <p:nvPr/>
        </p:nvSpPr>
        <p:spPr>
          <a:xfrm>
            <a:off x="566928" y="534009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man / woman</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26287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أَخٌ</a:t>
            </a:r>
            <a:endParaRPr lang="ar-SA" sz="2100" dirty="0"/>
          </a:p>
        </p:txBody>
      </p:sp>
      <p:sp>
        <p:nvSpPr>
          <p:cNvPr id="65" name="Text 62"/>
          <p:cNvSpPr txBox="1"/>
          <p:nvPr/>
        </p:nvSpPr>
        <p:spPr>
          <a:xfrm>
            <a:off x="670255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أُخْتٌ</a:t>
            </a:r>
            <a:endParaRPr lang="ar-SA" sz="2100" dirty="0"/>
          </a:p>
        </p:txBody>
      </p:sp>
      <p:sp>
        <p:nvSpPr>
          <p:cNvPr id="66" name="Text 63"/>
          <p:cNvSpPr txBox="1"/>
          <p:nvPr/>
        </p:nvSpPr>
        <p:spPr>
          <a:xfrm>
            <a:off x="3685032" y="585216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إِخْوَةٌ · أَخَوَاتٌ</a:t>
            </a:r>
            <a:endParaRPr lang="ar-SA" sz="2000" dirty="0"/>
          </a:p>
        </p:txBody>
      </p:sp>
      <p:sp>
        <p:nvSpPr>
          <p:cNvPr id="67" name="Text 64"/>
          <p:cNvSpPr txBox="1"/>
          <p:nvPr/>
        </p:nvSpPr>
        <p:spPr>
          <a:xfrm>
            <a:off x="566928" y="585216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brother / sister</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FIND THE GENDER CLUE IN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 clue — and its exceptions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STRONG CLUE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طَالِبَةٌ · مُعَلِّمَةٌ · حَقِيبَةٌ · سَيَّارَةٌ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female student · female teacher · bag · car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nouns ending in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are feminine.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 ة · USE ACTIVELY</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 · بِنْتٌ · أُخْتٌ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أُمٌّ · بِنْتٌ · أُخْتٌ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mother · girl · sister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Naturally feminine people: no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needed.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 ة · RECOGNISE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شَمْسٌ · عَيْنٌ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أَرْضٌ · شَمْسٌ · يَدٌ · عَيْنٌ</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earth · sun · hand · eye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by convention — learn them.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ending is a clue, not the complete rule.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هَذِهِ شَمْسٌ</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هَذَا شَمْسٌ</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ADJECTIVES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Adjectives: add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 for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الصِّفَاتُ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جَدِيدٌ</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جَدِيدَ</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new</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طَالِبَةٌ جَدِيدَةٌ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قَدِيمٌ</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قَدِيمَ</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old (things)</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كِتَابٌ قَدِيمٌ</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كَبِيرٌ</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كَبِيرَ</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 / older</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 كَبِيرٌ</a:t>
            </a:r>
            <a:endParaRPr lang="ar-SA" sz="20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صَغِيرٌ</a:t>
            </a:r>
            <a:endParaRPr lang="ar-SA" sz="2600" dirty="0"/>
          </a:p>
        </p:txBody>
      </p:sp>
      <p:sp>
        <p:nvSpPr>
          <p:cNvPr id="43" name="Text 40"/>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صَغِيرَ</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4" name="Text 41"/>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 young</a:t>
            </a:r>
            <a:endParaRPr lang="en-US" sz="1100" dirty="0"/>
          </a:p>
        </p:txBody>
      </p:sp>
      <p:sp>
        <p:nvSpPr>
          <p:cNvPr id="45" name="Text 42"/>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طِفْلَةٌ صَغِيرَةٌ</a:t>
            </a:r>
            <a:endParaRPr lang="ar-SA" sz="20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جَمِيلٌ</a:t>
            </a:r>
            <a:endParaRPr lang="ar-SA" sz="2600" dirty="0"/>
          </a:p>
        </p:txBody>
      </p:sp>
      <p:sp>
        <p:nvSpPr>
          <p:cNvPr id="48" name="Text 45"/>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جَمِيلَ</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9" name="Text 46"/>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beautiful</a:t>
            </a:r>
            <a:endParaRPr lang="en-US" sz="1100" dirty="0"/>
          </a:p>
        </p:txBody>
      </p:sp>
      <p:sp>
        <p:nvSpPr>
          <p:cNvPr id="50" name="Text 47"/>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حَقِيبَةٌ جَمِيلَةٌ</a:t>
            </a:r>
            <a:endParaRPr lang="ar-SA" sz="2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ADJECTIVES 6–10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more matching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الصِّفَاتُ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ذَكِيٌّ</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ذَكِيَّ</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clever</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هِيَ ذَكِيَّةٌ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لَطِيفٌ</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لَطِيفَ</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kind / pleasant</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زَمِيلٌ لَطِيفٌ</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طَوِيلٌ</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طَوِيلَ</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tall / long</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 طَوِيلٌ</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قَصِيرٌ</a:t>
            </a:r>
            <a:endParaRPr lang="ar-SA" sz="2600" dirty="0"/>
          </a:p>
        </p:txBody>
      </p:sp>
      <p:sp>
        <p:nvSpPr>
          <p:cNvPr id="41" name="Text 38"/>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قَصِيرَ</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2" name="Text 39"/>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a:t>
            </a:r>
            <a:endParaRPr lang="en-US" sz="1100" dirty="0"/>
          </a:p>
        </p:txBody>
      </p:sp>
      <p:sp>
        <p:nvSpPr>
          <p:cNvPr id="43" name="Text 40"/>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 قَصِيرَةٌ</a:t>
            </a:r>
            <a:endParaRPr lang="ar-SA" sz="20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سَعِيدٌ</a:t>
            </a:r>
            <a:endParaRPr lang="ar-SA" sz="2600" dirty="0"/>
          </a:p>
        </p:txBody>
      </p:sp>
      <p:sp>
        <p:nvSpPr>
          <p:cNvPr id="46" name="Text 43"/>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سَعِيدَ</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7" name="Text 44"/>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happy</a:t>
            </a:r>
            <a:endParaRPr lang="en-US" sz="1100" dirty="0"/>
          </a:p>
        </p:txBody>
      </p:sp>
      <p:sp>
        <p:nvSpPr>
          <p:cNvPr id="48" name="Text 45"/>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اِمْرَأَةٌ سَعِيدَةٌ</a:t>
            </a:r>
            <a:endParaRPr lang="ar-SA" sz="2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THE ADJECTIVE FOLLOWS AND MATCHES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Two decisions: gender, then match</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بَعْدَ الاِسْمِ وَهِيَ تُطَابِقُهُ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هَذَا / هَذِهِ</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this (m. / f.)</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الاِسْمُ</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1 · the noun (decide the gender)</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الصِّفَةُ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2 · the adjective (same gender)</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This is a new male student.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a:t>
            </a:r>
            <a:endParaRPr lang="ar-SA" sz="2400" dirty="0"/>
          </a:p>
        </p:txBody>
      </p:sp>
      <p:sp>
        <p:nvSpPr>
          <p:cNvPr id="28" name="Shape 25"/>
          <p:cNvSpPr/>
          <p:nvPr/>
        </p:nvSpPr>
        <p:spPr>
          <a:xfrm>
            <a:off x="6336792" y="2487168"/>
            <a:ext cx="2642616" cy="768096"/>
          </a:xfrm>
          <a:prstGeom prst="roundRect">
            <a:avLst>
              <a:gd name="adj" fmla="val 7143"/>
            </a:avLst>
          </a:prstGeom>
          <a:solidFill>
            <a:srgbClr val="F1ECF7"/>
          </a:solidFill>
          <a:ln w="9525">
            <a:solidFill>
              <a:srgbClr val="F1ECF7"/>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جَدِيدٌ.</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This is a new female student.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a:t>
            </a:r>
            <a:endParaRPr lang="ar-SA" sz="2400" dirty="0"/>
          </a:p>
        </p:txBody>
      </p:sp>
      <p:sp>
        <p:nvSpPr>
          <p:cNvPr id="35" name="Shape 32"/>
          <p:cNvSpPr/>
          <p:nvPr/>
        </p:nvSpPr>
        <p:spPr>
          <a:xfrm>
            <a:off x="6336792" y="3364992"/>
            <a:ext cx="2642616" cy="768096"/>
          </a:xfrm>
          <a:prstGeom prst="roundRect">
            <a:avLst>
              <a:gd name="adj" fmla="val 7143"/>
            </a:avLst>
          </a:prstGeom>
          <a:solidFill>
            <a:srgbClr val="F1ECF7"/>
          </a:solidFill>
          <a:ln w="9525">
            <a:solidFill>
              <a:srgbClr val="F1ECF7"/>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جَدِيدَ</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This is a short sister.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a:t>
            </a:r>
            <a:endParaRPr lang="ar-SA" sz="2400" dirty="0"/>
          </a:p>
        </p:txBody>
      </p:sp>
      <p:sp>
        <p:nvSpPr>
          <p:cNvPr id="42" name="Shape 39"/>
          <p:cNvSpPr/>
          <p:nvPr/>
        </p:nvSpPr>
        <p:spPr>
          <a:xfrm>
            <a:off x="6336792" y="4242816"/>
            <a:ext cx="2642616" cy="768096"/>
          </a:xfrm>
          <a:prstGeom prst="roundRect">
            <a:avLst>
              <a:gd name="adj" fmla="val 7143"/>
            </a:avLst>
          </a:prstGeom>
          <a:solidFill>
            <a:srgbClr val="F1ECF7"/>
          </a:solidFill>
          <a:ln w="9525">
            <a:solidFill>
              <a:srgbClr val="F1ECF7"/>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أُخْتٌ</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قَصِيرَ</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This is an old book.</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a:t>
            </a:r>
            <a:endParaRPr lang="ar-SA" sz="2400" dirty="0"/>
          </a:p>
        </p:txBody>
      </p:sp>
      <p:sp>
        <p:nvSpPr>
          <p:cNvPr id="49" name="Shape 46"/>
          <p:cNvSpPr/>
          <p:nvPr/>
        </p:nvSpPr>
        <p:spPr>
          <a:xfrm>
            <a:off x="6336792" y="5120640"/>
            <a:ext cx="2642616" cy="768096"/>
          </a:xfrm>
          <a:prstGeom prst="roundRect">
            <a:avLst>
              <a:gd name="adj" fmla="val 7143"/>
            </a:avLst>
          </a:prstGeom>
          <a:solidFill>
            <a:srgbClr val="F1ECF7"/>
          </a:solidFill>
          <a:ln w="9525">
            <a:solidFill>
              <a:srgbClr val="F1ECF7"/>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قَدِيمٌ.</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Noun FIRST, adjective SECOND — </a:t>
            </a:r>
            <a:pPr algn="l" indent="0" marL="0">
              <a:buNone/>
            </a:pPr>
            <a:r>
              <a:rPr lang="ar-SA" altLang="en-US" sz="1550" b="1" dirty="0">
                <a:solidFill>
                  <a:srgbClr val="8A6D1E"/>
                </a:solidFill>
                <a:latin typeface="Amiri" pitchFamily="34" charset="0"/>
                <a:ea typeface="Amiri" pitchFamily="34" charset="-122"/>
                <a:cs typeface="Amiri" pitchFamily="34" charset="-120"/>
              </a:rPr>
              <a:t>كِتَابٌ جَدِيدٌ</a:t>
            </a:r>
            <a:pPr algn="l" indent="0" marL="0">
              <a:buNone/>
            </a:pPr>
            <a:r>
              <a:rPr lang="en-US" sz="1200" b="1" dirty="0">
                <a:solidFill>
                  <a:srgbClr val="8A6D1E"/>
                </a:solidFill>
                <a:latin typeface="Calibri" pitchFamily="34" charset="0"/>
                <a:ea typeface="Calibri" pitchFamily="34" charset="-122"/>
                <a:cs typeface="Calibri" pitchFamily="34" charset="-120"/>
              </a:rPr>
              <a:t> = a new book.</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new male student’.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جَدِيدَةٌ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جَدِيدٌ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kind female classmate’.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زَمِيلَةٌ لَطِيفَةٌ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 لَطِيفَةٌ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 زَمِيلَةٌ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حَقِيبَةٌ ...</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 even though it does not end in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new male student’.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طَالِبَةٌ جَدِيدَةٌ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 جَدِيدٌ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noun comes first and the masculine adjective follows.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kind female classmate’.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زَمِيلَةٌ لَطِيفَةٌ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زَمِيلٌ لَطِيفَةٌ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لَطِيفَةٌ زَمِيلَةٌ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زَمِيلَةٌ</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لَطِيفَةٌ</a:t>
            </a:r>
            <a:pPr algn="l" indent="0" marL="0">
              <a:buNone/>
            </a:pPr>
            <a:r>
              <a:rPr lang="en-US" sz="1050" i="1" dirty="0">
                <a:solidFill>
                  <a:srgbClr val="8A6D1E"/>
                </a:solidFill>
                <a:latin typeface="Calibri" pitchFamily="34" charset="0"/>
                <a:ea typeface="Calibri" pitchFamily="34" charset="-122"/>
                <a:cs typeface="Calibri" pitchFamily="34" charset="-120"/>
              </a:rPr>
              <a:t> are feminine, with the noun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حَقِيبَةٌ ...</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جَمِيلَةٌ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جَمِيلَةٌ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 even though it does not end in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a:t>
            </a:r>
            <a:pPr algn="l" indent="0" marL="0">
              <a:buNone/>
            </a:pPr>
            <a:r>
              <a:rPr lang="en-US" sz="1050" i="1" dirty="0">
                <a:solidFill>
                  <a:srgbClr val="8A6D1E"/>
                </a:solidFill>
                <a:latin typeface="Calibri" pitchFamily="34" charset="0"/>
                <a:ea typeface="Calibri" pitchFamily="34" charset="-122"/>
                <a:cs typeface="Calibri" pitchFamily="34" charset="-120"/>
              </a:rPr>
              <a:t> is naturally feminine without tāʾ marbūṭa.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Decide the gender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يُوسُفُ ← وَلَدٌ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Yusuf is a boy: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Match every word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صَدِيقِي. هُوَ وَلَدٌ ذَكِيٌّ.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هَذَا</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هُوَ</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ذَكِيٌّ</a:t>
            </a:r>
            <a:pPr algn="l" indent="0" marL="0">
              <a:buNone/>
            </a:pPr>
            <a:r>
              <a:rPr lang="en-US" sz="1150" dirty="0">
                <a:solidFill>
                  <a:srgbClr val="1F2A37"/>
                </a:solidFill>
                <a:latin typeface="Calibri" pitchFamily="34" charset="0"/>
                <a:ea typeface="Calibri" pitchFamily="34" charset="-122"/>
                <a:cs typeface="Calibri" pitchFamily="34" charset="-120"/>
              </a:rPr>
              <a:t> — all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 a girl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زَمِيلَتِي. هِيَ طَالِبَ</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Fatima: </a:t>
            </a:r>
            <a:pPr algn="l" indent="0" marL="0">
              <a:buNone/>
            </a:pPr>
            <a:r>
              <a:rPr lang="ar-SA" altLang="en-US" sz="1500" dirty="0">
                <a:solidFill>
                  <a:srgbClr val="1F2A37"/>
                </a:solidFill>
                <a:latin typeface="Amiri" pitchFamily="34" charset="0"/>
                <a:ea typeface="Amiri" pitchFamily="34" charset="-122"/>
                <a:cs typeface="Amiri" pitchFamily="34" charset="-120"/>
              </a:rPr>
              <a:t>هَذِهِ</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هِيَ</a:t>
            </a:r>
            <a:pPr algn="l" indent="0" marL="0">
              <a:buNone/>
            </a:pPr>
            <a:r>
              <a:rPr lang="en-US" sz="1150" dirty="0">
                <a:solidFill>
                  <a:srgbClr val="1F2A37"/>
                </a:solidFill>
                <a:latin typeface="Calibri" pitchFamily="34" charset="0"/>
                <a:ea typeface="Calibri" pitchFamily="34" charset="-122"/>
                <a:cs typeface="Calibri" pitchFamily="34" charset="-120"/>
              </a:rPr>
              <a:t>, and the noun has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 add </a:t>
            </a:r>
            <a:pPr algn="l" indent="0" marL="0">
              <a:buNone/>
            </a:pPr>
            <a:r>
              <a:rPr lang="ar-SA" altLang="en-US" sz="1650" b="1" dirty="0">
                <a:solidFill>
                  <a:srgbClr val="6B4C9A"/>
                </a:solidFill>
                <a:latin typeface="Amiri" pitchFamily="34" charset="0"/>
                <a:ea typeface="Amiri" pitchFamily="34" charset="-122"/>
                <a:cs typeface="Amiri" pitchFamily="34" charset="-120"/>
              </a:rPr>
              <a:t>ة</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طَالِبَ</a:t>
            </a:r>
            <a:pPr rtl="1" algn="ctr" indent="0" marL="0">
              <a:buNone/>
            </a:pPr>
            <a:r>
              <a:rPr lang="ar-SA" altLang="en-US" sz="2800" b="1" dirty="0">
                <a:solidFill>
                  <a:srgbClr val="D6336C"/>
                </a:solidFill>
                <a:latin typeface="Amiri" pitchFamily="34" charset="0"/>
                <a:ea typeface="Amiri" pitchFamily="34" charset="-122"/>
                <a:cs typeface="Amiri" pitchFamily="34" charset="-120"/>
              </a:rPr>
              <a:t>ةٌ</a:t>
            </a:r>
            <a:pPr rtl="1" algn="ctr" indent="0" marL="0">
              <a:buNone/>
            </a:pPr>
            <a:r>
              <a:rPr lang="ar-SA" altLang="en-US" sz="2800" b="1" dirty="0">
                <a:solidFill>
                  <a:srgbClr val="1B3B6F"/>
                </a:solidFill>
                <a:latin typeface="Amiri" pitchFamily="34" charset="0"/>
                <a:ea typeface="Amiri" pitchFamily="34" charset="-122"/>
                <a:cs typeface="Amiri" pitchFamily="34" charset="-120"/>
              </a:rPr>
              <a:t> جَدِيدَ</a:t>
            </a:r>
            <a:pPr rtl="1" algn="ctr" indent="0" marL="0">
              <a:buNone/>
            </a:pPr>
            <a:r>
              <a:rPr lang="ar-SA" altLang="en-US" sz="2800" b="1" dirty="0">
                <a:solidFill>
                  <a:srgbClr val="D6336C"/>
                </a:solidFill>
                <a:latin typeface="Amiri" pitchFamily="34" charset="0"/>
                <a:ea typeface="Amiri" pitchFamily="34" charset="-122"/>
                <a:cs typeface="Amiri" pitchFamily="34" charset="-120"/>
              </a:rPr>
              <a:t>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adjective copies the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جَدِيدَةٌ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ة</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صَدِيقِي يُوسُفُ. هُوَ وَلَدٌ ذَكِيٌّ وَلَطِيفٌ. — هَذِهِ زَمِيلَتِي فَاطِمَةُ. هِيَ طَالِبَ</a:t>
            </a:r>
            <a:pPr rtl="1" algn="r" indent="0" marL="0">
              <a:buNone/>
            </a:pPr>
            <a:r>
              <a:rPr lang="ar-SA" altLang="en-US" sz="2600" b="1" dirty="0">
                <a:solidFill>
                  <a:srgbClr val="D6336C"/>
                </a:solidFill>
                <a:latin typeface="Amiri" pitchFamily="34" charset="0"/>
                <a:ea typeface="Amiri" pitchFamily="34" charset="-122"/>
                <a:cs typeface="Amiri" pitchFamily="34" charset="-120"/>
              </a:rPr>
              <a:t>ةٌ</a:t>
            </a:r>
            <a:pPr rtl="1" algn="r" indent="0" marL="0">
              <a:buNone/>
            </a:pPr>
            <a:r>
              <a:rPr lang="ar-SA" altLang="en-US" sz="2600" b="1" dirty="0">
                <a:solidFill>
                  <a:srgbClr val="1B3B6F"/>
                </a:solidFill>
                <a:latin typeface="Amiri" pitchFamily="34" charset="0"/>
                <a:ea typeface="Amiri" pitchFamily="34" charset="-122"/>
                <a:cs typeface="Amiri" pitchFamily="34" charset="-120"/>
              </a:rPr>
              <a:t> جَدِيدَ</a:t>
            </a:r>
            <a:pPr rtl="1" algn="r" indent="0" marL="0">
              <a:buNone/>
            </a:pPr>
            <a:r>
              <a:rPr lang="ar-SA" altLang="en-US" sz="2600" b="1" dirty="0">
                <a:solidFill>
                  <a:srgbClr val="D6336C"/>
                </a:solidFill>
                <a:latin typeface="Amiri" pitchFamily="34" charset="0"/>
                <a:ea typeface="Amiri" pitchFamily="34" charset="-122"/>
                <a:cs typeface="Amiri" pitchFamily="34" charset="-120"/>
              </a:rPr>
              <a:t>ةٌ</a:t>
            </a:r>
            <a:pPr rtl="1" algn="r" indent="0" marL="0">
              <a:buNone/>
            </a:pPr>
            <a:r>
              <a:rPr lang="ar-SA" altLang="en-US" sz="2600" b="1" dirty="0">
                <a:solidFill>
                  <a:srgbClr val="1B3B6F"/>
                </a:solidFill>
                <a:latin typeface="Amiri" pitchFamily="34" charset="0"/>
                <a:ea typeface="Amiri" pitchFamily="34" charset="-122"/>
                <a:cs typeface="Amiri" pitchFamily="34" charset="-120"/>
              </a:rPr>
              <a:t> وَسَعِيدَ</a:t>
            </a:r>
            <a:pPr rtl="1" algn="r" indent="0" marL="0">
              <a:buNone/>
            </a:pPr>
            <a:r>
              <a:rPr lang="ar-SA" altLang="en-US" sz="2600" b="1" dirty="0">
                <a:solidFill>
                  <a:srgbClr val="D6336C"/>
                </a:solidFill>
                <a:latin typeface="Amiri" pitchFamily="34" charset="0"/>
                <a:ea typeface="Amiri" pitchFamily="34" charset="-122"/>
                <a:cs typeface="Amiri" pitchFamily="34" charset="-120"/>
              </a:rPr>
              <a:t>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my friend Yusuf. He is a clever and kind boy. — This is my classmate Fatima. She is a new and happy student.</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GENDER OF NOUNS AND MASCULINE/FEMININE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studying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studying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سَيَّارَةٌ جَدِيدَةٌ.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طَالِبٌ مُجْتَهِدٌ.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طَالِبَةٌ مُجْتَهِدَةٌ.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studying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طَالِبٌ مُجْتَهِدٌ.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hard-working student.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studying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طَالِبَةٌ مُجْتَهِدَةٌ.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hard-working student.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سَيَّارَةٌ جَدِيدَةٌ.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new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“GENDER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التَّذْكِيرِ وَالتَّأْنِيثِ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شَمْسٌ</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Masculine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matching demonstrative.</a:t>
            </a:r>
            <a:endParaRPr lang="en-US" sz="11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عَيْنٌ</a:t>
            </a:r>
            <a:endParaRPr lang="ar-SA" sz="22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37" name="Shape 34"/>
          <p:cNvSpPr/>
          <p:nvPr/>
        </p:nvSpPr>
        <p:spPr>
          <a:xfrm>
            <a:off x="4459224" y="34472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9" name="Text 36"/>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40" name="Shape 37"/>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39"/>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0"/>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phrase.</a:t>
            </a:r>
            <a:endParaRPr lang="en-US" sz="1200" dirty="0"/>
          </a:p>
        </p:txBody>
      </p:sp>
      <p:sp>
        <p:nvSpPr>
          <p:cNvPr id="44" name="Text 41"/>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a:t>
            </a:r>
            <a:endParaRPr lang="ar-SA" sz="2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 جَمِيلَةٌ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جَمِيلَةٌ 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the accurate sentence.</a:t>
            </a:r>
            <a:endParaRPr lang="en-US" sz="11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زَمِيلَةٌ</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زَمِيلَةٌ سَعِيدٌ.</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زَمِيلَةٌ سَعِيدَةٌ.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زَمِيلٌ سَعِيدَةٌ.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matching description.</a:t>
            </a:r>
            <a:endParaRPr lang="en-US" sz="11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أُخْتٌ</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 قَصِيرَةٌ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 قَصِيرٌ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قَصِيرَةٌ أُخْتٌ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masculine or feminine?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every word matches.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3: noun first.</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GENDER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شَمْسٌ</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Feminine</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Masculine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شَمْسٌ</a:t>
            </a:r>
            <a:pPr algn="l" indent="0" marL="0">
              <a:buNone/>
            </a:pPr>
            <a:r>
              <a:rPr lang="en-US" sz="1050" i="1" dirty="0">
                <a:solidFill>
                  <a:srgbClr val="8A6D1E"/>
                </a:solidFill>
                <a:latin typeface="Calibri" pitchFamily="34" charset="0"/>
                <a:ea typeface="Calibri" pitchFamily="34" charset="-122"/>
                <a:cs typeface="Calibri" pitchFamily="34" charset="-120"/>
              </a:rPr>
              <a:t> is feminine without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matching demonstrative.</a:t>
            </a:r>
            <a:endParaRPr lang="en-US" sz="11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عَيْنٌ</a:t>
            </a:r>
            <a:endParaRPr lang="ar-SA" sz="2200" dirty="0"/>
          </a:p>
        </p:txBody>
      </p:sp>
      <p:sp>
        <p:nvSpPr>
          <p:cNvPr id="33" name="Shape 30"/>
          <p:cNvSpPr/>
          <p:nvPr/>
        </p:nvSpPr>
        <p:spPr>
          <a:xfrm>
            <a:off x="4459224" y="2490216"/>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36" name="Shape 33"/>
          <p:cNvSpPr/>
          <p:nvPr/>
        </p:nvSpPr>
        <p:spPr>
          <a:xfrm>
            <a:off x="4459224" y="2862072"/>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39" name="Shape 36"/>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23392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43" name="Text 40"/>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phrase.</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a:t>
            </a:r>
            <a:endParaRPr lang="ar-SA" sz="2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 جَمِيلَةٌ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 جَمِيلٌ</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جَمِيلَةٌ 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is feminine, so it takes </a:t>
            </a:r>
            <a:pPr algn="l" indent="0" marL="0">
              <a:buNone/>
            </a:pPr>
            <a:r>
              <a:rPr lang="ar-SA" altLang="en-US" sz="1350" dirty="0">
                <a:solidFill>
                  <a:srgbClr val="8A6D1E"/>
                </a:solidFill>
                <a:latin typeface="Amiri" pitchFamily="34" charset="0"/>
                <a:ea typeface="Amiri" pitchFamily="34" charset="-122"/>
                <a:cs typeface="Amiri" pitchFamily="34" charset="-120"/>
              </a:rPr>
              <a:t>جَمِيلَةٌ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the accurate sentence.</a:t>
            </a:r>
            <a:endParaRPr lang="en-US" sz="11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زَمِيلَةٌ</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زَمِيلَةٌ سَعِيدٌ.</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زَمِيلَةٌ سَعِيدَةٌ.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زَمِيلٌ سَعِيدَةٌ.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زَمِيلَةٌ</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سَعِيدَةٌ</a:t>
            </a:r>
            <a:pPr algn="l" indent="0" marL="0">
              <a:buNone/>
            </a:pPr>
            <a:r>
              <a:rPr lang="en-US" sz="1050" i="1" dirty="0">
                <a:solidFill>
                  <a:srgbClr val="8A6D1E"/>
                </a:solidFill>
                <a:latin typeface="Calibri" pitchFamily="34" charset="0"/>
                <a:ea typeface="Calibri" pitchFamily="34" charset="-122"/>
                <a:cs typeface="Calibri" pitchFamily="34" charset="-120"/>
              </a:rPr>
              <a:t> agree.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matching description.</a:t>
            </a:r>
            <a:endParaRPr lang="en-US" sz="11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أُخْتٌ</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 قَصِيرَةٌ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 قَصِيرٌ</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قَصِيرَةٌ أُخْتٌ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قَصِيرَةٌ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masculine or feminine?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every word matches.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3: noun first.</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زَمِيلَةٌ لَطِيفٌ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noun is feminine. What about the adjective?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جَدِيدٌ كِتَابٌ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comes first in Arabic?</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أُخْتٌ قَصِيرَةٌ.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a:t>
            </a:r>
            <a:pPr algn="l" indent="0" marL="0">
              <a:buNone/>
            </a:pPr>
            <a:r>
              <a:rPr lang="en-US" sz="1300" i="1" dirty="0">
                <a:solidFill>
                  <a:srgbClr val="5A6472"/>
                </a:solidFill>
                <a:latin typeface="Calibri" pitchFamily="34" charset="0"/>
                <a:ea typeface="Calibri" pitchFamily="34" charset="-122"/>
                <a:cs typeface="Calibri" pitchFamily="34" charset="-120"/>
              </a:rPr>
              <a:t> has no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 — but is it masculine?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زَمِيلَةٌ لَطِيفٌ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زَمِيلَةٌ لَطِيفَةٌ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is feminine, so the adjective is feminine too.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جَدِيدٌ كِتَابٌ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كِتَابٌ جَدِيدٌ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first, adjective second.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أُخْتٌ قَصِيرَةٌ.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أُخْتٌ قَصِيرَةٌ.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أُخْتٌ</a:t>
            </a:r>
            <a:pPr algn="l" indent="0" marL="0">
              <a:buNone/>
            </a:pPr>
            <a:r>
              <a:rPr lang="en-US" sz="1150" b="1" dirty="0">
                <a:solidFill>
                  <a:srgbClr val="1B3B6F"/>
                </a:solidFill>
                <a:latin typeface="Calibri" pitchFamily="34" charset="0"/>
                <a:ea typeface="Calibri" pitchFamily="34" charset="-122"/>
                <a:cs typeface="Calibri" pitchFamily="34" charset="-120"/>
              </a:rPr>
              <a:t> is feminine without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so use </a:t>
            </a:r>
            <a:pPr algn="l" indent="0" marL="0">
              <a:buNone/>
            </a:pPr>
            <a:r>
              <a:rPr lang="ar-SA" altLang="en-US" sz="1500" b="1" dirty="0">
                <a:solidFill>
                  <a:srgbClr val="1B3B6F"/>
                </a:solidFill>
                <a:latin typeface="Amiri" pitchFamily="34" charset="0"/>
                <a:ea typeface="Amiri" pitchFamily="34" charset="-122"/>
                <a:cs typeface="Amiri" pitchFamily="34" charset="-120"/>
              </a:rPr>
              <a:t>هَذِهِ</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being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Description 1 is about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طِفْلٌ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Yusuf?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ذَكِيٌّ وَقَصِيرٌ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 وَصَغِيرٌ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 وَطَوِيلٌ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Description 2 uses which feminine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Zaynab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ذَكِيَّةٌ وَسَعِيدَةٌ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 وَطَوِيلَةٌ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قَدِيمَةٌ وَكَبِيرَةٌ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sister is described as…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who? Then: the exact noun + adjective pair.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زَمِيلٌ جَدِيدٌ. اِسْمُهُ يُوسُفُ. هُوَ لَطِيفٌ وَطَوِيلٌ.</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new classmate. His name is Yusuf. He is kind and tall.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زَمِيلَةٌ جَدِيدَةٌ. اِسْمُهَا زَيْنَبُ. هِيَ ذَكِيَّةٌ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new classmate (f.). Her name is Zaynab. She is clever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طِفْلٌ صَغِيرٌ، وَهَذِهِ طِفْلَةٌ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young boy, and this is a young girl.</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أَخٌ طَوِيلٌ، وَهَذِهِ أُخْتٌ قَصِيرَةٌ.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tall brother, and this is a short sister.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Description 1 is about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زَمِيلٌ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طِفْلٌ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هَذَا زَمِيلٌ جَدِيدٌ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Yusuf?</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ذَكِيٌّ وَقَصِيرٌ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سَعِيدٌ وَصَغِيرٌ</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لَطِيفٌ وَطَوِيلٌ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is described as kind and tall.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Description 2 uses which feminine noun?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زَمِيلَةٌ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introduces Zaynab as </a:t>
            </a:r>
            <a:pPr algn="l" indent="0" marL="0">
              <a:buNone/>
            </a:pPr>
            <a:r>
              <a:rPr lang="ar-SA" altLang="en-US" sz="1350" dirty="0">
                <a:solidFill>
                  <a:srgbClr val="8A6D1E"/>
                </a:solidFill>
                <a:latin typeface="Amiri" pitchFamily="34" charset="0"/>
                <a:ea typeface="Amiri" pitchFamily="34" charset="-122"/>
                <a:cs typeface="Amiri" pitchFamily="34" charset="-120"/>
              </a:rPr>
              <a:t>زَمِيلَةٌ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Zaynab is…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ذَكِيَّةٌ وَسَعِيدَةٌ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لَطِيفَةٌ وَطَوِيلَةٌ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قَدِيمَةٌ وَكَبِيرَةٌ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adjectives are </a:t>
            </a:r>
            <a:pPr algn="l" indent="0" marL="0">
              <a:buNone/>
            </a:pPr>
            <a:r>
              <a:rPr lang="ar-SA" altLang="en-US" sz="1350" dirty="0">
                <a:solidFill>
                  <a:srgbClr val="8A6D1E"/>
                </a:solidFill>
                <a:latin typeface="Amiri" pitchFamily="34" charset="0"/>
                <a:ea typeface="Amiri" pitchFamily="34" charset="-122"/>
                <a:cs typeface="Amiri" pitchFamily="34" charset="-120"/>
              </a:rPr>
              <a:t>ذَكِيَّةٌ وَسَعِيدَةٌ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sister is described as…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قَصِيرَةٌ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transcript says </a:t>
            </a:r>
            <a:pPr algn="l" indent="0" marL="0">
              <a:buNone/>
            </a:pPr>
            <a:r>
              <a:rPr lang="ar-SA" altLang="en-US" sz="1350" dirty="0">
                <a:solidFill>
                  <a:srgbClr val="8A6D1E"/>
                </a:solidFill>
                <a:latin typeface="Amiri" pitchFamily="34" charset="0"/>
                <a:ea typeface="Amiri" pitchFamily="34" charset="-122"/>
                <a:cs typeface="Amiri" pitchFamily="34" charset="-120"/>
              </a:rPr>
              <a:t>أُخْتٌ قَصِيرَةٌ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who? Then: the exact noun + adjective pair.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A SHORT CLASS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short class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مَلَفًّا قَصِيرًا عَنِ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خَالِدٌ. هُوَ طَالِبٌ جَدِيدٌ وَزَمِيلٌ لَطِيفٌ. هُوَ طَوِيلٌ وَذَكِيٌّ.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Khalid. He is a new student and a kind classmate. He is tall and clever.</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مَرْيَمُ. هِيَ طَالِبَةٌ جَدِيدَةٌ وَزَمِيلَةٌ لَطِيفَةٌ. هِيَ قَصِيرَةٌ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Maryam. She is a new student and a kind classmate. She is short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يُوسُفُ. هُوَ أَخٌ كَبِيرٌ. وَهَذِهِ زَيْنَبُ. هِيَ أُخْتٌ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Yusuf. He is an older brother. And this is Zaynab. She is a younger sister.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فَصْلُهُمْ كَبِيرٌ، وَمَدْرَسَتُهُمْ جَدِيدَةٌ. فِي الفَصْلِ كِتَابٌ قَدِيمٌ وَحَقِيبَةٌ جَمِيلَةٌ.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class is big and their school is new. In the class there is an old book and a beautiful bag.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Khalid?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 وَسَعِيدٌ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 وَذَكِيٌّ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قَدِيمٌ وَجَمِيلٌ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is 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 لَطِيفٌ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طِفْلَةٌ صَغِيرَةٌ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زَمِيلَةٌ لَطِيفَةٌ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irregular feminine noun describes Zaynab?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book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bag 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from the Arabic text, not from the pictures alone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adjectives describe Khalid?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قَصِيرٌ وَسَعِيدٌ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طَوِيلٌ وَذَكِيٌّ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قَدِيمٌ وَجَمِيلٌ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Khalid is tall and clever.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is 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زَمِيلٌ لَطِيفٌ</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طِفْلَةٌ صَغِيرَةٌ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زَمِيلَةٌ لَطِيفَةٌ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in </a:t>
            </a:r>
            <a:pPr algn="l" indent="0" marL="0">
              <a:buNone/>
            </a:pPr>
            <a:r>
              <a:rPr lang="ar-SA" altLang="en-US" sz="1350" dirty="0">
                <a:solidFill>
                  <a:srgbClr val="8A6D1E"/>
                </a:solidFill>
                <a:latin typeface="Amiri" pitchFamily="34" charset="0"/>
                <a:ea typeface="Amiri" pitchFamily="34" charset="-122"/>
                <a:cs typeface="Amiri" pitchFamily="34" charset="-120"/>
              </a:rPr>
              <a:t>زَمِيلَةٌ لَطِيفَةٌ</a:t>
            </a:r>
            <a:pPr algn="l" indent="0" marL="0">
              <a:buNone/>
            </a:pPr>
            <a:r>
              <a:rPr lang="en-US" sz="1050" i="1" dirty="0">
                <a:solidFill>
                  <a:srgbClr val="8A6D1E"/>
                </a:solidFill>
                <a:latin typeface="Calibri" pitchFamily="34" charset="0"/>
                <a:ea typeface="Calibri" pitchFamily="34" charset="-122"/>
                <a:cs typeface="Calibri" pitchFamily="34" charset="-120"/>
              </a:rPr>
              <a:t> are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irregular feminine noun describes Zaynab?</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هِيَ أُخْتٌ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book is…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قَدِيمٌ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كِتَابٌ</a:t>
            </a:r>
            <a:pPr algn="l" indent="0" marL="0">
              <a:buNone/>
            </a:pPr>
            <a:r>
              <a:rPr lang="en-US" sz="1050" i="1" dirty="0">
                <a:solidFill>
                  <a:srgbClr val="8A6D1E"/>
                </a:solidFill>
                <a:latin typeface="Calibri" pitchFamily="34" charset="0"/>
                <a:ea typeface="Calibri" pitchFamily="34" charset="-122"/>
                <a:cs typeface="Calibri" pitchFamily="34" charset="-120"/>
              </a:rPr>
              <a:t> is masculine, so the text uses </a:t>
            </a:r>
            <a:pPr algn="l" indent="0" marL="0">
              <a:buNone/>
            </a:pPr>
            <a:r>
              <a:rPr lang="ar-SA" altLang="en-US" sz="1350" dirty="0">
                <a:solidFill>
                  <a:srgbClr val="8A6D1E"/>
                </a:solidFill>
                <a:latin typeface="Amiri" pitchFamily="34" charset="0"/>
                <a:ea typeface="Amiri" pitchFamily="34" charset="-122"/>
                <a:cs typeface="Amiri" pitchFamily="34" charset="-120"/>
              </a:rPr>
              <a:t>قَدِيمٌ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bag 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قَصِيرَةٌ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takes </a:t>
            </a:r>
            <a:pPr algn="l" indent="0" marL="0">
              <a:buNone/>
            </a:pPr>
            <a:r>
              <a:rPr lang="ar-SA" altLang="en-US" sz="1350" dirty="0">
                <a:solidFill>
                  <a:srgbClr val="8A6D1E"/>
                </a:solidFill>
                <a:latin typeface="Amiri" pitchFamily="34" charset="0"/>
                <a:ea typeface="Amiri" pitchFamily="34" charset="-122"/>
                <a:cs typeface="Amiri" pitchFamily="34" charset="-120"/>
              </a:rPr>
              <a:t>جَمِيلَةٌ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from the Arabic text, not from the pictures alone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the person accurately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هَذَا؟ مَنْ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زَمِيلًا أَوْ زَمِيلَةً.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أَخًا أَوْ أُخْتًا.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شَخْصَيْنِ بِصِفَتَيْنِ.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___ . / هَذِهِ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هَذِهِ زَمِيلَتِي. اِسْمُهَا ___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___ وَ ___ ، وَهِيَ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مُمْتَازٌ! / مُمْتَازَةٌ!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طَالِبٌ جَدِيدٌ. اِسْمُهُ يُوسُفُ.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new male student. His name is Yusuf.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طَالِبَةٌ جَدِيدَةٌ. اِسْمُهَا زَيْنَبُ.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new female student. Her name is Zaynab.</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noun + adjective phrases with four different people nouns.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people nouns, each with ONE matching adjective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descriptions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connected descriptions with at least five different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 + name + he / she is … with five different adjectives.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3 descriptions +</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irregular feminine noun, two adjectives in one sentence and one described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adjectives in one sentence, a feminine noun without ة, and one object.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صَدِيقِي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friend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وَلَدٌ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a … boy.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زَمِيلَتِي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classmate (f.)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طَالِبَةٌ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a … student.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كِتَابٌ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is an old book.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new male student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new female student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kind friend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tall brother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 ______</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short sister</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جَدِيدٌ  ·  جَدِيدَةٌ  ·  قَدِيمٌ  ·  كَبِيرٌ  ·  صَغِيرَةٌ  ·  جَمِيلَةٌ  ·  ذَكِيٌّ  ·  ذَكِيَّةٌ  ·  لَطِيفٌ  ·  لَطِيفَةٌ  ·  طَوِيلٌ  ·  قَصِيرَةٌ  ·  سَعِيدٌ  ·  سَعِيدَةٌ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صَدِيقِي يُوسُفُ. هُوَ وَلَدٌ ذَكِيٌّ وَلَطِيفٌ وَطَوِيلٌ.</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زَمِيلَتِي فَاطِمَةُ. هِيَ طَالِبَةٌ جَدِيدَةٌ وَسَعِيدَةٌ.</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وَهَذِهِ أُخْتِي. هِيَ بِنْتٌ صَغِيرَةٌ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friend Yusuf. He is a clever, kind and tall boy. — This is my classmate Fatima. She is a new and happy student. — And this is my sister. She is a small and beautiful girl.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noun then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noun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 a feminine noun, my adjective has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هَذَا</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five different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a feminine noun without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correctly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زَمِيلَةٌ 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زَمِيلٌ لَطِيفَةٌ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لَطِيفَةٌ زَمِيلَةٌ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طِفْلَةٌ ...</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صَغِيرٌ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صَغِيرَةٌ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completely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أُخْتٌ قَصِيرَةٌ وَلَطِيفَةٌ.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أُخْتٌ قَصِيرٌ وَلَطِيفٌ.</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أَخٌ قَصِيرَةٌ وَلَطِيفَةٌ.</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phrase.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زَمِيلَةٌ لَطِيفَةٌ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زَمِيلٌ لَطِيفَةٌ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لَطِيفَةٌ زَمِيلَةٌ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comes first and both forms are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طِفْلَةٌ ...</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صَغِيرٌ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صَغِيرَةٌ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قَصِيرٌ</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طِفْلَةٌ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takes </a:t>
            </a:r>
            <a:pPr algn="l" indent="0" marL="0">
              <a:buNone/>
            </a:pPr>
            <a:r>
              <a:rPr lang="ar-SA" altLang="en-US" sz="1350" dirty="0">
                <a:solidFill>
                  <a:srgbClr val="8A6D1E"/>
                </a:solidFill>
                <a:latin typeface="Amiri" pitchFamily="34" charset="0"/>
                <a:ea typeface="Amiri" pitchFamily="34" charset="-122"/>
                <a:cs typeface="Amiri" pitchFamily="34" charset="-120"/>
              </a:rPr>
              <a:t>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completely accurate sentence.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أُخْتٌ قَصِيرَةٌ وَلَطِيفَةٌ.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أُخْتٌ قَصِيرٌ وَلَطِيفٌ.</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أَخٌ قَصِيرَةٌ وَلَطِيفَةٌ.</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demonstrative, noun and both adjectives are feminine.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F2-L05 · Masculine &amp; Feminine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F2-L06 · Polite Classroom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فَضْلِكَ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 (to a boy)</a:t>
            </a:r>
            <a:pPr indent="0" marL="0">
              <a:buNone/>
            </a:pPr>
            <a:r>
              <a:rPr lang="en-US" sz="1000" i="1" dirty="0">
                <a:solidFill>
                  <a:srgbClr val="5A6472"/>
                </a:solidFill>
                <a:latin typeface="Calibri" pitchFamily="34" charset="0"/>
                <a:ea typeface="Calibri" pitchFamily="34" charset="-122"/>
                <a:cs typeface="Calibri" pitchFamily="34" charset="-120"/>
              </a:rPr>
              <a:t>  f. مِنْ فَضْلِكِ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جَزِيلًا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thank you very much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عَفْوًا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you’re welcome / excuse 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آسِفٌ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sorry (boy speaking)</a:t>
            </a:r>
            <a:pPr indent="0" marL="0">
              <a:buNone/>
            </a:pPr>
            <a:r>
              <a:rPr lang="en-US" sz="1000" i="1" dirty="0">
                <a:solidFill>
                  <a:srgbClr val="5A6472"/>
                </a:solidFill>
                <a:latin typeface="Calibri" pitchFamily="34" charset="0"/>
                <a:ea typeface="Calibri" pitchFamily="34" charset="-122"/>
                <a:cs typeface="Calibri" pitchFamily="34" charset="-120"/>
              </a:rPr>
              <a:t>  f. آسِفَةٌ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here you are (to a boy)</a:t>
            </a:r>
            <a:pPr indent="0" marL="0">
              <a:buNone/>
            </a:pPr>
            <a:r>
              <a:rPr lang="en-US" sz="1000" i="1" dirty="0">
                <a:solidFill>
                  <a:srgbClr val="5A6472"/>
                </a:solidFill>
                <a:latin typeface="Calibri" pitchFamily="34" charset="0"/>
                <a:ea typeface="Calibri" pitchFamily="34" charset="-122"/>
                <a:cs typeface="Calibri" pitchFamily="34" charset="-120"/>
              </a:rPr>
              <a:t>  f. تَفَضَّلِي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polite phrase do you use most in English at school? Find its Arabic partner in the list.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فَضْلِكَ · شُكْرًا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F2-L05: Gender Detective (14 rounds)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accurate descriptions with five adjectives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two adjectives in one sentence and a feminine noun without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F2-L06 · Polite Classroom Arabic</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لُغَةُ الأَدَبِ فِي الصَّفِّ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5 polite phrases (boy / girl forms).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F2-L05 · Masculine and Feminine: Make the Pair Match</dc:title>
  <dc:subject>PptxGenJS Presentation</dc:subject>
  <dc:creator>Al Madina Online School · Arabic Department</dc:creator>
  <cp:lastModifiedBy>Al Madina Online School · Arabic Department</cp:lastModifiedBy>
  <cp:revision>1</cp:revision>
  <dcterms:created xsi:type="dcterms:W3CDTF">2026-09-27T10:53:26Z</dcterms:created>
  <dcterms:modified xsi:type="dcterms:W3CDTF">2026-09-27T10:53:26Z</dcterms:modified>
</cp:coreProperties>
</file>