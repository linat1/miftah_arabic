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Foundation › F2 Greetings &amp; Introductions › Lesson 5 (F2-L05). Website sections used: the four-question readiness check, eight people-noun pairs, the ة clue and exceptions, recycled object nouns, task language, the agreement pattern (noun + adjective, هَذَا / هَذِهِ), ten adjective pairs, the agreement mini-check (10), Gender Detective (14 rounds), listening (4 descriptions, 8 questions), the class-profile reading (8 questions), the speaking prompt and checklist, the three-descriptions writing task and the twelve-question checkpoint. Picture match: website visual game “Gender of Nouns and Masculine/Feminine Agreement”.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is the grammar heart of F2 — the same “make it match” decision returns in family, home, school, colours and clothing (website “Why this matters”).
• Core: ONE rule — feminine noun → add ة to the adjective. Work with the four ة-pairs (طَالِبٌ، مُعَلِّمٌ، صَدِيقٌ، زَمِيلٌ) and three adjectives. Develop: all pairs + هَذَا / هَذِهِ. Stretch: exceptions (أُخْتٌ، بِنْتٌ، أُمٌّ; شَمْسٌ، عَيْنٌ) and two adjectives.
• Plural forms are shown for reference (m / f / pl on every noun) but are not practised today.
• Urdu bridge: طالب، معلم، جدید، قدیم، طویل — five of today’s words are used in Urdu.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1–2 test two of the five words prepared at home. Questions 3–5 are the website “readiness check” (the -ki question, the feminine nationality, the ة clue).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Arabic keeps the noun and adjective together: masculine with masculine, feminine with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“By the end, I can …” (left) and the website Core / Develop / Stretch goals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طالب علم (student), معلم (teacher), جدید (modern), قدیم (ancient), طویل (long) — Urdu borrowed these from Arabic but did NOT borrow the ة agreement, so Urdu speakers need to add it consciously.
Website task language to recognise today: مُذَكَّرٌ أَمْ مُؤَنَّثٌ؟ (masculine or feminine?) · طَابِقْ (match) · اِخْتَرِ الصَّوَابَ (choose the correct answer) · لَاحِظِ النِّهَايَةَ (notice the ending) · مُمْتَازٌ! (excellent!).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PEOPLE (website active vocabulary, all eight pairs). Read each pair aloud; ask: “Does the feminine add ة?” → YES for rows 1–5 (pink), NO for rows 6–8: a different word altogether.
Plural column = reference only (the user-friendly m / f / pl record for students’ vocabulary books); not practised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THE ة CLUE (website section 2). “Most nouns ending in ة are feminine. It is a powerful clue, but some feminine words do not carry it.”
Website: USE actively now أُمٌّ، بِنْتٌ، أُخْتٌ; RECOGNISE for now أَرْضٌ، شَمْسٌ، يَدٌ، عَيْنٌ (F1 dictation words يَدٌ، عَيْنٌ return!).
Recycled objects (website): مَدْرَسَةٌ f · كِتَابٌ m · قَلَمٌ m · حَقِيبَةٌ f · بَيْتٌ m · سَيَّارَةٌ f · مَدِينَةٌ f · أُسْتَاذَةٌ f — ask the class to sort them in the chat (m /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ADJECTIVES 1–5 (website). Website note: keep قَدِيمٌ / قَدِيمَةٌ mainly for THINGS; use كَبِيرٌ / كَبِيرَةٌ for big or older people. Gesture each adjective (big arms, small fingers…).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ADJECTIVES 6–10 (website). ذَكِيٌّ → ذَكِيَّةٌ follows the same shadda pattern as the nationality ending (F2-L04: مِصْرِيٌّ → مِصْرِيَّةٌ).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(website section 3). Make two decisions: first choose the noun’s gender; then give the adjective the same gender. Website: Arabic does not normally place the adjective before the noun; هَذَا goes with a masculine singular noun and هَذِهِ with a feminine singular noun.
Row 3 is the trap: أُخْتٌ has no ة, but it is feminine → هَذِهِ … قَصِيرَةٌ.
Website “Make the pair match”: مُذَكَّرٌ مَعَ مُذَكَّرٍ · مُؤَنَّثٌ مَعَ مُؤَنَّثٍ.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“Agreement mini-check” questions 1–4.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the website “achievable model”, built with a think-aloud. After writing, students circle every ة in the second sentence (4 of them, including زَمِيلَتِي where ة becomes ت).</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Gender of Nouns and Masculine/Feminine Agreement”)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New word: مُجْتَهِدٌ / مُجْتَهِدَةٌ = hard-working — students can still solve it from هُوَ / هِيَ and the ة. سَيَّارَةٌ is feminine → هَذِهِ … جَدِيدَةٌ.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Gender of Nouns and Masculine/Feminine Agreement”)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New word: مُجْتَهِدٌ / مُجْتَهِدَةٌ = hard-working — students can still solve it from هُوَ / هِيَ and the ة. سَيَّارَةٌ is feminine → هَذِهِ … جَدِيدَةٌ.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“Gender Detective” (5 of 14 rounds: sun, eye, mother, a female classmate, sister — the exceptions and the full sentence). The other 9 rounds are homework. Website: “Inspect each word, decide its gender and then choose the matching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Reveal; ask “What was the clue?” for each (ة / a naturally feminine person / learnt exception).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5. Develop / Stretch: all 5.
Listen 1: just listen. Listen 2: note answers. Then chat the letters.
Support: after the second listening, show the read-along slide (Arabic + English, line by line) for Core students.
SCRIPT (read aloud):
هَذَا زَمِيلٌ جَدِيدٌ. اِسْمُهُ يُوسُفُ. هُوَ لَطِيفٌ وَطَوِيلٌ. / هَذِهِ زَمِيلَةٌ جَدِيدَةٌ. اِسْمُهَا زَيْنَبُ. هِيَ ذَكِيَّةٌ وَسَعِيدَةٌ. / هَذَا طِفْلٌ صَغِيرٌ، وَهَذِهِ طِفْلَةٌ صَغِيرَةٌ. / هَذَا أَخٌ طَوِيلٌ، وَهَذِهِ أُخْتٌ قَصِيرَةٌ.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READING (website section 6). Website: “Track every masculine and feminine clue rather than translating one word at a time.” Develop: underline every ة in line 2 (there are 5). Stretch: find the feminine noun WITHOUT ة (أُخْتٌ) and the word where ة became ت before an ending (مَدْرَسَتُهُمْ).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reading questions 3, 4, 6, 7 and 8 (questions 1, 2 and 5 are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phrase for each answer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CHECKLIST (the listener ticks 1–5 in chat): 1 chose هَذَا / هَذِهِ · 2 an accurate person noun · 3 adjective second · 4 adjective matched · 5 added a name (اِسْمُهُ / اِسْمُهَا).
Website “random speaking prompt”: show a character card (يُوسُفُ · male student · new) → هَذَا طَالِبٌ جَدِيدٌ. اِسْمُهُ يُوسُفُ. Then hide the model.
Routes (website): Core — four different people nouns with one agreeing adjective each · Develop — add demonstratives, names and four different adjectives · Stretch — two adjectives each and one irregular feminine noun.
Praise with the website task word مُمْتَازٌ! (to a boy) / مُمْتَازَةٌ! (to a girl) — agreement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Four noun + adjective phrases with four different people nouns. · Develop — Three connected descriptions with at least five different adjectives. · Stretch — An irregular feminine noun, two adjectives in one sentence and one described object.
Website writing task (Stretch): Website writing task: write three accurate descriptions of people, using at least five different adjectives from the lesson bank. Stretch: an irregular feminine noun, two adjectives in one sentence and one described object.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“achievable model”. Evidence for the last chip: بِنْتٌ (a girl) — feminine without ة.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12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(F2-L06 · Polite Classroom Arabic) will spend class time USING this language, so students prepare it tonight — short, simple, easy to access (school guidance: “Simple, Short, Interesting, Relevant, Easy to access”). The five phrases are from the website F2-L06 polite-phrase bank. Notice that three of them change for a boy or a girl — exactly today’s rule!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1.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1.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F2-L05</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F2-L05</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Masculine and Feminine: Make the Pair Match</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تَذْكِيرُ الأَسْمَاءِ وَتَأْنِيثُهَا وَمُطَابَقَةُ الصِّفَةِ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Learn the eight people-noun pairs and ten adjective pairs, use </a:t>
            </a:r>
            <a:pPr algn="l" indent="0" marL="0">
              <a:buNone/>
            </a:pPr>
            <a:r>
              <a:rPr lang="ar-SA" altLang="en-US" sz="1800" dirty="0">
                <a:solidFill>
                  <a:srgbClr val="C6D2E6"/>
                </a:solidFill>
                <a:latin typeface="Amiri" pitchFamily="2" charset="-78"/>
                <a:ea typeface="Amiri" pitchFamily="2" charset="-78"/>
                <a:cs typeface="Amiri" pitchFamily="2" charset="-78"/>
              </a:rPr>
              <a:t>ة</a:t>
            </a:r>
            <a:pPr algn="l" indent="0" marL="0">
              <a:buNone/>
            </a:pPr>
            <a:r>
              <a:rPr lang="en-US" sz="1400" dirty="0">
                <a:solidFill>
                  <a:srgbClr val="C6D2E6"/>
                </a:solidFill>
                <a:latin typeface="Calibri" pitchFamily="34" charset="0"/>
                <a:cs typeface="Amiri" pitchFamily="2" charset="-78"/>
              </a:rPr>
              <a:t> as a strong feminine clue (and know the exceptions), and build descriptions where the noun, the adjective and </a:t>
            </a:r>
            <a:pPr algn="l" indent="0" marL="0">
              <a:buNone/>
            </a:pPr>
            <a:r>
              <a:rPr lang="ar-SA" altLang="en-US" sz="1800" dirty="0">
                <a:solidFill>
                  <a:srgbClr val="C6D2E6"/>
                </a:solidFill>
                <a:latin typeface="Amiri" pitchFamily="2" charset="-78"/>
                <a:ea typeface="Amiri" pitchFamily="2" charset="-78"/>
                <a:cs typeface="Amiri" pitchFamily="2" charset="-78"/>
              </a:rPr>
              <a:t>هَذَا / هَذِهِ</a:t>
            </a:r>
            <a:pPr algn="l" indent="0" marL="0">
              <a:buNone/>
            </a:pPr>
            <a:r>
              <a:rPr lang="en-US" sz="1400" dirty="0">
                <a:solidFill>
                  <a:srgbClr val="C6D2E6"/>
                </a:solidFill>
                <a:latin typeface="Calibri" pitchFamily="34" charset="0"/>
                <a:cs typeface="Amiri" pitchFamily="2" charset="-78"/>
              </a:rPr>
              <a:t> all agree.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F2-L05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F2-L05</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People words, the </a:t>
            </a:r>
            <a:pPr algn="ctr" indent="0" marL="0">
              <a:buNone/>
            </a:pPr>
            <a:r>
              <a:rPr lang="ar-SA" altLang="en-US" sz="1550" dirty="0">
                <a:solidFill>
                  <a:srgbClr val="1F2A37"/>
                </a:solidFill>
                <a:latin typeface="Amiri" pitchFamily="2" charset="-78"/>
                <a:ea typeface="Amiri" pitchFamily="2" charset="-78"/>
                <a:cs typeface="Amiri" pitchFamily="2" charset="-78"/>
              </a:rPr>
              <a:t>ة</a:t>
            </a:r>
            <a:pPr algn="ctr" indent="0" marL="0">
              <a:buNone/>
            </a:pPr>
            <a:r>
              <a:rPr lang="en-US" sz="1200" dirty="0">
                <a:solidFill>
                  <a:srgbClr val="1F2A37"/>
                </a:solidFill>
                <a:latin typeface="Calibri" pitchFamily="34" charset="0"/>
                <a:cs typeface="Amiri" pitchFamily="2" charset="-78"/>
              </a:rPr>
              <a:t> clue, then adjectives that match.</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Gender Detective, picture match, listen and read.</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F2-L06.</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feminine form of </a:t>
            </a:r>
            <a:pPr algn="l" indent="0" marL="0">
              <a:buNone/>
            </a:pPr>
            <a:r>
              <a:rPr lang="ar-SA" altLang="en-US" sz="1650" b="1" dirty="0">
                <a:solidFill>
                  <a:srgbClr val="1B3B6F"/>
                </a:solidFill>
                <a:latin typeface="Amiri" pitchFamily="2" charset="-78"/>
                <a:ea typeface="Amiri" pitchFamily="2" charset="-78"/>
                <a:cs typeface="Amiri" pitchFamily="2" charset="-78"/>
              </a:rPr>
              <a:t>طَالِبٌ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طُلَّابٌ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طَالِبِي</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جَدِيدٌ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new</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old</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big</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addresses one female?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اسْمُكَ؟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عُمْرُكَ؟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اسْمُكِ؟</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nationality.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سُورِيٌّ</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سُورِيَا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سُورِيَّةٌ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ending is a strong feminine clue on many nouns?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feminine form of </a:t>
            </a:r>
            <a:pPr algn="l" indent="0" marL="0">
              <a:buNone/>
            </a:pPr>
            <a:r>
              <a:rPr lang="ar-SA" altLang="en-US" sz="1650" b="1" dirty="0">
                <a:solidFill>
                  <a:srgbClr val="1B3B6F"/>
                </a:solidFill>
                <a:latin typeface="Amiri" pitchFamily="2" charset="-78"/>
                <a:ea typeface="Amiri" pitchFamily="2" charset="-78"/>
                <a:cs typeface="Amiri" pitchFamily="2" charset="-78"/>
              </a:rPr>
              <a:t>طَالِبٌ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طُلَّابٌ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طَالِبَةٌ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طَالِبِي</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جَدِيدٌ</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new</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old</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big</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question addresses one female?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 اسْمُكَ؟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عُمْرُكَ؟</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مَا اسْمُكِ؟</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kasra in </a:t>
            </a:r>
            <a:pPr algn="l" indent="0" marL="0">
              <a:buNone/>
            </a:pPr>
            <a:r>
              <a:rPr lang="ar-SA" altLang="en-US" sz="1350" dirty="0">
                <a:solidFill>
                  <a:srgbClr val="8A6D1E"/>
                </a:solidFill>
                <a:latin typeface="Amiri" pitchFamily="2" charset="-78"/>
                <a:ea typeface="Amiri" pitchFamily="2" charset="-78"/>
                <a:cs typeface="Amiri" pitchFamily="2" charset="-78"/>
              </a:rPr>
              <a:t>ـكِ</a:t>
            </a:r>
            <a:pPr algn="l" indent="0" marL="0">
              <a:buNone/>
            </a:pPr>
            <a:r>
              <a:rPr lang="en-US" sz="1050" i="1" dirty="0">
                <a:solidFill>
                  <a:srgbClr val="8A6D1E"/>
                </a:solidFill>
                <a:latin typeface="Calibri" pitchFamily="34" charset="0"/>
                <a:cs typeface="Amiri" pitchFamily="2" charset="-78"/>
              </a:rPr>
              <a:t> addresses one female.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feminine nationality.</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سُورِيٌّ</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سُورِيَا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سُورِيَّةٌ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سُورِيَّةٌ</a:t>
            </a:r>
            <a:pPr algn="l" indent="0" marL="0">
              <a:buNone/>
            </a:pPr>
            <a:r>
              <a:rPr lang="en-US" sz="1050" i="1" dirty="0">
                <a:solidFill>
                  <a:srgbClr val="8A6D1E"/>
                </a:solidFill>
                <a:latin typeface="Calibri" pitchFamily="34" charset="0"/>
                <a:cs typeface="Amiri" pitchFamily="2" charset="-78"/>
              </a:rPr>
              <a:t> is the feminine nationality adjective.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ending is a strong feminine clue on many nouns?</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Tāʾ marbūṭa </a:t>
            </a:r>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 is a common feminine marker.</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Arabic keeps the noun and adjective together: masculine with masculine, feminine with feminine.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طَالِبٌ جَدِيدٌ  ·  طَالِبَةٌ جَدِيدَةٌ</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and use all eight people-noun pairs.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and use all ten adjective pairs.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a:t>
            </a:r>
            <a:pPr algn="l" indent="0" marL="0">
              <a:buNone/>
            </a:pPr>
            <a:r>
              <a:rPr lang="ar-SA" altLang="en-US" sz="1700" dirty="0">
                <a:solidFill>
                  <a:srgbClr val="1F2A37"/>
                </a:solidFill>
                <a:latin typeface="Amiri" pitchFamily="2" charset="-78"/>
                <a:ea typeface="Amiri" pitchFamily="2" charset="-78"/>
                <a:cs typeface="Amiri" pitchFamily="2" charset="-78"/>
              </a:rPr>
              <a:t>ة</a:t>
            </a:r>
            <a:pPr algn="l" indent="0" marL="0">
              <a:buNone/>
            </a:pPr>
            <a:r>
              <a:rPr lang="en-US" sz="1300" dirty="0">
                <a:solidFill>
                  <a:srgbClr val="1F2A37"/>
                </a:solidFill>
                <a:latin typeface="Calibri" pitchFamily="34" charset="0"/>
                <a:cs typeface="Amiri" pitchFamily="2" charset="-78"/>
              </a:rPr>
              <a:t> as a strong feminine clue, and know the exceptions.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Put the adjective after its noun and keep the agreement.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learn the people nouns and match one adjective.</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add </a:t>
            </a:r>
            <a:pPr algn="l" indent="0" marL="0">
              <a:buNone/>
            </a:pPr>
            <a:r>
              <a:rPr lang="ar-SA" altLang="en-US" sz="1700" b="1" dirty="0">
                <a:solidFill>
                  <a:srgbClr val="2E8B57"/>
                </a:solidFill>
                <a:latin typeface="Amiri" pitchFamily="2" charset="-78"/>
                <a:ea typeface="Amiri" pitchFamily="2" charset="-78"/>
                <a:cs typeface="Amiri" pitchFamily="2" charset="-78"/>
              </a:rPr>
              <a:t>ة</a:t>
            </a:r>
            <a:pPr algn="l" indent="0" marL="0">
              <a:buNone/>
            </a:pPr>
            <a:r>
              <a:rPr lang="en-US" sz="1300" b="1" dirty="0">
                <a:solidFill>
                  <a:srgbClr val="2E8B57"/>
                </a:solidFill>
                <a:latin typeface="Calibri" pitchFamily="34" charset="0"/>
                <a:cs typeface="Amiri" pitchFamily="2" charset="-78"/>
              </a:rPr>
              <a:t> to the adjective for a feminine noun.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build full descriptions without a model.</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t>
            </a:r>
            <a:pPr algn="l" indent="0" marL="0">
              <a:buNone/>
            </a:pPr>
            <a:r>
              <a:rPr lang="ar-SA" altLang="en-US" sz="1700" b="1" dirty="0">
                <a:solidFill>
                  <a:srgbClr val="C9780A"/>
                </a:solidFill>
                <a:latin typeface="Amiri" pitchFamily="2" charset="-78"/>
                <a:ea typeface="Amiri" pitchFamily="2" charset="-78"/>
                <a:cs typeface="Amiri" pitchFamily="2" charset="-78"/>
              </a:rPr>
              <a:t>هَذَا</a:t>
            </a:r>
            <a:pPr algn="l" indent="0" marL="0">
              <a:buNone/>
            </a:pPr>
            <a:r>
              <a:rPr lang="en-US" sz="1300" b="1" dirty="0">
                <a:solidFill>
                  <a:srgbClr val="C9780A"/>
                </a:solidFill>
                <a:latin typeface="Calibri" pitchFamily="34" charset="0"/>
                <a:cs typeface="Amiri" pitchFamily="2" charset="-78"/>
              </a:rPr>
              <a:t> and </a:t>
            </a:r>
            <a:pPr algn="l" indent="0" marL="0">
              <a:buNone/>
            </a:pPr>
            <a:r>
              <a:rPr lang="ar-SA" altLang="en-US" sz="1700" b="1" dirty="0">
                <a:solidFill>
                  <a:srgbClr val="C9780A"/>
                </a:solidFill>
                <a:latin typeface="Amiri" pitchFamily="2" charset="-78"/>
                <a:ea typeface="Amiri" pitchFamily="2" charset="-78"/>
                <a:cs typeface="Amiri" pitchFamily="2" charset="-78"/>
              </a:rPr>
              <a:t>هَذِهِ</a:t>
            </a:r>
            <a:pPr algn="l" indent="0" marL="0">
              <a:buNone/>
            </a:pPr>
            <a:r>
              <a:rPr lang="en-US" sz="1300" b="1" dirty="0">
                <a:solidFill>
                  <a:srgbClr val="C9780A"/>
                </a:solidFill>
                <a:latin typeface="Calibri" pitchFamily="34" charset="0"/>
                <a:cs typeface="Amiri" pitchFamily="2" charset="-78"/>
              </a:rPr>
              <a:t> correctly.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combine two adjectives.</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feminine nouns without </a:t>
            </a:r>
            <a:pPr algn="l" indent="0" marL="0">
              <a:buNone/>
            </a:pPr>
            <a:r>
              <a:rPr lang="ar-SA" altLang="en-US" sz="1700" b="1" dirty="0">
                <a:solidFill>
                  <a:srgbClr val="B83227"/>
                </a:solidFill>
                <a:latin typeface="Amiri" pitchFamily="2" charset="-78"/>
                <a:ea typeface="Amiri" pitchFamily="2" charset="-78"/>
                <a:cs typeface="Amiri" pitchFamily="2" charset="-78"/>
              </a:rPr>
              <a:t>ة</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8 people pairs, 10 adjective pairs and the feminine exceptions — all website active vocabulary. Core: the </a:t>
            </a:r>
            <a:pPr algn="l" indent="0" marL="0">
              <a:buNone/>
            </a:pPr>
            <a:r>
              <a:rPr lang="ar-SA" altLang="en-US" sz="2100" dirty="0">
                <a:solidFill>
                  <a:srgbClr val="C6D2E6"/>
                </a:solidFill>
                <a:latin typeface="Amiri" pitchFamily="2" charset="-78"/>
                <a:ea typeface="Amiri" pitchFamily="2" charset="-78"/>
                <a:cs typeface="Amiri" pitchFamily="2" charset="-78"/>
              </a:rPr>
              <a:t>ة</a:t>
            </a:r>
            <a:pPr algn="l" indent="0" marL="0">
              <a:buNone/>
            </a:pPr>
            <a:r>
              <a:rPr lang="en-US" sz="1600" dirty="0">
                <a:solidFill>
                  <a:srgbClr val="C6D2E6"/>
                </a:solidFill>
                <a:latin typeface="Calibri" pitchFamily="34" charset="0"/>
                <a:cs typeface="Amiri" pitchFamily="2" charset="-78"/>
              </a:rPr>
              <a:t> rule and the first four people pairs.</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People · 8 pairs</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ar-SA" sz="1200" b="1" dirty="0">
                <a:solidFill>
                  <a:srgbClr val="FFFFFF"/>
                </a:solidFill>
                <a:latin typeface="Calibri" pitchFamily="34" charset="0"/>
                <a:ea typeface="Amiri" pitchFamily="2" charset="-78"/>
                <a:cs typeface="Amiri" pitchFamily="2" charset="-78"/>
              </a:rPr>
              <a:t>The ة clue + exceptions</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Adjectives · 10 pairs</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طَالِبٌ</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‎طالب علم‎ </a:t>
            </a:r>
            <a:pPr indent="0" marL="0">
              <a:buNone/>
            </a:pPr>
            <a:r>
              <a:rPr lang="en-US" sz="950" b="1" dirty="0">
                <a:solidFill>
                  <a:srgbClr val="2E8B57"/>
                </a:solidFill>
                <a:latin typeface="Calibri" pitchFamily="34" charset="0"/>
                <a:cs typeface="Amiri" pitchFamily="2" charset="-78"/>
              </a:rPr>
              <a:t> tālib-e-ilm · student</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مُعَلِّمٌ</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‎معلم‎ </a:t>
            </a:r>
            <a:pPr indent="0" marL="0">
              <a:buNone/>
            </a:pPr>
            <a:r>
              <a:rPr lang="en-US" sz="950" b="1" dirty="0">
                <a:solidFill>
                  <a:srgbClr val="2E8B57"/>
                </a:solidFill>
                <a:latin typeface="Calibri" pitchFamily="34" charset="0"/>
                <a:cs typeface="Amiri" pitchFamily="2" charset="-78"/>
              </a:rPr>
              <a:t> muallim · teacher</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جَدِيدٌ</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‎جدید‎ </a:t>
            </a:r>
            <a:pPr indent="0" marL="0">
              <a:buNone/>
            </a:pPr>
            <a:r>
              <a:rPr lang="en-US" sz="950" b="1" dirty="0">
                <a:solidFill>
                  <a:srgbClr val="2E8B57"/>
                </a:solidFill>
                <a:latin typeface="Calibri" pitchFamily="34" charset="0"/>
                <a:cs typeface="Amiri" pitchFamily="2" charset="-78"/>
              </a:rPr>
              <a:t> jadīd · modern, new</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قَدِيمٌ</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‎قدیم‎ </a:t>
            </a:r>
            <a:pPr indent="0" marL="0">
              <a:buNone/>
            </a:pPr>
            <a:r>
              <a:rPr lang="en-US" sz="950" b="1" dirty="0">
                <a:solidFill>
                  <a:srgbClr val="2E8B57"/>
                </a:solidFill>
                <a:latin typeface="Calibri" pitchFamily="34" charset="0"/>
                <a:cs typeface="Amiri" pitchFamily="2" charset="-78"/>
              </a:rPr>
              <a:t> qadīm · ancient, old</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طَوِيلٌ</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‎طویل‎ </a:t>
            </a:r>
            <a:pPr indent="0" marL="0">
              <a:buNone/>
            </a:pPr>
            <a:r>
              <a:rPr lang="en-US" sz="950" b="1" dirty="0">
                <a:solidFill>
                  <a:srgbClr val="2E8B57"/>
                </a:solidFill>
                <a:latin typeface="Calibri" pitchFamily="34" charset="0"/>
                <a:cs typeface="Amiri" pitchFamily="2" charset="-78"/>
              </a:rPr>
              <a:t> tawīl · long</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1 · PEOPLE · EIGHT MASCULINE/FEMININE PAIRS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People: masculine, feminine, plural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الأَشْخَاصُ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24458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a:t>
            </a:r>
            <a:endParaRPr lang="en-US" sz="1100" dirty="0"/>
          </a:p>
        </p:txBody>
      </p:sp>
      <p:sp>
        <p:nvSpPr>
          <p:cNvPr id="17" name="Text 14"/>
          <p:cNvSpPr txBox="1"/>
          <p:nvPr/>
        </p:nvSpPr>
        <p:spPr>
          <a:xfrm>
            <a:off x="668426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a:t>
            </a:r>
            <a:endParaRPr lang="en-US" sz="1100" dirty="0"/>
          </a:p>
        </p:txBody>
      </p:sp>
      <p:sp>
        <p:nvSpPr>
          <p:cNvPr id="18" name="Text 15"/>
          <p:cNvSpPr txBox="1"/>
          <p:nvPr/>
        </p:nvSpPr>
        <p:spPr>
          <a:xfrm>
            <a:off x="366674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Plural (reference)</a:t>
            </a:r>
            <a:endParaRPr lang="en-US" sz="1100" dirty="0"/>
          </a:p>
        </p:txBody>
      </p:sp>
      <p:sp>
        <p:nvSpPr>
          <p:cNvPr id="19" name="Text 16"/>
          <p:cNvSpPr txBox="1"/>
          <p:nvPr/>
        </p:nvSpPr>
        <p:spPr>
          <a:xfrm>
            <a:off x="530352" y="1810512"/>
            <a:ext cx="29900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20" name="Shape 17"/>
          <p:cNvSpPr/>
          <p:nvPr/>
        </p:nvSpPr>
        <p:spPr>
          <a:xfrm>
            <a:off x="457200" y="2267712"/>
            <a:ext cx="11274552" cy="457200"/>
          </a:xfrm>
          <a:prstGeom prst="roundRect">
            <a:avLst>
              <a:gd name="adj" fmla="val 10000"/>
            </a:avLst>
          </a:prstGeom>
          <a:solidFill>
            <a:srgbClr val="FFFFFF"/>
          </a:solidFill>
          <a:ln w="9525">
            <a:solidFill>
              <a:srgbClr val="D8D0BF"/>
            </a:solidFill>
            <a:prstDash val="solid"/>
          </a:ln>
        </p:spPr>
      </p:sp>
      <p:sp>
        <p:nvSpPr>
          <p:cNvPr id="21" name="Text 18"/>
          <p:cNvSpPr txBox="1"/>
          <p:nvPr/>
        </p:nvSpPr>
        <p:spPr>
          <a:xfrm>
            <a:off x="9262872" y="2267712"/>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طَالِبٌ</a:t>
            </a:r>
            <a:endParaRPr lang="ar-SA" sz="2100" dirty="0"/>
          </a:p>
        </p:txBody>
      </p:sp>
      <p:sp>
        <p:nvSpPr>
          <p:cNvPr id="22" name="Text 19"/>
          <p:cNvSpPr txBox="1"/>
          <p:nvPr/>
        </p:nvSpPr>
        <p:spPr>
          <a:xfrm>
            <a:off x="6702552" y="2267712"/>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طَالِبَ</a:t>
            </a:r>
            <a:pPr rtl="1" algn="ctr" indent="0" marL="0">
              <a:buNone/>
            </a:pPr>
            <a:r>
              <a:rPr lang="ar-SA" altLang="en-US" sz="2100" b="1" dirty="0">
                <a:solidFill>
                  <a:srgbClr val="D6336C"/>
                </a:solidFill>
                <a:latin typeface="Amiri" pitchFamily="2" charset="-78"/>
                <a:ea typeface="Amiri" pitchFamily="2" charset="-78"/>
                <a:cs typeface="Amiri" pitchFamily="2" charset="-78"/>
              </a:rPr>
              <a:t>ةٌ</a:t>
            </a:r>
            <a:endParaRPr lang="ar-SA" sz="2100" dirty="0"/>
          </a:p>
        </p:txBody>
      </p:sp>
      <p:sp>
        <p:nvSpPr>
          <p:cNvPr id="23" name="Text 20"/>
          <p:cNvSpPr txBox="1"/>
          <p:nvPr/>
        </p:nvSpPr>
        <p:spPr>
          <a:xfrm>
            <a:off x="3685032" y="2267712"/>
            <a:ext cx="2834640" cy="45720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طُلَّابٌ · طَالِبَاتٌ</a:t>
            </a:r>
            <a:endParaRPr lang="ar-SA" sz="2000" dirty="0"/>
          </a:p>
        </p:txBody>
      </p:sp>
      <p:sp>
        <p:nvSpPr>
          <p:cNvPr id="24" name="Text 21"/>
          <p:cNvSpPr txBox="1"/>
          <p:nvPr/>
        </p:nvSpPr>
        <p:spPr>
          <a:xfrm>
            <a:off x="566928" y="2267712"/>
            <a:ext cx="295351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student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79776"/>
            <a:ext cx="11274552" cy="457200"/>
          </a:xfrm>
          <a:prstGeom prst="roundRect">
            <a:avLst>
              <a:gd name="adj" fmla="val 10000"/>
            </a:avLst>
          </a:prstGeom>
          <a:solidFill>
            <a:srgbClr val="F4F1EA"/>
          </a:solidFill>
          <a:ln w="9525">
            <a:solidFill>
              <a:srgbClr val="D8D0BF"/>
            </a:solidFill>
            <a:prstDash val="solid"/>
          </a:ln>
        </p:spPr>
      </p:sp>
      <p:sp>
        <p:nvSpPr>
          <p:cNvPr id="28" name="Text 25"/>
          <p:cNvSpPr txBox="1"/>
          <p:nvPr/>
        </p:nvSpPr>
        <p:spPr>
          <a:xfrm>
            <a:off x="9262872" y="2779776"/>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مُعَلِّمٌ</a:t>
            </a:r>
            <a:endParaRPr lang="ar-SA" sz="2100" dirty="0"/>
          </a:p>
        </p:txBody>
      </p:sp>
      <p:sp>
        <p:nvSpPr>
          <p:cNvPr id="29" name="Text 26"/>
          <p:cNvSpPr txBox="1"/>
          <p:nvPr/>
        </p:nvSpPr>
        <p:spPr>
          <a:xfrm>
            <a:off x="6702552" y="2779776"/>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مُعَلِّمَ</a:t>
            </a:r>
            <a:pPr rtl="1" algn="ctr" indent="0" marL="0">
              <a:buNone/>
            </a:pPr>
            <a:r>
              <a:rPr lang="ar-SA" altLang="en-US" sz="2100" b="1" dirty="0">
                <a:solidFill>
                  <a:srgbClr val="D6336C"/>
                </a:solidFill>
                <a:latin typeface="Amiri" pitchFamily="2" charset="-78"/>
                <a:ea typeface="Amiri" pitchFamily="2" charset="-78"/>
                <a:cs typeface="Amiri" pitchFamily="2" charset="-78"/>
              </a:rPr>
              <a:t>ةٌ</a:t>
            </a:r>
            <a:endParaRPr lang="ar-SA" sz="2100" dirty="0"/>
          </a:p>
        </p:txBody>
      </p:sp>
      <p:sp>
        <p:nvSpPr>
          <p:cNvPr id="30" name="Text 27"/>
          <p:cNvSpPr txBox="1"/>
          <p:nvPr/>
        </p:nvSpPr>
        <p:spPr>
          <a:xfrm>
            <a:off x="3685032" y="2779776"/>
            <a:ext cx="2834640" cy="45720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مُعَلِّمُونَ · مُعَلِّمَاتٌ</a:t>
            </a:r>
            <a:endParaRPr lang="ar-SA" sz="2000" dirty="0"/>
          </a:p>
        </p:txBody>
      </p:sp>
      <p:sp>
        <p:nvSpPr>
          <p:cNvPr id="31" name="Text 28"/>
          <p:cNvSpPr txBox="1"/>
          <p:nvPr/>
        </p:nvSpPr>
        <p:spPr>
          <a:xfrm>
            <a:off x="566928" y="2779776"/>
            <a:ext cx="295351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teacher</a:t>
            </a:r>
            <a:endParaRPr lang="en-US" sz="1100" dirty="0"/>
          </a:p>
        </p:txBody>
      </p:sp>
      <p:sp>
        <p:nvSpPr>
          <p:cNvPr id="32" name="Shape 29"/>
          <p:cNvSpPr/>
          <p:nvPr/>
        </p:nvSpPr>
        <p:spPr>
          <a:xfrm>
            <a:off x="11091672" y="282549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82549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291840"/>
            <a:ext cx="11274552" cy="457200"/>
          </a:xfrm>
          <a:prstGeom prst="roundRect">
            <a:avLst>
              <a:gd name="adj" fmla="val 10000"/>
            </a:avLst>
          </a:prstGeom>
          <a:solidFill>
            <a:srgbClr val="FFFFFF"/>
          </a:solidFill>
          <a:ln w="9525">
            <a:solidFill>
              <a:srgbClr val="D8D0BF"/>
            </a:solidFill>
            <a:prstDash val="solid"/>
          </a:ln>
        </p:spPr>
      </p:sp>
      <p:sp>
        <p:nvSpPr>
          <p:cNvPr id="35" name="Text 32"/>
          <p:cNvSpPr txBox="1"/>
          <p:nvPr/>
        </p:nvSpPr>
        <p:spPr>
          <a:xfrm>
            <a:off x="9262872" y="3291840"/>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صَدِيقٌ</a:t>
            </a:r>
            <a:endParaRPr lang="ar-SA" sz="2100" dirty="0"/>
          </a:p>
        </p:txBody>
      </p:sp>
      <p:sp>
        <p:nvSpPr>
          <p:cNvPr id="36" name="Text 33"/>
          <p:cNvSpPr txBox="1"/>
          <p:nvPr/>
        </p:nvSpPr>
        <p:spPr>
          <a:xfrm>
            <a:off x="6702552" y="3291840"/>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صَدِيقَ</a:t>
            </a:r>
            <a:pPr rtl="1" algn="ctr" indent="0" marL="0">
              <a:buNone/>
            </a:pPr>
            <a:r>
              <a:rPr lang="ar-SA" altLang="en-US" sz="2100" b="1" dirty="0">
                <a:solidFill>
                  <a:srgbClr val="D6336C"/>
                </a:solidFill>
                <a:latin typeface="Amiri" pitchFamily="2" charset="-78"/>
                <a:ea typeface="Amiri" pitchFamily="2" charset="-78"/>
                <a:cs typeface="Amiri" pitchFamily="2" charset="-78"/>
              </a:rPr>
              <a:t>ةٌ</a:t>
            </a:r>
            <a:endParaRPr lang="ar-SA" sz="2100" dirty="0"/>
          </a:p>
        </p:txBody>
      </p:sp>
      <p:sp>
        <p:nvSpPr>
          <p:cNvPr id="37" name="Text 34"/>
          <p:cNvSpPr txBox="1"/>
          <p:nvPr/>
        </p:nvSpPr>
        <p:spPr>
          <a:xfrm>
            <a:off x="3685032" y="3291840"/>
            <a:ext cx="2834640" cy="45720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أَصْدِقَاءُ · صَدِيقَاتٌ</a:t>
            </a:r>
            <a:endParaRPr lang="ar-SA" sz="2000" dirty="0"/>
          </a:p>
        </p:txBody>
      </p:sp>
      <p:sp>
        <p:nvSpPr>
          <p:cNvPr id="38" name="Text 35"/>
          <p:cNvSpPr txBox="1"/>
          <p:nvPr/>
        </p:nvSpPr>
        <p:spPr>
          <a:xfrm>
            <a:off x="566928" y="3291840"/>
            <a:ext cx="295351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friend</a:t>
            </a:r>
            <a:endParaRPr lang="en-US" sz="1100" dirty="0"/>
          </a:p>
        </p:txBody>
      </p:sp>
      <p:sp>
        <p:nvSpPr>
          <p:cNvPr id="39" name="Shape 36"/>
          <p:cNvSpPr/>
          <p:nvPr/>
        </p:nvSpPr>
        <p:spPr>
          <a:xfrm>
            <a:off x="11091672" y="333756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33756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803904"/>
            <a:ext cx="11274552" cy="457200"/>
          </a:xfrm>
          <a:prstGeom prst="roundRect">
            <a:avLst>
              <a:gd name="adj" fmla="val 10000"/>
            </a:avLst>
          </a:prstGeom>
          <a:solidFill>
            <a:srgbClr val="F4F1EA"/>
          </a:solidFill>
          <a:ln w="9525">
            <a:solidFill>
              <a:srgbClr val="D8D0BF"/>
            </a:solidFill>
            <a:prstDash val="solid"/>
          </a:ln>
        </p:spPr>
      </p:sp>
      <p:sp>
        <p:nvSpPr>
          <p:cNvPr id="42" name="Text 39"/>
          <p:cNvSpPr txBox="1"/>
          <p:nvPr/>
        </p:nvSpPr>
        <p:spPr>
          <a:xfrm>
            <a:off x="9262872" y="3803904"/>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زَمِيلٌ</a:t>
            </a:r>
            <a:endParaRPr lang="ar-SA" sz="2100" dirty="0"/>
          </a:p>
        </p:txBody>
      </p:sp>
      <p:sp>
        <p:nvSpPr>
          <p:cNvPr id="43" name="Text 40"/>
          <p:cNvSpPr txBox="1"/>
          <p:nvPr/>
        </p:nvSpPr>
        <p:spPr>
          <a:xfrm>
            <a:off x="6702552" y="3803904"/>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زَمِيلَ</a:t>
            </a:r>
            <a:pPr rtl="1" algn="ctr" indent="0" marL="0">
              <a:buNone/>
            </a:pPr>
            <a:r>
              <a:rPr lang="ar-SA" altLang="en-US" sz="2100" b="1" dirty="0">
                <a:solidFill>
                  <a:srgbClr val="D6336C"/>
                </a:solidFill>
                <a:latin typeface="Amiri" pitchFamily="2" charset="-78"/>
                <a:ea typeface="Amiri" pitchFamily="2" charset="-78"/>
                <a:cs typeface="Amiri" pitchFamily="2" charset="-78"/>
              </a:rPr>
              <a:t>ةٌ</a:t>
            </a:r>
            <a:endParaRPr lang="ar-SA" sz="2100" dirty="0"/>
          </a:p>
        </p:txBody>
      </p:sp>
      <p:sp>
        <p:nvSpPr>
          <p:cNvPr id="44" name="Text 41"/>
          <p:cNvSpPr txBox="1"/>
          <p:nvPr/>
        </p:nvSpPr>
        <p:spPr>
          <a:xfrm>
            <a:off x="3685032" y="3803904"/>
            <a:ext cx="2834640" cy="45720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زُمَلَاءُ · زَمِيلَاتٌ</a:t>
            </a:r>
            <a:endParaRPr lang="ar-SA" sz="2000" dirty="0"/>
          </a:p>
        </p:txBody>
      </p:sp>
      <p:sp>
        <p:nvSpPr>
          <p:cNvPr id="45" name="Text 42"/>
          <p:cNvSpPr txBox="1"/>
          <p:nvPr/>
        </p:nvSpPr>
        <p:spPr>
          <a:xfrm>
            <a:off x="566928" y="3803904"/>
            <a:ext cx="295351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classmate / colleague</a:t>
            </a:r>
            <a:endParaRPr lang="en-US" sz="1100" dirty="0"/>
          </a:p>
        </p:txBody>
      </p:sp>
      <p:sp>
        <p:nvSpPr>
          <p:cNvPr id="46" name="Shape 43"/>
          <p:cNvSpPr/>
          <p:nvPr/>
        </p:nvSpPr>
        <p:spPr>
          <a:xfrm>
            <a:off x="11091672" y="384962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84962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315968"/>
            <a:ext cx="11274552" cy="457200"/>
          </a:xfrm>
          <a:prstGeom prst="roundRect">
            <a:avLst>
              <a:gd name="adj" fmla="val 10000"/>
            </a:avLst>
          </a:prstGeom>
          <a:solidFill>
            <a:srgbClr val="FFFFFF"/>
          </a:solidFill>
          <a:ln w="9525">
            <a:solidFill>
              <a:srgbClr val="D8D0BF"/>
            </a:solidFill>
            <a:prstDash val="solid"/>
          </a:ln>
        </p:spPr>
      </p:sp>
      <p:sp>
        <p:nvSpPr>
          <p:cNvPr id="49" name="Text 46"/>
          <p:cNvSpPr txBox="1"/>
          <p:nvPr/>
        </p:nvSpPr>
        <p:spPr>
          <a:xfrm>
            <a:off x="9262872" y="4315968"/>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طِفْلٌ</a:t>
            </a:r>
            <a:endParaRPr lang="ar-SA" sz="2100" dirty="0"/>
          </a:p>
        </p:txBody>
      </p:sp>
      <p:sp>
        <p:nvSpPr>
          <p:cNvPr id="50" name="Text 47"/>
          <p:cNvSpPr txBox="1"/>
          <p:nvPr/>
        </p:nvSpPr>
        <p:spPr>
          <a:xfrm>
            <a:off x="6702552" y="4315968"/>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طِفْلَ</a:t>
            </a:r>
            <a:pPr rtl="1" algn="ctr" indent="0" marL="0">
              <a:buNone/>
            </a:pPr>
            <a:r>
              <a:rPr lang="ar-SA" altLang="en-US" sz="2100" b="1" dirty="0">
                <a:solidFill>
                  <a:srgbClr val="D6336C"/>
                </a:solidFill>
                <a:latin typeface="Amiri" pitchFamily="2" charset="-78"/>
                <a:ea typeface="Amiri" pitchFamily="2" charset="-78"/>
                <a:cs typeface="Amiri" pitchFamily="2" charset="-78"/>
              </a:rPr>
              <a:t>ةٌ</a:t>
            </a:r>
            <a:endParaRPr lang="ar-SA" sz="2100" dirty="0"/>
          </a:p>
        </p:txBody>
      </p:sp>
      <p:sp>
        <p:nvSpPr>
          <p:cNvPr id="51" name="Text 48"/>
          <p:cNvSpPr txBox="1"/>
          <p:nvPr/>
        </p:nvSpPr>
        <p:spPr>
          <a:xfrm>
            <a:off x="3685032" y="4315968"/>
            <a:ext cx="2834640" cy="45720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أَطْفَالٌ</a:t>
            </a:r>
            <a:endParaRPr lang="ar-SA" sz="2000" dirty="0"/>
          </a:p>
        </p:txBody>
      </p:sp>
      <p:sp>
        <p:nvSpPr>
          <p:cNvPr id="52" name="Text 49"/>
          <p:cNvSpPr txBox="1"/>
          <p:nvPr/>
        </p:nvSpPr>
        <p:spPr>
          <a:xfrm>
            <a:off x="566928" y="4315968"/>
            <a:ext cx="295351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child</a:t>
            </a:r>
            <a:endParaRPr lang="en-US" sz="1100" dirty="0"/>
          </a:p>
        </p:txBody>
      </p:sp>
      <p:sp>
        <p:nvSpPr>
          <p:cNvPr id="53" name="Shape 50"/>
          <p:cNvSpPr/>
          <p:nvPr/>
        </p:nvSpPr>
        <p:spPr>
          <a:xfrm>
            <a:off x="457200" y="4828032"/>
            <a:ext cx="11274552" cy="457200"/>
          </a:xfrm>
          <a:prstGeom prst="roundRect">
            <a:avLst>
              <a:gd name="adj" fmla="val 10000"/>
            </a:avLst>
          </a:prstGeom>
          <a:solidFill>
            <a:srgbClr val="F4F1EA"/>
          </a:solidFill>
          <a:ln w="9525">
            <a:solidFill>
              <a:srgbClr val="D8D0BF"/>
            </a:solidFill>
            <a:prstDash val="solid"/>
          </a:ln>
        </p:spPr>
      </p:sp>
      <p:sp>
        <p:nvSpPr>
          <p:cNvPr id="54" name="Text 51"/>
          <p:cNvSpPr txBox="1"/>
          <p:nvPr/>
        </p:nvSpPr>
        <p:spPr>
          <a:xfrm>
            <a:off x="9262872" y="4828032"/>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وَلَدٌ</a:t>
            </a:r>
            <a:endParaRPr lang="ar-SA" sz="2100" dirty="0"/>
          </a:p>
        </p:txBody>
      </p:sp>
      <p:sp>
        <p:nvSpPr>
          <p:cNvPr id="55" name="Text 52"/>
          <p:cNvSpPr txBox="1"/>
          <p:nvPr/>
        </p:nvSpPr>
        <p:spPr>
          <a:xfrm>
            <a:off x="6702552" y="4828032"/>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بِنْتٌ</a:t>
            </a:r>
            <a:endParaRPr lang="ar-SA" sz="2100" dirty="0"/>
          </a:p>
        </p:txBody>
      </p:sp>
      <p:sp>
        <p:nvSpPr>
          <p:cNvPr id="56" name="Text 53"/>
          <p:cNvSpPr txBox="1"/>
          <p:nvPr/>
        </p:nvSpPr>
        <p:spPr>
          <a:xfrm>
            <a:off x="3685032" y="4828032"/>
            <a:ext cx="2834640" cy="45720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أَوْلَادٌ · بَنَاتٌ</a:t>
            </a:r>
            <a:endParaRPr lang="ar-SA" sz="2000" dirty="0"/>
          </a:p>
        </p:txBody>
      </p:sp>
      <p:sp>
        <p:nvSpPr>
          <p:cNvPr id="57" name="Text 54"/>
          <p:cNvSpPr txBox="1"/>
          <p:nvPr/>
        </p:nvSpPr>
        <p:spPr>
          <a:xfrm>
            <a:off x="566928" y="4828032"/>
            <a:ext cx="295351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boy / girl</a:t>
            </a:r>
            <a:endParaRPr lang="en-US" sz="1100" dirty="0"/>
          </a:p>
        </p:txBody>
      </p:sp>
      <p:sp>
        <p:nvSpPr>
          <p:cNvPr id="58" name="Shape 55"/>
          <p:cNvSpPr/>
          <p:nvPr/>
        </p:nvSpPr>
        <p:spPr>
          <a:xfrm>
            <a:off x="457200" y="5340096"/>
            <a:ext cx="11274552" cy="457200"/>
          </a:xfrm>
          <a:prstGeom prst="roundRect">
            <a:avLst>
              <a:gd name="adj" fmla="val 10000"/>
            </a:avLst>
          </a:prstGeom>
          <a:solidFill>
            <a:srgbClr val="FFFFFF"/>
          </a:solidFill>
          <a:ln w="9525">
            <a:solidFill>
              <a:srgbClr val="D8D0BF"/>
            </a:solidFill>
            <a:prstDash val="solid"/>
          </a:ln>
        </p:spPr>
      </p:sp>
      <p:sp>
        <p:nvSpPr>
          <p:cNvPr id="59" name="Text 56"/>
          <p:cNvSpPr txBox="1"/>
          <p:nvPr/>
        </p:nvSpPr>
        <p:spPr>
          <a:xfrm>
            <a:off x="9262872" y="5340096"/>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رَجُلٌ</a:t>
            </a:r>
            <a:endParaRPr lang="ar-SA" sz="2100" dirty="0"/>
          </a:p>
        </p:txBody>
      </p:sp>
      <p:sp>
        <p:nvSpPr>
          <p:cNvPr id="60" name="Text 57"/>
          <p:cNvSpPr txBox="1"/>
          <p:nvPr/>
        </p:nvSpPr>
        <p:spPr>
          <a:xfrm>
            <a:off x="6702552" y="5340096"/>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اِمْرَأَةٌ</a:t>
            </a:r>
            <a:endParaRPr lang="ar-SA" sz="2100" dirty="0"/>
          </a:p>
        </p:txBody>
      </p:sp>
      <p:sp>
        <p:nvSpPr>
          <p:cNvPr id="61" name="Text 58"/>
          <p:cNvSpPr txBox="1"/>
          <p:nvPr/>
        </p:nvSpPr>
        <p:spPr>
          <a:xfrm>
            <a:off x="3685032" y="5340096"/>
            <a:ext cx="2834640" cy="45720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رِجَالٌ · نِسَاءٌ</a:t>
            </a:r>
            <a:endParaRPr lang="ar-SA" sz="2000" dirty="0"/>
          </a:p>
        </p:txBody>
      </p:sp>
      <p:sp>
        <p:nvSpPr>
          <p:cNvPr id="62" name="Text 59"/>
          <p:cNvSpPr txBox="1"/>
          <p:nvPr/>
        </p:nvSpPr>
        <p:spPr>
          <a:xfrm>
            <a:off x="566928" y="5340096"/>
            <a:ext cx="295351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man / woman</a:t>
            </a:r>
            <a:endParaRPr lang="en-US" sz="1100" dirty="0"/>
          </a:p>
        </p:txBody>
      </p:sp>
      <p:sp>
        <p:nvSpPr>
          <p:cNvPr id="63" name="Shape 60"/>
          <p:cNvSpPr/>
          <p:nvPr/>
        </p:nvSpPr>
        <p:spPr>
          <a:xfrm>
            <a:off x="457200" y="5852160"/>
            <a:ext cx="11274552" cy="457200"/>
          </a:xfrm>
          <a:prstGeom prst="roundRect">
            <a:avLst>
              <a:gd name="adj" fmla="val 10000"/>
            </a:avLst>
          </a:prstGeom>
          <a:solidFill>
            <a:srgbClr val="F4F1EA"/>
          </a:solidFill>
          <a:ln w="9525">
            <a:solidFill>
              <a:srgbClr val="D8D0BF"/>
            </a:solidFill>
            <a:prstDash val="solid"/>
          </a:ln>
        </p:spPr>
      </p:sp>
      <p:sp>
        <p:nvSpPr>
          <p:cNvPr id="64" name="Text 61"/>
          <p:cNvSpPr txBox="1"/>
          <p:nvPr/>
        </p:nvSpPr>
        <p:spPr>
          <a:xfrm>
            <a:off x="9262872" y="5852160"/>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أَخٌ</a:t>
            </a:r>
            <a:endParaRPr lang="ar-SA" sz="2100" dirty="0"/>
          </a:p>
        </p:txBody>
      </p:sp>
      <p:sp>
        <p:nvSpPr>
          <p:cNvPr id="65" name="Text 62"/>
          <p:cNvSpPr txBox="1"/>
          <p:nvPr/>
        </p:nvSpPr>
        <p:spPr>
          <a:xfrm>
            <a:off x="6702552" y="5852160"/>
            <a:ext cx="2377440" cy="457200"/>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أُخْتٌ</a:t>
            </a:r>
            <a:endParaRPr lang="ar-SA" sz="2100" dirty="0"/>
          </a:p>
        </p:txBody>
      </p:sp>
      <p:sp>
        <p:nvSpPr>
          <p:cNvPr id="66" name="Text 63"/>
          <p:cNvSpPr txBox="1"/>
          <p:nvPr/>
        </p:nvSpPr>
        <p:spPr>
          <a:xfrm>
            <a:off x="3685032" y="5852160"/>
            <a:ext cx="2834640" cy="45720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إِخْوَةٌ · أَخَوَاتٌ</a:t>
            </a:r>
            <a:endParaRPr lang="ar-SA" sz="2000" dirty="0"/>
          </a:p>
        </p:txBody>
      </p:sp>
      <p:sp>
        <p:nvSpPr>
          <p:cNvPr id="67" name="Text 64"/>
          <p:cNvSpPr txBox="1"/>
          <p:nvPr/>
        </p:nvSpPr>
        <p:spPr>
          <a:xfrm>
            <a:off x="566928" y="5852160"/>
            <a:ext cx="2953512" cy="45720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brother / sister</a:t>
            </a:r>
            <a:endParaRPr lang="en-US" sz="110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2 · FIND THE GENDER CLUE IN THE NOUN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a:t>
            </a:r>
            <a:pPr algn="l" indent="0" marL="0">
              <a:buNone/>
            </a:pPr>
            <a:r>
              <a:rPr lang="ar-SA" altLang="en-US" sz="3650" b="1" dirty="0">
                <a:solidFill>
                  <a:srgbClr val="1B3B6F"/>
                </a:solidFill>
                <a:latin typeface="Amiri" pitchFamily="2" charset="-78"/>
                <a:ea typeface="Amiri" pitchFamily="2" charset="-78"/>
                <a:cs typeface="Amiri" pitchFamily="2" charset="-78"/>
              </a:rPr>
              <a:t>ة</a:t>
            </a:r>
            <a:pPr algn="l" indent="0" marL="0">
              <a:buNone/>
            </a:pPr>
            <a:r>
              <a:rPr lang="en-US" sz="2800" b="1" dirty="0">
                <a:solidFill>
                  <a:srgbClr val="1B3B6F"/>
                </a:solidFill>
                <a:latin typeface="Cambria" pitchFamily="34" charset="0"/>
                <a:cs typeface="Amiri" pitchFamily="2" charset="-78"/>
              </a:rPr>
              <a:t> clue — and its exceptions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التَّاءُ المَرْبُوطَةُ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0876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STRONG CLUE · CORE</a:t>
            </a:r>
            <a:endParaRPr lang="en-US" sz="850" dirty="0"/>
          </a:p>
        </p:txBody>
      </p:sp>
      <p:sp>
        <p:nvSpPr>
          <p:cNvPr id="18" name="Text 15"/>
          <p:cNvSpPr txBox="1"/>
          <p:nvPr/>
        </p:nvSpPr>
        <p:spPr>
          <a:xfrm>
            <a:off x="9787128"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ـة</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ea typeface="Amiri" pitchFamily="2" charset="-78"/>
                <a:cs typeface="Amiri" pitchFamily="2" charset="-78"/>
              </a:rPr>
              <a:t>طَالِبَةٌ · مُعَلِّمَةٌ · حَقِيبَةٌ · سَيَّارَةٌ</a:t>
            </a:r>
            <a:endParaRPr lang="ar-SA" sz="22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female student · female teacher · bag · car</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Most nouns ending in </a:t>
            </a:r>
            <a:pPr algn="l" indent="0" marL="0">
              <a:buNone/>
            </a:pPr>
            <a:r>
              <a:rPr lang="ar-SA" altLang="en-US" sz="1450" dirty="0">
                <a:solidFill>
                  <a:srgbClr val="1F2A37"/>
                </a:solidFill>
                <a:latin typeface="Amiri" pitchFamily="2" charset="-78"/>
                <a:ea typeface="Amiri" pitchFamily="2" charset="-78"/>
                <a:cs typeface="Amiri" pitchFamily="2" charset="-78"/>
              </a:rPr>
              <a:t>ة</a:t>
            </a:r>
            <a:pPr algn="l" indent="0" marL="0">
              <a:buNone/>
            </a:pPr>
            <a:r>
              <a:rPr lang="en-US" sz="1100" dirty="0">
                <a:solidFill>
                  <a:srgbClr val="1F2A37"/>
                </a:solidFill>
                <a:latin typeface="Calibri" pitchFamily="34" charset="0"/>
                <a:cs typeface="Amiri" pitchFamily="2" charset="-78"/>
              </a:rPr>
              <a:t> are feminine.</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NO ة · USE ACTIVELY</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أُمٌّ · بِنْتٌ · أُخْتٌ</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أُمٌّ · بِنْتٌ · أُخْتٌ</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mother · girl · sister</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Naturally feminine people: no </a:t>
            </a:r>
            <a:pPr algn="l" indent="0" marL="0">
              <a:buNone/>
            </a:pPr>
            <a:r>
              <a:rPr lang="ar-SA" altLang="en-US" sz="1450" dirty="0">
                <a:solidFill>
                  <a:srgbClr val="1F2A37"/>
                </a:solidFill>
                <a:latin typeface="Amiri" pitchFamily="2" charset="-78"/>
                <a:ea typeface="Amiri" pitchFamily="2" charset="-78"/>
                <a:cs typeface="Amiri" pitchFamily="2" charset="-78"/>
              </a:rPr>
              <a:t>ة</a:t>
            </a:r>
            <a:pPr algn="l" indent="0" marL="0">
              <a:buNone/>
            </a:pPr>
            <a:r>
              <a:rPr lang="en-US" sz="1100" dirty="0">
                <a:solidFill>
                  <a:srgbClr val="1F2A37"/>
                </a:solidFill>
                <a:latin typeface="Calibri" pitchFamily="34" charset="0"/>
                <a:cs typeface="Amiri" pitchFamily="2" charset="-78"/>
              </a:rPr>
              <a:t> needed.</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37160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371600" cy="274320"/>
          </a:xfrm>
          <a:prstGeom prst="rect">
            <a:avLst/>
          </a:prstGeom>
          <a:noFill/>
          <a:ln/>
        </p:spPr>
        <p:txBody>
          <a:bodyPr wrap="square" lIns="0" tIns="0" rIns="0" bIns="0" rtlCol="0" anchor="ctr"/>
          <a:lstStyle/>
          <a:p>
            <a:pPr algn="ctr" indent="0" marL="0">
              <a:buNone/>
            </a:pPr>
            <a:r>
              <a:rPr lang="ar-SA" sz="850" b="1" spc="100" kern="0" dirty="0">
                <a:solidFill>
                  <a:srgbClr val="FFFFFF"/>
                </a:solidFill>
                <a:latin typeface="Calibri" pitchFamily="34" charset="0"/>
                <a:ea typeface="Amiri" pitchFamily="2" charset="-78"/>
                <a:cs typeface="Amiri" pitchFamily="2" charset="-78"/>
              </a:rPr>
              <a:t>NO ة · RECOGNISE</a:t>
            </a:r>
            <a:endParaRPr lang="en-US" sz="850" dirty="0"/>
          </a:p>
        </p:txBody>
      </p:sp>
      <p:sp>
        <p:nvSpPr>
          <p:cNvPr id="34" name="Text 31"/>
          <p:cNvSpPr txBox="1"/>
          <p:nvPr/>
        </p:nvSpPr>
        <p:spPr>
          <a:xfrm>
            <a:off x="2011680"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شَمْسٌ · عَيْنٌ</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أَرْضٌ · شَمْسٌ · يَدٌ · عَيْنٌ</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earth · sun · hand · eye</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Feminine by convention — learn them.</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The ending is a clue, not the complete rule.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هَذِهِ شَمْسٌ</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هَذَا شَمْسٌ</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ADJECTIVES 1–5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Adjectives: add </a:t>
            </a:r>
            <a:pPr algn="l" indent="0" marL="0">
              <a:buNone/>
            </a:pPr>
            <a:r>
              <a:rPr lang="ar-SA" altLang="en-US" sz="3650" b="1" dirty="0">
                <a:solidFill>
                  <a:srgbClr val="1B3B6F"/>
                </a:solidFill>
                <a:latin typeface="Amiri" pitchFamily="2" charset="-78"/>
                <a:ea typeface="Amiri" pitchFamily="2" charset="-78"/>
                <a:cs typeface="Amiri" pitchFamily="2" charset="-78"/>
              </a:rPr>
              <a:t>ة</a:t>
            </a:r>
            <a:pPr algn="l" indent="0" marL="0">
              <a:buNone/>
            </a:pPr>
            <a:r>
              <a:rPr lang="en-US" sz="2800" b="1" dirty="0">
                <a:solidFill>
                  <a:srgbClr val="1B3B6F"/>
                </a:solidFill>
                <a:latin typeface="Cambria" pitchFamily="34" charset="0"/>
                <a:cs typeface="Amiri" pitchFamily="2" charset="-78"/>
              </a:rPr>
              <a:t> for feminine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الصِّفَاتُ (١)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a:t>
            </a:r>
            <a:endParaRPr lang="en-US" sz="1100" dirty="0"/>
          </a:p>
        </p:txBody>
      </p:sp>
      <p:sp>
        <p:nvSpPr>
          <p:cNvPr id="17" name="Text 14"/>
          <p:cNvSpPr txBox="1"/>
          <p:nvPr/>
        </p:nvSpPr>
        <p:spPr>
          <a:xfrm>
            <a:off x="686714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a:t>
            </a:r>
            <a:endParaRPr lang="en-US" sz="1100" dirty="0"/>
          </a:p>
        </p:txBody>
      </p:sp>
      <p:sp>
        <p:nvSpPr>
          <p:cNvPr id="18" name="Text 15"/>
          <p:cNvSpPr txBox="1"/>
          <p:nvPr/>
        </p:nvSpPr>
        <p:spPr>
          <a:xfrm>
            <a:off x="448970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9" name="Text 16"/>
          <p:cNvSpPr txBox="1"/>
          <p:nvPr/>
        </p:nvSpPr>
        <p:spPr>
          <a:xfrm>
            <a:off x="5303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example</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445752" y="2267712"/>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جَدِيدٌ</a:t>
            </a:r>
            <a:endParaRPr lang="ar-SA" sz="2600" dirty="0"/>
          </a:p>
        </p:txBody>
      </p:sp>
      <p:sp>
        <p:nvSpPr>
          <p:cNvPr id="22" name="Text 19"/>
          <p:cNvSpPr txBox="1"/>
          <p:nvPr/>
        </p:nvSpPr>
        <p:spPr>
          <a:xfrm>
            <a:off x="6885432" y="2267712"/>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جَدِيدَ</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23" name="Text 20"/>
          <p:cNvSpPr txBox="1"/>
          <p:nvPr/>
        </p:nvSpPr>
        <p:spPr>
          <a:xfrm>
            <a:off x="452628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new</a:t>
            </a:r>
            <a:endParaRPr lang="en-US" sz="1100" dirty="0"/>
          </a:p>
        </p:txBody>
      </p:sp>
      <p:sp>
        <p:nvSpPr>
          <p:cNvPr id="24" name="Text 21"/>
          <p:cNvSpPr txBox="1"/>
          <p:nvPr/>
        </p:nvSpPr>
        <p:spPr>
          <a:xfrm>
            <a:off x="548640" y="2267712"/>
            <a:ext cx="3776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طَالِبَةٌ جَدِيدَةٌ</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445752" y="3054096"/>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قَدِيمٌ</a:t>
            </a:r>
            <a:endParaRPr lang="ar-SA" sz="2600" dirty="0"/>
          </a:p>
        </p:txBody>
      </p:sp>
      <p:sp>
        <p:nvSpPr>
          <p:cNvPr id="29" name="Text 26"/>
          <p:cNvSpPr txBox="1"/>
          <p:nvPr/>
        </p:nvSpPr>
        <p:spPr>
          <a:xfrm>
            <a:off x="6885432" y="3054096"/>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قَدِيمَ</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30" name="Text 27"/>
          <p:cNvSpPr txBox="1"/>
          <p:nvPr/>
        </p:nvSpPr>
        <p:spPr>
          <a:xfrm>
            <a:off x="452628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old (things)</a:t>
            </a:r>
            <a:endParaRPr lang="en-US" sz="1100" dirty="0"/>
          </a:p>
        </p:txBody>
      </p:sp>
      <p:sp>
        <p:nvSpPr>
          <p:cNvPr id="31" name="Text 28"/>
          <p:cNvSpPr txBox="1"/>
          <p:nvPr/>
        </p:nvSpPr>
        <p:spPr>
          <a:xfrm>
            <a:off x="548640" y="3054096"/>
            <a:ext cx="3776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كِتَابٌ قَدِيمٌ</a:t>
            </a:r>
            <a:endParaRPr lang="ar-SA" sz="20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445752" y="3840480"/>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كَبِيرٌ</a:t>
            </a:r>
            <a:endParaRPr lang="ar-SA" sz="2600" dirty="0"/>
          </a:p>
        </p:txBody>
      </p:sp>
      <p:sp>
        <p:nvSpPr>
          <p:cNvPr id="36" name="Text 33"/>
          <p:cNvSpPr txBox="1"/>
          <p:nvPr/>
        </p:nvSpPr>
        <p:spPr>
          <a:xfrm>
            <a:off x="6885432" y="3840480"/>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كَبِيرَ</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37" name="Text 34"/>
          <p:cNvSpPr txBox="1"/>
          <p:nvPr/>
        </p:nvSpPr>
        <p:spPr>
          <a:xfrm>
            <a:off x="452628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big / older</a:t>
            </a:r>
            <a:endParaRPr lang="en-US" sz="1100" dirty="0"/>
          </a:p>
        </p:txBody>
      </p:sp>
      <p:sp>
        <p:nvSpPr>
          <p:cNvPr id="38" name="Text 35"/>
          <p:cNvSpPr txBox="1"/>
          <p:nvPr/>
        </p:nvSpPr>
        <p:spPr>
          <a:xfrm>
            <a:off x="548640" y="3840480"/>
            <a:ext cx="3776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أَخٌ كَبِيرٌ</a:t>
            </a:r>
            <a:endParaRPr lang="ar-SA" sz="20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9445752" y="4626864"/>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صَغِيرٌ</a:t>
            </a:r>
            <a:endParaRPr lang="ar-SA" sz="2600" dirty="0"/>
          </a:p>
        </p:txBody>
      </p:sp>
      <p:sp>
        <p:nvSpPr>
          <p:cNvPr id="43" name="Text 40"/>
          <p:cNvSpPr txBox="1"/>
          <p:nvPr/>
        </p:nvSpPr>
        <p:spPr>
          <a:xfrm>
            <a:off x="6885432" y="4626864"/>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صَغِيرَ</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44" name="Text 41"/>
          <p:cNvSpPr txBox="1"/>
          <p:nvPr/>
        </p:nvSpPr>
        <p:spPr>
          <a:xfrm>
            <a:off x="4526280"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small / young</a:t>
            </a:r>
            <a:endParaRPr lang="en-US" sz="1100" dirty="0"/>
          </a:p>
        </p:txBody>
      </p:sp>
      <p:sp>
        <p:nvSpPr>
          <p:cNvPr id="45" name="Text 42"/>
          <p:cNvSpPr txBox="1"/>
          <p:nvPr/>
        </p:nvSpPr>
        <p:spPr>
          <a:xfrm>
            <a:off x="548640" y="4626864"/>
            <a:ext cx="3776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طِفْلَةٌ صَغِيرَةٌ</a:t>
            </a:r>
            <a:endParaRPr lang="ar-SA" sz="2000" dirty="0"/>
          </a:p>
        </p:txBody>
      </p:sp>
      <p:sp>
        <p:nvSpPr>
          <p:cNvPr id="46" name="Shape 43"/>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7" name="Text 44"/>
          <p:cNvSpPr txBox="1"/>
          <p:nvPr/>
        </p:nvSpPr>
        <p:spPr>
          <a:xfrm>
            <a:off x="9445752" y="5413248"/>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جَمِيلٌ</a:t>
            </a:r>
            <a:endParaRPr lang="ar-SA" sz="2600" dirty="0"/>
          </a:p>
        </p:txBody>
      </p:sp>
      <p:sp>
        <p:nvSpPr>
          <p:cNvPr id="48" name="Text 45"/>
          <p:cNvSpPr txBox="1"/>
          <p:nvPr/>
        </p:nvSpPr>
        <p:spPr>
          <a:xfrm>
            <a:off x="6885432" y="5413248"/>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جَمِيلَ</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49" name="Text 46"/>
          <p:cNvSpPr txBox="1"/>
          <p:nvPr/>
        </p:nvSpPr>
        <p:spPr>
          <a:xfrm>
            <a:off x="4526280" y="5413248"/>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beautiful</a:t>
            </a:r>
            <a:endParaRPr lang="en-US" sz="1100" dirty="0"/>
          </a:p>
        </p:txBody>
      </p:sp>
      <p:sp>
        <p:nvSpPr>
          <p:cNvPr id="50" name="Text 47"/>
          <p:cNvSpPr txBox="1"/>
          <p:nvPr/>
        </p:nvSpPr>
        <p:spPr>
          <a:xfrm>
            <a:off x="548640" y="5413248"/>
            <a:ext cx="3776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حَقِيبَةٌ جَمِيلَةٌ</a:t>
            </a:r>
            <a:endParaRPr lang="ar-SA" sz="200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ADJECTIVES 6–10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Five more matching pairs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الصِّفَاتُ (٢)</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a:t>
            </a:r>
            <a:endParaRPr lang="en-US" sz="1100" dirty="0"/>
          </a:p>
        </p:txBody>
      </p:sp>
      <p:sp>
        <p:nvSpPr>
          <p:cNvPr id="17" name="Text 14"/>
          <p:cNvSpPr txBox="1"/>
          <p:nvPr/>
        </p:nvSpPr>
        <p:spPr>
          <a:xfrm>
            <a:off x="686714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a:t>
            </a:r>
            <a:endParaRPr lang="en-US" sz="1100" dirty="0"/>
          </a:p>
        </p:txBody>
      </p:sp>
      <p:sp>
        <p:nvSpPr>
          <p:cNvPr id="18" name="Text 15"/>
          <p:cNvSpPr txBox="1"/>
          <p:nvPr/>
        </p:nvSpPr>
        <p:spPr>
          <a:xfrm>
            <a:off x="448970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9" name="Text 16"/>
          <p:cNvSpPr txBox="1"/>
          <p:nvPr/>
        </p:nvSpPr>
        <p:spPr>
          <a:xfrm>
            <a:off x="5303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Website example</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445752" y="2267712"/>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ذَكِيٌّ</a:t>
            </a:r>
            <a:endParaRPr lang="ar-SA" sz="2600" dirty="0"/>
          </a:p>
        </p:txBody>
      </p:sp>
      <p:sp>
        <p:nvSpPr>
          <p:cNvPr id="22" name="Text 19"/>
          <p:cNvSpPr txBox="1"/>
          <p:nvPr/>
        </p:nvSpPr>
        <p:spPr>
          <a:xfrm>
            <a:off x="6885432" y="2267712"/>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ذَكِيَّ</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23" name="Text 20"/>
          <p:cNvSpPr txBox="1"/>
          <p:nvPr/>
        </p:nvSpPr>
        <p:spPr>
          <a:xfrm>
            <a:off x="452628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clever</a:t>
            </a:r>
            <a:endParaRPr lang="en-US" sz="1100" dirty="0"/>
          </a:p>
        </p:txBody>
      </p:sp>
      <p:sp>
        <p:nvSpPr>
          <p:cNvPr id="24" name="Text 21"/>
          <p:cNvSpPr txBox="1"/>
          <p:nvPr/>
        </p:nvSpPr>
        <p:spPr>
          <a:xfrm>
            <a:off x="548640" y="2267712"/>
            <a:ext cx="3776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هِيَ ذَكِيَّةٌ</a:t>
            </a:r>
            <a:endParaRPr lang="ar-SA" sz="20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445752" y="3054096"/>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لَطِيفٌ</a:t>
            </a:r>
            <a:endParaRPr lang="ar-SA" sz="2600" dirty="0"/>
          </a:p>
        </p:txBody>
      </p:sp>
      <p:sp>
        <p:nvSpPr>
          <p:cNvPr id="29" name="Text 26"/>
          <p:cNvSpPr txBox="1"/>
          <p:nvPr/>
        </p:nvSpPr>
        <p:spPr>
          <a:xfrm>
            <a:off x="6885432" y="3054096"/>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لَطِيفَ</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30" name="Text 27"/>
          <p:cNvSpPr txBox="1"/>
          <p:nvPr/>
        </p:nvSpPr>
        <p:spPr>
          <a:xfrm>
            <a:off x="452628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kind / pleasant</a:t>
            </a:r>
            <a:endParaRPr lang="en-US" sz="1100" dirty="0"/>
          </a:p>
        </p:txBody>
      </p:sp>
      <p:sp>
        <p:nvSpPr>
          <p:cNvPr id="31" name="Text 28"/>
          <p:cNvSpPr txBox="1"/>
          <p:nvPr/>
        </p:nvSpPr>
        <p:spPr>
          <a:xfrm>
            <a:off x="548640" y="3054096"/>
            <a:ext cx="3776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زَمِيلٌ لَطِيفٌ</a:t>
            </a:r>
            <a:endParaRPr lang="ar-SA" sz="20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445752" y="3840480"/>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طَوِيلٌ</a:t>
            </a:r>
            <a:endParaRPr lang="ar-SA" sz="2600" dirty="0"/>
          </a:p>
        </p:txBody>
      </p:sp>
      <p:sp>
        <p:nvSpPr>
          <p:cNvPr id="36" name="Text 33"/>
          <p:cNvSpPr txBox="1"/>
          <p:nvPr/>
        </p:nvSpPr>
        <p:spPr>
          <a:xfrm>
            <a:off x="6885432" y="3840480"/>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طَوِيلَ</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37" name="Text 34"/>
          <p:cNvSpPr txBox="1"/>
          <p:nvPr/>
        </p:nvSpPr>
        <p:spPr>
          <a:xfrm>
            <a:off x="452628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tall / long</a:t>
            </a:r>
            <a:endParaRPr lang="en-US" sz="1100" dirty="0"/>
          </a:p>
        </p:txBody>
      </p:sp>
      <p:sp>
        <p:nvSpPr>
          <p:cNvPr id="38" name="Text 35"/>
          <p:cNvSpPr txBox="1"/>
          <p:nvPr/>
        </p:nvSpPr>
        <p:spPr>
          <a:xfrm>
            <a:off x="548640" y="3840480"/>
            <a:ext cx="3776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أَخٌ طَوِيلٌ</a:t>
            </a:r>
            <a:endParaRPr lang="ar-SA" sz="20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9445752" y="4626864"/>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قَصِيرٌ</a:t>
            </a:r>
            <a:endParaRPr lang="ar-SA" sz="2600" dirty="0"/>
          </a:p>
        </p:txBody>
      </p:sp>
      <p:sp>
        <p:nvSpPr>
          <p:cNvPr id="41" name="Text 38"/>
          <p:cNvSpPr txBox="1"/>
          <p:nvPr/>
        </p:nvSpPr>
        <p:spPr>
          <a:xfrm>
            <a:off x="6885432" y="4626864"/>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قَصِيرَ</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42" name="Text 39"/>
          <p:cNvSpPr txBox="1"/>
          <p:nvPr/>
        </p:nvSpPr>
        <p:spPr>
          <a:xfrm>
            <a:off x="4526280"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short</a:t>
            </a:r>
            <a:endParaRPr lang="en-US" sz="1100" dirty="0"/>
          </a:p>
        </p:txBody>
      </p:sp>
      <p:sp>
        <p:nvSpPr>
          <p:cNvPr id="43" name="Text 40"/>
          <p:cNvSpPr txBox="1"/>
          <p:nvPr/>
        </p:nvSpPr>
        <p:spPr>
          <a:xfrm>
            <a:off x="548640" y="4626864"/>
            <a:ext cx="3776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أُخْتٌ قَصِيرَةٌ</a:t>
            </a:r>
            <a:endParaRPr lang="ar-SA" sz="2000" dirty="0"/>
          </a:p>
        </p:txBody>
      </p:sp>
      <p:sp>
        <p:nvSpPr>
          <p:cNvPr id="44" name="Shape 41"/>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5" name="Text 42"/>
          <p:cNvSpPr txBox="1"/>
          <p:nvPr/>
        </p:nvSpPr>
        <p:spPr>
          <a:xfrm>
            <a:off x="9445752" y="5413248"/>
            <a:ext cx="219456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سَعِيدٌ</a:t>
            </a:r>
            <a:endParaRPr lang="ar-SA" sz="2600" dirty="0"/>
          </a:p>
        </p:txBody>
      </p:sp>
      <p:sp>
        <p:nvSpPr>
          <p:cNvPr id="46" name="Text 43"/>
          <p:cNvSpPr txBox="1"/>
          <p:nvPr/>
        </p:nvSpPr>
        <p:spPr>
          <a:xfrm>
            <a:off x="6885432" y="5413248"/>
            <a:ext cx="2377440" cy="73152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سَعِيدَ</a:t>
            </a:r>
            <a:pPr rtl="1" algn="ctr" indent="0" marL="0">
              <a:buNone/>
            </a:pPr>
            <a:r>
              <a:rPr lang="ar-SA" altLang="en-US" sz="2600" b="1" dirty="0">
                <a:solidFill>
                  <a:srgbClr val="D6336C"/>
                </a:solidFill>
                <a:latin typeface="Amiri" pitchFamily="2" charset="-78"/>
                <a:ea typeface="Amiri" pitchFamily="2" charset="-78"/>
                <a:cs typeface="Amiri" pitchFamily="2" charset="-78"/>
              </a:rPr>
              <a:t>ةٌ</a:t>
            </a:r>
            <a:endParaRPr lang="ar-SA" sz="2600" dirty="0"/>
          </a:p>
        </p:txBody>
      </p:sp>
      <p:sp>
        <p:nvSpPr>
          <p:cNvPr id="47" name="Text 44"/>
          <p:cNvSpPr txBox="1"/>
          <p:nvPr/>
        </p:nvSpPr>
        <p:spPr>
          <a:xfrm>
            <a:off x="4526280" y="5413248"/>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happy</a:t>
            </a:r>
            <a:endParaRPr lang="en-US" sz="1100" dirty="0"/>
          </a:p>
        </p:txBody>
      </p:sp>
      <p:sp>
        <p:nvSpPr>
          <p:cNvPr id="48" name="Text 45"/>
          <p:cNvSpPr txBox="1"/>
          <p:nvPr/>
        </p:nvSpPr>
        <p:spPr>
          <a:xfrm>
            <a:off x="548640" y="5413248"/>
            <a:ext cx="37764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اِمْرَأَةٌ سَعِيدَةٌ</a:t>
            </a:r>
            <a:endParaRPr lang="ar-SA" sz="20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THE ADJECTIVE FOLLOWS AND MATCHES THE NOUN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Two decisions: gender, then match</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الصِّفَةُ بَعْدَ الاِسْمِ وَهِيَ تُطَابِقُهُ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Text 12"/>
          <p:cNvSpPr txBox="1"/>
          <p:nvPr/>
        </p:nvSpPr>
        <p:spPr>
          <a:xfrm>
            <a:off x="457200" y="1828800"/>
            <a:ext cx="3017520" cy="566928"/>
          </a:xfrm>
          <a:prstGeom prst="rect">
            <a:avLst/>
          </a:prstGeom>
          <a:noFill/>
          <a:ln/>
        </p:spPr>
        <p:txBody>
          <a:bodyPr wrap="square" lIns="0" tIns="0" rIns="0" bIns="0" rtlCol="0" anchor="ctr"/>
          <a:lstStyle/>
          <a:p>
            <a:pPr algn="l" indent="0" marL="0">
              <a:buNone/>
            </a:pPr>
            <a:r>
              <a:rPr lang="en-US" sz="1100" b="1" dirty="0">
                <a:solidFill>
                  <a:srgbClr val="5A6472"/>
                </a:solidFill>
                <a:latin typeface="Calibri" pitchFamily="34" charset="0"/>
                <a:cs typeface="Amiri" pitchFamily="2" charset="-78"/>
              </a:rPr>
              <a:t>English meaning</a:t>
            </a:r>
            <a:endParaRPr lang="en-US" sz="1100" dirty="0"/>
          </a:p>
        </p:txBody>
      </p:sp>
      <p:sp>
        <p:nvSpPr>
          <p:cNvPr id="16" name="Shape 13"/>
          <p:cNvSpPr/>
          <p:nvPr/>
        </p:nvSpPr>
        <p:spPr>
          <a:xfrm>
            <a:off x="9089136" y="1810512"/>
            <a:ext cx="2642616" cy="566928"/>
          </a:xfrm>
          <a:prstGeom prst="roundRect">
            <a:avLst>
              <a:gd name="adj" fmla="val 9677"/>
            </a:avLst>
          </a:prstGeom>
          <a:solidFill>
            <a:srgbClr val="1D5FBF"/>
          </a:solidFill>
          <a:ln w="12700">
            <a:solidFill>
              <a:srgbClr val="1D5FBF"/>
            </a:solidFill>
            <a:prstDash val="solid"/>
          </a:ln>
        </p:spPr>
      </p:sp>
      <p:sp>
        <p:nvSpPr>
          <p:cNvPr id="17" name="Text 14"/>
          <p:cNvSpPr txBox="1"/>
          <p:nvPr/>
        </p:nvSpPr>
        <p:spPr>
          <a:xfrm>
            <a:off x="9089136"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هَذَا / هَذِهِ</a:t>
            </a:r>
            <a:endParaRPr lang="ar-SA" sz="1850" dirty="0"/>
          </a:p>
        </p:txBody>
      </p:sp>
      <p:sp>
        <p:nvSpPr>
          <p:cNvPr id="18" name="Text 15"/>
          <p:cNvSpPr txBox="1"/>
          <p:nvPr/>
        </p:nvSpPr>
        <p:spPr>
          <a:xfrm>
            <a:off x="9089136"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this (m. / f.)</a:t>
            </a:r>
            <a:endParaRPr lang="en-US" sz="900" dirty="0"/>
          </a:p>
        </p:txBody>
      </p:sp>
      <p:sp>
        <p:nvSpPr>
          <p:cNvPr id="19" name="Shape 16"/>
          <p:cNvSpPr/>
          <p:nvPr/>
        </p:nvSpPr>
        <p:spPr>
          <a:xfrm>
            <a:off x="6336792" y="1810512"/>
            <a:ext cx="2642616" cy="566928"/>
          </a:xfrm>
          <a:prstGeom prst="roundRect">
            <a:avLst>
              <a:gd name="adj" fmla="val 9677"/>
            </a:avLst>
          </a:prstGeom>
          <a:solidFill>
            <a:srgbClr val="6B4C9A"/>
          </a:solidFill>
          <a:ln w="12700">
            <a:solidFill>
              <a:srgbClr val="6B4C9A"/>
            </a:solidFill>
            <a:prstDash val="solid"/>
          </a:ln>
        </p:spPr>
      </p:sp>
      <p:sp>
        <p:nvSpPr>
          <p:cNvPr id="20" name="Text 17"/>
          <p:cNvSpPr txBox="1"/>
          <p:nvPr/>
        </p:nvSpPr>
        <p:spPr>
          <a:xfrm>
            <a:off x="6336792"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الاِسْمُ</a:t>
            </a:r>
            <a:endParaRPr lang="ar-SA" sz="1850" dirty="0"/>
          </a:p>
        </p:txBody>
      </p:sp>
      <p:sp>
        <p:nvSpPr>
          <p:cNvPr id="21" name="Text 18"/>
          <p:cNvSpPr txBox="1"/>
          <p:nvPr/>
        </p:nvSpPr>
        <p:spPr>
          <a:xfrm>
            <a:off x="6336792"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1 · the noun (decide the gender)</a:t>
            </a:r>
            <a:endParaRPr lang="en-US" sz="900" dirty="0"/>
          </a:p>
        </p:txBody>
      </p:sp>
      <p:sp>
        <p:nvSpPr>
          <p:cNvPr id="22" name="Shape 19"/>
          <p:cNvSpPr/>
          <p:nvPr/>
        </p:nvSpPr>
        <p:spPr>
          <a:xfrm>
            <a:off x="3584448" y="1810512"/>
            <a:ext cx="2642616" cy="566928"/>
          </a:xfrm>
          <a:prstGeom prst="roundRect">
            <a:avLst>
              <a:gd name="adj" fmla="val 9677"/>
            </a:avLst>
          </a:prstGeom>
          <a:solidFill>
            <a:srgbClr val="D6336C"/>
          </a:solidFill>
          <a:ln w="12700">
            <a:solidFill>
              <a:srgbClr val="D6336C"/>
            </a:solidFill>
            <a:prstDash val="solid"/>
          </a:ln>
        </p:spPr>
      </p:sp>
      <p:sp>
        <p:nvSpPr>
          <p:cNvPr id="23" name="Text 20"/>
          <p:cNvSpPr txBox="1"/>
          <p:nvPr/>
        </p:nvSpPr>
        <p:spPr>
          <a:xfrm>
            <a:off x="3584448" y="1792224"/>
            <a:ext cx="2642616" cy="402336"/>
          </a:xfrm>
          <a:prstGeom prst="rect">
            <a:avLst/>
          </a:prstGeom>
          <a:noFill/>
          <a:ln/>
        </p:spPr>
        <p:txBody>
          <a:bodyPr wrap="square" lIns="0" tIns="0" rIns="0" bIns="0" rtlCol="0" anchor="ctr"/>
          <a:lstStyle/>
          <a:p>
            <a:pPr rtl="1" algn="ctr" indent="0" marL="0">
              <a:buNone/>
            </a:pPr>
            <a:r>
              <a:rPr lang="ar-SA" altLang="en-US" sz="1850" b="1" dirty="0">
                <a:solidFill>
                  <a:srgbClr val="FFFFFF"/>
                </a:solidFill>
                <a:latin typeface="Amiri" pitchFamily="2" charset="-78"/>
                <a:ea typeface="Amiri" pitchFamily="2" charset="-78"/>
                <a:cs typeface="Amiri" pitchFamily="2" charset="-78"/>
              </a:rPr>
              <a:t>الصِّفَةُ</a:t>
            </a:r>
            <a:endParaRPr lang="ar-SA" sz="1850" dirty="0"/>
          </a:p>
        </p:txBody>
      </p:sp>
      <p:sp>
        <p:nvSpPr>
          <p:cNvPr id="24" name="Text 21"/>
          <p:cNvSpPr txBox="1"/>
          <p:nvPr/>
        </p:nvSpPr>
        <p:spPr>
          <a:xfrm>
            <a:off x="3584448" y="2157984"/>
            <a:ext cx="2642616" cy="201168"/>
          </a:xfrm>
          <a:prstGeom prst="rect">
            <a:avLst/>
          </a:prstGeom>
          <a:noFill/>
          <a:ln/>
        </p:spPr>
        <p:txBody>
          <a:bodyPr wrap="square" lIns="0" tIns="0" rIns="0" bIns="0" rtlCol="0" anchor="ctr"/>
          <a:lstStyle/>
          <a:p>
            <a:pPr algn="ctr" indent="0" marL="0">
              <a:buNone/>
            </a:pPr>
            <a:r>
              <a:rPr lang="en-US" sz="900" i="1" dirty="0">
                <a:solidFill>
                  <a:srgbClr val="EEF1F6"/>
                </a:solidFill>
                <a:latin typeface="Calibri" pitchFamily="34" charset="0"/>
                <a:cs typeface="Amiri" pitchFamily="2" charset="-78"/>
              </a:rPr>
              <a:t>2 · the adjective (same gender)</a:t>
            </a:r>
            <a:endParaRPr lang="en-US" sz="900" dirty="0"/>
          </a:p>
        </p:txBody>
      </p:sp>
      <p:sp>
        <p:nvSpPr>
          <p:cNvPr id="25" name="Text 22"/>
          <p:cNvSpPr txBox="1"/>
          <p:nvPr/>
        </p:nvSpPr>
        <p:spPr>
          <a:xfrm>
            <a:off x="457200" y="2487168"/>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This is a new male student.</a:t>
            </a:r>
            <a:endParaRPr lang="en-US" sz="1200" dirty="0"/>
          </a:p>
        </p:txBody>
      </p:sp>
      <p:sp>
        <p:nvSpPr>
          <p:cNvPr id="26" name="Shape 23"/>
          <p:cNvSpPr/>
          <p:nvPr/>
        </p:nvSpPr>
        <p:spPr>
          <a:xfrm>
            <a:off x="9089136" y="2487168"/>
            <a:ext cx="2642616" cy="768096"/>
          </a:xfrm>
          <a:prstGeom prst="roundRect">
            <a:avLst>
              <a:gd name="adj" fmla="val 7143"/>
            </a:avLst>
          </a:prstGeom>
          <a:solidFill>
            <a:srgbClr val="EEF3FA"/>
          </a:solidFill>
          <a:ln w="9525">
            <a:solidFill>
              <a:srgbClr val="EEF3FA"/>
            </a:solidFill>
            <a:prstDash val="solid"/>
          </a:ln>
        </p:spPr>
      </p:sp>
      <p:sp>
        <p:nvSpPr>
          <p:cNvPr id="27" name="Text 24"/>
          <p:cNvSpPr txBox="1"/>
          <p:nvPr/>
        </p:nvSpPr>
        <p:spPr>
          <a:xfrm>
            <a:off x="9162288"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هَذَا</a:t>
            </a:r>
            <a:endParaRPr lang="ar-SA" sz="2400" dirty="0"/>
          </a:p>
        </p:txBody>
      </p:sp>
      <p:sp>
        <p:nvSpPr>
          <p:cNvPr id="28" name="Shape 25"/>
          <p:cNvSpPr/>
          <p:nvPr/>
        </p:nvSpPr>
        <p:spPr>
          <a:xfrm>
            <a:off x="6336792" y="2487168"/>
            <a:ext cx="2642616" cy="768096"/>
          </a:xfrm>
          <a:prstGeom prst="roundRect">
            <a:avLst>
              <a:gd name="adj" fmla="val 7143"/>
            </a:avLst>
          </a:prstGeom>
          <a:solidFill>
            <a:srgbClr val="F1ECF7"/>
          </a:solidFill>
          <a:ln w="9525">
            <a:solidFill>
              <a:srgbClr val="F1ECF7"/>
            </a:solidFill>
            <a:prstDash val="solid"/>
          </a:ln>
        </p:spPr>
      </p:sp>
      <p:sp>
        <p:nvSpPr>
          <p:cNvPr id="29" name="Text 26"/>
          <p:cNvSpPr txBox="1"/>
          <p:nvPr/>
        </p:nvSpPr>
        <p:spPr>
          <a:xfrm>
            <a:off x="6409944"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طَالِبٌ</a:t>
            </a:r>
            <a:endParaRPr lang="ar-SA" sz="2400" dirty="0"/>
          </a:p>
        </p:txBody>
      </p:sp>
      <p:sp>
        <p:nvSpPr>
          <p:cNvPr id="30" name="Shape 27"/>
          <p:cNvSpPr/>
          <p:nvPr/>
        </p:nvSpPr>
        <p:spPr>
          <a:xfrm>
            <a:off x="3584448" y="2487168"/>
            <a:ext cx="2642616" cy="768096"/>
          </a:xfrm>
          <a:prstGeom prst="roundRect">
            <a:avLst>
              <a:gd name="adj" fmla="val 7143"/>
            </a:avLst>
          </a:prstGeom>
          <a:solidFill>
            <a:srgbClr val="FBEAEA"/>
          </a:solidFill>
          <a:ln w="9525">
            <a:solidFill>
              <a:srgbClr val="FBEAEA"/>
            </a:solidFill>
            <a:prstDash val="solid"/>
          </a:ln>
        </p:spPr>
      </p:sp>
      <p:sp>
        <p:nvSpPr>
          <p:cNvPr id="31" name="Text 28"/>
          <p:cNvSpPr txBox="1"/>
          <p:nvPr/>
        </p:nvSpPr>
        <p:spPr>
          <a:xfrm>
            <a:off x="3657600" y="2487168"/>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جَدِيدٌ.</a:t>
            </a:r>
            <a:endParaRPr lang="ar-SA" sz="2400" dirty="0"/>
          </a:p>
        </p:txBody>
      </p:sp>
      <p:sp>
        <p:nvSpPr>
          <p:cNvPr id="32" name="Text 29"/>
          <p:cNvSpPr txBox="1"/>
          <p:nvPr/>
        </p:nvSpPr>
        <p:spPr>
          <a:xfrm>
            <a:off x="457200" y="3364992"/>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This is a new female student.</a:t>
            </a:r>
            <a:endParaRPr lang="en-US" sz="1200" dirty="0"/>
          </a:p>
        </p:txBody>
      </p:sp>
      <p:sp>
        <p:nvSpPr>
          <p:cNvPr id="33" name="Shape 30"/>
          <p:cNvSpPr/>
          <p:nvPr/>
        </p:nvSpPr>
        <p:spPr>
          <a:xfrm>
            <a:off x="9089136" y="3364992"/>
            <a:ext cx="2642616" cy="768096"/>
          </a:xfrm>
          <a:prstGeom prst="roundRect">
            <a:avLst>
              <a:gd name="adj" fmla="val 7143"/>
            </a:avLst>
          </a:prstGeom>
          <a:solidFill>
            <a:srgbClr val="EEF3FA"/>
          </a:solidFill>
          <a:ln w="9525">
            <a:solidFill>
              <a:srgbClr val="EEF3FA"/>
            </a:solidFill>
            <a:prstDash val="solid"/>
          </a:ln>
        </p:spPr>
      </p:sp>
      <p:sp>
        <p:nvSpPr>
          <p:cNvPr id="34" name="Text 31"/>
          <p:cNvSpPr txBox="1"/>
          <p:nvPr/>
        </p:nvSpPr>
        <p:spPr>
          <a:xfrm>
            <a:off x="9162288"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هَذِهِ</a:t>
            </a:r>
            <a:endParaRPr lang="ar-SA" sz="2400" dirty="0"/>
          </a:p>
        </p:txBody>
      </p:sp>
      <p:sp>
        <p:nvSpPr>
          <p:cNvPr id="35" name="Shape 32"/>
          <p:cNvSpPr/>
          <p:nvPr/>
        </p:nvSpPr>
        <p:spPr>
          <a:xfrm>
            <a:off x="6336792" y="3364992"/>
            <a:ext cx="2642616" cy="768096"/>
          </a:xfrm>
          <a:prstGeom prst="roundRect">
            <a:avLst>
              <a:gd name="adj" fmla="val 7143"/>
            </a:avLst>
          </a:prstGeom>
          <a:solidFill>
            <a:srgbClr val="F1ECF7"/>
          </a:solidFill>
          <a:ln w="9525">
            <a:solidFill>
              <a:srgbClr val="F1ECF7"/>
            </a:solidFill>
            <a:prstDash val="solid"/>
          </a:ln>
        </p:spPr>
      </p:sp>
      <p:sp>
        <p:nvSpPr>
          <p:cNvPr id="36" name="Text 33"/>
          <p:cNvSpPr txBox="1"/>
          <p:nvPr/>
        </p:nvSpPr>
        <p:spPr>
          <a:xfrm>
            <a:off x="6409944"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طَالِبَ</a:t>
            </a:r>
            <a:pPr rtl="1" algn="ctr" indent="0" marL="0">
              <a:buNone/>
            </a:pPr>
            <a:r>
              <a:rPr lang="ar-SA" altLang="en-US" sz="2400" b="1" dirty="0">
                <a:solidFill>
                  <a:srgbClr val="D6336C"/>
                </a:solidFill>
                <a:latin typeface="Amiri" pitchFamily="2" charset="-78"/>
                <a:ea typeface="Amiri" pitchFamily="2" charset="-78"/>
                <a:cs typeface="Amiri" pitchFamily="2" charset="-78"/>
              </a:rPr>
              <a:t>ةٌ</a:t>
            </a:r>
            <a:endParaRPr lang="ar-SA" sz="2400" dirty="0"/>
          </a:p>
        </p:txBody>
      </p:sp>
      <p:sp>
        <p:nvSpPr>
          <p:cNvPr id="37" name="Shape 34"/>
          <p:cNvSpPr/>
          <p:nvPr/>
        </p:nvSpPr>
        <p:spPr>
          <a:xfrm>
            <a:off x="3584448" y="3364992"/>
            <a:ext cx="2642616" cy="768096"/>
          </a:xfrm>
          <a:prstGeom prst="roundRect">
            <a:avLst>
              <a:gd name="adj" fmla="val 7143"/>
            </a:avLst>
          </a:prstGeom>
          <a:solidFill>
            <a:srgbClr val="FBEAEA"/>
          </a:solidFill>
          <a:ln w="9525">
            <a:solidFill>
              <a:srgbClr val="FBEAEA"/>
            </a:solidFill>
            <a:prstDash val="solid"/>
          </a:ln>
        </p:spPr>
      </p:sp>
      <p:sp>
        <p:nvSpPr>
          <p:cNvPr id="38" name="Text 35"/>
          <p:cNvSpPr txBox="1"/>
          <p:nvPr/>
        </p:nvSpPr>
        <p:spPr>
          <a:xfrm>
            <a:off x="3657600" y="3364992"/>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جَدِيدَ</a:t>
            </a:r>
            <a:pPr rtl="1" algn="ctr" indent="0" marL="0">
              <a:buNone/>
            </a:pPr>
            <a:r>
              <a:rPr lang="ar-SA" altLang="en-US" sz="2400" b="1" dirty="0">
                <a:solidFill>
                  <a:srgbClr val="D6336C"/>
                </a:solidFill>
                <a:latin typeface="Amiri" pitchFamily="2" charset="-78"/>
                <a:ea typeface="Amiri" pitchFamily="2" charset="-78"/>
                <a:cs typeface="Amiri" pitchFamily="2" charset="-78"/>
              </a:rPr>
              <a:t>ةٌ</a:t>
            </a:r>
            <a:pPr rtl="1" algn="ctr" indent="0" marL="0">
              <a:buNone/>
            </a:pPr>
            <a:r>
              <a:rPr lang="ar-SA" altLang="en-US" sz="2400" b="1" dirty="0">
                <a:solidFill>
                  <a:srgbClr val="1B3B6F"/>
                </a:solidFill>
                <a:latin typeface="Amiri" pitchFamily="2" charset="-78"/>
                <a:cs typeface="Amiri" pitchFamily="2" charset="-78"/>
              </a:rPr>
              <a:t>.</a:t>
            </a:r>
            <a:endParaRPr lang="ar-SA" sz="2400" dirty="0"/>
          </a:p>
        </p:txBody>
      </p:sp>
      <p:sp>
        <p:nvSpPr>
          <p:cNvPr id="39" name="Text 36"/>
          <p:cNvSpPr txBox="1"/>
          <p:nvPr/>
        </p:nvSpPr>
        <p:spPr>
          <a:xfrm>
            <a:off x="457200" y="4242816"/>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This is a short sister.</a:t>
            </a:r>
            <a:endParaRPr lang="en-US" sz="1200" dirty="0"/>
          </a:p>
        </p:txBody>
      </p:sp>
      <p:sp>
        <p:nvSpPr>
          <p:cNvPr id="40" name="Shape 37"/>
          <p:cNvSpPr/>
          <p:nvPr/>
        </p:nvSpPr>
        <p:spPr>
          <a:xfrm>
            <a:off x="9089136" y="4242816"/>
            <a:ext cx="2642616" cy="768096"/>
          </a:xfrm>
          <a:prstGeom prst="roundRect">
            <a:avLst>
              <a:gd name="adj" fmla="val 7143"/>
            </a:avLst>
          </a:prstGeom>
          <a:solidFill>
            <a:srgbClr val="EEF3FA"/>
          </a:solidFill>
          <a:ln w="9525">
            <a:solidFill>
              <a:srgbClr val="EEF3FA"/>
            </a:solidFill>
            <a:prstDash val="solid"/>
          </a:ln>
        </p:spPr>
      </p:sp>
      <p:sp>
        <p:nvSpPr>
          <p:cNvPr id="41" name="Text 38"/>
          <p:cNvSpPr txBox="1"/>
          <p:nvPr/>
        </p:nvSpPr>
        <p:spPr>
          <a:xfrm>
            <a:off x="9162288"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هَذِهِ</a:t>
            </a:r>
            <a:endParaRPr lang="ar-SA" sz="2400" dirty="0"/>
          </a:p>
        </p:txBody>
      </p:sp>
      <p:sp>
        <p:nvSpPr>
          <p:cNvPr id="42" name="Shape 39"/>
          <p:cNvSpPr/>
          <p:nvPr/>
        </p:nvSpPr>
        <p:spPr>
          <a:xfrm>
            <a:off x="6336792" y="4242816"/>
            <a:ext cx="2642616" cy="768096"/>
          </a:xfrm>
          <a:prstGeom prst="roundRect">
            <a:avLst>
              <a:gd name="adj" fmla="val 7143"/>
            </a:avLst>
          </a:prstGeom>
          <a:solidFill>
            <a:srgbClr val="F1ECF7"/>
          </a:solidFill>
          <a:ln w="9525">
            <a:solidFill>
              <a:srgbClr val="F1ECF7"/>
            </a:solidFill>
            <a:prstDash val="solid"/>
          </a:ln>
        </p:spPr>
      </p:sp>
      <p:sp>
        <p:nvSpPr>
          <p:cNvPr id="43" name="Text 40"/>
          <p:cNvSpPr txBox="1"/>
          <p:nvPr/>
        </p:nvSpPr>
        <p:spPr>
          <a:xfrm>
            <a:off x="6409944"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أُخْتٌ</a:t>
            </a:r>
            <a:endParaRPr lang="ar-SA" sz="2400" dirty="0"/>
          </a:p>
        </p:txBody>
      </p:sp>
      <p:sp>
        <p:nvSpPr>
          <p:cNvPr id="44" name="Shape 41"/>
          <p:cNvSpPr/>
          <p:nvPr/>
        </p:nvSpPr>
        <p:spPr>
          <a:xfrm>
            <a:off x="3584448" y="4242816"/>
            <a:ext cx="2642616" cy="768096"/>
          </a:xfrm>
          <a:prstGeom prst="roundRect">
            <a:avLst>
              <a:gd name="adj" fmla="val 7143"/>
            </a:avLst>
          </a:prstGeom>
          <a:solidFill>
            <a:srgbClr val="FBEAEA"/>
          </a:solidFill>
          <a:ln w="9525">
            <a:solidFill>
              <a:srgbClr val="FBEAEA"/>
            </a:solidFill>
            <a:prstDash val="solid"/>
          </a:ln>
        </p:spPr>
      </p:sp>
      <p:sp>
        <p:nvSpPr>
          <p:cNvPr id="45" name="Text 42"/>
          <p:cNvSpPr txBox="1"/>
          <p:nvPr/>
        </p:nvSpPr>
        <p:spPr>
          <a:xfrm>
            <a:off x="3657600" y="4242816"/>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قَصِيرَ</a:t>
            </a:r>
            <a:pPr rtl="1" algn="ctr" indent="0" marL="0">
              <a:buNone/>
            </a:pPr>
            <a:r>
              <a:rPr lang="ar-SA" altLang="en-US" sz="2400" b="1" dirty="0">
                <a:solidFill>
                  <a:srgbClr val="D6336C"/>
                </a:solidFill>
                <a:latin typeface="Amiri" pitchFamily="2" charset="-78"/>
                <a:ea typeface="Amiri" pitchFamily="2" charset="-78"/>
                <a:cs typeface="Amiri" pitchFamily="2" charset="-78"/>
              </a:rPr>
              <a:t>ةٌ</a:t>
            </a:r>
            <a:pPr rtl="1" algn="ctr" indent="0" marL="0">
              <a:buNone/>
            </a:pPr>
            <a:r>
              <a:rPr lang="ar-SA" altLang="en-US" sz="2400" b="1" dirty="0">
                <a:solidFill>
                  <a:srgbClr val="1B3B6F"/>
                </a:solidFill>
                <a:latin typeface="Amiri" pitchFamily="2" charset="-78"/>
                <a:cs typeface="Amiri" pitchFamily="2" charset="-78"/>
              </a:rPr>
              <a:t>.</a:t>
            </a:r>
            <a:endParaRPr lang="ar-SA" sz="2400" dirty="0"/>
          </a:p>
        </p:txBody>
      </p:sp>
      <p:sp>
        <p:nvSpPr>
          <p:cNvPr id="46" name="Text 43"/>
          <p:cNvSpPr txBox="1"/>
          <p:nvPr/>
        </p:nvSpPr>
        <p:spPr>
          <a:xfrm>
            <a:off x="457200" y="5120640"/>
            <a:ext cx="2926080" cy="768096"/>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This is an old book.</a:t>
            </a:r>
            <a:endParaRPr lang="en-US" sz="1200" dirty="0"/>
          </a:p>
        </p:txBody>
      </p:sp>
      <p:sp>
        <p:nvSpPr>
          <p:cNvPr id="47" name="Shape 44"/>
          <p:cNvSpPr/>
          <p:nvPr/>
        </p:nvSpPr>
        <p:spPr>
          <a:xfrm>
            <a:off x="9089136" y="5120640"/>
            <a:ext cx="2642616" cy="768096"/>
          </a:xfrm>
          <a:prstGeom prst="roundRect">
            <a:avLst>
              <a:gd name="adj" fmla="val 7143"/>
            </a:avLst>
          </a:prstGeom>
          <a:solidFill>
            <a:srgbClr val="EEF3FA"/>
          </a:solidFill>
          <a:ln w="9525">
            <a:solidFill>
              <a:srgbClr val="EEF3FA"/>
            </a:solidFill>
            <a:prstDash val="solid"/>
          </a:ln>
        </p:spPr>
      </p:sp>
      <p:sp>
        <p:nvSpPr>
          <p:cNvPr id="48" name="Text 45"/>
          <p:cNvSpPr txBox="1"/>
          <p:nvPr/>
        </p:nvSpPr>
        <p:spPr>
          <a:xfrm>
            <a:off x="9162288"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هَذَا</a:t>
            </a:r>
            <a:endParaRPr lang="ar-SA" sz="2400" dirty="0"/>
          </a:p>
        </p:txBody>
      </p:sp>
      <p:sp>
        <p:nvSpPr>
          <p:cNvPr id="49" name="Shape 46"/>
          <p:cNvSpPr/>
          <p:nvPr/>
        </p:nvSpPr>
        <p:spPr>
          <a:xfrm>
            <a:off x="6336792" y="5120640"/>
            <a:ext cx="2642616" cy="768096"/>
          </a:xfrm>
          <a:prstGeom prst="roundRect">
            <a:avLst>
              <a:gd name="adj" fmla="val 7143"/>
            </a:avLst>
          </a:prstGeom>
          <a:solidFill>
            <a:srgbClr val="F1ECF7"/>
          </a:solidFill>
          <a:ln w="9525">
            <a:solidFill>
              <a:srgbClr val="F1ECF7"/>
            </a:solidFill>
            <a:prstDash val="solid"/>
          </a:ln>
        </p:spPr>
      </p:sp>
      <p:sp>
        <p:nvSpPr>
          <p:cNvPr id="50" name="Text 47"/>
          <p:cNvSpPr txBox="1"/>
          <p:nvPr/>
        </p:nvSpPr>
        <p:spPr>
          <a:xfrm>
            <a:off x="6409944"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كِتَابٌ</a:t>
            </a:r>
            <a:endParaRPr lang="ar-SA" sz="2400" dirty="0"/>
          </a:p>
        </p:txBody>
      </p:sp>
      <p:sp>
        <p:nvSpPr>
          <p:cNvPr id="51" name="Shape 48"/>
          <p:cNvSpPr/>
          <p:nvPr/>
        </p:nvSpPr>
        <p:spPr>
          <a:xfrm>
            <a:off x="3584448" y="5120640"/>
            <a:ext cx="2642616" cy="768096"/>
          </a:xfrm>
          <a:prstGeom prst="roundRect">
            <a:avLst>
              <a:gd name="adj" fmla="val 7143"/>
            </a:avLst>
          </a:prstGeom>
          <a:solidFill>
            <a:srgbClr val="FBEAEA"/>
          </a:solidFill>
          <a:ln w="9525">
            <a:solidFill>
              <a:srgbClr val="FBEAEA"/>
            </a:solidFill>
            <a:prstDash val="solid"/>
          </a:ln>
        </p:spPr>
      </p:sp>
      <p:sp>
        <p:nvSpPr>
          <p:cNvPr id="52" name="Text 49"/>
          <p:cNvSpPr txBox="1"/>
          <p:nvPr/>
        </p:nvSpPr>
        <p:spPr>
          <a:xfrm>
            <a:off x="3657600" y="5120640"/>
            <a:ext cx="2496312" cy="768096"/>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قَدِيمٌ.</a:t>
            </a:r>
            <a:endParaRPr lang="ar-SA" sz="2400" dirty="0"/>
          </a:p>
        </p:txBody>
      </p:sp>
      <p:sp>
        <p:nvSpPr>
          <p:cNvPr id="53" name="Text 50"/>
          <p:cNvSpPr txBox="1"/>
          <p:nvPr/>
        </p:nvSpPr>
        <p:spPr>
          <a:xfrm>
            <a:off x="457200" y="5989320"/>
            <a:ext cx="11274552" cy="320040"/>
          </a:xfrm>
          <a:prstGeom prst="rect">
            <a:avLst/>
          </a:prstGeom>
          <a:noFill/>
          <a:ln/>
        </p:spPr>
        <p:txBody>
          <a:bodyPr wrap="square" lIns="0" tIns="0" rIns="0" bIns="0" rtlCol="0" anchor="ctr"/>
          <a:lstStyle/>
          <a:p>
            <a:pPr algn="l" indent="0" marL="0">
              <a:buNone/>
            </a:pPr>
            <a:r>
              <a:rPr lang="en-US" sz="1200" b="1" dirty="0">
                <a:solidFill>
                  <a:srgbClr val="8A6D1E"/>
                </a:solidFill>
                <a:latin typeface="Calibri" pitchFamily="34" charset="0"/>
                <a:cs typeface="Amiri" pitchFamily="2" charset="-78"/>
              </a:rPr>
              <a:t>Noun FIRST, adjective SECOND — </a:t>
            </a:r>
            <a:pPr algn="l" indent="0" marL="0">
              <a:buNone/>
            </a:pPr>
            <a:r>
              <a:rPr lang="ar-SA" altLang="en-US" sz="1550" b="1" dirty="0">
                <a:solidFill>
                  <a:srgbClr val="8A6D1E"/>
                </a:solidFill>
                <a:latin typeface="Amiri" pitchFamily="2" charset="-78"/>
                <a:ea typeface="Amiri" pitchFamily="2" charset="-78"/>
                <a:cs typeface="Amiri" pitchFamily="2" charset="-78"/>
              </a:rPr>
              <a:t>كِتَابٌ جَدِيدٌ</a:t>
            </a:r>
            <a:pPr algn="l" indent="0" marL="0">
              <a:buNone/>
            </a:pPr>
            <a:r>
              <a:rPr lang="en-US" sz="1200" b="1" dirty="0">
                <a:solidFill>
                  <a:srgbClr val="8A6D1E"/>
                </a:solidFill>
                <a:latin typeface="Calibri" pitchFamily="34" charset="0"/>
                <a:cs typeface="Amiri" pitchFamily="2" charset="-78"/>
              </a:rPr>
              <a:t> = a new book.</a:t>
            </a:r>
            <a:endParaRPr lang="en-US" sz="1200" dirty="0"/>
          </a:p>
        </p:txBody>
      </p:sp>
      <p:sp>
        <p:nvSpPr>
          <p:cNvPr id="54" name="Text 5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new male student’.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طَالِبَةٌ جَدِيدَةٌ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جَدِيدٌ طَالِبٌ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طَالِبٌ جَدِيدٌ</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kind female classmate’.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زَمِيلَةٌ لَطِيفَةٌ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زَمِيلٌ لَطِيفَةٌ</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لَطِيفَةٌ زَمِيلَةٌ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هَذِهِ حَقِيبَةٌ ...</a:t>
            </a:r>
            <a:endParaRPr lang="ar-SA" sz="22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جَمِيلٌ</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جَمِيلَةٌ</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جَمِيلًا</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feminine even though it does not end in </a:t>
            </a:r>
            <a:pPr algn="l" indent="0" marL="0">
              <a:buNone/>
            </a:pPr>
            <a:r>
              <a:rPr lang="ar-SA" altLang="en-US" sz="1650" b="1" dirty="0">
                <a:solidFill>
                  <a:srgbClr val="1B3B6F"/>
                </a:solidFill>
                <a:latin typeface="Amiri" pitchFamily="2" charset="-78"/>
                <a:ea typeface="Amiri" pitchFamily="2" charset="-78"/>
                <a:cs typeface="Amiri" pitchFamily="2" charset="-78"/>
              </a:rPr>
              <a:t>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كِتَابٌ</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وَلَدٌ</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new male student’.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طَالِبَةٌ جَدِيدَةٌ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جَدِيدٌ طَالِبٌ</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طَالِبٌ جَدِيدٌ</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masculine noun comes first and the masculine adjective follows.</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kind female classmate’.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زَمِيلَةٌ لَطِيفَةٌ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زَمِيلٌ لَطِيفَةٌ</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لَطِيفَةٌ زَمِيلَةٌ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زَمِيلَةٌ</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لَطِيفَةٌ</a:t>
            </a:r>
            <a:pPr algn="l" indent="0" marL="0">
              <a:buNone/>
            </a:pPr>
            <a:r>
              <a:rPr lang="en-US" sz="1050" i="1" dirty="0">
                <a:solidFill>
                  <a:srgbClr val="8A6D1E"/>
                </a:solidFill>
                <a:latin typeface="Calibri" pitchFamily="34" charset="0"/>
                <a:cs typeface="Amiri" pitchFamily="2" charset="-78"/>
              </a:rPr>
              <a:t> are feminine, with the noun first.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هَذِهِ حَقِيبَةٌ ...</a:t>
            </a:r>
            <a:endParaRPr lang="ar-SA" sz="22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جَمِيلٌ</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جَمِيلَةٌ</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جَمِيلًا</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حَقِيبَةٌ</a:t>
            </a:r>
            <a:pPr algn="l" indent="0" marL="0">
              <a:buNone/>
            </a:pPr>
            <a:r>
              <a:rPr lang="en-US" sz="1050" i="1" dirty="0">
                <a:solidFill>
                  <a:srgbClr val="8A6D1E"/>
                </a:solidFill>
                <a:latin typeface="Calibri" pitchFamily="34" charset="0"/>
                <a:cs typeface="Amiri" pitchFamily="2" charset="-78"/>
              </a:rPr>
              <a:t> is feminine, so the adjective is </a:t>
            </a:r>
            <a:pPr algn="l" indent="0" marL="0">
              <a:buNone/>
            </a:pPr>
            <a:r>
              <a:rPr lang="ar-SA" altLang="en-US" sz="1350" dirty="0">
                <a:solidFill>
                  <a:srgbClr val="8A6D1E"/>
                </a:solidFill>
                <a:latin typeface="Amiri" pitchFamily="2" charset="-78"/>
                <a:ea typeface="Amiri" pitchFamily="2" charset="-78"/>
                <a:cs typeface="Amiri" pitchFamily="2" charset="-78"/>
              </a:rPr>
              <a:t>جَمِيلَةٌ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is feminine even though it does not end in </a:t>
            </a:r>
            <a:pPr algn="l" indent="0" marL="0">
              <a:buNone/>
            </a:pPr>
            <a:r>
              <a:rPr lang="ar-SA" altLang="en-US" sz="1650" b="1" dirty="0">
                <a:solidFill>
                  <a:srgbClr val="1B3B6F"/>
                </a:solidFill>
                <a:latin typeface="Amiri" pitchFamily="2" charset="-78"/>
                <a:ea typeface="Amiri" pitchFamily="2" charset="-78"/>
                <a:cs typeface="Amiri" pitchFamily="2" charset="-78"/>
              </a:rPr>
              <a:t>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أُخْتٌ</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كِتَابٌ</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وَلَدٌ</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أُخْتٌ</a:t>
            </a:r>
            <a:pPr algn="l" indent="0" marL="0">
              <a:buNone/>
            </a:pPr>
            <a:r>
              <a:rPr lang="en-US" sz="1050" i="1" dirty="0">
                <a:solidFill>
                  <a:srgbClr val="8A6D1E"/>
                </a:solidFill>
                <a:latin typeface="Calibri" pitchFamily="34" charset="0"/>
                <a:cs typeface="Amiri" pitchFamily="2" charset="-78"/>
              </a:rPr>
              <a:t> is naturally feminine without tāʾ marbūṭa.</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describe two people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Decide the gender</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يُوسُفُ ← وَلَدٌ</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Yusuf is a boy: masculine.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Match every word</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صَدِيقِي. هُوَ وَلَدٌ ذَكِيٌّ.</a:t>
            </a:r>
            <a:endParaRPr lang="ar-SA" sz="22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2" charset="-78"/>
                <a:ea typeface="Amiri" pitchFamily="2" charset="-78"/>
                <a:cs typeface="Amiri" pitchFamily="2" charset="-78"/>
              </a:rPr>
              <a:t>هَذَا</a:t>
            </a:r>
            <a:pPr algn="l" indent="0" marL="0">
              <a:buNone/>
            </a:pPr>
            <a:r>
              <a:rPr lang="en-US" sz="1150" dirty="0">
                <a:solidFill>
                  <a:srgbClr val="1F2A37"/>
                </a:solidFill>
                <a:latin typeface="Calibri" pitchFamily="34" charset="0"/>
                <a:cs typeface="Amiri" pitchFamily="2" charset="-78"/>
              </a:rPr>
              <a:t>, </a:t>
            </a:r>
            <a:pPr algn="l" indent="0" marL="0">
              <a:buNone/>
            </a:pPr>
            <a:r>
              <a:rPr lang="ar-SA" altLang="en-US" sz="1500" dirty="0">
                <a:solidFill>
                  <a:srgbClr val="1F2A37"/>
                </a:solidFill>
                <a:latin typeface="Amiri" pitchFamily="2" charset="-78"/>
                <a:ea typeface="Amiri" pitchFamily="2" charset="-78"/>
                <a:cs typeface="Amiri" pitchFamily="2" charset="-78"/>
              </a:rPr>
              <a:t>هُوَ</a:t>
            </a:r>
            <a:pPr algn="l" indent="0" marL="0">
              <a:buNone/>
            </a:pPr>
            <a:r>
              <a:rPr lang="en-US" sz="1150" dirty="0">
                <a:solidFill>
                  <a:srgbClr val="1F2A37"/>
                </a:solidFill>
                <a:latin typeface="Calibri" pitchFamily="34" charset="0"/>
                <a:cs typeface="Amiri" pitchFamily="2" charset="-78"/>
              </a:rPr>
              <a:t>, </a:t>
            </a:r>
            <a:pPr algn="l" indent="0" marL="0">
              <a:buNone/>
            </a:pPr>
            <a:r>
              <a:rPr lang="ar-SA" altLang="en-US" sz="1500" dirty="0">
                <a:solidFill>
                  <a:srgbClr val="1F2A37"/>
                </a:solidFill>
                <a:latin typeface="Amiri" pitchFamily="2" charset="-78"/>
                <a:ea typeface="Amiri" pitchFamily="2" charset="-78"/>
                <a:cs typeface="Amiri" pitchFamily="2" charset="-78"/>
              </a:rPr>
              <a:t>ذَكِيٌّ</a:t>
            </a:r>
            <a:pPr algn="l" indent="0" marL="0">
              <a:buNone/>
            </a:pPr>
            <a:r>
              <a:rPr lang="en-US" sz="1150" dirty="0">
                <a:solidFill>
                  <a:srgbClr val="1F2A37"/>
                </a:solidFill>
                <a:latin typeface="Calibri" pitchFamily="34" charset="0"/>
                <a:cs typeface="Amiri" pitchFamily="2" charset="-78"/>
              </a:rPr>
              <a:t> — all masculine.</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Now a girl</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هَذِهِ زَمِيلَتِي. هِيَ طَالِبَ</a:t>
            </a:r>
            <a:pPr rtl="1" algn="ctr" indent="0" marL="0">
              <a:buNone/>
            </a:pPr>
            <a:r>
              <a:rPr lang="ar-SA" altLang="en-US" sz="2400" b="1" dirty="0">
                <a:solidFill>
                  <a:srgbClr val="D6336C"/>
                </a:solidFill>
                <a:latin typeface="Amiri" pitchFamily="2" charset="-78"/>
                <a:ea typeface="Amiri" pitchFamily="2" charset="-78"/>
                <a:cs typeface="Amiri" pitchFamily="2" charset="-78"/>
              </a:rPr>
              <a:t>ةٌ</a:t>
            </a:r>
            <a:endParaRPr lang="ar-SA" sz="24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Fatima: </a:t>
            </a:r>
            <a:pPr algn="l" indent="0" marL="0">
              <a:buNone/>
            </a:pPr>
            <a:r>
              <a:rPr lang="ar-SA" altLang="en-US" sz="1500" dirty="0">
                <a:solidFill>
                  <a:srgbClr val="1F2A37"/>
                </a:solidFill>
                <a:latin typeface="Amiri" pitchFamily="2" charset="-78"/>
                <a:ea typeface="Amiri" pitchFamily="2" charset="-78"/>
                <a:cs typeface="Amiri" pitchFamily="2" charset="-78"/>
              </a:rPr>
              <a:t>هَذِهِ</a:t>
            </a:r>
            <a:pPr algn="l" indent="0" marL="0">
              <a:buNone/>
            </a:pPr>
            <a:r>
              <a:rPr lang="en-US" sz="1150" dirty="0">
                <a:solidFill>
                  <a:srgbClr val="1F2A37"/>
                </a:solidFill>
                <a:latin typeface="Calibri" pitchFamily="34" charset="0"/>
                <a:cs typeface="Amiri" pitchFamily="2" charset="-78"/>
              </a:rPr>
              <a:t>, </a:t>
            </a:r>
            <a:pPr algn="l" indent="0" marL="0">
              <a:buNone/>
            </a:pPr>
            <a:r>
              <a:rPr lang="ar-SA" altLang="en-US" sz="1500" dirty="0">
                <a:solidFill>
                  <a:srgbClr val="1F2A37"/>
                </a:solidFill>
                <a:latin typeface="Amiri" pitchFamily="2" charset="-78"/>
                <a:ea typeface="Amiri" pitchFamily="2" charset="-78"/>
                <a:cs typeface="Amiri" pitchFamily="2" charset="-78"/>
              </a:rPr>
              <a:t>هِيَ</a:t>
            </a:r>
            <a:pPr algn="l" indent="0" marL="0">
              <a:buNone/>
            </a:pPr>
            <a:r>
              <a:rPr lang="en-US" sz="1150" dirty="0">
                <a:solidFill>
                  <a:srgbClr val="1F2A37"/>
                </a:solidFill>
                <a:latin typeface="Calibri" pitchFamily="34" charset="0"/>
                <a:cs typeface="Amiri" pitchFamily="2" charset="-78"/>
              </a:rPr>
              <a:t>, and the noun has </a:t>
            </a:r>
            <a:pPr algn="l" indent="0" marL="0">
              <a:buNone/>
            </a:pPr>
            <a:r>
              <a:rPr lang="ar-SA" altLang="en-US" sz="1500" dirty="0">
                <a:solidFill>
                  <a:srgbClr val="1F2A37"/>
                </a:solidFill>
                <a:latin typeface="Amiri" pitchFamily="2" charset="-78"/>
                <a:ea typeface="Amiri" pitchFamily="2" charset="-78"/>
                <a:cs typeface="Amiri" pitchFamily="2" charset="-78"/>
              </a:rPr>
              <a:t>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Adjective: add </a:t>
            </a:r>
            <a:pPr algn="l" indent="0" marL="0">
              <a:buNone/>
            </a:pPr>
            <a:r>
              <a:rPr lang="ar-SA" altLang="en-US" sz="1650" b="1" dirty="0">
                <a:solidFill>
                  <a:srgbClr val="6B4C9A"/>
                </a:solidFill>
                <a:latin typeface="Amiri" pitchFamily="2" charset="-78"/>
                <a:ea typeface="Amiri" pitchFamily="2" charset="-78"/>
                <a:cs typeface="Amiri" pitchFamily="2" charset="-78"/>
              </a:rPr>
              <a:t>ة</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طَالِبَ</a:t>
            </a:r>
            <a:pPr rtl="1" algn="ctr" indent="0" marL="0">
              <a:buNone/>
            </a:pPr>
            <a:r>
              <a:rPr lang="ar-SA" altLang="en-US" sz="2800" b="1" dirty="0">
                <a:solidFill>
                  <a:srgbClr val="D6336C"/>
                </a:solidFill>
                <a:latin typeface="Amiri" pitchFamily="2" charset="-78"/>
                <a:ea typeface="Amiri" pitchFamily="2" charset="-78"/>
                <a:cs typeface="Amiri" pitchFamily="2" charset="-78"/>
              </a:rPr>
              <a:t>ةٌ</a:t>
            </a:r>
            <a:pPr rtl="1" algn="ctr" indent="0" marL="0">
              <a:buNone/>
            </a:pPr>
            <a:r>
              <a:rPr lang="ar-SA" altLang="en-US" sz="2800" b="1" dirty="0">
                <a:solidFill>
                  <a:srgbClr val="1B3B6F"/>
                </a:solidFill>
                <a:latin typeface="Amiri" pitchFamily="2" charset="-78"/>
                <a:ea typeface="Amiri" pitchFamily="2" charset="-78"/>
                <a:cs typeface="Amiri" pitchFamily="2" charset="-78"/>
              </a:rPr>
              <a:t> جَدِيدَ</a:t>
            </a:r>
            <a:pPr rtl="1" algn="ctr" indent="0" marL="0">
              <a:buNone/>
            </a:pPr>
            <a:r>
              <a:rPr lang="ar-SA" altLang="en-US" sz="2800" b="1" dirty="0">
                <a:solidFill>
                  <a:srgbClr val="D6336C"/>
                </a:solidFill>
                <a:latin typeface="Amiri" pitchFamily="2" charset="-78"/>
                <a:ea typeface="Amiri" pitchFamily="2" charset="-78"/>
                <a:cs typeface="Amiri" pitchFamily="2" charset="-78"/>
              </a:rPr>
              <a:t>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adjective copies the </a:t>
            </a:r>
            <a:pPr algn="l" indent="0" marL="0">
              <a:buNone/>
            </a:pPr>
            <a:r>
              <a:rPr lang="ar-SA" altLang="en-US" sz="1500" dirty="0">
                <a:solidFill>
                  <a:srgbClr val="1F2A37"/>
                </a:solidFill>
                <a:latin typeface="Amiri" pitchFamily="2" charset="-78"/>
                <a:ea typeface="Amiri" pitchFamily="2" charset="-78"/>
                <a:cs typeface="Amiri" pitchFamily="2" charset="-78"/>
              </a:rPr>
              <a:t>ة</a:t>
            </a:r>
            <a:pPr algn="l" indent="0" marL="0">
              <a:buNone/>
            </a:pPr>
            <a:r>
              <a:rPr lang="en-US" sz="1150" dirty="0">
                <a:solidFill>
                  <a:srgbClr val="1F2A37"/>
                </a:solidFill>
                <a:latin typeface="Calibri" pitchFamily="34" charset="0"/>
                <a:cs typeface="Amiri" pitchFamily="2" charset="-78"/>
              </a:rPr>
              <a:t>: </a:t>
            </a:r>
            <a:pPr algn="l" indent="0" marL="0">
              <a:buNone/>
            </a:pPr>
            <a:r>
              <a:rPr lang="ar-SA" altLang="en-US" sz="1500" dirty="0">
                <a:solidFill>
                  <a:srgbClr val="1F2A37"/>
                </a:solidFill>
                <a:latin typeface="Amiri" pitchFamily="2" charset="-78"/>
                <a:ea typeface="Amiri" pitchFamily="2" charset="-78"/>
                <a:cs typeface="Amiri" pitchFamily="2" charset="-78"/>
              </a:rPr>
              <a:t>جَدِيدَةٌ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ar-SA" sz="800" b="1" spc="100" kern="0" dirty="0">
                <a:solidFill>
                  <a:srgbClr val="FFFFFF"/>
                </a:solidFill>
                <a:latin typeface="Calibri" pitchFamily="34" charset="0"/>
                <a:ea typeface="Amiri" pitchFamily="2" charset="-78"/>
                <a:cs typeface="Amiri" pitchFamily="2" charset="-78"/>
              </a:rPr>
              <a:t>FEMININE ة</a:t>
            </a:r>
            <a:endParaRPr lang="en-US" sz="800" dirty="0"/>
          </a:p>
        </p:txBody>
      </p:sp>
      <p:sp>
        <p:nvSpPr>
          <p:cNvPr id="47" name="Text 43"/>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هَذَا صَدِيقِي يُوسُفُ. هُوَ وَلَدٌ ذَكِيٌّ وَلَطِيفٌ. — هَذِهِ زَمِيلَتِي فَاطِمَةُ. هِيَ طَالِبَ</a:t>
            </a:r>
            <a:pPr rtl="1" algn="r" indent="0" marL="0">
              <a:buNone/>
            </a:pPr>
            <a:r>
              <a:rPr lang="ar-SA" altLang="en-US" sz="2600" b="1" dirty="0">
                <a:solidFill>
                  <a:srgbClr val="D6336C"/>
                </a:solidFill>
                <a:latin typeface="Amiri" pitchFamily="2" charset="-78"/>
                <a:ea typeface="Amiri" pitchFamily="2" charset="-78"/>
                <a:cs typeface="Amiri" pitchFamily="2" charset="-78"/>
              </a:rPr>
              <a:t>ةٌ</a:t>
            </a:r>
            <a:pPr rtl="1" algn="r" indent="0" marL="0">
              <a:buNone/>
            </a:pPr>
            <a:r>
              <a:rPr lang="ar-SA" altLang="en-US" sz="2600" b="1" dirty="0">
                <a:solidFill>
                  <a:srgbClr val="1B3B6F"/>
                </a:solidFill>
                <a:latin typeface="Amiri" pitchFamily="2" charset="-78"/>
                <a:ea typeface="Amiri" pitchFamily="2" charset="-78"/>
                <a:cs typeface="Amiri" pitchFamily="2" charset="-78"/>
              </a:rPr>
              <a:t> جَدِيدَ</a:t>
            </a:r>
            <a:pPr rtl="1" algn="r" indent="0" marL="0">
              <a:buNone/>
            </a:pPr>
            <a:r>
              <a:rPr lang="ar-SA" altLang="en-US" sz="2600" b="1" dirty="0">
                <a:solidFill>
                  <a:srgbClr val="D6336C"/>
                </a:solidFill>
                <a:latin typeface="Amiri" pitchFamily="2" charset="-78"/>
                <a:ea typeface="Amiri" pitchFamily="2" charset="-78"/>
                <a:cs typeface="Amiri" pitchFamily="2" charset="-78"/>
              </a:rPr>
              <a:t>ةٌ</a:t>
            </a:r>
            <a:pPr rtl="1" algn="r" indent="0" marL="0">
              <a:buNone/>
            </a:pPr>
            <a:r>
              <a:rPr lang="ar-SA" altLang="en-US" sz="2600" b="1" dirty="0">
                <a:solidFill>
                  <a:srgbClr val="1B3B6F"/>
                </a:solidFill>
                <a:latin typeface="Amiri" pitchFamily="2" charset="-78"/>
                <a:ea typeface="Amiri" pitchFamily="2" charset="-78"/>
                <a:cs typeface="Amiri" pitchFamily="2" charset="-78"/>
              </a:rPr>
              <a:t> وَسَعِيدَ</a:t>
            </a:r>
            <a:pPr rtl="1" algn="r" indent="0" marL="0">
              <a:buNone/>
            </a:pPr>
            <a:r>
              <a:rPr lang="ar-SA" altLang="en-US" sz="2600" b="1" dirty="0">
                <a:solidFill>
                  <a:srgbClr val="D6336C"/>
                </a:solidFill>
                <a:latin typeface="Amiri" pitchFamily="2" charset="-78"/>
                <a:ea typeface="Amiri" pitchFamily="2" charset="-78"/>
                <a:cs typeface="Amiri" pitchFamily="2" charset="-78"/>
              </a:rPr>
              <a:t>ةٌ</a:t>
            </a:r>
            <a:pPr rtl="1" algn="r" indent="0" marL="0">
              <a:buNone/>
            </a:pPr>
            <a:r>
              <a:rPr lang="ar-SA" altLang="en-US" sz="2600" b="1" dirty="0">
                <a:solidFill>
                  <a:srgbClr val="1B3B6F"/>
                </a:solidFill>
                <a:latin typeface="Amiri" pitchFamily="2" charset="-78"/>
                <a:cs typeface="Amiri" pitchFamily="2" charset="-78"/>
              </a:rPr>
              <a:t>.</a:t>
            </a:r>
            <a:endParaRPr lang="ar-SA" sz="2600" dirty="0"/>
          </a:p>
        </p:txBody>
      </p:sp>
      <p:sp>
        <p:nvSpPr>
          <p:cNvPr id="48" name="Text 44"/>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This is my friend Yusuf. He is a clever and kind boy. — This is my classmate Fatima. She is a new and happy student.</a:t>
            </a:r>
            <a:endParaRPr lang="en-US" sz="1300" dirty="0"/>
          </a:p>
        </p:txBody>
      </p:sp>
      <p:sp>
        <p:nvSpPr>
          <p:cNvPr id="49"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GENDER OF NOUNS AND MASCULINE/FEMININE AGREEMENT”</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مُفَتِّشُ المُطَابَقَةِ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boy studying</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girl studying</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new car</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سَيَّارَةٌ جَدِيدَةٌ.</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هُوَ طَالِبٌ مُجْتَهِدٌ.</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هِيَ طَالِبَةٌ مُجْتَهِدَةٌ.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مُفَتِّشُ المُطَابَقَةِ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boy studying</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هُوَ طَالِبٌ مُجْتَهِدٌ.</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He is a hard-working student.</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girl studying</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هِيَ طَالِبَةٌ مُجْتَهِدَةٌ.</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She is a hard-working student.</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new car</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سَيَّارَةٌ جَدِيدَةٌ.</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new car.</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“GENDER DETECTIVE”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Gender Detective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مُحَقِّقُ التَّذْكِيرِ وَالتَّأْنِيثِ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gender.</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شَمْسٌ</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Feminine</a:t>
            </a:r>
            <a:endParaRPr lang="en-US" sz="12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Masculine</a:t>
            </a:r>
            <a:endParaRPr lang="en-US" sz="1250" dirty="0"/>
          </a:p>
        </p:txBody>
      </p:sp>
      <p:sp>
        <p:nvSpPr>
          <p:cNvPr id="26" name="Shape 23"/>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4404360" y="1947672"/>
            <a:ext cx="310896" cy="310896"/>
          </a:xfrm>
          <a:prstGeom prst="ellipse">
            <a:avLst/>
          </a:prstGeom>
          <a:solidFill>
            <a:srgbClr val="1B3B6F"/>
          </a:solidFill>
          <a:ln w="12700">
            <a:solidFill>
              <a:srgbClr val="1B3B6F"/>
            </a:solidFill>
            <a:prstDash val="solid"/>
          </a:ln>
        </p:spPr>
      </p:sp>
      <p:sp>
        <p:nvSpPr>
          <p:cNvPr id="28" name="Text 25"/>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29" name="Text 26"/>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Choose the matching demonstrative.</a:t>
            </a:r>
            <a:endParaRPr lang="en-US" sz="1100" dirty="0"/>
          </a:p>
        </p:txBody>
      </p:sp>
      <p:sp>
        <p:nvSpPr>
          <p:cNvPr id="30" name="Text 27"/>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عَيْنٌ</a:t>
            </a:r>
            <a:endParaRPr lang="ar-SA" sz="2200" dirty="0"/>
          </a:p>
        </p:txBody>
      </p:sp>
      <p:sp>
        <p:nvSpPr>
          <p:cNvPr id="31" name="Shape 28"/>
          <p:cNvSpPr/>
          <p:nvPr/>
        </p:nvSpPr>
        <p:spPr>
          <a:xfrm>
            <a:off x="4459224" y="2532888"/>
            <a:ext cx="256032" cy="256032"/>
          </a:xfrm>
          <a:prstGeom prst="ellipse">
            <a:avLst/>
          </a:prstGeom>
          <a:solidFill>
            <a:srgbClr val="F4F1EA"/>
          </a:solidFill>
          <a:ln w="12700">
            <a:solidFill>
              <a:srgbClr val="F4F1EA"/>
            </a:solidFill>
            <a:prstDash val="solid"/>
          </a:ln>
        </p:spPr>
      </p:sp>
      <p:sp>
        <p:nvSpPr>
          <p:cNvPr id="32" name="Text 29"/>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3" name="Text 30"/>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a:t>
            </a:r>
            <a:endParaRPr lang="ar-SA" sz="2050" dirty="0"/>
          </a:p>
        </p:txBody>
      </p:sp>
      <p:sp>
        <p:nvSpPr>
          <p:cNvPr id="34" name="Shape 31"/>
          <p:cNvSpPr/>
          <p:nvPr/>
        </p:nvSpPr>
        <p:spPr>
          <a:xfrm>
            <a:off x="4459224" y="29900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6" name="Text 33"/>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هُوَ</a:t>
            </a:r>
            <a:endParaRPr lang="ar-SA" sz="2050" dirty="0"/>
          </a:p>
        </p:txBody>
      </p:sp>
      <p:sp>
        <p:nvSpPr>
          <p:cNvPr id="37" name="Shape 34"/>
          <p:cNvSpPr/>
          <p:nvPr/>
        </p:nvSpPr>
        <p:spPr>
          <a:xfrm>
            <a:off x="4459224" y="34472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9" name="Text 36"/>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a:t>
            </a:r>
            <a:endParaRPr lang="ar-SA" sz="2050" dirty="0"/>
          </a:p>
        </p:txBody>
      </p:sp>
      <p:sp>
        <p:nvSpPr>
          <p:cNvPr id="40" name="Shape 37"/>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8223504" y="1947672"/>
            <a:ext cx="310896" cy="310896"/>
          </a:xfrm>
          <a:prstGeom prst="ellipse">
            <a:avLst/>
          </a:prstGeom>
          <a:solidFill>
            <a:srgbClr val="1B3B6F"/>
          </a:solidFill>
          <a:ln w="12700">
            <a:solidFill>
              <a:srgbClr val="1B3B6F"/>
            </a:solidFill>
            <a:prstDash val="solid"/>
          </a:ln>
        </p:spPr>
      </p:sp>
      <p:sp>
        <p:nvSpPr>
          <p:cNvPr id="42" name="Text 39"/>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3" name="Text 40"/>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accurate phrase.</a:t>
            </a:r>
            <a:endParaRPr lang="en-US" sz="1200" dirty="0"/>
          </a:p>
        </p:txBody>
      </p:sp>
      <p:sp>
        <p:nvSpPr>
          <p:cNvPr id="44" name="Text 41"/>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أُمٌّ</a:t>
            </a:r>
            <a:endParaRPr lang="ar-SA" sz="220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 جَمِيلَةٌ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 جَمِيلٌ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جَمِيلَةٌ أُمٌّ</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Choose the accurate sentence.</a:t>
            </a:r>
            <a:endParaRPr lang="en-US" sz="1150" dirty="0"/>
          </a:p>
        </p:txBody>
      </p:sp>
      <p:sp>
        <p:nvSpPr>
          <p:cNvPr id="58" name="Text 55"/>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زَمِيلَةٌ</a:t>
            </a:r>
            <a:endParaRPr lang="ar-SA" sz="2200" dirty="0"/>
          </a:p>
        </p:txBody>
      </p:sp>
      <p:sp>
        <p:nvSpPr>
          <p:cNvPr id="59" name="Shape 56"/>
          <p:cNvSpPr/>
          <p:nvPr/>
        </p:nvSpPr>
        <p:spPr>
          <a:xfrm>
            <a:off x="640080"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زَمِيلَةٌ سَعِيدٌ.</a:t>
            </a:r>
            <a:endParaRPr lang="ar-SA" sz="2050" dirty="0"/>
          </a:p>
        </p:txBody>
      </p:sp>
      <p:sp>
        <p:nvSpPr>
          <p:cNvPr id="62" name="Shape 59"/>
          <p:cNvSpPr/>
          <p:nvPr/>
        </p:nvSpPr>
        <p:spPr>
          <a:xfrm>
            <a:off x="640080"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زَمِيلَةٌ سَعِيدَةٌ.</a:t>
            </a:r>
            <a:endParaRPr lang="ar-SA" sz="2050" dirty="0"/>
          </a:p>
        </p:txBody>
      </p:sp>
      <p:sp>
        <p:nvSpPr>
          <p:cNvPr id="65" name="Shape 62"/>
          <p:cNvSpPr/>
          <p:nvPr/>
        </p:nvSpPr>
        <p:spPr>
          <a:xfrm>
            <a:off x="640080"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زَمِيلٌ سَعِيدَةٌ.</a:t>
            </a:r>
            <a:endParaRPr lang="ar-SA" sz="2050" dirty="0"/>
          </a:p>
        </p:txBody>
      </p:sp>
      <p:sp>
        <p:nvSpPr>
          <p:cNvPr id="68" name="Shape 65"/>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404360" y="4288536"/>
            <a:ext cx="310896" cy="310896"/>
          </a:xfrm>
          <a:prstGeom prst="ellipse">
            <a:avLst/>
          </a:prstGeom>
          <a:solidFill>
            <a:srgbClr val="1B3B6F"/>
          </a:solidFill>
          <a:ln w="12700">
            <a:solidFill>
              <a:srgbClr val="1B3B6F"/>
            </a:solidFill>
            <a:prstDash val="solid"/>
          </a:ln>
        </p:spPr>
      </p:sp>
      <p:sp>
        <p:nvSpPr>
          <p:cNvPr id="70" name="Text 67"/>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1" name="Text 68"/>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Choose the matching description.</a:t>
            </a:r>
            <a:endParaRPr lang="en-US" sz="1100" dirty="0"/>
          </a:p>
        </p:txBody>
      </p:sp>
      <p:sp>
        <p:nvSpPr>
          <p:cNvPr id="72" name="Text 69"/>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أُخْتٌ</a:t>
            </a:r>
            <a:endParaRPr lang="ar-SA" sz="220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 قَصِيرَةٌ</a:t>
            </a:r>
            <a:endParaRPr lang="ar-SA" sz="20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 قَصِيرٌ</a:t>
            </a:r>
            <a:endParaRPr lang="ar-SA" sz="20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قَصِيرَةٌ أُخْتٌ</a:t>
            </a:r>
            <a:endParaRPr lang="ar-SA" sz="20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4" name="Text 8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5" name="Text 8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Step 1: masculine or feminine?</a:t>
            </a:r>
            <a:endParaRPr lang="en-US" sz="1250" dirty="0"/>
          </a:p>
          <a:p>
            <a:pPr algn="l" indent="0" marL="0">
              <a:buNone/>
            </a:pPr>
            <a:r>
              <a:rPr lang="en-US" sz="1250" dirty="0">
                <a:solidFill>
                  <a:srgbClr val="1E6B52"/>
                </a:solidFill>
                <a:latin typeface="Calibri" pitchFamily="34" charset="0"/>
                <a:cs typeface="Amiri" pitchFamily="2" charset="-78"/>
              </a:rPr>
              <a:t>Step 2: every word matches.</a:t>
            </a:r>
            <a:endParaRPr lang="en-US" sz="1250" dirty="0"/>
          </a:p>
          <a:p>
            <a:pPr algn="l" indent="0" marL="0">
              <a:buNone/>
            </a:pPr>
            <a:r>
              <a:rPr lang="en-US" sz="1250" dirty="0">
                <a:solidFill>
                  <a:srgbClr val="1E6B52"/>
                </a:solidFill>
                <a:latin typeface="Calibri" pitchFamily="34" charset="0"/>
                <a:cs typeface="Amiri" pitchFamily="2" charset="-78"/>
              </a:rPr>
              <a:t>Step 3: noun first.</a:t>
            </a:r>
            <a:endParaRPr lang="en-US" sz="1250" dirty="0"/>
          </a:p>
        </p:txBody>
      </p:sp>
      <p:sp>
        <p:nvSpPr>
          <p:cNvPr id="86" name="Text 8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GENDER DETECTIVE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Detective: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gender.</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شَمْسٌ</a:t>
            </a:r>
            <a:endParaRPr lang="ar-SA" sz="2200" dirty="0"/>
          </a:p>
        </p:txBody>
      </p:sp>
      <p:sp>
        <p:nvSpPr>
          <p:cNvPr id="20" name="Shape 17"/>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1" name="Shape 18"/>
          <p:cNvSpPr/>
          <p:nvPr/>
        </p:nvSpPr>
        <p:spPr>
          <a:xfrm>
            <a:off x="640080" y="2532888"/>
            <a:ext cx="256032" cy="256032"/>
          </a:xfrm>
          <a:prstGeom prst="ellipse">
            <a:avLst/>
          </a:prstGeom>
          <a:solidFill>
            <a:srgbClr val="2E8B57"/>
          </a:solidFill>
          <a:ln w="12700">
            <a:solidFill>
              <a:srgbClr val="2E8B57"/>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Feminine</a:t>
            </a:r>
            <a:endParaRPr lang="en-US" sz="1250" dirty="0"/>
          </a:p>
        </p:txBody>
      </p:sp>
      <p:sp>
        <p:nvSpPr>
          <p:cNvPr id="24" name="Shape 21"/>
          <p:cNvSpPr/>
          <p:nvPr/>
        </p:nvSpPr>
        <p:spPr>
          <a:xfrm>
            <a:off x="640080" y="2990088"/>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Masculine</a:t>
            </a:r>
            <a:endParaRPr lang="en-US" sz="1250" dirty="0"/>
          </a:p>
        </p:txBody>
      </p:sp>
      <p:sp>
        <p:nvSpPr>
          <p:cNvPr id="27" name="Text 24"/>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شَمْسٌ</a:t>
            </a:r>
            <a:pPr algn="l" indent="0" marL="0">
              <a:buNone/>
            </a:pPr>
            <a:r>
              <a:rPr lang="en-US" sz="1050" i="1" dirty="0">
                <a:solidFill>
                  <a:srgbClr val="8A6D1E"/>
                </a:solidFill>
                <a:latin typeface="Calibri" pitchFamily="34" charset="0"/>
                <a:cs typeface="Amiri" pitchFamily="2" charset="-78"/>
              </a:rPr>
              <a:t> is feminine without </a:t>
            </a:r>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Choose the matching demonstrative.</a:t>
            </a:r>
            <a:endParaRPr lang="en-US" sz="11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عَيْنٌ</a:t>
            </a:r>
            <a:endParaRPr lang="ar-SA" sz="2200" dirty="0"/>
          </a:p>
        </p:txBody>
      </p:sp>
      <p:sp>
        <p:nvSpPr>
          <p:cNvPr id="33" name="Shape 30"/>
          <p:cNvSpPr/>
          <p:nvPr/>
        </p:nvSpPr>
        <p:spPr>
          <a:xfrm>
            <a:off x="4459224" y="2490216"/>
            <a:ext cx="256032" cy="256032"/>
          </a:xfrm>
          <a:prstGeom prst="ellipse">
            <a:avLst/>
          </a:prstGeom>
          <a:solidFill>
            <a:srgbClr val="C9CED6"/>
          </a:solidFill>
          <a:ln w="12700">
            <a:solidFill>
              <a:srgbClr val="C9CED6"/>
            </a:solidFill>
            <a:prstDash val="solid"/>
          </a:ln>
        </p:spPr>
      </p:sp>
      <p:sp>
        <p:nvSpPr>
          <p:cNvPr id="34" name="Text 31"/>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a:t>
            </a:r>
            <a:endParaRPr lang="ar-SA" sz="1700" dirty="0"/>
          </a:p>
        </p:txBody>
      </p:sp>
      <p:sp>
        <p:nvSpPr>
          <p:cNvPr id="36" name="Shape 33"/>
          <p:cNvSpPr/>
          <p:nvPr/>
        </p:nvSpPr>
        <p:spPr>
          <a:xfrm>
            <a:off x="4459224" y="2862072"/>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هُوَ</a:t>
            </a:r>
            <a:endParaRPr lang="ar-SA" sz="1700" dirty="0"/>
          </a:p>
        </p:txBody>
      </p:sp>
      <p:sp>
        <p:nvSpPr>
          <p:cNvPr id="39" name="Shape 36"/>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4459224" y="3233928"/>
            <a:ext cx="256032" cy="256032"/>
          </a:xfrm>
          <a:prstGeom prst="ellipse">
            <a:avLst/>
          </a:prstGeom>
          <a:solidFill>
            <a:srgbClr val="2E8B57"/>
          </a:solidFill>
          <a:ln w="12700">
            <a:solidFill>
              <a:srgbClr val="2E8B57"/>
            </a:solidFill>
            <a:prstDash val="solid"/>
          </a:ln>
        </p:spPr>
      </p:sp>
      <p:sp>
        <p:nvSpPr>
          <p:cNvPr id="41" name="Text 38"/>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2" name="Text 39"/>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هَذِهِ</a:t>
            </a:r>
            <a:endParaRPr lang="ar-SA" sz="1700" dirty="0"/>
          </a:p>
        </p:txBody>
      </p:sp>
      <p:sp>
        <p:nvSpPr>
          <p:cNvPr id="43" name="Text 40"/>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عَيْنٌ</a:t>
            </a:r>
            <a:pPr algn="l" indent="0" marL="0">
              <a:buNone/>
            </a:pPr>
            <a:r>
              <a:rPr lang="en-US" sz="1050" i="1" dirty="0">
                <a:solidFill>
                  <a:srgbClr val="8A6D1E"/>
                </a:solidFill>
                <a:latin typeface="Calibri" pitchFamily="34" charset="0"/>
                <a:cs typeface="Amiri" pitchFamily="2" charset="-78"/>
              </a:rPr>
              <a:t> is feminine, so use </a:t>
            </a:r>
            <a:pPr algn="l" indent="0" marL="0">
              <a:buNone/>
            </a:pPr>
            <a:r>
              <a:rPr lang="ar-SA" altLang="en-US" sz="1350" dirty="0">
                <a:solidFill>
                  <a:srgbClr val="8A6D1E"/>
                </a:solidFill>
                <a:latin typeface="Amiri" pitchFamily="2" charset="-78"/>
                <a:ea typeface="Amiri" pitchFamily="2" charset="-78"/>
                <a:cs typeface="Amiri" pitchFamily="2" charset="-78"/>
              </a:rPr>
              <a:t>هَذِهِ</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4" name="Shape 41"/>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23504" y="1947672"/>
            <a:ext cx="310896" cy="310896"/>
          </a:xfrm>
          <a:prstGeom prst="ellipse">
            <a:avLst/>
          </a:prstGeom>
          <a:solidFill>
            <a:srgbClr val="1B3B6F"/>
          </a:solidFill>
          <a:ln w="12700">
            <a:solidFill>
              <a:srgbClr val="1B3B6F"/>
            </a:solidFill>
            <a:prstDash val="solid"/>
          </a:ln>
        </p:spPr>
      </p:sp>
      <p:sp>
        <p:nvSpPr>
          <p:cNvPr id="46" name="Text 43"/>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7" name="Text 44"/>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Choose the accurate phrase.</a:t>
            </a:r>
            <a:endParaRPr lang="en-US" sz="1200" dirty="0"/>
          </a:p>
        </p:txBody>
      </p:sp>
      <p:sp>
        <p:nvSpPr>
          <p:cNvPr id="48" name="Text 45"/>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أُمٌّ</a:t>
            </a:r>
            <a:endParaRPr lang="ar-SA" sz="220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أُمٌّ جَمِيلَةٌ</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 جَمِيلٌ</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جَمِيلَةٌ أُمٌّ</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أُمٌّ</a:t>
            </a:r>
            <a:pPr algn="l" indent="0" marL="0">
              <a:buNone/>
            </a:pPr>
            <a:r>
              <a:rPr lang="en-US" sz="1050" i="1" dirty="0">
                <a:solidFill>
                  <a:srgbClr val="8A6D1E"/>
                </a:solidFill>
                <a:latin typeface="Calibri" pitchFamily="34" charset="0"/>
                <a:cs typeface="Amiri" pitchFamily="2" charset="-78"/>
              </a:rPr>
              <a:t> is feminine, so it takes </a:t>
            </a:r>
            <a:pPr algn="l" indent="0" marL="0">
              <a:buNone/>
            </a:pPr>
            <a:r>
              <a:rPr lang="ar-SA" altLang="en-US" sz="1350" dirty="0">
                <a:solidFill>
                  <a:srgbClr val="8A6D1E"/>
                </a:solidFill>
                <a:latin typeface="Amiri" pitchFamily="2" charset="-78"/>
                <a:ea typeface="Amiri" pitchFamily="2" charset="-78"/>
                <a:cs typeface="Amiri" pitchFamily="2" charset="-78"/>
              </a:rPr>
              <a:t>جَمِيلَةٌ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Choose the accurate sentence.</a:t>
            </a:r>
            <a:endParaRPr lang="en-US" sz="1150" dirty="0"/>
          </a:p>
        </p:txBody>
      </p:sp>
      <p:sp>
        <p:nvSpPr>
          <p:cNvPr id="64" name="Text 61"/>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زَمِيلَةٌ</a:t>
            </a:r>
            <a:endParaRPr lang="ar-SA" sz="2200" dirty="0"/>
          </a:p>
        </p:txBody>
      </p:sp>
      <p:sp>
        <p:nvSpPr>
          <p:cNvPr id="65" name="Shape 62"/>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هَذَا زَمِيلَةٌ سَعِيدٌ.</a:t>
            </a:r>
            <a:endParaRPr lang="ar-SA" sz="1700" dirty="0"/>
          </a:p>
        </p:txBody>
      </p:sp>
      <p:sp>
        <p:nvSpPr>
          <p:cNvPr id="68" name="Shape 65"/>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9" name="Shape 66"/>
          <p:cNvSpPr/>
          <p:nvPr/>
        </p:nvSpPr>
        <p:spPr>
          <a:xfrm>
            <a:off x="640080" y="5202936"/>
            <a:ext cx="256032" cy="256032"/>
          </a:xfrm>
          <a:prstGeom prst="ellipse">
            <a:avLst/>
          </a:prstGeom>
          <a:solidFill>
            <a:srgbClr val="2E8B57"/>
          </a:solidFill>
          <a:ln w="12700">
            <a:solidFill>
              <a:srgbClr val="2E8B57"/>
            </a:solidFill>
            <a:prstDash val="solid"/>
          </a:ln>
        </p:spPr>
      </p:sp>
      <p:sp>
        <p:nvSpPr>
          <p:cNvPr id="70"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1"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هَذِهِ زَمِيلَةٌ سَعِيدَةٌ.</a:t>
            </a:r>
            <a:endParaRPr lang="ar-SA" sz="1700" dirty="0"/>
          </a:p>
        </p:txBody>
      </p:sp>
      <p:sp>
        <p:nvSpPr>
          <p:cNvPr id="72" name="Shape 69"/>
          <p:cNvSpPr/>
          <p:nvPr/>
        </p:nvSpPr>
        <p:spPr>
          <a:xfrm>
            <a:off x="640080"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هَذِهِ زَمِيلٌ سَعِيدَةٌ.</a:t>
            </a:r>
            <a:endParaRPr lang="ar-SA" sz="1700" dirty="0"/>
          </a:p>
        </p:txBody>
      </p:sp>
      <p:sp>
        <p:nvSpPr>
          <p:cNvPr id="75" name="Text 72"/>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هَذِهِ</a:t>
            </a:r>
            <a:pPr algn="l" indent="0" marL="0">
              <a:buNone/>
            </a:pPr>
            <a:r>
              <a:rPr lang="en-US" sz="1050" i="1" dirty="0">
                <a:solidFill>
                  <a:srgbClr val="8A6D1E"/>
                </a:solidFill>
                <a:latin typeface="Calibri" pitchFamily="34" charset="0"/>
                <a:cs typeface="Amiri" pitchFamily="2" charset="-78"/>
              </a:rPr>
              <a:t>, </a:t>
            </a:r>
            <a:pPr algn="l" indent="0" marL="0">
              <a:buNone/>
            </a:pPr>
            <a:r>
              <a:rPr lang="ar-SA" altLang="en-US" sz="1350" dirty="0">
                <a:solidFill>
                  <a:srgbClr val="8A6D1E"/>
                </a:solidFill>
                <a:latin typeface="Amiri" pitchFamily="2" charset="-78"/>
                <a:ea typeface="Amiri" pitchFamily="2" charset="-78"/>
                <a:cs typeface="Amiri" pitchFamily="2" charset="-78"/>
              </a:rPr>
              <a:t>زَمِيلَةٌ</a:t>
            </a:r>
            <a:pPr algn="l" indent="0" marL="0">
              <a:buNone/>
            </a:pPr>
            <a:r>
              <a:rPr lang="en-US" sz="1050" i="1" dirty="0">
                <a:solidFill>
                  <a:srgbClr val="8A6D1E"/>
                </a:solidFill>
                <a:latin typeface="Calibri" pitchFamily="34" charset="0"/>
                <a:cs typeface="Amiri" pitchFamily="2" charset="-78"/>
              </a:rPr>
              <a:t> and </a:t>
            </a:r>
            <a:pPr algn="l" indent="0" marL="0">
              <a:buNone/>
            </a:pPr>
            <a:r>
              <a:rPr lang="ar-SA" altLang="en-US" sz="1350" dirty="0">
                <a:solidFill>
                  <a:srgbClr val="8A6D1E"/>
                </a:solidFill>
                <a:latin typeface="Amiri" pitchFamily="2" charset="-78"/>
                <a:ea typeface="Amiri" pitchFamily="2" charset="-78"/>
                <a:cs typeface="Amiri" pitchFamily="2" charset="-78"/>
              </a:rPr>
              <a:t>سَعِيدَةٌ</a:t>
            </a:r>
            <a:pPr algn="l" indent="0" marL="0">
              <a:buNone/>
            </a:pPr>
            <a:r>
              <a:rPr lang="en-US" sz="1050" i="1" dirty="0">
                <a:solidFill>
                  <a:srgbClr val="8A6D1E"/>
                </a:solidFill>
                <a:latin typeface="Calibri" pitchFamily="34" charset="0"/>
                <a:cs typeface="Amiri" pitchFamily="2" charset="-78"/>
              </a:rPr>
              <a:t> agree.</a:t>
            </a:r>
            <a:endParaRPr lang="en-US" sz="1050" dirty="0"/>
          </a:p>
        </p:txBody>
      </p:sp>
      <p:sp>
        <p:nvSpPr>
          <p:cNvPr id="76" name="Shape 73"/>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4"/>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5"/>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6"/>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Choose the matching description.</a:t>
            </a:r>
            <a:endParaRPr lang="en-US" sz="1100" dirty="0"/>
          </a:p>
        </p:txBody>
      </p:sp>
      <p:sp>
        <p:nvSpPr>
          <p:cNvPr id="80" name="Text 77"/>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أُخْتٌ</a:t>
            </a:r>
            <a:endParaRPr lang="ar-SA" sz="220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أُخْتٌ قَصِيرَةٌ</a:t>
            </a:r>
            <a:endParaRPr lang="ar-SA" sz="170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أُخْتٌ قَصِيرٌ</a:t>
            </a:r>
            <a:endParaRPr lang="ar-SA" sz="170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قَصِيرَةٌ أُخْتٌ</a:t>
            </a:r>
            <a:endParaRPr lang="ar-SA" sz="170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is feminine, so the adjective is </a:t>
            </a:r>
            <a:pPr algn="l" indent="0" marL="0">
              <a:buNone/>
            </a:pPr>
            <a:r>
              <a:rPr lang="ar-SA" altLang="en-US" sz="1350" dirty="0">
                <a:solidFill>
                  <a:srgbClr val="8A6D1E"/>
                </a:solidFill>
                <a:latin typeface="Amiri" pitchFamily="2" charset="-78"/>
                <a:ea typeface="Amiri" pitchFamily="2" charset="-78"/>
                <a:cs typeface="Amiri" pitchFamily="2" charset="-78"/>
              </a:rPr>
              <a:t>قَصِيرَةٌ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4" name="Text 91"/>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5" name="Text 92"/>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Step 1: masculine or feminine?</a:t>
            </a:r>
            <a:endParaRPr lang="en-US" sz="1250" dirty="0"/>
          </a:p>
          <a:p>
            <a:pPr algn="l" indent="0" marL="0">
              <a:buNone/>
            </a:pPr>
            <a:r>
              <a:rPr lang="en-US" sz="1250" dirty="0">
                <a:solidFill>
                  <a:srgbClr val="1E6B52"/>
                </a:solidFill>
                <a:latin typeface="Calibri" pitchFamily="34" charset="0"/>
                <a:cs typeface="Amiri" pitchFamily="2" charset="-78"/>
              </a:rPr>
              <a:t>Step 2: every word matches.</a:t>
            </a:r>
            <a:endParaRPr lang="en-US" sz="1250" dirty="0"/>
          </a:p>
          <a:p>
            <a:pPr algn="l" indent="0" marL="0">
              <a:buNone/>
            </a:pPr>
            <a:r>
              <a:rPr lang="en-US" sz="1250" dirty="0">
                <a:solidFill>
                  <a:srgbClr val="1E6B52"/>
                </a:solidFill>
                <a:latin typeface="Calibri" pitchFamily="34" charset="0"/>
                <a:cs typeface="Amiri" pitchFamily="2" charset="-78"/>
              </a:rPr>
              <a:t>Step 3: noun first.</a:t>
            </a:r>
            <a:endParaRPr lang="en-US" sz="125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زَمِيلَةٌ لَطِيفٌ</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noun is feminine. What about the adjective?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جَدِيدٌ كِتَابٌ</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comes first in Arabic?</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هَذَا أُخْتٌ قَصِيرَةٌ.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أُخْتٌ</a:t>
            </a:r>
            <a:pPr algn="l" indent="0" marL="0">
              <a:buNone/>
            </a:pPr>
            <a:r>
              <a:rPr lang="en-US" sz="1300" i="1" dirty="0">
                <a:solidFill>
                  <a:srgbClr val="5A6472"/>
                </a:solidFill>
                <a:latin typeface="Calibri" pitchFamily="34" charset="0"/>
                <a:cs typeface="Amiri" pitchFamily="2" charset="-78"/>
              </a:rPr>
              <a:t> has no </a:t>
            </a:r>
            <a:pPr algn="l" indent="0" marL="0">
              <a:buNone/>
            </a:pPr>
            <a:r>
              <a:rPr lang="ar-SA" altLang="en-US" sz="1700" dirty="0">
                <a:solidFill>
                  <a:srgbClr val="5A6472"/>
                </a:solidFill>
                <a:latin typeface="Amiri" pitchFamily="2" charset="-78"/>
                <a:ea typeface="Amiri" pitchFamily="2" charset="-78"/>
                <a:cs typeface="Amiri" pitchFamily="2" charset="-78"/>
              </a:rPr>
              <a:t>ة</a:t>
            </a:r>
            <a:pPr algn="l" indent="0" marL="0">
              <a:buNone/>
            </a:pPr>
            <a:r>
              <a:rPr lang="en-US" sz="1300" i="1" dirty="0">
                <a:solidFill>
                  <a:srgbClr val="5A6472"/>
                </a:solidFill>
                <a:latin typeface="Calibri" pitchFamily="34" charset="0"/>
                <a:cs typeface="Amiri" pitchFamily="2" charset="-78"/>
              </a:rPr>
              <a:t> — but is it masculine?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زَمِيلَةٌ لَطِيفٌ</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زَمِيلَةٌ لَطِيفَةٌ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noun is feminine, so the adjective is feminine too.</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جَدِيدٌ كِتَابٌ</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كِتَابٌ جَدِيدٌ</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Noun first, adjective second.</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هَذَا أُخْتٌ قَصِيرَةٌ.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أُخْتٌ قَصِيرَةٌ.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أُخْتٌ</a:t>
            </a:r>
            <a:pPr algn="l" indent="0" marL="0">
              <a:buNone/>
            </a:pPr>
            <a:r>
              <a:rPr lang="en-US" sz="1150" b="1" dirty="0">
                <a:solidFill>
                  <a:srgbClr val="1B3B6F"/>
                </a:solidFill>
                <a:latin typeface="Calibri" pitchFamily="34" charset="0"/>
                <a:cs typeface="Amiri" pitchFamily="2" charset="-78"/>
              </a:rPr>
              <a:t> is feminine without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 so use </a:t>
            </a:r>
            <a:pPr algn="l" indent="0" marL="0">
              <a:buNone/>
            </a:pPr>
            <a:r>
              <a:rPr lang="ar-SA" altLang="en-US" sz="1500" b="1" dirty="0">
                <a:solidFill>
                  <a:srgbClr val="1B3B6F"/>
                </a:solidFill>
                <a:latin typeface="Amiri" pitchFamily="2" charset="-78"/>
                <a:ea typeface="Amiri" pitchFamily="2" charset="-78"/>
                <a:cs typeface="Amiri" pitchFamily="2" charset="-78"/>
              </a:rPr>
              <a:t>هَذِهِ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is being described?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Description 1 is about 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زَمِيلٌ</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طِفْلٌ</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adjectives describe Yusuf?</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ذَكِيٌّ وَقَصِيرٌ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سَعِيدٌ وَصَغِيرٌ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لَطِيفٌ وَطَوِيلٌ</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Description 2 uses which feminine noun?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صَدِيقَةٌ</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مُعَلِّمَةٌ</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زَمِيلَةٌ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Zaynab is…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ذَكِيَّةٌ وَسَعِيدَةٌ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لَطِيفَةٌ وَطَوِيلَةٌ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قَدِيمَةٌ وَكَبِيرَةٌ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sister is described as…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طَوِيلَةٌ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قَصِيرَةٌ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لَطِيفَةٌ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First: who? Then: the exact noun + adjective pair.</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زَمِيلٌ جَدِيدٌ. اِسْمُهُ يُوسُفُ. هُوَ لَطِيفٌ وَطَوِيلٌ.</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is a new classmate. His name is Yusuf. He is kind and tall.</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زَمِيلَةٌ جَدِيدَةٌ. اِسْمُهَا زَيْنَبُ. هِيَ ذَكِيَّةٌ وَسَعِيدَةٌ.</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is a new classmate (f.). Her name is Zaynab. She is clever and happy.</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طِفْلٌ صَغِيرٌ، وَهَذِهِ طِفْلَةٌ صَغِيرَةٌ.</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is a young boy, and this is a young girl.</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أَخٌ طَوِيلٌ، وَهَذِهِ أُخْتٌ قَصِيرَةٌ.</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is a tall brother, and this is a short sister.</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Description 1 is about a…</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زَمِيلٌ</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مُعَلِّمٌ</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طِفْلٌ</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says </a:t>
            </a:r>
            <a:pPr algn="l" indent="0" marL="0">
              <a:buNone/>
            </a:pPr>
            <a:r>
              <a:rPr lang="ar-SA" altLang="en-US" sz="1350" dirty="0">
                <a:solidFill>
                  <a:srgbClr val="8A6D1E"/>
                </a:solidFill>
                <a:latin typeface="Amiri" pitchFamily="2" charset="-78"/>
                <a:ea typeface="Amiri" pitchFamily="2" charset="-78"/>
                <a:cs typeface="Amiri" pitchFamily="2" charset="-78"/>
              </a:rPr>
              <a:t>هَذَا زَمِيلٌ جَدِيدٌ</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adjectives describe Yusuf?</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ذَكِيٌّ وَقَصِيرٌ</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سَعِيدٌ وَصَغِيرٌ</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لَطِيفٌ وَطَوِيلٌ</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Yusuf is described as kind and tall.</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Description 2 uses which feminine noun?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صَدِيقَةٌ</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مُعَلِّمَةٌ</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زَمِيلَةٌ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speaker introduces Zaynab as </a:t>
            </a:r>
            <a:pPr algn="l" indent="0" marL="0">
              <a:buNone/>
            </a:pPr>
            <a:r>
              <a:rPr lang="ar-SA" altLang="en-US" sz="1350" dirty="0">
                <a:solidFill>
                  <a:srgbClr val="8A6D1E"/>
                </a:solidFill>
                <a:latin typeface="Amiri" pitchFamily="2" charset="-78"/>
                <a:ea typeface="Amiri" pitchFamily="2" charset="-78"/>
                <a:cs typeface="Amiri" pitchFamily="2" charset="-78"/>
              </a:rPr>
              <a:t>زَمِيلَةٌ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Zaynab is…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ذَكِيَّةٌ وَسَعِيدَةٌ</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لَطِيفَةٌ وَطَوِيلَةٌ</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قَدِيمَةٌ وَكَبِيرَةٌ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exact adjectives are </a:t>
            </a:r>
            <a:pPr algn="l" indent="0" marL="0">
              <a:buNone/>
            </a:pPr>
            <a:r>
              <a:rPr lang="ar-SA" altLang="en-US" sz="1350" dirty="0">
                <a:solidFill>
                  <a:srgbClr val="8A6D1E"/>
                </a:solidFill>
                <a:latin typeface="Amiri" pitchFamily="2" charset="-78"/>
                <a:ea typeface="Amiri" pitchFamily="2" charset="-78"/>
                <a:cs typeface="Amiri" pitchFamily="2" charset="-78"/>
              </a:rPr>
              <a:t>ذَكِيَّةٌ وَسَعِيدَةٌ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sister is described as…</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طَوِيلَةٌ</a:t>
            </a:r>
            <a:endParaRPr lang="ar-SA" sz="170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قَصِيرَةٌ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لَطِيفَةٌ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transcript says </a:t>
            </a:r>
            <a:pPr algn="l" indent="0" marL="0">
              <a:buNone/>
            </a:pPr>
            <a:r>
              <a:rPr lang="ar-SA" altLang="en-US" sz="1350" dirty="0">
                <a:solidFill>
                  <a:srgbClr val="8A6D1E"/>
                </a:solidFill>
                <a:latin typeface="Amiri" pitchFamily="2" charset="-78"/>
                <a:ea typeface="Amiri" pitchFamily="2" charset="-78"/>
                <a:cs typeface="Amiri" pitchFamily="2" charset="-78"/>
              </a:rPr>
              <a:t>أُخْتٌ قَصِيرَةٌ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a:t>
            </a:r>
            <a:endParaRPr lang="en-US" sz="1250" dirty="0"/>
          </a:p>
          <a:p>
            <a:pPr algn="l" indent="0" marL="0">
              <a:buNone/>
            </a:pPr>
            <a:r>
              <a:rPr lang="en-US" sz="1250" dirty="0">
                <a:solidFill>
                  <a:srgbClr val="1E6B52"/>
                </a:solidFill>
                <a:latin typeface="Calibri" pitchFamily="34" charset="0"/>
                <a:cs typeface="Amiri" pitchFamily="2" charset="-78"/>
              </a:rPr>
              <a:t>First: who? Then: the exact noun + adjective pair.</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A SHORT CLASS PROFILE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a short class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مَلَفًّا قَصِيرًا عَنِ الفَصْلِ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خَالِدٌ. هُوَ طَالِبٌ جَدِيدٌ وَزَمِيلٌ لَطِيفٌ. هُوَ طَوِيلٌ وَذَكِيٌّ.</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is Khalid. He is a new student and a kind classmate. He is tall and clever.</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مَرْيَمُ. هِيَ طَالِبَةٌ جَدِيدَةٌ وَزَمِيلَةٌ لَطِيفَةٌ. هِيَ قَصِيرَةٌ وَسَعِيدَةٌ.</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is Maryam. She is a new student and a kind classmate. She is short and happy.</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يُوسُفُ. هُوَ أَخٌ كَبِيرٌ. وَهَذِهِ زَيْنَبُ. هِيَ أُخْتٌ صَغِيرَةٌ.</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This is Yusuf. He is an older brother. And this is Zaynab. She is a younger sister.</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فَصْلُهُمْ كَبِيرٌ، وَمَدْرَسَتُهُمْ جَدِيدَةٌ. فِي الفَصْلِ كِتَابٌ قَدِيمٌ وَحَقِيبَةٌ جَمِيلَةٌ.</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Their class is big and their school is new. In the class there is an old book and a beautiful bag.</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QUESTIONS · FIND THE EVIDENCE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Prove it from the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adjectives describe Khalid?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قَصِيرٌ وَسَعِيدٌ</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طَوِيلٌ وَذَكِيٌّ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قَدِيمٌ وَجَمِيلٌ</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Maryam is a…</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زَمِيلٌ لَطِيفٌ</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طِفْلَةٌ صَغِيرَةٌ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زَمِيلَةٌ لَطِيفَةٌ</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irregular feminine noun describes Zaynab?</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أُخْتٌ</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بِنْتٌ</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book is…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قَدِيمَةٌ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قَدِيمٌ</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جَدِيدَةٌ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bag is…</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جَمِيلَةٌ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جَمِيلٌ</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قَصِيرَةٌ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Answer from the Arabic text, not from the pictures alone (website).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36</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adjectives describe Khalid?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قَصِيرٌ وَسَعِيدٌ</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طَوِيلٌ وَذَكِيٌّ</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قَدِيمٌ وَجَمِيلٌ</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Khalid is tall and clever.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Maryam is a…</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زَمِيلٌ لَطِيفٌ</a:t>
            </a:r>
            <a:endParaRPr lang="ar-SA" sz="170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طِفْلَةٌ صَغِيرَةٌ</a:t>
            </a:r>
            <a:endParaRPr lang="ar-SA" sz="170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زَمِيلَةٌ لَطِيفَةٌ</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words in </a:t>
            </a:r>
            <a:pPr algn="l" indent="0" marL="0">
              <a:buNone/>
            </a:pPr>
            <a:r>
              <a:rPr lang="ar-SA" altLang="en-US" sz="1350" dirty="0">
                <a:solidFill>
                  <a:srgbClr val="8A6D1E"/>
                </a:solidFill>
                <a:latin typeface="Amiri" pitchFamily="2" charset="-78"/>
                <a:ea typeface="Amiri" pitchFamily="2" charset="-78"/>
                <a:cs typeface="Amiri" pitchFamily="2" charset="-78"/>
              </a:rPr>
              <a:t>زَمِيلَةٌ لَطِيفَةٌ</a:t>
            </a:r>
            <a:pPr algn="l" indent="0" marL="0">
              <a:buNone/>
            </a:pPr>
            <a:r>
              <a:rPr lang="en-US" sz="1050" i="1" dirty="0">
                <a:solidFill>
                  <a:srgbClr val="8A6D1E"/>
                </a:solidFill>
                <a:latin typeface="Calibri" pitchFamily="34" charset="0"/>
                <a:cs typeface="Amiri" pitchFamily="2" charset="-78"/>
              </a:rPr>
              <a:t> are feminine.</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irregular feminine noun describes Zaynab?</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أُخْتٌ</a:t>
            </a:r>
            <a:endParaRPr lang="ar-SA" sz="170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بِنْتٌ</a:t>
            </a:r>
            <a:endParaRPr lang="ar-SA" sz="170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a:t>
            </a:r>
            <a:pPr algn="l" indent="0" marL="0">
              <a:buNone/>
            </a:pPr>
            <a:r>
              <a:rPr lang="ar-SA" altLang="en-US" sz="1350" dirty="0">
                <a:solidFill>
                  <a:srgbClr val="8A6D1E"/>
                </a:solidFill>
                <a:latin typeface="Amiri" pitchFamily="2" charset="-78"/>
                <a:ea typeface="Amiri" pitchFamily="2" charset="-78"/>
                <a:cs typeface="Amiri" pitchFamily="2" charset="-78"/>
              </a:rPr>
              <a:t>هِيَ أُخْتٌ صَغِيرَةٌ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book is…</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قَدِيمَةٌ</a:t>
            </a:r>
            <a:endParaRPr lang="ar-SA" sz="170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قَدِيمٌ</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جَدِيدَةٌ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كِتَابٌ</a:t>
            </a:r>
            <a:pPr algn="l" indent="0" marL="0">
              <a:buNone/>
            </a:pPr>
            <a:r>
              <a:rPr lang="en-US" sz="1050" i="1" dirty="0">
                <a:solidFill>
                  <a:srgbClr val="8A6D1E"/>
                </a:solidFill>
                <a:latin typeface="Calibri" pitchFamily="34" charset="0"/>
                <a:cs typeface="Amiri" pitchFamily="2" charset="-78"/>
              </a:rPr>
              <a:t> is masculine, so the text uses </a:t>
            </a:r>
            <a:pPr algn="l" indent="0" marL="0">
              <a:buNone/>
            </a:pPr>
            <a:r>
              <a:rPr lang="ar-SA" altLang="en-US" sz="1350" dirty="0">
                <a:solidFill>
                  <a:srgbClr val="8A6D1E"/>
                </a:solidFill>
                <a:latin typeface="Amiri" pitchFamily="2" charset="-78"/>
                <a:ea typeface="Amiri" pitchFamily="2" charset="-78"/>
                <a:cs typeface="Amiri" pitchFamily="2" charset="-78"/>
              </a:rPr>
              <a:t>قَدِيمٌ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bag is…</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جَمِيلَةٌ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جَمِيلٌ</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قَصِيرَةٌ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حَقِيبَةٌ</a:t>
            </a:r>
            <a:pPr algn="l" indent="0" marL="0">
              <a:buNone/>
            </a:pPr>
            <a:r>
              <a:rPr lang="en-US" sz="1050" i="1" dirty="0">
                <a:solidFill>
                  <a:srgbClr val="8A6D1E"/>
                </a:solidFill>
                <a:latin typeface="Calibri" pitchFamily="34" charset="0"/>
                <a:cs typeface="Amiri" pitchFamily="2" charset="-78"/>
              </a:rPr>
              <a:t> is feminine and takes </a:t>
            </a:r>
            <a:pPr algn="l" indent="0" marL="0">
              <a:buNone/>
            </a:pPr>
            <a:r>
              <a:rPr lang="ar-SA" altLang="en-US" sz="1350" dirty="0">
                <a:solidFill>
                  <a:srgbClr val="8A6D1E"/>
                </a:solidFill>
                <a:latin typeface="Amiri" pitchFamily="2" charset="-78"/>
                <a:ea typeface="Amiri" pitchFamily="2" charset="-78"/>
                <a:cs typeface="Amiri" pitchFamily="2" charset="-78"/>
              </a:rPr>
              <a:t>جَمِيلَةٌ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Answer from the Arabic text, not from the pictures alone (website).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36</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Describe the person accurately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 هَذَا؟ مَنْ هَذِهِ؟</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زَمِيلًا أَوْ زَمِيلَةً.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أَخًا أَوْ أُخْتًا.</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شَخْصَيْنِ بِصِفَتَيْنِ.</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هَذَا ___ ___ . / هَذِهِ ___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هَذِهِ زَمِيلَتِي. اِسْمُهَا ___ . هِيَ ___ .</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هُوَ ___ وَ ___ ، وَهِيَ ___ وَ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مُمْتَازٌ! / مُمْتَازَةٌ!</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هَذَا طَالِبٌ جَدِيدٌ. اِسْمُهُ يُوسُفُ.</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This is a new male student. His name is Yusuf.</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هَذِهِ طَالِبَةٌ جَدِيدَةٌ. اِسْمُهَا زَيْنَبُ.</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This is a new female student. Her name is Zaynab.</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36</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phrases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Four noun + adjective phrases with four different people nouns.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Four people nouns, each with ONE matching adjective (use the tables).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3 descriptions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Three connected descriptions with at least five different adjectives.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This is … + name + he / she is … with five different adjectives.</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3 descriptions +</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 irregular feminine noun, two adjectives in one sentence and one described object.</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Two adjectives in one sentence, a feminine noun without ة, and one object.</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36</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هَذَا صَدِيقِي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friend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وَلَدٌ ______ وَ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is a … boy.</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هَذِهِ زَمِيلَتِي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my classmate (f.)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طَالِبَةٌ ______ وَ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is a … student.</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حَقِيبَتِي كِتَابٌ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bag there is an old book.</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طَالِبٌ ______</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new male student</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طَالِبَةٌ ______</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new female student</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صَدِيقَةٌ ______</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kind friend (f.)</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 ______</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tall brother</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أُخْتٌ ______</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short sister</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جَدِيدٌ  ·  جَدِيدَةٌ  ·  قَدِيمٌ  ·  كَبِيرٌ  ·  صَغِيرَةٌ  ·  جَمِيلَةٌ  ·  ذَكِيٌّ  ·  ذَكِيَّةٌ  ·  لَطِيفٌ  ·  لَطِيفَةٌ  ·  طَوِيلٌ  ·  قَصِيرَةٌ  ·  سَعِيدٌ  ·  سَعِيدَةٌ</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36</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هَذَا صَدِيقِي يُوسُفُ. هُوَ وَلَدٌ ذَكِيٌّ وَلَطِيفٌ وَطَوِيلٌ.</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هَذِهِ زَمِيلَتِي فَاطِمَةُ. هِيَ طَالِبَةٌ جَدِيدَةٌ وَسَعِيدَةٌ.</a:t>
            </a:r>
            <a:endParaRPr lang="ar-SA" sz="2600" dirty="0"/>
          </a:p>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وَهَذِهِ أُخْتِي. هِيَ بِنْتٌ صَغِيرَةٌ وَجَمِيلَةٌ.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This is my friend Yusuf. He is a clever, kind and tall boy. — This is my classmate Fatima. She is a new and happy student. — And this is my sister. She is a small and beautiful girl.</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هَذَا / هَذِهِ</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noun then adjective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five adjectives</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a feminine noun without 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36</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Each adjective comes after its noun.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 a feminine noun, my adjective has </a:t>
            </a:r>
            <a:pPr algn="l" indent="0" marL="0">
              <a:buNone/>
            </a:pPr>
            <a:r>
              <a:rPr lang="ar-SA" altLang="en-US" sz="1700" dirty="0">
                <a:solidFill>
                  <a:srgbClr val="1F2A37"/>
                </a:solidFill>
                <a:latin typeface="Amiri" pitchFamily="2" charset="-78"/>
                <a:ea typeface="Amiri" pitchFamily="2" charset="-78"/>
                <a:cs typeface="Amiri" pitchFamily="2" charset="-78"/>
              </a:rPr>
              <a:t>ة</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ea typeface="Amiri" pitchFamily="2" charset="-78"/>
                <a:cs typeface="Amiri" pitchFamily="2" charset="-78"/>
              </a:rPr>
              <a:t>هَذَا</a:t>
            </a:r>
            <a:pPr algn="l" indent="0" marL="0">
              <a:buNone/>
            </a:pPr>
            <a:r>
              <a:rPr lang="en-US" sz="1300" dirty="0">
                <a:solidFill>
                  <a:srgbClr val="1F2A37"/>
                </a:solidFill>
                <a:latin typeface="Calibri" pitchFamily="34" charset="0"/>
                <a:cs typeface="Amiri" pitchFamily="2" charset="-78"/>
              </a:rPr>
              <a:t> or </a:t>
            </a:r>
            <a:pPr algn="l" indent="0" marL="0">
              <a:buNone/>
            </a:pPr>
            <a:r>
              <a:rPr lang="ar-SA" altLang="en-US" sz="1700" dirty="0">
                <a:solidFill>
                  <a:srgbClr val="1F2A37"/>
                </a:solidFill>
                <a:latin typeface="Amiri" pitchFamily="2" charset="-78"/>
                <a:ea typeface="Amiri" pitchFamily="2" charset="-78"/>
                <a:cs typeface="Amiri" pitchFamily="2" charset="-78"/>
              </a:rPr>
              <a:t>هَذِهِ</a:t>
            </a:r>
            <a:pPr algn="l" indent="0" marL="0">
              <a:buNone/>
            </a:pPr>
            <a:r>
              <a:rPr lang="en-US" sz="1300" dirty="0">
                <a:solidFill>
                  <a:srgbClr val="1F2A37"/>
                </a:solidFill>
                <a:latin typeface="Calibri" pitchFamily="34" charset="0"/>
                <a:cs typeface="Amiri" pitchFamily="2" charset="-78"/>
              </a:rPr>
              <a:t> accurately.</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least five different adjectives.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included a feminine noun without </a:t>
            </a:r>
            <a:pPr algn="l" indent="0" marL="0">
              <a:buNone/>
            </a:pPr>
            <a:r>
              <a:rPr lang="ar-SA" altLang="en-US" sz="1700" dirty="0">
                <a:solidFill>
                  <a:srgbClr val="1F2A37"/>
                </a:solidFill>
                <a:latin typeface="Amiri" pitchFamily="2" charset="-78"/>
                <a:ea typeface="Amiri" pitchFamily="2" charset="-78"/>
                <a:cs typeface="Amiri" pitchFamily="2" charset="-78"/>
              </a:rPr>
              <a:t>ة</a:t>
            </a:r>
            <a:pPr algn="l" indent="0" marL="0">
              <a:buNone/>
            </a:pPr>
            <a:r>
              <a:rPr lang="en-US" sz="1300" dirty="0">
                <a:solidFill>
                  <a:srgbClr val="1F2A37"/>
                </a:solidFill>
                <a:latin typeface="Calibri" pitchFamily="34" charset="0"/>
                <a:cs typeface="Amiri" pitchFamily="2" charset="-78"/>
              </a:rPr>
              <a:t>, correctly matched.</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36</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feminine phrase.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زَمِيلَةٌ لَطِيفَةٌ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زَمِيلٌ لَطِيفَةٌ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لَطِيفَةٌ زَمِيلَةٌ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هَذِهِ طِفْلَةٌ ...</a:t>
            </a:r>
            <a:endParaRPr lang="ar-SA" sz="2200" dirty="0"/>
          </a:p>
        </p:txBody>
      </p:sp>
      <p:sp>
        <p:nvSpPr>
          <p:cNvPr id="33" name="Shape 30"/>
          <p:cNvSpPr/>
          <p:nvPr/>
        </p:nvSpPr>
        <p:spPr>
          <a:xfrm>
            <a:off x="4459224"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صَغِيرٌ</a:t>
            </a:r>
            <a:endParaRPr lang="ar-SA" sz="2050" dirty="0"/>
          </a:p>
        </p:txBody>
      </p:sp>
      <p:sp>
        <p:nvSpPr>
          <p:cNvPr id="36" name="Shape 33"/>
          <p:cNvSpPr/>
          <p:nvPr/>
        </p:nvSpPr>
        <p:spPr>
          <a:xfrm>
            <a:off x="4459224"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صَغِيرَةٌ</a:t>
            </a:r>
            <a:endParaRPr lang="ar-SA" sz="2050" dirty="0"/>
          </a:p>
        </p:txBody>
      </p:sp>
      <p:sp>
        <p:nvSpPr>
          <p:cNvPr id="39" name="Shape 36"/>
          <p:cNvSpPr/>
          <p:nvPr/>
        </p:nvSpPr>
        <p:spPr>
          <a:xfrm>
            <a:off x="4459224"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قَصِيرٌ</a:t>
            </a:r>
            <a:endParaRPr lang="ar-SA" sz="2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completely accurate sentence.</a:t>
            </a:r>
            <a:endParaRPr lang="en-US" sz="1250" dirty="0"/>
          </a:p>
        </p:txBody>
      </p:sp>
      <p:sp>
        <p:nvSpPr>
          <p:cNvPr id="46" name="Shape 43"/>
          <p:cNvSpPr/>
          <p:nvPr/>
        </p:nvSpPr>
        <p:spPr>
          <a:xfrm>
            <a:off x="8278368" y="2532888"/>
            <a:ext cx="256032" cy="256032"/>
          </a:xfrm>
          <a:prstGeom prst="ellipse">
            <a:avLst/>
          </a:prstGeom>
          <a:solidFill>
            <a:srgbClr val="F4F1EA"/>
          </a:solidFill>
          <a:ln w="12700">
            <a:solidFill>
              <a:srgbClr val="F4F1EA"/>
            </a:solidFill>
            <a:prstDash val="solid"/>
          </a:ln>
        </p:spPr>
      </p:sp>
      <p:sp>
        <p:nvSpPr>
          <p:cNvPr id="47" name="Text 44"/>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أُخْتٌ قَصِيرَةٌ وَلَطِيفَةٌ.</a:t>
            </a:r>
            <a:endParaRPr lang="ar-SA" sz="2050" dirty="0"/>
          </a:p>
        </p:txBody>
      </p:sp>
      <p:sp>
        <p:nvSpPr>
          <p:cNvPr id="49" name="Shape 46"/>
          <p:cNvSpPr/>
          <p:nvPr/>
        </p:nvSpPr>
        <p:spPr>
          <a:xfrm>
            <a:off x="8278368" y="29900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هَذَا أُخْتٌ قَصِيرٌ وَلَطِيفٌ.</a:t>
            </a:r>
            <a:endParaRPr lang="ar-SA" sz="2050" dirty="0"/>
          </a:p>
        </p:txBody>
      </p:sp>
      <p:sp>
        <p:nvSpPr>
          <p:cNvPr id="52" name="Shape 49"/>
          <p:cNvSpPr/>
          <p:nvPr/>
        </p:nvSpPr>
        <p:spPr>
          <a:xfrm>
            <a:off x="8278368" y="34472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هَذِهِ أَخٌ قَصِيرَةٌ وَلَطِيفَةٌ.</a:t>
            </a:r>
            <a:endParaRPr lang="ar-SA" sz="2050" dirty="0"/>
          </a:p>
        </p:txBody>
      </p:sp>
      <p:sp>
        <p:nvSpPr>
          <p:cNvPr id="55" name="Shape 52"/>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7" name="Text 54"/>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36</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correct feminine phrase.</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زَمِيلَةٌ لَطِيفَةٌ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زَمِيلٌ لَطِيفَةٌ</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لَطِيفَةٌ زَمِيلَةٌ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comes first and both forms are feminine.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هَذِهِ طِفْلَةٌ ...</a:t>
            </a:r>
            <a:endParaRPr lang="ar-SA" sz="2200" dirty="0"/>
          </a:p>
        </p:txBody>
      </p:sp>
      <p:sp>
        <p:nvSpPr>
          <p:cNvPr id="35" name="Shape 32"/>
          <p:cNvSpPr/>
          <p:nvPr/>
        </p:nvSpPr>
        <p:spPr>
          <a:xfrm>
            <a:off x="4459224" y="2532888"/>
            <a:ext cx="256032" cy="256032"/>
          </a:xfrm>
          <a:prstGeom prst="ellipse">
            <a:avLst/>
          </a:prstGeom>
          <a:solidFill>
            <a:srgbClr val="C9CED6"/>
          </a:solidFill>
          <a:ln w="12700">
            <a:solidFill>
              <a:srgbClr val="C9CED6"/>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صَغِيرٌ</a:t>
            </a:r>
            <a:endParaRPr lang="ar-SA" sz="2050" dirty="0"/>
          </a:p>
        </p:txBody>
      </p:sp>
      <p:sp>
        <p:nvSpPr>
          <p:cNvPr id="38" name="Shape 35"/>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9" name="Shape 36"/>
          <p:cNvSpPr/>
          <p:nvPr/>
        </p:nvSpPr>
        <p:spPr>
          <a:xfrm>
            <a:off x="4459224" y="2990088"/>
            <a:ext cx="256032" cy="256032"/>
          </a:xfrm>
          <a:prstGeom prst="ellipse">
            <a:avLst/>
          </a:prstGeom>
          <a:solidFill>
            <a:srgbClr val="2E8B57"/>
          </a:solidFill>
          <a:ln w="12700">
            <a:solidFill>
              <a:srgbClr val="2E8B57"/>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صَغِيرَةٌ</a:t>
            </a:r>
            <a:endParaRPr lang="ar-SA" sz="2050" dirty="0"/>
          </a:p>
        </p:txBody>
      </p:sp>
      <p:sp>
        <p:nvSpPr>
          <p:cNvPr id="42" name="Shape 39"/>
          <p:cNvSpPr/>
          <p:nvPr/>
        </p:nvSpPr>
        <p:spPr>
          <a:xfrm>
            <a:off x="4459224" y="344728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قَصِيرٌ</a:t>
            </a:r>
            <a:endParaRPr lang="ar-SA" sz="2050" dirty="0"/>
          </a:p>
        </p:txBody>
      </p:sp>
      <p:sp>
        <p:nvSpPr>
          <p:cNvPr id="45" name="Text 42"/>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طِفْلَةٌ</a:t>
            </a:r>
            <a:pPr algn="l" indent="0" marL="0">
              <a:buNone/>
            </a:pPr>
            <a:r>
              <a:rPr lang="en-US" sz="1050" i="1" dirty="0">
                <a:solidFill>
                  <a:srgbClr val="8A6D1E"/>
                </a:solidFill>
                <a:latin typeface="Calibri" pitchFamily="34" charset="0"/>
                <a:cs typeface="Amiri" pitchFamily="2" charset="-78"/>
              </a:rPr>
              <a:t> is feminine and takes </a:t>
            </a:r>
            <a:pPr algn="l" indent="0" marL="0">
              <a:buNone/>
            </a:pPr>
            <a:r>
              <a:rPr lang="ar-SA" altLang="en-US" sz="1350" dirty="0">
                <a:solidFill>
                  <a:srgbClr val="8A6D1E"/>
                </a:solidFill>
                <a:latin typeface="Amiri" pitchFamily="2" charset="-78"/>
                <a:ea typeface="Amiri" pitchFamily="2" charset="-78"/>
                <a:cs typeface="Amiri" pitchFamily="2" charset="-78"/>
              </a:rPr>
              <a:t>صَغِيرَةٌ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6" name="Shape 43"/>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5"/>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completely accurate sentence.</a:t>
            </a:r>
            <a:endParaRPr lang="en-US" sz="1250" dirty="0"/>
          </a:p>
        </p:txBody>
      </p:sp>
      <p:sp>
        <p:nvSpPr>
          <p:cNvPr id="50" name="Shape 47"/>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1" name="Shape 48"/>
          <p:cNvSpPr/>
          <p:nvPr/>
        </p:nvSpPr>
        <p:spPr>
          <a:xfrm>
            <a:off x="8278368" y="2532888"/>
            <a:ext cx="256032" cy="256032"/>
          </a:xfrm>
          <a:prstGeom prst="ellipse">
            <a:avLst/>
          </a:prstGeom>
          <a:solidFill>
            <a:srgbClr val="2E8B57"/>
          </a:solidFill>
          <a:ln w="12700">
            <a:solidFill>
              <a:srgbClr val="2E8B57"/>
            </a:solidFill>
            <a:prstDash val="solid"/>
          </a:ln>
        </p:spPr>
      </p:sp>
      <p:sp>
        <p:nvSpPr>
          <p:cNvPr id="52" name="Text 49"/>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3" name="Text 50"/>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هَذِهِ أُخْتٌ قَصِيرَةٌ وَلَطِيفَةٌ.</a:t>
            </a:r>
            <a:endParaRPr lang="ar-SA" sz="2050" dirty="0"/>
          </a:p>
        </p:txBody>
      </p:sp>
      <p:sp>
        <p:nvSpPr>
          <p:cNvPr id="54" name="Shape 51"/>
          <p:cNvSpPr/>
          <p:nvPr/>
        </p:nvSpPr>
        <p:spPr>
          <a:xfrm>
            <a:off x="8278368" y="2990088"/>
            <a:ext cx="256032" cy="256032"/>
          </a:xfrm>
          <a:prstGeom prst="ellipse">
            <a:avLst/>
          </a:prstGeom>
          <a:solidFill>
            <a:srgbClr val="C9CED6"/>
          </a:solidFill>
          <a:ln w="12700">
            <a:solidFill>
              <a:srgbClr val="C9CED6"/>
            </a:solidFill>
            <a:prstDash val="solid"/>
          </a:ln>
        </p:spPr>
      </p:sp>
      <p:sp>
        <p:nvSpPr>
          <p:cNvPr id="55" name="Text 52"/>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6" name="Text 53"/>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هَذَا أُخْتٌ قَصِيرٌ وَلَطِيفٌ.</a:t>
            </a:r>
            <a:endParaRPr lang="ar-SA" sz="2050" dirty="0"/>
          </a:p>
        </p:txBody>
      </p:sp>
      <p:sp>
        <p:nvSpPr>
          <p:cNvPr id="57" name="Shape 54"/>
          <p:cNvSpPr/>
          <p:nvPr/>
        </p:nvSpPr>
        <p:spPr>
          <a:xfrm>
            <a:off x="8278368" y="3447288"/>
            <a:ext cx="256032" cy="256032"/>
          </a:xfrm>
          <a:prstGeom prst="ellipse">
            <a:avLst/>
          </a:prstGeom>
          <a:solidFill>
            <a:srgbClr val="C9CED6"/>
          </a:solidFill>
          <a:ln w="12700">
            <a:solidFill>
              <a:srgbClr val="C9CED6"/>
            </a:solidFill>
            <a:prstDash val="solid"/>
          </a:ln>
        </p:spPr>
      </p:sp>
      <p:sp>
        <p:nvSpPr>
          <p:cNvPr id="58" name="Text 55"/>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هَذِهِ أَخٌ قَصِيرَةٌ وَلَطِيفَةٌ.</a:t>
            </a:r>
            <a:endParaRPr lang="ar-SA" sz="2050" dirty="0"/>
          </a:p>
        </p:txBody>
      </p:sp>
      <p:sp>
        <p:nvSpPr>
          <p:cNvPr id="60" name="Text 57"/>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demonstrative, noun and both adjectives are feminine.</a:t>
            </a:r>
            <a:endParaRPr lang="en-US" sz="1050" dirty="0"/>
          </a:p>
        </p:txBody>
      </p:sp>
      <p:sp>
        <p:nvSpPr>
          <p:cNvPr id="61" name="Shape 58"/>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2" name="Text 59"/>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3" name="Text 60"/>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4" name="Text 6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36</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F2-L05 · Masculine &amp; Feminine</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F2-L06: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F2-L05</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F2-L06 · Polite Classroom Arabic</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 فَضْلِكَ</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please (to a boy)</a:t>
            </a:r>
            <a:pPr indent="0" marL="0">
              <a:buNone/>
            </a:pPr>
            <a:r>
              <a:rPr lang="ar-SA" sz="1000" i="1" dirty="0">
                <a:solidFill>
                  <a:srgbClr val="5A6472"/>
                </a:solidFill>
                <a:latin typeface="Calibri" pitchFamily="34" charset="0"/>
                <a:ea typeface="Amiri" pitchFamily="2" charset="-78"/>
                <a:cs typeface="Amiri" pitchFamily="2" charset="-78"/>
              </a:rPr>
              <a:t>  f. مِنْ فَضْلِكِ</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شُكْرًا جَزِيلًا</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thank you very much</a:t>
            </a:r>
            <a:pPr indent="0" marL="0">
              <a:buNone/>
            </a:pP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عَفْوًا</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you’re welcome / excuse me</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أَنَا آسِفٌ</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am sorry (boy speaking)</a:t>
            </a:r>
            <a:pPr indent="0" marL="0">
              <a:buNone/>
            </a:pPr>
            <a:r>
              <a:rPr lang="ar-SA" sz="1000" i="1" dirty="0">
                <a:solidFill>
                  <a:srgbClr val="5A6472"/>
                </a:solidFill>
                <a:latin typeface="Calibri" pitchFamily="34" charset="0"/>
                <a:ea typeface="Amiri" pitchFamily="2" charset="-78"/>
                <a:cs typeface="Amiri" pitchFamily="2" charset="-78"/>
              </a:rPr>
              <a:t>  f. آسِفَةٌ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تَفَضَّلْ</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here you are (to a boy)</a:t>
            </a:r>
            <a:pPr indent="0" marL="0">
              <a:buNone/>
            </a:pPr>
            <a:r>
              <a:rPr lang="ar-SA" sz="1000" i="1" dirty="0">
                <a:solidFill>
                  <a:srgbClr val="5A6472"/>
                </a:solidFill>
                <a:latin typeface="Calibri" pitchFamily="34" charset="0"/>
                <a:ea typeface="Amiri" pitchFamily="2" charset="-78"/>
                <a:cs typeface="Amiri" pitchFamily="2" charset="-78"/>
              </a:rPr>
              <a:t>  f. تَفَضَّلِي</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Which polite phrase do you use most in English at school? Find its Arabic partner in the list.</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مِنْ فَضْلِكَ · شُكْرًا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F2-L05: Gender Detective (14 rounds) and the picture game.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three accurate descriptions with five adjectives (type, draw or paper route).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Add two adjectives in one sentence and a feminine noun without </a:t>
            </a:r>
            <a:pPr algn="l" indent="0" marL="0">
              <a:buNone/>
            </a:pPr>
            <a:r>
              <a:rPr lang="ar-SA" altLang="en-US" sz="1550" dirty="0">
                <a:solidFill>
                  <a:srgbClr val="1F2A37"/>
                </a:solidFill>
                <a:latin typeface="Amiri" pitchFamily="2" charset="-78"/>
                <a:ea typeface="Amiri" pitchFamily="2" charset="-78"/>
                <a:cs typeface="Amiri" pitchFamily="2" charset="-78"/>
              </a:rPr>
              <a:t>ة</a:t>
            </a:r>
            <a:pPr algn="l" indent="0" marL="0">
              <a:buNone/>
            </a:pPr>
            <a:r>
              <a:rPr lang="en-US" sz="1200" dirty="0">
                <a:solidFill>
                  <a:srgbClr val="1F2A37"/>
                </a:solidFill>
                <a:latin typeface="Calibri" pitchFamily="34" charset="0"/>
                <a:cs typeface="Amiri" pitchFamily="2" charset="-78"/>
              </a:rPr>
              <a:t>; then the 12-question checkpoint (aim for 10/12).</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36</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F2-L05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F2-L06 · Polite Classroom Arabic</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لُغَةُ الأَدَبِ فِي الصَّفِّ</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learn 5 polite phrases (boy / girl forms).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F2-L05 · Masculine and Feminine: Make the Pair Match</dc:title>
  <dc:subject>PptxGenJS Presentation</dc:subject>
  <dc:creator>Al Madina Online School · Arabic Department</dc:creator>
  <cp:lastModifiedBy>Al Madina Online School · Arabic Department</cp:lastModifiedBy>
  <cp:revision>1</cp:revision>
  <dcterms:created xsi:type="dcterms:W3CDTF">2026-10-11T06:41:23Z</dcterms:created>
  <dcterms:modified xsi:type="dcterms:W3CDTF">2026-10-11T06:41:23Z</dcterms:modified>
</cp:coreProperties>
</file>