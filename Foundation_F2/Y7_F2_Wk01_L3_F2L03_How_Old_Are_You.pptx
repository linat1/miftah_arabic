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Foundation › F2 Greetings &amp; Introductions › Lesson 3 (F2-L03). Website sections used: the three-question readiness check, age vocabulary and the numbers 11–20, the pattern عُمْرُكَ / عُمْرُكِ / عُمْرِي with سَنَةً / سَنَوَاتٍ, the age-pattern decision check, listening (three exchanges, six questions), the Adam–Maryam reading (five questions), the name-and-age speaking model and checklist, the age-line writing task and the ten-question checkpoint. Picture match: website visual game “How Old Are You?”.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ONE secure answer frame — عُمْرِي … سَنَةً — and your own age. Students do NOT need to explain the number grammar; they learn their own age as a whole chunk.
• Develop: the four ages the website uses most (12–15) and both gendered questions. Stretch: younger ages 3–10 with سَنَوَاتٍ.
• Teacher note: the website gives the number words in the feminine form because سَنَة is feminine (ثَلَاثَ عَشْرَةَ سَنَةً). Present them as fixed phrases today; number grammar comes later in the course.
• Arabic-Indic digits (F1-L07) are on every age card — a good retrieval moment. Urdu bridge: عمر، سال (not Arabic!), کم، نمبر.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words prepared at home. Questions 3–5 are the website “three-question readiness check” (name question, the digit ١٢, “and you?”).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The age question uses the same endings as the name question: -ka for a boy, -ki for a girl. Answer with “my 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Website “By the end, I can …” (left) and the website Core / Develop / Stretch goals (right).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عمر (umr — exactly the same word: “Ap ki umr kya hai?”), سوال / جواب (question / answer), عدد (number).
FALSE FRIEND: Urdu کم (kam) means “less”; Arabic كَمْ (kam) means “how many / how much?”. And Urdu سال (year) is Persian — the Arabic word is سَنَة.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Group 1 (website “Build the age conversation”). Hear → Say → See → Use.
Card 4 shows one year / two years / years. Card 5: the plural “your ages” is أَعْمَارُكُمْ (recognition only).
Website: “In the age answer, you will usually see سَنَةً” — the -an ending (tanwīn fatḥa, F1-L06).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NUMBERS 11–15 (website list). CORE rows = the website characters’ ages (Khalid 12, Zaynab 13, Maryam 14, Yusuf 15).
Say each age line; students repeat. Everyone finds THEIR OWN age now and writes it in their book as a whole chunk.
F1 link: read the digit first (F1-L07), then the words. The pattern is simple: [3–9] + عَشْرَةَ.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NUMBERS 16–20 (website list) — FLEX: useful for older family members and the website visual game (ages 16–18). عِشْرُونَ is a new word, not “two + 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(website section 3, “One noun, three useful endings”): the same endings from the name question return with عُمْر.
Website secure model: كَمْ عُمْرُكِ؟ — عُمْرِي ثَلَاثَ عَشْرَةَ سَنَةً. Choose the ending from the listener; answer with عُمْرِي whatever your gender.
Website common mistake: do not copy the question ending into the answer (عُمْرُكَ = your age; your answer begins عُمْرِي).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PATTERN: ages 11–20 → ١٤ سَنَةً (singular “year”); younger ages 3–10 → ٥ سَنَوَاتٍ (plural “years”).
Card 2 sentence is teacher-made (a younger brother) to give the Stretch rule a real use. Core students only need card 1 and card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“Age-pattern decision check” questions 1–4.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the website listening exchange 2 (Zaynab, 13), modelled with a think-aloud. Students copy it and underline the endings: pink = your, blue = my.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(“Visual game — How Old Are You?”)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“How Old Are You?” (3 of 6 cards; ages 16–18 for homework). The only difference is the first number word: ثَلَاثَ / أَرْبَعَ / خَمْسَ — perfect for careful reading.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(“Visual game — How Old Are You?”)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“How Old Are You?” (3 of 6 cards; ages 16–18 for homework). The only difference is the first number word: ثَلَاثَ / أَرْبَعَ / خَمْسَ — perfect for careful reading.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pattern check Q5 (Stretch: age 5) and checkpoint Q6 and Q8. Show-me: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the class reads each correct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(4 min) — website script. Read it aloud yourself, twice, at natural speed with pauses.
Before listening: students read the questions (● 30s). Core: questions 1, 2 and 3. Develop / Stretch: all 5.
Listen 1: just listen. Listen 2: note answers. Then chat the letters.
Support: after the second listening, show the read-along slide (Arabic + English, line by line) for Core students.
SCRIPT (read aloud):
مَرْحَبًا. مَا اسْمُكَ؟ — اِسْمِي خَالِد. كَمْ عُمْرُكَ؟ — عُمْرِي اِثْنَتَا عَشْرَةَ سَنَةً. / مَرْحَبًا. مَا اسْمُكِ؟ — اِسْمِي زَيْنَب. كَمْ عُمْرُكِ؟ — عُمْرِي ثَلَاثَ عَشْرَةَ سَنَةً. / السَّلَامُ عَلَيْكُمْ. اِسْمِي يُوسُف. عُمْرِي خَمْسَ عَشْرَةَ سَنَةً. وَأَنْتَ؟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(website section 5). Scan for names, question endings and age numbers before answering. Core: read with English; Develop / Stretch: cover the English.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five website reading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student reads aloud the line that proves each answer (by invitation).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اِسْمِي خَالِد. كَمْ عُمْرُكِ؟ (My name is Khalid. How old are you?)
B: عُمْرِي ثَلَاثَ عَشْرَةَ سَنَةً. وَأَنْتَ؟ (I am thirteen years old. And you?)
A: عُمْرِي اِثْنَتَا عَشْرَةَ سَنَةً. (I am twelve years old.)
WEBSITE SPEAKING CHECKLIST (the listener ticks 1–5 in the chat): 1 opened politely · 2 asked the name with the correct ending · 3 asked the age with عُمْرُكَ / عُمْرُكِ · 4 answered with عُمْرِي … سَنَةً · 5 asked back.
Website “random partner prompt”: show a character card (خَالِد ١٢ · زَيْنَب ١٣ · يُوسُف ١٥ · مَرْيَم ١٤); the partner answers AS that character.
Stretch prompt (teacher-made): “How old is your brother or sister?” — uses سَنَوَاتٍ for 3–10. Summarise (↺): his age / her age is … (Stretch).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Write your own age line and the two age questions (to a boy, to a girl). · Develop — Write a four-line name-and-age exchange. · Stretch — Add a younger person (a brother or sister, age 3–10) with سَنَوَاتٍ.
Website writing task (Stretch): Website writing task: write your own age line, both gendered age questions and a four-line name-and-age exchange. Stretch: include one younger age with سَنَوَاتٍ.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with an English translation for Core students.
Students find in the model (● 20s → ◎) the four items on the chips. Website “achievable model”.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10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(F2-L04 · Nationality and Language) will spend class time USING this language, so students prepare it tonight — short, simple, easy to access (school guidance: “Simple, Short, Interesting, Relevant, Easy to access”). The five words are the website F2-L04 core identity vocabulary and its model line أَتَكَلَّمُ العَرَبِيَّةَ.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1.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slideLayout" Target="../slideLayouts/slideLayout1.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34" charset="0"/>
                <a:ea typeface="Amiri" pitchFamily="34" charset="-122"/>
                <a:cs typeface="Amiri" pitchFamily="34" charset="-120"/>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Al Madina Online School</a:t>
            </a:r>
            <a:endParaRPr lang="en-US" sz="1400" dirty="0"/>
          </a:p>
          <a:p>
            <a:pPr indent="0" marL="0">
              <a:buNone/>
            </a:pPr>
            <a:r>
              <a:rPr lang="en-US" sz="800" b="1" spc="200" kern="0" dirty="0">
                <a:solidFill>
                  <a:srgbClr val="D4AF37"/>
                </a:solidFill>
                <a:latin typeface="Calibri" pitchFamily="34" charset="0"/>
                <a:ea typeface="Calibri" pitchFamily="34" charset="-122"/>
                <a:cs typeface="Calibri" pitchFamily="34" charset="-120"/>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ea typeface="Calibri" pitchFamily="34" charset="-122"/>
                <a:cs typeface="Calibri" pitchFamily="34" charset="-120"/>
              </a:rPr>
              <a:t>CAMBRIDGE IGCSE ARABIC 0544  ·  YEAR 7  ·  FOUNDATION F2  ·  WEEK 1  ·  LESSON 3 OF 3</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ea typeface="Cambria" pitchFamily="34" charset="-122"/>
                <a:cs typeface="Cambria" pitchFamily="34" charset="-120"/>
              </a:rPr>
              <a:t>F2-L03</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How Old Are You?</a:t>
            </a:r>
            <a:endParaRPr lang="en-US" sz="40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34" charset="0"/>
                <a:ea typeface="Amiri" pitchFamily="34" charset="-122"/>
                <a:cs typeface="Amiri" pitchFamily="34" charset="-120"/>
              </a:rPr>
              <a:t>كَمْ عُمْرُكَ؟ كَمْ عُمْرُكِ؟</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ea typeface="Calibri" pitchFamily="34" charset="-122"/>
                <a:cs typeface="Calibri" pitchFamily="34" charset="-120"/>
              </a:rPr>
              <a:t>Ask one person their age (-ka to a boy, -ki to a girl), answer with </a:t>
            </a:r>
            <a:pPr algn="l" indent="0" marL="0">
              <a:buNone/>
            </a:pPr>
            <a:r>
              <a:rPr lang="ar-SA" altLang="en-US" sz="1800" dirty="0">
                <a:solidFill>
                  <a:srgbClr val="C6D2E6"/>
                </a:solidFill>
                <a:latin typeface="Amiri" pitchFamily="34" charset="0"/>
                <a:ea typeface="Amiri" pitchFamily="34" charset="-122"/>
                <a:cs typeface="Amiri" pitchFamily="34" charset="-120"/>
              </a:rPr>
              <a:t>عُمْرِي … سَنَةً</a:t>
            </a:r>
            <a:pPr algn="l" indent="0" marL="0">
              <a:buNone/>
            </a:pPr>
            <a:r>
              <a:rPr lang="en-US" sz="1400" dirty="0">
                <a:solidFill>
                  <a:srgbClr val="C6D2E6"/>
                </a:solidFill>
                <a:latin typeface="Calibri" pitchFamily="34" charset="0"/>
                <a:ea typeface="Calibri" pitchFamily="34" charset="-122"/>
                <a:cs typeface="Calibri" pitchFamily="34" charset="-120"/>
              </a:rPr>
              <a:t>, and recognise the ages 11–20 in short conversations and profiles.</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LESSON</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F2-L03 · Week 1, lesson 3</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DURATION</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LEVEL</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ON THE WEBSITE</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Foundation › F2 › Lesson 3</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F2-L03 · Age</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1 · Lesson 3 of 3</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Camera on</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Mic muted</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Chat for learning</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Raise your hand</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ea typeface="Calibri" pitchFamily="34" charset="-122"/>
                <a:cs typeface="Calibri" pitchFamily="34" charset="-120"/>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Think</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Rehearse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Build</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Challenge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Share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Summarise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ea typeface="Calibri" pitchFamily="34" charset="-122"/>
                <a:cs typeface="Calibri" pitchFamily="34" charset="-120"/>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 / 36</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F2-L03 · Age</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1 · Lesson 3 of 3</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34" charset="0"/>
                <a:ea typeface="Amiri" pitchFamily="34" charset="-122"/>
                <a:cs typeface="Amiri" pitchFamily="34" charset="-120"/>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Age words and numbers 11–20, then </a:t>
            </a:r>
            <a:pPr algn="ctr" indent="0" marL="0">
              <a:buNone/>
            </a:pPr>
            <a:r>
              <a:rPr lang="ar-SA" altLang="en-US" sz="1550" dirty="0">
                <a:solidFill>
                  <a:srgbClr val="1F2A37"/>
                </a:solidFill>
                <a:latin typeface="Amiri" pitchFamily="34" charset="0"/>
                <a:ea typeface="Amiri" pitchFamily="34" charset="-122"/>
                <a:cs typeface="Amiri" pitchFamily="34" charset="-120"/>
              </a:rPr>
              <a:t>عُمْرِي … سَنَةً</a:t>
            </a:r>
            <a:pPr algn="ctr" indent="0" marL="0">
              <a:buNone/>
            </a:pPr>
            <a:r>
              <a:rPr lang="en-US" sz="1200" dirty="0">
                <a:solidFill>
                  <a:srgbClr val="1F2A37"/>
                </a:solidFill>
                <a:latin typeface="Calibri" pitchFamily="34" charset="0"/>
                <a:ea typeface="Calibri" pitchFamily="34" charset="-122"/>
                <a:cs typeface="Calibri" pitchFamily="34" charset="-120"/>
              </a:rPr>
              <a:t>.</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34" charset="0"/>
                <a:ea typeface="Amiri" pitchFamily="34" charset="-122"/>
                <a:cs typeface="Amiri" pitchFamily="34" charset="-120"/>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Picture match, choose the pattern, listen and read.</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34" charset="0"/>
                <a:ea typeface="Amiri" pitchFamily="34" charset="-122"/>
                <a:cs typeface="Amiri" pitchFamily="34" charset="-120"/>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34" charset="0"/>
                <a:ea typeface="Amiri" pitchFamily="34" charset="-122"/>
                <a:cs typeface="Amiri" pitchFamily="34" charset="-120"/>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34" charset="0"/>
                <a:ea typeface="Amiri" pitchFamily="34" charset="-122"/>
                <a:cs typeface="Amiri" pitchFamily="34" charset="-120"/>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Get ready at home for F2-L04.</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34" charset="0"/>
                <a:ea typeface="Amiri" pitchFamily="34" charset="-122"/>
                <a:cs typeface="Amiri" pitchFamily="34" charset="-120"/>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 / 36</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F2-L03 · Age</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ea typeface="Calibri" pitchFamily="34" charset="-122"/>
                <a:cs typeface="Calibri" pitchFamily="34" charset="-120"/>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1 · Lesson 3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What does this question mean?</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كَمْ عُمْرُكِ؟</a:t>
            </a:r>
            <a:endParaRPr lang="ar-SA" sz="220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What is your name? (to a girl)</a:t>
            </a:r>
            <a:endParaRPr lang="en-US" sz="12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How old are you? (to a girl)</a:t>
            </a:r>
            <a:endParaRPr lang="en-US" sz="12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How are you? (to a girl)</a:t>
            </a:r>
            <a:endParaRPr lang="en-US" sz="1250" dirty="0"/>
          </a:p>
        </p:txBody>
      </p:sp>
      <p:sp>
        <p:nvSpPr>
          <p:cNvPr id="29" name="Shape 26"/>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4404360"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2" name="Text 29"/>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سَنَةٌ</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33" name="Shape 30"/>
          <p:cNvSpPr/>
          <p:nvPr/>
        </p:nvSpPr>
        <p:spPr>
          <a:xfrm>
            <a:off x="4459224" y="2532888"/>
            <a:ext cx="256032" cy="256032"/>
          </a:xfrm>
          <a:prstGeom prst="ellipse">
            <a:avLst/>
          </a:prstGeom>
          <a:solidFill>
            <a:srgbClr val="F4F1EA"/>
          </a:solidFill>
          <a:ln w="12700">
            <a:solidFill>
              <a:srgbClr val="F4F1EA"/>
            </a:solidFill>
            <a:prstDash val="solid"/>
          </a:ln>
        </p:spPr>
      </p:sp>
      <p:sp>
        <p:nvSpPr>
          <p:cNvPr id="34" name="Text 31"/>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5" name="Text 32"/>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year</a:t>
            </a:r>
            <a:endParaRPr lang="en-US" sz="1250" dirty="0"/>
          </a:p>
        </p:txBody>
      </p:sp>
      <p:sp>
        <p:nvSpPr>
          <p:cNvPr id="36" name="Shape 33"/>
          <p:cNvSpPr/>
          <p:nvPr/>
        </p:nvSpPr>
        <p:spPr>
          <a:xfrm>
            <a:off x="4459224" y="29900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8" name="Text 35"/>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name</a:t>
            </a:r>
            <a:endParaRPr lang="en-US" sz="1250" dirty="0"/>
          </a:p>
        </p:txBody>
      </p:sp>
      <p:sp>
        <p:nvSpPr>
          <p:cNvPr id="39" name="Shape 36"/>
          <p:cNvSpPr/>
          <p:nvPr/>
        </p:nvSpPr>
        <p:spPr>
          <a:xfrm>
            <a:off x="4459224" y="34472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1" name="Text 38"/>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number</a:t>
            </a:r>
            <a:endParaRPr lang="en-US" sz="1250" dirty="0"/>
          </a:p>
        </p:txBody>
      </p:sp>
      <p:sp>
        <p:nvSpPr>
          <p:cNvPr id="42" name="Shape 39"/>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23504" y="1947672"/>
            <a:ext cx="310896" cy="310896"/>
          </a:xfrm>
          <a:prstGeom prst="ellipse">
            <a:avLst/>
          </a:prstGeom>
          <a:solidFill>
            <a:srgbClr val="1B3B6F"/>
          </a:solidFill>
          <a:ln w="12700">
            <a:solidFill>
              <a:srgbClr val="1B3B6F"/>
            </a:solidFill>
            <a:prstDash val="solid"/>
          </a:ln>
        </p:spPr>
      </p:sp>
      <p:sp>
        <p:nvSpPr>
          <p:cNvPr id="44" name="Text 41"/>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5" name="Text 42"/>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Ask one girl her name.</a:t>
            </a:r>
            <a:endParaRPr lang="en-US" sz="1250" dirty="0"/>
          </a:p>
        </p:txBody>
      </p:sp>
      <p:sp>
        <p:nvSpPr>
          <p:cNvPr id="46" name="Shape 43"/>
          <p:cNvSpPr/>
          <p:nvPr/>
        </p:nvSpPr>
        <p:spPr>
          <a:xfrm>
            <a:off x="8278368" y="2532888"/>
            <a:ext cx="256032" cy="256032"/>
          </a:xfrm>
          <a:prstGeom prst="ellipse">
            <a:avLst/>
          </a:prstGeom>
          <a:solidFill>
            <a:srgbClr val="F4F1EA"/>
          </a:solidFill>
          <a:ln w="12700">
            <a:solidFill>
              <a:srgbClr val="F4F1EA"/>
            </a:solidFill>
            <a:prstDash val="solid"/>
          </a:ln>
        </p:spPr>
      </p:sp>
      <p:sp>
        <p:nvSpPr>
          <p:cNvPr id="47" name="Text 44"/>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8" name="Text 45"/>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مَا اسْمُكَ؟</a:t>
            </a:r>
            <a:endParaRPr lang="ar-SA" sz="2050" dirty="0"/>
          </a:p>
        </p:txBody>
      </p:sp>
      <p:sp>
        <p:nvSpPr>
          <p:cNvPr id="49" name="Shape 46"/>
          <p:cNvSpPr/>
          <p:nvPr/>
        </p:nvSpPr>
        <p:spPr>
          <a:xfrm>
            <a:off x="8278368" y="2990088"/>
            <a:ext cx="256032" cy="256032"/>
          </a:xfrm>
          <a:prstGeom prst="ellipse">
            <a:avLst/>
          </a:prstGeom>
          <a:solidFill>
            <a:srgbClr val="F4F1EA"/>
          </a:solidFill>
          <a:ln w="12700">
            <a:solidFill>
              <a:srgbClr val="F4F1EA"/>
            </a:solidFill>
            <a:prstDash val="solid"/>
          </a:ln>
        </p:spPr>
      </p:sp>
      <p:sp>
        <p:nvSpPr>
          <p:cNvPr id="50" name="Text 47"/>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1" name="Text 48"/>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اِسْمِي؟</a:t>
            </a:r>
            <a:endParaRPr lang="ar-SA" sz="2050" dirty="0"/>
          </a:p>
        </p:txBody>
      </p:sp>
      <p:sp>
        <p:nvSpPr>
          <p:cNvPr id="52" name="Shape 49"/>
          <p:cNvSpPr/>
          <p:nvPr/>
        </p:nvSpPr>
        <p:spPr>
          <a:xfrm>
            <a:off x="8278368" y="3447288"/>
            <a:ext cx="256032" cy="256032"/>
          </a:xfrm>
          <a:prstGeom prst="ellipse">
            <a:avLst/>
          </a:prstGeom>
          <a:solidFill>
            <a:srgbClr val="F4F1EA"/>
          </a:solidFill>
          <a:ln w="12700">
            <a:solidFill>
              <a:srgbClr val="F4F1EA"/>
            </a:solidFill>
            <a:prstDash val="solid"/>
          </a:ln>
        </p:spPr>
      </p:sp>
      <p:sp>
        <p:nvSpPr>
          <p:cNvPr id="53" name="Text 50"/>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4" name="Text 51"/>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مَا اسْمُكِ؟</a:t>
            </a:r>
            <a:endParaRPr lang="ar-SA" sz="2050" dirty="0"/>
          </a:p>
        </p:txBody>
      </p:sp>
      <p:sp>
        <p:nvSpPr>
          <p:cNvPr id="55" name="Shape 52"/>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85216" y="4288536"/>
            <a:ext cx="310896" cy="310896"/>
          </a:xfrm>
          <a:prstGeom prst="ellipse">
            <a:avLst/>
          </a:prstGeom>
          <a:solidFill>
            <a:srgbClr val="1B3B6F"/>
          </a:solidFill>
          <a:ln w="12700">
            <a:solidFill>
              <a:srgbClr val="1B3B6F"/>
            </a:solidFill>
            <a:prstDash val="solid"/>
          </a:ln>
        </p:spPr>
      </p:sp>
      <p:sp>
        <p:nvSpPr>
          <p:cNvPr id="57" name="Text 5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8" name="Text 55"/>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digit is twelve?</a:t>
            </a:r>
            <a:endParaRPr lang="en-US" sz="1250" dirty="0"/>
          </a:p>
        </p:txBody>
      </p:sp>
      <p:sp>
        <p:nvSpPr>
          <p:cNvPr id="59" name="Shape 56"/>
          <p:cNvSpPr/>
          <p:nvPr/>
        </p:nvSpPr>
        <p:spPr>
          <a:xfrm>
            <a:off x="640080"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1" name="Text 58"/>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١٥</a:t>
            </a:r>
            <a:endParaRPr lang="ar-SA" sz="2050" dirty="0"/>
          </a:p>
        </p:txBody>
      </p:sp>
      <p:sp>
        <p:nvSpPr>
          <p:cNvPr id="62" name="Shape 59"/>
          <p:cNvSpPr/>
          <p:nvPr/>
        </p:nvSpPr>
        <p:spPr>
          <a:xfrm>
            <a:off x="640080"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4" name="Text 61"/>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٢٠</a:t>
            </a:r>
            <a:endParaRPr lang="ar-SA" sz="2050" dirty="0"/>
          </a:p>
        </p:txBody>
      </p:sp>
      <p:sp>
        <p:nvSpPr>
          <p:cNvPr id="65" name="Shape 62"/>
          <p:cNvSpPr/>
          <p:nvPr/>
        </p:nvSpPr>
        <p:spPr>
          <a:xfrm>
            <a:off x="640080"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7" name="Text 64"/>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١٢</a:t>
            </a:r>
            <a:endParaRPr lang="ar-SA" sz="2050" dirty="0"/>
          </a:p>
        </p:txBody>
      </p:sp>
      <p:sp>
        <p:nvSpPr>
          <p:cNvPr id="68" name="Shape 65"/>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9" name="Shape 66"/>
          <p:cNvSpPr/>
          <p:nvPr/>
        </p:nvSpPr>
        <p:spPr>
          <a:xfrm>
            <a:off x="4404360" y="4288536"/>
            <a:ext cx="310896" cy="310896"/>
          </a:xfrm>
          <a:prstGeom prst="ellipse">
            <a:avLst/>
          </a:prstGeom>
          <a:solidFill>
            <a:srgbClr val="1B3B6F"/>
          </a:solidFill>
          <a:ln w="12700">
            <a:solidFill>
              <a:srgbClr val="1B3B6F"/>
            </a:solidFill>
            <a:prstDash val="solid"/>
          </a:ln>
        </p:spPr>
      </p:sp>
      <p:sp>
        <p:nvSpPr>
          <p:cNvPr id="70" name="Text 67"/>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1" name="Text 68"/>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phrase means ‘And you?’ to a boy?</a:t>
            </a:r>
            <a:endParaRPr lang="en-US" sz="1250" dirty="0"/>
          </a:p>
        </p:txBody>
      </p:sp>
      <p:sp>
        <p:nvSpPr>
          <p:cNvPr id="72" name="Shape 69"/>
          <p:cNvSpPr/>
          <p:nvPr/>
        </p:nvSpPr>
        <p:spPr>
          <a:xfrm>
            <a:off x="4459224" y="4873752"/>
            <a:ext cx="256032" cy="256032"/>
          </a:xfrm>
          <a:prstGeom prst="ellipse">
            <a:avLst/>
          </a:prstGeom>
          <a:solidFill>
            <a:srgbClr val="F4F1EA"/>
          </a:solidFill>
          <a:ln w="12700">
            <a:solidFill>
              <a:srgbClr val="F4F1EA"/>
            </a:solidFill>
            <a:prstDash val="solid"/>
          </a:ln>
        </p:spPr>
      </p:sp>
      <p:sp>
        <p:nvSpPr>
          <p:cNvPr id="73" name="Text 70"/>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4" name="Text 71"/>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وَأَنْتَ؟</a:t>
            </a:r>
            <a:endParaRPr lang="ar-SA" sz="2050" dirty="0"/>
          </a:p>
        </p:txBody>
      </p:sp>
      <p:sp>
        <p:nvSpPr>
          <p:cNvPr id="75" name="Shape 72"/>
          <p:cNvSpPr/>
          <p:nvPr/>
        </p:nvSpPr>
        <p:spPr>
          <a:xfrm>
            <a:off x="4459224" y="5330952"/>
            <a:ext cx="256032" cy="256032"/>
          </a:xfrm>
          <a:prstGeom prst="ellipse">
            <a:avLst/>
          </a:prstGeom>
          <a:solidFill>
            <a:srgbClr val="F4F1EA"/>
          </a:solidFill>
          <a:ln w="12700">
            <a:solidFill>
              <a:srgbClr val="F4F1EA"/>
            </a:solidFill>
            <a:prstDash val="solid"/>
          </a:ln>
        </p:spPr>
      </p:sp>
      <p:sp>
        <p:nvSpPr>
          <p:cNvPr id="76" name="Text 73"/>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7" name="Text 74"/>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وَأَنْتِ؟</a:t>
            </a:r>
            <a:endParaRPr lang="ar-SA" sz="2050" dirty="0"/>
          </a:p>
        </p:txBody>
      </p:sp>
      <p:sp>
        <p:nvSpPr>
          <p:cNvPr id="78" name="Shape 75"/>
          <p:cNvSpPr/>
          <p:nvPr/>
        </p:nvSpPr>
        <p:spPr>
          <a:xfrm>
            <a:off x="4459224" y="5788152"/>
            <a:ext cx="256032" cy="256032"/>
          </a:xfrm>
          <a:prstGeom prst="ellipse">
            <a:avLst/>
          </a:prstGeom>
          <a:solidFill>
            <a:srgbClr val="F4F1EA"/>
          </a:solidFill>
          <a:ln w="12700">
            <a:solidFill>
              <a:srgbClr val="F4F1EA"/>
            </a:solidFill>
            <a:prstDash val="solid"/>
          </a:ln>
        </p:spPr>
      </p:sp>
      <p:sp>
        <p:nvSpPr>
          <p:cNvPr id="79" name="Text 76"/>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0" name="Text 77"/>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تَشَرَّفْنَا</a:t>
            </a:r>
            <a:endParaRPr lang="ar-SA" sz="2050" dirty="0"/>
          </a:p>
        </p:txBody>
      </p:sp>
      <p:sp>
        <p:nvSpPr>
          <p:cNvPr id="81" name="Shape 78"/>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2" name="Text 79"/>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ea typeface="Calibri" pitchFamily="34" charset="-122"/>
                <a:cs typeface="Calibri" pitchFamily="34" charset="-120"/>
              </a:rPr>
              <a:t>HOW TO ANSWER</a:t>
            </a:r>
            <a:endParaRPr lang="en-US" sz="1100" dirty="0"/>
          </a:p>
        </p:txBody>
      </p:sp>
      <p:sp>
        <p:nvSpPr>
          <p:cNvPr id="83" name="Text 80"/>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ea typeface="Calibri" pitchFamily="34" charset="-122"/>
                <a:cs typeface="Calibri" pitchFamily="34" charset="-120"/>
              </a:rPr>
              <a:t>Work on your own in silence.</a:t>
            </a:r>
            <a:endParaRPr lang="en-US" sz="1350" dirty="0"/>
          </a:p>
          <a:p>
            <a:pPr algn="l" indent="0" marL="0">
              <a:buNone/>
            </a:pPr>
            <a:r>
              <a:rPr lang="en-US" sz="1350" dirty="0">
                <a:solidFill>
                  <a:srgbClr val="1F2A37"/>
                </a:solidFill>
                <a:latin typeface="Calibri" pitchFamily="34" charset="0"/>
                <a:ea typeface="Calibri" pitchFamily="34" charset="-122"/>
                <a:cs typeface="Calibri" pitchFamily="34" charset="-120"/>
              </a:rPr>
              <a:t>When the timer ends, type in the chat:</a:t>
            </a:r>
            <a:endParaRPr lang="en-US" sz="1350" dirty="0"/>
          </a:p>
        </p:txBody>
      </p:sp>
      <p:sp>
        <p:nvSpPr>
          <p:cNvPr id="84" name="Text 81"/>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ea typeface="Consolas" pitchFamily="34" charset="-122"/>
                <a:cs typeface="Consolas" pitchFamily="34" charset="-120"/>
              </a:rPr>
              <a:t>1_  2_  3_  4_  5_</a:t>
            </a:r>
            <a:endParaRPr lang="en-US" sz="1400" dirty="0"/>
          </a:p>
        </p:txBody>
      </p:sp>
      <p:sp>
        <p:nvSpPr>
          <p:cNvPr id="85" name="Text 82"/>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ea typeface="Calibri" pitchFamily="34" charset="-122"/>
                <a:cs typeface="Calibri" pitchFamily="34" charset="-120"/>
              </a:rPr>
              <a:t>⏱  5 : 00</a:t>
            </a:r>
            <a:endParaRPr lang="en-US" sz="1800" dirty="0"/>
          </a:p>
        </p:txBody>
      </p:sp>
      <p:sp>
        <p:nvSpPr>
          <p:cNvPr id="86" name="Text 8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 / 36</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F2-L03 · Age</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ea typeface="Calibri" pitchFamily="34" charset="-122"/>
                <a:cs typeface="Calibri" pitchFamily="34" charset="-120"/>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1 · Lesson 3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What does this question mean?</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كَمْ عُمْرُكِ؟</a:t>
            </a:r>
            <a:endParaRPr lang="ar-SA" sz="2200" dirty="0"/>
          </a:p>
        </p:txBody>
      </p:sp>
      <p:sp>
        <p:nvSpPr>
          <p:cNvPr id="20" name="Shape 17"/>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What is your name? (to a girl)</a:t>
            </a:r>
            <a:endParaRPr lang="en-US" sz="1250" dirty="0"/>
          </a:p>
        </p:txBody>
      </p:sp>
      <p:sp>
        <p:nvSpPr>
          <p:cNvPr id="23" name="Shape 20"/>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1"/>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26" name="Text 23"/>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How old are you? (to a girl)</a:t>
            </a:r>
            <a:endParaRPr lang="en-US" sz="1250" dirty="0"/>
          </a:p>
        </p:txBody>
      </p:sp>
      <p:sp>
        <p:nvSpPr>
          <p:cNvPr id="27" name="Shape 24"/>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5"/>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9" name="Text 26"/>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How are you? (to a girl)</a:t>
            </a:r>
            <a:endParaRPr lang="en-US" sz="1250" dirty="0"/>
          </a:p>
        </p:txBody>
      </p:sp>
      <p:sp>
        <p:nvSpPr>
          <p:cNvPr id="30" name="Text 27"/>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Prepared at home.</a:t>
            </a:r>
            <a:endParaRPr lang="en-US" sz="1050" dirty="0"/>
          </a:p>
        </p:txBody>
      </p:sp>
      <p:sp>
        <p:nvSpPr>
          <p:cNvPr id="31" name="Shape 28"/>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4" name="Text 31"/>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سَنَةٌ</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35" name="Shape 32"/>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3"/>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a year</a:t>
            </a:r>
            <a:endParaRPr lang="en-US" sz="125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name</a:t>
            </a:r>
            <a:endParaRPr lang="en-US" sz="1250" dirty="0"/>
          </a:p>
        </p:txBody>
      </p:sp>
      <p:sp>
        <p:nvSpPr>
          <p:cNvPr id="42" name="Shape 39"/>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0"/>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4" name="Text 41"/>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number</a:t>
            </a:r>
            <a:endParaRPr lang="en-US" sz="1250" dirty="0"/>
          </a:p>
        </p:txBody>
      </p:sp>
      <p:sp>
        <p:nvSpPr>
          <p:cNvPr id="45" name="Text 42"/>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Prepared at home.</a:t>
            </a:r>
            <a:endParaRPr lang="en-US" sz="1050" dirty="0"/>
          </a:p>
        </p:txBody>
      </p:sp>
      <p:sp>
        <p:nvSpPr>
          <p:cNvPr id="46" name="Shape 43"/>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5"/>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9" name="Text 46"/>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Ask one girl her name.</a:t>
            </a:r>
            <a:endParaRPr lang="en-US" sz="1250" dirty="0"/>
          </a:p>
        </p:txBody>
      </p:sp>
      <p:sp>
        <p:nvSpPr>
          <p:cNvPr id="50" name="Shape 47"/>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مَا اسْمُكَ؟</a:t>
            </a:r>
            <a:endParaRPr lang="ar-SA" sz="170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اِسْمِي؟</a:t>
            </a:r>
            <a:endParaRPr lang="ar-SA" sz="1700" dirty="0"/>
          </a:p>
        </p:txBody>
      </p:sp>
      <p:sp>
        <p:nvSpPr>
          <p:cNvPr id="56" name="Shape 53"/>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4"/>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5"/>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59" name="Text 56"/>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مَا اسْمُكِ؟</a:t>
            </a:r>
            <a:endParaRPr lang="ar-SA" sz="1700" dirty="0"/>
          </a:p>
        </p:txBody>
      </p:sp>
      <p:sp>
        <p:nvSpPr>
          <p:cNvPr id="60" name="Text 57"/>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final -ki addresses one girl.</a:t>
            </a:r>
            <a:endParaRPr lang="en-US" sz="1050" dirty="0"/>
          </a:p>
        </p:txBody>
      </p:sp>
      <p:sp>
        <p:nvSpPr>
          <p:cNvPr id="61" name="Shape 58"/>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4" name="Text 61"/>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digit is twelve?</a:t>
            </a:r>
            <a:endParaRPr lang="en-US" sz="1250" dirty="0"/>
          </a:p>
        </p:txBody>
      </p:sp>
      <p:sp>
        <p:nvSpPr>
          <p:cNvPr id="65" name="Shape 62"/>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١٥</a:t>
            </a:r>
            <a:endParaRPr lang="ar-SA" sz="170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٢٠</a:t>
            </a:r>
            <a:endParaRPr lang="ar-SA" sz="1700" dirty="0"/>
          </a:p>
        </p:txBody>
      </p:sp>
      <p:sp>
        <p:nvSpPr>
          <p:cNvPr id="71" name="Shape 68"/>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69"/>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0"/>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74" name="Text 71"/>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١٢</a:t>
            </a:r>
            <a:endParaRPr lang="ar-SA" sz="1700" dirty="0"/>
          </a:p>
        </p:txBody>
      </p:sp>
      <p:sp>
        <p:nvSpPr>
          <p:cNvPr id="75" name="Text 72"/>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١٢</a:t>
            </a:r>
            <a:pPr algn="l" indent="0" marL="0">
              <a:buNone/>
            </a:pPr>
            <a:r>
              <a:rPr lang="en-US" sz="1050" i="1" dirty="0">
                <a:solidFill>
                  <a:srgbClr val="8A6D1E"/>
                </a:solidFill>
                <a:latin typeface="Calibri" pitchFamily="34" charset="0"/>
                <a:ea typeface="Calibri" pitchFamily="34" charset="-122"/>
                <a:cs typeface="Calibri" pitchFamily="34" charset="-120"/>
              </a:rPr>
              <a:t> is twelve.</a:t>
            </a:r>
            <a:endParaRPr lang="en-US" sz="1050" dirty="0"/>
          </a:p>
        </p:txBody>
      </p:sp>
      <p:sp>
        <p:nvSpPr>
          <p:cNvPr id="76" name="Shape 73"/>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4"/>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5"/>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9" name="Text 76"/>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phrase means ‘And you?’ to a boy?</a:t>
            </a:r>
            <a:endParaRPr lang="en-US" sz="1250" dirty="0"/>
          </a:p>
        </p:txBody>
      </p:sp>
      <p:sp>
        <p:nvSpPr>
          <p:cNvPr id="80" name="Shape 77"/>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8"/>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79"/>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83" name="Text 80"/>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وَأَنْتَ؟</a:t>
            </a:r>
            <a:endParaRPr lang="ar-SA" sz="1700" dirty="0"/>
          </a:p>
        </p:txBody>
      </p:sp>
      <p:sp>
        <p:nvSpPr>
          <p:cNvPr id="84" name="Shape 81"/>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2"/>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6" name="Text 83"/>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وَأَنْتِ؟</a:t>
            </a:r>
            <a:endParaRPr lang="ar-SA" sz="1700" dirty="0"/>
          </a:p>
        </p:txBody>
      </p:sp>
      <p:sp>
        <p:nvSpPr>
          <p:cNvPr id="87" name="Shape 84"/>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5"/>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9" name="Text 86"/>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تَشَرَّفْنَا</a:t>
            </a:r>
            <a:endParaRPr lang="ar-SA" sz="1700" dirty="0"/>
          </a:p>
        </p:txBody>
      </p:sp>
      <p:sp>
        <p:nvSpPr>
          <p:cNvPr id="90" name="Text 87"/>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وَأَنْتَ؟</a:t>
            </a:r>
            <a:pPr algn="l" indent="0" marL="0">
              <a:buNone/>
            </a:pPr>
            <a:r>
              <a:rPr lang="en-US" sz="1050" i="1" dirty="0">
                <a:solidFill>
                  <a:srgbClr val="8A6D1E"/>
                </a:solidFill>
                <a:latin typeface="Calibri" pitchFamily="34" charset="0"/>
                <a:ea typeface="Calibri" pitchFamily="34" charset="-122"/>
                <a:cs typeface="Calibri" pitchFamily="34" charset="-120"/>
              </a:rPr>
              <a:t> addresses one male person.</a:t>
            </a:r>
            <a:endParaRPr lang="en-US" sz="1050" dirty="0"/>
          </a:p>
        </p:txBody>
      </p:sp>
      <p:sp>
        <p:nvSpPr>
          <p:cNvPr id="91" name="Shape 88"/>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2" name="Text 89"/>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ea typeface="Calibri" pitchFamily="34" charset="-122"/>
                <a:cs typeface="Calibri" pitchFamily="34" charset="-120"/>
              </a:rPr>
              <a:t>THE KEY IDEA FOR TODAY</a:t>
            </a:r>
            <a:endParaRPr lang="en-US" sz="1000" dirty="0"/>
          </a:p>
        </p:txBody>
      </p:sp>
      <p:sp>
        <p:nvSpPr>
          <p:cNvPr id="93" name="Text 90"/>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ea typeface="Calibri" pitchFamily="34" charset="-122"/>
                <a:cs typeface="Calibri" pitchFamily="34" charset="-120"/>
              </a:rPr>
              <a:t>The age question uses the same endings as the name question: -ka for a boy, -ki for a girl. Answer with “my age”.</a:t>
            </a:r>
            <a:endParaRPr lang="en-US" sz="1300" dirty="0"/>
          </a:p>
        </p:txBody>
      </p:sp>
      <p:sp>
        <p:nvSpPr>
          <p:cNvPr id="94" name="Text 91"/>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كَمْ عُمْرُكَ؟ ← عُمْرِي … سَنَةً</a:t>
            </a:r>
            <a:endParaRPr lang="ar-SA" sz="240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5 / 36</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F2-L03 · Age</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LESSON 3 OF 3 THIS WEEK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1 · Lesson 3 of 3</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ea typeface="Calibri" pitchFamily="34" charset="-122"/>
                <a:cs typeface="Calibri" pitchFamily="34" charset="-120"/>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34" charset="0"/>
                <a:ea typeface="Amiri" pitchFamily="34" charset="-122"/>
                <a:cs typeface="Amiri" pitchFamily="34" charset="-120"/>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Ask a boy or a girl their age accurately.</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Answer with </a:t>
            </a:r>
            <a:pPr algn="l" indent="0" marL="0">
              <a:buNone/>
            </a:pPr>
            <a:r>
              <a:rPr lang="ar-SA" altLang="en-US" sz="1700" dirty="0">
                <a:solidFill>
                  <a:srgbClr val="1F2A37"/>
                </a:solidFill>
                <a:latin typeface="Amiri" pitchFamily="34" charset="0"/>
                <a:ea typeface="Amiri" pitchFamily="34" charset="-122"/>
                <a:cs typeface="Amiri" pitchFamily="34" charset="-120"/>
              </a:rPr>
              <a:t>عُمْرِي … سَنَةً</a:t>
            </a:r>
            <a:pPr algn="l" indent="0" marL="0">
              <a:buNone/>
            </a:pPr>
            <a:r>
              <a:rPr lang="en-US" sz="1300" dirty="0">
                <a:solidFill>
                  <a:srgbClr val="1F2A37"/>
                </a:solidFill>
                <a:latin typeface="Calibri" pitchFamily="34" charset="0"/>
                <a:ea typeface="Calibri" pitchFamily="34" charset="-122"/>
                <a:cs typeface="Calibri" pitchFamily="34" charset="-120"/>
              </a:rPr>
              <a:t>.</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Recognise and say common ages from 1–20.</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Read, hear, speak and write a short age exchange.</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ea typeface="Calibri" pitchFamily="34" charset="-122"/>
                <a:cs typeface="Calibri" pitchFamily="34" charset="-120"/>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ea typeface="Calibri" pitchFamily="34" charset="-122"/>
                <a:cs typeface="Calibri" pitchFamily="34" charset="-120"/>
              </a:rPr>
              <a:t>☐  I can ask and answer age with the model visible.</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ea typeface="Calibri" pitchFamily="34" charset="-122"/>
                <a:cs typeface="Calibri" pitchFamily="34" charset="-120"/>
              </a:rPr>
              <a:t>☐  I can say my own age.</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ea typeface="Calibri" pitchFamily="34" charset="-122"/>
                <a:cs typeface="Calibri" pitchFamily="34" charset="-120"/>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ea typeface="Calibri" pitchFamily="34" charset="-122"/>
                <a:cs typeface="Calibri" pitchFamily="34" charset="-120"/>
              </a:rPr>
              <a:t>☐  I can use names, ages and “and you?” in one exchange.</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ea typeface="Calibri" pitchFamily="34" charset="-122"/>
                <a:cs typeface="Calibri" pitchFamily="34" charset="-120"/>
              </a:rPr>
              <a:t>☐  I can hear ages 12–15 in a conversation.</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ea typeface="Calibri" pitchFamily="34" charset="-122"/>
                <a:cs typeface="Calibri" pitchFamily="34" charset="-120"/>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ea typeface="Calibri" pitchFamily="34" charset="-122"/>
                <a:cs typeface="Calibri" pitchFamily="34" charset="-120"/>
              </a:rPr>
              <a:t>☐  I can choose between the singular and plural “year”.</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ea typeface="Calibri" pitchFamily="34" charset="-122"/>
                <a:cs typeface="Calibri" pitchFamily="34" charset="-120"/>
              </a:rPr>
              <a:t>☐  I can give a younger age (3–10).</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6 / 36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ea typeface="Calibri" pitchFamily="34" charset="-122"/>
                <a:cs typeface="Calibri" pitchFamily="34" charset="-120"/>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34" charset="0"/>
                <a:ea typeface="Amiri" pitchFamily="34" charset="-122"/>
                <a:cs typeface="Amiri" pitchFamily="34" charset="-120"/>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ea typeface="Calibri" pitchFamily="34" charset="-122"/>
                <a:cs typeface="Calibri" pitchFamily="34" charset="-120"/>
              </a:rPr>
              <a:t>6 age phrases and the numbers 11–20 from the website. Core: the two questions, your answer, and YOUR own age.</a:t>
            </a:r>
            <a:endParaRPr lang="en-US" sz="1600" dirty="0"/>
          </a:p>
        </p:txBody>
      </p:sp>
      <p:sp>
        <p:nvSpPr>
          <p:cNvPr id="8" name="Shape 6"/>
          <p:cNvSpPr/>
          <p:nvPr/>
        </p:nvSpPr>
        <p:spPr>
          <a:xfrm>
            <a:off x="457200" y="4572000"/>
            <a:ext cx="38633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35890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1</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The age conversation · 6</a:t>
            </a:r>
            <a:endParaRPr lang="en-US" sz="900" dirty="0"/>
          </a:p>
        </p:txBody>
      </p:sp>
      <p:sp>
        <p:nvSpPr>
          <p:cNvPr id="10" name="Shape 8"/>
          <p:cNvSpPr/>
          <p:nvPr/>
        </p:nvSpPr>
        <p:spPr>
          <a:xfrm>
            <a:off x="4457700" y="4572000"/>
            <a:ext cx="38633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4594860" y="4617720"/>
            <a:ext cx="35890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2</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Numbers 11–20 · 10</a:t>
            </a:r>
            <a:endParaRPr lang="en-US" sz="900" dirty="0"/>
          </a:p>
        </p:txBody>
      </p:sp>
      <p:sp>
        <p:nvSpPr>
          <p:cNvPr id="12" name="Shape 10"/>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3" name="Text 11"/>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ea typeface="Calibri" pitchFamily="34" charset="-122"/>
                <a:cs typeface="Calibri" pitchFamily="34" charset="-120"/>
              </a:rPr>
              <a:t>BRIDGE FROM URDU</a:t>
            </a:r>
            <a:endParaRPr lang="en-US" sz="1000" dirty="0"/>
          </a:p>
        </p:txBody>
      </p:sp>
      <p:sp>
        <p:nvSpPr>
          <p:cNvPr id="14" name="Text 12"/>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عُمْرٌ</a:t>
            </a:r>
            <a:endParaRPr lang="ar-SA" sz="1900" dirty="0"/>
          </a:p>
        </p:txBody>
      </p:sp>
      <p:sp>
        <p:nvSpPr>
          <p:cNvPr id="15" name="Text 13"/>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‎عمر‎ </a:t>
            </a:r>
            <a:pPr indent="0" marL="0">
              <a:buNone/>
            </a:pPr>
            <a:r>
              <a:rPr lang="en-US" sz="950" b="1" dirty="0">
                <a:solidFill>
                  <a:srgbClr val="2E8B57"/>
                </a:solidFill>
                <a:latin typeface="Calibri" pitchFamily="34" charset="0"/>
                <a:ea typeface="Calibri" pitchFamily="34" charset="-122"/>
                <a:cs typeface="Calibri" pitchFamily="34" charset="-120"/>
              </a:rPr>
              <a:t> umr · age, life-time</a:t>
            </a:r>
            <a:endParaRPr lang="en-US" sz="1400" dirty="0"/>
          </a:p>
        </p:txBody>
      </p:sp>
      <p:sp>
        <p:nvSpPr>
          <p:cNvPr id="16" name="Text 14"/>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كَمْ</a:t>
            </a:r>
            <a:endParaRPr lang="ar-SA" sz="1900" dirty="0"/>
          </a:p>
        </p:txBody>
      </p:sp>
      <p:sp>
        <p:nvSpPr>
          <p:cNvPr id="17" name="Text 15"/>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‎کم‎ </a:t>
            </a:r>
            <a:pPr indent="0" marL="0">
              <a:buNone/>
            </a:pPr>
            <a:r>
              <a:rPr lang="en-US" sz="950" b="1" dirty="0">
                <a:solidFill>
                  <a:srgbClr val="2E8B57"/>
                </a:solidFill>
                <a:latin typeface="Calibri" pitchFamily="34" charset="0"/>
                <a:ea typeface="Calibri" pitchFamily="34" charset="-122"/>
                <a:cs typeface="Calibri" pitchFamily="34" charset="-120"/>
              </a:rPr>
              <a:t> kam · Urdu: less · Arabic: how many?</a:t>
            </a:r>
            <a:endParaRPr lang="en-US" sz="1400" dirty="0"/>
          </a:p>
        </p:txBody>
      </p:sp>
      <p:sp>
        <p:nvSpPr>
          <p:cNvPr id="18" name="Text 16"/>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سُؤَالٌ</a:t>
            </a:r>
            <a:endParaRPr lang="ar-SA" sz="1900" dirty="0"/>
          </a:p>
        </p:txBody>
      </p:sp>
      <p:sp>
        <p:nvSpPr>
          <p:cNvPr id="19" name="Text 17"/>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‎سوال‎ </a:t>
            </a:r>
            <a:pPr indent="0" marL="0">
              <a:buNone/>
            </a:pPr>
            <a:r>
              <a:rPr lang="en-US" sz="950" b="1" dirty="0">
                <a:solidFill>
                  <a:srgbClr val="2E8B57"/>
                </a:solidFill>
                <a:latin typeface="Calibri" pitchFamily="34" charset="0"/>
                <a:ea typeface="Calibri" pitchFamily="34" charset="-122"/>
                <a:cs typeface="Calibri" pitchFamily="34" charset="-120"/>
              </a:rPr>
              <a:t> sawāl · question</a:t>
            </a:r>
            <a:endParaRPr lang="en-US" sz="1400" dirty="0"/>
          </a:p>
        </p:txBody>
      </p:sp>
      <p:sp>
        <p:nvSpPr>
          <p:cNvPr id="20" name="Text 18"/>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عَدَدٌ</a:t>
            </a:r>
            <a:endParaRPr lang="ar-SA" sz="1900" dirty="0"/>
          </a:p>
        </p:txBody>
      </p:sp>
      <p:sp>
        <p:nvSpPr>
          <p:cNvPr id="21" name="Text 19"/>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‎عدد‎ </a:t>
            </a:r>
            <a:pPr indent="0" marL="0">
              <a:buNone/>
            </a:pPr>
            <a:r>
              <a:rPr lang="en-US" sz="950" b="1" dirty="0">
                <a:solidFill>
                  <a:srgbClr val="2E8B57"/>
                </a:solidFill>
                <a:latin typeface="Calibri" pitchFamily="34" charset="0"/>
                <a:ea typeface="Calibri" pitchFamily="34" charset="-122"/>
                <a:cs typeface="Calibri" pitchFamily="34" charset="-120"/>
              </a:rPr>
              <a:t> adad · number</a:t>
            </a:r>
            <a:endParaRPr lang="en-US" sz="1400" dirty="0"/>
          </a:p>
        </p:txBody>
      </p:sp>
      <p:sp>
        <p:nvSpPr>
          <p:cNvPr id="22" name="Text 20"/>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جَوَابٌ</a:t>
            </a:r>
            <a:endParaRPr lang="ar-SA" sz="1900" dirty="0"/>
          </a:p>
        </p:txBody>
      </p:sp>
      <p:sp>
        <p:nvSpPr>
          <p:cNvPr id="23" name="Text 21"/>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‎جواب‎ </a:t>
            </a:r>
            <a:pPr indent="0" marL="0">
              <a:buNone/>
            </a:pPr>
            <a:r>
              <a:rPr lang="en-US" sz="950" b="1" dirty="0">
                <a:solidFill>
                  <a:srgbClr val="2E8B57"/>
                </a:solidFill>
                <a:latin typeface="Calibri" pitchFamily="34" charset="0"/>
                <a:ea typeface="Calibri" pitchFamily="34" charset="-122"/>
                <a:cs typeface="Calibri" pitchFamily="34" charset="-120"/>
              </a:rPr>
              <a:t> jawāb · answer</a:t>
            </a:r>
            <a:endParaRPr lang="en-US" sz="1400" dirty="0"/>
          </a:p>
        </p:txBody>
      </p:sp>
      <p:sp>
        <p:nvSpPr>
          <p:cNvPr id="25" name="Text 2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7 / 36</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F2-L03 · Age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1 · THE AGE CONVERSATION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Ask and answer age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السُّؤَالُ عَنِ العُمْرِ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1 · Lesson 3 of 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to m.</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كَمْ عُمْرُكَ؟</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How old are you? (to a boy)</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kam ʿum-ru-ka</a:t>
            </a:r>
            <a:endParaRPr lang="en-US" sz="1350" dirty="0"/>
          </a:p>
        </p:txBody>
      </p:sp>
      <p:sp>
        <p:nvSpPr>
          <p:cNvPr id="24" name="Text 21"/>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Listen for the final -ka.</a:t>
            </a:r>
            <a:endParaRPr lang="en-US" sz="1000" dirty="0"/>
          </a:p>
        </p:txBody>
      </p:sp>
      <p:sp>
        <p:nvSpPr>
          <p:cNvPr id="25" name="Shape 22"/>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4389120" y="1920240"/>
            <a:ext cx="310896" cy="310896"/>
          </a:xfrm>
          <a:prstGeom prst="ellipse">
            <a:avLst/>
          </a:prstGeom>
          <a:solidFill>
            <a:srgbClr val="F4F1EA"/>
          </a:solidFill>
          <a:ln w="12700">
            <a:solidFill>
              <a:srgbClr val="F4F1EA"/>
            </a:solidFill>
            <a:prstDash val="solid"/>
          </a:ln>
        </p:spPr>
      </p:sp>
      <p:sp>
        <p:nvSpPr>
          <p:cNvPr id="27" name="Text 24"/>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a:t>
            </a:r>
            <a:endParaRPr lang="en-US" sz="1000" dirty="0"/>
          </a:p>
        </p:txBody>
      </p:sp>
      <p:sp>
        <p:nvSpPr>
          <p:cNvPr id="28" name="Shape 25"/>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29" name="Text 26"/>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to f.</a:t>
            </a:r>
            <a:endParaRPr lang="en-US" sz="800" dirty="0"/>
          </a:p>
        </p:txBody>
      </p:sp>
      <p:sp>
        <p:nvSpPr>
          <p:cNvPr id="30" name="Shape 27"/>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2" name="Text 29"/>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كَمْ عُمْرُكِ؟</a:t>
            </a:r>
            <a:endParaRPr lang="ar-SA" sz="3000" dirty="0"/>
          </a:p>
        </p:txBody>
      </p:sp>
      <p:sp>
        <p:nvSpPr>
          <p:cNvPr id="33" name="Text 30"/>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How old are you? (to a girl)</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kam ʿum-ru-ki</a:t>
            </a:r>
            <a:endParaRPr lang="en-US" sz="1350" dirty="0"/>
          </a:p>
        </p:txBody>
      </p:sp>
      <p:sp>
        <p:nvSpPr>
          <p:cNvPr id="34" name="Text 31"/>
          <p:cNvSpPr txBox="1"/>
          <p:nvPr/>
        </p:nvSpPr>
        <p:spPr>
          <a:xfrm>
            <a:off x="4416552"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Listen for the final -ki.</a:t>
            </a:r>
            <a:endParaRPr lang="en-US" sz="1000" dirty="0"/>
          </a:p>
        </p:txBody>
      </p:sp>
      <p:sp>
        <p:nvSpPr>
          <p:cNvPr id="35" name="Shape 3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566928" y="1920240"/>
            <a:ext cx="310896" cy="310896"/>
          </a:xfrm>
          <a:prstGeom prst="ellipse">
            <a:avLst/>
          </a:prstGeom>
          <a:solidFill>
            <a:srgbClr val="F4F1EA"/>
          </a:solidFill>
          <a:ln w="12700">
            <a:solidFill>
              <a:srgbClr val="F4F1EA"/>
            </a:solidFill>
            <a:prstDash val="solid"/>
          </a:ln>
        </p:spPr>
      </p:sp>
      <p:sp>
        <p:nvSpPr>
          <p:cNvPr id="37" name="Text 3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3</a:t>
            </a:r>
            <a:endParaRPr lang="en-US" sz="1000" dirty="0"/>
          </a:p>
        </p:txBody>
      </p:sp>
      <p:sp>
        <p:nvSpPr>
          <p:cNvPr id="38" name="Shape 35"/>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39" name="Text 36"/>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answer</a:t>
            </a:r>
            <a:endParaRPr lang="en-US" sz="800" dirty="0"/>
          </a:p>
        </p:txBody>
      </p:sp>
      <p:sp>
        <p:nvSpPr>
          <p:cNvPr id="40" name="Shape 3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1" name="Text 3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42" name="Text 3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عُمْرِي … سَنَةً</a:t>
            </a:r>
            <a:endParaRPr lang="ar-SA" sz="3000" dirty="0"/>
          </a:p>
        </p:txBody>
      </p:sp>
      <p:sp>
        <p:nvSpPr>
          <p:cNvPr id="43" name="Text 4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I am … years old. (11–20)</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ʿum-rī … sa-na-tan</a:t>
            </a:r>
            <a:endParaRPr lang="en-US" sz="1350" dirty="0"/>
          </a:p>
        </p:txBody>
      </p:sp>
      <p:sp>
        <p:nvSpPr>
          <p:cNvPr id="44" name="Text 41"/>
          <p:cNvSpPr txBox="1"/>
          <p:nvPr/>
        </p:nvSpPr>
        <p:spPr>
          <a:xfrm>
            <a:off x="594360"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The secure answer for ages 11–20.</a:t>
            </a:r>
            <a:endParaRPr lang="en-US" sz="1000" dirty="0"/>
          </a:p>
        </p:txBody>
      </p:sp>
      <p:sp>
        <p:nvSpPr>
          <p:cNvPr id="45" name="Shape 42"/>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11312" y="4261104"/>
            <a:ext cx="310896" cy="310896"/>
          </a:xfrm>
          <a:prstGeom prst="ellipse">
            <a:avLst/>
          </a:prstGeom>
          <a:solidFill>
            <a:srgbClr val="F4F1EA"/>
          </a:solidFill>
          <a:ln w="12700">
            <a:solidFill>
              <a:srgbClr val="F4F1EA"/>
            </a:solidFill>
            <a:prstDash val="solid"/>
          </a:ln>
        </p:spPr>
      </p:sp>
      <p:sp>
        <p:nvSpPr>
          <p:cNvPr id="47" name="Text 44"/>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4</a:t>
            </a:r>
            <a:endParaRPr lang="en-US" sz="1000" dirty="0"/>
          </a:p>
        </p:txBody>
      </p:sp>
      <p:sp>
        <p:nvSpPr>
          <p:cNvPr id="48" name="Shape 45"/>
          <p:cNvSpPr/>
          <p:nvPr/>
        </p:nvSpPr>
        <p:spPr>
          <a:xfrm>
            <a:off x="8604504" y="4279392"/>
            <a:ext cx="1144829"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8604504" y="4279392"/>
            <a:ext cx="1144829"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sg · dual · pl</a:t>
            </a:r>
            <a:endParaRPr lang="en-US" sz="800" dirty="0"/>
          </a:p>
        </p:txBody>
      </p:sp>
      <p:sp>
        <p:nvSpPr>
          <p:cNvPr id="50" name="Shape 47"/>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52" name="Text 49"/>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سَنَةٌ</a:t>
            </a:r>
            <a:endParaRPr lang="ar-SA" sz="3000" dirty="0"/>
          </a:p>
        </p:txBody>
      </p:sp>
      <p:sp>
        <p:nvSpPr>
          <p:cNvPr id="53" name="Text 50"/>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a year</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sa-na · sa-na-tān · sa-na-wāt</a:t>
            </a:r>
            <a:endParaRPr lang="en-US" sz="1350" dirty="0"/>
          </a:p>
        </p:txBody>
      </p:sp>
      <p:sp>
        <p:nvSpPr>
          <p:cNvPr id="54" name="Shape 51"/>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one</a:t>
            </a:r>
            <a:endParaRPr lang="en-US" sz="750" dirty="0"/>
          </a:p>
        </p:txBody>
      </p:sp>
      <p:sp>
        <p:nvSpPr>
          <p:cNvPr id="56" name="Text 53"/>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سَنَةٌ</a:t>
            </a:r>
            <a:endParaRPr lang="ar-SA" sz="1500" dirty="0"/>
          </a:p>
        </p:txBody>
      </p:sp>
      <p:sp>
        <p:nvSpPr>
          <p:cNvPr id="57" name="Shape 54"/>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two</a:t>
            </a:r>
            <a:endParaRPr lang="en-US" sz="750" dirty="0"/>
          </a:p>
        </p:txBody>
      </p:sp>
      <p:sp>
        <p:nvSpPr>
          <p:cNvPr id="59" name="Text 56"/>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سَنَتَانِ</a:t>
            </a:r>
            <a:endParaRPr lang="ar-SA" sz="1500" dirty="0"/>
          </a:p>
        </p:txBody>
      </p:sp>
      <p:sp>
        <p:nvSpPr>
          <p:cNvPr id="60" name="Shape 57"/>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62" name="Text 59"/>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سَنَوَاتٌ</a:t>
            </a:r>
            <a:endParaRPr lang="ar-SA" sz="1500" dirty="0"/>
          </a:p>
        </p:txBody>
      </p:sp>
      <p:sp>
        <p:nvSpPr>
          <p:cNvPr id="63" name="Shape 6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4389120" y="4261104"/>
            <a:ext cx="310896" cy="310896"/>
          </a:xfrm>
          <a:prstGeom prst="ellipse">
            <a:avLst/>
          </a:prstGeom>
          <a:solidFill>
            <a:srgbClr val="F4F1EA"/>
          </a:solidFill>
          <a:ln w="12700">
            <a:solidFill>
              <a:srgbClr val="F4F1EA"/>
            </a:solidFill>
            <a:prstDash val="solid"/>
          </a:ln>
        </p:spPr>
      </p:sp>
      <p:sp>
        <p:nvSpPr>
          <p:cNvPr id="65" name="Text 6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5</a:t>
            </a:r>
            <a:endParaRPr lang="en-US" sz="1000" dirty="0"/>
          </a:p>
        </p:txBody>
      </p:sp>
      <p:sp>
        <p:nvSpPr>
          <p:cNvPr id="66" name="Shape 63"/>
          <p:cNvSpPr/>
          <p:nvPr/>
        </p:nvSpPr>
        <p:spPr>
          <a:xfrm>
            <a:off x="4782312" y="4279392"/>
            <a:ext cx="1269187" cy="256032"/>
          </a:xfrm>
          <a:prstGeom prst="roundRect">
            <a:avLst>
              <a:gd name="adj" fmla="val 50000"/>
            </a:avLst>
          </a:prstGeom>
          <a:solidFill>
            <a:srgbClr val="EFE7D2"/>
          </a:solidFill>
          <a:ln w="12700">
            <a:solidFill>
              <a:srgbClr val="EFE7D2"/>
            </a:solidFill>
            <a:prstDash val="solid"/>
          </a:ln>
        </p:spPr>
      </p:sp>
      <p:sp>
        <p:nvSpPr>
          <p:cNvPr id="67" name="Text 64"/>
          <p:cNvSpPr txBox="1"/>
          <p:nvPr/>
        </p:nvSpPr>
        <p:spPr>
          <a:xfrm>
            <a:off x="4782312" y="4279392"/>
            <a:ext cx="1269187"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your: m · f · pl</a:t>
            </a:r>
            <a:endParaRPr lang="en-US" sz="800" dirty="0"/>
          </a:p>
        </p:txBody>
      </p:sp>
      <p:sp>
        <p:nvSpPr>
          <p:cNvPr id="68" name="Text 65"/>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عُمْرٌ</a:t>
            </a:r>
            <a:endParaRPr lang="ar-SA" sz="3000" dirty="0"/>
          </a:p>
        </p:txBody>
      </p:sp>
      <p:sp>
        <p:nvSpPr>
          <p:cNvPr id="69" name="Text 66"/>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age</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ʿum-ru-ka · ʿum-ru-ki · ʿum-ru-kum</a:t>
            </a:r>
            <a:endParaRPr lang="en-US" sz="1350" dirty="0"/>
          </a:p>
        </p:txBody>
      </p:sp>
      <p:sp>
        <p:nvSpPr>
          <p:cNvPr id="70" name="Shape 67"/>
          <p:cNvSpPr/>
          <p:nvPr/>
        </p:nvSpPr>
        <p:spPr>
          <a:xfrm>
            <a:off x="6720840" y="5779008"/>
            <a:ext cx="1060704" cy="438912"/>
          </a:xfrm>
          <a:prstGeom prst="roundRect">
            <a:avLst>
              <a:gd name="adj" fmla="val 10417"/>
            </a:avLst>
          </a:prstGeom>
          <a:solidFill>
            <a:srgbClr val="F4F1EA"/>
          </a:solidFill>
          <a:ln w="9525">
            <a:solidFill>
              <a:srgbClr val="F4F1EA"/>
            </a:solidFill>
            <a:prstDash val="solid"/>
          </a:ln>
        </p:spPr>
      </p:sp>
      <p:sp>
        <p:nvSpPr>
          <p:cNvPr id="71" name="Text 68"/>
          <p:cNvSpPr txBox="1"/>
          <p:nvPr/>
        </p:nvSpPr>
        <p:spPr>
          <a:xfrm>
            <a:off x="6775704"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your m.</a:t>
            </a:r>
            <a:endParaRPr lang="en-US" sz="700" dirty="0"/>
          </a:p>
        </p:txBody>
      </p:sp>
      <p:sp>
        <p:nvSpPr>
          <p:cNvPr id="72" name="Text 69"/>
          <p:cNvSpPr txBox="1"/>
          <p:nvPr/>
        </p:nvSpPr>
        <p:spPr>
          <a:xfrm>
            <a:off x="6766560"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عُمْرُكَ</a:t>
            </a:r>
            <a:endParaRPr lang="ar-SA" sz="1350" dirty="0"/>
          </a:p>
        </p:txBody>
      </p:sp>
      <p:sp>
        <p:nvSpPr>
          <p:cNvPr id="73" name="Shape 70"/>
          <p:cNvSpPr/>
          <p:nvPr/>
        </p:nvSpPr>
        <p:spPr>
          <a:xfrm>
            <a:off x="5568696" y="5779008"/>
            <a:ext cx="1060704" cy="438912"/>
          </a:xfrm>
          <a:prstGeom prst="roundRect">
            <a:avLst>
              <a:gd name="adj" fmla="val 10417"/>
            </a:avLst>
          </a:prstGeom>
          <a:solidFill>
            <a:srgbClr val="F4F1EA"/>
          </a:solidFill>
          <a:ln w="9525">
            <a:solidFill>
              <a:srgbClr val="F4F1EA"/>
            </a:solidFill>
            <a:prstDash val="solid"/>
          </a:ln>
        </p:spPr>
      </p:sp>
      <p:sp>
        <p:nvSpPr>
          <p:cNvPr id="74" name="Text 71"/>
          <p:cNvSpPr txBox="1"/>
          <p:nvPr/>
        </p:nvSpPr>
        <p:spPr>
          <a:xfrm>
            <a:off x="5623560"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your f.</a:t>
            </a:r>
            <a:endParaRPr lang="en-US" sz="700" dirty="0"/>
          </a:p>
        </p:txBody>
      </p:sp>
      <p:sp>
        <p:nvSpPr>
          <p:cNvPr id="75" name="Text 72"/>
          <p:cNvSpPr txBox="1"/>
          <p:nvPr/>
        </p:nvSpPr>
        <p:spPr>
          <a:xfrm>
            <a:off x="5614416"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عُمْرُكِ</a:t>
            </a:r>
            <a:endParaRPr lang="ar-SA" sz="1350" dirty="0"/>
          </a:p>
        </p:txBody>
      </p:sp>
      <p:sp>
        <p:nvSpPr>
          <p:cNvPr id="76" name="Shape 73"/>
          <p:cNvSpPr/>
          <p:nvPr/>
        </p:nvSpPr>
        <p:spPr>
          <a:xfrm>
            <a:off x="4416552" y="5779008"/>
            <a:ext cx="1060704" cy="438912"/>
          </a:xfrm>
          <a:prstGeom prst="roundRect">
            <a:avLst>
              <a:gd name="adj" fmla="val 10417"/>
            </a:avLst>
          </a:prstGeom>
          <a:solidFill>
            <a:srgbClr val="F4F1EA"/>
          </a:solidFill>
          <a:ln w="9525">
            <a:solidFill>
              <a:srgbClr val="F4F1EA"/>
            </a:solidFill>
            <a:prstDash val="solid"/>
          </a:ln>
        </p:spPr>
      </p:sp>
      <p:sp>
        <p:nvSpPr>
          <p:cNvPr id="77" name="Text 74"/>
          <p:cNvSpPr txBox="1"/>
          <p:nvPr/>
        </p:nvSpPr>
        <p:spPr>
          <a:xfrm>
            <a:off x="4471416"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your pl.</a:t>
            </a:r>
            <a:endParaRPr lang="en-US" sz="700" dirty="0"/>
          </a:p>
        </p:txBody>
      </p:sp>
      <p:sp>
        <p:nvSpPr>
          <p:cNvPr id="78" name="Text 75"/>
          <p:cNvSpPr txBox="1"/>
          <p:nvPr/>
        </p:nvSpPr>
        <p:spPr>
          <a:xfrm>
            <a:off x="4462272"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أَعْمَارُكُمْ</a:t>
            </a:r>
            <a:endParaRPr lang="ar-SA" sz="1350" dirty="0"/>
          </a:p>
        </p:txBody>
      </p:sp>
      <p:sp>
        <p:nvSpPr>
          <p:cNvPr id="79" name="Shape 76"/>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0" name="Shape 77"/>
          <p:cNvSpPr/>
          <p:nvPr/>
        </p:nvSpPr>
        <p:spPr>
          <a:xfrm>
            <a:off x="566928" y="4261104"/>
            <a:ext cx="310896" cy="310896"/>
          </a:xfrm>
          <a:prstGeom prst="ellipse">
            <a:avLst/>
          </a:prstGeom>
          <a:solidFill>
            <a:srgbClr val="F4F1EA"/>
          </a:solidFill>
          <a:ln w="12700">
            <a:solidFill>
              <a:srgbClr val="F4F1EA"/>
            </a:solidFill>
            <a:prstDash val="solid"/>
          </a:ln>
        </p:spPr>
      </p:sp>
      <p:sp>
        <p:nvSpPr>
          <p:cNvPr id="81" name="Text 78"/>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6</a:t>
            </a:r>
            <a:endParaRPr lang="en-US" sz="1000" dirty="0"/>
          </a:p>
        </p:txBody>
      </p:sp>
      <p:sp>
        <p:nvSpPr>
          <p:cNvPr id="82" name="Shape 79"/>
          <p:cNvSpPr/>
          <p:nvPr/>
        </p:nvSpPr>
        <p:spPr>
          <a:xfrm>
            <a:off x="960120" y="4279392"/>
            <a:ext cx="709574" cy="256032"/>
          </a:xfrm>
          <a:prstGeom prst="roundRect">
            <a:avLst>
              <a:gd name="adj" fmla="val 50000"/>
            </a:avLst>
          </a:prstGeom>
          <a:solidFill>
            <a:srgbClr val="EFE7D2"/>
          </a:solidFill>
          <a:ln w="12700">
            <a:solidFill>
              <a:srgbClr val="EFE7D2"/>
            </a:solidFill>
            <a:prstDash val="solid"/>
          </a:ln>
        </p:spPr>
      </p:sp>
      <p:sp>
        <p:nvSpPr>
          <p:cNvPr id="83" name="Text 80"/>
          <p:cNvSpPr txBox="1"/>
          <p:nvPr/>
        </p:nvSpPr>
        <p:spPr>
          <a:xfrm>
            <a:off x="960120"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Stretch</a:t>
            </a:r>
            <a:endParaRPr lang="en-US" sz="800" dirty="0"/>
          </a:p>
        </p:txBody>
      </p:sp>
      <p:sp>
        <p:nvSpPr>
          <p:cNvPr id="84" name="Text 81"/>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عُمْرِي خَمْسُ سَنَوَاتٍ</a:t>
            </a:r>
            <a:endParaRPr lang="ar-SA" sz="3000" dirty="0"/>
          </a:p>
        </p:txBody>
      </p:sp>
      <p:sp>
        <p:nvSpPr>
          <p:cNvPr id="85" name="Text 82"/>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I am five years old. (3–10)</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kham-su sa-na-wāt</a:t>
            </a:r>
            <a:endParaRPr lang="en-US" sz="1350" dirty="0"/>
          </a:p>
        </p:txBody>
      </p:sp>
      <p:sp>
        <p:nvSpPr>
          <p:cNvPr id="86" name="Text 83"/>
          <p:cNvSpPr txBox="1"/>
          <p:nvPr/>
        </p:nvSpPr>
        <p:spPr>
          <a:xfrm>
            <a:off x="594360"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Younger ages: the plural </a:t>
            </a:r>
            <a:pPr algn="l" indent="0" marL="0">
              <a:buNone/>
            </a:pPr>
            <a:r>
              <a:rPr lang="ar-SA" altLang="en-US" sz="1300" dirty="0">
                <a:solidFill>
                  <a:srgbClr val="8A6D1E"/>
                </a:solidFill>
                <a:latin typeface="Amiri" pitchFamily="34" charset="0"/>
                <a:ea typeface="Amiri" pitchFamily="34" charset="-122"/>
                <a:cs typeface="Amiri" pitchFamily="34" charset="-120"/>
              </a:rPr>
              <a:t>سَنَوَاتٍ</a:t>
            </a:r>
            <a:pPr algn="l" indent="0" marL="0">
              <a:buNone/>
            </a:pPr>
            <a:r>
              <a:rPr lang="en-US" sz="1000" i="1" dirty="0">
                <a:solidFill>
                  <a:srgbClr val="8A6D1E"/>
                </a:solidFill>
                <a:latin typeface="Calibri" pitchFamily="34" charset="0"/>
                <a:ea typeface="Calibri" pitchFamily="34" charset="-122"/>
                <a:cs typeface="Calibri" pitchFamily="34" charset="-120"/>
              </a:rPr>
              <a:t>.</a:t>
            </a:r>
            <a:endParaRPr lang="en-US" sz="1000" dirty="0"/>
          </a:p>
        </p:txBody>
      </p:sp>
      <p:sp>
        <p:nvSpPr>
          <p:cNvPr id="87" name="Text 8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8 / 36</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F2-L03 · Age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2 · THE AGES 11–20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Say your age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الأَعْدَادُ مِنْ ١١ إِلَى ٢٠</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1 · Lesson 3 of 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976104" y="1810512"/>
            <a:ext cx="1682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Digit</a:t>
            </a:r>
            <a:endParaRPr lang="en-US" sz="1100" dirty="0"/>
          </a:p>
        </p:txBody>
      </p:sp>
      <p:sp>
        <p:nvSpPr>
          <p:cNvPr id="17" name="Text 14"/>
          <p:cNvSpPr txBox="1"/>
          <p:nvPr/>
        </p:nvSpPr>
        <p:spPr>
          <a:xfrm>
            <a:off x="6044184"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Number (with </a:t>
            </a:r>
            <a:pPr algn="ctr" indent="0" marL="0">
              <a:buNone/>
            </a:pPr>
            <a:r>
              <a:rPr lang="ar-SA" altLang="en-US" sz="1450" b="1" dirty="0">
                <a:solidFill>
                  <a:srgbClr val="FFFFFF"/>
                </a:solidFill>
                <a:latin typeface="Amiri" pitchFamily="34" charset="0"/>
                <a:ea typeface="Amiri" pitchFamily="34" charset="-122"/>
                <a:cs typeface="Amiri" pitchFamily="34" charset="-120"/>
              </a:rPr>
              <a:t>سَنَة</a:t>
            </a:r>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18" name="Text 15"/>
          <p:cNvSpPr txBox="1"/>
          <p:nvPr/>
        </p:nvSpPr>
        <p:spPr>
          <a:xfrm>
            <a:off x="530352" y="1810512"/>
            <a:ext cx="5367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Age line</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9994392" y="2286000"/>
            <a:ext cx="16459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١١</a:t>
            </a:r>
            <a:endParaRPr lang="ar-SA" sz="2100" dirty="0"/>
          </a:p>
        </p:txBody>
      </p:sp>
      <p:sp>
        <p:nvSpPr>
          <p:cNvPr id="21" name="Text 18"/>
          <p:cNvSpPr txBox="1"/>
          <p:nvPr/>
        </p:nvSpPr>
        <p:spPr>
          <a:xfrm>
            <a:off x="9948672" y="2706624"/>
            <a:ext cx="17373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eleven</a:t>
            </a:r>
            <a:endParaRPr lang="en-US" sz="950" dirty="0"/>
          </a:p>
        </p:txBody>
      </p:sp>
      <p:sp>
        <p:nvSpPr>
          <p:cNvPr id="22" name="Text 19"/>
          <p:cNvSpPr txBox="1"/>
          <p:nvPr/>
        </p:nvSpPr>
        <p:spPr>
          <a:xfrm>
            <a:off x="6062472" y="2286000"/>
            <a:ext cx="374904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إِحْدَى عَشْرَةَ</a:t>
            </a:r>
            <a:endParaRPr lang="ar-SA" sz="2100" dirty="0"/>
          </a:p>
        </p:txBody>
      </p:sp>
      <p:sp>
        <p:nvSpPr>
          <p:cNvPr id="23" name="Text 20"/>
          <p:cNvSpPr txBox="1"/>
          <p:nvPr/>
        </p:nvSpPr>
        <p:spPr>
          <a:xfrm>
            <a:off x="6016752" y="2706624"/>
            <a:ext cx="38404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iḥ-dā ʿash-ra-ta</a:t>
            </a:r>
            <a:endParaRPr lang="en-US" sz="950" dirty="0"/>
          </a:p>
        </p:txBody>
      </p:sp>
      <p:sp>
        <p:nvSpPr>
          <p:cNvPr id="24" name="Text 21"/>
          <p:cNvSpPr txBox="1"/>
          <p:nvPr/>
        </p:nvSpPr>
        <p:spPr>
          <a:xfrm>
            <a:off x="548640" y="2286000"/>
            <a:ext cx="5330952" cy="4535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34" charset="0"/>
                <a:ea typeface="Amiri" pitchFamily="34" charset="-122"/>
                <a:cs typeface="Amiri" pitchFamily="34" charset="-120"/>
              </a:rPr>
              <a:t>عُمْرِي إِحْدَى عَشْرَةَ سَنَةً.</a:t>
            </a:r>
            <a:endParaRPr lang="ar-SA" sz="2000" dirty="0"/>
          </a:p>
        </p:txBody>
      </p:sp>
      <p:sp>
        <p:nvSpPr>
          <p:cNvPr id="25" name="Text 22"/>
          <p:cNvSpPr txBox="1"/>
          <p:nvPr/>
        </p:nvSpPr>
        <p:spPr>
          <a:xfrm>
            <a:off x="502920" y="2706624"/>
            <a:ext cx="542239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I am eleven years old.</a:t>
            </a:r>
            <a:endParaRPr lang="en-US" sz="950" dirty="0"/>
          </a:p>
        </p:txBody>
      </p:sp>
      <p:sp>
        <p:nvSpPr>
          <p:cNvPr id="26" name="Shape 23"/>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7" name="Text 24"/>
          <p:cNvSpPr txBox="1"/>
          <p:nvPr/>
        </p:nvSpPr>
        <p:spPr>
          <a:xfrm>
            <a:off x="9994392" y="3072384"/>
            <a:ext cx="16459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١٢</a:t>
            </a:r>
            <a:endParaRPr lang="ar-SA" sz="2100" dirty="0"/>
          </a:p>
        </p:txBody>
      </p:sp>
      <p:sp>
        <p:nvSpPr>
          <p:cNvPr id="28" name="Text 25"/>
          <p:cNvSpPr txBox="1"/>
          <p:nvPr/>
        </p:nvSpPr>
        <p:spPr>
          <a:xfrm>
            <a:off x="9948672" y="3493008"/>
            <a:ext cx="17373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twelve</a:t>
            </a:r>
            <a:endParaRPr lang="en-US" sz="950" dirty="0"/>
          </a:p>
        </p:txBody>
      </p:sp>
      <p:sp>
        <p:nvSpPr>
          <p:cNvPr id="29" name="Text 26"/>
          <p:cNvSpPr txBox="1"/>
          <p:nvPr/>
        </p:nvSpPr>
        <p:spPr>
          <a:xfrm>
            <a:off x="6062472" y="3072384"/>
            <a:ext cx="374904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اِثْنَتَا عَشْرَةَ</a:t>
            </a:r>
            <a:endParaRPr lang="ar-SA" sz="2100" dirty="0"/>
          </a:p>
        </p:txBody>
      </p:sp>
      <p:sp>
        <p:nvSpPr>
          <p:cNvPr id="30" name="Text 27"/>
          <p:cNvSpPr txBox="1"/>
          <p:nvPr/>
        </p:nvSpPr>
        <p:spPr>
          <a:xfrm>
            <a:off x="6016752" y="3493008"/>
            <a:ext cx="38404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ith-na-tā ʿash-ra-ta</a:t>
            </a:r>
            <a:endParaRPr lang="en-US" sz="950" dirty="0"/>
          </a:p>
        </p:txBody>
      </p:sp>
      <p:sp>
        <p:nvSpPr>
          <p:cNvPr id="31" name="Text 28"/>
          <p:cNvSpPr txBox="1"/>
          <p:nvPr/>
        </p:nvSpPr>
        <p:spPr>
          <a:xfrm>
            <a:off x="548640" y="3072384"/>
            <a:ext cx="5330952" cy="4535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34" charset="0"/>
                <a:ea typeface="Amiri" pitchFamily="34" charset="-122"/>
                <a:cs typeface="Amiri" pitchFamily="34" charset="-120"/>
              </a:rPr>
              <a:t>عُمْرِي اِثْنَتَا عَشْرَةَ سَنَةً.</a:t>
            </a:r>
            <a:endParaRPr lang="ar-SA" sz="2000" dirty="0"/>
          </a:p>
        </p:txBody>
      </p:sp>
      <p:sp>
        <p:nvSpPr>
          <p:cNvPr id="32" name="Text 29"/>
          <p:cNvSpPr txBox="1"/>
          <p:nvPr/>
        </p:nvSpPr>
        <p:spPr>
          <a:xfrm>
            <a:off x="502920" y="3493008"/>
            <a:ext cx="542239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I am twelve years old.</a:t>
            </a:r>
            <a:endParaRPr lang="en-US" sz="950" dirty="0"/>
          </a:p>
        </p:txBody>
      </p:sp>
      <p:sp>
        <p:nvSpPr>
          <p:cNvPr id="33" name="Shape 30"/>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4" name="Text 31"/>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5" name="Shape 32"/>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6" name="Text 33"/>
          <p:cNvSpPr txBox="1"/>
          <p:nvPr/>
        </p:nvSpPr>
        <p:spPr>
          <a:xfrm>
            <a:off x="9994392" y="3858768"/>
            <a:ext cx="16459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١٣</a:t>
            </a:r>
            <a:endParaRPr lang="ar-SA" sz="2100" dirty="0"/>
          </a:p>
        </p:txBody>
      </p:sp>
      <p:sp>
        <p:nvSpPr>
          <p:cNvPr id="37" name="Text 34"/>
          <p:cNvSpPr txBox="1"/>
          <p:nvPr/>
        </p:nvSpPr>
        <p:spPr>
          <a:xfrm>
            <a:off x="9948672" y="4279392"/>
            <a:ext cx="17373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thirteen</a:t>
            </a:r>
            <a:endParaRPr lang="en-US" sz="950" dirty="0"/>
          </a:p>
        </p:txBody>
      </p:sp>
      <p:sp>
        <p:nvSpPr>
          <p:cNvPr id="38" name="Text 35"/>
          <p:cNvSpPr txBox="1"/>
          <p:nvPr/>
        </p:nvSpPr>
        <p:spPr>
          <a:xfrm>
            <a:off x="6062472" y="3858768"/>
            <a:ext cx="374904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ثَلَاثَ عَشْرَةَ</a:t>
            </a:r>
            <a:endParaRPr lang="ar-SA" sz="2100" dirty="0"/>
          </a:p>
        </p:txBody>
      </p:sp>
      <p:sp>
        <p:nvSpPr>
          <p:cNvPr id="39" name="Text 36"/>
          <p:cNvSpPr txBox="1"/>
          <p:nvPr/>
        </p:nvSpPr>
        <p:spPr>
          <a:xfrm>
            <a:off x="6016752" y="4279392"/>
            <a:ext cx="38404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tha-lā-tha ʿash-ra-ta</a:t>
            </a:r>
            <a:endParaRPr lang="en-US" sz="950" dirty="0"/>
          </a:p>
        </p:txBody>
      </p:sp>
      <p:sp>
        <p:nvSpPr>
          <p:cNvPr id="40" name="Text 37"/>
          <p:cNvSpPr txBox="1"/>
          <p:nvPr/>
        </p:nvSpPr>
        <p:spPr>
          <a:xfrm>
            <a:off x="548640" y="3858768"/>
            <a:ext cx="5330952" cy="4535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34" charset="0"/>
                <a:ea typeface="Amiri" pitchFamily="34" charset="-122"/>
                <a:cs typeface="Amiri" pitchFamily="34" charset="-120"/>
              </a:rPr>
              <a:t>عُمْرِي ثَلَاثَ عَشْرَةَ سَنَةً.</a:t>
            </a:r>
            <a:endParaRPr lang="ar-SA" sz="2000" dirty="0"/>
          </a:p>
        </p:txBody>
      </p:sp>
      <p:sp>
        <p:nvSpPr>
          <p:cNvPr id="41" name="Text 38"/>
          <p:cNvSpPr txBox="1"/>
          <p:nvPr/>
        </p:nvSpPr>
        <p:spPr>
          <a:xfrm>
            <a:off x="502920" y="4279392"/>
            <a:ext cx="542239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I am thirteen years old.</a:t>
            </a:r>
            <a:endParaRPr lang="en-US" sz="950" dirty="0"/>
          </a:p>
        </p:txBody>
      </p:sp>
      <p:sp>
        <p:nvSpPr>
          <p:cNvPr id="42" name="Shape 39"/>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44" name="Shape 4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5" name="Text 42"/>
          <p:cNvSpPr txBox="1"/>
          <p:nvPr/>
        </p:nvSpPr>
        <p:spPr>
          <a:xfrm>
            <a:off x="9994392" y="4645152"/>
            <a:ext cx="16459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١٤</a:t>
            </a:r>
            <a:endParaRPr lang="ar-SA" sz="2100" dirty="0"/>
          </a:p>
        </p:txBody>
      </p:sp>
      <p:sp>
        <p:nvSpPr>
          <p:cNvPr id="46" name="Text 43"/>
          <p:cNvSpPr txBox="1"/>
          <p:nvPr/>
        </p:nvSpPr>
        <p:spPr>
          <a:xfrm>
            <a:off x="9948672" y="5065776"/>
            <a:ext cx="17373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fourteen</a:t>
            </a:r>
            <a:endParaRPr lang="en-US" sz="950" dirty="0"/>
          </a:p>
        </p:txBody>
      </p:sp>
      <p:sp>
        <p:nvSpPr>
          <p:cNvPr id="47" name="Text 44"/>
          <p:cNvSpPr txBox="1"/>
          <p:nvPr/>
        </p:nvSpPr>
        <p:spPr>
          <a:xfrm>
            <a:off x="6062472" y="4645152"/>
            <a:ext cx="374904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أَرْبَعَ عَشْرَةَ</a:t>
            </a:r>
            <a:endParaRPr lang="ar-SA" sz="2100" dirty="0"/>
          </a:p>
        </p:txBody>
      </p:sp>
      <p:sp>
        <p:nvSpPr>
          <p:cNvPr id="48" name="Text 45"/>
          <p:cNvSpPr txBox="1"/>
          <p:nvPr/>
        </p:nvSpPr>
        <p:spPr>
          <a:xfrm>
            <a:off x="6016752" y="5065776"/>
            <a:ext cx="38404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ar-ba-ʿa ʿash-ra-ta</a:t>
            </a:r>
            <a:endParaRPr lang="en-US" sz="950" dirty="0"/>
          </a:p>
        </p:txBody>
      </p:sp>
      <p:sp>
        <p:nvSpPr>
          <p:cNvPr id="49" name="Text 46"/>
          <p:cNvSpPr txBox="1"/>
          <p:nvPr/>
        </p:nvSpPr>
        <p:spPr>
          <a:xfrm>
            <a:off x="548640" y="4645152"/>
            <a:ext cx="5330952" cy="4535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34" charset="0"/>
                <a:ea typeface="Amiri" pitchFamily="34" charset="-122"/>
                <a:cs typeface="Amiri" pitchFamily="34" charset="-120"/>
              </a:rPr>
              <a:t>عُمْرِي أَرْبَعَ عَشْرَةَ سَنَةً.</a:t>
            </a:r>
            <a:endParaRPr lang="ar-SA" sz="2000" dirty="0"/>
          </a:p>
        </p:txBody>
      </p:sp>
      <p:sp>
        <p:nvSpPr>
          <p:cNvPr id="50" name="Text 47"/>
          <p:cNvSpPr txBox="1"/>
          <p:nvPr/>
        </p:nvSpPr>
        <p:spPr>
          <a:xfrm>
            <a:off x="502920" y="5065776"/>
            <a:ext cx="542239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I am fourteen years old.</a:t>
            </a:r>
            <a:endParaRPr lang="en-US" sz="950" dirty="0"/>
          </a:p>
        </p:txBody>
      </p:sp>
      <p:sp>
        <p:nvSpPr>
          <p:cNvPr id="51" name="Shape 48"/>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52" name="Text 49"/>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53" name="Shape 50"/>
          <p:cNvSpPr/>
          <p:nvPr/>
        </p:nvSpPr>
        <p:spPr>
          <a:xfrm>
            <a:off x="457200" y="5413248"/>
            <a:ext cx="11274552" cy="731520"/>
          </a:xfrm>
          <a:prstGeom prst="roundRect">
            <a:avLst>
              <a:gd name="adj" fmla="val 6250"/>
            </a:avLst>
          </a:prstGeom>
          <a:solidFill>
            <a:srgbClr val="FFFFFF"/>
          </a:solidFill>
          <a:ln w="9525">
            <a:solidFill>
              <a:srgbClr val="D8D0BF"/>
            </a:solidFill>
            <a:prstDash val="solid"/>
          </a:ln>
        </p:spPr>
      </p:sp>
      <p:sp>
        <p:nvSpPr>
          <p:cNvPr id="54" name="Text 51"/>
          <p:cNvSpPr txBox="1"/>
          <p:nvPr/>
        </p:nvSpPr>
        <p:spPr>
          <a:xfrm>
            <a:off x="9994392" y="5431536"/>
            <a:ext cx="16459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١٥</a:t>
            </a:r>
            <a:endParaRPr lang="ar-SA" sz="2100" dirty="0"/>
          </a:p>
        </p:txBody>
      </p:sp>
      <p:sp>
        <p:nvSpPr>
          <p:cNvPr id="55" name="Text 52"/>
          <p:cNvSpPr txBox="1"/>
          <p:nvPr/>
        </p:nvSpPr>
        <p:spPr>
          <a:xfrm>
            <a:off x="9948672" y="5852160"/>
            <a:ext cx="17373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fifteen</a:t>
            </a:r>
            <a:endParaRPr lang="en-US" sz="950" dirty="0"/>
          </a:p>
        </p:txBody>
      </p:sp>
      <p:sp>
        <p:nvSpPr>
          <p:cNvPr id="56" name="Text 53"/>
          <p:cNvSpPr txBox="1"/>
          <p:nvPr/>
        </p:nvSpPr>
        <p:spPr>
          <a:xfrm>
            <a:off x="6062472" y="5431536"/>
            <a:ext cx="374904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خَمْسَ عَشْرَةَ</a:t>
            </a:r>
            <a:endParaRPr lang="ar-SA" sz="2100" dirty="0"/>
          </a:p>
        </p:txBody>
      </p:sp>
      <p:sp>
        <p:nvSpPr>
          <p:cNvPr id="57" name="Text 54"/>
          <p:cNvSpPr txBox="1"/>
          <p:nvPr/>
        </p:nvSpPr>
        <p:spPr>
          <a:xfrm>
            <a:off x="6016752" y="5852160"/>
            <a:ext cx="38404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kham-sa ʿash-ra-ta</a:t>
            </a:r>
            <a:endParaRPr lang="en-US" sz="950" dirty="0"/>
          </a:p>
        </p:txBody>
      </p:sp>
      <p:sp>
        <p:nvSpPr>
          <p:cNvPr id="58" name="Text 55"/>
          <p:cNvSpPr txBox="1"/>
          <p:nvPr/>
        </p:nvSpPr>
        <p:spPr>
          <a:xfrm>
            <a:off x="548640" y="5431536"/>
            <a:ext cx="5330952" cy="4535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34" charset="0"/>
                <a:ea typeface="Amiri" pitchFamily="34" charset="-122"/>
                <a:cs typeface="Amiri" pitchFamily="34" charset="-120"/>
              </a:rPr>
              <a:t>عُمْرِي خَمْسَ عَشْرَةَ سَنَةً.</a:t>
            </a:r>
            <a:endParaRPr lang="ar-SA" sz="2000" dirty="0"/>
          </a:p>
        </p:txBody>
      </p:sp>
      <p:sp>
        <p:nvSpPr>
          <p:cNvPr id="59" name="Text 56"/>
          <p:cNvSpPr txBox="1"/>
          <p:nvPr/>
        </p:nvSpPr>
        <p:spPr>
          <a:xfrm>
            <a:off x="502920" y="5852160"/>
            <a:ext cx="542239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I am fifteen years old.</a:t>
            </a:r>
            <a:endParaRPr lang="en-US" sz="950" dirty="0"/>
          </a:p>
        </p:txBody>
      </p:sp>
      <p:sp>
        <p:nvSpPr>
          <p:cNvPr id="60" name="Shape 57"/>
          <p:cNvSpPr/>
          <p:nvPr/>
        </p:nvSpPr>
        <p:spPr>
          <a:xfrm>
            <a:off x="11091672" y="5458968"/>
            <a:ext cx="548640" cy="182880"/>
          </a:xfrm>
          <a:prstGeom prst="roundRect">
            <a:avLst>
              <a:gd name="adj" fmla="val 50000"/>
            </a:avLst>
          </a:prstGeom>
          <a:solidFill>
            <a:srgbClr val="2E8B57"/>
          </a:solidFill>
          <a:ln w="12700">
            <a:solidFill>
              <a:srgbClr val="2E8B57"/>
            </a:solidFill>
            <a:prstDash val="solid"/>
          </a:ln>
        </p:spPr>
      </p:sp>
      <p:sp>
        <p:nvSpPr>
          <p:cNvPr id="61" name="Text 58"/>
          <p:cNvSpPr txBox="1"/>
          <p:nvPr/>
        </p:nvSpPr>
        <p:spPr>
          <a:xfrm>
            <a:off x="11091672" y="545896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62" name="Text 5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9 / 36</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F2-L03 · Age</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2 · THE AGES 16–20 (WEBSITE)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Older ages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الأَعْدَادُ مِنْ ١٦ إِلَى ٢٠</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1 · Lesson 3 of 3</a:t>
            </a:r>
            <a:endParaRPr lang="en-US" sz="850" dirty="0"/>
          </a:p>
        </p:txBody>
      </p:sp>
      <p:sp>
        <p:nvSpPr>
          <p:cNvPr id="17" name="Shape 14"/>
          <p:cNvSpPr/>
          <p:nvPr/>
        </p:nvSpPr>
        <p:spPr>
          <a:xfrm>
            <a:off x="457200" y="1810512"/>
            <a:ext cx="11274552" cy="384048"/>
          </a:xfrm>
          <a:prstGeom prst="rect">
            <a:avLst/>
          </a:prstGeom>
          <a:solidFill>
            <a:srgbClr val="1B3B6F"/>
          </a:solidFill>
          <a:ln w="12700">
            <a:solidFill>
              <a:srgbClr val="1B3B6F"/>
            </a:solidFill>
            <a:prstDash val="solid"/>
          </a:ln>
        </p:spPr>
      </p:sp>
      <p:sp>
        <p:nvSpPr>
          <p:cNvPr id="18" name="Text 15"/>
          <p:cNvSpPr txBox="1"/>
          <p:nvPr/>
        </p:nvSpPr>
        <p:spPr>
          <a:xfrm>
            <a:off x="9976104" y="1810512"/>
            <a:ext cx="1682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Digit</a:t>
            </a:r>
            <a:endParaRPr lang="en-US" sz="1100" dirty="0"/>
          </a:p>
        </p:txBody>
      </p:sp>
      <p:sp>
        <p:nvSpPr>
          <p:cNvPr id="19" name="Text 16"/>
          <p:cNvSpPr txBox="1"/>
          <p:nvPr/>
        </p:nvSpPr>
        <p:spPr>
          <a:xfrm>
            <a:off x="6044184"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Number (with </a:t>
            </a:r>
            <a:pPr algn="ctr" indent="0" marL="0">
              <a:buNone/>
            </a:pPr>
            <a:r>
              <a:rPr lang="ar-SA" altLang="en-US" sz="1450" b="1" dirty="0">
                <a:solidFill>
                  <a:srgbClr val="FFFFFF"/>
                </a:solidFill>
                <a:latin typeface="Amiri" pitchFamily="34" charset="0"/>
                <a:ea typeface="Amiri" pitchFamily="34" charset="-122"/>
                <a:cs typeface="Amiri" pitchFamily="34" charset="-120"/>
              </a:rPr>
              <a:t>سَنَة</a:t>
            </a:r>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20" name="Text 17"/>
          <p:cNvSpPr txBox="1"/>
          <p:nvPr/>
        </p:nvSpPr>
        <p:spPr>
          <a:xfrm>
            <a:off x="530352" y="1810512"/>
            <a:ext cx="5367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Age line</a:t>
            </a:r>
            <a:endParaRPr lang="en-US" sz="1100" dirty="0"/>
          </a:p>
        </p:txBody>
      </p:sp>
      <p:sp>
        <p:nvSpPr>
          <p:cNvPr id="21" name="Shape 18"/>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2" name="Text 19"/>
          <p:cNvSpPr txBox="1"/>
          <p:nvPr/>
        </p:nvSpPr>
        <p:spPr>
          <a:xfrm>
            <a:off x="9994392" y="2286000"/>
            <a:ext cx="16459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١٦</a:t>
            </a:r>
            <a:endParaRPr lang="ar-SA" sz="2100" dirty="0"/>
          </a:p>
        </p:txBody>
      </p:sp>
      <p:sp>
        <p:nvSpPr>
          <p:cNvPr id="23" name="Text 20"/>
          <p:cNvSpPr txBox="1"/>
          <p:nvPr/>
        </p:nvSpPr>
        <p:spPr>
          <a:xfrm>
            <a:off x="9948672" y="2706624"/>
            <a:ext cx="17373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sixteen</a:t>
            </a:r>
            <a:endParaRPr lang="en-US" sz="950" dirty="0"/>
          </a:p>
        </p:txBody>
      </p:sp>
      <p:sp>
        <p:nvSpPr>
          <p:cNvPr id="24" name="Text 21"/>
          <p:cNvSpPr txBox="1"/>
          <p:nvPr/>
        </p:nvSpPr>
        <p:spPr>
          <a:xfrm>
            <a:off x="6062472" y="2286000"/>
            <a:ext cx="374904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سِتَّ عَشْرَةَ</a:t>
            </a:r>
            <a:endParaRPr lang="ar-SA" sz="2100" dirty="0"/>
          </a:p>
        </p:txBody>
      </p:sp>
      <p:sp>
        <p:nvSpPr>
          <p:cNvPr id="25" name="Text 22"/>
          <p:cNvSpPr txBox="1"/>
          <p:nvPr/>
        </p:nvSpPr>
        <p:spPr>
          <a:xfrm>
            <a:off x="6016752" y="2706624"/>
            <a:ext cx="38404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sit-ta ʿash-ra-ta</a:t>
            </a:r>
            <a:endParaRPr lang="en-US" sz="950" dirty="0"/>
          </a:p>
        </p:txBody>
      </p:sp>
      <p:sp>
        <p:nvSpPr>
          <p:cNvPr id="26" name="Text 23"/>
          <p:cNvSpPr txBox="1"/>
          <p:nvPr/>
        </p:nvSpPr>
        <p:spPr>
          <a:xfrm>
            <a:off x="548640" y="2286000"/>
            <a:ext cx="5330952" cy="4535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34" charset="0"/>
                <a:ea typeface="Amiri" pitchFamily="34" charset="-122"/>
                <a:cs typeface="Amiri" pitchFamily="34" charset="-120"/>
              </a:rPr>
              <a:t>عُمْرِي سِتَّ عَشْرَةَ سَنَةً.</a:t>
            </a:r>
            <a:endParaRPr lang="ar-SA" sz="2000" dirty="0"/>
          </a:p>
        </p:txBody>
      </p:sp>
      <p:sp>
        <p:nvSpPr>
          <p:cNvPr id="27" name="Text 24"/>
          <p:cNvSpPr txBox="1"/>
          <p:nvPr/>
        </p:nvSpPr>
        <p:spPr>
          <a:xfrm>
            <a:off x="502920" y="2706624"/>
            <a:ext cx="542239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I am sixteen years old.</a:t>
            </a:r>
            <a:endParaRPr lang="en-US" sz="950" dirty="0"/>
          </a:p>
        </p:txBody>
      </p:sp>
      <p:sp>
        <p:nvSpPr>
          <p:cNvPr id="28" name="Shape 25"/>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9" name="Text 26"/>
          <p:cNvSpPr txBox="1"/>
          <p:nvPr/>
        </p:nvSpPr>
        <p:spPr>
          <a:xfrm>
            <a:off x="9994392" y="3072384"/>
            <a:ext cx="16459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١٧</a:t>
            </a:r>
            <a:endParaRPr lang="ar-SA" sz="2100" dirty="0"/>
          </a:p>
        </p:txBody>
      </p:sp>
      <p:sp>
        <p:nvSpPr>
          <p:cNvPr id="30" name="Text 27"/>
          <p:cNvSpPr txBox="1"/>
          <p:nvPr/>
        </p:nvSpPr>
        <p:spPr>
          <a:xfrm>
            <a:off x="9948672" y="3493008"/>
            <a:ext cx="17373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seventeen</a:t>
            </a:r>
            <a:endParaRPr lang="en-US" sz="950" dirty="0"/>
          </a:p>
        </p:txBody>
      </p:sp>
      <p:sp>
        <p:nvSpPr>
          <p:cNvPr id="31" name="Text 28"/>
          <p:cNvSpPr txBox="1"/>
          <p:nvPr/>
        </p:nvSpPr>
        <p:spPr>
          <a:xfrm>
            <a:off x="6062472" y="3072384"/>
            <a:ext cx="374904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سَبْعَ عَشْرَةَ</a:t>
            </a:r>
            <a:endParaRPr lang="ar-SA" sz="2100" dirty="0"/>
          </a:p>
        </p:txBody>
      </p:sp>
      <p:sp>
        <p:nvSpPr>
          <p:cNvPr id="32" name="Text 29"/>
          <p:cNvSpPr txBox="1"/>
          <p:nvPr/>
        </p:nvSpPr>
        <p:spPr>
          <a:xfrm>
            <a:off x="6016752" y="3493008"/>
            <a:ext cx="38404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sab-ʿa ʿash-ra-ta</a:t>
            </a:r>
            <a:endParaRPr lang="en-US" sz="950" dirty="0"/>
          </a:p>
        </p:txBody>
      </p:sp>
      <p:sp>
        <p:nvSpPr>
          <p:cNvPr id="33" name="Text 30"/>
          <p:cNvSpPr txBox="1"/>
          <p:nvPr/>
        </p:nvSpPr>
        <p:spPr>
          <a:xfrm>
            <a:off x="548640" y="3072384"/>
            <a:ext cx="5330952" cy="4535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34" charset="0"/>
                <a:ea typeface="Amiri" pitchFamily="34" charset="-122"/>
                <a:cs typeface="Amiri" pitchFamily="34" charset="-120"/>
              </a:rPr>
              <a:t>عُمْرِي سَبْعَ عَشْرَةَ سَنَةً.</a:t>
            </a:r>
            <a:endParaRPr lang="ar-SA" sz="2000" dirty="0"/>
          </a:p>
        </p:txBody>
      </p:sp>
      <p:sp>
        <p:nvSpPr>
          <p:cNvPr id="34" name="Text 31"/>
          <p:cNvSpPr txBox="1"/>
          <p:nvPr/>
        </p:nvSpPr>
        <p:spPr>
          <a:xfrm>
            <a:off x="502920" y="3493008"/>
            <a:ext cx="542239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I am seventeen years old.</a:t>
            </a:r>
            <a:endParaRPr lang="en-US" sz="950" dirty="0"/>
          </a:p>
        </p:txBody>
      </p:sp>
      <p:sp>
        <p:nvSpPr>
          <p:cNvPr id="35" name="Shape 32"/>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6" name="Text 33"/>
          <p:cNvSpPr txBox="1"/>
          <p:nvPr/>
        </p:nvSpPr>
        <p:spPr>
          <a:xfrm>
            <a:off x="9994392" y="3858768"/>
            <a:ext cx="16459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١٨</a:t>
            </a:r>
            <a:endParaRPr lang="ar-SA" sz="2100" dirty="0"/>
          </a:p>
        </p:txBody>
      </p:sp>
      <p:sp>
        <p:nvSpPr>
          <p:cNvPr id="37" name="Text 34"/>
          <p:cNvSpPr txBox="1"/>
          <p:nvPr/>
        </p:nvSpPr>
        <p:spPr>
          <a:xfrm>
            <a:off x="9948672" y="4279392"/>
            <a:ext cx="17373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eighteen</a:t>
            </a:r>
            <a:endParaRPr lang="en-US" sz="950" dirty="0"/>
          </a:p>
        </p:txBody>
      </p:sp>
      <p:sp>
        <p:nvSpPr>
          <p:cNvPr id="38" name="Text 35"/>
          <p:cNvSpPr txBox="1"/>
          <p:nvPr/>
        </p:nvSpPr>
        <p:spPr>
          <a:xfrm>
            <a:off x="6062472" y="3858768"/>
            <a:ext cx="374904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ثَمَانِيَ عَشْرَةَ</a:t>
            </a:r>
            <a:endParaRPr lang="ar-SA" sz="2100" dirty="0"/>
          </a:p>
        </p:txBody>
      </p:sp>
      <p:sp>
        <p:nvSpPr>
          <p:cNvPr id="39" name="Text 36"/>
          <p:cNvSpPr txBox="1"/>
          <p:nvPr/>
        </p:nvSpPr>
        <p:spPr>
          <a:xfrm>
            <a:off x="6016752" y="4279392"/>
            <a:ext cx="38404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tha-mā-ni-ya ʿash-ra-ta</a:t>
            </a:r>
            <a:endParaRPr lang="en-US" sz="950" dirty="0"/>
          </a:p>
        </p:txBody>
      </p:sp>
      <p:sp>
        <p:nvSpPr>
          <p:cNvPr id="40" name="Text 37"/>
          <p:cNvSpPr txBox="1"/>
          <p:nvPr/>
        </p:nvSpPr>
        <p:spPr>
          <a:xfrm>
            <a:off x="548640" y="3858768"/>
            <a:ext cx="5330952" cy="4535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34" charset="0"/>
                <a:ea typeface="Amiri" pitchFamily="34" charset="-122"/>
                <a:cs typeface="Amiri" pitchFamily="34" charset="-120"/>
              </a:rPr>
              <a:t>عُمْرِي ثَمَانِيَ عَشْرَةَ سَنَةً.</a:t>
            </a:r>
            <a:endParaRPr lang="ar-SA" sz="2000" dirty="0"/>
          </a:p>
        </p:txBody>
      </p:sp>
      <p:sp>
        <p:nvSpPr>
          <p:cNvPr id="41" name="Text 38"/>
          <p:cNvSpPr txBox="1"/>
          <p:nvPr/>
        </p:nvSpPr>
        <p:spPr>
          <a:xfrm>
            <a:off x="502920" y="4279392"/>
            <a:ext cx="542239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I am eighteen years old.</a:t>
            </a:r>
            <a:endParaRPr lang="en-US" sz="950" dirty="0"/>
          </a:p>
        </p:txBody>
      </p:sp>
      <p:sp>
        <p:nvSpPr>
          <p:cNvPr id="42" name="Shape 39"/>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3" name="Text 40"/>
          <p:cNvSpPr txBox="1"/>
          <p:nvPr/>
        </p:nvSpPr>
        <p:spPr>
          <a:xfrm>
            <a:off x="9994392" y="4645152"/>
            <a:ext cx="16459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١٩</a:t>
            </a:r>
            <a:endParaRPr lang="ar-SA" sz="2100" dirty="0"/>
          </a:p>
        </p:txBody>
      </p:sp>
      <p:sp>
        <p:nvSpPr>
          <p:cNvPr id="44" name="Text 41"/>
          <p:cNvSpPr txBox="1"/>
          <p:nvPr/>
        </p:nvSpPr>
        <p:spPr>
          <a:xfrm>
            <a:off x="9948672" y="5065776"/>
            <a:ext cx="17373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nineteen</a:t>
            </a:r>
            <a:endParaRPr lang="en-US" sz="950" dirty="0"/>
          </a:p>
        </p:txBody>
      </p:sp>
      <p:sp>
        <p:nvSpPr>
          <p:cNvPr id="45" name="Text 42"/>
          <p:cNvSpPr txBox="1"/>
          <p:nvPr/>
        </p:nvSpPr>
        <p:spPr>
          <a:xfrm>
            <a:off x="6062472" y="4645152"/>
            <a:ext cx="374904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تِسْعَ عَشْرَةَ</a:t>
            </a:r>
            <a:endParaRPr lang="ar-SA" sz="2100" dirty="0"/>
          </a:p>
        </p:txBody>
      </p:sp>
      <p:sp>
        <p:nvSpPr>
          <p:cNvPr id="46" name="Text 43"/>
          <p:cNvSpPr txBox="1"/>
          <p:nvPr/>
        </p:nvSpPr>
        <p:spPr>
          <a:xfrm>
            <a:off x="6016752" y="5065776"/>
            <a:ext cx="38404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tis-ʿa ʿash-ra-ta</a:t>
            </a:r>
            <a:endParaRPr lang="en-US" sz="950" dirty="0"/>
          </a:p>
        </p:txBody>
      </p:sp>
      <p:sp>
        <p:nvSpPr>
          <p:cNvPr id="47" name="Text 44"/>
          <p:cNvSpPr txBox="1"/>
          <p:nvPr/>
        </p:nvSpPr>
        <p:spPr>
          <a:xfrm>
            <a:off x="548640" y="4645152"/>
            <a:ext cx="5330952" cy="4535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34" charset="0"/>
                <a:ea typeface="Amiri" pitchFamily="34" charset="-122"/>
                <a:cs typeface="Amiri" pitchFamily="34" charset="-120"/>
              </a:rPr>
              <a:t>عُمْرِي تِسْعَ عَشْرَةَ سَنَةً.</a:t>
            </a:r>
            <a:endParaRPr lang="ar-SA" sz="2000" dirty="0"/>
          </a:p>
        </p:txBody>
      </p:sp>
      <p:sp>
        <p:nvSpPr>
          <p:cNvPr id="48" name="Text 45"/>
          <p:cNvSpPr txBox="1"/>
          <p:nvPr/>
        </p:nvSpPr>
        <p:spPr>
          <a:xfrm>
            <a:off x="502920" y="5065776"/>
            <a:ext cx="542239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I am nineteen years old.</a:t>
            </a:r>
            <a:endParaRPr lang="en-US" sz="950" dirty="0"/>
          </a:p>
        </p:txBody>
      </p:sp>
      <p:sp>
        <p:nvSpPr>
          <p:cNvPr id="49" name="Shape 46"/>
          <p:cNvSpPr/>
          <p:nvPr/>
        </p:nvSpPr>
        <p:spPr>
          <a:xfrm>
            <a:off x="457200" y="5413248"/>
            <a:ext cx="11274552" cy="731520"/>
          </a:xfrm>
          <a:prstGeom prst="roundRect">
            <a:avLst>
              <a:gd name="adj" fmla="val 6250"/>
            </a:avLst>
          </a:prstGeom>
          <a:solidFill>
            <a:srgbClr val="FFFFFF"/>
          </a:solidFill>
          <a:ln w="9525">
            <a:solidFill>
              <a:srgbClr val="D8D0BF"/>
            </a:solidFill>
            <a:prstDash val="solid"/>
          </a:ln>
        </p:spPr>
      </p:sp>
      <p:sp>
        <p:nvSpPr>
          <p:cNvPr id="50" name="Text 47"/>
          <p:cNvSpPr txBox="1"/>
          <p:nvPr/>
        </p:nvSpPr>
        <p:spPr>
          <a:xfrm>
            <a:off x="9994392" y="5431536"/>
            <a:ext cx="16459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٢٠</a:t>
            </a:r>
            <a:endParaRPr lang="ar-SA" sz="2100" dirty="0"/>
          </a:p>
        </p:txBody>
      </p:sp>
      <p:sp>
        <p:nvSpPr>
          <p:cNvPr id="51" name="Text 48"/>
          <p:cNvSpPr txBox="1"/>
          <p:nvPr/>
        </p:nvSpPr>
        <p:spPr>
          <a:xfrm>
            <a:off x="9948672" y="5852160"/>
            <a:ext cx="17373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twenty</a:t>
            </a:r>
            <a:endParaRPr lang="en-US" sz="950" dirty="0"/>
          </a:p>
        </p:txBody>
      </p:sp>
      <p:sp>
        <p:nvSpPr>
          <p:cNvPr id="52" name="Text 49"/>
          <p:cNvSpPr txBox="1"/>
          <p:nvPr/>
        </p:nvSpPr>
        <p:spPr>
          <a:xfrm>
            <a:off x="6062472" y="5431536"/>
            <a:ext cx="374904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عِشْرُونَ</a:t>
            </a:r>
            <a:endParaRPr lang="ar-SA" sz="2100" dirty="0"/>
          </a:p>
        </p:txBody>
      </p:sp>
      <p:sp>
        <p:nvSpPr>
          <p:cNvPr id="53" name="Text 50"/>
          <p:cNvSpPr txBox="1"/>
          <p:nvPr/>
        </p:nvSpPr>
        <p:spPr>
          <a:xfrm>
            <a:off x="6016752" y="5852160"/>
            <a:ext cx="38404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ʿish-rū-na</a:t>
            </a:r>
            <a:endParaRPr lang="en-US" sz="950" dirty="0"/>
          </a:p>
        </p:txBody>
      </p:sp>
      <p:sp>
        <p:nvSpPr>
          <p:cNvPr id="54" name="Text 51"/>
          <p:cNvSpPr txBox="1"/>
          <p:nvPr/>
        </p:nvSpPr>
        <p:spPr>
          <a:xfrm>
            <a:off x="548640" y="5431536"/>
            <a:ext cx="5330952" cy="4535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34" charset="0"/>
                <a:ea typeface="Amiri" pitchFamily="34" charset="-122"/>
                <a:cs typeface="Amiri" pitchFamily="34" charset="-120"/>
              </a:rPr>
              <a:t>عُمْرِي عِشْرُونَ سَنَةً.</a:t>
            </a:r>
            <a:endParaRPr lang="ar-SA" sz="2000" dirty="0"/>
          </a:p>
        </p:txBody>
      </p:sp>
      <p:sp>
        <p:nvSpPr>
          <p:cNvPr id="55" name="Text 52"/>
          <p:cNvSpPr txBox="1"/>
          <p:nvPr/>
        </p:nvSpPr>
        <p:spPr>
          <a:xfrm>
            <a:off x="502920" y="5852160"/>
            <a:ext cx="542239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I am twenty years old.</a:t>
            </a:r>
            <a:endParaRPr lang="en-US" sz="9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10 / 36</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F2-L03 · Age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GRAMMAR FOCUS · ONE NOUN, THREE USEFUL ENDINGS (AGAIN!)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Whose age?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عُمْرٌ ← عُمْرُكَ / عُمْرُكِ / عُمْرِي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1 · Lesson 3 of 3</a:t>
            </a:r>
            <a:endParaRPr lang="en-US" sz="850" dirty="0"/>
          </a:p>
        </p:txBody>
      </p:sp>
      <p:sp>
        <p:nvSpPr>
          <p:cNvPr id="15" name="Shape 12"/>
          <p:cNvSpPr/>
          <p:nvPr/>
        </p:nvSpPr>
        <p:spPr>
          <a:xfrm>
            <a:off x="457200" y="1828800"/>
            <a:ext cx="11274552" cy="2331720"/>
          </a:xfrm>
          <a:prstGeom prst="roundRect">
            <a:avLst>
              <a:gd name="adj" fmla="val 313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1371600" y="1828800"/>
            <a:ext cx="9445752" cy="1572768"/>
          </a:xfrm>
          <a:prstGeom prst="rect">
            <a:avLst/>
          </a:prstGeom>
          <a:noFill/>
          <a:ln/>
        </p:spPr>
        <p:txBody>
          <a:bodyPr wrap="square" lIns="0" tIns="0" rIns="0" bIns="0" rtlCol="0" anchor="ctr"/>
          <a:lstStyle/>
          <a:p>
            <a:pPr rtl="1" algn="ctr" indent="0" marL="0">
              <a:buNone/>
            </a:pPr>
            <a:r>
              <a:rPr lang="ar-SA" altLang="en-US" sz="7200" b="1" dirty="0">
                <a:solidFill>
                  <a:srgbClr val="0E7C86"/>
                </a:solidFill>
                <a:latin typeface="Amiri" pitchFamily="34" charset="0"/>
                <a:ea typeface="Amiri" pitchFamily="34" charset="-122"/>
                <a:cs typeface="Amiri" pitchFamily="34" charset="-120"/>
              </a:rPr>
              <a:t>كَمْ</a:t>
            </a:r>
            <a:pPr rtl="1" algn="ctr" indent="0" marL="0">
              <a:buNone/>
            </a:pPr>
            <a:r>
              <a:rPr lang="ar-SA" altLang="en-US" sz="7200" b="1" dirty="0">
                <a:solidFill>
                  <a:srgbClr val="1B3B6F"/>
                </a:solidFill>
                <a:latin typeface="Amiri" pitchFamily="34" charset="0"/>
                <a:ea typeface="Amiri" pitchFamily="34" charset="-122"/>
                <a:cs typeface="Amiri" pitchFamily="34" charset="-120"/>
              </a:rPr>
              <a:t> </a:t>
            </a:r>
            <a:pPr rtl="1" algn="ctr" indent="0" marL="0">
              <a:buNone/>
            </a:pPr>
            <a:r>
              <a:rPr lang="ar-SA" altLang="en-US" sz="7200" b="1" dirty="0">
                <a:solidFill>
                  <a:srgbClr val="7B3FA0"/>
                </a:solidFill>
                <a:latin typeface="Amiri" pitchFamily="34" charset="0"/>
                <a:ea typeface="Amiri" pitchFamily="34" charset="-122"/>
                <a:cs typeface="Amiri" pitchFamily="34" charset="-120"/>
              </a:rPr>
              <a:t>عُمْرُ</a:t>
            </a:r>
            <a:pPr rtl="1" algn="ctr" indent="0" marL="0">
              <a:buNone/>
            </a:pPr>
            <a:r>
              <a:rPr lang="ar-SA" altLang="en-US" sz="7200" b="1" dirty="0">
                <a:solidFill>
                  <a:srgbClr val="D6336C"/>
                </a:solidFill>
                <a:latin typeface="Amiri" pitchFamily="34" charset="0"/>
                <a:ea typeface="Amiri" pitchFamily="34" charset="-122"/>
                <a:cs typeface="Amiri" pitchFamily="34" charset="-120"/>
              </a:rPr>
              <a:t>كِ</a:t>
            </a:r>
            <a:pPr rtl="1" algn="ctr" indent="0" marL="0">
              <a:buNone/>
            </a:pPr>
            <a:r>
              <a:rPr lang="ar-SA" altLang="en-US" sz="7200" b="1" dirty="0">
                <a:solidFill>
                  <a:srgbClr val="1B3B6F"/>
                </a:solidFill>
                <a:latin typeface="Amiri" pitchFamily="34" charset="0"/>
                <a:ea typeface="Amiri" pitchFamily="34" charset="-122"/>
                <a:cs typeface="Amiri" pitchFamily="34" charset="-120"/>
              </a:rPr>
              <a:t>؟</a:t>
            </a:r>
            <a:endParaRPr lang="ar-SA" sz="7200" dirty="0"/>
          </a:p>
        </p:txBody>
      </p:sp>
      <p:sp>
        <p:nvSpPr>
          <p:cNvPr id="17" name="Text 14"/>
          <p:cNvSpPr txBox="1"/>
          <p:nvPr/>
        </p:nvSpPr>
        <p:spPr>
          <a:xfrm>
            <a:off x="457200" y="3675888"/>
            <a:ext cx="11274552" cy="365760"/>
          </a:xfrm>
          <a:prstGeom prst="rect">
            <a:avLst/>
          </a:prstGeom>
          <a:noFill/>
          <a:ln/>
        </p:spPr>
        <p:txBody>
          <a:bodyPr wrap="square" lIns="0" tIns="0" rIns="0" bIns="0" rtlCol="0" anchor="ctr"/>
          <a:lstStyle/>
          <a:p>
            <a:pPr algn="ctr" indent="0" marL="0">
              <a:buNone/>
            </a:pPr>
            <a:r>
              <a:rPr lang="en-US" sz="1500" i="1" dirty="0">
                <a:solidFill>
                  <a:srgbClr val="5A6472"/>
                </a:solidFill>
                <a:latin typeface="Calibri" pitchFamily="34" charset="0"/>
                <a:ea typeface="Calibri" pitchFamily="34" charset="-122"/>
                <a:cs typeface="Calibri" pitchFamily="34" charset="-120"/>
              </a:rPr>
              <a:t>kam ʿum-ru-ki · how old are you? (to a girl)</a:t>
            </a:r>
            <a:endParaRPr lang="en-US" sz="1500" dirty="0"/>
          </a:p>
        </p:txBody>
      </p:sp>
      <p:sp>
        <p:nvSpPr>
          <p:cNvPr id="18" name="Shape 15"/>
          <p:cNvSpPr/>
          <p:nvPr/>
        </p:nvSpPr>
        <p:spPr>
          <a:xfrm>
            <a:off x="8095488" y="4370832"/>
            <a:ext cx="3636264" cy="1783080"/>
          </a:xfrm>
          <a:prstGeom prst="roundRect">
            <a:avLst>
              <a:gd name="adj" fmla="val 4103"/>
            </a:avLst>
          </a:prstGeom>
          <a:solidFill>
            <a:srgbClr val="FFFFFF"/>
          </a:solidFill>
          <a:ln w="19050">
            <a:solidFill>
              <a:srgbClr val="0E7C86"/>
            </a:solidFill>
            <a:prstDash val="solid"/>
          </a:ln>
          <a:effectLst>
            <a:outerShdw sx="100000" sy="100000" kx="0" ky="0" algn="bl" rotWithShape="0" blurRad="50800" dist="19050" dir="5400000">
              <a:srgbClr val="000000">
                <a:alpha val="10000"/>
              </a:srgbClr>
            </a:outerShdw>
          </a:effectLst>
        </p:spPr>
      </p:sp>
      <p:sp>
        <p:nvSpPr>
          <p:cNvPr id="19" name="Text 16"/>
          <p:cNvSpPr txBox="1"/>
          <p:nvPr/>
        </p:nvSpPr>
        <p:spPr>
          <a:xfrm>
            <a:off x="8278368" y="4480560"/>
            <a:ext cx="548640" cy="548640"/>
          </a:xfrm>
          <a:prstGeom prst="rect">
            <a:avLst/>
          </a:prstGeom>
          <a:noFill/>
          <a:ln/>
        </p:spPr>
        <p:txBody>
          <a:bodyPr wrap="square" lIns="0" tIns="0" rIns="0" bIns="0" rtlCol="0" anchor="ctr"/>
          <a:lstStyle/>
          <a:p>
            <a:pPr algn="l" indent="0" marL="0">
              <a:buNone/>
            </a:pPr>
            <a:r>
              <a:rPr lang="en-US" sz="3000" b="1" dirty="0">
                <a:solidFill>
                  <a:srgbClr val="E1E4EA"/>
                </a:solidFill>
                <a:latin typeface="Cambria" pitchFamily="34" charset="0"/>
                <a:ea typeface="Cambria" pitchFamily="34" charset="-122"/>
                <a:cs typeface="Cambria" pitchFamily="34" charset="-120"/>
              </a:rPr>
              <a:t>1</a:t>
            </a:r>
            <a:endParaRPr lang="en-US" sz="3000" dirty="0"/>
          </a:p>
        </p:txBody>
      </p:sp>
      <p:sp>
        <p:nvSpPr>
          <p:cNvPr id="20" name="Text 17"/>
          <p:cNvSpPr txBox="1"/>
          <p:nvPr/>
        </p:nvSpPr>
        <p:spPr>
          <a:xfrm>
            <a:off x="8827008" y="4462272"/>
            <a:ext cx="2767584" cy="731520"/>
          </a:xfrm>
          <a:prstGeom prst="rect">
            <a:avLst/>
          </a:prstGeom>
          <a:noFill/>
          <a:ln/>
        </p:spPr>
        <p:txBody>
          <a:bodyPr wrap="square" lIns="0" tIns="0" rIns="0" bIns="0" rtlCol="0" anchor="ctr"/>
          <a:lstStyle/>
          <a:p>
            <a:pPr rtl="1" algn="r" indent="0" marL="0">
              <a:buNone/>
            </a:pPr>
            <a:r>
              <a:rPr lang="ar-SA" altLang="en-US" sz="3400" b="1" dirty="0">
                <a:solidFill>
                  <a:srgbClr val="0E7C86"/>
                </a:solidFill>
                <a:latin typeface="Amiri" pitchFamily="34" charset="0"/>
                <a:ea typeface="Amiri" pitchFamily="34" charset="-122"/>
                <a:cs typeface="Amiri" pitchFamily="34" charset="-120"/>
              </a:rPr>
              <a:t>كَمْ</a:t>
            </a:r>
            <a:endParaRPr lang="ar-SA" sz="3400" dirty="0"/>
          </a:p>
        </p:txBody>
      </p:sp>
      <p:sp>
        <p:nvSpPr>
          <p:cNvPr id="21" name="Text 18"/>
          <p:cNvSpPr txBox="1"/>
          <p:nvPr/>
        </p:nvSpPr>
        <p:spPr>
          <a:xfrm>
            <a:off x="8278368" y="5120640"/>
            <a:ext cx="3270504" cy="310896"/>
          </a:xfrm>
          <a:prstGeom prst="rect">
            <a:avLst/>
          </a:prstGeom>
          <a:noFill/>
          <a:ln/>
        </p:spPr>
        <p:txBody>
          <a:bodyPr wrap="square" lIns="0" tIns="0" rIns="0" bIns="0" rtlCol="0" anchor="ctr"/>
          <a:lstStyle/>
          <a:p>
            <a:pPr algn="l" indent="0" marL="0">
              <a:buNone/>
            </a:pPr>
            <a:r>
              <a:rPr lang="en-US" sz="1600" b="1" dirty="0">
                <a:solidFill>
                  <a:srgbClr val="0E7C86"/>
                </a:solidFill>
                <a:latin typeface="Calibri" pitchFamily="34" charset="0"/>
                <a:ea typeface="Calibri" pitchFamily="34" charset="-122"/>
                <a:cs typeface="Calibri" pitchFamily="34" charset="-120"/>
              </a:rPr>
              <a:t>KEY WORD: how many?</a:t>
            </a:r>
            <a:endParaRPr lang="en-US" sz="1600" dirty="0"/>
          </a:p>
        </p:txBody>
      </p:sp>
      <p:sp>
        <p:nvSpPr>
          <p:cNvPr id="22" name="Text 19"/>
          <p:cNvSpPr txBox="1"/>
          <p:nvPr/>
        </p:nvSpPr>
        <p:spPr>
          <a:xfrm>
            <a:off x="8278368" y="5440680"/>
            <a:ext cx="3270504" cy="658368"/>
          </a:xfrm>
          <a:prstGeom prst="rect">
            <a:avLst/>
          </a:prstGeom>
          <a:noFill/>
          <a:ln/>
        </p:spPr>
        <p:txBody>
          <a:bodyPr wrap="square" lIns="0" tIns="0" rIns="0" bIns="0" rtlCol="0" anchor="t"/>
          <a:lstStyle/>
          <a:p>
            <a:pPr algn="l" indent="0" marL="0">
              <a:buNone/>
            </a:pPr>
            <a:r>
              <a:rPr lang="en-US" sz="1150" dirty="0">
                <a:solidFill>
                  <a:srgbClr val="5A6472"/>
                </a:solidFill>
                <a:latin typeface="Calibri" pitchFamily="34" charset="0"/>
                <a:ea typeface="Calibri" pitchFamily="34" charset="-122"/>
                <a:cs typeface="Calibri" pitchFamily="34" charset="-120"/>
              </a:rPr>
              <a:t>With </a:t>
            </a:r>
            <a:pPr algn="l" indent="0" marL="0">
              <a:buNone/>
            </a:pPr>
            <a:r>
              <a:rPr lang="ar-SA" altLang="en-US" sz="1500" dirty="0">
                <a:solidFill>
                  <a:srgbClr val="5A6472"/>
                </a:solidFill>
                <a:latin typeface="Amiri" pitchFamily="34" charset="0"/>
                <a:ea typeface="Amiri" pitchFamily="34" charset="-122"/>
                <a:cs typeface="Amiri" pitchFamily="34" charset="-120"/>
              </a:rPr>
              <a:t>عُمْر</a:t>
            </a:r>
            <a:pPr algn="l" indent="0" marL="0">
              <a:buNone/>
            </a:pPr>
            <a:r>
              <a:rPr lang="en-US" sz="1150" dirty="0">
                <a:solidFill>
                  <a:srgbClr val="5A6472"/>
                </a:solidFill>
                <a:latin typeface="Calibri" pitchFamily="34" charset="0"/>
                <a:ea typeface="Calibri" pitchFamily="34" charset="-122"/>
                <a:cs typeface="Calibri" pitchFamily="34" charset="-120"/>
              </a:rPr>
              <a:t> it asks age.</a:t>
            </a:r>
            <a:endParaRPr lang="en-US" sz="1150" dirty="0"/>
          </a:p>
        </p:txBody>
      </p:sp>
      <p:sp>
        <p:nvSpPr>
          <p:cNvPr id="23" name="Shape 20"/>
          <p:cNvSpPr/>
          <p:nvPr/>
        </p:nvSpPr>
        <p:spPr>
          <a:xfrm>
            <a:off x="4276344" y="4370832"/>
            <a:ext cx="3636264" cy="1783080"/>
          </a:xfrm>
          <a:prstGeom prst="roundRect">
            <a:avLst>
              <a:gd name="adj" fmla="val 4103"/>
            </a:avLst>
          </a:prstGeom>
          <a:solidFill>
            <a:srgbClr val="FFFFFF"/>
          </a:solidFill>
          <a:ln w="19050">
            <a:solidFill>
              <a:srgbClr val="7B3FA0"/>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4459224" y="4480560"/>
            <a:ext cx="548640" cy="548640"/>
          </a:xfrm>
          <a:prstGeom prst="rect">
            <a:avLst/>
          </a:prstGeom>
          <a:noFill/>
          <a:ln/>
        </p:spPr>
        <p:txBody>
          <a:bodyPr wrap="square" lIns="0" tIns="0" rIns="0" bIns="0" rtlCol="0" anchor="ctr"/>
          <a:lstStyle/>
          <a:p>
            <a:pPr algn="l" indent="0" marL="0">
              <a:buNone/>
            </a:pPr>
            <a:r>
              <a:rPr lang="en-US" sz="3000" b="1" dirty="0">
                <a:solidFill>
                  <a:srgbClr val="E1E4EA"/>
                </a:solidFill>
                <a:latin typeface="Cambria" pitchFamily="34" charset="0"/>
                <a:ea typeface="Cambria" pitchFamily="34" charset="-122"/>
                <a:cs typeface="Cambria" pitchFamily="34" charset="-120"/>
              </a:rPr>
              <a:t>2</a:t>
            </a:r>
            <a:endParaRPr lang="en-US" sz="3000" dirty="0"/>
          </a:p>
        </p:txBody>
      </p:sp>
      <p:sp>
        <p:nvSpPr>
          <p:cNvPr id="25" name="Text 22"/>
          <p:cNvSpPr txBox="1"/>
          <p:nvPr/>
        </p:nvSpPr>
        <p:spPr>
          <a:xfrm>
            <a:off x="5007864" y="4462272"/>
            <a:ext cx="2767584" cy="731520"/>
          </a:xfrm>
          <a:prstGeom prst="rect">
            <a:avLst/>
          </a:prstGeom>
          <a:noFill/>
          <a:ln/>
        </p:spPr>
        <p:txBody>
          <a:bodyPr wrap="square" lIns="0" tIns="0" rIns="0" bIns="0" rtlCol="0" anchor="ctr"/>
          <a:lstStyle/>
          <a:p>
            <a:pPr rtl="1" algn="r" indent="0" marL="0">
              <a:buNone/>
            </a:pPr>
            <a:r>
              <a:rPr lang="ar-SA" altLang="en-US" sz="3400" b="1" dirty="0">
                <a:solidFill>
                  <a:srgbClr val="7B3FA0"/>
                </a:solidFill>
                <a:latin typeface="Amiri" pitchFamily="34" charset="0"/>
                <a:ea typeface="Amiri" pitchFamily="34" charset="-122"/>
                <a:cs typeface="Amiri" pitchFamily="34" charset="-120"/>
              </a:rPr>
              <a:t>عُمْرُ</a:t>
            </a:r>
            <a:endParaRPr lang="ar-SA" sz="3400" dirty="0"/>
          </a:p>
        </p:txBody>
      </p:sp>
      <p:sp>
        <p:nvSpPr>
          <p:cNvPr id="26" name="Text 23"/>
          <p:cNvSpPr txBox="1"/>
          <p:nvPr/>
        </p:nvSpPr>
        <p:spPr>
          <a:xfrm>
            <a:off x="4459224" y="5120640"/>
            <a:ext cx="3270504" cy="310896"/>
          </a:xfrm>
          <a:prstGeom prst="rect">
            <a:avLst/>
          </a:prstGeom>
          <a:noFill/>
          <a:ln/>
        </p:spPr>
        <p:txBody>
          <a:bodyPr wrap="square" lIns="0" tIns="0" rIns="0" bIns="0" rtlCol="0" anchor="ctr"/>
          <a:lstStyle/>
          <a:p>
            <a:pPr algn="l" indent="0" marL="0">
              <a:buNone/>
            </a:pPr>
            <a:r>
              <a:rPr lang="en-US" sz="1600" b="1" dirty="0">
                <a:solidFill>
                  <a:srgbClr val="7B3FA0"/>
                </a:solidFill>
                <a:latin typeface="Calibri" pitchFamily="34" charset="0"/>
                <a:ea typeface="Calibri" pitchFamily="34" charset="-122"/>
                <a:cs typeface="Calibri" pitchFamily="34" charset="-120"/>
              </a:rPr>
              <a:t>MEANING: age</a:t>
            </a:r>
            <a:endParaRPr lang="en-US" sz="1600" dirty="0"/>
          </a:p>
        </p:txBody>
      </p:sp>
      <p:sp>
        <p:nvSpPr>
          <p:cNvPr id="27" name="Text 24"/>
          <p:cNvSpPr txBox="1"/>
          <p:nvPr/>
        </p:nvSpPr>
        <p:spPr>
          <a:xfrm>
            <a:off x="4459224" y="5440680"/>
            <a:ext cx="3270504" cy="658368"/>
          </a:xfrm>
          <a:prstGeom prst="rect">
            <a:avLst/>
          </a:prstGeom>
          <a:noFill/>
          <a:ln/>
        </p:spPr>
        <p:txBody>
          <a:bodyPr wrap="square" lIns="0" tIns="0" rIns="0" bIns="0" rtlCol="0" anchor="t"/>
          <a:lstStyle/>
          <a:p>
            <a:pPr algn="l" indent="0" marL="0">
              <a:buNone/>
            </a:pPr>
            <a:r>
              <a:rPr lang="en-US" sz="1150" dirty="0">
                <a:solidFill>
                  <a:srgbClr val="5A6472"/>
                </a:solidFill>
                <a:latin typeface="Calibri" pitchFamily="34" charset="0"/>
                <a:ea typeface="Calibri" pitchFamily="34" charset="-122"/>
                <a:cs typeface="Calibri" pitchFamily="34" charset="-120"/>
              </a:rPr>
              <a:t>Urdu: umr — the same word.</a:t>
            </a:r>
            <a:endParaRPr lang="en-US" sz="1150" dirty="0"/>
          </a:p>
        </p:txBody>
      </p:sp>
      <p:sp>
        <p:nvSpPr>
          <p:cNvPr id="28" name="Shape 25"/>
          <p:cNvSpPr/>
          <p:nvPr/>
        </p:nvSpPr>
        <p:spPr>
          <a:xfrm>
            <a:off x="457200" y="4370832"/>
            <a:ext cx="3636264" cy="1783080"/>
          </a:xfrm>
          <a:prstGeom prst="roundRect">
            <a:avLst>
              <a:gd name="adj" fmla="val 4103"/>
            </a:avLst>
          </a:prstGeom>
          <a:solidFill>
            <a:srgbClr val="FFFFFF"/>
          </a:solidFill>
          <a:ln w="19050">
            <a:solidFill>
              <a:srgbClr val="D6336C"/>
            </a:solidFill>
            <a:prstDash val="solid"/>
          </a:ln>
          <a:effectLst>
            <a:outerShdw sx="100000" sy="100000" kx="0" ky="0" algn="bl" rotWithShape="0" blurRad="50800" dist="19050" dir="5400000">
              <a:srgbClr val="000000">
                <a:alpha val="10000"/>
              </a:srgbClr>
            </a:outerShdw>
          </a:effectLst>
        </p:spPr>
      </p:sp>
      <p:sp>
        <p:nvSpPr>
          <p:cNvPr id="29" name="Text 26"/>
          <p:cNvSpPr txBox="1"/>
          <p:nvPr/>
        </p:nvSpPr>
        <p:spPr>
          <a:xfrm>
            <a:off x="640080" y="4480560"/>
            <a:ext cx="548640" cy="548640"/>
          </a:xfrm>
          <a:prstGeom prst="rect">
            <a:avLst/>
          </a:prstGeom>
          <a:noFill/>
          <a:ln/>
        </p:spPr>
        <p:txBody>
          <a:bodyPr wrap="square" lIns="0" tIns="0" rIns="0" bIns="0" rtlCol="0" anchor="ctr"/>
          <a:lstStyle/>
          <a:p>
            <a:pPr algn="l" indent="0" marL="0">
              <a:buNone/>
            </a:pPr>
            <a:r>
              <a:rPr lang="en-US" sz="3000" b="1" dirty="0">
                <a:solidFill>
                  <a:srgbClr val="E1E4EA"/>
                </a:solidFill>
                <a:latin typeface="Cambria" pitchFamily="34" charset="0"/>
                <a:ea typeface="Cambria" pitchFamily="34" charset="-122"/>
                <a:cs typeface="Cambria" pitchFamily="34" charset="-120"/>
              </a:rPr>
              <a:t>3</a:t>
            </a:r>
            <a:endParaRPr lang="en-US" sz="3000" dirty="0"/>
          </a:p>
        </p:txBody>
      </p:sp>
      <p:sp>
        <p:nvSpPr>
          <p:cNvPr id="30" name="Text 27"/>
          <p:cNvSpPr txBox="1"/>
          <p:nvPr/>
        </p:nvSpPr>
        <p:spPr>
          <a:xfrm>
            <a:off x="1188720" y="4462272"/>
            <a:ext cx="2767584" cy="731520"/>
          </a:xfrm>
          <a:prstGeom prst="rect">
            <a:avLst/>
          </a:prstGeom>
          <a:noFill/>
          <a:ln/>
        </p:spPr>
        <p:txBody>
          <a:bodyPr wrap="square" lIns="0" tIns="0" rIns="0" bIns="0" rtlCol="0" anchor="ctr"/>
          <a:lstStyle/>
          <a:p>
            <a:pPr rtl="1" algn="r" indent="0" marL="0">
              <a:buNone/>
            </a:pPr>
            <a:r>
              <a:rPr lang="ar-SA" altLang="en-US" sz="3400" b="1" dirty="0">
                <a:solidFill>
                  <a:srgbClr val="D6336C"/>
                </a:solidFill>
                <a:latin typeface="Amiri" pitchFamily="34" charset="0"/>
                <a:ea typeface="Amiri" pitchFamily="34" charset="-122"/>
                <a:cs typeface="Amiri" pitchFamily="34" charset="-120"/>
              </a:rPr>
              <a:t>كَ / كِ</a:t>
            </a:r>
            <a:endParaRPr lang="ar-SA" sz="3400" dirty="0"/>
          </a:p>
        </p:txBody>
      </p:sp>
      <p:sp>
        <p:nvSpPr>
          <p:cNvPr id="31" name="Text 28"/>
          <p:cNvSpPr txBox="1"/>
          <p:nvPr/>
        </p:nvSpPr>
        <p:spPr>
          <a:xfrm>
            <a:off x="640080" y="5120640"/>
            <a:ext cx="3270504" cy="310896"/>
          </a:xfrm>
          <a:prstGeom prst="rect">
            <a:avLst/>
          </a:prstGeom>
          <a:noFill/>
          <a:ln/>
        </p:spPr>
        <p:txBody>
          <a:bodyPr wrap="square" lIns="0" tIns="0" rIns="0" bIns="0" rtlCol="0" anchor="ctr"/>
          <a:lstStyle/>
          <a:p>
            <a:pPr algn="l" indent="0" marL="0">
              <a:buNone/>
            </a:pPr>
            <a:r>
              <a:rPr lang="en-US" sz="1600" b="1" dirty="0">
                <a:solidFill>
                  <a:srgbClr val="D6336C"/>
                </a:solidFill>
                <a:latin typeface="Calibri" pitchFamily="34" charset="0"/>
                <a:ea typeface="Calibri" pitchFamily="34" charset="-122"/>
                <a:cs typeface="Calibri" pitchFamily="34" charset="-120"/>
              </a:rPr>
              <a:t>ENDING: your</a:t>
            </a:r>
            <a:endParaRPr lang="en-US" sz="1600" dirty="0"/>
          </a:p>
        </p:txBody>
      </p:sp>
      <p:sp>
        <p:nvSpPr>
          <p:cNvPr id="32" name="Text 29"/>
          <p:cNvSpPr txBox="1"/>
          <p:nvPr/>
        </p:nvSpPr>
        <p:spPr>
          <a:xfrm>
            <a:off x="640080" y="5440680"/>
            <a:ext cx="3270504" cy="658368"/>
          </a:xfrm>
          <a:prstGeom prst="rect">
            <a:avLst/>
          </a:prstGeom>
          <a:noFill/>
          <a:ln/>
        </p:spPr>
        <p:txBody>
          <a:bodyPr wrap="square" lIns="0" tIns="0" rIns="0" bIns="0" rtlCol="0" anchor="t"/>
          <a:lstStyle/>
          <a:p>
            <a:pPr algn="l" indent="0" marL="0">
              <a:buNone/>
            </a:pPr>
            <a:r>
              <a:rPr lang="en-US" sz="1150" dirty="0">
                <a:solidFill>
                  <a:srgbClr val="5A6472"/>
                </a:solidFill>
                <a:latin typeface="Calibri" pitchFamily="34" charset="0"/>
                <a:ea typeface="Calibri" pitchFamily="34" charset="-122"/>
                <a:cs typeface="Calibri" pitchFamily="34" charset="-120"/>
              </a:rPr>
              <a:t>-ka to a boy · -ki to a girl. Answer with -ī: </a:t>
            </a:r>
            <a:pPr algn="l" indent="0" marL="0">
              <a:buNone/>
            </a:pPr>
            <a:r>
              <a:rPr lang="ar-SA" altLang="en-US" sz="1500" dirty="0">
                <a:solidFill>
                  <a:srgbClr val="5A6472"/>
                </a:solidFill>
                <a:latin typeface="Amiri" pitchFamily="34" charset="0"/>
                <a:ea typeface="Amiri" pitchFamily="34" charset="-122"/>
                <a:cs typeface="Amiri" pitchFamily="34" charset="-120"/>
              </a:rPr>
              <a:t>عُمْرِي</a:t>
            </a:r>
            <a:pPr algn="l" indent="0" marL="0">
              <a:buNone/>
            </a:pPr>
            <a:r>
              <a:rPr lang="en-US" sz="1150" dirty="0">
                <a:solidFill>
                  <a:srgbClr val="5A6472"/>
                </a:solidFill>
                <a:latin typeface="Calibri" pitchFamily="34" charset="0"/>
                <a:ea typeface="Calibri" pitchFamily="34" charset="-122"/>
                <a:cs typeface="Calibri" pitchFamily="34" charset="-120"/>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11 / 36</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F2-L03 · Age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GRAMMAR FOCUS · WHICH “YEAR”?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One year or many years?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سَنَةً أَمْ سَنَوَاتٍ؟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1 · Lesson 3 of 3</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440180" cy="274320"/>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8232648" y="1920240"/>
            <a:ext cx="14401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AGES 11–20 · CORE</a:t>
            </a:r>
            <a:endParaRPr lang="en-US" sz="850" dirty="0"/>
          </a:p>
        </p:txBody>
      </p:sp>
      <p:sp>
        <p:nvSpPr>
          <p:cNvPr id="18" name="Text 15"/>
          <p:cNvSpPr txBox="1"/>
          <p:nvPr/>
        </p:nvSpPr>
        <p:spPr>
          <a:xfrm>
            <a:off x="9718548" y="1874520"/>
            <a:ext cx="18760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34" charset="0"/>
                <a:ea typeface="Amiri" pitchFamily="34" charset="-122"/>
                <a:cs typeface="Amiri" pitchFamily="34" charset="-120"/>
              </a:rPr>
              <a:t>سَنَةً</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34" charset="0"/>
                <a:ea typeface="Amiri" pitchFamily="34" charset="-122"/>
                <a:cs typeface="Amiri" pitchFamily="34" charset="-120"/>
              </a:rPr>
              <a:t>عُمْرِي أَرْبَعَ عَشْرَةَ سَنَةً.</a:t>
            </a:r>
            <a:endParaRPr lang="ar-SA" sz="32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I am fourteen years old.</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ea typeface="Calibri" pitchFamily="34" charset="-122"/>
                <a:cs typeface="Calibri" pitchFamily="34" charset="-120"/>
              </a:rPr>
              <a:t>After 11–20 the singular “year”: sanatan.</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5773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4413504" y="1920240"/>
            <a:ext cx="15773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AGES 3–10 · STRETCH</a:t>
            </a:r>
            <a:endParaRPr lang="en-US" sz="850" dirty="0"/>
          </a:p>
        </p:txBody>
      </p:sp>
      <p:sp>
        <p:nvSpPr>
          <p:cNvPr id="26" name="Text 23"/>
          <p:cNvSpPr txBox="1"/>
          <p:nvPr/>
        </p:nvSpPr>
        <p:spPr>
          <a:xfrm>
            <a:off x="6036564" y="1874520"/>
            <a:ext cx="17388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34" charset="0"/>
                <a:ea typeface="Amiri" pitchFamily="34" charset="-122"/>
                <a:cs typeface="Amiri" pitchFamily="34" charset="-120"/>
              </a:rPr>
              <a:t>سَنَوَاتٍ</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34" charset="0"/>
                <a:ea typeface="Amiri" pitchFamily="34" charset="-122"/>
                <a:cs typeface="Amiri" pitchFamily="34" charset="-120"/>
              </a:rPr>
              <a:t>عُمْرُ أَخِي خَمْسُ سَنَوَاتٍ.</a:t>
            </a:r>
            <a:endParaRPr lang="ar-SA" sz="32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My brother is five years old.</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ea typeface="Calibri" pitchFamily="34" charset="-122"/>
                <a:cs typeface="Calibri" pitchFamily="34" charset="-120"/>
              </a:rPr>
              <a:t>After 3–10 the plural “years”: sanawāt.</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577340" cy="274320"/>
          </a:xfrm>
          <a:prstGeom prst="roundRect">
            <a:avLst>
              <a:gd name="adj" fmla="val 50000"/>
            </a:avLst>
          </a:prstGeom>
          <a:solidFill>
            <a:srgbClr val="1D5FBF"/>
          </a:solidFill>
          <a:ln w="12700">
            <a:solidFill>
              <a:srgbClr val="1D5FBF"/>
            </a:solidFill>
            <a:prstDash val="solid"/>
          </a:ln>
        </p:spPr>
      </p:sp>
      <p:sp>
        <p:nvSpPr>
          <p:cNvPr id="33" name="Text 30"/>
          <p:cNvSpPr txBox="1"/>
          <p:nvPr/>
        </p:nvSpPr>
        <p:spPr>
          <a:xfrm>
            <a:off x="594360" y="1920240"/>
            <a:ext cx="15773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THE ANSWER · ALWAYS</a:t>
            </a:r>
            <a:endParaRPr lang="en-US" sz="850" dirty="0"/>
          </a:p>
        </p:txBody>
      </p:sp>
      <p:sp>
        <p:nvSpPr>
          <p:cNvPr id="34" name="Text 31"/>
          <p:cNvSpPr txBox="1"/>
          <p:nvPr/>
        </p:nvSpPr>
        <p:spPr>
          <a:xfrm>
            <a:off x="2217420" y="1874520"/>
            <a:ext cx="17388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34" charset="0"/>
                <a:ea typeface="Amiri" pitchFamily="34" charset="-122"/>
                <a:cs typeface="Amiri" pitchFamily="34" charset="-120"/>
              </a:rPr>
              <a:t>عُمْرِي</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34" charset="0"/>
                <a:ea typeface="Amiri" pitchFamily="34" charset="-122"/>
                <a:cs typeface="Amiri" pitchFamily="34" charset="-120"/>
              </a:rPr>
              <a:t>كَمْ عُمْرُكَ؟ — عُمْرِي …</a:t>
            </a:r>
            <a:endParaRPr lang="ar-SA" sz="32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How old are you? — I am …</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ea typeface="Calibri" pitchFamily="34" charset="-122"/>
                <a:cs typeface="Calibri" pitchFamily="34" charset="-120"/>
              </a:rPr>
              <a:t>The question says “your”; the answer says “my”.</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ea typeface="Calibri" pitchFamily="34" charset="-122"/>
                <a:cs typeface="Calibri" pitchFamily="34" charset="-120"/>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ea typeface="Calibri" pitchFamily="34" charset="-122"/>
                <a:cs typeface="Calibri" pitchFamily="34" charset="-120"/>
              </a:rPr>
              <a:t>Website common mistake: copying the question ending into the answer.</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34" charset="0"/>
                <a:ea typeface="Amiri" pitchFamily="34" charset="-122"/>
                <a:cs typeface="Amiri" pitchFamily="34" charset="-120"/>
              </a:rPr>
              <a:t>عُمْرِي …</a:t>
            </a:r>
            <a:endParaRPr lang="ar-SA" sz="26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B83227"/>
                </a:solidFill>
                <a:latin typeface="Amiri" pitchFamily="34" charset="0"/>
                <a:ea typeface="Amiri" pitchFamily="34" charset="-122"/>
                <a:cs typeface="Amiri" pitchFamily="34" charset="-120"/>
              </a:rPr>
              <a:t>عُمْرُكَ …</a:t>
            </a:r>
            <a:endParaRPr lang="ar-SA" sz="26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12 / 36</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F2-L03 · Age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1 · Lesson 3 of 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Ask one boy: ‘How old are you?’</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كَمْ عُمْرُكِ؟</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عُمْرِي؟</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كَمْ عُمْرُكَ؟</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Ask one girl: ‘How old are you?’</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كَمْ عُمْرُكِ؟</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كَمْ عُمْرُكَ؟</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عُمْرُهَا؟</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a:t>
            </a:r>
            <a:endParaRPr lang="en-US" sz="1200" dirty="0"/>
          </a:p>
        </p:txBody>
      </p:sp>
      <p:sp>
        <p:nvSpPr>
          <p:cNvPr id="45" name="Text 42"/>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______ ثَلَاثَ عَشْرَةَ سَنَةً.</a:t>
            </a:r>
            <a:endParaRPr lang="ar-SA" sz="2200" dirty="0"/>
          </a:p>
        </p:txBody>
      </p:sp>
      <p:sp>
        <p:nvSpPr>
          <p:cNvPr id="46" name="Shape 43"/>
          <p:cNvSpPr/>
          <p:nvPr/>
        </p:nvSpPr>
        <p:spPr>
          <a:xfrm>
            <a:off x="640080" y="4873752"/>
            <a:ext cx="256032" cy="256032"/>
          </a:xfrm>
          <a:prstGeom prst="ellipse">
            <a:avLst/>
          </a:prstGeom>
          <a:solidFill>
            <a:srgbClr val="F4F1EA"/>
          </a:solidFill>
          <a:ln w="12700">
            <a:solidFill>
              <a:srgbClr val="F4F1EA"/>
            </a:solidFill>
            <a:prstDash val="solid"/>
          </a:ln>
        </p:spPr>
      </p:sp>
      <p:sp>
        <p:nvSpPr>
          <p:cNvPr id="47" name="Text 44"/>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8" name="Text 45"/>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عُمْرُكَ</a:t>
            </a:r>
            <a:endParaRPr lang="ar-SA" sz="2050" dirty="0"/>
          </a:p>
        </p:txBody>
      </p:sp>
      <p:sp>
        <p:nvSpPr>
          <p:cNvPr id="49" name="Shape 46"/>
          <p:cNvSpPr/>
          <p:nvPr/>
        </p:nvSpPr>
        <p:spPr>
          <a:xfrm>
            <a:off x="640080" y="5330952"/>
            <a:ext cx="256032" cy="256032"/>
          </a:xfrm>
          <a:prstGeom prst="ellipse">
            <a:avLst/>
          </a:prstGeom>
          <a:solidFill>
            <a:srgbClr val="F4F1EA"/>
          </a:solidFill>
          <a:ln w="12700">
            <a:solidFill>
              <a:srgbClr val="F4F1EA"/>
            </a:solidFill>
            <a:prstDash val="solid"/>
          </a:ln>
        </p:spPr>
      </p:sp>
      <p:sp>
        <p:nvSpPr>
          <p:cNvPr id="50" name="Text 47"/>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1" name="Text 48"/>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عُمْرِي</a:t>
            </a:r>
            <a:endParaRPr lang="ar-SA" sz="2050" dirty="0"/>
          </a:p>
        </p:txBody>
      </p:sp>
      <p:sp>
        <p:nvSpPr>
          <p:cNvPr id="52" name="Shape 49"/>
          <p:cNvSpPr/>
          <p:nvPr/>
        </p:nvSpPr>
        <p:spPr>
          <a:xfrm>
            <a:off x="640080" y="5788152"/>
            <a:ext cx="256032" cy="256032"/>
          </a:xfrm>
          <a:prstGeom prst="ellipse">
            <a:avLst/>
          </a:prstGeom>
          <a:solidFill>
            <a:srgbClr val="F4F1EA"/>
          </a:solidFill>
          <a:ln w="12700">
            <a:solidFill>
              <a:srgbClr val="F4F1EA"/>
            </a:solidFill>
            <a:prstDash val="solid"/>
          </a:ln>
        </p:spPr>
      </p:sp>
      <p:sp>
        <p:nvSpPr>
          <p:cNvPr id="53" name="Text 50"/>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4" name="Text 51"/>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كَمْ</a:t>
            </a:r>
            <a:endParaRPr lang="ar-SA" sz="2050" dirty="0"/>
          </a:p>
        </p:txBody>
      </p:sp>
      <p:sp>
        <p:nvSpPr>
          <p:cNvPr id="55" name="Shape 52"/>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6313932" y="4288536"/>
            <a:ext cx="310896" cy="310896"/>
          </a:xfrm>
          <a:prstGeom prst="ellipse">
            <a:avLst/>
          </a:prstGeom>
          <a:solidFill>
            <a:srgbClr val="1B3B6F"/>
          </a:solidFill>
          <a:ln w="12700">
            <a:solidFill>
              <a:srgbClr val="1B3B6F"/>
            </a:solidFill>
            <a:prstDash val="solid"/>
          </a:ln>
        </p:spPr>
      </p:sp>
      <p:sp>
        <p:nvSpPr>
          <p:cNvPr id="57" name="Text 54"/>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8" name="Text 55"/>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correct line for age 14.</a:t>
            </a:r>
            <a:endParaRPr lang="en-US" sz="1250" dirty="0"/>
          </a:p>
        </p:txBody>
      </p:sp>
      <p:sp>
        <p:nvSpPr>
          <p:cNvPr id="59" name="Shape 56"/>
          <p:cNvSpPr/>
          <p:nvPr/>
        </p:nvSpPr>
        <p:spPr>
          <a:xfrm>
            <a:off x="6368796"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1" name="Text 58"/>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عُمْرِي أَرْبَعَ عَشْرَةَ سَنَةً.</a:t>
            </a:r>
            <a:endParaRPr lang="ar-SA" sz="2050" dirty="0"/>
          </a:p>
        </p:txBody>
      </p:sp>
      <p:sp>
        <p:nvSpPr>
          <p:cNvPr id="62" name="Shape 59"/>
          <p:cNvSpPr/>
          <p:nvPr/>
        </p:nvSpPr>
        <p:spPr>
          <a:xfrm>
            <a:off x="6368796"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4" name="Text 61"/>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عُمْرِي أَرْبَعُ سَنَوَاتٍ.</a:t>
            </a:r>
            <a:endParaRPr lang="ar-SA" sz="2050" dirty="0"/>
          </a:p>
        </p:txBody>
      </p:sp>
      <p:sp>
        <p:nvSpPr>
          <p:cNvPr id="65" name="Shape 62"/>
          <p:cNvSpPr/>
          <p:nvPr/>
        </p:nvSpPr>
        <p:spPr>
          <a:xfrm>
            <a:off x="6368796"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7" name="Text 64"/>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كَمْ عُمْرِي؟</a:t>
            </a:r>
            <a:endParaRPr lang="ar-SA" sz="2050" dirty="0"/>
          </a:p>
        </p:txBody>
      </p:sp>
      <p:sp>
        <p:nvSpPr>
          <p:cNvPr id="68" name="Text 6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13 / 36</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F2-L03 · Age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1 · Lesson 3 of 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Ask one boy: ‘How old are you?’</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كَمْ عُمْرُكِ؟</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عُمْرِي؟</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كَمْ عُمْرُكَ؟</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ending -ka addresses one boy.</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Ask one girl: ‘How old are you?’</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كَمْ عُمْرُكِ؟</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كَمْ عُمْرُكَ؟</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عُمْرُهَا؟</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ending -ki addresses one girl.</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a:t>
            </a:r>
            <a:endParaRPr lang="en-US" sz="1200" dirty="0"/>
          </a:p>
        </p:txBody>
      </p:sp>
      <p:sp>
        <p:nvSpPr>
          <p:cNvPr id="49" name="Text 46"/>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______ ثَلَاثَ عَشْرَةَ سَنَةً.</a:t>
            </a:r>
            <a:endParaRPr lang="ar-SA" sz="2200" dirty="0"/>
          </a:p>
        </p:txBody>
      </p:sp>
      <p:sp>
        <p:nvSpPr>
          <p:cNvPr id="50" name="Shape 47"/>
          <p:cNvSpPr/>
          <p:nvPr/>
        </p:nvSpPr>
        <p:spPr>
          <a:xfrm>
            <a:off x="640080" y="4831080"/>
            <a:ext cx="256032" cy="256032"/>
          </a:xfrm>
          <a:prstGeom prst="ellipse">
            <a:avLst/>
          </a:prstGeom>
          <a:solidFill>
            <a:srgbClr val="C9CED6"/>
          </a:solidFill>
          <a:ln w="12700">
            <a:solidFill>
              <a:srgbClr val="C9CED6"/>
            </a:solidFill>
            <a:prstDash val="solid"/>
          </a:ln>
        </p:spPr>
      </p:sp>
      <p:sp>
        <p:nvSpPr>
          <p:cNvPr id="51" name="Text 48"/>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2" name="Text 49"/>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عُمْرُكَ</a:t>
            </a:r>
            <a:endParaRPr lang="ar-SA" sz="1700" dirty="0"/>
          </a:p>
        </p:txBody>
      </p:sp>
      <p:sp>
        <p:nvSpPr>
          <p:cNvPr id="53" name="Shape 50"/>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4" name="Shape 51"/>
          <p:cNvSpPr/>
          <p:nvPr/>
        </p:nvSpPr>
        <p:spPr>
          <a:xfrm>
            <a:off x="640080" y="5202936"/>
            <a:ext cx="256032" cy="256032"/>
          </a:xfrm>
          <a:prstGeom prst="ellipse">
            <a:avLst/>
          </a:prstGeom>
          <a:solidFill>
            <a:srgbClr val="2E8B57"/>
          </a:solidFill>
          <a:ln w="12700">
            <a:solidFill>
              <a:srgbClr val="2E8B57"/>
            </a:solidFill>
            <a:prstDash val="solid"/>
          </a:ln>
        </p:spPr>
      </p:sp>
      <p:sp>
        <p:nvSpPr>
          <p:cNvPr id="55" name="Text 52"/>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56" name="Text 53"/>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عُمْرِي</a:t>
            </a:r>
            <a:endParaRPr lang="ar-SA" sz="1700" dirty="0"/>
          </a:p>
        </p:txBody>
      </p:sp>
      <p:sp>
        <p:nvSpPr>
          <p:cNvPr id="57" name="Shape 54"/>
          <p:cNvSpPr/>
          <p:nvPr/>
        </p:nvSpPr>
        <p:spPr>
          <a:xfrm>
            <a:off x="640080" y="5574792"/>
            <a:ext cx="256032" cy="256032"/>
          </a:xfrm>
          <a:prstGeom prst="ellipse">
            <a:avLst/>
          </a:prstGeom>
          <a:solidFill>
            <a:srgbClr val="C9CED6"/>
          </a:solidFill>
          <a:ln w="12700">
            <a:solidFill>
              <a:srgbClr val="C9CED6"/>
            </a:solidFill>
            <a:prstDash val="solid"/>
          </a:ln>
        </p:spPr>
      </p:sp>
      <p:sp>
        <p:nvSpPr>
          <p:cNvPr id="58" name="Text 55"/>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9" name="Text 56"/>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كَمْ</a:t>
            </a:r>
            <a:endParaRPr lang="ar-SA" sz="1700" dirty="0"/>
          </a:p>
        </p:txBody>
      </p:sp>
      <p:sp>
        <p:nvSpPr>
          <p:cNvPr id="60" name="Text 57"/>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عُمْرِي</a:t>
            </a:r>
            <a:pPr algn="l" indent="0" marL="0">
              <a:buNone/>
            </a:pPr>
            <a:r>
              <a:rPr lang="en-US" sz="1050" i="1" dirty="0">
                <a:solidFill>
                  <a:srgbClr val="8A6D1E"/>
                </a:solidFill>
                <a:latin typeface="Calibri" pitchFamily="34" charset="0"/>
                <a:ea typeface="Calibri" pitchFamily="34" charset="-122"/>
                <a:cs typeface="Calibri" pitchFamily="34" charset="-120"/>
              </a:rPr>
              <a:t> means ‘my age’ and begins your answer.</a:t>
            </a:r>
            <a:endParaRPr lang="en-US" sz="1050" dirty="0"/>
          </a:p>
        </p:txBody>
      </p:sp>
      <p:sp>
        <p:nvSpPr>
          <p:cNvPr id="61" name="Shape 58"/>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6313932"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4" name="Text 61"/>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correct line for age 14.</a:t>
            </a:r>
            <a:endParaRPr lang="en-US" sz="1250" dirty="0"/>
          </a:p>
        </p:txBody>
      </p:sp>
      <p:sp>
        <p:nvSpPr>
          <p:cNvPr id="65" name="Shape 62"/>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6" name="Shape 63"/>
          <p:cNvSpPr/>
          <p:nvPr/>
        </p:nvSpPr>
        <p:spPr>
          <a:xfrm>
            <a:off x="6368796" y="4831080"/>
            <a:ext cx="256032" cy="256032"/>
          </a:xfrm>
          <a:prstGeom prst="ellipse">
            <a:avLst/>
          </a:prstGeom>
          <a:solidFill>
            <a:srgbClr val="2E8B57"/>
          </a:solidFill>
          <a:ln w="12700">
            <a:solidFill>
              <a:srgbClr val="2E8B57"/>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عُمْرِي أَرْبَعَ عَشْرَةَ سَنَةً.</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عُمْرِي أَرْبَعُ سَنَوَاتٍ.</a:t>
            </a:r>
            <a:endParaRPr lang="ar-SA" sz="1700" dirty="0"/>
          </a:p>
        </p:txBody>
      </p:sp>
      <p:sp>
        <p:nvSpPr>
          <p:cNvPr id="72" name="Shape 69"/>
          <p:cNvSpPr/>
          <p:nvPr/>
        </p:nvSpPr>
        <p:spPr>
          <a:xfrm>
            <a:off x="6368796" y="5574792"/>
            <a:ext cx="256032" cy="256032"/>
          </a:xfrm>
          <a:prstGeom prst="ellipse">
            <a:avLst/>
          </a:prstGeom>
          <a:solidFill>
            <a:srgbClr val="C9CED6"/>
          </a:solidFill>
          <a:ln w="12700">
            <a:solidFill>
              <a:srgbClr val="C9CED6"/>
            </a:solidFill>
            <a:prstDash val="solid"/>
          </a:ln>
        </p:spPr>
      </p:sp>
      <p:sp>
        <p:nvSpPr>
          <p:cNvPr id="73" name="Text 70"/>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4" name="Text 71"/>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كَمْ عُمْرِي؟</a:t>
            </a:r>
            <a:endParaRPr lang="ar-SA" sz="1700" dirty="0"/>
          </a:p>
        </p:txBody>
      </p:sp>
      <p:sp>
        <p:nvSpPr>
          <p:cNvPr id="75" name="Text 72"/>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Ages 11–20 use the singular form </a:t>
            </a:r>
            <a:pPr algn="l" indent="0" marL="0">
              <a:buNone/>
            </a:pPr>
            <a:r>
              <a:rPr lang="ar-SA" altLang="en-US" sz="1350" dirty="0">
                <a:solidFill>
                  <a:srgbClr val="8A6D1E"/>
                </a:solidFill>
                <a:latin typeface="Amiri" pitchFamily="34" charset="0"/>
                <a:ea typeface="Amiri" pitchFamily="34" charset="-122"/>
                <a:cs typeface="Amiri" pitchFamily="34" charset="-120"/>
              </a:rPr>
              <a:t>سَنَةً</a:t>
            </a:r>
            <a:pPr algn="l" indent="0" marL="0">
              <a:buNone/>
            </a:pPr>
            <a:r>
              <a:rPr lang="en-US" sz="1050" i="1" dirty="0">
                <a:solidFill>
                  <a:srgbClr val="8A6D1E"/>
                </a:solidFill>
                <a:latin typeface="Calibri" pitchFamily="34" charset="0"/>
                <a:ea typeface="Calibri" pitchFamily="34" charset="-122"/>
                <a:cs typeface="Calibri" pitchFamily="34" charset="-120"/>
              </a:rPr>
              <a:t> in this pattern.</a:t>
            </a:r>
            <a:endParaRPr lang="en-US" sz="1050" dirty="0"/>
          </a:p>
        </p:txBody>
      </p:sp>
      <p:sp>
        <p:nvSpPr>
          <p:cNvPr id="76" name="Text 7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14 / 36</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F2-L03 · Age</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ea typeface="Calibri" pitchFamily="34" charset="-122"/>
                <a:cs typeface="Calibri" pitchFamily="34" charset="-120"/>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Watch me ask a name and an age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1 · Lesson 3 of 3</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Greet and ask the name</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34" charset="0"/>
                <a:ea typeface="Amiri" pitchFamily="34" charset="-122"/>
                <a:cs typeface="Amiri" pitchFamily="34" charset="-120"/>
              </a:rPr>
              <a:t>مَرْحَبًا. مَا اسْمُ</a:t>
            </a:r>
            <a:pPr rtl="1" algn="ctr" indent="0" marL="0">
              <a:buNone/>
            </a:pPr>
            <a:r>
              <a:rPr lang="ar-SA" altLang="en-US" sz="2800" b="1" dirty="0">
                <a:solidFill>
                  <a:srgbClr val="D6336C"/>
                </a:solidFill>
                <a:latin typeface="Amiri" pitchFamily="34" charset="0"/>
                <a:ea typeface="Amiri" pitchFamily="34" charset="-122"/>
                <a:cs typeface="Amiri" pitchFamily="34" charset="-120"/>
              </a:rPr>
              <a:t>كِ</a:t>
            </a:r>
            <a:pPr rtl="1" algn="ctr" indent="0" marL="0">
              <a:buNone/>
            </a:pPr>
            <a:r>
              <a:rPr lang="ar-SA" altLang="en-US" sz="2800" b="1" dirty="0">
                <a:solidFill>
                  <a:srgbClr val="1B3B6F"/>
                </a:solidFill>
                <a:latin typeface="Amiri" pitchFamily="34" charset="0"/>
                <a:ea typeface="Amiri" pitchFamily="34" charset="-122"/>
                <a:cs typeface="Amiri" pitchFamily="34" charset="-120"/>
              </a:rPr>
              <a:t>؟</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Zaynab is a girl: -ki (F2-L02).</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ea typeface="Calibri" pitchFamily="34" charset="-122"/>
                <a:cs typeface="Calibri" pitchFamily="34" charset="-120"/>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She answers</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34" charset="0"/>
                <a:ea typeface="Amiri" pitchFamily="34" charset="-122"/>
                <a:cs typeface="Amiri" pitchFamily="34" charset="-120"/>
              </a:rPr>
              <a:t>اِسْمِي زَيْنَب. وَأَنْتَ؟</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She asks back — I am a boy: </a:t>
            </a:r>
            <a:pPr algn="l" indent="0" marL="0">
              <a:buNone/>
            </a:pPr>
            <a:r>
              <a:rPr lang="ar-SA" altLang="en-US" sz="1500" dirty="0">
                <a:solidFill>
                  <a:srgbClr val="1F2A37"/>
                </a:solidFill>
                <a:latin typeface="Amiri" pitchFamily="34" charset="0"/>
                <a:ea typeface="Amiri" pitchFamily="34" charset="-122"/>
                <a:cs typeface="Amiri" pitchFamily="34" charset="-120"/>
              </a:rPr>
              <a:t>وَأَنْتَ</a:t>
            </a:r>
            <a:pPr algn="l" indent="0" marL="0">
              <a:buNone/>
            </a:pPr>
            <a:r>
              <a:rPr lang="en-US" sz="1150" dirty="0">
                <a:solidFill>
                  <a:srgbClr val="1F2A37"/>
                </a:solidFill>
                <a:latin typeface="Calibri" pitchFamily="34" charset="0"/>
                <a:ea typeface="Calibri" pitchFamily="34" charset="-122"/>
                <a:cs typeface="Calibri" pitchFamily="34" charset="-120"/>
              </a:rPr>
              <a:t>.</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ea typeface="Calibri" pitchFamily="34" charset="-122"/>
                <a:cs typeface="Calibri" pitchFamily="34" charset="-120"/>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Ask the age</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34" charset="0"/>
                <a:ea typeface="Amiri" pitchFamily="34" charset="-122"/>
                <a:cs typeface="Amiri" pitchFamily="34" charset="-120"/>
              </a:rPr>
              <a:t>كَمْ عُمْرُ</a:t>
            </a:r>
            <a:pPr rtl="1" algn="ctr" indent="0" marL="0">
              <a:buNone/>
            </a:pPr>
            <a:r>
              <a:rPr lang="ar-SA" altLang="en-US" sz="2800" b="1" dirty="0">
                <a:solidFill>
                  <a:srgbClr val="D6336C"/>
                </a:solidFill>
                <a:latin typeface="Amiri" pitchFamily="34" charset="0"/>
                <a:ea typeface="Amiri" pitchFamily="34" charset="-122"/>
                <a:cs typeface="Amiri" pitchFamily="34" charset="-120"/>
              </a:rPr>
              <a:t>كِ</a:t>
            </a:r>
            <a:pPr rtl="1" algn="ctr" indent="0" marL="0">
              <a:buNone/>
            </a:pPr>
            <a:r>
              <a:rPr lang="ar-SA" altLang="en-US" sz="2800" b="1" dirty="0">
                <a:solidFill>
                  <a:srgbClr val="1B3B6F"/>
                </a:solidFill>
                <a:latin typeface="Amiri" pitchFamily="34" charset="0"/>
                <a:ea typeface="Amiri" pitchFamily="34" charset="-122"/>
                <a:cs typeface="Amiri" pitchFamily="34" charset="-120"/>
              </a:rPr>
              <a:t>؟</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Same listener, same ending: -ki.</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ea typeface="Calibri" pitchFamily="34" charset="-122"/>
                <a:cs typeface="Calibri" pitchFamily="34" charset="-120"/>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She answers</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550" b="1" dirty="0">
                <a:solidFill>
                  <a:srgbClr val="1D5FBF"/>
                </a:solidFill>
                <a:latin typeface="Amiri" pitchFamily="34" charset="0"/>
                <a:ea typeface="Amiri" pitchFamily="34" charset="-122"/>
                <a:cs typeface="Amiri" pitchFamily="34" charset="-120"/>
              </a:rPr>
              <a:t>عُمْرِي</a:t>
            </a:r>
            <a:pPr rtl="1" algn="ctr" indent="0" marL="0">
              <a:buNone/>
            </a:pPr>
            <a:r>
              <a:rPr lang="ar-SA" altLang="en-US" sz="2550" b="1" dirty="0">
                <a:solidFill>
                  <a:srgbClr val="1B3B6F"/>
                </a:solidFill>
                <a:latin typeface="Amiri" pitchFamily="34" charset="0"/>
                <a:ea typeface="Amiri" pitchFamily="34" charset="-122"/>
                <a:cs typeface="Amiri" pitchFamily="34" charset="-120"/>
              </a:rPr>
              <a:t> ثَلَاثَ عَشْرَةَ سَنَةً.</a:t>
            </a:r>
            <a:endParaRPr lang="ar-SA" sz="255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My age + the number + </a:t>
            </a:r>
            <a:pPr algn="l" indent="0" marL="0">
              <a:buNone/>
            </a:pPr>
            <a:r>
              <a:rPr lang="ar-SA" altLang="en-US" sz="1500" dirty="0">
                <a:solidFill>
                  <a:srgbClr val="1F2A37"/>
                </a:solidFill>
                <a:latin typeface="Amiri" pitchFamily="34" charset="0"/>
                <a:ea typeface="Amiri" pitchFamily="34" charset="-122"/>
                <a:cs typeface="Amiri" pitchFamily="34" charset="-120"/>
              </a:rPr>
              <a:t>سَنَةً</a:t>
            </a:r>
            <a:pPr algn="l" indent="0" marL="0">
              <a:buNone/>
            </a:pPr>
            <a:r>
              <a:rPr lang="en-US" sz="1150" dirty="0">
                <a:solidFill>
                  <a:srgbClr val="1F2A37"/>
                </a:solidFill>
                <a:latin typeface="Calibri" pitchFamily="34" charset="0"/>
                <a:ea typeface="Calibri" pitchFamily="34" charset="-122"/>
                <a:cs typeface="Calibri" pitchFamily="34" charset="-120"/>
              </a:rPr>
              <a:t> (13 is between 11 and 20).</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ea typeface="Calibri" pitchFamily="34" charset="-122"/>
                <a:cs typeface="Calibri" pitchFamily="34" charset="-120"/>
              </a:rPr>
              <a:t>COPY THIS INTO YOUR BOOK</a:t>
            </a:r>
            <a:endParaRPr lang="en-US" sz="1200" dirty="0"/>
          </a:p>
        </p:txBody>
      </p:sp>
      <p:sp>
        <p:nvSpPr>
          <p:cNvPr id="45" name="Shape 41"/>
          <p:cNvSpPr/>
          <p:nvPr/>
        </p:nvSpPr>
        <p:spPr>
          <a:xfrm>
            <a:off x="9528048" y="4736592"/>
            <a:ext cx="914400" cy="237744"/>
          </a:xfrm>
          <a:prstGeom prst="roundRect">
            <a:avLst>
              <a:gd name="adj" fmla="val 50000"/>
            </a:avLst>
          </a:prstGeom>
          <a:solidFill>
            <a:srgbClr val="D6336C"/>
          </a:solidFill>
          <a:ln w="12700">
            <a:solidFill>
              <a:srgbClr val="D6336C"/>
            </a:solidFill>
            <a:prstDash val="solid"/>
          </a:ln>
        </p:spPr>
      </p:sp>
      <p:sp>
        <p:nvSpPr>
          <p:cNvPr id="46" name="Text 42"/>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YOUR</a:t>
            </a:r>
            <a:endParaRPr lang="en-US" sz="800" dirty="0"/>
          </a:p>
        </p:txBody>
      </p:sp>
      <p:sp>
        <p:nvSpPr>
          <p:cNvPr id="47" name="Shape 43"/>
          <p:cNvSpPr/>
          <p:nvPr/>
        </p:nvSpPr>
        <p:spPr>
          <a:xfrm>
            <a:off x="10515600" y="4736592"/>
            <a:ext cx="914400" cy="237744"/>
          </a:xfrm>
          <a:prstGeom prst="roundRect">
            <a:avLst>
              <a:gd name="adj" fmla="val 50000"/>
            </a:avLst>
          </a:prstGeom>
          <a:solidFill>
            <a:srgbClr val="1D5FBF"/>
          </a:solidFill>
          <a:ln w="12700">
            <a:solidFill>
              <a:srgbClr val="1D5FBF"/>
            </a:solidFill>
            <a:prstDash val="solid"/>
          </a:ln>
        </p:spPr>
      </p:sp>
      <p:sp>
        <p:nvSpPr>
          <p:cNvPr id="48" name="Text 44"/>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MY</a:t>
            </a:r>
            <a:endParaRPr lang="en-US" sz="800" dirty="0"/>
          </a:p>
        </p:txBody>
      </p:sp>
      <p:sp>
        <p:nvSpPr>
          <p:cNvPr id="49" name="Text 45"/>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34" charset="0"/>
                <a:ea typeface="Amiri" pitchFamily="34" charset="-122"/>
                <a:cs typeface="Amiri" pitchFamily="34" charset="-120"/>
              </a:rPr>
              <a:t>مَرْحَبًا. مَا اسْمُ</a:t>
            </a:r>
            <a:pPr rtl="1" algn="r" indent="0" marL="0">
              <a:buNone/>
            </a:pPr>
            <a:r>
              <a:rPr lang="ar-SA" altLang="en-US" sz="2600" b="1" dirty="0">
                <a:solidFill>
                  <a:srgbClr val="D6336C"/>
                </a:solidFill>
                <a:latin typeface="Amiri" pitchFamily="34" charset="0"/>
                <a:ea typeface="Amiri" pitchFamily="34" charset="-122"/>
                <a:cs typeface="Amiri" pitchFamily="34" charset="-120"/>
              </a:rPr>
              <a:t>كِ</a:t>
            </a:r>
            <a:pPr rtl="1" algn="r" indent="0" marL="0">
              <a:buNone/>
            </a:pPr>
            <a:r>
              <a:rPr lang="ar-SA" altLang="en-US" sz="2600" b="1" dirty="0">
                <a:solidFill>
                  <a:srgbClr val="1B3B6F"/>
                </a:solidFill>
                <a:latin typeface="Amiri" pitchFamily="34" charset="0"/>
                <a:ea typeface="Amiri" pitchFamily="34" charset="-122"/>
                <a:cs typeface="Amiri" pitchFamily="34" charset="-120"/>
              </a:rPr>
              <a:t>؟ — اِسْمِي زَيْنَب. وَأَنْتَ؟ — اِسْمِي خَالِد. كَمْ عُمْرُ</a:t>
            </a:r>
            <a:pPr rtl="1" algn="r" indent="0" marL="0">
              <a:buNone/>
            </a:pPr>
            <a:r>
              <a:rPr lang="ar-SA" altLang="en-US" sz="2600" b="1" dirty="0">
                <a:solidFill>
                  <a:srgbClr val="D6336C"/>
                </a:solidFill>
                <a:latin typeface="Amiri" pitchFamily="34" charset="0"/>
                <a:ea typeface="Amiri" pitchFamily="34" charset="-122"/>
                <a:cs typeface="Amiri" pitchFamily="34" charset="-120"/>
              </a:rPr>
              <a:t>كِ</a:t>
            </a:r>
            <a:pPr rtl="1" algn="r" indent="0" marL="0">
              <a:buNone/>
            </a:pPr>
            <a:r>
              <a:rPr lang="ar-SA" altLang="en-US" sz="2600" b="1" dirty="0">
                <a:solidFill>
                  <a:srgbClr val="1B3B6F"/>
                </a:solidFill>
                <a:latin typeface="Amiri" pitchFamily="34" charset="0"/>
                <a:ea typeface="Amiri" pitchFamily="34" charset="-122"/>
                <a:cs typeface="Amiri" pitchFamily="34" charset="-120"/>
              </a:rPr>
              <a:t>؟ — </a:t>
            </a:r>
            <a:pPr rtl="1" algn="r" indent="0" marL="0">
              <a:buNone/>
            </a:pPr>
            <a:r>
              <a:rPr lang="ar-SA" altLang="en-US" sz="2600" b="1" dirty="0">
                <a:solidFill>
                  <a:srgbClr val="1D5FBF"/>
                </a:solidFill>
                <a:latin typeface="Amiri" pitchFamily="34" charset="0"/>
                <a:ea typeface="Amiri" pitchFamily="34" charset="-122"/>
                <a:cs typeface="Amiri" pitchFamily="34" charset="-120"/>
              </a:rPr>
              <a:t>عُمْرِي</a:t>
            </a:r>
            <a:pPr rtl="1" algn="r" indent="0" marL="0">
              <a:buNone/>
            </a:pPr>
            <a:r>
              <a:rPr lang="ar-SA" altLang="en-US" sz="2600" b="1" dirty="0">
                <a:solidFill>
                  <a:srgbClr val="1B3B6F"/>
                </a:solidFill>
                <a:latin typeface="Amiri" pitchFamily="34" charset="0"/>
                <a:ea typeface="Amiri" pitchFamily="34" charset="-122"/>
                <a:cs typeface="Amiri" pitchFamily="34" charset="-120"/>
              </a:rPr>
              <a:t> ثَلَاثَ عَشْرَةَ سَنَةً.</a:t>
            </a:r>
            <a:endParaRPr lang="ar-SA" sz="2600" dirty="0"/>
          </a:p>
        </p:txBody>
      </p:sp>
      <p:sp>
        <p:nvSpPr>
          <p:cNvPr id="50" name="Text 46"/>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300" i="1" dirty="0">
                <a:solidFill>
                  <a:srgbClr val="5A6472"/>
                </a:solidFill>
                <a:latin typeface="Calibri" pitchFamily="34" charset="0"/>
                <a:ea typeface="Calibri" pitchFamily="34" charset="-122"/>
                <a:cs typeface="Calibri" pitchFamily="34" charset="-120"/>
              </a:rPr>
              <a:t>Hello. What is your name? — My name is Zaynab. And you? — My name is Khalid. How old are you? — I am thirteen years old.</a:t>
            </a:r>
            <a:endParaRPr lang="en-US" sz="1300" dirty="0"/>
          </a:p>
        </p:txBody>
      </p:sp>
      <p:sp>
        <p:nvSpPr>
          <p:cNvPr id="51"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15 / 36</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F2-L03 · Age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ea typeface="Calibri" pitchFamily="34" charset="-122"/>
                <a:cs typeface="Calibri" pitchFamily="34" charset="-120"/>
              </a:rPr>
              <a:t>WE DO · PICTURE MATCH · WEBSITE GAME “VISUAL GAME — HOW OLD ARE YOU?”</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Match the picture to the age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تَحَدِّي العُمْرِ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1 · Lesson 3 of 3</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girl · 13</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6" name="Shape 21"/>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8" name="Shape 22"/>
          <p:cNvSpPr/>
          <p:nvPr/>
        </p:nvSpPr>
        <p:spPr>
          <a:xfrm>
            <a:off x="618134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0" name="Text 23"/>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boy · 14</a:t>
            </a:r>
            <a:endParaRPr lang="en-US" sz="1100" dirty="0"/>
          </a:p>
        </p:txBody>
      </p:sp>
      <p:sp>
        <p:nvSpPr>
          <p:cNvPr id="31"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4" name="Shape 27"/>
          <p:cNvSpPr/>
          <p:nvPr/>
        </p:nvSpPr>
        <p:spPr>
          <a:xfrm>
            <a:off x="117348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6" name="Shape 28"/>
          <p:cNvSpPr/>
          <p:nvPr/>
        </p:nvSpPr>
        <p:spPr>
          <a:xfrm>
            <a:off x="2362200" y="2066544"/>
            <a:ext cx="1014984" cy="1014984"/>
          </a:xfrm>
          <a:prstGeom prst="ellipse">
            <a:avLst/>
          </a:prstGeom>
          <a:solidFill>
            <a:srgbClr val="F4F1EA"/>
          </a:solidFill>
          <a:ln w="12700">
            <a:solidFill>
              <a:srgbClr val="F4F1EA"/>
            </a:solidFill>
            <a:prstDash val="solid"/>
          </a:ln>
        </p:spPr>
      </p:sp>
      <p:pic>
        <p:nvPicPr>
          <p:cNvPr id="3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38" name="Text 2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girl · 15</a:t>
            </a:r>
            <a:endParaRPr lang="en-US" sz="1100" dirty="0"/>
          </a:p>
        </p:txBody>
      </p:sp>
      <p:sp>
        <p:nvSpPr>
          <p:cNvPr id="39" name="Shape 30"/>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0" name="Shape 31"/>
          <p:cNvSpPr/>
          <p:nvPr/>
        </p:nvSpPr>
        <p:spPr>
          <a:xfrm>
            <a:off x="11247120" y="3831336"/>
            <a:ext cx="292608" cy="292608"/>
          </a:xfrm>
          <a:prstGeom prst="ellipse">
            <a:avLst/>
          </a:prstGeom>
          <a:solidFill>
            <a:srgbClr val="2F6FB0"/>
          </a:solidFill>
          <a:ln w="12700">
            <a:solidFill>
              <a:srgbClr val="2F6FB0"/>
            </a:solidFill>
            <a:prstDash val="solid"/>
          </a:ln>
        </p:spPr>
      </p:sp>
      <p:sp>
        <p:nvSpPr>
          <p:cNvPr id="41" name="Text 32"/>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a:t>
            </a:r>
            <a:endParaRPr lang="en-US" sz="1000" dirty="0"/>
          </a:p>
        </p:txBody>
      </p:sp>
      <p:sp>
        <p:nvSpPr>
          <p:cNvPr id="42" name="Text 33"/>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عُمْرِي خَمْسَ عَشْرَةَ سَنَةً.</a:t>
            </a:r>
            <a:endParaRPr lang="ar-SA" sz="2000" dirty="0"/>
          </a:p>
        </p:txBody>
      </p:sp>
      <p:sp>
        <p:nvSpPr>
          <p:cNvPr id="43" name="Shape 34"/>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4" name="Shape 35"/>
          <p:cNvSpPr/>
          <p:nvPr/>
        </p:nvSpPr>
        <p:spPr>
          <a:xfrm>
            <a:off x="11247120" y="4398264"/>
            <a:ext cx="292608" cy="292608"/>
          </a:xfrm>
          <a:prstGeom prst="ellipse">
            <a:avLst/>
          </a:prstGeom>
          <a:solidFill>
            <a:srgbClr val="2F6FB0"/>
          </a:solidFill>
          <a:ln w="12700">
            <a:solidFill>
              <a:srgbClr val="2F6FB0"/>
            </a:solidFill>
            <a:prstDash val="solid"/>
          </a:ln>
        </p:spPr>
      </p:sp>
      <p:sp>
        <p:nvSpPr>
          <p:cNvPr id="45" name="Text 36"/>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a:t>
            </a:r>
            <a:endParaRPr lang="en-US" sz="1000" dirty="0"/>
          </a:p>
        </p:txBody>
      </p:sp>
      <p:sp>
        <p:nvSpPr>
          <p:cNvPr id="46" name="Text 37"/>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عُمْرِي ثَلَاثَ عَشْرَةَ سَنَةً.</a:t>
            </a:r>
            <a:endParaRPr lang="ar-SA" sz="2000" dirty="0"/>
          </a:p>
        </p:txBody>
      </p:sp>
      <p:sp>
        <p:nvSpPr>
          <p:cNvPr id="47" name="Shape 38"/>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8" name="Shape 39"/>
          <p:cNvSpPr/>
          <p:nvPr/>
        </p:nvSpPr>
        <p:spPr>
          <a:xfrm>
            <a:off x="11247120" y="4965192"/>
            <a:ext cx="292608" cy="292608"/>
          </a:xfrm>
          <a:prstGeom prst="ellipse">
            <a:avLst/>
          </a:prstGeom>
          <a:solidFill>
            <a:srgbClr val="2F6FB0"/>
          </a:solidFill>
          <a:ln w="12700">
            <a:solidFill>
              <a:srgbClr val="2F6FB0"/>
            </a:solidFill>
            <a:prstDash val="solid"/>
          </a:ln>
        </p:spPr>
      </p:sp>
      <p:sp>
        <p:nvSpPr>
          <p:cNvPr id="49" name="Text 40"/>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a:t>
            </a:r>
            <a:endParaRPr lang="en-US" sz="1000" dirty="0"/>
          </a:p>
        </p:txBody>
      </p:sp>
      <p:sp>
        <p:nvSpPr>
          <p:cNvPr id="50" name="Text 41"/>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عُمْرِي أَرْبَعَ عَشْرَةَ سَنَةً.</a:t>
            </a:r>
            <a:endParaRPr lang="ar-SA" sz="2000" dirty="0"/>
          </a:p>
        </p:txBody>
      </p:sp>
      <p:sp>
        <p:nvSpPr>
          <p:cNvPr id="51" name="Text 42"/>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ea typeface="Calibri" pitchFamily="34" charset="-122"/>
                <a:cs typeface="Calibri" pitchFamily="34" charset="-120"/>
              </a:rPr>
              <a:t>Match each picture to a sentence. Type in the chat: 1_  2_  3_</a:t>
            </a:r>
            <a:endParaRPr lang="en-US" sz="1250" dirty="0"/>
          </a:p>
        </p:txBody>
      </p:sp>
      <p:sp>
        <p:nvSpPr>
          <p:cNvPr id="52" name="Text 43"/>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ea typeface="Calibri" pitchFamily="34" charset="-122"/>
                <a:cs typeface="Calibri" pitchFamily="34" charset="-120"/>
              </a:rPr>
              <a:t>Core: find ONE key word you know in each sentence first.</a:t>
            </a:r>
            <a:endParaRPr lang="en-US" sz="1150" dirty="0"/>
          </a:p>
        </p:txBody>
      </p:sp>
      <p:sp>
        <p:nvSpPr>
          <p:cNvPr id="53"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16 / 36</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F2-L03 · Age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تَحَدِّي العُمْرِ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1 · Lesson 3 of 3</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girl · 13</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عُمْرِي ثَلَاثَ عَشْرَةَ سَنَةً.</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I am thirteen years old.</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31" name="Shape 26"/>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3" name="Shape 27"/>
          <p:cNvSpPr/>
          <p:nvPr/>
        </p:nvSpPr>
        <p:spPr>
          <a:xfrm>
            <a:off x="618134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5" name="Text 28"/>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boy · 14</a:t>
            </a:r>
            <a:endParaRPr lang="en-US" sz="1100" dirty="0"/>
          </a:p>
        </p:txBody>
      </p:sp>
      <p:sp>
        <p:nvSpPr>
          <p:cNvPr id="36"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a:t>
            </a:r>
            <a:endParaRPr lang="en-US" sz="1100" dirty="0"/>
          </a:p>
        </p:txBody>
      </p:sp>
      <p:sp>
        <p:nvSpPr>
          <p:cNvPr id="39" name="Text 32"/>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عُمْرِي أَرْبَعَ عَشْرَةَ سَنَةً.</a:t>
            </a:r>
            <a:endParaRPr lang="ar-SA" sz="2200" dirty="0"/>
          </a:p>
        </p:txBody>
      </p:sp>
      <p:sp>
        <p:nvSpPr>
          <p:cNvPr id="40"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I am fourteen years old.</a:t>
            </a:r>
            <a:endParaRPr lang="en-US" sz="1200" dirty="0"/>
          </a:p>
        </p:txBody>
      </p:sp>
      <p:sp>
        <p:nvSpPr>
          <p:cNvPr id="41"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4" name="Shape 37"/>
          <p:cNvSpPr/>
          <p:nvPr/>
        </p:nvSpPr>
        <p:spPr>
          <a:xfrm>
            <a:off x="117348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6" name="Shape 38"/>
          <p:cNvSpPr/>
          <p:nvPr/>
        </p:nvSpPr>
        <p:spPr>
          <a:xfrm>
            <a:off x="2362200" y="2066544"/>
            <a:ext cx="1014984" cy="1014984"/>
          </a:xfrm>
          <a:prstGeom prst="ellipse">
            <a:avLst/>
          </a:prstGeom>
          <a:solidFill>
            <a:srgbClr val="F4F1EA"/>
          </a:solidFill>
          <a:ln w="12700">
            <a:solidFill>
              <a:srgbClr val="F4F1EA"/>
            </a:solidFill>
            <a:prstDash val="solid"/>
          </a:ln>
        </p:spPr>
      </p:sp>
      <p:pic>
        <p:nvPicPr>
          <p:cNvPr id="4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8" name="Text 3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girl · 15</a:t>
            </a:r>
            <a:endParaRPr lang="en-US" sz="1100" dirty="0"/>
          </a:p>
        </p:txBody>
      </p:sp>
      <p:sp>
        <p:nvSpPr>
          <p:cNvPr id="49" name="Shape 40"/>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0" name="Shape 41"/>
          <p:cNvSpPr/>
          <p:nvPr/>
        </p:nvSpPr>
        <p:spPr>
          <a:xfrm>
            <a:off x="3617976" y="3785616"/>
            <a:ext cx="329184" cy="329184"/>
          </a:xfrm>
          <a:prstGeom prst="ellipse">
            <a:avLst/>
          </a:prstGeom>
          <a:solidFill>
            <a:srgbClr val="2E8B57"/>
          </a:solidFill>
          <a:ln w="12700">
            <a:solidFill>
              <a:srgbClr val="2E8B57"/>
            </a:solidFill>
            <a:prstDash val="solid"/>
          </a:ln>
        </p:spPr>
      </p:sp>
      <p:sp>
        <p:nvSpPr>
          <p:cNvPr id="51" name="Text 42"/>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52" name="Text 43"/>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عُمْرِي خَمْسَ عَشْرَةَ سَنَةً.</a:t>
            </a:r>
            <a:endParaRPr lang="ar-SA" sz="2200" dirty="0"/>
          </a:p>
        </p:txBody>
      </p:sp>
      <p:sp>
        <p:nvSpPr>
          <p:cNvPr id="53" name="Text 44"/>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I am fifteen years old.</a:t>
            </a:r>
            <a:endParaRPr lang="en-US" sz="1200" dirty="0"/>
          </a:p>
        </p:txBody>
      </p:sp>
      <p:sp>
        <p:nvSpPr>
          <p:cNvPr id="54"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17 / 36</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F2-L03 · Age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WEBSITE AGE-PATTERN CHECK (CONTINUED)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Choose the right pattern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اِخْتَرِ النَّمَطَ الصَّحِيحَ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1 · Lesson 3 of 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correct line for age 5.</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عُمْرِي خَمْسَ عَشْرَةَ سَنَةً.</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عُمْرِي خَمْسُ سَنَوَاتٍ.</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عُمْرِي خَمْسَ سَنَةً.</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word follows ages 11–20 in this lesson?</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سَنَةً</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سَنَوَاتٍ</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عُمْرٌ</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 naturally:</a:t>
            </a:r>
            <a:endParaRPr lang="en-US" sz="1200" dirty="0"/>
          </a:p>
        </p:txBody>
      </p:sp>
      <p:sp>
        <p:nvSpPr>
          <p:cNvPr id="45" name="Text 42"/>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34" charset="0"/>
                <a:ea typeface="Amiri" pitchFamily="34" charset="-122"/>
                <a:cs typeface="Amiri" pitchFamily="34" charset="-120"/>
              </a:rPr>
              <a:t>كَمْ عُمْرُكِ؟ — ______ أَرْبَعَ عَشْرَةَ سَنَةً.</a:t>
            </a:r>
            <a:endParaRPr lang="ar-SA" sz="1550" dirty="0"/>
          </a:p>
        </p:txBody>
      </p:sp>
      <p:sp>
        <p:nvSpPr>
          <p:cNvPr id="46" name="Shape 43"/>
          <p:cNvSpPr/>
          <p:nvPr/>
        </p:nvSpPr>
        <p:spPr>
          <a:xfrm>
            <a:off x="640080" y="4873752"/>
            <a:ext cx="256032" cy="256032"/>
          </a:xfrm>
          <a:prstGeom prst="ellipse">
            <a:avLst/>
          </a:prstGeom>
          <a:solidFill>
            <a:srgbClr val="F4F1EA"/>
          </a:solidFill>
          <a:ln w="12700">
            <a:solidFill>
              <a:srgbClr val="F4F1EA"/>
            </a:solidFill>
            <a:prstDash val="solid"/>
          </a:ln>
        </p:spPr>
      </p:sp>
      <p:sp>
        <p:nvSpPr>
          <p:cNvPr id="47" name="Text 44"/>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8" name="Text 45"/>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عُمْرُكَ</a:t>
            </a:r>
            <a:endParaRPr lang="ar-SA" sz="2050" dirty="0"/>
          </a:p>
        </p:txBody>
      </p:sp>
      <p:sp>
        <p:nvSpPr>
          <p:cNvPr id="49" name="Shape 46"/>
          <p:cNvSpPr/>
          <p:nvPr/>
        </p:nvSpPr>
        <p:spPr>
          <a:xfrm>
            <a:off x="640080" y="5330952"/>
            <a:ext cx="256032" cy="256032"/>
          </a:xfrm>
          <a:prstGeom prst="ellipse">
            <a:avLst/>
          </a:prstGeom>
          <a:solidFill>
            <a:srgbClr val="F4F1EA"/>
          </a:solidFill>
          <a:ln w="12700">
            <a:solidFill>
              <a:srgbClr val="F4F1EA"/>
            </a:solidFill>
            <a:prstDash val="solid"/>
          </a:ln>
        </p:spPr>
      </p:sp>
      <p:sp>
        <p:nvSpPr>
          <p:cNvPr id="50" name="Text 47"/>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1" name="Text 48"/>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كَمْ</a:t>
            </a:r>
            <a:endParaRPr lang="ar-SA" sz="2050" dirty="0"/>
          </a:p>
        </p:txBody>
      </p:sp>
      <p:sp>
        <p:nvSpPr>
          <p:cNvPr id="52" name="Shape 49"/>
          <p:cNvSpPr/>
          <p:nvPr/>
        </p:nvSpPr>
        <p:spPr>
          <a:xfrm>
            <a:off x="640080" y="5788152"/>
            <a:ext cx="256032" cy="256032"/>
          </a:xfrm>
          <a:prstGeom prst="ellipse">
            <a:avLst/>
          </a:prstGeom>
          <a:solidFill>
            <a:srgbClr val="F4F1EA"/>
          </a:solidFill>
          <a:ln w="12700">
            <a:solidFill>
              <a:srgbClr val="F4F1EA"/>
            </a:solidFill>
            <a:prstDash val="solid"/>
          </a:ln>
        </p:spPr>
      </p:sp>
      <p:sp>
        <p:nvSpPr>
          <p:cNvPr id="53" name="Text 50"/>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4" name="Text 51"/>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عُمْرِي</a:t>
            </a:r>
            <a:endParaRPr lang="ar-SA" sz="2050" dirty="0"/>
          </a:p>
        </p:txBody>
      </p:sp>
      <p:sp>
        <p:nvSpPr>
          <p:cNvPr id="55" name="Shape 52"/>
          <p:cNvSpPr/>
          <p:nvPr/>
        </p:nvSpPr>
        <p:spPr>
          <a:xfrm>
            <a:off x="6185916" y="4151376"/>
            <a:ext cx="5545836"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57" name="Text 54"/>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58" name="Text 55"/>
          <p:cNvSpPr txBox="1"/>
          <p:nvPr/>
        </p:nvSpPr>
        <p:spPr>
          <a:xfrm>
            <a:off x="6387084" y="4791456"/>
            <a:ext cx="5180076"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ea typeface="Calibri" pitchFamily="34" charset="-122"/>
                <a:cs typeface="Calibri" pitchFamily="34" charset="-120"/>
              </a:rPr>
              <a:t>11–20 → sanatan (one year).</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3–10 → sanawāt (years).</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Your answer starts with “my age”.</a:t>
            </a:r>
            <a:endParaRPr lang="en-US" sz="1250" dirty="0"/>
          </a:p>
        </p:txBody>
      </p:sp>
      <p:sp>
        <p:nvSpPr>
          <p:cNvPr id="59" name="Text 5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18 / 36</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F2-L03 · Age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1 · Lesson 3 of 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correct line for age 5.</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عُمْرِي خَمْسَ عَشْرَةَ سَنَةً.</a:t>
            </a:r>
            <a:endParaRPr lang="ar-SA" sz="1700" dirty="0"/>
          </a:p>
        </p:txBody>
      </p:sp>
      <p:sp>
        <p:nvSpPr>
          <p:cNvPr id="22" name="Shape 19"/>
          <p:cNvSpPr/>
          <p:nvPr/>
        </p:nvSpPr>
        <p:spPr>
          <a:xfrm>
            <a:off x="548640" y="2825496"/>
            <a:ext cx="5362956"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عُمْرِي خَمْسُ سَنَوَاتٍ.</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عُمْرِي خَمْسَ سَنَةً.</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Ages 3–10 use the plural </a:t>
            </a:r>
            <a:pPr algn="l" indent="0" marL="0">
              <a:buNone/>
            </a:pPr>
            <a:r>
              <a:rPr lang="ar-SA" altLang="en-US" sz="1350" dirty="0">
                <a:solidFill>
                  <a:srgbClr val="8A6D1E"/>
                </a:solidFill>
                <a:latin typeface="Amiri" pitchFamily="34" charset="0"/>
                <a:ea typeface="Amiri" pitchFamily="34" charset="-122"/>
                <a:cs typeface="Amiri" pitchFamily="34" charset="-120"/>
              </a:rPr>
              <a:t>سَنَوَاتٍ</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word follows ages 11–20 in this lesson?</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سَنَةً</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سَنَوَاتٍ</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عُمْرٌ</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Use singular </a:t>
            </a:r>
            <a:pPr algn="l" indent="0" marL="0">
              <a:buNone/>
            </a:pPr>
            <a:r>
              <a:rPr lang="ar-SA" altLang="en-US" sz="1350" dirty="0">
                <a:solidFill>
                  <a:srgbClr val="8A6D1E"/>
                </a:solidFill>
                <a:latin typeface="Amiri" pitchFamily="34" charset="0"/>
                <a:ea typeface="Amiri" pitchFamily="34" charset="-122"/>
                <a:cs typeface="Amiri" pitchFamily="34" charset="-120"/>
              </a:rPr>
              <a:t>سَنَةً</a:t>
            </a:r>
            <a:pPr algn="l" indent="0" marL="0">
              <a:buNone/>
            </a:pPr>
            <a:r>
              <a:rPr lang="en-US" sz="1050" i="1" dirty="0">
                <a:solidFill>
                  <a:srgbClr val="8A6D1E"/>
                </a:solidFill>
                <a:latin typeface="Calibri" pitchFamily="34" charset="0"/>
                <a:ea typeface="Calibri" pitchFamily="34" charset="-122"/>
                <a:cs typeface="Calibri" pitchFamily="34" charset="-120"/>
              </a:rPr>
              <a:t> after ages 11–20.</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 naturally:</a:t>
            </a:r>
            <a:endParaRPr lang="en-US" sz="1200" dirty="0"/>
          </a:p>
        </p:txBody>
      </p:sp>
      <p:sp>
        <p:nvSpPr>
          <p:cNvPr id="49" name="Text 46"/>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34" charset="0"/>
                <a:ea typeface="Amiri" pitchFamily="34" charset="-122"/>
                <a:cs typeface="Amiri" pitchFamily="34" charset="-120"/>
              </a:rPr>
              <a:t>كَمْ عُمْرُكِ؟ — ______ أَرْبَعَ عَشْرَةَ سَنَةً.</a:t>
            </a:r>
            <a:endParaRPr lang="ar-SA" sz="1550" dirty="0"/>
          </a:p>
        </p:txBody>
      </p:sp>
      <p:sp>
        <p:nvSpPr>
          <p:cNvPr id="50" name="Shape 47"/>
          <p:cNvSpPr/>
          <p:nvPr/>
        </p:nvSpPr>
        <p:spPr>
          <a:xfrm>
            <a:off x="640080" y="4831080"/>
            <a:ext cx="256032" cy="256032"/>
          </a:xfrm>
          <a:prstGeom prst="ellipse">
            <a:avLst/>
          </a:prstGeom>
          <a:solidFill>
            <a:srgbClr val="C9CED6"/>
          </a:solidFill>
          <a:ln w="12700">
            <a:solidFill>
              <a:srgbClr val="C9CED6"/>
            </a:solidFill>
            <a:prstDash val="solid"/>
          </a:ln>
        </p:spPr>
      </p:sp>
      <p:sp>
        <p:nvSpPr>
          <p:cNvPr id="51" name="Text 48"/>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2" name="Text 49"/>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عُمْرُكَ</a:t>
            </a:r>
            <a:endParaRPr lang="ar-SA" sz="1700" dirty="0"/>
          </a:p>
        </p:txBody>
      </p:sp>
      <p:sp>
        <p:nvSpPr>
          <p:cNvPr id="53" name="Shape 50"/>
          <p:cNvSpPr/>
          <p:nvPr/>
        </p:nvSpPr>
        <p:spPr>
          <a:xfrm>
            <a:off x="640080" y="5202936"/>
            <a:ext cx="256032" cy="256032"/>
          </a:xfrm>
          <a:prstGeom prst="ellipse">
            <a:avLst/>
          </a:prstGeom>
          <a:solidFill>
            <a:srgbClr val="C9CED6"/>
          </a:solidFill>
          <a:ln w="12700">
            <a:solidFill>
              <a:srgbClr val="C9CED6"/>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كَمْ</a:t>
            </a:r>
            <a:endParaRPr lang="ar-SA" sz="1700" dirty="0"/>
          </a:p>
        </p:txBody>
      </p:sp>
      <p:sp>
        <p:nvSpPr>
          <p:cNvPr id="56" name="Shape 53"/>
          <p:cNvSpPr/>
          <p:nvPr/>
        </p:nvSpPr>
        <p:spPr>
          <a:xfrm>
            <a:off x="548640" y="5538216"/>
            <a:ext cx="5362956" cy="347472"/>
          </a:xfrm>
          <a:prstGeom prst="roundRect">
            <a:avLst>
              <a:gd name="adj" fmla="val 15789"/>
            </a:avLst>
          </a:prstGeom>
          <a:solidFill>
            <a:srgbClr val="E6F4EC"/>
          </a:solidFill>
          <a:ln w="9525">
            <a:solidFill>
              <a:srgbClr val="2E8B57"/>
            </a:solidFill>
            <a:prstDash val="solid"/>
          </a:ln>
        </p:spPr>
      </p:sp>
      <p:sp>
        <p:nvSpPr>
          <p:cNvPr id="57" name="Shape 54"/>
          <p:cNvSpPr/>
          <p:nvPr/>
        </p:nvSpPr>
        <p:spPr>
          <a:xfrm>
            <a:off x="640080" y="5574792"/>
            <a:ext cx="256032" cy="256032"/>
          </a:xfrm>
          <a:prstGeom prst="ellipse">
            <a:avLst/>
          </a:prstGeom>
          <a:solidFill>
            <a:srgbClr val="2E8B57"/>
          </a:solidFill>
          <a:ln w="12700">
            <a:solidFill>
              <a:srgbClr val="2E8B57"/>
            </a:solidFill>
            <a:prstDash val="solid"/>
          </a:ln>
        </p:spPr>
      </p:sp>
      <p:sp>
        <p:nvSpPr>
          <p:cNvPr id="58" name="Text 55"/>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59" name="Text 56"/>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عُمْرِي</a:t>
            </a:r>
            <a:endParaRPr lang="ar-SA" sz="1700" dirty="0"/>
          </a:p>
        </p:txBody>
      </p:sp>
      <p:sp>
        <p:nvSpPr>
          <p:cNvPr id="60" name="Text 57"/>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answer begins </a:t>
            </a:r>
            <a:pPr algn="l" indent="0" marL="0">
              <a:buNone/>
            </a:pPr>
            <a:r>
              <a:rPr lang="ar-SA" altLang="en-US" sz="1350" dirty="0">
                <a:solidFill>
                  <a:srgbClr val="8A6D1E"/>
                </a:solidFill>
                <a:latin typeface="Amiri" pitchFamily="34" charset="0"/>
                <a:ea typeface="Amiri" pitchFamily="34" charset="-122"/>
                <a:cs typeface="Amiri" pitchFamily="34" charset="-120"/>
              </a:rPr>
              <a:t>عُمْرِي</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61" name="Shape 58"/>
          <p:cNvSpPr/>
          <p:nvPr/>
        </p:nvSpPr>
        <p:spPr>
          <a:xfrm>
            <a:off x="6185916" y="4151376"/>
            <a:ext cx="5545836"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63" name="Text 60"/>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64" name="Text 61"/>
          <p:cNvSpPr txBox="1"/>
          <p:nvPr/>
        </p:nvSpPr>
        <p:spPr>
          <a:xfrm>
            <a:off x="6387084" y="4791456"/>
            <a:ext cx="5180076"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ea typeface="Calibri" pitchFamily="34" charset="-122"/>
                <a:cs typeface="Calibri" pitchFamily="34" charset="-120"/>
              </a:rPr>
              <a:t>11–20 → sanatan (one year).</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3–10 → sanawāt (years).</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Your answer starts with “my age”.</a:t>
            </a:r>
            <a:endParaRPr lang="en-US" sz="1250" dirty="0"/>
          </a:p>
        </p:txBody>
      </p:sp>
      <p:sp>
        <p:nvSpPr>
          <p:cNvPr id="65" name="Text 6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19 / 36</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F2-L03 · Age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1 · Lesson 3 of 3</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34" charset="0"/>
                <a:ea typeface="Amiri" pitchFamily="34" charset="-122"/>
                <a:cs typeface="Amiri" pitchFamily="34" charset="-120"/>
              </a:rPr>
              <a:t>عُمْرُكَ ثَلَاثَ عَشْرَةَ سَنَةً.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ea typeface="Calibri" pitchFamily="34" charset="-122"/>
                <a:cs typeface="Calibri" pitchFamily="34" charset="-120"/>
              </a:rPr>
              <a:t>Is this YOUR age?</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34" charset="0"/>
                <a:ea typeface="Amiri" pitchFamily="34" charset="-122"/>
                <a:cs typeface="Amiri" pitchFamily="34" charset="-120"/>
              </a:rPr>
              <a:t>زَيْنَب ← كَمْ عُمْرُكَ؟</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ea typeface="Calibri" pitchFamily="34" charset="-122"/>
                <a:cs typeface="Calibri" pitchFamily="34" charset="-120"/>
              </a:rPr>
              <a:t>Who is the listener?</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34" charset="0"/>
                <a:ea typeface="Amiri" pitchFamily="34" charset="-122"/>
                <a:cs typeface="Amiri" pitchFamily="34" charset="-120"/>
              </a:rPr>
              <a:t>عُمْرِي أَرْبَعَ عَشْرَةَ سَنَوَاتٍ.</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ea typeface="Calibri" pitchFamily="34" charset="-122"/>
                <a:cs typeface="Calibri" pitchFamily="34" charset="-120"/>
              </a:rPr>
              <a:t>The age is 14. Which “year”?</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20 / 36</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F2-L03 · Age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1 · Lesson 3 of 3</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عُمْرُكَ ثَلَاثَ عَشْرَةَ سَنَةً.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34" charset="0"/>
                <a:ea typeface="Amiri" pitchFamily="34" charset="-122"/>
                <a:cs typeface="Amiri" pitchFamily="34" charset="-120"/>
              </a:rPr>
              <a:t>عُمْرِي ثَلَاثَ عَشْرَةَ سَنَةً.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Do not copy the question ending: your own answer is “my age”.</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زَيْنَب ← كَمْ عُمْرُكَ؟</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34" charset="0"/>
                <a:ea typeface="Amiri" pitchFamily="34" charset="-122"/>
                <a:cs typeface="Amiri" pitchFamily="34" charset="-120"/>
              </a:rPr>
              <a:t>زَيْنَب ← كَمْ عُمْرُكِ؟</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Zaynab is a girl: -ki.</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عُمْرِي أَرْبَعَ عَشْرَةَ سَنَوَاتٍ.</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34" charset="0"/>
                <a:ea typeface="Amiri" pitchFamily="34" charset="-122"/>
                <a:cs typeface="Amiri" pitchFamily="34" charset="-120"/>
              </a:rPr>
              <a:t>عُمْرِي أَرْبَعَ عَشْرَةَ سَنَةً.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Ages 11–20 take the singular “year”.</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21 / 36</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F2-L03 · Age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Catch the listener and the age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1 · Lesson 3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Exchange 1: Was the question addressed to a boy or a girl?</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Boy</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Girl</a:t>
            </a:r>
            <a:endParaRPr lang="en-US" sz="1250" dirty="0"/>
          </a:p>
        </p:txBody>
      </p:sp>
      <p:sp>
        <p:nvSpPr>
          <p:cNvPr id="25" name="Shape 22"/>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4404360" y="1947672"/>
            <a:ext cx="310896" cy="310896"/>
          </a:xfrm>
          <a:prstGeom prst="ellipse">
            <a:avLst/>
          </a:prstGeom>
          <a:solidFill>
            <a:srgbClr val="1B3B6F"/>
          </a:solidFill>
          <a:ln w="12700">
            <a:solidFill>
              <a:srgbClr val="1B3B6F"/>
            </a:solidFill>
            <a:prstDash val="solid"/>
          </a:ln>
        </p:spPr>
      </p:sp>
      <p:sp>
        <p:nvSpPr>
          <p:cNvPr id="27" name="Text 24"/>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8" name="Text 25"/>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Exchange 1: How old is Khalid?</a:t>
            </a:r>
            <a:endParaRPr lang="en-US" sz="1250" dirty="0"/>
          </a:p>
        </p:txBody>
      </p:sp>
      <p:sp>
        <p:nvSpPr>
          <p:cNvPr id="29" name="Shape 26"/>
          <p:cNvSpPr/>
          <p:nvPr/>
        </p:nvSpPr>
        <p:spPr>
          <a:xfrm>
            <a:off x="4459224" y="2532888"/>
            <a:ext cx="256032" cy="256032"/>
          </a:xfrm>
          <a:prstGeom prst="ellipse">
            <a:avLst/>
          </a:prstGeom>
          <a:solidFill>
            <a:srgbClr val="F4F1EA"/>
          </a:solidFill>
          <a:ln w="12700">
            <a:solidFill>
              <a:srgbClr val="F4F1EA"/>
            </a:solidFill>
            <a:prstDash val="solid"/>
          </a:ln>
        </p:spPr>
      </p:sp>
      <p:sp>
        <p:nvSpPr>
          <p:cNvPr id="30" name="Text 27"/>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1" name="Text 28"/>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١٣</a:t>
            </a:r>
            <a:endParaRPr lang="ar-SA" sz="2050" dirty="0"/>
          </a:p>
        </p:txBody>
      </p:sp>
      <p:sp>
        <p:nvSpPr>
          <p:cNvPr id="32" name="Shape 29"/>
          <p:cNvSpPr/>
          <p:nvPr/>
        </p:nvSpPr>
        <p:spPr>
          <a:xfrm>
            <a:off x="4459224" y="29900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4" name="Text 31"/>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١٥</a:t>
            </a:r>
            <a:endParaRPr lang="ar-SA" sz="2050" dirty="0"/>
          </a:p>
        </p:txBody>
      </p:sp>
      <p:sp>
        <p:nvSpPr>
          <p:cNvPr id="35" name="Shape 32"/>
          <p:cNvSpPr/>
          <p:nvPr/>
        </p:nvSpPr>
        <p:spPr>
          <a:xfrm>
            <a:off x="4459224" y="34472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37" name="Text 34"/>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١٢</a:t>
            </a:r>
            <a:endParaRPr lang="ar-SA" sz="2050" dirty="0"/>
          </a:p>
        </p:txBody>
      </p:sp>
      <p:sp>
        <p:nvSpPr>
          <p:cNvPr id="38" name="Shape 35"/>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8223504" y="1947672"/>
            <a:ext cx="310896" cy="310896"/>
          </a:xfrm>
          <a:prstGeom prst="ellipse">
            <a:avLst/>
          </a:prstGeom>
          <a:solidFill>
            <a:srgbClr val="1B3B6F"/>
          </a:solidFill>
          <a:ln w="12700">
            <a:solidFill>
              <a:srgbClr val="1B3B6F"/>
            </a:solidFill>
            <a:prstDash val="solid"/>
          </a:ln>
        </p:spPr>
      </p:sp>
      <p:sp>
        <p:nvSpPr>
          <p:cNvPr id="40" name="Text 37"/>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1" name="Text 38"/>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Exchange 2: How old is Zaynab?</a:t>
            </a:r>
            <a:endParaRPr lang="en-US" sz="1250" dirty="0"/>
          </a:p>
        </p:txBody>
      </p:sp>
      <p:sp>
        <p:nvSpPr>
          <p:cNvPr id="42" name="Shape 39"/>
          <p:cNvSpPr/>
          <p:nvPr/>
        </p:nvSpPr>
        <p:spPr>
          <a:xfrm>
            <a:off x="8278368" y="2532888"/>
            <a:ext cx="256032" cy="256032"/>
          </a:xfrm>
          <a:prstGeom prst="ellipse">
            <a:avLst/>
          </a:prstGeom>
          <a:solidFill>
            <a:srgbClr val="F4F1EA"/>
          </a:solidFill>
          <a:ln w="12700">
            <a:solidFill>
              <a:srgbClr val="F4F1EA"/>
            </a:solidFill>
            <a:prstDash val="solid"/>
          </a:ln>
        </p:spPr>
      </p:sp>
      <p:sp>
        <p:nvSpPr>
          <p:cNvPr id="43" name="Text 40"/>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4" name="Text 41"/>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١٢</a:t>
            </a:r>
            <a:endParaRPr lang="ar-SA" sz="2050" dirty="0"/>
          </a:p>
        </p:txBody>
      </p:sp>
      <p:sp>
        <p:nvSpPr>
          <p:cNvPr id="45" name="Shape 42"/>
          <p:cNvSpPr/>
          <p:nvPr/>
        </p:nvSpPr>
        <p:spPr>
          <a:xfrm>
            <a:off x="8278368" y="29900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7" name="Text 44"/>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١٤</a:t>
            </a:r>
            <a:endParaRPr lang="ar-SA" sz="2050" dirty="0"/>
          </a:p>
        </p:txBody>
      </p:sp>
      <p:sp>
        <p:nvSpPr>
          <p:cNvPr id="48" name="Shape 45"/>
          <p:cNvSpPr/>
          <p:nvPr/>
        </p:nvSpPr>
        <p:spPr>
          <a:xfrm>
            <a:off x="8278368" y="34472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0" name="Text 47"/>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١٣</a:t>
            </a:r>
            <a:endParaRPr lang="ar-SA" sz="2050" dirty="0"/>
          </a:p>
        </p:txBody>
      </p:sp>
      <p:sp>
        <p:nvSpPr>
          <p:cNvPr id="51" name="Shape 48"/>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585216" y="4288536"/>
            <a:ext cx="310896" cy="310896"/>
          </a:xfrm>
          <a:prstGeom prst="ellipse">
            <a:avLst/>
          </a:prstGeom>
          <a:solidFill>
            <a:srgbClr val="1B3B6F"/>
          </a:solidFill>
          <a:ln w="12700">
            <a:solidFill>
              <a:srgbClr val="1B3B6F"/>
            </a:solidFill>
            <a:prstDash val="solid"/>
          </a:ln>
        </p:spPr>
      </p:sp>
      <p:sp>
        <p:nvSpPr>
          <p:cNvPr id="53" name="Text 5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4" name="Text 51"/>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Exchange 3: Which name did you hear?</a:t>
            </a:r>
            <a:endParaRPr lang="en-US" sz="1250" dirty="0"/>
          </a:p>
        </p:txBody>
      </p:sp>
      <p:sp>
        <p:nvSpPr>
          <p:cNvPr id="55" name="Shape 52"/>
          <p:cNvSpPr/>
          <p:nvPr/>
        </p:nvSpPr>
        <p:spPr>
          <a:xfrm>
            <a:off x="640080" y="4873752"/>
            <a:ext cx="256032" cy="256032"/>
          </a:xfrm>
          <a:prstGeom prst="ellipse">
            <a:avLst/>
          </a:prstGeom>
          <a:solidFill>
            <a:srgbClr val="F4F1EA"/>
          </a:solidFill>
          <a:ln w="12700">
            <a:solidFill>
              <a:srgbClr val="F4F1EA"/>
            </a:solidFill>
            <a:prstDash val="solid"/>
          </a:ln>
        </p:spPr>
      </p:sp>
      <p:sp>
        <p:nvSpPr>
          <p:cNvPr id="56" name="Text 5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7" name="Text 54"/>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يُوسُف</a:t>
            </a:r>
            <a:endParaRPr lang="ar-SA" sz="2050" dirty="0"/>
          </a:p>
        </p:txBody>
      </p:sp>
      <p:sp>
        <p:nvSpPr>
          <p:cNvPr id="58" name="Shape 55"/>
          <p:cNvSpPr/>
          <p:nvPr/>
        </p:nvSpPr>
        <p:spPr>
          <a:xfrm>
            <a:off x="640080" y="53309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0" name="Text 57"/>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خَالِد</a:t>
            </a:r>
            <a:endParaRPr lang="ar-SA" sz="2050" dirty="0"/>
          </a:p>
        </p:txBody>
      </p:sp>
      <p:sp>
        <p:nvSpPr>
          <p:cNvPr id="61" name="Shape 58"/>
          <p:cNvSpPr/>
          <p:nvPr/>
        </p:nvSpPr>
        <p:spPr>
          <a:xfrm>
            <a:off x="640080" y="57881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3" name="Text 60"/>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آدَم</a:t>
            </a:r>
            <a:endParaRPr lang="ar-SA" sz="2050" dirty="0"/>
          </a:p>
        </p:txBody>
      </p:sp>
      <p:sp>
        <p:nvSpPr>
          <p:cNvPr id="64" name="Shape 61"/>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5" name="Shape 62"/>
          <p:cNvSpPr/>
          <p:nvPr/>
        </p:nvSpPr>
        <p:spPr>
          <a:xfrm>
            <a:off x="4404360" y="4288536"/>
            <a:ext cx="310896" cy="310896"/>
          </a:xfrm>
          <a:prstGeom prst="ellipse">
            <a:avLst/>
          </a:prstGeom>
          <a:solidFill>
            <a:srgbClr val="1B3B6F"/>
          </a:solidFill>
          <a:ln w="12700">
            <a:solidFill>
              <a:srgbClr val="1B3B6F"/>
            </a:solidFill>
            <a:prstDash val="solid"/>
          </a:ln>
        </p:spPr>
      </p:sp>
      <p:sp>
        <p:nvSpPr>
          <p:cNvPr id="66" name="Text 63"/>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67" name="Text 64"/>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Exchange 3: How old is Yusuf?</a:t>
            </a:r>
            <a:endParaRPr lang="en-US" sz="1250" dirty="0"/>
          </a:p>
        </p:txBody>
      </p:sp>
      <p:sp>
        <p:nvSpPr>
          <p:cNvPr id="68" name="Shape 65"/>
          <p:cNvSpPr/>
          <p:nvPr/>
        </p:nvSpPr>
        <p:spPr>
          <a:xfrm>
            <a:off x="4459224" y="4873752"/>
            <a:ext cx="256032" cy="256032"/>
          </a:xfrm>
          <a:prstGeom prst="ellipse">
            <a:avLst/>
          </a:prstGeom>
          <a:solidFill>
            <a:srgbClr val="F4F1EA"/>
          </a:solidFill>
          <a:ln w="12700">
            <a:solidFill>
              <a:srgbClr val="F4F1EA"/>
            </a:solidFill>
            <a:prstDash val="solid"/>
          </a:ln>
        </p:spPr>
      </p:sp>
      <p:sp>
        <p:nvSpPr>
          <p:cNvPr id="69" name="Text 66"/>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0" name="Text 67"/>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١٤</a:t>
            </a:r>
            <a:endParaRPr lang="ar-SA" sz="2050" dirty="0"/>
          </a:p>
        </p:txBody>
      </p:sp>
      <p:sp>
        <p:nvSpPr>
          <p:cNvPr id="71" name="Shape 68"/>
          <p:cNvSpPr/>
          <p:nvPr/>
        </p:nvSpPr>
        <p:spPr>
          <a:xfrm>
            <a:off x="4459224" y="53309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3" name="Text 70"/>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١٥</a:t>
            </a:r>
            <a:endParaRPr lang="ar-SA" sz="2050" dirty="0"/>
          </a:p>
        </p:txBody>
      </p:sp>
      <p:sp>
        <p:nvSpPr>
          <p:cNvPr id="74" name="Shape 71"/>
          <p:cNvSpPr/>
          <p:nvPr/>
        </p:nvSpPr>
        <p:spPr>
          <a:xfrm>
            <a:off x="4459224" y="57881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6" name="Text 73"/>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٢٠</a:t>
            </a:r>
            <a:endParaRPr lang="ar-SA" sz="2050" dirty="0"/>
          </a:p>
        </p:txBody>
      </p:sp>
      <p:sp>
        <p:nvSpPr>
          <p:cNvPr id="77" name="Shape 74"/>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79" name="Text 76"/>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80" name="Text 77"/>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ea typeface="Calibri" pitchFamily="34" charset="-122"/>
                <a:cs typeface="Calibri" pitchFamily="34" charset="-120"/>
              </a:rPr>
              <a:t>Listen twice.</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First: boy or girl?</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Then: which number?</a:t>
            </a:r>
            <a:endParaRPr lang="en-US" sz="1250" dirty="0"/>
          </a:p>
        </p:txBody>
      </p:sp>
      <p:sp>
        <p:nvSpPr>
          <p:cNvPr id="81" name="Text 7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22 / 36</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F2-L03 · Age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ea typeface="Cambria" pitchFamily="34" charset="-122"/>
                <a:cs typeface="Cambria" pitchFamily="34" charset="-120"/>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1 · Lesson 3 of 3</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مَرْحَبًا. مَا اسْمُكَ؟ — اِسْمِي خَالِد.</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Hello. What is your name? (to a boy) — My name is Khalid.</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كَمْ عُمْرُكَ؟ — عُمْرِي اِثْنَتَا عَشْرَةَ سَنَةً.</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How old are you? — I am twelve years old.</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مَرْحَبًا. مَا اسْمُكِ؟ — اِسْمِي زَيْنَب.</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Hello. What is your name? (to a girl) — My name is Zaynab.</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كَمْ عُمْرُكِ؟ — عُمْرِي ثَلَاثَ عَشْرَةَ سَنَةً.</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How old are you? — I am thirteen years old.</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السَّلَامُ عَلَيْكُمْ. اِسْمِي يُوسُف. عُمْرِي خَمْسَ عَشْرَةَ سَنَةً. وَأَنْتَ؟</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Peace be upon you. My name is Yusuf. I am fifteen. And you?</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23 / 36</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F2-L03 · Age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1 · Lesson 3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Exchange 1: Was the question addressed to a boy or a girl?</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Boy</a:t>
            </a:r>
            <a:endParaRPr lang="en-US" sz="12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Girl</a:t>
            </a:r>
            <a:endParaRPr lang="en-US" sz="1250" dirty="0"/>
          </a:p>
        </p:txBody>
      </p:sp>
      <p:sp>
        <p:nvSpPr>
          <p:cNvPr id="26" name="Text 23"/>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speaker uses </a:t>
            </a:r>
            <a:pPr algn="l" indent="0" marL="0">
              <a:buNone/>
            </a:pPr>
            <a:r>
              <a:rPr lang="ar-SA" altLang="en-US" sz="1350" dirty="0">
                <a:solidFill>
                  <a:srgbClr val="8A6D1E"/>
                </a:solidFill>
                <a:latin typeface="Amiri" pitchFamily="34" charset="0"/>
                <a:ea typeface="Amiri" pitchFamily="34" charset="-122"/>
                <a:cs typeface="Amiri" pitchFamily="34" charset="-120"/>
              </a:rPr>
              <a:t>مَا اسْمُكَ؟</a:t>
            </a:r>
            <a:pPr algn="l" indent="0" marL="0">
              <a:buNone/>
            </a:pPr>
            <a:r>
              <a:rPr lang="en-US" sz="1050" i="1" dirty="0">
                <a:solidFill>
                  <a:srgbClr val="8A6D1E"/>
                </a:solidFill>
                <a:latin typeface="Calibri" pitchFamily="34" charset="0"/>
                <a:ea typeface="Calibri" pitchFamily="34" charset="-122"/>
                <a:cs typeface="Calibri" pitchFamily="34" charset="-120"/>
              </a:rPr>
              <a:t> and </a:t>
            </a:r>
            <a:pPr algn="l" indent="0" marL="0">
              <a:buNone/>
            </a:pPr>
            <a:r>
              <a:rPr lang="ar-SA" altLang="en-US" sz="1350" dirty="0">
                <a:solidFill>
                  <a:srgbClr val="8A6D1E"/>
                </a:solidFill>
                <a:latin typeface="Amiri" pitchFamily="34" charset="0"/>
                <a:ea typeface="Amiri" pitchFamily="34" charset="-122"/>
                <a:cs typeface="Amiri" pitchFamily="34" charset="-120"/>
              </a:rPr>
              <a:t>كَمْ عُمْرُكَ؟</a:t>
            </a:r>
            <a:endParaRPr lang="en-US" sz="1050" dirty="0"/>
          </a:p>
        </p:txBody>
      </p:sp>
      <p:sp>
        <p:nvSpPr>
          <p:cNvPr id="27" name="Shape 24"/>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404360" y="1947672"/>
            <a:ext cx="310896" cy="310896"/>
          </a:xfrm>
          <a:prstGeom prst="ellipse">
            <a:avLst/>
          </a:prstGeom>
          <a:solidFill>
            <a:srgbClr val="1B3B6F"/>
          </a:solidFill>
          <a:ln w="12700">
            <a:solidFill>
              <a:srgbClr val="1B3B6F"/>
            </a:solidFill>
            <a:prstDash val="solid"/>
          </a:ln>
        </p:spPr>
      </p:sp>
      <p:sp>
        <p:nvSpPr>
          <p:cNvPr id="29" name="Text 26"/>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0" name="Text 27"/>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Exchange 1: How old is Khalid?</a:t>
            </a:r>
            <a:endParaRPr lang="en-US" sz="1250" dirty="0"/>
          </a:p>
        </p:txBody>
      </p:sp>
      <p:sp>
        <p:nvSpPr>
          <p:cNvPr id="31" name="Shape 28"/>
          <p:cNvSpPr/>
          <p:nvPr/>
        </p:nvSpPr>
        <p:spPr>
          <a:xfrm>
            <a:off x="4459224" y="2490216"/>
            <a:ext cx="256032" cy="256032"/>
          </a:xfrm>
          <a:prstGeom prst="ellipse">
            <a:avLst/>
          </a:prstGeom>
          <a:solidFill>
            <a:srgbClr val="C9CED6"/>
          </a:solidFill>
          <a:ln w="12700">
            <a:solidFill>
              <a:srgbClr val="C9CED6"/>
            </a:solidFill>
            <a:prstDash val="solid"/>
          </a:ln>
        </p:spPr>
      </p:sp>
      <p:sp>
        <p:nvSpPr>
          <p:cNvPr id="32" name="Text 29"/>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3" name="Text 30"/>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١٣</a:t>
            </a:r>
            <a:endParaRPr lang="ar-SA" sz="1700" dirty="0"/>
          </a:p>
        </p:txBody>
      </p:sp>
      <p:sp>
        <p:nvSpPr>
          <p:cNvPr id="34" name="Shape 31"/>
          <p:cNvSpPr/>
          <p:nvPr/>
        </p:nvSpPr>
        <p:spPr>
          <a:xfrm>
            <a:off x="4459224" y="2862072"/>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6" name="Text 33"/>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١٥</a:t>
            </a:r>
            <a:endParaRPr lang="ar-SA" sz="1700" dirty="0"/>
          </a:p>
        </p:txBody>
      </p:sp>
      <p:sp>
        <p:nvSpPr>
          <p:cNvPr id="37" name="Shape 34"/>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323392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١٢</a:t>
            </a:r>
            <a:endParaRPr lang="ar-SA" sz="1700" dirty="0"/>
          </a:p>
        </p:txBody>
      </p:sp>
      <p:sp>
        <p:nvSpPr>
          <p:cNvPr id="41" name="Text 38"/>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Khalid says </a:t>
            </a:r>
            <a:pPr algn="l" indent="0" marL="0">
              <a:buNone/>
            </a:pPr>
            <a:r>
              <a:rPr lang="ar-SA" altLang="en-US" sz="1350" dirty="0">
                <a:solidFill>
                  <a:srgbClr val="8A6D1E"/>
                </a:solidFill>
                <a:latin typeface="Amiri" pitchFamily="34" charset="0"/>
                <a:ea typeface="Amiri" pitchFamily="34" charset="-122"/>
                <a:cs typeface="Amiri" pitchFamily="34" charset="-120"/>
              </a:rPr>
              <a:t>اِثْنَتَا عَشْرَةَ</a:t>
            </a:r>
            <a:pPr algn="l" indent="0" marL="0">
              <a:buNone/>
            </a:pPr>
            <a:r>
              <a:rPr lang="en-US" sz="1050" i="1" dirty="0">
                <a:solidFill>
                  <a:srgbClr val="8A6D1E"/>
                </a:solidFill>
                <a:latin typeface="Calibri" pitchFamily="34" charset="0"/>
                <a:ea typeface="Calibri" pitchFamily="34" charset="-122"/>
                <a:cs typeface="Calibri" pitchFamily="34" charset="-120"/>
              </a:rPr>
              <a:t> — twelve.</a:t>
            </a:r>
            <a:endParaRPr lang="en-US" sz="1050" dirty="0"/>
          </a:p>
        </p:txBody>
      </p:sp>
      <p:sp>
        <p:nvSpPr>
          <p:cNvPr id="42" name="Shape 39"/>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23504" y="1947672"/>
            <a:ext cx="310896" cy="310896"/>
          </a:xfrm>
          <a:prstGeom prst="ellipse">
            <a:avLst/>
          </a:prstGeom>
          <a:solidFill>
            <a:srgbClr val="1B3B6F"/>
          </a:solidFill>
          <a:ln w="12700">
            <a:solidFill>
              <a:srgbClr val="1B3B6F"/>
            </a:solidFill>
            <a:prstDash val="solid"/>
          </a:ln>
        </p:spPr>
      </p:sp>
      <p:sp>
        <p:nvSpPr>
          <p:cNvPr id="44" name="Text 41"/>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5" name="Text 42"/>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Exchange 2: How old is Zaynab?</a:t>
            </a:r>
            <a:endParaRPr lang="en-US" sz="1250" dirty="0"/>
          </a:p>
        </p:txBody>
      </p:sp>
      <p:sp>
        <p:nvSpPr>
          <p:cNvPr id="46" name="Shape 43"/>
          <p:cNvSpPr/>
          <p:nvPr/>
        </p:nvSpPr>
        <p:spPr>
          <a:xfrm>
            <a:off x="8278368" y="2490216"/>
            <a:ext cx="256032" cy="256032"/>
          </a:xfrm>
          <a:prstGeom prst="ellipse">
            <a:avLst/>
          </a:prstGeom>
          <a:solidFill>
            <a:srgbClr val="C9CED6"/>
          </a:solidFill>
          <a:ln w="12700">
            <a:solidFill>
              <a:srgbClr val="C9CED6"/>
            </a:solidFill>
            <a:prstDash val="solid"/>
          </a:ln>
        </p:spPr>
      </p:sp>
      <p:sp>
        <p:nvSpPr>
          <p:cNvPr id="47" name="Text 44"/>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8" name="Text 45"/>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١٢</a:t>
            </a:r>
            <a:endParaRPr lang="ar-SA" sz="1700" dirty="0"/>
          </a:p>
        </p:txBody>
      </p:sp>
      <p:sp>
        <p:nvSpPr>
          <p:cNvPr id="49" name="Shape 46"/>
          <p:cNvSpPr/>
          <p:nvPr/>
        </p:nvSpPr>
        <p:spPr>
          <a:xfrm>
            <a:off x="8278368" y="2862072"/>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1" name="Text 48"/>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١٤</a:t>
            </a:r>
            <a:endParaRPr lang="ar-SA" sz="1700" dirty="0"/>
          </a:p>
        </p:txBody>
      </p:sp>
      <p:sp>
        <p:nvSpPr>
          <p:cNvPr id="52" name="Shape 49"/>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8278368" y="3233928"/>
            <a:ext cx="256032" cy="256032"/>
          </a:xfrm>
          <a:prstGeom prst="ellipse">
            <a:avLst/>
          </a:prstGeom>
          <a:solidFill>
            <a:srgbClr val="2E8B57"/>
          </a:solidFill>
          <a:ln w="12700">
            <a:solidFill>
              <a:srgbClr val="2E8B57"/>
            </a:solidFill>
            <a:prstDash val="solid"/>
          </a:ln>
        </p:spPr>
      </p:sp>
      <p:sp>
        <p:nvSpPr>
          <p:cNvPr id="54" name="Text 51"/>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55" name="Text 52"/>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١٣</a:t>
            </a:r>
            <a:endParaRPr lang="ar-SA" sz="1700" dirty="0"/>
          </a:p>
        </p:txBody>
      </p:sp>
      <p:sp>
        <p:nvSpPr>
          <p:cNvPr id="56" name="Text 53"/>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Zaynab says </a:t>
            </a:r>
            <a:pPr algn="l" indent="0" marL="0">
              <a:buNone/>
            </a:pPr>
            <a:r>
              <a:rPr lang="ar-SA" altLang="en-US" sz="1350" dirty="0">
                <a:solidFill>
                  <a:srgbClr val="8A6D1E"/>
                </a:solidFill>
                <a:latin typeface="Amiri" pitchFamily="34" charset="0"/>
                <a:ea typeface="Amiri" pitchFamily="34" charset="-122"/>
                <a:cs typeface="Amiri" pitchFamily="34" charset="-120"/>
              </a:rPr>
              <a:t>ثَلَاثَ عَشْرَةَ</a:t>
            </a:r>
            <a:pPr algn="l" indent="0" marL="0">
              <a:buNone/>
            </a:pPr>
            <a:r>
              <a:rPr lang="en-US" sz="1050" i="1" dirty="0">
                <a:solidFill>
                  <a:srgbClr val="8A6D1E"/>
                </a:solidFill>
                <a:latin typeface="Calibri" pitchFamily="34" charset="0"/>
                <a:ea typeface="Calibri" pitchFamily="34" charset="-122"/>
                <a:cs typeface="Calibri" pitchFamily="34" charset="-120"/>
              </a:rPr>
              <a:t> — thirteen.</a:t>
            </a:r>
            <a:endParaRPr lang="en-US" sz="1050" dirty="0"/>
          </a:p>
        </p:txBody>
      </p:sp>
      <p:sp>
        <p:nvSpPr>
          <p:cNvPr id="57" name="Shape 54"/>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585216"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0" name="Text 57"/>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Exchange 3: Which name did you hear?</a:t>
            </a:r>
            <a:endParaRPr lang="en-US" sz="1250" dirty="0"/>
          </a:p>
        </p:txBody>
      </p:sp>
      <p:sp>
        <p:nvSpPr>
          <p:cNvPr id="61" name="Shape 58"/>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2" name="Shape 59"/>
          <p:cNvSpPr/>
          <p:nvPr/>
        </p:nvSpPr>
        <p:spPr>
          <a:xfrm>
            <a:off x="640080" y="4831080"/>
            <a:ext cx="256032" cy="256032"/>
          </a:xfrm>
          <a:prstGeom prst="ellipse">
            <a:avLst/>
          </a:prstGeom>
          <a:solidFill>
            <a:srgbClr val="2E8B57"/>
          </a:solidFill>
          <a:ln w="12700">
            <a:solidFill>
              <a:srgbClr val="2E8B57"/>
            </a:solidFill>
            <a:prstDash val="solid"/>
          </a:ln>
        </p:spPr>
      </p:sp>
      <p:sp>
        <p:nvSpPr>
          <p:cNvPr id="63" name="Text 6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64" name="Text 61"/>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يُوسُف</a:t>
            </a:r>
            <a:endParaRPr lang="ar-SA" sz="1700" dirty="0"/>
          </a:p>
        </p:txBody>
      </p:sp>
      <p:sp>
        <p:nvSpPr>
          <p:cNvPr id="65" name="Shape 62"/>
          <p:cNvSpPr/>
          <p:nvPr/>
        </p:nvSpPr>
        <p:spPr>
          <a:xfrm>
            <a:off x="640080" y="5202936"/>
            <a:ext cx="256032" cy="256032"/>
          </a:xfrm>
          <a:prstGeom prst="ellipse">
            <a:avLst/>
          </a:prstGeom>
          <a:solidFill>
            <a:srgbClr val="C9CED6"/>
          </a:solidFill>
          <a:ln w="12700">
            <a:solidFill>
              <a:srgbClr val="C9CED6"/>
            </a:solidFill>
            <a:prstDash val="solid"/>
          </a:ln>
        </p:spPr>
      </p:sp>
      <p:sp>
        <p:nvSpPr>
          <p:cNvPr id="66" name="Text 6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7" name="Text 64"/>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خَالِد</a:t>
            </a:r>
            <a:endParaRPr lang="ar-SA" sz="1700" dirty="0"/>
          </a:p>
        </p:txBody>
      </p:sp>
      <p:sp>
        <p:nvSpPr>
          <p:cNvPr id="68" name="Shape 65"/>
          <p:cNvSpPr/>
          <p:nvPr/>
        </p:nvSpPr>
        <p:spPr>
          <a:xfrm>
            <a:off x="640080" y="5574792"/>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0" name="Text 67"/>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آدَم</a:t>
            </a:r>
            <a:endParaRPr lang="ar-SA" sz="1700" dirty="0"/>
          </a:p>
        </p:txBody>
      </p:sp>
      <p:sp>
        <p:nvSpPr>
          <p:cNvPr id="71" name="Text 68"/>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speaker says </a:t>
            </a:r>
            <a:pPr algn="l" indent="0" marL="0">
              <a:buNone/>
            </a:pPr>
            <a:r>
              <a:rPr lang="ar-SA" altLang="en-US" sz="1350" dirty="0">
                <a:solidFill>
                  <a:srgbClr val="8A6D1E"/>
                </a:solidFill>
                <a:latin typeface="Amiri" pitchFamily="34" charset="0"/>
                <a:ea typeface="Amiri" pitchFamily="34" charset="-122"/>
                <a:cs typeface="Amiri" pitchFamily="34" charset="-120"/>
              </a:rPr>
              <a:t>اِسْمِي يُوسُف</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72" name="Shape 69"/>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3" name="Shape 70"/>
          <p:cNvSpPr/>
          <p:nvPr/>
        </p:nvSpPr>
        <p:spPr>
          <a:xfrm>
            <a:off x="4404360" y="4288536"/>
            <a:ext cx="310896" cy="310896"/>
          </a:xfrm>
          <a:prstGeom prst="ellipse">
            <a:avLst/>
          </a:prstGeom>
          <a:solidFill>
            <a:srgbClr val="1B3B6F"/>
          </a:solidFill>
          <a:ln w="12700">
            <a:solidFill>
              <a:srgbClr val="1B3B6F"/>
            </a:solidFill>
            <a:prstDash val="solid"/>
          </a:ln>
        </p:spPr>
      </p:sp>
      <p:sp>
        <p:nvSpPr>
          <p:cNvPr id="74" name="Text 71"/>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5" name="Text 72"/>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Exchange 3: How old is Yusuf?</a:t>
            </a:r>
            <a:endParaRPr lang="en-US" sz="1250" dirty="0"/>
          </a:p>
        </p:txBody>
      </p:sp>
      <p:sp>
        <p:nvSpPr>
          <p:cNvPr id="76" name="Shape 73"/>
          <p:cNvSpPr/>
          <p:nvPr/>
        </p:nvSpPr>
        <p:spPr>
          <a:xfrm>
            <a:off x="4459224" y="4831080"/>
            <a:ext cx="256032" cy="256032"/>
          </a:xfrm>
          <a:prstGeom prst="ellipse">
            <a:avLst/>
          </a:prstGeom>
          <a:solidFill>
            <a:srgbClr val="C9CED6"/>
          </a:solidFill>
          <a:ln w="12700">
            <a:solidFill>
              <a:srgbClr val="C9CED6"/>
            </a:solidFill>
            <a:prstDash val="solid"/>
          </a:ln>
        </p:spPr>
      </p:sp>
      <p:sp>
        <p:nvSpPr>
          <p:cNvPr id="77" name="Text 74"/>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8" name="Text 75"/>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١٤</a:t>
            </a:r>
            <a:endParaRPr lang="ar-SA" sz="1700" dirty="0"/>
          </a:p>
        </p:txBody>
      </p:sp>
      <p:sp>
        <p:nvSpPr>
          <p:cNvPr id="79" name="Shape 76"/>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5202936"/>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82" name="Text 79"/>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١٥</a:t>
            </a:r>
            <a:endParaRPr lang="ar-SA" sz="1700" dirty="0"/>
          </a:p>
        </p:txBody>
      </p:sp>
      <p:sp>
        <p:nvSpPr>
          <p:cNvPr id="83" name="Shape 80"/>
          <p:cNvSpPr/>
          <p:nvPr/>
        </p:nvSpPr>
        <p:spPr>
          <a:xfrm>
            <a:off x="4459224" y="5574792"/>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5" name="Text 82"/>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٢٠</a:t>
            </a:r>
            <a:endParaRPr lang="ar-SA" sz="1700" dirty="0"/>
          </a:p>
        </p:txBody>
      </p:sp>
      <p:sp>
        <p:nvSpPr>
          <p:cNvPr id="86" name="Text 83"/>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He says </a:t>
            </a:r>
            <a:pPr algn="l" indent="0" marL="0">
              <a:buNone/>
            </a:pPr>
            <a:r>
              <a:rPr lang="ar-SA" altLang="en-US" sz="1350" dirty="0">
                <a:solidFill>
                  <a:srgbClr val="8A6D1E"/>
                </a:solidFill>
                <a:latin typeface="Amiri" pitchFamily="34" charset="0"/>
                <a:ea typeface="Amiri" pitchFamily="34" charset="-122"/>
                <a:cs typeface="Amiri" pitchFamily="34" charset="-120"/>
              </a:rPr>
              <a:t>خَمْسَ عَشْرَةَ</a:t>
            </a:r>
            <a:pPr algn="l" indent="0" marL="0">
              <a:buNone/>
            </a:pPr>
            <a:r>
              <a:rPr lang="en-US" sz="1050" i="1" dirty="0">
                <a:solidFill>
                  <a:srgbClr val="8A6D1E"/>
                </a:solidFill>
                <a:latin typeface="Calibri" pitchFamily="34" charset="0"/>
                <a:ea typeface="Calibri" pitchFamily="34" charset="-122"/>
                <a:cs typeface="Calibri" pitchFamily="34" charset="-120"/>
              </a:rPr>
              <a:t> — fifteen.</a:t>
            </a:r>
            <a:endParaRPr lang="en-US" sz="1050" dirty="0"/>
          </a:p>
        </p:txBody>
      </p:sp>
      <p:sp>
        <p:nvSpPr>
          <p:cNvPr id="87" name="Shape 84"/>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8" name="Shape 85"/>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9" name="Text 86"/>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90" name="Text 87"/>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ea typeface="Calibri" pitchFamily="34" charset="-122"/>
                <a:cs typeface="Calibri" pitchFamily="34" charset="-120"/>
              </a:rPr>
              <a:t>Listen twice.</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First: boy or girl?</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Then: which number?</a:t>
            </a:r>
            <a:endParaRPr lang="en-US" sz="1250" dirty="0"/>
          </a:p>
        </p:txBody>
      </p:sp>
      <p:sp>
        <p:nvSpPr>
          <p:cNvPr id="91" name="Text 8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24 / 36</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F2-L03 · Age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READING · SCAN, MATCH, PROVE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ea typeface="Cambria" pitchFamily="34" charset="-122"/>
                <a:cs typeface="Cambria" pitchFamily="34" charset="-120"/>
              </a:rPr>
              <a:t>Adam and Maryam: names and ages</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اِقْرَأْ حِوَارًا قَصِيرًا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1 · Lesson 3 of 3</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آدَم: السَّلَامُ عَلَيْكُمْ. مَا اسْمُكِ؟</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Peace be upon you. What is your name?</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مَرْيَم: وَعَلَيْكُمُ السَّلَامُ. اِسْمِي مَرْيَم. وَأَنْتَ؟</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And upon you peace. My name is Maryam. And you?</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آدَم: اِسْمِي آدَم. كَمْ عُمْرُكِ؟</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My name is Adam. How old are you?</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مَرْيَم: عُمْرِي أَرْبَعَ عَشْرَةَ سَنَةً. وَأَنْتَ؟</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 am fourteen years old. And you?</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آدَم: عُمْرِي خَمْسَ عَشْرَةَ سَنَةً.</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 am fifteen years old.</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25 / 36</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F2-L03 · Age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READING QUESTIONS · FIND THE EVIDENCE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Prove it from the dialogue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1 · Lesson 3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Who speaks first?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آدَم</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مَرْيَم</a:t>
            </a:r>
            <a:endParaRPr lang="ar-SA" sz="2050" dirty="0"/>
          </a:p>
        </p:txBody>
      </p:sp>
      <p:sp>
        <p:nvSpPr>
          <p:cNvPr id="25" name="Shape 22"/>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4404360" y="1947672"/>
            <a:ext cx="310896" cy="310896"/>
          </a:xfrm>
          <a:prstGeom prst="ellipse">
            <a:avLst/>
          </a:prstGeom>
          <a:solidFill>
            <a:srgbClr val="1B3B6F"/>
          </a:solidFill>
          <a:ln w="12700">
            <a:solidFill>
              <a:srgbClr val="1B3B6F"/>
            </a:solidFill>
            <a:prstDash val="solid"/>
          </a:ln>
        </p:spPr>
      </p:sp>
      <p:sp>
        <p:nvSpPr>
          <p:cNvPr id="27" name="Text 24"/>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8" name="Text 25"/>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Who is asked with the feminine ending -ki?</a:t>
            </a:r>
            <a:endParaRPr lang="en-US" sz="1250" dirty="0"/>
          </a:p>
        </p:txBody>
      </p:sp>
      <p:sp>
        <p:nvSpPr>
          <p:cNvPr id="29" name="Shape 26"/>
          <p:cNvSpPr/>
          <p:nvPr/>
        </p:nvSpPr>
        <p:spPr>
          <a:xfrm>
            <a:off x="4459224" y="2532888"/>
            <a:ext cx="256032" cy="256032"/>
          </a:xfrm>
          <a:prstGeom prst="ellipse">
            <a:avLst/>
          </a:prstGeom>
          <a:solidFill>
            <a:srgbClr val="F4F1EA"/>
          </a:solidFill>
          <a:ln w="12700">
            <a:solidFill>
              <a:srgbClr val="F4F1EA"/>
            </a:solidFill>
            <a:prstDash val="solid"/>
          </a:ln>
        </p:spPr>
      </p:sp>
      <p:sp>
        <p:nvSpPr>
          <p:cNvPr id="30" name="Text 27"/>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1" name="Text 28"/>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آدَم</a:t>
            </a:r>
            <a:endParaRPr lang="ar-SA" sz="2050" dirty="0"/>
          </a:p>
        </p:txBody>
      </p:sp>
      <p:sp>
        <p:nvSpPr>
          <p:cNvPr id="32" name="Shape 29"/>
          <p:cNvSpPr/>
          <p:nvPr/>
        </p:nvSpPr>
        <p:spPr>
          <a:xfrm>
            <a:off x="4459224" y="29900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4" name="Text 31"/>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مَرْيَم</a:t>
            </a:r>
            <a:endParaRPr lang="ar-SA" sz="2050" dirty="0"/>
          </a:p>
        </p:txBody>
      </p:sp>
      <p:sp>
        <p:nvSpPr>
          <p:cNvPr id="35" name="Shape 3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8223504" y="1947672"/>
            <a:ext cx="310896" cy="310896"/>
          </a:xfrm>
          <a:prstGeom prst="ellipse">
            <a:avLst/>
          </a:prstGeom>
          <a:solidFill>
            <a:srgbClr val="1B3B6F"/>
          </a:solidFill>
          <a:ln w="12700">
            <a:solidFill>
              <a:srgbClr val="1B3B6F"/>
            </a:solidFill>
            <a:prstDash val="solid"/>
          </a:ln>
        </p:spPr>
      </p:sp>
      <p:sp>
        <p:nvSpPr>
          <p:cNvPr id="37" name="Text 3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38" name="Text 3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old is Maryam?</a:t>
            </a:r>
            <a:endParaRPr lang="en-US" sz="1250" dirty="0"/>
          </a:p>
        </p:txBody>
      </p:sp>
      <p:sp>
        <p:nvSpPr>
          <p:cNvPr id="39" name="Shape 36"/>
          <p:cNvSpPr/>
          <p:nvPr/>
        </p:nvSpPr>
        <p:spPr>
          <a:xfrm>
            <a:off x="8278368" y="25328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1" name="Text 38"/>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١٤</a:t>
            </a:r>
            <a:endParaRPr lang="ar-SA" sz="2050" dirty="0"/>
          </a:p>
        </p:txBody>
      </p:sp>
      <p:sp>
        <p:nvSpPr>
          <p:cNvPr id="42" name="Shape 39"/>
          <p:cNvSpPr/>
          <p:nvPr/>
        </p:nvSpPr>
        <p:spPr>
          <a:xfrm>
            <a:off x="8278368" y="2990088"/>
            <a:ext cx="256032" cy="256032"/>
          </a:xfrm>
          <a:prstGeom prst="ellipse">
            <a:avLst/>
          </a:prstGeom>
          <a:solidFill>
            <a:srgbClr val="F4F1EA"/>
          </a:solidFill>
          <a:ln w="12700">
            <a:solidFill>
              <a:srgbClr val="F4F1EA"/>
            </a:solidFill>
            <a:prstDash val="solid"/>
          </a:ln>
        </p:spPr>
      </p:sp>
      <p:sp>
        <p:nvSpPr>
          <p:cNvPr id="43" name="Text 40"/>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4" name="Text 41"/>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١٣</a:t>
            </a:r>
            <a:endParaRPr lang="ar-SA" sz="2050" dirty="0"/>
          </a:p>
        </p:txBody>
      </p:sp>
      <p:sp>
        <p:nvSpPr>
          <p:cNvPr id="45" name="Shape 42"/>
          <p:cNvSpPr/>
          <p:nvPr/>
        </p:nvSpPr>
        <p:spPr>
          <a:xfrm>
            <a:off x="8278368" y="34472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7" name="Text 44"/>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١٥</a:t>
            </a:r>
            <a:endParaRPr lang="ar-SA" sz="2050" dirty="0"/>
          </a:p>
        </p:txBody>
      </p:sp>
      <p:sp>
        <p:nvSpPr>
          <p:cNvPr id="48" name="Shape 45"/>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585216" y="4288536"/>
            <a:ext cx="310896" cy="310896"/>
          </a:xfrm>
          <a:prstGeom prst="ellipse">
            <a:avLst/>
          </a:prstGeom>
          <a:solidFill>
            <a:srgbClr val="1B3B6F"/>
          </a:solidFill>
          <a:ln w="12700">
            <a:solidFill>
              <a:srgbClr val="1B3B6F"/>
            </a:solidFill>
            <a:prstDash val="solid"/>
          </a:ln>
        </p:spPr>
      </p:sp>
      <p:sp>
        <p:nvSpPr>
          <p:cNvPr id="50" name="Text 47"/>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1" name="Text 48"/>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old is Adam?</a:t>
            </a:r>
            <a:endParaRPr lang="en-US" sz="1250" dirty="0"/>
          </a:p>
        </p:txBody>
      </p:sp>
      <p:sp>
        <p:nvSpPr>
          <p:cNvPr id="52" name="Shape 49"/>
          <p:cNvSpPr/>
          <p:nvPr/>
        </p:nvSpPr>
        <p:spPr>
          <a:xfrm>
            <a:off x="640080" y="4873752"/>
            <a:ext cx="256032" cy="256032"/>
          </a:xfrm>
          <a:prstGeom prst="ellipse">
            <a:avLst/>
          </a:prstGeom>
          <a:solidFill>
            <a:srgbClr val="F4F1EA"/>
          </a:solidFill>
          <a:ln w="12700">
            <a:solidFill>
              <a:srgbClr val="F4F1EA"/>
            </a:solidFill>
            <a:prstDash val="solid"/>
          </a:ln>
        </p:spPr>
      </p:sp>
      <p:sp>
        <p:nvSpPr>
          <p:cNvPr id="53" name="Text 50"/>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4" name="Text 51"/>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١٤</a:t>
            </a:r>
            <a:endParaRPr lang="ar-SA" sz="2050" dirty="0"/>
          </a:p>
        </p:txBody>
      </p:sp>
      <p:sp>
        <p:nvSpPr>
          <p:cNvPr id="55" name="Shape 52"/>
          <p:cNvSpPr/>
          <p:nvPr/>
        </p:nvSpPr>
        <p:spPr>
          <a:xfrm>
            <a:off x="640080" y="5330952"/>
            <a:ext cx="256032" cy="256032"/>
          </a:xfrm>
          <a:prstGeom prst="ellipse">
            <a:avLst/>
          </a:prstGeom>
          <a:solidFill>
            <a:srgbClr val="F4F1EA"/>
          </a:solidFill>
          <a:ln w="12700">
            <a:solidFill>
              <a:srgbClr val="F4F1EA"/>
            </a:solidFill>
            <a:prstDash val="solid"/>
          </a:ln>
        </p:spPr>
      </p:sp>
      <p:sp>
        <p:nvSpPr>
          <p:cNvPr id="56" name="Text 53"/>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7" name="Text 54"/>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١٥</a:t>
            </a:r>
            <a:endParaRPr lang="ar-SA" sz="2050" dirty="0"/>
          </a:p>
        </p:txBody>
      </p:sp>
      <p:sp>
        <p:nvSpPr>
          <p:cNvPr id="58" name="Shape 55"/>
          <p:cNvSpPr/>
          <p:nvPr/>
        </p:nvSpPr>
        <p:spPr>
          <a:xfrm>
            <a:off x="640080" y="57881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0" name="Text 57"/>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١٦</a:t>
            </a:r>
            <a:endParaRPr lang="ar-SA" sz="2050" dirty="0"/>
          </a:p>
        </p:txBody>
      </p:sp>
      <p:sp>
        <p:nvSpPr>
          <p:cNvPr id="61" name="Shape 58"/>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4404360"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64" name="Text 61"/>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Who is older?</a:t>
            </a:r>
            <a:endParaRPr lang="en-US" sz="1250" dirty="0"/>
          </a:p>
        </p:txBody>
      </p:sp>
      <p:sp>
        <p:nvSpPr>
          <p:cNvPr id="65" name="Shape 62"/>
          <p:cNvSpPr/>
          <p:nvPr/>
        </p:nvSpPr>
        <p:spPr>
          <a:xfrm>
            <a:off x="4459224" y="48737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7" name="Text 64"/>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200" dirty="0">
                <a:solidFill>
                  <a:srgbClr val="1F2A37"/>
                </a:solidFill>
                <a:latin typeface="Amiri" pitchFamily="34" charset="0"/>
                <a:ea typeface="Amiri" pitchFamily="34" charset="-122"/>
                <a:cs typeface="Amiri" pitchFamily="34" charset="-120"/>
              </a:rPr>
              <a:t>آدَم</a:t>
            </a:r>
            <a:endParaRPr lang="ar-SA" sz="2200" dirty="0"/>
          </a:p>
        </p:txBody>
      </p:sp>
      <p:sp>
        <p:nvSpPr>
          <p:cNvPr id="68" name="Shape 65"/>
          <p:cNvSpPr/>
          <p:nvPr/>
        </p:nvSpPr>
        <p:spPr>
          <a:xfrm>
            <a:off x="4459224" y="5330952"/>
            <a:ext cx="256032" cy="256032"/>
          </a:xfrm>
          <a:prstGeom prst="ellipse">
            <a:avLst/>
          </a:prstGeom>
          <a:solidFill>
            <a:srgbClr val="F4F1EA"/>
          </a:solidFill>
          <a:ln w="12700">
            <a:solidFill>
              <a:srgbClr val="F4F1EA"/>
            </a:solidFill>
            <a:prstDash val="solid"/>
          </a:ln>
        </p:spPr>
      </p:sp>
      <p:sp>
        <p:nvSpPr>
          <p:cNvPr id="69" name="Text 66"/>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0" name="Text 67"/>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200" dirty="0">
                <a:solidFill>
                  <a:srgbClr val="1F2A37"/>
                </a:solidFill>
                <a:latin typeface="Amiri" pitchFamily="34" charset="0"/>
                <a:ea typeface="Amiri" pitchFamily="34" charset="-122"/>
                <a:cs typeface="Amiri" pitchFamily="34" charset="-120"/>
              </a:rPr>
              <a:t>مَرْيَم</a:t>
            </a:r>
            <a:endParaRPr lang="ar-SA" sz="2200" dirty="0"/>
          </a:p>
        </p:txBody>
      </p:sp>
      <p:sp>
        <p:nvSpPr>
          <p:cNvPr id="71" name="Shape 68"/>
          <p:cNvSpPr/>
          <p:nvPr/>
        </p:nvSpPr>
        <p:spPr>
          <a:xfrm>
            <a:off x="4459224" y="57881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They are the same age</a:t>
            </a:r>
            <a:endParaRPr lang="en-US" sz="1250" dirty="0"/>
          </a:p>
        </p:txBody>
      </p:sp>
      <p:sp>
        <p:nvSpPr>
          <p:cNvPr id="74" name="Shape 71"/>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5" name="Text 72"/>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FIND THE EVIDENCE</a:t>
            </a:r>
            <a:endParaRPr lang="en-US" sz="1000" dirty="0"/>
          </a:p>
        </p:txBody>
      </p:sp>
      <p:sp>
        <p:nvSpPr>
          <p:cNvPr id="76" name="Text 73"/>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Answer, then point to the exact Arabic that proves it.</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Q5: compare the two ages.</a:t>
            </a:r>
            <a:endParaRPr lang="en-US" sz="12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26 / 36</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F2-L03 · Age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READING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1 · Lesson 3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Who speaks first?</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34" charset="0"/>
                <a:ea typeface="Amiri" pitchFamily="34" charset="-122"/>
                <a:cs typeface="Amiri" pitchFamily="34" charset="-120"/>
              </a:rPr>
              <a:t>آدَم</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مَرْيَم</a:t>
            </a:r>
            <a:endParaRPr lang="ar-SA" sz="2050" dirty="0"/>
          </a:p>
        </p:txBody>
      </p:sp>
      <p:sp>
        <p:nvSpPr>
          <p:cNvPr id="26" name="Text 23"/>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Adam opens with the greeting and first question.</a:t>
            </a:r>
            <a:endParaRPr lang="en-US" sz="1050" dirty="0"/>
          </a:p>
        </p:txBody>
      </p:sp>
      <p:sp>
        <p:nvSpPr>
          <p:cNvPr id="27" name="Shape 24"/>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404360" y="1947672"/>
            <a:ext cx="310896" cy="310896"/>
          </a:xfrm>
          <a:prstGeom prst="ellipse">
            <a:avLst/>
          </a:prstGeom>
          <a:solidFill>
            <a:srgbClr val="1B3B6F"/>
          </a:solidFill>
          <a:ln w="12700">
            <a:solidFill>
              <a:srgbClr val="1B3B6F"/>
            </a:solidFill>
            <a:prstDash val="solid"/>
          </a:ln>
        </p:spPr>
      </p:sp>
      <p:sp>
        <p:nvSpPr>
          <p:cNvPr id="29" name="Text 26"/>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0" name="Text 27"/>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Who is asked with the feminine ending -ki?</a:t>
            </a:r>
            <a:endParaRPr lang="en-US" sz="1250" dirty="0"/>
          </a:p>
        </p:txBody>
      </p:sp>
      <p:sp>
        <p:nvSpPr>
          <p:cNvPr id="31" name="Shape 28"/>
          <p:cNvSpPr/>
          <p:nvPr/>
        </p:nvSpPr>
        <p:spPr>
          <a:xfrm>
            <a:off x="4459224" y="2532888"/>
            <a:ext cx="256032" cy="256032"/>
          </a:xfrm>
          <a:prstGeom prst="ellipse">
            <a:avLst/>
          </a:prstGeom>
          <a:solidFill>
            <a:srgbClr val="C9CED6"/>
          </a:solidFill>
          <a:ln w="12700">
            <a:solidFill>
              <a:srgbClr val="C9CED6"/>
            </a:solidFill>
            <a:prstDash val="solid"/>
          </a:ln>
        </p:spPr>
      </p:sp>
      <p:sp>
        <p:nvSpPr>
          <p:cNvPr id="32" name="Text 29"/>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3" name="Text 30"/>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آدَم</a:t>
            </a:r>
            <a:endParaRPr lang="ar-SA" sz="2050" dirty="0"/>
          </a:p>
        </p:txBody>
      </p:sp>
      <p:sp>
        <p:nvSpPr>
          <p:cNvPr id="34" name="Shape 31"/>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990088"/>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34" charset="0"/>
                <a:ea typeface="Amiri" pitchFamily="34" charset="-122"/>
                <a:cs typeface="Amiri" pitchFamily="34" charset="-120"/>
              </a:rPr>
              <a:t>مَرْيَم</a:t>
            </a:r>
            <a:endParaRPr lang="ar-SA" sz="2050" dirty="0"/>
          </a:p>
        </p:txBody>
      </p:sp>
      <p:sp>
        <p:nvSpPr>
          <p:cNvPr id="38" name="Text 35"/>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Adam asks Maryam </a:t>
            </a:r>
            <a:pPr algn="l" indent="0" marL="0">
              <a:buNone/>
            </a:pPr>
            <a:r>
              <a:rPr lang="ar-SA" altLang="en-US" sz="1350" dirty="0">
                <a:solidFill>
                  <a:srgbClr val="8A6D1E"/>
                </a:solidFill>
                <a:latin typeface="Amiri" pitchFamily="34" charset="0"/>
                <a:ea typeface="Amiri" pitchFamily="34" charset="-122"/>
                <a:cs typeface="Amiri" pitchFamily="34" charset="-120"/>
              </a:rPr>
              <a:t>مَا اسْمُكِ؟</a:t>
            </a:r>
            <a:pPr algn="l" indent="0" marL="0">
              <a:buNone/>
            </a:pPr>
            <a:r>
              <a:rPr lang="en-US" sz="1050" i="1" dirty="0">
                <a:solidFill>
                  <a:srgbClr val="8A6D1E"/>
                </a:solidFill>
                <a:latin typeface="Calibri" pitchFamily="34" charset="0"/>
                <a:ea typeface="Calibri" pitchFamily="34" charset="-122"/>
                <a:cs typeface="Calibri" pitchFamily="34" charset="-120"/>
              </a:rPr>
              <a:t> and </a:t>
            </a:r>
            <a:pPr algn="l" indent="0" marL="0">
              <a:buNone/>
            </a:pPr>
            <a:r>
              <a:rPr lang="ar-SA" altLang="en-US" sz="1350" dirty="0">
                <a:solidFill>
                  <a:srgbClr val="8A6D1E"/>
                </a:solidFill>
                <a:latin typeface="Amiri" pitchFamily="34" charset="0"/>
                <a:ea typeface="Amiri" pitchFamily="34" charset="-122"/>
                <a:cs typeface="Amiri" pitchFamily="34" charset="-120"/>
              </a:rPr>
              <a:t>كَمْ عُمْرُكِ؟</a:t>
            </a:r>
            <a:endParaRPr lang="en-US" sz="1050" dirty="0"/>
          </a:p>
        </p:txBody>
      </p:sp>
      <p:sp>
        <p:nvSpPr>
          <p:cNvPr id="39" name="Shape 36"/>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23504" y="1947672"/>
            <a:ext cx="310896" cy="310896"/>
          </a:xfrm>
          <a:prstGeom prst="ellipse">
            <a:avLst/>
          </a:prstGeom>
          <a:solidFill>
            <a:srgbClr val="1B3B6F"/>
          </a:solidFill>
          <a:ln w="12700">
            <a:solidFill>
              <a:srgbClr val="1B3B6F"/>
            </a:solidFill>
            <a:prstDash val="solid"/>
          </a:ln>
        </p:spPr>
      </p:sp>
      <p:sp>
        <p:nvSpPr>
          <p:cNvPr id="41" name="Text 38"/>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2" name="Text 39"/>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old is Maryam?</a:t>
            </a:r>
            <a:endParaRPr lang="en-US" sz="1250" dirty="0"/>
          </a:p>
        </p:txBody>
      </p:sp>
      <p:sp>
        <p:nvSpPr>
          <p:cNvPr id="43" name="Shape 40"/>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44" name="Shape 41"/>
          <p:cNvSpPr/>
          <p:nvPr/>
        </p:nvSpPr>
        <p:spPr>
          <a:xfrm>
            <a:off x="8278368" y="2490216"/>
            <a:ext cx="256032" cy="256032"/>
          </a:xfrm>
          <a:prstGeom prst="ellipse">
            <a:avLst/>
          </a:prstGeom>
          <a:solidFill>
            <a:srgbClr val="2E8B57"/>
          </a:solidFill>
          <a:ln w="12700">
            <a:solidFill>
              <a:srgbClr val="2E8B57"/>
            </a:solidFill>
            <a:prstDash val="solid"/>
          </a:ln>
        </p:spPr>
      </p:sp>
      <p:sp>
        <p:nvSpPr>
          <p:cNvPr id="45" name="Text 42"/>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46" name="Text 43"/>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١٤</a:t>
            </a:r>
            <a:endParaRPr lang="ar-SA" sz="1700" dirty="0"/>
          </a:p>
        </p:txBody>
      </p:sp>
      <p:sp>
        <p:nvSpPr>
          <p:cNvPr id="47" name="Shape 44"/>
          <p:cNvSpPr/>
          <p:nvPr/>
        </p:nvSpPr>
        <p:spPr>
          <a:xfrm>
            <a:off x="8278368" y="2862072"/>
            <a:ext cx="256032" cy="256032"/>
          </a:xfrm>
          <a:prstGeom prst="ellipse">
            <a:avLst/>
          </a:prstGeom>
          <a:solidFill>
            <a:srgbClr val="C9CED6"/>
          </a:solidFill>
          <a:ln w="12700">
            <a:solidFill>
              <a:srgbClr val="C9CED6"/>
            </a:solidFill>
            <a:prstDash val="solid"/>
          </a:ln>
        </p:spPr>
      </p:sp>
      <p:sp>
        <p:nvSpPr>
          <p:cNvPr id="48" name="Text 45"/>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9" name="Text 46"/>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١٣</a:t>
            </a:r>
            <a:endParaRPr lang="ar-SA" sz="1700" dirty="0"/>
          </a:p>
        </p:txBody>
      </p:sp>
      <p:sp>
        <p:nvSpPr>
          <p:cNvPr id="50" name="Shape 47"/>
          <p:cNvSpPr/>
          <p:nvPr/>
        </p:nvSpPr>
        <p:spPr>
          <a:xfrm>
            <a:off x="8278368" y="3233928"/>
            <a:ext cx="256032" cy="256032"/>
          </a:xfrm>
          <a:prstGeom prst="ellipse">
            <a:avLst/>
          </a:prstGeom>
          <a:solidFill>
            <a:srgbClr val="C9CED6"/>
          </a:solidFill>
          <a:ln w="12700">
            <a:solidFill>
              <a:srgbClr val="C9CED6"/>
            </a:solidFill>
            <a:prstDash val="solid"/>
          </a:ln>
        </p:spPr>
      </p:sp>
      <p:sp>
        <p:nvSpPr>
          <p:cNvPr id="51" name="Text 48"/>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2" name="Text 49"/>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١٥</a:t>
            </a:r>
            <a:endParaRPr lang="ar-SA" sz="1700" dirty="0"/>
          </a:p>
        </p:txBody>
      </p:sp>
      <p:sp>
        <p:nvSpPr>
          <p:cNvPr id="53" name="Text 50"/>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She says </a:t>
            </a:r>
            <a:pPr algn="l" indent="0" marL="0">
              <a:buNone/>
            </a:pPr>
            <a:r>
              <a:rPr lang="ar-SA" altLang="en-US" sz="1350" dirty="0">
                <a:solidFill>
                  <a:srgbClr val="8A6D1E"/>
                </a:solidFill>
                <a:latin typeface="Amiri" pitchFamily="34" charset="0"/>
                <a:ea typeface="Amiri" pitchFamily="34" charset="-122"/>
                <a:cs typeface="Amiri" pitchFamily="34" charset="-120"/>
              </a:rPr>
              <a:t>أَرْبَعَ عَشْرَةَ</a:t>
            </a:r>
            <a:pPr algn="l" indent="0" marL="0">
              <a:buNone/>
            </a:pPr>
            <a:r>
              <a:rPr lang="en-US" sz="1050" i="1" dirty="0">
                <a:solidFill>
                  <a:srgbClr val="8A6D1E"/>
                </a:solidFill>
                <a:latin typeface="Calibri" pitchFamily="34" charset="0"/>
                <a:ea typeface="Calibri" pitchFamily="34" charset="-122"/>
                <a:cs typeface="Calibri" pitchFamily="34" charset="-120"/>
              </a:rPr>
              <a:t> — fourteen.</a:t>
            </a:r>
            <a:endParaRPr lang="en-US" sz="1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old is Adam?</a:t>
            </a:r>
            <a:endParaRPr lang="en-US" sz="1250" dirty="0"/>
          </a:p>
        </p:txBody>
      </p:sp>
      <p:sp>
        <p:nvSpPr>
          <p:cNvPr id="58" name="Shape 55"/>
          <p:cNvSpPr/>
          <p:nvPr/>
        </p:nvSpPr>
        <p:spPr>
          <a:xfrm>
            <a:off x="640080" y="4831080"/>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١٤</a:t>
            </a:r>
            <a:endParaRPr lang="ar-SA" sz="1700" dirty="0"/>
          </a:p>
        </p:txBody>
      </p:sp>
      <p:sp>
        <p:nvSpPr>
          <p:cNvPr id="61" name="Shape 58"/>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2" name="Shape 59"/>
          <p:cNvSpPr/>
          <p:nvPr/>
        </p:nvSpPr>
        <p:spPr>
          <a:xfrm>
            <a:off x="640080" y="5202936"/>
            <a:ext cx="256032" cy="256032"/>
          </a:xfrm>
          <a:prstGeom prst="ellipse">
            <a:avLst/>
          </a:prstGeom>
          <a:solidFill>
            <a:srgbClr val="2E8B57"/>
          </a:solidFill>
          <a:ln w="12700">
            <a:solidFill>
              <a:srgbClr val="2E8B57"/>
            </a:solidFill>
            <a:prstDash val="solid"/>
          </a:ln>
        </p:spPr>
      </p:sp>
      <p:sp>
        <p:nvSpPr>
          <p:cNvPr id="63" name="Text 60"/>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64" name="Text 61"/>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١٥</a:t>
            </a:r>
            <a:endParaRPr lang="ar-SA" sz="1700" dirty="0"/>
          </a:p>
        </p:txBody>
      </p:sp>
      <p:sp>
        <p:nvSpPr>
          <p:cNvPr id="65" name="Shape 62"/>
          <p:cNvSpPr/>
          <p:nvPr/>
        </p:nvSpPr>
        <p:spPr>
          <a:xfrm>
            <a:off x="640080" y="5574792"/>
            <a:ext cx="256032" cy="256032"/>
          </a:xfrm>
          <a:prstGeom prst="ellipse">
            <a:avLst/>
          </a:prstGeom>
          <a:solidFill>
            <a:srgbClr val="C9CED6"/>
          </a:solidFill>
          <a:ln w="12700">
            <a:solidFill>
              <a:srgbClr val="C9CED6"/>
            </a:solidFill>
            <a:prstDash val="solid"/>
          </a:ln>
        </p:spPr>
      </p:sp>
      <p:sp>
        <p:nvSpPr>
          <p:cNvPr id="66" name="Text 63"/>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7" name="Text 64"/>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١٦</a:t>
            </a:r>
            <a:endParaRPr lang="ar-SA" sz="1700" dirty="0"/>
          </a:p>
        </p:txBody>
      </p:sp>
      <p:sp>
        <p:nvSpPr>
          <p:cNvPr id="68" name="Text 65"/>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He says </a:t>
            </a:r>
            <a:pPr algn="l" indent="0" marL="0">
              <a:buNone/>
            </a:pPr>
            <a:r>
              <a:rPr lang="ar-SA" altLang="en-US" sz="1350" dirty="0">
                <a:solidFill>
                  <a:srgbClr val="8A6D1E"/>
                </a:solidFill>
                <a:latin typeface="Amiri" pitchFamily="34" charset="0"/>
                <a:ea typeface="Amiri" pitchFamily="34" charset="-122"/>
                <a:cs typeface="Amiri" pitchFamily="34" charset="-120"/>
              </a:rPr>
              <a:t>خَمْسَ عَشْرَةَ</a:t>
            </a:r>
            <a:pPr algn="l" indent="0" marL="0">
              <a:buNone/>
            </a:pPr>
            <a:r>
              <a:rPr lang="en-US" sz="1050" i="1" dirty="0">
                <a:solidFill>
                  <a:srgbClr val="8A6D1E"/>
                </a:solidFill>
                <a:latin typeface="Calibri" pitchFamily="34" charset="0"/>
                <a:ea typeface="Calibri" pitchFamily="34" charset="-122"/>
                <a:cs typeface="Calibri" pitchFamily="34" charset="-120"/>
              </a:rPr>
              <a:t> — fifteen.</a:t>
            </a:r>
            <a:endParaRPr lang="en-US" sz="10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Who is older?</a:t>
            </a:r>
            <a:endParaRPr lang="en-US" sz="1250" dirty="0"/>
          </a:p>
        </p:txBody>
      </p:sp>
      <p:sp>
        <p:nvSpPr>
          <p:cNvPr id="73" name="Shape 70"/>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74" name="Shape 71"/>
          <p:cNvSpPr/>
          <p:nvPr/>
        </p:nvSpPr>
        <p:spPr>
          <a:xfrm>
            <a:off x="4459224" y="4831080"/>
            <a:ext cx="256032" cy="256032"/>
          </a:xfrm>
          <a:prstGeom prst="ellipse">
            <a:avLst/>
          </a:prstGeom>
          <a:solidFill>
            <a:srgbClr val="2E8B57"/>
          </a:solidFill>
          <a:ln w="12700">
            <a:solidFill>
              <a:srgbClr val="2E8B57"/>
            </a:solidFill>
            <a:prstDash val="solid"/>
          </a:ln>
        </p:spPr>
      </p:sp>
      <p:sp>
        <p:nvSpPr>
          <p:cNvPr id="75" name="Text 72"/>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76" name="Text 73"/>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2200" b="1" dirty="0">
                <a:solidFill>
                  <a:srgbClr val="1F2A37"/>
                </a:solidFill>
                <a:latin typeface="Amiri" pitchFamily="34" charset="0"/>
                <a:ea typeface="Amiri" pitchFamily="34" charset="-122"/>
                <a:cs typeface="Amiri" pitchFamily="34" charset="-120"/>
              </a:rPr>
              <a:t>آدَم</a:t>
            </a:r>
            <a:endParaRPr lang="ar-SA" sz="2200" dirty="0"/>
          </a:p>
        </p:txBody>
      </p:sp>
      <p:sp>
        <p:nvSpPr>
          <p:cNvPr id="77" name="Shape 74"/>
          <p:cNvSpPr/>
          <p:nvPr/>
        </p:nvSpPr>
        <p:spPr>
          <a:xfrm>
            <a:off x="4459224" y="5202936"/>
            <a:ext cx="256032" cy="256032"/>
          </a:xfrm>
          <a:prstGeom prst="ellipse">
            <a:avLst/>
          </a:prstGeom>
          <a:solidFill>
            <a:srgbClr val="C9CED6"/>
          </a:solidFill>
          <a:ln w="12700">
            <a:solidFill>
              <a:srgbClr val="C9CED6"/>
            </a:solidFill>
            <a:prstDash val="solid"/>
          </a:ln>
        </p:spPr>
      </p:sp>
      <p:sp>
        <p:nvSpPr>
          <p:cNvPr id="78" name="Text 75"/>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9" name="Text 76"/>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2200" dirty="0">
                <a:solidFill>
                  <a:srgbClr val="9AA1AB"/>
                </a:solidFill>
                <a:latin typeface="Amiri" pitchFamily="34" charset="0"/>
                <a:ea typeface="Amiri" pitchFamily="34" charset="-122"/>
                <a:cs typeface="Amiri" pitchFamily="34" charset="-120"/>
              </a:rPr>
              <a:t>مَرْيَم</a:t>
            </a:r>
            <a:endParaRPr lang="ar-SA" sz="2200" dirty="0"/>
          </a:p>
        </p:txBody>
      </p:sp>
      <p:sp>
        <p:nvSpPr>
          <p:cNvPr id="80" name="Shape 77"/>
          <p:cNvSpPr/>
          <p:nvPr/>
        </p:nvSpPr>
        <p:spPr>
          <a:xfrm>
            <a:off x="4459224" y="5574792"/>
            <a:ext cx="256032" cy="256032"/>
          </a:xfrm>
          <a:prstGeom prst="ellipse">
            <a:avLst/>
          </a:prstGeom>
          <a:solidFill>
            <a:srgbClr val="C9CED6"/>
          </a:solidFill>
          <a:ln w="12700">
            <a:solidFill>
              <a:srgbClr val="C9CED6"/>
            </a:solidFill>
            <a:prstDash val="solid"/>
          </a:ln>
        </p:spPr>
      </p:sp>
      <p:sp>
        <p:nvSpPr>
          <p:cNvPr id="81" name="Text 78"/>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2" name="Text 79"/>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They are the same age</a:t>
            </a:r>
            <a:endParaRPr lang="en-US" sz="1250" dirty="0"/>
          </a:p>
        </p:txBody>
      </p:sp>
      <p:sp>
        <p:nvSpPr>
          <p:cNvPr id="83" name="Text 80"/>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Adam is 15 and Maryam is 14.</a:t>
            </a:r>
            <a:endParaRPr lang="en-US" sz="1050" dirty="0"/>
          </a:p>
        </p:txBody>
      </p:sp>
      <p:sp>
        <p:nvSpPr>
          <p:cNvPr id="84" name="Shape 81"/>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5" name="Text 82"/>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FIND THE EVIDENCE</a:t>
            </a:r>
            <a:endParaRPr lang="en-US" sz="1000" dirty="0"/>
          </a:p>
        </p:txBody>
      </p:sp>
      <p:sp>
        <p:nvSpPr>
          <p:cNvPr id="86" name="Text 83"/>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Answer, then point to the exact Arabic that proves it.</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Q5: compare the two ages.</a:t>
            </a:r>
            <a:endParaRPr lang="en-US" sz="1250" dirty="0"/>
          </a:p>
        </p:txBody>
      </p:sp>
      <p:sp>
        <p:nvSpPr>
          <p:cNvPr id="87" name="Text 8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27 / 36</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F2-L03 · Age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Exchange names and ages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1 · Lesson 3 of 3</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Think</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Rehearse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Pairs share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Build / ask</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Summarise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كَمْ عُمْرُكَ؟</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مَا اسْمُكِ؟ كَمْ عُمْرُكِ؟</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مَا اسْمُكَ؟ كَمْ عُمْرُكَ؟</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كَمْ عُمْرُ أَخِيكَ أَوْ أُخْتِكَ؟</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34" charset="0"/>
                <a:ea typeface="Amiri" pitchFamily="34" charset="-122"/>
                <a:cs typeface="Amiri" pitchFamily="34" charset="-120"/>
              </a:rPr>
              <a:t>عُمْرِي ___ سَنَةً.</a:t>
            </a:r>
            <a:endParaRPr lang="ar-SA" sz="16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اِسْمِي ___ . عُمْرِي ___ سَنَةً. وَأَنْتَ؟</a:t>
            </a:r>
            <a:endParaRPr lang="ar-SA" sz="1600" dirty="0"/>
          </a:p>
        </p:txBody>
      </p:sp>
      <p:sp>
        <p:nvSpPr>
          <p:cNvPr id="54" name="Shape 51"/>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عُمْرُ أَخِي ___ سَنَوَاتٍ.</a:t>
            </a:r>
            <a:endParaRPr lang="ar-SA" sz="1600" dirty="0"/>
          </a:p>
        </p:txBody>
      </p:sp>
      <p:sp>
        <p:nvSpPr>
          <p:cNvPr id="57" name="Shape 54"/>
          <p:cNvSpPr/>
          <p:nvPr/>
        </p:nvSpPr>
        <p:spPr>
          <a:xfrm>
            <a:off x="640080" y="4681728"/>
            <a:ext cx="1051560" cy="256032"/>
          </a:xfrm>
          <a:prstGeom prst="roundRect">
            <a:avLst>
              <a:gd name="adj" fmla="val 50000"/>
            </a:avLst>
          </a:prstGeom>
          <a:solidFill>
            <a:srgbClr val="1B3B6F"/>
          </a:solidFill>
          <a:ln w="12700">
            <a:solidFill>
              <a:srgbClr val="1B3B6F"/>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 SUM UP</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عُمْرُهُ / عُمْرُهَا ___ سَنَةً.</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ea typeface="Calibri" pitchFamily="34" charset="-122"/>
                <a:cs typeface="Calibri" pitchFamily="34" charset="-120"/>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34" charset="0"/>
                <a:ea typeface="Amiri" pitchFamily="34" charset="-122"/>
                <a:cs typeface="Amiri" pitchFamily="34" charset="-120"/>
              </a:rPr>
              <a:t>مَرْحَبًا. مَا اسْمُكِ؟</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ea typeface="Calibri" pitchFamily="34" charset="-122"/>
                <a:cs typeface="Calibri" pitchFamily="34" charset="-120"/>
              </a:rPr>
              <a:t>Hello. What is your name? (to a girl)</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34" charset="0"/>
                <a:ea typeface="Amiri" pitchFamily="34" charset="-122"/>
                <a:cs typeface="Amiri" pitchFamily="34" charset="-120"/>
              </a:rPr>
              <a:t>اِسْمِي زَيْنَب. وَأَنْتَ؟</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ea typeface="Calibri" pitchFamily="34" charset="-122"/>
                <a:cs typeface="Calibri" pitchFamily="34" charset="-120"/>
              </a:rPr>
              <a:t>My name is Zaynab. And you?</a:t>
            </a:r>
            <a:endParaRPr lang="en-US" sz="9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28 / 36</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F2-L03 · Age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1 · Lesson 3 of 3</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34" charset="0"/>
                <a:ea typeface="Amiri" pitchFamily="34" charset="-122"/>
                <a:cs typeface="Amiri" pitchFamily="34" charset="-120"/>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150" b="1" dirty="0">
                <a:solidFill>
                  <a:srgbClr val="2E8B57"/>
                </a:solidFill>
                <a:latin typeface="Cambria" pitchFamily="34" charset="0"/>
                <a:ea typeface="Cambria" pitchFamily="34" charset="-122"/>
                <a:cs typeface="Cambria" pitchFamily="34" charset="-120"/>
              </a:rPr>
              <a:t>age line + 2 questions</a:t>
            </a:r>
            <a:endParaRPr lang="en-US" sz="215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Write your own age line and the two age questions (to a boy, to a girl).</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My age line (whole chunk), then the question to a boy and to a girl.</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34" charset="0"/>
                <a:ea typeface="Amiri" pitchFamily="34" charset="-122"/>
                <a:cs typeface="Amiri" pitchFamily="34" charset="-120"/>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ea typeface="Cambria" pitchFamily="34" charset="-122"/>
                <a:cs typeface="Cambria" pitchFamily="34" charset="-120"/>
              </a:rPr>
              <a:t>4 lines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Write a four-line name-and-age exchange.</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Name → name back → age → age back, with the right endings.</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ea typeface="Cambria" pitchFamily="34" charset="-122"/>
                <a:cs typeface="Cambria" pitchFamily="34" charset="-120"/>
              </a:rPr>
              <a:t>4 lines + 1</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Add a younger person (a brother or sister, age 3–10) with </a:t>
            </a:r>
            <a:pPr algn="l" indent="0" marL="0">
              <a:buNone/>
            </a:pPr>
            <a:r>
              <a:rPr lang="ar-SA" altLang="en-US" sz="1800" b="1" dirty="0">
                <a:solidFill>
                  <a:srgbClr val="1F2A37"/>
                </a:solidFill>
                <a:latin typeface="Amiri" pitchFamily="34" charset="0"/>
                <a:ea typeface="Amiri" pitchFamily="34" charset="-122"/>
                <a:cs typeface="Amiri" pitchFamily="34" charset="-120"/>
              </a:rPr>
              <a:t>سَنَوَاتٍ</a:t>
            </a:r>
            <a:pPr algn="l" indent="0" marL="0">
              <a:buNone/>
            </a:pPr>
            <a:r>
              <a:rPr lang="en-US" sz="1400" b="1" dirty="0">
                <a:solidFill>
                  <a:srgbClr val="1F2A37"/>
                </a:solidFill>
                <a:latin typeface="Calibri" pitchFamily="34" charset="0"/>
                <a:ea typeface="Calibri" pitchFamily="34" charset="-122"/>
                <a:cs typeface="Calibri" pitchFamily="34" charset="-120"/>
              </a:rPr>
              <a:t>.</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Add a younger brother or sister (3–10) with the plural “years”.</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29 / 36</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F2-L03 · Age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1 · Lesson 3 of 3</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مَا اسْمُـ 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What is your name?</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اِسْمِي ______ . وَ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My name is … And you?</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اِسْمِي ______ . كَمْ عُمْرُ 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My name is … How old are you?</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عُمْرِي ______ سَنَةً.</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 am … years old.</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عُمْرُ أُخْتِي ______ سَنَوَاتٍ.</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My sister is … years old. (3–10)</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عُمْرِي ______ سَنَةً.</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 am … years old.</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كَمْ ______ ؟</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How old are you? (to a boy)</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كَمْ ______ ؟</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How old are you? (to a girl)</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وَ ______ ؟</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And you? (to a boy)</a:t>
            </a:r>
            <a:endParaRPr lang="en-US" sz="1050" dirty="0"/>
          </a:p>
        </p:txBody>
      </p:sp>
      <p:sp>
        <p:nvSpPr>
          <p:cNvPr id="39" name="Shape 36"/>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ea typeface="Calibri" pitchFamily="34" charset="-122"/>
                <a:cs typeface="Calibri" pitchFamily="34" charset="-120"/>
              </a:rPr>
              <a:t>WORD BANK</a:t>
            </a:r>
            <a:endParaRPr lang="en-US" sz="950" dirty="0"/>
          </a:p>
        </p:txBody>
      </p:sp>
      <p:sp>
        <p:nvSpPr>
          <p:cNvPr id="41" name="Text 38"/>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عُمْرِي  ·  عُمْرُكَ  ·  عُمْرُكِ  ·  سَنَةً  ·  سَنَوَاتٍ  ·  اِثْنَتَا عَشْرَةَ  ·  ثَلَاثَ عَشْرَةَ  ·  أَرْبَعَ عَشْرَةَ  ·  خَمْسَ عَشْرَةَ  ·  أَنْتَ  ·  أَنْتِ</a:t>
            </a:r>
            <a:endParaRPr lang="ar-SA" sz="16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30 / 36</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F2-L03 · Age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1 · Lesson 3 of 3</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34" charset="0"/>
                <a:ea typeface="Amiri" pitchFamily="34" charset="-122"/>
                <a:cs typeface="Amiri" pitchFamily="34" charset="-120"/>
              </a:rPr>
              <a:t>مَرْحَبًا.</a:t>
            </a:r>
            <a:endParaRPr lang="ar-SA" sz="2600" dirty="0"/>
          </a:p>
          <a:p>
            <a:pPr rtl="1" algn="r" indent="0" marL="0">
              <a:lnSpc>
                <a:spcPct val="120000"/>
              </a:lnSpc>
              <a:buNone/>
            </a:pPr>
            <a:r>
              <a:rPr lang="ar-SA" altLang="en-US" sz="2600" dirty="0">
                <a:solidFill>
                  <a:srgbClr val="1F2A37"/>
                </a:solidFill>
                <a:latin typeface="Amiri" pitchFamily="34" charset="0"/>
                <a:ea typeface="Amiri" pitchFamily="34" charset="-122"/>
                <a:cs typeface="Amiri" pitchFamily="34" charset="-120"/>
              </a:rPr>
              <a:t>مَا اسْمُكِ؟</a:t>
            </a:r>
            <a:endParaRPr lang="ar-SA" sz="2600" dirty="0"/>
          </a:p>
          <a:p>
            <a:pPr rtl="1" algn="r" indent="0" marL="0">
              <a:lnSpc>
                <a:spcPct val="120000"/>
              </a:lnSpc>
              <a:buNone/>
            </a:pPr>
            <a:r>
              <a:rPr lang="ar-SA" altLang="en-US" sz="2600" dirty="0">
                <a:solidFill>
                  <a:srgbClr val="1F2A37"/>
                </a:solidFill>
                <a:latin typeface="Amiri" pitchFamily="34" charset="0"/>
                <a:ea typeface="Amiri" pitchFamily="34" charset="-122"/>
                <a:cs typeface="Amiri" pitchFamily="34" charset="-120"/>
              </a:rPr>
              <a:t>اِسْمِي مَرْيَم. كَمْ عُمْرُكَ؟</a:t>
            </a:r>
            <a:endParaRPr lang="ar-SA" sz="2600" dirty="0"/>
          </a:p>
          <a:p>
            <a:pPr rtl="1" algn="r" indent="0" marL="0">
              <a:lnSpc>
                <a:spcPct val="120000"/>
              </a:lnSpc>
              <a:buNone/>
            </a:pPr>
            <a:r>
              <a:rPr lang="ar-SA" altLang="en-US" sz="2600" dirty="0">
                <a:solidFill>
                  <a:srgbClr val="1F2A37"/>
                </a:solidFill>
                <a:latin typeface="Amiri" pitchFamily="34" charset="0"/>
                <a:ea typeface="Amiri" pitchFamily="34" charset="-122"/>
                <a:cs typeface="Amiri" pitchFamily="34" charset="-120"/>
              </a:rPr>
              <a:t>عُمْرِي خَمْسَ عَشْرَةَ سَنَةً.</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ea typeface="Calibri" pitchFamily="34" charset="-122"/>
                <a:cs typeface="Calibri" pitchFamily="34" charset="-120"/>
              </a:rPr>
              <a:t>Hello. — What is your name? (to a girl) — My name is Maryam. How old are you? (to a boy) — I am fifteen years old.</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ea typeface="Calibri" pitchFamily="34" charset="-122"/>
                <a:cs typeface="Calibri" pitchFamily="34" charset="-120"/>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 greeting</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the -ka age question</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عُمْرِي</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sanatan after 15</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31 / 36</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F2-L03 · Age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1 · Lesson 3 of 3</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used </a:t>
            </a:r>
            <a:pPr algn="l" indent="0" marL="0">
              <a:buNone/>
            </a:pPr>
            <a:r>
              <a:rPr lang="ar-SA" altLang="en-US" sz="1700" dirty="0">
                <a:solidFill>
                  <a:srgbClr val="1F2A37"/>
                </a:solidFill>
                <a:latin typeface="Amiri" pitchFamily="34" charset="0"/>
                <a:ea typeface="Amiri" pitchFamily="34" charset="-122"/>
                <a:cs typeface="Amiri" pitchFamily="34" charset="-120"/>
              </a:rPr>
              <a:t>عُمْرِي</a:t>
            </a:r>
            <a:pPr algn="l" indent="0" marL="0">
              <a:buNone/>
            </a:pPr>
            <a:r>
              <a:rPr lang="en-US" sz="1300" dirty="0">
                <a:solidFill>
                  <a:srgbClr val="1F2A37"/>
                </a:solidFill>
                <a:latin typeface="Calibri" pitchFamily="34" charset="0"/>
                <a:ea typeface="Calibri" pitchFamily="34" charset="-122"/>
                <a:cs typeface="Calibri" pitchFamily="34" charset="-120"/>
              </a:rPr>
              <a:t> before the number.</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My question matches the listener: -ka or -ki.</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used sanatan after an age from 11–20.</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Each question ends with the Arabic question mark </a:t>
            </a:r>
            <a:pPr algn="l" indent="0" marL="0">
              <a:buNone/>
            </a:pPr>
            <a:r>
              <a:rPr lang="ar-SA" altLang="en-US" sz="1700" dirty="0">
                <a:solidFill>
                  <a:srgbClr val="1F2A37"/>
                </a:solidFill>
                <a:latin typeface="Amiri" pitchFamily="34" charset="0"/>
                <a:ea typeface="Amiri" pitchFamily="34" charset="-122"/>
                <a:cs typeface="Amiri" pitchFamily="34" charset="-120"/>
              </a:rPr>
              <a:t>؟</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used the plural “years” for an age from 3–10.</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ea typeface="Calibri" pitchFamily="34" charset="-122"/>
                <a:cs typeface="Calibri" pitchFamily="34" charset="-120"/>
              </a:rPr>
              <a:t>WWW</a:t>
            </a:r>
            <a:endParaRPr lang="en-US" sz="1800" dirty="0"/>
          </a:p>
          <a:p>
            <a:pPr indent="0" marL="0">
              <a:buNone/>
            </a:pPr>
            <a:r>
              <a:rPr lang="en-US" sz="1200" dirty="0">
                <a:solidFill>
                  <a:srgbClr val="1F2A37"/>
                </a:solidFill>
                <a:latin typeface="Calibri" pitchFamily="34" charset="0"/>
                <a:ea typeface="Calibri" pitchFamily="34" charset="-122"/>
                <a:cs typeface="Calibri" pitchFamily="34" charset="-120"/>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ea typeface="Calibri" pitchFamily="34" charset="-122"/>
                <a:cs typeface="Calibri" pitchFamily="34" charset="-120"/>
              </a:rPr>
              <a:t>EBI</a:t>
            </a:r>
            <a:endParaRPr lang="en-US" sz="1800" dirty="0"/>
          </a:p>
          <a:p>
            <a:pPr indent="0" marL="0">
              <a:buNone/>
            </a:pPr>
            <a:r>
              <a:rPr lang="en-US" sz="1200" dirty="0">
                <a:solidFill>
                  <a:srgbClr val="1F2A37"/>
                </a:solidFill>
                <a:latin typeface="Calibri" pitchFamily="34" charset="0"/>
                <a:ea typeface="Calibri" pitchFamily="34" charset="-122"/>
                <a:cs typeface="Calibri" pitchFamily="34" charset="-120"/>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32 / 36</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F2-L03 · Age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1 · Lesson 3 of 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Ask one girl her age.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كَمْ عُمْرُكِ؟</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كَمْ عُمْرُكَ؟</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مَا اسْمُكِ؟</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phrase means ‘my age’?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عُمْرُكَ</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عُمْرِي</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عُمْرُكِ</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Read:</a:t>
            </a:r>
            <a:endParaRPr lang="en-US" sz="1200" dirty="0"/>
          </a:p>
        </p:txBody>
      </p:sp>
      <p:sp>
        <p:nvSpPr>
          <p:cNvPr id="45" name="Text 42"/>
          <p:cNvSpPr txBox="1"/>
          <p:nvPr/>
        </p:nvSpPr>
        <p:spPr>
          <a:xfrm>
            <a:off x="10044989" y="1883664"/>
            <a:ext cx="1577035" cy="475488"/>
          </a:xfrm>
          <a:prstGeom prst="rect">
            <a:avLst/>
          </a:prstGeom>
          <a:noFill/>
          <a:ln/>
        </p:spPr>
        <p:txBody>
          <a:bodyPr wrap="square" lIns="0" tIns="0" rIns="0" bIns="0" rtlCol="0" anchor="ctr"/>
          <a:lstStyle/>
          <a:p>
            <a:pPr algn="l" indent="0" marL="0">
              <a:buNone/>
            </a:pPr>
            <a:r>
              <a:rPr lang="ar-SA" altLang="en-US" sz="1450" b="1" dirty="0">
                <a:solidFill>
                  <a:srgbClr val="1B3B6F"/>
                </a:solidFill>
                <a:latin typeface="Amiri" pitchFamily="34" charset="0"/>
                <a:ea typeface="Amiri" pitchFamily="34" charset="-122"/>
                <a:cs typeface="Amiri" pitchFamily="34" charset="-120"/>
              </a:rPr>
              <a:t>عُمْرِي خَمْسَ عَشْرَةَ سَنَةً</a:t>
            </a:r>
            <a:pPr algn="l" indent="0" marL="0">
              <a:buNone/>
            </a:pPr>
            <a:r>
              <a:rPr lang="en-US" sz="1100" b="1" dirty="0">
                <a:solidFill>
                  <a:srgbClr val="1B3B6F"/>
                </a:solidFill>
                <a:latin typeface="Calibri" pitchFamily="34" charset="0"/>
                <a:ea typeface="Calibri" pitchFamily="34" charset="-122"/>
                <a:cs typeface="Calibri" pitchFamily="34" charset="-120"/>
              </a:rPr>
              <a:t>. What is the age?</a:t>
            </a:r>
            <a:endParaRPr lang="en-US" sz="1100" dirty="0"/>
          </a:p>
        </p:txBody>
      </p:sp>
      <p:sp>
        <p:nvSpPr>
          <p:cNvPr id="46" name="Shape 43"/>
          <p:cNvSpPr/>
          <p:nvPr/>
        </p:nvSpPr>
        <p:spPr>
          <a:xfrm>
            <a:off x="8278368" y="2532888"/>
            <a:ext cx="256032" cy="256032"/>
          </a:xfrm>
          <a:prstGeom prst="ellipse">
            <a:avLst/>
          </a:prstGeom>
          <a:solidFill>
            <a:srgbClr val="F4F1EA"/>
          </a:solidFill>
          <a:ln w="12700">
            <a:solidFill>
              <a:srgbClr val="F4F1EA"/>
            </a:solidFill>
            <a:prstDash val="solid"/>
          </a:ln>
        </p:spPr>
      </p:sp>
      <p:sp>
        <p:nvSpPr>
          <p:cNvPr id="47" name="Text 44"/>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8" name="Text 45"/>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١٥</a:t>
            </a:r>
            <a:endParaRPr lang="ar-SA" sz="2050" dirty="0"/>
          </a:p>
        </p:txBody>
      </p:sp>
      <p:sp>
        <p:nvSpPr>
          <p:cNvPr id="49" name="Shape 46"/>
          <p:cNvSpPr/>
          <p:nvPr/>
        </p:nvSpPr>
        <p:spPr>
          <a:xfrm>
            <a:off x="8278368" y="2990088"/>
            <a:ext cx="256032" cy="256032"/>
          </a:xfrm>
          <a:prstGeom prst="ellipse">
            <a:avLst/>
          </a:prstGeom>
          <a:solidFill>
            <a:srgbClr val="F4F1EA"/>
          </a:solidFill>
          <a:ln w="12700">
            <a:solidFill>
              <a:srgbClr val="F4F1EA"/>
            </a:solidFill>
            <a:prstDash val="solid"/>
          </a:ln>
        </p:spPr>
      </p:sp>
      <p:sp>
        <p:nvSpPr>
          <p:cNvPr id="50" name="Text 47"/>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1" name="Text 48"/>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١٤</a:t>
            </a:r>
            <a:endParaRPr lang="ar-SA" sz="2050" dirty="0"/>
          </a:p>
        </p:txBody>
      </p:sp>
      <p:sp>
        <p:nvSpPr>
          <p:cNvPr id="52" name="Shape 49"/>
          <p:cNvSpPr/>
          <p:nvPr/>
        </p:nvSpPr>
        <p:spPr>
          <a:xfrm>
            <a:off x="8278368" y="3447288"/>
            <a:ext cx="256032" cy="256032"/>
          </a:xfrm>
          <a:prstGeom prst="ellipse">
            <a:avLst/>
          </a:prstGeom>
          <a:solidFill>
            <a:srgbClr val="F4F1EA"/>
          </a:solidFill>
          <a:ln w="12700">
            <a:solidFill>
              <a:srgbClr val="F4F1EA"/>
            </a:solidFill>
            <a:prstDash val="solid"/>
          </a:ln>
        </p:spPr>
      </p:sp>
      <p:sp>
        <p:nvSpPr>
          <p:cNvPr id="53" name="Text 50"/>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4" name="Text 51"/>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١٦</a:t>
            </a:r>
            <a:endParaRPr lang="ar-SA" sz="2050" dirty="0"/>
          </a:p>
        </p:txBody>
      </p:sp>
      <p:sp>
        <p:nvSpPr>
          <p:cNvPr id="55" name="Shape 52"/>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ea typeface="Calibri" pitchFamily="34" charset="-122"/>
                <a:cs typeface="Calibri" pitchFamily="34" charset="-120"/>
              </a:rPr>
              <a:t>ON YOUR OWN · 2 MINUTES</a:t>
            </a:r>
            <a:endParaRPr lang="en-US" sz="1200" dirty="0"/>
          </a:p>
        </p:txBody>
      </p:sp>
      <p:sp>
        <p:nvSpPr>
          <p:cNvPr id="57" name="Text 54"/>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Answer silently. When the timer ends, type your three letters in the chat: 1_ 2_ 3_. The other end-of-lesson questions are on the website.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33 / 36</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F2-L03 · Age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1 · Lesson 3 of 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Ask one girl her age.</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34" charset="0"/>
                <a:ea typeface="Amiri" pitchFamily="34" charset="-122"/>
                <a:cs typeface="Amiri" pitchFamily="34" charset="-120"/>
              </a:rPr>
              <a:t>كَمْ عُمْرُكِ؟</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كَمْ عُمْرُكَ؟</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مَا اسْمُكِ؟</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-ki addresses one girl.</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phrase means ‘my age’?</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عُمْرُكَ</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34" charset="0"/>
                <a:ea typeface="Amiri" pitchFamily="34" charset="-122"/>
                <a:cs typeface="Amiri" pitchFamily="34" charset="-120"/>
              </a:rPr>
              <a:t>عُمْرِي</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عُمْرُكِ</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ending -ī means ‘my’.</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Read:</a:t>
            </a:r>
            <a:endParaRPr lang="en-US" sz="1200" dirty="0"/>
          </a:p>
        </p:txBody>
      </p:sp>
      <p:sp>
        <p:nvSpPr>
          <p:cNvPr id="49" name="Text 46"/>
          <p:cNvSpPr txBox="1"/>
          <p:nvPr/>
        </p:nvSpPr>
        <p:spPr>
          <a:xfrm>
            <a:off x="10044989" y="1883664"/>
            <a:ext cx="1577035" cy="475488"/>
          </a:xfrm>
          <a:prstGeom prst="rect">
            <a:avLst/>
          </a:prstGeom>
          <a:noFill/>
          <a:ln/>
        </p:spPr>
        <p:txBody>
          <a:bodyPr wrap="square" lIns="0" tIns="0" rIns="0" bIns="0" rtlCol="0" anchor="ctr"/>
          <a:lstStyle/>
          <a:p>
            <a:pPr algn="l" indent="0" marL="0">
              <a:buNone/>
            </a:pPr>
            <a:r>
              <a:rPr lang="ar-SA" altLang="en-US" sz="1450" b="1" dirty="0">
                <a:solidFill>
                  <a:srgbClr val="1B3B6F"/>
                </a:solidFill>
                <a:latin typeface="Amiri" pitchFamily="34" charset="0"/>
                <a:ea typeface="Amiri" pitchFamily="34" charset="-122"/>
                <a:cs typeface="Amiri" pitchFamily="34" charset="-120"/>
              </a:rPr>
              <a:t>عُمْرِي خَمْسَ عَشْرَةَ سَنَةً</a:t>
            </a:r>
            <a:pPr algn="l" indent="0" marL="0">
              <a:buNone/>
            </a:pPr>
            <a:r>
              <a:rPr lang="en-US" sz="1100" b="1" dirty="0">
                <a:solidFill>
                  <a:srgbClr val="1B3B6F"/>
                </a:solidFill>
                <a:latin typeface="Calibri" pitchFamily="34" charset="0"/>
                <a:ea typeface="Calibri" pitchFamily="34" charset="-122"/>
                <a:cs typeface="Calibri" pitchFamily="34" charset="-120"/>
              </a:rPr>
              <a:t>. What is the age?</a:t>
            </a:r>
            <a:endParaRPr lang="en-US" sz="1100" dirty="0"/>
          </a:p>
        </p:txBody>
      </p:sp>
      <p:sp>
        <p:nvSpPr>
          <p:cNvPr id="50" name="Shape 47"/>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1" name="Shape 48"/>
          <p:cNvSpPr/>
          <p:nvPr/>
        </p:nvSpPr>
        <p:spPr>
          <a:xfrm>
            <a:off x="8278368" y="2532888"/>
            <a:ext cx="256032" cy="256032"/>
          </a:xfrm>
          <a:prstGeom prst="ellipse">
            <a:avLst/>
          </a:prstGeom>
          <a:solidFill>
            <a:srgbClr val="2E8B57"/>
          </a:solidFill>
          <a:ln w="12700">
            <a:solidFill>
              <a:srgbClr val="2E8B57"/>
            </a:solidFill>
            <a:prstDash val="solid"/>
          </a:ln>
        </p:spPr>
      </p:sp>
      <p:sp>
        <p:nvSpPr>
          <p:cNvPr id="52" name="Text 49"/>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53" name="Text 50"/>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34" charset="0"/>
                <a:ea typeface="Amiri" pitchFamily="34" charset="-122"/>
                <a:cs typeface="Amiri" pitchFamily="34" charset="-120"/>
              </a:rPr>
              <a:t>١٥</a:t>
            </a:r>
            <a:endParaRPr lang="ar-SA" sz="2050" dirty="0"/>
          </a:p>
        </p:txBody>
      </p:sp>
      <p:sp>
        <p:nvSpPr>
          <p:cNvPr id="54" name="Shape 51"/>
          <p:cNvSpPr/>
          <p:nvPr/>
        </p:nvSpPr>
        <p:spPr>
          <a:xfrm>
            <a:off x="8278368" y="2990088"/>
            <a:ext cx="256032" cy="256032"/>
          </a:xfrm>
          <a:prstGeom prst="ellipse">
            <a:avLst/>
          </a:prstGeom>
          <a:solidFill>
            <a:srgbClr val="C9CED6"/>
          </a:solidFill>
          <a:ln w="12700">
            <a:solidFill>
              <a:srgbClr val="C9CED6"/>
            </a:solidFill>
            <a:prstDash val="solid"/>
          </a:ln>
        </p:spPr>
      </p:sp>
      <p:sp>
        <p:nvSpPr>
          <p:cNvPr id="55" name="Text 52"/>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6" name="Text 53"/>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١٤</a:t>
            </a:r>
            <a:endParaRPr lang="ar-SA" sz="2050" dirty="0"/>
          </a:p>
        </p:txBody>
      </p:sp>
      <p:sp>
        <p:nvSpPr>
          <p:cNvPr id="57" name="Shape 54"/>
          <p:cNvSpPr/>
          <p:nvPr/>
        </p:nvSpPr>
        <p:spPr>
          <a:xfrm>
            <a:off x="8278368" y="3447288"/>
            <a:ext cx="256032" cy="256032"/>
          </a:xfrm>
          <a:prstGeom prst="ellipse">
            <a:avLst/>
          </a:prstGeom>
          <a:solidFill>
            <a:srgbClr val="C9CED6"/>
          </a:solidFill>
          <a:ln w="12700">
            <a:solidFill>
              <a:srgbClr val="C9CED6"/>
            </a:solidFill>
            <a:prstDash val="solid"/>
          </a:ln>
        </p:spPr>
      </p:sp>
      <p:sp>
        <p:nvSpPr>
          <p:cNvPr id="58" name="Text 55"/>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9" name="Text 56"/>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١٦</a:t>
            </a:r>
            <a:endParaRPr lang="ar-SA" sz="2050" dirty="0"/>
          </a:p>
        </p:txBody>
      </p:sp>
      <p:sp>
        <p:nvSpPr>
          <p:cNvPr id="60" name="Text 57"/>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خَمْسَ عَشْرَةَ</a:t>
            </a:r>
            <a:pPr algn="l" indent="0" marL="0">
              <a:buNone/>
            </a:pPr>
            <a:r>
              <a:rPr lang="en-US" sz="1050" i="1" dirty="0">
                <a:solidFill>
                  <a:srgbClr val="8A6D1E"/>
                </a:solidFill>
                <a:latin typeface="Calibri" pitchFamily="34" charset="0"/>
                <a:ea typeface="Calibri" pitchFamily="34" charset="-122"/>
                <a:cs typeface="Calibri" pitchFamily="34" charset="-120"/>
              </a:rPr>
              <a:t> means fifteen.</a:t>
            </a:r>
            <a:endParaRPr lang="en-US" sz="1050" dirty="0"/>
          </a:p>
        </p:txBody>
      </p:sp>
      <p:sp>
        <p:nvSpPr>
          <p:cNvPr id="61" name="Shape 58"/>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2" name="Text 59"/>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ea typeface="Calibri" pitchFamily="34" charset="-122"/>
                <a:cs typeface="Calibri" pitchFamily="34" charset="-120"/>
              </a:rPr>
              <a:t>SCORE</a:t>
            </a:r>
            <a:endParaRPr lang="en-US" sz="1200" dirty="0"/>
          </a:p>
        </p:txBody>
      </p:sp>
      <p:sp>
        <p:nvSpPr>
          <p:cNvPr id="63" name="Text 60"/>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3/3 → aim for Stretch next lesson  ·  2/3 → Develop  ·  0–1 → Core route and a quick check-in during the next Do Now.</a:t>
            </a:r>
            <a:endParaRPr lang="en-US" sz="1250" dirty="0"/>
          </a:p>
        </p:txBody>
      </p:sp>
      <p:sp>
        <p:nvSpPr>
          <p:cNvPr id="64" name="Text 6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34 / 36</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F2-L03 · Age</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ea typeface="Calibri" pitchFamily="34" charset="-122"/>
                <a:cs typeface="Calibri" pitchFamily="34" charset="-120"/>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Before F2-L04: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1 · Lesson 3 of 3</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ea typeface="Calibri" pitchFamily="34" charset="-122"/>
                <a:cs typeface="Calibri" pitchFamily="34" charset="-120"/>
              </a:rPr>
              <a:t>LEARN THESE 5 WORDS</a:t>
            </a:r>
            <a:endParaRPr lang="en-US" sz="1100" dirty="0"/>
          </a:p>
          <a:p>
            <a:pPr indent="0" marL="0">
              <a:buNone/>
            </a:pPr>
            <a:r>
              <a:rPr lang="en-US" sz="1000" dirty="0">
                <a:solidFill>
                  <a:srgbClr val="5A6472"/>
                </a:solidFill>
                <a:latin typeface="Calibri" pitchFamily="34" charset="0"/>
                <a:ea typeface="Calibri" pitchFamily="34" charset="-122"/>
                <a:cs typeface="Calibri" pitchFamily="34" charset="-120"/>
              </a:rPr>
              <a:t>for F2-L04 · Nationality and Language</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جِنْسِيَّةٌ</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nationality</a:t>
            </a:r>
            <a:pPr indent="0" marL="0">
              <a:buNone/>
            </a:pP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لُغَةٌ</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language</a:t>
            </a:r>
            <a:pPr indent="0" marL="0">
              <a:buNone/>
            </a:pPr>
            <a:r>
              <a:rPr lang="en-US" sz="1000" i="1" dirty="0">
                <a:solidFill>
                  <a:srgbClr val="5A6472"/>
                </a:solidFill>
                <a:latin typeface="Calibri" pitchFamily="34" charset="0"/>
                <a:ea typeface="Calibri" pitchFamily="34" charset="-122"/>
                <a:cs typeface="Calibri" pitchFamily="34" charset="-120"/>
              </a:rPr>
              <a:t>  pl. لُغَاتٌ</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أَنَا مِصْرِيٌّ</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I am Egyptian. (m.)</a:t>
            </a:r>
            <a:pPr indent="0" marL="0">
              <a:buNone/>
            </a:pPr>
            <a:r>
              <a:rPr lang="en-US" sz="1000" i="1" dirty="0">
                <a:solidFill>
                  <a:srgbClr val="5A6472"/>
                </a:solidFill>
                <a:latin typeface="Calibri" pitchFamily="34" charset="0"/>
                <a:ea typeface="Calibri" pitchFamily="34" charset="-122"/>
                <a:cs typeface="Calibri" pitchFamily="34" charset="-120"/>
              </a:rPr>
              <a:t>  f. مِصْرِيَّةٌ</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بَرِيطَانِيٌّ</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British (m.)</a:t>
            </a:r>
            <a:pPr indent="0" marL="0">
              <a:buNone/>
            </a:pPr>
            <a:r>
              <a:rPr lang="en-US" sz="1000" i="1" dirty="0">
                <a:solidFill>
                  <a:srgbClr val="5A6472"/>
                </a:solidFill>
                <a:latin typeface="Calibri" pitchFamily="34" charset="0"/>
                <a:ea typeface="Calibri" pitchFamily="34" charset="-122"/>
                <a:cs typeface="Calibri" pitchFamily="34" charset="-120"/>
              </a:rPr>
              <a:t>  f. بَرِيطَانِيَّةٌ</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أَتَكَلَّمُ العَرَبِيَّةَ</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I speak Arabic.</a:t>
            </a:r>
            <a:pPr indent="0" marL="0">
              <a:buNone/>
            </a:pP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ea typeface="Calibri" pitchFamily="34" charset="-122"/>
                <a:cs typeface="Calibri" pitchFamily="34" charset="-120"/>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ea typeface="Calibri" pitchFamily="34" charset="-122"/>
                <a:cs typeface="Calibri" pitchFamily="34" charset="-120"/>
              </a:rPr>
              <a:t>Which languages do you speak at home? Write their names in English — we will learn them in Arabic.</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34" charset="0"/>
                <a:ea typeface="Amiri" pitchFamily="34" charset="-122"/>
                <a:cs typeface="Amiri" pitchFamily="34" charset="-120"/>
              </a:rPr>
              <a:t>أَتَكَلَّمُ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Website F2-L03: the Age-Card Mission and the picture game “How Old Are You?”.</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Write your age line and a four-line name-and-age exchange (type, draw or paper route).</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Add a younger family member with </a:t>
            </a:r>
            <a:pPr algn="l" indent="0" marL="0">
              <a:buNone/>
            </a:pPr>
            <a:r>
              <a:rPr lang="ar-SA" altLang="en-US" sz="1550" dirty="0">
                <a:solidFill>
                  <a:srgbClr val="1F2A37"/>
                </a:solidFill>
                <a:latin typeface="Amiri" pitchFamily="34" charset="0"/>
                <a:ea typeface="Amiri" pitchFamily="34" charset="-122"/>
                <a:cs typeface="Amiri" pitchFamily="34" charset="-120"/>
              </a:rPr>
              <a:t>سَنَوَاتٍ</a:t>
            </a:r>
            <a:pPr algn="l" indent="0" marL="0">
              <a:buNone/>
            </a:pPr>
            <a:r>
              <a:rPr lang="en-US" sz="1200" dirty="0">
                <a:solidFill>
                  <a:srgbClr val="1F2A37"/>
                </a:solidFill>
                <a:latin typeface="Calibri" pitchFamily="34" charset="0"/>
                <a:ea typeface="Calibri" pitchFamily="34" charset="-122"/>
                <a:cs typeface="Calibri" pitchFamily="34" charset="-120"/>
              </a:rPr>
              <a:t>, then the ten-question checkpoint (aim for 8/10).</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35 / 36</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ea typeface="Calibri" pitchFamily="34" charset="-122"/>
                <a:cs typeface="Calibri" pitchFamily="34" charset="-120"/>
              </a:rPr>
              <a:t>F2-L03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34" charset="0"/>
                <a:ea typeface="Amiri" pitchFamily="34" charset="-122"/>
                <a:cs typeface="Amiri" pitchFamily="34" charset="-120"/>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ea typeface="Calibri" pitchFamily="34" charset="-122"/>
                <a:cs typeface="Calibri" pitchFamily="34" charset="-120"/>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ea typeface="Calibri" pitchFamily="34" charset="-122"/>
                <a:cs typeface="Calibri" pitchFamily="34" charset="-120"/>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F2-L04 · Nationality and Language</a:t>
            </a:r>
            <a:endParaRPr lang="en-US" sz="28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34" charset="0"/>
                <a:ea typeface="Amiri" pitchFamily="34" charset="-122"/>
                <a:cs typeface="Amiri" pitchFamily="34" charset="-120"/>
              </a:rPr>
              <a:t>الجِنْسِيَّةُ وَاللُّغَةُ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Remember: learn 5 identity words + your home languages.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F2-L03 · How Old Are You?</dc:title>
  <dc:subject>PptxGenJS Presentation</dc:subject>
  <dc:creator>Al Madina Online School · Arabic Department</dc:creator>
  <cp:lastModifiedBy>Al Madina Online School · Arabic Department</cp:lastModifiedBy>
  <cp:revision>1</cp:revision>
  <dcterms:created xsi:type="dcterms:W3CDTF">2026-09-27T10:09:02Z</dcterms:created>
  <dcterms:modified xsi:type="dcterms:W3CDTF">2026-09-27T10:09:02Z</dcterms:modified>
</cp:coreProperties>
</file>