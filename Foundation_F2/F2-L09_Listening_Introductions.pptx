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10–18 Signals, routine, instruction words · 18–20 Quick check · 20–23 Clue lab · 23–30 Task A · 30–37 Task B · 37–44 Task C · 44–50 Retell (speak, then write) · 50–54 Feedback · 54–56 Preparation.
FLEX slides are optional. Use them if the class is moving quickly; otherwise the same activities are on the website for homework.
Content source: Miftah Arabic website, Pathways › Foundation › F2 Greetings &amp; Introductions › Lesson 9 (F2-L09). Website sections used: the six fact families, the eight-question signal check, the four-step listening routine, the complete listening reference table (questions, signals, ages, countries, cities, languages, interests, task words, strategy words), the instruction-word check (6), the ten-question clue and distractor lab, Task A (Karim, six multiple-choice questions), Task B (Leila, seven detail checks), Task C (three speakers, matching + six checks), the third-person retell with profile cards and the twelve-question listening checkpoint. The website visual game repeats the F2-L08 cards; three different cards are used here.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This lesson has NO new topic language: it trains LISTENING with everything from F2-L01 to L08. Audio on the website is “coming soon”, so the teacher reads every script (twice, natural pace, pausing between sentences on the second reading). All scripts are in the notes.
• Website listening rule: “Keep moving — missing one word does not mean you have missed the answer.” Teach the four-step routine explicitly and use it for every task.
• Core: Task A + Task C names; four-fact retell. Develop: all three tasks; six-fact retell. Stretch: note completion without options (Task B, answers hidden) and a two-speaker comparison with وَلَكِنْ.
• SEND / EAL: the read-along slides are shown ONLY after the second listening; allow a written grid instead of spoken answers.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Make the routine visible and predictable (SEND). Remind students that the scripts will be shown AFTER the listening to check and repair — never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are the website “eight-question signal check” (age, residence, her).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Every fact has a SIGNAL phrase in front of it. Hear the signal → get ready for the 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lesson aims and the website retell routes (Core / Develop / Stretch).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صحیح (correct — the SAME word), خطا (mistake), تفصیل (detail → التَّفَاصِيلُ), فکر (thought → الفِكْرَةُ الرَّئِيسِيَّةُ, the main idea), جواب (answer). Urdu speakers will find the Arabic task instructions surprisingly familiar.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SIGNAL TABLE (website “Keep the F2 listening vocabulary at hand”). Drill: teacher says ONLY the signal (“عُمْرِي …”) and pauses; students call out the fact family (“age!”).
Website distractor warnings: a country normally follows مِنْ, a city follows فِي; a nationality describes the person (مَغْرِبِيٌّ), it is NOT the country. Listen for the number immediately before سَنَةً.
Cities on the website: لَنْدَنُ · مَانْشِسْتَرُ · بِرْمِنْغَامُ · القَاهِرَةُ · دِمَشْقُ · بَيْرُوتُ · الرِّيَاضُ · بَارِيسُ · إِسْطَنْبُولُ · الرِّبَاطُ.</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FOUR-STEP ROUTINE (website section 2). Put this slide back on screen before each task (A, B, C). Website rule: “Keep moving. Missing one word does not mean you have missed the answer. The key fact may be repeated or signalled by a familiar phrase.”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INSTRUCTIONS (website “Listening task instructions” and “Listening strategy vocabulary”). Cards 1–2 show the command for a boy / girl / group — F2-L06 pattern (تَفَضَّلْ / تَفَضَّلِي).
Website strategy words (recognition): أَسْتَمِعُ I listen · يَسْتَمِعُ he listens · تَسْتَمِعُ she listens · أُرَكِّزُ I focus · السُّؤَالُ the question · الإِجَابَةُ the answer.
From today, give listening instructions in Arabic: اِسْتَمِعُوا … اِخْتَارُوا … مَرَّةً أُخْرَى.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“Listening instruction-word check” questions 1, 2, 3 and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 model the thinking for questions 1 and 3 aloud (“I hear مِنْ, so Egypt is the COUNTRY of origin…”); students do the rest. Website: “These short decisions train the exact contrasts that cause missed answers: country versus city, speaker versus another person, and one number versus a similar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for each, ask “Which word was the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Listening to Personal Introductions”)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(it repeats the F2-L08 card set; these are the three cards not used last lesson). Use it as a quick reading warm-up before the listening tasks: the SIGNAL words (اِسْمِي، عُمْرِي، أَنَا … وَأَتَكَلَّمُ، أَسْكُنُ فِي) are exactly what students will hear.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Listening to Personal Introductions”)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(it repeats the F2-L08 card set; these are the three cards not used last lesson). Use it as a quick reading warm-up before the listening tasks: the SIGNAL words (اِسْمِي، عُمْرِي، أَنَا … وَأَتَكَلَّمُ، أَسْكُنُ فِي) are exactly what students will hear.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5. Develop / Stretch: all 5. Website multiple-choice task.
Listen 1: just listen. Listen 2: note answers. Then chat the letters.
Support: after the second listening, show the read-along slide (Arabic + English, line by line) for Core students.
SCRIPT (read aloud):
مَرْحَبًا. اِسْمِي كَرِيمٌ، وَعُمْرِي ثَلَاثَ عَشْرَةَ سَنَةً. أَنَا مَغْرِبِيٌّ، وَأَنَا مِنَ المَغْرِبِ. أَسْكُنُ فِي لَنْدَنَ، وَأَتَكَلَّمُ العَرَبِيَّةَ وَالفَرَنْسِيَّةَ. أُحِبُّ كُرَةَ القَدَمِ. إِلَى اللِّقَاءِ.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B (website note completion, 5 of 7 detail checks). Website: “This time the answers are not all given as options. Record exact details.” Students first write a seven-line card (age · nationality · country · city · language spoken · language understood · favourite hobby), THEN answer.
Website listening instruction: first identify whether Leila gives one nationality or more than one; on the second listen, record age, city and languages.
SCRIPT (read aloud twice):
السَّلَامُ عَلَيْكُمْ. اِسْمِي لَيْلَى، وَعُمْرِي إِحْدَى عَشْرَةَ سَنَةً. أَنَا بَرِيطَانِيَّةٌ لُبْنَانِيَّةٌ. أَنَا مِنْ بَرِيطَانِيَا، وَأَسْكُنُ فِي مَانْشِسْتَرَ. أَتَكَلَّمُ الإِنْجِلِيزِيَّةَ، وَأَفْهَمُ العَرَبِيَّةَ أَيْضًا. هِوَايَتِي المُفَضَّلَةُ الرَّسْمُ.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 show ONLY after the second listening. Point out the trap: Leila SPEAKS English but UNDERSTANDS Arabic; she is from Britain (مِنْ) and lives in Manchester (فِي). Two nationalities side by side (بَرِيطَانِيَّةٌ لُبْنَانِيَّةٌ) — layered identity, as in F2-L04.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ask “What was the signal?” (عُمْرِي · أَنَا … · أَسْكُنُ فِي · أَفْهَمُ · هِوَايَتِي).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C (website matching, 5 of 6 detail checks). Three students speak in order. Website instruction: first hearing — record the three names; second hearing — add one age, country, city and language for each.
SCRIPT (read aloud twice, pausing between speakers):
المُتَحَدِّثُ الأَوَّلُ: اِسْمِي يُوسُفُ، وَعُمْرِي اِثْنَتَا عَشْرَةَ سَنَةً. أَنَا مِنْ مِصْرَ، وَأَسْكُنُ فِي بِرْمِنْغَامَ. أَتَكَلَّمُ العَرَبِيَّةَ وَالإِنْجِلِيزِيَّةَ.
المُتَحَدِّثَةُ الثَّانِيَةُ: اِسْمِي مَرْيَمُ، وَعُمْرِي أَرْبَعَ عَشْرَةَ سَنَةً. أَنَا مِنْ سُورِيَا، وَأَسْكُنُ فِي بَارِيسَ. أَتَكَلَّمُ العَرَبِيَّةَ وَالفَرَنْسِيَّةَ.
المُتَحَدِّثُ الثَّالِثُ: اِسْمِي بِلَالٌ، وَعُمْرِي خَمْسَ عَشْرَةَ سَنَةً. أَنَا مِنْ بَاكِسْتَانَ، وَأَسْكُنُ فِي لَنْدَنَ. أَتَكَلَّمُ الإِنْجِلِيزِيَّةَ وَالأُرْدِيَّةَ.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MATCHING MISSION (website “Match each name to its complete detail card”). Show AFTER the second listening: students compare with their three columns and correct in green pen. Then show the Arabic script on request (it is in the notes of the previous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Distractor discussion: Yusuf and Bilal BOTH speak English; Maryam and Yusuf BOTH speak Arabic — which extra detail separates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RETELL (section 8): “Listening becomes stronger when you can transform notes into a short spoken or written profile.”
Random retell cards (website): Karim (Age 13 · Moroccan · London · Arabic and French · football) · Leila (Age 11 · British-Lebanese · Manchester · English and Arabic · drawing) · Yusuf (Age 12 · Egyptian · Birmingham · Arabic and English) · Maryam (Age 14 · Syrian · Paris · Arabic and French) · Bilal (Age 15 · Pakistani · London · English and Urdu).
Routes (website): Core — choose one speaker, four facts (name, age, country, city) · Develop — six facts with هُوَ / هِيَ, اِسْمُهُ / اِسْمُهَا and two connectors · Stretch — compare two speakers with one contrast using وَلَكِنْ.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Choose one speaker. Four accurate facts: name, age, country and city. · Develop — Retell six facts using he / she and his / her forms, with two connectors. · Stretch — Compare two speakers: one complete sentence each and one contrast with وَلَكِنْ.
Website writing task (Stretch): Website retell task: write four to six sentences retelling one speaker’s information in the third person. Underline the six fact signals and read your profile aloud.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retell model (Karim). Ask: which facts from the ORIGINAL listening changed form? (اِسْمِي → اِسْمُهُ · أَسْكُنُ → يَعِيشُ · أَتَكَلَّمُ → يَتَكَلَّمُ).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12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(F2-L10 · Greetings and Identity in the Arab World) will spend class time USING this language, so students prepare it tonight — short, simple, easy to access (school guidance: “Simple, Short, Interesting, Relevant, Easy to access”). The five words are from the website F2-L10 core cultural vocabulary (the first ten words are the lesson’s required core).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F2  ·  F2-L09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F2-L09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100" b="1" dirty="0">
                <a:solidFill>
                  <a:srgbClr val="FFFFFF"/>
                </a:solidFill>
                <a:latin typeface="Cambria" pitchFamily="34" charset="0"/>
                <a:ea typeface="Cambria" pitchFamily="34" charset="-122"/>
                <a:cs typeface="Cambria" pitchFamily="34" charset="-120"/>
              </a:rPr>
              <a:t>Listening to Personal Introductions</a:t>
            </a:r>
            <a:endParaRPr lang="en-US" sz="31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الاِسْتِمَاعُ إِلَى التَّعْرِيفَاتِ الشَّخْصِيَّةِ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Train your ear to catch the facts that matter — name, age, country, city, language and interests — through multiple-choice, note-completion and matching tasks, then retell what you heard in the third person.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F2-L09 · Foundation F2 · Greetings &amp; Introductions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F2 › F2-L09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F2-L09 · Listening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F2-L09 · Listening</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listening lesson,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which fact follows which phrase?</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10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Signal phrases, the four-step routine, task words.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الإِشَارَاتُ</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Clue lab: how I avoid a trap.</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21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Three listening tasks: A, B and C.</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6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Retell one speaker: say it, then write it.</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Model, self-check and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F2-L10.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You will hear every text TWICE. First listen: who is speaking and which facts? Second listen: the exact details. Missing a word is normal — keep listening for the next signal.</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F2-L09 · Listening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اِسْتَمِعْ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Choose!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Listen!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Write!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صَحِيحٌ</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true, correct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false, wrong</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details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Which fact normally follows this?</a:t>
            </a:r>
            <a:endParaRPr lang="en-US" sz="1100" dirty="0"/>
          </a:p>
        </p:txBody>
      </p:sp>
      <p:sp>
        <p:nvSpPr>
          <p:cNvPr id="45" name="Text 42"/>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عُمْرِي؟</a:t>
            </a:r>
            <a:endParaRPr lang="ar-SA" sz="220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Nationality</a:t>
            </a:r>
            <a:endParaRPr lang="en-US" sz="12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Language</a:t>
            </a:r>
            <a:endParaRPr lang="en-US" sz="12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Age</a:t>
            </a:r>
            <a:endParaRPr lang="en-US" sz="12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Which fact normally follows this?</a:t>
            </a:r>
            <a:endParaRPr lang="en-US" sz="1100" dirty="0"/>
          </a:p>
        </p:txBody>
      </p:sp>
      <p:sp>
        <p:nvSpPr>
          <p:cNvPr id="59" name="Text 56"/>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أَسْكُنُ فِي</a:t>
            </a:r>
            <a:endParaRPr lang="ar-SA" sz="220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Country of origin</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Age</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City or place of residence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signals information about a girl or woman?</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عُمْرُهَا</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عُمْرُهُ</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عُمْرِي</a:t>
            </a:r>
            <a:endParaRPr lang="ar-SA" sz="2050" dirty="0"/>
          </a:p>
        </p:txBody>
      </p:sp>
      <p:sp>
        <p:nvSpPr>
          <p:cNvPr id="82" name="Shape 79"/>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4" name="Text 81"/>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5" name="Text 82"/>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6" name="Text 83"/>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F2-L09 · Listening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اِسْتَمِعْ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Choose!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Listen!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Write!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صَحِيحٌ</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true, correct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false, wrong</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details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Which fact normally follows this?</a:t>
            </a:r>
            <a:endParaRPr lang="en-US" sz="11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عُمْرِي؟</a:t>
            </a:r>
            <a:endParaRPr lang="ar-SA" sz="220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Nationality</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Language</a:t>
            </a:r>
            <a:endParaRPr lang="en-US" sz="125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Age</a:t>
            </a:r>
            <a:endParaRPr lang="en-US" sz="125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عُمْرِي</a:t>
            </a:r>
            <a:pPr algn="l" indent="0" marL="0">
              <a:buNone/>
            </a:pPr>
            <a:r>
              <a:rPr lang="en-US" sz="1050" i="1" dirty="0">
                <a:solidFill>
                  <a:srgbClr val="8A6D1E"/>
                </a:solidFill>
                <a:latin typeface="Calibri" pitchFamily="34" charset="0"/>
                <a:ea typeface="Calibri" pitchFamily="34" charset="-122"/>
                <a:cs typeface="Calibri" pitchFamily="34" charset="-120"/>
              </a:rPr>
              <a:t> introduces age, normally followed by a number and </a:t>
            </a:r>
            <a:pPr algn="l" indent="0" marL="0">
              <a:buNone/>
            </a:pPr>
            <a:r>
              <a:rPr lang="ar-SA" altLang="en-US" sz="1350" dirty="0">
                <a:solidFill>
                  <a:srgbClr val="8A6D1E"/>
                </a:solidFill>
                <a:latin typeface="Amiri" pitchFamily="34" charset="0"/>
                <a:ea typeface="Amiri" pitchFamily="34" charset="-122"/>
                <a:cs typeface="Amiri" pitchFamily="34" charset="-120"/>
              </a:rPr>
              <a:t>سَنَةً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Which fact normally follows this?</a:t>
            </a:r>
            <a:endParaRPr lang="en-US" sz="1100" dirty="0"/>
          </a:p>
        </p:txBody>
      </p:sp>
      <p:sp>
        <p:nvSpPr>
          <p:cNvPr id="65" name="Text 62"/>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أَسْكُنُ فِي</a:t>
            </a:r>
            <a:endParaRPr lang="ar-SA" sz="220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Country of origin</a:t>
            </a:r>
            <a:endParaRPr lang="en-US" sz="1250" dirty="0"/>
          </a:p>
        </p:txBody>
      </p:sp>
      <p:sp>
        <p:nvSpPr>
          <p:cNvPr id="69"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Age</a:t>
            </a:r>
            <a:endParaRPr lang="en-US" sz="1250" dirty="0"/>
          </a:p>
        </p:txBody>
      </p:sp>
      <p:sp>
        <p:nvSpPr>
          <p:cNvPr id="72"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City or place of residence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فِي</a:t>
            </a:r>
            <a:pPr algn="l" indent="0" marL="0">
              <a:buNone/>
            </a:pPr>
            <a:r>
              <a:rPr lang="en-US" sz="1050" i="1" dirty="0">
                <a:solidFill>
                  <a:srgbClr val="8A6D1E"/>
                </a:solidFill>
                <a:latin typeface="Calibri" pitchFamily="34" charset="0"/>
                <a:ea typeface="Calibri" pitchFamily="34" charset="-122"/>
                <a:cs typeface="Calibri" pitchFamily="34" charset="-120"/>
              </a:rPr>
              <a:t> introduces the place where someone lives.</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signals information about a girl or woman?</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عُمْرُهَا</a:t>
            </a:r>
            <a:endParaRPr lang="ar-SA" sz="170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عُمْرُهُ</a:t>
            </a:r>
            <a:endParaRPr lang="ar-SA" sz="170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عُمْرِي</a:t>
            </a:r>
            <a:endParaRPr lang="ar-SA" sz="170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ـهَا</a:t>
            </a:r>
            <a:pPr algn="l" indent="0" marL="0">
              <a:buNone/>
            </a:pPr>
            <a:r>
              <a:rPr lang="en-US" sz="1050" i="1" dirty="0">
                <a:solidFill>
                  <a:srgbClr val="8A6D1E"/>
                </a:solidFill>
                <a:latin typeface="Calibri" pitchFamily="34" charset="0"/>
                <a:ea typeface="Calibri" pitchFamily="34" charset="-122"/>
                <a:cs typeface="Calibri" pitchFamily="34" charset="-120"/>
              </a:rPr>
              <a:t> means her.</a:t>
            </a:r>
            <a:endParaRPr lang="en-US" sz="1050" dirty="0"/>
          </a:p>
        </p:txBody>
      </p:sp>
      <p:sp>
        <p:nvSpPr>
          <p:cNvPr id="92" name="Shape 89"/>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4" name="Text 91"/>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Every fact has a SIGNAL phrase in front of it. Hear the signal → get ready for the fact.</a:t>
            </a:r>
            <a:endParaRPr lang="en-US" sz="1300" dirty="0"/>
          </a:p>
        </p:txBody>
      </p:sp>
      <p:sp>
        <p:nvSpPr>
          <p:cNvPr id="95" name="Text 92"/>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عُمْرِي … · أَنَا مِنْ … · أَسْكُنُ فِي …</a:t>
            </a:r>
            <a:endParaRPr lang="ar-SA" sz="220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F2-L09 · Listening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Catch name, age, country, city, language and interests.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signal phrases to predict and find each fact.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Complete multiple-choice, note and matching tasks.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Retell what I heard in the third person.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catch four facts about one speaker.</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retell four facts with </a:t>
            </a:r>
            <a:pPr algn="l" indent="0" marL="0">
              <a:buNone/>
            </a:pPr>
            <a:r>
              <a:rPr lang="ar-SA" altLang="en-US" sz="1700" b="1" dirty="0">
                <a:solidFill>
                  <a:srgbClr val="2E8B57"/>
                </a:solidFill>
                <a:latin typeface="Amiri" pitchFamily="34" charset="0"/>
                <a:ea typeface="Amiri" pitchFamily="34" charset="-122"/>
                <a:cs typeface="Amiri" pitchFamily="34" charset="-120"/>
              </a:rPr>
              <a:t>هُوَ / هِيَ</a:t>
            </a:r>
            <a:pPr algn="l" indent="0" marL="0">
              <a:buNone/>
            </a:pPr>
            <a:r>
              <a:rPr lang="en-US" sz="1300" b="1" dirty="0">
                <a:solidFill>
                  <a:srgbClr val="2E8B57"/>
                </a:solidFill>
                <a:latin typeface="Calibri" pitchFamily="34" charset="0"/>
                <a:ea typeface="Calibri" pitchFamily="34" charset="-122"/>
                <a:cs typeface="Calibri" pitchFamily="34" charset="-120"/>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complete all three listening tasks.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retell six facts with two connectors.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complete notes without options.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compare two speakers with “but”.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No new topic vocabulary today — only listening SIGNALS, task instructions and strategy words from the website.</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Signal phrases · 6 fact families</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Task instructions · 6</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Strategy words · 4</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صَحِيحٌ</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‎صحیح‎ </a:t>
            </a:r>
            <a:pPr indent="0" marL="0">
              <a:buNone/>
            </a:pPr>
            <a:r>
              <a:rPr lang="en-US" sz="950" b="1" dirty="0">
                <a:solidFill>
                  <a:srgbClr val="2E8B57"/>
                </a:solidFill>
                <a:latin typeface="Calibri" pitchFamily="34" charset="0"/>
                <a:ea typeface="Calibri" pitchFamily="34" charset="-122"/>
                <a:cs typeface="Calibri" pitchFamily="34" charset="-120"/>
              </a:rPr>
              <a:t> sahīh · correct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خَطَأٌ</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‎خطا‎ </a:t>
            </a:r>
            <a:pPr indent="0" marL="0">
              <a:buNone/>
            </a:pPr>
            <a:r>
              <a:rPr lang="en-US" sz="950" b="1" dirty="0">
                <a:solidFill>
                  <a:srgbClr val="2E8B57"/>
                </a:solidFill>
                <a:latin typeface="Calibri" pitchFamily="34" charset="0"/>
                <a:ea typeface="Calibri" pitchFamily="34" charset="-122"/>
                <a:cs typeface="Calibri" pitchFamily="34" charset="-120"/>
              </a:rPr>
              <a:t> khatā · mistake, error</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تَفَاصِيلُ</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‎تفصیل‎ </a:t>
            </a:r>
            <a:pPr indent="0" marL="0">
              <a:buNone/>
            </a:pPr>
            <a:r>
              <a:rPr lang="en-US" sz="950" b="1" dirty="0">
                <a:solidFill>
                  <a:srgbClr val="2E8B57"/>
                </a:solidFill>
                <a:latin typeface="Calibri" pitchFamily="34" charset="0"/>
                <a:ea typeface="Calibri" pitchFamily="34" charset="-122"/>
                <a:cs typeface="Calibri" pitchFamily="34" charset="-120"/>
              </a:rPr>
              <a:t> tafsīl · detail</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فِكْرَةٌ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‎فکر‎ </a:t>
            </a:r>
            <a:pPr indent="0" marL="0">
              <a:buNone/>
            </a:pPr>
            <a:r>
              <a:rPr lang="en-US" sz="950" b="1" dirty="0">
                <a:solidFill>
                  <a:srgbClr val="2E8B57"/>
                </a:solidFill>
                <a:latin typeface="Calibri" pitchFamily="34" charset="0"/>
                <a:ea typeface="Calibri" pitchFamily="34" charset="-122"/>
                <a:cs typeface="Calibri" pitchFamily="34" charset="-120"/>
              </a:rPr>
              <a:t> fikr · thought, idea</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جَوَابٌ · إِجَابَةٌ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‎جواب‎ </a:t>
            </a:r>
            <a:pPr indent="0" marL="0">
              <a:buNone/>
            </a:pPr>
            <a:r>
              <a:rPr lang="en-US" sz="950" b="1" dirty="0">
                <a:solidFill>
                  <a:srgbClr val="2E8B57"/>
                </a:solidFill>
                <a:latin typeface="Calibri" pitchFamily="34" charset="0"/>
                <a:ea typeface="Calibri" pitchFamily="34" charset="-122"/>
                <a:cs typeface="Calibri" pitchFamily="34" charset="-120"/>
              </a:rPr>
              <a:t> jawāb · answer</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F2-L09 · Listening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KEY WORDS · GROUP 1 · THE LISTENING REFERENCE TABLE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Hear the signal, catch the fact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إِشَارَاتُ المَعْلُومَاتِ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87384"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Signal: I</a:t>
            </a:r>
            <a:endParaRPr lang="en-US" sz="1100" dirty="0"/>
          </a:p>
        </p:txBody>
      </p:sp>
      <p:sp>
        <p:nvSpPr>
          <p:cNvPr id="17" name="Text 14"/>
          <p:cNvSpPr txBox="1"/>
          <p:nvPr/>
        </p:nvSpPr>
        <p:spPr>
          <a:xfrm>
            <a:off x="4764024"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Signal: he / she</a:t>
            </a:r>
            <a:endParaRPr lang="en-US" sz="1100" dirty="0"/>
          </a:p>
        </p:txBody>
      </p:sp>
      <p:sp>
        <p:nvSpPr>
          <p:cNvPr id="18" name="Text 15"/>
          <p:cNvSpPr txBox="1"/>
          <p:nvPr/>
        </p:nvSpPr>
        <p:spPr>
          <a:xfrm>
            <a:off x="53035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 fact that follows</a:t>
            </a:r>
            <a:endParaRPr lang="en-US" sz="1100" dirty="0"/>
          </a:p>
        </p:txBody>
      </p:sp>
      <p:sp>
        <p:nvSpPr>
          <p:cNvPr id="19" name="Shape 16"/>
          <p:cNvSpPr/>
          <p:nvPr/>
        </p:nvSpPr>
        <p:spPr>
          <a:xfrm>
            <a:off x="457200" y="2267712"/>
            <a:ext cx="11274552" cy="627888"/>
          </a:xfrm>
          <a:prstGeom prst="roundRect">
            <a:avLst>
              <a:gd name="adj" fmla="val 7282"/>
            </a:avLst>
          </a:prstGeom>
          <a:solidFill>
            <a:srgbClr val="FFFFFF"/>
          </a:solidFill>
          <a:ln w="9525">
            <a:solidFill>
              <a:srgbClr val="D8D0BF"/>
            </a:solidFill>
            <a:prstDash val="solid"/>
          </a:ln>
        </p:spPr>
      </p:sp>
      <p:sp>
        <p:nvSpPr>
          <p:cNvPr id="20" name="Text 17"/>
          <p:cNvSpPr txBox="1"/>
          <p:nvPr/>
        </p:nvSpPr>
        <p:spPr>
          <a:xfrm>
            <a:off x="8805672" y="2267712"/>
            <a:ext cx="283464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اِسْمِي …</a:t>
            </a:r>
            <a:endParaRPr lang="ar-SA" sz="2200" dirty="0"/>
          </a:p>
        </p:txBody>
      </p:sp>
      <p:sp>
        <p:nvSpPr>
          <p:cNvPr id="21" name="Text 18"/>
          <p:cNvSpPr txBox="1"/>
          <p:nvPr/>
        </p:nvSpPr>
        <p:spPr>
          <a:xfrm>
            <a:off x="4782312" y="2267712"/>
            <a:ext cx="384048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اِسْمُهُ … / اِسْمُهَا …</a:t>
            </a:r>
            <a:endParaRPr lang="ar-SA" sz="2200" dirty="0"/>
          </a:p>
        </p:txBody>
      </p:sp>
      <p:sp>
        <p:nvSpPr>
          <p:cNvPr id="22" name="Text 19"/>
          <p:cNvSpPr txBox="1"/>
          <p:nvPr/>
        </p:nvSpPr>
        <p:spPr>
          <a:xfrm>
            <a:off x="566928" y="2267712"/>
            <a:ext cx="405079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a NAME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950464"/>
            <a:ext cx="11274552" cy="627888"/>
          </a:xfrm>
          <a:prstGeom prst="roundRect">
            <a:avLst>
              <a:gd name="adj" fmla="val 7282"/>
            </a:avLst>
          </a:prstGeom>
          <a:solidFill>
            <a:srgbClr val="F4F1EA"/>
          </a:solidFill>
          <a:ln w="9525">
            <a:solidFill>
              <a:srgbClr val="D8D0BF"/>
            </a:solidFill>
            <a:prstDash val="solid"/>
          </a:ln>
        </p:spPr>
      </p:sp>
      <p:sp>
        <p:nvSpPr>
          <p:cNvPr id="26" name="Text 23"/>
          <p:cNvSpPr txBox="1"/>
          <p:nvPr/>
        </p:nvSpPr>
        <p:spPr>
          <a:xfrm>
            <a:off x="8805672" y="2950464"/>
            <a:ext cx="283464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عُمْرِي … سَنَةً</a:t>
            </a:r>
            <a:endParaRPr lang="ar-SA" sz="2200" dirty="0"/>
          </a:p>
        </p:txBody>
      </p:sp>
      <p:sp>
        <p:nvSpPr>
          <p:cNvPr id="27" name="Text 24"/>
          <p:cNvSpPr txBox="1"/>
          <p:nvPr/>
        </p:nvSpPr>
        <p:spPr>
          <a:xfrm>
            <a:off x="4782312" y="2950464"/>
            <a:ext cx="384048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عُمْرُهُ … / عُمْرُهَا …</a:t>
            </a:r>
            <a:endParaRPr lang="ar-SA" sz="2200" dirty="0"/>
          </a:p>
        </p:txBody>
      </p:sp>
      <p:sp>
        <p:nvSpPr>
          <p:cNvPr id="28" name="Text 25"/>
          <p:cNvSpPr txBox="1"/>
          <p:nvPr/>
        </p:nvSpPr>
        <p:spPr>
          <a:xfrm>
            <a:off x="566928" y="2950464"/>
            <a:ext cx="405079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an AGE — the number just before </a:t>
            </a:r>
            <a:pPr algn="l" indent="0" marL="0">
              <a:buNone/>
            </a:pPr>
            <a:r>
              <a:rPr lang="ar-SA" altLang="en-US" sz="1450" dirty="0">
                <a:solidFill>
                  <a:srgbClr val="5A6472"/>
                </a:solidFill>
                <a:latin typeface="Amiri" pitchFamily="34" charset="0"/>
                <a:ea typeface="Amiri" pitchFamily="34" charset="-122"/>
                <a:cs typeface="Amiri" pitchFamily="34" charset="-120"/>
              </a:rPr>
              <a:t>سَنَةً</a:t>
            </a:r>
            <a:endParaRPr lang="en-US" sz="1100" dirty="0"/>
          </a:p>
        </p:txBody>
      </p:sp>
      <p:sp>
        <p:nvSpPr>
          <p:cNvPr id="29" name="Shape 26"/>
          <p:cNvSpPr/>
          <p:nvPr/>
        </p:nvSpPr>
        <p:spPr>
          <a:xfrm>
            <a:off x="11091672" y="299618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961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633216"/>
            <a:ext cx="11274552" cy="627888"/>
          </a:xfrm>
          <a:prstGeom prst="roundRect">
            <a:avLst>
              <a:gd name="adj" fmla="val 7282"/>
            </a:avLst>
          </a:prstGeom>
          <a:solidFill>
            <a:srgbClr val="FFFFFF"/>
          </a:solidFill>
          <a:ln w="9525">
            <a:solidFill>
              <a:srgbClr val="D8D0BF"/>
            </a:solidFill>
            <a:prstDash val="solid"/>
          </a:ln>
        </p:spPr>
      </p:sp>
      <p:sp>
        <p:nvSpPr>
          <p:cNvPr id="32" name="Text 29"/>
          <p:cNvSpPr txBox="1"/>
          <p:nvPr/>
        </p:nvSpPr>
        <p:spPr>
          <a:xfrm>
            <a:off x="8805672" y="3633216"/>
            <a:ext cx="283464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أَنَا مِنْ …</a:t>
            </a:r>
            <a:endParaRPr lang="ar-SA" sz="2200" dirty="0"/>
          </a:p>
        </p:txBody>
      </p:sp>
      <p:sp>
        <p:nvSpPr>
          <p:cNvPr id="33" name="Text 30"/>
          <p:cNvSpPr txBox="1"/>
          <p:nvPr/>
        </p:nvSpPr>
        <p:spPr>
          <a:xfrm>
            <a:off x="4782312" y="3633216"/>
            <a:ext cx="384048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هُوَ مِنْ … / هِيَ مِنْ …</a:t>
            </a:r>
            <a:endParaRPr lang="ar-SA" sz="2200" dirty="0"/>
          </a:p>
        </p:txBody>
      </p:sp>
      <p:sp>
        <p:nvSpPr>
          <p:cNvPr id="34" name="Text 31"/>
          <p:cNvSpPr txBox="1"/>
          <p:nvPr/>
        </p:nvSpPr>
        <p:spPr>
          <a:xfrm>
            <a:off x="566928" y="3633216"/>
            <a:ext cx="405079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a COUNTRY of origin</a:t>
            </a:r>
            <a:endParaRPr lang="en-US" sz="1100" dirty="0"/>
          </a:p>
        </p:txBody>
      </p:sp>
      <p:sp>
        <p:nvSpPr>
          <p:cNvPr id="35" name="Shape 32"/>
          <p:cNvSpPr/>
          <p:nvPr/>
        </p:nvSpPr>
        <p:spPr>
          <a:xfrm>
            <a:off x="11091672" y="367893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67893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315968"/>
            <a:ext cx="11274552" cy="627888"/>
          </a:xfrm>
          <a:prstGeom prst="roundRect">
            <a:avLst>
              <a:gd name="adj" fmla="val 7282"/>
            </a:avLst>
          </a:prstGeom>
          <a:solidFill>
            <a:srgbClr val="F4F1EA"/>
          </a:solidFill>
          <a:ln w="9525">
            <a:solidFill>
              <a:srgbClr val="D8D0BF"/>
            </a:solidFill>
            <a:prstDash val="solid"/>
          </a:ln>
        </p:spPr>
      </p:sp>
      <p:sp>
        <p:nvSpPr>
          <p:cNvPr id="38" name="Text 35"/>
          <p:cNvSpPr txBox="1"/>
          <p:nvPr/>
        </p:nvSpPr>
        <p:spPr>
          <a:xfrm>
            <a:off x="8805672" y="4315968"/>
            <a:ext cx="283464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أَسْكُنُ فِي …</a:t>
            </a:r>
            <a:endParaRPr lang="ar-SA" sz="2200" dirty="0"/>
          </a:p>
        </p:txBody>
      </p:sp>
      <p:sp>
        <p:nvSpPr>
          <p:cNvPr id="39" name="Text 36"/>
          <p:cNvSpPr txBox="1"/>
          <p:nvPr/>
        </p:nvSpPr>
        <p:spPr>
          <a:xfrm>
            <a:off x="4782312" y="4315968"/>
            <a:ext cx="384048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يَعِيشُ فِي … / تَعِيشُ فِي …</a:t>
            </a:r>
            <a:endParaRPr lang="ar-SA" sz="2200" dirty="0"/>
          </a:p>
        </p:txBody>
      </p:sp>
      <p:sp>
        <p:nvSpPr>
          <p:cNvPr id="40" name="Text 37"/>
          <p:cNvSpPr txBox="1"/>
          <p:nvPr/>
        </p:nvSpPr>
        <p:spPr>
          <a:xfrm>
            <a:off x="566928" y="4315968"/>
            <a:ext cx="405079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a CITY of residence</a:t>
            </a:r>
            <a:endParaRPr lang="en-US" sz="1100" dirty="0"/>
          </a:p>
        </p:txBody>
      </p:sp>
      <p:sp>
        <p:nvSpPr>
          <p:cNvPr id="41" name="Shape 38"/>
          <p:cNvSpPr/>
          <p:nvPr/>
        </p:nvSpPr>
        <p:spPr>
          <a:xfrm>
            <a:off x="11091672" y="436168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36168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Shape 40"/>
          <p:cNvSpPr/>
          <p:nvPr/>
        </p:nvSpPr>
        <p:spPr>
          <a:xfrm>
            <a:off x="457200" y="4998720"/>
            <a:ext cx="11274552" cy="627888"/>
          </a:xfrm>
          <a:prstGeom prst="roundRect">
            <a:avLst>
              <a:gd name="adj" fmla="val 7282"/>
            </a:avLst>
          </a:prstGeom>
          <a:solidFill>
            <a:srgbClr val="FFFFFF"/>
          </a:solidFill>
          <a:ln w="9525">
            <a:solidFill>
              <a:srgbClr val="D8D0BF"/>
            </a:solidFill>
            <a:prstDash val="solid"/>
          </a:ln>
        </p:spPr>
      </p:sp>
      <p:sp>
        <p:nvSpPr>
          <p:cNvPr id="44" name="Text 41"/>
          <p:cNvSpPr txBox="1"/>
          <p:nvPr/>
        </p:nvSpPr>
        <p:spPr>
          <a:xfrm>
            <a:off x="8805672" y="4998720"/>
            <a:ext cx="283464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أَتَكَلَّمُ … / أَفْهَمُ …</a:t>
            </a:r>
            <a:endParaRPr lang="ar-SA" sz="2200" dirty="0"/>
          </a:p>
        </p:txBody>
      </p:sp>
      <p:sp>
        <p:nvSpPr>
          <p:cNvPr id="45" name="Text 42"/>
          <p:cNvSpPr txBox="1"/>
          <p:nvPr/>
        </p:nvSpPr>
        <p:spPr>
          <a:xfrm>
            <a:off x="4782312" y="4998720"/>
            <a:ext cx="384048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يَتَكَلَّمُ … / تَتَكَلَّمُ …</a:t>
            </a:r>
            <a:endParaRPr lang="ar-SA" sz="2200" dirty="0"/>
          </a:p>
        </p:txBody>
      </p:sp>
      <p:sp>
        <p:nvSpPr>
          <p:cNvPr id="46" name="Text 43"/>
          <p:cNvSpPr txBox="1"/>
          <p:nvPr/>
        </p:nvSpPr>
        <p:spPr>
          <a:xfrm>
            <a:off x="566928" y="4998720"/>
            <a:ext cx="405079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a LANGUAGE</a:t>
            </a:r>
            <a:endParaRPr lang="en-US" sz="1100" dirty="0"/>
          </a:p>
        </p:txBody>
      </p:sp>
      <p:sp>
        <p:nvSpPr>
          <p:cNvPr id="47" name="Shape 44"/>
          <p:cNvSpPr/>
          <p:nvPr/>
        </p:nvSpPr>
        <p:spPr>
          <a:xfrm>
            <a:off x="457200" y="5681472"/>
            <a:ext cx="11274552" cy="627888"/>
          </a:xfrm>
          <a:prstGeom prst="roundRect">
            <a:avLst>
              <a:gd name="adj" fmla="val 7282"/>
            </a:avLst>
          </a:prstGeom>
          <a:solidFill>
            <a:srgbClr val="F4F1EA"/>
          </a:solidFill>
          <a:ln w="9525">
            <a:solidFill>
              <a:srgbClr val="D8D0BF"/>
            </a:solidFill>
            <a:prstDash val="solid"/>
          </a:ln>
        </p:spPr>
      </p:sp>
      <p:sp>
        <p:nvSpPr>
          <p:cNvPr id="48" name="Text 45"/>
          <p:cNvSpPr txBox="1"/>
          <p:nvPr/>
        </p:nvSpPr>
        <p:spPr>
          <a:xfrm>
            <a:off x="8805672" y="5681472"/>
            <a:ext cx="283464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أُحِبُّ … / هِوَايَتِي …</a:t>
            </a:r>
            <a:endParaRPr lang="ar-SA" sz="2200" dirty="0"/>
          </a:p>
        </p:txBody>
      </p:sp>
      <p:sp>
        <p:nvSpPr>
          <p:cNvPr id="49" name="Text 46"/>
          <p:cNvSpPr txBox="1"/>
          <p:nvPr/>
        </p:nvSpPr>
        <p:spPr>
          <a:xfrm>
            <a:off x="4782312" y="5681472"/>
            <a:ext cx="384048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يُحِبُّ … / تُحِبُّ …</a:t>
            </a:r>
            <a:endParaRPr lang="ar-SA" sz="2200" dirty="0"/>
          </a:p>
        </p:txBody>
      </p:sp>
      <p:sp>
        <p:nvSpPr>
          <p:cNvPr id="50" name="Text 47"/>
          <p:cNvSpPr txBox="1"/>
          <p:nvPr/>
        </p:nvSpPr>
        <p:spPr>
          <a:xfrm>
            <a:off x="566928" y="5681472"/>
            <a:ext cx="405079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an INTEREST</a:t>
            </a:r>
            <a:endParaRPr lang="en-US" sz="110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F2-L09 · Listening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FOUR-STEP LISTENING ROUTINE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listening steps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خُطُوَاتُ الاِسْتِمَاعِ الأَرْبَعُ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30184"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Step</a:t>
            </a:r>
            <a:endParaRPr lang="en-US" sz="1100" dirty="0"/>
          </a:p>
        </p:txBody>
      </p:sp>
      <p:sp>
        <p:nvSpPr>
          <p:cNvPr id="17" name="Text 14"/>
          <p:cNvSpPr txBox="1"/>
          <p:nvPr/>
        </p:nvSpPr>
        <p:spPr>
          <a:xfrm>
            <a:off x="2295144"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you do</a:t>
            </a:r>
            <a:endParaRPr lang="en-US" sz="1100" dirty="0"/>
          </a:p>
        </p:txBody>
      </p:sp>
      <p:sp>
        <p:nvSpPr>
          <p:cNvPr id="18" name="Text 15"/>
          <p:cNvSpPr txBox="1"/>
          <p:nvPr/>
        </p:nvSpPr>
        <p:spPr>
          <a:xfrm>
            <a:off x="530352" y="1810512"/>
            <a:ext cx="1618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When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348472" y="2286000"/>
            <a:ext cx="32918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١ · تَوَقَّعْ</a:t>
            </a:r>
            <a:endParaRPr lang="ar-SA" sz="2100" dirty="0"/>
          </a:p>
        </p:txBody>
      </p:sp>
      <p:sp>
        <p:nvSpPr>
          <p:cNvPr id="21" name="Text 18"/>
          <p:cNvSpPr txBox="1"/>
          <p:nvPr/>
        </p:nvSpPr>
        <p:spPr>
          <a:xfrm>
            <a:off x="8302752" y="2706624"/>
            <a:ext cx="33832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Predict</a:t>
            </a:r>
            <a:endParaRPr lang="en-US" sz="950" dirty="0"/>
          </a:p>
        </p:txBody>
      </p:sp>
      <p:sp>
        <p:nvSpPr>
          <p:cNvPr id="22" name="Text 19"/>
          <p:cNvSpPr txBox="1"/>
          <p:nvPr/>
        </p:nvSpPr>
        <p:spPr>
          <a:xfrm>
            <a:off x="2331720" y="2267712"/>
            <a:ext cx="5852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Read the question; name the category: name, age, country, city, language or hobby.</a:t>
            </a:r>
            <a:endParaRPr lang="en-US" sz="1100" dirty="0"/>
          </a:p>
        </p:txBody>
      </p:sp>
      <p:sp>
        <p:nvSpPr>
          <p:cNvPr id="23" name="Text 20"/>
          <p:cNvSpPr txBox="1"/>
          <p:nvPr/>
        </p:nvSpPr>
        <p:spPr>
          <a:xfrm>
            <a:off x="566928" y="2267712"/>
            <a:ext cx="1581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before</a:t>
            </a:r>
            <a:endParaRPr lang="en-US" sz="11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7" name="Text 24"/>
          <p:cNvSpPr txBox="1"/>
          <p:nvPr/>
        </p:nvSpPr>
        <p:spPr>
          <a:xfrm>
            <a:off x="8348472" y="3072384"/>
            <a:ext cx="32918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٢ · اِسْتَمِعْ لِلْفِكْرَةِ العَامَّةِ</a:t>
            </a:r>
            <a:endParaRPr lang="ar-SA" sz="2100" dirty="0"/>
          </a:p>
        </p:txBody>
      </p:sp>
      <p:sp>
        <p:nvSpPr>
          <p:cNvPr id="28" name="Text 25"/>
          <p:cNvSpPr txBox="1"/>
          <p:nvPr/>
        </p:nvSpPr>
        <p:spPr>
          <a:xfrm>
            <a:off x="8302752" y="3493008"/>
            <a:ext cx="33832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First listen: gist</a:t>
            </a:r>
            <a:endParaRPr lang="en-US" sz="950" dirty="0"/>
          </a:p>
        </p:txBody>
      </p:sp>
      <p:sp>
        <p:nvSpPr>
          <p:cNvPr id="29" name="Text 26"/>
          <p:cNvSpPr txBox="1"/>
          <p:nvPr/>
        </p:nvSpPr>
        <p:spPr>
          <a:xfrm>
            <a:off x="2331720" y="3054096"/>
            <a:ext cx="5852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Who is speaking? Which categories do you hear? Do not stop for one missed word.</a:t>
            </a:r>
            <a:endParaRPr lang="en-US" sz="1100" dirty="0"/>
          </a:p>
        </p:txBody>
      </p:sp>
      <p:sp>
        <p:nvSpPr>
          <p:cNvPr id="30" name="Text 27"/>
          <p:cNvSpPr txBox="1"/>
          <p:nvPr/>
        </p:nvSpPr>
        <p:spPr>
          <a:xfrm>
            <a:off x="566928" y="3054096"/>
            <a:ext cx="1581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listen 1</a:t>
            </a:r>
            <a:endParaRPr lang="en-US" sz="1100" dirty="0"/>
          </a:p>
        </p:txBody>
      </p:sp>
      <p:sp>
        <p:nvSpPr>
          <p:cNvPr id="31" name="Shape 28"/>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4" name="Text 31"/>
          <p:cNvSpPr txBox="1"/>
          <p:nvPr/>
        </p:nvSpPr>
        <p:spPr>
          <a:xfrm>
            <a:off x="8348472" y="3858768"/>
            <a:ext cx="32918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٣ · اِسْتَمِعْ لِلتَّفَاصِيلِ</a:t>
            </a:r>
            <a:endParaRPr lang="ar-SA" sz="2100" dirty="0"/>
          </a:p>
        </p:txBody>
      </p:sp>
      <p:sp>
        <p:nvSpPr>
          <p:cNvPr id="35" name="Text 32"/>
          <p:cNvSpPr txBox="1"/>
          <p:nvPr/>
        </p:nvSpPr>
        <p:spPr>
          <a:xfrm>
            <a:off x="8302752" y="4279392"/>
            <a:ext cx="33832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Second listen: detail</a:t>
            </a:r>
            <a:endParaRPr lang="en-US" sz="950" dirty="0"/>
          </a:p>
        </p:txBody>
      </p:sp>
      <p:sp>
        <p:nvSpPr>
          <p:cNvPr id="36" name="Text 33"/>
          <p:cNvSpPr txBox="1"/>
          <p:nvPr/>
        </p:nvSpPr>
        <p:spPr>
          <a:xfrm>
            <a:off x="2331720" y="3840480"/>
            <a:ext cx="5852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Write the exact name, number or place — listen for the signal just before it.</a:t>
            </a:r>
            <a:endParaRPr lang="en-US" sz="1100" dirty="0"/>
          </a:p>
        </p:txBody>
      </p:sp>
      <p:sp>
        <p:nvSpPr>
          <p:cNvPr id="37" name="Text 34"/>
          <p:cNvSpPr txBox="1"/>
          <p:nvPr/>
        </p:nvSpPr>
        <p:spPr>
          <a:xfrm>
            <a:off x="566928" y="3840480"/>
            <a:ext cx="1581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listen 2</a:t>
            </a:r>
            <a:endParaRPr lang="en-US" sz="1100" dirty="0"/>
          </a:p>
        </p:txBody>
      </p:sp>
      <p:sp>
        <p:nvSpPr>
          <p:cNvPr id="38" name="Shape 35"/>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0" name="Shape 37"/>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1" name="Text 38"/>
          <p:cNvSpPr txBox="1"/>
          <p:nvPr/>
        </p:nvSpPr>
        <p:spPr>
          <a:xfrm>
            <a:off x="8348472" y="4645152"/>
            <a:ext cx="32918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٤ · تَحَقَّقْ</a:t>
            </a:r>
            <a:endParaRPr lang="ar-SA" sz="2100" dirty="0"/>
          </a:p>
        </p:txBody>
      </p:sp>
      <p:sp>
        <p:nvSpPr>
          <p:cNvPr id="42" name="Text 39"/>
          <p:cNvSpPr txBox="1"/>
          <p:nvPr/>
        </p:nvSpPr>
        <p:spPr>
          <a:xfrm>
            <a:off x="8302752" y="5065776"/>
            <a:ext cx="33832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Verify</a:t>
            </a:r>
            <a:endParaRPr lang="en-US" sz="950" dirty="0"/>
          </a:p>
        </p:txBody>
      </p:sp>
      <p:sp>
        <p:nvSpPr>
          <p:cNvPr id="43" name="Text 40"/>
          <p:cNvSpPr txBox="1"/>
          <p:nvPr/>
        </p:nvSpPr>
        <p:spPr>
          <a:xfrm>
            <a:off x="2331720" y="4626864"/>
            <a:ext cx="5852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 your answers make one possible person? Then use the script to repair — not replace.</a:t>
            </a:r>
            <a:endParaRPr lang="en-US" sz="1100" dirty="0"/>
          </a:p>
        </p:txBody>
      </p:sp>
      <p:sp>
        <p:nvSpPr>
          <p:cNvPr id="44" name="Text 41"/>
          <p:cNvSpPr txBox="1"/>
          <p:nvPr/>
        </p:nvSpPr>
        <p:spPr>
          <a:xfrm>
            <a:off x="566928" y="4626864"/>
            <a:ext cx="1581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after</a:t>
            </a:r>
            <a:endParaRPr lang="en-US" sz="1100" dirty="0"/>
          </a:p>
        </p:txBody>
      </p:sp>
      <p:sp>
        <p:nvSpPr>
          <p:cNvPr id="45" name="Shape 42"/>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F2-L09 · Listening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KEY WORDS · GROUPS 2–3 · TASK INSTRUCTIONS AND STRATEGY WORDS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Words that tell you what to do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تَعْلِيمَاتُ المَهَامِّ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1269187"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to 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اِسْتَمِعْ</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Listen!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is-ta-miʿ · -ī · -ū</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m.</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اِسْتَمِعْ</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f.</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اِسْتَمِعِي</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pl.</a:t>
            </a:r>
            <a:endParaRPr lang="en-US" sz="700" dirty="0"/>
          </a:p>
        </p:txBody>
      </p:sp>
      <p:sp>
        <p:nvSpPr>
          <p:cNvPr id="32" name="Text 29"/>
          <p:cNvSpPr txBox="1"/>
          <p:nvPr/>
        </p:nvSpPr>
        <p:spPr>
          <a:xfrm>
            <a:off x="828446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اِسْتَمِعُوا</a:t>
            </a:r>
            <a:endParaRPr lang="ar-SA" sz="135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6" name="Shape 33"/>
          <p:cNvSpPr/>
          <p:nvPr/>
        </p:nvSpPr>
        <p:spPr>
          <a:xfrm>
            <a:off x="4782312" y="1938528"/>
            <a:ext cx="1269187"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to 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اِخْتَرْ</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Choose!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ikh-tar · ikh-tā-rī · ikh-tā-rū</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m.</a:t>
            </a:r>
            <a:endParaRPr lang="en-US" sz="700" dirty="0"/>
          </a:p>
        </p:txBody>
      </p:sp>
      <p:sp>
        <p:nvSpPr>
          <p:cNvPr id="44" name="Text 41"/>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اِخْتَرْ</a:t>
            </a:r>
            <a:endParaRPr lang="ar-SA" sz="135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f.</a:t>
            </a:r>
            <a:endParaRPr lang="en-US" sz="700" dirty="0"/>
          </a:p>
        </p:txBody>
      </p:sp>
      <p:sp>
        <p:nvSpPr>
          <p:cNvPr id="47" name="Text 44"/>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اِخْتَارِي</a:t>
            </a:r>
            <a:endParaRPr lang="ar-SA" sz="135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pl.</a:t>
            </a:r>
            <a:endParaRPr lang="en-US" sz="700" dirty="0"/>
          </a:p>
        </p:txBody>
      </p:sp>
      <p:sp>
        <p:nvSpPr>
          <p:cNvPr id="50" name="Text 47"/>
          <p:cNvSpPr txBox="1"/>
          <p:nvPr/>
        </p:nvSpPr>
        <p:spPr>
          <a:xfrm>
            <a:off x="446227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اِخْتَارُوا</a:t>
            </a:r>
            <a:endParaRPr lang="ar-SA" sz="135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54" name="Shape 51"/>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instruction</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8" name="Text 5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اِمْلَأِ الفَرَاغَ</a:t>
            </a:r>
            <a:endParaRPr lang="ar-SA" sz="3000" dirty="0"/>
          </a:p>
        </p:txBody>
      </p:sp>
      <p:sp>
        <p:nvSpPr>
          <p:cNvPr id="59" name="Text 5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Fill the gap!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im-la-ʾi l-fa-rāgh</a:t>
            </a:r>
            <a:endParaRPr lang="en-US" sz="1350" dirty="0"/>
          </a:p>
        </p:txBody>
      </p:sp>
      <p:sp>
        <p:nvSpPr>
          <p:cNvPr id="60" name="Text 57"/>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Write the missing word.</a:t>
            </a:r>
            <a:endParaRPr lang="en-US" sz="1000" dirty="0"/>
          </a:p>
        </p:txBody>
      </p:sp>
      <p:sp>
        <p:nvSpPr>
          <p:cNvPr id="61" name="Shape 5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8211312"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4" name="Shape 61"/>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5" name="Text 62"/>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label</a:t>
            </a:r>
            <a:endParaRPr lang="en-US" sz="800" dirty="0"/>
          </a:p>
        </p:txBody>
      </p:sp>
      <p:sp>
        <p:nvSpPr>
          <p:cNvPr id="66" name="Shape 6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7" name="Text 6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8" name="Text 6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صَحِيحٌ · خَطَأٌ</a:t>
            </a:r>
            <a:endParaRPr lang="ar-SA" sz="3000" dirty="0"/>
          </a:p>
        </p:txBody>
      </p:sp>
      <p:sp>
        <p:nvSpPr>
          <p:cNvPr id="69" name="Text 6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true · false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ṣa-ḥīḥ · kha-ṭaʾ</a:t>
            </a:r>
            <a:endParaRPr lang="en-US" sz="1350" dirty="0"/>
          </a:p>
        </p:txBody>
      </p:sp>
      <p:sp>
        <p:nvSpPr>
          <p:cNvPr id="70" name="Text 67"/>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Urdu: sahīh · khatā</a:t>
            </a:r>
            <a:endParaRPr lang="en-US" sz="1000" dirty="0"/>
          </a:p>
        </p:txBody>
      </p:sp>
      <p:sp>
        <p:nvSpPr>
          <p:cNvPr id="71" name="Shape 6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389120" y="4261104"/>
            <a:ext cx="310896" cy="310896"/>
          </a:xfrm>
          <a:prstGeom prst="ellipse">
            <a:avLst/>
          </a:prstGeom>
          <a:solidFill>
            <a:srgbClr val="F4F1EA"/>
          </a:solidFill>
          <a:ln w="12700">
            <a:solidFill>
              <a:srgbClr val="F4F1EA"/>
            </a:solidFill>
            <a:prstDash val="solid"/>
          </a:ln>
        </p:spPr>
      </p:sp>
      <p:sp>
        <p:nvSpPr>
          <p:cNvPr id="73" name="Text 7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74" name="Shape 71"/>
          <p:cNvSpPr/>
          <p:nvPr/>
        </p:nvSpPr>
        <p:spPr>
          <a:xfrm>
            <a:off x="4782312" y="4279392"/>
            <a:ext cx="958291" cy="256032"/>
          </a:xfrm>
          <a:prstGeom prst="roundRect">
            <a:avLst>
              <a:gd name="adj" fmla="val 50000"/>
            </a:avLst>
          </a:prstGeom>
          <a:solidFill>
            <a:srgbClr val="EFE7D2"/>
          </a:solidFill>
          <a:ln w="12700">
            <a:solidFill>
              <a:srgbClr val="EFE7D2"/>
            </a:solidFill>
            <a:prstDash val="solid"/>
          </a:ln>
        </p:spPr>
      </p:sp>
      <p:sp>
        <p:nvSpPr>
          <p:cNvPr id="75" name="Text 72"/>
          <p:cNvSpPr txBox="1"/>
          <p:nvPr/>
        </p:nvSpPr>
        <p:spPr>
          <a:xfrm>
            <a:off x="4782312"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instruction</a:t>
            </a:r>
            <a:endParaRPr lang="en-US" sz="800" dirty="0"/>
          </a:p>
        </p:txBody>
      </p:sp>
      <p:sp>
        <p:nvSpPr>
          <p:cNvPr id="76" name="Text 7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مَرَّةً أُخْرَى</a:t>
            </a:r>
            <a:endParaRPr lang="ar-SA" sz="3000" dirty="0"/>
          </a:p>
        </p:txBody>
      </p:sp>
      <p:sp>
        <p:nvSpPr>
          <p:cNvPr id="77" name="Text 7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once more, again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mar-ra-tan ukh-rā</a:t>
            </a:r>
            <a:endParaRPr lang="en-US" sz="1350" dirty="0"/>
          </a:p>
        </p:txBody>
      </p:sp>
      <p:sp>
        <p:nvSpPr>
          <p:cNvPr id="78" name="Text 75"/>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The teacher reads it a second time.</a:t>
            </a:r>
            <a:endParaRPr lang="en-US" sz="1000" dirty="0"/>
          </a:p>
        </p:txBody>
      </p:sp>
      <p:sp>
        <p:nvSpPr>
          <p:cNvPr id="79" name="Shape 7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566928" y="4261104"/>
            <a:ext cx="310896" cy="310896"/>
          </a:xfrm>
          <a:prstGeom prst="ellipse">
            <a:avLst/>
          </a:prstGeom>
          <a:solidFill>
            <a:srgbClr val="F4F1EA"/>
          </a:solidFill>
          <a:ln w="12700">
            <a:solidFill>
              <a:srgbClr val="F4F1EA"/>
            </a:solidFill>
            <a:prstDash val="solid"/>
          </a:ln>
        </p:spPr>
      </p:sp>
      <p:sp>
        <p:nvSpPr>
          <p:cNvPr id="81" name="Text 7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82" name="Shape 79"/>
          <p:cNvSpPr/>
          <p:nvPr/>
        </p:nvSpPr>
        <p:spPr>
          <a:xfrm>
            <a:off x="960120" y="4279392"/>
            <a:ext cx="771754" cy="256032"/>
          </a:xfrm>
          <a:prstGeom prst="roundRect">
            <a:avLst>
              <a:gd name="adj" fmla="val 50000"/>
            </a:avLst>
          </a:prstGeom>
          <a:solidFill>
            <a:srgbClr val="EFE7D2"/>
          </a:solidFill>
          <a:ln w="12700">
            <a:solidFill>
              <a:srgbClr val="EFE7D2"/>
            </a:solidFill>
            <a:prstDash val="solid"/>
          </a:ln>
        </p:spPr>
      </p:sp>
      <p:sp>
        <p:nvSpPr>
          <p:cNvPr id="83" name="Text 80"/>
          <p:cNvSpPr txBox="1"/>
          <p:nvPr/>
        </p:nvSpPr>
        <p:spPr>
          <a:xfrm>
            <a:off x="960120"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strategy</a:t>
            </a:r>
            <a:endParaRPr lang="en-US" sz="800" dirty="0"/>
          </a:p>
        </p:txBody>
      </p:sp>
      <p:sp>
        <p:nvSpPr>
          <p:cNvPr id="84" name="Text 81"/>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2550" b="1" dirty="0">
                <a:solidFill>
                  <a:srgbClr val="1B3B6F"/>
                </a:solidFill>
                <a:latin typeface="Amiri" pitchFamily="34" charset="0"/>
                <a:ea typeface="Amiri" pitchFamily="34" charset="-122"/>
                <a:cs typeface="Amiri" pitchFamily="34" charset="-120"/>
              </a:rPr>
              <a:t>الفِكْرَةُ الرَّئِيسِيَّةُ · التَّفَاصِيلُ</a:t>
            </a:r>
            <a:endParaRPr lang="ar-SA" sz="2550" dirty="0"/>
          </a:p>
        </p:txBody>
      </p:sp>
      <p:sp>
        <p:nvSpPr>
          <p:cNvPr id="85" name="Text 82"/>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main idea · the details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al-fik-ra r-ra-ʾī-siy-ya · at-ta-fā-ṣīl</a:t>
            </a:r>
            <a:endParaRPr lang="en-US" sz="1350" dirty="0"/>
          </a:p>
        </p:txBody>
      </p:sp>
      <p:sp>
        <p:nvSpPr>
          <p:cNvPr id="86" name="Text 83"/>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Listen 1 = main idea · Listen 2 = details</a:t>
            </a:r>
            <a:endParaRPr lang="en-US" sz="100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F2-L09 · Listening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this tell you to do?</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اِسْتَمِعْ</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Choose</a:t>
            </a:r>
            <a:endParaRPr lang="en-US" sz="12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Write</a:t>
            </a:r>
            <a:endParaRPr lang="en-US" sz="12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Listen</a:t>
            </a:r>
            <a:endParaRPr lang="en-US" sz="12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this tell you to do?</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اِخْتَرْ</a:t>
            </a:r>
            <a:endParaRPr lang="ar-SA" sz="22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Choose</a:t>
            </a:r>
            <a:endParaRPr lang="en-US" sz="12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Repeat</a:t>
            </a:r>
            <a:endParaRPr lang="en-US" sz="12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Match</a:t>
            </a:r>
            <a:endParaRPr lang="en-US" sz="12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this tell you to do?</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اِمْلَأِ الفَرَاغَ</a:t>
            </a:r>
            <a:endParaRPr lang="ar-SA" sz="22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 aloud</a:t>
            </a:r>
            <a:endParaRPr lang="en-US" sz="12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Fill the gap</a:t>
            </a:r>
            <a:endParaRPr lang="en-US" sz="12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Circle the word</a:t>
            </a:r>
            <a:endParaRPr lang="en-US" sz="12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this mean?</a:t>
            </a:r>
            <a:endParaRPr lang="en-US" sz="1200" dirty="0"/>
          </a:p>
        </p:txBody>
      </p:sp>
      <p:sp>
        <p:nvSpPr>
          <p:cNvPr id="61" name="Text 58"/>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مَرَّةً أُخْرَى</a:t>
            </a:r>
            <a:endParaRPr lang="ar-SA" sz="220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Once more</a:t>
            </a:r>
            <a:endParaRPr lang="en-US" sz="12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the first time</a:t>
            </a:r>
            <a:endParaRPr lang="en-US" sz="12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Very quickly</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F2-L09 · Listening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this tell you to do?</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اِسْتَمِعْ</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Choose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Write</a:t>
            </a:r>
            <a:endParaRPr lang="en-US" sz="125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Listen</a:t>
            </a:r>
            <a:endParaRPr lang="en-US" sz="125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اِسْتَمِعْ</a:t>
            </a:r>
            <a:pPr algn="l" indent="0" marL="0">
              <a:buNone/>
            </a:pPr>
            <a:r>
              <a:rPr lang="en-US" sz="1050" i="1" dirty="0">
                <a:solidFill>
                  <a:srgbClr val="8A6D1E"/>
                </a:solidFill>
                <a:latin typeface="Calibri" pitchFamily="34" charset="0"/>
                <a:ea typeface="Calibri" pitchFamily="34" charset="-122"/>
                <a:cs typeface="Calibri" pitchFamily="34" charset="-120"/>
              </a:rPr>
              <a:t> means listen.</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this tell you to do?</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اِخْتَرْ</a:t>
            </a:r>
            <a:endParaRPr lang="ar-SA" sz="22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Choose</a:t>
            </a:r>
            <a:endParaRPr lang="en-US" sz="125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Repeat</a:t>
            </a:r>
            <a:endParaRPr lang="en-US" sz="125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Match</a:t>
            </a:r>
            <a:endParaRPr lang="en-US" sz="125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اِخْتَرْ</a:t>
            </a:r>
            <a:pPr algn="l" indent="0" marL="0">
              <a:buNone/>
            </a:pPr>
            <a:r>
              <a:rPr lang="en-US" sz="1050" i="1" dirty="0">
                <a:solidFill>
                  <a:srgbClr val="8A6D1E"/>
                </a:solidFill>
                <a:latin typeface="Calibri" pitchFamily="34" charset="0"/>
                <a:ea typeface="Calibri" pitchFamily="34" charset="-122"/>
                <a:cs typeface="Calibri" pitchFamily="34" charset="-120"/>
              </a:rPr>
              <a:t> means choose.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this tell you to do?</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اِمْلَأِ الفَرَاغَ</a:t>
            </a:r>
            <a:endParaRPr lang="ar-SA" sz="22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Read aloud</a:t>
            </a:r>
            <a:endParaRPr lang="en-US" sz="125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Fill the gap</a:t>
            </a:r>
            <a:endParaRPr lang="en-US" sz="125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Circle the word</a:t>
            </a:r>
            <a:endParaRPr lang="en-US" sz="125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اِمْلَأِ الفَرَاغَ</a:t>
            </a:r>
            <a:pPr algn="l" indent="0" marL="0">
              <a:buNone/>
            </a:pPr>
            <a:r>
              <a:rPr lang="en-US" sz="1050" i="1" dirty="0">
                <a:solidFill>
                  <a:srgbClr val="8A6D1E"/>
                </a:solidFill>
                <a:latin typeface="Calibri" pitchFamily="34" charset="0"/>
                <a:ea typeface="Calibri" pitchFamily="34" charset="-122"/>
                <a:cs typeface="Calibri" pitchFamily="34" charset="-120"/>
              </a:rPr>
              <a:t> means fill the gap.</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this mean?</a:t>
            </a:r>
            <a:endParaRPr lang="en-US" sz="1200" dirty="0"/>
          </a:p>
        </p:txBody>
      </p:sp>
      <p:sp>
        <p:nvSpPr>
          <p:cNvPr id="67" name="Text 64"/>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مَرَّةً أُخْرَى</a:t>
            </a:r>
            <a:endParaRPr lang="ar-SA" sz="2200" dirty="0"/>
          </a:p>
        </p:txBody>
      </p:sp>
      <p:sp>
        <p:nvSpPr>
          <p:cNvPr id="68" name="Shape 65"/>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9" name="Shape 66"/>
          <p:cNvSpPr/>
          <p:nvPr/>
        </p:nvSpPr>
        <p:spPr>
          <a:xfrm>
            <a:off x="6368796" y="4831080"/>
            <a:ext cx="256032" cy="256032"/>
          </a:xfrm>
          <a:prstGeom prst="ellipse">
            <a:avLst/>
          </a:prstGeom>
          <a:solidFill>
            <a:srgbClr val="2E8B57"/>
          </a:solidFill>
          <a:ln w="12700">
            <a:solidFill>
              <a:srgbClr val="2E8B57"/>
            </a:solidFill>
            <a:prstDash val="solid"/>
          </a:ln>
        </p:spPr>
      </p:sp>
      <p:sp>
        <p:nvSpPr>
          <p:cNvPr id="70" name="Text 67"/>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1" name="Text 68"/>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Once more</a:t>
            </a:r>
            <a:endParaRPr lang="en-US" sz="1250" dirty="0"/>
          </a:p>
        </p:txBody>
      </p:sp>
      <p:sp>
        <p:nvSpPr>
          <p:cNvPr id="72" name="Shape 69"/>
          <p:cNvSpPr/>
          <p:nvPr/>
        </p:nvSpPr>
        <p:spPr>
          <a:xfrm>
            <a:off x="6368796" y="5202936"/>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4" name="Text 71"/>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 the first time</a:t>
            </a:r>
            <a:endParaRPr lang="en-US" sz="1250" dirty="0"/>
          </a:p>
        </p:txBody>
      </p:sp>
      <p:sp>
        <p:nvSpPr>
          <p:cNvPr id="75" name="Shape 72"/>
          <p:cNvSpPr/>
          <p:nvPr/>
        </p:nvSpPr>
        <p:spPr>
          <a:xfrm>
            <a:off x="6368796"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Very quickly</a:t>
            </a:r>
            <a:endParaRPr lang="en-US" sz="125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مَرَّةً أُخْرَى</a:t>
            </a:r>
            <a:pPr algn="l" indent="0" marL="0">
              <a:buNone/>
            </a:pPr>
            <a:r>
              <a:rPr lang="en-US" sz="1050" i="1" dirty="0">
                <a:solidFill>
                  <a:srgbClr val="8A6D1E"/>
                </a:solidFill>
                <a:latin typeface="Calibri" pitchFamily="34" charset="0"/>
                <a:ea typeface="Calibri" pitchFamily="34" charset="-122"/>
                <a:cs typeface="Calibri" pitchFamily="34" charset="-120"/>
              </a:rPr>
              <a:t> means once more or again.</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F2-L09 · Listening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ea typeface="Calibri" pitchFamily="34" charset="-122"/>
                <a:cs typeface="Calibri" pitchFamily="34" charset="-120"/>
              </a:rPr>
              <a:t>I DO · THE LISTENING CLUE LAB (WEBSITE) · HOW TO AVOID A TRAP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Which detail does the signal introduce?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مُخْتَبَرُ إِشَارَاتِ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You hear:</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650" b="1" dirty="0">
                <a:solidFill>
                  <a:srgbClr val="1B3B6F"/>
                </a:solidFill>
                <a:latin typeface="Amiri" pitchFamily="34" charset="0"/>
                <a:ea typeface="Amiri" pitchFamily="34" charset="-122"/>
                <a:cs typeface="Amiri" pitchFamily="34" charset="-120"/>
              </a:rPr>
              <a:t>أَنَا مِنْ مِصْرَ</a:t>
            </a:r>
            <a:pPr algn="l" indent="0" marL="0">
              <a:buNone/>
            </a:pPr>
            <a:r>
              <a:rPr lang="en-US" sz="1250" b="1" dirty="0">
                <a:solidFill>
                  <a:srgbClr val="1B3B6F"/>
                </a:solidFill>
                <a:latin typeface="Calibri" pitchFamily="34" charset="0"/>
                <a:ea typeface="Calibri" pitchFamily="34" charset="-122"/>
                <a:cs typeface="Calibri" pitchFamily="34" charset="-120"/>
              </a:rPr>
              <a:t>. Which detail is Egypt?</a:t>
            </a:r>
            <a:endParaRPr lang="en-US" sz="125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Country of origin</a:t>
            </a:r>
            <a:endParaRPr lang="en-US" sz="12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City of residence</a:t>
            </a:r>
            <a:endParaRPr lang="en-US" sz="12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Language</a:t>
            </a:r>
            <a:endParaRPr lang="en-US" sz="12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You hear:</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450" b="1" dirty="0">
                <a:solidFill>
                  <a:srgbClr val="1B3B6F"/>
                </a:solidFill>
                <a:latin typeface="Amiri" pitchFamily="34" charset="0"/>
                <a:ea typeface="Amiri" pitchFamily="34" charset="-122"/>
                <a:cs typeface="Amiri" pitchFamily="34" charset="-120"/>
              </a:rPr>
              <a:t>أَسْكُنُ فِي لَنْدَنَ</a:t>
            </a:r>
            <a:pPr algn="l" indent="0" marL="0">
              <a:buNone/>
            </a:pPr>
            <a:r>
              <a:rPr lang="en-US" sz="1100" b="1" dirty="0">
                <a:solidFill>
                  <a:srgbClr val="1B3B6F"/>
                </a:solidFill>
                <a:latin typeface="Calibri" pitchFamily="34" charset="0"/>
                <a:ea typeface="Calibri" pitchFamily="34" charset="-122"/>
                <a:cs typeface="Calibri" pitchFamily="34" charset="-120"/>
              </a:rPr>
              <a:t>. Which detail is London?</a:t>
            </a:r>
            <a:endParaRPr lang="en-US" sz="11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Country of origin</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Nationality</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City of residence</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You hear:</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B3B6F"/>
                </a:solidFill>
                <a:latin typeface="Amiri" pitchFamily="34" charset="0"/>
                <a:ea typeface="Amiri" pitchFamily="34" charset="-122"/>
                <a:cs typeface="Amiri" pitchFamily="34" charset="-120"/>
              </a:rPr>
              <a:t>أَتَكَلَّمُ الإِنْجِلِيزِيَّةَ وَأَفْهَمُ العَرَبِيَّةَ</a:t>
            </a:r>
            <a:pPr algn="l" indent="0" marL="0">
              <a:buNone/>
            </a:pPr>
            <a:r>
              <a:rPr lang="en-US" sz="1000" b="1" dirty="0">
                <a:solidFill>
                  <a:srgbClr val="1B3B6F"/>
                </a:solidFill>
                <a:latin typeface="Calibri" pitchFamily="34" charset="0"/>
                <a:ea typeface="Calibri" pitchFamily="34" charset="-122"/>
                <a:cs typeface="Calibri" pitchFamily="34" charset="-120"/>
              </a:rPr>
              <a:t>. Which language does the speaker speak?</a:t>
            </a:r>
            <a:endParaRPr lang="en-US" sz="10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Arabic</a:t>
            </a:r>
            <a:endParaRPr lang="en-US" sz="12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English</a:t>
            </a:r>
            <a:endParaRPr lang="en-US" sz="12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French</a:t>
            </a:r>
            <a:endParaRPr lang="en-US" sz="12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You hear:</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B3B6F"/>
                </a:solidFill>
                <a:latin typeface="Amiri" pitchFamily="34" charset="0"/>
                <a:ea typeface="Amiri" pitchFamily="34" charset="-122"/>
                <a:cs typeface="Amiri" pitchFamily="34" charset="-120"/>
              </a:rPr>
              <a:t>أَنَا مَغْرِبِيٌّ، وَأَسْكُنُ فِي بَارِيسَ</a:t>
            </a:r>
            <a:pPr algn="l" indent="0" marL="0">
              <a:buNone/>
            </a:pPr>
            <a:r>
              <a:rPr lang="en-US" sz="1000" b="1" dirty="0">
                <a:solidFill>
                  <a:srgbClr val="1B3B6F"/>
                </a:solidFill>
                <a:latin typeface="Calibri" pitchFamily="34" charset="0"/>
                <a:ea typeface="Calibri" pitchFamily="34" charset="-122"/>
                <a:cs typeface="Calibri" pitchFamily="34" charset="-120"/>
              </a:rPr>
              <a:t>. Which answer gives nationality?</a:t>
            </a:r>
            <a:endParaRPr lang="en-US" sz="10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French</a:t>
            </a:r>
            <a:endParaRPr lang="en-US" sz="12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Moroccan</a:t>
            </a:r>
            <a:endParaRPr lang="en-US" sz="12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Parisian</a:t>
            </a:r>
            <a:endParaRPr lang="en-US" sz="12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4" name="Text 7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You miss one word in the first sentence. What is the strongest strategy?</a:t>
            </a:r>
            <a:endParaRPr lang="en-US" sz="1200" dirty="0"/>
          </a:p>
        </p:txBody>
      </p:sp>
      <p:sp>
        <p:nvSpPr>
          <p:cNvPr id="75" name="Shape 72"/>
          <p:cNvSpPr/>
          <p:nvPr/>
        </p:nvSpPr>
        <p:spPr>
          <a:xfrm>
            <a:off x="4459224" y="48737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Stop and abandon the task</a:t>
            </a:r>
            <a:endParaRPr lang="en-US" sz="1250" dirty="0"/>
          </a:p>
        </p:txBody>
      </p:sp>
      <p:sp>
        <p:nvSpPr>
          <p:cNvPr id="78" name="Shape 75"/>
          <p:cNvSpPr/>
          <p:nvPr/>
        </p:nvSpPr>
        <p:spPr>
          <a:xfrm>
            <a:off x="4459224" y="53309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Open the transcript immediately</a:t>
            </a:r>
            <a:endParaRPr lang="en-US" sz="1250" dirty="0"/>
          </a:p>
        </p:txBody>
      </p:sp>
      <p:sp>
        <p:nvSpPr>
          <p:cNvPr id="81" name="Shape 78"/>
          <p:cNvSpPr/>
          <p:nvPr/>
        </p:nvSpPr>
        <p:spPr>
          <a:xfrm>
            <a:off x="4459224" y="57881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3" name="Text 80"/>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Keep listening for the next signal phrase</a:t>
            </a:r>
            <a:endParaRPr lang="en-US" sz="1250" dirty="0"/>
          </a:p>
        </p:txBody>
      </p:sp>
      <p:sp>
        <p:nvSpPr>
          <p:cNvPr id="84" name="Shape 81"/>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5" name="Text 82"/>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THREE TRAPS</a:t>
            </a:r>
            <a:endParaRPr lang="en-US" sz="1000" dirty="0"/>
          </a:p>
        </p:txBody>
      </p:sp>
      <p:sp>
        <p:nvSpPr>
          <p:cNvPr id="86" name="Text 83"/>
          <p:cNvSpPr txBox="1"/>
          <p:nvPr/>
        </p:nvSpPr>
        <p:spPr>
          <a:xfrm>
            <a:off x="8278368" y="4590288"/>
            <a:ext cx="3270504" cy="1609344"/>
          </a:xfrm>
          <a:prstGeom prst="rect">
            <a:avLst/>
          </a:prstGeom>
          <a:noFill/>
          <a:ln/>
        </p:spPr>
        <p:txBody>
          <a:bodyPr wrap="square" lIns="0" tIns="0" rIns="0" bIns="0" rtlCol="0" anchor="t"/>
          <a:lstStyle/>
          <a:p>
            <a:pPr algn="l" indent="0" marL="0">
              <a:lnSpc>
                <a:spcPct val="115000"/>
              </a:lnSpc>
              <a:buNone/>
            </a:pPr>
            <a:r>
              <a:rPr lang="en-US" sz="1250" dirty="0">
                <a:solidFill>
                  <a:srgbClr val="1F2A37"/>
                </a:solidFill>
                <a:latin typeface="Calibri" pitchFamily="34" charset="0"/>
                <a:ea typeface="Calibri" pitchFamily="34" charset="-122"/>
                <a:cs typeface="Calibri" pitchFamily="34" charset="-120"/>
              </a:rPr>
              <a:t>Country (</a:t>
            </a:r>
            <a:pPr algn="l" indent="0" marL="0">
              <a:lnSpc>
                <a:spcPct val="115000"/>
              </a:lnSpc>
              <a:buNone/>
            </a:pPr>
            <a:r>
              <a:rPr lang="ar-SA" altLang="en-US" sz="1650" dirty="0">
                <a:solidFill>
                  <a:srgbClr val="1F2A37"/>
                </a:solidFill>
                <a:latin typeface="Amiri" pitchFamily="34" charset="0"/>
                <a:ea typeface="Amiri" pitchFamily="34" charset="-122"/>
                <a:cs typeface="Amiri" pitchFamily="34" charset="-120"/>
              </a:rPr>
              <a:t>مِنْ</a:t>
            </a:r>
            <a:pPr algn="l" indent="0" marL="0">
              <a:lnSpc>
                <a:spcPct val="115000"/>
              </a:lnSpc>
              <a:buNone/>
            </a:pPr>
            <a:r>
              <a:rPr lang="en-US" sz="1250" dirty="0">
                <a:solidFill>
                  <a:srgbClr val="1F2A37"/>
                </a:solidFill>
                <a:latin typeface="Calibri" pitchFamily="34" charset="0"/>
                <a:ea typeface="Calibri" pitchFamily="34" charset="-122"/>
                <a:cs typeface="Calibri" pitchFamily="34" charset="-120"/>
              </a:rPr>
              <a:t>) vs city (</a:t>
            </a:r>
            <a:pPr algn="l" indent="0" marL="0">
              <a:lnSpc>
                <a:spcPct val="115000"/>
              </a:lnSpc>
              <a:buNone/>
            </a:pPr>
            <a:r>
              <a:rPr lang="ar-SA" altLang="en-US" sz="1650" dirty="0">
                <a:solidFill>
                  <a:srgbClr val="1F2A37"/>
                </a:solidFill>
                <a:latin typeface="Amiri" pitchFamily="34" charset="0"/>
                <a:ea typeface="Amiri" pitchFamily="34" charset="-122"/>
                <a:cs typeface="Amiri" pitchFamily="34" charset="-120"/>
              </a:rPr>
              <a:t>فِي</a:t>
            </a:r>
            <a:pPr algn="l" indent="0" marL="0">
              <a:lnSpc>
                <a:spcPct val="115000"/>
              </a:lnSpc>
              <a:buNone/>
            </a:pPr>
            <a:r>
              <a:rPr lang="en-US" sz="1250" dirty="0">
                <a:solidFill>
                  <a:srgbClr val="1F2A37"/>
                </a:solidFill>
                <a:latin typeface="Calibri" pitchFamily="34" charset="0"/>
                <a:ea typeface="Calibri" pitchFamily="34" charset="-122"/>
                <a:cs typeface="Calibri" pitchFamily="34" charset="-120"/>
              </a:rPr>
              <a:t>).</a:t>
            </a:r>
            <a:endParaRPr lang="en-US" sz="1250" dirty="0"/>
          </a:p>
          <a:p>
            <a:pPr algn="l" indent="0" marL="0">
              <a:lnSpc>
                <a:spcPct val="115000"/>
              </a:lnSpc>
              <a:buNone/>
            </a:pPr>
            <a:r>
              <a:rPr lang="en-US" sz="1250" dirty="0">
                <a:solidFill>
                  <a:srgbClr val="1F2A37"/>
                </a:solidFill>
                <a:latin typeface="Calibri" pitchFamily="34" charset="0"/>
                <a:ea typeface="Calibri" pitchFamily="34" charset="-122"/>
                <a:cs typeface="Calibri" pitchFamily="34" charset="-120"/>
              </a:rPr>
              <a:t>Speaks (</a:t>
            </a:r>
            <a:pPr algn="l" indent="0" marL="0">
              <a:lnSpc>
                <a:spcPct val="115000"/>
              </a:lnSpc>
              <a:buNone/>
            </a:pPr>
            <a:r>
              <a:rPr lang="ar-SA" altLang="en-US" sz="1650" dirty="0">
                <a:solidFill>
                  <a:srgbClr val="1F2A37"/>
                </a:solidFill>
                <a:latin typeface="Amiri" pitchFamily="34" charset="0"/>
                <a:ea typeface="Amiri" pitchFamily="34" charset="-122"/>
                <a:cs typeface="Amiri" pitchFamily="34" charset="-120"/>
              </a:rPr>
              <a:t>أَتَكَلَّمُ</a:t>
            </a:r>
            <a:pPr algn="l" indent="0" marL="0">
              <a:lnSpc>
                <a:spcPct val="115000"/>
              </a:lnSpc>
              <a:buNone/>
            </a:pPr>
            <a:r>
              <a:rPr lang="en-US" sz="1250" dirty="0">
                <a:solidFill>
                  <a:srgbClr val="1F2A37"/>
                </a:solidFill>
                <a:latin typeface="Calibri" pitchFamily="34" charset="0"/>
                <a:ea typeface="Calibri" pitchFamily="34" charset="-122"/>
                <a:cs typeface="Calibri" pitchFamily="34" charset="-120"/>
              </a:rPr>
              <a:t>) vs understands (</a:t>
            </a:r>
            <a:pPr algn="l" indent="0" marL="0">
              <a:lnSpc>
                <a:spcPct val="115000"/>
              </a:lnSpc>
              <a:buNone/>
            </a:pPr>
            <a:r>
              <a:rPr lang="ar-SA" altLang="en-US" sz="1650" dirty="0">
                <a:solidFill>
                  <a:srgbClr val="1F2A37"/>
                </a:solidFill>
                <a:latin typeface="Amiri" pitchFamily="34" charset="0"/>
                <a:ea typeface="Amiri" pitchFamily="34" charset="-122"/>
                <a:cs typeface="Amiri" pitchFamily="34" charset="-120"/>
              </a:rPr>
              <a:t>أَفْهَمُ</a:t>
            </a:r>
            <a:pPr algn="l" indent="0" marL="0">
              <a:lnSpc>
                <a:spcPct val="115000"/>
              </a:lnSpc>
              <a:buNone/>
            </a:pPr>
            <a:r>
              <a:rPr lang="en-US" sz="1250" dirty="0">
                <a:solidFill>
                  <a:srgbClr val="1F2A37"/>
                </a:solidFill>
                <a:latin typeface="Calibri" pitchFamily="34" charset="0"/>
                <a:ea typeface="Calibri" pitchFamily="34" charset="-122"/>
                <a:cs typeface="Calibri" pitchFamily="34" charset="-120"/>
              </a:rPr>
              <a:t>).</a:t>
            </a:r>
            <a:endParaRPr lang="en-US" sz="1250" dirty="0"/>
          </a:p>
          <a:p>
            <a:pPr algn="l" indent="0" marL="0">
              <a:lnSpc>
                <a:spcPct val="115000"/>
              </a:lnSpc>
              <a:buNone/>
            </a:pPr>
            <a:r>
              <a:rPr lang="en-US" sz="1250" dirty="0">
                <a:solidFill>
                  <a:srgbClr val="1F2A37"/>
                </a:solidFill>
                <a:latin typeface="Calibri" pitchFamily="34" charset="0"/>
                <a:ea typeface="Calibri" pitchFamily="34" charset="-122"/>
                <a:cs typeface="Calibri" pitchFamily="34" charset="-120"/>
              </a:rPr>
              <a:t>Nationality vs place.</a:t>
            </a:r>
            <a:endParaRPr lang="en-US" sz="125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F2-L09 · Listening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CLUE LAB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Clue lab: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You hear:</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650" b="1" dirty="0">
                <a:solidFill>
                  <a:srgbClr val="1B3B6F"/>
                </a:solidFill>
                <a:latin typeface="Amiri" pitchFamily="34" charset="0"/>
                <a:ea typeface="Amiri" pitchFamily="34" charset="-122"/>
                <a:cs typeface="Amiri" pitchFamily="34" charset="-120"/>
              </a:rPr>
              <a:t>أَنَا مِنْ مِصْرَ</a:t>
            </a:r>
            <a:pPr algn="l" indent="0" marL="0">
              <a:buNone/>
            </a:pPr>
            <a:r>
              <a:rPr lang="en-US" sz="1250" b="1" dirty="0">
                <a:solidFill>
                  <a:srgbClr val="1B3B6F"/>
                </a:solidFill>
                <a:latin typeface="Calibri" pitchFamily="34" charset="0"/>
                <a:ea typeface="Calibri" pitchFamily="34" charset="-122"/>
                <a:cs typeface="Calibri" pitchFamily="34" charset="-120"/>
              </a:rPr>
              <a:t>. Which detail is Egypt?</a:t>
            </a:r>
            <a:endParaRPr lang="en-US" sz="1250" dirty="0"/>
          </a:p>
        </p:txBody>
      </p:sp>
      <p:sp>
        <p:nvSpPr>
          <p:cNvPr id="20" name="Shape 17"/>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490216"/>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Country of origin</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City of residence</a:t>
            </a:r>
            <a:endParaRPr lang="en-US" sz="125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Language</a:t>
            </a:r>
            <a:endParaRPr lang="en-US" sz="125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 signals origin.</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You hear:</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450" b="1" dirty="0">
                <a:solidFill>
                  <a:srgbClr val="1B3B6F"/>
                </a:solidFill>
                <a:latin typeface="Amiri" pitchFamily="34" charset="0"/>
                <a:ea typeface="Amiri" pitchFamily="34" charset="-122"/>
                <a:cs typeface="Amiri" pitchFamily="34" charset="-120"/>
              </a:rPr>
              <a:t>أَسْكُنُ فِي لَنْدَنَ</a:t>
            </a:r>
            <a:pPr algn="l" indent="0" marL="0">
              <a:buNone/>
            </a:pPr>
            <a:r>
              <a:rPr lang="en-US" sz="1100" b="1" dirty="0">
                <a:solidFill>
                  <a:srgbClr val="1B3B6F"/>
                </a:solidFill>
                <a:latin typeface="Calibri" pitchFamily="34" charset="0"/>
                <a:ea typeface="Calibri" pitchFamily="34" charset="-122"/>
                <a:cs typeface="Calibri" pitchFamily="34" charset="-120"/>
              </a:rPr>
              <a:t>. Which detail is London?</a:t>
            </a:r>
            <a:endParaRPr lang="en-US" sz="11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Country of origin</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Nationality</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City of residence</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فِي</a:t>
            </a:r>
            <a:pPr algn="l" indent="0" marL="0">
              <a:buNone/>
            </a:pPr>
            <a:r>
              <a:rPr lang="en-US" sz="1050" i="1" dirty="0">
                <a:solidFill>
                  <a:srgbClr val="8A6D1E"/>
                </a:solidFill>
                <a:latin typeface="Calibri" pitchFamily="34" charset="0"/>
                <a:ea typeface="Calibri" pitchFamily="34" charset="-122"/>
                <a:cs typeface="Calibri" pitchFamily="34" charset="-120"/>
              </a:rPr>
              <a:t> signals location or residence.</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You hear:</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B3B6F"/>
                </a:solidFill>
                <a:latin typeface="Amiri" pitchFamily="34" charset="0"/>
                <a:ea typeface="Amiri" pitchFamily="34" charset="-122"/>
                <a:cs typeface="Amiri" pitchFamily="34" charset="-120"/>
              </a:rPr>
              <a:t>أَتَكَلَّمُ الإِنْجِلِيزِيَّةَ وَأَفْهَمُ العَرَبِيَّةَ</a:t>
            </a:r>
            <a:pPr algn="l" indent="0" marL="0">
              <a:buNone/>
            </a:pPr>
            <a:r>
              <a:rPr lang="en-US" sz="1000" b="1" dirty="0">
                <a:solidFill>
                  <a:srgbClr val="1B3B6F"/>
                </a:solidFill>
                <a:latin typeface="Calibri" pitchFamily="34" charset="0"/>
                <a:ea typeface="Calibri" pitchFamily="34" charset="-122"/>
                <a:cs typeface="Calibri" pitchFamily="34" charset="-120"/>
              </a:rPr>
              <a:t>. Which language does the speaker speak?</a:t>
            </a:r>
            <a:endParaRPr lang="en-US" sz="1000" dirty="0"/>
          </a:p>
        </p:txBody>
      </p:sp>
      <p:sp>
        <p:nvSpPr>
          <p:cNvPr id="52"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Arabic</a:t>
            </a:r>
            <a:endParaRPr lang="en-US" sz="1250" dirty="0"/>
          </a:p>
        </p:txBody>
      </p:sp>
      <p:sp>
        <p:nvSpPr>
          <p:cNvPr id="55" name="Shape 52"/>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286207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English</a:t>
            </a:r>
            <a:endParaRPr lang="en-US" sz="125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French</a:t>
            </a:r>
            <a:endParaRPr lang="en-US" sz="125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أَتَكَلَّمُ</a:t>
            </a:r>
            <a:pPr algn="l" indent="0" marL="0">
              <a:buNone/>
            </a:pPr>
            <a:r>
              <a:rPr lang="en-US" sz="1050" i="1" dirty="0">
                <a:solidFill>
                  <a:srgbClr val="8A6D1E"/>
                </a:solidFill>
                <a:latin typeface="Calibri" pitchFamily="34" charset="0"/>
                <a:ea typeface="Calibri" pitchFamily="34" charset="-122"/>
                <a:cs typeface="Calibri" pitchFamily="34" charset="-120"/>
              </a:rPr>
              <a:t> introduces English; </a:t>
            </a:r>
            <a:pPr algn="l" indent="0" marL="0">
              <a:buNone/>
            </a:pPr>
            <a:r>
              <a:rPr lang="ar-SA" altLang="en-US" sz="1350" dirty="0">
                <a:solidFill>
                  <a:srgbClr val="8A6D1E"/>
                </a:solidFill>
                <a:latin typeface="Amiri" pitchFamily="34" charset="0"/>
                <a:ea typeface="Amiri" pitchFamily="34" charset="-122"/>
                <a:cs typeface="Amiri" pitchFamily="34" charset="-120"/>
              </a:rPr>
              <a:t>أَفْهَمُ</a:t>
            </a:r>
            <a:pPr algn="l" indent="0" marL="0">
              <a:buNone/>
            </a:pPr>
            <a:r>
              <a:rPr lang="en-US" sz="1050" i="1" dirty="0">
                <a:solidFill>
                  <a:srgbClr val="8A6D1E"/>
                </a:solidFill>
                <a:latin typeface="Calibri" pitchFamily="34" charset="0"/>
                <a:ea typeface="Calibri" pitchFamily="34" charset="-122"/>
                <a:cs typeface="Calibri" pitchFamily="34" charset="-120"/>
              </a:rPr>
              <a:t> introduces Arabic as understood.</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You hear:</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B3B6F"/>
                </a:solidFill>
                <a:latin typeface="Amiri" pitchFamily="34" charset="0"/>
                <a:ea typeface="Amiri" pitchFamily="34" charset="-122"/>
                <a:cs typeface="Amiri" pitchFamily="34" charset="-120"/>
              </a:rPr>
              <a:t>أَنَا مَغْرِبِيٌّ، وَأَسْكُنُ فِي بَارِيسَ</a:t>
            </a:r>
            <a:pPr algn="l" indent="0" marL="0">
              <a:buNone/>
            </a:pPr>
            <a:r>
              <a:rPr lang="en-US" sz="1000" b="1" dirty="0">
                <a:solidFill>
                  <a:srgbClr val="1B3B6F"/>
                </a:solidFill>
                <a:latin typeface="Calibri" pitchFamily="34" charset="0"/>
                <a:ea typeface="Calibri" pitchFamily="34" charset="-122"/>
                <a:cs typeface="Calibri" pitchFamily="34" charset="-120"/>
              </a:rPr>
              <a:t>. Which answer gives nationality?</a:t>
            </a:r>
            <a:endParaRPr lang="en-US" sz="1000" dirty="0"/>
          </a:p>
        </p:txBody>
      </p:sp>
      <p:sp>
        <p:nvSpPr>
          <p:cNvPr id="68"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French</a:t>
            </a:r>
            <a:endParaRPr lang="en-US" sz="1250" dirty="0"/>
          </a:p>
        </p:txBody>
      </p:sp>
      <p:sp>
        <p:nvSpPr>
          <p:cNvPr id="71" name="Shape 68"/>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202936"/>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4" name="Text 71"/>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Moroccan</a:t>
            </a:r>
            <a:endParaRPr lang="en-US" sz="1250" dirty="0"/>
          </a:p>
        </p:txBody>
      </p:sp>
      <p:sp>
        <p:nvSpPr>
          <p:cNvPr id="75" name="Shape 72"/>
          <p:cNvSpPr/>
          <p:nvPr/>
        </p:nvSpPr>
        <p:spPr>
          <a:xfrm>
            <a:off x="640080"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Parisian</a:t>
            </a:r>
            <a:endParaRPr lang="en-US" sz="125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مَغْرِبِيٌّ</a:t>
            </a:r>
            <a:pPr algn="l" indent="0" marL="0">
              <a:buNone/>
            </a:pPr>
            <a:r>
              <a:rPr lang="en-US" sz="1050" i="1" dirty="0">
                <a:solidFill>
                  <a:srgbClr val="8A6D1E"/>
                </a:solidFill>
                <a:latin typeface="Calibri" pitchFamily="34" charset="0"/>
                <a:ea typeface="Calibri" pitchFamily="34" charset="-122"/>
                <a:cs typeface="Calibri" pitchFamily="34" charset="-120"/>
              </a:rPr>
              <a:t> is the nationality; Paris is the residence.</a:t>
            </a:r>
            <a:endParaRPr lang="en-US" sz="1050" dirty="0"/>
          </a:p>
        </p:txBody>
      </p:sp>
      <p:sp>
        <p:nvSpPr>
          <p:cNvPr id="79"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2" name="Text 7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You miss one word in the first sentence. What is the strongest strategy?</a:t>
            </a:r>
            <a:endParaRPr lang="en-US" sz="1200" dirty="0"/>
          </a:p>
        </p:txBody>
      </p:sp>
      <p:sp>
        <p:nvSpPr>
          <p:cNvPr id="83" name="Shape 80"/>
          <p:cNvSpPr/>
          <p:nvPr/>
        </p:nvSpPr>
        <p:spPr>
          <a:xfrm>
            <a:off x="4459224" y="4831080"/>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5" name="Text 82"/>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Stop and abandon the task</a:t>
            </a:r>
            <a:endParaRPr lang="en-US" sz="1250" dirty="0"/>
          </a:p>
        </p:txBody>
      </p:sp>
      <p:sp>
        <p:nvSpPr>
          <p:cNvPr id="86"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8" name="Text 85"/>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Open the transcript immediately</a:t>
            </a:r>
            <a:endParaRPr lang="en-US" sz="1250" dirty="0"/>
          </a:p>
        </p:txBody>
      </p:sp>
      <p:sp>
        <p:nvSpPr>
          <p:cNvPr id="89" name="Shape 86"/>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90" name="Shape 87"/>
          <p:cNvSpPr/>
          <p:nvPr/>
        </p:nvSpPr>
        <p:spPr>
          <a:xfrm>
            <a:off x="4459224" y="5574792"/>
            <a:ext cx="256032" cy="256032"/>
          </a:xfrm>
          <a:prstGeom prst="ellipse">
            <a:avLst/>
          </a:prstGeom>
          <a:solidFill>
            <a:srgbClr val="2E8B57"/>
          </a:solidFill>
          <a:ln w="12700">
            <a:solidFill>
              <a:srgbClr val="2E8B57"/>
            </a:solidFill>
            <a:prstDash val="solid"/>
          </a:ln>
        </p:spPr>
      </p:sp>
      <p:sp>
        <p:nvSpPr>
          <p:cNvPr id="91" name="Text 8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Keep listening for the next signal phrase</a:t>
            </a:r>
            <a:endParaRPr lang="en-US" sz="1200" dirty="0"/>
          </a:p>
        </p:txBody>
      </p:sp>
      <p:sp>
        <p:nvSpPr>
          <p:cNvPr id="93" name="Text 9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Continue listening. The required fact may appear later or be repeated.</a:t>
            </a:r>
            <a:endParaRPr lang="en-US" sz="1050" dirty="0"/>
          </a:p>
        </p:txBody>
      </p:sp>
      <p:sp>
        <p:nvSpPr>
          <p:cNvPr id="94" name="Shape 91"/>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5" name="Text 92"/>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THREE TRAPS</a:t>
            </a:r>
            <a:endParaRPr lang="en-US" sz="1000" dirty="0"/>
          </a:p>
        </p:txBody>
      </p:sp>
      <p:sp>
        <p:nvSpPr>
          <p:cNvPr id="96" name="Text 93"/>
          <p:cNvSpPr txBox="1"/>
          <p:nvPr/>
        </p:nvSpPr>
        <p:spPr>
          <a:xfrm>
            <a:off x="8278368" y="4590288"/>
            <a:ext cx="3270504" cy="1609344"/>
          </a:xfrm>
          <a:prstGeom prst="rect">
            <a:avLst/>
          </a:prstGeom>
          <a:noFill/>
          <a:ln/>
        </p:spPr>
        <p:txBody>
          <a:bodyPr wrap="square" lIns="0" tIns="0" rIns="0" bIns="0" rtlCol="0" anchor="t"/>
          <a:lstStyle/>
          <a:p>
            <a:pPr algn="l" indent="0" marL="0">
              <a:lnSpc>
                <a:spcPct val="115000"/>
              </a:lnSpc>
              <a:buNone/>
            </a:pPr>
            <a:r>
              <a:rPr lang="en-US" sz="1250" dirty="0">
                <a:solidFill>
                  <a:srgbClr val="1F2A37"/>
                </a:solidFill>
                <a:latin typeface="Calibri" pitchFamily="34" charset="0"/>
                <a:ea typeface="Calibri" pitchFamily="34" charset="-122"/>
                <a:cs typeface="Calibri" pitchFamily="34" charset="-120"/>
              </a:rPr>
              <a:t>Country (</a:t>
            </a:r>
            <a:pPr algn="l" indent="0" marL="0">
              <a:lnSpc>
                <a:spcPct val="115000"/>
              </a:lnSpc>
              <a:buNone/>
            </a:pPr>
            <a:r>
              <a:rPr lang="ar-SA" altLang="en-US" sz="1650" dirty="0">
                <a:solidFill>
                  <a:srgbClr val="1F2A37"/>
                </a:solidFill>
                <a:latin typeface="Amiri" pitchFamily="34" charset="0"/>
                <a:ea typeface="Amiri" pitchFamily="34" charset="-122"/>
                <a:cs typeface="Amiri" pitchFamily="34" charset="-120"/>
              </a:rPr>
              <a:t>مِنْ</a:t>
            </a:r>
            <a:pPr algn="l" indent="0" marL="0">
              <a:lnSpc>
                <a:spcPct val="115000"/>
              </a:lnSpc>
              <a:buNone/>
            </a:pPr>
            <a:r>
              <a:rPr lang="en-US" sz="1250" dirty="0">
                <a:solidFill>
                  <a:srgbClr val="1F2A37"/>
                </a:solidFill>
                <a:latin typeface="Calibri" pitchFamily="34" charset="0"/>
                <a:ea typeface="Calibri" pitchFamily="34" charset="-122"/>
                <a:cs typeface="Calibri" pitchFamily="34" charset="-120"/>
              </a:rPr>
              <a:t>) vs city (</a:t>
            </a:r>
            <a:pPr algn="l" indent="0" marL="0">
              <a:lnSpc>
                <a:spcPct val="115000"/>
              </a:lnSpc>
              <a:buNone/>
            </a:pPr>
            <a:r>
              <a:rPr lang="ar-SA" altLang="en-US" sz="1650" dirty="0">
                <a:solidFill>
                  <a:srgbClr val="1F2A37"/>
                </a:solidFill>
                <a:latin typeface="Amiri" pitchFamily="34" charset="0"/>
                <a:ea typeface="Amiri" pitchFamily="34" charset="-122"/>
                <a:cs typeface="Amiri" pitchFamily="34" charset="-120"/>
              </a:rPr>
              <a:t>فِي</a:t>
            </a:r>
            <a:pPr algn="l" indent="0" marL="0">
              <a:lnSpc>
                <a:spcPct val="115000"/>
              </a:lnSpc>
              <a:buNone/>
            </a:pPr>
            <a:r>
              <a:rPr lang="en-US" sz="1250" dirty="0">
                <a:solidFill>
                  <a:srgbClr val="1F2A37"/>
                </a:solidFill>
                <a:latin typeface="Calibri" pitchFamily="34" charset="0"/>
                <a:ea typeface="Calibri" pitchFamily="34" charset="-122"/>
                <a:cs typeface="Calibri" pitchFamily="34" charset="-120"/>
              </a:rPr>
              <a:t>).</a:t>
            </a:r>
            <a:endParaRPr lang="en-US" sz="1250" dirty="0"/>
          </a:p>
          <a:p>
            <a:pPr algn="l" indent="0" marL="0">
              <a:lnSpc>
                <a:spcPct val="115000"/>
              </a:lnSpc>
              <a:buNone/>
            </a:pPr>
            <a:r>
              <a:rPr lang="en-US" sz="1250" dirty="0">
                <a:solidFill>
                  <a:srgbClr val="1F2A37"/>
                </a:solidFill>
                <a:latin typeface="Calibri" pitchFamily="34" charset="0"/>
                <a:ea typeface="Calibri" pitchFamily="34" charset="-122"/>
                <a:cs typeface="Calibri" pitchFamily="34" charset="-120"/>
              </a:rPr>
              <a:t>Speaks (</a:t>
            </a:r>
            <a:pPr algn="l" indent="0" marL="0">
              <a:lnSpc>
                <a:spcPct val="115000"/>
              </a:lnSpc>
              <a:buNone/>
            </a:pPr>
            <a:r>
              <a:rPr lang="ar-SA" altLang="en-US" sz="1650" dirty="0">
                <a:solidFill>
                  <a:srgbClr val="1F2A37"/>
                </a:solidFill>
                <a:latin typeface="Amiri" pitchFamily="34" charset="0"/>
                <a:ea typeface="Amiri" pitchFamily="34" charset="-122"/>
                <a:cs typeface="Amiri" pitchFamily="34" charset="-120"/>
              </a:rPr>
              <a:t>أَتَكَلَّمُ</a:t>
            </a:r>
            <a:pPr algn="l" indent="0" marL="0">
              <a:lnSpc>
                <a:spcPct val="115000"/>
              </a:lnSpc>
              <a:buNone/>
            </a:pPr>
            <a:r>
              <a:rPr lang="en-US" sz="1250" dirty="0">
                <a:solidFill>
                  <a:srgbClr val="1F2A37"/>
                </a:solidFill>
                <a:latin typeface="Calibri" pitchFamily="34" charset="0"/>
                <a:ea typeface="Calibri" pitchFamily="34" charset="-122"/>
                <a:cs typeface="Calibri" pitchFamily="34" charset="-120"/>
              </a:rPr>
              <a:t>) vs understands (</a:t>
            </a:r>
            <a:pPr algn="l" indent="0" marL="0">
              <a:lnSpc>
                <a:spcPct val="115000"/>
              </a:lnSpc>
              <a:buNone/>
            </a:pPr>
            <a:r>
              <a:rPr lang="ar-SA" altLang="en-US" sz="1650" dirty="0">
                <a:solidFill>
                  <a:srgbClr val="1F2A37"/>
                </a:solidFill>
                <a:latin typeface="Amiri" pitchFamily="34" charset="0"/>
                <a:ea typeface="Amiri" pitchFamily="34" charset="-122"/>
                <a:cs typeface="Amiri" pitchFamily="34" charset="-120"/>
              </a:rPr>
              <a:t>أَفْهَمُ</a:t>
            </a:r>
            <a:pPr algn="l" indent="0" marL="0">
              <a:lnSpc>
                <a:spcPct val="115000"/>
              </a:lnSpc>
              <a:buNone/>
            </a:pPr>
            <a:r>
              <a:rPr lang="en-US" sz="1250" dirty="0">
                <a:solidFill>
                  <a:srgbClr val="1F2A37"/>
                </a:solidFill>
                <a:latin typeface="Calibri" pitchFamily="34" charset="0"/>
                <a:ea typeface="Calibri" pitchFamily="34" charset="-122"/>
                <a:cs typeface="Calibri" pitchFamily="34" charset="-120"/>
              </a:rPr>
              <a:t>).</a:t>
            </a:r>
            <a:endParaRPr lang="en-US" sz="1250" dirty="0"/>
          </a:p>
          <a:p>
            <a:pPr algn="l" indent="0" marL="0">
              <a:lnSpc>
                <a:spcPct val="115000"/>
              </a:lnSpc>
              <a:buNone/>
            </a:pPr>
            <a:r>
              <a:rPr lang="en-US" sz="1250" dirty="0">
                <a:solidFill>
                  <a:srgbClr val="1F2A37"/>
                </a:solidFill>
                <a:latin typeface="Calibri" pitchFamily="34" charset="0"/>
                <a:ea typeface="Calibri" pitchFamily="34" charset="-122"/>
                <a:cs typeface="Calibri" pitchFamily="34" charset="-120"/>
              </a:rPr>
              <a:t>Nationality vs place.</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F2-L09 · Listening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LISTENING TO PERSONAL INTRODUCTIONS”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match: profile cards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مَاسِحُ البِطَاقَةِ الشَّخْصِيَّةِ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F2-L09</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Ali · 15</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girl · France · French</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boy · Dubai</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أَسْكُنُ فِي دُبَي.</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اِسْمِي عَلِيٌّ وَعُمْرِي خَمْسَ عَشْرَةَ سَنَةً.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أَنَا فَرَنْسِيَّةٌ وَأَتَكَلَّمُ الفَرَنْسِيَّةَ.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F2-L09 · Listening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مَاسِحُ البِطَاقَةِ الشَّخْصِيَّةِ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F2-L09</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Ali · 15</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اِسْمِي عَلِيٌّ وَعُمْرِي خَمْسَ عَشْرَةَ سَنَةً.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My name is Ali and I am fifteen.</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girl · France · French</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أَنَا فَرَنْسِيَّةٌ وَأَتَكَلَّمُ الفَرَنْسِيَّةَ.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am French and I speak French. (girl)</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boy · Dubai</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أَسْكُنُ فِي دُبَي.</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live in Dubai.</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F2-L09 · Listening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Task A · Karim introduces himself</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old is Karim?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13</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12</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14</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his nationality?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Egyptian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Lebanese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Moroccan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he live?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Rabat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Paris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London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languages does he speak?</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Arabic and French</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Arabic and English</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French and English</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hobby does he like?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Swimming</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Football</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Drawing</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Task A · six-box grid:</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name · age · nationality · city · languages · hobby.</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F2-L09 · Listening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F2-L09</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مَرْحَبًا. اِسْمِي كَرِيمٌ، وَعُمْرِي ثَلَاثَ عَشْرَةَ سَنَةً.</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Hello. My name is Karim, and I am thirteen.</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أَنَا مَغْرِبِيٌّ، وَأَنَا مِنَ المَغْرِبِ.</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am Moroccan, and I am from Morocco.</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أَسْكُنُ فِي لَنْدَنَ، وَأَتَكَلَّمُ العَرَبِيَّةَ وَالفَرَنْسِيَّةَ.</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live in London, and I speak Arabic and French.</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أُحِبُّ كُرَةَ القَدَمِ. إِلَى اللِّقَاءِ.</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like football. See you later.</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F2-L09 · Listening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old is Karim?</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13</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12</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14</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ثَلَاثَ عَشْرَةَ</a:t>
            </a:r>
            <a:pPr algn="l" indent="0" marL="0">
              <a:buNone/>
            </a:pPr>
            <a:r>
              <a:rPr lang="en-US" sz="1050" i="1" dirty="0">
                <a:solidFill>
                  <a:srgbClr val="8A6D1E"/>
                </a:solidFill>
                <a:latin typeface="Calibri" pitchFamily="34" charset="0"/>
                <a:ea typeface="Calibri" pitchFamily="34" charset="-122"/>
                <a:cs typeface="Calibri" pitchFamily="34" charset="-120"/>
              </a:rPr>
              <a:t> means thirteen.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his nationality?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Egyptian</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Lebanese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Moroccan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says </a:t>
            </a:r>
            <a:pPr algn="l" indent="0" marL="0">
              <a:buNone/>
            </a:pPr>
            <a:r>
              <a:rPr lang="ar-SA" altLang="en-US" sz="1350" dirty="0">
                <a:solidFill>
                  <a:srgbClr val="8A6D1E"/>
                </a:solidFill>
                <a:latin typeface="Amiri" pitchFamily="34" charset="0"/>
                <a:ea typeface="Amiri" pitchFamily="34" charset="-122"/>
                <a:cs typeface="Amiri" pitchFamily="34" charset="-120"/>
              </a:rPr>
              <a:t>أَنَا مَغْرِبِيٌّ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he live?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Rabat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Paris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London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says </a:t>
            </a:r>
            <a:pPr algn="l" indent="0" marL="0">
              <a:buNone/>
            </a:pPr>
            <a:r>
              <a:rPr lang="ar-SA" altLang="en-US" sz="1350" dirty="0">
                <a:solidFill>
                  <a:srgbClr val="8A6D1E"/>
                </a:solidFill>
                <a:latin typeface="Amiri" pitchFamily="34" charset="0"/>
                <a:ea typeface="Amiri" pitchFamily="34" charset="-122"/>
                <a:cs typeface="Amiri" pitchFamily="34" charset="-120"/>
              </a:rPr>
              <a:t>أَسْكُنُ فِي لَنْدَنَ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languages does he speak?</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Arabic and French</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Arabic and English</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French and English</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says </a:t>
            </a:r>
            <a:pPr algn="l" indent="0" marL="0">
              <a:buNone/>
            </a:pPr>
            <a:r>
              <a:rPr lang="ar-SA" altLang="en-US" sz="1350" dirty="0">
                <a:solidFill>
                  <a:srgbClr val="8A6D1E"/>
                </a:solidFill>
                <a:latin typeface="Amiri" pitchFamily="34" charset="0"/>
                <a:ea typeface="Amiri" pitchFamily="34" charset="-122"/>
                <a:cs typeface="Amiri" pitchFamily="34" charset="-120"/>
              </a:rPr>
              <a:t>العَرَبِيَّةَ وَالفَرَنْسِيَّةَ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hobby does he like?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Swimming</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Football</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Drawing</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says </a:t>
            </a:r>
            <a:pPr algn="l" indent="0" marL="0">
              <a:buNone/>
            </a:pPr>
            <a:r>
              <a:rPr lang="ar-SA" altLang="en-US" sz="1350" dirty="0">
                <a:solidFill>
                  <a:srgbClr val="8A6D1E"/>
                </a:solidFill>
                <a:latin typeface="Amiri" pitchFamily="34" charset="0"/>
                <a:ea typeface="Amiri" pitchFamily="34" charset="-122"/>
                <a:cs typeface="Amiri" pitchFamily="34" charset="-120"/>
              </a:rPr>
              <a:t>أُحِبُّ كُرَةَ القَدَمِ</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Task A · six-box grid:</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name · age · nationality · city · languages · hobby.</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F2-L09 · Listening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TASK B · NOTE COMPLETION · LEILA’S INFORMATION CARD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Task B · Leila’s information card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بِطَاقَةُ لَيْلَى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old is Leila?</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12</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13</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11</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her nationality described?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British-Syrian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British-Lebanese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Lebanese-French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she live?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London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Manchester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Birmingham</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language does she understand too?</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Urdu</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Turkish</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Arabic</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her favourite hobby?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Drawing</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Reading</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Swimming</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 FIRST</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Stretch: cover the options.</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Write age, city and the understood language from memory, then check.</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F2-L09 · Listening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TASK B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Leila’s script with English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F2-L09</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السَّلَامُ عَلَيْكُمْ. اِسْمِي لَيْلَى، وَعُمْرِي إِحْدَى عَشْرَةَ سَنَةً.</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Peace be upon you. My name is Leila, and I am eleven.</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أَنَا بَرِيطَانِيَّةٌ لُبْنَانِيَّةٌ. أَنَا مِنْ بَرِيطَانِيَا، وَأَسْكُنُ فِي مَانْشِسْتَرَ.</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am British-Lebanese. I am from Britain, and I live in Manchester.</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أَتَكَلَّمُ الإِنْجِلِيزِيَّةَ، وَأَفْهَمُ العَرَبِيَّةَ أَيْضًا.</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speak English, and I understand Arabic too.</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هِوَايَتِي المُفَضَّلَةُ الرَّسْمُ.</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favourite hobby is drawing.</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F2-L09 · Listening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TASK B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Task B: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old is Leila?</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12</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13</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11</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إِحْدَى عَشْرَةَ</a:t>
            </a:r>
            <a:pPr algn="l" indent="0" marL="0">
              <a:buNone/>
            </a:pPr>
            <a:r>
              <a:rPr lang="en-US" sz="1050" i="1" dirty="0">
                <a:solidFill>
                  <a:srgbClr val="8A6D1E"/>
                </a:solidFill>
                <a:latin typeface="Calibri" pitchFamily="34" charset="0"/>
                <a:ea typeface="Calibri" pitchFamily="34" charset="-122"/>
                <a:cs typeface="Calibri" pitchFamily="34" charset="-120"/>
              </a:rPr>
              <a:t> means eleven.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her nationality described?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British-Syrian</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British-Lebanese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Lebanese-French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بَرِيطَانِيَّةٌ لُبْنَانِيَّةٌ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she live?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London</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Manchester</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Birmingham</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أَسْكُنُ فِي مَانْشِسْتَرَ</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language does she understand too?</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Urdu</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Turkish</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Arabic</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أَفْهَمُ العَرَبِيَّةَ أَيْضًا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her favourite hobby?</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Drawing</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Reading</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Swimming</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Her favourite hobby is </a:t>
            </a:r>
            <a:pPr algn="l" indent="0" marL="0">
              <a:buNone/>
            </a:pPr>
            <a:r>
              <a:rPr lang="ar-SA" altLang="en-US" sz="1350" dirty="0">
                <a:solidFill>
                  <a:srgbClr val="8A6D1E"/>
                </a:solidFill>
                <a:latin typeface="Amiri" pitchFamily="34" charset="0"/>
                <a:ea typeface="Amiri" pitchFamily="34" charset="-122"/>
                <a:cs typeface="Amiri" pitchFamily="34" charset="-120"/>
              </a:rPr>
              <a:t>الرَّسْمُ</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 FIRST</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Stretch: cover the options.</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Write age, city and the understood language from memory, then check.</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F2-L09 · Listening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TASK C · THREE SPEAKERS · MATCHING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Task C · Who matches each detail?</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 يُنَاسِبُ كُلَّ مَعْلُومَةٍ؟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twelve years old?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Maryam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Yusuf</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Bilal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lives in Paris?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Yusuf</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Maryam</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Bilal</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from Pakistan?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Yusuf</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Maryam</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Bilal</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speaks Arabic and French?</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Maryam</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Yusuf</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Bilal</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speaks English and Urdu?</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Maryam</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Bilal</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Yusuf</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Three columns: Speaker 1 · 2 ·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1: the three names.</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2: age, country, city, language.</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F2-L09 · Listening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TASK C · THE THREE DETAIL CARDS (WEBSITE MATCHING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three columns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بِطَاقَاتُ المُتَحَدِّثِينَ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Speaker</a:t>
            </a:r>
            <a:endParaRPr lang="en-US" sz="1100" dirty="0"/>
          </a:p>
        </p:txBody>
      </p:sp>
      <p:sp>
        <p:nvSpPr>
          <p:cNvPr id="17" name="Text 14"/>
          <p:cNvSpPr txBox="1"/>
          <p:nvPr/>
        </p:nvSpPr>
        <p:spPr>
          <a:xfrm>
            <a:off x="7964424"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Age</a:t>
            </a:r>
            <a:endParaRPr lang="en-US" sz="1100" dirty="0"/>
          </a:p>
        </p:txBody>
      </p:sp>
      <p:sp>
        <p:nvSpPr>
          <p:cNvPr id="18" name="Text 15"/>
          <p:cNvSpPr txBox="1"/>
          <p:nvPr/>
        </p:nvSpPr>
        <p:spPr>
          <a:xfrm>
            <a:off x="576986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From (</a:t>
            </a:r>
            <a:pPr algn="ctr" indent="0" marL="0">
              <a:buNone/>
            </a:pPr>
            <a:r>
              <a:rPr lang="ar-SA" altLang="en-US" sz="1450" b="1" dirty="0">
                <a:solidFill>
                  <a:srgbClr val="FFFFFF"/>
                </a:solidFill>
                <a:latin typeface="Amiri" pitchFamily="34" charset="0"/>
                <a:ea typeface="Amiri" pitchFamily="34" charset="-122"/>
                <a:cs typeface="Amiri" pitchFamily="34" charset="-120"/>
              </a:rPr>
              <a:t>مِنْ</a:t>
            </a:r>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9" name="Text 16"/>
          <p:cNvSpPr txBox="1"/>
          <p:nvPr/>
        </p:nvSpPr>
        <p:spPr>
          <a:xfrm>
            <a:off x="339242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Lives in (</a:t>
            </a:r>
            <a:pPr algn="ctr" indent="0" marL="0">
              <a:buNone/>
            </a:pPr>
            <a:r>
              <a:rPr lang="ar-SA" altLang="en-US" sz="1450" b="1" dirty="0">
                <a:solidFill>
                  <a:srgbClr val="FFFFFF"/>
                </a:solidFill>
                <a:latin typeface="Amiri" pitchFamily="34" charset="0"/>
                <a:ea typeface="Amiri" pitchFamily="34" charset="-122"/>
                <a:cs typeface="Amiri" pitchFamily="34" charset="-120"/>
              </a:rPr>
              <a:t>فِي</a:t>
            </a:r>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20" name="Text 17"/>
          <p:cNvSpPr txBox="1"/>
          <p:nvPr/>
        </p:nvSpPr>
        <p:spPr>
          <a:xfrm>
            <a:off x="53035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Speaks</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9445752" y="2267712"/>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يُوسُفُ</a:t>
            </a:r>
            <a:endParaRPr lang="ar-SA" sz="2400" dirty="0"/>
          </a:p>
        </p:txBody>
      </p:sp>
      <p:sp>
        <p:nvSpPr>
          <p:cNvPr id="23" name="Text 20"/>
          <p:cNvSpPr txBox="1"/>
          <p:nvPr/>
        </p:nvSpPr>
        <p:spPr>
          <a:xfrm>
            <a:off x="8001000" y="2267712"/>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12</a:t>
            </a:r>
            <a:endParaRPr lang="en-US" sz="1100" dirty="0"/>
          </a:p>
        </p:txBody>
      </p:sp>
      <p:sp>
        <p:nvSpPr>
          <p:cNvPr id="24" name="Text 21"/>
          <p:cNvSpPr txBox="1"/>
          <p:nvPr/>
        </p:nvSpPr>
        <p:spPr>
          <a:xfrm>
            <a:off x="5806440" y="2267712"/>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Egypt</a:t>
            </a:r>
            <a:endParaRPr lang="en-US" sz="1100" dirty="0"/>
          </a:p>
        </p:txBody>
      </p:sp>
      <p:sp>
        <p:nvSpPr>
          <p:cNvPr id="25" name="Text 22"/>
          <p:cNvSpPr txBox="1"/>
          <p:nvPr/>
        </p:nvSpPr>
        <p:spPr>
          <a:xfrm>
            <a:off x="3429000"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Birmingham</a:t>
            </a:r>
            <a:endParaRPr lang="en-US" sz="1100" dirty="0"/>
          </a:p>
        </p:txBody>
      </p:sp>
      <p:sp>
        <p:nvSpPr>
          <p:cNvPr id="26" name="Text 23"/>
          <p:cNvSpPr txBox="1"/>
          <p:nvPr/>
        </p:nvSpPr>
        <p:spPr>
          <a:xfrm>
            <a:off x="566928" y="2267712"/>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Arabic and English</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0" name="Text 27"/>
          <p:cNvSpPr txBox="1"/>
          <p:nvPr/>
        </p:nvSpPr>
        <p:spPr>
          <a:xfrm>
            <a:off x="9445752" y="3054096"/>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مَرْيَمُ</a:t>
            </a:r>
            <a:endParaRPr lang="ar-SA" sz="2400" dirty="0"/>
          </a:p>
        </p:txBody>
      </p:sp>
      <p:sp>
        <p:nvSpPr>
          <p:cNvPr id="31" name="Text 28"/>
          <p:cNvSpPr txBox="1"/>
          <p:nvPr/>
        </p:nvSpPr>
        <p:spPr>
          <a:xfrm>
            <a:off x="8001000" y="3054096"/>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14</a:t>
            </a:r>
            <a:endParaRPr lang="en-US" sz="1100" dirty="0"/>
          </a:p>
        </p:txBody>
      </p:sp>
      <p:sp>
        <p:nvSpPr>
          <p:cNvPr id="32" name="Text 29"/>
          <p:cNvSpPr txBox="1"/>
          <p:nvPr/>
        </p:nvSpPr>
        <p:spPr>
          <a:xfrm>
            <a:off x="5806440" y="3054096"/>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Syria</a:t>
            </a:r>
            <a:endParaRPr lang="en-US" sz="1100" dirty="0"/>
          </a:p>
        </p:txBody>
      </p:sp>
      <p:sp>
        <p:nvSpPr>
          <p:cNvPr id="33" name="Text 30"/>
          <p:cNvSpPr txBox="1"/>
          <p:nvPr/>
        </p:nvSpPr>
        <p:spPr>
          <a:xfrm>
            <a:off x="3429000"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Paris</a:t>
            </a:r>
            <a:endParaRPr lang="en-US" sz="1100" dirty="0"/>
          </a:p>
        </p:txBody>
      </p:sp>
      <p:sp>
        <p:nvSpPr>
          <p:cNvPr id="34" name="Text 31"/>
          <p:cNvSpPr txBox="1"/>
          <p:nvPr/>
        </p:nvSpPr>
        <p:spPr>
          <a:xfrm>
            <a:off x="566928" y="3054096"/>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Arabic and French</a:t>
            </a:r>
            <a:endParaRPr lang="en-US" sz="1100" dirty="0"/>
          </a:p>
        </p:txBody>
      </p:sp>
      <p:sp>
        <p:nvSpPr>
          <p:cNvPr id="35" name="Shape 32"/>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8" name="Text 35"/>
          <p:cNvSpPr txBox="1"/>
          <p:nvPr/>
        </p:nvSpPr>
        <p:spPr>
          <a:xfrm>
            <a:off x="9445752" y="3840480"/>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بِلَالٌ</a:t>
            </a:r>
            <a:endParaRPr lang="ar-SA" sz="2400" dirty="0"/>
          </a:p>
        </p:txBody>
      </p:sp>
      <p:sp>
        <p:nvSpPr>
          <p:cNvPr id="39" name="Text 36"/>
          <p:cNvSpPr txBox="1"/>
          <p:nvPr/>
        </p:nvSpPr>
        <p:spPr>
          <a:xfrm>
            <a:off x="8001000" y="3840480"/>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15</a:t>
            </a:r>
            <a:endParaRPr lang="en-US" sz="1100" dirty="0"/>
          </a:p>
        </p:txBody>
      </p:sp>
      <p:sp>
        <p:nvSpPr>
          <p:cNvPr id="40" name="Text 37"/>
          <p:cNvSpPr txBox="1"/>
          <p:nvPr/>
        </p:nvSpPr>
        <p:spPr>
          <a:xfrm>
            <a:off x="5806440" y="3840480"/>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Pakistan</a:t>
            </a:r>
            <a:endParaRPr lang="en-US" sz="1100" dirty="0"/>
          </a:p>
        </p:txBody>
      </p:sp>
      <p:sp>
        <p:nvSpPr>
          <p:cNvPr id="41" name="Text 38"/>
          <p:cNvSpPr txBox="1"/>
          <p:nvPr/>
        </p:nvSpPr>
        <p:spPr>
          <a:xfrm>
            <a:off x="3429000"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London</a:t>
            </a:r>
            <a:endParaRPr lang="en-US" sz="1100" dirty="0"/>
          </a:p>
        </p:txBody>
      </p:sp>
      <p:sp>
        <p:nvSpPr>
          <p:cNvPr id="42" name="Text 39"/>
          <p:cNvSpPr txBox="1"/>
          <p:nvPr/>
        </p:nvSpPr>
        <p:spPr>
          <a:xfrm>
            <a:off x="566928" y="3840480"/>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English and Urdu</a:t>
            </a:r>
            <a:endParaRPr lang="en-US" sz="1100" dirty="0"/>
          </a:p>
        </p:txBody>
      </p:sp>
      <p:sp>
        <p:nvSpPr>
          <p:cNvPr id="43" name="Shape 40"/>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F2-L09 · Listening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TASK C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Task C: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twelve years old?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Maryam</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Yusuf</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Bilal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Yusuf says </a:t>
            </a:r>
            <a:pPr algn="l" indent="0" marL="0">
              <a:buNone/>
            </a:pPr>
            <a:r>
              <a:rPr lang="ar-SA" altLang="en-US" sz="1350" dirty="0">
                <a:solidFill>
                  <a:srgbClr val="8A6D1E"/>
                </a:solidFill>
                <a:latin typeface="Amiri" pitchFamily="34" charset="0"/>
                <a:ea typeface="Amiri" pitchFamily="34" charset="-122"/>
                <a:cs typeface="Amiri" pitchFamily="34" charset="-120"/>
              </a:rPr>
              <a:t>اِثْنَتَا عَشْرَةَ سَنَةً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lives in Paris?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Yusuf</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Maryam</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Bilal</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Maryam says </a:t>
            </a:r>
            <a:pPr algn="l" indent="0" marL="0">
              <a:buNone/>
            </a:pPr>
            <a:r>
              <a:rPr lang="ar-SA" altLang="en-US" sz="1350" dirty="0">
                <a:solidFill>
                  <a:srgbClr val="8A6D1E"/>
                </a:solidFill>
                <a:latin typeface="Amiri" pitchFamily="34" charset="0"/>
                <a:ea typeface="Amiri" pitchFamily="34" charset="-122"/>
                <a:cs typeface="Amiri" pitchFamily="34" charset="-120"/>
              </a:rPr>
              <a:t>أَسْكُنُ فِي بَارِيسَ</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from Pakistan?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Yusuf</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Maryam</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Bilal</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Bilal says </a:t>
            </a:r>
            <a:pPr algn="l" indent="0" marL="0">
              <a:buNone/>
            </a:pPr>
            <a:r>
              <a:rPr lang="ar-SA" altLang="en-US" sz="1350" dirty="0">
                <a:solidFill>
                  <a:srgbClr val="8A6D1E"/>
                </a:solidFill>
                <a:latin typeface="Amiri" pitchFamily="34" charset="0"/>
                <a:ea typeface="Amiri" pitchFamily="34" charset="-122"/>
                <a:cs typeface="Amiri" pitchFamily="34" charset="-120"/>
              </a:rPr>
              <a:t>أَنَا مِنْ بَاكِسْتَانَ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speaks Arabic and French?</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Maryam</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Yusuf</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Bilal</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Maryam gives </a:t>
            </a:r>
            <a:pPr algn="l" indent="0" marL="0">
              <a:buNone/>
            </a:pPr>
            <a:r>
              <a:rPr lang="ar-SA" altLang="en-US" sz="1350" dirty="0">
                <a:solidFill>
                  <a:srgbClr val="8A6D1E"/>
                </a:solidFill>
                <a:latin typeface="Amiri" pitchFamily="34" charset="0"/>
                <a:ea typeface="Amiri" pitchFamily="34" charset="-122"/>
                <a:cs typeface="Amiri" pitchFamily="34" charset="-120"/>
              </a:rPr>
              <a:t>العَرَبِيَّةَ وَالفَرَنْسِيَّةَ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speaks English and Urdu?</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Maryam</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Bilal</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Yusuf</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Bilal gives </a:t>
            </a:r>
            <a:pPr algn="l" indent="0" marL="0">
              <a:buNone/>
            </a:pPr>
            <a:r>
              <a:rPr lang="ar-SA" altLang="en-US" sz="1350" dirty="0">
                <a:solidFill>
                  <a:srgbClr val="8A6D1E"/>
                </a:solidFill>
                <a:latin typeface="Amiri" pitchFamily="34" charset="0"/>
                <a:ea typeface="Amiri" pitchFamily="34" charset="-122"/>
                <a:cs typeface="Amiri" pitchFamily="34" charset="-120"/>
              </a:rPr>
              <a:t>الإِنْجِلِيزِيَّةَ وَالأُرْدِيَّةَ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Three columns: Speaker 1 · 2 ·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1: the three names.</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2: age, country, city, language.</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F2-L09 · Listening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Retell what you heard in the third person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F2-L09</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هُوَ؟ اِسْمُهُ … عُمْرُهُ …</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أَعِدْ رِوَايَةَ تَعْرِيفِ لَيْلَى.</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أَعِدْ رِوَايَةَ تَعْرِيفِ كَرِيمٍ.</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قَارِنْ بَيْنَ مَرْيَمَ وَبِلَالٍ.</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lnSpc>
                <a:spcPct val="120000"/>
              </a:lnSpc>
              <a:buNone/>
            </a:pPr>
            <a:r>
              <a:rPr lang="ar-SA" altLang="en-US" sz="1250" b="1" dirty="0">
                <a:solidFill>
                  <a:srgbClr val="1D5FBF"/>
                </a:solidFill>
                <a:latin typeface="Amiri" pitchFamily="34" charset="0"/>
                <a:ea typeface="Amiri" pitchFamily="34" charset="-122"/>
                <a:cs typeface="Amiri" pitchFamily="34" charset="-120"/>
              </a:rPr>
              <a:t>اِسْمُهُ / اِسْمُهَا ___ ، وَعُمْرُهُ / وَعُمْرُهَا ___ سَنَةً.</a:t>
            </a:r>
            <a:endParaRPr lang="ar-SA" sz="125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34" charset="0"/>
                <a:ea typeface="Amiri" pitchFamily="34" charset="-122"/>
                <a:cs typeface="Amiri" pitchFamily="34" charset="-120"/>
              </a:rPr>
              <a:t>هُوَ / هِيَ مِنْ ___ ، وَيَعِيشُ / وَتَعِيشُ فِي ___ .</a:t>
            </a:r>
            <a:endParaRPr lang="ar-SA" sz="135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مَرْيَمُ تَعِيشُ فِي بَارِيسَ، وَلَكِنْ بِلَالٌ ___ .</a:t>
            </a:r>
            <a:endParaRPr lang="ar-SA" sz="15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يَتَكَلَّمُ / تَتَكَلَّمُ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Calibri" pitchFamily="34" charset="-122"/>
                <a:cs typeface="Calibri" pitchFamily="34" charset="-120"/>
              </a:rPr>
              <a:t>هُوَ</a:t>
            </a:r>
            <a:endParaRPr lang="ar-SA"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اِسْمُهُ كَرِيمٌ، وَعُمْرُهُ ثَلَاثَ عَشْرَةَ سَنَةً. هُوَ مَغْرِبِيٌّ، وَيَعِيشُ فِي لَنْدَنَ.</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His name is Karim, and he is 13. He is Moroccan and lives in London.</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Calibri" pitchFamily="34" charset="-122"/>
                <a:cs typeface="Calibri" pitchFamily="34" charset="-120"/>
              </a:rPr>
              <a:t>هِيَ</a:t>
            </a:r>
            <a:endParaRPr lang="ar-SA"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اِسْمُهَا لَيْلَى، وَعُمْرُهَا إِحْدَى عَشْرَةَ سَنَةً. هِيَ بَرِيطَانِيَّةٌ لُبْنَانِيَّةٌ، وَتَعِيشُ فِي مَانْشِسْتَرَ.</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00" i="1" dirty="0">
                <a:solidFill>
                  <a:srgbClr val="5A6472"/>
                </a:solidFill>
                <a:latin typeface="Calibri" pitchFamily="34" charset="0"/>
                <a:ea typeface="Calibri" pitchFamily="34" charset="-122"/>
                <a:cs typeface="Calibri" pitchFamily="34" charset="-120"/>
              </a:rPr>
              <a:t>Her name is Leila, and she is 11. She is British-Lebanese and lives in Manchester.</a:t>
            </a:r>
            <a:endParaRPr lang="en-US" sz="80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F2-L09 · Listening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F2-L09</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Choose one speaker. Four accurate facts: name, age, country and city.</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One speaker: name, age, country, city — use your listening grid.</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Retell six facts using he / she and his / her forms, with two connectors.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Six facts with he / she forms and two connectors.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2 speakers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Compare two speakers: one complete sentence each and one contrast with </a:t>
            </a:r>
            <a:pPr algn="l" indent="0" marL="0">
              <a:buNone/>
            </a:pPr>
            <a:r>
              <a:rPr lang="ar-SA" altLang="en-US" sz="1800" b="1" dirty="0">
                <a:solidFill>
                  <a:srgbClr val="1F2A37"/>
                </a:solidFill>
                <a:latin typeface="Amiri" pitchFamily="34" charset="0"/>
                <a:ea typeface="Amiri" pitchFamily="34" charset="-122"/>
                <a:cs typeface="Amiri" pitchFamily="34" charset="-120"/>
              </a:rPr>
              <a:t>وَلَكِنْ</a:t>
            </a:r>
            <a:pPr algn="l" indent="0" marL="0">
              <a:buNone/>
            </a:pPr>
            <a:r>
              <a:rPr lang="en-US" sz="1400" b="1" dirty="0">
                <a:solidFill>
                  <a:srgbClr val="1F2A37"/>
                </a:solidFill>
                <a:latin typeface="Calibri" pitchFamily="34" charset="0"/>
                <a:ea typeface="Calibri" pitchFamily="34" charset="-122"/>
                <a:cs typeface="Calibri" pitchFamily="34" charset="-120"/>
              </a:rPr>
              <a: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One sentence for each speaker and a contrast with وَلَكِنْ.</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F2-L09 · Listening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F2-L09</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يَتَكَلَّمُ ______ وَ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speaks … and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وَتَفْهَمُ ______ أَيْضًا.</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She understands … too.</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يُحِبُّ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likes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هِوَايَتُهَا المُفَضَّلَةُ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Her favourite hobby is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 وَلَكِنْ ______ يَعِيشُ فِي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but … lives in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اِسْمُهُ / اِسْمُهَا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His / Her name is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عُمْرُهُ / عُمْرُهَا ______ سَنَةً.</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 She is … years old.</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هُوَ / هِيَ مِنْ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 She is from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يَعِيشُ / تَعِيشُ فِي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 She lives in …</a:t>
            </a:r>
            <a:endParaRPr lang="en-US" sz="1050" dirty="0"/>
          </a:p>
        </p:txBody>
      </p:sp>
      <p:sp>
        <p:nvSpPr>
          <p:cNvPr id="39" name="Shape 36"/>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1" name="Text 38"/>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كَرِيمٌ  ·  لَيْلَى  ·  يُوسُفُ  ·  مَرْيَمُ  ·  بِلَالٌ  ·  لَنْدَنَ  ·  مَانْشِسْتَرَ  ·  بَارِيسَ  ·  بِرْمِنْغَامَ  ·  المَغْرِبِ  ·  مِصْرَ  ·  سُورِيَا  ·  بَاكِسْتَانَ  ·  كُرَةَ القَدَمِ  ·  الرَّسْمُ</a:t>
            </a:r>
            <a:endParaRPr lang="ar-SA" sz="16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F2-L09 · Listening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اِسْمُهُ كَرِيمٌ، وَعُمْرُهُ ثَلَاثَ عَشْرَةَ سَنَةً. هُوَ مَغْرِبِيٌّ، وَيَعِيشُ فِي لَنْدَنَ. يَتَكَلَّمُ العَرَبِيَّةَ وَالفَرَنْسِيَّةَ، وَيُحِبُّ كُرَةَ القَدَمِ.</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His name is Karim, and he is thirteen. He is Moroccan, and he lives in London. He speaks Arabic and French, and he likes football.</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اِسْمُهُ / عُمْرُهُ</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nationality</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يَعِيشُ فِي</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languages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F2-L09 · Listening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listened twice: gist first, then details.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caught four facts about one speaker.</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kept country (</a:t>
            </a:r>
            <a:pPr algn="l" indent="0" marL="0">
              <a:buNone/>
            </a:pPr>
            <a:r>
              <a:rPr lang="ar-SA" altLang="en-US" sz="1700" dirty="0">
                <a:solidFill>
                  <a:srgbClr val="1F2A37"/>
                </a:solidFill>
                <a:latin typeface="Amiri" pitchFamily="34" charset="0"/>
                <a:ea typeface="Amiri" pitchFamily="34" charset="-122"/>
                <a:cs typeface="Amiri" pitchFamily="34" charset="-120"/>
              </a:rPr>
              <a:t>مِنْ</a:t>
            </a:r>
            <a:pPr algn="l" indent="0" marL="0">
              <a:buNone/>
            </a:pPr>
            <a:r>
              <a:rPr lang="en-US" sz="1300" dirty="0">
                <a:solidFill>
                  <a:srgbClr val="1F2A37"/>
                </a:solidFill>
                <a:latin typeface="Calibri" pitchFamily="34" charset="0"/>
                <a:ea typeface="Calibri" pitchFamily="34" charset="-122"/>
                <a:cs typeface="Calibri" pitchFamily="34" charset="-120"/>
              </a:rPr>
              <a:t>) and city (</a:t>
            </a:r>
            <a:pPr algn="l" indent="0" marL="0">
              <a:buNone/>
            </a:pPr>
            <a:r>
              <a:rPr lang="ar-SA" altLang="en-US" sz="1700" dirty="0">
                <a:solidFill>
                  <a:srgbClr val="1F2A37"/>
                </a:solidFill>
                <a:latin typeface="Amiri" pitchFamily="34" charset="0"/>
                <a:ea typeface="Amiri" pitchFamily="34" charset="-122"/>
                <a:cs typeface="Amiri" pitchFamily="34" charset="-120"/>
              </a:rPr>
              <a:t>فِي</a:t>
            </a:r>
            <a:pPr algn="l" indent="0" marL="0">
              <a:buNone/>
            </a:pPr>
            <a:r>
              <a:rPr lang="en-US" sz="1300" dirty="0">
                <a:solidFill>
                  <a:srgbClr val="1F2A37"/>
                </a:solidFill>
                <a:latin typeface="Calibri" pitchFamily="34" charset="0"/>
                <a:ea typeface="Calibri" pitchFamily="34" charset="-122"/>
                <a:cs typeface="Calibri" pitchFamily="34" charset="-120"/>
              </a:rPr>
              <a:t>) apart.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retold six facts with </a:t>
            </a:r>
            <a:pPr algn="l" indent="0" marL="0">
              <a:buNone/>
            </a:pPr>
            <a:r>
              <a:rPr lang="ar-SA" altLang="en-US" sz="1700" dirty="0">
                <a:solidFill>
                  <a:srgbClr val="1F2A37"/>
                </a:solidFill>
                <a:latin typeface="Amiri" pitchFamily="34" charset="0"/>
                <a:ea typeface="Amiri" pitchFamily="34" charset="-122"/>
                <a:cs typeface="Amiri" pitchFamily="34" charset="-120"/>
              </a:rPr>
              <a:t>هُوَ / هِيَ</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compared two speakers with </a:t>
            </a:r>
            <a:pPr algn="l" indent="0" marL="0">
              <a:buNone/>
            </a:pPr>
            <a:r>
              <a:rPr lang="ar-SA" altLang="en-US" sz="1700" dirty="0">
                <a:solidFill>
                  <a:srgbClr val="1F2A37"/>
                </a:solidFill>
                <a:latin typeface="Amiri" pitchFamily="34" charset="0"/>
                <a:ea typeface="Amiri" pitchFamily="34" charset="-122"/>
                <a:cs typeface="Amiri" pitchFamily="34" charset="-120"/>
              </a:rPr>
              <a:t>وَلَكِنْ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F2-L09 · Listening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number is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أَرْبَعَ عَشْرَةَ</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14</a:t>
            </a:r>
            <a:endParaRPr lang="en-US" sz="12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13</a:t>
            </a:r>
            <a:endParaRPr lang="en-US" sz="12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15</a:t>
            </a:r>
            <a:endParaRPr lang="en-US" sz="1250" dirty="0"/>
          </a:p>
        </p:txBody>
      </p:sp>
      <p:sp>
        <p:nvSpPr>
          <p:cNvPr id="29" name="Shape 26"/>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means ‘he lives’?</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تَعِيشُ</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يَعِيشُ</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أَعِيشُ</a:t>
            </a:r>
            <a:endParaRPr lang="ar-SA" sz="2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should you use the transcript?</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attempting the listening task, to verify and repair</a:t>
            </a:r>
            <a:endParaRPr lang="en-US" sz="12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Before listening, to copy answers</a:t>
            </a:r>
            <a:endParaRPr lang="en-US" sz="12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Instead of listening</a:t>
            </a:r>
            <a:endParaRPr lang="en-US" sz="1250" dirty="0"/>
          </a:p>
        </p:txBody>
      </p:sp>
      <p:sp>
        <p:nvSpPr>
          <p:cNvPr id="55" name="Shape 52"/>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7" name="Text 54"/>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F2-L09 · Listening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number is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أَرْبَعَ عَشْرَةَ</a:t>
            </a:r>
            <a:endParaRPr lang="ar-SA" sz="2200" dirty="0"/>
          </a:p>
        </p:txBody>
      </p:sp>
      <p:sp>
        <p:nvSpPr>
          <p:cNvPr id="20" name="Shape 17"/>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532888"/>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14</a:t>
            </a:r>
            <a:endParaRPr lang="en-US" sz="12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13</a:t>
            </a:r>
            <a:endParaRPr lang="en-US" sz="1250" dirty="0"/>
          </a:p>
        </p:txBody>
      </p:sp>
      <p:sp>
        <p:nvSpPr>
          <p:cNvPr id="27" name="Shape 24"/>
          <p:cNvSpPr/>
          <p:nvPr/>
        </p:nvSpPr>
        <p:spPr>
          <a:xfrm>
            <a:off x="640080" y="344728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15</a:t>
            </a:r>
            <a:endParaRPr lang="en-US" sz="1250" dirty="0"/>
          </a:p>
        </p:txBody>
      </p:sp>
      <p:sp>
        <p:nvSpPr>
          <p:cNvPr id="30" name="Text 27"/>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أَرْبَعَ عَشْرَةَ</a:t>
            </a:r>
            <a:pPr algn="l" indent="0" marL="0">
              <a:buNone/>
            </a:pPr>
            <a:r>
              <a:rPr lang="en-US" sz="1050" i="1" dirty="0">
                <a:solidFill>
                  <a:srgbClr val="8A6D1E"/>
                </a:solidFill>
                <a:latin typeface="Calibri" pitchFamily="34" charset="0"/>
                <a:ea typeface="Calibri" pitchFamily="34" charset="-122"/>
                <a:cs typeface="Calibri" pitchFamily="34" charset="-120"/>
              </a:rPr>
              <a:t> is fourteen.</a:t>
            </a:r>
            <a:endParaRPr lang="en-US" sz="1050" dirty="0"/>
          </a:p>
        </p:txBody>
      </p:sp>
      <p:sp>
        <p:nvSpPr>
          <p:cNvPr id="31" name="Shape 28"/>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means ‘he lives’?</a:t>
            </a:r>
            <a:endParaRPr lang="en-US" sz="1250" dirty="0"/>
          </a:p>
        </p:txBody>
      </p:sp>
      <p:sp>
        <p:nvSpPr>
          <p:cNvPr id="35" name="Shape 32"/>
          <p:cNvSpPr/>
          <p:nvPr/>
        </p:nvSpPr>
        <p:spPr>
          <a:xfrm>
            <a:off x="4459224" y="2532888"/>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تَعِيشُ</a:t>
            </a:r>
            <a:endParaRPr lang="ar-SA" sz="2050" dirty="0"/>
          </a:p>
        </p:txBody>
      </p:sp>
      <p:sp>
        <p:nvSpPr>
          <p:cNvPr id="38" name="Shape 35"/>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990088"/>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يَعِيشُ</a:t>
            </a:r>
            <a:endParaRPr lang="ar-SA" sz="2050" dirty="0"/>
          </a:p>
        </p:txBody>
      </p:sp>
      <p:sp>
        <p:nvSpPr>
          <p:cNvPr id="42" name="Shape 39"/>
          <p:cNvSpPr/>
          <p:nvPr/>
        </p:nvSpPr>
        <p:spPr>
          <a:xfrm>
            <a:off x="4459224" y="344728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أَعِيشُ</a:t>
            </a:r>
            <a:endParaRPr lang="ar-SA" sz="2050" dirty="0"/>
          </a:p>
        </p:txBody>
      </p:sp>
      <p:sp>
        <p:nvSpPr>
          <p:cNvPr id="45" name="Text 42"/>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يَعِيشُ</a:t>
            </a:r>
            <a:pPr algn="l" indent="0" marL="0">
              <a:buNone/>
            </a:pPr>
            <a:r>
              <a:rPr lang="en-US" sz="1050" i="1" dirty="0">
                <a:solidFill>
                  <a:srgbClr val="8A6D1E"/>
                </a:solidFill>
                <a:latin typeface="Calibri" pitchFamily="34" charset="0"/>
                <a:ea typeface="Calibri" pitchFamily="34" charset="-122"/>
                <a:cs typeface="Calibri" pitchFamily="34" charset="-120"/>
              </a:rPr>
              <a:t> is the third-person masculine form.</a:t>
            </a:r>
            <a:endParaRPr lang="en-US" sz="1050" dirty="0"/>
          </a:p>
        </p:txBody>
      </p:sp>
      <p:sp>
        <p:nvSpPr>
          <p:cNvPr id="46" name="Shape 43"/>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should you use the transcript?</a:t>
            </a:r>
            <a:endParaRPr lang="en-US" sz="1250" dirty="0"/>
          </a:p>
        </p:txBody>
      </p:sp>
      <p:sp>
        <p:nvSpPr>
          <p:cNvPr id="50" name="Shape 47"/>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532888"/>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After attempting the listening task, to verify and repair</a:t>
            </a:r>
            <a:endParaRPr lang="en-US" sz="1250" dirty="0"/>
          </a:p>
        </p:txBody>
      </p:sp>
      <p:sp>
        <p:nvSpPr>
          <p:cNvPr id="54" name="Shape 51"/>
          <p:cNvSpPr/>
          <p:nvPr/>
        </p:nvSpPr>
        <p:spPr>
          <a:xfrm>
            <a:off x="8278368" y="2990088"/>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Before listening, to copy answers</a:t>
            </a:r>
            <a:endParaRPr lang="en-US" sz="1250" dirty="0"/>
          </a:p>
        </p:txBody>
      </p:sp>
      <p:sp>
        <p:nvSpPr>
          <p:cNvPr id="57" name="Shape 54"/>
          <p:cNvSpPr/>
          <p:nvPr/>
        </p:nvSpPr>
        <p:spPr>
          <a:xfrm>
            <a:off x="8278368" y="344728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Instead of listening</a:t>
            </a:r>
            <a:endParaRPr lang="en-US" sz="1250" dirty="0"/>
          </a:p>
        </p:txBody>
      </p:sp>
      <p:sp>
        <p:nvSpPr>
          <p:cNvPr id="60" name="Text 57"/>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transcript is a review tool after a genuine attempt.</a:t>
            </a:r>
            <a:endParaRPr lang="en-US" sz="1050" dirty="0"/>
          </a:p>
        </p:txBody>
      </p:sp>
      <p:sp>
        <p:nvSpPr>
          <p:cNvPr id="61" name="Shape 58"/>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2" name="Text 59"/>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3" name="Text 60"/>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F2-L09 · Listening</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F2-L10: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F2-L10 · Greetings and Identity in the Arab World</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ثَقَافَةٌ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culture</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عَادَاتٌ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customs, habits</a:t>
            </a:r>
            <a:pPr indent="0" marL="0">
              <a:buNone/>
            </a:pPr>
            <a:r>
              <a:rPr lang="en-US" sz="1000" i="1" dirty="0">
                <a:solidFill>
                  <a:srgbClr val="5A6472"/>
                </a:solidFill>
                <a:latin typeface="Calibri" pitchFamily="34" charset="0"/>
                <a:ea typeface="Calibri" pitchFamily="34" charset="-122"/>
                <a:cs typeface="Calibri" pitchFamily="34" charset="-120"/>
              </a:rPr>
              <a:t>  sg. عَادَةٌ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اِحْتِرَامٌ</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respect</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هُوِيَّةٌ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identity</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فَخُورٌ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proud (m.)</a:t>
            </a:r>
            <a:pPr indent="0" marL="0">
              <a:buNone/>
            </a:pPr>
            <a:r>
              <a:rPr lang="en-US" sz="1000" i="1" dirty="0">
                <a:solidFill>
                  <a:srgbClr val="5A6472"/>
                </a:solidFill>
                <a:latin typeface="Calibri" pitchFamily="34" charset="0"/>
                <a:ea typeface="Calibri" pitchFamily="34" charset="-122"/>
                <a:cs typeface="Calibri" pitchFamily="34" charset="-120"/>
              </a:rPr>
              <a:t>  f. فَخُورَةٌ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Think of one greeting custom in your family or community. You do NOT have to share anything personal.</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أَنَا فَخُورٌ / فَخُورَةٌ بِـ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F2-L09: Task A (six questions), then the instruction-word check.</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Tasks B and C, then write your retell (4–6 sentences).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All three tasks, a two-speaker comparison, and the 12-question checkpoint (aim for 10/12).</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F2-L09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00" b="1" dirty="0">
                <a:solidFill>
                  <a:srgbClr val="FFFFFF"/>
                </a:solidFill>
                <a:latin typeface="Cambria" pitchFamily="34" charset="0"/>
                <a:ea typeface="Cambria" pitchFamily="34" charset="-122"/>
                <a:cs typeface="Cambria" pitchFamily="34" charset="-120"/>
              </a:rPr>
              <a:t>F2-L10 · Greetings and Identity in the Arab World</a:t>
            </a:r>
            <a:endParaRPr lang="en-US" sz="20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التَّحِيَّاتُ وَالهُوِيَّةُ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listen twice — gist first, details second.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F2-L09 · Listening to Personal Introductions</dc:title>
  <dc:subject>PptxGenJS Presentation</dc:subject>
  <dc:creator>Al Madina Online School · Arabic Department</dc:creator>
  <cp:lastModifiedBy>Al Madina Online School · Arabic Department</cp:lastModifiedBy>
  <cp:revision>1</cp:revision>
  <dcterms:created xsi:type="dcterms:W3CDTF">2026-09-27T10:53:28Z</dcterms:created>
  <dcterms:modified xsi:type="dcterms:W3CDTF">2026-09-27T10:53:28Z</dcterms:modified>
</cp:coreProperties>
</file>