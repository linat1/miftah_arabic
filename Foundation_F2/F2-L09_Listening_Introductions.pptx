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10–18 Signals, routine, instruction words · 18–20 Quick check · 20–23 Clue lab · 23–30 Task A · 30–37 Task B · 37–44 Task C · 44–50 Retell (speak, then write) · 50–54 Feedback · 54–56 Preparation.
FLEX slides are optional. Use them if the class is moving quickly; otherwise the same activities are on the website for homework.
Content source: Miftah Arabic website, Pathways › Foundation › F2 Greetings &amp; Introductions › Lesson 9 (F2-L09). Website sections used: the six fact families, the eight-question signal check, the four-step listening routine, the complete listening reference table (questions, signals, ages, countries, cities, languages, interests, task words, strategy words), the instruction-word check (6), the ten-question clue and distractor lab, Task A (Karim, six multiple-choice questions), Task B (Leila, seven detail checks), Task C (three speakers, matching + six checks), the third-person retell with profile cards and the twelve-question listening checkpoint. The website visual game repeats the F2-L08 cards; three different cards are used here.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lesson has NO new topic language: it trains LISTENING with everything from F2-L01 to L08. Audio on the website is “coming soon”, so the teacher reads every script (twice, natural pace, pausing between sentences on the second reading). All scripts are in the notes.
• Website listening rule: “Keep moving — missing one word does not mean you have missed the answer.” Teach the four-step routine explicitly and use it for every task.
• Core: Task A + Task C names; four-fact retell. Develop: all three tasks; six-fact retell. Stretch: note completion without options (Task B, answers hidden) and a two-speaker comparison with وَلَكِنْ.
• SEND / EAL: the read-along slides are shown ONLY after the second listening; allow a written grid instead of spoken answers.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Make the routine visible and predictable (SEND). Remind students that the scripts will be shown AFTER the listening to check and repair — never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“eight-question signal check” (age, residence, her).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fact has a SIGNAL phrase in front of it. Hear the signal → get ready for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and the website retell routes (Core / Develop / Stretch).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صحیح (correct — the SAME word), خطا (mistake), تفصیل (detail → التَّفَاصِيلُ), فکر (thought → الفِكْرَةُ الرَّئِيسِيَّةُ, the main idea), جواب (answer). Urdu speakers will find the Arabic task instructions surprisingly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SIGNAL TABLE (website “Keep the F2 listening vocabulary at hand”). Drill: teacher says ONLY the signal (“عُمْرِي …”) and pauses; students call out the fact family (“age!”).
Website distractor warnings: a country normally follows مِنْ, a city follows فِي; a nationality describes the person (مَغْرِبِيٌّ), it is NOT the country. Listen for the number immediately before سَنَةً.
Cities on the website: لَنْدَنُ · مَانْشِسْتَرُ · بِرْمِنْغَامُ · القَاهِرَةُ · دِمَشْقُ · بَيْرُوتُ · الرِّيَاضُ · بَارِيسُ · إِسْطَنْبُولُ · الرِّبَاطُ.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ROUTINE (website section 2). Put this slide back on screen before each task (A, B, C). Website rule: “Keep moving. Missing one word does not mean you have missed the answer. The key fact may be repeated or signalled by a familiar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TASK INSTRUCTIONS (website “Listening task instructions” and “Listening strategy vocabulary”). Cards 1–2 show the command for a boy / girl / group — F2-L06 pattern (تَفَضَّلْ / تَفَضَّلِي).
Website strategy words (recognition): أَسْتَمِعُ I listen · يَسْتَمِعُ he listens · تَسْتَمِعُ she listens · أُرَكِّزُ I focus · السُّؤَالُ the question · الإِجَابَةُ the answer.
From today, give listening instructions in Arabic: اِسْتَمِعُوا … اِخْتَارُوا … مَرَّةً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“Listening instruction-word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model the thinking for questions 1 and 3 aloud (“I hear مِنْ, so Egypt is the COUNTRY of origin…”); students do the rest. Website: “These short decisions train the exact contrasts that cause missed answers: country versus city, speaker versus another person, and one number versus a similar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ask “Which word was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Listening to Personal Introductions”)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(it repeats the F2-L08 card set; these are the three cards not used last lesson). Use it as a quick reading warm-up before the listening tasks: the SIGNAL words (اِسْمِي، عُمْرِي، أَنَا … وَأَتَكَلَّمُ، أَسْكُنُ فِي) are exactly what students will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Listening to Personal Introductions”)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(it repeats the F2-L08 card set; these are the three cards not used last lesson). Use it as a quick reading warm-up before the listening tasks: the SIGNAL words (اِسْمِي، عُمْرِي، أَنَا … وَأَتَكَلَّمُ، أَسْكُنُ فِي) are exactly what students will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Website multiple-choice task.
Listen 1: just listen. Listen 2: note answers. Then chat the letters.
Support: after the second listening, show the read-along slide (Arabic + English, line by line) for Core students.
SCRIPT (read aloud):
مَرْحَبًا. اِسْمِي كَرِيمٌ، وَعُمْرِي ثَلَاثَ عَشْرَةَ سَنَةً. أَنَا مَغْرِبِيٌّ، وَأَنَا مِنَ المَغْرِبِ. أَسْكُنُ فِي لَنْدَنَ، وَأَتَكَلَّمُ العَرَبِيَّةَ وَالفَرَنْسِيَّةَ. أُحِبُّ كُرَةَ القَدَمِ. 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TASK B (website note completion, 5 of 7 detail checks). Website: “This time the answers are not all given as options. Record exact details.” Students first write a seven-line card (age · nationality · country · city · language spoken · language understood · favourite hobby), THEN answer.
Website listening instruction: first identify whether Leila gives one nationality or more than one; on the second listen, record age, city and languages.
SCRIPT (read aloud twice):
السَّلَامُ عَلَيْكُمْ. اِسْمِي لَيْلَى، وَعُمْرِي إِحْدَى عَشْرَةَ سَنَةً. أَنَا بَرِيطَانِيَّةٌ لُبْنَانِيَّةٌ. أَنَا مِنْ بَرِيطَانِيَا، وَأَسْكُنُ فِي مَانْشِسْتَرَ. أَتَكَلَّمُ الإِنْجِلِيزِيَّةَ، وَأَفْهَمُ العَرَبِيَّةَ أَيْضًا. هِوَايَتِي المُفَضَّلَةُ الرَّسْمُ.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READ-ALONG — show ONLY after the second listening. Point out the trap: Leila SPEAKS English but UNDERSTANDS Arabic; she is from Britain (مِنْ) and lives in Manchester (فِي). Two nationalities side by side (بَرِيطَانِيَّةٌ لُبْنَانِيَّةٌ) — layered identity, as in F2-L04.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answers; ask “What was the signal?” (عُمْرِي · أَنَا … · أَسْكُنُ فِي · أَفْهَمُ · هِوَايَتِي).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TASK C (website matching, 5 of 6 detail checks). Three students speak in order. Website instruction: first hearing — record the three names; second hearing — add one age, country, city and language for each.
SCRIPT (read aloud twice, pausing between speakers):
المُتَحَدِّثُ الأَوَّلُ: اِسْمِي يُوسُفُ، وَعُمْرِي اِثْنَتَا عَشْرَةَ سَنَةً. أَنَا مِنْ مِصْرَ، وَأَسْكُنُ فِي بِرْمِنْغَامَ. أَتَكَلَّمُ العَرَبِيَّةَ وَالإِنْجِلِيزِيَّةَ.
المُتَحَدِّثَةُ الثَّانِيَةُ: اِسْمِي مَرْيَمُ، وَعُمْرِي أَرْبَعَ عَشْرَةَ سَنَةً. أَنَا مِنْ سُورِيَا، وَأَسْكُنُ فِي بَارِيسَ. أَتَكَلَّمُ العَرَبِيَّةَ وَالفَرَنْسِيَّةَ.
المُتَحَدِّثُ الثَّالِثُ: اِسْمِي بِلَالٌ، وَعُمْرِي خَمْسَ عَشْرَةَ سَنَةً. أَنَا مِنْ بَاكِسْتَانَ، وَأَسْكُنُ فِي لَنْدَنَ. أَتَكَلَّمُ الإِنْجِلِيزِيَّةَ وَالأُرْدِيَّةَ.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MISSION (website “Match each name to its complete detail card”). Show AFTER the second listening: students compare with their three columns and correct in green pen. Then show the Arabic script on request (it is in the notes of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Distractor discussion: Yusuf and Bilal BOTH speak English; Maryam and Yusuf BOTH speak Arabic — which extra detail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RETELL (section 8): “Listening becomes stronger when you can transform notes into a short spoken or written profile.”
Random retell cards (website): Karim (Age 13 · Moroccan · London · Arabic and French · football) · Leila (Age 11 · British-Lebanese · Manchester · English and Arabic · drawing) · Yusuf (Age 12 · Egyptian · Birmingham · Arabic and English) · Maryam (Age 14 · Syrian · Paris · Arabic and French) · Bilal (Age 15 · Pakistani · London · English and Urdu).
Routes (website): Core — choose one speaker, four facts (name, age, country, city) · Develop — six facts with هُوَ / هِيَ, اِسْمُهُ / اِسْمُهَا and two connectors · Stretch — compare two speakers with one contrast using وَلَكِنْ.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Choose one speaker. Four accurate facts: name, age, country and city. · Develop — Retell six facts using he / she and his / her forms, with two connectors. · Stretch — Compare two speakers: one complete sentence each and one contrast with وَلَكِنْ.
Website writing task (Stretch): Website retell task: write four to six sentences retelling one speaker’s information in the third person. Underline the six fact signals and read your profile aloud.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retell model (Karim). Ask: which facts from the ORIGINAL listening changed form? (اِسْمِي → اِسْمُهُ · أَسْكُنُ → يَعِيشُ · أَتَكَلَّمُ → يَتَكَلَّمُ).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(F2-L10 · Greetings and Identity in the Arab World) will spend class time USING this language, so students prepare it tonight — short, simple, easy to access (school guidance: “Simple, Short, Interesting, Relevant, Easy to access”). The five words are from the website F2-L10 core cultural vocabulary (the first ten words are the lesson’s required core).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Listening to Personal Introductions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إِلَى التَّعْرِيفَاتِ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Train your ear to catch the facts that matter — name, age, country, city, language and interests — through multiple-choice, note-completion and matching tasks, then retell what you heard in the third person.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F2-L09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listening lesson,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which fact follows which phrase?</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Signal phrases, the four-step routine, task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الإِشَارَاتُ</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Clue lab: how I avoid a trap.</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21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listening tasks: A, B and C.</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Retell one speaker: say it, then write it.</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self-check and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You will hear every text TWICE. First listen: who is speaking and which facts? Second listen: the exact details. Missing a word is normal — keep listening for the next signal.</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اِسْتَمِعْ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 correct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 wrong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details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fact normally follows this?</a:t>
            </a:r>
            <a:endParaRPr lang="en-US" sz="11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عُمْرِي؟</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Age</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fact normally follows this?</a:t>
            </a:r>
            <a:endParaRPr lang="en-US" sz="11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أَسْكُنُ فِي</a:t>
            </a:r>
            <a:endParaRPr lang="ar-SA" sz="22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Country of origin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City or place of residence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information about a girl or woman?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عُمْرُهُ</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اِسْتَمِعْ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 correct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 wrong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details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fact normally follows this?</a:t>
            </a:r>
            <a:endParaRPr lang="en-US" sz="11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عُمْرِي؟</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Nationality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a:t>
            </a:r>
            <a:endParaRPr lang="en-US" sz="125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Age</a:t>
            </a:r>
            <a:endParaRPr lang="en-US" sz="12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عُمْرِي</a:t>
            </a:r>
            <a:pPr algn="l" indent="0" marL="0">
              <a:buNone/>
            </a:pPr>
            <a:r>
              <a:rPr lang="en-US" sz="1050" i="1" dirty="0">
                <a:solidFill>
                  <a:srgbClr val="8A6D1E"/>
                </a:solidFill>
                <a:latin typeface="Calibri" pitchFamily="34" charset="0"/>
                <a:cs typeface="Amiri" pitchFamily="2" charset="-78"/>
              </a:rPr>
              <a:t> introduces age, normally followed by a number and </a:t>
            </a:r>
            <a:pPr algn="l" indent="0" marL="0">
              <a:buNone/>
            </a:pPr>
            <a:r>
              <a:rPr lang="ar-SA" altLang="en-US" sz="1350" dirty="0">
                <a:solidFill>
                  <a:srgbClr val="8A6D1E"/>
                </a:solidFill>
                <a:latin typeface="Amiri" pitchFamily="2" charset="-78"/>
                <a:ea typeface="Amiri" pitchFamily="2" charset="-78"/>
                <a:cs typeface="Amiri" pitchFamily="2" charset="-78"/>
              </a:rPr>
              <a:t>سَنَةً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fact normally follows this?</a:t>
            </a:r>
            <a:endParaRPr lang="en-US" sz="11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أَسْكُنُ فِي</a:t>
            </a:r>
            <a:endParaRPr lang="ar-SA" sz="22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Country of origin</a:t>
            </a:r>
            <a:endParaRPr lang="en-US" sz="125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Age</a:t>
            </a:r>
            <a:endParaRPr lang="en-US" sz="125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City or place of residence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introduces the place where someone lives.</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information about a girl or woman?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عُمْرُهَا</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عُمْرُهُ</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عُمْرِي</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fact has a SIGNAL phrase in front of it. Hear the signal → get ready for the fact.</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عُمْرِي … · أَنَا مِنْ … · أَسْكُنُ فِي …</a:t>
            </a:r>
            <a:endParaRPr lang="ar-SA" sz="22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name, age, country, city, language and interests.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signal phrases to predict and find each fact.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multiple-choice, note and matching tasks.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Retell what I heard in the third person.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catch four facts about one speaker.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retell four facts with </a:t>
            </a:r>
            <a:pPr algn="l" indent="0" marL="0">
              <a:buNone/>
            </a:pPr>
            <a:r>
              <a:rPr lang="ar-SA" altLang="en-US" sz="1700" b="1" dirty="0">
                <a:solidFill>
                  <a:srgbClr val="2E8B57"/>
                </a:solidFill>
                <a:latin typeface="Amiri" pitchFamily="2" charset="-78"/>
                <a:ea typeface="Amiri" pitchFamily="2" charset="-78"/>
                <a:cs typeface="Amiri" pitchFamily="2" charset="-78"/>
              </a:rPr>
              <a:t>هُوَ / هِيَ</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complete all three listening tasks.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retell six facts with two connectors.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complete notes without options.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speakers with “but”.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No new topic vocabulary today — only listening SIGNALS, task instructions and strategy words from the website.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Signal phrases · 6 fact families</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Task instructions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Strategy words · 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صَحِيحٌ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‎صحیح‎ </a:t>
            </a:r>
            <a:pPr indent="0" marL="0">
              <a:buNone/>
            </a:pPr>
            <a:r>
              <a:rPr lang="en-US" sz="950" b="1" dirty="0">
                <a:solidFill>
                  <a:srgbClr val="2E8B57"/>
                </a:solidFill>
                <a:latin typeface="Calibri" pitchFamily="34" charset="0"/>
                <a:cs typeface="Amiri" pitchFamily="2" charset="-78"/>
              </a:rPr>
              <a:t> sahīh · correct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خَطَأٌ</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‎خطا‎ </a:t>
            </a:r>
            <a:pPr indent="0" marL="0">
              <a:buNone/>
            </a:pPr>
            <a:r>
              <a:rPr lang="en-US" sz="950" b="1" dirty="0">
                <a:solidFill>
                  <a:srgbClr val="2E8B57"/>
                </a:solidFill>
                <a:latin typeface="Calibri" pitchFamily="34" charset="0"/>
                <a:cs typeface="Amiri" pitchFamily="2" charset="-78"/>
              </a:rPr>
              <a:t> khatā · mistake, error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تَفَاصِيلُ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tafsīl · detail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فِكْرَةٌ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‎فکر‎ </a:t>
            </a:r>
            <a:pPr indent="0" marL="0">
              <a:buNone/>
            </a:pPr>
            <a:r>
              <a:rPr lang="en-US" sz="950" b="1" dirty="0">
                <a:solidFill>
                  <a:srgbClr val="2E8B57"/>
                </a:solidFill>
                <a:latin typeface="Calibri" pitchFamily="34" charset="0"/>
                <a:cs typeface="Amiri" pitchFamily="2" charset="-78"/>
              </a:rPr>
              <a:t> fikr · thought, idea</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جَوَابٌ · إِجَابَةٌ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‎جواب‎ </a:t>
            </a:r>
            <a:pPr indent="0" marL="0">
              <a:buNone/>
            </a:pPr>
            <a:r>
              <a:rPr lang="en-US" sz="950" b="1" dirty="0">
                <a:solidFill>
                  <a:srgbClr val="2E8B57"/>
                </a:solidFill>
                <a:latin typeface="Calibri" pitchFamily="34" charset="0"/>
                <a:cs typeface="Amiri" pitchFamily="2" charset="-78"/>
              </a:rPr>
              <a:t> jawāb · answer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LISTENING REFERENCE TABLE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Hear the signal, catch the fact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إِشَارَاتُ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 I</a:t>
            </a:r>
            <a:endParaRPr lang="en-US" sz="1100" dirty="0"/>
          </a:p>
        </p:txBody>
      </p:sp>
      <p:sp>
        <p:nvSpPr>
          <p:cNvPr id="17" name="Text 14"/>
          <p:cNvSpPr txBox="1"/>
          <p:nvPr/>
        </p:nvSpPr>
        <p:spPr>
          <a:xfrm>
            <a:off x="476402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 he / she</a:t>
            </a:r>
            <a:endParaRPr lang="en-US" sz="1100" dirty="0"/>
          </a:p>
        </p:txBody>
      </p:sp>
      <p:sp>
        <p:nvSpPr>
          <p:cNvPr id="18" name="Text 15"/>
          <p:cNvSpPr txBox="1"/>
          <p:nvPr/>
        </p:nvSpPr>
        <p:spPr>
          <a:xfrm>
            <a:off x="53035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fact that follows</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8805672" y="2267712"/>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a:t>
            </a:r>
            <a:endParaRPr lang="ar-SA" sz="2200" dirty="0"/>
          </a:p>
        </p:txBody>
      </p:sp>
      <p:sp>
        <p:nvSpPr>
          <p:cNvPr id="21" name="Text 18"/>
          <p:cNvSpPr txBox="1"/>
          <p:nvPr/>
        </p:nvSpPr>
        <p:spPr>
          <a:xfrm>
            <a:off x="4782312" y="2267712"/>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اِسْمُهُ … / اِسْمُهَا …</a:t>
            </a:r>
            <a:endParaRPr lang="ar-SA" sz="2200" dirty="0"/>
          </a:p>
        </p:txBody>
      </p:sp>
      <p:sp>
        <p:nvSpPr>
          <p:cNvPr id="22" name="Text 19"/>
          <p:cNvSpPr txBox="1"/>
          <p:nvPr/>
        </p:nvSpPr>
        <p:spPr>
          <a:xfrm>
            <a:off x="566928" y="2267712"/>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NAME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8805672" y="2950464"/>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عُمْرِي … سَنَةً</a:t>
            </a:r>
            <a:endParaRPr lang="ar-SA" sz="2200" dirty="0"/>
          </a:p>
        </p:txBody>
      </p:sp>
      <p:sp>
        <p:nvSpPr>
          <p:cNvPr id="27" name="Text 24"/>
          <p:cNvSpPr txBox="1"/>
          <p:nvPr/>
        </p:nvSpPr>
        <p:spPr>
          <a:xfrm>
            <a:off x="4782312" y="2950464"/>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عُمْرُهُ … / عُمْرُهَا …</a:t>
            </a:r>
            <a:endParaRPr lang="ar-SA" sz="2200" dirty="0"/>
          </a:p>
        </p:txBody>
      </p:sp>
      <p:sp>
        <p:nvSpPr>
          <p:cNvPr id="28" name="Text 25"/>
          <p:cNvSpPr txBox="1"/>
          <p:nvPr/>
        </p:nvSpPr>
        <p:spPr>
          <a:xfrm>
            <a:off x="566928" y="2950464"/>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an AGE — the number just before </a:t>
            </a:r>
            <a:pPr algn="l" indent="0" marL="0">
              <a:buNone/>
            </a:pPr>
            <a:r>
              <a:rPr lang="ar-SA" altLang="en-US" sz="1450" dirty="0">
                <a:solidFill>
                  <a:srgbClr val="5A6472"/>
                </a:solidFill>
                <a:latin typeface="Amiri" pitchFamily="2" charset="-78"/>
                <a:ea typeface="Amiri" pitchFamily="2" charset="-78"/>
                <a:cs typeface="Amiri" pitchFamily="2" charset="-78"/>
              </a:rPr>
              <a:t>سَنَةً</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8805672" y="3633216"/>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مِنْ …</a:t>
            </a:r>
            <a:endParaRPr lang="ar-SA" sz="2200" dirty="0"/>
          </a:p>
        </p:txBody>
      </p:sp>
      <p:sp>
        <p:nvSpPr>
          <p:cNvPr id="33" name="Text 30"/>
          <p:cNvSpPr txBox="1"/>
          <p:nvPr/>
        </p:nvSpPr>
        <p:spPr>
          <a:xfrm>
            <a:off x="4782312" y="3633216"/>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مِنْ … / هِيَ مِنْ …</a:t>
            </a:r>
            <a:endParaRPr lang="ar-SA" sz="2200" dirty="0"/>
          </a:p>
        </p:txBody>
      </p:sp>
      <p:sp>
        <p:nvSpPr>
          <p:cNvPr id="34" name="Text 31"/>
          <p:cNvSpPr txBox="1"/>
          <p:nvPr/>
        </p:nvSpPr>
        <p:spPr>
          <a:xfrm>
            <a:off x="566928" y="3633216"/>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COUNTRY of origin</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8805672" y="4315968"/>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a:t>
            </a:r>
            <a:endParaRPr lang="ar-SA" sz="2200" dirty="0"/>
          </a:p>
        </p:txBody>
      </p:sp>
      <p:sp>
        <p:nvSpPr>
          <p:cNvPr id="39" name="Text 36"/>
          <p:cNvSpPr txBox="1"/>
          <p:nvPr/>
        </p:nvSpPr>
        <p:spPr>
          <a:xfrm>
            <a:off x="4782312" y="4315968"/>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يَعِيشُ فِي … / تَعِيشُ فِي …</a:t>
            </a:r>
            <a:endParaRPr lang="ar-SA" sz="2200" dirty="0"/>
          </a:p>
        </p:txBody>
      </p:sp>
      <p:sp>
        <p:nvSpPr>
          <p:cNvPr id="40" name="Text 37"/>
          <p:cNvSpPr txBox="1"/>
          <p:nvPr/>
        </p:nvSpPr>
        <p:spPr>
          <a:xfrm>
            <a:off x="566928" y="4315968"/>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CITY of residence</a:t>
            </a:r>
            <a:endParaRPr lang="en-US" sz="1100" dirty="0"/>
          </a:p>
        </p:txBody>
      </p:sp>
      <p:sp>
        <p:nvSpPr>
          <p:cNvPr id="41" name="Shape 38"/>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4" name="Text 41"/>
          <p:cNvSpPr txBox="1"/>
          <p:nvPr/>
        </p:nvSpPr>
        <p:spPr>
          <a:xfrm>
            <a:off x="8805672" y="4998720"/>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أَتَكَلَّمُ … / أَفْهَمُ …</a:t>
            </a:r>
            <a:endParaRPr lang="ar-SA" sz="2200" dirty="0"/>
          </a:p>
        </p:txBody>
      </p:sp>
      <p:sp>
        <p:nvSpPr>
          <p:cNvPr id="45" name="Text 42"/>
          <p:cNvSpPr txBox="1"/>
          <p:nvPr/>
        </p:nvSpPr>
        <p:spPr>
          <a:xfrm>
            <a:off x="4782312" y="4998720"/>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يَتَكَلَّمُ … / تَتَكَلَّمُ …</a:t>
            </a:r>
            <a:endParaRPr lang="ar-SA" sz="2200" dirty="0"/>
          </a:p>
        </p:txBody>
      </p:sp>
      <p:sp>
        <p:nvSpPr>
          <p:cNvPr id="46" name="Text 43"/>
          <p:cNvSpPr txBox="1"/>
          <p:nvPr/>
        </p:nvSpPr>
        <p:spPr>
          <a:xfrm>
            <a:off x="566928" y="4998720"/>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LANGUAGE</a:t>
            </a:r>
            <a:endParaRPr lang="en-US" sz="1100" dirty="0"/>
          </a:p>
        </p:txBody>
      </p:sp>
      <p:sp>
        <p:nvSpPr>
          <p:cNvPr id="47" name="Shape 4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8805672" y="5681472"/>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 / هِوَايَتِي …</a:t>
            </a:r>
            <a:endParaRPr lang="ar-SA" sz="2200" dirty="0"/>
          </a:p>
        </p:txBody>
      </p:sp>
      <p:sp>
        <p:nvSpPr>
          <p:cNvPr id="49" name="Text 46"/>
          <p:cNvSpPr txBox="1"/>
          <p:nvPr/>
        </p:nvSpPr>
        <p:spPr>
          <a:xfrm>
            <a:off x="4782312" y="5681472"/>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يُحِبُّ … / تُحِبُّ …</a:t>
            </a:r>
            <a:endParaRPr lang="ar-SA" sz="2200" dirty="0"/>
          </a:p>
        </p:txBody>
      </p:sp>
      <p:sp>
        <p:nvSpPr>
          <p:cNvPr id="50" name="Text 47"/>
          <p:cNvSpPr txBox="1"/>
          <p:nvPr/>
        </p:nvSpPr>
        <p:spPr>
          <a:xfrm>
            <a:off x="566928" y="5681472"/>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an INTEREST</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FOUR-STEP LISTENING ROUTINE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listening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الاِسْتِمَاعِ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30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2295144"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348472" y="2286000"/>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١ · تَوَقَّعْ</a:t>
            </a:r>
            <a:endParaRPr lang="ar-SA" sz="2100" dirty="0"/>
          </a:p>
        </p:txBody>
      </p:sp>
      <p:sp>
        <p:nvSpPr>
          <p:cNvPr id="21" name="Text 18"/>
          <p:cNvSpPr txBox="1"/>
          <p:nvPr/>
        </p:nvSpPr>
        <p:spPr>
          <a:xfrm>
            <a:off x="8302752" y="2706624"/>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Predict</a:t>
            </a:r>
            <a:endParaRPr lang="en-US" sz="950" dirty="0"/>
          </a:p>
        </p:txBody>
      </p:sp>
      <p:sp>
        <p:nvSpPr>
          <p:cNvPr id="22" name="Text 19"/>
          <p:cNvSpPr txBox="1"/>
          <p:nvPr/>
        </p:nvSpPr>
        <p:spPr>
          <a:xfrm>
            <a:off x="2331720"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question; name the category: name, age, country, city, language or hobby.</a:t>
            </a:r>
            <a:endParaRPr lang="en-US" sz="1100" dirty="0"/>
          </a:p>
        </p:txBody>
      </p:sp>
      <p:sp>
        <p:nvSpPr>
          <p:cNvPr id="23" name="Text 20"/>
          <p:cNvSpPr txBox="1"/>
          <p:nvPr/>
        </p:nvSpPr>
        <p:spPr>
          <a:xfrm>
            <a:off x="566928" y="2267712"/>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8348472" y="3072384"/>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٢ · اِسْتَمِعْ لِلْفِكْرَةِ العَامَّةِ</a:t>
            </a:r>
            <a:endParaRPr lang="ar-SA" sz="2100" dirty="0"/>
          </a:p>
        </p:txBody>
      </p:sp>
      <p:sp>
        <p:nvSpPr>
          <p:cNvPr id="28" name="Text 25"/>
          <p:cNvSpPr txBox="1"/>
          <p:nvPr/>
        </p:nvSpPr>
        <p:spPr>
          <a:xfrm>
            <a:off x="8302752" y="3493008"/>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listen: gist</a:t>
            </a:r>
            <a:endParaRPr lang="en-US" sz="950" dirty="0"/>
          </a:p>
        </p:txBody>
      </p:sp>
      <p:sp>
        <p:nvSpPr>
          <p:cNvPr id="29" name="Text 26"/>
          <p:cNvSpPr txBox="1"/>
          <p:nvPr/>
        </p:nvSpPr>
        <p:spPr>
          <a:xfrm>
            <a:off x="2331720"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speaking? Which categories do you hear? Do not stop for one missed word.</a:t>
            </a:r>
            <a:endParaRPr lang="en-US" sz="1100" dirty="0"/>
          </a:p>
        </p:txBody>
      </p:sp>
      <p:sp>
        <p:nvSpPr>
          <p:cNvPr id="30" name="Text 27"/>
          <p:cNvSpPr txBox="1"/>
          <p:nvPr/>
        </p:nvSpPr>
        <p:spPr>
          <a:xfrm>
            <a:off x="566928" y="3054096"/>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1</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8348472" y="3858768"/>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٣ · اِسْتَمِعْ لِلتَّفَاصِيلِ</a:t>
            </a:r>
            <a:endParaRPr lang="ar-SA" sz="2100" dirty="0"/>
          </a:p>
        </p:txBody>
      </p:sp>
      <p:sp>
        <p:nvSpPr>
          <p:cNvPr id="35" name="Text 32"/>
          <p:cNvSpPr txBox="1"/>
          <p:nvPr/>
        </p:nvSpPr>
        <p:spPr>
          <a:xfrm>
            <a:off x="8302752" y="4279392"/>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Second listen: detail</a:t>
            </a:r>
            <a:endParaRPr lang="en-US" sz="950" dirty="0"/>
          </a:p>
        </p:txBody>
      </p:sp>
      <p:sp>
        <p:nvSpPr>
          <p:cNvPr id="36" name="Text 33"/>
          <p:cNvSpPr txBox="1"/>
          <p:nvPr/>
        </p:nvSpPr>
        <p:spPr>
          <a:xfrm>
            <a:off x="2331720"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exact name, number or place — listen for the signal just before it.</a:t>
            </a:r>
            <a:endParaRPr lang="en-US" sz="1100" dirty="0"/>
          </a:p>
        </p:txBody>
      </p:sp>
      <p:sp>
        <p:nvSpPr>
          <p:cNvPr id="37" name="Text 34"/>
          <p:cNvSpPr txBox="1"/>
          <p:nvPr/>
        </p:nvSpPr>
        <p:spPr>
          <a:xfrm>
            <a:off x="566928" y="3840480"/>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2</a:t>
            </a:r>
            <a:endParaRPr lang="en-US" sz="11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8348472" y="4645152"/>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٤ · تَحَقَّقْ</a:t>
            </a:r>
            <a:endParaRPr lang="ar-SA" sz="2100" dirty="0"/>
          </a:p>
        </p:txBody>
      </p:sp>
      <p:sp>
        <p:nvSpPr>
          <p:cNvPr id="42" name="Text 39"/>
          <p:cNvSpPr txBox="1"/>
          <p:nvPr/>
        </p:nvSpPr>
        <p:spPr>
          <a:xfrm>
            <a:off x="8302752" y="5065776"/>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Verify</a:t>
            </a:r>
            <a:endParaRPr lang="en-US" sz="950" dirty="0"/>
          </a:p>
        </p:txBody>
      </p:sp>
      <p:sp>
        <p:nvSpPr>
          <p:cNvPr id="43" name="Text 40"/>
          <p:cNvSpPr txBox="1"/>
          <p:nvPr/>
        </p:nvSpPr>
        <p:spPr>
          <a:xfrm>
            <a:off x="2331720" y="4626864"/>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your answers make one possible person? Then use the script to repair — not replace.</a:t>
            </a:r>
            <a:endParaRPr lang="en-US" sz="1100" dirty="0"/>
          </a:p>
        </p:txBody>
      </p:sp>
      <p:sp>
        <p:nvSpPr>
          <p:cNvPr id="44" name="Text 41"/>
          <p:cNvSpPr txBox="1"/>
          <p:nvPr/>
        </p:nvSpPr>
        <p:spPr>
          <a:xfrm>
            <a:off x="566928" y="4626864"/>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a:t>
            </a:r>
            <a:endParaRPr lang="en-US" sz="1100" dirty="0"/>
          </a:p>
        </p:txBody>
      </p:sp>
      <p:sp>
        <p:nvSpPr>
          <p:cNvPr id="45" name="Shape 4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GROUPS 2–3 · TASK INSTRUCTIONS AND STRATEGY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that tell you what to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تَعْلِيمَاتُ المَهَامِّ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a:t>
            </a:r>
            <a:endParaRPr lang="en-US" sz="1350" dirty="0"/>
          </a:p>
          <a:p>
            <a:pPr indent="0" marL="0">
              <a:buNone/>
            </a:pPr>
            <a:r>
              <a:rPr lang="en-US" sz="1100" i="1" dirty="0">
                <a:solidFill>
                  <a:srgbClr val="5A6472"/>
                </a:solidFill>
                <a:latin typeface="Calibri" pitchFamily="34" charset="0"/>
                <a:cs typeface="Amiri" pitchFamily="2" charset="-78"/>
              </a:rPr>
              <a:t>is-ta-miʿ · -ī · -ū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اِخْتَرْ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Choose!</a:t>
            </a:r>
            <a:endParaRPr lang="en-US" sz="1350" dirty="0"/>
          </a:p>
          <a:p>
            <a:pPr indent="0" marL="0">
              <a:buNone/>
            </a:pPr>
            <a:r>
              <a:rPr lang="en-US" sz="1100" i="1" dirty="0">
                <a:solidFill>
                  <a:srgbClr val="5A6472"/>
                </a:solidFill>
                <a:latin typeface="Calibri" pitchFamily="34" charset="0"/>
                <a:cs typeface="Amiri" pitchFamily="2" charset="-78"/>
              </a:rPr>
              <a:t>ikh-tar · ikh-tā-rī · ikh-tā-rū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اِخْتَرْ</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اِخْتَارِي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اِخْتَارُوا</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اِمْلَأِ الفَرَاغَ</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Fill the gap!</a:t>
            </a:r>
            <a:endParaRPr lang="en-US" sz="1350" dirty="0"/>
          </a:p>
          <a:p>
            <a:pPr indent="0" marL="0">
              <a:buNone/>
            </a:pPr>
            <a:r>
              <a:rPr lang="en-US" sz="1100" i="1" dirty="0">
                <a:solidFill>
                  <a:srgbClr val="5A6472"/>
                </a:solidFill>
                <a:latin typeface="Calibri" pitchFamily="34" charset="0"/>
                <a:cs typeface="Amiri" pitchFamily="2" charset="-78"/>
              </a:rPr>
              <a:t>im-la-ʾi l-fa-rāgh</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Write the missing word.</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4" name="Shape 6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label</a:t>
            </a:r>
            <a:endParaRPr lang="en-US" sz="800" dirty="0"/>
          </a:p>
        </p:txBody>
      </p:sp>
      <p:sp>
        <p:nvSpPr>
          <p:cNvPr id="66" name="Shape 6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 · خَطَأٌ</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true · false</a:t>
            </a:r>
            <a:endParaRPr lang="en-US" sz="1350" dirty="0"/>
          </a:p>
          <a:p>
            <a:pPr indent="0" marL="0">
              <a:buNone/>
            </a:pPr>
            <a:r>
              <a:rPr lang="en-US" sz="1100" i="1" dirty="0">
                <a:solidFill>
                  <a:srgbClr val="5A6472"/>
                </a:solidFill>
                <a:latin typeface="Calibri" pitchFamily="34" charset="0"/>
                <a:cs typeface="Amiri" pitchFamily="2" charset="-78"/>
              </a:rPr>
              <a:t>ṣa-ḥīḥ · kha-ṭaʾ</a:t>
            </a:r>
            <a:endParaRPr lang="en-US" sz="1350" dirty="0"/>
          </a:p>
        </p:txBody>
      </p:sp>
      <p:sp>
        <p:nvSpPr>
          <p:cNvPr id="70" name="Text 6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sahīh · khatā</a:t>
            </a:r>
            <a:endParaRPr lang="en-US" sz="10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4" name="Shape 71"/>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أُخْرَى</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more, again</a:t>
            </a:r>
            <a:endParaRPr lang="en-US" sz="1350" dirty="0"/>
          </a:p>
          <a:p>
            <a:pPr indent="0" marL="0">
              <a:buNone/>
            </a:pPr>
            <a:r>
              <a:rPr lang="en-US" sz="1100" i="1" dirty="0">
                <a:solidFill>
                  <a:srgbClr val="5A6472"/>
                </a:solidFill>
                <a:latin typeface="Calibri" pitchFamily="34" charset="0"/>
                <a:cs typeface="Amiri" pitchFamily="2" charset="-78"/>
              </a:rPr>
              <a:t>mar-ra-tan ukh-rā</a:t>
            </a:r>
            <a:endParaRPr lang="en-US" sz="1350" dirty="0"/>
          </a:p>
        </p:txBody>
      </p:sp>
      <p:sp>
        <p:nvSpPr>
          <p:cNvPr id="78" name="Text 7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teacher reads it a second time.</a:t>
            </a:r>
            <a:endParaRPr lang="en-US" sz="10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2" name="Shape 79"/>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strategy</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الفِكْرَةُ الرَّئِيسِيَّةُ · التَّفَاصِيلُ</a:t>
            </a:r>
            <a:endParaRPr lang="ar-SA" sz="255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 · the details</a:t>
            </a:r>
            <a:endParaRPr lang="en-US" sz="1350" dirty="0"/>
          </a:p>
          <a:p>
            <a:pPr indent="0" marL="0">
              <a:buNone/>
            </a:pPr>
            <a:r>
              <a:rPr lang="en-US" sz="1100" i="1" dirty="0">
                <a:solidFill>
                  <a:srgbClr val="5A6472"/>
                </a:solidFill>
                <a:latin typeface="Calibri" pitchFamily="34" charset="0"/>
                <a:cs typeface="Amiri" pitchFamily="2" charset="-78"/>
              </a:rPr>
              <a:t>al-fik-ra r-ra-ʾī-siy-ya · at-ta-fā-ṣīl</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1 = main idea · Listen 2 = details</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اِسْتَمِعْ</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a:t>
            </a:r>
            <a:endParaRPr lang="en-US" sz="12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اِخْتَرْ</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Match</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اِمْلَأِ الفَرَاغَ</a:t>
            </a:r>
            <a:endParaRPr lang="ar-SA" sz="22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aloud</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Fill the gap</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Circle the word</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مَرَّةً أُخْرَى</a:t>
            </a:r>
            <a:endParaRPr lang="ar-SA" sz="22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more</a:t>
            </a:r>
            <a:endParaRPr lang="en-US" sz="12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the first time</a:t>
            </a:r>
            <a:endParaRPr lang="en-US" sz="12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Very quickly</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اِسْتَمِعْ</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a:t>
            </a:r>
            <a:endParaRPr lang="en-US" sz="125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a:t>
            </a:r>
            <a:endParaRPr lang="en-US" sz="125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اِسْتَمِعْ</a:t>
            </a:r>
            <a:pPr algn="l" indent="0" marL="0">
              <a:buNone/>
            </a:pPr>
            <a:r>
              <a:rPr lang="en-US" sz="1050" i="1" dirty="0">
                <a:solidFill>
                  <a:srgbClr val="8A6D1E"/>
                </a:solidFill>
                <a:latin typeface="Calibri" pitchFamily="34" charset="0"/>
                <a:cs typeface="Amiri" pitchFamily="2" charset="-78"/>
              </a:rPr>
              <a:t> means listen.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اِخْتَرْ</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Choose</a:t>
            </a:r>
            <a:endParaRPr lang="en-US" sz="125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Match</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اِخْتَرْ</a:t>
            </a:r>
            <a:pPr algn="l" indent="0" marL="0">
              <a:buNone/>
            </a:pPr>
            <a:r>
              <a:rPr lang="en-US" sz="1050" i="1" dirty="0">
                <a:solidFill>
                  <a:srgbClr val="8A6D1E"/>
                </a:solidFill>
                <a:latin typeface="Calibri" pitchFamily="34" charset="0"/>
                <a:cs typeface="Amiri" pitchFamily="2" charset="-78"/>
              </a:rPr>
              <a:t> means choose.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tell you to do?</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اِمْلَأِ الفَرَاغَ</a:t>
            </a:r>
            <a:endParaRPr lang="ar-SA" sz="22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aloud</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Fill the gap</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Circle the word</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اِمْلَأِ الفَرَاغَ</a:t>
            </a:r>
            <a:pPr algn="l" indent="0" marL="0">
              <a:buNone/>
            </a:pPr>
            <a:r>
              <a:rPr lang="en-US" sz="1050" i="1" dirty="0">
                <a:solidFill>
                  <a:srgbClr val="8A6D1E"/>
                </a:solidFill>
                <a:latin typeface="Calibri" pitchFamily="34" charset="0"/>
                <a:cs typeface="Amiri" pitchFamily="2" charset="-78"/>
              </a:rPr>
              <a:t> means fill the gap.</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مَرَّةً أُخْرَى</a:t>
            </a:r>
            <a:endParaRPr lang="ar-SA" sz="22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Once more</a:t>
            </a:r>
            <a:endParaRPr lang="en-US" sz="125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the first time</a:t>
            </a:r>
            <a:endParaRPr lang="en-US" sz="125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Very quickly</a:t>
            </a:r>
            <a:endParaRPr lang="en-US" sz="12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مَرَّةً أُخْرَى</a:t>
            </a:r>
            <a:pPr algn="l" indent="0" marL="0">
              <a:buNone/>
            </a:pPr>
            <a:r>
              <a:rPr lang="en-US" sz="1050" i="1" dirty="0">
                <a:solidFill>
                  <a:srgbClr val="8A6D1E"/>
                </a:solidFill>
                <a:latin typeface="Calibri" pitchFamily="34" charset="0"/>
                <a:cs typeface="Amiri" pitchFamily="2" charset="-78"/>
              </a:rPr>
              <a:t> means once more or again.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THE LISTENING CLUE LAB (WEBSITE) · HOW TO AVOID A TRAP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Which detail does the signal introduce?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إِشَارَاتِ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أَنَا مِنْ مِصْرَ</a:t>
            </a:r>
            <a:pPr algn="l" indent="0" marL="0">
              <a:buNone/>
            </a:pPr>
            <a:r>
              <a:rPr lang="en-US" sz="1250" b="1" dirty="0">
                <a:solidFill>
                  <a:srgbClr val="1B3B6F"/>
                </a:solidFill>
                <a:latin typeface="Calibri" pitchFamily="34" charset="0"/>
                <a:cs typeface="Amiri" pitchFamily="2" charset="-78"/>
              </a:rPr>
              <a:t>. Which detail is Egypt?</a:t>
            </a:r>
            <a:endParaRPr lang="en-US" sz="12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Country of origin</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City of residence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2" charset="-78"/>
                <a:ea typeface="Amiri" pitchFamily="2" charset="-78"/>
                <a:cs typeface="Amiri" pitchFamily="2" charset="-78"/>
              </a:rPr>
              <a:t>أَسْكُنُ فِي لَنْدَنَ</a:t>
            </a:r>
            <a:pPr algn="l" indent="0" marL="0">
              <a:buNone/>
            </a:pPr>
            <a:r>
              <a:rPr lang="en-US" sz="1100" b="1" dirty="0">
                <a:solidFill>
                  <a:srgbClr val="1B3B6F"/>
                </a:solidFill>
                <a:latin typeface="Calibri" pitchFamily="34" charset="0"/>
                <a:cs typeface="Amiri" pitchFamily="2" charset="-78"/>
              </a:rPr>
              <a:t>. Which detail is London?</a:t>
            </a:r>
            <a:endParaRPr lang="en-US" sz="11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Country of origin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City of residence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2" charset="-78"/>
                <a:ea typeface="Amiri" pitchFamily="2" charset="-78"/>
                <a:cs typeface="Amiri" pitchFamily="2" charset="-78"/>
              </a:rPr>
              <a:t>أَتَكَلَّمُ الإِنْجِلِيزِيَّةَ وَأَفْهَمُ العَرَبِيَّةَ</a:t>
            </a:r>
            <a:pPr algn="l" indent="0" marL="0">
              <a:buNone/>
            </a:pPr>
            <a:r>
              <a:rPr lang="en-US" sz="1000" b="1" dirty="0">
                <a:solidFill>
                  <a:srgbClr val="1B3B6F"/>
                </a:solidFill>
                <a:latin typeface="Calibri" pitchFamily="34" charset="0"/>
                <a:cs typeface="Amiri" pitchFamily="2" charset="-78"/>
              </a:rPr>
              <a:t>. Which language does the speaker speak?</a:t>
            </a:r>
            <a:endParaRPr lang="en-US" sz="10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French</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2" charset="-78"/>
                <a:ea typeface="Amiri" pitchFamily="2" charset="-78"/>
                <a:cs typeface="Amiri" pitchFamily="2" charset="-78"/>
              </a:rPr>
              <a:t>أَنَا مَغْرِبِيٌّ، وَأَسْكُنُ فِي بَارِيسَ</a:t>
            </a:r>
            <a:pPr algn="l" indent="0" marL="0">
              <a:buNone/>
            </a:pPr>
            <a:r>
              <a:rPr lang="en-US" sz="1000" b="1" dirty="0">
                <a:solidFill>
                  <a:srgbClr val="1B3B6F"/>
                </a:solidFill>
                <a:latin typeface="Calibri" pitchFamily="34" charset="0"/>
                <a:cs typeface="Amiri" pitchFamily="2" charset="-78"/>
              </a:rPr>
              <a:t>. Which answer gives nationality?</a:t>
            </a:r>
            <a:endParaRPr lang="en-US" sz="10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French</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Moroccan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Parisian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miss one word in the first sentence. What is the strongest strategy?</a:t>
            </a:r>
            <a:endParaRPr lang="en-US" sz="12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and abandon the task</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the transcript immediately</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 listening for the next signal phrase</a:t>
            </a:r>
            <a:endParaRPr lang="en-US" sz="1250" dirty="0"/>
          </a:p>
        </p:txBody>
      </p:sp>
      <p:sp>
        <p:nvSpPr>
          <p:cNvPr id="84" name="Shape 81"/>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TRAPS</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Country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مِنْ</a:t>
            </a:r>
            <a:pPr algn="l" indent="0" marL="0">
              <a:lnSpc>
                <a:spcPct val="115000"/>
              </a:lnSpc>
              <a:buNone/>
            </a:pPr>
            <a:r>
              <a:rPr lang="en-US" sz="1250" dirty="0">
                <a:solidFill>
                  <a:srgbClr val="1F2A37"/>
                </a:solidFill>
                <a:latin typeface="Calibri" pitchFamily="34" charset="0"/>
                <a:cs typeface="Amiri" pitchFamily="2" charset="-78"/>
              </a:rPr>
              <a:t>) vs city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فِي</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Speaks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أَتَكَلَّمُ</a:t>
            </a:r>
            <a:pPr algn="l" indent="0" marL="0">
              <a:lnSpc>
                <a:spcPct val="115000"/>
              </a:lnSpc>
              <a:buNone/>
            </a:pPr>
            <a:r>
              <a:rPr lang="en-US" sz="1250" dirty="0">
                <a:solidFill>
                  <a:srgbClr val="1F2A37"/>
                </a:solidFill>
                <a:latin typeface="Calibri" pitchFamily="34" charset="0"/>
                <a:cs typeface="Amiri" pitchFamily="2" charset="-78"/>
              </a:rPr>
              <a:t>) vs understands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أَفْهَمُ</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Nationality vs place.</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CLUE LAB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Clue lab: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أَنَا مِنْ مِصْرَ</a:t>
            </a:r>
            <a:pPr algn="l" indent="0" marL="0">
              <a:buNone/>
            </a:pPr>
            <a:r>
              <a:rPr lang="en-US" sz="1250" b="1" dirty="0">
                <a:solidFill>
                  <a:srgbClr val="1B3B6F"/>
                </a:solidFill>
                <a:latin typeface="Calibri" pitchFamily="34" charset="0"/>
                <a:cs typeface="Amiri" pitchFamily="2" charset="-78"/>
              </a:rPr>
              <a:t>. Which detail is Egypt?</a:t>
            </a:r>
            <a:endParaRPr lang="en-US" sz="12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Country of origin</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City of residence</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signals origin.</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2" charset="-78"/>
                <a:ea typeface="Amiri" pitchFamily="2" charset="-78"/>
                <a:cs typeface="Amiri" pitchFamily="2" charset="-78"/>
              </a:rPr>
              <a:t>أَسْكُنُ فِي لَنْدَنَ</a:t>
            </a:r>
            <a:pPr algn="l" indent="0" marL="0">
              <a:buNone/>
            </a:pPr>
            <a:r>
              <a:rPr lang="en-US" sz="1100" b="1" dirty="0">
                <a:solidFill>
                  <a:srgbClr val="1B3B6F"/>
                </a:solidFill>
                <a:latin typeface="Calibri" pitchFamily="34" charset="0"/>
                <a:cs typeface="Amiri" pitchFamily="2" charset="-78"/>
              </a:rPr>
              <a:t>. Which detail is London?</a:t>
            </a:r>
            <a:endParaRPr lang="en-US" sz="11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Country of origin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Nationality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City of residence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signals location or residence.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2" charset="-78"/>
                <a:ea typeface="Amiri" pitchFamily="2" charset="-78"/>
                <a:cs typeface="Amiri" pitchFamily="2" charset="-78"/>
              </a:rPr>
              <a:t>أَتَكَلَّمُ الإِنْجِلِيزِيَّةَ وَأَفْهَمُ العَرَبِيَّةَ</a:t>
            </a:r>
            <a:pPr algn="l" indent="0" marL="0">
              <a:buNone/>
            </a:pPr>
            <a:r>
              <a:rPr lang="en-US" sz="1000" b="1" dirty="0">
                <a:solidFill>
                  <a:srgbClr val="1B3B6F"/>
                </a:solidFill>
                <a:latin typeface="Calibri" pitchFamily="34" charset="0"/>
                <a:cs typeface="Amiri" pitchFamily="2" charset="-78"/>
              </a:rPr>
              <a:t>. Which language does the speaker speak?</a:t>
            </a:r>
            <a:endParaRPr lang="en-US" sz="10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English</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French</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أَتَكَلَّمُ</a:t>
            </a:r>
            <a:pPr algn="l" indent="0" marL="0">
              <a:buNone/>
            </a:pPr>
            <a:r>
              <a:rPr lang="en-US" sz="1050" i="1" dirty="0">
                <a:solidFill>
                  <a:srgbClr val="8A6D1E"/>
                </a:solidFill>
                <a:latin typeface="Calibri" pitchFamily="34" charset="0"/>
                <a:cs typeface="Amiri" pitchFamily="2" charset="-78"/>
              </a:rPr>
              <a:t> introduces English; </a:t>
            </a:r>
            <a:pPr algn="l" indent="0" marL="0">
              <a:buNone/>
            </a:pPr>
            <a:r>
              <a:rPr lang="ar-SA" altLang="en-US" sz="1350" dirty="0">
                <a:solidFill>
                  <a:srgbClr val="8A6D1E"/>
                </a:solidFill>
                <a:latin typeface="Amiri" pitchFamily="2" charset="-78"/>
                <a:ea typeface="Amiri" pitchFamily="2" charset="-78"/>
                <a:cs typeface="Amiri" pitchFamily="2" charset="-78"/>
              </a:rPr>
              <a:t>أَفْهَمُ</a:t>
            </a:r>
            <a:pPr algn="l" indent="0" marL="0">
              <a:buNone/>
            </a:pPr>
            <a:r>
              <a:rPr lang="en-US" sz="1050" i="1" dirty="0">
                <a:solidFill>
                  <a:srgbClr val="8A6D1E"/>
                </a:solidFill>
                <a:latin typeface="Calibri" pitchFamily="34" charset="0"/>
                <a:cs typeface="Amiri" pitchFamily="2" charset="-78"/>
              </a:rPr>
              <a:t> introduces Arabic as understood.</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hear: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2" charset="-78"/>
                <a:ea typeface="Amiri" pitchFamily="2" charset="-78"/>
                <a:cs typeface="Amiri" pitchFamily="2" charset="-78"/>
              </a:rPr>
              <a:t>أَنَا مَغْرِبِيٌّ، وَأَسْكُنُ فِي بَارِيسَ</a:t>
            </a:r>
            <a:pPr algn="l" indent="0" marL="0">
              <a:buNone/>
            </a:pPr>
            <a:r>
              <a:rPr lang="en-US" sz="1000" b="1" dirty="0">
                <a:solidFill>
                  <a:srgbClr val="1B3B6F"/>
                </a:solidFill>
                <a:latin typeface="Calibri" pitchFamily="34" charset="0"/>
                <a:cs typeface="Amiri" pitchFamily="2" charset="-78"/>
              </a:rPr>
              <a:t>. Which answer gives nationality?</a:t>
            </a:r>
            <a:endParaRPr lang="en-US" sz="10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French</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Moroccan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Parisian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مَغْرِبِيٌّ</a:t>
            </a:r>
            <a:pPr algn="l" indent="0" marL="0">
              <a:buNone/>
            </a:pPr>
            <a:r>
              <a:rPr lang="en-US" sz="1050" i="1" dirty="0">
                <a:solidFill>
                  <a:srgbClr val="8A6D1E"/>
                </a:solidFill>
                <a:latin typeface="Calibri" pitchFamily="34" charset="0"/>
                <a:cs typeface="Amiri" pitchFamily="2" charset="-78"/>
              </a:rPr>
              <a:t> is the nationality; Paris is the residence.</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miss one word in the first sentence. What is the strongest strategy?</a:t>
            </a:r>
            <a:endParaRPr lang="en-US" sz="1200" dirty="0"/>
          </a:p>
        </p:txBody>
      </p:sp>
      <p:sp>
        <p:nvSpPr>
          <p:cNvPr id="83" name="Shape 80"/>
          <p:cNvSpPr/>
          <p:nvPr/>
        </p:nvSpPr>
        <p:spPr>
          <a:xfrm>
            <a:off x="4459224" y="4831080"/>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5" name="Text 82"/>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and abandon the task</a:t>
            </a:r>
            <a:endParaRPr lang="en-US" sz="1250" dirty="0"/>
          </a:p>
        </p:txBody>
      </p:sp>
      <p:sp>
        <p:nvSpPr>
          <p:cNvPr id="86"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5"/>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Open the transcript immediately</a:t>
            </a:r>
            <a:endParaRPr lang="en-US" sz="1250" dirty="0"/>
          </a:p>
        </p:txBody>
      </p:sp>
      <p:sp>
        <p:nvSpPr>
          <p:cNvPr id="89" name="Shape 86"/>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0" name="Shape 87"/>
          <p:cNvSpPr/>
          <p:nvPr/>
        </p:nvSpPr>
        <p:spPr>
          <a:xfrm>
            <a:off x="4459224" y="5574792"/>
            <a:ext cx="256032" cy="256032"/>
          </a:xfrm>
          <a:prstGeom prst="ellipse">
            <a:avLst/>
          </a:prstGeom>
          <a:solidFill>
            <a:srgbClr val="2E8B57"/>
          </a:solidFill>
          <a:ln w="12700">
            <a:solidFill>
              <a:srgbClr val="2E8B57"/>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Keep listening for the next signal phrase</a:t>
            </a:r>
            <a:endParaRPr lang="en-US" sz="120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Continue listening. The required fact may appear later or be repeated.</a:t>
            </a:r>
            <a:endParaRPr lang="en-US" sz="1050" dirty="0"/>
          </a:p>
        </p:txBody>
      </p:sp>
      <p:sp>
        <p:nvSpPr>
          <p:cNvPr id="94" name="Shape 91"/>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5" name="Text 9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TRAPS</a:t>
            </a:r>
            <a:endParaRPr lang="en-US" sz="1000" dirty="0"/>
          </a:p>
        </p:txBody>
      </p:sp>
      <p:sp>
        <p:nvSpPr>
          <p:cNvPr id="96" name="Text 93"/>
          <p:cNvSpPr txBox="1"/>
          <p:nvPr/>
        </p:nvSpPr>
        <p:spPr>
          <a:xfrm>
            <a:off x="8278368"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cs typeface="Amiri" pitchFamily="2" charset="-78"/>
              </a:rPr>
              <a:t>Country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مِنْ</a:t>
            </a:r>
            <a:pPr algn="l" indent="0" marL="0">
              <a:lnSpc>
                <a:spcPct val="115000"/>
              </a:lnSpc>
              <a:buNone/>
            </a:pPr>
            <a:r>
              <a:rPr lang="en-US" sz="1250" dirty="0">
                <a:solidFill>
                  <a:srgbClr val="1F2A37"/>
                </a:solidFill>
                <a:latin typeface="Calibri" pitchFamily="34" charset="0"/>
                <a:cs typeface="Amiri" pitchFamily="2" charset="-78"/>
              </a:rPr>
              <a:t>) vs city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فِي</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Speaks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أَتَكَلَّمُ</a:t>
            </a:r>
            <a:pPr algn="l" indent="0" marL="0">
              <a:lnSpc>
                <a:spcPct val="115000"/>
              </a:lnSpc>
              <a:buNone/>
            </a:pPr>
            <a:r>
              <a:rPr lang="en-US" sz="1250" dirty="0">
                <a:solidFill>
                  <a:srgbClr val="1F2A37"/>
                </a:solidFill>
                <a:latin typeface="Calibri" pitchFamily="34" charset="0"/>
                <a:cs typeface="Amiri" pitchFamily="2" charset="-78"/>
              </a:rPr>
              <a:t>) vs understands (</a:t>
            </a:r>
            <a:pPr algn="l" indent="0" marL="0">
              <a:lnSpc>
                <a:spcPct val="115000"/>
              </a:lnSpc>
              <a:buNone/>
            </a:pPr>
            <a:r>
              <a:rPr lang="ar-SA" altLang="en-US" sz="1650" dirty="0">
                <a:solidFill>
                  <a:srgbClr val="1F2A37"/>
                </a:solidFill>
                <a:latin typeface="Amiri" pitchFamily="2" charset="-78"/>
                <a:ea typeface="Amiri" pitchFamily="2" charset="-78"/>
                <a:cs typeface="Amiri" pitchFamily="2" charset="-78"/>
              </a:rPr>
              <a:t>أَفْهَمُ</a:t>
            </a:r>
            <a:pPr algn="l" indent="0" marL="0">
              <a:lnSpc>
                <a:spcPct val="115000"/>
              </a:lnSpc>
              <a:buNone/>
            </a:pPr>
            <a:r>
              <a:rPr lang="en-US" sz="1250" dirty="0">
                <a:solidFill>
                  <a:srgbClr val="1F2A37"/>
                </a:solidFill>
                <a:latin typeface="Calibri" pitchFamily="34" charset="0"/>
                <a:cs typeface="Amiri" pitchFamily="2" charset="-78"/>
              </a:rPr>
              <a:t>).</a:t>
            </a:r>
            <a:endParaRPr lang="en-US" sz="1250" dirty="0"/>
          </a:p>
          <a:p>
            <a:pPr algn="l" indent="0" marL="0">
              <a:lnSpc>
                <a:spcPct val="115000"/>
              </a:lnSpc>
              <a:buNone/>
            </a:pPr>
            <a:r>
              <a:rPr lang="en-US" sz="1250" dirty="0">
                <a:solidFill>
                  <a:srgbClr val="1F2A37"/>
                </a:solidFill>
                <a:latin typeface="Calibri" pitchFamily="34" charset="0"/>
                <a:cs typeface="Amiri" pitchFamily="2" charset="-78"/>
              </a:rPr>
              <a:t>Nationality vs place.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LISTENING TO PERSONAL INTRODUCTIONS”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match: profile cards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Ali · 15</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France · French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Dubai</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دُبَي.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عَلِيٌّ وَعُمْرِي خَمْسَ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فَرَنْسِيَّةٌ وَأَتَكَلَّمُ الفَرَنْسِيَّةَ.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Ali · 15</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عَلِيٌّ وَعُمْرِي خَمْسَ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name is Ali and I am fifteen.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France · French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فَرَنْسِيَّةٌ وَأَتَكَلَّمُ الفَرَنْسِيَّةَ.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French and I speak French. (girl)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Dubai</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دُبَي.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Dubai.</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Task A · Karim introduces himself</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Karim?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nationality?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Egyptian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Rabat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Paris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he speak?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English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French and English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hobby does he like?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Task A · six-box grid:</a:t>
            </a:r>
            <a:endParaRPr lang="en-US" sz="1250" dirty="0"/>
          </a:p>
          <a:p>
            <a:pPr algn="l" indent="0" marL="0">
              <a:buNone/>
            </a:pPr>
            <a:r>
              <a:rPr lang="en-US" sz="1250" dirty="0">
                <a:solidFill>
                  <a:srgbClr val="1E6B52"/>
                </a:solidFill>
                <a:latin typeface="Calibri" pitchFamily="34" charset="0"/>
                <a:cs typeface="Amiri" pitchFamily="2" charset="-78"/>
              </a:rPr>
              <a:t>name · age · nationality · city · languages · hobby.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مَرْحَبًا. اِسْمِي كَرِيمٌ، وَعُمْرِي ثَلَاثَ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My name is Karim, and I am thirteen.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مَغْرِبِيٌّ، وَأَنَا مِنَ المَغْرِبِ.</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Moroccan, and I am from Morocco.</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لَنْدَنَ، وَأَتَكَلَّمُ العَرَبِيَّةَ وَالفَرَنْسِيَّةَ.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London, and I speak Arabic and French.</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كُرَةَ القَدَمِ. إِلَى اللِّقَاءِ.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football. See you later.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Karim?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13</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14</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ثَلَاثَ عَشْرَةَ</a:t>
            </a:r>
            <a:pPr algn="l" indent="0" marL="0">
              <a:buNone/>
            </a:pPr>
            <a:r>
              <a:rPr lang="en-US" sz="1050" i="1" dirty="0">
                <a:solidFill>
                  <a:srgbClr val="8A6D1E"/>
                </a:solidFill>
                <a:latin typeface="Calibri" pitchFamily="34" charset="0"/>
                <a:cs typeface="Amiri" pitchFamily="2" charset="-78"/>
              </a:rPr>
              <a:t> means thirteen.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nationality?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Egyptian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Lebanese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أَنَا مَغْرِبِيٌّ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Rabat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Paris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London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أَسْكُنُ فِي لَنْدَنَ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he speak?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French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English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French and English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العَرَبِيَّةَ وَالفَرَنْسِيَّةَ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hobby does he like?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Football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أُحِبُّ كُرَةَ القَدَمِ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Task A · six-box grid:</a:t>
            </a:r>
            <a:endParaRPr lang="en-US" sz="1250" dirty="0"/>
          </a:p>
          <a:p>
            <a:pPr algn="l" indent="0" marL="0">
              <a:buNone/>
            </a:pPr>
            <a:r>
              <a:rPr lang="en-US" sz="1250" dirty="0">
                <a:solidFill>
                  <a:srgbClr val="1E6B52"/>
                </a:solidFill>
                <a:latin typeface="Calibri" pitchFamily="34" charset="0"/>
                <a:cs typeface="Amiri" pitchFamily="2" charset="-78"/>
              </a:rPr>
              <a:t>name · age · nationality · city · languages · hobby.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TASK B · NOTE COMPLETION · LEILA’S INFORMATION CARD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B · Leila’s information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لَيْلَى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Leila?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her nationality described?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British-Syrian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British-Lebanese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Lebanese-French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Birmingham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does she understand too?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Urdu</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Turkish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FIRST</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Stretch: cover the options.</a:t>
            </a:r>
            <a:endParaRPr lang="en-US" sz="1250" dirty="0"/>
          </a:p>
          <a:p>
            <a:pPr algn="l" indent="0" marL="0">
              <a:buNone/>
            </a:pPr>
            <a:r>
              <a:rPr lang="en-US" sz="1250" dirty="0">
                <a:solidFill>
                  <a:srgbClr val="1E6B52"/>
                </a:solidFill>
                <a:latin typeface="Calibri" pitchFamily="34" charset="0"/>
                <a:cs typeface="Amiri" pitchFamily="2" charset="-78"/>
              </a:rPr>
              <a:t>Write age, city and the understood language from memory, then check.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TASK B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Leila’s script with English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السَّلَامُ عَلَيْكُمْ. اِسْمِي لَيْلَى، وَعُمْرِي إِحْدَى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Leila, and I am eleven.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بَرِيطَانِيَّةٌ لُبْنَانِيَّةٌ. أَنَا مِنْ بَرِيطَانِيَا، وَأَسْكُنُ فِي مَانْشِسْتَرَ.</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British-Lebanese. I am from Britain, and I live in Manchester.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أَتَكَلَّمُ الإِنْجِلِيزِيَّةَ، وَأَفْهَمُ العَرَبِيَّةَ أَيْضًا.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English, and I understand Arabic too.</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هِوَايَتِي المُفَضَّلَةُ الرَّسْمُ.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favourite hobby is drawing.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TASK B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B: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Leila?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11</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إِحْدَى عَشْرَةَ</a:t>
            </a:r>
            <a:pPr algn="l" indent="0" marL="0">
              <a:buNone/>
            </a:pPr>
            <a:r>
              <a:rPr lang="en-US" sz="1050" i="1" dirty="0">
                <a:solidFill>
                  <a:srgbClr val="8A6D1E"/>
                </a:solidFill>
                <a:latin typeface="Calibri" pitchFamily="34" charset="0"/>
                <a:cs typeface="Amiri" pitchFamily="2" charset="-78"/>
              </a:rPr>
              <a:t> means eleven.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her nationality described?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British-Syrian</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British-Lebanese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Lebanese-French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بَرِيطَانِيَّةٌ لُبْنَانِيَّةٌ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Manchester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Birmingham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أَسْكُنُ فِي مَانْشِسْتَرَ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does she understand too?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Urdu</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Turkish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أَفْهَمُ العَرَبِيَّةَ أَيْضًا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hobby?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Drawing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favourite hobby is </a:t>
            </a:r>
            <a:pPr algn="l" indent="0" marL="0">
              <a:buNone/>
            </a:pPr>
            <a:r>
              <a:rPr lang="ar-SA" altLang="en-US" sz="1350" dirty="0">
                <a:solidFill>
                  <a:srgbClr val="8A6D1E"/>
                </a:solidFill>
                <a:latin typeface="Amiri" pitchFamily="2" charset="-78"/>
                <a:ea typeface="Amiri" pitchFamily="2" charset="-78"/>
                <a:cs typeface="Amiri" pitchFamily="2" charset="-78"/>
              </a:rPr>
              <a:t>الرَّسْمُ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FIRST</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Stretch: cover the options.</a:t>
            </a:r>
            <a:endParaRPr lang="en-US" sz="1250" dirty="0"/>
          </a:p>
          <a:p>
            <a:pPr algn="l" indent="0" marL="0">
              <a:buNone/>
            </a:pPr>
            <a:r>
              <a:rPr lang="en-US" sz="1250" dirty="0">
                <a:solidFill>
                  <a:srgbClr val="1E6B52"/>
                </a:solidFill>
                <a:latin typeface="Calibri" pitchFamily="34" charset="0"/>
                <a:cs typeface="Amiri" pitchFamily="2" charset="-78"/>
              </a:rPr>
              <a:t>Write age, city and the understood language from memory, then check.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TASK C · THREE SPEAKERS · MATCHING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Task C · Who matches each detail?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يُنَاسِبُ كُلَّ مَعْلُومَةٍ؟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twelve years 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Paris?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from Pakistan?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Arabic and French?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English and Urdu?</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columns: Speaker 1 · 2 · 3.</a:t>
            </a:r>
            <a:endParaRPr lang="en-US" sz="1250" dirty="0"/>
          </a:p>
          <a:p>
            <a:pPr algn="l" indent="0" marL="0">
              <a:buNone/>
            </a:pPr>
            <a:r>
              <a:rPr lang="en-US" sz="1250" dirty="0">
                <a:solidFill>
                  <a:srgbClr val="1E6B52"/>
                </a:solidFill>
                <a:latin typeface="Calibri" pitchFamily="34" charset="0"/>
                <a:cs typeface="Amiri" pitchFamily="2" charset="-78"/>
              </a:rPr>
              <a:t>Listen 1: the three names.</a:t>
            </a:r>
            <a:endParaRPr lang="en-US" sz="1250" dirty="0"/>
          </a:p>
          <a:p>
            <a:pPr algn="l" indent="0" marL="0">
              <a:buNone/>
            </a:pPr>
            <a:r>
              <a:rPr lang="en-US" sz="1250" dirty="0">
                <a:solidFill>
                  <a:srgbClr val="1E6B52"/>
                </a:solidFill>
                <a:latin typeface="Calibri" pitchFamily="34" charset="0"/>
                <a:cs typeface="Amiri" pitchFamily="2" charset="-78"/>
              </a:rPr>
              <a:t>Listen 2: age, country, city, language.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TASK C · THE THREE DETAIL CARDS (WEBSITE MATCHING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three columns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بِطَاقَاتُ المُتَحَدِّثِينَ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a:t>
            </a:r>
            <a:endParaRPr lang="en-US" sz="1100" dirty="0"/>
          </a:p>
        </p:txBody>
      </p:sp>
      <p:sp>
        <p:nvSpPr>
          <p:cNvPr id="17" name="Text 14"/>
          <p:cNvSpPr txBox="1"/>
          <p:nvPr/>
        </p:nvSpPr>
        <p:spPr>
          <a:xfrm>
            <a:off x="796442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a:t>
            </a:r>
            <a:endParaRPr lang="en-US" sz="1100" dirty="0"/>
          </a:p>
        </p:txBody>
      </p:sp>
      <p:sp>
        <p:nvSpPr>
          <p:cNvPr id="18" name="Text 15"/>
          <p:cNvSpPr txBox="1"/>
          <p:nvPr/>
        </p:nvSpPr>
        <p:spPr>
          <a:xfrm>
            <a:off x="576986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From (</a:t>
            </a:r>
            <a:pPr algn="ctr" indent="0" marL="0">
              <a:buNone/>
            </a:pPr>
            <a:r>
              <a:rPr lang="ar-SA" altLang="en-US" sz="1450" b="1" dirty="0">
                <a:solidFill>
                  <a:srgbClr val="FFFFFF"/>
                </a:solidFill>
                <a:latin typeface="Amiri" pitchFamily="2" charset="-78"/>
                <a:ea typeface="Amiri" pitchFamily="2" charset="-78"/>
                <a:cs typeface="Amiri" pitchFamily="2" charset="-78"/>
              </a:rPr>
              <a:t>مِنْ</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33924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Lives in (</a:t>
            </a:r>
            <a:pPr algn="ctr" indent="0" marL="0">
              <a:buNone/>
            </a:pPr>
            <a:r>
              <a:rPr lang="ar-SA" altLang="en-US" sz="1450" b="1" dirty="0">
                <a:solidFill>
                  <a:srgbClr val="FFFFFF"/>
                </a:solidFill>
                <a:latin typeface="Amiri" pitchFamily="2" charset="-78"/>
                <a:ea typeface="Amiri" pitchFamily="2" charset="-78"/>
                <a:cs typeface="Amiri" pitchFamily="2" charset="-78"/>
              </a:rPr>
              <a:t>فِي</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يُوسُفُ</a:t>
            </a:r>
            <a:endParaRPr lang="ar-SA" sz="2400" dirty="0"/>
          </a:p>
        </p:txBody>
      </p:sp>
      <p:sp>
        <p:nvSpPr>
          <p:cNvPr id="23" name="Text 20"/>
          <p:cNvSpPr txBox="1"/>
          <p:nvPr/>
        </p:nvSpPr>
        <p:spPr>
          <a:xfrm>
            <a:off x="8001000"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a:t>
            </a:r>
            <a:endParaRPr lang="en-US" sz="1100" dirty="0"/>
          </a:p>
        </p:txBody>
      </p:sp>
      <p:sp>
        <p:nvSpPr>
          <p:cNvPr id="24" name="Text 21"/>
          <p:cNvSpPr txBox="1"/>
          <p:nvPr/>
        </p:nvSpPr>
        <p:spPr>
          <a:xfrm>
            <a:off x="580644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a:t>
            </a:r>
            <a:endParaRPr lang="en-US" sz="1100" dirty="0"/>
          </a:p>
        </p:txBody>
      </p:sp>
      <p:sp>
        <p:nvSpPr>
          <p:cNvPr id="25" name="Text 22"/>
          <p:cNvSpPr txBox="1"/>
          <p:nvPr/>
        </p:nvSpPr>
        <p:spPr>
          <a:xfrm>
            <a:off x="342900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Birmingham</a:t>
            </a:r>
            <a:endParaRPr lang="en-US" sz="1100" dirty="0"/>
          </a:p>
        </p:txBody>
      </p:sp>
      <p:sp>
        <p:nvSpPr>
          <p:cNvPr id="26" name="Text 23"/>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and English</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مَرْيَمُ</a:t>
            </a:r>
            <a:endParaRPr lang="ar-SA" sz="2400" dirty="0"/>
          </a:p>
        </p:txBody>
      </p:sp>
      <p:sp>
        <p:nvSpPr>
          <p:cNvPr id="31" name="Text 28"/>
          <p:cNvSpPr txBox="1"/>
          <p:nvPr/>
        </p:nvSpPr>
        <p:spPr>
          <a:xfrm>
            <a:off x="8001000"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a:t>
            </a:r>
            <a:endParaRPr lang="en-US" sz="1100" dirty="0"/>
          </a:p>
        </p:txBody>
      </p:sp>
      <p:sp>
        <p:nvSpPr>
          <p:cNvPr id="32" name="Text 29"/>
          <p:cNvSpPr txBox="1"/>
          <p:nvPr/>
        </p:nvSpPr>
        <p:spPr>
          <a:xfrm>
            <a:off x="580644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Syria</a:t>
            </a:r>
            <a:endParaRPr lang="en-US" sz="1100" dirty="0"/>
          </a:p>
        </p:txBody>
      </p:sp>
      <p:sp>
        <p:nvSpPr>
          <p:cNvPr id="33" name="Text 30"/>
          <p:cNvSpPr txBox="1"/>
          <p:nvPr/>
        </p:nvSpPr>
        <p:spPr>
          <a:xfrm>
            <a:off x="342900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Paris</a:t>
            </a:r>
            <a:endParaRPr lang="en-US" sz="1100" dirty="0"/>
          </a:p>
        </p:txBody>
      </p:sp>
      <p:sp>
        <p:nvSpPr>
          <p:cNvPr id="34" name="Text 31"/>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and French</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بِلَالٌ</a:t>
            </a:r>
            <a:endParaRPr lang="ar-SA" sz="2400" dirty="0"/>
          </a:p>
        </p:txBody>
      </p:sp>
      <p:sp>
        <p:nvSpPr>
          <p:cNvPr id="39" name="Text 36"/>
          <p:cNvSpPr txBox="1"/>
          <p:nvPr/>
        </p:nvSpPr>
        <p:spPr>
          <a:xfrm>
            <a:off x="8001000"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0" name="Text 37"/>
          <p:cNvSpPr txBox="1"/>
          <p:nvPr/>
        </p:nvSpPr>
        <p:spPr>
          <a:xfrm>
            <a:off x="580644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Pakistan</a:t>
            </a:r>
            <a:endParaRPr lang="en-US" sz="1100" dirty="0"/>
          </a:p>
        </p:txBody>
      </p:sp>
      <p:sp>
        <p:nvSpPr>
          <p:cNvPr id="41" name="Text 38"/>
          <p:cNvSpPr txBox="1"/>
          <p:nvPr/>
        </p:nvSpPr>
        <p:spPr>
          <a:xfrm>
            <a:off x="342900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London</a:t>
            </a:r>
            <a:endParaRPr lang="en-US" sz="1100" dirty="0"/>
          </a:p>
        </p:txBody>
      </p:sp>
      <p:sp>
        <p:nvSpPr>
          <p:cNvPr id="42" name="Text 39"/>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and Urdu</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TASK C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Task C: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twelve years old?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Bilal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says </a:t>
            </a:r>
            <a:pPr algn="l" indent="0" marL="0">
              <a:buNone/>
            </a:pPr>
            <a:r>
              <a:rPr lang="ar-SA" altLang="en-US" sz="1350" dirty="0">
                <a:solidFill>
                  <a:srgbClr val="8A6D1E"/>
                </a:solidFill>
                <a:latin typeface="Amiri" pitchFamily="2" charset="-78"/>
                <a:ea typeface="Amiri" pitchFamily="2" charset="-78"/>
                <a:cs typeface="Amiri" pitchFamily="2" charset="-78"/>
              </a:rPr>
              <a:t>اِثْنَتَا عَشْرَةَ سَنَةً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Paris?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Bilal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says </a:t>
            </a:r>
            <a:pPr algn="l" indent="0" marL="0">
              <a:buNone/>
            </a:pPr>
            <a:r>
              <a:rPr lang="ar-SA" altLang="en-US" sz="1350" dirty="0">
                <a:solidFill>
                  <a:srgbClr val="8A6D1E"/>
                </a:solidFill>
                <a:latin typeface="Amiri" pitchFamily="2" charset="-78"/>
                <a:ea typeface="Amiri" pitchFamily="2" charset="-78"/>
                <a:cs typeface="Amiri" pitchFamily="2" charset="-78"/>
              </a:rPr>
              <a:t>أَسْكُنُ فِي بَارِيسَ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from Pakistan?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Bilal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Bilal says </a:t>
            </a:r>
            <a:pPr algn="l" indent="0" marL="0">
              <a:buNone/>
            </a:pPr>
            <a:r>
              <a:rPr lang="ar-SA" altLang="en-US" sz="1350" dirty="0">
                <a:solidFill>
                  <a:srgbClr val="8A6D1E"/>
                </a:solidFill>
                <a:latin typeface="Amiri" pitchFamily="2" charset="-78"/>
                <a:ea typeface="Amiri" pitchFamily="2" charset="-78"/>
                <a:cs typeface="Amiri" pitchFamily="2" charset="-78"/>
              </a:rPr>
              <a:t>أَنَا مِنْ بَاكِسْتَانَ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Arabic and French?</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Bilal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gives </a:t>
            </a:r>
            <a:pPr algn="l" indent="0" marL="0">
              <a:buNone/>
            </a:pPr>
            <a:r>
              <a:rPr lang="ar-SA" altLang="en-US" sz="1350" dirty="0">
                <a:solidFill>
                  <a:srgbClr val="8A6D1E"/>
                </a:solidFill>
                <a:latin typeface="Amiri" pitchFamily="2" charset="-78"/>
                <a:ea typeface="Amiri" pitchFamily="2" charset="-78"/>
                <a:cs typeface="Amiri" pitchFamily="2" charset="-78"/>
              </a:rPr>
              <a:t>العَرَبِيَّةَ وَالفَرَنْسِيَّةَ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English and Urdu?</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Bilal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Bilal gives </a:t>
            </a:r>
            <a:pPr algn="l" indent="0" marL="0">
              <a:buNone/>
            </a:pPr>
            <a:r>
              <a:rPr lang="ar-SA" altLang="en-US" sz="1350" dirty="0">
                <a:solidFill>
                  <a:srgbClr val="8A6D1E"/>
                </a:solidFill>
                <a:latin typeface="Amiri" pitchFamily="2" charset="-78"/>
                <a:ea typeface="Amiri" pitchFamily="2" charset="-78"/>
                <a:cs typeface="Amiri" pitchFamily="2" charset="-78"/>
              </a:rPr>
              <a:t>الإِنْجِلِيزِيَّةَ وَالأُرْدِيَّةَ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columns: Speaker 1 · 2 · 3.</a:t>
            </a:r>
            <a:endParaRPr lang="en-US" sz="1250" dirty="0"/>
          </a:p>
          <a:p>
            <a:pPr algn="l" indent="0" marL="0">
              <a:buNone/>
            </a:pPr>
            <a:r>
              <a:rPr lang="en-US" sz="1250" dirty="0">
                <a:solidFill>
                  <a:srgbClr val="1E6B52"/>
                </a:solidFill>
                <a:latin typeface="Calibri" pitchFamily="34" charset="0"/>
                <a:cs typeface="Amiri" pitchFamily="2" charset="-78"/>
              </a:rPr>
              <a:t>Listen 1: the three names.</a:t>
            </a:r>
            <a:endParaRPr lang="en-US" sz="1250" dirty="0"/>
          </a:p>
          <a:p>
            <a:pPr algn="l" indent="0" marL="0">
              <a:buNone/>
            </a:pPr>
            <a:r>
              <a:rPr lang="en-US" sz="1250" dirty="0">
                <a:solidFill>
                  <a:srgbClr val="1E6B52"/>
                </a:solidFill>
                <a:latin typeface="Calibri" pitchFamily="34" charset="0"/>
                <a:cs typeface="Amiri" pitchFamily="2" charset="-78"/>
              </a:rPr>
              <a:t>Listen 2: age, country, city, language.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Retell what you heard in the third person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هُوَ؟ اِسْمُهُ … عُمْرُهُ …</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أَعِدْ رِوَايَةَ تَعْرِيفِ لَيْلَى.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أَعِدْ رِوَايَةَ تَعْرِيفِ كَرِيمٍ.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مَرْيَمَ وَبِلَالٍ.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D5FBF"/>
                </a:solidFill>
                <a:latin typeface="Amiri" pitchFamily="2" charset="-78"/>
                <a:ea typeface="Amiri" pitchFamily="2" charset="-78"/>
                <a:cs typeface="Amiri" pitchFamily="2" charset="-78"/>
              </a:rPr>
              <a:t>اِسْمُهُ / اِسْمُهَا ___ ، وَعُمْرُهُ / وَعُمْرُهَا ___ سَنَةً.</a:t>
            </a:r>
            <a:endParaRPr lang="ar-SA" sz="12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هُوَ / هِيَ مِنْ ___ ، وَيَعِيشُ / وَتَعِيشُ فِي ___ .</a:t>
            </a:r>
            <a:endParaRPr lang="ar-SA" sz="135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مَرْيَمُ تَعِيشُ فِي بَارِيسَ، وَلَكِنْ بِلَالٌ ___ .</a:t>
            </a:r>
            <a:endParaRPr lang="ar-SA" sz="15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يَتَكَلَّمُ / تَتَكَلَّمُ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هُوَ</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اِسْمُهُ كَرِيمٌ، وَعُمْرُهُ ثَلَاثَ عَشْرَةَ سَنَةً. هُوَ مَغْرِبِيٌّ، وَيَعِيشُ فِي لَنْدَنَ.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His name is Karim, and he is 13. He is Moroccan and lives in London.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هِيَ</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اِسْمُهَا لَيْلَى، وَعُمْرُهَا إِحْدَى عَشْرَةَ سَنَةً. هِيَ بَرِيطَانِيَّةٌ لُبْنَانِيَّةٌ، وَتَعِيشُ فِي مَانْشِسْتَرَ.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Her name is Leila, and she is 11. She is British-Lebanese and lives in Manchester.</a:t>
            </a:r>
            <a:endParaRPr lang="en-US" sz="8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Choose one speaker. Four accurate facts: name, age, country and city.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speaker: name, age, country, city — use your listening grid.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Retell six facts using he / she and his / her forms, with two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 facts with he / she forms and two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2 speakers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speakers: one complete sentence each and one contrast with </a:t>
            </a:r>
            <a:pPr algn="l" indent="0" marL="0">
              <a:buNone/>
            </a:pPr>
            <a:r>
              <a:rPr lang="ar-SA" altLang="en-US" sz="1800" b="1" dirty="0">
                <a:solidFill>
                  <a:srgbClr val="1F2A37"/>
                </a:solidFill>
                <a:latin typeface="Amiri" pitchFamily="2" charset="-78"/>
                <a:ea typeface="Amiri" pitchFamily="2" charset="-78"/>
                <a:cs typeface="Amiri" pitchFamily="2" charset="-78"/>
              </a:rPr>
              <a:t>وَلَكِنْ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One sentence for each speaker and a contrast with وَلَكِنْ.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speaks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understands … too.</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likes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هِوَايَتُهَا المُفَضَّلَةُ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favourite hobby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 ______ يَعِيشُ 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 lives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اِسْمُهَا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عُمْرُهُ / عُمْرُهَا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مِنْ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from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يَعِيشُ / تَعِيشُ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lives in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كَرِيمٌ  ·  لَيْلَى  ·  يُوسُفُ  ·  مَرْيَمُ  ·  بِلَالٌ  ·  لَنْدَنَ  ·  مَانْشِسْتَرَ  ·  بَارِيسَ  ·  بِرْمِنْغَامَ  ·  المَغْرِبِ  ·  مِصْرَ  ·  سُورِيَا  ·  بَاكِسْتَانَ  ·  كُرَةَ القَدَمِ  ·  الرَّسْمُ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اِسْمُهُ كَرِيمٌ، وَعُمْرُهُ ثَلَاثَ عَشْرَةَ سَنَةً. هُوَ مَغْرِبِيٌّ، وَيَعِيشُ فِي لَنْدَنَ. يَتَكَلَّمُ العَرَبِيَّةَ وَالفَرَنْسِيَّةَ، وَيُحِبُّ كُرَةَ القَدَمِ.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His name is Karim, and he is thirteen. He is Moroccan, and he lives in London. He speaks Arabic and French, and he likes football.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اِسْمُهُ / عُمْرُهُ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nationality</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يَعِيشُ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languages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listened twice: gist first, then details.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four facts about one speaker.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country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and city (</a:t>
            </a:r>
            <a:pPr algn="l" indent="0" marL="0">
              <a:buNone/>
            </a:pPr>
            <a:r>
              <a:rPr lang="ar-SA" altLang="en-US" sz="1700" dirty="0">
                <a:solidFill>
                  <a:srgbClr val="1F2A37"/>
                </a:solidFill>
                <a:latin typeface="Amiri" pitchFamily="2" charset="-78"/>
                <a:ea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apart.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retold six facts with </a:t>
            </a:r>
            <a:pPr algn="l" indent="0" marL="0">
              <a:buNone/>
            </a:pPr>
            <a:r>
              <a:rPr lang="ar-SA" altLang="en-US" sz="1700" dirty="0">
                <a:solidFill>
                  <a:srgbClr val="1F2A37"/>
                </a:solidFill>
                <a:latin typeface="Amiri" pitchFamily="2" charset="-78"/>
                <a:ea typeface="Amiri" pitchFamily="2" charset="-78"/>
                <a:cs typeface="Amiri" pitchFamily="2" charset="-78"/>
              </a:rPr>
              <a:t>هُوَ / هِيَ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speakers with </a:t>
            </a:r>
            <a:pPr algn="l" indent="0" marL="0">
              <a:buNone/>
            </a:pPr>
            <a:r>
              <a:rPr lang="ar-SA" altLang="en-US" sz="1700" dirty="0">
                <a:solidFill>
                  <a:srgbClr val="1F2A37"/>
                </a:solidFill>
                <a:latin typeface="Amiri" pitchFamily="2" charset="-78"/>
                <a:ea typeface="Amiri" pitchFamily="2" charset="-78"/>
                <a:cs typeface="Amiri" pitchFamily="2" charset="-78"/>
              </a:rPr>
              <a:t>وَلَكِنْ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number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أَرْبَعَ عَشْرَةَ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‘he lives’?</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تَعِيشُ</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أَعِيشُ</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you use the transcript?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attempting the listening task, to verify and repair</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listening, to copy answers</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Instead of listening</a:t>
            </a:r>
            <a:endParaRPr lang="en-US" sz="12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number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أَرْبَعَ عَشْرَةَ</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أَرْبَعَ عَشْرَةَ</a:t>
            </a:r>
            <a:pPr algn="l" indent="0" marL="0">
              <a:buNone/>
            </a:pPr>
            <a:r>
              <a:rPr lang="en-US" sz="1050" i="1" dirty="0">
                <a:solidFill>
                  <a:srgbClr val="8A6D1E"/>
                </a:solidFill>
                <a:latin typeface="Calibri" pitchFamily="34" charset="0"/>
                <a:cs typeface="Amiri" pitchFamily="2" charset="-78"/>
              </a:rPr>
              <a:t> is fourteen.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‘he lives’?</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تَعِيشُ</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يَعِيشُ</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أَعِيشُ</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يَعِيشُ</a:t>
            </a:r>
            <a:pPr algn="l" indent="0" marL="0">
              <a:buNone/>
            </a:pPr>
            <a:r>
              <a:rPr lang="en-US" sz="1050" i="1" dirty="0">
                <a:solidFill>
                  <a:srgbClr val="8A6D1E"/>
                </a:solidFill>
                <a:latin typeface="Calibri" pitchFamily="34" charset="0"/>
                <a:cs typeface="Amiri" pitchFamily="2" charset="-78"/>
              </a:rPr>
              <a:t> is the third-person masculine form.</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you use the transcript?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attempting the listening task, to verify and repair</a:t>
            </a:r>
            <a:endParaRPr lang="en-US" sz="12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listening, to copy answers</a:t>
            </a:r>
            <a:endParaRPr lang="en-US" sz="12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Instead of listening</a:t>
            </a:r>
            <a:endParaRPr lang="en-US" sz="12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transcript is a review tool after a genuine attempt.</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Listening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F2-L10 · Greetings and Identity in the Arab World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ثَقَافَةٌ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culture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customs, habits</a:t>
            </a:r>
            <a:pPr indent="0" marL="0">
              <a:buNone/>
            </a:pPr>
            <a:r>
              <a:rPr lang="ar-SA" sz="1000" i="1" dirty="0">
                <a:solidFill>
                  <a:srgbClr val="5A6472"/>
                </a:solidFill>
                <a:latin typeface="Calibri" pitchFamily="34" charset="0"/>
                <a:ea typeface="Amiri" pitchFamily="2" charset="-78"/>
                <a:cs typeface="Amiri" pitchFamily="2" charset="-78"/>
              </a:rPr>
              <a:t>  sg. عَادَةٌ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اِحْتِرَامٌ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respect</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identity</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فَخُورٌ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proud (m.)</a:t>
            </a:r>
            <a:pPr indent="0" marL="0">
              <a:buNone/>
            </a:pPr>
            <a:r>
              <a:rPr lang="ar-SA" sz="1000" i="1" dirty="0">
                <a:solidFill>
                  <a:srgbClr val="5A6472"/>
                </a:solidFill>
                <a:latin typeface="Calibri" pitchFamily="34" charset="0"/>
                <a:ea typeface="Amiri" pitchFamily="2" charset="-78"/>
                <a:cs typeface="Amiri" pitchFamily="2" charset="-78"/>
              </a:rPr>
              <a:t>  f. فَخُورَةٌ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greeting custom in your family or community. You do NOT have to share anything personal.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أَنَا فَخُورٌ / فَخُورَةٌ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F2-L09: Task A (six questions), then the instruction-word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Tasks B and C, then write your retell (4–6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All three tasks, a two-speaker comparison, and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F2-L10 · Greetings and Identity in the Arab World</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التَّحِيَّاتُ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listen twice — gist first, details second.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F2-L09 · Listening to Personal Introductions</dc:title>
  <dc:subject>PptxGenJS Presentation</dc:subject>
  <dc:creator>Al Madina Online School · Arabic Department</dc:creator>
  <cp:lastModifiedBy>Al Madina Online School · Arabic Department</cp:lastModifiedBy>
  <cp:revision>1</cp:revision>
  <dcterms:created xsi:type="dcterms:W3CDTF">2026-10-11T06:41:26Z</dcterms:created>
  <dcterms:modified xsi:type="dcterms:W3CDTF">2026-10-11T06:41:26Z</dcterms:modified>
</cp:coreProperties>
</file>