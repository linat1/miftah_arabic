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10–18 Cultural words · 18–24 Greetings, blessings, hospitality · 24–26 Quick check · 26–29 I Do · 29–38 We Do (picture match, Culture Detective, listening, reading) · 38–49 You Do (profile + comparison) · 49–54 Feedback · 54–56 Preparation.
FLEX slides are optional. Use them if the class is moving quickly; otherwise the same activities are on the website for homework.
Content source: Miftah Arabic website, Pathways › Foundation › F2 Greetings &amp; Introductions › Lesson 10 (F2-L10). Website sections used: the five cultural lenses and respectful rule, the eight-question F2 retrieval, the ten core cultural words and the additional phrase bank, the vocabulary check (10), “Greetings show respect — but practices vary” with blessing language and the stereotype warning, the greeting and respect check (8), hospitality and family language with the Salma–Maryam micro-dialogue, the layered-identity section and check (8), the Culture Detective Mission (12), the Hanaa listening (8), three fictional family profiles, the respectful cultural profile (speaking) and the comparison writing task. Picture match: website visual game “Greetings and Identity in the Arab World”. The three-family reading questions are teacher-made (the website lists ten but does not include them in the lesson data).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SAFEGUARDING AND RESPECT (website): “No personal disclosure required.” Students may use fictional profiles throughout. Religion appears for RECOGNITION only (مَا دِينُكَ؟ is never asked of a student); a learner who does not wish to discuss belief chooses another identity topic.
• Website respectful rule: observe, ask politely and follow the other person’s lead. Avoid “Arabs always…” / “Everyone must…”; use “in some families”, “in this situation”, “this may vary”, “follow the person’s preference”.
• Core: recognise the key words and identify respectful greeting behaviour. Develop: one similarity and one difference in connected sentences. Stretch: describe layered identity and challenge an inaccurate generalisation.
• A mixed-heritage class is an asset: many students live “layered identity” (website section 5).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from the website “eight-question F2 retrieval check” (the -ki question, origin with مِنْ, تَفَضَّلِي).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Observe, ask politely and follow the other person’s lead (website respectful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learning goals (left) and the website success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ثقافت, عادت, احترام, ضیافت, فخر — five of today’s ten core words are used in Urdu with the same meaning. Ask Urdu speakers to teach the pronunciation difference (ث = s in Urdu, th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WORDS 1–6 (website, with the website example sentences in the notes line). Gesture / emoji from the website: 🌍 culture · 🧭 customs · 🪡 traditions · 🤝 respect · ☕ hospitality · 👨‍👩‍👧‍👦 family.
Website examples: فِي كُلِّ مُجْتَمَعٍ ثَقَافَةٌ (every society has a culture) · تَخْتَلِفُ العَادَاتُ بَيْنَ العَائِلَاتِ (customs differ between families) · الضِّيَافَةُ مُهِمَّةٌ فِي بَعْضِ العَائِلَاتِ (hospitality is important in SOME families) · أَسْأَلُ عَنِ العَائِلَةِ بِأَدَبٍ (I ask about the family politely).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WORDS 7–10 (website) + the website “Careful comparison” bank (cards 11–12). Card 10: agreement with the SPEAKER (F2-L05): a boy says فَخُورٌ, a girl says فَخُورَةٌ; أَنَا فَخُورٌ / فَخُورَةٌ بِثَقَافَتِي.
Card 8: website example — الدِّينُ جُزْءٌ مِنْ هُوِيَّةِ بَعْضِ النَّاسِ (religion is part of SOME people’s identity). Keep it at recognition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GREETINGS AND RESPECT (website section 3). Website points: 1 words first · 2 relationship matters (a close relative, school friend, elder, teacher and new visitor may be greeted differently) · 3 physical contact varies (handshakes, cheek greetings or no physical contact can all be normal — do not assume; follow the other person’s lead) · 4 time and warmth vary (some greetings are brief; others include questions about health and family — both can be respectful).
Website: “Never write ‘Arabs always…’ or ‘Everyone must…’.”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BLESSING LANGUAGE (website). These are heard across many Arabic-speaking communities in everyday speech — also among Urdu speakers. Present them as language students will HEAR; using them is a personal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HOSPITALITY (website section 4). Website: “Offering a drink, welcoming a guest and asking after family can communicate warmth. The exact food, drink, length of visit and level of formality differ widely.”
Website “Meaning before rule”: hospitality is an invitation, not a test — a guest may accept or decline politely.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MICRO-DIALOGUE (website). Read in two roles (teacher + a volunteer). Spot the three female-listener forms: تَفَضَّلِي · تُرِيدِينَ · مِنْ فَضْلِكِ (F2-L06). Develop: perform it with a male guest (تَفَضَّلْ · تُرِيدُ · مِنْ فَضْلِكَ).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LAYERED IDENTITY (website section 5): “A person may describe identity through name, family, nationality, language, city, religion, interests, values or several of these together. No single layer tells the whole story.”
PRIVACY: the belief layer is optional and never required (website identity check Q4: “Respect the choice and use another identity topic”). The questions مَا دِينُكَ؟ / مَا دِينُكِ؟ appear on the website for RECOGNITION only — do not ask them in class.
Website layered-identity example: أَنَا بَرِيطَانِيَّةٌ مِنْ عَائِلَةٍ سُورِيَّةٍ وَأَتَكَلَّمُ لُغَتَيْنِ.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“Eight-question greeting and respect check” questions 1, 2, 5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speaking profile “A Moroccan-British family in Birmingham”, modelled with a think-aloud. New “they” verbs (يَقُولُونَ، يُقَدِّمُونَ، يُصَافِحُونَ) are for recognition: point out the يـ … ـونَ pattern. Students copy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Greetings and Identity in the Arab World”)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Key words to spot: الضِّيَافَةِ (hospitality) · تَخْتَلِفُ … التَّحِيَّةِ (greetings differ) · العَائِلَةُ (family). All three are today’s core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Greetings and Identity in the Arab World”)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Key words to spot: الضِّيَافَةِ (hospitality) · تَخْتَلِفُ … التَّحِيَّةِ (greetings differ) · العَائِلَةُ (family). All three are today’s core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12 Culture Detective statements. Three categories (website): respectful and accurate · needs more care · a personal choice. Stretch: rewrite each “needs more care” statement with careful language (فِي بَعْضِ العَائِلَاتِ …، لَيْسَ دَائِمًا).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discuss the website explanation for each. Stress statement 3 (religion): no student is ever required to disclose belief.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 / Stretch: all 5.
Listen 1: just listen. Listen 2: note answers. Then chat the letters.
Support: after the second listening, show the read-along slide (Arabic + English, line by line) for Core students.
SCRIPT (read aloud):
السَّلَامُ عَلَيْكُمْ. اِسْمِي هَنَاءُ، وَأَنَا أُرْدُنِيَّةٌ أَعِيشُ فِي لَنْدَنَ. اليَوْمَ تَزُورُنَا صَدِيقَتِي مَرْيَمُ. أَقُولُ لَهَا: أَهْلًا وَسَهْلًا، تَفَضَّلِي. ثُمَّ أَسْأَلُهَا: كَيْفَ الأَهْلُ؟ وَأُقَدِّمُ لَهَا الشَّايَ وَالتَّمْرَ. أَنَا فَخُورَةٌ بِعَائِلَتِي وَبِثَقَافَتِي، وَلَكِنَّنِي أَعْرِفُ أَنَّ عَادَاتِ التَّحِيَّةِ وَالضِّيَافَةِ تَخْتَلِفُ مِنْ عَائِلَةٍ إِلَى أُخْرَى.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section 8). Website: “These are fictional family profiles, not claims about every person from a country.” The English column gives the key points; Develop / Stretch cover it and find the Arabic evidence. Core: read the English, then find ONE Arabic word per profile (مَغْرِبِيَّةٌ · لُبْنَانِيٌّ · بَرِيطَانِيٌّ).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1–3 and 5 are teacher-made; question 4 is the website checkpoint question about Rami’s main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“Use a fictional profile or a culture you know well. Never invent personal information about a real classmate.”
Random profile cards (website):
• A Moroccan-British family in Birmingham — Greeting: السَّلَامُ عَلَيْكُمْ · hospitality: mint tea · languages: Arabic and English · variation: some relatives shake hands; others use words only.
• A Jordanian family welcoming a neighbour — Greeting: أَهْلًا وَسَهْلًا · hospitality: tea and dates · family question: كَيْفَ الأَهْلُ؟ · emphasis: guest choice is respected.
• A multilingual Lebanese family in Manchester — Languages: Arabic, English and French · greeting varies by setting · identity combines family background and British life.
• An Egyptian family at a large gathering — Greeting: warm verbal exchange · asks about health and family · hospitality: several optional drinks · practices differ by generation.
• A Syrian-British student describing identity — Proud of family language and British school community · greets friends differently from older relatives · no personal belief disclosure required.
• A fictional international Arabic club — Members come from several backgrounds · use Arabic greetings · bring different family customs · agree to ask before physical contact.
Routes (website): Core — four sentences (country/family, greeting, hospitality, one variation statement) · Develop — add a comparison with Britain or another familiar context using وَلَكِنْ or أَيْضًا · Stretch — explain why one broad statement is inaccurate and replace it with careful language.
Audience questions (website, prompts 2–3 above): مَا أَهَمُّ عَادَةٍ فِي هَذِهِ العَائِلَةِ؟ · هَلْ تَخْتَلِفُ التَّحِيَّةُ مَعَ الأَصْدِقَاءِ؟ · مَا اللُّغَاتُ الَّتِي يَتَكَلَّمُونَهَا؟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Four sentences: family or country context, a greeting, hospitality, and one respectful “this may vary” statement. · Develop — Six to eight sentences with a comparison (similar / different) and وَلَكِنْ or أَيْضًا. · Stretch — Ten sentences; explain why one broad statement is inaccurate and replace it with careful language.
Website writing task (Stretch): Website writing task: a cultural comparison of six to ten connected sentences about one greeting or hospitality context (real, fictional or family-safe): the context, one greeting custom, one hospitality/family custom, one similarity, one difference, and a final statement about respect or identity.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Teacher-made model built from website language (the website gives a planner, not a finished model). A girl would write فَخُورَةٌ.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(F2-L11 · Writing a Short Personal Introduction) will spend class time USING this language, so students prepare it tonight — short, simple, easy to access (school guidance: “Simple, Short, Interesting, Relevant, Easy to access”). The five words are from the website F2-L11 form and connected-writing vocabulary (الاِسْتِمَارَةُ appears in the website task titles).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F2  ·  WEEK 4  ·  LESSON 1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F2-L10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ea typeface="Cambria" pitchFamily="34" charset="-122"/>
                <a:cs typeface="Cambria" pitchFamily="34" charset="-120"/>
              </a:rPr>
              <a:t>Greetings and Identity in the Arab World</a:t>
            </a:r>
            <a:endParaRPr lang="en-US" sz="27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التَّحِيَّاتُ وَالهُوِيَّةُ فِي العَالَمِ العَرَبِيِّ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Language carries culture: explore how greetings, family, hospitality, nationality, language and belief can shape identity — while remembering that Arabic-speaking communities are diverse and no single custom applies to everyone.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F2-L10 · Week 4, lesson 1</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F2 › Lesson 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Cultural words, greetings, hospitality and identity.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Culture Detective, listen and read.</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F2-L11.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You never have to share anything personal today. You can always use a fictional family. Look for the green CORE boxes; English answers in the chat are fine.</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ثَقَافَةٌ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custom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culture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identity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form a girl uses: “I am proud”.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فَخُورَةٌ.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فَخُورٌ.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فَخْرٌ.</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asks after a female listener?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حَالُكَ؟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اسْمُهَا؟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حَالُكِ؟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line means ‘I am from Morocco’?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أَسْكُنُ فِي المَغْرِبِ.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مَغْرِبِيَّةٌ.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مِنَ المَغْرِبِ.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is a polite welcome to one female?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تَفَضَّلِي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تَفَضَّلْ</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ثَقَافَةٌ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custom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culture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identity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form a girl uses: “I am proud”.</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أَنَا فَخُورَةٌ.</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فَخُورٌ.</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فَخْرٌ.</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 F2-L05 agreement.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asks after a female listener?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كَيْفَ حَالُكَ؟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مَا اسْمُهَا؟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كَيْفَ حَالُكِ؟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final kasra in </a:t>
            </a:r>
            <a:pPr algn="l" indent="0" marL="0">
              <a:buNone/>
            </a:pPr>
            <a:r>
              <a:rPr lang="ar-SA" altLang="en-US" sz="1350" dirty="0">
                <a:solidFill>
                  <a:srgbClr val="8A6D1E"/>
                </a:solidFill>
                <a:latin typeface="Amiri" pitchFamily="34" charset="0"/>
                <a:ea typeface="Amiri" pitchFamily="34" charset="-122"/>
                <a:cs typeface="Amiri" pitchFamily="34" charset="-120"/>
              </a:rPr>
              <a:t>ـكِ</a:t>
            </a:r>
            <a:pPr algn="l" indent="0" marL="0">
              <a:buNone/>
            </a:pPr>
            <a:r>
              <a:rPr lang="en-US" sz="1050" i="1" dirty="0">
                <a:solidFill>
                  <a:srgbClr val="8A6D1E"/>
                </a:solidFill>
                <a:latin typeface="Calibri" pitchFamily="34" charset="0"/>
                <a:ea typeface="Calibri" pitchFamily="34" charset="-122"/>
                <a:cs typeface="Calibri" pitchFamily="34" charset="-120"/>
              </a:rPr>
              <a:t> addresses one female.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line means ‘I am from Morocco’?</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أَسْكُنُ فِي المَغْرِبِ.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مَغْرِبِيَّةٌ.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أَنَا مِنَ المَغْرِبِ.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 introduces origin: where someone is from.</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is a polite welcome to one female?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تَفَضَّلِي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تَفَضَّلْ</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تَفَضَّلِي</a:t>
            </a:r>
            <a:pPr algn="l" indent="0" marL="0">
              <a:buNone/>
            </a:pPr>
            <a:r>
              <a:rPr lang="en-US" sz="1050" i="1" dirty="0">
                <a:solidFill>
                  <a:srgbClr val="8A6D1E"/>
                </a:solidFill>
                <a:latin typeface="Calibri" pitchFamily="34" charset="0"/>
                <a:ea typeface="Calibri" pitchFamily="34" charset="-122"/>
                <a:cs typeface="Calibri" pitchFamily="34" charset="-120"/>
              </a:rPr>
              <a:t> addresses one female.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Observe, ask politely and follow the other person’s lead (website respectful rule).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فِي بَعْضِ العَائِلَاتِ … · لَيْسَ دَائِمًا</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1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the core cultural vocabulary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Describe greetings, hospitality, family and identity without stereotyping.</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that practices vary by country, family and individual.</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Compare a cultural practice with a familiar context respectfully.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recognise the key cultural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identify respectful greeting behaviour.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explain one similarity and one difference.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“in some families…” carefully.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describe layered identity.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challenge an inaccurate generalisation.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10 core cultural words (website “required core”) plus greeting, hospitality and comparison phrases. Core: the first six words.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Core cultural words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Greeting, blessing, hospitality</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Careful comparison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ثَقَافَةٌ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‎ثقافت‎ </a:t>
            </a:r>
            <a:pPr indent="0" marL="0">
              <a:buNone/>
            </a:pPr>
            <a:r>
              <a:rPr lang="en-US" sz="950" b="1" dirty="0">
                <a:solidFill>
                  <a:srgbClr val="2E8B57"/>
                </a:solidFill>
                <a:latin typeface="Calibri" pitchFamily="34" charset="0"/>
                <a:ea typeface="Calibri" pitchFamily="34" charset="-122"/>
                <a:cs typeface="Calibri" pitchFamily="34" charset="-120"/>
              </a:rPr>
              <a:t> saqāfat · culture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عَادَةٌ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‎عادت‎ </a:t>
            </a:r>
            <a:pPr indent="0" marL="0">
              <a:buNone/>
            </a:pPr>
            <a:r>
              <a:rPr lang="en-US" sz="950" b="1" dirty="0">
                <a:solidFill>
                  <a:srgbClr val="2E8B57"/>
                </a:solidFill>
                <a:latin typeface="Calibri" pitchFamily="34" charset="0"/>
                <a:ea typeface="Calibri" pitchFamily="34" charset="-122"/>
                <a:cs typeface="Calibri" pitchFamily="34" charset="-120"/>
              </a:rPr>
              <a:t> ādat · habit, custom</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اِحْتِرَامٌ</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‎احترام‎ </a:t>
            </a:r>
            <a:pPr indent="0" marL="0">
              <a:buNone/>
            </a:pPr>
            <a:r>
              <a:rPr lang="en-US" sz="950" b="1" dirty="0">
                <a:solidFill>
                  <a:srgbClr val="2E8B57"/>
                </a:solidFill>
                <a:latin typeface="Calibri" pitchFamily="34" charset="0"/>
                <a:ea typeface="Calibri" pitchFamily="34" charset="-122"/>
                <a:cs typeface="Calibri" pitchFamily="34" charset="-120"/>
              </a:rPr>
              <a:t> ehtirām · respect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ضِيَافَةٌ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‎ضیافت‎ </a:t>
            </a:r>
            <a:pPr indent="0" marL="0">
              <a:buNone/>
            </a:pPr>
            <a:r>
              <a:rPr lang="en-US" sz="950" b="1" dirty="0">
                <a:solidFill>
                  <a:srgbClr val="2E8B57"/>
                </a:solidFill>
                <a:latin typeface="Calibri" pitchFamily="34" charset="0"/>
                <a:ea typeface="Calibri" pitchFamily="34" charset="-122"/>
                <a:cs typeface="Calibri" pitchFamily="34" charset="-120"/>
              </a:rPr>
              <a:t> ziyāfat · hospitality, feast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فَخُورٌ</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‎فخر‎ </a:t>
            </a:r>
            <a:pPr indent="0" marL="0">
              <a:buNone/>
            </a:pPr>
            <a:r>
              <a:rPr lang="en-US" sz="950" b="1" dirty="0">
                <a:solidFill>
                  <a:srgbClr val="2E8B57"/>
                </a:solidFill>
                <a:latin typeface="Calibri" pitchFamily="34" charset="0"/>
                <a:ea typeface="Calibri" pitchFamily="34" charset="-122"/>
                <a:cs typeface="Calibri" pitchFamily="34" charset="-120"/>
              </a:rPr>
              <a:t> fakhr · pride (→ proud)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 · CORE CULTURAL WORDS 1–6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Culture, customs and respect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مُفْرَدَاتُ الثَّقَافَةِ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my · 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ثَقَافَةٌ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culture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tha-qā-fa · -āt</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my</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ثَقَافَتِي</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one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ثَقَافَةٌ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ثَقَافَاتٌ</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6" name="Shape 33"/>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 · sg.</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عَادَاتٌ</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customs, habits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ʿā-dāt · sg. ʿā-da</a:t>
            </a:r>
            <a:endParaRPr lang="en-US" sz="1350" dirty="0"/>
          </a:p>
        </p:txBody>
      </p:sp>
      <p:sp>
        <p:nvSpPr>
          <p:cNvPr id="42" name="Shape 39"/>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one</a:t>
            </a:r>
            <a:endParaRPr lang="en-US" sz="750" dirty="0"/>
          </a:p>
        </p:txBody>
      </p:sp>
      <p:sp>
        <p:nvSpPr>
          <p:cNvPr id="44" name="Text 41"/>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عَادَةٌ</a:t>
            </a:r>
            <a:endParaRPr lang="ar-SA" sz="1500" dirty="0"/>
          </a:p>
        </p:txBody>
      </p:sp>
      <p:sp>
        <p:nvSpPr>
          <p:cNvPr id="45" name="Shape 42"/>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7" name="Text 44"/>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عَادَاتٌ</a:t>
            </a:r>
            <a:endParaRPr lang="ar-SA" sz="1500" dirty="0"/>
          </a:p>
        </p:txBody>
      </p:sp>
      <p:sp>
        <p:nvSpPr>
          <p:cNvPr id="48" name="Shape 4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1920240"/>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51" name="Shape 48"/>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plural</a:t>
            </a:r>
            <a:endParaRPr lang="en-US" sz="800" dirty="0"/>
          </a:p>
        </p:txBody>
      </p:sp>
      <p:sp>
        <p:nvSpPr>
          <p:cNvPr id="53" name="Shape 5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5" name="Text 5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تَقَالِيدُ</a:t>
            </a:r>
            <a:endParaRPr lang="ar-SA" sz="3000" dirty="0"/>
          </a:p>
        </p:txBody>
      </p:sp>
      <p:sp>
        <p:nvSpPr>
          <p:cNvPr id="56" name="Text 5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traditions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ta-qā-līd</a:t>
            </a:r>
            <a:endParaRPr lang="en-US" sz="1350" dirty="0"/>
          </a:p>
        </p:txBody>
      </p:sp>
      <p:sp>
        <p:nvSpPr>
          <p:cNvPr id="57" name="Text 54"/>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34" charset="0"/>
                <a:ea typeface="Amiri" pitchFamily="34" charset="-122"/>
                <a:cs typeface="Amiri" pitchFamily="34" charset="-120"/>
              </a:rPr>
              <a:t>لِعَائِلَتِي تَقَالِيدُ جَمِيلَةٌ.</a:t>
            </a:r>
            <a:endParaRPr lang="ar-SA" sz="13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1" name="Shape 58"/>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a:t>
            </a:r>
            <a:endParaRPr lang="en-US" sz="8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5" name="Text 6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اِحْتِرَامٌ</a:t>
            </a:r>
            <a:endParaRPr lang="ar-SA" sz="3000" dirty="0"/>
          </a:p>
        </p:txBody>
      </p:sp>
      <p:sp>
        <p:nvSpPr>
          <p:cNvPr id="66" name="Text 6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respect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iḥ-ti-rām</a:t>
            </a:r>
            <a:endParaRPr lang="en-US" sz="1350" dirty="0"/>
          </a:p>
        </p:txBody>
      </p:sp>
      <p:sp>
        <p:nvSpPr>
          <p:cNvPr id="67" name="Text 64"/>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34" charset="0"/>
                <a:ea typeface="Amiri" pitchFamily="34" charset="-122"/>
                <a:cs typeface="Amiri" pitchFamily="34" charset="-120"/>
              </a:rPr>
              <a:t>التَّحِيَّةُ تُظْهِرُ الاِحْتِرَامَ.</a:t>
            </a:r>
            <a:endParaRPr lang="ar-SA" sz="1300" dirty="0"/>
          </a:p>
        </p:txBody>
      </p:sp>
      <p:sp>
        <p:nvSpPr>
          <p:cNvPr id="68" name="Shape 6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389120"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1" name="Shape 68"/>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2" name="Text 69"/>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73" name="Shape 7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4" name="Text 7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5" name="Text 7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ضِيَافَةٌ</a:t>
            </a:r>
            <a:endParaRPr lang="ar-SA" sz="3000" dirty="0"/>
          </a:p>
        </p:txBody>
      </p:sp>
      <p:sp>
        <p:nvSpPr>
          <p:cNvPr id="76" name="Text 7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hospitality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ḍi-yā-fa</a:t>
            </a:r>
            <a:endParaRPr lang="en-US" sz="1350" dirty="0"/>
          </a:p>
        </p:txBody>
      </p:sp>
      <p:sp>
        <p:nvSpPr>
          <p:cNvPr id="77" name="Text 74"/>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Guest: </a:t>
            </a:r>
            <a:pPr algn="l" indent="0" marL="0">
              <a:buNone/>
            </a:pPr>
            <a:r>
              <a:rPr lang="ar-SA" altLang="en-US" sz="1300" dirty="0">
                <a:solidFill>
                  <a:srgbClr val="8A6D1E"/>
                </a:solidFill>
                <a:latin typeface="Amiri" pitchFamily="34" charset="0"/>
                <a:ea typeface="Amiri" pitchFamily="34" charset="-122"/>
                <a:cs typeface="Amiri" pitchFamily="34" charset="-120"/>
              </a:rPr>
              <a:t>ضَيْفٌ / ضَيْفَةٌ / ضُيُوفٌ</a:t>
            </a:r>
            <a:endParaRPr lang="en-US" sz="1000" dirty="0"/>
          </a:p>
        </p:txBody>
      </p:sp>
      <p:sp>
        <p:nvSpPr>
          <p:cNvPr id="78" name="Shape 7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566928" y="4261104"/>
            <a:ext cx="310896" cy="310896"/>
          </a:xfrm>
          <a:prstGeom prst="ellipse">
            <a:avLst/>
          </a:prstGeom>
          <a:solidFill>
            <a:srgbClr val="F4F1EA"/>
          </a:solidFill>
          <a:ln w="12700">
            <a:solidFill>
              <a:srgbClr val="F4F1EA"/>
            </a:solidFill>
            <a:prstDash val="solid"/>
          </a:ln>
        </p:spPr>
      </p:sp>
      <p:sp>
        <p:nvSpPr>
          <p:cNvPr id="80" name="Text 7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1" name="Shape 78"/>
          <p:cNvSpPr/>
          <p:nvPr/>
        </p:nvSpPr>
        <p:spPr>
          <a:xfrm>
            <a:off x="960120" y="4279392"/>
            <a:ext cx="1144829" cy="256032"/>
          </a:xfrm>
          <a:prstGeom prst="roundRect">
            <a:avLst>
              <a:gd name="adj" fmla="val 50000"/>
            </a:avLst>
          </a:prstGeom>
          <a:solidFill>
            <a:srgbClr val="EFE7D2"/>
          </a:solidFill>
          <a:ln w="12700">
            <a:solidFill>
              <a:srgbClr val="EFE7D2"/>
            </a:solidFill>
            <a:prstDash val="solid"/>
          </a:ln>
        </p:spPr>
      </p:sp>
      <p:sp>
        <p:nvSpPr>
          <p:cNvPr id="82" name="Text 79"/>
          <p:cNvSpPr txBox="1"/>
          <p:nvPr/>
        </p:nvSpPr>
        <p:spPr>
          <a:xfrm>
            <a:off x="960120"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my · his · her</a:t>
            </a:r>
            <a:endParaRPr lang="en-US" sz="800" dirty="0"/>
          </a:p>
        </p:txBody>
      </p:sp>
      <p:sp>
        <p:nvSpPr>
          <p:cNvPr id="83" name="Shape 8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5" name="Text 8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عَائِلَةٌ</a:t>
            </a:r>
            <a:endParaRPr lang="ar-SA" sz="3000" dirty="0"/>
          </a:p>
        </p:txBody>
      </p:sp>
      <p:sp>
        <p:nvSpPr>
          <p:cNvPr id="86" name="Text 8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family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ʿā-ʾi-la · -āt</a:t>
            </a:r>
            <a:endParaRPr lang="en-US" sz="1350" dirty="0"/>
          </a:p>
        </p:txBody>
      </p:sp>
      <p:sp>
        <p:nvSpPr>
          <p:cNvPr id="87" name="Shape 84"/>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my</a:t>
            </a:r>
            <a:endParaRPr lang="en-US" sz="750" dirty="0"/>
          </a:p>
        </p:txBody>
      </p:sp>
      <p:sp>
        <p:nvSpPr>
          <p:cNvPr id="89" name="Text 86"/>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عَائِلَتِي</a:t>
            </a:r>
            <a:endParaRPr lang="ar-SA" sz="1500" dirty="0"/>
          </a:p>
        </p:txBody>
      </p:sp>
      <p:sp>
        <p:nvSpPr>
          <p:cNvPr id="90" name="Shape 87"/>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his</a:t>
            </a:r>
            <a:endParaRPr lang="en-US" sz="750" dirty="0"/>
          </a:p>
        </p:txBody>
      </p:sp>
      <p:sp>
        <p:nvSpPr>
          <p:cNvPr id="92" name="Text 89"/>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عَائِلَتُهُ</a:t>
            </a:r>
            <a:endParaRPr lang="ar-SA" sz="1500" dirty="0"/>
          </a:p>
        </p:txBody>
      </p:sp>
      <p:sp>
        <p:nvSpPr>
          <p:cNvPr id="93" name="Shape 90"/>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her</a:t>
            </a:r>
            <a:endParaRPr lang="en-US" sz="750" dirty="0"/>
          </a:p>
        </p:txBody>
      </p:sp>
      <p:sp>
        <p:nvSpPr>
          <p:cNvPr id="95" name="Text 92"/>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عَائِلَتُهَا</a:t>
            </a:r>
            <a:endParaRPr lang="ar-SA" sz="15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1 · CORE CULTURAL WORDS 7–10 + COMPARISON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Community, identity and pride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المُجْتَمَعُ وَالهُوِيَّةُ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مُجْتَمَعٌ</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society, community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mu-jta-maʿ</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المُجْتَمَعُ مُتَنَوِّعٌ</a:t>
            </a:r>
            <a:pPr algn="l" indent="0" marL="0">
              <a:buNone/>
            </a:pPr>
            <a:r>
              <a:rPr lang="en-US" sz="1000" i="1" dirty="0">
                <a:solidFill>
                  <a:srgbClr val="8A6D1E"/>
                </a:solidFill>
                <a:latin typeface="Calibri" pitchFamily="34" charset="0"/>
                <a:ea typeface="Calibri" pitchFamily="34" charset="-122"/>
                <a:cs typeface="Calibri" pitchFamily="34" charset="-120"/>
              </a:rPr>
              <a:t>. (diverse)</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28" name="Shape 25"/>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recognise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دِينٌ</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religion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dīn</a:t>
            </a:r>
            <a:endParaRPr lang="en-US" sz="1350" dirty="0"/>
          </a:p>
        </p:txBody>
      </p:sp>
      <p:sp>
        <p:nvSpPr>
          <p:cNvPr id="32" name="Text 2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 part of SOME people’s identity — personal.</a:t>
            </a:r>
            <a:endParaRPr lang="en-US" sz="100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36" name="Shape 33"/>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my · his · her</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هُوِيَّةٌ</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identity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hu-wiy-ya</a:t>
            </a:r>
            <a:endParaRPr lang="en-US" sz="1350" dirty="0"/>
          </a:p>
        </p:txBody>
      </p:sp>
      <p:sp>
        <p:nvSpPr>
          <p:cNvPr id="42" name="Shape 39"/>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my</a:t>
            </a:r>
            <a:endParaRPr lang="en-US" sz="750" dirty="0"/>
          </a:p>
        </p:txBody>
      </p:sp>
      <p:sp>
        <p:nvSpPr>
          <p:cNvPr id="44" name="Text 41"/>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هُوِيَّتِي</a:t>
            </a:r>
            <a:endParaRPr lang="ar-SA" sz="1500" dirty="0"/>
          </a:p>
        </p:txBody>
      </p:sp>
      <p:sp>
        <p:nvSpPr>
          <p:cNvPr id="45" name="Shape 42"/>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his</a:t>
            </a:r>
            <a:endParaRPr lang="en-US" sz="750" dirty="0"/>
          </a:p>
        </p:txBody>
      </p:sp>
      <p:sp>
        <p:nvSpPr>
          <p:cNvPr id="47" name="Text 44"/>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هُوِيَّتُهُ</a:t>
            </a:r>
            <a:endParaRPr lang="ar-SA" sz="1500" dirty="0"/>
          </a:p>
        </p:txBody>
      </p:sp>
      <p:sp>
        <p:nvSpPr>
          <p:cNvPr id="48" name="Shape 45"/>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her</a:t>
            </a:r>
            <a:endParaRPr lang="en-US" sz="750" dirty="0"/>
          </a:p>
        </p:txBody>
      </p:sp>
      <p:sp>
        <p:nvSpPr>
          <p:cNvPr id="50" name="Text 47"/>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هُوِيَّتُهَا</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54" name="Shape 5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 · pl</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فَخُورٌ بِـ</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proud of</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fa-khūr · fa-khū-ra · fa-khū-rūn</a:t>
            </a:r>
            <a:endParaRPr lang="en-US" sz="1350" dirty="0"/>
          </a:p>
        </p:txBody>
      </p:sp>
      <p:sp>
        <p:nvSpPr>
          <p:cNvPr id="60" name="Shape 57"/>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62" name="Text 59"/>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فَخُورٌ</a:t>
            </a:r>
            <a:endParaRPr lang="ar-SA" sz="1500" dirty="0"/>
          </a:p>
        </p:txBody>
      </p:sp>
      <p:sp>
        <p:nvSpPr>
          <p:cNvPr id="63" name="Shape 60"/>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65" name="Text 62"/>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فَخُورَةٌ</a:t>
            </a:r>
            <a:endParaRPr lang="ar-SA" sz="1500" dirty="0"/>
          </a:p>
        </p:txBody>
      </p:sp>
      <p:sp>
        <p:nvSpPr>
          <p:cNvPr id="66" name="Shape 63"/>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68" name="Text 65"/>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فَخُورُونَ</a:t>
            </a:r>
            <a:endParaRPr lang="ar-SA" sz="150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72" name="Shape 6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 · f</a:t>
            </a:r>
            <a:endParaRPr lang="en-US" sz="800" dirty="0"/>
          </a:p>
        </p:txBody>
      </p:sp>
      <p:sp>
        <p:nvSpPr>
          <p:cNvPr id="74" name="Text 7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مُتَشَابِهٌ · مُخْتَلِفٌ</a:t>
            </a:r>
            <a:endParaRPr lang="ar-SA" sz="3000" dirty="0"/>
          </a:p>
        </p:txBody>
      </p:sp>
      <p:sp>
        <p:nvSpPr>
          <p:cNvPr id="75" name="Text 7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similar · different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mu-ta-shā-bih · mukh-ta-lif</a:t>
            </a:r>
            <a:endParaRPr lang="en-US" sz="1350" dirty="0"/>
          </a:p>
        </p:txBody>
      </p:sp>
      <p:sp>
        <p:nvSpPr>
          <p:cNvPr id="76" name="Text 73"/>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 </a:t>
            </a:r>
            <a:pPr algn="l" indent="0" marL="0">
              <a:buNone/>
            </a:pPr>
            <a:r>
              <a:rPr lang="ar-SA" altLang="en-US" sz="1300" dirty="0">
                <a:solidFill>
                  <a:srgbClr val="8A6D1E"/>
                </a:solidFill>
                <a:latin typeface="Amiri" pitchFamily="34" charset="0"/>
                <a:ea typeface="Amiri" pitchFamily="34" charset="-122"/>
                <a:cs typeface="Amiri" pitchFamily="34" charset="-120"/>
              </a:rPr>
              <a:t>مُتَشَابِهَةٌ</a:t>
            </a:r>
            <a:pPr algn="l" indent="0" marL="0">
              <a:buNone/>
            </a:pPr>
            <a:r>
              <a:rPr lang="en-US" sz="1000" i="1" dirty="0">
                <a:solidFill>
                  <a:srgbClr val="8A6D1E"/>
                </a:solidFill>
                <a:latin typeface="Calibri" pitchFamily="34" charset="0"/>
                <a:ea typeface="Calibri" pitchFamily="34" charset="-122"/>
                <a:cs typeface="Calibri" pitchFamily="34" charset="-120"/>
              </a:rPr>
              <a:t> · </a:t>
            </a:r>
            <a:pPr algn="l" indent="0" marL="0">
              <a:buNone/>
            </a:pPr>
            <a:r>
              <a:rPr lang="ar-SA" altLang="en-US" sz="1300" dirty="0">
                <a:solidFill>
                  <a:srgbClr val="8A6D1E"/>
                </a:solidFill>
                <a:latin typeface="Amiri" pitchFamily="34" charset="0"/>
                <a:ea typeface="Amiri" pitchFamily="34" charset="-122"/>
                <a:cs typeface="Amiri" pitchFamily="34" charset="-120"/>
              </a:rPr>
              <a:t>مُخْتَلِفَةٌ</a:t>
            </a:r>
            <a:endParaRPr lang="en-US" sz="1000" dirty="0"/>
          </a:p>
        </p:txBody>
      </p:sp>
      <p:sp>
        <p:nvSpPr>
          <p:cNvPr id="77" name="Shape 7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66928"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80" name="Shape 77"/>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careful</a:t>
            </a:r>
            <a:endParaRPr lang="en-US" sz="800" dirty="0"/>
          </a:p>
        </p:txBody>
      </p:sp>
      <p:sp>
        <p:nvSpPr>
          <p:cNvPr id="82" name="Text 7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فِي بَعْضِ … · أَحْيَانًا</a:t>
            </a:r>
            <a:endParaRPr lang="ar-SA" sz="3000" dirty="0"/>
          </a:p>
        </p:txBody>
      </p:sp>
      <p:sp>
        <p:nvSpPr>
          <p:cNvPr id="83" name="Text 8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some … · sometimes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fī baʿ-ḍi … · aḥ-yā-nan</a:t>
            </a:r>
            <a:endParaRPr lang="en-US" sz="1350" dirty="0"/>
          </a:p>
        </p:txBody>
      </p:sp>
      <p:sp>
        <p:nvSpPr>
          <p:cNvPr id="84" name="Text 81"/>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Also: </a:t>
            </a:r>
            <a:pPr algn="l" indent="0" marL="0">
              <a:buNone/>
            </a:pPr>
            <a:r>
              <a:rPr lang="ar-SA" altLang="en-US" sz="1300" dirty="0">
                <a:solidFill>
                  <a:srgbClr val="8A6D1E"/>
                </a:solidFill>
                <a:latin typeface="Amiri" pitchFamily="34" charset="0"/>
                <a:ea typeface="Amiri" pitchFamily="34" charset="-122"/>
                <a:cs typeface="Amiri" pitchFamily="34" charset="-120"/>
              </a:rPr>
              <a:t>لَيْسَ دَائِمًا</a:t>
            </a:r>
            <a:pPr algn="l" indent="0" marL="0">
              <a:buNone/>
            </a:pPr>
            <a:r>
              <a:rPr lang="en-US" sz="1000" i="1" dirty="0">
                <a:solidFill>
                  <a:srgbClr val="8A6D1E"/>
                </a:solidFill>
                <a:latin typeface="Calibri" pitchFamily="34" charset="0"/>
                <a:ea typeface="Calibri" pitchFamily="34" charset="-122"/>
                <a:cs typeface="Calibri" pitchFamily="34" charset="-120"/>
              </a:rPr>
              <a:t> (not always)</a:t>
            </a:r>
            <a:endParaRPr lang="en-US" sz="10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GREETINGS SHOW RESPECT — BUT PRACTICES VARY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Observe, ask, follow the lead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التَّحِيَّاتُ تُظْهِرُ الاِحْتِرَامَ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1 · WORDS FIRST</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السَّلَامُ عَلَيْكُمْ</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السَّلَامُ عَلَيْكُمْ · مَرْحَبًا · أَهْلًا وَسَهْلًا</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Start with a clear spoken greeting.</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Words are always a respectful start.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2024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2 · RELATIONSHIP MATTERS</a:t>
            </a:r>
            <a:endParaRPr lang="en-US" sz="850" dirty="0"/>
          </a:p>
        </p:txBody>
      </p:sp>
      <p:sp>
        <p:nvSpPr>
          <p:cNvPr id="26" name="Text 23"/>
          <p:cNvSpPr txBox="1"/>
          <p:nvPr/>
        </p:nvSpPr>
        <p:spPr>
          <a:xfrm>
            <a:off x="6379464" y="1874520"/>
            <a:ext cx="13959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كَبِيرُ السِّنِّ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34" charset="0"/>
                <a:ea typeface="Amiri" pitchFamily="34" charset="-122"/>
                <a:cs typeface="Amiri" pitchFamily="34" charset="-120"/>
              </a:rPr>
              <a:t>صَدِيقٌ · مُعَلِّمٌ · ضَيْفٌ · كَبِيرُ السِّنِّ</a:t>
            </a:r>
            <a:endParaRPr lang="ar-SA" sz="22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friend · teacher · guest · older person</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Different people may be greeted differently.</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0E7C86"/>
          </a:solidFill>
          <a:ln w="12700">
            <a:solidFill>
              <a:srgbClr val="0E7C86"/>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3 · CONTACT VARIES</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مُصَافَحَةٌ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مُصَافَحَةٌ · اِبْتِسَامَةٌ · الكَلِمَاتُ فَقَطْ</a:t>
            </a:r>
            <a:endParaRPr lang="ar-SA" sz="2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handshake · smile · words only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All can be normal. Do not assume — follow their lead.</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Avoid the stereotype (website): one language does not mean one greeting style.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34" charset="0"/>
                <a:ea typeface="Amiri" pitchFamily="34" charset="-122"/>
                <a:cs typeface="Amiri" pitchFamily="34" charset="-120"/>
              </a:rPr>
              <a:t>فِي بَعْضِ العَائِلَاتِ …</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34" charset="0"/>
                <a:ea typeface="Amiri" pitchFamily="34" charset="-122"/>
                <a:cs typeface="Amiri" pitchFamily="34" charset="-120"/>
              </a:rPr>
              <a:t>كُلُّ العَائِلَاتِ …</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2 · BLESSING LANGUAGE IN EVERYDAY SPEECH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Everyday blessing phrases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عِبَارَاتٌ يَوْمِيَّةٌ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81544"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Phrase</a:t>
            </a:r>
            <a:endParaRPr lang="en-US" sz="1100" dirty="0"/>
          </a:p>
        </p:txBody>
      </p:sp>
      <p:sp>
        <p:nvSpPr>
          <p:cNvPr id="17" name="Text 14"/>
          <p:cNvSpPr txBox="1"/>
          <p:nvPr/>
        </p:nvSpPr>
        <p:spPr>
          <a:xfrm>
            <a:off x="394106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8" name="Text 15"/>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You may hear it…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799832" y="2267712"/>
            <a:ext cx="38404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السَّلَامُ عَلَيْكُمْ</a:t>
            </a:r>
            <a:endParaRPr lang="ar-SA" sz="2400" dirty="0"/>
          </a:p>
        </p:txBody>
      </p:sp>
      <p:sp>
        <p:nvSpPr>
          <p:cNvPr id="21" name="Text 18"/>
          <p:cNvSpPr txBox="1"/>
          <p:nvPr/>
        </p:nvSpPr>
        <p:spPr>
          <a:xfrm>
            <a:off x="3977640" y="2267712"/>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Peace be upon you.</a:t>
            </a:r>
            <a:endParaRPr lang="en-US" sz="1100" dirty="0"/>
          </a:p>
        </p:txBody>
      </p:sp>
      <p:sp>
        <p:nvSpPr>
          <p:cNvPr id="22" name="Text 19"/>
          <p:cNvSpPr txBox="1"/>
          <p:nvPr/>
        </p:nvSpPr>
        <p:spPr>
          <a:xfrm>
            <a:off x="56692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as a greeting (F2-L01)</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799832" y="3054096"/>
            <a:ext cx="38404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الحَمْدُ لِلَّهِ</a:t>
            </a:r>
            <a:endParaRPr lang="ar-SA" sz="2400" dirty="0"/>
          </a:p>
        </p:txBody>
      </p:sp>
      <p:sp>
        <p:nvSpPr>
          <p:cNvPr id="27" name="Text 24"/>
          <p:cNvSpPr txBox="1"/>
          <p:nvPr/>
        </p:nvSpPr>
        <p:spPr>
          <a:xfrm>
            <a:off x="3977640" y="3054096"/>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Praise be to God. / I am well.</a:t>
            </a:r>
            <a:endParaRPr lang="en-US" sz="1100" dirty="0"/>
          </a:p>
        </p:txBody>
      </p:sp>
      <p:sp>
        <p:nvSpPr>
          <p:cNvPr id="28" name="Text 25"/>
          <p:cNvSpPr txBox="1"/>
          <p:nvPr/>
        </p:nvSpPr>
        <p:spPr>
          <a:xfrm>
            <a:off x="56692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after “how are you?”</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799832" y="3840480"/>
            <a:ext cx="38404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إِنْ شَاءَ اللَّهُ</a:t>
            </a:r>
            <a:endParaRPr lang="ar-SA" sz="2400" dirty="0"/>
          </a:p>
        </p:txBody>
      </p:sp>
      <p:sp>
        <p:nvSpPr>
          <p:cNvPr id="33" name="Text 30"/>
          <p:cNvSpPr txBox="1"/>
          <p:nvPr/>
        </p:nvSpPr>
        <p:spPr>
          <a:xfrm>
            <a:off x="3977640" y="3840480"/>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God willing.</a:t>
            </a:r>
            <a:endParaRPr lang="en-US" sz="1100" dirty="0"/>
          </a:p>
        </p:txBody>
      </p:sp>
      <p:sp>
        <p:nvSpPr>
          <p:cNvPr id="34" name="Text 31"/>
          <p:cNvSpPr txBox="1"/>
          <p:nvPr/>
        </p:nvSpPr>
        <p:spPr>
          <a:xfrm>
            <a:off x="56692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when talking about the future</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799832" y="4626864"/>
            <a:ext cx="38404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مَا شَاءَ اللَّهُ</a:t>
            </a:r>
            <a:endParaRPr lang="ar-SA" sz="2400" dirty="0"/>
          </a:p>
        </p:txBody>
      </p:sp>
      <p:sp>
        <p:nvSpPr>
          <p:cNvPr id="37" name="Text 34"/>
          <p:cNvSpPr txBox="1"/>
          <p:nvPr/>
        </p:nvSpPr>
        <p:spPr>
          <a:xfrm>
            <a:off x="3977640" y="4626864"/>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 expression of appreciation and blessing.</a:t>
            </a:r>
            <a:endParaRPr lang="en-US" sz="1100" dirty="0"/>
          </a:p>
        </p:txBody>
      </p:sp>
      <p:sp>
        <p:nvSpPr>
          <p:cNvPr id="38" name="Text 35"/>
          <p:cNvSpPr txBox="1"/>
          <p:nvPr/>
        </p:nvSpPr>
        <p:spPr>
          <a:xfrm>
            <a:off x="56692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when admiring something</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2 · HOSPITALITY AND FAMILY LANGUAGE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ea typeface="Cambria" pitchFamily="34" charset="-122"/>
                <a:cs typeface="Cambria" pitchFamily="34" charset="-120"/>
              </a:rPr>
              <a:t>Welcome, offer, ask after the family</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لُغَةُ الضِّيَافَةِ وَالعَائِلَةِ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232904"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Phrase</a:t>
            </a:r>
            <a:endParaRPr lang="en-US" sz="1100" dirty="0"/>
          </a:p>
        </p:txBody>
      </p:sp>
      <p:sp>
        <p:nvSpPr>
          <p:cNvPr id="17" name="Text 14"/>
          <p:cNvSpPr txBox="1"/>
          <p:nvPr/>
        </p:nvSpPr>
        <p:spPr>
          <a:xfrm>
            <a:off x="3758184"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8" name="Text 15"/>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Use</a:t>
            </a:r>
            <a:endParaRPr lang="en-US" sz="1100" dirty="0"/>
          </a:p>
        </p:txBody>
      </p:sp>
      <p:sp>
        <p:nvSpPr>
          <p:cNvPr id="19" name="Shape 16"/>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0" name="Text 17"/>
          <p:cNvSpPr txBox="1"/>
          <p:nvPr/>
        </p:nvSpPr>
        <p:spPr>
          <a:xfrm>
            <a:off x="7251192" y="2267712"/>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أَهْلًا وَسَهْلًا</a:t>
            </a:r>
            <a:endParaRPr lang="ar-SA" sz="2200" dirty="0"/>
          </a:p>
        </p:txBody>
      </p:sp>
      <p:sp>
        <p:nvSpPr>
          <p:cNvPr id="21" name="Text 18"/>
          <p:cNvSpPr txBox="1"/>
          <p:nvPr/>
        </p:nvSpPr>
        <p:spPr>
          <a:xfrm>
            <a:off x="3794760" y="2267712"/>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Welcome.</a:t>
            </a:r>
            <a:endParaRPr lang="en-US" sz="1100" dirty="0"/>
          </a:p>
        </p:txBody>
      </p:sp>
      <p:sp>
        <p:nvSpPr>
          <p:cNvPr id="22" name="Text 19"/>
          <p:cNvSpPr txBox="1"/>
          <p:nvPr/>
        </p:nvSpPr>
        <p:spPr>
          <a:xfrm>
            <a:off x="566928" y="2267712"/>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receiving someone warmly</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6" name="Text 23"/>
          <p:cNvSpPr txBox="1"/>
          <p:nvPr/>
        </p:nvSpPr>
        <p:spPr>
          <a:xfrm>
            <a:off x="7251192" y="2950464"/>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تَفَضَّلْ / تَفَضَّلِي</a:t>
            </a:r>
            <a:endParaRPr lang="ar-SA" sz="2200" dirty="0"/>
          </a:p>
        </p:txBody>
      </p:sp>
      <p:sp>
        <p:nvSpPr>
          <p:cNvPr id="27" name="Text 24"/>
          <p:cNvSpPr txBox="1"/>
          <p:nvPr/>
        </p:nvSpPr>
        <p:spPr>
          <a:xfrm>
            <a:off x="3794760" y="2950464"/>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Please come in. / Here you are.</a:t>
            </a:r>
            <a:endParaRPr lang="en-US" sz="1100" dirty="0"/>
          </a:p>
        </p:txBody>
      </p:sp>
      <p:sp>
        <p:nvSpPr>
          <p:cNvPr id="28" name="Text 25"/>
          <p:cNvSpPr txBox="1"/>
          <p:nvPr/>
        </p:nvSpPr>
        <p:spPr>
          <a:xfrm>
            <a:off x="566928" y="2950464"/>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form for the listener (F2-L06)</a:t>
            </a:r>
            <a:endParaRPr lang="en-US" sz="1100" dirty="0"/>
          </a:p>
        </p:txBody>
      </p:sp>
      <p:sp>
        <p:nvSpPr>
          <p:cNvPr id="29" name="Shape 26"/>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2" name="Text 29"/>
          <p:cNvSpPr txBox="1"/>
          <p:nvPr/>
        </p:nvSpPr>
        <p:spPr>
          <a:xfrm>
            <a:off x="7251192" y="3633216"/>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هَلْ تُرِيدُ شَايًا أَوْ قَهْوَةً؟</a:t>
            </a:r>
            <a:endParaRPr lang="ar-SA" sz="2200" dirty="0"/>
          </a:p>
        </p:txBody>
      </p:sp>
      <p:sp>
        <p:nvSpPr>
          <p:cNvPr id="33" name="Text 30"/>
          <p:cNvSpPr txBox="1"/>
          <p:nvPr/>
        </p:nvSpPr>
        <p:spPr>
          <a:xfrm>
            <a:off x="3794760" y="3633216"/>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Would you like tea or coffee?</a:t>
            </a:r>
            <a:endParaRPr lang="en-US" sz="1100" dirty="0"/>
          </a:p>
        </p:txBody>
      </p:sp>
      <p:sp>
        <p:nvSpPr>
          <p:cNvPr id="34" name="Text 31"/>
          <p:cNvSpPr txBox="1"/>
          <p:nvPr/>
        </p:nvSpPr>
        <p:spPr>
          <a:xfrm>
            <a:off x="566928" y="3633216"/>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practical offer (f.: </a:t>
            </a:r>
            <a:pPr algn="l" indent="0" marL="0">
              <a:buNone/>
            </a:pPr>
            <a:r>
              <a:rPr lang="ar-SA" altLang="en-US" sz="1450" dirty="0">
                <a:solidFill>
                  <a:srgbClr val="5A6472"/>
                </a:solidFill>
                <a:latin typeface="Amiri" pitchFamily="34" charset="0"/>
                <a:ea typeface="Amiri" pitchFamily="34" charset="-122"/>
                <a:cs typeface="Amiri" pitchFamily="34" charset="-120"/>
              </a:rPr>
              <a:t>تُرِيدِينَ</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35" name="Shape 32"/>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8" name="Text 35"/>
          <p:cNvSpPr txBox="1"/>
          <p:nvPr/>
        </p:nvSpPr>
        <p:spPr>
          <a:xfrm>
            <a:off x="7251192" y="4315968"/>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كَيْفَ الأَهْلُ؟</a:t>
            </a:r>
            <a:endParaRPr lang="ar-SA" sz="2200" dirty="0"/>
          </a:p>
        </p:txBody>
      </p:sp>
      <p:sp>
        <p:nvSpPr>
          <p:cNvPr id="39" name="Text 36"/>
          <p:cNvSpPr txBox="1"/>
          <p:nvPr/>
        </p:nvSpPr>
        <p:spPr>
          <a:xfrm>
            <a:off x="3794760" y="4315968"/>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How is the family?</a:t>
            </a:r>
            <a:endParaRPr lang="en-US" sz="1100" dirty="0"/>
          </a:p>
        </p:txBody>
      </p:sp>
      <p:sp>
        <p:nvSpPr>
          <p:cNvPr id="40" name="Text 37"/>
          <p:cNvSpPr txBox="1"/>
          <p:nvPr/>
        </p:nvSpPr>
        <p:spPr>
          <a:xfrm>
            <a:off x="566928" y="4315968"/>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when the relationship makes it right</a:t>
            </a:r>
            <a:endParaRPr lang="en-US" sz="1100" dirty="0"/>
          </a:p>
        </p:txBody>
      </p:sp>
      <p:sp>
        <p:nvSpPr>
          <p:cNvPr id="41" name="Shape 38"/>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2" name="Text 39"/>
          <p:cNvSpPr txBox="1"/>
          <p:nvPr/>
        </p:nvSpPr>
        <p:spPr>
          <a:xfrm>
            <a:off x="7251192" y="4998720"/>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هُمْ بِخَيْرٍ، الحَمْدُ لِلَّهِ.</a:t>
            </a:r>
            <a:endParaRPr lang="ar-SA" sz="2200" dirty="0"/>
          </a:p>
        </p:txBody>
      </p:sp>
      <p:sp>
        <p:nvSpPr>
          <p:cNvPr id="43" name="Text 40"/>
          <p:cNvSpPr txBox="1"/>
          <p:nvPr/>
        </p:nvSpPr>
        <p:spPr>
          <a:xfrm>
            <a:off x="3794760" y="4998720"/>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They are well, praise be to God.</a:t>
            </a:r>
            <a:endParaRPr lang="en-US" sz="1100" dirty="0"/>
          </a:p>
        </p:txBody>
      </p:sp>
      <p:sp>
        <p:nvSpPr>
          <p:cNvPr id="44" name="Text 41"/>
          <p:cNvSpPr txBox="1"/>
          <p:nvPr/>
        </p:nvSpPr>
        <p:spPr>
          <a:xfrm>
            <a:off x="566928" y="4998720"/>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possible answer</a:t>
            </a:r>
            <a:endParaRPr lang="en-US" sz="1100" dirty="0"/>
          </a:p>
        </p:txBody>
      </p:sp>
      <p:sp>
        <p:nvSpPr>
          <p:cNvPr id="45" name="Shape 42"/>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6" name="Text 43"/>
          <p:cNvSpPr txBox="1"/>
          <p:nvPr/>
        </p:nvSpPr>
        <p:spPr>
          <a:xfrm>
            <a:off x="7251192" y="5681472"/>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شُكْرًا عَلَى الضِّيَافَةِ.</a:t>
            </a:r>
            <a:endParaRPr lang="ar-SA" sz="2200" dirty="0"/>
          </a:p>
        </p:txBody>
      </p:sp>
      <p:sp>
        <p:nvSpPr>
          <p:cNvPr id="47" name="Text 44"/>
          <p:cNvSpPr txBox="1"/>
          <p:nvPr/>
        </p:nvSpPr>
        <p:spPr>
          <a:xfrm>
            <a:off x="3794760" y="5681472"/>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Thank you for the hospitality.</a:t>
            </a:r>
            <a:endParaRPr lang="en-US" sz="1100" dirty="0"/>
          </a:p>
        </p:txBody>
      </p:sp>
      <p:sp>
        <p:nvSpPr>
          <p:cNvPr id="48" name="Text 45"/>
          <p:cNvSpPr txBox="1"/>
          <p:nvPr/>
        </p:nvSpPr>
        <p:spPr>
          <a:xfrm>
            <a:off x="566928" y="5681472"/>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polite closing</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HOSPITALITY · THE WEBSITE MICRO-DIALOGUE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Salma welcomes Maryam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حِوَارٌ قَصِيرٌ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سَلْمَى: أَهْلًا وَسَهْلًا يَا مَرْيَمُ. تَفَضَّلِي.</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Welcome, Maryam. Come in.</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مَرْيَمُ: شُكْرًا. كَيْفَ الأَهْلُ؟</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Thank you. How is the family?</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سَلْمَى: هُمْ بِخَيْرٍ، الحَمْدُ لِلَّهِ. هَلْ تُرِيدِينَ شَايًا؟</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are well, praise be to God. Would you like some tea?</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مَرْيَمُ: نَعَمْ، مِنْ فَضْلِكِ. شُكْرًا.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 please. Thank you.</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IDENTITY HAS MORE THAN ONE LAYER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Layers of identity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لِلْهُوِيَّةِ أَكْثَرُ مِنْ جَانِبٍ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p>
        </p:txBody>
      </p:sp>
      <p:sp>
        <p:nvSpPr>
          <p:cNvPr id="17" name="Text 14"/>
          <p:cNvSpPr txBox="1"/>
          <p:nvPr/>
        </p:nvSpPr>
        <p:spPr>
          <a:xfrm>
            <a:off x="558698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Frame (I)</a:t>
            </a:r>
            <a:endParaRPr lang="en-US" sz="1100" dirty="0"/>
          </a:p>
        </p:txBody>
      </p:sp>
      <p:sp>
        <p:nvSpPr>
          <p:cNvPr id="18" name="Text 15"/>
          <p:cNvSpPr txBox="1"/>
          <p:nvPr/>
        </p:nvSpPr>
        <p:spPr>
          <a:xfrm>
            <a:off x="320954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p>
        </p:txBody>
      </p:sp>
      <p:sp>
        <p:nvSpPr>
          <p:cNvPr id="19" name="Text 16"/>
          <p:cNvSpPr txBox="1"/>
          <p:nvPr/>
        </p:nvSpPr>
        <p:spPr>
          <a:xfrm>
            <a:off x="53035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Frame (I)</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46404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Name</a:t>
            </a:r>
            <a:endParaRPr lang="en-US" sz="1100" dirty="0"/>
          </a:p>
        </p:txBody>
      </p:sp>
      <p:sp>
        <p:nvSpPr>
          <p:cNvPr id="22" name="Text 19"/>
          <p:cNvSpPr txBox="1"/>
          <p:nvPr/>
        </p:nvSpPr>
        <p:spPr>
          <a:xfrm>
            <a:off x="5605272" y="2267712"/>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اِسْمِي …</a:t>
            </a:r>
            <a:endParaRPr lang="ar-SA" sz="2200" dirty="0"/>
          </a:p>
        </p:txBody>
      </p:sp>
      <p:sp>
        <p:nvSpPr>
          <p:cNvPr id="23" name="Text 20"/>
          <p:cNvSpPr txBox="1"/>
          <p:nvPr/>
        </p:nvSpPr>
        <p:spPr>
          <a:xfrm>
            <a:off x="324612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Language</a:t>
            </a:r>
            <a:endParaRPr lang="en-US" sz="1100" dirty="0"/>
          </a:p>
        </p:txBody>
      </p:sp>
      <p:sp>
        <p:nvSpPr>
          <p:cNvPr id="24" name="Text 21"/>
          <p:cNvSpPr txBox="1"/>
          <p:nvPr/>
        </p:nvSpPr>
        <p:spPr>
          <a:xfrm>
            <a:off x="548640" y="2267712"/>
            <a:ext cx="24963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أَتَكَلَّمُ …</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46404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Origin</a:t>
            </a:r>
            <a:endParaRPr lang="en-US" sz="1100" dirty="0"/>
          </a:p>
        </p:txBody>
      </p:sp>
      <p:sp>
        <p:nvSpPr>
          <p:cNvPr id="29" name="Text 26"/>
          <p:cNvSpPr txBox="1"/>
          <p:nvPr/>
        </p:nvSpPr>
        <p:spPr>
          <a:xfrm>
            <a:off x="5605272" y="3054096"/>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أَنَا مِنْ …</a:t>
            </a:r>
            <a:endParaRPr lang="ar-SA" sz="2200" dirty="0"/>
          </a:p>
        </p:txBody>
      </p:sp>
      <p:sp>
        <p:nvSpPr>
          <p:cNvPr id="30" name="Text 27"/>
          <p:cNvSpPr txBox="1"/>
          <p:nvPr/>
        </p:nvSpPr>
        <p:spPr>
          <a:xfrm>
            <a:off x="324612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Family</a:t>
            </a:r>
            <a:endParaRPr lang="en-US" sz="1100" dirty="0"/>
          </a:p>
        </p:txBody>
      </p:sp>
      <p:sp>
        <p:nvSpPr>
          <p:cNvPr id="31" name="Text 28"/>
          <p:cNvSpPr txBox="1"/>
          <p:nvPr/>
        </p:nvSpPr>
        <p:spPr>
          <a:xfrm>
            <a:off x="548640" y="3054096"/>
            <a:ext cx="24963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عَائِلَتِي …</a:t>
            </a:r>
            <a:endParaRPr lang="ar-SA" sz="22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46404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Residence</a:t>
            </a:r>
            <a:endParaRPr lang="en-US" sz="1100" dirty="0"/>
          </a:p>
        </p:txBody>
      </p:sp>
      <p:sp>
        <p:nvSpPr>
          <p:cNvPr id="36" name="Text 33"/>
          <p:cNvSpPr txBox="1"/>
          <p:nvPr/>
        </p:nvSpPr>
        <p:spPr>
          <a:xfrm>
            <a:off x="5605272" y="3840480"/>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أَسْكُنُ فِي …</a:t>
            </a:r>
            <a:endParaRPr lang="ar-SA" sz="2200" dirty="0"/>
          </a:p>
        </p:txBody>
      </p:sp>
      <p:sp>
        <p:nvSpPr>
          <p:cNvPr id="37" name="Text 34"/>
          <p:cNvSpPr txBox="1"/>
          <p:nvPr/>
        </p:nvSpPr>
        <p:spPr>
          <a:xfrm>
            <a:off x="324612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Interest</a:t>
            </a:r>
            <a:endParaRPr lang="en-US" sz="1100" dirty="0"/>
          </a:p>
        </p:txBody>
      </p:sp>
      <p:sp>
        <p:nvSpPr>
          <p:cNvPr id="38" name="Text 35"/>
          <p:cNvSpPr txBox="1"/>
          <p:nvPr/>
        </p:nvSpPr>
        <p:spPr>
          <a:xfrm>
            <a:off x="548640" y="3840480"/>
            <a:ext cx="24963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أُحِبُّ …</a:t>
            </a:r>
            <a:endParaRPr lang="ar-SA" sz="22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946404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Pride</a:t>
            </a:r>
            <a:endParaRPr lang="en-US" sz="1100" dirty="0"/>
          </a:p>
        </p:txBody>
      </p:sp>
      <p:sp>
        <p:nvSpPr>
          <p:cNvPr id="41" name="Text 38"/>
          <p:cNvSpPr txBox="1"/>
          <p:nvPr/>
        </p:nvSpPr>
        <p:spPr>
          <a:xfrm>
            <a:off x="5605272" y="4626864"/>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أَنَا فَخُورٌ / فَخُورَةٌ بِـ …</a:t>
            </a:r>
            <a:endParaRPr lang="ar-SA" sz="2200" dirty="0"/>
          </a:p>
        </p:txBody>
      </p:sp>
      <p:sp>
        <p:nvSpPr>
          <p:cNvPr id="42" name="Text 39"/>
          <p:cNvSpPr txBox="1"/>
          <p:nvPr/>
        </p:nvSpPr>
        <p:spPr>
          <a:xfrm>
            <a:off x="324612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Belief (optional)</a:t>
            </a:r>
            <a:endParaRPr lang="en-US" sz="1100" dirty="0"/>
          </a:p>
        </p:txBody>
      </p:sp>
      <p:sp>
        <p:nvSpPr>
          <p:cNvPr id="43" name="Text 40"/>
          <p:cNvSpPr txBox="1"/>
          <p:nvPr/>
        </p:nvSpPr>
        <p:spPr>
          <a:xfrm>
            <a:off x="566928" y="4626864"/>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optional — your choice</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هُوِيَّتِي مُتَنَوِّعَةٌ</a:t>
            </a:r>
            <a:pPr algn="l" indent="0" marL="0">
              <a:buNone/>
            </a:pPr>
            <a:r>
              <a:rPr lang="en-US" sz="1150" b="1" dirty="0">
                <a:solidFill>
                  <a:srgbClr val="1B3B6F"/>
                </a:solidFill>
                <a:latin typeface="Calibri" pitchFamily="34" charset="0"/>
                <a:ea typeface="Calibri" pitchFamily="34" charset="-122"/>
                <a:cs typeface="Calibri" pitchFamily="34" charset="-120"/>
              </a:rPr>
              <a:t>. — My identity is diverse. No single layer tells the whole story.</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most accurate statement about greeting gestures?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Every Arab greeting includes a handshake.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Physical contact is always expected.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vary by person, family, setting and community.</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Arabic phrase respectfully asks after the family?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الأَهْلُ؟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دِينُكَ؟</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عُمْرُكَ؟</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a learner do when unsure about a greeting gesture?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Copy one rule for every country.</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Use words, observe and follow the other person’s lead.</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Avoid greeting anyone.</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avoids overgeneralising?</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 بَعْضِ العَائِلَاتِ يُقَدِّمُونَ القَهْوَةَ.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كُلُّ العَائِلَاتِ تُقَدِّمُ القَهْوَةَ.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العَرَبُ جَمِيعًا مُتَشَابِهُونَ.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most accurate statement about greeting gestures?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Every Arab greeting includes a handshake.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Physical contact is always expected.</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They vary by person, family, setting and community.</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Greeting gestures vary; observe and follow the other person’s lead.</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Arabic phrase respectfully asks after the family?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كَيْفَ الأَهْلُ؟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مَا دِينُكَ؟</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عُمْرُكَ؟</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كَيْفَ الأَهْلُ؟</a:t>
            </a:r>
            <a:pPr algn="l" indent="0" marL="0">
              <a:buNone/>
            </a:pPr>
            <a:r>
              <a:rPr lang="en-US" sz="1050" i="1" dirty="0">
                <a:solidFill>
                  <a:srgbClr val="8A6D1E"/>
                </a:solidFill>
                <a:latin typeface="Calibri" pitchFamily="34" charset="0"/>
                <a:ea typeface="Calibri" pitchFamily="34" charset="-122"/>
                <a:cs typeface="Calibri" pitchFamily="34" charset="-120"/>
              </a:rPr>
              <a:t> means ‘How is the family?’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a learner do when unsure about a greeting gesture?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Copy one rule for every country.</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Use words, observe and follow the other person’s lead.</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Avoid greeting anyone.</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Words plus attentive observation are respectful and adaptable.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avoids overgeneralising?</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فِي بَعْضِ العَائِلَاتِ يُقَدِّمُونَ القَهْوَةَ.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كُلُّ العَائِلَاتِ تُقَدِّمُ القَهْوَةَ.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العَرَبُ جَمِيعًا مُتَشَابِهُونَ.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فِي بَعْضِ العَائِلَاتِ</a:t>
            </a:r>
            <a:pPr algn="l" indent="0" marL="0">
              <a:buNone/>
            </a:pPr>
            <a:r>
              <a:rPr lang="en-US" sz="1050" i="1" dirty="0">
                <a:solidFill>
                  <a:srgbClr val="8A6D1E"/>
                </a:solidFill>
                <a:latin typeface="Calibri" pitchFamily="34" charset="0"/>
                <a:ea typeface="Calibri" pitchFamily="34" charset="-122"/>
                <a:cs typeface="Calibri" pitchFamily="34" charset="-120"/>
              </a:rPr>
              <a:t> means ‘in some families’ and leaves room for variation.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ea typeface="Cambria" pitchFamily="34" charset="-122"/>
                <a:cs typeface="Cambria" pitchFamily="34" charset="-120"/>
              </a:rPr>
              <a:t>Watch me describe a family respectfully</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The context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34" charset="0"/>
                <a:ea typeface="Amiri" pitchFamily="34" charset="-122"/>
                <a:cs typeface="Amiri" pitchFamily="34" charset="-120"/>
              </a:rPr>
              <a:t>هَذِهِ عَائِلَةٌ مَغْرِبِيَّةٌ بَرِيطَانِيَّةٌ.</a:t>
            </a:r>
            <a:endParaRPr lang="ar-SA" sz="18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 fictional family — not a real classmate.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The greeting</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يَقُولُونَ السَّلَامُ عَلَيْكُمْ عِنْدَ اللِّقَاءِ.</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They say … when they meet.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Hospitality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34" charset="0"/>
                <a:ea typeface="Amiri" pitchFamily="34" charset="-122"/>
                <a:cs typeface="Amiri" pitchFamily="34" charset="-120"/>
              </a:rPr>
              <a:t>وَيُقَدِّمُونَ الشَّايَ لِلضُّيُوفِ.</a:t>
            </a:r>
            <a:endParaRPr lang="ar-SA" sz="23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They offer tea to guests.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Careful variation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بَعْضُ الأَقَارِبِ يُصَافِحُونَ، </a:t>
            </a:r>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وَلَكِنَّ</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آخَرِينَ يُفَضِّلُونَ الكَلِمَاتِ.</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SOME … but OTHERS … — no “all”.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CONTRAST</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هَذِهِ عَائِلَةٌ مَغْرِبِيَّةٌ بَرِيطَانِيَّةٌ. يَقُولُونَ السَّلَامُ عَلَيْكُمْ، وَيُقَدِّمُونَ الشَّايَ لِلضُّيُوفِ. بَعْضُ الأَقَارِبِ يُصَافِحُونَ، </a:t>
            </a:r>
            <a:pPr rtl="1" algn="r" indent="0" marL="0">
              <a:buNone/>
            </a:pPr>
            <a:r>
              <a:rPr lang="ar-SA" altLang="en-US" sz="1700" b="1" dirty="0">
                <a:solidFill>
                  <a:srgbClr val="0E7C86"/>
                </a:solidFill>
                <a:latin typeface="Amiri" pitchFamily="34" charset="0"/>
                <a:ea typeface="Amiri" pitchFamily="34" charset="-122"/>
                <a:cs typeface="Amiri" pitchFamily="34" charset="-120"/>
              </a:rPr>
              <a:t>وَلَكِنَّ</a:t>
            </a:r>
            <a:pPr rtl="1" algn="r" indent="0" marL="0">
              <a:buNone/>
            </a:pPr>
            <a:r>
              <a:rPr lang="ar-SA" altLang="en-US" sz="1700" b="1" dirty="0">
                <a:solidFill>
                  <a:srgbClr val="1B3B6F"/>
                </a:solidFill>
                <a:latin typeface="Amiri" pitchFamily="34" charset="0"/>
                <a:ea typeface="Amiri" pitchFamily="34" charset="-122"/>
                <a:cs typeface="Amiri" pitchFamily="34" charset="-120"/>
              </a:rPr>
              <a:t> آخَرِينَ يُفَضِّلُونَ التَّحِيَّةَ بِالكَلِمَاتِ.</a:t>
            </a:r>
            <a:endParaRPr lang="ar-SA" sz="17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This is a Moroccan-British family. They say “peace be upon you”, and they offer tea to guests. Some relatives shake hands, but others prefer to greet with words.</a:t>
            </a:r>
            <a:endParaRPr lang="en-US" sz="11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ea typeface="Calibri" pitchFamily="34" charset="-122"/>
                <a:cs typeface="Calibri" pitchFamily="34" charset="-120"/>
              </a:rPr>
              <a:t>WE DO · PICTURE MATCH · WEBSITE GAME “VISUAL GAME — GREETINGS AND IDENTITY IN THE ARAB WORLD”</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ea typeface="Cambria" pitchFamily="34" charset="-122"/>
                <a:cs typeface="Cambria" pitchFamily="34" charset="-120"/>
              </a:rPr>
              <a:t>Match the picture to the cultural sentence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الثَّقَافَةُ وَالعَادَاتُ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hospitality + respect</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greetings vary</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family gathering</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تَخْتَلِفُ طُرُقُ التَّحِيَّةِ مِنْ مَكَانٍ إِلَى آخَرَ.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تَجْتَمِعُ العَائِلَةُ فِي المُنَاسَبَاتِ.</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مِنَ المُهِمِّ اِحْتِرَامُ عَادَاتِ الضِّيَافَةِ.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الثَّقَافَةُ وَالعَادَاتُ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hospitality + respect</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مِنَ المُهِمِّ اِحْتِرَامُ عَادَاتِ الضِّيَافَةِ.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It is important to respect hospitality customs.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greetings vary</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تَخْتَلِفُ طُرُقُ التَّحِيَّةِ مِنْ مَكَانٍ إِلَى آخَرَ.</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Ways of greeting differ from place to place.</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family gathering</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تَجْتَمِعُ العَائِلَةُ فِي المُنَاسَبَاتِ.</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family gathers on special occasions.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“CULTURE DETECTIVE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Culture Detective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المُحَقِّقِ الثَّقَافِيِّ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“Every Arab family serves coffee to every visitor.” — how should this be classified?</a:t>
            </a:r>
            <a:endParaRPr lang="en-US" sz="11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Respectful and accurate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Needs more care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personal choice to respect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ea typeface="Calibri" pitchFamily="34" charset="-122"/>
                <a:cs typeface="Calibri" pitchFamily="34" charset="-120"/>
              </a:rPr>
              <a:t>“I prefer to greet with words rather than physical contact.” — how should this be classified?</a:t>
            </a:r>
            <a:endParaRPr lang="en-US" sz="100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Respectful and accurate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Needs more care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personal choice to respect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“A student must tell the class their religion.” — how should this be classified?</a:t>
            </a:r>
            <a:endParaRPr lang="en-US" sz="120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Needs more care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Respectful and accurate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personal choice to respect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 person can identify with more than one culture.” — how should this be classified?</a:t>
            </a:r>
            <a:endParaRPr lang="en-US" sz="11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Needs more care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Respectful and accurate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personal choice to respect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ea typeface="Calibri" pitchFamily="34" charset="-122"/>
                <a:cs typeface="Calibri" pitchFamily="34" charset="-120"/>
              </a:rPr>
              <a:t>“I can know someone’s religion from their appearance.” — how should this be classified?</a:t>
            </a:r>
            <a:endParaRPr lang="en-US" sz="110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Needs more care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Respectful and accurate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personal choice to respect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THINK ABOUT</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Evidence · variation</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privacy · choice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Words like “every” or “all” = be careful!</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CULTURE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Detective: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“Every Arab family serves coffee to every visitor.” — how should this be classified?</a:t>
            </a:r>
            <a:endParaRPr lang="en-US" sz="11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Respectful and accurate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Needs more care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personal choice to respect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This needs more care. Some families serve coffee, tea, another drink or nothing; guests may also decline.</a:t>
            </a:r>
            <a:endParaRPr lang="en-US" sz="10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ea typeface="Calibri" pitchFamily="34" charset="-122"/>
                <a:cs typeface="Calibri" pitchFamily="34" charset="-120"/>
              </a:rPr>
              <a:t>“I prefer to greet with words rather than physical contact.” — how should this be classified?</a:t>
            </a:r>
            <a:endParaRPr lang="en-US" sz="100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Respectful and accurate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Needs more care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personal choice to respect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This is a personal choice and should be respected.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“A student must tell the class their religion.” — how should this be classified?</a:t>
            </a:r>
            <a:endParaRPr lang="en-US" sz="120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Needs more care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Respectful and accurate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personal choice to respect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Religion is personal information. No learner should be required to disclose it.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 person can identify with more than one culture.” — how should this be classified?</a:t>
            </a:r>
            <a:endParaRPr lang="en-US" sz="11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Needs more care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Respectful and accurate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personal choice to respect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Layered or mixed cultural identity is common and accurately described.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ea typeface="Calibri" pitchFamily="34" charset="-122"/>
                <a:cs typeface="Calibri" pitchFamily="34" charset="-120"/>
              </a:rPr>
              <a:t>“I can know someone’s religion from their appearance.” — how should this be classified?</a:t>
            </a:r>
            <a:endParaRPr lang="en-US" sz="110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Needs more care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Respectful and accurate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personal choice to respect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Appearance does not reliably reveal belief and assumptions can be harmful.</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THINK ABOUT</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Evidence · variation</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privacy · choice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Words like “every” or “all” = be careful!</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 family welcome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Hanaa’s nationality?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أُرْدُنِيَّةٌ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مَغْرِبِيَّةٌ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لُبْنَانِيَّةٌ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visits the family?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Her brother Rami</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Her teacher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Her friend Maryam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Hanaa ask?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دِينُكِ؟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الأَهْلُ؟</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Hanaa offer?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الشَّايَ وَالتَّمْرَ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القَهْوَةَ وَالخُبْزَ</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المَاءَ فَقَطْ</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Hanaa’s final message?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Every family follows exactly the same customs.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Greeting and hospitality customs differ from one family to another.</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nationality forms identity.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Six boxes: speaker · greeting · family question · offer · identity · final message.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السَّلَامُ عَلَيْكُمْ. اِسْمِي هَنَاءُ، وَأَنَا أُرْدُنِيَّةٌ أَعِيشُ فِي لَنْدَنَ.</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Peace be upon you. My name is Hanaa; I am Jordanian and I live in London.</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اليَوْمَ تَزُورُنَا صَدِيقَتِي مَرْيَمُ. أَقُولُ لَهَا: أَهْلًا وَسَهْلًا، تَفَضَّلِي.</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Today my friend Maryam is visiting us. I say to her: Welcome, come in.</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ثُمَّ أَسْأَلُهَا: كَيْفَ الأَهْلُ؟ وَأُقَدِّمُ لَهَا الشَّايَ وَالتَّمْرَ.</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Then I ask her: How is the family? And I offer her tea and dates.</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أَنَا فَخُورَةٌ بِعَائِلَتِي وَبِثَقَافَتِي، وَلَكِنَّنِي أَعْرِفُ أَنَّ عَادَاتِ التَّحِيَّةِ وَالضِّيَافَةِ تَخْتَلِفُ مِنْ عَائِلَةٍ إِلَى أُخْرَى.</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proud of my family and culture, but I know that greeting and hospitality customs differ from one family to another.</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Hanaa’s nationality?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أُرْدُنِيَّةٌ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مَغْرِبِيَّةٌ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لُبْنَانِيَّةٌ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وَأَنَا أُرْدُنِيَّةٌ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visits the family?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Her brother Rami</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Her teacher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Her friend Maryam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Hanaa says her friend Maryam is visiting.</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Hanaa ask?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عُمْرُكِ؟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مَا دِينُكِ؟</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كَيْفَ الأَهْلُ؟</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asks after the family: </a:t>
            </a:r>
            <a:pPr algn="l" indent="0" marL="0">
              <a:buNone/>
            </a:pPr>
            <a:r>
              <a:rPr lang="ar-SA" altLang="en-US" sz="1350" dirty="0">
                <a:solidFill>
                  <a:srgbClr val="8A6D1E"/>
                </a:solidFill>
                <a:latin typeface="Amiri" pitchFamily="34" charset="0"/>
                <a:ea typeface="Amiri" pitchFamily="34" charset="-122"/>
                <a:cs typeface="Amiri" pitchFamily="34" charset="-120"/>
              </a:rPr>
              <a:t>كَيْفَ الأَهْلُ؟</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Hanaa offer?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الشَّايَ وَالتَّمْرَ</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القَهْوَةَ وَالخُبْزَ</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المَاءَ فَقَطْ</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offers tea and dates.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Hanaa’s final message?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Every family follows exactly the same customs.</a:t>
            </a:r>
            <a:endParaRPr lang="en-US" sz="11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Greeting and hospitality customs differ from one family to another.</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nationality forms identity.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explicitly says customs differ from one family to another.</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Six boxes: speaker · greeting · family question · offer · identity · final message.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 THREE FICTIONAL FAMILY PROFILES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Three families, three profiles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ثَلَاثُ عَائِلَاتٍ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11274552" cy="688848"/>
          </a:xfrm>
          <a:prstGeom prst="roundRect">
            <a:avLst>
              <a:gd name="adj" fmla="val 6637"/>
            </a:avLst>
          </a:prstGeom>
          <a:solidFill>
            <a:srgbClr val="FFFFFF"/>
          </a:solidFill>
          <a:ln w="9525">
            <a:solidFill>
              <a:srgbClr val="D8D0BF"/>
            </a:solidFill>
            <a:prstDash val="solid"/>
          </a:ln>
        </p:spPr>
      </p:sp>
      <p:sp>
        <p:nvSpPr>
          <p:cNvPr id="16" name="Text 13"/>
          <p:cNvSpPr txBox="1"/>
          <p:nvPr/>
        </p:nvSpPr>
        <p:spPr>
          <a:xfrm>
            <a:off x="4937760" y="1828800"/>
            <a:ext cx="6675120" cy="65227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يَاسْمِينُ مَغْرِبِيَّةٌ وَتَعِيشُ فِي بَرِيسْتُولَ. فِي عَائِلَتِهَا يَقُولُونَ «السَّلَامُ عَلَيْكُمْ» وَيَسْأَلُونَ عَنِ الأَهْلِ.</a:t>
            </a:r>
            <a:endParaRPr lang="ar-SA" sz="1600" dirty="0"/>
          </a:p>
        </p:txBody>
      </p:sp>
      <p:sp>
        <p:nvSpPr>
          <p:cNvPr id="17" name="Text 14"/>
          <p:cNvSpPr txBox="1"/>
          <p:nvPr/>
        </p:nvSpPr>
        <p:spPr>
          <a:xfrm>
            <a:off x="640080" y="182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Yasmin: Moroccan, lives in Bristol · greeting + asking after the family</a:t>
            </a:r>
            <a:endParaRPr lang="en-US" sz="1250" dirty="0"/>
          </a:p>
        </p:txBody>
      </p:sp>
      <p:sp>
        <p:nvSpPr>
          <p:cNvPr id="18" name="Shape 15"/>
          <p:cNvSpPr/>
          <p:nvPr/>
        </p:nvSpPr>
        <p:spPr>
          <a:xfrm>
            <a:off x="457200" y="2572512"/>
            <a:ext cx="11274552" cy="688848"/>
          </a:xfrm>
          <a:prstGeom prst="roundRect">
            <a:avLst>
              <a:gd name="adj" fmla="val 6637"/>
            </a:avLst>
          </a:prstGeom>
          <a:solidFill>
            <a:srgbClr val="F4F1EA"/>
          </a:solidFill>
          <a:ln w="9525">
            <a:solidFill>
              <a:srgbClr val="D8D0BF"/>
            </a:solidFill>
            <a:prstDash val="solid"/>
          </a:ln>
        </p:spPr>
      </p:sp>
      <p:sp>
        <p:nvSpPr>
          <p:cNvPr id="19" name="Text 16"/>
          <p:cNvSpPr txBox="1"/>
          <p:nvPr/>
        </p:nvSpPr>
        <p:spPr>
          <a:xfrm>
            <a:off x="4937760" y="2590800"/>
            <a:ext cx="6675120" cy="65227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عِنْدَمَا يَزُورُهُمْ ضَيْفٌ، يُقَدِّمُونَ الشَّايَ. يَاسْمِينُ فَخُورَةٌ بِاللُّغَةِ العَرَبِيَّةِ وَبِتَقَالِيدِ عَائِلَتِهَا.</a:t>
            </a:r>
            <a:endParaRPr lang="ar-SA" sz="1700" dirty="0"/>
          </a:p>
        </p:txBody>
      </p:sp>
      <p:sp>
        <p:nvSpPr>
          <p:cNvPr id="20" name="Text 17"/>
          <p:cNvSpPr txBox="1"/>
          <p:nvPr/>
        </p:nvSpPr>
        <p:spPr>
          <a:xfrm>
            <a:off x="640080" y="2590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offer tea to guests · proud of Arabic and family traditions</a:t>
            </a:r>
            <a:endParaRPr lang="en-US" sz="1250" dirty="0"/>
          </a:p>
        </p:txBody>
      </p:sp>
      <p:sp>
        <p:nvSpPr>
          <p:cNvPr id="21" name="Shape 18"/>
          <p:cNvSpPr/>
          <p:nvPr/>
        </p:nvSpPr>
        <p:spPr>
          <a:xfrm>
            <a:off x="457200" y="3334512"/>
            <a:ext cx="11274552" cy="688848"/>
          </a:xfrm>
          <a:prstGeom prst="roundRect">
            <a:avLst>
              <a:gd name="adj" fmla="val 6637"/>
            </a:avLst>
          </a:prstGeom>
          <a:solidFill>
            <a:srgbClr val="FFFFFF"/>
          </a:solidFill>
          <a:ln w="9525">
            <a:solidFill>
              <a:srgbClr val="D8D0BF"/>
            </a:solidFill>
            <a:prstDash val="solid"/>
          </a:ln>
        </p:spPr>
      </p:sp>
      <p:sp>
        <p:nvSpPr>
          <p:cNvPr id="22" name="Text 19"/>
          <p:cNvSpPr txBox="1"/>
          <p:nvPr/>
        </p:nvSpPr>
        <p:spPr>
          <a:xfrm>
            <a:off x="4937760" y="3352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رَامِي لُبْنَانِيٌّ وَيَعِيشُ فِي مَانْشِسْتَرَ. يَتَكَلَّمُ العَرَبِيَّةَ وَالإِنْجِلِيزِيَّةَ فِي البَيْتِ.</a:t>
            </a:r>
            <a:endParaRPr lang="ar-SA" sz="2000" dirty="0"/>
          </a:p>
        </p:txBody>
      </p:sp>
      <p:sp>
        <p:nvSpPr>
          <p:cNvPr id="23" name="Text 20"/>
          <p:cNvSpPr txBox="1"/>
          <p:nvPr/>
        </p:nvSpPr>
        <p:spPr>
          <a:xfrm>
            <a:off x="640080" y="3352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Rami: Lebanese, Manchester · Arabic and English at home</a:t>
            </a:r>
            <a:endParaRPr lang="en-US" sz="1250" dirty="0"/>
          </a:p>
        </p:txBody>
      </p:sp>
      <p:sp>
        <p:nvSpPr>
          <p:cNvPr id="24" name="Shape 21"/>
          <p:cNvSpPr/>
          <p:nvPr/>
        </p:nvSpPr>
        <p:spPr>
          <a:xfrm>
            <a:off x="457200" y="4096512"/>
            <a:ext cx="11274552" cy="688848"/>
          </a:xfrm>
          <a:prstGeom prst="roundRect">
            <a:avLst>
              <a:gd name="adj" fmla="val 6637"/>
            </a:avLst>
          </a:prstGeom>
          <a:solidFill>
            <a:srgbClr val="F4F1EA"/>
          </a:solidFill>
          <a:ln w="9525">
            <a:solidFill>
              <a:srgbClr val="D8D0BF"/>
            </a:solidFill>
            <a:prstDash val="solid"/>
          </a:ln>
        </p:spPr>
      </p:sp>
      <p:sp>
        <p:nvSpPr>
          <p:cNvPr id="25" name="Text 22"/>
          <p:cNvSpPr txBox="1"/>
          <p:nvPr/>
        </p:nvSpPr>
        <p:spPr>
          <a:xfrm>
            <a:off x="4937760" y="4114800"/>
            <a:ext cx="6675120" cy="652272"/>
          </a:xfrm>
          <a:prstGeom prst="rect">
            <a:avLst/>
          </a:prstGeom>
          <a:noFill/>
          <a:ln/>
        </p:spPr>
        <p:txBody>
          <a:bodyPr wrap="square" lIns="0" tIns="0" rIns="0" bIns="0" rtlCol="0" anchor="ctr"/>
          <a:lstStyle/>
          <a:p>
            <a:pPr rtl="1" algn="r" indent="0" marL="0">
              <a:lnSpc>
                <a:spcPct val="120000"/>
              </a:lnSpc>
              <a:buNone/>
            </a:pPr>
            <a:r>
              <a:rPr lang="ar-SA" altLang="en-US" sz="1350" b="1" dirty="0">
                <a:solidFill>
                  <a:srgbClr val="1B3B6F"/>
                </a:solidFill>
                <a:latin typeface="Amiri" pitchFamily="34" charset="0"/>
                <a:ea typeface="Amiri" pitchFamily="34" charset="-122"/>
                <a:cs typeface="Amiri" pitchFamily="34" charset="-120"/>
              </a:rPr>
              <a:t>بَعْضُ أَقَارِبِهِ يُصَافِحُونَ، وَبَعْضُهُمْ يُفَضِّلُونَ التَّحِيَّةَ بِالكَلِمَاتِ فَقَطْ. يَقُولُ رَامِي إِنَّ الاِحْتِرَامَ أَهَمُّ مِنْ شَكْلِ التَّحِيَّةِ.</a:t>
            </a:r>
            <a:endParaRPr lang="ar-SA" sz="1350" dirty="0"/>
          </a:p>
        </p:txBody>
      </p:sp>
      <p:sp>
        <p:nvSpPr>
          <p:cNvPr id="26" name="Text 23"/>
          <p:cNvSpPr txBox="1"/>
          <p:nvPr/>
        </p:nvSpPr>
        <p:spPr>
          <a:xfrm>
            <a:off x="640080" y="4114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some relatives shake hands, some prefer words · respect matters more than the form</a:t>
            </a:r>
            <a:endParaRPr lang="en-US" sz="1250" dirty="0"/>
          </a:p>
        </p:txBody>
      </p:sp>
      <p:sp>
        <p:nvSpPr>
          <p:cNvPr id="27" name="Shape 24"/>
          <p:cNvSpPr/>
          <p:nvPr/>
        </p:nvSpPr>
        <p:spPr>
          <a:xfrm>
            <a:off x="457200" y="4858512"/>
            <a:ext cx="11274552" cy="688848"/>
          </a:xfrm>
          <a:prstGeom prst="roundRect">
            <a:avLst>
              <a:gd name="adj" fmla="val 6637"/>
            </a:avLst>
          </a:prstGeom>
          <a:solidFill>
            <a:srgbClr val="FFFFFF"/>
          </a:solidFill>
          <a:ln w="9525">
            <a:solidFill>
              <a:srgbClr val="D8D0BF"/>
            </a:solidFill>
            <a:prstDash val="solid"/>
          </a:ln>
        </p:spPr>
      </p:sp>
      <p:sp>
        <p:nvSpPr>
          <p:cNvPr id="28" name="Text 25"/>
          <p:cNvSpPr txBox="1"/>
          <p:nvPr/>
        </p:nvSpPr>
        <p:spPr>
          <a:xfrm>
            <a:off x="4937760" y="4876800"/>
            <a:ext cx="6675120" cy="652272"/>
          </a:xfrm>
          <a:prstGeom prst="rect">
            <a:avLst/>
          </a:prstGeom>
          <a:noFill/>
          <a:ln/>
        </p:spPr>
        <p:txBody>
          <a:bodyPr wrap="square" lIns="0" tIns="0" rIns="0" bIns="0" rtlCol="0" anchor="ctr"/>
          <a:lstStyle/>
          <a:p>
            <a:pPr rtl="1" algn="r" indent="0" marL="0">
              <a:lnSpc>
                <a:spcPct val="120000"/>
              </a:lnSpc>
              <a:buNone/>
            </a:pPr>
            <a:r>
              <a:rPr lang="ar-SA" altLang="en-US" sz="1350" b="1" dirty="0">
                <a:solidFill>
                  <a:srgbClr val="1B3B6F"/>
                </a:solidFill>
                <a:latin typeface="Amiri" pitchFamily="34" charset="0"/>
                <a:ea typeface="Amiri" pitchFamily="34" charset="-122"/>
                <a:cs typeface="Amiri" pitchFamily="34" charset="-120"/>
              </a:rPr>
              <a:t>آدَمُ بَرِيطَانِيٌّ مِنْ عَائِلَةٍ أُرْدُنِيَّةٍ. فِي المَدْرَسَةِ تَكُونُ تَحِيَّاتُهُ قَصِيرَةً، وَلَكِنْ فِي البَيْتِ يَسْأَلُ عَنِ الصِّحَّةِ وَالعَائِلَةِ.</a:t>
            </a:r>
            <a:endParaRPr lang="ar-SA" sz="1350" dirty="0"/>
          </a:p>
        </p:txBody>
      </p:sp>
      <p:sp>
        <p:nvSpPr>
          <p:cNvPr id="29" name="Text 26"/>
          <p:cNvSpPr txBox="1"/>
          <p:nvPr/>
        </p:nvSpPr>
        <p:spPr>
          <a:xfrm>
            <a:off x="640080" y="4876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Adam: British, Jordanian family · short greetings at school, longer at home</a:t>
            </a:r>
            <a:endParaRPr lang="en-US" sz="1250" dirty="0"/>
          </a:p>
        </p:txBody>
      </p:sp>
      <p:sp>
        <p:nvSpPr>
          <p:cNvPr id="30" name="Shape 27"/>
          <p:cNvSpPr/>
          <p:nvPr/>
        </p:nvSpPr>
        <p:spPr>
          <a:xfrm>
            <a:off x="457200" y="5620512"/>
            <a:ext cx="11274552" cy="688848"/>
          </a:xfrm>
          <a:prstGeom prst="roundRect">
            <a:avLst>
              <a:gd name="adj" fmla="val 6637"/>
            </a:avLst>
          </a:prstGeom>
          <a:solidFill>
            <a:srgbClr val="F4F1EA"/>
          </a:solidFill>
          <a:ln w="9525">
            <a:solidFill>
              <a:srgbClr val="D8D0BF"/>
            </a:solidFill>
            <a:prstDash val="solid"/>
          </a:ln>
        </p:spPr>
      </p:sp>
      <p:sp>
        <p:nvSpPr>
          <p:cNvPr id="31" name="Text 28"/>
          <p:cNvSpPr txBox="1"/>
          <p:nvPr/>
        </p:nvSpPr>
        <p:spPr>
          <a:xfrm>
            <a:off x="4937760" y="563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يَرَى آدَمُ أَنَّ هُوِيَّتَهُ تَجْمَعُ بَيْنَ أَكْثَرَ مِنْ ثَقَافَةٍ.</a:t>
            </a:r>
            <a:endParaRPr lang="ar-SA" sz="2000" dirty="0"/>
          </a:p>
        </p:txBody>
      </p:sp>
      <p:sp>
        <p:nvSpPr>
          <p:cNvPr id="32" name="Text 29"/>
          <p:cNvSpPr txBox="1"/>
          <p:nvPr/>
        </p:nvSpPr>
        <p:spPr>
          <a:xfrm>
            <a:off x="640080" y="563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his identity combines more than one culture</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READING QUESTIONS (TEACHER-MADE FROM THE WEBSITE PROFILES)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Find the evidence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Yasmin live?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Manchester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London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Bristol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Yasmin’s family offer a guest?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tea</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coffee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dates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languages does Rami speak at home?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and French</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and English</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English only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was Rami’s main point in the reading?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Respect matters more than one fixed greeting form.</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Everyone should shake hands.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Arabic may be spoken at home.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are Adam’s greetings different at school?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are in French.</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does not greet.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are short.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Point to the Arabic that proves it. Remember: these are three fictional families, not rules for a whole country.</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Yasmin live?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Manchester</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London</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Bristol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يَاسْمِينُ … تَعِيشُ فِي بَرِيسْتُولَ.</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Yasmin’s family offer a guest?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tea</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coffee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dates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يُقَدِّمُونَ الشَّايَ.</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languages does Rami speak at home?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Arabic and French</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Arabic and English</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English only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يَتَكَلَّمُ العَرَبِيَّةَ وَالإِنْجِلِيزِيَّةَ فِي البَيْتِ.</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was Rami’s main point in the reading?</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Respect matters more than one fixed greeting form.</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Everyone should shake hands.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Arabic may be spoken at home.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Rami values respect over a particular gesture.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are Adam’s greetings different at school?</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are in French.</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He does not greet.</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They are short.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فِي المَدْرَسَةِ تَكُونُ تَحِيَّاتُهُ قَصِيرَةً.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Point to the Arabic that proves it. Remember: these are three fictional families, not rules for a whole country.</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ea typeface="Cambria" pitchFamily="34" charset="-122"/>
                <a:cs typeface="Cambria" pitchFamily="34" charset="-120"/>
              </a:rPr>
              <a:t>Present a respectful cultural profile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كَيْفَ تُسَلِّمُ هَذِهِ العَائِلَةُ؟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أَهَمُّ عَادَةٍ فِي هَذِهِ العَائِلَةِ؟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تَخْتَلِفُ التَّحِيَّةُ مَعَ الأَصْدِقَاءِ؟</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لِمَاذَا جُمْلَةُ «كُلُّ العَائِلَاتِ …» غَيْرُ دَقِيقَةٍ؟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هَذِهِ عَائِلَةٌ ___ . يَقُولُونَ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فِي بَعْضِ العَائِلَاتِ ___ ، وَلَكِنْ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F2A37"/>
                </a:solidFill>
                <a:latin typeface="Amiri" pitchFamily="34" charset="0"/>
                <a:ea typeface="Amiri" pitchFamily="34" charset="-122"/>
                <a:cs typeface="Amiri" pitchFamily="34" charset="-120"/>
              </a:rPr>
              <a:t>لَيْسَ دَائِمًا … تَخْتَلِفُ العَادَاتُ مِنْ عَائِلَةٍ إِلَى أُخْرَى.</a:t>
            </a:r>
            <a:endParaRPr lang="ar-SA" sz="12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الاِحْتِرَامُ مُهِمٌّ.</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هَذِهِ عَائِلَةٌ أُرْدُنِيَّةٌ. عِنْدَمَا يَصِلُ الجَارُ يَقُولُونَ أَهْلًا وَسَهْلًا.</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ea typeface="Calibri" pitchFamily="34" charset="-122"/>
                <a:cs typeface="Calibri" pitchFamily="34" charset="-120"/>
              </a:rPr>
              <a:t>This is a Jordanian family. When the neighbour arrives they say “welcome”.</a:t>
            </a:r>
            <a:endParaRPr lang="en-US" sz="90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يُقَدِّمُونَ الشَّايَ وَالتَّمْرَ، وَلَكِنَّهُمْ يَحْتَرِمُونَ اخْتِيَارَ الضَّيْفِ.</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They offer tea and dates, but they respect the guest’s choice.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Four sentences: family or country context, a greeting, hospitality, and one respectful “this may vary” statement.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A (fictional) family, a greeting, hospitality, and “in some families…”.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Six to eight sentences with a comparison (similar / different) and </a:t>
            </a:r>
            <a:pPr algn="l" indent="0" marL="0">
              <a:buNone/>
            </a:pPr>
            <a:r>
              <a:rPr lang="ar-SA" altLang="en-US" sz="1800" b="1" dirty="0">
                <a:solidFill>
                  <a:srgbClr val="1F2A37"/>
                </a:solidFill>
                <a:latin typeface="Amiri" pitchFamily="34" charset="0"/>
                <a:ea typeface="Amiri" pitchFamily="34" charset="-122"/>
                <a:cs typeface="Amiri" pitchFamily="34" charset="-120"/>
              </a:rPr>
              <a:t>وَلَكِنْ</a:t>
            </a:r>
            <a:pPr algn="l" indent="0" marL="0">
              <a:buNone/>
            </a:pPr>
            <a:r>
              <a:rPr lang="en-US" sz="1400" b="1" dirty="0">
                <a:solidFill>
                  <a:srgbClr val="1F2A37"/>
                </a:solidFill>
                <a:latin typeface="Calibri" pitchFamily="34" charset="0"/>
                <a:ea typeface="Calibri" pitchFamily="34" charset="-122"/>
                <a:cs typeface="Calibri" pitchFamily="34" charset="-120"/>
              </a:rPr>
              <a:t> or </a:t>
            </a:r>
            <a:pPr algn="l" indent="0" marL="0">
              <a:buNone/>
            </a:pPr>
            <a:r>
              <a:rPr lang="ar-SA" altLang="en-US" sz="1800" b="1" dirty="0">
                <a:solidFill>
                  <a:srgbClr val="1F2A37"/>
                </a:solidFill>
                <a:latin typeface="Amiri" pitchFamily="34" charset="0"/>
                <a:ea typeface="Amiri" pitchFamily="34" charset="-122"/>
                <a:cs typeface="Amiri" pitchFamily="34" charset="-120"/>
              </a:rPr>
              <a:t>أَيْضًا</a:t>
            </a:r>
            <a:pPr algn="l" indent="0" marL="0">
              <a:buNone/>
            </a:pPr>
            <a:r>
              <a:rPr lang="en-US" sz="1400" b="1" dirty="0">
                <a:solidFill>
                  <a:srgbClr val="1F2A37"/>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Add one similarity and one difference with Britain; use وَلَكِنْ / أَيْضًا.</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10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Ten sentences; explain why one broad statement is inaccurate and replace it with careful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Include layered identity and correct one broad statement with careful language.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بَرِيطَانِيَا التَّحِيَّةُ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Britain the greeting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مُتَشَابِهٌ، وَلَكِنَّ ______ مُخْتَلِفٌ.</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similar, but … is different.</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تَخْتَلِفُ العَادَاتُ مِنْ عَائِلَةٍ إِلَى أُخْرَى.</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Customs differ from one family to another.</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الاِحْتِرَامُ أَهَمُّ مِنْ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Respect is more important than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هُوِيَّتِي مُتَنَوِّعَةٌ.</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identity is diverse.</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عَائِلَتِي نَقُولُ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my family / this family we say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عِنْدَمَا يَزُورُنَا ضَيْفٌ، نُقَدِّمُ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When a guest visits, we offer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بَعْضِ العَائِلَاتِ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some families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أَنَا فَخُورٌ / فَخُورَةٌ بِـ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am proud of my culture.</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ثَقَافَةٌ  ·  عَادَاتٌ  ·  تَقَالِيدُ  ·  اِحْتِرَامٌ  ·  ضِيَافَةٌ  ·  عَائِلَةٌ  ·  هُوِيَّةٌ  ·  الشَّايَ  ·  القَهْوَةَ  ·  التَّمْرَ  ·  مُتَشَابِهٌ  ·  مُخْتَلِفٌ  ·  أَحْيَانًا</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فِي عَائِلَتِي نَقُولُ السَّلَامُ عَلَيْكُمْ، وَنَسْأَلُ: كَيْفَ الأَهْلُ؟ عِنْدَمَا يَزُورُنَا ضَيْفٌ، نُقَدِّمُ الشَّايَ. فِي المَدْرَسَةِ فِي بَرِيطَانِيَا التَّحِيَّةُ قَصِيرَةٌ، وَلَكِنَّ الاِحْتِرَامَ مُتَشَابِهٌ. فِي بَعْضِ العَائِلَاتِ تَخْتَلِفُ العَادَاتُ. أَنَا فَخُورٌ بِثَقَافَتِي.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In my family we say “peace be upon you”, and we ask: How is the family? When a guest visits us, we offer tea. At school in Britain the greeting is short, but the respect is similar. In some families the customs differ. I am proud of my culture.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greeting custom</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hospitality custom</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similar … but …</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فِي بَعْضِ العَائِلَاتِ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at least four cultural words.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described a greeting respectfully.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gave one similarity and one difference.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avoided “all” and “always” — I used “in some families”.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described layered identity without personal disclosure.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‘hospitality’?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ضِيَافَةٌ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تَقَالِيدُ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مُجْتَمَعٌ</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avoids a universal claim?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كُلُّ النَّاسِ…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 بَعْضِ العَائِلَاتِ…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دَائِمًا عِنْدَ الجَمِيعِ…</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best final cultural statement?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Practices vary, so I describe evidence carefully and respect personal choice.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One family represents an entire country.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All Arabic-speaking communities share identical traditions.</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‘hospitality’?</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ضِيَافَةٌ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تَقَالِيدُ</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مُجْتَمَعٌ</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ضِيَافَةٌ</a:t>
            </a:r>
            <a:pPr algn="l" indent="0" marL="0">
              <a:buNone/>
            </a:pPr>
            <a:r>
              <a:rPr lang="en-US" sz="1050" i="1" dirty="0">
                <a:solidFill>
                  <a:srgbClr val="8A6D1E"/>
                </a:solidFill>
                <a:latin typeface="Calibri" pitchFamily="34" charset="0"/>
                <a:ea typeface="Calibri" pitchFamily="34" charset="-122"/>
                <a:cs typeface="Calibri" pitchFamily="34" charset="-120"/>
              </a:rPr>
              <a:t> means hospitality.</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avoids a universal claim?</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كُلُّ النَّاسِ…</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فِي بَعْضِ العَائِلَاتِ…</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دَائِمًا عِنْدَ الجَمِيعِ…</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فِي بَعْضِ العَائِلَاتِ</a:t>
            </a:r>
            <a:pPr algn="l" indent="0" marL="0">
              <a:buNone/>
            </a:pPr>
            <a:r>
              <a:rPr lang="en-US" sz="1050" i="1" dirty="0">
                <a:solidFill>
                  <a:srgbClr val="8A6D1E"/>
                </a:solidFill>
                <a:latin typeface="Calibri" pitchFamily="34" charset="0"/>
                <a:ea typeface="Calibri" pitchFamily="34" charset="-122"/>
                <a:cs typeface="Calibri" pitchFamily="34" charset="-120"/>
              </a:rPr>
              <a:t> means ‘in some families’.</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best final cultural statement?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Practices vary, so I describe evidence carefully and respect personal choice.</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One family represents an entire country.</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All Arabic-speaking communities share identical traditions.</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Careful evidence, variation and choice are the core cultural-learning principles.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F2-L10 · Culture &amp; Identity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F2-L11: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1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F2-L11 · Writing a Short Personal Introduction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الاِسْتِمَارَةُ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the form (to fill in)</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التَّوْقِيعُ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signature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لِأَنَّ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because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ثُمَّ</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then</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مَسَوَّدَةٌ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draft</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Bring your F2-L07 introduction or F2-L08 profile to the next lesson — we will improve it.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أَكْتُبُ مَسَوَّدَةً، ثُمَّ أُحَسِّنُهَا.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F2-L10: the vocabulary check and the Culture Detective Mission (12).</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a cultural comparison of 6–8 sentences (fictional or family-safe).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10 sentences with layered identity; then the 12-question checkpoint (aim for 10/12).</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F2-L10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ea typeface="Cambria" pitchFamily="34" charset="-122"/>
                <a:cs typeface="Cambria" pitchFamily="34" charset="-120"/>
              </a:rPr>
              <a:t>F2-L11 · Writing a Short Personal Introduction</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كِتَابَةُ تَعْرِيفٍ شَخْصِيٍّ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observe, ask politely, follow their lead.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F2-L10 · Greetings and Identity in the Arab World</dc:title>
  <dc:subject>PptxGenJS Presentation</dc:subject>
  <dc:creator>Al Madina Online School · Arabic Department</dc:creator>
  <cp:lastModifiedBy>Al Madina Online School · Arabic Department</cp:lastModifiedBy>
  <cp:revision>1</cp:revision>
  <dcterms:created xsi:type="dcterms:W3CDTF">2026-09-27T10:30:21Z</dcterms:created>
  <dcterms:modified xsi:type="dcterms:W3CDTF">2026-09-27T10:30:21Z</dcterms:modified>
</cp:coreProperties>
</file>