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AT A GLANCE — planned for 56 minutes, leaving about 4 minutes for Teams delays.
0–1 Welcome · 1–2 Lesson map · 2–8 Revision stations (not marked) · 8–9 Assessment map · 9–20 Listening (15) · 20–30 Reading (15) · 30–40 Speaking (15, pairs / one-to-one) · 40–52 Writing (15) · 52–56 Score profile, strength and F3 target.
FLEX slides are optional. Use them if the class is moving quickly; otherwise the same activities are on the website for homework.
Content source: Miftah Arabic website, Pathways › Foundation › F2 Greetings &amp; Introductions › Lesson 12 (F2-L12). The website F2-L12 is a four-skill, 60-mark unit assessment (not an external exam paper): listening 15 (Part A four phrases · Part B Nour’s introduction · Part C six items) · reading 15 (Karim’s profile · phrase matching · Salma’s profile true/false) · speaking 15 (warm-up 5 + role-play 10) · writing 15 (form 5 + guided introduction 10). Every item, script, text, mark allocation and the full-mark writing model are the website’s. The revision stations are the website’s five-station “F2 Revision Arcade”.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Everyone sits the same 60 marks. Access arrangements: extra time, questions read aloud in English, one section on screen at a time; the speaking assessment is one-to-one or in trusted pairs with the teacher listening (it can move to the start of the next lesson).
• The website allows the assessment “over one or more study sessions” — if time is short: listening + reading in class; speaking and writing next lesson.
• Scripts are read by the teacher (the website audio is marked “recorded”; if unavailable, read at natural pace, twice). Do NOT show the read-along until the section is submitted.
• Answer slides follow each part — mark live or hide them and mark later.
• Privacy (website): a sensible invented identity is acceptable in speaking and writing.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Website four-step plan: 1 Review (language vault + five stations) · 2 Listening + Reading (no transcripts early) · 3 Speaking + Writing (visible criteria) · 4 Reflect (total, one strength, one F3 target).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One question from each website revision station (1 greetings · 2 questions · 3 identity · 4 agreement · 5 forms and assessment language). Website advice: repeat the station with the lowest score before the assessment (homework if needed).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This warm-up does NOT count. It samples all five revision stations: greetings · questions · identity · agreement · forms and links.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FLEX — more questions from the website’s five stations (one per station). Use the chat poll to decide which vault section to show again before the assessment.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ASSESSMENT MAP (website). Website vocabulary for today: مُرَاجَعَةٌ review · تَقْيِيمٌ assessment · دَرَجَةٌ mark · نُقْطَةُ قُوَّةٍ strength · هَدَفٌ target.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PART A (website, 4 marks). Read each item twice, with a pause.
SCRIPT: ١ صَبَاحُ الخَيْرِ. · ٢ شُكْرًا. · ٣ أَهْلًا وَسَهْلًا. · ٤ مَعَ السَّلَامَةِ.
Private chat: A: 1_ 2_ 3_ 4_</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PART B (website, 5 marks). Read twice at natural pace.
SCRIPT: مَرْحَبًا! اِسْمِي نُورُ. عُمْرِي أَرْبَعَ عَشْرَةَ سَنَةً. أَنَا مِنْ مِصْرَ، وَأَسْكُنُ فِي القَاهِرَةِ.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PART C (website, 6 marks). Read each item twice.
SCRIPT: ١ مِنْ أَيْنَ أَنْتَ؟ · ٢ كَمْ عُمْرُكِ؟ · ٣ أَسْكُنُ فِي لَنْدَنَ. · ٤ اِسْمِي عُمَرُ. · ٥ مِنْ فَضْلِكَ. · ٦ أَنَا مِنْ بَاكِسْتَانَ.
Private chat: C: 1_ 2_ 3_ 4_ 5_ 6_. Listening total /15.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/6. Students add up Listening /15.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TEXT 1 (website). Website instruction: “Read each text carefully. Locate the evidence before selecting an answer.” No English support on assessment texts.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PART A (website, 4 marks). The text stays visible on the side panel.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READING PART B (website, 5 marks): five phrases — مَا اسْمُكِ؟ · كَمْ عُمْرُكَ؟ · أَيْنَ تَسْكُنُ؟ · عَفْوًا · إِلَى اللِّقَاءِ.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READING TEXT 3 (website). Show this slide first; the text is repeated on the Part C slide. Third-person text: هِيَ · ـهَا · تَـ (F2-L08).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READING PART C (website, 6 marks). Text 3 is on the previous slide and in the side panel:
اِسْمُهَا سَلْمَى. هِيَ مِنَ المَغْرِبِ، وَتَسْكُنُ فِي الرِّبَاطِ. عُمْرُهَا ثَلَاثَ عَشْرَةَ سَنَةً. هِيَ طَالِبَةٌ.
Reading total /15.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/6. Students add up Reading /15.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(website). “Prepare briefly, then answer aloud without reading a full script.” Cue words only (Core may write a full script if still needed).
MARK SCHEME (website): Warm-up /5 — one mark for each relevant, understandable answer. Role-play /10 (0 · 2 · 4 · 6 · 8 · 10) — reward completion, relevance, accuracy, clear pronunciation and independence.
ORGANISATION: one-to-one with the teacher (others start the writing), or in trusted pairs with the teacher listening. Independent learners may record themselves (website).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(website). Use true information or a sensible invented identity.
MARK SCHEME (website): Form /5 — one mark for each completed meaningful field (the signature line is optional and does not change the total). Guided introduction /10 (0 · 2 · 4 · 6 · 8 · 10) — reward required content, connection, accuracy, organisation and a polite opening / close.
Website full-mark model (show ONLY after students have finished —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FULL-MARK MODEL. Students compare with their own writing and find ONE thing to add in green pen (self-assessment only — the mark stands).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SCORE PROFILE (website “Record your result and set one useful F3 target”): “A score shows where you are today. The target decides what you will improve next.” Use evidence from the four scores.
The bands are a teacher guide in line with the F1 assessment (the website totals the four scores but does not print bands).
A strong target is precise: one skill + one repeated action + a check date (e.g. “Listening: I will play the F2-L09 tasks twice a week; check in F3-L03”).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PREPARATION — flipped learning (2 min to explain).
Next lesson (F3-L01 · My Family: Members and Relationships) will spend class time USING this language, so students prepare it tonight — short, simple, easy to access (school guidance: “Simple, Short, Interesting, Relevant, Easy to access”). F3 begins with the family (website F3-L01 “My Family: Members and Relationships”). أُمٌّ، أَخٌ، أُخْتٌ were already met in F2-L05.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7  ·  FOUNDATION F2  ·  F2-L12</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F2-L12</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Show What You Can Say: F2 Review &amp; Assessment</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مُرَاجَعَةُ الوَحْدَةِ الثَّانِيَةِ وَتَقْيِيمُهَا</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Bring the whole F2 language system together, revise deliberately, then show what you understand and produce across listening, reading, speaking and writing — and set one precise target for F3.</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F2-L12 · Foundation F2 · Greetings &amp; Introductions</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Foundation · end of unit F2</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Foundation › F2 › F2-L12</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F2-L12 · F2 Assessment</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F2-L12</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29</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F2-L12 · F2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assessment,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F2-L12</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Revision stations (not marked).</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المُرَاجَعَةُ</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The 60-mark map.</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خُطَّةُ التَّقْيِيمِ</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11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Listening: 15 marks.</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الاِسْتِمَاعُ</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10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Reading: 15 marks.</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القِرَاءَةُ</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Speaking and writing: 15 + 15.</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التَّحَدُّثُ وَالكِتَابَةُ</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My score, my strength, my F3 target.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الهَدَفُ</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for F3: family.</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Each section starts with the easiest questions. Leave a blank and come back. The revision stations do not count.</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29</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F2-L12 · F2 Assessment</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Choose the reply to this</a:t>
            </a:r>
            <a:endParaRPr lang="en-US" sz="1200" dirty="0"/>
          </a:p>
        </p:txBody>
      </p:sp>
      <p:sp>
        <p:nvSpPr>
          <p:cNvPr id="19" name="Text 16"/>
          <p:cNvSpPr txBox="1"/>
          <p:nvPr/>
        </p:nvSpPr>
        <p:spPr>
          <a:xfrm>
            <a:off x="2406701"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صَبَاحُ الخَيْرِ.</a:t>
            </a:r>
            <a:endParaRPr lang="ar-SA" sz="2200" dirty="0"/>
          </a:p>
        </p:txBody>
      </p:sp>
      <p:sp>
        <p:nvSpPr>
          <p:cNvPr id="20" name="Shape 17"/>
          <p:cNvSpPr/>
          <p:nvPr/>
        </p:nvSpPr>
        <p:spPr>
          <a:xfrm>
            <a:off x="640080" y="2532888"/>
            <a:ext cx="256032" cy="256032"/>
          </a:xfrm>
          <a:prstGeom prst="ellipse">
            <a:avLst/>
          </a:prstGeom>
          <a:solidFill>
            <a:srgbClr val="F4F1EA"/>
          </a:solidFill>
          <a:ln w="12700">
            <a:solidFill>
              <a:srgbClr val="F4F1EA"/>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مَسَاءُ النُّورِ</a:t>
            </a:r>
            <a:endParaRPr lang="ar-SA" sz="2050" dirty="0"/>
          </a:p>
        </p:txBody>
      </p:sp>
      <p:sp>
        <p:nvSpPr>
          <p:cNvPr id="23" name="Shape 20"/>
          <p:cNvSpPr/>
          <p:nvPr/>
        </p:nvSpPr>
        <p:spPr>
          <a:xfrm>
            <a:off x="640080" y="2990088"/>
            <a:ext cx="256032" cy="256032"/>
          </a:xfrm>
          <a:prstGeom prst="ellipse">
            <a:avLst/>
          </a:prstGeom>
          <a:solidFill>
            <a:srgbClr val="F4F1EA"/>
          </a:solidFill>
          <a:ln w="12700">
            <a:solidFill>
              <a:srgbClr val="F4F1EA"/>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صَبَاحُ النُّورِ</a:t>
            </a:r>
            <a:endParaRPr lang="ar-SA" sz="2050" dirty="0"/>
          </a:p>
        </p:txBody>
      </p:sp>
      <p:sp>
        <p:nvSpPr>
          <p:cNvPr id="26" name="Shape 23"/>
          <p:cNvSpPr/>
          <p:nvPr/>
        </p:nvSpPr>
        <p:spPr>
          <a:xfrm>
            <a:off x="640080" y="3447288"/>
            <a:ext cx="256032" cy="256032"/>
          </a:xfrm>
          <a:prstGeom prst="ellipse">
            <a:avLst/>
          </a:prstGeom>
          <a:solidFill>
            <a:srgbClr val="F4F1EA"/>
          </a:solidFill>
          <a:ln w="12700">
            <a:solidFill>
              <a:srgbClr val="F4F1EA"/>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عَفْوًا</a:t>
            </a:r>
            <a:endParaRPr lang="ar-SA" sz="2050" dirty="0"/>
          </a:p>
        </p:txBody>
      </p:sp>
      <p:sp>
        <p:nvSpPr>
          <p:cNvPr id="29" name="Shape 26"/>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4404360" y="1947672"/>
            <a:ext cx="310896" cy="310896"/>
          </a:xfrm>
          <a:prstGeom prst="ellipse">
            <a:avLst/>
          </a:prstGeom>
          <a:solidFill>
            <a:srgbClr val="1B3B6F"/>
          </a:solidFill>
          <a:ln w="12700">
            <a:solidFill>
              <a:srgbClr val="1B3B6F"/>
            </a:solidFill>
            <a:prstDash val="solid"/>
          </a:ln>
        </p:spPr>
      </p:sp>
      <p:sp>
        <p:nvSpPr>
          <p:cNvPr id="31" name="Text 28"/>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2" name="Text 29"/>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Ask one female where she lives.</a:t>
            </a:r>
            <a:endParaRPr lang="en-US" sz="1250" dirty="0"/>
          </a:p>
        </p:txBody>
      </p:sp>
      <p:sp>
        <p:nvSpPr>
          <p:cNvPr id="33" name="Shape 30"/>
          <p:cNvSpPr/>
          <p:nvPr/>
        </p:nvSpPr>
        <p:spPr>
          <a:xfrm>
            <a:off x="4459224" y="2532888"/>
            <a:ext cx="256032" cy="256032"/>
          </a:xfrm>
          <a:prstGeom prst="ellipse">
            <a:avLst/>
          </a:prstGeom>
          <a:solidFill>
            <a:srgbClr val="F4F1EA"/>
          </a:solidFill>
          <a:ln w="12700">
            <a:solidFill>
              <a:srgbClr val="F4F1EA"/>
            </a:solidFill>
            <a:prstDash val="solid"/>
          </a:ln>
        </p:spPr>
      </p:sp>
      <p:sp>
        <p:nvSpPr>
          <p:cNvPr id="34" name="Text 31"/>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5" name="Text 32"/>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أَيْنَ تَسْكُنِينَ؟</a:t>
            </a:r>
            <a:endParaRPr lang="ar-SA" sz="2050" dirty="0"/>
          </a:p>
        </p:txBody>
      </p:sp>
      <p:sp>
        <p:nvSpPr>
          <p:cNvPr id="36" name="Shape 33"/>
          <p:cNvSpPr/>
          <p:nvPr/>
        </p:nvSpPr>
        <p:spPr>
          <a:xfrm>
            <a:off x="4459224" y="2990088"/>
            <a:ext cx="256032" cy="256032"/>
          </a:xfrm>
          <a:prstGeom prst="ellipse">
            <a:avLst/>
          </a:prstGeom>
          <a:solidFill>
            <a:srgbClr val="F4F1EA"/>
          </a:solidFill>
          <a:ln w="12700">
            <a:solidFill>
              <a:srgbClr val="F4F1EA"/>
            </a:solidFill>
            <a:prstDash val="solid"/>
          </a:ln>
        </p:spPr>
      </p:sp>
      <p:sp>
        <p:nvSpPr>
          <p:cNvPr id="37" name="Text 34"/>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8" name="Text 35"/>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أَيْنَ تَسْكُنُ؟</a:t>
            </a:r>
            <a:endParaRPr lang="ar-SA" sz="2050" dirty="0"/>
          </a:p>
        </p:txBody>
      </p:sp>
      <p:sp>
        <p:nvSpPr>
          <p:cNvPr id="39" name="Shape 36"/>
          <p:cNvSpPr/>
          <p:nvPr/>
        </p:nvSpPr>
        <p:spPr>
          <a:xfrm>
            <a:off x="4459224" y="3447288"/>
            <a:ext cx="256032" cy="256032"/>
          </a:xfrm>
          <a:prstGeom prst="ellipse">
            <a:avLst/>
          </a:prstGeom>
          <a:solidFill>
            <a:srgbClr val="F4F1EA"/>
          </a:solidFill>
          <a:ln w="12700">
            <a:solidFill>
              <a:srgbClr val="F4F1EA"/>
            </a:solidFill>
            <a:prstDash val="solid"/>
          </a:ln>
        </p:spPr>
      </p:sp>
      <p:sp>
        <p:nvSpPr>
          <p:cNvPr id="40" name="Text 37"/>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1" name="Text 38"/>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مِنْ أَيْنَ أَنْتِ؟</a:t>
            </a:r>
            <a:endParaRPr lang="ar-SA" sz="2050" dirty="0"/>
          </a:p>
        </p:txBody>
      </p:sp>
      <p:sp>
        <p:nvSpPr>
          <p:cNvPr id="42" name="Shape 39"/>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8223504" y="1947672"/>
            <a:ext cx="310896" cy="310896"/>
          </a:xfrm>
          <a:prstGeom prst="ellipse">
            <a:avLst/>
          </a:prstGeom>
          <a:solidFill>
            <a:srgbClr val="1B3B6F"/>
          </a:solidFill>
          <a:ln w="12700">
            <a:solidFill>
              <a:srgbClr val="1B3B6F"/>
            </a:solidFill>
            <a:prstDash val="solid"/>
          </a:ln>
        </p:spPr>
      </p:sp>
      <p:sp>
        <p:nvSpPr>
          <p:cNvPr id="44" name="Text 41"/>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5" name="Text 42"/>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 city, not a country.</a:t>
            </a:r>
            <a:endParaRPr lang="en-US" sz="1250" dirty="0"/>
          </a:p>
        </p:txBody>
      </p:sp>
      <p:sp>
        <p:nvSpPr>
          <p:cNvPr id="46" name="Shape 43"/>
          <p:cNvSpPr/>
          <p:nvPr/>
        </p:nvSpPr>
        <p:spPr>
          <a:xfrm>
            <a:off x="8278368" y="2532888"/>
            <a:ext cx="256032" cy="256032"/>
          </a:xfrm>
          <a:prstGeom prst="ellipse">
            <a:avLst/>
          </a:prstGeom>
          <a:solidFill>
            <a:srgbClr val="F4F1EA"/>
          </a:solidFill>
          <a:ln w="12700">
            <a:solidFill>
              <a:srgbClr val="F4F1EA"/>
            </a:solidFill>
            <a:prstDash val="solid"/>
          </a:ln>
        </p:spPr>
      </p:sp>
      <p:sp>
        <p:nvSpPr>
          <p:cNvPr id="47" name="Text 44"/>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8" name="Text 45"/>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مِصْرُ</a:t>
            </a:r>
            <a:endParaRPr lang="ar-SA" sz="2050" dirty="0"/>
          </a:p>
        </p:txBody>
      </p:sp>
      <p:sp>
        <p:nvSpPr>
          <p:cNvPr id="49" name="Shape 46"/>
          <p:cNvSpPr/>
          <p:nvPr/>
        </p:nvSpPr>
        <p:spPr>
          <a:xfrm>
            <a:off x="8278368" y="2990088"/>
            <a:ext cx="256032" cy="256032"/>
          </a:xfrm>
          <a:prstGeom prst="ellipse">
            <a:avLst/>
          </a:prstGeom>
          <a:solidFill>
            <a:srgbClr val="F4F1EA"/>
          </a:solidFill>
          <a:ln w="12700">
            <a:solidFill>
              <a:srgbClr val="F4F1EA"/>
            </a:solidFill>
            <a:prstDash val="solid"/>
          </a:ln>
        </p:spPr>
      </p:sp>
      <p:sp>
        <p:nvSpPr>
          <p:cNvPr id="50" name="Text 47"/>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1" name="Text 48"/>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سُورِيَا</a:t>
            </a:r>
            <a:endParaRPr lang="ar-SA" sz="2050" dirty="0"/>
          </a:p>
        </p:txBody>
      </p:sp>
      <p:sp>
        <p:nvSpPr>
          <p:cNvPr id="52" name="Shape 49"/>
          <p:cNvSpPr/>
          <p:nvPr/>
        </p:nvSpPr>
        <p:spPr>
          <a:xfrm>
            <a:off x="8278368" y="3447288"/>
            <a:ext cx="256032" cy="256032"/>
          </a:xfrm>
          <a:prstGeom prst="ellipse">
            <a:avLst/>
          </a:prstGeom>
          <a:solidFill>
            <a:srgbClr val="F4F1EA"/>
          </a:solidFill>
          <a:ln w="12700">
            <a:solidFill>
              <a:srgbClr val="F4F1EA"/>
            </a:solidFill>
            <a:prstDash val="solid"/>
          </a:ln>
        </p:spPr>
      </p:sp>
      <p:sp>
        <p:nvSpPr>
          <p:cNvPr id="53" name="Text 50"/>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4" name="Text 51"/>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القَاهِرَةُ</a:t>
            </a:r>
            <a:endParaRPr lang="ar-SA" sz="2050" dirty="0"/>
          </a:p>
        </p:txBody>
      </p:sp>
      <p:sp>
        <p:nvSpPr>
          <p:cNvPr id="55" name="Shape 52"/>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585216" y="4288536"/>
            <a:ext cx="310896" cy="310896"/>
          </a:xfrm>
          <a:prstGeom prst="ellipse">
            <a:avLst/>
          </a:prstGeom>
          <a:solidFill>
            <a:srgbClr val="1B3B6F"/>
          </a:solidFill>
          <a:ln w="12700">
            <a:solidFill>
              <a:srgbClr val="1B3B6F"/>
            </a:solidFill>
            <a:prstDash val="solid"/>
          </a:ln>
        </p:spPr>
      </p:sp>
      <p:sp>
        <p:nvSpPr>
          <p:cNvPr id="57" name="Text 5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8" name="Text 55"/>
          <p:cNvSpPr txBox="1"/>
          <p:nvPr/>
        </p:nvSpPr>
        <p:spPr>
          <a:xfrm>
            <a:off x="950976"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59" name="Text 56"/>
          <p:cNvSpPr txBox="1"/>
          <p:nvPr/>
        </p:nvSpPr>
        <p:spPr>
          <a:xfrm>
            <a:off x="2406701" y="4224528"/>
            <a:ext cx="1577035"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هُوَ ____ فِي لَنْدَنَ.</a:t>
            </a:r>
            <a:endParaRPr lang="ar-SA" sz="190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تَعِيشُ</a:t>
            </a:r>
            <a:endParaRPr lang="ar-SA" sz="20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يَعِيشُ</a:t>
            </a:r>
            <a:endParaRPr lang="ar-SA" sz="20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أَعِيشُ</a:t>
            </a:r>
            <a:endParaRPr lang="ar-SA" sz="20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means ‘assessment’?</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هَدَفٌ</a:t>
            </a:r>
            <a:endParaRPr lang="ar-SA" sz="20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تَقْيِيمٌ</a:t>
            </a:r>
            <a:endParaRPr lang="ar-SA" sz="20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دَرَجَةٌ</a:t>
            </a:r>
            <a:endParaRPr lang="ar-SA" sz="2050" dirty="0"/>
          </a:p>
        </p:txBody>
      </p:sp>
      <p:sp>
        <p:nvSpPr>
          <p:cNvPr id="82" name="Shape 79"/>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3" name="Text 80"/>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4" name="Text 81"/>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5" name="Text 82"/>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6" name="Text 83"/>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7" name="Text 8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29</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F2-L12 · F2 Assessment</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Choose the reply to this</a:t>
            </a:r>
            <a:endParaRPr lang="en-US" sz="1200" dirty="0"/>
          </a:p>
        </p:txBody>
      </p:sp>
      <p:sp>
        <p:nvSpPr>
          <p:cNvPr id="19" name="Text 16"/>
          <p:cNvSpPr txBox="1"/>
          <p:nvPr/>
        </p:nvSpPr>
        <p:spPr>
          <a:xfrm>
            <a:off x="2406701"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صَبَاحُ الخَيْرِ.</a:t>
            </a:r>
            <a:endParaRPr lang="ar-SA" sz="2200" dirty="0"/>
          </a:p>
        </p:txBody>
      </p:sp>
      <p:sp>
        <p:nvSpPr>
          <p:cNvPr id="20" name="Shape 17"/>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مَسَاءُ النُّورِ</a:t>
            </a:r>
            <a:endParaRPr lang="ar-SA" sz="1700" dirty="0"/>
          </a:p>
        </p:txBody>
      </p:sp>
      <p:sp>
        <p:nvSpPr>
          <p:cNvPr id="23" name="Shape 20"/>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4" name="Shape 21"/>
          <p:cNvSpPr/>
          <p:nvPr/>
        </p:nvSpPr>
        <p:spPr>
          <a:xfrm>
            <a:off x="640080" y="2862072"/>
            <a:ext cx="256032" cy="256032"/>
          </a:xfrm>
          <a:prstGeom prst="ellipse">
            <a:avLst/>
          </a:prstGeom>
          <a:solidFill>
            <a:srgbClr val="2E8B57"/>
          </a:solidFill>
          <a:ln w="12700">
            <a:solidFill>
              <a:srgbClr val="2E8B57"/>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6" name="Text 23"/>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صَبَاحُ النُّورِ</a:t>
            </a:r>
            <a:endParaRPr lang="ar-SA" sz="1700" dirty="0"/>
          </a:p>
        </p:txBody>
      </p:sp>
      <p:sp>
        <p:nvSpPr>
          <p:cNvPr id="27" name="Shape 24"/>
          <p:cNvSpPr/>
          <p:nvPr/>
        </p:nvSpPr>
        <p:spPr>
          <a:xfrm>
            <a:off x="640080" y="3233928"/>
            <a:ext cx="256032" cy="256032"/>
          </a:xfrm>
          <a:prstGeom prst="ellipse">
            <a:avLst/>
          </a:prstGeom>
          <a:solidFill>
            <a:srgbClr val="C9CED6"/>
          </a:solidFill>
          <a:ln w="12700">
            <a:solidFill>
              <a:srgbClr val="C9CED6"/>
            </a:solidFill>
            <a:prstDash val="solid"/>
          </a:ln>
        </p:spPr>
      </p:sp>
      <p:sp>
        <p:nvSpPr>
          <p:cNvPr id="28" name="Text 25"/>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عَفْوًا</a:t>
            </a:r>
            <a:endParaRPr lang="ar-SA" sz="1700" dirty="0"/>
          </a:p>
        </p:txBody>
      </p:sp>
      <p:sp>
        <p:nvSpPr>
          <p:cNvPr id="30" name="Text 27"/>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morning pair is </a:t>
            </a:r>
            <a:pPr algn="l" indent="0" marL="0">
              <a:buNone/>
            </a:pPr>
            <a:r>
              <a:rPr lang="ar-SA" altLang="en-US" sz="1350" dirty="0">
                <a:solidFill>
                  <a:srgbClr val="8A6D1E"/>
                </a:solidFill>
                <a:latin typeface="Amiri" pitchFamily="2" charset="-78"/>
                <a:ea typeface="Amiri" pitchFamily="2" charset="-78"/>
                <a:cs typeface="Amiri" pitchFamily="2" charset="-78"/>
              </a:rPr>
              <a:t>صَبَاحُ الخَيْرِ</a:t>
            </a:r>
            <a:pPr algn="l" indent="0" marL="0">
              <a:buNone/>
            </a:pPr>
            <a:r>
              <a:rPr lang="en-US" sz="1050" i="1" dirty="0">
                <a:solidFill>
                  <a:srgbClr val="8A6D1E"/>
                </a:solidFill>
                <a:latin typeface="Calibri" pitchFamily="34" charset="0"/>
                <a:cs typeface="Amiri" pitchFamily="2" charset="-78"/>
              </a:rPr>
              <a:t> → </a:t>
            </a:r>
            <a:pPr algn="l" indent="0" marL="0">
              <a:buNone/>
            </a:pPr>
            <a:r>
              <a:rPr lang="ar-SA" altLang="en-US" sz="1350" dirty="0">
                <a:solidFill>
                  <a:srgbClr val="8A6D1E"/>
                </a:solidFill>
                <a:latin typeface="Amiri" pitchFamily="2" charset="-78"/>
                <a:ea typeface="Amiri" pitchFamily="2" charset="-78"/>
                <a:cs typeface="Amiri" pitchFamily="2" charset="-78"/>
              </a:rPr>
              <a:t>صَبَاحُ النُّورِ</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1" name="Shape 28"/>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1"/>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Ask one female where she lives.</a:t>
            </a:r>
            <a:endParaRPr lang="en-US" sz="1250" dirty="0"/>
          </a:p>
        </p:txBody>
      </p:sp>
      <p:sp>
        <p:nvSpPr>
          <p:cNvPr id="35" name="Shape 32"/>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6" name="Shape 33"/>
          <p:cNvSpPr/>
          <p:nvPr/>
        </p:nvSpPr>
        <p:spPr>
          <a:xfrm>
            <a:off x="4459224" y="2490216"/>
            <a:ext cx="256032" cy="256032"/>
          </a:xfrm>
          <a:prstGeom prst="ellipse">
            <a:avLst/>
          </a:prstGeom>
          <a:solidFill>
            <a:srgbClr val="2E8B57"/>
          </a:solidFill>
          <a:ln w="12700">
            <a:solidFill>
              <a:srgbClr val="2E8B57"/>
            </a:solidFill>
            <a:prstDash val="solid"/>
          </a:ln>
        </p:spPr>
      </p:sp>
      <p:sp>
        <p:nvSpPr>
          <p:cNvPr id="37" name="Text 34"/>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8" name="Text 35"/>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أَيْنَ تَسْكُنِينَ؟</a:t>
            </a:r>
            <a:endParaRPr lang="ar-SA" sz="1700" dirty="0"/>
          </a:p>
        </p:txBody>
      </p:sp>
      <p:sp>
        <p:nvSpPr>
          <p:cNvPr id="39" name="Shape 36"/>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أَيْنَ تَسْكُنُ؟</a:t>
            </a:r>
            <a:endParaRPr lang="ar-SA" sz="1700" dirty="0"/>
          </a:p>
        </p:txBody>
      </p:sp>
      <p:sp>
        <p:nvSpPr>
          <p:cNvPr id="42" name="Shape 39"/>
          <p:cNvSpPr/>
          <p:nvPr/>
        </p:nvSpPr>
        <p:spPr>
          <a:xfrm>
            <a:off x="4459224" y="3233928"/>
            <a:ext cx="256032" cy="256032"/>
          </a:xfrm>
          <a:prstGeom prst="ellipse">
            <a:avLst/>
          </a:prstGeom>
          <a:solidFill>
            <a:srgbClr val="C9CED6"/>
          </a:solidFill>
          <a:ln w="12700">
            <a:solidFill>
              <a:srgbClr val="C9CED6"/>
            </a:solidFill>
            <a:prstDash val="solid"/>
          </a:ln>
        </p:spPr>
      </p:sp>
      <p:sp>
        <p:nvSpPr>
          <p:cNvPr id="43" name="Text 40"/>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1"/>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مِنْ أَيْنَ أَنْتِ؟</a:t>
            </a:r>
            <a:endParaRPr lang="ar-SA" sz="1700" dirty="0"/>
          </a:p>
        </p:txBody>
      </p:sp>
      <p:sp>
        <p:nvSpPr>
          <p:cNvPr id="45" name="Text 42"/>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feminine singular present form ends in </a:t>
            </a:r>
            <a:pPr algn="l" indent="0" marL="0">
              <a:buNone/>
            </a:pPr>
            <a:r>
              <a:rPr lang="ar-SA" altLang="en-US" sz="1350" dirty="0">
                <a:solidFill>
                  <a:srgbClr val="8A6D1E"/>
                </a:solidFill>
                <a:latin typeface="Amiri" pitchFamily="2" charset="-78"/>
                <a:ea typeface="Amiri" pitchFamily="2" charset="-78"/>
                <a:cs typeface="Amiri" pitchFamily="2" charset="-78"/>
              </a:rPr>
              <a:t>ـينَ</a:t>
            </a:r>
            <a:pPr algn="l" indent="0" marL="0">
              <a:buNone/>
            </a:pPr>
            <a:r>
              <a:rPr lang="en-US" sz="1050" i="1" dirty="0">
                <a:solidFill>
                  <a:srgbClr val="8A6D1E"/>
                </a:solidFill>
                <a:latin typeface="Calibri" pitchFamily="34" charset="0"/>
                <a:cs typeface="Amiri" pitchFamily="2" charset="-78"/>
              </a:rPr>
              <a:t>: </a:t>
            </a:r>
            <a:pPr algn="l" indent="0" marL="0">
              <a:buNone/>
            </a:pPr>
            <a:r>
              <a:rPr lang="ar-SA" altLang="en-US" sz="1350" dirty="0">
                <a:solidFill>
                  <a:srgbClr val="8A6D1E"/>
                </a:solidFill>
                <a:latin typeface="Amiri" pitchFamily="2" charset="-78"/>
                <a:ea typeface="Amiri" pitchFamily="2" charset="-78"/>
                <a:cs typeface="Amiri" pitchFamily="2" charset="-78"/>
              </a:rPr>
              <a:t>تَسْكُنِينَ</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6" name="Shape 43"/>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4"/>
          <p:cNvSpPr/>
          <p:nvPr/>
        </p:nvSpPr>
        <p:spPr>
          <a:xfrm>
            <a:off x="8223504" y="1947672"/>
            <a:ext cx="310896" cy="310896"/>
          </a:xfrm>
          <a:prstGeom prst="ellipse">
            <a:avLst/>
          </a:prstGeom>
          <a:solidFill>
            <a:srgbClr val="1B3B6F"/>
          </a:solidFill>
          <a:ln w="12700">
            <a:solidFill>
              <a:srgbClr val="1B3B6F"/>
            </a:solidFill>
            <a:prstDash val="solid"/>
          </a:ln>
        </p:spPr>
      </p:sp>
      <p:sp>
        <p:nvSpPr>
          <p:cNvPr id="48" name="Text 45"/>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6"/>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 city, not a country.</a:t>
            </a:r>
            <a:endParaRPr lang="en-US" sz="1250" dirty="0"/>
          </a:p>
        </p:txBody>
      </p:sp>
      <p:sp>
        <p:nvSpPr>
          <p:cNvPr id="50" name="Shape 47"/>
          <p:cNvSpPr/>
          <p:nvPr/>
        </p:nvSpPr>
        <p:spPr>
          <a:xfrm>
            <a:off x="8278368" y="2490216"/>
            <a:ext cx="256032" cy="256032"/>
          </a:xfrm>
          <a:prstGeom prst="ellipse">
            <a:avLst/>
          </a:prstGeom>
          <a:solidFill>
            <a:srgbClr val="C9CED6"/>
          </a:solidFill>
          <a:ln w="12700">
            <a:solidFill>
              <a:srgbClr val="C9CED6"/>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مِصْرُ</a:t>
            </a:r>
            <a:endParaRPr lang="ar-SA" sz="170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سُورِيَا</a:t>
            </a:r>
            <a:endParaRPr lang="ar-SA" sz="1700" dirty="0"/>
          </a:p>
        </p:txBody>
      </p:sp>
      <p:sp>
        <p:nvSpPr>
          <p:cNvPr id="56" name="Shape 53"/>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7" name="Shape 54"/>
          <p:cNvSpPr/>
          <p:nvPr/>
        </p:nvSpPr>
        <p:spPr>
          <a:xfrm>
            <a:off x="8278368" y="3233928"/>
            <a:ext cx="256032" cy="256032"/>
          </a:xfrm>
          <a:prstGeom prst="ellipse">
            <a:avLst/>
          </a:prstGeom>
          <a:solidFill>
            <a:srgbClr val="2E8B57"/>
          </a:solidFill>
          <a:ln w="12700">
            <a:solidFill>
              <a:srgbClr val="2E8B57"/>
            </a:solidFill>
            <a:prstDash val="solid"/>
          </a:ln>
        </p:spPr>
      </p:sp>
      <p:sp>
        <p:nvSpPr>
          <p:cNvPr id="58" name="Text 55"/>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9" name="Text 56"/>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القَاهِرَةُ</a:t>
            </a:r>
            <a:endParaRPr lang="ar-SA" sz="1700" dirty="0"/>
          </a:p>
        </p:txBody>
      </p:sp>
      <p:sp>
        <p:nvSpPr>
          <p:cNvPr id="60" name="Text 57"/>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القَاهِرَةُ</a:t>
            </a:r>
            <a:pPr algn="l" indent="0" marL="0">
              <a:buNone/>
            </a:pPr>
            <a:r>
              <a:rPr lang="en-US" sz="1050" i="1" dirty="0">
                <a:solidFill>
                  <a:srgbClr val="8A6D1E"/>
                </a:solidFill>
                <a:latin typeface="Calibri" pitchFamily="34" charset="0"/>
                <a:cs typeface="Amiri" pitchFamily="2" charset="-78"/>
              </a:rPr>
              <a:t> is Cairo, a city.</a:t>
            </a:r>
            <a:endParaRPr lang="en-US" sz="1050" dirty="0"/>
          </a:p>
        </p:txBody>
      </p:sp>
      <p:sp>
        <p:nvSpPr>
          <p:cNvPr id="61" name="Shape 58"/>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585216" y="4288536"/>
            <a:ext cx="310896" cy="310896"/>
          </a:xfrm>
          <a:prstGeom prst="ellipse">
            <a:avLst/>
          </a:prstGeom>
          <a:solidFill>
            <a:srgbClr val="1B3B6F"/>
          </a:solidFill>
          <a:ln w="12700">
            <a:solidFill>
              <a:srgbClr val="1B3B6F"/>
            </a:solidFill>
            <a:prstDash val="solid"/>
          </a:ln>
        </p:spPr>
      </p:sp>
      <p:sp>
        <p:nvSpPr>
          <p:cNvPr id="63" name="Text 6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1"/>
          <p:cNvSpPr txBox="1"/>
          <p:nvPr/>
        </p:nvSpPr>
        <p:spPr>
          <a:xfrm>
            <a:off x="950976"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65" name="Text 62"/>
          <p:cNvSpPr txBox="1"/>
          <p:nvPr/>
        </p:nvSpPr>
        <p:spPr>
          <a:xfrm>
            <a:off x="2406701" y="4224528"/>
            <a:ext cx="1577035"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هُوَ ____ فِي لَنْدَنَ.</a:t>
            </a:r>
            <a:endParaRPr lang="ar-SA" sz="1900" dirty="0"/>
          </a:p>
        </p:txBody>
      </p:sp>
      <p:sp>
        <p:nvSpPr>
          <p:cNvPr id="66"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تَعِيشُ</a:t>
            </a:r>
            <a:endParaRPr lang="ar-SA" sz="1700" dirty="0"/>
          </a:p>
        </p:txBody>
      </p:sp>
      <p:sp>
        <p:nvSpPr>
          <p:cNvPr id="69" name="Shape 66"/>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640080" y="5202936"/>
            <a:ext cx="256032" cy="256032"/>
          </a:xfrm>
          <a:prstGeom prst="ellipse">
            <a:avLst/>
          </a:prstGeom>
          <a:solidFill>
            <a:srgbClr val="2E8B57"/>
          </a:solidFill>
          <a:ln w="12700">
            <a:solidFill>
              <a:srgbClr val="2E8B57"/>
            </a:solidFill>
            <a:prstDash val="solid"/>
          </a:ln>
        </p:spPr>
      </p:sp>
      <p:sp>
        <p:nvSpPr>
          <p:cNvPr id="71" name="Text 68"/>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2" name="Text 69"/>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يَعِيشُ</a:t>
            </a:r>
            <a:endParaRPr lang="ar-SA" sz="1700" dirty="0"/>
          </a:p>
        </p:txBody>
      </p:sp>
      <p:sp>
        <p:nvSpPr>
          <p:cNvPr id="73" name="Shape 70"/>
          <p:cNvSpPr/>
          <p:nvPr/>
        </p:nvSpPr>
        <p:spPr>
          <a:xfrm>
            <a:off x="640080" y="5574792"/>
            <a:ext cx="256032" cy="256032"/>
          </a:xfrm>
          <a:prstGeom prst="ellipse">
            <a:avLst/>
          </a:prstGeom>
          <a:solidFill>
            <a:srgbClr val="C9CED6"/>
          </a:solidFill>
          <a:ln w="12700">
            <a:solidFill>
              <a:srgbClr val="C9CED6"/>
            </a:solidFill>
            <a:prstDash val="solid"/>
          </a:ln>
        </p:spPr>
      </p:sp>
      <p:sp>
        <p:nvSpPr>
          <p:cNvPr id="74"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أَعِيشُ</a:t>
            </a:r>
            <a:endParaRPr lang="ar-SA" sz="1700" dirty="0"/>
          </a:p>
        </p:txBody>
      </p:sp>
      <p:sp>
        <p:nvSpPr>
          <p:cNvPr id="76" name="Text 73"/>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Third-person masculine present verbs commonly begin with </a:t>
            </a:r>
            <a:pPr algn="l" indent="0" marL="0">
              <a:buNone/>
            </a:pPr>
            <a:r>
              <a:rPr lang="ar-SA" altLang="en-US" sz="1350" dirty="0">
                <a:solidFill>
                  <a:srgbClr val="8A6D1E"/>
                </a:solidFill>
                <a:latin typeface="Amiri" pitchFamily="2" charset="-78"/>
                <a:ea typeface="Amiri" pitchFamily="2" charset="-78"/>
                <a:cs typeface="Amiri" pitchFamily="2" charset="-78"/>
              </a:rPr>
              <a:t>يـ</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7"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means ‘assessment’?</a:t>
            </a:r>
            <a:endParaRPr lang="en-US" sz="1250" dirty="0"/>
          </a:p>
        </p:txBody>
      </p:sp>
      <p:sp>
        <p:nvSpPr>
          <p:cNvPr id="81" name="Shape 78"/>
          <p:cNvSpPr/>
          <p:nvPr/>
        </p:nvSpPr>
        <p:spPr>
          <a:xfrm>
            <a:off x="4459224" y="4831080"/>
            <a:ext cx="256032" cy="256032"/>
          </a:xfrm>
          <a:prstGeom prst="ellipse">
            <a:avLst/>
          </a:prstGeom>
          <a:solidFill>
            <a:srgbClr val="C9CED6"/>
          </a:solidFill>
          <a:ln w="12700">
            <a:solidFill>
              <a:srgbClr val="C9CED6"/>
            </a:solidFill>
            <a:prstDash val="solid"/>
          </a:ln>
        </p:spPr>
      </p:sp>
      <p:sp>
        <p:nvSpPr>
          <p:cNvPr id="82" name="Text 79"/>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3" name="Text 80"/>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هَدَفٌ</a:t>
            </a:r>
            <a:endParaRPr lang="ar-SA" sz="1700" dirty="0"/>
          </a:p>
        </p:txBody>
      </p:sp>
      <p:sp>
        <p:nvSpPr>
          <p:cNvPr id="84" name="Shape 81"/>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5" name="Shape 82"/>
          <p:cNvSpPr/>
          <p:nvPr/>
        </p:nvSpPr>
        <p:spPr>
          <a:xfrm>
            <a:off x="4459224" y="5202936"/>
            <a:ext cx="256032" cy="256032"/>
          </a:xfrm>
          <a:prstGeom prst="ellipse">
            <a:avLst/>
          </a:prstGeom>
          <a:solidFill>
            <a:srgbClr val="2E8B57"/>
          </a:solidFill>
          <a:ln w="12700">
            <a:solidFill>
              <a:srgbClr val="2E8B57"/>
            </a:solidFill>
            <a:prstDash val="solid"/>
          </a:ln>
        </p:spPr>
      </p:sp>
      <p:sp>
        <p:nvSpPr>
          <p:cNvPr id="86"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7" name="Text 84"/>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تَقْيِيمٌ</a:t>
            </a:r>
            <a:endParaRPr lang="ar-SA" sz="1700" dirty="0"/>
          </a:p>
        </p:txBody>
      </p:sp>
      <p:sp>
        <p:nvSpPr>
          <p:cNvPr id="88"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دَرَجَةٌ</a:t>
            </a:r>
            <a:endParaRPr lang="ar-SA" sz="1700" dirty="0"/>
          </a:p>
        </p:txBody>
      </p:sp>
      <p:sp>
        <p:nvSpPr>
          <p:cNvPr id="91" name="Text 88"/>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تَقْيِيمٌ</a:t>
            </a:r>
            <a:pPr algn="l" indent="0" marL="0">
              <a:buNone/>
            </a:pPr>
            <a:r>
              <a:rPr lang="en-US" sz="1050" i="1" dirty="0">
                <a:solidFill>
                  <a:srgbClr val="8A6D1E"/>
                </a:solidFill>
                <a:latin typeface="Calibri" pitchFamily="34" charset="0"/>
                <a:cs typeface="Amiri" pitchFamily="2" charset="-78"/>
              </a:rPr>
              <a:t> means assessment.</a:t>
            </a:r>
            <a:endParaRPr lang="en-US" sz="1050" dirty="0"/>
          </a:p>
        </p:txBody>
      </p:sp>
      <p:sp>
        <p:nvSpPr>
          <p:cNvPr id="92" name="Shape 89"/>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3" name="Text 90"/>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4" name="Text 91"/>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200" b="1" dirty="0">
                <a:solidFill>
                  <a:srgbClr val="1F2A37"/>
                </a:solidFill>
                <a:latin typeface="Calibri" pitchFamily="34" charset="0"/>
                <a:cs typeface="Amiri" pitchFamily="2" charset="-78"/>
              </a:rPr>
              <a:t>This warm-up does NOT count. It samples all five revision stations: greetings · questions · identity · agreement · forms and links.</a:t>
            </a:r>
            <a:endParaRPr lang="en-US" sz="1200" dirty="0"/>
          </a:p>
        </p:txBody>
      </p:sp>
      <p:sp>
        <p:nvSpPr>
          <p:cNvPr id="95" name="Text 92"/>
          <p:cNvSpPr txBox="1"/>
          <p:nvPr/>
        </p:nvSpPr>
        <p:spPr>
          <a:xfrm>
            <a:off x="8278368" y="5202936"/>
            <a:ext cx="3270504" cy="1014984"/>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مُرَاجَعَةٌ ثُمَّ تَقْيِيمٌ</a:t>
            </a:r>
            <a:endParaRPr lang="ar-SA" sz="2400" dirty="0"/>
          </a:p>
        </p:txBody>
      </p:sp>
      <p:sp>
        <p:nvSpPr>
          <p:cNvPr id="96" name="Text 9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29</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F2-L12 · F2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REVISION · WEBSITE “F2 REVISION ARCADE”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Five more revision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مَحَطَّاتُ المُرَاجَعَةِ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F2-L12</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question addresses one female?</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كَيْفَ حَالُكَ؟</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كَيْفَ حَالُكِ؟</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مَا اسْمُهَا؟</a:t>
            </a:r>
            <a:endParaRPr lang="ar-SA" sz="2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question normally expects yes or no?</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هَلْ تَتَكَلَّمُ العَرَبِيَّةَ؟</a:t>
            </a:r>
            <a:endParaRPr lang="ar-SA" sz="20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مَا اسْمُكَ؟</a:t>
            </a:r>
            <a:endParaRPr lang="ar-SA" sz="20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كَمْ عُمْرُكَ؟</a:t>
            </a:r>
            <a:endParaRPr lang="ar-SA" sz="20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 girl says she is Egyptian.</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أَنَا مِصْرِيٌّ.</a:t>
            </a:r>
            <a:endParaRPr lang="ar-SA" sz="20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أَنَا مِصْرُ.</a:t>
            </a:r>
            <a:endParaRPr lang="ar-SA" sz="20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أَنَا مِصْرِيَّةٌ.</a:t>
            </a:r>
            <a:endParaRPr lang="ar-SA" sz="20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‘this is a male teacher’.</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هَذِهِ مُعَلِّمٌ.</a:t>
            </a:r>
            <a:endParaRPr lang="ar-SA" sz="20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هَذَا مُعَلِّمَةٌ.</a:t>
            </a:r>
            <a:endParaRPr lang="ar-SA" sz="20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هَذَا مُعَلِّمٌ.</a:t>
            </a:r>
            <a:endParaRPr lang="ar-SA" sz="20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connective introduces a reason?</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لِأَنَّ</a:t>
            </a:r>
            <a:endParaRPr lang="ar-SA" sz="20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أَيْنَ</a:t>
            </a:r>
            <a:endParaRPr lang="ar-SA" sz="20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وَ</a:t>
            </a:r>
            <a:endParaRPr lang="ar-SA" sz="2050" dirty="0"/>
          </a:p>
        </p:txBody>
      </p:sp>
      <p:sp>
        <p:nvSpPr>
          <p:cNvPr id="82" name="Shape 79"/>
          <p:cNvSpPr/>
          <p:nvPr/>
        </p:nvSpPr>
        <p:spPr>
          <a:xfrm>
            <a:off x="8095488" y="4151376"/>
            <a:ext cx="3636264" cy="2157984"/>
          </a:xfrm>
          <a:prstGeom prst="roundRect">
            <a:avLst>
              <a:gd name="adj" fmla="val 3390"/>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83" name="Text 8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NOT MARKED</a:t>
            </a:r>
            <a:endParaRPr lang="en-US" sz="1000" dirty="0"/>
          </a:p>
        </p:txBody>
      </p:sp>
      <p:sp>
        <p:nvSpPr>
          <p:cNvPr id="84" name="Text 8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Revision only.</a:t>
            </a:r>
            <a:endParaRPr lang="en-US" sz="1250" dirty="0"/>
          </a:p>
          <a:p>
            <a:pPr algn="l" indent="0" marL="0">
              <a:buNone/>
            </a:pPr>
            <a:r>
              <a:rPr lang="en-US" sz="1250" dirty="0">
                <a:solidFill>
                  <a:srgbClr val="1F2A37"/>
                </a:solidFill>
                <a:latin typeface="Calibri" pitchFamily="34" charset="0"/>
                <a:cs typeface="Amiri" pitchFamily="2" charset="-78"/>
              </a:rPr>
              <a:t>Which station was hardest for you?</a:t>
            </a:r>
            <a:endParaRPr lang="en-US" sz="1250" dirty="0"/>
          </a:p>
          <a:p>
            <a:pPr algn="l" indent="0" marL="0">
              <a:buNone/>
            </a:pPr>
            <a:r>
              <a:rPr lang="en-US" sz="1250" dirty="0">
                <a:solidFill>
                  <a:srgbClr val="1F2A37"/>
                </a:solidFill>
                <a:latin typeface="Calibri" pitchFamily="34" charset="0"/>
                <a:cs typeface="Amiri" pitchFamily="2" charset="-78"/>
              </a:rPr>
              <a:t>Type its number (1–5) in the chat.</a:t>
            </a:r>
            <a:endParaRPr lang="en-US" sz="125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29</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F2-L12 · F2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REVISION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Revision: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F2-L12</a:t>
            </a:r>
            <a:endParaRPr lang="en-US" sz="850" dirty="0"/>
          </a:p>
        </p:txBody>
      </p:sp>
      <p:sp>
        <p:nvSpPr>
          <p:cNvPr id="16"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7"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8"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9"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question addresses one female?</a:t>
            </a:r>
            <a:endParaRPr lang="en-US" sz="1250" dirty="0"/>
          </a:p>
        </p:txBody>
      </p:sp>
      <p:sp>
        <p:nvSpPr>
          <p:cNvPr id="20"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20"/>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كَيْفَ حَالُكَ؟</a:t>
            </a:r>
            <a:endParaRPr lang="ar-SA" sz="1700" dirty="0"/>
          </a:p>
        </p:txBody>
      </p:sp>
      <p:sp>
        <p:nvSpPr>
          <p:cNvPr id="23"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4"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5"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6" name="Text 24"/>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كَيْفَ حَالُكِ؟</a:t>
            </a:r>
            <a:endParaRPr lang="ar-SA" sz="1700" dirty="0"/>
          </a:p>
        </p:txBody>
      </p:sp>
      <p:sp>
        <p:nvSpPr>
          <p:cNvPr id="27"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8"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7"/>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مَا اسْمُهَا؟</a:t>
            </a:r>
            <a:endParaRPr lang="ar-SA" sz="1700" dirty="0"/>
          </a:p>
        </p:txBody>
      </p:sp>
      <p:sp>
        <p:nvSpPr>
          <p:cNvPr id="30" name="Text 28"/>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Final </a:t>
            </a:r>
            <a:pPr algn="l" indent="0" marL="0">
              <a:buNone/>
            </a:pPr>
            <a:r>
              <a:rPr lang="ar-SA" altLang="en-US" sz="1350" dirty="0">
                <a:solidFill>
                  <a:srgbClr val="8A6D1E"/>
                </a:solidFill>
                <a:latin typeface="Amiri" pitchFamily="2" charset="-78"/>
                <a:ea typeface="Amiri" pitchFamily="2" charset="-78"/>
                <a:cs typeface="Amiri" pitchFamily="2" charset="-78"/>
              </a:rPr>
              <a:t>ـكِ</a:t>
            </a:r>
            <a:pPr algn="l" indent="0" marL="0">
              <a:buNone/>
            </a:pPr>
            <a:r>
              <a:rPr lang="en-US" sz="1050" i="1" dirty="0">
                <a:solidFill>
                  <a:srgbClr val="8A6D1E"/>
                </a:solidFill>
                <a:latin typeface="Calibri" pitchFamily="34" charset="0"/>
                <a:cs typeface="Amiri" pitchFamily="2" charset="-78"/>
              </a:rPr>
              <a:t> addresses one female.</a:t>
            </a:r>
            <a:endParaRPr lang="en-US" sz="1050" dirty="0"/>
          </a:p>
        </p:txBody>
      </p:sp>
      <p:sp>
        <p:nvSpPr>
          <p:cNvPr id="31"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question normally expects yes or no?</a:t>
            </a:r>
            <a:endParaRPr lang="en-US" sz="1250" dirty="0"/>
          </a:p>
        </p:txBody>
      </p:sp>
      <p:sp>
        <p:nvSpPr>
          <p:cNvPr id="35" name="Shape 33"/>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6" name="Shape 34"/>
          <p:cNvSpPr/>
          <p:nvPr/>
        </p:nvSpPr>
        <p:spPr>
          <a:xfrm>
            <a:off x="4459224" y="2490216"/>
            <a:ext cx="256032" cy="256032"/>
          </a:xfrm>
          <a:prstGeom prst="ellipse">
            <a:avLst/>
          </a:prstGeom>
          <a:solidFill>
            <a:srgbClr val="2E8B57"/>
          </a:solidFill>
          <a:ln w="12700">
            <a:solidFill>
              <a:srgbClr val="2E8B57"/>
            </a:solidFill>
            <a:prstDash val="solid"/>
          </a:ln>
        </p:spPr>
      </p:sp>
      <p:sp>
        <p:nvSpPr>
          <p:cNvPr id="37" name="Text 35"/>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8" name="Text 36"/>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هَلْ تَتَكَلَّمُ العَرَبِيَّةَ؟</a:t>
            </a:r>
            <a:endParaRPr lang="ar-SA" sz="1700" dirty="0"/>
          </a:p>
        </p:txBody>
      </p:sp>
      <p:sp>
        <p:nvSpPr>
          <p:cNvPr id="39" name="Shape 37"/>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8"/>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9"/>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مَا اسْمُكَ؟</a:t>
            </a:r>
            <a:endParaRPr lang="ar-SA" sz="1700" dirty="0"/>
          </a:p>
        </p:txBody>
      </p:sp>
      <p:sp>
        <p:nvSpPr>
          <p:cNvPr id="42" name="Shape 40"/>
          <p:cNvSpPr/>
          <p:nvPr/>
        </p:nvSpPr>
        <p:spPr>
          <a:xfrm>
            <a:off x="4459224" y="3233928"/>
            <a:ext cx="256032" cy="256032"/>
          </a:xfrm>
          <a:prstGeom prst="ellipse">
            <a:avLst/>
          </a:prstGeom>
          <a:solidFill>
            <a:srgbClr val="C9CED6"/>
          </a:solidFill>
          <a:ln w="12700">
            <a:solidFill>
              <a:srgbClr val="C9CED6"/>
            </a:solidFill>
            <a:prstDash val="solid"/>
          </a:ln>
        </p:spPr>
      </p:sp>
      <p:sp>
        <p:nvSpPr>
          <p:cNvPr id="43"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2"/>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كَمْ عُمْرُكَ؟</a:t>
            </a:r>
            <a:endParaRPr lang="ar-SA" sz="1700" dirty="0"/>
          </a:p>
        </p:txBody>
      </p:sp>
      <p:sp>
        <p:nvSpPr>
          <p:cNvPr id="45" name="Text 43"/>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هَلْ</a:t>
            </a:r>
            <a:pPr algn="l" indent="0" marL="0">
              <a:buNone/>
            </a:pPr>
            <a:r>
              <a:rPr lang="en-US" sz="1050" i="1" dirty="0">
                <a:solidFill>
                  <a:srgbClr val="8A6D1E"/>
                </a:solidFill>
                <a:latin typeface="Calibri" pitchFamily="34" charset="0"/>
                <a:cs typeface="Amiri" pitchFamily="2" charset="-78"/>
              </a:rPr>
              <a:t> introduces a yes/no question.</a:t>
            </a:r>
            <a:endParaRPr lang="en-US" sz="1050" dirty="0"/>
          </a:p>
        </p:txBody>
      </p:sp>
      <p:sp>
        <p:nvSpPr>
          <p:cNvPr id="46"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8"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 girl says she is Egyptian.</a:t>
            </a:r>
            <a:endParaRPr lang="en-US" sz="1250" dirty="0"/>
          </a:p>
        </p:txBody>
      </p:sp>
      <p:sp>
        <p:nvSpPr>
          <p:cNvPr id="50" name="Shape 48"/>
          <p:cNvSpPr/>
          <p:nvPr/>
        </p:nvSpPr>
        <p:spPr>
          <a:xfrm>
            <a:off x="8278368" y="2490216"/>
            <a:ext cx="256032" cy="256032"/>
          </a:xfrm>
          <a:prstGeom prst="ellipse">
            <a:avLst/>
          </a:prstGeom>
          <a:solidFill>
            <a:srgbClr val="C9CED6"/>
          </a:solidFill>
          <a:ln w="12700">
            <a:solidFill>
              <a:srgbClr val="C9CED6"/>
            </a:solidFill>
            <a:prstDash val="solid"/>
          </a:ln>
        </p:spPr>
      </p:sp>
      <p:sp>
        <p:nvSpPr>
          <p:cNvPr id="51" name="Text 49"/>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50"/>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أَنَا مِصْرِيٌّ.</a:t>
            </a:r>
            <a:endParaRPr lang="ar-SA" sz="1700" dirty="0"/>
          </a:p>
        </p:txBody>
      </p:sp>
      <p:sp>
        <p:nvSpPr>
          <p:cNvPr id="53" name="Shape 51"/>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2"/>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3"/>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أَنَا مِصْرُ.</a:t>
            </a:r>
            <a:endParaRPr lang="ar-SA" sz="1700" dirty="0"/>
          </a:p>
        </p:txBody>
      </p:sp>
      <p:sp>
        <p:nvSpPr>
          <p:cNvPr id="56" name="Shape 54"/>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7" name="Shape 55"/>
          <p:cNvSpPr/>
          <p:nvPr/>
        </p:nvSpPr>
        <p:spPr>
          <a:xfrm>
            <a:off x="8278368" y="3233928"/>
            <a:ext cx="256032" cy="256032"/>
          </a:xfrm>
          <a:prstGeom prst="ellipse">
            <a:avLst/>
          </a:prstGeom>
          <a:solidFill>
            <a:srgbClr val="2E8B57"/>
          </a:solidFill>
          <a:ln w="12700">
            <a:solidFill>
              <a:srgbClr val="2E8B57"/>
            </a:solidFill>
            <a:prstDash val="solid"/>
          </a:ln>
        </p:spPr>
      </p:sp>
      <p:sp>
        <p:nvSpPr>
          <p:cNvPr id="58"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9" name="Text 57"/>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أَنَا مِصْرِيَّةٌ.</a:t>
            </a:r>
            <a:endParaRPr lang="ar-SA" sz="1700" dirty="0"/>
          </a:p>
        </p:txBody>
      </p:sp>
      <p:sp>
        <p:nvSpPr>
          <p:cNvPr id="60" name="Text 58"/>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feminine nationality is </a:t>
            </a:r>
            <a:pPr algn="l" indent="0" marL="0">
              <a:buNone/>
            </a:pPr>
            <a:r>
              <a:rPr lang="ar-SA" altLang="en-US" sz="1350" dirty="0">
                <a:solidFill>
                  <a:srgbClr val="8A6D1E"/>
                </a:solidFill>
                <a:latin typeface="Amiri" pitchFamily="2" charset="-78"/>
                <a:ea typeface="Amiri" pitchFamily="2" charset="-78"/>
                <a:cs typeface="Amiri" pitchFamily="2" charset="-78"/>
              </a:rPr>
              <a:t>مِصْرِيَّةٌ</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1"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3"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‘this is a male teacher’.</a:t>
            </a:r>
            <a:endParaRPr lang="en-US" sz="1250" dirty="0"/>
          </a:p>
        </p:txBody>
      </p:sp>
      <p:sp>
        <p:nvSpPr>
          <p:cNvPr id="65"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6"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7" name="Text 65"/>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هَذِهِ مُعَلِّمٌ.</a:t>
            </a:r>
            <a:endParaRPr lang="ar-SA" sz="1700" dirty="0"/>
          </a:p>
        </p:txBody>
      </p:sp>
      <p:sp>
        <p:nvSpPr>
          <p:cNvPr id="68" name="Shape 66"/>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7"/>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8"/>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هَذَا مُعَلِّمَةٌ.</a:t>
            </a:r>
            <a:endParaRPr lang="ar-SA" sz="1700" dirty="0"/>
          </a:p>
        </p:txBody>
      </p:sp>
      <p:sp>
        <p:nvSpPr>
          <p:cNvPr id="71" name="Shape 69"/>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2" name="Shape 70"/>
          <p:cNvSpPr/>
          <p:nvPr/>
        </p:nvSpPr>
        <p:spPr>
          <a:xfrm>
            <a:off x="640080" y="5574792"/>
            <a:ext cx="256032" cy="256032"/>
          </a:xfrm>
          <a:prstGeom prst="ellipse">
            <a:avLst/>
          </a:prstGeom>
          <a:solidFill>
            <a:srgbClr val="2E8B57"/>
          </a:solidFill>
          <a:ln w="12700">
            <a:solidFill>
              <a:srgbClr val="2E8B57"/>
            </a:solidFill>
            <a:prstDash val="solid"/>
          </a:ln>
        </p:spPr>
      </p:sp>
      <p:sp>
        <p:nvSpPr>
          <p:cNvPr id="73"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4" name="Text 72"/>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هَذَا مُعَلِّمٌ.</a:t>
            </a:r>
            <a:endParaRPr lang="ar-SA" sz="1700" dirty="0"/>
          </a:p>
        </p:txBody>
      </p:sp>
      <p:sp>
        <p:nvSpPr>
          <p:cNvPr id="75" name="Text 73"/>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هَذَا</a:t>
            </a:r>
            <a:pPr algn="l" indent="0" marL="0">
              <a:buNone/>
            </a:pPr>
            <a:r>
              <a:rPr lang="en-US" sz="1050" i="1" dirty="0">
                <a:solidFill>
                  <a:srgbClr val="8A6D1E"/>
                </a:solidFill>
                <a:latin typeface="Calibri" pitchFamily="34" charset="0"/>
                <a:cs typeface="Amiri" pitchFamily="2" charset="-78"/>
              </a:rPr>
              <a:t> introduces a masculine singular noun.</a:t>
            </a:r>
            <a:endParaRPr lang="en-US" sz="1050" dirty="0"/>
          </a:p>
        </p:txBody>
      </p:sp>
      <p:sp>
        <p:nvSpPr>
          <p:cNvPr id="76"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7"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8"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9"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connective introduces a reason?</a:t>
            </a:r>
            <a:endParaRPr lang="en-US" sz="1250" dirty="0"/>
          </a:p>
        </p:txBody>
      </p:sp>
      <p:sp>
        <p:nvSpPr>
          <p:cNvPr id="80"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1"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2"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3" name="Text 81"/>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لِأَنَّ</a:t>
            </a:r>
            <a:endParaRPr lang="ar-SA" sz="1700" dirty="0"/>
          </a:p>
        </p:txBody>
      </p:sp>
      <p:sp>
        <p:nvSpPr>
          <p:cNvPr id="84"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5"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6" name="Text 84"/>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أَيْنَ</a:t>
            </a:r>
            <a:endParaRPr lang="ar-SA" sz="1700" dirty="0"/>
          </a:p>
        </p:txBody>
      </p:sp>
      <p:sp>
        <p:nvSpPr>
          <p:cNvPr id="87"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8"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9" name="Text 87"/>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وَ</a:t>
            </a:r>
            <a:endParaRPr lang="ar-SA" sz="1700" dirty="0"/>
          </a:p>
        </p:txBody>
      </p:sp>
      <p:sp>
        <p:nvSpPr>
          <p:cNvPr id="90" name="Text 88"/>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لِأَنَّ</a:t>
            </a:r>
            <a:pPr algn="l" indent="0" marL="0">
              <a:buNone/>
            </a:pPr>
            <a:r>
              <a:rPr lang="en-US" sz="1050" i="1" dirty="0">
                <a:solidFill>
                  <a:srgbClr val="8A6D1E"/>
                </a:solidFill>
                <a:latin typeface="Calibri" pitchFamily="34" charset="0"/>
                <a:cs typeface="Amiri" pitchFamily="2" charset="-78"/>
              </a:rPr>
              <a:t> introduces a reason.</a:t>
            </a:r>
            <a:endParaRPr lang="en-US" sz="1050" dirty="0"/>
          </a:p>
        </p:txBody>
      </p:sp>
      <p:sp>
        <p:nvSpPr>
          <p:cNvPr id="91" name="Shape 89"/>
          <p:cNvSpPr/>
          <p:nvPr/>
        </p:nvSpPr>
        <p:spPr>
          <a:xfrm>
            <a:off x="8095488" y="4151376"/>
            <a:ext cx="3636264" cy="2157984"/>
          </a:xfrm>
          <a:prstGeom prst="roundRect">
            <a:avLst>
              <a:gd name="adj" fmla="val 3390"/>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92" name="Text 9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NOT MARKED</a:t>
            </a:r>
            <a:endParaRPr lang="en-US" sz="1000" dirty="0"/>
          </a:p>
        </p:txBody>
      </p:sp>
      <p:sp>
        <p:nvSpPr>
          <p:cNvPr id="93" name="Text 9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Revision only.</a:t>
            </a:r>
            <a:endParaRPr lang="en-US" sz="1250" dirty="0"/>
          </a:p>
          <a:p>
            <a:pPr algn="l" indent="0" marL="0">
              <a:buNone/>
            </a:pPr>
            <a:r>
              <a:rPr lang="en-US" sz="1250" dirty="0">
                <a:solidFill>
                  <a:srgbClr val="1F2A37"/>
                </a:solidFill>
                <a:latin typeface="Calibri" pitchFamily="34" charset="0"/>
                <a:cs typeface="Amiri" pitchFamily="2" charset="-78"/>
              </a:rPr>
              <a:t>Which station was hardest for you?</a:t>
            </a:r>
            <a:endParaRPr lang="en-US" sz="1250" dirty="0"/>
          </a:p>
          <a:p>
            <a:pPr algn="l" indent="0" marL="0">
              <a:buNone/>
            </a:pPr>
            <a:r>
              <a:rPr lang="en-US" sz="1250" dirty="0">
                <a:solidFill>
                  <a:srgbClr val="1F2A37"/>
                </a:solidFill>
                <a:latin typeface="Calibri" pitchFamily="34" charset="0"/>
                <a:cs typeface="Amiri" pitchFamily="2" charset="-78"/>
              </a:rPr>
              <a:t>Type its number (1–5) in the chat.</a:t>
            </a:r>
            <a:endParaRPr lang="en-US" sz="1250" dirty="0"/>
          </a:p>
        </p:txBody>
      </p:sp>
      <p:sp>
        <p:nvSpPr>
          <p:cNvPr id="94"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29</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F2-L12 · F2 Assessment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ASSESSMENT MAP (WEBSITE) · 60 MARKS IN TOTAL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Four skills, fifteen marks each</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خُطَّةُ التَّقْيِيمِ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10524744"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Marks</a:t>
            </a:r>
            <a:endParaRPr lang="en-US" sz="1100" dirty="0"/>
          </a:p>
        </p:txBody>
      </p:sp>
      <p:sp>
        <p:nvSpPr>
          <p:cNvPr id="17" name="Text 14"/>
          <p:cNvSpPr txBox="1"/>
          <p:nvPr/>
        </p:nvSpPr>
        <p:spPr>
          <a:xfrm>
            <a:off x="3941064" y="1810512"/>
            <a:ext cx="6437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What you do</a:t>
            </a:r>
            <a:endParaRPr lang="en-US" sz="1100" dirty="0"/>
          </a:p>
        </p:txBody>
      </p:sp>
      <p:sp>
        <p:nvSpPr>
          <p:cNvPr id="18" name="Text 15"/>
          <p:cNvSpPr txBox="1"/>
          <p:nvPr/>
        </p:nvSpPr>
        <p:spPr>
          <a:xfrm>
            <a:off x="530352" y="1810512"/>
            <a:ext cx="32644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Skill</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10561320" y="2267712"/>
            <a:ext cx="10972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15</a:t>
            </a:r>
            <a:endParaRPr lang="en-US" sz="1100" dirty="0"/>
          </a:p>
        </p:txBody>
      </p:sp>
      <p:sp>
        <p:nvSpPr>
          <p:cNvPr id="21" name="Text 18"/>
          <p:cNvSpPr txBox="1"/>
          <p:nvPr/>
        </p:nvSpPr>
        <p:spPr>
          <a:xfrm>
            <a:off x="3977640" y="2267712"/>
            <a:ext cx="6400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four short phrases (4) · B: Nour’s introduction (5) · C: six short items (6)</a:t>
            </a:r>
            <a:endParaRPr lang="en-US" sz="1100" dirty="0"/>
          </a:p>
        </p:txBody>
      </p:sp>
      <p:sp>
        <p:nvSpPr>
          <p:cNvPr id="22" name="Text 19"/>
          <p:cNvSpPr txBox="1"/>
          <p:nvPr/>
        </p:nvSpPr>
        <p:spPr>
          <a:xfrm>
            <a:off x="566928" y="2267712"/>
            <a:ext cx="32278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 Listening · </a:t>
            </a:r>
            <a:pPr algn="l" indent="0" marL="0">
              <a:buNone/>
            </a:pPr>
            <a:r>
              <a:rPr lang="ar-SA" altLang="en-US" sz="1450" dirty="0">
                <a:solidFill>
                  <a:srgbClr val="5A6472"/>
                </a:solidFill>
                <a:latin typeface="Amiri" pitchFamily="2" charset="-78"/>
                <a:ea typeface="Amiri" pitchFamily="2" charset="-78"/>
                <a:cs typeface="Amiri" pitchFamily="2" charset="-78"/>
              </a:rPr>
              <a:t>الاِسْتِمَاعُ</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10561320" y="3054096"/>
            <a:ext cx="10972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15</a:t>
            </a:r>
            <a:endParaRPr lang="en-US" sz="1100" dirty="0"/>
          </a:p>
        </p:txBody>
      </p:sp>
      <p:sp>
        <p:nvSpPr>
          <p:cNvPr id="27" name="Text 24"/>
          <p:cNvSpPr txBox="1"/>
          <p:nvPr/>
        </p:nvSpPr>
        <p:spPr>
          <a:xfrm>
            <a:off x="3977640" y="3054096"/>
            <a:ext cx="6400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Karim’s profile (4) · B: match phrases to meanings (5) · C: Salma — true or false (6)</a:t>
            </a:r>
            <a:endParaRPr lang="en-US" sz="1100" dirty="0"/>
          </a:p>
        </p:txBody>
      </p:sp>
      <p:sp>
        <p:nvSpPr>
          <p:cNvPr id="28" name="Text 25"/>
          <p:cNvSpPr txBox="1"/>
          <p:nvPr/>
        </p:nvSpPr>
        <p:spPr>
          <a:xfrm>
            <a:off x="566928" y="3054096"/>
            <a:ext cx="32278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 Reading · </a:t>
            </a:r>
            <a:pPr algn="l" indent="0" marL="0">
              <a:buNone/>
            </a:pPr>
            <a:r>
              <a:rPr lang="ar-SA" altLang="en-US" sz="1450" dirty="0">
                <a:solidFill>
                  <a:srgbClr val="5A6472"/>
                </a:solidFill>
                <a:latin typeface="Amiri" pitchFamily="2" charset="-78"/>
                <a:ea typeface="Amiri" pitchFamily="2" charset="-78"/>
                <a:cs typeface="Amiri" pitchFamily="2" charset="-78"/>
              </a:rPr>
              <a:t>القِرَاءَةُ</a:t>
            </a:r>
            <a:endParaRPr lang="en-US" sz="1100" dirty="0"/>
          </a:p>
        </p:txBody>
      </p:sp>
      <p:sp>
        <p:nvSpPr>
          <p:cNvPr id="29" name="Shape 26"/>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2" name="Text 29"/>
          <p:cNvSpPr txBox="1"/>
          <p:nvPr/>
        </p:nvSpPr>
        <p:spPr>
          <a:xfrm>
            <a:off x="10561320" y="3840480"/>
            <a:ext cx="10972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15</a:t>
            </a:r>
            <a:endParaRPr lang="en-US" sz="1100" dirty="0"/>
          </a:p>
        </p:txBody>
      </p:sp>
      <p:sp>
        <p:nvSpPr>
          <p:cNvPr id="33" name="Text 30"/>
          <p:cNvSpPr txBox="1"/>
          <p:nvPr/>
        </p:nvSpPr>
        <p:spPr>
          <a:xfrm>
            <a:off x="3977640" y="3840480"/>
            <a:ext cx="6400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Warm-up questions (5) · role-play with a new classmate (10)</a:t>
            </a:r>
            <a:endParaRPr lang="en-US" sz="1100" dirty="0"/>
          </a:p>
        </p:txBody>
      </p:sp>
      <p:sp>
        <p:nvSpPr>
          <p:cNvPr id="34" name="Text 31"/>
          <p:cNvSpPr txBox="1"/>
          <p:nvPr/>
        </p:nvSpPr>
        <p:spPr>
          <a:xfrm>
            <a:off x="566928" y="3840480"/>
            <a:ext cx="32278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 Speaking · </a:t>
            </a:r>
            <a:pPr algn="l" indent="0" marL="0">
              <a:buNone/>
            </a:pPr>
            <a:r>
              <a:rPr lang="ar-SA" altLang="en-US" sz="1450" dirty="0">
                <a:solidFill>
                  <a:srgbClr val="5A6472"/>
                </a:solidFill>
                <a:latin typeface="Amiri" pitchFamily="2" charset="-78"/>
                <a:ea typeface="Amiri" pitchFamily="2" charset="-78"/>
                <a:cs typeface="Amiri" pitchFamily="2" charset="-78"/>
              </a:rPr>
              <a:t>التَّحَدُّثُ</a:t>
            </a:r>
            <a:endParaRPr lang="en-US" sz="1100" dirty="0"/>
          </a:p>
        </p:txBody>
      </p:sp>
      <p:sp>
        <p:nvSpPr>
          <p:cNvPr id="35" name="Shape 32"/>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8" name="Text 35"/>
          <p:cNvSpPr txBox="1"/>
          <p:nvPr/>
        </p:nvSpPr>
        <p:spPr>
          <a:xfrm>
            <a:off x="10561320" y="4626864"/>
            <a:ext cx="10972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15</a:t>
            </a:r>
            <a:endParaRPr lang="en-US" sz="1100" dirty="0"/>
          </a:p>
        </p:txBody>
      </p:sp>
      <p:sp>
        <p:nvSpPr>
          <p:cNvPr id="39" name="Text 36"/>
          <p:cNvSpPr txBox="1"/>
          <p:nvPr/>
        </p:nvSpPr>
        <p:spPr>
          <a:xfrm>
            <a:off x="3977640" y="4626864"/>
            <a:ext cx="6400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Form: five fields (5) · a guided introduction of five or six lines (10)</a:t>
            </a:r>
            <a:endParaRPr lang="en-US" sz="1100" dirty="0"/>
          </a:p>
        </p:txBody>
      </p:sp>
      <p:sp>
        <p:nvSpPr>
          <p:cNvPr id="40" name="Text 37"/>
          <p:cNvSpPr txBox="1"/>
          <p:nvPr/>
        </p:nvSpPr>
        <p:spPr>
          <a:xfrm>
            <a:off x="566928" y="4626864"/>
            <a:ext cx="32278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 Writing · </a:t>
            </a:r>
            <a:pPr algn="l" indent="0" marL="0">
              <a:buNone/>
            </a:pPr>
            <a:r>
              <a:rPr lang="ar-SA" altLang="en-US" sz="1450" dirty="0">
                <a:solidFill>
                  <a:srgbClr val="5A6472"/>
                </a:solidFill>
                <a:latin typeface="Amiri" pitchFamily="2" charset="-78"/>
                <a:ea typeface="Amiri" pitchFamily="2" charset="-78"/>
                <a:cs typeface="Amiri" pitchFamily="2" charset="-78"/>
              </a:rPr>
              <a:t>الكِتَابَةُ</a:t>
            </a:r>
            <a:endParaRPr lang="en-US" sz="1100" dirty="0"/>
          </a:p>
        </p:txBody>
      </p:sp>
      <p:sp>
        <p:nvSpPr>
          <p:cNvPr id="41" name="Shape 38"/>
          <p:cNvSpPr/>
          <p:nvPr/>
        </p:nvSpPr>
        <p:spPr>
          <a:xfrm>
            <a:off x="11091672" y="4672584"/>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46725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3" name="Text 4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29</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F2-L12 · F2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6B4C9A"/>
                </a:solidFill>
                <a:latin typeface="Calibri" pitchFamily="34" charset="0"/>
                <a:cs typeface="Amiri" pitchFamily="2" charset="-78"/>
              </a:rPr>
              <a:t>LISTENING · PART A · 4 MARKS · CHOOSE THE PHRASE HEARD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 · Four short phrases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 (أ)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F2-L12</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Item 1: which phrase did you hear?</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صَبَاحُ الخَيْرِ</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مَسَاءُ الخَيْرِ</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إِلَى اللِّقَاءِ</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Item 2: which phrase did you hear?</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عَفْوًا</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نَعَمْ</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شُكْرًا</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Item 3: which phrase did you hear?</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مَعَ السَّلَامَةِ</a:t>
            </a:r>
            <a:endParaRPr lang="ar-SA" sz="20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مِنْ فَضْلِكَ</a:t>
            </a:r>
            <a:endParaRPr lang="ar-SA" sz="20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أَهْلًا وَسَهْلًا</a:t>
            </a:r>
            <a:endParaRPr lang="ar-SA" sz="2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Item 4: which phrase did you hear?</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مَعَ السَّلَامَةِ</a:t>
            </a:r>
            <a:endParaRPr lang="ar-SA" sz="20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صَبَاحُ النُّورِ</a:t>
            </a:r>
            <a:endParaRPr lang="ar-SA" sz="20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مَرْحَبًا</a:t>
            </a:r>
            <a:endParaRPr lang="ar-SA" sz="20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29</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F2-L12 · F2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LISTENING · PART A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 ·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F2-L12</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Item 1: which phrase did you hear?</a:t>
            </a:r>
            <a:endParaRPr lang="en-US" sz="1250" dirty="0"/>
          </a:p>
        </p:txBody>
      </p:sp>
      <p:sp>
        <p:nvSpPr>
          <p:cNvPr id="19" name="Shape 16"/>
          <p:cNvSpPr/>
          <p:nvPr/>
        </p:nvSpPr>
        <p:spPr>
          <a:xfrm>
            <a:off x="548640" y="2453640"/>
            <a:ext cx="5362956"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صَبَاحُ الخَيْرِ</a:t>
            </a:r>
            <a:endParaRPr lang="ar-SA" sz="170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مَسَاءُ الخَيْرِ</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إِلَى اللِّقَاءِ</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speaker says </a:t>
            </a:r>
            <a:pPr algn="l" indent="0" marL="0">
              <a:buNone/>
            </a:pPr>
            <a:r>
              <a:rPr lang="ar-SA" altLang="en-US" sz="1350" dirty="0">
                <a:solidFill>
                  <a:srgbClr val="8A6D1E"/>
                </a:solidFill>
                <a:latin typeface="Amiri" pitchFamily="2" charset="-78"/>
                <a:ea typeface="Amiri" pitchFamily="2" charset="-78"/>
                <a:cs typeface="Amiri" pitchFamily="2" charset="-78"/>
              </a:rPr>
              <a:t>صَبَاحُ الخَيْرِ</a:t>
            </a:r>
            <a:pPr algn="l" indent="0" marL="0">
              <a:buNone/>
            </a:pPr>
            <a:r>
              <a:rPr lang="en-US" sz="1050" i="1" dirty="0">
                <a:solidFill>
                  <a:srgbClr val="8A6D1E"/>
                </a:solidFill>
                <a:latin typeface="Calibri" pitchFamily="34" charset="0"/>
                <a:cs typeface="Amiri" pitchFamily="2" charset="-78"/>
              </a:rPr>
              <a:t> — good morning.</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Item 2: which phrase did you hear?</a:t>
            </a:r>
            <a:endParaRPr lang="en-US" sz="1250" dirty="0"/>
          </a:p>
        </p:txBody>
      </p:sp>
      <p:sp>
        <p:nvSpPr>
          <p:cNvPr id="34" name="Shape 31"/>
          <p:cNvSpPr/>
          <p:nvPr/>
        </p:nvSpPr>
        <p:spPr>
          <a:xfrm>
            <a:off x="6368796"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عَفْوًا</a:t>
            </a:r>
            <a:endParaRPr lang="ar-SA" sz="1700" dirty="0"/>
          </a:p>
        </p:txBody>
      </p:sp>
      <p:sp>
        <p:nvSpPr>
          <p:cNvPr id="37" name="Shape 34"/>
          <p:cNvSpPr/>
          <p:nvPr/>
        </p:nvSpPr>
        <p:spPr>
          <a:xfrm>
            <a:off x="6368796"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نَعَمْ</a:t>
            </a:r>
            <a:endParaRPr lang="ar-SA" sz="1700" dirty="0"/>
          </a:p>
        </p:txBody>
      </p:sp>
      <p:sp>
        <p:nvSpPr>
          <p:cNvPr id="40" name="Shape 37"/>
          <p:cNvSpPr/>
          <p:nvPr/>
        </p:nvSpPr>
        <p:spPr>
          <a:xfrm>
            <a:off x="6277356" y="3197352"/>
            <a:ext cx="5362956"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6368796"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شُكْرًا</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speaker says </a:t>
            </a:r>
            <a:pPr algn="l" indent="0" marL="0">
              <a:buNone/>
            </a:pPr>
            <a:r>
              <a:rPr lang="ar-SA" altLang="en-US" sz="1350" dirty="0">
                <a:solidFill>
                  <a:srgbClr val="8A6D1E"/>
                </a:solidFill>
                <a:latin typeface="Amiri" pitchFamily="2" charset="-78"/>
                <a:ea typeface="Amiri" pitchFamily="2" charset="-78"/>
                <a:cs typeface="Amiri" pitchFamily="2" charset="-78"/>
              </a:rPr>
              <a:t>شُكْرًا</a:t>
            </a:r>
            <a:pPr algn="l" indent="0" marL="0">
              <a:buNone/>
            </a:pPr>
            <a:r>
              <a:rPr lang="en-US" sz="1050" i="1" dirty="0">
                <a:solidFill>
                  <a:srgbClr val="8A6D1E"/>
                </a:solidFill>
                <a:latin typeface="Calibri" pitchFamily="34" charset="0"/>
                <a:cs typeface="Amiri" pitchFamily="2" charset="-78"/>
              </a:rPr>
              <a:t> — thank you.</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Item 3: which phrase did you hear?</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مَعَ السَّلَامَةِ</a:t>
            </a:r>
            <a:endParaRPr lang="ar-SA" sz="1700" dirty="0"/>
          </a:p>
        </p:txBody>
      </p:sp>
      <p:sp>
        <p:nvSpPr>
          <p:cNvPr id="52" name="Shape 49"/>
          <p:cNvSpPr/>
          <p:nvPr/>
        </p:nvSpPr>
        <p:spPr>
          <a:xfrm>
            <a:off x="640080" y="5202936"/>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مِنْ فَضْلِكَ</a:t>
            </a:r>
            <a:endParaRPr lang="ar-SA" sz="1700" dirty="0"/>
          </a:p>
        </p:txBody>
      </p:sp>
      <p:sp>
        <p:nvSpPr>
          <p:cNvPr id="55" name="Shape 52"/>
          <p:cNvSpPr/>
          <p:nvPr/>
        </p:nvSpPr>
        <p:spPr>
          <a:xfrm>
            <a:off x="548640" y="5538216"/>
            <a:ext cx="5362956"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40080" y="5574792"/>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أَهْلًا وَسَهْلًا</a:t>
            </a:r>
            <a:endParaRPr lang="ar-SA" sz="17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speaker says </a:t>
            </a:r>
            <a:pPr algn="l" indent="0" marL="0">
              <a:buNone/>
            </a:pPr>
            <a:r>
              <a:rPr lang="ar-SA" altLang="en-US" sz="1350" dirty="0">
                <a:solidFill>
                  <a:srgbClr val="8A6D1E"/>
                </a:solidFill>
                <a:latin typeface="Amiri" pitchFamily="2" charset="-78"/>
                <a:ea typeface="Amiri" pitchFamily="2" charset="-78"/>
                <a:cs typeface="Amiri" pitchFamily="2" charset="-78"/>
              </a:rPr>
              <a:t>أَهْلًا وَسَهْلًا</a:t>
            </a:r>
            <a:pPr algn="l" indent="0" marL="0">
              <a:buNone/>
            </a:pPr>
            <a:r>
              <a:rPr lang="en-US" sz="1050" i="1" dirty="0">
                <a:solidFill>
                  <a:srgbClr val="8A6D1E"/>
                </a:solidFill>
                <a:latin typeface="Calibri" pitchFamily="34" charset="0"/>
                <a:cs typeface="Amiri" pitchFamily="2" charset="-78"/>
              </a:rPr>
              <a:t> — welcome.</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Item 4: which phrase did you hear?</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مَعَ السَّلَامَةِ</a:t>
            </a:r>
            <a:endParaRPr lang="ar-SA" sz="170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صَبَاحُ النُّورِ</a:t>
            </a:r>
            <a:endParaRPr lang="ar-SA" sz="170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مَرْحَبًا</a:t>
            </a:r>
            <a:endParaRPr lang="ar-SA" sz="170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speaker says </a:t>
            </a:r>
            <a:pPr algn="l" indent="0" marL="0">
              <a:buNone/>
            </a:pPr>
            <a:r>
              <a:rPr lang="ar-SA" altLang="en-US" sz="1350" dirty="0">
                <a:solidFill>
                  <a:srgbClr val="8A6D1E"/>
                </a:solidFill>
                <a:latin typeface="Amiri" pitchFamily="2" charset="-78"/>
                <a:ea typeface="Amiri" pitchFamily="2" charset="-78"/>
                <a:cs typeface="Amiri" pitchFamily="2" charset="-78"/>
              </a:rPr>
              <a:t>مَعَ السَّلَامَةِ</a:t>
            </a:r>
            <a:pPr algn="l" indent="0" marL="0">
              <a:buNone/>
            </a:pPr>
            <a:r>
              <a:rPr lang="en-US" sz="1050" i="1" dirty="0">
                <a:solidFill>
                  <a:srgbClr val="8A6D1E"/>
                </a:solidFill>
                <a:latin typeface="Calibri" pitchFamily="34" charset="0"/>
                <a:cs typeface="Amiri" pitchFamily="2" charset="-78"/>
              </a:rPr>
              <a:t> — goodbye.</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29</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F2-L12 · F2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6B4C9A"/>
                </a:solidFill>
                <a:latin typeface="Calibri" pitchFamily="34" charset="0"/>
                <a:cs typeface="Amiri" pitchFamily="2" charset="-78"/>
              </a:rPr>
              <a:t>LISTENING · PART B · 5 MARKS · NOUR INTRODUCES HERSELF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B · Nour’s introduction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 (ب)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speaker’s name?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سَلْمَى</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مَرْيَمُ</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نُورٌ</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old is she?</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١٣</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١٥</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١٤</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is she from?</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مِصْرُ</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سُورِيَا</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المَغْرِبُ</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does she live?</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حَلَبُ</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القَاهِرَةُ</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الرِّبَاطُ</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greeting opens the introduction?</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مَرْحَبًا</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مَعَ السَّلَامَةِ</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صَبَاحُ النُّورِ</a:t>
            </a:r>
            <a:endParaRPr lang="ar-SA" sz="2050" dirty="0"/>
          </a:p>
        </p:txBody>
      </p:sp>
      <p:sp>
        <p:nvSpPr>
          <p:cNvPr id="80" name="Shape 77"/>
          <p:cNvSpPr/>
          <p:nvPr/>
        </p:nvSpPr>
        <p:spPr>
          <a:xfrm>
            <a:off x="8095488" y="4151376"/>
            <a:ext cx="3636264" cy="2157984"/>
          </a:xfrm>
          <a:prstGeom prst="roundRect">
            <a:avLst>
              <a:gd name="adj" fmla="val 3390"/>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LISTEN TWICE</a:t>
            </a:r>
            <a:endParaRPr lang="en-US" sz="1000" dirty="0"/>
          </a:p>
        </p:txBody>
      </p:sp>
      <p:sp>
        <p:nvSpPr>
          <p:cNvPr id="82" name="Text 79"/>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Listen 1: who and which facts?</a:t>
            </a:r>
            <a:endParaRPr lang="en-US" sz="1250" dirty="0"/>
          </a:p>
          <a:p>
            <a:pPr algn="l" indent="0" marL="0">
              <a:buNone/>
            </a:pPr>
            <a:r>
              <a:rPr lang="en-US" sz="1250" dirty="0">
                <a:solidFill>
                  <a:srgbClr val="1F2A37"/>
                </a:solidFill>
                <a:latin typeface="Calibri" pitchFamily="34" charset="0"/>
                <a:cs typeface="Amiri" pitchFamily="2" charset="-78"/>
              </a:rPr>
              <a:t>Listen 2: the exact details.</a:t>
            </a:r>
            <a:endParaRPr lang="en-US" sz="1250" dirty="0"/>
          </a:p>
          <a:p>
            <a:pPr algn="l" indent="0" marL="0">
              <a:buNone/>
            </a:pPr>
            <a:r>
              <a:rPr lang="en-US" sz="1250" dirty="0">
                <a:solidFill>
                  <a:srgbClr val="1F2A37"/>
                </a:solidFill>
                <a:latin typeface="Calibri" pitchFamily="34" charset="0"/>
                <a:cs typeface="Amiri" pitchFamily="2" charset="-78"/>
              </a:rPr>
              <a:t>Chat: B: 1_ 2_ 3_ 4_ 5_</a:t>
            </a:r>
            <a:endParaRPr lang="en-US" sz="1250" dirty="0"/>
          </a:p>
        </p:txBody>
      </p:sp>
      <p:sp>
        <p:nvSpPr>
          <p:cNvPr id="83" name="Text 8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29</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F2-L12 · F2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LISTENING · PART B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B ·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speaker’s name?</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سَلْمَى</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مَرْيَمُ</a:t>
            </a:r>
            <a:endParaRPr lang="ar-SA" sz="1700" dirty="0"/>
          </a:p>
        </p:txBody>
      </p:sp>
      <p:sp>
        <p:nvSpPr>
          <p:cNvPr id="25" name="Shape 22"/>
          <p:cNvSpPr/>
          <p:nvPr/>
        </p:nvSpPr>
        <p:spPr>
          <a:xfrm>
            <a:off x="548640" y="3197352"/>
            <a:ext cx="3453384"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نُورٌ</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She says </a:t>
            </a:r>
            <a:pPr algn="l" indent="0" marL="0">
              <a:buNone/>
            </a:pPr>
            <a:r>
              <a:rPr lang="ar-SA" altLang="en-US" sz="1350" dirty="0">
                <a:solidFill>
                  <a:srgbClr val="8A6D1E"/>
                </a:solidFill>
                <a:latin typeface="Amiri" pitchFamily="2" charset="-78"/>
                <a:ea typeface="Amiri" pitchFamily="2" charset="-78"/>
                <a:cs typeface="Amiri" pitchFamily="2" charset="-78"/>
              </a:rPr>
              <a:t>اِسْمِي نُورُ</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old is she?</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١٣</a:t>
            </a:r>
            <a:endParaRPr lang="ar-SA" sz="170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١٥</a:t>
            </a:r>
            <a:endParaRPr lang="ar-SA" sz="170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١٤</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She says </a:t>
            </a:r>
            <a:pPr algn="l" indent="0" marL="0">
              <a:buNone/>
            </a:pPr>
            <a:r>
              <a:rPr lang="ar-SA" altLang="en-US" sz="1350" dirty="0">
                <a:solidFill>
                  <a:srgbClr val="8A6D1E"/>
                </a:solidFill>
                <a:latin typeface="Amiri" pitchFamily="2" charset="-78"/>
                <a:ea typeface="Amiri" pitchFamily="2" charset="-78"/>
                <a:cs typeface="Amiri" pitchFamily="2" charset="-78"/>
              </a:rPr>
              <a:t>أَرْبَعَ عَشْرَةَ سَنَةً</a:t>
            </a:r>
            <a:pPr algn="l" indent="0" marL="0">
              <a:buNone/>
            </a:pPr>
            <a:r>
              <a:rPr lang="en-US" sz="1050" i="1" dirty="0">
                <a:solidFill>
                  <a:srgbClr val="8A6D1E"/>
                </a:solidFill>
                <a:latin typeface="Calibri" pitchFamily="34" charset="0"/>
                <a:cs typeface="Amiri" pitchFamily="2" charset="-78"/>
              </a:rPr>
              <a:t> — fourteen years old.</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is she from?</a:t>
            </a:r>
            <a:endParaRPr lang="en-US" sz="1250" dirty="0"/>
          </a:p>
        </p:txBody>
      </p:sp>
      <p:sp>
        <p:nvSpPr>
          <p:cNvPr id="49" name="Shape 46"/>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490216"/>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مِصْرُ</a:t>
            </a:r>
            <a:endParaRPr lang="ar-SA" sz="170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سُورِيَا</a:t>
            </a:r>
            <a:endParaRPr lang="ar-SA" sz="170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المَغْرِبُ</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She says </a:t>
            </a:r>
            <a:pPr algn="l" indent="0" marL="0">
              <a:buNone/>
            </a:pPr>
            <a:r>
              <a:rPr lang="ar-SA" altLang="en-US" sz="1350" dirty="0">
                <a:solidFill>
                  <a:srgbClr val="8A6D1E"/>
                </a:solidFill>
                <a:latin typeface="Amiri" pitchFamily="2" charset="-78"/>
                <a:ea typeface="Amiri" pitchFamily="2" charset="-78"/>
                <a:cs typeface="Amiri" pitchFamily="2" charset="-78"/>
              </a:rPr>
              <a:t>أَنَا مِنْ مِصْرَ</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does she live?</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حَلَبُ</a:t>
            </a:r>
            <a:endParaRPr lang="ar-SA" sz="1700" dirty="0"/>
          </a:p>
        </p:txBody>
      </p:sp>
      <p:sp>
        <p:nvSpPr>
          <p:cNvPr id="67" name="Shape 64"/>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40080" y="5202936"/>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القَاهِرَةُ</a:t>
            </a:r>
            <a:endParaRPr lang="ar-SA" sz="170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الرِّبَاطُ</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She says </a:t>
            </a:r>
            <a:pPr algn="l" indent="0" marL="0">
              <a:buNone/>
            </a:pPr>
            <a:r>
              <a:rPr lang="ar-SA" altLang="en-US" sz="1350" dirty="0">
                <a:solidFill>
                  <a:srgbClr val="8A6D1E"/>
                </a:solidFill>
                <a:latin typeface="Amiri" pitchFamily="2" charset="-78"/>
                <a:ea typeface="Amiri" pitchFamily="2" charset="-78"/>
                <a:cs typeface="Amiri" pitchFamily="2" charset="-78"/>
              </a:rPr>
              <a:t>أَسْكُنُ فِي القَاهِرَةِ</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greeting opens the introduction?</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مَرْحَبًا</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مَعَ السَّلَامَةِ</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صَبَاحُ النُّورِ</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introduction begins with </a:t>
            </a:r>
            <a:pPr algn="l" indent="0" marL="0">
              <a:buNone/>
            </a:pPr>
            <a:r>
              <a:rPr lang="ar-SA" altLang="en-US" sz="1350" dirty="0">
                <a:solidFill>
                  <a:srgbClr val="8A6D1E"/>
                </a:solidFill>
                <a:latin typeface="Amiri" pitchFamily="2" charset="-78"/>
                <a:ea typeface="Amiri" pitchFamily="2" charset="-78"/>
                <a:cs typeface="Amiri" pitchFamily="2" charset="-78"/>
              </a:rPr>
              <a:t>مَرْحَبًا</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90" name="Shape 87"/>
          <p:cNvSpPr/>
          <p:nvPr/>
        </p:nvSpPr>
        <p:spPr>
          <a:xfrm>
            <a:off x="8095488" y="4151376"/>
            <a:ext cx="3636264" cy="2157984"/>
          </a:xfrm>
          <a:prstGeom prst="roundRect">
            <a:avLst>
              <a:gd name="adj" fmla="val 3390"/>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LISTEN TWICE</a:t>
            </a:r>
            <a:endParaRPr lang="en-US" sz="1000" dirty="0"/>
          </a:p>
        </p:txBody>
      </p:sp>
      <p:sp>
        <p:nvSpPr>
          <p:cNvPr id="92" name="Text 89"/>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Listen 1: who and which facts?</a:t>
            </a:r>
            <a:endParaRPr lang="en-US" sz="1250" dirty="0"/>
          </a:p>
          <a:p>
            <a:pPr algn="l" indent="0" marL="0">
              <a:buNone/>
            </a:pPr>
            <a:r>
              <a:rPr lang="en-US" sz="1250" dirty="0">
                <a:solidFill>
                  <a:srgbClr val="1F2A37"/>
                </a:solidFill>
                <a:latin typeface="Calibri" pitchFamily="34" charset="0"/>
                <a:cs typeface="Amiri" pitchFamily="2" charset="-78"/>
              </a:rPr>
              <a:t>Listen 2: the exact details.</a:t>
            </a:r>
            <a:endParaRPr lang="en-US" sz="1250" dirty="0"/>
          </a:p>
          <a:p>
            <a:pPr algn="l" indent="0" marL="0">
              <a:buNone/>
            </a:pPr>
            <a:r>
              <a:rPr lang="en-US" sz="1250" dirty="0">
                <a:solidFill>
                  <a:srgbClr val="1F2A37"/>
                </a:solidFill>
                <a:latin typeface="Calibri" pitchFamily="34" charset="0"/>
                <a:cs typeface="Amiri" pitchFamily="2" charset="-78"/>
              </a:rPr>
              <a:t>Chat: B: 1_ 2_ 3_ 4_ 5_</a:t>
            </a:r>
            <a:endParaRPr lang="en-US" sz="1250" dirty="0"/>
          </a:p>
        </p:txBody>
      </p:sp>
      <p:sp>
        <p:nvSpPr>
          <p:cNvPr id="93" name="Text 9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29</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F2-L12 · F2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6B4C9A"/>
                </a:solidFill>
                <a:latin typeface="Calibri" pitchFamily="34" charset="0"/>
                <a:cs typeface="Amiri" pitchFamily="2" charset="-78"/>
              </a:rPr>
              <a:t>LISTENING · PART C · 6 MARKS · MATCH THE SIX MEANINGS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C · Six short items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 (ج)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Item 1: what does it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Where do you live?</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What is your name?</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Where are you from?</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Item 2: what does it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How old are you?</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How are you?</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What is your nationality?</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Item 3: what does it mean?</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am from London.</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live in London.</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speak English.</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Item 4: what does it mean?</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My name is Omar.</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His name is Omar.</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am Omar’s friend.</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Item 5: what does it mean?</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Please, to a girl.</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You are welcome.</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Please, to a boy.</a:t>
            </a:r>
            <a:endParaRPr lang="en-US" sz="1250" dirty="0"/>
          </a:p>
        </p:txBody>
      </p:sp>
      <p:sp>
        <p:nvSpPr>
          <p:cNvPr id="80" name="Shape 77"/>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223504" y="4288536"/>
            <a:ext cx="310896" cy="310896"/>
          </a:xfrm>
          <a:prstGeom prst="ellipse">
            <a:avLst/>
          </a:prstGeom>
          <a:solidFill>
            <a:srgbClr val="1B3B6F"/>
          </a:solidFill>
          <a:ln w="12700">
            <a:solidFill>
              <a:srgbClr val="1B3B6F"/>
            </a:solidFill>
            <a:prstDash val="solid"/>
          </a:ln>
        </p:spPr>
      </p:sp>
      <p:sp>
        <p:nvSpPr>
          <p:cNvPr id="82" name="Text 79"/>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3" name="Text 80"/>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Item 6: what does it mean?</a:t>
            </a:r>
            <a:endParaRPr lang="en-US" sz="1250" dirty="0"/>
          </a:p>
        </p:txBody>
      </p:sp>
      <p:sp>
        <p:nvSpPr>
          <p:cNvPr id="84" name="Shape 81"/>
          <p:cNvSpPr/>
          <p:nvPr/>
        </p:nvSpPr>
        <p:spPr>
          <a:xfrm>
            <a:off x="8278368" y="4873752"/>
            <a:ext cx="256032" cy="256032"/>
          </a:xfrm>
          <a:prstGeom prst="ellipse">
            <a:avLst/>
          </a:prstGeom>
          <a:solidFill>
            <a:srgbClr val="F4F1EA"/>
          </a:solidFill>
          <a:ln w="12700">
            <a:solidFill>
              <a:srgbClr val="F4F1EA"/>
            </a:solidFill>
            <a:prstDash val="solid"/>
          </a:ln>
        </p:spPr>
      </p:sp>
      <p:sp>
        <p:nvSpPr>
          <p:cNvPr id="85" name="Text 82"/>
          <p:cNvSpPr txBox="1"/>
          <p:nvPr/>
        </p:nvSpPr>
        <p:spPr>
          <a:xfrm>
            <a:off x="827836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6" name="Text 83"/>
          <p:cNvSpPr txBox="1"/>
          <p:nvPr/>
        </p:nvSpPr>
        <p:spPr>
          <a:xfrm>
            <a:off x="8607552"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live in Pakistan.</a:t>
            </a:r>
            <a:endParaRPr lang="en-US" sz="1250" dirty="0"/>
          </a:p>
        </p:txBody>
      </p:sp>
      <p:sp>
        <p:nvSpPr>
          <p:cNvPr id="87" name="Shape 84"/>
          <p:cNvSpPr/>
          <p:nvPr/>
        </p:nvSpPr>
        <p:spPr>
          <a:xfrm>
            <a:off x="8278368" y="5330952"/>
            <a:ext cx="256032" cy="256032"/>
          </a:xfrm>
          <a:prstGeom prst="ellipse">
            <a:avLst/>
          </a:prstGeom>
          <a:solidFill>
            <a:srgbClr val="F4F1EA"/>
          </a:solidFill>
          <a:ln w="12700">
            <a:solidFill>
              <a:srgbClr val="F4F1EA"/>
            </a:solidFill>
            <a:prstDash val="solid"/>
          </a:ln>
        </p:spPr>
      </p:sp>
      <p:sp>
        <p:nvSpPr>
          <p:cNvPr id="88" name="Text 85"/>
          <p:cNvSpPr txBox="1"/>
          <p:nvPr/>
        </p:nvSpPr>
        <p:spPr>
          <a:xfrm>
            <a:off x="827836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9" name="Text 86"/>
          <p:cNvSpPr txBox="1"/>
          <p:nvPr/>
        </p:nvSpPr>
        <p:spPr>
          <a:xfrm>
            <a:off x="8607552"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am from Pakistan.</a:t>
            </a:r>
            <a:endParaRPr lang="en-US" sz="1250" dirty="0"/>
          </a:p>
        </p:txBody>
      </p:sp>
      <p:sp>
        <p:nvSpPr>
          <p:cNvPr id="90" name="Shape 87"/>
          <p:cNvSpPr/>
          <p:nvPr/>
        </p:nvSpPr>
        <p:spPr>
          <a:xfrm>
            <a:off x="8278368" y="5788152"/>
            <a:ext cx="256032" cy="256032"/>
          </a:xfrm>
          <a:prstGeom prst="ellipse">
            <a:avLst/>
          </a:prstGeom>
          <a:solidFill>
            <a:srgbClr val="F4F1EA"/>
          </a:solidFill>
          <a:ln w="12700">
            <a:solidFill>
              <a:srgbClr val="F4F1EA"/>
            </a:solidFill>
            <a:prstDash val="solid"/>
          </a:ln>
        </p:spPr>
      </p:sp>
      <p:sp>
        <p:nvSpPr>
          <p:cNvPr id="91" name="Text 88"/>
          <p:cNvSpPr txBox="1"/>
          <p:nvPr/>
        </p:nvSpPr>
        <p:spPr>
          <a:xfrm>
            <a:off x="827836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2" name="Text 89"/>
          <p:cNvSpPr txBox="1"/>
          <p:nvPr/>
        </p:nvSpPr>
        <p:spPr>
          <a:xfrm>
            <a:off x="8607552"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am Pakistani (female).</a:t>
            </a:r>
            <a:endParaRPr lang="en-US" sz="1250" dirty="0"/>
          </a:p>
        </p:txBody>
      </p:sp>
      <p:sp>
        <p:nvSpPr>
          <p:cNvPr id="93" name="Text 9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29</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F2-L12 · F2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LISTENING · PART C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C ·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Item 1: what does it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Where do you live?</a:t>
            </a:r>
            <a:endParaRPr lang="en-US" sz="125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What is your name?</a:t>
            </a:r>
            <a:endParaRPr lang="en-US" sz="1250" dirty="0"/>
          </a:p>
        </p:txBody>
      </p:sp>
      <p:sp>
        <p:nvSpPr>
          <p:cNvPr id="25" name="Shape 22"/>
          <p:cNvSpPr/>
          <p:nvPr/>
        </p:nvSpPr>
        <p:spPr>
          <a:xfrm>
            <a:off x="548640" y="3197352"/>
            <a:ext cx="3453384"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Where are you from?</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مِنْ أَيْنَ أَنْتَ؟</a:t>
            </a:r>
            <a:pPr algn="l" indent="0" marL="0">
              <a:buNone/>
            </a:pPr>
            <a:r>
              <a:rPr lang="en-US" sz="1050" i="1" dirty="0">
                <a:solidFill>
                  <a:srgbClr val="8A6D1E"/>
                </a:solidFill>
                <a:latin typeface="Calibri" pitchFamily="34" charset="0"/>
                <a:cs typeface="Amiri" pitchFamily="2" charset="-78"/>
              </a:rPr>
              <a:t> asks a boy where he is from.</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Item 2: what does it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How old are you?</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How are you?</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What is your nationality?</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كَمْ عُمْرُكِ؟</a:t>
            </a:r>
            <a:pPr algn="l" indent="0" marL="0">
              <a:buNone/>
            </a:pPr>
            <a:r>
              <a:rPr lang="en-US" sz="1050" i="1" dirty="0">
                <a:solidFill>
                  <a:srgbClr val="8A6D1E"/>
                </a:solidFill>
                <a:latin typeface="Calibri" pitchFamily="34" charset="0"/>
                <a:cs typeface="Amiri" pitchFamily="2" charset="-78"/>
              </a:rPr>
              <a:t> asks a girl her age.</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Item 3: what does it mean?</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 am from London.</a:t>
            </a:r>
            <a:endParaRPr lang="en-US" sz="1250" dirty="0"/>
          </a:p>
        </p:txBody>
      </p:sp>
      <p:sp>
        <p:nvSpPr>
          <p:cNvPr id="52" name="Shape 49"/>
          <p:cNvSpPr/>
          <p:nvPr/>
        </p:nvSpPr>
        <p:spPr>
          <a:xfrm>
            <a:off x="8186928" y="2825496"/>
            <a:ext cx="3453384"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8278368" y="2862072"/>
            <a:ext cx="256032" cy="256032"/>
          </a:xfrm>
          <a:prstGeom prst="ellipse">
            <a:avLst/>
          </a:prstGeom>
          <a:solidFill>
            <a:srgbClr val="2E8B57"/>
          </a:solidFill>
          <a:ln w="12700">
            <a:solidFill>
              <a:srgbClr val="2E8B57"/>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 live in London.</a:t>
            </a:r>
            <a:endParaRPr lang="en-US" sz="125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 speak English.</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أَسْكُنُ فِي لَنْدَنَ</a:t>
            </a:r>
            <a:pPr algn="l" indent="0" marL="0">
              <a:buNone/>
            </a:pPr>
            <a:r>
              <a:rPr lang="en-US" sz="1050" i="1" dirty="0">
                <a:solidFill>
                  <a:srgbClr val="8A6D1E"/>
                </a:solidFill>
                <a:latin typeface="Calibri" pitchFamily="34" charset="0"/>
                <a:cs typeface="Amiri" pitchFamily="2" charset="-78"/>
              </a:rPr>
              <a:t> means ‘I live in London’.</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Item 4: what does it mean?</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My name is Omar.</a:t>
            </a:r>
            <a:endParaRPr lang="en-US" sz="12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His name is Omar.</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 am Omar’s friend.</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اِسْمِي عُمَرُ</a:t>
            </a:r>
            <a:pPr algn="l" indent="0" marL="0">
              <a:buNone/>
            </a:pPr>
            <a:r>
              <a:rPr lang="en-US" sz="1050" i="1" dirty="0">
                <a:solidFill>
                  <a:srgbClr val="8A6D1E"/>
                </a:solidFill>
                <a:latin typeface="Calibri" pitchFamily="34" charset="0"/>
                <a:cs typeface="Amiri" pitchFamily="2" charset="-78"/>
              </a:rPr>
              <a:t> means ‘My name is Omar’.</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Item 5: what does it mean?</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Please, to a girl.</a:t>
            </a:r>
            <a:endParaRPr lang="en-US" sz="1250" dirty="0"/>
          </a:p>
        </p:txBody>
      </p:sp>
      <p:sp>
        <p:nvSpPr>
          <p:cNvPr id="82" name="Shape 79"/>
          <p:cNvSpPr/>
          <p:nvPr/>
        </p:nvSpPr>
        <p:spPr>
          <a:xfrm>
            <a:off x="4459224" y="5202936"/>
            <a:ext cx="256032" cy="256032"/>
          </a:xfrm>
          <a:prstGeom prst="ellipse">
            <a:avLst/>
          </a:prstGeom>
          <a:solidFill>
            <a:srgbClr val="C9CED6"/>
          </a:solidFill>
          <a:ln w="12700">
            <a:solidFill>
              <a:srgbClr val="C9CED6"/>
            </a:solidFill>
            <a:prstDash val="solid"/>
          </a:ln>
        </p:spPr>
      </p:sp>
      <p:sp>
        <p:nvSpPr>
          <p:cNvPr id="83" name="Text 80"/>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4" name="Text 81"/>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You are welcome.</a:t>
            </a:r>
            <a:endParaRPr lang="en-US" sz="1250" dirty="0"/>
          </a:p>
        </p:txBody>
      </p:sp>
      <p:sp>
        <p:nvSpPr>
          <p:cNvPr id="85" name="Shape 82"/>
          <p:cNvSpPr/>
          <p:nvPr/>
        </p:nvSpPr>
        <p:spPr>
          <a:xfrm>
            <a:off x="4367784" y="5538216"/>
            <a:ext cx="3453384" cy="347472"/>
          </a:xfrm>
          <a:prstGeom prst="roundRect">
            <a:avLst>
              <a:gd name="adj" fmla="val 15789"/>
            </a:avLst>
          </a:prstGeom>
          <a:solidFill>
            <a:srgbClr val="E6F4EC"/>
          </a:solidFill>
          <a:ln w="9525">
            <a:solidFill>
              <a:srgbClr val="2E8B57"/>
            </a:solidFill>
            <a:prstDash val="solid"/>
          </a:ln>
        </p:spPr>
      </p:sp>
      <p:sp>
        <p:nvSpPr>
          <p:cNvPr id="86" name="Shape 83"/>
          <p:cNvSpPr/>
          <p:nvPr/>
        </p:nvSpPr>
        <p:spPr>
          <a:xfrm>
            <a:off x="4459224" y="5574792"/>
            <a:ext cx="256032" cy="256032"/>
          </a:xfrm>
          <a:prstGeom prst="ellipse">
            <a:avLst/>
          </a:prstGeom>
          <a:solidFill>
            <a:srgbClr val="2E8B57"/>
          </a:solidFill>
          <a:ln w="12700">
            <a:solidFill>
              <a:srgbClr val="2E8B57"/>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Please, to a boy.</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مِنْ فَضْلِكَ</a:t>
            </a:r>
            <a:pPr algn="l" indent="0" marL="0">
              <a:buNone/>
            </a:pPr>
            <a:r>
              <a:rPr lang="en-US" sz="1050" i="1" dirty="0">
                <a:solidFill>
                  <a:srgbClr val="8A6D1E"/>
                </a:solidFill>
                <a:latin typeface="Calibri" pitchFamily="34" charset="0"/>
                <a:cs typeface="Amiri" pitchFamily="2" charset="-78"/>
              </a:rPr>
              <a:t> is ‘please’ to one male.</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223504" y="4288536"/>
            <a:ext cx="310896" cy="310896"/>
          </a:xfrm>
          <a:prstGeom prst="ellipse">
            <a:avLst/>
          </a:prstGeom>
          <a:solidFill>
            <a:srgbClr val="1B3B6F"/>
          </a:solidFill>
          <a:ln w="12700">
            <a:solidFill>
              <a:srgbClr val="1B3B6F"/>
            </a:solidFill>
            <a:prstDash val="solid"/>
          </a:ln>
        </p:spPr>
      </p:sp>
      <p:sp>
        <p:nvSpPr>
          <p:cNvPr id="92" name="Text 89"/>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3" name="Text 90"/>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Item 6: what does it mean?</a:t>
            </a:r>
            <a:endParaRPr lang="en-US" sz="1250" dirty="0"/>
          </a:p>
        </p:txBody>
      </p:sp>
      <p:sp>
        <p:nvSpPr>
          <p:cNvPr id="94" name="Shape 91"/>
          <p:cNvSpPr/>
          <p:nvPr/>
        </p:nvSpPr>
        <p:spPr>
          <a:xfrm>
            <a:off x="8278368" y="4831080"/>
            <a:ext cx="256032" cy="256032"/>
          </a:xfrm>
          <a:prstGeom prst="ellipse">
            <a:avLst/>
          </a:prstGeom>
          <a:solidFill>
            <a:srgbClr val="C9CED6"/>
          </a:solidFill>
          <a:ln w="12700">
            <a:solidFill>
              <a:srgbClr val="C9CED6"/>
            </a:solidFill>
            <a:prstDash val="solid"/>
          </a:ln>
        </p:spPr>
      </p:sp>
      <p:sp>
        <p:nvSpPr>
          <p:cNvPr id="95" name="Text 92"/>
          <p:cNvSpPr txBox="1"/>
          <p:nvPr/>
        </p:nvSpPr>
        <p:spPr>
          <a:xfrm>
            <a:off x="827836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6" name="Text 93"/>
          <p:cNvSpPr txBox="1"/>
          <p:nvPr/>
        </p:nvSpPr>
        <p:spPr>
          <a:xfrm>
            <a:off x="8607552"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 live in Pakistan.</a:t>
            </a:r>
            <a:endParaRPr lang="en-US" sz="1250" dirty="0"/>
          </a:p>
        </p:txBody>
      </p:sp>
      <p:sp>
        <p:nvSpPr>
          <p:cNvPr id="97" name="Shape 94"/>
          <p:cNvSpPr/>
          <p:nvPr/>
        </p:nvSpPr>
        <p:spPr>
          <a:xfrm>
            <a:off x="8186928" y="5166360"/>
            <a:ext cx="3453384" cy="347472"/>
          </a:xfrm>
          <a:prstGeom prst="roundRect">
            <a:avLst>
              <a:gd name="adj" fmla="val 15789"/>
            </a:avLst>
          </a:prstGeom>
          <a:solidFill>
            <a:srgbClr val="E6F4EC"/>
          </a:solidFill>
          <a:ln w="9525">
            <a:solidFill>
              <a:srgbClr val="2E8B57"/>
            </a:solidFill>
            <a:prstDash val="solid"/>
          </a:ln>
        </p:spPr>
      </p:sp>
      <p:sp>
        <p:nvSpPr>
          <p:cNvPr id="98" name="Shape 95"/>
          <p:cNvSpPr/>
          <p:nvPr/>
        </p:nvSpPr>
        <p:spPr>
          <a:xfrm>
            <a:off x="8278368" y="5202936"/>
            <a:ext cx="256032" cy="256032"/>
          </a:xfrm>
          <a:prstGeom prst="ellipse">
            <a:avLst/>
          </a:prstGeom>
          <a:solidFill>
            <a:srgbClr val="2E8B57"/>
          </a:solidFill>
          <a:ln w="12700">
            <a:solidFill>
              <a:srgbClr val="2E8B57"/>
            </a:solidFill>
            <a:prstDash val="solid"/>
          </a:ln>
        </p:spPr>
      </p:sp>
      <p:sp>
        <p:nvSpPr>
          <p:cNvPr id="99" name="Text 96"/>
          <p:cNvSpPr txBox="1"/>
          <p:nvPr/>
        </p:nvSpPr>
        <p:spPr>
          <a:xfrm>
            <a:off x="8278368"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100" name="Text 97"/>
          <p:cNvSpPr txBox="1"/>
          <p:nvPr/>
        </p:nvSpPr>
        <p:spPr>
          <a:xfrm>
            <a:off x="8607552"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 am from Pakistan.</a:t>
            </a:r>
            <a:endParaRPr lang="en-US" sz="1250" dirty="0"/>
          </a:p>
        </p:txBody>
      </p:sp>
      <p:sp>
        <p:nvSpPr>
          <p:cNvPr id="101" name="Shape 98"/>
          <p:cNvSpPr/>
          <p:nvPr/>
        </p:nvSpPr>
        <p:spPr>
          <a:xfrm>
            <a:off x="8278368" y="5574792"/>
            <a:ext cx="256032" cy="256032"/>
          </a:xfrm>
          <a:prstGeom prst="ellipse">
            <a:avLst/>
          </a:prstGeom>
          <a:solidFill>
            <a:srgbClr val="C9CED6"/>
          </a:solidFill>
          <a:ln w="12700">
            <a:solidFill>
              <a:srgbClr val="C9CED6"/>
            </a:solidFill>
            <a:prstDash val="solid"/>
          </a:ln>
        </p:spPr>
      </p:sp>
      <p:sp>
        <p:nvSpPr>
          <p:cNvPr id="102" name="Text 99"/>
          <p:cNvSpPr txBox="1"/>
          <p:nvPr/>
        </p:nvSpPr>
        <p:spPr>
          <a:xfrm>
            <a:off x="827836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3" name="Text 100"/>
          <p:cNvSpPr txBox="1"/>
          <p:nvPr/>
        </p:nvSpPr>
        <p:spPr>
          <a:xfrm>
            <a:off x="8607552"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 am Pakistani (female).</a:t>
            </a:r>
            <a:endParaRPr lang="en-US" sz="1250" dirty="0"/>
          </a:p>
        </p:txBody>
      </p:sp>
      <p:sp>
        <p:nvSpPr>
          <p:cNvPr id="104" name="Text 101"/>
          <p:cNvSpPr txBox="1"/>
          <p:nvPr/>
        </p:nvSpPr>
        <p:spPr>
          <a:xfrm>
            <a:off x="8223504"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أَنَا مِنْ بَاكِسْتَانَ</a:t>
            </a:r>
            <a:pPr algn="l" indent="0" marL="0">
              <a:buNone/>
            </a:pPr>
            <a:r>
              <a:rPr lang="en-US" sz="1050" i="1" dirty="0">
                <a:solidFill>
                  <a:srgbClr val="8A6D1E"/>
                </a:solidFill>
                <a:latin typeface="Calibri" pitchFamily="34" charset="0"/>
                <a:cs typeface="Amiri" pitchFamily="2" charset="-78"/>
              </a:rPr>
              <a:t> means ‘I am from Pakistan’.</a:t>
            </a:r>
            <a:endParaRPr lang="en-US" sz="1050" dirty="0"/>
          </a:p>
        </p:txBody>
      </p:sp>
      <p:sp>
        <p:nvSpPr>
          <p:cNvPr id="105" name="Text 10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29</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F2-L12 · F2 Assessment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READING · TEXT 1 · KARIM’S PROFILE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 Text 1</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النَّصُّ الأَوَّلُ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F2-L12</a:t>
            </a:r>
            <a:endParaRPr lang="en-US" sz="850" dirty="0"/>
          </a:p>
        </p:txBody>
      </p:sp>
      <p:sp>
        <p:nvSpPr>
          <p:cNvPr id="15" name="Shape 12"/>
          <p:cNvSpPr/>
          <p:nvPr/>
        </p:nvSpPr>
        <p:spPr>
          <a:xfrm>
            <a:off x="457200" y="1810512"/>
            <a:ext cx="112745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65960"/>
            <a:ext cx="10817352" cy="4206240"/>
          </a:xfrm>
          <a:prstGeom prst="rect">
            <a:avLst/>
          </a:prstGeom>
          <a:noFill/>
          <a:ln/>
        </p:spPr>
        <p:txBody>
          <a:bodyPr wrap="square" lIns="0" tIns="0" rIns="0" bIns="0" rtlCol="0" anchor="t"/>
          <a:lstStyle/>
          <a:p>
            <a:pPr rtl="1" algn="r" indent="0" marL="0">
              <a:buNone/>
            </a:pPr>
            <a:r>
              <a:rPr lang="ar-SA" altLang="en-US" sz="2600" dirty="0">
                <a:solidFill>
                  <a:srgbClr val="1F2A37"/>
                </a:solidFill>
                <a:latin typeface="Amiri" pitchFamily="2" charset="-78"/>
                <a:ea typeface="Amiri" pitchFamily="2" charset="-78"/>
                <a:cs typeface="Amiri" pitchFamily="2" charset="-78"/>
              </a:rPr>
              <a:t>أَهْلًا وَسَهْلًا! اِسْمِي كَرِيمٌ. عُمْرِي خَمْسَ عَشْرَةَ سَنَةً. أَنَا مِنْ سُورِيَا، وَأَسْكُنُ فِي حَلَبَ. أَنَا طَالِبٌ.</a:t>
            </a:r>
            <a:endParaRPr lang="ar-SA" sz="2600" dirty="0"/>
          </a:p>
        </p:txBody>
      </p:sp>
      <p:sp>
        <p:nvSpPr>
          <p:cNvPr id="17" name="Text 1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29</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F2-L12 · F2 Assessment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READING · PART A · 4 MARKS · PROFILE COMPREHENSION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 · Karim’s profile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القِرَاءَةُ (أ)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person’s name?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كَرِيمٌ</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عُمَرُ</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طَارِقٌ</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old is he?</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١٣</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١٥</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١٤</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is he from?</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سُورِيَا</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مِصْرُ</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المَغْرِبُ</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does he live?</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القَاهِرَةُ</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لَنْدَنُ</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حَلَبُ</a:t>
            </a:r>
            <a:endParaRPr lang="ar-SA" sz="2050" dirty="0"/>
          </a:p>
        </p:txBody>
      </p:sp>
      <p:sp>
        <p:nvSpPr>
          <p:cNvPr id="67" name="Shape 64"/>
          <p:cNvSpPr/>
          <p:nvPr/>
        </p:nvSpPr>
        <p:spPr>
          <a:xfrm>
            <a:off x="4276344" y="4151376"/>
            <a:ext cx="3636264" cy="2157984"/>
          </a:xfrm>
          <a:prstGeom prst="roundRect">
            <a:avLst>
              <a:gd name="adj" fmla="val 3390"/>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8" name="Text 65"/>
          <p:cNvSpPr txBox="1"/>
          <p:nvPr/>
        </p:nvSpPr>
        <p:spPr>
          <a:xfrm>
            <a:off x="4459224"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TEXT 1</a:t>
            </a:r>
            <a:endParaRPr lang="en-US" sz="1000" dirty="0"/>
          </a:p>
        </p:txBody>
      </p:sp>
      <p:sp>
        <p:nvSpPr>
          <p:cNvPr id="69" name="Text 66"/>
          <p:cNvSpPr txBox="1"/>
          <p:nvPr/>
        </p:nvSpPr>
        <p:spPr>
          <a:xfrm>
            <a:off x="4459224" y="4590288"/>
            <a:ext cx="3270504" cy="1609344"/>
          </a:xfrm>
          <a:prstGeom prst="rect">
            <a:avLst/>
          </a:prstGeom>
          <a:noFill/>
          <a:ln/>
        </p:spPr>
        <p:txBody>
          <a:bodyPr wrap="square" lIns="0" tIns="0" rIns="0" bIns="0" rtlCol="0" anchor="t"/>
          <a:lstStyle/>
          <a:p>
            <a:pPr rtl="1" algn="r" indent="0" marL="0">
              <a:lnSpc>
                <a:spcPct val="120000"/>
              </a:lnSpc>
              <a:buNone/>
            </a:pPr>
            <a:r>
              <a:rPr lang="ar-SA" altLang="en-US" sz="1250" b="1" dirty="0">
                <a:solidFill>
                  <a:srgbClr val="1F2A37"/>
                </a:solidFill>
                <a:latin typeface="Amiri" pitchFamily="2" charset="-78"/>
                <a:ea typeface="Amiri" pitchFamily="2" charset="-78"/>
                <a:cs typeface="Amiri" pitchFamily="2" charset="-78"/>
              </a:rPr>
              <a:t>أَهْلًا وَسَهْلًا! اِسْمِي كَرِيمٌ. عُمْرِي خَمْسَ عَشْرَةَ سَنَةً. أَنَا مِنْ سُورِيَا، وَأَسْكُنُ فِي حَلَبَ. أَنَا طَالِبٌ.</a:t>
            </a:r>
            <a:endParaRPr lang="ar-SA" sz="12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29</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F2-L12 · F2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READING · PART A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 ·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person’s name?</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كَرِيمٌ</a:t>
            </a:r>
            <a:endParaRPr lang="ar-SA" sz="170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عُمَرُ</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طَارِقٌ</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text says </a:t>
            </a:r>
            <a:pPr algn="l" indent="0" marL="0">
              <a:buNone/>
            </a:pPr>
            <a:r>
              <a:rPr lang="ar-SA" altLang="en-US" sz="1350" dirty="0">
                <a:solidFill>
                  <a:srgbClr val="8A6D1E"/>
                </a:solidFill>
                <a:latin typeface="Amiri" pitchFamily="2" charset="-78"/>
                <a:ea typeface="Amiri" pitchFamily="2" charset="-78"/>
                <a:cs typeface="Amiri" pitchFamily="2" charset="-78"/>
              </a:rPr>
              <a:t>اِسْمِي كَرِيمٌ</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old is he?</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١٣</a:t>
            </a:r>
            <a:endParaRPr lang="ar-SA" sz="1700" dirty="0"/>
          </a:p>
        </p:txBody>
      </p:sp>
      <p:sp>
        <p:nvSpPr>
          <p:cNvPr id="37" name="Shape 34"/>
          <p:cNvSpPr/>
          <p:nvPr/>
        </p:nvSpPr>
        <p:spPr>
          <a:xfrm>
            <a:off x="4367784" y="2825496"/>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862072"/>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١٥</a:t>
            </a:r>
            <a:endParaRPr lang="ar-SA" sz="170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١٤</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خَمْسَ عَشْرَةَ سَنَةً</a:t>
            </a:r>
            <a:pPr algn="l" indent="0" marL="0">
              <a:buNone/>
            </a:pPr>
            <a:r>
              <a:rPr lang="en-US" sz="1050" i="1" dirty="0">
                <a:solidFill>
                  <a:srgbClr val="8A6D1E"/>
                </a:solidFill>
                <a:latin typeface="Calibri" pitchFamily="34" charset="0"/>
                <a:cs typeface="Amiri" pitchFamily="2" charset="-78"/>
              </a:rPr>
              <a:t> means fifteen years old.</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is he from?</a:t>
            </a:r>
            <a:endParaRPr lang="en-US" sz="1250" dirty="0"/>
          </a:p>
        </p:txBody>
      </p:sp>
      <p:sp>
        <p:nvSpPr>
          <p:cNvPr id="49" name="Shape 46"/>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490216"/>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سُورِيَا</a:t>
            </a:r>
            <a:endParaRPr lang="ar-SA" sz="170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مِصْرُ</a:t>
            </a:r>
            <a:endParaRPr lang="ar-SA" sz="170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المَغْرِبُ</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He says </a:t>
            </a:r>
            <a:pPr algn="l" indent="0" marL="0">
              <a:buNone/>
            </a:pPr>
            <a:r>
              <a:rPr lang="ar-SA" altLang="en-US" sz="1350" dirty="0">
                <a:solidFill>
                  <a:srgbClr val="8A6D1E"/>
                </a:solidFill>
                <a:latin typeface="Amiri" pitchFamily="2" charset="-78"/>
                <a:ea typeface="Amiri" pitchFamily="2" charset="-78"/>
                <a:cs typeface="Amiri" pitchFamily="2" charset="-78"/>
              </a:rPr>
              <a:t>أَنَا مِنْ سُورِيَا</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does he live?</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القَاهِرَةُ</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لَنْدَنُ</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حَلَبُ</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He says </a:t>
            </a:r>
            <a:pPr algn="l" indent="0" marL="0">
              <a:buNone/>
            </a:pPr>
            <a:r>
              <a:rPr lang="ar-SA" altLang="en-US" sz="1350" dirty="0">
                <a:solidFill>
                  <a:srgbClr val="8A6D1E"/>
                </a:solidFill>
                <a:latin typeface="Amiri" pitchFamily="2" charset="-78"/>
                <a:ea typeface="Amiri" pitchFamily="2" charset="-78"/>
                <a:cs typeface="Amiri" pitchFamily="2" charset="-78"/>
              </a:rPr>
              <a:t>أَسْكُنُ فِي حَلَبَ</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5" name="Shape 72"/>
          <p:cNvSpPr/>
          <p:nvPr/>
        </p:nvSpPr>
        <p:spPr>
          <a:xfrm>
            <a:off x="4276344" y="4151376"/>
            <a:ext cx="3636264" cy="2157984"/>
          </a:xfrm>
          <a:prstGeom prst="roundRect">
            <a:avLst>
              <a:gd name="adj" fmla="val 3390"/>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76" name="Text 73"/>
          <p:cNvSpPr txBox="1"/>
          <p:nvPr/>
        </p:nvSpPr>
        <p:spPr>
          <a:xfrm>
            <a:off x="4459224"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TEXT 1</a:t>
            </a:r>
            <a:endParaRPr lang="en-US" sz="1000" dirty="0"/>
          </a:p>
        </p:txBody>
      </p:sp>
      <p:sp>
        <p:nvSpPr>
          <p:cNvPr id="77" name="Text 74"/>
          <p:cNvSpPr txBox="1"/>
          <p:nvPr/>
        </p:nvSpPr>
        <p:spPr>
          <a:xfrm>
            <a:off x="4459224" y="4590288"/>
            <a:ext cx="3270504" cy="1609344"/>
          </a:xfrm>
          <a:prstGeom prst="rect">
            <a:avLst/>
          </a:prstGeom>
          <a:noFill/>
          <a:ln/>
        </p:spPr>
        <p:txBody>
          <a:bodyPr wrap="square" lIns="0" tIns="0" rIns="0" bIns="0" rtlCol="0" anchor="t"/>
          <a:lstStyle/>
          <a:p>
            <a:pPr rtl="1" algn="r" indent="0" marL="0">
              <a:lnSpc>
                <a:spcPct val="120000"/>
              </a:lnSpc>
              <a:buNone/>
            </a:pPr>
            <a:r>
              <a:rPr lang="ar-SA" altLang="en-US" sz="1250" b="1" dirty="0">
                <a:solidFill>
                  <a:srgbClr val="1F2A37"/>
                </a:solidFill>
                <a:latin typeface="Amiri" pitchFamily="2" charset="-78"/>
                <a:ea typeface="Amiri" pitchFamily="2" charset="-78"/>
                <a:cs typeface="Amiri" pitchFamily="2" charset="-78"/>
              </a:rPr>
              <a:t>أَهْلًا وَسَهْلًا! اِسْمِي كَرِيمٌ. عُمْرِي خَمْسَ عَشْرَةَ سَنَةً. أَنَا مِنْ سُورِيَا، وَأَسْكُنُ فِي حَلَبَ. أَنَا طَالِبٌ.</a:t>
            </a:r>
            <a:endParaRPr lang="ar-SA" sz="12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29</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F2-L12 · F2 Assessment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READING · PART B · 5 MARKS · MATCH PHRASES TO MEANINGS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B · What does it mean?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القِرَاءَةُ (ب)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meaning.</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How old are you? (to a girl)</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What is your name? (to a girl)</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Where do you live?</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meaning.</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How old are you? (to a boy)</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What is your name? (to a boy)</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Where are you from?</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meaning.</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Where are you from?</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Which language do you speak?</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Where do you live? (to a boy)</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meaning.</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Thank you</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You are welcome</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Good evening</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meaning.</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Welcome</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See you / goodbye</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Please</a:t>
            </a:r>
            <a:endParaRPr lang="en-US" sz="1250" dirty="0"/>
          </a:p>
        </p:txBody>
      </p:sp>
      <p:sp>
        <p:nvSpPr>
          <p:cNvPr id="80" name="Shape 77"/>
          <p:cNvSpPr/>
          <p:nvPr/>
        </p:nvSpPr>
        <p:spPr>
          <a:xfrm>
            <a:off x="8095488" y="4151376"/>
            <a:ext cx="3636264" cy="2157984"/>
          </a:xfrm>
          <a:prstGeom prst="roundRect">
            <a:avLst>
              <a:gd name="adj" fmla="val 3390"/>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READING B</a:t>
            </a:r>
            <a:endParaRPr lang="en-US" sz="1000" dirty="0"/>
          </a:p>
        </p:txBody>
      </p:sp>
      <p:sp>
        <p:nvSpPr>
          <p:cNvPr id="82" name="Text 79"/>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at the ending: -ka (boy) or -ki (girl).</a:t>
            </a:r>
            <a:endParaRPr lang="en-US" sz="1250" dirty="0"/>
          </a:p>
          <a:p>
            <a:pPr algn="l" indent="0" marL="0">
              <a:buNone/>
            </a:pPr>
            <a:r>
              <a:rPr lang="en-US" sz="1250" dirty="0">
                <a:solidFill>
                  <a:srgbClr val="1F2A37"/>
                </a:solidFill>
                <a:latin typeface="Calibri" pitchFamily="34" charset="0"/>
                <a:cs typeface="Amiri" pitchFamily="2" charset="-78"/>
              </a:rPr>
              <a:t>Chat: B: 1_ 2_ 3_ 4_ 5_</a:t>
            </a:r>
            <a:endParaRPr lang="en-US" sz="1250" dirty="0"/>
          </a:p>
        </p:txBody>
      </p:sp>
      <p:sp>
        <p:nvSpPr>
          <p:cNvPr id="83" name="Text 8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29</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F2-L12 · F2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READING · PART B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B ·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meaning.</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How old are you? (to a girl)</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What is your name? (to a girl)</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Where do you live?</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مَا</a:t>
            </a:r>
            <a:pPr algn="l" indent="0" marL="0">
              <a:buNone/>
            </a:pPr>
            <a:r>
              <a:rPr lang="en-US" sz="1050" i="1" dirty="0">
                <a:solidFill>
                  <a:srgbClr val="8A6D1E"/>
                </a:solidFill>
                <a:latin typeface="Calibri" pitchFamily="34" charset="0"/>
                <a:cs typeface="Amiri" pitchFamily="2" charset="-78"/>
              </a:rPr>
              <a:t> asks ‘what’, and final </a:t>
            </a:r>
            <a:pPr algn="l" indent="0" marL="0">
              <a:buNone/>
            </a:pPr>
            <a:r>
              <a:rPr lang="ar-SA" altLang="en-US" sz="1350" dirty="0">
                <a:solidFill>
                  <a:srgbClr val="8A6D1E"/>
                </a:solidFill>
                <a:latin typeface="Amiri" pitchFamily="2" charset="-78"/>
                <a:ea typeface="Amiri" pitchFamily="2" charset="-78"/>
                <a:cs typeface="Amiri" pitchFamily="2" charset="-78"/>
              </a:rPr>
              <a:t>ـكِ</a:t>
            </a:r>
            <a:pPr algn="l" indent="0" marL="0">
              <a:buNone/>
            </a:pPr>
            <a:r>
              <a:rPr lang="en-US" sz="1050" i="1" dirty="0">
                <a:solidFill>
                  <a:srgbClr val="8A6D1E"/>
                </a:solidFill>
                <a:latin typeface="Calibri" pitchFamily="34" charset="0"/>
                <a:cs typeface="Amiri" pitchFamily="2" charset="-78"/>
              </a:rPr>
              <a:t> addresses a girl.</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meaning.</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How old are you? (to a boy)</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What is your name? (to a boy)</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Where are you from?</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كَمْ عُمْرُكَ؟</a:t>
            </a:r>
            <a:pPr algn="l" indent="0" marL="0">
              <a:buNone/>
            </a:pPr>
            <a:r>
              <a:rPr lang="en-US" sz="1050" i="1" dirty="0">
                <a:solidFill>
                  <a:srgbClr val="8A6D1E"/>
                </a:solidFill>
                <a:latin typeface="Calibri" pitchFamily="34" charset="0"/>
                <a:cs typeface="Amiri" pitchFamily="2" charset="-78"/>
              </a:rPr>
              <a:t> asks one male his age.</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meaning.</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Where are you from?</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Which language do you speak?</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Where do you live? (to a boy)</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أَيْنَ تَسْكُنُ؟</a:t>
            </a:r>
            <a:pPr algn="l" indent="0" marL="0">
              <a:buNone/>
            </a:pPr>
            <a:r>
              <a:rPr lang="en-US" sz="1050" i="1" dirty="0">
                <a:solidFill>
                  <a:srgbClr val="8A6D1E"/>
                </a:solidFill>
                <a:latin typeface="Calibri" pitchFamily="34" charset="0"/>
                <a:cs typeface="Amiri" pitchFamily="2" charset="-78"/>
              </a:rPr>
              <a:t> asks one male where he lives.</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meaning.</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Thank you</a:t>
            </a:r>
            <a:endParaRPr lang="en-US" sz="1250" dirty="0"/>
          </a:p>
        </p:txBody>
      </p:sp>
      <p:sp>
        <p:nvSpPr>
          <p:cNvPr id="67" name="Shape 64"/>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40080" y="5202936"/>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You are welcome</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Good evening</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عَفْوًا</a:t>
            </a:r>
            <a:pPr algn="l" indent="0" marL="0">
              <a:buNone/>
            </a:pPr>
            <a:r>
              <a:rPr lang="en-US" sz="1050" i="1" dirty="0">
                <a:solidFill>
                  <a:srgbClr val="8A6D1E"/>
                </a:solidFill>
                <a:latin typeface="Calibri" pitchFamily="34" charset="0"/>
                <a:cs typeface="Amiri" pitchFamily="2" charset="-78"/>
              </a:rPr>
              <a:t> can be the reply ‘you are welcome’.</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meaning.</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Welcome</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See you / goodbye</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Please</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إِلَى اللِّقَاءِ</a:t>
            </a:r>
            <a:pPr algn="l" indent="0" marL="0">
              <a:buNone/>
            </a:pPr>
            <a:r>
              <a:rPr lang="en-US" sz="1050" i="1" dirty="0">
                <a:solidFill>
                  <a:srgbClr val="8A6D1E"/>
                </a:solidFill>
                <a:latin typeface="Calibri" pitchFamily="34" charset="0"/>
                <a:cs typeface="Amiri" pitchFamily="2" charset="-78"/>
              </a:rPr>
              <a:t> is a farewell meaning ‘until we meet’.</a:t>
            </a:r>
            <a:endParaRPr lang="en-US" sz="1050" dirty="0"/>
          </a:p>
        </p:txBody>
      </p:sp>
      <p:sp>
        <p:nvSpPr>
          <p:cNvPr id="90" name="Shape 87"/>
          <p:cNvSpPr/>
          <p:nvPr/>
        </p:nvSpPr>
        <p:spPr>
          <a:xfrm>
            <a:off x="8095488" y="4151376"/>
            <a:ext cx="3636264" cy="2157984"/>
          </a:xfrm>
          <a:prstGeom prst="roundRect">
            <a:avLst>
              <a:gd name="adj" fmla="val 3390"/>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READING B</a:t>
            </a:r>
            <a:endParaRPr lang="en-US" sz="1000" dirty="0"/>
          </a:p>
        </p:txBody>
      </p:sp>
      <p:sp>
        <p:nvSpPr>
          <p:cNvPr id="92" name="Text 89"/>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at the ending: -ka (boy) or -ki (girl).</a:t>
            </a:r>
            <a:endParaRPr lang="en-US" sz="1250" dirty="0"/>
          </a:p>
          <a:p>
            <a:pPr algn="l" indent="0" marL="0">
              <a:buNone/>
            </a:pPr>
            <a:r>
              <a:rPr lang="en-US" sz="1250" dirty="0">
                <a:solidFill>
                  <a:srgbClr val="1F2A37"/>
                </a:solidFill>
                <a:latin typeface="Calibri" pitchFamily="34" charset="0"/>
                <a:cs typeface="Amiri" pitchFamily="2" charset="-78"/>
              </a:rPr>
              <a:t>Chat: B: 1_ 2_ 3_ 4_ 5_</a:t>
            </a:r>
            <a:endParaRPr lang="en-US" sz="1250" dirty="0"/>
          </a:p>
        </p:txBody>
      </p:sp>
      <p:sp>
        <p:nvSpPr>
          <p:cNvPr id="93" name="Text 9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29</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F2-L12 · F2 Assessment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83" b="1" spc="150" kern="0" dirty="0">
                <a:solidFill>
                  <a:srgbClr val="2F6FB0"/>
                </a:solidFill>
                <a:latin typeface="Calibri" pitchFamily="34" charset="0"/>
                <a:cs typeface="Amiri" pitchFamily="2" charset="-78"/>
              </a:rPr>
              <a:t>READING · TEXT 3 · SALMA’S PROFILE (WEBSITE) · KEEP ON SCREEN FOR PART C</a:t>
            </a:r>
            <a:endParaRPr lang="en-US" sz="983"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 Text 3</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النَّصُّ الثَّالِثُ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F2-L12</a:t>
            </a:r>
            <a:endParaRPr lang="en-US" sz="850" dirty="0"/>
          </a:p>
        </p:txBody>
      </p:sp>
      <p:sp>
        <p:nvSpPr>
          <p:cNvPr id="15" name="Shape 12"/>
          <p:cNvSpPr/>
          <p:nvPr/>
        </p:nvSpPr>
        <p:spPr>
          <a:xfrm>
            <a:off x="457200" y="1810512"/>
            <a:ext cx="112745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65960"/>
            <a:ext cx="10817352" cy="4206240"/>
          </a:xfrm>
          <a:prstGeom prst="rect">
            <a:avLst/>
          </a:prstGeom>
          <a:noFill/>
          <a:ln/>
        </p:spPr>
        <p:txBody>
          <a:bodyPr wrap="square" lIns="0" tIns="0" rIns="0" bIns="0" rtlCol="0" anchor="t"/>
          <a:lstStyle/>
          <a:p>
            <a:pPr rtl="1" algn="r" indent="0" marL="0">
              <a:buNone/>
            </a:pPr>
            <a:r>
              <a:rPr lang="ar-SA" altLang="en-US" sz="2600" dirty="0">
                <a:solidFill>
                  <a:srgbClr val="1F2A37"/>
                </a:solidFill>
                <a:latin typeface="Amiri" pitchFamily="2" charset="-78"/>
                <a:ea typeface="Amiri" pitchFamily="2" charset="-78"/>
                <a:cs typeface="Amiri" pitchFamily="2" charset="-78"/>
              </a:rPr>
              <a:t>اِسْمُهَا سَلْمَى. هِيَ مِنَ المَغْرِبِ، وَتَسْكُنُ فِي الرِّبَاطِ. عُمْرُهَا ثَلَاثَ عَشْرَةَ سَنَةً. هِيَ طَالِبَةٌ.</a:t>
            </a:r>
            <a:endParaRPr lang="ar-SA" sz="2600" dirty="0"/>
          </a:p>
        </p:txBody>
      </p:sp>
      <p:sp>
        <p:nvSpPr>
          <p:cNvPr id="17" name="Text 1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29</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F2-L12 · F2 Assessment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READING · PART C · 6 MARKS · SALMA’S PROFILE · TRUE OR FALSE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C · True or false?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القِرَاءَةُ (ج)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F2-L12</a:t>
            </a:r>
            <a:endParaRPr lang="en-US" sz="850" dirty="0"/>
          </a:p>
        </p:txBody>
      </p:sp>
      <p:sp>
        <p:nvSpPr>
          <p:cNvPr id="15" name="Shape 12"/>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Her name is Salma.</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False</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True</a:t>
            </a:r>
            <a:endParaRPr lang="en-US" sz="1250" dirty="0"/>
          </a:p>
        </p:txBody>
      </p:sp>
      <p:sp>
        <p:nvSpPr>
          <p:cNvPr id="25" name="Shape 22"/>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3449574" y="1947672"/>
            <a:ext cx="310896" cy="310896"/>
          </a:xfrm>
          <a:prstGeom prst="ellipse">
            <a:avLst/>
          </a:prstGeom>
          <a:solidFill>
            <a:srgbClr val="1B3B6F"/>
          </a:solidFill>
          <a:ln w="12700">
            <a:solidFill>
              <a:srgbClr val="1B3B6F"/>
            </a:solidFill>
            <a:prstDash val="solid"/>
          </a:ln>
        </p:spPr>
      </p:sp>
      <p:sp>
        <p:nvSpPr>
          <p:cNvPr id="27" name="Text 24"/>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28" name="Text 25"/>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She is from Egypt.</a:t>
            </a:r>
            <a:endParaRPr lang="en-US" sz="1250" dirty="0"/>
          </a:p>
        </p:txBody>
      </p:sp>
      <p:sp>
        <p:nvSpPr>
          <p:cNvPr id="29" name="Shape 26"/>
          <p:cNvSpPr/>
          <p:nvPr/>
        </p:nvSpPr>
        <p:spPr>
          <a:xfrm>
            <a:off x="3504438" y="2532888"/>
            <a:ext cx="256032" cy="256032"/>
          </a:xfrm>
          <a:prstGeom prst="ellipse">
            <a:avLst/>
          </a:prstGeom>
          <a:solidFill>
            <a:srgbClr val="F4F1EA"/>
          </a:solidFill>
          <a:ln w="12700">
            <a:solidFill>
              <a:srgbClr val="F4F1EA"/>
            </a:solidFill>
            <a:prstDash val="solid"/>
          </a:ln>
        </p:spPr>
      </p:sp>
      <p:sp>
        <p:nvSpPr>
          <p:cNvPr id="30" name="Text 27"/>
          <p:cNvSpPr txBox="1"/>
          <p:nvPr/>
        </p:nvSpPr>
        <p:spPr>
          <a:xfrm>
            <a:off x="350443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1" name="Text 28"/>
          <p:cNvSpPr txBox="1"/>
          <p:nvPr/>
        </p:nvSpPr>
        <p:spPr>
          <a:xfrm>
            <a:off x="3833622"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False</a:t>
            </a:r>
            <a:endParaRPr lang="en-US" sz="1250" dirty="0"/>
          </a:p>
        </p:txBody>
      </p:sp>
      <p:sp>
        <p:nvSpPr>
          <p:cNvPr id="32" name="Shape 29"/>
          <p:cNvSpPr/>
          <p:nvPr/>
        </p:nvSpPr>
        <p:spPr>
          <a:xfrm>
            <a:off x="3504438" y="29900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350443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4" name="Text 31"/>
          <p:cNvSpPr txBox="1"/>
          <p:nvPr/>
        </p:nvSpPr>
        <p:spPr>
          <a:xfrm>
            <a:off x="3833622"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True</a:t>
            </a:r>
            <a:endParaRPr lang="en-US" sz="1250" dirty="0"/>
          </a:p>
        </p:txBody>
      </p:sp>
      <p:sp>
        <p:nvSpPr>
          <p:cNvPr id="35" name="Shape 32"/>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313932" y="1947672"/>
            <a:ext cx="310896" cy="310896"/>
          </a:xfrm>
          <a:prstGeom prst="ellipse">
            <a:avLst/>
          </a:prstGeom>
          <a:solidFill>
            <a:srgbClr val="1B3B6F"/>
          </a:solidFill>
          <a:ln w="12700">
            <a:solidFill>
              <a:srgbClr val="1B3B6F"/>
            </a:solidFill>
            <a:prstDash val="solid"/>
          </a:ln>
        </p:spPr>
      </p:sp>
      <p:sp>
        <p:nvSpPr>
          <p:cNvPr id="37" name="Text 34"/>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38" name="Text 35"/>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She lives in Rabat.</a:t>
            </a:r>
            <a:endParaRPr lang="en-US" sz="1250" dirty="0"/>
          </a:p>
        </p:txBody>
      </p:sp>
      <p:sp>
        <p:nvSpPr>
          <p:cNvPr id="39" name="Shape 36"/>
          <p:cNvSpPr/>
          <p:nvPr/>
        </p:nvSpPr>
        <p:spPr>
          <a:xfrm>
            <a:off x="6368796" y="2532888"/>
            <a:ext cx="256032" cy="256032"/>
          </a:xfrm>
          <a:prstGeom prst="ellipse">
            <a:avLst/>
          </a:prstGeom>
          <a:solidFill>
            <a:srgbClr val="F4F1EA"/>
          </a:solidFill>
          <a:ln w="12700">
            <a:solidFill>
              <a:srgbClr val="F4F1EA"/>
            </a:solidFill>
            <a:prstDash val="solid"/>
          </a:ln>
        </p:spPr>
      </p:sp>
      <p:sp>
        <p:nvSpPr>
          <p:cNvPr id="40" name="Text 37"/>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1" name="Text 38"/>
          <p:cNvSpPr txBox="1"/>
          <p:nvPr/>
        </p:nvSpPr>
        <p:spPr>
          <a:xfrm>
            <a:off x="6697980"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False</a:t>
            </a:r>
            <a:endParaRPr lang="en-US" sz="1250" dirty="0"/>
          </a:p>
        </p:txBody>
      </p:sp>
      <p:sp>
        <p:nvSpPr>
          <p:cNvPr id="42" name="Shape 39"/>
          <p:cNvSpPr/>
          <p:nvPr/>
        </p:nvSpPr>
        <p:spPr>
          <a:xfrm>
            <a:off x="6368796" y="2990088"/>
            <a:ext cx="256032" cy="256032"/>
          </a:xfrm>
          <a:prstGeom prst="ellipse">
            <a:avLst/>
          </a:prstGeom>
          <a:solidFill>
            <a:srgbClr val="F4F1EA"/>
          </a:solidFill>
          <a:ln w="12700">
            <a:solidFill>
              <a:srgbClr val="F4F1EA"/>
            </a:solidFill>
            <a:prstDash val="solid"/>
          </a:ln>
        </p:spPr>
      </p:sp>
      <p:sp>
        <p:nvSpPr>
          <p:cNvPr id="43" name="Text 40"/>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4" name="Text 41"/>
          <p:cNvSpPr txBox="1"/>
          <p:nvPr/>
        </p:nvSpPr>
        <p:spPr>
          <a:xfrm>
            <a:off x="6697980"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True</a:t>
            </a:r>
            <a:endParaRPr lang="en-US" sz="1250" dirty="0"/>
          </a:p>
        </p:txBody>
      </p:sp>
      <p:sp>
        <p:nvSpPr>
          <p:cNvPr id="45" name="Shape 42"/>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9178290"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48" name="Text 45"/>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She is fourteen years old.</a:t>
            </a:r>
            <a:endParaRPr lang="en-US" sz="1250" dirty="0"/>
          </a:p>
        </p:txBody>
      </p:sp>
      <p:sp>
        <p:nvSpPr>
          <p:cNvPr id="49" name="Shape 46"/>
          <p:cNvSpPr/>
          <p:nvPr/>
        </p:nvSpPr>
        <p:spPr>
          <a:xfrm>
            <a:off x="9233154" y="2532888"/>
            <a:ext cx="256032" cy="256032"/>
          </a:xfrm>
          <a:prstGeom prst="ellipse">
            <a:avLst/>
          </a:prstGeom>
          <a:solidFill>
            <a:srgbClr val="F4F1EA"/>
          </a:solidFill>
          <a:ln w="12700">
            <a:solidFill>
              <a:srgbClr val="F4F1EA"/>
            </a:solidFill>
            <a:prstDash val="solid"/>
          </a:ln>
        </p:spPr>
      </p:sp>
      <p:sp>
        <p:nvSpPr>
          <p:cNvPr id="50" name="Text 47"/>
          <p:cNvSpPr txBox="1"/>
          <p:nvPr/>
        </p:nvSpPr>
        <p:spPr>
          <a:xfrm>
            <a:off x="923315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562338"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False</a:t>
            </a:r>
            <a:endParaRPr lang="en-US" sz="1250" dirty="0"/>
          </a:p>
        </p:txBody>
      </p:sp>
      <p:sp>
        <p:nvSpPr>
          <p:cNvPr id="52" name="Shape 49"/>
          <p:cNvSpPr/>
          <p:nvPr/>
        </p:nvSpPr>
        <p:spPr>
          <a:xfrm>
            <a:off x="9233154" y="2990088"/>
            <a:ext cx="256032" cy="256032"/>
          </a:xfrm>
          <a:prstGeom prst="ellipse">
            <a:avLst/>
          </a:prstGeom>
          <a:solidFill>
            <a:srgbClr val="F4F1EA"/>
          </a:solidFill>
          <a:ln w="12700">
            <a:solidFill>
              <a:srgbClr val="F4F1EA"/>
            </a:solidFill>
            <a:prstDash val="solid"/>
          </a:ln>
        </p:spPr>
      </p:sp>
      <p:sp>
        <p:nvSpPr>
          <p:cNvPr id="53" name="Text 50"/>
          <p:cNvSpPr txBox="1"/>
          <p:nvPr/>
        </p:nvSpPr>
        <p:spPr>
          <a:xfrm>
            <a:off x="923315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9562338"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True</a:t>
            </a:r>
            <a:endParaRPr lang="en-US" sz="1250" dirty="0"/>
          </a:p>
        </p:txBody>
      </p:sp>
      <p:sp>
        <p:nvSpPr>
          <p:cNvPr id="55" name="Shape 52"/>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585216" y="4288536"/>
            <a:ext cx="310896" cy="310896"/>
          </a:xfrm>
          <a:prstGeom prst="ellipse">
            <a:avLst/>
          </a:prstGeom>
          <a:solidFill>
            <a:srgbClr val="1B3B6F"/>
          </a:solidFill>
          <a:ln w="12700">
            <a:solidFill>
              <a:srgbClr val="1B3B6F"/>
            </a:solidFill>
            <a:prstDash val="solid"/>
          </a:ln>
        </p:spPr>
      </p:sp>
      <p:sp>
        <p:nvSpPr>
          <p:cNvPr id="57" name="Text 5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58" name="Text 55"/>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She is a student.</a:t>
            </a:r>
            <a:endParaRPr lang="en-US" sz="1250" dirty="0"/>
          </a:p>
        </p:txBody>
      </p:sp>
      <p:sp>
        <p:nvSpPr>
          <p:cNvPr id="59" name="Shape 56"/>
          <p:cNvSpPr/>
          <p:nvPr/>
        </p:nvSpPr>
        <p:spPr>
          <a:xfrm>
            <a:off x="640080" y="4873752"/>
            <a:ext cx="256032" cy="256032"/>
          </a:xfrm>
          <a:prstGeom prst="ellipse">
            <a:avLst/>
          </a:prstGeom>
          <a:solidFill>
            <a:srgbClr val="F4F1EA"/>
          </a:solidFill>
          <a:ln w="12700">
            <a:solidFill>
              <a:srgbClr val="F4F1EA"/>
            </a:solidFill>
            <a:prstDash val="solid"/>
          </a:ln>
        </p:spPr>
      </p:sp>
      <p:sp>
        <p:nvSpPr>
          <p:cNvPr id="60" name="Text 57"/>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1" name="Text 58"/>
          <p:cNvSpPr txBox="1"/>
          <p:nvPr/>
        </p:nvSpPr>
        <p:spPr>
          <a:xfrm>
            <a:off x="969264"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False</a:t>
            </a:r>
            <a:endParaRPr lang="en-US" sz="1250" dirty="0"/>
          </a:p>
        </p:txBody>
      </p:sp>
      <p:sp>
        <p:nvSpPr>
          <p:cNvPr id="62" name="Shape 59"/>
          <p:cNvSpPr/>
          <p:nvPr/>
        </p:nvSpPr>
        <p:spPr>
          <a:xfrm>
            <a:off x="640080" y="53309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4" name="Text 61"/>
          <p:cNvSpPr txBox="1"/>
          <p:nvPr/>
        </p:nvSpPr>
        <p:spPr>
          <a:xfrm>
            <a:off x="969264"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True</a:t>
            </a:r>
            <a:endParaRPr lang="en-US" sz="1250" dirty="0"/>
          </a:p>
        </p:txBody>
      </p:sp>
      <p:sp>
        <p:nvSpPr>
          <p:cNvPr id="65" name="Shape 62"/>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6" name="Shape 63"/>
          <p:cNvSpPr/>
          <p:nvPr/>
        </p:nvSpPr>
        <p:spPr>
          <a:xfrm>
            <a:off x="3449574" y="4288536"/>
            <a:ext cx="310896" cy="310896"/>
          </a:xfrm>
          <a:prstGeom prst="ellipse">
            <a:avLst/>
          </a:prstGeom>
          <a:solidFill>
            <a:srgbClr val="1B3B6F"/>
          </a:solidFill>
          <a:ln w="12700">
            <a:solidFill>
              <a:srgbClr val="1B3B6F"/>
            </a:solidFill>
            <a:prstDash val="solid"/>
          </a:ln>
        </p:spPr>
      </p:sp>
      <p:sp>
        <p:nvSpPr>
          <p:cNvPr id="67" name="Text 64"/>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68" name="Text 65"/>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The text is about a boy.</a:t>
            </a:r>
            <a:endParaRPr lang="en-US" sz="1250" dirty="0"/>
          </a:p>
        </p:txBody>
      </p:sp>
      <p:sp>
        <p:nvSpPr>
          <p:cNvPr id="69" name="Shape 66"/>
          <p:cNvSpPr/>
          <p:nvPr/>
        </p:nvSpPr>
        <p:spPr>
          <a:xfrm>
            <a:off x="3504438" y="4873752"/>
            <a:ext cx="256032" cy="256032"/>
          </a:xfrm>
          <a:prstGeom prst="ellipse">
            <a:avLst/>
          </a:prstGeom>
          <a:solidFill>
            <a:srgbClr val="F4F1EA"/>
          </a:solidFill>
          <a:ln w="12700">
            <a:solidFill>
              <a:srgbClr val="F4F1EA"/>
            </a:solidFill>
            <a:prstDash val="solid"/>
          </a:ln>
        </p:spPr>
      </p:sp>
      <p:sp>
        <p:nvSpPr>
          <p:cNvPr id="70" name="Text 67"/>
          <p:cNvSpPr txBox="1"/>
          <p:nvPr/>
        </p:nvSpPr>
        <p:spPr>
          <a:xfrm>
            <a:off x="350443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1" name="Text 68"/>
          <p:cNvSpPr txBox="1"/>
          <p:nvPr/>
        </p:nvSpPr>
        <p:spPr>
          <a:xfrm>
            <a:off x="3833622"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False</a:t>
            </a:r>
            <a:endParaRPr lang="en-US" sz="1250" dirty="0"/>
          </a:p>
        </p:txBody>
      </p:sp>
      <p:sp>
        <p:nvSpPr>
          <p:cNvPr id="72" name="Shape 69"/>
          <p:cNvSpPr/>
          <p:nvPr/>
        </p:nvSpPr>
        <p:spPr>
          <a:xfrm>
            <a:off x="3504438" y="5330952"/>
            <a:ext cx="256032" cy="256032"/>
          </a:xfrm>
          <a:prstGeom prst="ellipse">
            <a:avLst/>
          </a:prstGeom>
          <a:solidFill>
            <a:srgbClr val="F4F1EA"/>
          </a:solidFill>
          <a:ln w="12700">
            <a:solidFill>
              <a:srgbClr val="F4F1EA"/>
            </a:solidFill>
            <a:prstDash val="solid"/>
          </a:ln>
        </p:spPr>
      </p:sp>
      <p:sp>
        <p:nvSpPr>
          <p:cNvPr id="73" name="Text 70"/>
          <p:cNvSpPr txBox="1"/>
          <p:nvPr/>
        </p:nvSpPr>
        <p:spPr>
          <a:xfrm>
            <a:off x="350443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4" name="Text 71"/>
          <p:cNvSpPr txBox="1"/>
          <p:nvPr/>
        </p:nvSpPr>
        <p:spPr>
          <a:xfrm>
            <a:off x="3833622"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True</a:t>
            </a:r>
            <a:endParaRPr lang="en-US" sz="1250" dirty="0"/>
          </a:p>
        </p:txBody>
      </p:sp>
      <p:sp>
        <p:nvSpPr>
          <p:cNvPr id="75" name="Shape 72"/>
          <p:cNvSpPr/>
          <p:nvPr/>
        </p:nvSpPr>
        <p:spPr>
          <a:xfrm>
            <a:off x="6185916" y="4151376"/>
            <a:ext cx="2681478" cy="2157984"/>
          </a:xfrm>
          <a:prstGeom prst="roundRect">
            <a:avLst>
              <a:gd name="adj" fmla="val 3390"/>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76" name="Text 73"/>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TEXT 3</a:t>
            </a:r>
            <a:endParaRPr lang="en-US" sz="1000" dirty="0"/>
          </a:p>
        </p:txBody>
      </p:sp>
      <p:sp>
        <p:nvSpPr>
          <p:cNvPr id="77" name="Text 74"/>
          <p:cNvSpPr txBox="1"/>
          <p:nvPr/>
        </p:nvSpPr>
        <p:spPr>
          <a:xfrm>
            <a:off x="6368796" y="4590288"/>
            <a:ext cx="2315718" cy="1609344"/>
          </a:xfrm>
          <a:prstGeom prst="rect">
            <a:avLst/>
          </a:prstGeom>
          <a:noFill/>
          <a:ln/>
        </p:spPr>
        <p:txBody>
          <a:bodyPr wrap="square" lIns="0" tIns="0" rIns="0" bIns="0" rtlCol="0" anchor="t"/>
          <a:lstStyle/>
          <a:p>
            <a:pPr rtl="1" algn="r" indent="0" marL="0">
              <a:lnSpc>
                <a:spcPct val="120000"/>
              </a:lnSpc>
              <a:buNone/>
            </a:pPr>
            <a:r>
              <a:rPr lang="ar-SA" altLang="en-US" sz="1250" b="1" dirty="0">
                <a:solidFill>
                  <a:srgbClr val="1F2A37"/>
                </a:solidFill>
                <a:latin typeface="Amiri" pitchFamily="2" charset="-78"/>
                <a:ea typeface="Amiri" pitchFamily="2" charset="-78"/>
                <a:cs typeface="Amiri" pitchFamily="2" charset="-78"/>
              </a:rPr>
              <a:t>اِسْمُهَا سَلْمَى. هِيَ مِنَ المَغْرِبِ، وَتَسْكُنُ فِي الرِّبَاطِ. عُمْرُهَا ثَلَاثَ عَشْرَةَ سَنَةً. هِيَ طَالِبَةٌ.</a:t>
            </a:r>
            <a:endParaRPr lang="ar-SA" sz="12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29</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F2-L12 · F2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READING · PART C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C ·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F2-L12</a:t>
            </a:r>
            <a:endParaRPr lang="en-US" sz="850" dirty="0"/>
          </a:p>
        </p:txBody>
      </p:sp>
      <p:sp>
        <p:nvSpPr>
          <p:cNvPr id="15" name="Shape 12"/>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Her name is Salma.</a:t>
            </a:r>
            <a:endParaRPr lang="en-US" sz="1250" dirty="0"/>
          </a:p>
        </p:txBody>
      </p:sp>
      <p:sp>
        <p:nvSpPr>
          <p:cNvPr id="19" name="Shape 16"/>
          <p:cNvSpPr/>
          <p:nvPr/>
        </p:nvSpPr>
        <p:spPr>
          <a:xfrm>
            <a:off x="640080" y="2532888"/>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023110"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False</a:t>
            </a:r>
            <a:endParaRPr lang="en-US" sz="1250" dirty="0"/>
          </a:p>
        </p:txBody>
      </p:sp>
      <p:sp>
        <p:nvSpPr>
          <p:cNvPr id="22" name="Shape 19"/>
          <p:cNvSpPr/>
          <p:nvPr/>
        </p:nvSpPr>
        <p:spPr>
          <a:xfrm>
            <a:off x="548640" y="2953512"/>
            <a:ext cx="2498598"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990088"/>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89504"/>
            <a:ext cx="2023110"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True</a:t>
            </a:r>
            <a:endParaRPr lang="en-US" sz="1250" dirty="0"/>
          </a:p>
        </p:txBody>
      </p:sp>
      <p:sp>
        <p:nvSpPr>
          <p:cNvPr id="26" name="Text 23"/>
          <p:cNvSpPr txBox="1"/>
          <p:nvPr/>
        </p:nvSpPr>
        <p:spPr>
          <a:xfrm>
            <a:off x="585216" y="3566160"/>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text begins </a:t>
            </a:r>
            <a:pPr algn="l" indent="0" marL="0">
              <a:buNone/>
            </a:pPr>
            <a:r>
              <a:rPr lang="ar-SA" altLang="en-US" sz="1350" dirty="0">
                <a:solidFill>
                  <a:srgbClr val="8A6D1E"/>
                </a:solidFill>
                <a:latin typeface="Amiri" pitchFamily="2" charset="-78"/>
                <a:ea typeface="Amiri" pitchFamily="2" charset="-78"/>
                <a:cs typeface="Amiri" pitchFamily="2" charset="-78"/>
              </a:rPr>
              <a:t>اِسْمُهَا سَلْمَى</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27" name="Shape 24"/>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3449574" y="1947672"/>
            <a:ext cx="310896" cy="310896"/>
          </a:xfrm>
          <a:prstGeom prst="ellipse">
            <a:avLst/>
          </a:prstGeom>
          <a:solidFill>
            <a:srgbClr val="1B3B6F"/>
          </a:solidFill>
          <a:ln w="12700">
            <a:solidFill>
              <a:srgbClr val="1B3B6F"/>
            </a:solidFill>
            <a:prstDash val="solid"/>
          </a:ln>
        </p:spPr>
      </p:sp>
      <p:sp>
        <p:nvSpPr>
          <p:cNvPr id="29" name="Text 26"/>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0" name="Text 27"/>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She is from Egypt.</a:t>
            </a:r>
            <a:endParaRPr lang="en-US" sz="1250" dirty="0"/>
          </a:p>
        </p:txBody>
      </p:sp>
      <p:sp>
        <p:nvSpPr>
          <p:cNvPr id="31" name="Shape 28"/>
          <p:cNvSpPr/>
          <p:nvPr/>
        </p:nvSpPr>
        <p:spPr>
          <a:xfrm>
            <a:off x="3412998" y="2496312"/>
            <a:ext cx="2498598" cy="347472"/>
          </a:xfrm>
          <a:prstGeom prst="roundRect">
            <a:avLst>
              <a:gd name="adj" fmla="val 15789"/>
            </a:avLst>
          </a:prstGeom>
          <a:solidFill>
            <a:srgbClr val="E6F4EC"/>
          </a:solidFill>
          <a:ln w="9525">
            <a:solidFill>
              <a:srgbClr val="2E8B57"/>
            </a:solidFill>
            <a:prstDash val="solid"/>
          </a:ln>
        </p:spPr>
      </p:sp>
      <p:sp>
        <p:nvSpPr>
          <p:cNvPr id="32" name="Shape 29"/>
          <p:cNvSpPr/>
          <p:nvPr/>
        </p:nvSpPr>
        <p:spPr>
          <a:xfrm>
            <a:off x="3504438" y="2532888"/>
            <a:ext cx="256032" cy="256032"/>
          </a:xfrm>
          <a:prstGeom prst="ellipse">
            <a:avLst/>
          </a:prstGeom>
          <a:solidFill>
            <a:srgbClr val="2E8B57"/>
          </a:solidFill>
          <a:ln w="12700">
            <a:solidFill>
              <a:srgbClr val="2E8B57"/>
            </a:solidFill>
            <a:prstDash val="solid"/>
          </a:ln>
        </p:spPr>
      </p:sp>
      <p:sp>
        <p:nvSpPr>
          <p:cNvPr id="33" name="Text 30"/>
          <p:cNvSpPr txBox="1"/>
          <p:nvPr/>
        </p:nvSpPr>
        <p:spPr>
          <a:xfrm>
            <a:off x="350443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4" name="Text 31"/>
          <p:cNvSpPr txBox="1"/>
          <p:nvPr/>
        </p:nvSpPr>
        <p:spPr>
          <a:xfrm>
            <a:off x="3833622" y="2432304"/>
            <a:ext cx="2023110"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False</a:t>
            </a:r>
            <a:endParaRPr lang="en-US" sz="1250" dirty="0"/>
          </a:p>
        </p:txBody>
      </p:sp>
      <p:sp>
        <p:nvSpPr>
          <p:cNvPr id="35" name="Shape 32"/>
          <p:cNvSpPr/>
          <p:nvPr/>
        </p:nvSpPr>
        <p:spPr>
          <a:xfrm>
            <a:off x="3504438" y="2990088"/>
            <a:ext cx="256032" cy="256032"/>
          </a:xfrm>
          <a:prstGeom prst="ellipse">
            <a:avLst/>
          </a:prstGeom>
          <a:solidFill>
            <a:srgbClr val="C9CED6"/>
          </a:solidFill>
          <a:ln w="12700">
            <a:solidFill>
              <a:srgbClr val="C9CED6"/>
            </a:solidFill>
            <a:prstDash val="solid"/>
          </a:ln>
        </p:spPr>
      </p:sp>
      <p:sp>
        <p:nvSpPr>
          <p:cNvPr id="36" name="Text 33"/>
          <p:cNvSpPr txBox="1"/>
          <p:nvPr/>
        </p:nvSpPr>
        <p:spPr>
          <a:xfrm>
            <a:off x="350443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3833622" y="2889504"/>
            <a:ext cx="2023110"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True</a:t>
            </a:r>
            <a:endParaRPr lang="en-US" sz="1250" dirty="0"/>
          </a:p>
        </p:txBody>
      </p:sp>
      <p:sp>
        <p:nvSpPr>
          <p:cNvPr id="38" name="Text 35"/>
          <p:cNvSpPr txBox="1"/>
          <p:nvPr/>
        </p:nvSpPr>
        <p:spPr>
          <a:xfrm>
            <a:off x="3449574" y="3566160"/>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She is from Morocco: </a:t>
            </a:r>
            <a:pPr algn="l" indent="0" marL="0">
              <a:buNone/>
            </a:pPr>
            <a:r>
              <a:rPr lang="ar-SA" altLang="en-US" sz="1350" dirty="0">
                <a:solidFill>
                  <a:srgbClr val="8A6D1E"/>
                </a:solidFill>
                <a:latin typeface="Amiri" pitchFamily="2" charset="-78"/>
                <a:ea typeface="Amiri" pitchFamily="2" charset="-78"/>
                <a:cs typeface="Amiri" pitchFamily="2" charset="-78"/>
              </a:rPr>
              <a:t>هِيَ مِنَ المَغْرِبِ</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9" name="Shape 36"/>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6313932" y="1947672"/>
            <a:ext cx="310896" cy="310896"/>
          </a:xfrm>
          <a:prstGeom prst="ellipse">
            <a:avLst/>
          </a:prstGeom>
          <a:solidFill>
            <a:srgbClr val="1B3B6F"/>
          </a:solidFill>
          <a:ln w="12700">
            <a:solidFill>
              <a:srgbClr val="1B3B6F"/>
            </a:solidFill>
            <a:prstDash val="solid"/>
          </a:ln>
        </p:spPr>
      </p:sp>
      <p:sp>
        <p:nvSpPr>
          <p:cNvPr id="41" name="Text 38"/>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2" name="Text 39"/>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She lives in Rabat.</a:t>
            </a:r>
            <a:endParaRPr lang="en-US" sz="1250" dirty="0"/>
          </a:p>
        </p:txBody>
      </p:sp>
      <p:sp>
        <p:nvSpPr>
          <p:cNvPr id="43" name="Shape 40"/>
          <p:cNvSpPr/>
          <p:nvPr/>
        </p:nvSpPr>
        <p:spPr>
          <a:xfrm>
            <a:off x="6368796" y="253288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5" name="Text 42"/>
          <p:cNvSpPr txBox="1"/>
          <p:nvPr/>
        </p:nvSpPr>
        <p:spPr>
          <a:xfrm>
            <a:off x="6697980" y="2432304"/>
            <a:ext cx="2023110"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False</a:t>
            </a:r>
            <a:endParaRPr lang="en-US" sz="1250" dirty="0"/>
          </a:p>
        </p:txBody>
      </p:sp>
      <p:sp>
        <p:nvSpPr>
          <p:cNvPr id="46" name="Shape 43"/>
          <p:cNvSpPr/>
          <p:nvPr/>
        </p:nvSpPr>
        <p:spPr>
          <a:xfrm>
            <a:off x="6277356" y="2953512"/>
            <a:ext cx="2498598" cy="347472"/>
          </a:xfrm>
          <a:prstGeom prst="roundRect">
            <a:avLst>
              <a:gd name="adj" fmla="val 15789"/>
            </a:avLst>
          </a:prstGeom>
          <a:solidFill>
            <a:srgbClr val="E6F4EC"/>
          </a:solidFill>
          <a:ln w="9525">
            <a:solidFill>
              <a:srgbClr val="2E8B57"/>
            </a:solidFill>
            <a:prstDash val="solid"/>
          </a:ln>
        </p:spPr>
      </p:sp>
      <p:sp>
        <p:nvSpPr>
          <p:cNvPr id="47" name="Shape 44"/>
          <p:cNvSpPr/>
          <p:nvPr/>
        </p:nvSpPr>
        <p:spPr>
          <a:xfrm>
            <a:off x="6368796" y="2990088"/>
            <a:ext cx="256032" cy="256032"/>
          </a:xfrm>
          <a:prstGeom prst="ellipse">
            <a:avLst/>
          </a:prstGeom>
          <a:solidFill>
            <a:srgbClr val="2E8B57"/>
          </a:solidFill>
          <a:ln w="12700">
            <a:solidFill>
              <a:srgbClr val="2E8B57"/>
            </a:solidFill>
            <a:prstDash val="solid"/>
          </a:ln>
        </p:spPr>
      </p:sp>
      <p:sp>
        <p:nvSpPr>
          <p:cNvPr id="48" name="Text 4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9" name="Text 46"/>
          <p:cNvSpPr txBox="1"/>
          <p:nvPr/>
        </p:nvSpPr>
        <p:spPr>
          <a:xfrm>
            <a:off x="6697980" y="2889504"/>
            <a:ext cx="2023110"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True</a:t>
            </a:r>
            <a:endParaRPr lang="en-US" sz="1250" dirty="0"/>
          </a:p>
        </p:txBody>
      </p:sp>
      <p:sp>
        <p:nvSpPr>
          <p:cNvPr id="50" name="Text 47"/>
          <p:cNvSpPr txBox="1"/>
          <p:nvPr/>
        </p:nvSpPr>
        <p:spPr>
          <a:xfrm>
            <a:off x="6313932" y="3566160"/>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text says </a:t>
            </a:r>
            <a:pPr algn="l" indent="0" marL="0">
              <a:buNone/>
            </a:pPr>
            <a:r>
              <a:rPr lang="ar-SA" altLang="en-US" sz="1350" dirty="0">
                <a:solidFill>
                  <a:srgbClr val="8A6D1E"/>
                </a:solidFill>
                <a:latin typeface="Amiri" pitchFamily="2" charset="-78"/>
                <a:ea typeface="Amiri" pitchFamily="2" charset="-78"/>
                <a:cs typeface="Amiri" pitchFamily="2" charset="-78"/>
              </a:rPr>
              <a:t>وَتَسْكُنُ فِي الرِّبَاطِ</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51" name="Shape 48"/>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9178290" y="1947672"/>
            <a:ext cx="310896" cy="310896"/>
          </a:xfrm>
          <a:prstGeom prst="ellipse">
            <a:avLst/>
          </a:prstGeom>
          <a:solidFill>
            <a:srgbClr val="1B3B6F"/>
          </a:solidFill>
          <a:ln w="12700">
            <a:solidFill>
              <a:srgbClr val="1B3B6F"/>
            </a:solidFill>
            <a:prstDash val="solid"/>
          </a:ln>
        </p:spPr>
      </p:sp>
      <p:sp>
        <p:nvSpPr>
          <p:cNvPr id="53" name="Text 50"/>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4" name="Text 51"/>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She is fourteen years old.</a:t>
            </a:r>
            <a:endParaRPr lang="en-US" sz="1250" dirty="0"/>
          </a:p>
        </p:txBody>
      </p:sp>
      <p:sp>
        <p:nvSpPr>
          <p:cNvPr id="55" name="Shape 52"/>
          <p:cNvSpPr/>
          <p:nvPr/>
        </p:nvSpPr>
        <p:spPr>
          <a:xfrm>
            <a:off x="9141714" y="2496312"/>
            <a:ext cx="2498598"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9233154" y="253288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9233154"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8" name="Text 55"/>
          <p:cNvSpPr txBox="1"/>
          <p:nvPr/>
        </p:nvSpPr>
        <p:spPr>
          <a:xfrm>
            <a:off x="9562338" y="2432304"/>
            <a:ext cx="2023110"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False</a:t>
            </a:r>
            <a:endParaRPr lang="en-US" sz="1250" dirty="0"/>
          </a:p>
        </p:txBody>
      </p:sp>
      <p:sp>
        <p:nvSpPr>
          <p:cNvPr id="59" name="Shape 56"/>
          <p:cNvSpPr/>
          <p:nvPr/>
        </p:nvSpPr>
        <p:spPr>
          <a:xfrm>
            <a:off x="9233154" y="2990088"/>
            <a:ext cx="256032" cy="256032"/>
          </a:xfrm>
          <a:prstGeom prst="ellipse">
            <a:avLst/>
          </a:prstGeom>
          <a:solidFill>
            <a:srgbClr val="C9CED6"/>
          </a:solidFill>
          <a:ln w="12700">
            <a:solidFill>
              <a:srgbClr val="C9CED6"/>
            </a:solidFill>
            <a:prstDash val="solid"/>
          </a:ln>
        </p:spPr>
      </p:sp>
      <p:sp>
        <p:nvSpPr>
          <p:cNvPr id="60" name="Text 57"/>
          <p:cNvSpPr txBox="1"/>
          <p:nvPr/>
        </p:nvSpPr>
        <p:spPr>
          <a:xfrm>
            <a:off x="923315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1" name="Text 58"/>
          <p:cNvSpPr txBox="1"/>
          <p:nvPr/>
        </p:nvSpPr>
        <p:spPr>
          <a:xfrm>
            <a:off x="9562338" y="2889504"/>
            <a:ext cx="2023110"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True</a:t>
            </a:r>
            <a:endParaRPr lang="en-US" sz="1250" dirty="0"/>
          </a:p>
        </p:txBody>
      </p:sp>
      <p:sp>
        <p:nvSpPr>
          <p:cNvPr id="62" name="Text 59"/>
          <p:cNvSpPr txBox="1"/>
          <p:nvPr/>
        </p:nvSpPr>
        <p:spPr>
          <a:xfrm>
            <a:off x="9178290" y="3566160"/>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She is thirteen: </a:t>
            </a:r>
            <a:pPr algn="l" indent="0" marL="0">
              <a:buNone/>
            </a:pPr>
            <a:r>
              <a:rPr lang="ar-SA" altLang="en-US" sz="1350" dirty="0">
                <a:solidFill>
                  <a:srgbClr val="8A6D1E"/>
                </a:solidFill>
                <a:latin typeface="Amiri" pitchFamily="2" charset="-78"/>
                <a:ea typeface="Amiri" pitchFamily="2" charset="-78"/>
                <a:cs typeface="Amiri" pitchFamily="2" charset="-78"/>
              </a:rPr>
              <a:t>ثَلَاثَ عَشْرَةَ سَنَةً</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3" name="Shape 60"/>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585216" y="4288536"/>
            <a:ext cx="310896" cy="310896"/>
          </a:xfrm>
          <a:prstGeom prst="ellipse">
            <a:avLst/>
          </a:prstGeom>
          <a:solidFill>
            <a:srgbClr val="1B3B6F"/>
          </a:solidFill>
          <a:ln w="12700">
            <a:solidFill>
              <a:srgbClr val="1B3B6F"/>
            </a:solidFill>
            <a:prstDash val="solid"/>
          </a:ln>
        </p:spPr>
      </p:sp>
      <p:sp>
        <p:nvSpPr>
          <p:cNvPr id="65" name="Text 6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66" name="Text 63"/>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She is a student.</a:t>
            </a:r>
            <a:endParaRPr lang="en-US" sz="1250" dirty="0"/>
          </a:p>
        </p:txBody>
      </p:sp>
      <p:sp>
        <p:nvSpPr>
          <p:cNvPr id="67" name="Shape 64"/>
          <p:cNvSpPr/>
          <p:nvPr/>
        </p:nvSpPr>
        <p:spPr>
          <a:xfrm>
            <a:off x="640080" y="4873752"/>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9" name="Text 66"/>
          <p:cNvSpPr txBox="1"/>
          <p:nvPr/>
        </p:nvSpPr>
        <p:spPr>
          <a:xfrm>
            <a:off x="969264" y="4773168"/>
            <a:ext cx="2023110"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False</a:t>
            </a:r>
            <a:endParaRPr lang="en-US" sz="1250" dirty="0"/>
          </a:p>
        </p:txBody>
      </p:sp>
      <p:sp>
        <p:nvSpPr>
          <p:cNvPr id="70" name="Shape 67"/>
          <p:cNvSpPr/>
          <p:nvPr/>
        </p:nvSpPr>
        <p:spPr>
          <a:xfrm>
            <a:off x="548640" y="5294376"/>
            <a:ext cx="2498598"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33095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3" name="Text 70"/>
          <p:cNvSpPr txBox="1"/>
          <p:nvPr/>
        </p:nvSpPr>
        <p:spPr>
          <a:xfrm>
            <a:off x="969264" y="5230368"/>
            <a:ext cx="2023110"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True</a:t>
            </a:r>
            <a:endParaRPr lang="en-US" sz="1250" dirty="0"/>
          </a:p>
        </p:txBody>
      </p:sp>
      <p:sp>
        <p:nvSpPr>
          <p:cNvPr id="74" name="Text 71"/>
          <p:cNvSpPr txBox="1"/>
          <p:nvPr/>
        </p:nvSpPr>
        <p:spPr>
          <a:xfrm>
            <a:off x="585216" y="5907024"/>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text says </a:t>
            </a:r>
            <a:pPr algn="l" indent="0" marL="0">
              <a:buNone/>
            </a:pPr>
            <a:r>
              <a:rPr lang="ar-SA" altLang="en-US" sz="1350" dirty="0">
                <a:solidFill>
                  <a:srgbClr val="8A6D1E"/>
                </a:solidFill>
                <a:latin typeface="Amiri" pitchFamily="2" charset="-78"/>
                <a:ea typeface="Amiri" pitchFamily="2" charset="-78"/>
                <a:cs typeface="Amiri" pitchFamily="2" charset="-78"/>
              </a:rPr>
              <a:t>هِيَ طَالِبَةٌ</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5" name="Shape 72"/>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3449574"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78" name="Text 75"/>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The text is about a boy.</a:t>
            </a:r>
            <a:endParaRPr lang="en-US" sz="1250" dirty="0"/>
          </a:p>
        </p:txBody>
      </p:sp>
      <p:sp>
        <p:nvSpPr>
          <p:cNvPr id="79" name="Shape 76"/>
          <p:cNvSpPr/>
          <p:nvPr/>
        </p:nvSpPr>
        <p:spPr>
          <a:xfrm>
            <a:off x="3412998" y="4837176"/>
            <a:ext cx="2498598"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3504438" y="4873752"/>
            <a:ext cx="256032" cy="256032"/>
          </a:xfrm>
          <a:prstGeom prst="ellipse">
            <a:avLst/>
          </a:prstGeom>
          <a:solidFill>
            <a:srgbClr val="2E8B57"/>
          </a:solidFill>
          <a:ln w="12700">
            <a:solidFill>
              <a:srgbClr val="2E8B57"/>
            </a:solidFill>
            <a:prstDash val="solid"/>
          </a:ln>
        </p:spPr>
      </p:sp>
      <p:sp>
        <p:nvSpPr>
          <p:cNvPr id="81" name="Text 78"/>
          <p:cNvSpPr txBox="1"/>
          <p:nvPr/>
        </p:nvSpPr>
        <p:spPr>
          <a:xfrm>
            <a:off x="3504438" y="487375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3833622" y="4773168"/>
            <a:ext cx="2023110"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False</a:t>
            </a:r>
            <a:endParaRPr lang="en-US" sz="1250" dirty="0"/>
          </a:p>
        </p:txBody>
      </p:sp>
      <p:sp>
        <p:nvSpPr>
          <p:cNvPr id="83" name="Shape 80"/>
          <p:cNvSpPr/>
          <p:nvPr/>
        </p:nvSpPr>
        <p:spPr>
          <a:xfrm>
            <a:off x="3504438" y="5330952"/>
            <a:ext cx="256032" cy="256032"/>
          </a:xfrm>
          <a:prstGeom prst="ellipse">
            <a:avLst/>
          </a:prstGeom>
          <a:solidFill>
            <a:srgbClr val="C9CED6"/>
          </a:solidFill>
          <a:ln w="12700">
            <a:solidFill>
              <a:srgbClr val="C9CED6"/>
            </a:solidFill>
            <a:prstDash val="solid"/>
          </a:ln>
        </p:spPr>
      </p:sp>
      <p:sp>
        <p:nvSpPr>
          <p:cNvPr id="84" name="Text 81"/>
          <p:cNvSpPr txBox="1"/>
          <p:nvPr/>
        </p:nvSpPr>
        <p:spPr>
          <a:xfrm>
            <a:off x="350443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3833622" y="5230368"/>
            <a:ext cx="2023110"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True</a:t>
            </a:r>
            <a:endParaRPr lang="en-US" sz="1250" dirty="0"/>
          </a:p>
        </p:txBody>
      </p:sp>
      <p:sp>
        <p:nvSpPr>
          <p:cNvPr id="86" name="Text 83"/>
          <p:cNvSpPr txBox="1"/>
          <p:nvPr/>
        </p:nvSpPr>
        <p:spPr>
          <a:xfrm>
            <a:off x="3449574" y="5907024"/>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profile uses feminine forms: </a:t>
            </a:r>
            <a:pPr algn="l" indent="0" marL="0">
              <a:buNone/>
            </a:pPr>
            <a:r>
              <a:rPr lang="ar-SA" altLang="en-US" sz="1350" dirty="0">
                <a:solidFill>
                  <a:srgbClr val="8A6D1E"/>
                </a:solidFill>
                <a:latin typeface="Amiri" pitchFamily="2" charset="-78"/>
                <a:ea typeface="Amiri" pitchFamily="2" charset="-78"/>
                <a:cs typeface="Amiri" pitchFamily="2" charset="-78"/>
              </a:rPr>
              <a:t>هِيَ، اِسْمُهَا، عُمْرُهَا، طَالِبَةٌ</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87" name="Shape 84"/>
          <p:cNvSpPr/>
          <p:nvPr/>
        </p:nvSpPr>
        <p:spPr>
          <a:xfrm>
            <a:off x="6185916" y="4151376"/>
            <a:ext cx="2681478" cy="2157984"/>
          </a:xfrm>
          <a:prstGeom prst="roundRect">
            <a:avLst>
              <a:gd name="adj" fmla="val 3390"/>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88" name="Text 85"/>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TEXT 3</a:t>
            </a:r>
            <a:endParaRPr lang="en-US" sz="1000" dirty="0"/>
          </a:p>
        </p:txBody>
      </p:sp>
      <p:sp>
        <p:nvSpPr>
          <p:cNvPr id="89" name="Text 86"/>
          <p:cNvSpPr txBox="1"/>
          <p:nvPr/>
        </p:nvSpPr>
        <p:spPr>
          <a:xfrm>
            <a:off x="6368796" y="4590288"/>
            <a:ext cx="2315718" cy="1609344"/>
          </a:xfrm>
          <a:prstGeom prst="rect">
            <a:avLst/>
          </a:prstGeom>
          <a:noFill/>
          <a:ln/>
        </p:spPr>
        <p:txBody>
          <a:bodyPr wrap="square" lIns="0" tIns="0" rIns="0" bIns="0" rtlCol="0" anchor="t"/>
          <a:lstStyle/>
          <a:p>
            <a:pPr rtl="1" algn="r" indent="0" marL="0">
              <a:lnSpc>
                <a:spcPct val="120000"/>
              </a:lnSpc>
              <a:buNone/>
            </a:pPr>
            <a:r>
              <a:rPr lang="ar-SA" altLang="en-US" sz="1250" b="1" dirty="0">
                <a:solidFill>
                  <a:srgbClr val="1F2A37"/>
                </a:solidFill>
                <a:latin typeface="Amiri" pitchFamily="2" charset="-78"/>
                <a:ea typeface="Amiri" pitchFamily="2" charset="-78"/>
                <a:cs typeface="Amiri" pitchFamily="2" charset="-78"/>
              </a:rPr>
              <a:t>اِسْمُهَا سَلْمَى. هِيَ مِنَ المَغْرِبِ، وَتَسْكُنُ فِي الرِّبَاطِ. عُمْرُهَا ثَلَاثَ عَشْرَةَ سَنَةً. هِيَ طَالِبَةٌ.</a:t>
            </a:r>
            <a:endParaRPr lang="ar-SA" sz="1250" dirty="0"/>
          </a:p>
        </p:txBody>
      </p:sp>
      <p:sp>
        <p:nvSpPr>
          <p:cNvPr id="90" name="Text 8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29</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F2-L12 · F2 Assessment</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SPEAKING · 15 MARKS · WARM-UP (5) + ROLE-PLAY (10)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Speaking assessment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تَقْيِيمُ 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6135624" y="1810512"/>
            <a:ext cx="55229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Part 1 · warm-up questions (1 mark each)</a:t>
            </a:r>
            <a:endParaRPr lang="en-US" sz="1100" dirty="0"/>
          </a:p>
        </p:txBody>
      </p:sp>
      <p:sp>
        <p:nvSpPr>
          <p:cNvPr id="17" name="Text 14"/>
          <p:cNvSpPr txBox="1"/>
          <p:nvPr/>
        </p:nvSpPr>
        <p:spPr>
          <a:xfrm>
            <a:off x="530352" y="1810512"/>
            <a:ext cx="54589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Part 2 · role-play with a new classmate (10)</a:t>
            </a:r>
            <a:endParaRPr lang="en-US" sz="1100" dirty="0"/>
          </a:p>
        </p:txBody>
      </p:sp>
      <p:sp>
        <p:nvSpPr>
          <p:cNvPr id="18" name="Shape 15"/>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19" name="Text 16"/>
          <p:cNvSpPr txBox="1"/>
          <p:nvPr/>
        </p:nvSpPr>
        <p:spPr>
          <a:xfrm>
            <a:off x="6153912" y="2267712"/>
            <a:ext cx="548640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مَا اسْمُكَ؟ / مَا اسْمُكِ؟</a:t>
            </a:r>
            <a:endParaRPr lang="ar-SA" sz="2000" dirty="0"/>
          </a:p>
        </p:txBody>
      </p:sp>
      <p:sp>
        <p:nvSpPr>
          <p:cNvPr id="20" name="Text 17"/>
          <p:cNvSpPr txBox="1"/>
          <p:nvPr/>
        </p:nvSpPr>
        <p:spPr>
          <a:xfrm>
            <a:off x="566928" y="2267712"/>
            <a:ext cx="54223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 · Greet the new classmate.</a:t>
            </a:r>
            <a:endParaRPr lang="en-US" sz="1100" dirty="0"/>
          </a:p>
        </p:txBody>
      </p:sp>
      <p:sp>
        <p:nvSpPr>
          <p:cNvPr id="21" name="Shape 18"/>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2" name="Text 19"/>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3" name="Shape 20"/>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4" name="Text 21"/>
          <p:cNvSpPr txBox="1"/>
          <p:nvPr/>
        </p:nvSpPr>
        <p:spPr>
          <a:xfrm>
            <a:off x="6153912" y="3004718"/>
            <a:ext cx="548640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كَمْ عُمْرُكَ؟ / كَمْ عُمْرُكِ؟</a:t>
            </a:r>
            <a:endParaRPr lang="ar-SA" sz="2000" dirty="0"/>
          </a:p>
        </p:txBody>
      </p:sp>
      <p:sp>
        <p:nvSpPr>
          <p:cNvPr id="25" name="Text 22"/>
          <p:cNvSpPr txBox="1"/>
          <p:nvPr/>
        </p:nvSpPr>
        <p:spPr>
          <a:xfrm>
            <a:off x="566928" y="3004718"/>
            <a:ext cx="54223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 · Say your name.   3 · Say your age.</a:t>
            </a:r>
            <a:endParaRPr lang="en-US" sz="1100" dirty="0"/>
          </a:p>
        </p:txBody>
      </p:sp>
      <p:sp>
        <p:nvSpPr>
          <p:cNvPr id="26" name="Shape 23"/>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27" name="Text 24"/>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8" name="Shape 25"/>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29" name="Text 26"/>
          <p:cNvSpPr txBox="1"/>
          <p:nvPr/>
        </p:nvSpPr>
        <p:spPr>
          <a:xfrm>
            <a:off x="6153912" y="3741725"/>
            <a:ext cx="548640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مِنْ أَيْنَ أَنْتَ؟ / أَنْتِ؟</a:t>
            </a:r>
            <a:endParaRPr lang="ar-SA" sz="2000" dirty="0"/>
          </a:p>
        </p:txBody>
      </p:sp>
      <p:sp>
        <p:nvSpPr>
          <p:cNvPr id="30" name="Text 27"/>
          <p:cNvSpPr txBox="1"/>
          <p:nvPr/>
        </p:nvSpPr>
        <p:spPr>
          <a:xfrm>
            <a:off x="566928" y="3741725"/>
            <a:ext cx="54223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 · Say where you are from and where you live.</a:t>
            </a:r>
            <a:endParaRPr lang="en-US" sz="1100" dirty="0"/>
          </a:p>
        </p:txBody>
      </p:sp>
      <p:sp>
        <p:nvSpPr>
          <p:cNvPr id="31" name="Shape 28"/>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3" name="Shape 30"/>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4" name="Text 31"/>
          <p:cNvSpPr txBox="1"/>
          <p:nvPr/>
        </p:nvSpPr>
        <p:spPr>
          <a:xfrm>
            <a:off x="6153912" y="4478731"/>
            <a:ext cx="548640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أَيْنَ تَسْكُنُ؟ / تَسْكُنِينَ؟</a:t>
            </a:r>
            <a:endParaRPr lang="ar-SA" sz="2000" dirty="0"/>
          </a:p>
        </p:txBody>
      </p:sp>
      <p:sp>
        <p:nvSpPr>
          <p:cNvPr id="35" name="Text 32"/>
          <p:cNvSpPr txBox="1"/>
          <p:nvPr/>
        </p:nvSpPr>
        <p:spPr>
          <a:xfrm>
            <a:off x="566928" y="4478731"/>
            <a:ext cx="54223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 · Ask one personal-information question.</a:t>
            </a:r>
            <a:endParaRPr lang="en-US" sz="1100" dirty="0"/>
          </a:p>
        </p:txBody>
      </p:sp>
      <p:sp>
        <p:nvSpPr>
          <p:cNvPr id="36" name="Shape 33"/>
          <p:cNvSpPr/>
          <p:nvPr/>
        </p:nvSpPr>
        <p:spPr>
          <a:xfrm>
            <a:off x="11091672" y="4524451"/>
            <a:ext cx="548640" cy="182880"/>
          </a:xfrm>
          <a:prstGeom prst="roundRect">
            <a:avLst>
              <a:gd name="adj" fmla="val 50000"/>
            </a:avLst>
          </a:prstGeom>
          <a:solidFill>
            <a:srgbClr val="2E8B57"/>
          </a:solidFill>
          <a:ln w="12700">
            <a:solidFill>
              <a:srgbClr val="2E8B57"/>
            </a:solidFill>
            <a:prstDash val="solid"/>
          </a:ln>
        </p:spPr>
      </p:sp>
      <p:sp>
        <p:nvSpPr>
          <p:cNvPr id="37" name="Text 34"/>
          <p:cNvSpPr txBox="1"/>
          <p:nvPr/>
        </p:nvSpPr>
        <p:spPr>
          <a:xfrm>
            <a:off x="11091672" y="452445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8" name="Shape 35"/>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39" name="Text 36"/>
          <p:cNvSpPr txBox="1"/>
          <p:nvPr/>
        </p:nvSpPr>
        <p:spPr>
          <a:xfrm>
            <a:off x="6172200" y="5215738"/>
            <a:ext cx="5486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Say “thank you” in Arabic.</a:t>
            </a:r>
            <a:endParaRPr lang="en-US" sz="1100" dirty="0"/>
          </a:p>
        </p:txBody>
      </p:sp>
      <p:sp>
        <p:nvSpPr>
          <p:cNvPr id="40" name="Text 37"/>
          <p:cNvSpPr txBox="1"/>
          <p:nvPr/>
        </p:nvSpPr>
        <p:spPr>
          <a:xfrm>
            <a:off x="566928" y="5215738"/>
            <a:ext cx="54223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 · Close politely.</a:t>
            </a:r>
            <a:endParaRPr lang="en-US" sz="1100" dirty="0"/>
          </a:p>
        </p:txBody>
      </p:sp>
      <p:sp>
        <p:nvSpPr>
          <p:cNvPr id="41" name="Shape 38"/>
          <p:cNvSpPr/>
          <p:nvPr/>
        </p:nvSpPr>
        <p:spPr>
          <a:xfrm>
            <a:off x="11091672" y="5261458"/>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526145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Prepare cue words only: greeting · name · age · country · city · question · closing.</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29</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F2-L12 · F2 Assessment</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WRITING · 15 MARKS · FORM (5) + GUIDED INTRODUCTION (10)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Writing assessment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تَقْيِيمُ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598664" y="1810512"/>
            <a:ext cx="40599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Part A · complete five fields (5)</a:t>
            </a:r>
            <a:endParaRPr lang="en-US" sz="1100" dirty="0"/>
          </a:p>
        </p:txBody>
      </p:sp>
      <p:sp>
        <p:nvSpPr>
          <p:cNvPr id="17" name="Text 14"/>
          <p:cNvSpPr txBox="1"/>
          <p:nvPr/>
        </p:nvSpPr>
        <p:spPr>
          <a:xfrm>
            <a:off x="530352" y="1810512"/>
            <a:ext cx="69220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Part B · five or six connected lines (10)</a:t>
            </a:r>
            <a:endParaRPr lang="en-US" sz="1100" dirty="0"/>
          </a:p>
        </p:txBody>
      </p:sp>
      <p:sp>
        <p:nvSpPr>
          <p:cNvPr id="18" name="Shape 15"/>
          <p:cNvSpPr/>
          <p:nvPr/>
        </p:nvSpPr>
        <p:spPr>
          <a:xfrm>
            <a:off x="457200" y="2267712"/>
            <a:ext cx="11274552" cy="627888"/>
          </a:xfrm>
          <a:prstGeom prst="roundRect">
            <a:avLst>
              <a:gd name="adj" fmla="val 7282"/>
            </a:avLst>
          </a:prstGeom>
          <a:solidFill>
            <a:srgbClr val="FFFFFF"/>
          </a:solidFill>
          <a:ln w="9525">
            <a:solidFill>
              <a:srgbClr val="D8D0BF"/>
            </a:solidFill>
            <a:prstDash val="solid"/>
          </a:ln>
        </p:spPr>
      </p:sp>
      <p:sp>
        <p:nvSpPr>
          <p:cNvPr id="19" name="Text 16"/>
          <p:cNvSpPr txBox="1"/>
          <p:nvPr/>
        </p:nvSpPr>
        <p:spPr>
          <a:xfrm>
            <a:off x="7616952" y="2267712"/>
            <a:ext cx="4023360" cy="62788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الاِسْمُ: ______</a:t>
            </a:r>
            <a:endParaRPr lang="ar-SA" sz="2200" dirty="0"/>
          </a:p>
        </p:txBody>
      </p:sp>
      <p:sp>
        <p:nvSpPr>
          <p:cNvPr id="20" name="Text 17"/>
          <p:cNvSpPr txBox="1"/>
          <p:nvPr/>
        </p:nvSpPr>
        <p:spPr>
          <a:xfrm>
            <a:off x="566928" y="2267712"/>
            <a:ext cx="688543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Include: a greeting · your name · your age</a:t>
            </a:r>
            <a:endParaRPr lang="en-US" sz="1100" dirty="0"/>
          </a:p>
        </p:txBody>
      </p:sp>
      <p:sp>
        <p:nvSpPr>
          <p:cNvPr id="21" name="Shape 18"/>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2" name="Text 19"/>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3" name="Shape 20"/>
          <p:cNvSpPr/>
          <p:nvPr/>
        </p:nvSpPr>
        <p:spPr>
          <a:xfrm>
            <a:off x="457200" y="2950464"/>
            <a:ext cx="11274552" cy="627888"/>
          </a:xfrm>
          <a:prstGeom prst="roundRect">
            <a:avLst>
              <a:gd name="adj" fmla="val 7282"/>
            </a:avLst>
          </a:prstGeom>
          <a:solidFill>
            <a:srgbClr val="F4F1EA"/>
          </a:solidFill>
          <a:ln w="9525">
            <a:solidFill>
              <a:srgbClr val="D8D0BF"/>
            </a:solidFill>
            <a:prstDash val="solid"/>
          </a:ln>
        </p:spPr>
      </p:sp>
      <p:sp>
        <p:nvSpPr>
          <p:cNvPr id="24" name="Text 21"/>
          <p:cNvSpPr txBox="1"/>
          <p:nvPr/>
        </p:nvSpPr>
        <p:spPr>
          <a:xfrm>
            <a:off x="7616952" y="2950464"/>
            <a:ext cx="4023360" cy="62788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العُمْرُ: ______</a:t>
            </a:r>
            <a:endParaRPr lang="ar-SA" sz="2200" dirty="0"/>
          </a:p>
        </p:txBody>
      </p:sp>
      <p:sp>
        <p:nvSpPr>
          <p:cNvPr id="25" name="Text 22"/>
          <p:cNvSpPr txBox="1"/>
          <p:nvPr/>
        </p:nvSpPr>
        <p:spPr>
          <a:xfrm>
            <a:off x="566928" y="2950464"/>
            <a:ext cx="688543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where you are from · where you live</a:t>
            </a:r>
            <a:endParaRPr lang="en-US" sz="1100" dirty="0"/>
          </a:p>
        </p:txBody>
      </p:sp>
      <p:sp>
        <p:nvSpPr>
          <p:cNvPr id="26" name="Shape 23"/>
          <p:cNvSpPr/>
          <p:nvPr/>
        </p:nvSpPr>
        <p:spPr>
          <a:xfrm>
            <a:off x="11091672" y="2996184"/>
            <a:ext cx="548640" cy="182880"/>
          </a:xfrm>
          <a:prstGeom prst="roundRect">
            <a:avLst>
              <a:gd name="adj" fmla="val 50000"/>
            </a:avLst>
          </a:prstGeom>
          <a:solidFill>
            <a:srgbClr val="2E8B57"/>
          </a:solidFill>
          <a:ln w="12700">
            <a:solidFill>
              <a:srgbClr val="2E8B57"/>
            </a:solidFill>
            <a:prstDash val="solid"/>
          </a:ln>
        </p:spPr>
      </p:sp>
      <p:sp>
        <p:nvSpPr>
          <p:cNvPr id="27" name="Text 24"/>
          <p:cNvSpPr txBox="1"/>
          <p:nvPr/>
        </p:nvSpPr>
        <p:spPr>
          <a:xfrm>
            <a:off x="11091672" y="29961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8" name="Shape 25"/>
          <p:cNvSpPr/>
          <p:nvPr/>
        </p:nvSpPr>
        <p:spPr>
          <a:xfrm>
            <a:off x="457200" y="3633216"/>
            <a:ext cx="11274552" cy="627888"/>
          </a:xfrm>
          <a:prstGeom prst="roundRect">
            <a:avLst>
              <a:gd name="adj" fmla="val 7282"/>
            </a:avLst>
          </a:prstGeom>
          <a:solidFill>
            <a:srgbClr val="FFFFFF"/>
          </a:solidFill>
          <a:ln w="9525">
            <a:solidFill>
              <a:srgbClr val="D8D0BF"/>
            </a:solidFill>
            <a:prstDash val="solid"/>
          </a:ln>
        </p:spPr>
      </p:sp>
      <p:sp>
        <p:nvSpPr>
          <p:cNvPr id="29" name="Text 26"/>
          <p:cNvSpPr txBox="1"/>
          <p:nvPr/>
        </p:nvSpPr>
        <p:spPr>
          <a:xfrm>
            <a:off x="7616952" y="3633216"/>
            <a:ext cx="4023360" cy="62788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الجِنْسِيَّةُ: ______</a:t>
            </a:r>
            <a:endParaRPr lang="ar-SA" sz="2200" dirty="0"/>
          </a:p>
        </p:txBody>
      </p:sp>
      <p:sp>
        <p:nvSpPr>
          <p:cNvPr id="30" name="Text 27"/>
          <p:cNvSpPr txBox="1"/>
          <p:nvPr/>
        </p:nvSpPr>
        <p:spPr>
          <a:xfrm>
            <a:off x="566928" y="3633216"/>
            <a:ext cx="688543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one polite phrase · join ideas with </a:t>
            </a:r>
            <a:pPr algn="l" indent="0" marL="0">
              <a:buNone/>
            </a:pPr>
            <a:r>
              <a:rPr lang="ar-SA" altLang="en-US" sz="1450" dirty="0">
                <a:solidFill>
                  <a:srgbClr val="5A6472"/>
                </a:solidFill>
                <a:latin typeface="Amiri" pitchFamily="2" charset="-78"/>
                <a:ea typeface="Amiri" pitchFamily="2" charset="-78"/>
                <a:cs typeface="Amiri" pitchFamily="2" charset="-78"/>
              </a:rPr>
              <a:t>وَ</a:t>
            </a:r>
            <a:endParaRPr lang="en-US" sz="1100" dirty="0"/>
          </a:p>
        </p:txBody>
      </p:sp>
      <p:sp>
        <p:nvSpPr>
          <p:cNvPr id="31" name="Shape 28"/>
          <p:cNvSpPr/>
          <p:nvPr/>
        </p:nvSpPr>
        <p:spPr>
          <a:xfrm>
            <a:off x="11091672" y="3678936"/>
            <a:ext cx="548640" cy="182880"/>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11091672" y="367893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3" name="Shape 30"/>
          <p:cNvSpPr/>
          <p:nvPr/>
        </p:nvSpPr>
        <p:spPr>
          <a:xfrm>
            <a:off x="457200" y="4315968"/>
            <a:ext cx="11274552" cy="627888"/>
          </a:xfrm>
          <a:prstGeom prst="roundRect">
            <a:avLst>
              <a:gd name="adj" fmla="val 7282"/>
            </a:avLst>
          </a:prstGeom>
          <a:solidFill>
            <a:srgbClr val="F4F1EA"/>
          </a:solidFill>
          <a:ln w="9525">
            <a:solidFill>
              <a:srgbClr val="D8D0BF"/>
            </a:solidFill>
            <a:prstDash val="solid"/>
          </a:ln>
        </p:spPr>
      </p:sp>
      <p:sp>
        <p:nvSpPr>
          <p:cNvPr id="34" name="Text 31"/>
          <p:cNvSpPr txBox="1"/>
          <p:nvPr/>
        </p:nvSpPr>
        <p:spPr>
          <a:xfrm>
            <a:off x="7616952" y="4315968"/>
            <a:ext cx="4023360" cy="62788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البَلَدُ: ______</a:t>
            </a:r>
            <a:endParaRPr lang="ar-SA" sz="2200" dirty="0"/>
          </a:p>
        </p:txBody>
      </p:sp>
      <p:sp>
        <p:nvSpPr>
          <p:cNvPr id="35" name="Text 32"/>
          <p:cNvSpPr txBox="1"/>
          <p:nvPr/>
        </p:nvSpPr>
        <p:spPr>
          <a:xfrm>
            <a:off x="566928" y="4315968"/>
            <a:ext cx="688543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 / Stretch: add nationality, languages,</a:t>
            </a:r>
            <a:endParaRPr lang="en-US" sz="1100" dirty="0"/>
          </a:p>
        </p:txBody>
      </p:sp>
      <p:sp>
        <p:nvSpPr>
          <p:cNvPr id="36" name="Shape 33"/>
          <p:cNvSpPr/>
          <p:nvPr/>
        </p:nvSpPr>
        <p:spPr>
          <a:xfrm>
            <a:off x="11091672" y="4361688"/>
            <a:ext cx="548640" cy="182880"/>
          </a:xfrm>
          <a:prstGeom prst="roundRect">
            <a:avLst>
              <a:gd name="adj" fmla="val 50000"/>
            </a:avLst>
          </a:prstGeom>
          <a:solidFill>
            <a:srgbClr val="2E8B57"/>
          </a:solidFill>
          <a:ln w="12700">
            <a:solidFill>
              <a:srgbClr val="2E8B57"/>
            </a:solidFill>
            <a:prstDash val="solid"/>
          </a:ln>
        </p:spPr>
      </p:sp>
      <p:sp>
        <p:nvSpPr>
          <p:cNvPr id="37" name="Text 34"/>
          <p:cNvSpPr txBox="1"/>
          <p:nvPr/>
        </p:nvSpPr>
        <p:spPr>
          <a:xfrm>
            <a:off x="11091672" y="436168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8" name="Shape 35"/>
          <p:cNvSpPr/>
          <p:nvPr/>
        </p:nvSpPr>
        <p:spPr>
          <a:xfrm>
            <a:off x="457200" y="4998720"/>
            <a:ext cx="11274552" cy="627888"/>
          </a:xfrm>
          <a:prstGeom prst="roundRect">
            <a:avLst>
              <a:gd name="adj" fmla="val 7282"/>
            </a:avLst>
          </a:prstGeom>
          <a:solidFill>
            <a:srgbClr val="FFFFFF"/>
          </a:solidFill>
          <a:ln w="9525">
            <a:solidFill>
              <a:srgbClr val="D8D0BF"/>
            </a:solidFill>
            <a:prstDash val="solid"/>
          </a:ln>
        </p:spPr>
      </p:sp>
      <p:sp>
        <p:nvSpPr>
          <p:cNvPr id="39" name="Text 36"/>
          <p:cNvSpPr txBox="1"/>
          <p:nvPr/>
        </p:nvSpPr>
        <p:spPr>
          <a:xfrm>
            <a:off x="7616952" y="4998720"/>
            <a:ext cx="4023360" cy="62788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مَكَانُ السَّكَنِ: ______</a:t>
            </a:r>
            <a:endParaRPr lang="ar-SA" sz="2200" dirty="0"/>
          </a:p>
        </p:txBody>
      </p:sp>
      <p:sp>
        <p:nvSpPr>
          <p:cNvPr id="40" name="Text 37"/>
          <p:cNvSpPr txBox="1"/>
          <p:nvPr/>
        </p:nvSpPr>
        <p:spPr>
          <a:xfrm>
            <a:off x="566928" y="4998720"/>
            <a:ext cx="688543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 interest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and another connective.</a:t>
            </a:r>
            <a:endParaRPr lang="en-US" sz="1100" dirty="0"/>
          </a:p>
        </p:txBody>
      </p:sp>
      <p:sp>
        <p:nvSpPr>
          <p:cNvPr id="41" name="Shape 38"/>
          <p:cNvSpPr/>
          <p:nvPr/>
        </p:nvSpPr>
        <p:spPr>
          <a:xfrm>
            <a:off x="11091672" y="5044440"/>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504444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3" name="Shape 40"/>
          <p:cNvSpPr/>
          <p:nvPr/>
        </p:nvSpPr>
        <p:spPr>
          <a:xfrm>
            <a:off x="457200" y="5681472"/>
            <a:ext cx="11274552" cy="627888"/>
          </a:xfrm>
          <a:prstGeom prst="roundRect">
            <a:avLst>
              <a:gd name="adj" fmla="val 7282"/>
            </a:avLst>
          </a:prstGeom>
          <a:solidFill>
            <a:srgbClr val="F4F1EA"/>
          </a:solidFill>
          <a:ln w="9525">
            <a:solidFill>
              <a:srgbClr val="D8D0BF"/>
            </a:solidFill>
            <a:prstDash val="solid"/>
          </a:ln>
        </p:spPr>
      </p:sp>
      <p:sp>
        <p:nvSpPr>
          <p:cNvPr id="44" name="Text 41"/>
          <p:cNvSpPr txBox="1"/>
          <p:nvPr/>
        </p:nvSpPr>
        <p:spPr>
          <a:xfrm>
            <a:off x="7616952" y="5681472"/>
            <a:ext cx="4023360" cy="62788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التَّوْقِيعُ: ______</a:t>
            </a:r>
            <a:endParaRPr lang="ar-SA" sz="2200" dirty="0"/>
          </a:p>
        </p:txBody>
      </p:sp>
      <p:sp>
        <p:nvSpPr>
          <p:cNvPr id="45" name="Text 42"/>
          <p:cNvSpPr txBox="1"/>
          <p:nvPr/>
        </p:nvSpPr>
        <p:spPr>
          <a:xfrm>
            <a:off x="566928" y="5681472"/>
            <a:ext cx="688543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Signature: optional practice — not marked.</a:t>
            </a:r>
            <a:endParaRPr lang="en-US" sz="1100" dirty="0"/>
          </a:p>
        </p:txBody>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29</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F2-L12 · F2 Assessment</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WRITING · THE WEBSITE FULL-MARK MODEL · SHOW AFTER WRITING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full-mark introduction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الدَّرَجَةِ الكَامِلَةِ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F2-L12</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السَّلَامُ عَلَيْكُمْ! اِسْمِي يُوسُفُ، وَعُمْرِي أَرْبَعَ عَشْرَةَ سَنَةً.</a:t>
            </a:r>
            <a:endParaRPr lang="ar-SA" sz="200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greeting · name · age (joined with </a:t>
            </a:r>
            <a:pPr algn="l" indent="0" marL="0">
              <a:buNone/>
            </a:pPr>
            <a:r>
              <a:rPr lang="ar-SA" altLang="en-US" sz="1650" dirty="0">
                <a:solidFill>
                  <a:srgbClr val="1F2A37"/>
                </a:solidFill>
                <a:latin typeface="Amiri" pitchFamily="2" charset="-78"/>
                <a:ea typeface="Amiri" pitchFamily="2" charset="-78"/>
                <a:cs typeface="Amiri" pitchFamily="2" charset="-78"/>
              </a:rPr>
              <a:t>وَ</a:t>
            </a:r>
            <a:pPr algn="l" indent="0" marL="0">
              <a:buNone/>
            </a:pPr>
            <a:r>
              <a:rPr lang="en-US" sz="1250" dirty="0">
                <a:solidFill>
                  <a:srgbClr val="1F2A37"/>
                </a:solidFill>
                <a:latin typeface="Calibri" pitchFamily="34" charset="0"/>
                <a:cs typeface="Amiri" pitchFamily="2" charset="-78"/>
              </a:rPr>
              <a:t>)</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أَنَا مِنْ بَرِيطَانِيَا، وَأَسْكُنُ فِي لَنْدَنَ.</a:t>
            </a:r>
            <a:endParaRPr lang="ar-SA" sz="200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origin (</a:t>
            </a:r>
            <a:pPr algn="l" indent="0" marL="0">
              <a:buNone/>
            </a:pPr>
            <a:r>
              <a:rPr lang="ar-SA" altLang="en-US" sz="1650" dirty="0">
                <a:solidFill>
                  <a:srgbClr val="1F2A37"/>
                </a:solidFill>
                <a:latin typeface="Amiri" pitchFamily="2" charset="-78"/>
                <a:ea typeface="Amiri" pitchFamily="2" charset="-78"/>
                <a:cs typeface="Amiri" pitchFamily="2" charset="-78"/>
              </a:rPr>
              <a:t>مِنْ</a:t>
            </a:r>
            <a:pPr algn="l" indent="0" marL="0">
              <a:buNone/>
            </a:pPr>
            <a:r>
              <a:rPr lang="en-US" sz="1250" dirty="0">
                <a:solidFill>
                  <a:srgbClr val="1F2A37"/>
                </a:solidFill>
                <a:latin typeface="Calibri" pitchFamily="34" charset="0"/>
                <a:cs typeface="Amiri" pitchFamily="2" charset="-78"/>
              </a:rPr>
              <a:t>) · residence (</a:t>
            </a:r>
            <a:pPr algn="l" indent="0" marL="0">
              <a:buNone/>
            </a:pPr>
            <a:r>
              <a:rPr lang="ar-SA" altLang="en-US" sz="1650" dirty="0">
                <a:solidFill>
                  <a:srgbClr val="1F2A37"/>
                </a:solidFill>
                <a:latin typeface="Amiri" pitchFamily="2" charset="-78"/>
                <a:ea typeface="Amiri" pitchFamily="2" charset="-78"/>
                <a:cs typeface="Amiri" pitchFamily="2" charset="-78"/>
              </a:rPr>
              <a:t>فِي</a:t>
            </a:r>
            <a:pPr algn="l" indent="0" marL="0">
              <a:buNone/>
            </a:pPr>
            <a:r>
              <a:rPr lang="en-US" sz="1250" dirty="0">
                <a:solidFill>
                  <a:srgbClr val="1F2A37"/>
                </a:solidFill>
                <a:latin typeface="Calibri" pitchFamily="34" charset="0"/>
                <a:cs typeface="Amiri" pitchFamily="2" charset="-78"/>
              </a:rPr>
              <a:t>)</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أَنَا طَالِبٌ، وَأَتَكَلَّمُ الإِنْجِلِيزِيَّةَ وَالعَرَبِيَّةَ أَيْضًا.</a:t>
            </a:r>
            <a:endParaRPr lang="ar-SA" sz="200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description · languages · </a:t>
            </a:r>
            <a:pPr algn="l" indent="0" marL="0">
              <a:buNone/>
            </a:pPr>
            <a:r>
              <a:rPr lang="ar-SA" altLang="en-US" sz="1650" dirty="0">
                <a:solidFill>
                  <a:srgbClr val="1F2A37"/>
                </a:solidFill>
                <a:latin typeface="Amiri" pitchFamily="2" charset="-78"/>
                <a:ea typeface="Amiri" pitchFamily="2" charset="-78"/>
                <a:cs typeface="Amiri" pitchFamily="2" charset="-78"/>
              </a:rPr>
              <a:t>أَيْضًا</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أُحِبُّ القِرَاءَةَ لِأَنَّهَا مُفِيدَةٌ.</a:t>
            </a:r>
            <a:endParaRPr lang="ar-SA" sz="20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interest + reason (</a:t>
            </a:r>
            <a:pPr algn="l" indent="0" marL="0">
              <a:buNone/>
            </a:pPr>
            <a:r>
              <a:rPr lang="ar-SA" altLang="en-US" sz="1650" dirty="0">
                <a:solidFill>
                  <a:srgbClr val="1F2A37"/>
                </a:solidFill>
                <a:latin typeface="Amiri" pitchFamily="2" charset="-78"/>
                <a:ea typeface="Amiri" pitchFamily="2" charset="-78"/>
                <a:cs typeface="Amiri" pitchFamily="2" charset="-78"/>
              </a:rPr>
              <a:t>لِأَنَّ</a:t>
            </a:r>
            <a:pPr algn="l" indent="0" marL="0">
              <a:buNone/>
            </a:pPr>
            <a:r>
              <a:rPr lang="en-US" sz="1250" dirty="0">
                <a:solidFill>
                  <a:srgbClr val="1F2A37"/>
                </a:solidFill>
                <a:latin typeface="Calibri" pitchFamily="34" charset="0"/>
                <a:cs typeface="Amiri" pitchFamily="2" charset="-78"/>
              </a:rPr>
              <a:t>)</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شُكْرًا، وَإِلَى اللِّقَاءِ!</a:t>
            </a:r>
            <a:endParaRPr lang="ar-SA" sz="20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polite close</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29</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F2-L12 · F2 Assessment</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RESULTS · RECORD YOUR SCORE AND SET ONE F3 TARGET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My F2 score profile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سَجِّلْ دَرَجَتَكَ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5468112" y="1810512"/>
            <a:ext cx="6190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Guide (total /60) · teacher guide, not an exam grade</a:t>
            </a:r>
            <a:endParaRPr lang="en-US" sz="1100" dirty="0"/>
          </a:p>
        </p:txBody>
      </p:sp>
      <p:sp>
        <p:nvSpPr>
          <p:cNvPr id="17" name="Text 14"/>
          <p:cNvSpPr txBox="1"/>
          <p:nvPr/>
        </p:nvSpPr>
        <p:spPr>
          <a:xfrm>
            <a:off x="3639312" y="1810512"/>
            <a:ext cx="16824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My score</a:t>
            </a:r>
            <a:endParaRPr lang="en-US" sz="1100" dirty="0"/>
          </a:p>
        </p:txBody>
      </p:sp>
      <p:sp>
        <p:nvSpPr>
          <p:cNvPr id="18" name="Text 15"/>
          <p:cNvSpPr txBox="1"/>
          <p:nvPr/>
        </p:nvSpPr>
        <p:spPr>
          <a:xfrm>
            <a:off x="530352" y="1810512"/>
            <a:ext cx="2962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Skill</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5504688" y="2267712"/>
            <a:ext cx="61539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54–60 Excellent — secure F2 foundation</a:t>
            </a:r>
            <a:endParaRPr lang="en-US" sz="1100" dirty="0"/>
          </a:p>
        </p:txBody>
      </p:sp>
      <p:sp>
        <p:nvSpPr>
          <p:cNvPr id="21" name="Text 18"/>
          <p:cNvSpPr txBox="1"/>
          <p:nvPr/>
        </p:nvSpPr>
        <p:spPr>
          <a:xfrm>
            <a:off x="3675888" y="2267712"/>
            <a:ext cx="16459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/15</a:t>
            </a:r>
            <a:endParaRPr lang="en-US" sz="1100" dirty="0"/>
          </a:p>
        </p:txBody>
      </p:sp>
      <p:sp>
        <p:nvSpPr>
          <p:cNvPr id="22" name="Text 19"/>
          <p:cNvSpPr txBox="1"/>
          <p:nvPr/>
        </p:nvSpPr>
        <p:spPr>
          <a:xfrm>
            <a:off x="566928" y="2267712"/>
            <a:ext cx="29260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 Listening</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5504688" y="3054096"/>
            <a:ext cx="61539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42–53 Good — ready for F3 with one practice target</a:t>
            </a:r>
            <a:endParaRPr lang="en-US" sz="1100" dirty="0"/>
          </a:p>
        </p:txBody>
      </p:sp>
      <p:sp>
        <p:nvSpPr>
          <p:cNvPr id="27" name="Text 24"/>
          <p:cNvSpPr txBox="1"/>
          <p:nvPr/>
        </p:nvSpPr>
        <p:spPr>
          <a:xfrm>
            <a:off x="3675888" y="3054096"/>
            <a:ext cx="16459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/15</a:t>
            </a:r>
            <a:endParaRPr lang="en-US" sz="1100" dirty="0"/>
          </a:p>
        </p:txBody>
      </p:sp>
      <p:sp>
        <p:nvSpPr>
          <p:cNvPr id="28" name="Text 25"/>
          <p:cNvSpPr txBox="1"/>
          <p:nvPr/>
        </p:nvSpPr>
        <p:spPr>
          <a:xfrm>
            <a:off x="566928" y="3054096"/>
            <a:ext cx="29260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 Reading</a:t>
            </a:r>
            <a:endParaRPr lang="en-US" sz="1100" dirty="0"/>
          </a:p>
        </p:txBody>
      </p:sp>
      <p:sp>
        <p:nvSpPr>
          <p:cNvPr id="29" name="Shape 26"/>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2" name="Text 29"/>
          <p:cNvSpPr txBox="1"/>
          <p:nvPr/>
        </p:nvSpPr>
        <p:spPr>
          <a:xfrm>
            <a:off x="5504688" y="3840480"/>
            <a:ext cx="61539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30–41 Satisfactory — targeted F2 retrieval early in F3</a:t>
            </a:r>
            <a:endParaRPr lang="en-US" sz="1100" dirty="0"/>
          </a:p>
        </p:txBody>
      </p:sp>
      <p:sp>
        <p:nvSpPr>
          <p:cNvPr id="33" name="Text 30"/>
          <p:cNvSpPr txBox="1"/>
          <p:nvPr/>
        </p:nvSpPr>
        <p:spPr>
          <a:xfrm>
            <a:off x="3675888" y="3840480"/>
            <a:ext cx="16459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/15</a:t>
            </a:r>
            <a:endParaRPr lang="en-US" sz="1100" dirty="0"/>
          </a:p>
        </p:txBody>
      </p:sp>
      <p:sp>
        <p:nvSpPr>
          <p:cNvPr id="34" name="Text 31"/>
          <p:cNvSpPr txBox="1"/>
          <p:nvPr/>
        </p:nvSpPr>
        <p:spPr>
          <a:xfrm>
            <a:off x="566928" y="3840480"/>
            <a:ext cx="29260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 Speaking</a:t>
            </a:r>
            <a:endParaRPr lang="en-US" sz="1100" dirty="0"/>
          </a:p>
        </p:txBody>
      </p:sp>
      <p:sp>
        <p:nvSpPr>
          <p:cNvPr id="35" name="Shape 32"/>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8" name="Text 35"/>
          <p:cNvSpPr txBox="1"/>
          <p:nvPr/>
        </p:nvSpPr>
        <p:spPr>
          <a:xfrm>
            <a:off x="5504688" y="4626864"/>
            <a:ext cx="61539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Below 30 — catch-up on the lowest skill before F3</a:t>
            </a:r>
            <a:endParaRPr lang="en-US" sz="1100" dirty="0"/>
          </a:p>
        </p:txBody>
      </p:sp>
      <p:sp>
        <p:nvSpPr>
          <p:cNvPr id="39" name="Text 36"/>
          <p:cNvSpPr txBox="1"/>
          <p:nvPr/>
        </p:nvSpPr>
        <p:spPr>
          <a:xfrm>
            <a:off x="3675888" y="4626864"/>
            <a:ext cx="16459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/15</a:t>
            </a:r>
            <a:endParaRPr lang="en-US" sz="1100" dirty="0"/>
          </a:p>
        </p:txBody>
      </p:sp>
      <p:sp>
        <p:nvSpPr>
          <p:cNvPr id="40" name="Text 37"/>
          <p:cNvSpPr txBox="1"/>
          <p:nvPr/>
        </p:nvSpPr>
        <p:spPr>
          <a:xfrm>
            <a:off x="566928" y="4626864"/>
            <a:ext cx="29260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 Writing</a:t>
            </a:r>
            <a:endParaRPr lang="en-US" sz="1100" dirty="0"/>
          </a:p>
        </p:txBody>
      </p:sp>
      <p:sp>
        <p:nvSpPr>
          <p:cNvPr id="41" name="Shape 38"/>
          <p:cNvSpPr/>
          <p:nvPr/>
        </p:nvSpPr>
        <p:spPr>
          <a:xfrm>
            <a:off x="11091672" y="4672584"/>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46725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Write in your book: My strength (</a:t>
            </a:r>
            <a:pPr algn="l" indent="0" marL="0">
              <a:buNone/>
            </a:pPr>
            <a:r>
              <a:rPr lang="ar-SA" altLang="en-US" sz="1500" b="1" dirty="0">
                <a:solidFill>
                  <a:srgbClr val="1B3B6F"/>
                </a:solidFill>
                <a:latin typeface="Amiri" pitchFamily="2" charset="-78"/>
                <a:ea typeface="Amiri" pitchFamily="2" charset="-78"/>
                <a:cs typeface="Amiri" pitchFamily="2" charset="-78"/>
              </a:rPr>
              <a:t>نُقْطَةُ قُوَّتِي</a:t>
            </a:r>
            <a:pPr algn="l" indent="0" marL="0">
              <a:buNone/>
            </a:pPr>
            <a:r>
              <a:rPr lang="en-US" sz="1150" b="1" dirty="0">
                <a:solidFill>
                  <a:srgbClr val="1B3B6F"/>
                </a:solidFill>
                <a:latin typeface="Calibri" pitchFamily="34" charset="0"/>
                <a:cs typeface="Amiri" pitchFamily="2" charset="-78"/>
              </a:rPr>
              <a:t>) … · My F3 target (</a:t>
            </a:r>
            <a:pPr algn="l" indent="0" marL="0">
              <a:buNone/>
            </a:pPr>
            <a:r>
              <a:rPr lang="ar-SA" altLang="en-US" sz="1500" b="1" dirty="0">
                <a:solidFill>
                  <a:srgbClr val="1B3B6F"/>
                </a:solidFill>
                <a:latin typeface="Amiri" pitchFamily="2" charset="-78"/>
                <a:ea typeface="Amiri" pitchFamily="2" charset="-78"/>
                <a:cs typeface="Amiri" pitchFamily="2" charset="-78"/>
              </a:rPr>
              <a:t>هَدَفِي</a:t>
            </a:r>
            <a:pPr algn="l" indent="0" marL="0">
              <a:buNone/>
            </a:pPr>
            <a:r>
              <a:rPr lang="en-US" sz="1150" b="1" dirty="0">
                <a:solidFill>
                  <a:srgbClr val="1B3B6F"/>
                </a:solidFill>
                <a:latin typeface="Calibri" pitchFamily="34" charset="0"/>
                <a:cs typeface="Amiri" pitchFamily="2" charset="-78"/>
              </a:rPr>
              <a:t>) …</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29</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F2-L12 · F2 Assessment</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F2-L12</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greet, give my name and age, and close politely.</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ask a boy or a girl a personal question with the right ending.</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say where I am from and where I live, and my languages.</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read a profile and find exact information.</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write a connected introduction with a reason.</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29</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F2-L12 · F2 Assessment</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F3-L01: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F2-L12</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F3-L01 · My Family: Members and Relationships</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أُسْرَةٌ</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family</a:t>
            </a:r>
            <a:pPr indent="0" marL="0">
              <a:buNone/>
            </a:pPr>
            <a:r>
              <a:rPr lang="ar-SA" sz="1000" i="1" dirty="0">
                <a:solidFill>
                  <a:srgbClr val="5A6472"/>
                </a:solidFill>
                <a:latin typeface="Calibri" pitchFamily="34" charset="0"/>
                <a:ea typeface="Amiri" pitchFamily="2" charset="-78"/>
                <a:cs typeface="Amiri" pitchFamily="2" charset="-78"/>
              </a:rPr>
              <a:t>  my: أُسْرَتِي</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أَبٌ</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father</a:t>
            </a:r>
            <a:pPr indent="0" marL="0">
              <a:buNone/>
            </a:pP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أُمٌّ</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mother</a:t>
            </a:r>
            <a:pPr indent="0" marL="0">
              <a:buNone/>
            </a:pP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أَخٌ</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brother</a:t>
            </a:r>
            <a:pPr indent="0" marL="0">
              <a:buNone/>
            </a:pPr>
            <a:r>
              <a:rPr lang="ar-SA" sz="1000" i="1" dirty="0">
                <a:solidFill>
                  <a:srgbClr val="5A6472"/>
                </a:solidFill>
                <a:latin typeface="Calibri" pitchFamily="34" charset="0"/>
                <a:ea typeface="Amiri" pitchFamily="2" charset="-78"/>
                <a:cs typeface="Amiri" pitchFamily="2" charset="-78"/>
              </a:rPr>
              <a:t>  pl. إِخْوَةٌ</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أُخْتٌ</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sister</a:t>
            </a:r>
            <a:pPr indent="0" marL="0">
              <a:buNone/>
            </a:pPr>
            <a:r>
              <a:rPr lang="ar-SA" sz="1000" i="1" dirty="0">
                <a:solidFill>
                  <a:srgbClr val="5A6472"/>
                </a:solidFill>
                <a:latin typeface="Calibri" pitchFamily="34" charset="0"/>
                <a:ea typeface="Amiri" pitchFamily="2" charset="-78"/>
                <a:cs typeface="Amiri" pitchFamily="2" charset="-78"/>
              </a:rPr>
              <a:t>  pl. أَخَوَاتٌ</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Write your F3 target: one skill, one repeated action, one check date.</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هَدَفِي …</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Repeat the website revision station with your lowest score; learn the five family words.</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Redo the assessment section with your lowest score on the website; then learn the family words.</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a short profile of a family member (he / she forms from F2-L08) using the new family words.</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29</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F2-L12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050" b="1" dirty="0">
                <a:solidFill>
                  <a:srgbClr val="FFFFFF"/>
                </a:solidFill>
                <a:latin typeface="Cambria" pitchFamily="34" charset="0"/>
                <a:cs typeface="Amiri" pitchFamily="2" charset="-78"/>
              </a:rPr>
              <a:t>F3-L01 · My Family: Members and Relationships</a:t>
            </a:r>
            <a:endParaRPr lang="en-US" sz="20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أُسْرَتِي</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F2 complete — well done! Learn 5 family words for F3.</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F2-L12 · Show What You Can Say: F2 Review &amp; Assessment</dc:title>
  <dc:subject>PptxGenJS Presentation</dc:subject>
  <dc:creator>Al Madina Online School · Arabic Department</dc:creator>
  <cp:lastModifiedBy>Al Madina Online School · Arabic Department</cp:lastModifiedBy>
  <cp:revision>1</cp:revision>
  <dcterms:created xsi:type="dcterms:W3CDTF">2026-10-11T06:41:28Z</dcterms:created>
  <dcterms:modified xsi:type="dcterms:W3CDTF">2026-10-11T06:41:28Z</dcterms:modified>
</cp:coreProperties>
</file>