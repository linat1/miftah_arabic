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Revision stations (not marked) · 8–9 Assessment map · 9–20 Listening (15) · 20–30 Reading (15) · 30–40 Speaking (15, pairs / one-to-one) · 40–52 Writing (15) · 52–56 Score profile, strength and F3 target.
FLEX slides are optional. Use them if the class is moving quickly; otherwise the same activities are on the website for homework.
Content source: Miftah Arabic website, Pathways › Foundation › F2 Greetings &amp; Introductions › Lesson 12 (F2-L12). The website F2-L12 is a four-skill, 60-mark unit assessment (not an external exam paper): listening 15 (Part A four phrases · Part B Nour’s introduction · Part C six items) · reading 15 (Karim’s profile · phrase matching · Salma’s profile true/false) · speaking 15 (warm-up 5 + role-play 10) · writing 15 (form 5 + guided introduction 10). Every item, script, text, mark allocation and the full-mark writing model are the website’s. The revision stations are the website’s five-station “F2 Revision Arcade”.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the speaking assessment is one-to-one or in trusted pairs with the teacher listening (it can move to the start of the next lesson).
• The website allows the assessment “over one or more study sessions” — if time is short: listening + reading in class; speaking and writing next lesson.
• Scripts are read by the teacher (the website audio is marked “recorded”; if unavailable, read at natural pace, twice). Do NOT show the read-along until the section is submitted.
• Answer slides follow each part — mark live or hide them and mark later.
• Privacy (website): a sensible invented identity is acceptable in speaking and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Review (language vault + five stations) · 2 Listening + Reading (no transcripts early) · 3 Speaking + Writing (visible criteria) · 4 Reflect (total, one strength, one F3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One question from each website revision station (1 greetings · 2 questions · 3 identity · 4 agreement · 5 forms and assessment language). Website advice: repeat the station with the lowest score before the assessment (homework if needed).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all five revision stations: greetings · questions · identity · agreement · forms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more questions from the website’s five stations (one per station). Use the chat poll to decide which vault section to show again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vocabulary for today: مُرَاجَعَةٌ review · تَقْيِيمٌ assessment · دَرَجَةٌ mark · نُقْطَةُ قُوَّةٍ strength · هَدَفٌ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A (website, 4 marks). Read each item twice, with a pause.
SCRIPT: ١ صَبَاحُ الخَيْرِ. · ٢ شُكْرًا. · ٣ أَهْلًا وَسَهْلًا. · ٤ مَعَ السَّلَامَةِ.
Private chat: A: 1_ 2_ 3_ 4_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B (website, 5 marks). Read twice at natural pace.
SCRIPT: مَرْحَبًا! اِسْمِي نُورُ. عُمْرِي أَرْبَعَ عَشْرَةَ سَنَةً. أَنَا مِنْ مِصْرَ، وَأَسْكُنُ فِي القَاهِرَةِ.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C (website, 6 marks). Read each item twice.
SCRIPT: ١ مِنْ أَيْنَ أَنْتَ؟ · ٢ كَمْ عُمْرُكِ؟ · ٣ أَسْكُنُ فِي لَنْدَنَ. · ٤ اِسْمِي عُمَرُ. · ٥ مِنْ فَضْلِكَ. · ٦ أَنَا مِنْ بَاكِسْتَانَ.
Private chat: C: 1_ 2_ 3_ 4_ 5_ 6_. Listening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Website instruction: “Read each text carefully. Locate the evidence before selecting an answer.”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A (website, 4 marks). The text stays visible on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B (website, 5 marks): five phrases — مَا اسْمُكِ؟ · كَمْ عُمْرُكَ؟ · أَيْنَ تَسْكُنُ؟ · عَفْوًا ·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Show this slide first; the text is repeated on the Part C slide. Third-person text: هِيَ · ـهَا · تَـ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C (website, 6 marks). Text 3 is on the previous slide and in the side panel:
اِسْمُهَا سَلْمَى. هِيَ مِنَ المَغْرِبِ، وَتَسْكُنُ فِي الرِّبَاطِ. عُمْرُهَا ثَلَاثَ عَشْرَةَ سَنَةً. هِيَ طَالِبَةٌ.
Reading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Reading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“Prepare briefly, then answer aloud without reading a full script.” Cue words only (Core may write a full script if still needed).
MARK SCHEME (website): Warm-up /5 — one mark for each relevant, understandable answer. Role-play /10 (0 · 2 · 4 · 6 · 8 · 10) — reward completion, relevance, accuracy, clear pronunciation and independence.
ORGANISATION: one-to-one with the teacher (others start the writing), or in trusted pairs with the teacher listening. Independent learners may record themselves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Use true information or a sensible invented identity.
MARK SCHEME (website): Form /5 — one mark for each completed meaningful field (the signature line is optional and does not change the total). Guided introduction /10 (0 · 2 · 4 · 6 · 8 · 10) — reward required content, connection, accuracy, organisation and a polite opening / close.
Website full-mark model (show ONLY after students have finished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FULL-MARK MODEL.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“Record your result and set one useful F3 target”): “A score shows where you are today. The target decides what you will improve next.” Use evidence from the four scores.
The bands are a teacher guide in line with the F1 assessment (the website totals the four scores but does not print bands).
A strong target is precise: one skill + one repeated action + a check date (e.g. “Listening: I will play the F2-L09 tasks twice a week; check in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(F3-L01 · My Family: Members and Relationships) will spend class time USING this language, so students prepare it tonight — short, simple, easy to access (school guidance: “Simple, Short, Interesting, Relevant, Easy to access”). F3 begins with the family (website F3-L01 “My Family: Members and Relationships”). أُمٌّ، أَخٌ، أُخْتٌ were already met in F2-L05.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Show What You Can Say: F2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مُرَاجَعَةُ الوَحْدَةِ الثَّانِيَةِ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F2 language system together, revise deliberately, then show what you understand and produce across listening, reading, speaking and writing — and set one precise target for F3.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Revision stations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Speaking and writing: 15 + 15.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التَّحَدُّثُ وَالكِتَابَةُ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score, my strength, my F3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F3: family.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easiest questions. Leave a blank and come back. The revision stations do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where she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تَسْكُنِينَ؟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تَسْكُنُ؟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أَيْنَ أَنْتِ؟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city, not a country.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هُوَ ____ فِي لَنْدَنَ.</a:t>
            </a:r>
            <a:endParaRPr lang="ar-SA" sz="19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تَعِيشُ</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أَعِيشُ</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‘assessment’?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هَدَفٌ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تَقْيِيمٌ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صَبَاحُ الخَيْرِ.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النُّورِ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صَبَاحُ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عَفْوًا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morning pair is </a:t>
            </a:r>
            <a:pPr algn="l" indent="0" marL="0">
              <a:buNone/>
            </a:pPr>
            <a:r>
              <a:rPr lang="ar-SA" altLang="en-US" sz="1350" dirty="0">
                <a:solidFill>
                  <a:srgbClr val="8A6D1E"/>
                </a:solidFill>
                <a:latin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where she lives.</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أَيْنَ تَسْكُنِينَ؟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تَسْكُنُ؟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أَيْنَ أَنْتِ؟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present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city, not a country.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سُورِيَا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القَاهِرَةُ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القَاهِرَةُ</a:t>
            </a:r>
            <a:pPr algn="l" indent="0" marL="0">
              <a:buNone/>
            </a:pPr>
            <a:r>
              <a:rPr lang="en-US" sz="1050" i="1" dirty="0">
                <a:solidFill>
                  <a:srgbClr val="8A6D1E"/>
                </a:solidFill>
                <a:latin typeface="Calibri" pitchFamily="34" charset="0"/>
                <a:cs typeface="Amiri" pitchFamily="2" charset="-78"/>
              </a:rPr>
              <a:t> is Cairo, a city.</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هُوَ ____ فِي لَنْدَنَ.</a:t>
            </a:r>
            <a:endParaRPr lang="ar-SA" sz="19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تَعِيشُ</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يَعِيشُ</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أَعِيشُ</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present verbs commonly begin with </a:t>
            </a:r>
            <a:pPr algn="l" indent="0" marL="0">
              <a:buNone/>
            </a:pPr>
            <a:r>
              <a:rPr lang="ar-SA" altLang="en-US" sz="1350" dirty="0">
                <a:solidFill>
                  <a:srgbClr val="8A6D1E"/>
                </a:solidFill>
                <a:latin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‘assessment’?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هَدَفٌ</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تَقْيِيمٌ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دَرَجَةٌ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تَقْيِيمٌ</a:t>
            </a:r>
            <a:pPr algn="l" indent="0" marL="0">
              <a:buNone/>
            </a:pPr>
            <a:r>
              <a:rPr lang="en-US" sz="1050" i="1" dirty="0">
                <a:solidFill>
                  <a:srgbClr val="8A6D1E"/>
                </a:solidFill>
                <a:latin typeface="Calibri" pitchFamily="34" charset="0"/>
                <a:cs typeface="Amiri" pitchFamily="2" charset="-78"/>
              </a:rPr>
              <a:t> means assessment.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This warm-up does NOT count. It samples all five revision stations: greetings · questions · identity · agreement · forms and links.</a:t>
            </a:r>
            <a:endParaRPr lang="en-US" sz="12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“F2 REVISION ARCADE”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more revision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مَحَطَّاتُ المُرَاجَعَةِ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normally expects yes or no?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تَتَكَلَّمُ العَرَبِيَّةَ؟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says she is Egyptian.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مِصْرِيٌّ.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مِصْرُ.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مِصْرِيَّةٌ.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male teacher’.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مُعَلِّمٌ.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مُعَلِّمٌ.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reason?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NOT MARKED</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Revision only.</a:t>
            </a:r>
            <a:endParaRPr lang="en-US" sz="1250" dirty="0"/>
          </a:p>
          <a:p>
            <a:pPr algn="l" indent="0" marL="0">
              <a:buNone/>
            </a:pPr>
            <a:r>
              <a:rPr lang="en-US" sz="1250" dirty="0">
                <a:solidFill>
                  <a:srgbClr val="1F2A37"/>
                </a:solidFill>
                <a:latin typeface="Calibri" pitchFamily="34" charset="0"/>
                <a:cs typeface="Amiri" pitchFamily="2" charset="-78"/>
              </a:rPr>
              <a:t>Which station was hardest for you?</a:t>
            </a:r>
            <a:endParaRPr lang="en-US" sz="1250" dirty="0"/>
          </a:p>
          <a:p>
            <a:pPr algn="l" indent="0" marL="0">
              <a:buNone/>
            </a:pPr>
            <a:r>
              <a:rPr lang="en-US" sz="1250" dirty="0">
                <a:solidFill>
                  <a:srgbClr val="1F2A37"/>
                </a:solidFill>
                <a:latin typeface="Calibri" pitchFamily="34" charset="0"/>
                <a:cs typeface="Amiri" pitchFamily="2" charset="-78"/>
              </a:rPr>
              <a:t>Type its number (1–5) in the chat.</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حَالُكِ؟</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normally expects yes or no?</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تَتَكَلَّمُ العَرَبِيَّةَ؟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اسْمُكَ؟</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a:t>
            </a:r>
            <a:pPr algn="l" indent="0" marL="0">
              <a:buNone/>
            </a:pPr>
            <a:r>
              <a:rPr lang="en-US" sz="1050" i="1" dirty="0">
                <a:solidFill>
                  <a:srgbClr val="8A6D1E"/>
                </a:solidFill>
                <a:latin typeface="Calibri" pitchFamily="34" charset="0"/>
                <a:cs typeface="Amiri" pitchFamily="2" charset="-78"/>
              </a:rPr>
              <a:t> introduces a yes/no question.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says she is Egyptian.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مِصْرِيٌّ.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مِصْرُ.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مِصْرِيَّةٌ.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nationality is </a:t>
            </a:r>
            <a:pPr algn="l" indent="0" marL="0">
              <a:buNone/>
            </a:pPr>
            <a:r>
              <a:rPr lang="ar-SA" altLang="en-US" sz="1350" dirty="0">
                <a:solidFill>
                  <a:srgbClr val="8A6D1E"/>
                </a:solidFill>
                <a:latin typeface="Amiri" pitchFamily="2" charset="-78"/>
                <a:cs typeface="Amiri" pitchFamily="2" charset="-78"/>
              </a:rPr>
              <a:t>مِصْرِيَّةٌ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male teacher’.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مُعَلِّمٌ.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مُعَلِّمٌ.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introduces a masculine singular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reason?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2"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NOT MARKED</a:t>
            </a:r>
            <a:endParaRPr lang="en-US" sz="1000" dirty="0"/>
          </a:p>
        </p:txBody>
      </p:sp>
      <p:sp>
        <p:nvSpPr>
          <p:cNvPr id="93"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Revision only.</a:t>
            </a:r>
            <a:endParaRPr lang="en-US" sz="1250" dirty="0"/>
          </a:p>
          <a:p>
            <a:pPr algn="l" indent="0" marL="0">
              <a:buNone/>
            </a:pPr>
            <a:r>
              <a:rPr lang="en-US" sz="1250" dirty="0">
                <a:solidFill>
                  <a:srgbClr val="1F2A37"/>
                </a:solidFill>
                <a:latin typeface="Calibri" pitchFamily="34" charset="0"/>
                <a:cs typeface="Amiri" pitchFamily="2" charset="-78"/>
              </a:rPr>
              <a:t>Which station was hardest for you?</a:t>
            </a:r>
            <a:endParaRPr lang="en-US" sz="1250" dirty="0"/>
          </a:p>
          <a:p>
            <a:pPr algn="l" indent="0" marL="0">
              <a:buNone/>
            </a:pPr>
            <a:r>
              <a:rPr lang="en-US" sz="1250" dirty="0">
                <a:solidFill>
                  <a:srgbClr val="1F2A37"/>
                </a:solidFill>
                <a:latin typeface="Calibri" pitchFamily="34" charset="0"/>
                <a:cs typeface="Amiri" pitchFamily="2" charset="-78"/>
              </a:rPr>
              <a:t>Type its number (1–5) in the chat.</a:t>
            </a:r>
            <a:endParaRPr lang="en-US" sz="1250" dirty="0"/>
          </a:p>
        </p:txBody>
      </p:sp>
      <p:sp>
        <p:nvSpPr>
          <p:cNvPr id="94"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four short phrases (4) · B: Nour’s introduction (5) · C: six short items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Karim’s profile (4) · B: match phrases to meanings (5) · C: Salma — true or false (6)</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Warm-up questions (5) · role-play with a new classmate (10)</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cs typeface="Amiri" pitchFamily="2" charset="-78"/>
              </a:rPr>
              <a:t>التَّحَدُّثُ</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five fields (5) · a guided introduction of five or six lines (10)</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cs typeface="Amiri" pitchFamily="2" charset="-78"/>
              </a:rPr>
              <a:t>الكِتَابَةُ</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A · 4 MARKS · CHOOSE THE PHRASE HEARD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 Four short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which phrase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الخَيْرِ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مَسَاءُ الخَيْرِ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which phrase did you hear?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which phrase did you hear?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وَسَهْلًا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which phrase did you hear?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which phrase did you hear?</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صَبَاحُ الخَيْرِ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مَسَاءُ الخَيْرِ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good morning.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which phrase did you hear?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عَفْوًا</a:t>
            </a:r>
            <a:endParaRPr lang="ar-SA" sz="170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شُكْرًا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شُكْرًا</a:t>
            </a:r>
            <a:pPr algn="l" indent="0" marL="0">
              <a:buNone/>
            </a:pPr>
            <a:r>
              <a:rPr lang="en-US" sz="1050" i="1" dirty="0">
                <a:solidFill>
                  <a:srgbClr val="8A6D1E"/>
                </a:solidFill>
                <a:latin typeface="Calibri" pitchFamily="34" charset="0"/>
                <a:cs typeface="Amiri" pitchFamily="2" charset="-78"/>
              </a:rPr>
              <a:t> — thank you.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which phrase did you hear?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أَهْلًا وَسَهْلًا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أَهْلًا وَسَهْلًا</a:t>
            </a:r>
            <a:pPr algn="l" indent="0" marL="0">
              <a:buNone/>
            </a:pPr>
            <a:r>
              <a:rPr lang="en-US" sz="1050" i="1" dirty="0">
                <a:solidFill>
                  <a:srgbClr val="8A6D1E"/>
                </a:solidFill>
                <a:latin typeface="Calibri" pitchFamily="34" charset="0"/>
                <a:cs typeface="Amiri" pitchFamily="2" charset="-78"/>
              </a:rPr>
              <a:t> — welcome.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which phrase did you hear?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السَّلَامَةِ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النُّورِ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 goodbye.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B · 5 MARKS · NOUR INTRODUCES HERSELF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B · Nour’s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سَلْمَى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الرِّبَاطُ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greeting opens the introduction?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صَبَاحُ النُّورِ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1: who and which facts?</a:t>
            </a:r>
            <a:endParaRPr lang="en-US" sz="1250" dirty="0"/>
          </a:p>
          <a:p>
            <a:pPr algn="l" indent="0" marL="0">
              <a:buNone/>
            </a:pPr>
            <a:r>
              <a:rPr lang="en-US" sz="1250" dirty="0">
                <a:solidFill>
                  <a:srgbClr val="1F2A37"/>
                </a:solidFill>
                <a:latin typeface="Calibri" pitchFamily="34" charset="0"/>
                <a:cs typeface="Amiri" pitchFamily="2" charset="-78"/>
              </a:rPr>
              <a:t>Listen 2: the exact details.</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سَلْمَى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نُورٌ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اِسْمِي نُورُ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١٣</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١٥</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أَرْبَعَ عَشْرَةَ سَنَةً</a:t>
            </a:r>
            <a:pPr algn="l" indent="0" marL="0">
              <a:buNone/>
            </a:pPr>
            <a:r>
              <a:rPr lang="en-US" sz="1050" i="1" dirty="0">
                <a:solidFill>
                  <a:srgbClr val="8A6D1E"/>
                </a:solidFill>
                <a:latin typeface="Calibri" pitchFamily="34" charset="0"/>
                <a:cs typeface="Amiri" pitchFamily="2" charset="-78"/>
              </a:rPr>
              <a:t> — fourteen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سُورِيَا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أَنَا مِنْ مِصْرَ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حَلَبُ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القَاهِرَةُ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الرِّبَاطُ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أَسْكُنُ فِي القَاهِرَةِ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greeting opens the introduction?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مَرْحَبًا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صَبَاحُ النُّورِ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introduction begins with </a:t>
            </a:r>
            <a:pPr algn="l" indent="0" marL="0">
              <a:buNone/>
            </a:pPr>
            <a:r>
              <a:rPr lang="ar-SA" altLang="en-US" sz="1350" dirty="0">
                <a:solidFill>
                  <a:srgbClr val="8A6D1E"/>
                </a:solidFill>
                <a:latin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1: who and which facts?</a:t>
            </a:r>
            <a:endParaRPr lang="en-US" sz="1250" dirty="0"/>
          </a:p>
          <a:p>
            <a:pPr algn="l" indent="0" marL="0">
              <a:buNone/>
            </a:pPr>
            <a:r>
              <a:rPr lang="en-US" sz="1250" dirty="0">
                <a:solidFill>
                  <a:srgbClr val="1F2A37"/>
                </a:solidFill>
                <a:latin typeface="Calibri" pitchFamily="34" charset="0"/>
                <a:cs typeface="Amiri" pitchFamily="2" charset="-78"/>
              </a:rPr>
              <a:t>Listen 2: the exact details.</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C · 6 MARKS · MATCH THE SIX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 · Six short items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what does it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what does it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nationality?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what does it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what does it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Omar.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name is Omar.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Omar’s friend.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5: what does it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girl.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are welcome.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boy.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6: what does it mean?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Pakistan.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Pakistan.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Pakistani (female).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what does it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do you live?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 are you from?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أَيْنَ أَنْتَ؟</a:t>
            </a:r>
            <a:pPr algn="l" indent="0" marL="0">
              <a:buNone/>
            </a:pPr>
            <a:r>
              <a:rPr lang="en-US" sz="1050" i="1" dirty="0">
                <a:solidFill>
                  <a:srgbClr val="8A6D1E"/>
                </a:solidFill>
                <a:latin typeface="Calibri" pitchFamily="34" charset="0"/>
                <a:cs typeface="Amiri" pitchFamily="2" charset="-78"/>
              </a:rPr>
              <a:t> asks a boy where he is from.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what does it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are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nationality?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عُمْرُكِ؟</a:t>
            </a:r>
            <a:pPr algn="l" indent="0" marL="0">
              <a:buNone/>
            </a:pPr>
            <a:r>
              <a:rPr lang="en-US" sz="1050" i="1" dirty="0">
                <a:solidFill>
                  <a:srgbClr val="8A6D1E"/>
                </a:solidFill>
                <a:latin typeface="Calibri" pitchFamily="34" charset="0"/>
                <a:cs typeface="Amiri" pitchFamily="2" charset="-78"/>
              </a:rPr>
              <a:t> asks a girl her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what does it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from 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live in London.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speak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أَسْكُنُ فِي لَنْدَنَ</a:t>
            </a:r>
            <a:pPr algn="l" indent="0" marL="0">
              <a:buNone/>
            </a:pPr>
            <a:r>
              <a:rPr lang="en-US" sz="1050" i="1" dirty="0">
                <a:solidFill>
                  <a:srgbClr val="8A6D1E"/>
                </a:solidFill>
                <a:latin typeface="Calibri" pitchFamily="34" charset="0"/>
                <a:cs typeface="Amiri" pitchFamily="2" charset="-78"/>
              </a:rPr>
              <a:t> means ‘I live in London’.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what does it mean?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name is Omar.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name is Omar.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Omar’s friend.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اِسْمِي عُمَرُ</a:t>
            </a:r>
            <a:pPr algn="l" indent="0" marL="0">
              <a:buNone/>
            </a:pPr>
            <a:r>
              <a:rPr lang="en-US" sz="1050" i="1" dirty="0">
                <a:solidFill>
                  <a:srgbClr val="8A6D1E"/>
                </a:solidFill>
                <a:latin typeface="Calibri" pitchFamily="34" charset="0"/>
                <a:cs typeface="Amiri" pitchFamily="2" charset="-78"/>
              </a:rPr>
              <a:t> means ‘My name is Omar’.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5: what does it mean?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Please, to a girl.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are welcome.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 to a boy.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is ‘please’ to one 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6: what does it mean?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live in Pakistan.</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from Pakistan.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Pakistani (female).</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 means ‘I am from Pakistan’.</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KARIM’S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2" charset="-78"/>
                <a:cs typeface="Amiri" pitchFamily="2" charset="-78"/>
              </a:rPr>
              <a:t>أَهْلًا وَسَهْلًا! اِسْمِي كَرِيمٌ. عُمْرِي خَمْسَ عَشْرَةَ سَنَةً. أَنَا مِنْ سُورِيَا، وَأَسْكُنُ فِي حَلَبَ. أَنَا طَالِبٌ.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A · 4 MARKS · PROFILE COMPREHENSION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 Karim’s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person’s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كَرِيمٌ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طَارِقٌ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1</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cs typeface="Amiri" pitchFamily="2" charset="-78"/>
              </a:rPr>
              <a:t>أَهْلًا وَسَهْلًا! اِسْمِي كَرِيمٌ. عُمْرِي خَمْسَ عَشْرَةَ سَنَةً. أَنَا مِنْ سُورِيَا، وَأَسْكُنُ فِي حَلَبَ. أَنَا طَالِبٌ.</a:t>
            </a:r>
            <a:endParaRPr lang="ar-SA"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person’s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كَرِيمٌ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طَارِقٌ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اِسْمِي كَرِيمٌ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١٣</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١٥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خَمْسَ عَشْرَةَ سَنَةً</a:t>
            </a:r>
            <a:pPr algn="l" indent="0" marL="0">
              <a:buNone/>
            </a:pPr>
            <a:r>
              <a:rPr lang="en-US" sz="1050" i="1" dirty="0">
                <a:solidFill>
                  <a:srgbClr val="8A6D1E"/>
                </a:solidFill>
                <a:latin typeface="Calibri" pitchFamily="34" charset="0"/>
                <a:cs typeface="Amiri" pitchFamily="2" charset="-78"/>
              </a:rPr>
              <a:t> means fifteen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سُورِيَا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أَنَا مِنْ سُورِيَا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القَاهِرَةُ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حَلَبُ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أَسْكُنُ فِي حَلَبَ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1</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cs typeface="Amiri" pitchFamily="2" charset="-78"/>
              </a:rPr>
              <a:t>أَهْلًا وَسَهْلًا! اِسْمِي كَرِيمٌ. عُمْرِي خَمْسَ عَشْرَةَ سَنَةً. أَنَا مِنْ سُورِيَا، وَأَسْكُنُ فِي حَلَبَ. أَنَا طَالِبٌ.</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B · 5 MARKS · MATCH PHRASES TO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B · What does it mean?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boy)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language do you speak?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(to a boy)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are welcome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evening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 goodbye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READING B</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at the ending: -ka (boy) or -ki (girl).</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old are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is your name?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do you live?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مَا</a:t>
            </a:r>
            <a:pPr algn="l" indent="0" marL="0">
              <a:buNone/>
            </a:pPr>
            <a:r>
              <a:rPr lang="en-US" sz="1050" i="1" dirty="0">
                <a:solidFill>
                  <a:srgbClr val="8A6D1E"/>
                </a:solidFill>
                <a:latin typeface="Calibri" pitchFamily="34" charset="0"/>
                <a:cs typeface="Amiri" pitchFamily="2" charset="-78"/>
              </a:rPr>
              <a:t> asks ‘what’, and final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a girl.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 (to a boy)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 (to a boy)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are you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عُمْرُكَ؟</a:t>
            </a:r>
            <a:pPr algn="l" indent="0" marL="0">
              <a:buNone/>
            </a:pPr>
            <a:r>
              <a:rPr lang="en-US" sz="1050" i="1" dirty="0">
                <a:solidFill>
                  <a:srgbClr val="8A6D1E"/>
                </a:solidFill>
                <a:latin typeface="Calibri" pitchFamily="34" charset="0"/>
                <a:cs typeface="Amiri" pitchFamily="2" charset="-78"/>
              </a:rPr>
              <a:t> asks one male his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are you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Which language do you speak?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 do you live? (to a boy)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أَيْنَ تَسْكُنُ؟</a:t>
            </a:r>
            <a:pPr algn="l" indent="0" marL="0">
              <a:buNone/>
            </a:pPr>
            <a:r>
              <a:rPr lang="en-US" sz="1050" i="1" dirty="0">
                <a:solidFill>
                  <a:srgbClr val="8A6D1E"/>
                </a:solidFill>
                <a:latin typeface="Calibri" pitchFamily="34" charset="0"/>
                <a:cs typeface="Amiri" pitchFamily="2" charset="-78"/>
              </a:rPr>
              <a:t> asks one male where he lives.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are welcome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 evening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عَفْوًا</a:t>
            </a:r>
            <a:pPr algn="l" indent="0" marL="0">
              <a:buNone/>
            </a:pPr>
            <a:r>
              <a:rPr lang="en-US" sz="1050" i="1" dirty="0">
                <a:solidFill>
                  <a:srgbClr val="8A6D1E"/>
                </a:solidFill>
                <a:latin typeface="Calibri" pitchFamily="34" charset="0"/>
                <a:cs typeface="Amiri" pitchFamily="2" charset="-78"/>
              </a:rPr>
              <a:t> can be the reply ‘you are welcome’.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Welcome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 you / goodbye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Please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إِلَى اللِّقَاءِ</a:t>
            </a:r>
            <a:pPr algn="l" indent="0" marL="0">
              <a:buNone/>
            </a:pPr>
            <a:r>
              <a:rPr lang="en-US" sz="1050" i="1" dirty="0">
                <a:solidFill>
                  <a:srgbClr val="8A6D1E"/>
                </a:solidFill>
                <a:latin typeface="Calibri" pitchFamily="34" charset="0"/>
                <a:cs typeface="Amiri" pitchFamily="2" charset="-78"/>
              </a:rPr>
              <a:t> is a farewell meaning ‘until we meet’.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READING B</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at the ending: -ka (boy) or -ki (girl).</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READING · TEXT 3 · SALMA’S PROFILE (WEBSITE) · KEEP ON SCREEN FOR PART C</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Text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2" charset="-78"/>
                <a:cs typeface="Amiri" pitchFamily="2" charset="-78"/>
              </a:rPr>
              <a:t>اِسْمُهَا سَلْمَى. هِيَ مِنَ المَغْرِبِ، وَتَسْكُنُ فِي الرِّبَاطِ. عُمْرُهَا ثَلَاثَ عَشْرَةَ سَنَةً. هِيَ طَالِبَةٌ.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C · 6 MARKS · SALMA’S PROFILE · TRUE OR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 · True or false?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name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from Egypt.</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Rabat.</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fourteen years old.</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student.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is about a boy.</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3</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cs typeface="Amiri" pitchFamily="2" charset="-78"/>
              </a:rPr>
              <a:t>اِسْمُهَا سَلْمَى. هِيَ مِنَ المَغْرِبِ، وَتَسْكُنُ فِي الرِّبَاطِ. عُمْرُهَا ثَلَاثَ عَشْرَةَ سَنَةً. هِيَ طَالِبَةٌ.</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name is Salma.</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cs typeface="Amiri" pitchFamily="2" charset="-78"/>
              </a:rPr>
              <a:t>اِسْمُهَا سَلْمَى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from Egypt.</a:t>
            </a:r>
            <a:endParaRPr lang="en-US" sz="1250" dirty="0"/>
          </a:p>
        </p:txBody>
      </p:sp>
      <p:sp>
        <p:nvSpPr>
          <p:cNvPr id="31" name="Shape 28"/>
          <p:cNvSpPr/>
          <p:nvPr/>
        </p:nvSpPr>
        <p:spPr>
          <a:xfrm>
            <a:off x="3412998" y="2496312"/>
            <a:ext cx="2498598"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3504438" y="2532888"/>
            <a:ext cx="256032" cy="256032"/>
          </a:xfrm>
          <a:prstGeom prst="ellipse">
            <a:avLst/>
          </a:prstGeom>
          <a:solidFill>
            <a:srgbClr val="2E8B57"/>
          </a:solidFill>
          <a:ln w="12700">
            <a:solidFill>
              <a:srgbClr val="2E8B57"/>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35" name="Shape 32"/>
          <p:cNvSpPr/>
          <p:nvPr/>
        </p:nvSpPr>
        <p:spPr>
          <a:xfrm>
            <a:off x="3504438" y="29900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from Morocco: </a:t>
            </a:r>
            <a:pPr algn="l" indent="0" marL="0">
              <a:buNone/>
            </a:pPr>
            <a:r>
              <a:rPr lang="ar-SA" altLang="en-US" sz="1350" dirty="0">
                <a:solidFill>
                  <a:srgbClr val="8A6D1E"/>
                </a:solidFill>
                <a:latin typeface="Amiri" pitchFamily="2" charset="-78"/>
                <a:cs typeface="Amiri" pitchFamily="2" charset="-78"/>
              </a:rPr>
              <a:t>هِيَ مِنَ المَغْرِبِ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Rabat.</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وَتَسْكُنُ فِي الرِّبَاطِ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fourteen years old.</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thirteen: </a:t>
            </a:r>
            <a:pPr algn="l" indent="0" marL="0">
              <a:buNone/>
            </a:pPr>
            <a:r>
              <a:rPr lang="ar-SA" altLang="en-US" sz="1350" dirty="0">
                <a:solidFill>
                  <a:srgbClr val="8A6D1E"/>
                </a:solidFill>
                <a:latin typeface="Amiri" pitchFamily="2" charset="-78"/>
                <a:cs typeface="Amiri" pitchFamily="2" charset="-78"/>
              </a:rPr>
              <a:t>ثَلَاثَ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student.</a:t>
            </a:r>
            <a:endParaRPr lang="en-US" sz="1250" dirty="0"/>
          </a:p>
        </p:txBody>
      </p:sp>
      <p:sp>
        <p:nvSpPr>
          <p:cNvPr id="67" name="Shape 64"/>
          <p:cNvSpPr/>
          <p:nvPr/>
        </p:nvSpPr>
        <p:spPr>
          <a:xfrm>
            <a:off x="640080" y="487375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70" name="Shape 67"/>
          <p:cNvSpPr/>
          <p:nvPr/>
        </p:nvSpPr>
        <p:spPr>
          <a:xfrm>
            <a:off x="548640" y="5294376"/>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33095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هِيَ طَالِبَةٌ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is about a boy.</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profile uses feminine forms: </a:t>
            </a:r>
            <a:pPr algn="l" indent="0" marL="0">
              <a:buNone/>
            </a:pPr>
            <a:r>
              <a:rPr lang="ar-SA" altLang="en-US" sz="1350" dirty="0">
                <a:solidFill>
                  <a:srgbClr val="8A6D1E"/>
                </a:solidFill>
                <a:latin typeface="Amiri" pitchFamily="2" charset="-78"/>
                <a:cs typeface="Amiri" pitchFamily="2" charset="-78"/>
              </a:rPr>
              <a:t>هِيَ، اِسْمُهَا، عُمْرُهَا، طَالِبَةٌ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3</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cs typeface="Amiri" pitchFamily="2" charset="-78"/>
              </a:rPr>
              <a:t>اِسْمُهَا سَلْمَى. هِيَ مِنَ المَغْرِبِ، وَتَسْكُنُ فِي الرِّبَاطِ. عُمْرُهَا ثَلَاثَ عَشْرَةَ سَنَةً. هِيَ طَالِبَةٌ.</a:t>
            </a:r>
            <a:endParaRPr lang="ar-SA"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15 MARKS · WARM-UP (5) + ROLE-PLAY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1 · warm-up questions (1 mark each)</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2 · role-play with a new classmate (10)</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153912" y="2267712"/>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 اسْمُكَ؟ / مَا اسْمُكِ؟</a:t>
            </a:r>
            <a:endParaRPr lang="ar-SA" sz="2000" dirty="0"/>
          </a:p>
        </p:txBody>
      </p:sp>
      <p:sp>
        <p:nvSpPr>
          <p:cNvPr id="20" name="Text 17"/>
          <p:cNvSpPr txBox="1"/>
          <p:nvPr/>
        </p:nvSpPr>
        <p:spPr>
          <a:xfrm>
            <a:off x="56692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 the new classmate.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153912" y="3004718"/>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كَمْ عُمْرُكَ؟ / كَمْ عُمْرُكِ؟</a:t>
            </a:r>
            <a:endParaRPr lang="ar-SA" sz="2000" dirty="0"/>
          </a:p>
        </p:txBody>
      </p:sp>
      <p:sp>
        <p:nvSpPr>
          <p:cNvPr id="25" name="Text 22"/>
          <p:cNvSpPr txBox="1"/>
          <p:nvPr/>
        </p:nvSpPr>
        <p:spPr>
          <a:xfrm>
            <a:off x="56692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Say your name.   3 · Say your age.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153912" y="3741725"/>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 أَيْنَ أَنْتَ؟ / أَنْتِ؟</a:t>
            </a:r>
            <a:endParaRPr lang="ar-SA" sz="2000" dirty="0"/>
          </a:p>
        </p:txBody>
      </p:sp>
      <p:sp>
        <p:nvSpPr>
          <p:cNvPr id="30" name="Text 27"/>
          <p:cNvSpPr txBox="1"/>
          <p:nvPr/>
        </p:nvSpPr>
        <p:spPr>
          <a:xfrm>
            <a:off x="56692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Say where you are from and where you live.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153912" y="4478731"/>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أَيْنَ تَسْكُنُ؟ / تَسْكُنِينَ؟</a:t>
            </a:r>
            <a:endParaRPr lang="ar-SA" sz="2000" dirty="0"/>
          </a:p>
        </p:txBody>
      </p:sp>
      <p:sp>
        <p:nvSpPr>
          <p:cNvPr id="35" name="Text 32"/>
          <p:cNvSpPr txBox="1"/>
          <p:nvPr/>
        </p:nvSpPr>
        <p:spPr>
          <a:xfrm>
            <a:off x="566928" y="4478731"/>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Ask one personal-information question.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172200" y="5215738"/>
            <a:ext cx="5486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“thank you” in Arabic.</a:t>
            </a:r>
            <a:endParaRPr lang="en-US" sz="1100" dirty="0"/>
          </a:p>
        </p:txBody>
      </p:sp>
      <p:sp>
        <p:nvSpPr>
          <p:cNvPr id="40" name="Text 37"/>
          <p:cNvSpPr txBox="1"/>
          <p:nvPr/>
        </p:nvSpPr>
        <p:spPr>
          <a:xfrm>
            <a:off x="56692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Close politely.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greeting · name · age · country · city · question · closing.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15 MARKS · FORM (5) + GUIDED INTRODUCTION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A · complete five fields (5)</a:t>
            </a:r>
            <a:endParaRPr lang="en-US" sz="1100" dirty="0"/>
          </a:p>
        </p:txBody>
      </p:sp>
      <p:sp>
        <p:nvSpPr>
          <p:cNvPr id="17" name="Text 14"/>
          <p:cNvSpPr txBox="1"/>
          <p:nvPr/>
        </p:nvSpPr>
        <p:spPr>
          <a:xfrm>
            <a:off x="53035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B · five or six connected lines (10)</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7616952" y="226771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الاِسْمُ: ______</a:t>
            </a:r>
            <a:endParaRPr lang="ar-SA" sz="2200" dirty="0"/>
          </a:p>
        </p:txBody>
      </p:sp>
      <p:sp>
        <p:nvSpPr>
          <p:cNvPr id="20" name="Text 17"/>
          <p:cNvSpPr txBox="1"/>
          <p:nvPr/>
        </p:nvSpPr>
        <p:spPr>
          <a:xfrm>
            <a:off x="566928" y="226771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greeting · your name · your 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616952" y="2950464"/>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العُمْرُ: ______</a:t>
            </a:r>
            <a:endParaRPr lang="ar-SA" sz="2200" dirty="0"/>
          </a:p>
        </p:txBody>
      </p:sp>
      <p:sp>
        <p:nvSpPr>
          <p:cNvPr id="25" name="Text 22"/>
          <p:cNvSpPr txBox="1"/>
          <p:nvPr/>
        </p:nvSpPr>
        <p:spPr>
          <a:xfrm>
            <a:off x="566928" y="2950464"/>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from · where you live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7616952" y="3633216"/>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الجِنْسِيَّةُ: ______</a:t>
            </a:r>
            <a:endParaRPr lang="ar-SA" sz="2200" dirty="0"/>
          </a:p>
        </p:txBody>
      </p:sp>
      <p:sp>
        <p:nvSpPr>
          <p:cNvPr id="30" name="Text 27"/>
          <p:cNvSpPr txBox="1"/>
          <p:nvPr/>
        </p:nvSpPr>
        <p:spPr>
          <a:xfrm>
            <a:off x="566928" y="3633216"/>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polite phrase · join ideas with </a:t>
            </a:r>
            <a:pPr algn="l" indent="0" marL="0">
              <a:buNone/>
            </a:pPr>
            <a:r>
              <a:rPr lang="ar-SA" altLang="en-US" sz="1450" dirty="0">
                <a:solidFill>
                  <a:srgbClr val="5A6472"/>
                </a:solidFill>
                <a:latin typeface="Amiri" pitchFamily="2" charset="-78"/>
                <a:cs typeface="Amiri" pitchFamily="2" charset="-78"/>
              </a:rPr>
              <a:t>وَ</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7616952" y="4315968"/>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البَلَدُ: ______</a:t>
            </a:r>
            <a:endParaRPr lang="ar-SA" sz="2200" dirty="0"/>
          </a:p>
        </p:txBody>
      </p:sp>
      <p:sp>
        <p:nvSpPr>
          <p:cNvPr id="35" name="Text 32"/>
          <p:cNvSpPr txBox="1"/>
          <p:nvPr/>
        </p:nvSpPr>
        <p:spPr>
          <a:xfrm>
            <a:off x="566928" y="4315968"/>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 / Stretch: add nationality, languages,</a:t>
            </a:r>
            <a:endParaRPr lang="en-US" sz="1100" dirty="0"/>
          </a:p>
        </p:txBody>
      </p:sp>
      <p:sp>
        <p:nvSpPr>
          <p:cNvPr id="36" name="Shape 33"/>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7616952" y="4998720"/>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مَكَانُ السَّكَنِ: ______</a:t>
            </a:r>
            <a:endParaRPr lang="ar-SA" sz="2200" dirty="0"/>
          </a:p>
        </p:txBody>
      </p:sp>
      <p:sp>
        <p:nvSpPr>
          <p:cNvPr id="40" name="Text 37"/>
          <p:cNvSpPr txBox="1"/>
          <p:nvPr/>
        </p:nvSpPr>
        <p:spPr>
          <a:xfrm>
            <a:off x="566928" y="4998720"/>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interest (+ </a:t>
            </a:r>
            <a:pPr algn="l" indent="0" marL="0">
              <a:buNone/>
            </a:pPr>
            <a:r>
              <a:rPr lang="ar-SA" altLang="en-US" sz="1450" dirty="0">
                <a:solidFill>
                  <a:srgbClr val="5A6472"/>
                </a:solidFill>
                <a:latin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and another connective.</a:t>
            </a:r>
            <a:endParaRPr lang="en-US" sz="1100" dirty="0"/>
          </a:p>
        </p:txBody>
      </p:sp>
      <p:sp>
        <p:nvSpPr>
          <p:cNvPr id="41" name="Shape 38"/>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616952" y="568147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التَّوْقِيعُ: ______</a:t>
            </a:r>
            <a:endParaRPr lang="ar-SA" sz="2200" dirty="0"/>
          </a:p>
        </p:txBody>
      </p:sp>
      <p:sp>
        <p:nvSpPr>
          <p:cNvPr id="45" name="Text 42"/>
          <p:cNvSpPr txBox="1"/>
          <p:nvPr/>
        </p:nvSpPr>
        <p:spPr>
          <a:xfrm>
            <a:off x="566928" y="568147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Signature: optional practice — not marked.</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full-mark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السَّلَامُ عَلَيْكُمْ! اِسْمِي يُوسُفُ، وَعُمْرِي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name · age (joined with </a:t>
            </a:r>
            <a:pPr algn="l" indent="0" marL="0">
              <a:buNone/>
            </a:pPr>
            <a:r>
              <a:rPr lang="ar-SA" altLang="en-US" sz="1650" dirty="0">
                <a:solidFill>
                  <a:srgbClr val="1F2A37"/>
                </a:solidFill>
                <a:latin typeface="Amiri" pitchFamily="2" charset="-78"/>
                <a:cs typeface="Amiri" pitchFamily="2" charset="-78"/>
              </a:rPr>
              <a:t>وَ</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مِنْ بَرِيطَانِيَا، وَأَسْكُنُ فِي لَنْدَنَ.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origin (</a:t>
            </a:r>
            <a:pPr algn="l" indent="0" marL="0">
              <a:buNone/>
            </a:pPr>
            <a:r>
              <a:rPr lang="ar-SA" altLang="en-US" sz="1650" dirty="0">
                <a:solidFill>
                  <a:srgbClr val="1F2A37"/>
                </a:solidFill>
                <a:latin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 residence (</a:t>
            </a:r>
            <a:pPr algn="l" indent="0" marL="0">
              <a:buNone/>
            </a:pPr>
            <a:r>
              <a:rPr lang="ar-SA" altLang="en-US" sz="1650" dirty="0">
                <a:solidFill>
                  <a:srgbClr val="1F2A37"/>
                </a:solidFill>
                <a:latin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طَالِبٌ، وَأَتَكَلَّمُ الإِنْجِلِيزِيَّةَ وَالعَرَبِيَّةَ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 languages · </a:t>
            </a:r>
            <a:pPr algn="l" indent="0" marL="0">
              <a:buNone/>
            </a:pPr>
            <a:r>
              <a:rPr lang="ar-SA" altLang="en-US" sz="1650" dirty="0">
                <a:solidFill>
                  <a:srgbClr val="1F2A37"/>
                </a:solidFill>
                <a:latin typeface="Amiri" pitchFamily="2" charset="-78"/>
                <a:cs typeface="Amiri" pitchFamily="2" charset="-78"/>
              </a:rPr>
              <a:t>أَيْضًا</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القِرَاءَةَ لِأَنَّهَا مُفِيدَةٌ.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 + reason (</a:t>
            </a:r>
            <a:pPr algn="l" indent="0" marL="0">
              <a:buNone/>
            </a:pPr>
            <a:r>
              <a:rPr lang="ar-SA" altLang="en-US" sz="1650" dirty="0">
                <a:solidFill>
                  <a:srgbClr val="1F2A37"/>
                </a:solidFill>
                <a:latin typeface="Amiri" pitchFamily="2" charset="-78"/>
                <a:cs typeface="Amiri" pitchFamily="2" charset="-78"/>
              </a:rPr>
              <a:t>لِأَنَّ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شُكْرًا،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RECORD YOUR SCORE AND SET ONE F3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F2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F3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F2 retrieval early in F3</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F3</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My strength (</a:t>
            </a:r>
            <a:pPr algn="l" indent="0" marL="0">
              <a:buNone/>
            </a:pPr>
            <a:r>
              <a:rPr lang="ar-SA" altLang="en-US" sz="1500" b="1" dirty="0">
                <a:solidFill>
                  <a:srgbClr val="1B3B6F"/>
                </a:solidFill>
                <a:latin typeface="Amiri" pitchFamily="2" charset="-78"/>
                <a:cs typeface="Amiri" pitchFamily="2" charset="-78"/>
              </a:rPr>
              <a:t>نُقْطَةُ قُوَّتِي</a:t>
            </a:r>
            <a:pPr algn="l" indent="0" marL="0">
              <a:buNone/>
            </a:pPr>
            <a:r>
              <a:rPr lang="en-US" sz="1150" b="1" dirty="0">
                <a:solidFill>
                  <a:srgbClr val="1B3B6F"/>
                </a:solidFill>
                <a:latin typeface="Calibri" pitchFamily="34" charset="0"/>
                <a:cs typeface="Amiri" pitchFamily="2" charset="-78"/>
              </a:rPr>
              <a:t>) … · My F3 target (</a:t>
            </a:r>
            <a:pPr algn="l" indent="0" marL="0">
              <a:buNone/>
            </a:pPr>
            <a:r>
              <a:rPr lang="ar-SA" altLang="en-US" sz="1500" b="1" dirty="0">
                <a:solidFill>
                  <a:srgbClr val="1B3B6F"/>
                </a:solidFill>
                <a:latin typeface="Amiri" pitchFamily="2" charset="-78"/>
                <a:cs typeface="Amiri" pitchFamily="2" charset="-78"/>
              </a:rPr>
              <a:t>هَدَفِي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greet, give my name and age, and close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 boy or a girl a personal question with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where I am from and where I live, and my languages.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profile and find exact information.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connected introduction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F3-L01 · My Family: Members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family</a:t>
            </a:r>
            <a:pPr indent="0" marL="0">
              <a:buNone/>
            </a:pPr>
            <a:r>
              <a:rPr lang="en-US" sz="1000" i="1" dirty="0">
                <a:solidFill>
                  <a:srgbClr val="5A6472"/>
                </a:solidFill>
                <a:latin typeface="Calibri" pitchFamily="34" charset="0"/>
                <a:cs typeface="Amiri" pitchFamily="2" charset="-78"/>
              </a:rPr>
              <a:t>  my: أُسْرَتِي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mother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brother</a:t>
            </a:r>
            <a:pPr indent="0" marL="0">
              <a:buNone/>
            </a:pPr>
            <a:r>
              <a:rPr lang="en-US" sz="1000" i="1" dirty="0">
                <a:solidFill>
                  <a:srgbClr val="5A6472"/>
                </a:solidFill>
                <a:latin typeface="Calibri" pitchFamily="34" charset="0"/>
                <a:cs typeface="Amiri" pitchFamily="2" charset="-78"/>
              </a:rPr>
              <a:t>  pl. إِخْوَةٌ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sister</a:t>
            </a:r>
            <a:pPr indent="0" marL="0">
              <a:buNone/>
            </a:pPr>
            <a:r>
              <a:rPr lang="en-US" sz="1000" i="1" dirty="0">
                <a:solidFill>
                  <a:srgbClr val="5A6472"/>
                </a:solidFill>
                <a:latin typeface="Calibri" pitchFamily="34" charset="0"/>
                <a:cs typeface="Amiri" pitchFamily="2" charset="-78"/>
              </a:rPr>
              <a:t>  pl. أَخَوَاتٌ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F3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Repeat the website revision station with your lowest score; learn the five family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on the website; then learn the family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short profile of a family member (he / she forms from F2-L08) using the new family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F3-L01 · My Family: Members and Relationships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أُسْرَتِي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F2 complete — well done! Learn 5 family words for F3.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F2-L12 · Show What You Can Say: F2 Review &amp; Assessment</dc:title>
  <dc:subject>PptxGenJS Presentation</dc:subject>
  <dc:creator>Al Madina Online School · Arabic Department</dc:creator>
  <cp:lastModifiedBy>Al Madina Online School · Arabic Department</cp:lastModifiedBy>
  <cp:revision>1</cp:revision>
  <dcterms:created xsi:type="dcterms:W3CDTF">2026-10-11T06:41:28Z</dcterms:created>
  <dcterms:modified xsi:type="dcterms:W3CDTF">2026-10-11T06:41:28Z</dcterms:modified>
</cp:coreProperties>
</file>