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F2 Greetings &amp; Introductions › Lesson 8 (F2-L08). Website sections used: the six-question perspective switch, the complete vocabulary bank (profile words, school and interests, connectors, the third-person verb bank, the profile-enrichment hobby bank), the he/she pattern and its ten-question check, the category-scanning strategy, the Profile Builder Mission (12), Noor’s listening profile (8 questions), Ahmed’s vowelled and Sarah’s unvowelled profiles (12 questions), the “Who is this person?” speaking studio, the 60–80-word writing workshop and the twelve-question checkpoint. Picture match: website visual game “Reading and Writing Personal Profiles”.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The big step today: from “I” to “he / she”. Two small signals do all the work — the ending (ـهُ his / ـهَا her) and the verb prefix (يـ he / تـ she). Colour code: blue = he, pink = she.
• Core: six sentences with the planner and the model visible. Develop: 60–80 words, two hobbies, three connectors. Stretch: an unvowelled profile (website Profile B is the Stretch reading).
• Website caution: تـ can also mean “you” (F2-L04: تَتَكَلَّمُ). In a profile, the named female subject or هِيَ tells you it means “she”.
• Reading strategy (website): do NOT translate every word first — read the question, scan for its category, then prove it.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Questions 3–5 are the website “perspective switch” (my name / he lives / she studies).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profile reports the same facts about another person: ـهُ his · ـهَا her · يـ he · تـ she.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lesson aims (left) and the website writing Core / Develop / Stretch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شخصیت (shakhsiyat → بِطَاقَةٌ شَخْصِيَّةٌ), معلومات, مادہ (mādda → مَادَّةٌ دِرَاسِيَّةٌ = school subject), وقت (waqt → وَقْتُ الفَرَاغِ = free time), محبت (muhabbat — same root as يُحِبُّ he likes).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PROFILE WORDS (website vocabulary bank). Card 3 shows my / his / her — today’s key pattern (ة becomes ت before an ending). Card 4: هِوَايَةٌ is feminine, so “favourite hobby” is هِوَايَتُهُ المُفَضَّلَةُ (F2-L05 agreement).
Website connectors: وَ and · أَيْضًا also · وَلَكِنْ but · مَعَ with · فِي in · مِنْ from. NEW today: وَلَكِنْ (contrast) and مَعَ (with: مَعَ أُسْرَتِهِ = with his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VERB BANK (website “Complete third-person verb bank”, with the I-form added from F2-L04/L07 so students see the whole pattern). Blue = I / he prefix; pink = she prefix.
Say each row: “a-ʿīshu, ya-ʿīshu, ta-ʿīshu”. Website: in a profile, يَعِيشُ is a common alternative to يَسْكُنُ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HOBBY BANK (website “profile-enrichment bank — choose only what is relevant”). FLEX: students choose TWO true hobbies and write them in their books. After يُحِبُّ / تُحِبُّ the hobby ends in -a: يُحِبُّ القِرَاءَةَ (recognition — the models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 / SHE PATTERN (website section 3). Masculine profile: details often end in ـهُ; verbs begin with يـ (يَعِيشُ، يَدْرُسُ، يُحِبُّ). Feminine profile: details end in ـهَا; verbs begin with تـ (تَعِيشُ، تَدْرُسُ، تُحِبُّ).
Website examples: اِسْمُهُ أَحْمَدُ · عُمْرُهُ ثَلَاثَ عَشْرَةَ سَنَةً · هِوَايَتُهُ المُفَضَّلَةُ القِرَاءَةُ // اِسْمُهَا سَارَةُ · عُمْرُهَا اِثْنَتَا عَشْرَةَ سَنَةً · هِوَايَتُهَا المُفَضَّلَةُ السِّبَاحَةُ.
Row 4 recycles F2-L04 agreement: هِيَ + ـِيَّةٌ.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“Ten-question he/she pattern check” questions 1, 2, 4 and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profile card for Ahmed (speaking studio), turned into sentences with a think-aloud. Then ask: “Now Sarah (12, British, Manchester) — what changes?” → every ـهُ becomes ـهَا, every يـ becomes تـ, هُوَ becomes هِيَ, and بَرِيطَانِيَّةٌ.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Reading and Writing Personal Profiles”)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game is in the first person (“I”). STRETCH follow-up: rewrite each answer as a profile sentence — اِسْمُهَا سَلْمَى وَعُمْرُهَا … · هُوَ بَرِيطَانِيٌّ وَيَتَكَلَّمُ … · هِيَ تَعِيشُ فِي لَنْدَنَ.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Reading and Writing Personal Profiles”)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game is in the first person (“I”). STRETCH follow-up: rewrite each answer as a profile sentence — اِسْمُهَا سَلْمَى وَعُمْرُهَا … · هُوَ بَرِيطَانِيٌّ وَيَتَكَلَّمُ … · هِيَ تَعِيشُ فِي لَنْدَنَ.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12 profile decisions (verb prefix, possessive, contrast with وَلَكِنْ, full female description). The other 7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answer, ask “Which signal told you — the ending, the prefix, or the pronoun?”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4. Develop / Stretch: all 5.
Listen 1: just listen. Listen 2: note answers. Then chat the letters.
Support: after the second listening, show the read-along slide (Arabic + English, line by line) for Core students.
SCRIPT (read aloud):
اِسْمُهَا نُورٌ، وَعُمْرُهَا أَرْبَعَ عَشْرَةَ سَنَةً. هِيَ سُورِيَّةٌ، وَتَعِيشُ فِي بِرْمِنْغَامَ. تَدْرُسُ فِي مَدْرَسَةِ الأَمَلِ. تَتَكَلَّمُ العَرَبِيَّةَ وَالإِنْجِلِيزِيَّةَ. تُحِبُّ السِّبَاحَةَ وَالقِرَاءَةَ، وَلَكِنْ هِوَايَتُهَا المُفَضَّلَةُ هِيَ السِّبَاحَةُ. تَقْرَأُ كِتَابًا كُلَّ شَهْرٍ، وَتَكْتُبُ رَسَائِلَ إِلَى صَدِيقَاتِهَا.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PROFILE A (website, abridged by one sentence: “at home he reads the newspaper and writes about his hobbies and school”). The English column gives the CATEGORY, not a translation — website strategy: hunt for the category signals (اِسْمُهُ · عُمْرُهُ · مِنْ / فِي / يَعِيشُ · يُحِبُّ / هِوَايَتُهُ).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PROFILE B (website, abridged). Website unvowelled-text strategy: “rely on familiar word shapes, repeated structures and information order. The letters in يعيش، يدرس، يحب، يقرأ، يكتب remain visible even without short vowels.” Stretch students find every ـها and every تـ verb (F1-L10 decoding with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2, 3, 5 (Ahmed) and 8, 10 (Sarah — Core may use the fact summary on the previous slide). The other 7 questions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phrase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SPEAKING STUDIO “Who is this person?”: a student presents a profile card in the third person WITHOUT saying the name first; the class identifies the person from the details (Summarise ↺ = the class names the person: هَذَا أَحْمَدُ!).
Profile cards (website):
• Ahmed: Age 13 · Egyptian · London · Al-Rashid School · reading and football
• Sarah: Age 12 · British · Manchester · Al-Noor School · drawing and swimming
• Bilal: Age 15 · Pakistani · Birmingham · Al-Amal School · gaming and basketball
• Noor: Age 14 · Syrian · Birmingham · Al-Amal School · swimming and reading
• Yusuf: Age 15 · Moroccan · Paris · Al-Hikmah School · football and writing
• Maryam: Age 13 · Turkish · London · Al-Najah School · cooking and photography
Website speaking checklist (listener ticks 1–6): هُوَ / هِيَ accurate · name and age · country and residence · school or language · a hobby and a favourite · at least two connectors.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At least six accurate sentences: name, age, country, city, school or language, one hobby. · Develop — 60–80 words with two hobbies, a favourite detail and at least three connectors. · Stretch — An unvowelled or selectively vowelled third-person profile with a school subject and free-time detail.
Website writing task (Stretch): Website writing workshop: write a 60–80-word profile about yourself (first person) or an invented person (third person): identity, residence, school or languages, interests and a final description.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Model built from the website Profile A (about 45 words). Develop: add two sentences to reach 60–80 words (free time, school subject).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12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(F2-L09 · Listening to Personal Introductions) will spend class time USING this language, so students prepare it tonight — short, simple, easy to access (school guidance: “Simple, Short, Interesting, Relevant, Easy to access”). The five words are from the website F2-L09 listening-instruction and strategy vocabulary.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7  ·  FOUNDATION F2  ·  WEEK 3  ·  LESSON 2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F2-L08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900" b="1" dirty="0">
                <a:solidFill>
                  <a:srgbClr val="FFFFFF"/>
                </a:solidFill>
                <a:latin typeface="Cambria" pitchFamily="34" charset="0"/>
                <a:ea typeface="Cambria" pitchFamily="34" charset="-122"/>
                <a:cs typeface="Cambria" pitchFamily="34" charset="-120"/>
              </a:rPr>
              <a:t>Reading and Writing Personal Profiles</a:t>
            </a:r>
            <a:endParaRPr lang="en-US" sz="29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قِرَاءَةُ وَكِتَابَةُ البِطَاقَاتِ الشَّخْصِيَّةِ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Move from “I” to “he” and “she”: read profiles by scanning for information categories, recognise </a:t>
            </a:r>
            <a:pPr algn="l" indent="0" marL="0">
              <a:buNone/>
            </a:pPr>
            <a:r>
              <a:rPr lang="ar-SA" altLang="en-US" sz="1800" dirty="0">
                <a:solidFill>
                  <a:srgbClr val="C6D2E6"/>
                </a:solidFill>
                <a:latin typeface="Amiri" pitchFamily="34" charset="0"/>
                <a:ea typeface="Amiri" pitchFamily="34" charset="-122"/>
                <a:cs typeface="Amiri" pitchFamily="34" charset="-120"/>
              </a:rPr>
              <a:t>ـهُ / ـهَا</a:t>
            </a:r>
            <a:pPr algn="l" indent="0" marL="0">
              <a:buNone/>
            </a:pPr>
            <a:r>
              <a:rPr lang="en-US" sz="1400" dirty="0">
                <a:solidFill>
                  <a:srgbClr val="C6D2E6"/>
                </a:solidFill>
                <a:latin typeface="Calibri" pitchFamily="34" charset="0"/>
                <a:ea typeface="Calibri" pitchFamily="34" charset="-122"/>
                <a:cs typeface="Calibri" pitchFamily="34" charset="-120"/>
              </a:rPr>
              <a:t> and </a:t>
            </a:r>
            <a:pPr algn="l" indent="0" marL="0">
              <a:buNone/>
            </a:pPr>
            <a:r>
              <a:rPr lang="ar-SA" altLang="en-US" sz="1800" dirty="0">
                <a:solidFill>
                  <a:srgbClr val="C6D2E6"/>
                </a:solidFill>
                <a:latin typeface="Amiri" pitchFamily="34" charset="0"/>
                <a:ea typeface="Amiri" pitchFamily="34" charset="-122"/>
                <a:cs typeface="Amiri" pitchFamily="34" charset="-120"/>
              </a:rPr>
              <a:t>يـ / تـ</a:t>
            </a:r>
            <a:pPr algn="l" indent="0" marL="0">
              <a:buNone/>
            </a:pPr>
            <a:r>
              <a:rPr lang="en-US" sz="1400" dirty="0">
                <a:solidFill>
                  <a:srgbClr val="C6D2E6"/>
                </a:solidFill>
                <a:latin typeface="Calibri" pitchFamily="34" charset="0"/>
                <a:ea typeface="Calibri" pitchFamily="34" charset="-122"/>
                <a:cs typeface="Calibri" pitchFamily="34" charset="-120"/>
              </a:rPr>
              <a:t> verbs, and write a connected 60–80-word profile.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F2-L08 · Week 3, lesson 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F2 › Lesson 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Profile words, then “I” → “he / she”.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Builder mission, listen to Noor, read two profiles.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F2-L09.</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اِسْمُهَا</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his name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her name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my name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هِوَايَةٌ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hobby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school</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profile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‘My name is Sara.’</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اِسْمُهَا سَارَةُ.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عُمْرِي سَارَةُ.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اِسْمِي سَارَةُ.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‘He lives in London.’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هِيَ تَعِيشُ فِي لَنْدَنَ.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أَعِيشُ فِي لَنْدَنَ.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هُوَ يَعِيشُ فِي لَنْدَنَ.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‘She studies at school.’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هِيَ تَدْرُسُ فِي المَدْرَسَةِ.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هُوَ يَدْرُسُ فِي المَدْرَسَةِ.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أَدْرُسُ فِي المَدْرَسَةِ.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اِسْمُهَا</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his name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her name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my name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هِوَايَةٌ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hobby</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school</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profile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‘My name is Sara.’</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اِسْمُهَا سَارَةُ.</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عُمْرِي سَارَةُ.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اِسْمِي سَارَةُ.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اِسْمِي</a:t>
            </a:r>
            <a:pPr algn="l" indent="0" marL="0">
              <a:buNone/>
            </a:pPr>
            <a:r>
              <a:rPr lang="en-US" sz="1050" i="1" dirty="0">
                <a:solidFill>
                  <a:srgbClr val="8A6D1E"/>
                </a:solidFill>
                <a:latin typeface="Calibri" pitchFamily="34" charset="0"/>
                <a:ea typeface="Calibri" pitchFamily="34" charset="-122"/>
                <a:cs typeface="Calibri" pitchFamily="34" charset="-120"/>
              </a:rPr>
              <a:t> is the first-person phrase: my name.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‘He lives in London.’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هِيَ تَعِيشُ فِي لَنْدَنَ.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أَنَا أَعِيشُ فِي لَنْدَنَ.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هُوَ يَعِيشُ فِي لَنْدَنَ.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هُوَ</a:t>
            </a:r>
            <a:pPr algn="l" indent="0" marL="0">
              <a:buNone/>
            </a:pPr>
            <a:r>
              <a:rPr lang="en-US" sz="1050" i="1" dirty="0">
                <a:solidFill>
                  <a:srgbClr val="8A6D1E"/>
                </a:solidFill>
                <a:latin typeface="Calibri" pitchFamily="34" charset="0"/>
                <a:ea typeface="Calibri" pitchFamily="34" charset="-122"/>
                <a:cs typeface="Calibri" pitchFamily="34" charset="-120"/>
              </a:rPr>
              <a:t> pairs with the masculine third-person verb </a:t>
            </a:r>
            <a:pPr algn="l" indent="0" marL="0">
              <a:buNone/>
            </a:pPr>
            <a:r>
              <a:rPr lang="ar-SA" altLang="en-US" sz="1350" dirty="0">
                <a:solidFill>
                  <a:srgbClr val="8A6D1E"/>
                </a:solidFill>
                <a:latin typeface="Amiri" pitchFamily="34" charset="0"/>
                <a:ea typeface="Amiri" pitchFamily="34" charset="-122"/>
                <a:cs typeface="Amiri" pitchFamily="34" charset="-120"/>
              </a:rPr>
              <a:t>يَعِيشُ</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‘She studies at school.’</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هِيَ تَدْرُسُ فِي المَدْرَسَةِ.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هُوَ يَدْرُسُ فِي المَدْرَسَةِ.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أَنَا أَدْرُسُ فِي المَدْرَسَةِ.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هِيَ</a:t>
            </a:r>
            <a:pPr algn="l" indent="0" marL="0">
              <a:buNone/>
            </a:pPr>
            <a:r>
              <a:rPr lang="en-US" sz="1050" i="1" dirty="0">
                <a:solidFill>
                  <a:srgbClr val="8A6D1E"/>
                </a:solidFill>
                <a:latin typeface="Calibri" pitchFamily="34" charset="0"/>
                <a:ea typeface="Calibri" pitchFamily="34" charset="-122"/>
                <a:cs typeface="Calibri" pitchFamily="34" charset="-120"/>
              </a:rPr>
              <a:t> pairs with </a:t>
            </a:r>
            <a:pPr algn="l" indent="0" marL="0">
              <a:buNone/>
            </a:pPr>
            <a:r>
              <a:rPr lang="ar-SA" altLang="en-US" sz="1350" dirty="0">
                <a:solidFill>
                  <a:srgbClr val="8A6D1E"/>
                </a:solidFill>
                <a:latin typeface="Amiri" pitchFamily="34" charset="0"/>
                <a:ea typeface="Amiri" pitchFamily="34" charset="-122"/>
                <a:cs typeface="Amiri" pitchFamily="34" charset="-120"/>
              </a:rPr>
              <a:t>تَدْرُسُ</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A profile reports the same facts about another person: </a:t>
            </a:r>
            <a:pPr algn="l" indent="0" marL="0">
              <a:buNone/>
            </a:pPr>
            <a:r>
              <a:rPr lang="ar-SA" altLang="en-US" sz="1700" b="1" dirty="0">
                <a:solidFill>
                  <a:srgbClr val="1F2A37"/>
                </a:solidFill>
                <a:latin typeface="Amiri" pitchFamily="34" charset="0"/>
                <a:ea typeface="Amiri" pitchFamily="34" charset="-122"/>
                <a:cs typeface="Amiri" pitchFamily="34" charset="-120"/>
              </a:rPr>
              <a:t>ـهُ</a:t>
            </a:r>
            <a:pPr algn="l" indent="0" marL="0">
              <a:buNone/>
            </a:pPr>
            <a:r>
              <a:rPr lang="en-US" sz="1300" b="1" dirty="0">
                <a:solidFill>
                  <a:srgbClr val="1F2A37"/>
                </a:solidFill>
                <a:latin typeface="Calibri" pitchFamily="34" charset="0"/>
                <a:ea typeface="Calibri" pitchFamily="34" charset="-122"/>
                <a:cs typeface="Calibri" pitchFamily="34" charset="-120"/>
              </a:rPr>
              <a:t> his · </a:t>
            </a:r>
            <a:pPr algn="l" indent="0" marL="0">
              <a:buNone/>
            </a:pPr>
            <a:r>
              <a:rPr lang="ar-SA" altLang="en-US" sz="1700" b="1" dirty="0">
                <a:solidFill>
                  <a:srgbClr val="1F2A37"/>
                </a:solidFill>
                <a:latin typeface="Amiri" pitchFamily="34" charset="0"/>
                <a:ea typeface="Amiri" pitchFamily="34" charset="-122"/>
                <a:cs typeface="Amiri" pitchFamily="34" charset="-120"/>
              </a:rPr>
              <a:t>ـهَا</a:t>
            </a:r>
            <a:pPr algn="l" indent="0" marL="0">
              <a:buNone/>
            </a:pPr>
            <a:r>
              <a:rPr lang="en-US" sz="1300" b="1" dirty="0">
                <a:solidFill>
                  <a:srgbClr val="1F2A37"/>
                </a:solidFill>
                <a:latin typeface="Calibri" pitchFamily="34" charset="0"/>
                <a:ea typeface="Calibri" pitchFamily="34" charset="-122"/>
                <a:cs typeface="Calibri" pitchFamily="34" charset="-120"/>
              </a:rPr>
              <a:t> her · </a:t>
            </a:r>
            <a:pPr algn="l" indent="0" marL="0">
              <a:buNone/>
            </a:pPr>
            <a:r>
              <a:rPr lang="ar-SA" altLang="en-US" sz="1700" b="1" dirty="0">
                <a:solidFill>
                  <a:srgbClr val="1F2A37"/>
                </a:solidFill>
                <a:latin typeface="Amiri" pitchFamily="34" charset="0"/>
                <a:ea typeface="Amiri" pitchFamily="34" charset="-122"/>
                <a:cs typeface="Amiri" pitchFamily="34" charset="-120"/>
              </a:rPr>
              <a:t>يـ</a:t>
            </a:r>
            <a:pPr algn="l" indent="0" marL="0">
              <a:buNone/>
            </a:pPr>
            <a:r>
              <a:rPr lang="en-US" sz="1300" b="1" dirty="0">
                <a:solidFill>
                  <a:srgbClr val="1F2A37"/>
                </a:solidFill>
                <a:latin typeface="Calibri" pitchFamily="34" charset="0"/>
                <a:ea typeface="Calibri" pitchFamily="34" charset="-122"/>
                <a:cs typeface="Calibri" pitchFamily="34" charset="-120"/>
              </a:rPr>
              <a:t> he · </a:t>
            </a:r>
            <a:pPr algn="l" indent="0" marL="0">
              <a:buNone/>
            </a:pPr>
            <a:r>
              <a:rPr lang="ar-SA" altLang="en-US" sz="1700" b="1" dirty="0">
                <a:solidFill>
                  <a:srgbClr val="1F2A37"/>
                </a:solidFill>
                <a:latin typeface="Amiri" pitchFamily="34" charset="0"/>
                <a:ea typeface="Amiri" pitchFamily="34" charset="-122"/>
                <a:cs typeface="Amiri" pitchFamily="34" charset="-120"/>
              </a:rPr>
              <a:t>تـ</a:t>
            </a:r>
            <a:pPr algn="l" indent="0" marL="0">
              <a:buNone/>
            </a:pPr>
            <a:r>
              <a:rPr lang="en-US" sz="1300" b="1" dirty="0">
                <a:solidFill>
                  <a:srgbClr val="1F2A37"/>
                </a:solidFill>
                <a:latin typeface="Calibri" pitchFamily="34" charset="0"/>
                <a:ea typeface="Calibri" pitchFamily="34" charset="-122"/>
                <a:cs typeface="Calibri" pitchFamily="34" charset="-120"/>
              </a:rPr>
              <a:t> she.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اِسْمُهُ … يَعِيشُ  ·  اِسْمُهَا … تَعِيشُ</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2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Scan profiles for name, age, residence and interests.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Recognise </a:t>
            </a:r>
            <a:pPr algn="l" indent="0" marL="0">
              <a:buNone/>
            </a:pPr>
            <a:r>
              <a:rPr lang="ar-SA" altLang="en-US" sz="1700" dirty="0">
                <a:solidFill>
                  <a:srgbClr val="1F2A37"/>
                </a:solidFill>
                <a:latin typeface="Amiri" pitchFamily="34" charset="0"/>
                <a:ea typeface="Amiri" pitchFamily="34" charset="-122"/>
                <a:cs typeface="Amiri" pitchFamily="34" charset="-120"/>
              </a:rPr>
              <a:t>ـهُ / ـهَا</a:t>
            </a:r>
            <a:pPr algn="l" indent="0" marL="0">
              <a:buNone/>
            </a:pPr>
            <a:r>
              <a:rPr lang="en-US" sz="1300" dirty="0">
                <a:solidFill>
                  <a:srgbClr val="1F2A37"/>
                </a:solidFill>
                <a:latin typeface="Calibri" pitchFamily="34" charset="0"/>
                <a:ea typeface="Calibri" pitchFamily="34" charset="-122"/>
                <a:cs typeface="Calibri" pitchFamily="34" charset="-120"/>
              </a:rPr>
              <a:t> (his / her) and </a:t>
            </a:r>
            <a:pPr algn="l" indent="0" marL="0">
              <a:buNone/>
            </a:pPr>
            <a:r>
              <a:rPr lang="ar-SA" altLang="en-US" sz="1700" dirty="0">
                <a:solidFill>
                  <a:srgbClr val="1F2A37"/>
                </a:solidFill>
                <a:latin typeface="Amiri" pitchFamily="34" charset="0"/>
                <a:ea typeface="Amiri" pitchFamily="34" charset="-122"/>
                <a:cs typeface="Amiri" pitchFamily="34" charset="-120"/>
              </a:rPr>
              <a:t>يـ / تـ</a:t>
            </a:r>
            <a:pPr algn="l" indent="0" marL="0">
              <a:buNone/>
            </a:pPr>
            <a:r>
              <a:rPr lang="en-US" sz="1300" dirty="0">
                <a:solidFill>
                  <a:srgbClr val="1F2A37"/>
                </a:solidFill>
                <a:latin typeface="Calibri" pitchFamily="34" charset="0"/>
                <a:ea typeface="Calibri" pitchFamily="34" charset="-122"/>
                <a:cs typeface="Calibri" pitchFamily="34" charset="-120"/>
              </a:rPr>
              <a:t> (he / she).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Read a vowelled and an unvowelled profile using evidence.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Write a connected 60–80-word profile.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read a short profile and find the facts.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write six sentences with the planner.</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use his / her and he / she forms accurately.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write 60–80 words with three connectors.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read an unvowelled profile.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edit agreement and verb prefixes myself.</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Profile words, the he / she verb bank and a hobby bank — all from the website. Core: the six verbs and </a:t>
            </a:r>
            <a:pPr algn="l" indent="0" marL="0">
              <a:buNone/>
            </a:pPr>
            <a:r>
              <a:rPr lang="ar-SA" altLang="en-US" sz="2100" dirty="0">
                <a:solidFill>
                  <a:srgbClr val="C6D2E6"/>
                </a:solidFill>
                <a:latin typeface="Amiri" pitchFamily="34" charset="0"/>
                <a:ea typeface="Amiri" pitchFamily="34" charset="-122"/>
                <a:cs typeface="Amiri" pitchFamily="34" charset="-120"/>
              </a:rPr>
              <a:t>ـهُ / ـهَا</a:t>
            </a:r>
            <a:pPr algn="l" indent="0" marL="0">
              <a:buNone/>
            </a:pPr>
            <a:r>
              <a:rPr lang="en-US" sz="1600" dirty="0">
                <a:solidFill>
                  <a:srgbClr val="C6D2E6"/>
                </a:solidFill>
                <a:latin typeface="Calibri" pitchFamily="34" charset="0"/>
                <a:ea typeface="Calibri" pitchFamily="34" charset="-122"/>
                <a:cs typeface="Calibri" pitchFamily="34" charset="-120"/>
              </a:rPr>
              <a: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Profile, school, connectors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He / she verbs · 6</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Hobbies · 10 (choose yours)</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شَخْصِيَّةٌ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‎شخصیت‎ </a:t>
            </a:r>
            <a:pPr indent="0" marL="0">
              <a:buNone/>
            </a:pPr>
            <a:r>
              <a:rPr lang="en-US" sz="950" b="1" dirty="0">
                <a:solidFill>
                  <a:srgbClr val="2E8B57"/>
                </a:solidFill>
                <a:latin typeface="Calibri" pitchFamily="34" charset="0"/>
                <a:ea typeface="Calibri" pitchFamily="34" charset="-122"/>
                <a:cs typeface="Calibri" pitchFamily="34" charset="-120"/>
              </a:rPr>
              <a:t> shakhsiyat · personality, person</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مَعْلُومَاتٌ</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‎معلومات‎ </a:t>
            </a:r>
            <a:pPr indent="0" marL="0">
              <a:buNone/>
            </a:pPr>
            <a:r>
              <a:rPr lang="en-US" sz="950" b="1" dirty="0">
                <a:solidFill>
                  <a:srgbClr val="2E8B57"/>
                </a:solidFill>
                <a:latin typeface="Calibri" pitchFamily="34" charset="0"/>
                <a:ea typeface="Calibri" pitchFamily="34" charset="-122"/>
                <a:cs typeface="Calibri" pitchFamily="34" charset="-120"/>
              </a:rPr>
              <a:t> maʿlūmāt · information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مَادَّةٌ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‎مادہ‎ </a:t>
            </a:r>
            <a:pPr indent="0" marL="0">
              <a:buNone/>
            </a:pPr>
            <a:r>
              <a:rPr lang="en-US" sz="950" b="1" dirty="0">
                <a:solidFill>
                  <a:srgbClr val="2E8B57"/>
                </a:solidFill>
                <a:latin typeface="Calibri" pitchFamily="34" charset="0"/>
                <a:ea typeface="Calibri" pitchFamily="34" charset="-122"/>
                <a:cs typeface="Calibri" pitchFamily="34" charset="-120"/>
              </a:rPr>
              <a:t> mādda · material, subject</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وَقْتٌ</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‎وقت‎ </a:t>
            </a:r>
            <a:pPr indent="0" marL="0">
              <a:buNone/>
            </a:pPr>
            <a:r>
              <a:rPr lang="en-US" sz="950" b="1" dirty="0">
                <a:solidFill>
                  <a:srgbClr val="2E8B57"/>
                </a:solidFill>
                <a:latin typeface="Calibri" pitchFamily="34" charset="0"/>
                <a:ea typeface="Calibri" pitchFamily="34" charset="-122"/>
                <a:cs typeface="Calibri" pitchFamily="34" charset="-120"/>
              </a:rPr>
              <a:t> waqt · time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مُحَبَّةٌ · يُحِبُّ</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‎محبت‎ </a:t>
            </a:r>
            <a:pPr indent="0" marL="0">
              <a:buNone/>
            </a:pPr>
            <a:r>
              <a:rPr lang="en-US" sz="950" b="1" dirty="0">
                <a:solidFill>
                  <a:srgbClr val="2E8B57"/>
                </a:solidFill>
                <a:latin typeface="Calibri" pitchFamily="34" charset="0"/>
                <a:ea typeface="Calibri" pitchFamily="34" charset="-122"/>
                <a:cs typeface="Calibri" pitchFamily="34" charset="-120"/>
              </a:rPr>
              <a:t> muhabbat · love (→ he likes)</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KEY WORDS · GROUP 1 · PROFILE, SCHOOL AND INTERESTS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Profile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مُفْرَدَاتُ البِطَاقَةِ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بِطَاقَةٌ شَخْصِيَّةٌ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personal profile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bi-ṭā-qa shakh-siy-ya</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Also: </a:t>
            </a:r>
            <a:pPr algn="l" indent="0" marL="0">
              <a:buNone/>
            </a:pPr>
            <a:r>
              <a:rPr lang="ar-SA" altLang="en-US" sz="1300" dirty="0">
                <a:solidFill>
                  <a:srgbClr val="8A6D1E"/>
                </a:solidFill>
                <a:latin typeface="Amiri" pitchFamily="34" charset="0"/>
                <a:ea typeface="Amiri" pitchFamily="34" charset="-122"/>
                <a:cs typeface="Amiri" pitchFamily="34" charset="-120"/>
              </a:rPr>
              <a:t>مَعْلُومَاتٌ شَخْصِيَّةٌ</a:t>
            </a:r>
            <a:pPr algn="l" indent="0" marL="0">
              <a:buNone/>
            </a:pPr>
            <a:r>
              <a:rPr lang="en-US" sz="1000" i="1" dirty="0">
                <a:solidFill>
                  <a:srgbClr val="8A6D1E"/>
                </a:solidFill>
                <a:latin typeface="Calibri" pitchFamily="34" charset="0"/>
                <a:ea typeface="Calibri" pitchFamily="34" charset="-122"/>
                <a:cs typeface="Calibri" pitchFamily="34" charset="-120"/>
              </a:rPr>
              <a:t> (personal information).</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8" name="Shape 25"/>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form label</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مَكَانُ السَّكَنِ</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place of residence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ma-kā-nu s-sa-kan</a:t>
            </a:r>
            <a:endParaRPr lang="en-US" sz="1350" dirty="0"/>
          </a:p>
        </p:txBody>
      </p:sp>
      <p:sp>
        <p:nvSpPr>
          <p:cNvPr id="34" name="Text 31"/>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Same root as </a:t>
            </a:r>
            <a:pPr algn="l" indent="0" marL="0">
              <a:buNone/>
            </a:pPr>
            <a:r>
              <a:rPr lang="ar-SA" altLang="en-US" sz="1300" dirty="0">
                <a:solidFill>
                  <a:srgbClr val="8A6D1E"/>
                </a:solidFill>
                <a:latin typeface="Amiri" pitchFamily="34" charset="0"/>
                <a:ea typeface="Amiri" pitchFamily="34" charset="-122"/>
                <a:cs typeface="Amiri" pitchFamily="34" charset="-120"/>
              </a:rPr>
              <a:t>أَسْكُنُ</a:t>
            </a:r>
            <a:pPr algn="l" indent="0" marL="0">
              <a:buNone/>
            </a:pPr>
            <a:r>
              <a:rPr lang="en-US" sz="1000" i="1" dirty="0">
                <a:solidFill>
                  <a:srgbClr val="8A6D1E"/>
                </a:solidFill>
                <a:latin typeface="Calibri" pitchFamily="34" charset="0"/>
                <a:ea typeface="Calibri" pitchFamily="34" charset="-122"/>
                <a:cs typeface="Calibri" pitchFamily="34" charset="-120"/>
              </a:rPr>
              <a:t> (F2-L07).</a:t>
            </a:r>
            <a:endParaRPr lang="en-US" sz="10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38" name="Shape 35"/>
          <p:cNvSpPr/>
          <p:nvPr/>
        </p:nvSpPr>
        <p:spPr>
          <a:xfrm>
            <a:off x="960120" y="1938528"/>
            <a:ext cx="1144829"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my · his · her</a:t>
            </a:r>
            <a:endParaRPr lang="en-US" sz="800" dirty="0"/>
          </a:p>
        </p:txBody>
      </p:sp>
      <p:sp>
        <p:nvSpPr>
          <p:cNvPr id="40" name="Shape 3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2" name="Text 3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هِوَايَةٌ</a:t>
            </a:r>
            <a:endParaRPr lang="ar-SA" sz="3000" dirty="0"/>
          </a:p>
        </p:txBody>
      </p:sp>
      <p:sp>
        <p:nvSpPr>
          <p:cNvPr id="43" name="Text 4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 hobby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hi-wā-ya · hi-wā-yāt</a:t>
            </a:r>
            <a:endParaRPr lang="en-US" sz="1350" dirty="0"/>
          </a:p>
        </p:txBody>
      </p:sp>
      <p:sp>
        <p:nvSpPr>
          <p:cNvPr id="44" name="Shape 41"/>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my</a:t>
            </a:r>
            <a:endParaRPr lang="en-US" sz="750" dirty="0"/>
          </a:p>
        </p:txBody>
      </p:sp>
      <p:sp>
        <p:nvSpPr>
          <p:cNvPr id="46" name="Text 43"/>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هِوَايَتِي</a:t>
            </a:r>
            <a:endParaRPr lang="ar-SA" sz="1500" dirty="0"/>
          </a:p>
        </p:txBody>
      </p:sp>
      <p:sp>
        <p:nvSpPr>
          <p:cNvPr id="47" name="Shape 44"/>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his</a:t>
            </a:r>
            <a:endParaRPr lang="en-US" sz="750" dirty="0"/>
          </a:p>
        </p:txBody>
      </p:sp>
      <p:sp>
        <p:nvSpPr>
          <p:cNvPr id="49" name="Text 46"/>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هِوَايَتُهُ</a:t>
            </a:r>
            <a:endParaRPr lang="ar-SA" sz="1500" dirty="0"/>
          </a:p>
        </p:txBody>
      </p:sp>
      <p:sp>
        <p:nvSpPr>
          <p:cNvPr id="50" name="Shape 47"/>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her</a:t>
            </a:r>
            <a:endParaRPr lang="en-US" sz="750" dirty="0"/>
          </a:p>
        </p:txBody>
      </p:sp>
      <p:sp>
        <p:nvSpPr>
          <p:cNvPr id="52" name="Text 49"/>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هِوَايَتُهَا</a:t>
            </a:r>
            <a:endParaRPr lang="ar-SA" sz="1500" dirty="0"/>
          </a:p>
        </p:txBody>
      </p:sp>
      <p:sp>
        <p:nvSpPr>
          <p:cNvPr id="53" name="Shape 5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8211312"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56" name="Shape 53"/>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المُفَضَّلُ</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favourite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al-mu-faḍ-ḍal · -la</a:t>
            </a:r>
            <a:endParaRPr lang="en-US" sz="1350" dirty="0"/>
          </a:p>
        </p:txBody>
      </p:sp>
      <p:sp>
        <p:nvSpPr>
          <p:cNvPr id="60" name="Shape 57"/>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62" name="Text 59"/>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المُفَضَّلُ</a:t>
            </a:r>
            <a:endParaRPr lang="ar-SA" sz="1500" dirty="0"/>
          </a:p>
        </p:txBody>
      </p:sp>
      <p:sp>
        <p:nvSpPr>
          <p:cNvPr id="63" name="Shape 60"/>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65" name="Text 62"/>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المُفَضَّلَةُ</a:t>
            </a:r>
            <a:endParaRPr lang="ar-SA" sz="1500" dirty="0"/>
          </a:p>
        </p:txBody>
      </p:sp>
      <p:sp>
        <p:nvSpPr>
          <p:cNvPr id="66" name="Shape 6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4389120"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69" name="Shape 66"/>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0" name="Text 67"/>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school</a:t>
            </a:r>
            <a:endParaRPr lang="en-US" sz="800" dirty="0"/>
          </a:p>
        </p:txBody>
      </p:sp>
      <p:sp>
        <p:nvSpPr>
          <p:cNvPr id="71" name="Text 68"/>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مَدْرَسَةٌ · صَفٌّ</a:t>
            </a:r>
            <a:endParaRPr lang="ar-SA" sz="3000" dirty="0"/>
          </a:p>
        </p:txBody>
      </p:sp>
      <p:sp>
        <p:nvSpPr>
          <p:cNvPr id="72" name="Text 69"/>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school · class / year group</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mad-ra-sa · ṣaff</a:t>
            </a:r>
            <a:endParaRPr lang="en-US" sz="1350" dirty="0"/>
          </a:p>
        </p:txBody>
      </p:sp>
      <p:sp>
        <p:nvSpPr>
          <p:cNvPr id="73" name="Text 70"/>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34" charset="0"/>
                <a:ea typeface="Amiri" pitchFamily="34" charset="-122"/>
                <a:cs typeface="Amiri" pitchFamily="34" charset="-120"/>
              </a:rPr>
              <a:t>مَادَّةٌ دِرَاسِيَّةٌ</a:t>
            </a:r>
            <a:pPr algn="l" indent="0" marL="0">
              <a:buNone/>
            </a:pPr>
            <a:r>
              <a:rPr lang="en-US" sz="1000" i="1" dirty="0">
                <a:solidFill>
                  <a:srgbClr val="8A6D1E"/>
                </a:solidFill>
                <a:latin typeface="Calibri" pitchFamily="34" charset="0"/>
                <a:ea typeface="Calibri" pitchFamily="34" charset="-122"/>
                <a:cs typeface="Calibri" pitchFamily="34" charset="-120"/>
              </a:rPr>
              <a:t> = school subject</a:t>
            </a:r>
            <a:endParaRPr lang="en-US" sz="1000" dirty="0"/>
          </a:p>
        </p:txBody>
      </p:sp>
      <p:sp>
        <p:nvSpPr>
          <p:cNvPr id="74" name="Shape 7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5" name="Shape 72"/>
          <p:cNvSpPr/>
          <p:nvPr/>
        </p:nvSpPr>
        <p:spPr>
          <a:xfrm>
            <a:off x="566928" y="4261104"/>
            <a:ext cx="310896" cy="310896"/>
          </a:xfrm>
          <a:prstGeom prst="ellipse">
            <a:avLst/>
          </a:prstGeom>
          <a:solidFill>
            <a:srgbClr val="F4F1EA"/>
          </a:solidFill>
          <a:ln w="12700">
            <a:solidFill>
              <a:srgbClr val="F4F1EA"/>
            </a:solidFill>
            <a:prstDash val="solid"/>
          </a:ln>
        </p:spPr>
      </p:sp>
      <p:sp>
        <p:nvSpPr>
          <p:cNvPr id="76" name="Text 7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77" name="Shape 74"/>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78" name="Text 75"/>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interests</a:t>
            </a:r>
            <a:endParaRPr lang="en-US" sz="800" dirty="0"/>
          </a:p>
        </p:txBody>
      </p:sp>
      <p:sp>
        <p:nvSpPr>
          <p:cNvPr id="79" name="Text 7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وَقْتُ الفَرَاغِ</a:t>
            </a:r>
            <a:endParaRPr lang="ar-SA" sz="3000" dirty="0"/>
          </a:p>
        </p:txBody>
      </p:sp>
      <p:sp>
        <p:nvSpPr>
          <p:cNvPr id="80" name="Text 7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free time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waq-tu l-fa-rāgh</a:t>
            </a:r>
            <a:endParaRPr lang="en-US" sz="1350" dirty="0"/>
          </a:p>
        </p:txBody>
      </p:sp>
      <p:sp>
        <p:nvSpPr>
          <p:cNvPr id="81" name="Text 78"/>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34" charset="0"/>
                <a:ea typeface="Amiri" pitchFamily="34" charset="-122"/>
                <a:cs typeface="Amiri" pitchFamily="34" charset="-120"/>
              </a:rPr>
              <a:t>فِي وَقْتِ الفَرَاغِ</a:t>
            </a:r>
            <a:pPr algn="l" indent="0" marL="0">
              <a:buNone/>
            </a:pPr>
            <a:r>
              <a:rPr lang="en-US" sz="1000" i="1" dirty="0">
                <a:solidFill>
                  <a:srgbClr val="8A6D1E"/>
                </a:solidFill>
                <a:latin typeface="Calibri" pitchFamily="34" charset="0"/>
                <a:ea typeface="Calibri" pitchFamily="34" charset="-122"/>
                <a:cs typeface="Calibri" pitchFamily="34" charset="-120"/>
              </a:rPr>
              <a:t> = in free time</a:t>
            </a:r>
            <a:endParaRPr lang="en-US" sz="1000" dirty="0"/>
          </a:p>
        </p:txBody>
      </p:sp>
      <p:sp>
        <p:nvSpPr>
          <p:cNvPr id="82" name="Text 7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KEY WORDS · GROUP 2 · THE COMPLETE THIRD-PERSON VERB BANK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I, he, she: six profile verbs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أَنَا · هُوَ · هِيَ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06170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 (</a:t>
            </a:r>
            <a:pPr algn="ctr" indent="0" marL="0">
              <a:buNone/>
            </a:pPr>
            <a:r>
              <a:rPr lang="ar-SA" altLang="en-US" sz="1450" b="1" dirty="0">
                <a:solidFill>
                  <a:srgbClr val="FFFFFF"/>
                </a:solidFill>
                <a:latin typeface="Amiri" pitchFamily="34" charset="0"/>
                <a:ea typeface="Amiri" pitchFamily="34" charset="-122"/>
                <a:cs typeface="Amiri" pitchFamily="34" charset="-120"/>
              </a:rPr>
              <a:t>أَنَا</a:t>
            </a:r>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7" name="Text 14"/>
          <p:cNvSpPr txBox="1"/>
          <p:nvPr/>
        </p:nvSpPr>
        <p:spPr>
          <a:xfrm>
            <a:off x="631850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 (</a:t>
            </a:r>
            <a:pPr algn="ctr" indent="0" marL="0">
              <a:buNone/>
            </a:pPr>
            <a:r>
              <a:rPr lang="ar-SA" altLang="en-US" sz="1450" b="1" dirty="0">
                <a:solidFill>
                  <a:srgbClr val="FFFFFF"/>
                </a:solidFill>
                <a:latin typeface="Amiri" pitchFamily="34" charset="0"/>
                <a:ea typeface="Amiri" pitchFamily="34" charset="-122"/>
                <a:cs typeface="Amiri" pitchFamily="34" charset="-120"/>
              </a:rPr>
              <a:t>هُوَ</a:t>
            </a:r>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8" name="Text 15"/>
          <p:cNvSpPr txBox="1"/>
          <p:nvPr/>
        </p:nvSpPr>
        <p:spPr>
          <a:xfrm>
            <a:off x="357530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she (</a:t>
            </a:r>
            <a:pPr algn="ctr" indent="0" marL="0">
              <a:buNone/>
            </a:pPr>
            <a:r>
              <a:rPr lang="ar-SA" altLang="en-US" sz="1450" b="1" dirty="0">
                <a:solidFill>
                  <a:srgbClr val="FFFFFF"/>
                </a:solidFill>
                <a:latin typeface="Amiri" pitchFamily="34" charset="0"/>
                <a:ea typeface="Amiri" pitchFamily="34" charset="-122"/>
                <a:cs typeface="Amiri" pitchFamily="34" charset="-120"/>
              </a:rPr>
              <a:t>هِيَ</a:t>
            </a:r>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9" name="Text 16"/>
          <p:cNvSpPr txBox="1"/>
          <p:nvPr/>
        </p:nvSpPr>
        <p:spPr>
          <a:xfrm>
            <a:off x="5303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9079992" y="2267712"/>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أَ</a:t>
            </a:r>
            <a:pPr rtl="1" algn="ctr" indent="0" marL="0">
              <a:buNone/>
            </a:pPr>
            <a:r>
              <a:rPr lang="ar-SA" altLang="en-US" sz="2400" b="1" dirty="0">
                <a:solidFill>
                  <a:srgbClr val="1B3B6F"/>
                </a:solidFill>
                <a:latin typeface="Amiri" pitchFamily="34" charset="0"/>
                <a:ea typeface="Amiri" pitchFamily="34" charset="-122"/>
                <a:cs typeface="Amiri" pitchFamily="34" charset="-120"/>
              </a:rPr>
              <a:t>عِيشُ</a:t>
            </a:r>
            <a:endParaRPr lang="ar-SA" sz="2400" dirty="0"/>
          </a:p>
        </p:txBody>
      </p:sp>
      <p:sp>
        <p:nvSpPr>
          <p:cNvPr id="22" name="Text 19"/>
          <p:cNvSpPr txBox="1"/>
          <p:nvPr/>
        </p:nvSpPr>
        <p:spPr>
          <a:xfrm>
            <a:off x="6336792" y="2267712"/>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يَ</a:t>
            </a:r>
            <a:pPr rtl="1" algn="ctr" indent="0" marL="0">
              <a:buNone/>
            </a:pPr>
            <a:r>
              <a:rPr lang="ar-SA" altLang="en-US" sz="2400" b="1" dirty="0">
                <a:solidFill>
                  <a:srgbClr val="1B3B6F"/>
                </a:solidFill>
                <a:latin typeface="Amiri" pitchFamily="34" charset="0"/>
                <a:ea typeface="Amiri" pitchFamily="34" charset="-122"/>
                <a:cs typeface="Amiri" pitchFamily="34" charset="-120"/>
              </a:rPr>
              <a:t>عِيشُ</a:t>
            </a:r>
            <a:endParaRPr lang="ar-SA" sz="2400" dirty="0"/>
          </a:p>
        </p:txBody>
      </p:sp>
      <p:sp>
        <p:nvSpPr>
          <p:cNvPr id="23" name="Text 20"/>
          <p:cNvSpPr txBox="1"/>
          <p:nvPr/>
        </p:nvSpPr>
        <p:spPr>
          <a:xfrm>
            <a:off x="3593592" y="2267712"/>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34" charset="0"/>
                <a:ea typeface="Amiri" pitchFamily="34" charset="-122"/>
                <a:cs typeface="Amiri" pitchFamily="34" charset="-120"/>
              </a:rPr>
              <a:t>تَ</a:t>
            </a:r>
            <a:pPr rtl="1" algn="ctr" indent="0" marL="0">
              <a:buNone/>
            </a:pPr>
            <a:r>
              <a:rPr lang="ar-SA" altLang="en-US" sz="2400" b="1" dirty="0">
                <a:solidFill>
                  <a:srgbClr val="1B3B6F"/>
                </a:solidFill>
                <a:latin typeface="Amiri" pitchFamily="34" charset="0"/>
                <a:ea typeface="Amiri" pitchFamily="34" charset="-122"/>
                <a:cs typeface="Amiri" pitchFamily="34" charset="-120"/>
              </a:rPr>
              <a:t>عِيشُ</a:t>
            </a:r>
            <a:endParaRPr lang="ar-SA" sz="2400" dirty="0"/>
          </a:p>
        </p:txBody>
      </p:sp>
      <p:sp>
        <p:nvSpPr>
          <p:cNvPr id="24" name="Text 21"/>
          <p:cNvSpPr txBox="1"/>
          <p:nvPr/>
        </p:nvSpPr>
        <p:spPr>
          <a:xfrm>
            <a:off x="566928" y="226771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lives</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9079992" y="2881884"/>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أَ</a:t>
            </a:r>
            <a:pPr rtl="1" algn="ctr" indent="0" marL="0">
              <a:buNone/>
            </a:pPr>
            <a:r>
              <a:rPr lang="ar-SA" altLang="en-US" sz="2400" b="1" dirty="0">
                <a:solidFill>
                  <a:srgbClr val="1B3B6F"/>
                </a:solidFill>
                <a:latin typeface="Amiri" pitchFamily="34" charset="0"/>
                <a:ea typeface="Amiri" pitchFamily="34" charset="-122"/>
                <a:cs typeface="Amiri" pitchFamily="34" charset="-120"/>
              </a:rPr>
              <a:t>دْرُسُ</a:t>
            </a:r>
            <a:endParaRPr lang="ar-SA" sz="2400" dirty="0"/>
          </a:p>
        </p:txBody>
      </p:sp>
      <p:sp>
        <p:nvSpPr>
          <p:cNvPr id="29" name="Text 26"/>
          <p:cNvSpPr txBox="1"/>
          <p:nvPr/>
        </p:nvSpPr>
        <p:spPr>
          <a:xfrm>
            <a:off x="6336792" y="2881884"/>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يَ</a:t>
            </a:r>
            <a:pPr rtl="1" algn="ctr" indent="0" marL="0">
              <a:buNone/>
            </a:pPr>
            <a:r>
              <a:rPr lang="ar-SA" altLang="en-US" sz="2400" b="1" dirty="0">
                <a:solidFill>
                  <a:srgbClr val="1B3B6F"/>
                </a:solidFill>
                <a:latin typeface="Amiri" pitchFamily="34" charset="0"/>
                <a:ea typeface="Amiri" pitchFamily="34" charset="-122"/>
                <a:cs typeface="Amiri" pitchFamily="34" charset="-120"/>
              </a:rPr>
              <a:t>دْرُسُ</a:t>
            </a:r>
            <a:endParaRPr lang="ar-SA" sz="2400" dirty="0"/>
          </a:p>
        </p:txBody>
      </p:sp>
      <p:sp>
        <p:nvSpPr>
          <p:cNvPr id="30" name="Text 27"/>
          <p:cNvSpPr txBox="1"/>
          <p:nvPr/>
        </p:nvSpPr>
        <p:spPr>
          <a:xfrm>
            <a:off x="3593592" y="2881884"/>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34" charset="0"/>
                <a:ea typeface="Amiri" pitchFamily="34" charset="-122"/>
                <a:cs typeface="Amiri" pitchFamily="34" charset="-120"/>
              </a:rPr>
              <a:t>تَ</a:t>
            </a:r>
            <a:pPr rtl="1" algn="ctr" indent="0" marL="0">
              <a:buNone/>
            </a:pPr>
            <a:r>
              <a:rPr lang="ar-SA" altLang="en-US" sz="2400" b="1" dirty="0">
                <a:solidFill>
                  <a:srgbClr val="1B3B6F"/>
                </a:solidFill>
                <a:latin typeface="Amiri" pitchFamily="34" charset="0"/>
                <a:ea typeface="Amiri" pitchFamily="34" charset="-122"/>
                <a:cs typeface="Amiri" pitchFamily="34" charset="-120"/>
              </a:rPr>
              <a:t>دْرُسُ</a:t>
            </a:r>
            <a:endParaRPr lang="ar-SA" sz="2400" dirty="0"/>
          </a:p>
        </p:txBody>
      </p:sp>
      <p:sp>
        <p:nvSpPr>
          <p:cNvPr id="31" name="Text 28"/>
          <p:cNvSpPr txBox="1"/>
          <p:nvPr/>
        </p:nvSpPr>
        <p:spPr>
          <a:xfrm>
            <a:off x="566928" y="2881884"/>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studies</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9079992" y="3496056"/>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أَ</a:t>
            </a:r>
            <a:pPr rtl="1" algn="ctr" indent="0" marL="0">
              <a:buNone/>
            </a:pPr>
            <a:r>
              <a:rPr lang="ar-SA" altLang="en-US" sz="2400" b="1" dirty="0">
                <a:solidFill>
                  <a:srgbClr val="1B3B6F"/>
                </a:solidFill>
                <a:latin typeface="Amiri" pitchFamily="34" charset="0"/>
                <a:ea typeface="Amiri" pitchFamily="34" charset="-122"/>
                <a:cs typeface="Amiri" pitchFamily="34" charset="-120"/>
              </a:rPr>
              <a:t>تَكَلَّمُ</a:t>
            </a:r>
            <a:endParaRPr lang="ar-SA" sz="2400" dirty="0"/>
          </a:p>
        </p:txBody>
      </p:sp>
      <p:sp>
        <p:nvSpPr>
          <p:cNvPr id="36" name="Text 33"/>
          <p:cNvSpPr txBox="1"/>
          <p:nvPr/>
        </p:nvSpPr>
        <p:spPr>
          <a:xfrm>
            <a:off x="6336792" y="3496056"/>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يَ</a:t>
            </a:r>
            <a:pPr rtl="1" algn="ctr" indent="0" marL="0">
              <a:buNone/>
            </a:pPr>
            <a:r>
              <a:rPr lang="ar-SA" altLang="en-US" sz="2400" b="1" dirty="0">
                <a:solidFill>
                  <a:srgbClr val="1B3B6F"/>
                </a:solidFill>
                <a:latin typeface="Amiri" pitchFamily="34" charset="0"/>
                <a:ea typeface="Amiri" pitchFamily="34" charset="-122"/>
                <a:cs typeface="Amiri" pitchFamily="34" charset="-120"/>
              </a:rPr>
              <a:t>تَكَلَّمُ</a:t>
            </a:r>
            <a:endParaRPr lang="ar-SA" sz="2400" dirty="0"/>
          </a:p>
        </p:txBody>
      </p:sp>
      <p:sp>
        <p:nvSpPr>
          <p:cNvPr id="37" name="Text 34"/>
          <p:cNvSpPr txBox="1"/>
          <p:nvPr/>
        </p:nvSpPr>
        <p:spPr>
          <a:xfrm>
            <a:off x="3593592" y="3496056"/>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34" charset="0"/>
                <a:ea typeface="Amiri" pitchFamily="34" charset="-122"/>
                <a:cs typeface="Amiri" pitchFamily="34" charset="-120"/>
              </a:rPr>
              <a:t>تَ</a:t>
            </a:r>
            <a:pPr rtl="1" algn="ctr" indent="0" marL="0">
              <a:buNone/>
            </a:pPr>
            <a:r>
              <a:rPr lang="ar-SA" altLang="en-US" sz="2400" b="1" dirty="0">
                <a:solidFill>
                  <a:srgbClr val="1B3B6F"/>
                </a:solidFill>
                <a:latin typeface="Amiri" pitchFamily="34" charset="0"/>
                <a:ea typeface="Amiri" pitchFamily="34" charset="-122"/>
                <a:cs typeface="Amiri" pitchFamily="34" charset="-120"/>
              </a:rPr>
              <a:t>تَكَلَّمُ</a:t>
            </a:r>
            <a:endParaRPr lang="ar-SA" sz="2400" dirty="0"/>
          </a:p>
        </p:txBody>
      </p:sp>
      <p:sp>
        <p:nvSpPr>
          <p:cNvPr id="38" name="Text 35"/>
          <p:cNvSpPr txBox="1"/>
          <p:nvPr/>
        </p:nvSpPr>
        <p:spPr>
          <a:xfrm>
            <a:off x="566928" y="3496056"/>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speaks</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9079992" y="4110228"/>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أُ</a:t>
            </a:r>
            <a:pPr rtl="1" algn="ctr" indent="0" marL="0">
              <a:buNone/>
            </a:pPr>
            <a:r>
              <a:rPr lang="ar-SA" altLang="en-US" sz="2400" b="1" dirty="0">
                <a:solidFill>
                  <a:srgbClr val="1B3B6F"/>
                </a:solidFill>
                <a:latin typeface="Amiri" pitchFamily="34" charset="0"/>
                <a:ea typeface="Amiri" pitchFamily="34" charset="-122"/>
                <a:cs typeface="Amiri" pitchFamily="34" charset="-120"/>
              </a:rPr>
              <a:t>حِبُّ</a:t>
            </a:r>
            <a:endParaRPr lang="ar-SA" sz="2400" dirty="0"/>
          </a:p>
        </p:txBody>
      </p:sp>
      <p:sp>
        <p:nvSpPr>
          <p:cNvPr id="43" name="Text 40"/>
          <p:cNvSpPr txBox="1"/>
          <p:nvPr/>
        </p:nvSpPr>
        <p:spPr>
          <a:xfrm>
            <a:off x="6336792" y="4110228"/>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يُ</a:t>
            </a:r>
            <a:pPr rtl="1" algn="ctr" indent="0" marL="0">
              <a:buNone/>
            </a:pPr>
            <a:r>
              <a:rPr lang="ar-SA" altLang="en-US" sz="2400" b="1" dirty="0">
                <a:solidFill>
                  <a:srgbClr val="1B3B6F"/>
                </a:solidFill>
                <a:latin typeface="Amiri" pitchFamily="34" charset="0"/>
                <a:ea typeface="Amiri" pitchFamily="34" charset="-122"/>
                <a:cs typeface="Amiri" pitchFamily="34" charset="-120"/>
              </a:rPr>
              <a:t>حِبُّ</a:t>
            </a:r>
            <a:endParaRPr lang="ar-SA" sz="2400" dirty="0"/>
          </a:p>
        </p:txBody>
      </p:sp>
      <p:sp>
        <p:nvSpPr>
          <p:cNvPr id="44" name="Text 41"/>
          <p:cNvSpPr txBox="1"/>
          <p:nvPr/>
        </p:nvSpPr>
        <p:spPr>
          <a:xfrm>
            <a:off x="3593592" y="4110228"/>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34" charset="0"/>
                <a:ea typeface="Amiri" pitchFamily="34" charset="-122"/>
                <a:cs typeface="Amiri" pitchFamily="34" charset="-120"/>
              </a:rPr>
              <a:t>تُ</a:t>
            </a:r>
            <a:pPr rtl="1" algn="ctr" indent="0" marL="0">
              <a:buNone/>
            </a:pPr>
            <a:r>
              <a:rPr lang="ar-SA" altLang="en-US" sz="2400" b="1" dirty="0">
                <a:solidFill>
                  <a:srgbClr val="1B3B6F"/>
                </a:solidFill>
                <a:latin typeface="Amiri" pitchFamily="34" charset="0"/>
                <a:ea typeface="Amiri" pitchFamily="34" charset="-122"/>
                <a:cs typeface="Amiri" pitchFamily="34" charset="-120"/>
              </a:rPr>
              <a:t>حِبُّ</a:t>
            </a:r>
            <a:endParaRPr lang="ar-SA" sz="2400" dirty="0"/>
          </a:p>
        </p:txBody>
      </p:sp>
      <p:sp>
        <p:nvSpPr>
          <p:cNvPr id="45" name="Text 42"/>
          <p:cNvSpPr txBox="1"/>
          <p:nvPr/>
        </p:nvSpPr>
        <p:spPr>
          <a:xfrm>
            <a:off x="566928" y="4110228"/>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likes</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9079992" y="4724400"/>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أَ</a:t>
            </a:r>
            <a:pPr rtl="1" algn="ctr" indent="0" marL="0">
              <a:buNone/>
            </a:pPr>
            <a:r>
              <a:rPr lang="ar-SA" altLang="en-US" sz="2400" b="1" dirty="0">
                <a:solidFill>
                  <a:srgbClr val="1B3B6F"/>
                </a:solidFill>
                <a:latin typeface="Amiri" pitchFamily="34" charset="0"/>
                <a:ea typeface="Amiri" pitchFamily="34" charset="-122"/>
                <a:cs typeface="Amiri" pitchFamily="34" charset="-120"/>
              </a:rPr>
              <a:t>قْرَأُ</a:t>
            </a:r>
            <a:endParaRPr lang="ar-SA" sz="2400" dirty="0"/>
          </a:p>
        </p:txBody>
      </p:sp>
      <p:sp>
        <p:nvSpPr>
          <p:cNvPr id="50" name="Text 47"/>
          <p:cNvSpPr txBox="1"/>
          <p:nvPr/>
        </p:nvSpPr>
        <p:spPr>
          <a:xfrm>
            <a:off x="6336792" y="4724400"/>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يَ</a:t>
            </a:r>
            <a:pPr rtl="1" algn="ctr" indent="0" marL="0">
              <a:buNone/>
            </a:pPr>
            <a:r>
              <a:rPr lang="ar-SA" altLang="en-US" sz="2400" b="1" dirty="0">
                <a:solidFill>
                  <a:srgbClr val="1B3B6F"/>
                </a:solidFill>
                <a:latin typeface="Amiri" pitchFamily="34" charset="0"/>
                <a:ea typeface="Amiri" pitchFamily="34" charset="-122"/>
                <a:cs typeface="Amiri" pitchFamily="34" charset="-120"/>
              </a:rPr>
              <a:t>قْرَأُ</a:t>
            </a:r>
            <a:endParaRPr lang="ar-SA" sz="2400" dirty="0"/>
          </a:p>
        </p:txBody>
      </p:sp>
      <p:sp>
        <p:nvSpPr>
          <p:cNvPr id="51" name="Text 48"/>
          <p:cNvSpPr txBox="1"/>
          <p:nvPr/>
        </p:nvSpPr>
        <p:spPr>
          <a:xfrm>
            <a:off x="3593592" y="4724400"/>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34" charset="0"/>
                <a:ea typeface="Amiri" pitchFamily="34" charset="-122"/>
                <a:cs typeface="Amiri" pitchFamily="34" charset="-120"/>
              </a:rPr>
              <a:t>تَ</a:t>
            </a:r>
            <a:pPr rtl="1" algn="ctr" indent="0" marL="0">
              <a:buNone/>
            </a:pPr>
            <a:r>
              <a:rPr lang="ar-SA" altLang="en-US" sz="2400" b="1" dirty="0">
                <a:solidFill>
                  <a:srgbClr val="1B3B6F"/>
                </a:solidFill>
                <a:latin typeface="Amiri" pitchFamily="34" charset="0"/>
                <a:ea typeface="Amiri" pitchFamily="34" charset="-122"/>
                <a:cs typeface="Amiri" pitchFamily="34" charset="-120"/>
              </a:rPr>
              <a:t>قْرَأُ</a:t>
            </a:r>
            <a:endParaRPr lang="ar-SA" sz="2400" dirty="0"/>
          </a:p>
        </p:txBody>
      </p:sp>
      <p:sp>
        <p:nvSpPr>
          <p:cNvPr id="52" name="Text 49"/>
          <p:cNvSpPr txBox="1"/>
          <p:nvPr/>
        </p:nvSpPr>
        <p:spPr>
          <a:xfrm>
            <a:off x="566928" y="4724400"/>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reads</a:t>
            </a:r>
            <a:endParaRPr lang="en-US" sz="1100" dirty="0"/>
          </a:p>
        </p:txBody>
      </p:sp>
      <p:sp>
        <p:nvSpPr>
          <p:cNvPr id="53" name="Shape 5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4" name="Text 51"/>
          <p:cNvSpPr txBox="1"/>
          <p:nvPr/>
        </p:nvSpPr>
        <p:spPr>
          <a:xfrm>
            <a:off x="9079992" y="5338572"/>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أَ</a:t>
            </a:r>
            <a:pPr rtl="1" algn="ctr" indent="0" marL="0">
              <a:buNone/>
            </a:pPr>
            <a:r>
              <a:rPr lang="ar-SA" altLang="en-US" sz="2400" b="1" dirty="0">
                <a:solidFill>
                  <a:srgbClr val="1B3B6F"/>
                </a:solidFill>
                <a:latin typeface="Amiri" pitchFamily="34" charset="0"/>
                <a:ea typeface="Amiri" pitchFamily="34" charset="-122"/>
                <a:cs typeface="Amiri" pitchFamily="34" charset="-120"/>
              </a:rPr>
              <a:t>كْتُبُ</a:t>
            </a:r>
            <a:endParaRPr lang="ar-SA" sz="2400" dirty="0"/>
          </a:p>
        </p:txBody>
      </p:sp>
      <p:sp>
        <p:nvSpPr>
          <p:cNvPr id="55" name="Text 52"/>
          <p:cNvSpPr txBox="1"/>
          <p:nvPr/>
        </p:nvSpPr>
        <p:spPr>
          <a:xfrm>
            <a:off x="6336792" y="5338572"/>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يَ</a:t>
            </a:r>
            <a:pPr rtl="1" algn="ctr" indent="0" marL="0">
              <a:buNone/>
            </a:pPr>
            <a:r>
              <a:rPr lang="ar-SA" altLang="en-US" sz="2400" b="1" dirty="0">
                <a:solidFill>
                  <a:srgbClr val="1B3B6F"/>
                </a:solidFill>
                <a:latin typeface="Amiri" pitchFamily="34" charset="0"/>
                <a:ea typeface="Amiri" pitchFamily="34" charset="-122"/>
                <a:cs typeface="Amiri" pitchFamily="34" charset="-120"/>
              </a:rPr>
              <a:t>كْتُبُ</a:t>
            </a:r>
            <a:endParaRPr lang="ar-SA" sz="2400" dirty="0"/>
          </a:p>
        </p:txBody>
      </p:sp>
      <p:sp>
        <p:nvSpPr>
          <p:cNvPr id="56" name="Text 53"/>
          <p:cNvSpPr txBox="1"/>
          <p:nvPr/>
        </p:nvSpPr>
        <p:spPr>
          <a:xfrm>
            <a:off x="3593592" y="5338572"/>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34" charset="0"/>
                <a:ea typeface="Amiri" pitchFamily="34" charset="-122"/>
                <a:cs typeface="Amiri" pitchFamily="34" charset="-120"/>
              </a:rPr>
              <a:t>تَ</a:t>
            </a:r>
            <a:pPr rtl="1" algn="ctr" indent="0" marL="0">
              <a:buNone/>
            </a:pPr>
            <a:r>
              <a:rPr lang="ar-SA" altLang="en-US" sz="2400" b="1" dirty="0">
                <a:solidFill>
                  <a:srgbClr val="1B3B6F"/>
                </a:solidFill>
                <a:latin typeface="Amiri" pitchFamily="34" charset="0"/>
                <a:ea typeface="Amiri" pitchFamily="34" charset="-122"/>
                <a:cs typeface="Amiri" pitchFamily="34" charset="-120"/>
              </a:rPr>
              <a:t>كْتُبُ</a:t>
            </a:r>
            <a:endParaRPr lang="ar-SA" sz="2400" dirty="0"/>
          </a:p>
        </p:txBody>
      </p:sp>
      <p:sp>
        <p:nvSpPr>
          <p:cNvPr id="57" name="Text 54"/>
          <p:cNvSpPr txBox="1"/>
          <p:nvPr/>
        </p:nvSpPr>
        <p:spPr>
          <a:xfrm>
            <a:off x="566928" y="533857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writes</a:t>
            </a:r>
            <a:endParaRPr lang="en-US" sz="1100" dirty="0"/>
          </a:p>
        </p:txBody>
      </p:sp>
      <p:sp>
        <p:nvSpPr>
          <p:cNvPr id="58" name="Text 5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Only the FIRST letter changes: </a:t>
            </a:r>
            <a:pPr algn="l" indent="0" marL="0">
              <a:buNone/>
            </a:pPr>
            <a:r>
              <a:rPr lang="ar-SA" altLang="en-US" sz="1500" b="1" dirty="0">
                <a:solidFill>
                  <a:srgbClr val="1B3B6F"/>
                </a:solidFill>
                <a:latin typeface="Amiri" pitchFamily="34" charset="0"/>
                <a:ea typeface="Amiri" pitchFamily="34" charset="-122"/>
                <a:cs typeface="Amiri" pitchFamily="34" charset="-120"/>
              </a:rPr>
              <a:t>أَ</a:t>
            </a:r>
            <a:pPr algn="l" indent="0" marL="0">
              <a:buNone/>
            </a:pPr>
            <a:r>
              <a:rPr lang="en-US" sz="1150" b="1" dirty="0">
                <a:solidFill>
                  <a:srgbClr val="1B3B6F"/>
                </a:solidFill>
                <a:latin typeface="Calibri" pitchFamily="34" charset="0"/>
                <a:ea typeface="Calibri" pitchFamily="34" charset="-122"/>
                <a:cs typeface="Calibri" pitchFamily="34" charset="-120"/>
              </a:rPr>
              <a:t> = I · </a:t>
            </a:r>
            <a:pPr algn="l" indent="0" marL="0">
              <a:buNone/>
            </a:pPr>
            <a:r>
              <a:rPr lang="ar-SA" altLang="en-US" sz="1500" b="1" dirty="0">
                <a:solidFill>
                  <a:srgbClr val="1B3B6F"/>
                </a:solidFill>
                <a:latin typeface="Amiri" pitchFamily="34" charset="0"/>
                <a:ea typeface="Amiri" pitchFamily="34" charset="-122"/>
                <a:cs typeface="Amiri" pitchFamily="34" charset="-120"/>
              </a:rPr>
              <a:t>يَـ</a:t>
            </a:r>
            <a:pPr algn="l" indent="0" marL="0">
              <a:buNone/>
            </a:pPr>
            <a:r>
              <a:rPr lang="en-US" sz="1150" b="1" dirty="0">
                <a:solidFill>
                  <a:srgbClr val="1B3B6F"/>
                </a:solidFill>
                <a:latin typeface="Calibri" pitchFamily="34" charset="0"/>
                <a:ea typeface="Calibri" pitchFamily="34" charset="-122"/>
                <a:cs typeface="Calibri" pitchFamily="34" charset="-120"/>
              </a:rPr>
              <a:t> = he · </a:t>
            </a:r>
            <a:pPr algn="l" indent="0" marL="0">
              <a:buNone/>
            </a:pPr>
            <a:r>
              <a:rPr lang="ar-SA" altLang="en-US" sz="1500" b="1" dirty="0">
                <a:solidFill>
                  <a:srgbClr val="1B3B6F"/>
                </a:solidFill>
                <a:latin typeface="Amiri" pitchFamily="34" charset="0"/>
                <a:ea typeface="Amiri" pitchFamily="34" charset="-122"/>
                <a:cs typeface="Amiri" pitchFamily="34" charset="-120"/>
              </a:rPr>
              <a:t>تَـ</a:t>
            </a:r>
            <a:pPr algn="l" indent="0" marL="0">
              <a:buNone/>
            </a:pPr>
            <a:r>
              <a:rPr lang="en-US" sz="1150" b="1" dirty="0">
                <a:solidFill>
                  <a:srgbClr val="1B3B6F"/>
                </a:solidFill>
                <a:latin typeface="Calibri" pitchFamily="34" charset="0"/>
                <a:ea typeface="Calibri" pitchFamily="34" charset="-122"/>
                <a:cs typeface="Calibri" pitchFamily="34" charset="-120"/>
              </a:rPr>
              <a:t> = she.</a:t>
            </a:r>
            <a:endParaRPr lang="en-US" sz="11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ea typeface="Calibri" pitchFamily="34" charset="-122"/>
                <a:cs typeface="Calibri" pitchFamily="34" charset="-120"/>
              </a:rPr>
              <a:t>KEY WORDS · GROUP 3 · THE PROFILE-ENRICHMENT HOBBY BANK (WEBSITE) · CHOOSE ONLY WHAT IS TRUE</a:t>
            </a:r>
            <a:endParaRPr lang="en-US" sz="8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Ten hobbies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الهِوَايَاتُ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7" name="Shape 14"/>
          <p:cNvSpPr/>
          <p:nvPr/>
        </p:nvSpPr>
        <p:spPr>
          <a:xfrm>
            <a:off x="457200" y="1810512"/>
            <a:ext cx="11274552" cy="384048"/>
          </a:xfrm>
          <a:prstGeom prst="rect">
            <a:avLst/>
          </a:prstGeom>
          <a:solidFill>
            <a:srgbClr val="1B3B6F"/>
          </a:solidFill>
          <a:ln w="12700">
            <a:solidFill>
              <a:srgbClr val="1B3B6F"/>
            </a:solidFill>
            <a:prstDash val="solid"/>
          </a:ln>
        </p:spPr>
      </p:sp>
      <p:sp>
        <p:nvSpPr>
          <p:cNvPr id="18" name="Text 15"/>
          <p:cNvSpPr txBox="1"/>
          <p:nvPr/>
        </p:nvSpPr>
        <p:spPr>
          <a:xfrm>
            <a:off x="869594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Hobby</a:t>
            </a:r>
            <a:endParaRPr lang="en-US" sz="1100" dirty="0"/>
          </a:p>
        </p:txBody>
      </p:sp>
      <p:sp>
        <p:nvSpPr>
          <p:cNvPr id="19" name="Text 16"/>
          <p:cNvSpPr txBox="1"/>
          <p:nvPr/>
        </p:nvSpPr>
        <p:spPr>
          <a:xfrm>
            <a:off x="613562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English</a:t>
            </a:r>
            <a:endParaRPr lang="en-US" sz="1100" dirty="0"/>
          </a:p>
        </p:txBody>
      </p:sp>
      <p:sp>
        <p:nvSpPr>
          <p:cNvPr id="20" name="Text 17"/>
          <p:cNvSpPr txBox="1"/>
          <p:nvPr/>
        </p:nvSpPr>
        <p:spPr>
          <a:xfrm>
            <a:off x="302666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Hobby</a:t>
            </a:r>
            <a:endParaRPr lang="en-US" sz="1100" dirty="0"/>
          </a:p>
        </p:txBody>
      </p:sp>
      <p:sp>
        <p:nvSpPr>
          <p:cNvPr id="21" name="Text 18"/>
          <p:cNvSpPr txBox="1"/>
          <p:nvPr/>
        </p:nvSpPr>
        <p:spPr>
          <a:xfrm>
            <a:off x="53035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English</a:t>
            </a:r>
            <a:endParaRPr lang="en-US" sz="1100" dirty="0"/>
          </a:p>
        </p:txBody>
      </p:sp>
      <p:sp>
        <p:nvSpPr>
          <p:cNvPr id="22" name="Shape 19"/>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3" name="Text 20"/>
          <p:cNvSpPr txBox="1"/>
          <p:nvPr/>
        </p:nvSpPr>
        <p:spPr>
          <a:xfrm>
            <a:off x="8714232" y="2267712"/>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القِرَاءَةُ</a:t>
            </a:r>
            <a:endParaRPr lang="ar-SA" sz="2400" dirty="0"/>
          </a:p>
        </p:txBody>
      </p:sp>
      <p:sp>
        <p:nvSpPr>
          <p:cNvPr id="24" name="Text 21"/>
          <p:cNvSpPr txBox="1"/>
          <p:nvPr/>
        </p:nvSpPr>
        <p:spPr>
          <a:xfrm>
            <a:off x="6172200" y="2267712"/>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reading</a:t>
            </a:r>
            <a:endParaRPr lang="en-US" sz="1100" dirty="0"/>
          </a:p>
        </p:txBody>
      </p:sp>
      <p:sp>
        <p:nvSpPr>
          <p:cNvPr id="25" name="Text 22"/>
          <p:cNvSpPr txBox="1"/>
          <p:nvPr/>
        </p:nvSpPr>
        <p:spPr>
          <a:xfrm>
            <a:off x="3044952" y="2267712"/>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الكِتَابَةُ</a:t>
            </a:r>
            <a:endParaRPr lang="ar-SA" sz="2400" dirty="0"/>
          </a:p>
        </p:txBody>
      </p:sp>
      <p:sp>
        <p:nvSpPr>
          <p:cNvPr id="26" name="Text 23"/>
          <p:cNvSpPr txBox="1"/>
          <p:nvPr/>
        </p:nvSpPr>
        <p:spPr>
          <a:xfrm>
            <a:off x="566928" y="2267712"/>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writing</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9" name="Shape 26"/>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0" name="Text 27"/>
          <p:cNvSpPr txBox="1"/>
          <p:nvPr/>
        </p:nvSpPr>
        <p:spPr>
          <a:xfrm>
            <a:off x="8714232" y="3054096"/>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الرَّسْمُ</a:t>
            </a:r>
            <a:endParaRPr lang="ar-SA" sz="2400" dirty="0"/>
          </a:p>
        </p:txBody>
      </p:sp>
      <p:sp>
        <p:nvSpPr>
          <p:cNvPr id="31" name="Text 28"/>
          <p:cNvSpPr txBox="1"/>
          <p:nvPr/>
        </p:nvSpPr>
        <p:spPr>
          <a:xfrm>
            <a:off x="6172200" y="3054096"/>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drawing</a:t>
            </a:r>
            <a:endParaRPr lang="en-US" sz="1100" dirty="0"/>
          </a:p>
        </p:txBody>
      </p:sp>
      <p:sp>
        <p:nvSpPr>
          <p:cNvPr id="32" name="Text 29"/>
          <p:cNvSpPr txBox="1"/>
          <p:nvPr/>
        </p:nvSpPr>
        <p:spPr>
          <a:xfrm>
            <a:off x="3044952" y="3054096"/>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السِّبَاحَةُ</a:t>
            </a:r>
            <a:endParaRPr lang="ar-SA" sz="2400" dirty="0"/>
          </a:p>
        </p:txBody>
      </p:sp>
      <p:sp>
        <p:nvSpPr>
          <p:cNvPr id="33" name="Text 30"/>
          <p:cNvSpPr txBox="1"/>
          <p:nvPr/>
        </p:nvSpPr>
        <p:spPr>
          <a:xfrm>
            <a:off x="566928" y="3054096"/>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swimming</a:t>
            </a:r>
            <a:endParaRPr lang="en-US" sz="1100" dirty="0"/>
          </a:p>
        </p:txBody>
      </p:sp>
      <p:sp>
        <p:nvSpPr>
          <p:cNvPr id="34" name="Shape 31"/>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6" name="Shape 33"/>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7" name="Text 34"/>
          <p:cNvSpPr txBox="1"/>
          <p:nvPr/>
        </p:nvSpPr>
        <p:spPr>
          <a:xfrm>
            <a:off x="8714232" y="3840480"/>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كُرَةُ القَدَمِ</a:t>
            </a:r>
            <a:endParaRPr lang="ar-SA" sz="2400" dirty="0"/>
          </a:p>
        </p:txBody>
      </p:sp>
      <p:sp>
        <p:nvSpPr>
          <p:cNvPr id="38" name="Text 35"/>
          <p:cNvSpPr txBox="1"/>
          <p:nvPr/>
        </p:nvSpPr>
        <p:spPr>
          <a:xfrm>
            <a:off x="6172200" y="3840480"/>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football</a:t>
            </a:r>
            <a:endParaRPr lang="en-US" sz="1100" dirty="0"/>
          </a:p>
        </p:txBody>
      </p:sp>
      <p:sp>
        <p:nvSpPr>
          <p:cNvPr id="39" name="Text 36"/>
          <p:cNvSpPr txBox="1"/>
          <p:nvPr/>
        </p:nvSpPr>
        <p:spPr>
          <a:xfrm>
            <a:off x="3044952" y="3840480"/>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كُرَةُ السَّلَّةِ</a:t>
            </a:r>
            <a:endParaRPr lang="ar-SA" sz="2400" dirty="0"/>
          </a:p>
        </p:txBody>
      </p:sp>
      <p:sp>
        <p:nvSpPr>
          <p:cNvPr id="40" name="Text 37"/>
          <p:cNvSpPr txBox="1"/>
          <p:nvPr/>
        </p:nvSpPr>
        <p:spPr>
          <a:xfrm>
            <a:off x="566928" y="3840480"/>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basketball</a:t>
            </a:r>
            <a:endParaRPr lang="en-US" sz="110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714232" y="4626864"/>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الطَّبْخُ</a:t>
            </a:r>
            <a:endParaRPr lang="ar-SA" sz="2400" dirty="0"/>
          </a:p>
        </p:txBody>
      </p:sp>
      <p:sp>
        <p:nvSpPr>
          <p:cNvPr id="43" name="Text 40"/>
          <p:cNvSpPr txBox="1"/>
          <p:nvPr/>
        </p:nvSpPr>
        <p:spPr>
          <a:xfrm>
            <a:off x="6172200" y="4626864"/>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cooking</a:t>
            </a:r>
            <a:endParaRPr lang="en-US" sz="1100" dirty="0"/>
          </a:p>
        </p:txBody>
      </p:sp>
      <p:sp>
        <p:nvSpPr>
          <p:cNvPr id="44" name="Text 41"/>
          <p:cNvSpPr txBox="1"/>
          <p:nvPr/>
        </p:nvSpPr>
        <p:spPr>
          <a:xfrm>
            <a:off x="3044952" y="4626864"/>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التَّصْوِيرُ</a:t>
            </a:r>
            <a:endParaRPr lang="ar-SA" sz="2400" dirty="0"/>
          </a:p>
        </p:txBody>
      </p:sp>
      <p:sp>
        <p:nvSpPr>
          <p:cNvPr id="45" name="Text 42"/>
          <p:cNvSpPr txBox="1"/>
          <p:nvPr/>
        </p:nvSpPr>
        <p:spPr>
          <a:xfrm>
            <a:off x="566928" y="4626864"/>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photography</a:t>
            </a:r>
            <a:endParaRPr lang="en-US" sz="1100" dirty="0"/>
          </a:p>
        </p:txBody>
      </p:sp>
      <p:sp>
        <p:nvSpPr>
          <p:cNvPr id="46" name="Shape 43"/>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47" name="Text 44"/>
          <p:cNvSpPr txBox="1"/>
          <p:nvPr/>
        </p:nvSpPr>
        <p:spPr>
          <a:xfrm>
            <a:off x="8714232" y="5413248"/>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الأَلْعَابُ الإِلِكْتُرُونِيَّةُ</a:t>
            </a:r>
            <a:endParaRPr lang="ar-SA" sz="2400" dirty="0"/>
          </a:p>
        </p:txBody>
      </p:sp>
      <p:sp>
        <p:nvSpPr>
          <p:cNvPr id="48" name="Text 45"/>
          <p:cNvSpPr txBox="1"/>
          <p:nvPr/>
        </p:nvSpPr>
        <p:spPr>
          <a:xfrm>
            <a:off x="6172200" y="5413248"/>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video games</a:t>
            </a:r>
            <a:endParaRPr lang="en-US" sz="1100" dirty="0"/>
          </a:p>
        </p:txBody>
      </p:sp>
      <p:sp>
        <p:nvSpPr>
          <p:cNvPr id="49" name="Text 46"/>
          <p:cNvSpPr txBox="1"/>
          <p:nvPr/>
        </p:nvSpPr>
        <p:spPr>
          <a:xfrm>
            <a:off x="3044952" y="5413248"/>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المُوسِيقَى</a:t>
            </a:r>
            <a:endParaRPr lang="ar-SA" sz="2400" dirty="0"/>
          </a:p>
        </p:txBody>
      </p:sp>
      <p:sp>
        <p:nvSpPr>
          <p:cNvPr id="50" name="Text 47"/>
          <p:cNvSpPr txBox="1"/>
          <p:nvPr/>
        </p:nvSpPr>
        <p:spPr>
          <a:xfrm>
            <a:off x="566928" y="5413248"/>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music</a:t>
            </a:r>
            <a:endParaRPr lang="en-US" sz="110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GRAMMAR FOCUS · BUILD THE HE / SHE PROFILE PATTERN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My, his, 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نَمَطُ هُوَ وَهِيَ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8738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my (from F2-L07)</a:t>
            </a:r>
            <a:endParaRPr lang="en-US" sz="1100" dirty="0"/>
          </a:p>
        </p:txBody>
      </p:sp>
      <p:sp>
        <p:nvSpPr>
          <p:cNvPr id="17" name="Text 14"/>
          <p:cNvSpPr txBox="1"/>
          <p:nvPr/>
        </p:nvSpPr>
        <p:spPr>
          <a:xfrm>
            <a:off x="576986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his (</a:t>
            </a:r>
            <a:pPr algn="ctr" indent="0" marL="0">
              <a:buNone/>
            </a:pPr>
            <a:r>
              <a:rPr lang="ar-SA" altLang="en-US" sz="1450" b="1" dirty="0">
                <a:solidFill>
                  <a:srgbClr val="FFFFFF"/>
                </a:solidFill>
                <a:latin typeface="Amiri" pitchFamily="34" charset="0"/>
                <a:ea typeface="Amiri" pitchFamily="34" charset="-122"/>
                <a:cs typeface="Amiri" pitchFamily="34" charset="-120"/>
              </a:rPr>
              <a:t>ـهُ</a:t>
            </a:r>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8" name="Text 15"/>
          <p:cNvSpPr txBox="1"/>
          <p:nvPr/>
        </p:nvSpPr>
        <p:spPr>
          <a:xfrm>
            <a:off x="275234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her (</a:t>
            </a:r>
            <a:pPr algn="ctr" indent="0" marL="0">
              <a:buNone/>
            </a:pPr>
            <a:r>
              <a:rPr lang="ar-SA" altLang="en-US" sz="1450" b="1" dirty="0">
                <a:solidFill>
                  <a:srgbClr val="FFFFFF"/>
                </a:solidFill>
                <a:latin typeface="Amiri" pitchFamily="34" charset="0"/>
                <a:ea typeface="Amiri" pitchFamily="34" charset="-122"/>
                <a:cs typeface="Amiri" pitchFamily="34" charset="-120"/>
              </a:rPr>
              <a:t>ـهَا</a:t>
            </a:r>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9" name="Text 16"/>
          <p:cNvSpPr txBox="1"/>
          <p:nvPr/>
        </p:nvSpPr>
        <p:spPr>
          <a:xfrm>
            <a:off x="530352" y="1810512"/>
            <a:ext cx="2075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805672" y="2267712"/>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اِسْمِي أَحْمَدُ.</a:t>
            </a:r>
            <a:endParaRPr lang="ar-SA" sz="2200" dirty="0"/>
          </a:p>
        </p:txBody>
      </p:sp>
      <p:sp>
        <p:nvSpPr>
          <p:cNvPr id="22" name="Text 19"/>
          <p:cNvSpPr txBox="1"/>
          <p:nvPr/>
        </p:nvSpPr>
        <p:spPr>
          <a:xfrm>
            <a:off x="5788152" y="2267712"/>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اِسْمُ</a:t>
            </a:r>
            <a:pPr rtl="1" algn="ctr" indent="0" marL="0">
              <a:buNone/>
            </a:pPr>
            <a:r>
              <a:rPr lang="ar-SA" altLang="en-US" sz="2200" b="1" dirty="0">
                <a:solidFill>
                  <a:srgbClr val="1D5FBF"/>
                </a:solidFill>
                <a:latin typeface="Amiri" pitchFamily="34" charset="0"/>
                <a:ea typeface="Amiri" pitchFamily="34" charset="-122"/>
                <a:cs typeface="Amiri" pitchFamily="34" charset="-120"/>
              </a:rPr>
              <a:t>هُ</a:t>
            </a:r>
            <a:pPr rtl="1" algn="ctr" indent="0" marL="0">
              <a:buNone/>
            </a:pPr>
            <a:r>
              <a:rPr lang="ar-SA" altLang="en-US" sz="2200" b="1" dirty="0">
                <a:solidFill>
                  <a:srgbClr val="1B3B6F"/>
                </a:solidFill>
                <a:latin typeface="Amiri" pitchFamily="34" charset="0"/>
                <a:ea typeface="Amiri" pitchFamily="34" charset="-122"/>
                <a:cs typeface="Amiri" pitchFamily="34" charset="-120"/>
              </a:rPr>
              <a:t> أَحْمَدُ.</a:t>
            </a:r>
            <a:endParaRPr lang="ar-SA" sz="2200" dirty="0"/>
          </a:p>
        </p:txBody>
      </p:sp>
      <p:sp>
        <p:nvSpPr>
          <p:cNvPr id="23" name="Text 20"/>
          <p:cNvSpPr txBox="1"/>
          <p:nvPr/>
        </p:nvSpPr>
        <p:spPr>
          <a:xfrm>
            <a:off x="2770632" y="2267712"/>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اِسْمُ</a:t>
            </a:r>
            <a:pPr rtl="1" algn="ctr" indent="0" marL="0">
              <a:buNone/>
            </a:pPr>
            <a:r>
              <a:rPr lang="ar-SA" altLang="en-US" sz="2200" b="1" dirty="0">
                <a:solidFill>
                  <a:srgbClr val="D6336C"/>
                </a:solidFill>
                <a:latin typeface="Amiri" pitchFamily="34" charset="0"/>
                <a:ea typeface="Amiri" pitchFamily="34" charset="-122"/>
                <a:cs typeface="Amiri" pitchFamily="34" charset="-120"/>
              </a:rPr>
              <a:t>هَا</a:t>
            </a:r>
            <a:pPr rtl="1" algn="ctr" indent="0" marL="0">
              <a:buNone/>
            </a:pPr>
            <a:r>
              <a:rPr lang="ar-SA" altLang="en-US" sz="2200" b="1" dirty="0">
                <a:solidFill>
                  <a:srgbClr val="1B3B6F"/>
                </a:solidFill>
                <a:latin typeface="Amiri" pitchFamily="34" charset="0"/>
                <a:ea typeface="Amiri" pitchFamily="34" charset="-122"/>
                <a:cs typeface="Amiri" pitchFamily="34" charset="-120"/>
              </a:rPr>
              <a:t> سَارَةُ.</a:t>
            </a:r>
            <a:endParaRPr lang="ar-SA" sz="2200" dirty="0"/>
          </a:p>
        </p:txBody>
      </p:sp>
      <p:sp>
        <p:nvSpPr>
          <p:cNvPr id="24" name="Text 21"/>
          <p:cNvSpPr txBox="1"/>
          <p:nvPr/>
        </p:nvSpPr>
        <p:spPr>
          <a:xfrm>
            <a:off x="566928" y="2267712"/>
            <a:ext cx="2039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name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805672" y="3054096"/>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عُمْرِي … سَنَةً.</a:t>
            </a:r>
            <a:endParaRPr lang="ar-SA" sz="2200" dirty="0"/>
          </a:p>
        </p:txBody>
      </p:sp>
      <p:sp>
        <p:nvSpPr>
          <p:cNvPr id="29" name="Text 26"/>
          <p:cNvSpPr txBox="1"/>
          <p:nvPr/>
        </p:nvSpPr>
        <p:spPr>
          <a:xfrm>
            <a:off x="5788152" y="3054096"/>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عُمْرُ</a:t>
            </a:r>
            <a:pPr rtl="1" algn="ctr" indent="0" marL="0">
              <a:buNone/>
            </a:pPr>
            <a:r>
              <a:rPr lang="ar-SA" altLang="en-US" sz="2200" b="1" dirty="0">
                <a:solidFill>
                  <a:srgbClr val="1D5FBF"/>
                </a:solidFill>
                <a:latin typeface="Amiri" pitchFamily="34" charset="0"/>
                <a:ea typeface="Amiri" pitchFamily="34" charset="-122"/>
                <a:cs typeface="Amiri" pitchFamily="34" charset="-120"/>
              </a:rPr>
              <a:t>هُ</a:t>
            </a:r>
            <a:pPr rtl="1" algn="ctr" indent="0" marL="0">
              <a:buNone/>
            </a:pPr>
            <a:r>
              <a:rPr lang="ar-SA" altLang="en-US" sz="2200" b="1" dirty="0">
                <a:solidFill>
                  <a:srgbClr val="1B3B6F"/>
                </a:solidFill>
                <a:latin typeface="Amiri" pitchFamily="34" charset="0"/>
                <a:ea typeface="Amiri" pitchFamily="34" charset="-122"/>
                <a:cs typeface="Amiri" pitchFamily="34" charset="-120"/>
              </a:rPr>
              <a:t> … سَنَةً.</a:t>
            </a:r>
            <a:endParaRPr lang="ar-SA" sz="2200" dirty="0"/>
          </a:p>
        </p:txBody>
      </p:sp>
      <p:sp>
        <p:nvSpPr>
          <p:cNvPr id="30" name="Text 27"/>
          <p:cNvSpPr txBox="1"/>
          <p:nvPr/>
        </p:nvSpPr>
        <p:spPr>
          <a:xfrm>
            <a:off x="2770632" y="3054096"/>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عُمْرُ</a:t>
            </a:r>
            <a:pPr rtl="1" algn="ctr" indent="0" marL="0">
              <a:buNone/>
            </a:pPr>
            <a:r>
              <a:rPr lang="ar-SA" altLang="en-US" sz="2200" b="1" dirty="0">
                <a:solidFill>
                  <a:srgbClr val="D6336C"/>
                </a:solidFill>
                <a:latin typeface="Amiri" pitchFamily="34" charset="0"/>
                <a:ea typeface="Amiri" pitchFamily="34" charset="-122"/>
                <a:cs typeface="Amiri" pitchFamily="34" charset="-120"/>
              </a:rPr>
              <a:t>هَا</a:t>
            </a:r>
            <a:pPr rtl="1" algn="ctr" indent="0" marL="0">
              <a:buNone/>
            </a:pPr>
            <a:r>
              <a:rPr lang="ar-SA" altLang="en-US" sz="2200" b="1" dirty="0">
                <a:solidFill>
                  <a:srgbClr val="1B3B6F"/>
                </a:solidFill>
                <a:latin typeface="Amiri" pitchFamily="34" charset="0"/>
                <a:ea typeface="Amiri" pitchFamily="34" charset="-122"/>
                <a:cs typeface="Amiri" pitchFamily="34" charset="-120"/>
              </a:rPr>
              <a:t> … سَنَةً.</a:t>
            </a:r>
            <a:endParaRPr lang="ar-SA" sz="2200" dirty="0"/>
          </a:p>
        </p:txBody>
      </p:sp>
      <p:sp>
        <p:nvSpPr>
          <p:cNvPr id="31" name="Text 28"/>
          <p:cNvSpPr txBox="1"/>
          <p:nvPr/>
        </p:nvSpPr>
        <p:spPr>
          <a:xfrm>
            <a:off x="566928" y="3054096"/>
            <a:ext cx="2039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age</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805672" y="3840480"/>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هِوَايَتِي المُفَضَّلَةُ</a:t>
            </a:r>
            <a:endParaRPr lang="ar-SA" sz="2200" dirty="0"/>
          </a:p>
        </p:txBody>
      </p:sp>
      <p:sp>
        <p:nvSpPr>
          <p:cNvPr id="36" name="Text 33"/>
          <p:cNvSpPr txBox="1"/>
          <p:nvPr/>
        </p:nvSpPr>
        <p:spPr>
          <a:xfrm>
            <a:off x="5788152" y="3840480"/>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هِوَايَتُ</a:t>
            </a:r>
            <a:pPr rtl="1" algn="ctr" indent="0" marL="0">
              <a:buNone/>
            </a:pPr>
            <a:r>
              <a:rPr lang="ar-SA" altLang="en-US" sz="2200" b="1" dirty="0">
                <a:solidFill>
                  <a:srgbClr val="1D5FBF"/>
                </a:solidFill>
                <a:latin typeface="Amiri" pitchFamily="34" charset="0"/>
                <a:ea typeface="Amiri" pitchFamily="34" charset="-122"/>
                <a:cs typeface="Amiri" pitchFamily="34" charset="-120"/>
              </a:rPr>
              <a:t>هُ</a:t>
            </a:r>
            <a:pPr rtl="1" algn="ctr" indent="0" marL="0">
              <a:buNone/>
            </a:pPr>
            <a:r>
              <a:rPr lang="ar-SA" altLang="en-US" sz="2200" b="1" dirty="0">
                <a:solidFill>
                  <a:srgbClr val="1B3B6F"/>
                </a:solidFill>
                <a:latin typeface="Amiri" pitchFamily="34" charset="0"/>
                <a:ea typeface="Amiri" pitchFamily="34" charset="-122"/>
                <a:cs typeface="Amiri" pitchFamily="34" charset="-120"/>
              </a:rPr>
              <a:t> المُفَضَّلَةُ</a:t>
            </a:r>
            <a:endParaRPr lang="ar-SA" sz="2200" dirty="0"/>
          </a:p>
        </p:txBody>
      </p:sp>
      <p:sp>
        <p:nvSpPr>
          <p:cNvPr id="37" name="Text 34"/>
          <p:cNvSpPr txBox="1"/>
          <p:nvPr/>
        </p:nvSpPr>
        <p:spPr>
          <a:xfrm>
            <a:off x="2770632" y="3840480"/>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هِوَايَتُ</a:t>
            </a:r>
            <a:pPr rtl="1" algn="ctr" indent="0" marL="0">
              <a:buNone/>
            </a:pPr>
            <a:r>
              <a:rPr lang="ar-SA" altLang="en-US" sz="2200" b="1" dirty="0">
                <a:solidFill>
                  <a:srgbClr val="D6336C"/>
                </a:solidFill>
                <a:latin typeface="Amiri" pitchFamily="34" charset="0"/>
                <a:ea typeface="Amiri" pitchFamily="34" charset="-122"/>
                <a:cs typeface="Amiri" pitchFamily="34" charset="-120"/>
              </a:rPr>
              <a:t>هَا</a:t>
            </a:r>
            <a:pPr rtl="1" algn="ctr" indent="0" marL="0">
              <a:buNone/>
            </a:pPr>
            <a:r>
              <a:rPr lang="ar-SA" altLang="en-US" sz="2200" b="1" dirty="0">
                <a:solidFill>
                  <a:srgbClr val="1B3B6F"/>
                </a:solidFill>
                <a:latin typeface="Amiri" pitchFamily="34" charset="0"/>
                <a:ea typeface="Amiri" pitchFamily="34" charset="-122"/>
                <a:cs typeface="Amiri" pitchFamily="34" charset="-120"/>
              </a:rPr>
              <a:t> المُفَضَّلَةُ</a:t>
            </a:r>
            <a:endParaRPr lang="ar-SA" sz="2200" dirty="0"/>
          </a:p>
        </p:txBody>
      </p:sp>
      <p:sp>
        <p:nvSpPr>
          <p:cNvPr id="38" name="Text 35"/>
          <p:cNvSpPr txBox="1"/>
          <p:nvPr/>
        </p:nvSpPr>
        <p:spPr>
          <a:xfrm>
            <a:off x="566928" y="3840480"/>
            <a:ext cx="2039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favourite hobby</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805672" y="4626864"/>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أَنَا مِصْرِيٌّ.</a:t>
            </a:r>
            <a:endParaRPr lang="ar-SA" sz="2200" dirty="0"/>
          </a:p>
        </p:txBody>
      </p:sp>
      <p:sp>
        <p:nvSpPr>
          <p:cNvPr id="41" name="Text 38"/>
          <p:cNvSpPr txBox="1"/>
          <p:nvPr/>
        </p:nvSpPr>
        <p:spPr>
          <a:xfrm>
            <a:off x="5788152" y="4626864"/>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34" charset="0"/>
                <a:ea typeface="Amiri" pitchFamily="34" charset="-122"/>
                <a:cs typeface="Amiri" pitchFamily="34" charset="-120"/>
              </a:rPr>
              <a:t>هُوَ</a:t>
            </a:r>
            <a:pPr rtl="1" algn="ctr" indent="0" marL="0">
              <a:buNone/>
            </a:pPr>
            <a:r>
              <a:rPr lang="ar-SA" altLang="en-US" sz="2200" b="1" dirty="0">
                <a:solidFill>
                  <a:srgbClr val="1B3B6F"/>
                </a:solidFill>
                <a:latin typeface="Amiri" pitchFamily="34" charset="0"/>
                <a:ea typeface="Amiri" pitchFamily="34" charset="-122"/>
                <a:cs typeface="Amiri" pitchFamily="34" charset="-120"/>
              </a:rPr>
              <a:t> مِصْرِيٌّ.</a:t>
            </a:r>
            <a:endParaRPr lang="ar-SA" sz="2200" dirty="0"/>
          </a:p>
        </p:txBody>
      </p:sp>
      <p:sp>
        <p:nvSpPr>
          <p:cNvPr id="42" name="Text 39"/>
          <p:cNvSpPr txBox="1"/>
          <p:nvPr/>
        </p:nvSpPr>
        <p:spPr>
          <a:xfrm>
            <a:off x="2770632" y="4626864"/>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34" charset="0"/>
                <a:ea typeface="Amiri" pitchFamily="34" charset="-122"/>
                <a:cs typeface="Amiri" pitchFamily="34" charset="-120"/>
              </a:rPr>
              <a:t>هِيَ</a:t>
            </a:r>
            <a:pPr rtl="1" algn="ctr" indent="0" marL="0">
              <a:buNone/>
            </a:pPr>
            <a:r>
              <a:rPr lang="ar-SA" altLang="en-US" sz="2200" b="1" dirty="0">
                <a:solidFill>
                  <a:srgbClr val="1B3B6F"/>
                </a:solidFill>
                <a:latin typeface="Amiri" pitchFamily="34" charset="0"/>
                <a:ea typeface="Amiri" pitchFamily="34" charset="-122"/>
                <a:cs typeface="Amiri" pitchFamily="34" charset="-120"/>
              </a:rPr>
              <a:t> بَرِيطَانِيَّةٌ.</a:t>
            </a:r>
            <a:endParaRPr lang="ar-SA" sz="2200" dirty="0"/>
          </a:p>
        </p:txBody>
      </p:sp>
      <p:sp>
        <p:nvSpPr>
          <p:cNvPr id="43" name="Text 40"/>
          <p:cNvSpPr txBox="1"/>
          <p:nvPr/>
        </p:nvSpPr>
        <p:spPr>
          <a:xfrm>
            <a:off x="566928" y="4626864"/>
            <a:ext cx="2039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nationality</a:t>
            </a:r>
            <a:endParaRPr lang="en-US" sz="1100" dirty="0"/>
          </a:p>
        </p:txBody>
      </p:sp>
      <p:sp>
        <p:nvSpPr>
          <p:cNvPr id="44" name="Shape 41"/>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6" name="Text 4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The subject, the ending and the verb prefix work TOGETHER — read the whole pattern (website).</a:t>
            </a:r>
            <a:endParaRPr lang="en-US" sz="11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His age is thirteen.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عُمْرُهَا ثَلَاثَ عَشْرَةَ سَنَةً.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عُمْرِي ثَلَاثَ عَشْرَةَ سَنَةً.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عُمْرُهُ ثَلَاثَ عَشْرَةَ سَنَةً.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Her favourite hobby is reading.</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هِوَايَتُهَا المُفَضَّلَةُ القِرَاءَةُ.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هِوَايَتُهُ المُفَضَّلَةُ القِرَاءَةُ.</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هِوَايَتِي المُفَضَّلَةُ القِرَاءَةُ.</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She lives.</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يَعِيشُ</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تَعِيشُ</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أَعِيشُ</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He likes football.</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يُحِبُّ كُرَةَ القَدَمِ.</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تُحِبُّ كُرَةَ القَدَمِ.</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أُحِبُّ كُرَةَ القَدَمِ.</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His age is thirteen.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عُمْرُهَا ثَلَاثَ عَشْرَةَ سَنَةً.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عُمْرِي ثَلَاثَ عَشْرَةَ سَنَةً.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عُمْرُهُ ثَلَاثَ عَشْرَةَ سَنَةً.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ـهُ</a:t>
            </a:r>
            <a:pPr algn="l" indent="0" marL="0">
              <a:buNone/>
            </a:pPr>
            <a:r>
              <a:rPr lang="en-US" sz="1050" i="1" dirty="0">
                <a:solidFill>
                  <a:srgbClr val="8A6D1E"/>
                </a:solidFill>
                <a:latin typeface="Calibri" pitchFamily="34" charset="0"/>
                <a:ea typeface="Calibri" pitchFamily="34" charset="-122"/>
                <a:cs typeface="Calibri" pitchFamily="34" charset="-120"/>
              </a:rPr>
              <a:t> means his.</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Her favourite hobby is reading.</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هِوَايَتُهَا المُفَضَّلَةُ القِرَاءَةُ.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هِوَايَتُهُ المُفَضَّلَةُ القِرَاءَةُ.</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هِوَايَتِي المُفَضَّلَةُ القِرَاءَةُ.</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ـهَا</a:t>
            </a:r>
            <a:pPr algn="l" indent="0" marL="0">
              <a:buNone/>
            </a:pPr>
            <a:r>
              <a:rPr lang="en-US" sz="1050" i="1" dirty="0">
                <a:solidFill>
                  <a:srgbClr val="8A6D1E"/>
                </a:solidFill>
                <a:latin typeface="Calibri" pitchFamily="34" charset="0"/>
                <a:ea typeface="Calibri" pitchFamily="34" charset="-122"/>
                <a:cs typeface="Calibri" pitchFamily="34" charset="-120"/>
              </a:rPr>
              <a:t> means her.</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She lives.</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يَعِيشُ</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تَعِيشُ</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أَعِيشُ</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feminine third-person form begins with </a:t>
            </a:r>
            <a:pPr algn="l" indent="0" marL="0">
              <a:buNone/>
            </a:pPr>
            <a:r>
              <a:rPr lang="ar-SA" altLang="en-US" sz="1350" dirty="0">
                <a:solidFill>
                  <a:srgbClr val="8A6D1E"/>
                </a:solidFill>
                <a:latin typeface="Amiri" pitchFamily="34" charset="0"/>
                <a:ea typeface="Amiri" pitchFamily="34" charset="-122"/>
                <a:cs typeface="Amiri" pitchFamily="34" charset="-120"/>
              </a:rPr>
              <a:t>تـ</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He likes football.</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يُحِبُّ كُرَةَ القَدَمِ.</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تُحِبُّ كُرَةَ القَدَمِ.</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أُحِبُّ كُرَةَ القَدَمِ.</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يُحِبُّ</a:t>
            </a:r>
            <a:pPr algn="l" indent="0" marL="0">
              <a:buNone/>
            </a:pPr>
            <a:r>
              <a:rPr lang="en-US" sz="1050" i="1" dirty="0">
                <a:solidFill>
                  <a:srgbClr val="8A6D1E"/>
                </a:solidFill>
                <a:latin typeface="Calibri" pitchFamily="34" charset="0"/>
                <a:ea typeface="Calibri" pitchFamily="34" charset="-122"/>
                <a:cs typeface="Calibri" pitchFamily="34" charset="-120"/>
              </a:rPr>
              <a:t> is the third-person masculine form.</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ea typeface="Cambria" pitchFamily="34" charset="-122"/>
                <a:cs typeface="Cambria" pitchFamily="34" charset="-120"/>
              </a:rPr>
              <a:t>Watch me turn a profile card into sentences</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He or she?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أَحْمَدُ · ١٣ · مِصْرُ · لَنْدَنُ</a:t>
            </a:r>
            <a:endParaRPr lang="ar-SA" sz="22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Ahmed is a boy: he, his (-hu), he-verbs (ya-).</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Identity</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اِسْمُ</a:t>
            </a:r>
            <a:pPr rtl="1" algn="ctr" indent="0" marL="0">
              <a:lnSpc>
                <a:spcPct val="120000"/>
              </a:lnSpc>
              <a:buNone/>
            </a:pPr>
            <a:r>
              <a:rPr lang="ar-SA" altLang="en-US" sz="1750" b="1" dirty="0">
                <a:solidFill>
                  <a:srgbClr val="1D5FBF"/>
                </a:solidFill>
                <a:latin typeface="Amiri" pitchFamily="34" charset="0"/>
                <a:ea typeface="Amiri" pitchFamily="34" charset="-122"/>
                <a:cs typeface="Amiri" pitchFamily="34" charset="-120"/>
              </a:rPr>
              <a:t>هُ</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 أَحْمَدُ، وَعُمْرُ</a:t>
            </a:r>
            <a:pPr rtl="1" algn="ctr" indent="0" marL="0">
              <a:lnSpc>
                <a:spcPct val="120000"/>
              </a:lnSpc>
              <a:buNone/>
            </a:pPr>
            <a:r>
              <a:rPr lang="ar-SA" altLang="en-US" sz="1750" b="1" dirty="0">
                <a:solidFill>
                  <a:srgbClr val="1D5FBF"/>
                </a:solidFill>
                <a:latin typeface="Amiri" pitchFamily="34" charset="0"/>
                <a:ea typeface="Amiri" pitchFamily="34" charset="-122"/>
                <a:cs typeface="Amiri" pitchFamily="34" charset="-120"/>
              </a:rPr>
              <a:t>هُ</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 ثَلَاثَ عَشْرَةَ سَنَةً.</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His name, his age.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Place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هُوَ</a:t>
            </a:r>
            <a:pPr rtl="1" algn="ctr" indent="0" marL="0">
              <a:buNone/>
            </a:pPr>
            <a:r>
              <a:rPr lang="ar-SA" altLang="en-US" sz="2100" b="1" dirty="0">
                <a:solidFill>
                  <a:srgbClr val="1B3B6F"/>
                </a:solidFill>
                <a:latin typeface="Amiri" pitchFamily="34" charset="0"/>
                <a:ea typeface="Amiri" pitchFamily="34" charset="-122"/>
                <a:cs typeface="Amiri" pitchFamily="34" charset="-120"/>
              </a:rPr>
              <a:t> مِصْرِيٌّ، وَ</a:t>
            </a:r>
            <a:pPr rtl="1" algn="ctr" indent="0" marL="0">
              <a:buNone/>
            </a:pPr>
            <a:r>
              <a:rPr lang="ar-SA" altLang="en-US" sz="2100" b="1" dirty="0">
                <a:solidFill>
                  <a:srgbClr val="1D5FBF"/>
                </a:solidFill>
                <a:latin typeface="Amiri" pitchFamily="34" charset="0"/>
                <a:ea typeface="Amiri" pitchFamily="34" charset="-122"/>
                <a:cs typeface="Amiri" pitchFamily="34" charset="-120"/>
              </a:rPr>
              <a:t>يَ</a:t>
            </a:r>
            <a:pPr rtl="1" algn="ctr" indent="0" marL="0">
              <a:buNone/>
            </a:pPr>
            <a:r>
              <a:rPr lang="ar-SA" altLang="en-US" sz="2100" b="1" dirty="0">
                <a:solidFill>
                  <a:srgbClr val="1B3B6F"/>
                </a:solidFill>
                <a:latin typeface="Amiri" pitchFamily="34" charset="0"/>
                <a:ea typeface="Amiri" pitchFamily="34" charset="-122"/>
                <a:cs typeface="Amiri" pitchFamily="34" charset="-120"/>
              </a:rPr>
              <a:t>عِيشُ فِي لَنْدَنَ.</a:t>
            </a:r>
            <a:endParaRPr lang="ar-SA" sz="21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He is … and he lives in …</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School + interest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34" charset="0"/>
                <a:ea typeface="Amiri" pitchFamily="34" charset="-122"/>
                <a:cs typeface="Amiri" pitchFamily="34" charset="-120"/>
              </a:rPr>
              <a:t>يَ</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دْرُسُ فِي مَدْرَسَةِ الرَّشِيدِ. </a:t>
            </a:r>
            <a:pPr rtl="1" algn="ctr" indent="0" marL="0">
              <a:lnSpc>
                <a:spcPct val="120000"/>
              </a:lnSpc>
              <a:buNone/>
            </a:pPr>
            <a:r>
              <a:rPr lang="ar-SA" altLang="en-US" sz="1750" b="1" dirty="0">
                <a:solidFill>
                  <a:srgbClr val="1D5FBF"/>
                </a:solidFill>
                <a:latin typeface="Amiri" pitchFamily="34" charset="0"/>
                <a:ea typeface="Amiri" pitchFamily="34" charset="-122"/>
                <a:cs typeface="Amiri" pitchFamily="34" charset="-120"/>
              </a:rPr>
              <a:t>يُ</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حِبُّ القِرَاءَةَ.</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Every verb starts with </a:t>
            </a:r>
            <a:pPr algn="l" indent="0" marL="0">
              <a:buNone/>
            </a:pPr>
            <a:r>
              <a:rPr lang="ar-SA" altLang="en-US" sz="1500" dirty="0">
                <a:solidFill>
                  <a:srgbClr val="1F2A37"/>
                </a:solidFill>
                <a:latin typeface="Amiri" pitchFamily="34" charset="0"/>
                <a:ea typeface="Amiri" pitchFamily="34" charset="-122"/>
                <a:cs typeface="Amiri" pitchFamily="34" charset="-120"/>
              </a:rPr>
              <a:t>يـ</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HE SIGNALS</a:t>
            </a:r>
            <a:endParaRPr lang="en-US" sz="800" dirty="0"/>
          </a:p>
        </p:txBody>
      </p:sp>
      <p:sp>
        <p:nvSpPr>
          <p:cNvPr id="47" name="Text 43"/>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100" b="1" dirty="0">
                <a:solidFill>
                  <a:srgbClr val="1B3B6F"/>
                </a:solidFill>
                <a:latin typeface="Amiri" pitchFamily="34" charset="0"/>
                <a:ea typeface="Amiri" pitchFamily="34" charset="-122"/>
                <a:cs typeface="Amiri" pitchFamily="34" charset="-120"/>
              </a:rPr>
              <a:t>اِسْمُ</a:t>
            </a:r>
            <a:pPr rtl="1" algn="r" indent="0" marL="0">
              <a:buNone/>
            </a:pPr>
            <a:r>
              <a:rPr lang="ar-SA" altLang="en-US" sz="2100" b="1" dirty="0">
                <a:solidFill>
                  <a:srgbClr val="1D5FBF"/>
                </a:solidFill>
                <a:latin typeface="Amiri" pitchFamily="34" charset="0"/>
                <a:ea typeface="Amiri" pitchFamily="34" charset="-122"/>
                <a:cs typeface="Amiri" pitchFamily="34" charset="-120"/>
              </a:rPr>
              <a:t>هُ</a:t>
            </a:r>
            <a:pPr rtl="1" algn="r" indent="0" marL="0">
              <a:buNone/>
            </a:pPr>
            <a:r>
              <a:rPr lang="ar-SA" altLang="en-US" sz="2100" b="1" dirty="0">
                <a:solidFill>
                  <a:srgbClr val="1B3B6F"/>
                </a:solidFill>
                <a:latin typeface="Amiri" pitchFamily="34" charset="0"/>
                <a:ea typeface="Amiri" pitchFamily="34" charset="-122"/>
                <a:cs typeface="Amiri" pitchFamily="34" charset="-120"/>
              </a:rPr>
              <a:t> أَحْمَدُ، وَعُمْرُ</a:t>
            </a:r>
            <a:pPr rtl="1" algn="r" indent="0" marL="0">
              <a:buNone/>
            </a:pPr>
            <a:r>
              <a:rPr lang="ar-SA" altLang="en-US" sz="2100" b="1" dirty="0">
                <a:solidFill>
                  <a:srgbClr val="1D5FBF"/>
                </a:solidFill>
                <a:latin typeface="Amiri" pitchFamily="34" charset="0"/>
                <a:ea typeface="Amiri" pitchFamily="34" charset="-122"/>
                <a:cs typeface="Amiri" pitchFamily="34" charset="-120"/>
              </a:rPr>
              <a:t>هُ</a:t>
            </a:r>
            <a:pPr rtl="1" algn="r" indent="0" marL="0">
              <a:buNone/>
            </a:pPr>
            <a:r>
              <a:rPr lang="ar-SA" altLang="en-US" sz="2100" b="1" dirty="0">
                <a:solidFill>
                  <a:srgbClr val="1B3B6F"/>
                </a:solidFill>
                <a:latin typeface="Amiri" pitchFamily="34" charset="0"/>
                <a:ea typeface="Amiri" pitchFamily="34" charset="-122"/>
                <a:cs typeface="Amiri" pitchFamily="34" charset="-120"/>
              </a:rPr>
              <a:t> ثَلَاثَ عَشْرَةَ سَنَةً. </a:t>
            </a:r>
            <a:pPr rtl="1" algn="r" indent="0" marL="0">
              <a:buNone/>
            </a:pPr>
            <a:r>
              <a:rPr lang="ar-SA" altLang="en-US" sz="2100" b="1" dirty="0">
                <a:solidFill>
                  <a:srgbClr val="1D5FBF"/>
                </a:solidFill>
                <a:latin typeface="Amiri" pitchFamily="34" charset="0"/>
                <a:ea typeface="Amiri" pitchFamily="34" charset="-122"/>
                <a:cs typeface="Amiri" pitchFamily="34" charset="-120"/>
              </a:rPr>
              <a:t>هُوَ</a:t>
            </a:r>
            <a:pPr rtl="1" algn="r" indent="0" marL="0">
              <a:buNone/>
            </a:pPr>
            <a:r>
              <a:rPr lang="ar-SA" altLang="en-US" sz="2100" b="1" dirty="0">
                <a:solidFill>
                  <a:srgbClr val="1B3B6F"/>
                </a:solidFill>
                <a:latin typeface="Amiri" pitchFamily="34" charset="0"/>
                <a:ea typeface="Amiri" pitchFamily="34" charset="-122"/>
                <a:cs typeface="Amiri" pitchFamily="34" charset="-120"/>
              </a:rPr>
              <a:t> مِصْرِيٌّ، وَ</a:t>
            </a:r>
            <a:pPr rtl="1" algn="r" indent="0" marL="0">
              <a:buNone/>
            </a:pPr>
            <a:r>
              <a:rPr lang="ar-SA" altLang="en-US" sz="2100" b="1" dirty="0">
                <a:solidFill>
                  <a:srgbClr val="1D5FBF"/>
                </a:solidFill>
                <a:latin typeface="Amiri" pitchFamily="34" charset="0"/>
                <a:ea typeface="Amiri" pitchFamily="34" charset="-122"/>
                <a:cs typeface="Amiri" pitchFamily="34" charset="-120"/>
              </a:rPr>
              <a:t>يَ</a:t>
            </a:r>
            <a:pPr rtl="1" algn="r" indent="0" marL="0">
              <a:buNone/>
            </a:pPr>
            <a:r>
              <a:rPr lang="ar-SA" altLang="en-US" sz="2100" b="1" dirty="0">
                <a:solidFill>
                  <a:srgbClr val="1B3B6F"/>
                </a:solidFill>
                <a:latin typeface="Amiri" pitchFamily="34" charset="0"/>
                <a:ea typeface="Amiri" pitchFamily="34" charset="-122"/>
                <a:cs typeface="Amiri" pitchFamily="34" charset="-120"/>
              </a:rPr>
              <a:t>عِيشُ فِي لَنْدَنَ. </a:t>
            </a:r>
            <a:pPr rtl="1" algn="r" indent="0" marL="0">
              <a:buNone/>
            </a:pPr>
            <a:r>
              <a:rPr lang="ar-SA" altLang="en-US" sz="2100" b="1" dirty="0">
                <a:solidFill>
                  <a:srgbClr val="1D5FBF"/>
                </a:solidFill>
                <a:latin typeface="Amiri" pitchFamily="34" charset="0"/>
                <a:ea typeface="Amiri" pitchFamily="34" charset="-122"/>
                <a:cs typeface="Amiri" pitchFamily="34" charset="-120"/>
              </a:rPr>
              <a:t>يَ</a:t>
            </a:r>
            <a:pPr rtl="1" algn="r" indent="0" marL="0">
              <a:buNone/>
            </a:pPr>
            <a:r>
              <a:rPr lang="ar-SA" altLang="en-US" sz="2100" b="1" dirty="0">
                <a:solidFill>
                  <a:srgbClr val="1B3B6F"/>
                </a:solidFill>
                <a:latin typeface="Amiri" pitchFamily="34" charset="0"/>
                <a:ea typeface="Amiri" pitchFamily="34" charset="-122"/>
                <a:cs typeface="Amiri" pitchFamily="34" charset="-120"/>
              </a:rPr>
              <a:t>دْرُسُ فِي مَدْرَسَةِ الرَّشِيدِ. </a:t>
            </a:r>
            <a:pPr rtl="1" algn="r" indent="0" marL="0">
              <a:buNone/>
            </a:pPr>
            <a:r>
              <a:rPr lang="ar-SA" altLang="en-US" sz="2100" b="1" dirty="0">
                <a:solidFill>
                  <a:srgbClr val="1D5FBF"/>
                </a:solidFill>
                <a:latin typeface="Amiri" pitchFamily="34" charset="0"/>
                <a:ea typeface="Amiri" pitchFamily="34" charset="-122"/>
                <a:cs typeface="Amiri" pitchFamily="34" charset="-120"/>
              </a:rPr>
              <a:t>يُ</a:t>
            </a:r>
            <a:pPr rtl="1" algn="r" indent="0" marL="0">
              <a:buNone/>
            </a:pPr>
            <a:r>
              <a:rPr lang="ar-SA" altLang="en-US" sz="2100" b="1" dirty="0">
                <a:solidFill>
                  <a:srgbClr val="1B3B6F"/>
                </a:solidFill>
                <a:latin typeface="Amiri" pitchFamily="34" charset="0"/>
                <a:ea typeface="Amiri" pitchFamily="34" charset="-122"/>
                <a:cs typeface="Amiri" pitchFamily="34" charset="-120"/>
              </a:rPr>
              <a:t>حِبُّ القِرَاءَةَ وَكُرَةَ القَدَمِ.</a:t>
            </a:r>
            <a:endParaRPr lang="ar-SA" sz="2100" dirty="0"/>
          </a:p>
        </p:txBody>
      </p:sp>
      <p:sp>
        <p:nvSpPr>
          <p:cNvPr id="48" name="Text 44"/>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ea typeface="Calibri" pitchFamily="34" charset="-122"/>
                <a:cs typeface="Calibri" pitchFamily="34" charset="-120"/>
              </a:rPr>
              <a:t>His name is Ahmed, and he is thirteen. He is Egyptian, and he lives in London. He studies at Al-Rashid School. He likes reading and football.</a:t>
            </a:r>
            <a:endParaRPr lang="en-US" sz="1300" dirty="0"/>
          </a:p>
        </p:txBody>
      </p:sp>
      <p:sp>
        <p:nvSpPr>
          <p:cNvPr id="49"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ea typeface="Calibri" pitchFamily="34" charset="-122"/>
                <a:cs typeface="Calibri" pitchFamily="34" charset="-120"/>
              </a:rPr>
              <a:t>WE DO · PICTURE MATCH · WEBSITE GAME “VISUAL GAME — READING AND WRITING PERSONAL PROFILES”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Match the profile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مَاسِحُ البِطَاقَةِ الشَّخْصِيَّةِ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Salma · 14</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boy · Britain · English</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girl · London</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أَسْكُنُ فِي لَنْدَنَ.</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اِسْمِي سَلْمَى وَعُمْرِي أَرْبَعَ عَشْرَةَ سَنَةً.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أَنَا بَرِيطَانِيٌّ وَأَتَكَلَّمُ الإِنْجِلِيزِيَّةَ.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مَاسِحُ البِطَاقَةِ الشَّخْصِيَّةِ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Salma · 14</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اِسْمِي سَلْمَى وَعُمْرِي أَرْبَعَ عَشْرَةَ سَنَةً.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My name is Salma and I am fourteen.</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boy · Britain · English</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أَنَا بَرِيطَانِيٌّ وَأَتَكَلَّمُ الإِنْجِلِيزِيَّةَ.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am British and I speak English.</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girl · London</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أَسْكُنُ فِي لَنْدَنَ.</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live in London.</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“PROFILE BUILDER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Build an accurate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بِنَاءِ البِطَاقَةِ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She lives in Manchester. Choose the verb prefix.</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يَعِيشُ فِي مَانْشِسْتَرَ.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تَعِيشُ فِي مَانْشِسْتَرَ.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أَعِيشُ فِي مَانْشِسْتَرَ.</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He likes football. Choose the masculine form.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يُحِبُّ كُرَةَ القَدَمِ.</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تُحِبُّ كُرَةَ القَدَمِ.</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أُحِبُّ كُرَةَ القَدَمِ.</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Her favourite hobby is drawing. Choose the correct possessive.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هِوَايَتُهُ المُفَضَّلَةُ الرَّسْمُ.</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هِوَايَتِي المُفَضَّلَةُ الرَّسْمُ.</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هِوَايَتُهَا المُفَضَّلَةُ الرَّسْمُ.</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He likes football, but his favourite hobby is reading. Add a contrast.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350" dirty="0">
                <a:solidFill>
                  <a:srgbClr val="1F2A37"/>
                </a:solidFill>
                <a:latin typeface="Amiri" pitchFamily="34" charset="0"/>
                <a:ea typeface="Amiri" pitchFamily="34" charset="-122"/>
                <a:cs typeface="Amiri" pitchFamily="34" charset="-120"/>
              </a:rPr>
              <a:t>يُحِبُّ كُرَةَ القَدَمِ، فِي هِوَايَتُهُ القِرَاءَةُ.</a:t>
            </a:r>
            <a:endParaRPr lang="ar-SA" sz="13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350" dirty="0">
                <a:solidFill>
                  <a:srgbClr val="1F2A37"/>
                </a:solidFill>
                <a:latin typeface="Amiri" pitchFamily="34" charset="0"/>
                <a:ea typeface="Amiri" pitchFamily="34" charset="-122"/>
                <a:cs typeface="Amiri" pitchFamily="34" charset="-120"/>
              </a:rPr>
              <a:t>يُحِبُّ كُرَةَ القَدَمِ، وَلَكِنْ هِوَايَتُهُ المُفَضَّلَةُ القِرَاءَةُ.</a:t>
            </a:r>
            <a:endParaRPr lang="ar-SA" sz="13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350" dirty="0">
                <a:solidFill>
                  <a:srgbClr val="1F2A37"/>
                </a:solidFill>
                <a:latin typeface="Amiri" pitchFamily="34" charset="0"/>
                <a:ea typeface="Amiri" pitchFamily="34" charset="-122"/>
                <a:cs typeface="Amiri" pitchFamily="34" charset="-120"/>
              </a:rPr>
              <a:t>يُحِبُّ وَلَكِنْ مِنْ القِرَاءَةِ.</a:t>
            </a:r>
            <a:endParaRPr lang="ar-SA" sz="13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female description. Repair the full sentence.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هِيَ طَالِبٌ سَعِيدٌ وَمُجْتَهِدٌ.</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هِيَ طَالِبَةٌ سَعِيدَةٌ وَمُجْتَهِدَةٌ.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هُوَ طَالِبَةٌ سَعِيدَةٌ.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He →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ـهُ</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and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يـ</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She →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ـهَا</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and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تـ</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but →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وَلَكِنْ</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BUILDER MISSION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She lives in Manchester. Choose the verb prefix.</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يَعِيشُ فِي مَانْشِسْتَرَ.</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تَعِيشُ فِي مَانْشِسْتَرَ.</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أَعِيشُ فِي مَانْشِسْتَرَ.</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female subject takes </a:t>
            </a:r>
            <a:pPr algn="l" indent="0" marL="0">
              <a:buNone/>
            </a:pPr>
            <a:r>
              <a:rPr lang="ar-SA" altLang="en-US" sz="1350" dirty="0">
                <a:solidFill>
                  <a:srgbClr val="8A6D1E"/>
                </a:solidFill>
                <a:latin typeface="Amiri" pitchFamily="34" charset="0"/>
                <a:ea typeface="Amiri" pitchFamily="34" charset="-122"/>
                <a:cs typeface="Amiri" pitchFamily="34" charset="-120"/>
              </a:rPr>
              <a:t>تَعِيشُ</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He likes football. Choose the masculine form.</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يُحِبُّ كُرَةَ القَدَمِ.</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تُحِبُّ كُرَةَ القَدَمِ.</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أُحِبُّ كُرَةَ القَدَمِ.</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male subject takes </a:t>
            </a:r>
            <a:pPr algn="l" indent="0" marL="0">
              <a:buNone/>
            </a:pPr>
            <a:r>
              <a:rPr lang="ar-SA" altLang="en-US" sz="1350" dirty="0">
                <a:solidFill>
                  <a:srgbClr val="8A6D1E"/>
                </a:solidFill>
                <a:latin typeface="Amiri" pitchFamily="34" charset="0"/>
                <a:ea typeface="Amiri" pitchFamily="34" charset="-122"/>
                <a:cs typeface="Amiri" pitchFamily="34" charset="-120"/>
              </a:rPr>
              <a:t>يُحِبُّ</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Her favourite hobby is drawing. Choose the correct possessive.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هِوَايَتُهُ المُفَضَّلَةُ الرَّسْمُ.</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هِوَايَتِي المُفَضَّلَةُ الرَّسْمُ.</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هِوَايَتُهَا المُفَضَّلَةُ الرَّسْمُ.</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Her hobby takes </a:t>
            </a:r>
            <a:pPr algn="l" indent="0" marL="0">
              <a:buNone/>
            </a:pPr>
            <a:r>
              <a:rPr lang="ar-SA" altLang="en-US" sz="1350" dirty="0">
                <a:solidFill>
                  <a:srgbClr val="8A6D1E"/>
                </a:solidFill>
                <a:latin typeface="Amiri" pitchFamily="34" charset="0"/>
                <a:ea typeface="Amiri" pitchFamily="34" charset="-122"/>
                <a:cs typeface="Amiri" pitchFamily="34" charset="-120"/>
              </a:rPr>
              <a:t>ـهَا</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He likes football, but his favourite hobby is reading. Add a contrast.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350" dirty="0">
                <a:solidFill>
                  <a:srgbClr val="9AA1AB"/>
                </a:solidFill>
                <a:latin typeface="Amiri" pitchFamily="34" charset="0"/>
                <a:ea typeface="Amiri" pitchFamily="34" charset="-122"/>
                <a:cs typeface="Amiri" pitchFamily="34" charset="-120"/>
              </a:rPr>
              <a:t>يُحِبُّ كُرَةَ القَدَمِ، فِي هِوَايَتُهُ القِرَاءَةُ.</a:t>
            </a:r>
            <a:endParaRPr lang="ar-SA" sz="13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34" charset="0"/>
                <a:ea typeface="Amiri" pitchFamily="34" charset="-122"/>
                <a:cs typeface="Amiri" pitchFamily="34" charset="-120"/>
              </a:rPr>
              <a:t>يُحِبُّ كُرَةَ القَدَمِ، وَلَكِنْ هِوَايَتُهُ المُفَضَّلَةُ القِرَاءَةُ.</a:t>
            </a:r>
            <a:endParaRPr lang="ar-SA" sz="13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350" dirty="0">
                <a:solidFill>
                  <a:srgbClr val="9AA1AB"/>
                </a:solidFill>
                <a:latin typeface="Amiri" pitchFamily="34" charset="0"/>
                <a:ea typeface="Amiri" pitchFamily="34" charset="-122"/>
                <a:cs typeface="Amiri" pitchFamily="34" charset="-120"/>
              </a:rPr>
              <a:t>يُحِبُّ وَلَكِنْ مِنْ القِرَاءَةِ.</a:t>
            </a:r>
            <a:endParaRPr lang="ar-SA" sz="13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وَلَكِنْ</a:t>
            </a:r>
            <a:pPr algn="l" indent="0" marL="0">
              <a:buNone/>
            </a:pPr>
            <a:r>
              <a:rPr lang="en-US" sz="1050" i="1" dirty="0">
                <a:solidFill>
                  <a:srgbClr val="8A6D1E"/>
                </a:solidFill>
                <a:latin typeface="Calibri" pitchFamily="34" charset="0"/>
                <a:ea typeface="Calibri" pitchFamily="34" charset="-122"/>
                <a:cs typeface="Calibri" pitchFamily="34" charset="-120"/>
              </a:rPr>
              <a:t> introduces the contrast clearly.</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female description. Repair the full sentence.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هِيَ طَالِبٌ سَعِيدٌ وَمُجْتَهِدٌ.</a:t>
            </a:r>
            <a:endParaRPr lang="ar-SA" sz="170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هِيَ طَالِبَةٌ سَعِيدَةٌ وَمُجْتَهِدَةٌ.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هُوَ طَالِبَةٌ سَعِيدَةٌ.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pronoun, noun and adjectives all match the female subject.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He →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ـهُ</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and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يـ</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She →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ـهَا</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and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تـ</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but →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وَلَكِنْ</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سَارَةُ: اِسْمُهُ سَارَةُ.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Sarah is a girl. Check the ending.</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هِيَ يَعِيشُ فِي لَنْدَنَ.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She → which first letter?</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يُحِبُّ كُرَةَ القَدَمِ، أَيْضًا هِوَايَتُهُ القِرَاءَةُ.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Is this “also” or “but”?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سَارَةُ: اِسْمُهُ سَارَةُ.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سَارَةُ: اِسْمُهَا سَارَةُ.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Sarah is female: her name → </a:t>
            </a:r>
            <a:pPr algn="l" indent="0" marL="0">
              <a:buNone/>
            </a:pPr>
            <a:r>
              <a:rPr lang="ar-SA" altLang="en-US" sz="1500" b="1" dirty="0">
                <a:solidFill>
                  <a:srgbClr val="1B3B6F"/>
                </a:solidFill>
                <a:latin typeface="Amiri" pitchFamily="34" charset="0"/>
                <a:ea typeface="Amiri" pitchFamily="34" charset="-122"/>
                <a:cs typeface="Amiri" pitchFamily="34" charset="-120"/>
              </a:rPr>
              <a:t>ـهَا</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هِيَ يَعِيشُ فِي لَنْدَنَ.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هِيَ تَعِيشُ فِي لَنْدَنَ.</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She → the verb starts with </a:t>
            </a:r>
            <a:pPr algn="l" indent="0" marL="0">
              <a:buNone/>
            </a:pPr>
            <a:r>
              <a:rPr lang="ar-SA" altLang="en-US" sz="1500" b="1" dirty="0">
                <a:solidFill>
                  <a:srgbClr val="1B3B6F"/>
                </a:solidFill>
                <a:latin typeface="Amiri" pitchFamily="34" charset="0"/>
                <a:ea typeface="Amiri" pitchFamily="34" charset="-122"/>
                <a:cs typeface="Amiri" pitchFamily="34" charset="-120"/>
              </a:rPr>
              <a:t>تـ</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34" charset="0"/>
                <a:ea typeface="Amiri" pitchFamily="34" charset="-122"/>
                <a:cs typeface="Amiri" pitchFamily="34" charset="-120"/>
              </a:rPr>
              <a:t>يُحِبُّ كُرَةَ القَدَمِ، أَيْضًا هِوَايَتُهُ القِرَاءَةُ.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34" charset="0"/>
                <a:ea typeface="Amiri" pitchFamily="34" charset="-122"/>
                <a:cs typeface="Amiri" pitchFamily="34" charset="-120"/>
              </a:rPr>
              <a:t>يُحِبُّ كُرَةَ القَدَمِ، وَلَكِنْ هِوَايَتُهُ المُفَضَّلَةُ القِرَاءَةُ.</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 contrast needs </a:t>
            </a:r>
            <a:pPr algn="l" indent="0" marL="0">
              <a:buNone/>
            </a:pPr>
            <a:r>
              <a:rPr lang="ar-SA" altLang="en-US" sz="1500" b="1" dirty="0">
                <a:solidFill>
                  <a:srgbClr val="1B3B6F"/>
                </a:solidFill>
                <a:latin typeface="Amiri" pitchFamily="34" charset="0"/>
                <a:ea typeface="Amiri" pitchFamily="34" charset="-122"/>
                <a:cs typeface="Amiri" pitchFamily="34" charset="-120"/>
              </a:rPr>
              <a:t>وَلَكِنْ</a:t>
            </a:r>
            <a:pPr algn="l" indent="0" marL="0">
              <a:buNone/>
            </a:pPr>
            <a:r>
              <a:rPr lang="en-US" sz="1150" b="1" dirty="0">
                <a:solidFill>
                  <a:srgbClr val="1B3B6F"/>
                </a:solidFill>
                <a:latin typeface="Calibri" pitchFamily="34" charset="0"/>
                <a:ea typeface="Calibri" pitchFamily="34" charset="-122"/>
                <a:cs typeface="Calibri" pitchFamily="34" charset="-120"/>
              </a:rPr>
              <a:t> (but).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Noor’s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old is Noor?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14</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13</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12</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she live?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London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Manchester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Birmingham</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her school called?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Al-Rashid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Al-Noor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Al-Amal</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two hobbies does she like?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Swimming and reading</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Drawing and football</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Writing and cooking</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her favourite hobby?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Reading</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Swimming</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Writing</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Six-box grid: age · city · school · languages · hobbies · favourite.</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اِسْمُهَا نُورٌ، وَعُمْرُهَا أَرْبَعَ عَشْرَةَ سَنَةً.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Her name is Noor, and she is fourteen.</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هِيَ سُورِيَّةٌ، وَتَعِيشُ فِي بِرْمِنْغَامَ. تَدْرُسُ فِي مَدْرَسَةِ الأَمَلِ.</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She is Syrian, and she lives in Birmingham. She studies at Al-Amal School.</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تَتَكَلَّمُ العَرَبِيَّةَ وَالإِنْجِلِيزِيَّةَ. تُحِبُّ السِّبَاحَةَ وَالقِرَاءَةَ،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She speaks Arabic and English. She likes swimming and reading,</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وَلَكِنْ هِوَايَتُهَا المُفَضَّلَةُ هِيَ السِّبَاحَةُ.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but her favourite hobby is swimming.</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تَقْرَأُ كِتَابًا كُلَّ شَهْرٍ، وَتَكْتُبُ رَسَائِلَ إِلَى صَدِيقَاتِهَا.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She reads a book every month, and writes letters to her friends.</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old is Noor?</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14</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13</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12</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أَرْبَعَ عَشْرَةَ</a:t>
            </a:r>
            <a:pPr algn="l" indent="0" marL="0">
              <a:buNone/>
            </a:pPr>
            <a:r>
              <a:rPr lang="en-US" sz="1050" i="1" dirty="0">
                <a:solidFill>
                  <a:srgbClr val="8A6D1E"/>
                </a:solidFill>
                <a:latin typeface="Calibri" pitchFamily="34" charset="0"/>
                <a:ea typeface="Calibri" pitchFamily="34" charset="-122"/>
                <a:cs typeface="Calibri" pitchFamily="34" charset="-120"/>
              </a:rPr>
              <a:t> means fourteen.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she live?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London</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Manchester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Birmingham</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lives in </a:t>
            </a:r>
            <a:pPr algn="l" indent="0" marL="0">
              <a:buNone/>
            </a:pPr>
            <a:r>
              <a:rPr lang="ar-SA" altLang="en-US" sz="1350" dirty="0">
                <a:solidFill>
                  <a:srgbClr val="8A6D1E"/>
                </a:solidFill>
                <a:latin typeface="Amiri" pitchFamily="34" charset="0"/>
                <a:ea typeface="Amiri" pitchFamily="34" charset="-122"/>
                <a:cs typeface="Amiri" pitchFamily="34" charset="-120"/>
              </a:rPr>
              <a:t>بِرْمِنْغَامَ</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her school called?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Al-Rashid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Al-Noor</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Al-Amal</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studies at </a:t>
            </a:r>
            <a:pPr algn="l" indent="0" marL="0">
              <a:buNone/>
            </a:pPr>
            <a:r>
              <a:rPr lang="ar-SA" altLang="en-US" sz="1350" dirty="0">
                <a:solidFill>
                  <a:srgbClr val="8A6D1E"/>
                </a:solidFill>
                <a:latin typeface="Amiri" pitchFamily="34" charset="0"/>
                <a:ea typeface="Amiri" pitchFamily="34" charset="-122"/>
                <a:cs typeface="Amiri" pitchFamily="34" charset="-120"/>
              </a:rPr>
              <a:t>مَدْرَسَةِ الأَمَلِ</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two hobbies does she like?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Swimming and reading</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Drawing and football</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Writing and cooking</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likes </a:t>
            </a:r>
            <a:pPr algn="l" indent="0" marL="0">
              <a:buNone/>
            </a:pPr>
            <a:r>
              <a:rPr lang="ar-SA" altLang="en-US" sz="1350" dirty="0">
                <a:solidFill>
                  <a:srgbClr val="8A6D1E"/>
                </a:solidFill>
                <a:latin typeface="Amiri" pitchFamily="34" charset="0"/>
                <a:ea typeface="Amiri" pitchFamily="34" charset="-122"/>
                <a:cs typeface="Amiri" pitchFamily="34" charset="-120"/>
              </a:rPr>
              <a:t>السِّبَاحَةَ وَالقِرَاءَةَ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her favourite hobby?</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Reading</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Swimming</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Writing</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Her favourite hobby is </a:t>
            </a:r>
            <a:pPr algn="l" indent="0" marL="0">
              <a:buNone/>
            </a:pPr>
            <a:r>
              <a:rPr lang="ar-SA" altLang="en-US" sz="1350" dirty="0">
                <a:solidFill>
                  <a:srgbClr val="8A6D1E"/>
                </a:solidFill>
                <a:latin typeface="Amiri" pitchFamily="34" charset="0"/>
                <a:ea typeface="Amiri" pitchFamily="34" charset="-122"/>
                <a:cs typeface="Amiri" pitchFamily="34" charset="-120"/>
              </a:rPr>
              <a:t>السِّبَاحَةُ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Six-box grid: age · city · school · languages · hobbies · favourite.</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READING · PROFILE A · FULLY VOWELLED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Ahmed’s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البِطَاقَةُ (أ)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اِسْمُهُ أَحْمَدُ، وَعُمْرُهُ ثَلَاثَ عَشْرَةَ سَنَةً. هُوَ مِصْرِيٌّ، وَيَعِيشُ فِي لَنْدَنَ مَعَ أُسْرَتِهِ.</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Identity + place: 13 · Egyptian · London, with his family</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يَدْرُسُ فِي مَدْرَسَةِ الرَّشِيدِ، وَيَتَكَلَّمُ العَرَبِيَّةَ وَالإِنْجِلِيزِيَّةَ.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School + languages: Al-Rashid School · Arabic and English</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يُحِبُّ القِرَاءَةَ وَكُرَةَ القَدَمِ، وَلَكِنْ هِوَايَتُهُ المُفَضَّلَةُ هِيَ القِرَاءَةُ.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Interests: reading and football — favourite: reading</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34" charset="0"/>
                <a:ea typeface="Amiri" pitchFamily="34" charset="-122"/>
                <a:cs typeface="Amiri" pitchFamily="34" charset="-120"/>
              </a:rPr>
              <a:t>فِي وَقْتِ الفَرَاغِ يَقْرَأُ مَعَ أَخِيهِ، وَيَكْتُبُ قِصَصًا قَصِيرَةً عَنِ المَدْرَسَةِ وَالأَصْدِقَاءِ.</a:t>
            </a:r>
            <a:endParaRPr lang="ar-SA" sz="19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Free time: reads with his brother · writes short stories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يُحِبُّ مَدْرَسَتَهُ أَيْضًا، وَمَادَّتُهُ المُفَضَّلَةُ هِيَ اللُّغَةُ العَرَبِيَّةُ. هُوَ طَالِبٌ ذَكِيٌّ وَلَطِيفٌ.</a:t>
            </a:r>
            <a:endParaRPr lang="ar-SA" sz="19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Favourite subject: Arabic · a clever, kind student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READING · PROFILE B · UNVOWELLED CHALLENGE (WEBSITE)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Sarah’s profile — no vowels!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البِطَاقَةُ (ب)</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7" name="Shape 14"/>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8" name="Text 15"/>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1B3B6F"/>
                </a:solidFill>
                <a:latin typeface="Amiri" pitchFamily="34" charset="0"/>
                <a:ea typeface="Amiri" pitchFamily="34" charset="-122"/>
                <a:cs typeface="Amiri" pitchFamily="34" charset="-120"/>
              </a:rPr>
              <a:t>اسمها سارة وعمرها اثنتا عشرة سنة. هي بريطانية وتعيش في مانشستر مع أسرتها.</a:t>
            </a:r>
            <a:endParaRPr lang="ar-SA" sz="1800" dirty="0"/>
          </a:p>
        </p:txBody>
      </p:sp>
      <p:sp>
        <p:nvSpPr>
          <p:cNvPr id="19" name="Text 16"/>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Identity + place</a:t>
            </a:r>
            <a:endParaRPr lang="en-US" sz="1250" dirty="0"/>
          </a:p>
        </p:txBody>
      </p:sp>
      <p:sp>
        <p:nvSpPr>
          <p:cNvPr id="20" name="Shape 17"/>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21" name="Text 18"/>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تدرس في مدرسة النور، وتتكلم الإنجليزية وتفهم العربية أيضا.</a:t>
            </a:r>
            <a:endParaRPr lang="ar-SA" sz="2000" dirty="0"/>
          </a:p>
        </p:txBody>
      </p:sp>
      <p:sp>
        <p:nvSpPr>
          <p:cNvPr id="22" name="Text 19"/>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School + languages</a:t>
            </a:r>
            <a:endParaRPr lang="en-US" sz="1250" dirty="0"/>
          </a:p>
        </p:txBody>
      </p:sp>
      <p:sp>
        <p:nvSpPr>
          <p:cNvPr id="23" name="Shape 20"/>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4" name="Text 21"/>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تحب الرسم والسباحة، وهوايتها المفضلة هي الرسم.</a:t>
            </a:r>
            <a:endParaRPr lang="ar-SA" sz="2000" dirty="0"/>
          </a:p>
        </p:txBody>
      </p:sp>
      <p:sp>
        <p:nvSpPr>
          <p:cNvPr id="25" name="Text 22"/>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Interests + favourite</a:t>
            </a:r>
            <a:endParaRPr lang="en-US" sz="1250" dirty="0"/>
          </a:p>
        </p:txBody>
      </p:sp>
      <p:sp>
        <p:nvSpPr>
          <p:cNvPr id="26" name="Shape 23"/>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7" name="Text 24"/>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34" charset="0"/>
                <a:ea typeface="Amiri" pitchFamily="34" charset="-122"/>
                <a:cs typeface="Amiri" pitchFamily="34" charset="-120"/>
              </a:rPr>
              <a:t>في وقت الفراغ تقرأ القصص القصيرة مع أختها، وتكتب يومياتها ورسائل قصيرة إلى صديقاتها.</a:t>
            </a:r>
            <a:endParaRPr lang="ar-SA" sz="1550" dirty="0"/>
          </a:p>
        </p:txBody>
      </p:sp>
      <p:sp>
        <p:nvSpPr>
          <p:cNvPr id="28" name="Text 25"/>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Free time</a:t>
            </a:r>
            <a:endParaRPr lang="en-US" sz="1250" dirty="0"/>
          </a:p>
        </p:txBody>
      </p:sp>
      <p:sp>
        <p:nvSpPr>
          <p:cNvPr id="29" name="Shape 26"/>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30" name="Text 27"/>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تحب مدرستها أيضا، ومادتها المفضلة هي العلوم. هي طالبة سعيدة ومجتهدة.</a:t>
            </a:r>
            <a:endParaRPr lang="ar-SA" sz="1900" dirty="0"/>
          </a:p>
        </p:txBody>
      </p:sp>
      <p:sp>
        <p:nvSpPr>
          <p:cNvPr id="31" name="Text 28"/>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Subject + description</a:t>
            </a:r>
            <a:endParaRPr lang="en-US" sz="12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READING QUESTIONS · USE EVIDENCE FROM BOTH TEXTS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Ahmed or Sarah?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Ahmed live?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Manchester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London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Cairo</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school does Ahmed attend?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Al-Noor School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Al-Amal School</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Al-Rashid School</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Ahmed’s favourite hobby?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Reading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Football</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Writing</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Sarah live?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London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Manchester</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Birmingham</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Sarah’s favourite hobby?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Drawing</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Swimming</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Reading</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SCAN BY CATEGORY</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Question → category → scan → prove.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Do not guess from general knowledge (website).</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Ahmed live?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Manchester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London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Cairo</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He lives in </a:t>
            </a:r>
            <a:pPr algn="l" indent="0" marL="0">
              <a:buNone/>
            </a:pPr>
            <a:r>
              <a:rPr lang="ar-SA" altLang="en-US" sz="1350" dirty="0">
                <a:solidFill>
                  <a:srgbClr val="8A6D1E"/>
                </a:solidFill>
                <a:latin typeface="Amiri" pitchFamily="34" charset="0"/>
                <a:ea typeface="Amiri" pitchFamily="34" charset="-122"/>
                <a:cs typeface="Amiri" pitchFamily="34" charset="-120"/>
              </a:rPr>
              <a:t>لَنْدَنَ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school does Ahmed attend?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Al-Noor School</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Al-Amal School</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Al-Rashid School</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text says </a:t>
            </a:r>
            <a:pPr algn="l" indent="0" marL="0">
              <a:buNone/>
            </a:pPr>
            <a:r>
              <a:rPr lang="ar-SA" altLang="en-US" sz="1350" dirty="0">
                <a:solidFill>
                  <a:srgbClr val="8A6D1E"/>
                </a:solidFill>
                <a:latin typeface="Amiri" pitchFamily="34" charset="0"/>
                <a:ea typeface="Amiri" pitchFamily="34" charset="-122"/>
                <a:cs typeface="Amiri" pitchFamily="34" charset="-120"/>
              </a:rPr>
              <a:t>مَدْرَسَةِ الرَّشِيدِ</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Ahmed’s favourite hobby?</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Reading</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Football</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Writing</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text states that reading is his favourite hobby.</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Sarah live?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London</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Manchester</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Birmingham</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lives in </a:t>
            </a:r>
            <a:pPr algn="l" indent="0" marL="0">
              <a:buNone/>
            </a:pPr>
            <a:r>
              <a:rPr lang="ar-SA" altLang="en-US" sz="1350" dirty="0">
                <a:solidFill>
                  <a:srgbClr val="8A6D1E"/>
                </a:solidFill>
                <a:latin typeface="Amiri" pitchFamily="34" charset="0"/>
                <a:ea typeface="Amiri" pitchFamily="34" charset="-122"/>
                <a:cs typeface="Amiri" pitchFamily="34" charset="-120"/>
              </a:rPr>
              <a:t>مانشستر</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Sarah’s favourite hobby?</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Drawing</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Swimming</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Reading</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Her favourite hobby is </a:t>
            </a:r>
            <a:pPr algn="l" indent="0" marL="0">
              <a:buNone/>
            </a:pPr>
            <a:r>
              <a:rPr lang="ar-SA" altLang="en-US" sz="1350" dirty="0">
                <a:solidFill>
                  <a:srgbClr val="8A6D1E"/>
                </a:solidFill>
                <a:latin typeface="Amiri" pitchFamily="34" charset="0"/>
                <a:ea typeface="Amiri" pitchFamily="34" charset="-122"/>
                <a:cs typeface="Amiri" pitchFamily="34" charset="-120"/>
              </a:rPr>
              <a:t>الرسم</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SCAN BY CATEGORY</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Question → category → scan → prove.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Do not guess from general knowledge (website).</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Who is this person?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مَنْ هَذَا؟ مَا اسْمُهُ؟ كَمْ عُمْرُهُ؟</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مَنْ هَذِهِ؟ أَيْنَ تَعِيشُ؟ مَاذَا تُحِبُّ؟</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قَدِّمْ بِطَاقَةً شَخْصِيَّةً بِضَمِيرِ هُوَ أَوْ هِيَ.</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قَدِّمْ زَمِيلَكَ أَوْ زَمِيلَتَكَ فِي سِتِّ جُمَلٍ.</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lnSpc>
                <a:spcPct val="120000"/>
              </a:lnSpc>
              <a:buNone/>
            </a:pPr>
            <a:r>
              <a:rPr lang="ar-SA" altLang="en-US" sz="1250" b="1" dirty="0">
                <a:solidFill>
                  <a:srgbClr val="1D5FBF"/>
                </a:solidFill>
                <a:latin typeface="Amiri" pitchFamily="34" charset="0"/>
                <a:ea typeface="Amiri" pitchFamily="34" charset="-122"/>
                <a:cs typeface="Amiri" pitchFamily="34" charset="-120"/>
              </a:rPr>
              <a:t>اِسْمُهُ / اِسْمُهَا ___ ، وَعُمْرُهُ / وَعُمْرُهَا ___ سَنَةً.</a:t>
            </a:r>
            <a:endParaRPr lang="ar-SA" sz="125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F2A37"/>
                </a:solidFill>
                <a:latin typeface="Amiri" pitchFamily="34" charset="0"/>
                <a:ea typeface="Amiri" pitchFamily="34" charset="-122"/>
                <a:cs typeface="Amiri" pitchFamily="34" charset="-120"/>
              </a:rPr>
              <a:t>هُوَ يَعِيشُ / هِيَ تَعِيشُ فِي ___ ، وَيُحِبُّ / وَتُحِبُّ ___ .</a:t>
            </a:r>
            <a:endParaRPr lang="ar-SA" sz="12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34" charset="0"/>
                <a:ea typeface="Amiri" pitchFamily="34" charset="-122"/>
                <a:cs typeface="Amiri" pitchFamily="34" charset="-120"/>
              </a:rPr>
              <a:t>… وَلَكِنْ هِوَايَتُهُ / هِوَايَتُهَا المُفَضَّلَةُ ___ .</a:t>
            </a:r>
            <a:endParaRPr lang="ar-SA" sz="14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هَذَا / هَذِهِ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ea typeface="Calibri" pitchFamily="34" charset="-122"/>
                <a:cs typeface="Calibri" pitchFamily="34" charset="-120"/>
              </a:rPr>
              <a:t>هُوَ</a:t>
            </a:r>
            <a:endParaRPr lang="ar-SA"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اِسْمُهُ أَحْمَدُ، وَعُمْرُهُ ثَلَاثَ عَشْرَةَ سَنَةً. هُوَ مِصْرِيٌّ، وَيَعِيشُ فِي لَنْدَنَ.</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His name is Ahmed, and he is 13. He is Egyptian, and he lives in London.</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ea typeface="Calibri" pitchFamily="34" charset="-122"/>
                <a:cs typeface="Calibri" pitchFamily="34" charset="-120"/>
              </a:rPr>
              <a:t>هِيَ</a:t>
            </a:r>
            <a:endParaRPr lang="ar-SA"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اِسْمُهَا سَارَةُ، وَعُمْرُهَا اِثْنَتَا عَشْرَةَ سَنَةً. هِيَ بَرِيطَانِيَّةٌ، وَتَعِيشُ فِي مَانْشِسْتَرَ.</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00" i="1" dirty="0">
                <a:solidFill>
                  <a:srgbClr val="5A6472"/>
                </a:solidFill>
                <a:latin typeface="Calibri" pitchFamily="34" charset="0"/>
                <a:ea typeface="Calibri" pitchFamily="34" charset="-122"/>
                <a:cs typeface="Calibri" pitchFamily="34" charset="-120"/>
              </a:rPr>
              <a:t>Her name is Sarah, and she is 12. She is British, and she lives in Manchester.</a:t>
            </a:r>
            <a:endParaRPr lang="en-US" sz="90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At least six accurate sentences: name, age, country, city, school or language, one hobby.</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Planner + model visible: name, age, country, city, school or language, one hobby.</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60–80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60–80 words with two hobbies, a favourite detail and at least three connectors.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Two hobbies, a favourite (وَلَكِنْ …) and three connectors.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80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An unvowelled or selectively vowelled third-person profile with a school subject and free-time detail.</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Unvowelled or selectively vowelled; add a school subject and free time; self-edit.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يَدْرُسُ فِي مَدْرَسَةِ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He studies at … School.</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تَتَكَلَّمُ ______ وَتَفْهَمُ ______ أَيْضًا.</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She speaks … and understands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وَلَكِنْ هِوَايَتُهُ المُفَضَّلَةُ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but his favourite hobby is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وَقْتِ الفَرَاغِ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her free time she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هُوَ طَالِبٌ ______ وَ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He is a … and … student.</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اِسْمُهُ / اِسْمُهَا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His / Her name is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وَعُمْرُهُ / وَعُمْرُهَا ______ سَنَةً.</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and he / she is … years old.</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هُوَ / هِيَ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He / She is … (nationality: -iyy / -iyya)</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يَعِيشُ / تَعِيشُ فِي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He / She lives in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يُحِبُّ / تُحِبُّ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He / She likes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اِسْمُهُ  ·  اِسْمُهَا  ·  عُمْرُهُ  ·  عُمْرُهَا  ·  يَعِيشُ  ·  تَعِيشُ  ·  يَدْرُسُ  ·  تَدْرُسُ  ·  يُحِبُّ  ·  تُحِبُّ  ·  وَلَكِنْ  ·  مَعَ  ·  القِرَاءَةَ  ·  السِّبَاحَةَ  ·  الرَّسْمَ</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اِسْمُهُ أَحْمَدُ، وَعُمْرُهُ ثَلَاثَ عَشْرَةَ سَنَةً. هُوَ مِصْرِيٌّ، وَيَعِيشُ فِي لَنْدَنَ مَعَ أُسْرَتِهِ. يَدْرُسُ فِي مَدْرَسَةِ الرَّشِيدِ، وَيَتَكَلَّمُ العَرَبِيَّةَ وَالإِنْجِلِيزِيَّةَ. يُحِبُّ القِرَاءَةَ وَكُرَةَ القَدَمِ، وَلَكِنْ هِوَايَتُهُ المُفَضَّلَةُ هِيَ القِرَاءَةُ. هُوَ طَالِبٌ ذَكِيٌّ وَلَطِيفٌ.</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His name is Ahmed, and he is thirteen. He is Egyptian, and he lives in London with his family. He studies at Al-Rashid School, and he speaks Arabic and English. He likes reading and football, but his favourite hobby is reading. He is a clever and kind student.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ـهُ his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يـ verbs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وَلَكِنْ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final description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used </a:t>
            </a:r>
            <a:pPr algn="l" indent="0" marL="0">
              <a:buNone/>
            </a:pPr>
            <a:r>
              <a:rPr lang="ar-SA" altLang="en-US" sz="1700" dirty="0">
                <a:solidFill>
                  <a:srgbClr val="1F2A37"/>
                </a:solidFill>
                <a:latin typeface="Amiri" pitchFamily="34" charset="0"/>
                <a:ea typeface="Amiri" pitchFamily="34" charset="-122"/>
                <a:cs typeface="Amiri" pitchFamily="34" charset="-120"/>
              </a:rPr>
              <a:t>هُوَ</a:t>
            </a:r>
            <a:pPr algn="l" indent="0" marL="0">
              <a:buNone/>
            </a:pPr>
            <a:r>
              <a:rPr lang="en-US" sz="1300" dirty="0">
                <a:solidFill>
                  <a:srgbClr val="1F2A37"/>
                </a:solidFill>
                <a:latin typeface="Calibri" pitchFamily="34" charset="0"/>
                <a:ea typeface="Calibri" pitchFamily="34" charset="-122"/>
                <a:cs typeface="Calibri" pitchFamily="34" charset="-120"/>
              </a:rPr>
              <a:t> or </a:t>
            </a:r>
            <a:pPr algn="l" indent="0" marL="0">
              <a:buNone/>
            </a:pPr>
            <a:r>
              <a:rPr lang="ar-SA" altLang="en-US" sz="1700" dirty="0">
                <a:solidFill>
                  <a:srgbClr val="1F2A37"/>
                </a:solidFill>
                <a:latin typeface="Amiri" pitchFamily="34" charset="0"/>
                <a:ea typeface="Amiri" pitchFamily="34" charset="-122"/>
                <a:cs typeface="Amiri" pitchFamily="34" charset="-120"/>
              </a:rPr>
              <a:t>هِيَ</a:t>
            </a:r>
            <a:pPr algn="l" indent="0" marL="0">
              <a:buNone/>
            </a:pPr>
            <a:r>
              <a:rPr lang="en-US" sz="1300" dirty="0">
                <a:solidFill>
                  <a:srgbClr val="1F2A37"/>
                </a:solidFill>
                <a:latin typeface="Calibri" pitchFamily="34" charset="0"/>
                <a:ea typeface="Calibri" pitchFamily="34" charset="-122"/>
                <a:cs typeface="Calibri" pitchFamily="34" charset="-120"/>
              </a:rPr>
              <a:t> accurately.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His / her details end in </a:t>
            </a:r>
            <a:pPr algn="l" indent="0" marL="0">
              <a:buNone/>
            </a:pPr>
            <a:r>
              <a:rPr lang="ar-SA" altLang="en-US" sz="1700" dirty="0">
                <a:solidFill>
                  <a:srgbClr val="1F2A37"/>
                </a:solidFill>
                <a:latin typeface="Amiri" pitchFamily="34" charset="0"/>
                <a:ea typeface="Amiri" pitchFamily="34" charset="-122"/>
                <a:cs typeface="Amiri" pitchFamily="34" charset="-120"/>
              </a:rPr>
              <a:t>ـهُ</a:t>
            </a:r>
            <a:pPr algn="l" indent="0" marL="0">
              <a:buNone/>
            </a:pPr>
            <a:r>
              <a:rPr lang="en-US" sz="1300" dirty="0">
                <a:solidFill>
                  <a:srgbClr val="1F2A37"/>
                </a:solidFill>
                <a:latin typeface="Calibri" pitchFamily="34" charset="0"/>
                <a:ea typeface="Calibri" pitchFamily="34" charset="-122"/>
                <a:cs typeface="Calibri" pitchFamily="34" charset="-120"/>
              </a:rPr>
              <a:t> or </a:t>
            </a:r>
            <a:pPr algn="l" indent="0" marL="0">
              <a:buNone/>
            </a:pPr>
            <a:r>
              <a:rPr lang="ar-SA" altLang="en-US" sz="1700" dirty="0">
                <a:solidFill>
                  <a:srgbClr val="1F2A37"/>
                </a:solidFill>
                <a:latin typeface="Amiri" pitchFamily="34" charset="0"/>
                <a:ea typeface="Amiri" pitchFamily="34" charset="-122"/>
                <a:cs typeface="Amiri" pitchFamily="34" charset="-120"/>
              </a:rPr>
              <a:t>ـهَا</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My verbs start with </a:t>
            </a:r>
            <a:pPr algn="l" indent="0" marL="0">
              <a:buNone/>
            </a:pPr>
            <a:r>
              <a:rPr lang="ar-SA" altLang="en-US" sz="1700" dirty="0">
                <a:solidFill>
                  <a:srgbClr val="1F2A37"/>
                </a:solidFill>
                <a:latin typeface="Amiri" pitchFamily="34" charset="0"/>
                <a:ea typeface="Amiri" pitchFamily="34" charset="-122"/>
                <a:cs typeface="Amiri" pitchFamily="34" charset="-120"/>
              </a:rPr>
              <a:t>يـ</a:t>
            </a:r>
            <a:pPr algn="l" indent="0" marL="0">
              <a:buNone/>
            </a:pPr>
            <a:r>
              <a:rPr lang="en-US" sz="1300" dirty="0">
                <a:solidFill>
                  <a:srgbClr val="1F2A37"/>
                </a:solidFill>
                <a:latin typeface="Calibri" pitchFamily="34" charset="0"/>
                <a:ea typeface="Calibri" pitchFamily="34" charset="-122"/>
                <a:cs typeface="Calibri" pitchFamily="34" charset="-120"/>
              </a:rPr>
              <a:t> (he) or </a:t>
            </a:r>
            <a:pPr algn="l" indent="0" marL="0">
              <a:buNone/>
            </a:pPr>
            <a:r>
              <a:rPr lang="ar-SA" altLang="en-US" sz="1700" dirty="0">
                <a:solidFill>
                  <a:srgbClr val="1F2A37"/>
                </a:solidFill>
                <a:latin typeface="Amiri" pitchFamily="34" charset="0"/>
                <a:ea typeface="Amiri" pitchFamily="34" charset="-122"/>
                <a:cs typeface="Amiri" pitchFamily="34" charset="-120"/>
              </a:rPr>
              <a:t>تـ</a:t>
            </a:r>
            <a:pPr algn="l" indent="0" marL="0">
              <a:buNone/>
            </a:pPr>
            <a:r>
              <a:rPr lang="en-US" sz="1300" dirty="0">
                <a:solidFill>
                  <a:srgbClr val="1F2A37"/>
                </a:solidFill>
                <a:latin typeface="Calibri" pitchFamily="34" charset="0"/>
                <a:ea typeface="Calibri" pitchFamily="34" charset="-122"/>
                <a:cs typeface="Calibri" pitchFamily="34" charset="-120"/>
              </a:rPr>
              <a:t> (she).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used at least three connectors.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checked agreement and prefixes by myself.</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‘her age’.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عُمْرُهَا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عُمْرُهُ</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عُمْرِي</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‘he lives’.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تَعِيشُ</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يَعِيشُ</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أَعِيشُ</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connector gives a contrast?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وَلَكِنْ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أَيْضًا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‘her age’.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عُمْرُهَا</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عُمْرُهُ</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عُمْرِي</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ـهَا</a:t>
            </a:r>
            <a:pPr algn="l" indent="0" marL="0">
              <a:buNone/>
            </a:pPr>
            <a:r>
              <a:rPr lang="en-US" sz="1050" i="1" dirty="0">
                <a:solidFill>
                  <a:srgbClr val="8A6D1E"/>
                </a:solidFill>
                <a:latin typeface="Calibri" pitchFamily="34" charset="0"/>
                <a:ea typeface="Calibri" pitchFamily="34" charset="-122"/>
                <a:cs typeface="Calibri" pitchFamily="34" charset="-120"/>
              </a:rPr>
              <a:t> means her.</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‘he lives’.</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تَعِيشُ</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يَعِيشُ</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أَعِيشُ</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masculine third-person form is </a:t>
            </a:r>
            <a:pPr algn="l" indent="0" marL="0">
              <a:buNone/>
            </a:pPr>
            <a:r>
              <a:rPr lang="ar-SA" altLang="en-US" sz="1350" dirty="0">
                <a:solidFill>
                  <a:srgbClr val="8A6D1E"/>
                </a:solidFill>
                <a:latin typeface="Amiri" pitchFamily="34" charset="0"/>
                <a:ea typeface="Amiri" pitchFamily="34" charset="-122"/>
                <a:cs typeface="Amiri" pitchFamily="34" charset="-120"/>
              </a:rPr>
              <a:t>يَعِيشُ</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connector gives a contrast?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وَلَكِنْ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أَيْضًا</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وَ</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وَلَكِنْ</a:t>
            </a:r>
            <a:pPr algn="l" indent="0" marL="0">
              <a:buNone/>
            </a:pPr>
            <a:r>
              <a:rPr lang="en-US" sz="1050" i="1" dirty="0">
                <a:solidFill>
                  <a:srgbClr val="8A6D1E"/>
                </a:solidFill>
                <a:latin typeface="Calibri" pitchFamily="34" charset="0"/>
                <a:ea typeface="Calibri" pitchFamily="34" charset="-122"/>
                <a:cs typeface="Calibri" pitchFamily="34" charset="-120"/>
              </a:rPr>
              <a:t> means but.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F2-L08 · Personal Profiles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F2-L09: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2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F2-L09 · Listening to Personal Introductions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اِسْتَمِعْ</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Listen! (instruction)</a:t>
            </a:r>
            <a:pPr indent="0" marL="0">
              <a:buNone/>
            </a:pPr>
            <a:r>
              <a:rPr lang="en-US" sz="1000" i="1" dirty="0">
                <a:solidFill>
                  <a:srgbClr val="5A6472"/>
                </a:solidFill>
                <a:latin typeface="Calibri" pitchFamily="34" charset="0"/>
                <a:ea typeface="Calibri" pitchFamily="34" charset="-122"/>
                <a:cs typeface="Calibri" pitchFamily="34" charset="-120"/>
              </a:rPr>
              <a:t>  f. اِسْتَمِعِي</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اِخْتَرْ</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Choose! (instruction)</a:t>
            </a:r>
            <a:pPr indent="0" marL="0">
              <a:buNone/>
            </a:pPr>
            <a:r>
              <a:rPr lang="en-US" sz="1000" i="1" dirty="0">
                <a:solidFill>
                  <a:srgbClr val="5A6472"/>
                </a:solidFill>
                <a:latin typeface="Calibri" pitchFamily="34" charset="0"/>
                <a:ea typeface="Calibri" pitchFamily="34" charset="-122"/>
                <a:cs typeface="Calibri" pitchFamily="34" charset="-120"/>
              </a:rPr>
              <a:t>  f. اِخْتَارِي</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صَحِيحٌ · خَطَأٌ</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true · false</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الفِكْرَةُ الرَّئِيسِيَّةُ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the main idea</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التَّفَاصِيلُ</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the details</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Think: when you listen to English, how do you catch a name or a number? Write one tip.</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اِسْتَمِعْ وَاخْتَرْ</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F2-L08: the Profile Builder Mission (12) and the picture game.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Write a 60–80-word profile of a friend or invented person (website planner).</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Write it unvowelled; then the 12-question checkpoint (aim for 10/12).</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F2-L08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F2-L09 · Listening to Personal Introductions</a:t>
            </a:r>
            <a:endParaRPr lang="en-US" sz="22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الاِسْتِمَاعُ إِلَى التَّعْرِيفَاتِ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he → </a:t>
            </a:r>
            <a:pPr algn="l" indent="0" marL="0">
              <a:buNone/>
            </a:pPr>
            <a:r>
              <a:rPr lang="ar-SA" altLang="en-US" sz="1700" b="1" dirty="0">
                <a:solidFill>
                  <a:srgbClr val="FFFFFF"/>
                </a:solidFill>
                <a:latin typeface="Amiri" pitchFamily="34" charset="0"/>
                <a:ea typeface="Amiri" pitchFamily="34" charset="-122"/>
                <a:cs typeface="Amiri" pitchFamily="34" charset="-120"/>
              </a:rPr>
              <a:t>ـهُ</a:t>
            </a:r>
            <a:pPr algn="l" indent="0" marL="0">
              <a:buNone/>
            </a:pPr>
            <a:r>
              <a:rPr lang="en-US" sz="1300" b="1" dirty="0">
                <a:solidFill>
                  <a:srgbClr val="FFFFFF"/>
                </a:solidFill>
                <a:latin typeface="Calibri" pitchFamily="34" charset="0"/>
                <a:ea typeface="Calibri" pitchFamily="34" charset="-122"/>
                <a:cs typeface="Calibri" pitchFamily="34" charset="-120"/>
              </a:rPr>
              <a:t> + </a:t>
            </a:r>
            <a:pPr algn="l" indent="0" marL="0">
              <a:buNone/>
            </a:pPr>
            <a:r>
              <a:rPr lang="ar-SA" altLang="en-US" sz="1700" b="1" dirty="0">
                <a:solidFill>
                  <a:srgbClr val="FFFFFF"/>
                </a:solidFill>
                <a:latin typeface="Amiri" pitchFamily="34" charset="0"/>
                <a:ea typeface="Amiri" pitchFamily="34" charset="-122"/>
                <a:cs typeface="Amiri" pitchFamily="34" charset="-120"/>
              </a:rPr>
              <a:t>يـ</a:t>
            </a:r>
            <a:pPr algn="l" indent="0" marL="0">
              <a:buNone/>
            </a:pPr>
            <a:r>
              <a:rPr lang="en-US" sz="1300" b="1" dirty="0">
                <a:solidFill>
                  <a:srgbClr val="FFFFFF"/>
                </a:solidFill>
                <a:latin typeface="Calibri" pitchFamily="34" charset="0"/>
                <a:ea typeface="Calibri" pitchFamily="34" charset="-122"/>
                <a:cs typeface="Calibri" pitchFamily="34" charset="-120"/>
              </a:rPr>
              <a:t> · she → </a:t>
            </a:r>
            <a:pPr algn="l" indent="0" marL="0">
              <a:buNone/>
            </a:pPr>
            <a:r>
              <a:rPr lang="ar-SA" altLang="en-US" sz="1700" b="1" dirty="0">
                <a:solidFill>
                  <a:srgbClr val="FFFFFF"/>
                </a:solidFill>
                <a:latin typeface="Amiri" pitchFamily="34" charset="0"/>
                <a:ea typeface="Amiri" pitchFamily="34" charset="-122"/>
                <a:cs typeface="Amiri" pitchFamily="34" charset="-120"/>
              </a:rPr>
              <a:t>ـهَا</a:t>
            </a:r>
            <a:pPr algn="l" indent="0" marL="0">
              <a:buNone/>
            </a:pPr>
            <a:r>
              <a:rPr lang="en-US" sz="1300" b="1" dirty="0">
                <a:solidFill>
                  <a:srgbClr val="FFFFFF"/>
                </a:solidFill>
                <a:latin typeface="Calibri" pitchFamily="34" charset="0"/>
                <a:ea typeface="Calibri" pitchFamily="34" charset="-122"/>
                <a:cs typeface="Calibri" pitchFamily="34" charset="-120"/>
              </a:rPr>
              <a:t> + </a:t>
            </a:r>
            <a:pPr algn="l" indent="0" marL="0">
              <a:buNone/>
            </a:pPr>
            <a:r>
              <a:rPr lang="ar-SA" altLang="en-US" sz="1700" b="1" dirty="0">
                <a:solidFill>
                  <a:srgbClr val="FFFFFF"/>
                </a:solidFill>
                <a:latin typeface="Amiri" pitchFamily="34" charset="0"/>
                <a:ea typeface="Amiri" pitchFamily="34" charset="-122"/>
                <a:cs typeface="Amiri" pitchFamily="34" charset="-120"/>
              </a:rPr>
              <a:t>تـ</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F2-L08 · Reading and Writing Personal Profiles</dc:title>
  <dc:subject>PptxGenJS Presentation</dc:subject>
  <dc:creator>Al Madina Online School · Arabic Department</dc:creator>
  <cp:lastModifiedBy>Al Madina Online School · Arabic Department</cp:lastModifiedBy>
  <cp:revision>1</cp:revision>
  <dcterms:created xsi:type="dcterms:W3CDTF">2026-09-27T10:24:33Z</dcterms:created>
  <dcterms:modified xsi:type="dcterms:W3CDTF">2026-09-27T10:24:33Z</dcterms:modified>
</cp:coreProperties>
</file>