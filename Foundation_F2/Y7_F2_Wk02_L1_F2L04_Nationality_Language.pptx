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4 (F2-L04). Website sections used: the four-question readiness check, countries → nationality words (8 countries), core identity vocabulary, the nisba pattern, four language actions and four languages, the decision check, listening (three speakers, six questions), three identity profiles (five questions), the identity speaking model and checklist, the identity-card writing task and the ten-question checkpoint. Picture match: website visual game “Nationality and Language”. NOTE: website reading question 2 has an answer-key error (it names Maryam, but the profile that says “I speak English and understand Arabic” is Zaynab’s) — corrected on the slide.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ONE nationality (theirs) in the right form, and ONE language line: أَتَكَلَّمُ … . Develop: origin + nationality + two languages. Stretch: all four language verbs, including أَكْتُبُ بِـ.
• Identity is personal: many students have more than one heritage or nationality. Accept any true answer (e.g. أَنَا بَرِيطَانِيٌّ وَبَاكِسْتَانِيٌّ) and never ask a student to “choose”. Students may also use a character card instead of personal details.
• The nisba pattern (ـِيٌّ / ـِيَّةٌ) is the SAME one students met in Topic-style words like عَرَبِيٌّ — it prepares F2-L05 (gender agreement).
• Urdu bridge: عربی، اردو، انگریزی، فہم، کتاب — Urdu speakers already know most language names.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 “readiness check” (name, age question to a girl, أَنَا مِنْ مِصْرَ).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nationality word matches the PERSON: -iyy for a boy, -iyya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عربی / اردو / انگریزی (the language names, with the same -ī nisba ending!), فہم (fahm → أَفْهَمُ I understand), کتاب (kitāb — same root k-t-b as أَكْتُبُ I write).
Big idea for EAL students: Urdu and Arabic BOTH make nationality/language words with -ī (پاکستانی ↔ بَاكِسْتَانِيٌّ).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COUNTRIES → NATIONALITIES (website, 8 countries). Orange = the country part; pink = the ending.
Read across each row: country → a boy says → a girl says. Core: Britain + Egypt + the student’s OWN country.
Not in the list? Build it the same way: بَاكِسْتَانُ → بَاكِسْتَانِيٌّ / بَاكِسْتَانِيَّةٌ · بَنْغْلَادِيشُ → بَنْغْلَادِيشِيٌّ / بَنْغْلَادِيشِيَّةٌ · الصُّومَالُ → صُومَالِيٌّ / صُومَالِيَّةٌ.
Note the “the” (ال) drops in the nationality: المَغْرِبُ → مَغْرِبِيٌّ.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COUNTRIES → NATIONALITIES (website) continued: Iraq, Syria, Lebanon, Jordan — the countries of the listening and reading speakers. Same pattern: country + ـِيٌّ / ـِيَّةٌ.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WORDS (website “Core identity vocabulary” + the speaking model question). Card 1 recycles the endings from F2-L02/L03: جِنْسِيَّتُكَ / جِنْسِيَّتُكِ / جِنْسِيَّتِي — notice ة becomes ت when an ending is added.
Card 6 (مِنْ أَيْنَ أَنْتَ؟) is the natural question for أَنَا مِنْ … — used in F2-L07.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LANGUAGE ACTIONS (website, with gestures): 🗣️ أَتَكَلَّمُ · 👂 أَفْهَمُ · 📖 أَقْرَأُ · ✍️ أَكْتُبُ. Do the gesture every time you say the verb.
The small boxes show I / you (to a boy) / you (to a girl) — the أَ = I and تَـ = you pattern students will meet again and again. Core: “I” only.
Website model sentences: أَتَكَلَّمُ العَرَبِيَّةَ. أَفْهَمُ الإِنْجِلِيزِيَّةَ. أَقْرَأُ العَرَبِيَّةَ. أَكْتُبُ بِالإِنْجِلِيزِيَّةِ.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The nationality is an ADJECTIVE: it changes to match whether the person is masculine or feminine. Memory rule: ـِيٌّ usually describes one male person; ـِيَّةٌ one female person.
Website common mistake: “Do not choose from your own gender” — the ending describes the person IN THE SENTENCE. A girl says أَنَا مِصْرِيَّةٌ; a boy says أَنَا مِصْرِيٌّ; and a boy describing Zaynab says هِيَ سُورِيَّةٌ.
Link: the same ـة feminine clue as صَدِيقَةٌ (F2-L02) — tomorrow’s lesson (F2-L05) is all about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IDENTITY SENTENCES (built from the website model sentences and reading question 5: “Which sentence states origin rather than nationality?”). The key discovery: only row 2 changes. Website decision check Q5: أَكْتُبُ بِالعَرَبِيَّةِ is the natural way to say “I write in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“Nationality and language decision check” questions 1, 2, 4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speaker 1, modelled as four decisions. Then change ONE detail aloud: “What if Zaynab from Syria says it?” → أَنَا مِنْ سُورِيَا. أَنَا سُورِيَّةٌ. Students copy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Nationality and Language”)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“Nationality and Language” (3 of 6 cards). New but guessable: هُوَ = he, هِيَ = she. Key to spot: the ending ـِيٌّ / ـِيَّةٌ and the verb تَتَكَلَّمُ (she speaks).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decision check Q3 and Q5, checkpoint Q2 and Q9. Show-me: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class reads each correct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١. مَرْحَبًا. اِسْمِي خَالِدٌ. أَنَا مِنَ العِرَاقِ. أَنَا عِرَاقِيٌّ. أَتَكَلَّمُ العَرَبِيَّةَ وَالإِنْجِلِيزِيَّةَ. ٢. مَرْحَبًا. اِسْمِي زَيْنَبُ. أَنَا مِنْ سُورِيَا. أَنَا سُورِيَّةٌ. أَفْهَمُ العَرَبِيَّةَ وَأَتَكَلَّمُ الإِنْجِلِيزِيَّةَ. ٣. اِسْمِي مَرْيَمُ. أَنَا بَرِيطَانِيَّةٌ. أَتَكَلَّمُ الإِنْجِلِيزِيَّةَ وَالفَرَنْسِيَّةَ.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scan first for the NAME, then underline the nationality ending and circle each language verb. Core: read with the English; Develop / Stretch: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1–5. Q2 is CORRECTED: the website key gives Maryam, but Zaynab’s profile is the one that says “I speak English and I understand Arabic”. (If a student has done it online and “got it wrong” by choosing Zaynab — they were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for each answer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مَا اللُّغَاتُ الَّتِي تَتَكَلَّمِينَهَا؟ (Which languages do you speak?)
ب: أَتَكَلَّمُ العَرَبِيَّةَ وَالإِنْجِلِيزِيَّةَ. (I speak Arabic and English.)
WEBSITE SPEAKING CHECKLIST (the listener ticks 1–5 in chat): 1 name · 2 origin with أَنَا مِنْ … · 3 matched gender -iyy / -iyya · 4 a language with أَتَكَلَّمُ · 5 extended with understand, read or write.
Website “random identity prompt”: show a character (e.g. خَالِد 🇮🇶) — the partner asks مَا جِنْسِيَّتُكَ؟ and answers as that character: أَنَا عِرَاقِيٌّ. أَتَكَلَّمُ العَرَبِيَّةَ وَالإِنْجِلِيزِيَّةَ.
Summarise (↺, Stretch): he / she is … and speaks … — the he-verb يَتَكَلَّمُ and she-verb تَتَكَلَّمُ (from the picture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the identity-card fields. · Develop — Write four connected sentences: name, origin, nationality, languages. · Stretch — Use three or four different language verbs (speak, understand, read, write).
Website writing task (Stretch): Website writing task: create your Arabic identity card (name, age, origin, nationality, languages), then write four connected sentences. Stretch: use speak, understand, read and write.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identity card. Develop: turn each field into a full sentence (اِسْمِي مَرْيَم. عُمْرِي … أَنَا بَرِيطَانِيَّةٌ. أَتَكَلَّمُ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(F2-L05 · Masculine and Feminine Agreement) will spend class time USING this language, so students prepare it tonight — short, simple, easy to access (school guidance: “Simple, Short, Interesting, Relevant, Easy to access”). The five words are from the website F2-L05 active vocabulary (people-noun pairs, the first adjective pair and the ة clue).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WEEK 2  ·  LESSON 1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Nationality and Language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الجِنْسِيَّةُ وَاللُّغَةُ — مَنْ أَنْتَ؟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where you are from (</a:t>
            </a:r>
            <a:pPr algn="l" indent="0" marL="0">
              <a:buNone/>
            </a:pPr>
            <a:r>
              <a:rPr lang="ar-SA" altLang="en-US" sz="1800" dirty="0">
                <a:solidFill>
                  <a:srgbClr val="C6D2E6"/>
                </a:solidFill>
                <a:latin typeface="Amiri" pitchFamily="34" charset="0"/>
                <a:ea typeface="Amiri" pitchFamily="34" charset="-122"/>
                <a:cs typeface="Amiri" pitchFamily="34" charset="-120"/>
              </a:rPr>
              <a:t>أَنَا مِنْ</a:t>
            </a:r>
            <a:pPr algn="l" indent="0" marL="0">
              <a:buNone/>
            </a:pPr>
            <a:r>
              <a:rPr lang="en-US" sz="1400" dirty="0">
                <a:solidFill>
                  <a:srgbClr val="C6D2E6"/>
                </a:solidFill>
                <a:latin typeface="Calibri" pitchFamily="34" charset="0"/>
                <a:ea typeface="Calibri" pitchFamily="34" charset="-122"/>
                <a:cs typeface="Calibri" pitchFamily="34" charset="-120"/>
              </a:rPr>
              <a:t> …), choose the nationality ending that matches the person (</a:t>
            </a:r>
            <a:pPr algn="l" indent="0" marL="0">
              <a:buNone/>
            </a:pPr>
            <a:r>
              <a:rPr lang="ar-SA" altLang="en-US" sz="1800" dirty="0">
                <a:solidFill>
                  <a:srgbClr val="C6D2E6"/>
                </a:solidFill>
                <a:latin typeface="Amiri" pitchFamily="34" charset="0"/>
                <a:ea typeface="Amiri" pitchFamily="34" charset="-122"/>
                <a:cs typeface="Amiri" pitchFamily="34" charset="-120"/>
              </a:rPr>
              <a:t>ـِيٌّ / ـِيَّةٌ</a:t>
            </a:r>
            <a:pPr algn="l" indent="0" marL="0">
              <a:buNone/>
            </a:pPr>
            <a:r>
              <a:rPr lang="en-US" sz="1400" dirty="0">
                <a:solidFill>
                  <a:srgbClr val="C6D2E6"/>
                </a:solidFill>
                <a:latin typeface="Calibri" pitchFamily="34" charset="0"/>
                <a:ea typeface="Calibri" pitchFamily="34" charset="-122"/>
                <a:cs typeface="Calibri" pitchFamily="34" charset="-120"/>
              </a:rPr>
              <a:t>), and say which languages you speak, understand, read and write.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F2-L04 · Week 2, lesson 1</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F2 › Lesson 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Countries → nationalities, then four language verbs.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boy or girl ending, listen and read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language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أَتَكَلَّمُ العَرَبِيَّةَ.</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Arabic.</a:t>
            </a:r>
            <a:endParaRPr lang="en-US" sz="12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am Arab.</a:t>
            </a:r>
            <a:endParaRPr lang="en-US" sz="12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read Arabic.</a:t>
            </a:r>
            <a:endParaRPr lang="en-US" sz="12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عُمْرِي ...</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 ...</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age.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am from Egypt’ ?</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مِصْرَ.</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مِصْرَ.</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جِنْسِيَّةٌ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language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nationality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age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sentence mean?</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أَتَكَلَّمُ العَرَبِيَّةَ.</a:t>
            </a:r>
            <a:endParaRPr lang="ar-SA" sz="2200" dirty="0"/>
          </a:p>
        </p:txBody>
      </p:sp>
      <p:sp>
        <p:nvSpPr>
          <p:cNvPr id="35" name="Shape 32"/>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speak Arabic.</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am Arab.</a:t>
            </a:r>
            <a:endParaRPr lang="en-US" sz="125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read Arabic.</a:t>
            </a:r>
            <a:endParaRPr lang="en-US" sz="125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عُمْرِي ...</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 ...</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 ...</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a:t>
            </a:r>
            <a:pPr algn="l" indent="0" marL="0">
              <a:buNone/>
            </a:pPr>
            <a:r>
              <a:rPr lang="en-US" sz="1050" i="1" dirty="0">
                <a:solidFill>
                  <a:srgbClr val="8A6D1E"/>
                </a:solidFill>
                <a:latin typeface="Calibri" pitchFamily="34" charset="0"/>
                <a:ea typeface="Calibri" pitchFamily="34" charset="-122"/>
                <a:cs typeface="Calibri" pitchFamily="34" charset="-120"/>
              </a:rPr>
              <a:t> introduces your name.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age.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عُمْرُكِ؟</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-ki addresses one girl or woman.</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am from Egypt’ ?</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مِصْرَ.</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مِصْرِيَّةٌ.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مِصْرَ.</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introduces the place you are from.</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nationality word matches the PERSON: -iyy for a boy, -iyya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مِصْرِيٌّ  ·  مِصْرِيَّةٌ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1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State a nationality with the correct masculine or feminine form.</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which languages I speak, understand, read and write.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identity details in short listening and reading texts.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Create and present a simple Arabic identity card.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state one nationality in the right form.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one language line with “I speak”.</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my name, age, origin and nationality.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two language details.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speak, understand, read and write.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“in” a language with bi-.</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countries, 3 identity words, 4 language verbs and 4 languages — all from the website. Core: YOUR country, YOUR languages, and “I speak”.</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Countries → nationality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Identity words · 4</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Language verbs + languages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العَرَبِيَّةُ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‎عربی‎ </a:t>
            </a:r>
            <a:pPr indent="0" marL="0">
              <a:buNone/>
            </a:pPr>
            <a:r>
              <a:rPr lang="en-US" sz="950" b="1" dirty="0">
                <a:solidFill>
                  <a:srgbClr val="2E8B57"/>
                </a:solidFill>
                <a:latin typeface="Calibri" pitchFamily="34" charset="0"/>
                <a:ea typeface="Calibri" pitchFamily="34" charset="-122"/>
                <a:cs typeface="Calibri" pitchFamily="34" charset="-120"/>
              </a:rPr>
              <a:t> arabī · Arabic</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الأُرْدِيَّةُ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‎اردو‎ </a:t>
            </a:r>
            <a:pPr indent="0" marL="0">
              <a:buNone/>
            </a:pPr>
            <a:r>
              <a:rPr lang="en-US" sz="950" b="1" dirty="0">
                <a:solidFill>
                  <a:srgbClr val="2E8B57"/>
                </a:solidFill>
                <a:latin typeface="Calibri" pitchFamily="34" charset="0"/>
                <a:ea typeface="Calibri" pitchFamily="34" charset="-122"/>
                <a:cs typeface="Calibri" pitchFamily="34" charset="-120"/>
              </a:rPr>
              <a:t> urdū · Urdu</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الإِنْجِلِيزِيَّةُ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‎انگریزی‎ </a:t>
            </a:r>
            <a:pPr indent="0" marL="0">
              <a:buNone/>
            </a:pPr>
            <a:r>
              <a:rPr lang="en-US" sz="950" b="1" dirty="0">
                <a:solidFill>
                  <a:srgbClr val="2E8B57"/>
                </a:solidFill>
                <a:latin typeface="Calibri" pitchFamily="34" charset="0"/>
                <a:ea typeface="Calibri" pitchFamily="34" charset="-122"/>
                <a:cs typeface="Calibri" pitchFamily="34" charset="-120"/>
              </a:rPr>
              <a:t> angrezī · English</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أَفْهَمُ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‎فہم‎ </a:t>
            </a:r>
            <a:pPr indent="0" marL="0">
              <a:buNone/>
            </a:pPr>
            <a:r>
              <a:rPr lang="en-US" sz="950" b="1" dirty="0">
                <a:solidFill>
                  <a:srgbClr val="2E8B57"/>
                </a:solidFill>
                <a:latin typeface="Calibri" pitchFamily="34" charset="0"/>
                <a:ea typeface="Calibri" pitchFamily="34" charset="-122"/>
                <a:cs typeface="Calibri" pitchFamily="34" charset="-120"/>
              </a:rPr>
              <a:t> fahm · understanding</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أَكْتُبُ</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 (k-t-b = write)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KEY WORDS · GROUP 1 · COUNTRIES BECOME NATIONALITY WORDS (WEBSITE) · 1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From country to nationality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بَرِيطَانِيَا</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بَرِيطَانِ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بَرِيطَانِ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Britain</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مِصْرُ</a:t>
            </a:r>
            <a:endParaRPr lang="ar-SA" sz="2100" dirty="0"/>
          </a:p>
        </p:txBody>
      </p:sp>
      <p:sp>
        <p:nvSpPr>
          <p:cNvPr id="32" name="Text 29"/>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33" name="Text 30"/>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مِصْرِ</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34" name="Text 31"/>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35" name="Text 32"/>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مِصْرِ</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36" name="Text 33"/>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37" name="Text 34"/>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Egypt</a:t>
            </a:r>
            <a:endParaRPr lang="en-US" sz="1100" dirty="0"/>
          </a:p>
        </p:txBody>
      </p:sp>
      <p:sp>
        <p:nvSpPr>
          <p:cNvPr id="38" name="Shape 35"/>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1" name="Text 38"/>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السُّعُودِيَّةُ</a:t>
            </a:r>
            <a:endParaRPr lang="ar-SA" sz="2100" dirty="0"/>
          </a:p>
        </p:txBody>
      </p:sp>
      <p:sp>
        <p:nvSpPr>
          <p:cNvPr id="42" name="Text 39"/>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43" name="Text 40"/>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سُعُودِ</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44" name="Text 41"/>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45" name="Text 42"/>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سُعُودِ</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46" name="Text 43"/>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47" name="Text 44"/>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Saudi Arabia</a:t>
            </a:r>
            <a:endParaRPr lang="en-US" sz="1100" dirty="0"/>
          </a:p>
        </p:txBody>
      </p:sp>
      <p:sp>
        <p:nvSpPr>
          <p:cNvPr id="48" name="Shape 45"/>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9" name="Text 46"/>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المَغْرِبُ</a:t>
            </a:r>
            <a:endParaRPr lang="ar-SA" sz="2100" dirty="0"/>
          </a:p>
        </p:txBody>
      </p:sp>
      <p:sp>
        <p:nvSpPr>
          <p:cNvPr id="50" name="Text 47"/>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51" name="Text 48"/>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مَغْرِبِ</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52" name="Text 49"/>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53" name="Text 50"/>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مَغْرِبِ</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54" name="Text 51"/>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55" name="Text 52"/>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Morocco</a:t>
            </a:r>
            <a:endParaRPr lang="en-US" sz="11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B3B6F"/>
                </a:solidFill>
                <a:latin typeface="Calibri" pitchFamily="34" charset="0"/>
                <a:ea typeface="Calibri" pitchFamily="34" charset="-122"/>
                <a:cs typeface="Calibri" pitchFamily="34" charset="-120"/>
              </a:rPr>
              <a:t>KEY WORDS · GROUP 1 · COUNTRIES BECOME NATIONALITY WORDS (WEBSITE) · 2 OF 2</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more Arab countries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البَلَدِ إِلَى الجِنْسِيَّةِ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153144"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Country</a:t>
            </a:r>
            <a:endParaRPr lang="en-US" sz="1100" dirty="0"/>
          </a:p>
        </p:txBody>
      </p:sp>
      <p:sp>
        <p:nvSpPr>
          <p:cNvPr id="17" name="Text 14"/>
          <p:cNvSpPr txBox="1"/>
          <p:nvPr/>
        </p:nvSpPr>
        <p:spPr>
          <a:xfrm>
            <a:off x="595274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boy (m.)</a:t>
            </a:r>
            <a:endParaRPr lang="en-US" sz="1100" dirty="0"/>
          </a:p>
        </p:txBody>
      </p:sp>
      <p:sp>
        <p:nvSpPr>
          <p:cNvPr id="18" name="Text 15"/>
          <p:cNvSpPr txBox="1"/>
          <p:nvPr/>
        </p:nvSpPr>
        <p:spPr>
          <a:xfrm>
            <a:off x="263347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girl (f.)</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171432" y="2286000"/>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العِرَاقُ</a:t>
            </a:r>
            <a:endParaRPr lang="ar-SA" sz="2100" dirty="0"/>
          </a:p>
        </p:txBody>
      </p:sp>
      <p:sp>
        <p:nvSpPr>
          <p:cNvPr id="22" name="Text 19"/>
          <p:cNvSpPr txBox="1"/>
          <p:nvPr/>
        </p:nvSpPr>
        <p:spPr>
          <a:xfrm>
            <a:off x="9125712" y="2706624"/>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23" name="Text 20"/>
          <p:cNvSpPr txBox="1"/>
          <p:nvPr/>
        </p:nvSpPr>
        <p:spPr>
          <a:xfrm>
            <a:off x="5971032" y="2286000"/>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عِرَاقِ</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24" name="Text 21"/>
          <p:cNvSpPr txBox="1"/>
          <p:nvPr/>
        </p:nvSpPr>
        <p:spPr>
          <a:xfrm>
            <a:off x="5925312" y="2706624"/>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25" name="Text 22"/>
          <p:cNvSpPr txBox="1"/>
          <p:nvPr/>
        </p:nvSpPr>
        <p:spPr>
          <a:xfrm>
            <a:off x="2651760" y="2286000"/>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عِرَاقِ</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26" name="Text 23"/>
          <p:cNvSpPr txBox="1"/>
          <p:nvPr/>
        </p:nvSpPr>
        <p:spPr>
          <a:xfrm>
            <a:off x="2606040" y="2706624"/>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27" name="Text 24"/>
          <p:cNvSpPr txBox="1"/>
          <p:nvPr/>
        </p:nvSpPr>
        <p:spPr>
          <a:xfrm>
            <a:off x="566928" y="2267712"/>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Iraq</a:t>
            </a:r>
            <a:endParaRPr lang="en-US" sz="110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171432" y="3072384"/>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سُورِيَا</a:t>
            </a:r>
            <a:endParaRPr lang="ar-SA" sz="2100" dirty="0"/>
          </a:p>
        </p:txBody>
      </p:sp>
      <p:sp>
        <p:nvSpPr>
          <p:cNvPr id="30" name="Text 27"/>
          <p:cNvSpPr txBox="1"/>
          <p:nvPr/>
        </p:nvSpPr>
        <p:spPr>
          <a:xfrm>
            <a:off x="9125712" y="3493008"/>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31" name="Text 28"/>
          <p:cNvSpPr txBox="1"/>
          <p:nvPr/>
        </p:nvSpPr>
        <p:spPr>
          <a:xfrm>
            <a:off x="5971032" y="3072384"/>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سُورِ</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32" name="Text 29"/>
          <p:cNvSpPr txBox="1"/>
          <p:nvPr/>
        </p:nvSpPr>
        <p:spPr>
          <a:xfrm>
            <a:off x="5925312" y="3493008"/>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33" name="Text 30"/>
          <p:cNvSpPr txBox="1"/>
          <p:nvPr/>
        </p:nvSpPr>
        <p:spPr>
          <a:xfrm>
            <a:off x="2651760" y="3072384"/>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سُورِ</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34" name="Text 31"/>
          <p:cNvSpPr txBox="1"/>
          <p:nvPr/>
        </p:nvSpPr>
        <p:spPr>
          <a:xfrm>
            <a:off x="2606040" y="3493008"/>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35" name="Text 32"/>
          <p:cNvSpPr txBox="1"/>
          <p:nvPr/>
        </p:nvSpPr>
        <p:spPr>
          <a:xfrm>
            <a:off x="566928" y="3054096"/>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Syria</a:t>
            </a:r>
            <a:endParaRPr lang="en-US" sz="110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171432" y="3858768"/>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لُبْنَانُ</a:t>
            </a:r>
            <a:endParaRPr lang="ar-SA" sz="2100" dirty="0"/>
          </a:p>
        </p:txBody>
      </p:sp>
      <p:sp>
        <p:nvSpPr>
          <p:cNvPr id="38" name="Text 35"/>
          <p:cNvSpPr txBox="1"/>
          <p:nvPr/>
        </p:nvSpPr>
        <p:spPr>
          <a:xfrm>
            <a:off x="9125712" y="4279392"/>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39" name="Text 36"/>
          <p:cNvSpPr txBox="1"/>
          <p:nvPr/>
        </p:nvSpPr>
        <p:spPr>
          <a:xfrm>
            <a:off x="5971032" y="3858768"/>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40" name="Text 37"/>
          <p:cNvSpPr txBox="1"/>
          <p:nvPr/>
        </p:nvSpPr>
        <p:spPr>
          <a:xfrm>
            <a:off x="5925312" y="4279392"/>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41" name="Text 38"/>
          <p:cNvSpPr txBox="1"/>
          <p:nvPr/>
        </p:nvSpPr>
        <p:spPr>
          <a:xfrm>
            <a:off x="2651760" y="3858768"/>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42" name="Text 39"/>
          <p:cNvSpPr txBox="1"/>
          <p:nvPr/>
        </p:nvSpPr>
        <p:spPr>
          <a:xfrm>
            <a:off x="2606040" y="4279392"/>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43" name="Text 40"/>
          <p:cNvSpPr txBox="1"/>
          <p:nvPr/>
        </p:nvSpPr>
        <p:spPr>
          <a:xfrm>
            <a:off x="566928" y="3840480"/>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Lebanon</a:t>
            </a:r>
            <a:endParaRPr lang="en-US" sz="1100" dirty="0"/>
          </a:p>
        </p:txBody>
      </p:sp>
      <p:sp>
        <p:nvSpPr>
          <p:cNvPr id="44" name="Shape 4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5" name="Text 42"/>
          <p:cNvSpPr txBox="1"/>
          <p:nvPr/>
        </p:nvSpPr>
        <p:spPr>
          <a:xfrm>
            <a:off x="9171432" y="4645152"/>
            <a:ext cx="24688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الأُرْدُنُّ</a:t>
            </a:r>
            <a:endParaRPr lang="ar-SA" sz="2100" dirty="0"/>
          </a:p>
        </p:txBody>
      </p:sp>
      <p:sp>
        <p:nvSpPr>
          <p:cNvPr id="46" name="Text 43"/>
          <p:cNvSpPr txBox="1"/>
          <p:nvPr/>
        </p:nvSpPr>
        <p:spPr>
          <a:xfrm>
            <a:off x="9125712" y="5065776"/>
            <a:ext cx="256032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country</a:t>
            </a:r>
            <a:endParaRPr lang="en-US" sz="950" dirty="0"/>
          </a:p>
        </p:txBody>
      </p:sp>
      <p:sp>
        <p:nvSpPr>
          <p:cNvPr id="47" name="Text 44"/>
          <p:cNvSpPr txBox="1"/>
          <p:nvPr/>
        </p:nvSpPr>
        <p:spPr>
          <a:xfrm>
            <a:off x="5971032" y="4645152"/>
            <a:ext cx="30175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أُرْدُنِ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endParaRPr lang="ar-SA" sz="2100" dirty="0"/>
          </a:p>
        </p:txBody>
      </p:sp>
      <p:sp>
        <p:nvSpPr>
          <p:cNvPr id="48" name="Text 45"/>
          <p:cNvSpPr txBox="1"/>
          <p:nvPr/>
        </p:nvSpPr>
        <p:spPr>
          <a:xfrm>
            <a:off x="5925312" y="5065776"/>
            <a:ext cx="31089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boy says</a:t>
            </a:r>
            <a:endParaRPr lang="en-US" sz="950" dirty="0"/>
          </a:p>
        </p:txBody>
      </p:sp>
      <p:sp>
        <p:nvSpPr>
          <p:cNvPr id="49" name="Text 46"/>
          <p:cNvSpPr txBox="1"/>
          <p:nvPr/>
        </p:nvSpPr>
        <p:spPr>
          <a:xfrm>
            <a:off x="2651760" y="4645152"/>
            <a:ext cx="31363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C77700"/>
                </a:solidFill>
                <a:latin typeface="Amiri" pitchFamily="34" charset="0"/>
                <a:ea typeface="Amiri" pitchFamily="34" charset="-122"/>
                <a:cs typeface="Amiri" pitchFamily="34" charset="-120"/>
              </a:rPr>
              <a:t>أُرْدُنِ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endParaRPr lang="ar-SA" sz="2100" dirty="0"/>
          </a:p>
        </p:txBody>
      </p:sp>
      <p:sp>
        <p:nvSpPr>
          <p:cNvPr id="50" name="Text 47"/>
          <p:cNvSpPr txBox="1"/>
          <p:nvPr/>
        </p:nvSpPr>
        <p:spPr>
          <a:xfrm>
            <a:off x="2606040" y="5065776"/>
            <a:ext cx="32278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 girl says</a:t>
            </a:r>
            <a:endParaRPr lang="en-US" sz="950" dirty="0"/>
          </a:p>
        </p:txBody>
      </p:sp>
      <p:sp>
        <p:nvSpPr>
          <p:cNvPr id="51" name="Text 48"/>
          <p:cNvSpPr txBox="1"/>
          <p:nvPr/>
        </p:nvSpPr>
        <p:spPr>
          <a:xfrm>
            <a:off x="566928" y="4626864"/>
            <a:ext cx="19202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Jordan</a:t>
            </a:r>
            <a:endParaRPr lang="en-US" sz="110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IDENTITY WORDS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Identity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الهُوِيَّةِ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جِنْسِيَّةٌ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nationality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jin-siy-ya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جِنْسِيَّتُكَ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جِنْسِيَّتُكِ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جِنْسِيَّتِي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لُغَةٌ</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language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lu-gha · lu-ghāt</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one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لُغَةٌ</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two</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لُغَتَانِ</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لُغَاتٌ</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عَرَبِيٌّ</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ʿa-ra-biy · ʿa-ra-biy-ya · ʿa-rab</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عَرَبِيٌّ</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63" name="Text 60"/>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عَرَبِيَّةٌ</a:t>
            </a:r>
            <a:endParaRPr lang="ar-SA" sz="150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عَرَبٌ</a:t>
            </a:r>
            <a:endParaRPr lang="ar-SA" sz="150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0" name="Shape 6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origin</a:t>
            </a:r>
            <a:endParaRPr lang="en-US" sz="800" dirty="0"/>
          </a:p>
        </p:txBody>
      </p:sp>
      <p:sp>
        <p:nvSpPr>
          <p:cNvPr id="72" name="Shape 6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4" name="Text 7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أَنَا مِنْ …</a:t>
            </a:r>
            <a:endParaRPr lang="ar-SA" sz="3000" dirty="0"/>
          </a:p>
        </p:txBody>
      </p:sp>
      <p:sp>
        <p:nvSpPr>
          <p:cNvPr id="75" name="Text 7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am from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a-nā min …</a:t>
            </a:r>
            <a:endParaRPr lang="en-US" sz="1350" dirty="0"/>
          </a:p>
        </p:txBody>
      </p:sp>
      <p:sp>
        <p:nvSpPr>
          <p:cNvPr id="76" name="Text 7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 + a country: </a:t>
            </a:r>
            <a:pPr algn="l" indent="0" marL="0">
              <a:buNone/>
            </a:pPr>
            <a:r>
              <a:rPr lang="ar-SA" altLang="en-US" sz="1300" dirty="0">
                <a:solidFill>
                  <a:srgbClr val="8A6D1E"/>
                </a:solidFill>
                <a:latin typeface="Amiri" pitchFamily="34" charset="0"/>
                <a:ea typeface="Amiri" pitchFamily="34" charset="-122"/>
                <a:cs typeface="Amiri" pitchFamily="34" charset="-120"/>
              </a:rPr>
              <a:t>أَنَا مِنْ مِصْرَ</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a:t>
            </a:r>
            <a:endParaRPr lang="en-US" sz="800" dirty="0"/>
          </a:p>
        </p:txBody>
      </p:sp>
      <p:sp>
        <p:nvSpPr>
          <p:cNvPr id="82" name="Text 7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جِنْسِيَّتُكَ؟</a:t>
            </a:r>
            <a:endParaRPr lang="ar-SA" sz="3000" dirty="0"/>
          </a:p>
        </p:txBody>
      </p:sp>
      <p:sp>
        <p:nvSpPr>
          <p:cNvPr id="83" name="Text 8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is your nationality?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jin-siy-ya-tu-ka</a:t>
            </a:r>
            <a:endParaRPr lang="en-US" sz="1350" dirty="0"/>
          </a:p>
        </p:txBody>
      </p:sp>
      <p:sp>
        <p:nvSpPr>
          <p:cNvPr id="84" name="Text 8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To a girl: -ki.</a:t>
            </a:r>
            <a:endParaRPr lang="en-US" sz="100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88" name="Shape 85"/>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 · f.</a:t>
            </a:r>
            <a:endParaRPr lang="en-US" sz="800" dirty="0"/>
          </a:p>
        </p:txBody>
      </p:sp>
      <p:sp>
        <p:nvSpPr>
          <p:cNvPr id="90" name="Text 8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 أَيْنَ أَنْتَ؟</a:t>
            </a:r>
            <a:endParaRPr lang="ar-SA" sz="3000" dirty="0"/>
          </a:p>
        </p:txBody>
      </p:sp>
      <p:sp>
        <p:nvSpPr>
          <p:cNvPr id="91" name="Text 8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 are you from?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min ay-na an-ta · an-ti</a:t>
            </a:r>
            <a:endParaRPr lang="en-US" sz="1350" dirty="0"/>
          </a:p>
        </p:txBody>
      </p:sp>
      <p:sp>
        <p:nvSpPr>
          <p:cNvPr id="92" name="Text 8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To a girl: </a:t>
            </a:r>
            <a:pPr algn="l" indent="0" marL="0">
              <a:buNone/>
            </a:pPr>
            <a:r>
              <a:rPr lang="ar-SA" altLang="en-US" sz="1300" dirty="0">
                <a:solidFill>
                  <a:srgbClr val="8A6D1E"/>
                </a:solidFill>
                <a:latin typeface="Amiri" pitchFamily="34" charset="0"/>
                <a:ea typeface="Amiri" pitchFamily="34" charset="-122"/>
                <a:cs typeface="Amiri" pitchFamily="34" charset="-120"/>
              </a:rPr>
              <a:t>مِنْ أَيْنَ أَنْتِ؟</a:t>
            </a:r>
            <a:endParaRPr lang="en-US" sz="10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KEY WORDS · GROUP 3 · FOUR LANGUAGE ACTIONS AND FOUR LANGUAGES (WEBSITE)</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understand, read, write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أَتَكَلَّمُ · أَفْهَمُ · أَقْرَأُ · أَكْتُبُ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455725"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أَتَكَلَّمُ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speak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a-ta-kal-la-mu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أَتَكَلَّمُ</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تَتَكَلَّمُ</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32" name="Text 29"/>
          <p:cNvSpPr txBox="1"/>
          <p:nvPr/>
        </p:nvSpPr>
        <p:spPr>
          <a:xfrm>
            <a:off x="828446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تَتَكَلَّمِينَ</a:t>
            </a:r>
            <a:endParaRPr lang="ar-SA" sz="135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6" name="Shape 33"/>
          <p:cNvSpPr/>
          <p:nvPr/>
        </p:nvSpPr>
        <p:spPr>
          <a:xfrm>
            <a:off x="4782312" y="1938528"/>
            <a:ext cx="1455725"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أَفْهَمُ</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understand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af-ha-mu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أَفْهَمُ</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تَفْهَمُ</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50" name="Text 47"/>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تَفْهَمِينَ</a:t>
            </a:r>
            <a:endParaRPr lang="ar-SA" sz="135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54" name="Shape 5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56" name="Text 5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أَقْرَأُ</a:t>
            </a:r>
            <a:endParaRPr lang="ar-SA" sz="3000" dirty="0"/>
          </a:p>
        </p:txBody>
      </p:sp>
      <p:sp>
        <p:nvSpPr>
          <p:cNvPr id="57" name="Text 5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aq-ra-ʾu</a:t>
            </a:r>
            <a:endParaRPr lang="en-US" sz="1350" dirty="0"/>
          </a:p>
        </p:txBody>
      </p:sp>
      <p:sp>
        <p:nvSpPr>
          <p:cNvPr id="58" name="Shape 55"/>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0" name="Text 57"/>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أَقْرَأُ</a:t>
            </a:r>
            <a:endParaRPr lang="ar-SA" sz="1500" dirty="0"/>
          </a:p>
        </p:txBody>
      </p:sp>
      <p:sp>
        <p:nvSpPr>
          <p:cNvPr id="61" name="Shape 58"/>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63" name="Text 60"/>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تَقْرَأُ</a:t>
            </a:r>
            <a:endParaRPr lang="ar-SA" sz="1350" dirty="0"/>
          </a:p>
        </p:txBody>
      </p:sp>
      <p:sp>
        <p:nvSpPr>
          <p:cNvPr id="64" name="Shape 61"/>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66" name="Text 63"/>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تَقْرَئِينَ</a:t>
            </a:r>
            <a:endParaRPr lang="ar-SA" sz="1350" dirty="0"/>
          </a:p>
        </p:txBody>
      </p:sp>
      <p:sp>
        <p:nvSpPr>
          <p:cNvPr id="67" name="Shape 6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8211312"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70" name="Shape 6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you m. · you f.</a:t>
            </a:r>
            <a:endParaRPr lang="en-US" sz="800" dirty="0"/>
          </a:p>
        </p:txBody>
      </p:sp>
      <p:sp>
        <p:nvSpPr>
          <p:cNvPr id="72" name="Text 6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أَكْتُبُ بِـ</a:t>
            </a:r>
            <a:endParaRPr lang="ar-SA" sz="3000" dirty="0"/>
          </a:p>
        </p:txBody>
      </p:sp>
      <p:sp>
        <p:nvSpPr>
          <p:cNvPr id="73" name="Text 7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write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ak-tu-bu bi-</a:t>
            </a:r>
            <a:endParaRPr lang="en-US" sz="1350" dirty="0"/>
          </a:p>
        </p:txBody>
      </p:sp>
      <p:sp>
        <p:nvSpPr>
          <p:cNvPr id="74" name="Shape 7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6" name="Text 7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أَكْتُبُ</a:t>
            </a:r>
            <a:endParaRPr lang="ar-SA" sz="1500" dirty="0"/>
          </a:p>
        </p:txBody>
      </p:sp>
      <p:sp>
        <p:nvSpPr>
          <p:cNvPr id="77" name="Shape 7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m.</a:t>
            </a:r>
            <a:endParaRPr lang="en-US" sz="700" dirty="0"/>
          </a:p>
        </p:txBody>
      </p:sp>
      <p:sp>
        <p:nvSpPr>
          <p:cNvPr id="79" name="Text 76"/>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تَكْتُبُ</a:t>
            </a:r>
            <a:endParaRPr lang="ar-SA" sz="1350" dirty="0"/>
          </a:p>
        </p:txBody>
      </p:sp>
      <p:sp>
        <p:nvSpPr>
          <p:cNvPr id="80" name="Shape 7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 f.</a:t>
            </a:r>
            <a:endParaRPr lang="en-US" sz="700" dirty="0"/>
          </a:p>
        </p:txBody>
      </p:sp>
      <p:sp>
        <p:nvSpPr>
          <p:cNvPr id="82" name="Text 79"/>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تَكْتُبِينَ</a:t>
            </a:r>
            <a:endParaRPr lang="ar-SA" sz="1350" dirty="0"/>
          </a:p>
        </p:txBody>
      </p:sp>
      <p:sp>
        <p:nvSpPr>
          <p:cNvPr id="83" name="Shape 8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4389120" y="4261104"/>
            <a:ext cx="310896" cy="310896"/>
          </a:xfrm>
          <a:prstGeom prst="ellipse">
            <a:avLst/>
          </a:prstGeom>
          <a:solidFill>
            <a:srgbClr val="F4F1EA"/>
          </a:solidFill>
          <a:ln w="12700">
            <a:solidFill>
              <a:srgbClr val="F4F1EA"/>
            </a:solidFill>
            <a:prstDash val="solid"/>
          </a:ln>
        </p:spPr>
      </p:sp>
      <p:sp>
        <p:nvSpPr>
          <p:cNvPr id="85" name="Text 8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86" name="Shape 83"/>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87" name="Text 84"/>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languages</a:t>
            </a:r>
            <a:endParaRPr lang="en-US" sz="800" dirty="0"/>
          </a:p>
        </p:txBody>
      </p:sp>
      <p:sp>
        <p:nvSpPr>
          <p:cNvPr id="88" name="Shape 8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9" name="Text 8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0" name="Text 8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العَرَبِيَّةُ · الإِنْجِلِيزِيَّةُ</a:t>
            </a:r>
            <a:endParaRPr lang="ar-SA" sz="3000" dirty="0"/>
          </a:p>
        </p:txBody>
      </p:sp>
      <p:sp>
        <p:nvSpPr>
          <p:cNvPr id="91" name="Text 8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 · English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al-ʿa-ra-biy-ya · al-in-ji-lī-ziy-ya</a:t>
            </a:r>
            <a:endParaRPr lang="en-US" sz="1350" dirty="0"/>
          </a:p>
        </p:txBody>
      </p:sp>
      <p:sp>
        <p:nvSpPr>
          <p:cNvPr id="92" name="Text 8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Languages are feminine and take </a:t>
            </a:r>
            <a:pPr algn="l" indent="0" marL="0">
              <a:buNone/>
            </a:pPr>
            <a:r>
              <a:rPr lang="ar-SA" altLang="en-US" sz="1300" dirty="0">
                <a:solidFill>
                  <a:srgbClr val="8A6D1E"/>
                </a:solidFill>
                <a:latin typeface="Amiri" pitchFamily="34" charset="0"/>
                <a:ea typeface="Amiri" pitchFamily="34" charset="-122"/>
                <a:cs typeface="Amiri" pitchFamily="34" charset="-120"/>
              </a:rPr>
              <a:t>ال</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93" name="Shape 9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566928" y="4261104"/>
            <a:ext cx="310896" cy="310896"/>
          </a:xfrm>
          <a:prstGeom prst="ellipse">
            <a:avLst/>
          </a:prstGeom>
          <a:solidFill>
            <a:srgbClr val="F4F1EA"/>
          </a:solidFill>
          <a:ln w="12700">
            <a:solidFill>
              <a:srgbClr val="F4F1EA"/>
            </a:solidFill>
            <a:prstDash val="solid"/>
          </a:ln>
        </p:spPr>
      </p:sp>
      <p:sp>
        <p:nvSpPr>
          <p:cNvPr id="95" name="Text 9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6" name="Shape 93"/>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7" name="Text 94"/>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languages</a:t>
            </a:r>
            <a:endParaRPr lang="en-US" sz="800" dirty="0"/>
          </a:p>
        </p:txBody>
      </p:sp>
      <p:sp>
        <p:nvSpPr>
          <p:cNvPr id="98" name="Text 9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الفَرَنْسِيَّةُ · الأُرْدِيَّةُ</a:t>
            </a:r>
            <a:endParaRPr lang="ar-SA" sz="3000" dirty="0"/>
          </a:p>
        </p:txBody>
      </p:sp>
      <p:sp>
        <p:nvSpPr>
          <p:cNvPr id="99" name="Text 9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French · Urdu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al-fa-ran-siy-ya · al-ur-diy-ya</a:t>
            </a:r>
            <a:endParaRPr lang="en-US" sz="1350" dirty="0"/>
          </a:p>
        </p:txBody>
      </p:sp>
      <p:sp>
        <p:nvSpPr>
          <p:cNvPr id="100" name="Text 9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Add yours: </a:t>
            </a:r>
            <a:pPr algn="l" indent="0" marL="0">
              <a:buNone/>
            </a:pPr>
            <a:r>
              <a:rPr lang="ar-SA" altLang="en-US" sz="1300" dirty="0">
                <a:solidFill>
                  <a:srgbClr val="8A6D1E"/>
                </a:solidFill>
                <a:latin typeface="Amiri" pitchFamily="34" charset="0"/>
                <a:ea typeface="Amiri" pitchFamily="34" charset="-122"/>
                <a:cs typeface="Amiri" pitchFamily="34" charset="-120"/>
              </a:rPr>
              <a:t>البِنْغَالِيَّةُ، الصُّومَالِيَّةُ</a:t>
            </a:r>
            <a:pPr algn="l" indent="0" marL="0">
              <a:buNone/>
            </a:pPr>
            <a:r>
              <a:rPr lang="en-US" sz="1000" i="1" dirty="0">
                <a:solidFill>
                  <a:srgbClr val="8A6D1E"/>
                </a:solidFill>
                <a:latin typeface="Calibri" pitchFamily="34" charset="0"/>
                <a:ea typeface="Calibri" pitchFamily="34" charset="-122"/>
                <a:cs typeface="Calibri" pitchFamily="34" charset="-120"/>
              </a:rPr>
              <a:t> …</a:t>
            </a:r>
            <a:endParaRPr lang="en-US" sz="10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MATCH THE NATIONALITY TO THE PERSON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Boy or girl? Listen for the ending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الجِنْسِيَّةَ مَعَ الشَّخْصِ</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7200" b="1" dirty="0">
                <a:solidFill>
                  <a:srgbClr val="C77700"/>
                </a:solidFill>
                <a:latin typeface="Amiri" pitchFamily="34" charset="0"/>
                <a:ea typeface="Amiri" pitchFamily="34" charset="-122"/>
                <a:cs typeface="Amiri" pitchFamily="34" charset="-120"/>
              </a:rPr>
              <a:t>مِصْرِ</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a-nā miṣ-riy-ya · I am Egyptian (a girl speaking)</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أَنَا</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I</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person the sentence describes.</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C7770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C77700"/>
                </a:solidFill>
                <a:latin typeface="Amiri" pitchFamily="34" charset="0"/>
                <a:ea typeface="Amiri" pitchFamily="34" charset="-122"/>
                <a:cs typeface="Amiri" pitchFamily="34" charset="-120"/>
              </a:rPr>
              <a:t>مِصْرِ</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C77700"/>
                </a:solidFill>
                <a:latin typeface="Calibri" pitchFamily="34" charset="0"/>
                <a:ea typeface="Calibri" pitchFamily="34" charset="-122"/>
                <a:cs typeface="Calibri" pitchFamily="34" charset="-120"/>
              </a:rPr>
              <a:t>PATTERN: the country</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ar-SA" altLang="en-US" sz="1500" dirty="0">
                <a:solidFill>
                  <a:srgbClr val="5A6472"/>
                </a:solidFill>
                <a:latin typeface="Amiri" pitchFamily="34" charset="0"/>
                <a:ea typeface="Amiri" pitchFamily="34" charset="-122"/>
                <a:cs typeface="Amiri" pitchFamily="34" charset="-120"/>
              </a:rPr>
              <a:t>مِصْرُ</a:t>
            </a:r>
            <a:pPr algn="l" indent="0" marL="0">
              <a:buNone/>
            </a:pPr>
            <a:r>
              <a:rPr lang="en-US" sz="1150" dirty="0">
                <a:solidFill>
                  <a:srgbClr val="5A6472"/>
                </a:solidFill>
                <a:latin typeface="Calibri" pitchFamily="34" charset="0"/>
                <a:ea typeface="Calibri" pitchFamily="34" charset="-122"/>
                <a:cs typeface="Calibri" pitchFamily="34" charset="-120"/>
              </a:rPr>
              <a:t> → </a:t>
            </a:r>
            <a:pPr algn="l" indent="0" marL="0">
              <a:buNone/>
            </a:pPr>
            <a:r>
              <a:rPr lang="ar-SA" altLang="en-US" sz="1500" dirty="0">
                <a:solidFill>
                  <a:srgbClr val="5A6472"/>
                </a:solidFill>
                <a:latin typeface="Amiri" pitchFamily="34" charset="0"/>
                <a:ea typeface="Amiri" pitchFamily="34" charset="-122"/>
                <a:cs typeface="Amiri" pitchFamily="34" charset="-120"/>
              </a:rPr>
              <a:t>مِصْرِ</a:t>
            </a:r>
            <a:pPr algn="l" indent="0" marL="0">
              <a:buNone/>
            </a:pPr>
            <a:r>
              <a:rPr lang="en-US" sz="1150" dirty="0">
                <a:solidFill>
                  <a:srgbClr val="5A6472"/>
                </a:solidFill>
                <a:latin typeface="Calibri" pitchFamily="34" charset="0"/>
                <a:ea typeface="Calibri" pitchFamily="34" charset="-122"/>
                <a:cs typeface="Calibri" pitchFamily="34" charset="-120"/>
              </a:rPr>
              <a:t>… (drop </a:t>
            </a:r>
            <a:pPr algn="l" indent="0" marL="0">
              <a:buNone/>
            </a:pPr>
            <a:r>
              <a:rPr lang="ar-SA" altLang="en-US" sz="1500" dirty="0">
                <a:solidFill>
                  <a:srgbClr val="5A6472"/>
                </a:solidFill>
                <a:latin typeface="Amiri" pitchFamily="34" charset="0"/>
                <a:ea typeface="Amiri" pitchFamily="34" charset="-122"/>
                <a:cs typeface="Amiri" pitchFamily="34" charset="-120"/>
              </a:rPr>
              <a:t>ال</a:t>
            </a:r>
            <a:pPr algn="l" indent="0" marL="0">
              <a:buNone/>
            </a:pPr>
            <a:r>
              <a:rPr lang="en-US" sz="1150" dirty="0">
                <a:solidFill>
                  <a:srgbClr val="5A6472"/>
                </a:solidFill>
                <a:latin typeface="Calibri" pitchFamily="34" charset="0"/>
                <a:ea typeface="Calibri" pitchFamily="34" charset="-122"/>
                <a:cs typeface="Calibri" pitchFamily="34" charset="-120"/>
              </a:rPr>
              <a:t> if there is one).</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 / 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m. / f.</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-iyy for a boy · -iyya for a girl.</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ORIGIN, NATIONALITY OR LANGUAGE?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Three identity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أَيْنَ؟ · الجِنْسِيَّةُ · اللُّغَةُ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690104"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boy</a:t>
            </a:r>
            <a:endParaRPr lang="en-US" sz="1100" dirty="0"/>
          </a:p>
        </p:txBody>
      </p:sp>
      <p:sp>
        <p:nvSpPr>
          <p:cNvPr id="17" name="Text 14"/>
          <p:cNvSpPr txBox="1"/>
          <p:nvPr/>
        </p:nvSpPr>
        <p:spPr>
          <a:xfrm>
            <a:off x="34564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 girl</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it tells you</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708392" y="2286000"/>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لُبْنَانَ.</a:t>
            </a:r>
            <a:endParaRPr lang="ar-SA" sz="2100" dirty="0"/>
          </a:p>
        </p:txBody>
      </p:sp>
      <p:sp>
        <p:nvSpPr>
          <p:cNvPr id="21" name="Text 18"/>
          <p:cNvSpPr txBox="1"/>
          <p:nvPr/>
        </p:nvSpPr>
        <p:spPr>
          <a:xfrm>
            <a:off x="7662672" y="2706624"/>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from Lebanon.</a:t>
            </a:r>
            <a:endParaRPr lang="en-US" sz="950" dirty="0"/>
          </a:p>
        </p:txBody>
      </p:sp>
      <p:sp>
        <p:nvSpPr>
          <p:cNvPr id="22" name="Text 19"/>
          <p:cNvSpPr txBox="1"/>
          <p:nvPr/>
        </p:nvSpPr>
        <p:spPr>
          <a:xfrm>
            <a:off x="3474720" y="2286000"/>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100" b="1" dirty="0">
                <a:solidFill>
                  <a:srgbClr val="0E7C86"/>
                </a:solidFill>
                <a:latin typeface="Amiri" pitchFamily="34" charset="0"/>
                <a:ea typeface="Amiri" pitchFamily="34" charset="-122"/>
                <a:cs typeface="Amiri" pitchFamily="34" charset="-120"/>
              </a:rPr>
              <a:t>مِنْ</a:t>
            </a:r>
            <a:pPr rtl="1" algn="ctr" indent="0" marL="0">
              <a:buNone/>
            </a:pPr>
            <a:r>
              <a:rPr lang="ar-SA" altLang="en-US" sz="2100" b="1" dirty="0">
                <a:solidFill>
                  <a:srgbClr val="1B3B6F"/>
                </a:solidFill>
                <a:latin typeface="Amiri" pitchFamily="34" charset="0"/>
                <a:ea typeface="Amiri" pitchFamily="34" charset="-122"/>
                <a:cs typeface="Amiri" pitchFamily="34" charset="-120"/>
              </a:rPr>
              <a:t> لُبْنَانَ.</a:t>
            </a:r>
            <a:endParaRPr lang="ar-SA" sz="2100" dirty="0"/>
          </a:p>
        </p:txBody>
      </p:sp>
      <p:sp>
        <p:nvSpPr>
          <p:cNvPr id="23" name="Text 20"/>
          <p:cNvSpPr txBox="1"/>
          <p:nvPr/>
        </p:nvSpPr>
        <p:spPr>
          <a:xfrm>
            <a:off x="3429000" y="2706624"/>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from Lebanon.</a:t>
            </a:r>
            <a:endParaRPr lang="en-US" sz="950" dirty="0"/>
          </a:p>
        </p:txBody>
      </p:sp>
      <p:sp>
        <p:nvSpPr>
          <p:cNvPr id="24" name="Text 21"/>
          <p:cNvSpPr txBox="1"/>
          <p:nvPr/>
        </p:nvSpPr>
        <p:spPr>
          <a:xfrm>
            <a:off x="566928"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ORIGIN: </a:t>
            </a:r>
            <a:pPr algn="l" indent="0" marL="0">
              <a:buNone/>
            </a:pPr>
            <a:r>
              <a:rPr lang="ar-SA" altLang="en-US" sz="1450" dirty="0">
                <a:solidFill>
                  <a:srgbClr val="5A6472"/>
                </a:solidFill>
                <a:latin typeface="Amiri" pitchFamily="34" charset="0"/>
                <a:ea typeface="Amiri" pitchFamily="34" charset="-122"/>
                <a:cs typeface="Amiri" pitchFamily="34" charset="-120"/>
              </a:rPr>
              <a:t>مِنْ</a:t>
            </a:r>
            <a:pPr algn="l" indent="0" marL="0">
              <a:buNone/>
            </a:pPr>
            <a:r>
              <a:rPr lang="en-US" sz="1100" dirty="0">
                <a:solidFill>
                  <a:srgbClr val="5A6472"/>
                </a:solidFill>
                <a:latin typeface="Calibri" pitchFamily="34" charset="0"/>
                <a:ea typeface="Calibri" pitchFamily="34" charset="-122"/>
                <a:cs typeface="Calibri" pitchFamily="34" charset="-120"/>
              </a:rPr>
              <a:t> + country (same for both)</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708392" y="3072384"/>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9" name="Text 26"/>
          <p:cNvSpPr txBox="1"/>
          <p:nvPr/>
        </p:nvSpPr>
        <p:spPr>
          <a:xfrm>
            <a:off x="7662672" y="3493008"/>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Lebanese.</a:t>
            </a:r>
            <a:endParaRPr lang="en-US" sz="950" dirty="0"/>
          </a:p>
        </p:txBody>
      </p:sp>
      <p:sp>
        <p:nvSpPr>
          <p:cNvPr id="30" name="Text 27"/>
          <p:cNvSpPr txBox="1"/>
          <p:nvPr/>
        </p:nvSpPr>
        <p:spPr>
          <a:xfrm>
            <a:off x="3474720" y="3072384"/>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أَنَا لُبْنَانِ</a:t>
            </a:r>
            <a:pPr rtl="1" algn="ctr" indent="0" marL="0">
              <a:buNone/>
            </a:pPr>
            <a:r>
              <a:rPr lang="ar-SA" altLang="en-US" sz="2100" b="1" dirty="0">
                <a:solidFill>
                  <a:srgbClr val="D6336C"/>
                </a:solidFill>
                <a:latin typeface="Amiri" pitchFamily="34" charset="0"/>
                <a:ea typeface="Amiri" pitchFamily="34" charset="-122"/>
                <a:cs typeface="Amiri" pitchFamily="34" charset="-120"/>
              </a:rPr>
              <a:t>يَّةٌ</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31" name="Text 28"/>
          <p:cNvSpPr txBox="1"/>
          <p:nvPr/>
        </p:nvSpPr>
        <p:spPr>
          <a:xfrm>
            <a:off x="3429000" y="3493008"/>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am Lebanese.</a:t>
            </a:r>
            <a:endParaRPr lang="en-US" sz="950" dirty="0"/>
          </a:p>
        </p:txBody>
      </p:sp>
      <p:sp>
        <p:nvSpPr>
          <p:cNvPr id="32" name="Text 29"/>
          <p:cNvSpPr txBox="1"/>
          <p:nvPr/>
        </p:nvSpPr>
        <p:spPr>
          <a:xfrm>
            <a:off x="566928"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NATIONALITY: the ending changes</a:t>
            </a:r>
            <a:endParaRPr lang="en-US" sz="1100" dirty="0"/>
          </a:p>
        </p:txBody>
      </p:sp>
      <p:sp>
        <p:nvSpPr>
          <p:cNvPr id="33" name="Shape 30"/>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6" name="Text 33"/>
          <p:cNvSpPr txBox="1"/>
          <p:nvPr/>
        </p:nvSpPr>
        <p:spPr>
          <a:xfrm>
            <a:off x="7708392" y="3858768"/>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تَكَلَّمُ العَرَبِيَّةَ.</a:t>
            </a:r>
            <a:endParaRPr lang="ar-SA" sz="2100" dirty="0"/>
          </a:p>
        </p:txBody>
      </p:sp>
      <p:sp>
        <p:nvSpPr>
          <p:cNvPr id="37" name="Text 34"/>
          <p:cNvSpPr txBox="1"/>
          <p:nvPr/>
        </p:nvSpPr>
        <p:spPr>
          <a:xfrm>
            <a:off x="7662672" y="4279392"/>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speak Arabic.</a:t>
            </a:r>
            <a:endParaRPr lang="en-US" sz="950" dirty="0"/>
          </a:p>
        </p:txBody>
      </p:sp>
      <p:sp>
        <p:nvSpPr>
          <p:cNvPr id="38" name="Text 35"/>
          <p:cNvSpPr txBox="1"/>
          <p:nvPr/>
        </p:nvSpPr>
        <p:spPr>
          <a:xfrm>
            <a:off x="3474720" y="3858768"/>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D5FBF"/>
                </a:solidFill>
                <a:latin typeface="Amiri" pitchFamily="34" charset="0"/>
                <a:ea typeface="Amiri" pitchFamily="34" charset="-122"/>
                <a:cs typeface="Amiri" pitchFamily="34" charset="-120"/>
              </a:rPr>
              <a:t>أَ</a:t>
            </a:r>
            <a:pPr rtl="1" algn="ctr" indent="0" marL="0">
              <a:buNone/>
            </a:pPr>
            <a:r>
              <a:rPr lang="ar-SA" altLang="en-US" sz="2100" b="1" dirty="0">
                <a:solidFill>
                  <a:srgbClr val="1B3B6F"/>
                </a:solidFill>
                <a:latin typeface="Amiri" pitchFamily="34" charset="0"/>
                <a:ea typeface="Amiri" pitchFamily="34" charset="-122"/>
                <a:cs typeface="Amiri" pitchFamily="34" charset="-120"/>
              </a:rPr>
              <a:t>تَكَلَّمُ العَرَبِيَّةَ.</a:t>
            </a:r>
            <a:endParaRPr lang="ar-SA" sz="2100" dirty="0"/>
          </a:p>
        </p:txBody>
      </p:sp>
      <p:sp>
        <p:nvSpPr>
          <p:cNvPr id="39" name="Text 36"/>
          <p:cNvSpPr txBox="1"/>
          <p:nvPr/>
        </p:nvSpPr>
        <p:spPr>
          <a:xfrm>
            <a:off x="3429000" y="4279392"/>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speak Arabic.</a:t>
            </a:r>
            <a:endParaRPr lang="en-US" sz="950" dirty="0"/>
          </a:p>
        </p:txBody>
      </p:sp>
      <p:sp>
        <p:nvSpPr>
          <p:cNvPr id="40" name="Text 37"/>
          <p:cNvSpPr txBox="1"/>
          <p:nvPr/>
        </p:nvSpPr>
        <p:spPr>
          <a:xfrm>
            <a:off x="566928"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LANGUAGE: the same for both</a:t>
            </a:r>
            <a:endParaRPr lang="en-US" sz="110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7708392" y="4645152"/>
            <a:ext cx="39319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أَكْتُبُ </a:t>
            </a:r>
            <a:pPr rtl="1" algn="ctr" indent="0" marL="0">
              <a:buNone/>
            </a:pPr>
            <a:r>
              <a:rPr lang="ar-SA" altLang="en-US" sz="2100" b="1" dirty="0">
                <a:solidFill>
                  <a:srgbClr val="0E7C86"/>
                </a:solidFill>
                <a:latin typeface="Amiri" pitchFamily="34" charset="0"/>
                <a:ea typeface="Amiri" pitchFamily="34" charset="-122"/>
                <a:cs typeface="Amiri" pitchFamily="34" charset="-120"/>
              </a:rPr>
              <a:t>بِ</a:t>
            </a:r>
            <a:pPr rtl="1" algn="ctr" indent="0" marL="0">
              <a:buNone/>
            </a:pPr>
            <a:r>
              <a:rPr lang="ar-SA" altLang="en-US" sz="2100" b="1" dirty="0">
                <a:solidFill>
                  <a:srgbClr val="1B3B6F"/>
                </a:solidFill>
                <a:latin typeface="Amiri" pitchFamily="34" charset="0"/>
                <a:ea typeface="Amiri" pitchFamily="34" charset="-122"/>
                <a:cs typeface="Amiri" pitchFamily="34" charset="-120"/>
              </a:rPr>
              <a:t>الإِنْجِلِيزِيَّةِ.</a:t>
            </a:r>
            <a:endParaRPr lang="ar-SA" sz="2100" dirty="0"/>
          </a:p>
        </p:txBody>
      </p:sp>
      <p:sp>
        <p:nvSpPr>
          <p:cNvPr id="43" name="Text 40"/>
          <p:cNvSpPr txBox="1"/>
          <p:nvPr/>
        </p:nvSpPr>
        <p:spPr>
          <a:xfrm>
            <a:off x="7662672" y="5065776"/>
            <a:ext cx="40233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write in English.</a:t>
            </a:r>
            <a:endParaRPr lang="en-US" sz="950" dirty="0"/>
          </a:p>
        </p:txBody>
      </p:sp>
      <p:sp>
        <p:nvSpPr>
          <p:cNvPr id="44" name="Text 41"/>
          <p:cNvSpPr txBox="1"/>
          <p:nvPr/>
        </p:nvSpPr>
        <p:spPr>
          <a:xfrm>
            <a:off x="3474720" y="4645152"/>
            <a:ext cx="4050792"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أَكْتُبُ </a:t>
            </a:r>
            <a:pPr rtl="1" algn="ctr" indent="0" marL="0">
              <a:buNone/>
            </a:pPr>
            <a:r>
              <a:rPr lang="ar-SA" altLang="en-US" sz="2100" b="1" dirty="0">
                <a:solidFill>
                  <a:srgbClr val="0E7C86"/>
                </a:solidFill>
                <a:latin typeface="Amiri" pitchFamily="34" charset="0"/>
                <a:ea typeface="Amiri" pitchFamily="34" charset="-122"/>
                <a:cs typeface="Amiri" pitchFamily="34" charset="-120"/>
              </a:rPr>
              <a:t>بِ</a:t>
            </a:r>
            <a:pPr rtl="1" algn="ctr" indent="0" marL="0">
              <a:buNone/>
            </a:pPr>
            <a:r>
              <a:rPr lang="ar-SA" altLang="en-US" sz="2100" b="1" dirty="0">
                <a:solidFill>
                  <a:srgbClr val="1B3B6F"/>
                </a:solidFill>
                <a:latin typeface="Amiri" pitchFamily="34" charset="0"/>
                <a:ea typeface="Amiri" pitchFamily="34" charset="-122"/>
                <a:cs typeface="Amiri" pitchFamily="34" charset="-120"/>
              </a:rPr>
              <a:t>الإِنْجِلِيزِيَّةِ.</a:t>
            </a:r>
            <a:endParaRPr lang="ar-SA" sz="2100" dirty="0"/>
          </a:p>
        </p:txBody>
      </p:sp>
      <p:sp>
        <p:nvSpPr>
          <p:cNvPr id="45" name="Text 42"/>
          <p:cNvSpPr txBox="1"/>
          <p:nvPr/>
        </p:nvSpPr>
        <p:spPr>
          <a:xfrm>
            <a:off x="3429000" y="5065776"/>
            <a:ext cx="414223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write in English.</a:t>
            </a:r>
            <a:endParaRPr lang="en-US" sz="950" dirty="0"/>
          </a:p>
        </p:txBody>
      </p:sp>
      <p:sp>
        <p:nvSpPr>
          <p:cNvPr id="46" name="Text 43"/>
          <p:cNvSpPr txBox="1"/>
          <p:nvPr/>
        </p:nvSpPr>
        <p:spPr>
          <a:xfrm>
            <a:off x="566928"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WRITE IN: bi- + the language</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Only the NATIONALITY changes for a boy or a girl.</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boy from Egypt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مِصْرِيٌّ.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from Syria says …</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speak Arabic’ ?</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العَرَبِيَّةَ.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العَرَبِيَّةَ.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العَرَبِيَّةَ.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nationality.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جِنْسِيَّتُكِ؟</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جِنْسِيَّتُكَ؟</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عُمْرُكِ؟</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boy from Egypt says …</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مِصْرِيَّةٌ.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مِصْرَ.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مِصْرِيٌّ.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nisba adjective ends in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girl from Syria says …</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سُورِيَّةٌ.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nationality ends in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‘I speak Arabic’ ?</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أَفْهَمُ العَرَبِيَّةَ.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أَتَكَلَّمُ العَرَبِيَّةَ.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أَكْتُبُ العَرَبِيَّةَ.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أَتَكَلَّمُ</a:t>
            </a:r>
            <a:pPr algn="l" indent="0" marL="0">
              <a:buNone/>
            </a:pPr>
            <a:r>
              <a:rPr lang="en-US" sz="1050" i="1" dirty="0">
                <a:solidFill>
                  <a:srgbClr val="8A6D1E"/>
                </a:solidFill>
                <a:latin typeface="Calibri" pitchFamily="34" charset="0"/>
                <a:ea typeface="Calibri" pitchFamily="34" charset="-122"/>
                <a:cs typeface="Calibri" pitchFamily="34" charset="-120"/>
              </a:rPr>
              <a:t> means ‘I speak’.</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question to ask a girl her nationality.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جِنْسِيَّتُكِ؟</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جِنْسِيَّتُكَ؟</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عُمْرُكِ؟</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final -ki addresses one girl or woman.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an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اِسْمِي خَالِدٌ.</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Start with the name (F2-L02).</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Origin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أَنَا </a:t>
            </a:r>
            <a:pPr rtl="1" algn="ctr" indent="0" marL="0">
              <a:buNone/>
            </a:pPr>
            <a:r>
              <a:rPr lang="ar-SA" altLang="en-US" sz="2800" b="1" dirty="0">
                <a:solidFill>
                  <a:srgbClr val="0E7C86"/>
                </a:solidFill>
                <a:latin typeface="Amiri" pitchFamily="34" charset="0"/>
                <a:ea typeface="Amiri" pitchFamily="34" charset="-122"/>
                <a:cs typeface="Amiri" pitchFamily="34" charset="-120"/>
              </a:rPr>
              <a:t>مِنَ</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العِرَاقِ.</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 + the country. (</a:t>
            </a:r>
            <a:pPr algn="l" indent="0" marL="0">
              <a:buNone/>
            </a:pPr>
            <a:r>
              <a:rPr lang="ar-SA" altLang="en-US" sz="1500" dirty="0">
                <a:solidFill>
                  <a:srgbClr val="1F2A37"/>
                </a:solidFill>
                <a:latin typeface="Amiri" pitchFamily="34" charset="0"/>
                <a:ea typeface="Amiri" pitchFamily="34" charset="-122"/>
                <a:cs typeface="Amiri" pitchFamily="34" charset="-120"/>
              </a:rPr>
              <a:t>مِنَ</a:t>
            </a:r>
            <a:pPr algn="l" indent="0" marL="0">
              <a:buNone/>
            </a:pPr>
            <a:r>
              <a:rPr lang="en-US" sz="1150" dirty="0">
                <a:solidFill>
                  <a:srgbClr val="1F2A37"/>
                </a:solidFill>
                <a:latin typeface="Calibri" pitchFamily="34" charset="0"/>
                <a:ea typeface="Calibri" pitchFamily="34" charset="-122"/>
                <a:cs typeface="Calibri" pitchFamily="34" charset="-120"/>
              </a:rPr>
              <a:t> before </a:t>
            </a:r>
            <a:pPr algn="l" indent="0" marL="0">
              <a:buNone/>
            </a:pPr>
            <a:r>
              <a:rPr lang="ar-SA" altLang="en-US" sz="1500" dirty="0">
                <a:solidFill>
                  <a:srgbClr val="1F2A37"/>
                </a:solidFill>
                <a:latin typeface="Amiri" pitchFamily="34" charset="0"/>
                <a:ea typeface="Amiri" pitchFamily="34" charset="-122"/>
                <a:cs typeface="Amiri" pitchFamily="34" charset="-120"/>
              </a:rPr>
              <a:t>ال</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Nationality</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أَنَا عِرَاقِ</a:t>
            </a:r>
            <a:pPr rtl="1" algn="ctr" indent="0" marL="0">
              <a:buNone/>
            </a:pPr>
            <a:r>
              <a:rPr lang="ar-SA" altLang="en-US" sz="2800" b="1" dirty="0">
                <a:solidFill>
                  <a:srgbClr val="D6336C"/>
                </a:solidFill>
                <a:latin typeface="Amiri" pitchFamily="34" charset="0"/>
                <a:ea typeface="Amiri" pitchFamily="34" charset="-122"/>
                <a:cs typeface="Amiri" pitchFamily="34" charset="-120"/>
              </a:rPr>
              <a:t>يٌّ</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Khalid is a boy: -iyy.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Languages</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D5FBF"/>
                </a:solidFill>
                <a:latin typeface="Amiri" pitchFamily="34" charset="0"/>
                <a:ea typeface="Amiri" pitchFamily="34" charset="-122"/>
                <a:cs typeface="Amiri" pitchFamily="34" charset="-120"/>
              </a:rPr>
              <a:t>أَ</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تَكَلَّمُ العَرَبِيَّةَ </a:t>
            </a:r>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وَ</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الإِنْجِلِيزِيَّةَ.</a:t>
            </a:r>
            <a:endParaRPr lang="ar-SA" sz="18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speak + language, and </a:t>
            </a:r>
            <a:pPr algn="l" indent="0" marL="0">
              <a:buNone/>
            </a:pPr>
            <a:r>
              <a:rPr lang="ar-SA" altLang="en-US" sz="1500" dirty="0">
                <a:solidFill>
                  <a:srgbClr val="1F2A37"/>
                </a:solidFill>
                <a:latin typeface="Amiri" pitchFamily="34" charset="0"/>
                <a:ea typeface="Amiri" pitchFamily="34" charset="-122"/>
                <a:cs typeface="Amiri" pitchFamily="34" charset="-120"/>
              </a:rPr>
              <a:t>وَ</a:t>
            </a:r>
            <a:pPr algn="l" indent="0" marL="0">
              <a:buNone/>
            </a:pPr>
            <a:r>
              <a:rPr lang="en-US" sz="1150" dirty="0">
                <a:solidFill>
                  <a:srgbClr val="1F2A37"/>
                </a:solidFill>
                <a:latin typeface="Calibri" pitchFamily="34" charset="0"/>
                <a:ea typeface="Calibri" pitchFamily="34" charset="-122"/>
                <a:cs typeface="Calibri" pitchFamily="34" charset="-120"/>
              </a:rPr>
              <a:t> joins the second one.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LINK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مَرْحَبًا. اِسْمِي خَالِدٌ. أَنَا </a:t>
            </a:r>
            <a:pPr rtl="1" algn="r" indent="0" marL="0">
              <a:buNone/>
            </a:pPr>
            <a:r>
              <a:rPr lang="ar-SA" altLang="en-US" sz="2600" b="1" dirty="0">
                <a:solidFill>
                  <a:srgbClr val="0E7C86"/>
                </a:solidFill>
                <a:latin typeface="Amiri" pitchFamily="34" charset="0"/>
                <a:ea typeface="Amiri" pitchFamily="34" charset="-122"/>
                <a:cs typeface="Amiri" pitchFamily="34" charset="-120"/>
              </a:rPr>
              <a:t>مِنَ</a:t>
            </a:r>
            <a:pPr rtl="1" algn="r" indent="0" marL="0">
              <a:buNone/>
            </a:pPr>
            <a:r>
              <a:rPr lang="ar-SA" altLang="en-US" sz="2600" b="1" dirty="0">
                <a:solidFill>
                  <a:srgbClr val="1B3B6F"/>
                </a:solidFill>
                <a:latin typeface="Amiri" pitchFamily="34" charset="0"/>
                <a:ea typeface="Amiri" pitchFamily="34" charset="-122"/>
                <a:cs typeface="Amiri" pitchFamily="34" charset="-120"/>
              </a:rPr>
              <a:t> العِرَاقِ. أَنَا عِرَاقِ</a:t>
            </a:r>
            <a:pPr rtl="1" algn="r" indent="0" marL="0">
              <a:buNone/>
            </a:pPr>
            <a:r>
              <a:rPr lang="ar-SA" altLang="en-US" sz="2600" b="1" dirty="0">
                <a:solidFill>
                  <a:srgbClr val="D6336C"/>
                </a:solidFill>
                <a:latin typeface="Amiri" pitchFamily="34" charset="0"/>
                <a:ea typeface="Amiri" pitchFamily="34" charset="-122"/>
                <a:cs typeface="Amiri" pitchFamily="34" charset="-120"/>
              </a:rPr>
              <a:t>يٌّ</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1D5FBF"/>
                </a:solidFill>
                <a:latin typeface="Amiri" pitchFamily="34" charset="0"/>
                <a:ea typeface="Amiri" pitchFamily="34" charset="-122"/>
                <a:cs typeface="Amiri" pitchFamily="34" charset="-120"/>
              </a:rPr>
              <a:t>أَ</a:t>
            </a:r>
            <a:pPr rtl="1" algn="r" indent="0" marL="0">
              <a:buNone/>
            </a:pPr>
            <a:r>
              <a:rPr lang="ar-SA" altLang="en-US" sz="2600" b="1" dirty="0">
                <a:solidFill>
                  <a:srgbClr val="1B3B6F"/>
                </a:solidFill>
                <a:latin typeface="Amiri" pitchFamily="34" charset="0"/>
                <a:ea typeface="Amiri" pitchFamily="34" charset="-122"/>
                <a:cs typeface="Amiri" pitchFamily="34" charset="-120"/>
              </a:rPr>
              <a:t>تَكَلَّمُ العَرَبِيَّةَ </a:t>
            </a:r>
            <a:pPr rtl="1" algn="r" indent="0" marL="0">
              <a:buNone/>
            </a:pPr>
            <a:r>
              <a:rPr lang="ar-SA" altLang="en-US" sz="2600" b="1" dirty="0">
                <a:solidFill>
                  <a:srgbClr val="0E7C86"/>
                </a:solidFill>
                <a:latin typeface="Amiri" pitchFamily="34" charset="0"/>
                <a:ea typeface="Amiri" pitchFamily="34" charset="-122"/>
                <a:cs typeface="Amiri" pitchFamily="34" charset="-120"/>
              </a:rPr>
              <a:t>وَ</a:t>
            </a:r>
            <a:pPr rtl="1" algn="r" indent="0" marL="0">
              <a:buNone/>
            </a:pPr>
            <a:r>
              <a:rPr lang="ar-SA" altLang="en-US" sz="2600" b="1" dirty="0">
                <a:solidFill>
                  <a:srgbClr val="1B3B6F"/>
                </a:solidFill>
                <a:latin typeface="Amiri" pitchFamily="34" charset="0"/>
                <a:ea typeface="Amiri" pitchFamily="34" charset="-122"/>
                <a:cs typeface="Amiri" pitchFamily="34" charset="-120"/>
              </a:rPr>
              <a:t>الإِنْجِلِيزِيَّةَ.</a:t>
            </a:r>
            <a:endParaRPr lang="ar-SA" sz="26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Hello. My name is Khalid. I am from Iraq. I am Iraqi. I speak Arabic and English.</a:t>
            </a:r>
            <a:endParaRPr lang="en-US" sz="13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03" b="1" spc="150" kern="0" dirty="0">
                <a:solidFill>
                  <a:srgbClr val="2F6FB0"/>
                </a:solidFill>
                <a:latin typeface="Calibri" pitchFamily="34" charset="0"/>
                <a:ea typeface="Calibri" pitchFamily="34" charset="-122"/>
                <a:cs typeface="Calibri" pitchFamily="34" charset="-120"/>
              </a:rPr>
              <a:t>WE DO · PICTURE MATCH · WEBSITE GAME “VISUAL GAME — NATIONALITY AND LANGUAGE”</a:t>
            </a:r>
            <a:endParaRPr lang="en-US" sz="90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Egypt</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Saudi Arabia</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speaks French</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سَعُودِيَّةٌ.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هِيَ تَتَكَلَّمُ الفَرَنْسِيَّةَ.</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هُوَ مِصْرِيٌّ.</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الدُّوَلُ وَاللُّغَاتُ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boy · Egypt</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 مِصْرِيٌّ.</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He is Egyptian.</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Saudi Arabia</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سَعُودِيَّةٌ.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is Saudi.</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girl · speaks French</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تَتَكَلَّمُ الفَرَنْسِيَّةَ.</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She speaks French.</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DECISION CHECK (CONTINUED) AND CHECKPOINT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Choose the accurate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اِخْتَرِ الشَّكْلَ الصَّحِيحَ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أَنَا مِنَ العِرَاقِ. أَنَا …</a:t>
            </a:r>
            <a:endParaRPr lang="ar-SA" sz="15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the natural way to say ‘I write in Arabic’ ?</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العَرَبِيَّةَ مِنْ.</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عَرَبِيَّةٌ.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بِالعَرَبِيَّةِ.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from Morocco says …</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مَغْرِبِيٌّ.</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مَغْرِبِيَّةٍ.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مَغْرِبِيَّةٌ.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9" name="Text 56"/>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34" charset="0"/>
                <a:ea typeface="Amiri" pitchFamily="34" charset="-122"/>
                <a:cs typeface="Amiri" pitchFamily="34" charset="-120"/>
              </a:rPr>
              <a:t>أَنَا مِنْ لُبْنَانَ</a:t>
            </a:r>
            <a:pPr algn="l" indent="0" marL="0">
              <a:buNone/>
            </a:pPr>
            <a:r>
              <a:rPr lang="en-US" sz="1450" b="1" dirty="0">
                <a:solidFill>
                  <a:srgbClr val="1B3B6F"/>
                </a:solidFill>
                <a:latin typeface="Calibri" pitchFamily="34" charset="0"/>
                <a:ea typeface="Calibri" pitchFamily="34" charset="-122"/>
                <a:cs typeface="Calibri" pitchFamily="34" charset="-120"/>
              </a:rPr>
              <a:t>. </a:t>
            </a:r>
            <a:pPr algn="l" indent="0" marL="0">
              <a:buNone/>
            </a:pPr>
            <a:r>
              <a:rPr lang="ar-SA" altLang="en-US" sz="1900" b="1" dirty="0">
                <a:solidFill>
                  <a:srgbClr val="1B3B6F"/>
                </a:solidFill>
                <a:latin typeface="Amiri" pitchFamily="34" charset="0"/>
                <a:ea typeface="Amiri" pitchFamily="34" charset="-122"/>
                <a:cs typeface="Amiri" pitchFamily="34" charset="-120"/>
              </a:rPr>
              <a:t>أَنَا</a:t>
            </a:r>
            <a:pPr algn="l" indent="0" marL="0">
              <a:buNone/>
            </a:pPr>
            <a:r>
              <a:rPr lang="en-US" sz="1450" b="1" dirty="0">
                <a:solidFill>
                  <a:srgbClr val="1B3B6F"/>
                </a:solidFill>
                <a:latin typeface="Calibri" pitchFamily="34" charset="0"/>
                <a:ea typeface="Calibri" pitchFamily="34" charset="-122"/>
                <a:cs typeface="Calibri" pitchFamily="34" charset="-120"/>
              </a:rPr>
              <a:t> … (girl)</a:t>
            </a:r>
            <a:endParaRPr lang="en-US" sz="14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2" name="Text 69"/>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Boy → -iyy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Girl → -iyya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Write in → bi-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34" charset="0"/>
                <a:ea typeface="Amiri" pitchFamily="34" charset="-122"/>
                <a:cs typeface="Amiri" pitchFamily="34" charset="-120"/>
              </a:rPr>
              <a:t>أَنَا مِنَ العِرَاقِ. أَنَا …</a:t>
            </a:r>
            <a:endParaRPr lang="ar-SA" sz="1550" dirty="0"/>
          </a:p>
        </p:txBody>
      </p:sp>
      <p:sp>
        <p:nvSpPr>
          <p:cNvPr id="20" name="Shape 17"/>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490216"/>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عِرَاقِيٌّ</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عِرَاقِيَّةٌ</a:t>
            </a:r>
            <a:endParaRPr lang="ar-SA" sz="1700" dirty="0"/>
          </a:p>
        </p:txBody>
      </p:sp>
      <p:sp>
        <p:nvSpPr>
          <p:cNvPr id="27" name="Shape 24"/>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العِرَاق</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is presented as male, so use </a:t>
            </a:r>
            <a:pPr algn="l" indent="0" marL="0">
              <a:buNone/>
            </a:pPr>
            <a:r>
              <a:rPr lang="ar-SA" altLang="en-US" sz="1350" dirty="0">
                <a:solidFill>
                  <a:srgbClr val="8A6D1E"/>
                </a:solidFill>
                <a:latin typeface="Amiri" pitchFamily="34" charset="0"/>
                <a:ea typeface="Amiri" pitchFamily="34" charset="-122"/>
                <a:cs typeface="Amiri" pitchFamily="34" charset="-120"/>
              </a:rPr>
              <a:t>عِرَاقِيٌّ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the natural way to say ‘I write in Arabic’ ?</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أَكْتُبُ العَرَبِيَّةَ مِنْ.</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عَرَبِيَّةٌ.</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أَكْتُبُ بِالعَرَبِيَّةِ.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 with the language used for writing.</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female speaker from Morocco says …</a:t>
            </a:r>
            <a:endParaRPr lang="en-US" sz="12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مَغْرِبِيٌّ.</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مِنْ مَغْرِبِيَّةٍ.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مَغْرِبِيَّةٌ.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nisba form is </a:t>
            </a:r>
            <a:pPr algn="l" indent="0" marL="0">
              <a:buNone/>
            </a:pPr>
            <a:r>
              <a:rPr lang="ar-SA" altLang="en-US" sz="1350" dirty="0">
                <a:solidFill>
                  <a:srgbClr val="8A6D1E"/>
                </a:solidFill>
                <a:latin typeface="Amiri" pitchFamily="34" charset="0"/>
                <a:ea typeface="Amiri" pitchFamily="34" charset="-122"/>
                <a:cs typeface="Amiri" pitchFamily="34" charset="-120"/>
              </a:rPr>
              <a:t>مَغْرِبِيَّةٌ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5" name="Text 62"/>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900" b="1" dirty="0">
                <a:solidFill>
                  <a:srgbClr val="1B3B6F"/>
                </a:solidFill>
                <a:latin typeface="Amiri" pitchFamily="34" charset="0"/>
                <a:ea typeface="Amiri" pitchFamily="34" charset="-122"/>
                <a:cs typeface="Amiri" pitchFamily="34" charset="-120"/>
              </a:rPr>
              <a:t>أَنَا مِنْ لُبْنَانَ</a:t>
            </a:r>
            <a:pPr algn="l" indent="0" marL="0">
              <a:buNone/>
            </a:pPr>
            <a:r>
              <a:rPr lang="en-US" sz="1450" b="1" dirty="0">
                <a:solidFill>
                  <a:srgbClr val="1B3B6F"/>
                </a:solidFill>
                <a:latin typeface="Calibri" pitchFamily="34" charset="0"/>
                <a:ea typeface="Calibri" pitchFamily="34" charset="-122"/>
                <a:cs typeface="Calibri" pitchFamily="34" charset="-120"/>
              </a:rPr>
              <a:t>. </a:t>
            </a:r>
            <a:pPr algn="l" indent="0" marL="0">
              <a:buNone/>
            </a:pPr>
            <a:r>
              <a:rPr lang="ar-SA" altLang="en-US" sz="1900" b="1" dirty="0">
                <a:solidFill>
                  <a:srgbClr val="1B3B6F"/>
                </a:solidFill>
                <a:latin typeface="Amiri" pitchFamily="34" charset="0"/>
                <a:ea typeface="Amiri" pitchFamily="34" charset="-122"/>
                <a:cs typeface="Amiri" pitchFamily="34" charset="-120"/>
              </a:rPr>
              <a:t>أَنَا</a:t>
            </a:r>
            <a:pPr algn="l" indent="0" marL="0">
              <a:buNone/>
            </a:pPr>
            <a:r>
              <a:rPr lang="en-US" sz="1450" b="1" dirty="0">
                <a:solidFill>
                  <a:srgbClr val="1B3B6F"/>
                </a:solidFill>
                <a:latin typeface="Calibri" pitchFamily="34" charset="0"/>
                <a:ea typeface="Calibri" pitchFamily="34" charset="-122"/>
                <a:cs typeface="Calibri" pitchFamily="34" charset="-120"/>
              </a:rPr>
              <a:t> … (girl)</a:t>
            </a:r>
            <a:endParaRPr lang="en-US" sz="1450" dirty="0"/>
          </a:p>
        </p:txBody>
      </p:sp>
      <p:sp>
        <p:nvSpPr>
          <p:cNvPr id="66" name="Shape 63"/>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40080"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لُبْنَانِيَّةٌ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feminine nationality form </a:t>
            </a:r>
            <a:pPr algn="l" indent="0" marL="0">
              <a:buNone/>
            </a:pPr>
            <a:r>
              <a:rPr lang="ar-SA" altLang="en-US" sz="1350" dirty="0">
                <a:solidFill>
                  <a:srgbClr val="8A6D1E"/>
                </a:solidFill>
                <a:latin typeface="Amiri" pitchFamily="34" charset="0"/>
                <a:ea typeface="Amiri" pitchFamily="34" charset="-122"/>
                <a:cs typeface="Amiri" pitchFamily="34" charset="-120"/>
              </a:rPr>
              <a:t>لُبْنَانِيَّةٌ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Shape 7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0" name="Text 7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Boy → -iyy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Girl → -iyya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ـِيَّةٌ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Write in → bi-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بِـ</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1" name="Text 7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زَيْنَب: أَنَا سُورِيٌّ.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Zaynab is a girl. Check the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أَنَا مِصْرَ.</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country needs a little word before it.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أَكْتُبُ العَرَبِيَّةَ مِنْ.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How do you say “write IN a language”?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زَيْنَب: أَنَا سُورِيٌّ.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زَيْنَب: أَنَا سُورِيَّةٌ.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Zaynab is a girl: the feminine ending -iyya.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أَنَا مِصْرَ.</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أَنَا مِنْ مِصْرَ. / أَنَا مِصْرِيٌّ.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Use </a:t>
            </a:r>
            <a:pPr algn="l" indent="0" marL="0">
              <a:buNone/>
            </a:pPr>
            <a:r>
              <a:rPr lang="ar-SA" altLang="en-US" sz="1500" b="1" dirty="0">
                <a:solidFill>
                  <a:srgbClr val="1B3B6F"/>
                </a:solidFill>
                <a:latin typeface="Amiri" pitchFamily="34" charset="0"/>
                <a:ea typeface="Amiri" pitchFamily="34" charset="-122"/>
                <a:cs typeface="Amiri" pitchFamily="34" charset="-120"/>
              </a:rPr>
              <a:t>مِنْ</a:t>
            </a:r>
            <a:pPr algn="l" indent="0" marL="0">
              <a:buNone/>
            </a:pPr>
            <a:r>
              <a:rPr lang="en-US" sz="1150" b="1" dirty="0">
                <a:solidFill>
                  <a:srgbClr val="1B3B6F"/>
                </a:solidFill>
                <a:latin typeface="Calibri" pitchFamily="34" charset="0"/>
                <a:ea typeface="Calibri" pitchFamily="34" charset="-122"/>
                <a:cs typeface="Calibri" pitchFamily="34" charset="-120"/>
              </a:rPr>
              <a:t> + country, or the nationality word.</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أَكْتُبُ العَرَبِيَّةَ مِنْ.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أَكْتُبُ بِالعَرَبِيَّةِ.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write IN a language: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 + the language.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Catch the country, nationality and language</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country is Khalid from?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العِرَاق</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المَغْرِب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what is Khalid’s nationality?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مَغْرِبِيٌّ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عِرَاقِيٌّ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languages does he speak?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French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only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2: which nationality does Zaynab state?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سُورِيٌّ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لُبْنَانِيَّةٌ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3: which two languages does Maryam speak?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 and Urdu</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English and French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French and Arabic</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country after min, the ending, and “I speak”.</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١. مَرْحَبًا. اِسْمِي خَالِدٌ. أَنَا مِنَ العِرَاقِ. أَنَا عِرَاقِيٌّ.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Khalid. I am from Iraq. I am Iraqi.</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 وَالإِنْجِلِيزِيَّةَ.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Arabic and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٢. مَرْحَبًا. اِسْمِي زَيْنَبُ. أَنَا مِنْ سُورِيَا. أَنَا سُورِيَّةٌ.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Zaynab. I am from Syria. I am Syrian.</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أَفْهَمُ العَرَبِيَّةَ وَأَتَكَلَّمُ الإِنْجِلِيزِيَّةَ.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understand Arabic and I speak English.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٣. اِسْمِي مَرْيَمُ. أَنَا بَرِيطَانِيَّةٌ. أَتَكَلَّمُ الإِنْجِلِيزِيَّةَ وَالفَرَنْسِيَّةَ.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Maryam. I am British. I speak English and French.</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country is Khalid from?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العِرَاق</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المَغْرِب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مِنَ العِرَاقِ</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what is Khalid’s nationality?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عِرَاقِيَّةٌ</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مَغْرِبِيٌّ</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عِرَاقِيٌّ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Khalid says </a:t>
            </a:r>
            <a:pPr algn="l" indent="0" marL="0">
              <a:buNone/>
            </a:pPr>
            <a:r>
              <a:rPr lang="ar-SA" altLang="en-US" sz="1350" dirty="0">
                <a:solidFill>
                  <a:srgbClr val="8A6D1E"/>
                </a:solidFill>
                <a:latin typeface="Amiri" pitchFamily="34" charset="0"/>
                <a:ea typeface="Amiri" pitchFamily="34" charset="-122"/>
                <a:cs typeface="Amiri" pitchFamily="34" charset="-120"/>
              </a:rPr>
              <a:t>أَنَا عِرَاقِيٌّ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1: which languages does he speak?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French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English only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 and English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العَرَبِيَّةَ وَالإِنْجِلِيزِيَّةَ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2: which nationality does Zaynab state?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سُورِيَّةٌ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سُورِيٌّ</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لُبْنَانِيَّةٌ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Zaynab uses the feminine form </a:t>
            </a:r>
            <a:pPr algn="l" indent="0" marL="0">
              <a:buNone/>
            </a:pPr>
            <a:r>
              <a:rPr lang="ar-SA" altLang="en-US" sz="1350" dirty="0">
                <a:solidFill>
                  <a:srgbClr val="8A6D1E"/>
                </a:solidFill>
                <a:latin typeface="Amiri" pitchFamily="34" charset="0"/>
                <a:ea typeface="Amiri" pitchFamily="34" charset="-122"/>
                <a:cs typeface="Amiri" pitchFamily="34" charset="-120"/>
              </a:rPr>
              <a:t>سُورِيَّةٌ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Speaker 3: which two languages does Maryam speak?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Arabic and Urdu</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English and French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French and Arabic</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الإِنْجِلِيزِيَّةَ وَالفَرَنْسِيَّةَ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country after min, the ending, and “I speak”.</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THREE IDENTITY PROFILES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three identity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ثَلَاثَ بَطَاقَاتٍ شَخْصِيَّةٍ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688848"/>
          </a:xfrm>
          <a:prstGeom prst="roundRect">
            <a:avLst>
              <a:gd name="adj" fmla="val 6637"/>
            </a:avLst>
          </a:prstGeom>
          <a:solidFill>
            <a:srgbClr val="FFFFFF"/>
          </a:solidFill>
          <a:ln w="9525">
            <a:solidFill>
              <a:srgbClr val="D8D0BF"/>
            </a:solidFill>
            <a:prstDash val="solid"/>
          </a:ln>
        </p:spPr>
      </p:sp>
      <p:sp>
        <p:nvSpPr>
          <p:cNvPr id="16" name="Text 13"/>
          <p:cNvSpPr txBox="1"/>
          <p:nvPr/>
        </p:nvSpPr>
        <p:spPr>
          <a:xfrm>
            <a:off x="4937760" y="182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 · اِسْمِي يُوسُفُ. أَنَا مِنَ المَغْرِبِ. أَنَا مَغْرِبِيٌّ.</a:t>
            </a:r>
            <a:endParaRPr lang="ar-SA" sz="2000" dirty="0"/>
          </a:p>
        </p:txBody>
      </p:sp>
      <p:sp>
        <p:nvSpPr>
          <p:cNvPr id="17" name="Text 14"/>
          <p:cNvSpPr txBox="1"/>
          <p:nvPr/>
        </p:nvSpPr>
        <p:spPr>
          <a:xfrm>
            <a:off x="640080" y="182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 My name is Yusuf. I am from Morocco. I am Moroccan.</a:t>
            </a:r>
            <a:endParaRPr lang="en-US" sz="1250" dirty="0"/>
          </a:p>
        </p:txBody>
      </p:sp>
      <p:sp>
        <p:nvSpPr>
          <p:cNvPr id="18" name="Shape 15"/>
          <p:cNvSpPr/>
          <p:nvPr/>
        </p:nvSpPr>
        <p:spPr>
          <a:xfrm>
            <a:off x="457200" y="2572512"/>
            <a:ext cx="11274552" cy="688848"/>
          </a:xfrm>
          <a:prstGeom prst="roundRect">
            <a:avLst>
              <a:gd name="adj" fmla="val 6637"/>
            </a:avLst>
          </a:prstGeom>
          <a:solidFill>
            <a:srgbClr val="F4F1EA"/>
          </a:solidFill>
          <a:ln w="9525">
            <a:solidFill>
              <a:srgbClr val="D8D0BF"/>
            </a:solidFill>
            <a:prstDash val="solid"/>
          </a:ln>
        </p:spPr>
      </p:sp>
      <p:sp>
        <p:nvSpPr>
          <p:cNvPr id="19" name="Text 16"/>
          <p:cNvSpPr txBox="1"/>
          <p:nvPr/>
        </p:nvSpPr>
        <p:spPr>
          <a:xfrm>
            <a:off x="4937760" y="2590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العَرَبِيَّةَ وَالفَرَنْسِيَّةَ.</a:t>
            </a:r>
            <a:endParaRPr lang="ar-SA" sz="2000" dirty="0"/>
          </a:p>
        </p:txBody>
      </p:sp>
      <p:sp>
        <p:nvSpPr>
          <p:cNvPr id="20" name="Text 17"/>
          <p:cNvSpPr txBox="1"/>
          <p:nvPr/>
        </p:nvSpPr>
        <p:spPr>
          <a:xfrm>
            <a:off x="640080" y="2590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Arabic and French.</a:t>
            </a:r>
            <a:endParaRPr lang="en-US" sz="1250" dirty="0"/>
          </a:p>
        </p:txBody>
      </p:sp>
      <p:sp>
        <p:nvSpPr>
          <p:cNvPr id="21" name="Shape 18"/>
          <p:cNvSpPr/>
          <p:nvPr/>
        </p:nvSpPr>
        <p:spPr>
          <a:xfrm>
            <a:off x="457200" y="3334512"/>
            <a:ext cx="11274552" cy="688848"/>
          </a:xfrm>
          <a:prstGeom prst="roundRect">
            <a:avLst>
              <a:gd name="adj" fmla="val 6637"/>
            </a:avLst>
          </a:prstGeom>
          <a:solidFill>
            <a:srgbClr val="FFFFFF"/>
          </a:solidFill>
          <a:ln w="9525">
            <a:solidFill>
              <a:srgbClr val="D8D0BF"/>
            </a:solidFill>
            <a:prstDash val="solid"/>
          </a:ln>
        </p:spPr>
      </p:sp>
      <p:sp>
        <p:nvSpPr>
          <p:cNvPr id="22" name="Text 19"/>
          <p:cNvSpPr txBox="1"/>
          <p:nvPr/>
        </p:nvSpPr>
        <p:spPr>
          <a:xfrm>
            <a:off x="4937760" y="3352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 · اِسْمِي زَيْنَبُ. أَنَا مِنْ سُورِيَا. أَنَا سُورِيَّةٌ.</a:t>
            </a:r>
            <a:endParaRPr lang="ar-SA" sz="2000" dirty="0"/>
          </a:p>
        </p:txBody>
      </p:sp>
      <p:sp>
        <p:nvSpPr>
          <p:cNvPr id="23" name="Text 20"/>
          <p:cNvSpPr txBox="1"/>
          <p:nvPr/>
        </p:nvSpPr>
        <p:spPr>
          <a:xfrm>
            <a:off x="640080" y="3352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 · My name is Zaynab. I am from Syria. I am Syrian.</a:t>
            </a:r>
            <a:endParaRPr lang="en-US" sz="1250" dirty="0"/>
          </a:p>
        </p:txBody>
      </p:sp>
      <p:sp>
        <p:nvSpPr>
          <p:cNvPr id="24" name="Shape 21"/>
          <p:cNvSpPr/>
          <p:nvPr/>
        </p:nvSpPr>
        <p:spPr>
          <a:xfrm>
            <a:off x="457200" y="4096512"/>
            <a:ext cx="11274552" cy="688848"/>
          </a:xfrm>
          <a:prstGeom prst="roundRect">
            <a:avLst>
              <a:gd name="adj" fmla="val 6637"/>
            </a:avLst>
          </a:prstGeom>
          <a:solidFill>
            <a:srgbClr val="F4F1EA"/>
          </a:solidFill>
          <a:ln w="9525">
            <a:solidFill>
              <a:srgbClr val="D8D0BF"/>
            </a:solidFill>
            <a:prstDash val="solid"/>
          </a:ln>
        </p:spPr>
      </p:sp>
      <p:sp>
        <p:nvSpPr>
          <p:cNvPr id="25" name="Text 22"/>
          <p:cNvSpPr txBox="1"/>
          <p:nvPr/>
        </p:nvSpPr>
        <p:spPr>
          <a:xfrm>
            <a:off x="4937760" y="4114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الإِنْجِلِيزِيَّةَ وَأَفْهَمُ العَرَبِيَّةَ.</a:t>
            </a:r>
            <a:endParaRPr lang="ar-SA" sz="2000" dirty="0"/>
          </a:p>
        </p:txBody>
      </p:sp>
      <p:sp>
        <p:nvSpPr>
          <p:cNvPr id="26" name="Text 23"/>
          <p:cNvSpPr txBox="1"/>
          <p:nvPr/>
        </p:nvSpPr>
        <p:spPr>
          <a:xfrm>
            <a:off x="640080" y="4114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English and I understand Arabic.</a:t>
            </a:r>
            <a:endParaRPr lang="en-US" sz="1250" dirty="0"/>
          </a:p>
        </p:txBody>
      </p:sp>
      <p:sp>
        <p:nvSpPr>
          <p:cNvPr id="27" name="Shape 24"/>
          <p:cNvSpPr/>
          <p:nvPr/>
        </p:nvSpPr>
        <p:spPr>
          <a:xfrm>
            <a:off x="457200" y="4858512"/>
            <a:ext cx="11274552" cy="688848"/>
          </a:xfrm>
          <a:prstGeom prst="roundRect">
            <a:avLst>
              <a:gd name="adj" fmla="val 6637"/>
            </a:avLst>
          </a:prstGeom>
          <a:solidFill>
            <a:srgbClr val="FFFFFF"/>
          </a:solidFill>
          <a:ln w="9525">
            <a:solidFill>
              <a:srgbClr val="D8D0BF"/>
            </a:solidFill>
            <a:prstDash val="solid"/>
          </a:ln>
        </p:spPr>
      </p:sp>
      <p:sp>
        <p:nvSpPr>
          <p:cNvPr id="28" name="Text 25"/>
          <p:cNvSpPr txBox="1"/>
          <p:nvPr/>
        </p:nvSpPr>
        <p:spPr>
          <a:xfrm>
            <a:off x="4937760" y="4876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 · اِسْمِي مَرْيَمُ. أَنَا بَرِيطَانِيَّةٌ.</a:t>
            </a:r>
            <a:endParaRPr lang="ar-SA" sz="2000" dirty="0"/>
          </a:p>
        </p:txBody>
      </p:sp>
      <p:sp>
        <p:nvSpPr>
          <p:cNvPr id="29" name="Text 26"/>
          <p:cNvSpPr txBox="1"/>
          <p:nvPr/>
        </p:nvSpPr>
        <p:spPr>
          <a:xfrm>
            <a:off x="640080" y="4876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 · My name is Maryam. I am British.</a:t>
            </a:r>
            <a:endParaRPr lang="en-US" sz="1250" dirty="0"/>
          </a:p>
        </p:txBody>
      </p:sp>
      <p:sp>
        <p:nvSpPr>
          <p:cNvPr id="30" name="Shape 27"/>
          <p:cNvSpPr/>
          <p:nvPr/>
        </p:nvSpPr>
        <p:spPr>
          <a:xfrm>
            <a:off x="457200" y="5620512"/>
            <a:ext cx="11274552" cy="688848"/>
          </a:xfrm>
          <a:prstGeom prst="roundRect">
            <a:avLst>
              <a:gd name="adj" fmla="val 6637"/>
            </a:avLst>
          </a:prstGeom>
          <a:solidFill>
            <a:srgbClr val="F4F1EA"/>
          </a:solidFill>
          <a:ln w="9525">
            <a:solidFill>
              <a:srgbClr val="D8D0BF"/>
            </a:solidFill>
            <a:prstDash val="solid"/>
          </a:ln>
        </p:spPr>
      </p:sp>
      <p:sp>
        <p:nvSpPr>
          <p:cNvPr id="31" name="Text 28"/>
          <p:cNvSpPr txBox="1"/>
          <p:nvPr/>
        </p:nvSpPr>
        <p:spPr>
          <a:xfrm>
            <a:off x="4937760" y="5638800"/>
            <a:ext cx="6675120" cy="652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أَتَكَلَّمُ الإِنْجِلِيزِيَّةَ وَالفَرَنْسِيَّةَ. أَقْرَأُ العَرَبِيَّةَ.</a:t>
            </a:r>
            <a:endParaRPr lang="ar-SA" sz="2000" dirty="0"/>
          </a:p>
        </p:txBody>
      </p:sp>
      <p:sp>
        <p:nvSpPr>
          <p:cNvPr id="32" name="Text 29"/>
          <p:cNvSpPr txBox="1"/>
          <p:nvPr/>
        </p:nvSpPr>
        <p:spPr>
          <a:xfrm>
            <a:off x="640080" y="5638800"/>
            <a:ext cx="4160520" cy="652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speak English and French. I read Arabic.</a:t>
            </a:r>
            <a:endParaRPr lang="en-US" sz="12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profiles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Moroccan?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understands Arabic but speaks English?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profile uses a feminine nationality ending?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appears in Yusuf’s profile?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الأُرْدِيَّة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الفَرَنْسِيَّة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الإِسْبَانِيَّة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origin rather than nationality?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مِنْ سُورِيَا.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سُورِيَّةٌ.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أَتَكَلَّمُ العَرَبِيَّةَ.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Choose, then point to the exact Arabic words that prove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Moroccan?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يُوسُف</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Yusuf’s profile says </a:t>
            </a:r>
            <a:pPr algn="l" indent="0" marL="0">
              <a:buNone/>
            </a:pPr>
            <a:r>
              <a:rPr lang="ar-SA" altLang="en-US" sz="1350" dirty="0">
                <a:solidFill>
                  <a:srgbClr val="8A6D1E"/>
                </a:solidFill>
                <a:latin typeface="Amiri" pitchFamily="34" charset="0"/>
                <a:ea typeface="Amiri" pitchFamily="34" charset="-122"/>
                <a:cs typeface="Amiri" pitchFamily="34" charset="-120"/>
              </a:rPr>
              <a:t>أَنَا مَغْرِبِيٌّ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understands Arabic but speaks English?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Zaynab’s profile: </a:t>
            </a:r>
            <a:pPr algn="l" indent="0" marL="0">
              <a:buNone/>
            </a:pPr>
            <a:r>
              <a:rPr lang="ar-SA" altLang="en-US" sz="1350" dirty="0">
                <a:solidFill>
                  <a:srgbClr val="8A6D1E"/>
                </a:solidFill>
                <a:latin typeface="Amiri" pitchFamily="34" charset="0"/>
                <a:ea typeface="Amiri" pitchFamily="34" charset="-122"/>
                <a:cs typeface="Amiri" pitchFamily="34" charset="-120"/>
              </a:rPr>
              <a:t>أَتَكَلَّمُ الإِنْجِلِيزِيَّةَ وَأَفْهَمُ العَرَبِيَّةَ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profile uses a feminine nationality ending?</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سُورِيَّةٌ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language appears in Yusuf’s profile?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الأُرْدِيَّة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الفَرَنْسِيَّة</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الإِسْبَانِيَّة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speaks Arabic and French.</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states origin rather than nationality?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مِنْ سُورِيَا.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سُورِيَّةٌ.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أَتَكَلَّمُ العَرَبِيَّةَ.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 place states where someone is from.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Choose, then point to the exact Arabic words that prove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Present a short identity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جِنْسِيَّتُكَ؟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أَيْنَ أَنْتِ؟ مَا جِنْسِيَّتُكِ؟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اللُّغَاتُ الَّتِي تَتَكَلَّمُهَا؟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تَقْرَأُ؟ وَبِأَيِّ لُغَةٍ تَكْتُبُ؟</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أَنَا ___ . أَتَكَلَّمُ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أَنَا مِنْ ___ . أَنَا ___ . أَتَكَلَّمُ ___ وَ ___ .</a:t>
            </a:r>
            <a:endParaRPr lang="ar-SA" sz="13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أَفْهَمُ ___ ، وَأَقْرَأُ ___ ، وَأَكْتُبُ بِـ ___ .</a:t>
            </a:r>
            <a:endParaRPr lang="ar-SA" sz="145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هُوَ / هِيَ ___ ، وَيَتَكَلَّمُ / وَتَتَكَلَّمُ ___ .</a:t>
            </a:r>
            <a:endParaRPr lang="ar-SA" sz="15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جِنْسِيَّتُكِ؟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your nationality?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Calibri" pitchFamily="34" charset="-122"/>
                <a:cs typeface="Calibri" pitchFamily="34" charset="-120"/>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أَنَا مِصْرِيَّةٌ.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am Egyptian. (f.)</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identity card</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the identity-card fields.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Fill in: name, age, nationality, languages (copy words from the tables).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four connected sentences: name, origin, nationality, languages.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Name → origin → nationality → languages, joined with “and”.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5–6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three or four different language verbs (speak, understand, read, write).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understand, read and write in, plus one family member (he / she is …).</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from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أَنَا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am … (nationality: -iyy / -iyya)</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أَتَكَلَّمُ ______ وَ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speak … and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أَفْهَمُ ______ وَأَكْتُبُ بِـ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understand … and I write in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الاِسْمُ: ______</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Name: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العُمْرُ: ______ سَنَةً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Age:</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الجِنْسِيَّةُ: ______</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Nationality:</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اللُّغَاتُ: ______ وَ ______</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Languages:</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بَرِيطَانِيٌّ  ·  بَرِيطَانِيَّةٌ  ·  مِصْرِيٌّ  ·  مِصْرِيَّةٌ  ·  العَرَبِيَّةَ  ·  الإِنْجِلِيزِيَّةَ  ·  الأُرْدِيَّةَ  ·  الفَرَنْسِيَّةَ  ·  أَتَكَلَّمُ  ·  أَفْهَمُ  ·  أَقْرَأُ  ·  أَكْتُبُ</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الاِسْمُ: مَرْيَم</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العُمْرُ: أَرْبَعَ عَشْرَةَ سَنَةً</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الجِنْسِيَّةُ: بَرِيطَانِيَّةٌ</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اللُّغَاتُ: الإِنْجِلِيزِيَّةُ وَالفَرَنْسِيَّةُ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Name: Maryam · Age: fourteen years · Nationality: British (f.) · Languages: English and French</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feminine nationality</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age with sanatan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languages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and (wa-)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nationality ending matches the person (-iyy or -iyya).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أَتَكَلَّمُ</a:t>
            </a:r>
            <a:pPr algn="l" indent="0" marL="0">
              <a:buNone/>
            </a:pPr>
            <a:r>
              <a:rPr lang="en-US" sz="1300" dirty="0">
                <a:solidFill>
                  <a:srgbClr val="1F2A37"/>
                </a:solidFill>
                <a:latin typeface="Calibri" pitchFamily="34" charset="0"/>
                <a:ea typeface="Calibri" pitchFamily="34" charset="-122"/>
                <a:cs typeface="Calibri" pitchFamily="34" charset="-120"/>
              </a:rPr>
              <a:t> before a language.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my origin with </a:t>
            </a:r>
            <a:pPr algn="l" indent="0" marL="0">
              <a:buNone/>
            </a:pPr>
            <a:r>
              <a:rPr lang="ar-SA" altLang="en-US" sz="1700" dirty="0">
                <a:solidFill>
                  <a:srgbClr val="1F2A37"/>
                </a:solidFill>
                <a:latin typeface="Amiri" pitchFamily="34" charset="0"/>
                <a:ea typeface="Amiri" pitchFamily="34" charset="-122"/>
                <a:cs typeface="Amiri" pitchFamily="34" charset="-120"/>
              </a:rPr>
              <a:t>أَنَا مِنْ</a:t>
            </a:r>
            <a:pPr algn="l" indent="0" marL="0">
              <a:buNone/>
            </a:pPr>
            <a:r>
              <a:rPr lang="en-US" sz="1300" dirty="0">
                <a:solidFill>
                  <a:srgbClr val="1F2A37"/>
                </a:solidFill>
                <a:latin typeface="Calibri" pitchFamily="34" charset="0"/>
                <a:ea typeface="Calibri" pitchFamily="34" charset="-122"/>
                <a:cs typeface="Calibri" pitchFamily="34" charset="-120"/>
              </a:rPr>
              <a:t> …</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joined languages with “and” (wa-).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understand, read and write 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male speaker from Jordan says …</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أُرْدُنِيٌّ.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أُرْدُنِيَّةٌ.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الأُرْدُنُّ.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understand’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أَقْرَأُ</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 in English’.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أَكْتُبُ بِالإِنْجِلِيزِيَّةِ.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أَفْهَمُ الإِنْجِلِيزِيَّةَ.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إِنْجِلِيزِيَّةٌ.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 male speaker from Jordan says …</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أَنَا أُرْدُنِيٌّ.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أُرْدُنِيَّةٌ.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الأُرْدُنُّ.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form is </a:t>
            </a:r>
            <a:pPr algn="l" indent="0" marL="0">
              <a:buNone/>
            </a:pPr>
            <a:r>
              <a:rPr lang="ar-SA" altLang="en-US" sz="1350" dirty="0">
                <a:solidFill>
                  <a:srgbClr val="8A6D1E"/>
                </a:solidFill>
                <a:latin typeface="Amiri" pitchFamily="34" charset="0"/>
                <a:ea typeface="Amiri" pitchFamily="34" charset="-122"/>
                <a:cs typeface="Amiri" pitchFamily="34" charset="-120"/>
              </a:rPr>
              <a:t>أُرْدُنِيٌّ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‘I understand’ ?</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أَقْرَأُ</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أَفْهَمُ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أَكْتُبُ</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أَفْهَمُ</a:t>
            </a:r>
            <a:pPr algn="l" indent="0" marL="0">
              <a:buNone/>
            </a:pPr>
            <a:r>
              <a:rPr lang="en-US" sz="1050" i="1" dirty="0">
                <a:solidFill>
                  <a:srgbClr val="8A6D1E"/>
                </a:solidFill>
                <a:latin typeface="Calibri" pitchFamily="34" charset="0"/>
                <a:ea typeface="Calibri" pitchFamily="34" charset="-122"/>
                <a:cs typeface="Calibri" pitchFamily="34" charset="-120"/>
              </a:rPr>
              <a:t> means ‘I understand’.</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write in English’.</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أَكْتُبُ بِالإِنْجِلِيزِيَّةِ.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أَفْهَمُ الإِنْجِلِيزِيَّةَ.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أَنَا إِنْجِلِيزِيَّةٌ.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أَكْتُبُ بِـ</a:t>
            </a:r>
            <a:pPr algn="l" indent="0" marL="0">
              <a:buNone/>
            </a:pPr>
            <a:r>
              <a:rPr lang="en-US" sz="1050" i="1" dirty="0">
                <a:solidFill>
                  <a:srgbClr val="8A6D1E"/>
                </a:solidFill>
                <a:latin typeface="Calibri" pitchFamily="34" charset="0"/>
                <a:ea typeface="Calibri" pitchFamily="34" charset="-122"/>
                <a:cs typeface="Calibri" pitchFamily="34" charset="-120"/>
              </a:rPr>
              <a:t> means ‘I write in’.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F2-L04 · Nationality &amp; Language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Week 2 · Lesson 1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F2-L05 · Masculine and Feminine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طَالِبٌ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student (m.)</a:t>
            </a:r>
            <a:pPr indent="0" marL="0">
              <a:buNone/>
            </a:pPr>
            <a:r>
              <a:rPr lang="en-US" sz="1000" i="1" dirty="0">
                <a:solidFill>
                  <a:srgbClr val="5A6472"/>
                </a:solidFill>
                <a:latin typeface="Calibri" pitchFamily="34" charset="0"/>
                <a:ea typeface="Calibri" pitchFamily="34" charset="-122"/>
                <a:cs typeface="Calibri" pitchFamily="34" charset="-120"/>
              </a:rPr>
              <a:t>  f. طَالِبَةٌ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مُعَلِّمٌ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teacher (m.)</a:t>
            </a:r>
            <a:pPr indent="0" marL="0">
              <a:buNone/>
            </a:pPr>
            <a:r>
              <a:rPr lang="en-US" sz="1000" i="1" dirty="0">
                <a:solidFill>
                  <a:srgbClr val="5A6472"/>
                </a:solidFill>
                <a:latin typeface="Calibri" pitchFamily="34" charset="0"/>
                <a:ea typeface="Calibri" pitchFamily="34" charset="-122"/>
                <a:cs typeface="Calibri" pitchFamily="34" charset="-120"/>
              </a:rPr>
              <a:t>  f. مُعَلِّمَةٌ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وَلَدٌ · بِنْتٌ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boy · a girl</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جَدِيدٌ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new (m.)</a:t>
            </a:r>
            <a:pPr indent="0" marL="0">
              <a:buNone/>
            </a:pPr>
            <a:r>
              <a:rPr lang="en-US" sz="1000" i="1" dirty="0">
                <a:solidFill>
                  <a:srgbClr val="5A6472"/>
                </a:solidFill>
                <a:latin typeface="Calibri" pitchFamily="34" charset="0"/>
                <a:ea typeface="Calibri" pitchFamily="34" charset="-122"/>
                <a:cs typeface="Calibri" pitchFamily="34" charset="-120"/>
              </a:rPr>
              <a:t>  f. جَدِيدَةٌ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tāʾ marbūṭa: a feminine clue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Look at the five words: which ending shows the feminine form? Find two more words with it at home.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طَالِبٌ ← طَالِبَةٌ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F2-L04: the Passport Mission (8 cards) and the picture game “Nationality and Language”.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Your identity card + four connected sentences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all four language verbs, then the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F2-L05 · Masculine and Feminine Agreement</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المُذَكَّرُ وَالمُؤَنَّثُ</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5 words + spot the feminine </a:t>
            </a:r>
            <a:pPr algn="l" indent="0" marL="0">
              <a:buNone/>
            </a:pPr>
            <a:r>
              <a:rPr lang="ar-SA" altLang="en-US" sz="1700" b="1" dirty="0">
                <a:solidFill>
                  <a:srgbClr val="FFFFFF"/>
                </a:solidFill>
                <a:latin typeface="Amiri" pitchFamily="34" charset="0"/>
                <a:ea typeface="Amiri" pitchFamily="34" charset="-122"/>
                <a:cs typeface="Amiri" pitchFamily="34" charset="-120"/>
              </a:rPr>
              <a:t>ة</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F2-L04 · Nationality and Language</dc:title>
  <dc:subject>PptxGenJS Presentation</dc:subject>
  <dc:creator>Al Madina Online School · Arabic Department</dc:creator>
  <cp:lastModifiedBy>Al Madina Online School · Arabic Department</cp:lastModifiedBy>
  <cp:revision>1</cp:revision>
  <dcterms:created xsi:type="dcterms:W3CDTF">2026-09-27T10:15:12Z</dcterms:created>
  <dcterms:modified xsi:type="dcterms:W3CDTF">2026-09-27T10:15:12Z</dcterms:modified>
</cp:coreProperties>
</file>