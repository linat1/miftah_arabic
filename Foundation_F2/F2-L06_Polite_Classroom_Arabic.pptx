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F2 Greetings &amp; Introductions › Lesson 6 (F2-L06). Website sections used: the four-question retrieval, the complete polite-phrase bank (14 phrases), the ـًا pronunciation and addressee patterns, the polite phrase check (10), the classroom object bank (12), eight classroom requests, the role-play rounds (12), listening (four exchanges, eight questions), the Maryam reading dialogue (eight questions), role-play cards and speaking checklist, the dialogue-writing task and the twelve-question checkpoint. Picture match: website visual game “Polite Classroom Arabic”.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These phrases are for REAL use: from today, students use them in every Arabic lesson (please / thank you / I don’t understand / repeat, please). Put the website phrase bank on the class wall or OneNote.
• Core: learn phrases as whole chunks (website: “Do not wait until every grammar detail is familiar before using them”). Develop: choose -ka / -ki and تَفَضَّلْ / تَفَضَّلِي for the listener. Stretch: switch listener gender mid-dialogue; add an apology.
• Two gender rules meet today (a great link to F2-L05): please / here you are follow the LISTENER; آسِفٌ / آسِفَةٌ follows the SPEAKER.
• Address the teacher: يَا أُسْتَاذُ (m.) / يَا أُسْتَاذَةُ (f.). Urdu bridge: فضل، معذرت، معاف، دفتر، سوال.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1–2 test two of the five phrases prepared at home. Questions 3–5 are the website retrieval (the -ki ending, أَفْهَمُ, مُعَلِّمَةٌ).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Please and “here you are” follow the LISTENER. “I am sorry” follows the SPEAKER.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(left) and the website speaking Core / Develop / Stretch goals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فضل (fazl: grace — مِنْ فَضْلِكَ = “out of your kindness”), معذرت (mazrat → مَعْذِرَةً), معاف (muāf → عَفْوًا, same root ʿ-f-w), دفتر (FALSE FRIEND: Urdu office; Arabic notebook), سوال.
Website pronunciation pattern: شُكْرًا، عَفْوًا، جَزِيلًا، مَعْذِرَةً all finish with an -an sound (tanwīn fatḥ, F1-L06).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POLITE PHRASES 1–6 (website bank, with the website emojis as gestures: 🙏 please · 💛 thank you · ⭐ very much · 🤝 you’re welcome · ✅/❌ yes/no · 🙇 sorry).
Card 1 follows the LISTENER (-ka / -ki / -kum). Card 6 follows the SPEAKER — it is an adjective, just like F2-L05 (a boy says آسِفٌ, a girl says آسِفَةٌ).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POLITE PHRASES 7–9 (website bank: 👉 here you are · 🌿 no problem · 💬 excuse me) + the request starters from the website (يَا أُسْتَاذَةُ from the reading; لَا أَفْهَمُ and هَلْ يُمْكِنُ أَنْ … from the requests).
Card 7 follows the LISTENER: the final ـي addresses one female (website). Pair them up: شُكْرًا → عَفْوًا · آسِفٌ → لَا بَأْسَ · مِنْ فَضْلِكَ → تَفَضَّلْ.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CLASSROOM OBJECTS 1–6 (website object bank). Quick F2-L05 recall: students type m / f for each word BEFORE you reveal column 3 (the ة clue). Plural = reference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CLASSROOM OBJECTS 7–12 (website object bank) — FLEX. Useful for the role-play cards (ruler, water,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REQUESTS (website “Useful classroom requests”, 1–8). Pink = the parts that change for a female listener: -ki on “please”, and -ī on the command (أَعِيدِي، تَكَلَّمِي، سَاعِدِينِي، تَفَضَّلِي).
Website addressee pattern: “Look at the person you are speaking to.” Row 6 does not change — the speaker asks about himself / herself.
Class routine from today: any student can type “لَا أَفْهَمُ. أَعِدْ / أَعِيدِي، مِنْ فَضْلِكَ / مِنْ فَضْلِكِ”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“Polite phrase check” questions 2, 6, 8 and 9.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the website “model dialogue” (writing section), modelled with a think-aloud. Students copy it. Then change ONE thing aloud: “Now a boy asks a male teacher” → مِنْ فَضْلِكَ … تَفَضَّلْ.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Polite Classroom Arabic”)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“Polite Classroom Arabic” (3 of 6). New: أَخْرُجَ = go out (compare أَدْخُلَ = come in). Other website cards for homework: asking a question, كَرِّرْ (repeat), and مَا مَعْنَى هَذِهِ الكَلِمَةِ؟ (what does this word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Polite Classroom Arabic”)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“Polite Classroom Arabic” (3 of 6). New: أَخْرُجَ = go out (compare أَدْخُلَ = come in). Other website cards for homework: asking a question, كَرِّرْ (repeat), and مَا مَعْنَى هَذِهِ الكَلِمَةِ؟ (what does this word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12 role-play rounds (borrow a ruler from a female, ask her to repeat, a girl apologises, ask to enter, reassure).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one student SAYS the line aloud to the teacher (by invitation) — the teacher replies in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3 and 5. Develop / Stretch: all 5.
Listen 1: just listen. Listen 2: note answers. Then chat the letters.
Support: after the second listening, show the read-along slide (Arabic + English, line by line) for Core students.
SCRIPT (read aloud):
١. الطَّالِبُ: مَعْذِرَةً، أُرِيدُ قَلَمًا، مِنْ فَضْلِكَ. المُعَلِّمُ: نَعَمْ، تَفَضَّلْ. الطَّالِبُ: شُكْرًا جَزِيلًا. المُعَلِّمُ: عَفْوًا. ٢. الطَّالِبَةُ: لَا أَفْهَمُ. أَعِيدِي، مِنْ فَضْلِكِ. المُعَلِّمَةُ: نَعَمْ، سَأُعِيدُ السُّؤَالَ بِبُطْءٍ. الطَّالِبَةُ: شُكْرًا. ٣. الطَّالِبُ: هَلْ يُمْكِنُ أَنْ أَشْرَبَ المَاءَ؟ المُعَلِّمُ: نَعَمْ، تَفَضَّلْ. الطَّالِبُ: شُكْرًا. ٤. الطَّالِبَةُ: أَنَا آسِفَةٌ. تَأَخَّرْتُ. المُعَلِّمَةُ: لَا بَأْسَ. تَفَضَّلِي. الطَّالِبَةُ: شُكْرًا جَزِيلًا.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READING (website section 6). Website strategy “Track the exchange”: circle each request · underline the two female addressee forms · box the item Maryam borrows · find every thanks/response pair · explain why the teacher says تَفَضَّلِي, not تَفَضَّلْ.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reading questions 2, 3, 4, 6 and 7 (1, 5 and 8 for homework). Q5 (“Why is مِنْ فَضْلِكِ correct?”) is the key concept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line for each answer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طَالِبٌ: شُكْرًا جَزِيلًا. (Thank you very much.)
مُعَلِّمٌ: عَفْوًا. (You’re welcome.)
WEBSITE ROLE-PLAY CARDS (read one aloud; the named pair performs it; the class judges): 📘 ask for a book (to a female) · ✏️ a pencil (to a male) · 📏 borrow a ruler (to a female) · 🔁 ask for repetition (to a male) · 🐢 slower speech (to a female) · 💧 ask to drink water · 🚪 ask to enter · ⏰ apologise for being late (a female student).
Website speaking checklist (listener ticks 1–6 in chat): attention with مَعْذِرَةً · a clear request · the listener ending · an appropriate response · thanks and close · clear -an sounds and long vowels.
Routes (website): Core — a four-line exchange with please, thank you and a response · Develop — an object, then repetition or help · Stretch — switch male / female listeners without losing the endings. The teacher plays the responder role for Core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Six lines using one request. · Develop — Eight lines using two different classroom needs. · Stretch — Ten lines: switch the listener’s gender and include an apology.
Website writing task (Stretch): Website writing task: a complete polite classroom dialogue (6–10 lines) with an attention phrase, a request, please chosen for the listener, a response and handover, thanks and a reply.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“model dialogue”. Develop: add a second request; Stretch: rewrite it for a male teacher.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12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(F2-L07 · Building a Full Introduction) will spend class time USING this language, so students prepare it tonight — short, simple, easy to access (school guidance: “Simple, Short, Interesting, Relevant, Easy to access”). The five words are from the website F2-L07 introduction fact bank (residence, connectors and the polite close).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Polite Classroom Arabic</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لُغَةُ الأَدَبِ فِي الصَّفِّ</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Ask for help, borrow classroom items, ask permission, apologise, thank someone and respond — choosing the right form for a male or female listener every time.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F2-L06 · Foundation F2 · Greetings &amp; Introductions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Polite phrases, classroom objects, then requests.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role-play rounds, listen and read.</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F2-L07.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مِنْ فَضْلِكِ</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thank you (to a girl)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please (to a girl)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here you are (to a girl)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تَفَضَّلْ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Here you are. / Go ahead.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Thank you.</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Excuse me.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ending addresses one female?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ـهُ</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ـكِ</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‘I understand Arabic’?</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عَرَبِيَّةٌ.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مِنَ العَرَبِيَّةِ.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أَفْهَمُ العَرَبِيَّةَ.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teacher noun.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مُعَلِّمَةٌ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مُعَلِّمٌ</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مِنْ فَضْلِكِ</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thank you (to a girl)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please (to a girl)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here you are (to a girl)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تَفَضَّلْ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Here you are. / Go ahead.</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Thank you.</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Excuse me.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ending addresses one female?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ـكَ</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ـهُ</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ـكِ</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kasra in </a:t>
            </a:r>
            <a:pPr algn="l" indent="0" marL="0">
              <a:buNone/>
            </a:pPr>
            <a:r>
              <a:rPr lang="ar-SA" altLang="en-US" sz="1350" dirty="0">
                <a:solidFill>
                  <a:srgbClr val="8A6D1E"/>
                </a:solidFill>
                <a:latin typeface="Amiri" pitchFamily="2" charset="-78"/>
                <a:ea typeface="Amiri" pitchFamily="2" charset="-78"/>
                <a:cs typeface="Amiri" pitchFamily="2" charset="-78"/>
              </a:rPr>
              <a:t>ـكِ</a:t>
            </a:r>
            <a:pPr algn="l" indent="0" marL="0">
              <a:buNone/>
            </a:pPr>
            <a:r>
              <a:rPr lang="en-US" sz="1050" i="1" dirty="0">
                <a:solidFill>
                  <a:srgbClr val="8A6D1E"/>
                </a:solidFill>
                <a:latin typeface="Calibri" pitchFamily="34" charset="0"/>
                <a:cs typeface="Amiri" pitchFamily="2" charset="-78"/>
              </a:rPr>
              <a:t> addresses one female.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‘I understand Arabic’?</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عَرَبِيَّةٌ.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مِنَ العَرَبِيَّةِ.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أَفْهَمُ العَرَبِيَّةَ.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أَفْهَمُ</a:t>
            </a:r>
            <a:pPr algn="l" indent="0" marL="0">
              <a:buNone/>
            </a:pPr>
            <a:r>
              <a:rPr lang="en-US" sz="1050" i="1" dirty="0">
                <a:solidFill>
                  <a:srgbClr val="8A6D1E"/>
                </a:solidFill>
                <a:latin typeface="Calibri" pitchFamily="34" charset="0"/>
                <a:cs typeface="Amiri" pitchFamily="2" charset="-78"/>
              </a:rPr>
              <a:t> means ‘I understand’.</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teacher noun.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مُعَلِّمَةٌ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مُعَلِّمٌ</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طَالِبَةٌ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مُعَلِّمَةٌ</a:t>
            </a:r>
            <a:pPr algn="l" indent="0" marL="0">
              <a:buNone/>
            </a:pPr>
            <a:r>
              <a:rPr lang="en-US" sz="1050" i="1" dirty="0">
                <a:solidFill>
                  <a:srgbClr val="8A6D1E"/>
                </a:solidFill>
                <a:latin typeface="Calibri" pitchFamily="34" charset="0"/>
                <a:cs typeface="Amiri" pitchFamily="2" charset="-78"/>
              </a:rPr>
              <a:t> is a female teacher.</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Please and “here you are” follow the LISTENER. “I am sorry” follows the SPEAKER.</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150" b="1" dirty="0">
                <a:solidFill>
                  <a:srgbClr val="1B3B6F"/>
                </a:solidFill>
                <a:latin typeface="Amiri" pitchFamily="2" charset="-78"/>
                <a:ea typeface="Amiri" pitchFamily="2" charset="-78"/>
                <a:cs typeface="Amiri" pitchFamily="2" charset="-78"/>
              </a:rPr>
              <a:t>مِنْ فَضْلِكَ / مِنْ فَضْلِكِ  ·  آسِفٌ / آسِفَةٌ</a:t>
            </a:r>
            <a:endParaRPr lang="ar-SA" sz="21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complete F2-L06 polite-phrase bank accurately.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Choose masculine and feminine forms for the person addressed.</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Make practical classroom requests and respond appropriately.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the -an sound (</a:t>
            </a:r>
            <a:pPr algn="l" indent="0" marL="0">
              <a:buNone/>
            </a:pPr>
            <a:r>
              <a:rPr lang="ar-SA" altLang="en-US" sz="1700" dirty="0">
                <a:solidFill>
                  <a:srgbClr val="1F2A37"/>
                </a:solidFill>
                <a:latin typeface="Amiri" pitchFamily="2" charset="-78"/>
                <a:ea typeface="Amiri" pitchFamily="2" charset="-78"/>
                <a:cs typeface="Amiri" pitchFamily="2" charset="-78"/>
              </a:rPr>
              <a:t>ـًا</a:t>
            </a:r>
            <a:pPr algn="l" indent="0" marL="0">
              <a:buNone/>
            </a:pPr>
            <a:r>
              <a:rPr lang="en-US" sz="1300" dirty="0">
                <a:solidFill>
                  <a:srgbClr val="1F2A37"/>
                </a:solidFill>
                <a:latin typeface="Calibri" pitchFamily="34" charset="0"/>
                <a:cs typeface="Amiri" pitchFamily="2" charset="-78"/>
              </a:rPr>
              <a:t>) in common polite expressions.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please, thank you and an answer in a four-line exchange.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“I don’t understand” and ask for help.</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ask for an object, then for repetition or help.</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choose the listener ending.</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switch between male and female listeners.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apologise with the right form.</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14 polite phrases, 12 classroom objects and 8 requests — all from the website. Core: the six phrases you will use EVERY lesson.</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Polite phrases · 14</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Classroom objects · 12</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Requests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مِنْ فَضْلِكَ</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‎فضل‎ </a:t>
            </a:r>
            <a:pPr indent="0" marL="0">
              <a:buNone/>
            </a:pPr>
            <a:r>
              <a:rPr lang="en-US" sz="950" b="1" dirty="0">
                <a:solidFill>
                  <a:srgbClr val="2E8B57"/>
                </a:solidFill>
                <a:latin typeface="Calibri" pitchFamily="34" charset="0"/>
                <a:cs typeface="Amiri" pitchFamily="2" charset="-78"/>
              </a:rPr>
              <a:t> fazl · grace, kindness</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مَعْذِرَةً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‎معذرت‎ </a:t>
            </a:r>
            <a:pPr indent="0" marL="0">
              <a:buNone/>
            </a:pPr>
            <a:r>
              <a:rPr lang="en-US" sz="950" b="1" dirty="0">
                <a:solidFill>
                  <a:srgbClr val="2E8B57"/>
                </a:solidFill>
                <a:latin typeface="Calibri" pitchFamily="34" charset="0"/>
                <a:cs typeface="Amiri" pitchFamily="2" charset="-78"/>
              </a:rPr>
              <a:t> mazrat · apology, excuse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عَفْوًا</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‎معاف‎ </a:t>
            </a:r>
            <a:pPr indent="0" marL="0">
              <a:buNone/>
            </a:pPr>
            <a:r>
              <a:rPr lang="en-US" sz="950" b="1" dirty="0">
                <a:solidFill>
                  <a:srgbClr val="2E8B57"/>
                </a:solidFill>
                <a:latin typeface="Calibri" pitchFamily="34" charset="0"/>
                <a:cs typeface="Amiri" pitchFamily="2" charset="-78"/>
              </a:rPr>
              <a:t> muāf · forgiven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دَفْتَرٌ</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‎دفتر‎ </a:t>
            </a:r>
            <a:pPr indent="0" marL="0">
              <a:buNone/>
            </a:pPr>
            <a:r>
              <a:rPr lang="en-US" sz="950" b="1" dirty="0">
                <a:solidFill>
                  <a:srgbClr val="2E8B57"/>
                </a:solidFill>
                <a:latin typeface="Calibri" pitchFamily="34" charset="0"/>
                <a:cs typeface="Amiri" pitchFamily="2" charset="-78"/>
              </a:rPr>
              <a:t> daftar · Urdu: office · Arabic: notebook</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سُؤَالٌ</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‎سوال‎ </a:t>
            </a:r>
            <a:pPr indent="0" marL="0">
              <a:buNone/>
            </a:pPr>
            <a:r>
              <a:rPr lang="en-US" sz="950" b="1" dirty="0">
                <a:solidFill>
                  <a:srgbClr val="2E8B57"/>
                </a:solidFill>
                <a:latin typeface="Calibri" pitchFamily="34" charset="0"/>
                <a:cs typeface="Amiri" pitchFamily="2" charset="-78"/>
              </a:rPr>
              <a:t> sawāl · question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1 · THE POLITE-PHRASE BANK (WEBSITE) · 1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Please, thank you, sorry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عِبَارَاتُ الأَدَبِ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فَضْلِكَ</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please</a:t>
            </a:r>
            <a:endParaRPr lang="en-US" sz="1350" dirty="0"/>
          </a:p>
          <a:p>
            <a:pPr indent="0" marL="0">
              <a:buNone/>
            </a:pPr>
            <a:r>
              <a:rPr lang="en-US" sz="1100" i="1" dirty="0">
                <a:solidFill>
                  <a:srgbClr val="5A6472"/>
                </a:solidFill>
                <a:latin typeface="Calibri" pitchFamily="34" charset="0"/>
                <a:cs typeface="Amiri" pitchFamily="2" charset="-78"/>
              </a:rPr>
              <a:t>min faḍ-li-ka · -ki · -kum</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m.</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مِنْ فَضْلِكَ</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f.</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مِنْ فَضْلِكِ</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pl.</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مِنْ فَضْلِكُمْ</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 sound</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شُكْرًا</a:t>
            </a:r>
            <a:endParaRPr lang="ar-SA" sz="3000" dirty="0"/>
          </a:p>
        </p:txBody>
      </p:sp>
      <p:sp>
        <p:nvSpPr>
          <p:cNvPr id="41" name="Text 3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thank you</a:t>
            </a:r>
            <a:endParaRPr lang="en-US" sz="1350" dirty="0"/>
          </a:p>
          <a:p>
            <a:pPr indent="0" marL="0">
              <a:buNone/>
            </a:pPr>
            <a:r>
              <a:rPr lang="en-US" sz="1100" i="1" dirty="0">
                <a:solidFill>
                  <a:srgbClr val="5A6472"/>
                </a:solidFill>
                <a:latin typeface="Calibri" pitchFamily="34" charset="0"/>
                <a:cs typeface="Amiri" pitchFamily="2" charset="-78"/>
              </a:rPr>
              <a:t>shuk-ran</a:t>
            </a:r>
            <a:endParaRPr lang="en-US" sz="1350" dirty="0"/>
          </a:p>
        </p:txBody>
      </p:sp>
      <p:sp>
        <p:nvSpPr>
          <p:cNvPr id="42" name="Text 39"/>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complete polite response.</a:t>
            </a:r>
            <a:endParaRPr lang="en-US" sz="10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6" name="Shape 43"/>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 sound ×2</a:t>
            </a:r>
            <a:endParaRPr lang="en-US" sz="800" dirty="0"/>
          </a:p>
        </p:txBody>
      </p:sp>
      <p:sp>
        <p:nvSpPr>
          <p:cNvPr id="48" name="Shape 4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شُكْرًا جَزِيلًا</a:t>
            </a:r>
            <a:endParaRPr lang="ar-SA" sz="3000" dirty="0"/>
          </a:p>
        </p:txBody>
      </p:sp>
      <p:sp>
        <p:nvSpPr>
          <p:cNvPr id="51" name="Text 4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thank you very much</a:t>
            </a:r>
            <a:endParaRPr lang="en-US" sz="1350" dirty="0"/>
          </a:p>
          <a:p>
            <a:pPr indent="0" marL="0">
              <a:buNone/>
            </a:pPr>
            <a:r>
              <a:rPr lang="en-US" sz="1100" i="1" dirty="0">
                <a:solidFill>
                  <a:srgbClr val="5A6472"/>
                </a:solidFill>
                <a:latin typeface="Calibri" pitchFamily="34" charset="0"/>
                <a:cs typeface="Amiri" pitchFamily="2" charset="-78"/>
              </a:rPr>
              <a:t>shuk-ran ja-zī-lan</a:t>
            </a:r>
            <a:endParaRPr lang="en-US" sz="1350" dirty="0"/>
          </a:p>
        </p:txBody>
      </p:sp>
      <p:sp>
        <p:nvSpPr>
          <p:cNvPr id="52" name="Text 49"/>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جَزِيلًا</a:t>
            </a:r>
            <a:pPr algn="l" indent="0" marL="0">
              <a:buNone/>
            </a:pPr>
            <a:r>
              <a:rPr lang="en-US" sz="1000" i="1" dirty="0">
                <a:solidFill>
                  <a:srgbClr val="8A6D1E"/>
                </a:solidFill>
                <a:latin typeface="Calibri" pitchFamily="34" charset="0"/>
                <a:cs typeface="Amiri" pitchFamily="2" charset="-78"/>
              </a:rPr>
              <a:t> strengthens the thanks.</a:t>
            </a:r>
            <a:endParaRPr lang="en-US" sz="100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6" name="Shape 53"/>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reply</a:t>
            </a:r>
            <a:endParaRPr lang="en-US" sz="800" dirty="0"/>
          </a:p>
        </p:txBody>
      </p:sp>
      <p:sp>
        <p:nvSpPr>
          <p:cNvPr id="58" name="Shape 55"/>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عَفْوًا</a:t>
            </a:r>
            <a:endParaRPr lang="ar-SA" sz="3000" dirty="0"/>
          </a:p>
        </p:txBody>
      </p:sp>
      <p:sp>
        <p:nvSpPr>
          <p:cNvPr id="61" name="Text 5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you’re welcome / excuse me</a:t>
            </a:r>
            <a:endParaRPr lang="en-US" sz="1350" dirty="0"/>
          </a:p>
          <a:p>
            <a:pPr indent="0" marL="0">
              <a:buNone/>
            </a:pPr>
            <a:r>
              <a:rPr lang="en-US" sz="1100" i="1" dirty="0">
                <a:solidFill>
                  <a:srgbClr val="5A6472"/>
                </a:solidFill>
                <a:latin typeface="Calibri" pitchFamily="34" charset="0"/>
                <a:cs typeface="Amiri" pitchFamily="2" charset="-78"/>
              </a:rPr>
              <a:t>ʿaf-wan</a:t>
            </a:r>
            <a:endParaRPr lang="en-US" sz="1350" dirty="0"/>
          </a:p>
        </p:txBody>
      </p:sp>
      <p:sp>
        <p:nvSpPr>
          <p:cNvPr id="62" name="Text 59"/>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context tells you which meaning.</a:t>
            </a:r>
            <a:endParaRPr lang="en-US" sz="100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answer</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نَعَمْ · لَا</a:t>
            </a:r>
            <a:endParaRPr lang="ar-SA" sz="3000" dirty="0"/>
          </a:p>
        </p:txBody>
      </p:sp>
      <p:sp>
        <p:nvSpPr>
          <p:cNvPr id="71" name="Text 6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yes · no</a:t>
            </a:r>
            <a:endParaRPr lang="en-US" sz="1350" dirty="0"/>
          </a:p>
          <a:p>
            <a:pPr indent="0" marL="0">
              <a:buNone/>
            </a:pPr>
            <a:r>
              <a:rPr lang="en-US" sz="1100" i="1" dirty="0">
                <a:solidFill>
                  <a:srgbClr val="5A6472"/>
                </a:solidFill>
                <a:latin typeface="Calibri" pitchFamily="34" charset="0"/>
                <a:cs typeface="Amiri" pitchFamily="2" charset="-78"/>
              </a:rPr>
              <a:t>na-ʿam · lā</a:t>
            </a:r>
            <a:endParaRPr lang="en-US" sz="1350" dirty="0"/>
          </a:p>
        </p:txBody>
      </p:sp>
      <p:sp>
        <p:nvSpPr>
          <p:cNvPr id="72" name="Text 69"/>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لَا</a:t>
            </a:r>
            <a:pPr algn="l" indent="0" marL="0">
              <a:buNone/>
            </a:pPr>
            <a:r>
              <a:rPr lang="en-US" sz="1000" i="1" dirty="0">
                <a:solidFill>
                  <a:srgbClr val="8A6D1E"/>
                </a:solidFill>
                <a:latin typeface="Calibri" pitchFamily="34" charset="0"/>
                <a:cs typeface="Amiri" pitchFamily="2" charset="-78"/>
              </a:rPr>
              <a:t> also makes “not”: </a:t>
            </a:r>
            <a:pPr algn="l" indent="0" marL="0">
              <a:buNone/>
            </a:pPr>
            <a:r>
              <a:rPr lang="ar-SA" altLang="en-US" sz="1300" dirty="0">
                <a:solidFill>
                  <a:srgbClr val="8A6D1E"/>
                </a:solidFill>
                <a:latin typeface="Amiri" pitchFamily="2" charset="-78"/>
                <a:ea typeface="Amiri" pitchFamily="2" charset="-78"/>
                <a:cs typeface="Amiri" pitchFamily="2" charset="-78"/>
              </a:rPr>
              <a:t>لَا أَفْهَمُ</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73" name="Shape 7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566928"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6" name="Shape 73"/>
          <p:cNvSpPr/>
          <p:nvPr/>
        </p:nvSpPr>
        <p:spPr>
          <a:xfrm>
            <a:off x="960120" y="4279392"/>
            <a:ext cx="1580083" cy="256032"/>
          </a:xfrm>
          <a:prstGeom prst="roundRect">
            <a:avLst>
              <a:gd name="adj" fmla="val 50000"/>
            </a:avLst>
          </a:prstGeom>
          <a:solidFill>
            <a:srgbClr val="EFE7D2"/>
          </a:solidFill>
          <a:ln w="12700">
            <a:solidFill>
              <a:srgbClr val="EFE7D2"/>
            </a:solidFill>
            <a:prstDash val="solid"/>
          </a:ln>
        </p:spPr>
      </p:sp>
      <p:sp>
        <p:nvSpPr>
          <p:cNvPr id="77" name="Text 74"/>
          <p:cNvSpPr txBox="1"/>
          <p:nvPr/>
        </p:nvSpPr>
        <p:spPr>
          <a:xfrm>
            <a:off x="960120" y="4279392"/>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speaker m. · f. · pl.</a:t>
            </a:r>
            <a:endParaRPr lang="en-US" sz="800" dirty="0"/>
          </a:p>
        </p:txBody>
      </p:sp>
      <p:sp>
        <p:nvSpPr>
          <p:cNvPr id="78" name="Text 7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أَنَا آسِفٌ</a:t>
            </a:r>
            <a:endParaRPr lang="ar-SA" sz="3000" dirty="0"/>
          </a:p>
        </p:txBody>
      </p:sp>
      <p:sp>
        <p:nvSpPr>
          <p:cNvPr id="79" name="Text 7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sorry</a:t>
            </a:r>
            <a:endParaRPr lang="en-US" sz="1350" dirty="0"/>
          </a:p>
          <a:p>
            <a:pPr indent="0" marL="0">
              <a:buNone/>
            </a:pPr>
            <a:r>
              <a:rPr lang="en-US" sz="1100" i="1" dirty="0">
                <a:solidFill>
                  <a:srgbClr val="5A6472"/>
                </a:solidFill>
                <a:latin typeface="Calibri" pitchFamily="34" charset="0"/>
                <a:cs typeface="Amiri" pitchFamily="2" charset="-78"/>
              </a:rPr>
              <a:t>ā-sif · ā-si-fa · ā-si-fūn</a:t>
            </a:r>
            <a:endParaRPr lang="en-US" sz="1350" dirty="0"/>
          </a:p>
        </p:txBody>
      </p:sp>
      <p:sp>
        <p:nvSpPr>
          <p:cNvPr id="80" name="Shape 77"/>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boy</a:t>
            </a:r>
            <a:endParaRPr lang="en-US" sz="750" dirty="0"/>
          </a:p>
        </p:txBody>
      </p:sp>
      <p:sp>
        <p:nvSpPr>
          <p:cNvPr id="82" name="Text 79"/>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آسِفٌ</a:t>
            </a:r>
            <a:endParaRPr lang="ar-SA" sz="1500" dirty="0"/>
          </a:p>
        </p:txBody>
      </p:sp>
      <p:sp>
        <p:nvSpPr>
          <p:cNvPr id="83" name="Shape 80"/>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girl</a:t>
            </a:r>
            <a:endParaRPr lang="en-US" sz="700" dirty="0"/>
          </a:p>
        </p:txBody>
      </p:sp>
      <p:sp>
        <p:nvSpPr>
          <p:cNvPr id="85" name="Text 82"/>
          <p:cNvSpPr txBox="1"/>
          <p:nvPr/>
        </p:nvSpPr>
        <p:spPr>
          <a:xfrm>
            <a:off x="179222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آسِفَةٌ</a:t>
            </a:r>
            <a:endParaRPr lang="ar-SA" sz="1350" dirty="0"/>
          </a:p>
        </p:txBody>
      </p:sp>
      <p:sp>
        <p:nvSpPr>
          <p:cNvPr id="86" name="Shape 83"/>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87" name="Text 84"/>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88" name="Text 85"/>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آسِفُونَ</a:t>
            </a:r>
            <a:endParaRPr lang="ar-SA" sz="150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1 · THE POLITE-PHRASE BANK (WEBSITE) · 2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Here you are, no problem, excuse 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عِبَارَاتُ الأَدَبِ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تَفَضَّلْ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here you are / go ahead</a:t>
            </a:r>
            <a:endParaRPr lang="en-US" sz="1350" dirty="0"/>
          </a:p>
          <a:p>
            <a:pPr indent="0" marL="0">
              <a:buNone/>
            </a:pPr>
            <a:r>
              <a:rPr lang="en-US" sz="1100" i="1" dirty="0">
                <a:solidFill>
                  <a:srgbClr val="5A6472"/>
                </a:solidFill>
                <a:latin typeface="Calibri" pitchFamily="34" charset="0"/>
                <a:cs typeface="Amiri" pitchFamily="2" charset="-78"/>
              </a:rPr>
              <a:t>ta-faḍ-ḍal · -lī · -lū</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m.</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تَفَضَّلْ</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f.</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تَفَضَّلِي</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pl.</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تَفَضَّلُوا</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reply to sorry</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بَأْسَ</a:t>
            </a:r>
            <a:endParaRPr lang="ar-SA" sz="3000" dirty="0"/>
          </a:p>
        </p:txBody>
      </p:sp>
      <p:sp>
        <p:nvSpPr>
          <p:cNvPr id="41" name="Text 3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 problem / it’s all right</a:t>
            </a:r>
            <a:endParaRPr lang="en-US" sz="1350" dirty="0"/>
          </a:p>
          <a:p>
            <a:pPr indent="0" marL="0">
              <a:buNone/>
            </a:pPr>
            <a:r>
              <a:rPr lang="en-US" sz="1100" i="1" dirty="0">
                <a:solidFill>
                  <a:srgbClr val="5A6472"/>
                </a:solidFill>
                <a:latin typeface="Calibri" pitchFamily="34" charset="0"/>
                <a:cs typeface="Amiri" pitchFamily="2" charset="-78"/>
              </a:rPr>
              <a:t>lā baʾs</a:t>
            </a:r>
            <a:endParaRPr lang="en-US" sz="1350" dirty="0"/>
          </a:p>
        </p:txBody>
      </p:sp>
      <p:sp>
        <p:nvSpPr>
          <p:cNvPr id="42" name="Text 39"/>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reassuring answer to an apology.</a:t>
            </a:r>
            <a:endParaRPr lang="en-US" sz="10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6" name="Shape 43"/>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attention</a:t>
            </a:r>
            <a:endParaRPr lang="en-US" sz="800" dirty="0"/>
          </a:p>
        </p:txBody>
      </p:sp>
      <p:sp>
        <p:nvSpPr>
          <p:cNvPr id="48" name="Shape 4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مَعْذِرَةً</a:t>
            </a:r>
            <a:endParaRPr lang="ar-SA" sz="3000" dirty="0"/>
          </a:p>
        </p:txBody>
      </p:sp>
      <p:sp>
        <p:nvSpPr>
          <p:cNvPr id="51" name="Text 4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excuse me / pardon</a:t>
            </a:r>
            <a:endParaRPr lang="en-US" sz="1350" dirty="0"/>
          </a:p>
          <a:p>
            <a:pPr indent="0" marL="0">
              <a:buNone/>
            </a:pPr>
            <a:r>
              <a:rPr lang="en-US" sz="1100" i="1" dirty="0">
                <a:solidFill>
                  <a:srgbClr val="5A6472"/>
                </a:solidFill>
                <a:latin typeface="Calibri" pitchFamily="34" charset="0"/>
                <a:cs typeface="Amiri" pitchFamily="2" charset="-78"/>
              </a:rPr>
              <a:t>maʿ-dhi-ra-tan</a:t>
            </a:r>
            <a:endParaRPr lang="en-US" sz="1350" dirty="0"/>
          </a:p>
        </p:txBody>
      </p:sp>
      <p:sp>
        <p:nvSpPr>
          <p:cNvPr id="52" name="Text 49"/>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Use it to gain attention politely.</a:t>
            </a:r>
            <a:endParaRPr lang="en-US" sz="100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6" name="Shape 53"/>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m. · f.</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يَا أُسْتَاذُ</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Sir / Miss (addressing a teacher)</a:t>
            </a:r>
            <a:endParaRPr lang="en-US" sz="1350" dirty="0"/>
          </a:p>
          <a:p>
            <a:pPr indent="0" marL="0">
              <a:buNone/>
            </a:pPr>
            <a:r>
              <a:rPr lang="en-US" sz="1100" i="1" dirty="0">
                <a:solidFill>
                  <a:srgbClr val="5A6472"/>
                </a:solidFill>
                <a:latin typeface="Calibri" pitchFamily="34" charset="0"/>
                <a:cs typeface="Amiri" pitchFamily="2" charset="-78"/>
              </a:rPr>
              <a:t>yā us-tā-dhu · us-tā-dha-tu</a:t>
            </a:r>
            <a:endParaRPr lang="en-US" sz="1350" dirty="0"/>
          </a:p>
        </p:txBody>
      </p:sp>
      <p:sp>
        <p:nvSpPr>
          <p:cNvPr id="60" name="Shape 57"/>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m.</a:t>
            </a:r>
            <a:endParaRPr lang="en-US" sz="700" dirty="0"/>
          </a:p>
        </p:txBody>
      </p:sp>
      <p:sp>
        <p:nvSpPr>
          <p:cNvPr id="62" name="Text 59"/>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يَا أُسْتَاذُ</a:t>
            </a:r>
            <a:endParaRPr lang="ar-SA" sz="1350" dirty="0"/>
          </a:p>
        </p:txBody>
      </p:sp>
      <p:sp>
        <p:nvSpPr>
          <p:cNvPr id="63" name="Shape 60"/>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f.</a:t>
            </a:r>
            <a:endParaRPr lang="en-US" sz="700" dirty="0"/>
          </a:p>
        </p:txBody>
      </p:sp>
      <p:sp>
        <p:nvSpPr>
          <p:cNvPr id="65" name="Text 62"/>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يَا أُسْتَاذَةُ</a:t>
            </a:r>
            <a:endParaRPr lang="ar-SA" sz="1350" dirty="0"/>
          </a:p>
        </p:txBody>
      </p:sp>
      <p:sp>
        <p:nvSpPr>
          <p:cNvPr id="66" name="Shape 6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4389120"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9" name="Shape 66"/>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70" name="Text 67"/>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problem</a:t>
            </a:r>
            <a:endParaRPr lang="en-US" sz="800" dirty="0"/>
          </a:p>
        </p:txBody>
      </p:sp>
      <p:sp>
        <p:nvSpPr>
          <p:cNvPr id="71" name="Shape 6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2" name="Text 6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3" name="Text 7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أَفْهَمُ</a:t>
            </a:r>
            <a:endParaRPr lang="ar-SA" sz="3000" dirty="0"/>
          </a:p>
        </p:txBody>
      </p:sp>
      <p:sp>
        <p:nvSpPr>
          <p:cNvPr id="74" name="Text 7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do not understand.</a:t>
            </a:r>
            <a:endParaRPr lang="en-US" sz="1350" dirty="0"/>
          </a:p>
          <a:p>
            <a:pPr indent="0" marL="0">
              <a:buNone/>
            </a:pPr>
            <a:r>
              <a:rPr lang="en-US" sz="1100" i="1" dirty="0">
                <a:solidFill>
                  <a:srgbClr val="5A6472"/>
                </a:solidFill>
                <a:latin typeface="Calibri" pitchFamily="34" charset="0"/>
                <a:cs typeface="Amiri" pitchFamily="2" charset="-78"/>
              </a:rPr>
              <a:t>lā af-ha-mu</a:t>
            </a:r>
            <a:endParaRPr lang="en-US" sz="1350" dirty="0"/>
          </a:p>
        </p:txBody>
      </p:sp>
      <p:sp>
        <p:nvSpPr>
          <p:cNvPr id="75" name="Text 72"/>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F2-L04 verb + </a:t>
            </a:r>
            <a:pPr algn="l" indent="0" marL="0">
              <a:buNone/>
            </a:pPr>
            <a:r>
              <a:rPr lang="ar-SA" altLang="en-US" sz="1300" dirty="0">
                <a:solidFill>
                  <a:srgbClr val="8A6D1E"/>
                </a:solidFill>
                <a:latin typeface="Amiri" pitchFamily="2" charset="-78"/>
                <a:ea typeface="Amiri" pitchFamily="2" charset="-78"/>
                <a:cs typeface="Amiri" pitchFamily="2" charset="-78"/>
              </a:rPr>
              <a:t>لَا</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76" name="Shape 7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566928" y="4261104"/>
            <a:ext cx="310896" cy="310896"/>
          </a:xfrm>
          <a:prstGeom prst="ellipse">
            <a:avLst/>
          </a:prstGeom>
          <a:solidFill>
            <a:srgbClr val="F4F1EA"/>
          </a:solidFill>
          <a:ln w="12700">
            <a:solidFill>
              <a:srgbClr val="F4F1EA"/>
            </a:solidFill>
            <a:prstDash val="solid"/>
          </a:ln>
        </p:spPr>
      </p:sp>
      <p:sp>
        <p:nvSpPr>
          <p:cNvPr id="78" name="Text 7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9" name="Shape 76"/>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80" name="Text 77"/>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permission</a:t>
            </a:r>
            <a:endParaRPr lang="en-US" sz="800" dirty="0"/>
          </a:p>
        </p:txBody>
      </p:sp>
      <p:sp>
        <p:nvSpPr>
          <p:cNvPr id="81" name="Text 7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يُمْكِنُ أَنْ …؟</a:t>
            </a:r>
            <a:endParaRPr lang="ar-SA" sz="3000" dirty="0"/>
          </a:p>
        </p:txBody>
      </p:sp>
      <p:sp>
        <p:nvSpPr>
          <p:cNvPr id="82" name="Text 7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May I …? / Is it possible to …?</a:t>
            </a:r>
            <a:endParaRPr lang="en-US" sz="1350" dirty="0"/>
          </a:p>
          <a:p>
            <a:pPr indent="0" marL="0">
              <a:buNone/>
            </a:pPr>
            <a:r>
              <a:rPr lang="en-US" sz="1100" i="1" dirty="0">
                <a:solidFill>
                  <a:srgbClr val="5A6472"/>
                </a:solidFill>
                <a:latin typeface="Calibri" pitchFamily="34" charset="0"/>
                <a:cs typeface="Amiri" pitchFamily="2" charset="-78"/>
              </a:rPr>
              <a:t>hal yum-ki-nu an …</a:t>
            </a:r>
            <a:endParaRPr lang="en-US" sz="1350" dirty="0"/>
          </a:p>
        </p:txBody>
      </p:sp>
      <p:sp>
        <p:nvSpPr>
          <p:cNvPr id="83" name="Text 80"/>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هَلْ يُمْكِنُ أَنْ أَدْخُلَ؟</a:t>
            </a:r>
            <a:pPr algn="l" indent="0" marL="0">
              <a:buNone/>
            </a:pPr>
            <a:r>
              <a:rPr lang="en-US" sz="1000" i="1" dirty="0">
                <a:solidFill>
                  <a:srgbClr val="8A6D1E"/>
                </a:solidFill>
                <a:latin typeface="Calibri" pitchFamily="34" charset="0"/>
                <a:cs typeface="Amiri" pitchFamily="2" charset="-78"/>
              </a:rPr>
              <a:t> May I come in?</a:t>
            </a:r>
            <a:endParaRPr lang="en-US" sz="10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2 · CLASSROOM OBJECTS (WEBSITE) · RECYCLE F2-L05</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do you need?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أَدَوَاتُ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153144"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One</a:t>
            </a:r>
            <a:endParaRPr lang="en-US" sz="1100" dirty="0"/>
          </a:p>
        </p:txBody>
      </p:sp>
      <p:sp>
        <p:nvSpPr>
          <p:cNvPr id="17" name="Text 14"/>
          <p:cNvSpPr txBox="1"/>
          <p:nvPr/>
        </p:nvSpPr>
        <p:spPr>
          <a:xfrm>
            <a:off x="640994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Plural (reference)</a:t>
            </a:r>
            <a:endParaRPr lang="en-US" sz="1100" dirty="0"/>
          </a:p>
        </p:txBody>
      </p:sp>
      <p:sp>
        <p:nvSpPr>
          <p:cNvPr id="18" name="Text 15"/>
          <p:cNvSpPr txBox="1"/>
          <p:nvPr/>
        </p:nvSpPr>
        <p:spPr>
          <a:xfrm>
            <a:off x="439826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 or f.?</a:t>
            </a:r>
            <a:endParaRPr lang="en-US" sz="1100" dirty="0"/>
          </a:p>
        </p:txBody>
      </p:sp>
      <p:sp>
        <p:nvSpPr>
          <p:cNvPr id="19" name="Text 16"/>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20" name="Shape 17"/>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1" name="Text 18"/>
          <p:cNvSpPr txBox="1"/>
          <p:nvPr/>
        </p:nvSpPr>
        <p:spPr>
          <a:xfrm>
            <a:off x="9171432" y="2267712"/>
            <a:ext cx="246888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قَلَمٌ</a:t>
            </a:r>
            <a:endParaRPr lang="ar-SA" sz="2400" dirty="0"/>
          </a:p>
        </p:txBody>
      </p:sp>
      <p:sp>
        <p:nvSpPr>
          <p:cNvPr id="22" name="Text 19"/>
          <p:cNvSpPr txBox="1"/>
          <p:nvPr/>
        </p:nvSpPr>
        <p:spPr>
          <a:xfrm>
            <a:off x="6428232" y="2267712"/>
            <a:ext cx="256032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أَقْلَامٌ</a:t>
            </a:r>
            <a:endParaRPr lang="ar-SA" sz="2000" dirty="0"/>
          </a:p>
        </p:txBody>
      </p:sp>
      <p:sp>
        <p:nvSpPr>
          <p:cNvPr id="23" name="Text 20"/>
          <p:cNvSpPr txBox="1"/>
          <p:nvPr/>
        </p:nvSpPr>
        <p:spPr>
          <a:xfrm>
            <a:off x="4434840" y="2267712"/>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t>
            </a:r>
            <a:endParaRPr lang="en-US" sz="1100" dirty="0"/>
          </a:p>
        </p:txBody>
      </p:sp>
      <p:sp>
        <p:nvSpPr>
          <p:cNvPr id="24" name="Text 21"/>
          <p:cNvSpPr txBox="1"/>
          <p:nvPr/>
        </p:nvSpPr>
        <p:spPr>
          <a:xfrm>
            <a:off x="566928" y="2267712"/>
            <a:ext cx="3685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pen</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8" name="Text 25"/>
          <p:cNvSpPr txBox="1"/>
          <p:nvPr/>
        </p:nvSpPr>
        <p:spPr>
          <a:xfrm>
            <a:off x="9171432" y="2950464"/>
            <a:ext cx="246888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قَلَمُ رَصَاصٍ</a:t>
            </a:r>
            <a:endParaRPr lang="ar-SA" sz="2400" dirty="0"/>
          </a:p>
        </p:txBody>
      </p:sp>
      <p:sp>
        <p:nvSpPr>
          <p:cNvPr id="29" name="Text 26"/>
          <p:cNvSpPr txBox="1"/>
          <p:nvPr/>
        </p:nvSpPr>
        <p:spPr>
          <a:xfrm>
            <a:off x="6428232" y="2950464"/>
            <a:ext cx="256032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أَقْلَامُ رَصَاصٍ</a:t>
            </a:r>
            <a:endParaRPr lang="ar-SA" sz="2000" dirty="0"/>
          </a:p>
        </p:txBody>
      </p:sp>
      <p:sp>
        <p:nvSpPr>
          <p:cNvPr id="30" name="Text 27"/>
          <p:cNvSpPr txBox="1"/>
          <p:nvPr/>
        </p:nvSpPr>
        <p:spPr>
          <a:xfrm>
            <a:off x="4434840" y="2950464"/>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t>
            </a:r>
            <a:endParaRPr lang="en-US" sz="1100" dirty="0"/>
          </a:p>
        </p:txBody>
      </p:sp>
      <p:sp>
        <p:nvSpPr>
          <p:cNvPr id="31" name="Text 28"/>
          <p:cNvSpPr txBox="1"/>
          <p:nvPr/>
        </p:nvSpPr>
        <p:spPr>
          <a:xfrm>
            <a:off x="566928" y="2950464"/>
            <a:ext cx="3685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pencil</a:t>
            </a:r>
            <a:endParaRPr lang="en-US" sz="1100" dirty="0"/>
          </a:p>
        </p:txBody>
      </p:sp>
      <p:sp>
        <p:nvSpPr>
          <p:cNvPr id="32" name="Shape 29"/>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35" name="Text 32"/>
          <p:cNvSpPr txBox="1"/>
          <p:nvPr/>
        </p:nvSpPr>
        <p:spPr>
          <a:xfrm>
            <a:off x="9171432" y="3633216"/>
            <a:ext cx="246888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a:t>
            </a:r>
            <a:endParaRPr lang="ar-SA" sz="2400" dirty="0"/>
          </a:p>
        </p:txBody>
      </p:sp>
      <p:sp>
        <p:nvSpPr>
          <p:cNvPr id="36" name="Text 33"/>
          <p:cNvSpPr txBox="1"/>
          <p:nvPr/>
        </p:nvSpPr>
        <p:spPr>
          <a:xfrm>
            <a:off x="6428232" y="3633216"/>
            <a:ext cx="256032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كُتُبٌ</a:t>
            </a:r>
            <a:endParaRPr lang="ar-SA" sz="2000" dirty="0"/>
          </a:p>
        </p:txBody>
      </p:sp>
      <p:sp>
        <p:nvSpPr>
          <p:cNvPr id="37" name="Text 34"/>
          <p:cNvSpPr txBox="1"/>
          <p:nvPr/>
        </p:nvSpPr>
        <p:spPr>
          <a:xfrm>
            <a:off x="4434840" y="3633216"/>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t>
            </a:r>
            <a:endParaRPr lang="en-US" sz="1100" dirty="0"/>
          </a:p>
        </p:txBody>
      </p:sp>
      <p:sp>
        <p:nvSpPr>
          <p:cNvPr id="38" name="Text 35"/>
          <p:cNvSpPr txBox="1"/>
          <p:nvPr/>
        </p:nvSpPr>
        <p:spPr>
          <a:xfrm>
            <a:off x="566928" y="3633216"/>
            <a:ext cx="3685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book</a:t>
            </a:r>
            <a:endParaRPr lang="en-US" sz="1100" dirty="0"/>
          </a:p>
        </p:txBody>
      </p:sp>
      <p:sp>
        <p:nvSpPr>
          <p:cNvPr id="39" name="Shape 36"/>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42" name="Text 39"/>
          <p:cNvSpPr txBox="1"/>
          <p:nvPr/>
        </p:nvSpPr>
        <p:spPr>
          <a:xfrm>
            <a:off x="9171432" y="4315968"/>
            <a:ext cx="246888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دَفْتَرٌ</a:t>
            </a:r>
            <a:endParaRPr lang="ar-SA" sz="2400" dirty="0"/>
          </a:p>
        </p:txBody>
      </p:sp>
      <p:sp>
        <p:nvSpPr>
          <p:cNvPr id="43" name="Text 40"/>
          <p:cNvSpPr txBox="1"/>
          <p:nvPr/>
        </p:nvSpPr>
        <p:spPr>
          <a:xfrm>
            <a:off x="6428232" y="4315968"/>
            <a:ext cx="256032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دَفَاتِرُ</a:t>
            </a:r>
            <a:endParaRPr lang="ar-SA" sz="2000" dirty="0"/>
          </a:p>
        </p:txBody>
      </p:sp>
      <p:sp>
        <p:nvSpPr>
          <p:cNvPr id="44" name="Text 41"/>
          <p:cNvSpPr txBox="1"/>
          <p:nvPr/>
        </p:nvSpPr>
        <p:spPr>
          <a:xfrm>
            <a:off x="4434840" y="4315968"/>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t>
            </a:r>
            <a:endParaRPr lang="en-US" sz="1100" dirty="0"/>
          </a:p>
        </p:txBody>
      </p:sp>
      <p:sp>
        <p:nvSpPr>
          <p:cNvPr id="45" name="Text 42"/>
          <p:cNvSpPr txBox="1"/>
          <p:nvPr/>
        </p:nvSpPr>
        <p:spPr>
          <a:xfrm>
            <a:off x="566928" y="4315968"/>
            <a:ext cx="3685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notebook</a:t>
            </a:r>
            <a:endParaRPr lang="en-US" sz="1100" dirty="0"/>
          </a:p>
        </p:txBody>
      </p:sp>
      <p:sp>
        <p:nvSpPr>
          <p:cNvPr id="46" name="Shape 43"/>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47" name="Text 44"/>
          <p:cNvSpPr txBox="1"/>
          <p:nvPr/>
        </p:nvSpPr>
        <p:spPr>
          <a:xfrm>
            <a:off x="9171432" y="4998720"/>
            <a:ext cx="246888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وَرَقَةٌ</a:t>
            </a:r>
            <a:endParaRPr lang="ar-SA" sz="2400" dirty="0"/>
          </a:p>
        </p:txBody>
      </p:sp>
      <p:sp>
        <p:nvSpPr>
          <p:cNvPr id="48" name="Text 45"/>
          <p:cNvSpPr txBox="1"/>
          <p:nvPr/>
        </p:nvSpPr>
        <p:spPr>
          <a:xfrm>
            <a:off x="6428232" y="4998720"/>
            <a:ext cx="256032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أَوْرَاقٌ</a:t>
            </a:r>
            <a:endParaRPr lang="ar-SA" sz="2000" dirty="0"/>
          </a:p>
        </p:txBody>
      </p:sp>
      <p:sp>
        <p:nvSpPr>
          <p:cNvPr id="49" name="Text 46"/>
          <p:cNvSpPr txBox="1"/>
          <p:nvPr/>
        </p:nvSpPr>
        <p:spPr>
          <a:xfrm>
            <a:off x="4434840" y="4998720"/>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 (</a:t>
            </a:r>
            <a:pPr algn="l" indent="0" marL="0">
              <a:buNone/>
            </a:pPr>
            <a:r>
              <a:rPr lang="ar-SA" altLang="en-US" sz="1450" dirty="0">
                <a:solidFill>
                  <a:srgbClr val="5A6472"/>
                </a:solidFill>
                <a:latin typeface="Amiri" pitchFamily="2" charset="-78"/>
                <a:ea typeface="Amiri" pitchFamily="2" charset="-78"/>
                <a:cs typeface="Amiri" pitchFamily="2" charset="-78"/>
              </a:rPr>
              <a:t>ة</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0" name="Text 47"/>
          <p:cNvSpPr txBox="1"/>
          <p:nvPr/>
        </p:nvSpPr>
        <p:spPr>
          <a:xfrm>
            <a:off x="566928" y="4998720"/>
            <a:ext cx="3685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sheet of paper</a:t>
            </a:r>
            <a:endParaRPr lang="en-US" sz="1100" dirty="0"/>
          </a:p>
        </p:txBody>
      </p:sp>
      <p:sp>
        <p:nvSpPr>
          <p:cNvPr id="51" name="Shape 48"/>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52" name="Text 49"/>
          <p:cNvSpPr txBox="1"/>
          <p:nvPr/>
        </p:nvSpPr>
        <p:spPr>
          <a:xfrm>
            <a:off x="9171432" y="5681472"/>
            <a:ext cx="246888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مِمْحَاةٌ</a:t>
            </a:r>
            <a:endParaRPr lang="ar-SA" sz="2400" dirty="0"/>
          </a:p>
        </p:txBody>
      </p:sp>
      <p:sp>
        <p:nvSpPr>
          <p:cNvPr id="53" name="Text 50"/>
          <p:cNvSpPr txBox="1"/>
          <p:nvPr/>
        </p:nvSpPr>
        <p:spPr>
          <a:xfrm>
            <a:off x="6428232" y="5681472"/>
            <a:ext cx="256032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مَمَاحٍ</a:t>
            </a:r>
            <a:endParaRPr lang="ar-SA" sz="2000" dirty="0"/>
          </a:p>
        </p:txBody>
      </p:sp>
      <p:sp>
        <p:nvSpPr>
          <p:cNvPr id="54" name="Text 51"/>
          <p:cNvSpPr txBox="1"/>
          <p:nvPr/>
        </p:nvSpPr>
        <p:spPr>
          <a:xfrm>
            <a:off x="4434840" y="5681472"/>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 (</a:t>
            </a:r>
            <a:pPr algn="l" indent="0" marL="0">
              <a:buNone/>
            </a:pPr>
            <a:r>
              <a:rPr lang="ar-SA" altLang="en-US" sz="1450" dirty="0">
                <a:solidFill>
                  <a:srgbClr val="5A6472"/>
                </a:solidFill>
                <a:latin typeface="Amiri" pitchFamily="2" charset="-78"/>
                <a:ea typeface="Amiri" pitchFamily="2" charset="-78"/>
                <a:cs typeface="Amiri" pitchFamily="2" charset="-78"/>
              </a:rPr>
              <a:t>ة</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5" name="Text 52"/>
          <p:cNvSpPr txBox="1"/>
          <p:nvPr/>
        </p:nvSpPr>
        <p:spPr>
          <a:xfrm>
            <a:off x="566928" y="5681472"/>
            <a:ext cx="3685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eraser</a:t>
            </a:r>
            <a:endParaRPr lang="en-US" sz="11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CLASSROOM OBJECTS (WEBSITE)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more classroom words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أَدَوَاتُ الصَّفِّ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7" name="Shape 14"/>
          <p:cNvSpPr/>
          <p:nvPr/>
        </p:nvSpPr>
        <p:spPr>
          <a:xfrm>
            <a:off x="457200" y="1810512"/>
            <a:ext cx="11274552" cy="384048"/>
          </a:xfrm>
          <a:prstGeom prst="rect">
            <a:avLst/>
          </a:prstGeom>
          <a:solidFill>
            <a:srgbClr val="1B3B6F"/>
          </a:solidFill>
          <a:ln w="12700">
            <a:solidFill>
              <a:srgbClr val="1B3B6F"/>
            </a:solidFill>
            <a:prstDash val="solid"/>
          </a:ln>
        </p:spPr>
      </p:sp>
      <p:sp>
        <p:nvSpPr>
          <p:cNvPr id="18" name="Text 15"/>
          <p:cNvSpPr txBox="1"/>
          <p:nvPr/>
        </p:nvSpPr>
        <p:spPr>
          <a:xfrm>
            <a:off x="9153144"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One</a:t>
            </a:r>
            <a:endParaRPr lang="en-US" sz="1100" dirty="0"/>
          </a:p>
        </p:txBody>
      </p:sp>
      <p:sp>
        <p:nvSpPr>
          <p:cNvPr id="19" name="Text 16"/>
          <p:cNvSpPr txBox="1"/>
          <p:nvPr/>
        </p:nvSpPr>
        <p:spPr>
          <a:xfrm>
            <a:off x="640994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Plural (reference)</a:t>
            </a:r>
            <a:endParaRPr lang="en-US" sz="1100" dirty="0"/>
          </a:p>
        </p:txBody>
      </p:sp>
      <p:sp>
        <p:nvSpPr>
          <p:cNvPr id="20" name="Text 17"/>
          <p:cNvSpPr txBox="1"/>
          <p:nvPr/>
        </p:nvSpPr>
        <p:spPr>
          <a:xfrm>
            <a:off x="439826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 or f.?</a:t>
            </a:r>
            <a:endParaRPr lang="en-US" sz="1100" dirty="0"/>
          </a:p>
        </p:txBody>
      </p:sp>
      <p:sp>
        <p:nvSpPr>
          <p:cNvPr id="21" name="Text 18"/>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22" name="Shape 19"/>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3" name="Text 20"/>
          <p:cNvSpPr txBox="1"/>
          <p:nvPr/>
        </p:nvSpPr>
        <p:spPr>
          <a:xfrm>
            <a:off x="9171432" y="2267712"/>
            <a:ext cx="246888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مِسْطَرَةٌ</a:t>
            </a:r>
            <a:endParaRPr lang="ar-SA" sz="2400" dirty="0"/>
          </a:p>
        </p:txBody>
      </p:sp>
      <p:sp>
        <p:nvSpPr>
          <p:cNvPr id="24" name="Text 21"/>
          <p:cNvSpPr txBox="1"/>
          <p:nvPr/>
        </p:nvSpPr>
        <p:spPr>
          <a:xfrm>
            <a:off x="6428232" y="2267712"/>
            <a:ext cx="256032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مَسَاطِرُ</a:t>
            </a:r>
            <a:endParaRPr lang="ar-SA" sz="2000" dirty="0"/>
          </a:p>
        </p:txBody>
      </p:sp>
      <p:sp>
        <p:nvSpPr>
          <p:cNvPr id="25" name="Text 22"/>
          <p:cNvSpPr txBox="1"/>
          <p:nvPr/>
        </p:nvSpPr>
        <p:spPr>
          <a:xfrm>
            <a:off x="4434840" y="2267712"/>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 (</a:t>
            </a:r>
            <a:pPr algn="l" indent="0" marL="0">
              <a:buNone/>
            </a:pPr>
            <a:r>
              <a:rPr lang="ar-SA" altLang="en-US" sz="1450" dirty="0">
                <a:solidFill>
                  <a:srgbClr val="5A6472"/>
                </a:solidFill>
                <a:latin typeface="Amiri" pitchFamily="2" charset="-78"/>
                <a:ea typeface="Amiri" pitchFamily="2" charset="-78"/>
                <a:cs typeface="Amiri" pitchFamily="2" charset="-78"/>
              </a:rPr>
              <a:t>ة</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6" name="Text 23"/>
          <p:cNvSpPr txBox="1"/>
          <p:nvPr/>
        </p:nvSpPr>
        <p:spPr>
          <a:xfrm>
            <a:off x="566928" y="2267712"/>
            <a:ext cx="3685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ruler</a:t>
            </a:r>
            <a:endParaRPr lang="en-US" sz="1100" dirty="0"/>
          </a:p>
        </p:txBody>
      </p:sp>
      <p:sp>
        <p:nvSpPr>
          <p:cNvPr id="27" name="Shape 24"/>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8" name="Text 25"/>
          <p:cNvSpPr txBox="1"/>
          <p:nvPr/>
        </p:nvSpPr>
        <p:spPr>
          <a:xfrm>
            <a:off x="9171432" y="2950464"/>
            <a:ext cx="246888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حَقِيبَةٌ</a:t>
            </a:r>
            <a:endParaRPr lang="ar-SA" sz="2400" dirty="0"/>
          </a:p>
        </p:txBody>
      </p:sp>
      <p:sp>
        <p:nvSpPr>
          <p:cNvPr id="29" name="Text 26"/>
          <p:cNvSpPr txBox="1"/>
          <p:nvPr/>
        </p:nvSpPr>
        <p:spPr>
          <a:xfrm>
            <a:off x="6428232" y="2950464"/>
            <a:ext cx="256032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حَقَائِبُ</a:t>
            </a:r>
            <a:endParaRPr lang="ar-SA" sz="2000" dirty="0"/>
          </a:p>
        </p:txBody>
      </p:sp>
      <p:sp>
        <p:nvSpPr>
          <p:cNvPr id="30" name="Text 27"/>
          <p:cNvSpPr txBox="1"/>
          <p:nvPr/>
        </p:nvSpPr>
        <p:spPr>
          <a:xfrm>
            <a:off x="4434840" y="2950464"/>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 (</a:t>
            </a:r>
            <a:pPr algn="l" indent="0" marL="0">
              <a:buNone/>
            </a:pPr>
            <a:r>
              <a:rPr lang="ar-SA" altLang="en-US" sz="1450" dirty="0">
                <a:solidFill>
                  <a:srgbClr val="5A6472"/>
                </a:solidFill>
                <a:latin typeface="Amiri" pitchFamily="2" charset="-78"/>
                <a:ea typeface="Amiri" pitchFamily="2" charset="-78"/>
                <a:cs typeface="Amiri" pitchFamily="2" charset="-78"/>
              </a:rPr>
              <a:t>ة</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Text 28"/>
          <p:cNvSpPr txBox="1"/>
          <p:nvPr/>
        </p:nvSpPr>
        <p:spPr>
          <a:xfrm>
            <a:off x="566928" y="2950464"/>
            <a:ext cx="3685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bag</a:t>
            </a:r>
            <a:endParaRPr lang="en-US" sz="1100" dirty="0"/>
          </a:p>
        </p:txBody>
      </p:sp>
      <p:sp>
        <p:nvSpPr>
          <p:cNvPr id="32" name="Shape 29"/>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33" name="Text 30"/>
          <p:cNvSpPr txBox="1"/>
          <p:nvPr/>
        </p:nvSpPr>
        <p:spPr>
          <a:xfrm>
            <a:off x="9171432" y="3633216"/>
            <a:ext cx="246888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مَاءٌ</a:t>
            </a:r>
            <a:endParaRPr lang="ar-SA" sz="2400" dirty="0"/>
          </a:p>
        </p:txBody>
      </p:sp>
      <p:sp>
        <p:nvSpPr>
          <p:cNvPr id="34" name="Text 31"/>
          <p:cNvSpPr txBox="1"/>
          <p:nvPr/>
        </p:nvSpPr>
        <p:spPr>
          <a:xfrm>
            <a:off x="6428232" y="3633216"/>
            <a:ext cx="256032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مِيَاهٌ</a:t>
            </a:r>
            <a:endParaRPr lang="ar-SA" sz="2000" dirty="0"/>
          </a:p>
        </p:txBody>
      </p:sp>
      <p:sp>
        <p:nvSpPr>
          <p:cNvPr id="35" name="Text 32"/>
          <p:cNvSpPr txBox="1"/>
          <p:nvPr/>
        </p:nvSpPr>
        <p:spPr>
          <a:xfrm>
            <a:off x="4434840" y="3633216"/>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t>
            </a:r>
            <a:endParaRPr lang="en-US" sz="1100" dirty="0"/>
          </a:p>
        </p:txBody>
      </p:sp>
      <p:sp>
        <p:nvSpPr>
          <p:cNvPr id="36" name="Text 33"/>
          <p:cNvSpPr txBox="1"/>
          <p:nvPr/>
        </p:nvSpPr>
        <p:spPr>
          <a:xfrm>
            <a:off x="566928" y="3633216"/>
            <a:ext cx="3685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water</a:t>
            </a:r>
            <a:endParaRPr lang="en-US" sz="1100" dirty="0"/>
          </a:p>
        </p:txBody>
      </p:sp>
      <p:sp>
        <p:nvSpPr>
          <p:cNvPr id="37" name="Shape 34"/>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38" name="Text 35"/>
          <p:cNvSpPr txBox="1"/>
          <p:nvPr/>
        </p:nvSpPr>
        <p:spPr>
          <a:xfrm>
            <a:off x="9171432" y="4315968"/>
            <a:ext cx="246888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بَابٌ</a:t>
            </a:r>
            <a:endParaRPr lang="ar-SA" sz="2400" dirty="0"/>
          </a:p>
        </p:txBody>
      </p:sp>
      <p:sp>
        <p:nvSpPr>
          <p:cNvPr id="39" name="Text 36"/>
          <p:cNvSpPr txBox="1"/>
          <p:nvPr/>
        </p:nvSpPr>
        <p:spPr>
          <a:xfrm>
            <a:off x="6428232" y="4315968"/>
            <a:ext cx="256032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أَبْوَابٌ</a:t>
            </a:r>
            <a:endParaRPr lang="ar-SA" sz="2000" dirty="0"/>
          </a:p>
        </p:txBody>
      </p:sp>
      <p:sp>
        <p:nvSpPr>
          <p:cNvPr id="40" name="Text 37"/>
          <p:cNvSpPr txBox="1"/>
          <p:nvPr/>
        </p:nvSpPr>
        <p:spPr>
          <a:xfrm>
            <a:off x="4434840" y="4315968"/>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t>
            </a:r>
            <a:endParaRPr lang="en-US" sz="1100" dirty="0"/>
          </a:p>
        </p:txBody>
      </p:sp>
      <p:sp>
        <p:nvSpPr>
          <p:cNvPr id="41" name="Text 38"/>
          <p:cNvSpPr txBox="1"/>
          <p:nvPr/>
        </p:nvSpPr>
        <p:spPr>
          <a:xfrm>
            <a:off x="566928" y="4315968"/>
            <a:ext cx="3685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door</a:t>
            </a:r>
            <a:endParaRPr lang="en-US" sz="1100" dirty="0"/>
          </a:p>
        </p:txBody>
      </p:sp>
      <p:sp>
        <p:nvSpPr>
          <p:cNvPr id="42" name="Shape 39"/>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43" name="Text 40"/>
          <p:cNvSpPr txBox="1"/>
          <p:nvPr/>
        </p:nvSpPr>
        <p:spPr>
          <a:xfrm>
            <a:off x="9171432" y="4998720"/>
            <a:ext cx="246888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نَافِذَةٌ</a:t>
            </a:r>
            <a:endParaRPr lang="ar-SA" sz="2400" dirty="0"/>
          </a:p>
        </p:txBody>
      </p:sp>
      <p:sp>
        <p:nvSpPr>
          <p:cNvPr id="44" name="Text 41"/>
          <p:cNvSpPr txBox="1"/>
          <p:nvPr/>
        </p:nvSpPr>
        <p:spPr>
          <a:xfrm>
            <a:off x="6428232" y="4998720"/>
            <a:ext cx="256032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نَوَافِذُ</a:t>
            </a:r>
            <a:endParaRPr lang="ar-SA" sz="2000" dirty="0"/>
          </a:p>
        </p:txBody>
      </p:sp>
      <p:sp>
        <p:nvSpPr>
          <p:cNvPr id="45" name="Text 42"/>
          <p:cNvSpPr txBox="1"/>
          <p:nvPr/>
        </p:nvSpPr>
        <p:spPr>
          <a:xfrm>
            <a:off x="4434840" y="4998720"/>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 (</a:t>
            </a:r>
            <a:pPr algn="l" indent="0" marL="0">
              <a:buNone/>
            </a:pPr>
            <a:r>
              <a:rPr lang="ar-SA" altLang="en-US" sz="1450" dirty="0">
                <a:solidFill>
                  <a:srgbClr val="5A6472"/>
                </a:solidFill>
                <a:latin typeface="Amiri" pitchFamily="2" charset="-78"/>
                <a:ea typeface="Amiri" pitchFamily="2" charset="-78"/>
                <a:cs typeface="Amiri" pitchFamily="2" charset="-78"/>
              </a:rPr>
              <a:t>ة</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6" name="Text 43"/>
          <p:cNvSpPr txBox="1"/>
          <p:nvPr/>
        </p:nvSpPr>
        <p:spPr>
          <a:xfrm>
            <a:off x="566928" y="4998720"/>
            <a:ext cx="3685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window</a:t>
            </a:r>
            <a:endParaRPr lang="en-US" sz="1100" dirty="0"/>
          </a:p>
        </p:txBody>
      </p:sp>
      <p:sp>
        <p:nvSpPr>
          <p:cNvPr id="47" name="Shape 44"/>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48" name="Text 45"/>
          <p:cNvSpPr txBox="1"/>
          <p:nvPr/>
        </p:nvSpPr>
        <p:spPr>
          <a:xfrm>
            <a:off x="9171432" y="5681472"/>
            <a:ext cx="246888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سُؤَالٌ</a:t>
            </a:r>
            <a:endParaRPr lang="ar-SA" sz="2400" dirty="0"/>
          </a:p>
        </p:txBody>
      </p:sp>
      <p:sp>
        <p:nvSpPr>
          <p:cNvPr id="49" name="Text 46"/>
          <p:cNvSpPr txBox="1"/>
          <p:nvPr/>
        </p:nvSpPr>
        <p:spPr>
          <a:xfrm>
            <a:off x="6428232" y="5681472"/>
            <a:ext cx="256032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أَسْئِلَةٌ</a:t>
            </a:r>
            <a:endParaRPr lang="ar-SA" sz="2000" dirty="0"/>
          </a:p>
        </p:txBody>
      </p:sp>
      <p:sp>
        <p:nvSpPr>
          <p:cNvPr id="50" name="Text 47"/>
          <p:cNvSpPr txBox="1"/>
          <p:nvPr/>
        </p:nvSpPr>
        <p:spPr>
          <a:xfrm>
            <a:off x="4434840" y="5681472"/>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t>
            </a:r>
            <a:endParaRPr lang="en-US" sz="1100" dirty="0"/>
          </a:p>
        </p:txBody>
      </p:sp>
      <p:sp>
        <p:nvSpPr>
          <p:cNvPr id="51" name="Text 48"/>
          <p:cNvSpPr txBox="1"/>
          <p:nvPr/>
        </p:nvSpPr>
        <p:spPr>
          <a:xfrm>
            <a:off x="566928" y="5681472"/>
            <a:ext cx="3685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question</a:t>
            </a:r>
            <a:endParaRPr lang="en-US" sz="110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B3B6F"/>
                </a:solidFill>
                <a:latin typeface="Calibri" pitchFamily="34" charset="0"/>
                <a:cs typeface="Amiri" pitchFamily="2" charset="-78"/>
              </a:rPr>
              <a:t>GRAMMAR FOCUS · USEFUL CLASSROOM REQUESTS (WEBSITE) · LOOK AT THE LISTENER</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 a boy or to a girl?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طَلَبَاتٌ مُهَذَّبَةٌ فِي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81544"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 a boy / man</a:t>
            </a:r>
            <a:endParaRPr lang="en-US" sz="1100" dirty="0"/>
          </a:p>
        </p:txBody>
      </p:sp>
      <p:sp>
        <p:nvSpPr>
          <p:cNvPr id="17" name="Text 14"/>
          <p:cNvSpPr txBox="1"/>
          <p:nvPr/>
        </p:nvSpPr>
        <p:spPr>
          <a:xfrm>
            <a:off x="357530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 a girl / woman</a:t>
            </a:r>
            <a:endParaRPr lang="en-US" sz="1100" dirty="0"/>
          </a:p>
        </p:txBody>
      </p:sp>
      <p:sp>
        <p:nvSpPr>
          <p:cNvPr id="18" name="Text 15"/>
          <p:cNvSpPr txBox="1"/>
          <p:nvPr/>
        </p:nvSpPr>
        <p:spPr>
          <a:xfrm>
            <a:off x="5303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9832" y="2267712"/>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أُرِيدُ قَلَمًا، مِنْ فَضْلِ</a:t>
            </a:r>
            <a:pPr rtl="1" algn="ctr" indent="0" marL="0">
              <a:buNone/>
            </a:pPr>
            <a:r>
              <a:rPr lang="ar-SA" altLang="en-US" sz="2200" b="1" dirty="0">
                <a:solidFill>
                  <a:srgbClr val="D6336C"/>
                </a:solidFill>
                <a:latin typeface="Amiri" pitchFamily="2" charset="-78"/>
                <a:ea typeface="Amiri" pitchFamily="2" charset="-78"/>
                <a:cs typeface="Amiri" pitchFamily="2" charset="-78"/>
              </a:rPr>
              <a:t>كَ</a:t>
            </a:r>
            <a:pPr rtl="1" algn="ctr" indent="0" marL="0">
              <a:buNone/>
            </a:pPr>
            <a:r>
              <a:rPr lang="ar-SA" altLang="en-US" sz="2200" b="1" dirty="0">
                <a:solidFill>
                  <a:srgbClr val="1B3B6F"/>
                </a:solidFill>
                <a:latin typeface="Amiri" pitchFamily="2" charset="-78"/>
                <a:cs typeface="Amiri" pitchFamily="2" charset="-78"/>
              </a:rPr>
              <a:t>.</a:t>
            </a:r>
            <a:endParaRPr lang="ar-SA" sz="2200" dirty="0"/>
          </a:p>
        </p:txBody>
      </p:sp>
      <p:sp>
        <p:nvSpPr>
          <p:cNvPr id="21" name="Text 18"/>
          <p:cNvSpPr txBox="1"/>
          <p:nvPr/>
        </p:nvSpPr>
        <p:spPr>
          <a:xfrm>
            <a:off x="3593592" y="2267712"/>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أُرِيدُ قَلَمًا، مِنْ فَضْلِ</a:t>
            </a:r>
            <a:pPr rtl="1" algn="ctr" indent="0" marL="0">
              <a:buNone/>
            </a:pPr>
            <a:r>
              <a:rPr lang="ar-SA" altLang="en-US" sz="2200" b="1" dirty="0">
                <a:solidFill>
                  <a:srgbClr val="D6336C"/>
                </a:solidFill>
                <a:latin typeface="Amiri" pitchFamily="2" charset="-78"/>
                <a:ea typeface="Amiri" pitchFamily="2" charset="-78"/>
                <a:cs typeface="Amiri" pitchFamily="2" charset="-78"/>
              </a:rPr>
              <a:t>كِ</a:t>
            </a:r>
            <a:pPr rtl="1" algn="ctr" indent="0" marL="0">
              <a:buNone/>
            </a:pPr>
            <a:r>
              <a:rPr lang="ar-SA" altLang="en-US" sz="2200" b="1" dirty="0">
                <a:solidFill>
                  <a:srgbClr val="1B3B6F"/>
                </a:solidFill>
                <a:latin typeface="Amiri" pitchFamily="2" charset="-78"/>
                <a:cs typeface="Amiri" pitchFamily="2" charset="-78"/>
              </a:rPr>
              <a:t>.</a:t>
            </a:r>
            <a:endParaRPr lang="ar-SA" sz="2200" dirty="0"/>
          </a:p>
        </p:txBody>
      </p:sp>
      <p:sp>
        <p:nvSpPr>
          <p:cNvPr id="22" name="Text 19"/>
          <p:cNvSpPr txBox="1"/>
          <p:nvPr/>
        </p:nvSpPr>
        <p:spPr>
          <a:xfrm>
            <a:off x="566928" y="226771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would like a pen, please.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7799832" y="2881884"/>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أَعِدْ، مِنْ فَضْلِ</a:t>
            </a:r>
            <a:pPr rtl="1" algn="ctr" indent="0" marL="0">
              <a:buNone/>
            </a:pPr>
            <a:r>
              <a:rPr lang="ar-SA" altLang="en-US" sz="2200" b="1" dirty="0">
                <a:solidFill>
                  <a:srgbClr val="D6336C"/>
                </a:solidFill>
                <a:latin typeface="Amiri" pitchFamily="2" charset="-78"/>
                <a:ea typeface="Amiri" pitchFamily="2" charset="-78"/>
                <a:cs typeface="Amiri" pitchFamily="2" charset="-78"/>
              </a:rPr>
              <a:t>كَ</a:t>
            </a:r>
            <a:pPr rtl="1" algn="ctr" indent="0" marL="0">
              <a:buNone/>
            </a:pPr>
            <a:r>
              <a:rPr lang="ar-SA" altLang="en-US" sz="2200" b="1" dirty="0">
                <a:solidFill>
                  <a:srgbClr val="1B3B6F"/>
                </a:solidFill>
                <a:latin typeface="Amiri" pitchFamily="2" charset="-78"/>
                <a:cs typeface="Amiri" pitchFamily="2" charset="-78"/>
              </a:rPr>
              <a:t>.</a:t>
            </a:r>
            <a:endParaRPr lang="ar-SA" sz="2200" dirty="0"/>
          </a:p>
        </p:txBody>
      </p:sp>
      <p:sp>
        <p:nvSpPr>
          <p:cNvPr id="27" name="Text 24"/>
          <p:cNvSpPr txBox="1"/>
          <p:nvPr/>
        </p:nvSpPr>
        <p:spPr>
          <a:xfrm>
            <a:off x="3593592" y="2881884"/>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أَعِيدِ</a:t>
            </a:r>
            <a:pPr rtl="1" algn="ctr" indent="0" marL="0">
              <a:buNone/>
            </a:pPr>
            <a:r>
              <a:rPr lang="ar-SA" altLang="en-US" sz="2200" b="1" dirty="0">
                <a:solidFill>
                  <a:srgbClr val="D6336C"/>
                </a:solidFill>
                <a:latin typeface="Amiri" pitchFamily="2" charset="-78"/>
                <a:ea typeface="Amiri" pitchFamily="2" charset="-78"/>
                <a:cs typeface="Amiri" pitchFamily="2" charset="-78"/>
              </a:rPr>
              <a:t>ي</a:t>
            </a:r>
            <a:pPr rtl="1" algn="ctr" indent="0" marL="0">
              <a:buNone/>
            </a:pPr>
            <a:r>
              <a:rPr lang="ar-SA" altLang="en-US" sz="2200" b="1" dirty="0">
                <a:solidFill>
                  <a:srgbClr val="1B3B6F"/>
                </a:solidFill>
                <a:latin typeface="Amiri" pitchFamily="2" charset="-78"/>
                <a:ea typeface="Amiri" pitchFamily="2" charset="-78"/>
                <a:cs typeface="Amiri" pitchFamily="2" charset="-78"/>
              </a:rPr>
              <a:t>، مِنْ فَضْلِ</a:t>
            </a:r>
            <a:pPr rtl="1" algn="ctr" indent="0" marL="0">
              <a:buNone/>
            </a:pPr>
            <a:r>
              <a:rPr lang="ar-SA" altLang="en-US" sz="2200" b="1" dirty="0">
                <a:solidFill>
                  <a:srgbClr val="D6336C"/>
                </a:solidFill>
                <a:latin typeface="Amiri" pitchFamily="2" charset="-78"/>
                <a:ea typeface="Amiri" pitchFamily="2" charset="-78"/>
                <a:cs typeface="Amiri" pitchFamily="2" charset="-78"/>
              </a:rPr>
              <a:t>كِ</a:t>
            </a:r>
            <a:pPr rtl="1" algn="ctr" indent="0" marL="0">
              <a:buNone/>
            </a:pPr>
            <a:r>
              <a:rPr lang="ar-SA" altLang="en-US" sz="2200" b="1" dirty="0">
                <a:solidFill>
                  <a:srgbClr val="1B3B6F"/>
                </a:solidFill>
                <a:latin typeface="Amiri" pitchFamily="2" charset="-78"/>
                <a:cs typeface="Amiri" pitchFamily="2" charset="-78"/>
              </a:rPr>
              <a:t>.</a:t>
            </a:r>
            <a:endParaRPr lang="ar-SA" sz="2200" dirty="0"/>
          </a:p>
        </p:txBody>
      </p:sp>
      <p:sp>
        <p:nvSpPr>
          <p:cNvPr id="28" name="Text 25"/>
          <p:cNvSpPr txBox="1"/>
          <p:nvPr/>
        </p:nvSpPr>
        <p:spPr>
          <a:xfrm>
            <a:off x="566928" y="2881884"/>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Repeat, please.</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7799832" y="3496056"/>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تَكَلَّمْ بِبُطْءٍ، مِنْ فَضْلِ</a:t>
            </a:r>
            <a:pPr rtl="1" algn="ctr" indent="0" marL="0">
              <a:buNone/>
            </a:pPr>
            <a:r>
              <a:rPr lang="ar-SA" altLang="en-US" sz="2200" b="1" dirty="0">
                <a:solidFill>
                  <a:srgbClr val="D6336C"/>
                </a:solidFill>
                <a:latin typeface="Amiri" pitchFamily="2" charset="-78"/>
                <a:ea typeface="Amiri" pitchFamily="2" charset="-78"/>
                <a:cs typeface="Amiri" pitchFamily="2" charset="-78"/>
              </a:rPr>
              <a:t>كَ</a:t>
            </a:r>
            <a:pPr rtl="1" algn="ctr" indent="0" marL="0">
              <a:buNone/>
            </a:pPr>
            <a:r>
              <a:rPr lang="ar-SA" altLang="en-US" sz="2200" b="1" dirty="0">
                <a:solidFill>
                  <a:srgbClr val="1B3B6F"/>
                </a:solidFill>
                <a:latin typeface="Amiri" pitchFamily="2" charset="-78"/>
                <a:cs typeface="Amiri" pitchFamily="2" charset="-78"/>
              </a:rPr>
              <a:t>.</a:t>
            </a:r>
            <a:endParaRPr lang="ar-SA" sz="2200" dirty="0"/>
          </a:p>
        </p:txBody>
      </p:sp>
      <p:sp>
        <p:nvSpPr>
          <p:cNvPr id="33" name="Text 30"/>
          <p:cNvSpPr txBox="1"/>
          <p:nvPr/>
        </p:nvSpPr>
        <p:spPr>
          <a:xfrm>
            <a:off x="3593592" y="3496056"/>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تَكَلَّمِ</a:t>
            </a:r>
            <a:pPr rtl="1" algn="ctr" indent="0" marL="0">
              <a:buNone/>
            </a:pPr>
            <a:r>
              <a:rPr lang="ar-SA" altLang="en-US" sz="2200" b="1" dirty="0">
                <a:solidFill>
                  <a:srgbClr val="D6336C"/>
                </a:solidFill>
                <a:latin typeface="Amiri" pitchFamily="2" charset="-78"/>
                <a:ea typeface="Amiri" pitchFamily="2" charset="-78"/>
                <a:cs typeface="Amiri" pitchFamily="2" charset="-78"/>
              </a:rPr>
              <a:t>ي</a:t>
            </a:r>
            <a:pPr rtl="1" algn="ctr" indent="0" marL="0">
              <a:buNone/>
            </a:pPr>
            <a:r>
              <a:rPr lang="ar-SA" altLang="en-US" sz="2200" b="1" dirty="0">
                <a:solidFill>
                  <a:srgbClr val="1B3B6F"/>
                </a:solidFill>
                <a:latin typeface="Amiri" pitchFamily="2" charset="-78"/>
                <a:ea typeface="Amiri" pitchFamily="2" charset="-78"/>
                <a:cs typeface="Amiri" pitchFamily="2" charset="-78"/>
              </a:rPr>
              <a:t> بِبُطْءٍ، مِنْ فَضْلِ</a:t>
            </a:r>
            <a:pPr rtl="1" algn="ctr" indent="0" marL="0">
              <a:buNone/>
            </a:pPr>
            <a:r>
              <a:rPr lang="ar-SA" altLang="en-US" sz="2200" b="1" dirty="0">
                <a:solidFill>
                  <a:srgbClr val="D6336C"/>
                </a:solidFill>
                <a:latin typeface="Amiri" pitchFamily="2" charset="-78"/>
                <a:ea typeface="Amiri" pitchFamily="2" charset="-78"/>
                <a:cs typeface="Amiri" pitchFamily="2" charset="-78"/>
              </a:rPr>
              <a:t>كِ</a:t>
            </a:r>
            <a:pPr rtl="1" algn="ctr" indent="0" marL="0">
              <a:buNone/>
            </a:pPr>
            <a:r>
              <a:rPr lang="ar-SA" altLang="en-US" sz="2200" b="1" dirty="0">
                <a:solidFill>
                  <a:srgbClr val="1B3B6F"/>
                </a:solidFill>
                <a:latin typeface="Amiri" pitchFamily="2" charset="-78"/>
                <a:cs typeface="Amiri" pitchFamily="2" charset="-78"/>
              </a:rPr>
              <a:t>.</a:t>
            </a:r>
            <a:endParaRPr lang="ar-SA" sz="2200" dirty="0"/>
          </a:p>
        </p:txBody>
      </p:sp>
      <p:sp>
        <p:nvSpPr>
          <p:cNvPr id="34" name="Text 31"/>
          <p:cNvSpPr txBox="1"/>
          <p:nvPr/>
        </p:nvSpPr>
        <p:spPr>
          <a:xfrm>
            <a:off x="566928" y="3496056"/>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Speak slowly, please.</a:t>
            </a:r>
            <a:endParaRPr lang="en-US" sz="11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7799832" y="4110228"/>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سَاعِدْنِي، مِنْ فَضْلِ</a:t>
            </a:r>
            <a:pPr rtl="1" algn="ctr" indent="0" marL="0">
              <a:buNone/>
            </a:pPr>
            <a:r>
              <a:rPr lang="ar-SA" altLang="en-US" sz="2200" b="1" dirty="0">
                <a:solidFill>
                  <a:srgbClr val="D6336C"/>
                </a:solidFill>
                <a:latin typeface="Amiri" pitchFamily="2" charset="-78"/>
                <a:ea typeface="Amiri" pitchFamily="2" charset="-78"/>
                <a:cs typeface="Amiri" pitchFamily="2" charset="-78"/>
              </a:rPr>
              <a:t>كَ</a:t>
            </a:r>
            <a:pPr rtl="1" algn="ctr" indent="0" marL="0">
              <a:buNone/>
            </a:pPr>
            <a:r>
              <a:rPr lang="ar-SA" altLang="en-US" sz="2200" b="1" dirty="0">
                <a:solidFill>
                  <a:srgbClr val="1B3B6F"/>
                </a:solidFill>
                <a:latin typeface="Amiri" pitchFamily="2" charset="-78"/>
                <a:cs typeface="Amiri" pitchFamily="2" charset="-78"/>
              </a:rPr>
              <a:t>.</a:t>
            </a:r>
            <a:endParaRPr lang="ar-SA" sz="2200" dirty="0"/>
          </a:p>
        </p:txBody>
      </p:sp>
      <p:sp>
        <p:nvSpPr>
          <p:cNvPr id="37" name="Text 34"/>
          <p:cNvSpPr txBox="1"/>
          <p:nvPr/>
        </p:nvSpPr>
        <p:spPr>
          <a:xfrm>
            <a:off x="3593592" y="4110228"/>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سَاعِدِ</a:t>
            </a:r>
            <a:pPr rtl="1" algn="ctr" indent="0" marL="0">
              <a:buNone/>
            </a:pPr>
            <a:r>
              <a:rPr lang="ar-SA" altLang="en-US" sz="2200" b="1" dirty="0">
                <a:solidFill>
                  <a:srgbClr val="D6336C"/>
                </a:solidFill>
                <a:latin typeface="Amiri" pitchFamily="2" charset="-78"/>
                <a:ea typeface="Amiri" pitchFamily="2" charset="-78"/>
                <a:cs typeface="Amiri" pitchFamily="2" charset="-78"/>
              </a:rPr>
              <a:t>ي</a:t>
            </a:r>
            <a:pPr rtl="1" algn="ctr" indent="0" marL="0">
              <a:buNone/>
            </a:pPr>
            <a:r>
              <a:rPr lang="ar-SA" altLang="en-US" sz="2200" b="1" dirty="0">
                <a:solidFill>
                  <a:srgbClr val="1B3B6F"/>
                </a:solidFill>
                <a:latin typeface="Amiri" pitchFamily="2" charset="-78"/>
                <a:ea typeface="Amiri" pitchFamily="2" charset="-78"/>
                <a:cs typeface="Amiri" pitchFamily="2" charset="-78"/>
              </a:rPr>
              <a:t>نِي، مِنْ فَضْلِ</a:t>
            </a:r>
            <a:pPr rtl="1" algn="ctr" indent="0" marL="0">
              <a:buNone/>
            </a:pPr>
            <a:r>
              <a:rPr lang="ar-SA" altLang="en-US" sz="2200" b="1" dirty="0">
                <a:solidFill>
                  <a:srgbClr val="D6336C"/>
                </a:solidFill>
                <a:latin typeface="Amiri" pitchFamily="2" charset="-78"/>
                <a:ea typeface="Amiri" pitchFamily="2" charset="-78"/>
                <a:cs typeface="Amiri" pitchFamily="2" charset="-78"/>
              </a:rPr>
              <a:t>كِ</a:t>
            </a:r>
            <a:pPr rtl="1" algn="ctr" indent="0" marL="0">
              <a:buNone/>
            </a:pPr>
            <a:r>
              <a:rPr lang="ar-SA" altLang="en-US" sz="2200" b="1" dirty="0">
                <a:solidFill>
                  <a:srgbClr val="1B3B6F"/>
                </a:solidFill>
                <a:latin typeface="Amiri" pitchFamily="2" charset="-78"/>
                <a:cs typeface="Amiri" pitchFamily="2" charset="-78"/>
              </a:rPr>
              <a:t>.</a:t>
            </a:r>
            <a:endParaRPr lang="ar-SA" sz="2200" dirty="0"/>
          </a:p>
        </p:txBody>
      </p:sp>
      <p:sp>
        <p:nvSpPr>
          <p:cNvPr id="38" name="Text 35"/>
          <p:cNvSpPr txBox="1"/>
          <p:nvPr/>
        </p:nvSpPr>
        <p:spPr>
          <a:xfrm>
            <a:off x="566928" y="4110228"/>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Help me, please.</a:t>
            </a:r>
            <a:endParaRPr lang="en-US" sz="110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7799832" y="4724400"/>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تَفَضَّلْ.</a:t>
            </a:r>
            <a:endParaRPr lang="ar-SA" sz="2200" dirty="0"/>
          </a:p>
        </p:txBody>
      </p:sp>
      <p:sp>
        <p:nvSpPr>
          <p:cNvPr id="41" name="Text 38"/>
          <p:cNvSpPr txBox="1"/>
          <p:nvPr/>
        </p:nvSpPr>
        <p:spPr>
          <a:xfrm>
            <a:off x="3593592" y="4724400"/>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تَفَضَّلِ</a:t>
            </a:r>
            <a:pPr rtl="1" algn="ctr" indent="0" marL="0">
              <a:buNone/>
            </a:pPr>
            <a:r>
              <a:rPr lang="ar-SA" altLang="en-US" sz="2200" b="1" dirty="0">
                <a:solidFill>
                  <a:srgbClr val="D6336C"/>
                </a:solidFill>
                <a:latin typeface="Amiri" pitchFamily="2" charset="-78"/>
                <a:ea typeface="Amiri" pitchFamily="2" charset="-78"/>
                <a:cs typeface="Amiri" pitchFamily="2" charset="-78"/>
              </a:rPr>
              <a:t>ي</a:t>
            </a:r>
            <a:pPr rtl="1" algn="ctr" indent="0" marL="0">
              <a:buNone/>
            </a:pPr>
            <a:r>
              <a:rPr lang="ar-SA" altLang="en-US" sz="2200" b="1" dirty="0">
                <a:solidFill>
                  <a:srgbClr val="1B3B6F"/>
                </a:solidFill>
                <a:latin typeface="Amiri" pitchFamily="2" charset="-78"/>
                <a:cs typeface="Amiri" pitchFamily="2" charset="-78"/>
              </a:rPr>
              <a:t>.</a:t>
            </a:r>
            <a:endParaRPr lang="ar-SA" sz="2200" dirty="0"/>
          </a:p>
        </p:txBody>
      </p:sp>
      <p:sp>
        <p:nvSpPr>
          <p:cNvPr id="42" name="Text 39"/>
          <p:cNvSpPr txBox="1"/>
          <p:nvPr/>
        </p:nvSpPr>
        <p:spPr>
          <a:xfrm>
            <a:off x="566928" y="4724400"/>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Here you are. / Go ahead.</a:t>
            </a:r>
            <a:endParaRPr lang="en-US" sz="1100" dirty="0"/>
          </a:p>
        </p:txBody>
      </p:sp>
      <p:sp>
        <p:nvSpPr>
          <p:cNvPr id="43" name="Shape 4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7799832" y="5338572"/>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هَلْ يُمْكِنُ أَنْ أَدْخُلَ؟</a:t>
            </a:r>
            <a:endParaRPr lang="ar-SA" sz="2200" dirty="0"/>
          </a:p>
        </p:txBody>
      </p:sp>
      <p:sp>
        <p:nvSpPr>
          <p:cNvPr id="47" name="Text 44"/>
          <p:cNvSpPr txBox="1"/>
          <p:nvPr/>
        </p:nvSpPr>
        <p:spPr>
          <a:xfrm>
            <a:off x="3593592" y="5338572"/>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هَلْ يُمْكِنُ أَنْ أَدْخُلَ؟</a:t>
            </a:r>
            <a:endParaRPr lang="ar-SA" sz="2200" dirty="0"/>
          </a:p>
        </p:txBody>
      </p:sp>
      <p:sp>
        <p:nvSpPr>
          <p:cNvPr id="48" name="Text 45"/>
          <p:cNvSpPr txBox="1"/>
          <p:nvPr/>
        </p:nvSpPr>
        <p:spPr>
          <a:xfrm>
            <a:off x="566928" y="533857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May I come in? (same for both)</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Speaking to a girl or woman? Listen for -ki and -ī.</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Please — speaking to one female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فَضْلِكَ</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تَفَضَّلْ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فَضْلِكِ</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female speaker says ‘I am sorry’.</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آسِفَةٌ.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آسِفٌ.</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عَفْوًا.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Here you are — to one female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تَفَضَّلْ</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تَفَضَّلِي</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فَضْلِكِ</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reassuring reply to an apology</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بَأْسَ</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شُكْرًا</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Please — speaking to one female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فَضْلِكَ</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تَفَضَّلْ</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 فَضْلِكِ</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ـكِ</a:t>
            </a:r>
            <a:pPr algn="l" indent="0" marL="0">
              <a:buNone/>
            </a:pPr>
            <a:r>
              <a:rPr lang="en-US" sz="1050" i="1" dirty="0">
                <a:solidFill>
                  <a:srgbClr val="8A6D1E"/>
                </a:solidFill>
                <a:latin typeface="Calibri" pitchFamily="34" charset="0"/>
                <a:cs typeface="Amiri" pitchFamily="2" charset="-78"/>
              </a:rPr>
              <a:t> for one female listener.</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female speaker says ‘I am sorry’.</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أَنَا آسِفَةٌ.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آسِفٌ.</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عَفْوًا.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female speaker uses </a:t>
            </a:r>
            <a:pPr algn="l" indent="0" marL="0">
              <a:buNone/>
            </a:pPr>
            <a:r>
              <a:rPr lang="ar-SA" altLang="en-US" sz="1350" dirty="0">
                <a:solidFill>
                  <a:srgbClr val="8A6D1E"/>
                </a:solidFill>
                <a:latin typeface="Amiri" pitchFamily="2" charset="-78"/>
                <a:ea typeface="Amiri" pitchFamily="2" charset="-78"/>
                <a:cs typeface="Amiri" pitchFamily="2" charset="-78"/>
              </a:rPr>
              <a:t>آسِفَةٌ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Here you are — to one female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تَفَضَّلْ</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تَفَضَّلِي</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فَضْلِكِ</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a:t>
            </a:r>
            <a:pPr algn="l" indent="0" marL="0">
              <a:buNone/>
            </a:pPr>
            <a:r>
              <a:rPr lang="ar-SA" altLang="en-US" sz="1350" dirty="0">
                <a:solidFill>
                  <a:srgbClr val="8A6D1E"/>
                </a:solidFill>
                <a:latin typeface="Amiri" pitchFamily="2" charset="-78"/>
                <a:ea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 addresses one female.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reassuring reply to an apology</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 بَأْسَ</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شُكْرًا</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لَا بَأْسَ</a:t>
            </a:r>
            <a:pPr algn="l" indent="0" marL="0">
              <a:buNone/>
            </a:pPr>
            <a:r>
              <a:rPr lang="en-US" sz="1050" i="1" dirty="0">
                <a:solidFill>
                  <a:srgbClr val="8A6D1E"/>
                </a:solidFill>
                <a:latin typeface="Calibri" pitchFamily="34" charset="0"/>
                <a:cs typeface="Amiri" pitchFamily="2" charset="-78"/>
              </a:rPr>
              <a:t> means ‘no problem / it is all right’.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borrow a pencil politely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Get attention + request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ea typeface="Amiri" pitchFamily="2" charset="-78"/>
                <a:cs typeface="Amiri" pitchFamily="2" charset="-78"/>
              </a:rPr>
              <a:t>مَعْذِرَةً، أُرِيدُ قَلَمَ رَصَاصٍ،</a:t>
            </a:r>
            <a:endParaRPr lang="ar-SA" sz="23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Excuse me first; then what I need.</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Please — to the listener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مِنْ فَضْلِ</a:t>
            </a:r>
            <a:pPr rtl="1" algn="ctr" indent="0" marL="0">
              <a:buNone/>
            </a:pPr>
            <a:r>
              <a:rPr lang="ar-SA" altLang="en-US" sz="2800" b="1" dirty="0">
                <a:solidFill>
                  <a:srgbClr val="D6336C"/>
                </a:solidFill>
                <a:latin typeface="Amiri" pitchFamily="2" charset="-78"/>
                <a:ea typeface="Amiri" pitchFamily="2" charset="-78"/>
                <a:cs typeface="Amiri" pitchFamily="2" charset="-78"/>
              </a:rPr>
              <a:t>كِ</a:t>
            </a:r>
            <a:pPr rtl="1" algn="ctr" indent="0" marL="0">
              <a:buNone/>
            </a:pPr>
            <a:r>
              <a:rPr lang="ar-SA" altLang="en-US" sz="2800" b="1" dirty="0">
                <a:solidFill>
                  <a:srgbClr val="1B3B6F"/>
                </a:solidFill>
                <a:latin typeface="Amiri" pitchFamily="2" charset="-78"/>
                <a:cs typeface="Amiri" pitchFamily="2" charset="-78"/>
              </a:rPr>
              <a:t>.</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My teacher is a woman: -ki.</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She hands it over</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نَعَمْ، تَفَضَّلِ</a:t>
            </a:r>
            <a:pPr rtl="1" algn="ctr" indent="0" marL="0">
              <a:buNone/>
            </a:pPr>
            <a:r>
              <a:rPr lang="ar-SA" altLang="en-US" sz="2800" b="1" dirty="0">
                <a:solidFill>
                  <a:srgbClr val="D6336C"/>
                </a:solidFill>
                <a:latin typeface="Amiri" pitchFamily="2" charset="-78"/>
                <a:ea typeface="Amiri" pitchFamily="2" charset="-78"/>
                <a:cs typeface="Amiri" pitchFamily="2" charset="-78"/>
              </a:rPr>
              <a:t>ي</a:t>
            </a:r>
            <a:pPr rtl="1" algn="ctr" indent="0" marL="0">
              <a:buNone/>
            </a:pPr>
            <a:r>
              <a:rPr lang="ar-SA" altLang="en-US" sz="2800" b="1" dirty="0">
                <a:solidFill>
                  <a:srgbClr val="1B3B6F"/>
                </a:solidFill>
                <a:latin typeface="Amiri" pitchFamily="2" charset="-78"/>
                <a:cs typeface="Amiri" pitchFamily="2" charset="-78"/>
              </a:rPr>
              <a:t>.</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 am a girl, so she says </a:t>
            </a:r>
            <a:pPr algn="l" indent="0" marL="0">
              <a:buNone/>
            </a:pPr>
            <a:r>
              <a:rPr lang="ar-SA" altLang="en-US" sz="1500" dirty="0">
                <a:solidFill>
                  <a:srgbClr val="1F2A37"/>
                </a:solidFill>
                <a:latin typeface="Amiri" pitchFamily="2" charset="-78"/>
                <a:ea typeface="Amiri" pitchFamily="2" charset="-78"/>
                <a:cs typeface="Amiri" pitchFamily="2" charset="-78"/>
              </a:rPr>
              <a:t>تَفَضَّلِي</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Thanks and reply</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شُكْرًا جَزِيلًا. — عَفْوًا.</a:t>
            </a:r>
            <a:endParaRPr lang="ar-SA" sz="25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Thanks → you’re welcome. Hold the -an sound.</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TO A FEMALE</a:t>
            </a:r>
            <a:endParaRPr lang="en-US" sz="800" dirty="0"/>
          </a:p>
        </p:txBody>
      </p:sp>
      <p:sp>
        <p:nvSpPr>
          <p:cNvPr id="47" name="Text 43"/>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مَعْذِرَةً، أُرِيدُ قَلَمَ رَصَاصٍ، مِنْ فَضْلِ</a:t>
            </a:r>
            <a:pPr rtl="1" algn="r" indent="0" marL="0">
              <a:buNone/>
            </a:pPr>
            <a:r>
              <a:rPr lang="ar-SA" altLang="en-US" sz="2600" b="1" dirty="0">
                <a:solidFill>
                  <a:srgbClr val="D6336C"/>
                </a:solidFill>
                <a:latin typeface="Amiri" pitchFamily="2" charset="-78"/>
                <a:ea typeface="Amiri" pitchFamily="2" charset="-78"/>
                <a:cs typeface="Amiri" pitchFamily="2" charset="-78"/>
              </a:rPr>
              <a:t>كِ</a:t>
            </a:r>
            <a:pPr rtl="1" algn="r" indent="0" marL="0">
              <a:buNone/>
            </a:pPr>
            <a:r>
              <a:rPr lang="ar-SA" altLang="en-US" sz="2600" b="1" dirty="0">
                <a:solidFill>
                  <a:srgbClr val="1B3B6F"/>
                </a:solidFill>
                <a:latin typeface="Amiri" pitchFamily="2" charset="-78"/>
                <a:ea typeface="Amiri" pitchFamily="2" charset="-78"/>
                <a:cs typeface="Amiri" pitchFamily="2" charset="-78"/>
              </a:rPr>
              <a:t>. — نَعَمْ، تَفَضَّلِ</a:t>
            </a:r>
            <a:pPr rtl="1" algn="r" indent="0" marL="0">
              <a:buNone/>
            </a:pPr>
            <a:r>
              <a:rPr lang="ar-SA" altLang="en-US" sz="2600" b="1" dirty="0">
                <a:solidFill>
                  <a:srgbClr val="D6336C"/>
                </a:solidFill>
                <a:latin typeface="Amiri" pitchFamily="2" charset="-78"/>
                <a:ea typeface="Amiri" pitchFamily="2" charset="-78"/>
                <a:cs typeface="Amiri" pitchFamily="2" charset="-78"/>
              </a:rPr>
              <a:t>ي</a:t>
            </a:r>
            <a:pPr rtl="1" algn="r" indent="0" marL="0">
              <a:buNone/>
            </a:pPr>
            <a:r>
              <a:rPr lang="ar-SA" altLang="en-US" sz="2600" b="1" dirty="0">
                <a:solidFill>
                  <a:srgbClr val="1B3B6F"/>
                </a:solidFill>
                <a:latin typeface="Amiri" pitchFamily="2" charset="-78"/>
                <a:ea typeface="Amiri" pitchFamily="2" charset="-78"/>
                <a:cs typeface="Amiri" pitchFamily="2" charset="-78"/>
              </a:rPr>
              <a:t>. — شُكْرًا جَزِيلًا. — عَفْوًا.</a:t>
            </a:r>
            <a:endParaRPr lang="ar-SA" sz="2600" dirty="0"/>
          </a:p>
        </p:txBody>
      </p:sp>
      <p:sp>
        <p:nvSpPr>
          <p:cNvPr id="48" name="Text 44"/>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Excuse me, I would like a pencil, please. — Yes, here you are. — Thank you very much. — You’re welcome.</a:t>
            </a:r>
            <a:endParaRPr lang="en-US" sz="1300" dirty="0"/>
          </a:p>
        </p:txBody>
      </p:sp>
      <p:sp>
        <p:nvSpPr>
          <p:cNvPr id="49"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2F6FB0"/>
                </a:solidFill>
                <a:latin typeface="Calibri" pitchFamily="34" charset="0"/>
                <a:cs typeface="Amiri" pitchFamily="2" charset="-78"/>
              </a:rPr>
              <a:t>WE DO · PICTURE MATCH · WEBSITE GAME “VISUAL GAME — POLITE CLASSROOM ARABIC”</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do you say?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تَقُولُ؟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don’t understand</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thank you!</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leaving the room</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شُكْرًا جَزِيلًا.</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هَلْ يُمْكِنُ أَنْ أَخْرُجَ؟</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 أَفْهَمُ.</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تَقُولُ؟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don’t understand</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لَا أَفْهَمُ.</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do not understand.</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thank you!</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شُكْرًا جَزِيلًا.</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Thank you very much.</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leaving the room</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هَلْ يُمْكِنُ أَنْ أَخْرُجَ؟</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May I go out?</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ROLE-PLAY ROUNDS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Choose the complete, polite line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تَقُولُ؟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Address one female politely. Choose the complete request.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مِسْطَرَةً، مِنْ فَضْلِكَ.</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مِسْطَرَةٌ شُكْرًا.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مِسْطَرَةً، مِنْ فَضْلِكِ.</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Address one female. Ask her to repeat.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أَفْهَمُ. أَعِيدِي، مِنْ فَضْلِكِ.</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أَفْهَمُ. أَعِدْ، مِنْ فَضْلِكَ.</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نَعَمْ، أَفْهَمُ.</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What should she say?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آسِفٌ.</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آسِفَةٌ.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عَفْوًا.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permission. Which sentence is correct?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يُمْكِنُ أَنْ أَدْخُلَ؟</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أَنْ قَلَمٌ؟</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أَدْخُلُ شُكْرًا.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Reassure the speaker. Choose the best reply.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شُكْرًا جَزِيلًا.</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فَضْلِكَ.</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بَأْسَ.</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Who is the LISTENER?</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Female → -ki / -ī.</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Who is the SPEAKER?</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Female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آسِفَةٌ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ROLE-PLAY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Role-play: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Address one female politely. Choose the complete request.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أُرِيدُ مِسْطَرَةً، مِنْ فَضْلِكَ.</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مِسْطَرَةٌ شُكْرًا.</a:t>
            </a:r>
            <a:endParaRPr lang="ar-SA" sz="170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أُرِيدُ مِسْطَرَةً، مِنْ فَضْلِكِ.</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listener is female, so use </a:t>
            </a:r>
            <a:pPr algn="l" indent="0" marL="0">
              <a:buNone/>
            </a:pPr>
            <a:r>
              <a:rPr lang="ar-SA" altLang="en-US" sz="1350" dirty="0">
                <a:solidFill>
                  <a:srgbClr val="8A6D1E"/>
                </a:solidFill>
                <a:latin typeface="Amiri" pitchFamily="2" charset="-78"/>
                <a:ea typeface="Amiri" pitchFamily="2" charset="-78"/>
                <a:cs typeface="Amiri" pitchFamily="2" charset="-78"/>
              </a:rPr>
              <a:t>مِنْ فَضْلِكِ</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Address one female. Ask her to repeat.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 أَفْهَمُ. أَعِيدِي، مِنْ فَضْلِكِ.</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أَفْهَمُ. أَعِدْ، مِنْ فَضْلِكَ.</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نَعَمْ، أَفْهَمُ.</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forms are </a:t>
            </a:r>
            <a:pPr algn="l" indent="0" marL="0">
              <a:buNone/>
            </a:pPr>
            <a:r>
              <a:rPr lang="ar-SA" altLang="en-US" sz="1350" dirty="0">
                <a:solidFill>
                  <a:srgbClr val="8A6D1E"/>
                </a:solidFill>
                <a:latin typeface="Amiri" pitchFamily="2" charset="-78"/>
                <a:ea typeface="Amiri" pitchFamily="2" charset="-78"/>
                <a:cs typeface="Amiri" pitchFamily="2" charset="-78"/>
              </a:rPr>
              <a:t>أَعِيدِي</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ea typeface="Amiri" pitchFamily="2" charset="-78"/>
                <a:cs typeface="Amiri" pitchFamily="2" charset="-78"/>
              </a:rPr>
              <a:t>مِنْ فَضْلِكِ</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What should she say?</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آسِفٌ.</a:t>
            </a:r>
            <a:endParaRPr lang="ar-SA" sz="170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أَنَا آسِفَةٌ.</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عَفْوًا.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female speaker uses </a:t>
            </a:r>
            <a:pPr algn="l" indent="0" marL="0">
              <a:buNone/>
            </a:pPr>
            <a:r>
              <a:rPr lang="ar-SA" altLang="en-US" sz="1350" dirty="0">
                <a:solidFill>
                  <a:srgbClr val="8A6D1E"/>
                </a:solidFill>
                <a:latin typeface="Amiri" pitchFamily="2" charset="-78"/>
                <a:ea typeface="Amiri" pitchFamily="2" charset="-78"/>
                <a:cs typeface="Amiri" pitchFamily="2" charset="-78"/>
              </a:rPr>
              <a:t>آسِفَةٌ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permission. Which sentence is correct?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هَلْ يُمْكِنُ أَنْ أَدْخُلَ؟</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أَنْ قَلَمٌ؟</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أَدْخُلُ شُكْرًا.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هَلْ يُمْكِنُ أَنْ</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a:t>
            </a:r>
            <a:pPr algn="l" indent="0" marL="0">
              <a:buNone/>
            </a:pPr>
            <a:r>
              <a:rPr lang="en-US" sz="1050" i="1" dirty="0">
                <a:solidFill>
                  <a:srgbClr val="8A6D1E"/>
                </a:solidFill>
                <a:latin typeface="Calibri" pitchFamily="34" charset="0"/>
                <a:cs typeface="Amiri" pitchFamily="2" charset="-78"/>
              </a:rPr>
              <a:t> is the permission frame.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Reassure the speaker. Choose the best reply.</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شُكْرًا جَزِيلًا.</a:t>
            </a:r>
            <a:endParaRPr lang="ar-SA" sz="170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فَضْلِكَ.</a:t>
            </a:r>
            <a:endParaRPr lang="ar-SA" sz="170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 بَأْسَ.</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لَا بَأْسَ</a:t>
            </a:r>
            <a:pPr algn="l" indent="0" marL="0">
              <a:buNone/>
            </a:pPr>
            <a:r>
              <a:rPr lang="en-US" sz="1050" i="1" dirty="0">
                <a:solidFill>
                  <a:srgbClr val="8A6D1E"/>
                </a:solidFill>
                <a:latin typeface="Calibri" pitchFamily="34" charset="0"/>
                <a:cs typeface="Amiri" pitchFamily="2" charset="-78"/>
              </a:rPr>
              <a:t> means no problem / it is all right.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Who is the LISTENER?</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Female → -ki / -ī.</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Who is the SPEAKER?</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Female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آسِفَةٌ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الطَّالِبَةُ ← المُعَلِّمَةِ: مِنْ فَضْلِكَ</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is listening — a man or a woman?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مَرْيَمُ: أَنَا آسِفٌ.</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Maryam is speaking about herself.</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شُكْرًا. — لَا بَأْسَ.</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do you say after “thank you”?</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الطَّالِبَةُ ← المُعَلِّمَةِ: مِنْ فَضْلِكَ</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الطَّالِبَةُ ← المُعَلِّمَةِ: مِنْ فَضْلِكِ</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ending follows the LISTENER (a female teacher): -ki.</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مَرْيَمُ: أَنَا آسِفٌ.</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مَرْيَمُ: أَنَا آسِفَةٌ.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“Sorry” is an adjective: it matches the SPEAKER.</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شُكْرًا. — لَا بَأْسَ.</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شُكْرًا. — عَفْوًا.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thanks, say “you’re welcome”. “No problem” answers an apology.</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classroom exchanges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student ask for in exchange 1?</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قَلَمٌ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مِسْطَرَةٌ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handover phrase does the male teacher use?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تَفَضَّلِي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عَفْوًا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تَفَضَّلْ</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problem does the student in exchange 2 have?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needs water.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is late.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does not understand.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permission is requested in exchange 3?</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drink water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leave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borrow a ruler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student apologise in exchange 4?</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lost a pen.</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is late.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does not understand.</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First: the situation.</a:t>
            </a:r>
            <a:endParaRPr lang="en-US" sz="1250" dirty="0"/>
          </a:p>
          <a:p>
            <a:pPr algn="l" indent="0" marL="0">
              <a:buNone/>
            </a:pPr>
            <a:r>
              <a:rPr lang="en-US" sz="1250" dirty="0">
                <a:solidFill>
                  <a:srgbClr val="1E6B52"/>
                </a:solidFill>
                <a:latin typeface="Calibri" pitchFamily="34" charset="0"/>
                <a:cs typeface="Amiri" pitchFamily="2" charset="-78"/>
              </a:rPr>
              <a:t>Then: the exact polite phrase.</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١. مَعْذِرَةً، أُرِيدُ قَلَمًا، مِنْ فَضْلِكَ. — نَعَمْ، تَفَضَّلْ. — شُكْرًا جَزِيلًا. — عَفْوًا.</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Excuse me, I want a pen, please. — Yes, here you are. — Thank you very much. — You’re welcome.</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٢. لَا أَفْهَمُ. أَعِيدِي، مِنْ فَضْلِكِ. — نَعَمْ، سَأُعِيدُ السُّؤَالَ بِبُطْءٍ. — شُكْرًا.</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don’t understand. Repeat, please. — Yes, I will repeat the question slowly. — Thanks.</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٣. هَلْ يُمْكِنُ أَنْ أَشْرَبَ المَاءَ؟ — نَعَمْ، تَفَضَّلْ. — شُكْرًا.</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May I drink some water? — Yes, go ahead. — Thanks.</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٤. أَنَا آسِفَةٌ. تَأَخَّرْتُ. — لَا بَأْسَ. تَفَضَّلِي. — شُكْرًا جَزِيلًا.</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sorry. I was late. — No problem. Come in. — Thank you very much.</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student ask for in exchange 1?</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قَلَمٌ</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كِتَابٌ</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مِسْطَرَةٌ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asks for a pen: </a:t>
            </a:r>
            <a:pPr algn="l" indent="0" marL="0">
              <a:buNone/>
            </a:pPr>
            <a:r>
              <a:rPr lang="ar-SA" altLang="en-US" sz="1350" dirty="0">
                <a:solidFill>
                  <a:srgbClr val="8A6D1E"/>
                </a:solidFill>
                <a:latin typeface="Amiri" pitchFamily="2" charset="-78"/>
                <a:ea typeface="Amiri" pitchFamily="2" charset="-78"/>
                <a:cs typeface="Amiri" pitchFamily="2" charset="-78"/>
              </a:rPr>
              <a:t>أُرِيدُ قَلَمًا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handover phrase does the male teacher use?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تَفَضَّلِي</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عَفْوًا</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تَفَضَّلْ</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addresses a male student, so he says </a:t>
            </a:r>
            <a:pPr algn="l" indent="0" marL="0">
              <a:buNone/>
            </a:pPr>
            <a:r>
              <a:rPr lang="ar-SA" altLang="en-US" sz="1350" dirty="0">
                <a:solidFill>
                  <a:srgbClr val="8A6D1E"/>
                </a:solidFill>
                <a:latin typeface="Amiri" pitchFamily="2" charset="-78"/>
                <a:ea typeface="Amiri" pitchFamily="2" charset="-78"/>
                <a:cs typeface="Amiri" pitchFamily="2" charset="-78"/>
              </a:rPr>
              <a:t>تَفَضَّلْ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problem does the student in exchange 2 have?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needs water.</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is late.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She does not understand.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لَا أَفْهَمُ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permission is requested in exchange 3?</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drink water</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leave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borrow a ruler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student asks </a:t>
            </a:r>
            <a:pPr algn="l" indent="0" marL="0">
              <a:buNone/>
            </a:pPr>
            <a:r>
              <a:rPr lang="ar-SA" altLang="en-US" sz="1350" dirty="0">
                <a:solidFill>
                  <a:srgbClr val="8A6D1E"/>
                </a:solidFill>
                <a:latin typeface="Amiri" pitchFamily="2" charset="-78"/>
                <a:ea typeface="Amiri" pitchFamily="2" charset="-78"/>
                <a:cs typeface="Amiri" pitchFamily="2" charset="-78"/>
              </a:rPr>
              <a:t>هَلْ يُمْكِنُ أَنْ أَشْرَبَ المَاءَ؟</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student apologise in exchange 4?</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lost a pen.</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She is late.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does not understand.</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تَأَخَّرْتُ</a:t>
            </a:r>
            <a:pPr algn="l" indent="0" marL="0">
              <a:buNone/>
            </a:pPr>
            <a:r>
              <a:rPr lang="en-US" sz="1050" i="1" dirty="0">
                <a:solidFill>
                  <a:srgbClr val="8A6D1E"/>
                </a:solidFill>
                <a:latin typeface="Calibri" pitchFamily="34" charset="0"/>
                <a:cs typeface="Amiri" pitchFamily="2" charset="-78"/>
              </a:rPr>
              <a:t> — I was late.</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First: the situation.</a:t>
            </a:r>
            <a:endParaRPr lang="en-US" sz="1250" dirty="0"/>
          </a:p>
          <a:p>
            <a:pPr algn="l" indent="0" marL="0">
              <a:buNone/>
            </a:pPr>
            <a:r>
              <a:rPr lang="en-US" sz="1250" dirty="0">
                <a:solidFill>
                  <a:srgbClr val="1E6B52"/>
                </a:solidFill>
                <a:latin typeface="Calibri" pitchFamily="34" charset="0"/>
                <a:cs typeface="Amiri" pitchFamily="2" charset="-78"/>
              </a:rPr>
              <a:t>Then: the exact polite phrase.</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A POLITE START TO THE LESSON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Maryam arrives at the lesson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بِدَايَةٌ مُهَذَّبَةٌ لِلدَّرْسِ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457200" y="1810512"/>
            <a:ext cx="11274552" cy="688848"/>
          </a:xfrm>
          <a:prstGeom prst="roundRect">
            <a:avLst>
              <a:gd name="adj" fmla="val 6637"/>
            </a:avLst>
          </a:prstGeom>
          <a:solidFill>
            <a:srgbClr val="FFFFFF"/>
          </a:solidFill>
          <a:ln w="9525">
            <a:solidFill>
              <a:srgbClr val="D8D0BF"/>
            </a:solidFill>
            <a:prstDash val="solid"/>
          </a:ln>
        </p:spPr>
      </p:sp>
      <p:sp>
        <p:nvSpPr>
          <p:cNvPr id="16" name="Text 13"/>
          <p:cNvSpPr txBox="1"/>
          <p:nvPr/>
        </p:nvSpPr>
        <p:spPr>
          <a:xfrm>
            <a:off x="4937760" y="1828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مَرْيَمُ: مَعْذِرَةً يَا أُسْتَاذَةُ. هَلْ يُمْكِنُ أَنْ أَدْخُلَ؟</a:t>
            </a:r>
            <a:endParaRPr lang="ar-SA" sz="2000" dirty="0"/>
          </a:p>
        </p:txBody>
      </p:sp>
      <p:sp>
        <p:nvSpPr>
          <p:cNvPr id="17" name="Text 14"/>
          <p:cNvSpPr txBox="1"/>
          <p:nvPr/>
        </p:nvSpPr>
        <p:spPr>
          <a:xfrm>
            <a:off x="640080" y="182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Excuse me, Miss. May I come in?</a:t>
            </a:r>
            <a:endParaRPr lang="en-US" sz="1250" dirty="0"/>
          </a:p>
        </p:txBody>
      </p:sp>
      <p:sp>
        <p:nvSpPr>
          <p:cNvPr id="18" name="Shape 15"/>
          <p:cNvSpPr/>
          <p:nvPr/>
        </p:nvSpPr>
        <p:spPr>
          <a:xfrm>
            <a:off x="457200" y="2572512"/>
            <a:ext cx="11274552" cy="688848"/>
          </a:xfrm>
          <a:prstGeom prst="roundRect">
            <a:avLst>
              <a:gd name="adj" fmla="val 6637"/>
            </a:avLst>
          </a:prstGeom>
          <a:solidFill>
            <a:srgbClr val="F4F1EA"/>
          </a:solidFill>
          <a:ln w="9525">
            <a:solidFill>
              <a:srgbClr val="D8D0BF"/>
            </a:solidFill>
            <a:prstDash val="solid"/>
          </a:ln>
        </p:spPr>
      </p:sp>
      <p:sp>
        <p:nvSpPr>
          <p:cNvPr id="19" name="Text 16"/>
          <p:cNvSpPr txBox="1"/>
          <p:nvPr/>
        </p:nvSpPr>
        <p:spPr>
          <a:xfrm>
            <a:off x="4937760" y="2590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المُعَلِّمَةُ: نَعَمْ، تَفَضَّلِي يَا مَرْيَمُ.</a:t>
            </a:r>
            <a:endParaRPr lang="ar-SA" sz="2000" dirty="0"/>
          </a:p>
        </p:txBody>
      </p:sp>
      <p:sp>
        <p:nvSpPr>
          <p:cNvPr id="20" name="Text 17"/>
          <p:cNvSpPr txBox="1"/>
          <p:nvPr/>
        </p:nvSpPr>
        <p:spPr>
          <a:xfrm>
            <a:off x="640080" y="2590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come in, Maryam.</a:t>
            </a:r>
            <a:endParaRPr lang="en-US" sz="1250" dirty="0"/>
          </a:p>
        </p:txBody>
      </p:sp>
      <p:sp>
        <p:nvSpPr>
          <p:cNvPr id="21" name="Shape 18"/>
          <p:cNvSpPr/>
          <p:nvPr/>
        </p:nvSpPr>
        <p:spPr>
          <a:xfrm>
            <a:off x="457200" y="3334512"/>
            <a:ext cx="11274552" cy="688848"/>
          </a:xfrm>
          <a:prstGeom prst="roundRect">
            <a:avLst>
              <a:gd name="adj" fmla="val 6637"/>
            </a:avLst>
          </a:prstGeom>
          <a:solidFill>
            <a:srgbClr val="FFFFFF"/>
          </a:solidFill>
          <a:ln w="9525">
            <a:solidFill>
              <a:srgbClr val="D8D0BF"/>
            </a:solidFill>
            <a:prstDash val="solid"/>
          </a:ln>
        </p:spPr>
      </p:sp>
      <p:sp>
        <p:nvSpPr>
          <p:cNvPr id="22" name="Text 19"/>
          <p:cNvSpPr txBox="1"/>
          <p:nvPr/>
        </p:nvSpPr>
        <p:spPr>
          <a:xfrm>
            <a:off x="4937760" y="3352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مَرْيَمُ: شُكْرًا. لَا أَفْهَمُ السُّؤَالَ. أَعِيدِي، مِنْ فَضْلِكِ.</a:t>
            </a:r>
            <a:endParaRPr lang="ar-SA" sz="2000" dirty="0"/>
          </a:p>
        </p:txBody>
      </p:sp>
      <p:sp>
        <p:nvSpPr>
          <p:cNvPr id="23" name="Text 20"/>
          <p:cNvSpPr txBox="1"/>
          <p:nvPr/>
        </p:nvSpPr>
        <p:spPr>
          <a:xfrm>
            <a:off x="640080" y="3352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Thanks. I don’t understand the question. Repeat, please.</a:t>
            </a:r>
            <a:endParaRPr lang="en-US" sz="1250" dirty="0"/>
          </a:p>
        </p:txBody>
      </p:sp>
      <p:sp>
        <p:nvSpPr>
          <p:cNvPr id="24" name="Shape 21"/>
          <p:cNvSpPr/>
          <p:nvPr/>
        </p:nvSpPr>
        <p:spPr>
          <a:xfrm>
            <a:off x="457200" y="4096512"/>
            <a:ext cx="11274552" cy="688848"/>
          </a:xfrm>
          <a:prstGeom prst="roundRect">
            <a:avLst>
              <a:gd name="adj" fmla="val 6637"/>
            </a:avLst>
          </a:prstGeom>
          <a:solidFill>
            <a:srgbClr val="F4F1EA"/>
          </a:solidFill>
          <a:ln w="9525">
            <a:solidFill>
              <a:srgbClr val="D8D0BF"/>
            </a:solidFill>
            <a:prstDash val="solid"/>
          </a:ln>
        </p:spPr>
      </p:sp>
      <p:sp>
        <p:nvSpPr>
          <p:cNvPr id="25" name="Text 22"/>
          <p:cNvSpPr txBox="1"/>
          <p:nvPr/>
        </p:nvSpPr>
        <p:spPr>
          <a:xfrm>
            <a:off x="4937760" y="4114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المُعَلِّمَةُ: نَعَمْ. سَأُعِيدُ السُّؤَالَ بِبُطْءٍ.</a:t>
            </a:r>
            <a:endParaRPr lang="ar-SA" sz="2000" dirty="0"/>
          </a:p>
        </p:txBody>
      </p:sp>
      <p:sp>
        <p:nvSpPr>
          <p:cNvPr id="26" name="Text 23"/>
          <p:cNvSpPr txBox="1"/>
          <p:nvPr/>
        </p:nvSpPr>
        <p:spPr>
          <a:xfrm>
            <a:off x="640080" y="4114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I will repeat the question slowly.</a:t>
            </a:r>
            <a:endParaRPr lang="en-US" sz="1250" dirty="0"/>
          </a:p>
        </p:txBody>
      </p:sp>
      <p:sp>
        <p:nvSpPr>
          <p:cNvPr id="27" name="Shape 24"/>
          <p:cNvSpPr/>
          <p:nvPr/>
        </p:nvSpPr>
        <p:spPr>
          <a:xfrm>
            <a:off x="457200" y="4858512"/>
            <a:ext cx="11274552" cy="688848"/>
          </a:xfrm>
          <a:prstGeom prst="roundRect">
            <a:avLst>
              <a:gd name="adj" fmla="val 6637"/>
            </a:avLst>
          </a:prstGeom>
          <a:solidFill>
            <a:srgbClr val="FFFFFF"/>
          </a:solidFill>
          <a:ln w="9525">
            <a:solidFill>
              <a:srgbClr val="D8D0BF"/>
            </a:solidFill>
            <a:prstDash val="solid"/>
          </a:ln>
        </p:spPr>
      </p:sp>
      <p:sp>
        <p:nvSpPr>
          <p:cNvPr id="28" name="Text 25"/>
          <p:cNvSpPr txBox="1"/>
          <p:nvPr/>
        </p:nvSpPr>
        <p:spPr>
          <a:xfrm>
            <a:off x="4937760" y="4876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مَرْيَمُ: شُكْرًا جَزِيلًا. وَهَلْ يُمْكِنُ أَنْ أَسْتَعِيرَ مِسْطَرَةً؟</a:t>
            </a:r>
            <a:endParaRPr lang="ar-SA" sz="2000" dirty="0"/>
          </a:p>
        </p:txBody>
      </p:sp>
      <p:sp>
        <p:nvSpPr>
          <p:cNvPr id="29" name="Text 26"/>
          <p:cNvSpPr txBox="1"/>
          <p:nvPr/>
        </p:nvSpPr>
        <p:spPr>
          <a:xfrm>
            <a:off x="640080" y="4876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Thank you very much. And may I borrow a ruler?</a:t>
            </a:r>
            <a:endParaRPr lang="en-US" sz="1250" dirty="0"/>
          </a:p>
        </p:txBody>
      </p:sp>
      <p:sp>
        <p:nvSpPr>
          <p:cNvPr id="30" name="Shape 27"/>
          <p:cNvSpPr/>
          <p:nvPr/>
        </p:nvSpPr>
        <p:spPr>
          <a:xfrm>
            <a:off x="457200" y="5620512"/>
            <a:ext cx="11274552" cy="688848"/>
          </a:xfrm>
          <a:prstGeom prst="roundRect">
            <a:avLst>
              <a:gd name="adj" fmla="val 6637"/>
            </a:avLst>
          </a:prstGeom>
          <a:solidFill>
            <a:srgbClr val="F4F1EA"/>
          </a:solidFill>
          <a:ln w="9525">
            <a:solidFill>
              <a:srgbClr val="D8D0BF"/>
            </a:solidFill>
            <a:prstDash val="solid"/>
          </a:ln>
        </p:spPr>
      </p:sp>
      <p:sp>
        <p:nvSpPr>
          <p:cNvPr id="31" name="Text 28"/>
          <p:cNvSpPr txBox="1"/>
          <p:nvPr/>
        </p:nvSpPr>
        <p:spPr>
          <a:xfrm>
            <a:off x="4937760" y="5638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المُعَلِّمَةُ: نَعَمْ، تَفَضَّلِي. هَذِهِ مِسْطَرَةٌ. — مَرْيَمُ: شُكْرًا. — عَفْوًا.</a:t>
            </a:r>
            <a:endParaRPr lang="ar-SA" sz="2000" dirty="0"/>
          </a:p>
        </p:txBody>
      </p:sp>
      <p:sp>
        <p:nvSpPr>
          <p:cNvPr id="32" name="Text 29"/>
          <p:cNvSpPr txBox="1"/>
          <p:nvPr/>
        </p:nvSpPr>
        <p:spPr>
          <a:xfrm>
            <a:off x="640080" y="563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here you are. This is a ruler. — Thanks. — You’re welcome.</a:t>
            </a:r>
            <a:endParaRPr lang="en-US" sz="12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Use precise evidence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Maryam addresses…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male teacher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female teacher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male classmate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gives permission to Maryam?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نَعَمْ، تَفَضَّلْ.</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بَأْسَ.</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نَعَمْ، تَفَضَّلِي.</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Maryam not understand?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السُّؤَالَ</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الكِتَابَ</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البَابَ</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Maryam borrow?</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مِمْحَاةً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مِسْطَرَةً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دَفْتَرًا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Why is this correct?</a:t>
            </a:r>
            <a:endParaRPr lang="en-US" sz="1200" dirty="0"/>
          </a:p>
        </p:txBody>
      </p:sp>
      <p:sp>
        <p:nvSpPr>
          <p:cNvPr id="71" name="Text 68"/>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مِنْ فَضْلِكِ</a:t>
            </a:r>
            <a:endParaRPr lang="ar-SA" sz="220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listener is female.</a:t>
            </a:r>
            <a:endParaRPr lang="en-US" sz="12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 is female.</a:t>
            </a:r>
            <a:endParaRPr lang="en-US" sz="12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noun is feminine.</a:t>
            </a:r>
            <a:endParaRPr lang="en-US" sz="1250" dirty="0"/>
          </a:p>
        </p:txBody>
      </p:sp>
      <p:sp>
        <p:nvSpPr>
          <p:cNvPr id="81" name="Shape 7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FIND THE EVIDENCE</a:t>
            </a:r>
            <a:endParaRPr lang="en-US" sz="1000" dirty="0"/>
          </a:p>
        </p:txBody>
      </p:sp>
      <p:sp>
        <p:nvSpPr>
          <p:cNvPr id="83" name="Text 80"/>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Choose, then point to the exact line in the dialogue.</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Maryam addresses…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male teacher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female teacher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male classmate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يا أستاذة</a:t>
            </a:r>
            <a:pPr algn="l" indent="0" marL="0">
              <a:buNone/>
            </a:pPr>
            <a:r>
              <a:rPr lang="en-US" sz="1050" i="1" dirty="0">
                <a:solidFill>
                  <a:srgbClr val="8A6D1E"/>
                </a:solidFill>
                <a:latin typeface="Calibri" pitchFamily="34" charset="0"/>
                <a:cs typeface="Amiri" pitchFamily="2" charset="-78"/>
              </a:rPr>
              <a:t> and uses feminine addressee forms.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gives permission to Maryam?</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نَعَمْ، تَفَضَّلْ.</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بَأْسَ.</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نَعَمْ، تَفَضَّلِي.</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Maryam is female, so the teacher says </a:t>
            </a:r>
            <a:pPr algn="l" indent="0" marL="0">
              <a:buNone/>
            </a:pPr>
            <a:r>
              <a:rPr lang="ar-SA" altLang="en-US" sz="1350" dirty="0">
                <a:solidFill>
                  <a:srgbClr val="8A6D1E"/>
                </a:solidFill>
                <a:latin typeface="Amiri" pitchFamily="2" charset="-78"/>
                <a:ea typeface="Amiri" pitchFamily="2" charset="-78"/>
                <a:cs typeface="Amiri" pitchFamily="2" charset="-78"/>
              </a:rPr>
              <a:t>تَفَضَّلِي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Maryam not understand?</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السُّؤَالَ</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الكِتَابَ</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البَابَ</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لَا أَفْهَمُ السُّؤَالَ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Maryam borrow?</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مِمْحَاةً</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مِسْطَرَةً</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دَفْتَرًا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Maryam asks to borrow a ruler.</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Why is this correct?</a:t>
            </a:r>
            <a:endParaRPr lang="en-US" sz="1200" dirty="0"/>
          </a:p>
        </p:txBody>
      </p:sp>
      <p:sp>
        <p:nvSpPr>
          <p:cNvPr id="79" name="Text 76"/>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مِنْ فَضْلِكِ</a:t>
            </a:r>
            <a:endParaRPr lang="ar-SA" sz="220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listener is female.</a:t>
            </a:r>
            <a:endParaRPr lang="en-US" sz="125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 is female.</a:t>
            </a:r>
            <a:endParaRPr lang="en-US" sz="125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noun is feminine.</a:t>
            </a:r>
            <a:endParaRPr lang="en-US" sz="125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ending follows the listener, who is the female teacher.</a:t>
            </a:r>
            <a:endParaRPr lang="en-US" sz="1050" dirty="0"/>
          </a:p>
        </p:txBody>
      </p:sp>
      <p:sp>
        <p:nvSpPr>
          <p:cNvPr id="91" name="Shape 8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FIND THE EVIDENCE</a:t>
            </a:r>
            <a:endParaRPr lang="en-US" sz="1000" dirty="0"/>
          </a:p>
        </p:txBody>
      </p:sp>
      <p:sp>
        <p:nvSpPr>
          <p:cNvPr id="93" name="Text 90"/>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Choose, then point to the exact line in the dialogue.</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Classroom role-play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اُطْلُبْ قَلَمًا مِنَ المُعَلِّمِ.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اُطْلُبْ مِسْطَرَةً مِنَ المُعَلِّمَةِ.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تَفْهَمُ السُّؤَالَ. مَاذَا تَقُولُ؟</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تَأَخَّرْتَ. اِعْتَذِرْ، ثُمَّ اُطْلُبْ كِتَابًا.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مَعْذِرَةً، أُرِيدُ ___ ، مِنْ فَضْلِكَ.</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هَلْ يُمْكِنُ أَنْ أَسْتَعِيرَ ___ ، مِنْ فَضْلِكِ؟</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أَنَا آسِفٌ / آسِفَةٌ. تَأَخَّرْتُ.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تَفَضَّلْ / تَفَضَّلِي · عَفْوًا · لَا بَأْسَ</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Amiri" pitchFamily="2" charset="-78"/>
                <a:ea typeface="Amiri" pitchFamily="2" charset="-78"/>
                <a:cs typeface="Amiri" pitchFamily="2" charset="-78"/>
              </a:rPr>
              <a:t>طَالِبٌ</a:t>
            </a:r>
            <a:endParaRPr lang="ar-SA"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مَعْذِرَةً، أُرِيدُ قَلَمًا، مِنْ فَضْلِكَ.</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Excuse me, I would like a pen, please.</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Amiri" pitchFamily="2" charset="-78"/>
                <a:ea typeface="Amiri" pitchFamily="2" charset="-78"/>
                <a:cs typeface="Amiri" pitchFamily="2" charset="-78"/>
              </a:rPr>
              <a:t>مُعَلِّمٌ</a:t>
            </a:r>
            <a:endParaRPr lang="ar-SA"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نَعَمْ، تَفَضَّلْ.</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Yes, here you are.</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lines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lines using one request.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request: excuse me → request + please → here you are → thanks → you’re welcome.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lines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Eight lines using two different classroom needs.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Two classroom needs, e.g. a pencil and then “repeat, please”.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 lines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Ten lines: switch the listener’s gender and include an apology.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Switch the listener’s gender and include an apology + “no problem”.</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مَعْذِرَةً يَا ______ . هَلْ يُمْكِنُ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Excuse me, Miss. May I come in?</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______ . ______ ، مِنْ فَضْلِكِ.</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understand. Repeat, please.</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يُمْكِنُ أَنْ أَسْتَعِيرَ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May I borrow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______ . تَأَخَّرْتُ.</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sorry. I was late.</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 problem.</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مَعْذِرَةً، أُرِيدُ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Excuse me, I would like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please (to a boy / girl).</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نَعَمْ،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Yes, here you are.</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شُكْرًا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Thank you very much.</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algn="l" indent="0" marL="0">
              <a:buNone/>
            </a:pPr>
            <a:r>
              <a:rPr lang="en-US" sz="1800" b="1" dirty="0">
                <a:solidFill>
                  <a:srgbClr val="1B3B6F"/>
                </a:solidFill>
                <a:latin typeface="Calibri" pitchFamily="34" charset="0"/>
                <a:cs typeface="Amiri" pitchFamily="2" charset="-78"/>
              </a:rPr>
              <a:t>______ .</a:t>
            </a:r>
            <a:endParaRPr lang="en-US"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You’re welcome.</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فَضْلِكَ  ·  فَضْلِكِ  ·  تَفَضَّلْ  ·  تَفَضَّلِي  ·  جَزِيلًا  ·  عَفْوًا  ·  أَفْهَمُ  ·  أَعِدْ  ·  أَعِيدِي  ·  آسِفٌ  ·  آسِفَةٌ  ·  بَأْسَ  ·  قَلَمًا  ·  كِتَابًا  ·  مِسْطَرَةً</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الطَّالِبَةُ: مَعْذِرَةً، أُرِيدُ قَلَمَ رَصَاصٍ، مِنْ فَضْلِكِ.</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المُعَلِّمَةُ: نَعَمْ، تَفَضَّلِي.</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الطَّالِبَةُ: شُكْرًا جَزِيلًا.</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المُعَلِّمَةُ: عَفْوًا.</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الطَّالِبَةُ: لَا أَفْهَمُ السُّؤَالَ. أَعِيدِي، مِنْ فَضْلِكِ.</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المُعَلِّمَةُ: نَعَمْ.</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Student (f.): Excuse me, I would like a pencil, please. — Teacher (f.): Yes, here you are. — Student: Thank you very much. — Teacher: You’re welcome. — Student: I don’t understand the question. Repeat, please. — Teacher: Yes.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attention phrase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please with -ki</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تَفَضَّلِي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thanks + reply</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please, thank you and a reply.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say “I don’t understand” in Arabic.</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“please” matches the listener (-ka / -ki).</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made two different classroom requests.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“sorry” matches the speaker (</a:t>
            </a:r>
            <a:pPr algn="l" indent="0" marL="0">
              <a:buNone/>
            </a:pPr>
            <a:r>
              <a:rPr lang="ar-SA" altLang="en-US" sz="1700" dirty="0">
                <a:solidFill>
                  <a:srgbClr val="1F2A37"/>
                </a:solidFill>
                <a:latin typeface="Amiri" pitchFamily="2" charset="-78"/>
                <a:ea typeface="Amiri" pitchFamily="2" charset="-78"/>
                <a:cs typeface="Amiri" pitchFamily="2" charset="-78"/>
              </a:rPr>
              <a:t>آسِفٌ / آسِفَةٌ</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‘here you are’ to one male?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تَفَضَّلْ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تَفَضَّلِي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عَفْوًا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do not understand’.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نَعَمْ، أَفْهَمُ.</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أَفْهَمُ.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آسِفٌ.</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female student apologises. Choose her sentence.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آسِفَةٌ.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آسِفٌ.</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بَأْسَ.</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‘here you are’ to one male?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تَفَضَّلْ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تَفَضَّلِي</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عَفْوًا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تَفَضَّلْ</a:t>
            </a:r>
            <a:pPr algn="l" indent="0" marL="0">
              <a:buNone/>
            </a:pPr>
            <a:r>
              <a:rPr lang="en-US" sz="1050" i="1" dirty="0">
                <a:solidFill>
                  <a:srgbClr val="8A6D1E"/>
                </a:solidFill>
                <a:latin typeface="Calibri" pitchFamily="34" charset="0"/>
                <a:cs typeface="Amiri" pitchFamily="2" charset="-78"/>
              </a:rPr>
              <a:t> addresses one male.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do not understand’.</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نَعَمْ، أَفْهَمُ.</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لَا أَفْهَمُ.</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أَنَا آسِفٌ.</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لَا</a:t>
            </a:r>
            <a:pPr algn="l" indent="0" marL="0">
              <a:buNone/>
            </a:pPr>
            <a:r>
              <a:rPr lang="en-US" sz="1050" i="1" dirty="0">
                <a:solidFill>
                  <a:srgbClr val="8A6D1E"/>
                </a:solidFill>
                <a:latin typeface="Calibri" pitchFamily="34" charset="0"/>
                <a:cs typeface="Amiri" pitchFamily="2" charset="-78"/>
              </a:rPr>
              <a:t> negates </a:t>
            </a:r>
            <a:pPr algn="l" indent="0" marL="0">
              <a:buNone/>
            </a:pPr>
            <a:r>
              <a:rPr lang="ar-SA" altLang="en-US" sz="1350" dirty="0">
                <a:solidFill>
                  <a:srgbClr val="8A6D1E"/>
                </a:solidFill>
                <a:latin typeface="Amiri" pitchFamily="2" charset="-78"/>
                <a:ea typeface="Amiri" pitchFamily="2" charset="-78"/>
                <a:cs typeface="Amiri" pitchFamily="2" charset="-78"/>
              </a:rPr>
              <a:t>أَفْهَمُ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female student apologises. Choose her sentence.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أَنَا آسِفَةٌ.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أَنَا آسِفٌ.</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لَا بَأْسَ.</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adjective agrees with the female speaker.</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F2-L06 · Polite Classroom Arabic</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F2-L07: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F2-L07 · Building a Full Introduction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أَسْكُنُ فِي …</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live in …</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أَيْنَ تَسْكُنُ؟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Where do you live? (to a boy)</a:t>
            </a:r>
            <a:pPr indent="0" marL="0">
              <a:buNone/>
            </a:pPr>
            <a:r>
              <a:rPr lang="ar-SA" sz="1000" i="1" dirty="0">
                <a:solidFill>
                  <a:srgbClr val="5A6472"/>
                </a:solidFill>
                <a:latin typeface="Calibri" pitchFamily="34" charset="0"/>
                <a:ea typeface="Amiri" pitchFamily="2" charset="-78"/>
                <a:cs typeface="Amiri" pitchFamily="2" charset="-78"/>
              </a:rPr>
              <a:t>  f. تَسْكُنِينَ</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أَيْضًا</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also, too</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سَعِيدٌ بِلِقَائِكَ</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happy to meet you (boy speaking)</a:t>
            </a:r>
            <a:pPr indent="0" marL="0">
              <a:buNone/>
            </a:pPr>
            <a:r>
              <a:rPr lang="ar-SA" sz="1000" i="1" dirty="0">
                <a:solidFill>
                  <a:srgbClr val="5A6472"/>
                </a:solidFill>
                <a:latin typeface="Calibri" pitchFamily="34" charset="0"/>
                <a:ea typeface="Amiri" pitchFamily="2" charset="-78"/>
                <a:cs typeface="Amiri" pitchFamily="2" charset="-78"/>
              </a:rPr>
              <a:t>  f. سَعِيدَةٌ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and (joins facts)</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your facts in English: name, age, origin, where you live, languages. Next lesson you join them in Arabic.</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أَنَا مِنْ … وَأَسْكُنُ فِي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F2-L06: the role-play rounds (12) and the picture game “Polite Classroom Arabic”.</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polite classroom dialogue with two requests (type, draw or paper route).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10-line dialogue switching listener gender + an apology; then the 12-question checkpoint (aim for 10/12).</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50" b="1" dirty="0">
                <a:solidFill>
                  <a:srgbClr val="FFFFFF"/>
                </a:solidFill>
                <a:latin typeface="Cambria" pitchFamily="34" charset="0"/>
                <a:cs typeface="Amiri" pitchFamily="2" charset="-78"/>
              </a:rPr>
              <a:t>F2-L07 · Building a Full Introduction</a:t>
            </a:r>
            <a:endParaRPr lang="en-US" sz="2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بِنَاءُ تَعْرِيفٍ كَامِلٍ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use polite Arabic in every lesson from now 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F2-L06 · Polite Classroom Arabic</dc:title>
  <dc:subject>PptxGenJS Presentation</dc:subject>
  <dc:creator>Al Madina Online School · Arabic Department</dc:creator>
  <cp:lastModifiedBy>Al Madina Online School · Arabic Department</cp:lastModifiedBy>
  <cp:revision>1</cp:revision>
  <dcterms:created xsi:type="dcterms:W3CDTF">2026-10-11T06:41:24Z</dcterms:created>
  <dcterms:modified xsi:type="dcterms:W3CDTF">2026-10-11T06:41:24Z</dcterms:modified>
</cp:coreProperties>
</file>