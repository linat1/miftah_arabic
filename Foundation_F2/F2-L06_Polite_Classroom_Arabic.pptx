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6 (F2-L06). Website sections used: the four-question retrieval, the complete polite-phrase bank (14 phrases), the ـًا pronunciation and addressee patterns, the polite phrase check (10), the classroom object bank (12), eight classroom requests, the role-play rounds (12), listening (four exchanges, eight questions), the Maryam reading dialogue (eight questions), role-play cards and speaking checklist, the dialogue-writing task and the twelve-question checkpoint. Picture match: website visual game “Polite Classroom Arabic”.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These phrases are for REAL use: from today, students use them in every Arabic lesson (please / thank you / I don’t understand / repeat, please). Put the website phrase bank on the class wall or OneNote.
• Core: learn phrases as whole chunks (website: “Do not wait until every grammar detail is familiar before using them”). Develop: choose -ka / -ki and تَفَضَّلْ / تَفَضَّلِي for the listener. Stretch: switch listener gender mid-dialogue; add an apology.
• Two gender rules meet today (a great link to F2-L05): please / here you are follow the LISTENER; آسِفٌ / آسِفَةٌ follows the SPEAKER.
• Address the teacher: يَا أُسْتَاذُ (m.) / يَا أُسْتَاذَةُ (f.). Urdu bridge: فضل، معذرت، معاف، دفتر،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phrases prepared at home. Questions 3–5 are the website retrieval (the -ki ending, أَفْهَمُ, مُعَلِّمَةٌ).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and “here you are” follow the LISTENER. “I am sorry” follows the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فضل (fazl: grace — مِنْ فَضْلِكَ = “out of your kindness”), معذرت (mazrat → مَعْذِرَةً), معاف (muāf → عَفْوًا, same root ʿ-f-w), دفتر (FALSE FRIEND: Urdu office; Arabic notebook), سوال.
Website pronunciation pattern: شُكْرًا، عَفْوًا، جَزِيلًا، مَعْذِرَةً all finish with an -an sound (tanwīn fatḥ,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POLITE PHRASES 1–6 (website bank, with the website emojis as gestures: 🙏 please · 💛 thank you · ⭐ very much · 🤝 you’re welcome · ✅/❌ yes/no · 🙇 sorry).
Card 1 follows the LISTENER (-ka / -ki / -kum). Card 6 follows the SPEAKER — it is an adjective, just like F2-L05 (a boy says آسِفٌ, a girl says آسِفَةٌ).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POLITE PHRASES 7–9 (website bank: 👉 here you are · 🌿 no problem · 💬 excuse me) + the request starters from the website (يَا أُسْتَاذَةُ from the reading; لَا أَفْهَمُ and هَلْ يُمْكِنُ أَنْ … from the requests).
Card 7 follows the LISTENER: the final ـي addresses one female (website). Pair them up: شُكْرًا → عَفْوًا · آسِفٌ → لَا بَأْسَ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CLASSROOM OBJECTS 1–6 (website object bank). Quick F2-L05 recall: students type m / f for each word BEFORE you reveal column 3 (the ة clue). Plural =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OBJECTS 7–12 (website object bank) — FLEX. Useful for the role-play cards (ruler, water,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REQUESTS (website “Useful classroom requests”, 1–8). Pink = the parts that change for a female listener: -ki on “please”, and -ī on the command (أَعِيدِي، تَكَلَّمِي، سَاعِدِينِي، تَفَضَّلِي).
Website addressee pattern: “Look at the person you are speaking to.” Row 6 does not change — the speaker asks about himself / herself.
Class routine from today: any student can type “لَا أَفْهَمُ. أَعِدْ / أَعِيدِي، مِنْ فَضْلِكَ / مِنْ فَضْلِكِ”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“Polite phrase check” questions 2, 6, 8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“model dialogue” (writing section), modelled with a think-aloud. Students copy it. Then change ONE thing aloud: “Now a boy asks a male teacher”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role-play rounds (borrow a ruler from a female, ask her to repeat, a girl apologises, ask to enter, reassure).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one student SAYS the line aloud to the teacher (by invitation) — the teacher replies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١. الطَّالِبُ: مَعْذِرَةً، أُرِيدُ قَلَمًا، مِنْ فَضْلِكَ. المُعَلِّمُ: نَعَمْ، تَفَضَّلْ. الطَّالِبُ: شُكْرًا جَزِيلًا. المُعَلِّمُ: عَفْوًا. ٢. الطَّالِبَةُ: لَا أَفْهَمُ. أَعِيدِي، مِنْ فَضْلِكِ. المُعَلِّمَةُ: نَعَمْ، سَأُعِيدُ السُّؤَالَ بِبُطْءٍ. الطَّالِبَةُ: شُكْرًا. ٣. الطَّالِبُ: هَلْ يُمْكِنُ أَنْ أَشْرَبَ المَاءَ؟ المُعَلِّمُ: نَعَمْ، تَفَضَّلْ. الطَّالِبُ: شُكْرًا. ٤. الطَّالِبَةُ: أَنَا آسِفَةٌ. تَأَخَّرْتُ. المُعَلِّمَةُ: لَا بَأْسَ. تَفَضَّلِي. الطَّالِبَةُ: شُكْرًا جَزِيلًا.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6). Website strategy “Track the exchange”: circle each request · underline the two female addressee forms · box the item Maryam borrows · find every thanks/response pair · explain why the teacher says تَفَضَّلِي, not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2, 3, 4, 6 and 7 (1, 5 and 8 for homework). Q5 (“Why is مِنْ فَضْلِكِ correct?”) is the key concept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طَالِبٌ: شُكْرًا جَزِيلًا. (Thank you very much.)
مُعَلِّمٌ: عَفْوًا. (You’re welcome.)
WEBSITE ROLE-PLAY CARDS (read one aloud; the named pair performs it; the class judges): 📘 ask for a book (to a female) · ✏️ a pencil (to a male) · 📏 borrow a ruler (to a female) · 🔁 ask for repetition (to a male) · 🐢 slower speech (to a female) · 💧 ask to drink water · 🚪 ask to enter · ⏰ apologise for being late (a female student).
Website speaking checklist (listener ticks 1–6 in chat): attention with مَعْذِرَةً · a clear request · the listener ending · an appropriate response · thanks and close · clear -an sounds and long vowels.
Routes (website): Core — a four-line exchange with please, thank you and a response · Develop — an object, then repetition or help · Stretch — switch male / female listeners without losing the endings. The teacher plays the responder role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lines using one request. · Develop — Eight lines using two different classroom needs. · Stretch — Ten lines: switch the listener’s gender and include an apology.
Website writing task (Stretch): Website writing task: a complete polite classroom dialogue (6–10 lines) with an attention phrase, a request, please chosen for the listener, a response and handover, thanks and a reply.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dialogue”. Develop: add a second request; Stretch: rewrite it for a male teacher.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(F2-L07 · Building a Full Introduction) will spend class time USING this language, so students prepare it tonight — short, simple, easy to access (school guidance: “Simple, Short, Interesting, Relevant, Easy to access”). The five words are from the website F2-L07 introduction fact bank (residence, connectors and the polite close).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Polite Classroom Arabic</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لُغَةُ الأَدَبِ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for help, borrow classroom items, ask permission, apologise, thank someone and respond — choosing the right form for a male or female listener every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F2-L06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phrases, classroom objects, then requests.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role-play rounds,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فَضْلِكِ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here you are (to a girl)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Here you are. / Go ahead.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understand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العَرَبِيَّةَ.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teacher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فَضْلِكِ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here you are (to a girl)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Here you are. / Go ahead.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Excuse 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kasra in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understand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 العَرَبِيَّةَ.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means ‘I understand’.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teacher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مُعَلِّمَةٌ</a:t>
            </a:r>
            <a:pPr algn="l" indent="0" marL="0">
              <a:buNone/>
            </a:pPr>
            <a:r>
              <a:rPr lang="en-US" sz="1050" i="1" dirty="0">
                <a:solidFill>
                  <a:srgbClr val="8A6D1E"/>
                </a:solidFill>
                <a:latin typeface="Calibri" pitchFamily="34" charset="0"/>
                <a:cs typeface="Amiri" pitchFamily="2" charset="-78"/>
              </a:rPr>
              <a:t> is a female teacher.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Please and “here you are” follow the LISTENER. “I am sorry” follows the SPEAKER.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مِنْ فَضْلِكَ / مِنْ فَضْلِكِ  ·  آسِفٌ / آسِفَةٌ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complete F2-L06 polite-phrase bank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masculine and feminine forms for the person addressed.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practical classroom requests and respond appropriately.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-an sound (</a:t>
            </a:r>
            <a:pPr algn="l" indent="0" marL="0">
              <a:buNone/>
            </a:pPr>
            <a:r>
              <a:rPr lang="ar-SA" altLang="en-US" sz="1700" dirty="0">
                <a:solidFill>
                  <a:srgbClr val="1F2A37"/>
                </a:solidFill>
                <a:latin typeface="Amiri" pitchFamily="2" charset="-78"/>
                <a:ea typeface="Amiri" pitchFamily="2" charset="-78"/>
                <a:cs typeface="Amiri" pitchFamily="2" charset="-78"/>
              </a:rPr>
              <a:t>ـًا</a:t>
            </a:r>
            <a:pPr algn="l" indent="0" marL="0">
              <a:buNone/>
            </a:pPr>
            <a:r>
              <a:rPr lang="en-US" sz="1300" dirty="0">
                <a:solidFill>
                  <a:srgbClr val="1F2A37"/>
                </a:solidFill>
                <a:latin typeface="Calibri" pitchFamily="34" charset="0"/>
                <a:cs typeface="Amiri" pitchFamily="2" charset="-78"/>
              </a:rPr>
              <a:t>) in common polite expressions.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please, thank you and an answer in a four-line exchange.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don’t understand” and ask for help.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an object, then for repetition or help.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the listener ending.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between male and female listeners.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apologise with the right form.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14 polite phrases, 12 classroom objects and 8 requests — all from the website. Core: the six phrases you will use EVERY lesson.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phrases · 14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Classroom objects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Requests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 فَضْلِكَ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fazl · grace, kindness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مَعْذِرَةً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‎معذرت‎ </a:t>
            </a:r>
            <a:pPr indent="0" marL="0">
              <a:buNone/>
            </a:pPr>
            <a:r>
              <a:rPr lang="en-US" sz="950" b="1" dirty="0">
                <a:solidFill>
                  <a:srgbClr val="2E8B57"/>
                </a:solidFill>
                <a:latin typeface="Calibri" pitchFamily="34" charset="0"/>
                <a:cs typeface="Amiri" pitchFamily="2" charset="-78"/>
              </a:rPr>
              <a:t> mazrat · apology, excuse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عَفْوًا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‎معاف‎ </a:t>
            </a:r>
            <a:pPr indent="0" marL="0">
              <a:buNone/>
            </a:pPr>
            <a:r>
              <a:rPr lang="en-US" sz="950" b="1" dirty="0">
                <a:solidFill>
                  <a:srgbClr val="2E8B57"/>
                </a:solidFill>
                <a:latin typeface="Calibri" pitchFamily="34" charset="0"/>
                <a:cs typeface="Amiri" pitchFamily="2" charset="-78"/>
              </a:rPr>
              <a:t> muāf · forgiven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دَفْتَرٌ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Urdu: office · Arabic: notebook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POLITE-PHRASE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Please, thank you, sorry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a:t>
            </a:r>
            <a:endParaRPr lang="en-US" sz="1350" dirty="0"/>
          </a:p>
          <a:p>
            <a:pPr indent="0" marL="0">
              <a:buNone/>
            </a:pPr>
            <a:r>
              <a:rPr lang="en-US" sz="1100" i="1" dirty="0">
                <a:solidFill>
                  <a:srgbClr val="5A6472"/>
                </a:solidFill>
                <a:latin typeface="Calibri" pitchFamily="34" charset="0"/>
                <a:cs typeface="Amiri" pitchFamily="2" charset="-78"/>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complete polite response.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 ×2</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جَزِيلًا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very much</a:t>
            </a:r>
            <a:endParaRPr lang="en-US" sz="1350" dirty="0"/>
          </a:p>
          <a:p>
            <a:pPr indent="0" marL="0">
              <a:buNone/>
            </a:pPr>
            <a:r>
              <a:rPr lang="en-US" sz="1100" i="1" dirty="0">
                <a:solidFill>
                  <a:srgbClr val="5A6472"/>
                </a:solidFill>
                <a:latin typeface="Calibri" pitchFamily="34" charset="0"/>
                <a:cs typeface="Amiri" pitchFamily="2" charset="-78"/>
              </a:rPr>
              <a:t>shuk-ran ja-zī-lan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جَزِيلًا</a:t>
            </a:r>
            <a:pPr algn="l" indent="0" marL="0">
              <a:buNone/>
            </a:pPr>
            <a:r>
              <a:rPr lang="en-US" sz="1000" i="1" dirty="0">
                <a:solidFill>
                  <a:srgbClr val="8A6D1E"/>
                </a:solidFill>
                <a:latin typeface="Calibri" pitchFamily="34" charset="0"/>
                <a:cs typeface="Amiri" pitchFamily="2" charset="-78"/>
              </a:rPr>
              <a:t> strengthens the thanks.</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you’re welcome / excuse me</a:t>
            </a:r>
            <a:endParaRPr lang="en-US" sz="1350" dirty="0"/>
          </a:p>
          <a:p>
            <a:pPr indent="0" marL="0">
              <a:buNone/>
            </a:pPr>
            <a:r>
              <a:rPr lang="en-US" sz="1100" i="1" dirty="0">
                <a:solidFill>
                  <a:srgbClr val="5A6472"/>
                </a:solidFill>
                <a:latin typeface="Calibri" pitchFamily="34" charset="0"/>
                <a:cs typeface="Amiri" pitchFamily="2" charset="-78"/>
              </a:rPr>
              <a:t>ʿaf-wan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context tells you which meaning.</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نَعَمْ · لَا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 also makes “not”: </a:t>
            </a:r>
            <a:pPr algn="l" indent="0" marL="0">
              <a:buNone/>
            </a:pPr>
            <a:r>
              <a:rPr lang="ar-SA" altLang="en-US" sz="1300" dirty="0">
                <a:solidFill>
                  <a:srgbClr val="8A6D1E"/>
                </a:solidFill>
                <a:latin typeface="Amiri" pitchFamily="2" charset="-78"/>
                <a:ea typeface="Amiri" pitchFamily="2" charset="-78"/>
                <a:cs typeface="Amiri" pitchFamily="2" charset="-78"/>
              </a:rPr>
              <a:t>لَا أَفْهَمُ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آسِفٌ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sorry</a:t>
            </a:r>
            <a:endParaRPr lang="en-US" sz="1350" dirty="0"/>
          </a:p>
          <a:p>
            <a:pPr indent="0" marL="0">
              <a:buNone/>
            </a:pPr>
            <a:r>
              <a:rPr lang="en-US" sz="1100" i="1" dirty="0">
                <a:solidFill>
                  <a:srgbClr val="5A6472"/>
                </a:solidFill>
                <a:latin typeface="Calibri" pitchFamily="34" charset="0"/>
                <a:cs typeface="Amiri" pitchFamily="2" charset="-78"/>
              </a:rPr>
              <a:t>ā-sif · ā-si-fa · ā-si-fūn</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82" name="Text 79"/>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آسِفٌ</a:t>
            </a:r>
            <a:endParaRPr lang="ar-SA" sz="150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آسِفَةٌ</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8" name="Text 8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آسِفُونَ</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POLITE-PHRASE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Here you are, no problem, excuse 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تَفَضَّلْ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 you are / go ahead</a:t>
            </a:r>
            <a:endParaRPr lang="en-US" sz="1350" dirty="0"/>
          </a:p>
          <a:p>
            <a:pPr indent="0" marL="0">
              <a:buNone/>
            </a:pPr>
            <a:r>
              <a:rPr lang="en-US" sz="1100" i="1" dirty="0">
                <a:solidFill>
                  <a:srgbClr val="5A6472"/>
                </a:solidFill>
                <a:latin typeface="Calibri" pitchFamily="34" charset="0"/>
                <a:cs typeface="Amiri" pitchFamily="2" charset="-78"/>
              </a:rPr>
              <a:t>ta-faḍ-ḍal · -lī · -lū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 to sorry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بَأْسَ</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problem / it’s all right</a:t>
            </a:r>
            <a:endParaRPr lang="en-US" sz="1350" dirty="0"/>
          </a:p>
          <a:p>
            <a:pPr indent="0" marL="0">
              <a:buNone/>
            </a:pPr>
            <a:r>
              <a:rPr lang="en-US" sz="1100" i="1" dirty="0">
                <a:solidFill>
                  <a:srgbClr val="5A6472"/>
                </a:solidFill>
                <a:latin typeface="Calibri" pitchFamily="34" charset="0"/>
                <a:cs typeface="Amiri" pitchFamily="2" charset="-78"/>
              </a:rPr>
              <a:t>lā baʾs</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reassuring answer to an apology.</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attention</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مَعْذِرَةً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pardon</a:t>
            </a:r>
            <a:endParaRPr lang="en-US" sz="1350" dirty="0"/>
          </a:p>
          <a:p>
            <a:pPr indent="0" marL="0">
              <a:buNone/>
            </a:pPr>
            <a:r>
              <a:rPr lang="en-US" sz="1100" i="1" dirty="0">
                <a:solidFill>
                  <a:srgbClr val="5A6472"/>
                </a:solidFill>
                <a:latin typeface="Calibri" pitchFamily="34" charset="0"/>
                <a:cs typeface="Amiri" pitchFamily="2" charset="-78"/>
              </a:rPr>
              <a:t>maʿ-dhi-ra-tan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to gain attention politely.</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يَا أُسْتَاذُ</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Sir / Miss (addressing a teacher)</a:t>
            </a:r>
            <a:endParaRPr lang="en-US" sz="1350" dirty="0"/>
          </a:p>
          <a:p>
            <a:pPr indent="0" marL="0">
              <a:buNone/>
            </a:pPr>
            <a:r>
              <a:rPr lang="en-US" sz="1100" i="1" dirty="0">
                <a:solidFill>
                  <a:srgbClr val="5A6472"/>
                </a:solidFill>
                <a:latin typeface="Calibri" pitchFamily="34" charset="0"/>
                <a:cs typeface="Amiri" pitchFamily="2" charset="-78"/>
              </a:rPr>
              <a:t>yā us-tā-dhu · us-tā-dha-tu</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2" name="Text 5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يَا أُسْتَاذُ</a:t>
            </a:r>
            <a:endParaRPr lang="ar-SA" sz="135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5" name="Text 6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يَا أُسْتَاذَةُ</a:t>
            </a:r>
            <a:endParaRPr lang="ar-SA" sz="135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problem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أَفْهَمُ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understand.</a:t>
            </a:r>
            <a:endParaRPr lang="en-US" sz="1350" dirty="0"/>
          </a:p>
          <a:p>
            <a:pPr indent="0" marL="0">
              <a:buNone/>
            </a:pPr>
            <a:r>
              <a:rPr lang="en-US" sz="1100" i="1" dirty="0">
                <a:solidFill>
                  <a:srgbClr val="5A6472"/>
                </a:solidFill>
                <a:latin typeface="Calibri" pitchFamily="34" charset="0"/>
                <a:cs typeface="Amiri" pitchFamily="2" charset="-78"/>
              </a:rPr>
              <a:t>lā af-ha-mu</a:t>
            </a:r>
            <a:endParaRPr lang="en-US" sz="1350" dirty="0"/>
          </a:p>
        </p:txBody>
      </p:sp>
      <p:sp>
        <p:nvSpPr>
          <p:cNvPr id="75" name="Text 7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F2-L04 verb + </a:t>
            </a:r>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9" name="Shape 7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permission</a:t>
            </a:r>
            <a:endParaRPr lang="en-US" sz="8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 أَنْ …؟</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 / Is it possible to …?</a:t>
            </a:r>
            <a:endParaRPr lang="en-US" sz="1350" dirty="0"/>
          </a:p>
          <a:p>
            <a:pPr indent="0" marL="0">
              <a:buNone/>
            </a:pPr>
            <a:r>
              <a:rPr lang="en-US" sz="1100" i="1" dirty="0">
                <a:solidFill>
                  <a:srgbClr val="5A6472"/>
                </a:solidFill>
                <a:latin typeface="Calibri" pitchFamily="34" charset="0"/>
                <a:cs typeface="Amiri" pitchFamily="2" charset="-78"/>
              </a:rPr>
              <a:t>hal yum-ki-nu an …</a:t>
            </a:r>
            <a:endParaRPr lang="en-US" sz="1350" dirty="0"/>
          </a:p>
        </p:txBody>
      </p:sp>
      <p:sp>
        <p:nvSpPr>
          <p:cNvPr id="83" name="Text 80"/>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هَلْ يُمْكِنُ أَنْ أَدْخُلَ؟</a:t>
            </a:r>
            <a:pPr algn="l" indent="0" marL="0">
              <a:buNone/>
            </a:pPr>
            <a:r>
              <a:rPr lang="en-US" sz="1000" i="1" dirty="0">
                <a:solidFill>
                  <a:srgbClr val="8A6D1E"/>
                </a:solidFill>
                <a:latin typeface="Calibri" pitchFamily="34" charset="0"/>
                <a:cs typeface="Amiri" pitchFamily="2" charset="-78"/>
              </a:rPr>
              <a:t> May I come in?</a:t>
            </a:r>
            <a:endParaRPr lang="en-US" sz="10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CLASSROOM OBJECTS (WEBSITE) · RECYCLE F2-L05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a:t>
            </a:r>
            <a:endParaRPr lang="en-US" sz="1100" dirty="0"/>
          </a:p>
        </p:txBody>
      </p:sp>
      <p:sp>
        <p:nvSpPr>
          <p:cNvPr id="17" name="Text 14"/>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18" name="Text 15"/>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or f.?</a:t>
            </a:r>
            <a:endParaRPr lang="en-US" sz="1100" dirty="0"/>
          </a:p>
        </p:txBody>
      </p:sp>
      <p:sp>
        <p:nvSpPr>
          <p:cNvPr id="19" name="Text 16"/>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a:t>
            </a:r>
            <a:endParaRPr lang="ar-SA" sz="2400" dirty="0"/>
          </a:p>
        </p:txBody>
      </p:sp>
      <p:sp>
        <p:nvSpPr>
          <p:cNvPr id="22" name="Text 19"/>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أَقْلَامٌ</a:t>
            </a:r>
            <a:endParaRPr lang="ar-SA" sz="2000" dirty="0"/>
          </a:p>
        </p:txBody>
      </p:sp>
      <p:sp>
        <p:nvSpPr>
          <p:cNvPr id="23" name="Text 20"/>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رَصَاصٍ</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أَقْلَامُ رَصَاصٍ</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pencil</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36" name="Text 33"/>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37" name="Text 34"/>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8" name="Text 35"/>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دَفْتَرٌ</a:t>
            </a:r>
            <a:endParaRPr lang="ar-SA" sz="2400" dirty="0"/>
          </a:p>
        </p:txBody>
      </p:sp>
      <p:sp>
        <p:nvSpPr>
          <p:cNvPr id="43" name="Text 40"/>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دَفَاتِرُ</a:t>
            </a:r>
            <a:endParaRPr lang="ar-SA" sz="2000" dirty="0"/>
          </a:p>
        </p:txBody>
      </p:sp>
      <p:sp>
        <p:nvSpPr>
          <p:cNvPr id="44" name="Text 41"/>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5" name="Text 42"/>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notebook</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وَرَقَةٌ</a:t>
            </a:r>
            <a:endParaRPr lang="ar-SA" sz="2400" dirty="0"/>
          </a:p>
        </p:txBody>
      </p:sp>
      <p:sp>
        <p:nvSpPr>
          <p:cNvPr id="48" name="Text 45"/>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أَوْرَاقٌ</a:t>
            </a:r>
            <a:endParaRPr lang="ar-SA" sz="2000" dirty="0"/>
          </a:p>
        </p:txBody>
      </p:sp>
      <p:sp>
        <p:nvSpPr>
          <p:cNvPr id="49" name="Text 46"/>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0" name="Text 47"/>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sheet of paper</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مِمْحَاةٌ</a:t>
            </a:r>
            <a:endParaRPr lang="ar-SA" sz="2400" dirty="0"/>
          </a:p>
        </p:txBody>
      </p:sp>
      <p:sp>
        <p:nvSpPr>
          <p:cNvPr id="53" name="Text 50"/>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مَمَاحٍ</a:t>
            </a:r>
            <a:endParaRPr lang="ar-SA" sz="2000" dirty="0"/>
          </a:p>
        </p:txBody>
      </p:sp>
      <p:sp>
        <p:nvSpPr>
          <p:cNvPr id="54" name="Text 51"/>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eraser</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CLASSROOM OBJECTS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more classroom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الصَّفِّ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a:t>
            </a:r>
            <a:endParaRPr lang="en-US" sz="1100" dirty="0"/>
          </a:p>
        </p:txBody>
      </p:sp>
      <p:sp>
        <p:nvSpPr>
          <p:cNvPr id="19" name="Text 16"/>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20" name="Text 17"/>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or f.?</a:t>
            </a:r>
            <a:endParaRPr lang="en-US" sz="1100" dirty="0"/>
          </a:p>
        </p:txBody>
      </p:sp>
      <p:sp>
        <p:nvSpPr>
          <p:cNvPr id="21" name="Text 18"/>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2" name="Shape 19"/>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3" name="Text 20"/>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مِسْطَرَةٌ</a:t>
            </a:r>
            <a:endParaRPr lang="ar-SA" sz="2400" dirty="0"/>
          </a:p>
        </p:txBody>
      </p:sp>
      <p:sp>
        <p:nvSpPr>
          <p:cNvPr id="24" name="Text 21"/>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مَسَاطِرُ</a:t>
            </a:r>
            <a:endParaRPr lang="ar-SA" sz="2000" dirty="0"/>
          </a:p>
        </p:txBody>
      </p:sp>
      <p:sp>
        <p:nvSpPr>
          <p:cNvPr id="25" name="Text 22"/>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6" name="Text 23"/>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ruler</a:t>
            </a:r>
            <a:endParaRPr lang="en-US" sz="110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حَقَائِبُ</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bag</a:t>
            </a:r>
            <a:endParaRPr lang="en-US" sz="1100" dirty="0"/>
          </a:p>
        </p:txBody>
      </p:sp>
      <p:sp>
        <p:nvSpPr>
          <p:cNvPr id="32" name="Shape 29"/>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3" name="Text 30"/>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مَاءٌ</a:t>
            </a:r>
            <a:endParaRPr lang="ar-SA" sz="2400" dirty="0"/>
          </a:p>
        </p:txBody>
      </p:sp>
      <p:sp>
        <p:nvSpPr>
          <p:cNvPr id="34" name="Text 31"/>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مِيَاهٌ</a:t>
            </a:r>
            <a:endParaRPr lang="ar-SA" sz="2000" dirty="0"/>
          </a:p>
        </p:txBody>
      </p:sp>
      <p:sp>
        <p:nvSpPr>
          <p:cNvPr id="35" name="Text 32"/>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6" name="Text 33"/>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water</a:t>
            </a:r>
            <a:endParaRPr lang="en-US" sz="110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a:t>
            </a:r>
            <a:endParaRPr lang="ar-SA" sz="2400" dirty="0"/>
          </a:p>
        </p:txBody>
      </p:sp>
      <p:sp>
        <p:nvSpPr>
          <p:cNvPr id="39" name="Text 36"/>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أَبْوَابٌ</a:t>
            </a:r>
            <a:endParaRPr lang="ar-SA" sz="2000" dirty="0"/>
          </a:p>
        </p:txBody>
      </p:sp>
      <p:sp>
        <p:nvSpPr>
          <p:cNvPr id="40" name="Text 37"/>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1" name="Text 38"/>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door</a:t>
            </a:r>
            <a:endParaRPr lang="en-US" sz="1100" dirty="0"/>
          </a:p>
        </p:txBody>
      </p:sp>
      <p:sp>
        <p:nvSpPr>
          <p:cNvPr id="42" name="Shape 39"/>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3" name="Text 40"/>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نَافِذَةٌ</a:t>
            </a:r>
            <a:endParaRPr lang="ar-SA" sz="2400" dirty="0"/>
          </a:p>
        </p:txBody>
      </p:sp>
      <p:sp>
        <p:nvSpPr>
          <p:cNvPr id="44" name="Text 41"/>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نَوَافِذُ</a:t>
            </a:r>
            <a:endParaRPr lang="ar-SA" sz="2000" dirty="0"/>
          </a:p>
        </p:txBody>
      </p:sp>
      <p:sp>
        <p:nvSpPr>
          <p:cNvPr id="45" name="Text 42"/>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6" name="Text 43"/>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window</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سُؤَالٌ</a:t>
            </a:r>
            <a:endParaRPr lang="ar-SA" sz="2400" dirty="0"/>
          </a:p>
        </p:txBody>
      </p:sp>
      <p:sp>
        <p:nvSpPr>
          <p:cNvPr id="49" name="Text 46"/>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أَسْئِلَةٌ</a:t>
            </a:r>
            <a:endParaRPr lang="ar-SA" sz="2000" dirty="0"/>
          </a:p>
        </p:txBody>
      </p:sp>
      <p:sp>
        <p:nvSpPr>
          <p:cNvPr id="50" name="Text 47"/>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1" name="Text 48"/>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USEFUL CLASSROOM REQUESTS (WEBSITE) · LOOK AT THE LISTENER</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a boy or to a girl?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طَلَبَاتٌ مُهَذَّبَةٌ فِي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 / man</a:t>
            </a:r>
            <a:endParaRPr lang="en-US" sz="1100" dirty="0"/>
          </a:p>
        </p:txBody>
      </p:sp>
      <p:sp>
        <p:nvSpPr>
          <p:cNvPr id="17" name="Text 14"/>
          <p:cNvSpPr txBox="1"/>
          <p:nvPr/>
        </p:nvSpPr>
        <p:spPr>
          <a:xfrm>
            <a:off x="35753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 / woman</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9832"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قَلَمًا،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1" name="Text 18"/>
          <p:cNvSpPr txBox="1"/>
          <p:nvPr/>
        </p:nvSpPr>
        <p:spPr>
          <a:xfrm>
            <a:off x="3593592"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قَلَمًا،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2" name="Text 19"/>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a pen, please.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799832"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أَعِدْ،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3593592"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أَعِيدِ</a:t>
            </a:r>
            <a:pPr rtl="1" algn="ctr" indent="0" marL="0">
              <a:buNone/>
            </a:pPr>
            <a:r>
              <a:rPr lang="ar-SA" altLang="en-US" sz="2200" b="1" dirty="0">
                <a:solidFill>
                  <a:srgbClr val="D6336C"/>
                </a:solidFill>
                <a:latin typeface="Amiri" pitchFamily="2" charset="-78"/>
                <a:ea typeface="Amiri" pitchFamily="2" charset="-78"/>
                <a:cs typeface="Amiri" pitchFamily="2" charset="-78"/>
              </a:rPr>
              <a:t>ي</a:t>
            </a:r>
            <a:pPr rtl="1" algn="ctr" indent="0" marL="0">
              <a:buNone/>
            </a:pPr>
            <a:r>
              <a:rPr lang="ar-SA" altLang="en-US" sz="2200" b="1" dirty="0">
                <a:solidFill>
                  <a:srgbClr val="1B3B6F"/>
                </a:solidFill>
                <a:latin typeface="Amiri" pitchFamily="2" charset="-78"/>
                <a:ea typeface="Amiri" pitchFamily="2" charset="-78"/>
                <a:cs typeface="Amiri" pitchFamily="2" charset="-78"/>
              </a:rPr>
              <a:t>،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8" name="Text 25"/>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Repeat, please.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799832"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تَكَلَّمْ بِبُطْءٍ،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3" name="Text 30"/>
          <p:cNvSpPr txBox="1"/>
          <p:nvPr/>
        </p:nvSpPr>
        <p:spPr>
          <a:xfrm>
            <a:off x="3593592"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تَكَلَّمِ</a:t>
            </a:r>
            <a:pPr rtl="1" algn="ctr" indent="0" marL="0">
              <a:buNone/>
            </a:pPr>
            <a:r>
              <a:rPr lang="ar-SA" altLang="en-US" sz="2200" b="1" dirty="0">
                <a:solidFill>
                  <a:srgbClr val="D6336C"/>
                </a:solidFill>
                <a:latin typeface="Amiri" pitchFamily="2" charset="-78"/>
                <a:ea typeface="Amiri" pitchFamily="2" charset="-78"/>
                <a:cs typeface="Amiri" pitchFamily="2" charset="-78"/>
              </a:rPr>
              <a:t>ي</a:t>
            </a:r>
            <a:pPr rtl="1" algn="ctr" indent="0" marL="0">
              <a:buNone/>
            </a:pPr>
            <a:r>
              <a:rPr lang="ar-SA" altLang="en-US" sz="2200" b="1" dirty="0">
                <a:solidFill>
                  <a:srgbClr val="1B3B6F"/>
                </a:solidFill>
                <a:latin typeface="Amiri" pitchFamily="2" charset="-78"/>
                <a:ea typeface="Amiri" pitchFamily="2" charset="-78"/>
                <a:cs typeface="Amiri" pitchFamily="2" charset="-78"/>
              </a:rPr>
              <a:t> بِبُطْءٍ،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4" name="Text 31"/>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 slowly, please.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799832"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سَاعِدْنِي،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3593592"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سَاعِدِ</a:t>
            </a:r>
            <a:pPr rtl="1" algn="ctr" indent="0" marL="0">
              <a:buNone/>
            </a:pPr>
            <a:r>
              <a:rPr lang="ar-SA" altLang="en-US" sz="2200" b="1" dirty="0">
                <a:solidFill>
                  <a:srgbClr val="D6336C"/>
                </a:solidFill>
                <a:latin typeface="Amiri" pitchFamily="2" charset="-78"/>
                <a:ea typeface="Amiri" pitchFamily="2" charset="-78"/>
                <a:cs typeface="Amiri" pitchFamily="2" charset="-78"/>
              </a:rPr>
              <a:t>ي</a:t>
            </a:r>
            <a:pPr rtl="1" algn="ctr" indent="0" marL="0">
              <a:buNone/>
            </a:pPr>
            <a:r>
              <a:rPr lang="ar-SA" altLang="en-US" sz="2200" b="1" dirty="0">
                <a:solidFill>
                  <a:srgbClr val="1B3B6F"/>
                </a:solidFill>
                <a:latin typeface="Amiri" pitchFamily="2" charset="-78"/>
                <a:ea typeface="Amiri" pitchFamily="2" charset="-78"/>
                <a:cs typeface="Amiri" pitchFamily="2" charset="-78"/>
              </a:rPr>
              <a:t>نِي، مِنْ فَضْلِ</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8" name="Text 35"/>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Help me, please.</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799832"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a:t>
            </a:r>
            <a:endParaRPr lang="ar-SA" sz="2200" dirty="0"/>
          </a:p>
        </p:txBody>
      </p:sp>
      <p:sp>
        <p:nvSpPr>
          <p:cNvPr id="41" name="Text 38"/>
          <p:cNvSpPr txBox="1"/>
          <p:nvPr/>
        </p:nvSpPr>
        <p:spPr>
          <a:xfrm>
            <a:off x="3593592"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a:t>
            </a:r>
            <a:pPr rtl="1" algn="ctr" indent="0" marL="0">
              <a:buNone/>
            </a:pPr>
            <a:r>
              <a:rPr lang="ar-SA" altLang="en-US" sz="2200" b="1" dirty="0">
                <a:solidFill>
                  <a:srgbClr val="D6336C"/>
                </a:solidFill>
                <a:latin typeface="Amiri" pitchFamily="2" charset="-78"/>
                <a:ea typeface="Amiri" pitchFamily="2" charset="-78"/>
                <a:cs typeface="Amiri" pitchFamily="2" charset="-78"/>
              </a:rPr>
              <a:t>ي</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42" name="Text 3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 Go ahead.</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799832"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يُمْكِنُ أَنْ أَدْخُلَ؟</a:t>
            </a:r>
            <a:endParaRPr lang="ar-SA" sz="2200" dirty="0"/>
          </a:p>
        </p:txBody>
      </p:sp>
      <p:sp>
        <p:nvSpPr>
          <p:cNvPr id="47" name="Text 44"/>
          <p:cNvSpPr txBox="1"/>
          <p:nvPr/>
        </p:nvSpPr>
        <p:spPr>
          <a:xfrm>
            <a:off x="3593592"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يُمْكِنُ أَنْ أَدْخُلَ؟</a:t>
            </a:r>
            <a:endParaRPr lang="ar-SA" sz="2200" dirty="0"/>
          </a:p>
        </p:txBody>
      </p:sp>
      <p:sp>
        <p:nvSpPr>
          <p:cNvPr id="48" name="Text 45"/>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 I come in? (same for both)</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Speaking to a girl or woman? Listen for -ki and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Please — speaking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‘I am sorry’.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Here you are —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reassuring reply to an apology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بَأْسَ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Please — speaking to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for one female listener.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‘I am sorry’.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آسِفَةٌ.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آسِفٌ.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a:t>
            </a:r>
            <a:pPr algn="l" indent="0" marL="0">
              <a:buNone/>
            </a:pPr>
            <a:r>
              <a:rPr lang="ar-SA" altLang="en-US" sz="1350" dirty="0">
                <a:solidFill>
                  <a:srgbClr val="8A6D1E"/>
                </a:solidFill>
                <a:latin typeface="Amiri" pitchFamily="2" charset="-78"/>
                <a:ea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Here you are —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تَفَضَّلِي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reassuring reply to an apology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بَأْسَ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بَأْسَ</a:t>
            </a:r>
            <a:pPr algn="l" indent="0" marL="0">
              <a:buNone/>
            </a:pPr>
            <a:r>
              <a:rPr lang="en-US" sz="1050" i="1" dirty="0">
                <a:solidFill>
                  <a:srgbClr val="8A6D1E"/>
                </a:solidFill>
                <a:latin typeface="Calibri" pitchFamily="34" charset="0"/>
                <a:cs typeface="Amiri" pitchFamily="2" charset="-78"/>
              </a:rPr>
              <a:t> means ‘no problem / it is all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borrow a pencil politely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Get attention + request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مَعْذِرَةً، أُرِيدُ قَلَمَ رَصَاصٍ،</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Excuse me first; then what I need.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Please — to the listener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فَضْلِ</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teacher is a woman: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hands it over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نَعَمْ، تَفَضَّلِ</a:t>
            </a:r>
            <a:pPr rtl="1" algn="ctr" indent="0" marL="0">
              <a:buNone/>
            </a:pPr>
            <a:r>
              <a:rPr lang="ar-SA" altLang="en-US" sz="2800" b="1" dirty="0">
                <a:solidFill>
                  <a:srgbClr val="D6336C"/>
                </a:solidFill>
                <a:latin typeface="Amiri" pitchFamily="2" charset="-78"/>
                <a:ea typeface="Amiri" pitchFamily="2" charset="-78"/>
                <a:cs typeface="Amiri" pitchFamily="2" charset="-78"/>
              </a:rPr>
              <a:t>ي</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am a girl, so she says </a:t>
            </a:r>
            <a:pPr algn="l" indent="0" marL="0">
              <a:buNone/>
            </a:pPr>
            <a:r>
              <a:rPr lang="ar-SA" altLang="en-US" sz="1500" dirty="0">
                <a:solidFill>
                  <a:srgbClr val="1F2A37"/>
                </a:solidFill>
                <a:latin typeface="Amiri" pitchFamily="2" charset="-78"/>
                <a:ea typeface="Amiri" pitchFamily="2" charset="-78"/>
                <a:cs typeface="Amiri" pitchFamily="2" charset="-78"/>
              </a:rPr>
              <a:t>تَفَضَّلِي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Thanks and reply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شُكْرًا جَزِيلًا. — عَفْوًا.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Thanks → you’re welcome. Hold the -an sound.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FEMALE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مَعْذِرَةً، أُرِيدُ قَلَمَ رَصَاصٍ، مِنْ فَضْلِ</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نَعَمْ، تَفَضَّلِ</a:t>
            </a:r>
            <a:pPr rtl="1" algn="r" indent="0" marL="0">
              <a:buNone/>
            </a:pPr>
            <a:r>
              <a:rPr lang="ar-SA" altLang="en-US" sz="2600" b="1" dirty="0">
                <a:solidFill>
                  <a:srgbClr val="D6336C"/>
                </a:solidFill>
                <a:latin typeface="Amiri" pitchFamily="2" charset="-78"/>
                <a:ea typeface="Amiri" pitchFamily="2" charset="-78"/>
                <a:cs typeface="Amiri" pitchFamily="2" charset="-78"/>
              </a:rPr>
              <a:t>ي</a:t>
            </a:r>
            <a:pPr rtl="1" algn="r" indent="0" marL="0">
              <a:buNone/>
            </a:pPr>
            <a:r>
              <a:rPr lang="ar-SA" altLang="en-US" sz="2600" b="1" dirty="0">
                <a:solidFill>
                  <a:srgbClr val="1B3B6F"/>
                </a:solidFill>
                <a:latin typeface="Amiri" pitchFamily="2" charset="-78"/>
                <a:ea typeface="Amiri" pitchFamily="2" charset="-78"/>
                <a:cs typeface="Amiri" pitchFamily="2" charset="-78"/>
              </a:rPr>
              <a:t>. — شُكْرًا جَزِيلًا. — عَفْوًا.</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Excuse me, I would like a pencil, please. — Yes, here you are. — Thank you very much. — You’re welcome.</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PICTURE MATCH · WEBSITE GAME “VISUAL GAME — POLITE CLASSROOM ARABIC”</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understand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leaving the room</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شُكْرًا جَزِيلًا.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يُمْكِنُ أَنْ أَخْرُجَ؟</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أَفْهَمُ.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understand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أَفْهَمُ.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 not understand.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جَزِيلًا.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Thank you very much.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leaving the room</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يُمْكِنُ أَنْ أَخْرُجَ؟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May I go out?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ROLE-PLAY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complete, polite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politely. Choose the complete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مِسْطَرَةً، 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مِسْطَرَةٌ شُكْرًا.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مِسْطَرَةً، مِنْ فَضْلِكِ.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Ask 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أَفْهَمُ. أَعِيدِي،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أَفْهَمُ. أَعِدْ،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أَفْهَمُ.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What should she say?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Which sentence is correct?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 أَنْ أَدْخُلَ؟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أَنْ 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أَدْخُلُ شُكْرًا.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Reassure the speaker. Choose the best reply.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جَزِيلًا.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بَأْسَ.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Who is the LISTENER?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-ki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Who is the SPEAKER?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آسِفَةٌ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ROLE-PLAY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politely. Choose the complete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مِسْطَرَةً، 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مِسْطَرَةٌ شُكْرًا.</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مِسْطَرَةً، مِنْ فَضْلِكِ.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listener is female, so use </a:t>
            </a:r>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Ask 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أَفْهَمُ. أَعِيدِي،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أَفْهَمُ. أَعِدْ،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أَفْهَمُ.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forms are </a:t>
            </a:r>
            <a:pPr algn="l" indent="0" marL="0">
              <a:buNone/>
            </a:pPr>
            <a:r>
              <a:rPr lang="ar-SA" altLang="en-US" sz="1350" dirty="0">
                <a:solidFill>
                  <a:srgbClr val="8A6D1E"/>
                </a:solidFill>
                <a:latin typeface="Amiri" pitchFamily="2" charset="-78"/>
                <a:ea typeface="Amiri" pitchFamily="2" charset="-78"/>
                <a:cs typeface="Amiri" pitchFamily="2" charset="-78"/>
              </a:rPr>
              <a:t>أَعِيدِي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What should she say?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آسِفٌ.</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آسِفَةٌ.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عَفْوًا.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a:t>
            </a:r>
            <a:pPr algn="l" indent="0" marL="0">
              <a:buNone/>
            </a:pPr>
            <a:r>
              <a:rPr lang="ar-SA" altLang="en-US" sz="1350" dirty="0">
                <a:solidFill>
                  <a:srgbClr val="8A6D1E"/>
                </a:solidFill>
                <a:latin typeface="Amiri" pitchFamily="2" charset="-78"/>
                <a:ea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Which sentence is correct?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 أَنْ أَدْخُلَ؟</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أَنْ قَلَمٌ؟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أَدْخُلُ شُكْرًا.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يُمْكِنُ 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 is the permission frame.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Reassure the speaker. Choose the best reply.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 جَزِيلًا.</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بَأْسَ.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بَأْسَ</a:t>
            </a:r>
            <a:pPr algn="l" indent="0" marL="0">
              <a:buNone/>
            </a:pPr>
            <a:r>
              <a:rPr lang="en-US" sz="1050" i="1" dirty="0">
                <a:solidFill>
                  <a:srgbClr val="8A6D1E"/>
                </a:solidFill>
                <a:latin typeface="Calibri" pitchFamily="34" charset="0"/>
                <a:cs typeface="Amiri" pitchFamily="2" charset="-78"/>
              </a:rPr>
              <a:t> means no problem / it is all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Who is the LISTENER?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-ki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Who is the SPEAKER?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آسِفَةٌ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الطَّالِبَةُ ← المُعَلِّمَةِ: مِنْ فَضْلِكَ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listening — a man or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أَنَا آسِفٌ.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about herself.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شُكْرًا. — لَا بَأْسَ.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 you say after “thank you”?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الطَّالِبَةُ ← المُعَلِّمَةِ: مِنْ فَضْلِكَ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الطَّالِبَةُ ← المُعَلِّمَةِ: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follows the LISTENER (a female teacher):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أَنَا آسِفٌ.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أَنَا آسِفَةٌ.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“Sorry” is an adjective: it matches the SPEAKER.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شُكْرًا. — لَا بَأْسَ.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شُكْرًا. — عَفْوًا.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thanks, say “you’re welcome”. “No problem” answers an apology.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classroom exchanges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student ask for in exchange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مِسْطَرَةٌ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handover phrase does the male teacher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the student in exchange 2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needs water.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understand.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is requested in exchange 3?</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borrow a ruler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student apologise in exchange 4?</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lost a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understand.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the situation.</a:t>
            </a:r>
            <a:endParaRPr lang="en-US" sz="1250" dirty="0"/>
          </a:p>
          <a:p>
            <a:pPr algn="l" indent="0" marL="0">
              <a:buNone/>
            </a:pPr>
            <a:r>
              <a:rPr lang="en-US" sz="1250" dirty="0">
                <a:solidFill>
                  <a:srgbClr val="1E6B52"/>
                </a:solidFill>
                <a:latin typeface="Calibri" pitchFamily="34" charset="0"/>
                <a:cs typeface="Amiri" pitchFamily="2" charset="-78"/>
              </a:rPr>
              <a:t>Then: the exact polite phrase.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 مَعْذِرَةً، أُرِيدُ قَلَمًا، مِنْ فَضْلِكَ. — نَعَمْ، تَفَضَّلْ. — شُكْرًا جَزِيلًا. — عَفْوًا.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 I want a pen, please. — Yes, here you are. — Thank you very much. — You’re welcome.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٢. لَا أَفْهَمُ. أَعِيدِي، مِنْ فَضْلِكِ. — نَعَمْ، سَأُعِيدُ السُّؤَالَ بِبُطْءٍ. — شُكْرًا.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understand. Repeat, please. — Yes, I will repeat the question slowly. — Thanks.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٣. هَلْ يُمْكِنُ أَنْ أَشْرَبَ المَاءَ؟ — نَعَمْ، تَفَضَّلْ. — شُكْرًا.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May I drink some water? — Yes, go ahead. — Thanks.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٤. أَنَا آسِفَةٌ. تَأَخَّرْتُ. — لَا بَأْسَ. تَفَضَّلِي. — شُكْرًا جَزِيلًا.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sorry. I was late. — No problem. Come in. — Thank you very much.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student ask for in exchange 1?</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مِسْطَرَةٌ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asks for a pen: </a:t>
            </a:r>
            <a:pPr algn="l" indent="0" marL="0">
              <a:buNone/>
            </a:pPr>
            <a:r>
              <a:rPr lang="ar-SA" altLang="en-US" sz="1350" dirty="0">
                <a:solidFill>
                  <a:srgbClr val="8A6D1E"/>
                </a:solidFill>
                <a:latin typeface="Amiri" pitchFamily="2" charset="-78"/>
                <a:ea typeface="Amiri" pitchFamily="2" charset="-78"/>
                <a:cs typeface="Amiri" pitchFamily="2" charset="-78"/>
              </a:rPr>
              <a:t>أُرِيدُ قَلَمًا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handover phrase does the male teacher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تَفَضَّلِي</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عَفْوًا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تَفَضَّلْ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addresses a male student, so he says </a:t>
            </a:r>
            <a:pPr algn="l" indent="0" marL="0">
              <a:buNone/>
            </a:pPr>
            <a:r>
              <a:rPr lang="ar-SA" altLang="en-US" sz="1350" dirty="0">
                <a:solidFill>
                  <a:srgbClr val="8A6D1E"/>
                </a:solidFill>
                <a:latin typeface="Amiri" pitchFamily="2" charset="-78"/>
                <a:ea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the student in exchange 2 have?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needs water.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late.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does not understand.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لَا 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is requested in exchange 3?</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borrow a ruler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student asks </a:t>
            </a:r>
            <a:pPr algn="l" indent="0" marL="0">
              <a:buNone/>
            </a:pPr>
            <a:r>
              <a:rPr lang="ar-SA" altLang="en-US" sz="1350" dirty="0">
                <a:solidFill>
                  <a:srgbClr val="8A6D1E"/>
                </a:solidFill>
                <a:latin typeface="Amiri" pitchFamily="2" charset="-78"/>
                <a:ea typeface="Amiri" pitchFamily="2" charset="-78"/>
                <a:cs typeface="Amiri" pitchFamily="2" charset="-78"/>
              </a:rPr>
              <a:t>هَلْ يُمْكِنُ أَنْ أَشْرَبَ المَاءَ؟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student apologise in exchange 4?</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lost a pen.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late.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understand.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تَأَخَّرْتُ</a:t>
            </a:r>
            <a:pPr algn="l" indent="0" marL="0">
              <a:buNone/>
            </a:pPr>
            <a:r>
              <a:rPr lang="en-US" sz="1050" i="1" dirty="0">
                <a:solidFill>
                  <a:srgbClr val="8A6D1E"/>
                </a:solidFill>
                <a:latin typeface="Calibri" pitchFamily="34" charset="0"/>
                <a:cs typeface="Amiri" pitchFamily="2" charset="-78"/>
              </a:rPr>
              <a:t> — I was late.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the situation.</a:t>
            </a:r>
            <a:endParaRPr lang="en-US" sz="1250" dirty="0"/>
          </a:p>
          <a:p>
            <a:pPr algn="l" indent="0" marL="0">
              <a:buNone/>
            </a:pPr>
            <a:r>
              <a:rPr lang="en-US" sz="1250" dirty="0">
                <a:solidFill>
                  <a:srgbClr val="1E6B52"/>
                </a:solidFill>
                <a:latin typeface="Calibri" pitchFamily="34" charset="0"/>
                <a:cs typeface="Amiri" pitchFamily="2" charset="-78"/>
              </a:rPr>
              <a:t>Then: the exact polite phrase.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A POLITE START TO THE LESSON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arrives at the lesson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بِدَايَةٌ مُهَذَّبَةٌ لِلدَّرْسِ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مَعْذِرَةً يَا أُسْتَاذَةُ. هَلْ يُمْكِنُ أَنْ أَدْخُلَ؟</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 Miss. May I come in?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المُعَلِّمَةُ: نَعَمْ، تَفَضَّلِي يَا مَرْيَمُ.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come in, Maryam.</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شُكْرًا. لَا أَفْهَمُ السُّؤَالَ. أَعِيدِي، مِنْ فَضْلِكِ.</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Thanks. I don’t understand the question. Repeat, please.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المُعَلِّمَةُ: نَعَمْ. سَأُعِيدُ السُّؤَالَ بِبُطْءٍ.</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I will repeat the question slowly.</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شُكْرًا جَزِيلًا. وَهَلْ يُمْكِنُ أَنْ أَسْتَعِيرَ مِسْطَرَةً؟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very much. And may I borrow a ruler?</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المُعَلِّمَةُ: نَعَمْ، تَفَضَّلِي. هَذِهِ مِسْطَرَةٌ. — مَرْيَمُ: شُكْرًا. — عَفْوًا.</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here you are. This is a ruler. — Thanks. — You’re welcome.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 precise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addresses…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male teacher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male classmate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permission to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تَفَضَّلْ.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بَأْسَ.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تَفَضَّلِي.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not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السُّؤَالَ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borrow?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مِمْحَاةً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مِسْطَرَةً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دَفْتَرًا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is this correct?</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مِنْ فَضْلِكِ</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listener is female.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is female.</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 is feminine.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3" name="Text 8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line in the dialogue.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addresses…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male teacher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male classmate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يا أستاذة</a:t>
            </a:r>
            <a:pPr algn="l" indent="0" marL="0">
              <a:buNone/>
            </a:pPr>
            <a:r>
              <a:rPr lang="en-US" sz="1050" i="1" dirty="0">
                <a:solidFill>
                  <a:srgbClr val="8A6D1E"/>
                </a:solidFill>
                <a:latin typeface="Calibri" pitchFamily="34" charset="0"/>
                <a:cs typeface="Amiri" pitchFamily="2" charset="-78"/>
              </a:rPr>
              <a:t> and uses feminine addressee forms.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permission to Maryam?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تَفَضَّلْ.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بَأْسَ.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 تَفَضَّلِي.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is female, so the teacher says </a:t>
            </a:r>
            <a:pPr algn="l" indent="0" marL="0">
              <a:buNone/>
            </a:pPr>
            <a:r>
              <a:rPr lang="ar-SA" altLang="en-US" sz="1350" dirty="0">
                <a:solidFill>
                  <a:srgbClr val="8A6D1E"/>
                </a:solidFill>
                <a:latin typeface="Amiri" pitchFamily="2" charset="-78"/>
                <a:ea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not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السُّؤَالَ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لَا أَفْهَمُ السُّؤَالَ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borrow?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مِمْحَاةً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مِسْطَرَةً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دَفْتَرًا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asks to borrow a ruler.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is this correct?</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مِنْ فَضْلِكِ</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listener is female.</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is female.</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noun is feminine.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follows the listener, who is the female teacher.</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3" name="Text 9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line in the dialogue.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Classroom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اُطْلُبْ قَلَمًا مِنَ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اُطْلُبْ مِسْطَرَةً مِنَ المُعَلِّمَةِ.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تَفْهَمُ السُّؤَالَ. مَاذَا تَقُولُ؟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تَأَخَّرْتَ. اِعْتَذِرْ، ثُمَّ اُطْلُبْ كِتَابًا.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مَعْذِرَةً، أُرِيدُ ___ ، مِنْ فَضْلِكَ.</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يُمْكِنُ أَنْ أَسْتَعِيرَ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آسِفٌ / آسِفَةٌ. تَأَخَّرْتُ.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تَفَضَّلْ / تَفَضَّلِي · عَفْوًا · لَا بَأْسَ</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طَالِبٌ</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مَعْذِرَةً، أُرِيدُ قَلَمًا،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I would like a pen,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مُعَلِّمٌ</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تَفَضَّلْ.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here you are.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lines using one request.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request: excuse me → request + please → here you are → thanks → you’re welcome.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lines using two different classroom needs.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classroom needs, e.g. a pencil and then “repeat, please”.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lines: switch the listener’s gender and include an apology.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Switch the listener’s gender and include an apology + “no problem”.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مَعْذِرَةً يَا ______ . هَلْ يُمْكِنُ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Miss. May I come in?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 ______ ، مِنْ فَضْلِكِ.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understand. Repeat, please.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أَسْتَعِيرَ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borrow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تَأَخَّرْتُ.</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I was late.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 problem.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مَعْذِرَةً، أُرِيدُ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I would like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please (to a boy / girl).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نَعَمْ،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 here you are.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algn="l" indent="0" marL="0">
              <a:buNone/>
            </a:pPr>
            <a:r>
              <a:rPr lang="en-US" sz="1800" b="1" dirty="0">
                <a:solidFill>
                  <a:srgbClr val="1B3B6F"/>
                </a:solidFill>
                <a:latin typeface="Calibri" pitchFamily="34" charset="0"/>
                <a:cs typeface="Amiri" pitchFamily="2" charset="-78"/>
              </a:rPr>
              <a:t>______ .</a:t>
            </a:r>
            <a:endParaRPr lang="en-US"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You’re welcome.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فَضْلِكَ  ·  فَضْلِكِ  ·  تَفَضَّلْ  ·  تَفَضَّلِي  ·  جَزِيلًا  ·  عَفْوًا  ·  أَفْهَمُ  ·  أَعِدْ  ·  أَعِيدِي  ·  آسِفٌ  ·  آسِفَةٌ  ·  بَأْسَ  ·  قَلَمًا  ·  كِتَابًا  ·  مِسْطَرَةً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الطَّالِبَةُ: مَعْذِرَةً، أُرِيدُ قَلَمَ رَصَاصٍ، مِنْ فَضْلِكِ.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المُعَلِّمَةُ: نَعَمْ، تَفَضَّلِي.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الطَّالِبَةُ: شُكْرًا جَزِيلًا.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المُعَلِّمَةُ: عَفْوًا.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الطَّالِبَةُ: لَا أَفْهَمُ السُّؤَالَ. أَعِيدِي، مِنْ فَضْلِكِ.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المُعَلِّمَةُ: نَعَمْ.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Student (f.): Excuse me, I would like a pencil, please. — Teacher (f.): Yes, here you are. — Student: Thank you very much. — Teacher: You’re welcome. — Student: I don’t understand the question. Repeat, please. — Teacher: Yes.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attention phrase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please with -ki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تَفَضَّلِي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thanks + reply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please, thank you and a reply.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“I don’t understand” in Arabic.</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“please” matches the listener (-ka / -ki).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made two different classroom requests.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“sorry” matches the speaker (</a:t>
            </a:r>
            <a:pPr algn="l" indent="0" marL="0">
              <a:buNone/>
            </a:pPr>
            <a:r>
              <a:rPr lang="ar-SA" altLang="en-US" sz="1700" dirty="0">
                <a:solidFill>
                  <a:srgbClr val="1F2A37"/>
                </a:solidFill>
                <a:latin typeface="Amiri" pitchFamily="2" charset="-78"/>
                <a:ea typeface="Amiri" pitchFamily="2" charset="-78"/>
                <a:cs typeface="Amiri" pitchFamily="2" charset="-78"/>
              </a:rPr>
              <a:t>آسِفٌ / آسِفَةٌ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‘here you are’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understand’.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أَفْهَمُ.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apologises. Choose her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آسِفٌ.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بَأْسَ.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‘here you are’ to one 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تَفَضَّلِي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عَفْوًا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 addresses one 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understand’.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نَعَمْ، أَفْهَمُ.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آسِفٌ.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negates </a:t>
            </a:r>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apologises. Choose her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آسِفَةٌ.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آسِفٌ.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بَأْسَ.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female speaker.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F2-L07 · Building a Full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live in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 تَسْكُنُ؟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 do you live? (to a boy)</a:t>
            </a:r>
            <a:pPr indent="0" marL="0">
              <a:buNone/>
            </a:pPr>
            <a:r>
              <a:rPr lang="ar-SA" sz="1000" i="1" dirty="0">
                <a:solidFill>
                  <a:srgbClr val="5A6472"/>
                </a:solidFill>
                <a:latin typeface="Calibri" pitchFamily="34" charset="0"/>
                <a:ea typeface="Amiri" pitchFamily="2" charset="-78"/>
                <a:cs typeface="Amiri" pitchFamily="2" charset="-78"/>
              </a:rPr>
              <a:t>  f. تَسْكُنِينَ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أَيْضًا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also, too</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سَعِيدٌ بِلِقَائِكَ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happy to meet you (boy speaking)</a:t>
            </a:r>
            <a:pPr indent="0" marL="0">
              <a:buNone/>
            </a:pPr>
            <a:r>
              <a:rPr lang="ar-SA" sz="1000" i="1" dirty="0">
                <a:solidFill>
                  <a:srgbClr val="5A6472"/>
                </a:solidFill>
                <a:latin typeface="Calibri" pitchFamily="34" charset="0"/>
                <a:ea typeface="Amiri" pitchFamily="2" charset="-78"/>
                <a:cs typeface="Amiri" pitchFamily="2" charset="-78"/>
              </a:rPr>
              <a:t>  f. سَعِيدَةٌ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 (joins facts)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facts in English: name, age, origin, where you live, languages. Next lesson you join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أَنَا مِنْ … وَأَسْكُنُ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F2-L06: the role-play rounds (12) and the picture game “Polite Classroom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polite classroom dialogue with two requests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10-line dialogue switching listener gender + an apology;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بِنَاءُ تَعْرِيفٍ 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use polite Arabic in every lesson from now 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F2-L06 · Polite Classroom Arabic</dc:title>
  <dc:subject>PptxGenJS Presentation</dc:subject>
  <dc:creator>Al Madina Online School · Arabic Department</dc:creator>
  <cp:lastModifiedBy>Al Madina Online School · Arabic Department</cp:lastModifiedBy>
  <cp:revision>1</cp:revision>
  <dcterms:created xsi:type="dcterms:W3CDTF">2026-10-11T06:41:24Z</dcterms:created>
  <dcterms:modified xsi:type="dcterms:W3CDTF">2026-10-11T06:41:24Z</dcterms:modified>
</cp:coreProperties>
</file>