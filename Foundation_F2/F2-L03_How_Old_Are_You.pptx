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3 (F2-L03). Website sections used: the three-question readiness check, age vocabulary and the numbers 11–20, the pattern عُمْرُكَ / عُمْرُكِ / عُمْرِي with سَنَةً / سَنَوَاتٍ, the age-pattern decision check, listening (three exchanges, six questions), the Adam–Maryam reading (five questions), the name-and-age speaking model and checklist, the age-line writing task and the ten-question checkpoint. Picture match: website visual game “How Old Are You?”.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secure answer frame — عُمْرِي … سَنَةً — and your own age. Students do NOT need to explain the number grammar; they learn their own age as a whole chunk.
• Develop: the four ages the website uses most (12–15) and both gendered questions. Stretch: younger ages 3–10 with سَنَوَاتٍ.
• Teacher note: the website gives the number words in the feminine form because سَنَة is feminine (ثَلَاثَ عَشْرَةَ سَنَةً). Present them as fixed phrases today; number grammar comes later in the course.
• Arabic-Indic digits (F1-L07) are on every age card — a good retrieval moment. Urdu bridge: عمر، سال (not Arabic!), کم، نمبر.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“three-question readiness check” (name question, the digit ١٢, “and you?”).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age question uses the same endings as the name question: -ka for a boy, -ki for a girl. Answer with “my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عمر (umr — exactly the same word: “Ap ki umr kya hai?”), سوال / جواب (question / answer), عدد (number).
FALSE FRIEND: Urdu کم (kam) means “less”; Arabic كَمْ (kam) means “how many / how much?”. And Urdu سال (year) is Persian — the Arabic word is سَنَة.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Group 1 (website “Build the age conversation”). Hear → Say → See → Use.
Card 4 shows one year / two years / years. Card 5: the plural “your ages” is أَعْمَارُكُمْ (recognition only).
Website: “In the age answer, you will usually see سَنَةً” — the -an ending (tanwīn fatḥa, F1-L06).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11–15 (website list). CORE rows = the website characters’ ages (Khalid 12, Zaynab 13, Maryam 14, Yusuf 15).
Say each age line; students repeat. Everyone finds THEIR OWN age now and writes it in their book as a whole chunk.
F1 link: read the digit first (F1-L07), then the words. The pattern is simple: [3–9] + عَشْرَةَ.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16–20 (website list) — FLEX: useful for older family members and the website visual game (ages 16–18). عِشْرُونَ is a new word, not “two +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(website section 3, “One noun, three useful endings”): the same endings from the name question return with عُمْر.
Website secure model: كَمْ عُمْرُكِ؟ — عُمْرِي ثَلَاثَ عَشْرَةَ سَنَةً. Choose the ending from the listener; answer with عُمْرِي whatever your gender.
Website common mistake: do not copy the question ending into the answer (عُمْرُكَ = your age; your answer begins عُمْرِي).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PATTERN: ages 11–20 → ١٤ سَنَةً (singular “year”); younger ages 3–10 → ٥ سَنَوَاتٍ (plural “years”).
Card 2 sentence is teacher-made (a younger brother) to give the Stretch rule a real use. Core students only need card 1 and card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“Age-pattern decision 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exchange 2 (Zaynab, 13), modelled with a think-aloud. Students copy it and underline the endings: pink = your, blue = 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How Old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“How Old Are You?” (3 of 6 cards; ages 16–18 for homework). The only difference is the first number word: ثَلَاثَ / أَرْبَعَ / خَمْسَ — perfect for careful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How Old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“How Old Are You?” (3 of 6 cards; ages 16–18 for homework). The only difference is the first number word: ثَلَاثَ / أَرْبَعَ / خَمْسَ — perfect for careful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pattern check Q5 (Stretch: age 5) and checkpoint Q6 and Q8. Show-me: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reads each correct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مَرْحَبًا. مَا اسْمُكَ؟ — اِسْمِي خَالِد. كَمْ عُمْرُكَ؟ — عُمْرِي اِثْنَتَا عَشْرَةَ سَنَةً. / مَرْحَبًا. مَا اسْمُكِ؟ — اِسْمِي زَيْنَب. كَمْ عُمْرُكِ؟ — عُمْرِي ثَلَاثَ عَشْرَةَ سَنَةً. / السَّلَامُ عَلَيْكُمْ. اِسْمِي يُوسُف. عُمْرِي خَمْسَ عَشْرَةَ سَنَةً. وَأَنْتَ؟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5). Scan for names, question endings and age numbers before answering. Core: read with English; Develop / Stretch: cover the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website reading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line that proves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اِسْمِي خَالِد. كَمْ عُمْرُكِ؟ (My name is Khalid. How old are you?)
B: عُمْرِي ثَلَاثَ عَشْرَةَ سَنَةً. وَأَنْتَ؟ (I am thirteen years old. And you?)
A: عُمْرِي اِثْنَتَا عَشْرَةَ سَنَةً. (I am twelve years old.)
WEBSITE SPEAKING CHECKLIST (the listener ticks 1–5 in the chat): 1 opened politely · 2 asked the name with the correct ending · 3 asked the age with عُمْرُكَ / عُمْرُكِ · 4 answered with عُمْرِي … سَنَةً · 5 asked back.
Website “random partner prompt”: show a character card (خَالِد ١٢ · زَيْنَب ١٣ · يُوسُف ١٥ · مَرْيَم ١٤); the partner answers AS that character.
Stretch prompt (teacher-made): “How old is your brother or sister?” — uses سَنَوَاتٍ for 3–10. Summarise (↺): his age / her age is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your own age line and the two age questions (to a boy, to a girl). · Develop — Write a four-line name-and-age exchange. · Stretch — Add a younger person (a brother or sister, age 3–10) with سَنَوَاتٍ.
Website writing task (Stretch): Website writing task: write your own age line, both gendered age questions and a four-line name-and-age exchange. Stretch: include one younger age with سَنَوَاتٍ.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“achievable model”.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(F2-L04 · Nationality and Language) will spend class time USING this language, so students prepare it tonight — short, simple, easy to access (school guidance: “Simple, Short, Interesting, Relevant, Easy to access”). The five words are the website F2-L04 core identity vocabulary and its model line أَتَكَلَّمُ العَرَبِيَّةَ.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How Old Are You?</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كَمْ عُمْرُكَ؟ كَمْ عُمْرُكِ؟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one person their age (-ka to a boy, -ki to a girl), answer with </a:t>
            </a:r>
            <a:pPr algn="l" indent="0" marL="0">
              <a:buNone/>
            </a:pPr>
            <a:r>
              <a:rPr lang="ar-SA" altLang="en-US" sz="1800" dirty="0">
                <a:solidFill>
                  <a:srgbClr val="C6D2E6"/>
                </a:solidFill>
                <a:latin typeface="Amiri" pitchFamily="2" charset="-78"/>
                <a:cs typeface="Amiri" pitchFamily="2" charset="-78"/>
              </a:rPr>
              <a:t>عُمْرِي … سَنَةً</a:t>
            </a:r>
            <a:pPr algn="l" indent="0" marL="0">
              <a:buNone/>
            </a:pPr>
            <a:r>
              <a:rPr lang="en-US" sz="1400" dirty="0">
                <a:solidFill>
                  <a:srgbClr val="C6D2E6"/>
                </a:solidFill>
                <a:latin typeface="Calibri" pitchFamily="34" charset="0"/>
                <a:cs typeface="Amiri" pitchFamily="2" charset="-78"/>
              </a:rPr>
              <a:t>, and recognise the ages 11–20 in short conversations and profiles.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F2-L03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Age words and numbers 11–20, then </a:t>
            </a:r>
            <a:pPr algn="ctr" indent="0" marL="0">
              <a:buNone/>
            </a:pPr>
            <a:r>
              <a:rPr lang="ar-SA" altLang="en-US" sz="1550" dirty="0">
                <a:solidFill>
                  <a:srgbClr val="1F2A37"/>
                </a:solidFill>
                <a:latin typeface="Amiri" pitchFamily="2" charset="-78"/>
                <a:cs typeface="Amiri" pitchFamily="2" charset="-78"/>
              </a:rPr>
              <a:t>عُمْرِي … سَنَةً</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choose the pattern,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question mean?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كَمْ عُمْرُكِ؟</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your name? (to a girl)</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old are you? (to a girl)</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are you? (to a girl)</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سَنَةٌ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year</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name</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her name.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اسْمُكَ؟</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اِسْمِي؟</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اسْمُكِ؟</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digit is twelve?</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٢٠</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١٢</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‘And you?’ to a boy?</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وَأَنْتَ؟</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وَأَنْتِ؟</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تَشَرَّفْنَا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question mean?</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كَمْ عُمْرُكِ؟</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What is your name? (to a girl)</a:t>
            </a:r>
            <a:endParaRPr lang="en-US" sz="125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How old are you? (to a girl)</a:t>
            </a:r>
            <a:endParaRPr lang="en-US" sz="12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 are you? (to a girl)</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سَنَةٌ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year</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name</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number</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her name.</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اسْمُكَ؟</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اِسْمِي؟</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اسْمُكِ؟</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-ki addresses one girl.</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digit is twelve?</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١٥</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٢٠</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١٢</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١٢</a:t>
            </a:r>
            <a:pPr algn="l" indent="0" marL="0">
              <a:buNone/>
            </a:pPr>
            <a:r>
              <a:rPr lang="en-US" sz="1050" i="1" dirty="0">
                <a:solidFill>
                  <a:srgbClr val="8A6D1E"/>
                </a:solidFill>
                <a:latin typeface="Calibri" pitchFamily="34" charset="0"/>
                <a:cs typeface="Amiri" pitchFamily="2" charset="-78"/>
              </a:rPr>
              <a:t> is twelve.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‘And you?’ to a boy?</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وَأَنْتَ؟</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وَأَنْتِ؟</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تَشَرَّفْنَا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وَأَنْتَ؟</a:t>
            </a:r>
            <a:pPr algn="l" indent="0" marL="0">
              <a:buNone/>
            </a:pPr>
            <a:r>
              <a:rPr lang="en-US" sz="1050" i="1" dirty="0">
                <a:solidFill>
                  <a:srgbClr val="8A6D1E"/>
                </a:solidFill>
                <a:latin typeface="Calibri" pitchFamily="34" charset="0"/>
                <a:cs typeface="Amiri" pitchFamily="2" charset="-78"/>
              </a:rPr>
              <a:t> addresses one male person.</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age question uses the same endings as the name question: -ka for a boy, -ki for a girl. Answer with “my age”.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كَمْ عُمْرُكَ؟ ← عُمْرِي … سَنَةً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 boy or a girl their age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with </a:t>
            </a:r>
            <a:pPr algn="l" indent="0" marL="0">
              <a:buNone/>
            </a:pPr>
            <a:r>
              <a:rPr lang="ar-SA" altLang="en-US" sz="1700" dirty="0">
                <a:solidFill>
                  <a:srgbClr val="1F2A37"/>
                </a:solidFill>
                <a:latin typeface="Amiri" pitchFamily="2" charset="-78"/>
                <a:cs typeface="Amiri" pitchFamily="2" charset="-78"/>
              </a:rPr>
              <a:t>عُمْرِي … سَنَةً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say common ages from 1–20.</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hear, speak and write a short age exchange.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and answer age with the model visible.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my own age.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names, ages and “and you?” in one exchange.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ages 12–15 in a conversation.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choose between the singular and plural “year”.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younger age (3–10).</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6 age phrases and the numbers 11–20 from the website. Core: the two questions, your answer, and YOUR own age.</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age conversation · 6</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Numbers 11–20 · 10</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عُمْرٌ</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‎عمر‎ </a:t>
            </a:r>
            <a:pPr indent="0" marL="0">
              <a:buNone/>
            </a:pPr>
            <a:r>
              <a:rPr lang="en-US" sz="950" b="1" dirty="0">
                <a:solidFill>
                  <a:srgbClr val="2E8B57"/>
                </a:solidFill>
                <a:latin typeface="Calibri" pitchFamily="34" charset="0"/>
                <a:cs typeface="Amiri" pitchFamily="2" charset="-78"/>
              </a:rPr>
              <a:t> umr · age, life-time</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كَمْ</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‎کم‎ </a:t>
            </a:r>
            <a:pPr indent="0" marL="0">
              <a:buNone/>
            </a:pPr>
            <a:r>
              <a:rPr lang="en-US" sz="950" b="1" dirty="0">
                <a:solidFill>
                  <a:srgbClr val="2E8B57"/>
                </a:solidFill>
                <a:latin typeface="Calibri" pitchFamily="34" charset="0"/>
                <a:cs typeface="Amiri" pitchFamily="2" charset="-78"/>
              </a:rPr>
              <a:t> kam · Urdu: less · Arabic: how many?</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سُؤَالٌ</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‎سوال‎ </a:t>
            </a:r>
            <a:pPr indent="0" marL="0">
              <a:buNone/>
            </a:pPr>
            <a:r>
              <a:rPr lang="en-US" sz="950" b="1" dirty="0">
                <a:solidFill>
                  <a:srgbClr val="2E8B57"/>
                </a:solidFill>
                <a:latin typeface="Calibri" pitchFamily="34" charset="0"/>
                <a:cs typeface="Amiri" pitchFamily="2" charset="-78"/>
              </a:rPr>
              <a:t> sawāl · question</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عَدَدٌ</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‎عدد‎ </a:t>
            </a:r>
            <a:pPr indent="0" marL="0">
              <a:buNone/>
            </a:pPr>
            <a:r>
              <a:rPr lang="en-US" sz="950" b="1" dirty="0">
                <a:solidFill>
                  <a:srgbClr val="2E8B57"/>
                </a:solidFill>
                <a:latin typeface="Calibri" pitchFamily="34" charset="0"/>
                <a:cs typeface="Amiri" pitchFamily="2" charset="-78"/>
              </a:rPr>
              <a:t> adad · number</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جَوَابٌ</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‎جواب‎ </a:t>
            </a:r>
            <a:pPr indent="0" marL="0">
              <a:buNone/>
            </a:pPr>
            <a:r>
              <a:rPr lang="en-US" sz="950" b="1" dirty="0">
                <a:solidFill>
                  <a:srgbClr val="2E8B57"/>
                </a:solidFill>
                <a:latin typeface="Calibri" pitchFamily="34" charset="0"/>
                <a:cs typeface="Amiri" pitchFamily="2" charset="-78"/>
              </a:rPr>
              <a:t> jawāb · answer</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THE AGE CONVERSATION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 and answer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السُّؤَالُ عَنِ العُمْرِ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عُمْرُكَ؟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old are you? (to a boy)</a:t>
            </a:r>
            <a:endParaRPr lang="en-US" sz="1350" dirty="0"/>
          </a:p>
          <a:p>
            <a:pPr indent="0" marL="0">
              <a:buNone/>
            </a:pPr>
            <a:r>
              <a:rPr lang="en-US" sz="1100" i="1" dirty="0">
                <a:solidFill>
                  <a:srgbClr val="5A6472"/>
                </a:solidFill>
                <a:latin typeface="Calibri" pitchFamily="34" charset="0"/>
                <a:cs typeface="Amiri" pitchFamily="2" charset="-78"/>
              </a:rPr>
              <a:t>kam ʿum-ru-ka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f.</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عُمْرُكِ؟</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old are you? (to a girl)</a:t>
            </a:r>
            <a:endParaRPr lang="en-US" sz="1350" dirty="0"/>
          </a:p>
          <a:p>
            <a:pPr indent="0" marL="0">
              <a:buNone/>
            </a:pPr>
            <a:r>
              <a:rPr lang="en-US" sz="1100" i="1" dirty="0">
                <a:solidFill>
                  <a:srgbClr val="5A6472"/>
                </a:solidFill>
                <a:latin typeface="Calibri" pitchFamily="34" charset="0"/>
                <a:cs typeface="Amiri" pitchFamily="2" charset="-78"/>
              </a:rPr>
              <a:t>kam ʿum-ru-ki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-ki.</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عُمْرِي … سَنَةً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 years old. (11–20)</a:t>
            </a:r>
            <a:endParaRPr lang="en-US" sz="1350" dirty="0"/>
          </a:p>
          <a:p>
            <a:pPr indent="0" marL="0">
              <a:buNone/>
            </a:pPr>
            <a:r>
              <a:rPr lang="en-US" sz="1100" i="1" dirty="0">
                <a:solidFill>
                  <a:srgbClr val="5A6472"/>
                </a:solidFill>
                <a:latin typeface="Calibri" pitchFamily="34" charset="0"/>
                <a:cs typeface="Amiri" pitchFamily="2" charset="-78"/>
              </a:rPr>
              <a:t>ʿum-rī … sa-na-tan</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secure answer for ages 11–20.</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dual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سَنَةٌ</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year</a:t>
            </a:r>
            <a:endParaRPr lang="en-US" sz="1350" dirty="0"/>
          </a:p>
          <a:p>
            <a:pPr indent="0" marL="0">
              <a:buNone/>
            </a:pPr>
            <a:r>
              <a:rPr lang="en-US" sz="1100" i="1" dirty="0">
                <a:solidFill>
                  <a:srgbClr val="5A6472"/>
                </a:solidFill>
                <a:latin typeface="Calibri" pitchFamily="34" charset="0"/>
                <a:cs typeface="Amiri" pitchFamily="2" charset="-78"/>
              </a:rPr>
              <a:t>sa-na · sa-na-tān · sa-na-wāt</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سَنَةٌ</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سَنَتَانِ</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سَنَوَاتٌ</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your: m · f · pl</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عُمْرٌ</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age</a:t>
            </a:r>
            <a:endParaRPr lang="en-US" sz="1350" dirty="0"/>
          </a:p>
          <a:p>
            <a:pPr indent="0" marL="0">
              <a:buNone/>
            </a:pPr>
            <a:r>
              <a:rPr lang="en-US" sz="1100" i="1" dirty="0">
                <a:solidFill>
                  <a:srgbClr val="5A6472"/>
                </a:solidFill>
                <a:latin typeface="Calibri" pitchFamily="34" charset="0"/>
                <a:cs typeface="Amiri" pitchFamily="2" charset="-78"/>
              </a:rPr>
              <a:t>ʿum-ru-ka · ʿum-ru-ki · ʿum-ru-kum</a:t>
            </a:r>
            <a:endParaRPr lang="en-US" sz="1350" dirty="0"/>
          </a:p>
        </p:txBody>
      </p:sp>
      <p:sp>
        <p:nvSpPr>
          <p:cNvPr id="70" name="Shape 6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72" name="Text 69"/>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عُمْرُكَ</a:t>
            </a:r>
            <a:endParaRPr lang="ar-SA" sz="1350" dirty="0"/>
          </a:p>
        </p:txBody>
      </p:sp>
      <p:sp>
        <p:nvSpPr>
          <p:cNvPr id="73" name="Shape 7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75" name="Text 72"/>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عُمْرُكِ</a:t>
            </a:r>
            <a:endParaRPr lang="ar-SA" sz="1350" dirty="0"/>
          </a:p>
        </p:txBody>
      </p:sp>
      <p:sp>
        <p:nvSpPr>
          <p:cNvPr id="76" name="Shape 7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pl.</a:t>
            </a:r>
            <a:endParaRPr lang="en-US" sz="700" dirty="0"/>
          </a:p>
        </p:txBody>
      </p:sp>
      <p:sp>
        <p:nvSpPr>
          <p:cNvPr id="78" name="Text 75"/>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أَعْمَارُكُمْ</a:t>
            </a:r>
            <a:endParaRPr lang="ar-SA"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2" name="Shape 7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عُمْرِي خَمْسُ سَنَوَاتٍ</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five years old. (3–10)</a:t>
            </a:r>
            <a:endParaRPr lang="en-US" sz="1350" dirty="0"/>
          </a:p>
          <a:p>
            <a:pPr indent="0" marL="0">
              <a:buNone/>
            </a:pPr>
            <a:r>
              <a:rPr lang="en-US" sz="1100" i="1" dirty="0">
                <a:solidFill>
                  <a:srgbClr val="5A6472"/>
                </a:solidFill>
                <a:latin typeface="Calibri" pitchFamily="34" charset="0"/>
                <a:cs typeface="Amiri" pitchFamily="2" charset="-78"/>
              </a:rPr>
              <a:t>kham-su sa-na-wāt</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Younger ages: the plural </a:t>
            </a:r>
            <a:pPr algn="l" indent="0" marL="0">
              <a:buNone/>
            </a:pPr>
            <a:r>
              <a:rPr lang="ar-SA" altLang="en-US" sz="1300" dirty="0">
                <a:solidFill>
                  <a:srgbClr val="8A6D1E"/>
                </a:solidFill>
                <a:latin typeface="Amiri" pitchFamily="2" charset="-78"/>
                <a:cs typeface="Amiri" pitchFamily="2" charset="-78"/>
              </a:rPr>
              <a:t>سَنَوَاتٍ</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THE AGES 11–20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your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الأَعْدَادُ مِنْ ١١ إِلَى ٢٠</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Digit</a:t>
            </a:r>
            <a:endParaRPr lang="en-US" sz="1100" dirty="0"/>
          </a:p>
        </p:txBody>
      </p:sp>
      <p:sp>
        <p:nvSpPr>
          <p:cNvPr id="17" name="Text 14"/>
          <p:cNvSpPr txBox="1"/>
          <p:nvPr/>
        </p:nvSpPr>
        <p:spPr>
          <a:xfrm>
            <a:off x="60441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Number (with </a:t>
            </a:r>
            <a:pPr algn="ctr" indent="0" marL="0">
              <a:buNone/>
            </a:pPr>
            <a:r>
              <a:rPr lang="ar-SA" altLang="en-US" sz="1450" b="1" dirty="0">
                <a:solidFill>
                  <a:srgbClr val="FFFFFF"/>
                </a:solidFill>
                <a:latin typeface="Amiri" pitchFamily="2" charset="-78"/>
                <a:cs typeface="Amiri" pitchFamily="2" charset="-78"/>
              </a:rPr>
              <a:t>سَنَة</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8" name="Text 15"/>
          <p:cNvSpPr txBox="1"/>
          <p:nvPr/>
        </p:nvSpPr>
        <p:spPr>
          <a:xfrm>
            <a:off x="53035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Age line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994392" y="2286000"/>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١١</a:t>
            </a:r>
            <a:endParaRPr lang="ar-SA" sz="2100" dirty="0"/>
          </a:p>
        </p:txBody>
      </p:sp>
      <p:sp>
        <p:nvSpPr>
          <p:cNvPr id="21" name="Text 18"/>
          <p:cNvSpPr txBox="1"/>
          <p:nvPr/>
        </p:nvSpPr>
        <p:spPr>
          <a:xfrm>
            <a:off x="9948672" y="2706624"/>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eleven</a:t>
            </a:r>
            <a:endParaRPr lang="en-US" sz="950" dirty="0"/>
          </a:p>
        </p:txBody>
      </p:sp>
      <p:sp>
        <p:nvSpPr>
          <p:cNvPr id="22" name="Text 19"/>
          <p:cNvSpPr txBox="1"/>
          <p:nvPr/>
        </p:nvSpPr>
        <p:spPr>
          <a:xfrm>
            <a:off x="6062472" y="2286000"/>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إِحْدَى عَشْرَةَ</a:t>
            </a:r>
            <a:endParaRPr lang="ar-SA" sz="2100" dirty="0"/>
          </a:p>
        </p:txBody>
      </p:sp>
      <p:sp>
        <p:nvSpPr>
          <p:cNvPr id="23" name="Text 20"/>
          <p:cNvSpPr txBox="1"/>
          <p:nvPr/>
        </p:nvSpPr>
        <p:spPr>
          <a:xfrm>
            <a:off x="6016752" y="2706624"/>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iḥ-dā ʿash-ra-ta</a:t>
            </a:r>
            <a:endParaRPr lang="en-US" sz="950" dirty="0"/>
          </a:p>
        </p:txBody>
      </p:sp>
      <p:sp>
        <p:nvSpPr>
          <p:cNvPr id="24" name="Text 21"/>
          <p:cNvSpPr txBox="1"/>
          <p:nvPr/>
        </p:nvSpPr>
        <p:spPr>
          <a:xfrm>
            <a:off x="548640" y="2286000"/>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إِحْدَى عَشْرَةَ سَنَةً.</a:t>
            </a:r>
            <a:endParaRPr lang="ar-SA" sz="2000" dirty="0"/>
          </a:p>
        </p:txBody>
      </p:sp>
      <p:sp>
        <p:nvSpPr>
          <p:cNvPr id="25" name="Text 22"/>
          <p:cNvSpPr txBox="1"/>
          <p:nvPr/>
        </p:nvSpPr>
        <p:spPr>
          <a:xfrm>
            <a:off x="502920" y="2706624"/>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eleven years old.</a:t>
            </a:r>
            <a:endParaRPr lang="en-US" sz="9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994392" y="3072384"/>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١٢</a:t>
            </a:r>
            <a:endParaRPr lang="ar-SA" sz="2100" dirty="0"/>
          </a:p>
        </p:txBody>
      </p:sp>
      <p:sp>
        <p:nvSpPr>
          <p:cNvPr id="28" name="Text 25"/>
          <p:cNvSpPr txBox="1"/>
          <p:nvPr/>
        </p:nvSpPr>
        <p:spPr>
          <a:xfrm>
            <a:off x="9948672" y="3493008"/>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twelve</a:t>
            </a:r>
            <a:endParaRPr lang="en-US" sz="950" dirty="0"/>
          </a:p>
        </p:txBody>
      </p:sp>
      <p:sp>
        <p:nvSpPr>
          <p:cNvPr id="29" name="Text 26"/>
          <p:cNvSpPr txBox="1"/>
          <p:nvPr/>
        </p:nvSpPr>
        <p:spPr>
          <a:xfrm>
            <a:off x="6062472" y="3072384"/>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اِثْنَتَا عَشْرَةَ</a:t>
            </a:r>
            <a:endParaRPr lang="ar-SA" sz="2100" dirty="0"/>
          </a:p>
        </p:txBody>
      </p:sp>
      <p:sp>
        <p:nvSpPr>
          <p:cNvPr id="30" name="Text 27"/>
          <p:cNvSpPr txBox="1"/>
          <p:nvPr/>
        </p:nvSpPr>
        <p:spPr>
          <a:xfrm>
            <a:off x="6016752" y="3493008"/>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ith-na-tā ʿash-ra-ta</a:t>
            </a:r>
            <a:endParaRPr lang="en-US" sz="950" dirty="0"/>
          </a:p>
        </p:txBody>
      </p:sp>
      <p:sp>
        <p:nvSpPr>
          <p:cNvPr id="31" name="Text 28"/>
          <p:cNvSpPr txBox="1"/>
          <p:nvPr/>
        </p:nvSpPr>
        <p:spPr>
          <a:xfrm>
            <a:off x="548640" y="3072384"/>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اِثْنَتَا عَشْرَةَ سَنَةً.</a:t>
            </a:r>
            <a:endParaRPr lang="ar-SA" sz="2000" dirty="0"/>
          </a:p>
        </p:txBody>
      </p:sp>
      <p:sp>
        <p:nvSpPr>
          <p:cNvPr id="32" name="Text 29"/>
          <p:cNvSpPr txBox="1"/>
          <p:nvPr/>
        </p:nvSpPr>
        <p:spPr>
          <a:xfrm>
            <a:off x="502920" y="3493008"/>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twelve years old.</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994392" y="3858768"/>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١٣</a:t>
            </a:r>
            <a:endParaRPr lang="ar-SA" sz="2100" dirty="0"/>
          </a:p>
        </p:txBody>
      </p:sp>
      <p:sp>
        <p:nvSpPr>
          <p:cNvPr id="37" name="Text 34"/>
          <p:cNvSpPr txBox="1"/>
          <p:nvPr/>
        </p:nvSpPr>
        <p:spPr>
          <a:xfrm>
            <a:off x="9948672" y="4279392"/>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thirteen</a:t>
            </a:r>
            <a:endParaRPr lang="en-US" sz="950" dirty="0"/>
          </a:p>
        </p:txBody>
      </p:sp>
      <p:sp>
        <p:nvSpPr>
          <p:cNvPr id="38" name="Text 35"/>
          <p:cNvSpPr txBox="1"/>
          <p:nvPr/>
        </p:nvSpPr>
        <p:spPr>
          <a:xfrm>
            <a:off x="6062472" y="3858768"/>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ثَلَاثَ عَشْرَةَ</a:t>
            </a:r>
            <a:endParaRPr lang="ar-SA" sz="2100" dirty="0"/>
          </a:p>
        </p:txBody>
      </p:sp>
      <p:sp>
        <p:nvSpPr>
          <p:cNvPr id="39" name="Text 36"/>
          <p:cNvSpPr txBox="1"/>
          <p:nvPr/>
        </p:nvSpPr>
        <p:spPr>
          <a:xfrm>
            <a:off x="6016752" y="4279392"/>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tha-lā-tha ʿash-ra-ta</a:t>
            </a:r>
            <a:endParaRPr lang="en-US" sz="950" dirty="0"/>
          </a:p>
        </p:txBody>
      </p:sp>
      <p:sp>
        <p:nvSpPr>
          <p:cNvPr id="40" name="Text 37"/>
          <p:cNvSpPr txBox="1"/>
          <p:nvPr/>
        </p:nvSpPr>
        <p:spPr>
          <a:xfrm>
            <a:off x="548640" y="3858768"/>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ثَلَاثَ عَشْرَةَ سَنَةً.</a:t>
            </a:r>
            <a:endParaRPr lang="ar-SA" sz="2000" dirty="0"/>
          </a:p>
        </p:txBody>
      </p:sp>
      <p:sp>
        <p:nvSpPr>
          <p:cNvPr id="41" name="Text 38"/>
          <p:cNvSpPr txBox="1"/>
          <p:nvPr/>
        </p:nvSpPr>
        <p:spPr>
          <a:xfrm>
            <a:off x="502920" y="4279392"/>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thirteen years old.</a:t>
            </a:r>
            <a:endParaRPr lang="en-US" sz="95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9994392" y="4645152"/>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١٤</a:t>
            </a:r>
            <a:endParaRPr lang="ar-SA" sz="2100" dirty="0"/>
          </a:p>
        </p:txBody>
      </p:sp>
      <p:sp>
        <p:nvSpPr>
          <p:cNvPr id="46" name="Text 43"/>
          <p:cNvSpPr txBox="1"/>
          <p:nvPr/>
        </p:nvSpPr>
        <p:spPr>
          <a:xfrm>
            <a:off x="9948672" y="5065776"/>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fourteen</a:t>
            </a:r>
            <a:endParaRPr lang="en-US" sz="950" dirty="0"/>
          </a:p>
        </p:txBody>
      </p:sp>
      <p:sp>
        <p:nvSpPr>
          <p:cNvPr id="47" name="Text 44"/>
          <p:cNvSpPr txBox="1"/>
          <p:nvPr/>
        </p:nvSpPr>
        <p:spPr>
          <a:xfrm>
            <a:off x="6062472" y="4645152"/>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أَرْبَعَ عَشْرَةَ</a:t>
            </a:r>
            <a:endParaRPr lang="ar-SA" sz="2100" dirty="0"/>
          </a:p>
        </p:txBody>
      </p:sp>
      <p:sp>
        <p:nvSpPr>
          <p:cNvPr id="48" name="Text 45"/>
          <p:cNvSpPr txBox="1"/>
          <p:nvPr/>
        </p:nvSpPr>
        <p:spPr>
          <a:xfrm>
            <a:off x="6016752" y="5065776"/>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ar-ba-ʿa ʿash-ra-ta</a:t>
            </a:r>
            <a:endParaRPr lang="en-US" sz="950" dirty="0"/>
          </a:p>
        </p:txBody>
      </p:sp>
      <p:sp>
        <p:nvSpPr>
          <p:cNvPr id="49" name="Text 46"/>
          <p:cNvSpPr txBox="1"/>
          <p:nvPr/>
        </p:nvSpPr>
        <p:spPr>
          <a:xfrm>
            <a:off x="548640" y="4645152"/>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أَرْبَعَ عَشْرَةَ سَنَةً.</a:t>
            </a:r>
            <a:endParaRPr lang="ar-SA" sz="2000" dirty="0"/>
          </a:p>
        </p:txBody>
      </p:sp>
      <p:sp>
        <p:nvSpPr>
          <p:cNvPr id="50" name="Text 47"/>
          <p:cNvSpPr txBox="1"/>
          <p:nvPr/>
        </p:nvSpPr>
        <p:spPr>
          <a:xfrm>
            <a:off x="502920" y="5065776"/>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fourteen years old.</a:t>
            </a:r>
            <a:endParaRPr lang="en-US" sz="95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4" name="Text 51"/>
          <p:cNvSpPr txBox="1"/>
          <p:nvPr/>
        </p:nvSpPr>
        <p:spPr>
          <a:xfrm>
            <a:off x="9994392" y="5431536"/>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١٥</a:t>
            </a:r>
            <a:endParaRPr lang="ar-SA" sz="2100" dirty="0"/>
          </a:p>
        </p:txBody>
      </p:sp>
      <p:sp>
        <p:nvSpPr>
          <p:cNvPr id="55" name="Text 52"/>
          <p:cNvSpPr txBox="1"/>
          <p:nvPr/>
        </p:nvSpPr>
        <p:spPr>
          <a:xfrm>
            <a:off x="9948672" y="5852160"/>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fifteen</a:t>
            </a:r>
            <a:endParaRPr lang="en-US" sz="950" dirty="0"/>
          </a:p>
        </p:txBody>
      </p:sp>
      <p:sp>
        <p:nvSpPr>
          <p:cNvPr id="56" name="Text 53"/>
          <p:cNvSpPr txBox="1"/>
          <p:nvPr/>
        </p:nvSpPr>
        <p:spPr>
          <a:xfrm>
            <a:off x="6062472" y="5431536"/>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خَمْسَ عَشْرَةَ</a:t>
            </a:r>
            <a:endParaRPr lang="ar-SA" sz="2100" dirty="0"/>
          </a:p>
        </p:txBody>
      </p:sp>
      <p:sp>
        <p:nvSpPr>
          <p:cNvPr id="57" name="Text 54"/>
          <p:cNvSpPr txBox="1"/>
          <p:nvPr/>
        </p:nvSpPr>
        <p:spPr>
          <a:xfrm>
            <a:off x="6016752" y="5852160"/>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kham-sa ʿash-ra-ta</a:t>
            </a:r>
            <a:endParaRPr lang="en-US" sz="950" dirty="0"/>
          </a:p>
        </p:txBody>
      </p:sp>
      <p:sp>
        <p:nvSpPr>
          <p:cNvPr id="58" name="Text 55"/>
          <p:cNvSpPr txBox="1"/>
          <p:nvPr/>
        </p:nvSpPr>
        <p:spPr>
          <a:xfrm>
            <a:off x="548640" y="5431536"/>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خَمْسَ عَشْرَةَ سَنَةً.</a:t>
            </a:r>
            <a:endParaRPr lang="ar-SA" sz="2000" dirty="0"/>
          </a:p>
        </p:txBody>
      </p:sp>
      <p:sp>
        <p:nvSpPr>
          <p:cNvPr id="59" name="Text 56"/>
          <p:cNvSpPr txBox="1"/>
          <p:nvPr/>
        </p:nvSpPr>
        <p:spPr>
          <a:xfrm>
            <a:off x="502920" y="5852160"/>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fifteen years old.</a:t>
            </a:r>
            <a:endParaRPr lang="en-US" sz="950" dirty="0"/>
          </a:p>
        </p:txBody>
      </p:sp>
      <p:sp>
        <p:nvSpPr>
          <p:cNvPr id="60" name="Shape 57"/>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THE AGES 16–20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Older ages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الأَعْدَادُ مِنْ ١٦ إِلَى ٢٠</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Digit</a:t>
            </a:r>
            <a:endParaRPr lang="en-US" sz="1100" dirty="0"/>
          </a:p>
        </p:txBody>
      </p:sp>
      <p:sp>
        <p:nvSpPr>
          <p:cNvPr id="19" name="Text 16"/>
          <p:cNvSpPr txBox="1"/>
          <p:nvPr/>
        </p:nvSpPr>
        <p:spPr>
          <a:xfrm>
            <a:off x="60441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Number (with </a:t>
            </a:r>
            <a:pPr algn="ctr" indent="0" marL="0">
              <a:buNone/>
            </a:pPr>
            <a:r>
              <a:rPr lang="ar-SA" altLang="en-US" sz="1450" b="1" dirty="0">
                <a:solidFill>
                  <a:srgbClr val="FFFFFF"/>
                </a:solidFill>
                <a:latin typeface="Amiri" pitchFamily="2" charset="-78"/>
                <a:cs typeface="Amiri" pitchFamily="2" charset="-78"/>
              </a:rPr>
              <a:t>سَنَة</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Text 17"/>
          <p:cNvSpPr txBox="1"/>
          <p:nvPr/>
        </p:nvSpPr>
        <p:spPr>
          <a:xfrm>
            <a:off x="53035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Age line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994392" y="2286000"/>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١٦</a:t>
            </a:r>
            <a:endParaRPr lang="ar-SA" sz="2100" dirty="0"/>
          </a:p>
        </p:txBody>
      </p:sp>
      <p:sp>
        <p:nvSpPr>
          <p:cNvPr id="23" name="Text 20"/>
          <p:cNvSpPr txBox="1"/>
          <p:nvPr/>
        </p:nvSpPr>
        <p:spPr>
          <a:xfrm>
            <a:off x="9948672" y="2706624"/>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sixteen</a:t>
            </a:r>
            <a:endParaRPr lang="en-US" sz="950" dirty="0"/>
          </a:p>
        </p:txBody>
      </p:sp>
      <p:sp>
        <p:nvSpPr>
          <p:cNvPr id="24" name="Text 21"/>
          <p:cNvSpPr txBox="1"/>
          <p:nvPr/>
        </p:nvSpPr>
        <p:spPr>
          <a:xfrm>
            <a:off x="6062472" y="2286000"/>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سِتَّ عَشْرَةَ</a:t>
            </a:r>
            <a:endParaRPr lang="ar-SA" sz="2100" dirty="0"/>
          </a:p>
        </p:txBody>
      </p:sp>
      <p:sp>
        <p:nvSpPr>
          <p:cNvPr id="25" name="Text 22"/>
          <p:cNvSpPr txBox="1"/>
          <p:nvPr/>
        </p:nvSpPr>
        <p:spPr>
          <a:xfrm>
            <a:off x="6016752" y="2706624"/>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sit-ta ʿash-ra-ta</a:t>
            </a:r>
            <a:endParaRPr lang="en-US" sz="950" dirty="0"/>
          </a:p>
        </p:txBody>
      </p:sp>
      <p:sp>
        <p:nvSpPr>
          <p:cNvPr id="26" name="Text 23"/>
          <p:cNvSpPr txBox="1"/>
          <p:nvPr/>
        </p:nvSpPr>
        <p:spPr>
          <a:xfrm>
            <a:off x="548640" y="2286000"/>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سِتَّ عَشْرَةَ سَنَةً.</a:t>
            </a:r>
            <a:endParaRPr lang="ar-SA" sz="2000" dirty="0"/>
          </a:p>
        </p:txBody>
      </p:sp>
      <p:sp>
        <p:nvSpPr>
          <p:cNvPr id="27" name="Text 24"/>
          <p:cNvSpPr txBox="1"/>
          <p:nvPr/>
        </p:nvSpPr>
        <p:spPr>
          <a:xfrm>
            <a:off x="502920" y="2706624"/>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sixteen years old.</a:t>
            </a:r>
            <a:endParaRPr lang="en-US" sz="9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9994392" y="3072384"/>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١٧</a:t>
            </a:r>
            <a:endParaRPr lang="ar-SA" sz="2100" dirty="0"/>
          </a:p>
        </p:txBody>
      </p:sp>
      <p:sp>
        <p:nvSpPr>
          <p:cNvPr id="30" name="Text 27"/>
          <p:cNvSpPr txBox="1"/>
          <p:nvPr/>
        </p:nvSpPr>
        <p:spPr>
          <a:xfrm>
            <a:off x="9948672" y="3493008"/>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seventeen</a:t>
            </a:r>
            <a:endParaRPr lang="en-US" sz="950" dirty="0"/>
          </a:p>
        </p:txBody>
      </p:sp>
      <p:sp>
        <p:nvSpPr>
          <p:cNvPr id="31" name="Text 28"/>
          <p:cNvSpPr txBox="1"/>
          <p:nvPr/>
        </p:nvSpPr>
        <p:spPr>
          <a:xfrm>
            <a:off x="6062472" y="3072384"/>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سَبْعَ عَشْرَةَ</a:t>
            </a:r>
            <a:endParaRPr lang="ar-SA" sz="2100" dirty="0"/>
          </a:p>
        </p:txBody>
      </p:sp>
      <p:sp>
        <p:nvSpPr>
          <p:cNvPr id="32" name="Text 29"/>
          <p:cNvSpPr txBox="1"/>
          <p:nvPr/>
        </p:nvSpPr>
        <p:spPr>
          <a:xfrm>
            <a:off x="6016752" y="3493008"/>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sab-ʿa ʿash-ra-ta</a:t>
            </a:r>
            <a:endParaRPr lang="en-US" sz="950" dirty="0"/>
          </a:p>
        </p:txBody>
      </p:sp>
      <p:sp>
        <p:nvSpPr>
          <p:cNvPr id="33" name="Text 30"/>
          <p:cNvSpPr txBox="1"/>
          <p:nvPr/>
        </p:nvSpPr>
        <p:spPr>
          <a:xfrm>
            <a:off x="548640" y="3072384"/>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سَبْعَ عَشْرَةَ سَنَةً.</a:t>
            </a:r>
            <a:endParaRPr lang="ar-SA" sz="2000" dirty="0"/>
          </a:p>
        </p:txBody>
      </p:sp>
      <p:sp>
        <p:nvSpPr>
          <p:cNvPr id="34" name="Text 31"/>
          <p:cNvSpPr txBox="1"/>
          <p:nvPr/>
        </p:nvSpPr>
        <p:spPr>
          <a:xfrm>
            <a:off x="502920" y="3493008"/>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seventeen years old.</a:t>
            </a:r>
            <a:endParaRPr lang="en-US" sz="9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994392" y="3858768"/>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١٨</a:t>
            </a:r>
            <a:endParaRPr lang="ar-SA" sz="2100" dirty="0"/>
          </a:p>
        </p:txBody>
      </p:sp>
      <p:sp>
        <p:nvSpPr>
          <p:cNvPr id="37" name="Text 34"/>
          <p:cNvSpPr txBox="1"/>
          <p:nvPr/>
        </p:nvSpPr>
        <p:spPr>
          <a:xfrm>
            <a:off x="9948672" y="4279392"/>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eighteen</a:t>
            </a:r>
            <a:endParaRPr lang="en-US" sz="950" dirty="0"/>
          </a:p>
        </p:txBody>
      </p:sp>
      <p:sp>
        <p:nvSpPr>
          <p:cNvPr id="38" name="Text 35"/>
          <p:cNvSpPr txBox="1"/>
          <p:nvPr/>
        </p:nvSpPr>
        <p:spPr>
          <a:xfrm>
            <a:off x="6062472" y="3858768"/>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ثَمَانِيَ عَشْرَةَ</a:t>
            </a:r>
            <a:endParaRPr lang="ar-SA" sz="2100" dirty="0"/>
          </a:p>
        </p:txBody>
      </p:sp>
      <p:sp>
        <p:nvSpPr>
          <p:cNvPr id="39" name="Text 36"/>
          <p:cNvSpPr txBox="1"/>
          <p:nvPr/>
        </p:nvSpPr>
        <p:spPr>
          <a:xfrm>
            <a:off x="6016752" y="4279392"/>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tha-mā-ni-ya ʿash-ra-ta</a:t>
            </a:r>
            <a:endParaRPr lang="en-US" sz="950" dirty="0"/>
          </a:p>
        </p:txBody>
      </p:sp>
      <p:sp>
        <p:nvSpPr>
          <p:cNvPr id="40" name="Text 37"/>
          <p:cNvSpPr txBox="1"/>
          <p:nvPr/>
        </p:nvSpPr>
        <p:spPr>
          <a:xfrm>
            <a:off x="548640" y="3858768"/>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ثَمَانِيَ عَشْرَةَ سَنَةً.</a:t>
            </a:r>
            <a:endParaRPr lang="ar-SA" sz="2000" dirty="0"/>
          </a:p>
        </p:txBody>
      </p:sp>
      <p:sp>
        <p:nvSpPr>
          <p:cNvPr id="41" name="Text 38"/>
          <p:cNvSpPr txBox="1"/>
          <p:nvPr/>
        </p:nvSpPr>
        <p:spPr>
          <a:xfrm>
            <a:off x="502920" y="4279392"/>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eighteen years old.</a:t>
            </a:r>
            <a:endParaRPr lang="en-US" sz="950" dirty="0"/>
          </a:p>
        </p:txBody>
      </p:sp>
      <p:sp>
        <p:nvSpPr>
          <p:cNvPr id="42" name="Shape 39"/>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3" name="Text 40"/>
          <p:cNvSpPr txBox="1"/>
          <p:nvPr/>
        </p:nvSpPr>
        <p:spPr>
          <a:xfrm>
            <a:off x="9994392" y="4645152"/>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١٩</a:t>
            </a:r>
            <a:endParaRPr lang="ar-SA" sz="2100" dirty="0"/>
          </a:p>
        </p:txBody>
      </p:sp>
      <p:sp>
        <p:nvSpPr>
          <p:cNvPr id="44" name="Text 41"/>
          <p:cNvSpPr txBox="1"/>
          <p:nvPr/>
        </p:nvSpPr>
        <p:spPr>
          <a:xfrm>
            <a:off x="9948672" y="5065776"/>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nineteen</a:t>
            </a:r>
            <a:endParaRPr lang="en-US" sz="950" dirty="0"/>
          </a:p>
        </p:txBody>
      </p:sp>
      <p:sp>
        <p:nvSpPr>
          <p:cNvPr id="45" name="Text 42"/>
          <p:cNvSpPr txBox="1"/>
          <p:nvPr/>
        </p:nvSpPr>
        <p:spPr>
          <a:xfrm>
            <a:off x="6062472" y="4645152"/>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تِسْعَ عَشْرَةَ</a:t>
            </a:r>
            <a:endParaRPr lang="ar-SA" sz="2100" dirty="0"/>
          </a:p>
        </p:txBody>
      </p:sp>
      <p:sp>
        <p:nvSpPr>
          <p:cNvPr id="46" name="Text 43"/>
          <p:cNvSpPr txBox="1"/>
          <p:nvPr/>
        </p:nvSpPr>
        <p:spPr>
          <a:xfrm>
            <a:off x="6016752" y="5065776"/>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tis-ʿa ʿash-ra-ta</a:t>
            </a:r>
            <a:endParaRPr lang="en-US" sz="950" dirty="0"/>
          </a:p>
        </p:txBody>
      </p:sp>
      <p:sp>
        <p:nvSpPr>
          <p:cNvPr id="47" name="Text 44"/>
          <p:cNvSpPr txBox="1"/>
          <p:nvPr/>
        </p:nvSpPr>
        <p:spPr>
          <a:xfrm>
            <a:off x="548640" y="4645152"/>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تِسْعَ عَشْرَةَ سَنَةً.</a:t>
            </a:r>
            <a:endParaRPr lang="ar-SA" sz="2000" dirty="0"/>
          </a:p>
        </p:txBody>
      </p:sp>
      <p:sp>
        <p:nvSpPr>
          <p:cNvPr id="48" name="Text 45"/>
          <p:cNvSpPr txBox="1"/>
          <p:nvPr/>
        </p:nvSpPr>
        <p:spPr>
          <a:xfrm>
            <a:off x="502920" y="5065776"/>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nineteen years old.</a:t>
            </a:r>
            <a:endParaRPr lang="en-US" sz="950" dirty="0"/>
          </a:p>
        </p:txBody>
      </p:sp>
      <p:sp>
        <p:nvSpPr>
          <p:cNvPr id="49" name="Shape 46"/>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0" name="Text 47"/>
          <p:cNvSpPr txBox="1"/>
          <p:nvPr/>
        </p:nvSpPr>
        <p:spPr>
          <a:xfrm>
            <a:off x="9994392" y="5431536"/>
            <a:ext cx="1645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٢٠</a:t>
            </a:r>
            <a:endParaRPr lang="ar-SA" sz="2100" dirty="0"/>
          </a:p>
        </p:txBody>
      </p:sp>
      <p:sp>
        <p:nvSpPr>
          <p:cNvPr id="51" name="Text 48"/>
          <p:cNvSpPr txBox="1"/>
          <p:nvPr/>
        </p:nvSpPr>
        <p:spPr>
          <a:xfrm>
            <a:off x="9948672" y="5852160"/>
            <a:ext cx="1737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twenty</a:t>
            </a:r>
            <a:endParaRPr lang="en-US" sz="950" dirty="0"/>
          </a:p>
        </p:txBody>
      </p:sp>
      <p:sp>
        <p:nvSpPr>
          <p:cNvPr id="52" name="Text 49"/>
          <p:cNvSpPr txBox="1"/>
          <p:nvPr/>
        </p:nvSpPr>
        <p:spPr>
          <a:xfrm>
            <a:off x="6062472" y="5431536"/>
            <a:ext cx="37490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عِشْرُونَ</a:t>
            </a:r>
            <a:endParaRPr lang="ar-SA" sz="2100" dirty="0"/>
          </a:p>
        </p:txBody>
      </p:sp>
      <p:sp>
        <p:nvSpPr>
          <p:cNvPr id="53" name="Text 50"/>
          <p:cNvSpPr txBox="1"/>
          <p:nvPr/>
        </p:nvSpPr>
        <p:spPr>
          <a:xfrm>
            <a:off x="6016752" y="5852160"/>
            <a:ext cx="38404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ʿish-rū-na</a:t>
            </a:r>
            <a:endParaRPr lang="en-US" sz="950" dirty="0"/>
          </a:p>
        </p:txBody>
      </p:sp>
      <p:sp>
        <p:nvSpPr>
          <p:cNvPr id="54" name="Text 51"/>
          <p:cNvSpPr txBox="1"/>
          <p:nvPr/>
        </p:nvSpPr>
        <p:spPr>
          <a:xfrm>
            <a:off x="548640" y="5431536"/>
            <a:ext cx="533095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عُمْرِي عِشْرُونَ سَنَةً.</a:t>
            </a:r>
            <a:endParaRPr lang="ar-SA" sz="2000" dirty="0"/>
          </a:p>
        </p:txBody>
      </p:sp>
      <p:sp>
        <p:nvSpPr>
          <p:cNvPr id="55" name="Text 52"/>
          <p:cNvSpPr txBox="1"/>
          <p:nvPr/>
        </p:nvSpPr>
        <p:spPr>
          <a:xfrm>
            <a:off x="502920" y="5852160"/>
            <a:ext cx="54223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twenty years old.</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ONE NOUN, THREE USEFUL ENDINGS (AGAIN!)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Whose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عُمْرٌ ← عُمْرُكَ / عُمْرُكِ / عُمْرِي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0E7C86"/>
                </a:solidFill>
                <a:latin typeface="Amiri" pitchFamily="2" charset="-78"/>
                <a:cs typeface="Amiri" pitchFamily="2" charset="-78"/>
              </a:rPr>
              <a:t>كَمْ</a:t>
            </a:r>
            <a:pPr rtl="1" algn="ctr" indent="0" marL="0">
              <a:buNone/>
            </a:pPr>
            <a:r>
              <a:rPr lang="ar-SA" altLang="en-US" sz="7200" b="1" dirty="0">
                <a:solidFill>
                  <a:srgbClr val="1B3B6F"/>
                </a:solidFill>
                <a:latin typeface="Amiri" pitchFamily="2" charset="-78"/>
                <a:cs typeface="Amiri" pitchFamily="2" charset="-78"/>
              </a:rPr>
              <a:t> </a:t>
            </a:r>
            <a:pPr rtl="1" algn="ctr" indent="0" marL="0">
              <a:buNone/>
            </a:pPr>
            <a:r>
              <a:rPr lang="ar-SA" altLang="en-US" sz="7200" b="1" dirty="0">
                <a:solidFill>
                  <a:srgbClr val="7B3FA0"/>
                </a:solidFill>
                <a:latin typeface="Amiri" pitchFamily="2" charset="-78"/>
                <a:cs typeface="Amiri" pitchFamily="2" charset="-78"/>
              </a:rPr>
              <a:t>عُمْرُ</a:t>
            </a:r>
            <a:pPr rtl="1" algn="ctr" indent="0" marL="0">
              <a:buNone/>
            </a:pPr>
            <a:r>
              <a:rPr lang="ar-SA" altLang="en-US" sz="7200" b="1" dirty="0">
                <a:solidFill>
                  <a:srgbClr val="D6336C"/>
                </a:solidFill>
                <a:latin typeface="Amiri" pitchFamily="2" charset="-78"/>
                <a:cs typeface="Amiri" pitchFamily="2" charset="-78"/>
              </a:rPr>
              <a:t>كِ</a:t>
            </a:r>
            <a:pPr rtl="1" algn="ctr" indent="0" marL="0">
              <a:buNone/>
            </a:pPr>
            <a:r>
              <a:rPr lang="ar-SA" altLang="en-US" sz="7200" b="1" dirty="0">
                <a:solidFill>
                  <a:srgbClr val="1B3B6F"/>
                </a:solidFill>
                <a:latin typeface="Amiri" pitchFamily="2" charset="-78"/>
                <a:cs typeface="Amiri" pitchFamily="2" charset="-78"/>
              </a:rPr>
              <a:t>؟</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kam ʿum-ru-ki · how old are you? (to a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2" charset="-78"/>
                <a:cs typeface="Amiri" pitchFamily="2" charset="-78"/>
              </a:rPr>
              <a:t>كَمْ</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cs typeface="Amiri" pitchFamily="2" charset="-78"/>
              </a:rPr>
              <a:t>KEY WORD: how many?</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With </a:t>
            </a:r>
            <a:pPr algn="l" indent="0" marL="0">
              <a:buNone/>
            </a:pPr>
            <a:r>
              <a:rPr lang="ar-SA" altLang="en-US" sz="1500" dirty="0">
                <a:solidFill>
                  <a:srgbClr val="5A6472"/>
                </a:solidFill>
                <a:latin typeface="Amiri" pitchFamily="2" charset="-78"/>
                <a:cs typeface="Amiri" pitchFamily="2" charset="-78"/>
              </a:rPr>
              <a:t>عُمْر</a:t>
            </a:r>
            <a:pPr algn="l" indent="0" marL="0">
              <a:buNone/>
            </a:pPr>
            <a:r>
              <a:rPr lang="en-US" sz="1150" dirty="0">
                <a:solidFill>
                  <a:srgbClr val="5A6472"/>
                </a:solidFill>
                <a:latin typeface="Calibri" pitchFamily="34" charset="0"/>
                <a:cs typeface="Amiri" pitchFamily="2" charset="-78"/>
              </a:rPr>
              <a:t> it asks age.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2" charset="-78"/>
                <a:cs typeface="Amiri" pitchFamily="2" charset="-78"/>
              </a:rPr>
              <a:t>عُمْرُ</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cs typeface="Amiri" pitchFamily="2" charset="-78"/>
              </a:rPr>
              <a:t>MEANING: age</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Urdu: umr — the same word.</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cs typeface="Amiri" pitchFamily="2" charset="-78"/>
              </a:rPr>
              <a:t>كَ / كِ</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ENDING: your</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-ka to a boy · -ki to a girl. Answer with -ī: </a:t>
            </a:r>
            <a:pPr algn="l" indent="0" marL="0">
              <a:buNone/>
            </a:pPr>
            <a:r>
              <a:rPr lang="ar-SA" altLang="en-US" sz="1500" dirty="0">
                <a:solidFill>
                  <a:srgbClr val="5A6472"/>
                </a:solidFill>
                <a:latin typeface="Amiri" pitchFamily="2" charset="-78"/>
                <a:cs typeface="Amiri" pitchFamily="2" charset="-78"/>
              </a:rPr>
              <a:t>عُمْرِي</a:t>
            </a:r>
            <a:pPr algn="l" indent="0" marL="0">
              <a:buNone/>
            </a:pPr>
            <a:r>
              <a:rPr lang="en-US" sz="1150" dirty="0">
                <a:solidFill>
                  <a:srgbClr val="5A6472"/>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WHICH “YEAR”?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year or many years?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سَنَةً أَمْ سَنَوَاتٍ؟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AGES 11–20 · CORE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سَنَةً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عُمْرِي أَرْبَعَ عَشْرَةَ سَنَةً.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fourteen years old.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11–20 the singular “year”: sanatan.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AGES 3–10 · STRETCH</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سَنَوَاتٍ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عُمْرُ أَخِي خَمْسُ سَنَوَاتٍ.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brother is five years old.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3–10 the plural “years”: sanawāt.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 ANSWER · ALWAYS</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عُمْرِي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كَمْ عُمْرُكَ؟ — عُمْرِي …</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old are you? — I am …</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question says “your”; the answer says “my”.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copying the question ending into the answer.</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عُمْرِي …</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عُمْرُكَ …</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boy: ‘How old are you?’</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‘How old are you?’</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عُمْرُهَا؟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______ ثَلَاثَ عَشْرَةَ سَنَةً.</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عُمْرُكَ</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line for age 14.</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أَرْبَعَ عَشْرَةَ سَنَةً.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أَرْبَعُ سَنَوَاتٍ.</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عُمْرِي؟</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boy: ‘How old are you?’</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عُمْرُكَ؟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-ka addresses one boy.</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‘How old are you?’</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عُمْرُكِ؟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عُمْرُهَا؟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-ki addresses one girl.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______ ثَلَاثَ عَشْرَةَ سَنَةً.</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عُمْرُكَ</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عُمْرِي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عُمْرِي</a:t>
            </a:r>
            <a:pPr algn="l" indent="0" marL="0">
              <a:buNone/>
            </a:pPr>
            <a:r>
              <a:rPr lang="en-US" sz="1050" i="1" dirty="0">
                <a:solidFill>
                  <a:srgbClr val="8A6D1E"/>
                </a:solidFill>
                <a:latin typeface="Calibri" pitchFamily="34" charset="0"/>
                <a:cs typeface="Amiri" pitchFamily="2" charset="-78"/>
              </a:rPr>
              <a:t> means ‘my age’ and begins your answer.</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line for age 14.</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عُمْرِي أَرْبَعَ عَشْرَةَ سَنَةً.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أَرْبَعُ سَنَوَاتٍ.</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عُمْرِي؟</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Ages 11–20 use the singular form </a:t>
            </a:r>
            <a:pPr algn="l" indent="0" marL="0">
              <a:buNone/>
            </a:pPr>
            <a:r>
              <a:rPr lang="ar-SA" altLang="en-US" sz="1350" dirty="0">
                <a:solidFill>
                  <a:srgbClr val="8A6D1E"/>
                </a:solidFill>
                <a:latin typeface="Amiri" pitchFamily="2" charset="-78"/>
                <a:cs typeface="Amiri" pitchFamily="2" charset="-78"/>
              </a:rPr>
              <a:t>سَنَةً</a:t>
            </a:r>
            <a:pPr algn="l" indent="0" marL="0">
              <a:buNone/>
            </a:pPr>
            <a:r>
              <a:rPr lang="en-US" sz="1050" i="1" dirty="0">
                <a:solidFill>
                  <a:srgbClr val="8A6D1E"/>
                </a:solidFill>
                <a:latin typeface="Calibri" pitchFamily="34" charset="0"/>
                <a:cs typeface="Amiri" pitchFamily="2" charset="-78"/>
              </a:rPr>
              <a:t> in this pattern.</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ask a name and an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Greet and ask the 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مَرْحَبًا. مَا اسْمُ</a:t>
            </a:r>
            <a:pPr rtl="1" algn="ctr" indent="0" marL="0">
              <a:buNone/>
            </a:pPr>
            <a:r>
              <a:rPr lang="ar-SA" altLang="en-US" sz="2800" b="1" dirty="0">
                <a:solidFill>
                  <a:srgbClr val="D6336C"/>
                </a:solidFill>
                <a:latin typeface="Amiri" pitchFamily="2" charset="-78"/>
                <a:cs typeface="Amiri" pitchFamily="2" charset="-78"/>
              </a:rPr>
              <a:t>كِ</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Zaynab is a girl: -ki (F2-L02).</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She answers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اِسْمِي زَيْنَب. وَأَنْتَ؟</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asks back — I am a boy: </a:t>
            </a:r>
            <a:pPr algn="l" indent="0" marL="0">
              <a:buNone/>
            </a:pPr>
            <a:r>
              <a:rPr lang="ar-SA" altLang="en-US" sz="1500" dirty="0">
                <a:solidFill>
                  <a:srgbClr val="1F2A37"/>
                </a:solidFill>
                <a:latin typeface="Amiri" pitchFamily="2" charset="-78"/>
                <a:cs typeface="Amiri" pitchFamily="2" charset="-78"/>
              </a:rPr>
              <a:t>وَأَنْتَ</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Ask the age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كَمْ عُمْرُ</a:t>
            </a:r>
            <a:pPr rtl="1" algn="ctr" indent="0" marL="0">
              <a:buNone/>
            </a:pPr>
            <a:r>
              <a:rPr lang="ar-SA" altLang="en-US" sz="2800" b="1" dirty="0">
                <a:solidFill>
                  <a:srgbClr val="D6336C"/>
                </a:solidFill>
                <a:latin typeface="Amiri" pitchFamily="2" charset="-78"/>
                <a:cs typeface="Amiri" pitchFamily="2" charset="-78"/>
              </a:rPr>
              <a:t>كِ</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Same listener, same ending: -ki.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She answers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D5FBF"/>
                </a:solidFill>
                <a:latin typeface="Amiri" pitchFamily="2" charset="-78"/>
                <a:cs typeface="Amiri" pitchFamily="2" charset="-78"/>
              </a:rPr>
              <a:t>عُمْرِي</a:t>
            </a:r>
            <a:pPr rtl="1" algn="ctr" indent="0" marL="0">
              <a:buNone/>
            </a:pPr>
            <a:r>
              <a:rPr lang="ar-SA" altLang="en-US" sz="2550" b="1" dirty="0">
                <a:solidFill>
                  <a:srgbClr val="1B3B6F"/>
                </a:solidFill>
                <a:latin typeface="Amiri" pitchFamily="2" charset="-78"/>
                <a:cs typeface="Amiri" pitchFamily="2" charset="-78"/>
              </a:rPr>
              <a:t> ثَلَاثَ عَشْرَةَ سَنَةً.</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age + the number + </a:t>
            </a:r>
            <a:pPr algn="l" indent="0" marL="0">
              <a:buNone/>
            </a:pPr>
            <a:r>
              <a:rPr lang="ar-SA" altLang="en-US" sz="1500" dirty="0">
                <a:solidFill>
                  <a:srgbClr val="1F2A37"/>
                </a:solidFill>
                <a:latin typeface="Amiri" pitchFamily="2" charset="-78"/>
                <a:cs typeface="Amiri" pitchFamily="2" charset="-78"/>
              </a:rPr>
              <a:t>سَنَةً</a:t>
            </a:r>
            <a:pPr algn="l" indent="0" marL="0">
              <a:buNone/>
            </a:pPr>
            <a:r>
              <a:rPr lang="en-US" sz="1150" dirty="0">
                <a:solidFill>
                  <a:srgbClr val="1F2A37"/>
                </a:solidFill>
                <a:latin typeface="Calibri" pitchFamily="34" charset="0"/>
                <a:cs typeface="Amiri" pitchFamily="2" charset="-78"/>
              </a:rPr>
              <a:t> (13 is between 11 and 20).</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YOUR</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MY</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مَرْحَبًا. مَا اسْمُ</a:t>
            </a:r>
            <a:pPr rtl="1" algn="r" indent="0" marL="0">
              <a:buNone/>
            </a:pPr>
            <a:r>
              <a:rPr lang="ar-SA" altLang="en-US" sz="2600" b="1" dirty="0">
                <a:solidFill>
                  <a:srgbClr val="D6336C"/>
                </a:solidFill>
                <a:latin typeface="Amiri" pitchFamily="2" charset="-78"/>
                <a:cs typeface="Amiri" pitchFamily="2" charset="-78"/>
              </a:rPr>
              <a:t>كِ</a:t>
            </a:r>
            <a:pPr rtl="1" algn="r" indent="0" marL="0">
              <a:buNone/>
            </a:pPr>
            <a:r>
              <a:rPr lang="ar-SA" altLang="en-US" sz="2600" b="1" dirty="0">
                <a:solidFill>
                  <a:srgbClr val="1B3B6F"/>
                </a:solidFill>
                <a:latin typeface="Amiri" pitchFamily="2" charset="-78"/>
                <a:cs typeface="Amiri" pitchFamily="2" charset="-78"/>
              </a:rPr>
              <a:t>؟ — اِسْمِي زَيْنَب. وَأَنْتَ؟ — اِسْمِي خَالِد. كَمْ عُمْرُ</a:t>
            </a:r>
            <a:pPr rtl="1" algn="r" indent="0" marL="0">
              <a:buNone/>
            </a:pPr>
            <a:r>
              <a:rPr lang="ar-SA" altLang="en-US" sz="2600" b="1" dirty="0">
                <a:solidFill>
                  <a:srgbClr val="D6336C"/>
                </a:solidFill>
                <a:latin typeface="Amiri" pitchFamily="2" charset="-78"/>
                <a:cs typeface="Amiri" pitchFamily="2" charset="-78"/>
              </a:rPr>
              <a:t>كِ</a:t>
            </a:r>
            <a:pPr rtl="1" algn="r" indent="0" marL="0">
              <a:buNone/>
            </a:pPr>
            <a:r>
              <a:rPr lang="ar-SA" altLang="en-US" sz="2600" b="1" dirty="0">
                <a:solidFill>
                  <a:srgbClr val="1B3B6F"/>
                </a:solidFill>
                <a:latin typeface="Amiri" pitchFamily="2" charset="-78"/>
                <a:cs typeface="Amiri" pitchFamily="2" charset="-78"/>
              </a:rPr>
              <a:t>؟ — </a:t>
            </a:r>
            <a:pPr rtl="1" algn="r" indent="0" marL="0">
              <a:buNone/>
            </a:pPr>
            <a:r>
              <a:rPr lang="ar-SA" altLang="en-US" sz="2600" b="1" dirty="0">
                <a:solidFill>
                  <a:srgbClr val="1D5FBF"/>
                </a:solidFill>
                <a:latin typeface="Amiri" pitchFamily="2" charset="-78"/>
                <a:cs typeface="Amiri" pitchFamily="2" charset="-78"/>
              </a:rPr>
              <a:t>عُمْرِي</a:t>
            </a:r>
            <a:pPr rtl="1" algn="r" indent="0" marL="0">
              <a:buNone/>
            </a:pPr>
            <a:r>
              <a:rPr lang="ar-SA" altLang="en-US" sz="2600" b="1" dirty="0">
                <a:solidFill>
                  <a:srgbClr val="1B3B6F"/>
                </a:solidFill>
                <a:latin typeface="Amiri" pitchFamily="2" charset="-78"/>
                <a:cs typeface="Amiri" pitchFamily="2" charset="-78"/>
              </a:rPr>
              <a:t> ثَلَاثَ عَشْرَةَ سَنَةً.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Hello. What is your name? — My name is Zaynab. And you? — My name is Khalid. How old are you? — I am thirteen years old.</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HOW OLD ARE YOU?”</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picture to the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العُمْرِ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girl · 13</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boy · 14</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girl · 15</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عُمْرِي خَمْسَ عَشْرَةَ سَنَةً.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عُمْرِي ثَلَاثَ عَشْرَةَ سَنَةً.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عُمْرِي أَرْبَعَ عَشْرَةَ سَنَةً.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العُمْرِ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girl · 13</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عُمْرِي ثَلَاثَ عَشْرَةَ سَنَةً.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am thirteen years old.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boy · 14</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عُمْرِي أَرْبَعَ عَشْرَةَ سَنَةً.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am fourteen years old.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girl · 15</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عُمْرِي خَمْسَ عَشْرَةَ سَنَةً.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am fifteen years old.</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AGE-PATTERN CHECK (CONTINUED)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right pattern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النَّمَطَ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line for age 5.</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خَمْسَ عَشْرَةَ سَنَةً.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خَمْسُ سَنَوَاتٍ.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خَمْسَ سَنَةً.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follows ages 11–20 in this lesson?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سَنَوَاتٍ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naturally:</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كَمْ عُمْرُكِ؟ — ______ أَرْبَعَ عَشْرَةَ سَنَةً.</a:t>
            </a:r>
            <a:endParaRPr lang="ar-SA" sz="15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عُمْرُكَ</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8" name="Text 55"/>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11–20 → sanatan (one year).</a:t>
            </a:r>
            <a:endParaRPr lang="en-US" sz="1250" dirty="0"/>
          </a:p>
          <a:p>
            <a:pPr algn="l" indent="0" marL="0">
              <a:buNone/>
            </a:pPr>
            <a:r>
              <a:rPr lang="en-US" sz="1250" dirty="0">
                <a:solidFill>
                  <a:srgbClr val="1E6B52"/>
                </a:solidFill>
                <a:latin typeface="Calibri" pitchFamily="34" charset="0"/>
                <a:cs typeface="Amiri" pitchFamily="2" charset="-78"/>
              </a:rPr>
              <a:t>3–10 → sanawāt (years).</a:t>
            </a:r>
            <a:endParaRPr lang="en-US" sz="1250" dirty="0"/>
          </a:p>
          <a:p>
            <a:pPr algn="l" indent="0" marL="0">
              <a:buNone/>
            </a:pPr>
            <a:r>
              <a:rPr lang="en-US" sz="1250" dirty="0">
                <a:solidFill>
                  <a:srgbClr val="1E6B52"/>
                </a:solidFill>
                <a:latin typeface="Calibri" pitchFamily="34" charset="0"/>
                <a:cs typeface="Amiri" pitchFamily="2" charset="-78"/>
              </a:rPr>
              <a:t>Your answer starts with “my age”.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line for age 5.</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خَمْسَ عَشْرَةَ سَنَةً.</a:t>
            </a:r>
            <a:endParaRPr lang="ar-SA" sz="170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عُمْرِي خَمْسُ سَنَوَاتٍ.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خَمْسَ سَنَةً.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Ages 3–10 use the plural </a:t>
            </a:r>
            <a:pPr algn="l" indent="0" marL="0">
              <a:buNone/>
            </a:pPr>
            <a:r>
              <a:rPr lang="ar-SA" altLang="en-US" sz="1350" dirty="0">
                <a:solidFill>
                  <a:srgbClr val="8A6D1E"/>
                </a:solidFill>
                <a:latin typeface="Amiri" pitchFamily="2" charset="-78"/>
                <a:cs typeface="Amiri" pitchFamily="2" charset="-78"/>
              </a:rPr>
              <a:t>سَنَوَاتٍ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follows ages 11–20 in this lesson?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سَنَةً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سَنَوَاتٍ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singular </a:t>
            </a:r>
            <a:pPr algn="l" indent="0" marL="0">
              <a:buNone/>
            </a:pPr>
            <a:r>
              <a:rPr lang="ar-SA" altLang="en-US" sz="1350" dirty="0">
                <a:solidFill>
                  <a:srgbClr val="8A6D1E"/>
                </a:solidFill>
                <a:latin typeface="Amiri" pitchFamily="2" charset="-78"/>
                <a:cs typeface="Amiri" pitchFamily="2" charset="-78"/>
              </a:rPr>
              <a:t>سَنَةً</a:t>
            </a:r>
            <a:pPr algn="l" indent="0" marL="0">
              <a:buNone/>
            </a:pPr>
            <a:r>
              <a:rPr lang="en-US" sz="1050" i="1" dirty="0">
                <a:solidFill>
                  <a:srgbClr val="8A6D1E"/>
                </a:solidFill>
                <a:latin typeface="Calibri" pitchFamily="34" charset="0"/>
                <a:cs typeface="Amiri" pitchFamily="2" charset="-78"/>
              </a:rPr>
              <a:t> after ages 11–20.</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naturally:</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كَمْ عُمْرُكِ؟ — ______ أَرْبَعَ عَشْرَةَ سَنَةً.</a:t>
            </a:r>
            <a:endParaRPr lang="ar-SA" sz="15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عُمْرُكَ</a:t>
            </a:r>
            <a:endParaRPr lang="ar-SA" sz="170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a:t>
            </a:r>
            <a:endParaRPr lang="ar-SA" sz="1700" dirty="0"/>
          </a:p>
        </p:txBody>
      </p:sp>
      <p:sp>
        <p:nvSpPr>
          <p:cNvPr id="56" name="Shape 53"/>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574792"/>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عُمْرِي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answer begins </a:t>
            </a:r>
            <a:pPr algn="l" indent="0" marL="0">
              <a:buNone/>
            </a:pPr>
            <a:r>
              <a:rPr lang="ar-SA" altLang="en-US" sz="1350" dirty="0">
                <a:solidFill>
                  <a:srgbClr val="8A6D1E"/>
                </a:solidFill>
                <a:latin typeface="Amiri" pitchFamily="2" charset="-78"/>
                <a:cs typeface="Amiri" pitchFamily="2" charset="-78"/>
              </a:rPr>
              <a:t>عُمْرِي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4" name="Text 61"/>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11–20 → sanatan (one year).</a:t>
            </a:r>
            <a:endParaRPr lang="en-US" sz="1250" dirty="0"/>
          </a:p>
          <a:p>
            <a:pPr algn="l" indent="0" marL="0">
              <a:buNone/>
            </a:pPr>
            <a:r>
              <a:rPr lang="en-US" sz="1250" dirty="0">
                <a:solidFill>
                  <a:srgbClr val="1E6B52"/>
                </a:solidFill>
                <a:latin typeface="Calibri" pitchFamily="34" charset="0"/>
                <a:cs typeface="Amiri" pitchFamily="2" charset="-78"/>
              </a:rPr>
              <a:t>3–10 → sanawāt (years).</a:t>
            </a:r>
            <a:endParaRPr lang="en-US" sz="1250" dirty="0"/>
          </a:p>
          <a:p>
            <a:pPr algn="l" indent="0" marL="0">
              <a:buNone/>
            </a:pPr>
            <a:r>
              <a:rPr lang="en-US" sz="1250" dirty="0">
                <a:solidFill>
                  <a:srgbClr val="1E6B52"/>
                </a:solidFill>
                <a:latin typeface="Calibri" pitchFamily="34" charset="0"/>
                <a:cs typeface="Amiri" pitchFamily="2" charset="-78"/>
              </a:rPr>
              <a:t>Your answer starts with “my age”.</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عُمْرُكَ ثَلَاثَ عَشْرَةَ سَنَةً.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YOUR age?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زَيْنَب ← كَمْ عُمْرُكَ؟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listener?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عُمْرِي أَرْبَعَ عَشْرَةَ سَنَوَاتٍ.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age is 14. Which “year”?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عُمْرُكَ ثَلَاثَ عَشْرَةَ سَنَةً.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عُمْرِي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copy the question ending: your own answer is “my age”.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زَيْنَب ← كَمْ عُمْرُكَ؟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زَيْنَب ← كَمْ عُمْرُكِ؟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Zaynab is a girl: -ki.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عُمْرِي أَرْبَعَ عَشْرَةَ سَنَوَاتٍ.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عُمْرِي أَرْبَعَ عَشْرَةَ سَنَةً.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Ages 11–20 take the singular “year”.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Catch the listener and the 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1: Was the question addressed to a boy or a girl?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Girl</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1: How old is Khalid?</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١٣</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١٢</a:t>
            </a:r>
            <a:endParaRPr lang="ar-SA" sz="20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2: How old is Zaynab?</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١٢</a:t>
            </a:r>
            <a:endParaRPr lang="ar-SA" sz="20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١٤</a:t>
            </a:r>
            <a:endParaRPr lang="ar-SA" sz="20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١٣</a:t>
            </a:r>
            <a:endParaRPr lang="ar-SA" sz="20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3: Which name did you hear?</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يُوسُف</a:t>
            </a:r>
            <a:endParaRPr lang="ar-SA" sz="20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خَالِد</a:t>
            </a:r>
            <a:endParaRPr lang="ar-SA" sz="2050" dirty="0"/>
          </a:p>
        </p:txBody>
      </p:sp>
      <p:sp>
        <p:nvSpPr>
          <p:cNvPr id="61" name="Shape 58"/>
          <p:cNvSpPr/>
          <p:nvPr/>
        </p:nvSpPr>
        <p:spPr>
          <a:xfrm>
            <a:off x="640080" y="57881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3" name="Text 60"/>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آدَم</a:t>
            </a:r>
            <a:endParaRPr lang="ar-SA" sz="2050" dirty="0"/>
          </a:p>
        </p:txBody>
      </p:sp>
      <p:sp>
        <p:nvSpPr>
          <p:cNvPr id="64" name="Shape 61"/>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7" name="Text 64"/>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3: How old is Yusuf?</a:t>
            </a:r>
            <a:endParaRPr lang="en-US" sz="1250" dirty="0"/>
          </a:p>
        </p:txBody>
      </p:sp>
      <p:sp>
        <p:nvSpPr>
          <p:cNvPr id="68" name="Shape 65"/>
          <p:cNvSpPr/>
          <p:nvPr/>
        </p:nvSpPr>
        <p:spPr>
          <a:xfrm>
            <a:off x="4459224" y="48737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١٤</a:t>
            </a:r>
            <a:endParaRPr lang="ar-SA" sz="2050" dirty="0"/>
          </a:p>
        </p:txBody>
      </p:sp>
      <p:sp>
        <p:nvSpPr>
          <p:cNvPr id="71" name="Shape 68"/>
          <p:cNvSpPr/>
          <p:nvPr/>
        </p:nvSpPr>
        <p:spPr>
          <a:xfrm>
            <a:off x="4459224" y="53309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74" name="Shape 71"/>
          <p:cNvSpPr/>
          <p:nvPr/>
        </p:nvSpPr>
        <p:spPr>
          <a:xfrm>
            <a:off x="4459224" y="57881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٢٠</a:t>
            </a:r>
            <a:endParaRPr lang="ar-SA" sz="2050" dirty="0"/>
          </a:p>
        </p:txBody>
      </p:sp>
      <p:sp>
        <p:nvSpPr>
          <p:cNvPr id="77" name="Shape 7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0" name="Text 77"/>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boy or girl?</a:t>
            </a:r>
            <a:endParaRPr lang="en-US" sz="1250" dirty="0"/>
          </a:p>
          <a:p>
            <a:pPr algn="l" indent="0" marL="0">
              <a:buNone/>
            </a:pPr>
            <a:r>
              <a:rPr lang="en-US" sz="1250" dirty="0">
                <a:solidFill>
                  <a:srgbClr val="1E6B52"/>
                </a:solidFill>
                <a:latin typeface="Calibri" pitchFamily="34" charset="0"/>
                <a:cs typeface="Amiri" pitchFamily="2" charset="-78"/>
              </a:rPr>
              <a:t>Then: which number?</a:t>
            </a:r>
            <a:endParaRPr lang="en-US" sz="12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 مَا اسْمُكَ؟ — اِسْمِي خَالِد.</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What is your name? (to a boy) — My name is Khalid.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 عُمْرُكَ؟ — عُمْرِي اِثْنَتَا عَشْرَةَ سَنَةً.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old are you? — I am twelve years old.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 مَا اسْمُكِ؟ — اِسْمِي زَيْنَب.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What is your name? (to a girl) — My name is Zaynab.</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كَمْ عُمْرُكِ؟ — عُمْرِي ثَلَاثَ عَشْرَةَ سَنَةً.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old are you? — I am thirteen years old.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السَّلَامُ عَلَيْكُمْ. اِسْمِي يُوسُف. عُمْرِي خَمْسَ عَشْرَةَ سَنَةً. وَأَنْتَ؟</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My name is Yusuf. I am fifteen. And you?</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1: Was the question addressed to a boy or a girl?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Boy</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Girl</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uses </a:t>
            </a:r>
            <a:pPr algn="l" indent="0" marL="0">
              <a:buNone/>
            </a:pPr>
            <a:r>
              <a:rPr lang="ar-SA" altLang="en-US" sz="1350" dirty="0">
                <a:solidFill>
                  <a:srgbClr val="8A6D1E"/>
                </a:solidFill>
                <a:latin typeface="Amiri" pitchFamily="2" charset="-78"/>
                <a:cs typeface="Amiri" pitchFamily="2" charset="-78"/>
              </a:rPr>
              <a:t>مَا اسْمُكَ؟</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كَمْ عُمْرُكَ؟</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1: How old is Khalid?</a:t>
            </a:r>
            <a:endParaRPr lang="en-US" sz="1250" dirty="0"/>
          </a:p>
        </p:txBody>
      </p:sp>
      <p:sp>
        <p:nvSpPr>
          <p:cNvPr id="31" name="Shape 28"/>
          <p:cNvSpPr/>
          <p:nvPr/>
        </p:nvSpPr>
        <p:spPr>
          <a:xfrm>
            <a:off x="4459224" y="2490216"/>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١٣</a:t>
            </a:r>
            <a:endParaRPr lang="ar-SA" sz="1700" dirty="0"/>
          </a:p>
        </p:txBody>
      </p:sp>
      <p:sp>
        <p:nvSpPr>
          <p:cNvPr id="34" name="Shape 31"/>
          <p:cNvSpPr/>
          <p:nvPr/>
        </p:nvSpPr>
        <p:spPr>
          <a:xfrm>
            <a:off x="4459224" y="2862072"/>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6" name="Text 33"/>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١٥</a:t>
            </a:r>
            <a:endParaRPr lang="ar-SA" sz="1700" dirty="0"/>
          </a:p>
        </p:txBody>
      </p:sp>
      <p:sp>
        <p:nvSpPr>
          <p:cNvPr id="37" name="Shape 34"/>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323392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١٢</a:t>
            </a:r>
            <a:endParaRPr lang="ar-SA" sz="170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Khalid says </a:t>
            </a:r>
            <a:pPr algn="l" indent="0" marL="0">
              <a:buNone/>
            </a:pPr>
            <a:r>
              <a:rPr lang="ar-SA" altLang="en-US" sz="1350" dirty="0">
                <a:solidFill>
                  <a:srgbClr val="8A6D1E"/>
                </a:solidFill>
                <a:latin typeface="Amiri" pitchFamily="2" charset="-78"/>
                <a:cs typeface="Amiri" pitchFamily="2" charset="-78"/>
              </a:rPr>
              <a:t>اِثْنَتَا عَشْرَةَ</a:t>
            </a:r>
            <a:pPr algn="l" indent="0" marL="0">
              <a:buNone/>
            </a:pPr>
            <a:r>
              <a:rPr lang="en-US" sz="1050" i="1" dirty="0">
                <a:solidFill>
                  <a:srgbClr val="8A6D1E"/>
                </a:solidFill>
                <a:latin typeface="Calibri" pitchFamily="34" charset="0"/>
                <a:cs typeface="Amiri" pitchFamily="2" charset="-78"/>
              </a:rPr>
              <a:t> — twelve.</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2: How old is Zaynab?</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١٢</a:t>
            </a:r>
            <a:endParaRPr lang="ar-SA" sz="170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١٤</a:t>
            </a:r>
            <a:endParaRPr lang="ar-SA" sz="170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١٣</a:t>
            </a:r>
            <a:endParaRPr lang="ar-SA" sz="170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Zaynab says </a:t>
            </a:r>
            <a:pPr algn="l" indent="0" marL="0">
              <a:buNone/>
            </a:pPr>
            <a:r>
              <a:rPr lang="ar-SA" altLang="en-US" sz="1350" dirty="0">
                <a:solidFill>
                  <a:srgbClr val="8A6D1E"/>
                </a:solidFill>
                <a:latin typeface="Amiri" pitchFamily="2" charset="-78"/>
                <a:cs typeface="Amiri" pitchFamily="2" charset="-78"/>
              </a:rPr>
              <a:t>ثَلَاثَ عَشْرَةَ</a:t>
            </a:r>
            <a:pPr algn="l" indent="0" marL="0">
              <a:buNone/>
            </a:pPr>
            <a:r>
              <a:rPr lang="en-US" sz="1050" i="1" dirty="0">
                <a:solidFill>
                  <a:srgbClr val="8A6D1E"/>
                </a:solidFill>
                <a:latin typeface="Calibri" pitchFamily="34" charset="0"/>
                <a:cs typeface="Amiri" pitchFamily="2" charset="-78"/>
              </a:rPr>
              <a:t> — thirteen.</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3: Which name did you hear?</a:t>
            </a:r>
            <a:endParaRPr lang="en-US" sz="1250" dirty="0"/>
          </a:p>
        </p:txBody>
      </p:sp>
      <p:sp>
        <p:nvSpPr>
          <p:cNvPr id="61" name="Shape 58"/>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4831080"/>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يُوسُف</a:t>
            </a:r>
            <a:endParaRPr lang="ar-SA" sz="1700" dirty="0"/>
          </a:p>
        </p:txBody>
      </p:sp>
      <p:sp>
        <p:nvSpPr>
          <p:cNvPr id="65" name="Shape 62"/>
          <p:cNvSpPr/>
          <p:nvPr/>
        </p:nvSpPr>
        <p:spPr>
          <a:xfrm>
            <a:off x="640080" y="5202936"/>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خَالِد</a:t>
            </a:r>
            <a:endParaRPr lang="ar-SA" sz="1700" dirty="0"/>
          </a:p>
        </p:txBody>
      </p:sp>
      <p:sp>
        <p:nvSpPr>
          <p:cNvPr id="68" name="Shape 65"/>
          <p:cNvSpPr/>
          <p:nvPr/>
        </p:nvSpPr>
        <p:spPr>
          <a:xfrm>
            <a:off x="640080" y="557479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آدَم</a:t>
            </a:r>
            <a:endParaRPr lang="ar-SA" sz="1700" dirty="0"/>
          </a:p>
        </p:txBody>
      </p:sp>
      <p:sp>
        <p:nvSpPr>
          <p:cNvPr id="71" name="Text 6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cs typeface="Amiri" pitchFamily="2" charset="-78"/>
              </a:rPr>
              <a:t>اِسْمِي يُوسُف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Exchange 3: How old is Yusuf?</a:t>
            </a:r>
            <a:endParaRPr lang="en-US" sz="1250" dirty="0"/>
          </a:p>
        </p:txBody>
      </p:sp>
      <p:sp>
        <p:nvSpPr>
          <p:cNvPr id="76" name="Shape 73"/>
          <p:cNvSpPr/>
          <p:nvPr/>
        </p:nvSpPr>
        <p:spPr>
          <a:xfrm>
            <a:off x="4459224" y="4831080"/>
            <a:ext cx="256032" cy="256032"/>
          </a:xfrm>
          <a:prstGeom prst="ellipse">
            <a:avLst/>
          </a:prstGeom>
          <a:solidFill>
            <a:srgbClr val="C9CED6"/>
          </a:solidFill>
          <a:ln w="12700">
            <a:solidFill>
              <a:srgbClr val="C9CED6"/>
            </a:solidFill>
            <a:prstDash val="solid"/>
          </a:ln>
        </p:spPr>
      </p:sp>
      <p:sp>
        <p:nvSpPr>
          <p:cNvPr id="77" name="Text 74"/>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١٤</a:t>
            </a:r>
            <a:endParaRPr lang="ar-SA" sz="1700" dirty="0"/>
          </a:p>
        </p:txBody>
      </p:sp>
      <p:sp>
        <p:nvSpPr>
          <p:cNvPr id="79" name="Shape 76"/>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5202936"/>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2" name="Text 79"/>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١٥</a:t>
            </a:r>
            <a:endParaRPr lang="ar-SA" sz="1700" dirty="0"/>
          </a:p>
        </p:txBody>
      </p:sp>
      <p:sp>
        <p:nvSpPr>
          <p:cNvPr id="83" name="Shape 80"/>
          <p:cNvSpPr/>
          <p:nvPr/>
        </p:nvSpPr>
        <p:spPr>
          <a:xfrm>
            <a:off x="4459224" y="557479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5" name="Text 82"/>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٢٠</a:t>
            </a:r>
            <a:endParaRPr lang="ar-SA" sz="170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خَمْسَ عَشْرَةَ</a:t>
            </a:r>
            <a:pPr algn="l" indent="0" marL="0">
              <a:buNone/>
            </a:pPr>
            <a:r>
              <a:rPr lang="en-US" sz="1050" i="1" dirty="0">
                <a:solidFill>
                  <a:srgbClr val="8A6D1E"/>
                </a:solidFill>
                <a:latin typeface="Calibri" pitchFamily="34" charset="0"/>
                <a:cs typeface="Amiri" pitchFamily="2" charset="-78"/>
              </a:rPr>
              <a:t> — fifteen.</a:t>
            </a:r>
            <a:endParaRPr lang="en-US" sz="1050" dirty="0"/>
          </a:p>
        </p:txBody>
      </p:sp>
      <p:sp>
        <p:nvSpPr>
          <p:cNvPr id="87" name="Shape 8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0" name="Text 87"/>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boy or girl?</a:t>
            </a:r>
            <a:endParaRPr lang="en-US" sz="1250" dirty="0"/>
          </a:p>
          <a:p>
            <a:pPr algn="l" indent="0" marL="0">
              <a:buNone/>
            </a:pPr>
            <a:r>
              <a:rPr lang="en-US" sz="1250" dirty="0">
                <a:solidFill>
                  <a:srgbClr val="1E6B52"/>
                </a:solidFill>
                <a:latin typeface="Calibri" pitchFamily="34" charset="0"/>
                <a:cs typeface="Amiri" pitchFamily="2" charset="-78"/>
              </a:rPr>
              <a:t>Then: which number?</a:t>
            </a:r>
            <a:endParaRPr lang="en-US" sz="12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SCAN, MATCH, PROVE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Adam and Maryam: names and ages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حِوَارًا قَصِيرًا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آدَم: السَّلَامُ عَلَيْكُمْ. مَا اسْمُكِ؟</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What is your name?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مَرْيَم: وَعَلَيْكُمُ السَّلَامُ. اِسْمِي مَرْيَم. وَأَنْتَ؟</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upon you peace. My name is Maryam. And you?</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آدَم: اِسْمِي آدَم. كَمْ عُمْرُكِ؟</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Adam. How old are you?</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مَرْيَم: عُمْرِي أَرْبَعَ عَشْرَةَ سَنَةً. وَأَنْتَ؟</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fourteen years old. And you?</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آدَم: عُمْرِي خَمْسَ عَشْرَةَ سَنَةً.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fifteen years old.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Prove it from the dialogue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آدَم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a:t>
            </a:r>
            <a:endParaRPr lang="ar-SA" sz="20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asked with the feminine ending -ki?</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آدَم</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a:t>
            </a:r>
            <a:endParaRPr lang="ar-SA" sz="20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Maryam?</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١٤</a:t>
            </a:r>
            <a:endParaRPr lang="ar-SA" sz="20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١٣</a:t>
            </a:r>
            <a:endParaRPr lang="ar-SA" sz="2050" dirty="0"/>
          </a:p>
        </p:txBody>
      </p:sp>
      <p:sp>
        <p:nvSpPr>
          <p:cNvPr id="45" name="Shape 42"/>
          <p:cNvSpPr/>
          <p:nvPr/>
        </p:nvSpPr>
        <p:spPr>
          <a:xfrm>
            <a:off x="8278368" y="34472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Adam?</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١٤</a:t>
            </a:r>
            <a:endParaRPr lang="ar-SA" sz="20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١٦</a:t>
            </a:r>
            <a:endParaRPr lang="ar-SA" sz="20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older?</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آدَم</a:t>
            </a:r>
            <a:endParaRPr lang="ar-SA" sz="220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مَرْيَم</a:t>
            </a:r>
            <a:endParaRPr lang="ar-SA" sz="220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the same age</a:t>
            </a:r>
            <a:endParaRPr lang="en-US" sz="1250" dirty="0"/>
          </a:p>
        </p:txBody>
      </p:sp>
      <p:sp>
        <p:nvSpPr>
          <p:cNvPr id="74" name="Shape 7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76" name="Text 7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Answer, then point to the exact Arabic that proves it.</a:t>
            </a:r>
            <a:endParaRPr lang="en-US" sz="1250" dirty="0"/>
          </a:p>
          <a:p>
            <a:pPr algn="l" indent="0" marL="0">
              <a:buNone/>
            </a:pPr>
            <a:r>
              <a:rPr lang="en-US" sz="1250" dirty="0">
                <a:solidFill>
                  <a:srgbClr val="1F2A37"/>
                </a:solidFill>
                <a:latin typeface="Calibri" pitchFamily="34" charset="0"/>
                <a:cs typeface="Amiri" pitchFamily="2" charset="-78"/>
              </a:rPr>
              <a:t>Q5: compare the two ages.</a:t>
            </a:r>
            <a:endParaRPr lang="en-US" sz="12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first?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آدَم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مَرْيَم</a:t>
            </a:r>
            <a:endParaRPr lang="ar-SA" sz="20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Adam opens with the greeting and first question.</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asked with the feminine ending -ki?</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آدَم</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مَرْيَم</a:t>
            </a:r>
            <a:endParaRPr lang="ar-SA" sz="20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Adam asks Maryam </a:t>
            </a:r>
            <a:pPr algn="l" indent="0" marL="0">
              <a:buNone/>
            </a:pPr>
            <a:r>
              <a:rPr lang="ar-SA" altLang="en-US" sz="1350" dirty="0">
                <a:solidFill>
                  <a:srgbClr val="8A6D1E"/>
                </a:solidFill>
                <a:latin typeface="Amiri" pitchFamily="2" charset="-78"/>
                <a:cs typeface="Amiri" pitchFamily="2" charset="-78"/>
              </a:rPr>
              <a:t>مَا اسْمُكِ؟</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كَمْ عُمْرُكِ؟</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Maryam?</a:t>
            </a:r>
            <a:endParaRPr lang="en-US" sz="1250" dirty="0"/>
          </a:p>
        </p:txBody>
      </p:sp>
      <p:sp>
        <p:nvSpPr>
          <p:cNvPr id="43" name="Shape 40"/>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8278368" y="2490216"/>
            <a:ext cx="256032" cy="256032"/>
          </a:xfrm>
          <a:prstGeom prst="ellipse">
            <a:avLst/>
          </a:prstGeom>
          <a:solidFill>
            <a:srgbClr val="2E8B57"/>
          </a:solidFill>
          <a:ln w="12700">
            <a:solidFill>
              <a:srgbClr val="2E8B57"/>
            </a:solidFill>
            <a:prstDash val="solid"/>
          </a:ln>
        </p:spPr>
      </p:sp>
      <p:sp>
        <p:nvSpPr>
          <p:cNvPr id="45" name="Text 4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6" name="Text 43"/>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١٤</a:t>
            </a:r>
            <a:endParaRPr lang="ar-SA" sz="1700" dirty="0"/>
          </a:p>
        </p:txBody>
      </p:sp>
      <p:sp>
        <p:nvSpPr>
          <p:cNvPr id="47" name="Shape 44"/>
          <p:cNvSpPr/>
          <p:nvPr/>
        </p:nvSpPr>
        <p:spPr>
          <a:xfrm>
            <a:off x="8278368" y="2862072"/>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9" name="Text 46"/>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١٣</a:t>
            </a:r>
            <a:endParaRPr lang="ar-SA" sz="1700" dirty="0"/>
          </a:p>
        </p:txBody>
      </p:sp>
      <p:sp>
        <p:nvSpPr>
          <p:cNvPr id="50" name="Shape 47"/>
          <p:cNvSpPr/>
          <p:nvPr/>
        </p:nvSpPr>
        <p:spPr>
          <a:xfrm>
            <a:off x="8278368" y="323392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2" name="Text 4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١٥</a:t>
            </a:r>
            <a:endParaRPr lang="ar-SA" sz="170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أَرْبَعَ عَشْرَةَ</a:t>
            </a:r>
            <a:pPr algn="l" indent="0" marL="0">
              <a:buNone/>
            </a:pPr>
            <a:r>
              <a:rPr lang="en-US" sz="1050" i="1" dirty="0">
                <a:solidFill>
                  <a:srgbClr val="8A6D1E"/>
                </a:solidFill>
                <a:latin typeface="Calibri" pitchFamily="34" charset="0"/>
                <a:cs typeface="Amiri" pitchFamily="2" charset="-78"/>
              </a:rPr>
              <a:t> — fourteen.</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Adam?</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١٤</a:t>
            </a:r>
            <a:endParaRPr lang="ar-SA" sz="1700" dirty="0"/>
          </a:p>
        </p:txBody>
      </p:sp>
      <p:sp>
        <p:nvSpPr>
          <p:cNvPr id="61" name="Shape 5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202936"/>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١٥</a:t>
            </a:r>
            <a:endParaRPr lang="ar-SA" sz="170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١٦</a:t>
            </a:r>
            <a:endParaRPr lang="ar-SA" sz="170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خَمْسَ عَشْرَةَ</a:t>
            </a:r>
            <a:pPr algn="l" indent="0" marL="0">
              <a:buNone/>
            </a:pPr>
            <a:r>
              <a:rPr lang="en-US" sz="1050" i="1" dirty="0">
                <a:solidFill>
                  <a:srgbClr val="8A6D1E"/>
                </a:solidFill>
                <a:latin typeface="Calibri" pitchFamily="34" charset="0"/>
                <a:cs typeface="Amiri" pitchFamily="2" charset="-78"/>
              </a:rPr>
              <a:t> — fifteen.</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older?</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cs typeface="Amiri" pitchFamily="2" charset="-78"/>
              </a:rPr>
              <a:t>آدَم</a:t>
            </a:r>
            <a:endParaRPr lang="ar-SA" sz="220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مَرْيَم</a:t>
            </a:r>
            <a:endParaRPr lang="ar-SA" sz="220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the same age</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Adam is 15 and Maryam is 14.</a:t>
            </a:r>
            <a:endParaRPr lang="en-US" sz="1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6" name="Text 8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Answer, then point to the exact Arabic that proves it.</a:t>
            </a:r>
            <a:endParaRPr lang="en-US" sz="1250" dirty="0"/>
          </a:p>
          <a:p>
            <a:pPr algn="l" indent="0" marL="0">
              <a:buNone/>
            </a:pPr>
            <a:r>
              <a:rPr lang="en-US" sz="1250" dirty="0">
                <a:solidFill>
                  <a:srgbClr val="1F2A37"/>
                </a:solidFill>
                <a:latin typeface="Calibri" pitchFamily="34" charset="0"/>
                <a:cs typeface="Amiri" pitchFamily="2" charset="-78"/>
              </a:rPr>
              <a:t>Q5: compare the two ages.</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Exchange names and ages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عُمْرُكَ؟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اسْمُكِ؟ كَمْ عُمْرُكِ؟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اسْمُكَ؟ كَمْ عُمْرُكَ؟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عُمْرُ أَخِيكَ أَوْ أُخْتِكَ؟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عُمْرِي ___ سَنَةً.</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اِسْمِي ___ . عُمْرِي ___ سَنَةً. وَأَنْتَ؟</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عُمْرُ أَخِي ___ سَنَوَاتٍ.</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عُمْرُهُ / عُمْرُهَا ___ سَنَةً.</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مَرْحَبًا. مَا اسْمُكِ؟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Hello. What is your name? (to a girl)</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اِسْمِي زَيْنَب. وَأَنْتَ؟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name is Zaynab. And you?</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150" b="1" dirty="0">
                <a:solidFill>
                  <a:srgbClr val="2E8B57"/>
                </a:solidFill>
                <a:latin typeface="Cambria" pitchFamily="34" charset="0"/>
                <a:cs typeface="Amiri" pitchFamily="2" charset="-78"/>
              </a:rPr>
              <a:t>age line + 2 questions</a:t>
            </a:r>
            <a:endParaRPr lang="en-US" sz="215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your own age line and the two age questions (to a boy, to a girl).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My age line (whole chunk), then the question to a boy and to a girl.</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four-line name-and-age exchange.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Name → name back → age → age back, with the right endings.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4 lines + 1</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younger person (a brother or sister, age 3–10) with </a:t>
            </a:r>
            <a:pPr algn="l" indent="0" marL="0">
              <a:buNone/>
            </a:pPr>
            <a:r>
              <a:rPr lang="ar-SA" altLang="en-US" sz="1800" b="1" dirty="0">
                <a:solidFill>
                  <a:srgbClr val="1F2A37"/>
                </a:solidFill>
                <a:latin typeface="Amiri" pitchFamily="2" charset="-78"/>
                <a:cs typeface="Amiri" pitchFamily="2" charset="-78"/>
              </a:rPr>
              <a:t>سَنَوَاتٍ</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younger brother or sister (3–10) with the plural “years”.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اسْمُـ 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is your name?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اِسْمِي ______ .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And you?</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اِسْمِي ______ . كَمْ عُمْرُ 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How old are you?</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عُمْرِي ______ سَنَةً.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years old.</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عُمْرُ أُخْتِي ______ سَنَوَاتٍ.</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is … years old. (3–10)</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عُمْرِي ______ سَنَةً.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years old.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old are you? (to a boy)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old are you? (to a girl)</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(to a boy)</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عُمْرِي  ·  عُمْرُكَ  ·  عُمْرُكِ  ·  سَنَةً  ·  سَنَوَاتٍ  ·  اِثْنَتَا عَشْرَةَ  ·  ثَلَاثَ عَشْرَةَ  ·  أَرْبَعَ عَشْرَةَ  ·  خَمْسَ عَشْرَةَ  ·  أَنْتَ  ·  أَنْتِ</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مَرْحَبًا.</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مَا اسْمُكِ؟</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اِسْمِي مَرْيَم. كَمْ عُمْرُكَ؟</a:t>
            </a:r>
            <a:endParaRPr lang="ar-SA" sz="2600" dirty="0"/>
          </a:p>
          <a:p>
            <a:pPr rtl="1" algn="r" indent="0" marL="0">
              <a:lnSpc>
                <a:spcPct val="120000"/>
              </a:lnSpc>
              <a:buNone/>
            </a:pPr>
            <a:r>
              <a:rPr lang="ar-SA" altLang="en-US" sz="2600" dirty="0">
                <a:solidFill>
                  <a:srgbClr val="1F2A37"/>
                </a:solidFill>
                <a:latin typeface="Amiri" pitchFamily="2" charset="-78"/>
                <a:cs typeface="Amiri" pitchFamily="2" charset="-78"/>
              </a:rPr>
              <a:t>عُمْرِي خَمْسَ عَشْرَةَ سَنَةً.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 What is your name? (to a girl) — My name is Maryam. How old are you? (to a boy) — I am fifteen years old.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-ka age question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عُمْرِي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sanatan after 15</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عُمْرِي</a:t>
            </a:r>
            <a:pPr algn="l" indent="0" marL="0">
              <a:buNone/>
            </a:pPr>
            <a:r>
              <a:rPr lang="en-US" sz="1300" dirty="0">
                <a:solidFill>
                  <a:srgbClr val="1F2A37"/>
                </a:solidFill>
                <a:latin typeface="Calibri" pitchFamily="34" charset="0"/>
                <a:cs typeface="Amiri" pitchFamily="2" charset="-78"/>
              </a:rPr>
              <a:t> before the number.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question matches the listener: -ka or -ki.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sanatan after an age from 11–20.</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question ends with the Arabic question mark </a:t>
            </a:r>
            <a:pPr algn="l" indent="0" marL="0">
              <a:buNone/>
            </a:pPr>
            <a:r>
              <a:rPr lang="ar-SA" altLang="en-US" sz="1700" dirty="0">
                <a:solidFill>
                  <a:srgbClr val="1F2A37"/>
                </a:solidFill>
                <a:latin typeface="Amiri" pitchFamily="2" charset="-78"/>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plural “years” for an age from 3–10.</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her 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اسْمُكِ؟</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age’?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عُمْرُكِ</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2" charset="-78"/>
                <a:cs typeface="Amiri" pitchFamily="2" charset="-78"/>
              </a:rPr>
              <a:t>عُمْرِي خَمْسَ عَشْرَةَ سَنَةً</a:t>
            </a:r>
            <a:pPr algn="l" indent="0" marL="0">
              <a:buNone/>
            </a:pPr>
            <a:r>
              <a:rPr lang="en-US" sz="1100" b="1" dirty="0">
                <a:solidFill>
                  <a:srgbClr val="1B3B6F"/>
                </a:solidFill>
                <a:latin typeface="Calibri" pitchFamily="34" charset="0"/>
                <a:cs typeface="Amiri" pitchFamily="2" charset="-78"/>
              </a:rPr>
              <a:t>. What is the age?</a:t>
            </a:r>
            <a:endParaRPr lang="en-US" sz="11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١٤</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١٦</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her age.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كَمْ عُمْرُكِ؟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كَمْ عُمْرُكَ؟</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مَا اسْمُكِ؟</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 addresses one girl.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age’?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عُمْرُكَ</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عُمْرِي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عُمْرُكِ</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-ī means ‘my’.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2" charset="-78"/>
                <a:cs typeface="Amiri" pitchFamily="2" charset="-78"/>
              </a:rPr>
              <a:t>عُمْرِي خَمْسَ عَشْرَةَ سَنَةً</a:t>
            </a:r>
            <a:pPr algn="l" indent="0" marL="0">
              <a:buNone/>
            </a:pPr>
            <a:r>
              <a:rPr lang="en-US" sz="1100" b="1" dirty="0">
                <a:solidFill>
                  <a:srgbClr val="1B3B6F"/>
                </a:solidFill>
                <a:latin typeface="Calibri" pitchFamily="34" charset="0"/>
                <a:cs typeface="Amiri" pitchFamily="2" charset="-78"/>
              </a:rPr>
              <a:t>. What is the age?</a:t>
            </a:r>
            <a:endParaRPr lang="en-US" sz="110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١٥</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١٤</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١٦</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خَمْسَ عَشْرَةَ</a:t>
            </a:r>
            <a:pPr algn="l" indent="0" marL="0">
              <a:buNone/>
            </a:pPr>
            <a:r>
              <a:rPr lang="en-US" sz="1050" i="1" dirty="0">
                <a:solidFill>
                  <a:srgbClr val="8A6D1E"/>
                </a:solidFill>
                <a:latin typeface="Calibri" pitchFamily="34" charset="0"/>
                <a:cs typeface="Amiri" pitchFamily="2" charset="-78"/>
              </a:rPr>
              <a:t> means fifteen.</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F2-L03 · Age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F2-L04 · Nationality and Language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جِنْسِيَّةٌ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nationality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لُغَةٌ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language</a:t>
            </a:r>
            <a:pPr indent="0" marL="0">
              <a:buNone/>
            </a:pPr>
            <a:r>
              <a:rPr lang="en-US" sz="1000" i="1" dirty="0">
                <a:solidFill>
                  <a:srgbClr val="5A6472"/>
                </a:solidFill>
                <a:latin typeface="Calibri" pitchFamily="34" charset="0"/>
                <a:cs typeface="Amiri" pitchFamily="2" charset="-78"/>
              </a:rPr>
              <a:t>  pl. لُغَاتٌ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مِصْرِيٌّ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am Egyptian. (m.)</a:t>
            </a:r>
            <a:pPr indent="0" marL="0">
              <a:buNone/>
            </a:pPr>
            <a:r>
              <a:rPr lang="en-US" sz="1000" i="1" dirty="0">
                <a:solidFill>
                  <a:srgbClr val="5A6472"/>
                </a:solidFill>
                <a:latin typeface="Calibri" pitchFamily="34" charset="0"/>
                <a:cs typeface="Amiri" pitchFamily="2" charset="-78"/>
              </a:rPr>
              <a:t>  f. مِصْرِيَّةٌ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بَرِيطَانِيٌّ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British (m.)</a:t>
            </a:r>
            <a:pPr indent="0" marL="0">
              <a:buNone/>
            </a:pPr>
            <a:r>
              <a:rPr lang="en-US" sz="1000" i="1" dirty="0">
                <a:solidFill>
                  <a:srgbClr val="5A6472"/>
                </a:solidFill>
                <a:latin typeface="Calibri" pitchFamily="34" charset="0"/>
                <a:cs typeface="Amiri" pitchFamily="2" charset="-78"/>
              </a:rPr>
              <a:t>  f. بَرِيطَانِيَّةٌ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أَتَكَلَّمُ العَرَبِيَّةَ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speak Arabic.</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languages do you speak at home? Write their names in English — we will learn them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أَتَكَلَّمُ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F2-L03: the Age-Card Mission and the picture game “How Old Are You?”.</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age line and a four-line name-and-age exchange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younger family member with </a:t>
            </a:r>
            <a:pPr algn="l" indent="0" marL="0">
              <a:buNone/>
            </a:pPr>
            <a:r>
              <a:rPr lang="ar-SA" altLang="en-US" sz="1550" dirty="0">
                <a:solidFill>
                  <a:srgbClr val="1F2A37"/>
                </a:solidFill>
                <a:latin typeface="Amiri" pitchFamily="2" charset="-78"/>
                <a:cs typeface="Amiri" pitchFamily="2" charset="-78"/>
              </a:rPr>
              <a:t>سَنَوَاتٍ</a:t>
            </a:r>
            <a:pPr algn="l" indent="0" marL="0">
              <a:buNone/>
            </a:pPr>
            <a:r>
              <a:rPr lang="en-US" sz="1200" dirty="0">
                <a:solidFill>
                  <a:srgbClr val="1F2A37"/>
                </a:solidFill>
                <a:latin typeface="Calibri" pitchFamily="34" charset="0"/>
                <a:cs typeface="Amiri" pitchFamily="2" charset="-78"/>
              </a:rPr>
              <a:t>, then the ten-question checkpoint (aim for 8/10).</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F2-L04 · Nationality and Language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الجِنْسِيَّةُ وَاللُّغَةُ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5 identity words + your home languages.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F2-L03 · How Old Are You?</dc:title>
  <dc:subject>PptxGenJS Presentation</dc:subject>
  <dc:creator>Al Madina Online School · Arabic Department</dc:creator>
  <cp:lastModifiedBy>Al Madina Online School · Arabic Department</cp:lastModifiedBy>
  <cp:revision>1</cp:revision>
  <dcterms:created xsi:type="dcterms:W3CDTF">2026-10-11T06:41:22Z</dcterms:created>
  <dcterms:modified xsi:type="dcterms:W3CDTF">2026-10-11T06:41:22Z</dcterms:modified>
</cp:coreProperties>
</file>