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Lst>
  <p:notesMasterIdLst>
    <p:notesMasterId r:id="rId24"/>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notesMaster" Target="notesMasters/notes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PRACTICE ROOM AT A GLANCE — one combined lesson (speaking, then writing), 55–60 minutes: about 6 minutes in the main room, about 45 minutes in breakout rooms of two or three, about 6 minutes back together.
0–2 Welcome · 2–5 How the room works · ROOMS, Part A Speaking: Step 1 Word warm-up (5) · Step 2 Say the model dialogue (5) · Step 3 Question cards (7) · Step 4 Role-play card (7) · Step 5 Short talk (4) · Part B Writing: Step 6 Sentence builder (4) · Step 7 Spot and fix (3) · Step 8 Write your text (12) + buddy check (3) · back in the main room: Check yourself (4) · Self-check + close (2).
PURPOSE: students practise the lesson’s language ON THEIR OWN with a clear structure. The teacher visits each room (about 3 minutes per room), listens, reads one piece of writing per student and gives one live correction.
CONTENT: F2-L08 (Reading and Writing Personal Profiles) — new practice tasks built on the lesson’s own word bank and grammar (from “I” to “he / she”: ismuhu / ismuhā; ya- (he) and ta- (she) verbs: yaskunu / taskunu, yatakallamu / tatakallamu; hiwāyatuhu).
SET-UP: rooms of two or three (same-level rooms keep the routes simple). Share this deck or its PDF in the chat so every room can follow the steps. Each student writes in their own book or document.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MAP (1 min) — Part A is speaking, Part B is writing. The step number is always in the top-left of each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HOW THE ROOM WORKS (3 min, main room). Model the roles quickly with two volunteers using one question from Step 3. Stress: the Coach is kind and specific. Then open the breakout rooms.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(5 min in rooms). The two word slides that follow come from the F2-L08 lesson. Teacher: visit the first room straight away to model the 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 — the Leader picks the English, the Speaker gives the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1 reference.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2 (5 min). The dialogue models today’s language in a real exchange.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3 (7 min). The starter column is support, not the answer: students finish it with their OWN information. Coach listens for the key structure of the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STEP 4 (7 min). SUPPORTED: the plan column models the thinking (first words), not the full answer. Everyone is Speaker once. To a girl the Leader says: if the new student is a girl: اسْمُهَا · عُمْرُهَا · هِيَ · تَسْكُنُ · تُحِبُّ · هِوَايَتُهَا. Language: -hu / -hā endings · ya- for he, ta- for she.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5 (4 min). A short talk builds fluency and confidence.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6 (4 min). Read the English, then choose the correct part from each column (start on the RIGHT, column 1). Buddies agree before checking the answer slide. Students copy the three correct sentences into their book — they are useful for Step 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7 (3 min). Pairs agree on each correction before the answer slide. These are the mistakes to look for in the buddy check.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support. Core: use the Core frames for every sentence. Develop: use the Develop frames only if stuck. Stretch: no frames — add a reason, a time phrase and one extra detail.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STEP 8 (10 min writing). Core: frames for every bullet (25–35 words). Develop: 40–60 words, frames only if stuck. Stretch: no frames, add reasons and another time frame. Teacher visits rooms and reads ONE sentence per student.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BUDDY CHECK (3 min). Then everyone returns to the main room.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YOURSELF (2 min, main room). Each student finds one task they answered less fully and says it again using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MODEL ANSWER (41 words). CHECK YOURSELF (2 min). Find each bullet point in the model. Then each student copies ONE phrase from the model into their own text.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YEAR 7  ·  FOUNDATION F2  ·  F2-L08 · PRACTICE ROOM</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F2-L08</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2650" b="1" dirty="0">
                <a:solidFill>
                  <a:srgbClr val="FFFFFF"/>
                </a:solidFill>
                <a:latin typeface="Cambria" pitchFamily="34" charset="0"/>
                <a:cs typeface="Amiri" pitchFamily="2" charset="-78"/>
              </a:rPr>
              <a:t>Practice Room — Reading and Writing Personal Profiles</a:t>
            </a:r>
            <a:endParaRPr lang="en-US" sz="2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غُرْفَةُ التَّدَرُّبِ — البِطَاقَاتُ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200" dirty="0">
                <a:solidFill>
                  <a:srgbClr val="C6D2E6"/>
                </a:solidFill>
                <a:latin typeface="Calibri" pitchFamily="34" charset="0"/>
                <a:cs typeface="Amiri" pitchFamily="2" charset="-78"/>
              </a:rPr>
              <a:t>Students run their own speaking and writing practice with personal profiles: say the profile words, act a short dialogue about a classmate, answer question cards in the third person, do a role-play card reporting on a new student, give a 30-second talk about a friend, then build, fix and write a profile of someone else.</a:t>
            </a:r>
            <a:endParaRPr lang="en-US" sz="12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F2-L08 · Foundation F2 · Greetings &amp; Introductions</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Foundation · A1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Pathways › Foundation › F2 › F2-L08</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22</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ROOM PLAN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Speak first, then write — you run it yourselves</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خُطُوَاتُ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933042" cy="566928"/>
          </a:xfrm>
          <a:prstGeom prst="roundRect">
            <a:avLst>
              <a:gd name="adj" fmla="val 9677"/>
            </a:avLst>
          </a:prstGeom>
          <a:solidFill>
            <a:srgbClr val="2F6FB0"/>
          </a:solidFill>
          <a:ln w="12700">
            <a:solidFill>
              <a:srgbClr val="2F6FB0"/>
            </a:solidFill>
            <a:prstDash val="solid"/>
          </a:ln>
        </p:spPr>
      </p:sp>
      <p:sp>
        <p:nvSpPr>
          <p:cNvPr id="17" name="Text 14"/>
          <p:cNvSpPr txBox="1"/>
          <p:nvPr/>
        </p:nvSpPr>
        <p:spPr>
          <a:xfrm>
            <a:off x="603504"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18" name="Text 15"/>
          <p:cNvSpPr txBox="1"/>
          <p:nvPr/>
        </p:nvSpPr>
        <p:spPr>
          <a:xfrm>
            <a:off x="603504"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10 min</a:t>
            </a:r>
            <a:endParaRPr lang="en-US" sz="1000" dirty="0"/>
          </a:p>
        </p:txBody>
      </p:sp>
      <p:sp>
        <p:nvSpPr>
          <p:cNvPr id="19" name="Shape 16"/>
          <p:cNvSpPr/>
          <p:nvPr/>
        </p:nvSpPr>
        <p:spPr>
          <a:xfrm>
            <a:off x="1332281"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33228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1–2: word warm-up · say the model dialogue.</a:t>
            </a:r>
            <a:endParaRPr lang="en-US" sz="1200" dirty="0"/>
          </a:p>
        </p:txBody>
      </p:sp>
      <p:sp>
        <p:nvSpPr>
          <p:cNvPr id="22" name="Text 19"/>
          <p:cNvSpPr txBox="1"/>
          <p:nvPr/>
        </p:nvSpPr>
        <p:spPr>
          <a:xfrm>
            <a:off x="548640"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الكَلِمَاتُ وَالحِوَارُ</a:t>
            </a:r>
            <a:endParaRPr lang="ar-SA" sz="1500" dirty="0"/>
          </a:p>
        </p:txBody>
      </p:sp>
      <p:sp>
        <p:nvSpPr>
          <p:cNvPr id="23" name="Shape 20"/>
          <p:cNvSpPr/>
          <p:nvPr/>
        </p:nvSpPr>
        <p:spPr>
          <a:xfrm>
            <a:off x="273771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847442" y="1938528"/>
            <a:ext cx="1933042" cy="566928"/>
          </a:xfrm>
          <a:prstGeom prst="roundRect">
            <a:avLst>
              <a:gd name="adj" fmla="val 9677"/>
            </a:avLst>
          </a:prstGeom>
          <a:solidFill>
            <a:srgbClr val="1E6B52"/>
          </a:solidFill>
          <a:ln w="12700">
            <a:solidFill>
              <a:srgbClr val="1E6B52"/>
            </a:solidFill>
            <a:prstDash val="solid"/>
          </a:ln>
        </p:spPr>
      </p:sp>
      <p:sp>
        <p:nvSpPr>
          <p:cNvPr id="25" name="Text 22"/>
          <p:cNvSpPr txBox="1"/>
          <p:nvPr/>
        </p:nvSpPr>
        <p:spPr>
          <a:xfrm>
            <a:off x="288401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26" name="Text 23"/>
          <p:cNvSpPr txBox="1"/>
          <p:nvPr/>
        </p:nvSpPr>
        <p:spPr>
          <a:xfrm>
            <a:off x="288401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18 min</a:t>
            </a:r>
            <a:endParaRPr lang="en-US" sz="1000" dirty="0"/>
          </a:p>
        </p:txBody>
      </p:sp>
      <p:sp>
        <p:nvSpPr>
          <p:cNvPr id="27" name="Shape 24"/>
          <p:cNvSpPr/>
          <p:nvPr/>
        </p:nvSpPr>
        <p:spPr>
          <a:xfrm>
            <a:off x="3612794"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3612794"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86573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3–5: question cards · role-play card · short talk.</a:t>
            </a:r>
            <a:endParaRPr lang="en-US" sz="1200" dirty="0"/>
          </a:p>
        </p:txBody>
      </p:sp>
      <p:sp>
        <p:nvSpPr>
          <p:cNvPr id="30" name="Text 27"/>
          <p:cNvSpPr txBox="1"/>
          <p:nvPr/>
        </p:nvSpPr>
        <p:spPr>
          <a:xfrm>
            <a:off x="282915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تَكَلَّمْ</a:t>
            </a:r>
            <a:endParaRPr lang="ar-SA" sz="1500" dirty="0"/>
          </a:p>
        </p:txBody>
      </p:sp>
      <p:sp>
        <p:nvSpPr>
          <p:cNvPr id="31" name="Shape 28"/>
          <p:cNvSpPr/>
          <p:nvPr/>
        </p:nvSpPr>
        <p:spPr>
          <a:xfrm>
            <a:off x="5018227"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127955" y="1938528"/>
            <a:ext cx="1933042" cy="566928"/>
          </a:xfrm>
          <a:prstGeom prst="roundRect">
            <a:avLst>
              <a:gd name="adj" fmla="val 9677"/>
            </a:avLst>
          </a:prstGeom>
          <a:solidFill>
            <a:srgbClr val="2F6FB0"/>
          </a:solidFill>
          <a:ln w="12700">
            <a:solidFill>
              <a:srgbClr val="2F6FB0"/>
            </a:solidFill>
            <a:prstDash val="solid"/>
          </a:ln>
        </p:spPr>
      </p:sp>
      <p:sp>
        <p:nvSpPr>
          <p:cNvPr id="33" name="Text 30"/>
          <p:cNvSpPr txBox="1"/>
          <p:nvPr/>
        </p:nvSpPr>
        <p:spPr>
          <a:xfrm>
            <a:off x="5164531"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34" name="Text 31"/>
          <p:cNvSpPr txBox="1"/>
          <p:nvPr/>
        </p:nvSpPr>
        <p:spPr>
          <a:xfrm>
            <a:off x="5164531"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35" name="Shape 32"/>
          <p:cNvSpPr/>
          <p:nvPr/>
        </p:nvSpPr>
        <p:spPr>
          <a:xfrm>
            <a:off x="5893308"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5146243"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Steps 6–7: sentence builder · spot and fix.</a:t>
            </a:r>
            <a:endParaRPr lang="en-US" sz="1200" dirty="0"/>
          </a:p>
        </p:txBody>
      </p:sp>
      <p:sp>
        <p:nvSpPr>
          <p:cNvPr id="38" name="Text 35"/>
          <p:cNvSpPr txBox="1"/>
          <p:nvPr/>
        </p:nvSpPr>
        <p:spPr>
          <a:xfrm>
            <a:off x="5109667"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ابْنِ وَصَحِّحْ</a:t>
            </a:r>
            <a:endParaRPr lang="ar-SA" sz="1500" dirty="0"/>
          </a:p>
        </p:txBody>
      </p:sp>
      <p:sp>
        <p:nvSpPr>
          <p:cNvPr id="39" name="Shape 36"/>
          <p:cNvSpPr/>
          <p:nvPr/>
        </p:nvSpPr>
        <p:spPr>
          <a:xfrm>
            <a:off x="7298741"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7408469" y="1938528"/>
            <a:ext cx="1933042" cy="566928"/>
          </a:xfrm>
          <a:prstGeom prst="roundRect">
            <a:avLst>
              <a:gd name="adj" fmla="val 9677"/>
            </a:avLst>
          </a:prstGeom>
          <a:solidFill>
            <a:srgbClr val="1E6B52"/>
          </a:solidFill>
          <a:ln w="12700">
            <a:solidFill>
              <a:srgbClr val="1E6B52"/>
            </a:solidFill>
            <a:prstDash val="solid"/>
          </a:ln>
        </p:spPr>
      </p:sp>
      <p:sp>
        <p:nvSpPr>
          <p:cNvPr id="41" name="Text 38"/>
          <p:cNvSpPr txBox="1"/>
          <p:nvPr/>
        </p:nvSpPr>
        <p:spPr>
          <a:xfrm>
            <a:off x="7445045"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42" name="Text 39"/>
          <p:cNvSpPr txBox="1"/>
          <p:nvPr/>
        </p:nvSpPr>
        <p:spPr>
          <a:xfrm>
            <a:off x="7445045"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15 min</a:t>
            </a:r>
            <a:endParaRPr lang="en-US" sz="1000" dirty="0"/>
          </a:p>
        </p:txBody>
      </p:sp>
      <p:sp>
        <p:nvSpPr>
          <p:cNvPr id="43" name="Shape 40"/>
          <p:cNvSpPr/>
          <p:nvPr/>
        </p:nvSpPr>
        <p:spPr>
          <a:xfrm>
            <a:off x="8173822"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8173822"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7426757"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Step 8: write your text · buddy check.</a:t>
            </a:r>
            <a:endParaRPr lang="en-US" sz="1200" dirty="0"/>
          </a:p>
        </p:txBody>
      </p:sp>
      <p:sp>
        <p:nvSpPr>
          <p:cNvPr id="46" name="Text 43"/>
          <p:cNvSpPr txBox="1"/>
          <p:nvPr/>
        </p:nvSpPr>
        <p:spPr>
          <a:xfrm>
            <a:off x="7390181"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اكْتُبْ</a:t>
            </a:r>
            <a:endParaRPr lang="ar-SA" sz="1500" dirty="0"/>
          </a:p>
        </p:txBody>
      </p:sp>
      <p:sp>
        <p:nvSpPr>
          <p:cNvPr id="47" name="Shape 44"/>
          <p:cNvSpPr/>
          <p:nvPr/>
        </p:nvSpPr>
        <p:spPr>
          <a:xfrm>
            <a:off x="9579254" y="1828800"/>
            <a:ext cx="2152498" cy="3246120"/>
          </a:xfrm>
          <a:prstGeom prst="roundRect">
            <a:avLst>
              <a:gd name="adj" fmla="val 339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9688982" y="1938528"/>
            <a:ext cx="1933042" cy="566928"/>
          </a:xfrm>
          <a:prstGeom prst="roundRect">
            <a:avLst>
              <a:gd name="adj" fmla="val 9677"/>
            </a:avLst>
          </a:prstGeom>
          <a:solidFill>
            <a:srgbClr val="8A6D1E"/>
          </a:solidFill>
          <a:ln w="12700">
            <a:solidFill>
              <a:srgbClr val="8A6D1E"/>
            </a:solidFill>
            <a:prstDash val="solid"/>
          </a:ln>
        </p:spPr>
      </p:sp>
      <p:sp>
        <p:nvSpPr>
          <p:cNvPr id="49" name="Text 46"/>
          <p:cNvSpPr txBox="1"/>
          <p:nvPr/>
        </p:nvSpPr>
        <p:spPr>
          <a:xfrm>
            <a:off x="9725558" y="1956816"/>
            <a:ext cx="1859890"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0" name="Text 47"/>
          <p:cNvSpPr txBox="1"/>
          <p:nvPr/>
        </p:nvSpPr>
        <p:spPr>
          <a:xfrm>
            <a:off x="9725558" y="2249424"/>
            <a:ext cx="1859890"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4 min</a:t>
            </a:r>
            <a:endParaRPr lang="en-US" sz="1000" dirty="0"/>
          </a:p>
        </p:txBody>
      </p:sp>
      <p:sp>
        <p:nvSpPr>
          <p:cNvPr id="51" name="Shape 48"/>
          <p:cNvSpPr/>
          <p:nvPr/>
        </p:nvSpPr>
        <p:spPr>
          <a:xfrm>
            <a:off x="10454335"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1045433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9707270" y="3145536"/>
            <a:ext cx="1896466"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Check yourself with the models.</a:t>
            </a:r>
            <a:endParaRPr lang="en-US" sz="1200" dirty="0"/>
          </a:p>
        </p:txBody>
      </p:sp>
      <p:sp>
        <p:nvSpPr>
          <p:cNvPr id="54" name="Text 51"/>
          <p:cNvSpPr txBox="1"/>
          <p:nvPr/>
        </p:nvSpPr>
        <p:spPr>
          <a:xfrm>
            <a:off x="9670694" y="4526280"/>
            <a:ext cx="1969618"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قَارِنْ</a:t>
            </a:r>
            <a:endParaRPr lang="ar-SA" sz="1500" dirty="0"/>
          </a:p>
        </p:txBody>
      </p:sp>
      <p:sp>
        <p:nvSpPr>
          <p:cNvPr id="55" name="Shape 52"/>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6" name="Text 53"/>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HOW THE ROOM RUNS</a:t>
            </a:r>
            <a:endParaRPr lang="en-US" sz="1000" dirty="0"/>
          </a:p>
        </p:txBody>
      </p:sp>
      <p:sp>
        <p:nvSpPr>
          <p:cNvPr id="57" name="Text 54"/>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Everybody speaks in every step and everybody writes their own text. Swap roles after each task. If you finish early, do the step again with the Stretch route.</a:t>
            </a:r>
            <a:endParaRPr lang="en-US" sz="125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22</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BEFORE THE ROOMS · HOW YOUR ROOM WORKS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00" b="1" dirty="0">
                <a:solidFill>
                  <a:srgbClr val="1B3B6F"/>
                </a:solidFill>
                <a:latin typeface="Cambria" pitchFamily="34" charset="0"/>
                <a:cs typeface="Amiri" pitchFamily="2" charset="-78"/>
              </a:rPr>
              <a:t>Three roles — then write alone, check together</a:t>
            </a:r>
            <a:endParaRPr lang="en-US" sz="20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كَيْفَ نَعْمَلُ فِي الغُرْفَةِ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617220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58368" y="1883664"/>
            <a:ext cx="580644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ROLES (SWAP AFTER EVERY TASK)</a:t>
            </a:r>
            <a:endParaRPr lang="en-US" sz="1000" dirty="0"/>
          </a:p>
        </p:txBody>
      </p:sp>
      <p:sp>
        <p:nvSpPr>
          <p:cNvPr id="17" name="Shape 14"/>
          <p:cNvSpPr/>
          <p:nvPr/>
        </p:nvSpPr>
        <p:spPr>
          <a:xfrm>
            <a:off x="658368" y="2286000"/>
            <a:ext cx="310896" cy="310896"/>
          </a:xfrm>
          <a:prstGeom prst="ellipse">
            <a:avLst/>
          </a:prstGeom>
          <a:solidFill>
            <a:srgbClr val="1B3B6F"/>
          </a:solidFill>
          <a:ln w="12700">
            <a:solidFill>
              <a:srgbClr val="1B3B6F"/>
            </a:solidFill>
            <a:prstDash val="solid"/>
          </a:ln>
        </p:spPr>
      </p:sp>
      <p:sp>
        <p:nvSpPr>
          <p:cNvPr id="18" name="Text 15"/>
          <p:cNvSpPr txBox="1"/>
          <p:nvPr/>
        </p:nvSpPr>
        <p:spPr>
          <a:xfrm>
            <a:off x="658368" y="2286000"/>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1</a:t>
            </a:r>
            <a:endParaRPr lang="en-US" sz="1100" dirty="0"/>
          </a:p>
        </p:txBody>
      </p:sp>
      <p:sp>
        <p:nvSpPr>
          <p:cNvPr id="19" name="Text 16"/>
          <p:cNvSpPr txBox="1"/>
          <p:nvPr/>
        </p:nvSpPr>
        <p:spPr>
          <a:xfrm>
            <a:off x="1078992" y="2176272"/>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LEADER — opens the next step, keeps the time and reads the questions.</a:t>
            </a:r>
            <a:endParaRPr lang="en-US" sz="1300" dirty="0"/>
          </a:p>
        </p:txBody>
      </p:sp>
      <p:sp>
        <p:nvSpPr>
          <p:cNvPr id="20" name="Shape 17"/>
          <p:cNvSpPr/>
          <p:nvPr/>
        </p:nvSpPr>
        <p:spPr>
          <a:xfrm>
            <a:off x="658368" y="3296412"/>
            <a:ext cx="310896" cy="310896"/>
          </a:xfrm>
          <a:prstGeom prst="ellipse">
            <a:avLst/>
          </a:prstGeom>
          <a:solidFill>
            <a:srgbClr val="1B3B6F"/>
          </a:solidFill>
          <a:ln w="12700">
            <a:solidFill>
              <a:srgbClr val="1B3B6F"/>
            </a:solidFill>
            <a:prstDash val="solid"/>
          </a:ln>
        </p:spPr>
      </p:sp>
      <p:sp>
        <p:nvSpPr>
          <p:cNvPr id="21" name="Text 18"/>
          <p:cNvSpPr txBox="1"/>
          <p:nvPr/>
        </p:nvSpPr>
        <p:spPr>
          <a:xfrm>
            <a:off x="658368" y="3296412"/>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2</a:t>
            </a:r>
            <a:endParaRPr lang="en-US" sz="1100" dirty="0"/>
          </a:p>
        </p:txBody>
      </p:sp>
      <p:sp>
        <p:nvSpPr>
          <p:cNvPr id="22" name="Text 19"/>
          <p:cNvSpPr txBox="1"/>
          <p:nvPr/>
        </p:nvSpPr>
        <p:spPr>
          <a:xfrm>
            <a:off x="1078992" y="3186684"/>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SPEAKER — answers in Arabic, in a full sentence. Think for a few seconds, then speak.</a:t>
            </a:r>
            <a:endParaRPr lang="en-US" sz="1300" dirty="0"/>
          </a:p>
        </p:txBody>
      </p:sp>
      <p:sp>
        <p:nvSpPr>
          <p:cNvPr id="23" name="Shape 20"/>
          <p:cNvSpPr/>
          <p:nvPr/>
        </p:nvSpPr>
        <p:spPr>
          <a:xfrm>
            <a:off x="658368" y="4306824"/>
            <a:ext cx="310896" cy="310896"/>
          </a:xfrm>
          <a:prstGeom prst="ellipse">
            <a:avLst/>
          </a:prstGeom>
          <a:solidFill>
            <a:srgbClr val="1B3B6F"/>
          </a:solidFill>
          <a:ln w="12700">
            <a:solidFill>
              <a:srgbClr val="1B3B6F"/>
            </a:solidFill>
            <a:prstDash val="solid"/>
          </a:ln>
        </p:spPr>
      </p:sp>
      <p:sp>
        <p:nvSpPr>
          <p:cNvPr id="24" name="Text 21"/>
          <p:cNvSpPr txBox="1"/>
          <p:nvPr/>
        </p:nvSpPr>
        <p:spPr>
          <a:xfrm>
            <a:off x="658368" y="4306824"/>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3</a:t>
            </a:r>
            <a:endParaRPr lang="en-US" sz="1100" dirty="0"/>
          </a:p>
        </p:txBody>
      </p:sp>
      <p:sp>
        <p:nvSpPr>
          <p:cNvPr id="25" name="Text 22"/>
          <p:cNvSpPr txBox="1"/>
          <p:nvPr/>
        </p:nvSpPr>
        <p:spPr>
          <a:xfrm>
            <a:off x="1078992" y="4197096"/>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COACH — listens, checks with the slide, then says one thing that went well and one thing to improve. (In a pair, the Leader is also the Coach.)</a:t>
            </a:r>
            <a:endParaRPr lang="en-US" sz="1300" dirty="0"/>
          </a:p>
        </p:txBody>
      </p:sp>
      <p:sp>
        <p:nvSpPr>
          <p:cNvPr id="26" name="Shape 23"/>
          <p:cNvSpPr/>
          <p:nvPr/>
        </p:nvSpPr>
        <p:spPr>
          <a:xfrm>
            <a:off x="658368" y="5317236"/>
            <a:ext cx="310896" cy="310896"/>
          </a:xfrm>
          <a:prstGeom prst="ellipse">
            <a:avLst/>
          </a:prstGeom>
          <a:solidFill>
            <a:srgbClr val="1B3B6F"/>
          </a:solidFill>
          <a:ln w="12700">
            <a:solidFill>
              <a:srgbClr val="1B3B6F"/>
            </a:solidFill>
            <a:prstDash val="solid"/>
          </a:ln>
        </p:spPr>
      </p:sp>
      <p:sp>
        <p:nvSpPr>
          <p:cNvPr id="27" name="Text 24"/>
          <p:cNvSpPr txBox="1"/>
          <p:nvPr/>
        </p:nvSpPr>
        <p:spPr>
          <a:xfrm>
            <a:off x="658368" y="5317236"/>
            <a:ext cx="310896" cy="310896"/>
          </a:xfrm>
          <a:prstGeom prst="rect">
            <a:avLst/>
          </a:prstGeom>
          <a:noFill/>
          <a:ln/>
        </p:spPr>
        <p:txBody>
          <a:bodyPr wrap="square" lIns="0" tIns="0" rIns="0" bIns="0" rtlCol="0" anchor="ctr"/>
          <a:lstStyle/>
          <a:p>
            <a:pPr algn="ctr" indent="0" marL="0">
              <a:buNone/>
            </a:pPr>
            <a:r>
              <a:rPr lang="en-US" sz="1100" b="1" dirty="0">
                <a:solidFill>
                  <a:srgbClr val="D4AF37"/>
                </a:solidFill>
                <a:latin typeface="Calibri" pitchFamily="34" charset="0"/>
                <a:cs typeface="Amiri" pitchFamily="2" charset="-78"/>
              </a:rPr>
              <a:t>4</a:t>
            </a:r>
            <a:endParaRPr lang="en-US" sz="1100" dirty="0"/>
          </a:p>
        </p:txBody>
      </p:sp>
      <p:sp>
        <p:nvSpPr>
          <p:cNvPr id="28" name="Text 25"/>
          <p:cNvSpPr txBox="1"/>
          <p:nvPr/>
        </p:nvSpPr>
        <p:spPr>
          <a:xfrm>
            <a:off x="1078992" y="5207508"/>
            <a:ext cx="5394960" cy="973836"/>
          </a:xfrm>
          <a:prstGeom prst="rect">
            <a:avLst/>
          </a:prstGeom>
          <a:noFill/>
          <a:ln/>
        </p:spPr>
        <p:txBody>
          <a:bodyPr wrap="square" lIns="0" tIns="0" rIns="0" bIns="0" rtlCol="0" anchor="t"/>
          <a:lstStyle/>
          <a:p>
            <a:pPr algn="l" indent="0" marL="0">
              <a:buNone/>
            </a:pPr>
            <a:r>
              <a:rPr lang="en-US" sz="1300" dirty="0">
                <a:solidFill>
                  <a:srgbClr val="1F2A37"/>
                </a:solidFill>
                <a:latin typeface="Calibri" pitchFamily="34" charset="0"/>
                <a:cs typeface="Amiri" pitchFamily="2" charset="-78"/>
              </a:rPr>
              <a:t>WRITING (Part B): everyone writes their OWN text; then swap with a buddy and check.</a:t>
            </a:r>
            <a:endParaRPr lang="en-US" sz="1300" dirty="0"/>
          </a:p>
        </p:txBody>
      </p:sp>
      <p:sp>
        <p:nvSpPr>
          <p:cNvPr id="29" name="Shape 26"/>
          <p:cNvSpPr/>
          <p:nvPr/>
        </p:nvSpPr>
        <p:spPr>
          <a:xfrm>
            <a:off x="6812280" y="1810512"/>
            <a:ext cx="491947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Text 27"/>
          <p:cNvSpPr txBox="1"/>
          <p:nvPr/>
        </p:nvSpPr>
        <p:spPr>
          <a:xfrm>
            <a:off x="6995160" y="1883664"/>
            <a:ext cx="4553712" cy="274320"/>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USEFUL ROOM PHRASES</a:t>
            </a:r>
            <a:endParaRPr lang="en-US" sz="1000" dirty="0"/>
          </a:p>
        </p:txBody>
      </p:sp>
      <p:sp>
        <p:nvSpPr>
          <p:cNvPr id="31" name="Text 28"/>
          <p:cNvSpPr txBox="1"/>
          <p:nvPr/>
        </p:nvSpPr>
        <p:spPr>
          <a:xfrm>
            <a:off x="6949440" y="2194560"/>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دَوْرُكَ! / دَوْرُكِ!</a:t>
            </a:r>
            <a:endParaRPr lang="ar-SA" sz="2800" dirty="0"/>
          </a:p>
        </p:txBody>
      </p:sp>
      <p:sp>
        <p:nvSpPr>
          <p:cNvPr id="32" name="Text 29"/>
          <p:cNvSpPr txBox="1"/>
          <p:nvPr/>
        </p:nvSpPr>
        <p:spPr>
          <a:xfrm>
            <a:off x="6949440" y="2955828"/>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Your turn! (m. / f.)</a:t>
            </a:r>
            <a:endParaRPr lang="en-US" sz="1100" dirty="0"/>
          </a:p>
        </p:txBody>
      </p:sp>
      <p:sp>
        <p:nvSpPr>
          <p:cNvPr id="33" name="Shape 30"/>
          <p:cNvSpPr/>
          <p:nvPr/>
        </p:nvSpPr>
        <p:spPr>
          <a:xfrm>
            <a:off x="6995160" y="3535680"/>
            <a:ext cx="4553712" cy="0"/>
          </a:xfrm>
          <a:prstGeom prst="line">
            <a:avLst/>
          </a:prstGeom>
          <a:noFill/>
          <a:ln w="9525">
            <a:solidFill>
              <a:srgbClr val="E4DCCB"/>
            </a:solidFill>
            <a:prstDash val="dash"/>
          </a:ln>
        </p:spPr>
      </p:sp>
      <p:sp>
        <p:nvSpPr>
          <p:cNvPr id="34" name="Text 31"/>
          <p:cNvSpPr txBox="1"/>
          <p:nvPr/>
        </p:nvSpPr>
        <p:spPr>
          <a:xfrm>
            <a:off x="6949440" y="3553968"/>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عَفْوًا، أَعِدْ مِنْ فَضْلِكَ.</a:t>
            </a:r>
            <a:endParaRPr lang="ar-SA" sz="2800" dirty="0"/>
          </a:p>
        </p:txBody>
      </p:sp>
      <p:sp>
        <p:nvSpPr>
          <p:cNvPr id="35" name="Text 32"/>
          <p:cNvSpPr txBox="1"/>
          <p:nvPr/>
        </p:nvSpPr>
        <p:spPr>
          <a:xfrm>
            <a:off x="6949440" y="4315236"/>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Sorry, repeat please.</a:t>
            </a:r>
            <a:endParaRPr lang="en-US" sz="1100" dirty="0"/>
          </a:p>
        </p:txBody>
      </p:sp>
      <p:sp>
        <p:nvSpPr>
          <p:cNvPr id="36" name="Shape 33"/>
          <p:cNvSpPr/>
          <p:nvPr/>
        </p:nvSpPr>
        <p:spPr>
          <a:xfrm>
            <a:off x="6995160" y="4895088"/>
            <a:ext cx="4553712" cy="0"/>
          </a:xfrm>
          <a:prstGeom prst="line">
            <a:avLst/>
          </a:prstGeom>
          <a:noFill/>
          <a:ln w="9525">
            <a:solidFill>
              <a:srgbClr val="E4DCCB"/>
            </a:solidFill>
            <a:prstDash val="dash"/>
          </a:ln>
        </p:spPr>
      </p:sp>
      <p:sp>
        <p:nvSpPr>
          <p:cNvPr id="37" name="Text 34"/>
          <p:cNvSpPr txBox="1"/>
          <p:nvPr/>
        </p:nvSpPr>
        <p:spPr>
          <a:xfrm>
            <a:off x="6949440" y="4913376"/>
            <a:ext cx="4645152" cy="761268"/>
          </a:xfrm>
          <a:prstGeom prst="rect">
            <a:avLst/>
          </a:prstGeom>
          <a:noFill/>
          <a:ln/>
        </p:spPr>
        <p:txBody>
          <a:bodyPr wrap="square" lIns="0" tIns="0" rIns="0" bIns="0" rtlCol="0" anchor="ctr"/>
          <a:lstStyle/>
          <a:p>
            <a:pPr rtl="1" algn="ctr" indent="0" marL="0">
              <a:buNone/>
            </a:pPr>
            <a:r>
              <a:rPr lang="ar-SA" altLang="en-US" sz="2800" b="1" dirty="0">
                <a:solidFill>
                  <a:srgbClr val="1B3B6F"/>
                </a:solidFill>
                <a:latin typeface="Amiri" pitchFamily="2" charset="-78"/>
                <a:ea typeface="Amiri" pitchFamily="2" charset="-78"/>
                <a:cs typeface="Amiri" pitchFamily="2" charset="-78"/>
              </a:rPr>
              <a:t>لَحْظَةً، أُفَكِّرُ …</a:t>
            </a:r>
            <a:endParaRPr lang="ar-SA" sz="2800" dirty="0"/>
          </a:p>
        </p:txBody>
      </p:sp>
      <p:sp>
        <p:nvSpPr>
          <p:cNvPr id="38" name="Text 35"/>
          <p:cNvSpPr txBox="1"/>
          <p:nvPr/>
        </p:nvSpPr>
        <p:spPr>
          <a:xfrm>
            <a:off x="6949440" y="5674644"/>
            <a:ext cx="4645152" cy="543763"/>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One moment, I’m thinking …</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22</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PART A · STEP 1 · WORD WARM-UP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Say it — then use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قُلْهَا وَاسْتَعْمِلْهَا</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1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Word ping-pong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The Leader says a word in ENGLISH from the next two slides. The Speaker says it in ARABIC. The Coach checks the Arabic (and the ending) on the slide.</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Leader: say 4 English words; Speaker answers in Arabic.</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checks the word on the slide.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roles — new words each time.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Last round: use each word in a short sentence.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Arabic word clearly.</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Say the word, then a short sentence: </a:t>
            </a:r>
            <a:pPr algn="l" indent="0" marL="0">
              <a:buNone/>
            </a:pPr>
            <a:r>
              <a:rPr lang="ar-SA" altLang="en-US" sz="1500" dirty="0">
                <a:solidFill>
                  <a:srgbClr val="1F2A37"/>
                </a:solidFill>
                <a:latin typeface="Amiri" pitchFamily="2" charset="-78"/>
                <a:ea typeface="Amiri" pitchFamily="2" charset="-78"/>
                <a:cs typeface="Amiri" pitchFamily="2" charset="-78"/>
              </a:rPr>
              <a:t>أَنَا … / عِنْدِي … / هٰذَا</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Give the feminine or plural form too, then a sentence with two words.</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دَوْرُكَ! / دَوْرُكِ!</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your turn! (m. / f.)</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أَعِدْ مِنْ فَضْلِكَ / أَعِيدِي</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repeat please (m. / f.)</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أَحْسَنْتَ! / أَحْسَنْتِ!</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well done! (m. / f.)</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بِبُطْءٍ مِنْ فَضْلِكَ</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slowly, please</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22</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(1)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Profile categories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بِطَاقَةٌ شَخْصِيَّةٌ</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personal profile</a:t>
            </a:r>
            <a:endParaRPr lang="en-US" sz="1350" dirty="0"/>
          </a:p>
          <a:p>
            <a:pPr indent="0" marL="0">
              <a:buNone/>
            </a:pPr>
            <a:r>
              <a:rPr lang="en-US" sz="1100" i="1" dirty="0">
                <a:solidFill>
                  <a:srgbClr val="5A6472"/>
                </a:solidFill>
                <a:latin typeface="Calibri" pitchFamily="34" charset="0"/>
                <a:cs typeface="Amiri" pitchFamily="2" charset="-78"/>
              </a:rPr>
              <a:t>bi-ṭā-qa shakh-siy-ya</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مَعْلُومَاتٌ شَخْصِيَّةٌ</a:t>
            </a:r>
            <a:pPr algn="l" indent="0" marL="0">
              <a:buNone/>
            </a:pPr>
            <a:r>
              <a:rPr lang="en-US" sz="1000" i="1" dirty="0">
                <a:solidFill>
                  <a:srgbClr val="8A6D1E"/>
                </a:solidFill>
                <a:latin typeface="Calibri" pitchFamily="34" charset="0"/>
                <a:cs typeface="Amiri" pitchFamily="2" charset="-78"/>
              </a:rPr>
              <a:t> (personal information).</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28" name="Shape 25"/>
          <p:cNvSpPr/>
          <p:nvPr/>
        </p:nvSpPr>
        <p:spPr>
          <a:xfrm>
            <a:off x="4782312" y="1938528"/>
            <a:ext cx="896112"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form label</a:t>
            </a:r>
            <a:endParaRPr lang="en-US" sz="800" dirty="0"/>
          </a:p>
        </p:txBody>
      </p:sp>
      <p:sp>
        <p:nvSpPr>
          <p:cNvPr id="30" name="Shape 27"/>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1" name="Text 28"/>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2" name="Text 29"/>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مَكَانُ السَّكَنِ</a:t>
            </a:r>
            <a:endParaRPr lang="ar-SA" sz="3000" dirty="0"/>
          </a:p>
        </p:txBody>
      </p:sp>
      <p:sp>
        <p:nvSpPr>
          <p:cNvPr id="33" name="Text 30"/>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place of residence</a:t>
            </a:r>
            <a:endParaRPr lang="en-US" sz="1350" dirty="0"/>
          </a:p>
          <a:p>
            <a:pPr indent="0" marL="0">
              <a:buNone/>
            </a:pPr>
            <a:r>
              <a:rPr lang="en-US" sz="1100" i="1" dirty="0">
                <a:solidFill>
                  <a:srgbClr val="5A6472"/>
                </a:solidFill>
                <a:latin typeface="Calibri" pitchFamily="34" charset="0"/>
                <a:cs typeface="Amiri" pitchFamily="2" charset="-78"/>
              </a:rPr>
              <a:t>ma-kā-nu s-sa-kan</a:t>
            </a:r>
            <a:endParaRPr lang="en-US" sz="1350" dirty="0"/>
          </a:p>
        </p:txBody>
      </p:sp>
      <p:sp>
        <p:nvSpPr>
          <p:cNvPr id="34" name="Text 31"/>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Same root as </a:t>
            </a:r>
            <a:pPr algn="l" indent="0" marL="0">
              <a:buNone/>
            </a:pPr>
            <a:r>
              <a:rPr lang="ar-SA" altLang="en-US" sz="1300" dirty="0">
                <a:solidFill>
                  <a:srgbClr val="8A6D1E"/>
                </a:solidFill>
                <a:latin typeface="Amiri" pitchFamily="2" charset="-78"/>
                <a:ea typeface="Amiri" pitchFamily="2" charset="-78"/>
                <a:cs typeface="Amiri" pitchFamily="2" charset="-78"/>
              </a:rPr>
              <a:t>أَسْكُنُ</a:t>
            </a:r>
            <a:pPr algn="l" indent="0" marL="0">
              <a:buNone/>
            </a:pPr>
            <a:r>
              <a:rPr lang="en-US" sz="1000" i="1" dirty="0">
                <a:solidFill>
                  <a:srgbClr val="8A6D1E"/>
                </a:solidFill>
                <a:latin typeface="Calibri" pitchFamily="34" charset="0"/>
                <a:cs typeface="Amiri" pitchFamily="2" charset="-78"/>
              </a:rPr>
              <a:t> (F2-L07).</a:t>
            </a:r>
            <a:endParaRPr lang="en-US" sz="1000" dirty="0"/>
          </a:p>
        </p:txBody>
      </p:sp>
      <p:sp>
        <p:nvSpPr>
          <p:cNvPr id="35" name="Shape 32"/>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566928" y="1920240"/>
            <a:ext cx="310896" cy="310896"/>
          </a:xfrm>
          <a:prstGeom prst="ellipse">
            <a:avLst/>
          </a:prstGeom>
          <a:solidFill>
            <a:srgbClr val="F4F1EA"/>
          </a:solidFill>
          <a:ln w="12700">
            <a:solidFill>
              <a:srgbClr val="F4F1EA"/>
            </a:solidFill>
            <a:prstDash val="solid"/>
          </a:ln>
        </p:spPr>
      </p:sp>
      <p:sp>
        <p:nvSpPr>
          <p:cNvPr id="37" name="Text 34"/>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38" name="Shape 35"/>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9" name="Text 36"/>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40" name="Shape 37"/>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41" name="Text 38"/>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2" name="Text 39"/>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هِوَايَةٌ</a:t>
            </a:r>
            <a:endParaRPr lang="ar-SA" sz="3000" dirty="0"/>
          </a:p>
        </p:txBody>
      </p:sp>
      <p:sp>
        <p:nvSpPr>
          <p:cNvPr id="43" name="Text 40"/>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a hobby</a:t>
            </a:r>
            <a:endParaRPr lang="en-US" sz="1350" dirty="0"/>
          </a:p>
          <a:p>
            <a:pPr indent="0" marL="0">
              <a:buNone/>
            </a:pPr>
            <a:r>
              <a:rPr lang="en-US" sz="1100" i="1" dirty="0">
                <a:solidFill>
                  <a:srgbClr val="5A6472"/>
                </a:solidFill>
                <a:latin typeface="Calibri" pitchFamily="34" charset="0"/>
                <a:cs typeface="Amiri" pitchFamily="2" charset="-78"/>
              </a:rPr>
              <a:t>hi-wā-ya · hi-wā-yāt</a:t>
            </a:r>
            <a:endParaRPr lang="en-US" sz="1350" dirty="0"/>
          </a:p>
        </p:txBody>
      </p:sp>
      <p:sp>
        <p:nvSpPr>
          <p:cNvPr id="44" name="Shape 41"/>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5" name="Text 42"/>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6" name="Text 43"/>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هِوَايَتِي</a:t>
            </a:r>
            <a:endParaRPr lang="ar-SA" sz="1500" dirty="0"/>
          </a:p>
        </p:txBody>
      </p:sp>
      <p:sp>
        <p:nvSpPr>
          <p:cNvPr id="47" name="Shape 44"/>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8" name="Text 45"/>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9" name="Text 46"/>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a:t>
            </a:r>
            <a:endParaRPr lang="ar-SA" sz="1500" dirty="0"/>
          </a:p>
        </p:txBody>
      </p:sp>
      <p:sp>
        <p:nvSpPr>
          <p:cNvPr id="50" name="Shape 47"/>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51" name="Text 48"/>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2" name="Text 49"/>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هِوَايَتُهَا</a:t>
            </a:r>
            <a:endParaRPr lang="ar-SA" sz="1500" dirty="0"/>
          </a:p>
        </p:txBody>
      </p:sp>
      <p:sp>
        <p:nvSpPr>
          <p:cNvPr id="53" name="Shape 50"/>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4" name="Shape 51"/>
          <p:cNvSpPr/>
          <p:nvPr/>
        </p:nvSpPr>
        <p:spPr>
          <a:xfrm>
            <a:off x="8211312" y="4261104"/>
            <a:ext cx="310896" cy="310896"/>
          </a:xfrm>
          <a:prstGeom prst="ellipse">
            <a:avLst/>
          </a:prstGeom>
          <a:solidFill>
            <a:srgbClr val="F4F1EA"/>
          </a:solidFill>
          <a:ln w="12700">
            <a:solidFill>
              <a:srgbClr val="F4F1EA"/>
            </a:solidFill>
            <a:prstDash val="solid"/>
          </a:ln>
        </p:spPr>
      </p:sp>
      <p:sp>
        <p:nvSpPr>
          <p:cNvPr id="55" name="Text 52"/>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56" name="Shape 53"/>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57" name="Text 54"/>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المُفَضَّلُ</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favourite</a:t>
            </a:r>
            <a:endParaRPr lang="en-US" sz="1350" dirty="0"/>
          </a:p>
          <a:p>
            <a:pPr indent="0" marL="0">
              <a:buNone/>
            </a:pPr>
            <a:r>
              <a:rPr lang="en-US" sz="1100" i="1" dirty="0">
                <a:solidFill>
                  <a:srgbClr val="5A6472"/>
                </a:solidFill>
                <a:latin typeface="Calibri" pitchFamily="34" charset="0"/>
                <a:cs typeface="Amiri" pitchFamily="2" charset="-78"/>
              </a:rPr>
              <a:t>al-mu-faḍ-ḍal · -la</a:t>
            </a:r>
            <a:endParaRPr lang="en-US" sz="1350" dirty="0"/>
          </a:p>
        </p:txBody>
      </p:sp>
      <p:sp>
        <p:nvSpPr>
          <p:cNvPr id="60" name="Shape 57"/>
          <p:cNvSpPr/>
          <p:nvPr/>
        </p:nvSpPr>
        <p:spPr>
          <a:xfrm>
            <a:off x="9966960" y="5779008"/>
            <a:ext cx="1636776"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021824"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012680"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المُفَضَّلُ</a:t>
            </a:r>
            <a:endParaRPr lang="ar-SA" sz="1500" dirty="0"/>
          </a:p>
        </p:txBody>
      </p:sp>
      <p:sp>
        <p:nvSpPr>
          <p:cNvPr id="63" name="Shape 60"/>
          <p:cNvSpPr/>
          <p:nvPr/>
        </p:nvSpPr>
        <p:spPr>
          <a:xfrm>
            <a:off x="8238744" y="5779008"/>
            <a:ext cx="1636776"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8293608" y="5788152"/>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8284464" y="5824728"/>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المُفَضَّلَةُ</a:t>
            </a:r>
            <a:endParaRPr lang="ar-SA" sz="1500" dirty="0"/>
          </a:p>
        </p:txBody>
      </p:sp>
      <p:sp>
        <p:nvSpPr>
          <p:cNvPr id="66" name="Shape 63"/>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7" name="Shape 64"/>
          <p:cNvSpPr/>
          <p:nvPr/>
        </p:nvSpPr>
        <p:spPr>
          <a:xfrm>
            <a:off x="4389120" y="4261104"/>
            <a:ext cx="310896" cy="310896"/>
          </a:xfrm>
          <a:prstGeom prst="ellipse">
            <a:avLst/>
          </a:prstGeom>
          <a:solidFill>
            <a:srgbClr val="F4F1EA"/>
          </a:solidFill>
          <a:ln w="12700">
            <a:solidFill>
              <a:srgbClr val="F4F1EA"/>
            </a:solidFill>
            <a:prstDash val="solid"/>
          </a:ln>
        </p:spPr>
      </p:sp>
      <p:sp>
        <p:nvSpPr>
          <p:cNvPr id="68" name="Text 65"/>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69" name="Shape 66"/>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0" name="Text 67"/>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school</a:t>
            </a:r>
            <a:endParaRPr lang="en-US" sz="800" dirty="0"/>
          </a:p>
        </p:txBody>
      </p:sp>
      <p:sp>
        <p:nvSpPr>
          <p:cNvPr id="71" name="Text 68"/>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مَدْرَسَةٌ · صَفٌّ</a:t>
            </a:r>
            <a:endParaRPr lang="ar-SA" sz="3000" dirty="0"/>
          </a:p>
        </p:txBody>
      </p:sp>
      <p:sp>
        <p:nvSpPr>
          <p:cNvPr id="72" name="Text 69"/>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school · class / year group</a:t>
            </a:r>
            <a:endParaRPr lang="en-US" sz="1350" dirty="0"/>
          </a:p>
          <a:p>
            <a:pPr indent="0" marL="0">
              <a:buNone/>
            </a:pPr>
            <a:r>
              <a:rPr lang="en-US" sz="1100" i="1" dirty="0">
                <a:solidFill>
                  <a:srgbClr val="5A6472"/>
                </a:solidFill>
                <a:latin typeface="Calibri" pitchFamily="34" charset="0"/>
                <a:cs typeface="Amiri" pitchFamily="2" charset="-78"/>
              </a:rPr>
              <a:t>mad-ra-sa · ṣaff</a:t>
            </a:r>
            <a:endParaRPr lang="en-US" sz="1350" dirty="0"/>
          </a:p>
        </p:txBody>
      </p:sp>
      <p:sp>
        <p:nvSpPr>
          <p:cNvPr id="73" name="Text 70"/>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مَادَّةٌ دِرَاسِيَّةٌ</a:t>
            </a:r>
            <a:pPr algn="l" indent="0" marL="0">
              <a:buNone/>
            </a:pPr>
            <a:r>
              <a:rPr lang="en-US" sz="1000" i="1" dirty="0">
                <a:solidFill>
                  <a:srgbClr val="8A6D1E"/>
                </a:solidFill>
                <a:latin typeface="Calibri" pitchFamily="34" charset="0"/>
                <a:cs typeface="Amiri" pitchFamily="2" charset="-78"/>
              </a:rPr>
              <a:t> = school subject</a:t>
            </a:r>
            <a:endParaRPr lang="en-US" sz="1000" dirty="0"/>
          </a:p>
        </p:txBody>
      </p:sp>
      <p:sp>
        <p:nvSpPr>
          <p:cNvPr id="74" name="Shape 71"/>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5" name="Shape 72"/>
          <p:cNvSpPr/>
          <p:nvPr/>
        </p:nvSpPr>
        <p:spPr>
          <a:xfrm>
            <a:off x="566928" y="4261104"/>
            <a:ext cx="310896" cy="310896"/>
          </a:xfrm>
          <a:prstGeom prst="ellipse">
            <a:avLst/>
          </a:prstGeom>
          <a:solidFill>
            <a:srgbClr val="F4F1EA"/>
          </a:solidFill>
          <a:ln w="12700">
            <a:solidFill>
              <a:srgbClr val="F4F1EA"/>
            </a:solidFill>
            <a:prstDash val="solid"/>
          </a:ln>
        </p:spPr>
      </p:sp>
      <p:sp>
        <p:nvSpPr>
          <p:cNvPr id="76" name="Text 73"/>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77" name="Shape 74"/>
          <p:cNvSpPr/>
          <p:nvPr/>
        </p:nvSpPr>
        <p:spPr>
          <a:xfrm>
            <a:off x="960120" y="4279392"/>
            <a:ext cx="833933" cy="256032"/>
          </a:xfrm>
          <a:prstGeom prst="roundRect">
            <a:avLst>
              <a:gd name="adj" fmla="val 50000"/>
            </a:avLst>
          </a:prstGeom>
          <a:solidFill>
            <a:srgbClr val="EFE7D2"/>
          </a:solidFill>
          <a:ln w="12700">
            <a:solidFill>
              <a:srgbClr val="EFE7D2"/>
            </a:solidFill>
            <a:prstDash val="solid"/>
          </a:ln>
        </p:spPr>
      </p:sp>
      <p:sp>
        <p:nvSpPr>
          <p:cNvPr id="78" name="Text 75"/>
          <p:cNvSpPr txBox="1"/>
          <p:nvPr/>
        </p:nvSpPr>
        <p:spPr>
          <a:xfrm>
            <a:off x="960120"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interests</a:t>
            </a:r>
            <a:endParaRPr lang="en-US" sz="800" dirty="0"/>
          </a:p>
        </p:txBody>
      </p:sp>
      <p:sp>
        <p:nvSpPr>
          <p:cNvPr id="79" name="Text 76"/>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وَقْتُ الفَرَاغِ</a:t>
            </a:r>
            <a:endParaRPr lang="ar-SA" sz="3000" dirty="0"/>
          </a:p>
        </p:txBody>
      </p:sp>
      <p:sp>
        <p:nvSpPr>
          <p:cNvPr id="80" name="Text 77"/>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free time</a:t>
            </a:r>
            <a:endParaRPr lang="en-US" sz="1350" dirty="0"/>
          </a:p>
          <a:p>
            <a:pPr indent="0" marL="0">
              <a:buNone/>
            </a:pPr>
            <a:r>
              <a:rPr lang="en-US" sz="1100" i="1" dirty="0">
                <a:solidFill>
                  <a:srgbClr val="5A6472"/>
                </a:solidFill>
                <a:latin typeface="Calibri" pitchFamily="34" charset="0"/>
                <a:cs typeface="Amiri" pitchFamily="2" charset="-78"/>
              </a:rPr>
              <a:t>waq-tu l-fa-rāgh</a:t>
            </a:r>
            <a:endParaRPr lang="en-US" sz="1350" dirty="0"/>
          </a:p>
        </p:txBody>
      </p:sp>
      <p:sp>
        <p:nvSpPr>
          <p:cNvPr id="81" name="Text 78"/>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فِي وَقْتِ الفَرَاغِ</a:t>
            </a:r>
            <a:pPr algn="l" indent="0" marL="0">
              <a:buNone/>
            </a:pPr>
            <a:r>
              <a:rPr lang="en-US" sz="1000" i="1" dirty="0">
                <a:solidFill>
                  <a:srgbClr val="8A6D1E"/>
                </a:solidFill>
                <a:latin typeface="Calibri" pitchFamily="34" charset="0"/>
                <a:cs typeface="Amiri" pitchFamily="2" charset="-78"/>
              </a:rPr>
              <a:t> = in free time</a:t>
            </a:r>
            <a:endParaRPr lang="en-US" sz="1000" dirty="0"/>
          </a:p>
        </p:txBody>
      </p:sp>
      <p:sp>
        <p:nvSpPr>
          <p:cNvPr id="82" name="Text 7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22</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STEP 1 · WORD BANK (2) · FROM THE LESSON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Talking about him and her</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كَلِمَاتُ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Text 17"/>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اسْمُهُ · اسْمُهَا</a:t>
            </a:r>
            <a:endParaRPr lang="ar-SA" sz="3000" dirty="0"/>
          </a:p>
        </p:txBody>
      </p:sp>
      <p:sp>
        <p:nvSpPr>
          <p:cNvPr id="21" name="Text 18"/>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name · her name</a:t>
            </a:r>
            <a:endParaRPr lang="en-US" sz="1350" dirty="0"/>
          </a:p>
          <a:p>
            <a:pPr indent="0" marL="0">
              <a:buNone/>
            </a:pPr>
            <a:r>
              <a:rPr lang="en-US" sz="1100" i="1" dirty="0">
                <a:solidFill>
                  <a:srgbClr val="5A6472"/>
                </a:solidFill>
                <a:latin typeface="Calibri" pitchFamily="34" charset="0"/>
                <a:cs typeface="Amiri" pitchFamily="2" charset="-78"/>
              </a:rPr>
              <a:t>as-mu-hu · as-mu-hā</a:t>
            </a:r>
            <a:endParaRPr lang="en-US" sz="1350" dirty="0"/>
          </a:p>
        </p:txBody>
      </p:sp>
      <p:sp>
        <p:nvSpPr>
          <p:cNvPr id="22" name="Shape 19"/>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4389120" y="1920240"/>
            <a:ext cx="310896" cy="310896"/>
          </a:xfrm>
          <a:prstGeom prst="ellipse">
            <a:avLst/>
          </a:prstGeom>
          <a:solidFill>
            <a:srgbClr val="F4F1EA"/>
          </a:solidFill>
          <a:ln w="12700">
            <a:solidFill>
              <a:srgbClr val="F4F1EA"/>
            </a:solidFill>
            <a:prstDash val="solid"/>
          </a:ln>
        </p:spPr>
      </p:sp>
      <p:sp>
        <p:nvSpPr>
          <p:cNvPr id="24" name="Text 21"/>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5" name="Shape 22"/>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7" name="Text 24"/>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عُمْرُهُ · عُمْرُهَا</a:t>
            </a:r>
            <a:endParaRPr lang="ar-SA" sz="3000" dirty="0"/>
          </a:p>
        </p:txBody>
      </p:sp>
      <p:sp>
        <p:nvSpPr>
          <p:cNvPr id="28" name="Text 25"/>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age · her age</a:t>
            </a:r>
            <a:endParaRPr lang="en-US" sz="1350" dirty="0"/>
          </a:p>
          <a:p>
            <a:pPr indent="0" marL="0">
              <a:buNone/>
            </a:pPr>
            <a:r>
              <a:rPr lang="en-US" sz="1100" i="1" dirty="0">
                <a:solidFill>
                  <a:srgbClr val="5A6472"/>
                </a:solidFill>
                <a:latin typeface="Calibri" pitchFamily="34" charset="0"/>
                <a:cs typeface="Amiri" pitchFamily="2" charset="-78"/>
              </a:rPr>
              <a:t>ʿum-ru-hu · ʿum-ru-hā</a:t>
            </a:r>
            <a:endParaRPr lang="en-US" sz="1350" dirty="0"/>
          </a:p>
        </p:txBody>
      </p:sp>
      <p:sp>
        <p:nvSpPr>
          <p:cNvPr id="29" name="Shape 26"/>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66928" y="1920240"/>
            <a:ext cx="310896" cy="310896"/>
          </a:xfrm>
          <a:prstGeom prst="ellipse">
            <a:avLst/>
          </a:prstGeom>
          <a:solidFill>
            <a:srgbClr val="F4F1EA"/>
          </a:solidFill>
          <a:ln w="12700">
            <a:solidFill>
              <a:srgbClr val="F4F1EA"/>
            </a:solidFill>
            <a:prstDash val="solid"/>
          </a:ln>
        </p:spPr>
      </p:sp>
      <p:sp>
        <p:nvSpPr>
          <p:cNvPr id="31" name="Text 28"/>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2" name="Shape 29"/>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4" name="Text 31"/>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يَسْكُنُ · تَسْكُنُ</a:t>
            </a:r>
            <a:endParaRPr lang="ar-SA" sz="3000" dirty="0"/>
          </a:p>
        </p:txBody>
      </p:sp>
      <p:sp>
        <p:nvSpPr>
          <p:cNvPr id="35" name="Text 32"/>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lives · she lives</a:t>
            </a:r>
            <a:endParaRPr lang="en-US" sz="1350" dirty="0"/>
          </a:p>
          <a:p>
            <a:pPr indent="0" marL="0">
              <a:buNone/>
            </a:pPr>
            <a:r>
              <a:rPr lang="en-US" sz="1100" i="1" dirty="0">
                <a:solidFill>
                  <a:srgbClr val="5A6472"/>
                </a:solidFill>
                <a:latin typeface="Calibri" pitchFamily="34" charset="0"/>
                <a:cs typeface="Amiri" pitchFamily="2" charset="-78"/>
              </a:rPr>
              <a:t>yas-ku-nu · tas-ku-nu</a:t>
            </a:r>
            <a:endParaRPr lang="en-US" sz="1350" dirty="0"/>
          </a:p>
        </p:txBody>
      </p:sp>
      <p:sp>
        <p:nvSpPr>
          <p:cNvPr id="36" name="Shape 33"/>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8211312" y="4261104"/>
            <a:ext cx="310896" cy="310896"/>
          </a:xfrm>
          <a:prstGeom prst="ellipse">
            <a:avLst/>
          </a:prstGeom>
          <a:solidFill>
            <a:srgbClr val="F4F1EA"/>
          </a:solidFill>
          <a:ln w="12700">
            <a:solidFill>
              <a:srgbClr val="F4F1EA"/>
            </a:solidFill>
            <a:prstDash val="solid"/>
          </a:ln>
        </p:spPr>
      </p:sp>
      <p:sp>
        <p:nvSpPr>
          <p:cNvPr id="38" name="Text 35"/>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39" name="Shape 36"/>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1" name="Text 38"/>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يَتَكَلَّمُ · تَتَكَلَّمُ</a:t>
            </a:r>
            <a:endParaRPr lang="ar-SA" sz="3000" dirty="0"/>
          </a:p>
        </p:txBody>
      </p:sp>
      <p:sp>
        <p:nvSpPr>
          <p:cNvPr id="42" name="Text 39"/>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speaks · she speaks</a:t>
            </a:r>
            <a:endParaRPr lang="en-US" sz="1350" dirty="0"/>
          </a:p>
          <a:p>
            <a:pPr indent="0" marL="0">
              <a:buNone/>
            </a:pPr>
            <a:r>
              <a:rPr lang="en-US" sz="1100" i="1" dirty="0">
                <a:solidFill>
                  <a:srgbClr val="5A6472"/>
                </a:solidFill>
                <a:latin typeface="Calibri" pitchFamily="34" charset="0"/>
                <a:cs typeface="Amiri" pitchFamily="2" charset="-78"/>
              </a:rPr>
              <a:t>ya-ta-kal-la-mu · ta-ta-kal-la-mu</a:t>
            </a:r>
            <a:endParaRPr lang="en-US" sz="1350" dirty="0"/>
          </a:p>
        </p:txBody>
      </p:sp>
      <p:sp>
        <p:nvSpPr>
          <p:cNvPr id="43" name="Shape 40"/>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4" name="Shape 41"/>
          <p:cNvSpPr/>
          <p:nvPr/>
        </p:nvSpPr>
        <p:spPr>
          <a:xfrm>
            <a:off x="4389120" y="4261104"/>
            <a:ext cx="310896" cy="310896"/>
          </a:xfrm>
          <a:prstGeom prst="ellipse">
            <a:avLst/>
          </a:prstGeom>
          <a:solidFill>
            <a:srgbClr val="F4F1EA"/>
          </a:solidFill>
          <a:ln w="12700">
            <a:solidFill>
              <a:srgbClr val="F4F1EA"/>
            </a:solidFill>
            <a:prstDash val="solid"/>
          </a:ln>
        </p:spPr>
      </p:sp>
      <p:sp>
        <p:nvSpPr>
          <p:cNvPr id="45" name="Text 42"/>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46" name="Shape 43"/>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8" name="Text 45"/>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يُحِبُّ · تُحِبُّ</a:t>
            </a:r>
            <a:endParaRPr lang="ar-SA" sz="3000" dirty="0"/>
          </a:p>
        </p:txBody>
      </p:sp>
      <p:sp>
        <p:nvSpPr>
          <p:cNvPr id="49" name="Text 46"/>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he likes · she likes</a:t>
            </a:r>
            <a:endParaRPr lang="en-US" sz="1350" dirty="0"/>
          </a:p>
          <a:p>
            <a:pPr indent="0" marL="0">
              <a:buNone/>
            </a:pPr>
            <a:r>
              <a:rPr lang="en-US" sz="1100" i="1" dirty="0">
                <a:solidFill>
                  <a:srgbClr val="5A6472"/>
                </a:solidFill>
                <a:latin typeface="Calibri" pitchFamily="34" charset="0"/>
                <a:cs typeface="Amiri" pitchFamily="2" charset="-78"/>
              </a:rPr>
              <a:t>yu-ḥib-bu · tu-ḥib-bu</a:t>
            </a:r>
            <a:endParaRPr lang="en-US" sz="1350" dirty="0"/>
          </a:p>
        </p:txBody>
      </p:sp>
      <p:sp>
        <p:nvSpPr>
          <p:cNvPr id="50" name="Shape 47"/>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1" name="Shape 48"/>
          <p:cNvSpPr/>
          <p:nvPr/>
        </p:nvSpPr>
        <p:spPr>
          <a:xfrm>
            <a:off x="566928" y="4261104"/>
            <a:ext cx="310896" cy="310896"/>
          </a:xfrm>
          <a:prstGeom prst="ellipse">
            <a:avLst/>
          </a:prstGeom>
          <a:solidFill>
            <a:srgbClr val="F4F1EA"/>
          </a:solidFill>
          <a:ln w="12700">
            <a:solidFill>
              <a:srgbClr val="F4F1EA"/>
            </a:solidFill>
            <a:prstDash val="solid"/>
          </a:ln>
        </p:spPr>
      </p:sp>
      <p:sp>
        <p:nvSpPr>
          <p:cNvPr id="52" name="Text 49"/>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53" name="Shape 5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هِوَايَتُهُ · هِوَايَتُهَا</a:t>
            </a:r>
            <a:endParaRPr lang="ar-SA" sz="3000" dirty="0"/>
          </a:p>
        </p:txBody>
      </p:sp>
      <p:sp>
        <p:nvSpPr>
          <p:cNvPr id="56" name="Text 53"/>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his hobby · her hobby</a:t>
            </a:r>
            <a:endParaRPr lang="en-US" sz="1350" dirty="0"/>
          </a:p>
          <a:p>
            <a:pPr indent="0" marL="0">
              <a:buNone/>
            </a:pPr>
            <a:r>
              <a:rPr lang="en-US" sz="1100" i="1" dirty="0">
                <a:solidFill>
                  <a:srgbClr val="5A6472"/>
                </a:solidFill>
                <a:latin typeface="Calibri" pitchFamily="34" charset="0"/>
                <a:cs typeface="Amiri" pitchFamily="2" charset="-78"/>
              </a:rPr>
              <a:t>hi-wā-ya-tu-hu · hi-wā-ya-tu-hā</a:t>
            </a:r>
            <a:endParaRPr lang="en-US" sz="13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22</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STEP 2 · SAY THE MODEL DIALOGUE · READ IT, THEN SAY IT WITHOUT LOOKING</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Who is the new student?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مَنِ الطَّالِبَةُ الجَدِيدَةُ؟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54112" y="1810512"/>
            <a:ext cx="39044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7" name="Text 14"/>
          <p:cNvSpPr txBox="1"/>
          <p:nvPr/>
        </p:nvSpPr>
        <p:spPr>
          <a:xfrm>
            <a:off x="1444752" y="1810512"/>
            <a:ext cx="6163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Say it in Arabic</a:t>
            </a:r>
            <a:endParaRPr lang="en-US" sz="1100" dirty="0"/>
          </a:p>
        </p:txBody>
      </p:sp>
      <p:sp>
        <p:nvSpPr>
          <p:cNvPr id="18" name="Text 15"/>
          <p:cNvSpPr txBox="1"/>
          <p:nvPr/>
        </p:nvSpPr>
        <p:spPr>
          <a:xfrm>
            <a:off x="5303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Who</a:t>
            </a:r>
            <a:endParaRPr lang="en-US" sz="1100" dirty="0"/>
          </a:p>
        </p:txBody>
      </p:sp>
      <p:sp>
        <p:nvSpPr>
          <p:cNvPr id="19" name="Shape 16"/>
          <p:cNvSpPr/>
          <p:nvPr/>
        </p:nvSpPr>
        <p:spPr>
          <a:xfrm>
            <a:off x="457200" y="2267712"/>
            <a:ext cx="11274552" cy="559308"/>
          </a:xfrm>
          <a:prstGeom prst="roundRect">
            <a:avLst>
              <a:gd name="adj" fmla="val 8174"/>
            </a:avLst>
          </a:prstGeom>
          <a:solidFill>
            <a:srgbClr val="FFFFFF"/>
          </a:solidFill>
          <a:ln w="9525">
            <a:solidFill>
              <a:srgbClr val="D8D0BF"/>
            </a:solidFill>
            <a:prstDash val="solid"/>
          </a:ln>
        </p:spPr>
      </p:sp>
      <p:sp>
        <p:nvSpPr>
          <p:cNvPr id="20" name="Text 17"/>
          <p:cNvSpPr txBox="1"/>
          <p:nvPr/>
        </p:nvSpPr>
        <p:spPr>
          <a:xfrm>
            <a:off x="7790688" y="226771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Who is the new student (f.)?</a:t>
            </a:r>
            <a:endParaRPr lang="en-US" sz="1100" dirty="0"/>
          </a:p>
        </p:txBody>
      </p:sp>
      <p:sp>
        <p:nvSpPr>
          <p:cNvPr id="21" name="Text 18"/>
          <p:cNvSpPr txBox="1"/>
          <p:nvPr/>
        </p:nvSpPr>
        <p:spPr>
          <a:xfrm>
            <a:off x="1463040" y="226771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مَنِ الطَّالِبَةُ الجَدِيدَةُ؟</a:t>
            </a:r>
            <a:endParaRPr lang="ar-SA" sz="2000" dirty="0"/>
          </a:p>
        </p:txBody>
      </p:sp>
      <p:sp>
        <p:nvSpPr>
          <p:cNvPr id="22" name="Text 19"/>
          <p:cNvSpPr txBox="1"/>
          <p:nvPr/>
        </p:nvSpPr>
        <p:spPr>
          <a:xfrm>
            <a:off x="566928" y="226771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23" name="Shape 20"/>
          <p:cNvSpPr/>
          <p:nvPr/>
        </p:nvSpPr>
        <p:spPr>
          <a:xfrm>
            <a:off x="457200" y="2881884"/>
            <a:ext cx="11274552" cy="559308"/>
          </a:xfrm>
          <a:prstGeom prst="roundRect">
            <a:avLst>
              <a:gd name="adj" fmla="val 8174"/>
            </a:avLst>
          </a:prstGeom>
          <a:solidFill>
            <a:srgbClr val="F4F1EA"/>
          </a:solidFill>
          <a:ln w="9525">
            <a:solidFill>
              <a:srgbClr val="D8D0BF"/>
            </a:solidFill>
            <a:prstDash val="solid"/>
          </a:ln>
        </p:spPr>
      </p:sp>
      <p:sp>
        <p:nvSpPr>
          <p:cNvPr id="24" name="Text 21"/>
          <p:cNvSpPr txBox="1"/>
          <p:nvPr/>
        </p:nvSpPr>
        <p:spPr>
          <a:xfrm>
            <a:off x="7790688" y="2881884"/>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name is Reem, and she is thirteen.</a:t>
            </a:r>
            <a:endParaRPr lang="en-US" sz="1100" dirty="0"/>
          </a:p>
        </p:txBody>
      </p:sp>
      <p:sp>
        <p:nvSpPr>
          <p:cNvPr id="25" name="Text 22"/>
          <p:cNvSpPr txBox="1"/>
          <p:nvPr/>
        </p:nvSpPr>
        <p:spPr>
          <a:xfrm>
            <a:off x="1463040" y="2881884"/>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اسْمُهَا رِيمُ، وَعُمْرُهَا ثَلَاثَ عَشْرَةَ سَنَةً.</a:t>
            </a:r>
            <a:endParaRPr lang="ar-SA" sz="2000" dirty="0"/>
          </a:p>
        </p:txBody>
      </p:sp>
      <p:sp>
        <p:nvSpPr>
          <p:cNvPr id="26" name="Text 23"/>
          <p:cNvSpPr txBox="1"/>
          <p:nvPr/>
        </p:nvSpPr>
        <p:spPr>
          <a:xfrm>
            <a:off x="566928" y="2881884"/>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27" name="Shape 24"/>
          <p:cNvSpPr/>
          <p:nvPr/>
        </p:nvSpPr>
        <p:spPr>
          <a:xfrm>
            <a:off x="457200" y="3496056"/>
            <a:ext cx="11274552" cy="559308"/>
          </a:xfrm>
          <a:prstGeom prst="roundRect">
            <a:avLst>
              <a:gd name="adj" fmla="val 8174"/>
            </a:avLst>
          </a:prstGeom>
          <a:solidFill>
            <a:srgbClr val="FFFFFF"/>
          </a:solidFill>
          <a:ln w="9525">
            <a:solidFill>
              <a:srgbClr val="D8D0BF"/>
            </a:solidFill>
            <a:prstDash val="solid"/>
          </a:ln>
        </p:spPr>
      </p:sp>
      <p:sp>
        <p:nvSpPr>
          <p:cNvPr id="28" name="Text 25"/>
          <p:cNvSpPr txBox="1"/>
          <p:nvPr/>
        </p:nvSpPr>
        <p:spPr>
          <a:xfrm>
            <a:off x="7790688" y="3496056"/>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she live?</a:t>
            </a:r>
            <a:endParaRPr lang="en-US" sz="1100" dirty="0"/>
          </a:p>
        </p:txBody>
      </p:sp>
      <p:sp>
        <p:nvSpPr>
          <p:cNvPr id="29" name="Text 26"/>
          <p:cNvSpPr txBox="1"/>
          <p:nvPr/>
        </p:nvSpPr>
        <p:spPr>
          <a:xfrm>
            <a:off x="1463040" y="3496056"/>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أَيْنَ تَسْكُنُ؟</a:t>
            </a:r>
            <a:endParaRPr lang="ar-SA" sz="2000" dirty="0"/>
          </a:p>
        </p:txBody>
      </p:sp>
      <p:sp>
        <p:nvSpPr>
          <p:cNvPr id="30" name="Text 27"/>
          <p:cNvSpPr txBox="1"/>
          <p:nvPr/>
        </p:nvSpPr>
        <p:spPr>
          <a:xfrm>
            <a:off x="566928" y="3496056"/>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1" name="Shape 28"/>
          <p:cNvSpPr/>
          <p:nvPr/>
        </p:nvSpPr>
        <p:spPr>
          <a:xfrm>
            <a:off x="457200" y="4110228"/>
            <a:ext cx="11274552" cy="559308"/>
          </a:xfrm>
          <a:prstGeom prst="roundRect">
            <a:avLst>
              <a:gd name="adj" fmla="val 8174"/>
            </a:avLst>
          </a:prstGeom>
          <a:solidFill>
            <a:srgbClr val="F4F1EA"/>
          </a:solidFill>
          <a:ln w="9525">
            <a:solidFill>
              <a:srgbClr val="D8D0BF"/>
            </a:solidFill>
            <a:prstDash val="solid"/>
          </a:ln>
        </p:spPr>
      </p:sp>
      <p:sp>
        <p:nvSpPr>
          <p:cNvPr id="32" name="Text 29"/>
          <p:cNvSpPr txBox="1"/>
          <p:nvPr/>
        </p:nvSpPr>
        <p:spPr>
          <a:xfrm>
            <a:off x="7790688" y="4110228"/>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She lives in London, and she is from Tunisia.</a:t>
            </a:r>
            <a:endParaRPr lang="en-US" sz="1100" dirty="0"/>
          </a:p>
        </p:txBody>
      </p:sp>
      <p:sp>
        <p:nvSpPr>
          <p:cNvPr id="33" name="Text 30"/>
          <p:cNvSpPr txBox="1"/>
          <p:nvPr/>
        </p:nvSpPr>
        <p:spPr>
          <a:xfrm>
            <a:off x="1463040" y="4110228"/>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تَسْكُنُ فِي لَنْدَنَ، وَهِيَ مِنْ تُونُسَ.</a:t>
            </a:r>
            <a:endParaRPr lang="ar-SA" sz="2000" dirty="0"/>
          </a:p>
        </p:txBody>
      </p:sp>
      <p:sp>
        <p:nvSpPr>
          <p:cNvPr id="34" name="Text 31"/>
          <p:cNvSpPr txBox="1"/>
          <p:nvPr/>
        </p:nvSpPr>
        <p:spPr>
          <a:xfrm>
            <a:off x="566928" y="4110228"/>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35" name="Shape 32"/>
          <p:cNvSpPr/>
          <p:nvPr/>
        </p:nvSpPr>
        <p:spPr>
          <a:xfrm>
            <a:off x="457200" y="4724400"/>
            <a:ext cx="11274552" cy="559308"/>
          </a:xfrm>
          <a:prstGeom prst="roundRect">
            <a:avLst>
              <a:gd name="adj" fmla="val 8174"/>
            </a:avLst>
          </a:prstGeom>
          <a:solidFill>
            <a:srgbClr val="FFFFFF"/>
          </a:solidFill>
          <a:ln w="9525">
            <a:solidFill>
              <a:srgbClr val="D8D0BF"/>
            </a:solidFill>
            <a:prstDash val="solid"/>
          </a:ln>
        </p:spPr>
      </p:sp>
      <p:sp>
        <p:nvSpPr>
          <p:cNvPr id="36" name="Text 33"/>
          <p:cNvSpPr txBox="1"/>
          <p:nvPr/>
        </p:nvSpPr>
        <p:spPr>
          <a:xfrm>
            <a:off x="7790688" y="4724400"/>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her hobby?</a:t>
            </a:r>
            <a:endParaRPr lang="en-US" sz="1100" dirty="0"/>
          </a:p>
        </p:txBody>
      </p:sp>
      <p:sp>
        <p:nvSpPr>
          <p:cNvPr id="37" name="Text 34"/>
          <p:cNvSpPr txBox="1"/>
          <p:nvPr/>
        </p:nvSpPr>
        <p:spPr>
          <a:xfrm>
            <a:off x="1463040" y="4724400"/>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مَا هِوَايَتُهَا؟</a:t>
            </a:r>
            <a:endParaRPr lang="ar-SA" sz="2000" dirty="0"/>
          </a:p>
        </p:txBody>
      </p:sp>
      <p:sp>
        <p:nvSpPr>
          <p:cNvPr id="38" name="Text 35"/>
          <p:cNvSpPr txBox="1"/>
          <p:nvPr/>
        </p:nvSpPr>
        <p:spPr>
          <a:xfrm>
            <a:off x="566928" y="4724400"/>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a:t>
            </a:r>
            <a:endParaRPr lang="en-US" sz="1100" dirty="0"/>
          </a:p>
        </p:txBody>
      </p:sp>
      <p:sp>
        <p:nvSpPr>
          <p:cNvPr id="39" name="Shape 36"/>
          <p:cNvSpPr/>
          <p:nvPr/>
        </p:nvSpPr>
        <p:spPr>
          <a:xfrm>
            <a:off x="457200" y="5338572"/>
            <a:ext cx="11274552" cy="559308"/>
          </a:xfrm>
          <a:prstGeom prst="roundRect">
            <a:avLst>
              <a:gd name="adj" fmla="val 8174"/>
            </a:avLst>
          </a:prstGeom>
          <a:solidFill>
            <a:srgbClr val="F4F1EA"/>
          </a:solidFill>
          <a:ln w="9525">
            <a:solidFill>
              <a:srgbClr val="D8D0BF"/>
            </a:solidFill>
            <a:prstDash val="solid"/>
          </a:ln>
        </p:spPr>
      </p:sp>
      <p:sp>
        <p:nvSpPr>
          <p:cNvPr id="40" name="Text 37"/>
          <p:cNvSpPr txBox="1"/>
          <p:nvPr/>
        </p:nvSpPr>
        <p:spPr>
          <a:xfrm>
            <a:off x="7790688" y="5338572"/>
            <a:ext cx="3867912"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Her hobby is drawing, and she speaks Arabic and French.</a:t>
            </a:r>
            <a:endParaRPr lang="en-US" sz="1100" dirty="0"/>
          </a:p>
        </p:txBody>
      </p:sp>
      <p:sp>
        <p:nvSpPr>
          <p:cNvPr id="41" name="Text 38"/>
          <p:cNvSpPr txBox="1"/>
          <p:nvPr/>
        </p:nvSpPr>
        <p:spPr>
          <a:xfrm>
            <a:off x="1463040" y="5338572"/>
            <a:ext cx="6126480" cy="559308"/>
          </a:xfrm>
          <a:prstGeom prst="rect">
            <a:avLst/>
          </a:prstGeom>
          <a:noFill/>
          <a:ln/>
        </p:spPr>
        <p:txBody>
          <a:bodyPr wrap="square" lIns="0" tIns="0" rIns="0" bIns="0" rtlCol="0" anchor="ctr"/>
          <a:lstStyle/>
          <a:p>
            <a:pPr rtl="1" algn="ctr" indent="0" marL="0">
              <a:buNone/>
            </a:pPr>
            <a:r>
              <a:rPr lang="ar-SA" altLang="en-US" sz="2000" b="1" dirty="0">
                <a:solidFill>
                  <a:srgbClr val="1B3B6F"/>
                </a:solidFill>
                <a:latin typeface="Amiri" pitchFamily="2" charset="-78"/>
                <a:ea typeface="Amiri" pitchFamily="2" charset="-78"/>
                <a:cs typeface="Amiri" pitchFamily="2" charset="-78"/>
              </a:rPr>
              <a:t>هِوَايَتُهَا الرَّسْمُ، وَتَتَكَلَّمُ العَرَبِيَّةَ وَالفَرَنْسِيَّةَ.</a:t>
            </a:r>
            <a:endParaRPr lang="ar-SA" sz="2000" dirty="0"/>
          </a:p>
        </p:txBody>
      </p:sp>
      <p:sp>
        <p:nvSpPr>
          <p:cNvPr id="42" name="Text 39"/>
          <p:cNvSpPr txBox="1"/>
          <p:nvPr/>
        </p:nvSpPr>
        <p:spPr>
          <a:xfrm>
            <a:off x="566928" y="5338572"/>
            <a:ext cx="731520" cy="55930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B</a:t>
            </a:r>
            <a:endParaRPr lang="en-US" sz="1100" dirty="0"/>
          </a:p>
        </p:txBody>
      </p:sp>
      <p:sp>
        <p:nvSpPr>
          <p:cNvPr id="43" name="Text 40"/>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Round 1: read it in pairs. Round 2: swap letters. Round 3: change Reem to a BOY (</a:t>
            </a:r>
            <a:pPr algn="l" indent="0" marL="0">
              <a:buNone/>
            </a:pPr>
            <a:r>
              <a:rPr lang="ar-SA" altLang="en-US" sz="1500" b="1" dirty="0">
                <a:solidFill>
                  <a:srgbClr val="1B3B6F"/>
                </a:solidFill>
                <a:latin typeface="Amiri" pitchFamily="2" charset="-78"/>
                <a:ea typeface="Amiri" pitchFamily="2" charset="-78"/>
                <a:cs typeface="Amiri" pitchFamily="2" charset="-78"/>
              </a:rPr>
              <a:t>اسْمُهُ</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يَسْكُنُ</a:t>
            </a:r>
            <a:pPr algn="l" indent="0" marL="0">
              <a:buNone/>
            </a:pPr>
            <a:r>
              <a:rPr lang="en-US" sz="1150" b="1" dirty="0">
                <a:solidFill>
                  <a:srgbClr val="1B3B6F"/>
                </a:solidFill>
                <a:latin typeface="Calibri" pitchFamily="34" charset="0"/>
                <a:cs typeface="Amiri" pitchFamily="2" charset="-78"/>
              </a:rPr>
              <a:t> · </a:t>
            </a:r>
            <a:pPr algn="l" indent="0" marL="0">
              <a:buNone/>
            </a:pPr>
            <a:r>
              <a:rPr lang="ar-SA" altLang="en-US" sz="1500" b="1" dirty="0">
                <a:solidFill>
                  <a:srgbClr val="1B3B6F"/>
                </a:solidFill>
                <a:latin typeface="Amiri" pitchFamily="2" charset="-78"/>
                <a:ea typeface="Amiri" pitchFamily="2" charset="-78"/>
                <a:cs typeface="Amiri" pitchFamily="2" charset="-78"/>
              </a:rPr>
              <a:t>هِوَايَتُهُ</a:t>
            </a:r>
            <a:pPr algn="l" indent="0" marL="0">
              <a:buNone/>
            </a:pPr>
            <a:r>
              <a:rPr lang="en-US" sz="1150" b="1" dirty="0">
                <a:solidFill>
                  <a:srgbClr val="1B3B6F"/>
                </a:solidFill>
                <a:latin typeface="Calibri" pitchFamily="34" charset="0"/>
                <a:cs typeface="Amiri" pitchFamily="2" charset="-78"/>
              </a:rPr>
              <a:t>) and say it again.</a:t>
            </a:r>
            <a:endParaRPr lang="en-US" sz="115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22</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3 · QUESTION CARDS · THE LEADER ASKS, THE SPEAKER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50" b="1" dirty="0">
                <a:solidFill>
                  <a:srgbClr val="1B3B6F"/>
                </a:solidFill>
                <a:latin typeface="Cambria" pitchFamily="34" charset="0"/>
                <a:cs typeface="Amiri" pitchFamily="2" charset="-78"/>
              </a:rPr>
              <a:t>Answer in a full sentence — then add more</a:t>
            </a:r>
            <a:endParaRPr lang="en-US" sz="22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وَأَجْوِبَةٌ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720072" y="1810512"/>
            <a:ext cx="1938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Add more (Develop · Stretch)</a:t>
            </a:r>
            <a:endParaRPr lang="en-US" sz="1100" dirty="0"/>
          </a:p>
        </p:txBody>
      </p:sp>
      <p:sp>
        <p:nvSpPr>
          <p:cNvPr id="17" name="Text 14"/>
          <p:cNvSpPr txBox="1"/>
          <p:nvPr/>
        </p:nvSpPr>
        <p:spPr>
          <a:xfrm>
            <a:off x="6976872" y="1810512"/>
            <a:ext cx="25968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Start your answer (Core)</a:t>
            </a:r>
            <a:endParaRPr lang="en-US" sz="1100" dirty="0"/>
          </a:p>
        </p:txBody>
      </p:sp>
      <p:sp>
        <p:nvSpPr>
          <p:cNvPr id="18" name="Text 15"/>
          <p:cNvSpPr txBox="1"/>
          <p:nvPr/>
        </p:nvSpPr>
        <p:spPr>
          <a:xfrm>
            <a:off x="4599432"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9" name="Text 16"/>
          <p:cNvSpPr txBox="1"/>
          <p:nvPr/>
        </p:nvSpPr>
        <p:spPr>
          <a:xfrm>
            <a:off x="1033272" y="1810512"/>
            <a:ext cx="3419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asks</a:t>
            </a:r>
            <a:endParaRPr lang="en-US" sz="1100" dirty="0"/>
          </a:p>
        </p:txBody>
      </p:sp>
      <p:sp>
        <p:nvSpPr>
          <p:cNvPr id="20" name="Text 17"/>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1" name="Shape 18"/>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2" name="Text 19"/>
          <p:cNvSpPr txBox="1"/>
          <p:nvPr/>
        </p:nvSpPr>
        <p:spPr>
          <a:xfrm>
            <a:off x="9738360" y="2267712"/>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وَعُمْرُهُ …</a:t>
            </a:r>
            <a:endParaRPr lang="ar-SA" sz="1500" dirty="0"/>
          </a:p>
        </p:txBody>
      </p:sp>
      <p:sp>
        <p:nvSpPr>
          <p:cNvPr id="23" name="Text 20"/>
          <p:cNvSpPr txBox="1"/>
          <p:nvPr/>
        </p:nvSpPr>
        <p:spPr>
          <a:xfrm>
            <a:off x="6995160" y="2267712"/>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 …</a:t>
            </a:r>
            <a:endParaRPr lang="ar-SA" sz="1600" dirty="0"/>
          </a:p>
        </p:txBody>
      </p:sp>
      <p:sp>
        <p:nvSpPr>
          <p:cNvPr id="24" name="Text 21"/>
          <p:cNvSpPr txBox="1"/>
          <p:nvPr/>
        </p:nvSpPr>
        <p:spPr>
          <a:xfrm>
            <a:off x="4636008" y="2267712"/>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friend’s name?</a:t>
            </a:r>
            <a:endParaRPr lang="en-US" sz="1100" dirty="0"/>
          </a:p>
        </p:txBody>
      </p:sp>
      <p:sp>
        <p:nvSpPr>
          <p:cNvPr id="25" name="Text 22"/>
          <p:cNvSpPr txBox="1"/>
          <p:nvPr/>
        </p:nvSpPr>
        <p:spPr>
          <a:xfrm>
            <a:off x="1051560" y="2267712"/>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صَدِيقِكَ؟</a:t>
            </a:r>
            <a:endParaRPr lang="ar-SA" sz="1700" dirty="0"/>
          </a:p>
        </p:txBody>
      </p:sp>
      <p:sp>
        <p:nvSpPr>
          <p:cNvPr id="26" name="Text 23"/>
          <p:cNvSpPr txBox="1"/>
          <p:nvPr/>
        </p:nvSpPr>
        <p:spPr>
          <a:xfrm>
            <a:off x="566928" y="2267712"/>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7" name="Shape 24"/>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8" name="Text 25"/>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9" name="Shape 26"/>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30" name="Text 27"/>
          <p:cNvSpPr txBox="1"/>
          <p:nvPr/>
        </p:nvSpPr>
        <p:spPr>
          <a:xfrm>
            <a:off x="9738360" y="300471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وَهُوَ مِنْ …</a:t>
            </a:r>
            <a:endParaRPr lang="ar-SA" sz="1500" dirty="0"/>
          </a:p>
        </p:txBody>
      </p:sp>
      <p:sp>
        <p:nvSpPr>
          <p:cNvPr id="31" name="Text 28"/>
          <p:cNvSpPr txBox="1"/>
          <p:nvPr/>
        </p:nvSpPr>
        <p:spPr>
          <a:xfrm>
            <a:off x="6995160" y="300471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يَسْكُنُ فِي …</a:t>
            </a:r>
            <a:endParaRPr lang="ar-SA" sz="1600" dirty="0"/>
          </a:p>
        </p:txBody>
      </p:sp>
      <p:sp>
        <p:nvSpPr>
          <p:cNvPr id="32" name="Text 29"/>
          <p:cNvSpPr txBox="1"/>
          <p:nvPr/>
        </p:nvSpPr>
        <p:spPr>
          <a:xfrm>
            <a:off x="4636008" y="300471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Where does he live?</a:t>
            </a:r>
            <a:endParaRPr lang="en-US" sz="1100" dirty="0"/>
          </a:p>
        </p:txBody>
      </p:sp>
      <p:sp>
        <p:nvSpPr>
          <p:cNvPr id="33" name="Text 30"/>
          <p:cNvSpPr txBox="1"/>
          <p:nvPr/>
        </p:nvSpPr>
        <p:spPr>
          <a:xfrm>
            <a:off x="1051560" y="300471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أَيْنَ يَسْكُنُ؟</a:t>
            </a:r>
            <a:endParaRPr lang="ar-SA" sz="1700" dirty="0"/>
          </a:p>
        </p:txBody>
      </p:sp>
      <p:sp>
        <p:nvSpPr>
          <p:cNvPr id="34" name="Text 31"/>
          <p:cNvSpPr txBox="1"/>
          <p:nvPr/>
        </p:nvSpPr>
        <p:spPr>
          <a:xfrm>
            <a:off x="566928" y="300471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5" name="Shape 32"/>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8" name="Text 35"/>
          <p:cNvSpPr txBox="1"/>
          <p:nvPr/>
        </p:nvSpPr>
        <p:spPr>
          <a:xfrm>
            <a:off x="9738360" y="3741725"/>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وَعُمْرُهَا …</a:t>
            </a:r>
            <a:endParaRPr lang="ar-SA" sz="1500" dirty="0"/>
          </a:p>
        </p:txBody>
      </p:sp>
      <p:sp>
        <p:nvSpPr>
          <p:cNvPr id="39" name="Text 36"/>
          <p:cNvSpPr txBox="1"/>
          <p:nvPr/>
        </p:nvSpPr>
        <p:spPr>
          <a:xfrm>
            <a:off x="6995160" y="3741725"/>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اسْمُهَا …</a:t>
            </a:r>
            <a:endParaRPr lang="ar-SA" sz="1600" dirty="0"/>
          </a:p>
        </p:txBody>
      </p:sp>
      <p:sp>
        <p:nvSpPr>
          <p:cNvPr id="40" name="Text 37"/>
          <p:cNvSpPr txBox="1"/>
          <p:nvPr/>
        </p:nvSpPr>
        <p:spPr>
          <a:xfrm>
            <a:off x="4636008" y="3741725"/>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(girl) friend’s name?</a:t>
            </a:r>
            <a:endParaRPr lang="en-US" sz="1100" dirty="0"/>
          </a:p>
        </p:txBody>
      </p:sp>
      <p:sp>
        <p:nvSpPr>
          <p:cNvPr id="41" name="Text 38"/>
          <p:cNvSpPr txBox="1"/>
          <p:nvPr/>
        </p:nvSpPr>
        <p:spPr>
          <a:xfrm>
            <a:off x="1051560" y="3741725"/>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صَدِيقَتِكِ؟</a:t>
            </a:r>
            <a:endParaRPr lang="ar-SA" sz="1700" dirty="0"/>
          </a:p>
        </p:txBody>
      </p:sp>
      <p:sp>
        <p:nvSpPr>
          <p:cNvPr id="42" name="Text 39"/>
          <p:cNvSpPr txBox="1"/>
          <p:nvPr/>
        </p:nvSpPr>
        <p:spPr>
          <a:xfrm>
            <a:off x="566928" y="3741725"/>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43" name="Shape 40"/>
          <p:cNvSpPr/>
          <p:nvPr/>
        </p:nvSpPr>
        <p:spPr>
          <a:xfrm>
            <a:off x="11091672" y="3787445"/>
            <a:ext cx="548640" cy="182880"/>
          </a:xfrm>
          <a:prstGeom prst="roundRect">
            <a:avLst>
              <a:gd name="adj" fmla="val 50000"/>
            </a:avLst>
          </a:prstGeom>
          <a:solidFill>
            <a:srgbClr val="2E8B57"/>
          </a:solidFill>
          <a:ln w="12700">
            <a:solidFill>
              <a:srgbClr val="2E8B57"/>
            </a:solidFill>
            <a:prstDash val="solid"/>
          </a:ln>
        </p:spPr>
      </p:sp>
      <p:sp>
        <p:nvSpPr>
          <p:cNvPr id="44" name="Text 41"/>
          <p:cNvSpPr txBox="1"/>
          <p:nvPr/>
        </p:nvSpPr>
        <p:spPr>
          <a:xfrm>
            <a:off x="11091672" y="3787445"/>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5" name="Shape 42"/>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6" name="Text 43"/>
          <p:cNvSpPr txBox="1"/>
          <p:nvPr/>
        </p:nvSpPr>
        <p:spPr>
          <a:xfrm>
            <a:off x="9738360" y="4478731"/>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وَ… أَيْضًا</a:t>
            </a:r>
            <a:endParaRPr lang="ar-SA" sz="1500" dirty="0"/>
          </a:p>
        </p:txBody>
      </p:sp>
      <p:sp>
        <p:nvSpPr>
          <p:cNvPr id="47" name="Text 44"/>
          <p:cNvSpPr txBox="1"/>
          <p:nvPr/>
        </p:nvSpPr>
        <p:spPr>
          <a:xfrm>
            <a:off x="6995160" y="4478731"/>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تَتَكَلَّمُ …</a:t>
            </a:r>
            <a:endParaRPr lang="ar-SA" sz="1600" dirty="0"/>
          </a:p>
        </p:txBody>
      </p:sp>
      <p:sp>
        <p:nvSpPr>
          <p:cNvPr id="48" name="Text 45"/>
          <p:cNvSpPr txBox="1"/>
          <p:nvPr/>
        </p:nvSpPr>
        <p:spPr>
          <a:xfrm>
            <a:off x="4636008" y="4478731"/>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Which language does your friend (f.) speak?</a:t>
            </a:r>
            <a:endParaRPr lang="en-US" sz="1100" dirty="0"/>
          </a:p>
        </p:txBody>
      </p:sp>
      <p:sp>
        <p:nvSpPr>
          <p:cNvPr id="49" name="Text 46"/>
          <p:cNvSpPr txBox="1"/>
          <p:nvPr/>
        </p:nvSpPr>
        <p:spPr>
          <a:xfrm>
            <a:off x="1051560" y="4478731"/>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أَيَّ لُغَةٍ تَتَكَلَّمُ صَدِيقَتُكِ؟</a:t>
            </a:r>
            <a:endParaRPr lang="ar-SA" sz="1700" dirty="0"/>
          </a:p>
        </p:txBody>
      </p:sp>
      <p:sp>
        <p:nvSpPr>
          <p:cNvPr id="50" name="Text 47"/>
          <p:cNvSpPr txBox="1"/>
          <p:nvPr/>
        </p:nvSpPr>
        <p:spPr>
          <a:xfrm>
            <a:off x="566928" y="4478731"/>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51" name="Shape 48"/>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52" name="Text 49"/>
          <p:cNvSpPr txBox="1"/>
          <p:nvPr/>
        </p:nvSpPr>
        <p:spPr>
          <a:xfrm>
            <a:off x="9738360" y="5215738"/>
            <a:ext cx="1901952" cy="68214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 يُحِبُّ … كَثِيرًا</a:t>
            </a:r>
            <a:endParaRPr lang="ar-SA" sz="1500" dirty="0"/>
          </a:p>
        </p:txBody>
      </p:sp>
      <p:sp>
        <p:nvSpPr>
          <p:cNvPr id="53" name="Text 50"/>
          <p:cNvSpPr txBox="1"/>
          <p:nvPr/>
        </p:nvSpPr>
        <p:spPr>
          <a:xfrm>
            <a:off x="6995160" y="5215738"/>
            <a:ext cx="2560320" cy="682142"/>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هِوَايَتُهُ …</a:t>
            </a:r>
            <a:endParaRPr lang="ar-SA" sz="1600" dirty="0"/>
          </a:p>
        </p:txBody>
      </p:sp>
      <p:sp>
        <p:nvSpPr>
          <p:cNvPr id="54" name="Text 51"/>
          <p:cNvSpPr txBox="1"/>
          <p:nvPr/>
        </p:nvSpPr>
        <p:spPr>
          <a:xfrm>
            <a:off x="4636008" y="5215738"/>
            <a:ext cx="21945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What is your friend’s favourite hobby?</a:t>
            </a:r>
            <a:endParaRPr lang="en-US" sz="1100" dirty="0"/>
          </a:p>
        </p:txBody>
      </p:sp>
      <p:sp>
        <p:nvSpPr>
          <p:cNvPr id="55" name="Text 52"/>
          <p:cNvSpPr txBox="1"/>
          <p:nvPr/>
        </p:nvSpPr>
        <p:spPr>
          <a:xfrm>
            <a:off x="1051560" y="5215738"/>
            <a:ext cx="3383280" cy="682142"/>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هِوَايَةُ صَدِيقِكَ المُفَضَّلَةُ؟</a:t>
            </a:r>
            <a:endParaRPr lang="ar-SA" sz="1700" dirty="0"/>
          </a:p>
        </p:txBody>
      </p:sp>
      <p:sp>
        <p:nvSpPr>
          <p:cNvPr id="56" name="Text 53"/>
          <p:cNvSpPr txBox="1"/>
          <p:nvPr/>
        </p:nvSpPr>
        <p:spPr>
          <a:xfrm>
            <a:off x="566928" y="5215738"/>
            <a:ext cx="32004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5</a:t>
            </a:r>
            <a:endParaRPr lang="en-US" sz="1100" dirty="0"/>
          </a:p>
        </p:txBody>
      </p:sp>
      <p:sp>
        <p:nvSpPr>
          <p:cNvPr id="57" name="Text 54"/>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Each Speaker answers every question. Core: a full sentence from the starter. Develop: add the “more” part. Stretch: add a reason with </a:t>
            </a:r>
            <a:pPr algn="l" indent="0" marL="0">
              <a:buNone/>
            </a:pPr>
            <a:r>
              <a:rPr lang="ar-SA" altLang="en-US" sz="1450" b="1" dirty="0">
                <a:solidFill>
                  <a:srgbClr val="1B3B6F"/>
                </a:solidFill>
                <a:latin typeface="Amiri" pitchFamily="2" charset="-78"/>
                <a:ea typeface="Amiri" pitchFamily="2" charset="-78"/>
                <a:cs typeface="Amiri" pitchFamily="2" charset="-78"/>
              </a:rPr>
              <a:t>لِأَنَّ</a:t>
            </a:r>
            <a:pPr algn="l" indent="0" marL="0">
              <a:buNone/>
            </a:pPr>
            <a:r>
              <a:rPr lang="en-US" sz="1100" b="1" dirty="0">
                <a:solidFill>
                  <a:srgbClr val="1B3B6F"/>
                </a:solidFill>
                <a:latin typeface="Calibri" pitchFamily="34" charset="0"/>
                <a:cs typeface="Amiri" pitchFamily="2" charset="-78"/>
              </a:rPr>
              <a:t> or a second detail. Swap after each question.</a:t>
            </a:r>
            <a:endParaRPr lang="en-US" sz="1100" dirty="0"/>
          </a:p>
        </p:txBody>
      </p:sp>
      <p:sp>
        <p:nvSpPr>
          <p:cNvPr id="58" name="Text 5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22</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7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E6B52"/>
                </a:solidFill>
                <a:latin typeface="Calibri" pitchFamily="34" charset="0"/>
                <a:cs typeface="Amiri" pitchFamily="2" charset="-78"/>
              </a:rPr>
              <a:t>STEP 4 · ROLE-PLAY CARD · USE THE PLAN, THEN HIDE IT AND SPEAK</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1750" b="1" dirty="0">
                <a:solidFill>
                  <a:srgbClr val="1B3B6F"/>
                </a:solidFill>
                <a:latin typeface="Cambria" pitchFamily="34" charset="0"/>
                <a:cs typeface="Amiri" pitchFamily="2" charset="-78"/>
              </a:rPr>
              <a:t>Role-play card — telling the teacher about a new student</a:t>
            </a:r>
            <a:endParaRPr lang="en-US" sz="1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أُخْبِرُ المُعَلِّمَ عَنْ طَالِبٍ جَدِيدٍ</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257032" y="1810512"/>
            <a:ext cx="340156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Plan: first words</a:t>
            </a:r>
            <a:endParaRPr lang="en-US" sz="1100" dirty="0"/>
          </a:p>
        </p:txBody>
      </p:sp>
      <p:sp>
        <p:nvSpPr>
          <p:cNvPr id="17" name="Text 14"/>
          <p:cNvSpPr txBox="1"/>
          <p:nvPr/>
        </p:nvSpPr>
        <p:spPr>
          <a:xfrm>
            <a:off x="4965192" y="1810512"/>
            <a:ext cx="31455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Speaker’s task</a:t>
            </a:r>
            <a:endParaRPr lang="en-US" sz="1100" dirty="0"/>
          </a:p>
        </p:txBody>
      </p:sp>
      <p:sp>
        <p:nvSpPr>
          <p:cNvPr id="18" name="Text 15"/>
          <p:cNvSpPr txBox="1"/>
          <p:nvPr/>
        </p:nvSpPr>
        <p:spPr>
          <a:xfrm>
            <a:off x="1033272" y="1810512"/>
            <a:ext cx="3785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9" name="Text 16"/>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8275320" y="2267712"/>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 اسْمُهُ …</a:t>
            </a:r>
            <a:endParaRPr lang="ar-SA" sz="1600" dirty="0"/>
          </a:p>
        </p:txBody>
      </p:sp>
      <p:sp>
        <p:nvSpPr>
          <p:cNvPr id="22" name="Text 19"/>
          <p:cNvSpPr txBox="1"/>
          <p:nvPr/>
        </p:nvSpPr>
        <p:spPr>
          <a:xfrm>
            <a:off x="5001768" y="2267712"/>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his name.</a:t>
            </a:r>
            <a:endParaRPr lang="en-US" sz="1100" dirty="0"/>
          </a:p>
        </p:txBody>
      </p:sp>
      <p:sp>
        <p:nvSpPr>
          <p:cNvPr id="23" name="Text 20"/>
          <p:cNvSpPr txBox="1"/>
          <p:nvPr/>
        </p:nvSpPr>
        <p:spPr>
          <a:xfrm>
            <a:off x="1051560" y="2267712"/>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 اسْمُ الطَّالِبِ الجَدِيدِ؟</a:t>
            </a:r>
            <a:endParaRPr lang="ar-SA" sz="1700" dirty="0"/>
          </a:p>
        </p:txBody>
      </p:sp>
      <p:sp>
        <p:nvSpPr>
          <p:cNvPr id="24" name="Text 21"/>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8275320" y="3054096"/>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 عُمْرُهُ … سَنَةً</a:t>
            </a:r>
            <a:endParaRPr lang="ar-SA" sz="1600" dirty="0"/>
          </a:p>
        </p:txBody>
      </p:sp>
      <p:sp>
        <p:nvSpPr>
          <p:cNvPr id="29" name="Text 26"/>
          <p:cNvSpPr txBox="1"/>
          <p:nvPr/>
        </p:nvSpPr>
        <p:spPr>
          <a:xfrm>
            <a:off x="5001768" y="3054096"/>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his age.</a:t>
            </a:r>
            <a:endParaRPr lang="en-US" sz="1100" dirty="0"/>
          </a:p>
        </p:txBody>
      </p:sp>
      <p:sp>
        <p:nvSpPr>
          <p:cNvPr id="30" name="Text 27"/>
          <p:cNvSpPr txBox="1"/>
          <p:nvPr/>
        </p:nvSpPr>
        <p:spPr>
          <a:xfrm>
            <a:off x="1051560" y="3054096"/>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كَمْ عُمْرُهُ؟</a:t>
            </a:r>
            <a:endParaRPr lang="ar-SA" sz="1700" dirty="0"/>
          </a:p>
        </p:txBody>
      </p:sp>
      <p:sp>
        <p:nvSpPr>
          <p:cNvPr id="31" name="Text 28"/>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8275320" y="3840480"/>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 هُوَ مِنْ … وَيَسْكُنُ فِي …</a:t>
            </a:r>
            <a:endParaRPr lang="ar-SA" sz="1600" dirty="0"/>
          </a:p>
        </p:txBody>
      </p:sp>
      <p:sp>
        <p:nvSpPr>
          <p:cNvPr id="36" name="Text 33"/>
          <p:cNvSpPr txBox="1"/>
          <p:nvPr/>
        </p:nvSpPr>
        <p:spPr>
          <a:xfrm>
            <a:off x="5001768" y="3840480"/>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where he is from and lives.</a:t>
            </a:r>
            <a:endParaRPr lang="en-US" sz="1100" dirty="0"/>
          </a:p>
        </p:txBody>
      </p:sp>
      <p:sp>
        <p:nvSpPr>
          <p:cNvPr id="37" name="Text 34"/>
          <p:cNvSpPr txBox="1"/>
          <p:nvPr/>
        </p:nvSpPr>
        <p:spPr>
          <a:xfrm>
            <a:off x="1051560" y="3840480"/>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مِنْ أَيْنَ هُوَ؟ وَأَيْنَ يَسْكُنُ؟</a:t>
            </a:r>
            <a:endParaRPr lang="ar-SA" sz="1700" dirty="0"/>
          </a:p>
        </p:txBody>
      </p:sp>
      <p:sp>
        <p:nvSpPr>
          <p:cNvPr id="38" name="Text 35"/>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9" name="Shape 36"/>
          <p:cNvSpPr/>
          <p:nvPr/>
        </p:nvSpPr>
        <p:spPr>
          <a:xfrm>
            <a:off x="11091672" y="3886200"/>
            <a:ext cx="548640" cy="182880"/>
          </a:xfrm>
          <a:prstGeom prst="roundRect">
            <a:avLst>
              <a:gd name="adj" fmla="val 50000"/>
            </a:avLst>
          </a:prstGeom>
          <a:solidFill>
            <a:srgbClr val="2E8B57"/>
          </a:solidFill>
          <a:ln w="12700">
            <a:solidFill>
              <a:srgbClr val="2E8B57"/>
            </a:solidFill>
            <a:prstDash val="solid"/>
          </a:ln>
        </p:spPr>
      </p:sp>
      <p:sp>
        <p:nvSpPr>
          <p:cNvPr id="40" name="Text 37"/>
          <p:cNvSpPr txBox="1"/>
          <p:nvPr/>
        </p:nvSpPr>
        <p:spPr>
          <a:xfrm>
            <a:off x="11091672" y="3886200"/>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1" name="Shape 38"/>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2" name="Text 39"/>
          <p:cNvSpPr txBox="1"/>
          <p:nvPr/>
        </p:nvSpPr>
        <p:spPr>
          <a:xfrm>
            <a:off x="8275320" y="4626864"/>
            <a:ext cx="3364992"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 يُحِبُّ … / هِوَايَتُهُ …</a:t>
            </a:r>
            <a:endParaRPr lang="ar-SA" sz="1600" dirty="0"/>
          </a:p>
        </p:txBody>
      </p:sp>
      <p:sp>
        <p:nvSpPr>
          <p:cNvPr id="43" name="Text 40"/>
          <p:cNvSpPr txBox="1"/>
          <p:nvPr/>
        </p:nvSpPr>
        <p:spPr>
          <a:xfrm>
            <a:off x="5001768" y="4626864"/>
            <a:ext cx="31089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Give his hobby.</a:t>
            </a:r>
            <a:endParaRPr lang="en-US" sz="1100" dirty="0"/>
          </a:p>
        </p:txBody>
      </p:sp>
      <p:sp>
        <p:nvSpPr>
          <p:cNvPr id="44" name="Text 41"/>
          <p:cNvSpPr txBox="1"/>
          <p:nvPr/>
        </p:nvSpPr>
        <p:spPr>
          <a:xfrm>
            <a:off x="1051560" y="4626864"/>
            <a:ext cx="3749040" cy="731520"/>
          </a:xfrm>
          <a:prstGeom prst="rect">
            <a:avLst/>
          </a:prstGeom>
          <a:noFill/>
          <a:ln/>
        </p:spPr>
        <p:txBody>
          <a:bodyPr wrap="square" lIns="0" tIns="0" rIns="0" bIns="0" rtlCol="0" anchor="ctr"/>
          <a:lstStyle/>
          <a:p>
            <a:pPr rtl="1" algn="ctr" indent="0" marL="0">
              <a:buNone/>
            </a:pPr>
            <a:r>
              <a:rPr lang="ar-SA" altLang="en-US" sz="1700" b="1" dirty="0">
                <a:solidFill>
                  <a:srgbClr val="1B3B6F"/>
                </a:solidFill>
                <a:latin typeface="Amiri" pitchFamily="2" charset="-78"/>
                <a:ea typeface="Amiri" pitchFamily="2" charset="-78"/>
                <a:cs typeface="Amiri" pitchFamily="2" charset="-78"/>
              </a:rPr>
              <a:t>مَاذَا يُحِبُّ؟</a:t>
            </a:r>
            <a:endParaRPr lang="ar-SA" sz="1700" dirty="0"/>
          </a:p>
        </p:txBody>
      </p:sp>
      <p:sp>
        <p:nvSpPr>
          <p:cNvPr id="45" name="Text 42"/>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46" name="Shape 43"/>
          <p:cNvSpPr/>
          <p:nvPr/>
        </p:nvSpPr>
        <p:spPr>
          <a:xfrm>
            <a:off x="11091672" y="4672584"/>
            <a:ext cx="548640" cy="182880"/>
          </a:xfrm>
          <a:prstGeom prst="roundRect">
            <a:avLst>
              <a:gd name="adj" fmla="val 50000"/>
            </a:avLst>
          </a:prstGeom>
          <a:solidFill>
            <a:srgbClr val="2E8B57"/>
          </a:solidFill>
          <a:ln w="12700">
            <a:solidFill>
              <a:srgbClr val="2E8B57"/>
            </a:solidFill>
            <a:prstDash val="solid"/>
          </a:ln>
        </p:spPr>
      </p:sp>
      <p:sp>
        <p:nvSpPr>
          <p:cNvPr id="47" name="Text 44"/>
          <p:cNvSpPr txBox="1"/>
          <p:nvPr/>
        </p:nvSpPr>
        <p:spPr>
          <a:xfrm>
            <a:off x="11091672" y="46725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48" name="Text 45"/>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Speaker = a class helper · Leader = the teacher. Read the plan for 1 minute, then hide it and speak. Then swap roles.</a:t>
            </a:r>
            <a:endParaRPr lang="en-US" sz="115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22</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5 · SHORT TALK · 30 SECONDS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30 seconds: my best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صَدِيقِي المُفَضَّلُ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STEP 5 · IN YOUR ROOM</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Talk for 30 seconds — no stopping</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Talk for 30 seconds about your best friend: name, age, where he or she is from and lives, languages and hobby.</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Think for 30 seconds: 3–4 key words, no sentences.</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Speaker talks; the Leader times it.</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Coach: one thing that went well + one thing to improve.</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Swap until everyone has spoken.</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rtl="1" algn="r" indent="0" marL="0">
              <a:buNone/>
            </a:pPr>
            <a:r>
              <a:rPr lang="ar-SA" altLang="en-US" sz="1450" dirty="0">
                <a:solidFill>
                  <a:srgbClr val="1F2A37"/>
                </a:solidFill>
                <a:latin typeface="Amiri" pitchFamily="2" charset="-78"/>
                <a:ea typeface="Amiri" pitchFamily="2" charset="-78"/>
                <a:cs typeface="Amiri" pitchFamily="2" charset="-78"/>
              </a:rPr>
              <a:t>اسْمُهُ / اسْمُهَا … · عُمْرُهُ / عُمْرُهَا …</a:t>
            </a:r>
            <a:endParaRPr lang="ar-SA" sz="14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Add </a:t>
            </a:r>
            <a:pPr algn="l" indent="0" marL="0">
              <a:buNone/>
            </a:pPr>
            <a:r>
              <a:rPr lang="ar-SA" altLang="en-US" sz="1500" dirty="0">
                <a:solidFill>
                  <a:srgbClr val="1F2A37"/>
                </a:solidFill>
                <a:latin typeface="Amiri" pitchFamily="2" charset="-78"/>
                <a:ea typeface="Amiri" pitchFamily="2" charset="-78"/>
                <a:cs typeface="Amiri" pitchFamily="2" charset="-78"/>
              </a:rPr>
              <a:t>يَسْكُنُ / تَسْكُنُ</a:t>
            </a:r>
            <a:pPr algn="l" indent="0" marL="0">
              <a:buNone/>
            </a:pPr>
            <a:r>
              <a:rPr lang="en-US" sz="1150" dirty="0">
                <a:solidFill>
                  <a:srgbClr val="1F2A37"/>
                </a:solidFill>
                <a:latin typeface="Calibri" pitchFamily="34" charset="0"/>
                <a:cs typeface="Amiri" pitchFamily="2" charset="-78"/>
              </a:rPr>
              <a:t> … and </a:t>
            </a:r>
            <a:pPr algn="l" indent="0" marL="0">
              <a:buNone/>
            </a:pPr>
            <a:r>
              <a:rPr lang="ar-SA" altLang="en-US" sz="1500" dirty="0">
                <a:solidFill>
                  <a:srgbClr val="1F2A37"/>
                </a:solidFill>
                <a:latin typeface="Amiri" pitchFamily="2" charset="-78"/>
                <a:ea typeface="Amiri" pitchFamily="2" charset="-78"/>
                <a:cs typeface="Amiri" pitchFamily="2" charset="-78"/>
              </a:rPr>
              <a:t>يَتَكَلَّمُ / تَتَكَلَّمُ</a:t>
            </a:r>
            <a:pPr algn="l" indent="0" marL="0">
              <a:buNone/>
            </a:pPr>
            <a:r>
              <a:rPr lang="en-US" sz="1150" dirty="0">
                <a:solidFill>
                  <a:srgbClr val="1F2A37"/>
                </a:solidFill>
                <a:latin typeface="Calibri" pitchFamily="34" charset="0"/>
                <a:cs typeface="Amiri" pitchFamily="2" charset="-78"/>
              </a:rPr>
              <a:t> …</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Talk about TWO friends: a boy and a girl, with the right endings for each.</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اسْمُهُ … · اسْمُهَا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name … · her name …</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يَسْكُنُ · تَسْكُنُ فِي …</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lives · she lives in …</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هِوَايَتُهُ · هِوَايَتُهَا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his hobby · her hobby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 · هِيَ مِنْ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is from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22</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PART B · STEP 6 · SENTENCE BUILDER · CHOOSE A OR B IN EACH COLUMN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Build three correct sentences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Text 12"/>
          <p:cNvSpPr txBox="1"/>
          <p:nvPr/>
        </p:nvSpPr>
        <p:spPr>
          <a:xfrm>
            <a:off x="9180576"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1 · start here</a:t>
            </a:r>
            <a:endParaRPr lang="en-US" sz="1000" dirty="0"/>
          </a:p>
        </p:txBody>
      </p:sp>
      <p:sp>
        <p:nvSpPr>
          <p:cNvPr id="16" name="Text 13"/>
          <p:cNvSpPr txBox="1"/>
          <p:nvPr/>
        </p:nvSpPr>
        <p:spPr>
          <a:xfrm>
            <a:off x="6624828"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2</a:t>
            </a:r>
            <a:endParaRPr lang="en-US" sz="1000" dirty="0"/>
          </a:p>
        </p:txBody>
      </p:sp>
      <p:sp>
        <p:nvSpPr>
          <p:cNvPr id="17" name="Text 14"/>
          <p:cNvSpPr txBox="1"/>
          <p:nvPr/>
        </p:nvSpPr>
        <p:spPr>
          <a:xfrm>
            <a:off x="4069080" y="1700784"/>
            <a:ext cx="2414016" cy="256032"/>
          </a:xfrm>
          <a:prstGeom prst="rect">
            <a:avLst/>
          </a:prstGeom>
          <a:noFill/>
          <a:ln/>
        </p:spPr>
        <p:txBody>
          <a:bodyPr wrap="square" lIns="0" tIns="0" rIns="0" bIns="0" rtlCol="0" anchor="ctr"/>
          <a:lstStyle/>
          <a:p>
            <a:pPr algn="ctr" indent="0" marL="0">
              <a:buNone/>
            </a:pPr>
            <a:r>
              <a:rPr lang="en-US" sz="1000" b="1" dirty="0">
                <a:solidFill>
                  <a:srgbClr val="2F6FB0"/>
                </a:solidFill>
                <a:latin typeface="Calibri" pitchFamily="34" charset="0"/>
                <a:cs typeface="Amiri" pitchFamily="2" charset="-78"/>
              </a:rPr>
              <a:t>Column 3</a:t>
            </a:r>
            <a:endParaRPr lang="en-US" sz="1000" dirty="0"/>
          </a:p>
        </p:txBody>
      </p:sp>
      <p:sp>
        <p:nvSpPr>
          <p:cNvPr id="18" name="Shape 15"/>
          <p:cNvSpPr/>
          <p:nvPr/>
        </p:nvSpPr>
        <p:spPr>
          <a:xfrm>
            <a:off x="457200" y="2011680"/>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9" name="Shape 16"/>
          <p:cNvSpPr/>
          <p:nvPr/>
        </p:nvSpPr>
        <p:spPr>
          <a:xfrm>
            <a:off x="594360" y="2148840"/>
            <a:ext cx="365760" cy="365760"/>
          </a:xfrm>
          <a:prstGeom prst="ellipse">
            <a:avLst/>
          </a:prstGeom>
          <a:solidFill>
            <a:srgbClr val="2F6FB0"/>
          </a:solidFill>
          <a:ln w="12700">
            <a:solidFill>
              <a:srgbClr val="2F6FB0"/>
            </a:solidFill>
            <a:prstDash val="solid"/>
          </a:ln>
        </p:spPr>
      </p:sp>
      <p:sp>
        <p:nvSpPr>
          <p:cNvPr id="20" name="Text 17"/>
          <p:cNvSpPr txBox="1"/>
          <p:nvPr/>
        </p:nvSpPr>
        <p:spPr>
          <a:xfrm>
            <a:off x="594360" y="214884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21" name="Text 18"/>
          <p:cNvSpPr txBox="1"/>
          <p:nvPr/>
        </p:nvSpPr>
        <p:spPr>
          <a:xfrm>
            <a:off x="1051560" y="2121408"/>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She lives in Leeds.</a:t>
            </a:r>
            <a:endParaRPr lang="en-US" sz="1400" dirty="0"/>
          </a:p>
        </p:txBody>
      </p:sp>
      <p:sp>
        <p:nvSpPr>
          <p:cNvPr id="22" name="Shape 19"/>
          <p:cNvSpPr/>
          <p:nvPr/>
        </p:nvSpPr>
        <p:spPr>
          <a:xfrm>
            <a:off x="9180576" y="2103120"/>
            <a:ext cx="2414016" cy="512064"/>
          </a:xfrm>
          <a:prstGeom prst="roundRect">
            <a:avLst>
              <a:gd name="adj" fmla="val 10714"/>
            </a:avLst>
          </a:prstGeom>
          <a:solidFill>
            <a:srgbClr val="EEF3FA"/>
          </a:solidFill>
          <a:ln w="9525">
            <a:solidFill>
              <a:srgbClr val="C9D6EA"/>
            </a:solidFill>
            <a:prstDash val="solid"/>
          </a:ln>
        </p:spPr>
      </p:sp>
      <p:sp>
        <p:nvSpPr>
          <p:cNvPr id="23" name="Text 20"/>
          <p:cNvSpPr txBox="1"/>
          <p:nvPr/>
        </p:nvSpPr>
        <p:spPr>
          <a:xfrm>
            <a:off x="9235440"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24" name="Text 21"/>
          <p:cNvSpPr txBox="1"/>
          <p:nvPr/>
        </p:nvSpPr>
        <p:spPr>
          <a:xfrm>
            <a:off x="9500616"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هِيَ</a:t>
            </a:r>
            <a:endParaRPr lang="ar-SA" sz="1800" dirty="0"/>
          </a:p>
        </p:txBody>
      </p:sp>
      <p:sp>
        <p:nvSpPr>
          <p:cNvPr id="25" name="Shape 22"/>
          <p:cNvSpPr/>
          <p:nvPr/>
        </p:nvSpPr>
        <p:spPr>
          <a:xfrm>
            <a:off x="9180576" y="2670048"/>
            <a:ext cx="2414016" cy="512064"/>
          </a:xfrm>
          <a:prstGeom prst="roundRect">
            <a:avLst>
              <a:gd name="adj" fmla="val 10714"/>
            </a:avLst>
          </a:prstGeom>
          <a:solidFill>
            <a:srgbClr val="EEF3FA"/>
          </a:solidFill>
          <a:ln w="9525">
            <a:solidFill>
              <a:srgbClr val="C9D6EA"/>
            </a:solidFill>
            <a:prstDash val="solid"/>
          </a:ln>
        </p:spPr>
      </p:sp>
      <p:sp>
        <p:nvSpPr>
          <p:cNvPr id="26" name="Text 23"/>
          <p:cNvSpPr txBox="1"/>
          <p:nvPr/>
        </p:nvSpPr>
        <p:spPr>
          <a:xfrm>
            <a:off x="9235440"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27" name="Text 24"/>
          <p:cNvSpPr txBox="1"/>
          <p:nvPr/>
        </p:nvSpPr>
        <p:spPr>
          <a:xfrm>
            <a:off x="9500616"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a:t>
            </a:r>
            <a:endParaRPr lang="ar-SA" sz="1800" dirty="0"/>
          </a:p>
        </p:txBody>
      </p:sp>
      <p:sp>
        <p:nvSpPr>
          <p:cNvPr id="28" name="Shape 25"/>
          <p:cNvSpPr/>
          <p:nvPr/>
        </p:nvSpPr>
        <p:spPr>
          <a:xfrm>
            <a:off x="6624828" y="2103120"/>
            <a:ext cx="2414016" cy="512064"/>
          </a:xfrm>
          <a:prstGeom prst="roundRect">
            <a:avLst>
              <a:gd name="adj" fmla="val 10714"/>
            </a:avLst>
          </a:prstGeom>
          <a:solidFill>
            <a:srgbClr val="EEF3FA"/>
          </a:solidFill>
          <a:ln w="9525">
            <a:solidFill>
              <a:srgbClr val="C9D6EA"/>
            </a:solidFill>
            <a:prstDash val="solid"/>
          </a:ln>
        </p:spPr>
      </p:sp>
      <p:sp>
        <p:nvSpPr>
          <p:cNvPr id="29" name="Text 26"/>
          <p:cNvSpPr txBox="1"/>
          <p:nvPr/>
        </p:nvSpPr>
        <p:spPr>
          <a:xfrm>
            <a:off x="6679692"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0" name="Text 27"/>
          <p:cNvSpPr txBox="1"/>
          <p:nvPr/>
        </p:nvSpPr>
        <p:spPr>
          <a:xfrm>
            <a:off x="6944868"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تَسْكُنُ</a:t>
            </a:r>
            <a:endParaRPr lang="ar-SA" sz="1800" dirty="0"/>
          </a:p>
        </p:txBody>
      </p:sp>
      <p:sp>
        <p:nvSpPr>
          <p:cNvPr id="31" name="Shape 28"/>
          <p:cNvSpPr/>
          <p:nvPr/>
        </p:nvSpPr>
        <p:spPr>
          <a:xfrm>
            <a:off x="6624828" y="2670048"/>
            <a:ext cx="2414016" cy="512064"/>
          </a:xfrm>
          <a:prstGeom prst="roundRect">
            <a:avLst>
              <a:gd name="adj" fmla="val 10714"/>
            </a:avLst>
          </a:prstGeom>
          <a:solidFill>
            <a:srgbClr val="EEF3FA"/>
          </a:solidFill>
          <a:ln w="9525">
            <a:solidFill>
              <a:srgbClr val="C9D6EA"/>
            </a:solidFill>
            <a:prstDash val="solid"/>
          </a:ln>
        </p:spPr>
      </p:sp>
      <p:sp>
        <p:nvSpPr>
          <p:cNvPr id="32" name="Text 29"/>
          <p:cNvSpPr txBox="1"/>
          <p:nvPr/>
        </p:nvSpPr>
        <p:spPr>
          <a:xfrm>
            <a:off x="6679692"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3" name="Text 30"/>
          <p:cNvSpPr txBox="1"/>
          <p:nvPr/>
        </p:nvSpPr>
        <p:spPr>
          <a:xfrm>
            <a:off x="6944868"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يَسْكُنُ</a:t>
            </a:r>
            <a:endParaRPr lang="ar-SA" sz="1800" dirty="0"/>
          </a:p>
        </p:txBody>
      </p:sp>
      <p:sp>
        <p:nvSpPr>
          <p:cNvPr id="34" name="Shape 31"/>
          <p:cNvSpPr/>
          <p:nvPr/>
        </p:nvSpPr>
        <p:spPr>
          <a:xfrm>
            <a:off x="4069080" y="2103120"/>
            <a:ext cx="2414016" cy="512064"/>
          </a:xfrm>
          <a:prstGeom prst="roundRect">
            <a:avLst>
              <a:gd name="adj" fmla="val 10714"/>
            </a:avLst>
          </a:prstGeom>
          <a:solidFill>
            <a:srgbClr val="EEF3FA"/>
          </a:solidFill>
          <a:ln w="9525">
            <a:solidFill>
              <a:srgbClr val="C9D6EA"/>
            </a:solidFill>
            <a:prstDash val="solid"/>
          </a:ln>
        </p:spPr>
      </p:sp>
      <p:sp>
        <p:nvSpPr>
          <p:cNvPr id="35" name="Text 32"/>
          <p:cNvSpPr txBox="1"/>
          <p:nvPr/>
        </p:nvSpPr>
        <p:spPr>
          <a:xfrm>
            <a:off x="4123944" y="2103120"/>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36" name="Text 33"/>
          <p:cNvSpPr txBox="1"/>
          <p:nvPr/>
        </p:nvSpPr>
        <p:spPr>
          <a:xfrm>
            <a:off x="4389120" y="2103120"/>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فِي لِيدْزَ.</a:t>
            </a:r>
            <a:endParaRPr lang="ar-SA" sz="1800" dirty="0"/>
          </a:p>
        </p:txBody>
      </p:sp>
      <p:sp>
        <p:nvSpPr>
          <p:cNvPr id="37" name="Shape 34"/>
          <p:cNvSpPr/>
          <p:nvPr/>
        </p:nvSpPr>
        <p:spPr>
          <a:xfrm>
            <a:off x="4069080" y="2670048"/>
            <a:ext cx="2414016" cy="512064"/>
          </a:xfrm>
          <a:prstGeom prst="roundRect">
            <a:avLst>
              <a:gd name="adj" fmla="val 10714"/>
            </a:avLst>
          </a:prstGeom>
          <a:solidFill>
            <a:srgbClr val="EEF3FA"/>
          </a:solidFill>
          <a:ln w="9525">
            <a:solidFill>
              <a:srgbClr val="C9D6EA"/>
            </a:solidFill>
            <a:prstDash val="solid"/>
          </a:ln>
        </p:spPr>
      </p:sp>
      <p:sp>
        <p:nvSpPr>
          <p:cNvPr id="38" name="Text 35"/>
          <p:cNvSpPr txBox="1"/>
          <p:nvPr/>
        </p:nvSpPr>
        <p:spPr>
          <a:xfrm>
            <a:off x="4123944" y="267004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39" name="Text 36"/>
          <p:cNvSpPr txBox="1"/>
          <p:nvPr/>
        </p:nvSpPr>
        <p:spPr>
          <a:xfrm>
            <a:off x="4389120" y="267004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مِنْ لِيدْزَ.</a:t>
            </a:r>
            <a:endParaRPr lang="ar-SA" sz="1800" dirty="0"/>
          </a:p>
        </p:txBody>
      </p:sp>
      <p:sp>
        <p:nvSpPr>
          <p:cNvPr id="40" name="Shape 37"/>
          <p:cNvSpPr/>
          <p:nvPr/>
        </p:nvSpPr>
        <p:spPr>
          <a:xfrm>
            <a:off x="457200" y="3392424"/>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594360" y="3529584"/>
            <a:ext cx="365760" cy="365760"/>
          </a:xfrm>
          <a:prstGeom prst="ellipse">
            <a:avLst/>
          </a:prstGeom>
          <a:solidFill>
            <a:srgbClr val="2F6FB0"/>
          </a:solidFill>
          <a:ln w="12700">
            <a:solidFill>
              <a:srgbClr val="2F6FB0"/>
            </a:solidFill>
            <a:prstDash val="solid"/>
          </a:ln>
        </p:spPr>
      </p:sp>
      <p:sp>
        <p:nvSpPr>
          <p:cNvPr id="42" name="Text 39"/>
          <p:cNvSpPr txBox="1"/>
          <p:nvPr/>
        </p:nvSpPr>
        <p:spPr>
          <a:xfrm>
            <a:off x="594360" y="3529584"/>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43" name="Text 40"/>
          <p:cNvSpPr txBox="1"/>
          <p:nvPr/>
        </p:nvSpPr>
        <p:spPr>
          <a:xfrm>
            <a:off x="1051560" y="3502152"/>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His hobby is swimming.</a:t>
            </a:r>
            <a:endParaRPr lang="en-US" sz="1400" dirty="0"/>
          </a:p>
        </p:txBody>
      </p:sp>
      <p:sp>
        <p:nvSpPr>
          <p:cNvPr id="44" name="Shape 41"/>
          <p:cNvSpPr/>
          <p:nvPr/>
        </p:nvSpPr>
        <p:spPr>
          <a:xfrm>
            <a:off x="9180576" y="3483864"/>
            <a:ext cx="2414016" cy="512064"/>
          </a:xfrm>
          <a:prstGeom prst="roundRect">
            <a:avLst>
              <a:gd name="adj" fmla="val 10714"/>
            </a:avLst>
          </a:prstGeom>
          <a:solidFill>
            <a:srgbClr val="EEF3FA"/>
          </a:solidFill>
          <a:ln w="9525">
            <a:solidFill>
              <a:srgbClr val="C9D6EA"/>
            </a:solidFill>
            <a:prstDash val="solid"/>
          </a:ln>
        </p:spPr>
      </p:sp>
      <p:sp>
        <p:nvSpPr>
          <p:cNvPr id="45" name="Text 42"/>
          <p:cNvSpPr txBox="1"/>
          <p:nvPr/>
        </p:nvSpPr>
        <p:spPr>
          <a:xfrm>
            <a:off x="9235440"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46" name="Text 43"/>
          <p:cNvSpPr txBox="1"/>
          <p:nvPr/>
        </p:nvSpPr>
        <p:spPr>
          <a:xfrm>
            <a:off x="9500616"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هِوَايَتُهُ</a:t>
            </a:r>
            <a:endParaRPr lang="ar-SA" sz="1800" dirty="0"/>
          </a:p>
        </p:txBody>
      </p:sp>
      <p:sp>
        <p:nvSpPr>
          <p:cNvPr id="47" name="Shape 44"/>
          <p:cNvSpPr/>
          <p:nvPr/>
        </p:nvSpPr>
        <p:spPr>
          <a:xfrm>
            <a:off x="9180576" y="4050792"/>
            <a:ext cx="2414016" cy="512064"/>
          </a:xfrm>
          <a:prstGeom prst="roundRect">
            <a:avLst>
              <a:gd name="adj" fmla="val 10714"/>
            </a:avLst>
          </a:prstGeom>
          <a:solidFill>
            <a:srgbClr val="EEF3FA"/>
          </a:solidFill>
          <a:ln w="9525">
            <a:solidFill>
              <a:srgbClr val="C9D6EA"/>
            </a:solidFill>
            <a:prstDash val="solid"/>
          </a:ln>
        </p:spPr>
      </p:sp>
      <p:sp>
        <p:nvSpPr>
          <p:cNvPr id="48" name="Text 45"/>
          <p:cNvSpPr txBox="1"/>
          <p:nvPr/>
        </p:nvSpPr>
        <p:spPr>
          <a:xfrm>
            <a:off x="9235440"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49" name="Text 46"/>
          <p:cNvSpPr txBox="1"/>
          <p:nvPr/>
        </p:nvSpPr>
        <p:spPr>
          <a:xfrm>
            <a:off x="9500616"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هِوَايَتُهَا</a:t>
            </a:r>
            <a:endParaRPr lang="ar-SA" sz="1800" dirty="0"/>
          </a:p>
        </p:txBody>
      </p:sp>
      <p:sp>
        <p:nvSpPr>
          <p:cNvPr id="50" name="Shape 47"/>
          <p:cNvSpPr/>
          <p:nvPr/>
        </p:nvSpPr>
        <p:spPr>
          <a:xfrm>
            <a:off x="6624828" y="3483864"/>
            <a:ext cx="2414016" cy="512064"/>
          </a:xfrm>
          <a:prstGeom prst="roundRect">
            <a:avLst>
              <a:gd name="adj" fmla="val 10714"/>
            </a:avLst>
          </a:prstGeom>
          <a:solidFill>
            <a:srgbClr val="EEF3FA"/>
          </a:solidFill>
          <a:ln w="9525">
            <a:solidFill>
              <a:srgbClr val="C9D6EA"/>
            </a:solidFill>
            <a:prstDash val="solid"/>
          </a:ln>
        </p:spPr>
      </p:sp>
      <p:sp>
        <p:nvSpPr>
          <p:cNvPr id="51" name="Text 48"/>
          <p:cNvSpPr txBox="1"/>
          <p:nvPr/>
        </p:nvSpPr>
        <p:spPr>
          <a:xfrm>
            <a:off x="6679692"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2" name="Text 49"/>
          <p:cNvSpPr txBox="1"/>
          <p:nvPr/>
        </p:nvSpPr>
        <p:spPr>
          <a:xfrm>
            <a:off x="6944868" y="3483864"/>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السِّبَاحَةُ</a:t>
            </a:r>
            <a:endParaRPr lang="ar-SA" sz="1800" dirty="0"/>
          </a:p>
        </p:txBody>
      </p:sp>
      <p:sp>
        <p:nvSpPr>
          <p:cNvPr id="53" name="Shape 50"/>
          <p:cNvSpPr/>
          <p:nvPr/>
        </p:nvSpPr>
        <p:spPr>
          <a:xfrm>
            <a:off x="6624828" y="4050792"/>
            <a:ext cx="2414016" cy="512064"/>
          </a:xfrm>
          <a:prstGeom prst="roundRect">
            <a:avLst>
              <a:gd name="adj" fmla="val 10714"/>
            </a:avLst>
          </a:prstGeom>
          <a:solidFill>
            <a:srgbClr val="EEF3FA"/>
          </a:solidFill>
          <a:ln w="9525">
            <a:solidFill>
              <a:srgbClr val="C9D6EA"/>
            </a:solidFill>
            <a:prstDash val="solid"/>
          </a:ln>
        </p:spPr>
      </p:sp>
      <p:sp>
        <p:nvSpPr>
          <p:cNvPr id="54" name="Text 51"/>
          <p:cNvSpPr txBox="1"/>
          <p:nvPr/>
        </p:nvSpPr>
        <p:spPr>
          <a:xfrm>
            <a:off x="6679692"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55" name="Text 52"/>
          <p:cNvSpPr txBox="1"/>
          <p:nvPr/>
        </p:nvSpPr>
        <p:spPr>
          <a:xfrm>
            <a:off x="6944868"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يَسْبَحُ</a:t>
            </a:r>
            <a:endParaRPr lang="ar-SA" sz="1800" dirty="0"/>
          </a:p>
        </p:txBody>
      </p:sp>
      <p:sp>
        <p:nvSpPr>
          <p:cNvPr id="56" name="Shape 53"/>
          <p:cNvSpPr/>
          <p:nvPr/>
        </p:nvSpPr>
        <p:spPr>
          <a:xfrm>
            <a:off x="4069080" y="3483864"/>
            <a:ext cx="2414016" cy="512064"/>
          </a:xfrm>
          <a:prstGeom prst="roundRect">
            <a:avLst>
              <a:gd name="adj" fmla="val 10714"/>
            </a:avLst>
          </a:prstGeom>
          <a:solidFill>
            <a:srgbClr val="EEF3FA"/>
          </a:solidFill>
          <a:ln w="9525">
            <a:solidFill>
              <a:srgbClr val="C9D6EA"/>
            </a:solidFill>
            <a:prstDash val="solid"/>
          </a:ln>
        </p:spPr>
      </p:sp>
      <p:sp>
        <p:nvSpPr>
          <p:cNvPr id="57" name="Text 54"/>
          <p:cNvSpPr txBox="1"/>
          <p:nvPr/>
        </p:nvSpPr>
        <p:spPr>
          <a:xfrm>
            <a:off x="4123944" y="3483864"/>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58" name="Text 55"/>
          <p:cNvSpPr txBox="1"/>
          <p:nvPr/>
        </p:nvSpPr>
        <p:spPr>
          <a:xfrm>
            <a:off x="4389120" y="3483864"/>
            <a:ext cx="2002536" cy="512064"/>
          </a:xfrm>
          <a:prstGeom prst="rect">
            <a:avLst/>
          </a:prstGeom>
          <a:noFill/>
          <a:ln/>
        </p:spPr>
        <p:txBody>
          <a:bodyPr wrap="square" lIns="0" tIns="0" rIns="0" bIns="0" rtlCol="0" anchor="ctr"/>
          <a:lstStyle/>
          <a:p>
            <a:pPr algn="l" indent="0" marL="0">
              <a:buNone/>
            </a:pPr>
            <a:r>
              <a:rPr lang="en-US" sz="1800" dirty="0">
                <a:solidFill>
                  <a:srgbClr val="1F2A37"/>
                </a:solidFill>
                <a:latin typeface="Calibri" pitchFamily="34" charset="0"/>
                <a:cs typeface="Amiri" pitchFamily="2" charset="-78"/>
              </a:rPr>
              <a:t>.</a:t>
            </a:r>
            <a:endParaRPr lang="en-US" sz="1800" dirty="0"/>
          </a:p>
        </p:txBody>
      </p:sp>
      <p:sp>
        <p:nvSpPr>
          <p:cNvPr id="59" name="Shape 56"/>
          <p:cNvSpPr/>
          <p:nvPr/>
        </p:nvSpPr>
        <p:spPr>
          <a:xfrm>
            <a:off x="4069080" y="4050792"/>
            <a:ext cx="2414016" cy="512064"/>
          </a:xfrm>
          <a:prstGeom prst="roundRect">
            <a:avLst>
              <a:gd name="adj" fmla="val 10714"/>
            </a:avLst>
          </a:prstGeom>
          <a:solidFill>
            <a:srgbClr val="EEF3FA"/>
          </a:solidFill>
          <a:ln w="9525">
            <a:solidFill>
              <a:srgbClr val="C9D6EA"/>
            </a:solidFill>
            <a:prstDash val="solid"/>
          </a:ln>
        </p:spPr>
      </p:sp>
      <p:sp>
        <p:nvSpPr>
          <p:cNvPr id="60" name="Text 57"/>
          <p:cNvSpPr txBox="1"/>
          <p:nvPr/>
        </p:nvSpPr>
        <p:spPr>
          <a:xfrm>
            <a:off x="4123944" y="4050792"/>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61" name="Text 58"/>
          <p:cNvSpPr txBox="1"/>
          <p:nvPr/>
        </p:nvSpPr>
        <p:spPr>
          <a:xfrm>
            <a:off x="4389120" y="4050792"/>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أَيْضًا.</a:t>
            </a:r>
            <a:endParaRPr lang="ar-SA" sz="1800" dirty="0"/>
          </a:p>
        </p:txBody>
      </p:sp>
      <p:sp>
        <p:nvSpPr>
          <p:cNvPr id="62" name="Shape 59"/>
          <p:cNvSpPr/>
          <p:nvPr/>
        </p:nvSpPr>
        <p:spPr>
          <a:xfrm>
            <a:off x="457200" y="4773168"/>
            <a:ext cx="11274552" cy="1261872"/>
          </a:xfrm>
          <a:prstGeom prst="roundRect">
            <a:avLst>
              <a:gd name="adj" fmla="val 579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3" name="Shape 60"/>
          <p:cNvSpPr/>
          <p:nvPr/>
        </p:nvSpPr>
        <p:spPr>
          <a:xfrm>
            <a:off x="594360" y="4910328"/>
            <a:ext cx="365760" cy="365760"/>
          </a:xfrm>
          <a:prstGeom prst="ellipse">
            <a:avLst/>
          </a:prstGeom>
          <a:solidFill>
            <a:srgbClr val="2F6FB0"/>
          </a:solidFill>
          <a:ln w="12700">
            <a:solidFill>
              <a:srgbClr val="2F6FB0"/>
            </a:solidFill>
            <a:prstDash val="solid"/>
          </a:ln>
        </p:spPr>
      </p:sp>
      <p:sp>
        <p:nvSpPr>
          <p:cNvPr id="64" name="Text 61"/>
          <p:cNvSpPr txBox="1"/>
          <p:nvPr/>
        </p:nvSpPr>
        <p:spPr>
          <a:xfrm>
            <a:off x="59436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65" name="Text 62"/>
          <p:cNvSpPr txBox="1"/>
          <p:nvPr/>
        </p:nvSpPr>
        <p:spPr>
          <a:xfrm>
            <a:off x="1051560" y="4882896"/>
            <a:ext cx="2834640" cy="1042416"/>
          </a:xfrm>
          <a:prstGeom prst="rect">
            <a:avLst/>
          </a:prstGeom>
          <a:noFill/>
          <a:ln/>
        </p:spPr>
        <p:txBody>
          <a:bodyPr wrap="square" lIns="0" tIns="0" rIns="0" bIns="0" rtlCol="0" anchor="t"/>
          <a:lstStyle/>
          <a:p>
            <a:pPr algn="l" indent="0" marL="0">
              <a:buNone/>
            </a:pPr>
            <a:r>
              <a:rPr lang="en-US" sz="1400" b="1" dirty="0">
                <a:solidFill>
                  <a:srgbClr val="1B3B6F"/>
                </a:solidFill>
                <a:latin typeface="Calibri" pitchFamily="34" charset="0"/>
                <a:cs typeface="Amiri" pitchFamily="2" charset="-78"/>
              </a:rPr>
              <a:t>He speaks Urdu and English.</a:t>
            </a:r>
            <a:endParaRPr lang="en-US" sz="1400" dirty="0"/>
          </a:p>
        </p:txBody>
      </p:sp>
      <p:sp>
        <p:nvSpPr>
          <p:cNvPr id="66" name="Shape 63"/>
          <p:cNvSpPr/>
          <p:nvPr/>
        </p:nvSpPr>
        <p:spPr>
          <a:xfrm>
            <a:off x="9180576" y="4864608"/>
            <a:ext cx="2414016" cy="512064"/>
          </a:xfrm>
          <a:prstGeom prst="roundRect">
            <a:avLst>
              <a:gd name="adj" fmla="val 10714"/>
            </a:avLst>
          </a:prstGeom>
          <a:solidFill>
            <a:srgbClr val="EEF3FA"/>
          </a:solidFill>
          <a:ln w="9525">
            <a:solidFill>
              <a:srgbClr val="C9D6EA"/>
            </a:solidFill>
            <a:prstDash val="solid"/>
          </a:ln>
        </p:spPr>
      </p:sp>
      <p:sp>
        <p:nvSpPr>
          <p:cNvPr id="67" name="Text 64"/>
          <p:cNvSpPr txBox="1"/>
          <p:nvPr/>
        </p:nvSpPr>
        <p:spPr>
          <a:xfrm>
            <a:off x="9235440"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68" name="Text 65"/>
          <p:cNvSpPr txBox="1"/>
          <p:nvPr/>
        </p:nvSpPr>
        <p:spPr>
          <a:xfrm>
            <a:off x="9500616"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يَتَكَلَّمُ</a:t>
            </a:r>
            <a:endParaRPr lang="ar-SA" sz="1800" dirty="0"/>
          </a:p>
        </p:txBody>
      </p:sp>
      <p:sp>
        <p:nvSpPr>
          <p:cNvPr id="69" name="Shape 66"/>
          <p:cNvSpPr/>
          <p:nvPr/>
        </p:nvSpPr>
        <p:spPr>
          <a:xfrm>
            <a:off x="9180576" y="5431536"/>
            <a:ext cx="2414016" cy="512064"/>
          </a:xfrm>
          <a:prstGeom prst="roundRect">
            <a:avLst>
              <a:gd name="adj" fmla="val 10714"/>
            </a:avLst>
          </a:prstGeom>
          <a:solidFill>
            <a:srgbClr val="EEF3FA"/>
          </a:solidFill>
          <a:ln w="9525">
            <a:solidFill>
              <a:srgbClr val="C9D6EA"/>
            </a:solidFill>
            <a:prstDash val="solid"/>
          </a:ln>
        </p:spPr>
      </p:sp>
      <p:sp>
        <p:nvSpPr>
          <p:cNvPr id="70" name="Text 67"/>
          <p:cNvSpPr txBox="1"/>
          <p:nvPr/>
        </p:nvSpPr>
        <p:spPr>
          <a:xfrm>
            <a:off x="9235440"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1" name="Text 68"/>
          <p:cNvSpPr txBox="1"/>
          <p:nvPr/>
        </p:nvSpPr>
        <p:spPr>
          <a:xfrm>
            <a:off x="9500616"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تَتَكَلَّمُ</a:t>
            </a:r>
            <a:endParaRPr lang="ar-SA" sz="1800" dirty="0"/>
          </a:p>
        </p:txBody>
      </p:sp>
      <p:sp>
        <p:nvSpPr>
          <p:cNvPr id="72" name="Shape 69"/>
          <p:cNvSpPr/>
          <p:nvPr/>
        </p:nvSpPr>
        <p:spPr>
          <a:xfrm>
            <a:off x="6624828" y="4864608"/>
            <a:ext cx="2414016" cy="512064"/>
          </a:xfrm>
          <a:prstGeom prst="roundRect">
            <a:avLst>
              <a:gd name="adj" fmla="val 10714"/>
            </a:avLst>
          </a:prstGeom>
          <a:solidFill>
            <a:srgbClr val="EEF3FA"/>
          </a:solidFill>
          <a:ln w="9525">
            <a:solidFill>
              <a:srgbClr val="C9D6EA"/>
            </a:solidFill>
            <a:prstDash val="solid"/>
          </a:ln>
        </p:spPr>
      </p:sp>
      <p:sp>
        <p:nvSpPr>
          <p:cNvPr id="73" name="Text 70"/>
          <p:cNvSpPr txBox="1"/>
          <p:nvPr/>
        </p:nvSpPr>
        <p:spPr>
          <a:xfrm>
            <a:off x="6679692"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74" name="Text 71"/>
          <p:cNvSpPr txBox="1"/>
          <p:nvPr/>
        </p:nvSpPr>
        <p:spPr>
          <a:xfrm>
            <a:off x="6944868"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الأُرْدِيَّةَ</a:t>
            </a:r>
            <a:endParaRPr lang="ar-SA" sz="1800" dirty="0"/>
          </a:p>
        </p:txBody>
      </p:sp>
      <p:sp>
        <p:nvSpPr>
          <p:cNvPr id="75" name="Shape 72"/>
          <p:cNvSpPr/>
          <p:nvPr/>
        </p:nvSpPr>
        <p:spPr>
          <a:xfrm>
            <a:off x="6624828" y="5431536"/>
            <a:ext cx="2414016" cy="512064"/>
          </a:xfrm>
          <a:prstGeom prst="roundRect">
            <a:avLst>
              <a:gd name="adj" fmla="val 10714"/>
            </a:avLst>
          </a:prstGeom>
          <a:solidFill>
            <a:srgbClr val="EEF3FA"/>
          </a:solidFill>
          <a:ln w="9525">
            <a:solidFill>
              <a:srgbClr val="C9D6EA"/>
            </a:solidFill>
            <a:prstDash val="solid"/>
          </a:ln>
        </p:spPr>
      </p:sp>
      <p:sp>
        <p:nvSpPr>
          <p:cNvPr id="76" name="Text 73"/>
          <p:cNvSpPr txBox="1"/>
          <p:nvPr/>
        </p:nvSpPr>
        <p:spPr>
          <a:xfrm>
            <a:off x="6679692"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77" name="Text 74"/>
          <p:cNvSpPr txBox="1"/>
          <p:nvPr/>
        </p:nvSpPr>
        <p:spPr>
          <a:xfrm>
            <a:off x="6944868"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أُرْدِيٌّ</a:t>
            </a:r>
            <a:endParaRPr lang="ar-SA" sz="1800" dirty="0"/>
          </a:p>
        </p:txBody>
      </p:sp>
      <p:sp>
        <p:nvSpPr>
          <p:cNvPr id="78" name="Shape 75"/>
          <p:cNvSpPr/>
          <p:nvPr/>
        </p:nvSpPr>
        <p:spPr>
          <a:xfrm>
            <a:off x="4069080" y="4864608"/>
            <a:ext cx="2414016" cy="512064"/>
          </a:xfrm>
          <a:prstGeom prst="roundRect">
            <a:avLst>
              <a:gd name="adj" fmla="val 10714"/>
            </a:avLst>
          </a:prstGeom>
          <a:solidFill>
            <a:srgbClr val="EEF3FA"/>
          </a:solidFill>
          <a:ln w="9525">
            <a:solidFill>
              <a:srgbClr val="C9D6EA"/>
            </a:solidFill>
            <a:prstDash val="solid"/>
          </a:ln>
        </p:spPr>
      </p:sp>
      <p:sp>
        <p:nvSpPr>
          <p:cNvPr id="79" name="Text 76"/>
          <p:cNvSpPr txBox="1"/>
          <p:nvPr/>
        </p:nvSpPr>
        <p:spPr>
          <a:xfrm>
            <a:off x="4123944" y="4864608"/>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A</a:t>
            </a:r>
            <a:endParaRPr lang="en-US" sz="1000" dirty="0"/>
          </a:p>
        </p:txBody>
      </p:sp>
      <p:sp>
        <p:nvSpPr>
          <p:cNvPr id="80" name="Text 77"/>
          <p:cNvSpPr txBox="1"/>
          <p:nvPr/>
        </p:nvSpPr>
        <p:spPr>
          <a:xfrm>
            <a:off x="4389120" y="4864608"/>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وَالإِنْجِلِيزِيَّةَ.</a:t>
            </a:r>
            <a:endParaRPr lang="ar-SA" sz="1800" dirty="0"/>
          </a:p>
        </p:txBody>
      </p:sp>
      <p:sp>
        <p:nvSpPr>
          <p:cNvPr id="81" name="Shape 78"/>
          <p:cNvSpPr/>
          <p:nvPr/>
        </p:nvSpPr>
        <p:spPr>
          <a:xfrm>
            <a:off x="4069080" y="5431536"/>
            <a:ext cx="2414016" cy="512064"/>
          </a:xfrm>
          <a:prstGeom prst="roundRect">
            <a:avLst>
              <a:gd name="adj" fmla="val 10714"/>
            </a:avLst>
          </a:prstGeom>
          <a:solidFill>
            <a:srgbClr val="EEF3FA"/>
          </a:solidFill>
          <a:ln w="9525">
            <a:solidFill>
              <a:srgbClr val="C9D6EA"/>
            </a:solidFill>
            <a:prstDash val="solid"/>
          </a:ln>
        </p:spPr>
      </p:sp>
      <p:sp>
        <p:nvSpPr>
          <p:cNvPr id="82" name="Text 79"/>
          <p:cNvSpPr txBox="1"/>
          <p:nvPr/>
        </p:nvSpPr>
        <p:spPr>
          <a:xfrm>
            <a:off x="4123944" y="5431536"/>
            <a:ext cx="274320" cy="512064"/>
          </a:xfrm>
          <a:prstGeom prst="rect">
            <a:avLst/>
          </a:prstGeom>
          <a:noFill/>
          <a:ln/>
        </p:spPr>
        <p:txBody>
          <a:bodyPr wrap="square" lIns="0" tIns="0" rIns="0" bIns="0" rtlCol="0" anchor="ctr"/>
          <a:lstStyle/>
          <a:p>
            <a:pPr algn="l" indent="0" marL="0">
              <a:buNone/>
            </a:pPr>
            <a:r>
              <a:rPr lang="en-US" sz="1000" b="1" dirty="0">
                <a:solidFill>
                  <a:srgbClr val="2F6FB0"/>
                </a:solidFill>
                <a:latin typeface="Calibri" pitchFamily="34" charset="0"/>
                <a:cs typeface="Amiri" pitchFamily="2" charset="-78"/>
              </a:rPr>
              <a:t>B</a:t>
            </a:r>
            <a:endParaRPr lang="en-US" sz="1000" dirty="0"/>
          </a:p>
        </p:txBody>
      </p:sp>
      <p:sp>
        <p:nvSpPr>
          <p:cNvPr id="83" name="Text 80"/>
          <p:cNvSpPr txBox="1"/>
          <p:nvPr/>
        </p:nvSpPr>
        <p:spPr>
          <a:xfrm>
            <a:off x="4389120" y="5431536"/>
            <a:ext cx="2002536" cy="512064"/>
          </a:xfrm>
          <a:prstGeom prst="rect">
            <a:avLst/>
          </a:prstGeom>
          <a:noFill/>
          <a:ln/>
        </p:spPr>
        <p:txBody>
          <a:bodyPr wrap="square" lIns="0" tIns="0" rIns="0" bIns="0" rtlCol="0" anchor="ctr"/>
          <a:lstStyle/>
          <a:p>
            <a:pPr rtl="1" algn="r" indent="0" marL="0">
              <a:buNone/>
            </a:pPr>
            <a:r>
              <a:rPr lang="ar-SA" altLang="en-US" sz="1800" dirty="0">
                <a:solidFill>
                  <a:srgbClr val="1F2A37"/>
                </a:solidFill>
                <a:latin typeface="Amiri" pitchFamily="2" charset="-78"/>
                <a:ea typeface="Amiri" pitchFamily="2" charset="-78"/>
                <a:cs typeface="Amiri" pitchFamily="2" charset="-78"/>
              </a:rPr>
              <a:t>وَإِنْجِلْتِرَا.</a:t>
            </a:r>
            <a:endParaRPr lang="ar-SA" sz="180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22</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6 · CHECK YOUR SENTENCES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builder: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ابْنِ الجُمْلَةَ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47672"/>
            <a:ext cx="365760" cy="365760"/>
          </a:xfrm>
          <a:prstGeom prst="ellipse">
            <a:avLst/>
          </a:prstGeom>
          <a:solidFill>
            <a:srgbClr val="2E8B57"/>
          </a:solidFill>
          <a:ln w="12700">
            <a:solidFill>
              <a:srgbClr val="2E8B57"/>
            </a:solidFill>
            <a:prstDash val="solid"/>
          </a:ln>
        </p:spPr>
      </p:sp>
      <p:sp>
        <p:nvSpPr>
          <p:cNvPr id="17" name="Text 14"/>
          <p:cNvSpPr txBox="1"/>
          <p:nvPr/>
        </p:nvSpPr>
        <p:spPr>
          <a:xfrm>
            <a:off x="640080" y="1947672"/>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Text 15"/>
          <p:cNvSpPr txBox="1"/>
          <p:nvPr/>
        </p:nvSpPr>
        <p:spPr>
          <a:xfrm>
            <a:off x="1143000" y="1901952"/>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She lives in Leeds.</a:t>
            </a:r>
            <a:endParaRPr lang="en-US" sz="1300" dirty="0"/>
          </a:p>
        </p:txBody>
      </p:sp>
      <p:sp>
        <p:nvSpPr>
          <p:cNvPr id="19" name="Text 16"/>
          <p:cNvSpPr txBox="1"/>
          <p:nvPr/>
        </p:nvSpPr>
        <p:spPr>
          <a:xfrm>
            <a:off x="1143000" y="2359152"/>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0" name="Text 17"/>
          <p:cNvSpPr txBox="1"/>
          <p:nvPr/>
        </p:nvSpPr>
        <p:spPr>
          <a:xfrm>
            <a:off x="1143000" y="2633472"/>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She → </a:t>
            </a:r>
            <a:pPr algn="l" indent="0" marL="0">
              <a:buNone/>
            </a:pPr>
            <a:r>
              <a:rPr lang="ar-SA" altLang="en-US" sz="1350" dirty="0">
                <a:solidFill>
                  <a:srgbClr val="5A6472"/>
                </a:solidFill>
                <a:latin typeface="Amiri" pitchFamily="2" charset="-78"/>
                <a:ea typeface="Amiri" pitchFamily="2" charset="-78"/>
                <a:cs typeface="Amiri" pitchFamily="2" charset="-78"/>
              </a:rPr>
              <a:t>هِيَ تَسْكُنُ</a:t>
            </a:r>
            <a:pPr algn="l" indent="0" marL="0">
              <a:buNone/>
            </a:pPr>
            <a:r>
              <a:rPr lang="en-US" sz="1050" i="1" dirty="0">
                <a:solidFill>
                  <a:srgbClr val="5A6472"/>
                </a:solidFill>
                <a:latin typeface="Calibri" pitchFamily="34" charset="0"/>
                <a:cs typeface="Amiri" pitchFamily="2" charset="-78"/>
              </a:rPr>
              <a:t> (ta-); in = </a:t>
            </a:r>
            <a:pPr algn="l" indent="0" marL="0">
              <a:buNone/>
            </a:pPr>
            <a:r>
              <a:rPr lang="ar-SA" altLang="en-US" sz="1350" dirty="0">
                <a:solidFill>
                  <a:srgbClr val="5A6472"/>
                </a:solidFill>
                <a:latin typeface="Amiri" pitchFamily="2" charset="-78"/>
                <a:ea typeface="Amiri" pitchFamily="2" charset="-78"/>
                <a:cs typeface="Amiri" pitchFamily="2" charset="-78"/>
              </a:rPr>
              <a:t>فِي</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1" name="Text 18"/>
          <p:cNvSpPr txBox="1"/>
          <p:nvPr/>
        </p:nvSpPr>
        <p:spPr>
          <a:xfrm>
            <a:off x="4572000" y="1901952"/>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هِيَ تَسْكُنُ فِي لِيدْزَ.</a:t>
            </a:r>
            <a:endParaRPr lang="ar-SA" sz="2800" dirty="0"/>
          </a:p>
        </p:txBody>
      </p:sp>
      <p:sp>
        <p:nvSpPr>
          <p:cNvPr id="22" name="Shape 19"/>
          <p:cNvSpPr/>
          <p:nvPr/>
        </p:nvSpPr>
        <p:spPr>
          <a:xfrm>
            <a:off x="457200" y="3291840"/>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640080" y="3429000"/>
            <a:ext cx="365760" cy="365760"/>
          </a:xfrm>
          <a:prstGeom prst="ellipse">
            <a:avLst/>
          </a:prstGeom>
          <a:solidFill>
            <a:srgbClr val="2E8B57"/>
          </a:solidFill>
          <a:ln w="12700">
            <a:solidFill>
              <a:srgbClr val="2E8B57"/>
            </a:solidFill>
            <a:prstDash val="solid"/>
          </a:ln>
        </p:spPr>
      </p:sp>
      <p:sp>
        <p:nvSpPr>
          <p:cNvPr id="24" name="Text 21"/>
          <p:cNvSpPr txBox="1"/>
          <p:nvPr/>
        </p:nvSpPr>
        <p:spPr>
          <a:xfrm>
            <a:off x="640080" y="3429000"/>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5" name="Text 22"/>
          <p:cNvSpPr txBox="1"/>
          <p:nvPr/>
        </p:nvSpPr>
        <p:spPr>
          <a:xfrm>
            <a:off x="1143000" y="3383280"/>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His hobby is swimming.</a:t>
            </a:r>
            <a:endParaRPr lang="en-US" sz="1300" dirty="0"/>
          </a:p>
        </p:txBody>
      </p:sp>
      <p:sp>
        <p:nvSpPr>
          <p:cNvPr id="26" name="Text 23"/>
          <p:cNvSpPr txBox="1"/>
          <p:nvPr/>
        </p:nvSpPr>
        <p:spPr>
          <a:xfrm>
            <a:off x="1143000" y="3840480"/>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27" name="Text 24"/>
          <p:cNvSpPr txBox="1"/>
          <p:nvPr/>
        </p:nvSpPr>
        <p:spPr>
          <a:xfrm>
            <a:off x="1143000" y="4114800"/>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-hu; the hobby is a noun: </a:t>
            </a:r>
            <a:pPr algn="l" indent="0" marL="0">
              <a:buNone/>
            </a:pPr>
            <a:r>
              <a:rPr lang="ar-SA" altLang="en-US" sz="1350" dirty="0">
                <a:solidFill>
                  <a:srgbClr val="5A6472"/>
                </a:solidFill>
                <a:latin typeface="Amiri" pitchFamily="2" charset="-78"/>
                <a:ea typeface="Amiri" pitchFamily="2" charset="-78"/>
                <a:cs typeface="Amiri" pitchFamily="2" charset="-78"/>
              </a:rPr>
              <a:t>السِّبَاحَةُ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28" name="Text 25"/>
          <p:cNvSpPr txBox="1"/>
          <p:nvPr/>
        </p:nvSpPr>
        <p:spPr>
          <a:xfrm>
            <a:off x="4572000" y="3383280"/>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هِوَايَتُهُ السِّبَاحَةُ .</a:t>
            </a:r>
            <a:endParaRPr lang="ar-SA" sz="2800" dirty="0"/>
          </a:p>
        </p:txBody>
      </p:sp>
      <p:sp>
        <p:nvSpPr>
          <p:cNvPr id="29" name="Shape 26"/>
          <p:cNvSpPr/>
          <p:nvPr/>
        </p:nvSpPr>
        <p:spPr>
          <a:xfrm>
            <a:off x="457200" y="4773168"/>
            <a:ext cx="11274552" cy="1353312"/>
          </a:xfrm>
          <a:prstGeom prst="roundRect">
            <a:avLst>
              <a:gd name="adj" fmla="val 5405"/>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640080" y="4910328"/>
            <a:ext cx="365760" cy="365760"/>
          </a:xfrm>
          <a:prstGeom prst="ellipse">
            <a:avLst/>
          </a:prstGeom>
          <a:solidFill>
            <a:srgbClr val="2E8B57"/>
          </a:solidFill>
          <a:ln w="12700">
            <a:solidFill>
              <a:srgbClr val="2E8B57"/>
            </a:solidFill>
            <a:prstDash val="solid"/>
          </a:ln>
        </p:spPr>
      </p:sp>
      <p:sp>
        <p:nvSpPr>
          <p:cNvPr id="31" name="Text 28"/>
          <p:cNvSpPr txBox="1"/>
          <p:nvPr/>
        </p:nvSpPr>
        <p:spPr>
          <a:xfrm>
            <a:off x="640080" y="49103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2" name="Text 29"/>
          <p:cNvSpPr txBox="1"/>
          <p:nvPr/>
        </p:nvSpPr>
        <p:spPr>
          <a:xfrm>
            <a:off x="1143000" y="4864608"/>
            <a:ext cx="3291840" cy="457200"/>
          </a:xfrm>
          <a:prstGeom prst="rect">
            <a:avLst/>
          </a:prstGeom>
          <a:noFill/>
          <a:ln/>
        </p:spPr>
        <p:txBody>
          <a:bodyPr wrap="square" lIns="0" tIns="0" rIns="0" bIns="0" rtlCol="0" anchor="ctr"/>
          <a:lstStyle/>
          <a:p>
            <a:pPr algn="l" indent="0" marL="0">
              <a:buNone/>
            </a:pPr>
            <a:r>
              <a:rPr lang="en-US" sz="1300" b="1" dirty="0">
                <a:solidFill>
                  <a:srgbClr val="1B3B6F"/>
                </a:solidFill>
                <a:latin typeface="Calibri" pitchFamily="34" charset="0"/>
                <a:cs typeface="Amiri" pitchFamily="2" charset="-78"/>
              </a:rPr>
              <a:t>He speaks Urdu and English.</a:t>
            </a:r>
            <a:endParaRPr lang="en-US" sz="1300" dirty="0"/>
          </a:p>
        </p:txBody>
      </p:sp>
      <p:sp>
        <p:nvSpPr>
          <p:cNvPr id="33" name="Text 30"/>
          <p:cNvSpPr txBox="1"/>
          <p:nvPr/>
        </p:nvSpPr>
        <p:spPr>
          <a:xfrm>
            <a:off x="1143000" y="5321808"/>
            <a:ext cx="3291840" cy="256032"/>
          </a:xfrm>
          <a:prstGeom prst="rect">
            <a:avLst/>
          </a:prstGeom>
          <a:noFill/>
          <a:ln/>
        </p:spPr>
        <p:txBody>
          <a:bodyPr wrap="square" lIns="0" tIns="0" rIns="0" bIns="0" rtlCol="0" anchor="ctr"/>
          <a:lstStyle/>
          <a:p>
            <a:pPr algn="l" indent="0" marL="0">
              <a:buNone/>
            </a:pPr>
            <a:r>
              <a:rPr lang="en-US" sz="1050" b="1" dirty="0">
                <a:solidFill>
                  <a:srgbClr val="1E6B52"/>
                </a:solidFill>
                <a:latin typeface="Calibri" pitchFamily="34" charset="0"/>
                <a:cs typeface="Amiri" pitchFamily="2" charset="-78"/>
              </a:rPr>
              <a:t>Columns = A · A · A</a:t>
            </a:r>
            <a:endParaRPr lang="en-US" sz="1050" dirty="0"/>
          </a:p>
        </p:txBody>
      </p:sp>
      <p:sp>
        <p:nvSpPr>
          <p:cNvPr id="34" name="Text 31"/>
          <p:cNvSpPr txBox="1"/>
          <p:nvPr/>
        </p:nvSpPr>
        <p:spPr>
          <a:xfrm>
            <a:off x="1143000" y="5596128"/>
            <a:ext cx="3291840" cy="43891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ya-; languages = </a:t>
            </a:r>
            <a:pPr algn="l" indent="0" marL="0">
              <a:buNone/>
            </a:pPr>
            <a:r>
              <a:rPr lang="ar-SA" altLang="en-US" sz="1350" dirty="0">
                <a:solidFill>
                  <a:srgbClr val="5A6472"/>
                </a:solidFill>
                <a:latin typeface="Amiri" pitchFamily="2" charset="-78"/>
                <a:ea typeface="Amiri" pitchFamily="2" charset="-78"/>
                <a:cs typeface="Amiri" pitchFamily="2" charset="-78"/>
              </a:rPr>
              <a:t>الأُرْدِيَّةَ</a:t>
            </a:r>
            <a:pPr algn="l" indent="0" marL="0">
              <a:buNone/>
            </a:pPr>
            <a:r>
              <a:rPr lang="en-US" sz="1050" i="1" dirty="0">
                <a:solidFill>
                  <a:srgbClr val="5A6472"/>
                </a:solidFill>
                <a:latin typeface="Calibri" pitchFamily="34" charset="0"/>
                <a:cs typeface="Amiri" pitchFamily="2" charset="-78"/>
              </a:rPr>
              <a:t> · </a:t>
            </a:r>
            <a:pPr algn="l" indent="0" marL="0">
              <a:buNone/>
            </a:pPr>
            <a:r>
              <a:rPr lang="ar-SA" altLang="en-US" sz="1350" dirty="0">
                <a:solidFill>
                  <a:srgbClr val="5A6472"/>
                </a:solidFill>
                <a:latin typeface="Amiri" pitchFamily="2" charset="-78"/>
                <a:ea typeface="Amiri" pitchFamily="2" charset="-78"/>
                <a:cs typeface="Amiri" pitchFamily="2" charset="-78"/>
              </a:rPr>
              <a:t>الإِنْجِلِيزِيَّةَ</a:t>
            </a:r>
            <a:pPr algn="l" indent="0" marL="0">
              <a:buNone/>
            </a:pPr>
            <a:r>
              <a:rPr lang="en-US" sz="1050" i="1" dirty="0">
                <a:solidFill>
                  <a:srgbClr val="5A6472"/>
                </a:solidFill>
                <a:latin typeface="Calibri" pitchFamily="34" charset="0"/>
                <a:cs typeface="Amiri" pitchFamily="2" charset="-78"/>
              </a:rPr>
              <a:t>.</a:t>
            </a:r>
            <a:endParaRPr lang="en-US" sz="1050" dirty="0"/>
          </a:p>
        </p:txBody>
      </p:sp>
      <p:sp>
        <p:nvSpPr>
          <p:cNvPr id="35" name="Text 32"/>
          <p:cNvSpPr txBox="1"/>
          <p:nvPr/>
        </p:nvSpPr>
        <p:spPr>
          <a:xfrm>
            <a:off x="4572000" y="4864608"/>
            <a:ext cx="6949440" cy="1170432"/>
          </a:xfrm>
          <a:prstGeom prst="rect">
            <a:avLst/>
          </a:prstGeom>
          <a:noFill/>
          <a:ln/>
        </p:spPr>
        <p:txBody>
          <a:bodyPr wrap="square" lIns="0" tIns="0" rIns="0" bIns="0" rtlCol="0" anchor="ctr"/>
          <a:lstStyle/>
          <a:p>
            <a:pPr rtl="1" algn="r" indent="0" marL="0">
              <a:buNone/>
            </a:pPr>
            <a:r>
              <a:rPr lang="ar-SA" altLang="en-US" sz="2800" b="1" dirty="0">
                <a:solidFill>
                  <a:srgbClr val="1B3B6F"/>
                </a:solidFill>
                <a:latin typeface="Amiri" pitchFamily="2" charset="-78"/>
                <a:ea typeface="Amiri" pitchFamily="2" charset="-78"/>
                <a:cs typeface="Amiri" pitchFamily="2" charset="-78"/>
              </a:rPr>
              <a:t>يَتَكَلَّمُ الأُرْدِيَّةَ وَالإِنْجِلِيزِيَّةَ.</a:t>
            </a:r>
            <a:endParaRPr lang="ar-SA" sz="28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22</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STEP 7 · SPOT AND FIX · MISTAKES STUDENTS OFTEN MAKE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mistake, fix it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183112" y="2249424"/>
            <a:ext cx="402336" cy="402336"/>
          </a:xfrm>
          <a:prstGeom prst="ellipse">
            <a:avLst/>
          </a:prstGeom>
          <a:solidFill>
            <a:srgbClr val="B83227"/>
          </a:solidFill>
          <a:ln w="12700">
            <a:solidFill>
              <a:srgbClr val="B83227"/>
            </a:solidFill>
            <a:prstDash val="solid"/>
          </a:ln>
        </p:spPr>
      </p:sp>
      <p:sp>
        <p:nvSpPr>
          <p:cNvPr id="17" name="Text 14"/>
          <p:cNvSpPr txBox="1"/>
          <p:nvPr/>
        </p:nvSpPr>
        <p:spPr>
          <a:xfrm>
            <a:off x="11183112" y="2249424"/>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1</a:t>
            </a:r>
            <a:endParaRPr lang="en-US" sz="1300" dirty="0"/>
          </a:p>
        </p:txBody>
      </p:sp>
      <p:sp>
        <p:nvSpPr>
          <p:cNvPr id="18" name="Text 15"/>
          <p:cNvSpPr txBox="1"/>
          <p:nvPr/>
        </p:nvSpPr>
        <p:spPr>
          <a:xfrm>
            <a:off x="4023360" y="1901952"/>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مَرْيَمُ يَسْكُنُ فِي لَنْدَنَ.</a:t>
            </a:r>
            <a:endParaRPr lang="ar-SA" sz="3000" dirty="0"/>
          </a:p>
        </p:txBody>
      </p:sp>
      <p:sp>
        <p:nvSpPr>
          <p:cNvPr id="19" name="Text 16"/>
          <p:cNvSpPr txBox="1"/>
          <p:nvPr/>
        </p:nvSpPr>
        <p:spPr>
          <a:xfrm>
            <a:off x="731520" y="1901952"/>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Maryam is a she.</a:t>
            </a:r>
            <a:endParaRPr lang="en-US" sz="1300" dirty="0"/>
          </a:p>
        </p:txBody>
      </p:sp>
      <p:sp>
        <p:nvSpPr>
          <p:cNvPr id="20" name="Shape 17"/>
          <p:cNvSpPr/>
          <p:nvPr/>
        </p:nvSpPr>
        <p:spPr>
          <a:xfrm>
            <a:off x="457200" y="3255264"/>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11183112" y="3694176"/>
            <a:ext cx="402336" cy="402336"/>
          </a:xfrm>
          <a:prstGeom prst="ellipse">
            <a:avLst/>
          </a:prstGeom>
          <a:solidFill>
            <a:srgbClr val="B83227"/>
          </a:solidFill>
          <a:ln w="12700">
            <a:solidFill>
              <a:srgbClr val="B83227"/>
            </a:solidFill>
            <a:prstDash val="solid"/>
          </a:ln>
        </p:spPr>
      </p:sp>
      <p:sp>
        <p:nvSpPr>
          <p:cNvPr id="22" name="Text 19"/>
          <p:cNvSpPr txBox="1"/>
          <p:nvPr/>
        </p:nvSpPr>
        <p:spPr>
          <a:xfrm>
            <a:off x="11183112" y="3694176"/>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2</a:t>
            </a:r>
            <a:endParaRPr lang="en-US" sz="1300" dirty="0"/>
          </a:p>
        </p:txBody>
      </p:sp>
      <p:sp>
        <p:nvSpPr>
          <p:cNvPr id="23" name="Text 20"/>
          <p:cNvSpPr txBox="1"/>
          <p:nvPr/>
        </p:nvSpPr>
        <p:spPr>
          <a:xfrm>
            <a:off x="4023360" y="3346704"/>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عُمَرُ اسْمُهَا عُمَرُ.</a:t>
            </a:r>
            <a:endParaRPr lang="ar-SA" sz="3000" dirty="0"/>
          </a:p>
        </p:txBody>
      </p:sp>
      <p:sp>
        <p:nvSpPr>
          <p:cNvPr id="24" name="Text 21"/>
          <p:cNvSpPr txBox="1"/>
          <p:nvPr/>
        </p:nvSpPr>
        <p:spPr>
          <a:xfrm>
            <a:off x="731520" y="3346704"/>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Whose name?</a:t>
            </a:r>
            <a:endParaRPr lang="en-US" sz="1300" dirty="0"/>
          </a:p>
        </p:txBody>
      </p:sp>
      <p:sp>
        <p:nvSpPr>
          <p:cNvPr id="25" name="Shape 22"/>
          <p:cNvSpPr/>
          <p:nvPr/>
        </p:nvSpPr>
        <p:spPr>
          <a:xfrm>
            <a:off x="457200" y="4700016"/>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11183112" y="5138928"/>
            <a:ext cx="402336" cy="402336"/>
          </a:xfrm>
          <a:prstGeom prst="ellipse">
            <a:avLst/>
          </a:prstGeom>
          <a:solidFill>
            <a:srgbClr val="B83227"/>
          </a:solidFill>
          <a:ln w="12700">
            <a:solidFill>
              <a:srgbClr val="B83227"/>
            </a:solidFill>
            <a:prstDash val="solid"/>
          </a:ln>
        </p:spPr>
      </p:sp>
      <p:sp>
        <p:nvSpPr>
          <p:cNvPr id="27" name="Text 24"/>
          <p:cNvSpPr txBox="1"/>
          <p:nvPr/>
        </p:nvSpPr>
        <p:spPr>
          <a:xfrm>
            <a:off x="11183112" y="5138928"/>
            <a:ext cx="402336" cy="402336"/>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cs typeface="Amiri" pitchFamily="2" charset="-78"/>
              </a:rPr>
              <a:t>3</a:t>
            </a:r>
            <a:endParaRPr lang="en-US" sz="1300" dirty="0"/>
          </a:p>
        </p:txBody>
      </p:sp>
      <p:sp>
        <p:nvSpPr>
          <p:cNvPr id="28" name="Text 25"/>
          <p:cNvSpPr txBox="1"/>
          <p:nvPr/>
        </p:nvSpPr>
        <p:spPr>
          <a:xfrm>
            <a:off x="4023360" y="4791456"/>
            <a:ext cx="6976872" cy="1097280"/>
          </a:xfrm>
          <a:prstGeom prst="rect">
            <a:avLst/>
          </a:prstGeom>
          <a:noFill/>
          <a:ln/>
        </p:spPr>
        <p:txBody>
          <a:bodyPr wrap="square" lIns="0" tIns="0" rIns="0" bIns="0" rtlCol="0" anchor="ctr"/>
          <a:lstStyle/>
          <a:p>
            <a:pPr rtl="1" algn="r" indent="0" marL="0">
              <a:buNone/>
            </a:pPr>
            <a:r>
              <a:rPr lang="ar-SA" altLang="en-US" sz="3000" b="1" dirty="0">
                <a:solidFill>
                  <a:srgbClr val="B83227"/>
                </a:solidFill>
                <a:latin typeface="Amiri" pitchFamily="2" charset="-78"/>
                <a:ea typeface="Amiri" pitchFamily="2" charset="-78"/>
                <a:cs typeface="Amiri" pitchFamily="2" charset="-78"/>
              </a:rPr>
              <a:t>هِوَايَتُهَا يَرْسُمُ.</a:t>
            </a:r>
            <a:endParaRPr lang="ar-SA" sz="3000" dirty="0"/>
          </a:p>
        </p:txBody>
      </p:sp>
      <p:sp>
        <p:nvSpPr>
          <p:cNvPr id="29" name="Text 26"/>
          <p:cNvSpPr txBox="1"/>
          <p:nvPr/>
        </p:nvSpPr>
        <p:spPr>
          <a:xfrm>
            <a:off x="731520" y="4791456"/>
            <a:ext cx="3200400" cy="1097280"/>
          </a:xfrm>
          <a:prstGeom prst="rect">
            <a:avLst/>
          </a:prstGeom>
          <a:noFill/>
          <a:ln/>
        </p:spPr>
        <p:txBody>
          <a:bodyPr wrap="square" lIns="0" tIns="0" rIns="0" bIns="0" rtlCol="0" anchor="ctr"/>
          <a:lstStyle/>
          <a:p>
            <a:pPr algn="l" indent="0" marL="0">
              <a:buNone/>
            </a:pPr>
            <a:r>
              <a:rPr lang="en-US" sz="1300" i="1" dirty="0">
                <a:solidFill>
                  <a:srgbClr val="5A6472"/>
                </a:solidFill>
                <a:latin typeface="Calibri" pitchFamily="34" charset="0"/>
                <a:cs typeface="Amiri" pitchFamily="2" charset="-78"/>
              </a:rPr>
              <a:t>A hobby is a thing (a noun).</a:t>
            </a:r>
            <a:endParaRPr lang="en-US" sz="1300" dirty="0"/>
          </a:p>
        </p:txBody>
      </p:sp>
      <p:sp>
        <p:nvSpPr>
          <p:cNvPr id="30" name="Text 2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22</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STEP 7 · CORRECTIONS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Spot and fix: corrections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اكْتَشِفِ الخَطَأَ</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8503920" y="1901952"/>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مَرْيَمُ يَسْكُنُ فِي لَنْدَنَ.</a:t>
            </a:r>
            <a:endParaRPr lang="ar-SA" sz="1800" dirty="0"/>
          </a:p>
        </p:txBody>
      </p:sp>
      <p:sp>
        <p:nvSpPr>
          <p:cNvPr id="17" name="Shape 14"/>
          <p:cNvSpPr/>
          <p:nvPr/>
        </p:nvSpPr>
        <p:spPr>
          <a:xfrm>
            <a:off x="8641080" y="2459736"/>
            <a:ext cx="2834640" cy="0"/>
          </a:xfrm>
          <a:prstGeom prst="line">
            <a:avLst/>
          </a:prstGeom>
          <a:noFill/>
          <a:ln w="15875">
            <a:solidFill>
              <a:srgbClr val="B83227"/>
            </a:solidFill>
            <a:prstDash val="solid"/>
          </a:ln>
        </p:spPr>
      </p:sp>
      <p:sp>
        <p:nvSpPr>
          <p:cNvPr id="18" name="Text 15"/>
          <p:cNvSpPr txBox="1"/>
          <p:nvPr/>
        </p:nvSpPr>
        <p:spPr>
          <a:xfrm>
            <a:off x="8138160" y="1901952"/>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19" name="Text 16"/>
          <p:cNvSpPr txBox="1"/>
          <p:nvPr/>
        </p:nvSpPr>
        <p:spPr>
          <a:xfrm>
            <a:off x="3566160" y="1901952"/>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مَرْيَمُ تَسْكُنُ فِي لَنْدَنَ.</a:t>
            </a:r>
            <a:endParaRPr lang="ar-SA" sz="2400" dirty="0"/>
          </a:p>
        </p:txBody>
      </p:sp>
      <p:sp>
        <p:nvSpPr>
          <p:cNvPr id="20" name="Text 17"/>
          <p:cNvSpPr txBox="1"/>
          <p:nvPr/>
        </p:nvSpPr>
        <p:spPr>
          <a:xfrm>
            <a:off x="685800" y="1901952"/>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She → ta-: </a:t>
            </a:r>
            <a:pPr algn="l" indent="0" marL="0">
              <a:buNone/>
            </a:pPr>
            <a:r>
              <a:rPr lang="ar-SA" altLang="en-US" sz="1500" b="1" dirty="0">
                <a:solidFill>
                  <a:srgbClr val="1B3B6F"/>
                </a:solidFill>
                <a:latin typeface="Amiri" pitchFamily="2" charset="-78"/>
                <a:ea typeface="Amiri" pitchFamily="2" charset="-78"/>
                <a:cs typeface="Amiri" pitchFamily="2" charset="-78"/>
              </a:rPr>
              <a:t>تَسْكُنُ</a:t>
            </a:r>
            <a:pPr algn="l" indent="0" marL="0">
              <a:buNone/>
            </a:pPr>
            <a:r>
              <a:rPr lang="en-US" sz="1150" b="1" dirty="0">
                <a:solidFill>
                  <a:srgbClr val="1B3B6F"/>
                </a:solidFill>
                <a:latin typeface="Calibri" pitchFamily="34" charset="0"/>
                <a:cs typeface="Amiri" pitchFamily="2" charset="-78"/>
              </a:rPr>
              <a:t>.</a:t>
            </a:r>
            <a:endParaRPr lang="en-US" sz="1150" dirty="0"/>
          </a:p>
        </p:txBody>
      </p:sp>
      <p:sp>
        <p:nvSpPr>
          <p:cNvPr id="21" name="Shape 18"/>
          <p:cNvSpPr/>
          <p:nvPr/>
        </p:nvSpPr>
        <p:spPr>
          <a:xfrm>
            <a:off x="457200" y="3255264"/>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2" name="Text 19"/>
          <p:cNvSpPr txBox="1"/>
          <p:nvPr/>
        </p:nvSpPr>
        <p:spPr>
          <a:xfrm>
            <a:off x="8503920" y="3346704"/>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عُمَرُ اسْمُهَا عُمَرُ.</a:t>
            </a:r>
            <a:endParaRPr lang="ar-SA" sz="1800" dirty="0"/>
          </a:p>
        </p:txBody>
      </p:sp>
      <p:sp>
        <p:nvSpPr>
          <p:cNvPr id="23" name="Shape 20"/>
          <p:cNvSpPr/>
          <p:nvPr/>
        </p:nvSpPr>
        <p:spPr>
          <a:xfrm>
            <a:off x="8641080" y="3904488"/>
            <a:ext cx="2834640" cy="0"/>
          </a:xfrm>
          <a:prstGeom prst="line">
            <a:avLst/>
          </a:prstGeom>
          <a:noFill/>
          <a:ln w="15875">
            <a:solidFill>
              <a:srgbClr val="B83227"/>
            </a:solidFill>
            <a:prstDash val="solid"/>
          </a:ln>
        </p:spPr>
      </p:sp>
      <p:sp>
        <p:nvSpPr>
          <p:cNvPr id="24" name="Text 21"/>
          <p:cNvSpPr txBox="1"/>
          <p:nvPr/>
        </p:nvSpPr>
        <p:spPr>
          <a:xfrm>
            <a:off x="8138160" y="3346704"/>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25" name="Text 22"/>
          <p:cNvSpPr txBox="1"/>
          <p:nvPr/>
        </p:nvSpPr>
        <p:spPr>
          <a:xfrm>
            <a:off x="3566160" y="3346704"/>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صَدِيقِي اسْمُهُ عُمَرُ.</a:t>
            </a:r>
            <a:endParaRPr lang="ar-SA" sz="2400" dirty="0"/>
          </a:p>
        </p:txBody>
      </p:sp>
      <p:sp>
        <p:nvSpPr>
          <p:cNvPr id="26" name="Text 23"/>
          <p:cNvSpPr txBox="1"/>
          <p:nvPr/>
        </p:nvSpPr>
        <p:spPr>
          <a:xfrm>
            <a:off x="685800" y="3346704"/>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His name → </a:t>
            </a:r>
            <a:pPr algn="l" indent="0" marL="0">
              <a:buNone/>
            </a:pPr>
            <a:r>
              <a:rPr lang="ar-SA" altLang="en-US" sz="1500" b="1" dirty="0">
                <a:solidFill>
                  <a:srgbClr val="1B3B6F"/>
                </a:solidFill>
                <a:latin typeface="Amiri" pitchFamily="2" charset="-78"/>
                <a:ea typeface="Amiri" pitchFamily="2" charset="-78"/>
                <a:cs typeface="Amiri" pitchFamily="2" charset="-78"/>
              </a:rPr>
              <a:t>اسْمُهُ</a:t>
            </a:r>
            <a:pPr algn="l" indent="0" marL="0">
              <a:buNone/>
            </a:pPr>
            <a:r>
              <a:rPr lang="en-US" sz="1150" b="1" dirty="0">
                <a:solidFill>
                  <a:srgbClr val="1B3B6F"/>
                </a:solidFill>
                <a:latin typeface="Calibri" pitchFamily="34" charset="0"/>
                <a:cs typeface="Amiri" pitchFamily="2" charset="-78"/>
              </a:rPr>
              <a:t> (-hu).</a:t>
            </a:r>
            <a:endParaRPr lang="en-US" sz="1150" dirty="0"/>
          </a:p>
        </p:txBody>
      </p:sp>
      <p:sp>
        <p:nvSpPr>
          <p:cNvPr id="27" name="Shape 24"/>
          <p:cNvSpPr/>
          <p:nvPr/>
        </p:nvSpPr>
        <p:spPr>
          <a:xfrm>
            <a:off x="457200" y="4700016"/>
            <a:ext cx="11274552" cy="1298448"/>
          </a:xfrm>
          <a:prstGeom prst="roundRect">
            <a:avLst>
              <a:gd name="adj" fmla="val 5634"/>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8" name="Text 25"/>
          <p:cNvSpPr txBox="1"/>
          <p:nvPr/>
        </p:nvSpPr>
        <p:spPr>
          <a:xfrm>
            <a:off x="8503920" y="4791456"/>
            <a:ext cx="3063240" cy="1097280"/>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هِوَايَتُهَا يَرْسُمُ.</a:t>
            </a:r>
            <a:endParaRPr lang="ar-SA" sz="1800" dirty="0"/>
          </a:p>
        </p:txBody>
      </p:sp>
      <p:sp>
        <p:nvSpPr>
          <p:cNvPr id="29" name="Shape 26"/>
          <p:cNvSpPr/>
          <p:nvPr/>
        </p:nvSpPr>
        <p:spPr>
          <a:xfrm>
            <a:off x="8641080" y="5349240"/>
            <a:ext cx="2834640" cy="0"/>
          </a:xfrm>
          <a:prstGeom prst="line">
            <a:avLst/>
          </a:prstGeom>
          <a:noFill/>
          <a:ln w="15875">
            <a:solidFill>
              <a:srgbClr val="B83227"/>
            </a:solidFill>
            <a:prstDash val="solid"/>
          </a:ln>
        </p:spPr>
      </p:sp>
      <p:sp>
        <p:nvSpPr>
          <p:cNvPr id="30" name="Text 27"/>
          <p:cNvSpPr txBox="1"/>
          <p:nvPr/>
        </p:nvSpPr>
        <p:spPr>
          <a:xfrm>
            <a:off x="8138160" y="4791456"/>
            <a:ext cx="365760" cy="10972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31" name="Text 28"/>
          <p:cNvSpPr txBox="1"/>
          <p:nvPr/>
        </p:nvSpPr>
        <p:spPr>
          <a:xfrm>
            <a:off x="3566160" y="4791456"/>
            <a:ext cx="4526280" cy="1097280"/>
          </a:xfrm>
          <a:prstGeom prst="rect">
            <a:avLst/>
          </a:prstGeom>
          <a:noFill/>
          <a:ln/>
        </p:spPr>
        <p:txBody>
          <a:bodyPr wrap="square" lIns="0" tIns="0" rIns="0" bIns="0" rtlCol="0" anchor="ctr"/>
          <a:lstStyle/>
          <a:p>
            <a:pPr rtl="1" algn="r" indent="0" marL="0">
              <a:buNone/>
            </a:pPr>
            <a:r>
              <a:rPr lang="ar-SA" altLang="en-US" sz="2400" b="1" dirty="0">
                <a:solidFill>
                  <a:srgbClr val="1E6B52"/>
                </a:solidFill>
                <a:latin typeface="Amiri" pitchFamily="2" charset="-78"/>
                <a:ea typeface="Amiri" pitchFamily="2" charset="-78"/>
                <a:cs typeface="Amiri" pitchFamily="2" charset="-78"/>
              </a:rPr>
              <a:t>هِوَايَتُهَا الرَّسْمُ.</a:t>
            </a:r>
            <a:endParaRPr lang="ar-SA" sz="2400" dirty="0"/>
          </a:p>
        </p:txBody>
      </p:sp>
      <p:sp>
        <p:nvSpPr>
          <p:cNvPr id="32" name="Text 29"/>
          <p:cNvSpPr txBox="1"/>
          <p:nvPr/>
        </p:nvSpPr>
        <p:spPr>
          <a:xfrm>
            <a:off x="685800" y="4791456"/>
            <a:ext cx="2788920" cy="109728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Hobby + noun: </a:t>
            </a:r>
            <a:pPr algn="l" indent="0" marL="0">
              <a:buNone/>
            </a:pPr>
            <a:r>
              <a:rPr lang="ar-SA" altLang="en-US" sz="1500" b="1" dirty="0">
                <a:solidFill>
                  <a:srgbClr val="1B3B6F"/>
                </a:solidFill>
                <a:latin typeface="Amiri" pitchFamily="2" charset="-78"/>
                <a:ea typeface="Amiri" pitchFamily="2" charset="-78"/>
                <a:cs typeface="Amiri" pitchFamily="2" charset="-78"/>
              </a:rPr>
              <a:t>الرَّسْمُ</a:t>
            </a:r>
            <a:pPr algn="l" indent="0" marL="0">
              <a:buNone/>
            </a:pPr>
            <a:r>
              <a:rPr lang="en-US" sz="1150" b="1" dirty="0">
                <a:solidFill>
                  <a:srgbClr val="1B3B6F"/>
                </a:solidFill>
                <a:latin typeface="Calibri" pitchFamily="34" charset="0"/>
                <a:cs typeface="Amiri" pitchFamily="2" charset="-78"/>
              </a:rPr>
              <a:t> (drawing).</a:t>
            </a:r>
            <a:endParaRPr lang="en-US" sz="11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22</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FRAMES IF YOU NEED THEM</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Your writing frames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الكِتَابَةِ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يَتَكَلَّمُ / تَتَكَلَّمُ ______ وَ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speaks … and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أُحِبُّهُ / أُحِبُّهَا لِأَنَّهُ / لِأَنَّهَا ______ .</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like him / her because he / she is …</a:t>
            </a:r>
            <a:endParaRPr lang="en-US" sz="1050" dirty="0"/>
          </a:p>
        </p:txBody>
      </p:sp>
      <p:sp>
        <p:nvSpPr>
          <p:cNvPr id="22" name="Shape 19"/>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25" name="Text 22"/>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صَدِيقِي / صَدِيقَتِي اسْمُهُ / اسْمُهَا ______ .</a:t>
            </a:r>
            <a:endParaRPr lang="ar-SA" sz="1800" dirty="0"/>
          </a:p>
        </p:txBody>
      </p:sp>
      <p:sp>
        <p:nvSpPr>
          <p:cNvPr id="26" name="Text 23"/>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friend’s name is …</a:t>
            </a:r>
            <a:endParaRPr lang="en-US" sz="1050" dirty="0"/>
          </a:p>
        </p:txBody>
      </p:sp>
      <p:sp>
        <p:nvSpPr>
          <p:cNvPr id="27" name="Text 24"/>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عُمْرُهُ / عُمْرُهَا ______ سَنَةً.</a:t>
            </a:r>
            <a:endParaRPr lang="ar-SA" sz="1800" dirty="0"/>
          </a:p>
        </p:txBody>
      </p:sp>
      <p:sp>
        <p:nvSpPr>
          <p:cNvPr id="28" name="Text 25"/>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 years old.</a:t>
            </a:r>
            <a:endParaRPr lang="en-US" sz="1050" dirty="0"/>
          </a:p>
        </p:txBody>
      </p:sp>
      <p:sp>
        <p:nvSpPr>
          <p:cNvPr id="29" name="Text 26"/>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450" b="1" dirty="0">
                <a:solidFill>
                  <a:srgbClr val="1B3B6F"/>
                </a:solidFill>
                <a:latin typeface="Amiri" pitchFamily="2" charset="-78"/>
                <a:ea typeface="Amiri" pitchFamily="2" charset="-78"/>
                <a:cs typeface="Amiri" pitchFamily="2" charset="-78"/>
              </a:rPr>
              <a:t>هُوَ / هِيَ مِنْ ______ ، وَيَسْكُنُ / وَتَسْكُنُ فِي ______ .</a:t>
            </a:r>
            <a:endParaRPr lang="ar-SA" sz="1450" dirty="0"/>
          </a:p>
        </p:txBody>
      </p:sp>
      <p:sp>
        <p:nvSpPr>
          <p:cNvPr id="30" name="Text 27"/>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He / she is from …, and lives in …</a:t>
            </a:r>
            <a:endParaRPr lang="en-US" sz="1050" dirty="0"/>
          </a:p>
        </p:txBody>
      </p:sp>
      <p:sp>
        <p:nvSpPr>
          <p:cNvPr id="31" name="Text 28"/>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هِوَايَتُهُ / هِوَايَتُهَا ______ .</a:t>
            </a:r>
            <a:endParaRPr lang="ar-SA" sz="1800" dirty="0"/>
          </a:p>
        </p:txBody>
      </p:sp>
      <p:sp>
        <p:nvSpPr>
          <p:cNvPr id="32" name="Text 29"/>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His / her hobby is …</a:t>
            </a:r>
            <a:endParaRPr lang="en-US" sz="1050" dirty="0"/>
          </a:p>
        </p:txBody>
      </p:sp>
      <p:sp>
        <p:nvSpPr>
          <p:cNvPr id="33" name="Shape 30"/>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Text 31"/>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35" name="Text 32"/>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اسْمُهُ · اسْمُهَا  ·  عُمْرُهُ · عُمْرُهَا  ·  يَسْكُنُ · تَسْكُنُ  ·  يَتَكَلَّمُ · تَتَكَلَّمُ  ·  هِوَايَتُهُ · هِوَايَتُهَا  ·  المُفَضَّلُ · المُفَضَّلَةُ  ·  لَطِيفٌ · لَطِيفَةٌ  ·  لِأَنَّ</a:t>
            </a:r>
            <a:endParaRPr lang="ar-SA" sz="1600" dirty="0"/>
          </a:p>
        </p:txBody>
      </p:sp>
      <p:sp>
        <p:nvSpPr>
          <p:cNvPr id="36" name="Text 3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22</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19188" y="274320"/>
            <a:ext cx="1540764"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10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WRITE YOUR TEXT · ABOUT 40–60 WORDS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profile of my friend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بِطَاقَةُ صَدِيقِي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5577840" cy="4498848"/>
          </a:xfrm>
          <a:prstGeom prst="roundRect">
            <a:avLst>
              <a:gd name="adj" fmla="val 1626"/>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828800" cy="292608"/>
          </a:xfrm>
          <a:prstGeom prst="roundRect">
            <a:avLst>
              <a:gd name="adj" fmla="val 50000"/>
            </a:avLst>
          </a:prstGeom>
          <a:solidFill>
            <a:srgbClr val="1B3B6F"/>
          </a:solidFill>
          <a:ln w="12700">
            <a:solidFill>
              <a:srgbClr val="1B3B6F"/>
            </a:solidFill>
            <a:prstDash val="solid"/>
          </a:ln>
        </p:spPr>
      </p:sp>
      <p:sp>
        <p:nvSpPr>
          <p:cNvPr id="17" name="Text 14"/>
          <p:cNvSpPr txBox="1"/>
          <p:nvPr/>
        </p:nvSpPr>
        <p:spPr>
          <a:xfrm>
            <a:off x="640080" y="1938528"/>
            <a:ext cx="18288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WRITING · SHORT TEXT</a:t>
            </a:r>
            <a:endParaRPr lang="en-US" sz="950" dirty="0"/>
          </a:p>
        </p:txBody>
      </p:sp>
      <p:sp>
        <p:nvSpPr>
          <p:cNvPr id="18" name="Text 15"/>
          <p:cNvSpPr txBox="1"/>
          <p:nvPr/>
        </p:nvSpPr>
        <p:spPr>
          <a:xfrm>
            <a:off x="640080" y="2331720"/>
            <a:ext cx="5212080" cy="914400"/>
          </a:xfrm>
          <a:prstGeom prst="rect">
            <a:avLst/>
          </a:prstGeom>
          <a:noFill/>
          <a:ln/>
        </p:spPr>
        <p:txBody>
          <a:bodyPr wrap="square" lIns="0" tIns="0" rIns="0" bIns="0" rtlCol="0" anchor="ctr"/>
          <a:lstStyle/>
          <a:p>
            <a:pPr algn="l" indent="0" marL="0">
              <a:buNone/>
            </a:pPr>
            <a:r>
              <a:rPr lang="en-US" sz="1350" b="1" dirty="0">
                <a:solidFill>
                  <a:srgbClr val="1F2A37"/>
                </a:solidFill>
                <a:latin typeface="Calibri" pitchFamily="34" charset="0"/>
                <a:cs typeface="Amiri" pitchFamily="2" charset="-78"/>
              </a:rPr>
              <a:t>Write a profile (about 35–50 words) of a friend or a family member for the school magazine. Include: • name and age • where he / she is from and lives • languages • hobby and favourite thing • one sentence about why you like him / her.</a:t>
            </a:r>
            <a:endParaRPr lang="en-US" sz="1350" dirty="0"/>
          </a:p>
        </p:txBody>
      </p:sp>
      <p:sp>
        <p:nvSpPr>
          <p:cNvPr id="19" name="Text 16"/>
          <p:cNvSpPr txBox="1"/>
          <p:nvPr/>
        </p:nvSpPr>
        <p:spPr>
          <a:xfrm>
            <a:off x="685800" y="3310128"/>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Every bullet point has at least one sentence.</a:t>
            </a:r>
            <a:endParaRPr lang="en-US" sz="1200" dirty="0"/>
          </a:p>
        </p:txBody>
      </p:sp>
      <p:sp>
        <p:nvSpPr>
          <p:cNvPr id="20" name="Text 17"/>
          <p:cNvSpPr txBox="1"/>
          <p:nvPr/>
        </p:nvSpPr>
        <p:spPr>
          <a:xfrm>
            <a:off x="685800" y="3840480"/>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Full sentences with the right ending (I · my · he · she).</a:t>
            </a:r>
            <a:endParaRPr lang="en-US" sz="1200" dirty="0"/>
          </a:p>
        </p:txBody>
      </p:sp>
      <p:sp>
        <p:nvSpPr>
          <p:cNvPr id="21" name="Text 18"/>
          <p:cNvSpPr txBox="1"/>
          <p:nvPr/>
        </p:nvSpPr>
        <p:spPr>
          <a:xfrm>
            <a:off x="685800" y="4370832"/>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Words from today’s word bank.</a:t>
            </a:r>
            <a:endParaRPr lang="en-US" sz="1200" dirty="0"/>
          </a:p>
        </p:txBody>
      </p:sp>
      <p:sp>
        <p:nvSpPr>
          <p:cNvPr id="22" name="Text 19"/>
          <p:cNvSpPr txBox="1"/>
          <p:nvPr/>
        </p:nvSpPr>
        <p:spPr>
          <a:xfrm>
            <a:off x="685800" y="4901184"/>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At least one </a:t>
            </a:r>
            <a:pPr algn="l" indent="0" marL="0">
              <a:buNone/>
            </a:pPr>
            <a:r>
              <a:rPr lang="ar-SA" altLang="en-US" sz="1550" dirty="0">
                <a:solidFill>
                  <a:srgbClr val="1F2A37"/>
                </a:solidFill>
                <a:latin typeface="Amiri" pitchFamily="2" charset="-78"/>
                <a:ea typeface="Amiri" pitchFamily="2" charset="-78"/>
                <a:cs typeface="Amiri" pitchFamily="2" charset="-78"/>
              </a:rPr>
              <a:t>و</a:t>
            </a:r>
            <a:pPr algn="l" indent="0" marL="0">
              <a:buNone/>
            </a:pPr>
            <a:r>
              <a:rPr lang="en-US" sz="1200" dirty="0">
                <a:solidFill>
                  <a:srgbClr val="1F2A37"/>
                </a:solidFill>
                <a:latin typeface="Calibri" pitchFamily="34" charset="0"/>
                <a:cs typeface="Amiri" pitchFamily="2" charset="-78"/>
              </a:rPr>
              <a:t> and one </a:t>
            </a:r>
            <a:pPr algn="l" indent="0" marL="0">
              <a:buNone/>
            </a:pPr>
            <a:r>
              <a:rPr lang="ar-SA" altLang="en-US" sz="1550" dirty="0">
                <a:solidFill>
                  <a:srgbClr val="1F2A37"/>
                </a:solidFill>
                <a:latin typeface="Amiri" pitchFamily="2" charset="-78"/>
                <a:ea typeface="Amiri" pitchFamily="2" charset="-78"/>
                <a:cs typeface="Amiri" pitchFamily="2" charset="-78"/>
              </a:rPr>
              <a:t>لِأَنَّ</a:t>
            </a:r>
            <a:pPr algn="l" indent="0" marL="0">
              <a:buNone/>
            </a:pPr>
            <a:r>
              <a:rPr lang="en-US" sz="1200" dirty="0">
                <a:solidFill>
                  <a:srgbClr val="1F2A37"/>
                </a:solidFill>
                <a:latin typeface="Calibri" pitchFamily="34" charset="0"/>
                <a:cs typeface="Amiri" pitchFamily="2" charset="-78"/>
              </a:rPr>
              <a:t> (Develop).</a:t>
            </a:r>
            <a:endParaRPr lang="en-US" sz="1200" dirty="0"/>
          </a:p>
        </p:txBody>
      </p:sp>
      <p:sp>
        <p:nvSpPr>
          <p:cNvPr id="23" name="Text 20"/>
          <p:cNvSpPr txBox="1"/>
          <p:nvPr/>
        </p:nvSpPr>
        <p:spPr>
          <a:xfrm>
            <a:off x="685800" y="5431536"/>
            <a:ext cx="5212080" cy="530352"/>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  Buddy check, then fix one thing.</a:t>
            </a:r>
            <a:endParaRPr lang="en-US" sz="1200" dirty="0"/>
          </a:p>
        </p:txBody>
      </p:sp>
      <p:sp>
        <p:nvSpPr>
          <p:cNvPr id="24" name="Shape 21"/>
          <p:cNvSpPr/>
          <p:nvPr/>
        </p:nvSpPr>
        <p:spPr>
          <a:xfrm>
            <a:off x="6217920" y="1810512"/>
            <a:ext cx="5513832" cy="4498848"/>
          </a:xfrm>
          <a:prstGeom prst="roundRect">
            <a:avLst>
              <a:gd name="adj" fmla="val 1626"/>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5" name="Text 22"/>
          <p:cNvSpPr txBox="1"/>
          <p:nvPr/>
        </p:nvSpPr>
        <p:spPr>
          <a:xfrm>
            <a:off x="6400800" y="1901952"/>
            <a:ext cx="5120640" cy="274320"/>
          </a:xfrm>
          <a:prstGeom prst="rect">
            <a:avLst/>
          </a:prstGeom>
          <a:noFill/>
          <a:ln/>
        </p:spPr>
        <p:txBody>
          <a:bodyPr wrap="square" lIns="0" tIns="0" rIns="0" bIns="0" rtlCol="0" anchor="ctr"/>
          <a:lstStyle/>
          <a:p>
            <a:pPr algn="l" indent="0" marL="0">
              <a:buNone/>
            </a:pPr>
            <a:r>
              <a:rPr lang="en-US" sz="950" b="1" spc="100" kern="0" dirty="0">
                <a:solidFill>
                  <a:srgbClr val="8A6D1E"/>
                </a:solidFill>
                <a:latin typeface="Calibri" pitchFamily="34" charset="0"/>
                <a:cs typeface="Amiri" pitchFamily="2" charset="-78"/>
              </a:rPr>
              <a:t>USEFUL LANGUAGE</a:t>
            </a:r>
            <a:endParaRPr lang="en-US" sz="950" dirty="0"/>
          </a:p>
        </p:txBody>
      </p:sp>
      <p:sp>
        <p:nvSpPr>
          <p:cNvPr id="26" name="Text 23"/>
          <p:cNvSpPr txBox="1"/>
          <p:nvPr/>
        </p:nvSpPr>
        <p:spPr>
          <a:xfrm>
            <a:off x="8412480" y="2231136"/>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اسْمُهُ … ، وَعُمْرُهُ …</a:t>
            </a:r>
            <a:endParaRPr lang="ar-SA" sz="1800" dirty="0"/>
          </a:p>
        </p:txBody>
      </p:sp>
      <p:sp>
        <p:nvSpPr>
          <p:cNvPr id="27" name="Text 24"/>
          <p:cNvSpPr txBox="1"/>
          <p:nvPr/>
        </p:nvSpPr>
        <p:spPr>
          <a:xfrm>
            <a:off x="6400800" y="2560320"/>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name is …, and he is …</a:t>
            </a:r>
            <a:endParaRPr lang="en-US" sz="1050" dirty="0"/>
          </a:p>
        </p:txBody>
      </p:sp>
      <p:sp>
        <p:nvSpPr>
          <p:cNvPr id="28" name="Text 25"/>
          <p:cNvSpPr txBox="1"/>
          <p:nvPr/>
        </p:nvSpPr>
        <p:spPr>
          <a:xfrm>
            <a:off x="8412480" y="2889504"/>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هِيَ مِنْ … ، وَتَسْكُنُ فِي …</a:t>
            </a:r>
            <a:endParaRPr lang="ar-SA" sz="1800" dirty="0"/>
          </a:p>
        </p:txBody>
      </p:sp>
      <p:sp>
        <p:nvSpPr>
          <p:cNvPr id="29" name="Text 26"/>
          <p:cNvSpPr txBox="1"/>
          <p:nvPr/>
        </p:nvSpPr>
        <p:spPr>
          <a:xfrm>
            <a:off x="6400800" y="3218688"/>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she is from …, and lives in …</a:t>
            </a:r>
            <a:endParaRPr lang="en-US" sz="1050" dirty="0"/>
          </a:p>
        </p:txBody>
      </p:sp>
      <p:sp>
        <p:nvSpPr>
          <p:cNvPr id="30" name="Text 27"/>
          <p:cNvSpPr txBox="1"/>
          <p:nvPr/>
        </p:nvSpPr>
        <p:spPr>
          <a:xfrm>
            <a:off x="8412480" y="3547872"/>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يَتَكَلَّمُ / تَتَكَلَّمُ …</a:t>
            </a:r>
            <a:endParaRPr lang="ar-SA" sz="1800" dirty="0"/>
          </a:p>
        </p:txBody>
      </p:sp>
      <p:sp>
        <p:nvSpPr>
          <p:cNvPr id="31" name="Text 28"/>
          <p:cNvSpPr txBox="1"/>
          <p:nvPr/>
        </p:nvSpPr>
        <p:spPr>
          <a:xfrm>
            <a:off x="6400800" y="3877056"/>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he / she speaks …</a:t>
            </a:r>
            <a:endParaRPr lang="en-US" sz="1050" dirty="0"/>
          </a:p>
        </p:txBody>
      </p:sp>
      <p:sp>
        <p:nvSpPr>
          <p:cNvPr id="32" name="Text 29"/>
          <p:cNvSpPr txBox="1"/>
          <p:nvPr/>
        </p:nvSpPr>
        <p:spPr>
          <a:xfrm>
            <a:off x="8412480" y="4206240"/>
            <a:ext cx="3154680" cy="40818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هِوَايَتُهُ / هِوَايَتُهَا …</a:t>
            </a:r>
            <a:endParaRPr lang="ar-SA" sz="1800" dirty="0"/>
          </a:p>
        </p:txBody>
      </p:sp>
      <p:sp>
        <p:nvSpPr>
          <p:cNvPr id="33" name="Text 30"/>
          <p:cNvSpPr txBox="1"/>
          <p:nvPr/>
        </p:nvSpPr>
        <p:spPr>
          <a:xfrm>
            <a:off x="6400800" y="4535424"/>
            <a:ext cx="5166360" cy="276515"/>
          </a:xfrm>
          <a:prstGeom prst="rect">
            <a:avLst/>
          </a:prstGeom>
          <a:noFill/>
          <a:ln/>
        </p:spPr>
        <p:txBody>
          <a:bodyPr wrap="square" lIns="0" tIns="0" rIns="0" bIns="0" rtlCol="0" anchor="ctr"/>
          <a:lstStyle/>
          <a:p>
            <a:pPr algn="r" indent="0" marL="0">
              <a:buNone/>
            </a:pPr>
            <a:r>
              <a:rPr lang="en-US" sz="1050" i="1" dirty="0">
                <a:solidFill>
                  <a:srgbClr val="5A6472"/>
                </a:solidFill>
                <a:latin typeface="Calibri" pitchFamily="34" charset="0"/>
                <a:cs typeface="Amiri" pitchFamily="2" charset="-78"/>
              </a:rPr>
              <a:t>his / her hobby is …</a:t>
            </a:r>
            <a:endParaRPr lang="en-US" sz="1050" dirty="0"/>
          </a:p>
        </p:txBody>
      </p:sp>
      <p:sp>
        <p:nvSpPr>
          <p:cNvPr id="34" name="Text 3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22</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STEP 8 · BUDDY CHECK · SWAP AND READ YOUR BUDDY’S TEXT</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Buddy check: five points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رَاجِعْ مَعَ زَمِيلِكَ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8759952" y="1810512"/>
            <a:ext cx="289864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Line / example</a:t>
            </a:r>
            <a:endParaRPr lang="en-US" sz="1100" dirty="0"/>
          </a:p>
        </p:txBody>
      </p:sp>
      <p:sp>
        <p:nvSpPr>
          <p:cNvPr id="17" name="Text 14"/>
          <p:cNvSpPr txBox="1"/>
          <p:nvPr/>
        </p:nvSpPr>
        <p:spPr>
          <a:xfrm>
            <a:off x="7845552" y="1810512"/>
            <a:ext cx="7680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 / ✗</a:t>
            </a:r>
            <a:endParaRPr lang="en-US" sz="1100" dirty="0"/>
          </a:p>
        </p:txBody>
      </p:sp>
      <p:sp>
        <p:nvSpPr>
          <p:cNvPr id="18" name="Text 15"/>
          <p:cNvSpPr txBox="1"/>
          <p:nvPr/>
        </p:nvSpPr>
        <p:spPr>
          <a:xfrm>
            <a:off x="6565392" y="1810512"/>
            <a:ext cx="11338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Route</a:t>
            </a:r>
            <a:endParaRPr lang="en-US" sz="1100" dirty="0"/>
          </a:p>
        </p:txBody>
      </p:sp>
      <p:sp>
        <p:nvSpPr>
          <p:cNvPr id="19" name="Text 16"/>
          <p:cNvSpPr txBox="1"/>
          <p:nvPr/>
        </p:nvSpPr>
        <p:spPr>
          <a:xfrm>
            <a:off x="530352" y="1810512"/>
            <a:ext cx="5888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Did the writer …</a:t>
            </a:r>
            <a:endParaRPr lang="en-US" sz="1100" dirty="0"/>
          </a:p>
        </p:txBody>
      </p:sp>
      <p:sp>
        <p:nvSpPr>
          <p:cNvPr id="20" name="Shape 17"/>
          <p:cNvSpPr/>
          <p:nvPr/>
        </p:nvSpPr>
        <p:spPr>
          <a:xfrm>
            <a:off x="457200" y="2267712"/>
            <a:ext cx="11274552" cy="682142"/>
          </a:xfrm>
          <a:prstGeom prst="roundRect">
            <a:avLst>
              <a:gd name="adj" fmla="val 6702"/>
            </a:avLst>
          </a:prstGeom>
          <a:solidFill>
            <a:srgbClr val="FFFFFF"/>
          </a:solidFill>
          <a:ln w="9525">
            <a:solidFill>
              <a:srgbClr val="D8D0BF"/>
            </a:solidFill>
            <a:prstDash val="solid"/>
          </a:ln>
        </p:spPr>
      </p:sp>
      <p:sp>
        <p:nvSpPr>
          <p:cNvPr id="21" name="Text 18"/>
          <p:cNvSpPr txBox="1"/>
          <p:nvPr/>
        </p:nvSpPr>
        <p:spPr>
          <a:xfrm>
            <a:off x="8796528" y="2267712"/>
            <a:ext cx="2862072" cy="682142"/>
          </a:xfrm>
          <a:prstGeom prst="rect">
            <a:avLst/>
          </a:prstGeom>
          <a:noFill/>
          <a:ln/>
        </p:spPr>
        <p:txBody>
          <a:bodyPr wrap="square" lIns="0" tIns="0" rIns="0" bIns="0" rtlCol="0" anchor="ctr"/>
          <a:lstStyle/>
          <a:p>
            <a:pPr algn="l" indent="0" marL="0">
              <a:buNone/>
            </a:pPr>
            <a:endParaRPr lang="en-US" sz="1100" dirty="0"/>
          </a:p>
        </p:txBody>
      </p:sp>
      <p:sp>
        <p:nvSpPr>
          <p:cNvPr id="22" name="Text 19"/>
          <p:cNvSpPr txBox="1"/>
          <p:nvPr/>
        </p:nvSpPr>
        <p:spPr>
          <a:xfrm>
            <a:off x="7882128" y="2267712"/>
            <a:ext cx="731520" cy="682142"/>
          </a:xfrm>
          <a:prstGeom prst="rect">
            <a:avLst/>
          </a:prstGeom>
          <a:noFill/>
          <a:ln/>
        </p:spPr>
        <p:txBody>
          <a:bodyPr wrap="square" lIns="0" tIns="0" rIns="0" bIns="0" rtlCol="0" anchor="ctr"/>
          <a:lstStyle/>
          <a:p>
            <a:pPr algn="l" indent="0" marL="0">
              <a:buNone/>
            </a:pPr>
            <a:endParaRPr lang="en-US" sz="1100" dirty="0"/>
          </a:p>
        </p:txBody>
      </p:sp>
      <p:sp>
        <p:nvSpPr>
          <p:cNvPr id="23" name="Text 20"/>
          <p:cNvSpPr txBox="1"/>
          <p:nvPr/>
        </p:nvSpPr>
        <p:spPr>
          <a:xfrm>
            <a:off x="6601968" y="2267712"/>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24" name="Text 21"/>
          <p:cNvSpPr txBox="1"/>
          <p:nvPr/>
        </p:nvSpPr>
        <p:spPr>
          <a:xfrm>
            <a:off x="566928" y="2267712"/>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answer EVERY bullet point?</a:t>
            </a:r>
            <a:endParaRPr lang="en-US" sz="11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04718"/>
            <a:ext cx="11274552" cy="682142"/>
          </a:xfrm>
          <a:prstGeom prst="roundRect">
            <a:avLst>
              <a:gd name="adj" fmla="val 6702"/>
            </a:avLst>
          </a:prstGeom>
          <a:solidFill>
            <a:srgbClr val="F4F1EA"/>
          </a:solidFill>
          <a:ln w="9525">
            <a:solidFill>
              <a:srgbClr val="D8D0BF"/>
            </a:solidFill>
            <a:prstDash val="solid"/>
          </a:ln>
        </p:spPr>
      </p:sp>
      <p:sp>
        <p:nvSpPr>
          <p:cNvPr id="28" name="Text 25"/>
          <p:cNvSpPr txBox="1"/>
          <p:nvPr/>
        </p:nvSpPr>
        <p:spPr>
          <a:xfrm>
            <a:off x="8796528" y="3004718"/>
            <a:ext cx="2862072" cy="682142"/>
          </a:xfrm>
          <a:prstGeom prst="rect">
            <a:avLst/>
          </a:prstGeom>
          <a:noFill/>
          <a:ln/>
        </p:spPr>
        <p:txBody>
          <a:bodyPr wrap="square" lIns="0" tIns="0" rIns="0" bIns="0" rtlCol="0" anchor="ctr"/>
          <a:lstStyle/>
          <a:p>
            <a:pPr algn="l" indent="0" marL="0">
              <a:buNone/>
            </a:pPr>
            <a:endParaRPr lang="en-US" sz="1100" dirty="0"/>
          </a:p>
        </p:txBody>
      </p:sp>
      <p:sp>
        <p:nvSpPr>
          <p:cNvPr id="29" name="Text 26"/>
          <p:cNvSpPr txBox="1"/>
          <p:nvPr/>
        </p:nvSpPr>
        <p:spPr>
          <a:xfrm>
            <a:off x="7882128" y="3004718"/>
            <a:ext cx="731520" cy="682142"/>
          </a:xfrm>
          <a:prstGeom prst="rect">
            <a:avLst/>
          </a:prstGeom>
          <a:noFill/>
          <a:ln/>
        </p:spPr>
        <p:txBody>
          <a:bodyPr wrap="square" lIns="0" tIns="0" rIns="0" bIns="0" rtlCol="0" anchor="ctr"/>
          <a:lstStyle/>
          <a:p>
            <a:pPr algn="l" indent="0" marL="0">
              <a:buNone/>
            </a:pPr>
            <a:endParaRPr lang="en-US" sz="1100" dirty="0"/>
          </a:p>
        </p:txBody>
      </p:sp>
      <p:sp>
        <p:nvSpPr>
          <p:cNvPr id="30" name="Text 27"/>
          <p:cNvSpPr txBox="1"/>
          <p:nvPr/>
        </p:nvSpPr>
        <p:spPr>
          <a:xfrm>
            <a:off x="6601968" y="300471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Core</a:t>
            </a:r>
            <a:endParaRPr lang="en-US" sz="1100" dirty="0"/>
          </a:p>
        </p:txBody>
      </p:sp>
      <p:sp>
        <p:nvSpPr>
          <p:cNvPr id="31" name="Text 28"/>
          <p:cNvSpPr txBox="1"/>
          <p:nvPr/>
        </p:nvSpPr>
        <p:spPr>
          <a:xfrm>
            <a:off x="566928" y="300471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-hu for him and -hā for her (</a:t>
            </a:r>
            <a:pPr algn="l" indent="0" marL="0">
              <a:buNone/>
            </a:pPr>
            <a:r>
              <a:rPr lang="ar-SA" altLang="en-US" sz="1450" dirty="0">
                <a:solidFill>
                  <a:srgbClr val="5A6472"/>
                </a:solidFill>
                <a:latin typeface="Amiri" pitchFamily="2" charset="-78"/>
                <a:ea typeface="Amiri" pitchFamily="2" charset="-78"/>
                <a:cs typeface="Amiri" pitchFamily="2" charset="-78"/>
              </a:rPr>
              <a:t>اسْمُهُ</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اسْمُهَا</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2" name="Shape 29"/>
          <p:cNvSpPr/>
          <p:nvPr/>
        </p:nvSpPr>
        <p:spPr>
          <a:xfrm>
            <a:off x="11091672" y="3050438"/>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50438"/>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741725"/>
            <a:ext cx="11274552" cy="682142"/>
          </a:xfrm>
          <a:prstGeom prst="roundRect">
            <a:avLst>
              <a:gd name="adj" fmla="val 6702"/>
            </a:avLst>
          </a:prstGeom>
          <a:solidFill>
            <a:srgbClr val="FFFFFF"/>
          </a:solidFill>
          <a:ln w="9525">
            <a:solidFill>
              <a:srgbClr val="D8D0BF"/>
            </a:solidFill>
            <a:prstDash val="solid"/>
          </a:ln>
        </p:spPr>
      </p:sp>
      <p:sp>
        <p:nvSpPr>
          <p:cNvPr id="35" name="Text 32"/>
          <p:cNvSpPr txBox="1"/>
          <p:nvPr/>
        </p:nvSpPr>
        <p:spPr>
          <a:xfrm>
            <a:off x="8796528" y="3741725"/>
            <a:ext cx="2862072" cy="682142"/>
          </a:xfrm>
          <a:prstGeom prst="rect">
            <a:avLst/>
          </a:prstGeom>
          <a:noFill/>
          <a:ln/>
        </p:spPr>
        <p:txBody>
          <a:bodyPr wrap="square" lIns="0" tIns="0" rIns="0" bIns="0" rtlCol="0" anchor="ctr"/>
          <a:lstStyle/>
          <a:p>
            <a:pPr algn="l" indent="0" marL="0">
              <a:buNone/>
            </a:pPr>
            <a:endParaRPr lang="en-US" sz="1100" dirty="0"/>
          </a:p>
        </p:txBody>
      </p:sp>
      <p:sp>
        <p:nvSpPr>
          <p:cNvPr id="36" name="Text 33"/>
          <p:cNvSpPr txBox="1"/>
          <p:nvPr/>
        </p:nvSpPr>
        <p:spPr>
          <a:xfrm>
            <a:off x="7882128" y="3741725"/>
            <a:ext cx="731520" cy="682142"/>
          </a:xfrm>
          <a:prstGeom prst="rect">
            <a:avLst/>
          </a:prstGeom>
          <a:noFill/>
          <a:ln/>
        </p:spPr>
        <p:txBody>
          <a:bodyPr wrap="square" lIns="0" tIns="0" rIns="0" bIns="0" rtlCol="0" anchor="ctr"/>
          <a:lstStyle/>
          <a:p>
            <a:pPr algn="l" indent="0" marL="0">
              <a:buNone/>
            </a:pPr>
            <a:endParaRPr lang="en-US" sz="1100" dirty="0"/>
          </a:p>
        </p:txBody>
      </p:sp>
      <p:sp>
        <p:nvSpPr>
          <p:cNvPr id="37" name="Text 34"/>
          <p:cNvSpPr txBox="1"/>
          <p:nvPr/>
        </p:nvSpPr>
        <p:spPr>
          <a:xfrm>
            <a:off x="6601968" y="3741725"/>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38" name="Text 35"/>
          <p:cNvSpPr txBox="1"/>
          <p:nvPr/>
        </p:nvSpPr>
        <p:spPr>
          <a:xfrm>
            <a:off x="566928" y="3741725"/>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ya- verbs for him and ta- verbs for her?</a:t>
            </a:r>
            <a:endParaRPr lang="en-US" sz="1100" dirty="0"/>
          </a:p>
        </p:txBody>
      </p:sp>
      <p:sp>
        <p:nvSpPr>
          <p:cNvPr id="39" name="Shape 36"/>
          <p:cNvSpPr/>
          <p:nvPr/>
        </p:nvSpPr>
        <p:spPr>
          <a:xfrm>
            <a:off x="457200" y="4478731"/>
            <a:ext cx="11274552" cy="682142"/>
          </a:xfrm>
          <a:prstGeom prst="roundRect">
            <a:avLst>
              <a:gd name="adj" fmla="val 6702"/>
            </a:avLst>
          </a:prstGeom>
          <a:solidFill>
            <a:srgbClr val="F4F1EA"/>
          </a:solidFill>
          <a:ln w="9525">
            <a:solidFill>
              <a:srgbClr val="D8D0BF"/>
            </a:solidFill>
            <a:prstDash val="solid"/>
          </a:ln>
        </p:spPr>
      </p:sp>
      <p:sp>
        <p:nvSpPr>
          <p:cNvPr id="40" name="Text 37"/>
          <p:cNvSpPr txBox="1"/>
          <p:nvPr/>
        </p:nvSpPr>
        <p:spPr>
          <a:xfrm>
            <a:off x="8796528" y="4478731"/>
            <a:ext cx="2862072" cy="682142"/>
          </a:xfrm>
          <a:prstGeom prst="rect">
            <a:avLst/>
          </a:prstGeom>
          <a:noFill/>
          <a:ln/>
        </p:spPr>
        <p:txBody>
          <a:bodyPr wrap="square" lIns="0" tIns="0" rIns="0" bIns="0" rtlCol="0" anchor="ctr"/>
          <a:lstStyle/>
          <a:p>
            <a:pPr algn="l" indent="0" marL="0">
              <a:buNone/>
            </a:pPr>
            <a:endParaRPr lang="en-US" sz="1100" dirty="0"/>
          </a:p>
        </p:txBody>
      </p:sp>
      <p:sp>
        <p:nvSpPr>
          <p:cNvPr id="41" name="Text 38"/>
          <p:cNvSpPr txBox="1"/>
          <p:nvPr/>
        </p:nvSpPr>
        <p:spPr>
          <a:xfrm>
            <a:off x="7882128" y="4478731"/>
            <a:ext cx="731520" cy="682142"/>
          </a:xfrm>
          <a:prstGeom prst="rect">
            <a:avLst/>
          </a:prstGeom>
          <a:noFill/>
          <a:ln/>
        </p:spPr>
        <p:txBody>
          <a:bodyPr wrap="square" lIns="0" tIns="0" rIns="0" bIns="0" rtlCol="0" anchor="ctr"/>
          <a:lstStyle/>
          <a:p>
            <a:pPr algn="l" indent="0" marL="0">
              <a:buNone/>
            </a:pPr>
            <a:endParaRPr lang="en-US" sz="1100" dirty="0"/>
          </a:p>
        </p:txBody>
      </p:sp>
      <p:sp>
        <p:nvSpPr>
          <p:cNvPr id="42" name="Text 39"/>
          <p:cNvSpPr txBox="1"/>
          <p:nvPr/>
        </p:nvSpPr>
        <p:spPr>
          <a:xfrm>
            <a:off x="6601968" y="4478731"/>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Develop</a:t>
            </a:r>
            <a:endParaRPr lang="en-US" sz="1100" dirty="0"/>
          </a:p>
        </p:txBody>
      </p:sp>
      <p:sp>
        <p:nvSpPr>
          <p:cNvPr id="43" name="Text 40"/>
          <p:cNvSpPr txBox="1"/>
          <p:nvPr/>
        </p:nvSpPr>
        <p:spPr>
          <a:xfrm>
            <a:off x="566928" y="4478731"/>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use linking words (</a:t>
            </a:r>
            <a:pPr algn="l" indent="0" marL="0">
              <a:buNone/>
            </a:pPr>
            <a:r>
              <a:rPr lang="ar-SA" altLang="en-US" sz="1450" dirty="0">
                <a:solidFill>
                  <a:srgbClr val="5A6472"/>
                </a:solidFill>
                <a:latin typeface="Amiri" pitchFamily="2" charset="-78"/>
                <a:ea typeface="Amiri" pitchFamily="2" charset="-78"/>
                <a:cs typeface="Amiri" pitchFamily="2" charset="-78"/>
              </a:rPr>
              <a:t>وَ</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ثُمَّ</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لِأَنَّ</a:t>
            </a:r>
            <a:pPr algn="l" indent="0" marL="0">
              <a:buNone/>
            </a:pPr>
            <a:r>
              <a:rPr lang="en-US" sz="1100" dirty="0">
                <a:solidFill>
                  <a:srgbClr val="5A6472"/>
                </a:solidFill>
                <a:latin typeface="Calibri" pitchFamily="34" charset="0"/>
                <a:cs typeface="Amiri" pitchFamily="2" charset="-78"/>
              </a:rPr>
              <a:t> · </a:t>
            </a:r>
            <a:pPr algn="l" indent="0" marL="0">
              <a:buNone/>
            </a:pPr>
            <a:r>
              <a:rPr lang="ar-SA" altLang="en-US" sz="1450" dirty="0">
                <a:solidFill>
                  <a:srgbClr val="5A6472"/>
                </a:solidFill>
                <a:latin typeface="Amiri" pitchFamily="2" charset="-78"/>
                <a:ea typeface="Amiri" pitchFamily="2" charset="-78"/>
                <a:cs typeface="Amiri" pitchFamily="2" charset="-78"/>
              </a:rPr>
              <a:t>لٰكِنَّ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44" name="Shape 41"/>
          <p:cNvSpPr/>
          <p:nvPr/>
        </p:nvSpPr>
        <p:spPr>
          <a:xfrm>
            <a:off x="457200" y="5215738"/>
            <a:ext cx="11274552" cy="682142"/>
          </a:xfrm>
          <a:prstGeom prst="roundRect">
            <a:avLst>
              <a:gd name="adj" fmla="val 6702"/>
            </a:avLst>
          </a:prstGeom>
          <a:solidFill>
            <a:srgbClr val="FFFFFF"/>
          </a:solidFill>
          <a:ln w="9525">
            <a:solidFill>
              <a:srgbClr val="D8D0BF"/>
            </a:solidFill>
            <a:prstDash val="solid"/>
          </a:ln>
        </p:spPr>
      </p:sp>
      <p:sp>
        <p:nvSpPr>
          <p:cNvPr id="45" name="Text 42"/>
          <p:cNvSpPr txBox="1"/>
          <p:nvPr/>
        </p:nvSpPr>
        <p:spPr>
          <a:xfrm>
            <a:off x="8796528" y="5215738"/>
            <a:ext cx="2862072" cy="682142"/>
          </a:xfrm>
          <a:prstGeom prst="rect">
            <a:avLst/>
          </a:prstGeom>
          <a:noFill/>
          <a:ln/>
        </p:spPr>
        <p:txBody>
          <a:bodyPr wrap="square" lIns="0" tIns="0" rIns="0" bIns="0" rtlCol="0" anchor="ctr"/>
          <a:lstStyle/>
          <a:p>
            <a:pPr algn="l" indent="0" marL="0">
              <a:buNone/>
            </a:pPr>
            <a:endParaRPr lang="en-US" sz="1100" dirty="0"/>
          </a:p>
        </p:txBody>
      </p:sp>
      <p:sp>
        <p:nvSpPr>
          <p:cNvPr id="46" name="Text 43"/>
          <p:cNvSpPr txBox="1"/>
          <p:nvPr/>
        </p:nvSpPr>
        <p:spPr>
          <a:xfrm>
            <a:off x="7882128" y="5215738"/>
            <a:ext cx="731520" cy="682142"/>
          </a:xfrm>
          <a:prstGeom prst="rect">
            <a:avLst/>
          </a:prstGeom>
          <a:noFill/>
          <a:ln/>
        </p:spPr>
        <p:txBody>
          <a:bodyPr wrap="square" lIns="0" tIns="0" rIns="0" bIns="0" rtlCol="0" anchor="ctr"/>
          <a:lstStyle/>
          <a:p>
            <a:pPr algn="l" indent="0" marL="0">
              <a:buNone/>
            </a:pPr>
            <a:endParaRPr lang="en-US" sz="1100" dirty="0"/>
          </a:p>
        </p:txBody>
      </p:sp>
      <p:sp>
        <p:nvSpPr>
          <p:cNvPr id="47" name="Text 44"/>
          <p:cNvSpPr txBox="1"/>
          <p:nvPr/>
        </p:nvSpPr>
        <p:spPr>
          <a:xfrm>
            <a:off x="6601968" y="5215738"/>
            <a:ext cx="109728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Stretch</a:t>
            </a:r>
            <a:endParaRPr lang="en-US" sz="1100" dirty="0"/>
          </a:p>
        </p:txBody>
      </p:sp>
      <p:sp>
        <p:nvSpPr>
          <p:cNvPr id="48" name="Text 45"/>
          <p:cNvSpPr txBox="1"/>
          <p:nvPr/>
        </p:nvSpPr>
        <p:spPr>
          <a:xfrm>
            <a:off x="566928" y="5215738"/>
            <a:ext cx="5852160" cy="682142"/>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add a reason, a time phrase or an opinion?</a:t>
            </a:r>
            <a:endParaRPr lang="en-US" sz="1100" dirty="0"/>
          </a:p>
        </p:txBody>
      </p:sp>
      <p:sp>
        <p:nvSpPr>
          <p:cNvPr id="49" name="Text 4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Give back: one thing that went well + one thing to improve. The writer fixes ONE thing straight away.</a:t>
            </a:r>
            <a:endParaRPr lang="en-US" sz="1150" dirty="0"/>
          </a:p>
        </p:txBody>
      </p:sp>
      <p:sp>
        <p:nvSpPr>
          <p:cNvPr id="50" name="Text 4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22</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ROLE-PLAY CARD</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050" b="1" dirty="0">
                <a:solidFill>
                  <a:srgbClr val="1B3B6F"/>
                </a:solidFill>
                <a:latin typeface="Cambria" pitchFamily="34" charset="0"/>
                <a:cs typeface="Amiri" pitchFamily="2" charset="-78"/>
              </a:rPr>
              <a:t>Role-play card: compare with a strong answer</a:t>
            </a:r>
            <a:endParaRPr lang="en-US" sz="20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4782312" y="1810512"/>
            <a:ext cx="68762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 strong answer (with English)</a:t>
            </a:r>
            <a:endParaRPr lang="en-US" sz="1100" dirty="0"/>
          </a:p>
        </p:txBody>
      </p:sp>
      <p:sp>
        <p:nvSpPr>
          <p:cNvPr id="17" name="Text 14"/>
          <p:cNvSpPr txBox="1"/>
          <p:nvPr/>
        </p:nvSpPr>
        <p:spPr>
          <a:xfrm>
            <a:off x="1033272" y="1810512"/>
            <a:ext cx="36027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Leader reads</a:t>
            </a:r>
            <a:endParaRPr lang="en-US" sz="1100" dirty="0"/>
          </a:p>
        </p:txBody>
      </p:sp>
      <p:sp>
        <p:nvSpPr>
          <p:cNvPr id="18" name="Text 15"/>
          <p:cNvSpPr txBox="1"/>
          <p:nvPr/>
        </p:nvSpPr>
        <p:spPr>
          <a:xfrm>
            <a:off x="530352" y="1810512"/>
            <a:ext cx="3566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4800600" y="2286000"/>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اسْمُهُ مُصْطَفَى.</a:t>
            </a:r>
            <a:endParaRPr lang="ar-SA" sz="1800" dirty="0"/>
          </a:p>
        </p:txBody>
      </p:sp>
      <p:sp>
        <p:nvSpPr>
          <p:cNvPr id="21" name="Text 18"/>
          <p:cNvSpPr txBox="1"/>
          <p:nvPr/>
        </p:nvSpPr>
        <p:spPr>
          <a:xfrm>
            <a:off x="4754880" y="2706624"/>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His name is Mustafa.</a:t>
            </a:r>
            <a:endParaRPr lang="en-US" sz="950" dirty="0"/>
          </a:p>
        </p:txBody>
      </p:sp>
      <p:sp>
        <p:nvSpPr>
          <p:cNvPr id="22" name="Text 19"/>
          <p:cNvSpPr txBox="1"/>
          <p:nvPr/>
        </p:nvSpPr>
        <p:spPr>
          <a:xfrm>
            <a:off x="1051560" y="2267712"/>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 اسْمُ الطَّالِبِ الجَدِيدِ؟</a:t>
            </a:r>
            <a:endParaRPr lang="ar-SA" sz="1600" dirty="0"/>
          </a:p>
        </p:txBody>
      </p:sp>
      <p:sp>
        <p:nvSpPr>
          <p:cNvPr id="23" name="Text 20"/>
          <p:cNvSpPr txBox="1"/>
          <p:nvPr/>
        </p:nvSpPr>
        <p:spPr>
          <a:xfrm>
            <a:off x="566928" y="2267712"/>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1</a:t>
            </a:r>
            <a:endParaRPr lang="en-US" sz="1100" dirty="0"/>
          </a:p>
        </p:txBody>
      </p:sp>
      <p:sp>
        <p:nvSpPr>
          <p:cNvPr id="24" name="Shape 21"/>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5" name="Text 22"/>
          <p:cNvSpPr txBox="1"/>
          <p:nvPr/>
        </p:nvSpPr>
        <p:spPr>
          <a:xfrm>
            <a:off x="4800600" y="3072384"/>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عُمْرُهُ اثْنَتَا عَشْرَةَ سَنَةً.</a:t>
            </a:r>
            <a:endParaRPr lang="ar-SA" sz="1800" dirty="0"/>
          </a:p>
        </p:txBody>
      </p:sp>
      <p:sp>
        <p:nvSpPr>
          <p:cNvPr id="26" name="Text 23"/>
          <p:cNvSpPr txBox="1"/>
          <p:nvPr/>
        </p:nvSpPr>
        <p:spPr>
          <a:xfrm>
            <a:off x="4754880" y="3493008"/>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twelve.</a:t>
            </a:r>
            <a:endParaRPr lang="en-US" sz="950" dirty="0"/>
          </a:p>
        </p:txBody>
      </p:sp>
      <p:sp>
        <p:nvSpPr>
          <p:cNvPr id="27" name="Text 24"/>
          <p:cNvSpPr txBox="1"/>
          <p:nvPr/>
        </p:nvSpPr>
        <p:spPr>
          <a:xfrm>
            <a:off x="1051560" y="3054096"/>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كَمْ عُمْرُهُ؟</a:t>
            </a:r>
            <a:endParaRPr lang="ar-SA" sz="1600" dirty="0"/>
          </a:p>
        </p:txBody>
      </p:sp>
      <p:sp>
        <p:nvSpPr>
          <p:cNvPr id="28" name="Text 25"/>
          <p:cNvSpPr txBox="1"/>
          <p:nvPr/>
        </p:nvSpPr>
        <p:spPr>
          <a:xfrm>
            <a:off x="566928" y="3054096"/>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2</a:t>
            </a:r>
            <a:endParaRPr lang="en-US" sz="1100" dirty="0"/>
          </a:p>
        </p:txBody>
      </p:sp>
      <p:sp>
        <p:nvSpPr>
          <p:cNvPr id="29" name="Shape 26"/>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0" name="Text 27"/>
          <p:cNvSpPr txBox="1"/>
          <p:nvPr/>
        </p:nvSpPr>
        <p:spPr>
          <a:xfrm>
            <a:off x="4800600" y="3858768"/>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هُوَ مِنَ السُّودَانِ، وَيَسْكُنُ قُرْبَ المَدْرَسَةِ.</a:t>
            </a:r>
            <a:endParaRPr lang="ar-SA" sz="1800" dirty="0"/>
          </a:p>
        </p:txBody>
      </p:sp>
      <p:sp>
        <p:nvSpPr>
          <p:cNvPr id="31" name="Text 28"/>
          <p:cNvSpPr txBox="1"/>
          <p:nvPr/>
        </p:nvSpPr>
        <p:spPr>
          <a:xfrm>
            <a:off x="4754880" y="4279392"/>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is from Sudan, and he lives near the school.</a:t>
            </a:r>
            <a:endParaRPr lang="en-US" sz="950" dirty="0"/>
          </a:p>
        </p:txBody>
      </p:sp>
      <p:sp>
        <p:nvSpPr>
          <p:cNvPr id="32" name="Text 29"/>
          <p:cNvSpPr txBox="1"/>
          <p:nvPr/>
        </p:nvSpPr>
        <p:spPr>
          <a:xfrm>
            <a:off x="1051560" y="3840480"/>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مِنْ أَيْنَ هُوَ؟ وَأَيْنَ يَسْكُنُ؟</a:t>
            </a:r>
            <a:endParaRPr lang="ar-SA" sz="1600" dirty="0"/>
          </a:p>
        </p:txBody>
      </p:sp>
      <p:sp>
        <p:nvSpPr>
          <p:cNvPr id="33" name="Text 30"/>
          <p:cNvSpPr txBox="1"/>
          <p:nvPr/>
        </p:nvSpPr>
        <p:spPr>
          <a:xfrm>
            <a:off x="566928" y="3840480"/>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3</a:t>
            </a:r>
            <a:endParaRPr lang="en-US" sz="1100" dirty="0"/>
          </a:p>
        </p:txBody>
      </p:sp>
      <p:sp>
        <p:nvSpPr>
          <p:cNvPr id="34" name="Shape 31"/>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5" name="Text 32"/>
          <p:cNvSpPr txBox="1"/>
          <p:nvPr/>
        </p:nvSpPr>
        <p:spPr>
          <a:xfrm>
            <a:off x="4800600" y="4645152"/>
            <a:ext cx="6839712" cy="453542"/>
          </a:xfrm>
          <a:prstGeom prst="rect">
            <a:avLst/>
          </a:prstGeom>
          <a:noFill/>
          <a:ln/>
        </p:spPr>
        <p:txBody>
          <a:bodyPr wrap="square" lIns="0" tIns="0" rIns="0" bIns="0" rtlCol="0" anchor="ctr"/>
          <a:lstStyle/>
          <a:p>
            <a:pPr rtl="1" algn="ctr" indent="0" marL="0">
              <a:buNone/>
            </a:pPr>
            <a:r>
              <a:rPr lang="ar-SA" altLang="en-US" sz="1800" b="1" dirty="0">
                <a:solidFill>
                  <a:srgbClr val="1B3B6F"/>
                </a:solidFill>
                <a:latin typeface="Amiri" pitchFamily="2" charset="-78"/>
                <a:ea typeface="Amiri" pitchFamily="2" charset="-78"/>
                <a:cs typeface="Amiri" pitchFamily="2" charset="-78"/>
              </a:rPr>
              <a:t>يُحِبُّ كُرَةَ القَدَمِ، وَهِوَايَتُهُ القِرَاءَةُ أَيْضًا.</a:t>
            </a:r>
            <a:endParaRPr lang="ar-SA" sz="1800" dirty="0"/>
          </a:p>
        </p:txBody>
      </p:sp>
      <p:sp>
        <p:nvSpPr>
          <p:cNvPr id="36" name="Text 33"/>
          <p:cNvSpPr txBox="1"/>
          <p:nvPr/>
        </p:nvSpPr>
        <p:spPr>
          <a:xfrm>
            <a:off x="4754880" y="5065776"/>
            <a:ext cx="6931152" cy="277978"/>
          </a:xfrm>
          <a:prstGeom prst="rect">
            <a:avLst/>
          </a:prstGeom>
          <a:noFill/>
          <a:ln/>
        </p:spPr>
        <p:txBody>
          <a:bodyPr wrap="square" lIns="0" tIns="0" rIns="0" bIns="0" rtlCol="0" anchor="ctr"/>
          <a:lstStyle/>
          <a:p>
            <a:pPr algn="ctr" indent="0" marL="0">
              <a:buNone/>
            </a:pPr>
            <a:r>
              <a:rPr lang="en-US" sz="950" i="1" dirty="0">
                <a:solidFill>
                  <a:srgbClr val="5A6472"/>
                </a:solidFill>
                <a:latin typeface="Calibri" pitchFamily="34" charset="0"/>
                <a:cs typeface="Amiri" pitchFamily="2" charset="-78"/>
              </a:rPr>
              <a:t>He likes football, and his hobby is reading too.</a:t>
            </a:r>
            <a:endParaRPr lang="en-US" sz="950" dirty="0"/>
          </a:p>
        </p:txBody>
      </p:sp>
      <p:sp>
        <p:nvSpPr>
          <p:cNvPr id="37" name="Text 34"/>
          <p:cNvSpPr txBox="1"/>
          <p:nvPr/>
        </p:nvSpPr>
        <p:spPr>
          <a:xfrm>
            <a:off x="1051560" y="4626864"/>
            <a:ext cx="3566160" cy="731520"/>
          </a:xfrm>
          <a:prstGeom prst="rect">
            <a:avLst/>
          </a:prstGeom>
          <a:noFill/>
          <a:ln/>
        </p:spPr>
        <p:txBody>
          <a:bodyPr wrap="square" lIns="0" tIns="0" rIns="0" bIns="0" rtlCol="0" anchor="ctr"/>
          <a:lstStyle/>
          <a:p>
            <a:pPr rtl="1" algn="ctr" indent="0" marL="0">
              <a:buNone/>
            </a:pPr>
            <a:r>
              <a:rPr lang="ar-SA" altLang="en-US" sz="1600" b="1" dirty="0">
                <a:solidFill>
                  <a:srgbClr val="1B3B6F"/>
                </a:solidFill>
                <a:latin typeface="Amiri" pitchFamily="2" charset="-78"/>
                <a:ea typeface="Amiri" pitchFamily="2" charset="-78"/>
                <a:cs typeface="Amiri" pitchFamily="2" charset="-78"/>
              </a:rPr>
              <a:t>مَاذَا يُحِبُّ؟</a:t>
            </a:r>
            <a:endParaRPr lang="ar-SA" sz="1600" dirty="0"/>
          </a:p>
        </p:txBody>
      </p:sp>
      <p:sp>
        <p:nvSpPr>
          <p:cNvPr id="38" name="Text 35"/>
          <p:cNvSpPr txBox="1"/>
          <p:nvPr/>
        </p:nvSpPr>
        <p:spPr>
          <a:xfrm>
            <a:off x="566928" y="4626864"/>
            <a:ext cx="32004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4</a:t>
            </a:r>
            <a:endParaRPr lang="en-US" sz="1100" dirty="0"/>
          </a:p>
        </p:txBody>
      </p:sp>
      <p:sp>
        <p:nvSpPr>
          <p:cNvPr id="39" name="Text 36"/>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Did you answer every task in a full sentence? Choose one phrase you did not use and say it aloud.</a:t>
            </a:r>
            <a:endParaRPr lang="en-US" sz="1150" dirty="0"/>
          </a:p>
        </p:txBody>
      </p:sp>
      <p:sp>
        <p:nvSpPr>
          <p:cNvPr id="40" name="Text 37"/>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22</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CHECK YOURSELF · WRITE YOUR TEXT · A STRONG ANSWER</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400" b="1" dirty="0">
                <a:solidFill>
                  <a:srgbClr val="1B3B6F"/>
                </a:solidFill>
                <a:latin typeface="Cambria" pitchFamily="34" charset="0"/>
                <a:cs typeface="Amiri" pitchFamily="2" charset="-78"/>
              </a:rPr>
              <a:t>Writing: compare with a strong answer</a:t>
            </a:r>
            <a:endParaRPr lang="en-US" sz="24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قَارِنْ إِجَابَتَكَ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صَدِيقَتِي اسْمُهَا يَاسْمِينُ، وَعُمْرُهَا ثَلَاثَ عَشْرَةَ سَنَةً. هِيَ مِنَ المَغْرِبِ، وَتَسْكُنُ فِي بِرِسْتُولَ. تَتَكَلَّمُ العَرَبِيَّةَ وَالفَرَنْسِيَّةَ وَالإِنْجِلِيزِيَّةَ. هِوَايَتُهَا الرَّسْمُ، وَلَوْنُهَا المُفَضَّلُ الأَزْرَقُ. عِنْدَهَا أَخٌ صَغِيرٌ اسْمُهُ سَامِي، وَعُمْرُهُ سِتُّ سَنَوَاتٍ. هِيَ تَدْرُسُ مَعِي فِي الصَّفِّ الثَّامِنِ. أُحِبُّهَا لِأَنَّهَا لَطِيفَةٌ وَذَكِيَّةٌ جِدًّا.</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“My friend’s name is Yasmin, and she is thirteen. She is from Morocco, and she lives in Bristol. She speaks Arabic, French and English. Her hobby is drawing, and her favourite colour is blue. She has a little brother called Sami, who is six. She studies with me in Year 8. I like her because she is very kind and clever.”</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اسْمُهَا يَاسْمِينُ</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وَتَسْكُنُ فِي</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هِوَايَتُهَا الرَّسْمُ</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Amiri" pitchFamily="2" charset="-78"/>
                <a:ea typeface="Amiri" pitchFamily="2" charset="-78"/>
                <a:cs typeface="Amiri" pitchFamily="2" charset="-78"/>
              </a:rPr>
              <a:t>لِأَنَّهَا لَطِيفَةٌ</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22</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F2-L08 · Speaking + writing practice room</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Foundation F2 · Greetings &amp; Introductions · F2-L08 · practice room</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answered the questions and the role-play tasks in full sentences.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wrote a sentence for every bullet point.</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today’s key structure when I spoke AND when I wrote.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My buddy checked my text and I fixed one mistake.</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added reasons (</a:t>
            </a:r>
            <a:pPr algn="l" indent="0" marL="0">
              <a:buNone/>
            </a:pPr>
            <a:r>
              <a:rPr lang="ar-SA" altLang="en-US" sz="1700" dirty="0">
                <a:solidFill>
                  <a:srgbClr val="1F2A37"/>
                </a:solidFill>
                <a:latin typeface="Amiri" pitchFamily="2" charset="-78"/>
                <a:ea typeface="Amiri" pitchFamily="2" charset="-78"/>
                <a:cs typeface="Amiri" pitchFamily="2" charset="-78"/>
              </a:rPr>
              <a:t>لِأَنَّ</a:t>
            </a:r>
            <a:pPr algn="l" indent="0" marL="0">
              <a:buNone/>
            </a:pPr>
            <a:r>
              <a:rPr lang="en-US" sz="1300" dirty="0">
                <a:solidFill>
                  <a:srgbClr val="1F2A37"/>
                </a:solidFill>
                <a:latin typeface="Calibri" pitchFamily="34" charset="0"/>
                <a:cs typeface="Amiri" pitchFamily="2" charset="-78"/>
              </a:rPr>
              <a:t>) and extra details without frames.</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22</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F2-L08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you practised it yourselves!</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200" b="1" dirty="0">
                <a:solidFill>
                  <a:srgbClr val="FFFFFF"/>
                </a:solidFill>
                <a:latin typeface="Cambria" pitchFamily="34" charset="0"/>
                <a:cs typeface="Amiri" pitchFamily="2" charset="-78"/>
              </a:rPr>
              <a:t>F2-L09 · Listening to Personal Introductions</a:t>
            </a:r>
            <a:endParaRPr lang="en-US" sz="22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الاِسْتِمَاعُ إِلَى التَّعْرِيفَاتِ الشَّخْصِيَّةِ</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say it, then write it — full sentences, every time.</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22</Slides>
  <Notes>22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22</vt:i4>
      </vt:variant>
    </vt:vector>
  </HeadingPairs>
  <TitlesOfParts>
    <vt:vector size="2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F2-L08 · Practice Room — Reading and Writing Personal Profiles</dc:title>
  <dc:subject>PptxGenJS Presentation</dc:subject>
  <dc:creator>Al Madina Online School · Arabic Department</dc:creator>
  <cp:lastModifiedBy>Al Madina Online School · Arabic Department</cp:lastModifiedBy>
  <cp:revision>1</cp:revision>
  <dcterms:created xsi:type="dcterms:W3CDTF">2026-10-25T17:13:50Z</dcterms:created>
  <dcterms:modified xsi:type="dcterms:W3CDTF">2026-10-25T17:13:50Z</dcterms:modified>
</cp:coreProperties>
</file>