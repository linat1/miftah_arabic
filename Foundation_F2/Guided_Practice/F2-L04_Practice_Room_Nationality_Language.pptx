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F2-L04 (Nationality and Language) — new practice tasks built on the lesson’s own word bank and grammar (anā min …; nationality nisba (-iyyun / -iyyatun); atakallamu · afhamu · aqraʾu · aktubu).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F2-L04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أَنْتِ · جِنْسِيَّتُكِ · تَتَكَلَّمِينَ · تَفْهَمِينَ — and the Speaker says بِرِيطَانِيَّةٌ. Language: anā min + country · nationality agrees with the person (-iyyun / -iyyatun) · language verbs atakallamu, afhamu, aqraʾu.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(28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F2-L04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Nationality and Language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الجِنْسِيَّةُ وَاللُّغَةُ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50" dirty="0">
                <a:solidFill>
                  <a:srgbClr val="C6D2E6"/>
                </a:solidFill>
                <a:latin typeface="Calibri" pitchFamily="34" charset="0"/>
                <a:cs typeface="Amiri" pitchFamily="2" charset="-78"/>
              </a:rPr>
              <a:t>Students run their own speaking and writing practice about where they are from and the languages they speak: say the words, act a short dialogue, answer question cards, do a role-play card at an international summer camp, give a 30-second talk, then build, fix and write a short profile.</a:t>
            </a:r>
            <a:endParaRPr lang="en-US" sz="12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F2-L04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are you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جِنْسِيَّتِي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a:t>
            </a:r>
            <a:endParaRPr lang="en-US" sz="1350" dirty="0"/>
          </a:p>
          <a:p>
            <a:pPr indent="0" marL="0">
              <a:buNone/>
            </a:pPr>
            <a:r>
              <a:rPr lang="en-US" sz="1100" i="1" dirty="0">
                <a:solidFill>
                  <a:srgbClr val="5A6472"/>
                </a:solidFill>
                <a:latin typeface="Calibri" pitchFamily="34" charset="0"/>
                <a:cs typeface="Amiri" pitchFamily="2" charset="-78"/>
              </a:rPr>
              <a:t>lu-gha · lu-ghāt</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لُغَتَانِ</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لُغَاتٌ</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عَرَبِيٌّ</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a:t>
            </a:r>
            <a:endParaRPr lang="en-US" sz="1350" dirty="0"/>
          </a:p>
          <a:p>
            <a:pPr indent="0" marL="0">
              <a:buNone/>
            </a:pPr>
            <a:r>
              <a:rPr lang="en-US" sz="1100" i="1" dirty="0">
                <a:solidFill>
                  <a:srgbClr val="5A6472"/>
                </a:solidFill>
                <a:latin typeface="Calibri" pitchFamily="34" charset="0"/>
                <a:cs typeface="Amiri" pitchFamily="2" charset="-78"/>
              </a:rPr>
              <a:t>ʿa-ra-biy · ʿa-ra-biy-ya · ʿa-rab</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origin</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 …</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from …</a:t>
            </a:r>
            <a:endParaRPr lang="en-US" sz="1350" dirty="0"/>
          </a:p>
          <a:p>
            <a:pPr indent="0" marL="0">
              <a:buNone/>
            </a:pPr>
            <a:r>
              <a:rPr lang="en-US" sz="1100" i="1" dirty="0">
                <a:solidFill>
                  <a:srgbClr val="5A6472"/>
                </a:solidFill>
                <a:latin typeface="Calibri" pitchFamily="34" charset="0"/>
                <a:cs typeface="Amiri" pitchFamily="2" charset="-78"/>
              </a:rPr>
              <a:t>a-nā min …</a:t>
            </a:r>
            <a:endParaRPr lang="en-US" sz="1350" dirty="0"/>
          </a:p>
        </p:txBody>
      </p:sp>
      <p:sp>
        <p:nvSpPr>
          <p:cNvPr id="76" name="Text 7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 + a country: </a:t>
            </a:r>
            <a:pPr algn="l" indent="0" marL="0">
              <a:buNone/>
            </a:pPr>
            <a:r>
              <a:rPr lang="ar-SA" altLang="en-US" sz="1300" dirty="0">
                <a:solidFill>
                  <a:srgbClr val="8A6D1E"/>
                </a:solidFill>
                <a:latin typeface="Amiri" pitchFamily="2" charset="-78"/>
                <a:ea typeface="Amiri" pitchFamily="2" charset="-78"/>
                <a:cs typeface="Amiri" pitchFamily="2" charset="-78"/>
              </a:rPr>
              <a:t>أَنَا مِنْ مِصْرَ</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82" name="Text 7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جِنْسِيَّتُكَ؟</a:t>
            </a:r>
            <a:endParaRPr lang="ar-SA" sz="3000" dirty="0"/>
          </a:p>
        </p:txBody>
      </p:sp>
      <p:sp>
        <p:nvSpPr>
          <p:cNvPr id="83" name="Text 8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nationality? (to a boy)</a:t>
            </a:r>
            <a:endParaRPr lang="en-US" sz="1350" dirty="0"/>
          </a:p>
          <a:p>
            <a:pPr indent="0" marL="0">
              <a:buNone/>
            </a:pPr>
            <a:r>
              <a:rPr lang="en-US" sz="1100" i="1" dirty="0">
                <a:solidFill>
                  <a:srgbClr val="5A6472"/>
                </a:solidFill>
                <a:latin typeface="Calibri" pitchFamily="34" charset="0"/>
                <a:cs typeface="Amiri" pitchFamily="2" charset="-78"/>
              </a:rPr>
              <a:t>mā jin-siy-ya-tu-ka</a:t>
            </a:r>
            <a:endParaRPr lang="en-US" sz="1350" dirty="0"/>
          </a:p>
        </p:txBody>
      </p:sp>
      <p:sp>
        <p:nvSpPr>
          <p:cNvPr id="84" name="Text 8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-ki.</a:t>
            </a:r>
            <a:endParaRPr lang="en-US" sz="10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8" name="Shape 8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a:t>
            </a:r>
            <a:endParaRPr lang="en-US" sz="800" dirty="0"/>
          </a:p>
        </p:txBody>
      </p:sp>
      <p:sp>
        <p:nvSpPr>
          <p:cNvPr id="90" name="Text 8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أَيْنَ أَنْتَ؟</a:t>
            </a:r>
            <a:endParaRPr lang="ar-SA" sz="3000" dirty="0"/>
          </a:p>
        </p:txBody>
      </p:sp>
      <p:sp>
        <p:nvSpPr>
          <p:cNvPr id="91" name="Text 8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are you from? (to a boy)</a:t>
            </a:r>
            <a:endParaRPr lang="en-US" sz="1350" dirty="0"/>
          </a:p>
          <a:p>
            <a:pPr indent="0" marL="0">
              <a:buNone/>
            </a:pPr>
            <a:r>
              <a:rPr lang="en-US" sz="1100" i="1" dirty="0">
                <a:solidFill>
                  <a:srgbClr val="5A6472"/>
                </a:solidFill>
                <a:latin typeface="Calibri" pitchFamily="34" charset="0"/>
                <a:cs typeface="Amiri" pitchFamily="2" charset="-78"/>
              </a:rPr>
              <a:t>min ay-na an-ta · an-ti</a:t>
            </a:r>
            <a:endParaRPr lang="en-US" sz="1350" dirty="0"/>
          </a:p>
        </p:txBody>
      </p:sp>
      <p:sp>
        <p:nvSpPr>
          <p:cNvPr id="92" name="Text 8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a:t>
            </a:r>
            <a:pPr algn="l" indent="0" marL="0">
              <a:buNone/>
            </a:pPr>
            <a:r>
              <a:rPr lang="ar-SA" altLang="en-US" sz="1300" dirty="0">
                <a:solidFill>
                  <a:srgbClr val="8A6D1E"/>
                </a:solidFill>
                <a:latin typeface="Amiri" pitchFamily="2" charset="-78"/>
                <a:ea typeface="Amiri" pitchFamily="2" charset="-78"/>
                <a:cs typeface="Amiri" pitchFamily="2" charset="-78"/>
              </a:rPr>
              <a:t>مِنْ أَيْنَ أَنْتِ؟</a:t>
            </a:r>
            <a:endParaRPr lang="en-US" sz="10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Languages: speak, understand, read, write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a:t>
            </a:r>
            <a:endParaRPr lang="en-US" sz="1350" dirty="0"/>
          </a:p>
          <a:p>
            <a:pPr indent="0" marL="0">
              <a:buNone/>
            </a:pPr>
            <a:r>
              <a:rPr lang="en-US" sz="1100" i="1" dirty="0">
                <a:solidFill>
                  <a:srgbClr val="5A6472"/>
                </a:solidFill>
                <a:latin typeface="Calibri" pitchFamily="34" charset="0"/>
                <a:cs typeface="Amiri" pitchFamily="2" charset="-78"/>
              </a:rPr>
              <a:t>a-ta-kal-la-mu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أَتَكَلَّمُ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أَفْهَمُ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understand</a:t>
            </a:r>
            <a:endParaRPr lang="en-US" sz="1350" dirty="0"/>
          </a:p>
          <a:p>
            <a:pPr indent="0" marL="0">
              <a:buNone/>
            </a:pPr>
            <a:r>
              <a:rPr lang="en-US" sz="1100" i="1" dirty="0">
                <a:solidFill>
                  <a:srgbClr val="5A6472"/>
                </a:solidFill>
                <a:latin typeface="Calibri" pitchFamily="34" charset="0"/>
                <a:cs typeface="Amiri" pitchFamily="2" charset="-78"/>
              </a:rPr>
              <a:t>af-ha-mu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أَفْهَمُ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تَفْهَمُ</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تَفْهَمِينَ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أَقْرَأُ</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read</a:t>
            </a:r>
            <a:endParaRPr lang="en-US" sz="1350" dirty="0"/>
          </a:p>
          <a:p>
            <a:pPr indent="0" marL="0">
              <a:buNone/>
            </a:pPr>
            <a:r>
              <a:rPr lang="en-US" sz="1100" i="1" dirty="0">
                <a:solidFill>
                  <a:srgbClr val="5A6472"/>
                </a:solidFill>
                <a:latin typeface="Calibri" pitchFamily="34" charset="0"/>
                <a:cs typeface="Amiri" pitchFamily="2" charset="-78"/>
              </a:rPr>
              <a:t>aq-ra-ʾu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أَقْرَأُ</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تَقْرَأُ</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66" name="Text 6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تَقْرَئِينَ</a:t>
            </a:r>
            <a:endParaRPr lang="ar-SA" sz="135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0" name="Shape 6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أَكْتُبُ بِـ</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write (in)</a:t>
            </a:r>
            <a:endParaRPr lang="en-US" sz="1350" dirty="0"/>
          </a:p>
          <a:p>
            <a:pPr indent="0" marL="0">
              <a:buNone/>
            </a:pPr>
            <a:r>
              <a:rPr lang="en-US" sz="1100" i="1" dirty="0">
                <a:solidFill>
                  <a:srgbClr val="5A6472"/>
                </a:solidFill>
                <a:latin typeface="Calibri" pitchFamily="34" charset="0"/>
                <a:cs typeface="Amiri" pitchFamily="2" charset="-78"/>
              </a:rPr>
              <a:t>ak-tu-bu bi-</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أَكْتُبُ</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تَكْتُبُ</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82" name="Text 7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تَكْتُبِينَ</a:t>
            </a:r>
            <a:endParaRPr lang="ar-SA" sz="135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6" name="Shape 8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0" name="Text 8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 الإِنْجِلِيزِيَّةُ</a:t>
            </a:r>
            <a:endParaRPr lang="ar-SA" sz="3000" dirty="0"/>
          </a:p>
        </p:txBody>
      </p:sp>
      <p:sp>
        <p:nvSpPr>
          <p:cNvPr id="91" name="Text 8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 English</a:t>
            </a:r>
            <a:endParaRPr lang="en-US" sz="1350" dirty="0"/>
          </a:p>
          <a:p>
            <a:pPr indent="0" marL="0">
              <a:buNone/>
            </a:pPr>
            <a:r>
              <a:rPr lang="en-US" sz="1100" i="1" dirty="0">
                <a:solidFill>
                  <a:srgbClr val="5A6472"/>
                </a:solidFill>
                <a:latin typeface="Calibri" pitchFamily="34" charset="0"/>
                <a:cs typeface="Amiri" pitchFamily="2" charset="-78"/>
              </a:rPr>
              <a:t>al-ʿa-ra-biy-ya · al-in-ji-lī-ziy-ya</a:t>
            </a:r>
            <a:endParaRPr lang="en-US" sz="1350" dirty="0"/>
          </a:p>
        </p:txBody>
      </p:sp>
      <p:sp>
        <p:nvSpPr>
          <p:cNvPr id="92" name="Text 8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Languages are feminine and take </a:t>
            </a:r>
            <a:pPr algn="l" indent="0" marL="0">
              <a:buNone/>
            </a:pPr>
            <a:r>
              <a:rPr lang="ar-SA" altLang="en-US" sz="1300" dirty="0">
                <a:solidFill>
                  <a:srgbClr val="8A6D1E"/>
                </a:solidFill>
                <a:latin typeface="Amiri" pitchFamily="2" charset="-78"/>
                <a:ea typeface="Amiri" pitchFamily="2" charset="-78"/>
                <a:cs typeface="Amiri" pitchFamily="2" charset="-78"/>
              </a:rPr>
              <a:t>ال</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6" name="Shape 9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98" name="Text 9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الفَرَنْسِيَّةُ · الأُرْدِيَّةُ</a:t>
            </a:r>
            <a:endParaRPr lang="ar-SA" sz="3000" dirty="0"/>
          </a:p>
        </p:txBody>
      </p:sp>
      <p:sp>
        <p:nvSpPr>
          <p:cNvPr id="99" name="Text 9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French · Urdu</a:t>
            </a:r>
            <a:endParaRPr lang="en-US" sz="1350" dirty="0"/>
          </a:p>
          <a:p>
            <a:pPr indent="0" marL="0">
              <a:buNone/>
            </a:pPr>
            <a:r>
              <a:rPr lang="en-US" sz="1100" i="1" dirty="0">
                <a:solidFill>
                  <a:srgbClr val="5A6472"/>
                </a:solidFill>
                <a:latin typeface="Calibri" pitchFamily="34" charset="0"/>
                <a:cs typeface="Amiri" pitchFamily="2" charset="-78"/>
              </a:rPr>
              <a:t>al-fa-ran-siy-ya · al-ur-diy-ya</a:t>
            </a:r>
            <a:endParaRPr lang="en-US" sz="1350" dirty="0"/>
          </a:p>
        </p:txBody>
      </p:sp>
      <p:sp>
        <p:nvSpPr>
          <p:cNvPr id="100" name="Text 9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Add yours: </a:t>
            </a:r>
            <a:pPr algn="l" indent="0" marL="0">
              <a:buNone/>
            </a:pPr>
            <a:r>
              <a:rPr lang="ar-SA" altLang="en-US" sz="1300" dirty="0">
                <a:solidFill>
                  <a:srgbClr val="8A6D1E"/>
                </a:solidFill>
                <a:latin typeface="Amiri" pitchFamily="2" charset="-78"/>
                <a:ea typeface="Amiri" pitchFamily="2" charset="-78"/>
                <a:cs typeface="Amiri" pitchFamily="2" charset="-78"/>
              </a:rPr>
              <a:t>البِنْغَالِيَّةُ، الصُّومَالِيَّةُ</a:t>
            </a:r>
            <a:pPr algn="l" indent="0" marL="0">
              <a:buNone/>
            </a:pPr>
            <a:r>
              <a:rPr lang="en-US" sz="1000" i="1" dirty="0">
                <a:solidFill>
                  <a:srgbClr val="8A6D1E"/>
                </a:solidFill>
                <a:latin typeface="Calibri" pitchFamily="34" charset="0"/>
                <a:cs typeface="Amiri" pitchFamily="2" charset="-78"/>
              </a:rPr>
              <a:t> …</a:t>
            </a:r>
            <a:endParaRPr lang="en-US" sz="10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are you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أَيْنَ أَنْتَ؟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 (to a boy)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أَيْنَ أَنْتَ؟</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from Pakistan, but I live in Britain.</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مِنْ بَاكِسْتَانَ، لٰكِنِّي أَسْكُنُ فِي بِرِيطَانِيَا.</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nationality?</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جِنْسِيَّتُكَ؟</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British (m.). And you?</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بِرِيطَانِيٌّ. وَأَنْتِ؟</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Egyptian (f.). I speak Arabic and English.</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مِصْرِيَّةٌ. أَتَكَلَّمُ العَرَبِيَّةَ وَالإِنْجِلِيزِيَّةَ.</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speak Urdu and English, and I understand a little Arabic.</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أَنَا أَتَكَلَّمُ الأُرْدِيَّةَ وَالإِنْجِلِيزِيَّةَ، وَأَفْهَمُ العَرَبِيَّةَ قَلِيلًا.</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give your REAL country, nationality and languages.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وَأَسْكُنُ فِي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 (boy / girl)</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 مِنْ أَيْنَ أَنْتِ؟</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وَأُمِّي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 بِرِيطَانِيٌّ / بِرِيطَانِيَّةٌ</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nationality?</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 أَيْضًا</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أَتَكَلَّمُ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do you speak?</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تَتَكَلَّمُ؟</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وَأَكْتُبُ قَلِيلًا</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أَقْرَأُ … / لَا،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read Arabic?</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تَقْرَأُ العَرَبِيَّةَ؟</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هُوَ … / صَدِيقَتِي … هِيَ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صَدِيقِي مِنْ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your friend from?</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صَدِيقُكَ؟</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an international summer camp</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المُخَيَّمِ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أَنَا مِنْ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 are from.</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وَسَهْلًا! مِنْ أَيْنَ أَنْتَ؟</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جِنْسِيَّةٌ ← أَنَا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nationality.</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أَتَكَلَّمُ … وَ…</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languages.</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تَتَكَلَّمُ؟</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أَفْهَمُ … قَلِيلًا</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yes / no + a little.</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تَفْهَمُ العَرَبِيَّةَ؟</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camper from Britain · Leader = the camp leader.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where I am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 seconds: where you are from, where you live, your nationality and the languages you speak, understand and read.</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أَنَا مِنْ</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أَنَا</a:t>
            </a:r>
            <a:pPr algn="l" indent="0" marL="0">
              <a:buNone/>
            </a:pPr>
            <a:r>
              <a:rPr lang="en-US" sz="1150" dirty="0">
                <a:solidFill>
                  <a:srgbClr val="1F2A37"/>
                </a:solidFill>
                <a:latin typeface="Calibri" pitchFamily="34" charset="0"/>
                <a:cs typeface="Amiri" pitchFamily="2" charset="-78"/>
              </a:rPr>
              <a:t> … (nationality) · </a:t>
            </a:r>
            <a:pPr algn="l" indent="0" marL="0">
              <a:buNone/>
            </a:pPr>
            <a:r>
              <a:rPr lang="ar-SA" altLang="en-US" sz="1500" dirty="0">
                <a:solidFill>
                  <a:srgbClr val="1F2A37"/>
                </a:solidFill>
                <a:latin typeface="Amiri" pitchFamily="2" charset="-78"/>
                <a:ea typeface="Amiri" pitchFamily="2" charset="-78"/>
                <a:cs typeface="Amiri" pitchFamily="2" charset="-78"/>
              </a:rPr>
              <a:t>أَتَكَلَّمُ</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أَسْكُنُ فِي</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أَفْهَمُ / أَقْرَأُ</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family member’s nationality with the right ending (</a:t>
            </a:r>
            <a:pPr algn="l" indent="0" marL="0">
              <a:buNone/>
            </a:pPr>
            <a:r>
              <a:rPr lang="ar-SA" altLang="en-US" sz="1500" dirty="0">
                <a:solidFill>
                  <a:srgbClr val="1F2A37"/>
                </a:solidFill>
                <a:latin typeface="Amiri" pitchFamily="2" charset="-78"/>
                <a:ea typeface="Amiri" pitchFamily="2" charset="-78"/>
                <a:cs typeface="Amiri" pitchFamily="2" charset="-78"/>
              </a:rPr>
              <a:t>أُمِّي مِصْرِيَّةٌ</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أَبِي سُودَانِيٌّ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مِنْ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from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أَسْكُنُ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live in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أَتَكَلَّمُ … وَ…</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speak … and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قَلِيلًا · جَيِّدًا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little · well</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from Morocco; I am Moroccan (girl).</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مِنَ المَغْرِبِ،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فِي المَغْرِبِ،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مَغْرِبِيَّةٌ.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مَغْرِبِيٌّ.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speak Arabic and English.</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أَتَكَلَّمُ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يَتَكَلَّمُ</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العَرَبِيَّةَ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عَرَبِيٌّ</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وَالإِنْجِلِيزِيَّةَ.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وَإِنْجِلْتِرَا.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father is Sudanese, and he speaks Arabic.</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أَبِي سُودَانِيٌّ،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أَبِي سُودَانِيَّةٌ،</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وَيَتَكَلَّمُ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وَأَتَكَلَّمُ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العَرَبِيَّةَ.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عَرَبِيٌّ.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from Morocco; I am Moroccan (girl).</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a girl → </a:t>
            </a:r>
            <a:pPr algn="l" indent="0" marL="0">
              <a:buNone/>
            </a:pPr>
            <a:r>
              <a:rPr lang="ar-SA" altLang="en-US" sz="1350" dirty="0">
                <a:solidFill>
                  <a:srgbClr val="5A6472"/>
                </a:solidFill>
                <a:latin typeface="Amiri" pitchFamily="2" charset="-78"/>
                <a:ea typeface="Amiri" pitchFamily="2" charset="-78"/>
                <a:cs typeface="Amiri" pitchFamily="2" charset="-78"/>
              </a:rPr>
              <a:t>مَغْرِبِيَّةٌ</a:t>
            </a:r>
            <a:pPr algn="l" indent="0" marL="0">
              <a:buNone/>
            </a:pPr>
            <a:r>
              <a:rPr lang="en-US" sz="1050" i="1" dirty="0">
                <a:solidFill>
                  <a:srgbClr val="5A6472"/>
                </a:solidFill>
                <a:latin typeface="Calibri" pitchFamily="34" charset="0"/>
                <a:cs typeface="Amiri" pitchFamily="2" charset="-78"/>
              </a:rPr>
              <a:t> (-iyyatun).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مِنَ المَغْرِبِ، أَنَا مَغْرِبِيَّةٌ.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speak Arabic and English.</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t>
            </a:r>
            <a:pPr algn="l" indent="0" marL="0">
              <a:buNone/>
            </a:pPr>
            <a:r>
              <a:rPr lang="ar-SA" altLang="en-US" sz="1350" dirty="0">
                <a:solidFill>
                  <a:srgbClr val="5A6472"/>
                </a:solidFill>
                <a:latin typeface="Amiri" pitchFamily="2" charset="-78"/>
                <a:ea typeface="Amiri" pitchFamily="2" charset="-78"/>
                <a:cs typeface="Amiri" pitchFamily="2" charset="-78"/>
              </a:rPr>
              <a:t>أَتَكَلَّمُ</a:t>
            </a:r>
            <a:pPr algn="l" indent="0" marL="0">
              <a:buNone/>
            </a:pPr>
            <a:r>
              <a:rPr lang="en-US" sz="1050" i="1" dirty="0">
                <a:solidFill>
                  <a:srgbClr val="5A6472"/>
                </a:solidFill>
                <a:latin typeface="Calibri" pitchFamily="34" charset="0"/>
                <a:cs typeface="Amiri" pitchFamily="2" charset="-78"/>
              </a:rPr>
              <a:t>; languages = </a:t>
            </a:r>
            <a:pPr algn="l" indent="0" marL="0">
              <a:buNone/>
            </a:pPr>
            <a:r>
              <a:rPr lang="ar-SA" altLang="en-US" sz="1350" dirty="0">
                <a:solidFill>
                  <a:srgbClr val="5A6472"/>
                </a:solidFill>
                <a:latin typeface="Amiri" pitchFamily="2" charset="-78"/>
                <a:ea typeface="Amiri" pitchFamily="2" charset="-78"/>
                <a:cs typeface="Amiri" pitchFamily="2" charset="-78"/>
              </a:rPr>
              <a:t>العَرَبِيَّةَ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الإِنْجِلِيزِيَّةَ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أَتَكَلَّمُ العَرَبِيَّةَ وَالإِنْجِلِيزِيَّةَ.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father is Sudanese, and he speaks Arabic.</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man → </a:t>
            </a:r>
            <a:pPr algn="l" indent="0" marL="0">
              <a:buNone/>
            </a:pPr>
            <a:r>
              <a:rPr lang="ar-SA" altLang="en-US" sz="1350" dirty="0">
                <a:solidFill>
                  <a:srgbClr val="5A6472"/>
                </a:solidFill>
                <a:latin typeface="Amiri" pitchFamily="2" charset="-78"/>
                <a:ea typeface="Amiri" pitchFamily="2" charset="-78"/>
                <a:cs typeface="Amiri" pitchFamily="2" charset="-78"/>
              </a:rPr>
              <a:t>سُودَانِيٌّ</a:t>
            </a:r>
            <a:pPr algn="l" indent="0" marL="0">
              <a:buNone/>
            </a:pPr>
            <a:r>
              <a:rPr lang="en-US" sz="1050" i="1" dirty="0">
                <a:solidFill>
                  <a:srgbClr val="5A6472"/>
                </a:solidFill>
                <a:latin typeface="Calibri" pitchFamily="34" charset="0"/>
                <a:cs typeface="Amiri" pitchFamily="2" charset="-78"/>
              </a:rPr>
              <a:t>; he speaks = </a:t>
            </a:r>
            <a:pPr algn="l" indent="0" marL="0">
              <a:buNone/>
            </a:pPr>
            <a:r>
              <a:rPr lang="ar-SA" altLang="en-US" sz="1350" dirty="0">
                <a:solidFill>
                  <a:srgbClr val="5A6472"/>
                </a:solidFill>
                <a:latin typeface="Amiri" pitchFamily="2" charset="-78"/>
                <a:ea typeface="Amiri" pitchFamily="2" charset="-78"/>
                <a:cs typeface="Amiri" pitchFamily="2" charset="-78"/>
              </a:rPr>
              <a:t>يَتَكَلَّمُ</a:t>
            </a:r>
            <a:pPr algn="l" indent="0" marL="0">
              <a:buNone/>
            </a:pPr>
            <a:r>
              <a:rPr lang="en-US" sz="1050" i="1" dirty="0">
                <a:solidFill>
                  <a:srgbClr val="5A6472"/>
                </a:solidFill>
                <a:latin typeface="Calibri" pitchFamily="34" charset="0"/>
                <a:cs typeface="Amiri" pitchFamily="2" charset="-78"/>
              </a:rPr>
              <a:t>; the language = </a:t>
            </a:r>
            <a:pPr algn="l" indent="0" marL="0">
              <a:buNone/>
            </a:pPr>
            <a:r>
              <a:rPr lang="ar-SA" altLang="en-US" sz="1350" dirty="0">
                <a:solidFill>
                  <a:srgbClr val="5A6472"/>
                </a:solidFill>
                <a:latin typeface="Amiri" pitchFamily="2" charset="-78"/>
                <a:ea typeface="Amiri" pitchFamily="2" charset="-78"/>
                <a:cs typeface="Amiri" pitchFamily="2" charset="-78"/>
              </a:rPr>
              <a:t>العَرَبِيَّةَ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أَبِي سُودَانِيٌّ، وَيَتَكَلَّمُ العَرَبِيَّةَ.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بَاكِسْتَانِيٌّ.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is a woman.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فِي الأُرْدُنِّ.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am from Jordan. — from or 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أَتَكَلَّمُ عَرَبِيٌّ.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language, not the person.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بَاكِسْتَانِيٌّ.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بَاكِسْتَانِيَّةٌ.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woman → -iyyatun: </a:t>
            </a:r>
            <a:pPr algn="l" indent="0" marL="0">
              <a:buNone/>
            </a:pPr>
            <a:r>
              <a:rPr lang="ar-SA" altLang="en-US" sz="1500" b="1" dirty="0">
                <a:solidFill>
                  <a:srgbClr val="1B3B6F"/>
                </a:solidFill>
                <a:latin typeface="Amiri" pitchFamily="2" charset="-78"/>
                <a:ea typeface="Amiri" pitchFamily="2" charset="-78"/>
                <a:cs typeface="Amiri" pitchFamily="2" charset="-78"/>
              </a:rPr>
              <a:t>بَاكِسْتَانِيَّةٌ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فِي الأُرْدُنِّ.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مِنَ الأُرْدُنِّ.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From =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in =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أَتَكَلَّمُ عَرَبِيٌّ.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أَتَكَلَّمُ 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language = </a:t>
            </a:r>
            <a:pPr algn="l" indent="0" marL="0">
              <a:buNone/>
            </a:pPr>
            <a:r>
              <a:rPr lang="ar-SA" altLang="en-US" sz="1500" b="1" dirty="0">
                <a:solidFill>
                  <a:srgbClr val="1B3B6F"/>
                </a:solidFill>
                <a:latin typeface="Amiri" pitchFamily="2" charset="-78"/>
                <a:ea typeface="Amiri" pitchFamily="2" charset="-78"/>
                <a:cs typeface="Amiri" pitchFamily="2" charset="-78"/>
              </a:rPr>
              <a:t>العَرَبِيَّةُ</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ea typeface="Amiri" pitchFamily="2" charset="-78"/>
                <a:cs typeface="Amiri" pitchFamily="2" charset="-78"/>
              </a:rPr>
              <a:t>عَرَبِيٌّ</a:t>
            </a:r>
            <a:pPr algn="l" indent="0" marL="0">
              <a:buNone/>
            </a:pPr>
            <a:r>
              <a:rPr lang="en-US" sz="1150" b="1" dirty="0">
                <a:solidFill>
                  <a:srgbClr val="1B3B6F"/>
                </a:solidFill>
                <a:latin typeface="Calibri" pitchFamily="34" charset="0"/>
                <a:cs typeface="Amiri" pitchFamily="2" charset="-78"/>
              </a:rPr>
              <a:t> = an Arab (person).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أَفْهَمُ ______ قَلِيلًا، وَأَقْرَأُ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understand … a little, and I read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______ ، وَأَبِي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 and my father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بِالعَرَبِيَّةِ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in Arabic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وَأَنَا مِنْ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I am from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(nationality).</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أَنَا مِنْ  ·  أَسْكُنُ فِي  ·  بِرِيطَانِيٌّ · بِرِيطَانِيَّةٌ  ·  مِصْرِيٌّ · مِصْرِيَّةٌ  ·  أَتَكَلَّمُ  ·  أَفْهَمُ · أَقْرَأُ  ·  العَرَبِيَّةُ · الإِنْجِلِيزِيَّةُ  ·  قَلِيلًا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profile: country and languages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بِطَاقَتِي: البَلَدُ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short profile (about 30–50 words) for an international pen-friend club. Include: • your name and where you are from • where you live • your nationality • the languages you speak and understand • one family member’s nationality.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 وَأَسْكُنُ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بِرِيطَانِيٌّ / بِرِيطَانِيَّةٌ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British (m. / 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 ، وَأَفْهَمُ … قَلِيلًا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and I understand … a little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 ، وَأَبِي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is … and my father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أَنَا مِنْ</a:t>
            </a:r>
            <a:pPr algn="l" indent="0" marL="0">
              <a:buNone/>
            </a:pPr>
            <a:r>
              <a:rPr lang="en-US" sz="1100" dirty="0">
                <a:solidFill>
                  <a:srgbClr val="5A6472"/>
                </a:solidFill>
                <a:latin typeface="Calibri" pitchFamily="34" charset="0"/>
                <a:cs typeface="Amiri" pitchFamily="2" charset="-78"/>
              </a:rPr>
              <a:t> … and a language verb (</a:t>
            </a:r>
            <a:pPr algn="l" indent="0" marL="0">
              <a:buNone/>
            </a:pPr>
            <a:r>
              <a:rPr lang="ar-SA" altLang="en-US" sz="1450" dirty="0">
                <a:solidFill>
                  <a:srgbClr val="5A6472"/>
                </a:solidFill>
                <a:latin typeface="Amiri" pitchFamily="2" charset="-78"/>
                <a:ea typeface="Amiri" pitchFamily="2" charset="-78"/>
                <a:cs typeface="Amiri" pitchFamily="2" charset="-78"/>
              </a:rPr>
              <a:t>أَتَكَلَّمُ</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the nationality match the person (-iyyun / -iyyatun)?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بِرِيطَانِيَا.</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Britain.</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وَسَهْلًا! مِنْ أَيْنَ أَنْتَ؟</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British.</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جِنْسِيَّتُكَ؟</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الإِنْجِلِيزِيَّةَ وَالأُرْدِيَّةَ.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English and Urdu.</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لُغَةٍ تَتَكَلَّمُ؟</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أَفْهَمُ العَرَبِيَّةَ قَلِيلًا، وَأَقْرَأُهَا.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understand Arabic a little, and I read it.</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تَفْهَمُ العَرَبِيَّةَ؟</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اسْمِي حَمْزَةُ، وَأَنَا مِنَ الصُّومَالِ، لٰكِنِّي أَسْكُنُ فِي مَانْشِسْتَرَ. أَنَا بِرِيطَانِيٌّ. أُمِّي صُومَالِيَّةٌ، وَأَبِي صُومَالِيٌّ أَيْضًا. أَتَكَلَّمُ الإِنْجِلِيزِيَّةَ وَالصُّومَالِيَّةَ، وَأَفْهَمُ العَرَبِيَّةَ قَلِيلًا، وَأَقْرَأُ القُرْآنَ بِالعَرَبِيَّةِ. 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My name is Hamza, and I am from Somalia, but I live in Manchester. I am British. My mother is Somali, and my father is Somali too. I speak English and Somali, I understand Arabic a little, and I read the Qur’an in Arabic.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مِنَ الصُّومَالِ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أُمِّي صُومَالِيَّةٌ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أَتَكَلَّمُ الإِنْجِلِيزِيَّةَ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أَفْهَمُ العَرَبِيَّةَ قَلِيلًا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F2-L05 · Masculine and Feminine: Make the Pair Match</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تَذْكِيرُ الأَسْمَاءِ وَتَأْنِيثُهَا وَمُطَابَقَةُ الصِّفَةِ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F2-L04 · Practice Room — Nationality and Language</dc:title>
  <dc:subject>PptxGenJS Presentation</dc:subject>
  <dc:creator>Al Madina Online School · Arabic Department</dc:creator>
  <cp:lastModifiedBy>Al Madina Online School · Arabic Department</cp:lastModifiedBy>
  <cp:revision>1</cp:revision>
  <dcterms:created xsi:type="dcterms:W3CDTF">2026-10-25T18:34:57Z</dcterms:created>
  <dcterms:modified xsi:type="dcterms:W3CDTF">2026-10-25T18:34:57Z</dcterms:modified>
</cp:coreProperties>
</file>