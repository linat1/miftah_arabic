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F2-L01 (Hello, Goodbye &amp; How Are You?) — new practice tasks built on the lesson’s own word bank and grammar (greeting + paired reply; kayfa ḥāluka (to a boy) / kayfa ḥāluki (to a girl); polite closings).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كَيْفَ حَالُكِ؟ — and the Speaker asks a woman neighbour: وَأَنْتِ؟. Language: every greeting has a paired reply · -ka to a boy, -ki to a girl · polite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Hello, Goodbye &amp; How Are You?</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التَّحِيَّاتُ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with greetings: say the greetings and their replies, act a short dialogue, answer greeting cards, do a role-play card meeting a neighbour, give a 30-second greeting, then build, fix and write a short greeting message.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F2-L01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Greetings and replies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السَّلَامُ عَلَيْكُمْ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be upon you.</a:t>
            </a:r>
            <a:endParaRPr lang="en-US" sz="1350" dirty="0"/>
          </a:p>
          <a:p>
            <a:pPr indent="0" marL="0">
              <a:buNone/>
            </a:pPr>
            <a:r>
              <a:rPr lang="en-US" sz="1100" i="1" dirty="0">
                <a:solidFill>
                  <a:srgbClr val="5A6472"/>
                </a:solidFill>
                <a:latin typeface="Calibri" pitchFamily="34" charset="0"/>
                <a:cs typeface="Amiri" pitchFamily="2" charset="-78"/>
              </a:rPr>
              <a:t>as-sa-lā-mu ʿa-lay-kum</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Widely used greeting of Islamic origin.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وَعَلَيْكُمُ السَّلَامُ</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upon you be peace.</a:t>
            </a:r>
            <a:endParaRPr lang="en-US" sz="1350" dirty="0"/>
          </a:p>
          <a:p>
            <a:pPr indent="0" marL="0">
              <a:buNone/>
            </a:pPr>
            <a:r>
              <a:rPr lang="en-US" sz="1100" i="1" dirty="0">
                <a:solidFill>
                  <a:srgbClr val="5A6472"/>
                </a:solidFill>
                <a:latin typeface="Calibri" pitchFamily="34" charset="0"/>
                <a:cs typeface="Amiri" pitchFamily="2" charset="-78"/>
              </a:rPr>
              <a:t>wa-ʿa-lay-ku-mu s-sa-lām</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reply turns it round: “and upon YOU”.</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welcome</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أَهْلًا وَسَهْلًا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Welcome.</a:t>
            </a:r>
            <a:endParaRPr lang="en-US" sz="1350" dirty="0"/>
          </a:p>
          <a:p>
            <a:pPr indent="0" marL="0">
              <a:buNone/>
            </a:pPr>
            <a:r>
              <a:rPr lang="en-US" sz="1100" i="1" dirty="0">
                <a:solidFill>
                  <a:srgbClr val="5A6472"/>
                </a:solidFill>
                <a:latin typeface="Calibri" pitchFamily="34" charset="0"/>
                <a:cs typeface="Amiri" pitchFamily="2" charset="-78"/>
              </a:rPr>
              <a:t>ah-lan wa-sah-lan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Idiomatic: the meaning matters, not word-for-word.</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عَلَيْكَ</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upon you</a:t>
            </a:r>
            <a:endParaRPr lang="en-US" sz="1350" dirty="0"/>
          </a:p>
          <a:p>
            <a:pPr indent="0" marL="0">
              <a:buNone/>
            </a:pPr>
            <a:r>
              <a:rPr lang="en-US" sz="1100" i="1" dirty="0">
                <a:solidFill>
                  <a:srgbClr val="5A6472"/>
                </a:solidFill>
                <a:latin typeface="Calibri" pitchFamily="34" charset="0"/>
                <a:cs typeface="Amiri" pitchFamily="2" charset="-78"/>
              </a:rPr>
              <a:t>to one boy · to one girl · to a group</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a:t>
            </a:r>
            <a:endParaRPr lang="ar-SA" sz="150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عَلَيْكُمْ</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2150" b="1" dirty="0">
                <a:solidFill>
                  <a:srgbClr val="1B3B6F"/>
                </a:solidFill>
                <a:latin typeface="Amiri" pitchFamily="2" charset="-78"/>
                <a:ea typeface="Amiri" pitchFamily="2" charset="-78"/>
                <a:cs typeface="Amiri" pitchFamily="2" charset="-78"/>
              </a:rPr>
              <a:t>السَّلَامُ عَلَيْكُمْ وَرَحْمَةُ اللَّهِ وَبَرَكَاتُهُ</a:t>
            </a:r>
            <a:endParaRPr lang="ar-SA" sz="215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greeting (Stretch)</a:t>
            </a:r>
            <a:endParaRPr lang="en-US" sz="1350" dirty="0"/>
          </a:p>
          <a:p>
            <a:pPr indent="0" marL="0">
              <a:buNone/>
            </a:pPr>
            <a:r>
              <a:rPr lang="en-US" sz="1100" i="1" dirty="0">
                <a:solidFill>
                  <a:srgbClr val="5A6472"/>
                </a:solidFill>
                <a:latin typeface="Calibri" pitchFamily="34" charset="0"/>
                <a:cs typeface="Amiri" pitchFamily="2" charset="-78"/>
              </a:rPr>
              <a:t>… and the mercy of God and His blessings</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 النُّورِ</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morning. (reply)</a:t>
            </a:r>
            <a:endParaRPr lang="en-US" sz="1350" dirty="0"/>
          </a:p>
          <a:p>
            <a:pPr indent="0" marL="0">
              <a:buNone/>
            </a:pPr>
            <a:r>
              <a:rPr lang="en-US" sz="1100" i="1" dirty="0">
                <a:solidFill>
                  <a:srgbClr val="5A6472"/>
                </a:solidFill>
                <a:latin typeface="Calibri" pitchFamily="34" charset="0"/>
                <a:cs typeface="Amiri" pitchFamily="2" charset="-78"/>
              </a:rPr>
              <a:t>ṣa-bā-ḥu n-nūr</a:t>
            </a:r>
            <a:endParaRPr lang="en-US" sz="1350" dirty="0"/>
          </a:p>
        </p:txBody>
      </p:sp>
      <p:sp>
        <p:nvSpPr>
          <p:cNvPr id="77" name="Text 74"/>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Literally: morning of light.</a:t>
            </a:r>
            <a:endParaRPr lang="en-US" sz="100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are you? Thank you, goodbye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الخَيْرِ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evening.</a:t>
            </a:r>
            <a:endParaRPr lang="en-US" sz="1350" dirty="0"/>
          </a:p>
          <a:p>
            <a:pPr indent="0" marL="0">
              <a:buNone/>
            </a:pPr>
            <a:r>
              <a:rPr lang="en-US" sz="1100" i="1" dirty="0">
                <a:solidFill>
                  <a:srgbClr val="5A6472"/>
                </a:solidFill>
                <a:latin typeface="Calibri" pitchFamily="34" charset="0"/>
                <a:cs typeface="Amiri" pitchFamily="2" charset="-78"/>
              </a:rPr>
              <a:t>ma-sā-ʾu l-khayr</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hamza is a short stop.</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حَالُكَ؟</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are you?</a:t>
            </a:r>
            <a:endParaRPr lang="en-US" sz="1350" dirty="0"/>
          </a:p>
          <a:p>
            <a:pPr indent="0" marL="0">
              <a:buNone/>
            </a:pPr>
            <a:r>
              <a:rPr lang="en-US" sz="1100" i="1" dirty="0">
                <a:solidFill>
                  <a:srgbClr val="5A6472"/>
                </a:solidFill>
                <a:latin typeface="Calibri" pitchFamily="34" charset="0"/>
                <a:cs typeface="Amiri" pitchFamily="2" charset="-78"/>
              </a:rPr>
              <a:t>kay-fa ḥā-lu-ka · -ki · -kum</a:t>
            </a:r>
            <a:endParaRPr lang="en-US" sz="1350" dirty="0"/>
          </a:p>
        </p:txBody>
      </p:sp>
      <p:sp>
        <p:nvSpPr>
          <p:cNvPr id="32" name="Shape 2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34" name="Text 3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a:t>
            </a:r>
            <a:endParaRPr lang="ar-SA" sz="1350" dirty="0"/>
          </a:p>
        </p:txBody>
      </p:sp>
      <p:sp>
        <p:nvSpPr>
          <p:cNvPr id="35" name="Shape 3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37" name="Text 3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a:t>
            </a:r>
            <a:endParaRPr lang="ar-SA" sz="1350" dirty="0"/>
          </a:p>
        </p:txBody>
      </p:sp>
      <p:sp>
        <p:nvSpPr>
          <p:cNvPr id="38" name="Shape 3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40" name="Text 3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حَالُكُمْ</a:t>
            </a:r>
            <a:endParaRPr lang="ar-SA" sz="135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6" name="Shape 4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بِخَيْرٍ، الحَمْدُ لِلَّهِ</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Fine, praise be to God.</a:t>
            </a:r>
            <a:endParaRPr lang="en-US" sz="1350" dirty="0"/>
          </a:p>
          <a:p>
            <a:pPr indent="0" marL="0">
              <a:buNone/>
            </a:pPr>
            <a:r>
              <a:rPr lang="en-US" sz="1100" i="1" dirty="0">
                <a:solidFill>
                  <a:srgbClr val="5A6472"/>
                </a:solidFill>
                <a:latin typeface="Calibri" pitchFamily="34" charset="0"/>
                <a:cs typeface="Amiri" pitchFamily="2" charset="-78"/>
              </a:rPr>
              <a:t>bi-khay-rin, al-ḥam-du lil-lāh</a:t>
            </a:r>
            <a:endParaRPr lang="en-US" sz="1350" dirty="0"/>
          </a:p>
        </p:txBody>
      </p:sp>
      <p:sp>
        <p:nvSpPr>
          <p:cNvPr id="50" name="Text 4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بِخَيْرٍ</a:t>
            </a:r>
            <a:pPr algn="l" indent="0" marL="0">
              <a:buNone/>
            </a:pPr>
            <a:r>
              <a:rPr lang="en-US" sz="1000" i="1" dirty="0">
                <a:solidFill>
                  <a:srgbClr val="8A6D1E"/>
                </a:solidFill>
                <a:latin typeface="Calibri" pitchFamily="34" charset="0"/>
                <a:cs typeface="Amiri" pitchFamily="2" charset="-78"/>
              </a:rPr>
              <a:t> can stand alone.</a:t>
            </a:r>
            <a:endParaRPr lang="en-US" sz="10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polite</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shukriya.</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السَّلَامَةِ</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Goodbye.</a:t>
            </a:r>
            <a:endParaRPr lang="en-US" sz="1350" dirty="0"/>
          </a:p>
          <a:p>
            <a:pPr indent="0" marL="0">
              <a:buNone/>
            </a:pPr>
            <a:r>
              <a:rPr lang="en-US" sz="1100" i="1" dirty="0">
                <a:solidFill>
                  <a:srgbClr val="5A6472"/>
                </a:solidFill>
                <a:latin typeface="Calibri" pitchFamily="34" charset="0"/>
                <a:cs typeface="Amiri" pitchFamily="2" charset="-78"/>
              </a:rPr>
              <a:t>ma-ʿa s-sa-lā-ma</a:t>
            </a:r>
            <a:endParaRPr lang="en-US" sz="1350" dirty="0"/>
          </a:p>
        </p:txBody>
      </p:sp>
      <p:sp>
        <p:nvSpPr>
          <p:cNvPr id="70" name="Text 6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general, polite closing.</a:t>
            </a:r>
            <a:endParaRPr lang="en-US" sz="10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اللِّقَاءِ</a:t>
            </a:r>
            <a:endParaRPr lang="ar-SA" sz="300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 you later.</a:t>
            </a:r>
            <a:endParaRPr lang="en-US" sz="1350" dirty="0"/>
          </a:p>
          <a:p>
            <a:pPr indent="0" marL="0">
              <a:buNone/>
            </a:pPr>
            <a:r>
              <a:rPr lang="en-US" sz="1100" i="1" dirty="0">
                <a:solidFill>
                  <a:srgbClr val="5A6472"/>
                </a:solidFill>
                <a:latin typeface="Calibri" pitchFamily="34" charset="0"/>
                <a:cs typeface="Amiri" pitchFamily="2" charset="-78"/>
              </a:rPr>
              <a:t>i-lā l-li-qāʾ</a:t>
            </a:r>
            <a:endParaRPr lang="en-US" sz="1350" dirty="0"/>
          </a:p>
        </p:txBody>
      </p:sp>
      <p:sp>
        <p:nvSpPr>
          <p:cNvPr id="78" name="Text 7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When you will meet again.</a:t>
            </a:r>
            <a:endParaRPr lang="en-US" sz="10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Good morning! How are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صَبَاحُ الخَيْرِ! كَيْفَ حَالُكَ؟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السَّلَامُ عَلَيْكُمْ!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Good morning.</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وَعَلَيْكُمُ السَّلَامُ! صَبَاحُ الخَيْرِ.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morning! How are you (to a boy)?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صَبَاحُ النُّورِ! كَيْفَ حَالُكَ؟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Fine, praise be to God. And you? How are you (to a girl)?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بِخَيْرٍ، الحَمْدُ لِلّٰهِ. وَأَنْتِ؟ كَيْفَ حَالُكِ؟</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fine, thank you.</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بِخَيْرٍ، شُكْرًا.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See you later.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 السَّلَامَةِ! إِلَى اللِّقَاءِ.</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the time of day: </a:t>
            </a:r>
            <a:pPr algn="l" indent="0" marL="0">
              <a:buNone/>
            </a:pPr>
            <a:r>
              <a:rPr lang="ar-SA" altLang="en-US" sz="1450" b="1" dirty="0">
                <a:solidFill>
                  <a:srgbClr val="1B3B6F"/>
                </a:solidFill>
                <a:latin typeface="Amiri" pitchFamily="2" charset="-78"/>
                <a:ea typeface="Amiri" pitchFamily="2" charset="-78"/>
                <a:cs typeface="Amiri" pitchFamily="2" charset="-78"/>
              </a:rPr>
              <a:t>مَسَاءُ الخَيْرِ</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مَسَاءُ النُّورِ</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Reply to each greeting — then ask back</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وَرَحْمَةُ اللّٰهِ</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وَعَلَيْكُمُ السَّلَامُ!</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السَّلَامُ عَلَيْكُمْ!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كَيْفَ حَالُكَ؟</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النُّورِ!</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morning!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أَهْلًا وَسَهْلًا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النُّورِ!</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evening!</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مَسَاءُ الخَيْرِ!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 / وَأَنْتِ؟</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بِخَيْرٍ، الحَمْدُ لِلّٰهِ.</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are you? (boy / girl)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حَالُكَ؟ / كَيْفَ حَالُكِ؟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إِلَى اللِّقَاءِ</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السَّلَامَةِ!</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السَّلَامَةِ!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meeting your neighbour in the morning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أُحَيِّي جَارِي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 وَعَلَيْكُمُ السَّلَامُ</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to the greeting.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السَّلَامُ عَلَيْكُمْ!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 ← صَبَاحُ النُّورِ</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to “good morning”.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بِخَيْرٍ … وَأَنْتَ؟</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you are, then ask back.</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حَالُكَ؟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أَيْنَ ← نَعَمْ … مَعَ السَّلَامَةِ</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and say goodbye.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أَنَا بِخَيْرٍ. إِلَى أَيْنَ؟ إِلَى المَدْرَسَةِ؟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leaving for school · Leader = your neighbour.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greet the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أُحَيِّي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Greet your room for 30 seconds as if you are arriving at school: greet, ask how they are, answer, thank them and say goodbye.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lines: </a:t>
            </a:r>
            <a:pPr algn="l" indent="0" marL="0">
              <a:buNone/>
            </a:pPr>
            <a:r>
              <a:rPr lang="ar-SA" altLang="en-US" sz="1500" dirty="0">
                <a:solidFill>
                  <a:srgbClr val="1F2A37"/>
                </a:solidFill>
                <a:latin typeface="Amiri" pitchFamily="2" charset="-78"/>
                <a:ea typeface="Amiri" pitchFamily="2" charset="-78"/>
                <a:cs typeface="Amiri" pitchFamily="2" charset="-78"/>
              </a:rPr>
              <a:t>السَّلَامُ عَلَيْكُمْ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كَيْفَ حَالُكُمْ؟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مَعَ السَّلَامَةِ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time of day (</a:t>
            </a:r>
            <a:pPr algn="l" indent="0" marL="0">
              <a:buNone/>
            </a:pPr>
            <a:r>
              <a:rPr lang="ar-SA" altLang="en-US" sz="1500" dirty="0">
                <a:solidFill>
                  <a:srgbClr val="1F2A37"/>
                </a:solidFill>
                <a:latin typeface="Amiri" pitchFamily="2" charset="-78"/>
                <a:ea typeface="Amiri" pitchFamily="2" charset="-78"/>
                <a:cs typeface="Amiri" pitchFamily="2" charset="-78"/>
              </a:rPr>
              <a:t>صَبَاحُ / مَسَاءُ الخَيْرِ</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شُكْرًا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long greeting (… </a:t>
            </a:r>
            <a:pPr algn="l" indent="0" marL="0">
              <a:buNone/>
            </a:pPr>
            <a:r>
              <a:rPr lang="ar-SA" altLang="en-US" sz="1500" dirty="0">
                <a:solidFill>
                  <a:srgbClr val="1F2A37"/>
                </a:solidFill>
                <a:latin typeface="Amiri" pitchFamily="2" charset="-78"/>
                <a:ea typeface="Amiri" pitchFamily="2" charset="-78"/>
                <a:cs typeface="Amiri" pitchFamily="2" charset="-78"/>
              </a:rPr>
              <a:t>وَرَحْمَةُ اللّٰهِ وَبَرَكَاتُهُ</a:t>
            </a:r>
            <a:pPr algn="l" indent="0" marL="0">
              <a:buNone/>
            </a:pPr>
            <a:r>
              <a:rPr lang="en-US" sz="1150" dirty="0">
                <a:solidFill>
                  <a:srgbClr val="1F2A37"/>
                </a:solidFill>
                <a:latin typeface="Calibri" pitchFamily="34" charset="0"/>
                <a:cs typeface="Amiri" pitchFamily="2" charset="-78"/>
              </a:rPr>
              <a:t>) and ask a boy AND a girl how they are.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السَّلَامُ عَلَيْكُمْ</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peace be upon you</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كَيْفَ حَالُكُمْ؟</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how are you (all)?</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بِخَيْرٍ</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fine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إِلَى اللِّقَاءِ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see you later</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Good morning! How are you? (to a boy)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 الخَيْرِ!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 الخَيْرِ!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كَيْفَ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Good evening! How are you?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 الخَيْرِ!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 النُّورِ!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كَيْفَ</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Fine, thank you. Goodbye!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بِخَيْرٍ،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 النُّورِ،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السَّلَامَةِ!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أَهْلًا وَسَهْلًا!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Good morning! How are you? (to a boy)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Morning = </a:t>
            </a:r>
            <a:pPr algn="l" indent="0" marL="0">
              <a:buNone/>
            </a:pPr>
            <a:r>
              <a:rPr lang="ar-SA" altLang="en-US" sz="1350" dirty="0">
                <a:solidFill>
                  <a:srgbClr val="5A6472"/>
                </a:solidFill>
                <a:latin typeface="Amiri" pitchFamily="2" charset="-78"/>
                <a:ea typeface="Amiri" pitchFamily="2" charset="-78"/>
                <a:cs typeface="Amiri" pitchFamily="2" charset="-78"/>
              </a:rPr>
              <a:t>صَبَاحٌ</a:t>
            </a:r>
            <a:pPr algn="l" indent="0" marL="0">
              <a:buNone/>
            </a:pPr>
            <a:r>
              <a:rPr lang="en-US" sz="1050" i="1" dirty="0">
                <a:solidFill>
                  <a:srgbClr val="5A6472"/>
                </a:solidFill>
                <a:latin typeface="Calibri" pitchFamily="34" charset="0"/>
                <a:cs typeface="Amiri" pitchFamily="2" charset="-78"/>
              </a:rPr>
              <a:t>; to a boy = </a:t>
            </a:r>
            <a:pPr algn="l" indent="0" marL="0">
              <a:buNone/>
            </a:pPr>
            <a:r>
              <a:rPr lang="ar-SA" altLang="en-US" sz="1350" dirty="0">
                <a:solidFill>
                  <a:srgbClr val="5A6472"/>
                </a:solidFill>
                <a:latin typeface="Amiri" pitchFamily="2" charset="-78"/>
                <a:ea typeface="Amiri" pitchFamily="2" charset="-78"/>
                <a:cs typeface="Amiri" pitchFamily="2" charset="-78"/>
              </a:rPr>
              <a:t>حَالُكَ</a:t>
            </a:r>
            <a:pPr algn="l" indent="0" marL="0">
              <a:buNone/>
            </a:pPr>
            <a:r>
              <a:rPr lang="en-US" sz="1050" i="1" dirty="0">
                <a:solidFill>
                  <a:srgbClr val="5A6472"/>
                </a:solidFill>
                <a:latin typeface="Calibri" pitchFamily="34" charset="0"/>
                <a:cs typeface="Amiri" pitchFamily="2" charset="-78"/>
              </a:rPr>
              <a:t> (-ka).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صَبَاحُ الخَيْرِ! كَيْفَ حَالُكَ؟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Good evening! How are you?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Evening = </a:t>
            </a:r>
            <a:pPr algn="l" indent="0" marL="0">
              <a:buNone/>
            </a:pPr>
            <a:r>
              <a:rPr lang="ar-SA" altLang="en-US" sz="1350" dirty="0">
                <a:solidFill>
                  <a:srgbClr val="5A6472"/>
                </a:solidFill>
                <a:latin typeface="Amiri" pitchFamily="2" charset="-78"/>
                <a:ea typeface="Amiri" pitchFamily="2" charset="-78"/>
                <a:cs typeface="Amiri" pitchFamily="2" charset="-78"/>
              </a:rPr>
              <a:t>مَسَاءٌ</a:t>
            </a:r>
            <a:pPr algn="l" indent="0" marL="0">
              <a:buNone/>
            </a:pPr>
            <a:r>
              <a:rPr lang="en-US" sz="1050" i="1" dirty="0">
                <a:solidFill>
                  <a:srgbClr val="5A6472"/>
                </a:solidFill>
                <a:latin typeface="Calibri" pitchFamily="34" charset="0"/>
                <a:cs typeface="Amiri" pitchFamily="2" charset="-78"/>
              </a:rPr>
              <a:t>; to a girl = </a:t>
            </a:r>
            <a:pPr algn="l" indent="0" marL="0">
              <a:buNone/>
            </a:pPr>
            <a:r>
              <a:rPr lang="ar-SA" altLang="en-US" sz="1350" dirty="0">
                <a:solidFill>
                  <a:srgbClr val="5A6472"/>
                </a:solidFill>
                <a:latin typeface="Amiri" pitchFamily="2" charset="-78"/>
                <a:ea typeface="Amiri" pitchFamily="2" charset="-78"/>
                <a:cs typeface="Amiri" pitchFamily="2" charset="-78"/>
              </a:rPr>
              <a:t>حَالُكِ</a:t>
            </a:r>
            <a:pPr algn="l" indent="0" marL="0">
              <a:buNone/>
            </a:pPr>
            <a:r>
              <a:rPr lang="en-US" sz="1050" i="1" dirty="0">
                <a:solidFill>
                  <a:srgbClr val="5A6472"/>
                </a:solidFill>
                <a:latin typeface="Calibri" pitchFamily="34" charset="0"/>
                <a:cs typeface="Amiri" pitchFamily="2" charset="-78"/>
              </a:rPr>
              <a:t> (-ki).</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مَسَاءُ الخَيْرِ! كَيْفَ حَالُكِ؟</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Fine, thank you. Goodbye!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 </a:t>
            </a:r>
            <a:pPr algn="l" indent="0" marL="0">
              <a:buNone/>
            </a:pPr>
            <a:r>
              <a:rPr lang="ar-SA" altLang="en-US" sz="1350" dirty="0">
                <a:solidFill>
                  <a:srgbClr val="5A6472"/>
                </a:solidFill>
                <a:latin typeface="Amiri" pitchFamily="2" charset="-78"/>
                <a:ea typeface="Amiri" pitchFamily="2" charset="-78"/>
                <a:cs typeface="Amiri" pitchFamily="2" charset="-78"/>
              </a:rPr>
              <a:t>شُكْرًا</a:t>
            </a:r>
            <a:pPr algn="l" indent="0" marL="0">
              <a:buNone/>
            </a:pPr>
            <a:r>
              <a:rPr lang="en-US" sz="1050" i="1" dirty="0">
                <a:solidFill>
                  <a:srgbClr val="5A6472"/>
                </a:solidFill>
                <a:latin typeface="Calibri" pitchFamily="34" charset="0"/>
                <a:cs typeface="Amiri" pitchFamily="2" charset="-78"/>
              </a:rPr>
              <a:t>; goodbye = </a:t>
            </a:r>
            <a:pPr algn="l" indent="0" marL="0">
              <a:buNone/>
            </a:pPr>
            <a:r>
              <a:rPr lang="ar-SA" altLang="en-US" sz="1350" dirty="0">
                <a:solidFill>
                  <a:srgbClr val="5A6472"/>
                </a:solidFill>
                <a:latin typeface="Amiri" pitchFamily="2" charset="-78"/>
                <a:ea typeface="Amiri" pitchFamily="2" charset="-78"/>
                <a:cs typeface="Amiri" pitchFamily="2" charset="-78"/>
              </a:rPr>
              <a:t>مَعَ السَّلَامَةِ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بِخَيْرٍ، شُكْرًا. مَعَ السَّلَامَةِ!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صَبَاحُ الخَيْرِ! — صَبَاحُ الخَيْرِ!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reply is different.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حَالُكَ يَا مَرْيَمُ؟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السَّلَامُ عَلَيْكُمْ! — أَهْلًا السَّلَامُ!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greeting has a fixed reply.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صَبَاحُ الخَيْرِ! — صَبَاحُ الخَيْرِ!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صَبَاحُ الخَيْرِ! — صَبَاحُ النُّورِ!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reply to </a:t>
            </a:r>
            <a:pPr algn="l" indent="0" marL="0">
              <a:buNone/>
            </a:pPr>
            <a:r>
              <a:rPr lang="ar-SA" altLang="en-US" sz="1500" b="1" dirty="0">
                <a:solidFill>
                  <a:srgbClr val="1B3B6F"/>
                </a:solidFill>
                <a:latin typeface="Amiri" pitchFamily="2" charset="-78"/>
                <a:ea typeface="Amiri" pitchFamily="2" charset="-78"/>
                <a:cs typeface="Amiri" pitchFamily="2" charset="-78"/>
              </a:rPr>
              <a:t>صَبَاحُ الخَيْرِ</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صَبَاحُ النُّورِ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حَالُكَ يَا مَرْيَمُ؟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حَالُكِ يَا مَرْيَمُ؟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حَالُكِ</a:t>
            </a:r>
            <a:pPr algn="l" indent="0" marL="0">
              <a:buNone/>
            </a:pPr>
            <a:r>
              <a:rPr lang="en-US" sz="1150" b="1" dirty="0">
                <a:solidFill>
                  <a:srgbClr val="1B3B6F"/>
                </a:solidFill>
                <a:latin typeface="Calibri" pitchFamily="34" charset="0"/>
                <a:cs typeface="Amiri" pitchFamily="2" charset="-78"/>
              </a:rPr>
              <a:t> (-ki).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السَّلَامُ عَلَيْكُمْ! — أَهْلًا السَّلَامُ!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السَّلَامُ عَلَيْكُمْ! — وَعَلَيْكُمُ السَّلَامُ!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reply turns it round: </a:t>
            </a:r>
            <a:pPr algn="l" indent="0" marL="0">
              <a:buNone/>
            </a:pPr>
            <a:r>
              <a:rPr lang="ar-SA" altLang="en-US" sz="1500" b="1" dirty="0">
                <a:solidFill>
                  <a:srgbClr val="1B3B6F"/>
                </a:solidFill>
                <a:latin typeface="Amiri" pitchFamily="2" charset="-78"/>
                <a:ea typeface="Amiri" pitchFamily="2" charset="-78"/>
                <a:cs typeface="Amiri" pitchFamily="2" charset="-78"/>
              </a:rPr>
              <a:t>وَعَلَيْكُمُ السَّلَامُ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______ يَا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morning,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الرَّدُّ: وَعَلَيْكُمُ ______ ، صَبَاحُ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reply: and upon you …, good morning!</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______ ،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 see you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حَالُ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are you? (-ka / -ki)</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الحَمْدُ لِلّٰهِ.</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praise be to God.</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مَعَ السَّلَامَةِ!</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goodbye!</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السَّلَامُ عَلَيْكُمْ  ·  وَعَلَيْكُمُ السَّلَامُ  ·  صَبَاحُ الخَيْرِ · صَبَاحُ النُّورِ  ·  مَسَاءُ الخَيْرِ · مَسَاءُ النُّورِ  ·  كَيْفَ حَالُكَ؟ · كَيْفَ حَالُكِ؟  ·  بِخَيْرٍ  ·  شُكْرًا جَزِيلًا  ·  مَعَ السَّلَامَةِ</a:t>
            </a:r>
            <a:endParaRPr lang="ar-SA" sz="15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greeting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تَحِيَّةٍ قَصِيرَةٌ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chat message (about 25–40 words) to a new classmate. Include: • a greeting • a question: how are you? • how you are • a thank-you and a goodbye. Then write the classmate’s reply.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حَالُكَ / حَالُكِ؟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are you (boy / girl)?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بِخَيْرٍ، الحَمْدُ لِلّٰهِ</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fine, praise be to God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 مَعَ السَّلَامَةِ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thank you · goodbye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right reply to each greeting?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حَالُكَ</a:t>
            </a:r>
            <a:pPr algn="l" indent="0" marL="0">
              <a:buNone/>
            </a:pPr>
            <a:r>
              <a:rPr lang="en-US" sz="1100" dirty="0">
                <a:solidFill>
                  <a:srgbClr val="5A6472"/>
                </a:solidFill>
                <a:latin typeface="Calibri" pitchFamily="34" charset="0"/>
                <a:cs typeface="Amiri" pitchFamily="2" charset="-78"/>
              </a:rPr>
              <a:t> for a boy and </a:t>
            </a:r>
            <a:pPr algn="l" indent="0" marL="0">
              <a:buNone/>
            </a:pPr>
            <a:r>
              <a:rPr lang="ar-SA" altLang="en-US" sz="1450" dirty="0">
                <a:solidFill>
                  <a:srgbClr val="5A6472"/>
                </a:solidFill>
                <a:latin typeface="Amiri" pitchFamily="2" charset="-78"/>
                <a:ea typeface="Amiri" pitchFamily="2" charset="-78"/>
                <a:cs typeface="Amiri" pitchFamily="2" charset="-78"/>
              </a:rPr>
              <a:t>حَالُكِ</a:t>
            </a:r>
            <a:pPr algn="l" indent="0" marL="0">
              <a:buNone/>
            </a:pPr>
            <a:r>
              <a:rPr lang="en-US" sz="1100" dirty="0">
                <a:solidFill>
                  <a:srgbClr val="5A6472"/>
                </a:solidFill>
                <a:latin typeface="Calibri" pitchFamily="34" charset="0"/>
                <a:cs typeface="Amiri" pitchFamily="2" charset="-78"/>
              </a:rPr>
              <a:t> for a girl?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وَعَلَيْكُمُ السَّلَامُ!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upon you be peace!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عَلَيْكُمْ!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morning! (reply)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 الحَمْدُ لِلّٰهِ. وَأَنْتَ؟</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Fine, praise be to God. And you?</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حَالُكَ؟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إِلَى المَدْرَسَةِ. مَعَ السَّلَامَةِ!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to school. Goodbye!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بِخَيْرٍ. إِلَى أَيْنَ؟ إِلَى المَدْرَسَةِ؟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سَلْمَى! صَبَاحُ الخَيْرِ. كَيْفَ حَالُكِ؟ أَنَا بِخَيْرٍ، الحَمْدُ لِلّٰهِ. شُكْرًا، مَعَ السَّلَامَةِ!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وَعَلَيْكُمُ السَّلَامُ يَا آدَمُ! صَبَاحُ النُّورِ. أَنَا بِخَيْرٍ أَيْضًا، شُكْرًا جَزِيلًا. إِلَى اللِّقَاءِ!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Salma! Good morning. How are you? I am fine, praise be to God. Thank you, goodbye!” — “And upon you be peace, Adam! Good morning. I am fine too, thank you very much. See you later!”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كَيْفَ حَالُكِ؟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الحَمْدُ لِلّٰهِ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وَعَلَيْكُمُ السَّلَامُ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صَبَاحُ النُّورِ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F2-L02 · What Is Your Name?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مَا اسْمُكَ؟ مَا اسْمُكِ؟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F2-L01 · Practice Room — Hello, Goodbye &amp; How Are You?</dc:title>
  <dc:subject>PptxGenJS Presentation</dc:subject>
  <dc:creator>Al Madina Online School · Arabic Department</dc:creator>
  <cp:lastModifiedBy>Al Madina Online School · Arabic Department</cp:lastModifiedBy>
  <cp:revision>1</cp:revision>
  <dcterms:created xsi:type="dcterms:W3CDTF">2026-10-25T15:36:23Z</dcterms:created>
  <dcterms:modified xsi:type="dcterms:W3CDTF">2026-10-25T15:36:23Z</dcterms:modified>
</cp:coreProperties>
</file>