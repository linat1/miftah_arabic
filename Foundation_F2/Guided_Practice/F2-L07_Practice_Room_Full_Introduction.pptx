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F2-L07 (Building a Full Introduction) — new practice tasks built on the lesson’s own word bank and grammar (joining facts with wa and ayḍan; ismī · ʿumrī · anā min · askunu fī · atakallamu; thumma).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اسْمُكِ · عُمْرُكِ · تَسْكُنِينَ · تَتَكَلَّمِينَ. Language: one fact per sentence, joined with wa and ayḍan.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Building a Full Introduction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تَعْرِيفٌ كَامِلٌ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building a full introduction: say the key phrases, act a short dialogue, answer question cards, do a role-play card on a video call with a new pen-friend, give a 30-second introduction, then build, fix and write a connected introduction.</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F2-L07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Linking a full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أَسْكُنُ فِي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live in</a:t>
            </a:r>
            <a:endParaRPr lang="en-US" sz="1350" dirty="0"/>
          </a:p>
          <a:p>
            <a:pPr indent="0" marL="0">
              <a:buNone/>
            </a:pPr>
            <a:r>
              <a:rPr lang="en-US" sz="1100" i="1" dirty="0">
                <a:solidFill>
                  <a:srgbClr val="5A6472"/>
                </a:solidFill>
                <a:latin typeface="Calibri" pitchFamily="34" charset="0"/>
                <a:cs typeface="Amiri" pitchFamily="2" charset="-78"/>
              </a:rPr>
              <a:t>as-ku-nu fī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أَسْكُنُ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تَسْكُنُ</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تَسْكُنِينَ</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speaker m. · f.</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سَعِيدٌ بِلِقَائِكُمْ</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pleased to meet you (all)</a:t>
            </a:r>
            <a:endParaRPr lang="en-US" sz="1350" dirty="0"/>
          </a:p>
          <a:p>
            <a:pPr indent="0" marL="0">
              <a:buNone/>
            </a:pPr>
            <a:r>
              <a:rPr lang="en-US" sz="1100" i="1" dirty="0">
                <a:solidFill>
                  <a:srgbClr val="5A6472"/>
                </a:solidFill>
                <a:latin typeface="Calibri" pitchFamily="34" charset="0"/>
                <a:cs typeface="Amiri" pitchFamily="2" charset="-78"/>
              </a:rPr>
              <a:t>sa-ʿī-dun bi-li-qāʾi-kum</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سَعِيدٌ</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سَعِيدَةٌ</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سُعَدَاءُ</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connector</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a:t>
            </a:r>
            <a:endParaRPr lang="ar-SA" sz="3000" dirty="0"/>
          </a:p>
        </p:txBody>
      </p:sp>
      <p:sp>
        <p:nvSpPr>
          <p:cNvPr id="59" name="Text 5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a:t>
            </a:r>
            <a:endParaRPr lang="en-US" sz="1350" dirty="0"/>
          </a:p>
          <a:p>
            <a:pPr indent="0" marL="0">
              <a:buNone/>
            </a:pPr>
            <a:r>
              <a:rPr lang="en-US" sz="1100" i="1" dirty="0">
                <a:solidFill>
                  <a:srgbClr val="5A6472"/>
                </a:solidFill>
                <a:latin typeface="Calibri" pitchFamily="34" charset="0"/>
                <a:cs typeface="Amiri" pitchFamily="2" charset="-78"/>
              </a:rPr>
              <a:t>wa-</a:t>
            </a:r>
            <a:endParaRPr lang="en-US" sz="1350" dirty="0"/>
          </a:p>
        </p:txBody>
      </p:sp>
      <p:sp>
        <p:nvSpPr>
          <p:cNvPr id="60" name="Text 5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Attached: </a:t>
            </a:r>
            <a:pPr algn="l" indent="0" marL="0">
              <a:buNone/>
            </a:pPr>
            <a:r>
              <a:rPr lang="ar-SA" altLang="en-US" sz="1300" dirty="0">
                <a:solidFill>
                  <a:srgbClr val="8A6D1E"/>
                </a:solidFill>
                <a:latin typeface="Amiri" pitchFamily="2" charset="-78"/>
                <a:ea typeface="Amiri" pitchFamily="2" charset="-78"/>
                <a:cs typeface="Amiri" pitchFamily="2" charset="-78"/>
              </a:rPr>
              <a:t>وَعُمْرِي</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ea typeface="Amiri" pitchFamily="2" charset="-78"/>
                <a:cs typeface="Amiri" pitchFamily="2" charset="-78"/>
              </a:rPr>
              <a:t>وَأَسْكُنُ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61" name="Shape 5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8211312"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4" name="Shape 6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connector</a:t>
            </a:r>
            <a:endParaRPr lang="en-US" sz="800" dirty="0"/>
          </a:p>
        </p:txBody>
      </p:sp>
      <p:sp>
        <p:nvSpPr>
          <p:cNvPr id="66" name="Text 6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أَيْضًا</a:t>
            </a:r>
            <a:endParaRPr lang="ar-SA" sz="3000" dirty="0"/>
          </a:p>
        </p:txBody>
      </p:sp>
      <p:sp>
        <p:nvSpPr>
          <p:cNvPr id="67" name="Text 6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also, too</a:t>
            </a:r>
            <a:endParaRPr lang="en-US" sz="1350" dirty="0"/>
          </a:p>
          <a:p>
            <a:pPr indent="0" marL="0">
              <a:buNone/>
            </a:pPr>
            <a:r>
              <a:rPr lang="en-US" sz="1100" i="1" dirty="0">
                <a:solidFill>
                  <a:srgbClr val="5A6472"/>
                </a:solidFill>
                <a:latin typeface="Calibri" pitchFamily="34" charset="0"/>
                <a:cs typeface="Amiri" pitchFamily="2" charset="-78"/>
              </a:rPr>
              <a:t>ay-ḍan</a:t>
            </a:r>
            <a:endParaRPr lang="en-US" sz="1350" dirty="0"/>
          </a:p>
        </p:txBody>
      </p:sp>
      <p:sp>
        <p:nvSpPr>
          <p:cNvPr id="68" name="Text 65"/>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After the added idea.</a:t>
            </a:r>
            <a:endParaRPr lang="en-US" sz="10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2" name="Shape 6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74" name="Text 7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75" name="Text 7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76" name="Text 7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Optional sequence connector.</a:t>
            </a:r>
            <a:endParaRPr lang="en-US" sz="10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0" name="Shape 77"/>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cities</a:t>
            </a:r>
            <a:endParaRPr lang="en-US" sz="8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لَنْدَنُ · بِرْمِنْغَامُ</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London · Birmingham</a:t>
            </a:r>
            <a:endParaRPr lang="en-US" sz="1350" dirty="0"/>
          </a:p>
          <a:p>
            <a:pPr indent="0" marL="0">
              <a:buNone/>
            </a:pPr>
            <a:r>
              <a:rPr lang="en-US" sz="1100" i="1" dirty="0">
                <a:solidFill>
                  <a:srgbClr val="5A6472"/>
                </a:solidFill>
                <a:latin typeface="Calibri" pitchFamily="34" charset="0"/>
                <a:cs typeface="Amiri" pitchFamily="2" charset="-78"/>
              </a:rPr>
              <a:t>lan-da-nu · bir-min-ghā-mu</a:t>
            </a:r>
            <a:endParaRPr lang="en-US" sz="1350" dirty="0"/>
          </a:p>
        </p:txBody>
      </p:sp>
      <p:sp>
        <p:nvSpPr>
          <p:cNvPr id="84" name="Text 8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ea typeface="Amiri" pitchFamily="2" charset="-78"/>
                <a:cs typeface="Amiri" pitchFamily="2" charset="-78"/>
              </a:rPr>
              <a:t>بَارِيسُ، القَاهِرَةُ، الرِّيَاضُ</a:t>
            </a:r>
            <a:endParaRPr lang="en-US" sz="10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facts you give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اسْمِي …</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name is …</a:t>
            </a:r>
            <a:endParaRPr lang="en-US" sz="1350" dirty="0"/>
          </a:p>
          <a:p>
            <a:pPr indent="0" marL="0">
              <a:buNone/>
            </a:pPr>
            <a:r>
              <a:rPr lang="en-US" sz="1100" i="1" dirty="0">
                <a:solidFill>
                  <a:srgbClr val="5A6472"/>
                </a:solidFill>
                <a:latin typeface="Calibri" pitchFamily="34" charset="0"/>
                <a:cs typeface="Amiri" pitchFamily="2" charset="-78"/>
              </a:rPr>
              <a:t>as-mī …</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عُمْرِي … سَنَةً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 years old</a:t>
            </a:r>
            <a:endParaRPr lang="en-US" sz="1350" dirty="0"/>
          </a:p>
          <a:p>
            <a:pPr indent="0" marL="0">
              <a:buNone/>
            </a:pPr>
            <a:r>
              <a:rPr lang="en-US" sz="1100" i="1" dirty="0">
                <a:solidFill>
                  <a:srgbClr val="5A6472"/>
                </a:solidFill>
                <a:latin typeface="Calibri" pitchFamily="34" charset="0"/>
                <a:cs typeface="Amiri" pitchFamily="2" charset="-78"/>
              </a:rPr>
              <a:t>ʿum-rī … sa-na-tan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 مِنْ …</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from …</a:t>
            </a:r>
            <a:endParaRPr lang="en-US" sz="1350" dirty="0"/>
          </a:p>
          <a:p>
            <a:pPr indent="0" marL="0">
              <a:buNone/>
            </a:pPr>
            <a:r>
              <a:rPr lang="en-US" sz="1100" i="1" dirty="0">
                <a:solidFill>
                  <a:srgbClr val="5A6472"/>
                </a:solidFill>
                <a:latin typeface="Calibri" pitchFamily="34" charset="0"/>
                <a:cs typeface="Amiri" pitchFamily="2" charset="-78"/>
              </a:rPr>
              <a:t>a-nā min …</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جِنْسِيَّتِي …</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nationality is …</a:t>
            </a:r>
            <a:endParaRPr lang="en-US" sz="1350" dirty="0"/>
          </a:p>
          <a:p>
            <a:pPr indent="0" marL="0">
              <a:buNone/>
            </a:pPr>
            <a:r>
              <a:rPr lang="en-US" sz="1100" i="1" dirty="0">
                <a:solidFill>
                  <a:srgbClr val="5A6472"/>
                </a:solidFill>
                <a:latin typeface="Calibri" pitchFamily="34" charset="0"/>
                <a:cs typeface="Amiri" pitchFamily="2" charset="-78"/>
              </a:rPr>
              <a:t>jin-siy-ya-tī …</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أَتَكَلَّمُ …</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speak …</a:t>
            </a:r>
            <a:endParaRPr lang="en-US" sz="1350" dirty="0"/>
          </a:p>
          <a:p>
            <a:pPr indent="0" marL="0">
              <a:buNone/>
            </a:pPr>
            <a:r>
              <a:rPr lang="en-US" sz="1100" i="1" dirty="0">
                <a:solidFill>
                  <a:srgbClr val="5A6472"/>
                </a:solidFill>
                <a:latin typeface="Calibri" pitchFamily="34" charset="0"/>
                <a:cs typeface="Amiri" pitchFamily="2" charset="-78"/>
              </a:rPr>
              <a:t>a-ta-kal-la-mu …</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مَدْرَسَتِي …</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school is …</a:t>
            </a:r>
            <a:endParaRPr lang="en-US" sz="1350" dirty="0"/>
          </a:p>
          <a:p>
            <a:pPr indent="0" marL="0">
              <a:buNone/>
            </a:pPr>
            <a:r>
              <a:rPr lang="en-US" sz="1100" i="1" dirty="0">
                <a:solidFill>
                  <a:srgbClr val="5A6472"/>
                </a:solidFill>
                <a:latin typeface="Calibri" pitchFamily="34" charset="0"/>
                <a:cs typeface="Amiri" pitchFamily="2" charset="-78"/>
              </a:rPr>
              <a:t>mad-ra-sa-tī …</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Tell me about yourself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عَرِّفْنِي بِنَفْسِكَ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 Tell us about yourself.</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السَّلَامُ عَلَيْكُمْ! عَرِّفْنَا بِنَفْسِكَ.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upon you be peace! My name is Ibrahim, and I am fourteen.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وَعَلَيْكُمُ السَّلَامُ! اسْمِي إِبْرَاهِيمُ، وَعُمْرِي أَرْبَعَ عَشْرَةَ سَنَةً.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you from?</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أَيْنَ أَنْتَ؟</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from Iraq, and I live in Birmingham.</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مِنَ العِرَاقِ، وَأَسْكُنُ فِي بِرْمِنْغْهَامَ.</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 do you speak?</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 لُغَةٍ تَتَكَلَّمُ؟</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speak Arabic, and I speak English too. Pleased to meet you!</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أَتَكَلَّمُ العَرَبِيَّةَ، وَأَتَكَلَّمُ الإِنْجِلِيزِيَّةَ أَيْضًا. سَعِيدٌ بِلِقَائِكُمْ!</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the Speaker gives their OWN introduction, the Leader asks the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سَنَةً</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 وَعُمْرِي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name and how old are you?</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اسْمُكَ وَكَمْ عُمْرُكَ؟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وَأَسْكُنُ فِي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مِنْ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you from?</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أَنْتَ؟</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وَأُمِّي … أَيْضًا</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nationality?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جِنْسِيَّتُكَ؟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وَأَفْهَمُ … أَيْضًا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أَتَكَلَّمُ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languages do you speak?</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لُغَاتٍ تَتَكَلَّمُ؟</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الصَّفِّ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أَدْرُسُ فِي مَدْرَسَةِ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study?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تَدْرُسُ؟</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first video call with a pen-friend in Jordan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أَوَّلُ مُكَالَمَةٍ مَعَ صَدِيقٍ بِالمُرَاسَلَةِ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مَرْحَبًا! اسْمِي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Greet and give your name.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مَرْحَبًا! مَا اسْمُكَ؟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عُمْرِي … سَنَةً</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age.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أَسْكُنُ فِي … وَأَنَا مِنْ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you live + where you are from.</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تَسْكُنُ؟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 قَلِيلًا ، وَ… أَيْضًا</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 another language.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تَتَكَلَّمُ العَرَبِيَّةَ؟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yourself · Leader = your new pen-friend.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all about 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 شَيْءٍ عَنِّي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a full 30-second introduction with no stopping: greeting, name, age, where you are from, where you live, nationality, languages — and a polite closing.</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facts: name, age, from, live, language.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the facts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أَيْضًا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your school and one family member (</a:t>
            </a:r>
            <a:pPr algn="l" indent="0" marL="0">
              <a:buNone/>
            </a:pPr>
            <a:r>
              <a:rPr lang="ar-SA" altLang="en-US" sz="1500" dirty="0">
                <a:solidFill>
                  <a:srgbClr val="1F2A37"/>
                </a:solidFill>
                <a:latin typeface="Amiri" pitchFamily="2" charset="-78"/>
                <a:ea typeface="Amiri" pitchFamily="2" charset="-78"/>
                <a:cs typeface="Amiri" pitchFamily="2" charset="-78"/>
              </a:rPr>
              <a:t>أُمِّي مِنْ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أَخِي عُمْرُهُ</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اسْمِي … وَعُمْرِي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name is … and I am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مِنْ … وَأَسْكُنُ فِي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from … and I live in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أَتَكَلَّمُ … ، وَ… أَيْضًا</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speak …, and … too</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سَعِيدٌ / سَعِيدَةٌ بِلِقَائِكُمْ</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pleased to meet you (boy / girl)</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name is Adam and I am twelve.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اسْمِي آدَمُ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 آدَمُ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وَعُمْرِي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 عُمْرِي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اثْنَتَا عَشْرَةَ سَنَةً.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اثْنَتَا عَشْرَةَ سَنَوَاتٍ.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from Syria and I live in Glasgow.</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مِنْ سُورِيَا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فِي سُورِيَا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وَأَسْكُنُ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وَيَسْكُنُ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غْلَاسْكُو.</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غْلَاسْكُو.</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speak English, and Arabic too.</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أَتَكَلَّمُ الإِنْجِلِيزِيَّةَ،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أَتَكَلَّمُ إِنْجِلِيزِيٌّ،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وَالعَرَبِيَّةَ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وَعَرَبِيٌّ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name is Adam and I am twelve.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 -ī; and = </a:t>
            </a:r>
            <a:pPr algn="l" indent="0" marL="0">
              <a:buNone/>
            </a:pPr>
            <a:r>
              <a:rPr lang="ar-SA" altLang="en-US" sz="1350" dirty="0">
                <a:solidFill>
                  <a:srgbClr val="5A6472"/>
                </a:solidFill>
                <a:latin typeface="Amiri" pitchFamily="2" charset="-78"/>
                <a:ea typeface="Amiri" pitchFamily="2" charset="-78"/>
                <a:cs typeface="Amiri" pitchFamily="2" charset="-78"/>
              </a:rPr>
              <a:t>وَ</a:t>
            </a:r>
            <a:pPr algn="l" indent="0" marL="0">
              <a:buNone/>
            </a:pPr>
            <a:r>
              <a:rPr lang="en-US" sz="1050" i="1" dirty="0">
                <a:solidFill>
                  <a:srgbClr val="5A6472"/>
                </a:solidFill>
                <a:latin typeface="Calibri" pitchFamily="34" charset="0"/>
                <a:cs typeface="Amiri" pitchFamily="2" charset="-78"/>
              </a:rPr>
              <a:t>; 11–20 + </a:t>
            </a:r>
            <a:pPr algn="l" indent="0" marL="0">
              <a:buNone/>
            </a:pPr>
            <a:r>
              <a:rPr lang="ar-SA" altLang="en-US" sz="1350" dirty="0">
                <a:solidFill>
                  <a:srgbClr val="5A6472"/>
                </a:solidFill>
                <a:latin typeface="Amiri" pitchFamily="2" charset="-78"/>
                <a:ea typeface="Amiri" pitchFamily="2" charset="-78"/>
                <a:cs typeface="Amiri" pitchFamily="2" charset="-78"/>
              </a:rPr>
              <a:t>سَنَةً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اسْمِي آدَمُ وَعُمْرِي اثْنَتَا عَشْرَةَ سَنَةً.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from Syria and I live in Glasgow.</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I live = </a:t>
            </a:r>
            <a:pPr algn="l" indent="0" marL="0">
              <a:buNone/>
            </a:pPr>
            <a:r>
              <a:rPr lang="ar-SA" altLang="en-US" sz="1350" dirty="0">
                <a:solidFill>
                  <a:srgbClr val="5A6472"/>
                </a:solidFill>
                <a:latin typeface="Amiri" pitchFamily="2" charset="-78"/>
                <a:ea typeface="Amiri" pitchFamily="2" charset="-78"/>
                <a:cs typeface="Amiri" pitchFamily="2" charset="-78"/>
              </a:rPr>
              <a:t>أَسْكُنُ فِي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أَنَا مِنْ سُورِيَا وَأَسْكُنُ فِي غْلَاسْكُو.</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speak English, and Arabic too.</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Languages = </a:t>
            </a:r>
            <a:pPr algn="l" indent="0" marL="0">
              <a:buNone/>
            </a:pPr>
            <a:r>
              <a:rPr lang="ar-SA" altLang="en-US" sz="1350" dirty="0">
                <a:solidFill>
                  <a:srgbClr val="5A6472"/>
                </a:solidFill>
                <a:latin typeface="Amiri" pitchFamily="2" charset="-78"/>
                <a:ea typeface="Amiri" pitchFamily="2" charset="-78"/>
                <a:cs typeface="Amiri" pitchFamily="2" charset="-78"/>
              </a:rPr>
              <a:t>الإِنْجِلِيزِيَّةَ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العَرَبِيَّةَ</a:t>
            </a:r>
            <a:pPr algn="l" indent="0" marL="0">
              <a:buNone/>
            </a:pPr>
            <a:r>
              <a:rPr lang="en-US" sz="1050" i="1" dirty="0">
                <a:solidFill>
                  <a:srgbClr val="5A6472"/>
                </a:solidFill>
                <a:latin typeface="Calibri" pitchFamily="34" charset="0"/>
                <a:cs typeface="Amiri" pitchFamily="2" charset="-78"/>
              </a:rPr>
              <a:t>; too = </a:t>
            </a:r>
            <a:pPr algn="l" indent="0" marL="0">
              <a:buNone/>
            </a:pPr>
            <a:r>
              <a:rPr lang="ar-SA" altLang="en-US" sz="1350" dirty="0">
                <a:solidFill>
                  <a:srgbClr val="5A6472"/>
                </a:solidFill>
                <a:latin typeface="Amiri" pitchFamily="2" charset="-78"/>
                <a:ea typeface="Amiri" pitchFamily="2" charset="-78"/>
                <a:cs typeface="Amiri" pitchFamily="2" charset="-78"/>
              </a:rPr>
              <a:t>أَيْضًا</a:t>
            </a:r>
            <a:pPr algn="l" indent="0" marL="0">
              <a:buNone/>
            </a:pPr>
            <a:r>
              <a:rPr lang="en-US" sz="1050" i="1" dirty="0">
                <a:solidFill>
                  <a:srgbClr val="5A6472"/>
                </a:solidFill>
                <a:latin typeface="Calibri" pitchFamily="34" charset="0"/>
                <a:cs typeface="Amiri" pitchFamily="2" charset="-78"/>
              </a:rPr>
              <a:t> at the end.</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أَتَكَلَّمُ الإِنْجِلِيزِيَّةَ، وَالعَرَبِيَّةَ أَيْضًا.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اسْمِي سَلْمَى عُمْرِي ثَلَاثَ عَشْرَةَ سَنَةً.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facts need a joining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أَيْضًا أَتَكَلَّمُ الفَرَنْسِيَّةَ.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a:t>
            </a:r>
            <a:pPr algn="l" indent="0" marL="0">
              <a:buNone/>
            </a:pPr>
            <a:r>
              <a:rPr lang="ar-SA" altLang="en-US" sz="1700" dirty="0">
                <a:solidFill>
                  <a:srgbClr val="5A6472"/>
                </a:solidFill>
                <a:latin typeface="Amiri" pitchFamily="2" charset="-78"/>
                <a:ea typeface="Amiri" pitchFamily="2" charset="-78"/>
                <a:cs typeface="Amiri" pitchFamily="2" charset="-78"/>
              </a:rPr>
              <a:t>أَيْضًا</a:t>
            </a:r>
            <a:pPr algn="l" indent="0" marL="0">
              <a:buNone/>
            </a:pPr>
            <a:r>
              <a:rPr lang="en-US" sz="1300" i="1" dirty="0">
                <a:solidFill>
                  <a:srgbClr val="5A6472"/>
                </a:solidFill>
                <a:latin typeface="Calibri" pitchFamily="34" charset="0"/>
                <a:cs typeface="Amiri" pitchFamily="2" charset="-78"/>
              </a:rPr>
              <a:t> usually go?</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أَنَا سَعِيدٌ بِلِقَائِكُمْ</a:t>
            </a:r>
            <a:pPr algn="l" indent="0" marL="0">
              <a:buNone/>
            </a:pPr>
            <a:r>
              <a:rPr lang="en-US" sz="3000" b="1" dirty="0">
                <a:solidFill>
                  <a:srgbClr val="B83227"/>
                </a:solidFill>
                <a:latin typeface="Calibri" pitchFamily="34" charset="0"/>
                <a:cs typeface="Amiri" pitchFamily="2" charset="-78"/>
              </a:rPr>
              <a:t>. (Sara speaking)</a:t>
            </a:r>
            <a:endParaRPr lang="en-US"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Sara is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اسْمِي سَلْمَى عُمْرِي ثَلَاثَ عَشْرَةَ سَنَةً.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اسْمِي سَلْمَى، وَعُمْرِي ثَلَاثَ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Join two facts with </a:t>
            </a:r>
            <a:pPr algn="l" indent="0" marL="0">
              <a:buNone/>
            </a:pPr>
            <a:r>
              <a:rPr lang="ar-SA" altLang="en-US" sz="1500" b="1" dirty="0">
                <a:solidFill>
                  <a:srgbClr val="1B3B6F"/>
                </a:solidFill>
                <a:latin typeface="Amiri" pitchFamily="2" charset="-78"/>
                <a:ea typeface="Amiri" pitchFamily="2" charset="-78"/>
                <a:cs typeface="Amiri" pitchFamily="2" charset="-78"/>
              </a:rPr>
              <a:t>وَ</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أَيْضًا أَتَكَلَّمُ الفَرَنْسِيَّةَ.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أَتَكَلَّمُ الفَرَنْسِيَّةَ أَيْضًا.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أَيْضًا</a:t>
            </a:r>
            <a:pPr algn="l" indent="0" marL="0">
              <a:buNone/>
            </a:pPr>
            <a:r>
              <a:rPr lang="en-US" sz="1150" b="1" dirty="0">
                <a:solidFill>
                  <a:srgbClr val="1B3B6F"/>
                </a:solidFill>
                <a:latin typeface="Calibri" pitchFamily="34" charset="0"/>
                <a:cs typeface="Amiri" pitchFamily="2" charset="-78"/>
              </a:rPr>
              <a:t> usually comes at the end.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أَنَا سَعِيدٌ بِلِقَائِكُمْ</a:t>
            </a:r>
            <a:pPr algn="l" indent="0" marL="0">
              <a:buNone/>
            </a:pPr>
            <a:r>
              <a:rPr lang="en-US" sz="1800" dirty="0">
                <a:solidFill>
                  <a:srgbClr val="B83227"/>
                </a:solidFill>
                <a:latin typeface="Calibri" pitchFamily="34" charset="0"/>
                <a:cs typeface="Amiri" pitchFamily="2" charset="-78"/>
              </a:rPr>
              <a:t>. (Sara speaking)</a:t>
            </a:r>
            <a:endParaRPr lang="en-US"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سَعِيدَةٌ بِلِقَائِكُمْ.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girl → </a:t>
            </a:r>
            <a:pPr algn="l" indent="0" marL="0">
              <a:buNone/>
            </a:pPr>
            <a:r>
              <a:rPr lang="ar-SA" altLang="en-US" sz="1500" b="1" dirty="0">
                <a:solidFill>
                  <a:srgbClr val="1B3B6F"/>
                </a:solidFill>
                <a:latin typeface="Amiri" pitchFamily="2" charset="-78"/>
                <a:ea typeface="Amiri" pitchFamily="2" charset="-78"/>
                <a:cs typeface="Amiri" pitchFamily="2" charset="-78"/>
              </a:rPr>
              <a:t>سَعِيدَةٌ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______ ، وَأَفْهَمُ ______ أَيْضًا.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I understand … too.</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فِي ______ ، فِي الصَّفِّ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at …, in year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السَّلَامُ عَلَيْكُمْ! اسْمِي ______ ، وَعُمْرِي ______ سَنَةً.</a:t>
            </a:r>
            <a:endParaRPr lang="ar-SA" sz="14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My name is …, and I am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مِنْ ______ ، وَأَسْكُنُ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from …, and I live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وَأَتَكَلَّمُ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(nationality), and I speak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سَعِيدٌ / سَعِيدَةٌ بِلِقَائِكُمْ!</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Pleased to meet you!</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اسْمِي  ·  عُمْرِي … سَنَةً  ·  أَنَا مِنْ  ·  أَسْكُنُ فِي  ·  أَتَكَلَّمُ  ·  وَ  ·  أَيْضًا  ·  سَعِيدٌ بِلِقَائِكُمْ</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full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تَعْرِيفِي الكَامِلُ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your full introduction (about 35–50 words) for the class website. Include: • a greeting • your name and age • where you are from and where you live • your nationality • your languages • a polite closing. Use </a:t>
            </a:r>
            <a:pPr algn="l" indent="0" marL="0">
              <a:buNone/>
            </a:pPr>
            <a:r>
              <a:rPr lang="ar-SA" altLang="en-US" sz="1750" b="1" dirty="0">
                <a:solidFill>
                  <a:srgbClr val="1F2A37"/>
                </a:solidFill>
                <a:latin typeface="Amiri" pitchFamily="2" charset="-78"/>
                <a:ea typeface="Amiri" pitchFamily="2" charset="-78"/>
                <a:cs typeface="Amiri" pitchFamily="2" charset="-78"/>
              </a:rPr>
              <a:t>وَ</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ea typeface="Amiri" pitchFamily="2" charset="-78"/>
                <a:cs typeface="Amiri" pitchFamily="2" charset="-78"/>
              </a:rPr>
              <a:t>أَيْضًا</a:t>
            </a:r>
            <a:pPr algn="l" indent="0" marL="0">
              <a:buNone/>
            </a:pPr>
            <a:r>
              <a:rPr lang="en-US" sz="1350" b="1" dirty="0">
                <a:solidFill>
                  <a:srgbClr val="1F2A37"/>
                </a:solidFill>
                <a:latin typeface="Calibri" pitchFamily="34" charset="0"/>
                <a:cs typeface="Amiri" pitchFamily="2" charset="-78"/>
              </a:rPr>
              <a:t> at least twice.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 وَعُمْرِي … سَنَةً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am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مِنْ … ، وَأَسْكُنُ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from …, and I live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algn="l" indent="0" marL="0">
              <a:buNone/>
            </a:pPr>
            <a:r>
              <a:rPr lang="ar-SA" altLang="en-US" sz="2350" b="1" dirty="0">
                <a:solidFill>
                  <a:srgbClr val="1B3B6F"/>
                </a:solidFill>
                <a:latin typeface="Amiri" pitchFamily="2" charset="-78"/>
                <a:ea typeface="Amiri" pitchFamily="2" charset="-78"/>
                <a:cs typeface="Amiri" pitchFamily="2" charset="-78"/>
              </a:rPr>
              <a:t>أَنَا</a:t>
            </a:r>
            <a:pPr algn="l" indent="0" marL="0">
              <a:buNone/>
            </a:pPr>
            <a:r>
              <a:rPr lang="en-US" sz="1800" b="1" dirty="0">
                <a:solidFill>
                  <a:srgbClr val="1B3B6F"/>
                </a:solidFill>
                <a:latin typeface="Calibri" pitchFamily="34" charset="0"/>
                <a:cs typeface="Amiri" pitchFamily="2" charset="-78"/>
              </a:rPr>
              <a:t> … (nationality)</a:t>
            </a:r>
            <a:endParaRPr lang="en-US"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 ، وَ… أَيْضًا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speak …, and … too</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at least five facts in full sentences?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the facts with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أَيْضًا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اسْمِي زَكَرِيَّا.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Hello! My name is Zakariya.</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مَرْحَبًا! مَا اسْمُكَ؟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عُمْرِي ثَلَاثَ عَشْرَةَ سَنَةً.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thirteen.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عُمْرُكَ؟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لِيسْتَرَ، وَأَنَا مِنَ الهِنْدِ.</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live in Leicester, and I am from India.</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تَسْكُنُ؟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قَلِيلًا، وَأَتَكَلَّمُ الإِنْجِلِيزِيَّةَ وَالغُوجَرَاتِيَّةَ أَيْضًا.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a little, and I speak English and Gujarati too.</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تَتَكَلَّمُ العَرَبِيَّةَ؟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اسْمِي عَائِشَةُ، وَعُمْرِي اثْنَتَا عَشْرَةَ سَنَةً. أَنَا مِنَ اليَمَنِ، وَأَسْكُنُ فِي شِيفِيلْدَ. أَنَا بِرِيطَانِيَّةٌ، وَأُمِّي يَمَنِيَّةٌ. أَتَكَلَّمُ الإِنْجِلِيزِيَّةَ وَالعَرَبِيَّةَ، وَأَفْهَمُ الفَرَنْسِيَّةَ قَلِيلًا أَيْضًا. أَدْرُسُ فِي مَدْرَسَةِ المَدِينَةِ، فِي الصَّفِّ الثَّامِنِ، وَمُعَلِّمَتِي اسْمُهَا الأُسْتَاذَةُ سَلْمَى. سَعِيدَةٌ بِلِقَائِكُمْ!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Aisha and I am twelve. I am from Yemen, and I live in Sheffield. I am British, and my mother is Yemeni. I speak English and Arabic, and I understand a little French too. I study at Al Madina School, in Year 8, and my teacher is Miss Salma. Pleased to meet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وَعُمْرِي اثْنَتَا عَشْرَةَ سَنَةً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وَأَسْكُنُ فِي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أَيْضًا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سَعِيدَةٌ بِلِقَائِكُمْ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F2-L08 · Reading and Writing Personal Profiles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قِرَاءَةُ وَكِتَابَةُ البِطَاقَاتِ الشَّخْصِيَّةِ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F2-L07 · Practice Room — Building a Full Introduction</dc:title>
  <dc:subject>PptxGenJS Presentation</dc:subject>
  <dc:creator>Al Madina Online School · Arabic Department</dc:creator>
  <cp:lastModifiedBy>Al Madina Online School · Arabic Department</cp:lastModifiedBy>
  <cp:revision>1</cp:revision>
  <dcterms:created xsi:type="dcterms:W3CDTF">2026-10-25T17:13:50Z</dcterms:created>
  <dcterms:modified xsi:type="dcterms:W3CDTF">2026-10-25T17:13:50Z</dcterms:modified>
</cp:coreProperties>
</file>