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PRACTICE ROOM AT A GLANCE — one combined lesson (speaking, then writing), 55–60 minutes: about 6 minutes in the main room, about 45 minutes in breakout rooms of two or three, about 6 minutes back together.
0–2 Welcome · 2–5 How the room works · ROOMS, Part A Speaking: Step 1 Word warm-up (5) · Step 2 Say the model dialogue (5) · Step 3 Question cards (7) · Step 4 Role-play card (7) · Step 5 Short talk (4) · Part B Writing: Step 6 Sentence builder (4) · Step 7 Spot and fix (3) · Step 8 Write your text (12) + buddy check (3) · back in the main room: Check yourself (4) · Self-check + close (2).
PURPOSE: students practise the lesson’s language ON THEIR OWN with a clear structure. The teacher visits each room (about 3 minutes per room), listens, reads one piece of writing per student and gives one live correction.
CONTENT: F2-L07 (Building a Full Introduction) — new practice tasks built on the lesson’s own word bank and grammar (joining facts with wa and ayḍan; ismī · ʿumrī · anā min · askunu fī · atakallamu; thumma).
SET-UP: rooms of two or three (same-level rooms keep the routes simple). Share this deck or its PDF in the chat so every room can follow the steps. Each student writes in their own book or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 Part A is speaking, Part B is writing. The step number is always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ROOM WORKS (3 min, main room). Model the roles quickly with two volunteers using one question from Step 3. Stress: the Coach is kind and specific. Then open the breakout rooms.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(5 min in rooms). The two word slides that follow come from the F2-L07 lesson. Teacher: visit the first room straight away to model the 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the Leader picks the English, the Speaker gives the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(5 min). The dialogue models today’s language in a real exchange.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(7 min). The starter column is support, not the answer: students finish it with their OWN information. Coach listens for the key structure of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4 (7 min). SUPPORTED: the plan column models the thinking (first words), not the full answer. Everyone is Speaker once. To a girl the Leader says: اسْمُكِ · عُمْرُكِ · تَسْكُنِينَ · تَتَكَلَّمِينَ. Language: one fact per sentence, joined with wa and ayḍan.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5 (4 min). A short talk builds fluency and confidence.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Read the English, then choose the correct part from each column (start on the RIGHT, column 1). Buddies agree before checking the answer slide. Students copy the three correct sentences into their book — they are useful for Step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Read the English, then choose the correct part from each column (start on the RIGHT, column 1). Buddies agree before checking the answer slide. Students copy the three correct sentences into their book — they are useful for Step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Pairs agree on each correction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Pairs agree on each correction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support. Core: use the Core frames for every sentence. Develop: use the Develop frames only if stuck. Stretch: no frames — add a reason, a time phrase and one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(10 min writing). Core: frames for every bullet (25–35 words). Develop: 40–60 words, frames only if stuck. Stretch: no frames, add reasons and another time frame. Teacher visits rooms and reads ONE sentence per student.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(38 words). CHECK YOURSELF (2 min). Find each bullet point in the model.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F2  ·  F2-L07 · PRACTICE ROOM</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F2-L07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Practice Room — Building a Full Introduction</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غُرْفَةُ التَّدَرُّبِ — تَعْرِيفٌ كَامِلٌ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300" dirty="0">
                <a:solidFill>
                  <a:srgbClr val="C6D2E6"/>
                </a:solidFill>
                <a:latin typeface="Calibri" pitchFamily="34" charset="0"/>
                <a:cs typeface="Amiri" pitchFamily="2" charset="-78"/>
              </a:rPr>
              <a:t>Students run their own speaking and writing practice building a full introduction: say the key phrases, act a short dialogue, answer question cards, do a role-play card on a video call with a new pen-friend, give a 30-second introduction, then build, fix and write a connected introduction.</a:t>
            </a:r>
            <a:endParaRPr lang="en-US" sz="13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F2-L07 · Foundation F2 · Greetings &amp; Introductions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F2 › F2-L07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Speaking + writing practice room</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 · practice room</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Speaking + writing practice room</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ROOM PLAN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Speak first, then write — you run it yourselves</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 · practice room</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2F6FB0"/>
          </a:solidFill>
          <a:ln w="12700">
            <a:solidFill>
              <a:srgbClr val="2F6FB0"/>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10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1–2: word warm-up · say the model dialogue.</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الكَلِمَاتُ وَالحِوَارُ</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3–5: question cards · role-play card · short talk.</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2F6FB0"/>
          </a:solidFill>
          <a:ln w="12700">
            <a:solidFill>
              <a:srgbClr val="2F6FB0"/>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6–7: sentence builder · spot and fix.</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ابْنِ وَصَحِّحْ</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15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 8: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ROOM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Everybody speaks in every step and everybody writes their own text. Swap roles after each task. If you finish early, do the step again with the Stretch route.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BEFORE THE ROOMS · HOW YOUR ROOM WORKS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Three roles — then write alone, check together</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كَيْفَ نَعْمَلُ فِي الغُرْفَةِ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 · practice room</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ROLES (SWAP AFTER EVERY TASK)</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LEADER — opens the next step, keeps the time and reads the questions.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SPEAKER — answers in Arabic, in a full sentence. Think for a few seconds, then speak.</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COACH — listens, checks with the slide, then says one thing that went well and one thing to improve. (In a pair, the Leader is also the Coach.)</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WRITING (Part B): everyone writes their OWN text; then swap with a buddy and check.</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USEFUL ROOM PHRASES</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دَوْرُكَ! / دَوْرُكِ!</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Your turn! (m. / f.)</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عَفْوًا، أَعِدْ مِنْ فَضْلِكَ.</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Sorry, repeat please.</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لَحْظَةً، أُفَكِّرُ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One moment, I’m thinking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A · STEP 1 · WORD WARM-UP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Say it — then use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قُلْهَا وَاسْتَعْمِلْهَا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 · practice room</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IN YOUR ROOM</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Word ping-pong</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Leader says a word in ENGLISH from the next two slides. The Speaker says it in ARABIC. The Coach checks the Arabic (and the ending) on the slide.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Leader: say 4 English words; Speaker answers in Arabic.</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Coach checks the word on the slide.</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roles — new words each time.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each word in a short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a:t>
            </a:r>
            <a:pPr algn="l" indent="0" marL="0">
              <a:buNone/>
            </a:pPr>
            <a:r>
              <a:rPr lang="ar-SA" altLang="en-US" sz="1500" dirty="0">
                <a:solidFill>
                  <a:srgbClr val="1F2A37"/>
                </a:solidFill>
                <a:latin typeface="Amiri" pitchFamily="2" charset="-78"/>
                <a:ea typeface="Amiri" pitchFamily="2" charset="-78"/>
                <a:cs typeface="Amiri" pitchFamily="2" charset="-78"/>
              </a:rPr>
              <a:t>أَنَا … / عِنْدِي … / هٰذَا</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Give the feminine or plural form too, then a sentence with two words.</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أَعِدْ مِنْ فَضْلِكَ / أَعِيدِي</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repeat please (m. / f.)</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أَحْسَنْتَ! / أَحْسَنْتِ!</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well done! (m. / f.)</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بِبُطْءٍ مِنْ فَضْلِكَ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slowly, please</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 BANK (1) · FROM THE LESSON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Linking a full introduction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 · practice room</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455725"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455725"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you m. · you 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أَسْكُنُ فِي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live in</a:t>
            </a:r>
            <a:endParaRPr lang="en-US" sz="1350" dirty="0"/>
          </a:p>
          <a:p>
            <a:pPr indent="0" marL="0">
              <a:buNone/>
            </a:pPr>
            <a:r>
              <a:rPr lang="en-US" sz="1100" i="1" dirty="0">
                <a:solidFill>
                  <a:srgbClr val="5A6472"/>
                </a:solidFill>
                <a:latin typeface="Calibri" pitchFamily="34" charset="0"/>
                <a:cs typeface="Amiri" pitchFamily="2" charset="-78"/>
              </a:rPr>
              <a:t>as-ku-nu fī</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أَسْكُنُ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 m.</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تَسْكُنُ</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 f.</a:t>
            </a:r>
            <a:endParaRPr lang="en-US" sz="700" dirty="0"/>
          </a:p>
        </p:txBody>
      </p:sp>
      <p:sp>
        <p:nvSpPr>
          <p:cNvPr id="32" name="Text 29"/>
          <p:cNvSpPr txBox="1"/>
          <p:nvPr/>
        </p:nvSpPr>
        <p:spPr>
          <a:xfrm>
            <a:off x="828446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تَسْكُنِينَ</a:t>
            </a:r>
            <a:endParaRPr lang="ar-SA" sz="135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1207008"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speaker m. · f.</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سَعِيدٌ بِلِقَائِكُمْ</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pleased to meet you (all)</a:t>
            </a:r>
            <a:endParaRPr lang="en-US" sz="1350" dirty="0"/>
          </a:p>
          <a:p>
            <a:pPr indent="0" marL="0">
              <a:buNone/>
            </a:pPr>
            <a:r>
              <a:rPr lang="en-US" sz="1100" i="1" dirty="0">
                <a:solidFill>
                  <a:srgbClr val="5A6472"/>
                </a:solidFill>
                <a:latin typeface="Calibri" pitchFamily="34" charset="0"/>
                <a:cs typeface="Amiri" pitchFamily="2" charset="-78"/>
              </a:rPr>
              <a:t>sa-ʿī-dun bi-li-qāʾi-kum</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boy</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سَعِيدٌ</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girl</a:t>
            </a:r>
            <a:endParaRPr lang="en-US" sz="700" dirty="0"/>
          </a:p>
        </p:txBody>
      </p:sp>
      <p:sp>
        <p:nvSpPr>
          <p:cNvPr id="47" name="Text 44"/>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سَعِيدَةٌ</a:t>
            </a:r>
            <a:endParaRPr lang="ar-SA" sz="135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سُعَدَاءُ</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54" name="Shape 51"/>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connector</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a:t>
            </a:r>
            <a:endParaRPr lang="ar-SA" sz="3000" dirty="0"/>
          </a:p>
        </p:txBody>
      </p:sp>
      <p:sp>
        <p:nvSpPr>
          <p:cNvPr id="59" name="Text 5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and</a:t>
            </a:r>
            <a:endParaRPr lang="en-US" sz="1350" dirty="0"/>
          </a:p>
          <a:p>
            <a:pPr indent="0" marL="0">
              <a:buNone/>
            </a:pPr>
            <a:r>
              <a:rPr lang="en-US" sz="1100" i="1" dirty="0">
                <a:solidFill>
                  <a:srgbClr val="5A6472"/>
                </a:solidFill>
                <a:latin typeface="Calibri" pitchFamily="34" charset="0"/>
                <a:cs typeface="Amiri" pitchFamily="2" charset="-78"/>
              </a:rPr>
              <a:t>wa-</a:t>
            </a:r>
            <a:endParaRPr lang="en-US" sz="1350" dirty="0"/>
          </a:p>
        </p:txBody>
      </p:sp>
      <p:sp>
        <p:nvSpPr>
          <p:cNvPr id="60" name="Text 57"/>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Attached: </a:t>
            </a:r>
            <a:pPr algn="l" indent="0" marL="0">
              <a:buNone/>
            </a:pPr>
            <a:r>
              <a:rPr lang="ar-SA" altLang="en-US" sz="1300" dirty="0">
                <a:solidFill>
                  <a:srgbClr val="8A6D1E"/>
                </a:solidFill>
                <a:latin typeface="Amiri" pitchFamily="2" charset="-78"/>
                <a:ea typeface="Amiri" pitchFamily="2" charset="-78"/>
                <a:cs typeface="Amiri" pitchFamily="2" charset="-78"/>
              </a:rPr>
              <a:t>وَعُمْرِي</a:t>
            </a:r>
            <a:pPr algn="l" indent="0" marL="0">
              <a:buNone/>
            </a:pPr>
            <a:r>
              <a:rPr lang="en-US" sz="1000" i="1" dirty="0">
                <a:solidFill>
                  <a:srgbClr val="8A6D1E"/>
                </a:solidFill>
                <a:latin typeface="Calibri" pitchFamily="34" charset="0"/>
                <a:cs typeface="Amiri" pitchFamily="2" charset="-78"/>
              </a:rPr>
              <a:t> · </a:t>
            </a:r>
            <a:pPr algn="l" indent="0" marL="0">
              <a:buNone/>
            </a:pPr>
            <a:r>
              <a:rPr lang="ar-SA" altLang="en-US" sz="1300" dirty="0">
                <a:solidFill>
                  <a:srgbClr val="8A6D1E"/>
                </a:solidFill>
                <a:latin typeface="Amiri" pitchFamily="2" charset="-78"/>
                <a:ea typeface="Amiri" pitchFamily="2" charset="-78"/>
                <a:cs typeface="Amiri" pitchFamily="2" charset="-78"/>
              </a:rPr>
              <a:t>وَأَسْكُنُ</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61" name="Shape 5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8211312"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4" name="Shape 61"/>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65" name="Text 62"/>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connector</a:t>
            </a:r>
            <a:endParaRPr lang="en-US" sz="800" dirty="0"/>
          </a:p>
        </p:txBody>
      </p:sp>
      <p:sp>
        <p:nvSpPr>
          <p:cNvPr id="66" name="Text 6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أَيْضًا</a:t>
            </a:r>
            <a:endParaRPr lang="ar-SA" sz="3000" dirty="0"/>
          </a:p>
        </p:txBody>
      </p:sp>
      <p:sp>
        <p:nvSpPr>
          <p:cNvPr id="67" name="Text 6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also, too</a:t>
            </a:r>
            <a:endParaRPr lang="en-US" sz="1350" dirty="0"/>
          </a:p>
          <a:p>
            <a:pPr indent="0" marL="0">
              <a:buNone/>
            </a:pPr>
            <a:r>
              <a:rPr lang="en-US" sz="1100" i="1" dirty="0">
                <a:solidFill>
                  <a:srgbClr val="5A6472"/>
                </a:solidFill>
                <a:latin typeface="Calibri" pitchFamily="34" charset="0"/>
                <a:cs typeface="Amiri" pitchFamily="2" charset="-78"/>
              </a:rPr>
              <a:t>ay-ḍan</a:t>
            </a:r>
            <a:endParaRPr lang="en-US" sz="1350" dirty="0"/>
          </a:p>
        </p:txBody>
      </p:sp>
      <p:sp>
        <p:nvSpPr>
          <p:cNvPr id="68" name="Text 65"/>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After the added idea.</a:t>
            </a:r>
            <a:endParaRPr lang="en-US" sz="1000" dirty="0"/>
          </a:p>
        </p:txBody>
      </p:sp>
      <p:sp>
        <p:nvSpPr>
          <p:cNvPr id="69" name="Shape 6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389120"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2" name="Shape 69"/>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Stretch</a:t>
            </a:r>
            <a:endParaRPr lang="en-US" sz="800" dirty="0"/>
          </a:p>
        </p:txBody>
      </p:sp>
      <p:sp>
        <p:nvSpPr>
          <p:cNvPr id="74" name="Text 7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ثُمَّ</a:t>
            </a:r>
            <a:endParaRPr lang="ar-SA" sz="3000" dirty="0"/>
          </a:p>
        </p:txBody>
      </p:sp>
      <p:sp>
        <p:nvSpPr>
          <p:cNvPr id="75" name="Text 7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then</a:t>
            </a:r>
            <a:endParaRPr lang="en-US" sz="1350" dirty="0"/>
          </a:p>
          <a:p>
            <a:pPr indent="0" marL="0">
              <a:buNone/>
            </a:pPr>
            <a:r>
              <a:rPr lang="en-US" sz="1100" i="1" dirty="0">
                <a:solidFill>
                  <a:srgbClr val="5A6472"/>
                </a:solidFill>
                <a:latin typeface="Calibri" pitchFamily="34" charset="0"/>
                <a:cs typeface="Amiri" pitchFamily="2" charset="-78"/>
              </a:rPr>
              <a:t>thum-ma</a:t>
            </a:r>
            <a:endParaRPr lang="en-US" sz="1350" dirty="0"/>
          </a:p>
        </p:txBody>
      </p:sp>
      <p:sp>
        <p:nvSpPr>
          <p:cNvPr id="76" name="Text 73"/>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Optional sequence connector.</a:t>
            </a:r>
            <a:endParaRPr lang="en-US" sz="1000" dirty="0"/>
          </a:p>
        </p:txBody>
      </p:sp>
      <p:sp>
        <p:nvSpPr>
          <p:cNvPr id="77" name="Shape 7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66928" y="4261104"/>
            <a:ext cx="310896" cy="310896"/>
          </a:xfrm>
          <a:prstGeom prst="ellipse">
            <a:avLst/>
          </a:prstGeom>
          <a:solidFill>
            <a:srgbClr val="F4F1EA"/>
          </a:solidFill>
          <a:ln w="12700">
            <a:solidFill>
              <a:srgbClr val="F4F1EA"/>
            </a:solidFill>
            <a:prstDash val="solid"/>
          </a:ln>
        </p:spPr>
      </p:sp>
      <p:sp>
        <p:nvSpPr>
          <p:cNvPr id="79" name="Text 7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80" name="Shape 77"/>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81" name="Text 78"/>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cities</a:t>
            </a:r>
            <a:endParaRPr lang="en-US" sz="800" dirty="0"/>
          </a:p>
        </p:txBody>
      </p:sp>
      <p:sp>
        <p:nvSpPr>
          <p:cNvPr id="82" name="Text 79"/>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لَنْدَنُ · بِرْمِنْغَامُ</a:t>
            </a:r>
            <a:endParaRPr lang="ar-SA" sz="3000" dirty="0"/>
          </a:p>
        </p:txBody>
      </p:sp>
      <p:sp>
        <p:nvSpPr>
          <p:cNvPr id="83" name="Text 80"/>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London · Birmingham</a:t>
            </a:r>
            <a:endParaRPr lang="en-US" sz="1350" dirty="0"/>
          </a:p>
          <a:p>
            <a:pPr indent="0" marL="0">
              <a:buNone/>
            </a:pPr>
            <a:r>
              <a:rPr lang="en-US" sz="1100" i="1" dirty="0">
                <a:solidFill>
                  <a:srgbClr val="5A6472"/>
                </a:solidFill>
                <a:latin typeface="Calibri" pitchFamily="34" charset="0"/>
                <a:cs typeface="Amiri" pitchFamily="2" charset="-78"/>
              </a:rPr>
              <a:t>lan-da-nu · bir-min-ghā-mu</a:t>
            </a:r>
            <a:endParaRPr lang="en-US" sz="1350" dirty="0"/>
          </a:p>
        </p:txBody>
      </p:sp>
      <p:sp>
        <p:nvSpPr>
          <p:cNvPr id="84" name="Text 81"/>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Also: </a:t>
            </a:r>
            <a:pPr algn="l" indent="0" marL="0">
              <a:buNone/>
            </a:pPr>
            <a:r>
              <a:rPr lang="ar-SA" altLang="en-US" sz="1300" dirty="0">
                <a:solidFill>
                  <a:srgbClr val="8A6D1E"/>
                </a:solidFill>
                <a:latin typeface="Amiri" pitchFamily="2" charset="-78"/>
                <a:ea typeface="Amiri" pitchFamily="2" charset="-78"/>
                <a:cs typeface="Amiri" pitchFamily="2" charset="-78"/>
              </a:rPr>
              <a:t>بَارِيسُ، القَاهِرَةُ، الرِّيَاضُ</a:t>
            </a:r>
            <a:endParaRPr lang="en-US" sz="10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 BANK (2) · FROM THE LESSON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facts you give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 · practice room</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اسْمِي …</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my name is …</a:t>
            </a:r>
            <a:endParaRPr lang="en-US" sz="1350" dirty="0"/>
          </a:p>
          <a:p>
            <a:pPr indent="0" marL="0">
              <a:buNone/>
            </a:pPr>
            <a:r>
              <a:rPr lang="en-US" sz="1100" i="1" dirty="0">
                <a:solidFill>
                  <a:srgbClr val="5A6472"/>
                </a:solidFill>
                <a:latin typeface="Calibri" pitchFamily="34" charset="0"/>
                <a:cs typeface="Amiri" pitchFamily="2" charset="-78"/>
              </a:rPr>
              <a:t>as-mī …</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عُمْرِي … سَنَةً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am … years old</a:t>
            </a:r>
            <a:endParaRPr lang="en-US" sz="1350" dirty="0"/>
          </a:p>
          <a:p>
            <a:pPr indent="0" marL="0">
              <a:buNone/>
            </a:pPr>
            <a:r>
              <a:rPr lang="en-US" sz="1100" i="1" dirty="0">
                <a:solidFill>
                  <a:srgbClr val="5A6472"/>
                </a:solidFill>
                <a:latin typeface="Calibri" pitchFamily="34" charset="0"/>
                <a:cs typeface="Amiri" pitchFamily="2" charset="-78"/>
              </a:rPr>
              <a:t>ʿum-rī … sa-na-tan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أَنَا مِنْ …</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am from …</a:t>
            </a:r>
            <a:endParaRPr lang="en-US" sz="1350" dirty="0"/>
          </a:p>
          <a:p>
            <a:pPr indent="0" marL="0">
              <a:buNone/>
            </a:pPr>
            <a:r>
              <a:rPr lang="en-US" sz="1100" i="1" dirty="0">
                <a:solidFill>
                  <a:srgbClr val="5A6472"/>
                </a:solidFill>
                <a:latin typeface="Calibri" pitchFamily="34" charset="0"/>
                <a:cs typeface="Amiri" pitchFamily="2" charset="-78"/>
              </a:rPr>
              <a:t>a-nā min …</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جِنْسِيَّتِي …</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my nationality is …</a:t>
            </a:r>
            <a:endParaRPr lang="en-US" sz="1350" dirty="0"/>
          </a:p>
          <a:p>
            <a:pPr indent="0" marL="0">
              <a:buNone/>
            </a:pPr>
            <a:r>
              <a:rPr lang="en-US" sz="1100" i="1" dirty="0">
                <a:solidFill>
                  <a:srgbClr val="5A6472"/>
                </a:solidFill>
                <a:latin typeface="Calibri" pitchFamily="34" charset="0"/>
                <a:cs typeface="Amiri" pitchFamily="2" charset="-78"/>
              </a:rPr>
              <a:t>jin-siy-ya-tī …</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أَتَكَلَّمُ …</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speak …</a:t>
            </a:r>
            <a:endParaRPr lang="en-US" sz="1350" dirty="0"/>
          </a:p>
          <a:p>
            <a:pPr indent="0" marL="0">
              <a:buNone/>
            </a:pPr>
            <a:r>
              <a:rPr lang="en-US" sz="1100" i="1" dirty="0">
                <a:solidFill>
                  <a:srgbClr val="5A6472"/>
                </a:solidFill>
                <a:latin typeface="Calibri" pitchFamily="34" charset="0"/>
                <a:cs typeface="Amiri" pitchFamily="2" charset="-78"/>
              </a:rPr>
              <a:t>a-ta-kal-la-mu …</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3" name="Shape 5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مَدْرَسَتِي …</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my school is …</a:t>
            </a:r>
            <a:endParaRPr lang="en-US" sz="1350" dirty="0"/>
          </a:p>
          <a:p>
            <a:pPr indent="0" marL="0">
              <a:buNone/>
            </a:pPr>
            <a:r>
              <a:rPr lang="en-US" sz="1100" i="1" dirty="0">
                <a:solidFill>
                  <a:srgbClr val="5A6472"/>
                </a:solidFill>
                <a:latin typeface="Calibri" pitchFamily="34" charset="0"/>
                <a:cs typeface="Amiri" pitchFamily="2" charset="-78"/>
              </a:rPr>
              <a:t>mad-ra-sa-tī …</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STEP 2 · SAY THE MODEL DIALOGUE · READ IT, THEN SAY IT WITHOUT LOOKING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Tell me about yourself</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عَرِّفْنِي بِنَفْسِكَ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Peace be upon you! Tell us about yourself.</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السَّلَامُ عَلَيْكُمْ! عَرِّفْنَا بِنَفْسِكَ.</a:t>
            </a:r>
            <a:endParaRPr lang="ar-SA" sz="20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upon you be peace! My name is Ibrahim, and I am fourteen.</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وَعَلَيْكُمُ السَّلَامُ! اسْمِي إِبْرَاهِيمُ، وَعُمْرِي أَرْبَعَ عَشْرَةَ سَنَةً.</a:t>
            </a:r>
            <a:endParaRPr lang="ar-SA" sz="20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are you from?</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مِنْ أَيْنَ أَنْتَ؟</a:t>
            </a:r>
            <a:endParaRPr lang="ar-SA" sz="20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am from Iraq, and I live in Birmingham.</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أَنَا مِنَ العِرَاقِ، وَأَسْكُنُ فِي بِرْمِنْغْهَامَ.</a:t>
            </a:r>
            <a:endParaRPr lang="ar-SA" sz="20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language do you speak?</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أَيَّ لُغَةٍ تَتَكَلَّمُ؟</a:t>
            </a:r>
            <a:endParaRPr lang="ar-SA" sz="20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speak Arabic, and I speak English too. Pleased to meet you!</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أَتَكَلَّمُ العَرَبِيَّةَ، وَأَتَكَلَّمُ الإِنْجِلِيزِيَّةَ أَيْضًا. سَعِيدٌ بِلِقَائِكُمْ!</a:t>
            </a:r>
            <a:endParaRPr lang="ar-SA" sz="20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Round 1: read it in pairs. Round 2: swap letters. Round 3: the Speaker gives their OWN introduction, the Leader asks the questions.</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3 · QUESTION CARDS · THE LEADER ASKS, THE SPEAKER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Answer in a full sentence — then add more</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وَأَجْوِبَةٌ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9738360" y="2267712"/>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سَنَةً</a:t>
            </a:r>
            <a:endParaRPr lang="ar-SA" sz="1500" dirty="0"/>
          </a:p>
        </p:txBody>
      </p:sp>
      <p:sp>
        <p:nvSpPr>
          <p:cNvPr id="23" name="Text 20"/>
          <p:cNvSpPr txBox="1"/>
          <p:nvPr/>
        </p:nvSpPr>
        <p:spPr>
          <a:xfrm>
            <a:off x="6995160" y="2267712"/>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اسْمِي … وَعُمْرِي …</a:t>
            </a:r>
            <a:endParaRPr lang="ar-SA" sz="1600" dirty="0"/>
          </a:p>
        </p:txBody>
      </p:sp>
      <p:sp>
        <p:nvSpPr>
          <p:cNvPr id="24" name="Text 21"/>
          <p:cNvSpPr txBox="1"/>
          <p:nvPr/>
        </p:nvSpPr>
        <p:spPr>
          <a:xfrm>
            <a:off x="463600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your name and how old are you?</a:t>
            </a:r>
            <a:endParaRPr lang="en-US" sz="1100" dirty="0"/>
          </a:p>
        </p:txBody>
      </p:sp>
      <p:sp>
        <p:nvSpPr>
          <p:cNvPr id="25" name="Text 22"/>
          <p:cNvSpPr txBox="1"/>
          <p:nvPr/>
        </p:nvSpPr>
        <p:spPr>
          <a:xfrm>
            <a:off x="1051560" y="2267712"/>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اسْمُكَ وَكَمْ عُمْرُكَ؟</a:t>
            </a:r>
            <a:endParaRPr lang="ar-SA" sz="1700" dirty="0"/>
          </a:p>
        </p:txBody>
      </p:sp>
      <p:sp>
        <p:nvSpPr>
          <p:cNvPr id="26" name="Text 23"/>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738360" y="3004718"/>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وَأَسْكُنُ فِي …</a:t>
            </a:r>
            <a:endParaRPr lang="ar-SA" sz="1500" dirty="0"/>
          </a:p>
        </p:txBody>
      </p:sp>
      <p:sp>
        <p:nvSpPr>
          <p:cNvPr id="31" name="Text 28"/>
          <p:cNvSpPr txBox="1"/>
          <p:nvPr/>
        </p:nvSpPr>
        <p:spPr>
          <a:xfrm>
            <a:off x="6995160" y="3004718"/>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أَنَا مِنْ …</a:t>
            </a:r>
            <a:endParaRPr lang="ar-SA" sz="1600" dirty="0"/>
          </a:p>
        </p:txBody>
      </p:sp>
      <p:sp>
        <p:nvSpPr>
          <p:cNvPr id="32" name="Text 29"/>
          <p:cNvSpPr txBox="1"/>
          <p:nvPr/>
        </p:nvSpPr>
        <p:spPr>
          <a:xfrm>
            <a:off x="463600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are you from?</a:t>
            </a:r>
            <a:endParaRPr lang="en-US" sz="1100" dirty="0"/>
          </a:p>
        </p:txBody>
      </p:sp>
      <p:sp>
        <p:nvSpPr>
          <p:cNvPr id="33" name="Text 30"/>
          <p:cNvSpPr txBox="1"/>
          <p:nvPr/>
        </p:nvSpPr>
        <p:spPr>
          <a:xfrm>
            <a:off x="1051560" y="3004718"/>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أَيْنَ أَنْتَ؟</a:t>
            </a:r>
            <a:endParaRPr lang="ar-SA" sz="1700" dirty="0"/>
          </a:p>
        </p:txBody>
      </p:sp>
      <p:sp>
        <p:nvSpPr>
          <p:cNvPr id="34" name="Text 31"/>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738360" y="3741725"/>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وَأُمِّي … أَيْضًا</a:t>
            </a:r>
            <a:endParaRPr lang="ar-SA" sz="1500" dirty="0"/>
          </a:p>
        </p:txBody>
      </p:sp>
      <p:sp>
        <p:nvSpPr>
          <p:cNvPr id="39" name="Text 36"/>
          <p:cNvSpPr txBox="1"/>
          <p:nvPr/>
        </p:nvSpPr>
        <p:spPr>
          <a:xfrm>
            <a:off x="6995160" y="3741725"/>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أَنَا …</a:t>
            </a:r>
            <a:endParaRPr lang="ar-SA" sz="1600" dirty="0"/>
          </a:p>
        </p:txBody>
      </p:sp>
      <p:sp>
        <p:nvSpPr>
          <p:cNvPr id="40" name="Text 37"/>
          <p:cNvSpPr txBox="1"/>
          <p:nvPr/>
        </p:nvSpPr>
        <p:spPr>
          <a:xfrm>
            <a:off x="463600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your nationality?</a:t>
            </a:r>
            <a:endParaRPr lang="en-US" sz="1100" dirty="0"/>
          </a:p>
        </p:txBody>
      </p:sp>
      <p:sp>
        <p:nvSpPr>
          <p:cNvPr id="41" name="Text 38"/>
          <p:cNvSpPr txBox="1"/>
          <p:nvPr/>
        </p:nvSpPr>
        <p:spPr>
          <a:xfrm>
            <a:off x="1051560" y="3741725"/>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جِنْسِيَّتُكَ؟</a:t>
            </a:r>
            <a:endParaRPr lang="ar-SA" sz="1700" dirty="0"/>
          </a:p>
        </p:txBody>
      </p:sp>
      <p:sp>
        <p:nvSpPr>
          <p:cNvPr id="42" name="Text 39"/>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738360" y="4478731"/>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وَأَفْهَمُ … أَيْضًا</a:t>
            </a:r>
            <a:endParaRPr lang="ar-SA" sz="1500" dirty="0"/>
          </a:p>
        </p:txBody>
      </p:sp>
      <p:sp>
        <p:nvSpPr>
          <p:cNvPr id="47" name="Text 44"/>
          <p:cNvSpPr txBox="1"/>
          <p:nvPr/>
        </p:nvSpPr>
        <p:spPr>
          <a:xfrm>
            <a:off x="6995160" y="4478731"/>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أَتَكَلَّمُ …</a:t>
            </a:r>
            <a:endParaRPr lang="ar-SA" sz="1600" dirty="0"/>
          </a:p>
        </p:txBody>
      </p:sp>
      <p:sp>
        <p:nvSpPr>
          <p:cNvPr id="48" name="Text 45"/>
          <p:cNvSpPr txBox="1"/>
          <p:nvPr/>
        </p:nvSpPr>
        <p:spPr>
          <a:xfrm>
            <a:off x="463600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languages do you speak?</a:t>
            </a:r>
            <a:endParaRPr lang="en-US" sz="1100" dirty="0"/>
          </a:p>
        </p:txBody>
      </p:sp>
      <p:sp>
        <p:nvSpPr>
          <p:cNvPr id="49" name="Text 46"/>
          <p:cNvSpPr txBox="1"/>
          <p:nvPr/>
        </p:nvSpPr>
        <p:spPr>
          <a:xfrm>
            <a:off x="1051560" y="4478731"/>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 لُغَاتٍ تَتَكَلَّمُ؟</a:t>
            </a:r>
            <a:endParaRPr lang="ar-SA" sz="1700" dirty="0"/>
          </a:p>
        </p:txBody>
      </p:sp>
      <p:sp>
        <p:nvSpPr>
          <p:cNvPr id="50" name="Text 47"/>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2" name="Text 49"/>
          <p:cNvSpPr txBox="1"/>
          <p:nvPr/>
        </p:nvSpPr>
        <p:spPr>
          <a:xfrm>
            <a:off x="9738360" y="5215738"/>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فِي الصَّفِّ …</a:t>
            </a:r>
            <a:endParaRPr lang="ar-SA" sz="1500" dirty="0"/>
          </a:p>
        </p:txBody>
      </p:sp>
      <p:sp>
        <p:nvSpPr>
          <p:cNvPr id="53" name="Text 50"/>
          <p:cNvSpPr txBox="1"/>
          <p:nvPr/>
        </p:nvSpPr>
        <p:spPr>
          <a:xfrm>
            <a:off x="6995160" y="5215738"/>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أَدْرُسُ فِي مَدْرَسَةِ …</a:t>
            </a:r>
            <a:endParaRPr lang="ar-SA" sz="1600" dirty="0"/>
          </a:p>
        </p:txBody>
      </p:sp>
      <p:sp>
        <p:nvSpPr>
          <p:cNvPr id="54" name="Text 51"/>
          <p:cNvSpPr txBox="1"/>
          <p:nvPr/>
        </p:nvSpPr>
        <p:spPr>
          <a:xfrm>
            <a:off x="463600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do you study?</a:t>
            </a:r>
            <a:endParaRPr lang="en-US" sz="1100" dirty="0"/>
          </a:p>
        </p:txBody>
      </p:sp>
      <p:sp>
        <p:nvSpPr>
          <p:cNvPr id="55" name="Text 52"/>
          <p:cNvSpPr txBox="1"/>
          <p:nvPr/>
        </p:nvSpPr>
        <p:spPr>
          <a:xfrm>
            <a:off x="1051560" y="5215738"/>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أَيْنَ تَدْرُسُ؟</a:t>
            </a:r>
            <a:endParaRPr lang="ar-SA" sz="1700" dirty="0"/>
          </a:p>
        </p:txBody>
      </p:sp>
      <p:sp>
        <p:nvSpPr>
          <p:cNvPr id="56" name="Text 53"/>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Each Speaker answers every question. Core: a full sentence from the starter. Develop: add the “more” part. Stretch: add a reason with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 second detail. Swap after each question.</a:t>
            </a:r>
            <a:endParaRPr lang="en-US" sz="110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ROLE-PLAY CARD · USE THE PLAN, THEN HIDE IT AND SPEAK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Role-play card — first video call with a pen-friend in Jordan</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أَوَّلُ مُكَالَمَةٍ مَعَ صَدِيقٍ بِالمُرَاسَلَةِ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275320" y="2267712"/>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 مَرْحَبًا! اسْمِي …</a:t>
            </a:r>
            <a:endParaRPr lang="ar-SA" sz="1600" dirty="0"/>
          </a:p>
        </p:txBody>
      </p:sp>
      <p:sp>
        <p:nvSpPr>
          <p:cNvPr id="22" name="Text 19"/>
          <p:cNvSpPr txBox="1"/>
          <p:nvPr/>
        </p:nvSpPr>
        <p:spPr>
          <a:xfrm>
            <a:off x="5001768" y="2267712"/>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Greet and give your name.</a:t>
            </a:r>
            <a:endParaRPr lang="en-US" sz="1100" dirty="0"/>
          </a:p>
        </p:txBody>
      </p:sp>
      <p:sp>
        <p:nvSpPr>
          <p:cNvPr id="23" name="Text 20"/>
          <p:cNvSpPr txBox="1"/>
          <p:nvPr/>
        </p:nvSpPr>
        <p:spPr>
          <a:xfrm>
            <a:off x="1051560" y="2267712"/>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مَرْحَبًا! مَا اسْمُكَ؟</a:t>
            </a:r>
            <a:endParaRPr lang="ar-SA" sz="1700" dirty="0"/>
          </a:p>
        </p:txBody>
      </p:sp>
      <p:sp>
        <p:nvSpPr>
          <p:cNvPr id="24" name="Text 21"/>
          <p:cNvSpPr txBox="1"/>
          <p:nvPr/>
        </p:nvSpPr>
        <p:spPr>
          <a:xfrm>
            <a:off x="566928" y="2267712"/>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275320" y="3054096"/>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كَمْ ← عُمْرِي … سَنَةً</a:t>
            </a:r>
            <a:endParaRPr lang="ar-SA" sz="1600" dirty="0"/>
          </a:p>
        </p:txBody>
      </p:sp>
      <p:sp>
        <p:nvSpPr>
          <p:cNvPr id="29" name="Text 26"/>
          <p:cNvSpPr txBox="1"/>
          <p:nvPr/>
        </p:nvSpPr>
        <p:spPr>
          <a:xfrm>
            <a:off x="5001768" y="3054096"/>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your age.</a:t>
            </a:r>
            <a:endParaRPr lang="en-US" sz="1100" dirty="0"/>
          </a:p>
        </p:txBody>
      </p:sp>
      <p:sp>
        <p:nvSpPr>
          <p:cNvPr id="30" name="Text 27"/>
          <p:cNvSpPr txBox="1"/>
          <p:nvPr/>
        </p:nvSpPr>
        <p:spPr>
          <a:xfrm>
            <a:off x="1051560" y="3054096"/>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عُمْرُكَ؟</a:t>
            </a:r>
            <a:endParaRPr lang="ar-SA" sz="1700" dirty="0"/>
          </a:p>
        </p:txBody>
      </p:sp>
      <p:sp>
        <p:nvSpPr>
          <p:cNvPr id="31" name="Text 28"/>
          <p:cNvSpPr txBox="1"/>
          <p:nvPr/>
        </p:nvSpPr>
        <p:spPr>
          <a:xfrm>
            <a:off x="566928" y="3054096"/>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8275320" y="3840480"/>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أَيْنَ ← أَسْكُنُ فِي … وَأَنَا مِنْ …</a:t>
            </a:r>
            <a:endParaRPr lang="ar-SA" sz="1600" dirty="0"/>
          </a:p>
        </p:txBody>
      </p:sp>
      <p:sp>
        <p:nvSpPr>
          <p:cNvPr id="36" name="Text 33"/>
          <p:cNvSpPr txBox="1"/>
          <p:nvPr/>
        </p:nvSpPr>
        <p:spPr>
          <a:xfrm>
            <a:off x="5001768" y="3840480"/>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where you live + where you are from.</a:t>
            </a:r>
            <a:endParaRPr lang="en-US" sz="1100" dirty="0"/>
          </a:p>
        </p:txBody>
      </p:sp>
      <p:sp>
        <p:nvSpPr>
          <p:cNvPr id="37" name="Text 34"/>
          <p:cNvSpPr txBox="1"/>
          <p:nvPr/>
        </p:nvSpPr>
        <p:spPr>
          <a:xfrm>
            <a:off x="1051560" y="3840480"/>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أَيْنَ تَسْكُنُ؟</a:t>
            </a:r>
            <a:endParaRPr lang="ar-SA" sz="1700" dirty="0"/>
          </a:p>
        </p:txBody>
      </p:sp>
      <p:sp>
        <p:nvSpPr>
          <p:cNvPr id="38" name="Text 35"/>
          <p:cNvSpPr txBox="1"/>
          <p:nvPr/>
        </p:nvSpPr>
        <p:spPr>
          <a:xfrm>
            <a:off x="566928" y="3840480"/>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8275320" y="4626864"/>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 نَعَمْ، … قَلِيلًا ، وَ… أَيْضًا</a:t>
            </a:r>
            <a:endParaRPr lang="ar-SA" sz="1600" dirty="0"/>
          </a:p>
        </p:txBody>
      </p:sp>
      <p:sp>
        <p:nvSpPr>
          <p:cNvPr id="43" name="Text 40"/>
          <p:cNvSpPr txBox="1"/>
          <p:nvPr/>
        </p:nvSpPr>
        <p:spPr>
          <a:xfrm>
            <a:off x="5001768" y="4626864"/>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 another language.</a:t>
            </a:r>
            <a:endParaRPr lang="en-US" sz="1100" dirty="0"/>
          </a:p>
        </p:txBody>
      </p:sp>
      <p:sp>
        <p:nvSpPr>
          <p:cNvPr id="44" name="Text 41"/>
          <p:cNvSpPr txBox="1"/>
          <p:nvPr/>
        </p:nvSpPr>
        <p:spPr>
          <a:xfrm>
            <a:off x="1051560" y="4626864"/>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تَتَكَلَّمُ العَرَبِيَّةَ؟</a:t>
            </a:r>
            <a:endParaRPr lang="ar-SA" sz="1700" dirty="0"/>
          </a:p>
        </p:txBody>
      </p:sp>
      <p:sp>
        <p:nvSpPr>
          <p:cNvPr id="45" name="Text 42"/>
          <p:cNvSpPr txBox="1"/>
          <p:nvPr/>
        </p:nvSpPr>
        <p:spPr>
          <a:xfrm>
            <a:off x="566928" y="4626864"/>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Text 4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Speaker = yourself · Leader = your new pen-friend. Read the plan for 1 minute, then hide it and speak. Then swap roles.</a:t>
            </a:r>
            <a:endParaRPr lang="en-US" sz="11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5 · SHORT TALK · 30 SECONDS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30 seconds: all about 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 شَيْءٍ عَنِّي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 · practice room</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5 · IN YOUR ROOM</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Talk for 30 seconds — no stopping</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Give a full 30-second introduction with no stopping: greeting, name, age, where you are from, where you live, nationality, languages — and a polite closing.</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3–4 key words,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Leader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Coach: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until everyone has spoken.</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Five facts: name, age, from, live, language.</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the facts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and </a:t>
            </a:r>
            <a:pPr algn="l" indent="0" marL="0">
              <a:buNone/>
            </a:pPr>
            <a:r>
              <a:rPr lang="ar-SA" altLang="en-US" sz="1500" dirty="0">
                <a:solidFill>
                  <a:srgbClr val="1F2A37"/>
                </a:solidFill>
                <a:latin typeface="Amiri" pitchFamily="2" charset="-78"/>
                <a:ea typeface="Amiri" pitchFamily="2" charset="-78"/>
                <a:cs typeface="Amiri" pitchFamily="2" charset="-78"/>
              </a:rPr>
              <a:t>أَيْضًا</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your school and one family member (</a:t>
            </a:r>
            <a:pPr algn="l" indent="0" marL="0">
              <a:buNone/>
            </a:pPr>
            <a:r>
              <a:rPr lang="ar-SA" altLang="en-US" sz="1500" dirty="0">
                <a:solidFill>
                  <a:srgbClr val="1F2A37"/>
                </a:solidFill>
                <a:latin typeface="Amiri" pitchFamily="2" charset="-78"/>
                <a:ea typeface="Amiri" pitchFamily="2" charset="-78"/>
                <a:cs typeface="Amiri" pitchFamily="2" charset="-78"/>
              </a:rPr>
              <a:t>أُمِّي مِنْ</a:t>
            </a:r>
            <a:pPr algn="l" indent="0" marL="0">
              <a:buNone/>
            </a:pPr>
            <a:r>
              <a:rPr lang="en-US" sz="1150" dirty="0">
                <a:solidFill>
                  <a:srgbClr val="1F2A37"/>
                </a:solidFill>
                <a:latin typeface="Calibri" pitchFamily="34" charset="0"/>
                <a:cs typeface="Amiri" pitchFamily="2" charset="-78"/>
              </a:rPr>
              <a:t> … · </a:t>
            </a:r>
            <a:pPr algn="l" indent="0" marL="0">
              <a:buNone/>
            </a:pPr>
            <a:r>
              <a:rPr lang="ar-SA" altLang="en-US" sz="1500" dirty="0">
                <a:solidFill>
                  <a:srgbClr val="1F2A37"/>
                </a:solidFill>
                <a:latin typeface="Amiri" pitchFamily="2" charset="-78"/>
                <a:ea typeface="Amiri" pitchFamily="2" charset="-78"/>
                <a:cs typeface="Amiri" pitchFamily="2" charset="-78"/>
              </a:rPr>
              <a:t>أَخِي عُمْرُهُ</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اسْمِي … وَعُمْرِي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my name is … and I am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أَنَا مِنْ … وَأَسْكُنُ فِي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am from … and I live in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أَتَكَلَّمُ … ، وَ… أَيْضًا</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speak …, and … too</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سَعِيدٌ / سَعِيدَةٌ بِلِقَائِكُمْ</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pleased to meet you (boy / girl)</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B · STEP 6 · SENTENCE BUILDER · CHOOSE A OR B IN EACH COLUMN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 · practice room</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My name is Adam and I am twelve.</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اسْمِي آدَمُ</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اسْمُهُ آدَمُ</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وَعُمْرِي</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أَيْضًا عُمْرِي</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اثْنَتَا عَشْرَةَ سَنَةً.</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اثْنَتَا عَشْرَةَ سَنَوَاتٍ.</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am from Syria and I live in Glasgow.</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أَنَا مِنْ سُورِيَا</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أَنَا فِي سُورِيَا</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وَأَسْكُنُ</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وَيَسْكُنُ</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غْلَاسْكُو.</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مِنْ غْلَاسْكُو.</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speak English, and Arabic too.</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أَتَكَلَّمُ الإِنْجِلِيزِيَّةَ،</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أَتَكَلَّمُ إِنْجِلِيزِيٌّ،</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وَالعَرَبِيَّةَ</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وَعَرَبِيٌّ</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أَيْضًا.</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جِدًّا.</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6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 · practice room</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My name is Adam and I am twelve.</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 -ī; and = </a:t>
            </a:r>
            <a:pPr algn="l" indent="0" marL="0">
              <a:buNone/>
            </a:pPr>
            <a:r>
              <a:rPr lang="ar-SA" altLang="en-US" sz="1350" dirty="0">
                <a:solidFill>
                  <a:srgbClr val="5A6472"/>
                </a:solidFill>
                <a:latin typeface="Amiri" pitchFamily="2" charset="-78"/>
                <a:ea typeface="Amiri" pitchFamily="2" charset="-78"/>
                <a:cs typeface="Amiri" pitchFamily="2" charset="-78"/>
              </a:rPr>
              <a:t>وَ</a:t>
            </a:r>
            <a:pPr algn="l" indent="0" marL="0">
              <a:buNone/>
            </a:pPr>
            <a:r>
              <a:rPr lang="en-US" sz="1050" i="1" dirty="0">
                <a:solidFill>
                  <a:srgbClr val="5A6472"/>
                </a:solidFill>
                <a:latin typeface="Calibri" pitchFamily="34" charset="0"/>
                <a:cs typeface="Amiri" pitchFamily="2" charset="-78"/>
              </a:rPr>
              <a:t>; 11–20 + </a:t>
            </a:r>
            <a:pPr algn="l" indent="0" marL="0">
              <a:buNone/>
            </a:pPr>
            <a:r>
              <a:rPr lang="ar-SA" altLang="en-US" sz="1350" dirty="0">
                <a:solidFill>
                  <a:srgbClr val="5A6472"/>
                </a:solidFill>
                <a:latin typeface="Amiri" pitchFamily="2" charset="-78"/>
                <a:ea typeface="Amiri" pitchFamily="2" charset="-78"/>
                <a:cs typeface="Amiri" pitchFamily="2" charset="-78"/>
              </a:rPr>
              <a:t>سَنَةً</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اسْمِي آدَمُ وَعُمْرِي اثْنَتَا عَشْرَةَ سَنَةً.</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am from Syria and I live in Glasgow.</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From = </a:t>
            </a:r>
            <a:pPr algn="l" indent="0" marL="0">
              <a:buNone/>
            </a:pPr>
            <a:r>
              <a:rPr lang="ar-SA" altLang="en-US" sz="1350" dirty="0">
                <a:solidFill>
                  <a:srgbClr val="5A6472"/>
                </a:solidFill>
                <a:latin typeface="Amiri" pitchFamily="2" charset="-78"/>
                <a:ea typeface="Amiri" pitchFamily="2" charset="-78"/>
                <a:cs typeface="Amiri" pitchFamily="2" charset="-78"/>
              </a:rPr>
              <a:t>مِنْ</a:t>
            </a:r>
            <a:pPr algn="l" indent="0" marL="0">
              <a:buNone/>
            </a:pPr>
            <a:r>
              <a:rPr lang="en-US" sz="1050" i="1" dirty="0">
                <a:solidFill>
                  <a:srgbClr val="5A6472"/>
                </a:solidFill>
                <a:latin typeface="Calibri" pitchFamily="34" charset="0"/>
                <a:cs typeface="Amiri" pitchFamily="2" charset="-78"/>
              </a:rPr>
              <a:t>; I live = </a:t>
            </a:r>
            <a:pPr algn="l" indent="0" marL="0">
              <a:buNone/>
            </a:pPr>
            <a:r>
              <a:rPr lang="ar-SA" altLang="en-US" sz="1350" dirty="0">
                <a:solidFill>
                  <a:srgbClr val="5A6472"/>
                </a:solidFill>
                <a:latin typeface="Amiri" pitchFamily="2" charset="-78"/>
                <a:ea typeface="Amiri" pitchFamily="2" charset="-78"/>
                <a:cs typeface="Amiri" pitchFamily="2" charset="-78"/>
              </a:rPr>
              <a:t>أَسْكُنُ فِي</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أَنَا مِنْ سُورِيَا وَأَسْكُنُ فِي غْلَاسْكُو.</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speak English, and Arabic too.</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Languages = </a:t>
            </a:r>
            <a:pPr algn="l" indent="0" marL="0">
              <a:buNone/>
            </a:pPr>
            <a:r>
              <a:rPr lang="ar-SA" altLang="en-US" sz="1350" dirty="0">
                <a:solidFill>
                  <a:srgbClr val="5A6472"/>
                </a:solidFill>
                <a:latin typeface="Amiri" pitchFamily="2" charset="-78"/>
                <a:ea typeface="Amiri" pitchFamily="2" charset="-78"/>
                <a:cs typeface="Amiri" pitchFamily="2" charset="-78"/>
              </a:rPr>
              <a:t>الإِنْجِلِيزِيَّةَ</a:t>
            </a:r>
            <a:pPr algn="l" indent="0" marL="0">
              <a:buNone/>
            </a:pPr>
            <a:r>
              <a:rPr lang="en-US" sz="1050" i="1" dirty="0">
                <a:solidFill>
                  <a:srgbClr val="5A6472"/>
                </a:solidFill>
                <a:latin typeface="Calibri" pitchFamily="34" charset="0"/>
                <a:cs typeface="Amiri" pitchFamily="2" charset="-78"/>
              </a:rPr>
              <a:t> · </a:t>
            </a:r>
            <a:pPr algn="l" indent="0" marL="0">
              <a:buNone/>
            </a:pPr>
            <a:r>
              <a:rPr lang="ar-SA" altLang="en-US" sz="1350" dirty="0">
                <a:solidFill>
                  <a:srgbClr val="5A6472"/>
                </a:solidFill>
                <a:latin typeface="Amiri" pitchFamily="2" charset="-78"/>
                <a:ea typeface="Amiri" pitchFamily="2" charset="-78"/>
                <a:cs typeface="Amiri" pitchFamily="2" charset="-78"/>
              </a:rPr>
              <a:t>العَرَبِيَّةَ</a:t>
            </a:r>
            <a:pPr algn="l" indent="0" marL="0">
              <a:buNone/>
            </a:pPr>
            <a:r>
              <a:rPr lang="en-US" sz="1050" i="1" dirty="0">
                <a:solidFill>
                  <a:srgbClr val="5A6472"/>
                </a:solidFill>
                <a:latin typeface="Calibri" pitchFamily="34" charset="0"/>
                <a:cs typeface="Amiri" pitchFamily="2" charset="-78"/>
              </a:rPr>
              <a:t>; too = </a:t>
            </a:r>
            <a:pPr algn="l" indent="0" marL="0">
              <a:buNone/>
            </a:pPr>
            <a:r>
              <a:rPr lang="ar-SA" altLang="en-US" sz="1350" dirty="0">
                <a:solidFill>
                  <a:srgbClr val="5A6472"/>
                </a:solidFill>
                <a:latin typeface="Amiri" pitchFamily="2" charset="-78"/>
                <a:ea typeface="Amiri" pitchFamily="2" charset="-78"/>
                <a:cs typeface="Amiri" pitchFamily="2" charset="-78"/>
              </a:rPr>
              <a:t>أَيْضًا</a:t>
            </a:r>
            <a:pPr algn="l" indent="0" marL="0">
              <a:buNone/>
            </a:pPr>
            <a:r>
              <a:rPr lang="en-US" sz="1050" i="1" dirty="0">
                <a:solidFill>
                  <a:srgbClr val="5A6472"/>
                </a:solidFill>
                <a:latin typeface="Calibri" pitchFamily="34" charset="0"/>
                <a:cs typeface="Amiri" pitchFamily="2" charset="-78"/>
              </a:rPr>
              <a:t> at the end.</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أَتَكَلَّمُ الإِنْجِلِيزِيَّةَ، وَالعَرَبِيَّةَ أَيْضًا.</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7 · SPOT AND FIX · MISTAKES STUDENTS OFTEN MAKE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 · practice room</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اسْمِي سَلْمَى عُمْرِي ثَلَاثَ عَشْرَةَ سَنَةً.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Two facts need a joining word.</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أَيْضًا أَتَكَلَّمُ الفَرَنْسِيَّةَ.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Where does </a:t>
            </a:r>
            <a:pPr algn="l" indent="0" marL="0">
              <a:buNone/>
            </a:pPr>
            <a:r>
              <a:rPr lang="ar-SA" altLang="en-US" sz="1700" dirty="0">
                <a:solidFill>
                  <a:srgbClr val="5A6472"/>
                </a:solidFill>
                <a:latin typeface="Amiri" pitchFamily="2" charset="-78"/>
                <a:ea typeface="Amiri" pitchFamily="2" charset="-78"/>
                <a:cs typeface="Amiri" pitchFamily="2" charset="-78"/>
              </a:rPr>
              <a:t>أَيْضًا</a:t>
            </a:r>
            <a:pPr algn="l" indent="0" marL="0">
              <a:buNone/>
            </a:pPr>
            <a:r>
              <a:rPr lang="en-US" sz="1300" i="1" dirty="0">
                <a:solidFill>
                  <a:srgbClr val="5A6472"/>
                </a:solidFill>
                <a:latin typeface="Calibri" pitchFamily="34" charset="0"/>
                <a:cs typeface="Amiri" pitchFamily="2" charset="-78"/>
              </a:rPr>
              <a:t> usually go?</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أَنَا سَعِيدٌ بِلِقَائِكُمْ.</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Sara speaking — Sara is a girl.</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22</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 · practice room</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اسْمِي سَلْمَى عُمْرِي ثَلَاثَ عَشْرَةَ سَنَةً.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اسْمِي سَلْمَى، وَعُمْرِي ثَلَاثَ عَشْرَةَ سَنَةً.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Join two facts with </a:t>
            </a:r>
            <a:pPr algn="l" indent="0" marL="0">
              <a:buNone/>
            </a:pPr>
            <a:r>
              <a:rPr lang="ar-SA" altLang="en-US" sz="1500" b="1" dirty="0">
                <a:solidFill>
                  <a:srgbClr val="1B3B6F"/>
                </a:solidFill>
                <a:latin typeface="Amiri" pitchFamily="2" charset="-78"/>
                <a:ea typeface="Amiri" pitchFamily="2" charset="-78"/>
                <a:cs typeface="Amiri" pitchFamily="2" charset="-78"/>
              </a:rPr>
              <a:t>وَ</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أَيْضًا أَتَكَلَّمُ الفَرَنْسِيَّةَ.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أَتَكَلَّمُ الفَرَنْسِيَّةَ أَيْضًا.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أَيْضًا</a:t>
            </a:r>
            <a:pPr algn="l" indent="0" marL="0">
              <a:buNone/>
            </a:pPr>
            <a:r>
              <a:rPr lang="en-US" sz="1150" b="1" dirty="0">
                <a:solidFill>
                  <a:srgbClr val="1B3B6F"/>
                </a:solidFill>
                <a:latin typeface="Calibri" pitchFamily="34" charset="0"/>
                <a:cs typeface="Amiri" pitchFamily="2" charset="-78"/>
              </a:rPr>
              <a:t> usually comes at the end.</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أَنَا سَعِيدٌ بِلِقَائِكُمْ.</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أَنَا سَعِيدَةٌ بِلِقَائِكُمْ.</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girl → </a:t>
            </a:r>
            <a:pPr algn="l" indent="0" marL="0">
              <a:buNone/>
            </a:pPr>
            <a:r>
              <a:rPr lang="ar-SA" altLang="en-US" sz="1500" b="1" dirty="0">
                <a:solidFill>
                  <a:srgbClr val="1B3B6F"/>
                </a:solidFill>
                <a:latin typeface="Amiri" pitchFamily="2" charset="-78"/>
                <a:ea typeface="Amiri" pitchFamily="2" charset="-78"/>
                <a:cs typeface="Amiri" pitchFamily="2" charset="-78"/>
              </a:rPr>
              <a:t>سَعِيدَةٌ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22</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 · practice room</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أَتَكَلَّمُ ______ ، وَأَفْهَمُ ______ أَيْضًا.</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speak …, and I understand … too.</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أَدْرُسُ فِي ______ ، فِي الصَّفِّ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study at …, in year …</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ea typeface="Amiri" pitchFamily="2" charset="-78"/>
                <a:cs typeface="Amiri" pitchFamily="2" charset="-78"/>
              </a:rPr>
              <a:t>السَّلَامُ عَلَيْكُمْ! اسْمِي ______ ، وَعُمْرِي ______ سَنَةً.</a:t>
            </a:r>
            <a:endParaRPr lang="ar-SA" sz="145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Peace be upon you! My name is …, and I am …</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مِنْ ______ ، وَأَسْكُنُ فِي ______ .</a:t>
            </a:r>
            <a:endParaRPr lang="ar-SA" sz="180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from …, and I live in …</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______ ، وَأَتَكَلَّمُ ______ .</a:t>
            </a:r>
            <a:endParaRPr lang="ar-SA" sz="180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 (nationality), and I speak …</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سَعِيدٌ / سَعِيدَةٌ بِلِقَائِكُمْ!</a:t>
            </a:r>
            <a:endParaRPr lang="ar-SA" sz="180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Pleased to meet you!</a:t>
            </a:r>
            <a:endParaRPr lang="en-US" sz="1050" dirty="0"/>
          </a:p>
        </p:txBody>
      </p:sp>
      <p:sp>
        <p:nvSpPr>
          <p:cNvPr id="33" name="Shape 30"/>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5" name="Text 32"/>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اسْمِي  ·  عُمْرِي … سَنَةً  ·  أَنَا مِنْ  ·  أَسْكُنُ فِي  ·  أَتَكَلَّمُ  ·  وَ  ·  أَيْضًا  ·  سَعِيدٌ بِلِقَائِكُمْ</a:t>
            </a:r>
            <a:endParaRPr lang="ar-SA" sz="16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Speaking + writing practice room</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WRITE YOUR TEXT · ABOUT 40–60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full introduction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تَعْرِيفِي الكَامِلُ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 · practice room</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828800"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8288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SHORT TEXT</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your full introduction (about 35–50 words) for the class website. Include: • a greeting • your name and age • where you are from and where you live • your nationality • your languages • a polite closing. Use </a:t>
            </a:r>
            <a:pPr algn="l" indent="0" marL="0">
              <a:buNone/>
            </a:pPr>
            <a:r>
              <a:rPr lang="ar-SA" altLang="en-US" sz="1750" b="1" dirty="0">
                <a:solidFill>
                  <a:srgbClr val="1F2A37"/>
                </a:solidFill>
                <a:latin typeface="Amiri" pitchFamily="2" charset="-78"/>
                <a:ea typeface="Amiri" pitchFamily="2" charset="-78"/>
                <a:cs typeface="Amiri" pitchFamily="2" charset="-78"/>
              </a:rPr>
              <a:t>وَ</a:t>
            </a:r>
            <a:pPr algn="l" indent="0" marL="0">
              <a:buNone/>
            </a:pPr>
            <a:r>
              <a:rPr lang="en-US" sz="1350" b="1" dirty="0">
                <a:solidFill>
                  <a:srgbClr val="1F2A37"/>
                </a:solidFill>
                <a:latin typeface="Calibri" pitchFamily="34" charset="0"/>
                <a:cs typeface="Amiri" pitchFamily="2" charset="-78"/>
              </a:rPr>
              <a:t> and </a:t>
            </a:r>
            <a:pPr algn="l" indent="0" marL="0">
              <a:buNone/>
            </a:pPr>
            <a:r>
              <a:rPr lang="ar-SA" altLang="en-US" sz="1750" b="1" dirty="0">
                <a:solidFill>
                  <a:srgbClr val="1F2A37"/>
                </a:solidFill>
                <a:latin typeface="Amiri" pitchFamily="2" charset="-78"/>
                <a:ea typeface="Amiri" pitchFamily="2" charset="-78"/>
                <a:cs typeface="Amiri" pitchFamily="2" charset="-78"/>
              </a:rPr>
              <a:t>أَيْضًا</a:t>
            </a:r>
            <a:pPr algn="l" indent="0" marL="0">
              <a:buNone/>
            </a:pPr>
            <a:r>
              <a:rPr lang="en-US" sz="1350" b="1" dirty="0">
                <a:solidFill>
                  <a:srgbClr val="1F2A37"/>
                </a:solidFill>
                <a:latin typeface="Calibri" pitchFamily="34" charset="0"/>
                <a:cs typeface="Amiri" pitchFamily="2" charset="-78"/>
              </a:rPr>
              <a:t> at least twice.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bullet point has at least one sentence.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Full sentences with the right ending (I · my · he · she).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Words from today’s word bank.</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and one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(Develop).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اسْمِي … ، وَعُمْرِي … سَنَةً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name is …, and I am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مِنْ … ، وَأَسْكُنُ فِي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am from …, and I live in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algn="l" indent="0" marL="0">
              <a:buNone/>
            </a:pPr>
            <a:r>
              <a:rPr lang="ar-SA" altLang="en-US" sz="2350" b="1" dirty="0">
                <a:solidFill>
                  <a:srgbClr val="1B3B6F"/>
                </a:solidFill>
                <a:latin typeface="Amiri" pitchFamily="2" charset="-78"/>
                <a:ea typeface="Amiri" pitchFamily="2" charset="-78"/>
                <a:cs typeface="Amiri" pitchFamily="2" charset="-78"/>
              </a:rPr>
              <a:t>أَنَا</a:t>
            </a:r>
            <a:pPr algn="l" indent="0" marL="0">
              <a:buNone/>
            </a:pPr>
            <a:r>
              <a:rPr lang="en-US" sz="1800" b="1" dirty="0">
                <a:solidFill>
                  <a:srgbClr val="1B3B6F"/>
                </a:solidFill>
                <a:latin typeface="Calibri" pitchFamily="34" charset="0"/>
                <a:cs typeface="Amiri" pitchFamily="2" charset="-78"/>
              </a:rPr>
              <a:t> … (nationality)</a:t>
            </a:r>
            <a:endParaRPr lang="en-US"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am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أَتَكَلَّمُ … ، وَ… أَيْضًا</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speak …, and … too</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at least five facts in full sentences?</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join the facts with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and </a:t>
            </a:r>
            <a:pPr algn="l" indent="0" marL="0">
              <a:buNone/>
            </a:pPr>
            <a:r>
              <a:rPr lang="ar-SA" altLang="en-US" sz="1450" dirty="0">
                <a:solidFill>
                  <a:srgbClr val="5A6472"/>
                </a:solidFill>
                <a:latin typeface="Amiri" pitchFamily="2" charset="-78"/>
                <a:ea typeface="Amiri" pitchFamily="2" charset="-78"/>
                <a:cs typeface="Amiri" pitchFamily="2" charset="-78"/>
              </a:rPr>
              <a:t>أَيْضًا</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a reason, a time phrase or an opinion?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22</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4800600" y="2286000"/>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اسْمِي زَكَرِيَّا.</a:t>
            </a:r>
            <a:endParaRPr lang="ar-SA" sz="1800" dirty="0"/>
          </a:p>
        </p:txBody>
      </p:sp>
      <p:sp>
        <p:nvSpPr>
          <p:cNvPr id="21" name="Text 18"/>
          <p:cNvSpPr txBox="1"/>
          <p:nvPr/>
        </p:nvSpPr>
        <p:spPr>
          <a:xfrm>
            <a:off x="4754880" y="2706624"/>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Hello! My name is Zakariya.</a:t>
            </a:r>
            <a:endParaRPr lang="en-US" sz="950" dirty="0"/>
          </a:p>
        </p:txBody>
      </p:sp>
      <p:sp>
        <p:nvSpPr>
          <p:cNvPr id="22" name="Text 19"/>
          <p:cNvSpPr txBox="1"/>
          <p:nvPr/>
        </p:nvSpPr>
        <p:spPr>
          <a:xfrm>
            <a:off x="1051560"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مَرْحَبًا! مَا اسْمُكَ؟</a:t>
            </a:r>
            <a:endParaRPr lang="ar-SA" sz="1600" dirty="0"/>
          </a:p>
        </p:txBody>
      </p:sp>
      <p:sp>
        <p:nvSpPr>
          <p:cNvPr id="23" name="Text 20"/>
          <p:cNvSpPr txBox="1"/>
          <p:nvPr/>
        </p:nvSpPr>
        <p:spPr>
          <a:xfrm>
            <a:off x="566928" y="2267712"/>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5" name="Text 22"/>
          <p:cNvSpPr txBox="1"/>
          <p:nvPr/>
        </p:nvSpPr>
        <p:spPr>
          <a:xfrm>
            <a:off x="4800600" y="3072384"/>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عُمْرِي ثَلَاثَ عَشْرَةَ سَنَةً.</a:t>
            </a:r>
            <a:endParaRPr lang="ar-SA" sz="1800" dirty="0"/>
          </a:p>
        </p:txBody>
      </p:sp>
      <p:sp>
        <p:nvSpPr>
          <p:cNvPr id="26" name="Text 23"/>
          <p:cNvSpPr txBox="1"/>
          <p:nvPr/>
        </p:nvSpPr>
        <p:spPr>
          <a:xfrm>
            <a:off x="4754880" y="3493008"/>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am thirteen.</a:t>
            </a:r>
            <a:endParaRPr lang="en-US" sz="950" dirty="0"/>
          </a:p>
        </p:txBody>
      </p:sp>
      <p:sp>
        <p:nvSpPr>
          <p:cNvPr id="27" name="Text 24"/>
          <p:cNvSpPr txBox="1"/>
          <p:nvPr/>
        </p:nvSpPr>
        <p:spPr>
          <a:xfrm>
            <a:off x="1051560"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كَمْ عُمْرُكَ؟</a:t>
            </a:r>
            <a:endParaRPr lang="ar-SA" sz="1600" dirty="0"/>
          </a:p>
        </p:txBody>
      </p:sp>
      <p:sp>
        <p:nvSpPr>
          <p:cNvPr id="28" name="Text 25"/>
          <p:cNvSpPr txBox="1"/>
          <p:nvPr/>
        </p:nvSpPr>
        <p:spPr>
          <a:xfrm>
            <a:off x="566928" y="3054096"/>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4800600" y="3858768"/>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أَسْكُنُ فِي لِيسْتَرَ، وَأَنَا مِنَ الهِنْدِ.</a:t>
            </a:r>
            <a:endParaRPr lang="ar-SA" sz="1800" dirty="0"/>
          </a:p>
        </p:txBody>
      </p:sp>
      <p:sp>
        <p:nvSpPr>
          <p:cNvPr id="31" name="Text 28"/>
          <p:cNvSpPr txBox="1"/>
          <p:nvPr/>
        </p:nvSpPr>
        <p:spPr>
          <a:xfrm>
            <a:off x="4754880" y="4279392"/>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live in Leicester, and I am from India.</a:t>
            </a:r>
            <a:endParaRPr lang="en-US" sz="950" dirty="0"/>
          </a:p>
        </p:txBody>
      </p:sp>
      <p:sp>
        <p:nvSpPr>
          <p:cNvPr id="32" name="Text 29"/>
          <p:cNvSpPr txBox="1"/>
          <p:nvPr/>
        </p:nvSpPr>
        <p:spPr>
          <a:xfrm>
            <a:off x="1051560"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أَيْنَ تَسْكُنُ؟</a:t>
            </a:r>
            <a:endParaRPr lang="ar-SA" sz="1600" dirty="0"/>
          </a:p>
        </p:txBody>
      </p:sp>
      <p:sp>
        <p:nvSpPr>
          <p:cNvPr id="33" name="Text 30"/>
          <p:cNvSpPr txBox="1"/>
          <p:nvPr/>
        </p:nvSpPr>
        <p:spPr>
          <a:xfrm>
            <a:off x="566928" y="3840480"/>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5" name="Text 32"/>
          <p:cNvSpPr txBox="1"/>
          <p:nvPr/>
        </p:nvSpPr>
        <p:spPr>
          <a:xfrm>
            <a:off x="4800600" y="4645152"/>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نَعَمْ، قَلِيلًا، وَأَتَكَلَّمُ الإِنْجِلِيزِيَّةَ وَالغُوجَرَاتِيَّةَ أَيْضًا.</a:t>
            </a:r>
            <a:endParaRPr lang="ar-SA" sz="1800" dirty="0"/>
          </a:p>
        </p:txBody>
      </p:sp>
      <p:sp>
        <p:nvSpPr>
          <p:cNvPr id="36" name="Text 33"/>
          <p:cNvSpPr txBox="1"/>
          <p:nvPr/>
        </p:nvSpPr>
        <p:spPr>
          <a:xfrm>
            <a:off x="4754880" y="5065776"/>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Yes, a little, and I speak English and Gujarati too.</a:t>
            </a:r>
            <a:endParaRPr lang="en-US" sz="950" dirty="0"/>
          </a:p>
        </p:txBody>
      </p:sp>
      <p:sp>
        <p:nvSpPr>
          <p:cNvPr id="37" name="Text 34"/>
          <p:cNvSpPr txBox="1"/>
          <p:nvPr/>
        </p:nvSpPr>
        <p:spPr>
          <a:xfrm>
            <a:off x="1051560" y="4626864"/>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تَتَكَلَّمُ العَرَبِيَّةَ؟</a:t>
            </a:r>
            <a:endParaRPr lang="ar-SA" sz="1600" dirty="0"/>
          </a:p>
        </p:txBody>
      </p:sp>
      <p:sp>
        <p:nvSpPr>
          <p:cNvPr id="38" name="Text 35"/>
          <p:cNvSpPr txBox="1"/>
          <p:nvPr/>
        </p:nvSpPr>
        <p:spPr>
          <a:xfrm>
            <a:off x="566928" y="4626864"/>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Choose one phrase you did not use and say it aloud.</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22</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 · practice room</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السَّلَامُ عَلَيْكُمْ! اسْمِي عَائِشَةُ، وَعُمْرِي اثْنَتَا عَشْرَةَ سَنَةً. أَنَا مِنَ اليَمَنِ، وَأَسْكُنُ فِي شِيفِيلْدَ. أَنَا بِرِيطَانِيَّةٌ، وَأُمِّي يَمَنِيَّةٌ. أَتَكَلَّمُ الإِنْجِلِيزِيَّةَ وَالعَرَبِيَّةَ، وَأَفْهَمُ الفَرَنْسِيَّةَ قَلِيلًا أَيْضًا. أَدْرُسُ فِي مَدْرَسَةِ المَدِينَةِ، فِي الصَّفِّ الثَّامِنِ، وَمُعَلِّمَتِي اسْمُهَا الأُسْتَاذَةُ سَلْمَى. سَعِيدَةٌ بِلِقَائِكُمْ!</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“Peace be upon you! My name is Aisha and I am twelve. I am from Yemen, and I live in Sheffield. I am British, and my mother is Yemeni. I speak English and Arabic, and I understand a little French too. I study at Al Madina School, in Year 8, and my teacher is Miss Salma. Pleased to meet you!”</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وَعُمْرِي اثْنَتَا عَشْرَةَ سَنَةً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وَأَسْكُنُ فِي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أَيْضًا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سَعِيدَةٌ بِلِقَائِكُمْ</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22</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 · practice room</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the questions and the role-play tasks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today’s key structure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reasons (</a:t>
            </a:r>
            <a:pPr algn="l" indent="0" marL="0">
              <a:buNone/>
            </a:pPr>
            <a:r>
              <a:rPr lang="ar-SA" altLang="en-US" sz="1700" dirty="0">
                <a:solidFill>
                  <a:srgbClr val="1F2A37"/>
                </a:solidFill>
                <a:latin typeface="Amiri" pitchFamily="2" charset="-78"/>
                <a:ea typeface="Amiri" pitchFamily="2" charset="-78"/>
                <a:cs typeface="Amiri" pitchFamily="2" charset="-78"/>
              </a:rPr>
              <a:t>لِأَنَّ</a:t>
            </a:r>
            <a:pPr algn="l" indent="0" marL="0">
              <a:buNone/>
            </a:pPr>
            <a:r>
              <a:rPr lang="en-US" sz="1300" dirty="0">
                <a:solidFill>
                  <a:srgbClr val="1F2A37"/>
                </a:solidFill>
                <a:latin typeface="Calibri" pitchFamily="34" charset="0"/>
                <a:cs typeface="Amiri" pitchFamily="2" charset="-78"/>
              </a:rPr>
              <a:t>) and extra details without frames.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22</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F2-L07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practised it yourselves!</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00" b="1" dirty="0">
                <a:solidFill>
                  <a:srgbClr val="FFFFFF"/>
                </a:solidFill>
                <a:latin typeface="Cambria" pitchFamily="34" charset="0"/>
                <a:cs typeface="Amiri" pitchFamily="2" charset="-78"/>
              </a:rPr>
              <a:t>F2-L08 · Reading and Writing Personal Profiles</a:t>
            </a:r>
            <a:endParaRPr lang="en-US" sz="21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قِرَاءَةُ وَكِتَابَةُ البِطَاقَاتِ الشَّخْصِيَّةِ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say it, then write it — full sentences, every time.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F2-L07 · Practice Room — Building a Full Introduction</dc:title>
  <dc:subject>PptxGenJS Presentation</dc:subject>
  <dc:creator>Al Madina Online School · Arabic Department</dc:creator>
  <cp:lastModifiedBy>Al Madina Online School · Arabic Department</cp:lastModifiedBy>
  <cp:revision>1</cp:revision>
  <dcterms:created xsi:type="dcterms:W3CDTF">2026-10-25T18:34:58Z</dcterms:created>
  <dcterms:modified xsi:type="dcterms:W3CDTF">2026-10-25T18:34:58Z</dcterms:modified>
</cp:coreProperties>
</file>