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F2-L10 (Greetings and Identity in the Arab World) — new practice tasks built on the lesson’s own word bank and grammar (describing customs: fī baʿḍi al-buldāni …; aḥyānan; anā fakhūrun / fakhūratun bi-…; mutashābihun / mukhtalifun).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F2-L10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to a female guest: تَفَضَّلِي · تُرِيدِينَ — and a girl says: فَخُورَةٌ. Language: ahlan wa-sahlan · tafaḍḍal · hal turīdu …? · fakhūrun bi- + noun + li-anna.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F2-L10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Greetings and Identity in the Arab World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التَّحِيَّاتُ وَالهُوِيَّةُ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speaking and writing practice about greetings, culture and identity: say the culture words, act a short dialogue about greeting customs, answer question cards, do a role-play card welcoming a guest, give a 30-second talk about their identity, then build, fix and write a short text about who they are.</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F2-L10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Culture and customs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ثَقَافَةٌ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culture</a:t>
            </a:r>
            <a:endParaRPr lang="en-US" sz="1350" dirty="0"/>
          </a:p>
          <a:p>
            <a:pPr indent="0" marL="0">
              <a:buNone/>
            </a:pPr>
            <a:r>
              <a:rPr lang="en-US" sz="1100" i="1" dirty="0">
                <a:solidFill>
                  <a:srgbClr val="5A6472"/>
                </a:solidFill>
                <a:latin typeface="Calibri" pitchFamily="34" charset="0"/>
                <a:cs typeface="Amiri" pitchFamily="2" charset="-78"/>
              </a:rPr>
              <a:t>tha-qā-fa · -āt</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ثَقَافَتِي</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ثَقَافَةٌ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ثَقَافَاتٌ</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عَادَاتٌ</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customs, habits</a:t>
            </a:r>
            <a:endParaRPr lang="en-US" sz="1350" dirty="0"/>
          </a:p>
          <a:p>
            <a:pPr indent="0" marL="0">
              <a:buNone/>
            </a:pPr>
            <a:r>
              <a:rPr lang="en-US" sz="1100" i="1" dirty="0">
                <a:solidFill>
                  <a:srgbClr val="5A6472"/>
                </a:solidFill>
                <a:latin typeface="Calibri" pitchFamily="34" charset="0"/>
                <a:cs typeface="Amiri" pitchFamily="2" charset="-78"/>
              </a:rPr>
              <a:t>ʿā-dāt · sg. ʿā-da</a:t>
            </a:r>
            <a:endParaRPr lang="en-US" sz="1350" dirty="0"/>
          </a:p>
        </p:txBody>
      </p:sp>
      <p:sp>
        <p:nvSpPr>
          <p:cNvPr id="42" name="Shape 39"/>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4" name="Text 41"/>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عَادَةٌ</a:t>
            </a:r>
            <a:endParaRPr lang="ar-SA" sz="1500" dirty="0"/>
          </a:p>
        </p:txBody>
      </p:sp>
      <p:sp>
        <p:nvSpPr>
          <p:cNvPr id="45" name="Shape 42"/>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عَادَاتٌ</a:t>
            </a:r>
            <a:endParaRPr lang="ar-SA" sz="1500" dirty="0"/>
          </a:p>
        </p:txBody>
      </p:sp>
      <p:sp>
        <p:nvSpPr>
          <p:cNvPr id="48" name="Shape 4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1920240"/>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1" name="Shape 48"/>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plural</a:t>
            </a:r>
            <a:endParaRPr lang="en-US" sz="800" dirty="0"/>
          </a:p>
        </p:txBody>
      </p:sp>
      <p:sp>
        <p:nvSpPr>
          <p:cNvPr id="53" name="Shape 5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تَقَالِيدُ</a:t>
            </a:r>
            <a:endParaRPr lang="ar-SA" sz="3000" dirty="0"/>
          </a:p>
        </p:txBody>
      </p:sp>
      <p:sp>
        <p:nvSpPr>
          <p:cNvPr id="56" name="Text 5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traditions</a:t>
            </a:r>
            <a:endParaRPr lang="en-US" sz="1350" dirty="0"/>
          </a:p>
          <a:p>
            <a:pPr indent="0" marL="0">
              <a:buNone/>
            </a:pPr>
            <a:r>
              <a:rPr lang="en-US" sz="1100" i="1" dirty="0">
                <a:solidFill>
                  <a:srgbClr val="5A6472"/>
                </a:solidFill>
                <a:latin typeface="Calibri" pitchFamily="34" charset="0"/>
                <a:cs typeface="Amiri" pitchFamily="2" charset="-78"/>
              </a:rPr>
              <a:t>ta-qā-līd</a:t>
            </a:r>
            <a:endParaRPr lang="en-US" sz="1350" dirty="0"/>
          </a:p>
        </p:txBody>
      </p:sp>
      <p:sp>
        <p:nvSpPr>
          <p:cNvPr id="57" name="Text 54"/>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لِعَائِلَتِي تَقَالِيدُ جَمِيلَةٌ.</a:t>
            </a:r>
            <a:endParaRPr lang="ar-SA" sz="13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اِحْتِرَامٌ</a:t>
            </a:r>
            <a:endParaRPr lang="ar-SA" sz="3000" dirty="0"/>
          </a:p>
        </p:txBody>
      </p:sp>
      <p:sp>
        <p:nvSpPr>
          <p:cNvPr id="66" name="Text 6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a:t>
            </a:r>
            <a:endParaRPr lang="en-US" sz="1350" dirty="0"/>
          </a:p>
          <a:p>
            <a:pPr indent="0" marL="0">
              <a:buNone/>
            </a:pPr>
            <a:r>
              <a:rPr lang="en-US" sz="1100" i="1" dirty="0">
                <a:solidFill>
                  <a:srgbClr val="5A6472"/>
                </a:solidFill>
                <a:latin typeface="Calibri" pitchFamily="34" charset="0"/>
                <a:cs typeface="Amiri" pitchFamily="2" charset="-78"/>
              </a:rPr>
              <a:t>iḥ-ti-rām</a:t>
            </a:r>
            <a:endParaRPr lang="en-US" sz="1350" dirty="0"/>
          </a:p>
        </p:txBody>
      </p:sp>
      <p:sp>
        <p:nvSpPr>
          <p:cNvPr id="67" name="Text 64"/>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التَّحِيَّةُ تُظْهِرُ الاِحْتِرَامَ.</a:t>
            </a:r>
            <a:endParaRPr lang="ar-SA" sz="1300" dirty="0"/>
          </a:p>
        </p:txBody>
      </p:sp>
      <p:sp>
        <p:nvSpPr>
          <p:cNvPr id="68" name="Shape 6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389120"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1" name="Shape 68"/>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2" name="Text 69"/>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73" name="Shape 7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5" name="Text 7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ضِيَافَةٌ</a:t>
            </a:r>
            <a:endParaRPr lang="ar-SA" sz="3000" dirty="0"/>
          </a:p>
        </p:txBody>
      </p:sp>
      <p:sp>
        <p:nvSpPr>
          <p:cNvPr id="76" name="Text 7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hospitality</a:t>
            </a:r>
            <a:endParaRPr lang="en-US" sz="1350" dirty="0"/>
          </a:p>
          <a:p>
            <a:pPr indent="0" marL="0">
              <a:buNone/>
            </a:pPr>
            <a:r>
              <a:rPr lang="en-US" sz="1100" i="1" dirty="0">
                <a:solidFill>
                  <a:srgbClr val="5A6472"/>
                </a:solidFill>
                <a:latin typeface="Calibri" pitchFamily="34" charset="0"/>
                <a:cs typeface="Amiri" pitchFamily="2" charset="-78"/>
              </a:rPr>
              <a:t>ḍi-yā-fa</a:t>
            </a:r>
            <a:endParaRPr lang="en-US" sz="1350" dirty="0"/>
          </a:p>
        </p:txBody>
      </p:sp>
      <p:sp>
        <p:nvSpPr>
          <p:cNvPr id="77" name="Text 74"/>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Guest: </a:t>
            </a:r>
            <a:pPr algn="l" indent="0" marL="0">
              <a:buNone/>
            </a:pPr>
            <a:r>
              <a:rPr lang="ar-SA" altLang="en-US" sz="1300" dirty="0">
                <a:solidFill>
                  <a:srgbClr val="8A6D1E"/>
                </a:solidFill>
                <a:latin typeface="Amiri" pitchFamily="2" charset="-78"/>
                <a:ea typeface="Amiri" pitchFamily="2" charset="-78"/>
                <a:cs typeface="Amiri" pitchFamily="2" charset="-78"/>
              </a:rPr>
              <a:t>ضَيْفٌ / ضَيْفَةٌ / ضُيُوفٌ</a:t>
            </a:r>
            <a:endParaRPr lang="en-US" sz="1000" dirty="0"/>
          </a:p>
        </p:txBody>
      </p:sp>
      <p:sp>
        <p:nvSpPr>
          <p:cNvPr id="78" name="Shape 7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566928"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1" name="Shape 78"/>
          <p:cNvSpPr/>
          <p:nvPr/>
        </p:nvSpPr>
        <p:spPr>
          <a:xfrm>
            <a:off x="960120" y="4279392"/>
            <a:ext cx="1144829" cy="256032"/>
          </a:xfrm>
          <a:prstGeom prst="roundRect">
            <a:avLst>
              <a:gd name="adj" fmla="val 50000"/>
            </a:avLst>
          </a:prstGeom>
          <a:solidFill>
            <a:srgbClr val="EFE7D2"/>
          </a:solidFill>
          <a:ln w="12700">
            <a:solidFill>
              <a:srgbClr val="EFE7D2"/>
            </a:solidFill>
            <a:prstDash val="solid"/>
          </a:ln>
        </p:spPr>
      </p:sp>
      <p:sp>
        <p:nvSpPr>
          <p:cNvPr id="82" name="Text 79"/>
          <p:cNvSpPr txBox="1"/>
          <p:nvPr/>
        </p:nvSpPr>
        <p:spPr>
          <a:xfrm>
            <a:off x="960120"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83" name="Shape 8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5" name="Text 8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عَائِلَةٌ</a:t>
            </a:r>
            <a:endParaRPr lang="ar-SA" sz="3000" dirty="0"/>
          </a:p>
        </p:txBody>
      </p:sp>
      <p:sp>
        <p:nvSpPr>
          <p:cNvPr id="86" name="Text 8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family</a:t>
            </a:r>
            <a:endParaRPr lang="en-US" sz="1350" dirty="0"/>
          </a:p>
          <a:p>
            <a:pPr indent="0" marL="0">
              <a:buNone/>
            </a:pPr>
            <a:r>
              <a:rPr lang="en-US" sz="1100" i="1" dirty="0">
                <a:solidFill>
                  <a:srgbClr val="5A6472"/>
                </a:solidFill>
                <a:latin typeface="Calibri" pitchFamily="34" charset="0"/>
                <a:cs typeface="Amiri" pitchFamily="2" charset="-78"/>
              </a:rPr>
              <a:t>ʿā-ʾi-la · -āt</a:t>
            </a:r>
            <a:endParaRPr lang="en-US" sz="1350" dirty="0"/>
          </a:p>
        </p:txBody>
      </p:sp>
      <p:sp>
        <p:nvSpPr>
          <p:cNvPr id="87" name="Shape 84"/>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89" name="Text 86"/>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عَائِلَتِي</a:t>
            </a:r>
            <a:endParaRPr lang="ar-SA" sz="1500" dirty="0"/>
          </a:p>
        </p:txBody>
      </p:sp>
      <p:sp>
        <p:nvSpPr>
          <p:cNvPr id="90" name="Shape 87"/>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92" name="Text 89"/>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عَائِلَتُهُ</a:t>
            </a:r>
            <a:endParaRPr lang="ar-SA" sz="1500" dirty="0"/>
          </a:p>
        </p:txBody>
      </p:sp>
      <p:sp>
        <p:nvSpPr>
          <p:cNvPr id="93" name="Shape 90"/>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95" name="Text 92"/>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عَائِلَتُهَا</a:t>
            </a:r>
            <a:endParaRPr lang="ar-SA" sz="15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Identity and comparing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مُجْتَمَعٌ</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society, community</a:t>
            </a:r>
            <a:endParaRPr lang="en-US" sz="1350" dirty="0"/>
          </a:p>
          <a:p>
            <a:pPr indent="0" marL="0">
              <a:buNone/>
            </a:pPr>
            <a:r>
              <a:rPr lang="en-US" sz="1100" i="1" dirty="0">
                <a:solidFill>
                  <a:srgbClr val="5A6472"/>
                </a:solidFill>
                <a:latin typeface="Calibri" pitchFamily="34" charset="0"/>
                <a:cs typeface="Amiri" pitchFamily="2" charset="-78"/>
              </a:rPr>
              <a:t>mu-jta-maʿ</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المُجْتَمَعُ مُتَنَوِّعٌ</a:t>
            </a:r>
            <a:pPr algn="l" indent="0" marL="0">
              <a:buNone/>
            </a:pPr>
            <a:r>
              <a:rPr lang="en-US" sz="1000" i="1" dirty="0">
                <a:solidFill>
                  <a:srgbClr val="8A6D1E"/>
                </a:solidFill>
                <a:latin typeface="Calibri" pitchFamily="34" charset="0"/>
                <a:cs typeface="Amiri" pitchFamily="2" charset="-78"/>
              </a:rPr>
              <a:t>. (diverse)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8" name="Shape 25"/>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recognise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دِينٌ</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religion</a:t>
            </a:r>
            <a:endParaRPr lang="en-US" sz="1350" dirty="0"/>
          </a:p>
          <a:p>
            <a:pPr indent="0" marL="0">
              <a:buNone/>
            </a:pPr>
            <a:r>
              <a:rPr lang="en-US" sz="1100" i="1" dirty="0">
                <a:solidFill>
                  <a:srgbClr val="5A6472"/>
                </a:solidFill>
                <a:latin typeface="Calibri" pitchFamily="34" charset="0"/>
                <a:cs typeface="Amiri" pitchFamily="2" charset="-78"/>
              </a:rPr>
              <a:t>dīn</a:t>
            </a:r>
            <a:endParaRPr lang="en-US" sz="1350" dirty="0"/>
          </a:p>
        </p:txBody>
      </p:sp>
      <p:sp>
        <p:nvSpPr>
          <p:cNvPr id="32" name="Text 2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part of SOME people’s identity — personal.</a:t>
            </a:r>
            <a:endParaRPr lang="en-US" sz="100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هُوِيَّةٌ</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identity</a:t>
            </a:r>
            <a:endParaRPr lang="en-US" sz="1350" dirty="0"/>
          </a:p>
          <a:p>
            <a:pPr indent="0" marL="0">
              <a:buNone/>
            </a:pPr>
            <a:r>
              <a:rPr lang="en-US" sz="1100" i="1" dirty="0">
                <a:solidFill>
                  <a:srgbClr val="5A6472"/>
                </a:solidFill>
                <a:latin typeface="Calibri" pitchFamily="34" charset="0"/>
                <a:cs typeface="Amiri" pitchFamily="2" charset="-78"/>
              </a:rPr>
              <a:t>hu-wiy-ya</a:t>
            </a:r>
            <a:endParaRPr lang="en-US" sz="1350" dirty="0"/>
          </a:p>
        </p:txBody>
      </p:sp>
      <p:sp>
        <p:nvSpPr>
          <p:cNvPr id="42" name="Shape 39"/>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4" name="Text 41"/>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هُوِيَّتِي</a:t>
            </a:r>
            <a:endParaRPr lang="ar-SA" sz="1500" dirty="0"/>
          </a:p>
        </p:txBody>
      </p:sp>
      <p:sp>
        <p:nvSpPr>
          <p:cNvPr id="45" name="Shape 42"/>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47" name="Text 44"/>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هُوِيَّتُهُ</a:t>
            </a:r>
            <a:endParaRPr lang="ar-SA" sz="1500" dirty="0"/>
          </a:p>
        </p:txBody>
      </p:sp>
      <p:sp>
        <p:nvSpPr>
          <p:cNvPr id="48" name="Shape 45"/>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50" name="Text 47"/>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هُوِيَّتُهَا</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فَخُورٌ بِـ</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proud of</a:t>
            </a:r>
            <a:endParaRPr lang="en-US" sz="1350" dirty="0"/>
          </a:p>
          <a:p>
            <a:pPr indent="0" marL="0">
              <a:buNone/>
            </a:pPr>
            <a:r>
              <a:rPr lang="en-US" sz="1100" i="1" dirty="0">
                <a:solidFill>
                  <a:srgbClr val="5A6472"/>
                </a:solidFill>
                <a:latin typeface="Calibri" pitchFamily="34" charset="0"/>
                <a:cs typeface="Amiri" pitchFamily="2" charset="-78"/>
              </a:rPr>
              <a:t>fa-khūr · fa-khū-ra · fa-khū-rūn</a:t>
            </a:r>
            <a:endParaRPr lang="en-US" sz="1350" dirty="0"/>
          </a:p>
        </p:txBody>
      </p:sp>
      <p:sp>
        <p:nvSpPr>
          <p:cNvPr id="60" name="Shape 5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فَخُورٌ</a:t>
            </a:r>
            <a:endParaRPr lang="ar-SA" sz="1500" dirty="0"/>
          </a:p>
        </p:txBody>
      </p:sp>
      <p:sp>
        <p:nvSpPr>
          <p:cNvPr id="63" name="Shape 6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فَخُورَةٌ</a:t>
            </a:r>
            <a:endParaRPr lang="ar-SA" sz="1500" dirty="0"/>
          </a:p>
        </p:txBody>
      </p:sp>
      <p:sp>
        <p:nvSpPr>
          <p:cNvPr id="66" name="Shape 6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8" name="Text 65"/>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فَخُورُونَ</a:t>
            </a:r>
            <a:endParaRPr lang="ar-SA" sz="15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74" name="Text 7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مُتَشَابِهٌ · مُخْتَلِفٌ</a:t>
            </a:r>
            <a:endParaRPr lang="ar-SA" sz="3000" dirty="0"/>
          </a:p>
        </p:txBody>
      </p:sp>
      <p:sp>
        <p:nvSpPr>
          <p:cNvPr id="75" name="Text 7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similar · different</a:t>
            </a:r>
            <a:endParaRPr lang="en-US" sz="1350" dirty="0"/>
          </a:p>
          <a:p>
            <a:pPr indent="0" marL="0">
              <a:buNone/>
            </a:pPr>
            <a:r>
              <a:rPr lang="en-US" sz="1100" i="1" dirty="0">
                <a:solidFill>
                  <a:srgbClr val="5A6472"/>
                </a:solidFill>
                <a:latin typeface="Calibri" pitchFamily="34" charset="0"/>
                <a:cs typeface="Amiri" pitchFamily="2" charset="-78"/>
              </a:rPr>
              <a:t>mu-ta-shā-bih · mukh-ta-lif</a:t>
            </a:r>
            <a:endParaRPr lang="en-US" sz="1350" dirty="0"/>
          </a:p>
        </p:txBody>
      </p:sp>
      <p:sp>
        <p:nvSpPr>
          <p:cNvPr id="76" name="Text 7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 </a:t>
            </a:r>
            <a:pPr algn="l" indent="0" marL="0">
              <a:buNone/>
            </a:pPr>
            <a:r>
              <a:rPr lang="ar-SA" altLang="en-US" sz="1300" dirty="0">
                <a:solidFill>
                  <a:srgbClr val="8A6D1E"/>
                </a:solidFill>
                <a:latin typeface="Amiri" pitchFamily="2" charset="-78"/>
                <a:ea typeface="Amiri" pitchFamily="2" charset="-78"/>
                <a:cs typeface="Amiri" pitchFamily="2" charset="-78"/>
              </a:rPr>
              <a:t>مُتَشَابِهَةٌ</a:t>
            </a:r>
            <a:pPr algn="l" indent="0" marL="0">
              <a:buNone/>
            </a:pPr>
            <a:r>
              <a:rPr lang="en-US" sz="1000" i="1" dirty="0">
                <a:solidFill>
                  <a:srgbClr val="8A6D1E"/>
                </a:solidFill>
                <a:latin typeface="Calibri" pitchFamily="34" charset="0"/>
                <a:cs typeface="Amiri" pitchFamily="2" charset="-78"/>
              </a:rPr>
              <a:t> · </a:t>
            </a:r>
            <a:pPr algn="l" indent="0" marL="0">
              <a:buNone/>
            </a:pPr>
            <a:r>
              <a:rPr lang="ar-SA" altLang="en-US" sz="1300" dirty="0">
                <a:solidFill>
                  <a:srgbClr val="8A6D1E"/>
                </a:solidFill>
                <a:latin typeface="Amiri" pitchFamily="2" charset="-78"/>
                <a:ea typeface="Amiri" pitchFamily="2" charset="-78"/>
                <a:cs typeface="Amiri" pitchFamily="2" charset="-78"/>
              </a:rPr>
              <a:t>مُخْتَلِفَةٌ</a:t>
            </a:r>
            <a:endParaRPr lang="en-US" sz="1000" dirty="0"/>
          </a:p>
        </p:txBody>
      </p:sp>
      <p:sp>
        <p:nvSpPr>
          <p:cNvPr id="77" name="Shape 7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66928"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0" name="Shape 77"/>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careful</a:t>
            </a:r>
            <a:endParaRPr lang="en-US" sz="800" dirty="0"/>
          </a:p>
        </p:txBody>
      </p:sp>
      <p:sp>
        <p:nvSpPr>
          <p:cNvPr id="82" name="Text 7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 · أَحْيَانًا</a:t>
            </a:r>
            <a:endParaRPr lang="ar-SA" sz="3000" dirty="0"/>
          </a:p>
        </p:txBody>
      </p:sp>
      <p:sp>
        <p:nvSpPr>
          <p:cNvPr id="83" name="Text 8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 · sometimes</a:t>
            </a:r>
            <a:endParaRPr lang="en-US" sz="1350" dirty="0"/>
          </a:p>
          <a:p>
            <a:pPr indent="0" marL="0">
              <a:buNone/>
            </a:pPr>
            <a:r>
              <a:rPr lang="en-US" sz="1100" i="1" dirty="0">
                <a:solidFill>
                  <a:srgbClr val="5A6472"/>
                </a:solidFill>
                <a:latin typeface="Calibri" pitchFamily="34" charset="0"/>
                <a:cs typeface="Amiri" pitchFamily="2" charset="-78"/>
              </a:rPr>
              <a:t>fī baʿ-ḍi … · aḥ-yā-nan</a:t>
            </a:r>
            <a:endParaRPr lang="en-US" sz="1350" dirty="0"/>
          </a:p>
        </p:txBody>
      </p:sp>
      <p:sp>
        <p:nvSpPr>
          <p:cNvPr id="84" name="Text 8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t>
            </a:r>
            <a:pPr algn="l" indent="0" marL="0">
              <a:buNone/>
            </a:pPr>
            <a:r>
              <a:rPr lang="ar-SA" altLang="en-US" sz="1300" dirty="0">
                <a:solidFill>
                  <a:srgbClr val="8A6D1E"/>
                </a:solidFill>
                <a:latin typeface="Amiri" pitchFamily="2" charset="-78"/>
                <a:ea typeface="Amiri" pitchFamily="2" charset="-78"/>
                <a:cs typeface="Amiri" pitchFamily="2" charset="-78"/>
              </a:rPr>
              <a:t>لَيْسَ دَائِمًا</a:t>
            </a:r>
            <a:pPr algn="l" indent="0" marL="0">
              <a:buNone/>
            </a:pPr>
            <a:r>
              <a:rPr lang="en-US" sz="1000" i="1" dirty="0">
                <a:solidFill>
                  <a:srgbClr val="8A6D1E"/>
                </a:solidFill>
                <a:latin typeface="Calibri" pitchFamily="34" charset="0"/>
                <a:cs typeface="Amiri" pitchFamily="2" charset="-78"/>
              </a:rPr>
              <a:t> (not always)</a:t>
            </a:r>
            <a:endParaRPr lang="en-US" sz="10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How do people greet in your family?</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تُسَلِّمُونَ فِي عَائِلَتِكَ؟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greet guests in your family?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تُسَلِّمُونَ عَلَى الضُّيُوفِ فِي عَائِلَتِكَ؟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say: peace be upon you, welcome!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نَقُولُ: السَّلَامُ عَلَيْكُمْ، أَهْلًا وَسَهْلًا!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do you offer guests?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تُقَدِّمُونَ لِلضُّيُوفِ؟</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offer tea and dates, because hospitality is important for us.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نُقَدِّمُ الشَّايَ وَالتَّمْرَ، لِأَنَّ الضِّيَافَةَ مُهِمَّةٌ عِنْدَنَا.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some families people kiss on the cheek too.</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بَعْضِ العَائِلَاتِ يُقَبِّلُ النَّاسُ الخَدَّ أَيْضًا.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customs are different, but respect is the same.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العَادَاتُ مُخْتَلِفَةٌ، لٰكِنَّ الاحْتِرَامَ وَاحِدٌ.</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say what YOUR family really does (</a:t>
            </a:r>
            <a:pPr algn="l" indent="0" marL="0">
              <a:buNone/>
            </a:pPr>
            <a:r>
              <a:rPr lang="ar-SA" altLang="en-US" sz="1500" b="1" dirty="0">
                <a:solidFill>
                  <a:srgbClr val="1B3B6F"/>
                </a:solidFill>
                <a:latin typeface="Amiri" pitchFamily="2" charset="-78"/>
                <a:ea typeface="Amiri" pitchFamily="2" charset="-78"/>
                <a:cs typeface="Amiri" pitchFamily="2" charset="-78"/>
              </a:rPr>
              <a:t>مَاذَا تُقَدِّمُونَ؟</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كَيْفَ تُسَلِّمُونَ؟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وَأُقَبِّلُ يَدَهُ / يَدَهَا</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أَقُولُ: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greet your grandfather or grandmother?</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تُسَلِّمُ عَلَى جَدِّكَ أَوْ جَدَّتِكَ؟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الضِّيَافَةَ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نُقَدِّمُ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family offer guests?</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تُقَدِّمُ عَائِلَتُكَ لِلضُّيُوفِ؟</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 المَدْرَسَةِ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البَيْتِ أَتَكَلَّمُ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language at home?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لُغَتُكَ فِي البَيْتِ؟</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أَنَا فَخُورٌ بِبَلَدِي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you proud of your country?</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أَنْتَ فَخُورٌ بِبَلَدِكَ؟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نَحْنُ … ، وَهُمْ … أَيْضًا</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similar between your culture and your friend’s?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مَا الشَّيْءُ المُتَشَابِهُ بَيْنَ ثَقَافَتِكَ وَثَقَافَةِ صَدِيقِكَ؟</a:t>
            </a:r>
            <a:endParaRPr lang="ar-SA" sz="155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Role-play card — welcoming a guest at home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أُرَحِّبُ بِضَيْفٍ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السَّلَامُ ← وَعَلَيْكُمُ السَّلَامُ! أَهْلًا وَسَهْلًا</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Greet and welcome the guest.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السَّلَامُ عَلَيْكُمْ!</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شُكْرًا ← شُكْرًا … هَلْ تُرِيدُ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and offer a drink.</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شُكْرًا! بَيْتُكُمْ جَمِيلٌ.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 عَائِلَتِي مِنْ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your family is from.</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شَايًا، مِنْ فَضْلِكَ. مِنْ أَيْنَ عَائِلَتُكَ؟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أَنَا فَخُورٌ … لِأَنَّ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with a reason.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أَنْتَ فَخُورٌ بِثَقَافَتِكَ؟</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host · Leader = a guest visiting your family.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who am 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your identity: where your family is from, your languages, one custom in your family — and what makes you proud.</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عَائِلَتِي مِنْ … · أَتَكَلَّمُ … · فِي بَيْتِنَا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one custom (greeting or hospitality) with </a:t>
            </a:r>
            <a:pPr algn="l" indent="0" marL="0">
              <a:buNone/>
            </a:pPr>
            <a:r>
              <a:rPr lang="ar-SA" altLang="en-US" sz="1500" dirty="0">
                <a:solidFill>
                  <a:srgbClr val="1F2A37"/>
                </a:solidFill>
                <a:latin typeface="Amiri" pitchFamily="2" charset="-78"/>
                <a:ea typeface="Amiri" pitchFamily="2" charset="-78"/>
                <a:cs typeface="Amiri" pitchFamily="2" charset="-78"/>
              </a:rPr>
              <a:t>نَحْنُ</a:t>
            </a:r>
            <a:pPr algn="l" indent="0" marL="0">
              <a:buNone/>
            </a:pPr>
            <a:r>
              <a:rPr lang="en-US" sz="1150" dirty="0">
                <a:solidFill>
                  <a:srgbClr val="1F2A37"/>
                </a:solidFill>
                <a:latin typeface="Calibri" pitchFamily="34" charset="0"/>
                <a:cs typeface="Amiri" pitchFamily="2" charset="-78"/>
              </a:rPr>
              <a:t> + verb.</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أَنَا فَخُورٌ / فَخُورَةٌ بِثَقَافَتِي لِأَنَّ</a:t>
            </a:r>
            <a:pPr algn="l" indent="0" marL="0">
              <a:buNone/>
            </a:pPr>
            <a:r>
              <a:rPr lang="en-US" sz="1150" dirty="0">
                <a:solidFill>
                  <a:srgbClr val="1F2A37"/>
                </a:solidFill>
                <a:latin typeface="Calibri" pitchFamily="34" charset="0"/>
                <a:cs typeface="Amiri" pitchFamily="2" charset="-78"/>
              </a:rPr>
              <a:t> … and one difference with a friend’s culture.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عَائِلَتِي مِنْ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my family is from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بَيْتِنَا نَقُولُ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at home we say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فَخُورٌ / فَخُورَةٌ بِثَقَافَتِي</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proud of my culture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مُتَشَابِهٌ · مُخْتَلِفٌ</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similar · different</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our family we offer tea to guests.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عَائِلَتِنَا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عَائِلَتِي أَنَا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نُقَدِّمُ الشَّايَ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يُقَدِّمُ الشَّايَ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لِلضُّيُوفِ.</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الضُّيُوفَ.</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proud of my language (girl).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فَخُورَةٌ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فَخُورٌ</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بِلُغَتِي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لُغَتِي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العَرَبِيَّةِ.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العَرَبِيَّةُ.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Customs are different, but respect is the same.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العَادَاتُ مُخْتَلِفَةٌ،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العَادَاتُ مُخْتَلِفُونَ،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الاحْتِرَامَ وَاحِدٌ.</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الاحْتِرَامُ وَاحِدَةٌ.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our family we offer tea to guests.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 </a:t>
            </a:r>
            <a:pPr algn="l" indent="0" marL="0">
              <a:buNone/>
            </a:pPr>
            <a:r>
              <a:rPr lang="ar-SA" altLang="en-US" sz="1350" dirty="0">
                <a:solidFill>
                  <a:srgbClr val="5A6472"/>
                </a:solidFill>
                <a:latin typeface="Amiri" pitchFamily="2" charset="-78"/>
                <a:ea typeface="Amiri" pitchFamily="2" charset="-78"/>
                <a:cs typeface="Amiri" pitchFamily="2" charset="-78"/>
              </a:rPr>
              <a:t>نُقَدِّمُ</a:t>
            </a:r>
            <a:pPr algn="l" indent="0" marL="0">
              <a:buNone/>
            </a:pPr>
            <a:r>
              <a:rPr lang="en-US" sz="1050" i="1" dirty="0">
                <a:solidFill>
                  <a:srgbClr val="5A6472"/>
                </a:solidFill>
                <a:latin typeface="Calibri" pitchFamily="34" charset="0"/>
                <a:cs typeface="Amiri" pitchFamily="2" charset="-78"/>
              </a:rPr>
              <a:t> (nu-); to guests = </a:t>
            </a:r>
            <a:pPr algn="l" indent="0" marL="0">
              <a:buNone/>
            </a:pPr>
            <a:r>
              <a:rPr lang="ar-SA" altLang="en-US" sz="1350" dirty="0">
                <a:solidFill>
                  <a:srgbClr val="5A6472"/>
                </a:solidFill>
                <a:latin typeface="Amiri" pitchFamily="2" charset="-78"/>
                <a:ea typeface="Amiri" pitchFamily="2" charset="-78"/>
                <a:cs typeface="Amiri" pitchFamily="2" charset="-78"/>
              </a:rPr>
              <a:t>لِلضُّيُوفِ</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عَائِلَتِنَا نُقَدِّمُ الشَّايَ لِلضُّيُوفِ.</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proud of my language (girl).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girl → </a:t>
            </a:r>
            <a:pPr algn="l" indent="0" marL="0">
              <a:buNone/>
            </a:pPr>
            <a:r>
              <a:rPr lang="ar-SA" altLang="en-US" sz="1350" dirty="0">
                <a:solidFill>
                  <a:srgbClr val="5A6472"/>
                </a:solidFill>
                <a:latin typeface="Amiri" pitchFamily="2" charset="-78"/>
                <a:ea typeface="Amiri" pitchFamily="2" charset="-78"/>
                <a:cs typeface="Amiri" pitchFamily="2" charset="-78"/>
              </a:rPr>
              <a:t>فَخُورَةٌ</a:t>
            </a:r>
            <a:pPr algn="l" indent="0" marL="0">
              <a:buNone/>
            </a:pPr>
            <a:r>
              <a:rPr lang="en-US" sz="1050" i="1" dirty="0">
                <a:solidFill>
                  <a:srgbClr val="5A6472"/>
                </a:solidFill>
                <a:latin typeface="Calibri" pitchFamily="34" charset="0"/>
                <a:cs typeface="Amiri" pitchFamily="2" charset="-78"/>
              </a:rPr>
              <a:t>; proud OF = bi- + noun: </a:t>
            </a:r>
            <a:pPr algn="l" indent="0" marL="0">
              <a:buNone/>
            </a:pPr>
            <a:r>
              <a:rPr lang="ar-SA" altLang="en-US" sz="1350" dirty="0">
                <a:solidFill>
                  <a:srgbClr val="5A6472"/>
                </a:solidFill>
                <a:latin typeface="Amiri" pitchFamily="2" charset="-78"/>
                <a:ea typeface="Amiri" pitchFamily="2" charset="-78"/>
                <a:cs typeface="Amiri" pitchFamily="2" charset="-78"/>
              </a:rPr>
              <a:t>بِلُغَتِي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أَنَا فَخُورَةٌ بِلُغَتِي العَرَبِيَّةِ.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Customs are different, but respect is the same.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Things in the plural → </a:t>
            </a:r>
            <a:pPr algn="l" indent="0" marL="0">
              <a:buNone/>
            </a:pPr>
            <a:r>
              <a:rPr lang="ar-SA" altLang="en-US" sz="1350" dirty="0">
                <a:solidFill>
                  <a:srgbClr val="5A6472"/>
                </a:solidFill>
                <a:latin typeface="Amiri" pitchFamily="2" charset="-78"/>
                <a:ea typeface="Amiri" pitchFamily="2" charset="-78"/>
                <a:cs typeface="Amiri" pitchFamily="2" charset="-78"/>
              </a:rPr>
              <a:t>مُخْتَلِفَةٌ</a:t>
            </a:r>
            <a:pPr algn="l" indent="0" marL="0">
              <a:buNone/>
            </a:pPr>
            <a:r>
              <a:rPr lang="en-US" sz="1050" i="1" dirty="0">
                <a:solidFill>
                  <a:srgbClr val="5A6472"/>
                </a:solidFill>
                <a:latin typeface="Calibri" pitchFamily="34" charset="0"/>
                <a:cs typeface="Amiri" pitchFamily="2" charset="-78"/>
              </a:rPr>
              <a:t>; but = </a:t>
            </a:r>
            <a:pPr algn="l" indent="0" marL="0">
              <a:buNone/>
            </a:pPr>
            <a:r>
              <a:rPr lang="ar-SA" altLang="en-US" sz="1350" dirty="0">
                <a:solidFill>
                  <a:srgbClr val="5A6472"/>
                </a:solidFill>
                <a:latin typeface="Amiri" pitchFamily="2" charset="-78"/>
                <a:ea typeface="Amiri" pitchFamily="2" charset="-78"/>
                <a:cs typeface="Amiri" pitchFamily="2" charset="-78"/>
              </a:rPr>
              <a:t>لٰكِنَّ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العَادَاتُ مُخْتَلِفَةٌ، لٰكِنَّ الاحْتِرَامَ وَاحِدٌ.</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فَخُورٌ ثَقَافَتِي.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Proud OF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العَرَبِ يُقَبِّلُونَ الخَدَّ.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this true for everyone?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نَحْنُ يُقَدِّمُ التَّمْرَ.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We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فَخُورٌ ثَقَافَتِي.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فَخُورٌ بِثَقَافَتِي.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فَخُورٌ</a:t>
            </a:r>
            <a:pPr algn="l" indent="0" marL="0">
              <a:buNone/>
            </a:pPr>
            <a:r>
              <a:rPr lang="en-US" sz="1150" b="1" dirty="0">
                <a:solidFill>
                  <a:srgbClr val="1B3B6F"/>
                </a:solidFill>
                <a:latin typeface="Calibri" pitchFamily="34" charset="0"/>
                <a:cs typeface="Amiri" pitchFamily="2" charset="-78"/>
              </a:rPr>
              <a:t> needs bi-: </a:t>
            </a:r>
            <a:pPr algn="l" indent="0" marL="0">
              <a:buNone/>
            </a:pPr>
            <a:r>
              <a:rPr lang="ar-SA" altLang="en-US" sz="1500" b="1" dirty="0">
                <a:solidFill>
                  <a:srgbClr val="1B3B6F"/>
                </a:solidFill>
                <a:latin typeface="Amiri" pitchFamily="2" charset="-78"/>
                <a:ea typeface="Amiri" pitchFamily="2" charset="-78"/>
                <a:cs typeface="Amiri" pitchFamily="2" charset="-78"/>
              </a:rPr>
              <a:t>بِثَقَافَتِي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 العَرَبِ يُقَبِّلُونَ الخَدَّ.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بَعْضِ العَائِلَاتِ يُقَبِّلُ النَّاسُ الخَدَّ.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Communities are diverse: say </a:t>
            </a:r>
            <a:pPr algn="l" indent="0" marL="0">
              <a:buNone/>
            </a:pPr>
            <a:r>
              <a:rPr lang="ar-SA" altLang="en-US" sz="1500" b="1" dirty="0">
                <a:solidFill>
                  <a:srgbClr val="1B3B6F"/>
                </a:solidFill>
                <a:latin typeface="Amiri" pitchFamily="2" charset="-78"/>
                <a:ea typeface="Amiri" pitchFamily="2" charset="-78"/>
                <a:cs typeface="Amiri" pitchFamily="2" charset="-78"/>
              </a:rPr>
              <a:t>فِي بَعْضِ</a:t>
            </a:r>
            <a:pPr algn="l" indent="0" marL="0">
              <a:buNone/>
            </a:pPr>
            <a:r>
              <a:rPr lang="en-US" sz="1150" b="1" dirty="0">
                <a:solidFill>
                  <a:srgbClr val="1B3B6F"/>
                </a:solidFill>
                <a:latin typeface="Calibri" pitchFamily="34" charset="0"/>
                <a:cs typeface="Amiri" pitchFamily="2" charset="-78"/>
              </a:rPr>
              <a:t> … or </a:t>
            </a:r>
            <a:pPr algn="l" indent="0" marL="0">
              <a:buNone/>
            </a:pPr>
            <a:r>
              <a:rPr lang="ar-SA" altLang="en-US" sz="1500" b="1" dirty="0">
                <a:solidFill>
                  <a:srgbClr val="1B3B6F"/>
                </a:solidFill>
                <a:latin typeface="Amiri" pitchFamily="2" charset="-78"/>
                <a:ea typeface="Amiri" pitchFamily="2" charset="-78"/>
                <a:cs typeface="Amiri" pitchFamily="2" charset="-78"/>
              </a:rPr>
              <a:t>أَحْيَانًا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نَحْنُ يُقَدِّمُ التَّمْرَ.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نَحْنُ نُقَدِّمُ التَّمْرَ.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 → nu- / na-: </a:t>
            </a:r>
            <a:pPr algn="l" indent="0" marL="0">
              <a:buNone/>
            </a:pPr>
            <a:r>
              <a:rPr lang="ar-SA" altLang="en-US" sz="1500" b="1" dirty="0">
                <a:solidFill>
                  <a:srgbClr val="1B3B6F"/>
                </a:solidFill>
                <a:latin typeface="Amiri" pitchFamily="2" charset="-78"/>
                <a:ea typeface="Amiri" pitchFamily="2" charset="-78"/>
                <a:cs typeface="Amiri" pitchFamily="2" charset="-78"/>
              </a:rPr>
              <a:t>نُقَدِّمُ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نُقَدِّمُ لِلضُّيُوفِ ______ ، لِأَنَّ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offer guests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صَدِيقِي مِنْ ______ ، وَعَادَاتُهُ ______ ، لٰكِنَّ ______ .</a:t>
            </a:r>
            <a:endParaRPr lang="ar-SA" sz="14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is from …, his customs are …, but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عَائِلَتِي مِنْ ______ ، وَأَسْكُنُ فِي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family is from …, and I live in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البَيْتِ نَتَكَلَّمُ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home we speak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نَقُولُ لِلضُّيُوفِ: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say to guests: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فَخُورٌ / فَخُورَةٌ بِ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proud of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ثَقَافَةٌ  ·  عَادَاتٌ · تَقَالِيدُ  ·  ضِيَافَةٌ  ·  احْتِرَامٌ  ·  هُوِيَّةٌ  ·  فَخُورٌ · فَخُورَةٌ بِثَقَافَتِي  ·  مُتَشَابِهٌ · مُخْتَلِفٌ  ·  فِي بَعْضِ … · أَحْيَانًا</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identity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هُوِيَّتِي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text (about 35–55 words) for a class display called “My identity”. Include: • where your family is from • your languages • one custom in your family (greetings or guests) • what you are proud of,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عَائِلَتِي مِنْ … ، وَأَنَا أَسْكُنُ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family is from …, and I live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البَيْتِ نَتَكَلَّمُ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home we speak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يَزُورُنَا ضَيْفٌ، نُقَدِّمُ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a guest visits us, we offer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فَخُورٌ / فَخُورَةٌ بِعَائِلَتِي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proud of my family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the family is from and which languages you speak?</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نَحْنُ</a:t>
            </a:r>
            <a:pPr algn="l" indent="0" marL="0">
              <a:buNone/>
            </a:pPr>
            <a:r>
              <a:rPr lang="en-US" sz="1100" dirty="0">
                <a:solidFill>
                  <a:srgbClr val="5A6472"/>
                </a:solidFill>
                <a:latin typeface="Calibri" pitchFamily="34" charset="0"/>
                <a:cs typeface="Amiri" pitchFamily="2" charset="-78"/>
              </a:rPr>
              <a:t> verbs (</a:t>
            </a:r>
            <a:pPr algn="l" indent="0" marL="0">
              <a:buNone/>
            </a:pPr>
            <a:r>
              <a:rPr lang="ar-SA" altLang="en-US" sz="1450" dirty="0">
                <a:solidFill>
                  <a:srgbClr val="5A6472"/>
                </a:solidFill>
                <a:latin typeface="Amiri" pitchFamily="2" charset="-78"/>
                <a:ea typeface="Amiri" pitchFamily="2" charset="-78"/>
                <a:cs typeface="Amiri" pitchFamily="2" charset="-78"/>
              </a:rPr>
              <a:t>نَقُولُ</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نُقَدِّمُ</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فَخُورٌ</a:t>
            </a:r>
            <a:pPr algn="l" indent="0" marL="0">
              <a:buNone/>
            </a:pPr>
            <a:r>
              <a:rPr lang="en-US" sz="1100" dirty="0">
                <a:solidFill>
                  <a:srgbClr val="5A6472"/>
                </a:solidFill>
                <a:latin typeface="Calibri" pitchFamily="34" charset="0"/>
                <a:cs typeface="Amiri" pitchFamily="2" charset="-78"/>
              </a:rPr>
              <a:t> + bi- correctly?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وَعَلَيْكُمُ السَّلَامُ! أَهْلًا وَسَهْلًا، تَفَضَّلْ.</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 upon you be peace! Welcome, come in.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السَّلَامُ عَلَيْكُمْ!</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هَلْ تُرِيدُ شَايًا أَوْ قَهْوَةً؟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 you! Would you like tea or coffee?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شُكْرًا! بَيْتُكُمْ جَمِيلٌ.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تَفَضَّلْ. عَائِلَتِي مِنْ فِلَسْطِينَ، لٰكِنِّي وُلِدْتُ فِي بِرِيطَانِيَا.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Here you are. My family is from Palestine, but I was born in Britain.</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شَايًا، مِنْ فَضْلِكَ. مِنْ أَيْنَ عَائِلَتُكَ؟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أَنَا فَخُورٌ بِثَقَافَتِي، لِأَنَّ عَائِلَتِي كَرِيمَةٌ.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am proud of my culture, because my family is generous.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أَنْتَ فَخُورٌ بِثَقَافَتِكَ؟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عَائِلَتِي مِنَ السُّودَانِ، وَأَنَا أَسْكُنُ فِي لَنْدَنَ. فِي البَيْتِ نَتَكَلَّمُ العَرَبِيَّةَ، وَفِي المَدْرَسَةِ أَتَكَلَّمُ الإِنْجِلِيزِيَّةَ. عِنْدَمَا يَزُورُنَا ضَيْفٌ، نَقُولُ: أَهْلًا وَسَهْلًا، وَنُقَدِّمُ القَهْوَةَ وَالتَّمْرَ. أَنَا فَخُورَةٌ بِهُوِيَّتِي، لِأَنَّ عَائِلَتِي كَرِيمَةٌ، وَلِأَنِّي أَتَكَلَّمُ لُغَتَيْنِ. صَدِيقَتِي مِنْ بُولَنْدَا، وَعَادَاتُهَا مُخْتَلِفَةٌ، لٰكِنَّ الاحْتِرَامَ وَاحِدٌ.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family is from Sudan, and I live in London. At home we speak Arabic, and at school I speak English. When a guest visits us, we say ‘welcome’ and offer coffee and dates. I am proud of my identity, because my family is generous, and because I speak two languages. My friend is from Poland, and her customs are different, but respect is the same.”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عَائِلَتِي مِنَ السُّودَانِ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البَيْتِ نَتَكَلَّمُ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وَنُقَدِّمُ القَهْوَةَ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أَنَا فَخُورَةٌ بِهُوِيَّتِي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F2-L10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F2-L11 · Writing a Short Personal Introduction</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كِتَابَةُ تَعْرِيفٍ شَخْصِيٍّ قَصِيرٍ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F2-L10 · Practice Room — Greetings and Identity in the Arab World</dc:title>
  <dc:subject>PptxGenJS Presentation</dc:subject>
  <dc:creator>Al Madina Online School · Arabic Department</dc:creator>
  <cp:lastModifiedBy>Al Madina Online School · Arabic Department</cp:lastModifiedBy>
  <cp:revision>1</cp:revision>
  <dcterms:created xsi:type="dcterms:W3CDTF">2026-10-25T17:16:59Z</dcterms:created>
  <dcterms:modified xsi:type="dcterms:W3CDTF">2026-10-25T17:16:59Z</dcterms:modified>
</cp:coreProperties>
</file>