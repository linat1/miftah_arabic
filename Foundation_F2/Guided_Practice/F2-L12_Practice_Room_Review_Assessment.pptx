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F2-L12 (Show What You Can Say: F2 Review &amp; Assessment) — new practice tasks built on the lesson’s own word bank and grammar (all of F2: greetings + replies; -ka / -ki questions; ismī · ʿumrī · anā min · askunu fī · atakallamu; nisba agreement; hādhā / hādhihi; he / she forms; linking words).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F2-L12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اسْمُكِ · عُمْرُكِ · أَنْتِ · تَتَكَلَّمِينَ · مَعَكِ. Review of the whole unit — every task uses a different F2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(42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F2-L12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Show What You Can Say: F2 Review &amp; Assessment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مُرَاجَعَةُ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The last F2 practice room: students run their own speaking and writing practice across the whole unit — greetings, names, ages, nationality, languages, polite phrases and profiles — then write a full introduction with a profile of a friend, ready for the assessment.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F2-L12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end of unit F2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F2 review: meeting people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السَّلَامُ عَلَيْكُمْ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peace be upon you</a:t>
            </a:r>
            <a:endParaRPr lang="en-US" sz="1350" dirty="0"/>
          </a:p>
          <a:p>
            <a:pPr indent="0" marL="0">
              <a:buNone/>
            </a:pPr>
            <a:r>
              <a:rPr lang="en-US" sz="1100" i="1" dirty="0">
                <a:solidFill>
                  <a:srgbClr val="5A6472"/>
                </a:solidFill>
                <a:latin typeface="Calibri" pitchFamily="34" charset="0"/>
                <a:cs typeface="Amiri" pitchFamily="2" charset="-78"/>
              </a:rPr>
              <a:t>as-sa-lā-mu ʿa-lay-kum</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كَيْفَ حَالُكَ؟ · كَيْفَ حَالُكِ؟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are you? (boy · girl)</a:t>
            </a:r>
            <a:endParaRPr lang="en-US" sz="1350" dirty="0"/>
          </a:p>
          <a:p>
            <a:pPr indent="0" marL="0">
              <a:buNone/>
            </a:pPr>
            <a:r>
              <a:rPr lang="en-US" sz="1100" i="1" dirty="0">
                <a:solidFill>
                  <a:srgbClr val="5A6472"/>
                </a:solidFill>
                <a:latin typeface="Calibri" pitchFamily="34" charset="0"/>
                <a:cs typeface="Amiri" pitchFamily="2" charset="-78"/>
              </a:rPr>
              <a:t>kay-fa ḥā-lu-ka? · kay-fa ḥā-lu-ki?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 اسْمُكَ؟ · مَا اسْمُكِ؟</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is your name? (boy · girl)</a:t>
            </a:r>
            <a:endParaRPr lang="en-US" sz="1350" dirty="0"/>
          </a:p>
          <a:p>
            <a:pPr indent="0" marL="0">
              <a:buNone/>
            </a:pPr>
            <a:r>
              <a:rPr lang="en-US" sz="1100" i="1" dirty="0">
                <a:solidFill>
                  <a:srgbClr val="5A6472"/>
                </a:solidFill>
                <a:latin typeface="Calibri" pitchFamily="34" charset="0"/>
                <a:cs typeface="Amiri" pitchFamily="2" charset="-78"/>
              </a:rPr>
              <a:t>mā as-mu-ka? · mā as-mu-ki?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عُمْرُكَ؟</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old are you?</a:t>
            </a:r>
            <a:endParaRPr lang="en-US" sz="1350" dirty="0"/>
          </a:p>
          <a:p>
            <a:pPr indent="0" marL="0">
              <a:buNone/>
            </a:pPr>
            <a:r>
              <a:rPr lang="en-US" sz="1100" i="1" dirty="0">
                <a:solidFill>
                  <a:srgbClr val="5A6472"/>
                </a:solidFill>
                <a:latin typeface="Calibri" pitchFamily="34" charset="0"/>
                <a:cs typeface="Amiri" pitchFamily="2" charset="-78"/>
              </a:rPr>
              <a:t>kam ʿum-ru-ka?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أَيْنَ أَنْتَ؟</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 are you from?</a:t>
            </a:r>
            <a:endParaRPr lang="en-US" sz="1350" dirty="0"/>
          </a:p>
          <a:p>
            <a:pPr indent="0" marL="0">
              <a:buNone/>
            </a:pPr>
            <a:r>
              <a:rPr lang="en-US" sz="1100" i="1" dirty="0">
                <a:solidFill>
                  <a:srgbClr val="5A6472"/>
                </a:solidFill>
                <a:latin typeface="Calibri" pitchFamily="34" charset="0"/>
                <a:cs typeface="Amiri" pitchFamily="2" charset="-78"/>
              </a:rPr>
              <a:t>min ay-na an-ta?</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فَضْلِكَ · شُكْرًا</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 · thank you</a:t>
            </a:r>
            <a:endParaRPr lang="en-US" sz="1350" dirty="0"/>
          </a:p>
          <a:p>
            <a:pPr indent="0" marL="0">
              <a:buNone/>
            </a:pPr>
            <a:r>
              <a:rPr lang="en-US" sz="1100" i="1" dirty="0">
                <a:solidFill>
                  <a:srgbClr val="5A6472"/>
                </a:solidFill>
                <a:latin typeface="Calibri" pitchFamily="34" charset="0"/>
                <a:cs typeface="Amiri" pitchFamily="2" charset="-78"/>
              </a:rPr>
              <a:t>min faḍ-li-ka · shuk-ran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F2 review: facts about me and others</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اسْمُهُ · اسْمُهَا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name · her name</a:t>
            </a:r>
            <a:endParaRPr lang="en-US" sz="1350" dirty="0"/>
          </a:p>
          <a:p>
            <a:pPr indent="0" marL="0">
              <a:buNone/>
            </a:pPr>
            <a:r>
              <a:rPr lang="en-US" sz="1100" i="1" dirty="0">
                <a:solidFill>
                  <a:srgbClr val="5A6472"/>
                </a:solidFill>
                <a:latin typeface="Calibri" pitchFamily="34" charset="0"/>
                <a:cs typeface="Amiri" pitchFamily="2" charset="-78"/>
              </a:rPr>
              <a:t>as-mu-hu · as-mu-hā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عُمْرِي … سَنَةً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 years old</a:t>
            </a:r>
            <a:endParaRPr lang="en-US" sz="1350" dirty="0"/>
          </a:p>
          <a:p>
            <a:pPr indent="0" marL="0">
              <a:buNone/>
            </a:pPr>
            <a:r>
              <a:rPr lang="en-US" sz="1100" i="1" dirty="0">
                <a:solidFill>
                  <a:srgbClr val="5A6472"/>
                </a:solidFill>
                <a:latin typeface="Calibri" pitchFamily="34" charset="0"/>
                <a:cs typeface="Amiri" pitchFamily="2" charset="-78"/>
              </a:rPr>
              <a:t>ʿum-rī … sa-na-tan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أَسْكُنُ فِي …</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live in …</a:t>
            </a:r>
            <a:endParaRPr lang="en-US" sz="1350" dirty="0"/>
          </a:p>
          <a:p>
            <a:pPr indent="0" marL="0">
              <a:buNone/>
            </a:pPr>
            <a:r>
              <a:rPr lang="en-US" sz="1100" i="1" dirty="0">
                <a:solidFill>
                  <a:srgbClr val="5A6472"/>
                </a:solidFill>
                <a:latin typeface="Calibri" pitchFamily="34" charset="0"/>
                <a:cs typeface="Amiri" pitchFamily="2" charset="-78"/>
              </a:rPr>
              <a:t>as-ku-nu fī …</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أَتَكَلَّمُ …</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speak …</a:t>
            </a:r>
            <a:endParaRPr lang="en-US" sz="1350" dirty="0"/>
          </a:p>
          <a:p>
            <a:pPr indent="0" marL="0">
              <a:buNone/>
            </a:pPr>
            <a:r>
              <a:rPr lang="en-US" sz="1100" i="1" dirty="0">
                <a:solidFill>
                  <a:srgbClr val="5A6472"/>
                </a:solidFill>
                <a:latin typeface="Calibri" pitchFamily="34" charset="0"/>
                <a:cs typeface="Amiri" pitchFamily="2" charset="-78"/>
              </a:rPr>
              <a:t>a-ta-kal-la-mu …</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بِرِيطَانِيٌّ · بِرِيطَانِيَّةٌ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British (m. · f.)</a:t>
            </a:r>
            <a:endParaRPr lang="en-US" sz="1350" dirty="0"/>
          </a:p>
          <a:p>
            <a:pPr indent="0" marL="0">
              <a:buNone/>
            </a:pPr>
            <a:r>
              <a:rPr lang="en-US" sz="1100" i="1" dirty="0">
                <a:solidFill>
                  <a:srgbClr val="5A6472"/>
                </a:solidFill>
                <a:latin typeface="Calibri" pitchFamily="34" charset="0"/>
                <a:cs typeface="Amiri" pitchFamily="2" charset="-78"/>
              </a:rPr>
              <a:t>bi-rī-ṭā-niy-yun · bi-rī-ṭā-niy-ya-tun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 · أَيْضًا · لِأَنَّ</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and · also · because</a:t>
            </a:r>
            <a:endParaRPr lang="en-US" sz="1350" dirty="0"/>
          </a:p>
          <a:p>
            <a:pPr indent="0" marL="0">
              <a:buNone/>
            </a:pPr>
            <a:r>
              <a:rPr lang="en-US" sz="1100" i="1" dirty="0">
                <a:solidFill>
                  <a:srgbClr val="5A6472"/>
                </a:solidFill>
                <a:latin typeface="Calibri" pitchFamily="34" charset="0"/>
                <a:cs typeface="Amiri" pitchFamily="2" charset="-78"/>
              </a:rPr>
              <a:t>wa · ay-ḍan · li-ʾan-na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Meeting someone new — the whole unit</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لِقَاءٌ جَدِيدٌ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Peace be upon you! How are you (to a girl)?</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السَّلَامُ عَلَيْكُمْ! كَيْفَ حَالُكِ؟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upon you be peace! Fine, praise be to God. What is your name?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وَعَلَيْكُمُ السَّلَامُ! بِخَيْرٍ، الحَمْدُ لِلّٰهِ. مَا اسْمُكَ؟</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name is Anas, and I am thirteen. And you?</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اسْمِي أَنَسٌ، وَعُمْرِي ثَلَاثَ عَشْرَةَ سَنَةً. وَأَنْتِ؟</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name is Jana; I am from Jordan, but I live in London.</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اسْمِي جَنَى، وَأَنَا مِنَ الأُرْدُنِّ، لٰكِنِّي أَسْكُنُ فِي لَنْدَنَ.</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my friend; his name is Nuh, and he speaks Arabic too.</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هٰذَا صَدِيقِي، اسْمُهُ نُوحٌ، وَهُوَ يَتَكَلَّمُ العَرَبِيَّةَ أَيْضًا.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Pleased to meet you! Goodbye.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تَشَرَّفْنَا! مَعَ السَّلَامَةِ.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with YOUR facts and a real friend — no slide.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وَأَنْتَ؟ / وَأَنْتِ؟</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بِخَيْرٍ، الحَمْدُ لِلّٰهِ.</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are you? (boy / girl)</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حَالُكَ؟ / كَيْفَ حَالُكِ؟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سَنَةً</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اسْمِي … وَعُمْرِي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age?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اسْمُكَ وَكَمْ عُمْرُكَ؟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لٰكِنِّي أَسْكُنُ فِي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مِنْ … ، وَأَنَا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from? Nationality?</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أَنْتَ؟ وَمَا جِنْسِيَّتُكَ؟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 أَيْضًا</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أَتَكَلَّمُ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languages do you speak?</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لُغَاتٍ تَتَكَلَّمُ؟</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 يَسْكُنُ / تَسْكُنُ … وَيَتَكَلَّمُ / وَتَتَكَلَّمُ …</a:t>
            </a:r>
            <a:endParaRPr lang="ar-SA" sz="13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صَدِيقِي اسْمُهُ … / صَدِيقَتِي اسْمُهَا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Tell me about a friend.</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حَدِّثْنِي عَنْ صَدِيقٍ أَوْ صَدِيقَةٍ.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a welcome evening for new students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حَفْلَةُ التَّرْحِيبِ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أَهْلًا بِكَ! اسْمِي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Greet and give your name.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وَسَهْلًا! مَا اسْمُكَ؟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مِنْ أَيْنَ ← عُمْرِي … وَأَنَا مِنْ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 and country.</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عُمْرُكَ؟ وَمِنْ أَيْنَ أَنْتَ؟</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 أَتَكَلَّمُ … وَ…</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languages.</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لُغَاتٍ تَتَكَلَّمُ؟</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هٰذِهِ … ، اسْمُهَا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Introduce the girl with you.</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هٰذِهِ مَعَكَ؟</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new student · Leader = the head of year.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me and a friend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أَنَا وَصَدِيقِي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greet the room, introduce yourself fully, then introduce one friend in the he / she form.</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Name, age, country, language — then the friend’s name.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أَيْضًا</a:t>
            </a:r>
            <a:pPr algn="l" indent="0" marL="0">
              <a:buNone/>
            </a:pPr>
            <a:r>
              <a:rPr lang="en-US" sz="1150" dirty="0">
                <a:solidFill>
                  <a:srgbClr val="1F2A37"/>
                </a:solidFill>
                <a:latin typeface="Calibri" pitchFamily="34" charset="0"/>
                <a:cs typeface="Amiri" pitchFamily="2" charset="-78"/>
              </a:rPr>
              <a:t>; the friend’s age and city too.</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 (why you learn Arabic) and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(from … but live in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friend (f.) is Algerian and she speaks French.</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صَدِيقَتِي جَزَائِرِيَّةٌ،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صَدِيقِي جَزَائِرِيَّةٌ،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وَتَتَكَلَّمُ</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وَيَتَكَلَّمُ</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الفَرَنْسِيَّةَ.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فَرَنْسَا.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How old are you, Yusuf?</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كَمْ</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عُمْرُكَ</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عُمْرُكِ</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يَا يُوسُفُ؟</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يُوسُفَ.</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am from Iraq, but I live in Wales.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مِنَ العِرَاقِ،</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فِي العِرَاقِ،</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أَسْكُنُ فِي وِيلْزَ.</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يَسْكُنُ فِي وِيلْزَ.</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friend (f.) is Algerian and she speaks French.</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girl → </a:t>
            </a:r>
            <a:pPr algn="l" indent="0" marL="0">
              <a:buNone/>
            </a:pPr>
            <a:r>
              <a:rPr lang="ar-SA" altLang="en-US" sz="1350" dirty="0">
                <a:solidFill>
                  <a:srgbClr val="5A6472"/>
                </a:solidFill>
                <a:latin typeface="Amiri" pitchFamily="2" charset="-78"/>
                <a:ea typeface="Amiri" pitchFamily="2" charset="-78"/>
                <a:cs typeface="Amiri" pitchFamily="2" charset="-78"/>
              </a:rPr>
              <a:t>صَدِيقَتِي … جَزَائِرِيَّةٌ … تَتَكَلَّمُ</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صَدِيقَتِي جَزَائِرِيَّةٌ، وَتَتَكَلَّمُ الفَرَنْسِيَّةَ.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How old are you, Yusuf?</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old = </a:t>
            </a:r>
            <a:pPr algn="l" indent="0" marL="0">
              <a:buNone/>
            </a:pPr>
            <a:r>
              <a:rPr lang="ar-SA" altLang="en-US" sz="1350" dirty="0">
                <a:solidFill>
                  <a:srgbClr val="5A6472"/>
                </a:solidFill>
                <a:latin typeface="Amiri" pitchFamily="2" charset="-78"/>
                <a:ea typeface="Amiri" pitchFamily="2" charset="-78"/>
                <a:cs typeface="Amiri" pitchFamily="2" charset="-78"/>
              </a:rPr>
              <a:t>كَمْ عُمْرُ</a:t>
            </a:r>
            <a:pPr algn="l" indent="0" marL="0">
              <a:buNone/>
            </a:pPr>
            <a:r>
              <a:rPr lang="en-US" sz="1050" i="1" dirty="0">
                <a:solidFill>
                  <a:srgbClr val="5A6472"/>
                </a:solidFill>
                <a:latin typeface="Calibri" pitchFamily="34" charset="0"/>
                <a:cs typeface="Amiri" pitchFamily="2" charset="-78"/>
              </a:rPr>
              <a:t>…; to a boy -ka.</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كَمْ عُمْرُكَ يَا يُوسُفُ؟</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am from Iraq, but I live in Wales.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From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but I = </a:t>
            </a:r>
            <a:pPr algn="l" indent="0" marL="0">
              <a:buNone/>
            </a:pPr>
            <a:r>
              <a:rPr lang="ar-SA" altLang="en-US" sz="1350" dirty="0">
                <a:solidFill>
                  <a:srgbClr val="5A6472"/>
                </a:solidFill>
                <a:latin typeface="Amiri" pitchFamily="2" charset="-78"/>
                <a:ea typeface="Amiri" pitchFamily="2" charset="-78"/>
                <a:cs typeface="Amiri" pitchFamily="2" charset="-78"/>
              </a:rPr>
              <a:t>لٰكِنِّي</a:t>
            </a:r>
            <a:pPr algn="l" indent="0" marL="0">
              <a:buNone/>
            </a:pPr>
            <a:r>
              <a:rPr lang="en-US" sz="1050" i="1" dirty="0">
                <a:solidFill>
                  <a:srgbClr val="5A6472"/>
                </a:solidFill>
                <a:latin typeface="Calibri" pitchFamily="34" charset="0"/>
                <a:cs typeface="Amiri" pitchFamily="2" charset="-78"/>
              </a:rPr>
              <a:t>; I live = </a:t>
            </a:r>
            <a:pPr algn="l" indent="0" marL="0">
              <a:buNone/>
            </a:pPr>
            <a:r>
              <a:rPr lang="ar-SA" altLang="en-US" sz="1350" dirty="0">
                <a:solidFill>
                  <a:srgbClr val="5A6472"/>
                </a:solidFill>
                <a:latin typeface="Amiri" pitchFamily="2" charset="-78"/>
                <a:ea typeface="Amiri" pitchFamily="2" charset="-78"/>
                <a:cs typeface="Amiri" pitchFamily="2" charset="-78"/>
              </a:rPr>
              <a:t>أَسْكُنُ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أَنَا مِنَ العِرَاقِ، لٰكِنِّي أَسْكُنُ فِي وِيلْزَ.</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مَسَاءُ الخَيْرِ! — صَبَاحُ النُّورِ!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Match the time of day.</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عُمْرِي عِشْرُونَ سَنَوَاتٍ.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11–20 +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هٰذِهِ صَدِيقِي، اسْمُهُ زَيْدٌ.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Zaid is a boy.</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مَسَاءُ الخَيْرِ! — صَبَاحُ النُّورِ!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مَسَاءُ الخَيْرِ! — مَسَاءُ النُّورِ!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Evening → evening reply: </a:t>
            </a:r>
            <a:pPr algn="l" indent="0" marL="0">
              <a:buNone/>
            </a:pPr>
            <a:r>
              <a:rPr lang="ar-SA" altLang="en-US" sz="1500" b="1" dirty="0">
                <a:solidFill>
                  <a:srgbClr val="1B3B6F"/>
                </a:solidFill>
                <a:latin typeface="Amiri" pitchFamily="2" charset="-78"/>
                <a:ea typeface="Amiri" pitchFamily="2" charset="-78"/>
                <a:cs typeface="Amiri" pitchFamily="2" charset="-78"/>
              </a:rPr>
              <a:t>مَسَاءُ النُّورِ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عُمْرِي عِشْرُونَ سَنَوَاتٍ.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عُمْرِي عِشْرُونَ سَنَةً.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11 and above → singular </a:t>
            </a:r>
            <a:pPr algn="l" indent="0" marL="0">
              <a:buNone/>
            </a:pPr>
            <a:r>
              <a:rPr lang="ar-SA" altLang="en-US" sz="1500" b="1" dirty="0">
                <a:solidFill>
                  <a:srgbClr val="1B3B6F"/>
                </a:solidFill>
                <a:latin typeface="Amiri" pitchFamily="2" charset="-78"/>
                <a:ea typeface="Amiri" pitchFamily="2" charset="-78"/>
                <a:cs typeface="Amiri" pitchFamily="2" charset="-78"/>
              </a:rPr>
              <a:t>سَنَةً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هٰذِهِ صَدِيقِي، اسْمُهُ زَيْدٌ.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هٰذَا صَدِيقِي، اسْمُهُ زَيْدٌ.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boy → </a:t>
            </a:r>
            <a:pPr algn="l" indent="0" marL="0">
              <a:buNone/>
            </a:pPr>
            <a:r>
              <a:rPr lang="ar-SA" altLang="en-US" sz="1500" b="1" dirty="0">
                <a:solidFill>
                  <a:srgbClr val="1B3B6F"/>
                </a:solidFill>
                <a:latin typeface="Amiri" pitchFamily="2" charset="-78"/>
                <a:ea typeface="Amiri" pitchFamily="2" charset="-78"/>
                <a:cs typeface="Amiri" pitchFamily="2" charset="-78"/>
              </a:rPr>
              <a:t>هٰذَا صَدِيقِي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هُوَ / هِيَ مِنْ ______ ، وَيَتَكَلَّمُ / وَتَتَكَلَّمُ ______ أَيْضًا.</a:t>
            </a:r>
            <a:endParaRPr lang="ar-SA" sz="13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from …, and speaks … too.</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أَتَعَلَّمُ العَرَبِيَّةَ لِأَنِّي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learn Arabic because I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السَّلَامُ عَلَيْكُمْ! اسْمِي ______ ، وَعُمْرِي ______ سَنَةً.</a:t>
            </a:r>
            <a:endParaRPr lang="ar-SA" sz="14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Peace be upon you! My name is …, and I am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 وَأَسْكُنُ فِي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and I live in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أَتَكَلَّمُ ______ وَ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speak … and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lnSpc>
                <a:spcPct val="120000"/>
              </a:lnSpc>
              <a:buNone/>
            </a:pPr>
            <a:r>
              <a:rPr lang="ar-SA" altLang="en-US" sz="1100" b="1" dirty="0">
                <a:solidFill>
                  <a:srgbClr val="1B3B6F"/>
                </a:solidFill>
                <a:latin typeface="Amiri" pitchFamily="2" charset="-78"/>
                <a:ea typeface="Amiri" pitchFamily="2" charset="-78"/>
                <a:cs typeface="Amiri" pitchFamily="2" charset="-78"/>
              </a:rPr>
              <a:t>صَدِيقِي / صَدِيقَتِي اسْمُهُ / اسْمُهَا ______ ، وَعُمْرُهُ / وَعُمْرُهَا ______ .</a:t>
            </a:r>
            <a:endParaRPr lang="ar-SA" sz="11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friend’s name is …, and he / she is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اسْمِي · اسْمُهُ · اسْمُهَا  ·  عُمْرِي · عُمْرُهُ · عُمْرُهَا  ·  أَسْكُنُ · يَسْكُنُ · تَسْكُنُ  ·  أَتَكَلَّمُ · يَتَكَلَّمُ · تَتَكَلَّمُ  ·  مِصْرِيٌّ · مِصْرِيَّةٌ  ·  وَ · أَيْضًا  ·  لِأَنِّي  ·  مَعَ السَّلَامَةِ</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 and my friend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أَنَا وَصَدِيقِي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text (about 45–65 words) for a pen-friend website. Include: • a greeting • your name, age, nationality and city • your languages and why you learn Arabic • a friend: name, age, where he / she is from, languages • a polite closing.</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 ، وَعُمْرِي … سَنَةً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name is …, and I am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 ، وَأَسْكُنُ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 (nationality), and I live in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اسْمُهُ … / صَدِيقَتِي اسْمُهَا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friend’s name is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أَتَعَلَّمُ العَرَبِيَّةَ لِأَنِّي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learn Arabic because I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your own facts AND your friend’s, in full sentences?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endings for I, he and she (</a:t>
            </a:r>
            <a:pPr algn="l" indent="0" marL="0">
              <a:buNone/>
            </a:pPr>
            <a:r>
              <a:rPr lang="ar-SA" altLang="en-US" sz="1450" dirty="0">
                <a:solidFill>
                  <a:srgbClr val="5A6472"/>
                </a:solidFill>
                <a:latin typeface="Amiri" pitchFamily="2" charset="-78"/>
                <a:ea typeface="Amiri" pitchFamily="2" charset="-78"/>
                <a:cs typeface="Amiri" pitchFamily="2" charset="-78"/>
              </a:rPr>
              <a:t>اسْمِي</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اسْمُهُ</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اسْمُهَا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أَهْلًا بِكَ! اسْمِي حَمْزَةُ.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Hello! My name is Hamza.</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وَسَهْلًا! مَا اسْمُكَ؟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عُمْرِي اثْنَتَا عَشْرَةَ سَنَةً، وَأَنَا مِنَ الصُّومَالِ.</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twelve, and I am from Somalia.</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عُمْرُكَ؟ وَمِنْ أَيْنَ أَنْتَ؟</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أَتَكَلَّمُ الصُّومَالِيَّةَ وَالإِنْجِلِيزِيَّةَ، وَالعَرَبِيَّةَ قَلِيلًا.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speak Somali and English, and a little Arabic.</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لُغَاتٍ تَتَكَلَّمُ؟</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هٰذِهِ أُخْتِي، اسْمُهَا سَهْرُ، وَعُمْرُهَا عَشْرُ سَنَوَاتٍ.</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sister; her name is Sahar, and she is ten.</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هٰذِهِ مَعَكَ؟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السَّلَامُ عَلَيْكُمْ! اسْمِي زَيْنَبُ، وَعُمْرِي ثَلَاثَ عَشْرَةَ سَنَةً. أَنَا بِرِيطَانِيَّةٌ، وَأَسْكُنُ فِي لِيدْزَ. أَتَكَلَّمُ الإِنْجِلِيزِيَّةَ وَالأُرْدِيَّةَ، وَأَتَعَلَّمُ العَرَبِيَّةَ لِأَنِّي أُحِبُّ لُغَةَ القُرْآنِ. صَدِيقَتِي اسْمُهَا لَيْنُ، وَعُمْرُهَا أَرْبَعَ عَشْرَةَ سَنَةً. هِيَ مِنْ سُورِيَا، وَتَتَكَلَّمُ العَرَبِيَّةَ وَالإِنْجِلِيزِيَّةَ أَيْضًا. هِيَ لَطِيفَةٌ وَذَكِيَّةٌ جِدًّا. مَعَ السَّلَامَةِ!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My name is Zaynab, and I am thirteen. I am British, and I live in Leeds. I speak English and Urdu, and I learn Arabic because I love the language of the Qur’an. My friend’s name is Leen, and she is fourteen. She is from Syria, and she speaks Arabic and English too. She is very kind and clever. Goodbye!”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أَنَا بِرِيطَانِيَّةٌ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لِأَنِّي أُحِبُّ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صَدِيقَتِي اسْمُهَا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وَتَتَكَلَّمُ العَرَبِيَّةَ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F2 review · Well done — the unit is complete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F2-L12 · Practice Room — Show What You Can Say: F2 Review &amp; Assessment</dc:title>
  <dc:subject>PptxGenJS Presentation</dc:subject>
  <dc:creator>Al Madina Online School · Arabic Department</dc:creator>
  <cp:lastModifiedBy>Al Madina Online School · Arabic Department</cp:lastModifiedBy>
  <cp:revision>1</cp:revision>
  <dcterms:created xsi:type="dcterms:W3CDTF">2026-10-25T17:16:41Z</dcterms:created>
  <dcterms:modified xsi:type="dcterms:W3CDTF">2026-10-25T17:16:41Z</dcterms:modified>
</cp:coreProperties>
</file>