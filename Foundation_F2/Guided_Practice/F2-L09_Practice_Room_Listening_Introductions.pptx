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ROOM AT A GLANCE — one combined lesson (speaking, then writing), 55–60 minutes: about 6 minutes in the main room, about 45 minutes in breakout rooms of two or three, about 6 minutes back together.
0–2 Welcome · 2–5 How the room works · ROOMS, Part A Speaking: Step 1 Word warm-up (5) · Step 2 Say the model dialogue (5) · Step 3 Question cards (7) · Step 4 Role-play card (7) · Step 5 Short talk (4) · Part B Writing: Step 6 Sentence builder (4) · Step 7 Spot and fix (3) · Step 8 Write your text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F2-L09 (Listening to Personal Introductions) — new practice tasks built on the lesson’s own word bank and grammar (listening for facts (name · age · country · city · language · hobby); retelling in the third person (ismuhu · taskunu · yatakallamu)).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F2-L09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This is the core skill of the lesson: hear “I” forms and turn them into “he / she” forms.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starter column is support, not the answer: students finish it with their OWN information. Coach listens for the key structure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4 (7 min). SUPPORTED: the plan column models the thinking (first words), not the full answer. Everyone is Speaker once. To a girl the Leader says: if the member is a boy: اسْمُهُ · عُمْرُهُ · هُوَ · يَسْكُنُ · يُحِبُّ · يَتَكَلَّمُ. This turns the listening skill into a real exchange: ask, listen, note,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writing). Core: frames for every bullet (25–35 words). Develop: 40–60 words, frames only if stuck. Stretch: no frames, add reasons and another time frame. Teacher visits rooms and reads ONE sentence per student.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(37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F2  ·  F2-L09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F2-L09</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Practice Room — Listening to Personal Introductions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أَسْتَمِعُ وَأُعِيدُ</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Students run their own listening-and-speaking practice in pairs: one partner introduces themselves, the other listens for the facts, notes them and retells them in the third person; then they build, fix and write a short report of what they heard.</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F2-L09 · Foundation F2 · Greetings &amp; Introductions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F2 › F2-L09</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F2-L09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F2-L09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F2-L09 · Speaking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F2-L09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word warm-up · say the model 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question cards · role-play card · short talk.</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sentence builder · spot and fix.</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F2-L09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F2-L09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opens the next step, keeps the time and reads the questions.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answers in Arabic, in a full sentence. Think for a few seconds, then speak.</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listens,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their OWN text;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F2-L09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WORD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 then say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اسْمَعْ ثُمَّ قُلْ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F2-L09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Word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word or a fact in ARABIC from the word bank (or a fact about themselves). The Speaker listens WITHOUT looking and says what it means in English, then repeats it in Arabic.</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words or short facts in Arabic.</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eyes off the slide — say the meaning, then repeat the Arabic.</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with the slide.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 new words each time.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Single words: the meaning in English.</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Short facts: </a:t>
            </a:r>
            <a:pPr algn="l" indent="0" marL="0">
              <a:buNone/>
            </a:pPr>
            <a:r>
              <a:rPr lang="ar-SA" altLang="en-US" sz="1500" dirty="0">
                <a:solidFill>
                  <a:srgbClr val="1F2A37"/>
                </a:solidFill>
                <a:latin typeface="Amiri" pitchFamily="2" charset="-78"/>
                <a:ea typeface="Amiri" pitchFamily="2" charset="-78"/>
                <a:cs typeface="Amiri" pitchFamily="2" charset="-78"/>
              </a:rPr>
              <a:t>عُمْرِي</a:t>
            </a:r>
            <a:pPr algn="l" indent="0" marL="0">
              <a:buNone/>
            </a:pPr>
            <a:r>
              <a:rPr lang="en-US" sz="1150" dirty="0">
                <a:solidFill>
                  <a:srgbClr val="1F2A37"/>
                </a:solidFill>
                <a:latin typeface="Calibri" pitchFamily="34" charset="0"/>
                <a:cs typeface="Amiri" pitchFamily="2" charset="-78"/>
              </a:rPr>
              <a:t> … · </a:t>
            </a:r>
            <a:pPr algn="l" indent="0" marL="0">
              <a:buNone/>
            </a:pPr>
            <a:r>
              <a:rPr lang="ar-SA" altLang="en-US" sz="1500" dirty="0">
                <a:solidFill>
                  <a:srgbClr val="1F2A37"/>
                </a:solidFill>
                <a:latin typeface="Amiri" pitchFamily="2" charset="-78"/>
                <a:ea typeface="Amiri" pitchFamily="2" charset="-78"/>
                <a:cs typeface="Amiri" pitchFamily="2" charset="-78"/>
              </a:rPr>
              <a:t>أَسْكُنُ فِي</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Two facts in one sentence — repeat them in the he / she form.</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F2-L09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instructions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F2-L09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1269187"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269187"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to m. · f.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اِسْتَمِعْ</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Listen!</a:t>
            </a:r>
            <a:endParaRPr lang="en-US" sz="1350" dirty="0"/>
          </a:p>
          <a:p>
            <a:pPr indent="0" marL="0">
              <a:buNone/>
            </a:pPr>
            <a:r>
              <a:rPr lang="en-US" sz="1100" i="1" dirty="0">
                <a:solidFill>
                  <a:srgbClr val="5A6472"/>
                </a:solidFill>
                <a:latin typeface="Calibri" pitchFamily="34" charset="0"/>
                <a:cs typeface="Amiri" pitchFamily="2" charset="-78"/>
              </a:rPr>
              <a:t>is-ta-miʿ · -ī · -ū</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to m.</a:t>
            </a:r>
            <a:endParaRPr lang="en-US" sz="700" dirty="0"/>
          </a:p>
        </p:txBody>
      </p:sp>
      <p:sp>
        <p:nvSpPr>
          <p:cNvPr id="26" name="Text 23"/>
          <p:cNvSpPr txBox="1"/>
          <p:nvPr/>
        </p:nvSpPr>
        <p:spPr>
          <a:xfrm>
            <a:off x="10588752"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اِسْتَمِعْ</a:t>
            </a:r>
            <a:endParaRPr lang="ar-SA" sz="135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to f.</a:t>
            </a:r>
            <a:endParaRPr lang="en-US" sz="700" dirty="0"/>
          </a:p>
        </p:txBody>
      </p:sp>
      <p:sp>
        <p:nvSpPr>
          <p:cNvPr id="29" name="Text 26"/>
          <p:cNvSpPr txBox="1"/>
          <p:nvPr/>
        </p:nvSpPr>
        <p:spPr>
          <a:xfrm>
            <a:off x="9436608"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اِسْتَمِعِي</a:t>
            </a:r>
            <a:endParaRPr lang="ar-SA" sz="135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to pl.</a:t>
            </a:r>
            <a:endParaRPr lang="en-US" sz="700" dirty="0"/>
          </a:p>
        </p:txBody>
      </p:sp>
      <p:sp>
        <p:nvSpPr>
          <p:cNvPr id="32" name="Text 29"/>
          <p:cNvSpPr txBox="1"/>
          <p:nvPr/>
        </p:nvSpPr>
        <p:spPr>
          <a:xfrm>
            <a:off x="8284464"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اِسْتَمِعُوا</a:t>
            </a:r>
            <a:endParaRPr lang="ar-SA" sz="135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6" name="Shape 33"/>
          <p:cNvSpPr/>
          <p:nvPr/>
        </p:nvSpPr>
        <p:spPr>
          <a:xfrm>
            <a:off x="4782312" y="1938528"/>
            <a:ext cx="1269187"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1269187"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to m. · f. · pl.</a:t>
            </a:r>
            <a:endParaRPr lang="en-US" sz="800" dirty="0"/>
          </a:p>
        </p:txBody>
      </p:sp>
      <p:sp>
        <p:nvSpPr>
          <p:cNvPr id="38" name="Shape 3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اِخْتَرْ</a:t>
            </a:r>
            <a:endParaRPr lang="ar-SA" sz="3000" dirty="0"/>
          </a:p>
        </p:txBody>
      </p:sp>
      <p:sp>
        <p:nvSpPr>
          <p:cNvPr id="41" name="Text 38"/>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Choose!</a:t>
            </a:r>
            <a:endParaRPr lang="en-US" sz="1350" dirty="0"/>
          </a:p>
          <a:p>
            <a:pPr indent="0" marL="0">
              <a:buNone/>
            </a:pPr>
            <a:r>
              <a:rPr lang="en-US" sz="1100" i="1" dirty="0">
                <a:solidFill>
                  <a:srgbClr val="5A6472"/>
                </a:solidFill>
                <a:latin typeface="Calibri" pitchFamily="34" charset="0"/>
                <a:cs typeface="Amiri" pitchFamily="2" charset="-78"/>
              </a:rPr>
              <a:t>ikh-tar · ikh-tā-rī · ikh-tā-rū</a:t>
            </a:r>
            <a:endParaRPr lang="en-US" sz="1350" dirty="0"/>
          </a:p>
        </p:txBody>
      </p:sp>
      <p:sp>
        <p:nvSpPr>
          <p:cNvPr id="42" name="Shape 39"/>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to m.</a:t>
            </a:r>
            <a:endParaRPr lang="en-US" sz="700" dirty="0"/>
          </a:p>
        </p:txBody>
      </p:sp>
      <p:sp>
        <p:nvSpPr>
          <p:cNvPr id="44" name="Text 41"/>
          <p:cNvSpPr txBox="1"/>
          <p:nvPr/>
        </p:nvSpPr>
        <p:spPr>
          <a:xfrm>
            <a:off x="6766560"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اِخْتَرْ</a:t>
            </a:r>
            <a:endParaRPr lang="ar-SA" sz="1350" dirty="0"/>
          </a:p>
        </p:txBody>
      </p:sp>
      <p:sp>
        <p:nvSpPr>
          <p:cNvPr id="45" name="Shape 42"/>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to f.</a:t>
            </a:r>
            <a:endParaRPr lang="en-US" sz="700" dirty="0"/>
          </a:p>
        </p:txBody>
      </p:sp>
      <p:sp>
        <p:nvSpPr>
          <p:cNvPr id="47" name="Text 44"/>
          <p:cNvSpPr txBox="1"/>
          <p:nvPr/>
        </p:nvSpPr>
        <p:spPr>
          <a:xfrm>
            <a:off x="5614416"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اِخْتَارِي</a:t>
            </a:r>
            <a:endParaRPr lang="ar-SA" sz="1350" dirty="0"/>
          </a:p>
        </p:txBody>
      </p:sp>
      <p:sp>
        <p:nvSpPr>
          <p:cNvPr id="48" name="Shape 45"/>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to pl.</a:t>
            </a:r>
            <a:endParaRPr lang="en-US" sz="700" dirty="0"/>
          </a:p>
        </p:txBody>
      </p:sp>
      <p:sp>
        <p:nvSpPr>
          <p:cNvPr id="50" name="Text 47"/>
          <p:cNvSpPr txBox="1"/>
          <p:nvPr/>
        </p:nvSpPr>
        <p:spPr>
          <a:xfrm>
            <a:off x="4462272"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اِخْتَارُوا</a:t>
            </a:r>
            <a:endParaRPr lang="ar-SA" sz="1350" dirty="0"/>
          </a:p>
        </p:txBody>
      </p:sp>
      <p:sp>
        <p:nvSpPr>
          <p:cNvPr id="51" name="Shape 4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566928" y="1920240"/>
            <a:ext cx="310896" cy="310896"/>
          </a:xfrm>
          <a:prstGeom prst="ellipse">
            <a:avLst/>
          </a:prstGeom>
          <a:solidFill>
            <a:srgbClr val="F4F1EA"/>
          </a:solidFill>
          <a:ln w="12700">
            <a:solidFill>
              <a:srgbClr val="F4F1EA"/>
            </a:solidFill>
            <a:prstDash val="solid"/>
          </a:ln>
        </p:spPr>
      </p:sp>
      <p:sp>
        <p:nvSpPr>
          <p:cNvPr id="53" name="Text 5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54" name="Shape 51"/>
          <p:cNvSpPr/>
          <p:nvPr/>
        </p:nvSpPr>
        <p:spPr>
          <a:xfrm>
            <a:off x="960120" y="1938528"/>
            <a:ext cx="958291"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960120" y="1938528"/>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instruction</a:t>
            </a:r>
            <a:endParaRPr lang="en-US" sz="800" dirty="0"/>
          </a:p>
        </p:txBody>
      </p:sp>
      <p:sp>
        <p:nvSpPr>
          <p:cNvPr id="56" name="Shape 53"/>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7" name="Text 54"/>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8" name="Text 55"/>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اِمْلَأِ الفَرَاغَ</a:t>
            </a:r>
            <a:endParaRPr lang="ar-SA" sz="3000" dirty="0"/>
          </a:p>
        </p:txBody>
      </p:sp>
      <p:sp>
        <p:nvSpPr>
          <p:cNvPr id="59" name="Text 56"/>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Fill the gap!</a:t>
            </a:r>
            <a:endParaRPr lang="en-US" sz="1350" dirty="0"/>
          </a:p>
          <a:p>
            <a:pPr indent="0" marL="0">
              <a:buNone/>
            </a:pPr>
            <a:r>
              <a:rPr lang="en-US" sz="1100" i="1" dirty="0">
                <a:solidFill>
                  <a:srgbClr val="5A6472"/>
                </a:solidFill>
                <a:latin typeface="Calibri" pitchFamily="34" charset="0"/>
                <a:cs typeface="Amiri" pitchFamily="2" charset="-78"/>
              </a:rPr>
              <a:t>im-la-ʾi l-fa-rāgh</a:t>
            </a:r>
            <a:endParaRPr lang="en-US" sz="1350" dirty="0"/>
          </a:p>
        </p:txBody>
      </p:sp>
      <p:sp>
        <p:nvSpPr>
          <p:cNvPr id="60" name="Text 57"/>
          <p:cNvSpPr txBox="1"/>
          <p:nvPr/>
        </p:nvSpPr>
        <p:spPr>
          <a:xfrm>
            <a:off x="594360"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Write the missing word.</a:t>
            </a:r>
            <a:endParaRPr lang="en-US" sz="1000" dirty="0"/>
          </a:p>
        </p:txBody>
      </p:sp>
      <p:sp>
        <p:nvSpPr>
          <p:cNvPr id="61" name="Shape 58"/>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8211312" y="4261104"/>
            <a:ext cx="310896" cy="310896"/>
          </a:xfrm>
          <a:prstGeom prst="ellipse">
            <a:avLst/>
          </a:prstGeom>
          <a:solidFill>
            <a:srgbClr val="F4F1EA"/>
          </a:solidFill>
          <a:ln w="12700">
            <a:solidFill>
              <a:srgbClr val="F4F1EA"/>
            </a:solidFill>
            <a:prstDash val="solid"/>
          </a:ln>
        </p:spPr>
      </p:sp>
      <p:sp>
        <p:nvSpPr>
          <p:cNvPr id="63" name="Text 60"/>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64" name="Shape 61"/>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65" name="Text 62"/>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label</a:t>
            </a:r>
            <a:endParaRPr lang="en-US" sz="800" dirty="0"/>
          </a:p>
        </p:txBody>
      </p:sp>
      <p:sp>
        <p:nvSpPr>
          <p:cNvPr id="66" name="Shape 63"/>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7" name="Text 64"/>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8" name="Text 65"/>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صَحِيحٌ · خَطَأٌ</a:t>
            </a:r>
            <a:endParaRPr lang="ar-SA" sz="3000" dirty="0"/>
          </a:p>
        </p:txBody>
      </p:sp>
      <p:sp>
        <p:nvSpPr>
          <p:cNvPr id="69" name="Text 66"/>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true · false</a:t>
            </a:r>
            <a:endParaRPr lang="en-US" sz="1350" dirty="0"/>
          </a:p>
          <a:p>
            <a:pPr indent="0" marL="0">
              <a:buNone/>
            </a:pPr>
            <a:r>
              <a:rPr lang="en-US" sz="1100" i="1" dirty="0">
                <a:solidFill>
                  <a:srgbClr val="5A6472"/>
                </a:solidFill>
                <a:latin typeface="Calibri" pitchFamily="34" charset="0"/>
                <a:cs typeface="Amiri" pitchFamily="2" charset="-78"/>
              </a:rPr>
              <a:t>ṣa-ḥīḥ · kha-ṭaʾ</a:t>
            </a:r>
            <a:endParaRPr lang="en-US" sz="1350" dirty="0"/>
          </a:p>
        </p:txBody>
      </p:sp>
      <p:sp>
        <p:nvSpPr>
          <p:cNvPr id="70" name="Text 67"/>
          <p:cNvSpPr txBox="1"/>
          <p:nvPr/>
        </p:nvSpPr>
        <p:spPr>
          <a:xfrm>
            <a:off x="8238744"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Urdu: sahīh · khatā</a:t>
            </a:r>
            <a:endParaRPr lang="en-US" sz="1000" dirty="0"/>
          </a:p>
        </p:txBody>
      </p:sp>
      <p:sp>
        <p:nvSpPr>
          <p:cNvPr id="71" name="Shape 6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2" name="Shape 69"/>
          <p:cNvSpPr/>
          <p:nvPr/>
        </p:nvSpPr>
        <p:spPr>
          <a:xfrm>
            <a:off x="4389120" y="4261104"/>
            <a:ext cx="310896" cy="310896"/>
          </a:xfrm>
          <a:prstGeom prst="ellipse">
            <a:avLst/>
          </a:prstGeom>
          <a:solidFill>
            <a:srgbClr val="F4F1EA"/>
          </a:solidFill>
          <a:ln w="12700">
            <a:solidFill>
              <a:srgbClr val="F4F1EA"/>
            </a:solidFill>
            <a:prstDash val="solid"/>
          </a:ln>
        </p:spPr>
      </p:sp>
      <p:sp>
        <p:nvSpPr>
          <p:cNvPr id="73" name="Text 7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74" name="Shape 71"/>
          <p:cNvSpPr/>
          <p:nvPr/>
        </p:nvSpPr>
        <p:spPr>
          <a:xfrm>
            <a:off x="4782312" y="4279392"/>
            <a:ext cx="958291" cy="256032"/>
          </a:xfrm>
          <a:prstGeom prst="roundRect">
            <a:avLst>
              <a:gd name="adj" fmla="val 50000"/>
            </a:avLst>
          </a:prstGeom>
          <a:solidFill>
            <a:srgbClr val="EFE7D2"/>
          </a:solidFill>
          <a:ln w="12700">
            <a:solidFill>
              <a:srgbClr val="EFE7D2"/>
            </a:solidFill>
            <a:prstDash val="solid"/>
          </a:ln>
        </p:spPr>
      </p:sp>
      <p:sp>
        <p:nvSpPr>
          <p:cNvPr id="75" name="Text 72"/>
          <p:cNvSpPr txBox="1"/>
          <p:nvPr/>
        </p:nvSpPr>
        <p:spPr>
          <a:xfrm>
            <a:off x="4782312" y="4279392"/>
            <a:ext cx="958291"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instruction</a:t>
            </a:r>
            <a:endParaRPr lang="en-US" sz="800" dirty="0"/>
          </a:p>
        </p:txBody>
      </p:sp>
      <p:sp>
        <p:nvSpPr>
          <p:cNvPr id="76" name="Text 73"/>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مَرَّةً أُخْرَى</a:t>
            </a:r>
            <a:endParaRPr lang="ar-SA" sz="3000" dirty="0"/>
          </a:p>
        </p:txBody>
      </p:sp>
      <p:sp>
        <p:nvSpPr>
          <p:cNvPr id="77" name="Text 74"/>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once more, again</a:t>
            </a:r>
            <a:endParaRPr lang="en-US" sz="1350" dirty="0"/>
          </a:p>
          <a:p>
            <a:pPr indent="0" marL="0">
              <a:buNone/>
            </a:pPr>
            <a:r>
              <a:rPr lang="en-US" sz="1100" i="1" dirty="0">
                <a:solidFill>
                  <a:srgbClr val="5A6472"/>
                </a:solidFill>
                <a:latin typeface="Calibri" pitchFamily="34" charset="0"/>
                <a:cs typeface="Amiri" pitchFamily="2" charset="-78"/>
              </a:rPr>
              <a:t>mar-ra-tan ukh-rā</a:t>
            </a:r>
            <a:endParaRPr lang="en-US" sz="1350" dirty="0"/>
          </a:p>
        </p:txBody>
      </p:sp>
      <p:sp>
        <p:nvSpPr>
          <p:cNvPr id="78" name="Text 75"/>
          <p:cNvSpPr txBox="1"/>
          <p:nvPr/>
        </p:nvSpPr>
        <p:spPr>
          <a:xfrm>
            <a:off x="4416552"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The teacher reads it a second time.</a:t>
            </a:r>
            <a:endParaRPr lang="en-US" sz="1000" dirty="0"/>
          </a:p>
        </p:txBody>
      </p:sp>
      <p:sp>
        <p:nvSpPr>
          <p:cNvPr id="79" name="Shape 76"/>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0" name="Shape 77"/>
          <p:cNvSpPr/>
          <p:nvPr/>
        </p:nvSpPr>
        <p:spPr>
          <a:xfrm>
            <a:off x="566928" y="4261104"/>
            <a:ext cx="310896" cy="310896"/>
          </a:xfrm>
          <a:prstGeom prst="ellipse">
            <a:avLst/>
          </a:prstGeom>
          <a:solidFill>
            <a:srgbClr val="F4F1EA"/>
          </a:solidFill>
          <a:ln w="12700">
            <a:solidFill>
              <a:srgbClr val="F4F1EA"/>
            </a:solidFill>
            <a:prstDash val="solid"/>
          </a:ln>
        </p:spPr>
      </p:sp>
      <p:sp>
        <p:nvSpPr>
          <p:cNvPr id="81" name="Text 78"/>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82" name="Shape 79"/>
          <p:cNvSpPr/>
          <p:nvPr/>
        </p:nvSpPr>
        <p:spPr>
          <a:xfrm>
            <a:off x="960120" y="4279392"/>
            <a:ext cx="771754" cy="256032"/>
          </a:xfrm>
          <a:prstGeom prst="roundRect">
            <a:avLst>
              <a:gd name="adj" fmla="val 50000"/>
            </a:avLst>
          </a:prstGeom>
          <a:solidFill>
            <a:srgbClr val="EFE7D2"/>
          </a:solidFill>
          <a:ln w="12700">
            <a:solidFill>
              <a:srgbClr val="EFE7D2"/>
            </a:solidFill>
            <a:prstDash val="solid"/>
          </a:ln>
        </p:spPr>
      </p:sp>
      <p:sp>
        <p:nvSpPr>
          <p:cNvPr id="83" name="Text 80"/>
          <p:cNvSpPr txBox="1"/>
          <p:nvPr/>
        </p:nvSpPr>
        <p:spPr>
          <a:xfrm>
            <a:off x="960120" y="4279392"/>
            <a:ext cx="77175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strategy</a:t>
            </a:r>
            <a:endParaRPr lang="en-US" sz="800" dirty="0"/>
          </a:p>
        </p:txBody>
      </p:sp>
      <p:sp>
        <p:nvSpPr>
          <p:cNvPr id="84" name="Text 81"/>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2550" b="1" dirty="0">
                <a:solidFill>
                  <a:srgbClr val="1B3B6F"/>
                </a:solidFill>
                <a:latin typeface="Amiri" pitchFamily="2" charset="-78"/>
                <a:ea typeface="Amiri" pitchFamily="2" charset="-78"/>
                <a:cs typeface="Amiri" pitchFamily="2" charset="-78"/>
              </a:rPr>
              <a:t>الفِكْرَةُ الرَّئِيسِيَّةُ · التَّفَاصِيلُ</a:t>
            </a:r>
            <a:endParaRPr lang="ar-SA" sz="2550" dirty="0"/>
          </a:p>
        </p:txBody>
      </p:sp>
      <p:sp>
        <p:nvSpPr>
          <p:cNvPr id="85" name="Text 82"/>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main idea · the details</a:t>
            </a:r>
            <a:endParaRPr lang="en-US" sz="1350" dirty="0"/>
          </a:p>
          <a:p>
            <a:pPr indent="0" marL="0">
              <a:buNone/>
            </a:pPr>
            <a:r>
              <a:rPr lang="en-US" sz="1100" i="1" dirty="0">
                <a:solidFill>
                  <a:srgbClr val="5A6472"/>
                </a:solidFill>
                <a:latin typeface="Calibri" pitchFamily="34" charset="0"/>
                <a:cs typeface="Amiri" pitchFamily="2" charset="-78"/>
              </a:rPr>
              <a:t>al-fik-ra r-ra-ʾī-siy-ya · at-ta-fā-ṣīl</a:t>
            </a:r>
            <a:endParaRPr lang="en-US" sz="1350" dirty="0"/>
          </a:p>
        </p:txBody>
      </p:sp>
      <p:sp>
        <p:nvSpPr>
          <p:cNvPr id="86" name="Text 83"/>
          <p:cNvSpPr txBox="1"/>
          <p:nvPr/>
        </p:nvSpPr>
        <p:spPr>
          <a:xfrm>
            <a:off x="594360"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Listen 1 = main idea · Listen 2 = details</a:t>
            </a:r>
            <a:endParaRPr lang="en-US" sz="1000" dirty="0"/>
          </a:p>
        </p:txBody>
      </p:sp>
      <p:sp>
        <p:nvSpPr>
          <p:cNvPr id="87" name="Text 8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F2-L09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facts you listen for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F2-L09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الاسْمُ</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name</a:t>
            </a:r>
            <a:endParaRPr lang="en-US" sz="1350" dirty="0"/>
          </a:p>
          <a:p>
            <a:pPr indent="0" marL="0">
              <a:buNone/>
            </a:pPr>
            <a:r>
              <a:rPr lang="en-US" sz="1100" i="1" dirty="0">
                <a:solidFill>
                  <a:srgbClr val="5A6472"/>
                </a:solidFill>
                <a:latin typeface="Calibri" pitchFamily="34" charset="0"/>
                <a:cs typeface="Amiri" pitchFamily="2" charset="-78"/>
              </a:rPr>
              <a:t>als-mu</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العُمْرُ</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age</a:t>
            </a:r>
            <a:endParaRPr lang="en-US" sz="1350" dirty="0"/>
          </a:p>
          <a:p>
            <a:pPr indent="0" marL="0">
              <a:buNone/>
            </a:pPr>
            <a:r>
              <a:rPr lang="en-US" sz="1100" i="1" dirty="0">
                <a:solidFill>
                  <a:srgbClr val="5A6472"/>
                </a:solidFill>
                <a:latin typeface="Calibri" pitchFamily="34" charset="0"/>
                <a:cs typeface="Amiri" pitchFamily="2" charset="-78"/>
              </a:rPr>
              <a:t>al-ʿum-ru</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البَلَدُ</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country</a:t>
            </a:r>
            <a:endParaRPr lang="en-US" sz="1350" dirty="0"/>
          </a:p>
          <a:p>
            <a:pPr indent="0" marL="0">
              <a:buNone/>
            </a:pPr>
            <a:r>
              <a:rPr lang="en-US" sz="1100" i="1" dirty="0">
                <a:solidFill>
                  <a:srgbClr val="5A6472"/>
                </a:solidFill>
                <a:latin typeface="Calibri" pitchFamily="34" charset="0"/>
                <a:cs typeface="Amiri" pitchFamily="2" charset="-78"/>
              </a:rPr>
              <a:t>al-ba-la-du</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المَدِينَةُ</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city</a:t>
            </a:r>
            <a:endParaRPr lang="en-US" sz="1350" dirty="0"/>
          </a:p>
          <a:p>
            <a:pPr indent="0" marL="0">
              <a:buNone/>
            </a:pPr>
            <a:r>
              <a:rPr lang="en-US" sz="1100" i="1" dirty="0">
                <a:solidFill>
                  <a:srgbClr val="5A6472"/>
                </a:solidFill>
                <a:latin typeface="Calibri" pitchFamily="34" charset="0"/>
                <a:cs typeface="Amiri" pitchFamily="2" charset="-78"/>
              </a:rPr>
              <a:t>al-ma-dī-na-tu</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46" name="Shape 4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اللُّغَةُ</a:t>
            </a:r>
            <a:endParaRPr lang="ar-SA" sz="3000" dirty="0"/>
          </a:p>
        </p:txBody>
      </p:sp>
      <p:sp>
        <p:nvSpPr>
          <p:cNvPr id="49" name="Text 4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language</a:t>
            </a:r>
            <a:endParaRPr lang="en-US" sz="1350" dirty="0"/>
          </a:p>
          <a:p>
            <a:pPr indent="0" marL="0">
              <a:buNone/>
            </a:pPr>
            <a:r>
              <a:rPr lang="en-US" sz="1100" i="1" dirty="0">
                <a:solidFill>
                  <a:srgbClr val="5A6472"/>
                </a:solidFill>
                <a:latin typeface="Calibri" pitchFamily="34" charset="0"/>
                <a:cs typeface="Amiri" pitchFamily="2" charset="-78"/>
              </a:rPr>
              <a:t>all-lu-gha-tu</a:t>
            </a:r>
            <a:endParaRPr lang="en-US" sz="1350" dirty="0"/>
          </a:p>
        </p:txBody>
      </p:sp>
      <p:sp>
        <p:nvSpPr>
          <p:cNvPr id="50" name="Shape 4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566928"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53" name="Shape 50"/>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الهِوَايَةُ</a:t>
            </a:r>
            <a:endParaRPr lang="ar-SA" sz="3000" dirty="0"/>
          </a:p>
        </p:txBody>
      </p:sp>
      <p:sp>
        <p:nvSpPr>
          <p:cNvPr id="56" name="Text 5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hobby</a:t>
            </a:r>
            <a:endParaRPr lang="en-US" sz="1350" dirty="0"/>
          </a:p>
          <a:p>
            <a:pPr indent="0" marL="0">
              <a:buNone/>
            </a:pPr>
            <a:r>
              <a:rPr lang="en-US" sz="1100" i="1" dirty="0">
                <a:solidFill>
                  <a:srgbClr val="5A6472"/>
                </a:solidFill>
                <a:latin typeface="Calibri" pitchFamily="34" charset="0"/>
                <a:cs typeface="Amiri" pitchFamily="2" charset="-78"/>
              </a:rPr>
              <a:t>al-hi-wā-ya-tu</a:t>
            </a:r>
            <a:endParaRPr lang="en-US" sz="13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F2-L09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MODEL 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 and retell</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اسْتَمِعْ وَأَعِدْ</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F2-L09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7790688" y="2267712"/>
            <a:ext cx="3867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name is Tariq, and I am fifteen. I am from Libya.</a:t>
            </a:r>
            <a:endParaRPr lang="en-US" sz="1100" dirty="0"/>
          </a:p>
        </p:txBody>
      </p:sp>
      <p:sp>
        <p:nvSpPr>
          <p:cNvPr id="21" name="Text 18"/>
          <p:cNvSpPr txBox="1"/>
          <p:nvPr/>
        </p:nvSpPr>
        <p:spPr>
          <a:xfrm>
            <a:off x="1463040" y="2267712"/>
            <a:ext cx="612648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اسْمِي طَارِقٌ، وَعُمْرِي خَمْسَ عَشْرَةَ سَنَةً. أَنَا مِنْ لِيبْيَا.</a:t>
            </a:r>
            <a:endParaRPr lang="ar-SA" sz="2000" dirty="0"/>
          </a:p>
        </p:txBody>
      </p:sp>
      <p:sp>
        <p:nvSpPr>
          <p:cNvPr id="22" name="Text 19"/>
          <p:cNvSpPr txBox="1"/>
          <p:nvPr/>
        </p:nvSpPr>
        <p:spPr>
          <a:xfrm>
            <a:off x="566928" y="2267712"/>
            <a:ext cx="7315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4" name="Text 21"/>
          <p:cNvSpPr txBox="1"/>
          <p:nvPr/>
        </p:nvSpPr>
        <p:spPr>
          <a:xfrm>
            <a:off x="7790688" y="3004718"/>
            <a:ext cx="3867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live in Cardiff, and I speak Arabic and English. My hobby is swimming.</a:t>
            </a:r>
            <a:endParaRPr lang="en-US" sz="1100" dirty="0"/>
          </a:p>
        </p:txBody>
      </p:sp>
      <p:sp>
        <p:nvSpPr>
          <p:cNvPr id="25" name="Text 22"/>
          <p:cNvSpPr txBox="1"/>
          <p:nvPr/>
        </p:nvSpPr>
        <p:spPr>
          <a:xfrm>
            <a:off x="1463040" y="3004718"/>
            <a:ext cx="612648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أَسْكُنُ فِي كَارْدِيفَ، وَأَتَكَلَّمُ العَرَبِيَّةَ وَالإِنْجِلِيزِيَّةَ. هِوَايَتِي السِّبَاحَةُ.</a:t>
            </a:r>
            <a:endParaRPr lang="ar-SA" sz="2000" dirty="0"/>
          </a:p>
        </p:txBody>
      </p:sp>
      <p:sp>
        <p:nvSpPr>
          <p:cNvPr id="26" name="Text 23"/>
          <p:cNvSpPr txBox="1"/>
          <p:nvPr/>
        </p:nvSpPr>
        <p:spPr>
          <a:xfrm>
            <a:off x="566928" y="3004718"/>
            <a:ext cx="7315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7" name="Shape 2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28" name="Text 25"/>
          <p:cNvSpPr txBox="1"/>
          <p:nvPr/>
        </p:nvSpPr>
        <p:spPr>
          <a:xfrm>
            <a:off x="7790688" y="3741725"/>
            <a:ext cx="3867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His name is Tariq, and he is fifteen.</a:t>
            </a:r>
            <a:endParaRPr lang="en-US" sz="1100" dirty="0"/>
          </a:p>
        </p:txBody>
      </p:sp>
      <p:sp>
        <p:nvSpPr>
          <p:cNvPr id="29" name="Text 26"/>
          <p:cNvSpPr txBox="1"/>
          <p:nvPr/>
        </p:nvSpPr>
        <p:spPr>
          <a:xfrm>
            <a:off x="1463040" y="3741725"/>
            <a:ext cx="612648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اسْمُهُ طَارِقٌ، وَعُمْرُهُ خَمْسَ عَشْرَةَ سَنَةً.</a:t>
            </a:r>
            <a:endParaRPr lang="ar-SA" sz="2000" dirty="0"/>
          </a:p>
        </p:txBody>
      </p:sp>
      <p:sp>
        <p:nvSpPr>
          <p:cNvPr id="30" name="Text 27"/>
          <p:cNvSpPr txBox="1"/>
          <p:nvPr/>
        </p:nvSpPr>
        <p:spPr>
          <a:xfrm>
            <a:off x="566928" y="3741725"/>
            <a:ext cx="7315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1" name="Shape 2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2" name="Text 29"/>
          <p:cNvSpPr txBox="1"/>
          <p:nvPr/>
        </p:nvSpPr>
        <p:spPr>
          <a:xfrm>
            <a:off x="7790688" y="4478731"/>
            <a:ext cx="3867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 is from Libya, and he lives in Cardiff.</a:t>
            </a:r>
            <a:endParaRPr lang="en-US" sz="1100" dirty="0"/>
          </a:p>
        </p:txBody>
      </p:sp>
      <p:sp>
        <p:nvSpPr>
          <p:cNvPr id="33" name="Text 30"/>
          <p:cNvSpPr txBox="1"/>
          <p:nvPr/>
        </p:nvSpPr>
        <p:spPr>
          <a:xfrm>
            <a:off x="1463040" y="4478731"/>
            <a:ext cx="612648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هُوَ مِنْ لِيبْيَا، وَيَسْكُنُ فِي كَارْدِيفَ.</a:t>
            </a:r>
            <a:endParaRPr lang="ar-SA" sz="2000" dirty="0"/>
          </a:p>
        </p:txBody>
      </p:sp>
      <p:sp>
        <p:nvSpPr>
          <p:cNvPr id="34" name="Text 31"/>
          <p:cNvSpPr txBox="1"/>
          <p:nvPr/>
        </p:nvSpPr>
        <p:spPr>
          <a:xfrm>
            <a:off x="566928" y="4478731"/>
            <a:ext cx="7315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36" name="Text 33"/>
          <p:cNvSpPr txBox="1"/>
          <p:nvPr/>
        </p:nvSpPr>
        <p:spPr>
          <a:xfrm>
            <a:off x="7790688" y="5215738"/>
            <a:ext cx="3867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 speaks Arabic and English, and his hobby is swimming.</a:t>
            </a:r>
            <a:endParaRPr lang="en-US" sz="1100" dirty="0"/>
          </a:p>
        </p:txBody>
      </p:sp>
      <p:sp>
        <p:nvSpPr>
          <p:cNvPr id="37" name="Text 34"/>
          <p:cNvSpPr txBox="1"/>
          <p:nvPr/>
        </p:nvSpPr>
        <p:spPr>
          <a:xfrm>
            <a:off x="1463040" y="5215738"/>
            <a:ext cx="6126480" cy="682142"/>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يَتَكَلَّمُ العَرَبِيَّةَ وَالإِنْجِلِيزِيَّةَ، وَهِوَايَتُهُ السِّبَاحَةُ.</a:t>
            </a:r>
            <a:endParaRPr lang="ar-SA" sz="2000" dirty="0"/>
          </a:p>
        </p:txBody>
      </p:sp>
      <p:sp>
        <p:nvSpPr>
          <p:cNvPr id="38" name="Text 35"/>
          <p:cNvSpPr txBox="1"/>
          <p:nvPr/>
        </p:nvSpPr>
        <p:spPr>
          <a:xfrm>
            <a:off x="566928" y="5215738"/>
            <a:ext cx="7315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speaks (I); B listens and RETELLS (he / she). Round 2: swap. Round 3: A changes three facts; B listens with the slide hidden and retells.</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F2-L09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QUESTION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Introduce yourself — your partner answers about YOU</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F2-L09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38360" y="2267712"/>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سَنَةً</a:t>
            </a:r>
            <a:endParaRPr lang="ar-SA" sz="15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اسْمُهُ / اسْمُهَا … وَعُمْرُهُ / عُمْرُهَا …</a:t>
            </a:r>
            <a:endParaRPr lang="ar-SA" sz="1600" dirty="0"/>
          </a:p>
        </p:txBody>
      </p:sp>
      <p:sp>
        <p:nvSpPr>
          <p:cNvPr id="24" name="Text 21"/>
          <p:cNvSpPr txBox="1"/>
          <p:nvPr/>
        </p:nvSpPr>
        <p:spPr>
          <a:xfrm>
            <a:off x="463600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Listen to your partner: what is his / her name? age?</a:t>
            </a:r>
            <a:endParaRPr lang="en-US" sz="1100" dirty="0"/>
          </a:p>
        </p:txBody>
      </p:sp>
      <p:sp>
        <p:nvSpPr>
          <p:cNvPr id="25" name="Text 22"/>
          <p:cNvSpPr txBox="1"/>
          <p:nvPr/>
        </p:nvSpPr>
        <p:spPr>
          <a:xfrm>
            <a:off x="1051560" y="2267712"/>
            <a:ext cx="3383280" cy="682142"/>
          </a:xfrm>
          <a:prstGeom prst="rect">
            <a:avLst/>
          </a:prstGeom>
          <a:noFill/>
          <a:ln/>
        </p:spPr>
        <p:txBody>
          <a:bodyPr wrap="square" lIns="0" tIns="0" rIns="0" bIns="0" rtlCol="0" anchor="ctr"/>
          <a:lstStyle/>
          <a:p>
            <a:pPr rtl="1" algn="ctr" indent="0" marL="0">
              <a:buNone/>
            </a:pPr>
            <a:r>
              <a:rPr lang="ar-SA" altLang="en-US" sz="1550" b="1" dirty="0">
                <a:solidFill>
                  <a:srgbClr val="1B3B6F"/>
                </a:solidFill>
                <a:latin typeface="Amiri" pitchFamily="2" charset="-78"/>
                <a:ea typeface="Amiri" pitchFamily="2" charset="-78"/>
                <a:cs typeface="Amiri" pitchFamily="2" charset="-78"/>
              </a:rPr>
              <a:t>اسْمَعْ: «اسْمِي … وَعُمْرِي …» — مَا اسْمُهُ؟ كَمْ عُمْرُهُ؟</a:t>
            </a:r>
            <a:endParaRPr lang="ar-SA" sz="155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38360" y="300471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وَيَسْكُنُ / وَتَسْكُنُ فِي …</a:t>
            </a:r>
            <a:endParaRPr lang="ar-SA" sz="15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هُوَ / هِيَ مِنْ …</a:t>
            </a:r>
            <a:endParaRPr lang="ar-SA" sz="1600" dirty="0"/>
          </a:p>
        </p:txBody>
      </p:sp>
      <p:sp>
        <p:nvSpPr>
          <p:cNvPr id="32" name="Text 29"/>
          <p:cNvSpPr txBox="1"/>
          <p:nvPr/>
        </p:nvSpPr>
        <p:spPr>
          <a:xfrm>
            <a:off x="463600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is he / she from?</a:t>
            </a:r>
            <a:endParaRPr lang="en-US" sz="1100" dirty="0"/>
          </a:p>
        </p:txBody>
      </p:sp>
      <p:sp>
        <p:nvSpPr>
          <p:cNvPr id="33" name="Text 30"/>
          <p:cNvSpPr txBox="1"/>
          <p:nvPr/>
        </p:nvSpPr>
        <p:spPr>
          <a:xfrm>
            <a:off x="1051560" y="300471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مِنْ أَيْنَ هُوَ / هِيَ؟</a:t>
            </a:r>
            <a:endParaRPr lang="ar-SA" sz="17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38360" y="3741725"/>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 أَيْضًا</a:t>
            </a:r>
            <a:endParaRPr lang="ar-SA" sz="15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يَتَكَلَّمُ / تَتَكَلَّمُ …</a:t>
            </a:r>
            <a:endParaRPr lang="ar-SA" sz="1600" dirty="0"/>
          </a:p>
        </p:txBody>
      </p:sp>
      <p:sp>
        <p:nvSpPr>
          <p:cNvPr id="40" name="Text 37"/>
          <p:cNvSpPr txBox="1"/>
          <p:nvPr/>
        </p:nvSpPr>
        <p:spPr>
          <a:xfrm>
            <a:off x="463600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Which language does he / she speak?</a:t>
            </a:r>
            <a:endParaRPr lang="en-US" sz="1100" dirty="0"/>
          </a:p>
        </p:txBody>
      </p:sp>
      <p:sp>
        <p:nvSpPr>
          <p:cNvPr id="41" name="Text 38"/>
          <p:cNvSpPr txBox="1"/>
          <p:nvPr/>
        </p:nvSpPr>
        <p:spPr>
          <a:xfrm>
            <a:off x="1051560" y="3741725"/>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أَيَّ لُغَةٍ يَتَكَلَّمُ / تَتَكَلَّمُ؟</a:t>
            </a:r>
            <a:endParaRPr lang="ar-SA" sz="17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38360" y="4478731"/>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وَيُحِبُّ / وَتُحِبُّ …</a:t>
            </a:r>
            <a:endParaRPr lang="ar-SA" sz="15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هِوَايَتُهُ / هِوَايَتُهَا …</a:t>
            </a:r>
            <a:endParaRPr lang="ar-SA" sz="1600" dirty="0"/>
          </a:p>
        </p:txBody>
      </p:sp>
      <p:sp>
        <p:nvSpPr>
          <p:cNvPr id="48" name="Text 45"/>
          <p:cNvSpPr txBox="1"/>
          <p:nvPr/>
        </p:nvSpPr>
        <p:spPr>
          <a:xfrm>
            <a:off x="463600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his / her hobby?</a:t>
            </a:r>
            <a:endParaRPr lang="en-US" sz="1100" dirty="0"/>
          </a:p>
        </p:txBody>
      </p:sp>
      <p:sp>
        <p:nvSpPr>
          <p:cNvPr id="49" name="Text 46"/>
          <p:cNvSpPr txBox="1"/>
          <p:nvPr/>
        </p:nvSpPr>
        <p:spPr>
          <a:xfrm>
            <a:off x="1051560" y="4478731"/>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هِوَايَتُهُ / هِوَايَتُهَا؟</a:t>
            </a:r>
            <a:endParaRPr lang="ar-SA" sz="17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38360" y="521573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وَأَسْكُنُ فِي …</a:t>
            </a:r>
            <a:endParaRPr lang="ar-SA" sz="15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صَحِيحٌ. / خَطَأٌ، أَنَا مِنْ …</a:t>
            </a:r>
            <a:endParaRPr lang="ar-SA" sz="1600" dirty="0"/>
          </a:p>
        </p:txBody>
      </p:sp>
      <p:sp>
        <p:nvSpPr>
          <p:cNvPr id="54" name="Text 51"/>
          <p:cNvSpPr txBox="1"/>
          <p:nvPr/>
        </p:nvSpPr>
        <p:spPr>
          <a:xfrm>
            <a:off x="463600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True or false? (the Leader says a fact about the Speaker)</a:t>
            </a:r>
            <a:endParaRPr lang="en-US" sz="1100" dirty="0"/>
          </a:p>
        </p:txBody>
      </p:sp>
      <p:sp>
        <p:nvSpPr>
          <p:cNvPr id="55" name="Text 52"/>
          <p:cNvSpPr txBox="1"/>
          <p:nvPr/>
        </p:nvSpPr>
        <p:spPr>
          <a:xfrm>
            <a:off x="1051560" y="521573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صَحِيحٌ أَمْ خَطَأٌ؟ «هُوَ مِنْ مِصْرَ.»</a:t>
            </a:r>
            <a:endParaRPr lang="ar-SA" sz="17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answers every question. Core: a full sentence from the starter. Develop: add the “more” part. Stretch: add a reason with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 second detail. Swap after each question.</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F2-L09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4 · ROLE-PLAY CARD · USE THE PLAN, THEN HIDE IT AND SPEAK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00" b="1" dirty="0">
                <a:solidFill>
                  <a:srgbClr val="1B3B6F"/>
                </a:solidFill>
                <a:latin typeface="Cambria" pitchFamily="34" charset="0"/>
                <a:cs typeface="Amiri" pitchFamily="2" charset="-78"/>
              </a:rPr>
              <a:t>Card — interview a new member, then report back</a:t>
            </a:r>
            <a:endParaRPr lang="en-US" sz="19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مُقَابَلَةٌ ثُمَّ تَقْرِيرٌ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F2-L09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75320" y="2267712"/>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 اسْمُهُ / اسْمُهَا …</a:t>
            </a:r>
            <a:endParaRPr lang="ar-SA" sz="16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Report the name you heard.</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اسْمُ العُضْوِ الجَدِيدِ؟</a:t>
            </a:r>
            <a:endParaRPr lang="ar-SA" sz="17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75320" y="3054096"/>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كَمْ ← عُمْرُهَا … سَنَةً</a:t>
            </a:r>
            <a:endParaRPr lang="ar-SA" sz="16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Report the age.</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كَمْ عُمْرُهَا؟</a:t>
            </a:r>
            <a:endParaRPr lang="ar-SA" sz="17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75320" y="3840480"/>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مِنْ أَيْنَ ← هِيَ مِنْ … وَتَسْكُنُ فِي …</a:t>
            </a:r>
            <a:endParaRPr lang="ar-SA" sz="16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Report country and city.</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مِنْ أَيْنَ هِيَ؟ وَأَيْنَ تَسْكُنُ؟</a:t>
            </a:r>
            <a:endParaRPr lang="ar-SA" sz="17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2" name="Text 39"/>
          <p:cNvSpPr txBox="1"/>
          <p:nvPr/>
        </p:nvSpPr>
        <p:spPr>
          <a:xfrm>
            <a:off x="8275320" y="4626864"/>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 تُحِبُّ … وَتَتَكَلَّمُ …</a:t>
            </a:r>
            <a:endParaRPr lang="ar-SA" sz="1600" dirty="0"/>
          </a:p>
        </p:txBody>
      </p:sp>
      <p:sp>
        <p:nvSpPr>
          <p:cNvPr id="43" name="Text 40"/>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Report her hobby and languages.</a:t>
            </a:r>
            <a:endParaRPr lang="en-US" sz="1100" dirty="0"/>
          </a:p>
        </p:txBody>
      </p:sp>
      <p:sp>
        <p:nvSpPr>
          <p:cNvPr id="44" name="Text 41"/>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تُحِبُّ؟</a:t>
            </a:r>
            <a:endParaRPr lang="ar-SA" sz="1700" dirty="0"/>
          </a:p>
        </p:txBody>
      </p:sp>
      <p:sp>
        <p:nvSpPr>
          <p:cNvPr id="45" name="Text 42"/>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Text 45"/>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Before the card: the Speaker interviews the Coach for 1 minute (name, age, country, city, hobby, language) and notes the facts. Then the Leader asks the card questions and the Speaker REPORTS. Swap roles.</a:t>
            </a:r>
            <a:endParaRPr lang="en-US" sz="110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F2-L09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SHORT TALK · 30 SECONDS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30 seconds: who is my partner?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 زَمِيلِي؟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F2-L09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30 seconds — no stopping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Introduce your partner to the room in 30 seconds, using only what you heard in today’s tasks — in the he / she form.</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3–4 key words,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Leader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until everyone has spoken.</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Three facts: name, age, country.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Five facts, joined with </a:t>
            </a:r>
            <a:pPr algn="l" indent="0" marL="0">
              <a:buNone/>
            </a:pPr>
            <a:r>
              <a:rPr lang="ar-SA" altLang="en-US" sz="1500" dirty="0">
                <a:solidFill>
                  <a:srgbClr val="1F2A37"/>
                </a:solidFill>
                <a:latin typeface="Amiri" pitchFamily="2" charset="-78"/>
                <a:ea typeface="Amiri" pitchFamily="2" charset="-78"/>
                <a:cs typeface="Amiri" pitchFamily="2" charset="-78"/>
              </a:rPr>
              <a:t>وَ</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Six facts, plus one thing you have in common: </a:t>
            </a:r>
            <a:pPr algn="l" indent="0" marL="0">
              <a:buNone/>
            </a:pPr>
            <a:r>
              <a:rPr lang="ar-SA" altLang="en-US" sz="1500" dirty="0">
                <a:solidFill>
                  <a:srgbClr val="1F2A37"/>
                </a:solidFill>
                <a:latin typeface="Amiri" pitchFamily="2" charset="-78"/>
                <a:ea typeface="Amiri" pitchFamily="2" charset="-78"/>
                <a:cs typeface="Amiri" pitchFamily="2" charset="-78"/>
              </a:rPr>
              <a:t>هُوَ … وَأَنَا … أَيْضًا</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هٰذَا زَمِيلِي · هٰذِهِ زَمِيلَتِي</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this is my classmate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اسْمُهُ · اسْمُهَا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his · her name is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يَسْكُنُ · تَسْكُنُ فِي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he · she lives in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 وَأَنَا أَيْضًا</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 and me too</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F2-L09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SENTENCE BUILDER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F2-L09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He said: “I live in Leeds.” → He lives in Leeds.</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هُوَ</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أَنَا</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يَسْكُنُ</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أَسْكُنُ</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لِيدْزَ.</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إِلَى لِيدْزَ.</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She said: “My name is Hala.” → Her name is Hala.</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اسْمُهَا</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اسْمِي</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هَالَةُ</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هَالَةَ</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algn="l" indent="0" marL="0">
              <a:buNone/>
            </a:pPr>
            <a:r>
              <a:rPr lang="en-US" sz="1800" dirty="0">
                <a:solidFill>
                  <a:srgbClr val="1F2A37"/>
                </a:solidFill>
                <a:latin typeface="Calibri" pitchFamily="34" charset="0"/>
                <a:cs typeface="Amiri" pitchFamily="2" charset="-78"/>
              </a:rPr>
              <a:t>.</a:t>
            </a:r>
            <a:endParaRPr lang="en-US"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She said: “I speak Urdu.” → She speaks Urdu.</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تَتَكَلَّمُ</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أَتَكَلَّمُ</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الأُرْدِيَّةَ</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الأُرْدِيَّةُ</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أَيْضًا.</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جِدًّا.</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F2-L09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F2-L09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He said: “I live in Leeds.” → He lives in Leeds.</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Retell in the third person: </a:t>
            </a:r>
            <a:pPr algn="l" indent="0" marL="0">
              <a:buNone/>
            </a:pPr>
            <a:r>
              <a:rPr lang="ar-SA" altLang="en-US" sz="1350" dirty="0">
                <a:solidFill>
                  <a:srgbClr val="5A6472"/>
                </a:solidFill>
                <a:latin typeface="Amiri" pitchFamily="2" charset="-78"/>
                <a:ea typeface="Amiri" pitchFamily="2" charset="-78"/>
                <a:cs typeface="Amiri" pitchFamily="2" charset="-78"/>
              </a:rPr>
              <a:t>أَسْكُنُ</a:t>
            </a:r>
            <a:pPr algn="l" indent="0" marL="0">
              <a:buNone/>
            </a:pPr>
            <a:r>
              <a:rPr lang="en-US" sz="1050" i="1" dirty="0">
                <a:solidFill>
                  <a:srgbClr val="5A6472"/>
                </a:solidFill>
                <a:latin typeface="Calibri" pitchFamily="34" charset="0"/>
                <a:cs typeface="Amiri" pitchFamily="2" charset="-78"/>
              </a:rPr>
              <a:t> → </a:t>
            </a:r>
            <a:pPr algn="l" indent="0" marL="0">
              <a:buNone/>
            </a:pPr>
            <a:r>
              <a:rPr lang="ar-SA" altLang="en-US" sz="1350" dirty="0">
                <a:solidFill>
                  <a:srgbClr val="5A6472"/>
                </a:solidFill>
                <a:latin typeface="Amiri" pitchFamily="2" charset="-78"/>
                <a:ea typeface="Amiri" pitchFamily="2" charset="-78"/>
                <a:cs typeface="Amiri" pitchFamily="2" charset="-78"/>
              </a:rPr>
              <a:t>يَسْكُنُ</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هُوَ يَسْكُنُ فِي لِيدْزَ.</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She said: “My name is Hala.” → Her name is Hala.</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name → her name: </a:t>
            </a:r>
            <a:pPr algn="l" indent="0" marL="0">
              <a:buNone/>
            </a:pPr>
            <a:r>
              <a:rPr lang="ar-SA" altLang="en-US" sz="1350" dirty="0">
                <a:solidFill>
                  <a:srgbClr val="5A6472"/>
                </a:solidFill>
                <a:latin typeface="Amiri" pitchFamily="2" charset="-78"/>
                <a:ea typeface="Amiri" pitchFamily="2" charset="-78"/>
                <a:cs typeface="Amiri" pitchFamily="2" charset="-78"/>
              </a:rPr>
              <a:t>اسْمِي</a:t>
            </a:r>
            <a:pPr algn="l" indent="0" marL="0">
              <a:buNone/>
            </a:pPr>
            <a:r>
              <a:rPr lang="en-US" sz="1050" i="1" dirty="0">
                <a:solidFill>
                  <a:srgbClr val="5A6472"/>
                </a:solidFill>
                <a:latin typeface="Calibri" pitchFamily="34" charset="0"/>
                <a:cs typeface="Amiri" pitchFamily="2" charset="-78"/>
              </a:rPr>
              <a:t> → </a:t>
            </a:r>
            <a:pPr algn="l" indent="0" marL="0">
              <a:buNone/>
            </a:pPr>
            <a:r>
              <a:rPr lang="ar-SA" altLang="en-US" sz="1350" dirty="0">
                <a:solidFill>
                  <a:srgbClr val="5A6472"/>
                </a:solidFill>
                <a:latin typeface="Amiri" pitchFamily="2" charset="-78"/>
                <a:ea typeface="Amiri" pitchFamily="2" charset="-78"/>
                <a:cs typeface="Amiri" pitchFamily="2" charset="-78"/>
              </a:rPr>
              <a:t>اسْمُهَا</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اسْمُهَا هَالَةُ .</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She said: “I speak Urdu.” → She speaks Urdu.</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speak → she speaks: </a:t>
            </a:r>
            <a:pPr algn="l" indent="0" marL="0">
              <a:buNone/>
            </a:pPr>
            <a:r>
              <a:rPr lang="ar-SA" altLang="en-US" sz="1350" dirty="0">
                <a:solidFill>
                  <a:srgbClr val="5A6472"/>
                </a:solidFill>
                <a:latin typeface="Amiri" pitchFamily="2" charset="-78"/>
                <a:ea typeface="Amiri" pitchFamily="2" charset="-78"/>
                <a:cs typeface="Amiri" pitchFamily="2" charset="-78"/>
              </a:rPr>
              <a:t>أَتَكَلَّمُ</a:t>
            </a:r>
            <a:pPr algn="l" indent="0" marL="0">
              <a:buNone/>
            </a:pPr>
            <a:r>
              <a:rPr lang="en-US" sz="1050" i="1" dirty="0">
                <a:solidFill>
                  <a:srgbClr val="5A6472"/>
                </a:solidFill>
                <a:latin typeface="Calibri" pitchFamily="34" charset="0"/>
                <a:cs typeface="Amiri" pitchFamily="2" charset="-78"/>
              </a:rPr>
              <a:t> → </a:t>
            </a:r>
            <a:pPr algn="l" indent="0" marL="0">
              <a:buNone/>
            </a:pPr>
            <a:r>
              <a:rPr lang="ar-SA" altLang="en-US" sz="1350" dirty="0">
                <a:solidFill>
                  <a:srgbClr val="5A6472"/>
                </a:solidFill>
                <a:latin typeface="Amiri" pitchFamily="2" charset="-78"/>
                <a:ea typeface="Amiri" pitchFamily="2" charset="-78"/>
                <a:cs typeface="Amiri" pitchFamily="2" charset="-78"/>
              </a:rPr>
              <a:t>تَتَكَلَّمُ</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تَتَكَلَّمُ الأُرْدِيَّةَ أَيْضًا.</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F2-L09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AND FIX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F2-L09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2850" b="1" dirty="0">
                <a:solidFill>
                  <a:srgbClr val="B83227"/>
                </a:solidFill>
                <a:latin typeface="Amiri" pitchFamily="2" charset="-78"/>
                <a:ea typeface="Amiri" pitchFamily="2" charset="-78"/>
                <a:cs typeface="Amiri" pitchFamily="2" charset="-78"/>
              </a:rPr>
              <a:t>سَلْمَى: «أَسْكُنُ فِي بِرْمِنْغْهَامَ.» ← هِيَ أَسْكُنُ فِي بِرْمِنْغْهَامَ.</a:t>
            </a:r>
            <a:endParaRPr lang="ar-SA" sz="285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Retell it for her.</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خَالِدٌ: «عُمْرِي ١٤ سَنَةً.» ← عُمْرِي أَرْبَعَ عَشْرَةَ سَنَةً.</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Whose age?</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algn="l" indent="0" marL="0">
              <a:buNone/>
            </a:pPr>
            <a:r>
              <a:rPr lang="ar-SA" altLang="en-US" sz="3900" b="1" dirty="0">
                <a:solidFill>
                  <a:srgbClr val="B83227"/>
                </a:solidFill>
                <a:latin typeface="Amiri" pitchFamily="2" charset="-78"/>
                <a:ea typeface="Amiri" pitchFamily="2" charset="-78"/>
                <a:cs typeface="Amiri" pitchFamily="2" charset="-78"/>
              </a:rPr>
              <a:t>هِوَايَتُهُ السِّبَاحَةُ</a:t>
            </a:r>
            <a:pPr algn="l" indent="0" marL="0">
              <a:buNone/>
            </a:pPr>
            <a:r>
              <a:rPr lang="en-US" sz="3000" b="1" dirty="0">
                <a:solidFill>
                  <a:srgbClr val="B83227"/>
                </a:solidFill>
                <a:latin typeface="Calibri" pitchFamily="34" charset="0"/>
                <a:cs typeface="Amiri" pitchFamily="2" charset="-78"/>
              </a:rPr>
              <a:t>. (about Laila)</a:t>
            </a:r>
            <a:endParaRPr lang="en-US"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Laila is a girl.</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F2-L09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F2-L09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ea typeface="Amiri" pitchFamily="2" charset="-78"/>
                <a:cs typeface="Amiri" pitchFamily="2" charset="-78"/>
              </a:rPr>
              <a:t>سَلْمَى: «أَسْكُنُ فِي بِرْمِنْغْهَامَ.» ← هِيَ أَسْكُنُ فِي بِرْمِنْغْهَامَ.</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هِيَ تَسْكُنُ فِي بِرْمِنْغْهَامَ.</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She → ta-: </a:t>
            </a:r>
            <a:pPr algn="l" indent="0" marL="0">
              <a:buNone/>
            </a:pPr>
            <a:r>
              <a:rPr lang="ar-SA" altLang="en-US" sz="1500" b="1" dirty="0">
                <a:solidFill>
                  <a:srgbClr val="1B3B6F"/>
                </a:solidFill>
                <a:latin typeface="Amiri" pitchFamily="2" charset="-78"/>
                <a:ea typeface="Amiri" pitchFamily="2" charset="-78"/>
                <a:cs typeface="Amiri" pitchFamily="2" charset="-78"/>
              </a:rPr>
              <a:t>تَسْكُنُ</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ea typeface="Amiri" pitchFamily="2" charset="-78"/>
                <a:cs typeface="Amiri" pitchFamily="2" charset="-78"/>
              </a:rPr>
              <a:t>خَالِدٌ: «عُمْرِي ١٤ سَنَةً.» ← عُمْرِي أَرْبَعَ عَشْرَةَ سَنَةً.</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عُمْرُهُ أَرْبَعَ عَشْرَةَ سَنَةً.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His age → </a:t>
            </a:r>
            <a:pPr algn="l" indent="0" marL="0">
              <a:buNone/>
            </a:pPr>
            <a:r>
              <a:rPr lang="ar-SA" altLang="en-US" sz="1500" b="1" dirty="0">
                <a:solidFill>
                  <a:srgbClr val="1B3B6F"/>
                </a:solidFill>
                <a:latin typeface="Amiri" pitchFamily="2" charset="-78"/>
                <a:ea typeface="Amiri" pitchFamily="2" charset="-78"/>
                <a:cs typeface="Amiri" pitchFamily="2" charset="-78"/>
              </a:rPr>
              <a:t>عُمْرُهُ</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algn="l" indent="0" marL="0">
              <a:buNone/>
            </a:pPr>
            <a:r>
              <a:rPr lang="ar-SA" altLang="en-US" sz="2350" dirty="0">
                <a:solidFill>
                  <a:srgbClr val="B83227"/>
                </a:solidFill>
                <a:latin typeface="Amiri" pitchFamily="2" charset="-78"/>
                <a:ea typeface="Amiri" pitchFamily="2" charset="-78"/>
                <a:cs typeface="Amiri" pitchFamily="2" charset="-78"/>
              </a:rPr>
              <a:t>هِوَايَتُهُ السِّبَاحَةُ</a:t>
            </a:r>
            <a:pPr algn="l" indent="0" marL="0">
              <a:buNone/>
            </a:pPr>
            <a:r>
              <a:rPr lang="en-US" sz="1800" dirty="0">
                <a:solidFill>
                  <a:srgbClr val="B83227"/>
                </a:solidFill>
                <a:latin typeface="Calibri" pitchFamily="34" charset="0"/>
                <a:cs typeface="Amiri" pitchFamily="2" charset="-78"/>
              </a:rPr>
              <a:t>. (about Laila)</a:t>
            </a:r>
            <a:endParaRPr lang="en-US"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هِوَايَتُهَا السِّبَاحَةُ.</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Her → -hā.</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F2-L09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F2-L09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350" b="1" dirty="0">
                <a:solidFill>
                  <a:srgbClr val="1B3B6F"/>
                </a:solidFill>
                <a:latin typeface="Amiri" pitchFamily="2" charset="-78"/>
                <a:ea typeface="Amiri" pitchFamily="2" charset="-78"/>
                <a:cs typeface="Amiri" pitchFamily="2" charset="-78"/>
              </a:rPr>
              <a:t>يَسْكُنُ / تَسْكُنُ فِي ______ ، وَيَتَكَلَّمُ / وَتَتَكَلَّمُ ______ .</a:t>
            </a:r>
            <a:endParaRPr lang="ar-SA" sz="135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 / she lives in …, and speaks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هُوَ / هِيَ يُحِبُّ / تُحِبُّ ______ ، وَأَنَا أَيْضًا!</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 / she likes …, and so do I!</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زَمِيلِي / زَمِيلَتِي اسْمُهُ / اسْمُهَا ______ .</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classmate’s name is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عُمْرُهُ / عُمْرُهَا ______ سَنَةً.</a:t>
            </a:r>
            <a:endParaRPr lang="ar-SA" sz="18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 / she is … years old.</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هُوَ / هِيَ مِنْ ______ .</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 / she is from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هِوَايَتُهُ / هِوَايَتُهَا ______ .</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His / her hobby is …</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اسْمُهُ · اسْمُهَا  ·  عُمْرُهُ · عُمْرُهَا  ·  يَسْكُنُ · تَسْكُنُ  ·  يَتَكَلَّمُ · تَتَكَلَّمُ  ·  هِوَايَتُهُ · هِوَايَتُهَا  ·  زَمِيلِي · زَمِيلَتِي  ·  وَأَنَا أَيْضًا  ·  أَيْضًا</a:t>
            </a:r>
            <a:endParaRPr lang="ar-SA" sz="16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F2-L09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ABOUT 40–60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Report: what I heard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تَقْرِيرٌ: مَاذَا سَمِعْتُ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F2-L09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828800"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8288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SHORT TEXT</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a short report (about 35–50 words) for the class blog about the partner you interviewed today. Include: • name and age • country and city • languages • hobby • one thing you have in common.</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Every bullet point has at least one sentence.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Full sentences with the right ending (I · my · he · she).</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Words from today’s word bank.</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one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and one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(Develop).</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اسْمُهُ / اسْمُهَا … وَعُمْرُهُ / وَعُمْرُهَا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his / her name is … and he / she is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هُوَ / هِيَ مِنْ … وَيَسْكُنُ / وَتَسْكُنُ فِي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he / she is from … and lives in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يَتَكَلَّمُ / تَتَكَلَّمُ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he / she speaks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هُوَ / هِيَ يُحِبُّ … وَأَنَا أَيْضًا</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he / she likes … and so do I</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F2-L09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F2-L09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report the facts in the he / she form (not “I”)?</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the right endings for him (-hu, ya-) and her (-hā, ta-)?</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add a reason, a time phrase or an opinion?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F2-L09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F2-L09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اسْمُهَا نَادِيَةُ.</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Her name is Nadia.</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اسْمُ العُضْوِ الجَدِيدِ؟</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عُمْرُهَا أَرْبَعَ عَشْرَةَ سَنَةً.</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She is fourteen.</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كَمْ عُمْرُهَا؟</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هِيَ مِنَ الجَزَائِرِ، وَتَسْكُنُ فِي لُوتُنَ.</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She is from Algeria, and she lives in Luton.</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مِنْ أَيْنَ هِيَ؟ وَأَيْنَ تَسْكُنُ؟</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تُحِبُّ كُرَةَ السَّلَّةِ، وَتَتَكَلَّمُ العَرَبِيَّةَ وَالفَرَنْسِيَّةَ.</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She likes basketball, and she speaks Arabic and French.</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تُحِبُّ؟</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Choose one phrase you did not use and say it aloud.</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F2-L09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F2-L09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زَمِيلِي اسْمُهُ بِلَالٌ، وَعُمْرُهُ ثَلَاثَ عَشْرَةَ سَنَةً. هُوَ مِنْ بَنْغْلَادِيش، وَيَسْكُنُ فِي لَنْدَنَ. يَتَكَلَّمُ البَنْغَالِيَّةَ وَالإِنْجِلِيزِيَّةَ، وَيَفْهَمُ العَرَبِيَّةَ قَلِيلًا. هِوَايَتُهُ كُرَةُ القَدَمِ، وَفَرِيقُهُ المُفَضَّلُ أَرْسِنَالُ. هُوَ يُحِبُّ الرَّسْمَ أَيْضًا، وَأَنَا أُحِبُّ الرَّسْمَ أَيْضًا! بِلَالٌ لَطِيفٌ وَمَرِحٌ جِدًّا.</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“My classmate’s name is Bilal, and he is thirteen. He is from Bangladesh, and he lives in London. He speaks Bengali and English, and understands a little Arabic. His hobby is football, and his favourite team is Arsenal. He likes drawing too — and so do I! Bilal is very kind and funny.”</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اسْمُهُ بِلَالٌ</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وَيَسْكُنُ فِي لَنْدَنَ</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يَتَكَلَّمُ البَنْغَالِيَّةَ</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هِوَايَتُهُ كُرَةُ القَدَمِ</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F2-L09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F2-L09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questions and the role-play tasks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today’s key structure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added reasons (</a:t>
            </a:r>
            <a:pPr algn="l" indent="0" marL="0">
              <a:buNone/>
            </a:pPr>
            <a:r>
              <a:rPr lang="ar-SA" altLang="en-US" sz="1700" dirty="0">
                <a:solidFill>
                  <a:srgbClr val="1F2A37"/>
                </a:solidFill>
                <a:latin typeface="Amiri" pitchFamily="2" charset="-78"/>
                <a:ea typeface="Amiri" pitchFamily="2" charset="-78"/>
                <a:cs typeface="Amiri" pitchFamily="2" charset="-78"/>
              </a:rPr>
              <a:t>لِأَنَّ</a:t>
            </a:r>
            <a:pPr algn="l" indent="0" marL="0">
              <a:buNone/>
            </a:pPr>
            <a:r>
              <a:rPr lang="en-US" sz="1300" dirty="0">
                <a:solidFill>
                  <a:srgbClr val="1F2A37"/>
                </a:solidFill>
                <a:latin typeface="Calibri" pitchFamily="34" charset="0"/>
                <a:cs typeface="Amiri" pitchFamily="2" charset="-78"/>
              </a:rPr>
              <a:t>) and extra details without frames.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F2-L09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000" b="1" dirty="0">
                <a:solidFill>
                  <a:srgbClr val="FFFFFF"/>
                </a:solidFill>
                <a:latin typeface="Cambria" pitchFamily="34" charset="0"/>
                <a:cs typeface="Amiri" pitchFamily="2" charset="-78"/>
              </a:rPr>
              <a:t>F2-L10 · Greetings and Identity in the Arab World</a:t>
            </a:r>
            <a:endParaRPr lang="en-US" sz="20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التَّحِيَّاتُ وَالهُوِيَّةُ فِي العَالَمِ العَرَبِيِّ</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say it, then write it — full sentences,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F2-L09 · Practice Room — Listening to Personal Introductions</dc:title>
  <dc:subject>PptxGenJS Presentation</dc:subject>
  <dc:creator>Al Madina Online School · Arabic Department</dc:creator>
  <cp:lastModifiedBy>Al Madina Online School · Arabic Department</cp:lastModifiedBy>
  <cp:revision>1</cp:revision>
  <dcterms:created xsi:type="dcterms:W3CDTF">2026-10-25T17:16:59Z</dcterms:created>
  <dcterms:modified xsi:type="dcterms:W3CDTF">2026-10-25T17:16:59Z</dcterms:modified>
</cp:coreProperties>
</file>