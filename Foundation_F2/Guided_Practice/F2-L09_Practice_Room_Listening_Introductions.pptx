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ROOM AT A GLANCE — one combined lesson (speaking, then writing), 55–60 minutes: about 6 minutes in the main room, about 45 minutes in breakout rooms of two or three, about 6 minutes back together.
0–2 Welcome · 2–5 How the room works · ROOMS, Part A Speaking: Step 1 Word warm-up (5) · Step 2 Say the model dialogue (5) · Step 3 Question cards (7) · Step 4 Role-play card (7) · Step 5 Short talk (4) · Part B Writing: Step 6 Sentence builder (4) · Step 7 Spot and fix (3) · Step 8 Write your text (12) + buddy check (3) · back in the main room: Check yourself (4) · Self-check + close (2).
PURPOSE: students practise the lesson’s language ON THEIR OWN with a clear structure. The teacher visits each room (about 3 minutes per room), listens, reads one piece of writing per student and gives one live correction.
CONTENT: F2-L09 (Listening to Personal Introductions) — new practice tasks built on the lesson’s own word bank and grammar (listening for facts (name · age · country · city · language · hobby); retelling in the third person (ismuhu · taskunu · yatakallamu)).
SET-UP: rooms of two or three (same-level rooms keep the routes simple). Share this deck or its PDF in the chat so every room can follow the steps. Each student writes in their own book or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Part A is speaking, Part B is writing. The step number is always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(3 min, main room). Model the roles quickly with two volunteers using one question from Step 3. Stress: the Coach is kind and specific. Then open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(5 min in rooms). The two word slides that follow come from the F2-L09 lesson. Teacher: visit the first room straight away to model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the Leader picks the English, the Speaker gives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(5 min). The dialogue models today’s language in a real exchange. This is the core skill of the lesson: hear “I” forms and turn them into “he / she”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(7 min). The starter column is support, not the answer: students finish it with their OWN information. Coach listens for the key structure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4 (7 min). SUPPORTED: the plan column models the thinking (first words), not the full answer. Everyone is Speaker once. To a girl the Leader says: if the member is a boy: اسْمُهُ · عُمْرُهُ · هُوَ · يَسْكُنُ · يُحِبُّ · يَتَكَلَّمُ. This turns the listening skill into a real exchange: ask, listen, note,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(4 min). A short talk builds fluency and confidence.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support. Core: use the Core frames for every sentence. Develop: use the Develop frames only if stuck. Stretch: no frames — add a reason, a time phrase and one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(10 min writing). Core: frames for every bullet (25–35 words). Develop: 40–60 words, frames only if stuck. Stretch: no frames, add reasons and another time frame. Teacher visits rooms and reads ONE sentence per student.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(37 words). CHECK YOURSELF (2 min). Find each bullet point in the model.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F2-L09 · PRACTICE ROOM</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Practice Room — Listening to Personal Introductions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التَّدَرُّبِ — أَسْتَمِعُ وَأُعِيدُ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run their own listening-and-speaking practice in pairs: one partner introduces themselves, the other listens for the facts, notes them and retells them in the third person; then they build, fix and write a short report of what they heard.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F2-L09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 · practice room</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Speaking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 first, then write — you run it yourselves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 · practice room</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1–2: word warm-up · say the model dialogue.</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الكَلِمَاتُ وَالحِوَارُ</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3–5: question cards · role-play card · short talk.</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6–7: sentence builder · spot and fix.</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ابْنِ وَصَحِّحْ</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8: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Everybody speaks in every step and everybody writes their own text. Swap roles after each task. If you finish early, do the step again with the Stretch route.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roles — then write alone, check together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 فِي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 · practice room</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ROLES (SWAP AFTER EVERY TASK)</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 opens the next step, keeps the time and reads the questions.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SPEAKER — answers in Arabic, in a full sentence. Think for a few seconds, then speak.</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COACH — listens, checks with the slide, then says one thing that went well and one thing to improve. (In a pair, the Leader is also the Coach.)</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WRITING (Part B): everyone writes their OWN text; then swap with a buddy and check.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USEFUL ROOM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دَوْرُكَ! / دَوْرُكِ!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turn! (m. /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أَعِدْ مِنْ فَضْلِكَ.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repeat please.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أُفَكِّرُ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I’m thinking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A · STEP 1 · WORD WARM-UP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 then say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اسْمَعْ ثُمَّ 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Word ping-pong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says a word or a fact in ARABIC from the word bank (or a fact about themselves). The Speaker listens WITHOUT looking and says what it means in English, then repeats it in Arabic.</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Leader: say 4 words or short facts in Arabic.</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eyes off the slide — say the meaning, then repeat the Arabic.</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checks with the slide.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 new words each time.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Single words: the meaning in English.</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Short facts: </a:t>
            </a:r>
            <a:pPr algn="l" indent="0" marL="0">
              <a:buNone/>
            </a:pPr>
            <a:r>
              <a:rPr lang="ar-SA" altLang="en-US" sz="1500" dirty="0">
                <a:solidFill>
                  <a:srgbClr val="1F2A37"/>
                </a:solidFill>
                <a:latin typeface="Amiri" pitchFamily="2" charset="-78"/>
                <a:ea typeface="Amiri" pitchFamily="2" charset="-78"/>
                <a:cs typeface="Amiri" pitchFamily="2" charset="-78"/>
              </a:rPr>
              <a:t>عُمْرِي</a:t>
            </a:r>
            <a:pPr algn="l" indent="0" marL="0">
              <a:buNone/>
            </a:pPr>
            <a:r>
              <a:rPr lang="en-US" sz="1150" dirty="0">
                <a:solidFill>
                  <a:srgbClr val="1F2A37"/>
                </a:solidFill>
                <a:latin typeface="Calibri" pitchFamily="34" charset="0"/>
                <a:cs typeface="Amiri" pitchFamily="2" charset="-78"/>
              </a:rPr>
              <a:t> … · </a:t>
            </a:r>
            <a:pPr algn="l" indent="0" marL="0">
              <a:buNone/>
            </a:pPr>
            <a:r>
              <a:rPr lang="ar-SA" altLang="en-US" sz="1500" dirty="0">
                <a:solidFill>
                  <a:srgbClr val="1F2A37"/>
                </a:solidFill>
                <a:latin typeface="Amiri" pitchFamily="2" charset="-78"/>
                <a:ea typeface="Amiri" pitchFamily="2" charset="-78"/>
                <a:cs typeface="Amiri" pitchFamily="2" charset="-78"/>
              </a:rPr>
              <a:t>أَسْكُنُ فِي</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facts in one sentence — repeat them in the he / she form.</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أَعِدْ مِنْ فَضْلِكَ / أَعِيدِي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repeat please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(1)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instructions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اِسْتَمِعْ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Listen!</a:t>
            </a:r>
            <a:endParaRPr lang="en-US" sz="1350" dirty="0"/>
          </a:p>
          <a:p>
            <a:pPr indent="0" marL="0">
              <a:buNone/>
            </a:pPr>
            <a:r>
              <a:rPr lang="en-US" sz="1100" i="1" dirty="0">
                <a:solidFill>
                  <a:srgbClr val="5A6472"/>
                </a:solidFill>
                <a:latin typeface="Calibri" pitchFamily="34" charset="0"/>
                <a:cs typeface="Amiri" pitchFamily="2" charset="-78"/>
              </a:rPr>
              <a:t>is-ta-miʿ · -ī · -ū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اِسْتَمِعْ</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اِسْتَمِعِي</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اِسْتَمِعُوا</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1269187"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اِخْتَرْ</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Choose!</a:t>
            </a:r>
            <a:endParaRPr lang="en-US" sz="1350" dirty="0"/>
          </a:p>
          <a:p>
            <a:pPr indent="0" marL="0">
              <a:buNone/>
            </a:pPr>
            <a:r>
              <a:rPr lang="en-US" sz="1100" i="1" dirty="0">
                <a:solidFill>
                  <a:srgbClr val="5A6472"/>
                </a:solidFill>
                <a:latin typeface="Calibri" pitchFamily="34" charset="0"/>
                <a:cs typeface="Amiri" pitchFamily="2" charset="-78"/>
              </a:rPr>
              <a:t>ikh-tar · ikh-tā-rī · ikh-tā-rū</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44" name="Text 4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اِخْتَرْ</a:t>
            </a:r>
            <a:endParaRPr lang="ar-SA" sz="135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اِخْتَارِي</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50" name="Text 47"/>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اِخْتَارُوا</a:t>
            </a:r>
            <a:endParaRPr lang="ar-SA" sz="135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instruction</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اِمْلَأِ الفَرَاغَ</a:t>
            </a:r>
            <a:endParaRPr lang="ar-SA" sz="3000" dirty="0"/>
          </a:p>
        </p:txBody>
      </p:sp>
      <p:sp>
        <p:nvSpPr>
          <p:cNvPr id="59" name="Text 5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Fill the gap!</a:t>
            </a:r>
            <a:endParaRPr lang="en-US" sz="1350" dirty="0"/>
          </a:p>
          <a:p>
            <a:pPr indent="0" marL="0">
              <a:buNone/>
            </a:pPr>
            <a:r>
              <a:rPr lang="en-US" sz="1100" i="1" dirty="0">
                <a:solidFill>
                  <a:srgbClr val="5A6472"/>
                </a:solidFill>
                <a:latin typeface="Calibri" pitchFamily="34" charset="0"/>
                <a:cs typeface="Amiri" pitchFamily="2" charset="-78"/>
              </a:rPr>
              <a:t>im-la-ʾi l-fa-rāgh</a:t>
            </a:r>
            <a:endParaRPr lang="en-US" sz="1350" dirty="0"/>
          </a:p>
        </p:txBody>
      </p:sp>
      <p:sp>
        <p:nvSpPr>
          <p:cNvPr id="60" name="Text 5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Write the missing word.</a:t>
            </a:r>
            <a:endParaRPr lang="en-US" sz="1000" dirty="0"/>
          </a:p>
        </p:txBody>
      </p:sp>
      <p:sp>
        <p:nvSpPr>
          <p:cNvPr id="61" name="Shape 5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8211312"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4" name="Shape 6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label</a:t>
            </a:r>
            <a:endParaRPr lang="en-US" sz="800" dirty="0"/>
          </a:p>
        </p:txBody>
      </p:sp>
      <p:sp>
        <p:nvSpPr>
          <p:cNvPr id="66" name="Shape 6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7" name="Text 6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8" name="Text 6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صَحِيحٌ · خَطَأٌ</a:t>
            </a:r>
            <a:endParaRPr lang="ar-SA" sz="3000" dirty="0"/>
          </a:p>
        </p:txBody>
      </p:sp>
      <p:sp>
        <p:nvSpPr>
          <p:cNvPr id="69" name="Text 6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true · false</a:t>
            </a:r>
            <a:endParaRPr lang="en-US" sz="1350" dirty="0"/>
          </a:p>
          <a:p>
            <a:pPr indent="0" marL="0">
              <a:buNone/>
            </a:pPr>
            <a:r>
              <a:rPr lang="en-US" sz="1100" i="1" dirty="0">
                <a:solidFill>
                  <a:srgbClr val="5A6472"/>
                </a:solidFill>
                <a:latin typeface="Calibri" pitchFamily="34" charset="0"/>
                <a:cs typeface="Amiri" pitchFamily="2" charset="-78"/>
              </a:rPr>
              <a:t>ṣa-ḥīḥ · kha-ṭaʾ</a:t>
            </a:r>
            <a:endParaRPr lang="en-US" sz="1350" dirty="0"/>
          </a:p>
        </p:txBody>
      </p:sp>
      <p:sp>
        <p:nvSpPr>
          <p:cNvPr id="70" name="Text 6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Urdu: sahīh · khatā</a:t>
            </a:r>
            <a:endParaRPr lang="en-US" sz="1000" dirty="0"/>
          </a:p>
        </p:txBody>
      </p:sp>
      <p:sp>
        <p:nvSpPr>
          <p:cNvPr id="71" name="Shape 6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389120"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4" name="Shape 71"/>
          <p:cNvSpPr/>
          <p:nvPr/>
        </p:nvSpPr>
        <p:spPr>
          <a:xfrm>
            <a:off x="4782312" y="4279392"/>
            <a:ext cx="958291"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4782312"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instruction</a:t>
            </a:r>
            <a:endParaRPr lang="en-US" sz="800" dirty="0"/>
          </a:p>
        </p:txBody>
      </p:sp>
      <p:sp>
        <p:nvSpPr>
          <p:cNvPr id="76" name="Text 7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مَرَّةً أُخْرَى</a:t>
            </a:r>
            <a:endParaRPr lang="ar-SA" sz="3000" dirty="0"/>
          </a:p>
        </p:txBody>
      </p:sp>
      <p:sp>
        <p:nvSpPr>
          <p:cNvPr id="77" name="Text 7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once more, again</a:t>
            </a:r>
            <a:endParaRPr lang="en-US" sz="1350" dirty="0"/>
          </a:p>
          <a:p>
            <a:pPr indent="0" marL="0">
              <a:buNone/>
            </a:pPr>
            <a:r>
              <a:rPr lang="en-US" sz="1100" i="1" dirty="0">
                <a:solidFill>
                  <a:srgbClr val="5A6472"/>
                </a:solidFill>
                <a:latin typeface="Calibri" pitchFamily="34" charset="0"/>
                <a:cs typeface="Amiri" pitchFamily="2" charset="-78"/>
              </a:rPr>
              <a:t>mar-ra-tan ukh-rā</a:t>
            </a:r>
            <a:endParaRPr lang="en-US" sz="1350" dirty="0"/>
          </a:p>
        </p:txBody>
      </p:sp>
      <p:sp>
        <p:nvSpPr>
          <p:cNvPr id="78" name="Text 75"/>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teacher reads it a second time.</a:t>
            </a:r>
            <a:endParaRPr lang="en-US" sz="1000" dirty="0"/>
          </a:p>
        </p:txBody>
      </p:sp>
      <p:sp>
        <p:nvSpPr>
          <p:cNvPr id="79" name="Shape 7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566928" y="4261104"/>
            <a:ext cx="310896" cy="310896"/>
          </a:xfrm>
          <a:prstGeom prst="ellipse">
            <a:avLst/>
          </a:prstGeom>
          <a:solidFill>
            <a:srgbClr val="F4F1EA"/>
          </a:solidFill>
          <a:ln w="12700">
            <a:solidFill>
              <a:srgbClr val="F4F1EA"/>
            </a:solidFill>
            <a:prstDash val="solid"/>
          </a:ln>
        </p:spPr>
      </p:sp>
      <p:sp>
        <p:nvSpPr>
          <p:cNvPr id="81" name="Text 7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2" name="Shape 79"/>
          <p:cNvSpPr/>
          <p:nvPr/>
        </p:nvSpPr>
        <p:spPr>
          <a:xfrm>
            <a:off x="960120" y="4279392"/>
            <a:ext cx="771754" cy="256032"/>
          </a:xfrm>
          <a:prstGeom prst="roundRect">
            <a:avLst>
              <a:gd name="adj" fmla="val 50000"/>
            </a:avLst>
          </a:prstGeom>
          <a:solidFill>
            <a:srgbClr val="EFE7D2"/>
          </a:solidFill>
          <a:ln w="12700">
            <a:solidFill>
              <a:srgbClr val="EFE7D2"/>
            </a:solidFill>
            <a:prstDash val="solid"/>
          </a:ln>
        </p:spPr>
      </p:sp>
      <p:sp>
        <p:nvSpPr>
          <p:cNvPr id="83" name="Text 80"/>
          <p:cNvSpPr txBox="1"/>
          <p:nvPr/>
        </p:nvSpPr>
        <p:spPr>
          <a:xfrm>
            <a:off x="960120"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strategy</a:t>
            </a:r>
            <a:endParaRPr lang="en-US" sz="800" dirty="0"/>
          </a:p>
        </p:txBody>
      </p:sp>
      <p:sp>
        <p:nvSpPr>
          <p:cNvPr id="84" name="Text 8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ea typeface="Amiri" pitchFamily="2" charset="-78"/>
                <a:cs typeface="Amiri" pitchFamily="2" charset="-78"/>
              </a:rPr>
              <a:t>الفِكْرَةُ الرَّئِيسِيَّةُ · التَّفَاصِيلُ</a:t>
            </a:r>
            <a:endParaRPr lang="ar-SA" sz="2550" dirty="0"/>
          </a:p>
        </p:txBody>
      </p:sp>
      <p:sp>
        <p:nvSpPr>
          <p:cNvPr id="85" name="Text 8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main idea · the details</a:t>
            </a:r>
            <a:endParaRPr lang="en-US" sz="1350" dirty="0"/>
          </a:p>
          <a:p>
            <a:pPr indent="0" marL="0">
              <a:buNone/>
            </a:pPr>
            <a:r>
              <a:rPr lang="en-US" sz="1100" i="1" dirty="0">
                <a:solidFill>
                  <a:srgbClr val="5A6472"/>
                </a:solidFill>
                <a:latin typeface="Calibri" pitchFamily="34" charset="0"/>
                <a:cs typeface="Amiri" pitchFamily="2" charset="-78"/>
              </a:rPr>
              <a:t>al-fik-ra r-ra-ʾī-siy-ya · at-ta-fā-ṣīl</a:t>
            </a:r>
            <a:endParaRPr lang="en-US" sz="1350" dirty="0"/>
          </a:p>
        </p:txBody>
      </p:sp>
      <p:sp>
        <p:nvSpPr>
          <p:cNvPr id="86" name="Text 83"/>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Listen 1 = main idea · Listen 2 = details</a:t>
            </a:r>
            <a:endParaRPr lang="en-US" sz="10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(2)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facts you listen for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name</a:t>
            </a:r>
            <a:endParaRPr lang="en-US" sz="1350" dirty="0"/>
          </a:p>
          <a:p>
            <a:pPr indent="0" marL="0">
              <a:buNone/>
            </a:pPr>
            <a:r>
              <a:rPr lang="en-US" sz="1100" i="1" dirty="0">
                <a:solidFill>
                  <a:srgbClr val="5A6472"/>
                </a:solidFill>
                <a:latin typeface="Calibri" pitchFamily="34" charset="0"/>
                <a:cs typeface="Amiri" pitchFamily="2" charset="-78"/>
              </a:rPr>
              <a:t>als-mu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العُمْرُ</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age</a:t>
            </a:r>
            <a:endParaRPr lang="en-US" sz="1350" dirty="0"/>
          </a:p>
          <a:p>
            <a:pPr indent="0" marL="0">
              <a:buNone/>
            </a:pPr>
            <a:r>
              <a:rPr lang="en-US" sz="1100" i="1" dirty="0">
                <a:solidFill>
                  <a:srgbClr val="5A6472"/>
                </a:solidFill>
                <a:latin typeface="Calibri" pitchFamily="34" charset="0"/>
                <a:cs typeface="Amiri" pitchFamily="2" charset="-78"/>
              </a:rPr>
              <a:t>al-ʿum-ru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البَلَدُ</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country</a:t>
            </a:r>
            <a:endParaRPr lang="en-US" sz="1350" dirty="0"/>
          </a:p>
          <a:p>
            <a:pPr indent="0" marL="0">
              <a:buNone/>
            </a:pPr>
            <a:r>
              <a:rPr lang="en-US" sz="1100" i="1" dirty="0">
                <a:solidFill>
                  <a:srgbClr val="5A6472"/>
                </a:solidFill>
                <a:latin typeface="Calibri" pitchFamily="34" charset="0"/>
                <a:cs typeface="Amiri" pitchFamily="2" charset="-78"/>
              </a:rPr>
              <a:t>al-ba-la-du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المَدِينَةُ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city</a:t>
            </a:r>
            <a:endParaRPr lang="en-US" sz="1350" dirty="0"/>
          </a:p>
          <a:p>
            <a:pPr indent="0" marL="0">
              <a:buNone/>
            </a:pPr>
            <a:r>
              <a:rPr lang="en-US" sz="1100" i="1" dirty="0">
                <a:solidFill>
                  <a:srgbClr val="5A6472"/>
                </a:solidFill>
                <a:latin typeface="Calibri" pitchFamily="34" charset="0"/>
                <a:cs typeface="Amiri" pitchFamily="2" charset="-78"/>
              </a:rPr>
              <a:t>al-ma-dī-na-tu</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اللُّغَةُ</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language</a:t>
            </a:r>
            <a:endParaRPr lang="en-US" sz="1350" dirty="0"/>
          </a:p>
          <a:p>
            <a:pPr indent="0" marL="0">
              <a:buNone/>
            </a:pPr>
            <a:r>
              <a:rPr lang="en-US" sz="1100" i="1" dirty="0">
                <a:solidFill>
                  <a:srgbClr val="5A6472"/>
                </a:solidFill>
                <a:latin typeface="Calibri" pitchFamily="34" charset="0"/>
                <a:cs typeface="Amiri" pitchFamily="2" charset="-78"/>
              </a:rPr>
              <a:t>all-lu-gha-tu</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الهِوَايَةُ</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hobby</a:t>
            </a:r>
            <a:endParaRPr lang="en-US" sz="1350" dirty="0"/>
          </a:p>
          <a:p>
            <a:pPr indent="0" marL="0">
              <a:buNone/>
            </a:pPr>
            <a:r>
              <a:rPr lang="en-US" sz="1100" i="1" dirty="0">
                <a:solidFill>
                  <a:srgbClr val="5A6472"/>
                </a:solidFill>
                <a:latin typeface="Calibri" pitchFamily="34" charset="0"/>
                <a:cs typeface="Amiri" pitchFamily="2" charset="-78"/>
              </a:rPr>
              <a:t>al-hi-wā-ya-tu</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2 · SAY THE MODEL DIALOGUE · READ IT, THEN SAY IT WITHOUT LOOKING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 and retell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اسْتَمِعْ وَأَعِدْ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790688" y="2267712"/>
            <a:ext cx="3867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name is Tariq, and I am fifteen. I am from Libya.</a:t>
            </a:r>
            <a:endParaRPr lang="en-US" sz="1100" dirty="0"/>
          </a:p>
        </p:txBody>
      </p:sp>
      <p:sp>
        <p:nvSpPr>
          <p:cNvPr id="21" name="Text 18"/>
          <p:cNvSpPr txBox="1"/>
          <p:nvPr/>
        </p:nvSpPr>
        <p:spPr>
          <a:xfrm>
            <a:off x="1463040" y="2267712"/>
            <a:ext cx="61264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اسْمِي طَارِقٌ، وَعُمْرِي خَمْسَ عَشْرَةَ سَنَةً. أَنَا مِنْ لِيبْيَا.</a:t>
            </a:r>
            <a:endParaRPr lang="ar-SA" sz="2000" dirty="0"/>
          </a:p>
        </p:txBody>
      </p:sp>
      <p:sp>
        <p:nvSpPr>
          <p:cNvPr id="22" name="Text 19"/>
          <p:cNvSpPr txBox="1"/>
          <p:nvPr/>
        </p:nvSpPr>
        <p:spPr>
          <a:xfrm>
            <a:off x="566928" y="2267712"/>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790688" y="3004718"/>
            <a:ext cx="3867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live in Cardiff, and I speak Arabic and English. My hobby is swimming.</a:t>
            </a:r>
            <a:endParaRPr lang="en-US" sz="1100" dirty="0"/>
          </a:p>
        </p:txBody>
      </p:sp>
      <p:sp>
        <p:nvSpPr>
          <p:cNvPr id="25" name="Text 22"/>
          <p:cNvSpPr txBox="1"/>
          <p:nvPr/>
        </p:nvSpPr>
        <p:spPr>
          <a:xfrm>
            <a:off x="1463040" y="3004718"/>
            <a:ext cx="61264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أَسْكُنُ فِي كَارْدِيفَ، وَأَتَكَلَّمُ العَرَبِيَّةَ وَالإِنْجِلِيزِيَّةَ. هِوَايَتِي السِّبَاحَةُ.</a:t>
            </a:r>
            <a:endParaRPr lang="ar-SA" sz="2000" dirty="0"/>
          </a:p>
        </p:txBody>
      </p:sp>
      <p:sp>
        <p:nvSpPr>
          <p:cNvPr id="26" name="Text 23"/>
          <p:cNvSpPr txBox="1"/>
          <p:nvPr/>
        </p:nvSpPr>
        <p:spPr>
          <a:xfrm>
            <a:off x="566928" y="3004718"/>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790688" y="3741725"/>
            <a:ext cx="3867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His name is Tariq, and he is fifteen.</a:t>
            </a:r>
            <a:endParaRPr lang="en-US" sz="1100" dirty="0"/>
          </a:p>
        </p:txBody>
      </p:sp>
      <p:sp>
        <p:nvSpPr>
          <p:cNvPr id="29" name="Text 26"/>
          <p:cNvSpPr txBox="1"/>
          <p:nvPr/>
        </p:nvSpPr>
        <p:spPr>
          <a:xfrm>
            <a:off x="1463040" y="3741725"/>
            <a:ext cx="61264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اسْمُهُ طَارِقٌ، وَعُمْرُهُ خَمْسَ عَشْرَةَ سَنَةً.</a:t>
            </a:r>
            <a:endParaRPr lang="ar-SA" sz="2000" dirty="0"/>
          </a:p>
        </p:txBody>
      </p:sp>
      <p:sp>
        <p:nvSpPr>
          <p:cNvPr id="30" name="Text 27"/>
          <p:cNvSpPr txBox="1"/>
          <p:nvPr/>
        </p:nvSpPr>
        <p:spPr>
          <a:xfrm>
            <a:off x="566928" y="3741725"/>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790688" y="4478731"/>
            <a:ext cx="3867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is from Libya, and he lives in Cardiff.</a:t>
            </a:r>
            <a:endParaRPr lang="en-US" sz="1100" dirty="0"/>
          </a:p>
        </p:txBody>
      </p:sp>
      <p:sp>
        <p:nvSpPr>
          <p:cNvPr id="33" name="Text 30"/>
          <p:cNvSpPr txBox="1"/>
          <p:nvPr/>
        </p:nvSpPr>
        <p:spPr>
          <a:xfrm>
            <a:off x="1463040" y="4478731"/>
            <a:ext cx="61264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هُوَ مِنْ لِيبْيَا، وَيَسْكُنُ فِي كَارْدِيفَ.</a:t>
            </a:r>
            <a:endParaRPr lang="ar-SA" sz="2000" dirty="0"/>
          </a:p>
        </p:txBody>
      </p:sp>
      <p:sp>
        <p:nvSpPr>
          <p:cNvPr id="34" name="Text 31"/>
          <p:cNvSpPr txBox="1"/>
          <p:nvPr/>
        </p:nvSpPr>
        <p:spPr>
          <a:xfrm>
            <a:off x="566928" y="4478731"/>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790688" y="5215738"/>
            <a:ext cx="3867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speaks Arabic and English, and his hobby is swimming.</a:t>
            </a:r>
            <a:endParaRPr lang="en-US" sz="1100" dirty="0"/>
          </a:p>
        </p:txBody>
      </p:sp>
      <p:sp>
        <p:nvSpPr>
          <p:cNvPr id="37" name="Text 34"/>
          <p:cNvSpPr txBox="1"/>
          <p:nvPr/>
        </p:nvSpPr>
        <p:spPr>
          <a:xfrm>
            <a:off x="1463040" y="5215738"/>
            <a:ext cx="61264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يَتَكَلَّمُ العَرَبِيَّةَ وَالإِنْجِلِيزِيَّةَ، وَهِوَايَتُهُ السِّبَاحَةُ.</a:t>
            </a:r>
            <a:endParaRPr lang="ar-SA" sz="2000" dirty="0"/>
          </a:p>
        </p:txBody>
      </p:sp>
      <p:sp>
        <p:nvSpPr>
          <p:cNvPr id="38" name="Text 35"/>
          <p:cNvSpPr txBox="1"/>
          <p:nvPr/>
        </p:nvSpPr>
        <p:spPr>
          <a:xfrm>
            <a:off x="566928" y="5215738"/>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speaks (I); B listens and RETELLS (he / she). Round 2: swap. Round 3: A changes three facts; B listens with the slide hidden and retells.</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3 · QUESTION CARDS · THE LEADER ASKS, THE SPEAKER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Introduce yourself — your partner answers about YOU</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وَأَجْوِبَةٌ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38360" y="2267712"/>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سَنَةً</a:t>
            </a:r>
            <a:endParaRPr lang="ar-SA" sz="1500" dirty="0"/>
          </a:p>
        </p:txBody>
      </p:sp>
      <p:sp>
        <p:nvSpPr>
          <p:cNvPr id="23" name="Text 20"/>
          <p:cNvSpPr txBox="1"/>
          <p:nvPr/>
        </p:nvSpPr>
        <p:spPr>
          <a:xfrm>
            <a:off x="6995160" y="2267712"/>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اسْمُهُ / اسْمُهَا … وَعُمْرُهُ / عُمْرُهَا …</a:t>
            </a:r>
            <a:endParaRPr lang="ar-SA" sz="1600" dirty="0"/>
          </a:p>
        </p:txBody>
      </p:sp>
      <p:sp>
        <p:nvSpPr>
          <p:cNvPr id="24" name="Text 21"/>
          <p:cNvSpPr txBox="1"/>
          <p:nvPr/>
        </p:nvSpPr>
        <p:spPr>
          <a:xfrm>
            <a:off x="4636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Listen to your partner: what is his / her name? age?</a:t>
            </a:r>
            <a:endParaRPr lang="en-US" sz="1100" dirty="0"/>
          </a:p>
        </p:txBody>
      </p:sp>
      <p:sp>
        <p:nvSpPr>
          <p:cNvPr id="25" name="Text 22"/>
          <p:cNvSpPr txBox="1"/>
          <p:nvPr/>
        </p:nvSpPr>
        <p:spPr>
          <a:xfrm>
            <a:off x="1051560" y="2267712"/>
            <a:ext cx="3383280" cy="68214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اسْمَعْ: «اسْمِي … وَعُمْرِي …» — مَا اسْمُهُ؟ كَمْ عُمْرُهُ؟</a:t>
            </a:r>
            <a:endParaRPr lang="ar-SA" sz="1550" dirty="0"/>
          </a:p>
        </p:txBody>
      </p:sp>
      <p:sp>
        <p:nvSpPr>
          <p:cNvPr id="26" name="Text 23"/>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38360" y="300471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وَيَسْكُنُ / وَتَسْكُنُ فِي …</a:t>
            </a:r>
            <a:endParaRPr lang="ar-SA" sz="1500" dirty="0"/>
          </a:p>
        </p:txBody>
      </p:sp>
      <p:sp>
        <p:nvSpPr>
          <p:cNvPr id="31" name="Text 28"/>
          <p:cNvSpPr txBox="1"/>
          <p:nvPr/>
        </p:nvSpPr>
        <p:spPr>
          <a:xfrm>
            <a:off x="6995160" y="300471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هُوَ / هِيَ مِنْ …</a:t>
            </a:r>
            <a:endParaRPr lang="ar-SA" sz="1600" dirty="0"/>
          </a:p>
        </p:txBody>
      </p:sp>
      <p:sp>
        <p:nvSpPr>
          <p:cNvPr id="32" name="Text 29"/>
          <p:cNvSpPr txBox="1"/>
          <p:nvPr/>
        </p:nvSpPr>
        <p:spPr>
          <a:xfrm>
            <a:off x="4636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is he / she from?</a:t>
            </a:r>
            <a:endParaRPr lang="en-US" sz="1100" dirty="0"/>
          </a:p>
        </p:txBody>
      </p:sp>
      <p:sp>
        <p:nvSpPr>
          <p:cNvPr id="33" name="Text 30"/>
          <p:cNvSpPr txBox="1"/>
          <p:nvPr/>
        </p:nvSpPr>
        <p:spPr>
          <a:xfrm>
            <a:off x="1051560" y="300471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أَيْنَ هُوَ / هِيَ؟</a:t>
            </a:r>
            <a:endParaRPr lang="ar-SA" sz="1700" dirty="0"/>
          </a:p>
        </p:txBody>
      </p:sp>
      <p:sp>
        <p:nvSpPr>
          <p:cNvPr id="34" name="Text 31"/>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38360" y="3741725"/>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 أَيْضًا</a:t>
            </a:r>
            <a:endParaRPr lang="ar-SA" sz="1500" dirty="0"/>
          </a:p>
        </p:txBody>
      </p:sp>
      <p:sp>
        <p:nvSpPr>
          <p:cNvPr id="39" name="Text 36"/>
          <p:cNvSpPr txBox="1"/>
          <p:nvPr/>
        </p:nvSpPr>
        <p:spPr>
          <a:xfrm>
            <a:off x="6995160" y="3741725"/>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يَتَكَلَّمُ / تَتَكَلَّمُ …</a:t>
            </a:r>
            <a:endParaRPr lang="ar-SA" sz="1600" dirty="0"/>
          </a:p>
        </p:txBody>
      </p:sp>
      <p:sp>
        <p:nvSpPr>
          <p:cNvPr id="40" name="Text 37"/>
          <p:cNvSpPr txBox="1"/>
          <p:nvPr/>
        </p:nvSpPr>
        <p:spPr>
          <a:xfrm>
            <a:off x="4636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language does he / she speak?</a:t>
            </a:r>
            <a:endParaRPr lang="en-US" sz="1100" dirty="0"/>
          </a:p>
        </p:txBody>
      </p:sp>
      <p:sp>
        <p:nvSpPr>
          <p:cNvPr id="41" name="Text 38"/>
          <p:cNvSpPr txBox="1"/>
          <p:nvPr/>
        </p:nvSpPr>
        <p:spPr>
          <a:xfrm>
            <a:off x="1051560" y="3741725"/>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 لُغَةٍ يَتَكَلَّمُ / تَتَكَلَّمُ؟</a:t>
            </a:r>
            <a:endParaRPr lang="ar-SA" sz="1700" dirty="0"/>
          </a:p>
        </p:txBody>
      </p:sp>
      <p:sp>
        <p:nvSpPr>
          <p:cNvPr id="42" name="Text 39"/>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38360" y="4478731"/>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وَيُحِبُّ / وَتُحِبُّ …</a:t>
            </a:r>
            <a:endParaRPr lang="ar-SA" sz="1500" dirty="0"/>
          </a:p>
        </p:txBody>
      </p:sp>
      <p:sp>
        <p:nvSpPr>
          <p:cNvPr id="47" name="Text 44"/>
          <p:cNvSpPr txBox="1"/>
          <p:nvPr/>
        </p:nvSpPr>
        <p:spPr>
          <a:xfrm>
            <a:off x="6995160" y="4478731"/>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هِوَايَتُهُ / هِوَايَتُهَا …</a:t>
            </a:r>
            <a:endParaRPr lang="ar-SA" sz="1600" dirty="0"/>
          </a:p>
        </p:txBody>
      </p:sp>
      <p:sp>
        <p:nvSpPr>
          <p:cNvPr id="48" name="Text 45"/>
          <p:cNvSpPr txBox="1"/>
          <p:nvPr/>
        </p:nvSpPr>
        <p:spPr>
          <a:xfrm>
            <a:off x="4636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his / her hobby?</a:t>
            </a:r>
            <a:endParaRPr lang="en-US" sz="1100" dirty="0"/>
          </a:p>
        </p:txBody>
      </p:sp>
      <p:sp>
        <p:nvSpPr>
          <p:cNvPr id="49" name="Text 46"/>
          <p:cNvSpPr txBox="1"/>
          <p:nvPr/>
        </p:nvSpPr>
        <p:spPr>
          <a:xfrm>
            <a:off x="1051560" y="4478731"/>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هِوَايَتُهُ / هِوَايَتُهَا؟</a:t>
            </a:r>
            <a:endParaRPr lang="ar-SA" sz="1700" dirty="0"/>
          </a:p>
        </p:txBody>
      </p:sp>
      <p:sp>
        <p:nvSpPr>
          <p:cNvPr id="50" name="Text 47"/>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738360" y="521573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وَأَسْكُنُ فِي …</a:t>
            </a:r>
            <a:endParaRPr lang="ar-SA" sz="1500" dirty="0"/>
          </a:p>
        </p:txBody>
      </p:sp>
      <p:sp>
        <p:nvSpPr>
          <p:cNvPr id="53" name="Text 50"/>
          <p:cNvSpPr txBox="1"/>
          <p:nvPr/>
        </p:nvSpPr>
        <p:spPr>
          <a:xfrm>
            <a:off x="6995160" y="521573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صَحِيحٌ. / خَطَأٌ، أَنَا مِنْ …</a:t>
            </a:r>
            <a:endParaRPr lang="ar-SA" sz="1600" dirty="0"/>
          </a:p>
        </p:txBody>
      </p:sp>
      <p:sp>
        <p:nvSpPr>
          <p:cNvPr id="54" name="Text 51"/>
          <p:cNvSpPr txBox="1"/>
          <p:nvPr/>
        </p:nvSpPr>
        <p:spPr>
          <a:xfrm>
            <a:off x="4636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True or false? (the Leader says a fact about the Speaker)</a:t>
            </a:r>
            <a:endParaRPr lang="en-US" sz="1100" dirty="0"/>
          </a:p>
        </p:txBody>
      </p:sp>
      <p:sp>
        <p:nvSpPr>
          <p:cNvPr id="55" name="Text 52"/>
          <p:cNvSpPr txBox="1"/>
          <p:nvPr/>
        </p:nvSpPr>
        <p:spPr>
          <a:xfrm>
            <a:off x="1051560" y="521573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صَحِيحٌ أَمْ خَطَأٌ؟ «هُوَ مِنْ مِصْرَ.»</a:t>
            </a:r>
            <a:endParaRPr lang="ar-SA" sz="1700" dirty="0"/>
          </a:p>
        </p:txBody>
      </p:sp>
      <p:sp>
        <p:nvSpPr>
          <p:cNvPr id="56" name="Text 53"/>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Each Speaker answers every question. Core: a full sentence from the starter. Develop: add the “more” part. Stretch: add a reason with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 second detail. Swap after each question.</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Card — interview a new member, then report back</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مُقَابَلَةٌ ثُمَّ تَقْرِيرٌ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75320" y="2267712"/>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اسْمُهُ / اسْمُهَا …</a:t>
            </a:r>
            <a:endParaRPr lang="ar-SA" sz="1600" dirty="0"/>
          </a:p>
        </p:txBody>
      </p:sp>
      <p:sp>
        <p:nvSpPr>
          <p:cNvPr id="22" name="Text 19"/>
          <p:cNvSpPr txBox="1"/>
          <p:nvPr/>
        </p:nvSpPr>
        <p:spPr>
          <a:xfrm>
            <a:off x="500176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 the name you heard.</a:t>
            </a:r>
            <a:endParaRPr lang="en-US" sz="1100" dirty="0"/>
          </a:p>
        </p:txBody>
      </p:sp>
      <p:sp>
        <p:nvSpPr>
          <p:cNvPr id="23" name="Text 20"/>
          <p:cNvSpPr txBox="1"/>
          <p:nvPr/>
        </p:nvSpPr>
        <p:spPr>
          <a:xfrm>
            <a:off x="1051560" y="2267712"/>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اسْمُ العُضْوِ الجَدِيدِ؟</a:t>
            </a:r>
            <a:endParaRPr lang="ar-SA" sz="1700" dirty="0"/>
          </a:p>
        </p:txBody>
      </p:sp>
      <p:sp>
        <p:nvSpPr>
          <p:cNvPr id="24" name="Text 21"/>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75320" y="3054096"/>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 عُمْرُهَا … سَنَةً</a:t>
            </a:r>
            <a:endParaRPr lang="ar-SA" sz="1600" dirty="0"/>
          </a:p>
        </p:txBody>
      </p:sp>
      <p:sp>
        <p:nvSpPr>
          <p:cNvPr id="29" name="Text 26"/>
          <p:cNvSpPr txBox="1"/>
          <p:nvPr/>
        </p:nvSpPr>
        <p:spPr>
          <a:xfrm>
            <a:off x="500176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 the age.</a:t>
            </a:r>
            <a:endParaRPr lang="en-US" sz="1100" dirty="0"/>
          </a:p>
        </p:txBody>
      </p:sp>
      <p:sp>
        <p:nvSpPr>
          <p:cNvPr id="30" name="Text 27"/>
          <p:cNvSpPr txBox="1"/>
          <p:nvPr/>
        </p:nvSpPr>
        <p:spPr>
          <a:xfrm>
            <a:off x="1051560" y="3054096"/>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عُمْرُهَا؟</a:t>
            </a:r>
            <a:endParaRPr lang="ar-SA" sz="1700" dirty="0"/>
          </a:p>
        </p:txBody>
      </p:sp>
      <p:sp>
        <p:nvSpPr>
          <p:cNvPr id="31" name="Text 28"/>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275320" y="3840480"/>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أَيْنَ ← هِيَ مِنْ … وَتَسْكُنُ فِي …</a:t>
            </a:r>
            <a:endParaRPr lang="ar-SA" sz="1600" dirty="0"/>
          </a:p>
        </p:txBody>
      </p:sp>
      <p:sp>
        <p:nvSpPr>
          <p:cNvPr id="36" name="Text 33"/>
          <p:cNvSpPr txBox="1"/>
          <p:nvPr/>
        </p:nvSpPr>
        <p:spPr>
          <a:xfrm>
            <a:off x="500176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 country and city.</a:t>
            </a:r>
            <a:endParaRPr lang="en-US" sz="1100" dirty="0"/>
          </a:p>
        </p:txBody>
      </p:sp>
      <p:sp>
        <p:nvSpPr>
          <p:cNvPr id="37" name="Text 34"/>
          <p:cNvSpPr txBox="1"/>
          <p:nvPr/>
        </p:nvSpPr>
        <p:spPr>
          <a:xfrm>
            <a:off x="1051560" y="3840480"/>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أَيْنَ هِيَ؟ وَأَيْنَ تَسْكُنُ؟</a:t>
            </a:r>
            <a:endParaRPr lang="ar-SA" sz="1700" dirty="0"/>
          </a:p>
        </p:txBody>
      </p:sp>
      <p:sp>
        <p:nvSpPr>
          <p:cNvPr id="38" name="Text 35"/>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8275320" y="4626864"/>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تُحِبُّ … وَتَتَكَلَّمُ …</a:t>
            </a:r>
            <a:endParaRPr lang="ar-SA" sz="1600" dirty="0"/>
          </a:p>
        </p:txBody>
      </p:sp>
      <p:sp>
        <p:nvSpPr>
          <p:cNvPr id="43" name="Text 40"/>
          <p:cNvSpPr txBox="1"/>
          <p:nvPr/>
        </p:nvSpPr>
        <p:spPr>
          <a:xfrm>
            <a:off x="500176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 her hobby and languages.</a:t>
            </a:r>
            <a:endParaRPr lang="en-US" sz="1100" dirty="0"/>
          </a:p>
        </p:txBody>
      </p:sp>
      <p:sp>
        <p:nvSpPr>
          <p:cNvPr id="44" name="Text 41"/>
          <p:cNvSpPr txBox="1"/>
          <p:nvPr/>
        </p:nvSpPr>
        <p:spPr>
          <a:xfrm>
            <a:off x="1051560" y="4626864"/>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تُحِبُّ؟</a:t>
            </a:r>
            <a:endParaRPr lang="ar-SA" sz="1700" dirty="0"/>
          </a:p>
        </p:txBody>
      </p:sp>
      <p:sp>
        <p:nvSpPr>
          <p:cNvPr id="45" name="Text 42"/>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Before the card: the Speaker interviews the Coach for 1 minute (name, age, country, city, hobby, language) and notes the facts. Then the Leader asks the card questions and the Speaker REPORTS. Swap roles.</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SHORT TALK · 30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30 seconds: who is my partner?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زَمِيلِي؟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5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30 seconds — no stopping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Introduce your partner to the room in 30 seconds, using only what you heard in today’s tasks — in the he / she form.</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3–4 key words,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Leader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until everyone has spoken.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Three facts: name, age, country.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Five facts, joined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Six facts, plus one thing you have in common: </a:t>
            </a:r>
            <a:pPr algn="l" indent="0" marL="0">
              <a:buNone/>
            </a:pPr>
            <a:r>
              <a:rPr lang="ar-SA" altLang="en-US" sz="1500" dirty="0">
                <a:solidFill>
                  <a:srgbClr val="1F2A37"/>
                </a:solidFill>
                <a:latin typeface="Amiri" pitchFamily="2" charset="-78"/>
                <a:ea typeface="Amiri" pitchFamily="2" charset="-78"/>
                <a:cs typeface="Amiri" pitchFamily="2" charset="-78"/>
              </a:rPr>
              <a:t>هُوَ … وَأَنَا … أَيْضًا</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هٰذَا زَمِيلِي · هٰذِهِ زَمِيلَتِي</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this is my classmate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اسْمُهُ · اسْمُهَا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his · her name is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يَسْكُنُ · تَسْكُنُ فِي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he · she lives in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 وَأَنَا أَيْضًا</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 and me too</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B · STEP 6 · SENTENCE BUILDER · CHOOSE A OR B IN EACH COLUMN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 · practice room</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He said: “I live in Leeds.” → He lives in Leeds.</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هُوَ</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يَسْكُنُ</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أَسْكُنُ</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لِيدْزَ.</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إِلَى لِيدْزَ.</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She said: “My name is Hala.” → Her name is Hala.</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اسْمُهَا</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اسْمِي</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هَالَةُ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هَالَةَ</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algn="l" indent="0" marL="0">
              <a:buNone/>
            </a:pPr>
            <a:r>
              <a:rPr lang="en-US" sz="1800" dirty="0">
                <a:solidFill>
                  <a:srgbClr val="1F2A37"/>
                </a:solidFill>
                <a:latin typeface="Calibri" pitchFamily="34" charset="0"/>
                <a:cs typeface="Amiri" pitchFamily="2" charset="-78"/>
              </a:rPr>
              <a:t>.</a:t>
            </a:r>
            <a:endParaRPr lang="en-US"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She said: “I speak Urdu.” → She speaks Urdu.</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تَتَكَلَّمُ</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أَتَكَلَّمُ</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الأُرْدِيَّةَ</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الأُرْدِيَّةُ</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أَيْضًا.</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جِدًّا.</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6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 · practice room</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He said: “I live in Leeds.” → He lives in Leeds.</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Retell in the third person: </a:t>
            </a:r>
            <a:pPr algn="l" indent="0" marL="0">
              <a:buNone/>
            </a:pPr>
            <a:r>
              <a:rPr lang="ar-SA" altLang="en-US" sz="1350" dirty="0">
                <a:solidFill>
                  <a:srgbClr val="5A6472"/>
                </a:solidFill>
                <a:latin typeface="Amiri" pitchFamily="2" charset="-78"/>
                <a:ea typeface="Amiri" pitchFamily="2" charset="-78"/>
                <a:cs typeface="Amiri" pitchFamily="2" charset="-78"/>
              </a:rPr>
              <a:t>أَسْكُنُ</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يَسْكُنُ</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هُوَ يَسْكُنُ فِي لِيدْزَ.</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She said: “My name is Hala.” → Her name is Hala.</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name → her name: </a:t>
            </a:r>
            <a:pPr algn="l" indent="0" marL="0">
              <a:buNone/>
            </a:pPr>
            <a:r>
              <a:rPr lang="ar-SA" altLang="en-US" sz="1350" dirty="0">
                <a:solidFill>
                  <a:srgbClr val="5A6472"/>
                </a:solidFill>
                <a:latin typeface="Amiri" pitchFamily="2" charset="-78"/>
                <a:ea typeface="Amiri" pitchFamily="2" charset="-78"/>
                <a:cs typeface="Amiri" pitchFamily="2" charset="-78"/>
              </a:rPr>
              <a:t>اسْمِي</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اسْمُهَا</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اسْمُهَا هَالَةُ .</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She said: “I speak Urdu.” → She speaks Urdu.</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speak → she speaks: </a:t>
            </a:r>
            <a:pPr algn="l" indent="0" marL="0">
              <a:buNone/>
            </a:pPr>
            <a:r>
              <a:rPr lang="ar-SA" altLang="en-US" sz="1350" dirty="0">
                <a:solidFill>
                  <a:srgbClr val="5A6472"/>
                </a:solidFill>
                <a:latin typeface="Amiri" pitchFamily="2" charset="-78"/>
                <a:ea typeface="Amiri" pitchFamily="2" charset="-78"/>
                <a:cs typeface="Amiri" pitchFamily="2" charset="-78"/>
              </a:rPr>
              <a:t>أَتَكَلَّمُ</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تَتَكَلَّمُ</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تَتَكَلَّمُ الأُرْدِيَّةَ أَيْضًا.</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7 · SPOT AND FIX · MISTAKES STUDENTS OFTEN MAKE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2850" b="1" dirty="0">
                <a:solidFill>
                  <a:srgbClr val="B83227"/>
                </a:solidFill>
                <a:latin typeface="Amiri" pitchFamily="2" charset="-78"/>
                <a:ea typeface="Amiri" pitchFamily="2" charset="-78"/>
                <a:cs typeface="Amiri" pitchFamily="2" charset="-78"/>
              </a:rPr>
              <a:t>سَلْمَى: «أَسْكُنُ فِي بِرْمِنْغْهَامَ.» ← هِيَ أَسْكُنُ فِي بِرْمِنْغْهَامَ.</a:t>
            </a:r>
            <a:endParaRPr lang="ar-SA" sz="285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Retell it for her.</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خَالِدٌ: «عُمْرِي ١٤ سَنَةً.» ← عُمْرِي أَرْبَعَ عَشْرَةَ سَنَةً.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Whose age?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هِوَايَتُهُ السِّبَاحَةُ.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About Laila — Laila is a girl.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سَلْمَى: «أَسْكُنُ فِي بِرْمِنْغْهَامَ.» ← هِيَ أَسْكُنُ فِي بِرْمِنْغْهَامَ.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هِيَ تَسْكُنُ فِي بِرْمِنْغْهَامَ.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She → ta-: </a:t>
            </a:r>
            <a:pPr algn="l" indent="0" marL="0">
              <a:buNone/>
            </a:pPr>
            <a:r>
              <a:rPr lang="ar-SA" altLang="en-US" sz="1500" b="1" dirty="0">
                <a:solidFill>
                  <a:srgbClr val="1B3B6F"/>
                </a:solidFill>
                <a:latin typeface="Amiri" pitchFamily="2" charset="-78"/>
                <a:ea typeface="Amiri" pitchFamily="2" charset="-78"/>
                <a:cs typeface="Amiri" pitchFamily="2" charset="-78"/>
              </a:rPr>
              <a:t>تَسْكُنُ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خَالِدٌ: «عُمْرِي ١٤ سَنَةً.» ← عُمْرِي أَرْبَعَ عَشْرَةَ سَنَةً.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عُمْرُهُ أَرْبَعَ عَشْرَةَ سَنَةً.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His age → </a:t>
            </a:r>
            <a:pPr algn="l" indent="0" marL="0">
              <a:buNone/>
            </a:pPr>
            <a:r>
              <a:rPr lang="ar-SA" altLang="en-US" sz="1500" b="1" dirty="0">
                <a:solidFill>
                  <a:srgbClr val="1B3B6F"/>
                </a:solidFill>
                <a:latin typeface="Amiri" pitchFamily="2" charset="-78"/>
                <a:ea typeface="Amiri" pitchFamily="2" charset="-78"/>
                <a:cs typeface="Amiri" pitchFamily="2" charset="-78"/>
              </a:rPr>
              <a:t>عُمْرُهُ</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هِوَايَتُهُ السِّبَاحَةُ.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هِوَايَتُهَا السِّبَاحَةُ.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Her → -hā.</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 · practice room</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ea typeface="Amiri" pitchFamily="2" charset="-78"/>
                <a:cs typeface="Amiri" pitchFamily="2" charset="-78"/>
              </a:rPr>
              <a:t>يَسْكُنُ / تَسْكُنُ فِي ______ ، وَيَتَكَلَّمُ / وَتَتَكَلَّمُ ______ .</a:t>
            </a:r>
            <a:endParaRPr lang="ar-SA" sz="13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lives in …, and speaks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 هِيَ يُحِبُّ / تُحِبُّ ______ ، وَأَنَا أَيْضًا!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likes …, and so do I!</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زَمِيلِي / زَمِيلَتِي اسْمُهُ / اسْمُهَا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classmate’s name is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عُمْرُهُ / عُمْرُهَا ______ سَنَةً.</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 years old.</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 هِيَ مِنْ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from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هِوَايَتُهُ / هِوَايَتُهَا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 her hobby is …</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اسْمُهُ · اسْمُهَا  ·  عُمْرُهُ · عُمْرُهَا  ·  يَسْكُنُ · تَسْكُنُ  ·  يَتَكَلَّمُ · تَتَكَلَّمُ  ·  هِوَايَتُهُ · هِوَايَتُهَا  ·  زَمِيلِي · زَمِيلَتِي  ·  وَأَنَا أَيْضًا  ·  أَيْضًا</a:t>
            </a:r>
            <a:endParaRPr lang="ar-SA" sz="16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ABOUT 40–60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Report: what I heard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تَقْرِيرٌ: مَاذَا سَمِعْتُ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 · practice room</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828800"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8288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SHORT TEXT</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short report (about 35–50 words) for the class blog about the partner you interviewed today. Include: • name and age • country and city • languages • hobby • one thing you have in common.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Words from today’s word bank.</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اسْمُهُ / اسْمُهَا … وَعُمْرُهُ / وَعُمْرُهَا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his / her name is … and he / she is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 هِيَ مِنْ … وَيَسْكُنُ / وَتَسْكُنُ فِي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 she is from … and lives in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يَتَكَلَّمُ / تَتَكَلَّمُ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 she speaks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 هِيَ يُحِبُّ … وَأَنَا أَيْضًا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 she likes … and so do I</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 the facts in the he / she form (not “I”)?</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the right endings for him (-hu, ya-) and her (-hā, ta-)?</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800600" y="2286000"/>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اسْمُهَا نَادِيَةُ.</a:t>
            </a:r>
            <a:endParaRPr lang="ar-SA" sz="1800" dirty="0"/>
          </a:p>
        </p:txBody>
      </p:sp>
      <p:sp>
        <p:nvSpPr>
          <p:cNvPr id="21" name="Text 18"/>
          <p:cNvSpPr txBox="1"/>
          <p:nvPr/>
        </p:nvSpPr>
        <p:spPr>
          <a:xfrm>
            <a:off x="4754880" y="2706624"/>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Her name is Nadia.</a:t>
            </a:r>
            <a:endParaRPr lang="en-US" sz="950" dirty="0"/>
          </a:p>
        </p:txBody>
      </p:sp>
      <p:sp>
        <p:nvSpPr>
          <p:cNvPr id="22" name="Text 19"/>
          <p:cNvSpPr txBox="1"/>
          <p:nvPr/>
        </p:nvSpPr>
        <p:spPr>
          <a:xfrm>
            <a:off x="1051560"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اسْمُ العُضْوِ الجَدِيدِ؟</a:t>
            </a:r>
            <a:endParaRPr lang="ar-SA" sz="16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800600" y="3072384"/>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عُمْرُهَا أَرْبَعَ عَشْرَةَ سَنَةً.</a:t>
            </a:r>
            <a:endParaRPr lang="ar-SA" sz="1800" dirty="0"/>
          </a:p>
        </p:txBody>
      </p:sp>
      <p:sp>
        <p:nvSpPr>
          <p:cNvPr id="26" name="Text 23"/>
          <p:cNvSpPr txBox="1"/>
          <p:nvPr/>
        </p:nvSpPr>
        <p:spPr>
          <a:xfrm>
            <a:off x="4754880" y="3493008"/>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She is fourteen.</a:t>
            </a:r>
            <a:endParaRPr lang="en-US" sz="950" dirty="0"/>
          </a:p>
        </p:txBody>
      </p:sp>
      <p:sp>
        <p:nvSpPr>
          <p:cNvPr id="27" name="Text 24"/>
          <p:cNvSpPr txBox="1"/>
          <p:nvPr/>
        </p:nvSpPr>
        <p:spPr>
          <a:xfrm>
            <a:off x="1051560"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عُمْرُهَا؟</a:t>
            </a:r>
            <a:endParaRPr lang="ar-SA" sz="16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800600" y="3858768"/>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مِنَ الجَزَائِرِ، وَتَسْكُنُ فِي لُوتُنَ.</a:t>
            </a:r>
            <a:endParaRPr lang="ar-SA" sz="1800" dirty="0"/>
          </a:p>
        </p:txBody>
      </p:sp>
      <p:sp>
        <p:nvSpPr>
          <p:cNvPr id="31" name="Text 28"/>
          <p:cNvSpPr txBox="1"/>
          <p:nvPr/>
        </p:nvSpPr>
        <p:spPr>
          <a:xfrm>
            <a:off x="4754880" y="4279392"/>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She is from Algeria, and she lives in Luton.</a:t>
            </a:r>
            <a:endParaRPr lang="en-US" sz="950" dirty="0"/>
          </a:p>
        </p:txBody>
      </p:sp>
      <p:sp>
        <p:nvSpPr>
          <p:cNvPr id="32" name="Text 29"/>
          <p:cNvSpPr txBox="1"/>
          <p:nvPr/>
        </p:nvSpPr>
        <p:spPr>
          <a:xfrm>
            <a:off x="1051560"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أَيْنَ هِيَ؟ وَأَيْنَ تَسْكُنُ؟</a:t>
            </a:r>
            <a:endParaRPr lang="ar-SA" sz="16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4800600" y="4645152"/>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تُحِبُّ كُرَةَ السَّلَّةِ، وَتَتَكَلَّمُ العَرَبِيَّةَ وَالفَرَنْسِيَّةَ.</a:t>
            </a:r>
            <a:endParaRPr lang="ar-SA" sz="1800" dirty="0"/>
          </a:p>
        </p:txBody>
      </p:sp>
      <p:sp>
        <p:nvSpPr>
          <p:cNvPr id="36" name="Text 33"/>
          <p:cNvSpPr txBox="1"/>
          <p:nvPr/>
        </p:nvSpPr>
        <p:spPr>
          <a:xfrm>
            <a:off x="4754880" y="5065776"/>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She likes basketball, and she speaks Arabic and French.</a:t>
            </a:r>
            <a:endParaRPr lang="en-US" sz="950" dirty="0"/>
          </a:p>
        </p:txBody>
      </p:sp>
      <p:sp>
        <p:nvSpPr>
          <p:cNvPr id="37" name="Text 34"/>
          <p:cNvSpPr txBox="1"/>
          <p:nvPr/>
        </p:nvSpPr>
        <p:spPr>
          <a:xfrm>
            <a:off x="1051560" y="4626864"/>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تُحِبُّ؟</a:t>
            </a:r>
            <a:endParaRPr lang="ar-SA" sz="1600" dirty="0"/>
          </a:p>
        </p:txBody>
      </p:sp>
      <p:sp>
        <p:nvSpPr>
          <p:cNvPr id="38" name="Text 35"/>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Choose one phrase you did not use and say it aloud.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 · practice room</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زَمِيلِي اسْمُهُ بِلَالٌ، وَعُمْرُهُ ثَلَاثَ عَشْرَةَ سَنَةً. هُوَ مِنْ بَنْغْلَادِيش، وَيَسْكُنُ فِي لَنْدَنَ. يَتَكَلَّمُ البَنْغَالِيَّةَ وَالإِنْجِلِيزِيَّةَ، وَيَفْهَمُ العَرَبِيَّةَ قَلِيلًا. هِوَايَتُهُ كُرَةُ القَدَمِ، وَفَرِيقُهُ المُفَضَّلُ أَرْسِنَالُ. هُوَ يُحِبُّ الرَّسْمَ أَيْضًا، وَأَنَا أُحِبُّ الرَّسْمَ أَيْضًا! بِلَالٌ لَطِيفٌ وَمَرِحٌ جِدًّا.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classmate’s name is Bilal, and he is thirteen. He is from Bangladesh, and he lives in London. He speaks Bengali and English, and understands a little Arabic. His hobby is football, and his favourite team is Arsenal. He likes drawing too — and so do I! Bilal is very kind and funny.”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اسْمُهُ بِلَالٌ</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وَيَسْكُنُ فِي لَنْدَنَ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يَتَكَلَّمُ البَنْغَالِيَّةَ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هِوَايَتُهُ كُرَةُ القَدَمِ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F2-L09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F2-L09 · practice room</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questions and the role-play tasks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today’s key structure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practised it yourselves!</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00" b="1" dirty="0">
                <a:solidFill>
                  <a:srgbClr val="FFFFFF"/>
                </a:solidFill>
                <a:latin typeface="Cambria" pitchFamily="34" charset="0"/>
                <a:cs typeface="Amiri" pitchFamily="2" charset="-78"/>
              </a:rPr>
              <a:t>F2-L10 · Greetings and Identity in the Arab World</a:t>
            </a:r>
            <a:endParaRPr lang="en-US" sz="20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التَّحِيَّاتُ وَالهُوِيَّةُ فِي العَالَمِ العَرَبِيِّ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say it, then write it — full sentences,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F2-L09 · Practice Room — Listening to Personal Introductions</dc:title>
  <dc:subject>PptxGenJS Presentation</dc:subject>
  <dc:creator>Al Madina Online School · Arabic Department</dc:creator>
  <cp:lastModifiedBy>Al Madina Online School · Arabic Department</cp:lastModifiedBy>
  <cp:revision>1</cp:revision>
  <dcterms:created xsi:type="dcterms:W3CDTF">2026-10-25T18:34:59Z</dcterms:created>
  <dcterms:modified xsi:type="dcterms:W3CDTF">2026-10-25T18:34:59Z</dcterms:modified>
</cp:coreProperties>
</file>