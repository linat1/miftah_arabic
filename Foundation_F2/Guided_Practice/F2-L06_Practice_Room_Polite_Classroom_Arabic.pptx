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F2-L06 (Polite Classroom Arabic) — new practice tasks built on the lesson’s own word bank and grammar (min faḍlika / min faḍliki; hal yumkinu an …?; tafaḍḍal / tafaḍḍalī; apologising and thanking).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كِتَابُكِ · تَفَضَّلِي · عِنْدَكِ — and the Speaker says أَنَا آسِفَةٌ; to a female teacher: يَا أُسْتَاذَةُ · أَعِيدِي. Language: anā āsifun / āsifatun · laysa maʿī · shukran jazīlan · hal yumkinu an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Polite Classroom Arabic</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لُغَةُ الأَدَبِ فِي الصَّفِّ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with polite classroom Arabic: say the polite phrases, act a short dialogue, answer request cards, do a role-play card borrowing things in class, give a 30-second polite routine, then build, fix and write a short polite message to a teacher.</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F2-L06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Please, thank you, sorry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a:t>
            </a:r>
            <a:endParaRPr lang="en-US" sz="1350" dirty="0"/>
          </a:p>
          <a:p>
            <a:pPr indent="0" marL="0">
              <a:buNone/>
            </a:pPr>
            <a:r>
              <a:rPr lang="en-US" sz="1100" i="1" dirty="0">
                <a:solidFill>
                  <a:srgbClr val="5A6472"/>
                </a:solidFill>
                <a:latin typeface="Calibri" pitchFamily="34" charset="0"/>
                <a:cs typeface="Amiri" pitchFamily="2" charset="-78"/>
              </a:rPr>
              <a:t>min faḍ-li-ka · -ki · -kum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sound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complete polite response.</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sound ×2</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 جَزِيلًا</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 very much</a:t>
            </a:r>
            <a:endParaRPr lang="en-US" sz="1350" dirty="0"/>
          </a:p>
          <a:p>
            <a:pPr indent="0" marL="0">
              <a:buNone/>
            </a:pPr>
            <a:r>
              <a:rPr lang="en-US" sz="1100" i="1" dirty="0">
                <a:solidFill>
                  <a:srgbClr val="5A6472"/>
                </a:solidFill>
                <a:latin typeface="Calibri" pitchFamily="34" charset="0"/>
                <a:cs typeface="Amiri" pitchFamily="2" charset="-78"/>
              </a:rPr>
              <a:t>shuk-ran ja-zī-lan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جَزِيلًا</a:t>
            </a:r>
            <a:pPr algn="l" indent="0" marL="0">
              <a:buNone/>
            </a:pPr>
            <a:r>
              <a:rPr lang="en-US" sz="1000" i="1" dirty="0">
                <a:solidFill>
                  <a:srgbClr val="8A6D1E"/>
                </a:solidFill>
                <a:latin typeface="Calibri" pitchFamily="34" charset="0"/>
                <a:cs typeface="Amiri" pitchFamily="2" charset="-78"/>
              </a:rPr>
              <a:t> strengthens the thanks.</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you’re welcome / excuse me</a:t>
            </a:r>
            <a:endParaRPr lang="en-US" sz="1350" dirty="0"/>
          </a:p>
          <a:p>
            <a:pPr indent="0" marL="0">
              <a:buNone/>
            </a:pPr>
            <a:r>
              <a:rPr lang="en-US" sz="1100" i="1" dirty="0">
                <a:solidFill>
                  <a:srgbClr val="5A6472"/>
                </a:solidFill>
                <a:latin typeface="Calibri" pitchFamily="34" charset="0"/>
                <a:cs typeface="Amiri" pitchFamily="2" charset="-78"/>
              </a:rPr>
              <a:t>ʿaf-wan</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context tells you which meaning.</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نَعَمْ · لَا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 · no</a:t>
            </a:r>
            <a:endParaRPr lang="en-US" sz="1350" dirty="0"/>
          </a:p>
          <a:p>
            <a:pPr indent="0" marL="0">
              <a:buNone/>
            </a:pPr>
            <a:r>
              <a:rPr lang="en-US" sz="1100" i="1" dirty="0">
                <a:solidFill>
                  <a:srgbClr val="5A6472"/>
                </a:solidFill>
                <a:latin typeface="Calibri" pitchFamily="34" charset="0"/>
                <a:cs typeface="Amiri" pitchFamily="2" charset="-78"/>
              </a:rPr>
              <a:t>na-ʿam · lā</a:t>
            </a:r>
            <a:endParaRPr lang="en-US" sz="1350" dirty="0"/>
          </a:p>
        </p:txBody>
      </p:sp>
      <p:sp>
        <p:nvSpPr>
          <p:cNvPr id="72" name="Text 6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لَا</a:t>
            </a:r>
            <a:pPr algn="l" indent="0" marL="0">
              <a:buNone/>
            </a:pPr>
            <a:r>
              <a:rPr lang="en-US" sz="1000" i="1" dirty="0">
                <a:solidFill>
                  <a:srgbClr val="8A6D1E"/>
                </a:solidFill>
                <a:latin typeface="Calibri" pitchFamily="34" charset="0"/>
                <a:cs typeface="Amiri" pitchFamily="2" charset="-78"/>
              </a:rPr>
              <a:t> also makes “not”: </a:t>
            </a:r>
            <a:pPr algn="l" indent="0" marL="0">
              <a:buNone/>
            </a:pPr>
            <a:r>
              <a:rPr lang="ar-SA" altLang="en-US" sz="1300" dirty="0">
                <a:solidFill>
                  <a:srgbClr val="8A6D1E"/>
                </a:solidFill>
                <a:latin typeface="Amiri" pitchFamily="2" charset="-78"/>
                <a:ea typeface="Amiri" pitchFamily="2" charset="-78"/>
                <a:cs typeface="Amiri" pitchFamily="2" charset="-78"/>
              </a:rPr>
              <a:t>لَا أَفْهَمُ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1580083"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speaker m. · f. · pl.</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آسِفٌ</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sorry</a:t>
            </a:r>
            <a:endParaRPr lang="en-US" sz="1350" dirty="0"/>
          </a:p>
          <a:p>
            <a:pPr indent="0" marL="0">
              <a:buNone/>
            </a:pPr>
            <a:r>
              <a:rPr lang="en-US" sz="1100" i="1" dirty="0">
                <a:solidFill>
                  <a:srgbClr val="5A6472"/>
                </a:solidFill>
                <a:latin typeface="Calibri" pitchFamily="34" charset="0"/>
                <a:cs typeface="Amiri" pitchFamily="2" charset="-78"/>
              </a:rPr>
              <a:t>ā-sif · ā-si-fa · ā-si-fūn</a:t>
            </a:r>
            <a:endParaRPr lang="en-US" sz="1350" dirty="0"/>
          </a:p>
        </p:txBody>
      </p:sp>
      <p:sp>
        <p:nvSpPr>
          <p:cNvPr id="80" name="Shape 7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82" name="Text 79"/>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آسِفٌ</a:t>
            </a:r>
            <a:endParaRPr lang="ar-SA" sz="1500" dirty="0"/>
          </a:p>
        </p:txBody>
      </p:sp>
      <p:sp>
        <p:nvSpPr>
          <p:cNvPr id="83" name="Shape 8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85" name="Text 8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آسِفَةٌ</a:t>
            </a:r>
            <a:endParaRPr lang="ar-SA" sz="1350" dirty="0"/>
          </a:p>
        </p:txBody>
      </p:sp>
      <p:sp>
        <p:nvSpPr>
          <p:cNvPr id="86" name="Shape 8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8" name="Text 85"/>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آسِفُونَ</a:t>
            </a:r>
            <a:endParaRPr lang="ar-SA" sz="15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Asking for help and permission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تَفَضَّلْ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here you are / go ahead</a:t>
            </a:r>
            <a:endParaRPr lang="en-US" sz="1350" dirty="0"/>
          </a:p>
          <a:p>
            <a:pPr indent="0" marL="0">
              <a:buNone/>
            </a:pPr>
            <a:r>
              <a:rPr lang="en-US" sz="1100" i="1" dirty="0">
                <a:solidFill>
                  <a:srgbClr val="5A6472"/>
                </a:solidFill>
                <a:latin typeface="Calibri" pitchFamily="34" charset="0"/>
                <a:cs typeface="Amiri" pitchFamily="2" charset="-78"/>
              </a:rPr>
              <a:t>ta-faḍ-ḍal · -lī · -lū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 to sorry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بَأْسَ</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 problem / it’s all right</a:t>
            </a:r>
            <a:endParaRPr lang="en-US" sz="1350" dirty="0"/>
          </a:p>
          <a:p>
            <a:pPr indent="0" marL="0">
              <a:buNone/>
            </a:pPr>
            <a:r>
              <a:rPr lang="en-US" sz="1100" i="1" dirty="0">
                <a:solidFill>
                  <a:srgbClr val="5A6472"/>
                </a:solidFill>
                <a:latin typeface="Calibri" pitchFamily="34" charset="0"/>
                <a:cs typeface="Amiri" pitchFamily="2" charset="-78"/>
              </a:rPr>
              <a:t>lā baʾs</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reassuring answer to an apology.</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attention</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مَعْذِرَةً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pardon</a:t>
            </a:r>
            <a:endParaRPr lang="en-US" sz="1350" dirty="0"/>
          </a:p>
          <a:p>
            <a:pPr indent="0" marL="0">
              <a:buNone/>
            </a:pPr>
            <a:r>
              <a:rPr lang="en-US" sz="1100" i="1" dirty="0">
                <a:solidFill>
                  <a:srgbClr val="5A6472"/>
                </a:solidFill>
                <a:latin typeface="Calibri" pitchFamily="34" charset="0"/>
                <a:cs typeface="Amiri" pitchFamily="2" charset="-78"/>
              </a:rPr>
              <a:t>maʿ-dhi-ra-tan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 it to gain attention politely.</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6" name="Shape 5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يَا أُسْتَاذُ</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Sir / Miss (addressing a teacher)</a:t>
            </a:r>
            <a:endParaRPr lang="en-US" sz="1350" dirty="0"/>
          </a:p>
          <a:p>
            <a:pPr indent="0" marL="0">
              <a:buNone/>
            </a:pPr>
            <a:r>
              <a:rPr lang="en-US" sz="1100" i="1" dirty="0">
                <a:solidFill>
                  <a:srgbClr val="5A6472"/>
                </a:solidFill>
                <a:latin typeface="Calibri" pitchFamily="34" charset="0"/>
                <a:cs typeface="Amiri" pitchFamily="2" charset="-78"/>
              </a:rPr>
              <a:t>yā us-tā-dhu · us-tā-dha-tu</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62" name="Text 59"/>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يَا أُسْتَاذُ</a:t>
            </a:r>
            <a:endParaRPr lang="ar-SA" sz="135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65" name="Text 62"/>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يَا أُسْتَاذَةُ</a:t>
            </a:r>
            <a:endParaRPr lang="ar-SA" sz="135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9" name="Shape 6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problem</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أَفْهَمُ</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understand.</a:t>
            </a:r>
            <a:endParaRPr lang="en-US" sz="1350" dirty="0"/>
          </a:p>
          <a:p>
            <a:pPr indent="0" marL="0">
              <a:buNone/>
            </a:pPr>
            <a:r>
              <a:rPr lang="en-US" sz="1100" i="1" dirty="0">
                <a:solidFill>
                  <a:srgbClr val="5A6472"/>
                </a:solidFill>
                <a:latin typeface="Calibri" pitchFamily="34" charset="0"/>
                <a:cs typeface="Amiri" pitchFamily="2" charset="-78"/>
              </a:rPr>
              <a:t>lā af-ha-mu</a:t>
            </a:r>
            <a:endParaRPr lang="en-US" sz="1350" dirty="0"/>
          </a:p>
        </p:txBody>
      </p:sp>
      <p:sp>
        <p:nvSpPr>
          <p:cNvPr id="75" name="Text 72"/>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F2-L04 verb + </a:t>
            </a:r>
            <a:pPr algn="l" indent="0" marL="0">
              <a:buNone/>
            </a:pPr>
            <a:r>
              <a:rPr lang="ar-SA" altLang="en-US" sz="1300" dirty="0">
                <a:solidFill>
                  <a:srgbClr val="8A6D1E"/>
                </a:solidFill>
                <a:latin typeface="Amiri" pitchFamily="2" charset="-78"/>
                <a:ea typeface="Amiri" pitchFamily="2" charset="-78"/>
                <a:cs typeface="Amiri" pitchFamily="2" charset="-78"/>
              </a:rPr>
              <a:t>لَا</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9" name="Shape 7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permission</a:t>
            </a:r>
            <a:endParaRPr lang="en-US" sz="8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 أَنْ …؟</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May I …? / Is it possible to …?</a:t>
            </a:r>
            <a:endParaRPr lang="en-US" sz="1350" dirty="0"/>
          </a:p>
          <a:p>
            <a:pPr indent="0" marL="0">
              <a:buNone/>
            </a:pPr>
            <a:r>
              <a:rPr lang="en-US" sz="1100" i="1" dirty="0">
                <a:solidFill>
                  <a:srgbClr val="5A6472"/>
                </a:solidFill>
                <a:latin typeface="Calibri" pitchFamily="34" charset="0"/>
                <a:cs typeface="Amiri" pitchFamily="2" charset="-78"/>
              </a:rPr>
              <a:t>hal yum-ki-nu an …</a:t>
            </a:r>
            <a:endParaRPr lang="en-US" sz="1350" dirty="0"/>
          </a:p>
        </p:txBody>
      </p:sp>
      <p:sp>
        <p:nvSpPr>
          <p:cNvPr id="83" name="Text 80"/>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هَلْ يُمْكِنُ أَنْ أَدْخُلَ؟</a:t>
            </a:r>
            <a:pPr algn="l" indent="0" marL="0">
              <a:buNone/>
            </a:pPr>
            <a:r>
              <a:rPr lang="en-US" sz="1000" i="1" dirty="0">
                <a:solidFill>
                  <a:srgbClr val="8A6D1E"/>
                </a:solidFill>
                <a:latin typeface="Calibri" pitchFamily="34" charset="0"/>
                <a:cs typeface="Amiri" pitchFamily="2" charset="-78"/>
              </a:rPr>
              <a:t> May I come in?</a:t>
            </a:r>
            <a:endParaRPr lang="en-US" sz="10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May I borrow a pen?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يُمْكِنُ أَنْ آخُذَ قَلَمًا؟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do you have a pen? (to a girl)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مَعْذِرَةً، هَلْ عِنْدَكِ قَلَمٌ؟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here you are.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تَفَضَّلْ.</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very much!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شُكْرًا جَزِيلًا!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You’re welcome.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عَفْوًا.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Sir, I don’t understand. Please repeat.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يَا أُسْتَاذُ، لَا أَفْهَمُ. مِنْ فَضْلِكَ، أَعِدْ.</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problem. Listen once more.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بَأْسَ. اسْمَعْ مَرَّةً أُخْرَى.</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threes (A, B and C = the teacher). Round 2: swap letters. Round 3: borrow a different object (</a:t>
            </a:r>
            <a:pPr algn="l" indent="0" marL="0">
              <a:buNone/>
            </a:pPr>
            <a:r>
              <a:rPr lang="ar-SA" altLang="en-US" sz="1500" b="1" dirty="0">
                <a:solidFill>
                  <a:srgbClr val="1B3B6F"/>
                </a:solidFill>
                <a:latin typeface="Amiri" pitchFamily="2" charset="-78"/>
                <a:ea typeface="Amiri" pitchFamily="2" charset="-78"/>
                <a:cs typeface="Amiri" pitchFamily="2" charset="-78"/>
              </a:rPr>
              <a:t>كِتَابٌ</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مِسْطَرَةٌ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مِمْحَاةٌ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 politely — then add more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عِنْدِي قَلَمَانِ!</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تَفَضَّلْ. / لَا، آسِفٌ.</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do you have a pen?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فَضْلِكَ، هَلْ عِنْدَكَ قَلَمٌ؟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لَا بَأْسَ</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عَفْوًا.</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very much!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شُكْرًا جَزِيلًا!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تَفَضَّلْ، اجْلِسْ</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بَأْسَ.</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sorry, I am late.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أَنَا آسِفٌ، تَأَخَّرْتُ.</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أَعِدْ مِنْ فَضْلِكَ</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أَفْهَمُ. / لَا، لَا أَفْهَمُ.</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understand?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تَفْهَمُ؟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هَلْ يُمْكِنُ 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يَا أُسْتَاذُ،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say to the teacher to ask a question?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تَقُولُ لِلْمُعَلِّمِ عِنْدَمَا تُرِيدُ أَنْ تَسْأَلَ؟</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in an Arabic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حِصَّةِ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أَنَا آسِفٌ،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sorry, you don’t have it.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 أَيْنَ كِتَابُكَ؟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تَفَضَّلْ ← شُكْرًا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the teacher.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لَا بَأْسَ. تَفَضَّلْ هٰذَا الكِتَابَ.</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أَفْهَمُ ← … أَعِدْ مِنْ فَضْلِكَ</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don’t understand; ask to repeat.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اقْرَأِ الصَّفْحَةَ عَشَرَةً.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نَعَمْ، هَلْ يُمْكِنُ 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permission to go out.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سُؤَالٌ؟</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teacher.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polite in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مُؤَدَّبٌ فِي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show all the polite phrases you know in one short scene: arrive late, say sorry, ask for a pen, thank someone, say you don’t understand and ask to repeat.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phrases: </a:t>
            </a:r>
            <a:pPr algn="l" indent="0" marL="0">
              <a:buNone/>
            </a:pPr>
            <a:r>
              <a:rPr lang="ar-SA" altLang="en-US" sz="1500" dirty="0">
                <a:solidFill>
                  <a:srgbClr val="1F2A37"/>
                </a:solidFill>
                <a:latin typeface="Amiri" pitchFamily="2" charset="-78"/>
                <a:ea typeface="Amiri" pitchFamily="2" charset="-78"/>
                <a:cs typeface="Amiri" pitchFamily="2" charset="-78"/>
              </a:rPr>
              <a:t>أَنَا آسِفٌ</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مِنْ فَضْلِكَ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شُكْرًا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لَا أَفْهَمُ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full request: </a:t>
            </a:r>
            <a:pPr algn="l" indent="0" marL="0">
              <a:buNone/>
            </a:pPr>
            <a:r>
              <a:rPr lang="ar-SA" altLang="en-US" sz="1500" dirty="0">
                <a:solidFill>
                  <a:srgbClr val="1F2A37"/>
                </a:solidFill>
                <a:latin typeface="Amiri" pitchFamily="2" charset="-78"/>
                <a:ea typeface="Amiri" pitchFamily="2" charset="-78"/>
                <a:cs typeface="Amiri" pitchFamily="2" charset="-78"/>
              </a:rPr>
              <a:t>هَلْ عِنْدَكَ …؟</a:t>
            </a:r>
            <a:pPr algn="l" indent="0" marL="0">
              <a:buNone/>
            </a:pPr>
            <a:r>
              <a:rPr lang="en-US" sz="1150" dirty="0">
                <a:solidFill>
                  <a:srgbClr val="1F2A37"/>
                </a:solidFill>
                <a:latin typeface="Calibri" pitchFamily="34" charset="0"/>
                <a:cs typeface="Amiri" pitchFamily="2" charset="-78"/>
              </a:rPr>
              <a:t> and a reply </a:t>
            </a:r>
            <a:pPr algn="l" indent="0" marL="0">
              <a:buNone/>
            </a:pPr>
            <a:r>
              <a:rPr lang="ar-SA" altLang="en-US" sz="1500" dirty="0">
                <a:solidFill>
                  <a:srgbClr val="1F2A37"/>
                </a:solidFill>
                <a:latin typeface="Amiri" pitchFamily="2" charset="-78"/>
                <a:ea typeface="Amiri" pitchFamily="2" charset="-78"/>
                <a:cs typeface="Amiri" pitchFamily="2" charset="-78"/>
              </a:rPr>
              <a:t>تَفَضَّلْ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a:r>
            <a:pPr algn="l" indent="0" marL="0">
              <a:buNone/>
            </a:pPr>
            <a:r>
              <a:rPr lang="ar-SA" altLang="en-US" sz="1500" dirty="0">
                <a:solidFill>
                  <a:srgbClr val="1F2A37"/>
                </a:solidFill>
                <a:latin typeface="Amiri" pitchFamily="2" charset="-78"/>
                <a:ea typeface="Amiri" pitchFamily="2" charset="-78"/>
                <a:cs typeface="Amiri" pitchFamily="2" charset="-78"/>
              </a:rPr>
              <a:t>هَلْ يُمْكِنُ أَنْ …؟</a:t>
            </a:r>
            <a:pPr algn="l" indent="0" marL="0">
              <a:buNone/>
            </a:pPr>
            <a:r>
              <a:rPr lang="en-US" sz="1150" dirty="0">
                <a:solidFill>
                  <a:srgbClr val="1F2A37"/>
                </a:solidFill>
                <a:latin typeface="Calibri" pitchFamily="34" charset="0"/>
                <a:cs typeface="Amiri" pitchFamily="2" charset="-78"/>
              </a:rPr>
              <a:t> and the girl / boy forms correctly.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فَضْلِكَ / مِنْ فَضْلِكِ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please (to a boy / girl)</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شُكْرًا جَزِيلًا</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thank you very much</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آسِفٌ / آسِفَةٌ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sorry (boy / girl)</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هَلْ يُمْكِنُ 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may I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Excuse me, do you have a ruler?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مَعْذِرَةً،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عَفْوًا جَزِيلًا،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عِنْدَكَ</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أَيْنَ عِنْدَكَ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مِسْطَرَةٌ؟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مِسْطَرَةً.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Here you are (to a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 هٰذَا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 هٰذِهِ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قَلَمِي.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قَلَمُكِ.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May I go out, please?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يُمْكِنُ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يُمْكِنُكَ</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أَخْرُجَ</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أَخْرُجُ</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Excuse me, do you have a ruler?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Excuse me = </a:t>
            </a:r>
            <a:pPr algn="l" indent="0" marL="0">
              <a:buNone/>
            </a:pPr>
            <a:r>
              <a:rPr lang="ar-SA" altLang="en-US" sz="1350" dirty="0">
                <a:solidFill>
                  <a:srgbClr val="5A6472"/>
                </a:solidFill>
                <a:latin typeface="Amiri" pitchFamily="2" charset="-78"/>
                <a:ea typeface="Amiri" pitchFamily="2" charset="-78"/>
                <a:cs typeface="Amiri" pitchFamily="2" charset="-78"/>
              </a:rPr>
              <a:t>مَعْذِرَةً</a:t>
            </a:r>
            <a:pPr algn="l" indent="0" marL="0">
              <a:buNone/>
            </a:pPr>
            <a:r>
              <a:rPr lang="en-US" sz="1050" i="1" dirty="0">
                <a:solidFill>
                  <a:srgbClr val="5A6472"/>
                </a:solidFill>
                <a:latin typeface="Calibri" pitchFamily="34" charset="0"/>
                <a:cs typeface="Amiri" pitchFamily="2" charset="-78"/>
              </a:rPr>
              <a:t>; a yes / no question starts with </a:t>
            </a:r>
            <a:pPr algn="l" indent="0" marL="0">
              <a:buNone/>
            </a:pPr>
            <a:r>
              <a:rPr lang="ar-SA" altLang="en-US" sz="1350" dirty="0">
                <a:solidFill>
                  <a:srgbClr val="5A6472"/>
                </a:solidFill>
                <a:latin typeface="Amiri" pitchFamily="2" charset="-78"/>
                <a:ea typeface="Amiri" pitchFamily="2" charset="-78"/>
                <a:cs typeface="Amiri" pitchFamily="2" charset="-78"/>
              </a:rPr>
              <a:t>هَلْ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مَعْذِرَةً، هَلْ عِنْدَكَ مِسْطَرَةٌ؟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Here you are (to a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تَفَضَّلِي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قَلَمٌ</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تَفَضَّلِي ، هٰذَا قَلَمِي.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May I go out, please?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 </a:t>
            </a:r>
            <a:pPr algn="l" indent="0" marL="0">
              <a:buNone/>
            </a:pPr>
            <a:r>
              <a:rPr lang="ar-SA" altLang="en-US" sz="1350" dirty="0">
                <a:solidFill>
                  <a:srgbClr val="5A6472"/>
                </a:solidFill>
                <a:latin typeface="Amiri" pitchFamily="2" charset="-78"/>
                <a:ea typeface="Amiri" pitchFamily="2" charset="-78"/>
                <a:cs typeface="Amiri" pitchFamily="2" charset="-78"/>
              </a:rPr>
              <a:t>هَلْ يُمْكِنُ أَنْ</a:t>
            </a:r>
            <a:pPr algn="l" indent="0" marL="0">
              <a:buNone/>
            </a:pPr>
            <a:r>
              <a:rPr lang="en-US" sz="1050" i="1" dirty="0">
                <a:solidFill>
                  <a:srgbClr val="5A6472"/>
                </a:solidFill>
                <a:latin typeface="Calibri" pitchFamily="34" charset="0"/>
                <a:cs typeface="Amiri" pitchFamily="2" charset="-78"/>
              </a:rPr>
              <a:t> + “I” verb ending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يُمْكِنُ أَنْ أَخْرُجَ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شُكْرًا! — شُكْرًا!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you reply to a thank-you?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أَنَا آسِفٌ</a:t>
            </a:r>
            <a:pPr algn="l" indent="0" marL="0">
              <a:buNone/>
            </a:pPr>
            <a:r>
              <a:rPr lang="en-US" sz="3000" b="1" dirty="0">
                <a:solidFill>
                  <a:srgbClr val="B83227"/>
                </a:solidFill>
                <a:latin typeface="Calibri" pitchFamily="34" charset="0"/>
                <a:cs typeface="Amiri" pitchFamily="2" charset="-78"/>
              </a:rPr>
              <a:t>. (Maryam speaking)</a:t>
            </a:r>
            <a:endParaRPr lang="en-US"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تَفَضَّلْ يَا زَيْنَبُ.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Zaynab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شُكْرًا! — شُكْرًا!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شُكْرًا! — عَفْوًا!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reply to </a:t>
            </a:r>
            <a:pPr algn="l" indent="0" marL="0">
              <a:buNone/>
            </a:pPr>
            <a:r>
              <a:rPr lang="ar-SA" altLang="en-US" sz="1500" b="1" dirty="0">
                <a:solidFill>
                  <a:srgbClr val="1B3B6F"/>
                </a:solidFill>
                <a:latin typeface="Amiri" pitchFamily="2" charset="-78"/>
                <a:ea typeface="Amiri" pitchFamily="2" charset="-78"/>
                <a:cs typeface="Amiri" pitchFamily="2" charset="-78"/>
              </a:rPr>
              <a:t>شُكْرًا</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ea typeface="Amiri" pitchFamily="2" charset="-78"/>
                <a:cs typeface="Amiri" pitchFamily="2" charset="-78"/>
              </a:rPr>
              <a:t>عَفْوًا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أَنَا آسِفٌ</a:t>
            </a:r>
            <a:pPr algn="l" indent="0" marL="0">
              <a:buNone/>
            </a:pPr>
            <a:r>
              <a:rPr lang="en-US" sz="1800" dirty="0">
                <a:solidFill>
                  <a:srgbClr val="B83227"/>
                </a:solidFill>
                <a:latin typeface="Calibri" pitchFamily="34" charset="0"/>
                <a:cs typeface="Amiri" pitchFamily="2" charset="-78"/>
              </a:rPr>
              <a:t>. (Maryam speaking)</a:t>
            </a:r>
            <a:endParaRPr lang="en-US"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آسِفَةٌ.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says </a:t>
            </a:r>
            <a:pPr algn="l" indent="0" marL="0">
              <a:buNone/>
            </a:pPr>
            <a:r>
              <a:rPr lang="ar-SA" altLang="en-US" sz="1500" b="1" dirty="0">
                <a:solidFill>
                  <a:srgbClr val="1B3B6F"/>
                </a:solidFill>
                <a:latin typeface="Amiri" pitchFamily="2" charset="-78"/>
                <a:ea typeface="Amiri" pitchFamily="2" charset="-78"/>
                <a:cs typeface="Amiri" pitchFamily="2" charset="-78"/>
              </a:rPr>
              <a:t>آسِفَةٌ</a:t>
            </a:r>
            <a:pPr algn="l" indent="0" marL="0">
              <a:buNone/>
            </a:pPr>
            <a:r>
              <a:rPr lang="en-US" sz="1150" b="1" dirty="0">
                <a:solidFill>
                  <a:srgbClr val="1B3B6F"/>
                </a:solidFill>
                <a:latin typeface="Calibri" pitchFamily="34" charset="0"/>
                <a:cs typeface="Amiri" pitchFamily="2" charset="-78"/>
              </a:rPr>
              <a:t> (with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تَفَضَّلْ يَا زَيْنَبُ.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تَفَضَّلِي يَا زَيْنَبُ.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تَفَضَّلِي</a:t>
            </a:r>
            <a:pPr algn="l" indent="0" marL="0">
              <a:buNone/>
            </a:pPr>
            <a:r>
              <a:rPr lang="en-US" sz="1150" b="1" dirty="0">
                <a:solidFill>
                  <a:srgbClr val="1B3B6F"/>
                </a:solidFill>
                <a:latin typeface="Calibri" pitchFamily="34" charset="0"/>
                <a:cs typeface="Amiri" pitchFamily="2" charset="-78"/>
              </a:rPr>
              <a:t> (-ī).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مَرِيضًا / مَرِيضَةً،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was ill (m. / f.),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أَفْهَمُ ______ ، هَلْ يُمْكِنُ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understand …; is it possible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Sir / Miss,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نَسِيتُ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sorry, I forgot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______ ، مِنْ فَضْلِكَ؟</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 please?</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______ . مَعَ السَّلَامَةِ.</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 Goodbye.</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فَضْلِكَ  ·  شُكْرًا جَزِيلًا  ·  أَنَا آسِفٌ · آسِفَةٌ  ·  مَعْذِرَةً  ·  لَا أَفْهَمُ  ·  هَلْ يُمْكِنُ أَنْ  ·  يَا أُسْتَاذُ · يَا أُسْتَاذَةُ  ·  الوَاجِبُ</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polite message to my teacher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مُؤَدَّبَةٌ إِلَى مُعَلِّمِي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polite message (about 30–45 words) to your teacher. Include: • a polite greeting • say sorry (you missed the lesson / you forgot your homework) • a polite request (</a:t>
            </a:r>
            <a:pPr algn="l" indent="0" marL="0">
              <a:buNone/>
            </a:pPr>
            <a:r>
              <a:rPr lang="ar-SA" altLang="en-US" sz="1750" b="1" dirty="0">
                <a:solidFill>
                  <a:srgbClr val="1F2A37"/>
                </a:solidFill>
                <a:latin typeface="Amiri" pitchFamily="2" charset="-78"/>
                <a:ea typeface="Amiri" pitchFamily="2" charset="-78"/>
                <a:cs typeface="Amiri" pitchFamily="2" charset="-78"/>
              </a:rPr>
              <a:t>هَلْ يُمْكِنُ أَنْ …؟</a:t>
            </a:r>
            <a:pPr algn="l" indent="0" marL="0">
              <a:buNone/>
            </a:pPr>
            <a:r>
              <a:rPr lang="en-US" sz="1350" b="1" dirty="0">
                <a:solidFill>
                  <a:srgbClr val="1F2A37"/>
                </a:solidFill>
                <a:latin typeface="Calibri" pitchFamily="34" charset="0"/>
                <a:cs typeface="Amiri" pitchFamily="2" charset="-78"/>
              </a:rPr>
              <a:t>) • a thank-you and a goodbye.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أُسْتَاذُ / يَا أُسْتَاذَةُ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peace be upon you, Sir / Miss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آسِفٌ / آسِفَةٌ،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sorry,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may I / is it possible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polite word (</a:t>
            </a:r>
            <a:pPr algn="l" indent="0" marL="0">
              <a:buNone/>
            </a:pPr>
            <a:r>
              <a:rPr lang="ar-SA" altLang="en-US" sz="1450" dirty="0">
                <a:solidFill>
                  <a:srgbClr val="5A6472"/>
                </a:solidFill>
                <a:latin typeface="Amiri" pitchFamily="2" charset="-78"/>
                <a:ea typeface="Amiri" pitchFamily="2" charset="-78"/>
                <a:cs typeface="Amiri" pitchFamily="2" charset="-78"/>
              </a:rPr>
              <a:t>مِنْ فَضْلِكَ</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شُكْرًا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آسِفٌ</a:t>
            </a:r>
            <a:pPr algn="l" indent="0" marL="0">
              <a:buNone/>
            </a:pPr>
            <a:r>
              <a:rPr lang="en-US" sz="1100" dirty="0">
                <a:solidFill>
                  <a:srgbClr val="5A6472"/>
                </a:solidFill>
                <a:latin typeface="Calibri" pitchFamily="34" charset="0"/>
                <a:cs typeface="Amiri" pitchFamily="2" charset="-78"/>
              </a:rPr>
              <a:t>) in every line?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the boy / girl form correctly (-ka / -ki · </a:t>
            </a:r>
            <a:pPr algn="l" indent="0" marL="0">
              <a:buNone/>
            </a:pPr>
            <a:r>
              <a:rPr lang="ar-SA" altLang="en-US" sz="1450" dirty="0">
                <a:solidFill>
                  <a:srgbClr val="5A6472"/>
                </a:solidFill>
                <a:latin typeface="Amiri" pitchFamily="2" charset="-78"/>
                <a:ea typeface="Amiri" pitchFamily="2" charset="-78"/>
                <a:cs typeface="Amiri" pitchFamily="2" charset="-78"/>
              </a:rPr>
              <a:t>آسِفٌ / آسِفَةٌ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 أَنَا آسِفٌ، لَيْسَ مَعِي كِتَابِي.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morning! I’m sorry, I don’t have my book with me.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الخَيْرِ! أَيْنَ كِتَابُكَ؟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يَا أُسْتَاذُ!</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very much, Sir!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بَأْسَ. تَفَضَّلْ هٰذَا الكِتَابَ.</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مَعْذِرَةً، لَا أَفْهَمُ. أَعِدْ مِنْ فَضْلِكَ.</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Excuse me, I don’t understand. Please repeat.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اقْرَأِ الصَّفْحَةَ عَشَرَةً.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هَلْ يُمْكِنُ أَنْ أَخْرُجَ، مِنْ فَضْلِكَ؟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may I go out, please?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سُؤَالٌ؟</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أُسْتَاذَةُ هِنْدُ، أَنَا آسِفَةٌ، نَسِيتُ الوَاجِبَ اليَوْمَ. كُنْتُ مَرِيضَةً أَمْسِ. هَلْ يُمْكِنُ أَنْ أُرْسِلَهُ غَدًا، مِنْ فَضْلِكِ؟ وَأَيْضًا لَا أَفْهَمُ الصَّفْحَةَ الخَامِسَةَ. شُكْرًا جَزِيلًا. مَعَ السَّلَامَةِ، لَيْلَى.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Miss Hind. I am sorry, I forgot the homework today. I was ill yesterday. May I send it tomorrow, please? Also, I don’t understand page five. Thank you very much. Goodbye,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آسِفَةٌ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يُمْكِنُ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فَضْلِكِ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شُكْرًا جَزِيلًا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F2-L07 · Building a Full Introduction</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بِنَاءُ تَعْرِيفٍ كَامِلٍ بِالنَّفْسِ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F2-L06 · Practice Room — Polite Classroom Arabic</dc:title>
  <dc:subject>PptxGenJS Presentation</dc:subject>
  <dc:creator>Al Madina Online School · Arabic Department</dc:creator>
  <cp:lastModifiedBy>Al Madina Online School · Arabic Department</cp:lastModifiedBy>
  <cp:revision>1</cp:revision>
  <dcterms:created xsi:type="dcterms:W3CDTF">2026-10-25T17:13:36Z</dcterms:created>
  <dcterms:modified xsi:type="dcterms:W3CDTF">2026-10-25T17:13:36Z</dcterms:modified>
</cp:coreProperties>
</file>