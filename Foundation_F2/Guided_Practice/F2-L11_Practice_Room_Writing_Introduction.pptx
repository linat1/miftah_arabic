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F2-L11 (Writing a Short Personal Introduction) — new practice tasks built on the lesson’s own word bank and grammar (form answers (one word or phrase); connected sentences with wa · ayḍan · thumma · li-anna; checking agreement and endings).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F2-L11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 form needs short answers; a text needs full sentences. Practising both is the point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اسْمُكِ · عُمْرُكِ · جِنْسِيَّتُكِ · تَسْكُنِينَ · تُرِيدِينَ · تَشْتَرِكِي — and the Speaker says بِرِيطَانِيَّةٌ. Language: the form facts as full sentences + a reason with li-annī.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F2-L11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Writing a Short Personal Introduction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أَكْتُبُ تَعْرِيفِي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for a written introduction: say the form words, act an interview, answer question cards, fill a form card aloud, give a 30-second introduction, then build, fix and write a polished introduction with a plan and a check.</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F2-L11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 headings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name</a:t>
            </a:r>
            <a:endParaRPr lang="en-US" sz="1350" dirty="0"/>
          </a:p>
          <a:p>
            <a:pPr indent="0" marL="0">
              <a:buNone/>
            </a:pPr>
            <a:r>
              <a:rPr lang="en-US" sz="1100" i="1" dirty="0">
                <a:solidFill>
                  <a:srgbClr val="5A6472"/>
                </a:solidFill>
                <a:latin typeface="Calibri" pitchFamily="34" charset="0"/>
                <a:cs typeface="Amiri" pitchFamily="2" charset="-78"/>
              </a:rPr>
              <a:t>al-ism</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first</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الاِسْمُ الأَوَّلُ</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family</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اِسْمُ العَائِلَةِ</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surname</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اللَّقَبُ</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العُمْرُ</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age</a:t>
            </a:r>
            <a:endParaRPr lang="en-US" sz="1350" dirty="0"/>
          </a:p>
          <a:p>
            <a:pPr indent="0" marL="0">
              <a:buNone/>
            </a:pPr>
            <a:r>
              <a:rPr lang="en-US" sz="1100" i="1" dirty="0">
                <a:solidFill>
                  <a:srgbClr val="5A6472"/>
                </a:solidFill>
                <a:latin typeface="Calibri" pitchFamily="34" charset="0"/>
                <a:cs typeface="Amiri" pitchFamily="2" charset="-78"/>
              </a:rPr>
              <a:t>al-ʿumr</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العُمْرُ: ١٣ سَنَةً</a:t>
            </a:r>
            <a:endParaRPr lang="ar-SA" sz="13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الجِنْسِيَّةُ</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nationality</a:t>
            </a:r>
            <a:endParaRPr lang="en-US" sz="1350" dirty="0"/>
          </a:p>
          <a:p>
            <a:pPr indent="0" marL="0">
              <a:buNone/>
            </a:pPr>
            <a:r>
              <a:rPr lang="en-US" sz="1100" i="1" dirty="0">
                <a:solidFill>
                  <a:srgbClr val="5A6472"/>
                </a:solidFill>
                <a:latin typeface="Calibri" pitchFamily="34" charset="0"/>
                <a:cs typeface="Amiri" pitchFamily="2" charset="-78"/>
              </a:rPr>
              <a:t>al-jin-siy-ya</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الجِنْسِيَّةُ: مِصْرِيَّةٌ</a:t>
            </a:r>
            <a:endParaRPr lang="ar-SA" sz="13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58" name="Shape 5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مَكَانُ السَّكَنِ</a:t>
            </a:r>
            <a:endParaRPr lang="ar-SA" sz="3000" dirty="0"/>
          </a:p>
        </p:txBody>
      </p:sp>
      <p:sp>
        <p:nvSpPr>
          <p:cNvPr id="61" name="Text 5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place of residence</a:t>
            </a:r>
            <a:endParaRPr lang="en-US" sz="1350" dirty="0"/>
          </a:p>
          <a:p>
            <a:pPr indent="0" marL="0">
              <a:buNone/>
            </a:pPr>
            <a:r>
              <a:rPr lang="en-US" sz="1100" i="1" dirty="0">
                <a:solidFill>
                  <a:srgbClr val="5A6472"/>
                </a:solidFill>
                <a:latin typeface="Calibri" pitchFamily="34" charset="0"/>
                <a:cs typeface="Amiri" pitchFamily="2" charset="-78"/>
              </a:rPr>
              <a:t>ma-kā-nu s-sa-kan</a:t>
            </a:r>
            <a:endParaRPr lang="en-US" sz="1350" dirty="0"/>
          </a:p>
        </p:txBody>
      </p:sp>
      <p:sp>
        <p:nvSpPr>
          <p:cNvPr id="62" name="Text 5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ea typeface="Amiri" pitchFamily="2" charset="-78"/>
                <a:cs typeface="Amiri" pitchFamily="2" charset="-78"/>
              </a:rPr>
              <a:t>البَلَدُ</a:t>
            </a:r>
            <a:pPr algn="l" indent="0" marL="0">
              <a:buNone/>
            </a:pPr>
            <a:r>
              <a:rPr lang="en-US" sz="1000" i="1" dirty="0">
                <a:solidFill>
                  <a:srgbClr val="8A6D1E"/>
                </a:solidFill>
                <a:latin typeface="Calibri" pitchFamily="34" charset="0"/>
                <a:cs typeface="Amiri" pitchFamily="2" charset="-78"/>
              </a:rPr>
              <a:t> · </a:t>
            </a:r>
            <a:pPr algn="l" indent="0" marL="0">
              <a:buNone/>
            </a:pPr>
            <a:r>
              <a:rPr lang="ar-SA" altLang="en-US" sz="1300" dirty="0">
                <a:solidFill>
                  <a:srgbClr val="8A6D1E"/>
                </a:solidFill>
                <a:latin typeface="Amiri" pitchFamily="2" charset="-78"/>
                <a:ea typeface="Amiri" pitchFamily="2" charset="-78"/>
                <a:cs typeface="Amiri" pitchFamily="2" charset="-78"/>
              </a:rPr>
              <a:t>المَدِينَةُ</a:t>
            </a:r>
            <a:pPr algn="l" indent="0" marL="0">
              <a:buNone/>
            </a:pPr>
            <a:r>
              <a:rPr lang="en-US" sz="1000" i="1" dirty="0">
                <a:solidFill>
                  <a:srgbClr val="8A6D1E"/>
                </a:solidFill>
                <a:latin typeface="Calibri" pitchFamily="34" charset="0"/>
                <a:cs typeface="Amiri" pitchFamily="2" charset="-78"/>
              </a:rPr>
              <a:t> · </a:t>
            </a:r>
            <a:pPr algn="l" indent="0" marL="0">
              <a:buNone/>
            </a:pPr>
            <a:r>
              <a:rPr lang="ar-SA" altLang="en-US" sz="1300" dirty="0">
                <a:solidFill>
                  <a:srgbClr val="8A6D1E"/>
                </a:solidFill>
                <a:latin typeface="Amiri" pitchFamily="2" charset="-78"/>
                <a:ea typeface="Amiri" pitchFamily="2" charset="-78"/>
                <a:cs typeface="Amiri" pitchFamily="2" charset="-78"/>
              </a:rPr>
              <a:t>العُنْوَانُ</a:t>
            </a:r>
            <a:endParaRPr lang="en-US" sz="10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اللُّغَاتُ</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languages</a:t>
            </a:r>
            <a:endParaRPr lang="en-US" sz="1350" dirty="0"/>
          </a:p>
          <a:p>
            <a:pPr indent="0" marL="0">
              <a:buNone/>
            </a:pPr>
            <a:r>
              <a:rPr lang="en-US" sz="1100" i="1" dirty="0">
                <a:solidFill>
                  <a:srgbClr val="5A6472"/>
                </a:solidFill>
                <a:latin typeface="Calibri" pitchFamily="34" charset="0"/>
                <a:cs typeface="Amiri" pitchFamily="2" charset="-78"/>
              </a:rPr>
              <a:t>al-lu-ghāt</a:t>
            </a:r>
            <a:endParaRPr lang="en-US" sz="1350" dirty="0"/>
          </a:p>
        </p:txBody>
      </p:sp>
      <p:sp>
        <p:nvSpPr>
          <p:cNvPr id="72" name="Shape 6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74" name="Text 7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اللُّغَةُ</a:t>
            </a:r>
            <a:endParaRPr lang="ar-SA" sz="1500" dirty="0"/>
          </a:p>
        </p:txBody>
      </p:sp>
      <p:sp>
        <p:nvSpPr>
          <p:cNvPr id="75" name="Shape 7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7" name="Text 7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اللُّغَاتُ</a:t>
            </a:r>
            <a:endParaRPr lang="ar-SA" sz="1500" dirty="0"/>
          </a:p>
        </p:txBody>
      </p:sp>
      <p:sp>
        <p:nvSpPr>
          <p:cNvPr id="78" name="Shape 7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first</a:t>
            </a:r>
            <a:endParaRPr lang="en-US" sz="700" dirty="0"/>
          </a:p>
        </p:txBody>
      </p:sp>
      <p:sp>
        <p:nvSpPr>
          <p:cNvPr id="80" name="Text 77"/>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اللُّغَةُ الأُولَى</a:t>
            </a:r>
            <a:endParaRPr lang="ar-SA" sz="1350" dirty="0"/>
          </a:p>
        </p:txBody>
      </p:sp>
      <p:sp>
        <p:nvSpPr>
          <p:cNvPr id="81" name="Shape 7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566928"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4" name="Shape 81"/>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86" name="Shape 8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التَّوْقِيعُ</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signature</a:t>
            </a:r>
            <a:endParaRPr lang="en-US" sz="1350" dirty="0"/>
          </a:p>
          <a:p>
            <a:pPr indent="0" marL="0">
              <a:buNone/>
            </a:pPr>
            <a:r>
              <a:rPr lang="en-US" sz="1100" i="1" dirty="0">
                <a:solidFill>
                  <a:srgbClr val="5A6472"/>
                </a:solidFill>
                <a:latin typeface="Calibri" pitchFamily="34" charset="0"/>
                <a:cs typeface="Amiri" pitchFamily="2" charset="-78"/>
              </a:rPr>
              <a:t>at-taw-qīʿ</a:t>
            </a:r>
            <a:endParaRPr lang="en-US" sz="1350" dirty="0"/>
          </a:p>
        </p:txBody>
      </p:sp>
      <p:sp>
        <p:nvSpPr>
          <p:cNvPr id="90" name="Text 8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cs typeface="Amiri" pitchFamily="2" charset="-78"/>
              </a:rPr>
              <a:t>Recognise: </a:t>
            </a:r>
            <a:pPr algn="l" indent="0" marL="0">
              <a:buNone/>
            </a:pPr>
            <a:r>
              <a:rPr lang="ar-SA" altLang="en-US" sz="1150" dirty="0">
                <a:solidFill>
                  <a:srgbClr val="8A6D1E"/>
                </a:solidFill>
                <a:latin typeface="Amiri" pitchFamily="2" charset="-78"/>
                <a:ea typeface="Amiri" pitchFamily="2" charset="-78"/>
                <a:cs typeface="Amiri" pitchFamily="2" charset="-78"/>
              </a:rPr>
              <a:t>تَارِيخُ المِيلَادِ</a:t>
            </a:r>
            <a:pPr algn="l" indent="0" marL="0">
              <a:buNone/>
            </a:pPr>
            <a:r>
              <a:rPr lang="en-US" sz="900" i="1" dirty="0">
                <a:solidFill>
                  <a:srgbClr val="8A6D1E"/>
                </a:solidFill>
                <a:latin typeface="Calibri" pitchFamily="34" charset="0"/>
                <a:cs typeface="Amiri" pitchFamily="2" charset="-78"/>
              </a:rPr>
              <a:t> · </a:t>
            </a:r>
            <a:pPr algn="l" indent="0" marL="0">
              <a:buNone/>
            </a:pPr>
            <a:r>
              <a:rPr lang="ar-SA" altLang="en-US" sz="1150" dirty="0">
                <a:solidFill>
                  <a:srgbClr val="8A6D1E"/>
                </a:solidFill>
                <a:latin typeface="Amiri" pitchFamily="2" charset="-78"/>
                <a:ea typeface="Amiri" pitchFamily="2" charset="-78"/>
                <a:cs typeface="Amiri" pitchFamily="2" charset="-78"/>
              </a:rPr>
              <a:t>رَقْمُ الهَاتِفِ</a:t>
            </a:r>
            <a:pPr algn="l" indent="0" marL="0">
              <a:buNone/>
            </a:pPr>
            <a:r>
              <a:rPr lang="en-US" sz="900" i="1" dirty="0">
                <a:solidFill>
                  <a:srgbClr val="8A6D1E"/>
                </a:solidFill>
                <a:latin typeface="Calibri" pitchFamily="34" charset="0"/>
                <a:cs typeface="Amiri" pitchFamily="2" charset="-78"/>
              </a:rPr>
              <a:t> · </a:t>
            </a:r>
            <a:pPr algn="l" indent="0" marL="0">
              <a:buNone/>
            </a:pPr>
            <a:r>
              <a:rPr lang="ar-SA" altLang="en-US" sz="1150" dirty="0">
                <a:solidFill>
                  <a:srgbClr val="8A6D1E"/>
                </a:solidFill>
                <a:latin typeface="Amiri" pitchFamily="2" charset="-78"/>
                <a:ea typeface="Amiri" pitchFamily="2" charset="-78"/>
                <a:cs typeface="Amiri" pitchFamily="2" charset="-78"/>
              </a:rPr>
              <a:t>البَرِيدُ الإِلِكْتُرُونِيُّ</a:t>
            </a:r>
            <a:endParaRPr lang="en-US" sz="9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Linking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a:t>
            </a:r>
            <a:endParaRPr lang="en-US" sz="1350" dirty="0"/>
          </a:p>
          <a:p>
            <a:pPr indent="0" marL="0">
              <a:buNone/>
            </a:pPr>
            <a:r>
              <a:rPr lang="en-US" sz="1100" i="1" dirty="0">
                <a:solidFill>
                  <a:srgbClr val="5A6472"/>
                </a:solidFill>
                <a:latin typeface="Calibri" pitchFamily="34" charset="0"/>
                <a:cs typeface="Amiri" pitchFamily="2" charset="-78"/>
              </a:rPr>
              <a:t>wa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أَيْضًا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also, too</a:t>
            </a:r>
            <a:endParaRPr lang="en-US" sz="1350" dirty="0"/>
          </a:p>
          <a:p>
            <a:pPr indent="0" marL="0">
              <a:buNone/>
            </a:pPr>
            <a:r>
              <a:rPr lang="en-US" sz="1100" i="1" dirty="0">
                <a:solidFill>
                  <a:srgbClr val="5A6472"/>
                </a:solidFill>
                <a:latin typeface="Calibri" pitchFamily="34" charset="0"/>
                <a:cs typeface="Amiri" pitchFamily="2" charset="-78"/>
              </a:rPr>
              <a:t>ay-ḍan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a:t>
            </a:r>
            <a:endParaRPr lang="en-US" sz="1350" dirty="0"/>
          </a:p>
          <a:p>
            <a:pPr indent="0" marL="0">
              <a:buNone/>
            </a:pPr>
            <a:r>
              <a:rPr lang="en-US" sz="1100" i="1" dirty="0">
                <a:solidFill>
                  <a:srgbClr val="5A6472"/>
                </a:solidFill>
                <a:latin typeface="Calibri" pitchFamily="34" charset="0"/>
                <a:cs typeface="Amiri" pitchFamily="2" charset="-78"/>
              </a:rPr>
              <a:t>lā-kin-na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very</a:t>
            </a:r>
            <a:endParaRPr lang="en-US" sz="1350" dirty="0"/>
          </a:p>
          <a:p>
            <a:pPr indent="0" marL="0">
              <a:buNone/>
            </a:pPr>
            <a:r>
              <a:rPr lang="en-US" sz="1100" i="1" dirty="0">
                <a:solidFill>
                  <a:srgbClr val="5A6472"/>
                </a:solidFill>
                <a:latin typeface="Calibri" pitchFamily="34" charset="0"/>
                <a:cs typeface="Amiri" pitchFamily="2" charset="-78"/>
              </a:rPr>
              <a:t>jid-dan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Filling in a form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نَمْلَأُ الاسْتِمَارَةَ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الاسْمُ؟</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Salma Hassan.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سَلْمَى حَسَن.</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 And nationality?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العُمْرُ؟ وَالجِنْسِيَّةُ؟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Fourteen. British (f.).</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أَرْبَعَ عَشْرَةَ سَنَةً. بِرِيطَانِيَّةٌ.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 of residence? And languages?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مَكَانُ السَّكَنِ؟ وَاللُّغَاتُ؟</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Nottingham. Arabic and English.</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نُوتِنْغْهَامُ. العَرَبِيَّةُ وَالإِنْجِلِيزِيَّةُ.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Round 2: swap and give YOUR answers. Round 3: B turns each short answer into a full sentence (</a:t>
            </a:r>
            <a:pPr algn="l" indent="0" marL="0">
              <a:buNone/>
            </a:pPr>
            <a:r>
              <a:rPr lang="ar-SA" altLang="en-US" sz="1450" b="1" dirty="0">
                <a:solidFill>
                  <a:srgbClr val="1B3B6F"/>
                </a:solidFill>
                <a:latin typeface="Amiri" pitchFamily="2" charset="-78"/>
                <a:ea typeface="Amiri" pitchFamily="2" charset="-78"/>
                <a:cs typeface="Amiri" pitchFamily="2" charset="-78"/>
              </a:rPr>
              <a:t>اسْمِي</a:t>
            </a:r>
            <a:pPr algn="l" indent="0" marL="0">
              <a:buNone/>
            </a:pPr>
            <a:r>
              <a:rPr lang="en-US" sz="1100" b="1" dirty="0">
                <a:solidFill>
                  <a:srgbClr val="1B3B6F"/>
                </a:solidFill>
                <a:latin typeface="Calibri" pitchFamily="34" charset="0"/>
                <a:cs typeface="Amiri" pitchFamily="2" charset="-78"/>
              </a:rPr>
              <a:t> … · </a:t>
            </a:r>
            <a:pPr algn="l" indent="0" marL="0">
              <a:buNone/>
            </a:pPr>
            <a:r>
              <a:rPr lang="ar-SA" altLang="en-US" sz="1450" b="1" dirty="0">
                <a:solidFill>
                  <a:srgbClr val="1B3B6F"/>
                </a:solidFill>
                <a:latin typeface="Amiri" pitchFamily="2" charset="-78"/>
                <a:ea typeface="Amiri" pitchFamily="2" charset="-78"/>
                <a:cs typeface="Amiri" pitchFamily="2" charset="-78"/>
              </a:rPr>
              <a:t>عُمْرِي</a:t>
            </a:r>
            <a:pPr algn="l" indent="0" marL="0">
              <a:buNone/>
            </a:pPr>
            <a:r>
              <a:rPr lang="en-US" sz="1100" b="1" dirty="0">
                <a:solidFill>
                  <a:srgbClr val="1B3B6F"/>
                </a:solidFill>
                <a:latin typeface="Calibri" pitchFamily="34" charset="0"/>
                <a:cs typeface="Amiri" pitchFamily="2" charset="-78"/>
              </a:rPr>
              <a:t> … · </a:t>
            </a:r>
            <a:pPr algn="l" indent="0" marL="0">
              <a:buNone/>
            </a:pPr>
            <a:r>
              <a:rPr lang="ar-SA" altLang="en-US" sz="1450" b="1" dirty="0">
                <a:solidFill>
                  <a:srgbClr val="1B3B6F"/>
                </a:solidFill>
                <a:latin typeface="Amiri" pitchFamily="2" charset="-78"/>
                <a:ea typeface="Amiri" pitchFamily="2" charset="-78"/>
                <a:cs typeface="Amiri" pitchFamily="2" charset="-78"/>
              </a:rPr>
              <a:t>أَنَا</a:t>
            </a:r>
            <a:pPr algn="l" indent="0" marL="0">
              <a:buNone/>
            </a:pPr>
            <a:r>
              <a:rPr lang="en-US" sz="1100" b="1" dirty="0">
                <a:solidFill>
                  <a:srgbClr val="1B3B6F"/>
                </a:solidFill>
                <a:latin typeface="Calibri" pitchFamily="34" charset="0"/>
                <a:cs typeface="Amiri" pitchFamily="2" charset="-78"/>
              </a:rPr>
              <a:t> … · </a:t>
            </a:r>
            <a:pPr algn="l" indent="0" marL="0">
              <a:buNone/>
            </a:pPr>
            <a:r>
              <a:rPr lang="ar-SA" altLang="en-US" sz="1450" b="1" dirty="0">
                <a:solidFill>
                  <a:srgbClr val="1B3B6F"/>
                </a:solidFill>
                <a:latin typeface="Amiri" pitchFamily="2" charset="-78"/>
                <a:ea typeface="Amiri" pitchFamily="2" charset="-78"/>
                <a:cs typeface="Amiri" pitchFamily="2" charset="-78"/>
              </a:rPr>
              <a:t>أَسْكُنُ فِي</a:t>
            </a:r>
            <a:pPr algn="l" indent="0" marL="0">
              <a:buNone/>
            </a:pPr>
            <a:r>
              <a:rPr lang="en-US" sz="1100" b="1" dirty="0">
                <a:solidFill>
                  <a:srgbClr val="1B3B6F"/>
                </a:solidFill>
                <a:latin typeface="Calibri" pitchFamily="34" charset="0"/>
                <a:cs typeface="Amiri" pitchFamily="2" charset="-78"/>
              </a:rPr>
              <a:t> … · </a:t>
            </a:r>
            <a:pPr algn="l" indent="0" marL="0">
              <a:buNone/>
            </a:pPr>
            <a:r>
              <a:rPr lang="ar-SA" altLang="en-US" sz="1450" b="1" dirty="0">
                <a:solidFill>
                  <a:srgbClr val="1B3B6F"/>
                </a:solidFill>
                <a:latin typeface="Amiri" pitchFamily="2" charset="-78"/>
                <a:ea typeface="Amiri" pitchFamily="2" charset="-78"/>
                <a:cs typeface="Amiri" pitchFamily="2" charset="-78"/>
              </a:rPr>
              <a:t>أَتَكَلَّمُ</a:t>
            </a:r>
            <a:pPr algn="l" indent="0" marL="0">
              <a:buNone/>
            </a:pPr>
            <a:r>
              <a:rPr lang="en-US" sz="1100" b="1" dirty="0">
                <a:solidFill>
                  <a:srgbClr val="1B3B6F"/>
                </a:solidFill>
                <a:latin typeface="Calibri" pitchFamily="34" charset="0"/>
                <a:cs typeface="Amiri" pitchFamily="2" charset="-78"/>
              </a:rPr>
              <a:t> …).</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Short form answer → full sentence → add more</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وَاسْمُ عَائِلَتِي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 say it in a sentence.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 قُلْهُ فِي جُمْلَةٍ.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وَعُمْرُ أَخِي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عُمْرِي … سَنَةً</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 → in a sentence.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 ← قُلْهُ فِي جُمْلَةٍ.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عَائِلَتِي مِنْ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 وَأَسْكُنُ فِي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 and residence?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 وَمَكَانُ السَّكَنِ؟</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وَأَتَعَلَّمُ … أَيْضًا</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أَتَكَلَّمُ … وَ…</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اللُّغَاتُ؟</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وَأُحِبُّهَا جِدًّا</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أَتَعَلَّمُ العَرَبِيَّةَ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learn Arabic?</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تَتَعَلَّمُ العَرَبِيَّةَ؟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Card — a membership interview at a youth library</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الاشْتِرَاكُ فِي المَكْتَبَةِ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اسْمِي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full name.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اسْمُكَ الكَامِلُ؟</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مَا ← عُمْرِي … ، وَأَنَا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 and nationality.</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عُمْرُكَ؟ وَمَا جِنْسِيَّتُكَ؟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أَسْكُنُ فِي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town.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تَسْكُنُ؟</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لِأَنِّي أُحِبُّ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reason.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تُرِيدُ أَنْ تَشْتَرِكَ؟</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new member · Leader = the librarian filling in the form.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30 seconds: my introduction, linked</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تَعْرِيفِي بِكَلِمَاتِ الرَّبْطِ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your introduction in 30 seconds, using at least FOUR linking words (</a:t>
            </a:r>
            <a:pPr algn="l" indent="0" marL="0">
              <a:buNone/>
            </a:pPr>
            <a:r>
              <a:rPr lang="ar-SA" altLang="en-US" sz="1750" dirty="0">
                <a:solidFill>
                  <a:srgbClr val="1F2A37"/>
                </a:solidFill>
                <a:latin typeface="Amiri" pitchFamily="2" charset="-78"/>
                <a:ea typeface="Amiri" pitchFamily="2" charset="-78"/>
                <a:cs typeface="Amiri" pitchFamily="2" charset="-78"/>
              </a:rPr>
              <a:t>وَ</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أَيْضًا</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ثُمَّ</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لِأَنَّ</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لٰكِنَّ</a:t>
            </a:r>
            <a:pPr algn="l" indent="0" marL="0">
              <a:buNone/>
            </a:pPr>
            <a:r>
              <a:rPr lang="en-US" sz="1350" dirty="0">
                <a:solidFill>
                  <a:srgbClr val="1F2A37"/>
                </a:solidFill>
                <a:latin typeface="Calibri" pitchFamily="34" charset="0"/>
                <a:cs typeface="Amiri" pitchFamily="2" charset="-78"/>
              </a:rPr>
              <a:t>). The Coach counts them.</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facts joined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أَيْضًا</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ثُمَّ</a:t>
            </a:r>
            <a:pPr algn="l" indent="0" marL="0">
              <a:buNone/>
            </a:pPr>
            <a:r>
              <a:rPr lang="en-US" sz="1150" dirty="0">
                <a:solidFill>
                  <a:srgbClr val="1F2A37"/>
                </a:solidFill>
                <a:latin typeface="Calibri" pitchFamily="34" charset="0"/>
                <a:cs typeface="Amiri" pitchFamily="2" charset="-78"/>
              </a:rPr>
              <a:t> (e.g. </a:t>
            </a:r>
            <a:pPr algn="l" indent="0" marL="0">
              <a:buNone/>
            </a:pPr>
            <a:r>
              <a:rPr lang="ar-SA" altLang="en-US" sz="1500" dirty="0">
                <a:solidFill>
                  <a:srgbClr val="1F2A37"/>
                </a:solidFill>
                <a:latin typeface="Amiri" pitchFamily="2" charset="-78"/>
                <a:ea typeface="Amiri" pitchFamily="2" charset="-78"/>
                <a:cs typeface="Amiri" pitchFamily="2" charset="-78"/>
              </a:rPr>
              <a:t>أَدْرُسُ ثُمَّ أَلْعَبُ</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 · أَيْضًا</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 also</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ثُمَّ</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then</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British, but my family is from Iraq.</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بِرِيطَانِيٌّ،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بِرِيطَانِيَا،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عَائِلَتِي مِنَ العِرَاقِ.</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عَائِلَتِي فِي العِرَاقِ مِنْ.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learn Arabic because I love it.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أَتَعَلَّمُ العَرَبِيَّةَ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يَتَعَلَّمُ العَرَبِيَّةَ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أُحِبُّهَا.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أُحِبُّهُ.</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speak English, and I speak Urdu too.</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أَتَكَلَّمُ الإِنْجِلِيزِيَّةَ،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أَتَكَلَّمُ الإِنْجِلِيزِيَّةُ،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وَأَتَكَلَّمُ الأُرْدِيَّةَ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 الأُرْدِيَّةَ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أَيْضًا.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British, but my family is from Iraq.</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Nationality = </a:t>
            </a:r>
            <a:pPr algn="l" indent="0" marL="0">
              <a:buNone/>
            </a:pPr>
            <a:r>
              <a:rPr lang="ar-SA" altLang="en-US" sz="1350" dirty="0">
                <a:solidFill>
                  <a:srgbClr val="5A6472"/>
                </a:solidFill>
                <a:latin typeface="Amiri" pitchFamily="2" charset="-78"/>
                <a:ea typeface="Amiri" pitchFamily="2" charset="-78"/>
                <a:cs typeface="Amiri" pitchFamily="2" charset="-78"/>
              </a:rPr>
              <a:t>بِرِيطَانِيٌّ</a:t>
            </a:r>
            <a:pPr algn="l" indent="0" marL="0">
              <a:buNone/>
            </a:pPr>
            <a:r>
              <a:rPr lang="en-US" sz="1050" i="1" dirty="0">
                <a:solidFill>
                  <a:srgbClr val="5A6472"/>
                </a:solidFill>
                <a:latin typeface="Calibri" pitchFamily="34" charset="0"/>
                <a:cs typeface="Amiri" pitchFamily="2" charset="-78"/>
              </a:rPr>
              <a:t>; but = </a:t>
            </a:r>
            <a:pPr algn="l" indent="0" marL="0">
              <a:buNone/>
            </a:pPr>
            <a:r>
              <a:rPr lang="ar-SA" altLang="en-US" sz="1350" dirty="0">
                <a:solidFill>
                  <a:srgbClr val="5A6472"/>
                </a:solidFill>
                <a:latin typeface="Amiri" pitchFamily="2" charset="-78"/>
                <a:ea typeface="Amiri" pitchFamily="2" charset="-78"/>
                <a:cs typeface="Amiri" pitchFamily="2" charset="-78"/>
              </a:rPr>
              <a:t>لٰكِنَّ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أَنَا بِرِيطَانِيٌّ، لٰكِنَّ عَائِلَتِي مِنَ العِرَاقِ.</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learn Arabic because I love it.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Because I = </a:t>
            </a:r>
            <a:pPr algn="l" indent="0" marL="0">
              <a:buNone/>
            </a:pPr>
            <a:r>
              <a:rPr lang="ar-SA" altLang="en-US" sz="1350" dirty="0">
                <a:solidFill>
                  <a:srgbClr val="5A6472"/>
                </a:solidFill>
                <a:latin typeface="Amiri" pitchFamily="2" charset="-78"/>
                <a:ea typeface="Amiri" pitchFamily="2" charset="-78"/>
                <a:cs typeface="Amiri" pitchFamily="2" charset="-78"/>
              </a:rPr>
              <a:t>لِأَنِّي</a:t>
            </a:r>
            <a:pPr algn="l" indent="0" marL="0">
              <a:buNone/>
            </a:pPr>
            <a:r>
              <a:rPr lang="en-US" sz="1050" i="1" dirty="0">
                <a:solidFill>
                  <a:srgbClr val="5A6472"/>
                </a:solidFill>
                <a:latin typeface="Calibri" pitchFamily="34" charset="0"/>
                <a:cs typeface="Amiri" pitchFamily="2" charset="-78"/>
              </a:rPr>
              <a:t>; Arabic is feminine → </a:t>
            </a:r>
            <a:pPr algn="l" indent="0" marL="0">
              <a:buNone/>
            </a:pPr>
            <a:r>
              <a:rPr lang="ar-SA" altLang="en-US" sz="1350" dirty="0">
                <a:solidFill>
                  <a:srgbClr val="5A6472"/>
                </a:solidFill>
                <a:latin typeface="Amiri" pitchFamily="2" charset="-78"/>
                <a:ea typeface="Amiri" pitchFamily="2" charset="-78"/>
                <a:cs typeface="Amiri" pitchFamily="2" charset="-78"/>
              </a:rPr>
              <a:t>أُحِبُّهَا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أَتَعَلَّمُ العَرَبِيَّةَ لِأَنِّي أُحِبُّهَا.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speak English, and I speak Urdu too.</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Too = </a:t>
            </a:r>
            <a:pPr algn="l" indent="0" marL="0">
              <a:buNone/>
            </a:pPr>
            <a:r>
              <a:rPr lang="ar-SA" altLang="en-US" sz="1350" dirty="0">
                <a:solidFill>
                  <a:srgbClr val="5A6472"/>
                </a:solidFill>
                <a:latin typeface="Amiri" pitchFamily="2" charset="-78"/>
                <a:ea typeface="Amiri" pitchFamily="2" charset="-78"/>
                <a:cs typeface="Amiri" pitchFamily="2" charset="-78"/>
              </a:rPr>
              <a:t>أَيْضًا</a:t>
            </a:r>
            <a:pPr algn="l" indent="0" marL="0">
              <a:buNone/>
            </a:pPr>
            <a:r>
              <a:rPr lang="en-US" sz="1050" i="1" dirty="0">
                <a:solidFill>
                  <a:srgbClr val="5A6472"/>
                </a:solidFill>
                <a:latin typeface="Calibri" pitchFamily="34" charset="0"/>
                <a:cs typeface="Amiri" pitchFamily="2" charset="-78"/>
              </a:rPr>
              <a:t> at the end; the language after the verb ends in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أَتَكَلَّمُ الإِنْجِلِيزِيَّةَ، وَأَتَكَلَّمُ الأُرْدِيَّةَ أَيْضًا.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العُمْرُ: عُمْرِي ثَلَاثَ عَشْرَةَ سَنَةً وَأَنَا أُحِبُّ الرِّيَاضَةَ.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form box needs a SHORT answer.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أَتَعَلَّمُ العَرَبِيَّةَ لِأَنَّ أُحِبُّهَا.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لِأَنَّ</a:t>
            </a:r>
            <a:pPr algn="l" indent="0" marL="0">
              <a:buNone/>
            </a:pPr>
            <a:r>
              <a:rPr lang="en-US" sz="1300" i="1" dirty="0">
                <a:solidFill>
                  <a:srgbClr val="5A6472"/>
                </a:solidFill>
                <a:latin typeface="Calibri" pitchFamily="34" charset="0"/>
                <a:cs typeface="Amiri" pitchFamily="2" charset="-78"/>
              </a:rPr>
              <a:t> + “I”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أَنَا بِرِيطَانِيٌّ</a:t>
            </a:r>
            <a:pPr algn="l" indent="0" marL="0">
              <a:buNone/>
            </a:pPr>
            <a:r>
              <a:rPr lang="en-US" sz="3000" b="1" dirty="0">
                <a:solidFill>
                  <a:srgbClr val="B83227"/>
                </a:solidFill>
                <a:latin typeface="Calibri" pitchFamily="34" charset="0"/>
                <a:cs typeface="Amiri" pitchFamily="2" charset="-78"/>
              </a:rPr>
              <a:t>. (Salma writing)</a:t>
            </a:r>
            <a:endParaRPr lang="en-US"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Salma is a girl.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العُمْرُ: عُمْرِي ثَلَاثَ عَشْرَةَ سَنَةً وَأَنَا أُحِبُّ الرِّيَاضَةَ.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العُمْرُ: ثَلَاثَ عَشْرَةَ سَنَةً.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Forms: short answers only; full sentences belong in the text.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أَتَعَلَّمُ العَرَبِيَّةَ لِأَنَّ أُحِبُّهَا.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أَتَعَلَّمُ العَرَبِيَّةَ لِأَنِّي أُحِبُّهَا.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Because I → </a:t>
            </a:r>
            <a:pPr algn="l" indent="0" marL="0">
              <a:buNone/>
            </a:pPr>
            <a:r>
              <a:rPr lang="ar-SA" altLang="en-US" sz="1500" b="1" dirty="0">
                <a:solidFill>
                  <a:srgbClr val="1B3B6F"/>
                </a:solidFill>
                <a:latin typeface="Amiri" pitchFamily="2" charset="-78"/>
                <a:ea typeface="Amiri" pitchFamily="2" charset="-78"/>
                <a:cs typeface="Amiri" pitchFamily="2" charset="-78"/>
              </a:rPr>
              <a:t>لِأَنِّي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أَنَا بِرِيطَانِيٌّ</a:t>
            </a:r>
            <a:pPr algn="l" indent="0" marL="0">
              <a:buNone/>
            </a:pPr>
            <a:r>
              <a:rPr lang="en-US" sz="1800" dirty="0">
                <a:solidFill>
                  <a:srgbClr val="B83227"/>
                </a:solidFill>
                <a:latin typeface="Calibri" pitchFamily="34" charset="0"/>
                <a:cs typeface="Amiri" pitchFamily="2" charset="-78"/>
              </a:rPr>
              <a:t>. (Salma writing)</a:t>
            </a:r>
            <a:endParaRPr lang="en-US"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بِرِيطَانِيَّةٌ.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girl → -iyyatun.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عَائِلَتِي مِنْ ______ ، لٰكِنِّي وُلِدْتُ فِي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family is from …, but I was born in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ثُمَّ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then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السَّلَامُ عَلَيْكُمْ! اسْمِي ______ ، وَعُمْرِي ______ سَنَةً.</a:t>
            </a:r>
            <a:endParaRPr lang="ar-SA" sz="14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 My name is …, and I am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وَأَسْكُنُ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and I live in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______ ، وَ ______ أَيْضًا.</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and … too.</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أَتَعَلَّمُ العَرَبِيَّةَ لِأَنِّي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learn Arabic because I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الاسْمُ · العُمْرُ  ·  الجِنْسِيَّةُ  ·  مَكَانُ السَّكَنِ  ·  اللُّغَاتُ  ·  وَ · أَيْضًا  ·  ثُمَّ  ·  لِأَنِّي  ·  لٰكِنَّ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 +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الاسْتِمَارَةُ وَالتَّعْرِيفُ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Part 1: fill in six form boxes (</a:t>
            </a:r>
            <a:pPr algn="l" indent="0" marL="0">
              <a:buNone/>
            </a:pPr>
            <a:r>
              <a:rPr lang="ar-SA" altLang="en-US" sz="1550" b="1" dirty="0">
                <a:solidFill>
                  <a:srgbClr val="1F2A37"/>
                </a:solidFill>
                <a:latin typeface="Amiri" pitchFamily="2" charset="-78"/>
                <a:ea typeface="Amiri" pitchFamily="2" charset="-78"/>
                <a:cs typeface="Amiri" pitchFamily="2" charset="-78"/>
              </a:rPr>
              <a:t>الاسْمُ</a:t>
            </a:r>
            <a:pPr algn="l" indent="0" marL="0">
              <a:buNone/>
            </a:pPr>
            <a:r>
              <a:rPr lang="en-US" sz="1200" b="1" dirty="0">
                <a:solidFill>
                  <a:srgbClr val="1F2A37"/>
                </a:solidFill>
                <a:latin typeface="Calibri" pitchFamily="34" charset="0"/>
                <a:cs typeface="Amiri" pitchFamily="2" charset="-78"/>
              </a:rPr>
              <a:t> · </a:t>
            </a:r>
            <a:pPr algn="l" indent="0" marL="0">
              <a:buNone/>
            </a:pPr>
            <a:r>
              <a:rPr lang="ar-SA" altLang="en-US" sz="1550" b="1" dirty="0">
                <a:solidFill>
                  <a:srgbClr val="1F2A37"/>
                </a:solidFill>
                <a:latin typeface="Amiri" pitchFamily="2" charset="-78"/>
                <a:ea typeface="Amiri" pitchFamily="2" charset="-78"/>
                <a:cs typeface="Amiri" pitchFamily="2" charset="-78"/>
              </a:rPr>
              <a:t>العُمْرُ</a:t>
            </a:r>
            <a:pPr algn="l" indent="0" marL="0">
              <a:buNone/>
            </a:pPr>
            <a:r>
              <a:rPr lang="en-US" sz="1200" b="1" dirty="0">
                <a:solidFill>
                  <a:srgbClr val="1F2A37"/>
                </a:solidFill>
                <a:latin typeface="Calibri" pitchFamily="34" charset="0"/>
                <a:cs typeface="Amiri" pitchFamily="2" charset="-78"/>
              </a:rPr>
              <a:t> · </a:t>
            </a:r>
            <a:pPr algn="l" indent="0" marL="0">
              <a:buNone/>
            </a:pPr>
            <a:r>
              <a:rPr lang="ar-SA" altLang="en-US" sz="1550" b="1" dirty="0">
                <a:solidFill>
                  <a:srgbClr val="1F2A37"/>
                </a:solidFill>
                <a:latin typeface="Amiri" pitchFamily="2" charset="-78"/>
                <a:ea typeface="Amiri" pitchFamily="2" charset="-78"/>
                <a:cs typeface="Amiri" pitchFamily="2" charset="-78"/>
              </a:rPr>
              <a:t>الجِنْسِيَّةُ</a:t>
            </a:r>
            <a:pPr algn="l" indent="0" marL="0">
              <a:buNone/>
            </a:pPr>
            <a:r>
              <a:rPr lang="en-US" sz="1200" b="1" dirty="0">
                <a:solidFill>
                  <a:srgbClr val="1F2A37"/>
                </a:solidFill>
                <a:latin typeface="Calibri" pitchFamily="34" charset="0"/>
                <a:cs typeface="Amiri" pitchFamily="2" charset="-78"/>
              </a:rPr>
              <a:t> · </a:t>
            </a:r>
            <a:pPr algn="l" indent="0" marL="0">
              <a:buNone/>
            </a:pPr>
            <a:r>
              <a:rPr lang="ar-SA" altLang="en-US" sz="1550" b="1" dirty="0">
                <a:solidFill>
                  <a:srgbClr val="1F2A37"/>
                </a:solidFill>
                <a:latin typeface="Amiri" pitchFamily="2" charset="-78"/>
                <a:ea typeface="Amiri" pitchFamily="2" charset="-78"/>
                <a:cs typeface="Amiri" pitchFamily="2" charset="-78"/>
              </a:rPr>
              <a:t>مَكَانُ السَّكَنِ</a:t>
            </a:r>
            <a:pPr algn="l" indent="0" marL="0">
              <a:buNone/>
            </a:pPr>
            <a:r>
              <a:rPr lang="en-US" sz="1200" b="1" dirty="0">
                <a:solidFill>
                  <a:srgbClr val="1F2A37"/>
                </a:solidFill>
                <a:latin typeface="Calibri" pitchFamily="34" charset="0"/>
                <a:cs typeface="Amiri" pitchFamily="2" charset="-78"/>
              </a:rPr>
              <a:t> · </a:t>
            </a:r>
            <a:pPr algn="l" indent="0" marL="0">
              <a:buNone/>
            </a:pPr>
            <a:r>
              <a:rPr lang="ar-SA" altLang="en-US" sz="1550" b="1" dirty="0">
                <a:solidFill>
                  <a:srgbClr val="1F2A37"/>
                </a:solidFill>
                <a:latin typeface="Amiri" pitchFamily="2" charset="-78"/>
                <a:ea typeface="Amiri" pitchFamily="2" charset="-78"/>
                <a:cs typeface="Amiri" pitchFamily="2" charset="-78"/>
              </a:rPr>
              <a:t>اللُّغَاتُ</a:t>
            </a:r>
            <a:pPr algn="l" indent="0" marL="0">
              <a:buNone/>
            </a:pPr>
            <a:r>
              <a:rPr lang="en-US" sz="1200" b="1" dirty="0">
                <a:solidFill>
                  <a:srgbClr val="1F2A37"/>
                </a:solidFill>
                <a:latin typeface="Calibri" pitchFamily="34" charset="0"/>
                <a:cs typeface="Amiri" pitchFamily="2" charset="-78"/>
              </a:rPr>
              <a:t> · </a:t>
            </a:r>
            <a:pPr algn="l" indent="0" marL="0">
              <a:buNone/>
            </a:pPr>
            <a:r>
              <a:rPr lang="ar-SA" altLang="en-US" sz="1550" b="1" dirty="0">
                <a:solidFill>
                  <a:srgbClr val="1F2A37"/>
                </a:solidFill>
                <a:latin typeface="Amiri" pitchFamily="2" charset="-78"/>
                <a:ea typeface="Amiri" pitchFamily="2" charset="-78"/>
                <a:cs typeface="Amiri" pitchFamily="2" charset="-78"/>
              </a:rPr>
              <a:t>التَّوْقِيعُ</a:t>
            </a:r>
            <a:pPr algn="l" indent="0" marL="0">
              <a:buNone/>
            </a:pPr>
            <a:r>
              <a:rPr lang="en-US" sz="1200" b="1" dirty="0">
                <a:solidFill>
                  <a:srgbClr val="1F2A37"/>
                </a:solidFill>
                <a:latin typeface="Calibri" pitchFamily="34" charset="0"/>
                <a:cs typeface="Amiri" pitchFamily="2" charset="-78"/>
              </a:rPr>
              <a:t>) with short answers. Part 2: turn them into an introduction (about 40–55 words) using at least four linking words and one reason with </a:t>
            </a:r>
            <a:pPr algn="l" indent="0" marL="0">
              <a:buNone/>
            </a:pPr>
            <a:r>
              <a:rPr lang="ar-SA" altLang="en-US" sz="1550" b="1" dirty="0">
                <a:solidFill>
                  <a:srgbClr val="1F2A37"/>
                </a:solidFill>
                <a:latin typeface="Amiri" pitchFamily="2" charset="-78"/>
                <a:ea typeface="Amiri" pitchFamily="2" charset="-78"/>
                <a:cs typeface="Amiri" pitchFamily="2" charset="-78"/>
              </a:rPr>
              <a:t>لِأَنَّ</a:t>
            </a:r>
            <a:pPr algn="l" indent="0" marL="0">
              <a:buNone/>
            </a:pPr>
            <a:r>
              <a:rPr lang="en-US" sz="1200" b="1" dirty="0">
                <a:solidFill>
                  <a:srgbClr val="1F2A37"/>
                </a:solidFill>
                <a:latin typeface="Calibri" pitchFamily="34" charset="0"/>
                <a:cs typeface="Amiri" pitchFamily="2" charset="-78"/>
              </a:rPr>
              <a:t>. Then check it with your buddy.</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 ، وَعُمْرِي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name is …, and I am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 ، لٰكِنَّ عَائِلَتِي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 but my family is from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 ، وَ… أَيْضًا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speak …, and … too</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أَتَعَلَّمُ العَرَبِيَّةَ لِأَنِّي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learn Arabic because I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form boxes briefly and write the text in full sentences?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least four linking words, including </a:t>
            </a:r>
            <a:pPr algn="l" indent="0" marL="0">
              <a:buNone/>
            </a:pPr>
            <a:r>
              <a:rPr lang="ar-SA" altLang="en-US" sz="1450" dirty="0">
                <a:solidFill>
                  <a:srgbClr val="5A6472"/>
                </a:solidFill>
                <a:latin typeface="Amiri" pitchFamily="2" charset="-78"/>
                <a:ea typeface="Amiri" pitchFamily="2" charset="-78"/>
                <a:cs typeface="Amiri" pitchFamily="2" charset="-78"/>
              </a:rPr>
              <a:t>لِأَنِّي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يُوسُفُ عَلِيّ.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name is Yusuf Ali.</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اسْمُكَ الكَامِلُ؟</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عُمْرِي ثَلَاثَ عَشْرَةَ سَنَةً، وَأَنَا بِرِيطَانِيٌّ.</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thirteen, and I am British.</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عُمْرُكَ؟ وَمَا جِنْسِيَّتُكَ؟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أَسْكُنُ فِي بِرَادْفُورْدَ، قُرْبَ المَكْتَبَةِ.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live in Bradford, near the library.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تَسْكُنُ؟</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لِأَنِّي أُحِبُّ القِرَاءَةَ، وَأُرِيدُ كُتُبًا بِالعَرَبِيَّةِ أَيْضًا.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 love reading, and I want books in Arabic too.</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تُرِيدُ أَنْ تَشْتَرِكَ؟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اسْمِي مُحَمَّدٌ، وَعُمْرِي أَرْبَعَ عَشْرَةَ سَنَةً. أَنَا بِرِيطَانِيٌّ، لٰكِنَّ عَائِلَتِي مِنْ مِصْرَ. أَسْكُنُ فِي مَانْشِسْتَرَ مَعَ عَائِلَتِي. أَتَكَلَّمُ الإِنْجِلِيزِيَّةَ، وَأَتَكَلَّمُ العَرَبِيَّةَ أَيْضًا. كُلَّ يَوْمٍ أَذْهَبُ إِلَى المَدْرَسَةِ، ثُمَّ أَلْعَبُ كُرَةَ القَدَمِ. أَتَعَلَّمُ العَرَبِيَّةَ لِأَنِّي أُرِيدُ أَنْ أَقْرَأَ القُرْآنَ.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My name is Mohammed, and I am fourteen. I am British, but my family is from Egypt. I live in Manchester with my family. I speak English, and I speak Arabic too. Every day I go to school, then I play football. I learn Arabic because I want to read the Qur’an.”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 عَائِلَتِي مِنْ مِصْرَ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أَيْضًا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ثُمَّ أَلْعَبُ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لِأَنِّي أُرِيدُ</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F2-L12 · Show What You Can Say: F2 Review &amp; Assessment</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مُرَاجَعَةُ الوَحْدَةِ الثَّانِيَةِ وَتَقْيِيمُهَا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F2-L11 · Practice Room — Writing a Short Personal Introduction</dc:title>
  <dc:subject>PptxGenJS Presentation</dc:subject>
  <dc:creator>Al Madina Online School · Arabic Department</dc:creator>
  <cp:lastModifiedBy>Al Madina Online School · Arabic Department</cp:lastModifiedBy>
  <cp:revision>1</cp:revision>
  <dcterms:created xsi:type="dcterms:W3CDTF">2026-10-25T17:16:40Z</dcterms:created>
  <dcterms:modified xsi:type="dcterms:W3CDTF">2026-10-25T17:16:40Z</dcterms:modified>
</cp:coreProperties>
</file>