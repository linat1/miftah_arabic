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PRACTICE ROOM AT A GLANCE — one combined lesson (speaking, then writing), 55–60 minutes: about 6 minutes in the main room, about 45 minutes in breakout rooms of two or three, about 6 minutes back together.
0–2 Welcome · 2–5 How the room works · ROOMS, Part A Speaking: Step 1 Word warm-up (5) · Step 2 Say the model dialogue (5) · Step 3 Question cards (7) · Step 4 Role-play card (7) · Step 5 Short talk (4) · Part B Writing: Step 6 Sentence builder (4) · Step 7 Spot and fix (3) · Step 8 Write your text (12) + buddy check (3) · back in the main room: Check yourself (4) · Self-check + close (2).
PURPOSE: students practise the lesson’s language ON THEIR OWN with a clear structure. The teacher visits each room (about 3 minutes per room), listens, reads one piece of writing per student and gives one live correction.
CONTENT: F2-L11 (Writing a Short Personal Introduction) — new practice tasks built on the lesson’s own word bank and grammar (form answers (one word or phrase); connected sentences with wa · ayḍan · thumma · li-anna; checking agreement and endings).
SET-UP: rooms of two or three (same-level rooms keep the routes simple). Share this deck or its PDF in the chat so every room can follow the steps. Each student writes in their own book or document.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 Part A is speaking, Part B is writing. The step number is always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ROOM WORKS (3 min, main room). Model the roles quickly with two volunteers using one question from Step 3. Stress: the Coach is kind and specific. Then open the breakout rooms.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(5 min in rooms). The two word slides that follow come from the F2-L11 lesson. Teacher: visit the first room straight away to model the 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the Leader picks the English, the Speaker gives the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(5 min). The dialogue models today’s language in a real exchange. A form needs short answers; a text needs full sentences. Practising both is the point of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3 (7 min). The starter column is support, not the answer: students finish it with their OWN information. Coach listens for the key structure of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4 (7 min). SUPPORTED: the plan column models the thinking (first words), not the full answer. Everyone is Speaker once. To a girl the Leader says: اسْمُكِ · عُمْرُكِ · جِنْسِيَّتُكِ · تَسْكُنِينَ · تُرِيدِينَ · تَشْتَرِكِي — and the Speaker says بِرِيطَانِيَّةٌ. Language: the form facts as full sentences + a reason with li-annī.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5 (4 min). A short talk builds fluency and confidence.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Read the English, then choose the correct part from each column (start on the RIGHT, column 1). Buddies agree before checking the answer slide. Students copy the three correct sentences into their book — they are useful for Step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Read the English, then choose the correct part from each column (start on the RIGHT, column 1). Buddies agree before checking the answer slide. Students copy the three correct sentences into their book — they are useful for Step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Pairs agree on each correction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Pairs agree on each correction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support. Core: use the Core frames for every sentence. Develop: use the Develop frames only if stuck. Stretch: no frames — add a reason, a time phrase and one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(10 min writing). Core: frames for every bullet (25–35 words). Develop: 40–60 words, frames only if stuck. Stretch: no frames, add reasons and another time frame. Teacher visits rooms and reads ONE sentence per student.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(40 words). CHECK YOURSELF (2 min). Find each bullet point in the model.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F2  ·  F2-L11 · PRACTICE ROOM</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F2-L11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Practice Room — Writing a Short Personal Introduction</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غُرْفَةُ التَّدَرُّبِ — أَكْتُبُ تَعْرِيفِي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350" dirty="0">
                <a:solidFill>
                  <a:srgbClr val="C6D2E6"/>
                </a:solidFill>
                <a:latin typeface="Calibri" pitchFamily="34" charset="0"/>
                <a:cs typeface="Amiri" pitchFamily="2" charset="-78"/>
              </a:rPr>
              <a:t>Students run their own speaking and writing practice for a written introduction: say the form words, act an interview, answer question cards, fill a form card aloud, give a 30-second introduction, then build, fix and write a polished introduction with a plan and a check.</a:t>
            </a:r>
            <a:endParaRPr lang="en-US" sz="135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F2-L11 · Foundation F2 · Greetings &amp; Introductions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F2 › F2-L11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F2-L11 · Speaking + writing practice room</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F2-L11 · practice room</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F2-L11 · Speaking + writing practice room</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ROOM PLAN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Speak first, then write — you run it yourselves</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الغُرْفَةِ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F2-L11 · practice room</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2F6FB0"/>
          </a:solidFill>
          <a:ln w="12700">
            <a:solidFill>
              <a:srgbClr val="2F6FB0"/>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10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1–2: word warm-up · say the model dialogue.</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الكَلِمَاتُ وَالحِوَارُ</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3–5: question cards · role-play card · short talk.</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2F6FB0"/>
          </a:solidFill>
          <a:ln w="12700">
            <a:solidFill>
              <a:srgbClr val="2F6FB0"/>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6–7: sentence builder · spot and fix.</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ابْنِ وَصَحِّحْ</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15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 8: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ROOM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Everybody speaks in every step and everybody writes their own text. Swap roles after each task. If you finish early, do the step again with the Stretch route.</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F2-L11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BEFORE THE ROOMS · HOW YOUR ROOM WORKS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Three roles — then write alone, check together</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كَيْفَ نَعْمَلُ فِي الغُرْفَةِ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F2-L11 · practice room</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ROLES (SWAP AFTER EVERY TASK)</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LEADER — opens the next step, keeps the time and reads the questions.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SPEAKER — answers in Arabic, in a full sentence. Think for a few seconds, then speak.</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COACH — listens, checks with the slide, then says one thing that went well and one thing to improve. (In a pair, the Leader is also the Coach.)</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WRITING (Part B): everyone writes their OWN text; then swap with a buddy and check.</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USEFUL ROOM PHRASES</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دَوْرُكَ! / دَوْرُكِ!</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Your turn! (m. / f.)</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عَفْوًا، أَعِدْ مِنْ فَضْلِكَ.</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Sorry, repeat please.</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لَحْظَةً، أُفَكِّرُ …</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One moment, I’m thinking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22</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F2-L11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A · STEP 1 · WORD WARM-UP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Say it — then use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قُلْهَا وَاسْتَعْمِلْهَا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F2-L11 · practice room</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IN YOUR ROOM</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Word ping-pong</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Leader says a word in ENGLISH from the next two slides. The Speaker says it in ARABIC. The Coach checks the Arabic (and the ending) on the slide.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Leader: say 4 English words; Speaker answers in Arabic.</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Coach checks the word on the slide.</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roles — new words each time.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each word in a short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a:t>
            </a:r>
            <a:pPr algn="l" indent="0" marL="0">
              <a:buNone/>
            </a:pPr>
            <a:r>
              <a:rPr lang="ar-SA" altLang="en-US" sz="1500" dirty="0">
                <a:solidFill>
                  <a:srgbClr val="1F2A37"/>
                </a:solidFill>
                <a:latin typeface="Amiri" pitchFamily="2" charset="-78"/>
                <a:ea typeface="Amiri" pitchFamily="2" charset="-78"/>
                <a:cs typeface="Amiri" pitchFamily="2" charset="-78"/>
              </a:rPr>
              <a:t>أَنَا … / عِنْدِي … / هٰذَا</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Give the feminine or plural form too, then a sentence with two words.</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أَعِدْ مِنْ فَضْلِكَ / أَعِيدِي</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repeat please (m. / f.)</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أَحْسَنْتَ! / أَحْسَنْتِ!</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well done! (m. / f.)</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بِبُطْءٍ مِنْ فَضْلِكَ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slowly, please</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F2-L11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 BANK (1) · FROM THE LESSON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Form headings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F2-L11 · practice room</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field</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الاِسْمُ</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name</a:t>
            </a:r>
            <a:endParaRPr lang="en-US" sz="1350" dirty="0"/>
          </a:p>
          <a:p>
            <a:pPr indent="0" marL="0">
              <a:buNone/>
            </a:pPr>
            <a:r>
              <a:rPr lang="en-US" sz="1100" i="1" dirty="0">
                <a:solidFill>
                  <a:srgbClr val="5A6472"/>
                </a:solidFill>
                <a:latin typeface="Calibri" pitchFamily="34" charset="0"/>
                <a:cs typeface="Amiri" pitchFamily="2" charset="-78"/>
              </a:rPr>
              <a:t>al-ism</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first</a:t>
            </a:r>
            <a:endParaRPr lang="en-US" sz="700" dirty="0"/>
          </a:p>
        </p:txBody>
      </p:sp>
      <p:sp>
        <p:nvSpPr>
          <p:cNvPr id="26" name="Text 23"/>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الاِسْمُ الأَوَّلُ</a:t>
            </a:r>
            <a:endParaRPr lang="ar-SA" sz="135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family</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اِسْمُ العَائِلَةِ</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surname</a:t>
            </a:r>
            <a:endParaRPr lang="en-US" sz="700" dirty="0"/>
          </a:p>
        </p:txBody>
      </p:sp>
      <p:sp>
        <p:nvSpPr>
          <p:cNvPr id="32" name="Text 29"/>
          <p:cNvSpPr txBox="1"/>
          <p:nvPr/>
        </p:nvSpPr>
        <p:spPr>
          <a:xfrm>
            <a:off x="828446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اللَّقَبُ</a:t>
            </a:r>
            <a:endParaRPr lang="ar-SA" sz="135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Shape 33"/>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field</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العُمْرُ</a:t>
            </a:r>
            <a:endParaRPr lang="ar-SA" sz="3000" dirty="0"/>
          </a:p>
        </p:txBody>
      </p:sp>
      <p:sp>
        <p:nvSpPr>
          <p:cNvPr id="41" name="Text 3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age</a:t>
            </a:r>
            <a:endParaRPr lang="en-US" sz="1350" dirty="0"/>
          </a:p>
          <a:p>
            <a:pPr indent="0" marL="0">
              <a:buNone/>
            </a:pPr>
            <a:r>
              <a:rPr lang="en-US" sz="1100" i="1" dirty="0">
                <a:solidFill>
                  <a:srgbClr val="5A6472"/>
                </a:solidFill>
                <a:latin typeface="Calibri" pitchFamily="34" charset="0"/>
                <a:cs typeface="Amiri" pitchFamily="2" charset="-78"/>
              </a:rPr>
              <a:t>al-ʿumr</a:t>
            </a:r>
            <a:endParaRPr lang="en-US" sz="1350" dirty="0"/>
          </a:p>
        </p:txBody>
      </p:sp>
      <p:sp>
        <p:nvSpPr>
          <p:cNvPr id="42" name="Text 39"/>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العُمْرُ: ١٣ سَنَةً</a:t>
            </a:r>
            <a:endParaRPr lang="ar-SA" sz="13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6" name="Shape 43"/>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field</a:t>
            </a:r>
            <a:endParaRPr lang="en-US" sz="800" dirty="0"/>
          </a:p>
        </p:txBody>
      </p:sp>
      <p:sp>
        <p:nvSpPr>
          <p:cNvPr id="48" name="Shape 4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الجِنْسِيَّةُ</a:t>
            </a:r>
            <a:endParaRPr lang="ar-SA" sz="3000" dirty="0"/>
          </a:p>
        </p:txBody>
      </p:sp>
      <p:sp>
        <p:nvSpPr>
          <p:cNvPr id="51" name="Text 4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nationality</a:t>
            </a:r>
            <a:endParaRPr lang="en-US" sz="1350" dirty="0"/>
          </a:p>
          <a:p>
            <a:pPr indent="0" marL="0">
              <a:buNone/>
            </a:pPr>
            <a:r>
              <a:rPr lang="en-US" sz="1100" i="1" dirty="0">
                <a:solidFill>
                  <a:srgbClr val="5A6472"/>
                </a:solidFill>
                <a:latin typeface="Calibri" pitchFamily="34" charset="0"/>
                <a:cs typeface="Amiri" pitchFamily="2" charset="-78"/>
              </a:rPr>
              <a:t>al-jin-siy-ya</a:t>
            </a:r>
            <a:endParaRPr lang="en-US" sz="1350" dirty="0"/>
          </a:p>
        </p:txBody>
      </p:sp>
      <p:sp>
        <p:nvSpPr>
          <p:cNvPr id="52" name="Text 49"/>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الجِنْسِيَّةُ: مِصْرِيَّةٌ</a:t>
            </a:r>
            <a:endParaRPr lang="ar-SA" sz="1300" dirty="0"/>
          </a:p>
        </p:txBody>
      </p:sp>
      <p:sp>
        <p:nvSpPr>
          <p:cNvPr id="53" name="Shape 5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4" name="Shape 51"/>
          <p:cNvSpPr/>
          <p:nvPr/>
        </p:nvSpPr>
        <p:spPr>
          <a:xfrm>
            <a:off x="8211312" y="4261104"/>
            <a:ext cx="310896" cy="310896"/>
          </a:xfrm>
          <a:prstGeom prst="ellipse">
            <a:avLst/>
          </a:prstGeom>
          <a:solidFill>
            <a:srgbClr val="F4F1EA"/>
          </a:solidFill>
          <a:ln w="12700">
            <a:solidFill>
              <a:srgbClr val="F4F1EA"/>
            </a:solidFill>
            <a:prstDash val="solid"/>
          </a:ln>
        </p:spPr>
      </p:sp>
      <p:sp>
        <p:nvSpPr>
          <p:cNvPr id="55" name="Text 5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6" name="Shape 53"/>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7" name="Text 54"/>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field</a:t>
            </a:r>
            <a:endParaRPr lang="en-US" sz="800" dirty="0"/>
          </a:p>
        </p:txBody>
      </p:sp>
      <p:sp>
        <p:nvSpPr>
          <p:cNvPr id="58" name="Shape 55"/>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مَكَانُ السَّكَنِ</a:t>
            </a:r>
            <a:endParaRPr lang="ar-SA" sz="3000" dirty="0"/>
          </a:p>
        </p:txBody>
      </p:sp>
      <p:sp>
        <p:nvSpPr>
          <p:cNvPr id="61" name="Text 5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place of residence</a:t>
            </a:r>
            <a:endParaRPr lang="en-US" sz="1350" dirty="0"/>
          </a:p>
          <a:p>
            <a:pPr indent="0" marL="0">
              <a:buNone/>
            </a:pPr>
            <a:r>
              <a:rPr lang="en-US" sz="1100" i="1" dirty="0">
                <a:solidFill>
                  <a:srgbClr val="5A6472"/>
                </a:solidFill>
                <a:latin typeface="Calibri" pitchFamily="34" charset="0"/>
                <a:cs typeface="Amiri" pitchFamily="2" charset="-78"/>
              </a:rPr>
              <a:t>ma-kā-nu s-sa-kan</a:t>
            </a:r>
            <a:endParaRPr lang="en-US" sz="1350" dirty="0"/>
          </a:p>
        </p:txBody>
      </p:sp>
      <p:sp>
        <p:nvSpPr>
          <p:cNvPr id="62" name="Text 59"/>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Also: </a:t>
            </a:r>
            <a:pPr algn="l" indent="0" marL="0">
              <a:buNone/>
            </a:pPr>
            <a:r>
              <a:rPr lang="ar-SA" altLang="en-US" sz="1300" dirty="0">
                <a:solidFill>
                  <a:srgbClr val="8A6D1E"/>
                </a:solidFill>
                <a:latin typeface="Amiri" pitchFamily="2" charset="-78"/>
                <a:ea typeface="Amiri" pitchFamily="2" charset="-78"/>
                <a:cs typeface="Amiri" pitchFamily="2" charset="-78"/>
              </a:rPr>
              <a:t>البَلَدُ</a:t>
            </a:r>
            <a:pPr algn="l" indent="0" marL="0">
              <a:buNone/>
            </a:pPr>
            <a:r>
              <a:rPr lang="en-US" sz="1000" i="1" dirty="0">
                <a:solidFill>
                  <a:srgbClr val="8A6D1E"/>
                </a:solidFill>
                <a:latin typeface="Calibri" pitchFamily="34" charset="0"/>
                <a:cs typeface="Amiri" pitchFamily="2" charset="-78"/>
              </a:rPr>
              <a:t> · </a:t>
            </a:r>
            <a:pPr algn="l" indent="0" marL="0">
              <a:buNone/>
            </a:pPr>
            <a:r>
              <a:rPr lang="ar-SA" altLang="en-US" sz="1300" dirty="0">
                <a:solidFill>
                  <a:srgbClr val="8A6D1E"/>
                </a:solidFill>
                <a:latin typeface="Amiri" pitchFamily="2" charset="-78"/>
                <a:ea typeface="Amiri" pitchFamily="2" charset="-78"/>
                <a:cs typeface="Amiri" pitchFamily="2" charset="-78"/>
              </a:rPr>
              <a:t>المَدِينَةُ</a:t>
            </a:r>
            <a:pPr algn="l" indent="0" marL="0">
              <a:buNone/>
            </a:pPr>
            <a:r>
              <a:rPr lang="en-US" sz="1000" i="1" dirty="0">
                <a:solidFill>
                  <a:srgbClr val="8A6D1E"/>
                </a:solidFill>
                <a:latin typeface="Calibri" pitchFamily="34" charset="0"/>
                <a:cs typeface="Amiri" pitchFamily="2" charset="-78"/>
              </a:rPr>
              <a:t> · </a:t>
            </a:r>
            <a:pPr algn="l" indent="0" marL="0">
              <a:buNone/>
            </a:pPr>
            <a:r>
              <a:rPr lang="ar-SA" altLang="en-US" sz="1300" dirty="0">
                <a:solidFill>
                  <a:srgbClr val="8A6D1E"/>
                </a:solidFill>
                <a:latin typeface="Amiri" pitchFamily="2" charset="-78"/>
                <a:ea typeface="Amiri" pitchFamily="2" charset="-78"/>
                <a:cs typeface="Amiri" pitchFamily="2" charset="-78"/>
              </a:rPr>
              <a:t>العُنْوَانُ</a:t>
            </a:r>
            <a:endParaRPr lang="en-US" sz="1000" dirty="0"/>
          </a:p>
        </p:txBody>
      </p:sp>
      <p:sp>
        <p:nvSpPr>
          <p:cNvPr id="63" name="Shape 6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4389120"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6" name="Shape 63"/>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67" name="Text 64"/>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field</a:t>
            </a:r>
            <a:endParaRPr lang="en-US" sz="800" dirty="0"/>
          </a:p>
        </p:txBody>
      </p:sp>
      <p:sp>
        <p:nvSpPr>
          <p:cNvPr id="68" name="Shape 6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0" name="Text 6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اللُّغَاتُ</a:t>
            </a:r>
            <a:endParaRPr lang="ar-SA" sz="3000" dirty="0"/>
          </a:p>
        </p:txBody>
      </p:sp>
      <p:sp>
        <p:nvSpPr>
          <p:cNvPr id="71" name="Text 6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languages</a:t>
            </a:r>
            <a:endParaRPr lang="en-US" sz="1350" dirty="0"/>
          </a:p>
          <a:p>
            <a:pPr indent="0" marL="0">
              <a:buNone/>
            </a:pPr>
            <a:r>
              <a:rPr lang="en-US" sz="1100" i="1" dirty="0">
                <a:solidFill>
                  <a:srgbClr val="5A6472"/>
                </a:solidFill>
                <a:latin typeface="Calibri" pitchFamily="34" charset="0"/>
                <a:cs typeface="Amiri" pitchFamily="2" charset="-78"/>
              </a:rPr>
              <a:t>al-lu-ghāt</a:t>
            </a:r>
            <a:endParaRPr lang="en-US" sz="1350" dirty="0"/>
          </a:p>
        </p:txBody>
      </p:sp>
      <p:sp>
        <p:nvSpPr>
          <p:cNvPr id="72" name="Shape 69"/>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74" name="Text 71"/>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اللُّغَةُ</a:t>
            </a:r>
            <a:endParaRPr lang="ar-SA" sz="1500" dirty="0"/>
          </a:p>
        </p:txBody>
      </p:sp>
      <p:sp>
        <p:nvSpPr>
          <p:cNvPr id="75" name="Shape 72"/>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7" name="Text 74"/>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اللُّغَاتُ</a:t>
            </a:r>
            <a:endParaRPr lang="ar-SA" sz="1500" dirty="0"/>
          </a:p>
        </p:txBody>
      </p:sp>
      <p:sp>
        <p:nvSpPr>
          <p:cNvPr id="78" name="Shape 75"/>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first</a:t>
            </a:r>
            <a:endParaRPr lang="en-US" sz="700" dirty="0"/>
          </a:p>
        </p:txBody>
      </p:sp>
      <p:sp>
        <p:nvSpPr>
          <p:cNvPr id="80" name="Text 77"/>
          <p:cNvSpPr txBox="1"/>
          <p:nvPr/>
        </p:nvSpPr>
        <p:spPr>
          <a:xfrm>
            <a:off x="446227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اللُّغَةُ الأُولَى</a:t>
            </a:r>
            <a:endParaRPr lang="ar-SA" sz="1350" dirty="0"/>
          </a:p>
        </p:txBody>
      </p:sp>
      <p:sp>
        <p:nvSpPr>
          <p:cNvPr id="81" name="Shape 78"/>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566928"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84" name="Shape 81"/>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field</a:t>
            </a:r>
            <a:endParaRPr lang="en-US" sz="800" dirty="0"/>
          </a:p>
        </p:txBody>
      </p:sp>
      <p:sp>
        <p:nvSpPr>
          <p:cNvPr id="86" name="Shape 83"/>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87" name="Text 84"/>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8" name="Text 85"/>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التَّوْقِيعُ</a:t>
            </a:r>
            <a:endParaRPr lang="ar-SA" sz="3000" dirty="0"/>
          </a:p>
        </p:txBody>
      </p:sp>
      <p:sp>
        <p:nvSpPr>
          <p:cNvPr id="89" name="Text 86"/>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signature</a:t>
            </a:r>
            <a:endParaRPr lang="en-US" sz="1350" dirty="0"/>
          </a:p>
          <a:p>
            <a:pPr indent="0" marL="0">
              <a:buNone/>
            </a:pPr>
            <a:r>
              <a:rPr lang="en-US" sz="1100" i="1" dirty="0">
                <a:solidFill>
                  <a:srgbClr val="5A6472"/>
                </a:solidFill>
                <a:latin typeface="Calibri" pitchFamily="34" charset="0"/>
                <a:cs typeface="Amiri" pitchFamily="2" charset="-78"/>
              </a:rPr>
              <a:t>at-taw-qīʿ</a:t>
            </a:r>
            <a:endParaRPr lang="en-US" sz="1350" dirty="0"/>
          </a:p>
        </p:txBody>
      </p:sp>
      <p:sp>
        <p:nvSpPr>
          <p:cNvPr id="90" name="Text 87"/>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900" i="1" dirty="0">
                <a:solidFill>
                  <a:srgbClr val="8A6D1E"/>
                </a:solidFill>
                <a:latin typeface="Calibri" pitchFamily="34" charset="0"/>
                <a:cs typeface="Amiri" pitchFamily="2" charset="-78"/>
              </a:rPr>
              <a:t>Recognise: </a:t>
            </a:r>
            <a:pPr algn="l" indent="0" marL="0">
              <a:buNone/>
            </a:pPr>
            <a:r>
              <a:rPr lang="ar-SA" altLang="en-US" sz="1150" dirty="0">
                <a:solidFill>
                  <a:srgbClr val="8A6D1E"/>
                </a:solidFill>
                <a:latin typeface="Amiri" pitchFamily="2" charset="-78"/>
                <a:ea typeface="Amiri" pitchFamily="2" charset="-78"/>
                <a:cs typeface="Amiri" pitchFamily="2" charset="-78"/>
              </a:rPr>
              <a:t>تَارِيخُ المِيلَادِ</a:t>
            </a:r>
            <a:pPr algn="l" indent="0" marL="0">
              <a:buNone/>
            </a:pPr>
            <a:r>
              <a:rPr lang="en-US" sz="900" i="1" dirty="0">
                <a:solidFill>
                  <a:srgbClr val="8A6D1E"/>
                </a:solidFill>
                <a:latin typeface="Calibri" pitchFamily="34" charset="0"/>
                <a:cs typeface="Amiri" pitchFamily="2" charset="-78"/>
              </a:rPr>
              <a:t> · </a:t>
            </a:r>
            <a:pPr algn="l" indent="0" marL="0">
              <a:buNone/>
            </a:pPr>
            <a:r>
              <a:rPr lang="ar-SA" altLang="en-US" sz="1150" dirty="0">
                <a:solidFill>
                  <a:srgbClr val="8A6D1E"/>
                </a:solidFill>
                <a:latin typeface="Amiri" pitchFamily="2" charset="-78"/>
                <a:ea typeface="Amiri" pitchFamily="2" charset="-78"/>
                <a:cs typeface="Amiri" pitchFamily="2" charset="-78"/>
              </a:rPr>
              <a:t>رَقْمُ الهَاتِفِ</a:t>
            </a:r>
            <a:pPr algn="l" indent="0" marL="0">
              <a:buNone/>
            </a:pPr>
            <a:r>
              <a:rPr lang="en-US" sz="900" i="1" dirty="0">
                <a:solidFill>
                  <a:srgbClr val="8A6D1E"/>
                </a:solidFill>
                <a:latin typeface="Calibri" pitchFamily="34" charset="0"/>
                <a:cs typeface="Amiri" pitchFamily="2" charset="-78"/>
              </a:rPr>
              <a:t> · </a:t>
            </a:r>
            <a:pPr algn="l" indent="0" marL="0">
              <a:buNone/>
            </a:pPr>
            <a:r>
              <a:rPr lang="ar-SA" altLang="en-US" sz="1150" dirty="0">
                <a:solidFill>
                  <a:srgbClr val="8A6D1E"/>
                </a:solidFill>
                <a:latin typeface="Amiri" pitchFamily="2" charset="-78"/>
                <a:ea typeface="Amiri" pitchFamily="2" charset="-78"/>
                <a:cs typeface="Amiri" pitchFamily="2" charset="-78"/>
              </a:rPr>
              <a:t>البَرِيدُ الإِلِكْتُرُونِيُّ</a:t>
            </a:r>
            <a:endParaRPr lang="en-US" sz="900" dirty="0"/>
          </a:p>
        </p:txBody>
      </p:sp>
      <p:sp>
        <p:nvSpPr>
          <p:cNvPr id="91" name="Text 8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22</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F2-L11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 BANK (2) · FROM THE LESSON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Linking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F2-L11 · practice room</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and</a:t>
            </a:r>
            <a:endParaRPr lang="en-US" sz="1350" dirty="0"/>
          </a:p>
          <a:p>
            <a:pPr indent="0" marL="0">
              <a:buNone/>
            </a:pPr>
            <a:r>
              <a:rPr lang="en-US" sz="1100" i="1" dirty="0">
                <a:solidFill>
                  <a:srgbClr val="5A6472"/>
                </a:solidFill>
                <a:latin typeface="Calibri" pitchFamily="34" charset="0"/>
                <a:cs typeface="Amiri" pitchFamily="2" charset="-78"/>
              </a:rPr>
              <a:t>wa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أَيْضًا</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also, too</a:t>
            </a:r>
            <a:endParaRPr lang="en-US" sz="1350" dirty="0"/>
          </a:p>
          <a:p>
            <a:pPr indent="0" marL="0">
              <a:buNone/>
            </a:pPr>
            <a:r>
              <a:rPr lang="en-US" sz="1100" i="1" dirty="0">
                <a:solidFill>
                  <a:srgbClr val="5A6472"/>
                </a:solidFill>
                <a:latin typeface="Calibri" pitchFamily="34" charset="0"/>
                <a:cs typeface="Amiri" pitchFamily="2" charset="-78"/>
              </a:rPr>
              <a:t>ay-ḍan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ثُمَّ</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then</a:t>
            </a:r>
            <a:endParaRPr lang="en-US" sz="1350" dirty="0"/>
          </a:p>
          <a:p>
            <a:pPr indent="0" marL="0">
              <a:buNone/>
            </a:pPr>
            <a:r>
              <a:rPr lang="en-US" sz="1100" i="1" dirty="0">
                <a:solidFill>
                  <a:srgbClr val="5A6472"/>
                </a:solidFill>
                <a:latin typeface="Calibri" pitchFamily="34" charset="0"/>
                <a:cs typeface="Amiri" pitchFamily="2" charset="-78"/>
              </a:rPr>
              <a:t>thum-ma</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لِأَنَّ</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because</a:t>
            </a:r>
            <a:endParaRPr lang="en-US" sz="1350" dirty="0"/>
          </a:p>
          <a:p>
            <a:pPr indent="0" marL="0">
              <a:buNone/>
            </a:pPr>
            <a:r>
              <a:rPr lang="en-US" sz="1100" i="1" dirty="0">
                <a:solidFill>
                  <a:srgbClr val="5A6472"/>
                </a:solidFill>
                <a:latin typeface="Calibri" pitchFamily="34" charset="0"/>
                <a:cs typeface="Amiri" pitchFamily="2" charset="-78"/>
              </a:rPr>
              <a:t>li-ʾan-na</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لٰكِنَّ</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but</a:t>
            </a:r>
            <a:endParaRPr lang="en-US" sz="1350" dirty="0"/>
          </a:p>
          <a:p>
            <a:pPr indent="0" marL="0">
              <a:buNone/>
            </a:pPr>
            <a:r>
              <a:rPr lang="en-US" sz="1100" i="1" dirty="0">
                <a:solidFill>
                  <a:srgbClr val="5A6472"/>
                </a:solidFill>
                <a:latin typeface="Calibri" pitchFamily="34" charset="0"/>
                <a:cs typeface="Amiri" pitchFamily="2" charset="-78"/>
              </a:rPr>
              <a:t>lā-kin-na</a:t>
            </a:r>
            <a:endParaRPr lang="en-US" sz="1350" dirty="0"/>
          </a:p>
        </p:txBody>
      </p:sp>
      <p:sp>
        <p:nvSpPr>
          <p:cNvPr id="50" name="Shape 4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566928"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53" name="Shape 5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جِدًّا</a:t>
            </a:r>
            <a:endParaRPr lang="ar-SA" sz="3000" dirty="0"/>
          </a:p>
        </p:txBody>
      </p:sp>
      <p:sp>
        <p:nvSpPr>
          <p:cNvPr id="56" name="Text 5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very</a:t>
            </a:r>
            <a:endParaRPr lang="en-US" sz="1350" dirty="0"/>
          </a:p>
          <a:p>
            <a:pPr indent="0" marL="0">
              <a:buNone/>
            </a:pPr>
            <a:r>
              <a:rPr lang="en-US" sz="1100" i="1" dirty="0">
                <a:solidFill>
                  <a:srgbClr val="5A6472"/>
                </a:solidFill>
                <a:latin typeface="Calibri" pitchFamily="34" charset="0"/>
                <a:cs typeface="Amiri" pitchFamily="2" charset="-78"/>
              </a:rPr>
              <a:t>jid-dan</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22</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F2-L11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STEP 2 · SAY THE MODEL DIALOGUE · READ IT, THEN SAY IT WITHOUT LOOKING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Filling in a form together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نَمْلَأُ الاسْتِمَارَةَ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F2-L11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الاسْمُ؟</a:t>
            </a:r>
            <a:endParaRPr lang="ar-SA" sz="20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Salma Hassan.</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سَلْمَى حَسَن.</a:t>
            </a:r>
            <a:endParaRPr lang="ar-SA" sz="20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Age? And nationality?</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العُمْرُ؟ وَالجِنْسِيَّةُ؟</a:t>
            </a:r>
            <a:endParaRPr lang="ar-SA" sz="20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Fourteen. British (f.).</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أَرْبَعَ عَشْرَةَ سَنَةً. بِرِيطَانِيَّةٌ.</a:t>
            </a:r>
            <a:endParaRPr lang="ar-SA" sz="20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Place of residence? And languages?</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مَكَانُ السَّكَنِ؟ وَاللُّغَاتُ؟</a:t>
            </a:r>
            <a:endParaRPr lang="ar-SA" sz="20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Nottingham. Arabic and English.</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نُوتِنْغْهَامُ. العَرَبِيَّةُ وَالإِنْجِلِيزِيَّةُ.</a:t>
            </a:r>
            <a:endParaRPr lang="ar-SA" sz="20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Round 1: read it in pairs. Round 2: swap and give YOUR answers. Round 3: B turns each short answer into a full sentence (</a:t>
            </a:r>
            <a:pPr algn="l" indent="0" marL="0">
              <a:buNone/>
            </a:pPr>
            <a:r>
              <a:rPr lang="ar-SA" altLang="en-US" sz="1450" b="1" dirty="0">
                <a:solidFill>
                  <a:srgbClr val="1B3B6F"/>
                </a:solidFill>
                <a:latin typeface="Amiri" pitchFamily="2" charset="-78"/>
                <a:ea typeface="Amiri" pitchFamily="2" charset="-78"/>
                <a:cs typeface="Amiri" pitchFamily="2" charset="-78"/>
              </a:rPr>
              <a:t>اسْمِي</a:t>
            </a:r>
            <a:pPr algn="l" indent="0" marL="0">
              <a:buNone/>
            </a:pPr>
            <a:r>
              <a:rPr lang="en-US" sz="1100" b="1" dirty="0">
                <a:solidFill>
                  <a:srgbClr val="1B3B6F"/>
                </a:solidFill>
                <a:latin typeface="Calibri" pitchFamily="34" charset="0"/>
                <a:cs typeface="Amiri" pitchFamily="2" charset="-78"/>
              </a:rPr>
              <a:t> … · </a:t>
            </a:r>
            <a:pPr algn="l" indent="0" marL="0">
              <a:buNone/>
            </a:pPr>
            <a:r>
              <a:rPr lang="ar-SA" altLang="en-US" sz="1450" b="1" dirty="0">
                <a:solidFill>
                  <a:srgbClr val="1B3B6F"/>
                </a:solidFill>
                <a:latin typeface="Amiri" pitchFamily="2" charset="-78"/>
                <a:ea typeface="Amiri" pitchFamily="2" charset="-78"/>
                <a:cs typeface="Amiri" pitchFamily="2" charset="-78"/>
              </a:rPr>
              <a:t>عُمْرِي</a:t>
            </a:r>
            <a:pPr algn="l" indent="0" marL="0">
              <a:buNone/>
            </a:pPr>
            <a:r>
              <a:rPr lang="en-US" sz="1100" b="1" dirty="0">
                <a:solidFill>
                  <a:srgbClr val="1B3B6F"/>
                </a:solidFill>
                <a:latin typeface="Calibri" pitchFamily="34" charset="0"/>
                <a:cs typeface="Amiri" pitchFamily="2" charset="-78"/>
              </a:rPr>
              <a:t> … · </a:t>
            </a:r>
            <a:pPr algn="l" indent="0" marL="0">
              <a:buNone/>
            </a:pPr>
            <a:r>
              <a:rPr lang="ar-SA" altLang="en-US" sz="1450" b="1" dirty="0">
                <a:solidFill>
                  <a:srgbClr val="1B3B6F"/>
                </a:solidFill>
                <a:latin typeface="Amiri" pitchFamily="2" charset="-78"/>
                <a:ea typeface="Amiri" pitchFamily="2" charset="-78"/>
                <a:cs typeface="Amiri" pitchFamily="2" charset="-78"/>
              </a:rPr>
              <a:t>أَنَا</a:t>
            </a:r>
            <a:pPr algn="l" indent="0" marL="0">
              <a:buNone/>
            </a:pPr>
            <a:r>
              <a:rPr lang="en-US" sz="1100" b="1" dirty="0">
                <a:solidFill>
                  <a:srgbClr val="1B3B6F"/>
                </a:solidFill>
                <a:latin typeface="Calibri" pitchFamily="34" charset="0"/>
                <a:cs typeface="Amiri" pitchFamily="2" charset="-78"/>
              </a:rPr>
              <a:t> … · </a:t>
            </a:r>
            <a:pPr algn="l" indent="0" marL="0">
              <a:buNone/>
            </a:pPr>
            <a:r>
              <a:rPr lang="ar-SA" altLang="en-US" sz="1450" b="1" dirty="0">
                <a:solidFill>
                  <a:srgbClr val="1B3B6F"/>
                </a:solidFill>
                <a:latin typeface="Amiri" pitchFamily="2" charset="-78"/>
                <a:ea typeface="Amiri" pitchFamily="2" charset="-78"/>
                <a:cs typeface="Amiri" pitchFamily="2" charset="-78"/>
              </a:rPr>
              <a:t>أَسْكُنُ فِي</a:t>
            </a:r>
            <a:pPr algn="l" indent="0" marL="0">
              <a:buNone/>
            </a:pPr>
            <a:r>
              <a:rPr lang="en-US" sz="1100" b="1" dirty="0">
                <a:solidFill>
                  <a:srgbClr val="1B3B6F"/>
                </a:solidFill>
                <a:latin typeface="Calibri" pitchFamily="34" charset="0"/>
                <a:cs typeface="Amiri" pitchFamily="2" charset="-78"/>
              </a:rPr>
              <a:t> … · </a:t>
            </a:r>
            <a:pPr algn="l" indent="0" marL="0">
              <a:buNone/>
            </a:pPr>
            <a:r>
              <a:rPr lang="ar-SA" altLang="en-US" sz="1450" b="1" dirty="0">
                <a:solidFill>
                  <a:srgbClr val="1B3B6F"/>
                </a:solidFill>
                <a:latin typeface="Amiri" pitchFamily="2" charset="-78"/>
                <a:ea typeface="Amiri" pitchFamily="2" charset="-78"/>
                <a:cs typeface="Amiri" pitchFamily="2" charset="-78"/>
              </a:rPr>
              <a:t>أَتَكَلَّمُ</a:t>
            </a:r>
            <a:pPr algn="l" indent="0" marL="0">
              <a:buNone/>
            </a:pPr>
            <a:r>
              <a:rPr lang="en-US" sz="1100" b="1" dirty="0">
                <a:solidFill>
                  <a:srgbClr val="1B3B6F"/>
                </a:solidFill>
                <a:latin typeface="Calibri" pitchFamily="34" charset="0"/>
                <a:cs typeface="Amiri" pitchFamily="2" charset="-78"/>
              </a:rPr>
              <a:t> …).</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22</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F2-L11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3 · QUESTION CARDS · THE LEADER ASKS, THE SPEAKER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Short form answer → full sentence → add more</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وَأَجْوِبَةٌ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F2-L11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9738360" y="2267712"/>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وَاسْمُ عَائِلَتِي …</a:t>
            </a:r>
            <a:endParaRPr lang="ar-SA" sz="1500" dirty="0"/>
          </a:p>
        </p:txBody>
      </p:sp>
      <p:sp>
        <p:nvSpPr>
          <p:cNvPr id="23" name="Text 20"/>
          <p:cNvSpPr txBox="1"/>
          <p:nvPr/>
        </p:nvSpPr>
        <p:spPr>
          <a:xfrm>
            <a:off x="6995160" y="2267712"/>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اسْمِي …</a:t>
            </a:r>
            <a:endParaRPr lang="ar-SA" sz="1600" dirty="0"/>
          </a:p>
        </p:txBody>
      </p:sp>
      <p:sp>
        <p:nvSpPr>
          <p:cNvPr id="24" name="Text 21"/>
          <p:cNvSpPr txBox="1"/>
          <p:nvPr/>
        </p:nvSpPr>
        <p:spPr>
          <a:xfrm>
            <a:off x="463600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 say it in a sentence.</a:t>
            </a:r>
            <a:endParaRPr lang="en-US" sz="1100" dirty="0"/>
          </a:p>
        </p:txBody>
      </p:sp>
      <p:sp>
        <p:nvSpPr>
          <p:cNvPr id="25" name="Text 22"/>
          <p:cNvSpPr txBox="1"/>
          <p:nvPr/>
        </p:nvSpPr>
        <p:spPr>
          <a:xfrm>
            <a:off x="1051560" y="2267712"/>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الاسْمُ؟ ← قُلْهُ فِي جُمْلَةٍ.</a:t>
            </a:r>
            <a:endParaRPr lang="ar-SA" sz="1700" dirty="0"/>
          </a:p>
        </p:txBody>
      </p:sp>
      <p:sp>
        <p:nvSpPr>
          <p:cNvPr id="26" name="Text 23"/>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738360" y="3004718"/>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وَعُمْرُ أَخِي …</a:t>
            </a:r>
            <a:endParaRPr lang="ar-SA" sz="1500" dirty="0"/>
          </a:p>
        </p:txBody>
      </p:sp>
      <p:sp>
        <p:nvSpPr>
          <p:cNvPr id="31" name="Text 28"/>
          <p:cNvSpPr txBox="1"/>
          <p:nvPr/>
        </p:nvSpPr>
        <p:spPr>
          <a:xfrm>
            <a:off x="6995160" y="3004718"/>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عُمْرِي … سَنَةً</a:t>
            </a:r>
            <a:endParaRPr lang="ar-SA" sz="1600" dirty="0"/>
          </a:p>
        </p:txBody>
      </p:sp>
      <p:sp>
        <p:nvSpPr>
          <p:cNvPr id="32" name="Text 29"/>
          <p:cNvSpPr txBox="1"/>
          <p:nvPr/>
        </p:nvSpPr>
        <p:spPr>
          <a:xfrm>
            <a:off x="463600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Age? → in a sentence.</a:t>
            </a:r>
            <a:endParaRPr lang="en-US" sz="1100" dirty="0"/>
          </a:p>
        </p:txBody>
      </p:sp>
      <p:sp>
        <p:nvSpPr>
          <p:cNvPr id="33" name="Text 30"/>
          <p:cNvSpPr txBox="1"/>
          <p:nvPr/>
        </p:nvSpPr>
        <p:spPr>
          <a:xfrm>
            <a:off x="1051560" y="3004718"/>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العُمْرُ؟ ← قُلْهُ فِي جُمْلَةٍ.</a:t>
            </a:r>
            <a:endParaRPr lang="ar-SA" sz="1700" dirty="0"/>
          </a:p>
        </p:txBody>
      </p:sp>
      <p:sp>
        <p:nvSpPr>
          <p:cNvPr id="34" name="Text 31"/>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738360" y="3741725"/>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لٰكِنَّ عَائِلَتِي مِنْ …</a:t>
            </a:r>
            <a:endParaRPr lang="ar-SA" sz="1500" dirty="0"/>
          </a:p>
        </p:txBody>
      </p:sp>
      <p:sp>
        <p:nvSpPr>
          <p:cNvPr id="39" name="Text 36"/>
          <p:cNvSpPr txBox="1"/>
          <p:nvPr/>
        </p:nvSpPr>
        <p:spPr>
          <a:xfrm>
            <a:off x="6995160" y="3741725"/>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أَنَا … ، وَأَسْكُنُ فِي …</a:t>
            </a:r>
            <a:endParaRPr lang="ar-SA" sz="1600" dirty="0"/>
          </a:p>
        </p:txBody>
      </p:sp>
      <p:sp>
        <p:nvSpPr>
          <p:cNvPr id="40" name="Text 37"/>
          <p:cNvSpPr txBox="1"/>
          <p:nvPr/>
        </p:nvSpPr>
        <p:spPr>
          <a:xfrm>
            <a:off x="463600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Nationality and residence?</a:t>
            </a:r>
            <a:endParaRPr lang="en-US" sz="1100" dirty="0"/>
          </a:p>
        </p:txBody>
      </p:sp>
      <p:sp>
        <p:nvSpPr>
          <p:cNvPr id="41" name="Text 38"/>
          <p:cNvSpPr txBox="1"/>
          <p:nvPr/>
        </p:nvSpPr>
        <p:spPr>
          <a:xfrm>
            <a:off x="1051560" y="3741725"/>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الجِنْسِيَّةُ وَمَكَانُ السَّكَنِ؟</a:t>
            </a:r>
            <a:endParaRPr lang="ar-SA" sz="1700" dirty="0"/>
          </a:p>
        </p:txBody>
      </p:sp>
      <p:sp>
        <p:nvSpPr>
          <p:cNvPr id="42" name="Text 39"/>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6" name="Text 43"/>
          <p:cNvSpPr txBox="1"/>
          <p:nvPr/>
        </p:nvSpPr>
        <p:spPr>
          <a:xfrm>
            <a:off x="9738360" y="4478731"/>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وَأَتَعَلَّمُ … أَيْضًا</a:t>
            </a:r>
            <a:endParaRPr lang="ar-SA" sz="1500" dirty="0"/>
          </a:p>
        </p:txBody>
      </p:sp>
      <p:sp>
        <p:nvSpPr>
          <p:cNvPr id="47" name="Text 44"/>
          <p:cNvSpPr txBox="1"/>
          <p:nvPr/>
        </p:nvSpPr>
        <p:spPr>
          <a:xfrm>
            <a:off x="6995160" y="4478731"/>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أَتَكَلَّمُ … وَ…</a:t>
            </a:r>
            <a:endParaRPr lang="ar-SA" sz="1600" dirty="0"/>
          </a:p>
        </p:txBody>
      </p:sp>
      <p:sp>
        <p:nvSpPr>
          <p:cNvPr id="48" name="Text 45"/>
          <p:cNvSpPr txBox="1"/>
          <p:nvPr/>
        </p:nvSpPr>
        <p:spPr>
          <a:xfrm>
            <a:off x="463600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Languages?</a:t>
            </a:r>
            <a:endParaRPr lang="en-US" sz="1100" dirty="0"/>
          </a:p>
        </p:txBody>
      </p:sp>
      <p:sp>
        <p:nvSpPr>
          <p:cNvPr id="49" name="Text 46"/>
          <p:cNvSpPr txBox="1"/>
          <p:nvPr/>
        </p:nvSpPr>
        <p:spPr>
          <a:xfrm>
            <a:off x="1051560" y="4478731"/>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اللُّغَاتُ؟</a:t>
            </a:r>
            <a:endParaRPr lang="ar-SA" sz="1700" dirty="0"/>
          </a:p>
        </p:txBody>
      </p:sp>
      <p:sp>
        <p:nvSpPr>
          <p:cNvPr id="50" name="Text 47"/>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2" name="Text 49"/>
          <p:cNvSpPr txBox="1"/>
          <p:nvPr/>
        </p:nvSpPr>
        <p:spPr>
          <a:xfrm>
            <a:off x="9738360" y="5215738"/>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وَأُحِبُّهَا جِدًّا</a:t>
            </a:r>
            <a:endParaRPr lang="ar-SA" sz="1500" dirty="0"/>
          </a:p>
        </p:txBody>
      </p:sp>
      <p:sp>
        <p:nvSpPr>
          <p:cNvPr id="53" name="Text 50"/>
          <p:cNvSpPr txBox="1"/>
          <p:nvPr/>
        </p:nvSpPr>
        <p:spPr>
          <a:xfrm>
            <a:off x="6995160" y="5215738"/>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أَتَعَلَّمُ العَرَبِيَّةَ لِأَنَّ …</a:t>
            </a:r>
            <a:endParaRPr lang="ar-SA" sz="1600" dirty="0"/>
          </a:p>
        </p:txBody>
      </p:sp>
      <p:sp>
        <p:nvSpPr>
          <p:cNvPr id="54" name="Text 51"/>
          <p:cNvSpPr txBox="1"/>
          <p:nvPr/>
        </p:nvSpPr>
        <p:spPr>
          <a:xfrm>
            <a:off x="463600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Why do you learn Arabic?</a:t>
            </a:r>
            <a:endParaRPr lang="en-US" sz="1100" dirty="0"/>
          </a:p>
        </p:txBody>
      </p:sp>
      <p:sp>
        <p:nvSpPr>
          <p:cNvPr id="55" name="Text 52"/>
          <p:cNvSpPr txBox="1"/>
          <p:nvPr/>
        </p:nvSpPr>
        <p:spPr>
          <a:xfrm>
            <a:off x="1051560" y="5215738"/>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لِمَاذَا تَتَعَلَّمُ العَرَبِيَّةَ؟</a:t>
            </a:r>
            <a:endParaRPr lang="ar-SA" sz="1700" dirty="0"/>
          </a:p>
        </p:txBody>
      </p:sp>
      <p:sp>
        <p:nvSpPr>
          <p:cNvPr id="56" name="Text 53"/>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7" name="Text 5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Each Speaker answers every question. Core: a full sentence from the starter. Develop: add the “more” part. Stretch: add a reason with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 second detail. Swap after each question.</a:t>
            </a:r>
            <a:endParaRPr lang="en-US" sz="110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22</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F2-L11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ROLE-PLAY CARD · USE THE PLAN, THEN HIDE IT AND SPEAK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cs typeface="Amiri" pitchFamily="2" charset="-78"/>
              </a:rPr>
              <a:t>Card — a membership interview at a youth library</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الاشْتِرَاكُ فِي المَكْتَبَةِ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F2-L11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275320" y="2267712"/>
            <a:ext cx="33649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 اسْمِي …</a:t>
            </a:r>
            <a:endParaRPr lang="ar-SA" sz="1600" dirty="0"/>
          </a:p>
        </p:txBody>
      </p:sp>
      <p:sp>
        <p:nvSpPr>
          <p:cNvPr id="22" name="Text 19"/>
          <p:cNvSpPr txBox="1"/>
          <p:nvPr/>
        </p:nvSpPr>
        <p:spPr>
          <a:xfrm>
            <a:off x="5001768" y="2267712"/>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your full name.</a:t>
            </a:r>
            <a:endParaRPr lang="en-US" sz="1100" dirty="0"/>
          </a:p>
        </p:txBody>
      </p:sp>
      <p:sp>
        <p:nvSpPr>
          <p:cNvPr id="23" name="Text 20"/>
          <p:cNvSpPr txBox="1"/>
          <p:nvPr/>
        </p:nvSpPr>
        <p:spPr>
          <a:xfrm>
            <a:off x="1051560" y="2267712"/>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اسْمُكَ الكَامِلُ؟</a:t>
            </a:r>
            <a:endParaRPr lang="ar-SA" sz="1700" dirty="0"/>
          </a:p>
        </p:txBody>
      </p:sp>
      <p:sp>
        <p:nvSpPr>
          <p:cNvPr id="24" name="Text 21"/>
          <p:cNvSpPr txBox="1"/>
          <p:nvPr/>
        </p:nvSpPr>
        <p:spPr>
          <a:xfrm>
            <a:off x="566928" y="2267712"/>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275320" y="3054096"/>
            <a:ext cx="33649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كَمْ · مَا ← عُمْرِي … ، وَأَنَا …</a:t>
            </a:r>
            <a:endParaRPr lang="ar-SA" sz="1600" dirty="0"/>
          </a:p>
        </p:txBody>
      </p:sp>
      <p:sp>
        <p:nvSpPr>
          <p:cNvPr id="29" name="Text 26"/>
          <p:cNvSpPr txBox="1"/>
          <p:nvPr/>
        </p:nvSpPr>
        <p:spPr>
          <a:xfrm>
            <a:off x="5001768" y="3054096"/>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Age and nationality.</a:t>
            </a:r>
            <a:endParaRPr lang="en-US" sz="1100" dirty="0"/>
          </a:p>
        </p:txBody>
      </p:sp>
      <p:sp>
        <p:nvSpPr>
          <p:cNvPr id="30" name="Text 27"/>
          <p:cNvSpPr txBox="1"/>
          <p:nvPr/>
        </p:nvSpPr>
        <p:spPr>
          <a:xfrm>
            <a:off x="1051560" y="3054096"/>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كَمْ عُمْرُكَ؟ وَمَا جِنْسِيَّتُكَ؟</a:t>
            </a:r>
            <a:endParaRPr lang="ar-SA" sz="1700" dirty="0"/>
          </a:p>
        </p:txBody>
      </p:sp>
      <p:sp>
        <p:nvSpPr>
          <p:cNvPr id="31" name="Text 28"/>
          <p:cNvSpPr txBox="1"/>
          <p:nvPr/>
        </p:nvSpPr>
        <p:spPr>
          <a:xfrm>
            <a:off x="566928" y="3054096"/>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8275320" y="3840480"/>
            <a:ext cx="33649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أَيْنَ ← أَسْكُنُ فِي …</a:t>
            </a:r>
            <a:endParaRPr lang="ar-SA" sz="1600" dirty="0"/>
          </a:p>
        </p:txBody>
      </p:sp>
      <p:sp>
        <p:nvSpPr>
          <p:cNvPr id="36" name="Text 33"/>
          <p:cNvSpPr txBox="1"/>
          <p:nvPr/>
        </p:nvSpPr>
        <p:spPr>
          <a:xfrm>
            <a:off x="5001768" y="3840480"/>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town.</a:t>
            </a:r>
            <a:endParaRPr lang="en-US" sz="1100" dirty="0"/>
          </a:p>
        </p:txBody>
      </p:sp>
      <p:sp>
        <p:nvSpPr>
          <p:cNvPr id="37" name="Text 34"/>
          <p:cNvSpPr txBox="1"/>
          <p:nvPr/>
        </p:nvSpPr>
        <p:spPr>
          <a:xfrm>
            <a:off x="1051560" y="3840480"/>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أَيْنَ تَسْكُنُ؟</a:t>
            </a:r>
            <a:endParaRPr lang="ar-SA" sz="1700" dirty="0"/>
          </a:p>
        </p:txBody>
      </p:sp>
      <p:sp>
        <p:nvSpPr>
          <p:cNvPr id="38" name="Text 35"/>
          <p:cNvSpPr txBox="1"/>
          <p:nvPr/>
        </p:nvSpPr>
        <p:spPr>
          <a:xfrm>
            <a:off x="566928" y="3840480"/>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8275320" y="4626864"/>
            <a:ext cx="33649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لِمَاذَا ← لِأَنِّي أُحِبُّ …</a:t>
            </a:r>
            <a:endParaRPr lang="ar-SA" sz="1600" dirty="0"/>
          </a:p>
        </p:txBody>
      </p:sp>
      <p:sp>
        <p:nvSpPr>
          <p:cNvPr id="43" name="Text 40"/>
          <p:cNvSpPr txBox="1"/>
          <p:nvPr/>
        </p:nvSpPr>
        <p:spPr>
          <a:xfrm>
            <a:off x="5001768" y="4626864"/>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a reason.</a:t>
            </a:r>
            <a:endParaRPr lang="en-US" sz="1100" dirty="0"/>
          </a:p>
        </p:txBody>
      </p:sp>
      <p:sp>
        <p:nvSpPr>
          <p:cNvPr id="44" name="Text 41"/>
          <p:cNvSpPr txBox="1"/>
          <p:nvPr/>
        </p:nvSpPr>
        <p:spPr>
          <a:xfrm>
            <a:off x="1051560" y="4626864"/>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لِمَاذَا تُرِيدُ أَنْ تَشْتَرِكَ؟</a:t>
            </a:r>
            <a:endParaRPr lang="ar-SA" sz="1700" dirty="0"/>
          </a:p>
        </p:txBody>
      </p:sp>
      <p:sp>
        <p:nvSpPr>
          <p:cNvPr id="45" name="Text 42"/>
          <p:cNvSpPr txBox="1"/>
          <p:nvPr/>
        </p:nvSpPr>
        <p:spPr>
          <a:xfrm>
            <a:off x="566928" y="4626864"/>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Text 4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Speaker = a new member · Leader = the librarian filling in the form. Read the plan for 1 minute, then hide it and speak. Then swap roles.</a:t>
            </a:r>
            <a:endParaRPr lang="en-US" sz="11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22</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F2-L11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5 · SHORT TALK · 30 SECONDS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30 seconds: my introduction, linked</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تَعْرِيفِي بِكَلِمَاتِ الرَّبْطِ</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F2-L11 · practice room</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5 · IN YOUR ROOM</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Talk for 30 seconds — no stopping</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Give your introduction in 30 seconds, using at least FOUR linking words (</a:t>
            </a:r>
            <a:pPr algn="l" indent="0" marL="0">
              <a:buNone/>
            </a:pPr>
            <a:r>
              <a:rPr lang="ar-SA" altLang="en-US" sz="1750" dirty="0">
                <a:solidFill>
                  <a:srgbClr val="1F2A37"/>
                </a:solidFill>
                <a:latin typeface="Amiri" pitchFamily="2" charset="-78"/>
                <a:ea typeface="Amiri" pitchFamily="2" charset="-78"/>
                <a:cs typeface="Amiri" pitchFamily="2" charset="-78"/>
              </a:rPr>
              <a:t>وَ</a:t>
            </a:r>
            <a:pPr algn="l" indent="0" marL="0">
              <a:buNone/>
            </a:pPr>
            <a:r>
              <a:rPr lang="en-US" sz="1350" dirty="0">
                <a:solidFill>
                  <a:srgbClr val="1F2A37"/>
                </a:solidFill>
                <a:latin typeface="Calibri" pitchFamily="34" charset="0"/>
                <a:cs typeface="Amiri" pitchFamily="2" charset="-78"/>
              </a:rPr>
              <a:t> · </a:t>
            </a:r>
            <a:pPr algn="l" indent="0" marL="0">
              <a:buNone/>
            </a:pPr>
            <a:r>
              <a:rPr lang="ar-SA" altLang="en-US" sz="1750" dirty="0">
                <a:solidFill>
                  <a:srgbClr val="1F2A37"/>
                </a:solidFill>
                <a:latin typeface="Amiri" pitchFamily="2" charset="-78"/>
                <a:ea typeface="Amiri" pitchFamily="2" charset="-78"/>
                <a:cs typeface="Amiri" pitchFamily="2" charset="-78"/>
              </a:rPr>
              <a:t>أَيْضًا</a:t>
            </a:r>
            <a:pPr algn="l" indent="0" marL="0">
              <a:buNone/>
            </a:pPr>
            <a:r>
              <a:rPr lang="en-US" sz="1350" dirty="0">
                <a:solidFill>
                  <a:srgbClr val="1F2A37"/>
                </a:solidFill>
                <a:latin typeface="Calibri" pitchFamily="34" charset="0"/>
                <a:cs typeface="Amiri" pitchFamily="2" charset="-78"/>
              </a:rPr>
              <a:t> · </a:t>
            </a:r>
            <a:pPr algn="l" indent="0" marL="0">
              <a:buNone/>
            </a:pPr>
            <a:r>
              <a:rPr lang="ar-SA" altLang="en-US" sz="1750" dirty="0">
                <a:solidFill>
                  <a:srgbClr val="1F2A37"/>
                </a:solidFill>
                <a:latin typeface="Amiri" pitchFamily="2" charset="-78"/>
                <a:ea typeface="Amiri" pitchFamily="2" charset="-78"/>
                <a:cs typeface="Amiri" pitchFamily="2" charset="-78"/>
              </a:rPr>
              <a:t>ثُمَّ</a:t>
            </a:r>
            <a:pPr algn="l" indent="0" marL="0">
              <a:buNone/>
            </a:pPr>
            <a:r>
              <a:rPr lang="en-US" sz="1350" dirty="0">
                <a:solidFill>
                  <a:srgbClr val="1F2A37"/>
                </a:solidFill>
                <a:latin typeface="Calibri" pitchFamily="34" charset="0"/>
                <a:cs typeface="Amiri" pitchFamily="2" charset="-78"/>
              </a:rPr>
              <a:t> · </a:t>
            </a:r>
            <a:pPr algn="l" indent="0" marL="0">
              <a:buNone/>
            </a:pPr>
            <a:r>
              <a:rPr lang="ar-SA" altLang="en-US" sz="1750" dirty="0">
                <a:solidFill>
                  <a:srgbClr val="1F2A37"/>
                </a:solidFill>
                <a:latin typeface="Amiri" pitchFamily="2" charset="-78"/>
                <a:ea typeface="Amiri" pitchFamily="2" charset="-78"/>
                <a:cs typeface="Amiri" pitchFamily="2" charset="-78"/>
              </a:rPr>
              <a:t>لِأَنَّ</a:t>
            </a:r>
            <a:pPr algn="l" indent="0" marL="0">
              <a:buNone/>
            </a:pPr>
            <a:r>
              <a:rPr lang="en-US" sz="1350" dirty="0">
                <a:solidFill>
                  <a:srgbClr val="1F2A37"/>
                </a:solidFill>
                <a:latin typeface="Calibri" pitchFamily="34" charset="0"/>
                <a:cs typeface="Amiri" pitchFamily="2" charset="-78"/>
              </a:rPr>
              <a:t> · </a:t>
            </a:r>
            <a:pPr algn="l" indent="0" marL="0">
              <a:buNone/>
            </a:pPr>
            <a:r>
              <a:rPr lang="ar-SA" altLang="en-US" sz="1750" dirty="0">
                <a:solidFill>
                  <a:srgbClr val="1F2A37"/>
                </a:solidFill>
                <a:latin typeface="Amiri" pitchFamily="2" charset="-78"/>
                <a:ea typeface="Amiri" pitchFamily="2" charset="-78"/>
                <a:cs typeface="Amiri" pitchFamily="2" charset="-78"/>
              </a:rPr>
              <a:t>لٰكِنَّ</a:t>
            </a:r>
            <a:pPr algn="l" indent="0" marL="0">
              <a:buNone/>
            </a:pPr>
            <a:r>
              <a:rPr lang="en-US" sz="1350" dirty="0">
                <a:solidFill>
                  <a:srgbClr val="1F2A37"/>
                </a:solidFill>
                <a:latin typeface="Calibri" pitchFamily="34" charset="0"/>
                <a:cs typeface="Amiri" pitchFamily="2" charset="-78"/>
              </a:rPr>
              <a:t>). The Coach counts them.</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3–4 key words,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Leader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Coach: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until everyone has spoken.</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Five facts joined with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t>
            </a:r>
            <a:pPr algn="l" indent="0" marL="0">
              <a:buNone/>
            </a:pPr>
            <a:r>
              <a:rPr lang="ar-SA" altLang="en-US" sz="1500" dirty="0">
                <a:solidFill>
                  <a:srgbClr val="1F2A37"/>
                </a:solidFill>
                <a:latin typeface="Amiri" pitchFamily="2" charset="-78"/>
                <a:ea typeface="Amiri" pitchFamily="2" charset="-78"/>
                <a:cs typeface="Amiri" pitchFamily="2" charset="-78"/>
              </a:rPr>
              <a:t>أَيْضًا</a:t>
            </a:r>
            <a:pPr algn="l" indent="0" marL="0">
              <a:buNone/>
            </a:pPr>
            <a:r>
              <a:rPr lang="en-US" sz="1150" dirty="0">
                <a:solidFill>
                  <a:srgbClr val="1F2A37"/>
                </a:solidFill>
                <a:latin typeface="Calibri" pitchFamily="34" charset="0"/>
                <a:cs typeface="Amiri" pitchFamily="2" charset="-78"/>
              </a:rPr>
              <a:t> and </a:t>
            </a:r>
            <a:pPr algn="l" indent="0" marL="0">
              <a:buNone/>
            </a:pPr>
            <a:r>
              <a:rPr lang="ar-SA" altLang="en-US" sz="1500" dirty="0">
                <a:solidFill>
                  <a:srgbClr val="1F2A37"/>
                </a:solidFill>
                <a:latin typeface="Amiri" pitchFamily="2" charset="-78"/>
                <a:ea typeface="Amiri" pitchFamily="2" charset="-78"/>
                <a:cs typeface="Amiri" pitchFamily="2" charset="-78"/>
              </a:rPr>
              <a:t>لِأَنَّ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t>
            </a:r>
            <a:pPr algn="l" indent="0" marL="0">
              <a:buNone/>
            </a:pPr>
            <a:r>
              <a:rPr lang="ar-SA" altLang="en-US" sz="1500" dirty="0">
                <a:solidFill>
                  <a:srgbClr val="1F2A37"/>
                </a:solidFill>
                <a:latin typeface="Amiri" pitchFamily="2" charset="-78"/>
                <a:ea typeface="Amiri" pitchFamily="2" charset="-78"/>
                <a:cs typeface="Amiri" pitchFamily="2" charset="-78"/>
              </a:rPr>
              <a:t>لٰكِنَّ</a:t>
            </a:r>
            <a:pPr algn="l" indent="0" marL="0">
              <a:buNone/>
            </a:pPr>
            <a:r>
              <a:rPr lang="en-US" sz="1150" dirty="0">
                <a:solidFill>
                  <a:srgbClr val="1F2A37"/>
                </a:solidFill>
                <a:latin typeface="Calibri" pitchFamily="34" charset="0"/>
                <a:cs typeface="Amiri" pitchFamily="2" charset="-78"/>
              </a:rPr>
              <a:t> and </a:t>
            </a:r>
            <a:pPr algn="l" indent="0" marL="0">
              <a:buNone/>
            </a:pPr>
            <a:r>
              <a:rPr lang="ar-SA" altLang="en-US" sz="1500" dirty="0">
                <a:solidFill>
                  <a:srgbClr val="1F2A37"/>
                </a:solidFill>
                <a:latin typeface="Amiri" pitchFamily="2" charset="-78"/>
                <a:ea typeface="Amiri" pitchFamily="2" charset="-78"/>
                <a:cs typeface="Amiri" pitchFamily="2" charset="-78"/>
              </a:rPr>
              <a:t>ثُمَّ</a:t>
            </a:r>
            <a:pPr algn="l" indent="0" marL="0">
              <a:buNone/>
            </a:pPr>
            <a:r>
              <a:rPr lang="en-US" sz="1150" dirty="0">
                <a:solidFill>
                  <a:srgbClr val="1F2A37"/>
                </a:solidFill>
                <a:latin typeface="Calibri" pitchFamily="34" charset="0"/>
                <a:cs typeface="Amiri" pitchFamily="2" charset="-78"/>
              </a:rPr>
              <a:t> (e.g. </a:t>
            </a:r>
            <a:pPr algn="l" indent="0" marL="0">
              <a:buNone/>
            </a:pPr>
            <a:r>
              <a:rPr lang="ar-SA" altLang="en-US" sz="1500" dirty="0">
                <a:solidFill>
                  <a:srgbClr val="1F2A37"/>
                </a:solidFill>
                <a:latin typeface="Amiri" pitchFamily="2" charset="-78"/>
                <a:ea typeface="Amiri" pitchFamily="2" charset="-78"/>
                <a:cs typeface="Amiri" pitchFamily="2" charset="-78"/>
              </a:rPr>
              <a:t>أَدْرُسُ ثُمَّ أَلْعَبُ</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وَ · أَيْضًا</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and · also</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ثُمَّ</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then</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لِأَنَّ</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because</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لٰكِنَّ</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but</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22</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F2-L11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B · STEP 6 · SENTENCE BUILDER · CHOOSE A OR B IN EACH COLUMN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F2-L11 · practice room</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am British, but my family is from Iraq.</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أَنَا بِرِيطَانِيٌّ،</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أَنَا بِرِيطَانِيَا،</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لٰكِنَّ</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لِأَنَّ</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عَائِلَتِي مِنَ العِرَاقِ.</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عَائِلَتِي فِي العِرَاقِ مِنْ.</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learn Arabic because I love it.</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أَتَعَلَّمُ العَرَبِيَّةَ</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يَتَعَلَّمُ العَرَبِيَّةَ</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لِأَنِّي</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لٰكِنِّي</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أُحِبُّهَا.</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أُحِبُّهُ.</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speak English, and I speak Urdu too.</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أَتَكَلَّمُ الإِنْجِلِيزِيَّةَ،</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أَتَكَلَّمُ الإِنْجِلِيزِيَّةُ،</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وَأَتَكَلَّمُ الأُرْدِيَّةَ</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ثُمَّ الأُرْدِيَّةَ</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أَيْضًا.</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لِأَنَّ.</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F2-L11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6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F2-L11 · practice room</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am British, but my family is from Iraq.</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Nationality = </a:t>
            </a:r>
            <a:pPr algn="l" indent="0" marL="0">
              <a:buNone/>
            </a:pPr>
            <a:r>
              <a:rPr lang="ar-SA" altLang="en-US" sz="1350" dirty="0">
                <a:solidFill>
                  <a:srgbClr val="5A6472"/>
                </a:solidFill>
                <a:latin typeface="Amiri" pitchFamily="2" charset="-78"/>
                <a:ea typeface="Amiri" pitchFamily="2" charset="-78"/>
                <a:cs typeface="Amiri" pitchFamily="2" charset="-78"/>
              </a:rPr>
              <a:t>بِرِيطَانِيٌّ</a:t>
            </a:r>
            <a:pPr algn="l" indent="0" marL="0">
              <a:buNone/>
            </a:pPr>
            <a:r>
              <a:rPr lang="en-US" sz="1050" i="1" dirty="0">
                <a:solidFill>
                  <a:srgbClr val="5A6472"/>
                </a:solidFill>
                <a:latin typeface="Calibri" pitchFamily="34" charset="0"/>
                <a:cs typeface="Amiri" pitchFamily="2" charset="-78"/>
              </a:rPr>
              <a:t>; but = </a:t>
            </a:r>
            <a:pPr algn="l" indent="0" marL="0">
              <a:buNone/>
            </a:pPr>
            <a:r>
              <a:rPr lang="ar-SA" altLang="en-US" sz="1350" dirty="0">
                <a:solidFill>
                  <a:srgbClr val="5A6472"/>
                </a:solidFill>
                <a:latin typeface="Amiri" pitchFamily="2" charset="-78"/>
                <a:ea typeface="Amiri" pitchFamily="2" charset="-78"/>
                <a:cs typeface="Amiri" pitchFamily="2" charset="-78"/>
              </a:rPr>
              <a:t>لٰكِنَّ</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أَنَا بِرِيطَانِيٌّ، لٰكِنَّ عَائِلَتِي مِنَ العِرَاقِ.</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learn Arabic because I love it.</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Because I = </a:t>
            </a:r>
            <a:pPr algn="l" indent="0" marL="0">
              <a:buNone/>
            </a:pPr>
            <a:r>
              <a:rPr lang="ar-SA" altLang="en-US" sz="1350" dirty="0">
                <a:solidFill>
                  <a:srgbClr val="5A6472"/>
                </a:solidFill>
                <a:latin typeface="Amiri" pitchFamily="2" charset="-78"/>
                <a:ea typeface="Amiri" pitchFamily="2" charset="-78"/>
                <a:cs typeface="Amiri" pitchFamily="2" charset="-78"/>
              </a:rPr>
              <a:t>لِأَنِّي</a:t>
            </a:r>
            <a:pPr algn="l" indent="0" marL="0">
              <a:buNone/>
            </a:pPr>
            <a:r>
              <a:rPr lang="en-US" sz="1050" i="1" dirty="0">
                <a:solidFill>
                  <a:srgbClr val="5A6472"/>
                </a:solidFill>
                <a:latin typeface="Calibri" pitchFamily="34" charset="0"/>
                <a:cs typeface="Amiri" pitchFamily="2" charset="-78"/>
              </a:rPr>
              <a:t>; Arabic is feminine → </a:t>
            </a:r>
            <a:pPr algn="l" indent="0" marL="0">
              <a:buNone/>
            </a:pPr>
            <a:r>
              <a:rPr lang="ar-SA" altLang="en-US" sz="1350" dirty="0">
                <a:solidFill>
                  <a:srgbClr val="5A6472"/>
                </a:solidFill>
                <a:latin typeface="Amiri" pitchFamily="2" charset="-78"/>
                <a:ea typeface="Amiri" pitchFamily="2" charset="-78"/>
                <a:cs typeface="Amiri" pitchFamily="2" charset="-78"/>
              </a:rPr>
              <a:t>أُحِبُّهَا</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أَتَعَلَّمُ العَرَبِيَّةَ لِأَنِّي أُحِبُّهَا.</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speak English, and I speak Urdu too.</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Too = </a:t>
            </a:r>
            <a:pPr algn="l" indent="0" marL="0">
              <a:buNone/>
            </a:pPr>
            <a:r>
              <a:rPr lang="ar-SA" altLang="en-US" sz="1350" dirty="0">
                <a:solidFill>
                  <a:srgbClr val="5A6472"/>
                </a:solidFill>
                <a:latin typeface="Amiri" pitchFamily="2" charset="-78"/>
                <a:ea typeface="Amiri" pitchFamily="2" charset="-78"/>
                <a:cs typeface="Amiri" pitchFamily="2" charset="-78"/>
              </a:rPr>
              <a:t>أَيْضًا</a:t>
            </a:r>
            <a:pPr algn="l" indent="0" marL="0">
              <a:buNone/>
            </a:pPr>
            <a:r>
              <a:rPr lang="en-US" sz="1050" i="1" dirty="0">
                <a:solidFill>
                  <a:srgbClr val="5A6472"/>
                </a:solidFill>
                <a:latin typeface="Calibri" pitchFamily="34" charset="0"/>
                <a:cs typeface="Amiri" pitchFamily="2" charset="-78"/>
              </a:rPr>
              <a:t> at the end; the language after the verb ends in -a.</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أَتَكَلَّمُ الإِنْجِلِيزِيَّةَ، وَأَتَكَلَّمُ الأُرْدِيَّةَ أَيْضًا.</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22</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F2-L11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7 · SPOT AND FIX · MISTAKES STUDENTS OFTEN MAKE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F2-L11 · practice room</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العُمْرُ: عُمْرِي ثَلَاثَ عَشْرَةَ سَنَةً وَأَنَا أُحِبُّ الرِّيَاضَةَ.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 form box needs a SHORT answer.</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أَتَعَلَّمُ العَرَبِيَّةَ لِأَنَّ أُحِبُّهَا.</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2" charset="-78"/>
                <a:ea typeface="Amiri" pitchFamily="2" charset="-78"/>
                <a:cs typeface="Amiri" pitchFamily="2" charset="-78"/>
              </a:rPr>
              <a:t>لِأَنَّ</a:t>
            </a:r>
            <a:pPr algn="l" indent="0" marL="0">
              <a:buNone/>
            </a:pPr>
            <a:r>
              <a:rPr lang="en-US" sz="1300" i="1" dirty="0">
                <a:solidFill>
                  <a:srgbClr val="5A6472"/>
                </a:solidFill>
                <a:latin typeface="Calibri" pitchFamily="34" charset="0"/>
                <a:cs typeface="Amiri" pitchFamily="2" charset="-78"/>
              </a:rPr>
              <a:t> + “I” …</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أَنَا بِرِيطَانِيٌّ.</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Salma writing — Salma is a girl.</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22</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F2-L11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F2-L11 · practice room</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العُمْرُ: عُمْرِي ثَلَاثَ عَشْرَةَ سَنَةً وَأَنَا أُحِبُّ الرِّيَاضَةَ.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العُمْرُ: ثَلَاثَ عَشْرَةَ سَنَةً.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Forms: short answers only; full sentences belong in the text.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أَتَعَلَّمُ العَرَبِيَّةَ لِأَنَّ أُحِبُّهَا.</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أَتَعَلَّمُ العَرَبِيَّةَ لِأَنِّي أُحِبُّهَا.</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Because I → </a:t>
            </a:r>
            <a:pPr algn="l" indent="0" marL="0">
              <a:buNone/>
            </a:pPr>
            <a:r>
              <a:rPr lang="ar-SA" altLang="en-US" sz="1500" b="1" dirty="0">
                <a:solidFill>
                  <a:srgbClr val="1B3B6F"/>
                </a:solidFill>
                <a:latin typeface="Amiri" pitchFamily="2" charset="-78"/>
                <a:ea typeface="Amiri" pitchFamily="2" charset="-78"/>
                <a:cs typeface="Amiri" pitchFamily="2" charset="-78"/>
              </a:rPr>
              <a:t>لِأَنِّي</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أَنَا بِرِيطَانِيٌّ.</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أَنَا بِرِيطَانِيَّةٌ.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girl → -iyyatun.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22</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F2-L11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F2-L11 · practice room</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2" charset="-78"/>
                <a:ea typeface="Amiri" pitchFamily="2" charset="-78"/>
                <a:cs typeface="Amiri" pitchFamily="2" charset="-78"/>
              </a:rPr>
              <a:t>عَائِلَتِي مِنْ ______ ، لٰكِنِّي وُلِدْتُ فِي ______ .</a:t>
            </a:r>
            <a:endParaRPr lang="ar-SA" sz="165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family is from …, but I was born in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أَذْهَبُ إِلَى المَدْرَسَةِ، ثُمَّ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go to school, then …</a:t>
            </a:r>
            <a:endParaRPr lang="en-US" sz="1050" dirty="0"/>
          </a:p>
        </p:txBody>
      </p:sp>
      <p:sp>
        <p:nvSpPr>
          <p:cNvPr id="22" name="Shape 19"/>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5" name="Text 22"/>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2" charset="-78"/>
                <a:ea typeface="Amiri" pitchFamily="2" charset="-78"/>
                <a:cs typeface="Amiri" pitchFamily="2" charset="-78"/>
              </a:rPr>
              <a:t>السَّلَامُ عَلَيْكُمْ! اسْمِي ______ ، وَعُمْرِي ______ سَنَةً.</a:t>
            </a:r>
            <a:endParaRPr lang="ar-SA" sz="1450" dirty="0"/>
          </a:p>
        </p:txBody>
      </p:sp>
      <p:sp>
        <p:nvSpPr>
          <p:cNvPr id="26" name="Text 23"/>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Peace be upon you! My name is …, and I am …</a:t>
            </a:r>
            <a:endParaRPr lang="en-US" sz="1050" dirty="0"/>
          </a:p>
        </p:txBody>
      </p:sp>
      <p:sp>
        <p:nvSpPr>
          <p:cNvPr id="27" name="Text 24"/>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______ ، وَأَسْكُنُ فِي ______ .</a:t>
            </a:r>
            <a:endParaRPr lang="ar-SA" sz="1800" dirty="0"/>
          </a:p>
        </p:txBody>
      </p:sp>
      <p:sp>
        <p:nvSpPr>
          <p:cNvPr id="28" name="Text 25"/>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 and I live in …</a:t>
            </a:r>
            <a:endParaRPr lang="en-US" sz="1050" dirty="0"/>
          </a:p>
        </p:txBody>
      </p:sp>
      <p:sp>
        <p:nvSpPr>
          <p:cNvPr id="29" name="Text 26"/>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أَتَكَلَّمُ ______ ، وَ ______ أَيْضًا.</a:t>
            </a:r>
            <a:endParaRPr lang="ar-SA" sz="1800" dirty="0"/>
          </a:p>
        </p:txBody>
      </p:sp>
      <p:sp>
        <p:nvSpPr>
          <p:cNvPr id="30" name="Text 27"/>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speak …, and … too.</a:t>
            </a:r>
            <a:endParaRPr lang="en-US" sz="1050" dirty="0"/>
          </a:p>
        </p:txBody>
      </p:sp>
      <p:sp>
        <p:nvSpPr>
          <p:cNvPr id="31" name="Text 28"/>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أَتَعَلَّمُ العَرَبِيَّةَ لِأَنِّي ______ .</a:t>
            </a:r>
            <a:endParaRPr lang="ar-SA" sz="1800" dirty="0"/>
          </a:p>
        </p:txBody>
      </p:sp>
      <p:sp>
        <p:nvSpPr>
          <p:cNvPr id="32" name="Text 29"/>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learn Arabic because I …</a:t>
            </a:r>
            <a:endParaRPr lang="en-US" sz="1050" dirty="0"/>
          </a:p>
        </p:txBody>
      </p:sp>
      <p:sp>
        <p:nvSpPr>
          <p:cNvPr id="33" name="Shape 30"/>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Text 31"/>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5" name="Text 32"/>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الاسْمُ · العُمْرُ  ·  الجِنْسِيَّةُ  ·  مَكَانُ السَّكَنِ  ·  اللُّغَاتُ  ·  وَ · أَيْضًا  ·  ثُمَّ  ·  لِأَنِّي  ·  لٰكِنَّ</a:t>
            </a:r>
            <a:endParaRPr lang="ar-SA" sz="16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22</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F2-L11 · Speaking + writing practice room</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WRITE YOUR TEXT · ABOUT 40–60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Form + introduction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الاسْتِمَارَةُ وَالتَّعْرِيفُ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F2-L11 · practice room</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828800"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8288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SHORT TEXT</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Part 1: fill in six form boxes (</a:t>
            </a:r>
            <a:pPr algn="l" indent="0" marL="0">
              <a:buNone/>
            </a:pPr>
            <a:r>
              <a:rPr lang="ar-SA" altLang="en-US" sz="1550" b="1" dirty="0">
                <a:solidFill>
                  <a:srgbClr val="1F2A37"/>
                </a:solidFill>
                <a:latin typeface="Amiri" pitchFamily="2" charset="-78"/>
                <a:ea typeface="Amiri" pitchFamily="2" charset="-78"/>
                <a:cs typeface="Amiri" pitchFamily="2" charset="-78"/>
              </a:rPr>
              <a:t>الاسْمُ</a:t>
            </a:r>
            <a:pPr algn="l" indent="0" marL="0">
              <a:buNone/>
            </a:pPr>
            <a:r>
              <a:rPr lang="en-US" sz="1200" b="1" dirty="0">
                <a:solidFill>
                  <a:srgbClr val="1F2A37"/>
                </a:solidFill>
                <a:latin typeface="Calibri" pitchFamily="34" charset="0"/>
                <a:cs typeface="Amiri" pitchFamily="2" charset="-78"/>
              </a:rPr>
              <a:t> · </a:t>
            </a:r>
            <a:pPr algn="l" indent="0" marL="0">
              <a:buNone/>
            </a:pPr>
            <a:r>
              <a:rPr lang="ar-SA" altLang="en-US" sz="1550" b="1" dirty="0">
                <a:solidFill>
                  <a:srgbClr val="1F2A37"/>
                </a:solidFill>
                <a:latin typeface="Amiri" pitchFamily="2" charset="-78"/>
                <a:ea typeface="Amiri" pitchFamily="2" charset="-78"/>
                <a:cs typeface="Amiri" pitchFamily="2" charset="-78"/>
              </a:rPr>
              <a:t>العُمْرُ</a:t>
            </a:r>
            <a:pPr algn="l" indent="0" marL="0">
              <a:buNone/>
            </a:pPr>
            <a:r>
              <a:rPr lang="en-US" sz="1200" b="1" dirty="0">
                <a:solidFill>
                  <a:srgbClr val="1F2A37"/>
                </a:solidFill>
                <a:latin typeface="Calibri" pitchFamily="34" charset="0"/>
                <a:cs typeface="Amiri" pitchFamily="2" charset="-78"/>
              </a:rPr>
              <a:t> · </a:t>
            </a:r>
            <a:pPr algn="l" indent="0" marL="0">
              <a:buNone/>
            </a:pPr>
            <a:r>
              <a:rPr lang="ar-SA" altLang="en-US" sz="1550" b="1" dirty="0">
                <a:solidFill>
                  <a:srgbClr val="1F2A37"/>
                </a:solidFill>
                <a:latin typeface="Amiri" pitchFamily="2" charset="-78"/>
                <a:ea typeface="Amiri" pitchFamily="2" charset="-78"/>
                <a:cs typeface="Amiri" pitchFamily="2" charset="-78"/>
              </a:rPr>
              <a:t>الجِنْسِيَّةُ</a:t>
            </a:r>
            <a:pPr algn="l" indent="0" marL="0">
              <a:buNone/>
            </a:pPr>
            <a:r>
              <a:rPr lang="en-US" sz="1200" b="1" dirty="0">
                <a:solidFill>
                  <a:srgbClr val="1F2A37"/>
                </a:solidFill>
                <a:latin typeface="Calibri" pitchFamily="34" charset="0"/>
                <a:cs typeface="Amiri" pitchFamily="2" charset="-78"/>
              </a:rPr>
              <a:t> · </a:t>
            </a:r>
            <a:pPr algn="l" indent="0" marL="0">
              <a:buNone/>
            </a:pPr>
            <a:r>
              <a:rPr lang="ar-SA" altLang="en-US" sz="1550" b="1" dirty="0">
                <a:solidFill>
                  <a:srgbClr val="1F2A37"/>
                </a:solidFill>
                <a:latin typeface="Amiri" pitchFamily="2" charset="-78"/>
                <a:ea typeface="Amiri" pitchFamily="2" charset="-78"/>
                <a:cs typeface="Amiri" pitchFamily="2" charset="-78"/>
              </a:rPr>
              <a:t>مَكَانُ السَّكَنِ</a:t>
            </a:r>
            <a:pPr algn="l" indent="0" marL="0">
              <a:buNone/>
            </a:pPr>
            <a:r>
              <a:rPr lang="en-US" sz="1200" b="1" dirty="0">
                <a:solidFill>
                  <a:srgbClr val="1F2A37"/>
                </a:solidFill>
                <a:latin typeface="Calibri" pitchFamily="34" charset="0"/>
                <a:cs typeface="Amiri" pitchFamily="2" charset="-78"/>
              </a:rPr>
              <a:t> · </a:t>
            </a:r>
            <a:pPr algn="l" indent="0" marL="0">
              <a:buNone/>
            </a:pPr>
            <a:r>
              <a:rPr lang="ar-SA" altLang="en-US" sz="1550" b="1" dirty="0">
                <a:solidFill>
                  <a:srgbClr val="1F2A37"/>
                </a:solidFill>
                <a:latin typeface="Amiri" pitchFamily="2" charset="-78"/>
                <a:ea typeface="Amiri" pitchFamily="2" charset="-78"/>
                <a:cs typeface="Amiri" pitchFamily="2" charset="-78"/>
              </a:rPr>
              <a:t>اللُّغَاتُ</a:t>
            </a:r>
            <a:pPr algn="l" indent="0" marL="0">
              <a:buNone/>
            </a:pPr>
            <a:r>
              <a:rPr lang="en-US" sz="1200" b="1" dirty="0">
                <a:solidFill>
                  <a:srgbClr val="1F2A37"/>
                </a:solidFill>
                <a:latin typeface="Calibri" pitchFamily="34" charset="0"/>
                <a:cs typeface="Amiri" pitchFamily="2" charset="-78"/>
              </a:rPr>
              <a:t> · </a:t>
            </a:r>
            <a:pPr algn="l" indent="0" marL="0">
              <a:buNone/>
            </a:pPr>
            <a:r>
              <a:rPr lang="ar-SA" altLang="en-US" sz="1550" b="1" dirty="0">
                <a:solidFill>
                  <a:srgbClr val="1F2A37"/>
                </a:solidFill>
                <a:latin typeface="Amiri" pitchFamily="2" charset="-78"/>
                <a:ea typeface="Amiri" pitchFamily="2" charset="-78"/>
                <a:cs typeface="Amiri" pitchFamily="2" charset="-78"/>
              </a:rPr>
              <a:t>التَّوْقِيعُ</a:t>
            </a:r>
            <a:pPr algn="l" indent="0" marL="0">
              <a:buNone/>
            </a:pPr>
            <a:r>
              <a:rPr lang="en-US" sz="1200" b="1" dirty="0">
                <a:solidFill>
                  <a:srgbClr val="1F2A37"/>
                </a:solidFill>
                <a:latin typeface="Calibri" pitchFamily="34" charset="0"/>
                <a:cs typeface="Amiri" pitchFamily="2" charset="-78"/>
              </a:rPr>
              <a:t>) with short answers. Part 2: turn them into an introduction (about 40–55 words) using at least four linking words and one reason with </a:t>
            </a:r>
            <a:pPr algn="l" indent="0" marL="0">
              <a:buNone/>
            </a:pPr>
            <a:r>
              <a:rPr lang="ar-SA" altLang="en-US" sz="1550" b="1" dirty="0">
                <a:solidFill>
                  <a:srgbClr val="1F2A37"/>
                </a:solidFill>
                <a:latin typeface="Amiri" pitchFamily="2" charset="-78"/>
                <a:ea typeface="Amiri" pitchFamily="2" charset="-78"/>
                <a:cs typeface="Amiri" pitchFamily="2" charset="-78"/>
              </a:rPr>
              <a:t>لِأَنَّ</a:t>
            </a:r>
            <a:pPr algn="l" indent="0" marL="0">
              <a:buNone/>
            </a:pPr>
            <a:r>
              <a:rPr lang="en-US" sz="1200" b="1" dirty="0">
                <a:solidFill>
                  <a:srgbClr val="1F2A37"/>
                </a:solidFill>
                <a:latin typeface="Calibri" pitchFamily="34" charset="0"/>
                <a:cs typeface="Amiri" pitchFamily="2" charset="-78"/>
              </a:rPr>
              <a:t>. Then check it with your buddy.</a:t>
            </a:r>
            <a:endParaRPr lang="en-US" sz="12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Every bullet point has at least one sentence.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Full sentences with the right ending (I · my · he · she).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Words from today’s word bank.</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one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and one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(Develop).</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اسْمِي … ، وَعُمْرِي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name is …, and I am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 ، لٰكِنَّ عَائِلَتِي مِنْ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am …, but my family is from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أَتَكَلَّمُ … ، وَ… أَيْضًا</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speak …, and … too</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أَتَعَلَّمُ العَرَبِيَّةَ لِأَنِّي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learn Arabic because I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22</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F2-L11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F2-L11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the form boxes briefly and write the text in full sentences?</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at least four linking words, including </a:t>
            </a:r>
            <a:pPr algn="l" indent="0" marL="0">
              <a:buNone/>
            </a:pPr>
            <a:r>
              <a:rPr lang="ar-SA" altLang="en-US" sz="1450" dirty="0">
                <a:solidFill>
                  <a:srgbClr val="5A6472"/>
                </a:solidFill>
                <a:latin typeface="Amiri" pitchFamily="2" charset="-78"/>
                <a:ea typeface="Amiri" pitchFamily="2" charset="-78"/>
                <a:cs typeface="Amiri" pitchFamily="2" charset="-78"/>
              </a:rPr>
              <a:t>لِأَنِّي</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 a reason, a time phrase or an opinion?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22</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F2-L11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F2-L11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4800600" y="2286000"/>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اسْمِي يُوسُفُ عَلِيّ.</a:t>
            </a:r>
            <a:endParaRPr lang="ar-SA" sz="1800" dirty="0"/>
          </a:p>
        </p:txBody>
      </p:sp>
      <p:sp>
        <p:nvSpPr>
          <p:cNvPr id="21" name="Text 18"/>
          <p:cNvSpPr txBox="1"/>
          <p:nvPr/>
        </p:nvSpPr>
        <p:spPr>
          <a:xfrm>
            <a:off x="4754880" y="2706624"/>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My name is Yusuf Ali.</a:t>
            </a:r>
            <a:endParaRPr lang="en-US" sz="950" dirty="0"/>
          </a:p>
        </p:txBody>
      </p:sp>
      <p:sp>
        <p:nvSpPr>
          <p:cNvPr id="22" name="Text 19"/>
          <p:cNvSpPr txBox="1"/>
          <p:nvPr/>
        </p:nvSpPr>
        <p:spPr>
          <a:xfrm>
            <a:off x="1051560" y="2267712"/>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اسْمُكَ الكَامِلُ؟</a:t>
            </a:r>
            <a:endParaRPr lang="ar-SA" sz="1600" dirty="0"/>
          </a:p>
        </p:txBody>
      </p:sp>
      <p:sp>
        <p:nvSpPr>
          <p:cNvPr id="23" name="Text 20"/>
          <p:cNvSpPr txBox="1"/>
          <p:nvPr/>
        </p:nvSpPr>
        <p:spPr>
          <a:xfrm>
            <a:off x="566928" y="2267712"/>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5" name="Text 22"/>
          <p:cNvSpPr txBox="1"/>
          <p:nvPr/>
        </p:nvSpPr>
        <p:spPr>
          <a:xfrm>
            <a:off x="4800600" y="3072384"/>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عُمْرِي ثَلَاثَ عَشْرَةَ سَنَةً، وَأَنَا بِرِيطَانِيٌّ.</a:t>
            </a:r>
            <a:endParaRPr lang="ar-SA" sz="1800" dirty="0"/>
          </a:p>
        </p:txBody>
      </p:sp>
      <p:sp>
        <p:nvSpPr>
          <p:cNvPr id="26" name="Text 23"/>
          <p:cNvSpPr txBox="1"/>
          <p:nvPr/>
        </p:nvSpPr>
        <p:spPr>
          <a:xfrm>
            <a:off x="4754880" y="3493008"/>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am thirteen, and I am British.</a:t>
            </a:r>
            <a:endParaRPr lang="en-US" sz="950" dirty="0"/>
          </a:p>
        </p:txBody>
      </p:sp>
      <p:sp>
        <p:nvSpPr>
          <p:cNvPr id="27" name="Text 24"/>
          <p:cNvSpPr txBox="1"/>
          <p:nvPr/>
        </p:nvSpPr>
        <p:spPr>
          <a:xfrm>
            <a:off x="1051560" y="3054096"/>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كَمْ عُمْرُكَ؟ وَمَا جِنْسِيَّتُكَ؟</a:t>
            </a:r>
            <a:endParaRPr lang="ar-SA" sz="1600" dirty="0"/>
          </a:p>
        </p:txBody>
      </p:sp>
      <p:sp>
        <p:nvSpPr>
          <p:cNvPr id="28" name="Text 25"/>
          <p:cNvSpPr txBox="1"/>
          <p:nvPr/>
        </p:nvSpPr>
        <p:spPr>
          <a:xfrm>
            <a:off x="566928" y="3054096"/>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4800600" y="3858768"/>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أَسْكُنُ فِي بِرَادْفُورْدَ، قُرْبَ المَكْتَبَةِ.</a:t>
            </a:r>
            <a:endParaRPr lang="ar-SA" sz="1800" dirty="0"/>
          </a:p>
        </p:txBody>
      </p:sp>
      <p:sp>
        <p:nvSpPr>
          <p:cNvPr id="31" name="Text 28"/>
          <p:cNvSpPr txBox="1"/>
          <p:nvPr/>
        </p:nvSpPr>
        <p:spPr>
          <a:xfrm>
            <a:off x="4754880" y="4279392"/>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live in Bradford, near the library.</a:t>
            </a:r>
            <a:endParaRPr lang="en-US" sz="950" dirty="0"/>
          </a:p>
        </p:txBody>
      </p:sp>
      <p:sp>
        <p:nvSpPr>
          <p:cNvPr id="32" name="Text 29"/>
          <p:cNvSpPr txBox="1"/>
          <p:nvPr/>
        </p:nvSpPr>
        <p:spPr>
          <a:xfrm>
            <a:off x="1051560"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أَيْنَ تَسْكُنُ؟</a:t>
            </a:r>
            <a:endParaRPr lang="ar-SA" sz="1600" dirty="0"/>
          </a:p>
        </p:txBody>
      </p:sp>
      <p:sp>
        <p:nvSpPr>
          <p:cNvPr id="33" name="Text 30"/>
          <p:cNvSpPr txBox="1"/>
          <p:nvPr/>
        </p:nvSpPr>
        <p:spPr>
          <a:xfrm>
            <a:off x="566928" y="3840480"/>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5" name="Text 32"/>
          <p:cNvSpPr txBox="1"/>
          <p:nvPr/>
        </p:nvSpPr>
        <p:spPr>
          <a:xfrm>
            <a:off x="4800600" y="4645152"/>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لِأَنِّي أُحِبُّ القِرَاءَةَ، وَأُرِيدُ كُتُبًا بِالعَرَبِيَّةِ أَيْضًا.</a:t>
            </a:r>
            <a:endParaRPr lang="ar-SA" sz="1800" dirty="0"/>
          </a:p>
        </p:txBody>
      </p:sp>
      <p:sp>
        <p:nvSpPr>
          <p:cNvPr id="36" name="Text 33"/>
          <p:cNvSpPr txBox="1"/>
          <p:nvPr/>
        </p:nvSpPr>
        <p:spPr>
          <a:xfrm>
            <a:off x="4754880" y="5065776"/>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Because I love reading, and I want books in Arabic too.</a:t>
            </a:r>
            <a:endParaRPr lang="en-US" sz="950" dirty="0"/>
          </a:p>
        </p:txBody>
      </p:sp>
      <p:sp>
        <p:nvSpPr>
          <p:cNvPr id="37" name="Text 34"/>
          <p:cNvSpPr txBox="1"/>
          <p:nvPr/>
        </p:nvSpPr>
        <p:spPr>
          <a:xfrm>
            <a:off x="1051560" y="4626864"/>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لِمَاذَا تُرِيدُ أَنْ تَشْتَرِكَ؟</a:t>
            </a:r>
            <a:endParaRPr lang="ar-SA" sz="1600" dirty="0"/>
          </a:p>
        </p:txBody>
      </p:sp>
      <p:sp>
        <p:nvSpPr>
          <p:cNvPr id="38" name="Text 35"/>
          <p:cNvSpPr txBox="1"/>
          <p:nvPr/>
        </p:nvSpPr>
        <p:spPr>
          <a:xfrm>
            <a:off x="566928" y="4626864"/>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Choose one phrase you did not use and say it aloud.</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22</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F2-L11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F2-L11 · practice room</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السَّلَامُ عَلَيْكُمْ! اسْمِي مُحَمَّدٌ، وَعُمْرِي أَرْبَعَ عَشْرَةَ سَنَةً. أَنَا بِرِيطَانِيٌّ، لٰكِنَّ عَائِلَتِي مِنْ مِصْرَ. أَسْكُنُ فِي مَانْشِسْتَرَ مَعَ عَائِلَتِي. أَتَكَلَّمُ الإِنْجِلِيزِيَّةَ، وَأَتَكَلَّمُ العَرَبِيَّةَ أَيْضًا. كُلَّ يَوْمٍ أَذْهَبُ إِلَى المَدْرَسَةِ، ثُمَّ أَلْعَبُ كُرَةَ القَدَمِ. أَتَعَلَّمُ العَرَبِيَّةَ لِأَنِّي أُرِيدُ أَنْ أَقْرَأَ القُرْآنَ.</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“Peace be upon you! My name is Mohammed, and I am fourteen. I am British, but my family is from Egypt. I live in Manchester with my family. I speak English, and I speak Arabic too. Every day I go to school, then I play football. I learn Arabic because I want to read the Qur’an.”</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لٰكِنَّ عَائِلَتِي مِنْ مِصْرَ</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أَيْضًا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ثُمَّ أَلْعَبُ</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لِأَنِّي أُرِيدُ</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22</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F2-L11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F2-L11 · practice room</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the questions and the role-play tasks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today’s key structure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reasons (</a:t>
            </a:r>
            <a:pPr algn="l" indent="0" marL="0">
              <a:buNone/>
            </a:pPr>
            <a:r>
              <a:rPr lang="ar-SA" altLang="en-US" sz="1700" dirty="0">
                <a:solidFill>
                  <a:srgbClr val="1F2A37"/>
                </a:solidFill>
                <a:latin typeface="Amiri" pitchFamily="2" charset="-78"/>
                <a:ea typeface="Amiri" pitchFamily="2" charset="-78"/>
                <a:cs typeface="Amiri" pitchFamily="2" charset="-78"/>
              </a:rPr>
              <a:t>لِأَنَّ</a:t>
            </a:r>
            <a:pPr algn="l" indent="0" marL="0">
              <a:buNone/>
            </a:pPr>
            <a:r>
              <a:rPr lang="en-US" sz="1300" dirty="0">
                <a:solidFill>
                  <a:srgbClr val="1F2A37"/>
                </a:solidFill>
                <a:latin typeface="Calibri" pitchFamily="34" charset="0"/>
                <a:cs typeface="Amiri" pitchFamily="2" charset="-78"/>
              </a:rPr>
              <a:t>) and extra details without frames.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22</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F2-L11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practised it yourselves!</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F2-L12 · Show What You Can Say: F2 Review &amp; Assessment</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مُرَاجَعَةُ الوَحْدَةِ الثَّانِيَةِ وَتَقْيِيمُهَا</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say it, then write it — full sentences, every time.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F2-L11 · Practice Room — Writing a Short Personal Introduction</dc:title>
  <dc:subject>PptxGenJS Presentation</dc:subject>
  <dc:creator>Al Madina Online School · Arabic Department</dc:creator>
  <cp:lastModifiedBy>Al Madina Online School · Arabic Department</cp:lastModifiedBy>
  <cp:revision>1</cp:revision>
  <dcterms:created xsi:type="dcterms:W3CDTF">2026-10-25T18:34:59Z</dcterms:created>
  <dcterms:modified xsi:type="dcterms:W3CDTF">2026-10-25T18:34:59Z</dcterms:modified>
</cp:coreProperties>
</file>