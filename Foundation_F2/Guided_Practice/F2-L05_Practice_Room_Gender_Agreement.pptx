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F2-L05 (Masculine and Feminine: Make the Pair Match) — new practice tasks built on the lesson’s own word bank and grammar (people-noun pairs (ṭālib / ṭāliba); adjective agreement with ة; hādhā / hādhihi + noun + adjective).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the questions do not change — but the Speaker’s adjectives must match the person described. Language: hādhā / hādhihi · huwa + adjective / hiya + adjective-a · ة on every feminine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Masculine and Feminine: Make the Pair Match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المُذَكَّرُ وَالمُؤَنَّثُ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on masculine and feminine: say the noun and adjective pairs, act a short dialogue, answer question cards, do a role-play card describing classmates, give a 30-second talk, then build, fix and write short descriptions where everything agrees.</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F2-L05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masculine and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طَالِبٌ · طَالِبَةٌ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student (m. · f.)</a:t>
            </a:r>
            <a:endParaRPr lang="en-US" sz="1350" dirty="0"/>
          </a:p>
          <a:p>
            <a:pPr indent="0" marL="0">
              <a:buNone/>
            </a:pPr>
            <a:r>
              <a:rPr lang="en-US" sz="1100" i="1" dirty="0">
                <a:solidFill>
                  <a:srgbClr val="5A6472"/>
                </a:solidFill>
                <a:latin typeface="Calibri" pitchFamily="34" charset="0"/>
                <a:cs typeface="Amiri" pitchFamily="2" charset="-78"/>
              </a:rPr>
              <a:t>ṭā-li-bun · ṭā-li-ba-tun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مُعَلِّمٌ · مُعَلِّمَةٌ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teacher (m. · f.)</a:t>
            </a:r>
            <a:endParaRPr lang="en-US" sz="1350" dirty="0"/>
          </a:p>
          <a:p>
            <a:pPr indent="0" marL="0">
              <a:buNone/>
            </a:pPr>
            <a:r>
              <a:rPr lang="en-US" sz="1100" i="1" dirty="0">
                <a:solidFill>
                  <a:srgbClr val="5A6472"/>
                </a:solidFill>
                <a:latin typeface="Calibri" pitchFamily="34" charset="0"/>
                <a:cs typeface="Amiri" pitchFamily="2" charset="-78"/>
              </a:rPr>
              <a:t>mu-ʿal-li-mun · mu-ʿal-li-ma-tun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صَدِيقٌ · صَدِيقَةٌ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friend (m. · f.)</a:t>
            </a:r>
            <a:endParaRPr lang="en-US" sz="1350" dirty="0"/>
          </a:p>
          <a:p>
            <a:pPr indent="0" marL="0">
              <a:buNone/>
            </a:pPr>
            <a:r>
              <a:rPr lang="en-US" sz="1100" i="1" dirty="0">
                <a:solidFill>
                  <a:srgbClr val="5A6472"/>
                </a:solidFill>
                <a:latin typeface="Calibri" pitchFamily="34" charset="0"/>
                <a:cs typeface="Amiri" pitchFamily="2" charset="-78"/>
              </a:rPr>
              <a:t>ṣa-dī-qun · ṣa-dī-qa-tun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وَلَدٌ · بِنْتٌ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boy · a girl</a:t>
            </a:r>
            <a:endParaRPr lang="en-US" sz="1350" dirty="0"/>
          </a:p>
          <a:p>
            <a:pPr indent="0" marL="0">
              <a:buNone/>
            </a:pPr>
            <a:r>
              <a:rPr lang="en-US" sz="1100" i="1" dirty="0">
                <a:solidFill>
                  <a:srgbClr val="5A6472"/>
                </a:solidFill>
                <a:latin typeface="Calibri" pitchFamily="34" charset="0"/>
                <a:cs typeface="Amiri" pitchFamily="2" charset="-78"/>
              </a:rPr>
              <a:t>wa-la-dun · bin-tun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doctor (m. · f.)</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جَارٌ · جَارَةٌ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neighbour (m. · f.)</a:t>
            </a:r>
            <a:endParaRPr lang="en-US" sz="1350" dirty="0"/>
          </a:p>
          <a:p>
            <a:pPr indent="0" marL="0">
              <a:buNone/>
            </a:pPr>
            <a:r>
              <a:rPr lang="en-US" sz="1100" i="1" dirty="0">
                <a:solidFill>
                  <a:srgbClr val="5A6472"/>
                </a:solidFill>
                <a:latin typeface="Calibri" pitchFamily="34" charset="0"/>
                <a:cs typeface="Amiri" pitchFamily="2" charset="-78"/>
              </a:rPr>
              <a:t>jā-run · jā-ra-tun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Adjectives: masculine and feminine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كَبِيرٌ · كَبِيرَةٌ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big / old (m. · f.)</a:t>
            </a:r>
            <a:endParaRPr lang="en-US" sz="1350" dirty="0"/>
          </a:p>
          <a:p>
            <a:pPr indent="0" marL="0">
              <a:buNone/>
            </a:pPr>
            <a:r>
              <a:rPr lang="en-US" sz="1100" i="1" dirty="0">
                <a:solidFill>
                  <a:srgbClr val="5A6472"/>
                </a:solidFill>
                <a:latin typeface="Calibri" pitchFamily="34" charset="0"/>
                <a:cs typeface="Amiri" pitchFamily="2" charset="-78"/>
              </a:rPr>
              <a:t>ka-bī-run · ka-bī-ra-tun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صَغِيرٌ · صَغِيرَةٌ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small / young (m. · f.)</a:t>
            </a:r>
            <a:endParaRPr lang="en-US" sz="1350" dirty="0"/>
          </a:p>
          <a:p>
            <a:pPr indent="0" marL="0">
              <a:buNone/>
            </a:pPr>
            <a:r>
              <a:rPr lang="en-US" sz="1100" i="1" dirty="0">
                <a:solidFill>
                  <a:srgbClr val="5A6472"/>
                </a:solidFill>
                <a:latin typeface="Calibri" pitchFamily="34" charset="0"/>
                <a:cs typeface="Amiri" pitchFamily="2" charset="-78"/>
              </a:rPr>
              <a:t>ṣa-ghī-run · ṣa-ghī-ra-tun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طَوِيلٌ · طَوِيلَةٌ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 (m. · f.)</a:t>
            </a:r>
            <a:endParaRPr lang="en-US" sz="1350" dirty="0"/>
          </a:p>
          <a:p>
            <a:pPr indent="0" marL="0">
              <a:buNone/>
            </a:pPr>
            <a:r>
              <a:rPr lang="en-US" sz="1100" i="1" dirty="0">
                <a:solidFill>
                  <a:srgbClr val="5A6472"/>
                </a:solidFill>
                <a:latin typeface="Calibri" pitchFamily="34" charset="0"/>
                <a:cs typeface="Amiri" pitchFamily="2" charset="-78"/>
              </a:rPr>
              <a:t>ṭa-wī-lun · ṭa-wī-la-tun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قَصِيرٌ · قَصِيرَةٌ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 (m. · f.)</a:t>
            </a:r>
            <a:endParaRPr lang="en-US" sz="1350" dirty="0"/>
          </a:p>
          <a:p>
            <a:pPr indent="0" marL="0">
              <a:buNone/>
            </a:pPr>
            <a:r>
              <a:rPr lang="en-US" sz="1100" i="1" dirty="0">
                <a:solidFill>
                  <a:srgbClr val="5A6472"/>
                </a:solidFill>
                <a:latin typeface="Calibri" pitchFamily="34" charset="0"/>
                <a:cs typeface="Amiri" pitchFamily="2" charset="-78"/>
              </a:rPr>
              <a:t>qa-ṣī-run · qa-ṣī-ra-tun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ذَكِيٌّ · ذَكِيَّةٌ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clever (m. · f.)</a:t>
            </a:r>
            <a:endParaRPr lang="en-US" sz="1350" dirty="0"/>
          </a:p>
          <a:p>
            <a:pPr indent="0" marL="0">
              <a:buNone/>
            </a:pPr>
            <a:r>
              <a:rPr lang="en-US" sz="1100" i="1" dirty="0">
                <a:solidFill>
                  <a:srgbClr val="5A6472"/>
                </a:solidFill>
                <a:latin typeface="Calibri" pitchFamily="34" charset="0"/>
                <a:cs typeface="Amiri" pitchFamily="2" charset="-78"/>
              </a:rPr>
              <a:t>dha-kiy-yun · dha-kiy-ya-tun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لَطِيفٌ · لَطِيفَةٌ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 (m. · f.)</a:t>
            </a:r>
            <a:endParaRPr lang="en-US" sz="1350" dirty="0"/>
          </a:p>
          <a:p>
            <a:pPr indent="0" marL="0">
              <a:buNone/>
            </a:pPr>
            <a:r>
              <a:rPr lang="en-US" sz="1100" i="1" dirty="0">
                <a:solidFill>
                  <a:srgbClr val="5A6472"/>
                </a:solidFill>
                <a:latin typeface="Calibri" pitchFamily="34" charset="0"/>
                <a:cs typeface="Amiri" pitchFamily="2" charset="-78"/>
              </a:rPr>
              <a:t>la-ṭī-fun · la-ṭī-fa-tun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this? What is he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هٰذَا؟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هٰذَا؟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new student (m.); his name is Zaid.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طَالِبٌ جَدِيدٌ، اسْمُهُ زَيْدٌ.</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he tall?</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هُوَ طَوِيلٌ؟</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he is tall and clever.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هُوَ طَوِيلٌ وَذَكِيٌّ.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who is this (f.)?</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وَمَنْ هٰذِهِ؟</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new teacher (f.), and she is very kind.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مُعَلِّمَةٌ جَدِيدَةٌ، وَهِيَ لَطِيفَةٌ جِدًّا.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two real people (a boy and a girl) — every word must match.</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ذَكِيٌّ</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طَالِبٌ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male student)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 (طَالِبٌ)</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لَطِيفَةٌ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هٰذِهِ طَبِيبَةٌ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(a female doctor)</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هٰذِهِ؟ (طَبِيبَةٌ)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هُوَ … / لَا، هُوَ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friend tall?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صَدِيقُكَ طَوِيلٌ؟</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هِيَ … / لَا، هِيَ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(girl) friend short?</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صَدِيقَتُكِ قَصِيرَةٌ؟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جِدًّا</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مُعَلِّمِي … / مُعَلِّمَتِي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teacher.</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مُعَلِّمَكَ أَوْ مُعَلِّمَتَكَ.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describing classmates for the school website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أَصِفُ زُمَلَائِي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هٰذَا … ، اسْمُهُ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who the boy is.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 فِي الصُّورَةِ؟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هُوَ … وَ…</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adjectives (m.).</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هُوَ؟</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هٰذِهِ … ، اسْمُهَا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who the girl is.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هٰذِهِ؟</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هِيَ … وَ…</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adjectives (f.).</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هِيَ؟</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the website editor.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two people I know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أَعْرِفُهُمَا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two people you know — a boy or man and a girl or woman. Who are they, and what are they like?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هٰذَا … ، هُوَ … · هٰذِهِ … ، هِيَ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adjectives for each person, joined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جِدًّا</a:t>
            </a:r>
            <a:pPr algn="l" indent="0" marL="0">
              <a:buNone/>
            </a:pPr>
            <a:r>
              <a:rPr lang="en-US" sz="1150" dirty="0">
                <a:solidFill>
                  <a:srgbClr val="1F2A37"/>
                </a:solidFill>
                <a:latin typeface="Calibri" pitchFamily="34" charset="0"/>
                <a:cs typeface="Amiri" pitchFamily="2" charset="-78"/>
              </a:rPr>
              <a:t> and one more person (a teacher or a neighbour).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هٰذَا … ، هُوَ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(m.) is …, he is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هٰذِهِ … ، هِيَ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(f.) is …, she is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وَ…</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and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جِدًّا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very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a clever student (f.).</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طَالِبَةٌ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طَالِبٌ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ذَكِيَّةٌ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ذَكِيٌّ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 a tall doctor.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طَبِيبٌ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طَبِيبَةٌ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neighbour (f.) is very kind.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جَارَتِي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جَارِي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لَطِيفَةٌ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لَطِيفٌ</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a clever student (f.).</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all through: </a:t>
            </a:r>
            <a:pPr algn="l" indent="0" marL="0">
              <a:buNone/>
            </a:pPr>
            <a:r>
              <a:rPr lang="ar-SA" altLang="en-US" sz="1350" dirty="0">
                <a:solidFill>
                  <a:srgbClr val="5A6472"/>
                </a:solidFill>
                <a:latin typeface="Amiri" pitchFamily="2" charset="-78"/>
                <a:ea typeface="Amiri" pitchFamily="2" charset="-78"/>
                <a:cs typeface="Amiri" pitchFamily="2" charset="-78"/>
              </a:rPr>
              <a:t>هٰذِهِ … طَالِبَةٌ ذَكِيَّةٌ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طَالِبَةٌ ذَكِيَّةٌ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 a tall doctor.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Masculine all through: </a:t>
            </a:r>
            <a:pPr algn="l" indent="0" marL="0">
              <a:buNone/>
            </a:pPr>
            <a:r>
              <a:rPr lang="ar-SA" altLang="en-US" sz="1350" dirty="0">
                <a:solidFill>
                  <a:srgbClr val="5A6472"/>
                </a:solidFill>
                <a:latin typeface="Amiri" pitchFamily="2" charset="-78"/>
                <a:ea typeface="Amiri" pitchFamily="2" charset="-78"/>
                <a:cs typeface="Amiri" pitchFamily="2" charset="-78"/>
              </a:rPr>
              <a:t>هُوَ طَبِيبٌ طَوِيلٌ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طَبِيبٌ طَوِيلٌ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neighbour (f.) is very kind.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woman → </a:t>
            </a:r>
            <a:pPr algn="l" indent="0" marL="0">
              <a:buNone/>
            </a:pPr>
            <a:r>
              <a:rPr lang="ar-SA" altLang="en-US" sz="1350" dirty="0">
                <a:solidFill>
                  <a:srgbClr val="5A6472"/>
                </a:solidFill>
                <a:latin typeface="Amiri" pitchFamily="2" charset="-78"/>
                <a:ea typeface="Amiri" pitchFamily="2" charset="-78"/>
                <a:cs typeface="Amiri" pitchFamily="2" charset="-78"/>
              </a:rPr>
              <a:t>جَارَتِي … لَطِيفَةٌ</a:t>
            </a:r>
            <a:pPr algn="l" indent="0" marL="0">
              <a:buNone/>
            </a:pPr>
            <a:r>
              <a:rPr lang="en-US" sz="1050" i="1" dirty="0">
                <a:solidFill>
                  <a:srgbClr val="5A6472"/>
                </a:solidFill>
                <a:latin typeface="Calibri" pitchFamily="34" charset="0"/>
                <a:cs typeface="Amiri" pitchFamily="2" charset="-78"/>
              </a:rPr>
              <a:t>; very = </a:t>
            </a:r>
            <a:pPr algn="l" indent="0" marL="0">
              <a:buNone/>
            </a:pPr>
            <a:r>
              <a:rPr lang="ar-SA" altLang="en-US" sz="1350" dirty="0">
                <a:solidFill>
                  <a:srgbClr val="5A6472"/>
                </a:solidFill>
                <a:latin typeface="Amiri" pitchFamily="2" charset="-78"/>
                <a:ea typeface="Amiri" pitchFamily="2" charset="-78"/>
                <a:cs typeface="Amiri" pitchFamily="2" charset="-78"/>
              </a:rPr>
              <a:t>جِدًّا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جَارَتِي لَطِيفَةٌ جِدًّا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مُعَلِّمَةٌ لَطِيفٌ.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adjective match?</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بِنْتٌ صَغِيرَةٌ.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girl is feminine — even without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صَدِيقِي ذَكِيَّةٌ.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friend (m.).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مُعَلِّمَةٌ لَطِيفٌ.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مُعَلِّمَةٌ لَطِيفَةٌ.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feminine noun → feminine adjective with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بِنْتٌ صَغِيرَةٌ.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بِنْتٌ صَغِيرَةٌ.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بِنْتٌ</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صَدِيقِي ذَكِيَّةٌ.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صَدِيقِي ذَكِيٌّ.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boy → masculine adjective </a:t>
            </a:r>
            <a:pPr algn="l" indent="0" marL="0">
              <a:buNone/>
            </a:pPr>
            <a:r>
              <a:rPr lang="ar-SA" altLang="en-US" sz="1500" b="1" dirty="0">
                <a:solidFill>
                  <a:srgbClr val="1B3B6F"/>
                </a:solidFill>
                <a:latin typeface="Amiri" pitchFamily="2" charset="-78"/>
                <a:ea typeface="Amiri" pitchFamily="2" charset="-78"/>
                <a:cs typeface="Amiri" pitchFamily="2" charset="-78"/>
              </a:rPr>
              <a:t>ذَكِيٌّ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______ وَ ______ جِدًّا.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 and very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______ وَ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 and … too.</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هٰذَا ______ ، اسْمُهُ ______ . هُوَ ______ .</a:t>
            </a:r>
            <a:endParaRPr lang="ar-SA" sz="17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 his name is … He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هٰذِهِ ______ ، اسْمُهَا ______ . هِيَ ______ .</a:t>
            </a:r>
            <a:endParaRPr lang="ar-SA" sz="17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 her name is … She is …</a:t>
            </a:r>
            <a:endParaRPr lang="en-US" sz="1050" dirty="0"/>
          </a:p>
        </p:txBody>
      </p:sp>
      <p:sp>
        <p:nvSpPr>
          <p:cNvPr id="29" name="Shape 2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1" name="Text 2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هٰذَا · هٰذِهِ  ·  هُوَ · هِيَ  ·  طَالِبٌ · طَالِبَةٌ  ·  مُعَلِّمٌ · مُعَلِّمَةٌ  ·  طَوِيلٌ · طَوِيلَةٌ  ·  ذَكِيٌّ · ذَكِيَّةٌ  ·  لَطِيفٌ · لَطِيفَةٌ  ·  جِدًّا</a:t>
            </a:r>
            <a:endParaRPr lang="ar-SA" sz="160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four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أَصِفُ أَرْبَعَةَ أَشْخَاصٍ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short descriptions (about 35–50 words) of four people you know: two boys or men and two girls or women. For each: • who they are (</a:t>
            </a:r>
            <a:pPr algn="l" indent="0" marL="0">
              <a:buNone/>
            </a:pPr>
            <a:r>
              <a:rPr lang="ar-SA" altLang="en-US" sz="1750" b="1" dirty="0">
                <a:solidFill>
                  <a:srgbClr val="1F2A37"/>
                </a:solidFill>
                <a:latin typeface="Amiri" pitchFamily="2" charset="-78"/>
                <a:ea typeface="Amiri" pitchFamily="2" charset="-78"/>
                <a:cs typeface="Amiri" pitchFamily="2" charset="-78"/>
              </a:rPr>
              <a:t>هٰذَا / هٰذِهِ</a:t>
            </a:r>
            <a:pPr algn="l" indent="0" marL="0">
              <a:buNone/>
            </a:pPr>
            <a:r>
              <a:rPr lang="en-US" sz="1350" b="1" dirty="0">
                <a:solidFill>
                  <a:srgbClr val="1F2A37"/>
                </a:solidFill>
                <a:latin typeface="Calibri" pitchFamily="34" charset="0"/>
                <a:cs typeface="Amiri" pitchFamily="2" charset="-78"/>
              </a:rPr>
              <a:t>) • their name • two adjectives that match.</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صَدِيقِي … ، هُوَ …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friend …, he is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مُعَلِّمَتِي … ، هِيَ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teacher …, she is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 … · اسْمُهَا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name … · her name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جِدًّا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very</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 / هُوَ</a:t>
            </a:r>
            <a:pPr algn="l" indent="0" marL="0">
              <a:buNone/>
            </a:pPr>
            <a:r>
              <a:rPr lang="en-US" sz="1100" dirty="0">
                <a:solidFill>
                  <a:srgbClr val="5A6472"/>
                </a:solidFill>
                <a:latin typeface="Calibri" pitchFamily="34" charset="0"/>
                <a:cs typeface="Amiri" pitchFamily="2" charset="-78"/>
              </a:rPr>
              <a:t> for a boy and </a:t>
            </a:r>
            <a:pPr algn="l" indent="0" marL="0">
              <a:buNone/>
            </a:pPr>
            <a:r>
              <a:rPr lang="ar-SA" altLang="en-US" sz="1450" dirty="0">
                <a:solidFill>
                  <a:srgbClr val="5A6472"/>
                </a:solidFill>
                <a:latin typeface="Amiri" pitchFamily="2" charset="-78"/>
                <a:ea typeface="Amiri" pitchFamily="2" charset="-78"/>
                <a:cs typeface="Amiri" pitchFamily="2" charset="-78"/>
              </a:rPr>
              <a:t>هٰذِهِ / هِيَ</a:t>
            </a:r>
            <a:pPr algn="l" indent="0" marL="0">
              <a:buNone/>
            </a:pPr>
            <a:r>
              <a:rPr lang="en-US" sz="1100" dirty="0">
                <a:solidFill>
                  <a:srgbClr val="5A6472"/>
                </a:solidFill>
                <a:latin typeface="Calibri" pitchFamily="34" charset="0"/>
                <a:cs typeface="Amiri" pitchFamily="2" charset="-78"/>
              </a:rPr>
              <a:t> for a girl?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to every adjective for a girl or woman?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صَدِيقِي، اسْمُهُ عَلِيٌّ.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friend; his name is Ali.</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هٰذَا فِي الصُّورَةِ؟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 وَذَكِيٌّ.</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tall and clever.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هُوَ؟</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صَدِيقَتِي، اسْمُهَا سَارَةُ.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friend; her name is Sara.</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هٰذِهِ؟</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قَصِيرَةٌ وَلَطِيفَةٌ جِدًّا.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short and very kind.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هِيَ؟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هٰذَا صَدِيقِي، اسْمُهُ عُمَرُ. هُوَ طَوِيلٌ وَذَكِيٌّ. هٰذِهِ صَدِيقَتِي، اسْمُهَا هُدَى. هِيَ قَصِيرَةٌ وَلَطِيفَةٌ. هٰذَا جَارِي، اسْمُهُ السَّيِّدُ أَحْمَدُ. هُوَ كَبِيرٌ وَلَطِيفٌ جِدًّا. وَهٰذِهِ مُعَلِّمَتِي، اسْمُهَا الأُسْتَاذَةُ مَرْيَمُ. هِيَ ذَكِيَّةٌ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friend; his name is Omar. He is tall and clever. This is my friend; her name is Huda. She is short and kind. This is my neighbour, Mr Ahmed. He is old and very kind. And this is my teacher, Miss Maryam. She is very clever.”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هُوَ طَوِيلٌ وَذَكِيٌّ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هِيَ قَصِيرَةٌ وَلَطِيفَةٌ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هٰذَا جَارِي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هٰذِهِ مُعَلِّمَتِي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F2-L06 · Polite Classroom Arabic</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لُغَةُ الأَدَبِ فِي الصَّفِّ</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F2-L05 · Practice Room — Masculine and Feminine: Make the Pair Match</dc:title>
  <dc:subject>PptxGenJS Presentation</dc:subject>
  <dc:creator>Al Madina Online School · Arabic Department</dc:creator>
  <cp:lastModifiedBy>Al Madina Online School · Arabic Department</cp:lastModifiedBy>
  <cp:revision>1</cp:revision>
  <dcterms:created xsi:type="dcterms:W3CDTF">2026-10-25T17:13:35Z</dcterms:created>
  <dcterms:modified xsi:type="dcterms:W3CDTF">2026-10-25T17:13:35Z</dcterms:modified>
</cp:coreProperties>
</file>