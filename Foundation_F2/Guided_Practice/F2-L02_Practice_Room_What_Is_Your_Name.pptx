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F2-L02 (What Is Your Name?) — new practice tasks built on the lesson’s own word bank and grammar (mā ismuka (to a boy) / mā ismuki (to a girl); ismī …; hādhā ṣadīqī / hādhihi ṣadīqatī; ismuhu / ismuhā).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F2-L02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مَا اسْمُكِ؟ · مَعَكِ — and the Speaker says هٰذِهِ صَدِيقَتِي، اسْمُهَا …. Language: -ka to a boy, -ki to a girl · ismī · hādhā ṣadīqī / hādhihi ṣadīqatī · tasharrafnā.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(21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50" b="1" dirty="0">
                <a:solidFill>
                  <a:srgbClr val="FFFFFF"/>
                </a:solidFill>
                <a:latin typeface="Cambria" pitchFamily="34" charset="0"/>
                <a:cs typeface="Amiri" pitchFamily="2" charset="-78"/>
              </a:rPr>
              <a:t>Practice Room — What Is Your Name?</a:t>
            </a:r>
            <a:endParaRPr lang="en-US" sz="29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مَا اسْمُكَ؟</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speaking and writing practice with names: say the name phrases, act a short dialogue, answer name cards, do a role-play card on the first day at a club, give a 30-second introduction, then build, fix and write a short message introducing themselves and a friend.</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F2-L02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Asking and giving names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 اسْمُكَ؟</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is your name? (to a boy)</a:t>
            </a:r>
            <a:endParaRPr lang="en-US" sz="1350" dirty="0"/>
          </a:p>
          <a:p>
            <a:pPr indent="0" marL="0">
              <a:buNone/>
            </a:pPr>
            <a:r>
              <a:rPr lang="en-US" sz="1100" i="1" dirty="0">
                <a:solidFill>
                  <a:srgbClr val="5A6472"/>
                </a:solidFill>
                <a:latin typeface="Calibri" pitchFamily="34" charset="0"/>
                <a:cs typeface="Amiri" pitchFamily="2" charset="-78"/>
              </a:rPr>
              <a:t>mas-mu-ka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Listen for the final -ka.</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f.</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 اسْمُكِ؟</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is your name? (to a girl)</a:t>
            </a:r>
            <a:endParaRPr lang="en-US" sz="1350" dirty="0"/>
          </a:p>
          <a:p>
            <a:pPr indent="0" marL="0">
              <a:buNone/>
            </a:pPr>
            <a:r>
              <a:rPr lang="en-US" sz="1100" i="1" dirty="0">
                <a:solidFill>
                  <a:srgbClr val="5A6472"/>
                </a:solidFill>
                <a:latin typeface="Calibri" pitchFamily="34" charset="0"/>
                <a:cs typeface="Amiri" pitchFamily="2" charset="-78"/>
              </a:rPr>
              <a:t>mas-mu-ki</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Listen for the final -ki.</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8" name="Shape 3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answer</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اِسْمِي …</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My name is …</a:t>
            </a:r>
            <a:endParaRPr lang="en-US" sz="1350" dirty="0"/>
          </a:p>
          <a:p>
            <a:pPr indent="0" marL="0">
              <a:buNone/>
            </a:pPr>
            <a:r>
              <a:rPr lang="en-US" sz="1100" i="1" dirty="0">
                <a:solidFill>
                  <a:srgbClr val="5A6472"/>
                </a:solidFill>
                <a:latin typeface="Calibri" pitchFamily="34" charset="0"/>
                <a:cs typeface="Amiri" pitchFamily="2" charset="-78"/>
              </a:rPr>
              <a:t>is-mī …</a:t>
            </a:r>
            <a:endParaRPr lang="en-US" sz="1350" dirty="0"/>
          </a:p>
        </p:txBody>
      </p:sp>
      <p:sp>
        <p:nvSpPr>
          <p:cNvPr id="44" name="Text 4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Add your name after the phrase.</a:t>
            </a:r>
            <a:endParaRPr lang="en-US" sz="10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Shape 4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وَأَنْتَ؟</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And you?</a:t>
            </a:r>
            <a:endParaRPr lang="en-US" sz="1350" dirty="0"/>
          </a:p>
          <a:p>
            <a:pPr indent="0" marL="0">
              <a:buNone/>
            </a:pPr>
            <a:r>
              <a:rPr lang="en-US" sz="1100" i="1" dirty="0">
                <a:solidFill>
                  <a:srgbClr val="5A6472"/>
                </a:solidFill>
                <a:latin typeface="Calibri" pitchFamily="34" charset="0"/>
                <a:cs typeface="Amiri" pitchFamily="2" charset="-78"/>
              </a:rPr>
              <a:t>wa-an-ta · wa-an-ti · wa-an-tum</a:t>
            </a:r>
            <a:endParaRPr lang="en-US" sz="1350" dirty="0"/>
          </a:p>
        </p:txBody>
      </p:sp>
      <p:sp>
        <p:nvSpPr>
          <p:cNvPr id="54" name="Shape 5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6" name="Text 5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وَأَنْتَ؟</a:t>
            </a:r>
            <a:endParaRPr lang="ar-SA" sz="1500" dirty="0"/>
          </a:p>
        </p:txBody>
      </p:sp>
      <p:sp>
        <p:nvSpPr>
          <p:cNvPr id="57" name="Shape 5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9" name="Text 5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وَأَنْتِ؟</a:t>
            </a:r>
            <a:endParaRPr lang="ar-SA" sz="1500" dirty="0"/>
          </a:p>
        </p:txBody>
      </p:sp>
      <p:sp>
        <p:nvSpPr>
          <p:cNvPr id="60" name="Shape 5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وَأَنْتُمْ؟</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fixed phrase</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تَشَرَّفْنَا</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Pleased to meet you.</a:t>
            </a:r>
            <a:endParaRPr lang="en-US" sz="1350" dirty="0"/>
          </a:p>
          <a:p>
            <a:pPr indent="0" marL="0">
              <a:buNone/>
            </a:pPr>
            <a:r>
              <a:rPr lang="en-US" sz="1100" i="1" dirty="0">
                <a:solidFill>
                  <a:srgbClr val="5A6472"/>
                </a:solidFill>
                <a:latin typeface="Calibri" pitchFamily="34" charset="0"/>
                <a:cs typeface="Amiri" pitchFamily="2" charset="-78"/>
              </a:rPr>
              <a:t>ta-shar-raf-nā</a:t>
            </a:r>
            <a:endParaRPr lang="en-US" sz="1350" dirty="0"/>
          </a:p>
        </p:txBody>
      </p:sp>
      <p:sp>
        <p:nvSpPr>
          <p:cNvPr id="72" name="Text 6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Stretch: </a:t>
            </a:r>
            <a:pPr algn="l" indent="0" marL="0">
              <a:buNone/>
            </a:pPr>
            <a:r>
              <a:rPr lang="ar-SA" altLang="en-US" sz="1300" dirty="0">
                <a:solidFill>
                  <a:srgbClr val="8A6D1E"/>
                </a:solidFill>
                <a:latin typeface="Amiri" pitchFamily="2" charset="-78"/>
                <a:ea typeface="Amiri" pitchFamily="2" charset="-78"/>
                <a:cs typeface="Amiri" pitchFamily="2" charset="-78"/>
              </a:rPr>
              <a:t>تَشَرَّفْتُ بِلِقَائِكَ / بِلِقَائِكِ</a:t>
            </a:r>
            <a:endParaRPr lang="en-US" sz="100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6" name="Shape 73"/>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your: m · f · pl</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name</a:t>
            </a:r>
            <a:endParaRPr lang="en-US" sz="1350" dirty="0"/>
          </a:p>
          <a:p>
            <a:pPr indent="0" marL="0">
              <a:buNone/>
            </a:pPr>
            <a:r>
              <a:rPr lang="en-US" sz="1100" i="1" dirty="0">
                <a:solidFill>
                  <a:srgbClr val="5A6472"/>
                </a:solidFill>
                <a:latin typeface="Calibri" pitchFamily="34" charset="0"/>
                <a:cs typeface="Amiri" pitchFamily="2" charset="-78"/>
              </a:rPr>
              <a:t>is-mu-ka · is-mu-ki · is-mu-kum</a:t>
            </a:r>
            <a:endParaRPr lang="en-US" sz="1350" dirty="0"/>
          </a:p>
        </p:txBody>
      </p:sp>
      <p:sp>
        <p:nvSpPr>
          <p:cNvPr id="80" name="Shape 77"/>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m.</a:t>
            </a:r>
            <a:endParaRPr lang="en-US" sz="700" dirty="0"/>
          </a:p>
        </p:txBody>
      </p:sp>
      <p:sp>
        <p:nvSpPr>
          <p:cNvPr id="82" name="Text 79"/>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اِسْمُكَ</a:t>
            </a:r>
            <a:endParaRPr lang="ar-SA" sz="1350" dirty="0"/>
          </a:p>
        </p:txBody>
      </p:sp>
      <p:sp>
        <p:nvSpPr>
          <p:cNvPr id="83" name="Shape 80"/>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f.</a:t>
            </a:r>
            <a:endParaRPr lang="en-US" sz="700" dirty="0"/>
          </a:p>
        </p:txBody>
      </p:sp>
      <p:sp>
        <p:nvSpPr>
          <p:cNvPr id="85" name="Text 82"/>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اِسْمُكِ</a:t>
            </a:r>
            <a:endParaRPr lang="ar-SA" sz="1350" dirty="0"/>
          </a:p>
        </p:txBody>
      </p:sp>
      <p:sp>
        <p:nvSpPr>
          <p:cNvPr id="86" name="Shape 83"/>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pl.</a:t>
            </a:r>
            <a:endParaRPr lang="en-US" sz="700" dirty="0"/>
          </a:p>
        </p:txBody>
      </p:sp>
      <p:sp>
        <p:nvSpPr>
          <p:cNvPr id="88" name="Text 85"/>
          <p:cNvSpPr txBox="1"/>
          <p:nvPr/>
        </p:nvSpPr>
        <p:spPr>
          <a:xfrm>
            <a:off x="64008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اِسْمُكُمْ</a:t>
            </a:r>
            <a:endParaRPr lang="ar-SA" sz="13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Introducing a friend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صَدِيقٌ</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friend</a:t>
            </a:r>
            <a:endParaRPr lang="en-US" sz="1350" dirty="0"/>
          </a:p>
          <a:p>
            <a:pPr indent="0" marL="0">
              <a:buNone/>
            </a:pPr>
            <a:r>
              <a:rPr lang="en-US" sz="1100" i="1" dirty="0">
                <a:solidFill>
                  <a:srgbClr val="5A6472"/>
                </a:solidFill>
                <a:latin typeface="Calibri" pitchFamily="34" charset="0"/>
                <a:cs typeface="Amiri" pitchFamily="2" charset="-78"/>
              </a:rPr>
              <a:t>ṣa-dīq · ṣa-dī-qa · aṣ-di-qāʾ</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أَصْدِقَاءُ</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4" name="Shape 31"/>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Stretch</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هَذَا صَدِيقِي</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This is my friend. (m.)</a:t>
            </a:r>
            <a:endParaRPr lang="en-US" sz="1350" dirty="0"/>
          </a:p>
          <a:p>
            <a:pPr indent="0" marL="0">
              <a:buNone/>
            </a:pPr>
            <a:r>
              <a:rPr lang="en-US" sz="1100" i="1" dirty="0">
                <a:solidFill>
                  <a:srgbClr val="5A6472"/>
                </a:solidFill>
                <a:latin typeface="Calibri" pitchFamily="34" charset="0"/>
                <a:cs typeface="Amiri" pitchFamily="2" charset="-78"/>
              </a:rPr>
              <a:t>hā-dhā ṣa-dī-qī</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 m.</a:t>
            </a:r>
            <a:endParaRPr lang="en-US" sz="700" dirty="0"/>
          </a:p>
        </p:txBody>
      </p:sp>
      <p:sp>
        <p:nvSpPr>
          <p:cNvPr id="40" name="Text 37"/>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 f.</a:t>
            </a:r>
            <a:endParaRPr lang="en-US" sz="700" dirty="0"/>
          </a:p>
        </p:txBody>
      </p:sp>
      <p:sp>
        <p:nvSpPr>
          <p:cNvPr id="43" name="Text 40"/>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these</a:t>
            </a:r>
            <a:endParaRPr lang="en-US" sz="700" dirty="0"/>
          </a:p>
        </p:txBody>
      </p:sp>
      <p:sp>
        <p:nvSpPr>
          <p:cNvPr id="46" name="Text 43"/>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هَؤُلَاءِ</a:t>
            </a:r>
            <a:endParaRPr lang="ar-SA" sz="135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0" name="Shape 4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Stretch</a:t>
            </a:r>
            <a:endParaRPr lang="en-US" sz="8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هَذِهِ صَدِيقَتِي</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This is my friend. (f.)</a:t>
            </a:r>
            <a:endParaRPr lang="en-US" sz="1350" dirty="0"/>
          </a:p>
          <a:p>
            <a:pPr indent="0" marL="0">
              <a:buNone/>
            </a:pPr>
            <a:r>
              <a:rPr lang="en-US" sz="1100" i="1" dirty="0">
                <a:solidFill>
                  <a:srgbClr val="5A6472"/>
                </a:solidFill>
                <a:latin typeface="Calibri" pitchFamily="34" charset="0"/>
                <a:cs typeface="Amiri" pitchFamily="2" charset="-78"/>
              </a:rPr>
              <a:t>hā-dhi-hi ṣa-dī-qa-tī</a:t>
            </a:r>
            <a:endParaRPr lang="en-US" sz="1350" dirty="0"/>
          </a:p>
        </p:txBody>
      </p:sp>
      <p:sp>
        <p:nvSpPr>
          <p:cNvPr id="54" name="Text 5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Both words are feminine.</a:t>
            </a:r>
            <a:endParaRPr lang="en-US" sz="10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8" name="Shape 55"/>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names m.</a:t>
            </a:r>
            <a:endParaRPr lang="en-US" sz="800" dirty="0"/>
          </a:p>
        </p:txBody>
      </p:sp>
      <p:sp>
        <p:nvSpPr>
          <p:cNvPr id="60" name="Shape 5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خَالِد · يُوسُف</a:t>
            </a:r>
            <a:endParaRPr lang="ar-SA" sz="3000" dirty="0"/>
          </a:p>
        </p:txBody>
      </p:sp>
      <p:sp>
        <p:nvSpPr>
          <p:cNvPr id="63" name="Text 6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Khalid · Yusuf (boys)</a:t>
            </a:r>
            <a:endParaRPr lang="en-US" sz="1350" dirty="0"/>
          </a:p>
          <a:p>
            <a:pPr indent="0" marL="0">
              <a:buNone/>
            </a:pPr>
            <a:r>
              <a:rPr lang="en-US" sz="1100" i="1" dirty="0">
                <a:solidFill>
                  <a:srgbClr val="5A6472"/>
                </a:solidFill>
                <a:latin typeface="Calibri" pitchFamily="34" charset="0"/>
                <a:cs typeface="Amiri" pitchFamily="2" charset="-78"/>
              </a:rPr>
              <a:t>khā-lid · yū-suf</a:t>
            </a:r>
            <a:endParaRPr lang="en-US" sz="1350" dirty="0"/>
          </a:p>
        </p:txBody>
      </p:sp>
      <p:sp>
        <p:nvSpPr>
          <p:cNvPr id="64" name="Text 61"/>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Ask them: </a:t>
            </a:r>
            <a:pPr algn="l" indent="0" marL="0">
              <a:buNone/>
            </a:pPr>
            <a:r>
              <a:rPr lang="ar-SA" altLang="en-US" sz="1300" dirty="0">
                <a:solidFill>
                  <a:srgbClr val="8A6D1E"/>
                </a:solidFill>
                <a:latin typeface="Amiri" pitchFamily="2" charset="-78"/>
                <a:ea typeface="Amiri" pitchFamily="2" charset="-78"/>
                <a:cs typeface="Amiri" pitchFamily="2" charset="-78"/>
              </a:rPr>
              <a:t>مَا اسْمُكَ؟</a:t>
            </a:r>
            <a:endParaRPr lang="en-US" sz="100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8" name="Shape 65"/>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names f.</a:t>
            </a:r>
            <a:endParaRPr lang="en-US" sz="800" dirty="0"/>
          </a:p>
        </p:txBody>
      </p:sp>
      <p:sp>
        <p:nvSpPr>
          <p:cNvPr id="70" name="Shape 6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2" name="Text 6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زَيْنَب · مَرْيَم</a:t>
            </a:r>
            <a:endParaRPr lang="ar-SA" sz="3000" dirty="0"/>
          </a:p>
        </p:txBody>
      </p:sp>
      <p:sp>
        <p:nvSpPr>
          <p:cNvPr id="73" name="Text 7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Zaynab · Maryam (girls)</a:t>
            </a:r>
            <a:endParaRPr lang="en-US" sz="1350" dirty="0"/>
          </a:p>
          <a:p>
            <a:pPr indent="0" marL="0">
              <a:buNone/>
            </a:pPr>
            <a:r>
              <a:rPr lang="en-US" sz="1100" i="1" dirty="0">
                <a:solidFill>
                  <a:srgbClr val="5A6472"/>
                </a:solidFill>
                <a:latin typeface="Calibri" pitchFamily="34" charset="0"/>
                <a:cs typeface="Amiri" pitchFamily="2" charset="-78"/>
              </a:rPr>
              <a:t>zay-nab · mar-yam</a:t>
            </a:r>
            <a:endParaRPr lang="en-US" sz="1350" dirty="0"/>
          </a:p>
        </p:txBody>
      </p:sp>
      <p:sp>
        <p:nvSpPr>
          <p:cNvPr id="74" name="Text 7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Ask them: </a:t>
            </a:r>
            <a:pPr algn="l" indent="0" marL="0">
              <a:buNone/>
            </a:pPr>
            <a:r>
              <a:rPr lang="ar-SA" altLang="en-US" sz="1300" dirty="0">
                <a:solidFill>
                  <a:srgbClr val="8A6D1E"/>
                </a:solidFill>
                <a:latin typeface="Amiri" pitchFamily="2" charset="-78"/>
                <a:ea typeface="Amiri" pitchFamily="2" charset="-78"/>
                <a:cs typeface="Amiri" pitchFamily="2" charset="-78"/>
              </a:rPr>
              <a:t>مَا اسْمُكِ؟</a:t>
            </a:r>
            <a:endParaRPr lang="en-US" sz="100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8" name="Shape 75"/>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Stretch</a:t>
            </a:r>
            <a:endParaRPr lang="en-US" sz="800" dirty="0"/>
          </a:p>
        </p:txBody>
      </p:sp>
      <p:sp>
        <p:nvSpPr>
          <p:cNvPr id="80" name="Text 7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اِسْمُهُ … / اِسْمُهَا …</a:t>
            </a:r>
            <a:endParaRPr lang="ar-SA" sz="3000" dirty="0"/>
          </a:p>
        </p:txBody>
      </p:sp>
      <p:sp>
        <p:nvSpPr>
          <p:cNvPr id="81" name="Text 7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name is … / Her name is …</a:t>
            </a:r>
            <a:endParaRPr lang="en-US" sz="1350" dirty="0"/>
          </a:p>
          <a:p>
            <a:pPr indent="0" marL="0">
              <a:buNone/>
            </a:pPr>
            <a:r>
              <a:rPr lang="en-US" sz="1100" i="1" dirty="0">
                <a:solidFill>
                  <a:srgbClr val="5A6472"/>
                </a:solidFill>
                <a:latin typeface="Calibri" pitchFamily="34" charset="0"/>
                <a:cs typeface="Amiri" pitchFamily="2" charset="-78"/>
              </a:rPr>
              <a:t>is-mu-hu · is-mu-hā</a:t>
            </a:r>
            <a:endParaRPr lang="en-US" sz="1350" dirty="0"/>
          </a:p>
        </p:txBody>
      </p:sp>
      <p:sp>
        <p:nvSpPr>
          <p:cNvPr id="82" name="Text 7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Use it after “this is my friend”.</a:t>
            </a:r>
            <a:endParaRPr lang="en-US" sz="100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your name?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 اسْمُكَ؟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Peace be upon you! I am Yusuf. What is your name?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السَّلَامُ عَلَيْكُمْ! أَنَا يُوسُفُ. مَا اسْمُكَ؟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upon you be peace! My name is Khalid. And you?</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وَعَلَيْكُمُ السَّلَامُ! اسْمِي خَالِدٌ. وَأَنْتَ؟</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name is Yusuf. Pleased to meet you!</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اسْمِي يُوسُفُ. تَشَرَّفْنَا!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Pleased to meet you! This is my friend; her name is Zaynab.</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تَشَرَّفْنَا! هٰذِهِ صَدِيقَتِي، اسْمُهَا زَيْنَبُ.</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Zaynab! And who is this?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أَهْلًا يَا زَيْنَبُ! وَمَنْ هٰذَا؟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my friend; his name is Omar.</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صَدِيقِي، اسْمُهُ عُمَرُ.</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use YOUR names and the names of people in your room.</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وَأَنْتَ؟ / وَأَنْتِ؟</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name? (boy / girl)</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اسْمُكَ؟ / مَا اسْمُكِ؟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اسْمُهُ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هٰذَا صَدِيقِي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this? (a boy)</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هٰذَا؟</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اسْمُهَا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هٰذِهِ صَدِيقَتِي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this? (a girl)</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هٰذِهِ؟</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 اسْمُ مُعَلِّمَتِي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 مُعَلِّمِي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teacher’s name?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 مُعَلِّمِكَ؟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تَشَرَّفْنَا!</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اسْمُهُ … / اسْمُهَا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best friend’s name?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 صَدِيقِكَ المُفَضَّلِ؟</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Role-play card — the first day at a football club</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أَوَّلُ يَوْمٍ فِي النَّادِي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اسْمِي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your name.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وَسَهْلًا! مَا اسْمُكَ؟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تَشَرَّفْنَا ← تَشَرَّفْنَا!</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Reply politely.</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تَشَرَّفْنَا يَا سَامِي!</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هٰذَا صَدِيقِي ، اسْمُهُ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Introduce your friend (a boy).</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هٰذَا مَعَكَ؟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اسْأَلْ ← مَا اسْمُكِ؟</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the name of the girl next to the coach.</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وَأَنَا اسْمِي المُدَرِّبُ مَحْمُودٌ.</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new player · Leader = the coach.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me and my friends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أَنَا وَأَصْدِقَائِي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greet the room, say your name, then introduce two friends (a boy and a girl) with their names.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sentences: </a:t>
            </a:r>
            <a:pPr algn="l" indent="0" marL="0">
              <a:buNone/>
            </a:pPr>
            <a:r>
              <a:rPr lang="ar-SA" altLang="en-US" sz="1500" dirty="0">
                <a:solidFill>
                  <a:srgbClr val="1F2A37"/>
                </a:solidFill>
                <a:latin typeface="Amiri" pitchFamily="2" charset="-78"/>
                <a:ea typeface="Amiri" pitchFamily="2" charset="-78"/>
                <a:cs typeface="Amiri" pitchFamily="2" charset="-78"/>
              </a:rPr>
              <a:t>السَّلَامُ عَلَيْكُمْ</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اسْمِي</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هٰذَا صَدِيقِي</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girl: </a:t>
            </a:r>
            <a:pPr algn="l" indent="0" marL="0">
              <a:buNone/>
            </a:pPr>
            <a:r>
              <a:rPr lang="ar-SA" altLang="en-US" sz="1500" dirty="0">
                <a:solidFill>
                  <a:srgbClr val="1F2A37"/>
                </a:solidFill>
                <a:latin typeface="Amiri" pitchFamily="2" charset="-78"/>
                <a:ea typeface="Amiri" pitchFamily="2" charset="-78"/>
                <a:cs typeface="Amiri" pitchFamily="2" charset="-78"/>
              </a:rPr>
              <a:t>هٰذِهِ صَدِيقَتِي، اسْمُهَا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Ask two people their names (-ka / -ki) and finish with </a:t>
            </a:r>
            <a:pPr algn="l" indent="0" marL="0">
              <a:buNone/>
            </a:pPr>
            <a:r>
              <a:rPr lang="ar-SA" altLang="en-US" sz="1500" dirty="0">
                <a:solidFill>
                  <a:srgbClr val="1F2A37"/>
                </a:solidFill>
                <a:latin typeface="Amiri" pitchFamily="2" charset="-78"/>
                <a:ea typeface="Amiri" pitchFamily="2" charset="-78"/>
                <a:cs typeface="Amiri" pitchFamily="2" charset="-78"/>
              </a:rPr>
              <a:t>تَشَرَّفْنَا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اسْمِي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my name is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هٰذَا صَدِيقِي، اسْمُهُ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this is my friend; his name is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هٰذِهِ صَدِيقَتِي، اسْمُهَا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this is my friend; her name is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تَشَرَّفْنَا</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pleased to meet you</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And you, what is your name? (to a girl)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وَأَنْتِ،</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وَأَنْتَ،</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اسْمُكِ؟</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اسْمُكَ؟</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is my friend; his name is Ali.</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صَدِيقِي،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صَدِيقَتِي،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اسْمُهُ</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اسْمُهَا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مَرْيَمُ.</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is my friend; her name is Huda.</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صَدِيقَتِي،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صَدِيقِي،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اسْمُهَا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اسْمُهُ</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هُدَى.</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And you, what is your name? (to a girl)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girl: </a:t>
            </a:r>
            <a:pPr algn="l" indent="0" marL="0">
              <a:buNone/>
            </a:pPr>
            <a:r>
              <a:rPr lang="ar-SA" altLang="en-US" sz="1350" dirty="0">
                <a:solidFill>
                  <a:srgbClr val="5A6472"/>
                </a:solidFill>
                <a:latin typeface="Amiri" pitchFamily="2" charset="-78"/>
                <a:ea typeface="Amiri" pitchFamily="2" charset="-78"/>
                <a:cs typeface="Amiri" pitchFamily="2" charset="-78"/>
              </a:rPr>
              <a:t>أَنْتِ … اسْمُكِ</a:t>
            </a:r>
            <a:pPr algn="l" indent="0" marL="0">
              <a:buNone/>
            </a:pPr>
            <a:r>
              <a:rPr lang="en-US" sz="1050" i="1" dirty="0">
                <a:solidFill>
                  <a:srgbClr val="5A6472"/>
                </a:solidFill>
                <a:latin typeface="Calibri" pitchFamily="34" charset="0"/>
                <a:cs typeface="Amiri" pitchFamily="2" charset="-78"/>
              </a:rPr>
              <a:t> (-ki); what = </a:t>
            </a:r>
            <a:pPr algn="l" indent="0" marL="0">
              <a:buNone/>
            </a:pPr>
            <a:r>
              <a:rPr lang="ar-SA" altLang="en-US" sz="1350" dirty="0">
                <a:solidFill>
                  <a:srgbClr val="5A6472"/>
                </a:solidFill>
                <a:latin typeface="Amiri" pitchFamily="2" charset="-78"/>
                <a:ea typeface="Amiri" pitchFamily="2" charset="-78"/>
                <a:cs typeface="Amiri" pitchFamily="2" charset="-78"/>
              </a:rPr>
              <a:t>مَا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وَأَنْتِ، مَا اسْمُكِ؟</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is my friend; his name is Ali.</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boy → </a:t>
            </a:r>
            <a:pPr algn="l" indent="0" marL="0">
              <a:buNone/>
            </a:pPr>
            <a:r>
              <a:rPr lang="ar-SA" altLang="en-US" sz="1350" dirty="0">
                <a:solidFill>
                  <a:srgbClr val="5A6472"/>
                </a:solidFill>
                <a:latin typeface="Amiri" pitchFamily="2" charset="-78"/>
                <a:ea typeface="Amiri" pitchFamily="2" charset="-78"/>
                <a:cs typeface="Amiri" pitchFamily="2" charset="-78"/>
              </a:rPr>
              <a:t>هٰذَا صَدِيقِي … اسْمُهُ</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هٰذَا صَدِيقِي، اسْمُهُ عَلِيٌّ.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is my friend; her name is Huda.</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girl → </a:t>
            </a:r>
            <a:pPr algn="l" indent="0" marL="0">
              <a:buNone/>
            </a:pPr>
            <a:r>
              <a:rPr lang="ar-SA" altLang="en-US" sz="1350" dirty="0">
                <a:solidFill>
                  <a:srgbClr val="5A6472"/>
                </a:solidFill>
                <a:latin typeface="Amiri" pitchFamily="2" charset="-78"/>
                <a:ea typeface="Amiri" pitchFamily="2" charset="-78"/>
                <a:cs typeface="Amiri" pitchFamily="2" charset="-78"/>
              </a:rPr>
              <a:t>هٰذِهِ صَدِيقَتِي … اسْمُهَا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هٰذِهِ صَدِيقَتِي، اسْمُهَا هُدَى.</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مَا اسْمُكَ يَا فَاطِمَةُ؟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Fatima is a girl.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صَدِيقَتِي.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both words.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صَدِيقِي، اسْمُهَا يُوسُفُ.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Yusuf is a boy.</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مَا اسْمُكَ يَا فَاطِمَةُ؟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مَا اسْمُكِ يَا فَاطِمَةُ؟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a:t>
            </a:r>
            <a:pPr algn="l" indent="0" marL="0">
              <a:buNone/>
            </a:pPr>
            <a:r>
              <a:rPr lang="ar-SA" altLang="en-US" sz="1500" b="1" dirty="0">
                <a:solidFill>
                  <a:srgbClr val="1B3B6F"/>
                </a:solidFill>
                <a:latin typeface="Amiri" pitchFamily="2" charset="-78"/>
                <a:ea typeface="Amiri" pitchFamily="2" charset="-78"/>
                <a:cs typeface="Amiri" pitchFamily="2" charset="-78"/>
              </a:rPr>
              <a:t>اسْمُكِ</a:t>
            </a:r>
            <a:pPr algn="l" indent="0" marL="0">
              <a:buNone/>
            </a:pPr>
            <a:r>
              <a:rPr lang="en-US" sz="1150" b="1" dirty="0">
                <a:solidFill>
                  <a:srgbClr val="1B3B6F"/>
                </a:solidFill>
                <a:latin typeface="Calibri" pitchFamily="34" charset="0"/>
                <a:cs typeface="Amiri" pitchFamily="2" charset="-78"/>
              </a:rPr>
              <a:t> (-ki).</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صَدِيقَتِي.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صَدِيقَتِي.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girl friend → </a:t>
            </a:r>
            <a:pPr algn="l" indent="0" marL="0">
              <a:buNone/>
            </a:pPr>
            <a:r>
              <a:rPr lang="ar-SA" altLang="en-US" sz="1500" b="1" dirty="0">
                <a:solidFill>
                  <a:srgbClr val="1B3B6F"/>
                </a:solidFill>
                <a:latin typeface="Amiri" pitchFamily="2" charset="-78"/>
                <a:ea typeface="Amiri" pitchFamily="2" charset="-78"/>
                <a:cs typeface="Amiri" pitchFamily="2" charset="-78"/>
              </a:rPr>
              <a:t>هٰذِهِ صَدِيقَتِي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صَدِيقِي، اسْمُهَا يُوسُفُ.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هٰذَا صَدِيقِي، اسْمُهُ يُوسُفُ.</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His name → </a:t>
            </a:r>
            <a:pPr algn="l" indent="0" marL="0">
              <a:buNone/>
            </a:pPr>
            <a:r>
              <a:rPr lang="ar-SA" altLang="en-US" sz="1500" b="1" dirty="0">
                <a:solidFill>
                  <a:srgbClr val="1B3B6F"/>
                </a:solidFill>
                <a:latin typeface="Amiri" pitchFamily="2" charset="-78"/>
                <a:ea typeface="Amiri" pitchFamily="2" charset="-78"/>
                <a:cs typeface="Amiri" pitchFamily="2" charset="-78"/>
              </a:rPr>
              <a:t>اسْمُهُ</a:t>
            </a:r>
            <a:pPr algn="l" indent="0" marL="0">
              <a:buNone/>
            </a:pPr>
            <a:r>
              <a:rPr lang="en-US" sz="1150" b="1" dirty="0">
                <a:solidFill>
                  <a:srgbClr val="1B3B6F"/>
                </a:solidFill>
                <a:latin typeface="Calibri" pitchFamily="34" charset="0"/>
                <a:cs typeface="Amiri" pitchFamily="2" charset="-78"/>
              </a:rPr>
              <a:t> (-hu).</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أَهْلًا وَسَهْلًا! أَنَا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Welcome! I am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وَأَنْتَ، مَا ______ ؟ وَأَنْتِ، مَا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you (boy), what is …? And you (girl), what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تَشَرَّفْنَا! مَعَ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Pleased to meet you! Good…</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Peace be upon you!</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is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صَدِيقِي، اسْمُهُ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friend; his name is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صَدِيقَتِي، اسْمُهَا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friend; her name is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اسْمِي  ·  اسْمُكَ · اسْمُكِ  ·  اسْمُهُ · اسْمُهَا  ·  هٰذَا صَدِيقِي  ·  هٰذِهِ صَدِيقَتِي  ·  وَأَنْتَ؟ · وَأَنْتِ؟  ·  تَشَرَّفْنَا  ·  مَعَ السَّلَامَةِ</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Introduce yourself and a friend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أُعَرِّفُ بِنَفْسِي وَبِصَدِيقِي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message (about 25–40 words) for the class chat. Include: • a greeting • your name • a friend (a boy) and his name • a friend (a girl) and her name • a polite closing.</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peace be upon you!</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name is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صَدِيقِي، اسْمُهُ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my friend; his name is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صَدِيقَتِي، اسْمُهَا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my friend; her name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اسْمُكَ</a:t>
            </a:r>
            <a:pPr algn="l" indent="0" marL="0">
              <a:buNone/>
            </a:pPr>
            <a:r>
              <a:rPr lang="en-US" sz="1100" dirty="0">
                <a:solidFill>
                  <a:srgbClr val="5A6472"/>
                </a:solidFill>
                <a:latin typeface="Calibri" pitchFamily="34" charset="0"/>
                <a:cs typeface="Amiri" pitchFamily="2" charset="-78"/>
              </a:rPr>
              <a:t> for a boy and </a:t>
            </a:r>
            <a:pPr algn="l" indent="0" marL="0">
              <a:buNone/>
            </a:pPr>
            <a:r>
              <a:rPr lang="ar-SA" altLang="en-US" sz="1450" dirty="0">
                <a:solidFill>
                  <a:srgbClr val="5A6472"/>
                </a:solidFill>
                <a:latin typeface="Amiri" pitchFamily="2" charset="-78"/>
                <a:ea typeface="Amiri" pitchFamily="2" charset="-78"/>
                <a:cs typeface="Amiri" pitchFamily="2" charset="-78"/>
              </a:rPr>
              <a:t>اسْمُكِ</a:t>
            </a:r>
            <a:pPr algn="l" indent="0" marL="0">
              <a:buNone/>
            </a:pPr>
            <a:r>
              <a:rPr lang="en-US" sz="1100" dirty="0">
                <a:solidFill>
                  <a:srgbClr val="5A6472"/>
                </a:solidFill>
                <a:latin typeface="Calibri" pitchFamily="34" charset="0"/>
                <a:cs typeface="Amiri" pitchFamily="2" charset="-78"/>
              </a:rPr>
              <a:t> for a girl?</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هٰذَا صَدِيقِي … اسْمُهُ</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هٰذِهِ صَدِيقَتِي … اسْمُهَا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أَهْلًا بِكَ! اسْمِي سَامِي.</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Hello! My name is Sami.</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وَسَهْلًا! مَا اسْمُكَ؟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تَشَرَّفْنَا!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Pleased to meet you!</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تَشَرَّفْنَا يَا سَامِي!</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صَدِيقِي، اسْمُهُ آدَمُ.</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friend; his name is Adam.</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هٰذَا مَعَكَ؟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أَهْلًا! وَأَنْتِ، مَا اسْمُكِ؟</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Hello! And you, what is your name?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وَأَنَا اسْمِي المُدَرِّبُ مَحْمُودٌ.</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اسْمِي نُورٌ. هٰذَا صَدِيقِي، اسْمُهُ يُوسُفُ. وَهٰذِهِ صَدِيقَتِي، اسْمُهَا زَيْنَبُ. وَأَنْتَ، مَا اسْمُكَ؟ وَأَنْتِ، مَا اسْمُكِ؟ تَشَرَّفْنَا! مَعَ السَّلَامَةِ.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My name is Nour. This is my friend; his name is Yusuf. And this is my friend; her name is Zaynab. And you (boy), what is your name? And you (girl), what is your name? Pleased to meet you! Goodbye.”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اسْمِي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هٰذَا صَدِيقِي، اسْمُهُ</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هٰذِهِ صَدِيقَتِي، اسْمُهَا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مَا اسْمُكِ؟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F2-L03 · How Old Are You?</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كَمْ عُمْرُكَ؟ كَمْ عُمْرُكِ؟</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F2-L02 · Practice Room — What Is Your Name?</dc:title>
  <dc:subject>PptxGenJS Presentation</dc:subject>
  <dc:creator>Al Madina Online School · Arabic Department</dc:creator>
  <cp:lastModifiedBy>Al Madina Online School · Arabic Department</cp:lastModifiedBy>
  <cp:revision>1</cp:revision>
  <dcterms:created xsi:type="dcterms:W3CDTF">2026-10-25T15:36:42Z</dcterms:created>
  <dcterms:modified xsi:type="dcterms:W3CDTF">2026-10-25T15:36:42Z</dcterms:modified>
</cp:coreProperties>
</file>