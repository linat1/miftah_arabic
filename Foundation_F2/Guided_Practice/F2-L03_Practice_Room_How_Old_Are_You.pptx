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F2-L03 (How Old Are You?) — new practice tasks built on the lesson’s own word bank and grammar (kam ʿumruka / ʿumruki; ʿumrī … sanatan (11–20); ʿumruhu / ʿumruhā; numbers 11–20).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this card is written for a girl (-ki); to a boy say: كَمْ عُمْرُكَ؟ · هَلْ مَعَكَ …؟. Language: ʿumrī … sanatan · ʿumruhu / ʿumruhā · 11–20 + sanatan (accusative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cs typeface="Amiri" pitchFamily="2" charset="-78"/>
              </a:rPr>
              <a:t>Practice Room — How Old Are You?</a:t>
            </a:r>
            <a:endParaRPr lang="en-US" sz="32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كَمْ عُمْرُكَ؟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with ages: say the age phrases and numbers, act a short dialogue, answer age cards, do a role-play card at a sports-club desk, give a 30-second talk about ages in their family, then build, fix and write a short profile with names and ages.</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F2-L03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Asking and giving ages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عُمْرُكَ؟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old are you? (to a boy)</a:t>
            </a:r>
            <a:endParaRPr lang="en-US" sz="1350" dirty="0"/>
          </a:p>
          <a:p>
            <a:pPr indent="0" marL="0">
              <a:buNone/>
            </a:pPr>
            <a:r>
              <a:rPr lang="en-US" sz="1100" i="1" dirty="0">
                <a:solidFill>
                  <a:srgbClr val="5A6472"/>
                </a:solidFill>
                <a:latin typeface="Calibri" pitchFamily="34" charset="0"/>
                <a:cs typeface="Amiri" pitchFamily="2" charset="-78"/>
              </a:rPr>
              <a:t>kam ʿum-ru-ka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for the final -ka.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f.</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عُمْرُكِ؟</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old are you? (to a girl)</a:t>
            </a:r>
            <a:endParaRPr lang="en-US" sz="1350" dirty="0"/>
          </a:p>
          <a:p>
            <a:pPr indent="0" marL="0">
              <a:buNone/>
            </a:pPr>
            <a:r>
              <a:rPr lang="en-US" sz="1100" i="1" dirty="0">
                <a:solidFill>
                  <a:srgbClr val="5A6472"/>
                </a:solidFill>
                <a:latin typeface="Calibri" pitchFamily="34" charset="0"/>
                <a:cs typeface="Amiri" pitchFamily="2" charset="-78"/>
              </a:rPr>
              <a:t>kam ʿum-ru-ki</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for the final -ki.</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عُمْرِي … سَنَةً</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 years old. (11–20)</a:t>
            </a:r>
            <a:endParaRPr lang="en-US" sz="1350" dirty="0"/>
          </a:p>
          <a:p>
            <a:pPr indent="0" marL="0">
              <a:buNone/>
            </a:pPr>
            <a:r>
              <a:rPr lang="en-US" sz="1100" i="1" dirty="0">
                <a:solidFill>
                  <a:srgbClr val="5A6472"/>
                </a:solidFill>
                <a:latin typeface="Calibri" pitchFamily="34" charset="0"/>
                <a:cs typeface="Amiri" pitchFamily="2" charset="-78"/>
              </a:rPr>
              <a:t>ʿum-rī … sa-na-tan</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secure answer for ages 11–20.</a:t>
            </a:r>
            <a:endParaRPr lang="en-US" sz="10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dual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سَنَةٌ</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year</a:t>
            </a:r>
            <a:endParaRPr lang="en-US" sz="1350" dirty="0"/>
          </a:p>
          <a:p>
            <a:pPr indent="0" marL="0">
              <a:buNone/>
            </a:pPr>
            <a:r>
              <a:rPr lang="en-US" sz="1100" i="1" dirty="0">
                <a:solidFill>
                  <a:srgbClr val="5A6472"/>
                </a:solidFill>
                <a:latin typeface="Calibri" pitchFamily="34" charset="0"/>
                <a:cs typeface="Amiri" pitchFamily="2" charset="-78"/>
              </a:rPr>
              <a:t>sa-na · sa-na-tān · sa-na-wāt</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6" name="Text 5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سَنَةٌ</a:t>
            </a:r>
            <a:endParaRPr lang="ar-SA" sz="150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59" name="Text 5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سَنَتَانِ</a:t>
            </a:r>
            <a:endParaRPr lang="ar-SA" sz="150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سَنَوَاتٌ</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1269187"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your: m · f · pl</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عُمْرٌ</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age</a:t>
            </a:r>
            <a:endParaRPr lang="en-US" sz="1350" dirty="0"/>
          </a:p>
          <a:p>
            <a:pPr indent="0" marL="0">
              <a:buNone/>
            </a:pPr>
            <a:r>
              <a:rPr lang="en-US" sz="1100" i="1" dirty="0">
                <a:solidFill>
                  <a:srgbClr val="5A6472"/>
                </a:solidFill>
                <a:latin typeface="Calibri" pitchFamily="34" charset="0"/>
                <a:cs typeface="Amiri" pitchFamily="2" charset="-78"/>
              </a:rPr>
              <a:t>ʿum-ru-ka · ʿum-ru-ki · ʿum-ru-kum</a:t>
            </a:r>
            <a:endParaRPr lang="en-US" sz="1350" dirty="0"/>
          </a:p>
        </p:txBody>
      </p:sp>
      <p:sp>
        <p:nvSpPr>
          <p:cNvPr id="70" name="Shape 6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m.</a:t>
            </a:r>
            <a:endParaRPr lang="en-US" sz="700" dirty="0"/>
          </a:p>
        </p:txBody>
      </p:sp>
      <p:sp>
        <p:nvSpPr>
          <p:cNvPr id="72" name="Text 69"/>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عُمْرُكَ</a:t>
            </a:r>
            <a:endParaRPr lang="ar-SA" sz="1350" dirty="0"/>
          </a:p>
        </p:txBody>
      </p:sp>
      <p:sp>
        <p:nvSpPr>
          <p:cNvPr id="73" name="Shape 7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f.</a:t>
            </a:r>
            <a:endParaRPr lang="en-US" sz="700" dirty="0"/>
          </a:p>
        </p:txBody>
      </p:sp>
      <p:sp>
        <p:nvSpPr>
          <p:cNvPr id="75" name="Text 72"/>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عُمْرُكِ</a:t>
            </a:r>
            <a:endParaRPr lang="ar-SA" sz="1350" dirty="0"/>
          </a:p>
        </p:txBody>
      </p:sp>
      <p:sp>
        <p:nvSpPr>
          <p:cNvPr id="76" name="Shape 7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pl.</a:t>
            </a:r>
            <a:endParaRPr lang="en-US" sz="700" dirty="0"/>
          </a:p>
        </p:txBody>
      </p:sp>
      <p:sp>
        <p:nvSpPr>
          <p:cNvPr id="78" name="Text 75"/>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أَعْمَارُكُمْ</a:t>
            </a:r>
            <a:endParaRPr lang="ar-SA" sz="135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2" name="Shape 79"/>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عُمْرِي خَمْسُ سَنَوَاتٍ</a:t>
            </a:r>
            <a:endParaRPr lang="ar-SA" sz="300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five years old. (3–10)</a:t>
            </a:r>
            <a:endParaRPr lang="en-US" sz="1350" dirty="0"/>
          </a:p>
          <a:p>
            <a:pPr indent="0" marL="0">
              <a:buNone/>
            </a:pPr>
            <a:r>
              <a:rPr lang="en-US" sz="1100" i="1" dirty="0">
                <a:solidFill>
                  <a:srgbClr val="5A6472"/>
                </a:solidFill>
                <a:latin typeface="Calibri" pitchFamily="34" charset="0"/>
                <a:cs typeface="Amiri" pitchFamily="2" charset="-78"/>
              </a:rPr>
              <a:t>kham-su sa-na-wāt</a:t>
            </a:r>
            <a:endParaRPr lang="en-US" sz="1350" dirty="0"/>
          </a:p>
        </p:txBody>
      </p:sp>
      <p:sp>
        <p:nvSpPr>
          <p:cNvPr id="86" name="Text 83"/>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Younger ages: the plural </a:t>
            </a:r>
            <a:pPr algn="l" indent="0" marL="0">
              <a:buNone/>
            </a:pPr>
            <a:r>
              <a:rPr lang="ar-SA" altLang="en-US" sz="1300" dirty="0">
                <a:solidFill>
                  <a:srgbClr val="8A6D1E"/>
                </a:solidFill>
                <a:latin typeface="Amiri" pitchFamily="2" charset="-78"/>
                <a:ea typeface="Amiri" pitchFamily="2" charset="-78"/>
                <a:cs typeface="Amiri" pitchFamily="2" charset="-78"/>
              </a:rPr>
              <a:t>سَنَوَاتٍ</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Numbers 11–20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أَحَدَ عَشَرَ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eleven (11)</a:t>
            </a:r>
            <a:endParaRPr lang="en-US" sz="1350" dirty="0"/>
          </a:p>
          <a:p>
            <a:pPr indent="0" marL="0">
              <a:buNone/>
            </a:pPr>
            <a:r>
              <a:rPr lang="en-US" sz="1100" i="1" dirty="0">
                <a:solidFill>
                  <a:srgbClr val="5A6472"/>
                </a:solidFill>
                <a:latin typeface="Calibri" pitchFamily="34" charset="0"/>
                <a:cs typeface="Amiri" pitchFamily="2" charset="-78"/>
              </a:rPr>
              <a:t>a-ḥa-da ʿa-sha-ra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اثْنَا عَشَرَ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twelve (12)</a:t>
            </a:r>
            <a:endParaRPr lang="en-US" sz="1350" dirty="0"/>
          </a:p>
          <a:p>
            <a:pPr indent="0" marL="0">
              <a:buNone/>
            </a:pPr>
            <a:r>
              <a:rPr lang="en-US" sz="1100" i="1" dirty="0">
                <a:solidFill>
                  <a:srgbClr val="5A6472"/>
                </a:solidFill>
                <a:latin typeface="Calibri" pitchFamily="34" charset="0"/>
                <a:cs typeface="Amiri" pitchFamily="2" charset="-78"/>
              </a:rPr>
              <a:t>ath-nā ʿa-sha-ra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ثَلَاثَ عَشْرَةَ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thirteen (13)</a:t>
            </a:r>
            <a:endParaRPr lang="en-US" sz="1350" dirty="0"/>
          </a:p>
          <a:p>
            <a:pPr indent="0" marL="0">
              <a:buNone/>
            </a:pPr>
            <a:r>
              <a:rPr lang="en-US" sz="1100" i="1" dirty="0">
                <a:solidFill>
                  <a:srgbClr val="5A6472"/>
                </a:solidFill>
                <a:latin typeface="Calibri" pitchFamily="34" charset="0"/>
                <a:cs typeface="Amiri" pitchFamily="2" charset="-78"/>
              </a:rPr>
              <a:t>tha-lā-tha ʿash-ra-ta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أَرْبَعَ عَشْرَةَ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fourteen (14)</a:t>
            </a:r>
            <a:endParaRPr lang="en-US" sz="1350" dirty="0"/>
          </a:p>
          <a:p>
            <a:pPr indent="0" marL="0">
              <a:buNone/>
            </a:pPr>
            <a:r>
              <a:rPr lang="en-US" sz="1100" i="1" dirty="0">
                <a:solidFill>
                  <a:srgbClr val="5A6472"/>
                </a:solidFill>
                <a:latin typeface="Calibri" pitchFamily="34" charset="0"/>
                <a:cs typeface="Amiri" pitchFamily="2" charset="-78"/>
              </a:rPr>
              <a:t>ar-ba-ʿa ʿash-ra-ta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خَمْسَ عَشْرَةَ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fifteen (15)</a:t>
            </a:r>
            <a:endParaRPr lang="en-US" sz="1350" dirty="0"/>
          </a:p>
          <a:p>
            <a:pPr indent="0" marL="0">
              <a:buNone/>
            </a:pPr>
            <a:r>
              <a:rPr lang="en-US" sz="1100" i="1" dirty="0">
                <a:solidFill>
                  <a:srgbClr val="5A6472"/>
                </a:solidFill>
                <a:latin typeface="Calibri" pitchFamily="34" charset="0"/>
                <a:cs typeface="Amiri" pitchFamily="2" charset="-78"/>
              </a:rPr>
              <a:t>kham-sa ʿash-ra-ta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عِشْرُونَ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twenty (20)</a:t>
            </a:r>
            <a:endParaRPr lang="en-US" sz="1350" dirty="0"/>
          </a:p>
          <a:p>
            <a:pPr indent="0" marL="0">
              <a:buNone/>
            </a:pPr>
            <a:r>
              <a:rPr lang="en-US" sz="1100" i="1" dirty="0">
                <a:solidFill>
                  <a:srgbClr val="5A6472"/>
                </a:solidFill>
                <a:latin typeface="Calibri" pitchFamily="34" charset="0"/>
                <a:cs typeface="Amiri" pitchFamily="2" charset="-78"/>
              </a:rPr>
              <a:t>ʿish-rū-na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old are you?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عُمْرُكَ؟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name?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اسْمُكَ؟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Adam.</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اسْمِي آدَمُ.</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old are you, Adam?</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عُمْرُكَ يَا آدَمُ؟</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twelve years old. And you, how old are you?</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عُمْرِي اثْنَتَا عَشْرَةَ سَنَةً. وَأَنْتِ، كَمْ عُمْرُكِ؟</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thirteen years old.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عُمْرِي ثَلَاثَ عَشْرَةَ سَنَةً.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brother? — He is five years old.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وَأَخُوكِ؟ — عُمْرُهُ خَمْسُ سَنَوَاتٍ.</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use your REAL ages and a real brother, sister or cousin.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وَأَنْتَ؟</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عُمْرِي … سَنَةً.</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old are you? (boy / girl)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عُمْرُكَ؟ / كَمْ عُمْرُكِ؟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وَاسْمُهُ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عُمْرُهُ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old is your brother?</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 أَخِيكَ؟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وَاسْمُهَا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عُمْرُهَا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old is your sister?</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 أُخْتِكَ؟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أَيْضًا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عُمْرُ صَدِيقِي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old is your friend?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 صَدِيقِكَ؟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عُمْرِي … وَعُمْرُهُ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 صَدِيقِي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older: you or your friend?</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أَكْبَرُ: أَنْتَ أَمْ صَدِيقُكَ؟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joining a swimming club</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نَادِي السِّبَاحَةِ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اسْمِي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name.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مَا اسْمُكَ؟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عُمْرِي … سَنَةً</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age.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أُخْتِي … عُمْرُهَا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yes + name and age.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مَعَكِ أَخٌ أَوْ أُخْتٌ؟</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شُكْرًا ← شُكْرًا … مَعَ السَّلَامَةِ</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and say goodbye.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شُكْرًا! أَهْلًا وَسَهْلًا فِي النَّادِي.</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new member · Leader = the receptionist.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ages in my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الأَعْمَارُ فِي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your name and age, then the names and ages of two people in your family or two friends.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اسْمِي … · عُمْرِي … سَنَةً.</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boy (</a:t>
            </a:r>
            <a:pPr algn="l" indent="0" marL="0">
              <a:buNone/>
            </a:pPr>
            <a:r>
              <a:rPr lang="ar-SA" altLang="en-US" sz="1500" dirty="0">
                <a:solidFill>
                  <a:srgbClr val="1F2A37"/>
                </a:solidFill>
                <a:latin typeface="Amiri" pitchFamily="2" charset="-78"/>
                <a:ea typeface="Amiri" pitchFamily="2" charset="-78"/>
                <a:cs typeface="Amiri" pitchFamily="2" charset="-78"/>
              </a:rPr>
              <a:t>عُمْرُهُ</a:t>
            </a:r>
            <a:pPr algn="l" indent="0" marL="0">
              <a:buNone/>
            </a:pPr>
            <a:r>
              <a:rPr lang="en-US" sz="1150" dirty="0">
                <a:solidFill>
                  <a:srgbClr val="1F2A37"/>
                </a:solidFill>
                <a:latin typeface="Calibri" pitchFamily="34" charset="0"/>
                <a:cs typeface="Amiri" pitchFamily="2" charset="-78"/>
              </a:rPr>
              <a:t> …) and a girl (</a:t>
            </a:r>
            <a:pPr algn="l" indent="0" marL="0">
              <a:buNone/>
            </a:pPr>
            <a:r>
              <a:rPr lang="ar-SA" altLang="en-US" sz="1500" dirty="0">
                <a:solidFill>
                  <a:srgbClr val="1F2A37"/>
                </a:solidFill>
                <a:latin typeface="Amiri" pitchFamily="2" charset="-78"/>
                <a:ea typeface="Amiri" pitchFamily="2" charset="-78"/>
                <a:cs typeface="Amiri" pitchFamily="2" charset="-78"/>
              </a:rPr>
              <a:t>عُمْرُهَا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who is older (</a:t>
            </a:r>
            <a:pPr algn="l" indent="0" marL="0">
              <a:buNone/>
            </a:pPr>
            <a:r>
              <a:rPr lang="ar-SA" altLang="en-US" sz="1500" dirty="0">
                <a:solidFill>
                  <a:srgbClr val="1F2A37"/>
                </a:solidFill>
                <a:latin typeface="Amiri" pitchFamily="2" charset="-78"/>
                <a:ea typeface="Amiri" pitchFamily="2" charset="-78"/>
                <a:cs typeface="Amiri" pitchFamily="2" charset="-78"/>
              </a:rPr>
              <a:t>أَكْبَرُ</a:t>
            </a:r>
            <a:pPr algn="l" indent="0" marL="0">
              <a:buNone/>
            </a:pPr>
            <a:r>
              <a:rPr lang="en-US" sz="1150" dirty="0">
                <a:solidFill>
                  <a:srgbClr val="1F2A37"/>
                </a:solidFill>
                <a:latin typeface="Calibri" pitchFamily="34" charset="0"/>
                <a:cs typeface="Amiri" pitchFamily="2" charset="-78"/>
              </a:rPr>
              <a:t>) or younger (</a:t>
            </a:r>
            <a:pPr algn="l" indent="0" marL="0">
              <a:buNone/>
            </a:pPr>
            <a:r>
              <a:rPr lang="ar-SA" altLang="en-US" sz="1500" dirty="0">
                <a:solidFill>
                  <a:srgbClr val="1F2A37"/>
                </a:solidFill>
                <a:latin typeface="Amiri" pitchFamily="2" charset="-78"/>
                <a:ea typeface="Amiri" pitchFamily="2" charset="-78"/>
                <a:cs typeface="Amiri" pitchFamily="2" charset="-78"/>
              </a:rPr>
              <a:t>أَصْغَرُ</a:t>
            </a:r>
            <a:pPr algn="l" indent="0" marL="0">
              <a:buNone/>
            </a:pPr>
            <a:r>
              <a:rPr lang="en-US" sz="1150" dirty="0">
                <a:solidFill>
                  <a:srgbClr val="1F2A37"/>
                </a:solidFill>
                <a:latin typeface="Calibri" pitchFamily="34" charset="0"/>
                <a:cs typeface="Amiri" pitchFamily="2" charset="-78"/>
              </a:rPr>
              <a:t>) and a number under 10 (… </a:t>
            </a:r>
            <a:pPr algn="l" indent="0" marL="0">
              <a:buNone/>
            </a:pPr>
            <a:r>
              <a:rPr lang="ar-SA" altLang="en-US" sz="1500" dirty="0">
                <a:solidFill>
                  <a:srgbClr val="1F2A37"/>
                </a:solidFill>
                <a:latin typeface="Amiri" pitchFamily="2" charset="-78"/>
                <a:ea typeface="Amiri" pitchFamily="2" charset="-78"/>
                <a:cs typeface="Amiri" pitchFamily="2" charset="-78"/>
              </a:rPr>
              <a:t>سَنَوَاتٍ</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عُمْرِي … سَنَةً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years old</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عُمْرُهُ · عُمْرُهَا</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is · she is … old</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أَخِي · أُخْتِي</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brother · my sister</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 · أَيْضًا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 also</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twelve years old.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اثْنَتَا عَشْرَةَ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اثْنَا عَشَرَ يَوْمًا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سَنَةً.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سَنَوَاتٍ.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 old are you, Layla?</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عُمْرُكِ</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عُمْرُكَ</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يَا لَيْلَى؟</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لَيْلَى.</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brother is five years old.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عُمْرُهُ</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عُمْرُهَا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خَمْسُ سَنَوَاتٍ.</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خَمْسُ سَنَةً.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twelve years old.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 </a:t>
            </a:r>
            <a:pPr algn="l" indent="0" marL="0">
              <a:buNone/>
            </a:pPr>
            <a:r>
              <a:rPr lang="ar-SA" altLang="en-US" sz="1350" dirty="0">
                <a:solidFill>
                  <a:srgbClr val="5A6472"/>
                </a:solidFill>
                <a:latin typeface="Amiri" pitchFamily="2" charset="-78"/>
                <a:ea typeface="Amiri" pitchFamily="2" charset="-78"/>
                <a:cs typeface="Amiri" pitchFamily="2" charset="-78"/>
              </a:rPr>
              <a:t>عُمْرِي</a:t>
            </a:r>
            <a:pPr algn="l" indent="0" marL="0">
              <a:buNone/>
            </a:pPr>
            <a:r>
              <a:rPr lang="en-US" sz="1050" i="1" dirty="0">
                <a:solidFill>
                  <a:srgbClr val="5A6472"/>
                </a:solidFill>
                <a:latin typeface="Calibri" pitchFamily="34" charset="0"/>
                <a:cs typeface="Amiri" pitchFamily="2" charset="-78"/>
              </a:rPr>
              <a:t>; 11–20 + </a:t>
            </a:r>
            <a:pPr algn="l" indent="0" marL="0">
              <a:buNone/>
            </a:pPr>
            <a:r>
              <a:rPr lang="ar-SA" altLang="en-US" sz="1350" dirty="0">
                <a:solidFill>
                  <a:srgbClr val="5A6472"/>
                </a:solidFill>
                <a:latin typeface="Amiri" pitchFamily="2" charset="-78"/>
                <a:ea typeface="Amiri" pitchFamily="2" charset="-78"/>
                <a:cs typeface="Amiri" pitchFamily="2" charset="-78"/>
              </a:rPr>
              <a:t>سَنَةً</a:t>
            </a:r>
            <a:pPr algn="l" indent="0" marL="0">
              <a:buNone/>
            </a:pPr>
            <a:r>
              <a:rPr lang="en-US" sz="1050" i="1" dirty="0">
                <a:solidFill>
                  <a:srgbClr val="5A6472"/>
                </a:solidFill>
                <a:latin typeface="Calibri" pitchFamily="34" charset="0"/>
                <a:cs typeface="Amiri" pitchFamily="2" charset="-78"/>
              </a:rPr>
              <a:t> (singular).</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عُمْرِي اثْنَتَا عَشْرَةَ سَنَةً.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 old are you, Layla?</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old = </a:t>
            </a:r>
            <a:pPr algn="l" indent="0" marL="0">
              <a:buNone/>
            </a:pPr>
            <a:r>
              <a:rPr lang="ar-SA" altLang="en-US" sz="1350" dirty="0">
                <a:solidFill>
                  <a:srgbClr val="5A6472"/>
                </a:solidFill>
                <a:latin typeface="Amiri" pitchFamily="2" charset="-78"/>
                <a:ea typeface="Amiri" pitchFamily="2" charset="-78"/>
                <a:cs typeface="Amiri" pitchFamily="2" charset="-78"/>
              </a:rPr>
              <a:t>كَمْ عُمْرُ</a:t>
            </a:r>
            <a:pPr algn="l" indent="0" marL="0">
              <a:buNone/>
            </a:pPr>
            <a:r>
              <a:rPr lang="en-US" sz="1050" i="1" dirty="0">
                <a:solidFill>
                  <a:srgbClr val="5A6472"/>
                </a:solidFill>
                <a:latin typeface="Calibri" pitchFamily="34" charset="0"/>
                <a:cs typeface="Amiri" pitchFamily="2" charset="-78"/>
              </a:rPr>
              <a:t>…; to a girl -ki.</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كَمْ عُمْرُكِ يَا لَيْلَى؟</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brother is five years old.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brother → </a:t>
            </a:r>
            <a:pPr algn="l" indent="0" marL="0">
              <a:buNone/>
            </a:pPr>
            <a:r>
              <a:rPr lang="ar-SA" altLang="en-US" sz="1350" dirty="0">
                <a:solidFill>
                  <a:srgbClr val="5A6472"/>
                </a:solidFill>
                <a:latin typeface="Amiri" pitchFamily="2" charset="-78"/>
                <a:ea typeface="Amiri" pitchFamily="2" charset="-78"/>
                <a:cs typeface="Amiri" pitchFamily="2" charset="-78"/>
              </a:rPr>
              <a:t>عُمْرُهُ</a:t>
            </a:r>
            <a:pPr algn="l" indent="0" marL="0">
              <a:buNone/>
            </a:pPr>
            <a:r>
              <a:rPr lang="en-US" sz="1050" i="1" dirty="0">
                <a:solidFill>
                  <a:srgbClr val="5A6472"/>
                </a:solidFill>
                <a:latin typeface="Calibri" pitchFamily="34" charset="0"/>
                <a:cs typeface="Amiri" pitchFamily="2" charset="-78"/>
              </a:rPr>
              <a:t>; 3–10 + </a:t>
            </a:r>
            <a:pPr algn="l" indent="0" marL="0">
              <a:buNone/>
            </a:pPr>
            <a:r>
              <a:rPr lang="ar-SA" altLang="en-US" sz="1350" dirty="0">
                <a:solidFill>
                  <a:srgbClr val="5A6472"/>
                </a:solidFill>
                <a:latin typeface="Amiri" pitchFamily="2" charset="-78"/>
                <a:ea typeface="Amiri" pitchFamily="2" charset="-78"/>
                <a:cs typeface="Amiri" pitchFamily="2" charset="-78"/>
              </a:rPr>
              <a:t>سَنَوَاتٍ</a:t>
            </a:r>
            <a:pPr algn="l" indent="0" marL="0">
              <a:buNone/>
            </a:pPr>
            <a:r>
              <a:rPr lang="en-US" sz="1050" i="1" dirty="0">
                <a:solidFill>
                  <a:srgbClr val="5A6472"/>
                </a:solidFill>
                <a:latin typeface="Calibri" pitchFamily="34" charset="0"/>
                <a:cs typeface="Amiri" pitchFamily="2" charset="-78"/>
              </a:rPr>
              <a:t> (plural).</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أَخِي عُمْرُهُ خَمْسُ سَنَوَاتٍ.</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عُمْرِي خَمْسَ عَشْرَةَ سَنَوَاتٍ.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11–20 take which form?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عُمْرُهُ عَشْرُ سَنَوَاتٍ.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age?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عُمْرُكَ يَا لَيْلَى؟</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Layla is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عُمْرِي خَمْسَ عَشْرَةَ سَنَوَاتٍ.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عُمْرِي خَمْسَ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11–20 + singular </a:t>
            </a:r>
            <a:pPr algn="l" indent="0" marL="0">
              <a:buNone/>
            </a:pPr>
            <a:r>
              <a:rPr lang="ar-SA" altLang="en-US" sz="1500" b="1" dirty="0">
                <a:solidFill>
                  <a:srgbClr val="1B3B6F"/>
                </a:solidFill>
                <a:latin typeface="Amiri" pitchFamily="2" charset="-78"/>
                <a:ea typeface="Amiri" pitchFamily="2" charset="-78"/>
                <a:cs typeface="Amiri" pitchFamily="2" charset="-78"/>
              </a:rPr>
              <a:t>سَنَةً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عُمْرُهُ عَشْرُ سَنَوَاتٍ.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عُمْرُهَا عَشْرُ سَنَوَاتٍ.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Her age → </a:t>
            </a:r>
            <a:pPr algn="l" indent="0" marL="0">
              <a:buNone/>
            </a:pPr>
            <a:r>
              <a:rPr lang="ar-SA" altLang="en-US" sz="1500" b="1" dirty="0">
                <a:solidFill>
                  <a:srgbClr val="1B3B6F"/>
                </a:solidFill>
                <a:latin typeface="Amiri" pitchFamily="2" charset="-78"/>
                <a:ea typeface="Amiri" pitchFamily="2" charset="-78"/>
                <a:cs typeface="Amiri" pitchFamily="2" charset="-78"/>
              </a:rPr>
              <a:t>عُمْرُهَا</a:t>
            </a:r>
            <a:pPr algn="l" indent="0" marL="0">
              <a:buNone/>
            </a:pPr>
            <a:r>
              <a:rPr lang="en-US" sz="1150" b="1" dirty="0">
                <a:solidFill>
                  <a:srgbClr val="1B3B6F"/>
                </a:solidFill>
                <a:latin typeface="Calibri" pitchFamily="34" charset="0"/>
                <a:cs typeface="Amiri" pitchFamily="2" charset="-78"/>
              </a:rPr>
              <a:t> (-hā).</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عُمْرُكَ يَا لَيْلَى؟</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كَمْ عُمْرُكِ يَا لَيْلَى؟</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a:t>
            </a:r>
            <a:pPr algn="l" indent="0" marL="0">
              <a:buNone/>
            </a:pPr>
            <a:r>
              <a:rPr lang="ar-SA" altLang="en-US" sz="1500" b="1" dirty="0">
                <a:solidFill>
                  <a:srgbClr val="1B3B6F"/>
                </a:solidFill>
                <a:latin typeface="Amiri" pitchFamily="2" charset="-78"/>
                <a:ea typeface="Amiri" pitchFamily="2" charset="-78"/>
                <a:cs typeface="Amiri" pitchFamily="2" charset="-78"/>
              </a:rPr>
              <a:t>عُمْرُكِ</a:t>
            </a:r>
            <a:pPr algn="l" indent="0" marL="0">
              <a:buNone/>
            </a:pPr>
            <a:r>
              <a:rPr lang="en-US" sz="1150" b="1" dirty="0">
                <a:solidFill>
                  <a:srgbClr val="1B3B6F"/>
                </a:solidFill>
                <a:latin typeface="Calibri" pitchFamily="34" charset="0"/>
                <a:cs typeface="Amiri" pitchFamily="2" charset="-78"/>
              </a:rPr>
              <a:t> (-ki).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______ ، عُمْرُهُ ______ سَنَةً أَيْضًا.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 he is … too.</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ابْنُ عَمِّي ______ صَغِيرٌ، عُمْرُهُ ______ سَنَوَاتٍ.</a:t>
            </a:r>
            <a:endParaRPr lang="ar-SA" sz="17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cousin … is young; he is … years old.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وَأَنْتَ، كَمْ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 how old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اسْمِي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My name is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عُمْرِي ______ سَنَةً.</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years old.</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أَخِي / أُخْتِي اسْمُهُ / اسْمُهَا ______ ، وَعُمْرُهُ / عُمْرُهَا ______ .</a:t>
            </a:r>
            <a:endParaRPr lang="ar-SA" sz="12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 sister is called … and is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السَّلَامَةِ!</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Goodbye!</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عُمْرِي  ·  عُمْرُهُ · عُمْرُهَا  ·  سَنَةً (11–20)  ·  سَنَوَاتٍ (3–10)  ·  أَخِي · أُخْتِي  ·  صَدِيقِي · صَدِيقَتِي  ·  كَمْ عُمْرُكَ؟  ·  أَيْضًا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profile: names and ages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بِطَاقَتِي: الأَسْمَاءُ وَالأَعْمَارُ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profile (about 30–45 words) for a pen-friend website. Include: • a greeting and your name • your age • a brother, sister or cousin: name and age • a friend: name and age • a closing.</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 وَعُمْرِي … سَنَةً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 and I am … years old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أَخٌ اسْمُهُ … ، عُمْرُهُ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a brother called …; he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أُخْتٌ اسْمُهَا … ، عُمْرُهَا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a sister called …; she is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 عُمْرُهُ … أَيْضًا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friend … is … too</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t>
            </a:r>
            <a:pPr algn="l" indent="0" marL="0">
              <a:buNone/>
            </a:pPr>
            <a:r>
              <a:rPr lang="ar-SA" altLang="en-US" sz="1450" dirty="0">
                <a:solidFill>
                  <a:srgbClr val="5A6472"/>
                </a:solidFill>
                <a:latin typeface="Amiri" pitchFamily="2" charset="-78"/>
                <a:ea typeface="Amiri" pitchFamily="2" charset="-78"/>
                <a:cs typeface="Amiri" pitchFamily="2" charset="-78"/>
              </a:rPr>
              <a:t>عُمْرِي … سَنَةً</a:t>
            </a:r>
            <a:pPr algn="l" indent="0" marL="0">
              <a:buNone/>
            </a:pPr>
            <a:r>
              <a:rPr lang="en-US" sz="1100" dirty="0">
                <a:solidFill>
                  <a:srgbClr val="5A6472"/>
                </a:solidFill>
                <a:latin typeface="Calibri" pitchFamily="34" charset="0"/>
                <a:cs typeface="Amiri" pitchFamily="2" charset="-78"/>
              </a:rPr>
              <a:t> with a number 11–20?</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عُمْرُهُ</a:t>
            </a:r>
            <a:pPr algn="l" indent="0" marL="0">
              <a:buNone/>
            </a:pPr>
            <a:r>
              <a:rPr lang="en-US" sz="1100" dirty="0">
                <a:solidFill>
                  <a:srgbClr val="5A6472"/>
                </a:solidFill>
                <a:latin typeface="Calibri" pitchFamily="34" charset="0"/>
                <a:cs typeface="Amiri" pitchFamily="2" charset="-78"/>
              </a:rPr>
              <a:t> for a boy and </a:t>
            </a:r>
            <a:pPr algn="l" indent="0" marL="0">
              <a:buNone/>
            </a:pPr>
            <a:r>
              <a:rPr lang="ar-SA" altLang="en-US" sz="1450" dirty="0">
                <a:solidFill>
                  <a:srgbClr val="5A6472"/>
                </a:solidFill>
                <a:latin typeface="Amiri" pitchFamily="2" charset="-78"/>
                <a:ea typeface="Amiri" pitchFamily="2" charset="-78"/>
                <a:cs typeface="Amiri" pitchFamily="2" charset="-78"/>
              </a:rPr>
              <a:t>عُمْرُهَا</a:t>
            </a:r>
            <a:pPr algn="l" indent="0" marL="0">
              <a:buNone/>
            </a:pPr>
            <a:r>
              <a:rPr lang="en-US" sz="1100" dirty="0">
                <a:solidFill>
                  <a:srgbClr val="5A6472"/>
                </a:solidFill>
                <a:latin typeface="Calibri" pitchFamily="34" charset="0"/>
                <a:cs typeface="Amiri" pitchFamily="2" charset="-78"/>
              </a:rPr>
              <a:t> for a girl?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مَرْيَمُ.</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name is Maryam.</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مَا اسْمُكَ؟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عُمْرِي أَرْبَعَ عَشْرَةَ سَنَةً.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fourteen years old.</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عُمْرُكِ؟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أُخْتِي هُدَى، عُمْرُهَا إِحْدَى عَشْرَةَ سَنَةً.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my sister Huda; she is eleven years old.</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مَعَكِ أَخٌ أَوْ أُخْتٌ؟</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 مَعَ السَّلَامَةِ.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 you very much! Goodbye.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شُكْرًا! أَهْلًا وَسَهْلًا فِي النَّادِي.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اسْمِي عُمَرُ، وَعُمْرِي ثَلَاثَ عَشْرَةَ سَنَةً. عِنْدِي أُخْتٌ اسْمُهَا سَارَةُ، وَعُمْرُهَا سَبْعَ عَشْرَةَ سَنَةً. وَأَخِي الصَّغِيرُ اسْمُهُ آدَمُ، وَعُمْرُهُ سِتُّ سَنَوَاتٍ. صَدِيقِي يُوسُفُ عُمْرُهُ ثَلَاثَ عَشْرَةَ سَنَةً أَيْضًا. وَأَنْتَ، كَمْ عُمْرُكَ؟ مَعَ السَّلَامَةِ!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Omar and I am thirteen. I have a sister called Sara; she is seventeen. And my little brother is called Adam; he is six. My friend Yusuf is thirteen too. And you, how old are you?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عُمْرِي ثَلَاثَ عَشْرَةَ سَنَةً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عُمْرُهَا سَبْعَ عَشْرَةَ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عُمْرُهُ سِتُّ سَنَوَاتٍ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كَمْ عُمْرُكَ؟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F2-L04 · Nationality and Language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الجِنْسِيَّةُ وَاللُّغَةُ — مَنْ أَنْتَ؟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F2-L03 · Practice Room — How Old Are You?</dc:title>
  <dc:subject>PptxGenJS Presentation</dc:subject>
  <dc:creator>Al Madina Online School · Arabic Department</dc:creator>
  <cp:lastModifiedBy>Al Madina Online School · Arabic Department</cp:lastModifiedBy>
  <cp:revision>1</cp:revision>
  <dcterms:created xsi:type="dcterms:W3CDTF">2026-10-25T15:36:42Z</dcterms:created>
  <dcterms:modified xsi:type="dcterms:W3CDTF">2026-10-25T15:36:42Z</dcterms:modified>
</cp:coreProperties>
</file>