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Lst>
  <p:notesMasterIdLst>
    <p:notesMasterId r:id="rId38"/>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notesMaster" Target="notesMasters/notesMaster1.xml"/><Relationship Id="rId39" Type="http://schemas.openxmlformats.org/officeDocument/2006/relationships/presProps" Target="presProps.xml"/><Relationship Id="rId40" Type="http://schemas.openxmlformats.org/officeDocument/2006/relationships/viewProps" Target="viewProps.xml"/><Relationship Id="rId41" Type="http://schemas.openxmlformats.org/officeDocument/2006/relationships/theme" Target="theme/theme1.xml"/><Relationship Id="rId42"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LESSON AT A GLANCE — planned for 56 minutes, leaving about 4 minutes for Teams delays.
0–1 Welcome · 1–2 Lesson map · 2–9 Do Now + answers · 9–10 Objectives · 10–17 Key words · 17–23 Grammar · 23–25 Quick check · 25–28 I Do · 28–37 We Do · 37–49 You Do (speaking 3 + writing 9, with live feedback) · 49–54 Feedback (model, self-check, exit ticket) · 54–56 Preparation for next lesson.
FLEX slides are optional. Use them if the class is moving quickly; otherwise the same activities are on the website for homework.
Content source: Miftah Arabic website, Pathways › Foundation › F2 Greetings &amp; Introductions › Lesson 5 (F2-L05). Website sections used: the four-question readiness check, eight people-noun pairs, the ة clue and exceptions, recycled object nouns, task language, the agreement pattern (noun + adjective, هَذَا / هَذِهِ), ten adjective pairs, the agreement mini-check (10), Gender Detective (14 rounds), listening (4 descriptions, 8 questions), the class-profile reading (8 questions), the speaking prompt and checklist, the three-descriptions writing task and the twelve-question checkpoint. Picture match: website visual game “Gender of Nouns and Masculine/Feminine Agreement”.
All vocabulary, grammar rules, quizzes, the listening script, the reading text, speaking prompts and model answers come from those pages, so students meet the same language in class and at home. Anything teacher-made (Core scaffolds, riddles, translations) is labelled in the notes.
SUPPORT FOR THIS CLASS (Arabic not yet secure; mixed levels):
• This is the grammar heart of F2 — the same “make it match” decision returns in family, home, school, colours and clothing (website “Why this matters”).
• Core: ONE rule — feminine noun → add ة to the adjective. Work with the four ة-pairs (طَالِبٌ، مُعَلِّمٌ، صَدِيقٌ، زَمِيلٌ) and three adjectives. Develop: all pairs + هَذَا / هَذِهِ. Stretch: exceptions (أُخْتٌ، بِنْتٌ، أُمٌّ; شَمْسٌ، عَيْنٌ) and two adjectives.
• Plural forms are shown for reference (m / f / pl on every noun) but are not practised today.
• Urdu bridge: طالب، معلم، جدید، قدیم، طویل — five of today’s words are used in Urdu.
• Colour code (same as all Miftah lessons): WHO = blue, MEANING = purple, ENDING = pink, PATTERN = orange, KEY WORD = teal.
• SEND “automatic doors”: lesson map, chunked tasks, read-along scripts with English, cover-the-text reading and “pass” for reading aloud are built in for everyone, so no one is singled out.
ROUTES: Core (green) = students whose Arabic is not yet secure; Develop (amber) = on track; Stretch (red) = confident. Same objective for everyone — the task changes, not the goal (EAL Guide: adapt the task, not the objective).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WELCOME (1 min) — while students join.
• Greet each student by name as they arrive: السَّلَامُ عَلَيْكُمْ. Take the register (Pastoral Tracker: attendance 0/1).
• 2-MINUTE CHECK-IN (SEND training): a private chat to any student who seemed unsettled last lesson — “Are you okay today? 👍 / 👎”.
• Point to the four expectations — brief and positive: this is our class agreement.
• Talk code: “I will always give you thinking and practice time before I ask anyone.” Reading aloud is by invitation — a student may say “pass” and you return to them later.
• Follow-up on preparation: who learnt the five words? Quick private reminder to anyone who did not (Flipped Learning: follow up every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LESSON MAP (30 seconds) — SEND training: “absolute predictability”. Show the whole journey so students know what is coming and when they will be asked to speak or write. Point to the green box: using the Core supports is normal and expected (“automatic doors”).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DO NOW (5 min independent + 2 min going through answers).
Questions 1–2 test two of the five words prepared at home. Questions 3–5 are the website “readiness check” (the -ki question, the feminine nationality, the ة clue).
• Students work silently. Answers go in the chat as five letters only when the timer ends.
• Core students may answer in English and use their book.
• While they work: register, note late joiners, note anyone not attempting (Self-Management).
• Go THROUGH the answers on the next slide — ask one student (after thinking time) to explain WHY for each.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 THROUGH THE ANSWERS (2 min). Reveal and ask “why?” for each (● 10s think → named student, warned in advance).
Key idea for today (bottom-right card): Arabic keeps the noun and adjective together: masculine with masculine, feminine with feminine.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OBJECTIVES (1 min).
Left: the lesson objectives exactly as they appear on the website.
Right: the same objectives broken into three routes. Everyone starts with Core; most students reach Develop; confident students aim for Stretch. Students decide privately which route they are aiming for (● Think 10s) — revisit in Feedback.
Website “By the end, I can …” (left) and the website Core / Develop / Stretch goals (right).
EAL: read the Core statements aloud, pointing to the Arabic as you say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KEY WORDS — HOW TO TEACH EACH GROUP (EAL pre-teaching routine, 7 min)
1. HEAR IT: say the word twice, clearly, with a gesture where possible.
2. SAY IT: choral repetition — “I say, you say” — then two volunteers.
3. SEE IT: point out the part of the word that carries today’s grammar (colour code).
4. USE IT: quick check — “Type the NUMBER of the word that means …” in the chat.
Transliteration is printed for Core students. Develop/Stretch students should cover it and read the Arabic.
FLEX groups are for fast classes or homework — every word is on the website vocabulary tab.
URDU BRIDGE: طالب علم (student), معلم (teacher), جدید (modern), قدیم (ancient), طویل (long) — Urdu borrowed these from Arabic but did NOT borrow the ة agreement, so Urdu speakers need to add it consciously.
Website task language to recognise today: مُذَكَّرٌ أَمْ مُؤَنَّثٌ؟ (masculine or feminine?) · طَابِقْ (match) · اِخْتَرِ الصَّوَابَ (choose the correct answer) · لَاحِظِ النِّهَايَةَ (notice the ending) · مُمْتَازٌ! (excellent!).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PEOPLE (website active vocabulary, all eight pairs). Read each pair aloud; ask: “Does the feminine add ة?” → YES for rows 1–5 (pink), NO for rows 6–8: a different word altogether.
Plural column = reference only (the user-friendly m / f / pl record for students’ vocabulary books); not practised today.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ة CLUE (website section 2). “Most nouns ending in ة are feminine. It is a powerful clue, but some feminine words do not carry it.”
Website: USE actively now أُمٌّ، بِنْتٌ، أُخْتٌ; RECOGNISE for now أَرْضٌ، شَمْسٌ، يَدٌ، عَيْنٌ (F1 dictation words يَدٌ، عَيْنٌ return!).
Recycled objects (website): مَدْرَسَةٌ f · كِتَابٌ m · قَلَمٌ m · حَقِيبَةٌ f · بَيْتٌ m · سَيَّارَةٌ f · مَدِينَةٌ f · أُسْتَاذَةٌ f — ask the class to sort them in the chat (m / f).</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ADJECTIVES 1–5 (website). Website note: keep قَدِيمٌ / قَدِيمَةٌ mainly for THINGS; use كَبِيرٌ / كَبِيرَةٌ for big or older people. Gesture each adjective (big arms, small fingers…).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ADJECTIVES 6–10 (website). ذَكِيٌّ → ذَكِيَّةٌ follows the same shadda pattern as the nationality ending (F2-L04: مِصْرِيٌّ → مِصْرِيَّةٌ).</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GRAMMAR (website section 3). Make two decisions: first choose the noun’s gender; then give the adjective the same gender. Website: Arabic does not normally place the adjective before the noun; هَذَا goes with a masculine singular noun and هَذِهِ with a feminine singular noun.
Row 3 is the trap: أُخْتٌ has no ة, but it is feminine → هَذِهِ … قَصِيرَةٌ.
Website “Make the pair match”: مُذَكَّرٌ مَعَ مُذَكَّرٍ · مُؤَنَّثٌ مَعَ مُؤَنَّثٍ.</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CHECK FOR UNDERSTANDING (2 min) — website “Agreement mini-check” questions 1–4.
● Think 20s silently → everyone types four letters in chat together on “3-2-1-go”. “Show me” alternative: A/B/C fingers to camera (EAL: show, not tell).
Read the chat: if more than a quarter of the class misses a question, re-teach that rule with its grammar slide before moving on (Live feedback: correct misconceptions immediately).
Use the results to confirm routes for the You Do task.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 through each answer. Ask “Who can build on that?” (+) — a student explains why one wrong option is wrong.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DO (3 min) — the website “achievable model”, built with a think-aloud. After writing, students circle every ة in the second sentence (4 of them, including زَمِيلَتِي where ة becomes ت).</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DO — the website’s interactive lesson game (“Visual game — Gender of Nouns and Masculine/Feminine Agreement”) as a whole-class picture match (2 min). The sentences are the website game sentences; the pictures are icons standing in for the website images.
● 20s: look at each picture and find ONE key word you know in each sentence → type “1_ 2_ 3_” in the chat.
This is the most accessible task in the lesson — use it to build confidence before independent work. Core students read the sentence aloud after the answer is revealed (by invitation).
Website visual game (3 of 6). New word: مُجْتَهِدٌ / مُجْتَهِدَةٌ = hard-working — students can still solve it from هُوَ / هِيَ and the ة. سَيَّارَةٌ is feminine → هَذِهِ … جَدِيدَةٌ.</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DO — the website’s interactive lesson game (“Visual game — Gender of Nouns and Masculine/Feminine Agreement”) as a whole-class picture match (2 min). The sentences are the website game sentences; the pictures are icons standing in for the website images.
● 20s: look at each picture and find ONE key word you know in each sentence → type “1_ 2_ 3_” in the chat.
This is the most accessible task in the lesson — use it to build confidence before independent work. Core students read the sentence aloud after the answer is revealed (by invitation).
Website visual game (3 of 6). New word: مُجْتَهِدٌ / مُجْتَهِدَةٌ = hard-working — students can still solve it from هُوَ / هِيَ and the ة. سَيَّارَةٌ is feminine → هَذِهِ … جَدِيدَةٌ.</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DO — website “Gender Detective” (5 of 14 rounds: sun, eye, mother, a female classmate, sister — the exceptions and the full sentence). The other 9 rounds are homework. Website: “Inspect each word, decide its gender and then choose the matching description.”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Reveal; ask “What was the clue?” for each (ة / a naturally feminine person / learnt exception).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DO — website common mistakes (2 min).
● 20s think: find the mistake → ↔ 30s: agree with a partner (chat DM or whisper) → ◎ share.
Core prompts are printed on each card. Stretch: explain each fix with a grammar word.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DO — website common mistakes (2 min).
● 20s think: find the mistake → ↔ 30s: agree with a partner (chat DM or whisper) → ◎ share.
Core prompts are printed on each card. Stretch: explain each fix with a grammar word.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LISTENING (4 min) — website script. Read it aloud yourself, twice, at natural speed with pauses.
Before listening: students read the questions (● 30s). Core: questions 1, 3 and 5. Develop / Stretch: all 5.
Listen 1: just listen. Listen 2: note answers. Then chat the letters.
Support: after the second listening, show the read-along slide (Arabic + English, line by line) for Core students.
SCRIPT (read aloud):
هَذَا زَمِيلٌ جَدِيدٌ. اِسْمُهُ يُوسُفُ. هُوَ لَطِيفٌ وَطَوِيلٌ. / هَذِهِ زَمِيلَةٌ جَدِيدَةٌ. اِسْمُهَا زَيْنَبُ. هِيَ ذَكِيَّةٌ وَسَعِيدَةٌ. / هَذَا طِفْلٌ صَغِيرٌ، وَهَذِهِ طِفْلَةٌ صَغِيرَةٌ. / هَذَا أَخٌ طَوِيلٌ، وَهَذِهِ أُخْتٌ قَصِيرَةٌ.</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READ-ALONG (Core support) — show AFTER the second listening. The Arabic is the website script, line by line; the English is a teacher translation.
Read it once more while Core students follow. Annotate the words that gave each answer.
Stretch: cover the English column and translate one line aloud.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 through answers. For each, ask “Which Arabic words gave you the answer?” — the evidence line is under each card.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READING (website section 6). Website: “Track every masculine and feminine clue rather than translating one word at a time.” Develop: underline every ة in line 2 (there are 5). Stretch: find the feminine noun WITHOUT ة (أُخْتٌ) and the word where ة became ت before an ending (مَدْرَسَتُهُمْ).</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Website reading questions 3, 4, 6, 7 and 8 (questions 1, 2 and 5 are homework).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student reads aloud the evidence phrase for each answer (by invitation).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SPEAKING REHEARSAL (3 min) — website speaking prompts. No breakout rooms (saves setup time).
Sequence: ● 10s think → ↔ 45s everyone rehearses their answer aloud with mic muted → ◎ pairs on open mic: name two students (warned in advance); A asks, B answers; the rest of the class types one follow-up question in chat (+ / ?) → ↺ one student summarises the answer they heard.
Routes: Core uses the Core prompt and stem; Develop the Develop prompts; Stretch the last prompt.
Model (website) at the bottom — read it with a confident student first. The website model continues:
WEBSITE SPEAKING CHECKLIST (the listener ticks 1–5 in chat): 1 chose هَذَا / هَذِهِ · 2 an accurate person noun · 3 adjective second · 4 adjective matched · 5 added a name (اِسْمُهُ / اِسْمُهَا).
Website “random speaking prompt”: show a character card (يُوسُفُ · male student · new) → هَذَا طَالِبٌ جَدِيدٌ. اِسْمُهُ يُوسُفُ. Then hide the model.
Routes (website): Core — four different people nouns with one agreeing adjective each · Develop — add demonstratives, names and four different adjectives · Stretch — two adjectives each and one irregular feminine noun.
Praise with the website task word مُمْتَازٌ! (to a boy) / مُمْتَازَةٌ! (to a girl) — agreement again.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YOU DO (9 min writing). Steer routes using the Do Now and quick-check results.
Website differentiation tasks: Core — Four noun + adjective phrases with four different people nouns. · Develop — Three connected descriptions with at least five different adjectives. · Stretch — An irregular feminine noun, two adjectives in one sentence and one described object.
Website writing task (Stretch): Website writing task: write three accurate descriptions of people, using at least five different adjectives from the lesson bank. Stretch: an irregular feminine noun, two adjectives in one sentence and one described object.
LIVE FEEDBACK: students post their first two sentences in the chat (or OneNote) after 3 minutes. Scan and correct misconceptions immediately — use private chat for individual corrections (Behaviour: quiet, individual).
Work with the less able: stay with Core students for the first 3 minutes; Develop/Stretch continue independently. SEND: chunk the Core task — “two sentences, then show me”.
Extension (fast finishers): the reading on the Extension slides. Pastoral: Self-Management point for students who work without prompting.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Keep on screen during writing — Core students complete the frames on the right; Develop students use the frames on the left.
Frames and word bank use only this lesson’s website language (EAL: sentence frame + word bank scaffold; same objective, adapted task).
EAL Band A–B students: complete three frames, then copy and adapt one model sentence.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FEEDBACK (1 min) — website model answer, with an English translation for Core students.
Students find in the model (● 20s → ◎) the four items on the chips. Website “achievable model”. Evidence for the last chip: بِنْتٌ (a girl) — feminine without ة.
Then each student chooses ONE thing from the model to add to their own writing (specific, actionable feedback on the success criteria).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SELF-CHECK (1 min) against the website success criteria. Students tick privately, then type one WWW and one EBI in the chat (English is fine).
Teacher: one whole-class feedback point from live feedback. Pastoral: Curiosity &amp; Growth for honest reflection and a harder target next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EXIT TICKET (2 min) — 3 of the website’s 12 end-of-lesson questions (“Final self-marking check”). The rest are on the website for homework.
Anyone scoring low → Core route next lesson and a check-in during the Do Now. Record Pastoral Tracker points now.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Quick reveal. Students self-mark and type their score out of 3 in the chat.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PREPARATION — flipped learning (2 min to explain).
Next lesson (F2-L06 · Polite Classroom Arabic) will spend class time USING this language, so students prepare it tonight — short, simple, easy to access (school guidance: “Simple, Short, Interesting, Relevant, Easy to access”). The five phrases are from the website F2-L06 polite-phrase bank. Notice that three of them change for a boy or a girl — exactly today’s rule!
Follow-up: the next Do Now tests two of these words (Flipped Learning: keep it short AND follow up).
Homework by route (website tasks). No internet? Students copy the five words from this slide into their book now.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 thank students, dismiss calmly. After the lesson: complete the Pastoral Tracker (attendance, character, self-management, curiosity; demerits only for the five listed concerns). Note any student below 2/3 on the exit ticket for a Do Now check-in next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slideLayout" Target="../slideLayouts/slideLayout1.xml"/><Relationship Id="rId6"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slideLayout" Target="../slideLayouts/slideLayout1.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image" Target="../media/image-16-2.png"/><Relationship Id="rId3" Type="http://schemas.openxmlformats.org/officeDocument/2006/relationships/image" Target="../media/image-16-3.png"/><Relationship Id="rId4" Type="http://schemas.openxmlformats.org/officeDocument/2006/relationships/image" Target="../media/image-16-4.png"/><Relationship Id="rId5" Type="http://schemas.openxmlformats.org/officeDocument/2006/relationships/image" Target="../media/image-16-5.png"/><Relationship Id="rId6" Type="http://schemas.openxmlformats.org/officeDocument/2006/relationships/image" Target="../media/image-16-6.png"/><Relationship Id="rId7" Type="http://schemas.openxmlformats.org/officeDocument/2006/relationships/slideLayout" Target="../slideLayouts/slideLayout1.xml"/><Relationship Id="rId8"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image" Target="../media/image-17-2.png"/><Relationship Id="rId3" Type="http://schemas.openxmlformats.org/officeDocument/2006/relationships/image" Target="../media/image-17-3.png"/><Relationship Id="rId4" Type="http://schemas.openxmlformats.org/officeDocument/2006/relationships/image" Target="../media/image-17-4.png"/><Relationship Id="rId5" Type="http://schemas.openxmlformats.org/officeDocument/2006/relationships/image" Target="../media/image-17-5.png"/><Relationship Id="rId6" Type="http://schemas.openxmlformats.org/officeDocument/2006/relationships/image" Target="../media/image-17-6.png"/><Relationship Id="rId7" Type="http://schemas.openxmlformats.org/officeDocument/2006/relationships/slideLayout" Target="../slideLayouts/slideLayout1.xml"/><Relationship Id="rId8"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image" Target="../media/image-35-1.png"/><Relationship Id="rId2" Type="http://schemas.openxmlformats.org/officeDocument/2006/relationships/slideLayout" Target="../slideLayouts/slideLayout1.xml"/><Relationship Id="rId3"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image" Target="../media/image-36-1.png"/><Relationship Id="rId2" Type="http://schemas.openxmlformats.org/officeDocument/2006/relationships/slideLayout" Target="../slideLayouts/slideLayout1.xml"/><Relationship Id="rId3" Type="http://schemas.openxmlformats.org/officeDocument/2006/relationships/notesSlide" Target="../notesSlides/notesSlide36.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D1F3C"/>
        </a:solidFill>
      </p:bgPr>
    </p:bg>
    <p:spTree>
      <p:nvGrpSpPr>
        <p:cNvPr id="1" name=""/>
        <p:cNvGrpSpPr/>
        <p:nvPr/>
      </p:nvGrpSpPr>
      <p:grpSpPr>
        <a:xfrm>
          <a:off x="0" y="0"/>
          <a:ext cx="0" cy="0"/>
          <a:chOff x="0" y="0"/>
          <a:chExt cx="0" cy="0"/>
        </a:xfrm>
      </p:grpSpPr>
      <p:sp>
        <p:nvSpPr>
          <p:cNvPr id="2" name="Shape 0"/>
          <p:cNvSpPr/>
          <p:nvPr/>
        </p:nvSpPr>
        <p:spPr>
          <a:xfrm>
            <a:off x="7863840" y="-1463040"/>
            <a:ext cx="5852160" cy="5852160"/>
          </a:xfrm>
          <a:prstGeom prst="ellipse">
            <a:avLst/>
          </a:prstGeom>
          <a:solidFill>
            <a:srgbClr val="14315C"/>
          </a:solidFill>
          <a:ln w="12700">
            <a:solidFill>
              <a:srgbClr val="14315C"/>
            </a:solidFill>
            <a:prstDash val="solid"/>
          </a:ln>
        </p:spPr>
      </p:sp>
      <p:sp>
        <p:nvSpPr>
          <p:cNvPr id="3" name="Shape 1"/>
          <p:cNvSpPr/>
          <p:nvPr/>
        </p:nvSpPr>
        <p:spPr>
          <a:xfrm>
            <a:off x="8778240" y="-548640"/>
            <a:ext cx="4023360" cy="4023360"/>
          </a:xfrm>
          <a:prstGeom prst="ellipse">
            <a:avLst/>
          </a:prstGeom>
          <a:solidFill>
            <a:srgbClr val="1B3B6F"/>
          </a:solidFill>
          <a:ln w="12700">
            <a:solidFill>
              <a:srgbClr val="1B3B6F"/>
            </a:solidFill>
            <a:prstDash val="solid"/>
          </a:ln>
        </p:spPr>
      </p:sp>
      <p:pic>
        <p:nvPicPr>
          <p:cNvPr id="4" name="Image 0" descr="preencoded.png">    </p:cNvPr>
          <p:cNvPicPr>
            <a:picLocks noChangeAspect="1"/>
          </p:cNvPicPr>
          <p:nvPr/>
        </p:nvPicPr>
        <p:blipFill>
          <a:blip r:embed="rId1"/>
          <a:stretch>
            <a:fillRect/>
          </a:stretch>
        </p:blipFill>
        <p:spPr>
          <a:xfrm>
            <a:off x="10012680" y="685800"/>
            <a:ext cx="1554480" cy="1554480"/>
          </a:xfrm>
          <a:prstGeom prst="rect">
            <a:avLst/>
          </a:prstGeom>
        </p:spPr>
      </p:pic>
      <p:sp>
        <p:nvSpPr>
          <p:cNvPr id="5" name="Shape 2"/>
          <p:cNvSpPr/>
          <p:nvPr/>
        </p:nvSpPr>
        <p:spPr>
          <a:xfrm>
            <a:off x="457200" y="411480"/>
            <a:ext cx="502920" cy="502920"/>
          </a:xfrm>
          <a:prstGeom prst="ellipse">
            <a:avLst/>
          </a:prstGeom>
          <a:solidFill>
            <a:srgbClr val="1B3B6F"/>
          </a:solidFill>
          <a:ln w="15875">
            <a:solidFill>
              <a:srgbClr val="D4AF37"/>
            </a:solidFill>
            <a:prstDash val="solid"/>
          </a:ln>
        </p:spPr>
      </p:sp>
      <p:sp>
        <p:nvSpPr>
          <p:cNvPr id="6" name="Text 3"/>
          <p:cNvSpPr txBox="1"/>
          <p:nvPr/>
        </p:nvSpPr>
        <p:spPr>
          <a:xfrm>
            <a:off x="457200" y="393192"/>
            <a:ext cx="502920" cy="502920"/>
          </a:xfrm>
          <a:prstGeom prst="rect">
            <a:avLst/>
          </a:prstGeom>
          <a:noFill/>
          <a:ln/>
        </p:spPr>
        <p:txBody>
          <a:bodyPr wrap="square" lIns="0" tIns="0" rIns="0" bIns="0" rtlCol="0" anchor="ctr"/>
          <a:lstStyle/>
          <a:p>
            <a:pPr rtl="1" algn="ctr" indent="0" marL="0">
              <a:buNone/>
            </a:pPr>
            <a:r>
              <a:rPr lang="ar-SA" altLang="en-US" sz="2200" b="1" dirty="0">
                <a:solidFill>
                  <a:srgbClr val="D4AF37"/>
                </a:solidFill>
                <a:latin typeface="Amiri" pitchFamily="34" charset="0"/>
                <a:ea typeface="Amiri" pitchFamily="34" charset="-122"/>
                <a:cs typeface="Amiri" pitchFamily="34" charset="-120"/>
              </a:rPr>
              <a:t>م</a:t>
            </a:r>
            <a:endParaRPr lang="ar-SA" sz="2200" dirty="0"/>
          </a:p>
        </p:txBody>
      </p:sp>
      <p:sp>
        <p:nvSpPr>
          <p:cNvPr id="7" name="Text 4"/>
          <p:cNvSpPr txBox="1"/>
          <p:nvPr/>
        </p:nvSpPr>
        <p:spPr>
          <a:xfrm>
            <a:off x="1078992" y="384048"/>
            <a:ext cx="5486400" cy="566928"/>
          </a:xfrm>
          <a:prstGeom prst="rect">
            <a:avLst/>
          </a:prstGeom>
          <a:noFill/>
          <a:ln/>
        </p:spPr>
        <p:txBody>
          <a:bodyPr wrap="square" lIns="0" tIns="0" rIns="0" bIns="0" rtlCol="0" anchor="ctr"/>
          <a:lstStyle/>
          <a:p>
            <a:pPr indent="0" marL="0">
              <a:buNone/>
            </a:pPr>
            <a:r>
              <a:rPr lang="en-US" sz="1400" b="1" dirty="0">
                <a:solidFill>
                  <a:srgbClr val="FFFFFF"/>
                </a:solidFill>
                <a:latin typeface="Cambria" pitchFamily="34" charset="0"/>
                <a:ea typeface="Cambria" pitchFamily="34" charset="-122"/>
                <a:cs typeface="Cambria" pitchFamily="34" charset="-120"/>
              </a:rPr>
              <a:t>Al Madina Online School</a:t>
            </a:r>
            <a:endParaRPr lang="en-US" sz="1400" dirty="0"/>
          </a:p>
          <a:p>
            <a:pPr indent="0" marL="0">
              <a:buNone/>
            </a:pPr>
            <a:r>
              <a:rPr lang="en-US" sz="800" b="1" spc="200" kern="0" dirty="0">
                <a:solidFill>
                  <a:srgbClr val="D4AF37"/>
                </a:solidFill>
                <a:latin typeface="Calibri" pitchFamily="34" charset="0"/>
                <a:ea typeface="Calibri" pitchFamily="34" charset="-122"/>
                <a:cs typeface="Calibri" pitchFamily="34" charset="-120"/>
              </a:rPr>
              <a:t>ARABIC DEPARTMENT · MIFTAH ARABIC</a:t>
            </a:r>
            <a:endParaRPr lang="en-US" sz="1400" dirty="0"/>
          </a:p>
        </p:txBody>
      </p:sp>
      <p:sp>
        <p:nvSpPr>
          <p:cNvPr id="8" name="Text 5"/>
          <p:cNvSpPr txBox="1"/>
          <p:nvPr/>
        </p:nvSpPr>
        <p:spPr>
          <a:xfrm>
            <a:off x="457200" y="1600200"/>
            <a:ext cx="8686800" cy="274320"/>
          </a:xfrm>
          <a:prstGeom prst="rect">
            <a:avLst/>
          </a:prstGeom>
          <a:noFill/>
          <a:ln/>
        </p:spPr>
        <p:txBody>
          <a:bodyPr wrap="square" lIns="0" tIns="0" rIns="0" bIns="0" rtlCol="0" anchor="ctr"/>
          <a:lstStyle/>
          <a:p>
            <a:pPr algn="l" indent="0" marL="0">
              <a:buNone/>
            </a:pPr>
            <a:r>
              <a:rPr lang="en-US" sz="1100" b="1" spc="200" kern="0" dirty="0">
                <a:solidFill>
                  <a:srgbClr val="D4AF37"/>
                </a:solidFill>
                <a:latin typeface="Calibri" pitchFamily="34" charset="0"/>
                <a:ea typeface="Calibri" pitchFamily="34" charset="-122"/>
                <a:cs typeface="Calibri" pitchFamily="34" charset="-120"/>
              </a:rPr>
              <a:t>CAMBRIDGE IGCSE ARABIC 0544  ·  YEAR 7  ·  FOUNDATION F2  ·  WEEK 2  ·  LESSON 2 OF 3</a:t>
            </a:r>
            <a:endParaRPr lang="en-US" sz="1100" dirty="0"/>
          </a:p>
        </p:txBody>
      </p:sp>
      <p:sp>
        <p:nvSpPr>
          <p:cNvPr id="9" name="Text 6"/>
          <p:cNvSpPr txBox="1"/>
          <p:nvPr/>
        </p:nvSpPr>
        <p:spPr>
          <a:xfrm>
            <a:off x="457200" y="1965960"/>
            <a:ext cx="7315200" cy="548640"/>
          </a:xfrm>
          <a:prstGeom prst="rect">
            <a:avLst/>
          </a:prstGeom>
          <a:noFill/>
          <a:ln/>
        </p:spPr>
        <p:txBody>
          <a:bodyPr wrap="square" lIns="0" tIns="0" rIns="0" bIns="0" rtlCol="0" anchor="ctr"/>
          <a:lstStyle/>
          <a:p>
            <a:pPr algn="l" indent="0" marL="0">
              <a:buNone/>
            </a:pPr>
            <a:r>
              <a:rPr lang="en-US" sz="2600" b="1" dirty="0">
                <a:solidFill>
                  <a:srgbClr val="9FB3D1"/>
                </a:solidFill>
                <a:latin typeface="Cambria" pitchFamily="34" charset="0"/>
                <a:ea typeface="Cambria" pitchFamily="34" charset="-122"/>
                <a:cs typeface="Cambria" pitchFamily="34" charset="-120"/>
              </a:rPr>
              <a:t>F2-L05</a:t>
            </a:r>
            <a:endParaRPr lang="en-US" sz="2600" dirty="0"/>
          </a:p>
        </p:txBody>
      </p:sp>
      <p:sp>
        <p:nvSpPr>
          <p:cNvPr id="10" name="Text 7"/>
          <p:cNvSpPr txBox="1"/>
          <p:nvPr/>
        </p:nvSpPr>
        <p:spPr>
          <a:xfrm>
            <a:off x="457200" y="2487168"/>
            <a:ext cx="8046720" cy="868680"/>
          </a:xfrm>
          <a:prstGeom prst="rect">
            <a:avLst/>
          </a:prstGeom>
          <a:noFill/>
          <a:ln/>
        </p:spPr>
        <p:txBody>
          <a:bodyPr wrap="square" lIns="0" tIns="0" rIns="0" bIns="0" rtlCol="0" anchor="ctr"/>
          <a:lstStyle/>
          <a:p>
            <a:pPr algn="l" indent="0" marL="0">
              <a:buNone/>
            </a:pPr>
            <a:r>
              <a:rPr lang="en-US" sz="2650" b="1" dirty="0">
                <a:solidFill>
                  <a:srgbClr val="FFFFFF"/>
                </a:solidFill>
                <a:latin typeface="Cambria" pitchFamily="34" charset="0"/>
                <a:ea typeface="Cambria" pitchFamily="34" charset="-122"/>
                <a:cs typeface="Cambria" pitchFamily="34" charset="-120"/>
              </a:rPr>
              <a:t>Masculine and Feminine: Make the Pair Match</a:t>
            </a:r>
            <a:endParaRPr lang="en-US" sz="2650" dirty="0"/>
          </a:p>
        </p:txBody>
      </p:sp>
      <p:sp>
        <p:nvSpPr>
          <p:cNvPr id="11" name="Text 8"/>
          <p:cNvSpPr txBox="1"/>
          <p:nvPr/>
        </p:nvSpPr>
        <p:spPr>
          <a:xfrm>
            <a:off x="457200" y="3310128"/>
            <a:ext cx="8046720" cy="868680"/>
          </a:xfrm>
          <a:prstGeom prst="rect">
            <a:avLst/>
          </a:prstGeom>
          <a:noFill/>
          <a:ln/>
        </p:spPr>
        <p:txBody>
          <a:bodyPr wrap="square" lIns="0" tIns="0" rIns="0" bIns="0" rtlCol="0" anchor="ctr"/>
          <a:lstStyle/>
          <a:p>
            <a:pPr rtl="1" algn="l" indent="0" marL="0">
              <a:buNone/>
            </a:pPr>
            <a:r>
              <a:rPr lang="ar-SA" altLang="en-US" sz="3600" b="1" dirty="0">
                <a:solidFill>
                  <a:srgbClr val="D4AF37"/>
                </a:solidFill>
                <a:latin typeface="Amiri" pitchFamily="34" charset="0"/>
                <a:ea typeface="Amiri" pitchFamily="34" charset="-122"/>
                <a:cs typeface="Amiri" pitchFamily="34" charset="-120"/>
              </a:rPr>
              <a:t>تَذْكِيرُ الأَسْمَاءِ وَتَأْنِيثُهَا وَمُطَابَقَةُ الصِّفَةِ</a:t>
            </a:r>
            <a:endParaRPr lang="ar-SA" sz="3600" dirty="0"/>
          </a:p>
        </p:txBody>
      </p:sp>
      <p:sp>
        <p:nvSpPr>
          <p:cNvPr id="12" name="Text 9"/>
          <p:cNvSpPr txBox="1"/>
          <p:nvPr/>
        </p:nvSpPr>
        <p:spPr>
          <a:xfrm>
            <a:off x="457200" y="4224528"/>
            <a:ext cx="7863840" cy="731520"/>
          </a:xfrm>
          <a:prstGeom prst="rect">
            <a:avLst/>
          </a:prstGeom>
          <a:noFill/>
          <a:ln/>
        </p:spPr>
        <p:txBody>
          <a:bodyPr wrap="square" lIns="0" tIns="0" rIns="0" bIns="0" rtlCol="0" anchor="t"/>
          <a:lstStyle/>
          <a:p>
            <a:pPr algn="l" indent="0" marL="0">
              <a:buNone/>
            </a:pPr>
            <a:r>
              <a:rPr lang="en-US" sz="1400" dirty="0">
                <a:solidFill>
                  <a:srgbClr val="C6D2E6"/>
                </a:solidFill>
                <a:latin typeface="Calibri" pitchFamily="34" charset="0"/>
                <a:ea typeface="Calibri" pitchFamily="34" charset="-122"/>
                <a:cs typeface="Calibri" pitchFamily="34" charset="-120"/>
              </a:rPr>
              <a:t>Learn the eight people-noun pairs and ten adjective pairs, use </a:t>
            </a:r>
            <a:pPr algn="l" indent="0" marL="0">
              <a:buNone/>
            </a:pPr>
            <a:r>
              <a:rPr lang="ar-SA" altLang="en-US" sz="1800" dirty="0">
                <a:solidFill>
                  <a:srgbClr val="C6D2E6"/>
                </a:solidFill>
                <a:latin typeface="Amiri" pitchFamily="34" charset="0"/>
                <a:ea typeface="Amiri" pitchFamily="34" charset="-122"/>
                <a:cs typeface="Amiri" pitchFamily="34" charset="-120"/>
              </a:rPr>
              <a:t>ة</a:t>
            </a:r>
            <a:pPr algn="l" indent="0" marL="0">
              <a:buNone/>
            </a:pPr>
            <a:r>
              <a:rPr lang="en-US" sz="1400" dirty="0">
                <a:solidFill>
                  <a:srgbClr val="C6D2E6"/>
                </a:solidFill>
                <a:latin typeface="Calibri" pitchFamily="34" charset="0"/>
                <a:ea typeface="Calibri" pitchFamily="34" charset="-122"/>
                <a:cs typeface="Calibri" pitchFamily="34" charset="-120"/>
              </a:rPr>
              <a:t> as a strong feminine clue (and know the exceptions), and build descriptions where the noun, the adjective and </a:t>
            </a:r>
            <a:pPr algn="l" indent="0" marL="0">
              <a:buNone/>
            </a:pPr>
            <a:r>
              <a:rPr lang="ar-SA" altLang="en-US" sz="1800" dirty="0">
                <a:solidFill>
                  <a:srgbClr val="C6D2E6"/>
                </a:solidFill>
                <a:latin typeface="Amiri" pitchFamily="34" charset="0"/>
                <a:ea typeface="Amiri" pitchFamily="34" charset="-122"/>
                <a:cs typeface="Amiri" pitchFamily="34" charset="-120"/>
              </a:rPr>
              <a:t>هَذَا / هَذِهِ</a:t>
            </a:r>
            <a:pPr algn="l" indent="0" marL="0">
              <a:buNone/>
            </a:pPr>
            <a:r>
              <a:rPr lang="en-US" sz="1400" dirty="0">
                <a:solidFill>
                  <a:srgbClr val="C6D2E6"/>
                </a:solidFill>
                <a:latin typeface="Calibri" pitchFamily="34" charset="0"/>
                <a:ea typeface="Calibri" pitchFamily="34" charset="-122"/>
                <a:cs typeface="Calibri" pitchFamily="34" charset="-120"/>
              </a:rPr>
              <a:t> all agree.</a:t>
            </a:r>
            <a:endParaRPr lang="en-US" sz="1400" dirty="0"/>
          </a:p>
        </p:txBody>
      </p:sp>
      <p:sp>
        <p:nvSpPr>
          <p:cNvPr id="13" name="Shape 10"/>
          <p:cNvSpPr/>
          <p:nvPr/>
        </p:nvSpPr>
        <p:spPr>
          <a:xfrm>
            <a:off x="457200" y="5166360"/>
            <a:ext cx="2651760" cy="868680"/>
          </a:xfrm>
          <a:prstGeom prst="roundRect">
            <a:avLst>
              <a:gd name="adj" fmla="val 8421"/>
            </a:avLst>
          </a:prstGeom>
          <a:solidFill>
            <a:srgbClr val="16335F"/>
          </a:solidFill>
          <a:ln w="12700">
            <a:solidFill>
              <a:srgbClr val="2A4B7C"/>
            </a:solidFill>
            <a:prstDash val="solid"/>
          </a:ln>
        </p:spPr>
      </p:sp>
      <p:sp>
        <p:nvSpPr>
          <p:cNvPr id="14" name="Text 11"/>
          <p:cNvSpPr txBox="1"/>
          <p:nvPr/>
        </p:nvSpPr>
        <p:spPr>
          <a:xfrm>
            <a:off x="621792"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ea typeface="Calibri" pitchFamily="34" charset="-122"/>
                <a:cs typeface="Calibri" pitchFamily="34" charset="-120"/>
              </a:rPr>
              <a:t>LESSON</a:t>
            </a:r>
            <a:endParaRPr lang="en-US" sz="850" dirty="0"/>
          </a:p>
          <a:p>
            <a:pPr indent="0" marL="0">
              <a:buNone/>
            </a:pPr>
            <a:r>
              <a:rPr lang="en-US" sz="1200" b="1" dirty="0">
                <a:solidFill>
                  <a:srgbClr val="FFFFFF"/>
                </a:solidFill>
                <a:latin typeface="Calibri" pitchFamily="34" charset="0"/>
                <a:ea typeface="Calibri" pitchFamily="34" charset="-122"/>
                <a:cs typeface="Calibri" pitchFamily="34" charset="-120"/>
              </a:rPr>
              <a:t>F2-L05 · Week 2, lesson 2</a:t>
            </a:r>
            <a:endParaRPr lang="en-US" sz="850" dirty="0"/>
          </a:p>
        </p:txBody>
      </p:sp>
      <p:sp>
        <p:nvSpPr>
          <p:cNvPr id="15" name="Shape 12"/>
          <p:cNvSpPr/>
          <p:nvPr/>
        </p:nvSpPr>
        <p:spPr>
          <a:xfrm>
            <a:off x="3273552" y="5166360"/>
            <a:ext cx="2651760" cy="868680"/>
          </a:xfrm>
          <a:prstGeom prst="roundRect">
            <a:avLst>
              <a:gd name="adj" fmla="val 8421"/>
            </a:avLst>
          </a:prstGeom>
          <a:solidFill>
            <a:srgbClr val="16335F"/>
          </a:solidFill>
          <a:ln w="12700">
            <a:solidFill>
              <a:srgbClr val="2A4B7C"/>
            </a:solidFill>
            <a:prstDash val="solid"/>
          </a:ln>
        </p:spPr>
      </p:sp>
      <p:sp>
        <p:nvSpPr>
          <p:cNvPr id="16" name="Text 13"/>
          <p:cNvSpPr txBox="1"/>
          <p:nvPr/>
        </p:nvSpPr>
        <p:spPr>
          <a:xfrm>
            <a:off x="3438144"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ea typeface="Calibri" pitchFamily="34" charset="-122"/>
                <a:cs typeface="Calibri" pitchFamily="34" charset="-120"/>
              </a:rPr>
              <a:t>DURATION</a:t>
            </a:r>
            <a:endParaRPr lang="en-US" sz="850" dirty="0"/>
          </a:p>
          <a:p>
            <a:pPr indent="0" marL="0">
              <a:buNone/>
            </a:pPr>
            <a:r>
              <a:rPr lang="en-US" sz="1200" b="1" dirty="0">
                <a:solidFill>
                  <a:srgbClr val="FFFFFF"/>
                </a:solidFill>
                <a:latin typeface="Calibri" pitchFamily="34" charset="0"/>
                <a:ea typeface="Calibri" pitchFamily="34" charset="-122"/>
                <a:cs typeface="Calibri" pitchFamily="34" charset="-120"/>
              </a:rPr>
              <a:t>60 minutes · Teams</a:t>
            </a:r>
            <a:endParaRPr lang="en-US" sz="850" dirty="0"/>
          </a:p>
        </p:txBody>
      </p:sp>
      <p:sp>
        <p:nvSpPr>
          <p:cNvPr id="17" name="Shape 14"/>
          <p:cNvSpPr/>
          <p:nvPr/>
        </p:nvSpPr>
        <p:spPr>
          <a:xfrm>
            <a:off x="6089904" y="5166360"/>
            <a:ext cx="2651760" cy="868680"/>
          </a:xfrm>
          <a:prstGeom prst="roundRect">
            <a:avLst>
              <a:gd name="adj" fmla="val 8421"/>
            </a:avLst>
          </a:prstGeom>
          <a:solidFill>
            <a:srgbClr val="16335F"/>
          </a:solidFill>
          <a:ln w="12700">
            <a:solidFill>
              <a:srgbClr val="2A4B7C"/>
            </a:solidFill>
            <a:prstDash val="solid"/>
          </a:ln>
        </p:spPr>
      </p:sp>
      <p:sp>
        <p:nvSpPr>
          <p:cNvPr id="18" name="Text 15"/>
          <p:cNvSpPr txBox="1"/>
          <p:nvPr/>
        </p:nvSpPr>
        <p:spPr>
          <a:xfrm>
            <a:off x="6254496"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ea typeface="Calibri" pitchFamily="34" charset="-122"/>
                <a:cs typeface="Calibri" pitchFamily="34" charset="-120"/>
              </a:rPr>
              <a:t>LEVEL</a:t>
            </a:r>
            <a:endParaRPr lang="en-US" sz="850" dirty="0"/>
          </a:p>
          <a:p>
            <a:pPr indent="0" marL="0">
              <a:buNone/>
            </a:pPr>
            <a:r>
              <a:rPr lang="en-US" sz="1200" b="1" dirty="0">
                <a:solidFill>
                  <a:srgbClr val="FFFFFF"/>
                </a:solidFill>
                <a:latin typeface="Calibri" pitchFamily="34" charset="0"/>
                <a:ea typeface="Calibri" pitchFamily="34" charset="-122"/>
                <a:cs typeface="Calibri" pitchFamily="34" charset="-120"/>
              </a:rPr>
              <a:t>Foundation · A1</a:t>
            </a:r>
            <a:endParaRPr lang="en-US" sz="850" dirty="0"/>
          </a:p>
        </p:txBody>
      </p:sp>
      <p:sp>
        <p:nvSpPr>
          <p:cNvPr id="19" name="Shape 16"/>
          <p:cNvSpPr/>
          <p:nvPr/>
        </p:nvSpPr>
        <p:spPr>
          <a:xfrm>
            <a:off x="8906256" y="5166360"/>
            <a:ext cx="2651760" cy="868680"/>
          </a:xfrm>
          <a:prstGeom prst="roundRect">
            <a:avLst>
              <a:gd name="adj" fmla="val 8421"/>
            </a:avLst>
          </a:prstGeom>
          <a:solidFill>
            <a:srgbClr val="16335F"/>
          </a:solidFill>
          <a:ln w="12700">
            <a:solidFill>
              <a:srgbClr val="2A4B7C"/>
            </a:solidFill>
            <a:prstDash val="solid"/>
          </a:ln>
        </p:spPr>
      </p:sp>
      <p:sp>
        <p:nvSpPr>
          <p:cNvPr id="20" name="Text 17"/>
          <p:cNvSpPr txBox="1"/>
          <p:nvPr/>
        </p:nvSpPr>
        <p:spPr>
          <a:xfrm>
            <a:off x="9070848"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ea typeface="Calibri" pitchFamily="34" charset="-122"/>
                <a:cs typeface="Calibri" pitchFamily="34" charset="-120"/>
              </a:rPr>
              <a:t>ON THE WEBSITE</a:t>
            </a:r>
            <a:endParaRPr lang="en-US" sz="850" dirty="0"/>
          </a:p>
          <a:p>
            <a:pPr indent="0" marL="0">
              <a:buNone/>
            </a:pPr>
            <a:r>
              <a:rPr lang="en-US" sz="1200" b="1" dirty="0">
                <a:solidFill>
                  <a:srgbClr val="FFFFFF"/>
                </a:solidFill>
                <a:latin typeface="Calibri" pitchFamily="34" charset="0"/>
                <a:ea typeface="Calibri" pitchFamily="34" charset="-122"/>
                <a:cs typeface="Calibri" pitchFamily="34" charset="-120"/>
              </a:rPr>
              <a:t>Foundation › F2 › Lesson 5</a:t>
            </a:r>
            <a:endParaRPr lang="en-US" sz="8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34" charset="0"/>
                <a:ea typeface="Amiri" pitchFamily="34" charset="-122"/>
                <a:cs typeface="Amiri" pitchFamily="34" charset="-120"/>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ea typeface="Cambria" pitchFamily="34" charset="-122"/>
                <a:cs typeface="Cambria" pitchFamily="34" charset="-120"/>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ea typeface="Calibri" pitchFamily="34" charset="-122"/>
                <a:cs typeface="Calibri" pitchFamily="34" charset="-120"/>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ea typeface="Calibri" pitchFamily="34" charset="-122"/>
                <a:cs typeface="Calibri" pitchFamily="34" charset="-120"/>
              </a:rPr>
              <a:t>F2-L05 · Masculine &amp; Feminine</a:t>
            </a:r>
            <a:endParaRPr lang="en-US" sz="950" dirty="0"/>
          </a:p>
        </p:txBody>
      </p:sp>
      <p:sp>
        <p:nvSpPr>
          <p:cNvPr id="8" name="Shape 6"/>
          <p:cNvSpPr/>
          <p:nvPr/>
        </p:nvSpPr>
        <p:spPr>
          <a:xfrm>
            <a:off x="7219188" y="274320"/>
            <a:ext cx="1540764" cy="329184"/>
          </a:xfrm>
          <a:prstGeom prst="roundRect">
            <a:avLst>
              <a:gd name="adj" fmla="val 50000"/>
            </a:avLst>
          </a:prstGeom>
          <a:solidFill>
            <a:srgbClr val="5A6472"/>
          </a:solidFill>
          <a:ln w="12700">
            <a:solidFill>
              <a:srgbClr val="5A6472"/>
            </a:solidFill>
            <a:prstDash val="solid"/>
          </a:ln>
        </p:spPr>
      </p:sp>
      <p:sp>
        <p:nvSpPr>
          <p:cNvPr id="9" name="Text 7"/>
          <p:cNvSpPr txBox="1"/>
          <p:nvPr/>
        </p:nvSpPr>
        <p:spPr>
          <a:xfrm>
            <a:off x="7219188" y="274320"/>
            <a:ext cx="154076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ea typeface="Calibri" pitchFamily="34" charset="-122"/>
                <a:cs typeface="Calibri" pitchFamily="34" charset="-120"/>
              </a:rPr>
              <a:t>WELCOME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5A6472"/>
                </a:solidFill>
                <a:latin typeface="Calibri" pitchFamily="34" charset="0"/>
                <a:ea typeface="Calibri" pitchFamily="34" charset="-122"/>
                <a:cs typeface="Calibri" pitchFamily="34" charset="-120"/>
              </a:rPr>
              <a:t>BEFORE WE BEGIN</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ea typeface="Cambria" pitchFamily="34" charset="-122"/>
                <a:cs typeface="Cambria" pitchFamily="34" charset="-120"/>
              </a:rPr>
              <a:t>Our online classroom</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34" charset="0"/>
                <a:ea typeface="Amiri" pitchFamily="34" charset="-122"/>
                <a:cs typeface="Amiri" pitchFamily="34" charset="-120"/>
              </a:rPr>
              <a:t>آدَابُ الصَّفِّ</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ea typeface="Calibri" pitchFamily="34" charset="-122"/>
                <a:cs typeface="Calibri" pitchFamily="34" charset="-120"/>
              </a:rPr>
              <a:t>Miftah Arabic · Foundation F2 · Greetings &amp; Introductions · Week 2 · Lesson 2 of 3</a:t>
            </a:r>
            <a:endParaRPr lang="en-US" sz="850" dirty="0"/>
          </a:p>
        </p:txBody>
      </p:sp>
      <p:sp>
        <p:nvSpPr>
          <p:cNvPr id="15" name="Shape 12"/>
          <p:cNvSpPr/>
          <p:nvPr/>
        </p:nvSpPr>
        <p:spPr>
          <a:xfrm>
            <a:off x="457200" y="1828800"/>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2002536"/>
            <a:ext cx="585216" cy="585216"/>
          </a:xfrm>
          <a:prstGeom prst="ellipse">
            <a:avLst/>
          </a:prstGeom>
          <a:solidFill>
            <a:srgbClr val="EEF3FA"/>
          </a:solidFill>
          <a:ln w="12700">
            <a:solidFill>
              <a:srgbClr val="EEF3FA"/>
            </a:solidFill>
            <a:prstDash val="solid"/>
          </a:ln>
        </p:spPr>
      </p:sp>
      <p:pic>
        <p:nvPicPr>
          <p:cNvPr id="17" name="Image 0" descr="preencoded.png">    </p:cNvPr>
          <p:cNvPicPr>
            <a:picLocks noChangeAspect="1"/>
          </p:cNvPicPr>
          <p:nvPr/>
        </p:nvPicPr>
        <p:blipFill>
          <a:blip r:embed="rId1"/>
          <a:stretch>
            <a:fillRect/>
          </a:stretch>
        </p:blipFill>
        <p:spPr>
          <a:xfrm>
            <a:off x="777240" y="2139696"/>
            <a:ext cx="310896" cy="310896"/>
          </a:xfrm>
          <a:prstGeom prst="rect">
            <a:avLst/>
          </a:prstGeom>
        </p:spPr>
      </p:pic>
      <p:sp>
        <p:nvSpPr>
          <p:cNvPr id="18" name="Text 14"/>
          <p:cNvSpPr txBox="1"/>
          <p:nvPr/>
        </p:nvSpPr>
        <p:spPr>
          <a:xfrm>
            <a:off x="1371600" y="1901952"/>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ea typeface="Calibri" pitchFamily="34" charset="-122"/>
                <a:cs typeface="Calibri" pitchFamily="34" charset="-120"/>
              </a:rPr>
              <a:t>Camera on</a:t>
            </a:r>
            <a:endParaRPr lang="en-US" sz="1500" dirty="0"/>
          </a:p>
          <a:p>
            <a:pPr indent="0" marL="0">
              <a:buNone/>
            </a:pPr>
            <a:r>
              <a:rPr lang="en-US" sz="1150" dirty="0">
                <a:solidFill>
                  <a:srgbClr val="5A6472"/>
                </a:solidFill>
                <a:latin typeface="Calibri" pitchFamily="34" charset="0"/>
                <a:ea typeface="Calibri" pitchFamily="34" charset="-122"/>
                <a:cs typeface="Calibri" pitchFamily="34" charset="-120"/>
              </a:rPr>
              <a:t>So I can see you learning and help you quickly.</a:t>
            </a:r>
            <a:endParaRPr lang="en-US" sz="1500" dirty="0"/>
          </a:p>
        </p:txBody>
      </p:sp>
      <p:sp>
        <p:nvSpPr>
          <p:cNvPr id="19" name="Shape 15"/>
          <p:cNvSpPr/>
          <p:nvPr/>
        </p:nvSpPr>
        <p:spPr>
          <a:xfrm>
            <a:off x="457200" y="2907792"/>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0" name="Shape 16"/>
          <p:cNvSpPr/>
          <p:nvPr/>
        </p:nvSpPr>
        <p:spPr>
          <a:xfrm>
            <a:off x="640080" y="3081528"/>
            <a:ext cx="585216" cy="585216"/>
          </a:xfrm>
          <a:prstGeom prst="ellipse">
            <a:avLst/>
          </a:prstGeom>
          <a:solidFill>
            <a:srgbClr val="EEF3FA"/>
          </a:solidFill>
          <a:ln w="12700">
            <a:solidFill>
              <a:srgbClr val="EEF3FA"/>
            </a:solidFill>
            <a:prstDash val="solid"/>
          </a:ln>
        </p:spPr>
      </p:sp>
      <p:pic>
        <p:nvPicPr>
          <p:cNvPr id="21" name="Image 1" descr="preencoded.png">    </p:cNvPr>
          <p:cNvPicPr>
            <a:picLocks noChangeAspect="1"/>
          </p:cNvPicPr>
          <p:nvPr/>
        </p:nvPicPr>
        <p:blipFill>
          <a:blip r:embed="rId2"/>
          <a:stretch>
            <a:fillRect/>
          </a:stretch>
        </p:blipFill>
        <p:spPr>
          <a:xfrm>
            <a:off x="777240" y="3218688"/>
            <a:ext cx="310896" cy="310896"/>
          </a:xfrm>
          <a:prstGeom prst="rect">
            <a:avLst/>
          </a:prstGeom>
        </p:spPr>
      </p:pic>
      <p:sp>
        <p:nvSpPr>
          <p:cNvPr id="22" name="Text 17"/>
          <p:cNvSpPr txBox="1"/>
          <p:nvPr/>
        </p:nvSpPr>
        <p:spPr>
          <a:xfrm>
            <a:off x="1371600" y="2980944"/>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ea typeface="Calibri" pitchFamily="34" charset="-122"/>
                <a:cs typeface="Calibri" pitchFamily="34" charset="-120"/>
              </a:rPr>
              <a:t>Mic muted</a:t>
            </a:r>
            <a:endParaRPr lang="en-US" sz="1500" dirty="0"/>
          </a:p>
          <a:p>
            <a:pPr indent="0" marL="0">
              <a:buNone/>
            </a:pPr>
            <a:r>
              <a:rPr lang="en-US" sz="1150" dirty="0">
                <a:solidFill>
                  <a:srgbClr val="5A6472"/>
                </a:solidFill>
                <a:latin typeface="Calibri" pitchFamily="34" charset="0"/>
                <a:ea typeface="Calibri" pitchFamily="34" charset="-122"/>
                <a:cs typeface="Calibri" pitchFamily="34" charset="-120"/>
              </a:rPr>
              <a:t>Unmute only when invited to speak.</a:t>
            </a:r>
            <a:endParaRPr lang="en-US" sz="1500" dirty="0"/>
          </a:p>
        </p:txBody>
      </p:sp>
      <p:sp>
        <p:nvSpPr>
          <p:cNvPr id="23" name="Shape 18"/>
          <p:cNvSpPr/>
          <p:nvPr/>
        </p:nvSpPr>
        <p:spPr>
          <a:xfrm>
            <a:off x="457200" y="3986784"/>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4" name="Shape 19"/>
          <p:cNvSpPr/>
          <p:nvPr/>
        </p:nvSpPr>
        <p:spPr>
          <a:xfrm>
            <a:off x="640080" y="4160520"/>
            <a:ext cx="585216" cy="585216"/>
          </a:xfrm>
          <a:prstGeom prst="ellipse">
            <a:avLst/>
          </a:prstGeom>
          <a:solidFill>
            <a:srgbClr val="EEF3FA"/>
          </a:solidFill>
          <a:ln w="12700">
            <a:solidFill>
              <a:srgbClr val="EEF3FA"/>
            </a:solidFill>
            <a:prstDash val="solid"/>
          </a:ln>
        </p:spPr>
      </p:sp>
      <p:pic>
        <p:nvPicPr>
          <p:cNvPr id="25" name="Image 2" descr="preencoded.png">    </p:cNvPr>
          <p:cNvPicPr>
            <a:picLocks noChangeAspect="1"/>
          </p:cNvPicPr>
          <p:nvPr/>
        </p:nvPicPr>
        <p:blipFill>
          <a:blip r:embed="rId3"/>
          <a:stretch>
            <a:fillRect/>
          </a:stretch>
        </p:blipFill>
        <p:spPr>
          <a:xfrm>
            <a:off x="777240" y="4297680"/>
            <a:ext cx="310896" cy="310896"/>
          </a:xfrm>
          <a:prstGeom prst="rect">
            <a:avLst/>
          </a:prstGeom>
        </p:spPr>
      </p:pic>
      <p:sp>
        <p:nvSpPr>
          <p:cNvPr id="26" name="Text 20"/>
          <p:cNvSpPr txBox="1"/>
          <p:nvPr/>
        </p:nvSpPr>
        <p:spPr>
          <a:xfrm>
            <a:off x="1371600" y="4059936"/>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ea typeface="Calibri" pitchFamily="34" charset="-122"/>
                <a:cs typeface="Calibri" pitchFamily="34" charset="-120"/>
              </a:rPr>
              <a:t>Chat for learning</a:t>
            </a:r>
            <a:endParaRPr lang="en-US" sz="1500" dirty="0"/>
          </a:p>
          <a:p>
            <a:pPr indent="0" marL="0">
              <a:buNone/>
            </a:pPr>
            <a:r>
              <a:rPr lang="en-US" sz="1150" dirty="0">
                <a:solidFill>
                  <a:srgbClr val="5A6472"/>
                </a:solidFill>
                <a:latin typeface="Calibri" pitchFamily="34" charset="0"/>
                <a:ea typeface="Calibri" pitchFamily="34" charset="-122"/>
                <a:cs typeface="Calibri" pitchFamily="34" charset="-120"/>
              </a:rPr>
              <a:t>Answers, questions and Arabic only.</a:t>
            </a:r>
            <a:endParaRPr lang="en-US" sz="1500" dirty="0"/>
          </a:p>
        </p:txBody>
      </p:sp>
      <p:sp>
        <p:nvSpPr>
          <p:cNvPr id="27" name="Shape 21"/>
          <p:cNvSpPr/>
          <p:nvPr/>
        </p:nvSpPr>
        <p:spPr>
          <a:xfrm>
            <a:off x="457200" y="5065776"/>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8" name="Shape 22"/>
          <p:cNvSpPr/>
          <p:nvPr/>
        </p:nvSpPr>
        <p:spPr>
          <a:xfrm>
            <a:off x="640080" y="5239512"/>
            <a:ext cx="585216" cy="585216"/>
          </a:xfrm>
          <a:prstGeom prst="ellipse">
            <a:avLst/>
          </a:prstGeom>
          <a:solidFill>
            <a:srgbClr val="EEF3FA"/>
          </a:solidFill>
          <a:ln w="12700">
            <a:solidFill>
              <a:srgbClr val="EEF3FA"/>
            </a:solidFill>
            <a:prstDash val="solid"/>
          </a:ln>
        </p:spPr>
      </p:sp>
      <p:pic>
        <p:nvPicPr>
          <p:cNvPr id="29" name="Image 3" descr="preencoded.png">    </p:cNvPr>
          <p:cNvPicPr>
            <a:picLocks noChangeAspect="1"/>
          </p:cNvPicPr>
          <p:nvPr/>
        </p:nvPicPr>
        <p:blipFill>
          <a:blip r:embed="rId4"/>
          <a:stretch>
            <a:fillRect/>
          </a:stretch>
        </p:blipFill>
        <p:spPr>
          <a:xfrm>
            <a:off x="777240" y="5376672"/>
            <a:ext cx="310896" cy="310896"/>
          </a:xfrm>
          <a:prstGeom prst="rect">
            <a:avLst/>
          </a:prstGeom>
        </p:spPr>
      </p:pic>
      <p:sp>
        <p:nvSpPr>
          <p:cNvPr id="30" name="Text 23"/>
          <p:cNvSpPr txBox="1"/>
          <p:nvPr/>
        </p:nvSpPr>
        <p:spPr>
          <a:xfrm>
            <a:off x="1371600" y="5138928"/>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ea typeface="Calibri" pitchFamily="34" charset="-122"/>
                <a:cs typeface="Calibri" pitchFamily="34" charset="-120"/>
              </a:rPr>
              <a:t>Raise your hand</a:t>
            </a:r>
            <a:endParaRPr lang="en-US" sz="1500" dirty="0"/>
          </a:p>
          <a:p>
            <a:pPr indent="0" marL="0">
              <a:buNone/>
            </a:pPr>
            <a:r>
              <a:rPr lang="en-US" sz="1150" dirty="0">
                <a:solidFill>
                  <a:srgbClr val="5A6472"/>
                </a:solidFill>
                <a:latin typeface="Calibri" pitchFamily="34" charset="0"/>
                <a:ea typeface="Calibri" pitchFamily="34" charset="-122"/>
                <a:cs typeface="Calibri" pitchFamily="34" charset="-120"/>
              </a:rPr>
              <a:t>Use the hand button to ask for help.</a:t>
            </a:r>
            <a:endParaRPr lang="en-US" sz="1500" dirty="0"/>
          </a:p>
        </p:txBody>
      </p:sp>
      <p:sp>
        <p:nvSpPr>
          <p:cNvPr id="31" name="Shape 24"/>
          <p:cNvSpPr/>
          <p:nvPr/>
        </p:nvSpPr>
        <p:spPr>
          <a:xfrm>
            <a:off x="6172200" y="1828800"/>
            <a:ext cx="5559552" cy="4169664"/>
          </a:xfrm>
          <a:prstGeom prst="roundRect">
            <a:avLst>
              <a:gd name="adj" fmla="val 1754"/>
            </a:avLst>
          </a:prstGeom>
          <a:solidFill>
            <a:srgbClr val="F7F9FC"/>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32" name="Text 25"/>
          <p:cNvSpPr txBox="1"/>
          <p:nvPr/>
        </p:nvSpPr>
        <p:spPr>
          <a:xfrm>
            <a:off x="6400800" y="1938528"/>
            <a:ext cx="5102352" cy="310896"/>
          </a:xfrm>
          <a:prstGeom prst="rect">
            <a:avLst/>
          </a:prstGeom>
          <a:noFill/>
          <a:ln/>
        </p:spPr>
        <p:txBody>
          <a:bodyPr wrap="square" lIns="0" tIns="0" rIns="0" bIns="0" rtlCol="0" anchor="ctr"/>
          <a:lstStyle/>
          <a:p>
            <a:pPr algn="l" indent="0" marL="0">
              <a:buNone/>
            </a:pPr>
            <a:r>
              <a:rPr lang="en-US" sz="1100" b="1" spc="200" kern="0" dirty="0">
                <a:solidFill>
                  <a:srgbClr val="1B3B6F"/>
                </a:solidFill>
                <a:latin typeface="Calibri" pitchFamily="34" charset="0"/>
                <a:ea typeface="Calibri" pitchFamily="34" charset="-122"/>
                <a:cs typeface="Calibri" pitchFamily="34" charset="-120"/>
              </a:rPr>
              <a:t>HOW WE TALK — THE ORACY CODE</a:t>
            </a:r>
            <a:endParaRPr lang="en-US" sz="1100" dirty="0"/>
          </a:p>
        </p:txBody>
      </p:sp>
      <p:sp>
        <p:nvSpPr>
          <p:cNvPr id="33" name="Shape 26"/>
          <p:cNvSpPr/>
          <p:nvPr/>
        </p:nvSpPr>
        <p:spPr>
          <a:xfrm>
            <a:off x="6400800" y="2450592"/>
            <a:ext cx="548640" cy="548640"/>
          </a:xfrm>
          <a:prstGeom prst="ellipse">
            <a:avLst/>
          </a:prstGeom>
          <a:solidFill>
            <a:srgbClr val="1B3B6F"/>
          </a:solidFill>
          <a:ln w="12700">
            <a:solidFill>
              <a:srgbClr val="1B3B6F"/>
            </a:solidFill>
            <a:prstDash val="solid"/>
          </a:ln>
        </p:spPr>
      </p:sp>
      <p:sp>
        <p:nvSpPr>
          <p:cNvPr id="34" name="Text 27"/>
          <p:cNvSpPr txBox="1"/>
          <p:nvPr/>
        </p:nvSpPr>
        <p:spPr>
          <a:xfrm>
            <a:off x="6400800" y="24505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ea typeface="Arial" pitchFamily="34" charset="-122"/>
                <a:cs typeface="Arial" pitchFamily="34" charset="-120"/>
              </a:rPr>
              <a:t>●</a:t>
            </a:r>
            <a:endParaRPr lang="en-US" sz="1800" dirty="0"/>
          </a:p>
        </p:txBody>
      </p:sp>
      <p:sp>
        <p:nvSpPr>
          <p:cNvPr id="35" name="Text 28"/>
          <p:cNvSpPr txBox="1"/>
          <p:nvPr/>
        </p:nvSpPr>
        <p:spPr>
          <a:xfrm>
            <a:off x="7059168" y="23774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ea typeface="Calibri" pitchFamily="34" charset="-122"/>
                <a:cs typeface="Calibri" pitchFamily="34" charset="-120"/>
              </a:rPr>
              <a:t>Think</a:t>
            </a:r>
            <a:endParaRPr lang="en-US" sz="1400" dirty="0"/>
          </a:p>
          <a:p>
            <a:pPr indent="0" marL="0">
              <a:buNone/>
            </a:pPr>
            <a:r>
              <a:rPr lang="en-US" sz="1100" dirty="0">
                <a:solidFill>
                  <a:srgbClr val="5A6472"/>
                </a:solidFill>
                <a:latin typeface="Calibri" pitchFamily="34" charset="0"/>
                <a:ea typeface="Calibri" pitchFamily="34" charset="-122"/>
                <a:cs typeface="Calibri" pitchFamily="34" charset="-120"/>
              </a:rPr>
              <a:t>silent preparation</a:t>
            </a:r>
            <a:endParaRPr lang="en-US" sz="1400" dirty="0"/>
          </a:p>
        </p:txBody>
      </p:sp>
      <p:sp>
        <p:nvSpPr>
          <p:cNvPr id="36" name="Shape 29"/>
          <p:cNvSpPr/>
          <p:nvPr/>
        </p:nvSpPr>
        <p:spPr>
          <a:xfrm>
            <a:off x="8997696" y="2450592"/>
            <a:ext cx="548640" cy="548640"/>
          </a:xfrm>
          <a:prstGeom prst="ellipse">
            <a:avLst/>
          </a:prstGeom>
          <a:solidFill>
            <a:srgbClr val="1B3B6F"/>
          </a:solidFill>
          <a:ln w="12700">
            <a:solidFill>
              <a:srgbClr val="1B3B6F"/>
            </a:solidFill>
            <a:prstDash val="solid"/>
          </a:ln>
        </p:spPr>
      </p:sp>
      <p:sp>
        <p:nvSpPr>
          <p:cNvPr id="37" name="Text 30"/>
          <p:cNvSpPr txBox="1"/>
          <p:nvPr/>
        </p:nvSpPr>
        <p:spPr>
          <a:xfrm>
            <a:off x="8997696" y="24505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ea typeface="Arial" pitchFamily="34" charset="-122"/>
                <a:cs typeface="Arial" pitchFamily="34" charset="-120"/>
              </a:rPr>
              <a:t>↔</a:t>
            </a:r>
            <a:endParaRPr lang="en-US" sz="1800" dirty="0"/>
          </a:p>
        </p:txBody>
      </p:sp>
      <p:sp>
        <p:nvSpPr>
          <p:cNvPr id="38" name="Text 31"/>
          <p:cNvSpPr txBox="1"/>
          <p:nvPr/>
        </p:nvSpPr>
        <p:spPr>
          <a:xfrm>
            <a:off x="9656064" y="23774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ea typeface="Calibri" pitchFamily="34" charset="-122"/>
                <a:cs typeface="Calibri" pitchFamily="34" charset="-120"/>
              </a:rPr>
              <a:t>Rehearse</a:t>
            </a:r>
            <a:endParaRPr lang="en-US" sz="1400" dirty="0"/>
          </a:p>
          <a:p>
            <a:pPr indent="0" marL="0">
              <a:buNone/>
            </a:pPr>
            <a:r>
              <a:rPr lang="en-US" sz="1100" dirty="0">
                <a:solidFill>
                  <a:srgbClr val="5A6472"/>
                </a:solidFill>
                <a:latin typeface="Calibri" pitchFamily="34" charset="0"/>
                <a:ea typeface="Calibri" pitchFamily="34" charset="-122"/>
                <a:cs typeface="Calibri" pitchFamily="34" charset="-120"/>
              </a:rPr>
              <a:t>both partners speak</a:t>
            </a:r>
            <a:endParaRPr lang="en-US" sz="1400" dirty="0"/>
          </a:p>
        </p:txBody>
      </p:sp>
      <p:sp>
        <p:nvSpPr>
          <p:cNvPr id="39" name="Shape 32"/>
          <p:cNvSpPr/>
          <p:nvPr/>
        </p:nvSpPr>
        <p:spPr>
          <a:xfrm>
            <a:off x="6400800" y="3364992"/>
            <a:ext cx="548640" cy="548640"/>
          </a:xfrm>
          <a:prstGeom prst="ellipse">
            <a:avLst/>
          </a:prstGeom>
          <a:solidFill>
            <a:srgbClr val="1B3B6F"/>
          </a:solidFill>
          <a:ln w="12700">
            <a:solidFill>
              <a:srgbClr val="1B3B6F"/>
            </a:solidFill>
            <a:prstDash val="solid"/>
          </a:ln>
        </p:spPr>
      </p:sp>
      <p:sp>
        <p:nvSpPr>
          <p:cNvPr id="40" name="Text 33"/>
          <p:cNvSpPr txBox="1"/>
          <p:nvPr/>
        </p:nvSpPr>
        <p:spPr>
          <a:xfrm>
            <a:off x="6400800" y="33649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ea typeface="Arial" pitchFamily="34" charset="-122"/>
                <a:cs typeface="Arial" pitchFamily="34" charset="-120"/>
              </a:rPr>
              <a:t>+</a:t>
            </a:r>
            <a:endParaRPr lang="en-US" sz="1800" dirty="0"/>
          </a:p>
        </p:txBody>
      </p:sp>
      <p:sp>
        <p:nvSpPr>
          <p:cNvPr id="41" name="Text 34"/>
          <p:cNvSpPr txBox="1"/>
          <p:nvPr/>
        </p:nvSpPr>
        <p:spPr>
          <a:xfrm>
            <a:off x="7059168" y="32918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ea typeface="Calibri" pitchFamily="34" charset="-122"/>
                <a:cs typeface="Calibri" pitchFamily="34" charset="-120"/>
              </a:rPr>
              <a:t>Build</a:t>
            </a:r>
            <a:endParaRPr lang="en-US" sz="1400" dirty="0"/>
          </a:p>
          <a:p>
            <a:pPr indent="0" marL="0">
              <a:buNone/>
            </a:pPr>
            <a:r>
              <a:rPr lang="en-US" sz="1100" dirty="0">
                <a:solidFill>
                  <a:srgbClr val="5A6472"/>
                </a:solidFill>
                <a:latin typeface="Calibri" pitchFamily="34" charset="0"/>
                <a:ea typeface="Calibri" pitchFamily="34" charset="-122"/>
                <a:cs typeface="Calibri" pitchFamily="34" charset="-120"/>
              </a:rPr>
              <a:t>add a reason or detail</a:t>
            </a:r>
            <a:endParaRPr lang="en-US" sz="1400" dirty="0"/>
          </a:p>
        </p:txBody>
      </p:sp>
      <p:sp>
        <p:nvSpPr>
          <p:cNvPr id="42" name="Shape 35"/>
          <p:cNvSpPr/>
          <p:nvPr/>
        </p:nvSpPr>
        <p:spPr>
          <a:xfrm>
            <a:off x="8997696" y="3364992"/>
            <a:ext cx="548640" cy="548640"/>
          </a:xfrm>
          <a:prstGeom prst="ellipse">
            <a:avLst/>
          </a:prstGeom>
          <a:solidFill>
            <a:srgbClr val="1B3B6F"/>
          </a:solidFill>
          <a:ln w="12700">
            <a:solidFill>
              <a:srgbClr val="1B3B6F"/>
            </a:solidFill>
            <a:prstDash val="solid"/>
          </a:ln>
        </p:spPr>
      </p:sp>
      <p:sp>
        <p:nvSpPr>
          <p:cNvPr id="43" name="Text 36"/>
          <p:cNvSpPr txBox="1"/>
          <p:nvPr/>
        </p:nvSpPr>
        <p:spPr>
          <a:xfrm>
            <a:off x="8997696" y="33649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ea typeface="Arial" pitchFamily="34" charset="-122"/>
                <a:cs typeface="Arial" pitchFamily="34" charset="-120"/>
              </a:rPr>
              <a:t>?</a:t>
            </a:r>
            <a:endParaRPr lang="en-US" sz="1800" dirty="0"/>
          </a:p>
        </p:txBody>
      </p:sp>
      <p:sp>
        <p:nvSpPr>
          <p:cNvPr id="44" name="Text 37"/>
          <p:cNvSpPr txBox="1"/>
          <p:nvPr/>
        </p:nvSpPr>
        <p:spPr>
          <a:xfrm>
            <a:off x="9656064" y="32918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ea typeface="Calibri" pitchFamily="34" charset="-122"/>
                <a:cs typeface="Calibri" pitchFamily="34" charset="-120"/>
              </a:rPr>
              <a:t>Challenge</a:t>
            </a:r>
            <a:endParaRPr lang="en-US" sz="1400" dirty="0"/>
          </a:p>
          <a:p>
            <a:pPr indent="0" marL="0">
              <a:buNone/>
            </a:pPr>
            <a:r>
              <a:rPr lang="en-US" sz="1100" dirty="0">
                <a:solidFill>
                  <a:srgbClr val="5A6472"/>
                </a:solidFill>
                <a:latin typeface="Calibri" pitchFamily="34" charset="0"/>
                <a:ea typeface="Calibri" pitchFamily="34" charset="-122"/>
                <a:cs typeface="Calibri" pitchFamily="34" charset="-120"/>
              </a:rPr>
              <a:t>question respectfully</a:t>
            </a:r>
            <a:endParaRPr lang="en-US" sz="1400" dirty="0"/>
          </a:p>
        </p:txBody>
      </p:sp>
      <p:sp>
        <p:nvSpPr>
          <p:cNvPr id="45" name="Shape 38"/>
          <p:cNvSpPr/>
          <p:nvPr/>
        </p:nvSpPr>
        <p:spPr>
          <a:xfrm>
            <a:off x="6400800" y="4279392"/>
            <a:ext cx="548640" cy="548640"/>
          </a:xfrm>
          <a:prstGeom prst="ellipse">
            <a:avLst/>
          </a:prstGeom>
          <a:solidFill>
            <a:srgbClr val="1B3B6F"/>
          </a:solidFill>
          <a:ln w="12700">
            <a:solidFill>
              <a:srgbClr val="1B3B6F"/>
            </a:solidFill>
            <a:prstDash val="solid"/>
          </a:ln>
        </p:spPr>
      </p:sp>
      <p:sp>
        <p:nvSpPr>
          <p:cNvPr id="46" name="Text 39"/>
          <p:cNvSpPr txBox="1"/>
          <p:nvPr/>
        </p:nvSpPr>
        <p:spPr>
          <a:xfrm>
            <a:off x="6400800" y="42793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ea typeface="Arial" pitchFamily="34" charset="-122"/>
                <a:cs typeface="Arial" pitchFamily="34" charset="-120"/>
              </a:rPr>
              <a:t>◎</a:t>
            </a:r>
            <a:endParaRPr lang="en-US" sz="1800" dirty="0"/>
          </a:p>
        </p:txBody>
      </p:sp>
      <p:sp>
        <p:nvSpPr>
          <p:cNvPr id="47" name="Text 40"/>
          <p:cNvSpPr txBox="1"/>
          <p:nvPr/>
        </p:nvSpPr>
        <p:spPr>
          <a:xfrm>
            <a:off x="7059168" y="42062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ea typeface="Calibri" pitchFamily="34" charset="-122"/>
                <a:cs typeface="Calibri" pitchFamily="34" charset="-120"/>
              </a:rPr>
              <a:t>Share</a:t>
            </a:r>
            <a:endParaRPr lang="en-US" sz="1400" dirty="0"/>
          </a:p>
          <a:p>
            <a:pPr indent="0" marL="0">
              <a:buNone/>
            </a:pPr>
            <a:r>
              <a:rPr lang="en-US" sz="1100" dirty="0">
                <a:solidFill>
                  <a:srgbClr val="5A6472"/>
                </a:solidFill>
                <a:latin typeface="Calibri" pitchFamily="34" charset="0"/>
                <a:ea typeface="Calibri" pitchFamily="34" charset="-122"/>
                <a:cs typeface="Calibri" pitchFamily="34" charset="-120"/>
              </a:rPr>
              <a:t>anyone may be invited</a:t>
            </a:r>
            <a:endParaRPr lang="en-US" sz="1400" dirty="0"/>
          </a:p>
        </p:txBody>
      </p:sp>
      <p:sp>
        <p:nvSpPr>
          <p:cNvPr id="48" name="Shape 41"/>
          <p:cNvSpPr/>
          <p:nvPr/>
        </p:nvSpPr>
        <p:spPr>
          <a:xfrm>
            <a:off x="8997696" y="4279392"/>
            <a:ext cx="548640" cy="548640"/>
          </a:xfrm>
          <a:prstGeom prst="ellipse">
            <a:avLst/>
          </a:prstGeom>
          <a:solidFill>
            <a:srgbClr val="1B3B6F"/>
          </a:solidFill>
          <a:ln w="12700">
            <a:solidFill>
              <a:srgbClr val="1B3B6F"/>
            </a:solidFill>
            <a:prstDash val="solid"/>
          </a:ln>
        </p:spPr>
      </p:sp>
      <p:sp>
        <p:nvSpPr>
          <p:cNvPr id="49" name="Text 42"/>
          <p:cNvSpPr txBox="1"/>
          <p:nvPr/>
        </p:nvSpPr>
        <p:spPr>
          <a:xfrm>
            <a:off x="8997696" y="42793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ea typeface="Arial" pitchFamily="34" charset="-122"/>
                <a:cs typeface="Arial" pitchFamily="34" charset="-120"/>
              </a:rPr>
              <a:t>↺</a:t>
            </a:r>
            <a:endParaRPr lang="en-US" sz="1800" dirty="0"/>
          </a:p>
        </p:txBody>
      </p:sp>
      <p:sp>
        <p:nvSpPr>
          <p:cNvPr id="50" name="Text 43"/>
          <p:cNvSpPr txBox="1"/>
          <p:nvPr/>
        </p:nvSpPr>
        <p:spPr>
          <a:xfrm>
            <a:off x="9656064" y="42062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ea typeface="Calibri" pitchFamily="34" charset="-122"/>
                <a:cs typeface="Calibri" pitchFamily="34" charset="-120"/>
              </a:rPr>
              <a:t>Summarise</a:t>
            </a:r>
            <a:endParaRPr lang="en-US" sz="1400" dirty="0"/>
          </a:p>
          <a:p>
            <a:pPr indent="0" marL="0">
              <a:buNone/>
            </a:pPr>
            <a:r>
              <a:rPr lang="en-US" sz="1100" dirty="0">
                <a:solidFill>
                  <a:srgbClr val="5A6472"/>
                </a:solidFill>
                <a:latin typeface="Calibri" pitchFamily="34" charset="0"/>
                <a:ea typeface="Calibri" pitchFamily="34" charset="-122"/>
                <a:cs typeface="Calibri" pitchFamily="34" charset="-120"/>
              </a:rPr>
              <a:t>say it more precisely</a:t>
            </a:r>
            <a:endParaRPr lang="en-US" sz="1400" dirty="0"/>
          </a:p>
        </p:txBody>
      </p:sp>
      <p:sp>
        <p:nvSpPr>
          <p:cNvPr id="51" name="Text 44"/>
          <p:cNvSpPr txBox="1"/>
          <p:nvPr/>
        </p:nvSpPr>
        <p:spPr>
          <a:xfrm>
            <a:off x="6400800" y="5230368"/>
            <a:ext cx="5102352" cy="694944"/>
          </a:xfrm>
          <a:prstGeom prst="rect">
            <a:avLst/>
          </a:prstGeom>
          <a:noFill/>
          <a:ln/>
        </p:spPr>
        <p:txBody>
          <a:bodyPr wrap="square" lIns="0" tIns="0" rIns="0" bIns="0" rtlCol="0" anchor="ctr"/>
          <a:lstStyle/>
          <a:p>
            <a:pPr algn="l" indent="0" marL="0">
              <a:buNone/>
            </a:pPr>
            <a:r>
              <a:rPr lang="en-US" sz="1150" i="1" dirty="0">
                <a:solidFill>
                  <a:srgbClr val="8A6D1E"/>
                </a:solidFill>
                <a:latin typeface="Calibri" pitchFamily="34" charset="0"/>
                <a:ea typeface="Calibri" pitchFamily="34" charset="-122"/>
                <a:cs typeface="Calibri" pitchFamily="34" charset="-120"/>
              </a:rPr>
              <a:t>I will always give you thinking and practice time before I ask anyone. Reading aloud is by invitation — you can always say “pass, please come back to me”.</a:t>
            </a:r>
            <a:endParaRPr lang="en-US" sz="1150" dirty="0"/>
          </a:p>
        </p:txBody>
      </p:sp>
      <p:sp>
        <p:nvSpPr>
          <p:cNvPr id="52" name="Text 4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ea typeface="Calibri" pitchFamily="34" charset="-122"/>
                <a:cs typeface="Calibri" pitchFamily="34" charset="-120"/>
              </a:rPr>
              <a:t>2 / 36</a:t>
            </a:r>
            <a:endParaRPr lang="en-US" sz="8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34" charset="0"/>
                <a:ea typeface="Amiri" pitchFamily="34" charset="-122"/>
                <a:cs typeface="Amiri" pitchFamily="34" charset="-120"/>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ea typeface="Cambria" pitchFamily="34" charset="-122"/>
                <a:cs typeface="Cambria" pitchFamily="34" charset="-120"/>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ea typeface="Calibri" pitchFamily="34" charset="-122"/>
                <a:cs typeface="Calibri" pitchFamily="34" charset="-120"/>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ea typeface="Calibri" pitchFamily="34" charset="-122"/>
                <a:cs typeface="Calibri" pitchFamily="34" charset="-120"/>
              </a:rPr>
              <a:t>F2-L05 · Masculine &amp; Feminine</a:t>
            </a:r>
            <a:endParaRPr lang="en-US" sz="950" dirty="0"/>
          </a:p>
        </p:txBody>
      </p:sp>
      <p:sp>
        <p:nvSpPr>
          <p:cNvPr id="8" name="Shape 6"/>
          <p:cNvSpPr/>
          <p:nvPr/>
        </p:nvSpPr>
        <p:spPr>
          <a:xfrm>
            <a:off x="7388352" y="274320"/>
            <a:ext cx="1371600" cy="329184"/>
          </a:xfrm>
          <a:prstGeom prst="roundRect">
            <a:avLst>
              <a:gd name="adj" fmla="val 50000"/>
            </a:avLst>
          </a:prstGeom>
          <a:solidFill>
            <a:srgbClr val="5A6472"/>
          </a:solidFill>
          <a:ln w="12700">
            <a:solidFill>
              <a:srgbClr val="5A6472"/>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ea typeface="Calibri" pitchFamily="34" charset="-122"/>
                <a:cs typeface="Calibri" pitchFamily="34" charset="-120"/>
              </a:rPr>
              <a:t>WELCOME</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5A6472"/>
                </a:solidFill>
                <a:latin typeface="Calibri" pitchFamily="34" charset="0"/>
                <a:ea typeface="Calibri" pitchFamily="34" charset="-122"/>
                <a:cs typeface="Calibri" pitchFamily="34" charset="-120"/>
              </a:rPr>
              <a:t>TODAY’S LESSON MAP</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ea typeface="Cambria" pitchFamily="34" charset="-122"/>
                <a:cs typeface="Cambria" pitchFamily="34" charset="-120"/>
              </a:rPr>
              <a:t>Our lesson today, step by step</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34" charset="0"/>
                <a:ea typeface="Amiri" pitchFamily="34" charset="-122"/>
                <a:cs typeface="Amiri" pitchFamily="34" charset="-120"/>
              </a:rPr>
              <a:t>خَرِيطَةُ الدَّرْسِ</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ea typeface="Calibri" pitchFamily="34" charset="-122"/>
                <a:cs typeface="Calibri" pitchFamily="34" charset="-120"/>
              </a:rPr>
              <a:t>Miftah Arabic · Foundation F2 · Greetings &amp; Introductions · Week 2 · Lesson 2 of 3</a:t>
            </a:r>
            <a:endParaRPr lang="en-US" sz="850" dirty="0"/>
          </a:p>
        </p:txBody>
      </p:sp>
      <p:sp>
        <p:nvSpPr>
          <p:cNvPr id="15" name="Shape 12"/>
          <p:cNvSpPr/>
          <p:nvPr/>
        </p:nvSpPr>
        <p:spPr>
          <a:xfrm>
            <a:off x="457200"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66928" y="1938528"/>
            <a:ext cx="1281466" cy="566928"/>
          </a:xfrm>
          <a:prstGeom prst="roundRect">
            <a:avLst>
              <a:gd name="adj" fmla="val 9677"/>
            </a:avLst>
          </a:prstGeom>
          <a:solidFill>
            <a:srgbClr val="0E7C86"/>
          </a:solidFill>
          <a:ln w="12700">
            <a:solidFill>
              <a:srgbClr val="0E7C86"/>
            </a:solidFill>
            <a:prstDash val="solid"/>
          </a:ln>
        </p:spPr>
      </p:sp>
      <p:sp>
        <p:nvSpPr>
          <p:cNvPr id="17" name="Text 14"/>
          <p:cNvSpPr txBox="1"/>
          <p:nvPr/>
        </p:nvSpPr>
        <p:spPr>
          <a:xfrm>
            <a:off x="603504"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ea typeface="Calibri" pitchFamily="34" charset="-122"/>
                <a:cs typeface="Calibri" pitchFamily="34" charset="-120"/>
              </a:rPr>
              <a:t>DO NOW</a:t>
            </a:r>
            <a:endParaRPr lang="en-US" sz="1000" dirty="0"/>
          </a:p>
        </p:txBody>
      </p:sp>
      <p:sp>
        <p:nvSpPr>
          <p:cNvPr id="18" name="Text 15"/>
          <p:cNvSpPr txBox="1"/>
          <p:nvPr/>
        </p:nvSpPr>
        <p:spPr>
          <a:xfrm>
            <a:off x="603504"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ea typeface="Calibri" pitchFamily="34" charset="-122"/>
                <a:cs typeface="Calibri" pitchFamily="34" charset="-120"/>
              </a:rPr>
              <a:t>7 min</a:t>
            </a:r>
            <a:endParaRPr lang="en-US" sz="1000" dirty="0"/>
          </a:p>
        </p:txBody>
      </p:sp>
      <p:sp>
        <p:nvSpPr>
          <p:cNvPr id="19" name="Shape 16"/>
          <p:cNvSpPr/>
          <p:nvPr/>
        </p:nvSpPr>
        <p:spPr>
          <a:xfrm>
            <a:off x="1006493" y="2651760"/>
            <a:ext cx="402336" cy="402336"/>
          </a:xfrm>
          <a:prstGeom prst="ellipse">
            <a:avLst/>
          </a:prstGeom>
          <a:solidFill>
            <a:srgbClr val="F4F1EA"/>
          </a:solidFill>
          <a:ln w="12700">
            <a:solidFill>
              <a:srgbClr val="F4F1EA"/>
            </a:solidFill>
            <a:prstDash val="solid"/>
          </a:ln>
        </p:spPr>
      </p:sp>
      <p:sp>
        <p:nvSpPr>
          <p:cNvPr id="20" name="Text 17"/>
          <p:cNvSpPr txBox="1"/>
          <p:nvPr/>
        </p:nvSpPr>
        <p:spPr>
          <a:xfrm>
            <a:off x="1006493"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ea typeface="Calibri" pitchFamily="34" charset="-122"/>
                <a:cs typeface="Calibri" pitchFamily="34" charset="-120"/>
              </a:rPr>
              <a:t>1</a:t>
            </a:r>
            <a:endParaRPr lang="en-US" sz="1300" dirty="0"/>
          </a:p>
        </p:txBody>
      </p:sp>
      <p:sp>
        <p:nvSpPr>
          <p:cNvPr id="21" name="Text 18"/>
          <p:cNvSpPr txBox="1"/>
          <p:nvPr/>
        </p:nvSpPr>
        <p:spPr>
          <a:xfrm>
            <a:off x="585216"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ea typeface="Calibri" pitchFamily="34" charset="-122"/>
                <a:cs typeface="Calibri" pitchFamily="34" charset="-120"/>
              </a:rPr>
              <a:t>Retrieval quiz on your own, then we check together.</a:t>
            </a:r>
            <a:endParaRPr lang="en-US" sz="1200" dirty="0"/>
          </a:p>
        </p:txBody>
      </p:sp>
      <p:sp>
        <p:nvSpPr>
          <p:cNvPr id="22" name="Text 19"/>
          <p:cNvSpPr txBox="1"/>
          <p:nvPr/>
        </p:nvSpPr>
        <p:spPr>
          <a:xfrm>
            <a:off x="548640"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0E7C86"/>
                </a:solidFill>
                <a:latin typeface="Amiri" pitchFamily="34" charset="0"/>
                <a:ea typeface="Amiri" pitchFamily="34" charset="-122"/>
                <a:cs typeface="Amiri" pitchFamily="34" charset="-120"/>
              </a:rPr>
              <a:t>اِبْدَأِ الآنَ</a:t>
            </a:r>
            <a:endParaRPr lang="ar-SA" sz="1500" dirty="0"/>
          </a:p>
        </p:txBody>
      </p:sp>
      <p:sp>
        <p:nvSpPr>
          <p:cNvPr id="23" name="Shape 20"/>
          <p:cNvSpPr/>
          <p:nvPr/>
        </p:nvSpPr>
        <p:spPr>
          <a:xfrm>
            <a:off x="2086138"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4" name="Shape 21"/>
          <p:cNvSpPr/>
          <p:nvPr/>
        </p:nvSpPr>
        <p:spPr>
          <a:xfrm>
            <a:off x="2195866" y="1938528"/>
            <a:ext cx="1281466" cy="566928"/>
          </a:xfrm>
          <a:prstGeom prst="roundRect">
            <a:avLst>
              <a:gd name="adj" fmla="val 9677"/>
            </a:avLst>
          </a:prstGeom>
          <a:solidFill>
            <a:srgbClr val="1B3B6F"/>
          </a:solidFill>
          <a:ln w="12700">
            <a:solidFill>
              <a:srgbClr val="1B3B6F"/>
            </a:solidFill>
            <a:prstDash val="solid"/>
          </a:ln>
        </p:spPr>
      </p:sp>
      <p:sp>
        <p:nvSpPr>
          <p:cNvPr id="25" name="Text 22"/>
          <p:cNvSpPr txBox="1"/>
          <p:nvPr/>
        </p:nvSpPr>
        <p:spPr>
          <a:xfrm>
            <a:off x="2232442"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ea typeface="Calibri" pitchFamily="34" charset="-122"/>
                <a:cs typeface="Calibri" pitchFamily="34" charset="-120"/>
              </a:rPr>
              <a:t>TEACHER INSTRUCTION</a:t>
            </a:r>
            <a:endParaRPr lang="en-US" sz="1000" dirty="0"/>
          </a:p>
        </p:txBody>
      </p:sp>
      <p:sp>
        <p:nvSpPr>
          <p:cNvPr id="26" name="Text 23"/>
          <p:cNvSpPr txBox="1"/>
          <p:nvPr/>
        </p:nvSpPr>
        <p:spPr>
          <a:xfrm>
            <a:off x="2232442"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ea typeface="Calibri" pitchFamily="34" charset="-122"/>
                <a:cs typeface="Calibri" pitchFamily="34" charset="-120"/>
              </a:rPr>
              <a:t>14 min</a:t>
            </a:r>
            <a:endParaRPr lang="en-US" sz="1000" dirty="0"/>
          </a:p>
        </p:txBody>
      </p:sp>
      <p:sp>
        <p:nvSpPr>
          <p:cNvPr id="27" name="Shape 24"/>
          <p:cNvSpPr/>
          <p:nvPr/>
        </p:nvSpPr>
        <p:spPr>
          <a:xfrm>
            <a:off x="2635431" y="2651760"/>
            <a:ext cx="402336" cy="402336"/>
          </a:xfrm>
          <a:prstGeom prst="ellipse">
            <a:avLst/>
          </a:prstGeom>
          <a:solidFill>
            <a:srgbClr val="F4F1EA"/>
          </a:solidFill>
          <a:ln w="12700">
            <a:solidFill>
              <a:srgbClr val="F4F1EA"/>
            </a:solidFill>
            <a:prstDash val="solid"/>
          </a:ln>
        </p:spPr>
      </p:sp>
      <p:sp>
        <p:nvSpPr>
          <p:cNvPr id="28" name="Text 25"/>
          <p:cNvSpPr txBox="1"/>
          <p:nvPr/>
        </p:nvSpPr>
        <p:spPr>
          <a:xfrm>
            <a:off x="2635431"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ea typeface="Calibri" pitchFamily="34" charset="-122"/>
                <a:cs typeface="Calibri" pitchFamily="34" charset="-120"/>
              </a:rPr>
              <a:t>2</a:t>
            </a:r>
            <a:endParaRPr lang="en-US" sz="1300" dirty="0"/>
          </a:p>
        </p:txBody>
      </p:sp>
      <p:sp>
        <p:nvSpPr>
          <p:cNvPr id="29" name="Text 26"/>
          <p:cNvSpPr txBox="1"/>
          <p:nvPr/>
        </p:nvSpPr>
        <p:spPr>
          <a:xfrm>
            <a:off x="2214154"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ea typeface="Calibri" pitchFamily="34" charset="-122"/>
                <a:cs typeface="Calibri" pitchFamily="34" charset="-120"/>
              </a:rPr>
              <a:t>People words, the </a:t>
            </a:r>
            <a:pPr algn="ctr" indent="0" marL="0">
              <a:buNone/>
            </a:pPr>
            <a:r>
              <a:rPr lang="ar-SA" altLang="en-US" sz="1550" dirty="0">
                <a:solidFill>
                  <a:srgbClr val="1F2A37"/>
                </a:solidFill>
                <a:latin typeface="Amiri" pitchFamily="34" charset="0"/>
                <a:ea typeface="Amiri" pitchFamily="34" charset="-122"/>
                <a:cs typeface="Amiri" pitchFamily="34" charset="-120"/>
              </a:rPr>
              <a:t>ة</a:t>
            </a:r>
            <a:pPr algn="ctr" indent="0" marL="0">
              <a:buNone/>
            </a:pPr>
            <a:r>
              <a:rPr lang="en-US" sz="1200" dirty="0">
                <a:solidFill>
                  <a:srgbClr val="1F2A37"/>
                </a:solidFill>
                <a:latin typeface="Calibri" pitchFamily="34" charset="0"/>
                <a:ea typeface="Calibri" pitchFamily="34" charset="-122"/>
                <a:cs typeface="Calibri" pitchFamily="34" charset="-120"/>
              </a:rPr>
              <a:t> clue, then adjectives that match.</a:t>
            </a:r>
            <a:endParaRPr lang="en-US" sz="1200" dirty="0"/>
          </a:p>
        </p:txBody>
      </p:sp>
      <p:sp>
        <p:nvSpPr>
          <p:cNvPr id="30" name="Text 27"/>
          <p:cNvSpPr txBox="1"/>
          <p:nvPr/>
        </p:nvSpPr>
        <p:spPr>
          <a:xfrm>
            <a:off x="2177578"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34" charset="0"/>
                <a:ea typeface="Amiri" pitchFamily="34" charset="-122"/>
                <a:cs typeface="Amiri" pitchFamily="34" charset="-120"/>
              </a:rPr>
              <a:t>كَلِمَاتٌ وَقَوَاعِدُ</a:t>
            </a:r>
            <a:endParaRPr lang="ar-SA" sz="1500" dirty="0"/>
          </a:p>
        </p:txBody>
      </p:sp>
      <p:sp>
        <p:nvSpPr>
          <p:cNvPr id="31" name="Shape 28"/>
          <p:cNvSpPr/>
          <p:nvPr/>
        </p:nvSpPr>
        <p:spPr>
          <a:xfrm>
            <a:off x="3715077"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2" name="Shape 29"/>
          <p:cNvSpPr/>
          <p:nvPr/>
        </p:nvSpPr>
        <p:spPr>
          <a:xfrm>
            <a:off x="3824805" y="1938528"/>
            <a:ext cx="1281466" cy="566928"/>
          </a:xfrm>
          <a:prstGeom prst="roundRect">
            <a:avLst>
              <a:gd name="adj" fmla="val 9677"/>
            </a:avLst>
          </a:prstGeom>
          <a:solidFill>
            <a:srgbClr val="6B4C9A"/>
          </a:solidFill>
          <a:ln w="12700">
            <a:solidFill>
              <a:srgbClr val="6B4C9A"/>
            </a:solidFill>
            <a:prstDash val="solid"/>
          </a:ln>
        </p:spPr>
      </p:sp>
      <p:sp>
        <p:nvSpPr>
          <p:cNvPr id="33" name="Text 30"/>
          <p:cNvSpPr txBox="1"/>
          <p:nvPr/>
        </p:nvSpPr>
        <p:spPr>
          <a:xfrm>
            <a:off x="3861381"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ea typeface="Calibri" pitchFamily="34" charset="-122"/>
                <a:cs typeface="Calibri" pitchFamily="34" charset="-120"/>
              </a:rPr>
              <a:t>I DO</a:t>
            </a:r>
            <a:endParaRPr lang="en-US" sz="1000" dirty="0"/>
          </a:p>
        </p:txBody>
      </p:sp>
      <p:sp>
        <p:nvSpPr>
          <p:cNvPr id="34" name="Text 31"/>
          <p:cNvSpPr txBox="1"/>
          <p:nvPr/>
        </p:nvSpPr>
        <p:spPr>
          <a:xfrm>
            <a:off x="3861381"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ea typeface="Calibri" pitchFamily="34" charset="-122"/>
                <a:cs typeface="Calibri" pitchFamily="34" charset="-120"/>
              </a:rPr>
              <a:t>3 min</a:t>
            </a:r>
            <a:endParaRPr lang="en-US" sz="1000" dirty="0"/>
          </a:p>
        </p:txBody>
      </p:sp>
      <p:sp>
        <p:nvSpPr>
          <p:cNvPr id="35" name="Shape 32"/>
          <p:cNvSpPr/>
          <p:nvPr/>
        </p:nvSpPr>
        <p:spPr>
          <a:xfrm>
            <a:off x="4264370" y="2651760"/>
            <a:ext cx="402336" cy="402336"/>
          </a:xfrm>
          <a:prstGeom prst="ellipse">
            <a:avLst/>
          </a:prstGeom>
          <a:solidFill>
            <a:srgbClr val="F4F1EA"/>
          </a:solidFill>
          <a:ln w="12700">
            <a:solidFill>
              <a:srgbClr val="F4F1EA"/>
            </a:solidFill>
            <a:prstDash val="solid"/>
          </a:ln>
        </p:spPr>
      </p:sp>
      <p:sp>
        <p:nvSpPr>
          <p:cNvPr id="36" name="Text 33"/>
          <p:cNvSpPr txBox="1"/>
          <p:nvPr/>
        </p:nvSpPr>
        <p:spPr>
          <a:xfrm>
            <a:off x="4264370"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ea typeface="Calibri" pitchFamily="34" charset="-122"/>
                <a:cs typeface="Calibri" pitchFamily="34" charset="-120"/>
              </a:rPr>
              <a:t>3</a:t>
            </a:r>
            <a:endParaRPr lang="en-US" sz="1300" dirty="0"/>
          </a:p>
        </p:txBody>
      </p:sp>
      <p:sp>
        <p:nvSpPr>
          <p:cNvPr id="37" name="Text 34"/>
          <p:cNvSpPr txBox="1"/>
          <p:nvPr/>
        </p:nvSpPr>
        <p:spPr>
          <a:xfrm>
            <a:off x="3843093"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ea typeface="Calibri" pitchFamily="34" charset="-122"/>
                <a:cs typeface="Calibri" pitchFamily="34" charset="-120"/>
              </a:rPr>
              <a:t>Watch me build one sentence. Copy it into your book.</a:t>
            </a:r>
            <a:endParaRPr lang="en-US" sz="1200" dirty="0"/>
          </a:p>
        </p:txBody>
      </p:sp>
      <p:sp>
        <p:nvSpPr>
          <p:cNvPr id="38" name="Text 35"/>
          <p:cNvSpPr txBox="1"/>
          <p:nvPr/>
        </p:nvSpPr>
        <p:spPr>
          <a:xfrm>
            <a:off x="3806517"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6B4C9A"/>
                </a:solidFill>
                <a:latin typeface="Amiri" pitchFamily="34" charset="0"/>
                <a:ea typeface="Amiri" pitchFamily="34" charset="-122"/>
                <a:cs typeface="Amiri" pitchFamily="34" charset="-120"/>
              </a:rPr>
              <a:t>شَاهِدْ</a:t>
            </a:r>
            <a:endParaRPr lang="ar-SA" sz="1500" dirty="0"/>
          </a:p>
        </p:txBody>
      </p:sp>
      <p:sp>
        <p:nvSpPr>
          <p:cNvPr id="39" name="Shape 36"/>
          <p:cNvSpPr/>
          <p:nvPr/>
        </p:nvSpPr>
        <p:spPr>
          <a:xfrm>
            <a:off x="5344015"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0" name="Shape 37"/>
          <p:cNvSpPr/>
          <p:nvPr/>
        </p:nvSpPr>
        <p:spPr>
          <a:xfrm>
            <a:off x="5453743" y="1938528"/>
            <a:ext cx="1281466" cy="566928"/>
          </a:xfrm>
          <a:prstGeom prst="roundRect">
            <a:avLst>
              <a:gd name="adj" fmla="val 9677"/>
            </a:avLst>
          </a:prstGeom>
          <a:solidFill>
            <a:srgbClr val="2F6FB0"/>
          </a:solidFill>
          <a:ln w="12700">
            <a:solidFill>
              <a:srgbClr val="2F6FB0"/>
            </a:solidFill>
            <a:prstDash val="solid"/>
          </a:ln>
        </p:spPr>
      </p:sp>
      <p:sp>
        <p:nvSpPr>
          <p:cNvPr id="41" name="Text 38"/>
          <p:cNvSpPr txBox="1"/>
          <p:nvPr/>
        </p:nvSpPr>
        <p:spPr>
          <a:xfrm>
            <a:off x="5490319"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ea typeface="Calibri" pitchFamily="34" charset="-122"/>
                <a:cs typeface="Calibri" pitchFamily="34" charset="-120"/>
              </a:rPr>
              <a:t>WE DO</a:t>
            </a:r>
            <a:endParaRPr lang="en-US" sz="1000" dirty="0"/>
          </a:p>
        </p:txBody>
      </p:sp>
      <p:sp>
        <p:nvSpPr>
          <p:cNvPr id="42" name="Text 39"/>
          <p:cNvSpPr txBox="1"/>
          <p:nvPr/>
        </p:nvSpPr>
        <p:spPr>
          <a:xfrm>
            <a:off x="5490319"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ea typeface="Calibri" pitchFamily="34" charset="-122"/>
                <a:cs typeface="Calibri" pitchFamily="34" charset="-120"/>
              </a:rPr>
              <a:t>9 min</a:t>
            </a:r>
            <a:endParaRPr lang="en-US" sz="1000" dirty="0"/>
          </a:p>
        </p:txBody>
      </p:sp>
      <p:sp>
        <p:nvSpPr>
          <p:cNvPr id="43" name="Shape 40"/>
          <p:cNvSpPr/>
          <p:nvPr/>
        </p:nvSpPr>
        <p:spPr>
          <a:xfrm>
            <a:off x="5893308" y="2651760"/>
            <a:ext cx="402336" cy="402336"/>
          </a:xfrm>
          <a:prstGeom prst="ellipse">
            <a:avLst/>
          </a:prstGeom>
          <a:solidFill>
            <a:srgbClr val="F4F1EA"/>
          </a:solidFill>
          <a:ln w="12700">
            <a:solidFill>
              <a:srgbClr val="F4F1EA"/>
            </a:solidFill>
            <a:prstDash val="solid"/>
          </a:ln>
        </p:spPr>
      </p:sp>
      <p:sp>
        <p:nvSpPr>
          <p:cNvPr id="44" name="Text 41"/>
          <p:cNvSpPr txBox="1"/>
          <p:nvPr/>
        </p:nvSpPr>
        <p:spPr>
          <a:xfrm>
            <a:off x="5893308"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ea typeface="Calibri" pitchFamily="34" charset="-122"/>
                <a:cs typeface="Calibri" pitchFamily="34" charset="-120"/>
              </a:rPr>
              <a:t>4</a:t>
            </a:r>
            <a:endParaRPr lang="en-US" sz="1300" dirty="0"/>
          </a:p>
        </p:txBody>
      </p:sp>
      <p:sp>
        <p:nvSpPr>
          <p:cNvPr id="45" name="Text 42"/>
          <p:cNvSpPr txBox="1"/>
          <p:nvPr/>
        </p:nvSpPr>
        <p:spPr>
          <a:xfrm>
            <a:off x="5472031"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ea typeface="Calibri" pitchFamily="34" charset="-122"/>
                <a:cs typeface="Calibri" pitchFamily="34" charset="-120"/>
              </a:rPr>
              <a:t>Gender Detective, picture match, listen and read.</a:t>
            </a:r>
            <a:endParaRPr lang="en-US" sz="1200" dirty="0"/>
          </a:p>
        </p:txBody>
      </p:sp>
      <p:sp>
        <p:nvSpPr>
          <p:cNvPr id="46" name="Text 43"/>
          <p:cNvSpPr txBox="1"/>
          <p:nvPr/>
        </p:nvSpPr>
        <p:spPr>
          <a:xfrm>
            <a:off x="5435455"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2F6FB0"/>
                </a:solidFill>
                <a:latin typeface="Amiri" pitchFamily="34" charset="0"/>
                <a:ea typeface="Amiri" pitchFamily="34" charset="-122"/>
                <a:cs typeface="Amiri" pitchFamily="34" charset="-120"/>
              </a:rPr>
              <a:t>مَعًا</a:t>
            </a:r>
            <a:endParaRPr lang="ar-SA" sz="1500" dirty="0"/>
          </a:p>
        </p:txBody>
      </p:sp>
      <p:sp>
        <p:nvSpPr>
          <p:cNvPr id="47" name="Shape 44"/>
          <p:cNvSpPr/>
          <p:nvPr/>
        </p:nvSpPr>
        <p:spPr>
          <a:xfrm>
            <a:off x="6972953"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8" name="Shape 45"/>
          <p:cNvSpPr/>
          <p:nvPr/>
        </p:nvSpPr>
        <p:spPr>
          <a:xfrm>
            <a:off x="7082681" y="1938528"/>
            <a:ext cx="1281466" cy="566928"/>
          </a:xfrm>
          <a:prstGeom prst="roundRect">
            <a:avLst>
              <a:gd name="adj" fmla="val 9677"/>
            </a:avLst>
          </a:prstGeom>
          <a:solidFill>
            <a:srgbClr val="1E6B52"/>
          </a:solidFill>
          <a:ln w="12700">
            <a:solidFill>
              <a:srgbClr val="1E6B52"/>
            </a:solidFill>
            <a:prstDash val="solid"/>
          </a:ln>
        </p:spPr>
      </p:sp>
      <p:sp>
        <p:nvSpPr>
          <p:cNvPr id="49" name="Text 46"/>
          <p:cNvSpPr txBox="1"/>
          <p:nvPr/>
        </p:nvSpPr>
        <p:spPr>
          <a:xfrm>
            <a:off x="7119257"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ea typeface="Calibri" pitchFamily="34" charset="-122"/>
                <a:cs typeface="Calibri" pitchFamily="34" charset="-120"/>
              </a:rPr>
              <a:t>YOU DO</a:t>
            </a:r>
            <a:endParaRPr lang="en-US" sz="1000" dirty="0"/>
          </a:p>
        </p:txBody>
      </p:sp>
      <p:sp>
        <p:nvSpPr>
          <p:cNvPr id="50" name="Text 47"/>
          <p:cNvSpPr txBox="1"/>
          <p:nvPr/>
        </p:nvSpPr>
        <p:spPr>
          <a:xfrm>
            <a:off x="7119257"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ea typeface="Calibri" pitchFamily="34" charset="-122"/>
                <a:cs typeface="Calibri" pitchFamily="34" charset="-120"/>
              </a:rPr>
              <a:t>12 min</a:t>
            </a:r>
            <a:endParaRPr lang="en-US" sz="1000" dirty="0"/>
          </a:p>
        </p:txBody>
      </p:sp>
      <p:sp>
        <p:nvSpPr>
          <p:cNvPr id="51" name="Shape 48"/>
          <p:cNvSpPr/>
          <p:nvPr/>
        </p:nvSpPr>
        <p:spPr>
          <a:xfrm>
            <a:off x="7522246" y="2651760"/>
            <a:ext cx="402336" cy="402336"/>
          </a:xfrm>
          <a:prstGeom prst="ellipse">
            <a:avLst/>
          </a:prstGeom>
          <a:solidFill>
            <a:srgbClr val="F4F1EA"/>
          </a:solidFill>
          <a:ln w="12700">
            <a:solidFill>
              <a:srgbClr val="F4F1EA"/>
            </a:solidFill>
            <a:prstDash val="solid"/>
          </a:ln>
        </p:spPr>
      </p:sp>
      <p:sp>
        <p:nvSpPr>
          <p:cNvPr id="52" name="Text 49"/>
          <p:cNvSpPr txBox="1"/>
          <p:nvPr/>
        </p:nvSpPr>
        <p:spPr>
          <a:xfrm>
            <a:off x="7522246"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ea typeface="Calibri" pitchFamily="34" charset="-122"/>
                <a:cs typeface="Calibri" pitchFamily="34" charset="-120"/>
              </a:rPr>
              <a:t>5</a:t>
            </a:r>
            <a:endParaRPr lang="en-US" sz="1300" dirty="0"/>
          </a:p>
        </p:txBody>
      </p:sp>
      <p:sp>
        <p:nvSpPr>
          <p:cNvPr id="53" name="Text 50"/>
          <p:cNvSpPr txBox="1"/>
          <p:nvPr/>
        </p:nvSpPr>
        <p:spPr>
          <a:xfrm>
            <a:off x="7100969"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ea typeface="Calibri" pitchFamily="34" charset="-122"/>
                <a:cs typeface="Calibri" pitchFamily="34" charset="-120"/>
              </a:rPr>
              <a:t>Speak first, then write on your route.</a:t>
            </a:r>
            <a:endParaRPr lang="en-US" sz="1200" dirty="0"/>
          </a:p>
        </p:txBody>
      </p:sp>
      <p:sp>
        <p:nvSpPr>
          <p:cNvPr id="54" name="Text 51"/>
          <p:cNvSpPr txBox="1"/>
          <p:nvPr/>
        </p:nvSpPr>
        <p:spPr>
          <a:xfrm>
            <a:off x="7064393"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1E6B52"/>
                </a:solidFill>
                <a:latin typeface="Amiri" pitchFamily="34" charset="0"/>
                <a:ea typeface="Amiri" pitchFamily="34" charset="-122"/>
                <a:cs typeface="Amiri" pitchFamily="34" charset="-120"/>
              </a:rPr>
              <a:t>وَحْدَكَ</a:t>
            </a:r>
            <a:endParaRPr lang="ar-SA" sz="1500" dirty="0"/>
          </a:p>
        </p:txBody>
      </p:sp>
      <p:sp>
        <p:nvSpPr>
          <p:cNvPr id="55" name="Shape 52"/>
          <p:cNvSpPr/>
          <p:nvPr/>
        </p:nvSpPr>
        <p:spPr>
          <a:xfrm>
            <a:off x="8601891"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6" name="Shape 53"/>
          <p:cNvSpPr/>
          <p:nvPr/>
        </p:nvSpPr>
        <p:spPr>
          <a:xfrm>
            <a:off x="8711619" y="1938528"/>
            <a:ext cx="1281466" cy="566928"/>
          </a:xfrm>
          <a:prstGeom prst="roundRect">
            <a:avLst>
              <a:gd name="adj" fmla="val 9677"/>
            </a:avLst>
          </a:prstGeom>
          <a:solidFill>
            <a:srgbClr val="8A6D1E"/>
          </a:solidFill>
          <a:ln w="12700">
            <a:solidFill>
              <a:srgbClr val="8A6D1E"/>
            </a:solidFill>
            <a:prstDash val="solid"/>
          </a:ln>
        </p:spPr>
      </p:sp>
      <p:sp>
        <p:nvSpPr>
          <p:cNvPr id="57" name="Text 54"/>
          <p:cNvSpPr txBox="1"/>
          <p:nvPr/>
        </p:nvSpPr>
        <p:spPr>
          <a:xfrm>
            <a:off x="8748195"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ea typeface="Calibri" pitchFamily="34" charset="-122"/>
                <a:cs typeface="Calibri" pitchFamily="34" charset="-120"/>
              </a:rPr>
              <a:t>FEEDBACK</a:t>
            </a:r>
            <a:endParaRPr lang="en-US" sz="1000" dirty="0"/>
          </a:p>
        </p:txBody>
      </p:sp>
      <p:sp>
        <p:nvSpPr>
          <p:cNvPr id="58" name="Text 55"/>
          <p:cNvSpPr txBox="1"/>
          <p:nvPr/>
        </p:nvSpPr>
        <p:spPr>
          <a:xfrm>
            <a:off x="8748195"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ea typeface="Calibri" pitchFamily="34" charset="-122"/>
                <a:cs typeface="Calibri" pitchFamily="34" charset="-120"/>
              </a:rPr>
              <a:t>5 min</a:t>
            </a:r>
            <a:endParaRPr lang="en-US" sz="1000" dirty="0"/>
          </a:p>
        </p:txBody>
      </p:sp>
      <p:sp>
        <p:nvSpPr>
          <p:cNvPr id="59" name="Shape 56"/>
          <p:cNvSpPr/>
          <p:nvPr/>
        </p:nvSpPr>
        <p:spPr>
          <a:xfrm>
            <a:off x="9151185" y="2651760"/>
            <a:ext cx="402336" cy="402336"/>
          </a:xfrm>
          <a:prstGeom prst="ellipse">
            <a:avLst/>
          </a:prstGeom>
          <a:solidFill>
            <a:srgbClr val="F4F1EA"/>
          </a:solidFill>
          <a:ln w="12700">
            <a:solidFill>
              <a:srgbClr val="F4F1EA"/>
            </a:solidFill>
            <a:prstDash val="solid"/>
          </a:ln>
        </p:spPr>
      </p:sp>
      <p:sp>
        <p:nvSpPr>
          <p:cNvPr id="60" name="Text 57"/>
          <p:cNvSpPr txBox="1"/>
          <p:nvPr/>
        </p:nvSpPr>
        <p:spPr>
          <a:xfrm>
            <a:off x="9151185"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ea typeface="Calibri" pitchFamily="34" charset="-122"/>
                <a:cs typeface="Calibri" pitchFamily="34" charset="-120"/>
              </a:rPr>
              <a:t>6</a:t>
            </a:r>
            <a:endParaRPr lang="en-US" sz="1300" dirty="0"/>
          </a:p>
        </p:txBody>
      </p:sp>
      <p:sp>
        <p:nvSpPr>
          <p:cNvPr id="61" name="Text 58"/>
          <p:cNvSpPr txBox="1"/>
          <p:nvPr/>
        </p:nvSpPr>
        <p:spPr>
          <a:xfrm>
            <a:off x="8729907"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ea typeface="Calibri" pitchFamily="34" charset="-122"/>
                <a:cs typeface="Calibri" pitchFamily="34" charset="-120"/>
              </a:rPr>
              <a:t>Compare with a model and complete the exit ticket.</a:t>
            </a:r>
            <a:endParaRPr lang="en-US" sz="1200" dirty="0"/>
          </a:p>
        </p:txBody>
      </p:sp>
      <p:sp>
        <p:nvSpPr>
          <p:cNvPr id="62" name="Text 59"/>
          <p:cNvSpPr txBox="1"/>
          <p:nvPr/>
        </p:nvSpPr>
        <p:spPr>
          <a:xfrm>
            <a:off x="8693331"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8A6D1E"/>
                </a:solidFill>
                <a:latin typeface="Amiri" pitchFamily="34" charset="0"/>
                <a:ea typeface="Amiri" pitchFamily="34" charset="-122"/>
                <a:cs typeface="Amiri" pitchFamily="34" charset="-120"/>
              </a:rPr>
              <a:t>قَيِّمْ عَمَلَكَ</a:t>
            </a:r>
            <a:endParaRPr lang="ar-SA" sz="1500" dirty="0"/>
          </a:p>
        </p:txBody>
      </p:sp>
      <p:sp>
        <p:nvSpPr>
          <p:cNvPr id="63" name="Shape 60"/>
          <p:cNvSpPr/>
          <p:nvPr/>
        </p:nvSpPr>
        <p:spPr>
          <a:xfrm>
            <a:off x="10230830"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4" name="Shape 61"/>
          <p:cNvSpPr/>
          <p:nvPr/>
        </p:nvSpPr>
        <p:spPr>
          <a:xfrm>
            <a:off x="10340558" y="1938528"/>
            <a:ext cx="1281466" cy="566928"/>
          </a:xfrm>
          <a:prstGeom prst="roundRect">
            <a:avLst>
              <a:gd name="adj" fmla="val 9677"/>
            </a:avLst>
          </a:prstGeom>
          <a:solidFill>
            <a:srgbClr val="C45A3C"/>
          </a:solidFill>
          <a:ln w="12700">
            <a:solidFill>
              <a:srgbClr val="C45A3C"/>
            </a:solidFill>
            <a:prstDash val="solid"/>
          </a:ln>
        </p:spPr>
      </p:sp>
      <p:sp>
        <p:nvSpPr>
          <p:cNvPr id="65" name="Text 62"/>
          <p:cNvSpPr txBox="1"/>
          <p:nvPr/>
        </p:nvSpPr>
        <p:spPr>
          <a:xfrm>
            <a:off x="10377134"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ea typeface="Calibri" pitchFamily="34" charset="-122"/>
                <a:cs typeface="Calibri" pitchFamily="34" charset="-120"/>
              </a:rPr>
              <a:t>PREPARATION</a:t>
            </a:r>
            <a:endParaRPr lang="en-US" sz="1000" dirty="0"/>
          </a:p>
        </p:txBody>
      </p:sp>
      <p:sp>
        <p:nvSpPr>
          <p:cNvPr id="66" name="Text 63"/>
          <p:cNvSpPr txBox="1"/>
          <p:nvPr/>
        </p:nvSpPr>
        <p:spPr>
          <a:xfrm>
            <a:off x="10377134"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ea typeface="Calibri" pitchFamily="34" charset="-122"/>
                <a:cs typeface="Calibri" pitchFamily="34" charset="-120"/>
              </a:rPr>
              <a:t>2 min</a:t>
            </a:r>
            <a:endParaRPr lang="en-US" sz="1000" dirty="0"/>
          </a:p>
        </p:txBody>
      </p:sp>
      <p:sp>
        <p:nvSpPr>
          <p:cNvPr id="67" name="Shape 64"/>
          <p:cNvSpPr/>
          <p:nvPr/>
        </p:nvSpPr>
        <p:spPr>
          <a:xfrm>
            <a:off x="10780123" y="2651760"/>
            <a:ext cx="402336" cy="402336"/>
          </a:xfrm>
          <a:prstGeom prst="ellipse">
            <a:avLst/>
          </a:prstGeom>
          <a:solidFill>
            <a:srgbClr val="F4F1EA"/>
          </a:solidFill>
          <a:ln w="12700">
            <a:solidFill>
              <a:srgbClr val="F4F1EA"/>
            </a:solidFill>
            <a:prstDash val="solid"/>
          </a:ln>
        </p:spPr>
      </p:sp>
      <p:sp>
        <p:nvSpPr>
          <p:cNvPr id="68" name="Text 65"/>
          <p:cNvSpPr txBox="1"/>
          <p:nvPr/>
        </p:nvSpPr>
        <p:spPr>
          <a:xfrm>
            <a:off x="10780123"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ea typeface="Calibri" pitchFamily="34" charset="-122"/>
                <a:cs typeface="Calibri" pitchFamily="34" charset="-120"/>
              </a:rPr>
              <a:t>7</a:t>
            </a:r>
            <a:endParaRPr lang="en-US" sz="1300" dirty="0"/>
          </a:p>
        </p:txBody>
      </p:sp>
      <p:sp>
        <p:nvSpPr>
          <p:cNvPr id="69" name="Text 66"/>
          <p:cNvSpPr txBox="1"/>
          <p:nvPr/>
        </p:nvSpPr>
        <p:spPr>
          <a:xfrm>
            <a:off x="10358846"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ea typeface="Calibri" pitchFamily="34" charset="-122"/>
                <a:cs typeface="Calibri" pitchFamily="34" charset="-120"/>
              </a:rPr>
              <a:t>Get ready at home for F2-L06.</a:t>
            </a:r>
            <a:endParaRPr lang="en-US" sz="1200" dirty="0"/>
          </a:p>
        </p:txBody>
      </p:sp>
      <p:sp>
        <p:nvSpPr>
          <p:cNvPr id="70" name="Text 67"/>
          <p:cNvSpPr txBox="1"/>
          <p:nvPr/>
        </p:nvSpPr>
        <p:spPr>
          <a:xfrm>
            <a:off x="10322270"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C45A3C"/>
                </a:solidFill>
                <a:latin typeface="Amiri" pitchFamily="34" charset="0"/>
                <a:ea typeface="Amiri" pitchFamily="34" charset="-122"/>
                <a:cs typeface="Amiri" pitchFamily="34" charset="-120"/>
              </a:rPr>
              <a:t>اِسْتَعِدَّ</a:t>
            </a:r>
            <a:endParaRPr lang="ar-SA" sz="1500" dirty="0"/>
          </a:p>
        </p:txBody>
      </p:sp>
      <p:sp>
        <p:nvSpPr>
          <p:cNvPr id="71" name="Shape 68"/>
          <p:cNvSpPr/>
          <p:nvPr/>
        </p:nvSpPr>
        <p:spPr>
          <a:xfrm>
            <a:off x="457200" y="5285232"/>
            <a:ext cx="11274552" cy="1024128"/>
          </a:xfrm>
          <a:prstGeom prst="roundRect">
            <a:avLst>
              <a:gd name="adj" fmla="val 7143"/>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72" name="Text 69"/>
          <p:cNvSpPr txBox="1"/>
          <p:nvPr/>
        </p:nvSpPr>
        <p:spPr>
          <a:xfrm>
            <a:off x="685800" y="5358384"/>
            <a:ext cx="4572000" cy="274320"/>
          </a:xfrm>
          <a:prstGeom prst="rect">
            <a:avLst/>
          </a:prstGeom>
          <a:noFill/>
          <a:ln/>
        </p:spPr>
        <p:txBody>
          <a:bodyPr wrap="square" lIns="0" tIns="0" rIns="0" bIns="0" rtlCol="0" anchor="ctr"/>
          <a:lstStyle/>
          <a:p>
            <a:pPr algn="l" indent="0" marL="0">
              <a:buNone/>
            </a:pPr>
            <a:r>
              <a:rPr lang="en-US" sz="1000" b="1" spc="200" kern="0" dirty="0">
                <a:solidFill>
                  <a:srgbClr val="1E6B52"/>
                </a:solidFill>
                <a:latin typeface="Calibri" pitchFamily="34" charset="0"/>
                <a:ea typeface="Calibri" pitchFamily="34" charset="-122"/>
                <a:cs typeface="Calibri" pitchFamily="34" charset="-120"/>
              </a:rPr>
              <a:t>IF ARABIC FEELS HARD TODAY</a:t>
            </a:r>
            <a:endParaRPr lang="en-US" sz="1000" dirty="0"/>
          </a:p>
        </p:txBody>
      </p:sp>
      <p:sp>
        <p:nvSpPr>
          <p:cNvPr id="73" name="Text 70"/>
          <p:cNvSpPr txBox="1"/>
          <p:nvPr/>
        </p:nvSpPr>
        <p:spPr>
          <a:xfrm>
            <a:off x="685800" y="5632704"/>
            <a:ext cx="10881360" cy="621792"/>
          </a:xfrm>
          <a:prstGeom prst="rect">
            <a:avLst/>
          </a:prstGeom>
          <a:noFill/>
          <a:ln/>
        </p:spPr>
        <p:txBody>
          <a:bodyPr wrap="square" lIns="0" tIns="0" rIns="0" bIns="0" rtlCol="0" anchor="t"/>
          <a:lstStyle/>
          <a:p>
            <a:pPr algn="l" indent="0" marL="0">
              <a:buNone/>
            </a:pPr>
            <a:r>
              <a:rPr lang="en-US" sz="1250" dirty="0">
                <a:solidFill>
                  <a:srgbClr val="1F2A37"/>
                </a:solidFill>
                <a:latin typeface="Calibri" pitchFamily="34" charset="0"/>
                <a:ea typeface="Calibri" pitchFamily="34" charset="-122"/>
                <a:cs typeface="Calibri" pitchFamily="34" charset="-120"/>
              </a:rPr>
              <a:t>Look for the green CORE boxes: they give you transliteration, English meanings and sentence frames. You never need every word — find the key word first. You can answer in the chat, in English, or by holding up A / B / C to your camera.</a:t>
            </a:r>
            <a:endParaRPr lang="en-US" sz="1250" dirty="0"/>
          </a:p>
        </p:txBody>
      </p:sp>
      <p:sp>
        <p:nvSpPr>
          <p:cNvPr id="74" name="Text 7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ea typeface="Calibri" pitchFamily="34" charset="-122"/>
                <a:cs typeface="Calibri" pitchFamily="34" charset="-120"/>
              </a:rPr>
              <a:t>3 / 36</a:t>
            </a:r>
            <a:endParaRPr lang="en-US" sz="8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34" charset="0"/>
                <a:ea typeface="Amiri" pitchFamily="34" charset="-122"/>
                <a:cs typeface="Amiri" pitchFamily="34" charset="-120"/>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ea typeface="Cambria" pitchFamily="34" charset="-122"/>
                <a:cs typeface="Cambria" pitchFamily="34" charset="-120"/>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ea typeface="Calibri" pitchFamily="34" charset="-122"/>
                <a:cs typeface="Calibri" pitchFamily="34" charset="-120"/>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ea typeface="Calibri" pitchFamily="34" charset="-122"/>
                <a:cs typeface="Calibri" pitchFamily="34" charset="-120"/>
              </a:rPr>
              <a:t>F2-L05 · Masculine &amp; Feminine</a:t>
            </a:r>
            <a:endParaRPr lang="en-US" sz="950" dirty="0"/>
          </a:p>
        </p:txBody>
      </p:sp>
      <p:sp>
        <p:nvSpPr>
          <p:cNvPr id="8" name="Shape 6"/>
          <p:cNvSpPr/>
          <p:nvPr/>
        </p:nvSpPr>
        <p:spPr>
          <a:xfrm>
            <a:off x="7295083" y="274320"/>
            <a:ext cx="1464869" cy="329184"/>
          </a:xfrm>
          <a:prstGeom prst="roundRect">
            <a:avLst>
              <a:gd name="adj" fmla="val 50000"/>
            </a:avLst>
          </a:prstGeom>
          <a:solidFill>
            <a:srgbClr val="0E7C86"/>
          </a:solidFill>
          <a:ln w="12700">
            <a:solidFill>
              <a:srgbClr val="0E7C86"/>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ea typeface="Calibri" pitchFamily="34" charset="-122"/>
                <a:cs typeface="Calibri" pitchFamily="34" charset="-120"/>
              </a:rPr>
              <a:t>DO NOW · 5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0E7C86"/>
                </a:solidFill>
                <a:latin typeface="Calibri" pitchFamily="34" charset="0"/>
                <a:ea typeface="Calibri" pitchFamily="34" charset="-122"/>
                <a:cs typeface="Calibri" pitchFamily="34" charset="-120"/>
              </a:rPr>
              <a:t>DO NOW · ON YOUR OWN · 5 MINUTES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750" b="1" dirty="0">
                <a:solidFill>
                  <a:srgbClr val="1B3B6F"/>
                </a:solidFill>
                <a:latin typeface="Cambria" pitchFamily="34" charset="0"/>
                <a:ea typeface="Cambria" pitchFamily="34" charset="-122"/>
                <a:cs typeface="Cambria" pitchFamily="34" charset="-120"/>
              </a:rPr>
              <a:t>Retrieval: what do you remember?</a:t>
            </a:r>
            <a:endParaRPr lang="en-US" sz="275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34" charset="0"/>
                <a:ea typeface="Amiri" pitchFamily="34" charset="-122"/>
                <a:cs typeface="Amiri" pitchFamily="34" charset="-120"/>
              </a:rPr>
              <a:t>اِبْدَأِ الآنَ</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ea typeface="Calibri" pitchFamily="34" charset="-122"/>
                <a:cs typeface="Calibri" pitchFamily="34" charset="-120"/>
              </a:rPr>
              <a:t>Miftah Arabic · Foundation F2 · Greetings &amp; Introductions · Week 2 · Lesson 2 of 3</a:t>
            </a:r>
            <a:endParaRPr lang="en-US" sz="850" dirty="0"/>
          </a:p>
        </p:txBody>
      </p:sp>
      <p:sp>
        <p:nvSpPr>
          <p:cNvPr id="15" name="Shape 12"/>
          <p:cNvSpPr/>
          <p:nvPr/>
        </p:nvSpPr>
        <p:spPr>
          <a:xfrm>
            <a:off x="457200"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1</a:t>
            </a:r>
            <a:endParaRPr lang="en-US" sz="1100" dirty="0"/>
          </a:p>
        </p:txBody>
      </p:sp>
      <p:sp>
        <p:nvSpPr>
          <p:cNvPr id="18" name="Text 15"/>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What is the feminine form of </a:t>
            </a:r>
            <a:pPr algn="l" indent="0" marL="0">
              <a:buNone/>
            </a:pPr>
            <a:r>
              <a:rPr lang="ar-SA" altLang="en-US" sz="1650" b="1" dirty="0">
                <a:solidFill>
                  <a:srgbClr val="1B3B6F"/>
                </a:solidFill>
                <a:latin typeface="Amiri" pitchFamily="34" charset="0"/>
                <a:ea typeface="Amiri" pitchFamily="34" charset="-122"/>
                <a:cs typeface="Amiri" pitchFamily="34" charset="-120"/>
              </a:rPr>
              <a:t>طَالِبٌ</a:t>
            </a:r>
            <a:pPr algn="l" indent="0" marL="0">
              <a:buNone/>
            </a:pPr>
            <a:r>
              <a:rPr lang="en-US" sz="1250" b="1" dirty="0">
                <a:solidFill>
                  <a:srgbClr val="1B3B6F"/>
                </a:solidFill>
                <a:latin typeface="Calibri" pitchFamily="34" charset="0"/>
                <a:ea typeface="Calibri" pitchFamily="34" charset="-122"/>
                <a:cs typeface="Calibri" pitchFamily="34" charset="-120"/>
              </a:rPr>
              <a:t>?</a:t>
            </a:r>
            <a:endParaRPr lang="en-US" sz="1250" dirty="0"/>
          </a:p>
        </p:txBody>
      </p:sp>
      <p:sp>
        <p:nvSpPr>
          <p:cNvPr id="19" name="Shape 16"/>
          <p:cNvSpPr/>
          <p:nvPr/>
        </p:nvSpPr>
        <p:spPr>
          <a:xfrm>
            <a:off x="640080" y="2532888"/>
            <a:ext cx="256032" cy="256032"/>
          </a:xfrm>
          <a:prstGeom prst="ellipse">
            <a:avLst/>
          </a:prstGeom>
          <a:solidFill>
            <a:srgbClr val="F4F1EA"/>
          </a:solidFill>
          <a:ln w="12700">
            <a:solidFill>
              <a:srgbClr val="F4F1EA"/>
            </a:solidFill>
            <a:prstDash val="solid"/>
          </a:ln>
        </p:spPr>
      </p:sp>
      <p:sp>
        <p:nvSpPr>
          <p:cNvPr id="20" name="Text 17"/>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A</a:t>
            </a:r>
            <a:endParaRPr lang="en-US" sz="900" dirty="0"/>
          </a:p>
        </p:txBody>
      </p:sp>
      <p:sp>
        <p:nvSpPr>
          <p:cNvPr id="21" name="Text 18"/>
          <p:cNvSpPr txBox="1"/>
          <p:nvPr/>
        </p:nvSpPr>
        <p:spPr>
          <a:xfrm>
            <a:off x="969264" y="24323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34" charset="0"/>
                <a:ea typeface="Amiri" pitchFamily="34" charset="-122"/>
                <a:cs typeface="Amiri" pitchFamily="34" charset="-120"/>
              </a:rPr>
              <a:t>طُلَّابٌ</a:t>
            </a:r>
            <a:endParaRPr lang="ar-SA" sz="2050" dirty="0"/>
          </a:p>
        </p:txBody>
      </p:sp>
      <p:sp>
        <p:nvSpPr>
          <p:cNvPr id="22" name="Shape 19"/>
          <p:cNvSpPr/>
          <p:nvPr/>
        </p:nvSpPr>
        <p:spPr>
          <a:xfrm>
            <a:off x="640080" y="2990088"/>
            <a:ext cx="256032" cy="256032"/>
          </a:xfrm>
          <a:prstGeom prst="ellipse">
            <a:avLst/>
          </a:prstGeom>
          <a:solidFill>
            <a:srgbClr val="F4F1EA"/>
          </a:solidFill>
          <a:ln w="12700">
            <a:solidFill>
              <a:srgbClr val="F4F1EA"/>
            </a:solidFill>
            <a:prstDash val="solid"/>
          </a:ln>
        </p:spPr>
      </p:sp>
      <p:sp>
        <p:nvSpPr>
          <p:cNvPr id="23" name="Text 20"/>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24" name="Text 21"/>
          <p:cNvSpPr txBox="1"/>
          <p:nvPr/>
        </p:nvSpPr>
        <p:spPr>
          <a:xfrm>
            <a:off x="969264"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34" charset="0"/>
                <a:ea typeface="Amiri" pitchFamily="34" charset="-122"/>
                <a:cs typeface="Amiri" pitchFamily="34" charset="-120"/>
              </a:rPr>
              <a:t>طَالِبَةٌ</a:t>
            </a:r>
            <a:endParaRPr lang="ar-SA" sz="2050" dirty="0"/>
          </a:p>
        </p:txBody>
      </p:sp>
      <p:sp>
        <p:nvSpPr>
          <p:cNvPr id="25" name="Shape 22"/>
          <p:cNvSpPr/>
          <p:nvPr/>
        </p:nvSpPr>
        <p:spPr>
          <a:xfrm>
            <a:off x="640080" y="3447288"/>
            <a:ext cx="256032" cy="256032"/>
          </a:xfrm>
          <a:prstGeom prst="ellipse">
            <a:avLst/>
          </a:prstGeom>
          <a:solidFill>
            <a:srgbClr val="F4F1EA"/>
          </a:solidFill>
          <a:ln w="12700">
            <a:solidFill>
              <a:srgbClr val="F4F1EA"/>
            </a:solidFill>
            <a:prstDash val="solid"/>
          </a:ln>
        </p:spPr>
      </p:sp>
      <p:sp>
        <p:nvSpPr>
          <p:cNvPr id="26" name="Text 23"/>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C</a:t>
            </a:r>
            <a:endParaRPr lang="en-US" sz="900" dirty="0"/>
          </a:p>
        </p:txBody>
      </p:sp>
      <p:sp>
        <p:nvSpPr>
          <p:cNvPr id="27" name="Text 24"/>
          <p:cNvSpPr txBox="1"/>
          <p:nvPr/>
        </p:nvSpPr>
        <p:spPr>
          <a:xfrm>
            <a:off x="969264"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34" charset="0"/>
                <a:ea typeface="Amiri" pitchFamily="34" charset="-122"/>
                <a:cs typeface="Amiri" pitchFamily="34" charset="-120"/>
              </a:rPr>
              <a:t>طَالِبِي</a:t>
            </a:r>
            <a:endParaRPr lang="ar-SA" sz="2050" dirty="0"/>
          </a:p>
        </p:txBody>
      </p:sp>
      <p:sp>
        <p:nvSpPr>
          <p:cNvPr id="28" name="Shape 25"/>
          <p:cNvSpPr/>
          <p:nvPr/>
        </p:nvSpPr>
        <p:spPr>
          <a:xfrm>
            <a:off x="4276344"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9" name="Shape 26"/>
          <p:cNvSpPr/>
          <p:nvPr/>
        </p:nvSpPr>
        <p:spPr>
          <a:xfrm>
            <a:off x="4404360" y="1947672"/>
            <a:ext cx="310896" cy="310896"/>
          </a:xfrm>
          <a:prstGeom prst="ellipse">
            <a:avLst/>
          </a:prstGeom>
          <a:solidFill>
            <a:srgbClr val="1B3B6F"/>
          </a:solidFill>
          <a:ln w="12700">
            <a:solidFill>
              <a:srgbClr val="1B3B6F"/>
            </a:solidFill>
            <a:prstDash val="solid"/>
          </a:ln>
        </p:spPr>
      </p:sp>
      <p:sp>
        <p:nvSpPr>
          <p:cNvPr id="30" name="Text 27"/>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2</a:t>
            </a:r>
            <a:endParaRPr lang="en-US" sz="1100" dirty="0"/>
          </a:p>
        </p:txBody>
      </p:sp>
      <p:sp>
        <p:nvSpPr>
          <p:cNvPr id="31" name="Text 28"/>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What does </a:t>
            </a:r>
            <a:pPr algn="l" indent="0" marL="0">
              <a:buNone/>
            </a:pPr>
            <a:r>
              <a:rPr lang="ar-SA" altLang="en-US" sz="1650" b="1" dirty="0">
                <a:solidFill>
                  <a:srgbClr val="1B3B6F"/>
                </a:solidFill>
                <a:latin typeface="Amiri" pitchFamily="34" charset="0"/>
                <a:ea typeface="Amiri" pitchFamily="34" charset="-122"/>
                <a:cs typeface="Amiri" pitchFamily="34" charset="-120"/>
              </a:rPr>
              <a:t>جَدِيدٌ</a:t>
            </a:r>
            <a:pPr algn="l" indent="0" marL="0">
              <a:buNone/>
            </a:pPr>
            <a:r>
              <a:rPr lang="en-US" sz="1250" b="1" dirty="0">
                <a:solidFill>
                  <a:srgbClr val="1B3B6F"/>
                </a:solidFill>
                <a:latin typeface="Calibri" pitchFamily="34" charset="0"/>
                <a:ea typeface="Calibri" pitchFamily="34" charset="-122"/>
                <a:cs typeface="Calibri" pitchFamily="34" charset="-120"/>
              </a:rPr>
              <a:t> mean?</a:t>
            </a:r>
            <a:endParaRPr lang="en-US" sz="1250" dirty="0"/>
          </a:p>
        </p:txBody>
      </p:sp>
      <p:sp>
        <p:nvSpPr>
          <p:cNvPr id="32" name="Shape 29"/>
          <p:cNvSpPr/>
          <p:nvPr/>
        </p:nvSpPr>
        <p:spPr>
          <a:xfrm>
            <a:off x="4459224" y="2532888"/>
            <a:ext cx="256032" cy="256032"/>
          </a:xfrm>
          <a:prstGeom prst="ellipse">
            <a:avLst/>
          </a:prstGeom>
          <a:solidFill>
            <a:srgbClr val="F4F1EA"/>
          </a:solidFill>
          <a:ln w="12700">
            <a:solidFill>
              <a:srgbClr val="F4F1EA"/>
            </a:solidFill>
            <a:prstDash val="solid"/>
          </a:ln>
        </p:spPr>
      </p:sp>
      <p:sp>
        <p:nvSpPr>
          <p:cNvPr id="33" name="Text 30"/>
          <p:cNvSpPr txBox="1"/>
          <p:nvPr/>
        </p:nvSpPr>
        <p:spPr>
          <a:xfrm>
            <a:off x="4459224"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A</a:t>
            </a:r>
            <a:endParaRPr lang="en-US" sz="900" dirty="0"/>
          </a:p>
        </p:txBody>
      </p:sp>
      <p:sp>
        <p:nvSpPr>
          <p:cNvPr id="34" name="Text 31"/>
          <p:cNvSpPr txBox="1"/>
          <p:nvPr/>
        </p:nvSpPr>
        <p:spPr>
          <a:xfrm>
            <a:off x="4788408" y="24323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new</a:t>
            </a:r>
            <a:endParaRPr lang="en-US" sz="1250" dirty="0"/>
          </a:p>
        </p:txBody>
      </p:sp>
      <p:sp>
        <p:nvSpPr>
          <p:cNvPr id="35" name="Shape 32"/>
          <p:cNvSpPr/>
          <p:nvPr/>
        </p:nvSpPr>
        <p:spPr>
          <a:xfrm>
            <a:off x="4459224" y="2990088"/>
            <a:ext cx="256032" cy="256032"/>
          </a:xfrm>
          <a:prstGeom prst="ellipse">
            <a:avLst/>
          </a:prstGeom>
          <a:solidFill>
            <a:srgbClr val="F4F1EA"/>
          </a:solidFill>
          <a:ln w="12700">
            <a:solidFill>
              <a:srgbClr val="F4F1EA"/>
            </a:solidFill>
            <a:prstDash val="solid"/>
          </a:ln>
        </p:spPr>
      </p:sp>
      <p:sp>
        <p:nvSpPr>
          <p:cNvPr id="36" name="Text 33"/>
          <p:cNvSpPr txBox="1"/>
          <p:nvPr/>
        </p:nvSpPr>
        <p:spPr>
          <a:xfrm>
            <a:off x="4459224"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37" name="Text 34"/>
          <p:cNvSpPr txBox="1"/>
          <p:nvPr/>
        </p:nvSpPr>
        <p:spPr>
          <a:xfrm>
            <a:off x="4788408" y="28895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old</a:t>
            </a:r>
            <a:endParaRPr lang="en-US" sz="1250" dirty="0"/>
          </a:p>
        </p:txBody>
      </p:sp>
      <p:sp>
        <p:nvSpPr>
          <p:cNvPr id="38" name="Shape 35"/>
          <p:cNvSpPr/>
          <p:nvPr/>
        </p:nvSpPr>
        <p:spPr>
          <a:xfrm>
            <a:off x="4459224" y="3447288"/>
            <a:ext cx="256032" cy="256032"/>
          </a:xfrm>
          <a:prstGeom prst="ellipse">
            <a:avLst/>
          </a:prstGeom>
          <a:solidFill>
            <a:srgbClr val="F4F1EA"/>
          </a:solidFill>
          <a:ln w="12700">
            <a:solidFill>
              <a:srgbClr val="F4F1EA"/>
            </a:solidFill>
            <a:prstDash val="solid"/>
          </a:ln>
        </p:spPr>
      </p:sp>
      <p:sp>
        <p:nvSpPr>
          <p:cNvPr id="39" name="Text 36"/>
          <p:cNvSpPr txBox="1"/>
          <p:nvPr/>
        </p:nvSpPr>
        <p:spPr>
          <a:xfrm>
            <a:off x="4459224"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C</a:t>
            </a:r>
            <a:endParaRPr lang="en-US" sz="900" dirty="0"/>
          </a:p>
        </p:txBody>
      </p:sp>
      <p:sp>
        <p:nvSpPr>
          <p:cNvPr id="40" name="Text 37"/>
          <p:cNvSpPr txBox="1"/>
          <p:nvPr/>
        </p:nvSpPr>
        <p:spPr>
          <a:xfrm>
            <a:off x="4788408" y="33467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big</a:t>
            </a:r>
            <a:endParaRPr lang="en-US" sz="1250" dirty="0"/>
          </a:p>
        </p:txBody>
      </p:sp>
      <p:sp>
        <p:nvSpPr>
          <p:cNvPr id="41" name="Shape 38"/>
          <p:cNvSpPr/>
          <p:nvPr/>
        </p:nvSpPr>
        <p:spPr>
          <a:xfrm>
            <a:off x="8095488"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2" name="Shape 39"/>
          <p:cNvSpPr/>
          <p:nvPr/>
        </p:nvSpPr>
        <p:spPr>
          <a:xfrm>
            <a:off x="8223504" y="1947672"/>
            <a:ext cx="310896" cy="310896"/>
          </a:xfrm>
          <a:prstGeom prst="ellipse">
            <a:avLst/>
          </a:prstGeom>
          <a:solidFill>
            <a:srgbClr val="1B3B6F"/>
          </a:solidFill>
          <a:ln w="12700">
            <a:solidFill>
              <a:srgbClr val="1B3B6F"/>
            </a:solidFill>
            <a:prstDash val="solid"/>
          </a:ln>
        </p:spPr>
      </p:sp>
      <p:sp>
        <p:nvSpPr>
          <p:cNvPr id="43" name="Text 40"/>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3</a:t>
            </a:r>
            <a:endParaRPr lang="en-US" sz="1100" dirty="0"/>
          </a:p>
        </p:txBody>
      </p:sp>
      <p:sp>
        <p:nvSpPr>
          <p:cNvPr id="44" name="Text 41"/>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Which question addresses one female?</a:t>
            </a:r>
            <a:endParaRPr lang="en-US" sz="1250" dirty="0"/>
          </a:p>
        </p:txBody>
      </p:sp>
      <p:sp>
        <p:nvSpPr>
          <p:cNvPr id="45" name="Shape 42"/>
          <p:cNvSpPr/>
          <p:nvPr/>
        </p:nvSpPr>
        <p:spPr>
          <a:xfrm>
            <a:off x="8278368" y="2532888"/>
            <a:ext cx="256032" cy="256032"/>
          </a:xfrm>
          <a:prstGeom prst="ellipse">
            <a:avLst/>
          </a:prstGeom>
          <a:solidFill>
            <a:srgbClr val="F4F1EA"/>
          </a:solidFill>
          <a:ln w="12700">
            <a:solidFill>
              <a:srgbClr val="F4F1EA"/>
            </a:solidFill>
            <a:prstDash val="solid"/>
          </a:ln>
        </p:spPr>
      </p:sp>
      <p:sp>
        <p:nvSpPr>
          <p:cNvPr id="46" name="Text 43"/>
          <p:cNvSpPr txBox="1"/>
          <p:nvPr/>
        </p:nvSpPr>
        <p:spPr>
          <a:xfrm>
            <a:off x="8278368"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A</a:t>
            </a:r>
            <a:endParaRPr lang="en-US" sz="900" dirty="0"/>
          </a:p>
        </p:txBody>
      </p:sp>
      <p:sp>
        <p:nvSpPr>
          <p:cNvPr id="47" name="Text 44"/>
          <p:cNvSpPr txBox="1"/>
          <p:nvPr/>
        </p:nvSpPr>
        <p:spPr>
          <a:xfrm>
            <a:off x="8607552" y="24323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34" charset="0"/>
                <a:ea typeface="Amiri" pitchFamily="34" charset="-122"/>
                <a:cs typeface="Amiri" pitchFamily="34" charset="-120"/>
              </a:rPr>
              <a:t>مَا اسْمُكَ؟</a:t>
            </a:r>
            <a:endParaRPr lang="ar-SA" sz="2050" dirty="0"/>
          </a:p>
        </p:txBody>
      </p:sp>
      <p:sp>
        <p:nvSpPr>
          <p:cNvPr id="48" name="Shape 45"/>
          <p:cNvSpPr/>
          <p:nvPr/>
        </p:nvSpPr>
        <p:spPr>
          <a:xfrm>
            <a:off x="8278368" y="2990088"/>
            <a:ext cx="256032" cy="256032"/>
          </a:xfrm>
          <a:prstGeom prst="ellipse">
            <a:avLst/>
          </a:prstGeom>
          <a:solidFill>
            <a:srgbClr val="F4F1EA"/>
          </a:solidFill>
          <a:ln w="12700">
            <a:solidFill>
              <a:srgbClr val="F4F1EA"/>
            </a:solidFill>
            <a:prstDash val="solid"/>
          </a:ln>
        </p:spPr>
      </p:sp>
      <p:sp>
        <p:nvSpPr>
          <p:cNvPr id="49" name="Text 46"/>
          <p:cNvSpPr txBox="1"/>
          <p:nvPr/>
        </p:nvSpPr>
        <p:spPr>
          <a:xfrm>
            <a:off x="8278368"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50" name="Text 47"/>
          <p:cNvSpPr txBox="1"/>
          <p:nvPr/>
        </p:nvSpPr>
        <p:spPr>
          <a:xfrm>
            <a:off x="8607552"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34" charset="0"/>
                <a:ea typeface="Amiri" pitchFamily="34" charset="-122"/>
                <a:cs typeface="Amiri" pitchFamily="34" charset="-120"/>
              </a:rPr>
              <a:t>كَمْ عُمْرُكَ؟</a:t>
            </a:r>
            <a:endParaRPr lang="ar-SA" sz="2050" dirty="0"/>
          </a:p>
        </p:txBody>
      </p:sp>
      <p:sp>
        <p:nvSpPr>
          <p:cNvPr id="51" name="Shape 48"/>
          <p:cNvSpPr/>
          <p:nvPr/>
        </p:nvSpPr>
        <p:spPr>
          <a:xfrm>
            <a:off x="8278368" y="3447288"/>
            <a:ext cx="256032" cy="256032"/>
          </a:xfrm>
          <a:prstGeom prst="ellipse">
            <a:avLst/>
          </a:prstGeom>
          <a:solidFill>
            <a:srgbClr val="F4F1EA"/>
          </a:solidFill>
          <a:ln w="12700">
            <a:solidFill>
              <a:srgbClr val="F4F1EA"/>
            </a:solidFill>
            <a:prstDash val="solid"/>
          </a:ln>
        </p:spPr>
      </p:sp>
      <p:sp>
        <p:nvSpPr>
          <p:cNvPr id="52" name="Text 49"/>
          <p:cNvSpPr txBox="1"/>
          <p:nvPr/>
        </p:nvSpPr>
        <p:spPr>
          <a:xfrm>
            <a:off x="8278368"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C</a:t>
            </a:r>
            <a:endParaRPr lang="en-US" sz="900" dirty="0"/>
          </a:p>
        </p:txBody>
      </p:sp>
      <p:sp>
        <p:nvSpPr>
          <p:cNvPr id="53" name="Text 50"/>
          <p:cNvSpPr txBox="1"/>
          <p:nvPr/>
        </p:nvSpPr>
        <p:spPr>
          <a:xfrm>
            <a:off x="8607552"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34" charset="0"/>
                <a:ea typeface="Amiri" pitchFamily="34" charset="-122"/>
                <a:cs typeface="Amiri" pitchFamily="34" charset="-120"/>
              </a:rPr>
              <a:t>مَا اسْمُكِ؟</a:t>
            </a:r>
            <a:endParaRPr lang="ar-SA" sz="2050" dirty="0"/>
          </a:p>
        </p:txBody>
      </p:sp>
      <p:sp>
        <p:nvSpPr>
          <p:cNvPr id="54" name="Shape 51"/>
          <p:cNvSpPr/>
          <p:nvPr/>
        </p:nvSpPr>
        <p:spPr>
          <a:xfrm>
            <a:off x="457200"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5" name="Shape 52"/>
          <p:cNvSpPr/>
          <p:nvPr/>
        </p:nvSpPr>
        <p:spPr>
          <a:xfrm>
            <a:off x="585216" y="4288536"/>
            <a:ext cx="310896" cy="310896"/>
          </a:xfrm>
          <a:prstGeom prst="ellipse">
            <a:avLst/>
          </a:prstGeom>
          <a:solidFill>
            <a:srgbClr val="1B3B6F"/>
          </a:solidFill>
          <a:ln w="12700">
            <a:solidFill>
              <a:srgbClr val="1B3B6F"/>
            </a:solidFill>
            <a:prstDash val="solid"/>
          </a:ln>
        </p:spPr>
      </p:sp>
      <p:sp>
        <p:nvSpPr>
          <p:cNvPr id="56" name="Text 53"/>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4</a:t>
            </a:r>
            <a:endParaRPr lang="en-US" sz="1100" dirty="0"/>
          </a:p>
        </p:txBody>
      </p:sp>
      <p:sp>
        <p:nvSpPr>
          <p:cNvPr id="57" name="Text 54"/>
          <p:cNvSpPr txBox="1"/>
          <p:nvPr/>
        </p:nvSpPr>
        <p:spPr>
          <a:xfrm>
            <a:off x="950976"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Choose the feminine nationality.</a:t>
            </a:r>
            <a:endParaRPr lang="en-US" sz="1250" dirty="0"/>
          </a:p>
        </p:txBody>
      </p:sp>
      <p:sp>
        <p:nvSpPr>
          <p:cNvPr id="58" name="Shape 55"/>
          <p:cNvSpPr/>
          <p:nvPr/>
        </p:nvSpPr>
        <p:spPr>
          <a:xfrm>
            <a:off x="640080" y="4873752"/>
            <a:ext cx="256032" cy="256032"/>
          </a:xfrm>
          <a:prstGeom prst="ellipse">
            <a:avLst/>
          </a:prstGeom>
          <a:solidFill>
            <a:srgbClr val="F4F1EA"/>
          </a:solidFill>
          <a:ln w="12700">
            <a:solidFill>
              <a:srgbClr val="F4F1EA"/>
            </a:solidFill>
            <a:prstDash val="solid"/>
          </a:ln>
        </p:spPr>
      </p:sp>
      <p:sp>
        <p:nvSpPr>
          <p:cNvPr id="59" name="Text 56"/>
          <p:cNvSpPr txBox="1"/>
          <p:nvPr/>
        </p:nvSpPr>
        <p:spPr>
          <a:xfrm>
            <a:off x="640080"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A</a:t>
            </a:r>
            <a:endParaRPr lang="en-US" sz="900" dirty="0"/>
          </a:p>
        </p:txBody>
      </p:sp>
      <p:sp>
        <p:nvSpPr>
          <p:cNvPr id="60" name="Text 57"/>
          <p:cNvSpPr txBox="1"/>
          <p:nvPr/>
        </p:nvSpPr>
        <p:spPr>
          <a:xfrm>
            <a:off x="969264" y="47731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34" charset="0"/>
                <a:ea typeface="Amiri" pitchFamily="34" charset="-122"/>
                <a:cs typeface="Amiri" pitchFamily="34" charset="-120"/>
              </a:rPr>
              <a:t>سُورِيٌّ</a:t>
            </a:r>
            <a:endParaRPr lang="ar-SA" sz="2050" dirty="0"/>
          </a:p>
        </p:txBody>
      </p:sp>
      <p:sp>
        <p:nvSpPr>
          <p:cNvPr id="61" name="Shape 58"/>
          <p:cNvSpPr/>
          <p:nvPr/>
        </p:nvSpPr>
        <p:spPr>
          <a:xfrm>
            <a:off x="640080" y="5330952"/>
            <a:ext cx="256032" cy="256032"/>
          </a:xfrm>
          <a:prstGeom prst="ellipse">
            <a:avLst/>
          </a:prstGeom>
          <a:solidFill>
            <a:srgbClr val="F4F1EA"/>
          </a:solidFill>
          <a:ln w="12700">
            <a:solidFill>
              <a:srgbClr val="F4F1EA"/>
            </a:solidFill>
            <a:prstDash val="solid"/>
          </a:ln>
        </p:spPr>
      </p:sp>
      <p:sp>
        <p:nvSpPr>
          <p:cNvPr id="62" name="Text 59"/>
          <p:cNvSpPr txBox="1"/>
          <p:nvPr/>
        </p:nvSpPr>
        <p:spPr>
          <a:xfrm>
            <a:off x="640080"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63" name="Text 60"/>
          <p:cNvSpPr txBox="1"/>
          <p:nvPr/>
        </p:nvSpPr>
        <p:spPr>
          <a:xfrm>
            <a:off x="969264" y="52303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34" charset="0"/>
                <a:ea typeface="Amiri" pitchFamily="34" charset="-122"/>
                <a:cs typeface="Amiri" pitchFamily="34" charset="-120"/>
              </a:rPr>
              <a:t>سُورِيَا</a:t>
            </a:r>
            <a:endParaRPr lang="ar-SA" sz="2050" dirty="0"/>
          </a:p>
        </p:txBody>
      </p:sp>
      <p:sp>
        <p:nvSpPr>
          <p:cNvPr id="64" name="Shape 61"/>
          <p:cNvSpPr/>
          <p:nvPr/>
        </p:nvSpPr>
        <p:spPr>
          <a:xfrm>
            <a:off x="640080" y="5788152"/>
            <a:ext cx="256032" cy="256032"/>
          </a:xfrm>
          <a:prstGeom prst="ellipse">
            <a:avLst/>
          </a:prstGeom>
          <a:solidFill>
            <a:srgbClr val="F4F1EA"/>
          </a:solidFill>
          <a:ln w="12700">
            <a:solidFill>
              <a:srgbClr val="F4F1EA"/>
            </a:solidFill>
            <a:prstDash val="solid"/>
          </a:ln>
        </p:spPr>
      </p:sp>
      <p:sp>
        <p:nvSpPr>
          <p:cNvPr id="65" name="Text 62"/>
          <p:cNvSpPr txBox="1"/>
          <p:nvPr/>
        </p:nvSpPr>
        <p:spPr>
          <a:xfrm>
            <a:off x="640080"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C</a:t>
            </a:r>
            <a:endParaRPr lang="en-US" sz="900" dirty="0"/>
          </a:p>
        </p:txBody>
      </p:sp>
      <p:sp>
        <p:nvSpPr>
          <p:cNvPr id="66" name="Text 63"/>
          <p:cNvSpPr txBox="1"/>
          <p:nvPr/>
        </p:nvSpPr>
        <p:spPr>
          <a:xfrm>
            <a:off x="969264" y="56875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34" charset="0"/>
                <a:ea typeface="Amiri" pitchFamily="34" charset="-122"/>
                <a:cs typeface="Amiri" pitchFamily="34" charset="-120"/>
              </a:rPr>
              <a:t>سُورِيَّةٌ</a:t>
            </a:r>
            <a:endParaRPr lang="ar-SA" sz="2050" dirty="0"/>
          </a:p>
        </p:txBody>
      </p:sp>
      <p:sp>
        <p:nvSpPr>
          <p:cNvPr id="67" name="Shape 64"/>
          <p:cNvSpPr/>
          <p:nvPr/>
        </p:nvSpPr>
        <p:spPr>
          <a:xfrm>
            <a:off x="4276344"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8" name="Shape 65"/>
          <p:cNvSpPr/>
          <p:nvPr/>
        </p:nvSpPr>
        <p:spPr>
          <a:xfrm>
            <a:off x="4404360" y="4288536"/>
            <a:ext cx="310896" cy="310896"/>
          </a:xfrm>
          <a:prstGeom prst="ellipse">
            <a:avLst/>
          </a:prstGeom>
          <a:solidFill>
            <a:srgbClr val="1B3B6F"/>
          </a:solidFill>
          <a:ln w="12700">
            <a:solidFill>
              <a:srgbClr val="1B3B6F"/>
            </a:solidFill>
            <a:prstDash val="solid"/>
          </a:ln>
        </p:spPr>
      </p:sp>
      <p:sp>
        <p:nvSpPr>
          <p:cNvPr id="69" name="Text 66"/>
          <p:cNvSpPr txBox="1"/>
          <p:nvPr/>
        </p:nvSpPr>
        <p:spPr>
          <a:xfrm>
            <a:off x="4404360"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5</a:t>
            </a:r>
            <a:endParaRPr lang="en-US" sz="1100" dirty="0"/>
          </a:p>
        </p:txBody>
      </p:sp>
      <p:sp>
        <p:nvSpPr>
          <p:cNvPr id="70" name="Text 67"/>
          <p:cNvSpPr txBox="1"/>
          <p:nvPr/>
        </p:nvSpPr>
        <p:spPr>
          <a:xfrm>
            <a:off x="4770120"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Which ending is a strong feminine clue on many nouns?</a:t>
            </a:r>
            <a:endParaRPr lang="en-US" sz="1250" dirty="0"/>
          </a:p>
        </p:txBody>
      </p:sp>
      <p:sp>
        <p:nvSpPr>
          <p:cNvPr id="71" name="Shape 68"/>
          <p:cNvSpPr/>
          <p:nvPr/>
        </p:nvSpPr>
        <p:spPr>
          <a:xfrm>
            <a:off x="4459224" y="4873752"/>
            <a:ext cx="256032" cy="256032"/>
          </a:xfrm>
          <a:prstGeom prst="ellipse">
            <a:avLst/>
          </a:prstGeom>
          <a:solidFill>
            <a:srgbClr val="F4F1EA"/>
          </a:solidFill>
          <a:ln w="12700">
            <a:solidFill>
              <a:srgbClr val="F4F1EA"/>
            </a:solidFill>
            <a:prstDash val="solid"/>
          </a:ln>
        </p:spPr>
      </p:sp>
      <p:sp>
        <p:nvSpPr>
          <p:cNvPr id="72" name="Text 69"/>
          <p:cNvSpPr txBox="1"/>
          <p:nvPr/>
        </p:nvSpPr>
        <p:spPr>
          <a:xfrm>
            <a:off x="4459224"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A</a:t>
            </a:r>
            <a:endParaRPr lang="en-US" sz="900" dirty="0"/>
          </a:p>
        </p:txBody>
      </p:sp>
      <p:sp>
        <p:nvSpPr>
          <p:cNvPr id="73" name="Text 70"/>
          <p:cNvSpPr txBox="1"/>
          <p:nvPr/>
        </p:nvSpPr>
        <p:spPr>
          <a:xfrm>
            <a:off x="4788408" y="47731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34" charset="0"/>
                <a:ea typeface="Amiri" pitchFamily="34" charset="-122"/>
                <a:cs typeface="Amiri" pitchFamily="34" charset="-120"/>
              </a:rPr>
              <a:t>ة</a:t>
            </a:r>
            <a:endParaRPr lang="ar-SA" sz="2050" dirty="0"/>
          </a:p>
        </p:txBody>
      </p:sp>
      <p:sp>
        <p:nvSpPr>
          <p:cNvPr id="74" name="Shape 71"/>
          <p:cNvSpPr/>
          <p:nvPr/>
        </p:nvSpPr>
        <p:spPr>
          <a:xfrm>
            <a:off x="4459224" y="5330952"/>
            <a:ext cx="256032" cy="256032"/>
          </a:xfrm>
          <a:prstGeom prst="ellipse">
            <a:avLst/>
          </a:prstGeom>
          <a:solidFill>
            <a:srgbClr val="F4F1EA"/>
          </a:solidFill>
          <a:ln w="12700">
            <a:solidFill>
              <a:srgbClr val="F4F1EA"/>
            </a:solidFill>
            <a:prstDash val="solid"/>
          </a:ln>
        </p:spPr>
      </p:sp>
      <p:sp>
        <p:nvSpPr>
          <p:cNvPr id="75" name="Text 72"/>
          <p:cNvSpPr txBox="1"/>
          <p:nvPr/>
        </p:nvSpPr>
        <p:spPr>
          <a:xfrm>
            <a:off x="4459224"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76" name="Text 73"/>
          <p:cNvSpPr txBox="1"/>
          <p:nvPr/>
        </p:nvSpPr>
        <p:spPr>
          <a:xfrm>
            <a:off x="4788408" y="52303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34" charset="0"/>
                <a:ea typeface="Amiri" pitchFamily="34" charset="-122"/>
                <a:cs typeface="Amiri" pitchFamily="34" charset="-120"/>
              </a:rPr>
              <a:t>ي</a:t>
            </a:r>
            <a:endParaRPr lang="ar-SA" sz="2050" dirty="0"/>
          </a:p>
        </p:txBody>
      </p:sp>
      <p:sp>
        <p:nvSpPr>
          <p:cNvPr id="77" name="Shape 74"/>
          <p:cNvSpPr/>
          <p:nvPr/>
        </p:nvSpPr>
        <p:spPr>
          <a:xfrm>
            <a:off x="4459224" y="5788152"/>
            <a:ext cx="256032" cy="256032"/>
          </a:xfrm>
          <a:prstGeom prst="ellipse">
            <a:avLst/>
          </a:prstGeom>
          <a:solidFill>
            <a:srgbClr val="F4F1EA"/>
          </a:solidFill>
          <a:ln w="12700">
            <a:solidFill>
              <a:srgbClr val="F4F1EA"/>
            </a:solidFill>
            <a:prstDash val="solid"/>
          </a:ln>
        </p:spPr>
      </p:sp>
      <p:sp>
        <p:nvSpPr>
          <p:cNvPr id="78" name="Text 75"/>
          <p:cNvSpPr txBox="1"/>
          <p:nvPr/>
        </p:nvSpPr>
        <p:spPr>
          <a:xfrm>
            <a:off x="4459224"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C</a:t>
            </a:r>
            <a:endParaRPr lang="en-US" sz="900" dirty="0"/>
          </a:p>
        </p:txBody>
      </p:sp>
      <p:sp>
        <p:nvSpPr>
          <p:cNvPr id="79" name="Text 76"/>
          <p:cNvSpPr txBox="1"/>
          <p:nvPr/>
        </p:nvSpPr>
        <p:spPr>
          <a:xfrm>
            <a:off x="4788408" y="56875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34" charset="0"/>
                <a:ea typeface="Amiri" pitchFamily="34" charset="-122"/>
                <a:cs typeface="Amiri" pitchFamily="34" charset="-120"/>
              </a:rPr>
              <a:t>و</a:t>
            </a:r>
            <a:endParaRPr lang="ar-SA" sz="2050" dirty="0"/>
          </a:p>
        </p:txBody>
      </p:sp>
      <p:sp>
        <p:nvSpPr>
          <p:cNvPr id="80" name="Shape 77"/>
          <p:cNvSpPr/>
          <p:nvPr/>
        </p:nvSpPr>
        <p:spPr>
          <a:xfrm>
            <a:off x="8095488" y="4151376"/>
            <a:ext cx="3636264" cy="2157984"/>
          </a:xfrm>
          <a:prstGeom prst="roundRect">
            <a:avLst>
              <a:gd name="adj" fmla="val 3390"/>
            </a:avLst>
          </a:prstGeom>
          <a:solidFill>
            <a:srgbClr val="E8F4F5"/>
          </a:solidFill>
          <a:ln w="9525">
            <a:solidFill>
              <a:srgbClr val="9CCFD4"/>
            </a:solidFill>
            <a:prstDash val="solid"/>
          </a:ln>
          <a:effectLst>
            <a:outerShdw sx="100000" sy="100000" kx="0" ky="0" algn="bl" rotWithShape="0" blurRad="50800" dist="19050" dir="5400000">
              <a:srgbClr val="000000">
                <a:alpha val="10000"/>
              </a:srgbClr>
            </a:outerShdw>
          </a:effectLst>
        </p:spPr>
      </p:sp>
      <p:sp>
        <p:nvSpPr>
          <p:cNvPr id="81" name="Text 78"/>
          <p:cNvSpPr txBox="1"/>
          <p:nvPr/>
        </p:nvSpPr>
        <p:spPr>
          <a:xfrm>
            <a:off x="8296656" y="4471416"/>
            <a:ext cx="3270504" cy="274320"/>
          </a:xfrm>
          <a:prstGeom prst="rect">
            <a:avLst/>
          </a:prstGeom>
          <a:noFill/>
          <a:ln/>
        </p:spPr>
        <p:txBody>
          <a:bodyPr wrap="square" lIns="0" tIns="0" rIns="0" bIns="0" rtlCol="0" anchor="ctr"/>
          <a:lstStyle/>
          <a:p>
            <a:pPr algn="l" indent="0" marL="0">
              <a:buNone/>
            </a:pPr>
            <a:r>
              <a:rPr lang="en-US" sz="1100" b="1" spc="200" kern="0" dirty="0">
                <a:solidFill>
                  <a:srgbClr val="0E7C86"/>
                </a:solidFill>
                <a:latin typeface="Calibri" pitchFamily="34" charset="0"/>
                <a:ea typeface="Calibri" pitchFamily="34" charset="-122"/>
                <a:cs typeface="Calibri" pitchFamily="34" charset="-120"/>
              </a:rPr>
              <a:t>HOW TO ANSWER</a:t>
            </a:r>
            <a:endParaRPr lang="en-US" sz="1100" dirty="0"/>
          </a:p>
        </p:txBody>
      </p:sp>
      <p:sp>
        <p:nvSpPr>
          <p:cNvPr id="82" name="Text 79"/>
          <p:cNvSpPr txBox="1"/>
          <p:nvPr/>
        </p:nvSpPr>
        <p:spPr>
          <a:xfrm>
            <a:off x="8296656" y="4754880"/>
            <a:ext cx="3270504" cy="822960"/>
          </a:xfrm>
          <a:prstGeom prst="rect">
            <a:avLst/>
          </a:prstGeom>
          <a:noFill/>
          <a:ln/>
        </p:spPr>
        <p:txBody>
          <a:bodyPr wrap="square" lIns="0" tIns="0" rIns="0" bIns="0" rtlCol="0" anchor="t"/>
          <a:lstStyle/>
          <a:p>
            <a:pPr algn="l" indent="0" marL="0">
              <a:buNone/>
            </a:pPr>
            <a:r>
              <a:rPr lang="en-US" sz="1350" dirty="0">
                <a:solidFill>
                  <a:srgbClr val="1F2A37"/>
                </a:solidFill>
                <a:latin typeface="Calibri" pitchFamily="34" charset="0"/>
                <a:ea typeface="Calibri" pitchFamily="34" charset="-122"/>
                <a:cs typeface="Calibri" pitchFamily="34" charset="-120"/>
              </a:rPr>
              <a:t>Work on your own in silence.</a:t>
            </a:r>
            <a:endParaRPr lang="en-US" sz="1350" dirty="0"/>
          </a:p>
          <a:p>
            <a:pPr algn="l" indent="0" marL="0">
              <a:buNone/>
            </a:pPr>
            <a:r>
              <a:rPr lang="en-US" sz="1350" dirty="0">
                <a:solidFill>
                  <a:srgbClr val="1F2A37"/>
                </a:solidFill>
                <a:latin typeface="Calibri" pitchFamily="34" charset="0"/>
                <a:ea typeface="Calibri" pitchFamily="34" charset="-122"/>
                <a:cs typeface="Calibri" pitchFamily="34" charset="-120"/>
              </a:rPr>
              <a:t>When the timer ends, type in the chat:</a:t>
            </a:r>
            <a:endParaRPr lang="en-US" sz="1350" dirty="0"/>
          </a:p>
        </p:txBody>
      </p:sp>
      <p:sp>
        <p:nvSpPr>
          <p:cNvPr id="83" name="Text 80"/>
          <p:cNvSpPr txBox="1"/>
          <p:nvPr/>
        </p:nvSpPr>
        <p:spPr>
          <a:xfrm>
            <a:off x="8296656" y="5522976"/>
            <a:ext cx="3270504" cy="310896"/>
          </a:xfrm>
          <a:prstGeom prst="rect">
            <a:avLst/>
          </a:prstGeom>
          <a:noFill/>
          <a:ln/>
        </p:spPr>
        <p:txBody>
          <a:bodyPr wrap="square" lIns="0" tIns="0" rIns="0" bIns="0" rtlCol="0" anchor="ctr"/>
          <a:lstStyle/>
          <a:p>
            <a:pPr algn="l" indent="0" marL="0">
              <a:buNone/>
            </a:pPr>
            <a:r>
              <a:rPr lang="en-US" sz="1400" b="1" dirty="0">
                <a:solidFill>
                  <a:srgbClr val="1B3B6F"/>
                </a:solidFill>
                <a:latin typeface="Consolas" pitchFamily="34" charset="0"/>
                <a:ea typeface="Consolas" pitchFamily="34" charset="-122"/>
                <a:cs typeface="Consolas" pitchFamily="34" charset="-120"/>
              </a:rPr>
              <a:t>1_  2_  3_  4_  5_</a:t>
            </a:r>
            <a:endParaRPr lang="en-US" sz="1400" dirty="0"/>
          </a:p>
        </p:txBody>
      </p:sp>
      <p:sp>
        <p:nvSpPr>
          <p:cNvPr id="84" name="Text 81"/>
          <p:cNvSpPr txBox="1"/>
          <p:nvPr/>
        </p:nvSpPr>
        <p:spPr>
          <a:xfrm>
            <a:off x="8296656" y="5742432"/>
            <a:ext cx="3270504" cy="402336"/>
          </a:xfrm>
          <a:prstGeom prst="rect">
            <a:avLst/>
          </a:prstGeom>
          <a:noFill/>
          <a:ln/>
        </p:spPr>
        <p:txBody>
          <a:bodyPr wrap="square" lIns="0" tIns="0" rIns="0" bIns="0" rtlCol="0" anchor="ctr"/>
          <a:lstStyle/>
          <a:p>
            <a:pPr algn="l" indent="0" marL="0">
              <a:buNone/>
            </a:pPr>
            <a:r>
              <a:rPr lang="en-US" sz="1800" b="1" dirty="0">
                <a:solidFill>
                  <a:srgbClr val="0E7C86"/>
                </a:solidFill>
                <a:latin typeface="Calibri" pitchFamily="34" charset="0"/>
                <a:ea typeface="Calibri" pitchFamily="34" charset="-122"/>
                <a:cs typeface="Calibri" pitchFamily="34" charset="-120"/>
              </a:rPr>
              <a:t>⏱  5 : 00</a:t>
            </a:r>
            <a:endParaRPr lang="en-US" sz="1800" dirty="0"/>
          </a:p>
        </p:txBody>
      </p:sp>
      <p:sp>
        <p:nvSpPr>
          <p:cNvPr id="85" name="Text 82"/>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ea typeface="Calibri" pitchFamily="34" charset="-122"/>
                <a:cs typeface="Calibri" pitchFamily="34" charset="-120"/>
              </a:rPr>
              <a:t>4 / 36</a:t>
            </a:r>
            <a:endParaRPr lang="en-US" sz="8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34" charset="0"/>
                <a:ea typeface="Amiri" pitchFamily="34" charset="-122"/>
                <a:cs typeface="Amiri" pitchFamily="34" charset="-120"/>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ea typeface="Cambria" pitchFamily="34" charset="-122"/>
                <a:cs typeface="Cambria" pitchFamily="34" charset="-120"/>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ea typeface="Calibri" pitchFamily="34" charset="-122"/>
                <a:cs typeface="Calibri" pitchFamily="34" charset="-120"/>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ea typeface="Calibri" pitchFamily="34" charset="-122"/>
                <a:cs typeface="Calibri" pitchFamily="34" charset="-120"/>
              </a:rPr>
              <a:t>F2-L05 · Masculine &amp; Feminine</a:t>
            </a:r>
            <a:endParaRPr lang="en-US" sz="950" dirty="0"/>
          </a:p>
        </p:txBody>
      </p:sp>
      <p:sp>
        <p:nvSpPr>
          <p:cNvPr id="8" name="Shape 6"/>
          <p:cNvSpPr/>
          <p:nvPr/>
        </p:nvSpPr>
        <p:spPr>
          <a:xfrm>
            <a:off x="7295083" y="274320"/>
            <a:ext cx="1464869" cy="329184"/>
          </a:xfrm>
          <a:prstGeom prst="roundRect">
            <a:avLst>
              <a:gd name="adj" fmla="val 50000"/>
            </a:avLst>
          </a:prstGeom>
          <a:solidFill>
            <a:srgbClr val="0E7C86"/>
          </a:solidFill>
          <a:ln w="12700">
            <a:solidFill>
              <a:srgbClr val="0E7C86"/>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ea typeface="Calibri" pitchFamily="34" charset="-122"/>
                <a:cs typeface="Calibri" pitchFamily="34" charset="-120"/>
              </a:rPr>
              <a:t>DO NOW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0E7C86"/>
                </a:solidFill>
                <a:latin typeface="Calibri" pitchFamily="34" charset="0"/>
                <a:ea typeface="Calibri" pitchFamily="34" charset="-122"/>
                <a:cs typeface="Calibri" pitchFamily="34" charset="-120"/>
              </a:rPr>
              <a:t>DO NOW · ANSWERS AND REASONS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ea typeface="Cambria" pitchFamily="34" charset="-122"/>
                <a:cs typeface="Cambria" pitchFamily="34" charset="-120"/>
              </a:rPr>
              <a:t>Let’s check — and explain why</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34" charset="0"/>
                <a:ea typeface="Amiri" pitchFamily="34" charset="-122"/>
                <a:cs typeface="Amiri" pitchFamily="34" charset="-120"/>
              </a:rPr>
              <a:t>الإِجَابَاتُ وَالتَّعْلِيلُ</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ea typeface="Calibri" pitchFamily="34" charset="-122"/>
                <a:cs typeface="Calibri" pitchFamily="34" charset="-120"/>
              </a:rPr>
              <a:t>Miftah Arabic · Foundation F2 · Greetings &amp; Introductions · Week 2 · Lesson 2 of 3</a:t>
            </a:r>
            <a:endParaRPr lang="en-US" sz="850" dirty="0"/>
          </a:p>
        </p:txBody>
      </p:sp>
      <p:sp>
        <p:nvSpPr>
          <p:cNvPr id="15" name="Shape 12"/>
          <p:cNvSpPr/>
          <p:nvPr/>
        </p:nvSpPr>
        <p:spPr>
          <a:xfrm>
            <a:off x="457200"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1</a:t>
            </a:r>
            <a:endParaRPr lang="en-US" sz="1100" dirty="0"/>
          </a:p>
        </p:txBody>
      </p:sp>
      <p:sp>
        <p:nvSpPr>
          <p:cNvPr id="18" name="Text 15"/>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What is the feminine form of </a:t>
            </a:r>
            <a:pPr algn="l" indent="0" marL="0">
              <a:buNone/>
            </a:pPr>
            <a:r>
              <a:rPr lang="ar-SA" altLang="en-US" sz="1650" b="1" dirty="0">
                <a:solidFill>
                  <a:srgbClr val="1B3B6F"/>
                </a:solidFill>
                <a:latin typeface="Amiri" pitchFamily="34" charset="0"/>
                <a:ea typeface="Amiri" pitchFamily="34" charset="-122"/>
                <a:cs typeface="Amiri" pitchFamily="34" charset="-120"/>
              </a:rPr>
              <a:t>طَالِبٌ</a:t>
            </a:r>
            <a:pPr algn="l" indent="0" marL="0">
              <a:buNone/>
            </a:pPr>
            <a:r>
              <a:rPr lang="en-US" sz="1250" b="1" dirty="0">
                <a:solidFill>
                  <a:srgbClr val="1B3B6F"/>
                </a:solidFill>
                <a:latin typeface="Calibri" pitchFamily="34" charset="0"/>
                <a:ea typeface="Calibri" pitchFamily="34" charset="-122"/>
                <a:cs typeface="Calibri" pitchFamily="34" charset="-120"/>
              </a:rPr>
              <a:t>?</a:t>
            </a:r>
            <a:endParaRPr lang="en-US" sz="1250" dirty="0"/>
          </a:p>
        </p:txBody>
      </p:sp>
      <p:sp>
        <p:nvSpPr>
          <p:cNvPr id="19" name="Shape 16"/>
          <p:cNvSpPr/>
          <p:nvPr/>
        </p:nvSpPr>
        <p:spPr>
          <a:xfrm>
            <a:off x="640080" y="2490216"/>
            <a:ext cx="256032" cy="256032"/>
          </a:xfrm>
          <a:prstGeom prst="ellipse">
            <a:avLst/>
          </a:prstGeom>
          <a:solidFill>
            <a:srgbClr val="C9CED6"/>
          </a:solidFill>
          <a:ln w="12700">
            <a:solidFill>
              <a:srgbClr val="C9CED6"/>
            </a:solidFill>
            <a:prstDash val="solid"/>
          </a:ln>
        </p:spPr>
      </p:sp>
      <p:sp>
        <p:nvSpPr>
          <p:cNvPr id="20" name="Text 17"/>
          <p:cNvSpPr txBox="1"/>
          <p:nvPr/>
        </p:nvSpPr>
        <p:spPr>
          <a:xfrm>
            <a:off x="640080"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A</a:t>
            </a:r>
            <a:endParaRPr lang="en-US" sz="900" dirty="0"/>
          </a:p>
        </p:txBody>
      </p:sp>
      <p:sp>
        <p:nvSpPr>
          <p:cNvPr id="21" name="Text 18"/>
          <p:cNvSpPr txBox="1"/>
          <p:nvPr/>
        </p:nvSpPr>
        <p:spPr>
          <a:xfrm>
            <a:off x="969264" y="2432304"/>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34" charset="0"/>
                <a:ea typeface="Amiri" pitchFamily="34" charset="-122"/>
                <a:cs typeface="Amiri" pitchFamily="34" charset="-120"/>
              </a:rPr>
              <a:t>طُلَّابٌ</a:t>
            </a:r>
            <a:endParaRPr lang="ar-SA" sz="1700" dirty="0"/>
          </a:p>
        </p:txBody>
      </p:sp>
      <p:sp>
        <p:nvSpPr>
          <p:cNvPr id="22" name="Shape 19"/>
          <p:cNvSpPr/>
          <p:nvPr/>
        </p:nvSpPr>
        <p:spPr>
          <a:xfrm>
            <a:off x="548640" y="2825496"/>
            <a:ext cx="3453384" cy="347472"/>
          </a:xfrm>
          <a:prstGeom prst="roundRect">
            <a:avLst>
              <a:gd name="adj" fmla="val 15789"/>
            </a:avLst>
          </a:prstGeom>
          <a:solidFill>
            <a:srgbClr val="E6F4EC"/>
          </a:solidFill>
          <a:ln w="9525">
            <a:solidFill>
              <a:srgbClr val="2E8B57"/>
            </a:solidFill>
            <a:prstDash val="solid"/>
          </a:ln>
        </p:spPr>
      </p:sp>
      <p:sp>
        <p:nvSpPr>
          <p:cNvPr id="23" name="Shape 20"/>
          <p:cNvSpPr/>
          <p:nvPr/>
        </p:nvSpPr>
        <p:spPr>
          <a:xfrm>
            <a:off x="640080" y="2862072"/>
            <a:ext cx="256032" cy="256032"/>
          </a:xfrm>
          <a:prstGeom prst="ellipse">
            <a:avLst/>
          </a:prstGeom>
          <a:solidFill>
            <a:srgbClr val="2E8B57"/>
          </a:solidFill>
          <a:ln w="12700">
            <a:solidFill>
              <a:srgbClr val="2E8B57"/>
            </a:solidFill>
            <a:prstDash val="solid"/>
          </a:ln>
        </p:spPr>
      </p:sp>
      <p:sp>
        <p:nvSpPr>
          <p:cNvPr id="24" name="Text 21"/>
          <p:cNvSpPr txBox="1"/>
          <p:nvPr/>
        </p:nvSpPr>
        <p:spPr>
          <a:xfrm>
            <a:off x="640080" y="286207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B</a:t>
            </a:r>
            <a:endParaRPr lang="en-US" sz="900" dirty="0"/>
          </a:p>
        </p:txBody>
      </p:sp>
      <p:sp>
        <p:nvSpPr>
          <p:cNvPr id="25" name="Text 22"/>
          <p:cNvSpPr txBox="1"/>
          <p:nvPr/>
        </p:nvSpPr>
        <p:spPr>
          <a:xfrm>
            <a:off x="969264" y="2804160"/>
            <a:ext cx="2977896"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34" charset="0"/>
                <a:ea typeface="Amiri" pitchFamily="34" charset="-122"/>
                <a:cs typeface="Amiri" pitchFamily="34" charset="-120"/>
              </a:rPr>
              <a:t>طَالِبَةٌ</a:t>
            </a:r>
            <a:endParaRPr lang="ar-SA" sz="1700" dirty="0"/>
          </a:p>
        </p:txBody>
      </p:sp>
      <p:sp>
        <p:nvSpPr>
          <p:cNvPr id="26" name="Shape 23"/>
          <p:cNvSpPr/>
          <p:nvPr/>
        </p:nvSpPr>
        <p:spPr>
          <a:xfrm>
            <a:off x="640080" y="3233928"/>
            <a:ext cx="256032" cy="256032"/>
          </a:xfrm>
          <a:prstGeom prst="ellipse">
            <a:avLst/>
          </a:prstGeom>
          <a:solidFill>
            <a:srgbClr val="C9CED6"/>
          </a:solidFill>
          <a:ln w="12700">
            <a:solidFill>
              <a:srgbClr val="C9CED6"/>
            </a:solidFill>
            <a:prstDash val="solid"/>
          </a:ln>
        </p:spPr>
      </p:sp>
      <p:sp>
        <p:nvSpPr>
          <p:cNvPr id="27" name="Text 24"/>
          <p:cNvSpPr txBox="1"/>
          <p:nvPr/>
        </p:nvSpPr>
        <p:spPr>
          <a:xfrm>
            <a:off x="640080"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C</a:t>
            </a:r>
            <a:endParaRPr lang="en-US" sz="900" dirty="0"/>
          </a:p>
        </p:txBody>
      </p:sp>
      <p:sp>
        <p:nvSpPr>
          <p:cNvPr id="28" name="Text 25"/>
          <p:cNvSpPr txBox="1"/>
          <p:nvPr/>
        </p:nvSpPr>
        <p:spPr>
          <a:xfrm>
            <a:off x="969264" y="3176016"/>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34" charset="0"/>
                <a:ea typeface="Amiri" pitchFamily="34" charset="-122"/>
                <a:cs typeface="Amiri" pitchFamily="34" charset="-120"/>
              </a:rPr>
              <a:t>طَالِبِي</a:t>
            </a:r>
            <a:endParaRPr lang="ar-SA" sz="1700" dirty="0"/>
          </a:p>
        </p:txBody>
      </p:sp>
      <p:sp>
        <p:nvSpPr>
          <p:cNvPr id="29" name="Text 26"/>
          <p:cNvSpPr txBox="1"/>
          <p:nvPr/>
        </p:nvSpPr>
        <p:spPr>
          <a:xfrm>
            <a:off x="585216" y="3566160"/>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ea typeface="Calibri" pitchFamily="34" charset="-122"/>
                <a:cs typeface="Calibri" pitchFamily="34" charset="-120"/>
              </a:rPr>
              <a:t>Prepared at home.</a:t>
            </a:r>
            <a:endParaRPr lang="en-US" sz="1050" dirty="0"/>
          </a:p>
        </p:txBody>
      </p:sp>
      <p:sp>
        <p:nvSpPr>
          <p:cNvPr id="30" name="Shape 27"/>
          <p:cNvSpPr/>
          <p:nvPr/>
        </p:nvSpPr>
        <p:spPr>
          <a:xfrm>
            <a:off x="4276344"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4404360" y="1947672"/>
            <a:ext cx="310896" cy="310896"/>
          </a:xfrm>
          <a:prstGeom prst="ellipse">
            <a:avLst/>
          </a:prstGeom>
          <a:solidFill>
            <a:srgbClr val="1B3B6F"/>
          </a:solidFill>
          <a:ln w="12700">
            <a:solidFill>
              <a:srgbClr val="1B3B6F"/>
            </a:solidFill>
            <a:prstDash val="solid"/>
          </a:ln>
        </p:spPr>
      </p:sp>
      <p:sp>
        <p:nvSpPr>
          <p:cNvPr id="32" name="Text 29"/>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2</a:t>
            </a:r>
            <a:endParaRPr lang="en-US" sz="1100" dirty="0"/>
          </a:p>
        </p:txBody>
      </p:sp>
      <p:sp>
        <p:nvSpPr>
          <p:cNvPr id="33" name="Text 30"/>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What does </a:t>
            </a:r>
            <a:pPr algn="l" indent="0" marL="0">
              <a:buNone/>
            </a:pPr>
            <a:r>
              <a:rPr lang="ar-SA" altLang="en-US" sz="1650" b="1" dirty="0">
                <a:solidFill>
                  <a:srgbClr val="1B3B6F"/>
                </a:solidFill>
                <a:latin typeface="Amiri" pitchFamily="34" charset="0"/>
                <a:ea typeface="Amiri" pitchFamily="34" charset="-122"/>
                <a:cs typeface="Amiri" pitchFamily="34" charset="-120"/>
              </a:rPr>
              <a:t>جَدِيدٌ</a:t>
            </a:r>
            <a:pPr algn="l" indent="0" marL="0">
              <a:buNone/>
            </a:pPr>
            <a:r>
              <a:rPr lang="en-US" sz="1250" b="1" dirty="0">
                <a:solidFill>
                  <a:srgbClr val="1B3B6F"/>
                </a:solidFill>
                <a:latin typeface="Calibri" pitchFamily="34" charset="0"/>
                <a:ea typeface="Calibri" pitchFamily="34" charset="-122"/>
                <a:cs typeface="Calibri" pitchFamily="34" charset="-120"/>
              </a:rPr>
              <a:t> mean?</a:t>
            </a:r>
            <a:endParaRPr lang="en-US" sz="1250" dirty="0"/>
          </a:p>
        </p:txBody>
      </p:sp>
      <p:sp>
        <p:nvSpPr>
          <p:cNvPr id="34" name="Shape 31"/>
          <p:cNvSpPr/>
          <p:nvPr/>
        </p:nvSpPr>
        <p:spPr>
          <a:xfrm>
            <a:off x="4367784" y="2453640"/>
            <a:ext cx="3453384" cy="347472"/>
          </a:xfrm>
          <a:prstGeom prst="roundRect">
            <a:avLst>
              <a:gd name="adj" fmla="val 15789"/>
            </a:avLst>
          </a:prstGeom>
          <a:solidFill>
            <a:srgbClr val="E6F4EC"/>
          </a:solidFill>
          <a:ln w="9525">
            <a:solidFill>
              <a:srgbClr val="2E8B57"/>
            </a:solidFill>
            <a:prstDash val="solid"/>
          </a:ln>
        </p:spPr>
      </p:sp>
      <p:sp>
        <p:nvSpPr>
          <p:cNvPr id="35" name="Shape 32"/>
          <p:cNvSpPr/>
          <p:nvPr/>
        </p:nvSpPr>
        <p:spPr>
          <a:xfrm>
            <a:off x="4459224" y="2490216"/>
            <a:ext cx="256032" cy="256032"/>
          </a:xfrm>
          <a:prstGeom prst="ellipse">
            <a:avLst/>
          </a:prstGeom>
          <a:solidFill>
            <a:srgbClr val="2E8B57"/>
          </a:solidFill>
          <a:ln w="12700">
            <a:solidFill>
              <a:srgbClr val="2E8B57"/>
            </a:solidFill>
            <a:prstDash val="solid"/>
          </a:ln>
        </p:spPr>
      </p:sp>
      <p:sp>
        <p:nvSpPr>
          <p:cNvPr id="36" name="Text 33"/>
          <p:cNvSpPr txBox="1"/>
          <p:nvPr/>
        </p:nvSpPr>
        <p:spPr>
          <a:xfrm>
            <a:off x="4459224" y="249021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A</a:t>
            </a:r>
            <a:endParaRPr lang="en-US" sz="900" dirty="0"/>
          </a:p>
        </p:txBody>
      </p:sp>
      <p:sp>
        <p:nvSpPr>
          <p:cNvPr id="37" name="Text 34"/>
          <p:cNvSpPr txBox="1"/>
          <p:nvPr/>
        </p:nvSpPr>
        <p:spPr>
          <a:xfrm>
            <a:off x="4788408" y="2432304"/>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ea typeface="Calibri" pitchFamily="34" charset="-122"/>
                <a:cs typeface="Calibri" pitchFamily="34" charset="-120"/>
              </a:rPr>
              <a:t>new</a:t>
            </a:r>
            <a:endParaRPr lang="en-US" sz="1250" dirty="0"/>
          </a:p>
        </p:txBody>
      </p:sp>
      <p:sp>
        <p:nvSpPr>
          <p:cNvPr id="38" name="Shape 35"/>
          <p:cNvSpPr/>
          <p:nvPr/>
        </p:nvSpPr>
        <p:spPr>
          <a:xfrm>
            <a:off x="4459224" y="2862072"/>
            <a:ext cx="256032" cy="256032"/>
          </a:xfrm>
          <a:prstGeom prst="ellipse">
            <a:avLst/>
          </a:prstGeom>
          <a:solidFill>
            <a:srgbClr val="C9CED6"/>
          </a:solidFill>
          <a:ln w="12700">
            <a:solidFill>
              <a:srgbClr val="C9CED6"/>
            </a:solidFill>
            <a:prstDash val="solid"/>
          </a:ln>
        </p:spPr>
      </p:sp>
      <p:sp>
        <p:nvSpPr>
          <p:cNvPr id="39" name="Text 36"/>
          <p:cNvSpPr txBox="1"/>
          <p:nvPr/>
        </p:nvSpPr>
        <p:spPr>
          <a:xfrm>
            <a:off x="4459224"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40" name="Text 37"/>
          <p:cNvSpPr txBox="1"/>
          <p:nvPr/>
        </p:nvSpPr>
        <p:spPr>
          <a:xfrm>
            <a:off x="4788408" y="2804160"/>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ea typeface="Calibri" pitchFamily="34" charset="-122"/>
                <a:cs typeface="Calibri" pitchFamily="34" charset="-120"/>
              </a:rPr>
              <a:t>old</a:t>
            </a:r>
            <a:endParaRPr lang="en-US" sz="1250" dirty="0"/>
          </a:p>
        </p:txBody>
      </p:sp>
      <p:sp>
        <p:nvSpPr>
          <p:cNvPr id="41" name="Shape 38"/>
          <p:cNvSpPr/>
          <p:nvPr/>
        </p:nvSpPr>
        <p:spPr>
          <a:xfrm>
            <a:off x="4459224" y="3233928"/>
            <a:ext cx="256032" cy="256032"/>
          </a:xfrm>
          <a:prstGeom prst="ellipse">
            <a:avLst/>
          </a:prstGeom>
          <a:solidFill>
            <a:srgbClr val="C9CED6"/>
          </a:solidFill>
          <a:ln w="12700">
            <a:solidFill>
              <a:srgbClr val="C9CED6"/>
            </a:solidFill>
            <a:prstDash val="solid"/>
          </a:ln>
        </p:spPr>
      </p:sp>
      <p:sp>
        <p:nvSpPr>
          <p:cNvPr id="42" name="Text 39"/>
          <p:cNvSpPr txBox="1"/>
          <p:nvPr/>
        </p:nvSpPr>
        <p:spPr>
          <a:xfrm>
            <a:off x="4459224"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C</a:t>
            </a:r>
            <a:endParaRPr lang="en-US" sz="900" dirty="0"/>
          </a:p>
        </p:txBody>
      </p:sp>
      <p:sp>
        <p:nvSpPr>
          <p:cNvPr id="43" name="Text 40"/>
          <p:cNvSpPr txBox="1"/>
          <p:nvPr/>
        </p:nvSpPr>
        <p:spPr>
          <a:xfrm>
            <a:off x="4788408" y="3176016"/>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ea typeface="Calibri" pitchFamily="34" charset="-122"/>
                <a:cs typeface="Calibri" pitchFamily="34" charset="-120"/>
              </a:rPr>
              <a:t>big</a:t>
            </a:r>
            <a:endParaRPr lang="en-US" sz="1250" dirty="0"/>
          </a:p>
        </p:txBody>
      </p:sp>
      <p:sp>
        <p:nvSpPr>
          <p:cNvPr id="44" name="Text 41"/>
          <p:cNvSpPr txBox="1"/>
          <p:nvPr/>
        </p:nvSpPr>
        <p:spPr>
          <a:xfrm>
            <a:off x="4404360" y="3566160"/>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ea typeface="Calibri" pitchFamily="34" charset="-122"/>
                <a:cs typeface="Calibri" pitchFamily="34" charset="-120"/>
              </a:rPr>
              <a:t>Prepared at home.</a:t>
            </a:r>
            <a:endParaRPr lang="en-US" sz="1050" dirty="0"/>
          </a:p>
        </p:txBody>
      </p:sp>
      <p:sp>
        <p:nvSpPr>
          <p:cNvPr id="45" name="Shape 42"/>
          <p:cNvSpPr/>
          <p:nvPr/>
        </p:nvSpPr>
        <p:spPr>
          <a:xfrm>
            <a:off x="8095488"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6" name="Shape 43"/>
          <p:cNvSpPr/>
          <p:nvPr/>
        </p:nvSpPr>
        <p:spPr>
          <a:xfrm>
            <a:off x="8223504" y="1947672"/>
            <a:ext cx="310896" cy="310896"/>
          </a:xfrm>
          <a:prstGeom prst="ellipse">
            <a:avLst/>
          </a:prstGeom>
          <a:solidFill>
            <a:srgbClr val="1B3B6F"/>
          </a:solidFill>
          <a:ln w="12700">
            <a:solidFill>
              <a:srgbClr val="1B3B6F"/>
            </a:solidFill>
            <a:prstDash val="solid"/>
          </a:ln>
        </p:spPr>
      </p:sp>
      <p:sp>
        <p:nvSpPr>
          <p:cNvPr id="47" name="Text 44"/>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3</a:t>
            </a:r>
            <a:endParaRPr lang="en-US" sz="1100" dirty="0"/>
          </a:p>
        </p:txBody>
      </p:sp>
      <p:sp>
        <p:nvSpPr>
          <p:cNvPr id="48" name="Text 45"/>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Which question addresses one female?</a:t>
            </a:r>
            <a:endParaRPr lang="en-US" sz="1250" dirty="0"/>
          </a:p>
        </p:txBody>
      </p:sp>
      <p:sp>
        <p:nvSpPr>
          <p:cNvPr id="49" name="Shape 46"/>
          <p:cNvSpPr/>
          <p:nvPr/>
        </p:nvSpPr>
        <p:spPr>
          <a:xfrm>
            <a:off x="8278368" y="2490216"/>
            <a:ext cx="256032" cy="256032"/>
          </a:xfrm>
          <a:prstGeom prst="ellipse">
            <a:avLst/>
          </a:prstGeom>
          <a:solidFill>
            <a:srgbClr val="C9CED6"/>
          </a:solidFill>
          <a:ln w="12700">
            <a:solidFill>
              <a:srgbClr val="C9CED6"/>
            </a:solidFill>
            <a:prstDash val="solid"/>
          </a:ln>
        </p:spPr>
      </p:sp>
      <p:sp>
        <p:nvSpPr>
          <p:cNvPr id="50" name="Text 47"/>
          <p:cNvSpPr txBox="1"/>
          <p:nvPr/>
        </p:nvSpPr>
        <p:spPr>
          <a:xfrm>
            <a:off x="8278368"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A</a:t>
            </a:r>
            <a:endParaRPr lang="en-US" sz="900" dirty="0"/>
          </a:p>
        </p:txBody>
      </p:sp>
      <p:sp>
        <p:nvSpPr>
          <p:cNvPr id="51" name="Text 48"/>
          <p:cNvSpPr txBox="1"/>
          <p:nvPr/>
        </p:nvSpPr>
        <p:spPr>
          <a:xfrm>
            <a:off x="8607552" y="2432304"/>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34" charset="0"/>
                <a:ea typeface="Amiri" pitchFamily="34" charset="-122"/>
                <a:cs typeface="Amiri" pitchFamily="34" charset="-120"/>
              </a:rPr>
              <a:t>مَا اسْمُكَ؟</a:t>
            </a:r>
            <a:endParaRPr lang="ar-SA" sz="1700" dirty="0"/>
          </a:p>
        </p:txBody>
      </p:sp>
      <p:sp>
        <p:nvSpPr>
          <p:cNvPr id="52" name="Shape 49"/>
          <p:cNvSpPr/>
          <p:nvPr/>
        </p:nvSpPr>
        <p:spPr>
          <a:xfrm>
            <a:off x="8278368" y="2862072"/>
            <a:ext cx="256032" cy="256032"/>
          </a:xfrm>
          <a:prstGeom prst="ellipse">
            <a:avLst/>
          </a:prstGeom>
          <a:solidFill>
            <a:srgbClr val="C9CED6"/>
          </a:solidFill>
          <a:ln w="12700">
            <a:solidFill>
              <a:srgbClr val="C9CED6"/>
            </a:solidFill>
            <a:prstDash val="solid"/>
          </a:ln>
        </p:spPr>
      </p:sp>
      <p:sp>
        <p:nvSpPr>
          <p:cNvPr id="53" name="Text 50"/>
          <p:cNvSpPr txBox="1"/>
          <p:nvPr/>
        </p:nvSpPr>
        <p:spPr>
          <a:xfrm>
            <a:off x="8278368"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54" name="Text 51"/>
          <p:cNvSpPr txBox="1"/>
          <p:nvPr/>
        </p:nvSpPr>
        <p:spPr>
          <a:xfrm>
            <a:off x="8607552" y="2804160"/>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34" charset="0"/>
                <a:ea typeface="Amiri" pitchFamily="34" charset="-122"/>
                <a:cs typeface="Amiri" pitchFamily="34" charset="-120"/>
              </a:rPr>
              <a:t>كَمْ عُمْرُكَ؟</a:t>
            </a:r>
            <a:endParaRPr lang="ar-SA" sz="1700" dirty="0"/>
          </a:p>
        </p:txBody>
      </p:sp>
      <p:sp>
        <p:nvSpPr>
          <p:cNvPr id="55" name="Shape 52"/>
          <p:cNvSpPr/>
          <p:nvPr/>
        </p:nvSpPr>
        <p:spPr>
          <a:xfrm>
            <a:off x="8186928" y="3197352"/>
            <a:ext cx="3453384" cy="347472"/>
          </a:xfrm>
          <a:prstGeom prst="roundRect">
            <a:avLst>
              <a:gd name="adj" fmla="val 15789"/>
            </a:avLst>
          </a:prstGeom>
          <a:solidFill>
            <a:srgbClr val="E6F4EC"/>
          </a:solidFill>
          <a:ln w="9525">
            <a:solidFill>
              <a:srgbClr val="2E8B57"/>
            </a:solidFill>
            <a:prstDash val="solid"/>
          </a:ln>
        </p:spPr>
      </p:sp>
      <p:sp>
        <p:nvSpPr>
          <p:cNvPr id="56" name="Shape 53"/>
          <p:cNvSpPr/>
          <p:nvPr/>
        </p:nvSpPr>
        <p:spPr>
          <a:xfrm>
            <a:off x="8278368" y="3233928"/>
            <a:ext cx="256032" cy="256032"/>
          </a:xfrm>
          <a:prstGeom prst="ellipse">
            <a:avLst/>
          </a:prstGeom>
          <a:solidFill>
            <a:srgbClr val="2E8B57"/>
          </a:solidFill>
          <a:ln w="12700">
            <a:solidFill>
              <a:srgbClr val="2E8B57"/>
            </a:solidFill>
            <a:prstDash val="solid"/>
          </a:ln>
        </p:spPr>
      </p:sp>
      <p:sp>
        <p:nvSpPr>
          <p:cNvPr id="57" name="Text 54"/>
          <p:cNvSpPr txBox="1"/>
          <p:nvPr/>
        </p:nvSpPr>
        <p:spPr>
          <a:xfrm>
            <a:off x="8278368" y="323392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C</a:t>
            </a:r>
            <a:endParaRPr lang="en-US" sz="900" dirty="0"/>
          </a:p>
        </p:txBody>
      </p:sp>
      <p:sp>
        <p:nvSpPr>
          <p:cNvPr id="58" name="Text 55"/>
          <p:cNvSpPr txBox="1"/>
          <p:nvPr/>
        </p:nvSpPr>
        <p:spPr>
          <a:xfrm>
            <a:off x="8607552" y="3176016"/>
            <a:ext cx="2977896"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34" charset="0"/>
                <a:ea typeface="Amiri" pitchFamily="34" charset="-122"/>
                <a:cs typeface="Amiri" pitchFamily="34" charset="-120"/>
              </a:rPr>
              <a:t>مَا اسْمُكِ؟</a:t>
            </a:r>
            <a:endParaRPr lang="ar-SA" sz="1700" dirty="0"/>
          </a:p>
        </p:txBody>
      </p:sp>
      <p:sp>
        <p:nvSpPr>
          <p:cNvPr id="59" name="Text 56"/>
          <p:cNvSpPr txBox="1"/>
          <p:nvPr/>
        </p:nvSpPr>
        <p:spPr>
          <a:xfrm>
            <a:off x="8223504" y="3566160"/>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ea typeface="Calibri" pitchFamily="34" charset="-122"/>
                <a:cs typeface="Calibri" pitchFamily="34" charset="-120"/>
              </a:rPr>
              <a:t>The kasra in </a:t>
            </a:r>
            <a:pPr algn="l" indent="0" marL="0">
              <a:buNone/>
            </a:pPr>
            <a:r>
              <a:rPr lang="ar-SA" altLang="en-US" sz="1350" dirty="0">
                <a:solidFill>
                  <a:srgbClr val="8A6D1E"/>
                </a:solidFill>
                <a:latin typeface="Amiri" pitchFamily="34" charset="0"/>
                <a:ea typeface="Amiri" pitchFamily="34" charset="-122"/>
                <a:cs typeface="Amiri" pitchFamily="34" charset="-120"/>
              </a:rPr>
              <a:t>ـكِ</a:t>
            </a:r>
            <a:pPr algn="l" indent="0" marL="0">
              <a:buNone/>
            </a:pPr>
            <a:r>
              <a:rPr lang="en-US" sz="1050" i="1" dirty="0">
                <a:solidFill>
                  <a:srgbClr val="8A6D1E"/>
                </a:solidFill>
                <a:latin typeface="Calibri" pitchFamily="34" charset="0"/>
                <a:ea typeface="Calibri" pitchFamily="34" charset="-122"/>
                <a:cs typeface="Calibri" pitchFamily="34" charset="-120"/>
              </a:rPr>
              <a:t> addresses one female.</a:t>
            </a:r>
            <a:endParaRPr lang="en-US" sz="1050" dirty="0"/>
          </a:p>
        </p:txBody>
      </p:sp>
      <p:sp>
        <p:nvSpPr>
          <p:cNvPr id="60" name="Shape 57"/>
          <p:cNvSpPr/>
          <p:nvPr/>
        </p:nvSpPr>
        <p:spPr>
          <a:xfrm>
            <a:off x="457200"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1" name="Shape 58"/>
          <p:cNvSpPr/>
          <p:nvPr/>
        </p:nvSpPr>
        <p:spPr>
          <a:xfrm>
            <a:off x="585216" y="4288536"/>
            <a:ext cx="310896" cy="310896"/>
          </a:xfrm>
          <a:prstGeom prst="ellipse">
            <a:avLst/>
          </a:prstGeom>
          <a:solidFill>
            <a:srgbClr val="1B3B6F"/>
          </a:solidFill>
          <a:ln w="12700">
            <a:solidFill>
              <a:srgbClr val="1B3B6F"/>
            </a:solidFill>
            <a:prstDash val="solid"/>
          </a:ln>
        </p:spPr>
      </p:sp>
      <p:sp>
        <p:nvSpPr>
          <p:cNvPr id="62" name="Text 59"/>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4</a:t>
            </a:r>
            <a:endParaRPr lang="en-US" sz="1100" dirty="0"/>
          </a:p>
        </p:txBody>
      </p:sp>
      <p:sp>
        <p:nvSpPr>
          <p:cNvPr id="63" name="Text 60"/>
          <p:cNvSpPr txBox="1"/>
          <p:nvPr/>
        </p:nvSpPr>
        <p:spPr>
          <a:xfrm>
            <a:off x="950976"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Choose the feminine nationality.</a:t>
            </a:r>
            <a:endParaRPr lang="en-US" sz="1250" dirty="0"/>
          </a:p>
        </p:txBody>
      </p:sp>
      <p:sp>
        <p:nvSpPr>
          <p:cNvPr id="64" name="Shape 61"/>
          <p:cNvSpPr/>
          <p:nvPr/>
        </p:nvSpPr>
        <p:spPr>
          <a:xfrm>
            <a:off x="640080" y="4831080"/>
            <a:ext cx="256032" cy="256032"/>
          </a:xfrm>
          <a:prstGeom prst="ellipse">
            <a:avLst/>
          </a:prstGeom>
          <a:solidFill>
            <a:srgbClr val="C9CED6"/>
          </a:solidFill>
          <a:ln w="12700">
            <a:solidFill>
              <a:srgbClr val="C9CED6"/>
            </a:solidFill>
            <a:prstDash val="solid"/>
          </a:ln>
        </p:spPr>
      </p:sp>
      <p:sp>
        <p:nvSpPr>
          <p:cNvPr id="65" name="Text 62"/>
          <p:cNvSpPr txBox="1"/>
          <p:nvPr/>
        </p:nvSpPr>
        <p:spPr>
          <a:xfrm>
            <a:off x="640080" y="4831080"/>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A</a:t>
            </a:r>
            <a:endParaRPr lang="en-US" sz="900" dirty="0"/>
          </a:p>
        </p:txBody>
      </p:sp>
      <p:sp>
        <p:nvSpPr>
          <p:cNvPr id="66" name="Text 63"/>
          <p:cNvSpPr txBox="1"/>
          <p:nvPr/>
        </p:nvSpPr>
        <p:spPr>
          <a:xfrm>
            <a:off x="969264" y="4773168"/>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34" charset="0"/>
                <a:ea typeface="Amiri" pitchFamily="34" charset="-122"/>
                <a:cs typeface="Amiri" pitchFamily="34" charset="-120"/>
              </a:rPr>
              <a:t>سُورِيٌّ</a:t>
            </a:r>
            <a:endParaRPr lang="ar-SA" sz="1700" dirty="0"/>
          </a:p>
        </p:txBody>
      </p:sp>
      <p:sp>
        <p:nvSpPr>
          <p:cNvPr id="67" name="Shape 64"/>
          <p:cNvSpPr/>
          <p:nvPr/>
        </p:nvSpPr>
        <p:spPr>
          <a:xfrm>
            <a:off x="640080" y="5202936"/>
            <a:ext cx="256032" cy="256032"/>
          </a:xfrm>
          <a:prstGeom prst="ellipse">
            <a:avLst/>
          </a:prstGeom>
          <a:solidFill>
            <a:srgbClr val="C9CED6"/>
          </a:solidFill>
          <a:ln w="12700">
            <a:solidFill>
              <a:srgbClr val="C9CED6"/>
            </a:solidFill>
            <a:prstDash val="solid"/>
          </a:ln>
        </p:spPr>
      </p:sp>
      <p:sp>
        <p:nvSpPr>
          <p:cNvPr id="68" name="Text 65"/>
          <p:cNvSpPr txBox="1"/>
          <p:nvPr/>
        </p:nvSpPr>
        <p:spPr>
          <a:xfrm>
            <a:off x="640080"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69" name="Text 66"/>
          <p:cNvSpPr txBox="1"/>
          <p:nvPr/>
        </p:nvSpPr>
        <p:spPr>
          <a:xfrm>
            <a:off x="969264" y="5145024"/>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34" charset="0"/>
                <a:ea typeface="Amiri" pitchFamily="34" charset="-122"/>
                <a:cs typeface="Amiri" pitchFamily="34" charset="-120"/>
              </a:rPr>
              <a:t>سُورِيَا</a:t>
            </a:r>
            <a:endParaRPr lang="ar-SA" sz="1700" dirty="0"/>
          </a:p>
        </p:txBody>
      </p:sp>
      <p:sp>
        <p:nvSpPr>
          <p:cNvPr id="70" name="Shape 67"/>
          <p:cNvSpPr/>
          <p:nvPr/>
        </p:nvSpPr>
        <p:spPr>
          <a:xfrm>
            <a:off x="548640" y="5538216"/>
            <a:ext cx="3453384" cy="347472"/>
          </a:xfrm>
          <a:prstGeom prst="roundRect">
            <a:avLst>
              <a:gd name="adj" fmla="val 15789"/>
            </a:avLst>
          </a:prstGeom>
          <a:solidFill>
            <a:srgbClr val="E6F4EC"/>
          </a:solidFill>
          <a:ln w="9525">
            <a:solidFill>
              <a:srgbClr val="2E8B57"/>
            </a:solidFill>
            <a:prstDash val="solid"/>
          </a:ln>
        </p:spPr>
      </p:sp>
      <p:sp>
        <p:nvSpPr>
          <p:cNvPr id="71" name="Shape 68"/>
          <p:cNvSpPr/>
          <p:nvPr/>
        </p:nvSpPr>
        <p:spPr>
          <a:xfrm>
            <a:off x="640080" y="5574792"/>
            <a:ext cx="256032" cy="256032"/>
          </a:xfrm>
          <a:prstGeom prst="ellipse">
            <a:avLst/>
          </a:prstGeom>
          <a:solidFill>
            <a:srgbClr val="2E8B57"/>
          </a:solidFill>
          <a:ln w="12700">
            <a:solidFill>
              <a:srgbClr val="2E8B57"/>
            </a:solidFill>
            <a:prstDash val="solid"/>
          </a:ln>
        </p:spPr>
      </p:sp>
      <p:sp>
        <p:nvSpPr>
          <p:cNvPr id="72" name="Text 69"/>
          <p:cNvSpPr txBox="1"/>
          <p:nvPr/>
        </p:nvSpPr>
        <p:spPr>
          <a:xfrm>
            <a:off x="640080" y="557479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C</a:t>
            </a:r>
            <a:endParaRPr lang="en-US" sz="900" dirty="0"/>
          </a:p>
        </p:txBody>
      </p:sp>
      <p:sp>
        <p:nvSpPr>
          <p:cNvPr id="73" name="Text 70"/>
          <p:cNvSpPr txBox="1"/>
          <p:nvPr/>
        </p:nvSpPr>
        <p:spPr>
          <a:xfrm>
            <a:off x="969264" y="5516880"/>
            <a:ext cx="2977896"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34" charset="0"/>
                <a:ea typeface="Amiri" pitchFamily="34" charset="-122"/>
                <a:cs typeface="Amiri" pitchFamily="34" charset="-120"/>
              </a:rPr>
              <a:t>سُورِيَّةٌ</a:t>
            </a:r>
            <a:endParaRPr lang="ar-SA" sz="1700" dirty="0"/>
          </a:p>
        </p:txBody>
      </p:sp>
      <p:sp>
        <p:nvSpPr>
          <p:cNvPr id="74" name="Text 71"/>
          <p:cNvSpPr txBox="1"/>
          <p:nvPr/>
        </p:nvSpPr>
        <p:spPr>
          <a:xfrm>
            <a:off x="585216" y="5907024"/>
            <a:ext cx="3380232" cy="365760"/>
          </a:xfrm>
          <a:prstGeom prst="rect">
            <a:avLst/>
          </a:prstGeom>
          <a:noFill/>
          <a:ln/>
        </p:spPr>
        <p:txBody>
          <a:bodyPr wrap="square" lIns="0" tIns="0" rIns="0" bIns="0" rtlCol="0" anchor="ctr"/>
          <a:lstStyle/>
          <a:p>
            <a:pPr algn="l" indent="0" marL="0">
              <a:buNone/>
            </a:pPr>
            <a:r>
              <a:rPr lang="ar-SA" altLang="en-US" sz="1350" dirty="0">
                <a:solidFill>
                  <a:srgbClr val="8A6D1E"/>
                </a:solidFill>
                <a:latin typeface="Amiri" pitchFamily="34" charset="0"/>
                <a:ea typeface="Amiri" pitchFamily="34" charset="-122"/>
                <a:cs typeface="Amiri" pitchFamily="34" charset="-120"/>
              </a:rPr>
              <a:t>سُورِيَّةٌ</a:t>
            </a:r>
            <a:pPr algn="l" indent="0" marL="0">
              <a:buNone/>
            </a:pPr>
            <a:r>
              <a:rPr lang="en-US" sz="1050" i="1" dirty="0">
                <a:solidFill>
                  <a:srgbClr val="8A6D1E"/>
                </a:solidFill>
                <a:latin typeface="Calibri" pitchFamily="34" charset="0"/>
                <a:ea typeface="Calibri" pitchFamily="34" charset="-122"/>
                <a:cs typeface="Calibri" pitchFamily="34" charset="-120"/>
              </a:rPr>
              <a:t> is the feminine nationality adjective.</a:t>
            </a:r>
            <a:endParaRPr lang="en-US" sz="1050" dirty="0"/>
          </a:p>
        </p:txBody>
      </p:sp>
      <p:sp>
        <p:nvSpPr>
          <p:cNvPr id="75" name="Shape 72"/>
          <p:cNvSpPr/>
          <p:nvPr/>
        </p:nvSpPr>
        <p:spPr>
          <a:xfrm>
            <a:off x="4276344"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76" name="Shape 73"/>
          <p:cNvSpPr/>
          <p:nvPr/>
        </p:nvSpPr>
        <p:spPr>
          <a:xfrm>
            <a:off x="4404360" y="4288536"/>
            <a:ext cx="310896" cy="310896"/>
          </a:xfrm>
          <a:prstGeom prst="ellipse">
            <a:avLst/>
          </a:prstGeom>
          <a:solidFill>
            <a:srgbClr val="1B3B6F"/>
          </a:solidFill>
          <a:ln w="12700">
            <a:solidFill>
              <a:srgbClr val="1B3B6F"/>
            </a:solidFill>
            <a:prstDash val="solid"/>
          </a:ln>
        </p:spPr>
      </p:sp>
      <p:sp>
        <p:nvSpPr>
          <p:cNvPr id="77" name="Text 74"/>
          <p:cNvSpPr txBox="1"/>
          <p:nvPr/>
        </p:nvSpPr>
        <p:spPr>
          <a:xfrm>
            <a:off x="4404360"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5</a:t>
            </a:r>
            <a:endParaRPr lang="en-US" sz="1100" dirty="0"/>
          </a:p>
        </p:txBody>
      </p:sp>
      <p:sp>
        <p:nvSpPr>
          <p:cNvPr id="78" name="Text 75"/>
          <p:cNvSpPr txBox="1"/>
          <p:nvPr/>
        </p:nvSpPr>
        <p:spPr>
          <a:xfrm>
            <a:off x="4770120"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Which ending is a strong feminine clue on many nouns?</a:t>
            </a:r>
            <a:endParaRPr lang="en-US" sz="1250" dirty="0"/>
          </a:p>
        </p:txBody>
      </p:sp>
      <p:sp>
        <p:nvSpPr>
          <p:cNvPr id="79" name="Shape 76"/>
          <p:cNvSpPr/>
          <p:nvPr/>
        </p:nvSpPr>
        <p:spPr>
          <a:xfrm>
            <a:off x="4367784" y="4794504"/>
            <a:ext cx="3453384" cy="347472"/>
          </a:xfrm>
          <a:prstGeom prst="roundRect">
            <a:avLst>
              <a:gd name="adj" fmla="val 15789"/>
            </a:avLst>
          </a:prstGeom>
          <a:solidFill>
            <a:srgbClr val="E6F4EC"/>
          </a:solidFill>
          <a:ln w="9525">
            <a:solidFill>
              <a:srgbClr val="2E8B57"/>
            </a:solidFill>
            <a:prstDash val="solid"/>
          </a:ln>
        </p:spPr>
      </p:sp>
      <p:sp>
        <p:nvSpPr>
          <p:cNvPr id="80" name="Shape 77"/>
          <p:cNvSpPr/>
          <p:nvPr/>
        </p:nvSpPr>
        <p:spPr>
          <a:xfrm>
            <a:off x="4459224" y="4831080"/>
            <a:ext cx="256032" cy="256032"/>
          </a:xfrm>
          <a:prstGeom prst="ellipse">
            <a:avLst/>
          </a:prstGeom>
          <a:solidFill>
            <a:srgbClr val="2E8B57"/>
          </a:solidFill>
          <a:ln w="12700">
            <a:solidFill>
              <a:srgbClr val="2E8B57"/>
            </a:solidFill>
            <a:prstDash val="solid"/>
          </a:ln>
        </p:spPr>
      </p:sp>
      <p:sp>
        <p:nvSpPr>
          <p:cNvPr id="81" name="Text 78"/>
          <p:cNvSpPr txBox="1"/>
          <p:nvPr/>
        </p:nvSpPr>
        <p:spPr>
          <a:xfrm>
            <a:off x="4459224" y="4831080"/>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A</a:t>
            </a:r>
            <a:endParaRPr lang="en-US" sz="900" dirty="0"/>
          </a:p>
        </p:txBody>
      </p:sp>
      <p:sp>
        <p:nvSpPr>
          <p:cNvPr id="82" name="Text 79"/>
          <p:cNvSpPr txBox="1"/>
          <p:nvPr/>
        </p:nvSpPr>
        <p:spPr>
          <a:xfrm>
            <a:off x="4788408" y="4773168"/>
            <a:ext cx="2977896"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34" charset="0"/>
                <a:ea typeface="Amiri" pitchFamily="34" charset="-122"/>
                <a:cs typeface="Amiri" pitchFamily="34" charset="-120"/>
              </a:rPr>
              <a:t>ة</a:t>
            </a:r>
            <a:endParaRPr lang="ar-SA" sz="1700" dirty="0"/>
          </a:p>
        </p:txBody>
      </p:sp>
      <p:sp>
        <p:nvSpPr>
          <p:cNvPr id="83" name="Shape 80"/>
          <p:cNvSpPr/>
          <p:nvPr/>
        </p:nvSpPr>
        <p:spPr>
          <a:xfrm>
            <a:off x="4459224" y="5202936"/>
            <a:ext cx="256032" cy="256032"/>
          </a:xfrm>
          <a:prstGeom prst="ellipse">
            <a:avLst/>
          </a:prstGeom>
          <a:solidFill>
            <a:srgbClr val="C9CED6"/>
          </a:solidFill>
          <a:ln w="12700">
            <a:solidFill>
              <a:srgbClr val="C9CED6"/>
            </a:solidFill>
            <a:prstDash val="solid"/>
          </a:ln>
        </p:spPr>
      </p:sp>
      <p:sp>
        <p:nvSpPr>
          <p:cNvPr id="84" name="Text 81"/>
          <p:cNvSpPr txBox="1"/>
          <p:nvPr/>
        </p:nvSpPr>
        <p:spPr>
          <a:xfrm>
            <a:off x="4459224"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85" name="Text 82"/>
          <p:cNvSpPr txBox="1"/>
          <p:nvPr/>
        </p:nvSpPr>
        <p:spPr>
          <a:xfrm>
            <a:off x="4788408" y="5145024"/>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34" charset="0"/>
                <a:ea typeface="Amiri" pitchFamily="34" charset="-122"/>
                <a:cs typeface="Amiri" pitchFamily="34" charset="-120"/>
              </a:rPr>
              <a:t>ي</a:t>
            </a:r>
            <a:endParaRPr lang="ar-SA" sz="1700" dirty="0"/>
          </a:p>
        </p:txBody>
      </p:sp>
      <p:sp>
        <p:nvSpPr>
          <p:cNvPr id="86" name="Shape 83"/>
          <p:cNvSpPr/>
          <p:nvPr/>
        </p:nvSpPr>
        <p:spPr>
          <a:xfrm>
            <a:off x="4459224" y="5574792"/>
            <a:ext cx="256032" cy="256032"/>
          </a:xfrm>
          <a:prstGeom prst="ellipse">
            <a:avLst/>
          </a:prstGeom>
          <a:solidFill>
            <a:srgbClr val="C9CED6"/>
          </a:solidFill>
          <a:ln w="12700">
            <a:solidFill>
              <a:srgbClr val="C9CED6"/>
            </a:solidFill>
            <a:prstDash val="solid"/>
          </a:ln>
        </p:spPr>
      </p:sp>
      <p:sp>
        <p:nvSpPr>
          <p:cNvPr id="87" name="Text 84"/>
          <p:cNvSpPr txBox="1"/>
          <p:nvPr/>
        </p:nvSpPr>
        <p:spPr>
          <a:xfrm>
            <a:off x="4459224"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C</a:t>
            </a:r>
            <a:endParaRPr lang="en-US" sz="900" dirty="0"/>
          </a:p>
        </p:txBody>
      </p:sp>
      <p:sp>
        <p:nvSpPr>
          <p:cNvPr id="88" name="Text 85"/>
          <p:cNvSpPr txBox="1"/>
          <p:nvPr/>
        </p:nvSpPr>
        <p:spPr>
          <a:xfrm>
            <a:off x="4788408" y="5516880"/>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34" charset="0"/>
                <a:ea typeface="Amiri" pitchFamily="34" charset="-122"/>
                <a:cs typeface="Amiri" pitchFamily="34" charset="-120"/>
              </a:rPr>
              <a:t>و</a:t>
            </a:r>
            <a:endParaRPr lang="ar-SA" sz="1700" dirty="0"/>
          </a:p>
        </p:txBody>
      </p:sp>
      <p:sp>
        <p:nvSpPr>
          <p:cNvPr id="89" name="Text 86"/>
          <p:cNvSpPr txBox="1"/>
          <p:nvPr/>
        </p:nvSpPr>
        <p:spPr>
          <a:xfrm>
            <a:off x="4404360" y="5907024"/>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ea typeface="Calibri" pitchFamily="34" charset="-122"/>
                <a:cs typeface="Calibri" pitchFamily="34" charset="-120"/>
              </a:rPr>
              <a:t>Tāʾ marbūṭa </a:t>
            </a:r>
            <a:pPr algn="l" indent="0" marL="0">
              <a:buNone/>
            </a:pPr>
            <a:r>
              <a:rPr lang="ar-SA" altLang="en-US" sz="1350" dirty="0">
                <a:solidFill>
                  <a:srgbClr val="8A6D1E"/>
                </a:solidFill>
                <a:latin typeface="Amiri" pitchFamily="34" charset="0"/>
                <a:ea typeface="Amiri" pitchFamily="34" charset="-122"/>
                <a:cs typeface="Amiri" pitchFamily="34" charset="-120"/>
              </a:rPr>
              <a:t>ة</a:t>
            </a:r>
            <a:pPr algn="l" indent="0" marL="0">
              <a:buNone/>
            </a:pPr>
            <a:r>
              <a:rPr lang="en-US" sz="1050" i="1" dirty="0">
                <a:solidFill>
                  <a:srgbClr val="8A6D1E"/>
                </a:solidFill>
                <a:latin typeface="Calibri" pitchFamily="34" charset="0"/>
                <a:ea typeface="Calibri" pitchFamily="34" charset="-122"/>
                <a:cs typeface="Calibri" pitchFamily="34" charset="-120"/>
              </a:rPr>
              <a:t> is a common feminine marker.</a:t>
            </a:r>
            <a:endParaRPr lang="en-US" sz="1050" dirty="0"/>
          </a:p>
        </p:txBody>
      </p:sp>
      <p:sp>
        <p:nvSpPr>
          <p:cNvPr id="90" name="Shape 87"/>
          <p:cNvSpPr/>
          <p:nvPr/>
        </p:nvSpPr>
        <p:spPr>
          <a:xfrm>
            <a:off x="8095488" y="4151376"/>
            <a:ext cx="3636264" cy="2157984"/>
          </a:xfrm>
          <a:prstGeom prst="roundRect">
            <a:avLst>
              <a:gd name="adj" fmla="val 3390"/>
            </a:avLst>
          </a:prstGeom>
          <a:solidFill>
            <a:srgbClr val="FFF7E0"/>
          </a:solidFill>
          <a:ln w="9525">
            <a:solidFill>
              <a:srgbClr val="E8D49A"/>
            </a:solidFill>
            <a:prstDash val="solid"/>
          </a:ln>
          <a:effectLst>
            <a:outerShdw sx="100000" sy="100000" kx="0" ky="0" algn="bl" rotWithShape="0" blurRad="50800" dist="19050" dir="5400000">
              <a:srgbClr val="000000">
                <a:alpha val="10000"/>
              </a:srgbClr>
            </a:outerShdw>
          </a:effectLst>
        </p:spPr>
      </p:sp>
      <p:sp>
        <p:nvSpPr>
          <p:cNvPr id="91" name="Text 88"/>
          <p:cNvSpPr txBox="1"/>
          <p:nvPr/>
        </p:nvSpPr>
        <p:spPr>
          <a:xfrm>
            <a:off x="8278368" y="4279392"/>
            <a:ext cx="3270504" cy="256032"/>
          </a:xfrm>
          <a:prstGeom prst="rect">
            <a:avLst/>
          </a:prstGeom>
          <a:noFill/>
          <a:ln/>
        </p:spPr>
        <p:txBody>
          <a:bodyPr wrap="square" lIns="0" tIns="0" rIns="0" bIns="0" rtlCol="0" anchor="ctr"/>
          <a:lstStyle/>
          <a:p>
            <a:pPr algn="l" indent="0" marL="0">
              <a:buNone/>
            </a:pPr>
            <a:r>
              <a:rPr lang="en-US" sz="1000" b="1" spc="200" kern="0" dirty="0">
                <a:solidFill>
                  <a:srgbClr val="8A6D1E"/>
                </a:solidFill>
                <a:latin typeface="Calibri" pitchFamily="34" charset="0"/>
                <a:ea typeface="Calibri" pitchFamily="34" charset="-122"/>
                <a:cs typeface="Calibri" pitchFamily="34" charset="-120"/>
              </a:rPr>
              <a:t>THE KEY IDEA FOR TODAY</a:t>
            </a:r>
            <a:endParaRPr lang="en-US" sz="1000" dirty="0"/>
          </a:p>
        </p:txBody>
      </p:sp>
      <p:sp>
        <p:nvSpPr>
          <p:cNvPr id="92" name="Text 89"/>
          <p:cNvSpPr txBox="1"/>
          <p:nvPr/>
        </p:nvSpPr>
        <p:spPr>
          <a:xfrm>
            <a:off x="8278368" y="4553712"/>
            <a:ext cx="3270504" cy="640080"/>
          </a:xfrm>
          <a:prstGeom prst="rect">
            <a:avLst/>
          </a:prstGeom>
          <a:noFill/>
          <a:ln/>
        </p:spPr>
        <p:txBody>
          <a:bodyPr wrap="square" lIns="0" tIns="0" rIns="0" bIns="0" rtlCol="0" anchor="t"/>
          <a:lstStyle/>
          <a:p>
            <a:pPr algn="l" indent="0" marL="0">
              <a:buNone/>
            </a:pPr>
            <a:r>
              <a:rPr lang="en-US" sz="1300" b="1" dirty="0">
                <a:solidFill>
                  <a:srgbClr val="1F2A37"/>
                </a:solidFill>
                <a:latin typeface="Calibri" pitchFamily="34" charset="0"/>
                <a:ea typeface="Calibri" pitchFamily="34" charset="-122"/>
                <a:cs typeface="Calibri" pitchFamily="34" charset="-120"/>
              </a:rPr>
              <a:t>Arabic keeps the noun and adjective together: masculine with masculine, feminine with feminine.</a:t>
            </a:r>
            <a:endParaRPr lang="en-US" sz="1300" dirty="0"/>
          </a:p>
        </p:txBody>
      </p:sp>
      <p:sp>
        <p:nvSpPr>
          <p:cNvPr id="93" name="Text 90"/>
          <p:cNvSpPr txBox="1"/>
          <p:nvPr/>
        </p:nvSpPr>
        <p:spPr>
          <a:xfrm>
            <a:off x="8278368" y="5202936"/>
            <a:ext cx="3270504" cy="1014984"/>
          </a:xfrm>
          <a:prstGeom prst="rect">
            <a:avLst/>
          </a:prstGeom>
          <a:noFill/>
          <a:ln/>
        </p:spPr>
        <p:txBody>
          <a:bodyPr wrap="square" lIns="0" tIns="0" rIns="0" bIns="0" rtlCol="0" anchor="ctr"/>
          <a:lstStyle/>
          <a:p>
            <a:pPr rtl="1" algn="ctr" indent="0" marL="0">
              <a:buNone/>
            </a:pPr>
            <a:r>
              <a:rPr lang="ar-SA" altLang="en-US" sz="2400" b="1" dirty="0">
                <a:solidFill>
                  <a:srgbClr val="1B3B6F"/>
                </a:solidFill>
                <a:latin typeface="Amiri" pitchFamily="34" charset="0"/>
                <a:ea typeface="Amiri" pitchFamily="34" charset="-122"/>
                <a:cs typeface="Amiri" pitchFamily="34" charset="-120"/>
              </a:rPr>
              <a:t>طَالِبٌ جَدِيدٌ  ·  طَالِبَةٌ جَدِيدَةٌ</a:t>
            </a:r>
            <a:endParaRPr lang="ar-SA" sz="2400" dirty="0"/>
          </a:p>
        </p:txBody>
      </p:sp>
      <p:sp>
        <p:nvSpPr>
          <p:cNvPr id="94" name="Text 9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ea typeface="Calibri" pitchFamily="34" charset="-122"/>
                <a:cs typeface="Calibri" pitchFamily="34" charset="-120"/>
              </a:rPr>
              <a:t>5 / 36</a:t>
            </a:r>
            <a:endParaRPr lang="en-US" sz="8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34" charset="0"/>
                <a:ea typeface="Amiri" pitchFamily="34" charset="-122"/>
                <a:cs typeface="Amiri" pitchFamily="34" charset="-120"/>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ea typeface="Cambria" pitchFamily="34" charset="-122"/>
                <a:cs typeface="Cambria" pitchFamily="34" charset="-120"/>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ea typeface="Calibri" pitchFamily="34" charset="-122"/>
                <a:cs typeface="Calibri" pitchFamily="34" charset="-120"/>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ea typeface="Calibri" pitchFamily="34" charset="-122"/>
                <a:cs typeface="Calibri" pitchFamily="34" charset="-120"/>
              </a:rPr>
              <a:t>F2-L05 · Masculine &amp; Feminine</a:t>
            </a:r>
            <a:endParaRPr lang="en-US" sz="950" dirty="0"/>
          </a:p>
        </p:txBody>
      </p:sp>
      <p:sp>
        <p:nvSpPr>
          <p:cNvPr id="8" name="Shape 6"/>
          <p:cNvSpPr/>
          <p:nvPr/>
        </p:nvSpPr>
        <p:spPr>
          <a:xfrm>
            <a:off x="7219188" y="274320"/>
            <a:ext cx="1540764" cy="329184"/>
          </a:xfrm>
          <a:prstGeom prst="roundRect">
            <a:avLst>
              <a:gd name="adj" fmla="val 50000"/>
            </a:avLst>
          </a:prstGeom>
          <a:solidFill>
            <a:srgbClr val="5A6472"/>
          </a:solidFill>
          <a:ln w="12700">
            <a:solidFill>
              <a:srgbClr val="5A6472"/>
            </a:solidFill>
            <a:prstDash val="solid"/>
          </a:ln>
        </p:spPr>
      </p:sp>
      <p:sp>
        <p:nvSpPr>
          <p:cNvPr id="9" name="Text 7"/>
          <p:cNvSpPr txBox="1"/>
          <p:nvPr/>
        </p:nvSpPr>
        <p:spPr>
          <a:xfrm>
            <a:off x="7219188" y="274320"/>
            <a:ext cx="154076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ea typeface="Calibri" pitchFamily="34" charset="-122"/>
                <a:cs typeface="Calibri" pitchFamily="34" charset="-120"/>
              </a:rPr>
              <a:t>WELCOME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5A6472"/>
                </a:solidFill>
                <a:latin typeface="Calibri" pitchFamily="34" charset="0"/>
                <a:ea typeface="Calibri" pitchFamily="34" charset="-122"/>
                <a:cs typeface="Calibri" pitchFamily="34" charset="-120"/>
              </a:rPr>
              <a:t>LESSON 2 OF 3 THIS WEEK</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ea typeface="Cambria" pitchFamily="34" charset="-122"/>
                <a:cs typeface="Cambria" pitchFamily="34" charset="-120"/>
              </a:rPr>
              <a:t>Objectives and success criteria</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34" charset="0"/>
                <a:ea typeface="Amiri" pitchFamily="34" charset="-122"/>
                <a:cs typeface="Amiri" pitchFamily="34" charset="-120"/>
              </a:rPr>
              <a:t>الأَهْدَافُ وَمَعَايِيرُ النَّجَاحِ</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ea typeface="Calibri" pitchFamily="34" charset="-122"/>
                <a:cs typeface="Calibri" pitchFamily="34" charset="-120"/>
              </a:rPr>
              <a:t>Miftah Arabic · Foundation F2 · Greetings &amp; Introductions · Week 2 · Lesson 2 of 3</a:t>
            </a:r>
            <a:endParaRPr lang="en-US" sz="850" dirty="0"/>
          </a:p>
        </p:txBody>
      </p:sp>
      <p:sp>
        <p:nvSpPr>
          <p:cNvPr id="15" name="Shape 12"/>
          <p:cNvSpPr/>
          <p:nvPr/>
        </p:nvSpPr>
        <p:spPr>
          <a:xfrm>
            <a:off x="457200" y="1810512"/>
            <a:ext cx="4663440" cy="4315968"/>
          </a:xfrm>
          <a:prstGeom prst="roundRect">
            <a:avLst>
              <a:gd name="adj" fmla="val 1695"/>
            </a:avLst>
          </a:prstGeom>
          <a:solidFill>
            <a:srgbClr val="F7F9FC"/>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685800" y="1920240"/>
            <a:ext cx="2743200" cy="292608"/>
          </a:xfrm>
          <a:prstGeom prst="rect">
            <a:avLst/>
          </a:prstGeom>
          <a:noFill/>
          <a:ln/>
        </p:spPr>
        <p:txBody>
          <a:bodyPr wrap="square" lIns="0" tIns="0" rIns="0" bIns="0" rtlCol="0" anchor="ctr"/>
          <a:lstStyle/>
          <a:p>
            <a:pPr algn="l" indent="0" marL="0">
              <a:buNone/>
            </a:pPr>
            <a:r>
              <a:rPr lang="en-US" sz="1100" b="1" spc="200" kern="0" dirty="0">
                <a:solidFill>
                  <a:srgbClr val="1B3B6F"/>
                </a:solidFill>
                <a:latin typeface="Calibri" pitchFamily="34" charset="0"/>
                <a:ea typeface="Calibri" pitchFamily="34" charset="-122"/>
                <a:cs typeface="Calibri" pitchFamily="34" charset="-120"/>
              </a:rPr>
              <a:t>TODAY YOU WILL</a:t>
            </a:r>
            <a:endParaRPr lang="en-US" sz="1100" dirty="0"/>
          </a:p>
        </p:txBody>
      </p:sp>
      <p:sp>
        <p:nvSpPr>
          <p:cNvPr id="17" name="Text 14"/>
          <p:cNvSpPr txBox="1"/>
          <p:nvPr/>
        </p:nvSpPr>
        <p:spPr>
          <a:xfrm>
            <a:off x="2834640" y="1874520"/>
            <a:ext cx="2103120" cy="365760"/>
          </a:xfrm>
          <a:prstGeom prst="rect">
            <a:avLst/>
          </a:prstGeom>
          <a:noFill/>
          <a:ln/>
        </p:spPr>
        <p:txBody>
          <a:bodyPr wrap="square" lIns="0" tIns="0" rIns="0" bIns="0" rtlCol="0" anchor="ctr"/>
          <a:lstStyle/>
          <a:p>
            <a:pPr rtl="1" algn="r" indent="0" marL="0">
              <a:buNone/>
            </a:pPr>
            <a:r>
              <a:rPr lang="ar-SA" altLang="en-US" sz="1600" dirty="0">
                <a:solidFill>
                  <a:srgbClr val="8A6D1E"/>
                </a:solidFill>
                <a:latin typeface="Amiri" pitchFamily="34" charset="0"/>
                <a:ea typeface="Amiri" pitchFamily="34" charset="-122"/>
                <a:cs typeface="Amiri" pitchFamily="34" charset="-120"/>
              </a:rPr>
              <a:t>سَتَتَعَلَّمُ اليَوْمَ</a:t>
            </a:r>
            <a:endParaRPr lang="ar-SA" sz="1600" dirty="0"/>
          </a:p>
        </p:txBody>
      </p:sp>
      <p:sp>
        <p:nvSpPr>
          <p:cNvPr id="18" name="Shape 15"/>
          <p:cNvSpPr/>
          <p:nvPr/>
        </p:nvSpPr>
        <p:spPr>
          <a:xfrm>
            <a:off x="685800" y="2395728"/>
            <a:ext cx="365760" cy="365760"/>
          </a:xfrm>
          <a:prstGeom prst="ellipse">
            <a:avLst/>
          </a:prstGeom>
          <a:solidFill>
            <a:srgbClr val="1B3B6F"/>
          </a:solidFill>
          <a:ln w="12700">
            <a:solidFill>
              <a:srgbClr val="1B3B6F"/>
            </a:solidFill>
            <a:prstDash val="solid"/>
          </a:ln>
        </p:spPr>
      </p:sp>
      <p:sp>
        <p:nvSpPr>
          <p:cNvPr id="19" name="Text 16"/>
          <p:cNvSpPr txBox="1"/>
          <p:nvPr/>
        </p:nvSpPr>
        <p:spPr>
          <a:xfrm>
            <a:off x="685800" y="2395728"/>
            <a:ext cx="365760" cy="365760"/>
          </a:xfrm>
          <a:prstGeom prst="rect">
            <a:avLst/>
          </a:prstGeom>
          <a:noFill/>
          <a:ln/>
        </p:spPr>
        <p:txBody>
          <a:bodyPr wrap="square" lIns="0" tIns="0" rIns="0" bIns="0" rtlCol="0" anchor="ctr"/>
          <a:lstStyle/>
          <a:p>
            <a:pPr algn="ctr" indent="0" marL="0">
              <a:buNone/>
            </a:pPr>
            <a:r>
              <a:rPr lang="en-US" sz="1200" b="1" dirty="0">
                <a:solidFill>
                  <a:srgbClr val="D4AF37"/>
                </a:solidFill>
                <a:latin typeface="Calibri" pitchFamily="34" charset="0"/>
                <a:ea typeface="Calibri" pitchFamily="34" charset="-122"/>
                <a:cs typeface="Calibri" pitchFamily="34" charset="-120"/>
              </a:rPr>
              <a:t>1</a:t>
            </a:r>
            <a:endParaRPr lang="en-US" sz="1200" dirty="0"/>
          </a:p>
        </p:txBody>
      </p:sp>
      <p:sp>
        <p:nvSpPr>
          <p:cNvPr id="20" name="Text 17"/>
          <p:cNvSpPr txBox="1"/>
          <p:nvPr/>
        </p:nvSpPr>
        <p:spPr>
          <a:xfrm>
            <a:off x="1188720" y="2286000"/>
            <a:ext cx="3749040" cy="841248"/>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ea typeface="Calibri" pitchFamily="34" charset="-122"/>
                <a:cs typeface="Calibri" pitchFamily="34" charset="-120"/>
              </a:rPr>
              <a:t>Recognise and use all eight people-noun pairs.</a:t>
            </a:r>
            <a:endParaRPr lang="en-US" sz="1300" dirty="0"/>
          </a:p>
        </p:txBody>
      </p:sp>
      <p:sp>
        <p:nvSpPr>
          <p:cNvPr id="21" name="Shape 18"/>
          <p:cNvSpPr/>
          <p:nvPr/>
        </p:nvSpPr>
        <p:spPr>
          <a:xfrm>
            <a:off x="685800" y="3291840"/>
            <a:ext cx="365760" cy="365760"/>
          </a:xfrm>
          <a:prstGeom prst="ellipse">
            <a:avLst/>
          </a:prstGeom>
          <a:solidFill>
            <a:srgbClr val="1B3B6F"/>
          </a:solidFill>
          <a:ln w="12700">
            <a:solidFill>
              <a:srgbClr val="1B3B6F"/>
            </a:solidFill>
            <a:prstDash val="solid"/>
          </a:ln>
        </p:spPr>
      </p:sp>
      <p:sp>
        <p:nvSpPr>
          <p:cNvPr id="22" name="Text 19"/>
          <p:cNvSpPr txBox="1"/>
          <p:nvPr/>
        </p:nvSpPr>
        <p:spPr>
          <a:xfrm>
            <a:off x="685800" y="3291840"/>
            <a:ext cx="365760" cy="365760"/>
          </a:xfrm>
          <a:prstGeom prst="rect">
            <a:avLst/>
          </a:prstGeom>
          <a:noFill/>
          <a:ln/>
        </p:spPr>
        <p:txBody>
          <a:bodyPr wrap="square" lIns="0" tIns="0" rIns="0" bIns="0" rtlCol="0" anchor="ctr"/>
          <a:lstStyle/>
          <a:p>
            <a:pPr algn="ctr" indent="0" marL="0">
              <a:buNone/>
            </a:pPr>
            <a:r>
              <a:rPr lang="en-US" sz="1200" b="1" dirty="0">
                <a:solidFill>
                  <a:srgbClr val="D4AF37"/>
                </a:solidFill>
                <a:latin typeface="Calibri" pitchFamily="34" charset="0"/>
                <a:ea typeface="Calibri" pitchFamily="34" charset="-122"/>
                <a:cs typeface="Calibri" pitchFamily="34" charset="-120"/>
              </a:rPr>
              <a:t>2</a:t>
            </a:r>
            <a:endParaRPr lang="en-US" sz="1200" dirty="0"/>
          </a:p>
        </p:txBody>
      </p:sp>
      <p:sp>
        <p:nvSpPr>
          <p:cNvPr id="23" name="Text 20"/>
          <p:cNvSpPr txBox="1"/>
          <p:nvPr/>
        </p:nvSpPr>
        <p:spPr>
          <a:xfrm>
            <a:off x="1188720" y="3182112"/>
            <a:ext cx="3749040" cy="841248"/>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ea typeface="Calibri" pitchFamily="34" charset="-122"/>
                <a:cs typeface="Calibri" pitchFamily="34" charset="-120"/>
              </a:rPr>
              <a:t>Recognise and use all ten adjective pairs.</a:t>
            </a:r>
            <a:endParaRPr lang="en-US" sz="1300" dirty="0"/>
          </a:p>
        </p:txBody>
      </p:sp>
      <p:sp>
        <p:nvSpPr>
          <p:cNvPr id="24" name="Shape 21"/>
          <p:cNvSpPr/>
          <p:nvPr/>
        </p:nvSpPr>
        <p:spPr>
          <a:xfrm>
            <a:off x="685800" y="4187952"/>
            <a:ext cx="365760" cy="365760"/>
          </a:xfrm>
          <a:prstGeom prst="ellipse">
            <a:avLst/>
          </a:prstGeom>
          <a:solidFill>
            <a:srgbClr val="1B3B6F"/>
          </a:solidFill>
          <a:ln w="12700">
            <a:solidFill>
              <a:srgbClr val="1B3B6F"/>
            </a:solidFill>
            <a:prstDash val="solid"/>
          </a:ln>
        </p:spPr>
      </p:sp>
      <p:sp>
        <p:nvSpPr>
          <p:cNvPr id="25" name="Text 22"/>
          <p:cNvSpPr txBox="1"/>
          <p:nvPr/>
        </p:nvSpPr>
        <p:spPr>
          <a:xfrm>
            <a:off x="685800" y="4187952"/>
            <a:ext cx="365760" cy="365760"/>
          </a:xfrm>
          <a:prstGeom prst="rect">
            <a:avLst/>
          </a:prstGeom>
          <a:noFill/>
          <a:ln/>
        </p:spPr>
        <p:txBody>
          <a:bodyPr wrap="square" lIns="0" tIns="0" rIns="0" bIns="0" rtlCol="0" anchor="ctr"/>
          <a:lstStyle/>
          <a:p>
            <a:pPr algn="ctr" indent="0" marL="0">
              <a:buNone/>
            </a:pPr>
            <a:r>
              <a:rPr lang="en-US" sz="1200" b="1" dirty="0">
                <a:solidFill>
                  <a:srgbClr val="D4AF37"/>
                </a:solidFill>
                <a:latin typeface="Calibri" pitchFamily="34" charset="0"/>
                <a:ea typeface="Calibri" pitchFamily="34" charset="-122"/>
                <a:cs typeface="Calibri" pitchFamily="34" charset="-120"/>
              </a:rPr>
              <a:t>3</a:t>
            </a:r>
            <a:endParaRPr lang="en-US" sz="1200" dirty="0"/>
          </a:p>
        </p:txBody>
      </p:sp>
      <p:sp>
        <p:nvSpPr>
          <p:cNvPr id="26" name="Text 23"/>
          <p:cNvSpPr txBox="1"/>
          <p:nvPr/>
        </p:nvSpPr>
        <p:spPr>
          <a:xfrm>
            <a:off x="1188720" y="4078224"/>
            <a:ext cx="3749040" cy="841248"/>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ea typeface="Calibri" pitchFamily="34" charset="-122"/>
                <a:cs typeface="Calibri" pitchFamily="34" charset="-120"/>
              </a:rPr>
              <a:t>Use </a:t>
            </a:r>
            <a:pPr algn="l" indent="0" marL="0">
              <a:buNone/>
            </a:pPr>
            <a:r>
              <a:rPr lang="ar-SA" altLang="en-US" sz="1700" dirty="0">
                <a:solidFill>
                  <a:srgbClr val="1F2A37"/>
                </a:solidFill>
                <a:latin typeface="Amiri" pitchFamily="34" charset="0"/>
                <a:ea typeface="Amiri" pitchFamily="34" charset="-122"/>
                <a:cs typeface="Amiri" pitchFamily="34" charset="-120"/>
              </a:rPr>
              <a:t>ة</a:t>
            </a:r>
            <a:pPr algn="l" indent="0" marL="0">
              <a:buNone/>
            </a:pPr>
            <a:r>
              <a:rPr lang="en-US" sz="1300" dirty="0">
                <a:solidFill>
                  <a:srgbClr val="1F2A37"/>
                </a:solidFill>
                <a:latin typeface="Calibri" pitchFamily="34" charset="0"/>
                <a:ea typeface="Calibri" pitchFamily="34" charset="-122"/>
                <a:cs typeface="Calibri" pitchFamily="34" charset="-120"/>
              </a:rPr>
              <a:t> as a strong feminine clue, and know the exceptions.</a:t>
            </a:r>
            <a:endParaRPr lang="en-US" sz="1300" dirty="0"/>
          </a:p>
        </p:txBody>
      </p:sp>
      <p:sp>
        <p:nvSpPr>
          <p:cNvPr id="27" name="Shape 24"/>
          <p:cNvSpPr/>
          <p:nvPr/>
        </p:nvSpPr>
        <p:spPr>
          <a:xfrm>
            <a:off x="685800" y="5084064"/>
            <a:ext cx="365760" cy="365760"/>
          </a:xfrm>
          <a:prstGeom prst="ellipse">
            <a:avLst/>
          </a:prstGeom>
          <a:solidFill>
            <a:srgbClr val="1B3B6F"/>
          </a:solidFill>
          <a:ln w="12700">
            <a:solidFill>
              <a:srgbClr val="1B3B6F"/>
            </a:solidFill>
            <a:prstDash val="solid"/>
          </a:ln>
        </p:spPr>
      </p:sp>
      <p:sp>
        <p:nvSpPr>
          <p:cNvPr id="28" name="Text 25"/>
          <p:cNvSpPr txBox="1"/>
          <p:nvPr/>
        </p:nvSpPr>
        <p:spPr>
          <a:xfrm>
            <a:off x="685800" y="5084064"/>
            <a:ext cx="365760" cy="365760"/>
          </a:xfrm>
          <a:prstGeom prst="rect">
            <a:avLst/>
          </a:prstGeom>
          <a:noFill/>
          <a:ln/>
        </p:spPr>
        <p:txBody>
          <a:bodyPr wrap="square" lIns="0" tIns="0" rIns="0" bIns="0" rtlCol="0" anchor="ctr"/>
          <a:lstStyle/>
          <a:p>
            <a:pPr algn="ctr" indent="0" marL="0">
              <a:buNone/>
            </a:pPr>
            <a:r>
              <a:rPr lang="en-US" sz="1200" b="1" dirty="0">
                <a:solidFill>
                  <a:srgbClr val="D4AF37"/>
                </a:solidFill>
                <a:latin typeface="Calibri" pitchFamily="34" charset="0"/>
                <a:ea typeface="Calibri" pitchFamily="34" charset="-122"/>
                <a:cs typeface="Calibri" pitchFamily="34" charset="-120"/>
              </a:rPr>
              <a:t>4</a:t>
            </a:r>
            <a:endParaRPr lang="en-US" sz="1200" dirty="0"/>
          </a:p>
        </p:txBody>
      </p:sp>
      <p:sp>
        <p:nvSpPr>
          <p:cNvPr id="29" name="Text 26"/>
          <p:cNvSpPr txBox="1"/>
          <p:nvPr/>
        </p:nvSpPr>
        <p:spPr>
          <a:xfrm>
            <a:off x="1188720" y="4974336"/>
            <a:ext cx="3749040" cy="841248"/>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ea typeface="Calibri" pitchFamily="34" charset="-122"/>
                <a:cs typeface="Calibri" pitchFamily="34" charset="-120"/>
              </a:rPr>
              <a:t>Put the adjective after its noun and keep the agreement.</a:t>
            </a:r>
            <a:endParaRPr lang="en-US" sz="1300" dirty="0"/>
          </a:p>
        </p:txBody>
      </p:sp>
      <p:sp>
        <p:nvSpPr>
          <p:cNvPr id="30" name="Shape 27"/>
          <p:cNvSpPr/>
          <p:nvPr/>
        </p:nvSpPr>
        <p:spPr>
          <a:xfrm>
            <a:off x="5349240" y="1810512"/>
            <a:ext cx="6382512" cy="1353312"/>
          </a:xfrm>
          <a:prstGeom prst="roundRect">
            <a:avLst>
              <a:gd name="adj" fmla="val 5405"/>
            </a:avLst>
          </a:prstGeom>
          <a:solidFill>
            <a:srgbClr val="E9F5EE"/>
          </a:solidFill>
          <a:ln w="9525">
            <a:solidFill>
              <a:srgbClr val="2E8B57"/>
            </a:solidFill>
            <a:prstDash val="solid"/>
          </a:ln>
        </p:spPr>
      </p:sp>
      <p:sp>
        <p:nvSpPr>
          <p:cNvPr id="31" name="Shape 28"/>
          <p:cNvSpPr/>
          <p:nvPr/>
        </p:nvSpPr>
        <p:spPr>
          <a:xfrm>
            <a:off x="5532120" y="1947672"/>
            <a:ext cx="1143000" cy="292608"/>
          </a:xfrm>
          <a:prstGeom prst="roundRect">
            <a:avLst>
              <a:gd name="adj" fmla="val 50000"/>
            </a:avLst>
          </a:prstGeom>
          <a:solidFill>
            <a:srgbClr val="2E8B57"/>
          </a:solidFill>
          <a:ln w="12700">
            <a:solidFill>
              <a:srgbClr val="2E8B57"/>
            </a:solidFill>
            <a:prstDash val="solid"/>
          </a:ln>
        </p:spPr>
      </p:sp>
      <p:sp>
        <p:nvSpPr>
          <p:cNvPr id="32" name="Text 29"/>
          <p:cNvSpPr txBox="1"/>
          <p:nvPr/>
        </p:nvSpPr>
        <p:spPr>
          <a:xfrm>
            <a:off x="5532120" y="1947672"/>
            <a:ext cx="1143000" cy="292608"/>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ea typeface="Calibri" pitchFamily="34" charset="-122"/>
                <a:cs typeface="Calibri" pitchFamily="34" charset="-120"/>
              </a:rPr>
              <a:t>CORE</a:t>
            </a:r>
            <a:endParaRPr lang="en-US" sz="950" dirty="0"/>
          </a:p>
        </p:txBody>
      </p:sp>
      <p:sp>
        <p:nvSpPr>
          <p:cNvPr id="33" name="Text 30"/>
          <p:cNvSpPr txBox="1"/>
          <p:nvPr/>
        </p:nvSpPr>
        <p:spPr>
          <a:xfrm>
            <a:off x="6766560" y="1947672"/>
            <a:ext cx="1828800" cy="292608"/>
          </a:xfrm>
          <a:prstGeom prst="rect">
            <a:avLst/>
          </a:prstGeom>
          <a:noFill/>
          <a:ln/>
        </p:spPr>
        <p:txBody>
          <a:bodyPr wrap="square" lIns="0" tIns="0" rIns="0" bIns="0" rtlCol="0" anchor="ctr"/>
          <a:lstStyle/>
          <a:p>
            <a:pPr algn="l" indent="0" marL="0">
              <a:buNone/>
            </a:pPr>
            <a:r>
              <a:rPr lang="en-US" sz="1050" b="1" i="1" dirty="0">
                <a:solidFill>
                  <a:srgbClr val="2E8B57"/>
                </a:solidFill>
                <a:latin typeface="Calibri" pitchFamily="34" charset="0"/>
                <a:ea typeface="Calibri" pitchFamily="34" charset="-122"/>
                <a:cs typeface="Calibri" pitchFamily="34" charset="-120"/>
              </a:rPr>
              <a:t>Everyone</a:t>
            </a:r>
            <a:endParaRPr lang="en-US" sz="1050" dirty="0"/>
          </a:p>
        </p:txBody>
      </p:sp>
      <p:sp>
        <p:nvSpPr>
          <p:cNvPr id="34" name="Text 31"/>
          <p:cNvSpPr txBox="1"/>
          <p:nvPr/>
        </p:nvSpPr>
        <p:spPr>
          <a:xfrm>
            <a:off x="5532120" y="2286000"/>
            <a:ext cx="6016752" cy="393192"/>
          </a:xfrm>
          <a:prstGeom prst="rect">
            <a:avLst/>
          </a:prstGeom>
          <a:noFill/>
          <a:ln/>
        </p:spPr>
        <p:txBody>
          <a:bodyPr wrap="square" lIns="0" tIns="0" rIns="0" bIns="0" rtlCol="0" anchor="ctr"/>
          <a:lstStyle/>
          <a:p>
            <a:pPr algn="l" indent="0" marL="0">
              <a:buNone/>
            </a:pPr>
            <a:r>
              <a:rPr lang="en-US" sz="1300" b="1" dirty="0">
                <a:solidFill>
                  <a:srgbClr val="2E8B57"/>
                </a:solidFill>
                <a:latin typeface="Calibri" pitchFamily="34" charset="0"/>
                <a:ea typeface="Calibri" pitchFamily="34" charset="-122"/>
                <a:cs typeface="Calibri" pitchFamily="34" charset="-120"/>
              </a:rPr>
              <a:t>☐  I can learn the people nouns and match one adjective.</a:t>
            </a:r>
            <a:endParaRPr lang="en-US" sz="1300" dirty="0"/>
          </a:p>
        </p:txBody>
      </p:sp>
      <p:sp>
        <p:nvSpPr>
          <p:cNvPr id="35" name="Text 32"/>
          <p:cNvSpPr txBox="1"/>
          <p:nvPr/>
        </p:nvSpPr>
        <p:spPr>
          <a:xfrm>
            <a:off x="5532120" y="2697480"/>
            <a:ext cx="6016752" cy="393192"/>
          </a:xfrm>
          <a:prstGeom prst="rect">
            <a:avLst/>
          </a:prstGeom>
          <a:noFill/>
          <a:ln/>
        </p:spPr>
        <p:txBody>
          <a:bodyPr wrap="square" lIns="0" tIns="0" rIns="0" bIns="0" rtlCol="0" anchor="ctr"/>
          <a:lstStyle/>
          <a:p>
            <a:pPr algn="l" indent="0" marL="0">
              <a:buNone/>
            </a:pPr>
            <a:r>
              <a:rPr lang="en-US" sz="1300" b="1" dirty="0">
                <a:solidFill>
                  <a:srgbClr val="2E8B57"/>
                </a:solidFill>
                <a:latin typeface="Calibri" pitchFamily="34" charset="0"/>
                <a:ea typeface="Calibri" pitchFamily="34" charset="-122"/>
                <a:cs typeface="Calibri" pitchFamily="34" charset="-120"/>
              </a:rPr>
              <a:t>☐  I can add </a:t>
            </a:r>
            <a:pPr algn="l" indent="0" marL="0">
              <a:buNone/>
            </a:pPr>
            <a:r>
              <a:rPr lang="ar-SA" altLang="en-US" sz="1700" b="1" dirty="0">
                <a:solidFill>
                  <a:srgbClr val="2E8B57"/>
                </a:solidFill>
                <a:latin typeface="Amiri" pitchFamily="34" charset="0"/>
                <a:ea typeface="Amiri" pitchFamily="34" charset="-122"/>
                <a:cs typeface="Amiri" pitchFamily="34" charset="-120"/>
              </a:rPr>
              <a:t>ة</a:t>
            </a:r>
            <a:pPr algn="l" indent="0" marL="0">
              <a:buNone/>
            </a:pPr>
            <a:r>
              <a:rPr lang="en-US" sz="1300" b="1" dirty="0">
                <a:solidFill>
                  <a:srgbClr val="2E8B57"/>
                </a:solidFill>
                <a:latin typeface="Calibri" pitchFamily="34" charset="0"/>
                <a:ea typeface="Calibri" pitchFamily="34" charset="-122"/>
                <a:cs typeface="Calibri" pitchFamily="34" charset="-120"/>
              </a:rPr>
              <a:t> to the adjective for a feminine noun.</a:t>
            </a:r>
            <a:endParaRPr lang="en-US" sz="1300" dirty="0"/>
          </a:p>
        </p:txBody>
      </p:sp>
      <p:sp>
        <p:nvSpPr>
          <p:cNvPr id="36" name="Shape 33"/>
          <p:cNvSpPr/>
          <p:nvPr/>
        </p:nvSpPr>
        <p:spPr>
          <a:xfrm>
            <a:off x="5349240" y="3273552"/>
            <a:ext cx="6382512" cy="1353312"/>
          </a:xfrm>
          <a:prstGeom prst="roundRect">
            <a:avLst>
              <a:gd name="adj" fmla="val 5405"/>
            </a:avLst>
          </a:prstGeom>
          <a:solidFill>
            <a:srgbClr val="FCF1E0"/>
          </a:solidFill>
          <a:ln w="9525">
            <a:solidFill>
              <a:srgbClr val="C9780A"/>
            </a:solidFill>
            <a:prstDash val="solid"/>
          </a:ln>
        </p:spPr>
      </p:sp>
      <p:sp>
        <p:nvSpPr>
          <p:cNvPr id="37" name="Shape 34"/>
          <p:cNvSpPr/>
          <p:nvPr/>
        </p:nvSpPr>
        <p:spPr>
          <a:xfrm>
            <a:off x="5532120" y="3410712"/>
            <a:ext cx="1143000" cy="292608"/>
          </a:xfrm>
          <a:prstGeom prst="roundRect">
            <a:avLst>
              <a:gd name="adj" fmla="val 50000"/>
            </a:avLst>
          </a:prstGeom>
          <a:solidFill>
            <a:srgbClr val="C9780A"/>
          </a:solidFill>
          <a:ln w="12700">
            <a:solidFill>
              <a:srgbClr val="C9780A"/>
            </a:solidFill>
            <a:prstDash val="solid"/>
          </a:ln>
        </p:spPr>
      </p:sp>
      <p:sp>
        <p:nvSpPr>
          <p:cNvPr id="38" name="Text 35"/>
          <p:cNvSpPr txBox="1"/>
          <p:nvPr/>
        </p:nvSpPr>
        <p:spPr>
          <a:xfrm>
            <a:off x="5532120" y="3410712"/>
            <a:ext cx="1143000" cy="292608"/>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ea typeface="Calibri" pitchFamily="34" charset="-122"/>
                <a:cs typeface="Calibri" pitchFamily="34" charset="-120"/>
              </a:rPr>
              <a:t>DEVELOP</a:t>
            </a:r>
            <a:endParaRPr lang="en-US" sz="950" dirty="0"/>
          </a:p>
        </p:txBody>
      </p:sp>
      <p:sp>
        <p:nvSpPr>
          <p:cNvPr id="39" name="Text 36"/>
          <p:cNvSpPr txBox="1"/>
          <p:nvPr/>
        </p:nvSpPr>
        <p:spPr>
          <a:xfrm>
            <a:off x="6766560" y="3410712"/>
            <a:ext cx="1828800" cy="292608"/>
          </a:xfrm>
          <a:prstGeom prst="rect">
            <a:avLst/>
          </a:prstGeom>
          <a:noFill/>
          <a:ln/>
        </p:spPr>
        <p:txBody>
          <a:bodyPr wrap="square" lIns="0" tIns="0" rIns="0" bIns="0" rtlCol="0" anchor="ctr"/>
          <a:lstStyle/>
          <a:p>
            <a:pPr algn="l" indent="0" marL="0">
              <a:buNone/>
            </a:pPr>
            <a:r>
              <a:rPr lang="en-US" sz="1050" b="1" i="1" dirty="0">
                <a:solidFill>
                  <a:srgbClr val="C9780A"/>
                </a:solidFill>
                <a:latin typeface="Calibri" pitchFamily="34" charset="0"/>
                <a:ea typeface="Calibri" pitchFamily="34" charset="-122"/>
                <a:cs typeface="Calibri" pitchFamily="34" charset="-120"/>
              </a:rPr>
              <a:t>Most of us</a:t>
            </a:r>
            <a:endParaRPr lang="en-US" sz="1050" dirty="0"/>
          </a:p>
        </p:txBody>
      </p:sp>
      <p:sp>
        <p:nvSpPr>
          <p:cNvPr id="40" name="Text 37"/>
          <p:cNvSpPr txBox="1"/>
          <p:nvPr/>
        </p:nvSpPr>
        <p:spPr>
          <a:xfrm>
            <a:off x="5532120" y="3749040"/>
            <a:ext cx="6016752" cy="393192"/>
          </a:xfrm>
          <a:prstGeom prst="rect">
            <a:avLst/>
          </a:prstGeom>
          <a:noFill/>
          <a:ln/>
        </p:spPr>
        <p:txBody>
          <a:bodyPr wrap="square" lIns="0" tIns="0" rIns="0" bIns="0" rtlCol="0" anchor="ctr"/>
          <a:lstStyle/>
          <a:p>
            <a:pPr algn="l" indent="0" marL="0">
              <a:buNone/>
            </a:pPr>
            <a:r>
              <a:rPr lang="en-US" sz="1300" b="1" dirty="0">
                <a:solidFill>
                  <a:srgbClr val="C9780A"/>
                </a:solidFill>
                <a:latin typeface="Calibri" pitchFamily="34" charset="0"/>
                <a:ea typeface="Calibri" pitchFamily="34" charset="-122"/>
                <a:cs typeface="Calibri" pitchFamily="34" charset="-120"/>
              </a:rPr>
              <a:t>☐  I can build full descriptions without a model.</a:t>
            </a:r>
            <a:endParaRPr lang="en-US" sz="1300" dirty="0"/>
          </a:p>
        </p:txBody>
      </p:sp>
      <p:sp>
        <p:nvSpPr>
          <p:cNvPr id="41" name="Text 38"/>
          <p:cNvSpPr txBox="1"/>
          <p:nvPr/>
        </p:nvSpPr>
        <p:spPr>
          <a:xfrm>
            <a:off x="5532120" y="4160520"/>
            <a:ext cx="6016752" cy="393192"/>
          </a:xfrm>
          <a:prstGeom prst="rect">
            <a:avLst/>
          </a:prstGeom>
          <a:noFill/>
          <a:ln/>
        </p:spPr>
        <p:txBody>
          <a:bodyPr wrap="square" lIns="0" tIns="0" rIns="0" bIns="0" rtlCol="0" anchor="ctr"/>
          <a:lstStyle/>
          <a:p>
            <a:pPr algn="l" indent="0" marL="0">
              <a:buNone/>
            </a:pPr>
            <a:r>
              <a:rPr lang="en-US" sz="1300" b="1" dirty="0">
                <a:solidFill>
                  <a:srgbClr val="C9780A"/>
                </a:solidFill>
                <a:latin typeface="Calibri" pitchFamily="34" charset="0"/>
                <a:ea typeface="Calibri" pitchFamily="34" charset="-122"/>
                <a:cs typeface="Calibri" pitchFamily="34" charset="-120"/>
              </a:rPr>
              <a:t>☐  I can use </a:t>
            </a:r>
            <a:pPr algn="l" indent="0" marL="0">
              <a:buNone/>
            </a:pPr>
            <a:r>
              <a:rPr lang="ar-SA" altLang="en-US" sz="1700" b="1" dirty="0">
                <a:solidFill>
                  <a:srgbClr val="C9780A"/>
                </a:solidFill>
                <a:latin typeface="Amiri" pitchFamily="34" charset="0"/>
                <a:ea typeface="Amiri" pitchFamily="34" charset="-122"/>
                <a:cs typeface="Amiri" pitchFamily="34" charset="-120"/>
              </a:rPr>
              <a:t>هَذَا</a:t>
            </a:r>
            <a:pPr algn="l" indent="0" marL="0">
              <a:buNone/>
            </a:pPr>
            <a:r>
              <a:rPr lang="en-US" sz="1300" b="1" dirty="0">
                <a:solidFill>
                  <a:srgbClr val="C9780A"/>
                </a:solidFill>
                <a:latin typeface="Calibri" pitchFamily="34" charset="0"/>
                <a:ea typeface="Calibri" pitchFamily="34" charset="-122"/>
                <a:cs typeface="Calibri" pitchFamily="34" charset="-120"/>
              </a:rPr>
              <a:t> and </a:t>
            </a:r>
            <a:pPr algn="l" indent="0" marL="0">
              <a:buNone/>
            </a:pPr>
            <a:r>
              <a:rPr lang="ar-SA" altLang="en-US" sz="1700" b="1" dirty="0">
                <a:solidFill>
                  <a:srgbClr val="C9780A"/>
                </a:solidFill>
                <a:latin typeface="Amiri" pitchFamily="34" charset="0"/>
                <a:ea typeface="Amiri" pitchFamily="34" charset="-122"/>
                <a:cs typeface="Amiri" pitchFamily="34" charset="-120"/>
              </a:rPr>
              <a:t>هَذِهِ</a:t>
            </a:r>
            <a:pPr algn="l" indent="0" marL="0">
              <a:buNone/>
            </a:pPr>
            <a:r>
              <a:rPr lang="en-US" sz="1300" b="1" dirty="0">
                <a:solidFill>
                  <a:srgbClr val="C9780A"/>
                </a:solidFill>
                <a:latin typeface="Calibri" pitchFamily="34" charset="0"/>
                <a:ea typeface="Calibri" pitchFamily="34" charset="-122"/>
                <a:cs typeface="Calibri" pitchFamily="34" charset="-120"/>
              </a:rPr>
              <a:t> correctly.</a:t>
            </a:r>
            <a:endParaRPr lang="en-US" sz="1300" dirty="0"/>
          </a:p>
        </p:txBody>
      </p:sp>
      <p:sp>
        <p:nvSpPr>
          <p:cNvPr id="42" name="Shape 39"/>
          <p:cNvSpPr/>
          <p:nvPr/>
        </p:nvSpPr>
        <p:spPr>
          <a:xfrm>
            <a:off x="5349240" y="4736592"/>
            <a:ext cx="6382512" cy="1353312"/>
          </a:xfrm>
          <a:prstGeom prst="roundRect">
            <a:avLst>
              <a:gd name="adj" fmla="val 5405"/>
            </a:avLst>
          </a:prstGeom>
          <a:solidFill>
            <a:srgbClr val="FBEAEA"/>
          </a:solidFill>
          <a:ln w="9525">
            <a:solidFill>
              <a:srgbClr val="B83227"/>
            </a:solidFill>
            <a:prstDash val="solid"/>
          </a:ln>
        </p:spPr>
      </p:sp>
      <p:sp>
        <p:nvSpPr>
          <p:cNvPr id="43" name="Shape 40"/>
          <p:cNvSpPr/>
          <p:nvPr/>
        </p:nvSpPr>
        <p:spPr>
          <a:xfrm>
            <a:off x="5532120" y="4873752"/>
            <a:ext cx="1143000" cy="292608"/>
          </a:xfrm>
          <a:prstGeom prst="roundRect">
            <a:avLst>
              <a:gd name="adj" fmla="val 50000"/>
            </a:avLst>
          </a:prstGeom>
          <a:solidFill>
            <a:srgbClr val="B83227"/>
          </a:solidFill>
          <a:ln w="12700">
            <a:solidFill>
              <a:srgbClr val="B83227"/>
            </a:solidFill>
            <a:prstDash val="solid"/>
          </a:ln>
        </p:spPr>
      </p:sp>
      <p:sp>
        <p:nvSpPr>
          <p:cNvPr id="44" name="Text 41"/>
          <p:cNvSpPr txBox="1"/>
          <p:nvPr/>
        </p:nvSpPr>
        <p:spPr>
          <a:xfrm>
            <a:off x="5532120" y="4873752"/>
            <a:ext cx="1143000" cy="292608"/>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ea typeface="Calibri" pitchFamily="34" charset="-122"/>
                <a:cs typeface="Calibri" pitchFamily="34" charset="-120"/>
              </a:rPr>
              <a:t>STRETCH</a:t>
            </a:r>
            <a:endParaRPr lang="en-US" sz="950" dirty="0"/>
          </a:p>
        </p:txBody>
      </p:sp>
      <p:sp>
        <p:nvSpPr>
          <p:cNvPr id="45" name="Text 42"/>
          <p:cNvSpPr txBox="1"/>
          <p:nvPr/>
        </p:nvSpPr>
        <p:spPr>
          <a:xfrm>
            <a:off x="6766560" y="4873752"/>
            <a:ext cx="1828800" cy="292608"/>
          </a:xfrm>
          <a:prstGeom prst="rect">
            <a:avLst/>
          </a:prstGeom>
          <a:noFill/>
          <a:ln/>
        </p:spPr>
        <p:txBody>
          <a:bodyPr wrap="square" lIns="0" tIns="0" rIns="0" bIns="0" rtlCol="0" anchor="ctr"/>
          <a:lstStyle/>
          <a:p>
            <a:pPr algn="l" indent="0" marL="0">
              <a:buNone/>
            </a:pPr>
            <a:r>
              <a:rPr lang="en-US" sz="1050" b="1" i="1" dirty="0">
                <a:solidFill>
                  <a:srgbClr val="B83227"/>
                </a:solidFill>
                <a:latin typeface="Calibri" pitchFamily="34" charset="0"/>
                <a:ea typeface="Calibri" pitchFamily="34" charset="-122"/>
                <a:cs typeface="Calibri" pitchFamily="34" charset="-120"/>
              </a:rPr>
              <a:t>Aim high</a:t>
            </a:r>
            <a:endParaRPr lang="en-US" sz="1050" dirty="0"/>
          </a:p>
        </p:txBody>
      </p:sp>
      <p:sp>
        <p:nvSpPr>
          <p:cNvPr id="46" name="Text 43"/>
          <p:cNvSpPr txBox="1"/>
          <p:nvPr/>
        </p:nvSpPr>
        <p:spPr>
          <a:xfrm>
            <a:off x="5532120" y="5212080"/>
            <a:ext cx="6016752" cy="393192"/>
          </a:xfrm>
          <a:prstGeom prst="rect">
            <a:avLst/>
          </a:prstGeom>
          <a:noFill/>
          <a:ln/>
        </p:spPr>
        <p:txBody>
          <a:bodyPr wrap="square" lIns="0" tIns="0" rIns="0" bIns="0" rtlCol="0" anchor="ctr"/>
          <a:lstStyle/>
          <a:p>
            <a:pPr algn="l" indent="0" marL="0">
              <a:buNone/>
            </a:pPr>
            <a:r>
              <a:rPr lang="en-US" sz="1300" b="1" dirty="0">
                <a:solidFill>
                  <a:srgbClr val="B83227"/>
                </a:solidFill>
                <a:latin typeface="Calibri" pitchFamily="34" charset="0"/>
                <a:ea typeface="Calibri" pitchFamily="34" charset="-122"/>
                <a:cs typeface="Calibri" pitchFamily="34" charset="-120"/>
              </a:rPr>
              <a:t>☐  I can combine two adjectives.</a:t>
            </a:r>
            <a:endParaRPr lang="en-US" sz="1300" dirty="0"/>
          </a:p>
        </p:txBody>
      </p:sp>
      <p:sp>
        <p:nvSpPr>
          <p:cNvPr id="47" name="Text 44"/>
          <p:cNvSpPr txBox="1"/>
          <p:nvPr/>
        </p:nvSpPr>
        <p:spPr>
          <a:xfrm>
            <a:off x="5532120" y="5623560"/>
            <a:ext cx="6016752" cy="393192"/>
          </a:xfrm>
          <a:prstGeom prst="rect">
            <a:avLst/>
          </a:prstGeom>
          <a:noFill/>
          <a:ln/>
        </p:spPr>
        <p:txBody>
          <a:bodyPr wrap="square" lIns="0" tIns="0" rIns="0" bIns="0" rtlCol="0" anchor="ctr"/>
          <a:lstStyle/>
          <a:p>
            <a:pPr algn="l" indent="0" marL="0">
              <a:buNone/>
            </a:pPr>
            <a:r>
              <a:rPr lang="en-US" sz="1300" b="1" dirty="0">
                <a:solidFill>
                  <a:srgbClr val="B83227"/>
                </a:solidFill>
                <a:latin typeface="Calibri" pitchFamily="34" charset="0"/>
                <a:ea typeface="Calibri" pitchFamily="34" charset="-122"/>
                <a:cs typeface="Calibri" pitchFamily="34" charset="-120"/>
              </a:rPr>
              <a:t>☐  I can use feminine nouns without </a:t>
            </a:r>
            <a:pPr algn="l" indent="0" marL="0">
              <a:buNone/>
            </a:pPr>
            <a:r>
              <a:rPr lang="ar-SA" altLang="en-US" sz="1700" b="1" dirty="0">
                <a:solidFill>
                  <a:srgbClr val="B83227"/>
                </a:solidFill>
                <a:latin typeface="Amiri" pitchFamily="34" charset="0"/>
                <a:ea typeface="Amiri" pitchFamily="34" charset="-122"/>
                <a:cs typeface="Amiri" pitchFamily="34" charset="-120"/>
              </a:rPr>
              <a:t>ة</a:t>
            </a:r>
            <a:pPr algn="l" indent="0" marL="0">
              <a:buNone/>
            </a:pPr>
            <a:r>
              <a:rPr lang="en-US" sz="1300" b="1" dirty="0">
                <a:solidFill>
                  <a:srgbClr val="B83227"/>
                </a:solidFill>
                <a:latin typeface="Calibri" pitchFamily="34" charset="0"/>
                <a:ea typeface="Calibri" pitchFamily="34" charset="-122"/>
                <a:cs typeface="Calibri" pitchFamily="34" charset="-120"/>
              </a:rPr>
              <a:t>.</a:t>
            </a:r>
            <a:endParaRPr lang="en-US" sz="1300" dirty="0"/>
          </a:p>
        </p:txBody>
      </p:sp>
      <p:sp>
        <p:nvSpPr>
          <p:cNvPr id="48" name="Text 4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ea typeface="Calibri" pitchFamily="34" charset="-122"/>
                <a:cs typeface="Calibri" pitchFamily="34" charset="-120"/>
              </a:rPr>
              <a:t>6 / 36</a:t>
            </a:r>
            <a:endParaRPr lang="en-US" sz="8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0D1F3C"/>
        </a:solidFill>
      </p:bgPr>
    </p:bg>
    <p:spTree>
      <p:nvGrpSpPr>
        <p:cNvPr id="1" name=""/>
        <p:cNvGrpSpPr/>
        <p:nvPr/>
      </p:nvGrpSpPr>
      <p:grpSpPr>
        <a:xfrm>
          <a:off x="0" y="0"/>
          <a:ext cx="0" cy="0"/>
          <a:chOff x="0" y="0"/>
          <a:chExt cx="0" cy="0"/>
        </a:xfrm>
      </p:grpSpPr>
      <p:sp>
        <p:nvSpPr>
          <p:cNvPr id="2" name="Shape 0"/>
          <p:cNvSpPr/>
          <p:nvPr/>
        </p:nvSpPr>
        <p:spPr>
          <a:xfrm>
            <a:off x="8412480" y="1005840"/>
            <a:ext cx="4754880" cy="4754880"/>
          </a:xfrm>
          <a:prstGeom prst="ellipse">
            <a:avLst/>
          </a:prstGeom>
          <a:solidFill>
            <a:srgbClr val="22477F"/>
          </a:solidFill>
          <a:ln w="12700">
            <a:solidFill>
              <a:srgbClr val="22477F"/>
            </a:solidFill>
            <a:prstDash val="solid"/>
          </a:ln>
        </p:spPr>
      </p:sp>
      <p:sp>
        <p:nvSpPr>
          <p:cNvPr id="3" name="Shape 1"/>
          <p:cNvSpPr/>
          <p:nvPr/>
        </p:nvSpPr>
        <p:spPr>
          <a:xfrm>
            <a:off x="457200" y="1097280"/>
            <a:ext cx="3108960" cy="365760"/>
          </a:xfrm>
          <a:prstGeom prst="roundRect">
            <a:avLst>
              <a:gd name="adj" fmla="val 50000"/>
            </a:avLst>
          </a:prstGeom>
          <a:solidFill>
            <a:srgbClr val="D4AF37"/>
          </a:solidFill>
          <a:ln w="12700">
            <a:solidFill>
              <a:srgbClr val="D4AF37"/>
            </a:solidFill>
            <a:prstDash val="solid"/>
          </a:ln>
        </p:spPr>
      </p:sp>
      <p:sp>
        <p:nvSpPr>
          <p:cNvPr id="4" name="Text 2"/>
          <p:cNvSpPr txBox="1"/>
          <p:nvPr/>
        </p:nvSpPr>
        <p:spPr>
          <a:xfrm>
            <a:off x="457200" y="1097280"/>
            <a:ext cx="3108960" cy="365760"/>
          </a:xfrm>
          <a:prstGeom prst="rect">
            <a:avLst/>
          </a:prstGeom>
          <a:noFill/>
          <a:ln/>
        </p:spPr>
        <p:txBody>
          <a:bodyPr wrap="square" lIns="0" tIns="0" rIns="0" bIns="0" rtlCol="0" anchor="ctr"/>
          <a:lstStyle/>
          <a:p>
            <a:pPr algn="ctr" indent="0" marL="0">
              <a:buNone/>
            </a:pPr>
            <a:r>
              <a:rPr lang="en-US" sz="1000" b="1" spc="100" kern="0" dirty="0">
                <a:solidFill>
                  <a:srgbClr val="0D1F3C"/>
                </a:solidFill>
                <a:latin typeface="Calibri" pitchFamily="34" charset="0"/>
                <a:ea typeface="Calibri" pitchFamily="34" charset="-122"/>
                <a:cs typeface="Calibri" pitchFamily="34" charset="-120"/>
              </a:rPr>
              <a:t>TEACHER INSTRUCTION · 7 MIN</a:t>
            </a:r>
            <a:endParaRPr lang="en-US" sz="1000" dirty="0"/>
          </a:p>
        </p:txBody>
      </p:sp>
      <p:sp>
        <p:nvSpPr>
          <p:cNvPr id="5" name="Text 3"/>
          <p:cNvSpPr txBox="1"/>
          <p:nvPr/>
        </p:nvSpPr>
        <p:spPr>
          <a:xfrm>
            <a:off x="457200" y="1783080"/>
            <a:ext cx="7863840" cy="822960"/>
          </a:xfrm>
          <a:prstGeom prst="rect">
            <a:avLst/>
          </a:prstGeom>
          <a:noFill/>
          <a:ln/>
        </p:spPr>
        <p:txBody>
          <a:bodyPr wrap="square" lIns="0" tIns="0" rIns="0" bIns="0" rtlCol="0" anchor="ctr"/>
          <a:lstStyle/>
          <a:p>
            <a:pPr algn="l" indent="0" marL="0">
              <a:buNone/>
            </a:pPr>
            <a:r>
              <a:rPr lang="en-US" sz="4000" b="1" dirty="0">
                <a:solidFill>
                  <a:srgbClr val="FFFFFF"/>
                </a:solidFill>
                <a:latin typeface="Cambria" pitchFamily="34" charset="0"/>
                <a:ea typeface="Cambria" pitchFamily="34" charset="-122"/>
                <a:cs typeface="Cambria" pitchFamily="34" charset="-120"/>
              </a:rPr>
              <a:t>Key words for today</a:t>
            </a:r>
            <a:endParaRPr lang="en-US" sz="4000" dirty="0"/>
          </a:p>
        </p:txBody>
      </p:sp>
      <p:sp>
        <p:nvSpPr>
          <p:cNvPr id="6" name="Text 4"/>
          <p:cNvSpPr txBox="1"/>
          <p:nvPr/>
        </p:nvSpPr>
        <p:spPr>
          <a:xfrm>
            <a:off x="457200" y="2606040"/>
            <a:ext cx="7863840" cy="822960"/>
          </a:xfrm>
          <a:prstGeom prst="rect">
            <a:avLst/>
          </a:prstGeom>
          <a:noFill/>
          <a:ln/>
        </p:spPr>
        <p:txBody>
          <a:bodyPr wrap="square" lIns="0" tIns="0" rIns="0" bIns="0" rtlCol="0" anchor="ctr"/>
          <a:lstStyle/>
          <a:p>
            <a:pPr rtl="1" algn="l" indent="0" marL="0">
              <a:buNone/>
            </a:pPr>
            <a:r>
              <a:rPr lang="ar-SA" altLang="en-US" sz="3800" b="1" dirty="0">
                <a:solidFill>
                  <a:srgbClr val="D4AF37"/>
                </a:solidFill>
                <a:latin typeface="Amiri" pitchFamily="34" charset="0"/>
                <a:ea typeface="Amiri" pitchFamily="34" charset="-122"/>
                <a:cs typeface="Amiri" pitchFamily="34" charset="-120"/>
              </a:rPr>
              <a:t>كَلِمَاتُ الدَّرْسِ</a:t>
            </a:r>
            <a:endParaRPr lang="ar-SA" sz="3800" dirty="0"/>
          </a:p>
        </p:txBody>
      </p:sp>
      <p:sp>
        <p:nvSpPr>
          <p:cNvPr id="7" name="Text 5"/>
          <p:cNvSpPr txBox="1"/>
          <p:nvPr/>
        </p:nvSpPr>
        <p:spPr>
          <a:xfrm>
            <a:off x="457200" y="3566160"/>
            <a:ext cx="7680960" cy="822960"/>
          </a:xfrm>
          <a:prstGeom prst="rect">
            <a:avLst/>
          </a:prstGeom>
          <a:noFill/>
          <a:ln/>
        </p:spPr>
        <p:txBody>
          <a:bodyPr wrap="square" lIns="0" tIns="0" rIns="0" bIns="0" rtlCol="0" anchor="t"/>
          <a:lstStyle/>
          <a:p>
            <a:pPr algn="l" indent="0" marL="0">
              <a:buNone/>
            </a:pPr>
            <a:r>
              <a:rPr lang="en-US" sz="1600" dirty="0">
                <a:solidFill>
                  <a:srgbClr val="C6D2E6"/>
                </a:solidFill>
                <a:latin typeface="Calibri" pitchFamily="34" charset="0"/>
                <a:ea typeface="Calibri" pitchFamily="34" charset="-122"/>
                <a:cs typeface="Calibri" pitchFamily="34" charset="-120"/>
              </a:rPr>
              <a:t>8 people pairs, 10 adjective pairs and the feminine exceptions — all website active vocabulary. Core: the </a:t>
            </a:r>
            <a:pPr algn="l" indent="0" marL="0">
              <a:buNone/>
            </a:pPr>
            <a:r>
              <a:rPr lang="ar-SA" altLang="en-US" sz="2100" dirty="0">
                <a:solidFill>
                  <a:srgbClr val="C6D2E6"/>
                </a:solidFill>
                <a:latin typeface="Amiri" pitchFamily="34" charset="0"/>
                <a:ea typeface="Amiri" pitchFamily="34" charset="-122"/>
                <a:cs typeface="Amiri" pitchFamily="34" charset="-120"/>
              </a:rPr>
              <a:t>ة</a:t>
            </a:r>
            <a:pPr algn="l" indent="0" marL="0">
              <a:buNone/>
            </a:pPr>
            <a:r>
              <a:rPr lang="en-US" sz="1600" dirty="0">
                <a:solidFill>
                  <a:srgbClr val="C6D2E6"/>
                </a:solidFill>
                <a:latin typeface="Calibri" pitchFamily="34" charset="0"/>
                <a:ea typeface="Calibri" pitchFamily="34" charset="-122"/>
                <a:cs typeface="Calibri" pitchFamily="34" charset="-120"/>
              </a:rPr>
              <a:t> rule and the first four people pairs.</a:t>
            </a:r>
            <a:endParaRPr lang="en-US" sz="1600" dirty="0"/>
          </a:p>
        </p:txBody>
      </p:sp>
      <p:sp>
        <p:nvSpPr>
          <p:cNvPr id="8" name="Shape 6"/>
          <p:cNvSpPr/>
          <p:nvPr/>
        </p:nvSpPr>
        <p:spPr>
          <a:xfrm>
            <a:off x="457200" y="4572000"/>
            <a:ext cx="2529840" cy="960120"/>
          </a:xfrm>
          <a:prstGeom prst="roundRect">
            <a:avLst>
              <a:gd name="adj" fmla="val 7619"/>
            </a:avLst>
          </a:prstGeom>
          <a:solidFill>
            <a:srgbClr val="16335F"/>
          </a:solidFill>
          <a:ln w="12700">
            <a:solidFill>
              <a:srgbClr val="2A4B7C"/>
            </a:solidFill>
            <a:prstDash val="solid"/>
          </a:ln>
        </p:spPr>
      </p:sp>
      <p:sp>
        <p:nvSpPr>
          <p:cNvPr id="9" name="Text 7"/>
          <p:cNvSpPr txBox="1"/>
          <p:nvPr/>
        </p:nvSpPr>
        <p:spPr>
          <a:xfrm>
            <a:off x="594360" y="4617720"/>
            <a:ext cx="2255520" cy="868680"/>
          </a:xfrm>
          <a:prstGeom prst="rect">
            <a:avLst/>
          </a:prstGeom>
          <a:noFill/>
          <a:ln/>
        </p:spPr>
        <p:txBody>
          <a:bodyPr wrap="square" lIns="0" tIns="0" rIns="0" bIns="0" rtlCol="0" anchor="ctr"/>
          <a:lstStyle/>
          <a:p>
            <a:pPr indent="0" marL="0">
              <a:buNone/>
            </a:pPr>
            <a:r>
              <a:rPr lang="en-US" sz="900" b="1" spc="200" kern="0" dirty="0">
                <a:solidFill>
                  <a:srgbClr val="D4AF37"/>
                </a:solidFill>
                <a:latin typeface="Calibri" pitchFamily="34" charset="0"/>
                <a:ea typeface="Calibri" pitchFamily="34" charset="-122"/>
                <a:cs typeface="Calibri" pitchFamily="34" charset="-120"/>
              </a:rPr>
              <a:t>GROUP 1</a:t>
            </a:r>
            <a:endParaRPr lang="en-US" sz="900" dirty="0"/>
          </a:p>
          <a:p>
            <a:pPr indent="0" marL="0">
              <a:buNone/>
            </a:pPr>
            <a:r>
              <a:rPr lang="en-US" sz="1200" b="1" dirty="0">
                <a:solidFill>
                  <a:srgbClr val="FFFFFF"/>
                </a:solidFill>
                <a:latin typeface="Calibri" pitchFamily="34" charset="0"/>
                <a:ea typeface="Calibri" pitchFamily="34" charset="-122"/>
                <a:cs typeface="Calibri" pitchFamily="34" charset="-120"/>
              </a:rPr>
              <a:t>People · 8 pairs</a:t>
            </a:r>
            <a:endParaRPr lang="en-US" sz="900" dirty="0"/>
          </a:p>
        </p:txBody>
      </p:sp>
      <p:sp>
        <p:nvSpPr>
          <p:cNvPr id="10" name="Shape 8"/>
          <p:cNvSpPr/>
          <p:nvPr/>
        </p:nvSpPr>
        <p:spPr>
          <a:xfrm>
            <a:off x="3124200" y="4572000"/>
            <a:ext cx="2529840" cy="960120"/>
          </a:xfrm>
          <a:prstGeom prst="roundRect">
            <a:avLst>
              <a:gd name="adj" fmla="val 7619"/>
            </a:avLst>
          </a:prstGeom>
          <a:solidFill>
            <a:srgbClr val="16335F"/>
          </a:solidFill>
          <a:ln w="12700">
            <a:solidFill>
              <a:srgbClr val="2A4B7C"/>
            </a:solidFill>
            <a:prstDash val="solid"/>
          </a:ln>
        </p:spPr>
      </p:sp>
      <p:sp>
        <p:nvSpPr>
          <p:cNvPr id="11" name="Text 9"/>
          <p:cNvSpPr txBox="1"/>
          <p:nvPr/>
        </p:nvSpPr>
        <p:spPr>
          <a:xfrm>
            <a:off x="3261360" y="4617720"/>
            <a:ext cx="2255520" cy="868680"/>
          </a:xfrm>
          <a:prstGeom prst="rect">
            <a:avLst/>
          </a:prstGeom>
          <a:noFill/>
          <a:ln/>
        </p:spPr>
        <p:txBody>
          <a:bodyPr wrap="square" lIns="0" tIns="0" rIns="0" bIns="0" rtlCol="0" anchor="ctr"/>
          <a:lstStyle/>
          <a:p>
            <a:pPr indent="0" marL="0">
              <a:buNone/>
            </a:pPr>
            <a:r>
              <a:rPr lang="en-US" sz="900" b="1" spc="200" kern="0" dirty="0">
                <a:solidFill>
                  <a:srgbClr val="D4AF37"/>
                </a:solidFill>
                <a:latin typeface="Calibri" pitchFamily="34" charset="0"/>
                <a:ea typeface="Calibri" pitchFamily="34" charset="-122"/>
                <a:cs typeface="Calibri" pitchFamily="34" charset="-120"/>
              </a:rPr>
              <a:t>GROUP 2</a:t>
            </a:r>
            <a:endParaRPr lang="en-US" sz="900" dirty="0"/>
          </a:p>
          <a:p>
            <a:pPr indent="0" marL="0">
              <a:buNone/>
            </a:pPr>
            <a:r>
              <a:rPr lang="en-US" sz="1200" b="1" dirty="0">
                <a:solidFill>
                  <a:srgbClr val="FFFFFF"/>
                </a:solidFill>
                <a:latin typeface="Calibri" pitchFamily="34" charset="0"/>
                <a:ea typeface="Calibri" pitchFamily="34" charset="-122"/>
                <a:cs typeface="Calibri" pitchFamily="34" charset="-120"/>
              </a:rPr>
              <a:t>The ة clue + exceptions</a:t>
            </a:r>
            <a:endParaRPr lang="en-US" sz="900" dirty="0"/>
          </a:p>
        </p:txBody>
      </p:sp>
      <p:sp>
        <p:nvSpPr>
          <p:cNvPr id="12" name="Shape 10"/>
          <p:cNvSpPr/>
          <p:nvPr/>
        </p:nvSpPr>
        <p:spPr>
          <a:xfrm>
            <a:off x="5791200" y="4572000"/>
            <a:ext cx="2529840" cy="960120"/>
          </a:xfrm>
          <a:prstGeom prst="roundRect">
            <a:avLst>
              <a:gd name="adj" fmla="val 7619"/>
            </a:avLst>
          </a:prstGeom>
          <a:solidFill>
            <a:srgbClr val="16335F"/>
          </a:solidFill>
          <a:ln w="12700">
            <a:solidFill>
              <a:srgbClr val="2A4B7C"/>
            </a:solidFill>
            <a:prstDash val="solid"/>
          </a:ln>
        </p:spPr>
      </p:sp>
      <p:sp>
        <p:nvSpPr>
          <p:cNvPr id="13" name="Text 11"/>
          <p:cNvSpPr txBox="1"/>
          <p:nvPr/>
        </p:nvSpPr>
        <p:spPr>
          <a:xfrm>
            <a:off x="5928360" y="4617720"/>
            <a:ext cx="2255520" cy="868680"/>
          </a:xfrm>
          <a:prstGeom prst="rect">
            <a:avLst/>
          </a:prstGeom>
          <a:noFill/>
          <a:ln/>
        </p:spPr>
        <p:txBody>
          <a:bodyPr wrap="square" lIns="0" tIns="0" rIns="0" bIns="0" rtlCol="0" anchor="ctr"/>
          <a:lstStyle/>
          <a:p>
            <a:pPr indent="0" marL="0">
              <a:buNone/>
            </a:pPr>
            <a:r>
              <a:rPr lang="en-US" sz="900" b="1" spc="200" kern="0" dirty="0">
                <a:solidFill>
                  <a:srgbClr val="D4AF37"/>
                </a:solidFill>
                <a:latin typeface="Calibri" pitchFamily="34" charset="0"/>
                <a:ea typeface="Calibri" pitchFamily="34" charset="-122"/>
                <a:cs typeface="Calibri" pitchFamily="34" charset="-120"/>
              </a:rPr>
              <a:t>GROUP 3</a:t>
            </a:r>
            <a:endParaRPr lang="en-US" sz="900" dirty="0"/>
          </a:p>
          <a:p>
            <a:pPr indent="0" marL="0">
              <a:buNone/>
            </a:pPr>
            <a:r>
              <a:rPr lang="en-US" sz="1200" b="1" dirty="0">
                <a:solidFill>
                  <a:srgbClr val="FFFFFF"/>
                </a:solidFill>
                <a:latin typeface="Calibri" pitchFamily="34" charset="0"/>
                <a:ea typeface="Calibri" pitchFamily="34" charset="-122"/>
                <a:cs typeface="Calibri" pitchFamily="34" charset="-120"/>
              </a:rPr>
              <a:t>Adjectives · 10 pairs</a:t>
            </a:r>
            <a:endParaRPr lang="en-US" sz="900" dirty="0"/>
          </a:p>
        </p:txBody>
      </p:sp>
      <p:sp>
        <p:nvSpPr>
          <p:cNvPr id="14" name="Shape 12"/>
          <p:cNvSpPr/>
          <p:nvPr/>
        </p:nvSpPr>
        <p:spPr>
          <a:xfrm>
            <a:off x="8732520" y="1371600"/>
            <a:ext cx="3017520" cy="3291840"/>
          </a:xfrm>
          <a:prstGeom prst="roundRect">
            <a:avLst>
              <a:gd name="adj" fmla="val 2424"/>
            </a:avLst>
          </a:prstGeom>
          <a:solidFill>
            <a:srgbClr val="EAF6EF"/>
          </a:solidFill>
          <a:ln w="12700">
            <a:solidFill>
              <a:srgbClr val="9CCFB0"/>
            </a:solidFill>
            <a:prstDash val="solid"/>
          </a:ln>
        </p:spPr>
      </p:sp>
      <p:sp>
        <p:nvSpPr>
          <p:cNvPr id="15" name="Text 13"/>
          <p:cNvSpPr txBox="1"/>
          <p:nvPr/>
        </p:nvSpPr>
        <p:spPr>
          <a:xfrm>
            <a:off x="8915400" y="1426464"/>
            <a:ext cx="2651760" cy="310896"/>
          </a:xfrm>
          <a:prstGeom prst="rect">
            <a:avLst/>
          </a:prstGeom>
          <a:noFill/>
          <a:ln/>
        </p:spPr>
        <p:txBody>
          <a:bodyPr wrap="square" lIns="0" tIns="0" rIns="0" bIns="0" rtlCol="0" anchor="ctr"/>
          <a:lstStyle/>
          <a:p>
            <a:pPr algn="l" indent="0" marL="0">
              <a:buNone/>
            </a:pPr>
            <a:r>
              <a:rPr lang="en-US" sz="1000" b="1" spc="200" kern="0" dirty="0">
                <a:solidFill>
                  <a:srgbClr val="2E8B57"/>
                </a:solidFill>
                <a:latin typeface="Calibri" pitchFamily="34" charset="0"/>
                <a:ea typeface="Calibri" pitchFamily="34" charset="-122"/>
                <a:cs typeface="Calibri" pitchFamily="34" charset="-120"/>
              </a:rPr>
              <a:t>BRIDGE FROM URDU</a:t>
            </a:r>
            <a:endParaRPr lang="en-US" sz="1000" dirty="0"/>
          </a:p>
        </p:txBody>
      </p:sp>
      <p:sp>
        <p:nvSpPr>
          <p:cNvPr id="16" name="Text 14"/>
          <p:cNvSpPr txBox="1"/>
          <p:nvPr/>
        </p:nvSpPr>
        <p:spPr>
          <a:xfrm>
            <a:off x="10241280" y="1810512"/>
            <a:ext cx="1417320" cy="475488"/>
          </a:xfrm>
          <a:prstGeom prst="rect">
            <a:avLst/>
          </a:prstGeom>
          <a:noFill/>
          <a:ln/>
        </p:spPr>
        <p:txBody>
          <a:bodyPr wrap="square" lIns="0" tIns="0" rIns="0" bIns="0" rtlCol="0" anchor="ctr"/>
          <a:lstStyle/>
          <a:p>
            <a:pPr rtl="1" algn="r" indent="0" marL="0">
              <a:buNone/>
            </a:pPr>
            <a:r>
              <a:rPr lang="ar-SA" altLang="en-US" sz="1900" b="1" dirty="0">
                <a:solidFill>
                  <a:srgbClr val="1B3B6F"/>
                </a:solidFill>
                <a:latin typeface="Amiri" pitchFamily="34" charset="0"/>
                <a:ea typeface="Amiri" pitchFamily="34" charset="-122"/>
                <a:cs typeface="Amiri" pitchFamily="34" charset="-120"/>
              </a:rPr>
              <a:t>طَالِبٌ</a:t>
            </a:r>
            <a:endParaRPr lang="ar-SA" sz="1900" dirty="0"/>
          </a:p>
        </p:txBody>
      </p:sp>
      <p:sp>
        <p:nvSpPr>
          <p:cNvPr id="17" name="Text 15"/>
          <p:cNvSpPr txBox="1"/>
          <p:nvPr/>
        </p:nvSpPr>
        <p:spPr>
          <a:xfrm>
            <a:off x="8842248" y="1810512"/>
            <a:ext cx="1463040" cy="475488"/>
          </a:xfrm>
          <a:prstGeom prst="rect">
            <a:avLst/>
          </a:prstGeom>
          <a:noFill/>
          <a:ln/>
        </p:spPr>
        <p:txBody>
          <a:bodyPr wrap="square" lIns="0" tIns="0" rIns="0" bIns="0" rtlCol="0" anchor="ctr"/>
          <a:lstStyle/>
          <a:p>
            <a:pPr indent="0" marL="0">
              <a:buNone/>
            </a:pPr>
            <a:r>
              <a:rPr lang="ur-PK" altLang="en-US" sz="1400" b="1" dirty="0">
                <a:solidFill>
                  <a:srgbClr val="2E8B57"/>
                </a:solidFill>
                <a:latin typeface="Amiri" pitchFamily="34" charset="0"/>
                <a:ea typeface="Amiri" pitchFamily="34" charset="-122"/>
                <a:cs typeface="Amiri" pitchFamily="34" charset="-120"/>
              </a:rPr>
              <a:t>‎طالب علم‎ </a:t>
            </a:r>
            <a:pPr indent="0" marL="0">
              <a:buNone/>
            </a:pPr>
            <a:r>
              <a:rPr lang="en-US" sz="950" b="1" dirty="0">
                <a:solidFill>
                  <a:srgbClr val="2E8B57"/>
                </a:solidFill>
                <a:latin typeface="Calibri" pitchFamily="34" charset="0"/>
                <a:ea typeface="Calibri" pitchFamily="34" charset="-122"/>
                <a:cs typeface="Calibri" pitchFamily="34" charset="-120"/>
              </a:rPr>
              <a:t> tālib-e-ilm · student</a:t>
            </a:r>
            <a:endParaRPr lang="en-US" sz="1400" dirty="0"/>
          </a:p>
        </p:txBody>
      </p:sp>
      <p:sp>
        <p:nvSpPr>
          <p:cNvPr id="18" name="Text 16"/>
          <p:cNvSpPr txBox="1"/>
          <p:nvPr/>
        </p:nvSpPr>
        <p:spPr>
          <a:xfrm>
            <a:off x="10241280" y="2377440"/>
            <a:ext cx="1417320" cy="475488"/>
          </a:xfrm>
          <a:prstGeom prst="rect">
            <a:avLst/>
          </a:prstGeom>
          <a:noFill/>
          <a:ln/>
        </p:spPr>
        <p:txBody>
          <a:bodyPr wrap="square" lIns="0" tIns="0" rIns="0" bIns="0" rtlCol="0" anchor="ctr"/>
          <a:lstStyle/>
          <a:p>
            <a:pPr rtl="1" algn="r" indent="0" marL="0">
              <a:buNone/>
            </a:pPr>
            <a:r>
              <a:rPr lang="ar-SA" altLang="en-US" sz="1900" b="1" dirty="0">
                <a:solidFill>
                  <a:srgbClr val="1B3B6F"/>
                </a:solidFill>
                <a:latin typeface="Amiri" pitchFamily="34" charset="0"/>
                <a:ea typeface="Amiri" pitchFamily="34" charset="-122"/>
                <a:cs typeface="Amiri" pitchFamily="34" charset="-120"/>
              </a:rPr>
              <a:t>مُعَلِّمٌ</a:t>
            </a:r>
            <a:endParaRPr lang="ar-SA" sz="1900" dirty="0"/>
          </a:p>
        </p:txBody>
      </p:sp>
      <p:sp>
        <p:nvSpPr>
          <p:cNvPr id="19" name="Text 17"/>
          <p:cNvSpPr txBox="1"/>
          <p:nvPr/>
        </p:nvSpPr>
        <p:spPr>
          <a:xfrm>
            <a:off x="8842248" y="2377440"/>
            <a:ext cx="1463040" cy="475488"/>
          </a:xfrm>
          <a:prstGeom prst="rect">
            <a:avLst/>
          </a:prstGeom>
          <a:noFill/>
          <a:ln/>
        </p:spPr>
        <p:txBody>
          <a:bodyPr wrap="square" lIns="0" tIns="0" rIns="0" bIns="0" rtlCol="0" anchor="ctr"/>
          <a:lstStyle/>
          <a:p>
            <a:pPr indent="0" marL="0">
              <a:buNone/>
            </a:pPr>
            <a:r>
              <a:rPr lang="ur-PK" altLang="en-US" sz="1400" b="1" dirty="0">
                <a:solidFill>
                  <a:srgbClr val="2E8B57"/>
                </a:solidFill>
                <a:latin typeface="Amiri" pitchFamily="34" charset="0"/>
                <a:ea typeface="Amiri" pitchFamily="34" charset="-122"/>
                <a:cs typeface="Amiri" pitchFamily="34" charset="-120"/>
              </a:rPr>
              <a:t>‎معلم‎ </a:t>
            </a:r>
            <a:pPr indent="0" marL="0">
              <a:buNone/>
            </a:pPr>
            <a:r>
              <a:rPr lang="en-US" sz="950" b="1" dirty="0">
                <a:solidFill>
                  <a:srgbClr val="2E8B57"/>
                </a:solidFill>
                <a:latin typeface="Calibri" pitchFamily="34" charset="0"/>
                <a:ea typeface="Calibri" pitchFamily="34" charset="-122"/>
                <a:cs typeface="Calibri" pitchFamily="34" charset="-120"/>
              </a:rPr>
              <a:t> muallim · teacher</a:t>
            </a:r>
            <a:endParaRPr lang="en-US" sz="1400" dirty="0"/>
          </a:p>
        </p:txBody>
      </p:sp>
      <p:sp>
        <p:nvSpPr>
          <p:cNvPr id="20" name="Text 18"/>
          <p:cNvSpPr txBox="1"/>
          <p:nvPr/>
        </p:nvSpPr>
        <p:spPr>
          <a:xfrm>
            <a:off x="10241280" y="2944368"/>
            <a:ext cx="1417320" cy="475488"/>
          </a:xfrm>
          <a:prstGeom prst="rect">
            <a:avLst/>
          </a:prstGeom>
          <a:noFill/>
          <a:ln/>
        </p:spPr>
        <p:txBody>
          <a:bodyPr wrap="square" lIns="0" tIns="0" rIns="0" bIns="0" rtlCol="0" anchor="ctr"/>
          <a:lstStyle/>
          <a:p>
            <a:pPr rtl="1" algn="r" indent="0" marL="0">
              <a:buNone/>
            </a:pPr>
            <a:r>
              <a:rPr lang="ar-SA" altLang="en-US" sz="1900" b="1" dirty="0">
                <a:solidFill>
                  <a:srgbClr val="1B3B6F"/>
                </a:solidFill>
                <a:latin typeface="Amiri" pitchFamily="34" charset="0"/>
                <a:ea typeface="Amiri" pitchFamily="34" charset="-122"/>
                <a:cs typeface="Amiri" pitchFamily="34" charset="-120"/>
              </a:rPr>
              <a:t>جَدِيدٌ</a:t>
            </a:r>
            <a:endParaRPr lang="ar-SA" sz="1900" dirty="0"/>
          </a:p>
        </p:txBody>
      </p:sp>
      <p:sp>
        <p:nvSpPr>
          <p:cNvPr id="21" name="Text 19"/>
          <p:cNvSpPr txBox="1"/>
          <p:nvPr/>
        </p:nvSpPr>
        <p:spPr>
          <a:xfrm>
            <a:off x="8842248" y="2944368"/>
            <a:ext cx="1463040" cy="475488"/>
          </a:xfrm>
          <a:prstGeom prst="rect">
            <a:avLst/>
          </a:prstGeom>
          <a:noFill/>
          <a:ln/>
        </p:spPr>
        <p:txBody>
          <a:bodyPr wrap="square" lIns="0" tIns="0" rIns="0" bIns="0" rtlCol="0" anchor="ctr"/>
          <a:lstStyle/>
          <a:p>
            <a:pPr indent="0" marL="0">
              <a:buNone/>
            </a:pPr>
            <a:r>
              <a:rPr lang="ur-PK" altLang="en-US" sz="1400" b="1" dirty="0">
                <a:solidFill>
                  <a:srgbClr val="2E8B57"/>
                </a:solidFill>
                <a:latin typeface="Amiri" pitchFamily="34" charset="0"/>
                <a:ea typeface="Amiri" pitchFamily="34" charset="-122"/>
                <a:cs typeface="Amiri" pitchFamily="34" charset="-120"/>
              </a:rPr>
              <a:t>‎جدید‎ </a:t>
            </a:r>
            <a:pPr indent="0" marL="0">
              <a:buNone/>
            </a:pPr>
            <a:r>
              <a:rPr lang="en-US" sz="950" b="1" dirty="0">
                <a:solidFill>
                  <a:srgbClr val="2E8B57"/>
                </a:solidFill>
                <a:latin typeface="Calibri" pitchFamily="34" charset="0"/>
                <a:ea typeface="Calibri" pitchFamily="34" charset="-122"/>
                <a:cs typeface="Calibri" pitchFamily="34" charset="-120"/>
              </a:rPr>
              <a:t> jadīd · modern, new</a:t>
            </a:r>
            <a:endParaRPr lang="en-US" sz="1400" dirty="0"/>
          </a:p>
        </p:txBody>
      </p:sp>
      <p:sp>
        <p:nvSpPr>
          <p:cNvPr id="22" name="Text 20"/>
          <p:cNvSpPr txBox="1"/>
          <p:nvPr/>
        </p:nvSpPr>
        <p:spPr>
          <a:xfrm>
            <a:off x="10241280" y="3511296"/>
            <a:ext cx="1417320" cy="475488"/>
          </a:xfrm>
          <a:prstGeom prst="rect">
            <a:avLst/>
          </a:prstGeom>
          <a:noFill/>
          <a:ln/>
        </p:spPr>
        <p:txBody>
          <a:bodyPr wrap="square" lIns="0" tIns="0" rIns="0" bIns="0" rtlCol="0" anchor="ctr"/>
          <a:lstStyle/>
          <a:p>
            <a:pPr rtl="1" algn="r" indent="0" marL="0">
              <a:buNone/>
            </a:pPr>
            <a:r>
              <a:rPr lang="ar-SA" altLang="en-US" sz="1900" b="1" dirty="0">
                <a:solidFill>
                  <a:srgbClr val="1B3B6F"/>
                </a:solidFill>
                <a:latin typeface="Amiri" pitchFamily="34" charset="0"/>
                <a:ea typeface="Amiri" pitchFamily="34" charset="-122"/>
                <a:cs typeface="Amiri" pitchFamily="34" charset="-120"/>
              </a:rPr>
              <a:t>قَدِيمٌ</a:t>
            </a:r>
            <a:endParaRPr lang="ar-SA" sz="1900" dirty="0"/>
          </a:p>
        </p:txBody>
      </p:sp>
      <p:sp>
        <p:nvSpPr>
          <p:cNvPr id="23" name="Text 21"/>
          <p:cNvSpPr txBox="1"/>
          <p:nvPr/>
        </p:nvSpPr>
        <p:spPr>
          <a:xfrm>
            <a:off x="8842248" y="3511296"/>
            <a:ext cx="1463040" cy="475488"/>
          </a:xfrm>
          <a:prstGeom prst="rect">
            <a:avLst/>
          </a:prstGeom>
          <a:noFill/>
          <a:ln/>
        </p:spPr>
        <p:txBody>
          <a:bodyPr wrap="square" lIns="0" tIns="0" rIns="0" bIns="0" rtlCol="0" anchor="ctr"/>
          <a:lstStyle/>
          <a:p>
            <a:pPr indent="0" marL="0">
              <a:buNone/>
            </a:pPr>
            <a:r>
              <a:rPr lang="ur-PK" altLang="en-US" sz="1400" b="1" dirty="0">
                <a:solidFill>
                  <a:srgbClr val="2E8B57"/>
                </a:solidFill>
                <a:latin typeface="Amiri" pitchFamily="34" charset="0"/>
                <a:ea typeface="Amiri" pitchFamily="34" charset="-122"/>
                <a:cs typeface="Amiri" pitchFamily="34" charset="-120"/>
              </a:rPr>
              <a:t>‎قدیم‎ </a:t>
            </a:r>
            <a:pPr indent="0" marL="0">
              <a:buNone/>
            </a:pPr>
            <a:r>
              <a:rPr lang="en-US" sz="950" b="1" dirty="0">
                <a:solidFill>
                  <a:srgbClr val="2E8B57"/>
                </a:solidFill>
                <a:latin typeface="Calibri" pitchFamily="34" charset="0"/>
                <a:ea typeface="Calibri" pitchFamily="34" charset="-122"/>
                <a:cs typeface="Calibri" pitchFamily="34" charset="-120"/>
              </a:rPr>
              <a:t> qadīm · ancient, old</a:t>
            </a:r>
            <a:endParaRPr lang="en-US" sz="1400" dirty="0"/>
          </a:p>
        </p:txBody>
      </p:sp>
      <p:sp>
        <p:nvSpPr>
          <p:cNvPr id="24" name="Text 22"/>
          <p:cNvSpPr txBox="1"/>
          <p:nvPr/>
        </p:nvSpPr>
        <p:spPr>
          <a:xfrm>
            <a:off x="10241280" y="4078224"/>
            <a:ext cx="1417320" cy="475488"/>
          </a:xfrm>
          <a:prstGeom prst="rect">
            <a:avLst/>
          </a:prstGeom>
          <a:noFill/>
          <a:ln/>
        </p:spPr>
        <p:txBody>
          <a:bodyPr wrap="square" lIns="0" tIns="0" rIns="0" bIns="0" rtlCol="0" anchor="ctr"/>
          <a:lstStyle/>
          <a:p>
            <a:pPr rtl="1" algn="r" indent="0" marL="0">
              <a:buNone/>
            </a:pPr>
            <a:r>
              <a:rPr lang="ar-SA" altLang="en-US" sz="1900" b="1" dirty="0">
                <a:solidFill>
                  <a:srgbClr val="1B3B6F"/>
                </a:solidFill>
                <a:latin typeface="Amiri" pitchFamily="34" charset="0"/>
                <a:ea typeface="Amiri" pitchFamily="34" charset="-122"/>
                <a:cs typeface="Amiri" pitchFamily="34" charset="-120"/>
              </a:rPr>
              <a:t>طَوِيلٌ</a:t>
            </a:r>
            <a:endParaRPr lang="ar-SA" sz="1900" dirty="0"/>
          </a:p>
        </p:txBody>
      </p:sp>
      <p:sp>
        <p:nvSpPr>
          <p:cNvPr id="25" name="Text 23"/>
          <p:cNvSpPr txBox="1"/>
          <p:nvPr/>
        </p:nvSpPr>
        <p:spPr>
          <a:xfrm>
            <a:off x="8842248" y="4078224"/>
            <a:ext cx="1463040" cy="475488"/>
          </a:xfrm>
          <a:prstGeom prst="rect">
            <a:avLst/>
          </a:prstGeom>
          <a:noFill/>
          <a:ln/>
        </p:spPr>
        <p:txBody>
          <a:bodyPr wrap="square" lIns="0" tIns="0" rIns="0" bIns="0" rtlCol="0" anchor="ctr"/>
          <a:lstStyle/>
          <a:p>
            <a:pPr indent="0" marL="0">
              <a:buNone/>
            </a:pPr>
            <a:r>
              <a:rPr lang="ur-PK" altLang="en-US" sz="1400" b="1" dirty="0">
                <a:solidFill>
                  <a:srgbClr val="2E8B57"/>
                </a:solidFill>
                <a:latin typeface="Amiri" pitchFamily="34" charset="0"/>
                <a:ea typeface="Amiri" pitchFamily="34" charset="-122"/>
                <a:cs typeface="Amiri" pitchFamily="34" charset="-120"/>
              </a:rPr>
              <a:t>‎طویل‎ </a:t>
            </a:r>
            <a:pPr indent="0" marL="0">
              <a:buNone/>
            </a:pPr>
            <a:r>
              <a:rPr lang="en-US" sz="950" b="1" dirty="0">
                <a:solidFill>
                  <a:srgbClr val="2E8B57"/>
                </a:solidFill>
                <a:latin typeface="Calibri" pitchFamily="34" charset="0"/>
                <a:ea typeface="Calibri" pitchFamily="34" charset="-122"/>
                <a:cs typeface="Calibri" pitchFamily="34" charset="-120"/>
              </a:rPr>
              <a:t> tawīl · long</a:t>
            </a:r>
            <a:endParaRPr lang="en-US" sz="1400" dirty="0"/>
          </a:p>
        </p:txBody>
      </p:sp>
      <p:sp>
        <p:nvSpPr>
          <p:cNvPr id="27" name="Text 24"/>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ea typeface="Calibri" pitchFamily="34" charset="-122"/>
                <a:cs typeface="Calibri" pitchFamily="34" charset="-120"/>
              </a:rPr>
              <a:t>7 / 36</a:t>
            </a:r>
            <a:endParaRPr lang="en-US" sz="8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34" charset="0"/>
                <a:ea typeface="Amiri" pitchFamily="34" charset="-122"/>
                <a:cs typeface="Amiri" pitchFamily="34" charset="-120"/>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ea typeface="Cambria" pitchFamily="34" charset="-122"/>
                <a:cs typeface="Cambria" pitchFamily="34" charset="-120"/>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ea typeface="Calibri" pitchFamily="34" charset="-122"/>
                <a:cs typeface="Calibri" pitchFamily="34" charset="-120"/>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ea typeface="Calibri" pitchFamily="34" charset="-122"/>
                <a:cs typeface="Calibri" pitchFamily="34" charset="-120"/>
              </a:rPr>
              <a:t>F2-L05 · Masculine &amp; Feminine</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ea typeface="Calibri" pitchFamily="34" charset="-122"/>
                <a:cs typeface="Calibri" pitchFamily="34" charset="-120"/>
              </a:rPr>
              <a:t>TEACHER INSTRUCTION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150" kern="0" dirty="0">
                <a:solidFill>
                  <a:srgbClr val="1B3B6F"/>
                </a:solidFill>
                <a:latin typeface="Calibri" pitchFamily="34" charset="0"/>
                <a:ea typeface="Calibri" pitchFamily="34" charset="-122"/>
                <a:cs typeface="Calibri" pitchFamily="34" charset="-120"/>
              </a:rPr>
              <a:t>KEY WORDS · GROUP 1 · PEOPLE · EIGHT MASCULINE/FEMININE PAIRS (WEBSITE)</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ea typeface="Cambria" pitchFamily="34" charset="-122"/>
                <a:cs typeface="Cambria" pitchFamily="34" charset="-120"/>
              </a:rPr>
              <a:t>People: masculine, feminine, plural</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34" charset="0"/>
                <a:ea typeface="Amiri" pitchFamily="34" charset="-122"/>
                <a:cs typeface="Amiri" pitchFamily="34" charset="-120"/>
              </a:rPr>
              <a:t>الأَشْخَاصُ</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ea typeface="Calibri" pitchFamily="34" charset="-122"/>
                <a:cs typeface="Calibri" pitchFamily="34" charset="-120"/>
              </a:rPr>
              <a:t>Miftah Arabic · Foundation F2 · Greetings &amp; Introductions · Week 2 · Lesson 2 of 3</a:t>
            </a:r>
            <a:endParaRPr lang="en-US" sz="850" dirty="0"/>
          </a:p>
        </p:txBody>
      </p:sp>
      <p:sp>
        <p:nvSpPr>
          <p:cNvPr id="15" name="Shape 12"/>
          <p:cNvSpPr/>
          <p:nvPr/>
        </p:nvSpPr>
        <p:spPr>
          <a:xfrm>
            <a:off x="457200" y="1810512"/>
            <a:ext cx="11274552" cy="384048"/>
          </a:xfrm>
          <a:prstGeom prst="rect">
            <a:avLst/>
          </a:prstGeom>
          <a:solidFill>
            <a:srgbClr val="1B3B6F"/>
          </a:solidFill>
          <a:ln w="12700">
            <a:solidFill>
              <a:srgbClr val="1B3B6F"/>
            </a:solidFill>
            <a:prstDash val="solid"/>
          </a:ln>
        </p:spPr>
      </p:sp>
      <p:sp>
        <p:nvSpPr>
          <p:cNvPr id="16" name="Text 13"/>
          <p:cNvSpPr txBox="1"/>
          <p:nvPr/>
        </p:nvSpPr>
        <p:spPr>
          <a:xfrm>
            <a:off x="9244584" y="1810512"/>
            <a:ext cx="241401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Masculine</a:t>
            </a:r>
            <a:endParaRPr lang="en-US" sz="1100" dirty="0"/>
          </a:p>
        </p:txBody>
      </p:sp>
      <p:sp>
        <p:nvSpPr>
          <p:cNvPr id="17" name="Text 14"/>
          <p:cNvSpPr txBox="1"/>
          <p:nvPr/>
        </p:nvSpPr>
        <p:spPr>
          <a:xfrm>
            <a:off x="6684264" y="1810512"/>
            <a:ext cx="241401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Feminine</a:t>
            </a:r>
            <a:endParaRPr lang="en-US" sz="1100" dirty="0"/>
          </a:p>
        </p:txBody>
      </p:sp>
      <p:sp>
        <p:nvSpPr>
          <p:cNvPr id="18" name="Text 15"/>
          <p:cNvSpPr txBox="1"/>
          <p:nvPr/>
        </p:nvSpPr>
        <p:spPr>
          <a:xfrm>
            <a:off x="3666744" y="1810512"/>
            <a:ext cx="287121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Plural (reference)</a:t>
            </a:r>
            <a:endParaRPr lang="en-US" sz="1100" dirty="0"/>
          </a:p>
        </p:txBody>
      </p:sp>
      <p:sp>
        <p:nvSpPr>
          <p:cNvPr id="19" name="Text 16"/>
          <p:cNvSpPr txBox="1"/>
          <p:nvPr/>
        </p:nvSpPr>
        <p:spPr>
          <a:xfrm>
            <a:off x="530352" y="1810512"/>
            <a:ext cx="299008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English</a:t>
            </a:r>
            <a:endParaRPr lang="en-US" sz="1100" dirty="0"/>
          </a:p>
        </p:txBody>
      </p:sp>
      <p:sp>
        <p:nvSpPr>
          <p:cNvPr id="20" name="Shape 17"/>
          <p:cNvSpPr/>
          <p:nvPr/>
        </p:nvSpPr>
        <p:spPr>
          <a:xfrm>
            <a:off x="457200" y="2267712"/>
            <a:ext cx="11274552" cy="457200"/>
          </a:xfrm>
          <a:prstGeom prst="roundRect">
            <a:avLst>
              <a:gd name="adj" fmla="val 10000"/>
            </a:avLst>
          </a:prstGeom>
          <a:solidFill>
            <a:srgbClr val="FFFFFF"/>
          </a:solidFill>
          <a:ln w="9525">
            <a:solidFill>
              <a:srgbClr val="D8D0BF"/>
            </a:solidFill>
            <a:prstDash val="solid"/>
          </a:ln>
        </p:spPr>
      </p:sp>
      <p:sp>
        <p:nvSpPr>
          <p:cNvPr id="21" name="Text 18"/>
          <p:cNvSpPr txBox="1"/>
          <p:nvPr/>
        </p:nvSpPr>
        <p:spPr>
          <a:xfrm>
            <a:off x="9262872" y="2267712"/>
            <a:ext cx="2377440" cy="457200"/>
          </a:xfrm>
          <a:prstGeom prst="rect">
            <a:avLst/>
          </a:prstGeom>
          <a:noFill/>
          <a:ln/>
        </p:spPr>
        <p:txBody>
          <a:bodyPr wrap="square" lIns="0" tIns="0" rIns="0" bIns="0" rtlCol="0" anchor="ctr"/>
          <a:lstStyle/>
          <a:p>
            <a:pPr rtl="1" algn="ctr" indent="0" marL="0">
              <a:buNone/>
            </a:pPr>
            <a:r>
              <a:rPr lang="ar-SA" altLang="en-US" sz="2100" b="1" dirty="0">
                <a:solidFill>
                  <a:srgbClr val="1B3B6F"/>
                </a:solidFill>
                <a:latin typeface="Amiri" pitchFamily="34" charset="0"/>
                <a:ea typeface="Amiri" pitchFamily="34" charset="-122"/>
                <a:cs typeface="Amiri" pitchFamily="34" charset="-120"/>
              </a:rPr>
              <a:t>طَالِبٌ</a:t>
            </a:r>
            <a:endParaRPr lang="ar-SA" sz="2100" dirty="0"/>
          </a:p>
        </p:txBody>
      </p:sp>
      <p:sp>
        <p:nvSpPr>
          <p:cNvPr id="22" name="Text 19"/>
          <p:cNvSpPr txBox="1"/>
          <p:nvPr/>
        </p:nvSpPr>
        <p:spPr>
          <a:xfrm>
            <a:off x="6702552" y="2267712"/>
            <a:ext cx="2377440" cy="457200"/>
          </a:xfrm>
          <a:prstGeom prst="rect">
            <a:avLst/>
          </a:prstGeom>
          <a:noFill/>
          <a:ln/>
        </p:spPr>
        <p:txBody>
          <a:bodyPr wrap="square" lIns="0" tIns="0" rIns="0" bIns="0" rtlCol="0" anchor="ctr"/>
          <a:lstStyle/>
          <a:p>
            <a:pPr rtl="1" algn="ctr" indent="0" marL="0">
              <a:buNone/>
            </a:pPr>
            <a:r>
              <a:rPr lang="ar-SA" altLang="en-US" sz="2100" b="1" dirty="0">
                <a:solidFill>
                  <a:srgbClr val="1B3B6F"/>
                </a:solidFill>
                <a:latin typeface="Amiri" pitchFamily="34" charset="0"/>
                <a:ea typeface="Amiri" pitchFamily="34" charset="-122"/>
                <a:cs typeface="Amiri" pitchFamily="34" charset="-120"/>
              </a:rPr>
              <a:t>طَالِبَ</a:t>
            </a:r>
            <a:pPr rtl="1" algn="ctr" indent="0" marL="0">
              <a:buNone/>
            </a:pPr>
            <a:r>
              <a:rPr lang="ar-SA" altLang="en-US" sz="2100" b="1" dirty="0">
                <a:solidFill>
                  <a:srgbClr val="D6336C"/>
                </a:solidFill>
                <a:latin typeface="Amiri" pitchFamily="34" charset="0"/>
                <a:ea typeface="Amiri" pitchFamily="34" charset="-122"/>
                <a:cs typeface="Amiri" pitchFamily="34" charset="-120"/>
              </a:rPr>
              <a:t>ةٌ</a:t>
            </a:r>
            <a:endParaRPr lang="ar-SA" sz="2100" dirty="0"/>
          </a:p>
        </p:txBody>
      </p:sp>
      <p:sp>
        <p:nvSpPr>
          <p:cNvPr id="23" name="Text 20"/>
          <p:cNvSpPr txBox="1"/>
          <p:nvPr/>
        </p:nvSpPr>
        <p:spPr>
          <a:xfrm>
            <a:off x="3685032" y="2267712"/>
            <a:ext cx="2834640" cy="457200"/>
          </a:xfrm>
          <a:prstGeom prst="rect">
            <a:avLst/>
          </a:prstGeom>
          <a:noFill/>
          <a:ln/>
        </p:spPr>
        <p:txBody>
          <a:bodyPr wrap="square" lIns="0" tIns="0" rIns="0" bIns="0" rtlCol="0" anchor="ctr"/>
          <a:lstStyle/>
          <a:p>
            <a:pPr rtl="1" algn="ctr" indent="0" marL="0">
              <a:buNone/>
            </a:pPr>
            <a:r>
              <a:rPr lang="ar-SA" altLang="en-US" sz="2000" b="1" dirty="0">
                <a:solidFill>
                  <a:srgbClr val="1B3B6F"/>
                </a:solidFill>
                <a:latin typeface="Amiri" pitchFamily="34" charset="0"/>
                <a:ea typeface="Amiri" pitchFamily="34" charset="-122"/>
                <a:cs typeface="Amiri" pitchFamily="34" charset="-120"/>
              </a:rPr>
              <a:t>طُلَّابٌ · طَالِبَاتٌ</a:t>
            </a:r>
            <a:endParaRPr lang="ar-SA" sz="2000" dirty="0"/>
          </a:p>
        </p:txBody>
      </p:sp>
      <p:sp>
        <p:nvSpPr>
          <p:cNvPr id="24" name="Text 21"/>
          <p:cNvSpPr txBox="1"/>
          <p:nvPr/>
        </p:nvSpPr>
        <p:spPr>
          <a:xfrm>
            <a:off x="566928" y="2267712"/>
            <a:ext cx="2953512" cy="45720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ea typeface="Calibri" pitchFamily="34" charset="-122"/>
                <a:cs typeface="Calibri" pitchFamily="34" charset="-120"/>
              </a:rPr>
              <a:t>student</a:t>
            </a:r>
            <a:endParaRPr lang="en-US" sz="1100" dirty="0"/>
          </a:p>
        </p:txBody>
      </p:sp>
      <p:sp>
        <p:nvSpPr>
          <p:cNvPr id="25" name="Shape 22"/>
          <p:cNvSpPr/>
          <p:nvPr/>
        </p:nvSpPr>
        <p:spPr>
          <a:xfrm>
            <a:off x="11091672" y="2313432"/>
            <a:ext cx="548640" cy="182880"/>
          </a:xfrm>
          <a:prstGeom prst="roundRect">
            <a:avLst>
              <a:gd name="adj" fmla="val 50000"/>
            </a:avLst>
          </a:prstGeom>
          <a:solidFill>
            <a:srgbClr val="2E8B57"/>
          </a:solidFill>
          <a:ln w="12700">
            <a:solidFill>
              <a:srgbClr val="2E8B57"/>
            </a:solidFill>
            <a:prstDash val="solid"/>
          </a:ln>
        </p:spPr>
      </p:sp>
      <p:sp>
        <p:nvSpPr>
          <p:cNvPr id="26" name="Text 23"/>
          <p:cNvSpPr txBox="1"/>
          <p:nvPr/>
        </p:nvSpPr>
        <p:spPr>
          <a:xfrm>
            <a:off x="11091672" y="2313432"/>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ea typeface="Calibri" pitchFamily="34" charset="-122"/>
                <a:cs typeface="Calibri" pitchFamily="34" charset="-120"/>
              </a:rPr>
              <a:t>CORE</a:t>
            </a:r>
            <a:endParaRPr lang="en-US" sz="650" dirty="0"/>
          </a:p>
        </p:txBody>
      </p:sp>
      <p:sp>
        <p:nvSpPr>
          <p:cNvPr id="27" name="Shape 24"/>
          <p:cNvSpPr/>
          <p:nvPr/>
        </p:nvSpPr>
        <p:spPr>
          <a:xfrm>
            <a:off x="457200" y="2779776"/>
            <a:ext cx="11274552" cy="457200"/>
          </a:xfrm>
          <a:prstGeom prst="roundRect">
            <a:avLst>
              <a:gd name="adj" fmla="val 10000"/>
            </a:avLst>
          </a:prstGeom>
          <a:solidFill>
            <a:srgbClr val="F4F1EA"/>
          </a:solidFill>
          <a:ln w="9525">
            <a:solidFill>
              <a:srgbClr val="D8D0BF"/>
            </a:solidFill>
            <a:prstDash val="solid"/>
          </a:ln>
        </p:spPr>
      </p:sp>
      <p:sp>
        <p:nvSpPr>
          <p:cNvPr id="28" name="Text 25"/>
          <p:cNvSpPr txBox="1"/>
          <p:nvPr/>
        </p:nvSpPr>
        <p:spPr>
          <a:xfrm>
            <a:off x="9262872" y="2779776"/>
            <a:ext cx="2377440" cy="457200"/>
          </a:xfrm>
          <a:prstGeom prst="rect">
            <a:avLst/>
          </a:prstGeom>
          <a:noFill/>
          <a:ln/>
        </p:spPr>
        <p:txBody>
          <a:bodyPr wrap="square" lIns="0" tIns="0" rIns="0" bIns="0" rtlCol="0" anchor="ctr"/>
          <a:lstStyle/>
          <a:p>
            <a:pPr rtl="1" algn="ctr" indent="0" marL="0">
              <a:buNone/>
            </a:pPr>
            <a:r>
              <a:rPr lang="ar-SA" altLang="en-US" sz="2100" b="1" dirty="0">
                <a:solidFill>
                  <a:srgbClr val="1B3B6F"/>
                </a:solidFill>
                <a:latin typeface="Amiri" pitchFamily="34" charset="0"/>
                <a:ea typeface="Amiri" pitchFamily="34" charset="-122"/>
                <a:cs typeface="Amiri" pitchFamily="34" charset="-120"/>
              </a:rPr>
              <a:t>مُعَلِّمٌ</a:t>
            </a:r>
            <a:endParaRPr lang="ar-SA" sz="2100" dirty="0"/>
          </a:p>
        </p:txBody>
      </p:sp>
      <p:sp>
        <p:nvSpPr>
          <p:cNvPr id="29" name="Text 26"/>
          <p:cNvSpPr txBox="1"/>
          <p:nvPr/>
        </p:nvSpPr>
        <p:spPr>
          <a:xfrm>
            <a:off x="6702552" y="2779776"/>
            <a:ext cx="2377440" cy="457200"/>
          </a:xfrm>
          <a:prstGeom prst="rect">
            <a:avLst/>
          </a:prstGeom>
          <a:noFill/>
          <a:ln/>
        </p:spPr>
        <p:txBody>
          <a:bodyPr wrap="square" lIns="0" tIns="0" rIns="0" bIns="0" rtlCol="0" anchor="ctr"/>
          <a:lstStyle/>
          <a:p>
            <a:pPr rtl="1" algn="ctr" indent="0" marL="0">
              <a:buNone/>
            </a:pPr>
            <a:r>
              <a:rPr lang="ar-SA" altLang="en-US" sz="2100" b="1" dirty="0">
                <a:solidFill>
                  <a:srgbClr val="1B3B6F"/>
                </a:solidFill>
                <a:latin typeface="Amiri" pitchFamily="34" charset="0"/>
                <a:ea typeface="Amiri" pitchFamily="34" charset="-122"/>
                <a:cs typeface="Amiri" pitchFamily="34" charset="-120"/>
              </a:rPr>
              <a:t>مُعَلِّمَ</a:t>
            </a:r>
            <a:pPr rtl="1" algn="ctr" indent="0" marL="0">
              <a:buNone/>
            </a:pPr>
            <a:r>
              <a:rPr lang="ar-SA" altLang="en-US" sz="2100" b="1" dirty="0">
                <a:solidFill>
                  <a:srgbClr val="D6336C"/>
                </a:solidFill>
                <a:latin typeface="Amiri" pitchFamily="34" charset="0"/>
                <a:ea typeface="Amiri" pitchFamily="34" charset="-122"/>
                <a:cs typeface="Amiri" pitchFamily="34" charset="-120"/>
              </a:rPr>
              <a:t>ةٌ</a:t>
            </a:r>
            <a:endParaRPr lang="ar-SA" sz="2100" dirty="0"/>
          </a:p>
        </p:txBody>
      </p:sp>
      <p:sp>
        <p:nvSpPr>
          <p:cNvPr id="30" name="Text 27"/>
          <p:cNvSpPr txBox="1"/>
          <p:nvPr/>
        </p:nvSpPr>
        <p:spPr>
          <a:xfrm>
            <a:off x="3685032" y="2779776"/>
            <a:ext cx="2834640" cy="457200"/>
          </a:xfrm>
          <a:prstGeom prst="rect">
            <a:avLst/>
          </a:prstGeom>
          <a:noFill/>
          <a:ln/>
        </p:spPr>
        <p:txBody>
          <a:bodyPr wrap="square" lIns="0" tIns="0" rIns="0" bIns="0" rtlCol="0" anchor="ctr"/>
          <a:lstStyle/>
          <a:p>
            <a:pPr rtl="1" algn="ctr" indent="0" marL="0">
              <a:buNone/>
            </a:pPr>
            <a:r>
              <a:rPr lang="ar-SA" altLang="en-US" sz="2000" b="1" dirty="0">
                <a:solidFill>
                  <a:srgbClr val="1B3B6F"/>
                </a:solidFill>
                <a:latin typeface="Amiri" pitchFamily="34" charset="0"/>
                <a:ea typeface="Amiri" pitchFamily="34" charset="-122"/>
                <a:cs typeface="Amiri" pitchFamily="34" charset="-120"/>
              </a:rPr>
              <a:t>مُعَلِّمُونَ · مُعَلِّمَاتٌ</a:t>
            </a:r>
            <a:endParaRPr lang="ar-SA" sz="2000" dirty="0"/>
          </a:p>
        </p:txBody>
      </p:sp>
      <p:sp>
        <p:nvSpPr>
          <p:cNvPr id="31" name="Text 28"/>
          <p:cNvSpPr txBox="1"/>
          <p:nvPr/>
        </p:nvSpPr>
        <p:spPr>
          <a:xfrm>
            <a:off x="566928" y="2779776"/>
            <a:ext cx="2953512" cy="45720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ea typeface="Calibri" pitchFamily="34" charset="-122"/>
                <a:cs typeface="Calibri" pitchFamily="34" charset="-120"/>
              </a:rPr>
              <a:t>teacher</a:t>
            </a:r>
            <a:endParaRPr lang="en-US" sz="1100" dirty="0"/>
          </a:p>
        </p:txBody>
      </p:sp>
      <p:sp>
        <p:nvSpPr>
          <p:cNvPr id="32" name="Shape 29"/>
          <p:cNvSpPr/>
          <p:nvPr/>
        </p:nvSpPr>
        <p:spPr>
          <a:xfrm>
            <a:off x="11091672" y="2825496"/>
            <a:ext cx="548640" cy="182880"/>
          </a:xfrm>
          <a:prstGeom prst="roundRect">
            <a:avLst>
              <a:gd name="adj" fmla="val 50000"/>
            </a:avLst>
          </a:prstGeom>
          <a:solidFill>
            <a:srgbClr val="2E8B57"/>
          </a:solidFill>
          <a:ln w="12700">
            <a:solidFill>
              <a:srgbClr val="2E8B57"/>
            </a:solidFill>
            <a:prstDash val="solid"/>
          </a:ln>
        </p:spPr>
      </p:sp>
      <p:sp>
        <p:nvSpPr>
          <p:cNvPr id="33" name="Text 30"/>
          <p:cNvSpPr txBox="1"/>
          <p:nvPr/>
        </p:nvSpPr>
        <p:spPr>
          <a:xfrm>
            <a:off x="11091672" y="2825496"/>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ea typeface="Calibri" pitchFamily="34" charset="-122"/>
                <a:cs typeface="Calibri" pitchFamily="34" charset="-120"/>
              </a:rPr>
              <a:t>CORE</a:t>
            </a:r>
            <a:endParaRPr lang="en-US" sz="650" dirty="0"/>
          </a:p>
        </p:txBody>
      </p:sp>
      <p:sp>
        <p:nvSpPr>
          <p:cNvPr id="34" name="Shape 31"/>
          <p:cNvSpPr/>
          <p:nvPr/>
        </p:nvSpPr>
        <p:spPr>
          <a:xfrm>
            <a:off x="457200" y="3291840"/>
            <a:ext cx="11274552" cy="457200"/>
          </a:xfrm>
          <a:prstGeom prst="roundRect">
            <a:avLst>
              <a:gd name="adj" fmla="val 10000"/>
            </a:avLst>
          </a:prstGeom>
          <a:solidFill>
            <a:srgbClr val="FFFFFF"/>
          </a:solidFill>
          <a:ln w="9525">
            <a:solidFill>
              <a:srgbClr val="D8D0BF"/>
            </a:solidFill>
            <a:prstDash val="solid"/>
          </a:ln>
        </p:spPr>
      </p:sp>
      <p:sp>
        <p:nvSpPr>
          <p:cNvPr id="35" name="Text 32"/>
          <p:cNvSpPr txBox="1"/>
          <p:nvPr/>
        </p:nvSpPr>
        <p:spPr>
          <a:xfrm>
            <a:off x="9262872" y="3291840"/>
            <a:ext cx="2377440" cy="457200"/>
          </a:xfrm>
          <a:prstGeom prst="rect">
            <a:avLst/>
          </a:prstGeom>
          <a:noFill/>
          <a:ln/>
        </p:spPr>
        <p:txBody>
          <a:bodyPr wrap="square" lIns="0" tIns="0" rIns="0" bIns="0" rtlCol="0" anchor="ctr"/>
          <a:lstStyle/>
          <a:p>
            <a:pPr rtl="1" algn="ctr" indent="0" marL="0">
              <a:buNone/>
            </a:pPr>
            <a:r>
              <a:rPr lang="ar-SA" altLang="en-US" sz="2100" b="1" dirty="0">
                <a:solidFill>
                  <a:srgbClr val="1B3B6F"/>
                </a:solidFill>
                <a:latin typeface="Amiri" pitchFamily="34" charset="0"/>
                <a:ea typeface="Amiri" pitchFamily="34" charset="-122"/>
                <a:cs typeface="Amiri" pitchFamily="34" charset="-120"/>
              </a:rPr>
              <a:t>صَدِيقٌ</a:t>
            </a:r>
            <a:endParaRPr lang="ar-SA" sz="2100" dirty="0"/>
          </a:p>
        </p:txBody>
      </p:sp>
      <p:sp>
        <p:nvSpPr>
          <p:cNvPr id="36" name="Text 33"/>
          <p:cNvSpPr txBox="1"/>
          <p:nvPr/>
        </p:nvSpPr>
        <p:spPr>
          <a:xfrm>
            <a:off x="6702552" y="3291840"/>
            <a:ext cx="2377440" cy="457200"/>
          </a:xfrm>
          <a:prstGeom prst="rect">
            <a:avLst/>
          </a:prstGeom>
          <a:noFill/>
          <a:ln/>
        </p:spPr>
        <p:txBody>
          <a:bodyPr wrap="square" lIns="0" tIns="0" rIns="0" bIns="0" rtlCol="0" anchor="ctr"/>
          <a:lstStyle/>
          <a:p>
            <a:pPr rtl="1" algn="ctr" indent="0" marL="0">
              <a:buNone/>
            </a:pPr>
            <a:r>
              <a:rPr lang="ar-SA" altLang="en-US" sz="2100" b="1" dirty="0">
                <a:solidFill>
                  <a:srgbClr val="1B3B6F"/>
                </a:solidFill>
                <a:latin typeface="Amiri" pitchFamily="34" charset="0"/>
                <a:ea typeface="Amiri" pitchFamily="34" charset="-122"/>
                <a:cs typeface="Amiri" pitchFamily="34" charset="-120"/>
              </a:rPr>
              <a:t>صَدِيقَ</a:t>
            </a:r>
            <a:pPr rtl="1" algn="ctr" indent="0" marL="0">
              <a:buNone/>
            </a:pPr>
            <a:r>
              <a:rPr lang="ar-SA" altLang="en-US" sz="2100" b="1" dirty="0">
                <a:solidFill>
                  <a:srgbClr val="D6336C"/>
                </a:solidFill>
                <a:latin typeface="Amiri" pitchFamily="34" charset="0"/>
                <a:ea typeface="Amiri" pitchFamily="34" charset="-122"/>
                <a:cs typeface="Amiri" pitchFamily="34" charset="-120"/>
              </a:rPr>
              <a:t>ةٌ</a:t>
            </a:r>
            <a:endParaRPr lang="ar-SA" sz="2100" dirty="0"/>
          </a:p>
        </p:txBody>
      </p:sp>
      <p:sp>
        <p:nvSpPr>
          <p:cNvPr id="37" name="Text 34"/>
          <p:cNvSpPr txBox="1"/>
          <p:nvPr/>
        </p:nvSpPr>
        <p:spPr>
          <a:xfrm>
            <a:off x="3685032" y="3291840"/>
            <a:ext cx="2834640" cy="457200"/>
          </a:xfrm>
          <a:prstGeom prst="rect">
            <a:avLst/>
          </a:prstGeom>
          <a:noFill/>
          <a:ln/>
        </p:spPr>
        <p:txBody>
          <a:bodyPr wrap="square" lIns="0" tIns="0" rIns="0" bIns="0" rtlCol="0" anchor="ctr"/>
          <a:lstStyle/>
          <a:p>
            <a:pPr rtl="1" algn="ctr" indent="0" marL="0">
              <a:buNone/>
            </a:pPr>
            <a:r>
              <a:rPr lang="ar-SA" altLang="en-US" sz="2000" b="1" dirty="0">
                <a:solidFill>
                  <a:srgbClr val="1B3B6F"/>
                </a:solidFill>
                <a:latin typeface="Amiri" pitchFamily="34" charset="0"/>
                <a:ea typeface="Amiri" pitchFamily="34" charset="-122"/>
                <a:cs typeface="Amiri" pitchFamily="34" charset="-120"/>
              </a:rPr>
              <a:t>أَصْدِقَاءُ · صَدِيقَاتٌ</a:t>
            </a:r>
            <a:endParaRPr lang="ar-SA" sz="2000" dirty="0"/>
          </a:p>
        </p:txBody>
      </p:sp>
      <p:sp>
        <p:nvSpPr>
          <p:cNvPr id="38" name="Text 35"/>
          <p:cNvSpPr txBox="1"/>
          <p:nvPr/>
        </p:nvSpPr>
        <p:spPr>
          <a:xfrm>
            <a:off x="566928" y="3291840"/>
            <a:ext cx="2953512" cy="45720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ea typeface="Calibri" pitchFamily="34" charset="-122"/>
                <a:cs typeface="Calibri" pitchFamily="34" charset="-120"/>
              </a:rPr>
              <a:t>friend</a:t>
            </a:r>
            <a:endParaRPr lang="en-US" sz="1100" dirty="0"/>
          </a:p>
        </p:txBody>
      </p:sp>
      <p:sp>
        <p:nvSpPr>
          <p:cNvPr id="39" name="Shape 36"/>
          <p:cNvSpPr/>
          <p:nvPr/>
        </p:nvSpPr>
        <p:spPr>
          <a:xfrm>
            <a:off x="11091672" y="3337560"/>
            <a:ext cx="548640" cy="182880"/>
          </a:xfrm>
          <a:prstGeom prst="roundRect">
            <a:avLst>
              <a:gd name="adj" fmla="val 50000"/>
            </a:avLst>
          </a:prstGeom>
          <a:solidFill>
            <a:srgbClr val="2E8B57"/>
          </a:solidFill>
          <a:ln w="12700">
            <a:solidFill>
              <a:srgbClr val="2E8B57"/>
            </a:solidFill>
            <a:prstDash val="solid"/>
          </a:ln>
        </p:spPr>
      </p:sp>
      <p:sp>
        <p:nvSpPr>
          <p:cNvPr id="40" name="Text 37"/>
          <p:cNvSpPr txBox="1"/>
          <p:nvPr/>
        </p:nvSpPr>
        <p:spPr>
          <a:xfrm>
            <a:off x="11091672" y="3337560"/>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ea typeface="Calibri" pitchFamily="34" charset="-122"/>
                <a:cs typeface="Calibri" pitchFamily="34" charset="-120"/>
              </a:rPr>
              <a:t>CORE</a:t>
            </a:r>
            <a:endParaRPr lang="en-US" sz="650" dirty="0"/>
          </a:p>
        </p:txBody>
      </p:sp>
      <p:sp>
        <p:nvSpPr>
          <p:cNvPr id="41" name="Shape 38"/>
          <p:cNvSpPr/>
          <p:nvPr/>
        </p:nvSpPr>
        <p:spPr>
          <a:xfrm>
            <a:off x="457200" y="3803904"/>
            <a:ext cx="11274552" cy="457200"/>
          </a:xfrm>
          <a:prstGeom prst="roundRect">
            <a:avLst>
              <a:gd name="adj" fmla="val 10000"/>
            </a:avLst>
          </a:prstGeom>
          <a:solidFill>
            <a:srgbClr val="F4F1EA"/>
          </a:solidFill>
          <a:ln w="9525">
            <a:solidFill>
              <a:srgbClr val="D8D0BF"/>
            </a:solidFill>
            <a:prstDash val="solid"/>
          </a:ln>
        </p:spPr>
      </p:sp>
      <p:sp>
        <p:nvSpPr>
          <p:cNvPr id="42" name="Text 39"/>
          <p:cNvSpPr txBox="1"/>
          <p:nvPr/>
        </p:nvSpPr>
        <p:spPr>
          <a:xfrm>
            <a:off x="9262872" y="3803904"/>
            <a:ext cx="2377440" cy="457200"/>
          </a:xfrm>
          <a:prstGeom prst="rect">
            <a:avLst/>
          </a:prstGeom>
          <a:noFill/>
          <a:ln/>
        </p:spPr>
        <p:txBody>
          <a:bodyPr wrap="square" lIns="0" tIns="0" rIns="0" bIns="0" rtlCol="0" anchor="ctr"/>
          <a:lstStyle/>
          <a:p>
            <a:pPr rtl="1" algn="ctr" indent="0" marL="0">
              <a:buNone/>
            </a:pPr>
            <a:r>
              <a:rPr lang="ar-SA" altLang="en-US" sz="2100" b="1" dirty="0">
                <a:solidFill>
                  <a:srgbClr val="1B3B6F"/>
                </a:solidFill>
                <a:latin typeface="Amiri" pitchFamily="34" charset="0"/>
                <a:ea typeface="Amiri" pitchFamily="34" charset="-122"/>
                <a:cs typeface="Amiri" pitchFamily="34" charset="-120"/>
              </a:rPr>
              <a:t>زَمِيلٌ</a:t>
            </a:r>
            <a:endParaRPr lang="ar-SA" sz="2100" dirty="0"/>
          </a:p>
        </p:txBody>
      </p:sp>
      <p:sp>
        <p:nvSpPr>
          <p:cNvPr id="43" name="Text 40"/>
          <p:cNvSpPr txBox="1"/>
          <p:nvPr/>
        </p:nvSpPr>
        <p:spPr>
          <a:xfrm>
            <a:off x="6702552" y="3803904"/>
            <a:ext cx="2377440" cy="457200"/>
          </a:xfrm>
          <a:prstGeom prst="rect">
            <a:avLst/>
          </a:prstGeom>
          <a:noFill/>
          <a:ln/>
        </p:spPr>
        <p:txBody>
          <a:bodyPr wrap="square" lIns="0" tIns="0" rIns="0" bIns="0" rtlCol="0" anchor="ctr"/>
          <a:lstStyle/>
          <a:p>
            <a:pPr rtl="1" algn="ctr" indent="0" marL="0">
              <a:buNone/>
            </a:pPr>
            <a:r>
              <a:rPr lang="ar-SA" altLang="en-US" sz="2100" b="1" dirty="0">
                <a:solidFill>
                  <a:srgbClr val="1B3B6F"/>
                </a:solidFill>
                <a:latin typeface="Amiri" pitchFamily="34" charset="0"/>
                <a:ea typeface="Amiri" pitchFamily="34" charset="-122"/>
                <a:cs typeface="Amiri" pitchFamily="34" charset="-120"/>
              </a:rPr>
              <a:t>زَمِيلَ</a:t>
            </a:r>
            <a:pPr rtl="1" algn="ctr" indent="0" marL="0">
              <a:buNone/>
            </a:pPr>
            <a:r>
              <a:rPr lang="ar-SA" altLang="en-US" sz="2100" b="1" dirty="0">
                <a:solidFill>
                  <a:srgbClr val="D6336C"/>
                </a:solidFill>
                <a:latin typeface="Amiri" pitchFamily="34" charset="0"/>
                <a:ea typeface="Amiri" pitchFamily="34" charset="-122"/>
                <a:cs typeface="Amiri" pitchFamily="34" charset="-120"/>
              </a:rPr>
              <a:t>ةٌ</a:t>
            </a:r>
            <a:endParaRPr lang="ar-SA" sz="2100" dirty="0"/>
          </a:p>
        </p:txBody>
      </p:sp>
      <p:sp>
        <p:nvSpPr>
          <p:cNvPr id="44" name="Text 41"/>
          <p:cNvSpPr txBox="1"/>
          <p:nvPr/>
        </p:nvSpPr>
        <p:spPr>
          <a:xfrm>
            <a:off x="3685032" y="3803904"/>
            <a:ext cx="2834640" cy="457200"/>
          </a:xfrm>
          <a:prstGeom prst="rect">
            <a:avLst/>
          </a:prstGeom>
          <a:noFill/>
          <a:ln/>
        </p:spPr>
        <p:txBody>
          <a:bodyPr wrap="square" lIns="0" tIns="0" rIns="0" bIns="0" rtlCol="0" anchor="ctr"/>
          <a:lstStyle/>
          <a:p>
            <a:pPr rtl="1" algn="ctr" indent="0" marL="0">
              <a:buNone/>
            </a:pPr>
            <a:r>
              <a:rPr lang="ar-SA" altLang="en-US" sz="2000" b="1" dirty="0">
                <a:solidFill>
                  <a:srgbClr val="1B3B6F"/>
                </a:solidFill>
                <a:latin typeface="Amiri" pitchFamily="34" charset="0"/>
                <a:ea typeface="Amiri" pitchFamily="34" charset="-122"/>
                <a:cs typeface="Amiri" pitchFamily="34" charset="-120"/>
              </a:rPr>
              <a:t>زُمَلَاءُ · زَمِيلَاتٌ</a:t>
            </a:r>
            <a:endParaRPr lang="ar-SA" sz="2000" dirty="0"/>
          </a:p>
        </p:txBody>
      </p:sp>
      <p:sp>
        <p:nvSpPr>
          <p:cNvPr id="45" name="Text 42"/>
          <p:cNvSpPr txBox="1"/>
          <p:nvPr/>
        </p:nvSpPr>
        <p:spPr>
          <a:xfrm>
            <a:off x="566928" y="3803904"/>
            <a:ext cx="2953512" cy="45720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ea typeface="Calibri" pitchFamily="34" charset="-122"/>
                <a:cs typeface="Calibri" pitchFamily="34" charset="-120"/>
              </a:rPr>
              <a:t>classmate / colleague</a:t>
            </a:r>
            <a:endParaRPr lang="en-US" sz="1100" dirty="0"/>
          </a:p>
        </p:txBody>
      </p:sp>
      <p:sp>
        <p:nvSpPr>
          <p:cNvPr id="46" name="Shape 43"/>
          <p:cNvSpPr/>
          <p:nvPr/>
        </p:nvSpPr>
        <p:spPr>
          <a:xfrm>
            <a:off x="11091672" y="3849624"/>
            <a:ext cx="548640" cy="182880"/>
          </a:xfrm>
          <a:prstGeom prst="roundRect">
            <a:avLst>
              <a:gd name="adj" fmla="val 50000"/>
            </a:avLst>
          </a:prstGeom>
          <a:solidFill>
            <a:srgbClr val="2E8B57"/>
          </a:solidFill>
          <a:ln w="12700">
            <a:solidFill>
              <a:srgbClr val="2E8B57"/>
            </a:solidFill>
            <a:prstDash val="solid"/>
          </a:ln>
        </p:spPr>
      </p:sp>
      <p:sp>
        <p:nvSpPr>
          <p:cNvPr id="47" name="Text 44"/>
          <p:cNvSpPr txBox="1"/>
          <p:nvPr/>
        </p:nvSpPr>
        <p:spPr>
          <a:xfrm>
            <a:off x="11091672" y="3849624"/>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ea typeface="Calibri" pitchFamily="34" charset="-122"/>
                <a:cs typeface="Calibri" pitchFamily="34" charset="-120"/>
              </a:rPr>
              <a:t>CORE</a:t>
            </a:r>
            <a:endParaRPr lang="en-US" sz="650" dirty="0"/>
          </a:p>
        </p:txBody>
      </p:sp>
      <p:sp>
        <p:nvSpPr>
          <p:cNvPr id="48" name="Shape 45"/>
          <p:cNvSpPr/>
          <p:nvPr/>
        </p:nvSpPr>
        <p:spPr>
          <a:xfrm>
            <a:off x="457200" y="4315968"/>
            <a:ext cx="11274552" cy="457200"/>
          </a:xfrm>
          <a:prstGeom prst="roundRect">
            <a:avLst>
              <a:gd name="adj" fmla="val 10000"/>
            </a:avLst>
          </a:prstGeom>
          <a:solidFill>
            <a:srgbClr val="FFFFFF"/>
          </a:solidFill>
          <a:ln w="9525">
            <a:solidFill>
              <a:srgbClr val="D8D0BF"/>
            </a:solidFill>
            <a:prstDash val="solid"/>
          </a:ln>
        </p:spPr>
      </p:sp>
      <p:sp>
        <p:nvSpPr>
          <p:cNvPr id="49" name="Text 46"/>
          <p:cNvSpPr txBox="1"/>
          <p:nvPr/>
        </p:nvSpPr>
        <p:spPr>
          <a:xfrm>
            <a:off x="9262872" y="4315968"/>
            <a:ext cx="2377440" cy="457200"/>
          </a:xfrm>
          <a:prstGeom prst="rect">
            <a:avLst/>
          </a:prstGeom>
          <a:noFill/>
          <a:ln/>
        </p:spPr>
        <p:txBody>
          <a:bodyPr wrap="square" lIns="0" tIns="0" rIns="0" bIns="0" rtlCol="0" anchor="ctr"/>
          <a:lstStyle/>
          <a:p>
            <a:pPr rtl="1" algn="ctr" indent="0" marL="0">
              <a:buNone/>
            </a:pPr>
            <a:r>
              <a:rPr lang="ar-SA" altLang="en-US" sz="2100" b="1" dirty="0">
                <a:solidFill>
                  <a:srgbClr val="1B3B6F"/>
                </a:solidFill>
                <a:latin typeface="Amiri" pitchFamily="34" charset="0"/>
                <a:ea typeface="Amiri" pitchFamily="34" charset="-122"/>
                <a:cs typeface="Amiri" pitchFamily="34" charset="-120"/>
              </a:rPr>
              <a:t>طِفْلٌ</a:t>
            </a:r>
            <a:endParaRPr lang="ar-SA" sz="2100" dirty="0"/>
          </a:p>
        </p:txBody>
      </p:sp>
      <p:sp>
        <p:nvSpPr>
          <p:cNvPr id="50" name="Text 47"/>
          <p:cNvSpPr txBox="1"/>
          <p:nvPr/>
        </p:nvSpPr>
        <p:spPr>
          <a:xfrm>
            <a:off x="6702552" y="4315968"/>
            <a:ext cx="2377440" cy="457200"/>
          </a:xfrm>
          <a:prstGeom prst="rect">
            <a:avLst/>
          </a:prstGeom>
          <a:noFill/>
          <a:ln/>
        </p:spPr>
        <p:txBody>
          <a:bodyPr wrap="square" lIns="0" tIns="0" rIns="0" bIns="0" rtlCol="0" anchor="ctr"/>
          <a:lstStyle/>
          <a:p>
            <a:pPr rtl="1" algn="ctr" indent="0" marL="0">
              <a:buNone/>
            </a:pPr>
            <a:r>
              <a:rPr lang="ar-SA" altLang="en-US" sz="2100" b="1" dirty="0">
                <a:solidFill>
                  <a:srgbClr val="1B3B6F"/>
                </a:solidFill>
                <a:latin typeface="Amiri" pitchFamily="34" charset="0"/>
                <a:ea typeface="Amiri" pitchFamily="34" charset="-122"/>
                <a:cs typeface="Amiri" pitchFamily="34" charset="-120"/>
              </a:rPr>
              <a:t>طِفْلَ</a:t>
            </a:r>
            <a:pPr rtl="1" algn="ctr" indent="0" marL="0">
              <a:buNone/>
            </a:pPr>
            <a:r>
              <a:rPr lang="ar-SA" altLang="en-US" sz="2100" b="1" dirty="0">
                <a:solidFill>
                  <a:srgbClr val="D6336C"/>
                </a:solidFill>
                <a:latin typeface="Amiri" pitchFamily="34" charset="0"/>
                <a:ea typeface="Amiri" pitchFamily="34" charset="-122"/>
                <a:cs typeface="Amiri" pitchFamily="34" charset="-120"/>
              </a:rPr>
              <a:t>ةٌ</a:t>
            </a:r>
            <a:endParaRPr lang="ar-SA" sz="2100" dirty="0"/>
          </a:p>
        </p:txBody>
      </p:sp>
      <p:sp>
        <p:nvSpPr>
          <p:cNvPr id="51" name="Text 48"/>
          <p:cNvSpPr txBox="1"/>
          <p:nvPr/>
        </p:nvSpPr>
        <p:spPr>
          <a:xfrm>
            <a:off x="3685032" y="4315968"/>
            <a:ext cx="2834640" cy="457200"/>
          </a:xfrm>
          <a:prstGeom prst="rect">
            <a:avLst/>
          </a:prstGeom>
          <a:noFill/>
          <a:ln/>
        </p:spPr>
        <p:txBody>
          <a:bodyPr wrap="square" lIns="0" tIns="0" rIns="0" bIns="0" rtlCol="0" anchor="ctr"/>
          <a:lstStyle/>
          <a:p>
            <a:pPr rtl="1" algn="ctr" indent="0" marL="0">
              <a:buNone/>
            </a:pPr>
            <a:r>
              <a:rPr lang="ar-SA" altLang="en-US" sz="2000" b="1" dirty="0">
                <a:solidFill>
                  <a:srgbClr val="1B3B6F"/>
                </a:solidFill>
                <a:latin typeface="Amiri" pitchFamily="34" charset="0"/>
                <a:ea typeface="Amiri" pitchFamily="34" charset="-122"/>
                <a:cs typeface="Amiri" pitchFamily="34" charset="-120"/>
              </a:rPr>
              <a:t>أَطْفَالٌ</a:t>
            </a:r>
            <a:endParaRPr lang="ar-SA" sz="2000" dirty="0"/>
          </a:p>
        </p:txBody>
      </p:sp>
      <p:sp>
        <p:nvSpPr>
          <p:cNvPr id="52" name="Text 49"/>
          <p:cNvSpPr txBox="1"/>
          <p:nvPr/>
        </p:nvSpPr>
        <p:spPr>
          <a:xfrm>
            <a:off x="566928" y="4315968"/>
            <a:ext cx="2953512" cy="45720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ea typeface="Calibri" pitchFamily="34" charset="-122"/>
                <a:cs typeface="Calibri" pitchFamily="34" charset="-120"/>
              </a:rPr>
              <a:t>child</a:t>
            </a:r>
            <a:endParaRPr lang="en-US" sz="1100" dirty="0"/>
          </a:p>
        </p:txBody>
      </p:sp>
      <p:sp>
        <p:nvSpPr>
          <p:cNvPr id="53" name="Shape 50"/>
          <p:cNvSpPr/>
          <p:nvPr/>
        </p:nvSpPr>
        <p:spPr>
          <a:xfrm>
            <a:off x="457200" y="4828032"/>
            <a:ext cx="11274552" cy="457200"/>
          </a:xfrm>
          <a:prstGeom prst="roundRect">
            <a:avLst>
              <a:gd name="adj" fmla="val 10000"/>
            </a:avLst>
          </a:prstGeom>
          <a:solidFill>
            <a:srgbClr val="F4F1EA"/>
          </a:solidFill>
          <a:ln w="9525">
            <a:solidFill>
              <a:srgbClr val="D8D0BF"/>
            </a:solidFill>
            <a:prstDash val="solid"/>
          </a:ln>
        </p:spPr>
      </p:sp>
      <p:sp>
        <p:nvSpPr>
          <p:cNvPr id="54" name="Text 51"/>
          <p:cNvSpPr txBox="1"/>
          <p:nvPr/>
        </p:nvSpPr>
        <p:spPr>
          <a:xfrm>
            <a:off x="9262872" y="4828032"/>
            <a:ext cx="2377440" cy="457200"/>
          </a:xfrm>
          <a:prstGeom prst="rect">
            <a:avLst/>
          </a:prstGeom>
          <a:noFill/>
          <a:ln/>
        </p:spPr>
        <p:txBody>
          <a:bodyPr wrap="square" lIns="0" tIns="0" rIns="0" bIns="0" rtlCol="0" anchor="ctr"/>
          <a:lstStyle/>
          <a:p>
            <a:pPr rtl="1" algn="ctr" indent="0" marL="0">
              <a:buNone/>
            </a:pPr>
            <a:r>
              <a:rPr lang="ar-SA" altLang="en-US" sz="2100" b="1" dirty="0">
                <a:solidFill>
                  <a:srgbClr val="1B3B6F"/>
                </a:solidFill>
                <a:latin typeface="Amiri" pitchFamily="34" charset="0"/>
                <a:ea typeface="Amiri" pitchFamily="34" charset="-122"/>
                <a:cs typeface="Amiri" pitchFamily="34" charset="-120"/>
              </a:rPr>
              <a:t>وَلَدٌ</a:t>
            </a:r>
            <a:endParaRPr lang="ar-SA" sz="2100" dirty="0"/>
          </a:p>
        </p:txBody>
      </p:sp>
      <p:sp>
        <p:nvSpPr>
          <p:cNvPr id="55" name="Text 52"/>
          <p:cNvSpPr txBox="1"/>
          <p:nvPr/>
        </p:nvSpPr>
        <p:spPr>
          <a:xfrm>
            <a:off x="6702552" y="4828032"/>
            <a:ext cx="2377440" cy="457200"/>
          </a:xfrm>
          <a:prstGeom prst="rect">
            <a:avLst/>
          </a:prstGeom>
          <a:noFill/>
          <a:ln/>
        </p:spPr>
        <p:txBody>
          <a:bodyPr wrap="square" lIns="0" tIns="0" rIns="0" bIns="0" rtlCol="0" anchor="ctr"/>
          <a:lstStyle/>
          <a:p>
            <a:pPr rtl="1" algn="ctr" indent="0" marL="0">
              <a:buNone/>
            </a:pPr>
            <a:r>
              <a:rPr lang="ar-SA" altLang="en-US" sz="2100" b="1" dirty="0">
                <a:solidFill>
                  <a:srgbClr val="1B3B6F"/>
                </a:solidFill>
                <a:latin typeface="Amiri" pitchFamily="34" charset="0"/>
                <a:ea typeface="Amiri" pitchFamily="34" charset="-122"/>
                <a:cs typeface="Amiri" pitchFamily="34" charset="-120"/>
              </a:rPr>
              <a:t>بِنْتٌ</a:t>
            </a:r>
            <a:endParaRPr lang="ar-SA" sz="2100" dirty="0"/>
          </a:p>
        </p:txBody>
      </p:sp>
      <p:sp>
        <p:nvSpPr>
          <p:cNvPr id="56" name="Text 53"/>
          <p:cNvSpPr txBox="1"/>
          <p:nvPr/>
        </p:nvSpPr>
        <p:spPr>
          <a:xfrm>
            <a:off x="3685032" y="4828032"/>
            <a:ext cx="2834640" cy="457200"/>
          </a:xfrm>
          <a:prstGeom prst="rect">
            <a:avLst/>
          </a:prstGeom>
          <a:noFill/>
          <a:ln/>
        </p:spPr>
        <p:txBody>
          <a:bodyPr wrap="square" lIns="0" tIns="0" rIns="0" bIns="0" rtlCol="0" anchor="ctr"/>
          <a:lstStyle/>
          <a:p>
            <a:pPr rtl="1" algn="ctr" indent="0" marL="0">
              <a:buNone/>
            </a:pPr>
            <a:r>
              <a:rPr lang="ar-SA" altLang="en-US" sz="2000" b="1" dirty="0">
                <a:solidFill>
                  <a:srgbClr val="1B3B6F"/>
                </a:solidFill>
                <a:latin typeface="Amiri" pitchFamily="34" charset="0"/>
                <a:ea typeface="Amiri" pitchFamily="34" charset="-122"/>
                <a:cs typeface="Amiri" pitchFamily="34" charset="-120"/>
              </a:rPr>
              <a:t>أَوْلَادٌ · بَنَاتٌ</a:t>
            </a:r>
            <a:endParaRPr lang="ar-SA" sz="2000" dirty="0"/>
          </a:p>
        </p:txBody>
      </p:sp>
      <p:sp>
        <p:nvSpPr>
          <p:cNvPr id="57" name="Text 54"/>
          <p:cNvSpPr txBox="1"/>
          <p:nvPr/>
        </p:nvSpPr>
        <p:spPr>
          <a:xfrm>
            <a:off x="566928" y="4828032"/>
            <a:ext cx="2953512" cy="45720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ea typeface="Calibri" pitchFamily="34" charset="-122"/>
                <a:cs typeface="Calibri" pitchFamily="34" charset="-120"/>
              </a:rPr>
              <a:t>boy / girl</a:t>
            </a:r>
            <a:endParaRPr lang="en-US" sz="1100" dirty="0"/>
          </a:p>
        </p:txBody>
      </p:sp>
      <p:sp>
        <p:nvSpPr>
          <p:cNvPr id="58" name="Shape 55"/>
          <p:cNvSpPr/>
          <p:nvPr/>
        </p:nvSpPr>
        <p:spPr>
          <a:xfrm>
            <a:off x="457200" y="5340096"/>
            <a:ext cx="11274552" cy="457200"/>
          </a:xfrm>
          <a:prstGeom prst="roundRect">
            <a:avLst>
              <a:gd name="adj" fmla="val 10000"/>
            </a:avLst>
          </a:prstGeom>
          <a:solidFill>
            <a:srgbClr val="FFFFFF"/>
          </a:solidFill>
          <a:ln w="9525">
            <a:solidFill>
              <a:srgbClr val="D8D0BF"/>
            </a:solidFill>
            <a:prstDash val="solid"/>
          </a:ln>
        </p:spPr>
      </p:sp>
      <p:sp>
        <p:nvSpPr>
          <p:cNvPr id="59" name="Text 56"/>
          <p:cNvSpPr txBox="1"/>
          <p:nvPr/>
        </p:nvSpPr>
        <p:spPr>
          <a:xfrm>
            <a:off x="9262872" y="5340096"/>
            <a:ext cx="2377440" cy="457200"/>
          </a:xfrm>
          <a:prstGeom prst="rect">
            <a:avLst/>
          </a:prstGeom>
          <a:noFill/>
          <a:ln/>
        </p:spPr>
        <p:txBody>
          <a:bodyPr wrap="square" lIns="0" tIns="0" rIns="0" bIns="0" rtlCol="0" anchor="ctr"/>
          <a:lstStyle/>
          <a:p>
            <a:pPr rtl="1" algn="ctr" indent="0" marL="0">
              <a:buNone/>
            </a:pPr>
            <a:r>
              <a:rPr lang="ar-SA" altLang="en-US" sz="2100" b="1" dirty="0">
                <a:solidFill>
                  <a:srgbClr val="1B3B6F"/>
                </a:solidFill>
                <a:latin typeface="Amiri" pitchFamily="34" charset="0"/>
                <a:ea typeface="Amiri" pitchFamily="34" charset="-122"/>
                <a:cs typeface="Amiri" pitchFamily="34" charset="-120"/>
              </a:rPr>
              <a:t>رَجُلٌ</a:t>
            </a:r>
            <a:endParaRPr lang="ar-SA" sz="2100" dirty="0"/>
          </a:p>
        </p:txBody>
      </p:sp>
      <p:sp>
        <p:nvSpPr>
          <p:cNvPr id="60" name="Text 57"/>
          <p:cNvSpPr txBox="1"/>
          <p:nvPr/>
        </p:nvSpPr>
        <p:spPr>
          <a:xfrm>
            <a:off x="6702552" y="5340096"/>
            <a:ext cx="2377440" cy="457200"/>
          </a:xfrm>
          <a:prstGeom prst="rect">
            <a:avLst/>
          </a:prstGeom>
          <a:noFill/>
          <a:ln/>
        </p:spPr>
        <p:txBody>
          <a:bodyPr wrap="square" lIns="0" tIns="0" rIns="0" bIns="0" rtlCol="0" anchor="ctr"/>
          <a:lstStyle/>
          <a:p>
            <a:pPr rtl="1" algn="ctr" indent="0" marL="0">
              <a:buNone/>
            </a:pPr>
            <a:r>
              <a:rPr lang="ar-SA" altLang="en-US" sz="2100" b="1" dirty="0">
                <a:solidFill>
                  <a:srgbClr val="1B3B6F"/>
                </a:solidFill>
                <a:latin typeface="Amiri" pitchFamily="34" charset="0"/>
                <a:ea typeface="Amiri" pitchFamily="34" charset="-122"/>
                <a:cs typeface="Amiri" pitchFamily="34" charset="-120"/>
              </a:rPr>
              <a:t>اِمْرَأَةٌ</a:t>
            </a:r>
            <a:endParaRPr lang="ar-SA" sz="2100" dirty="0"/>
          </a:p>
        </p:txBody>
      </p:sp>
      <p:sp>
        <p:nvSpPr>
          <p:cNvPr id="61" name="Text 58"/>
          <p:cNvSpPr txBox="1"/>
          <p:nvPr/>
        </p:nvSpPr>
        <p:spPr>
          <a:xfrm>
            <a:off x="3685032" y="5340096"/>
            <a:ext cx="2834640" cy="457200"/>
          </a:xfrm>
          <a:prstGeom prst="rect">
            <a:avLst/>
          </a:prstGeom>
          <a:noFill/>
          <a:ln/>
        </p:spPr>
        <p:txBody>
          <a:bodyPr wrap="square" lIns="0" tIns="0" rIns="0" bIns="0" rtlCol="0" anchor="ctr"/>
          <a:lstStyle/>
          <a:p>
            <a:pPr rtl="1" algn="ctr" indent="0" marL="0">
              <a:buNone/>
            </a:pPr>
            <a:r>
              <a:rPr lang="ar-SA" altLang="en-US" sz="2000" b="1" dirty="0">
                <a:solidFill>
                  <a:srgbClr val="1B3B6F"/>
                </a:solidFill>
                <a:latin typeface="Amiri" pitchFamily="34" charset="0"/>
                <a:ea typeface="Amiri" pitchFamily="34" charset="-122"/>
                <a:cs typeface="Amiri" pitchFamily="34" charset="-120"/>
              </a:rPr>
              <a:t>رِجَالٌ · نِسَاءٌ</a:t>
            </a:r>
            <a:endParaRPr lang="ar-SA" sz="2000" dirty="0"/>
          </a:p>
        </p:txBody>
      </p:sp>
      <p:sp>
        <p:nvSpPr>
          <p:cNvPr id="62" name="Text 59"/>
          <p:cNvSpPr txBox="1"/>
          <p:nvPr/>
        </p:nvSpPr>
        <p:spPr>
          <a:xfrm>
            <a:off x="566928" y="5340096"/>
            <a:ext cx="2953512" cy="45720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ea typeface="Calibri" pitchFamily="34" charset="-122"/>
                <a:cs typeface="Calibri" pitchFamily="34" charset="-120"/>
              </a:rPr>
              <a:t>man / woman</a:t>
            </a:r>
            <a:endParaRPr lang="en-US" sz="1100" dirty="0"/>
          </a:p>
        </p:txBody>
      </p:sp>
      <p:sp>
        <p:nvSpPr>
          <p:cNvPr id="63" name="Shape 60"/>
          <p:cNvSpPr/>
          <p:nvPr/>
        </p:nvSpPr>
        <p:spPr>
          <a:xfrm>
            <a:off x="457200" y="5852160"/>
            <a:ext cx="11274552" cy="457200"/>
          </a:xfrm>
          <a:prstGeom prst="roundRect">
            <a:avLst>
              <a:gd name="adj" fmla="val 10000"/>
            </a:avLst>
          </a:prstGeom>
          <a:solidFill>
            <a:srgbClr val="F4F1EA"/>
          </a:solidFill>
          <a:ln w="9525">
            <a:solidFill>
              <a:srgbClr val="D8D0BF"/>
            </a:solidFill>
            <a:prstDash val="solid"/>
          </a:ln>
        </p:spPr>
      </p:sp>
      <p:sp>
        <p:nvSpPr>
          <p:cNvPr id="64" name="Text 61"/>
          <p:cNvSpPr txBox="1"/>
          <p:nvPr/>
        </p:nvSpPr>
        <p:spPr>
          <a:xfrm>
            <a:off x="9262872" y="5852160"/>
            <a:ext cx="2377440" cy="457200"/>
          </a:xfrm>
          <a:prstGeom prst="rect">
            <a:avLst/>
          </a:prstGeom>
          <a:noFill/>
          <a:ln/>
        </p:spPr>
        <p:txBody>
          <a:bodyPr wrap="square" lIns="0" tIns="0" rIns="0" bIns="0" rtlCol="0" anchor="ctr"/>
          <a:lstStyle/>
          <a:p>
            <a:pPr rtl="1" algn="ctr" indent="0" marL="0">
              <a:buNone/>
            </a:pPr>
            <a:r>
              <a:rPr lang="ar-SA" altLang="en-US" sz="2100" b="1" dirty="0">
                <a:solidFill>
                  <a:srgbClr val="1B3B6F"/>
                </a:solidFill>
                <a:latin typeface="Amiri" pitchFamily="34" charset="0"/>
                <a:ea typeface="Amiri" pitchFamily="34" charset="-122"/>
                <a:cs typeface="Amiri" pitchFamily="34" charset="-120"/>
              </a:rPr>
              <a:t>أَخٌ</a:t>
            </a:r>
            <a:endParaRPr lang="ar-SA" sz="2100" dirty="0"/>
          </a:p>
        </p:txBody>
      </p:sp>
      <p:sp>
        <p:nvSpPr>
          <p:cNvPr id="65" name="Text 62"/>
          <p:cNvSpPr txBox="1"/>
          <p:nvPr/>
        </p:nvSpPr>
        <p:spPr>
          <a:xfrm>
            <a:off x="6702552" y="5852160"/>
            <a:ext cx="2377440" cy="457200"/>
          </a:xfrm>
          <a:prstGeom prst="rect">
            <a:avLst/>
          </a:prstGeom>
          <a:noFill/>
          <a:ln/>
        </p:spPr>
        <p:txBody>
          <a:bodyPr wrap="square" lIns="0" tIns="0" rIns="0" bIns="0" rtlCol="0" anchor="ctr"/>
          <a:lstStyle/>
          <a:p>
            <a:pPr rtl="1" algn="ctr" indent="0" marL="0">
              <a:buNone/>
            </a:pPr>
            <a:r>
              <a:rPr lang="ar-SA" altLang="en-US" sz="2100" b="1" dirty="0">
                <a:solidFill>
                  <a:srgbClr val="1B3B6F"/>
                </a:solidFill>
                <a:latin typeface="Amiri" pitchFamily="34" charset="0"/>
                <a:ea typeface="Amiri" pitchFamily="34" charset="-122"/>
                <a:cs typeface="Amiri" pitchFamily="34" charset="-120"/>
              </a:rPr>
              <a:t>أُخْتٌ</a:t>
            </a:r>
            <a:endParaRPr lang="ar-SA" sz="2100" dirty="0"/>
          </a:p>
        </p:txBody>
      </p:sp>
      <p:sp>
        <p:nvSpPr>
          <p:cNvPr id="66" name="Text 63"/>
          <p:cNvSpPr txBox="1"/>
          <p:nvPr/>
        </p:nvSpPr>
        <p:spPr>
          <a:xfrm>
            <a:off x="3685032" y="5852160"/>
            <a:ext cx="2834640" cy="457200"/>
          </a:xfrm>
          <a:prstGeom prst="rect">
            <a:avLst/>
          </a:prstGeom>
          <a:noFill/>
          <a:ln/>
        </p:spPr>
        <p:txBody>
          <a:bodyPr wrap="square" lIns="0" tIns="0" rIns="0" bIns="0" rtlCol="0" anchor="ctr"/>
          <a:lstStyle/>
          <a:p>
            <a:pPr rtl="1" algn="ctr" indent="0" marL="0">
              <a:buNone/>
            </a:pPr>
            <a:r>
              <a:rPr lang="ar-SA" altLang="en-US" sz="2000" b="1" dirty="0">
                <a:solidFill>
                  <a:srgbClr val="1B3B6F"/>
                </a:solidFill>
                <a:latin typeface="Amiri" pitchFamily="34" charset="0"/>
                <a:ea typeface="Amiri" pitchFamily="34" charset="-122"/>
                <a:cs typeface="Amiri" pitchFamily="34" charset="-120"/>
              </a:rPr>
              <a:t>إِخْوَةٌ · أَخَوَاتٌ</a:t>
            </a:r>
            <a:endParaRPr lang="ar-SA" sz="2000" dirty="0"/>
          </a:p>
        </p:txBody>
      </p:sp>
      <p:sp>
        <p:nvSpPr>
          <p:cNvPr id="67" name="Text 64"/>
          <p:cNvSpPr txBox="1"/>
          <p:nvPr/>
        </p:nvSpPr>
        <p:spPr>
          <a:xfrm>
            <a:off x="566928" y="5852160"/>
            <a:ext cx="2953512" cy="45720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ea typeface="Calibri" pitchFamily="34" charset="-122"/>
                <a:cs typeface="Calibri" pitchFamily="34" charset="-120"/>
              </a:rPr>
              <a:t>brother / sister</a:t>
            </a:r>
            <a:endParaRPr lang="en-US" sz="1100" dirty="0"/>
          </a:p>
        </p:txBody>
      </p:sp>
      <p:sp>
        <p:nvSpPr>
          <p:cNvPr id="68" name="Text 6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ea typeface="Calibri" pitchFamily="34" charset="-122"/>
                <a:cs typeface="Calibri" pitchFamily="34" charset="-120"/>
              </a:rPr>
              <a:t>8 / 36</a:t>
            </a:r>
            <a:endParaRPr lang="en-US" sz="8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34" charset="0"/>
                <a:ea typeface="Amiri" pitchFamily="34" charset="-122"/>
                <a:cs typeface="Amiri" pitchFamily="34" charset="-120"/>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ea typeface="Cambria" pitchFamily="34" charset="-122"/>
                <a:cs typeface="Cambria" pitchFamily="34" charset="-120"/>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ea typeface="Calibri" pitchFamily="34" charset="-122"/>
                <a:cs typeface="Calibri" pitchFamily="34" charset="-120"/>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ea typeface="Calibri" pitchFamily="34" charset="-122"/>
                <a:cs typeface="Calibri" pitchFamily="34" charset="-120"/>
              </a:rPr>
              <a:t>F2-L05 · Masculine &amp; Feminine</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ea typeface="Calibri" pitchFamily="34" charset="-122"/>
                <a:cs typeface="Calibri" pitchFamily="34" charset="-120"/>
              </a:rPr>
              <a:t>TEACHER INSTRUCTION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150" kern="0" dirty="0">
                <a:solidFill>
                  <a:srgbClr val="1B3B6F"/>
                </a:solidFill>
                <a:latin typeface="Calibri" pitchFamily="34" charset="0"/>
                <a:ea typeface="Calibri" pitchFamily="34" charset="-122"/>
                <a:cs typeface="Calibri" pitchFamily="34" charset="-120"/>
              </a:rPr>
              <a:t>KEY WORDS · GROUP 2 · FIND THE GENDER CLUE IN THE NOUN (WEBSITE)</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ea typeface="Cambria" pitchFamily="34" charset="-122"/>
                <a:cs typeface="Cambria" pitchFamily="34" charset="-120"/>
              </a:rPr>
              <a:t>The </a:t>
            </a:r>
            <a:pPr algn="l" indent="0" marL="0">
              <a:buNone/>
            </a:pPr>
            <a:r>
              <a:rPr lang="ar-SA" altLang="en-US" sz="3650" b="1" dirty="0">
                <a:solidFill>
                  <a:srgbClr val="1B3B6F"/>
                </a:solidFill>
                <a:latin typeface="Amiri" pitchFamily="34" charset="0"/>
                <a:ea typeface="Amiri" pitchFamily="34" charset="-122"/>
                <a:cs typeface="Amiri" pitchFamily="34" charset="-120"/>
              </a:rPr>
              <a:t>ة</a:t>
            </a:r>
            <a:pPr algn="l" indent="0" marL="0">
              <a:buNone/>
            </a:pPr>
            <a:r>
              <a:rPr lang="en-US" sz="2800" b="1" dirty="0">
                <a:solidFill>
                  <a:srgbClr val="1B3B6F"/>
                </a:solidFill>
                <a:latin typeface="Cambria" pitchFamily="34" charset="0"/>
                <a:ea typeface="Cambria" pitchFamily="34" charset="-122"/>
                <a:cs typeface="Cambria" pitchFamily="34" charset="-120"/>
              </a:rPr>
              <a:t> clue — and its exceptions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34" charset="0"/>
                <a:ea typeface="Amiri" pitchFamily="34" charset="-122"/>
                <a:cs typeface="Amiri" pitchFamily="34" charset="-120"/>
              </a:rPr>
              <a:t>التَّاءُ المَرْبُوطَةُ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ea typeface="Calibri" pitchFamily="34" charset="-122"/>
                <a:cs typeface="Calibri" pitchFamily="34" charset="-120"/>
              </a:rPr>
              <a:t>Miftah Arabic · Foundation F2 · Greetings &amp; Introductions · Week 2 · Lesson 2 of 3</a:t>
            </a:r>
            <a:endParaRPr lang="en-US" sz="850" dirty="0"/>
          </a:p>
        </p:txBody>
      </p:sp>
      <p:sp>
        <p:nvSpPr>
          <p:cNvPr id="15" name="Shape 12"/>
          <p:cNvSpPr/>
          <p:nvPr/>
        </p:nvSpPr>
        <p:spPr>
          <a:xfrm>
            <a:off x="8095488" y="1810512"/>
            <a:ext cx="3636264" cy="3017520"/>
          </a:xfrm>
          <a:prstGeom prst="roundRect">
            <a:avLst>
              <a:gd name="adj" fmla="val 242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8232648" y="1920240"/>
            <a:ext cx="1508760" cy="274320"/>
          </a:xfrm>
          <a:prstGeom prst="roundRect">
            <a:avLst>
              <a:gd name="adj" fmla="val 50000"/>
            </a:avLst>
          </a:prstGeom>
          <a:solidFill>
            <a:srgbClr val="1B3B6F"/>
          </a:solidFill>
          <a:ln w="12700">
            <a:solidFill>
              <a:srgbClr val="1B3B6F"/>
            </a:solidFill>
            <a:prstDash val="solid"/>
          </a:ln>
        </p:spPr>
      </p:sp>
      <p:sp>
        <p:nvSpPr>
          <p:cNvPr id="17" name="Text 14"/>
          <p:cNvSpPr txBox="1"/>
          <p:nvPr/>
        </p:nvSpPr>
        <p:spPr>
          <a:xfrm>
            <a:off x="8232648" y="1920240"/>
            <a:ext cx="150876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ea typeface="Calibri" pitchFamily="34" charset="-122"/>
                <a:cs typeface="Calibri" pitchFamily="34" charset="-120"/>
              </a:rPr>
              <a:t>STRONG CLUE · CORE</a:t>
            </a:r>
            <a:endParaRPr lang="en-US" sz="850" dirty="0"/>
          </a:p>
        </p:txBody>
      </p:sp>
      <p:sp>
        <p:nvSpPr>
          <p:cNvPr id="18" name="Text 15"/>
          <p:cNvSpPr txBox="1"/>
          <p:nvPr/>
        </p:nvSpPr>
        <p:spPr>
          <a:xfrm>
            <a:off x="9787128" y="1874520"/>
            <a:ext cx="1807464" cy="365760"/>
          </a:xfrm>
          <a:prstGeom prst="rect">
            <a:avLst/>
          </a:prstGeom>
          <a:noFill/>
          <a:ln/>
        </p:spPr>
        <p:txBody>
          <a:bodyPr wrap="square" lIns="0" tIns="0" rIns="0" bIns="0" rtlCol="0" anchor="ctr"/>
          <a:lstStyle/>
          <a:p>
            <a:pPr rtl="1" algn="r" indent="0" marL="0">
              <a:buNone/>
            </a:pPr>
            <a:r>
              <a:rPr lang="ar-SA" altLang="en-US" sz="1600" b="1" dirty="0">
                <a:solidFill>
                  <a:srgbClr val="8A6D1E"/>
                </a:solidFill>
                <a:latin typeface="Amiri" pitchFamily="34" charset="0"/>
                <a:ea typeface="Amiri" pitchFamily="34" charset="-122"/>
                <a:cs typeface="Amiri" pitchFamily="34" charset="-120"/>
              </a:rPr>
              <a:t>ـة</a:t>
            </a:r>
            <a:endParaRPr lang="ar-SA" sz="1600" dirty="0"/>
          </a:p>
        </p:txBody>
      </p:sp>
      <p:sp>
        <p:nvSpPr>
          <p:cNvPr id="19" name="Text 16"/>
          <p:cNvSpPr txBox="1"/>
          <p:nvPr/>
        </p:nvSpPr>
        <p:spPr>
          <a:xfrm>
            <a:off x="8232648" y="2286000"/>
            <a:ext cx="3361944" cy="1097280"/>
          </a:xfrm>
          <a:prstGeom prst="rect">
            <a:avLst/>
          </a:prstGeom>
          <a:noFill/>
          <a:ln/>
        </p:spPr>
        <p:txBody>
          <a:bodyPr wrap="square" lIns="0" tIns="0" rIns="0" bIns="0" rtlCol="0" anchor="ctr"/>
          <a:lstStyle/>
          <a:p>
            <a:pPr rtl="1" algn="ctr" indent="0" marL="0">
              <a:lnSpc>
                <a:spcPct val="120000"/>
              </a:lnSpc>
              <a:buNone/>
            </a:pPr>
            <a:r>
              <a:rPr lang="ar-SA" altLang="en-US" sz="2250" b="1" dirty="0">
                <a:solidFill>
                  <a:srgbClr val="1B3B6F"/>
                </a:solidFill>
                <a:latin typeface="Amiri" pitchFamily="34" charset="0"/>
                <a:ea typeface="Amiri" pitchFamily="34" charset="-122"/>
                <a:cs typeface="Amiri" pitchFamily="34" charset="-120"/>
              </a:rPr>
              <a:t>طَالِبَةٌ · مُعَلِّمَةٌ · حَقِيبَةٌ · سَيَّارَةٌ</a:t>
            </a:r>
            <a:endParaRPr lang="ar-SA" sz="2250" dirty="0"/>
          </a:p>
        </p:txBody>
      </p:sp>
      <p:sp>
        <p:nvSpPr>
          <p:cNvPr id="20" name="Text 17"/>
          <p:cNvSpPr txBox="1"/>
          <p:nvPr/>
        </p:nvSpPr>
        <p:spPr>
          <a:xfrm>
            <a:off x="8232648" y="3364992"/>
            <a:ext cx="3361944" cy="411480"/>
          </a:xfrm>
          <a:prstGeom prst="rect">
            <a:avLst/>
          </a:prstGeom>
          <a:noFill/>
          <a:ln/>
        </p:spPr>
        <p:txBody>
          <a:bodyPr wrap="square" lIns="0" tIns="0" rIns="0" bIns="0" rtlCol="0" anchor="ctr"/>
          <a:lstStyle/>
          <a:p>
            <a:pPr algn="ctr" indent="0" marL="0">
              <a:buNone/>
            </a:pPr>
            <a:r>
              <a:rPr lang="en-US" sz="1200" i="1" dirty="0">
                <a:solidFill>
                  <a:srgbClr val="5A6472"/>
                </a:solidFill>
                <a:latin typeface="Calibri" pitchFamily="34" charset="0"/>
                <a:ea typeface="Calibri" pitchFamily="34" charset="-122"/>
                <a:cs typeface="Calibri" pitchFamily="34" charset="-120"/>
              </a:rPr>
              <a:t>female student · female teacher · bag · car</a:t>
            </a:r>
            <a:endParaRPr lang="en-US" sz="1200" dirty="0"/>
          </a:p>
        </p:txBody>
      </p:sp>
      <p:sp>
        <p:nvSpPr>
          <p:cNvPr id="21" name="Shape 18"/>
          <p:cNvSpPr/>
          <p:nvPr/>
        </p:nvSpPr>
        <p:spPr>
          <a:xfrm>
            <a:off x="8205216" y="3913632"/>
            <a:ext cx="3416808" cy="804672"/>
          </a:xfrm>
          <a:prstGeom prst="roundRect">
            <a:avLst>
              <a:gd name="adj" fmla="val 5682"/>
            </a:avLst>
          </a:prstGeom>
          <a:solidFill>
            <a:srgbClr val="FFF4E0"/>
          </a:solidFill>
          <a:ln w="9525">
            <a:solidFill>
              <a:srgbClr val="FFF4E0"/>
            </a:solidFill>
            <a:prstDash val="solid"/>
          </a:ln>
        </p:spPr>
      </p:sp>
      <p:sp>
        <p:nvSpPr>
          <p:cNvPr id="22" name="Text 19"/>
          <p:cNvSpPr txBox="1"/>
          <p:nvPr/>
        </p:nvSpPr>
        <p:spPr>
          <a:xfrm>
            <a:off x="8296656" y="3950208"/>
            <a:ext cx="3233928" cy="731520"/>
          </a:xfrm>
          <a:prstGeom prst="rect">
            <a:avLst/>
          </a:prstGeom>
          <a:noFill/>
          <a:ln/>
        </p:spPr>
        <p:txBody>
          <a:bodyPr wrap="square" lIns="0" tIns="0" rIns="0" bIns="0" rtlCol="0" anchor="ctr"/>
          <a:lstStyle/>
          <a:p>
            <a:pPr algn="l" indent="0" marL="0">
              <a:buNone/>
            </a:pPr>
            <a:r>
              <a:rPr lang="en-US" sz="1100" dirty="0">
                <a:solidFill>
                  <a:srgbClr val="1F2A37"/>
                </a:solidFill>
                <a:latin typeface="Calibri" pitchFamily="34" charset="0"/>
                <a:ea typeface="Calibri" pitchFamily="34" charset="-122"/>
                <a:cs typeface="Calibri" pitchFamily="34" charset="-120"/>
              </a:rPr>
              <a:t>Most nouns ending in </a:t>
            </a:r>
            <a:pPr algn="l" indent="0" marL="0">
              <a:buNone/>
            </a:pPr>
            <a:r>
              <a:rPr lang="ar-SA" altLang="en-US" sz="1450" dirty="0">
                <a:solidFill>
                  <a:srgbClr val="1F2A37"/>
                </a:solidFill>
                <a:latin typeface="Amiri" pitchFamily="34" charset="0"/>
                <a:ea typeface="Amiri" pitchFamily="34" charset="-122"/>
                <a:cs typeface="Amiri" pitchFamily="34" charset="-120"/>
              </a:rPr>
              <a:t>ة</a:t>
            </a:r>
            <a:pPr algn="l" indent="0" marL="0">
              <a:buNone/>
            </a:pPr>
            <a:r>
              <a:rPr lang="en-US" sz="1100" dirty="0">
                <a:solidFill>
                  <a:srgbClr val="1F2A37"/>
                </a:solidFill>
                <a:latin typeface="Calibri" pitchFamily="34" charset="0"/>
                <a:ea typeface="Calibri" pitchFamily="34" charset="-122"/>
                <a:cs typeface="Calibri" pitchFamily="34" charset="-120"/>
              </a:rPr>
              <a:t> are feminine.</a:t>
            </a:r>
            <a:endParaRPr lang="en-US" sz="1100" dirty="0"/>
          </a:p>
        </p:txBody>
      </p:sp>
      <p:sp>
        <p:nvSpPr>
          <p:cNvPr id="23" name="Shape 20"/>
          <p:cNvSpPr/>
          <p:nvPr/>
        </p:nvSpPr>
        <p:spPr>
          <a:xfrm>
            <a:off x="4276344" y="1810512"/>
            <a:ext cx="3636264" cy="3017520"/>
          </a:xfrm>
          <a:prstGeom prst="roundRect">
            <a:avLst>
              <a:gd name="adj" fmla="val 242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4" name="Shape 21"/>
          <p:cNvSpPr/>
          <p:nvPr/>
        </p:nvSpPr>
        <p:spPr>
          <a:xfrm>
            <a:off x="4413504" y="1920240"/>
            <a:ext cx="1577340" cy="274320"/>
          </a:xfrm>
          <a:prstGeom prst="roundRect">
            <a:avLst>
              <a:gd name="adj" fmla="val 50000"/>
            </a:avLst>
          </a:prstGeom>
          <a:solidFill>
            <a:srgbClr val="7B3FA0"/>
          </a:solidFill>
          <a:ln w="12700">
            <a:solidFill>
              <a:srgbClr val="7B3FA0"/>
            </a:solidFill>
            <a:prstDash val="solid"/>
          </a:ln>
        </p:spPr>
      </p:sp>
      <p:sp>
        <p:nvSpPr>
          <p:cNvPr id="25" name="Text 22"/>
          <p:cNvSpPr txBox="1"/>
          <p:nvPr/>
        </p:nvSpPr>
        <p:spPr>
          <a:xfrm>
            <a:off x="4413504" y="1920240"/>
            <a:ext cx="157734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ea typeface="Calibri" pitchFamily="34" charset="-122"/>
                <a:cs typeface="Calibri" pitchFamily="34" charset="-120"/>
              </a:rPr>
              <a:t>NO ة · USE ACTIVELY</a:t>
            </a:r>
            <a:endParaRPr lang="en-US" sz="850" dirty="0"/>
          </a:p>
        </p:txBody>
      </p:sp>
      <p:sp>
        <p:nvSpPr>
          <p:cNvPr id="26" name="Text 23"/>
          <p:cNvSpPr txBox="1"/>
          <p:nvPr/>
        </p:nvSpPr>
        <p:spPr>
          <a:xfrm>
            <a:off x="6036564" y="1874520"/>
            <a:ext cx="1738884" cy="365760"/>
          </a:xfrm>
          <a:prstGeom prst="rect">
            <a:avLst/>
          </a:prstGeom>
          <a:noFill/>
          <a:ln/>
        </p:spPr>
        <p:txBody>
          <a:bodyPr wrap="square" lIns="0" tIns="0" rIns="0" bIns="0" rtlCol="0" anchor="ctr"/>
          <a:lstStyle/>
          <a:p>
            <a:pPr rtl="1" algn="r" indent="0" marL="0">
              <a:buNone/>
            </a:pPr>
            <a:r>
              <a:rPr lang="ar-SA" altLang="en-US" sz="1600" b="1" dirty="0">
                <a:solidFill>
                  <a:srgbClr val="8A6D1E"/>
                </a:solidFill>
                <a:latin typeface="Amiri" pitchFamily="34" charset="0"/>
                <a:ea typeface="Amiri" pitchFamily="34" charset="-122"/>
                <a:cs typeface="Amiri" pitchFamily="34" charset="-120"/>
              </a:rPr>
              <a:t>أُمٌّ · بِنْتٌ · أُخْتٌ</a:t>
            </a:r>
            <a:endParaRPr lang="ar-SA" sz="1600" dirty="0"/>
          </a:p>
        </p:txBody>
      </p:sp>
      <p:sp>
        <p:nvSpPr>
          <p:cNvPr id="27" name="Text 24"/>
          <p:cNvSpPr txBox="1"/>
          <p:nvPr/>
        </p:nvSpPr>
        <p:spPr>
          <a:xfrm>
            <a:off x="4413504" y="2286000"/>
            <a:ext cx="3361944" cy="1097280"/>
          </a:xfrm>
          <a:prstGeom prst="rect">
            <a:avLst/>
          </a:prstGeom>
          <a:noFill/>
          <a:ln/>
        </p:spPr>
        <p:txBody>
          <a:bodyPr wrap="square" lIns="0" tIns="0" rIns="0" bIns="0" rtlCol="0" anchor="ctr"/>
          <a:lstStyle/>
          <a:p>
            <a:pPr rtl="1" algn="ctr" indent="0" marL="0">
              <a:buNone/>
            </a:pPr>
            <a:r>
              <a:rPr lang="ar-SA" altLang="en-US" sz="3200" b="1" dirty="0">
                <a:solidFill>
                  <a:srgbClr val="1B3B6F"/>
                </a:solidFill>
                <a:latin typeface="Amiri" pitchFamily="34" charset="0"/>
                <a:ea typeface="Amiri" pitchFamily="34" charset="-122"/>
                <a:cs typeface="Amiri" pitchFamily="34" charset="-120"/>
              </a:rPr>
              <a:t>أُمٌّ · بِنْتٌ · أُخْتٌ</a:t>
            </a:r>
            <a:endParaRPr lang="ar-SA" sz="3200" dirty="0"/>
          </a:p>
        </p:txBody>
      </p:sp>
      <p:sp>
        <p:nvSpPr>
          <p:cNvPr id="28" name="Text 25"/>
          <p:cNvSpPr txBox="1"/>
          <p:nvPr/>
        </p:nvSpPr>
        <p:spPr>
          <a:xfrm>
            <a:off x="4413504" y="3364992"/>
            <a:ext cx="3361944" cy="411480"/>
          </a:xfrm>
          <a:prstGeom prst="rect">
            <a:avLst/>
          </a:prstGeom>
          <a:noFill/>
          <a:ln/>
        </p:spPr>
        <p:txBody>
          <a:bodyPr wrap="square" lIns="0" tIns="0" rIns="0" bIns="0" rtlCol="0" anchor="ctr"/>
          <a:lstStyle/>
          <a:p>
            <a:pPr algn="ctr" indent="0" marL="0">
              <a:buNone/>
            </a:pPr>
            <a:r>
              <a:rPr lang="en-US" sz="1200" i="1" dirty="0">
                <a:solidFill>
                  <a:srgbClr val="5A6472"/>
                </a:solidFill>
                <a:latin typeface="Calibri" pitchFamily="34" charset="0"/>
                <a:ea typeface="Calibri" pitchFamily="34" charset="-122"/>
                <a:cs typeface="Calibri" pitchFamily="34" charset="-120"/>
              </a:rPr>
              <a:t>mother · girl · sister</a:t>
            </a:r>
            <a:endParaRPr lang="en-US" sz="1200" dirty="0"/>
          </a:p>
        </p:txBody>
      </p:sp>
      <p:sp>
        <p:nvSpPr>
          <p:cNvPr id="29" name="Shape 26"/>
          <p:cNvSpPr/>
          <p:nvPr/>
        </p:nvSpPr>
        <p:spPr>
          <a:xfrm>
            <a:off x="4386072" y="3913632"/>
            <a:ext cx="3416808" cy="804672"/>
          </a:xfrm>
          <a:prstGeom prst="roundRect">
            <a:avLst>
              <a:gd name="adj" fmla="val 5682"/>
            </a:avLst>
          </a:prstGeom>
          <a:solidFill>
            <a:srgbClr val="FFF4E0"/>
          </a:solidFill>
          <a:ln w="9525">
            <a:solidFill>
              <a:srgbClr val="FFF4E0"/>
            </a:solidFill>
            <a:prstDash val="solid"/>
          </a:ln>
        </p:spPr>
      </p:sp>
      <p:sp>
        <p:nvSpPr>
          <p:cNvPr id="30" name="Text 27"/>
          <p:cNvSpPr txBox="1"/>
          <p:nvPr/>
        </p:nvSpPr>
        <p:spPr>
          <a:xfrm>
            <a:off x="4477512" y="3950208"/>
            <a:ext cx="3233928" cy="731520"/>
          </a:xfrm>
          <a:prstGeom prst="rect">
            <a:avLst/>
          </a:prstGeom>
          <a:noFill/>
          <a:ln/>
        </p:spPr>
        <p:txBody>
          <a:bodyPr wrap="square" lIns="0" tIns="0" rIns="0" bIns="0" rtlCol="0" anchor="ctr"/>
          <a:lstStyle/>
          <a:p>
            <a:pPr algn="l" indent="0" marL="0">
              <a:buNone/>
            </a:pPr>
            <a:r>
              <a:rPr lang="en-US" sz="1100" dirty="0">
                <a:solidFill>
                  <a:srgbClr val="1F2A37"/>
                </a:solidFill>
                <a:latin typeface="Calibri" pitchFamily="34" charset="0"/>
                <a:ea typeface="Calibri" pitchFamily="34" charset="-122"/>
                <a:cs typeface="Calibri" pitchFamily="34" charset="-120"/>
              </a:rPr>
              <a:t>Naturally feminine people: no </a:t>
            </a:r>
            <a:pPr algn="l" indent="0" marL="0">
              <a:buNone/>
            </a:pPr>
            <a:r>
              <a:rPr lang="ar-SA" altLang="en-US" sz="1450" dirty="0">
                <a:solidFill>
                  <a:srgbClr val="1F2A37"/>
                </a:solidFill>
                <a:latin typeface="Amiri" pitchFamily="34" charset="0"/>
                <a:ea typeface="Amiri" pitchFamily="34" charset="-122"/>
                <a:cs typeface="Amiri" pitchFamily="34" charset="-120"/>
              </a:rPr>
              <a:t>ة</a:t>
            </a:r>
            <a:pPr algn="l" indent="0" marL="0">
              <a:buNone/>
            </a:pPr>
            <a:r>
              <a:rPr lang="en-US" sz="1100" dirty="0">
                <a:solidFill>
                  <a:srgbClr val="1F2A37"/>
                </a:solidFill>
                <a:latin typeface="Calibri" pitchFamily="34" charset="0"/>
                <a:ea typeface="Calibri" pitchFamily="34" charset="-122"/>
                <a:cs typeface="Calibri" pitchFamily="34" charset="-120"/>
              </a:rPr>
              <a:t> needed.</a:t>
            </a:r>
            <a:endParaRPr lang="en-US" sz="1100" dirty="0"/>
          </a:p>
        </p:txBody>
      </p:sp>
      <p:sp>
        <p:nvSpPr>
          <p:cNvPr id="31" name="Shape 28"/>
          <p:cNvSpPr/>
          <p:nvPr/>
        </p:nvSpPr>
        <p:spPr>
          <a:xfrm>
            <a:off x="457200" y="1810512"/>
            <a:ext cx="3636264" cy="3017520"/>
          </a:xfrm>
          <a:prstGeom prst="roundRect">
            <a:avLst>
              <a:gd name="adj" fmla="val 242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2" name="Shape 29"/>
          <p:cNvSpPr/>
          <p:nvPr/>
        </p:nvSpPr>
        <p:spPr>
          <a:xfrm>
            <a:off x="594360" y="1920240"/>
            <a:ext cx="1371600" cy="274320"/>
          </a:xfrm>
          <a:prstGeom prst="roundRect">
            <a:avLst>
              <a:gd name="adj" fmla="val 50000"/>
            </a:avLst>
          </a:prstGeom>
          <a:solidFill>
            <a:srgbClr val="B83227"/>
          </a:solidFill>
          <a:ln w="12700">
            <a:solidFill>
              <a:srgbClr val="B83227"/>
            </a:solidFill>
            <a:prstDash val="solid"/>
          </a:ln>
        </p:spPr>
      </p:sp>
      <p:sp>
        <p:nvSpPr>
          <p:cNvPr id="33" name="Text 30"/>
          <p:cNvSpPr txBox="1"/>
          <p:nvPr/>
        </p:nvSpPr>
        <p:spPr>
          <a:xfrm>
            <a:off x="594360" y="1920240"/>
            <a:ext cx="137160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ea typeface="Calibri" pitchFamily="34" charset="-122"/>
                <a:cs typeface="Calibri" pitchFamily="34" charset="-120"/>
              </a:rPr>
              <a:t>NO ة · RECOGNISE</a:t>
            </a:r>
            <a:endParaRPr lang="en-US" sz="850" dirty="0"/>
          </a:p>
        </p:txBody>
      </p:sp>
      <p:sp>
        <p:nvSpPr>
          <p:cNvPr id="34" name="Text 31"/>
          <p:cNvSpPr txBox="1"/>
          <p:nvPr/>
        </p:nvSpPr>
        <p:spPr>
          <a:xfrm>
            <a:off x="2011680" y="1874520"/>
            <a:ext cx="1944624" cy="365760"/>
          </a:xfrm>
          <a:prstGeom prst="rect">
            <a:avLst/>
          </a:prstGeom>
          <a:noFill/>
          <a:ln/>
        </p:spPr>
        <p:txBody>
          <a:bodyPr wrap="square" lIns="0" tIns="0" rIns="0" bIns="0" rtlCol="0" anchor="ctr"/>
          <a:lstStyle/>
          <a:p>
            <a:pPr rtl="1" algn="r" indent="0" marL="0">
              <a:buNone/>
            </a:pPr>
            <a:r>
              <a:rPr lang="ar-SA" altLang="en-US" sz="1600" b="1" dirty="0">
                <a:solidFill>
                  <a:srgbClr val="8A6D1E"/>
                </a:solidFill>
                <a:latin typeface="Amiri" pitchFamily="34" charset="0"/>
                <a:ea typeface="Amiri" pitchFamily="34" charset="-122"/>
                <a:cs typeface="Amiri" pitchFamily="34" charset="-120"/>
              </a:rPr>
              <a:t>شَمْسٌ · عَيْنٌ</a:t>
            </a:r>
            <a:endParaRPr lang="ar-SA" sz="1600" dirty="0"/>
          </a:p>
        </p:txBody>
      </p:sp>
      <p:sp>
        <p:nvSpPr>
          <p:cNvPr id="35" name="Text 32"/>
          <p:cNvSpPr txBox="1"/>
          <p:nvPr/>
        </p:nvSpPr>
        <p:spPr>
          <a:xfrm>
            <a:off x="594360" y="2286000"/>
            <a:ext cx="3361944" cy="1097280"/>
          </a:xfrm>
          <a:prstGeom prst="rect">
            <a:avLst/>
          </a:prstGeom>
          <a:noFill/>
          <a:ln/>
        </p:spPr>
        <p:txBody>
          <a:bodyPr wrap="square" lIns="0" tIns="0" rIns="0" bIns="0" rtlCol="0" anchor="ctr"/>
          <a:lstStyle/>
          <a:p>
            <a:pPr rtl="1" algn="ctr" indent="0" marL="0">
              <a:buNone/>
            </a:pPr>
            <a:r>
              <a:rPr lang="ar-SA" altLang="en-US" sz="3200" b="1" dirty="0">
                <a:solidFill>
                  <a:srgbClr val="1B3B6F"/>
                </a:solidFill>
                <a:latin typeface="Amiri" pitchFamily="34" charset="0"/>
                <a:ea typeface="Amiri" pitchFamily="34" charset="-122"/>
                <a:cs typeface="Amiri" pitchFamily="34" charset="-120"/>
              </a:rPr>
              <a:t>أَرْضٌ · شَمْسٌ · يَدٌ · عَيْنٌ</a:t>
            </a:r>
            <a:endParaRPr lang="ar-SA" sz="3200" dirty="0"/>
          </a:p>
        </p:txBody>
      </p:sp>
      <p:sp>
        <p:nvSpPr>
          <p:cNvPr id="36" name="Text 33"/>
          <p:cNvSpPr txBox="1"/>
          <p:nvPr/>
        </p:nvSpPr>
        <p:spPr>
          <a:xfrm>
            <a:off x="594360" y="3364992"/>
            <a:ext cx="3361944" cy="411480"/>
          </a:xfrm>
          <a:prstGeom prst="rect">
            <a:avLst/>
          </a:prstGeom>
          <a:noFill/>
          <a:ln/>
        </p:spPr>
        <p:txBody>
          <a:bodyPr wrap="square" lIns="0" tIns="0" rIns="0" bIns="0" rtlCol="0" anchor="ctr"/>
          <a:lstStyle/>
          <a:p>
            <a:pPr algn="ctr" indent="0" marL="0">
              <a:buNone/>
            </a:pPr>
            <a:r>
              <a:rPr lang="en-US" sz="1200" i="1" dirty="0">
                <a:solidFill>
                  <a:srgbClr val="5A6472"/>
                </a:solidFill>
                <a:latin typeface="Calibri" pitchFamily="34" charset="0"/>
                <a:ea typeface="Calibri" pitchFamily="34" charset="-122"/>
                <a:cs typeface="Calibri" pitchFamily="34" charset="-120"/>
              </a:rPr>
              <a:t>earth · sun · hand · eye</a:t>
            </a:r>
            <a:endParaRPr lang="en-US" sz="1200" dirty="0"/>
          </a:p>
        </p:txBody>
      </p:sp>
      <p:sp>
        <p:nvSpPr>
          <p:cNvPr id="37" name="Shape 34"/>
          <p:cNvSpPr/>
          <p:nvPr/>
        </p:nvSpPr>
        <p:spPr>
          <a:xfrm>
            <a:off x="566928" y="3913632"/>
            <a:ext cx="3416808" cy="804672"/>
          </a:xfrm>
          <a:prstGeom prst="roundRect">
            <a:avLst>
              <a:gd name="adj" fmla="val 5682"/>
            </a:avLst>
          </a:prstGeom>
          <a:solidFill>
            <a:srgbClr val="FFF4E0"/>
          </a:solidFill>
          <a:ln w="9525">
            <a:solidFill>
              <a:srgbClr val="FFF4E0"/>
            </a:solidFill>
            <a:prstDash val="solid"/>
          </a:ln>
        </p:spPr>
      </p:sp>
      <p:sp>
        <p:nvSpPr>
          <p:cNvPr id="38" name="Text 35"/>
          <p:cNvSpPr txBox="1"/>
          <p:nvPr/>
        </p:nvSpPr>
        <p:spPr>
          <a:xfrm>
            <a:off x="658368" y="3950208"/>
            <a:ext cx="3233928" cy="731520"/>
          </a:xfrm>
          <a:prstGeom prst="rect">
            <a:avLst/>
          </a:prstGeom>
          <a:noFill/>
          <a:ln/>
        </p:spPr>
        <p:txBody>
          <a:bodyPr wrap="square" lIns="0" tIns="0" rIns="0" bIns="0" rtlCol="0" anchor="ctr"/>
          <a:lstStyle/>
          <a:p>
            <a:pPr algn="l" indent="0" marL="0">
              <a:buNone/>
            </a:pPr>
            <a:r>
              <a:rPr lang="en-US" sz="1100" dirty="0">
                <a:solidFill>
                  <a:srgbClr val="1F2A37"/>
                </a:solidFill>
                <a:latin typeface="Calibri" pitchFamily="34" charset="0"/>
                <a:ea typeface="Calibri" pitchFamily="34" charset="-122"/>
                <a:cs typeface="Calibri" pitchFamily="34" charset="-120"/>
              </a:rPr>
              <a:t>Feminine by convention — learn them.</a:t>
            </a:r>
            <a:endParaRPr lang="en-US" sz="1100" dirty="0"/>
          </a:p>
        </p:txBody>
      </p:sp>
      <p:sp>
        <p:nvSpPr>
          <p:cNvPr id="39" name="Shape 36"/>
          <p:cNvSpPr/>
          <p:nvPr/>
        </p:nvSpPr>
        <p:spPr>
          <a:xfrm>
            <a:off x="457200" y="5010912"/>
            <a:ext cx="11274552" cy="1298448"/>
          </a:xfrm>
          <a:prstGeom prst="roundRect">
            <a:avLst>
              <a:gd name="adj" fmla="val 5634"/>
            </a:avLst>
          </a:prstGeom>
          <a:solidFill>
            <a:srgbClr val="FBEAEA"/>
          </a:solidFill>
          <a:ln w="9525">
            <a:solidFill>
              <a:srgbClr val="E3B4AE"/>
            </a:solidFill>
            <a:prstDash val="solid"/>
          </a:ln>
          <a:effectLst>
            <a:outerShdw sx="100000" sy="100000" kx="0" ky="0" algn="bl" rotWithShape="0" blurRad="50800" dist="19050" dir="5400000">
              <a:srgbClr val="000000">
                <a:alpha val="10000"/>
              </a:srgbClr>
            </a:outerShdw>
          </a:effectLst>
        </p:spPr>
      </p:sp>
      <p:sp>
        <p:nvSpPr>
          <p:cNvPr id="40" name="Text 37"/>
          <p:cNvSpPr txBox="1"/>
          <p:nvPr/>
        </p:nvSpPr>
        <p:spPr>
          <a:xfrm>
            <a:off x="685800" y="5102352"/>
            <a:ext cx="2743200" cy="274320"/>
          </a:xfrm>
          <a:prstGeom prst="rect">
            <a:avLst/>
          </a:prstGeom>
          <a:noFill/>
          <a:ln/>
        </p:spPr>
        <p:txBody>
          <a:bodyPr wrap="square" lIns="0" tIns="0" rIns="0" bIns="0" rtlCol="0" anchor="ctr"/>
          <a:lstStyle/>
          <a:p>
            <a:pPr algn="l" indent="0" marL="0">
              <a:buNone/>
            </a:pPr>
            <a:r>
              <a:rPr lang="en-US" sz="1000" b="1" spc="200" kern="0" dirty="0">
                <a:solidFill>
                  <a:srgbClr val="B83227"/>
                </a:solidFill>
                <a:latin typeface="Calibri" pitchFamily="34" charset="0"/>
                <a:ea typeface="Calibri" pitchFamily="34" charset="-122"/>
                <a:cs typeface="Calibri" pitchFamily="34" charset="-120"/>
              </a:rPr>
              <a:t>COMMON ERROR</a:t>
            </a:r>
            <a:endParaRPr lang="en-US" sz="1000" dirty="0"/>
          </a:p>
        </p:txBody>
      </p:sp>
      <p:sp>
        <p:nvSpPr>
          <p:cNvPr id="41" name="Text 38"/>
          <p:cNvSpPr txBox="1"/>
          <p:nvPr/>
        </p:nvSpPr>
        <p:spPr>
          <a:xfrm>
            <a:off x="685800" y="5394960"/>
            <a:ext cx="3291840" cy="822960"/>
          </a:xfrm>
          <a:prstGeom prst="rect">
            <a:avLst/>
          </a:prstGeom>
          <a:noFill/>
          <a:ln/>
        </p:spPr>
        <p:txBody>
          <a:bodyPr wrap="square" lIns="0" tIns="0" rIns="0" bIns="0" rtlCol="0" anchor="t"/>
          <a:lstStyle/>
          <a:p>
            <a:pPr algn="l" indent="0" marL="0">
              <a:buNone/>
            </a:pPr>
            <a:r>
              <a:rPr lang="en-US" sz="1150" dirty="0">
                <a:solidFill>
                  <a:srgbClr val="1F2A37"/>
                </a:solidFill>
                <a:latin typeface="Calibri" pitchFamily="34" charset="0"/>
                <a:ea typeface="Calibri" pitchFamily="34" charset="-122"/>
                <a:cs typeface="Calibri" pitchFamily="34" charset="-120"/>
              </a:rPr>
              <a:t>The ending is a clue, not the complete rule.</a:t>
            </a:r>
            <a:endParaRPr lang="en-US" sz="1150" dirty="0"/>
          </a:p>
        </p:txBody>
      </p:sp>
      <p:sp>
        <p:nvSpPr>
          <p:cNvPr id="42" name="Text 39"/>
          <p:cNvSpPr txBox="1"/>
          <p:nvPr/>
        </p:nvSpPr>
        <p:spPr>
          <a:xfrm>
            <a:off x="9966960" y="5230368"/>
            <a:ext cx="1645920" cy="868680"/>
          </a:xfrm>
          <a:prstGeom prst="rect">
            <a:avLst/>
          </a:prstGeom>
          <a:noFill/>
          <a:ln/>
        </p:spPr>
        <p:txBody>
          <a:bodyPr wrap="square" lIns="0" tIns="0" rIns="0" bIns="0" rtlCol="0" anchor="ctr"/>
          <a:lstStyle/>
          <a:p>
            <a:pPr rtl="1" algn="ctr" indent="0" marL="0">
              <a:buNone/>
            </a:pPr>
            <a:r>
              <a:rPr lang="ar-SA" altLang="en-US" sz="2600" b="1" dirty="0">
                <a:solidFill>
                  <a:srgbClr val="1B3B6F"/>
                </a:solidFill>
                <a:latin typeface="Amiri" pitchFamily="34" charset="0"/>
                <a:ea typeface="Amiri" pitchFamily="34" charset="-122"/>
                <a:cs typeface="Amiri" pitchFamily="34" charset="-120"/>
              </a:rPr>
              <a:t>هَذِهِ شَمْسٌ</a:t>
            </a:r>
            <a:endParaRPr lang="ar-SA" sz="2600" dirty="0"/>
          </a:p>
        </p:txBody>
      </p:sp>
      <p:sp>
        <p:nvSpPr>
          <p:cNvPr id="43" name="Text 40"/>
          <p:cNvSpPr txBox="1"/>
          <p:nvPr/>
        </p:nvSpPr>
        <p:spPr>
          <a:xfrm>
            <a:off x="9601200" y="5230368"/>
            <a:ext cx="365760" cy="868680"/>
          </a:xfrm>
          <a:prstGeom prst="rect">
            <a:avLst/>
          </a:prstGeom>
          <a:noFill/>
          <a:ln/>
        </p:spPr>
        <p:txBody>
          <a:bodyPr wrap="square" lIns="0" tIns="0" rIns="0" bIns="0" rtlCol="0" anchor="ctr"/>
          <a:lstStyle/>
          <a:p>
            <a:pPr algn="ctr" indent="0" marL="0">
              <a:buNone/>
            </a:pPr>
            <a:r>
              <a:rPr lang="en-US" sz="2000" dirty="0">
                <a:solidFill>
                  <a:srgbClr val="5A6472"/>
                </a:solidFill>
                <a:latin typeface="Calibri" pitchFamily="34" charset="0"/>
                <a:ea typeface="Calibri" pitchFamily="34" charset="-122"/>
                <a:cs typeface="Calibri" pitchFamily="34" charset="-120"/>
              </a:rPr>
              <a:t>→</a:t>
            </a:r>
            <a:endParaRPr lang="en-US" sz="2000" dirty="0"/>
          </a:p>
        </p:txBody>
      </p:sp>
      <p:sp>
        <p:nvSpPr>
          <p:cNvPr id="44" name="Text 41"/>
          <p:cNvSpPr txBox="1"/>
          <p:nvPr/>
        </p:nvSpPr>
        <p:spPr>
          <a:xfrm>
            <a:off x="8001000" y="5230368"/>
            <a:ext cx="1645920" cy="868680"/>
          </a:xfrm>
          <a:prstGeom prst="rect">
            <a:avLst/>
          </a:prstGeom>
          <a:noFill/>
          <a:ln/>
        </p:spPr>
        <p:txBody>
          <a:bodyPr wrap="square" lIns="0" tIns="0" rIns="0" bIns="0" rtlCol="0" anchor="ctr"/>
          <a:lstStyle/>
          <a:p>
            <a:pPr rtl="1" algn="ctr" indent="0" marL="0">
              <a:buNone/>
            </a:pPr>
            <a:r>
              <a:rPr lang="ar-SA" altLang="en-US" sz="2600" b="1" dirty="0">
                <a:solidFill>
                  <a:srgbClr val="B83227"/>
                </a:solidFill>
                <a:latin typeface="Amiri" pitchFamily="34" charset="0"/>
                <a:ea typeface="Amiri" pitchFamily="34" charset="-122"/>
                <a:cs typeface="Amiri" pitchFamily="34" charset="-120"/>
              </a:rPr>
              <a:t>هَذَا شَمْسٌ</a:t>
            </a:r>
            <a:endParaRPr lang="ar-SA" sz="2600" dirty="0"/>
          </a:p>
        </p:txBody>
      </p:sp>
      <p:sp>
        <p:nvSpPr>
          <p:cNvPr id="45" name="Shape 42"/>
          <p:cNvSpPr/>
          <p:nvPr/>
        </p:nvSpPr>
        <p:spPr>
          <a:xfrm>
            <a:off x="8138160" y="5669280"/>
            <a:ext cx="1371600" cy="0"/>
          </a:xfrm>
          <a:prstGeom prst="line">
            <a:avLst/>
          </a:prstGeom>
          <a:noFill/>
          <a:ln w="25400">
            <a:solidFill>
              <a:srgbClr val="B83227"/>
            </a:solidFill>
            <a:prstDash val="solid"/>
          </a:ln>
        </p:spPr>
      </p:sp>
      <p:sp>
        <p:nvSpPr>
          <p:cNvPr id="46" name="Text 43"/>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ea typeface="Calibri" pitchFamily="34" charset="-122"/>
                <a:cs typeface="Calibri" pitchFamily="34" charset="-120"/>
              </a:rPr>
              <a:t>9 / 36</a:t>
            </a:r>
            <a:endParaRPr lang="en-US" sz="8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34" charset="0"/>
                <a:ea typeface="Amiri" pitchFamily="34" charset="-122"/>
                <a:cs typeface="Amiri" pitchFamily="34" charset="-120"/>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ea typeface="Cambria" pitchFamily="34" charset="-122"/>
                <a:cs typeface="Cambria" pitchFamily="34" charset="-120"/>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ea typeface="Calibri" pitchFamily="34" charset="-122"/>
                <a:cs typeface="Calibri" pitchFamily="34" charset="-120"/>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ea typeface="Calibri" pitchFamily="34" charset="-122"/>
                <a:cs typeface="Calibri" pitchFamily="34" charset="-120"/>
              </a:rPr>
              <a:t>F2-L05 · Masculine &amp; Feminine</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ea typeface="Calibri" pitchFamily="34" charset="-122"/>
                <a:cs typeface="Calibri" pitchFamily="34" charset="-120"/>
              </a:rPr>
              <a:t>TEACHER INSTRUCTION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ea typeface="Calibri" pitchFamily="34" charset="-122"/>
                <a:cs typeface="Calibri" pitchFamily="34" charset="-120"/>
              </a:rPr>
              <a:t>KEY WORDS · GROUP 3 · ADJECTIVES 1–5 (WEBSITE)</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ea typeface="Cambria" pitchFamily="34" charset="-122"/>
                <a:cs typeface="Cambria" pitchFamily="34" charset="-120"/>
              </a:rPr>
              <a:t>Adjectives: add </a:t>
            </a:r>
            <a:pPr algn="l" indent="0" marL="0">
              <a:buNone/>
            </a:pPr>
            <a:r>
              <a:rPr lang="ar-SA" altLang="en-US" sz="3650" b="1" dirty="0">
                <a:solidFill>
                  <a:srgbClr val="1B3B6F"/>
                </a:solidFill>
                <a:latin typeface="Amiri" pitchFamily="34" charset="0"/>
                <a:ea typeface="Amiri" pitchFamily="34" charset="-122"/>
                <a:cs typeface="Amiri" pitchFamily="34" charset="-120"/>
              </a:rPr>
              <a:t>ة</a:t>
            </a:r>
            <a:pPr algn="l" indent="0" marL="0">
              <a:buNone/>
            </a:pPr>
            <a:r>
              <a:rPr lang="en-US" sz="2800" b="1" dirty="0">
                <a:solidFill>
                  <a:srgbClr val="1B3B6F"/>
                </a:solidFill>
                <a:latin typeface="Cambria" pitchFamily="34" charset="0"/>
                <a:ea typeface="Cambria" pitchFamily="34" charset="-122"/>
                <a:cs typeface="Cambria" pitchFamily="34" charset="-120"/>
              </a:rPr>
              <a:t> for feminine</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34" charset="0"/>
                <a:ea typeface="Amiri" pitchFamily="34" charset="-122"/>
                <a:cs typeface="Amiri" pitchFamily="34" charset="-120"/>
              </a:rPr>
              <a:t>الصِّفَاتُ (١)</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ea typeface="Calibri" pitchFamily="34" charset="-122"/>
                <a:cs typeface="Calibri" pitchFamily="34" charset="-120"/>
              </a:rPr>
              <a:t>Miftah Arabic · Foundation F2 · Greetings &amp; Introductions · Week 2 · Lesson 2 of 3</a:t>
            </a:r>
            <a:endParaRPr lang="en-US" sz="850" dirty="0"/>
          </a:p>
        </p:txBody>
      </p:sp>
      <p:sp>
        <p:nvSpPr>
          <p:cNvPr id="15" name="Shape 12"/>
          <p:cNvSpPr/>
          <p:nvPr/>
        </p:nvSpPr>
        <p:spPr>
          <a:xfrm>
            <a:off x="457200" y="1810512"/>
            <a:ext cx="11274552" cy="384048"/>
          </a:xfrm>
          <a:prstGeom prst="rect">
            <a:avLst/>
          </a:prstGeom>
          <a:solidFill>
            <a:srgbClr val="1B3B6F"/>
          </a:solidFill>
          <a:ln w="12700">
            <a:solidFill>
              <a:srgbClr val="1B3B6F"/>
            </a:solidFill>
            <a:prstDash val="solid"/>
          </a:ln>
        </p:spPr>
      </p:sp>
      <p:sp>
        <p:nvSpPr>
          <p:cNvPr id="16" name="Text 13"/>
          <p:cNvSpPr txBox="1"/>
          <p:nvPr/>
        </p:nvSpPr>
        <p:spPr>
          <a:xfrm>
            <a:off x="9427464" y="1810512"/>
            <a:ext cx="223113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Masculine</a:t>
            </a:r>
            <a:endParaRPr lang="en-US" sz="1100" dirty="0"/>
          </a:p>
        </p:txBody>
      </p:sp>
      <p:sp>
        <p:nvSpPr>
          <p:cNvPr id="17" name="Text 14"/>
          <p:cNvSpPr txBox="1"/>
          <p:nvPr/>
        </p:nvSpPr>
        <p:spPr>
          <a:xfrm>
            <a:off x="6867144" y="1810512"/>
            <a:ext cx="241401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Feminine</a:t>
            </a:r>
            <a:endParaRPr lang="en-US" sz="1100" dirty="0"/>
          </a:p>
        </p:txBody>
      </p:sp>
      <p:sp>
        <p:nvSpPr>
          <p:cNvPr id="18" name="Text 15"/>
          <p:cNvSpPr txBox="1"/>
          <p:nvPr/>
        </p:nvSpPr>
        <p:spPr>
          <a:xfrm>
            <a:off x="4489704" y="1810512"/>
            <a:ext cx="223113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English</a:t>
            </a:r>
            <a:endParaRPr lang="en-US" sz="1100" dirty="0"/>
          </a:p>
        </p:txBody>
      </p:sp>
      <p:sp>
        <p:nvSpPr>
          <p:cNvPr id="19" name="Text 16"/>
          <p:cNvSpPr txBox="1"/>
          <p:nvPr/>
        </p:nvSpPr>
        <p:spPr>
          <a:xfrm>
            <a:off x="530352" y="1810512"/>
            <a:ext cx="381304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Website example</a:t>
            </a:r>
            <a:endParaRPr lang="en-US" sz="1100" dirty="0"/>
          </a:p>
        </p:txBody>
      </p:sp>
      <p:sp>
        <p:nvSpPr>
          <p:cNvPr id="20" name="Shape 17"/>
          <p:cNvSpPr/>
          <p:nvPr/>
        </p:nvSpPr>
        <p:spPr>
          <a:xfrm>
            <a:off x="457200" y="2267712"/>
            <a:ext cx="11274552" cy="731520"/>
          </a:xfrm>
          <a:prstGeom prst="roundRect">
            <a:avLst>
              <a:gd name="adj" fmla="val 6250"/>
            </a:avLst>
          </a:prstGeom>
          <a:solidFill>
            <a:srgbClr val="FFFFFF"/>
          </a:solidFill>
          <a:ln w="9525">
            <a:solidFill>
              <a:srgbClr val="D8D0BF"/>
            </a:solidFill>
            <a:prstDash val="solid"/>
          </a:ln>
        </p:spPr>
      </p:sp>
      <p:sp>
        <p:nvSpPr>
          <p:cNvPr id="21" name="Text 18"/>
          <p:cNvSpPr txBox="1"/>
          <p:nvPr/>
        </p:nvSpPr>
        <p:spPr>
          <a:xfrm>
            <a:off x="9445752" y="2267712"/>
            <a:ext cx="2194560" cy="731520"/>
          </a:xfrm>
          <a:prstGeom prst="rect">
            <a:avLst/>
          </a:prstGeom>
          <a:noFill/>
          <a:ln/>
        </p:spPr>
        <p:txBody>
          <a:bodyPr wrap="square" lIns="0" tIns="0" rIns="0" bIns="0" rtlCol="0" anchor="ctr"/>
          <a:lstStyle/>
          <a:p>
            <a:pPr rtl="1" algn="ctr" indent="0" marL="0">
              <a:buNone/>
            </a:pPr>
            <a:r>
              <a:rPr lang="ar-SA" altLang="en-US" sz="2600" b="1" dirty="0">
                <a:solidFill>
                  <a:srgbClr val="1B3B6F"/>
                </a:solidFill>
                <a:latin typeface="Amiri" pitchFamily="34" charset="0"/>
                <a:ea typeface="Amiri" pitchFamily="34" charset="-122"/>
                <a:cs typeface="Amiri" pitchFamily="34" charset="-120"/>
              </a:rPr>
              <a:t>جَدِيدٌ</a:t>
            </a:r>
            <a:endParaRPr lang="ar-SA" sz="2600" dirty="0"/>
          </a:p>
        </p:txBody>
      </p:sp>
      <p:sp>
        <p:nvSpPr>
          <p:cNvPr id="22" name="Text 19"/>
          <p:cNvSpPr txBox="1"/>
          <p:nvPr/>
        </p:nvSpPr>
        <p:spPr>
          <a:xfrm>
            <a:off x="6885432" y="2267712"/>
            <a:ext cx="2377440" cy="731520"/>
          </a:xfrm>
          <a:prstGeom prst="rect">
            <a:avLst/>
          </a:prstGeom>
          <a:noFill/>
          <a:ln/>
        </p:spPr>
        <p:txBody>
          <a:bodyPr wrap="square" lIns="0" tIns="0" rIns="0" bIns="0" rtlCol="0" anchor="ctr"/>
          <a:lstStyle/>
          <a:p>
            <a:pPr rtl="1" algn="ctr" indent="0" marL="0">
              <a:buNone/>
            </a:pPr>
            <a:r>
              <a:rPr lang="ar-SA" altLang="en-US" sz="2600" b="1" dirty="0">
                <a:solidFill>
                  <a:srgbClr val="1B3B6F"/>
                </a:solidFill>
                <a:latin typeface="Amiri" pitchFamily="34" charset="0"/>
                <a:ea typeface="Amiri" pitchFamily="34" charset="-122"/>
                <a:cs typeface="Amiri" pitchFamily="34" charset="-120"/>
              </a:rPr>
              <a:t>جَدِيدَ</a:t>
            </a:r>
            <a:pPr rtl="1" algn="ctr" indent="0" marL="0">
              <a:buNone/>
            </a:pPr>
            <a:r>
              <a:rPr lang="ar-SA" altLang="en-US" sz="2600" b="1" dirty="0">
                <a:solidFill>
                  <a:srgbClr val="D6336C"/>
                </a:solidFill>
                <a:latin typeface="Amiri" pitchFamily="34" charset="0"/>
                <a:ea typeface="Amiri" pitchFamily="34" charset="-122"/>
                <a:cs typeface="Amiri" pitchFamily="34" charset="-120"/>
              </a:rPr>
              <a:t>ةٌ</a:t>
            </a:r>
            <a:endParaRPr lang="ar-SA" sz="2600" dirty="0"/>
          </a:p>
        </p:txBody>
      </p:sp>
      <p:sp>
        <p:nvSpPr>
          <p:cNvPr id="23" name="Text 20"/>
          <p:cNvSpPr txBox="1"/>
          <p:nvPr/>
        </p:nvSpPr>
        <p:spPr>
          <a:xfrm>
            <a:off x="4526280" y="2267712"/>
            <a:ext cx="219456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ea typeface="Calibri" pitchFamily="34" charset="-122"/>
                <a:cs typeface="Calibri" pitchFamily="34" charset="-120"/>
              </a:rPr>
              <a:t>new</a:t>
            </a:r>
            <a:endParaRPr lang="en-US" sz="1100" dirty="0"/>
          </a:p>
        </p:txBody>
      </p:sp>
      <p:sp>
        <p:nvSpPr>
          <p:cNvPr id="24" name="Text 21"/>
          <p:cNvSpPr txBox="1"/>
          <p:nvPr/>
        </p:nvSpPr>
        <p:spPr>
          <a:xfrm>
            <a:off x="548640" y="2267712"/>
            <a:ext cx="3776472" cy="731520"/>
          </a:xfrm>
          <a:prstGeom prst="rect">
            <a:avLst/>
          </a:prstGeom>
          <a:noFill/>
          <a:ln/>
        </p:spPr>
        <p:txBody>
          <a:bodyPr wrap="square" lIns="0" tIns="0" rIns="0" bIns="0" rtlCol="0" anchor="ctr"/>
          <a:lstStyle/>
          <a:p>
            <a:pPr rtl="1" algn="ctr" indent="0" marL="0">
              <a:buNone/>
            </a:pPr>
            <a:r>
              <a:rPr lang="ar-SA" altLang="en-US" sz="2000" b="1" dirty="0">
                <a:solidFill>
                  <a:srgbClr val="1B3B6F"/>
                </a:solidFill>
                <a:latin typeface="Amiri" pitchFamily="34" charset="0"/>
                <a:ea typeface="Amiri" pitchFamily="34" charset="-122"/>
                <a:cs typeface="Amiri" pitchFamily="34" charset="-120"/>
              </a:rPr>
              <a:t>طَالِبَةٌ جَدِيدَةٌ</a:t>
            </a:r>
            <a:endParaRPr lang="ar-SA" sz="2000" dirty="0"/>
          </a:p>
        </p:txBody>
      </p:sp>
      <p:sp>
        <p:nvSpPr>
          <p:cNvPr id="25" name="Shape 22"/>
          <p:cNvSpPr/>
          <p:nvPr/>
        </p:nvSpPr>
        <p:spPr>
          <a:xfrm>
            <a:off x="11091672" y="2313432"/>
            <a:ext cx="548640" cy="182880"/>
          </a:xfrm>
          <a:prstGeom prst="roundRect">
            <a:avLst>
              <a:gd name="adj" fmla="val 50000"/>
            </a:avLst>
          </a:prstGeom>
          <a:solidFill>
            <a:srgbClr val="2E8B57"/>
          </a:solidFill>
          <a:ln w="12700">
            <a:solidFill>
              <a:srgbClr val="2E8B57"/>
            </a:solidFill>
            <a:prstDash val="solid"/>
          </a:ln>
        </p:spPr>
      </p:sp>
      <p:sp>
        <p:nvSpPr>
          <p:cNvPr id="26" name="Text 23"/>
          <p:cNvSpPr txBox="1"/>
          <p:nvPr/>
        </p:nvSpPr>
        <p:spPr>
          <a:xfrm>
            <a:off x="11091672" y="2313432"/>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ea typeface="Calibri" pitchFamily="34" charset="-122"/>
                <a:cs typeface="Calibri" pitchFamily="34" charset="-120"/>
              </a:rPr>
              <a:t>CORE</a:t>
            </a:r>
            <a:endParaRPr lang="en-US" sz="650" dirty="0"/>
          </a:p>
        </p:txBody>
      </p:sp>
      <p:sp>
        <p:nvSpPr>
          <p:cNvPr id="27" name="Shape 24"/>
          <p:cNvSpPr/>
          <p:nvPr/>
        </p:nvSpPr>
        <p:spPr>
          <a:xfrm>
            <a:off x="457200" y="3054096"/>
            <a:ext cx="11274552" cy="731520"/>
          </a:xfrm>
          <a:prstGeom prst="roundRect">
            <a:avLst>
              <a:gd name="adj" fmla="val 6250"/>
            </a:avLst>
          </a:prstGeom>
          <a:solidFill>
            <a:srgbClr val="F4F1EA"/>
          </a:solidFill>
          <a:ln w="9525">
            <a:solidFill>
              <a:srgbClr val="D8D0BF"/>
            </a:solidFill>
            <a:prstDash val="solid"/>
          </a:ln>
        </p:spPr>
      </p:sp>
      <p:sp>
        <p:nvSpPr>
          <p:cNvPr id="28" name="Text 25"/>
          <p:cNvSpPr txBox="1"/>
          <p:nvPr/>
        </p:nvSpPr>
        <p:spPr>
          <a:xfrm>
            <a:off x="9445752" y="3054096"/>
            <a:ext cx="2194560" cy="731520"/>
          </a:xfrm>
          <a:prstGeom prst="rect">
            <a:avLst/>
          </a:prstGeom>
          <a:noFill/>
          <a:ln/>
        </p:spPr>
        <p:txBody>
          <a:bodyPr wrap="square" lIns="0" tIns="0" rIns="0" bIns="0" rtlCol="0" anchor="ctr"/>
          <a:lstStyle/>
          <a:p>
            <a:pPr rtl="1" algn="ctr" indent="0" marL="0">
              <a:buNone/>
            </a:pPr>
            <a:r>
              <a:rPr lang="ar-SA" altLang="en-US" sz="2600" b="1" dirty="0">
                <a:solidFill>
                  <a:srgbClr val="1B3B6F"/>
                </a:solidFill>
                <a:latin typeface="Amiri" pitchFamily="34" charset="0"/>
                <a:ea typeface="Amiri" pitchFamily="34" charset="-122"/>
                <a:cs typeface="Amiri" pitchFamily="34" charset="-120"/>
              </a:rPr>
              <a:t>قَدِيمٌ</a:t>
            </a:r>
            <a:endParaRPr lang="ar-SA" sz="2600" dirty="0"/>
          </a:p>
        </p:txBody>
      </p:sp>
      <p:sp>
        <p:nvSpPr>
          <p:cNvPr id="29" name="Text 26"/>
          <p:cNvSpPr txBox="1"/>
          <p:nvPr/>
        </p:nvSpPr>
        <p:spPr>
          <a:xfrm>
            <a:off x="6885432" y="3054096"/>
            <a:ext cx="2377440" cy="731520"/>
          </a:xfrm>
          <a:prstGeom prst="rect">
            <a:avLst/>
          </a:prstGeom>
          <a:noFill/>
          <a:ln/>
        </p:spPr>
        <p:txBody>
          <a:bodyPr wrap="square" lIns="0" tIns="0" rIns="0" bIns="0" rtlCol="0" anchor="ctr"/>
          <a:lstStyle/>
          <a:p>
            <a:pPr rtl="1" algn="ctr" indent="0" marL="0">
              <a:buNone/>
            </a:pPr>
            <a:r>
              <a:rPr lang="ar-SA" altLang="en-US" sz="2600" b="1" dirty="0">
                <a:solidFill>
                  <a:srgbClr val="1B3B6F"/>
                </a:solidFill>
                <a:latin typeface="Amiri" pitchFamily="34" charset="0"/>
                <a:ea typeface="Amiri" pitchFamily="34" charset="-122"/>
                <a:cs typeface="Amiri" pitchFamily="34" charset="-120"/>
              </a:rPr>
              <a:t>قَدِيمَ</a:t>
            </a:r>
            <a:pPr rtl="1" algn="ctr" indent="0" marL="0">
              <a:buNone/>
            </a:pPr>
            <a:r>
              <a:rPr lang="ar-SA" altLang="en-US" sz="2600" b="1" dirty="0">
                <a:solidFill>
                  <a:srgbClr val="D6336C"/>
                </a:solidFill>
                <a:latin typeface="Amiri" pitchFamily="34" charset="0"/>
                <a:ea typeface="Amiri" pitchFamily="34" charset="-122"/>
                <a:cs typeface="Amiri" pitchFamily="34" charset="-120"/>
              </a:rPr>
              <a:t>ةٌ</a:t>
            </a:r>
            <a:endParaRPr lang="ar-SA" sz="2600" dirty="0"/>
          </a:p>
        </p:txBody>
      </p:sp>
      <p:sp>
        <p:nvSpPr>
          <p:cNvPr id="30" name="Text 27"/>
          <p:cNvSpPr txBox="1"/>
          <p:nvPr/>
        </p:nvSpPr>
        <p:spPr>
          <a:xfrm>
            <a:off x="4526280" y="3054096"/>
            <a:ext cx="219456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ea typeface="Calibri" pitchFamily="34" charset="-122"/>
                <a:cs typeface="Calibri" pitchFamily="34" charset="-120"/>
              </a:rPr>
              <a:t>old (things)</a:t>
            </a:r>
            <a:endParaRPr lang="en-US" sz="1100" dirty="0"/>
          </a:p>
        </p:txBody>
      </p:sp>
      <p:sp>
        <p:nvSpPr>
          <p:cNvPr id="31" name="Text 28"/>
          <p:cNvSpPr txBox="1"/>
          <p:nvPr/>
        </p:nvSpPr>
        <p:spPr>
          <a:xfrm>
            <a:off x="548640" y="3054096"/>
            <a:ext cx="3776472" cy="731520"/>
          </a:xfrm>
          <a:prstGeom prst="rect">
            <a:avLst/>
          </a:prstGeom>
          <a:noFill/>
          <a:ln/>
        </p:spPr>
        <p:txBody>
          <a:bodyPr wrap="square" lIns="0" tIns="0" rIns="0" bIns="0" rtlCol="0" anchor="ctr"/>
          <a:lstStyle/>
          <a:p>
            <a:pPr rtl="1" algn="ctr" indent="0" marL="0">
              <a:buNone/>
            </a:pPr>
            <a:r>
              <a:rPr lang="ar-SA" altLang="en-US" sz="2000" b="1" dirty="0">
                <a:solidFill>
                  <a:srgbClr val="1B3B6F"/>
                </a:solidFill>
                <a:latin typeface="Amiri" pitchFamily="34" charset="0"/>
                <a:ea typeface="Amiri" pitchFamily="34" charset="-122"/>
                <a:cs typeface="Amiri" pitchFamily="34" charset="-120"/>
              </a:rPr>
              <a:t>كِتَابٌ قَدِيمٌ</a:t>
            </a:r>
            <a:endParaRPr lang="ar-SA" sz="2000" dirty="0"/>
          </a:p>
        </p:txBody>
      </p:sp>
      <p:sp>
        <p:nvSpPr>
          <p:cNvPr id="32" name="Shape 29"/>
          <p:cNvSpPr/>
          <p:nvPr/>
        </p:nvSpPr>
        <p:spPr>
          <a:xfrm>
            <a:off x="11091672" y="3099816"/>
            <a:ext cx="548640" cy="182880"/>
          </a:xfrm>
          <a:prstGeom prst="roundRect">
            <a:avLst>
              <a:gd name="adj" fmla="val 50000"/>
            </a:avLst>
          </a:prstGeom>
          <a:solidFill>
            <a:srgbClr val="2E8B57"/>
          </a:solidFill>
          <a:ln w="12700">
            <a:solidFill>
              <a:srgbClr val="2E8B57"/>
            </a:solidFill>
            <a:prstDash val="solid"/>
          </a:ln>
        </p:spPr>
      </p:sp>
      <p:sp>
        <p:nvSpPr>
          <p:cNvPr id="33" name="Text 30"/>
          <p:cNvSpPr txBox="1"/>
          <p:nvPr/>
        </p:nvSpPr>
        <p:spPr>
          <a:xfrm>
            <a:off x="11091672" y="3099816"/>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ea typeface="Calibri" pitchFamily="34" charset="-122"/>
                <a:cs typeface="Calibri" pitchFamily="34" charset="-120"/>
              </a:rPr>
              <a:t>CORE</a:t>
            </a:r>
            <a:endParaRPr lang="en-US" sz="650" dirty="0"/>
          </a:p>
        </p:txBody>
      </p:sp>
      <p:sp>
        <p:nvSpPr>
          <p:cNvPr id="34" name="Shape 31"/>
          <p:cNvSpPr/>
          <p:nvPr/>
        </p:nvSpPr>
        <p:spPr>
          <a:xfrm>
            <a:off x="457200" y="3840480"/>
            <a:ext cx="11274552" cy="731520"/>
          </a:xfrm>
          <a:prstGeom prst="roundRect">
            <a:avLst>
              <a:gd name="adj" fmla="val 6250"/>
            </a:avLst>
          </a:prstGeom>
          <a:solidFill>
            <a:srgbClr val="FFFFFF"/>
          </a:solidFill>
          <a:ln w="9525">
            <a:solidFill>
              <a:srgbClr val="D8D0BF"/>
            </a:solidFill>
            <a:prstDash val="solid"/>
          </a:ln>
        </p:spPr>
      </p:sp>
      <p:sp>
        <p:nvSpPr>
          <p:cNvPr id="35" name="Text 32"/>
          <p:cNvSpPr txBox="1"/>
          <p:nvPr/>
        </p:nvSpPr>
        <p:spPr>
          <a:xfrm>
            <a:off x="9445752" y="3840480"/>
            <a:ext cx="2194560" cy="731520"/>
          </a:xfrm>
          <a:prstGeom prst="rect">
            <a:avLst/>
          </a:prstGeom>
          <a:noFill/>
          <a:ln/>
        </p:spPr>
        <p:txBody>
          <a:bodyPr wrap="square" lIns="0" tIns="0" rIns="0" bIns="0" rtlCol="0" anchor="ctr"/>
          <a:lstStyle/>
          <a:p>
            <a:pPr rtl="1" algn="ctr" indent="0" marL="0">
              <a:buNone/>
            </a:pPr>
            <a:r>
              <a:rPr lang="ar-SA" altLang="en-US" sz="2600" b="1" dirty="0">
                <a:solidFill>
                  <a:srgbClr val="1B3B6F"/>
                </a:solidFill>
                <a:latin typeface="Amiri" pitchFamily="34" charset="0"/>
                <a:ea typeface="Amiri" pitchFamily="34" charset="-122"/>
                <a:cs typeface="Amiri" pitchFamily="34" charset="-120"/>
              </a:rPr>
              <a:t>كَبِيرٌ</a:t>
            </a:r>
            <a:endParaRPr lang="ar-SA" sz="2600" dirty="0"/>
          </a:p>
        </p:txBody>
      </p:sp>
      <p:sp>
        <p:nvSpPr>
          <p:cNvPr id="36" name="Text 33"/>
          <p:cNvSpPr txBox="1"/>
          <p:nvPr/>
        </p:nvSpPr>
        <p:spPr>
          <a:xfrm>
            <a:off x="6885432" y="3840480"/>
            <a:ext cx="2377440" cy="731520"/>
          </a:xfrm>
          <a:prstGeom prst="rect">
            <a:avLst/>
          </a:prstGeom>
          <a:noFill/>
          <a:ln/>
        </p:spPr>
        <p:txBody>
          <a:bodyPr wrap="square" lIns="0" tIns="0" rIns="0" bIns="0" rtlCol="0" anchor="ctr"/>
          <a:lstStyle/>
          <a:p>
            <a:pPr rtl="1" algn="ctr" indent="0" marL="0">
              <a:buNone/>
            </a:pPr>
            <a:r>
              <a:rPr lang="ar-SA" altLang="en-US" sz="2600" b="1" dirty="0">
                <a:solidFill>
                  <a:srgbClr val="1B3B6F"/>
                </a:solidFill>
                <a:latin typeface="Amiri" pitchFamily="34" charset="0"/>
                <a:ea typeface="Amiri" pitchFamily="34" charset="-122"/>
                <a:cs typeface="Amiri" pitchFamily="34" charset="-120"/>
              </a:rPr>
              <a:t>كَبِيرَ</a:t>
            </a:r>
            <a:pPr rtl="1" algn="ctr" indent="0" marL="0">
              <a:buNone/>
            </a:pPr>
            <a:r>
              <a:rPr lang="ar-SA" altLang="en-US" sz="2600" b="1" dirty="0">
                <a:solidFill>
                  <a:srgbClr val="D6336C"/>
                </a:solidFill>
                <a:latin typeface="Amiri" pitchFamily="34" charset="0"/>
                <a:ea typeface="Amiri" pitchFamily="34" charset="-122"/>
                <a:cs typeface="Amiri" pitchFamily="34" charset="-120"/>
              </a:rPr>
              <a:t>ةٌ</a:t>
            </a:r>
            <a:endParaRPr lang="ar-SA" sz="2600" dirty="0"/>
          </a:p>
        </p:txBody>
      </p:sp>
      <p:sp>
        <p:nvSpPr>
          <p:cNvPr id="37" name="Text 34"/>
          <p:cNvSpPr txBox="1"/>
          <p:nvPr/>
        </p:nvSpPr>
        <p:spPr>
          <a:xfrm>
            <a:off x="4526280" y="3840480"/>
            <a:ext cx="219456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ea typeface="Calibri" pitchFamily="34" charset="-122"/>
                <a:cs typeface="Calibri" pitchFamily="34" charset="-120"/>
              </a:rPr>
              <a:t>big / older</a:t>
            </a:r>
            <a:endParaRPr lang="en-US" sz="1100" dirty="0"/>
          </a:p>
        </p:txBody>
      </p:sp>
      <p:sp>
        <p:nvSpPr>
          <p:cNvPr id="38" name="Text 35"/>
          <p:cNvSpPr txBox="1"/>
          <p:nvPr/>
        </p:nvSpPr>
        <p:spPr>
          <a:xfrm>
            <a:off x="548640" y="3840480"/>
            <a:ext cx="3776472" cy="731520"/>
          </a:xfrm>
          <a:prstGeom prst="rect">
            <a:avLst/>
          </a:prstGeom>
          <a:noFill/>
          <a:ln/>
        </p:spPr>
        <p:txBody>
          <a:bodyPr wrap="square" lIns="0" tIns="0" rIns="0" bIns="0" rtlCol="0" anchor="ctr"/>
          <a:lstStyle/>
          <a:p>
            <a:pPr rtl="1" algn="ctr" indent="0" marL="0">
              <a:buNone/>
            </a:pPr>
            <a:r>
              <a:rPr lang="ar-SA" altLang="en-US" sz="2000" b="1" dirty="0">
                <a:solidFill>
                  <a:srgbClr val="1B3B6F"/>
                </a:solidFill>
                <a:latin typeface="Amiri" pitchFamily="34" charset="0"/>
                <a:ea typeface="Amiri" pitchFamily="34" charset="-122"/>
                <a:cs typeface="Amiri" pitchFamily="34" charset="-120"/>
              </a:rPr>
              <a:t>أَخٌ كَبِيرٌ</a:t>
            </a:r>
            <a:endParaRPr lang="ar-SA" sz="2000" dirty="0"/>
          </a:p>
        </p:txBody>
      </p:sp>
      <p:sp>
        <p:nvSpPr>
          <p:cNvPr id="39" name="Shape 36"/>
          <p:cNvSpPr/>
          <p:nvPr/>
        </p:nvSpPr>
        <p:spPr>
          <a:xfrm>
            <a:off x="11091672" y="3886200"/>
            <a:ext cx="548640" cy="182880"/>
          </a:xfrm>
          <a:prstGeom prst="roundRect">
            <a:avLst>
              <a:gd name="adj" fmla="val 50000"/>
            </a:avLst>
          </a:prstGeom>
          <a:solidFill>
            <a:srgbClr val="2E8B57"/>
          </a:solidFill>
          <a:ln w="12700">
            <a:solidFill>
              <a:srgbClr val="2E8B57"/>
            </a:solidFill>
            <a:prstDash val="solid"/>
          </a:ln>
        </p:spPr>
      </p:sp>
      <p:sp>
        <p:nvSpPr>
          <p:cNvPr id="40" name="Text 37"/>
          <p:cNvSpPr txBox="1"/>
          <p:nvPr/>
        </p:nvSpPr>
        <p:spPr>
          <a:xfrm>
            <a:off x="11091672" y="3886200"/>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ea typeface="Calibri" pitchFamily="34" charset="-122"/>
                <a:cs typeface="Calibri" pitchFamily="34" charset="-120"/>
              </a:rPr>
              <a:t>CORE</a:t>
            </a:r>
            <a:endParaRPr lang="en-US" sz="650" dirty="0"/>
          </a:p>
        </p:txBody>
      </p:sp>
      <p:sp>
        <p:nvSpPr>
          <p:cNvPr id="41" name="Shape 38"/>
          <p:cNvSpPr/>
          <p:nvPr/>
        </p:nvSpPr>
        <p:spPr>
          <a:xfrm>
            <a:off x="457200" y="4626864"/>
            <a:ext cx="11274552" cy="731520"/>
          </a:xfrm>
          <a:prstGeom prst="roundRect">
            <a:avLst>
              <a:gd name="adj" fmla="val 6250"/>
            </a:avLst>
          </a:prstGeom>
          <a:solidFill>
            <a:srgbClr val="F4F1EA"/>
          </a:solidFill>
          <a:ln w="9525">
            <a:solidFill>
              <a:srgbClr val="D8D0BF"/>
            </a:solidFill>
            <a:prstDash val="solid"/>
          </a:ln>
        </p:spPr>
      </p:sp>
      <p:sp>
        <p:nvSpPr>
          <p:cNvPr id="42" name="Text 39"/>
          <p:cNvSpPr txBox="1"/>
          <p:nvPr/>
        </p:nvSpPr>
        <p:spPr>
          <a:xfrm>
            <a:off x="9445752" y="4626864"/>
            <a:ext cx="2194560" cy="731520"/>
          </a:xfrm>
          <a:prstGeom prst="rect">
            <a:avLst/>
          </a:prstGeom>
          <a:noFill/>
          <a:ln/>
        </p:spPr>
        <p:txBody>
          <a:bodyPr wrap="square" lIns="0" tIns="0" rIns="0" bIns="0" rtlCol="0" anchor="ctr"/>
          <a:lstStyle/>
          <a:p>
            <a:pPr rtl="1" algn="ctr" indent="0" marL="0">
              <a:buNone/>
            </a:pPr>
            <a:r>
              <a:rPr lang="ar-SA" altLang="en-US" sz="2600" b="1" dirty="0">
                <a:solidFill>
                  <a:srgbClr val="1B3B6F"/>
                </a:solidFill>
                <a:latin typeface="Amiri" pitchFamily="34" charset="0"/>
                <a:ea typeface="Amiri" pitchFamily="34" charset="-122"/>
                <a:cs typeface="Amiri" pitchFamily="34" charset="-120"/>
              </a:rPr>
              <a:t>صَغِيرٌ</a:t>
            </a:r>
            <a:endParaRPr lang="ar-SA" sz="2600" dirty="0"/>
          </a:p>
        </p:txBody>
      </p:sp>
      <p:sp>
        <p:nvSpPr>
          <p:cNvPr id="43" name="Text 40"/>
          <p:cNvSpPr txBox="1"/>
          <p:nvPr/>
        </p:nvSpPr>
        <p:spPr>
          <a:xfrm>
            <a:off x="6885432" y="4626864"/>
            <a:ext cx="2377440" cy="731520"/>
          </a:xfrm>
          <a:prstGeom prst="rect">
            <a:avLst/>
          </a:prstGeom>
          <a:noFill/>
          <a:ln/>
        </p:spPr>
        <p:txBody>
          <a:bodyPr wrap="square" lIns="0" tIns="0" rIns="0" bIns="0" rtlCol="0" anchor="ctr"/>
          <a:lstStyle/>
          <a:p>
            <a:pPr rtl="1" algn="ctr" indent="0" marL="0">
              <a:buNone/>
            </a:pPr>
            <a:r>
              <a:rPr lang="ar-SA" altLang="en-US" sz="2600" b="1" dirty="0">
                <a:solidFill>
                  <a:srgbClr val="1B3B6F"/>
                </a:solidFill>
                <a:latin typeface="Amiri" pitchFamily="34" charset="0"/>
                <a:ea typeface="Amiri" pitchFamily="34" charset="-122"/>
                <a:cs typeface="Amiri" pitchFamily="34" charset="-120"/>
              </a:rPr>
              <a:t>صَغِيرَ</a:t>
            </a:r>
            <a:pPr rtl="1" algn="ctr" indent="0" marL="0">
              <a:buNone/>
            </a:pPr>
            <a:r>
              <a:rPr lang="ar-SA" altLang="en-US" sz="2600" b="1" dirty="0">
                <a:solidFill>
                  <a:srgbClr val="D6336C"/>
                </a:solidFill>
                <a:latin typeface="Amiri" pitchFamily="34" charset="0"/>
                <a:ea typeface="Amiri" pitchFamily="34" charset="-122"/>
                <a:cs typeface="Amiri" pitchFamily="34" charset="-120"/>
              </a:rPr>
              <a:t>ةٌ</a:t>
            </a:r>
            <a:endParaRPr lang="ar-SA" sz="2600" dirty="0"/>
          </a:p>
        </p:txBody>
      </p:sp>
      <p:sp>
        <p:nvSpPr>
          <p:cNvPr id="44" name="Text 41"/>
          <p:cNvSpPr txBox="1"/>
          <p:nvPr/>
        </p:nvSpPr>
        <p:spPr>
          <a:xfrm>
            <a:off x="4526280" y="4626864"/>
            <a:ext cx="219456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ea typeface="Calibri" pitchFamily="34" charset="-122"/>
                <a:cs typeface="Calibri" pitchFamily="34" charset="-120"/>
              </a:rPr>
              <a:t>small / young</a:t>
            </a:r>
            <a:endParaRPr lang="en-US" sz="1100" dirty="0"/>
          </a:p>
        </p:txBody>
      </p:sp>
      <p:sp>
        <p:nvSpPr>
          <p:cNvPr id="45" name="Text 42"/>
          <p:cNvSpPr txBox="1"/>
          <p:nvPr/>
        </p:nvSpPr>
        <p:spPr>
          <a:xfrm>
            <a:off x="548640" y="4626864"/>
            <a:ext cx="3776472" cy="731520"/>
          </a:xfrm>
          <a:prstGeom prst="rect">
            <a:avLst/>
          </a:prstGeom>
          <a:noFill/>
          <a:ln/>
        </p:spPr>
        <p:txBody>
          <a:bodyPr wrap="square" lIns="0" tIns="0" rIns="0" bIns="0" rtlCol="0" anchor="ctr"/>
          <a:lstStyle/>
          <a:p>
            <a:pPr rtl="1" algn="ctr" indent="0" marL="0">
              <a:buNone/>
            </a:pPr>
            <a:r>
              <a:rPr lang="ar-SA" altLang="en-US" sz="2000" b="1" dirty="0">
                <a:solidFill>
                  <a:srgbClr val="1B3B6F"/>
                </a:solidFill>
                <a:latin typeface="Amiri" pitchFamily="34" charset="0"/>
                <a:ea typeface="Amiri" pitchFamily="34" charset="-122"/>
                <a:cs typeface="Amiri" pitchFamily="34" charset="-120"/>
              </a:rPr>
              <a:t>طِفْلَةٌ صَغِيرَةٌ</a:t>
            </a:r>
            <a:endParaRPr lang="ar-SA" sz="2000" dirty="0"/>
          </a:p>
        </p:txBody>
      </p:sp>
      <p:sp>
        <p:nvSpPr>
          <p:cNvPr id="46" name="Shape 43"/>
          <p:cNvSpPr/>
          <p:nvPr/>
        </p:nvSpPr>
        <p:spPr>
          <a:xfrm>
            <a:off x="457200" y="5413248"/>
            <a:ext cx="11274552" cy="731520"/>
          </a:xfrm>
          <a:prstGeom prst="roundRect">
            <a:avLst>
              <a:gd name="adj" fmla="val 6250"/>
            </a:avLst>
          </a:prstGeom>
          <a:solidFill>
            <a:srgbClr val="FFFFFF"/>
          </a:solidFill>
          <a:ln w="9525">
            <a:solidFill>
              <a:srgbClr val="D8D0BF"/>
            </a:solidFill>
            <a:prstDash val="solid"/>
          </a:ln>
        </p:spPr>
      </p:sp>
      <p:sp>
        <p:nvSpPr>
          <p:cNvPr id="47" name="Text 44"/>
          <p:cNvSpPr txBox="1"/>
          <p:nvPr/>
        </p:nvSpPr>
        <p:spPr>
          <a:xfrm>
            <a:off x="9445752" y="5413248"/>
            <a:ext cx="2194560" cy="731520"/>
          </a:xfrm>
          <a:prstGeom prst="rect">
            <a:avLst/>
          </a:prstGeom>
          <a:noFill/>
          <a:ln/>
        </p:spPr>
        <p:txBody>
          <a:bodyPr wrap="square" lIns="0" tIns="0" rIns="0" bIns="0" rtlCol="0" anchor="ctr"/>
          <a:lstStyle/>
          <a:p>
            <a:pPr rtl="1" algn="ctr" indent="0" marL="0">
              <a:buNone/>
            </a:pPr>
            <a:r>
              <a:rPr lang="ar-SA" altLang="en-US" sz="2600" b="1" dirty="0">
                <a:solidFill>
                  <a:srgbClr val="1B3B6F"/>
                </a:solidFill>
                <a:latin typeface="Amiri" pitchFamily="34" charset="0"/>
                <a:ea typeface="Amiri" pitchFamily="34" charset="-122"/>
                <a:cs typeface="Amiri" pitchFamily="34" charset="-120"/>
              </a:rPr>
              <a:t>جَمِيلٌ</a:t>
            </a:r>
            <a:endParaRPr lang="ar-SA" sz="2600" dirty="0"/>
          </a:p>
        </p:txBody>
      </p:sp>
      <p:sp>
        <p:nvSpPr>
          <p:cNvPr id="48" name="Text 45"/>
          <p:cNvSpPr txBox="1"/>
          <p:nvPr/>
        </p:nvSpPr>
        <p:spPr>
          <a:xfrm>
            <a:off x="6885432" y="5413248"/>
            <a:ext cx="2377440" cy="731520"/>
          </a:xfrm>
          <a:prstGeom prst="rect">
            <a:avLst/>
          </a:prstGeom>
          <a:noFill/>
          <a:ln/>
        </p:spPr>
        <p:txBody>
          <a:bodyPr wrap="square" lIns="0" tIns="0" rIns="0" bIns="0" rtlCol="0" anchor="ctr"/>
          <a:lstStyle/>
          <a:p>
            <a:pPr rtl="1" algn="ctr" indent="0" marL="0">
              <a:buNone/>
            </a:pPr>
            <a:r>
              <a:rPr lang="ar-SA" altLang="en-US" sz="2600" b="1" dirty="0">
                <a:solidFill>
                  <a:srgbClr val="1B3B6F"/>
                </a:solidFill>
                <a:latin typeface="Amiri" pitchFamily="34" charset="0"/>
                <a:ea typeface="Amiri" pitchFamily="34" charset="-122"/>
                <a:cs typeface="Amiri" pitchFamily="34" charset="-120"/>
              </a:rPr>
              <a:t>جَمِيلَ</a:t>
            </a:r>
            <a:pPr rtl="1" algn="ctr" indent="0" marL="0">
              <a:buNone/>
            </a:pPr>
            <a:r>
              <a:rPr lang="ar-SA" altLang="en-US" sz="2600" b="1" dirty="0">
                <a:solidFill>
                  <a:srgbClr val="D6336C"/>
                </a:solidFill>
                <a:latin typeface="Amiri" pitchFamily="34" charset="0"/>
                <a:ea typeface="Amiri" pitchFamily="34" charset="-122"/>
                <a:cs typeface="Amiri" pitchFamily="34" charset="-120"/>
              </a:rPr>
              <a:t>ةٌ</a:t>
            </a:r>
            <a:endParaRPr lang="ar-SA" sz="2600" dirty="0"/>
          </a:p>
        </p:txBody>
      </p:sp>
      <p:sp>
        <p:nvSpPr>
          <p:cNvPr id="49" name="Text 46"/>
          <p:cNvSpPr txBox="1"/>
          <p:nvPr/>
        </p:nvSpPr>
        <p:spPr>
          <a:xfrm>
            <a:off x="4526280" y="5413248"/>
            <a:ext cx="219456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ea typeface="Calibri" pitchFamily="34" charset="-122"/>
                <a:cs typeface="Calibri" pitchFamily="34" charset="-120"/>
              </a:rPr>
              <a:t>beautiful</a:t>
            </a:r>
            <a:endParaRPr lang="en-US" sz="1100" dirty="0"/>
          </a:p>
        </p:txBody>
      </p:sp>
      <p:sp>
        <p:nvSpPr>
          <p:cNvPr id="50" name="Text 47"/>
          <p:cNvSpPr txBox="1"/>
          <p:nvPr/>
        </p:nvSpPr>
        <p:spPr>
          <a:xfrm>
            <a:off x="548640" y="5413248"/>
            <a:ext cx="3776472" cy="731520"/>
          </a:xfrm>
          <a:prstGeom prst="rect">
            <a:avLst/>
          </a:prstGeom>
          <a:noFill/>
          <a:ln/>
        </p:spPr>
        <p:txBody>
          <a:bodyPr wrap="square" lIns="0" tIns="0" rIns="0" bIns="0" rtlCol="0" anchor="ctr"/>
          <a:lstStyle/>
          <a:p>
            <a:pPr rtl="1" algn="ctr" indent="0" marL="0">
              <a:buNone/>
            </a:pPr>
            <a:r>
              <a:rPr lang="ar-SA" altLang="en-US" sz="2000" b="1" dirty="0">
                <a:solidFill>
                  <a:srgbClr val="1B3B6F"/>
                </a:solidFill>
                <a:latin typeface="Amiri" pitchFamily="34" charset="0"/>
                <a:ea typeface="Amiri" pitchFamily="34" charset="-122"/>
                <a:cs typeface="Amiri" pitchFamily="34" charset="-120"/>
              </a:rPr>
              <a:t>حَقِيبَةٌ جَمِيلَةٌ</a:t>
            </a:r>
            <a:endParaRPr lang="ar-SA" sz="2000" dirty="0"/>
          </a:p>
        </p:txBody>
      </p:sp>
      <p:sp>
        <p:nvSpPr>
          <p:cNvPr id="51" name="Text 48"/>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ea typeface="Calibri" pitchFamily="34" charset="-122"/>
                <a:cs typeface="Calibri" pitchFamily="34" charset="-120"/>
              </a:rPr>
              <a:t>10 / 36</a:t>
            </a:r>
            <a:endParaRPr lang="en-US" sz="8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34" charset="0"/>
                <a:ea typeface="Amiri" pitchFamily="34" charset="-122"/>
                <a:cs typeface="Amiri" pitchFamily="34" charset="-120"/>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ea typeface="Cambria" pitchFamily="34" charset="-122"/>
                <a:cs typeface="Cambria" pitchFamily="34" charset="-120"/>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ea typeface="Calibri" pitchFamily="34" charset="-122"/>
                <a:cs typeface="Calibri" pitchFamily="34" charset="-120"/>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ea typeface="Calibri" pitchFamily="34" charset="-122"/>
                <a:cs typeface="Calibri" pitchFamily="34" charset="-120"/>
              </a:rPr>
              <a:t>F2-L05 · Masculine &amp; Feminine</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ea typeface="Calibri" pitchFamily="34" charset="-122"/>
                <a:cs typeface="Calibri" pitchFamily="34" charset="-120"/>
              </a:rPr>
              <a:t>TEACHER INSTRUCTION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ea typeface="Calibri" pitchFamily="34" charset="-122"/>
                <a:cs typeface="Calibri" pitchFamily="34" charset="-120"/>
              </a:rPr>
              <a:t>KEY WORDS · GROUP 3 · ADJECTIVES 6–10 (WEBSITE)</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ea typeface="Cambria" pitchFamily="34" charset="-122"/>
                <a:cs typeface="Cambria" pitchFamily="34" charset="-120"/>
              </a:rPr>
              <a:t>Five more matching pairs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34" charset="0"/>
                <a:ea typeface="Amiri" pitchFamily="34" charset="-122"/>
                <a:cs typeface="Amiri" pitchFamily="34" charset="-120"/>
              </a:rPr>
              <a:t>الصِّفَاتُ (٢)</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ea typeface="Calibri" pitchFamily="34" charset="-122"/>
                <a:cs typeface="Calibri" pitchFamily="34" charset="-120"/>
              </a:rPr>
              <a:t>Miftah Arabic · Foundation F2 · Greetings &amp; Introductions · Week 2 · Lesson 2 of 3</a:t>
            </a:r>
            <a:endParaRPr lang="en-US" sz="850" dirty="0"/>
          </a:p>
        </p:txBody>
      </p:sp>
      <p:sp>
        <p:nvSpPr>
          <p:cNvPr id="15" name="Shape 12"/>
          <p:cNvSpPr/>
          <p:nvPr/>
        </p:nvSpPr>
        <p:spPr>
          <a:xfrm>
            <a:off x="457200" y="1810512"/>
            <a:ext cx="11274552" cy="384048"/>
          </a:xfrm>
          <a:prstGeom prst="rect">
            <a:avLst/>
          </a:prstGeom>
          <a:solidFill>
            <a:srgbClr val="1B3B6F"/>
          </a:solidFill>
          <a:ln w="12700">
            <a:solidFill>
              <a:srgbClr val="1B3B6F"/>
            </a:solidFill>
            <a:prstDash val="solid"/>
          </a:ln>
        </p:spPr>
      </p:sp>
      <p:sp>
        <p:nvSpPr>
          <p:cNvPr id="16" name="Text 13"/>
          <p:cNvSpPr txBox="1"/>
          <p:nvPr/>
        </p:nvSpPr>
        <p:spPr>
          <a:xfrm>
            <a:off x="9427464" y="1810512"/>
            <a:ext cx="223113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Masculine</a:t>
            </a:r>
            <a:endParaRPr lang="en-US" sz="1100" dirty="0"/>
          </a:p>
        </p:txBody>
      </p:sp>
      <p:sp>
        <p:nvSpPr>
          <p:cNvPr id="17" name="Text 14"/>
          <p:cNvSpPr txBox="1"/>
          <p:nvPr/>
        </p:nvSpPr>
        <p:spPr>
          <a:xfrm>
            <a:off x="6867144" y="1810512"/>
            <a:ext cx="241401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Feminine</a:t>
            </a:r>
            <a:endParaRPr lang="en-US" sz="1100" dirty="0"/>
          </a:p>
        </p:txBody>
      </p:sp>
      <p:sp>
        <p:nvSpPr>
          <p:cNvPr id="18" name="Text 15"/>
          <p:cNvSpPr txBox="1"/>
          <p:nvPr/>
        </p:nvSpPr>
        <p:spPr>
          <a:xfrm>
            <a:off x="4489704" y="1810512"/>
            <a:ext cx="223113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English</a:t>
            </a:r>
            <a:endParaRPr lang="en-US" sz="1100" dirty="0"/>
          </a:p>
        </p:txBody>
      </p:sp>
      <p:sp>
        <p:nvSpPr>
          <p:cNvPr id="19" name="Text 16"/>
          <p:cNvSpPr txBox="1"/>
          <p:nvPr/>
        </p:nvSpPr>
        <p:spPr>
          <a:xfrm>
            <a:off x="530352" y="1810512"/>
            <a:ext cx="381304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Website example</a:t>
            </a:r>
            <a:endParaRPr lang="en-US" sz="1100" dirty="0"/>
          </a:p>
        </p:txBody>
      </p:sp>
      <p:sp>
        <p:nvSpPr>
          <p:cNvPr id="20" name="Shape 17"/>
          <p:cNvSpPr/>
          <p:nvPr/>
        </p:nvSpPr>
        <p:spPr>
          <a:xfrm>
            <a:off x="457200" y="2267712"/>
            <a:ext cx="11274552" cy="731520"/>
          </a:xfrm>
          <a:prstGeom prst="roundRect">
            <a:avLst>
              <a:gd name="adj" fmla="val 6250"/>
            </a:avLst>
          </a:prstGeom>
          <a:solidFill>
            <a:srgbClr val="FFFFFF"/>
          </a:solidFill>
          <a:ln w="9525">
            <a:solidFill>
              <a:srgbClr val="D8D0BF"/>
            </a:solidFill>
            <a:prstDash val="solid"/>
          </a:ln>
        </p:spPr>
      </p:sp>
      <p:sp>
        <p:nvSpPr>
          <p:cNvPr id="21" name="Text 18"/>
          <p:cNvSpPr txBox="1"/>
          <p:nvPr/>
        </p:nvSpPr>
        <p:spPr>
          <a:xfrm>
            <a:off x="9445752" y="2267712"/>
            <a:ext cx="2194560" cy="731520"/>
          </a:xfrm>
          <a:prstGeom prst="rect">
            <a:avLst/>
          </a:prstGeom>
          <a:noFill/>
          <a:ln/>
        </p:spPr>
        <p:txBody>
          <a:bodyPr wrap="square" lIns="0" tIns="0" rIns="0" bIns="0" rtlCol="0" anchor="ctr"/>
          <a:lstStyle/>
          <a:p>
            <a:pPr rtl="1" algn="ctr" indent="0" marL="0">
              <a:buNone/>
            </a:pPr>
            <a:r>
              <a:rPr lang="ar-SA" altLang="en-US" sz="2600" b="1" dirty="0">
                <a:solidFill>
                  <a:srgbClr val="1B3B6F"/>
                </a:solidFill>
                <a:latin typeface="Amiri" pitchFamily="34" charset="0"/>
                <a:ea typeface="Amiri" pitchFamily="34" charset="-122"/>
                <a:cs typeface="Amiri" pitchFamily="34" charset="-120"/>
              </a:rPr>
              <a:t>ذَكِيٌّ</a:t>
            </a:r>
            <a:endParaRPr lang="ar-SA" sz="2600" dirty="0"/>
          </a:p>
        </p:txBody>
      </p:sp>
      <p:sp>
        <p:nvSpPr>
          <p:cNvPr id="22" name="Text 19"/>
          <p:cNvSpPr txBox="1"/>
          <p:nvPr/>
        </p:nvSpPr>
        <p:spPr>
          <a:xfrm>
            <a:off x="6885432" y="2267712"/>
            <a:ext cx="2377440" cy="731520"/>
          </a:xfrm>
          <a:prstGeom prst="rect">
            <a:avLst/>
          </a:prstGeom>
          <a:noFill/>
          <a:ln/>
        </p:spPr>
        <p:txBody>
          <a:bodyPr wrap="square" lIns="0" tIns="0" rIns="0" bIns="0" rtlCol="0" anchor="ctr"/>
          <a:lstStyle/>
          <a:p>
            <a:pPr rtl="1" algn="ctr" indent="0" marL="0">
              <a:buNone/>
            </a:pPr>
            <a:r>
              <a:rPr lang="ar-SA" altLang="en-US" sz="2600" b="1" dirty="0">
                <a:solidFill>
                  <a:srgbClr val="1B3B6F"/>
                </a:solidFill>
                <a:latin typeface="Amiri" pitchFamily="34" charset="0"/>
                <a:ea typeface="Amiri" pitchFamily="34" charset="-122"/>
                <a:cs typeface="Amiri" pitchFamily="34" charset="-120"/>
              </a:rPr>
              <a:t>ذَكِيَّ</a:t>
            </a:r>
            <a:pPr rtl="1" algn="ctr" indent="0" marL="0">
              <a:buNone/>
            </a:pPr>
            <a:r>
              <a:rPr lang="ar-SA" altLang="en-US" sz="2600" b="1" dirty="0">
                <a:solidFill>
                  <a:srgbClr val="D6336C"/>
                </a:solidFill>
                <a:latin typeface="Amiri" pitchFamily="34" charset="0"/>
                <a:ea typeface="Amiri" pitchFamily="34" charset="-122"/>
                <a:cs typeface="Amiri" pitchFamily="34" charset="-120"/>
              </a:rPr>
              <a:t>ةٌ</a:t>
            </a:r>
            <a:endParaRPr lang="ar-SA" sz="2600" dirty="0"/>
          </a:p>
        </p:txBody>
      </p:sp>
      <p:sp>
        <p:nvSpPr>
          <p:cNvPr id="23" name="Text 20"/>
          <p:cNvSpPr txBox="1"/>
          <p:nvPr/>
        </p:nvSpPr>
        <p:spPr>
          <a:xfrm>
            <a:off x="4526280" y="2267712"/>
            <a:ext cx="219456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ea typeface="Calibri" pitchFamily="34" charset="-122"/>
                <a:cs typeface="Calibri" pitchFamily="34" charset="-120"/>
              </a:rPr>
              <a:t>clever</a:t>
            </a:r>
            <a:endParaRPr lang="en-US" sz="1100" dirty="0"/>
          </a:p>
        </p:txBody>
      </p:sp>
      <p:sp>
        <p:nvSpPr>
          <p:cNvPr id="24" name="Text 21"/>
          <p:cNvSpPr txBox="1"/>
          <p:nvPr/>
        </p:nvSpPr>
        <p:spPr>
          <a:xfrm>
            <a:off x="548640" y="2267712"/>
            <a:ext cx="3776472" cy="731520"/>
          </a:xfrm>
          <a:prstGeom prst="rect">
            <a:avLst/>
          </a:prstGeom>
          <a:noFill/>
          <a:ln/>
        </p:spPr>
        <p:txBody>
          <a:bodyPr wrap="square" lIns="0" tIns="0" rIns="0" bIns="0" rtlCol="0" anchor="ctr"/>
          <a:lstStyle/>
          <a:p>
            <a:pPr rtl="1" algn="ctr" indent="0" marL="0">
              <a:buNone/>
            </a:pPr>
            <a:r>
              <a:rPr lang="ar-SA" altLang="en-US" sz="2000" b="1" dirty="0">
                <a:solidFill>
                  <a:srgbClr val="1B3B6F"/>
                </a:solidFill>
                <a:latin typeface="Amiri" pitchFamily="34" charset="0"/>
                <a:ea typeface="Amiri" pitchFamily="34" charset="-122"/>
                <a:cs typeface="Amiri" pitchFamily="34" charset="-120"/>
              </a:rPr>
              <a:t>هِيَ ذَكِيَّةٌ</a:t>
            </a:r>
            <a:endParaRPr lang="ar-SA" sz="2000" dirty="0"/>
          </a:p>
        </p:txBody>
      </p:sp>
      <p:sp>
        <p:nvSpPr>
          <p:cNvPr id="25" name="Shape 22"/>
          <p:cNvSpPr/>
          <p:nvPr/>
        </p:nvSpPr>
        <p:spPr>
          <a:xfrm>
            <a:off x="11091672" y="2313432"/>
            <a:ext cx="548640" cy="182880"/>
          </a:xfrm>
          <a:prstGeom prst="roundRect">
            <a:avLst>
              <a:gd name="adj" fmla="val 50000"/>
            </a:avLst>
          </a:prstGeom>
          <a:solidFill>
            <a:srgbClr val="2E8B57"/>
          </a:solidFill>
          <a:ln w="12700">
            <a:solidFill>
              <a:srgbClr val="2E8B57"/>
            </a:solidFill>
            <a:prstDash val="solid"/>
          </a:ln>
        </p:spPr>
      </p:sp>
      <p:sp>
        <p:nvSpPr>
          <p:cNvPr id="26" name="Text 23"/>
          <p:cNvSpPr txBox="1"/>
          <p:nvPr/>
        </p:nvSpPr>
        <p:spPr>
          <a:xfrm>
            <a:off x="11091672" y="2313432"/>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ea typeface="Calibri" pitchFamily="34" charset="-122"/>
                <a:cs typeface="Calibri" pitchFamily="34" charset="-120"/>
              </a:rPr>
              <a:t>CORE</a:t>
            </a:r>
            <a:endParaRPr lang="en-US" sz="650" dirty="0"/>
          </a:p>
        </p:txBody>
      </p:sp>
      <p:sp>
        <p:nvSpPr>
          <p:cNvPr id="27" name="Shape 24"/>
          <p:cNvSpPr/>
          <p:nvPr/>
        </p:nvSpPr>
        <p:spPr>
          <a:xfrm>
            <a:off x="457200" y="3054096"/>
            <a:ext cx="11274552" cy="731520"/>
          </a:xfrm>
          <a:prstGeom prst="roundRect">
            <a:avLst>
              <a:gd name="adj" fmla="val 6250"/>
            </a:avLst>
          </a:prstGeom>
          <a:solidFill>
            <a:srgbClr val="F4F1EA"/>
          </a:solidFill>
          <a:ln w="9525">
            <a:solidFill>
              <a:srgbClr val="D8D0BF"/>
            </a:solidFill>
            <a:prstDash val="solid"/>
          </a:ln>
        </p:spPr>
      </p:sp>
      <p:sp>
        <p:nvSpPr>
          <p:cNvPr id="28" name="Text 25"/>
          <p:cNvSpPr txBox="1"/>
          <p:nvPr/>
        </p:nvSpPr>
        <p:spPr>
          <a:xfrm>
            <a:off x="9445752" y="3054096"/>
            <a:ext cx="2194560" cy="731520"/>
          </a:xfrm>
          <a:prstGeom prst="rect">
            <a:avLst/>
          </a:prstGeom>
          <a:noFill/>
          <a:ln/>
        </p:spPr>
        <p:txBody>
          <a:bodyPr wrap="square" lIns="0" tIns="0" rIns="0" bIns="0" rtlCol="0" anchor="ctr"/>
          <a:lstStyle/>
          <a:p>
            <a:pPr rtl="1" algn="ctr" indent="0" marL="0">
              <a:buNone/>
            </a:pPr>
            <a:r>
              <a:rPr lang="ar-SA" altLang="en-US" sz="2600" b="1" dirty="0">
                <a:solidFill>
                  <a:srgbClr val="1B3B6F"/>
                </a:solidFill>
                <a:latin typeface="Amiri" pitchFamily="34" charset="0"/>
                <a:ea typeface="Amiri" pitchFamily="34" charset="-122"/>
                <a:cs typeface="Amiri" pitchFamily="34" charset="-120"/>
              </a:rPr>
              <a:t>لَطِيفٌ</a:t>
            </a:r>
            <a:endParaRPr lang="ar-SA" sz="2600" dirty="0"/>
          </a:p>
        </p:txBody>
      </p:sp>
      <p:sp>
        <p:nvSpPr>
          <p:cNvPr id="29" name="Text 26"/>
          <p:cNvSpPr txBox="1"/>
          <p:nvPr/>
        </p:nvSpPr>
        <p:spPr>
          <a:xfrm>
            <a:off x="6885432" y="3054096"/>
            <a:ext cx="2377440" cy="731520"/>
          </a:xfrm>
          <a:prstGeom prst="rect">
            <a:avLst/>
          </a:prstGeom>
          <a:noFill/>
          <a:ln/>
        </p:spPr>
        <p:txBody>
          <a:bodyPr wrap="square" lIns="0" tIns="0" rIns="0" bIns="0" rtlCol="0" anchor="ctr"/>
          <a:lstStyle/>
          <a:p>
            <a:pPr rtl="1" algn="ctr" indent="0" marL="0">
              <a:buNone/>
            </a:pPr>
            <a:r>
              <a:rPr lang="ar-SA" altLang="en-US" sz="2600" b="1" dirty="0">
                <a:solidFill>
                  <a:srgbClr val="1B3B6F"/>
                </a:solidFill>
                <a:latin typeface="Amiri" pitchFamily="34" charset="0"/>
                <a:ea typeface="Amiri" pitchFamily="34" charset="-122"/>
                <a:cs typeface="Amiri" pitchFamily="34" charset="-120"/>
              </a:rPr>
              <a:t>لَطِيفَ</a:t>
            </a:r>
            <a:pPr rtl="1" algn="ctr" indent="0" marL="0">
              <a:buNone/>
            </a:pPr>
            <a:r>
              <a:rPr lang="ar-SA" altLang="en-US" sz="2600" b="1" dirty="0">
                <a:solidFill>
                  <a:srgbClr val="D6336C"/>
                </a:solidFill>
                <a:latin typeface="Amiri" pitchFamily="34" charset="0"/>
                <a:ea typeface="Amiri" pitchFamily="34" charset="-122"/>
                <a:cs typeface="Amiri" pitchFamily="34" charset="-120"/>
              </a:rPr>
              <a:t>ةٌ</a:t>
            </a:r>
            <a:endParaRPr lang="ar-SA" sz="2600" dirty="0"/>
          </a:p>
        </p:txBody>
      </p:sp>
      <p:sp>
        <p:nvSpPr>
          <p:cNvPr id="30" name="Text 27"/>
          <p:cNvSpPr txBox="1"/>
          <p:nvPr/>
        </p:nvSpPr>
        <p:spPr>
          <a:xfrm>
            <a:off x="4526280" y="3054096"/>
            <a:ext cx="219456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ea typeface="Calibri" pitchFamily="34" charset="-122"/>
                <a:cs typeface="Calibri" pitchFamily="34" charset="-120"/>
              </a:rPr>
              <a:t>kind / pleasant</a:t>
            </a:r>
            <a:endParaRPr lang="en-US" sz="1100" dirty="0"/>
          </a:p>
        </p:txBody>
      </p:sp>
      <p:sp>
        <p:nvSpPr>
          <p:cNvPr id="31" name="Text 28"/>
          <p:cNvSpPr txBox="1"/>
          <p:nvPr/>
        </p:nvSpPr>
        <p:spPr>
          <a:xfrm>
            <a:off x="548640" y="3054096"/>
            <a:ext cx="3776472" cy="731520"/>
          </a:xfrm>
          <a:prstGeom prst="rect">
            <a:avLst/>
          </a:prstGeom>
          <a:noFill/>
          <a:ln/>
        </p:spPr>
        <p:txBody>
          <a:bodyPr wrap="square" lIns="0" tIns="0" rIns="0" bIns="0" rtlCol="0" anchor="ctr"/>
          <a:lstStyle/>
          <a:p>
            <a:pPr rtl="1" algn="ctr" indent="0" marL="0">
              <a:buNone/>
            </a:pPr>
            <a:r>
              <a:rPr lang="ar-SA" altLang="en-US" sz="2000" b="1" dirty="0">
                <a:solidFill>
                  <a:srgbClr val="1B3B6F"/>
                </a:solidFill>
                <a:latin typeface="Amiri" pitchFamily="34" charset="0"/>
                <a:ea typeface="Amiri" pitchFamily="34" charset="-122"/>
                <a:cs typeface="Amiri" pitchFamily="34" charset="-120"/>
              </a:rPr>
              <a:t>زَمِيلٌ لَطِيفٌ</a:t>
            </a:r>
            <a:endParaRPr lang="ar-SA" sz="2000" dirty="0"/>
          </a:p>
        </p:txBody>
      </p:sp>
      <p:sp>
        <p:nvSpPr>
          <p:cNvPr id="32" name="Shape 29"/>
          <p:cNvSpPr/>
          <p:nvPr/>
        </p:nvSpPr>
        <p:spPr>
          <a:xfrm>
            <a:off x="11091672" y="3099816"/>
            <a:ext cx="548640" cy="182880"/>
          </a:xfrm>
          <a:prstGeom prst="roundRect">
            <a:avLst>
              <a:gd name="adj" fmla="val 50000"/>
            </a:avLst>
          </a:prstGeom>
          <a:solidFill>
            <a:srgbClr val="2E8B57"/>
          </a:solidFill>
          <a:ln w="12700">
            <a:solidFill>
              <a:srgbClr val="2E8B57"/>
            </a:solidFill>
            <a:prstDash val="solid"/>
          </a:ln>
        </p:spPr>
      </p:sp>
      <p:sp>
        <p:nvSpPr>
          <p:cNvPr id="33" name="Text 30"/>
          <p:cNvSpPr txBox="1"/>
          <p:nvPr/>
        </p:nvSpPr>
        <p:spPr>
          <a:xfrm>
            <a:off x="11091672" y="3099816"/>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ea typeface="Calibri" pitchFamily="34" charset="-122"/>
                <a:cs typeface="Calibri" pitchFamily="34" charset="-120"/>
              </a:rPr>
              <a:t>CORE</a:t>
            </a:r>
            <a:endParaRPr lang="en-US" sz="650" dirty="0"/>
          </a:p>
        </p:txBody>
      </p:sp>
      <p:sp>
        <p:nvSpPr>
          <p:cNvPr id="34" name="Shape 31"/>
          <p:cNvSpPr/>
          <p:nvPr/>
        </p:nvSpPr>
        <p:spPr>
          <a:xfrm>
            <a:off x="457200" y="3840480"/>
            <a:ext cx="11274552" cy="731520"/>
          </a:xfrm>
          <a:prstGeom prst="roundRect">
            <a:avLst>
              <a:gd name="adj" fmla="val 6250"/>
            </a:avLst>
          </a:prstGeom>
          <a:solidFill>
            <a:srgbClr val="FFFFFF"/>
          </a:solidFill>
          <a:ln w="9525">
            <a:solidFill>
              <a:srgbClr val="D8D0BF"/>
            </a:solidFill>
            <a:prstDash val="solid"/>
          </a:ln>
        </p:spPr>
      </p:sp>
      <p:sp>
        <p:nvSpPr>
          <p:cNvPr id="35" name="Text 32"/>
          <p:cNvSpPr txBox="1"/>
          <p:nvPr/>
        </p:nvSpPr>
        <p:spPr>
          <a:xfrm>
            <a:off x="9445752" y="3840480"/>
            <a:ext cx="2194560" cy="731520"/>
          </a:xfrm>
          <a:prstGeom prst="rect">
            <a:avLst/>
          </a:prstGeom>
          <a:noFill/>
          <a:ln/>
        </p:spPr>
        <p:txBody>
          <a:bodyPr wrap="square" lIns="0" tIns="0" rIns="0" bIns="0" rtlCol="0" anchor="ctr"/>
          <a:lstStyle/>
          <a:p>
            <a:pPr rtl="1" algn="ctr" indent="0" marL="0">
              <a:buNone/>
            </a:pPr>
            <a:r>
              <a:rPr lang="ar-SA" altLang="en-US" sz="2600" b="1" dirty="0">
                <a:solidFill>
                  <a:srgbClr val="1B3B6F"/>
                </a:solidFill>
                <a:latin typeface="Amiri" pitchFamily="34" charset="0"/>
                <a:ea typeface="Amiri" pitchFamily="34" charset="-122"/>
                <a:cs typeface="Amiri" pitchFamily="34" charset="-120"/>
              </a:rPr>
              <a:t>طَوِيلٌ</a:t>
            </a:r>
            <a:endParaRPr lang="ar-SA" sz="2600" dirty="0"/>
          </a:p>
        </p:txBody>
      </p:sp>
      <p:sp>
        <p:nvSpPr>
          <p:cNvPr id="36" name="Text 33"/>
          <p:cNvSpPr txBox="1"/>
          <p:nvPr/>
        </p:nvSpPr>
        <p:spPr>
          <a:xfrm>
            <a:off x="6885432" y="3840480"/>
            <a:ext cx="2377440" cy="731520"/>
          </a:xfrm>
          <a:prstGeom prst="rect">
            <a:avLst/>
          </a:prstGeom>
          <a:noFill/>
          <a:ln/>
        </p:spPr>
        <p:txBody>
          <a:bodyPr wrap="square" lIns="0" tIns="0" rIns="0" bIns="0" rtlCol="0" anchor="ctr"/>
          <a:lstStyle/>
          <a:p>
            <a:pPr rtl="1" algn="ctr" indent="0" marL="0">
              <a:buNone/>
            </a:pPr>
            <a:r>
              <a:rPr lang="ar-SA" altLang="en-US" sz="2600" b="1" dirty="0">
                <a:solidFill>
                  <a:srgbClr val="1B3B6F"/>
                </a:solidFill>
                <a:latin typeface="Amiri" pitchFamily="34" charset="0"/>
                <a:ea typeface="Amiri" pitchFamily="34" charset="-122"/>
                <a:cs typeface="Amiri" pitchFamily="34" charset="-120"/>
              </a:rPr>
              <a:t>طَوِيلَ</a:t>
            </a:r>
            <a:pPr rtl="1" algn="ctr" indent="0" marL="0">
              <a:buNone/>
            </a:pPr>
            <a:r>
              <a:rPr lang="ar-SA" altLang="en-US" sz="2600" b="1" dirty="0">
                <a:solidFill>
                  <a:srgbClr val="D6336C"/>
                </a:solidFill>
                <a:latin typeface="Amiri" pitchFamily="34" charset="0"/>
                <a:ea typeface="Amiri" pitchFamily="34" charset="-122"/>
                <a:cs typeface="Amiri" pitchFamily="34" charset="-120"/>
              </a:rPr>
              <a:t>ةٌ</a:t>
            </a:r>
            <a:endParaRPr lang="ar-SA" sz="2600" dirty="0"/>
          </a:p>
        </p:txBody>
      </p:sp>
      <p:sp>
        <p:nvSpPr>
          <p:cNvPr id="37" name="Text 34"/>
          <p:cNvSpPr txBox="1"/>
          <p:nvPr/>
        </p:nvSpPr>
        <p:spPr>
          <a:xfrm>
            <a:off x="4526280" y="3840480"/>
            <a:ext cx="219456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ea typeface="Calibri" pitchFamily="34" charset="-122"/>
                <a:cs typeface="Calibri" pitchFamily="34" charset="-120"/>
              </a:rPr>
              <a:t>tall / long</a:t>
            </a:r>
            <a:endParaRPr lang="en-US" sz="1100" dirty="0"/>
          </a:p>
        </p:txBody>
      </p:sp>
      <p:sp>
        <p:nvSpPr>
          <p:cNvPr id="38" name="Text 35"/>
          <p:cNvSpPr txBox="1"/>
          <p:nvPr/>
        </p:nvSpPr>
        <p:spPr>
          <a:xfrm>
            <a:off x="548640" y="3840480"/>
            <a:ext cx="3776472" cy="731520"/>
          </a:xfrm>
          <a:prstGeom prst="rect">
            <a:avLst/>
          </a:prstGeom>
          <a:noFill/>
          <a:ln/>
        </p:spPr>
        <p:txBody>
          <a:bodyPr wrap="square" lIns="0" tIns="0" rIns="0" bIns="0" rtlCol="0" anchor="ctr"/>
          <a:lstStyle/>
          <a:p>
            <a:pPr rtl="1" algn="ctr" indent="0" marL="0">
              <a:buNone/>
            </a:pPr>
            <a:r>
              <a:rPr lang="ar-SA" altLang="en-US" sz="2000" b="1" dirty="0">
                <a:solidFill>
                  <a:srgbClr val="1B3B6F"/>
                </a:solidFill>
                <a:latin typeface="Amiri" pitchFamily="34" charset="0"/>
                <a:ea typeface="Amiri" pitchFamily="34" charset="-122"/>
                <a:cs typeface="Amiri" pitchFamily="34" charset="-120"/>
              </a:rPr>
              <a:t>أَخٌ طَوِيلٌ</a:t>
            </a:r>
            <a:endParaRPr lang="ar-SA" sz="2000" dirty="0"/>
          </a:p>
        </p:txBody>
      </p:sp>
      <p:sp>
        <p:nvSpPr>
          <p:cNvPr id="39" name="Shape 36"/>
          <p:cNvSpPr/>
          <p:nvPr/>
        </p:nvSpPr>
        <p:spPr>
          <a:xfrm>
            <a:off x="457200" y="4626864"/>
            <a:ext cx="11274552" cy="731520"/>
          </a:xfrm>
          <a:prstGeom prst="roundRect">
            <a:avLst>
              <a:gd name="adj" fmla="val 6250"/>
            </a:avLst>
          </a:prstGeom>
          <a:solidFill>
            <a:srgbClr val="F4F1EA"/>
          </a:solidFill>
          <a:ln w="9525">
            <a:solidFill>
              <a:srgbClr val="D8D0BF"/>
            </a:solidFill>
            <a:prstDash val="solid"/>
          </a:ln>
        </p:spPr>
      </p:sp>
      <p:sp>
        <p:nvSpPr>
          <p:cNvPr id="40" name="Text 37"/>
          <p:cNvSpPr txBox="1"/>
          <p:nvPr/>
        </p:nvSpPr>
        <p:spPr>
          <a:xfrm>
            <a:off x="9445752" y="4626864"/>
            <a:ext cx="2194560" cy="731520"/>
          </a:xfrm>
          <a:prstGeom prst="rect">
            <a:avLst/>
          </a:prstGeom>
          <a:noFill/>
          <a:ln/>
        </p:spPr>
        <p:txBody>
          <a:bodyPr wrap="square" lIns="0" tIns="0" rIns="0" bIns="0" rtlCol="0" anchor="ctr"/>
          <a:lstStyle/>
          <a:p>
            <a:pPr rtl="1" algn="ctr" indent="0" marL="0">
              <a:buNone/>
            </a:pPr>
            <a:r>
              <a:rPr lang="ar-SA" altLang="en-US" sz="2600" b="1" dirty="0">
                <a:solidFill>
                  <a:srgbClr val="1B3B6F"/>
                </a:solidFill>
                <a:latin typeface="Amiri" pitchFamily="34" charset="0"/>
                <a:ea typeface="Amiri" pitchFamily="34" charset="-122"/>
                <a:cs typeface="Amiri" pitchFamily="34" charset="-120"/>
              </a:rPr>
              <a:t>قَصِيرٌ</a:t>
            </a:r>
            <a:endParaRPr lang="ar-SA" sz="2600" dirty="0"/>
          </a:p>
        </p:txBody>
      </p:sp>
      <p:sp>
        <p:nvSpPr>
          <p:cNvPr id="41" name="Text 38"/>
          <p:cNvSpPr txBox="1"/>
          <p:nvPr/>
        </p:nvSpPr>
        <p:spPr>
          <a:xfrm>
            <a:off x="6885432" y="4626864"/>
            <a:ext cx="2377440" cy="731520"/>
          </a:xfrm>
          <a:prstGeom prst="rect">
            <a:avLst/>
          </a:prstGeom>
          <a:noFill/>
          <a:ln/>
        </p:spPr>
        <p:txBody>
          <a:bodyPr wrap="square" lIns="0" tIns="0" rIns="0" bIns="0" rtlCol="0" anchor="ctr"/>
          <a:lstStyle/>
          <a:p>
            <a:pPr rtl="1" algn="ctr" indent="0" marL="0">
              <a:buNone/>
            </a:pPr>
            <a:r>
              <a:rPr lang="ar-SA" altLang="en-US" sz="2600" b="1" dirty="0">
                <a:solidFill>
                  <a:srgbClr val="1B3B6F"/>
                </a:solidFill>
                <a:latin typeface="Amiri" pitchFamily="34" charset="0"/>
                <a:ea typeface="Amiri" pitchFamily="34" charset="-122"/>
                <a:cs typeface="Amiri" pitchFamily="34" charset="-120"/>
              </a:rPr>
              <a:t>قَصِيرَ</a:t>
            </a:r>
            <a:pPr rtl="1" algn="ctr" indent="0" marL="0">
              <a:buNone/>
            </a:pPr>
            <a:r>
              <a:rPr lang="ar-SA" altLang="en-US" sz="2600" b="1" dirty="0">
                <a:solidFill>
                  <a:srgbClr val="D6336C"/>
                </a:solidFill>
                <a:latin typeface="Amiri" pitchFamily="34" charset="0"/>
                <a:ea typeface="Amiri" pitchFamily="34" charset="-122"/>
                <a:cs typeface="Amiri" pitchFamily="34" charset="-120"/>
              </a:rPr>
              <a:t>ةٌ</a:t>
            </a:r>
            <a:endParaRPr lang="ar-SA" sz="2600" dirty="0"/>
          </a:p>
        </p:txBody>
      </p:sp>
      <p:sp>
        <p:nvSpPr>
          <p:cNvPr id="42" name="Text 39"/>
          <p:cNvSpPr txBox="1"/>
          <p:nvPr/>
        </p:nvSpPr>
        <p:spPr>
          <a:xfrm>
            <a:off x="4526280" y="4626864"/>
            <a:ext cx="219456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ea typeface="Calibri" pitchFamily="34" charset="-122"/>
                <a:cs typeface="Calibri" pitchFamily="34" charset="-120"/>
              </a:rPr>
              <a:t>short</a:t>
            </a:r>
            <a:endParaRPr lang="en-US" sz="1100" dirty="0"/>
          </a:p>
        </p:txBody>
      </p:sp>
      <p:sp>
        <p:nvSpPr>
          <p:cNvPr id="43" name="Text 40"/>
          <p:cNvSpPr txBox="1"/>
          <p:nvPr/>
        </p:nvSpPr>
        <p:spPr>
          <a:xfrm>
            <a:off x="548640" y="4626864"/>
            <a:ext cx="3776472" cy="731520"/>
          </a:xfrm>
          <a:prstGeom prst="rect">
            <a:avLst/>
          </a:prstGeom>
          <a:noFill/>
          <a:ln/>
        </p:spPr>
        <p:txBody>
          <a:bodyPr wrap="square" lIns="0" tIns="0" rIns="0" bIns="0" rtlCol="0" anchor="ctr"/>
          <a:lstStyle/>
          <a:p>
            <a:pPr rtl="1" algn="ctr" indent="0" marL="0">
              <a:buNone/>
            </a:pPr>
            <a:r>
              <a:rPr lang="ar-SA" altLang="en-US" sz="2000" b="1" dirty="0">
                <a:solidFill>
                  <a:srgbClr val="1B3B6F"/>
                </a:solidFill>
                <a:latin typeface="Amiri" pitchFamily="34" charset="0"/>
                <a:ea typeface="Amiri" pitchFamily="34" charset="-122"/>
                <a:cs typeface="Amiri" pitchFamily="34" charset="-120"/>
              </a:rPr>
              <a:t>أُخْتٌ قَصِيرَةٌ</a:t>
            </a:r>
            <a:endParaRPr lang="ar-SA" sz="2000" dirty="0"/>
          </a:p>
        </p:txBody>
      </p:sp>
      <p:sp>
        <p:nvSpPr>
          <p:cNvPr id="44" name="Shape 41"/>
          <p:cNvSpPr/>
          <p:nvPr/>
        </p:nvSpPr>
        <p:spPr>
          <a:xfrm>
            <a:off x="457200" y="5413248"/>
            <a:ext cx="11274552" cy="731520"/>
          </a:xfrm>
          <a:prstGeom prst="roundRect">
            <a:avLst>
              <a:gd name="adj" fmla="val 6250"/>
            </a:avLst>
          </a:prstGeom>
          <a:solidFill>
            <a:srgbClr val="FFFFFF"/>
          </a:solidFill>
          <a:ln w="9525">
            <a:solidFill>
              <a:srgbClr val="D8D0BF"/>
            </a:solidFill>
            <a:prstDash val="solid"/>
          </a:ln>
        </p:spPr>
      </p:sp>
      <p:sp>
        <p:nvSpPr>
          <p:cNvPr id="45" name="Text 42"/>
          <p:cNvSpPr txBox="1"/>
          <p:nvPr/>
        </p:nvSpPr>
        <p:spPr>
          <a:xfrm>
            <a:off x="9445752" y="5413248"/>
            <a:ext cx="2194560" cy="731520"/>
          </a:xfrm>
          <a:prstGeom prst="rect">
            <a:avLst/>
          </a:prstGeom>
          <a:noFill/>
          <a:ln/>
        </p:spPr>
        <p:txBody>
          <a:bodyPr wrap="square" lIns="0" tIns="0" rIns="0" bIns="0" rtlCol="0" anchor="ctr"/>
          <a:lstStyle/>
          <a:p>
            <a:pPr rtl="1" algn="ctr" indent="0" marL="0">
              <a:buNone/>
            </a:pPr>
            <a:r>
              <a:rPr lang="ar-SA" altLang="en-US" sz="2600" b="1" dirty="0">
                <a:solidFill>
                  <a:srgbClr val="1B3B6F"/>
                </a:solidFill>
                <a:latin typeface="Amiri" pitchFamily="34" charset="0"/>
                <a:ea typeface="Amiri" pitchFamily="34" charset="-122"/>
                <a:cs typeface="Amiri" pitchFamily="34" charset="-120"/>
              </a:rPr>
              <a:t>سَعِيدٌ</a:t>
            </a:r>
            <a:endParaRPr lang="ar-SA" sz="2600" dirty="0"/>
          </a:p>
        </p:txBody>
      </p:sp>
      <p:sp>
        <p:nvSpPr>
          <p:cNvPr id="46" name="Text 43"/>
          <p:cNvSpPr txBox="1"/>
          <p:nvPr/>
        </p:nvSpPr>
        <p:spPr>
          <a:xfrm>
            <a:off x="6885432" y="5413248"/>
            <a:ext cx="2377440" cy="731520"/>
          </a:xfrm>
          <a:prstGeom prst="rect">
            <a:avLst/>
          </a:prstGeom>
          <a:noFill/>
          <a:ln/>
        </p:spPr>
        <p:txBody>
          <a:bodyPr wrap="square" lIns="0" tIns="0" rIns="0" bIns="0" rtlCol="0" anchor="ctr"/>
          <a:lstStyle/>
          <a:p>
            <a:pPr rtl="1" algn="ctr" indent="0" marL="0">
              <a:buNone/>
            </a:pPr>
            <a:r>
              <a:rPr lang="ar-SA" altLang="en-US" sz="2600" b="1" dirty="0">
                <a:solidFill>
                  <a:srgbClr val="1B3B6F"/>
                </a:solidFill>
                <a:latin typeface="Amiri" pitchFamily="34" charset="0"/>
                <a:ea typeface="Amiri" pitchFamily="34" charset="-122"/>
                <a:cs typeface="Amiri" pitchFamily="34" charset="-120"/>
              </a:rPr>
              <a:t>سَعِيدَ</a:t>
            </a:r>
            <a:pPr rtl="1" algn="ctr" indent="0" marL="0">
              <a:buNone/>
            </a:pPr>
            <a:r>
              <a:rPr lang="ar-SA" altLang="en-US" sz="2600" b="1" dirty="0">
                <a:solidFill>
                  <a:srgbClr val="D6336C"/>
                </a:solidFill>
                <a:latin typeface="Amiri" pitchFamily="34" charset="0"/>
                <a:ea typeface="Amiri" pitchFamily="34" charset="-122"/>
                <a:cs typeface="Amiri" pitchFamily="34" charset="-120"/>
              </a:rPr>
              <a:t>ةٌ</a:t>
            </a:r>
            <a:endParaRPr lang="ar-SA" sz="2600" dirty="0"/>
          </a:p>
        </p:txBody>
      </p:sp>
      <p:sp>
        <p:nvSpPr>
          <p:cNvPr id="47" name="Text 44"/>
          <p:cNvSpPr txBox="1"/>
          <p:nvPr/>
        </p:nvSpPr>
        <p:spPr>
          <a:xfrm>
            <a:off x="4526280" y="5413248"/>
            <a:ext cx="219456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ea typeface="Calibri" pitchFamily="34" charset="-122"/>
                <a:cs typeface="Calibri" pitchFamily="34" charset="-120"/>
              </a:rPr>
              <a:t>happy</a:t>
            </a:r>
            <a:endParaRPr lang="en-US" sz="1100" dirty="0"/>
          </a:p>
        </p:txBody>
      </p:sp>
      <p:sp>
        <p:nvSpPr>
          <p:cNvPr id="48" name="Text 45"/>
          <p:cNvSpPr txBox="1"/>
          <p:nvPr/>
        </p:nvSpPr>
        <p:spPr>
          <a:xfrm>
            <a:off x="548640" y="5413248"/>
            <a:ext cx="3776472" cy="731520"/>
          </a:xfrm>
          <a:prstGeom prst="rect">
            <a:avLst/>
          </a:prstGeom>
          <a:noFill/>
          <a:ln/>
        </p:spPr>
        <p:txBody>
          <a:bodyPr wrap="square" lIns="0" tIns="0" rIns="0" bIns="0" rtlCol="0" anchor="ctr"/>
          <a:lstStyle/>
          <a:p>
            <a:pPr rtl="1" algn="ctr" indent="0" marL="0">
              <a:buNone/>
            </a:pPr>
            <a:r>
              <a:rPr lang="ar-SA" altLang="en-US" sz="2000" b="1" dirty="0">
                <a:solidFill>
                  <a:srgbClr val="1B3B6F"/>
                </a:solidFill>
                <a:latin typeface="Amiri" pitchFamily="34" charset="0"/>
                <a:ea typeface="Amiri" pitchFamily="34" charset="-122"/>
                <a:cs typeface="Amiri" pitchFamily="34" charset="-120"/>
              </a:rPr>
              <a:t>اِمْرَأَةٌ سَعِيدَةٌ</a:t>
            </a:r>
            <a:endParaRPr lang="ar-SA" sz="2000" dirty="0"/>
          </a:p>
        </p:txBody>
      </p:sp>
      <p:sp>
        <p:nvSpPr>
          <p:cNvPr id="49" name="Text 46"/>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ea typeface="Calibri" pitchFamily="34" charset="-122"/>
                <a:cs typeface="Calibri" pitchFamily="34" charset="-120"/>
              </a:rPr>
              <a:t>11 / 36</a:t>
            </a:r>
            <a:endParaRPr lang="en-US" sz="8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34" charset="0"/>
                <a:ea typeface="Amiri" pitchFamily="34" charset="-122"/>
                <a:cs typeface="Amiri" pitchFamily="34" charset="-120"/>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ea typeface="Cambria" pitchFamily="34" charset="-122"/>
                <a:cs typeface="Cambria" pitchFamily="34" charset="-120"/>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ea typeface="Calibri" pitchFamily="34" charset="-122"/>
                <a:cs typeface="Calibri" pitchFamily="34" charset="-120"/>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ea typeface="Calibri" pitchFamily="34" charset="-122"/>
                <a:cs typeface="Calibri" pitchFamily="34" charset="-120"/>
              </a:rPr>
              <a:t>F2-L05 · Masculine &amp; Feminine</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ea typeface="Calibri" pitchFamily="34" charset="-122"/>
                <a:cs typeface="Calibri" pitchFamily="34" charset="-120"/>
              </a:rPr>
              <a:t>TEACHER INSTRUCTION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150" kern="0" dirty="0">
                <a:solidFill>
                  <a:srgbClr val="1B3B6F"/>
                </a:solidFill>
                <a:latin typeface="Calibri" pitchFamily="34" charset="0"/>
                <a:ea typeface="Calibri" pitchFamily="34" charset="-122"/>
                <a:cs typeface="Calibri" pitchFamily="34" charset="-120"/>
              </a:rPr>
              <a:t>GRAMMAR FOCUS · THE ADJECTIVE FOLLOWS AND MATCHES THE NOUN (WEBSITE)</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750" b="1" dirty="0">
                <a:solidFill>
                  <a:srgbClr val="1B3B6F"/>
                </a:solidFill>
                <a:latin typeface="Cambria" pitchFamily="34" charset="0"/>
                <a:ea typeface="Cambria" pitchFamily="34" charset="-122"/>
                <a:cs typeface="Cambria" pitchFamily="34" charset="-120"/>
              </a:rPr>
              <a:t>Two decisions: gender, then match</a:t>
            </a:r>
            <a:endParaRPr lang="en-US" sz="275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34" charset="0"/>
                <a:ea typeface="Amiri" pitchFamily="34" charset="-122"/>
                <a:cs typeface="Amiri" pitchFamily="34" charset="-120"/>
              </a:rPr>
              <a:t>الصِّفَةُ بَعْدَ الاِسْمِ وَهِيَ تُطَابِقُهُ</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ea typeface="Calibri" pitchFamily="34" charset="-122"/>
                <a:cs typeface="Calibri" pitchFamily="34" charset="-120"/>
              </a:rPr>
              <a:t>Miftah Arabic · Foundation F2 · Greetings &amp; Introductions · Week 2 · Lesson 2 of 3</a:t>
            </a:r>
            <a:endParaRPr lang="en-US" sz="850" dirty="0"/>
          </a:p>
        </p:txBody>
      </p:sp>
      <p:sp>
        <p:nvSpPr>
          <p:cNvPr id="15" name="Text 12"/>
          <p:cNvSpPr txBox="1"/>
          <p:nvPr/>
        </p:nvSpPr>
        <p:spPr>
          <a:xfrm>
            <a:off x="457200" y="1828800"/>
            <a:ext cx="3017520" cy="566928"/>
          </a:xfrm>
          <a:prstGeom prst="rect">
            <a:avLst/>
          </a:prstGeom>
          <a:noFill/>
          <a:ln/>
        </p:spPr>
        <p:txBody>
          <a:bodyPr wrap="square" lIns="0" tIns="0" rIns="0" bIns="0" rtlCol="0" anchor="ctr"/>
          <a:lstStyle/>
          <a:p>
            <a:pPr algn="l" indent="0" marL="0">
              <a:buNone/>
            </a:pPr>
            <a:r>
              <a:rPr lang="en-US" sz="1100" b="1" dirty="0">
                <a:solidFill>
                  <a:srgbClr val="5A6472"/>
                </a:solidFill>
                <a:latin typeface="Calibri" pitchFamily="34" charset="0"/>
                <a:ea typeface="Calibri" pitchFamily="34" charset="-122"/>
                <a:cs typeface="Calibri" pitchFamily="34" charset="-120"/>
              </a:rPr>
              <a:t>English meaning</a:t>
            </a:r>
            <a:endParaRPr lang="en-US" sz="1100" dirty="0"/>
          </a:p>
        </p:txBody>
      </p:sp>
      <p:sp>
        <p:nvSpPr>
          <p:cNvPr id="16" name="Shape 13"/>
          <p:cNvSpPr/>
          <p:nvPr/>
        </p:nvSpPr>
        <p:spPr>
          <a:xfrm>
            <a:off x="9089136" y="1810512"/>
            <a:ext cx="2642616" cy="566928"/>
          </a:xfrm>
          <a:prstGeom prst="roundRect">
            <a:avLst>
              <a:gd name="adj" fmla="val 9677"/>
            </a:avLst>
          </a:prstGeom>
          <a:solidFill>
            <a:srgbClr val="1D5FBF"/>
          </a:solidFill>
          <a:ln w="12700">
            <a:solidFill>
              <a:srgbClr val="1D5FBF"/>
            </a:solidFill>
            <a:prstDash val="solid"/>
          </a:ln>
        </p:spPr>
      </p:sp>
      <p:sp>
        <p:nvSpPr>
          <p:cNvPr id="17" name="Text 14"/>
          <p:cNvSpPr txBox="1"/>
          <p:nvPr/>
        </p:nvSpPr>
        <p:spPr>
          <a:xfrm>
            <a:off x="9089136" y="1792224"/>
            <a:ext cx="2642616" cy="402336"/>
          </a:xfrm>
          <a:prstGeom prst="rect">
            <a:avLst/>
          </a:prstGeom>
          <a:noFill/>
          <a:ln/>
        </p:spPr>
        <p:txBody>
          <a:bodyPr wrap="square" lIns="0" tIns="0" rIns="0" bIns="0" rtlCol="0" anchor="ctr"/>
          <a:lstStyle/>
          <a:p>
            <a:pPr rtl="1" algn="ctr" indent="0" marL="0">
              <a:buNone/>
            </a:pPr>
            <a:r>
              <a:rPr lang="ar-SA" altLang="en-US" sz="1850" b="1" dirty="0">
                <a:solidFill>
                  <a:srgbClr val="FFFFFF"/>
                </a:solidFill>
                <a:latin typeface="Amiri" pitchFamily="34" charset="0"/>
                <a:ea typeface="Amiri" pitchFamily="34" charset="-122"/>
                <a:cs typeface="Amiri" pitchFamily="34" charset="-120"/>
              </a:rPr>
              <a:t>هَذَا / هَذِهِ</a:t>
            </a:r>
            <a:endParaRPr lang="ar-SA" sz="1850" dirty="0"/>
          </a:p>
        </p:txBody>
      </p:sp>
      <p:sp>
        <p:nvSpPr>
          <p:cNvPr id="18" name="Text 15"/>
          <p:cNvSpPr txBox="1"/>
          <p:nvPr/>
        </p:nvSpPr>
        <p:spPr>
          <a:xfrm>
            <a:off x="9089136" y="2157984"/>
            <a:ext cx="2642616" cy="201168"/>
          </a:xfrm>
          <a:prstGeom prst="rect">
            <a:avLst/>
          </a:prstGeom>
          <a:noFill/>
          <a:ln/>
        </p:spPr>
        <p:txBody>
          <a:bodyPr wrap="square" lIns="0" tIns="0" rIns="0" bIns="0" rtlCol="0" anchor="ctr"/>
          <a:lstStyle/>
          <a:p>
            <a:pPr algn="ctr" indent="0" marL="0">
              <a:buNone/>
            </a:pPr>
            <a:r>
              <a:rPr lang="en-US" sz="900" i="1" dirty="0">
                <a:solidFill>
                  <a:srgbClr val="EEF1F6"/>
                </a:solidFill>
                <a:latin typeface="Calibri" pitchFamily="34" charset="0"/>
                <a:ea typeface="Calibri" pitchFamily="34" charset="-122"/>
                <a:cs typeface="Calibri" pitchFamily="34" charset="-120"/>
              </a:rPr>
              <a:t>this (m. / f.)</a:t>
            </a:r>
            <a:endParaRPr lang="en-US" sz="900" dirty="0"/>
          </a:p>
        </p:txBody>
      </p:sp>
      <p:sp>
        <p:nvSpPr>
          <p:cNvPr id="19" name="Shape 16"/>
          <p:cNvSpPr/>
          <p:nvPr/>
        </p:nvSpPr>
        <p:spPr>
          <a:xfrm>
            <a:off x="6336792" y="1810512"/>
            <a:ext cx="2642616" cy="566928"/>
          </a:xfrm>
          <a:prstGeom prst="roundRect">
            <a:avLst>
              <a:gd name="adj" fmla="val 9677"/>
            </a:avLst>
          </a:prstGeom>
          <a:solidFill>
            <a:srgbClr val="6B4C9A"/>
          </a:solidFill>
          <a:ln w="12700">
            <a:solidFill>
              <a:srgbClr val="6B4C9A"/>
            </a:solidFill>
            <a:prstDash val="solid"/>
          </a:ln>
        </p:spPr>
      </p:sp>
      <p:sp>
        <p:nvSpPr>
          <p:cNvPr id="20" name="Text 17"/>
          <p:cNvSpPr txBox="1"/>
          <p:nvPr/>
        </p:nvSpPr>
        <p:spPr>
          <a:xfrm>
            <a:off x="6336792" y="1792224"/>
            <a:ext cx="2642616" cy="402336"/>
          </a:xfrm>
          <a:prstGeom prst="rect">
            <a:avLst/>
          </a:prstGeom>
          <a:noFill/>
          <a:ln/>
        </p:spPr>
        <p:txBody>
          <a:bodyPr wrap="square" lIns="0" tIns="0" rIns="0" bIns="0" rtlCol="0" anchor="ctr"/>
          <a:lstStyle/>
          <a:p>
            <a:pPr rtl="1" algn="ctr" indent="0" marL="0">
              <a:buNone/>
            </a:pPr>
            <a:r>
              <a:rPr lang="ar-SA" altLang="en-US" sz="1850" b="1" dirty="0">
                <a:solidFill>
                  <a:srgbClr val="FFFFFF"/>
                </a:solidFill>
                <a:latin typeface="Amiri" pitchFamily="34" charset="0"/>
                <a:ea typeface="Amiri" pitchFamily="34" charset="-122"/>
                <a:cs typeface="Amiri" pitchFamily="34" charset="-120"/>
              </a:rPr>
              <a:t>الاِسْمُ</a:t>
            </a:r>
            <a:endParaRPr lang="ar-SA" sz="1850" dirty="0"/>
          </a:p>
        </p:txBody>
      </p:sp>
      <p:sp>
        <p:nvSpPr>
          <p:cNvPr id="21" name="Text 18"/>
          <p:cNvSpPr txBox="1"/>
          <p:nvPr/>
        </p:nvSpPr>
        <p:spPr>
          <a:xfrm>
            <a:off x="6336792" y="2157984"/>
            <a:ext cx="2642616" cy="201168"/>
          </a:xfrm>
          <a:prstGeom prst="rect">
            <a:avLst/>
          </a:prstGeom>
          <a:noFill/>
          <a:ln/>
        </p:spPr>
        <p:txBody>
          <a:bodyPr wrap="square" lIns="0" tIns="0" rIns="0" bIns="0" rtlCol="0" anchor="ctr"/>
          <a:lstStyle/>
          <a:p>
            <a:pPr algn="ctr" indent="0" marL="0">
              <a:buNone/>
            </a:pPr>
            <a:r>
              <a:rPr lang="en-US" sz="900" i="1" dirty="0">
                <a:solidFill>
                  <a:srgbClr val="EEF1F6"/>
                </a:solidFill>
                <a:latin typeface="Calibri" pitchFamily="34" charset="0"/>
                <a:ea typeface="Calibri" pitchFamily="34" charset="-122"/>
                <a:cs typeface="Calibri" pitchFamily="34" charset="-120"/>
              </a:rPr>
              <a:t>1 · the noun (decide the gender)</a:t>
            </a:r>
            <a:endParaRPr lang="en-US" sz="900" dirty="0"/>
          </a:p>
        </p:txBody>
      </p:sp>
      <p:sp>
        <p:nvSpPr>
          <p:cNvPr id="22" name="Shape 19"/>
          <p:cNvSpPr/>
          <p:nvPr/>
        </p:nvSpPr>
        <p:spPr>
          <a:xfrm>
            <a:off x="3584448" y="1810512"/>
            <a:ext cx="2642616" cy="566928"/>
          </a:xfrm>
          <a:prstGeom prst="roundRect">
            <a:avLst>
              <a:gd name="adj" fmla="val 9677"/>
            </a:avLst>
          </a:prstGeom>
          <a:solidFill>
            <a:srgbClr val="D6336C"/>
          </a:solidFill>
          <a:ln w="12700">
            <a:solidFill>
              <a:srgbClr val="D6336C"/>
            </a:solidFill>
            <a:prstDash val="solid"/>
          </a:ln>
        </p:spPr>
      </p:sp>
      <p:sp>
        <p:nvSpPr>
          <p:cNvPr id="23" name="Text 20"/>
          <p:cNvSpPr txBox="1"/>
          <p:nvPr/>
        </p:nvSpPr>
        <p:spPr>
          <a:xfrm>
            <a:off x="3584448" y="1792224"/>
            <a:ext cx="2642616" cy="402336"/>
          </a:xfrm>
          <a:prstGeom prst="rect">
            <a:avLst/>
          </a:prstGeom>
          <a:noFill/>
          <a:ln/>
        </p:spPr>
        <p:txBody>
          <a:bodyPr wrap="square" lIns="0" tIns="0" rIns="0" bIns="0" rtlCol="0" anchor="ctr"/>
          <a:lstStyle/>
          <a:p>
            <a:pPr rtl="1" algn="ctr" indent="0" marL="0">
              <a:buNone/>
            </a:pPr>
            <a:r>
              <a:rPr lang="ar-SA" altLang="en-US" sz="1850" b="1" dirty="0">
                <a:solidFill>
                  <a:srgbClr val="FFFFFF"/>
                </a:solidFill>
                <a:latin typeface="Amiri" pitchFamily="34" charset="0"/>
                <a:ea typeface="Amiri" pitchFamily="34" charset="-122"/>
                <a:cs typeface="Amiri" pitchFamily="34" charset="-120"/>
              </a:rPr>
              <a:t>الصِّفَةُ</a:t>
            </a:r>
            <a:endParaRPr lang="ar-SA" sz="1850" dirty="0"/>
          </a:p>
        </p:txBody>
      </p:sp>
      <p:sp>
        <p:nvSpPr>
          <p:cNvPr id="24" name="Text 21"/>
          <p:cNvSpPr txBox="1"/>
          <p:nvPr/>
        </p:nvSpPr>
        <p:spPr>
          <a:xfrm>
            <a:off x="3584448" y="2157984"/>
            <a:ext cx="2642616" cy="201168"/>
          </a:xfrm>
          <a:prstGeom prst="rect">
            <a:avLst/>
          </a:prstGeom>
          <a:noFill/>
          <a:ln/>
        </p:spPr>
        <p:txBody>
          <a:bodyPr wrap="square" lIns="0" tIns="0" rIns="0" bIns="0" rtlCol="0" anchor="ctr"/>
          <a:lstStyle/>
          <a:p>
            <a:pPr algn="ctr" indent="0" marL="0">
              <a:buNone/>
            </a:pPr>
            <a:r>
              <a:rPr lang="en-US" sz="900" i="1" dirty="0">
                <a:solidFill>
                  <a:srgbClr val="EEF1F6"/>
                </a:solidFill>
                <a:latin typeface="Calibri" pitchFamily="34" charset="0"/>
                <a:ea typeface="Calibri" pitchFamily="34" charset="-122"/>
                <a:cs typeface="Calibri" pitchFamily="34" charset="-120"/>
              </a:rPr>
              <a:t>2 · the adjective (same gender)</a:t>
            </a:r>
            <a:endParaRPr lang="en-US" sz="900" dirty="0"/>
          </a:p>
        </p:txBody>
      </p:sp>
      <p:sp>
        <p:nvSpPr>
          <p:cNvPr id="25" name="Text 22"/>
          <p:cNvSpPr txBox="1"/>
          <p:nvPr/>
        </p:nvSpPr>
        <p:spPr>
          <a:xfrm>
            <a:off x="457200" y="2487168"/>
            <a:ext cx="2926080" cy="768096"/>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ea typeface="Calibri" pitchFamily="34" charset="-122"/>
                <a:cs typeface="Calibri" pitchFamily="34" charset="-120"/>
              </a:rPr>
              <a:t>This is a new male student.</a:t>
            </a:r>
            <a:endParaRPr lang="en-US" sz="1200" dirty="0"/>
          </a:p>
        </p:txBody>
      </p:sp>
      <p:sp>
        <p:nvSpPr>
          <p:cNvPr id="26" name="Shape 23"/>
          <p:cNvSpPr/>
          <p:nvPr/>
        </p:nvSpPr>
        <p:spPr>
          <a:xfrm>
            <a:off x="9089136" y="2487168"/>
            <a:ext cx="2642616" cy="768096"/>
          </a:xfrm>
          <a:prstGeom prst="roundRect">
            <a:avLst>
              <a:gd name="adj" fmla="val 7143"/>
            </a:avLst>
          </a:prstGeom>
          <a:solidFill>
            <a:srgbClr val="EEF3FA"/>
          </a:solidFill>
          <a:ln w="9525">
            <a:solidFill>
              <a:srgbClr val="EEF3FA"/>
            </a:solidFill>
            <a:prstDash val="solid"/>
          </a:ln>
        </p:spPr>
      </p:sp>
      <p:sp>
        <p:nvSpPr>
          <p:cNvPr id="27" name="Text 24"/>
          <p:cNvSpPr txBox="1"/>
          <p:nvPr/>
        </p:nvSpPr>
        <p:spPr>
          <a:xfrm>
            <a:off x="9162288" y="2487168"/>
            <a:ext cx="2496312" cy="768096"/>
          </a:xfrm>
          <a:prstGeom prst="rect">
            <a:avLst/>
          </a:prstGeom>
          <a:noFill/>
          <a:ln/>
        </p:spPr>
        <p:txBody>
          <a:bodyPr wrap="square" lIns="0" tIns="0" rIns="0" bIns="0" rtlCol="0" anchor="ctr"/>
          <a:lstStyle/>
          <a:p>
            <a:pPr rtl="1" algn="ctr" indent="0" marL="0">
              <a:buNone/>
            </a:pPr>
            <a:r>
              <a:rPr lang="ar-SA" altLang="en-US" sz="2400" b="1" dirty="0">
                <a:solidFill>
                  <a:srgbClr val="1B3B6F"/>
                </a:solidFill>
                <a:latin typeface="Amiri" pitchFamily="34" charset="0"/>
                <a:ea typeface="Amiri" pitchFamily="34" charset="-122"/>
                <a:cs typeface="Amiri" pitchFamily="34" charset="-120"/>
              </a:rPr>
              <a:t>هَذَا</a:t>
            </a:r>
            <a:endParaRPr lang="ar-SA" sz="2400" dirty="0"/>
          </a:p>
        </p:txBody>
      </p:sp>
      <p:sp>
        <p:nvSpPr>
          <p:cNvPr id="28" name="Shape 25"/>
          <p:cNvSpPr/>
          <p:nvPr/>
        </p:nvSpPr>
        <p:spPr>
          <a:xfrm>
            <a:off x="6336792" y="2487168"/>
            <a:ext cx="2642616" cy="768096"/>
          </a:xfrm>
          <a:prstGeom prst="roundRect">
            <a:avLst>
              <a:gd name="adj" fmla="val 7143"/>
            </a:avLst>
          </a:prstGeom>
          <a:solidFill>
            <a:srgbClr val="F1ECF7"/>
          </a:solidFill>
          <a:ln w="9525">
            <a:solidFill>
              <a:srgbClr val="F1ECF7"/>
            </a:solidFill>
            <a:prstDash val="solid"/>
          </a:ln>
        </p:spPr>
      </p:sp>
      <p:sp>
        <p:nvSpPr>
          <p:cNvPr id="29" name="Text 26"/>
          <p:cNvSpPr txBox="1"/>
          <p:nvPr/>
        </p:nvSpPr>
        <p:spPr>
          <a:xfrm>
            <a:off x="6409944" y="2487168"/>
            <a:ext cx="2496312" cy="768096"/>
          </a:xfrm>
          <a:prstGeom prst="rect">
            <a:avLst/>
          </a:prstGeom>
          <a:noFill/>
          <a:ln/>
        </p:spPr>
        <p:txBody>
          <a:bodyPr wrap="square" lIns="0" tIns="0" rIns="0" bIns="0" rtlCol="0" anchor="ctr"/>
          <a:lstStyle/>
          <a:p>
            <a:pPr rtl="1" algn="ctr" indent="0" marL="0">
              <a:buNone/>
            </a:pPr>
            <a:r>
              <a:rPr lang="ar-SA" altLang="en-US" sz="2400" b="1" dirty="0">
                <a:solidFill>
                  <a:srgbClr val="1B3B6F"/>
                </a:solidFill>
                <a:latin typeface="Amiri" pitchFamily="34" charset="0"/>
                <a:ea typeface="Amiri" pitchFamily="34" charset="-122"/>
                <a:cs typeface="Amiri" pitchFamily="34" charset="-120"/>
              </a:rPr>
              <a:t>طَالِبٌ</a:t>
            </a:r>
            <a:endParaRPr lang="ar-SA" sz="2400" dirty="0"/>
          </a:p>
        </p:txBody>
      </p:sp>
      <p:sp>
        <p:nvSpPr>
          <p:cNvPr id="30" name="Shape 27"/>
          <p:cNvSpPr/>
          <p:nvPr/>
        </p:nvSpPr>
        <p:spPr>
          <a:xfrm>
            <a:off x="3584448" y="2487168"/>
            <a:ext cx="2642616" cy="768096"/>
          </a:xfrm>
          <a:prstGeom prst="roundRect">
            <a:avLst>
              <a:gd name="adj" fmla="val 7143"/>
            </a:avLst>
          </a:prstGeom>
          <a:solidFill>
            <a:srgbClr val="FBEAEA"/>
          </a:solidFill>
          <a:ln w="9525">
            <a:solidFill>
              <a:srgbClr val="FBEAEA"/>
            </a:solidFill>
            <a:prstDash val="solid"/>
          </a:ln>
        </p:spPr>
      </p:sp>
      <p:sp>
        <p:nvSpPr>
          <p:cNvPr id="31" name="Text 28"/>
          <p:cNvSpPr txBox="1"/>
          <p:nvPr/>
        </p:nvSpPr>
        <p:spPr>
          <a:xfrm>
            <a:off x="3657600" y="2487168"/>
            <a:ext cx="2496312" cy="768096"/>
          </a:xfrm>
          <a:prstGeom prst="rect">
            <a:avLst/>
          </a:prstGeom>
          <a:noFill/>
          <a:ln/>
        </p:spPr>
        <p:txBody>
          <a:bodyPr wrap="square" lIns="0" tIns="0" rIns="0" bIns="0" rtlCol="0" anchor="ctr"/>
          <a:lstStyle/>
          <a:p>
            <a:pPr rtl="1" algn="ctr" indent="0" marL="0">
              <a:buNone/>
            </a:pPr>
            <a:r>
              <a:rPr lang="ar-SA" altLang="en-US" sz="2400" b="1" dirty="0">
                <a:solidFill>
                  <a:srgbClr val="1B3B6F"/>
                </a:solidFill>
                <a:latin typeface="Amiri" pitchFamily="34" charset="0"/>
                <a:ea typeface="Amiri" pitchFamily="34" charset="-122"/>
                <a:cs typeface="Amiri" pitchFamily="34" charset="-120"/>
              </a:rPr>
              <a:t>جَدِيدٌ.</a:t>
            </a:r>
            <a:endParaRPr lang="ar-SA" sz="2400" dirty="0"/>
          </a:p>
        </p:txBody>
      </p:sp>
      <p:sp>
        <p:nvSpPr>
          <p:cNvPr id="32" name="Text 29"/>
          <p:cNvSpPr txBox="1"/>
          <p:nvPr/>
        </p:nvSpPr>
        <p:spPr>
          <a:xfrm>
            <a:off x="457200" y="3364992"/>
            <a:ext cx="2926080" cy="768096"/>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ea typeface="Calibri" pitchFamily="34" charset="-122"/>
                <a:cs typeface="Calibri" pitchFamily="34" charset="-120"/>
              </a:rPr>
              <a:t>This is a new female student.</a:t>
            </a:r>
            <a:endParaRPr lang="en-US" sz="1200" dirty="0"/>
          </a:p>
        </p:txBody>
      </p:sp>
      <p:sp>
        <p:nvSpPr>
          <p:cNvPr id="33" name="Shape 30"/>
          <p:cNvSpPr/>
          <p:nvPr/>
        </p:nvSpPr>
        <p:spPr>
          <a:xfrm>
            <a:off x="9089136" y="3364992"/>
            <a:ext cx="2642616" cy="768096"/>
          </a:xfrm>
          <a:prstGeom prst="roundRect">
            <a:avLst>
              <a:gd name="adj" fmla="val 7143"/>
            </a:avLst>
          </a:prstGeom>
          <a:solidFill>
            <a:srgbClr val="EEF3FA"/>
          </a:solidFill>
          <a:ln w="9525">
            <a:solidFill>
              <a:srgbClr val="EEF3FA"/>
            </a:solidFill>
            <a:prstDash val="solid"/>
          </a:ln>
        </p:spPr>
      </p:sp>
      <p:sp>
        <p:nvSpPr>
          <p:cNvPr id="34" name="Text 31"/>
          <p:cNvSpPr txBox="1"/>
          <p:nvPr/>
        </p:nvSpPr>
        <p:spPr>
          <a:xfrm>
            <a:off x="9162288" y="3364992"/>
            <a:ext cx="2496312" cy="768096"/>
          </a:xfrm>
          <a:prstGeom prst="rect">
            <a:avLst/>
          </a:prstGeom>
          <a:noFill/>
          <a:ln/>
        </p:spPr>
        <p:txBody>
          <a:bodyPr wrap="square" lIns="0" tIns="0" rIns="0" bIns="0" rtlCol="0" anchor="ctr"/>
          <a:lstStyle/>
          <a:p>
            <a:pPr rtl="1" algn="ctr" indent="0" marL="0">
              <a:buNone/>
            </a:pPr>
            <a:r>
              <a:rPr lang="ar-SA" altLang="en-US" sz="2400" b="1" dirty="0">
                <a:solidFill>
                  <a:srgbClr val="1B3B6F"/>
                </a:solidFill>
                <a:latin typeface="Amiri" pitchFamily="34" charset="0"/>
                <a:ea typeface="Amiri" pitchFamily="34" charset="-122"/>
                <a:cs typeface="Amiri" pitchFamily="34" charset="-120"/>
              </a:rPr>
              <a:t>هَذِهِ</a:t>
            </a:r>
            <a:endParaRPr lang="ar-SA" sz="2400" dirty="0"/>
          </a:p>
        </p:txBody>
      </p:sp>
      <p:sp>
        <p:nvSpPr>
          <p:cNvPr id="35" name="Shape 32"/>
          <p:cNvSpPr/>
          <p:nvPr/>
        </p:nvSpPr>
        <p:spPr>
          <a:xfrm>
            <a:off x="6336792" y="3364992"/>
            <a:ext cx="2642616" cy="768096"/>
          </a:xfrm>
          <a:prstGeom prst="roundRect">
            <a:avLst>
              <a:gd name="adj" fmla="val 7143"/>
            </a:avLst>
          </a:prstGeom>
          <a:solidFill>
            <a:srgbClr val="F1ECF7"/>
          </a:solidFill>
          <a:ln w="9525">
            <a:solidFill>
              <a:srgbClr val="F1ECF7"/>
            </a:solidFill>
            <a:prstDash val="solid"/>
          </a:ln>
        </p:spPr>
      </p:sp>
      <p:sp>
        <p:nvSpPr>
          <p:cNvPr id="36" name="Text 33"/>
          <p:cNvSpPr txBox="1"/>
          <p:nvPr/>
        </p:nvSpPr>
        <p:spPr>
          <a:xfrm>
            <a:off x="6409944" y="3364992"/>
            <a:ext cx="2496312" cy="768096"/>
          </a:xfrm>
          <a:prstGeom prst="rect">
            <a:avLst/>
          </a:prstGeom>
          <a:noFill/>
          <a:ln/>
        </p:spPr>
        <p:txBody>
          <a:bodyPr wrap="square" lIns="0" tIns="0" rIns="0" bIns="0" rtlCol="0" anchor="ctr"/>
          <a:lstStyle/>
          <a:p>
            <a:pPr rtl="1" algn="ctr" indent="0" marL="0">
              <a:buNone/>
            </a:pPr>
            <a:r>
              <a:rPr lang="ar-SA" altLang="en-US" sz="2400" b="1" dirty="0">
                <a:solidFill>
                  <a:srgbClr val="1B3B6F"/>
                </a:solidFill>
                <a:latin typeface="Amiri" pitchFamily="34" charset="0"/>
                <a:ea typeface="Amiri" pitchFamily="34" charset="-122"/>
                <a:cs typeface="Amiri" pitchFamily="34" charset="-120"/>
              </a:rPr>
              <a:t>طَالِبَ</a:t>
            </a:r>
            <a:pPr rtl="1" algn="ctr" indent="0" marL="0">
              <a:buNone/>
            </a:pPr>
            <a:r>
              <a:rPr lang="ar-SA" altLang="en-US" sz="2400" b="1" dirty="0">
                <a:solidFill>
                  <a:srgbClr val="D6336C"/>
                </a:solidFill>
                <a:latin typeface="Amiri" pitchFamily="34" charset="0"/>
                <a:ea typeface="Amiri" pitchFamily="34" charset="-122"/>
                <a:cs typeface="Amiri" pitchFamily="34" charset="-120"/>
              </a:rPr>
              <a:t>ةٌ</a:t>
            </a:r>
            <a:endParaRPr lang="ar-SA" sz="2400" dirty="0"/>
          </a:p>
        </p:txBody>
      </p:sp>
      <p:sp>
        <p:nvSpPr>
          <p:cNvPr id="37" name="Shape 34"/>
          <p:cNvSpPr/>
          <p:nvPr/>
        </p:nvSpPr>
        <p:spPr>
          <a:xfrm>
            <a:off x="3584448" y="3364992"/>
            <a:ext cx="2642616" cy="768096"/>
          </a:xfrm>
          <a:prstGeom prst="roundRect">
            <a:avLst>
              <a:gd name="adj" fmla="val 7143"/>
            </a:avLst>
          </a:prstGeom>
          <a:solidFill>
            <a:srgbClr val="FBEAEA"/>
          </a:solidFill>
          <a:ln w="9525">
            <a:solidFill>
              <a:srgbClr val="FBEAEA"/>
            </a:solidFill>
            <a:prstDash val="solid"/>
          </a:ln>
        </p:spPr>
      </p:sp>
      <p:sp>
        <p:nvSpPr>
          <p:cNvPr id="38" name="Text 35"/>
          <p:cNvSpPr txBox="1"/>
          <p:nvPr/>
        </p:nvSpPr>
        <p:spPr>
          <a:xfrm>
            <a:off x="3657600" y="3364992"/>
            <a:ext cx="2496312" cy="768096"/>
          </a:xfrm>
          <a:prstGeom prst="rect">
            <a:avLst/>
          </a:prstGeom>
          <a:noFill/>
          <a:ln/>
        </p:spPr>
        <p:txBody>
          <a:bodyPr wrap="square" lIns="0" tIns="0" rIns="0" bIns="0" rtlCol="0" anchor="ctr"/>
          <a:lstStyle/>
          <a:p>
            <a:pPr rtl="1" algn="ctr" indent="0" marL="0">
              <a:buNone/>
            </a:pPr>
            <a:r>
              <a:rPr lang="ar-SA" altLang="en-US" sz="2400" b="1" dirty="0">
                <a:solidFill>
                  <a:srgbClr val="1B3B6F"/>
                </a:solidFill>
                <a:latin typeface="Amiri" pitchFamily="34" charset="0"/>
                <a:ea typeface="Amiri" pitchFamily="34" charset="-122"/>
                <a:cs typeface="Amiri" pitchFamily="34" charset="-120"/>
              </a:rPr>
              <a:t>جَدِيدَ</a:t>
            </a:r>
            <a:pPr rtl="1" algn="ctr" indent="0" marL="0">
              <a:buNone/>
            </a:pPr>
            <a:r>
              <a:rPr lang="ar-SA" altLang="en-US" sz="2400" b="1" dirty="0">
                <a:solidFill>
                  <a:srgbClr val="D6336C"/>
                </a:solidFill>
                <a:latin typeface="Amiri" pitchFamily="34" charset="0"/>
                <a:ea typeface="Amiri" pitchFamily="34" charset="-122"/>
                <a:cs typeface="Amiri" pitchFamily="34" charset="-120"/>
              </a:rPr>
              <a:t>ةٌ</a:t>
            </a:r>
            <a:pPr rtl="1" algn="ctr" indent="0" marL="0">
              <a:buNone/>
            </a:pPr>
            <a:r>
              <a:rPr lang="ar-SA" altLang="en-US" sz="2400" b="1" dirty="0">
                <a:solidFill>
                  <a:srgbClr val="1B3B6F"/>
                </a:solidFill>
                <a:latin typeface="Amiri" pitchFamily="34" charset="0"/>
                <a:ea typeface="Amiri" pitchFamily="34" charset="-122"/>
                <a:cs typeface="Amiri" pitchFamily="34" charset="-120"/>
              </a:rPr>
              <a:t>.</a:t>
            </a:r>
            <a:endParaRPr lang="ar-SA" sz="2400" dirty="0"/>
          </a:p>
        </p:txBody>
      </p:sp>
      <p:sp>
        <p:nvSpPr>
          <p:cNvPr id="39" name="Text 36"/>
          <p:cNvSpPr txBox="1"/>
          <p:nvPr/>
        </p:nvSpPr>
        <p:spPr>
          <a:xfrm>
            <a:off x="457200" y="4242816"/>
            <a:ext cx="2926080" cy="768096"/>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ea typeface="Calibri" pitchFamily="34" charset="-122"/>
                <a:cs typeface="Calibri" pitchFamily="34" charset="-120"/>
              </a:rPr>
              <a:t>This is a short sister.</a:t>
            </a:r>
            <a:endParaRPr lang="en-US" sz="1200" dirty="0"/>
          </a:p>
        </p:txBody>
      </p:sp>
      <p:sp>
        <p:nvSpPr>
          <p:cNvPr id="40" name="Shape 37"/>
          <p:cNvSpPr/>
          <p:nvPr/>
        </p:nvSpPr>
        <p:spPr>
          <a:xfrm>
            <a:off x="9089136" y="4242816"/>
            <a:ext cx="2642616" cy="768096"/>
          </a:xfrm>
          <a:prstGeom prst="roundRect">
            <a:avLst>
              <a:gd name="adj" fmla="val 7143"/>
            </a:avLst>
          </a:prstGeom>
          <a:solidFill>
            <a:srgbClr val="EEF3FA"/>
          </a:solidFill>
          <a:ln w="9525">
            <a:solidFill>
              <a:srgbClr val="EEF3FA"/>
            </a:solidFill>
            <a:prstDash val="solid"/>
          </a:ln>
        </p:spPr>
      </p:sp>
      <p:sp>
        <p:nvSpPr>
          <p:cNvPr id="41" name="Text 38"/>
          <p:cNvSpPr txBox="1"/>
          <p:nvPr/>
        </p:nvSpPr>
        <p:spPr>
          <a:xfrm>
            <a:off x="9162288" y="4242816"/>
            <a:ext cx="2496312" cy="768096"/>
          </a:xfrm>
          <a:prstGeom prst="rect">
            <a:avLst/>
          </a:prstGeom>
          <a:noFill/>
          <a:ln/>
        </p:spPr>
        <p:txBody>
          <a:bodyPr wrap="square" lIns="0" tIns="0" rIns="0" bIns="0" rtlCol="0" anchor="ctr"/>
          <a:lstStyle/>
          <a:p>
            <a:pPr rtl="1" algn="ctr" indent="0" marL="0">
              <a:buNone/>
            </a:pPr>
            <a:r>
              <a:rPr lang="ar-SA" altLang="en-US" sz="2400" b="1" dirty="0">
                <a:solidFill>
                  <a:srgbClr val="1B3B6F"/>
                </a:solidFill>
                <a:latin typeface="Amiri" pitchFamily="34" charset="0"/>
                <a:ea typeface="Amiri" pitchFamily="34" charset="-122"/>
                <a:cs typeface="Amiri" pitchFamily="34" charset="-120"/>
              </a:rPr>
              <a:t>هَذِهِ</a:t>
            </a:r>
            <a:endParaRPr lang="ar-SA" sz="2400" dirty="0"/>
          </a:p>
        </p:txBody>
      </p:sp>
      <p:sp>
        <p:nvSpPr>
          <p:cNvPr id="42" name="Shape 39"/>
          <p:cNvSpPr/>
          <p:nvPr/>
        </p:nvSpPr>
        <p:spPr>
          <a:xfrm>
            <a:off x="6336792" y="4242816"/>
            <a:ext cx="2642616" cy="768096"/>
          </a:xfrm>
          <a:prstGeom prst="roundRect">
            <a:avLst>
              <a:gd name="adj" fmla="val 7143"/>
            </a:avLst>
          </a:prstGeom>
          <a:solidFill>
            <a:srgbClr val="F1ECF7"/>
          </a:solidFill>
          <a:ln w="9525">
            <a:solidFill>
              <a:srgbClr val="F1ECF7"/>
            </a:solidFill>
            <a:prstDash val="solid"/>
          </a:ln>
        </p:spPr>
      </p:sp>
      <p:sp>
        <p:nvSpPr>
          <p:cNvPr id="43" name="Text 40"/>
          <p:cNvSpPr txBox="1"/>
          <p:nvPr/>
        </p:nvSpPr>
        <p:spPr>
          <a:xfrm>
            <a:off x="6409944" y="4242816"/>
            <a:ext cx="2496312" cy="768096"/>
          </a:xfrm>
          <a:prstGeom prst="rect">
            <a:avLst/>
          </a:prstGeom>
          <a:noFill/>
          <a:ln/>
        </p:spPr>
        <p:txBody>
          <a:bodyPr wrap="square" lIns="0" tIns="0" rIns="0" bIns="0" rtlCol="0" anchor="ctr"/>
          <a:lstStyle/>
          <a:p>
            <a:pPr rtl="1" algn="ctr" indent="0" marL="0">
              <a:buNone/>
            </a:pPr>
            <a:r>
              <a:rPr lang="ar-SA" altLang="en-US" sz="2400" b="1" dirty="0">
                <a:solidFill>
                  <a:srgbClr val="1B3B6F"/>
                </a:solidFill>
                <a:latin typeface="Amiri" pitchFamily="34" charset="0"/>
                <a:ea typeface="Amiri" pitchFamily="34" charset="-122"/>
                <a:cs typeface="Amiri" pitchFamily="34" charset="-120"/>
              </a:rPr>
              <a:t>أُخْتٌ</a:t>
            </a:r>
            <a:endParaRPr lang="ar-SA" sz="2400" dirty="0"/>
          </a:p>
        </p:txBody>
      </p:sp>
      <p:sp>
        <p:nvSpPr>
          <p:cNvPr id="44" name="Shape 41"/>
          <p:cNvSpPr/>
          <p:nvPr/>
        </p:nvSpPr>
        <p:spPr>
          <a:xfrm>
            <a:off x="3584448" y="4242816"/>
            <a:ext cx="2642616" cy="768096"/>
          </a:xfrm>
          <a:prstGeom prst="roundRect">
            <a:avLst>
              <a:gd name="adj" fmla="val 7143"/>
            </a:avLst>
          </a:prstGeom>
          <a:solidFill>
            <a:srgbClr val="FBEAEA"/>
          </a:solidFill>
          <a:ln w="9525">
            <a:solidFill>
              <a:srgbClr val="FBEAEA"/>
            </a:solidFill>
            <a:prstDash val="solid"/>
          </a:ln>
        </p:spPr>
      </p:sp>
      <p:sp>
        <p:nvSpPr>
          <p:cNvPr id="45" name="Text 42"/>
          <p:cNvSpPr txBox="1"/>
          <p:nvPr/>
        </p:nvSpPr>
        <p:spPr>
          <a:xfrm>
            <a:off x="3657600" y="4242816"/>
            <a:ext cx="2496312" cy="768096"/>
          </a:xfrm>
          <a:prstGeom prst="rect">
            <a:avLst/>
          </a:prstGeom>
          <a:noFill/>
          <a:ln/>
        </p:spPr>
        <p:txBody>
          <a:bodyPr wrap="square" lIns="0" tIns="0" rIns="0" bIns="0" rtlCol="0" anchor="ctr"/>
          <a:lstStyle/>
          <a:p>
            <a:pPr rtl="1" algn="ctr" indent="0" marL="0">
              <a:buNone/>
            </a:pPr>
            <a:r>
              <a:rPr lang="ar-SA" altLang="en-US" sz="2400" b="1" dirty="0">
                <a:solidFill>
                  <a:srgbClr val="1B3B6F"/>
                </a:solidFill>
                <a:latin typeface="Amiri" pitchFamily="34" charset="0"/>
                <a:ea typeface="Amiri" pitchFamily="34" charset="-122"/>
                <a:cs typeface="Amiri" pitchFamily="34" charset="-120"/>
              </a:rPr>
              <a:t>قَصِيرَ</a:t>
            </a:r>
            <a:pPr rtl="1" algn="ctr" indent="0" marL="0">
              <a:buNone/>
            </a:pPr>
            <a:r>
              <a:rPr lang="ar-SA" altLang="en-US" sz="2400" b="1" dirty="0">
                <a:solidFill>
                  <a:srgbClr val="D6336C"/>
                </a:solidFill>
                <a:latin typeface="Amiri" pitchFamily="34" charset="0"/>
                <a:ea typeface="Amiri" pitchFamily="34" charset="-122"/>
                <a:cs typeface="Amiri" pitchFamily="34" charset="-120"/>
              </a:rPr>
              <a:t>ةٌ</a:t>
            </a:r>
            <a:pPr rtl="1" algn="ctr" indent="0" marL="0">
              <a:buNone/>
            </a:pPr>
            <a:r>
              <a:rPr lang="ar-SA" altLang="en-US" sz="2400" b="1" dirty="0">
                <a:solidFill>
                  <a:srgbClr val="1B3B6F"/>
                </a:solidFill>
                <a:latin typeface="Amiri" pitchFamily="34" charset="0"/>
                <a:ea typeface="Amiri" pitchFamily="34" charset="-122"/>
                <a:cs typeface="Amiri" pitchFamily="34" charset="-120"/>
              </a:rPr>
              <a:t>.</a:t>
            </a:r>
            <a:endParaRPr lang="ar-SA" sz="2400" dirty="0"/>
          </a:p>
        </p:txBody>
      </p:sp>
      <p:sp>
        <p:nvSpPr>
          <p:cNvPr id="46" name="Text 43"/>
          <p:cNvSpPr txBox="1"/>
          <p:nvPr/>
        </p:nvSpPr>
        <p:spPr>
          <a:xfrm>
            <a:off x="457200" y="5120640"/>
            <a:ext cx="2926080" cy="768096"/>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ea typeface="Calibri" pitchFamily="34" charset="-122"/>
                <a:cs typeface="Calibri" pitchFamily="34" charset="-120"/>
              </a:rPr>
              <a:t>This is an old book.</a:t>
            </a:r>
            <a:endParaRPr lang="en-US" sz="1200" dirty="0"/>
          </a:p>
        </p:txBody>
      </p:sp>
      <p:sp>
        <p:nvSpPr>
          <p:cNvPr id="47" name="Shape 44"/>
          <p:cNvSpPr/>
          <p:nvPr/>
        </p:nvSpPr>
        <p:spPr>
          <a:xfrm>
            <a:off x="9089136" y="5120640"/>
            <a:ext cx="2642616" cy="768096"/>
          </a:xfrm>
          <a:prstGeom prst="roundRect">
            <a:avLst>
              <a:gd name="adj" fmla="val 7143"/>
            </a:avLst>
          </a:prstGeom>
          <a:solidFill>
            <a:srgbClr val="EEF3FA"/>
          </a:solidFill>
          <a:ln w="9525">
            <a:solidFill>
              <a:srgbClr val="EEF3FA"/>
            </a:solidFill>
            <a:prstDash val="solid"/>
          </a:ln>
        </p:spPr>
      </p:sp>
      <p:sp>
        <p:nvSpPr>
          <p:cNvPr id="48" name="Text 45"/>
          <p:cNvSpPr txBox="1"/>
          <p:nvPr/>
        </p:nvSpPr>
        <p:spPr>
          <a:xfrm>
            <a:off x="9162288" y="5120640"/>
            <a:ext cx="2496312" cy="768096"/>
          </a:xfrm>
          <a:prstGeom prst="rect">
            <a:avLst/>
          </a:prstGeom>
          <a:noFill/>
          <a:ln/>
        </p:spPr>
        <p:txBody>
          <a:bodyPr wrap="square" lIns="0" tIns="0" rIns="0" bIns="0" rtlCol="0" anchor="ctr"/>
          <a:lstStyle/>
          <a:p>
            <a:pPr rtl="1" algn="ctr" indent="0" marL="0">
              <a:buNone/>
            </a:pPr>
            <a:r>
              <a:rPr lang="ar-SA" altLang="en-US" sz="2400" b="1" dirty="0">
                <a:solidFill>
                  <a:srgbClr val="1B3B6F"/>
                </a:solidFill>
                <a:latin typeface="Amiri" pitchFamily="34" charset="0"/>
                <a:ea typeface="Amiri" pitchFamily="34" charset="-122"/>
                <a:cs typeface="Amiri" pitchFamily="34" charset="-120"/>
              </a:rPr>
              <a:t>هَذَا</a:t>
            </a:r>
            <a:endParaRPr lang="ar-SA" sz="2400" dirty="0"/>
          </a:p>
        </p:txBody>
      </p:sp>
      <p:sp>
        <p:nvSpPr>
          <p:cNvPr id="49" name="Shape 46"/>
          <p:cNvSpPr/>
          <p:nvPr/>
        </p:nvSpPr>
        <p:spPr>
          <a:xfrm>
            <a:off x="6336792" y="5120640"/>
            <a:ext cx="2642616" cy="768096"/>
          </a:xfrm>
          <a:prstGeom prst="roundRect">
            <a:avLst>
              <a:gd name="adj" fmla="val 7143"/>
            </a:avLst>
          </a:prstGeom>
          <a:solidFill>
            <a:srgbClr val="F1ECF7"/>
          </a:solidFill>
          <a:ln w="9525">
            <a:solidFill>
              <a:srgbClr val="F1ECF7"/>
            </a:solidFill>
            <a:prstDash val="solid"/>
          </a:ln>
        </p:spPr>
      </p:sp>
      <p:sp>
        <p:nvSpPr>
          <p:cNvPr id="50" name="Text 47"/>
          <p:cNvSpPr txBox="1"/>
          <p:nvPr/>
        </p:nvSpPr>
        <p:spPr>
          <a:xfrm>
            <a:off x="6409944" y="5120640"/>
            <a:ext cx="2496312" cy="768096"/>
          </a:xfrm>
          <a:prstGeom prst="rect">
            <a:avLst/>
          </a:prstGeom>
          <a:noFill/>
          <a:ln/>
        </p:spPr>
        <p:txBody>
          <a:bodyPr wrap="square" lIns="0" tIns="0" rIns="0" bIns="0" rtlCol="0" anchor="ctr"/>
          <a:lstStyle/>
          <a:p>
            <a:pPr rtl="1" algn="ctr" indent="0" marL="0">
              <a:buNone/>
            </a:pPr>
            <a:r>
              <a:rPr lang="ar-SA" altLang="en-US" sz="2400" b="1" dirty="0">
                <a:solidFill>
                  <a:srgbClr val="1B3B6F"/>
                </a:solidFill>
                <a:latin typeface="Amiri" pitchFamily="34" charset="0"/>
                <a:ea typeface="Amiri" pitchFamily="34" charset="-122"/>
                <a:cs typeface="Amiri" pitchFamily="34" charset="-120"/>
              </a:rPr>
              <a:t>كِتَابٌ</a:t>
            </a:r>
            <a:endParaRPr lang="ar-SA" sz="2400" dirty="0"/>
          </a:p>
        </p:txBody>
      </p:sp>
      <p:sp>
        <p:nvSpPr>
          <p:cNvPr id="51" name="Shape 48"/>
          <p:cNvSpPr/>
          <p:nvPr/>
        </p:nvSpPr>
        <p:spPr>
          <a:xfrm>
            <a:off x="3584448" y="5120640"/>
            <a:ext cx="2642616" cy="768096"/>
          </a:xfrm>
          <a:prstGeom prst="roundRect">
            <a:avLst>
              <a:gd name="adj" fmla="val 7143"/>
            </a:avLst>
          </a:prstGeom>
          <a:solidFill>
            <a:srgbClr val="FBEAEA"/>
          </a:solidFill>
          <a:ln w="9525">
            <a:solidFill>
              <a:srgbClr val="FBEAEA"/>
            </a:solidFill>
            <a:prstDash val="solid"/>
          </a:ln>
        </p:spPr>
      </p:sp>
      <p:sp>
        <p:nvSpPr>
          <p:cNvPr id="52" name="Text 49"/>
          <p:cNvSpPr txBox="1"/>
          <p:nvPr/>
        </p:nvSpPr>
        <p:spPr>
          <a:xfrm>
            <a:off x="3657600" y="5120640"/>
            <a:ext cx="2496312" cy="768096"/>
          </a:xfrm>
          <a:prstGeom prst="rect">
            <a:avLst/>
          </a:prstGeom>
          <a:noFill/>
          <a:ln/>
        </p:spPr>
        <p:txBody>
          <a:bodyPr wrap="square" lIns="0" tIns="0" rIns="0" bIns="0" rtlCol="0" anchor="ctr"/>
          <a:lstStyle/>
          <a:p>
            <a:pPr rtl="1" algn="ctr" indent="0" marL="0">
              <a:buNone/>
            </a:pPr>
            <a:r>
              <a:rPr lang="ar-SA" altLang="en-US" sz="2400" b="1" dirty="0">
                <a:solidFill>
                  <a:srgbClr val="1B3B6F"/>
                </a:solidFill>
                <a:latin typeface="Amiri" pitchFamily="34" charset="0"/>
                <a:ea typeface="Amiri" pitchFamily="34" charset="-122"/>
                <a:cs typeface="Amiri" pitchFamily="34" charset="-120"/>
              </a:rPr>
              <a:t>قَدِيمٌ.</a:t>
            </a:r>
            <a:endParaRPr lang="ar-SA" sz="2400" dirty="0"/>
          </a:p>
        </p:txBody>
      </p:sp>
      <p:sp>
        <p:nvSpPr>
          <p:cNvPr id="53" name="Text 50"/>
          <p:cNvSpPr txBox="1"/>
          <p:nvPr/>
        </p:nvSpPr>
        <p:spPr>
          <a:xfrm>
            <a:off x="457200" y="5989320"/>
            <a:ext cx="11274552" cy="320040"/>
          </a:xfrm>
          <a:prstGeom prst="rect">
            <a:avLst/>
          </a:prstGeom>
          <a:noFill/>
          <a:ln/>
        </p:spPr>
        <p:txBody>
          <a:bodyPr wrap="square" lIns="0" tIns="0" rIns="0" bIns="0" rtlCol="0" anchor="ctr"/>
          <a:lstStyle/>
          <a:p>
            <a:pPr algn="l" indent="0" marL="0">
              <a:buNone/>
            </a:pPr>
            <a:r>
              <a:rPr lang="en-US" sz="1200" b="1" dirty="0">
                <a:solidFill>
                  <a:srgbClr val="8A6D1E"/>
                </a:solidFill>
                <a:latin typeface="Calibri" pitchFamily="34" charset="0"/>
                <a:ea typeface="Calibri" pitchFamily="34" charset="-122"/>
                <a:cs typeface="Calibri" pitchFamily="34" charset="-120"/>
              </a:rPr>
              <a:t>Noun FIRST, adjective SECOND — </a:t>
            </a:r>
            <a:pPr algn="l" indent="0" marL="0">
              <a:buNone/>
            </a:pPr>
            <a:r>
              <a:rPr lang="ar-SA" altLang="en-US" sz="1550" b="1" dirty="0">
                <a:solidFill>
                  <a:srgbClr val="8A6D1E"/>
                </a:solidFill>
                <a:latin typeface="Amiri" pitchFamily="34" charset="0"/>
                <a:ea typeface="Amiri" pitchFamily="34" charset="-122"/>
                <a:cs typeface="Amiri" pitchFamily="34" charset="-120"/>
              </a:rPr>
              <a:t>كِتَابٌ جَدِيدٌ</a:t>
            </a:r>
            <a:pPr algn="l" indent="0" marL="0">
              <a:buNone/>
            </a:pPr>
            <a:r>
              <a:rPr lang="en-US" sz="1200" b="1" dirty="0">
                <a:solidFill>
                  <a:srgbClr val="8A6D1E"/>
                </a:solidFill>
                <a:latin typeface="Calibri" pitchFamily="34" charset="0"/>
                <a:ea typeface="Calibri" pitchFamily="34" charset="-122"/>
                <a:cs typeface="Calibri" pitchFamily="34" charset="-120"/>
              </a:rPr>
              <a:t> = a new book.</a:t>
            </a:r>
            <a:endParaRPr lang="en-US" sz="1200" dirty="0"/>
          </a:p>
        </p:txBody>
      </p:sp>
      <p:sp>
        <p:nvSpPr>
          <p:cNvPr id="54" name="Text 5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ea typeface="Calibri" pitchFamily="34" charset="-122"/>
                <a:cs typeface="Calibri" pitchFamily="34" charset="-120"/>
              </a:rPr>
              <a:t>12 / 36</a:t>
            </a:r>
            <a:endParaRPr lang="en-US" sz="8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34" charset="0"/>
                <a:ea typeface="Amiri" pitchFamily="34" charset="-122"/>
                <a:cs typeface="Amiri" pitchFamily="34" charset="-120"/>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ea typeface="Cambria" pitchFamily="34" charset="-122"/>
                <a:cs typeface="Cambria" pitchFamily="34" charset="-120"/>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ea typeface="Calibri" pitchFamily="34" charset="-122"/>
                <a:cs typeface="Calibri" pitchFamily="34" charset="-120"/>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ea typeface="Calibri" pitchFamily="34" charset="-122"/>
                <a:cs typeface="Calibri" pitchFamily="34" charset="-120"/>
              </a:rPr>
              <a:t>F2-L05 · Masculine &amp; Feminine</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ea typeface="Calibri" pitchFamily="34" charset="-122"/>
                <a:cs typeface="Calibri" pitchFamily="34" charset="-120"/>
              </a:rPr>
              <a:t>TEACHER INSTRUCTION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ea typeface="Calibri" pitchFamily="34" charset="-122"/>
                <a:cs typeface="Calibri" pitchFamily="34" charset="-120"/>
              </a:rPr>
              <a:t>CHECK FOR UNDERSTANDING · HINGE QUESTIONS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ea typeface="Cambria" pitchFamily="34" charset="-122"/>
                <a:cs typeface="Cambria" pitchFamily="34" charset="-120"/>
              </a:rPr>
              <a:t>Quick check</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34" charset="0"/>
                <a:ea typeface="Amiri" pitchFamily="34" charset="-122"/>
                <a:cs typeface="Amiri" pitchFamily="34" charset="-120"/>
              </a:rPr>
              <a:t>فَحْصٌ سَرِيعٌ</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ea typeface="Calibri" pitchFamily="34" charset="-122"/>
                <a:cs typeface="Calibri" pitchFamily="34" charset="-120"/>
              </a:rPr>
              <a:t>Miftah Arabic · Foundation F2 · Greetings &amp; Introductions · Week 2 · Lesson 2 of 3</a:t>
            </a:r>
            <a:endParaRPr lang="en-US" sz="850" dirty="0"/>
          </a:p>
        </p:txBody>
      </p:sp>
      <p:sp>
        <p:nvSpPr>
          <p:cNvPr id="15" name="Shape 12"/>
          <p:cNvSpPr/>
          <p:nvPr/>
        </p:nvSpPr>
        <p:spPr>
          <a:xfrm>
            <a:off x="457200" y="1810512"/>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1</a:t>
            </a:r>
            <a:endParaRPr lang="en-US" sz="1100" dirty="0"/>
          </a:p>
        </p:txBody>
      </p:sp>
      <p:sp>
        <p:nvSpPr>
          <p:cNvPr id="18" name="Text 15"/>
          <p:cNvSpPr txBox="1"/>
          <p:nvPr/>
        </p:nvSpPr>
        <p:spPr>
          <a:xfrm>
            <a:off x="950976" y="1883664"/>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Choose ‘a new male student’.</a:t>
            </a:r>
            <a:endParaRPr lang="en-US" sz="1250" dirty="0"/>
          </a:p>
        </p:txBody>
      </p:sp>
      <p:sp>
        <p:nvSpPr>
          <p:cNvPr id="19" name="Shape 16"/>
          <p:cNvSpPr/>
          <p:nvPr/>
        </p:nvSpPr>
        <p:spPr>
          <a:xfrm>
            <a:off x="640080" y="2532888"/>
            <a:ext cx="256032" cy="256032"/>
          </a:xfrm>
          <a:prstGeom prst="ellipse">
            <a:avLst/>
          </a:prstGeom>
          <a:solidFill>
            <a:srgbClr val="F4F1EA"/>
          </a:solidFill>
          <a:ln w="12700">
            <a:solidFill>
              <a:srgbClr val="F4F1EA"/>
            </a:solidFill>
            <a:prstDash val="solid"/>
          </a:ln>
        </p:spPr>
      </p:sp>
      <p:sp>
        <p:nvSpPr>
          <p:cNvPr id="20" name="Text 17"/>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A</a:t>
            </a:r>
            <a:endParaRPr lang="en-US" sz="900" dirty="0"/>
          </a:p>
        </p:txBody>
      </p:sp>
      <p:sp>
        <p:nvSpPr>
          <p:cNvPr id="21" name="Text 18"/>
          <p:cNvSpPr txBox="1"/>
          <p:nvPr/>
        </p:nvSpPr>
        <p:spPr>
          <a:xfrm>
            <a:off x="969264" y="24323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34" charset="0"/>
                <a:ea typeface="Amiri" pitchFamily="34" charset="-122"/>
                <a:cs typeface="Amiri" pitchFamily="34" charset="-120"/>
              </a:rPr>
              <a:t>طَالِبَةٌ جَدِيدَةٌ</a:t>
            </a:r>
            <a:endParaRPr lang="ar-SA" sz="2050" dirty="0"/>
          </a:p>
        </p:txBody>
      </p:sp>
      <p:sp>
        <p:nvSpPr>
          <p:cNvPr id="22" name="Shape 19"/>
          <p:cNvSpPr/>
          <p:nvPr/>
        </p:nvSpPr>
        <p:spPr>
          <a:xfrm>
            <a:off x="640080" y="2990088"/>
            <a:ext cx="256032" cy="256032"/>
          </a:xfrm>
          <a:prstGeom prst="ellipse">
            <a:avLst/>
          </a:prstGeom>
          <a:solidFill>
            <a:srgbClr val="F4F1EA"/>
          </a:solidFill>
          <a:ln w="12700">
            <a:solidFill>
              <a:srgbClr val="F4F1EA"/>
            </a:solidFill>
            <a:prstDash val="solid"/>
          </a:ln>
        </p:spPr>
      </p:sp>
      <p:sp>
        <p:nvSpPr>
          <p:cNvPr id="23" name="Text 20"/>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24" name="Text 21"/>
          <p:cNvSpPr txBox="1"/>
          <p:nvPr/>
        </p:nvSpPr>
        <p:spPr>
          <a:xfrm>
            <a:off x="969264" y="28895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34" charset="0"/>
                <a:ea typeface="Amiri" pitchFamily="34" charset="-122"/>
                <a:cs typeface="Amiri" pitchFamily="34" charset="-120"/>
              </a:rPr>
              <a:t>جَدِيدٌ طَالِبٌ</a:t>
            </a:r>
            <a:endParaRPr lang="ar-SA" sz="2050" dirty="0"/>
          </a:p>
        </p:txBody>
      </p:sp>
      <p:sp>
        <p:nvSpPr>
          <p:cNvPr id="25" name="Shape 22"/>
          <p:cNvSpPr/>
          <p:nvPr/>
        </p:nvSpPr>
        <p:spPr>
          <a:xfrm>
            <a:off x="640080" y="3447288"/>
            <a:ext cx="256032" cy="256032"/>
          </a:xfrm>
          <a:prstGeom prst="ellipse">
            <a:avLst/>
          </a:prstGeom>
          <a:solidFill>
            <a:srgbClr val="F4F1EA"/>
          </a:solidFill>
          <a:ln w="12700">
            <a:solidFill>
              <a:srgbClr val="F4F1EA"/>
            </a:solidFill>
            <a:prstDash val="solid"/>
          </a:ln>
        </p:spPr>
      </p:sp>
      <p:sp>
        <p:nvSpPr>
          <p:cNvPr id="26" name="Text 23"/>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C</a:t>
            </a:r>
            <a:endParaRPr lang="en-US" sz="900" dirty="0"/>
          </a:p>
        </p:txBody>
      </p:sp>
      <p:sp>
        <p:nvSpPr>
          <p:cNvPr id="27" name="Text 24"/>
          <p:cNvSpPr txBox="1"/>
          <p:nvPr/>
        </p:nvSpPr>
        <p:spPr>
          <a:xfrm>
            <a:off x="969264" y="33467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34" charset="0"/>
                <a:ea typeface="Amiri" pitchFamily="34" charset="-122"/>
                <a:cs typeface="Amiri" pitchFamily="34" charset="-120"/>
              </a:rPr>
              <a:t>طَالِبٌ جَدِيدٌ</a:t>
            </a:r>
            <a:endParaRPr lang="ar-SA" sz="2050" dirty="0"/>
          </a:p>
        </p:txBody>
      </p:sp>
      <p:sp>
        <p:nvSpPr>
          <p:cNvPr id="28" name="Shape 25"/>
          <p:cNvSpPr/>
          <p:nvPr/>
        </p:nvSpPr>
        <p:spPr>
          <a:xfrm>
            <a:off x="6185916" y="1810512"/>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9" name="Shape 26"/>
          <p:cNvSpPr/>
          <p:nvPr/>
        </p:nvSpPr>
        <p:spPr>
          <a:xfrm>
            <a:off x="6313932" y="1947672"/>
            <a:ext cx="310896" cy="310896"/>
          </a:xfrm>
          <a:prstGeom prst="ellipse">
            <a:avLst/>
          </a:prstGeom>
          <a:solidFill>
            <a:srgbClr val="1B3B6F"/>
          </a:solidFill>
          <a:ln w="12700">
            <a:solidFill>
              <a:srgbClr val="1B3B6F"/>
            </a:solidFill>
            <a:prstDash val="solid"/>
          </a:ln>
        </p:spPr>
      </p:sp>
      <p:sp>
        <p:nvSpPr>
          <p:cNvPr id="30" name="Text 27"/>
          <p:cNvSpPr txBox="1"/>
          <p:nvPr/>
        </p:nvSpPr>
        <p:spPr>
          <a:xfrm>
            <a:off x="6313932"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2</a:t>
            </a:r>
            <a:endParaRPr lang="en-US" sz="1100" dirty="0"/>
          </a:p>
        </p:txBody>
      </p:sp>
      <p:sp>
        <p:nvSpPr>
          <p:cNvPr id="31" name="Text 28"/>
          <p:cNvSpPr txBox="1"/>
          <p:nvPr/>
        </p:nvSpPr>
        <p:spPr>
          <a:xfrm>
            <a:off x="6679692" y="1883664"/>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Choose ‘a kind female classmate’.</a:t>
            </a:r>
            <a:endParaRPr lang="en-US" sz="1250" dirty="0"/>
          </a:p>
        </p:txBody>
      </p:sp>
      <p:sp>
        <p:nvSpPr>
          <p:cNvPr id="32" name="Shape 29"/>
          <p:cNvSpPr/>
          <p:nvPr/>
        </p:nvSpPr>
        <p:spPr>
          <a:xfrm>
            <a:off x="6368796" y="2532888"/>
            <a:ext cx="256032" cy="256032"/>
          </a:xfrm>
          <a:prstGeom prst="ellipse">
            <a:avLst/>
          </a:prstGeom>
          <a:solidFill>
            <a:srgbClr val="F4F1EA"/>
          </a:solidFill>
          <a:ln w="12700">
            <a:solidFill>
              <a:srgbClr val="F4F1EA"/>
            </a:solidFill>
            <a:prstDash val="solid"/>
          </a:ln>
        </p:spPr>
      </p:sp>
      <p:sp>
        <p:nvSpPr>
          <p:cNvPr id="33" name="Text 30"/>
          <p:cNvSpPr txBox="1"/>
          <p:nvPr/>
        </p:nvSpPr>
        <p:spPr>
          <a:xfrm>
            <a:off x="6368796"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A</a:t>
            </a:r>
            <a:endParaRPr lang="en-US" sz="900" dirty="0"/>
          </a:p>
        </p:txBody>
      </p:sp>
      <p:sp>
        <p:nvSpPr>
          <p:cNvPr id="34" name="Text 31"/>
          <p:cNvSpPr txBox="1"/>
          <p:nvPr/>
        </p:nvSpPr>
        <p:spPr>
          <a:xfrm>
            <a:off x="6697980" y="24323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34" charset="0"/>
                <a:ea typeface="Amiri" pitchFamily="34" charset="-122"/>
                <a:cs typeface="Amiri" pitchFamily="34" charset="-120"/>
              </a:rPr>
              <a:t>زَمِيلَةٌ لَطِيفَةٌ</a:t>
            </a:r>
            <a:endParaRPr lang="ar-SA" sz="2050" dirty="0"/>
          </a:p>
        </p:txBody>
      </p:sp>
      <p:sp>
        <p:nvSpPr>
          <p:cNvPr id="35" name="Shape 32"/>
          <p:cNvSpPr/>
          <p:nvPr/>
        </p:nvSpPr>
        <p:spPr>
          <a:xfrm>
            <a:off x="6368796" y="2990088"/>
            <a:ext cx="256032" cy="256032"/>
          </a:xfrm>
          <a:prstGeom prst="ellipse">
            <a:avLst/>
          </a:prstGeom>
          <a:solidFill>
            <a:srgbClr val="F4F1EA"/>
          </a:solidFill>
          <a:ln w="12700">
            <a:solidFill>
              <a:srgbClr val="F4F1EA"/>
            </a:solidFill>
            <a:prstDash val="solid"/>
          </a:ln>
        </p:spPr>
      </p:sp>
      <p:sp>
        <p:nvSpPr>
          <p:cNvPr id="36" name="Text 33"/>
          <p:cNvSpPr txBox="1"/>
          <p:nvPr/>
        </p:nvSpPr>
        <p:spPr>
          <a:xfrm>
            <a:off x="6368796"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37" name="Text 34"/>
          <p:cNvSpPr txBox="1"/>
          <p:nvPr/>
        </p:nvSpPr>
        <p:spPr>
          <a:xfrm>
            <a:off x="6697980" y="28895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34" charset="0"/>
                <a:ea typeface="Amiri" pitchFamily="34" charset="-122"/>
                <a:cs typeface="Amiri" pitchFamily="34" charset="-120"/>
              </a:rPr>
              <a:t>زَمِيلٌ لَطِيفَةٌ</a:t>
            </a:r>
            <a:endParaRPr lang="ar-SA" sz="2050" dirty="0"/>
          </a:p>
        </p:txBody>
      </p:sp>
      <p:sp>
        <p:nvSpPr>
          <p:cNvPr id="38" name="Shape 35"/>
          <p:cNvSpPr/>
          <p:nvPr/>
        </p:nvSpPr>
        <p:spPr>
          <a:xfrm>
            <a:off x="6368796" y="3447288"/>
            <a:ext cx="256032" cy="256032"/>
          </a:xfrm>
          <a:prstGeom prst="ellipse">
            <a:avLst/>
          </a:prstGeom>
          <a:solidFill>
            <a:srgbClr val="F4F1EA"/>
          </a:solidFill>
          <a:ln w="12700">
            <a:solidFill>
              <a:srgbClr val="F4F1EA"/>
            </a:solidFill>
            <a:prstDash val="solid"/>
          </a:ln>
        </p:spPr>
      </p:sp>
      <p:sp>
        <p:nvSpPr>
          <p:cNvPr id="39" name="Text 36"/>
          <p:cNvSpPr txBox="1"/>
          <p:nvPr/>
        </p:nvSpPr>
        <p:spPr>
          <a:xfrm>
            <a:off x="6368796"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C</a:t>
            </a:r>
            <a:endParaRPr lang="en-US" sz="900" dirty="0"/>
          </a:p>
        </p:txBody>
      </p:sp>
      <p:sp>
        <p:nvSpPr>
          <p:cNvPr id="40" name="Text 37"/>
          <p:cNvSpPr txBox="1"/>
          <p:nvPr/>
        </p:nvSpPr>
        <p:spPr>
          <a:xfrm>
            <a:off x="6697980" y="33467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34" charset="0"/>
                <a:ea typeface="Amiri" pitchFamily="34" charset="-122"/>
                <a:cs typeface="Amiri" pitchFamily="34" charset="-120"/>
              </a:rPr>
              <a:t>لَطِيفَةٌ زَمِيلَةٌ</a:t>
            </a:r>
            <a:endParaRPr lang="ar-SA" sz="2050" dirty="0"/>
          </a:p>
        </p:txBody>
      </p:sp>
      <p:sp>
        <p:nvSpPr>
          <p:cNvPr id="41" name="Shape 38"/>
          <p:cNvSpPr/>
          <p:nvPr/>
        </p:nvSpPr>
        <p:spPr>
          <a:xfrm>
            <a:off x="457200" y="4151376"/>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2" name="Shape 39"/>
          <p:cNvSpPr/>
          <p:nvPr/>
        </p:nvSpPr>
        <p:spPr>
          <a:xfrm>
            <a:off x="585216" y="4288536"/>
            <a:ext cx="310896" cy="310896"/>
          </a:xfrm>
          <a:prstGeom prst="ellipse">
            <a:avLst/>
          </a:prstGeom>
          <a:solidFill>
            <a:srgbClr val="1B3B6F"/>
          </a:solidFill>
          <a:ln w="12700">
            <a:solidFill>
              <a:srgbClr val="1B3B6F"/>
            </a:solidFill>
            <a:prstDash val="solid"/>
          </a:ln>
        </p:spPr>
      </p:sp>
      <p:sp>
        <p:nvSpPr>
          <p:cNvPr id="43" name="Text 40"/>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3</a:t>
            </a:r>
            <a:endParaRPr lang="en-US" sz="1100" dirty="0"/>
          </a:p>
        </p:txBody>
      </p:sp>
      <p:sp>
        <p:nvSpPr>
          <p:cNvPr id="44" name="Text 41"/>
          <p:cNvSpPr txBox="1"/>
          <p:nvPr/>
        </p:nvSpPr>
        <p:spPr>
          <a:xfrm>
            <a:off x="950976" y="4224528"/>
            <a:ext cx="2273473" cy="475488"/>
          </a:xfrm>
          <a:prstGeom prst="rect">
            <a:avLst/>
          </a:prstGeom>
          <a:noFill/>
          <a:ln/>
        </p:spPr>
        <p:txBody>
          <a:bodyPr wrap="square" lIns="0" tIns="0" rIns="0" bIns="0" rtlCol="0" anchor="ctr"/>
          <a:lstStyle/>
          <a:p>
            <a:pPr algn="l" indent="0" marL="0">
              <a:buNone/>
            </a:pPr>
            <a:r>
              <a:rPr lang="en-US" sz="1200" b="1" dirty="0">
                <a:solidFill>
                  <a:srgbClr val="1B3B6F"/>
                </a:solidFill>
                <a:latin typeface="Calibri" pitchFamily="34" charset="0"/>
                <a:ea typeface="Calibri" pitchFamily="34" charset="-122"/>
                <a:cs typeface="Calibri" pitchFamily="34" charset="-120"/>
              </a:rPr>
              <a:t>Complete:</a:t>
            </a:r>
            <a:endParaRPr lang="en-US" sz="1200" dirty="0"/>
          </a:p>
        </p:txBody>
      </p:sp>
      <p:sp>
        <p:nvSpPr>
          <p:cNvPr id="45" name="Text 42"/>
          <p:cNvSpPr txBox="1"/>
          <p:nvPr/>
        </p:nvSpPr>
        <p:spPr>
          <a:xfrm>
            <a:off x="3323295" y="4224528"/>
            <a:ext cx="2570013" cy="475488"/>
          </a:xfrm>
          <a:prstGeom prst="rect">
            <a:avLst/>
          </a:prstGeom>
          <a:noFill/>
          <a:ln/>
        </p:spPr>
        <p:txBody>
          <a:bodyPr wrap="square" lIns="0" tIns="0" rIns="0" bIns="0" rtlCol="0" anchor="ctr"/>
          <a:lstStyle/>
          <a:p>
            <a:pPr rtl="1" algn="r" indent="0" marL="0">
              <a:buNone/>
            </a:pPr>
            <a:r>
              <a:rPr lang="ar-SA" altLang="en-US" sz="2200" b="1" dirty="0">
                <a:solidFill>
                  <a:srgbClr val="1B3B6F"/>
                </a:solidFill>
                <a:latin typeface="Amiri" pitchFamily="34" charset="0"/>
                <a:ea typeface="Amiri" pitchFamily="34" charset="-122"/>
                <a:cs typeface="Amiri" pitchFamily="34" charset="-120"/>
              </a:rPr>
              <a:t>هَذِهِ حَقِيبَةٌ ...</a:t>
            </a:r>
            <a:endParaRPr lang="ar-SA" sz="2200" dirty="0"/>
          </a:p>
        </p:txBody>
      </p:sp>
      <p:sp>
        <p:nvSpPr>
          <p:cNvPr id="46" name="Shape 43"/>
          <p:cNvSpPr/>
          <p:nvPr/>
        </p:nvSpPr>
        <p:spPr>
          <a:xfrm>
            <a:off x="640080" y="4873752"/>
            <a:ext cx="256032" cy="256032"/>
          </a:xfrm>
          <a:prstGeom prst="ellipse">
            <a:avLst/>
          </a:prstGeom>
          <a:solidFill>
            <a:srgbClr val="F4F1EA"/>
          </a:solidFill>
          <a:ln w="12700">
            <a:solidFill>
              <a:srgbClr val="F4F1EA"/>
            </a:solidFill>
            <a:prstDash val="solid"/>
          </a:ln>
        </p:spPr>
      </p:sp>
      <p:sp>
        <p:nvSpPr>
          <p:cNvPr id="47" name="Text 44"/>
          <p:cNvSpPr txBox="1"/>
          <p:nvPr/>
        </p:nvSpPr>
        <p:spPr>
          <a:xfrm>
            <a:off x="640080"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A</a:t>
            </a:r>
            <a:endParaRPr lang="en-US" sz="900" dirty="0"/>
          </a:p>
        </p:txBody>
      </p:sp>
      <p:sp>
        <p:nvSpPr>
          <p:cNvPr id="48" name="Text 45"/>
          <p:cNvSpPr txBox="1"/>
          <p:nvPr/>
        </p:nvSpPr>
        <p:spPr>
          <a:xfrm>
            <a:off x="969264" y="47731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34" charset="0"/>
                <a:ea typeface="Amiri" pitchFamily="34" charset="-122"/>
                <a:cs typeface="Amiri" pitchFamily="34" charset="-120"/>
              </a:rPr>
              <a:t>جَمِيلٌ</a:t>
            </a:r>
            <a:endParaRPr lang="ar-SA" sz="2050" dirty="0"/>
          </a:p>
        </p:txBody>
      </p:sp>
      <p:sp>
        <p:nvSpPr>
          <p:cNvPr id="49" name="Shape 46"/>
          <p:cNvSpPr/>
          <p:nvPr/>
        </p:nvSpPr>
        <p:spPr>
          <a:xfrm>
            <a:off x="640080" y="5330952"/>
            <a:ext cx="256032" cy="256032"/>
          </a:xfrm>
          <a:prstGeom prst="ellipse">
            <a:avLst/>
          </a:prstGeom>
          <a:solidFill>
            <a:srgbClr val="F4F1EA"/>
          </a:solidFill>
          <a:ln w="12700">
            <a:solidFill>
              <a:srgbClr val="F4F1EA"/>
            </a:solidFill>
            <a:prstDash val="solid"/>
          </a:ln>
        </p:spPr>
      </p:sp>
      <p:sp>
        <p:nvSpPr>
          <p:cNvPr id="50" name="Text 47"/>
          <p:cNvSpPr txBox="1"/>
          <p:nvPr/>
        </p:nvSpPr>
        <p:spPr>
          <a:xfrm>
            <a:off x="640080"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51" name="Text 48"/>
          <p:cNvSpPr txBox="1"/>
          <p:nvPr/>
        </p:nvSpPr>
        <p:spPr>
          <a:xfrm>
            <a:off x="969264" y="52303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34" charset="0"/>
                <a:ea typeface="Amiri" pitchFamily="34" charset="-122"/>
                <a:cs typeface="Amiri" pitchFamily="34" charset="-120"/>
              </a:rPr>
              <a:t>جَمِيلَةٌ</a:t>
            </a:r>
            <a:endParaRPr lang="ar-SA" sz="2050" dirty="0"/>
          </a:p>
        </p:txBody>
      </p:sp>
      <p:sp>
        <p:nvSpPr>
          <p:cNvPr id="52" name="Shape 49"/>
          <p:cNvSpPr/>
          <p:nvPr/>
        </p:nvSpPr>
        <p:spPr>
          <a:xfrm>
            <a:off x="640080" y="5788152"/>
            <a:ext cx="256032" cy="256032"/>
          </a:xfrm>
          <a:prstGeom prst="ellipse">
            <a:avLst/>
          </a:prstGeom>
          <a:solidFill>
            <a:srgbClr val="F4F1EA"/>
          </a:solidFill>
          <a:ln w="12700">
            <a:solidFill>
              <a:srgbClr val="F4F1EA"/>
            </a:solidFill>
            <a:prstDash val="solid"/>
          </a:ln>
        </p:spPr>
      </p:sp>
      <p:sp>
        <p:nvSpPr>
          <p:cNvPr id="53" name="Text 50"/>
          <p:cNvSpPr txBox="1"/>
          <p:nvPr/>
        </p:nvSpPr>
        <p:spPr>
          <a:xfrm>
            <a:off x="640080"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C</a:t>
            </a:r>
            <a:endParaRPr lang="en-US" sz="900" dirty="0"/>
          </a:p>
        </p:txBody>
      </p:sp>
      <p:sp>
        <p:nvSpPr>
          <p:cNvPr id="54" name="Text 51"/>
          <p:cNvSpPr txBox="1"/>
          <p:nvPr/>
        </p:nvSpPr>
        <p:spPr>
          <a:xfrm>
            <a:off x="969264" y="56875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34" charset="0"/>
                <a:ea typeface="Amiri" pitchFamily="34" charset="-122"/>
                <a:cs typeface="Amiri" pitchFamily="34" charset="-120"/>
              </a:rPr>
              <a:t>جَمِيلًا</a:t>
            </a:r>
            <a:endParaRPr lang="ar-SA" sz="2050" dirty="0"/>
          </a:p>
        </p:txBody>
      </p:sp>
      <p:sp>
        <p:nvSpPr>
          <p:cNvPr id="55" name="Shape 52"/>
          <p:cNvSpPr/>
          <p:nvPr/>
        </p:nvSpPr>
        <p:spPr>
          <a:xfrm>
            <a:off x="6185916" y="4151376"/>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6" name="Shape 53"/>
          <p:cNvSpPr/>
          <p:nvPr/>
        </p:nvSpPr>
        <p:spPr>
          <a:xfrm>
            <a:off x="6313932" y="4288536"/>
            <a:ext cx="310896" cy="310896"/>
          </a:xfrm>
          <a:prstGeom prst="ellipse">
            <a:avLst/>
          </a:prstGeom>
          <a:solidFill>
            <a:srgbClr val="1B3B6F"/>
          </a:solidFill>
          <a:ln w="12700">
            <a:solidFill>
              <a:srgbClr val="1B3B6F"/>
            </a:solidFill>
            <a:prstDash val="solid"/>
          </a:ln>
        </p:spPr>
      </p:sp>
      <p:sp>
        <p:nvSpPr>
          <p:cNvPr id="57" name="Text 54"/>
          <p:cNvSpPr txBox="1"/>
          <p:nvPr/>
        </p:nvSpPr>
        <p:spPr>
          <a:xfrm>
            <a:off x="6313932"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4</a:t>
            </a:r>
            <a:endParaRPr lang="en-US" sz="1100" dirty="0"/>
          </a:p>
        </p:txBody>
      </p:sp>
      <p:sp>
        <p:nvSpPr>
          <p:cNvPr id="58" name="Text 55"/>
          <p:cNvSpPr txBox="1"/>
          <p:nvPr/>
        </p:nvSpPr>
        <p:spPr>
          <a:xfrm>
            <a:off x="6679692" y="4224528"/>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Which word is feminine even though it does not end in </a:t>
            </a:r>
            <a:pPr algn="l" indent="0" marL="0">
              <a:buNone/>
            </a:pPr>
            <a:r>
              <a:rPr lang="ar-SA" altLang="en-US" sz="1650" b="1" dirty="0">
                <a:solidFill>
                  <a:srgbClr val="1B3B6F"/>
                </a:solidFill>
                <a:latin typeface="Amiri" pitchFamily="34" charset="0"/>
                <a:ea typeface="Amiri" pitchFamily="34" charset="-122"/>
                <a:cs typeface="Amiri" pitchFamily="34" charset="-120"/>
              </a:rPr>
              <a:t>ة</a:t>
            </a:r>
            <a:pPr algn="l" indent="0" marL="0">
              <a:buNone/>
            </a:pPr>
            <a:r>
              <a:rPr lang="en-US" sz="1250" b="1" dirty="0">
                <a:solidFill>
                  <a:srgbClr val="1B3B6F"/>
                </a:solidFill>
                <a:latin typeface="Calibri" pitchFamily="34" charset="0"/>
                <a:ea typeface="Calibri" pitchFamily="34" charset="-122"/>
                <a:cs typeface="Calibri" pitchFamily="34" charset="-120"/>
              </a:rPr>
              <a:t>?</a:t>
            </a:r>
            <a:endParaRPr lang="en-US" sz="1250" dirty="0"/>
          </a:p>
        </p:txBody>
      </p:sp>
      <p:sp>
        <p:nvSpPr>
          <p:cNvPr id="59" name="Shape 56"/>
          <p:cNvSpPr/>
          <p:nvPr/>
        </p:nvSpPr>
        <p:spPr>
          <a:xfrm>
            <a:off x="6368796" y="4873752"/>
            <a:ext cx="256032" cy="256032"/>
          </a:xfrm>
          <a:prstGeom prst="ellipse">
            <a:avLst/>
          </a:prstGeom>
          <a:solidFill>
            <a:srgbClr val="F4F1EA"/>
          </a:solidFill>
          <a:ln w="12700">
            <a:solidFill>
              <a:srgbClr val="F4F1EA"/>
            </a:solidFill>
            <a:prstDash val="solid"/>
          </a:ln>
        </p:spPr>
      </p:sp>
      <p:sp>
        <p:nvSpPr>
          <p:cNvPr id="60" name="Text 57"/>
          <p:cNvSpPr txBox="1"/>
          <p:nvPr/>
        </p:nvSpPr>
        <p:spPr>
          <a:xfrm>
            <a:off x="6368796"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A</a:t>
            </a:r>
            <a:endParaRPr lang="en-US" sz="900" dirty="0"/>
          </a:p>
        </p:txBody>
      </p:sp>
      <p:sp>
        <p:nvSpPr>
          <p:cNvPr id="61" name="Text 58"/>
          <p:cNvSpPr txBox="1"/>
          <p:nvPr/>
        </p:nvSpPr>
        <p:spPr>
          <a:xfrm>
            <a:off x="6697980" y="47731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34" charset="0"/>
                <a:ea typeface="Amiri" pitchFamily="34" charset="-122"/>
                <a:cs typeface="Amiri" pitchFamily="34" charset="-120"/>
              </a:rPr>
              <a:t>أُخْتٌ</a:t>
            </a:r>
            <a:endParaRPr lang="ar-SA" sz="2050" dirty="0"/>
          </a:p>
        </p:txBody>
      </p:sp>
      <p:sp>
        <p:nvSpPr>
          <p:cNvPr id="62" name="Shape 59"/>
          <p:cNvSpPr/>
          <p:nvPr/>
        </p:nvSpPr>
        <p:spPr>
          <a:xfrm>
            <a:off x="6368796" y="5330952"/>
            <a:ext cx="256032" cy="256032"/>
          </a:xfrm>
          <a:prstGeom prst="ellipse">
            <a:avLst/>
          </a:prstGeom>
          <a:solidFill>
            <a:srgbClr val="F4F1EA"/>
          </a:solidFill>
          <a:ln w="12700">
            <a:solidFill>
              <a:srgbClr val="F4F1EA"/>
            </a:solidFill>
            <a:prstDash val="solid"/>
          </a:ln>
        </p:spPr>
      </p:sp>
      <p:sp>
        <p:nvSpPr>
          <p:cNvPr id="63" name="Text 60"/>
          <p:cNvSpPr txBox="1"/>
          <p:nvPr/>
        </p:nvSpPr>
        <p:spPr>
          <a:xfrm>
            <a:off x="6368796"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64" name="Text 61"/>
          <p:cNvSpPr txBox="1"/>
          <p:nvPr/>
        </p:nvSpPr>
        <p:spPr>
          <a:xfrm>
            <a:off x="6697980" y="52303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34" charset="0"/>
                <a:ea typeface="Amiri" pitchFamily="34" charset="-122"/>
                <a:cs typeface="Amiri" pitchFamily="34" charset="-120"/>
              </a:rPr>
              <a:t>كِتَابٌ</a:t>
            </a:r>
            <a:endParaRPr lang="ar-SA" sz="2050" dirty="0"/>
          </a:p>
        </p:txBody>
      </p:sp>
      <p:sp>
        <p:nvSpPr>
          <p:cNvPr id="65" name="Shape 62"/>
          <p:cNvSpPr/>
          <p:nvPr/>
        </p:nvSpPr>
        <p:spPr>
          <a:xfrm>
            <a:off x="6368796" y="5788152"/>
            <a:ext cx="256032" cy="256032"/>
          </a:xfrm>
          <a:prstGeom prst="ellipse">
            <a:avLst/>
          </a:prstGeom>
          <a:solidFill>
            <a:srgbClr val="F4F1EA"/>
          </a:solidFill>
          <a:ln w="12700">
            <a:solidFill>
              <a:srgbClr val="F4F1EA"/>
            </a:solidFill>
            <a:prstDash val="solid"/>
          </a:ln>
        </p:spPr>
      </p:sp>
      <p:sp>
        <p:nvSpPr>
          <p:cNvPr id="66" name="Text 63"/>
          <p:cNvSpPr txBox="1"/>
          <p:nvPr/>
        </p:nvSpPr>
        <p:spPr>
          <a:xfrm>
            <a:off x="6368796"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C</a:t>
            </a:r>
            <a:endParaRPr lang="en-US" sz="900" dirty="0"/>
          </a:p>
        </p:txBody>
      </p:sp>
      <p:sp>
        <p:nvSpPr>
          <p:cNvPr id="67" name="Text 64"/>
          <p:cNvSpPr txBox="1"/>
          <p:nvPr/>
        </p:nvSpPr>
        <p:spPr>
          <a:xfrm>
            <a:off x="6697980" y="56875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34" charset="0"/>
                <a:ea typeface="Amiri" pitchFamily="34" charset="-122"/>
                <a:cs typeface="Amiri" pitchFamily="34" charset="-120"/>
              </a:rPr>
              <a:t>وَلَدٌ</a:t>
            </a:r>
            <a:endParaRPr lang="ar-SA" sz="2050" dirty="0"/>
          </a:p>
        </p:txBody>
      </p:sp>
      <p:sp>
        <p:nvSpPr>
          <p:cNvPr id="68" name="Text 6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ea typeface="Calibri" pitchFamily="34" charset="-122"/>
                <a:cs typeface="Calibri" pitchFamily="34" charset="-120"/>
              </a:rPr>
              <a:t>13 / 36</a:t>
            </a:r>
            <a:endParaRPr lang="en-US" sz="8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34" charset="0"/>
                <a:ea typeface="Amiri" pitchFamily="34" charset="-122"/>
                <a:cs typeface="Amiri" pitchFamily="34" charset="-120"/>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ea typeface="Cambria" pitchFamily="34" charset="-122"/>
                <a:cs typeface="Cambria" pitchFamily="34" charset="-120"/>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ea typeface="Calibri" pitchFamily="34" charset="-122"/>
                <a:cs typeface="Calibri" pitchFamily="34" charset="-120"/>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ea typeface="Calibri" pitchFamily="34" charset="-122"/>
                <a:cs typeface="Calibri" pitchFamily="34" charset="-120"/>
              </a:rPr>
              <a:t>F2-L05 · Masculine &amp; Feminine</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ea typeface="Calibri" pitchFamily="34" charset="-122"/>
                <a:cs typeface="Calibri" pitchFamily="34" charset="-120"/>
              </a:rPr>
              <a:t>TEACHER INSTRUCTION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ea typeface="Calibri" pitchFamily="34" charset="-122"/>
                <a:cs typeface="Calibri" pitchFamily="34" charset="-120"/>
              </a:rPr>
              <a:t>CHECK FOR UNDERSTANDING · ANSWERS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ea typeface="Cambria" pitchFamily="34" charset="-122"/>
                <a:cs typeface="Cambria" pitchFamily="34" charset="-120"/>
              </a:rPr>
              <a:t>Answers and reasons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34" charset="0"/>
                <a:ea typeface="Amiri" pitchFamily="34" charset="-122"/>
                <a:cs typeface="Amiri" pitchFamily="34" charset="-120"/>
              </a:rPr>
              <a:t>الإِجَابَاتُ وَالتَّعْلِيلُ</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ea typeface="Calibri" pitchFamily="34" charset="-122"/>
                <a:cs typeface="Calibri" pitchFamily="34" charset="-120"/>
              </a:rPr>
              <a:t>Miftah Arabic · Foundation F2 · Greetings &amp; Introductions · Week 2 · Lesson 2 of 3</a:t>
            </a:r>
            <a:endParaRPr lang="en-US" sz="850" dirty="0"/>
          </a:p>
        </p:txBody>
      </p:sp>
      <p:sp>
        <p:nvSpPr>
          <p:cNvPr id="15" name="Shape 12"/>
          <p:cNvSpPr/>
          <p:nvPr/>
        </p:nvSpPr>
        <p:spPr>
          <a:xfrm>
            <a:off x="457200" y="1810512"/>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1</a:t>
            </a:r>
            <a:endParaRPr lang="en-US" sz="1100" dirty="0"/>
          </a:p>
        </p:txBody>
      </p:sp>
      <p:sp>
        <p:nvSpPr>
          <p:cNvPr id="18" name="Text 15"/>
          <p:cNvSpPr txBox="1"/>
          <p:nvPr/>
        </p:nvSpPr>
        <p:spPr>
          <a:xfrm>
            <a:off x="950976" y="1883664"/>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Choose ‘a new male student’.</a:t>
            </a:r>
            <a:endParaRPr lang="en-US" sz="1250" dirty="0"/>
          </a:p>
        </p:txBody>
      </p:sp>
      <p:sp>
        <p:nvSpPr>
          <p:cNvPr id="19" name="Shape 16"/>
          <p:cNvSpPr/>
          <p:nvPr/>
        </p:nvSpPr>
        <p:spPr>
          <a:xfrm>
            <a:off x="640080" y="2490216"/>
            <a:ext cx="256032" cy="256032"/>
          </a:xfrm>
          <a:prstGeom prst="ellipse">
            <a:avLst/>
          </a:prstGeom>
          <a:solidFill>
            <a:srgbClr val="C9CED6"/>
          </a:solidFill>
          <a:ln w="12700">
            <a:solidFill>
              <a:srgbClr val="C9CED6"/>
            </a:solidFill>
            <a:prstDash val="solid"/>
          </a:ln>
        </p:spPr>
      </p:sp>
      <p:sp>
        <p:nvSpPr>
          <p:cNvPr id="20" name="Text 17"/>
          <p:cNvSpPr txBox="1"/>
          <p:nvPr/>
        </p:nvSpPr>
        <p:spPr>
          <a:xfrm>
            <a:off x="640080"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A</a:t>
            </a:r>
            <a:endParaRPr lang="en-US" sz="900" dirty="0"/>
          </a:p>
        </p:txBody>
      </p:sp>
      <p:sp>
        <p:nvSpPr>
          <p:cNvPr id="21" name="Text 18"/>
          <p:cNvSpPr txBox="1"/>
          <p:nvPr/>
        </p:nvSpPr>
        <p:spPr>
          <a:xfrm>
            <a:off x="969264" y="2432304"/>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34" charset="0"/>
                <a:ea typeface="Amiri" pitchFamily="34" charset="-122"/>
                <a:cs typeface="Amiri" pitchFamily="34" charset="-120"/>
              </a:rPr>
              <a:t>طَالِبَةٌ جَدِيدَةٌ</a:t>
            </a:r>
            <a:endParaRPr lang="ar-SA" sz="1700" dirty="0"/>
          </a:p>
        </p:txBody>
      </p:sp>
      <p:sp>
        <p:nvSpPr>
          <p:cNvPr id="22" name="Shape 19"/>
          <p:cNvSpPr/>
          <p:nvPr/>
        </p:nvSpPr>
        <p:spPr>
          <a:xfrm>
            <a:off x="640080" y="2862072"/>
            <a:ext cx="256032" cy="256032"/>
          </a:xfrm>
          <a:prstGeom prst="ellipse">
            <a:avLst/>
          </a:prstGeom>
          <a:solidFill>
            <a:srgbClr val="C9CED6"/>
          </a:solidFill>
          <a:ln w="12700">
            <a:solidFill>
              <a:srgbClr val="C9CED6"/>
            </a:solidFill>
            <a:prstDash val="solid"/>
          </a:ln>
        </p:spPr>
      </p:sp>
      <p:sp>
        <p:nvSpPr>
          <p:cNvPr id="23" name="Text 20"/>
          <p:cNvSpPr txBox="1"/>
          <p:nvPr/>
        </p:nvSpPr>
        <p:spPr>
          <a:xfrm>
            <a:off x="640080"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24" name="Text 21"/>
          <p:cNvSpPr txBox="1"/>
          <p:nvPr/>
        </p:nvSpPr>
        <p:spPr>
          <a:xfrm>
            <a:off x="969264" y="2804160"/>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34" charset="0"/>
                <a:ea typeface="Amiri" pitchFamily="34" charset="-122"/>
                <a:cs typeface="Amiri" pitchFamily="34" charset="-120"/>
              </a:rPr>
              <a:t>جَدِيدٌ طَالِبٌ</a:t>
            </a:r>
            <a:endParaRPr lang="ar-SA" sz="1700" dirty="0"/>
          </a:p>
        </p:txBody>
      </p:sp>
      <p:sp>
        <p:nvSpPr>
          <p:cNvPr id="25" name="Shape 22"/>
          <p:cNvSpPr/>
          <p:nvPr/>
        </p:nvSpPr>
        <p:spPr>
          <a:xfrm>
            <a:off x="548640" y="3197352"/>
            <a:ext cx="5362956" cy="347472"/>
          </a:xfrm>
          <a:prstGeom prst="roundRect">
            <a:avLst>
              <a:gd name="adj" fmla="val 15789"/>
            </a:avLst>
          </a:prstGeom>
          <a:solidFill>
            <a:srgbClr val="E6F4EC"/>
          </a:solidFill>
          <a:ln w="9525">
            <a:solidFill>
              <a:srgbClr val="2E8B57"/>
            </a:solidFill>
            <a:prstDash val="solid"/>
          </a:ln>
        </p:spPr>
      </p:sp>
      <p:sp>
        <p:nvSpPr>
          <p:cNvPr id="26" name="Shape 23"/>
          <p:cNvSpPr/>
          <p:nvPr/>
        </p:nvSpPr>
        <p:spPr>
          <a:xfrm>
            <a:off x="640080" y="3233928"/>
            <a:ext cx="256032" cy="256032"/>
          </a:xfrm>
          <a:prstGeom prst="ellipse">
            <a:avLst/>
          </a:prstGeom>
          <a:solidFill>
            <a:srgbClr val="2E8B57"/>
          </a:solidFill>
          <a:ln w="12700">
            <a:solidFill>
              <a:srgbClr val="2E8B57"/>
            </a:solidFill>
            <a:prstDash val="solid"/>
          </a:ln>
        </p:spPr>
      </p:sp>
      <p:sp>
        <p:nvSpPr>
          <p:cNvPr id="27" name="Text 24"/>
          <p:cNvSpPr txBox="1"/>
          <p:nvPr/>
        </p:nvSpPr>
        <p:spPr>
          <a:xfrm>
            <a:off x="640080" y="323392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C</a:t>
            </a:r>
            <a:endParaRPr lang="en-US" sz="900" dirty="0"/>
          </a:p>
        </p:txBody>
      </p:sp>
      <p:sp>
        <p:nvSpPr>
          <p:cNvPr id="28" name="Text 25"/>
          <p:cNvSpPr txBox="1"/>
          <p:nvPr/>
        </p:nvSpPr>
        <p:spPr>
          <a:xfrm>
            <a:off x="969264" y="3176016"/>
            <a:ext cx="4887468"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34" charset="0"/>
                <a:ea typeface="Amiri" pitchFamily="34" charset="-122"/>
                <a:cs typeface="Amiri" pitchFamily="34" charset="-120"/>
              </a:rPr>
              <a:t>طَالِبٌ جَدِيدٌ</a:t>
            </a:r>
            <a:endParaRPr lang="ar-SA" sz="1700" dirty="0"/>
          </a:p>
        </p:txBody>
      </p:sp>
      <p:sp>
        <p:nvSpPr>
          <p:cNvPr id="29" name="Text 26"/>
          <p:cNvSpPr txBox="1"/>
          <p:nvPr/>
        </p:nvSpPr>
        <p:spPr>
          <a:xfrm>
            <a:off x="585216" y="3566160"/>
            <a:ext cx="5289804"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ea typeface="Calibri" pitchFamily="34" charset="-122"/>
                <a:cs typeface="Calibri" pitchFamily="34" charset="-120"/>
              </a:rPr>
              <a:t>The masculine noun comes first and the masculine adjective follows.</a:t>
            </a:r>
            <a:endParaRPr lang="en-US" sz="1050" dirty="0"/>
          </a:p>
        </p:txBody>
      </p:sp>
      <p:sp>
        <p:nvSpPr>
          <p:cNvPr id="30" name="Shape 27"/>
          <p:cNvSpPr/>
          <p:nvPr/>
        </p:nvSpPr>
        <p:spPr>
          <a:xfrm>
            <a:off x="6185916" y="1810512"/>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6313932" y="1947672"/>
            <a:ext cx="310896" cy="310896"/>
          </a:xfrm>
          <a:prstGeom prst="ellipse">
            <a:avLst/>
          </a:prstGeom>
          <a:solidFill>
            <a:srgbClr val="1B3B6F"/>
          </a:solidFill>
          <a:ln w="12700">
            <a:solidFill>
              <a:srgbClr val="1B3B6F"/>
            </a:solidFill>
            <a:prstDash val="solid"/>
          </a:ln>
        </p:spPr>
      </p:sp>
      <p:sp>
        <p:nvSpPr>
          <p:cNvPr id="32" name="Text 29"/>
          <p:cNvSpPr txBox="1"/>
          <p:nvPr/>
        </p:nvSpPr>
        <p:spPr>
          <a:xfrm>
            <a:off x="6313932"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2</a:t>
            </a:r>
            <a:endParaRPr lang="en-US" sz="1100" dirty="0"/>
          </a:p>
        </p:txBody>
      </p:sp>
      <p:sp>
        <p:nvSpPr>
          <p:cNvPr id="33" name="Text 30"/>
          <p:cNvSpPr txBox="1"/>
          <p:nvPr/>
        </p:nvSpPr>
        <p:spPr>
          <a:xfrm>
            <a:off x="6679692" y="1883664"/>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Choose ‘a kind female classmate’.</a:t>
            </a:r>
            <a:endParaRPr lang="en-US" sz="1250" dirty="0"/>
          </a:p>
        </p:txBody>
      </p:sp>
      <p:sp>
        <p:nvSpPr>
          <p:cNvPr id="34" name="Shape 31"/>
          <p:cNvSpPr/>
          <p:nvPr/>
        </p:nvSpPr>
        <p:spPr>
          <a:xfrm>
            <a:off x="6277356" y="2453640"/>
            <a:ext cx="5362956" cy="347472"/>
          </a:xfrm>
          <a:prstGeom prst="roundRect">
            <a:avLst>
              <a:gd name="adj" fmla="val 15789"/>
            </a:avLst>
          </a:prstGeom>
          <a:solidFill>
            <a:srgbClr val="E6F4EC"/>
          </a:solidFill>
          <a:ln w="9525">
            <a:solidFill>
              <a:srgbClr val="2E8B57"/>
            </a:solidFill>
            <a:prstDash val="solid"/>
          </a:ln>
        </p:spPr>
      </p:sp>
      <p:sp>
        <p:nvSpPr>
          <p:cNvPr id="35" name="Shape 32"/>
          <p:cNvSpPr/>
          <p:nvPr/>
        </p:nvSpPr>
        <p:spPr>
          <a:xfrm>
            <a:off x="6368796" y="2490216"/>
            <a:ext cx="256032" cy="256032"/>
          </a:xfrm>
          <a:prstGeom prst="ellipse">
            <a:avLst/>
          </a:prstGeom>
          <a:solidFill>
            <a:srgbClr val="2E8B57"/>
          </a:solidFill>
          <a:ln w="12700">
            <a:solidFill>
              <a:srgbClr val="2E8B57"/>
            </a:solidFill>
            <a:prstDash val="solid"/>
          </a:ln>
        </p:spPr>
      </p:sp>
      <p:sp>
        <p:nvSpPr>
          <p:cNvPr id="36" name="Text 33"/>
          <p:cNvSpPr txBox="1"/>
          <p:nvPr/>
        </p:nvSpPr>
        <p:spPr>
          <a:xfrm>
            <a:off x="6368796" y="249021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A</a:t>
            </a:r>
            <a:endParaRPr lang="en-US" sz="900" dirty="0"/>
          </a:p>
        </p:txBody>
      </p:sp>
      <p:sp>
        <p:nvSpPr>
          <p:cNvPr id="37" name="Text 34"/>
          <p:cNvSpPr txBox="1"/>
          <p:nvPr/>
        </p:nvSpPr>
        <p:spPr>
          <a:xfrm>
            <a:off x="6697980" y="2432304"/>
            <a:ext cx="4887468"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34" charset="0"/>
                <a:ea typeface="Amiri" pitchFamily="34" charset="-122"/>
                <a:cs typeface="Amiri" pitchFamily="34" charset="-120"/>
              </a:rPr>
              <a:t>زَمِيلَةٌ لَطِيفَةٌ</a:t>
            </a:r>
            <a:endParaRPr lang="ar-SA" sz="1700" dirty="0"/>
          </a:p>
        </p:txBody>
      </p:sp>
      <p:sp>
        <p:nvSpPr>
          <p:cNvPr id="38" name="Shape 35"/>
          <p:cNvSpPr/>
          <p:nvPr/>
        </p:nvSpPr>
        <p:spPr>
          <a:xfrm>
            <a:off x="6368796" y="2862072"/>
            <a:ext cx="256032" cy="256032"/>
          </a:xfrm>
          <a:prstGeom prst="ellipse">
            <a:avLst/>
          </a:prstGeom>
          <a:solidFill>
            <a:srgbClr val="C9CED6"/>
          </a:solidFill>
          <a:ln w="12700">
            <a:solidFill>
              <a:srgbClr val="C9CED6"/>
            </a:solidFill>
            <a:prstDash val="solid"/>
          </a:ln>
        </p:spPr>
      </p:sp>
      <p:sp>
        <p:nvSpPr>
          <p:cNvPr id="39" name="Text 36"/>
          <p:cNvSpPr txBox="1"/>
          <p:nvPr/>
        </p:nvSpPr>
        <p:spPr>
          <a:xfrm>
            <a:off x="6368796"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40" name="Text 37"/>
          <p:cNvSpPr txBox="1"/>
          <p:nvPr/>
        </p:nvSpPr>
        <p:spPr>
          <a:xfrm>
            <a:off x="6697980" y="2804160"/>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34" charset="0"/>
                <a:ea typeface="Amiri" pitchFamily="34" charset="-122"/>
                <a:cs typeface="Amiri" pitchFamily="34" charset="-120"/>
              </a:rPr>
              <a:t>زَمِيلٌ لَطِيفَةٌ</a:t>
            </a:r>
            <a:endParaRPr lang="ar-SA" sz="1700" dirty="0"/>
          </a:p>
        </p:txBody>
      </p:sp>
      <p:sp>
        <p:nvSpPr>
          <p:cNvPr id="41" name="Shape 38"/>
          <p:cNvSpPr/>
          <p:nvPr/>
        </p:nvSpPr>
        <p:spPr>
          <a:xfrm>
            <a:off x="6368796" y="3233928"/>
            <a:ext cx="256032" cy="256032"/>
          </a:xfrm>
          <a:prstGeom prst="ellipse">
            <a:avLst/>
          </a:prstGeom>
          <a:solidFill>
            <a:srgbClr val="C9CED6"/>
          </a:solidFill>
          <a:ln w="12700">
            <a:solidFill>
              <a:srgbClr val="C9CED6"/>
            </a:solidFill>
            <a:prstDash val="solid"/>
          </a:ln>
        </p:spPr>
      </p:sp>
      <p:sp>
        <p:nvSpPr>
          <p:cNvPr id="42" name="Text 39"/>
          <p:cNvSpPr txBox="1"/>
          <p:nvPr/>
        </p:nvSpPr>
        <p:spPr>
          <a:xfrm>
            <a:off x="6368796"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C</a:t>
            </a:r>
            <a:endParaRPr lang="en-US" sz="900" dirty="0"/>
          </a:p>
        </p:txBody>
      </p:sp>
      <p:sp>
        <p:nvSpPr>
          <p:cNvPr id="43" name="Text 40"/>
          <p:cNvSpPr txBox="1"/>
          <p:nvPr/>
        </p:nvSpPr>
        <p:spPr>
          <a:xfrm>
            <a:off x="6697980" y="3176016"/>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34" charset="0"/>
                <a:ea typeface="Amiri" pitchFamily="34" charset="-122"/>
                <a:cs typeface="Amiri" pitchFamily="34" charset="-120"/>
              </a:rPr>
              <a:t>لَطِيفَةٌ زَمِيلَةٌ</a:t>
            </a:r>
            <a:endParaRPr lang="ar-SA" sz="1700" dirty="0"/>
          </a:p>
        </p:txBody>
      </p:sp>
      <p:sp>
        <p:nvSpPr>
          <p:cNvPr id="44" name="Text 41"/>
          <p:cNvSpPr txBox="1"/>
          <p:nvPr/>
        </p:nvSpPr>
        <p:spPr>
          <a:xfrm>
            <a:off x="6313932" y="3566160"/>
            <a:ext cx="5289804" cy="365760"/>
          </a:xfrm>
          <a:prstGeom prst="rect">
            <a:avLst/>
          </a:prstGeom>
          <a:noFill/>
          <a:ln/>
        </p:spPr>
        <p:txBody>
          <a:bodyPr wrap="square" lIns="0" tIns="0" rIns="0" bIns="0" rtlCol="0" anchor="ctr"/>
          <a:lstStyle/>
          <a:p>
            <a:pPr algn="l" indent="0" marL="0">
              <a:buNone/>
            </a:pPr>
            <a:r>
              <a:rPr lang="ar-SA" altLang="en-US" sz="1350" dirty="0">
                <a:solidFill>
                  <a:srgbClr val="8A6D1E"/>
                </a:solidFill>
                <a:latin typeface="Amiri" pitchFamily="34" charset="0"/>
                <a:ea typeface="Amiri" pitchFamily="34" charset="-122"/>
                <a:cs typeface="Amiri" pitchFamily="34" charset="-120"/>
              </a:rPr>
              <a:t>زَمِيلَةٌ</a:t>
            </a:r>
            <a:pPr algn="l" indent="0" marL="0">
              <a:buNone/>
            </a:pPr>
            <a:r>
              <a:rPr lang="en-US" sz="1050" i="1" dirty="0">
                <a:solidFill>
                  <a:srgbClr val="8A6D1E"/>
                </a:solidFill>
                <a:latin typeface="Calibri" pitchFamily="34" charset="0"/>
                <a:ea typeface="Calibri" pitchFamily="34" charset="-122"/>
                <a:cs typeface="Calibri" pitchFamily="34" charset="-120"/>
              </a:rPr>
              <a:t> and </a:t>
            </a:r>
            <a:pPr algn="l" indent="0" marL="0">
              <a:buNone/>
            </a:pPr>
            <a:r>
              <a:rPr lang="ar-SA" altLang="en-US" sz="1350" dirty="0">
                <a:solidFill>
                  <a:srgbClr val="8A6D1E"/>
                </a:solidFill>
                <a:latin typeface="Amiri" pitchFamily="34" charset="0"/>
                <a:ea typeface="Amiri" pitchFamily="34" charset="-122"/>
                <a:cs typeface="Amiri" pitchFamily="34" charset="-120"/>
              </a:rPr>
              <a:t>لَطِيفَةٌ</a:t>
            </a:r>
            <a:pPr algn="l" indent="0" marL="0">
              <a:buNone/>
            </a:pPr>
            <a:r>
              <a:rPr lang="en-US" sz="1050" i="1" dirty="0">
                <a:solidFill>
                  <a:srgbClr val="8A6D1E"/>
                </a:solidFill>
                <a:latin typeface="Calibri" pitchFamily="34" charset="0"/>
                <a:ea typeface="Calibri" pitchFamily="34" charset="-122"/>
                <a:cs typeface="Calibri" pitchFamily="34" charset="-120"/>
              </a:rPr>
              <a:t> are feminine, with the noun first.</a:t>
            </a:r>
            <a:endParaRPr lang="en-US" sz="1050" dirty="0"/>
          </a:p>
        </p:txBody>
      </p:sp>
      <p:sp>
        <p:nvSpPr>
          <p:cNvPr id="45" name="Shape 42"/>
          <p:cNvSpPr/>
          <p:nvPr/>
        </p:nvSpPr>
        <p:spPr>
          <a:xfrm>
            <a:off x="457200" y="4151376"/>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6" name="Shape 43"/>
          <p:cNvSpPr/>
          <p:nvPr/>
        </p:nvSpPr>
        <p:spPr>
          <a:xfrm>
            <a:off x="585216" y="4288536"/>
            <a:ext cx="310896" cy="310896"/>
          </a:xfrm>
          <a:prstGeom prst="ellipse">
            <a:avLst/>
          </a:prstGeom>
          <a:solidFill>
            <a:srgbClr val="1B3B6F"/>
          </a:solidFill>
          <a:ln w="12700">
            <a:solidFill>
              <a:srgbClr val="1B3B6F"/>
            </a:solidFill>
            <a:prstDash val="solid"/>
          </a:ln>
        </p:spPr>
      </p:sp>
      <p:sp>
        <p:nvSpPr>
          <p:cNvPr id="47" name="Text 44"/>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3</a:t>
            </a:r>
            <a:endParaRPr lang="en-US" sz="1100" dirty="0"/>
          </a:p>
        </p:txBody>
      </p:sp>
      <p:sp>
        <p:nvSpPr>
          <p:cNvPr id="48" name="Text 45"/>
          <p:cNvSpPr txBox="1"/>
          <p:nvPr/>
        </p:nvSpPr>
        <p:spPr>
          <a:xfrm>
            <a:off x="950976" y="4224528"/>
            <a:ext cx="2273473" cy="475488"/>
          </a:xfrm>
          <a:prstGeom prst="rect">
            <a:avLst/>
          </a:prstGeom>
          <a:noFill/>
          <a:ln/>
        </p:spPr>
        <p:txBody>
          <a:bodyPr wrap="square" lIns="0" tIns="0" rIns="0" bIns="0" rtlCol="0" anchor="ctr"/>
          <a:lstStyle/>
          <a:p>
            <a:pPr algn="l" indent="0" marL="0">
              <a:buNone/>
            </a:pPr>
            <a:r>
              <a:rPr lang="en-US" sz="1200" b="1" dirty="0">
                <a:solidFill>
                  <a:srgbClr val="1B3B6F"/>
                </a:solidFill>
                <a:latin typeface="Calibri" pitchFamily="34" charset="0"/>
                <a:ea typeface="Calibri" pitchFamily="34" charset="-122"/>
                <a:cs typeface="Calibri" pitchFamily="34" charset="-120"/>
              </a:rPr>
              <a:t>Complete:</a:t>
            </a:r>
            <a:endParaRPr lang="en-US" sz="1200" dirty="0"/>
          </a:p>
        </p:txBody>
      </p:sp>
      <p:sp>
        <p:nvSpPr>
          <p:cNvPr id="49" name="Text 46"/>
          <p:cNvSpPr txBox="1"/>
          <p:nvPr/>
        </p:nvSpPr>
        <p:spPr>
          <a:xfrm>
            <a:off x="3323295" y="4224528"/>
            <a:ext cx="2570013" cy="475488"/>
          </a:xfrm>
          <a:prstGeom prst="rect">
            <a:avLst/>
          </a:prstGeom>
          <a:noFill/>
          <a:ln/>
        </p:spPr>
        <p:txBody>
          <a:bodyPr wrap="square" lIns="0" tIns="0" rIns="0" bIns="0" rtlCol="0" anchor="ctr"/>
          <a:lstStyle/>
          <a:p>
            <a:pPr rtl="1" algn="r" indent="0" marL="0">
              <a:buNone/>
            </a:pPr>
            <a:r>
              <a:rPr lang="ar-SA" altLang="en-US" sz="2200" b="1" dirty="0">
                <a:solidFill>
                  <a:srgbClr val="1B3B6F"/>
                </a:solidFill>
                <a:latin typeface="Amiri" pitchFamily="34" charset="0"/>
                <a:ea typeface="Amiri" pitchFamily="34" charset="-122"/>
                <a:cs typeface="Amiri" pitchFamily="34" charset="-120"/>
              </a:rPr>
              <a:t>هَذِهِ حَقِيبَةٌ ...</a:t>
            </a:r>
            <a:endParaRPr lang="ar-SA" sz="2200" dirty="0"/>
          </a:p>
        </p:txBody>
      </p:sp>
      <p:sp>
        <p:nvSpPr>
          <p:cNvPr id="50" name="Shape 47"/>
          <p:cNvSpPr/>
          <p:nvPr/>
        </p:nvSpPr>
        <p:spPr>
          <a:xfrm>
            <a:off x="640080" y="4831080"/>
            <a:ext cx="256032" cy="256032"/>
          </a:xfrm>
          <a:prstGeom prst="ellipse">
            <a:avLst/>
          </a:prstGeom>
          <a:solidFill>
            <a:srgbClr val="C9CED6"/>
          </a:solidFill>
          <a:ln w="12700">
            <a:solidFill>
              <a:srgbClr val="C9CED6"/>
            </a:solidFill>
            <a:prstDash val="solid"/>
          </a:ln>
        </p:spPr>
      </p:sp>
      <p:sp>
        <p:nvSpPr>
          <p:cNvPr id="51" name="Text 48"/>
          <p:cNvSpPr txBox="1"/>
          <p:nvPr/>
        </p:nvSpPr>
        <p:spPr>
          <a:xfrm>
            <a:off x="640080" y="4831080"/>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A</a:t>
            </a:r>
            <a:endParaRPr lang="en-US" sz="900" dirty="0"/>
          </a:p>
        </p:txBody>
      </p:sp>
      <p:sp>
        <p:nvSpPr>
          <p:cNvPr id="52" name="Text 49"/>
          <p:cNvSpPr txBox="1"/>
          <p:nvPr/>
        </p:nvSpPr>
        <p:spPr>
          <a:xfrm>
            <a:off x="969264" y="4773168"/>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34" charset="0"/>
                <a:ea typeface="Amiri" pitchFamily="34" charset="-122"/>
                <a:cs typeface="Amiri" pitchFamily="34" charset="-120"/>
              </a:rPr>
              <a:t>جَمِيلٌ</a:t>
            </a:r>
            <a:endParaRPr lang="ar-SA" sz="1700" dirty="0"/>
          </a:p>
        </p:txBody>
      </p:sp>
      <p:sp>
        <p:nvSpPr>
          <p:cNvPr id="53" name="Shape 50"/>
          <p:cNvSpPr/>
          <p:nvPr/>
        </p:nvSpPr>
        <p:spPr>
          <a:xfrm>
            <a:off x="548640" y="5166360"/>
            <a:ext cx="5362956" cy="347472"/>
          </a:xfrm>
          <a:prstGeom prst="roundRect">
            <a:avLst>
              <a:gd name="adj" fmla="val 15789"/>
            </a:avLst>
          </a:prstGeom>
          <a:solidFill>
            <a:srgbClr val="E6F4EC"/>
          </a:solidFill>
          <a:ln w="9525">
            <a:solidFill>
              <a:srgbClr val="2E8B57"/>
            </a:solidFill>
            <a:prstDash val="solid"/>
          </a:ln>
        </p:spPr>
      </p:sp>
      <p:sp>
        <p:nvSpPr>
          <p:cNvPr id="54" name="Shape 51"/>
          <p:cNvSpPr/>
          <p:nvPr/>
        </p:nvSpPr>
        <p:spPr>
          <a:xfrm>
            <a:off x="640080" y="5202936"/>
            <a:ext cx="256032" cy="256032"/>
          </a:xfrm>
          <a:prstGeom prst="ellipse">
            <a:avLst/>
          </a:prstGeom>
          <a:solidFill>
            <a:srgbClr val="2E8B57"/>
          </a:solidFill>
          <a:ln w="12700">
            <a:solidFill>
              <a:srgbClr val="2E8B57"/>
            </a:solidFill>
            <a:prstDash val="solid"/>
          </a:ln>
        </p:spPr>
      </p:sp>
      <p:sp>
        <p:nvSpPr>
          <p:cNvPr id="55" name="Text 52"/>
          <p:cNvSpPr txBox="1"/>
          <p:nvPr/>
        </p:nvSpPr>
        <p:spPr>
          <a:xfrm>
            <a:off x="640080" y="520293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B</a:t>
            </a:r>
            <a:endParaRPr lang="en-US" sz="900" dirty="0"/>
          </a:p>
        </p:txBody>
      </p:sp>
      <p:sp>
        <p:nvSpPr>
          <p:cNvPr id="56" name="Text 53"/>
          <p:cNvSpPr txBox="1"/>
          <p:nvPr/>
        </p:nvSpPr>
        <p:spPr>
          <a:xfrm>
            <a:off x="969264" y="5145024"/>
            <a:ext cx="4887468"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34" charset="0"/>
                <a:ea typeface="Amiri" pitchFamily="34" charset="-122"/>
                <a:cs typeface="Amiri" pitchFamily="34" charset="-120"/>
              </a:rPr>
              <a:t>جَمِيلَةٌ</a:t>
            </a:r>
            <a:endParaRPr lang="ar-SA" sz="1700" dirty="0"/>
          </a:p>
        </p:txBody>
      </p:sp>
      <p:sp>
        <p:nvSpPr>
          <p:cNvPr id="57" name="Shape 54"/>
          <p:cNvSpPr/>
          <p:nvPr/>
        </p:nvSpPr>
        <p:spPr>
          <a:xfrm>
            <a:off x="640080" y="5574792"/>
            <a:ext cx="256032" cy="256032"/>
          </a:xfrm>
          <a:prstGeom prst="ellipse">
            <a:avLst/>
          </a:prstGeom>
          <a:solidFill>
            <a:srgbClr val="C9CED6"/>
          </a:solidFill>
          <a:ln w="12700">
            <a:solidFill>
              <a:srgbClr val="C9CED6"/>
            </a:solidFill>
            <a:prstDash val="solid"/>
          </a:ln>
        </p:spPr>
      </p:sp>
      <p:sp>
        <p:nvSpPr>
          <p:cNvPr id="58" name="Text 55"/>
          <p:cNvSpPr txBox="1"/>
          <p:nvPr/>
        </p:nvSpPr>
        <p:spPr>
          <a:xfrm>
            <a:off x="640080"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C</a:t>
            </a:r>
            <a:endParaRPr lang="en-US" sz="900" dirty="0"/>
          </a:p>
        </p:txBody>
      </p:sp>
      <p:sp>
        <p:nvSpPr>
          <p:cNvPr id="59" name="Text 56"/>
          <p:cNvSpPr txBox="1"/>
          <p:nvPr/>
        </p:nvSpPr>
        <p:spPr>
          <a:xfrm>
            <a:off x="969264" y="5516880"/>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34" charset="0"/>
                <a:ea typeface="Amiri" pitchFamily="34" charset="-122"/>
                <a:cs typeface="Amiri" pitchFamily="34" charset="-120"/>
              </a:rPr>
              <a:t>جَمِيلًا</a:t>
            </a:r>
            <a:endParaRPr lang="ar-SA" sz="1700" dirty="0"/>
          </a:p>
        </p:txBody>
      </p:sp>
      <p:sp>
        <p:nvSpPr>
          <p:cNvPr id="60" name="Text 57"/>
          <p:cNvSpPr txBox="1"/>
          <p:nvPr/>
        </p:nvSpPr>
        <p:spPr>
          <a:xfrm>
            <a:off x="585216" y="5907024"/>
            <a:ext cx="5289804" cy="365760"/>
          </a:xfrm>
          <a:prstGeom prst="rect">
            <a:avLst/>
          </a:prstGeom>
          <a:noFill/>
          <a:ln/>
        </p:spPr>
        <p:txBody>
          <a:bodyPr wrap="square" lIns="0" tIns="0" rIns="0" bIns="0" rtlCol="0" anchor="ctr"/>
          <a:lstStyle/>
          <a:p>
            <a:pPr algn="l" indent="0" marL="0">
              <a:buNone/>
            </a:pPr>
            <a:r>
              <a:rPr lang="ar-SA" altLang="en-US" sz="1350" dirty="0">
                <a:solidFill>
                  <a:srgbClr val="8A6D1E"/>
                </a:solidFill>
                <a:latin typeface="Amiri" pitchFamily="34" charset="0"/>
                <a:ea typeface="Amiri" pitchFamily="34" charset="-122"/>
                <a:cs typeface="Amiri" pitchFamily="34" charset="-120"/>
              </a:rPr>
              <a:t>حَقِيبَةٌ</a:t>
            </a:r>
            <a:pPr algn="l" indent="0" marL="0">
              <a:buNone/>
            </a:pPr>
            <a:r>
              <a:rPr lang="en-US" sz="1050" i="1" dirty="0">
                <a:solidFill>
                  <a:srgbClr val="8A6D1E"/>
                </a:solidFill>
                <a:latin typeface="Calibri" pitchFamily="34" charset="0"/>
                <a:ea typeface="Calibri" pitchFamily="34" charset="-122"/>
                <a:cs typeface="Calibri" pitchFamily="34" charset="-120"/>
              </a:rPr>
              <a:t> is feminine, so the adjective is </a:t>
            </a:r>
            <a:pPr algn="l" indent="0" marL="0">
              <a:buNone/>
            </a:pPr>
            <a:r>
              <a:rPr lang="ar-SA" altLang="en-US" sz="1350" dirty="0">
                <a:solidFill>
                  <a:srgbClr val="8A6D1E"/>
                </a:solidFill>
                <a:latin typeface="Amiri" pitchFamily="34" charset="0"/>
                <a:ea typeface="Amiri" pitchFamily="34" charset="-122"/>
                <a:cs typeface="Amiri" pitchFamily="34" charset="-120"/>
              </a:rPr>
              <a:t>جَمِيلَةٌ</a:t>
            </a:r>
            <a:pPr algn="l" indent="0" marL="0">
              <a:buNone/>
            </a:pPr>
            <a:r>
              <a:rPr lang="en-US" sz="1050" i="1" dirty="0">
                <a:solidFill>
                  <a:srgbClr val="8A6D1E"/>
                </a:solidFill>
                <a:latin typeface="Calibri" pitchFamily="34" charset="0"/>
                <a:ea typeface="Calibri" pitchFamily="34" charset="-122"/>
                <a:cs typeface="Calibri" pitchFamily="34" charset="-120"/>
              </a:rPr>
              <a:t>.</a:t>
            </a:r>
            <a:endParaRPr lang="en-US" sz="1050" dirty="0"/>
          </a:p>
        </p:txBody>
      </p:sp>
      <p:sp>
        <p:nvSpPr>
          <p:cNvPr id="61" name="Shape 58"/>
          <p:cNvSpPr/>
          <p:nvPr/>
        </p:nvSpPr>
        <p:spPr>
          <a:xfrm>
            <a:off x="6185916" y="4151376"/>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2" name="Shape 59"/>
          <p:cNvSpPr/>
          <p:nvPr/>
        </p:nvSpPr>
        <p:spPr>
          <a:xfrm>
            <a:off x="6313932" y="4288536"/>
            <a:ext cx="310896" cy="310896"/>
          </a:xfrm>
          <a:prstGeom prst="ellipse">
            <a:avLst/>
          </a:prstGeom>
          <a:solidFill>
            <a:srgbClr val="1B3B6F"/>
          </a:solidFill>
          <a:ln w="12700">
            <a:solidFill>
              <a:srgbClr val="1B3B6F"/>
            </a:solidFill>
            <a:prstDash val="solid"/>
          </a:ln>
        </p:spPr>
      </p:sp>
      <p:sp>
        <p:nvSpPr>
          <p:cNvPr id="63" name="Text 60"/>
          <p:cNvSpPr txBox="1"/>
          <p:nvPr/>
        </p:nvSpPr>
        <p:spPr>
          <a:xfrm>
            <a:off x="6313932"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4</a:t>
            </a:r>
            <a:endParaRPr lang="en-US" sz="1100" dirty="0"/>
          </a:p>
        </p:txBody>
      </p:sp>
      <p:sp>
        <p:nvSpPr>
          <p:cNvPr id="64" name="Text 61"/>
          <p:cNvSpPr txBox="1"/>
          <p:nvPr/>
        </p:nvSpPr>
        <p:spPr>
          <a:xfrm>
            <a:off x="6679692" y="4224528"/>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Which word is feminine even though it does not end in </a:t>
            </a:r>
            <a:pPr algn="l" indent="0" marL="0">
              <a:buNone/>
            </a:pPr>
            <a:r>
              <a:rPr lang="ar-SA" altLang="en-US" sz="1650" b="1" dirty="0">
                <a:solidFill>
                  <a:srgbClr val="1B3B6F"/>
                </a:solidFill>
                <a:latin typeface="Amiri" pitchFamily="34" charset="0"/>
                <a:ea typeface="Amiri" pitchFamily="34" charset="-122"/>
                <a:cs typeface="Amiri" pitchFamily="34" charset="-120"/>
              </a:rPr>
              <a:t>ة</a:t>
            </a:r>
            <a:pPr algn="l" indent="0" marL="0">
              <a:buNone/>
            </a:pPr>
            <a:r>
              <a:rPr lang="en-US" sz="1250" b="1" dirty="0">
                <a:solidFill>
                  <a:srgbClr val="1B3B6F"/>
                </a:solidFill>
                <a:latin typeface="Calibri" pitchFamily="34" charset="0"/>
                <a:ea typeface="Calibri" pitchFamily="34" charset="-122"/>
                <a:cs typeface="Calibri" pitchFamily="34" charset="-120"/>
              </a:rPr>
              <a:t>?</a:t>
            </a:r>
            <a:endParaRPr lang="en-US" sz="1250" dirty="0"/>
          </a:p>
        </p:txBody>
      </p:sp>
      <p:sp>
        <p:nvSpPr>
          <p:cNvPr id="65" name="Shape 62"/>
          <p:cNvSpPr/>
          <p:nvPr/>
        </p:nvSpPr>
        <p:spPr>
          <a:xfrm>
            <a:off x="6277356" y="4794504"/>
            <a:ext cx="5362956" cy="347472"/>
          </a:xfrm>
          <a:prstGeom prst="roundRect">
            <a:avLst>
              <a:gd name="adj" fmla="val 15789"/>
            </a:avLst>
          </a:prstGeom>
          <a:solidFill>
            <a:srgbClr val="E6F4EC"/>
          </a:solidFill>
          <a:ln w="9525">
            <a:solidFill>
              <a:srgbClr val="2E8B57"/>
            </a:solidFill>
            <a:prstDash val="solid"/>
          </a:ln>
        </p:spPr>
      </p:sp>
      <p:sp>
        <p:nvSpPr>
          <p:cNvPr id="66" name="Shape 63"/>
          <p:cNvSpPr/>
          <p:nvPr/>
        </p:nvSpPr>
        <p:spPr>
          <a:xfrm>
            <a:off x="6368796" y="4831080"/>
            <a:ext cx="256032" cy="256032"/>
          </a:xfrm>
          <a:prstGeom prst="ellipse">
            <a:avLst/>
          </a:prstGeom>
          <a:solidFill>
            <a:srgbClr val="2E8B57"/>
          </a:solidFill>
          <a:ln w="12700">
            <a:solidFill>
              <a:srgbClr val="2E8B57"/>
            </a:solidFill>
            <a:prstDash val="solid"/>
          </a:ln>
        </p:spPr>
      </p:sp>
      <p:sp>
        <p:nvSpPr>
          <p:cNvPr id="67" name="Text 64"/>
          <p:cNvSpPr txBox="1"/>
          <p:nvPr/>
        </p:nvSpPr>
        <p:spPr>
          <a:xfrm>
            <a:off x="6368796" y="4831080"/>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A</a:t>
            </a:r>
            <a:endParaRPr lang="en-US" sz="900" dirty="0"/>
          </a:p>
        </p:txBody>
      </p:sp>
      <p:sp>
        <p:nvSpPr>
          <p:cNvPr id="68" name="Text 65"/>
          <p:cNvSpPr txBox="1"/>
          <p:nvPr/>
        </p:nvSpPr>
        <p:spPr>
          <a:xfrm>
            <a:off x="6697980" y="4773168"/>
            <a:ext cx="4887468"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34" charset="0"/>
                <a:ea typeface="Amiri" pitchFamily="34" charset="-122"/>
                <a:cs typeface="Amiri" pitchFamily="34" charset="-120"/>
              </a:rPr>
              <a:t>أُخْتٌ</a:t>
            </a:r>
            <a:endParaRPr lang="ar-SA" sz="1700" dirty="0"/>
          </a:p>
        </p:txBody>
      </p:sp>
      <p:sp>
        <p:nvSpPr>
          <p:cNvPr id="69" name="Shape 66"/>
          <p:cNvSpPr/>
          <p:nvPr/>
        </p:nvSpPr>
        <p:spPr>
          <a:xfrm>
            <a:off x="6368796" y="5202936"/>
            <a:ext cx="256032" cy="256032"/>
          </a:xfrm>
          <a:prstGeom prst="ellipse">
            <a:avLst/>
          </a:prstGeom>
          <a:solidFill>
            <a:srgbClr val="C9CED6"/>
          </a:solidFill>
          <a:ln w="12700">
            <a:solidFill>
              <a:srgbClr val="C9CED6"/>
            </a:solidFill>
            <a:prstDash val="solid"/>
          </a:ln>
        </p:spPr>
      </p:sp>
      <p:sp>
        <p:nvSpPr>
          <p:cNvPr id="70" name="Text 67"/>
          <p:cNvSpPr txBox="1"/>
          <p:nvPr/>
        </p:nvSpPr>
        <p:spPr>
          <a:xfrm>
            <a:off x="6368796"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71" name="Text 68"/>
          <p:cNvSpPr txBox="1"/>
          <p:nvPr/>
        </p:nvSpPr>
        <p:spPr>
          <a:xfrm>
            <a:off x="6697980" y="5145024"/>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34" charset="0"/>
                <a:ea typeface="Amiri" pitchFamily="34" charset="-122"/>
                <a:cs typeface="Amiri" pitchFamily="34" charset="-120"/>
              </a:rPr>
              <a:t>كِتَابٌ</a:t>
            </a:r>
            <a:endParaRPr lang="ar-SA" sz="1700" dirty="0"/>
          </a:p>
        </p:txBody>
      </p:sp>
      <p:sp>
        <p:nvSpPr>
          <p:cNvPr id="72" name="Shape 69"/>
          <p:cNvSpPr/>
          <p:nvPr/>
        </p:nvSpPr>
        <p:spPr>
          <a:xfrm>
            <a:off x="6368796" y="5574792"/>
            <a:ext cx="256032" cy="256032"/>
          </a:xfrm>
          <a:prstGeom prst="ellipse">
            <a:avLst/>
          </a:prstGeom>
          <a:solidFill>
            <a:srgbClr val="C9CED6"/>
          </a:solidFill>
          <a:ln w="12700">
            <a:solidFill>
              <a:srgbClr val="C9CED6"/>
            </a:solidFill>
            <a:prstDash val="solid"/>
          </a:ln>
        </p:spPr>
      </p:sp>
      <p:sp>
        <p:nvSpPr>
          <p:cNvPr id="73" name="Text 70"/>
          <p:cNvSpPr txBox="1"/>
          <p:nvPr/>
        </p:nvSpPr>
        <p:spPr>
          <a:xfrm>
            <a:off x="6368796"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C</a:t>
            </a:r>
            <a:endParaRPr lang="en-US" sz="900" dirty="0"/>
          </a:p>
        </p:txBody>
      </p:sp>
      <p:sp>
        <p:nvSpPr>
          <p:cNvPr id="74" name="Text 71"/>
          <p:cNvSpPr txBox="1"/>
          <p:nvPr/>
        </p:nvSpPr>
        <p:spPr>
          <a:xfrm>
            <a:off x="6697980" y="5516880"/>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34" charset="0"/>
                <a:ea typeface="Amiri" pitchFamily="34" charset="-122"/>
                <a:cs typeface="Amiri" pitchFamily="34" charset="-120"/>
              </a:rPr>
              <a:t>وَلَدٌ</a:t>
            </a:r>
            <a:endParaRPr lang="ar-SA" sz="1700" dirty="0"/>
          </a:p>
        </p:txBody>
      </p:sp>
      <p:sp>
        <p:nvSpPr>
          <p:cNvPr id="75" name="Text 72"/>
          <p:cNvSpPr txBox="1"/>
          <p:nvPr/>
        </p:nvSpPr>
        <p:spPr>
          <a:xfrm>
            <a:off x="6313932" y="5907024"/>
            <a:ext cx="5289804" cy="365760"/>
          </a:xfrm>
          <a:prstGeom prst="rect">
            <a:avLst/>
          </a:prstGeom>
          <a:noFill/>
          <a:ln/>
        </p:spPr>
        <p:txBody>
          <a:bodyPr wrap="square" lIns="0" tIns="0" rIns="0" bIns="0" rtlCol="0" anchor="ctr"/>
          <a:lstStyle/>
          <a:p>
            <a:pPr algn="l" indent="0" marL="0">
              <a:buNone/>
            </a:pPr>
            <a:r>
              <a:rPr lang="ar-SA" altLang="en-US" sz="1350" dirty="0">
                <a:solidFill>
                  <a:srgbClr val="8A6D1E"/>
                </a:solidFill>
                <a:latin typeface="Amiri" pitchFamily="34" charset="0"/>
                <a:ea typeface="Amiri" pitchFamily="34" charset="-122"/>
                <a:cs typeface="Amiri" pitchFamily="34" charset="-120"/>
              </a:rPr>
              <a:t>أُخْتٌ</a:t>
            </a:r>
            <a:pPr algn="l" indent="0" marL="0">
              <a:buNone/>
            </a:pPr>
            <a:r>
              <a:rPr lang="en-US" sz="1050" i="1" dirty="0">
                <a:solidFill>
                  <a:srgbClr val="8A6D1E"/>
                </a:solidFill>
                <a:latin typeface="Calibri" pitchFamily="34" charset="0"/>
                <a:ea typeface="Calibri" pitchFamily="34" charset="-122"/>
                <a:cs typeface="Calibri" pitchFamily="34" charset="-120"/>
              </a:rPr>
              <a:t> is naturally feminine without tāʾ marbūṭa.</a:t>
            </a:r>
            <a:endParaRPr lang="en-US" sz="1050" dirty="0"/>
          </a:p>
        </p:txBody>
      </p:sp>
      <p:sp>
        <p:nvSpPr>
          <p:cNvPr id="76" name="Text 73"/>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ea typeface="Calibri" pitchFamily="34" charset="-122"/>
                <a:cs typeface="Calibri" pitchFamily="34" charset="-120"/>
              </a:rPr>
              <a:t>14 / 36</a:t>
            </a:r>
            <a:endParaRPr lang="en-US" sz="8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34" charset="0"/>
                <a:ea typeface="Amiri" pitchFamily="34" charset="-122"/>
                <a:cs typeface="Amiri" pitchFamily="34" charset="-120"/>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ea typeface="Cambria" pitchFamily="34" charset="-122"/>
                <a:cs typeface="Cambria" pitchFamily="34" charset="-120"/>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ea typeface="Calibri" pitchFamily="34" charset="-122"/>
                <a:cs typeface="Calibri" pitchFamily="34" charset="-120"/>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ea typeface="Calibri" pitchFamily="34" charset="-122"/>
                <a:cs typeface="Calibri" pitchFamily="34" charset="-120"/>
              </a:rPr>
              <a:t>F2-L05 · Masculine &amp; Feminine</a:t>
            </a:r>
            <a:endParaRPr lang="en-US" sz="950" dirty="0"/>
          </a:p>
        </p:txBody>
      </p:sp>
      <p:sp>
        <p:nvSpPr>
          <p:cNvPr id="8" name="Shape 6"/>
          <p:cNvSpPr/>
          <p:nvPr/>
        </p:nvSpPr>
        <p:spPr>
          <a:xfrm>
            <a:off x="7388352" y="274320"/>
            <a:ext cx="1371600" cy="329184"/>
          </a:xfrm>
          <a:prstGeom prst="roundRect">
            <a:avLst>
              <a:gd name="adj" fmla="val 50000"/>
            </a:avLst>
          </a:prstGeom>
          <a:solidFill>
            <a:srgbClr val="6B4C9A"/>
          </a:solidFill>
          <a:ln w="12700">
            <a:solidFill>
              <a:srgbClr val="6B4C9A"/>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ea typeface="Calibri" pitchFamily="34" charset="-122"/>
                <a:cs typeface="Calibri" pitchFamily="34" charset="-120"/>
              </a:rPr>
              <a:t>I DO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6B4C9A"/>
                </a:solidFill>
                <a:latin typeface="Calibri" pitchFamily="34" charset="0"/>
                <a:ea typeface="Calibri" pitchFamily="34" charset="-122"/>
                <a:cs typeface="Calibri" pitchFamily="34" charset="-120"/>
              </a:rPr>
              <a:t>I DO · WATCH, THEN COPY</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ea typeface="Cambria" pitchFamily="34" charset="-122"/>
                <a:cs typeface="Cambria" pitchFamily="34" charset="-120"/>
              </a:rPr>
              <a:t>Watch me describe two people</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34" charset="0"/>
                <a:ea typeface="Amiri" pitchFamily="34" charset="-122"/>
                <a:cs typeface="Amiri" pitchFamily="34" charset="-120"/>
              </a:rPr>
              <a:t>شَاهِدْ ثُمَّ اُكْتُبْ</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ea typeface="Calibri" pitchFamily="34" charset="-122"/>
                <a:cs typeface="Calibri" pitchFamily="34" charset="-120"/>
              </a:rPr>
              <a:t>Miftah Arabic · Foundation F2 · Greetings &amp; Introductions · Week 2 · Lesson 2 of 3</a:t>
            </a:r>
            <a:endParaRPr lang="en-US" sz="850" dirty="0"/>
          </a:p>
        </p:txBody>
      </p:sp>
      <p:sp>
        <p:nvSpPr>
          <p:cNvPr id="15" name="Shape 12"/>
          <p:cNvSpPr/>
          <p:nvPr/>
        </p:nvSpPr>
        <p:spPr>
          <a:xfrm>
            <a:off x="9050274" y="1810512"/>
            <a:ext cx="2681478" cy="2487168"/>
          </a:xfrm>
          <a:prstGeom prst="roundRect">
            <a:avLst>
              <a:gd name="adj" fmla="val 294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11219688" y="1938528"/>
            <a:ext cx="384048" cy="384048"/>
          </a:xfrm>
          <a:prstGeom prst="ellipse">
            <a:avLst/>
          </a:prstGeom>
          <a:solidFill>
            <a:srgbClr val="6B4C9A"/>
          </a:solidFill>
          <a:ln w="12700">
            <a:solidFill>
              <a:srgbClr val="6B4C9A"/>
            </a:solidFill>
            <a:prstDash val="solid"/>
          </a:ln>
        </p:spPr>
      </p:sp>
      <p:sp>
        <p:nvSpPr>
          <p:cNvPr id="17" name="Text 14"/>
          <p:cNvSpPr txBox="1"/>
          <p:nvPr/>
        </p:nvSpPr>
        <p:spPr>
          <a:xfrm>
            <a:off x="11219688" y="1938528"/>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1</a:t>
            </a:r>
            <a:endParaRPr lang="en-US" sz="1400" dirty="0"/>
          </a:p>
        </p:txBody>
      </p:sp>
      <p:sp>
        <p:nvSpPr>
          <p:cNvPr id="18" name="Text 15"/>
          <p:cNvSpPr txBox="1"/>
          <p:nvPr/>
        </p:nvSpPr>
        <p:spPr>
          <a:xfrm>
            <a:off x="9187434" y="1920240"/>
            <a:ext cx="1949958" cy="457200"/>
          </a:xfrm>
          <a:prstGeom prst="rect">
            <a:avLst/>
          </a:prstGeom>
          <a:noFill/>
          <a:ln/>
        </p:spPr>
        <p:txBody>
          <a:bodyPr wrap="square" lIns="0" tIns="0" rIns="0" bIns="0" rtlCol="0" anchor="ctr"/>
          <a:lstStyle/>
          <a:p>
            <a:pPr algn="l" indent="0" marL="0">
              <a:buNone/>
            </a:pPr>
            <a:r>
              <a:rPr lang="en-US" sz="1250" b="1" dirty="0">
                <a:solidFill>
                  <a:srgbClr val="6B4C9A"/>
                </a:solidFill>
                <a:latin typeface="Calibri" pitchFamily="34" charset="0"/>
                <a:ea typeface="Calibri" pitchFamily="34" charset="-122"/>
                <a:cs typeface="Calibri" pitchFamily="34" charset="-120"/>
              </a:rPr>
              <a:t>Decide the gender</a:t>
            </a:r>
            <a:endParaRPr lang="en-US" sz="1250" dirty="0"/>
          </a:p>
        </p:txBody>
      </p:sp>
      <p:sp>
        <p:nvSpPr>
          <p:cNvPr id="19" name="Text 16"/>
          <p:cNvSpPr txBox="1"/>
          <p:nvPr/>
        </p:nvSpPr>
        <p:spPr>
          <a:xfrm>
            <a:off x="9160002" y="2450592"/>
            <a:ext cx="2462022" cy="914400"/>
          </a:xfrm>
          <a:prstGeom prst="rect">
            <a:avLst/>
          </a:prstGeom>
          <a:noFill/>
          <a:ln/>
        </p:spPr>
        <p:txBody>
          <a:bodyPr wrap="square" lIns="0" tIns="0" rIns="0" bIns="0" rtlCol="0" anchor="ctr"/>
          <a:lstStyle/>
          <a:p>
            <a:pPr rtl="1" algn="ctr" indent="0" marL="0">
              <a:buNone/>
            </a:pPr>
            <a:r>
              <a:rPr lang="ar-SA" altLang="en-US" sz="2800" b="1" dirty="0">
                <a:solidFill>
                  <a:srgbClr val="1B3B6F"/>
                </a:solidFill>
                <a:latin typeface="Amiri" pitchFamily="34" charset="0"/>
                <a:ea typeface="Amiri" pitchFamily="34" charset="-122"/>
                <a:cs typeface="Amiri" pitchFamily="34" charset="-120"/>
              </a:rPr>
              <a:t>يُوسُفُ ← وَلَدٌ</a:t>
            </a:r>
            <a:endParaRPr lang="ar-SA" sz="2800" dirty="0"/>
          </a:p>
        </p:txBody>
      </p:sp>
      <p:sp>
        <p:nvSpPr>
          <p:cNvPr id="20" name="Text 17"/>
          <p:cNvSpPr txBox="1"/>
          <p:nvPr/>
        </p:nvSpPr>
        <p:spPr>
          <a:xfrm>
            <a:off x="9187434" y="3410712"/>
            <a:ext cx="2407158" cy="804672"/>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ea typeface="Calibri" pitchFamily="34" charset="-122"/>
                <a:cs typeface="Calibri" pitchFamily="34" charset="-120"/>
              </a:rPr>
              <a:t>Yusuf is a boy: masculine.</a:t>
            </a:r>
            <a:endParaRPr lang="en-US" sz="1150" dirty="0"/>
          </a:p>
        </p:txBody>
      </p:sp>
      <p:sp>
        <p:nvSpPr>
          <p:cNvPr id="21" name="Text 18"/>
          <p:cNvSpPr txBox="1"/>
          <p:nvPr/>
        </p:nvSpPr>
        <p:spPr>
          <a:xfrm>
            <a:off x="8867394" y="2770632"/>
            <a:ext cx="182880" cy="365760"/>
          </a:xfrm>
          <a:prstGeom prst="rect">
            <a:avLst/>
          </a:prstGeom>
          <a:noFill/>
          <a:ln/>
        </p:spPr>
        <p:txBody>
          <a:bodyPr wrap="square" lIns="0" tIns="0" rIns="0" bIns="0" rtlCol="0" anchor="ctr"/>
          <a:lstStyle/>
          <a:p>
            <a:pPr algn="ctr" indent="0" marL="0">
              <a:buNone/>
            </a:pPr>
            <a:r>
              <a:rPr lang="en-US" sz="1400" dirty="0">
                <a:solidFill>
                  <a:srgbClr val="5A6472"/>
                </a:solidFill>
                <a:latin typeface="Calibri" pitchFamily="34" charset="0"/>
                <a:ea typeface="Calibri" pitchFamily="34" charset="-122"/>
                <a:cs typeface="Calibri" pitchFamily="34" charset="-120"/>
              </a:rPr>
              <a:t>←</a:t>
            </a:r>
            <a:endParaRPr lang="en-US" sz="1400" dirty="0"/>
          </a:p>
        </p:txBody>
      </p:sp>
      <p:sp>
        <p:nvSpPr>
          <p:cNvPr id="22" name="Shape 19"/>
          <p:cNvSpPr/>
          <p:nvPr/>
        </p:nvSpPr>
        <p:spPr>
          <a:xfrm>
            <a:off x="6185916" y="1810512"/>
            <a:ext cx="2681478" cy="2487168"/>
          </a:xfrm>
          <a:prstGeom prst="roundRect">
            <a:avLst>
              <a:gd name="adj" fmla="val 294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3" name="Shape 20"/>
          <p:cNvSpPr/>
          <p:nvPr/>
        </p:nvSpPr>
        <p:spPr>
          <a:xfrm>
            <a:off x="8355330" y="1938528"/>
            <a:ext cx="384048" cy="384048"/>
          </a:xfrm>
          <a:prstGeom prst="ellipse">
            <a:avLst/>
          </a:prstGeom>
          <a:solidFill>
            <a:srgbClr val="6B4C9A"/>
          </a:solidFill>
          <a:ln w="12700">
            <a:solidFill>
              <a:srgbClr val="6B4C9A"/>
            </a:solidFill>
            <a:prstDash val="solid"/>
          </a:ln>
        </p:spPr>
      </p:sp>
      <p:sp>
        <p:nvSpPr>
          <p:cNvPr id="24" name="Text 21"/>
          <p:cNvSpPr txBox="1"/>
          <p:nvPr/>
        </p:nvSpPr>
        <p:spPr>
          <a:xfrm>
            <a:off x="8355330" y="1938528"/>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2</a:t>
            </a:r>
            <a:endParaRPr lang="en-US" sz="1400" dirty="0"/>
          </a:p>
        </p:txBody>
      </p:sp>
      <p:sp>
        <p:nvSpPr>
          <p:cNvPr id="25" name="Text 22"/>
          <p:cNvSpPr txBox="1"/>
          <p:nvPr/>
        </p:nvSpPr>
        <p:spPr>
          <a:xfrm>
            <a:off x="6323076" y="1920240"/>
            <a:ext cx="1949958" cy="457200"/>
          </a:xfrm>
          <a:prstGeom prst="rect">
            <a:avLst/>
          </a:prstGeom>
          <a:noFill/>
          <a:ln/>
        </p:spPr>
        <p:txBody>
          <a:bodyPr wrap="square" lIns="0" tIns="0" rIns="0" bIns="0" rtlCol="0" anchor="ctr"/>
          <a:lstStyle/>
          <a:p>
            <a:pPr algn="l" indent="0" marL="0">
              <a:buNone/>
            </a:pPr>
            <a:r>
              <a:rPr lang="en-US" sz="1250" b="1" dirty="0">
                <a:solidFill>
                  <a:srgbClr val="6B4C9A"/>
                </a:solidFill>
                <a:latin typeface="Calibri" pitchFamily="34" charset="0"/>
                <a:ea typeface="Calibri" pitchFamily="34" charset="-122"/>
                <a:cs typeface="Calibri" pitchFamily="34" charset="-120"/>
              </a:rPr>
              <a:t>Match every word</a:t>
            </a:r>
            <a:endParaRPr lang="en-US" sz="1250" dirty="0"/>
          </a:p>
        </p:txBody>
      </p:sp>
      <p:sp>
        <p:nvSpPr>
          <p:cNvPr id="26" name="Text 23"/>
          <p:cNvSpPr txBox="1"/>
          <p:nvPr/>
        </p:nvSpPr>
        <p:spPr>
          <a:xfrm>
            <a:off x="6295644" y="2450592"/>
            <a:ext cx="2462022" cy="914400"/>
          </a:xfrm>
          <a:prstGeom prst="rect">
            <a:avLst/>
          </a:prstGeom>
          <a:noFill/>
          <a:ln/>
        </p:spPr>
        <p:txBody>
          <a:bodyPr wrap="square" lIns="0" tIns="0" rIns="0" bIns="0" rtlCol="0" anchor="ctr"/>
          <a:lstStyle/>
          <a:p>
            <a:pPr rtl="1" algn="ctr" indent="0" marL="0">
              <a:buNone/>
            </a:pPr>
            <a:r>
              <a:rPr lang="ar-SA" altLang="en-US" sz="2200" b="1" dirty="0">
                <a:solidFill>
                  <a:srgbClr val="1B3B6F"/>
                </a:solidFill>
                <a:latin typeface="Amiri" pitchFamily="34" charset="0"/>
                <a:ea typeface="Amiri" pitchFamily="34" charset="-122"/>
                <a:cs typeface="Amiri" pitchFamily="34" charset="-120"/>
              </a:rPr>
              <a:t>هَذَا صَدِيقِي. هُوَ وَلَدٌ ذَكِيٌّ.</a:t>
            </a:r>
            <a:endParaRPr lang="ar-SA" sz="2200" dirty="0"/>
          </a:p>
        </p:txBody>
      </p:sp>
      <p:sp>
        <p:nvSpPr>
          <p:cNvPr id="27" name="Text 24"/>
          <p:cNvSpPr txBox="1"/>
          <p:nvPr/>
        </p:nvSpPr>
        <p:spPr>
          <a:xfrm>
            <a:off x="6323076" y="3410712"/>
            <a:ext cx="2407158" cy="804672"/>
          </a:xfrm>
          <a:prstGeom prst="rect">
            <a:avLst/>
          </a:prstGeom>
          <a:noFill/>
          <a:ln/>
        </p:spPr>
        <p:txBody>
          <a:bodyPr wrap="square" lIns="0" tIns="0" rIns="0" bIns="0" rtlCol="0" anchor="ctr"/>
          <a:lstStyle/>
          <a:p>
            <a:pPr algn="l" indent="0" marL="0">
              <a:buNone/>
            </a:pPr>
            <a:r>
              <a:rPr lang="ar-SA" altLang="en-US" sz="1500" dirty="0">
                <a:solidFill>
                  <a:srgbClr val="1F2A37"/>
                </a:solidFill>
                <a:latin typeface="Amiri" pitchFamily="34" charset="0"/>
                <a:ea typeface="Amiri" pitchFamily="34" charset="-122"/>
                <a:cs typeface="Amiri" pitchFamily="34" charset="-120"/>
              </a:rPr>
              <a:t>هَذَا</a:t>
            </a:r>
            <a:pPr algn="l" indent="0" marL="0">
              <a:buNone/>
            </a:pPr>
            <a:r>
              <a:rPr lang="en-US" sz="1150" dirty="0">
                <a:solidFill>
                  <a:srgbClr val="1F2A37"/>
                </a:solidFill>
                <a:latin typeface="Calibri" pitchFamily="34" charset="0"/>
                <a:ea typeface="Calibri" pitchFamily="34" charset="-122"/>
                <a:cs typeface="Calibri" pitchFamily="34" charset="-120"/>
              </a:rPr>
              <a:t>, </a:t>
            </a:r>
            <a:pPr algn="l" indent="0" marL="0">
              <a:buNone/>
            </a:pPr>
            <a:r>
              <a:rPr lang="ar-SA" altLang="en-US" sz="1500" dirty="0">
                <a:solidFill>
                  <a:srgbClr val="1F2A37"/>
                </a:solidFill>
                <a:latin typeface="Amiri" pitchFamily="34" charset="0"/>
                <a:ea typeface="Amiri" pitchFamily="34" charset="-122"/>
                <a:cs typeface="Amiri" pitchFamily="34" charset="-120"/>
              </a:rPr>
              <a:t>هُوَ</a:t>
            </a:r>
            <a:pPr algn="l" indent="0" marL="0">
              <a:buNone/>
            </a:pPr>
            <a:r>
              <a:rPr lang="en-US" sz="1150" dirty="0">
                <a:solidFill>
                  <a:srgbClr val="1F2A37"/>
                </a:solidFill>
                <a:latin typeface="Calibri" pitchFamily="34" charset="0"/>
                <a:ea typeface="Calibri" pitchFamily="34" charset="-122"/>
                <a:cs typeface="Calibri" pitchFamily="34" charset="-120"/>
              </a:rPr>
              <a:t>, </a:t>
            </a:r>
            <a:pPr algn="l" indent="0" marL="0">
              <a:buNone/>
            </a:pPr>
            <a:r>
              <a:rPr lang="ar-SA" altLang="en-US" sz="1500" dirty="0">
                <a:solidFill>
                  <a:srgbClr val="1F2A37"/>
                </a:solidFill>
                <a:latin typeface="Amiri" pitchFamily="34" charset="0"/>
                <a:ea typeface="Amiri" pitchFamily="34" charset="-122"/>
                <a:cs typeface="Amiri" pitchFamily="34" charset="-120"/>
              </a:rPr>
              <a:t>ذَكِيٌّ</a:t>
            </a:r>
            <a:pPr algn="l" indent="0" marL="0">
              <a:buNone/>
            </a:pPr>
            <a:r>
              <a:rPr lang="en-US" sz="1150" dirty="0">
                <a:solidFill>
                  <a:srgbClr val="1F2A37"/>
                </a:solidFill>
                <a:latin typeface="Calibri" pitchFamily="34" charset="0"/>
                <a:ea typeface="Calibri" pitchFamily="34" charset="-122"/>
                <a:cs typeface="Calibri" pitchFamily="34" charset="-120"/>
              </a:rPr>
              <a:t> — all masculine.</a:t>
            </a:r>
            <a:endParaRPr lang="en-US" sz="1150" dirty="0"/>
          </a:p>
        </p:txBody>
      </p:sp>
      <p:sp>
        <p:nvSpPr>
          <p:cNvPr id="28" name="Text 25"/>
          <p:cNvSpPr txBox="1"/>
          <p:nvPr/>
        </p:nvSpPr>
        <p:spPr>
          <a:xfrm>
            <a:off x="6003036" y="2770632"/>
            <a:ext cx="182880" cy="365760"/>
          </a:xfrm>
          <a:prstGeom prst="rect">
            <a:avLst/>
          </a:prstGeom>
          <a:noFill/>
          <a:ln/>
        </p:spPr>
        <p:txBody>
          <a:bodyPr wrap="square" lIns="0" tIns="0" rIns="0" bIns="0" rtlCol="0" anchor="ctr"/>
          <a:lstStyle/>
          <a:p>
            <a:pPr algn="ctr" indent="0" marL="0">
              <a:buNone/>
            </a:pPr>
            <a:r>
              <a:rPr lang="en-US" sz="1400" dirty="0">
                <a:solidFill>
                  <a:srgbClr val="5A6472"/>
                </a:solidFill>
                <a:latin typeface="Calibri" pitchFamily="34" charset="0"/>
                <a:ea typeface="Calibri" pitchFamily="34" charset="-122"/>
                <a:cs typeface="Calibri" pitchFamily="34" charset="-120"/>
              </a:rPr>
              <a:t>←</a:t>
            </a:r>
            <a:endParaRPr lang="en-US" sz="1400" dirty="0"/>
          </a:p>
        </p:txBody>
      </p:sp>
      <p:sp>
        <p:nvSpPr>
          <p:cNvPr id="29" name="Shape 26"/>
          <p:cNvSpPr/>
          <p:nvPr/>
        </p:nvSpPr>
        <p:spPr>
          <a:xfrm>
            <a:off x="3321558" y="1810512"/>
            <a:ext cx="2681478" cy="2487168"/>
          </a:xfrm>
          <a:prstGeom prst="roundRect">
            <a:avLst>
              <a:gd name="adj" fmla="val 294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0" name="Shape 27"/>
          <p:cNvSpPr/>
          <p:nvPr/>
        </p:nvSpPr>
        <p:spPr>
          <a:xfrm>
            <a:off x="5490972" y="1938528"/>
            <a:ext cx="384048" cy="384048"/>
          </a:xfrm>
          <a:prstGeom prst="ellipse">
            <a:avLst/>
          </a:prstGeom>
          <a:solidFill>
            <a:srgbClr val="6B4C9A"/>
          </a:solidFill>
          <a:ln w="12700">
            <a:solidFill>
              <a:srgbClr val="6B4C9A"/>
            </a:solidFill>
            <a:prstDash val="solid"/>
          </a:ln>
        </p:spPr>
      </p:sp>
      <p:sp>
        <p:nvSpPr>
          <p:cNvPr id="31" name="Text 28"/>
          <p:cNvSpPr txBox="1"/>
          <p:nvPr/>
        </p:nvSpPr>
        <p:spPr>
          <a:xfrm>
            <a:off x="5490972" y="1938528"/>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3</a:t>
            </a:r>
            <a:endParaRPr lang="en-US" sz="1400" dirty="0"/>
          </a:p>
        </p:txBody>
      </p:sp>
      <p:sp>
        <p:nvSpPr>
          <p:cNvPr id="32" name="Text 29"/>
          <p:cNvSpPr txBox="1"/>
          <p:nvPr/>
        </p:nvSpPr>
        <p:spPr>
          <a:xfrm>
            <a:off x="3458718" y="1920240"/>
            <a:ext cx="1949958" cy="457200"/>
          </a:xfrm>
          <a:prstGeom prst="rect">
            <a:avLst/>
          </a:prstGeom>
          <a:noFill/>
          <a:ln/>
        </p:spPr>
        <p:txBody>
          <a:bodyPr wrap="square" lIns="0" tIns="0" rIns="0" bIns="0" rtlCol="0" anchor="ctr"/>
          <a:lstStyle/>
          <a:p>
            <a:pPr algn="l" indent="0" marL="0">
              <a:buNone/>
            </a:pPr>
            <a:r>
              <a:rPr lang="en-US" sz="1250" b="1" dirty="0">
                <a:solidFill>
                  <a:srgbClr val="6B4C9A"/>
                </a:solidFill>
                <a:latin typeface="Calibri" pitchFamily="34" charset="0"/>
                <a:ea typeface="Calibri" pitchFamily="34" charset="-122"/>
                <a:cs typeface="Calibri" pitchFamily="34" charset="-120"/>
              </a:rPr>
              <a:t>Now a girl</a:t>
            </a:r>
            <a:endParaRPr lang="en-US" sz="1250" dirty="0"/>
          </a:p>
        </p:txBody>
      </p:sp>
      <p:sp>
        <p:nvSpPr>
          <p:cNvPr id="33" name="Text 30"/>
          <p:cNvSpPr txBox="1"/>
          <p:nvPr/>
        </p:nvSpPr>
        <p:spPr>
          <a:xfrm>
            <a:off x="3431286" y="2450592"/>
            <a:ext cx="2462022" cy="914400"/>
          </a:xfrm>
          <a:prstGeom prst="rect">
            <a:avLst/>
          </a:prstGeom>
          <a:noFill/>
          <a:ln/>
        </p:spPr>
        <p:txBody>
          <a:bodyPr wrap="square" lIns="0" tIns="0" rIns="0" bIns="0" rtlCol="0" anchor="ctr"/>
          <a:lstStyle/>
          <a:p>
            <a:pPr rtl="1" algn="ctr" indent="0" marL="0">
              <a:buNone/>
            </a:pPr>
            <a:r>
              <a:rPr lang="ar-SA" altLang="en-US" sz="2400" b="1" dirty="0">
                <a:solidFill>
                  <a:srgbClr val="1B3B6F"/>
                </a:solidFill>
                <a:latin typeface="Amiri" pitchFamily="34" charset="0"/>
                <a:ea typeface="Amiri" pitchFamily="34" charset="-122"/>
                <a:cs typeface="Amiri" pitchFamily="34" charset="-120"/>
              </a:rPr>
              <a:t>هَذِهِ زَمِيلَتِي. هِيَ طَالِبَ</a:t>
            </a:r>
            <a:pPr rtl="1" algn="ctr" indent="0" marL="0">
              <a:buNone/>
            </a:pPr>
            <a:r>
              <a:rPr lang="ar-SA" altLang="en-US" sz="2400" b="1" dirty="0">
                <a:solidFill>
                  <a:srgbClr val="D6336C"/>
                </a:solidFill>
                <a:latin typeface="Amiri" pitchFamily="34" charset="0"/>
                <a:ea typeface="Amiri" pitchFamily="34" charset="-122"/>
                <a:cs typeface="Amiri" pitchFamily="34" charset="-120"/>
              </a:rPr>
              <a:t>ةٌ</a:t>
            </a:r>
            <a:endParaRPr lang="ar-SA" sz="2400" dirty="0"/>
          </a:p>
        </p:txBody>
      </p:sp>
      <p:sp>
        <p:nvSpPr>
          <p:cNvPr id="34" name="Text 31"/>
          <p:cNvSpPr txBox="1"/>
          <p:nvPr/>
        </p:nvSpPr>
        <p:spPr>
          <a:xfrm>
            <a:off x="3458718" y="3410712"/>
            <a:ext cx="2407158" cy="804672"/>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ea typeface="Calibri" pitchFamily="34" charset="-122"/>
                <a:cs typeface="Calibri" pitchFamily="34" charset="-120"/>
              </a:rPr>
              <a:t>Fatima: </a:t>
            </a:r>
            <a:pPr algn="l" indent="0" marL="0">
              <a:buNone/>
            </a:pPr>
            <a:r>
              <a:rPr lang="ar-SA" altLang="en-US" sz="1500" dirty="0">
                <a:solidFill>
                  <a:srgbClr val="1F2A37"/>
                </a:solidFill>
                <a:latin typeface="Amiri" pitchFamily="34" charset="0"/>
                <a:ea typeface="Amiri" pitchFamily="34" charset="-122"/>
                <a:cs typeface="Amiri" pitchFamily="34" charset="-120"/>
              </a:rPr>
              <a:t>هَذِهِ</a:t>
            </a:r>
            <a:pPr algn="l" indent="0" marL="0">
              <a:buNone/>
            </a:pPr>
            <a:r>
              <a:rPr lang="en-US" sz="1150" dirty="0">
                <a:solidFill>
                  <a:srgbClr val="1F2A37"/>
                </a:solidFill>
                <a:latin typeface="Calibri" pitchFamily="34" charset="0"/>
                <a:ea typeface="Calibri" pitchFamily="34" charset="-122"/>
                <a:cs typeface="Calibri" pitchFamily="34" charset="-120"/>
              </a:rPr>
              <a:t>, </a:t>
            </a:r>
            <a:pPr algn="l" indent="0" marL="0">
              <a:buNone/>
            </a:pPr>
            <a:r>
              <a:rPr lang="ar-SA" altLang="en-US" sz="1500" dirty="0">
                <a:solidFill>
                  <a:srgbClr val="1F2A37"/>
                </a:solidFill>
                <a:latin typeface="Amiri" pitchFamily="34" charset="0"/>
                <a:ea typeface="Amiri" pitchFamily="34" charset="-122"/>
                <a:cs typeface="Amiri" pitchFamily="34" charset="-120"/>
              </a:rPr>
              <a:t>هِيَ</a:t>
            </a:r>
            <a:pPr algn="l" indent="0" marL="0">
              <a:buNone/>
            </a:pPr>
            <a:r>
              <a:rPr lang="en-US" sz="1150" dirty="0">
                <a:solidFill>
                  <a:srgbClr val="1F2A37"/>
                </a:solidFill>
                <a:latin typeface="Calibri" pitchFamily="34" charset="0"/>
                <a:ea typeface="Calibri" pitchFamily="34" charset="-122"/>
                <a:cs typeface="Calibri" pitchFamily="34" charset="-120"/>
              </a:rPr>
              <a:t>, and the noun has </a:t>
            </a:r>
            <a:pPr algn="l" indent="0" marL="0">
              <a:buNone/>
            </a:pPr>
            <a:r>
              <a:rPr lang="ar-SA" altLang="en-US" sz="1500" dirty="0">
                <a:solidFill>
                  <a:srgbClr val="1F2A37"/>
                </a:solidFill>
                <a:latin typeface="Amiri" pitchFamily="34" charset="0"/>
                <a:ea typeface="Amiri" pitchFamily="34" charset="-122"/>
                <a:cs typeface="Amiri" pitchFamily="34" charset="-120"/>
              </a:rPr>
              <a:t>ة</a:t>
            </a:r>
            <a:pPr algn="l" indent="0" marL="0">
              <a:buNone/>
            </a:pPr>
            <a:r>
              <a:rPr lang="en-US" sz="1150" dirty="0">
                <a:solidFill>
                  <a:srgbClr val="1F2A37"/>
                </a:solidFill>
                <a:latin typeface="Calibri" pitchFamily="34" charset="0"/>
                <a:ea typeface="Calibri" pitchFamily="34" charset="-122"/>
                <a:cs typeface="Calibri" pitchFamily="34" charset="-120"/>
              </a:rPr>
              <a:t>.</a:t>
            </a:r>
            <a:endParaRPr lang="en-US" sz="1150" dirty="0"/>
          </a:p>
        </p:txBody>
      </p:sp>
      <p:sp>
        <p:nvSpPr>
          <p:cNvPr id="35" name="Text 32"/>
          <p:cNvSpPr txBox="1"/>
          <p:nvPr/>
        </p:nvSpPr>
        <p:spPr>
          <a:xfrm>
            <a:off x="3138678" y="2770632"/>
            <a:ext cx="182880" cy="365760"/>
          </a:xfrm>
          <a:prstGeom prst="rect">
            <a:avLst/>
          </a:prstGeom>
          <a:noFill/>
          <a:ln/>
        </p:spPr>
        <p:txBody>
          <a:bodyPr wrap="square" lIns="0" tIns="0" rIns="0" bIns="0" rtlCol="0" anchor="ctr"/>
          <a:lstStyle/>
          <a:p>
            <a:pPr algn="ctr" indent="0" marL="0">
              <a:buNone/>
            </a:pPr>
            <a:r>
              <a:rPr lang="en-US" sz="1400" dirty="0">
                <a:solidFill>
                  <a:srgbClr val="5A6472"/>
                </a:solidFill>
                <a:latin typeface="Calibri" pitchFamily="34" charset="0"/>
                <a:ea typeface="Calibri" pitchFamily="34" charset="-122"/>
                <a:cs typeface="Calibri" pitchFamily="34" charset="-120"/>
              </a:rPr>
              <a:t>←</a:t>
            </a:r>
            <a:endParaRPr lang="en-US" sz="1400" dirty="0"/>
          </a:p>
        </p:txBody>
      </p:sp>
      <p:sp>
        <p:nvSpPr>
          <p:cNvPr id="36" name="Shape 33"/>
          <p:cNvSpPr/>
          <p:nvPr/>
        </p:nvSpPr>
        <p:spPr>
          <a:xfrm>
            <a:off x="457200" y="1810512"/>
            <a:ext cx="2681478" cy="2487168"/>
          </a:xfrm>
          <a:prstGeom prst="roundRect">
            <a:avLst>
              <a:gd name="adj" fmla="val 294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7" name="Shape 34"/>
          <p:cNvSpPr/>
          <p:nvPr/>
        </p:nvSpPr>
        <p:spPr>
          <a:xfrm>
            <a:off x="2626614" y="1938528"/>
            <a:ext cx="384048" cy="384048"/>
          </a:xfrm>
          <a:prstGeom prst="ellipse">
            <a:avLst/>
          </a:prstGeom>
          <a:solidFill>
            <a:srgbClr val="6B4C9A"/>
          </a:solidFill>
          <a:ln w="12700">
            <a:solidFill>
              <a:srgbClr val="6B4C9A"/>
            </a:solidFill>
            <a:prstDash val="solid"/>
          </a:ln>
        </p:spPr>
      </p:sp>
      <p:sp>
        <p:nvSpPr>
          <p:cNvPr id="38" name="Text 35"/>
          <p:cNvSpPr txBox="1"/>
          <p:nvPr/>
        </p:nvSpPr>
        <p:spPr>
          <a:xfrm>
            <a:off x="2626614" y="1938528"/>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4</a:t>
            </a:r>
            <a:endParaRPr lang="en-US" sz="1400" dirty="0"/>
          </a:p>
        </p:txBody>
      </p:sp>
      <p:sp>
        <p:nvSpPr>
          <p:cNvPr id="39" name="Text 36"/>
          <p:cNvSpPr txBox="1"/>
          <p:nvPr/>
        </p:nvSpPr>
        <p:spPr>
          <a:xfrm>
            <a:off x="594360" y="1920240"/>
            <a:ext cx="1949958" cy="457200"/>
          </a:xfrm>
          <a:prstGeom prst="rect">
            <a:avLst/>
          </a:prstGeom>
          <a:noFill/>
          <a:ln/>
        </p:spPr>
        <p:txBody>
          <a:bodyPr wrap="square" lIns="0" tIns="0" rIns="0" bIns="0" rtlCol="0" anchor="ctr"/>
          <a:lstStyle/>
          <a:p>
            <a:pPr algn="l" indent="0" marL="0">
              <a:buNone/>
            </a:pPr>
            <a:r>
              <a:rPr lang="en-US" sz="1250" b="1" dirty="0">
                <a:solidFill>
                  <a:srgbClr val="6B4C9A"/>
                </a:solidFill>
                <a:latin typeface="Calibri" pitchFamily="34" charset="0"/>
                <a:ea typeface="Calibri" pitchFamily="34" charset="-122"/>
                <a:cs typeface="Calibri" pitchFamily="34" charset="-120"/>
              </a:rPr>
              <a:t>Adjective: add </a:t>
            </a:r>
            <a:pPr algn="l" indent="0" marL="0">
              <a:buNone/>
            </a:pPr>
            <a:r>
              <a:rPr lang="ar-SA" altLang="en-US" sz="1650" b="1" dirty="0">
                <a:solidFill>
                  <a:srgbClr val="6B4C9A"/>
                </a:solidFill>
                <a:latin typeface="Amiri" pitchFamily="34" charset="0"/>
                <a:ea typeface="Amiri" pitchFamily="34" charset="-122"/>
                <a:cs typeface="Amiri" pitchFamily="34" charset="-120"/>
              </a:rPr>
              <a:t>ة</a:t>
            </a:r>
            <a:endParaRPr lang="en-US" sz="1250" dirty="0"/>
          </a:p>
        </p:txBody>
      </p:sp>
      <p:sp>
        <p:nvSpPr>
          <p:cNvPr id="40" name="Text 37"/>
          <p:cNvSpPr txBox="1"/>
          <p:nvPr/>
        </p:nvSpPr>
        <p:spPr>
          <a:xfrm>
            <a:off x="566928" y="2450592"/>
            <a:ext cx="2462022" cy="914400"/>
          </a:xfrm>
          <a:prstGeom prst="rect">
            <a:avLst/>
          </a:prstGeom>
          <a:noFill/>
          <a:ln/>
        </p:spPr>
        <p:txBody>
          <a:bodyPr wrap="square" lIns="0" tIns="0" rIns="0" bIns="0" rtlCol="0" anchor="ctr"/>
          <a:lstStyle/>
          <a:p>
            <a:pPr rtl="1" algn="ctr" indent="0" marL="0">
              <a:buNone/>
            </a:pPr>
            <a:r>
              <a:rPr lang="ar-SA" altLang="en-US" sz="2800" b="1" dirty="0">
                <a:solidFill>
                  <a:srgbClr val="1B3B6F"/>
                </a:solidFill>
                <a:latin typeface="Amiri" pitchFamily="34" charset="0"/>
                <a:ea typeface="Amiri" pitchFamily="34" charset="-122"/>
                <a:cs typeface="Amiri" pitchFamily="34" charset="-120"/>
              </a:rPr>
              <a:t>طَالِبَ</a:t>
            </a:r>
            <a:pPr rtl="1" algn="ctr" indent="0" marL="0">
              <a:buNone/>
            </a:pPr>
            <a:r>
              <a:rPr lang="ar-SA" altLang="en-US" sz="2800" b="1" dirty="0">
                <a:solidFill>
                  <a:srgbClr val="D6336C"/>
                </a:solidFill>
                <a:latin typeface="Amiri" pitchFamily="34" charset="0"/>
                <a:ea typeface="Amiri" pitchFamily="34" charset="-122"/>
                <a:cs typeface="Amiri" pitchFamily="34" charset="-120"/>
              </a:rPr>
              <a:t>ةٌ</a:t>
            </a:r>
            <a:pPr rtl="1" algn="ctr" indent="0" marL="0">
              <a:buNone/>
            </a:pPr>
            <a:r>
              <a:rPr lang="ar-SA" altLang="en-US" sz="2800" b="1" dirty="0">
                <a:solidFill>
                  <a:srgbClr val="1B3B6F"/>
                </a:solidFill>
                <a:latin typeface="Amiri" pitchFamily="34" charset="0"/>
                <a:ea typeface="Amiri" pitchFamily="34" charset="-122"/>
                <a:cs typeface="Amiri" pitchFamily="34" charset="-120"/>
              </a:rPr>
              <a:t> جَدِيدَ</a:t>
            </a:r>
            <a:pPr rtl="1" algn="ctr" indent="0" marL="0">
              <a:buNone/>
            </a:pPr>
            <a:r>
              <a:rPr lang="ar-SA" altLang="en-US" sz="2800" b="1" dirty="0">
                <a:solidFill>
                  <a:srgbClr val="D6336C"/>
                </a:solidFill>
                <a:latin typeface="Amiri" pitchFamily="34" charset="0"/>
                <a:ea typeface="Amiri" pitchFamily="34" charset="-122"/>
                <a:cs typeface="Amiri" pitchFamily="34" charset="-120"/>
              </a:rPr>
              <a:t>ةٌ</a:t>
            </a:r>
            <a:endParaRPr lang="ar-SA" sz="2800" dirty="0"/>
          </a:p>
        </p:txBody>
      </p:sp>
      <p:sp>
        <p:nvSpPr>
          <p:cNvPr id="41" name="Text 38"/>
          <p:cNvSpPr txBox="1"/>
          <p:nvPr/>
        </p:nvSpPr>
        <p:spPr>
          <a:xfrm>
            <a:off x="594360" y="3410712"/>
            <a:ext cx="2407158" cy="804672"/>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ea typeface="Calibri" pitchFamily="34" charset="-122"/>
                <a:cs typeface="Calibri" pitchFamily="34" charset="-120"/>
              </a:rPr>
              <a:t>The adjective copies the </a:t>
            </a:r>
            <a:pPr algn="l" indent="0" marL="0">
              <a:buNone/>
            </a:pPr>
            <a:r>
              <a:rPr lang="ar-SA" altLang="en-US" sz="1500" dirty="0">
                <a:solidFill>
                  <a:srgbClr val="1F2A37"/>
                </a:solidFill>
                <a:latin typeface="Amiri" pitchFamily="34" charset="0"/>
                <a:ea typeface="Amiri" pitchFamily="34" charset="-122"/>
                <a:cs typeface="Amiri" pitchFamily="34" charset="-120"/>
              </a:rPr>
              <a:t>ة</a:t>
            </a:r>
            <a:pPr algn="l" indent="0" marL="0">
              <a:buNone/>
            </a:pPr>
            <a:r>
              <a:rPr lang="en-US" sz="1150" dirty="0">
                <a:solidFill>
                  <a:srgbClr val="1F2A37"/>
                </a:solidFill>
                <a:latin typeface="Calibri" pitchFamily="34" charset="0"/>
                <a:ea typeface="Calibri" pitchFamily="34" charset="-122"/>
                <a:cs typeface="Calibri" pitchFamily="34" charset="-120"/>
              </a:rPr>
              <a:t>: </a:t>
            </a:r>
            <a:pPr algn="l" indent="0" marL="0">
              <a:buNone/>
            </a:pPr>
            <a:r>
              <a:rPr lang="ar-SA" altLang="en-US" sz="1500" dirty="0">
                <a:solidFill>
                  <a:srgbClr val="1F2A37"/>
                </a:solidFill>
                <a:latin typeface="Amiri" pitchFamily="34" charset="0"/>
                <a:ea typeface="Amiri" pitchFamily="34" charset="-122"/>
                <a:cs typeface="Amiri" pitchFamily="34" charset="-120"/>
              </a:rPr>
              <a:t>جَدِيدَةٌ</a:t>
            </a:r>
            <a:pPr algn="l" indent="0" marL="0">
              <a:buNone/>
            </a:pPr>
            <a:r>
              <a:rPr lang="en-US" sz="1150" dirty="0">
                <a:solidFill>
                  <a:srgbClr val="1F2A37"/>
                </a:solidFill>
                <a:latin typeface="Calibri" pitchFamily="34" charset="0"/>
                <a:ea typeface="Calibri" pitchFamily="34" charset="-122"/>
                <a:cs typeface="Calibri" pitchFamily="34" charset="-120"/>
              </a:rPr>
              <a:t>.</a:t>
            </a:r>
            <a:endParaRPr lang="en-US" sz="1150" dirty="0"/>
          </a:p>
        </p:txBody>
      </p:sp>
      <p:sp>
        <p:nvSpPr>
          <p:cNvPr id="42" name="Shape 39"/>
          <p:cNvSpPr/>
          <p:nvPr/>
        </p:nvSpPr>
        <p:spPr>
          <a:xfrm>
            <a:off x="457200" y="4480560"/>
            <a:ext cx="11274552" cy="1828800"/>
          </a:xfrm>
          <a:prstGeom prst="roundRect">
            <a:avLst>
              <a:gd name="adj" fmla="val 4000"/>
            </a:avLst>
          </a:prstGeom>
          <a:solidFill>
            <a:srgbClr val="F1ECF8"/>
          </a:solidFill>
          <a:ln w="9525">
            <a:solidFill>
              <a:srgbClr val="CFC2E3"/>
            </a:solidFill>
            <a:prstDash val="solid"/>
          </a:ln>
          <a:effectLst>
            <a:outerShdw sx="100000" sy="100000" kx="0" ky="0" algn="bl" rotWithShape="0" blurRad="50800" dist="19050" dir="5400000">
              <a:srgbClr val="000000">
                <a:alpha val="10000"/>
              </a:srgbClr>
            </a:outerShdw>
          </a:effectLst>
        </p:spPr>
      </p:sp>
      <p:pic>
        <p:nvPicPr>
          <p:cNvPr id="43" name="Image 0" descr="preencoded.png">    </p:cNvPr>
          <p:cNvPicPr>
            <a:picLocks noChangeAspect="1"/>
          </p:cNvPicPr>
          <p:nvPr/>
        </p:nvPicPr>
        <p:blipFill>
          <a:blip r:embed="rId1"/>
          <a:stretch>
            <a:fillRect/>
          </a:stretch>
        </p:blipFill>
        <p:spPr>
          <a:xfrm>
            <a:off x="685800" y="4663440"/>
            <a:ext cx="457200" cy="457200"/>
          </a:xfrm>
          <a:prstGeom prst="rect">
            <a:avLst/>
          </a:prstGeom>
        </p:spPr>
      </p:pic>
      <p:sp>
        <p:nvSpPr>
          <p:cNvPr id="44" name="Text 40"/>
          <p:cNvSpPr txBox="1"/>
          <p:nvPr/>
        </p:nvSpPr>
        <p:spPr>
          <a:xfrm>
            <a:off x="1280160" y="4736592"/>
            <a:ext cx="3657600" cy="310896"/>
          </a:xfrm>
          <a:prstGeom prst="rect">
            <a:avLst/>
          </a:prstGeom>
          <a:noFill/>
          <a:ln/>
        </p:spPr>
        <p:txBody>
          <a:bodyPr wrap="square" lIns="0" tIns="0" rIns="0" bIns="0" rtlCol="0" anchor="ctr"/>
          <a:lstStyle/>
          <a:p>
            <a:pPr algn="l" indent="0" marL="0">
              <a:buNone/>
            </a:pPr>
            <a:r>
              <a:rPr lang="en-US" sz="1200" b="1" spc="200" kern="0" dirty="0">
                <a:solidFill>
                  <a:srgbClr val="6B4C9A"/>
                </a:solidFill>
                <a:latin typeface="Calibri" pitchFamily="34" charset="0"/>
                <a:ea typeface="Calibri" pitchFamily="34" charset="-122"/>
                <a:cs typeface="Calibri" pitchFamily="34" charset="-120"/>
              </a:rPr>
              <a:t>COPY THIS INTO YOUR BOOK</a:t>
            </a:r>
            <a:endParaRPr lang="en-US" sz="1200" dirty="0"/>
          </a:p>
        </p:txBody>
      </p:sp>
      <p:sp>
        <p:nvSpPr>
          <p:cNvPr id="45" name="Shape 41"/>
          <p:cNvSpPr/>
          <p:nvPr/>
        </p:nvSpPr>
        <p:spPr>
          <a:xfrm>
            <a:off x="10515600" y="4736592"/>
            <a:ext cx="914400" cy="237744"/>
          </a:xfrm>
          <a:prstGeom prst="roundRect">
            <a:avLst>
              <a:gd name="adj" fmla="val 50000"/>
            </a:avLst>
          </a:prstGeom>
          <a:solidFill>
            <a:srgbClr val="D6336C"/>
          </a:solidFill>
          <a:ln w="12700">
            <a:solidFill>
              <a:srgbClr val="D6336C"/>
            </a:solidFill>
            <a:prstDash val="solid"/>
          </a:ln>
        </p:spPr>
      </p:sp>
      <p:sp>
        <p:nvSpPr>
          <p:cNvPr id="46" name="Text 42"/>
          <p:cNvSpPr txBox="1"/>
          <p:nvPr/>
        </p:nvSpPr>
        <p:spPr>
          <a:xfrm>
            <a:off x="10515600" y="4736592"/>
            <a:ext cx="914400" cy="237744"/>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ea typeface="Calibri" pitchFamily="34" charset="-122"/>
                <a:cs typeface="Calibri" pitchFamily="34" charset="-120"/>
              </a:rPr>
              <a:t>FEMININE ة</a:t>
            </a:r>
            <a:endParaRPr lang="en-US" sz="800" dirty="0"/>
          </a:p>
        </p:txBody>
      </p:sp>
      <p:sp>
        <p:nvSpPr>
          <p:cNvPr id="47" name="Text 43"/>
          <p:cNvSpPr txBox="1"/>
          <p:nvPr/>
        </p:nvSpPr>
        <p:spPr>
          <a:xfrm>
            <a:off x="685800" y="5029200"/>
            <a:ext cx="10817352" cy="731520"/>
          </a:xfrm>
          <a:prstGeom prst="rect">
            <a:avLst/>
          </a:prstGeom>
          <a:noFill/>
          <a:ln/>
        </p:spPr>
        <p:txBody>
          <a:bodyPr wrap="square" lIns="0" tIns="0" rIns="0" bIns="0" rtlCol="0" anchor="ctr"/>
          <a:lstStyle/>
          <a:p>
            <a:pPr rtl="1" algn="r" indent="0" marL="0">
              <a:buNone/>
            </a:pPr>
            <a:r>
              <a:rPr lang="ar-SA" altLang="en-US" sz="2600" b="1" dirty="0">
                <a:solidFill>
                  <a:srgbClr val="1B3B6F"/>
                </a:solidFill>
                <a:latin typeface="Amiri" pitchFamily="34" charset="0"/>
                <a:ea typeface="Amiri" pitchFamily="34" charset="-122"/>
                <a:cs typeface="Amiri" pitchFamily="34" charset="-120"/>
              </a:rPr>
              <a:t>هَذَا صَدِيقِي يُوسُفُ. هُوَ وَلَدٌ ذَكِيٌّ وَلَطِيفٌ. — هَذِهِ زَمِيلَتِي فَاطِمَةُ. هِيَ طَالِبَ</a:t>
            </a:r>
            <a:pPr rtl="1" algn="r" indent="0" marL="0">
              <a:buNone/>
            </a:pPr>
            <a:r>
              <a:rPr lang="ar-SA" altLang="en-US" sz="2600" b="1" dirty="0">
                <a:solidFill>
                  <a:srgbClr val="D6336C"/>
                </a:solidFill>
                <a:latin typeface="Amiri" pitchFamily="34" charset="0"/>
                <a:ea typeface="Amiri" pitchFamily="34" charset="-122"/>
                <a:cs typeface="Amiri" pitchFamily="34" charset="-120"/>
              </a:rPr>
              <a:t>ةٌ</a:t>
            </a:r>
            <a:pPr rtl="1" algn="r" indent="0" marL="0">
              <a:buNone/>
            </a:pPr>
            <a:r>
              <a:rPr lang="ar-SA" altLang="en-US" sz="2600" b="1" dirty="0">
                <a:solidFill>
                  <a:srgbClr val="1B3B6F"/>
                </a:solidFill>
                <a:latin typeface="Amiri" pitchFamily="34" charset="0"/>
                <a:ea typeface="Amiri" pitchFamily="34" charset="-122"/>
                <a:cs typeface="Amiri" pitchFamily="34" charset="-120"/>
              </a:rPr>
              <a:t> جَدِيدَ</a:t>
            </a:r>
            <a:pPr rtl="1" algn="r" indent="0" marL="0">
              <a:buNone/>
            </a:pPr>
            <a:r>
              <a:rPr lang="ar-SA" altLang="en-US" sz="2600" b="1" dirty="0">
                <a:solidFill>
                  <a:srgbClr val="D6336C"/>
                </a:solidFill>
                <a:latin typeface="Amiri" pitchFamily="34" charset="0"/>
                <a:ea typeface="Amiri" pitchFamily="34" charset="-122"/>
                <a:cs typeface="Amiri" pitchFamily="34" charset="-120"/>
              </a:rPr>
              <a:t>ةٌ</a:t>
            </a:r>
            <a:pPr rtl="1" algn="r" indent="0" marL="0">
              <a:buNone/>
            </a:pPr>
            <a:r>
              <a:rPr lang="ar-SA" altLang="en-US" sz="2600" b="1" dirty="0">
                <a:solidFill>
                  <a:srgbClr val="1B3B6F"/>
                </a:solidFill>
                <a:latin typeface="Amiri" pitchFamily="34" charset="0"/>
                <a:ea typeface="Amiri" pitchFamily="34" charset="-122"/>
                <a:cs typeface="Amiri" pitchFamily="34" charset="-120"/>
              </a:rPr>
              <a:t> وَسَعِيدَ</a:t>
            </a:r>
            <a:pPr rtl="1" algn="r" indent="0" marL="0">
              <a:buNone/>
            </a:pPr>
            <a:r>
              <a:rPr lang="ar-SA" altLang="en-US" sz="2600" b="1" dirty="0">
                <a:solidFill>
                  <a:srgbClr val="D6336C"/>
                </a:solidFill>
                <a:latin typeface="Amiri" pitchFamily="34" charset="0"/>
                <a:ea typeface="Amiri" pitchFamily="34" charset="-122"/>
                <a:cs typeface="Amiri" pitchFamily="34" charset="-120"/>
              </a:rPr>
              <a:t>ةٌ</a:t>
            </a:r>
            <a:pPr rtl="1" algn="r" indent="0" marL="0">
              <a:buNone/>
            </a:pPr>
            <a:r>
              <a:rPr lang="ar-SA" altLang="en-US" sz="2600" b="1" dirty="0">
                <a:solidFill>
                  <a:srgbClr val="1B3B6F"/>
                </a:solidFill>
                <a:latin typeface="Amiri" pitchFamily="34" charset="0"/>
                <a:ea typeface="Amiri" pitchFamily="34" charset="-122"/>
                <a:cs typeface="Amiri" pitchFamily="34" charset="-120"/>
              </a:rPr>
              <a:t>.</a:t>
            </a:r>
            <a:endParaRPr lang="ar-SA" sz="2600" dirty="0"/>
          </a:p>
        </p:txBody>
      </p:sp>
      <p:sp>
        <p:nvSpPr>
          <p:cNvPr id="48" name="Text 44"/>
          <p:cNvSpPr txBox="1"/>
          <p:nvPr/>
        </p:nvSpPr>
        <p:spPr>
          <a:xfrm>
            <a:off x="685800" y="5760720"/>
            <a:ext cx="10817352" cy="365760"/>
          </a:xfrm>
          <a:prstGeom prst="rect">
            <a:avLst/>
          </a:prstGeom>
          <a:noFill/>
          <a:ln/>
        </p:spPr>
        <p:txBody>
          <a:bodyPr wrap="square" lIns="0" tIns="0" rIns="0" bIns="0" rtlCol="0" anchor="ctr"/>
          <a:lstStyle/>
          <a:p>
            <a:pPr algn="r" indent="0" marL="0">
              <a:buNone/>
            </a:pPr>
            <a:r>
              <a:rPr lang="en-US" sz="1300" i="1" dirty="0">
                <a:solidFill>
                  <a:srgbClr val="5A6472"/>
                </a:solidFill>
                <a:latin typeface="Calibri" pitchFamily="34" charset="0"/>
                <a:ea typeface="Calibri" pitchFamily="34" charset="-122"/>
                <a:cs typeface="Calibri" pitchFamily="34" charset="-120"/>
              </a:rPr>
              <a:t>This is my friend Yusuf. He is a clever and kind boy. — This is my classmate Fatima. She is a new and happy student.</a:t>
            </a:r>
            <a:endParaRPr lang="en-US" sz="1300" dirty="0"/>
          </a:p>
        </p:txBody>
      </p:sp>
      <p:sp>
        <p:nvSpPr>
          <p:cNvPr id="49" name="Text 4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ea typeface="Calibri" pitchFamily="34" charset="-122"/>
                <a:cs typeface="Calibri" pitchFamily="34" charset="-120"/>
              </a:rPr>
              <a:t>15 / 36</a:t>
            </a:r>
            <a:endParaRPr lang="en-US" sz="85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34" charset="0"/>
                <a:ea typeface="Amiri" pitchFamily="34" charset="-122"/>
                <a:cs typeface="Amiri" pitchFamily="34" charset="-120"/>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ea typeface="Cambria" pitchFamily="34" charset="-122"/>
                <a:cs typeface="Cambria" pitchFamily="34" charset="-120"/>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ea typeface="Calibri" pitchFamily="34" charset="-122"/>
                <a:cs typeface="Calibri" pitchFamily="34" charset="-120"/>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ea typeface="Calibri" pitchFamily="34" charset="-122"/>
                <a:cs typeface="Calibri" pitchFamily="34" charset="-120"/>
              </a:rPr>
              <a:t>F2-L05 · Masculine &amp; Feminine</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ea typeface="Calibri" pitchFamily="34" charset="-122"/>
                <a:cs typeface="Calibri" pitchFamily="34" charset="-120"/>
              </a:rPr>
              <a:t>WE DO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800" b="1" spc="150" kern="0" dirty="0">
                <a:solidFill>
                  <a:srgbClr val="2F6FB0"/>
                </a:solidFill>
                <a:latin typeface="Calibri" pitchFamily="34" charset="0"/>
                <a:ea typeface="Calibri" pitchFamily="34" charset="-122"/>
                <a:cs typeface="Calibri" pitchFamily="34" charset="-120"/>
              </a:rPr>
              <a:t>WE DO · PICTURE MATCH · WEBSITE GAME “VISUAL GAME — GENDER OF NOUNS AND MASCULINE/FEMININE AGREEMENT”</a:t>
            </a:r>
            <a:endParaRPr lang="en-US" sz="8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700" b="1" dirty="0">
                <a:solidFill>
                  <a:srgbClr val="1B3B6F"/>
                </a:solidFill>
                <a:latin typeface="Cambria" pitchFamily="34" charset="0"/>
                <a:ea typeface="Cambria" pitchFamily="34" charset="-122"/>
                <a:cs typeface="Cambria" pitchFamily="34" charset="-120"/>
              </a:rPr>
              <a:t>Match the picture to the sentence</a:t>
            </a:r>
            <a:endParaRPr lang="en-US" sz="27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34" charset="0"/>
                <a:ea typeface="Amiri" pitchFamily="34" charset="-122"/>
                <a:cs typeface="Amiri" pitchFamily="34" charset="-120"/>
              </a:rPr>
              <a:t>مُفَتِّشُ المُطَابَقَةِ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ea typeface="Calibri" pitchFamily="34" charset="-122"/>
                <a:cs typeface="Calibri" pitchFamily="34" charset="-120"/>
              </a:rPr>
              <a:t>Miftah Arabic · Foundation F2 · Greetings &amp; Introductions · Week 2 · Lesson 2 of 3</a:t>
            </a:r>
            <a:endParaRPr lang="en-US" sz="850" dirty="0"/>
          </a:p>
        </p:txBody>
      </p:sp>
      <p:sp>
        <p:nvSpPr>
          <p:cNvPr id="15" name="Shape 12"/>
          <p:cNvSpPr/>
          <p:nvPr/>
        </p:nvSpPr>
        <p:spPr>
          <a:xfrm>
            <a:off x="8095488" y="1810512"/>
            <a:ext cx="3636264" cy="1737360"/>
          </a:xfrm>
          <a:prstGeom prst="roundRect">
            <a:avLst>
              <a:gd name="adj" fmla="val 42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8223504" y="1938528"/>
            <a:ext cx="365760" cy="365760"/>
          </a:xfrm>
          <a:prstGeom prst="ellipse">
            <a:avLst/>
          </a:prstGeom>
          <a:solidFill>
            <a:srgbClr val="1B3B6F"/>
          </a:solidFill>
          <a:ln w="12700">
            <a:solidFill>
              <a:srgbClr val="1B3B6F"/>
            </a:solidFill>
            <a:prstDash val="solid"/>
          </a:ln>
        </p:spPr>
      </p:sp>
      <p:sp>
        <p:nvSpPr>
          <p:cNvPr id="17" name="Text 14"/>
          <p:cNvSpPr txBox="1"/>
          <p:nvPr/>
        </p:nvSpPr>
        <p:spPr>
          <a:xfrm>
            <a:off x="8223504" y="1938528"/>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1</a:t>
            </a:r>
            <a:endParaRPr lang="en-US" sz="1200" dirty="0"/>
          </a:p>
        </p:txBody>
      </p:sp>
      <p:sp>
        <p:nvSpPr>
          <p:cNvPr id="18" name="Shape 15"/>
          <p:cNvSpPr/>
          <p:nvPr/>
        </p:nvSpPr>
        <p:spPr>
          <a:xfrm>
            <a:off x="8811768" y="2066544"/>
            <a:ext cx="1014984" cy="1014984"/>
          </a:xfrm>
          <a:prstGeom prst="ellipse">
            <a:avLst/>
          </a:prstGeom>
          <a:solidFill>
            <a:srgbClr val="F4F1EA"/>
          </a:solidFill>
          <a:ln w="12700">
            <a:solidFill>
              <a:srgbClr val="F4F1EA"/>
            </a:solidFill>
            <a:prstDash val="solid"/>
          </a:ln>
        </p:spPr>
      </p:sp>
      <p:pic>
        <p:nvPicPr>
          <p:cNvPr id="19" name="Image 0" descr="preencoded.png">    </p:cNvPr>
          <p:cNvPicPr>
            <a:picLocks noChangeAspect="1"/>
          </p:cNvPicPr>
          <p:nvPr/>
        </p:nvPicPr>
        <p:blipFill>
          <a:blip r:embed="rId1"/>
          <a:stretch>
            <a:fillRect/>
          </a:stretch>
        </p:blipFill>
        <p:spPr>
          <a:xfrm>
            <a:off x="8994648" y="2249424"/>
            <a:ext cx="649224" cy="649224"/>
          </a:xfrm>
          <a:prstGeom prst="rect">
            <a:avLst/>
          </a:prstGeom>
        </p:spPr>
      </p:pic>
      <p:sp>
        <p:nvSpPr>
          <p:cNvPr id="20" name="Shape 16"/>
          <p:cNvSpPr/>
          <p:nvPr/>
        </p:nvSpPr>
        <p:spPr>
          <a:xfrm>
            <a:off x="10000488" y="2066544"/>
            <a:ext cx="1014984" cy="1014984"/>
          </a:xfrm>
          <a:prstGeom prst="ellipse">
            <a:avLst/>
          </a:prstGeom>
          <a:solidFill>
            <a:srgbClr val="F4F1EA"/>
          </a:solidFill>
          <a:ln w="12700">
            <a:solidFill>
              <a:srgbClr val="F4F1EA"/>
            </a:solidFill>
            <a:prstDash val="solid"/>
          </a:ln>
        </p:spPr>
      </p:sp>
      <p:pic>
        <p:nvPicPr>
          <p:cNvPr id="21" name="Image 1" descr="preencoded.png">    </p:cNvPr>
          <p:cNvPicPr>
            <a:picLocks noChangeAspect="1"/>
          </p:cNvPicPr>
          <p:nvPr/>
        </p:nvPicPr>
        <p:blipFill>
          <a:blip r:embed="rId2"/>
          <a:stretch>
            <a:fillRect/>
          </a:stretch>
        </p:blipFill>
        <p:spPr>
          <a:xfrm>
            <a:off x="10183368" y="2249424"/>
            <a:ext cx="649224" cy="649224"/>
          </a:xfrm>
          <a:prstGeom prst="rect">
            <a:avLst/>
          </a:prstGeom>
        </p:spPr>
      </p:pic>
      <p:sp>
        <p:nvSpPr>
          <p:cNvPr id="22" name="Text 17"/>
          <p:cNvSpPr txBox="1"/>
          <p:nvPr/>
        </p:nvSpPr>
        <p:spPr>
          <a:xfrm>
            <a:off x="8232648" y="3182112"/>
            <a:ext cx="3361944" cy="292608"/>
          </a:xfrm>
          <a:prstGeom prst="rect">
            <a:avLst/>
          </a:prstGeom>
          <a:noFill/>
          <a:ln/>
        </p:spPr>
        <p:txBody>
          <a:bodyPr wrap="square" lIns="0" tIns="0" rIns="0" bIns="0" rtlCol="0" anchor="ctr"/>
          <a:lstStyle/>
          <a:p>
            <a:pPr algn="ctr" indent="0" marL="0">
              <a:buNone/>
            </a:pPr>
            <a:r>
              <a:rPr lang="en-US" sz="1100" i="1" dirty="0">
                <a:solidFill>
                  <a:srgbClr val="5A6472"/>
                </a:solidFill>
                <a:latin typeface="Calibri" pitchFamily="34" charset="0"/>
                <a:ea typeface="Calibri" pitchFamily="34" charset="-122"/>
                <a:cs typeface="Calibri" pitchFamily="34" charset="-120"/>
              </a:rPr>
              <a:t>a boy studying</a:t>
            </a:r>
            <a:endParaRPr lang="en-US" sz="1100" dirty="0"/>
          </a:p>
        </p:txBody>
      </p:sp>
      <p:sp>
        <p:nvSpPr>
          <p:cNvPr id="23" name="Shape 18"/>
          <p:cNvSpPr/>
          <p:nvPr/>
        </p:nvSpPr>
        <p:spPr>
          <a:xfrm>
            <a:off x="4276344" y="1810512"/>
            <a:ext cx="3636264" cy="1737360"/>
          </a:xfrm>
          <a:prstGeom prst="roundRect">
            <a:avLst>
              <a:gd name="adj" fmla="val 42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4" name="Shape 19"/>
          <p:cNvSpPr/>
          <p:nvPr/>
        </p:nvSpPr>
        <p:spPr>
          <a:xfrm>
            <a:off x="4404360" y="1938528"/>
            <a:ext cx="365760" cy="365760"/>
          </a:xfrm>
          <a:prstGeom prst="ellipse">
            <a:avLst/>
          </a:prstGeom>
          <a:solidFill>
            <a:srgbClr val="1B3B6F"/>
          </a:solidFill>
          <a:ln w="12700">
            <a:solidFill>
              <a:srgbClr val="1B3B6F"/>
            </a:solidFill>
            <a:prstDash val="solid"/>
          </a:ln>
        </p:spPr>
      </p:sp>
      <p:sp>
        <p:nvSpPr>
          <p:cNvPr id="25" name="Text 20"/>
          <p:cNvSpPr txBox="1"/>
          <p:nvPr/>
        </p:nvSpPr>
        <p:spPr>
          <a:xfrm>
            <a:off x="4404360" y="1938528"/>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2</a:t>
            </a:r>
            <a:endParaRPr lang="en-US" sz="1200" dirty="0"/>
          </a:p>
        </p:txBody>
      </p:sp>
      <p:sp>
        <p:nvSpPr>
          <p:cNvPr id="26" name="Shape 21"/>
          <p:cNvSpPr/>
          <p:nvPr/>
        </p:nvSpPr>
        <p:spPr>
          <a:xfrm>
            <a:off x="4992624" y="2066544"/>
            <a:ext cx="1014984" cy="1014984"/>
          </a:xfrm>
          <a:prstGeom prst="ellipse">
            <a:avLst/>
          </a:prstGeom>
          <a:solidFill>
            <a:srgbClr val="F4F1EA"/>
          </a:solidFill>
          <a:ln w="12700">
            <a:solidFill>
              <a:srgbClr val="F4F1EA"/>
            </a:solidFill>
            <a:prstDash val="solid"/>
          </a:ln>
        </p:spPr>
      </p:sp>
      <p:pic>
        <p:nvPicPr>
          <p:cNvPr id="27" name="Image 2" descr="preencoded.png">    </p:cNvPr>
          <p:cNvPicPr>
            <a:picLocks noChangeAspect="1"/>
          </p:cNvPicPr>
          <p:nvPr/>
        </p:nvPicPr>
        <p:blipFill>
          <a:blip r:embed="rId3"/>
          <a:stretch>
            <a:fillRect/>
          </a:stretch>
        </p:blipFill>
        <p:spPr>
          <a:xfrm>
            <a:off x="5175504" y="2249424"/>
            <a:ext cx="649224" cy="649224"/>
          </a:xfrm>
          <a:prstGeom prst="rect">
            <a:avLst/>
          </a:prstGeom>
        </p:spPr>
      </p:pic>
      <p:sp>
        <p:nvSpPr>
          <p:cNvPr id="28" name="Shape 22"/>
          <p:cNvSpPr/>
          <p:nvPr/>
        </p:nvSpPr>
        <p:spPr>
          <a:xfrm>
            <a:off x="6181344" y="2066544"/>
            <a:ext cx="1014984" cy="1014984"/>
          </a:xfrm>
          <a:prstGeom prst="ellipse">
            <a:avLst/>
          </a:prstGeom>
          <a:solidFill>
            <a:srgbClr val="F4F1EA"/>
          </a:solidFill>
          <a:ln w="12700">
            <a:solidFill>
              <a:srgbClr val="F4F1EA"/>
            </a:solidFill>
            <a:prstDash val="solid"/>
          </a:ln>
        </p:spPr>
      </p:sp>
      <p:pic>
        <p:nvPicPr>
          <p:cNvPr id="29" name="Image 3" descr="preencoded.png">    </p:cNvPr>
          <p:cNvPicPr>
            <a:picLocks noChangeAspect="1"/>
          </p:cNvPicPr>
          <p:nvPr/>
        </p:nvPicPr>
        <p:blipFill>
          <a:blip r:embed="rId4"/>
          <a:stretch>
            <a:fillRect/>
          </a:stretch>
        </p:blipFill>
        <p:spPr>
          <a:xfrm>
            <a:off x="6364224" y="2249424"/>
            <a:ext cx="649224" cy="649224"/>
          </a:xfrm>
          <a:prstGeom prst="rect">
            <a:avLst/>
          </a:prstGeom>
        </p:spPr>
      </p:pic>
      <p:sp>
        <p:nvSpPr>
          <p:cNvPr id="30" name="Text 23"/>
          <p:cNvSpPr txBox="1"/>
          <p:nvPr/>
        </p:nvSpPr>
        <p:spPr>
          <a:xfrm>
            <a:off x="4413504" y="3182112"/>
            <a:ext cx="3361944" cy="292608"/>
          </a:xfrm>
          <a:prstGeom prst="rect">
            <a:avLst/>
          </a:prstGeom>
          <a:noFill/>
          <a:ln/>
        </p:spPr>
        <p:txBody>
          <a:bodyPr wrap="square" lIns="0" tIns="0" rIns="0" bIns="0" rtlCol="0" anchor="ctr"/>
          <a:lstStyle/>
          <a:p>
            <a:pPr algn="ctr" indent="0" marL="0">
              <a:buNone/>
            </a:pPr>
            <a:r>
              <a:rPr lang="en-US" sz="1100" i="1" dirty="0">
                <a:solidFill>
                  <a:srgbClr val="5A6472"/>
                </a:solidFill>
                <a:latin typeface="Calibri" pitchFamily="34" charset="0"/>
                <a:ea typeface="Calibri" pitchFamily="34" charset="-122"/>
                <a:cs typeface="Calibri" pitchFamily="34" charset="-120"/>
              </a:rPr>
              <a:t>a girl studying</a:t>
            </a:r>
            <a:endParaRPr lang="en-US" sz="1100" dirty="0"/>
          </a:p>
        </p:txBody>
      </p:sp>
      <p:sp>
        <p:nvSpPr>
          <p:cNvPr id="31" name="Shape 24"/>
          <p:cNvSpPr/>
          <p:nvPr/>
        </p:nvSpPr>
        <p:spPr>
          <a:xfrm>
            <a:off x="457200" y="1810512"/>
            <a:ext cx="3636264" cy="1737360"/>
          </a:xfrm>
          <a:prstGeom prst="roundRect">
            <a:avLst>
              <a:gd name="adj" fmla="val 42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2" name="Shape 25"/>
          <p:cNvSpPr/>
          <p:nvPr/>
        </p:nvSpPr>
        <p:spPr>
          <a:xfrm>
            <a:off x="585216" y="1938528"/>
            <a:ext cx="365760" cy="365760"/>
          </a:xfrm>
          <a:prstGeom prst="ellipse">
            <a:avLst/>
          </a:prstGeom>
          <a:solidFill>
            <a:srgbClr val="1B3B6F"/>
          </a:solidFill>
          <a:ln w="12700">
            <a:solidFill>
              <a:srgbClr val="1B3B6F"/>
            </a:solidFill>
            <a:prstDash val="solid"/>
          </a:ln>
        </p:spPr>
      </p:sp>
      <p:sp>
        <p:nvSpPr>
          <p:cNvPr id="33" name="Text 26"/>
          <p:cNvSpPr txBox="1"/>
          <p:nvPr/>
        </p:nvSpPr>
        <p:spPr>
          <a:xfrm>
            <a:off x="585216" y="1938528"/>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3</a:t>
            </a:r>
            <a:endParaRPr lang="en-US" sz="1200" dirty="0"/>
          </a:p>
        </p:txBody>
      </p:sp>
      <p:sp>
        <p:nvSpPr>
          <p:cNvPr id="34" name="Shape 27"/>
          <p:cNvSpPr/>
          <p:nvPr/>
        </p:nvSpPr>
        <p:spPr>
          <a:xfrm>
            <a:off x="1173480" y="2066544"/>
            <a:ext cx="1014984" cy="1014984"/>
          </a:xfrm>
          <a:prstGeom prst="ellipse">
            <a:avLst/>
          </a:prstGeom>
          <a:solidFill>
            <a:srgbClr val="F4F1EA"/>
          </a:solidFill>
          <a:ln w="12700">
            <a:solidFill>
              <a:srgbClr val="F4F1EA"/>
            </a:solidFill>
            <a:prstDash val="solid"/>
          </a:ln>
        </p:spPr>
      </p:sp>
      <p:pic>
        <p:nvPicPr>
          <p:cNvPr id="35" name="Image 4" descr="preencoded.png">    </p:cNvPr>
          <p:cNvPicPr>
            <a:picLocks noChangeAspect="1"/>
          </p:cNvPicPr>
          <p:nvPr/>
        </p:nvPicPr>
        <p:blipFill>
          <a:blip r:embed="rId5"/>
          <a:stretch>
            <a:fillRect/>
          </a:stretch>
        </p:blipFill>
        <p:spPr>
          <a:xfrm>
            <a:off x="1356360" y="2249424"/>
            <a:ext cx="649224" cy="649224"/>
          </a:xfrm>
          <a:prstGeom prst="rect">
            <a:avLst/>
          </a:prstGeom>
        </p:spPr>
      </p:pic>
      <p:sp>
        <p:nvSpPr>
          <p:cNvPr id="36" name="Shape 28"/>
          <p:cNvSpPr/>
          <p:nvPr/>
        </p:nvSpPr>
        <p:spPr>
          <a:xfrm>
            <a:off x="2362200" y="2066544"/>
            <a:ext cx="1014984" cy="1014984"/>
          </a:xfrm>
          <a:prstGeom prst="ellipse">
            <a:avLst/>
          </a:prstGeom>
          <a:solidFill>
            <a:srgbClr val="F4F1EA"/>
          </a:solidFill>
          <a:ln w="12700">
            <a:solidFill>
              <a:srgbClr val="F4F1EA"/>
            </a:solidFill>
            <a:prstDash val="solid"/>
          </a:ln>
        </p:spPr>
      </p:sp>
      <p:pic>
        <p:nvPicPr>
          <p:cNvPr id="37" name="Image 5" descr="preencoded.png">    </p:cNvPr>
          <p:cNvPicPr>
            <a:picLocks noChangeAspect="1"/>
          </p:cNvPicPr>
          <p:nvPr/>
        </p:nvPicPr>
        <p:blipFill>
          <a:blip r:embed="rId6"/>
          <a:stretch>
            <a:fillRect/>
          </a:stretch>
        </p:blipFill>
        <p:spPr>
          <a:xfrm>
            <a:off x="2545080" y="2249424"/>
            <a:ext cx="649224" cy="649224"/>
          </a:xfrm>
          <a:prstGeom prst="rect">
            <a:avLst/>
          </a:prstGeom>
        </p:spPr>
      </p:pic>
      <p:sp>
        <p:nvSpPr>
          <p:cNvPr id="38" name="Text 29"/>
          <p:cNvSpPr txBox="1"/>
          <p:nvPr/>
        </p:nvSpPr>
        <p:spPr>
          <a:xfrm>
            <a:off x="594360" y="3182112"/>
            <a:ext cx="3361944" cy="292608"/>
          </a:xfrm>
          <a:prstGeom prst="rect">
            <a:avLst/>
          </a:prstGeom>
          <a:noFill/>
          <a:ln/>
        </p:spPr>
        <p:txBody>
          <a:bodyPr wrap="square" lIns="0" tIns="0" rIns="0" bIns="0" rtlCol="0" anchor="ctr"/>
          <a:lstStyle/>
          <a:p>
            <a:pPr algn="ctr" indent="0" marL="0">
              <a:buNone/>
            </a:pPr>
            <a:r>
              <a:rPr lang="en-US" sz="1100" i="1" dirty="0">
                <a:solidFill>
                  <a:srgbClr val="5A6472"/>
                </a:solidFill>
                <a:latin typeface="Calibri" pitchFamily="34" charset="0"/>
                <a:ea typeface="Calibri" pitchFamily="34" charset="-122"/>
                <a:cs typeface="Calibri" pitchFamily="34" charset="-120"/>
              </a:rPr>
              <a:t>a new car</a:t>
            </a:r>
            <a:endParaRPr lang="en-US" sz="1100" dirty="0"/>
          </a:p>
        </p:txBody>
      </p:sp>
      <p:sp>
        <p:nvSpPr>
          <p:cNvPr id="39" name="Shape 30"/>
          <p:cNvSpPr/>
          <p:nvPr/>
        </p:nvSpPr>
        <p:spPr>
          <a:xfrm>
            <a:off x="457200" y="3730752"/>
            <a:ext cx="11274552" cy="493776"/>
          </a:xfrm>
          <a:prstGeom prst="roundRect">
            <a:avLst>
              <a:gd name="adj" fmla="val 11111"/>
            </a:avLst>
          </a:prstGeom>
          <a:solidFill>
            <a:srgbClr val="EEF3FA"/>
          </a:solidFill>
          <a:ln w="9525">
            <a:solidFill>
              <a:srgbClr val="C9D6EA"/>
            </a:solidFill>
            <a:prstDash val="solid"/>
          </a:ln>
        </p:spPr>
      </p:sp>
      <p:sp>
        <p:nvSpPr>
          <p:cNvPr id="40" name="Shape 31"/>
          <p:cNvSpPr/>
          <p:nvPr/>
        </p:nvSpPr>
        <p:spPr>
          <a:xfrm>
            <a:off x="11247120" y="3831336"/>
            <a:ext cx="292608" cy="292608"/>
          </a:xfrm>
          <a:prstGeom prst="ellipse">
            <a:avLst/>
          </a:prstGeom>
          <a:solidFill>
            <a:srgbClr val="2F6FB0"/>
          </a:solidFill>
          <a:ln w="12700">
            <a:solidFill>
              <a:srgbClr val="2F6FB0"/>
            </a:solidFill>
            <a:prstDash val="solid"/>
          </a:ln>
        </p:spPr>
      </p:sp>
      <p:sp>
        <p:nvSpPr>
          <p:cNvPr id="41" name="Text 32"/>
          <p:cNvSpPr txBox="1"/>
          <p:nvPr/>
        </p:nvSpPr>
        <p:spPr>
          <a:xfrm>
            <a:off x="11247120" y="3831336"/>
            <a:ext cx="292608" cy="292608"/>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A</a:t>
            </a:r>
            <a:endParaRPr lang="en-US" sz="1000" dirty="0"/>
          </a:p>
        </p:txBody>
      </p:sp>
      <p:sp>
        <p:nvSpPr>
          <p:cNvPr id="42" name="Text 33"/>
          <p:cNvSpPr txBox="1"/>
          <p:nvPr/>
        </p:nvSpPr>
        <p:spPr>
          <a:xfrm>
            <a:off x="731520" y="3730752"/>
            <a:ext cx="10378440" cy="493776"/>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34" charset="0"/>
                <a:ea typeface="Amiri" pitchFamily="34" charset="-122"/>
                <a:cs typeface="Amiri" pitchFamily="34" charset="-120"/>
              </a:rPr>
              <a:t>هٰذِهِ سَيَّارَةٌ جَدِيدَةٌ.</a:t>
            </a:r>
            <a:endParaRPr lang="ar-SA" sz="2000" dirty="0"/>
          </a:p>
        </p:txBody>
      </p:sp>
      <p:sp>
        <p:nvSpPr>
          <p:cNvPr id="43" name="Shape 34"/>
          <p:cNvSpPr/>
          <p:nvPr/>
        </p:nvSpPr>
        <p:spPr>
          <a:xfrm>
            <a:off x="457200" y="4297680"/>
            <a:ext cx="11274552" cy="493776"/>
          </a:xfrm>
          <a:prstGeom prst="roundRect">
            <a:avLst>
              <a:gd name="adj" fmla="val 11111"/>
            </a:avLst>
          </a:prstGeom>
          <a:solidFill>
            <a:srgbClr val="EEF3FA"/>
          </a:solidFill>
          <a:ln w="9525">
            <a:solidFill>
              <a:srgbClr val="C9D6EA"/>
            </a:solidFill>
            <a:prstDash val="solid"/>
          </a:ln>
        </p:spPr>
      </p:sp>
      <p:sp>
        <p:nvSpPr>
          <p:cNvPr id="44" name="Shape 35"/>
          <p:cNvSpPr/>
          <p:nvPr/>
        </p:nvSpPr>
        <p:spPr>
          <a:xfrm>
            <a:off x="11247120" y="4398264"/>
            <a:ext cx="292608" cy="292608"/>
          </a:xfrm>
          <a:prstGeom prst="ellipse">
            <a:avLst/>
          </a:prstGeom>
          <a:solidFill>
            <a:srgbClr val="2F6FB0"/>
          </a:solidFill>
          <a:ln w="12700">
            <a:solidFill>
              <a:srgbClr val="2F6FB0"/>
            </a:solidFill>
            <a:prstDash val="solid"/>
          </a:ln>
        </p:spPr>
      </p:sp>
      <p:sp>
        <p:nvSpPr>
          <p:cNvPr id="45" name="Text 36"/>
          <p:cNvSpPr txBox="1"/>
          <p:nvPr/>
        </p:nvSpPr>
        <p:spPr>
          <a:xfrm>
            <a:off x="11247120" y="4398264"/>
            <a:ext cx="292608" cy="292608"/>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B</a:t>
            </a:r>
            <a:endParaRPr lang="en-US" sz="1000" dirty="0"/>
          </a:p>
        </p:txBody>
      </p:sp>
      <p:sp>
        <p:nvSpPr>
          <p:cNvPr id="46" name="Text 37"/>
          <p:cNvSpPr txBox="1"/>
          <p:nvPr/>
        </p:nvSpPr>
        <p:spPr>
          <a:xfrm>
            <a:off x="731520" y="4297680"/>
            <a:ext cx="10378440" cy="493776"/>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34" charset="0"/>
                <a:ea typeface="Amiri" pitchFamily="34" charset="-122"/>
                <a:cs typeface="Amiri" pitchFamily="34" charset="-120"/>
              </a:rPr>
              <a:t>هُوَ طَالِبٌ مُجْتَهِدٌ.</a:t>
            </a:r>
            <a:endParaRPr lang="ar-SA" sz="2000" dirty="0"/>
          </a:p>
        </p:txBody>
      </p:sp>
      <p:sp>
        <p:nvSpPr>
          <p:cNvPr id="47" name="Shape 38"/>
          <p:cNvSpPr/>
          <p:nvPr/>
        </p:nvSpPr>
        <p:spPr>
          <a:xfrm>
            <a:off x="457200" y="4864608"/>
            <a:ext cx="11274552" cy="493776"/>
          </a:xfrm>
          <a:prstGeom prst="roundRect">
            <a:avLst>
              <a:gd name="adj" fmla="val 11111"/>
            </a:avLst>
          </a:prstGeom>
          <a:solidFill>
            <a:srgbClr val="EEF3FA"/>
          </a:solidFill>
          <a:ln w="9525">
            <a:solidFill>
              <a:srgbClr val="C9D6EA"/>
            </a:solidFill>
            <a:prstDash val="solid"/>
          </a:ln>
        </p:spPr>
      </p:sp>
      <p:sp>
        <p:nvSpPr>
          <p:cNvPr id="48" name="Shape 39"/>
          <p:cNvSpPr/>
          <p:nvPr/>
        </p:nvSpPr>
        <p:spPr>
          <a:xfrm>
            <a:off x="11247120" y="4965192"/>
            <a:ext cx="292608" cy="292608"/>
          </a:xfrm>
          <a:prstGeom prst="ellipse">
            <a:avLst/>
          </a:prstGeom>
          <a:solidFill>
            <a:srgbClr val="2F6FB0"/>
          </a:solidFill>
          <a:ln w="12700">
            <a:solidFill>
              <a:srgbClr val="2F6FB0"/>
            </a:solidFill>
            <a:prstDash val="solid"/>
          </a:ln>
        </p:spPr>
      </p:sp>
      <p:sp>
        <p:nvSpPr>
          <p:cNvPr id="49" name="Text 40"/>
          <p:cNvSpPr txBox="1"/>
          <p:nvPr/>
        </p:nvSpPr>
        <p:spPr>
          <a:xfrm>
            <a:off x="11247120" y="4965192"/>
            <a:ext cx="292608" cy="292608"/>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C</a:t>
            </a:r>
            <a:endParaRPr lang="en-US" sz="1000" dirty="0"/>
          </a:p>
        </p:txBody>
      </p:sp>
      <p:sp>
        <p:nvSpPr>
          <p:cNvPr id="50" name="Text 41"/>
          <p:cNvSpPr txBox="1"/>
          <p:nvPr/>
        </p:nvSpPr>
        <p:spPr>
          <a:xfrm>
            <a:off x="731520" y="4864608"/>
            <a:ext cx="10378440" cy="493776"/>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34" charset="0"/>
                <a:ea typeface="Amiri" pitchFamily="34" charset="-122"/>
                <a:cs typeface="Amiri" pitchFamily="34" charset="-120"/>
              </a:rPr>
              <a:t>هِيَ طَالِبَةٌ مُجْتَهِدَةٌ.</a:t>
            </a:r>
            <a:endParaRPr lang="ar-SA" sz="2000" dirty="0"/>
          </a:p>
        </p:txBody>
      </p:sp>
      <p:sp>
        <p:nvSpPr>
          <p:cNvPr id="51" name="Text 42"/>
          <p:cNvSpPr txBox="1"/>
          <p:nvPr/>
        </p:nvSpPr>
        <p:spPr>
          <a:xfrm>
            <a:off x="457200" y="5468112"/>
            <a:ext cx="11274552" cy="365760"/>
          </a:xfrm>
          <a:prstGeom prst="rect">
            <a:avLst/>
          </a:prstGeom>
          <a:noFill/>
          <a:ln/>
        </p:spPr>
        <p:txBody>
          <a:bodyPr wrap="square" lIns="0" tIns="0" rIns="0" bIns="0" rtlCol="0" anchor="ctr"/>
          <a:lstStyle/>
          <a:p>
            <a:pPr algn="l" indent="0" marL="0">
              <a:buNone/>
            </a:pPr>
            <a:r>
              <a:rPr lang="en-US" sz="1250" b="1" dirty="0">
                <a:solidFill>
                  <a:srgbClr val="2F6FB0"/>
                </a:solidFill>
                <a:latin typeface="Calibri" pitchFamily="34" charset="0"/>
                <a:ea typeface="Calibri" pitchFamily="34" charset="-122"/>
                <a:cs typeface="Calibri" pitchFamily="34" charset="-120"/>
              </a:rPr>
              <a:t>Match each picture to a sentence. Type in the chat: 1_  2_  3_</a:t>
            </a:r>
            <a:endParaRPr lang="en-US" sz="1250" dirty="0"/>
          </a:p>
        </p:txBody>
      </p:sp>
      <p:sp>
        <p:nvSpPr>
          <p:cNvPr id="52" name="Text 43"/>
          <p:cNvSpPr txBox="1"/>
          <p:nvPr/>
        </p:nvSpPr>
        <p:spPr>
          <a:xfrm>
            <a:off x="457200" y="5852160"/>
            <a:ext cx="11274552" cy="365760"/>
          </a:xfrm>
          <a:prstGeom prst="rect">
            <a:avLst/>
          </a:prstGeom>
          <a:noFill/>
          <a:ln/>
        </p:spPr>
        <p:txBody>
          <a:bodyPr wrap="square" lIns="0" tIns="0" rIns="0" bIns="0" rtlCol="0" anchor="ctr"/>
          <a:lstStyle/>
          <a:p>
            <a:pPr algn="l" indent="0" marL="0">
              <a:buNone/>
            </a:pPr>
            <a:r>
              <a:rPr lang="en-US" sz="1150" i="1" dirty="0">
                <a:solidFill>
                  <a:srgbClr val="5A6472"/>
                </a:solidFill>
                <a:latin typeface="Calibri" pitchFamily="34" charset="0"/>
                <a:ea typeface="Calibri" pitchFamily="34" charset="-122"/>
                <a:cs typeface="Calibri" pitchFamily="34" charset="-120"/>
              </a:rPr>
              <a:t>Core: find ONE key word you know in each sentence first.</a:t>
            </a:r>
            <a:endParaRPr lang="en-US" sz="1150" dirty="0"/>
          </a:p>
        </p:txBody>
      </p:sp>
      <p:sp>
        <p:nvSpPr>
          <p:cNvPr id="53" name="Text 44"/>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ea typeface="Calibri" pitchFamily="34" charset="-122"/>
                <a:cs typeface="Calibri" pitchFamily="34" charset="-120"/>
              </a:rPr>
              <a:t>16 / 36</a:t>
            </a:r>
            <a:endParaRPr lang="en-US" sz="85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34" charset="0"/>
                <a:ea typeface="Amiri" pitchFamily="34" charset="-122"/>
                <a:cs typeface="Amiri" pitchFamily="34" charset="-120"/>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ea typeface="Cambria" pitchFamily="34" charset="-122"/>
                <a:cs typeface="Cambria" pitchFamily="34" charset="-120"/>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ea typeface="Calibri" pitchFamily="34" charset="-122"/>
                <a:cs typeface="Calibri" pitchFamily="34" charset="-120"/>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ea typeface="Calibri" pitchFamily="34" charset="-122"/>
                <a:cs typeface="Calibri" pitchFamily="34" charset="-120"/>
              </a:rPr>
              <a:t>F2-L05 · Masculine &amp; Feminine</a:t>
            </a:r>
            <a:endParaRPr lang="en-US" sz="950" dirty="0"/>
          </a:p>
        </p:txBody>
      </p:sp>
      <p:sp>
        <p:nvSpPr>
          <p:cNvPr id="8" name="Shape 6"/>
          <p:cNvSpPr/>
          <p:nvPr/>
        </p:nvSpPr>
        <p:spPr>
          <a:xfrm>
            <a:off x="7388352" y="274320"/>
            <a:ext cx="1371600"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ea typeface="Calibri" pitchFamily="34" charset="-122"/>
                <a:cs typeface="Calibri" pitchFamily="34" charset="-120"/>
              </a:rPr>
              <a:t>WE DO</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ea typeface="Calibri" pitchFamily="34" charset="-122"/>
                <a:cs typeface="Calibri" pitchFamily="34" charset="-120"/>
              </a:rPr>
              <a:t>WE DO · PICTURE MATCH ANSWERS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ea typeface="Cambria" pitchFamily="34" charset="-122"/>
                <a:cs typeface="Cambria" pitchFamily="34" charset="-120"/>
              </a:rPr>
              <a:t>Picture match: answers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34" charset="0"/>
                <a:ea typeface="Amiri" pitchFamily="34" charset="-122"/>
                <a:cs typeface="Amiri" pitchFamily="34" charset="-120"/>
              </a:rPr>
              <a:t>مُفَتِّشُ المُطَابَقَةِ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ea typeface="Calibri" pitchFamily="34" charset="-122"/>
                <a:cs typeface="Calibri" pitchFamily="34" charset="-120"/>
              </a:rPr>
              <a:t>Miftah Arabic · Foundation F2 · Greetings &amp; Introductions · Week 2 · Lesson 2 of 3</a:t>
            </a:r>
            <a:endParaRPr lang="en-US" sz="850" dirty="0"/>
          </a:p>
        </p:txBody>
      </p:sp>
      <p:sp>
        <p:nvSpPr>
          <p:cNvPr id="15" name="Shape 12"/>
          <p:cNvSpPr/>
          <p:nvPr/>
        </p:nvSpPr>
        <p:spPr>
          <a:xfrm>
            <a:off x="8095488" y="1810512"/>
            <a:ext cx="3636264" cy="1737360"/>
          </a:xfrm>
          <a:prstGeom prst="roundRect">
            <a:avLst>
              <a:gd name="adj" fmla="val 42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8223504" y="1938528"/>
            <a:ext cx="365760" cy="365760"/>
          </a:xfrm>
          <a:prstGeom prst="ellipse">
            <a:avLst/>
          </a:prstGeom>
          <a:solidFill>
            <a:srgbClr val="1B3B6F"/>
          </a:solidFill>
          <a:ln w="12700">
            <a:solidFill>
              <a:srgbClr val="1B3B6F"/>
            </a:solidFill>
            <a:prstDash val="solid"/>
          </a:ln>
        </p:spPr>
      </p:sp>
      <p:sp>
        <p:nvSpPr>
          <p:cNvPr id="17" name="Text 14"/>
          <p:cNvSpPr txBox="1"/>
          <p:nvPr/>
        </p:nvSpPr>
        <p:spPr>
          <a:xfrm>
            <a:off x="8223504" y="1938528"/>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1</a:t>
            </a:r>
            <a:endParaRPr lang="en-US" sz="1200" dirty="0"/>
          </a:p>
        </p:txBody>
      </p:sp>
      <p:sp>
        <p:nvSpPr>
          <p:cNvPr id="18" name="Shape 15"/>
          <p:cNvSpPr/>
          <p:nvPr/>
        </p:nvSpPr>
        <p:spPr>
          <a:xfrm>
            <a:off x="8811768" y="2066544"/>
            <a:ext cx="1014984" cy="1014984"/>
          </a:xfrm>
          <a:prstGeom prst="ellipse">
            <a:avLst/>
          </a:prstGeom>
          <a:solidFill>
            <a:srgbClr val="F4F1EA"/>
          </a:solidFill>
          <a:ln w="12700">
            <a:solidFill>
              <a:srgbClr val="F4F1EA"/>
            </a:solidFill>
            <a:prstDash val="solid"/>
          </a:ln>
        </p:spPr>
      </p:sp>
      <p:pic>
        <p:nvPicPr>
          <p:cNvPr id="19" name="Image 0" descr="preencoded.png">    </p:cNvPr>
          <p:cNvPicPr>
            <a:picLocks noChangeAspect="1"/>
          </p:cNvPicPr>
          <p:nvPr/>
        </p:nvPicPr>
        <p:blipFill>
          <a:blip r:embed="rId1"/>
          <a:stretch>
            <a:fillRect/>
          </a:stretch>
        </p:blipFill>
        <p:spPr>
          <a:xfrm>
            <a:off x="8994648" y="2249424"/>
            <a:ext cx="649224" cy="649224"/>
          </a:xfrm>
          <a:prstGeom prst="rect">
            <a:avLst/>
          </a:prstGeom>
        </p:spPr>
      </p:pic>
      <p:sp>
        <p:nvSpPr>
          <p:cNvPr id="20" name="Shape 16"/>
          <p:cNvSpPr/>
          <p:nvPr/>
        </p:nvSpPr>
        <p:spPr>
          <a:xfrm>
            <a:off x="10000488" y="2066544"/>
            <a:ext cx="1014984" cy="1014984"/>
          </a:xfrm>
          <a:prstGeom prst="ellipse">
            <a:avLst/>
          </a:prstGeom>
          <a:solidFill>
            <a:srgbClr val="F4F1EA"/>
          </a:solidFill>
          <a:ln w="12700">
            <a:solidFill>
              <a:srgbClr val="F4F1EA"/>
            </a:solidFill>
            <a:prstDash val="solid"/>
          </a:ln>
        </p:spPr>
      </p:sp>
      <p:pic>
        <p:nvPicPr>
          <p:cNvPr id="21" name="Image 1" descr="preencoded.png">    </p:cNvPr>
          <p:cNvPicPr>
            <a:picLocks noChangeAspect="1"/>
          </p:cNvPicPr>
          <p:nvPr/>
        </p:nvPicPr>
        <p:blipFill>
          <a:blip r:embed="rId2"/>
          <a:stretch>
            <a:fillRect/>
          </a:stretch>
        </p:blipFill>
        <p:spPr>
          <a:xfrm>
            <a:off x="10183368" y="2249424"/>
            <a:ext cx="649224" cy="649224"/>
          </a:xfrm>
          <a:prstGeom prst="rect">
            <a:avLst/>
          </a:prstGeom>
        </p:spPr>
      </p:pic>
      <p:sp>
        <p:nvSpPr>
          <p:cNvPr id="22" name="Text 17"/>
          <p:cNvSpPr txBox="1"/>
          <p:nvPr/>
        </p:nvSpPr>
        <p:spPr>
          <a:xfrm>
            <a:off x="8232648" y="3182112"/>
            <a:ext cx="3361944" cy="292608"/>
          </a:xfrm>
          <a:prstGeom prst="rect">
            <a:avLst/>
          </a:prstGeom>
          <a:noFill/>
          <a:ln/>
        </p:spPr>
        <p:txBody>
          <a:bodyPr wrap="square" lIns="0" tIns="0" rIns="0" bIns="0" rtlCol="0" anchor="ctr"/>
          <a:lstStyle/>
          <a:p>
            <a:pPr algn="ctr" indent="0" marL="0">
              <a:buNone/>
            </a:pPr>
            <a:r>
              <a:rPr lang="en-US" sz="1100" i="1" dirty="0">
                <a:solidFill>
                  <a:srgbClr val="5A6472"/>
                </a:solidFill>
                <a:latin typeface="Calibri" pitchFamily="34" charset="0"/>
                <a:ea typeface="Calibri" pitchFamily="34" charset="-122"/>
                <a:cs typeface="Calibri" pitchFamily="34" charset="-120"/>
              </a:rPr>
              <a:t>a boy studying</a:t>
            </a:r>
            <a:endParaRPr lang="en-US" sz="1100" dirty="0"/>
          </a:p>
        </p:txBody>
      </p:sp>
      <p:sp>
        <p:nvSpPr>
          <p:cNvPr id="23" name="Shape 18"/>
          <p:cNvSpPr/>
          <p:nvPr/>
        </p:nvSpPr>
        <p:spPr>
          <a:xfrm>
            <a:off x="8095488" y="3675888"/>
            <a:ext cx="3636264" cy="2633472"/>
          </a:xfrm>
          <a:prstGeom prst="roundRect">
            <a:avLst>
              <a:gd name="adj" fmla="val 2778"/>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24" name="Shape 19"/>
          <p:cNvSpPr/>
          <p:nvPr/>
        </p:nvSpPr>
        <p:spPr>
          <a:xfrm>
            <a:off x="11256264" y="3785616"/>
            <a:ext cx="329184" cy="329184"/>
          </a:xfrm>
          <a:prstGeom prst="ellipse">
            <a:avLst/>
          </a:prstGeom>
          <a:solidFill>
            <a:srgbClr val="2E8B57"/>
          </a:solidFill>
          <a:ln w="12700">
            <a:solidFill>
              <a:srgbClr val="2E8B57"/>
            </a:solidFill>
            <a:prstDash val="solid"/>
          </a:ln>
        </p:spPr>
      </p:sp>
      <p:sp>
        <p:nvSpPr>
          <p:cNvPr id="25" name="Text 20"/>
          <p:cNvSpPr txBox="1"/>
          <p:nvPr/>
        </p:nvSpPr>
        <p:spPr>
          <a:xfrm>
            <a:off x="11256264" y="3785616"/>
            <a:ext cx="329184" cy="329184"/>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B</a:t>
            </a:r>
            <a:endParaRPr lang="en-US" sz="1100" dirty="0"/>
          </a:p>
        </p:txBody>
      </p:sp>
      <p:sp>
        <p:nvSpPr>
          <p:cNvPr id="26" name="Text 21"/>
          <p:cNvSpPr txBox="1"/>
          <p:nvPr/>
        </p:nvSpPr>
        <p:spPr>
          <a:xfrm>
            <a:off x="8232648" y="4160520"/>
            <a:ext cx="3361944" cy="1143000"/>
          </a:xfrm>
          <a:prstGeom prst="rect">
            <a:avLst/>
          </a:prstGeom>
          <a:noFill/>
          <a:ln/>
        </p:spPr>
        <p:txBody>
          <a:bodyPr wrap="square" lIns="0" tIns="0" rIns="0" bIns="0" rtlCol="0" anchor="ctr"/>
          <a:lstStyle/>
          <a:p>
            <a:pPr rtl="1" algn="ctr" indent="0" marL="0">
              <a:buNone/>
            </a:pPr>
            <a:r>
              <a:rPr lang="ar-SA" altLang="en-US" sz="2200" b="1" dirty="0">
                <a:solidFill>
                  <a:srgbClr val="1B3B6F"/>
                </a:solidFill>
                <a:latin typeface="Amiri" pitchFamily="34" charset="0"/>
                <a:ea typeface="Amiri" pitchFamily="34" charset="-122"/>
                <a:cs typeface="Amiri" pitchFamily="34" charset="-120"/>
              </a:rPr>
              <a:t>هُوَ طَالِبٌ مُجْتَهِدٌ.</a:t>
            </a:r>
            <a:endParaRPr lang="ar-SA" sz="2200" dirty="0"/>
          </a:p>
        </p:txBody>
      </p:sp>
      <p:sp>
        <p:nvSpPr>
          <p:cNvPr id="27" name="Text 22"/>
          <p:cNvSpPr txBox="1"/>
          <p:nvPr/>
        </p:nvSpPr>
        <p:spPr>
          <a:xfrm>
            <a:off x="8232648" y="5349240"/>
            <a:ext cx="3361944" cy="822960"/>
          </a:xfrm>
          <a:prstGeom prst="rect">
            <a:avLst/>
          </a:prstGeom>
          <a:noFill/>
          <a:ln/>
        </p:spPr>
        <p:txBody>
          <a:bodyPr wrap="square" lIns="0" tIns="0" rIns="0" bIns="0" rtlCol="0" anchor="t"/>
          <a:lstStyle/>
          <a:p>
            <a:pPr algn="ctr" indent="0" marL="0">
              <a:buNone/>
            </a:pPr>
            <a:r>
              <a:rPr lang="en-US" sz="1200" i="1" dirty="0">
                <a:solidFill>
                  <a:srgbClr val="5A6472"/>
                </a:solidFill>
                <a:latin typeface="Calibri" pitchFamily="34" charset="0"/>
                <a:ea typeface="Calibri" pitchFamily="34" charset="-122"/>
                <a:cs typeface="Calibri" pitchFamily="34" charset="-120"/>
              </a:rPr>
              <a:t>He is a hard-working student.</a:t>
            </a:r>
            <a:endParaRPr lang="en-US" sz="1200" dirty="0"/>
          </a:p>
        </p:txBody>
      </p:sp>
      <p:sp>
        <p:nvSpPr>
          <p:cNvPr id="28" name="Shape 23"/>
          <p:cNvSpPr/>
          <p:nvPr/>
        </p:nvSpPr>
        <p:spPr>
          <a:xfrm>
            <a:off x="4276344" y="1810512"/>
            <a:ext cx="3636264" cy="1737360"/>
          </a:xfrm>
          <a:prstGeom prst="roundRect">
            <a:avLst>
              <a:gd name="adj" fmla="val 42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9" name="Shape 24"/>
          <p:cNvSpPr/>
          <p:nvPr/>
        </p:nvSpPr>
        <p:spPr>
          <a:xfrm>
            <a:off x="4404360" y="1938528"/>
            <a:ext cx="365760" cy="365760"/>
          </a:xfrm>
          <a:prstGeom prst="ellipse">
            <a:avLst/>
          </a:prstGeom>
          <a:solidFill>
            <a:srgbClr val="1B3B6F"/>
          </a:solidFill>
          <a:ln w="12700">
            <a:solidFill>
              <a:srgbClr val="1B3B6F"/>
            </a:solidFill>
            <a:prstDash val="solid"/>
          </a:ln>
        </p:spPr>
      </p:sp>
      <p:sp>
        <p:nvSpPr>
          <p:cNvPr id="30" name="Text 25"/>
          <p:cNvSpPr txBox="1"/>
          <p:nvPr/>
        </p:nvSpPr>
        <p:spPr>
          <a:xfrm>
            <a:off x="4404360" y="1938528"/>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2</a:t>
            </a:r>
            <a:endParaRPr lang="en-US" sz="1200" dirty="0"/>
          </a:p>
        </p:txBody>
      </p:sp>
      <p:sp>
        <p:nvSpPr>
          <p:cNvPr id="31" name="Shape 26"/>
          <p:cNvSpPr/>
          <p:nvPr/>
        </p:nvSpPr>
        <p:spPr>
          <a:xfrm>
            <a:off x="4992624" y="2066544"/>
            <a:ext cx="1014984" cy="1014984"/>
          </a:xfrm>
          <a:prstGeom prst="ellipse">
            <a:avLst/>
          </a:prstGeom>
          <a:solidFill>
            <a:srgbClr val="F4F1EA"/>
          </a:solidFill>
          <a:ln w="12700">
            <a:solidFill>
              <a:srgbClr val="F4F1EA"/>
            </a:solidFill>
            <a:prstDash val="solid"/>
          </a:ln>
        </p:spPr>
      </p:sp>
      <p:pic>
        <p:nvPicPr>
          <p:cNvPr id="32" name="Image 2" descr="preencoded.png">    </p:cNvPr>
          <p:cNvPicPr>
            <a:picLocks noChangeAspect="1"/>
          </p:cNvPicPr>
          <p:nvPr/>
        </p:nvPicPr>
        <p:blipFill>
          <a:blip r:embed="rId3"/>
          <a:stretch>
            <a:fillRect/>
          </a:stretch>
        </p:blipFill>
        <p:spPr>
          <a:xfrm>
            <a:off x="5175504" y="2249424"/>
            <a:ext cx="649224" cy="649224"/>
          </a:xfrm>
          <a:prstGeom prst="rect">
            <a:avLst/>
          </a:prstGeom>
        </p:spPr>
      </p:pic>
      <p:sp>
        <p:nvSpPr>
          <p:cNvPr id="33" name="Shape 27"/>
          <p:cNvSpPr/>
          <p:nvPr/>
        </p:nvSpPr>
        <p:spPr>
          <a:xfrm>
            <a:off x="6181344" y="2066544"/>
            <a:ext cx="1014984" cy="1014984"/>
          </a:xfrm>
          <a:prstGeom prst="ellipse">
            <a:avLst/>
          </a:prstGeom>
          <a:solidFill>
            <a:srgbClr val="F4F1EA"/>
          </a:solidFill>
          <a:ln w="12700">
            <a:solidFill>
              <a:srgbClr val="F4F1EA"/>
            </a:solidFill>
            <a:prstDash val="solid"/>
          </a:ln>
        </p:spPr>
      </p:sp>
      <p:pic>
        <p:nvPicPr>
          <p:cNvPr id="34" name="Image 3" descr="preencoded.png">    </p:cNvPr>
          <p:cNvPicPr>
            <a:picLocks noChangeAspect="1"/>
          </p:cNvPicPr>
          <p:nvPr/>
        </p:nvPicPr>
        <p:blipFill>
          <a:blip r:embed="rId4"/>
          <a:stretch>
            <a:fillRect/>
          </a:stretch>
        </p:blipFill>
        <p:spPr>
          <a:xfrm>
            <a:off x="6364224" y="2249424"/>
            <a:ext cx="649224" cy="649224"/>
          </a:xfrm>
          <a:prstGeom prst="rect">
            <a:avLst/>
          </a:prstGeom>
        </p:spPr>
      </p:pic>
      <p:sp>
        <p:nvSpPr>
          <p:cNvPr id="35" name="Text 28"/>
          <p:cNvSpPr txBox="1"/>
          <p:nvPr/>
        </p:nvSpPr>
        <p:spPr>
          <a:xfrm>
            <a:off x="4413504" y="3182112"/>
            <a:ext cx="3361944" cy="292608"/>
          </a:xfrm>
          <a:prstGeom prst="rect">
            <a:avLst/>
          </a:prstGeom>
          <a:noFill/>
          <a:ln/>
        </p:spPr>
        <p:txBody>
          <a:bodyPr wrap="square" lIns="0" tIns="0" rIns="0" bIns="0" rtlCol="0" anchor="ctr"/>
          <a:lstStyle/>
          <a:p>
            <a:pPr algn="ctr" indent="0" marL="0">
              <a:buNone/>
            </a:pPr>
            <a:r>
              <a:rPr lang="en-US" sz="1100" i="1" dirty="0">
                <a:solidFill>
                  <a:srgbClr val="5A6472"/>
                </a:solidFill>
                <a:latin typeface="Calibri" pitchFamily="34" charset="0"/>
                <a:ea typeface="Calibri" pitchFamily="34" charset="-122"/>
                <a:cs typeface="Calibri" pitchFamily="34" charset="-120"/>
              </a:rPr>
              <a:t>a girl studying</a:t>
            </a:r>
            <a:endParaRPr lang="en-US" sz="1100" dirty="0"/>
          </a:p>
        </p:txBody>
      </p:sp>
      <p:sp>
        <p:nvSpPr>
          <p:cNvPr id="36" name="Shape 29"/>
          <p:cNvSpPr/>
          <p:nvPr/>
        </p:nvSpPr>
        <p:spPr>
          <a:xfrm>
            <a:off x="4276344" y="3675888"/>
            <a:ext cx="3636264" cy="2633472"/>
          </a:xfrm>
          <a:prstGeom prst="roundRect">
            <a:avLst>
              <a:gd name="adj" fmla="val 2778"/>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37" name="Shape 30"/>
          <p:cNvSpPr/>
          <p:nvPr/>
        </p:nvSpPr>
        <p:spPr>
          <a:xfrm>
            <a:off x="7437120" y="3785616"/>
            <a:ext cx="329184" cy="329184"/>
          </a:xfrm>
          <a:prstGeom prst="ellipse">
            <a:avLst/>
          </a:prstGeom>
          <a:solidFill>
            <a:srgbClr val="2E8B57"/>
          </a:solidFill>
          <a:ln w="12700">
            <a:solidFill>
              <a:srgbClr val="2E8B57"/>
            </a:solidFill>
            <a:prstDash val="solid"/>
          </a:ln>
        </p:spPr>
      </p:sp>
      <p:sp>
        <p:nvSpPr>
          <p:cNvPr id="38" name="Text 31"/>
          <p:cNvSpPr txBox="1"/>
          <p:nvPr/>
        </p:nvSpPr>
        <p:spPr>
          <a:xfrm>
            <a:off x="7437120" y="3785616"/>
            <a:ext cx="329184" cy="329184"/>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C</a:t>
            </a:r>
            <a:endParaRPr lang="en-US" sz="1100" dirty="0"/>
          </a:p>
        </p:txBody>
      </p:sp>
      <p:sp>
        <p:nvSpPr>
          <p:cNvPr id="39" name="Text 32"/>
          <p:cNvSpPr txBox="1"/>
          <p:nvPr/>
        </p:nvSpPr>
        <p:spPr>
          <a:xfrm>
            <a:off x="4413504" y="4160520"/>
            <a:ext cx="3361944" cy="1143000"/>
          </a:xfrm>
          <a:prstGeom prst="rect">
            <a:avLst/>
          </a:prstGeom>
          <a:noFill/>
          <a:ln/>
        </p:spPr>
        <p:txBody>
          <a:bodyPr wrap="square" lIns="0" tIns="0" rIns="0" bIns="0" rtlCol="0" anchor="ctr"/>
          <a:lstStyle/>
          <a:p>
            <a:pPr rtl="1" algn="ctr" indent="0" marL="0">
              <a:buNone/>
            </a:pPr>
            <a:r>
              <a:rPr lang="ar-SA" altLang="en-US" sz="2200" b="1" dirty="0">
                <a:solidFill>
                  <a:srgbClr val="1B3B6F"/>
                </a:solidFill>
                <a:latin typeface="Amiri" pitchFamily="34" charset="0"/>
                <a:ea typeface="Amiri" pitchFamily="34" charset="-122"/>
                <a:cs typeface="Amiri" pitchFamily="34" charset="-120"/>
              </a:rPr>
              <a:t>هِيَ طَالِبَةٌ مُجْتَهِدَةٌ.</a:t>
            </a:r>
            <a:endParaRPr lang="ar-SA" sz="2200" dirty="0"/>
          </a:p>
        </p:txBody>
      </p:sp>
      <p:sp>
        <p:nvSpPr>
          <p:cNvPr id="40" name="Text 33"/>
          <p:cNvSpPr txBox="1"/>
          <p:nvPr/>
        </p:nvSpPr>
        <p:spPr>
          <a:xfrm>
            <a:off x="4413504" y="5349240"/>
            <a:ext cx="3361944" cy="822960"/>
          </a:xfrm>
          <a:prstGeom prst="rect">
            <a:avLst/>
          </a:prstGeom>
          <a:noFill/>
          <a:ln/>
        </p:spPr>
        <p:txBody>
          <a:bodyPr wrap="square" lIns="0" tIns="0" rIns="0" bIns="0" rtlCol="0" anchor="t"/>
          <a:lstStyle/>
          <a:p>
            <a:pPr algn="ctr" indent="0" marL="0">
              <a:buNone/>
            </a:pPr>
            <a:r>
              <a:rPr lang="en-US" sz="1200" i="1" dirty="0">
                <a:solidFill>
                  <a:srgbClr val="5A6472"/>
                </a:solidFill>
                <a:latin typeface="Calibri" pitchFamily="34" charset="0"/>
                <a:ea typeface="Calibri" pitchFamily="34" charset="-122"/>
                <a:cs typeface="Calibri" pitchFamily="34" charset="-120"/>
              </a:rPr>
              <a:t>She is a hard-working student.</a:t>
            </a:r>
            <a:endParaRPr lang="en-US" sz="1200" dirty="0"/>
          </a:p>
        </p:txBody>
      </p:sp>
      <p:sp>
        <p:nvSpPr>
          <p:cNvPr id="41" name="Shape 34"/>
          <p:cNvSpPr/>
          <p:nvPr/>
        </p:nvSpPr>
        <p:spPr>
          <a:xfrm>
            <a:off x="457200" y="1810512"/>
            <a:ext cx="3636264" cy="1737360"/>
          </a:xfrm>
          <a:prstGeom prst="roundRect">
            <a:avLst>
              <a:gd name="adj" fmla="val 42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2" name="Shape 35"/>
          <p:cNvSpPr/>
          <p:nvPr/>
        </p:nvSpPr>
        <p:spPr>
          <a:xfrm>
            <a:off x="585216" y="1938528"/>
            <a:ext cx="365760" cy="365760"/>
          </a:xfrm>
          <a:prstGeom prst="ellipse">
            <a:avLst/>
          </a:prstGeom>
          <a:solidFill>
            <a:srgbClr val="1B3B6F"/>
          </a:solidFill>
          <a:ln w="12700">
            <a:solidFill>
              <a:srgbClr val="1B3B6F"/>
            </a:solidFill>
            <a:prstDash val="solid"/>
          </a:ln>
        </p:spPr>
      </p:sp>
      <p:sp>
        <p:nvSpPr>
          <p:cNvPr id="43" name="Text 36"/>
          <p:cNvSpPr txBox="1"/>
          <p:nvPr/>
        </p:nvSpPr>
        <p:spPr>
          <a:xfrm>
            <a:off x="585216" y="1938528"/>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3</a:t>
            </a:r>
            <a:endParaRPr lang="en-US" sz="1200" dirty="0"/>
          </a:p>
        </p:txBody>
      </p:sp>
      <p:sp>
        <p:nvSpPr>
          <p:cNvPr id="44" name="Shape 37"/>
          <p:cNvSpPr/>
          <p:nvPr/>
        </p:nvSpPr>
        <p:spPr>
          <a:xfrm>
            <a:off x="1173480" y="2066544"/>
            <a:ext cx="1014984" cy="1014984"/>
          </a:xfrm>
          <a:prstGeom prst="ellipse">
            <a:avLst/>
          </a:prstGeom>
          <a:solidFill>
            <a:srgbClr val="F4F1EA"/>
          </a:solidFill>
          <a:ln w="12700">
            <a:solidFill>
              <a:srgbClr val="F4F1EA"/>
            </a:solidFill>
            <a:prstDash val="solid"/>
          </a:ln>
        </p:spPr>
      </p:sp>
      <p:pic>
        <p:nvPicPr>
          <p:cNvPr id="45" name="Image 4" descr="preencoded.png">    </p:cNvPr>
          <p:cNvPicPr>
            <a:picLocks noChangeAspect="1"/>
          </p:cNvPicPr>
          <p:nvPr/>
        </p:nvPicPr>
        <p:blipFill>
          <a:blip r:embed="rId5"/>
          <a:stretch>
            <a:fillRect/>
          </a:stretch>
        </p:blipFill>
        <p:spPr>
          <a:xfrm>
            <a:off x="1356360" y="2249424"/>
            <a:ext cx="649224" cy="649224"/>
          </a:xfrm>
          <a:prstGeom prst="rect">
            <a:avLst/>
          </a:prstGeom>
        </p:spPr>
      </p:pic>
      <p:sp>
        <p:nvSpPr>
          <p:cNvPr id="46" name="Shape 38"/>
          <p:cNvSpPr/>
          <p:nvPr/>
        </p:nvSpPr>
        <p:spPr>
          <a:xfrm>
            <a:off x="2362200" y="2066544"/>
            <a:ext cx="1014984" cy="1014984"/>
          </a:xfrm>
          <a:prstGeom prst="ellipse">
            <a:avLst/>
          </a:prstGeom>
          <a:solidFill>
            <a:srgbClr val="F4F1EA"/>
          </a:solidFill>
          <a:ln w="12700">
            <a:solidFill>
              <a:srgbClr val="F4F1EA"/>
            </a:solidFill>
            <a:prstDash val="solid"/>
          </a:ln>
        </p:spPr>
      </p:sp>
      <p:pic>
        <p:nvPicPr>
          <p:cNvPr id="47" name="Image 5" descr="preencoded.png">    </p:cNvPr>
          <p:cNvPicPr>
            <a:picLocks noChangeAspect="1"/>
          </p:cNvPicPr>
          <p:nvPr/>
        </p:nvPicPr>
        <p:blipFill>
          <a:blip r:embed="rId6"/>
          <a:stretch>
            <a:fillRect/>
          </a:stretch>
        </p:blipFill>
        <p:spPr>
          <a:xfrm>
            <a:off x="2545080" y="2249424"/>
            <a:ext cx="649224" cy="649224"/>
          </a:xfrm>
          <a:prstGeom prst="rect">
            <a:avLst/>
          </a:prstGeom>
        </p:spPr>
      </p:pic>
      <p:sp>
        <p:nvSpPr>
          <p:cNvPr id="48" name="Text 39"/>
          <p:cNvSpPr txBox="1"/>
          <p:nvPr/>
        </p:nvSpPr>
        <p:spPr>
          <a:xfrm>
            <a:off x="594360" y="3182112"/>
            <a:ext cx="3361944" cy="292608"/>
          </a:xfrm>
          <a:prstGeom prst="rect">
            <a:avLst/>
          </a:prstGeom>
          <a:noFill/>
          <a:ln/>
        </p:spPr>
        <p:txBody>
          <a:bodyPr wrap="square" lIns="0" tIns="0" rIns="0" bIns="0" rtlCol="0" anchor="ctr"/>
          <a:lstStyle/>
          <a:p>
            <a:pPr algn="ctr" indent="0" marL="0">
              <a:buNone/>
            </a:pPr>
            <a:r>
              <a:rPr lang="en-US" sz="1100" i="1" dirty="0">
                <a:solidFill>
                  <a:srgbClr val="5A6472"/>
                </a:solidFill>
                <a:latin typeface="Calibri" pitchFamily="34" charset="0"/>
                <a:ea typeface="Calibri" pitchFamily="34" charset="-122"/>
                <a:cs typeface="Calibri" pitchFamily="34" charset="-120"/>
              </a:rPr>
              <a:t>a new car</a:t>
            </a:r>
            <a:endParaRPr lang="en-US" sz="1100" dirty="0"/>
          </a:p>
        </p:txBody>
      </p:sp>
      <p:sp>
        <p:nvSpPr>
          <p:cNvPr id="49" name="Shape 40"/>
          <p:cNvSpPr/>
          <p:nvPr/>
        </p:nvSpPr>
        <p:spPr>
          <a:xfrm>
            <a:off x="457200" y="3675888"/>
            <a:ext cx="3636264" cy="2633472"/>
          </a:xfrm>
          <a:prstGeom prst="roundRect">
            <a:avLst>
              <a:gd name="adj" fmla="val 2778"/>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50" name="Shape 41"/>
          <p:cNvSpPr/>
          <p:nvPr/>
        </p:nvSpPr>
        <p:spPr>
          <a:xfrm>
            <a:off x="3617976" y="3785616"/>
            <a:ext cx="329184" cy="329184"/>
          </a:xfrm>
          <a:prstGeom prst="ellipse">
            <a:avLst/>
          </a:prstGeom>
          <a:solidFill>
            <a:srgbClr val="2E8B57"/>
          </a:solidFill>
          <a:ln w="12700">
            <a:solidFill>
              <a:srgbClr val="2E8B57"/>
            </a:solidFill>
            <a:prstDash val="solid"/>
          </a:ln>
        </p:spPr>
      </p:sp>
      <p:sp>
        <p:nvSpPr>
          <p:cNvPr id="51" name="Text 42"/>
          <p:cNvSpPr txBox="1"/>
          <p:nvPr/>
        </p:nvSpPr>
        <p:spPr>
          <a:xfrm>
            <a:off x="3617976" y="3785616"/>
            <a:ext cx="329184" cy="329184"/>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A</a:t>
            </a:r>
            <a:endParaRPr lang="en-US" sz="1100" dirty="0"/>
          </a:p>
        </p:txBody>
      </p:sp>
      <p:sp>
        <p:nvSpPr>
          <p:cNvPr id="52" name="Text 43"/>
          <p:cNvSpPr txBox="1"/>
          <p:nvPr/>
        </p:nvSpPr>
        <p:spPr>
          <a:xfrm>
            <a:off x="594360" y="4160520"/>
            <a:ext cx="3361944" cy="1143000"/>
          </a:xfrm>
          <a:prstGeom prst="rect">
            <a:avLst/>
          </a:prstGeom>
          <a:noFill/>
          <a:ln/>
        </p:spPr>
        <p:txBody>
          <a:bodyPr wrap="square" lIns="0" tIns="0" rIns="0" bIns="0" rtlCol="0" anchor="ctr"/>
          <a:lstStyle/>
          <a:p>
            <a:pPr rtl="1" algn="ctr" indent="0" marL="0">
              <a:buNone/>
            </a:pPr>
            <a:r>
              <a:rPr lang="ar-SA" altLang="en-US" sz="2200" b="1" dirty="0">
                <a:solidFill>
                  <a:srgbClr val="1B3B6F"/>
                </a:solidFill>
                <a:latin typeface="Amiri" pitchFamily="34" charset="0"/>
                <a:ea typeface="Amiri" pitchFamily="34" charset="-122"/>
                <a:cs typeface="Amiri" pitchFamily="34" charset="-120"/>
              </a:rPr>
              <a:t>هٰذِهِ سَيَّارَةٌ جَدِيدَةٌ.</a:t>
            </a:r>
            <a:endParaRPr lang="ar-SA" sz="2200" dirty="0"/>
          </a:p>
        </p:txBody>
      </p:sp>
      <p:sp>
        <p:nvSpPr>
          <p:cNvPr id="53" name="Text 44"/>
          <p:cNvSpPr txBox="1"/>
          <p:nvPr/>
        </p:nvSpPr>
        <p:spPr>
          <a:xfrm>
            <a:off x="594360" y="5349240"/>
            <a:ext cx="3361944" cy="822960"/>
          </a:xfrm>
          <a:prstGeom prst="rect">
            <a:avLst/>
          </a:prstGeom>
          <a:noFill/>
          <a:ln/>
        </p:spPr>
        <p:txBody>
          <a:bodyPr wrap="square" lIns="0" tIns="0" rIns="0" bIns="0" rtlCol="0" anchor="t"/>
          <a:lstStyle/>
          <a:p>
            <a:pPr algn="ctr" indent="0" marL="0">
              <a:buNone/>
            </a:pPr>
            <a:r>
              <a:rPr lang="en-US" sz="1200" i="1" dirty="0">
                <a:solidFill>
                  <a:srgbClr val="5A6472"/>
                </a:solidFill>
                <a:latin typeface="Calibri" pitchFamily="34" charset="0"/>
                <a:ea typeface="Calibri" pitchFamily="34" charset="-122"/>
                <a:cs typeface="Calibri" pitchFamily="34" charset="-120"/>
              </a:rPr>
              <a:t>This is a new car.</a:t>
            </a:r>
            <a:endParaRPr lang="en-US" sz="1200" dirty="0"/>
          </a:p>
        </p:txBody>
      </p:sp>
      <p:sp>
        <p:nvSpPr>
          <p:cNvPr id="54" name="Text 4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ea typeface="Calibri" pitchFamily="34" charset="-122"/>
                <a:cs typeface="Calibri" pitchFamily="34" charset="-120"/>
              </a:rPr>
              <a:t>17 / 36</a:t>
            </a:r>
            <a:endParaRPr lang="en-US" sz="85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34" charset="0"/>
                <a:ea typeface="Amiri" pitchFamily="34" charset="-122"/>
                <a:cs typeface="Amiri" pitchFamily="34" charset="-120"/>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ea typeface="Cambria" pitchFamily="34" charset="-122"/>
                <a:cs typeface="Cambria" pitchFamily="34" charset="-120"/>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ea typeface="Calibri" pitchFamily="34" charset="-122"/>
                <a:cs typeface="Calibri" pitchFamily="34" charset="-120"/>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ea typeface="Calibri" pitchFamily="34" charset="-122"/>
                <a:cs typeface="Calibri" pitchFamily="34" charset="-120"/>
              </a:rPr>
              <a:t>F2-L05 · Masculine &amp; Feminine</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ea typeface="Calibri" pitchFamily="34" charset="-122"/>
                <a:cs typeface="Calibri" pitchFamily="34" charset="-120"/>
              </a:rPr>
              <a:t>WE DO · 4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ea typeface="Calibri" pitchFamily="34" charset="-122"/>
                <a:cs typeface="Calibri" pitchFamily="34" charset="-120"/>
              </a:rPr>
              <a:t>WE DO · WEBSITE GAME “GENDER DETECTIVE”</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ea typeface="Cambria" pitchFamily="34" charset="-122"/>
                <a:cs typeface="Cambria" pitchFamily="34" charset="-120"/>
              </a:rPr>
              <a:t>Gender Detective</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34" charset="0"/>
                <a:ea typeface="Amiri" pitchFamily="34" charset="-122"/>
                <a:cs typeface="Amiri" pitchFamily="34" charset="-120"/>
              </a:rPr>
              <a:t>مُحَقِّقُ التَّذْكِيرِ وَالتَّأْنِيثِ</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ea typeface="Calibri" pitchFamily="34" charset="-122"/>
                <a:cs typeface="Calibri" pitchFamily="34" charset="-120"/>
              </a:rPr>
              <a:t>Miftah Arabic · Foundation F2 · Greetings &amp; Introductions · Week 2 · Lesson 2 of 3</a:t>
            </a:r>
            <a:endParaRPr lang="en-US" sz="850" dirty="0"/>
          </a:p>
        </p:txBody>
      </p:sp>
      <p:sp>
        <p:nvSpPr>
          <p:cNvPr id="15" name="Shape 12"/>
          <p:cNvSpPr/>
          <p:nvPr/>
        </p:nvSpPr>
        <p:spPr>
          <a:xfrm>
            <a:off x="457200"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1</a:t>
            </a:r>
            <a:endParaRPr lang="en-US" sz="1100" dirty="0"/>
          </a:p>
        </p:txBody>
      </p:sp>
      <p:sp>
        <p:nvSpPr>
          <p:cNvPr id="18" name="Text 15"/>
          <p:cNvSpPr txBox="1"/>
          <p:nvPr/>
        </p:nvSpPr>
        <p:spPr>
          <a:xfrm>
            <a:off x="950976" y="1883664"/>
            <a:ext cx="1395070" cy="475488"/>
          </a:xfrm>
          <a:prstGeom prst="rect">
            <a:avLst/>
          </a:prstGeom>
          <a:noFill/>
          <a:ln/>
        </p:spPr>
        <p:txBody>
          <a:bodyPr wrap="square" lIns="0" tIns="0" rIns="0" bIns="0" rtlCol="0" anchor="ctr"/>
          <a:lstStyle/>
          <a:p>
            <a:pPr algn="l" indent="0" marL="0">
              <a:buNone/>
            </a:pPr>
            <a:r>
              <a:rPr lang="en-US" sz="1200" b="1" dirty="0">
                <a:solidFill>
                  <a:srgbClr val="1B3B6F"/>
                </a:solidFill>
                <a:latin typeface="Calibri" pitchFamily="34" charset="0"/>
                <a:ea typeface="Calibri" pitchFamily="34" charset="-122"/>
                <a:cs typeface="Calibri" pitchFamily="34" charset="-120"/>
              </a:rPr>
              <a:t>Choose the gender.</a:t>
            </a:r>
            <a:endParaRPr lang="en-US" sz="1200" dirty="0"/>
          </a:p>
        </p:txBody>
      </p:sp>
      <p:sp>
        <p:nvSpPr>
          <p:cNvPr id="19" name="Text 16"/>
          <p:cNvSpPr txBox="1"/>
          <p:nvPr/>
        </p:nvSpPr>
        <p:spPr>
          <a:xfrm>
            <a:off x="2406701" y="1883664"/>
            <a:ext cx="1577035" cy="475488"/>
          </a:xfrm>
          <a:prstGeom prst="rect">
            <a:avLst/>
          </a:prstGeom>
          <a:noFill/>
          <a:ln/>
        </p:spPr>
        <p:txBody>
          <a:bodyPr wrap="square" lIns="0" tIns="0" rIns="0" bIns="0" rtlCol="0" anchor="ctr"/>
          <a:lstStyle/>
          <a:p>
            <a:pPr rtl="1" algn="r" indent="0" marL="0">
              <a:buNone/>
            </a:pPr>
            <a:r>
              <a:rPr lang="ar-SA" altLang="en-US" sz="2200" b="1" dirty="0">
                <a:solidFill>
                  <a:srgbClr val="1B3B6F"/>
                </a:solidFill>
                <a:latin typeface="Amiri" pitchFamily="34" charset="0"/>
                <a:ea typeface="Amiri" pitchFamily="34" charset="-122"/>
                <a:cs typeface="Amiri" pitchFamily="34" charset="-120"/>
              </a:rPr>
              <a:t>شَمْسٌ</a:t>
            </a:r>
            <a:endParaRPr lang="ar-SA" sz="2200" dirty="0"/>
          </a:p>
        </p:txBody>
      </p:sp>
      <p:sp>
        <p:nvSpPr>
          <p:cNvPr id="20" name="Shape 17"/>
          <p:cNvSpPr/>
          <p:nvPr/>
        </p:nvSpPr>
        <p:spPr>
          <a:xfrm>
            <a:off x="640080" y="2532888"/>
            <a:ext cx="256032" cy="256032"/>
          </a:xfrm>
          <a:prstGeom prst="ellipse">
            <a:avLst/>
          </a:prstGeom>
          <a:solidFill>
            <a:srgbClr val="F4F1EA"/>
          </a:solidFill>
          <a:ln w="12700">
            <a:solidFill>
              <a:srgbClr val="F4F1EA"/>
            </a:solidFill>
            <a:prstDash val="solid"/>
          </a:ln>
        </p:spPr>
      </p:sp>
      <p:sp>
        <p:nvSpPr>
          <p:cNvPr id="21" name="Text 18"/>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A</a:t>
            </a:r>
            <a:endParaRPr lang="en-US" sz="900" dirty="0"/>
          </a:p>
        </p:txBody>
      </p:sp>
      <p:sp>
        <p:nvSpPr>
          <p:cNvPr id="22" name="Text 19"/>
          <p:cNvSpPr txBox="1"/>
          <p:nvPr/>
        </p:nvSpPr>
        <p:spPr>
          <a:xfrm>
            <a:off x="969264" y="24323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Feminine</a:t>
            </a:r>
            <a:endParaRPr lang="en-US" sz="1250" dirty="0"/>
          </a:p>
        </p:txBody>
      </p:sp>
      <p:sp>
        <p:nvSpPr>
          <p:cNvPr id="23" name="Shape 20"/>
          <p:cNvSpPr/>
          <p:nvPr/>
        </p:nvSpPr>
        <p:spPr>
          <a:xfrm>
            <a:off x="640080" y="2990088"/>
            <a:ext cx="256032" cy="256032"/>
          </a:xfrm>
          <a:prstGeom prst="ellipse">
            <a:avLst/>
          </a:prstGeom>
          <a:solidFill>
            <a:srgbClr val="F4F1EA"/>
          </a:solidFill>
          <a:ln w="12700">
            <a:solidFill>
              <a:srgbClr val="F4F1EA"/>
            </a:solidFill>
            <a:prstDash val="solid"/>
          </a:ln>
        </p:spPr>
      </p:sp>
      <p:sp>
        <p:nvSpPr>
          <p:cNvPr id="24" name="Text 21"/>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25" name="Text 22"/>
          <p:cNvSpPr txBox="1"/>
          <p:nvPr/>
        </p:nvSpPr>
        <p:spPr>
          <a:xfrm>
            <a:off x="969264" y="28895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Masculine</a:t>
            </a:r>
            <a:endParaRPr lang="en-US" sz="1250" dirty="0"/>
          </a:p>
        </p:txBody>
      </p:sp>
      <p:sp>
        <p:nvSpPr>
          <p:cNvPr id="26" name="Shape 23"/>
          <p:cNvSpPr/>
          <p:nvPr/>
        </p:nvSpPr>
        <p:spPr>
          <a:xfrm>
            <a:off x="4276344"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7" name="Shape 24"/>
          <p:cNvSpPr/>
          <p:nvPr/>
        </p:nvSpPr>
        <p:spPr>
          <a:xfrm>
            <a:off x="4404360" y="1947672"/>
            <a:ext cx="310896" cy="310896"/>
          </a:xfrm>
          <a:prstGeom prst="ellipse">
            <a:avLst/>
          </a:prstGeom>
          <a:solidFill>
            <a:srgbClr val="1B3B6F"/>
          </a:solidFill>
          <a:ln w="12700">
            <a:solidFill>
              <a:srgbClr val="1B3B6F"/>
            </a:solidFill>
            <a:prstDash val="solid"/>
          </a:ln>
        </p:spPr>
      </p:sp>
      <p:sp>
        <p:nvSpPr>
          <p:cNvPr id="28" name="Text 25"/>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2</a:t>
            </a:r>
            <a:endParaRPr lang="en-US" sz="1100" dirty="0"/>
          </a:p>
        </p:txBody>
      </p:sp>
      <p:sp>
        <p:nvSpPr>
          <p:cNvPr id="29" name="Text 26"/>
          <p:cNvSpPr txBox="1"/>
          <p:nvPr/>
        </p:nvSpPr>
        <p:spPr>
          <a:xfrm>
            <a:off x="4770120" y="1883664"/>
            <a:ext cx="1395070" cy="475488"/>
          </a:xfrm>
          <a:prstGeom prst="rect">
            <a:avLst/>
          </a:prstGeom>
          <a:noFill/>
          <a:ln/>
        </p:spPr>
        <p:txBody>
          <a:bodyPr wrap="square" lIns="0" tIns="0" rIns="0" bIns="0" rtlCol="0" anchor="ctr"/>
          <a:lstStyle/>
          <a:p>
            <a:pPr algn="l" indent="0" marL="0">
              <a:buNone/>
            </a:pPr>
            <a:r>
              <a:rPr lang="en-US" sz="1100" b="1" dirty="0">
                <a:solidFill>
                  <a:srgbClr val="1B3B6F"/>
                </a:solidFill>
                <a:latin typeface="Calibri" pitchFamily="34" charset="0"/>
                <a:ea typeface="Calibri" pitchFamily="34" charset="-122"/>
                <a:cs typeface="Calibri" pitchFamily="34" charset="-120"/>
              </a:rPr>
              <a:t>Choose the matching demonstrative.</a:t>
            </a:r>
            <a:endParaRPr lang="en-US" sz="1100" dirty="0"/>
          </a:p>
        </p:txBody>
      </p:sp>
      <p:sp>
        <p:nvSpPr>
          <p:cNvPr id="30" name="Text 27"/>
          <p:cNvSpPr txBox="1"/>
          <p:nvPr/>
        </p:nvSpPr>
        <p:spPr>
          <a:xfrm>
            <a:off x="6225845" y="1883664"/>
            <a:ext cx="1577035" cy="475488"/>
          </a:xfrm>
          <a:prstGeom prst="rect">
            <a:avLst/>
          </a:prstGeom>
          <a:noFill/>
          <a:ln/>
        </p:spPr>
        <p:txBody>
          <a:bodyPr wrap="square" lIns="0" tIns="0" rIns="0" bIns="0" rtlCol="0" anchor="ctr"/>
          <a:lstStyle/>
          <a:p>
            <a:pPr rtl="1" algn="r" indent="0" marL="0">
              <a:buNone/>
            </a:pPr>
            <a:r>
              <a:rPr lang="ar-SA" altLang="en-US" sz="2200" b="1" dirty="0">
                <a:solidFill>
                  <a:srgbClr val="1B3B6F"/>
                </a:solidFill>
                <a:latin typeface="Amiri" pitchFamily="34" charset="0"/>
                <a:ea typeface="Amiri" pitchFamily="34" charset="-122"/>
                <a:cs typeface="Amiri" pitchFamily="34" charset="-120"/>
              </a:rPr>
              <a:t>عَيْنٌ</a:t>
            </a:r>
            <a:endParaRPr lang="ar-SA" sz="2200" dirty="0"/>
          </a:p>
        </p:txBody>
      </p:sp>
      <p:sp>
        <p:nvSpPr>
          <p:cNvPr id="31" name="Shape 28"/>
          <p:cNvSpPr/>
          <p:nvPr/>
        </p:nvSpPr>
        <p:spPr>
          <a:xfrm>
            <a:off x="4459224" y="2532888"/>
            <a:ext cx="256032" cy="256032"/>
          </a:xfrm>
          <a:prstGeom prst="ellipse">
            <a:avLst/>
          </a:prstGeom>
          <a:solidFill>
            <a:srgbClr val="F4F1EA"/>
          </a:solidFill>
          <a:ln w="12700">
            <a:solidFill>
              <a:srgbClr val="F4F1EA"/>
            </a:solidFill>
            <a:prstDash val="solid"/>
          </a:ln>
        </p:spPr>
      </p:sp>
      <p:sp>
        <p:nvSpPr>
          <p:cNvPr id="32" name="Text 29"/>
          <p:cNvSpPr txBox="1"/>
          <p:nvPr/>
        </p:nvSpPr>
        <p:spPr>
          <a:xfrm>
            <a:off x="4459224"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A</a:t>
            </a:r>
            <a:endParaRPr lang="en-US" sz="900" dirty="0"/>
          </a:p>
        </p:txBody>
      </p:sp>
      <p:sp>
        <p:nvSpPr>
          <p:cNvPr id="33" name="Text 30"/>
          <p:cNvSpPr txBox="1"/>
          <p:nvPr/>
        </p:nvSpPr>
        <p:spPr>
          <a:xfrm>
            <a:off x="4788408" y="24323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34" charset="0"/>
                <a:ea typeface="Amiri" pitchFamily="34" charset="-122"/>
                <a:cs typeface="Amiri" pitchFamily="34" charset="-120"/>
              </a:rPr>
              <a:t>هَذَا</a:t>
            </a:r>
            <a:endParaRPr lang="ar-SA" sz="2050" dirty="0"/>
          </a:p>
        </p:txBody>
      </p:sp>
      <p:sp>
        <p:nvSpPr>
          <p:cNvPr id="34" name="Shape 31"/>
          <p:cNvSpPr/>
          <p:nvPr/>
        </p:nvSpPr>
        <p:spPr>
          <a:xfrm>
            <a:off x="4459224" y="2990088"/>
            <a:ext cx="256032" cy="256032"/>
          </a:xfrm>
          <a:prstGeom prst="ellipse">
            <a:avLst/>
          </a:prstGeom>
          <a:solidFill>
            <a:srgbClr val="F4F1EA"/>
          </a:solidFill>
          <a:ln w="12700">
            <a:solidFill>
              <a:srgbClr val="F4F1EA"/>
            </a:solidFill>
            <a:prstDash val="solid"/>
          </a:ln>
        </p:spPr>
      </p:sp>
      <p:sp>
        <p:nvSpPr>
          <p:cNvPr id="35" name="Text 32"/>
          <p:cNvSpPr txBox="1"/>
          <p:nvPr/>
        </p:nvSpPr>
        <p:spPr>
          <a:xfrm>
            <a:off x="4459224"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36" name="Text 33"/>
          <p:cNvSpPr txBox="1"/>
          <p:nvPr/>
        </p:nvSpPr>
        <p:spPr>
          <a:xfrm>
            <a:off x="4788408"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34" charset="0"/>
                <a:ea typeface="Amiri" pitchFamily="34" charset="-122"/>
                <a:cs typeface="Amiri" pitchFamily="34" charset="-120"/>
              </a:rPr>
              <a:t>هُوَ</a:t>
            </a:r>
            <a:endParaRPr lang="ar-SA" sz="2050" dirty="0"/>
          </a:p>
        </p:txBody>
      </p:sp>
      <p:sp>
        <p:nvSpPr>
          <p:cNvPr id="37" name="Shape 34"/>
          <p:cNvSpPr/>
          <p:nvPr/>
        </p:nvSpPr>
        <p:spPr>
          <a:xfrm>
            <a:off x="4459224" y="3447288"/>
            <a:ext cx="256032" cy="256032"/>
          </a:xfrm>
          <a:prstGeom prst="ellipse">
            <a:avLst/>
          </a:prstGeom>
          <a:solidFill>
            <a:srgbClr val="F4F1EA"/>
          </a:solidFill>
          <a:ln w="12700">
            <a:solidFill>
              <a:srgbClr val="F4F1EA"/>
            </a:solidFill>
            <a:prstDash val="solid"/>
          </a:ln>
        </p:spPr>
      </p:sp>
      <p:sp>
        <p:nvSpPr>
          <p:cNvPr id="38" name="Text 35"/>
          <p:cNvSpPr txBox="1"/>
          <p:nvPr/>
        </p:nvSpPr>
        <p:spPr>
          <a:xfrm>
            <a:off x="4459224"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C</a:t>
            </a:r>
            <a:endParaRPr lang="en-US" sz="900" dirty="0"/>
          </a:p>
        </p:txBody>
      </p:sp>
      <p:sp>
        <p:nvSpPr>
          <p:cNvPr id="39" name="Text 36"/>
          <p:cNvSpPr txBox="1"/>
          <p:nvPr/>
        </p:nvSpPr>
        <p:spPr>
          <a:xfrm>
            <a:off x="4788408"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34" charset="0"/>
                <a:ea typeface="Amiri" pitchFamily="34" charset="-122"/>
                <a:cs typeface="Amiri" pitchFamily="34" charset="-120"/>
              </a:rPr>
              <a:t>هَذِهِ</a:t>
            </a:r>
            <a:endParaRPr lang="ar-SA" sz="2050" dirty="0"/>
          </a:p>
        </p:txBody>
      </p:sp>
      <p:sp>
        <p:nvSpPr>
          <p:cNvPr id="40" name="Shape 37"/>
          <p:cNvSpPr/>
          <p:nvPr/>
        </p:nvSpPr>
        <p:spPr>
          <a:xfrm>
            <a:off x="8095488"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1" name="Shape 38"/>
          <p:cNvSpPr/>
          <p:nvPr/>
        </p:nvSpPr>
        <p:spPr>
          <a:xfrm>
            <a:off x="8223504" y="1947672"/>
            <a:ext cx="310896" cy="310896"/>
          </a:xfrm>
          <a:prstGeom prst="ellipse">
            <a:avLst/>
          </a:prstGeom>
          <a:solidFill>
            <a:srgbClr val="1B3B6F"/>
          </a:solidFill>
          <a:ln w="12700">
            <a:solidFill>
              <a:srgbClr val="1B3B6F"/>
            </a:solidFill>
            <a:prstDash val="solid"/>
          </a:ln>
        </p:spPr>
      </p:sp>
      <p:sp>
        <p:nvSpPr>
          <p:cNvPr id="42" name="Text 39"/>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3</a:t>
            </a:r>
            <a:endParaRPr lang="en-US" sz="1100" dirty="0"/>
          </a:p>
        </p:txBody>
      </p:sp>
      <p:sp>
        <p:nvSpPr>
          <p:cNvPr id="43" name="Text 40"/>
          <p:cNvSpPr txBox="1"/>
          <p:nvPr/>
        </p:nvSpPr>
        <p:spPr>
          <a:xfrm>
            <a:off x="8589264" y="1883664"/>
            <a:ext cx="1395070" cy="475488"/>
          </a:xfrm>
          <a:prstGeom prst="rect">
            <a:avLst/>
          </a:prstGeom>
          <a:noFill/>
          <a:ln/>
        </p:spPr>
        <p:txBody>
          <a:bodyPr wrap="square" lIns="0" tIns="0" rIns="0" bIns="0" rtlCol="0" anchor="ctr"/>
          <a:lstStyle/>
          <a:p>
            <a:pPr algn="l" indent="0" marL="0">
              <a:buNone/>
            </a:pPr>
            <a:r>
              <a:rPr lang="en-US" sz="1200" b="1" dirty="0">
                <a:solidFill>
                  <a:srgbClr val="1B3B6F"/>
                </a:solidFill>
                <a:latin typeface="Calibri" pitchFamily="34" charset="0"/>
                <a:ea typeface="Calibri" pitchFamily="34" charset="-122"/>
                <a:cs typeface="Calibri" pitchFamily="34" charset="-120"/>
              </a:rPr>
              <a:t>Choose the accurate phrase.</a:t>
            </a:r>
            <a:endParaRPr lang="en-US" sz="1200" dirty="0"/>
          </a:p>
        </p:txBody>
      </p:sp>
      <p:sp>
        <p:nvSpPr>
          <p:cNvPr id="44" name="Text 41"/>
          <p:cNvSpPr txBox="1"/>
          <p:nvPr/>
        </p:nvSpPr>
        <p:spPr>
          <a:xfrm>
            <a:off x="10044989" y="1883664"/>
            <a:ext cx="1577035" cy="475488"/>
          </a:xfrm>
          <a:prstGeom prst="rect">
            <a:avLst/>
          </a:prstGeom>
          <a:noFill/>
          <a:ln/>
        </p:spPr>
        <p:txBody>
          <a:bodyPr wrap="square" lIns="0" tIns="0" rIns="0" bIns="0" rtlCol="0" anchor="ctr"/>
          <a:lstStyle/>
          <a:p>
            <a:pPr rtl="1" algn="r" indent="0" marL="0">
              <a:buNone/>
            </a:pPr>
            <a:r>
              <a:rPr lang="ar-SA" altLang="en-US" sz="2200" b="1" dirty="0">
                <a:solidFill>
                  <a:srgbClr val="1B3B6F"/>
                </a:solidFill>
                <a:latin typeface="Amiri" pitchFamily="34" charset="0"/>
                <a:ea typeface="Amiri" pitchFamily="34" charset="-122"/>
                <a:cs typeface="Amiri" pitchFamily="34" charset="-120"/>
              </a:rPr>
              <a:t>أُمٌّ</a:t>
            </a:r>
            <a:endParaRPr lang="ar-SA" sz="2200" dirty="0"/>
          </a:p>
        </p:txBody>
      </p:sp>
      <p:sp>
        <p:nvSpPr>
          <p:cNvPr id="45" name="Shape 42"/>
          <p:cNvSpPr/>
          <p:nvPr/>
        </p:nvSpPr>
        <p:spPr>
          <a:xfrm>
            <a:off x="8278368" y="2532888"/>
            <a:ext cx="256032" cy="256032"/>
          </a:xfrm>
          <a:prstGeom prst="ellipse">
            <a:avLst/>
          </a:prstGeom>
          <a:solidFill>
            <a:srgbClr val="F4F1EA"/>
          </a:solidFill>
          <a:ln w="12700">
            <a:solidFill>
              <a:srgbClr val="F4F1EA"/>
            </a:solidFill>
            <a:prstDash val="solid"/>
          </a:ln>
        </p:spPr>
      </p:sp>
      <p:sp>
        <p:nvSpPr>
          <p:cNvPr id="46" name="Text 43"/>
          <p:cNvSpPr txBox="1"/>
          <p:nvPr/>
        </p:nvSpPr>
        <p:spPr>
          <a:xfrm>
            <a:off x="8278368"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A</a:t>
            </a:r>
            <a:endParaRPr lang="en-US" sz="900" dirty="0"/>
          </a:p>
        </p:txBody>
      </p:sp>
      <p:sp>
        <p:nvSpPr>
          <p:cNvPr id="47" name="Text 44"/>
          <p:cNvSpPr txBox="1"/>
          <p:nvPr/>
        </p:nvSpPr>
        <p:spPr>
          <a:xfrm>
            <a:off x="8607552" y="24323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34" charset="0"/>
                <a:ea typeface="Amiri" pitchFamily="34" charset="-122"/>
                <a:cs typeface="Amiri" pitchFamily="34" charset="-120"/>
              </a:rPr>
              <a:t>أُمٌّ جَمِيلَةٌ</a:t>
            </a:r>
            <a:endParaRPr lang="ar-SA" sz="2050" dirty="0"/>
          </a:p>
        </p:txBody>
      </p:sp>
      <p:sp>
        <p:nvSpPr>
          <p:cNvPr id="48" name="Shape 45"/>
          <p:cNvSpPr/>
          <p:nvPr/>
        </p:nvSpPr>
        <p:spPr>
          <a:xfrm>
            <a:off x="8278368" y="2990088"/>
            <a:ext cx="256032" cy="256032"/>
          </a:xfrm>
          <a:prstGeom prst="ellipse">
            <a:avLst/>
          </a:prstGeom>
          <a:solidFill>
            <a:srgbClr val="F4F1EA"/>
          </a:solidFill>
          <a:ln w="12700">
            <a:solidFill>
              <a:srgbClr val="F4F1EA"/>
            </a:solidFill>
            <a:prstDash val="solid"/>
          </a:ln>
        </p:spPr>
      </p:sp>
      <p:sp>
        <p:nvSpPr>
          <p:cNvPr id="49" name="Text 46"/>
          <p:cNvSpPr txBox="1"/>
          <p:nvPr/>
        </p:nvSpPr>
        <p:spPr>
          <a:xfrm>
            <a:off x="8278368"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50" name="Text 47"/>
          <p:cNvSpPr txBox="1"/>
          <p:nvPr/>
        </p:nvSpPr>
        <p:spPr>
          <a:xfrm>
            <a:off x="8607552"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34" charset="0"/>
                <a:ea typeface="Amiri" pitchFamily="34" charset="-122"/>
                <a:cs typeface="Amiri" pitchFamily="34" charset="-120"/>
              </a:rPr>
              <a:t>أُمٌّ جَمِيلٌ</a:t>
            </a:r>
            <a:endParaRPr lang="ar-SA" sz="2050" dirty="0"/>
          </a:p>
        </p:txBody>
      </p:sp>
      <p:sp>
        <p:nvSpPr>
          <p:cNvPr id="51" name="Shape 48"/>
          <p:cNvSpPr/>
          <p:nvPr/>
        </p:nvSpPr>
        <p:spPr>
          <a:xfrm>
            <a:off x="8278368" y="3447288"/>
            <a:ext cx="256032" cy="256032"/>
          </a:xfrm>
          <a:prstGeom prst="ellipse">
            <a:avLst/>
          </a:prstGeom>
          <a:solidFill>
            <a:srgbClr val="F4F1EA"/>
          </a:solidFill>
          <a:ln w="12700">
            <a:solidFill>
              <a:srgbClr val="F4F1EA"/>
            </a:solidFill>
            <a:prstDash val="solid"/>
          </a:ln>
        </p:spPr>
      </p:sp>
      <p:sp>
        <p:nvSpPr>
          <p:cNvPr id="52" name="Text 49"/>
          <p:cNvSpPr txBox="1"/>
          <p:nvPr/>
        </p:nvSpPr>
        <p:spPr>
          <a:xfrm>
            <a:off x="8278368"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C</a:t>
            </a:r>
            <a:endParaRPr lang="en-US" sz="900" dirty="0"/>
          </a:p>
        </p:txBody>
      </p:sp>
      <p:sp>
        <p:nvSpPr>
          <p:cNvPr id="53" name="Text 50"/>
          <p:cNvSpPr txBox="1"/>
          <p:nvPr/>
        </p:nvSpPr>
        <p:spPr>
          <a:xfrm>
            <a:off x="8607552"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34" charset="0"/>
                <a:ea typeface="Amiri" pitchFamily="34" charset="-122"/>
                <a:cs typeface="Amiri" pitchFamily="34" charset="-120"/>
              </a:rPr>
              <a:t>جَمِيلَةٌ أُمٌّ</a:t>
            </a:r>
            <a:endParaRPr lang="ar-SA" sz="2050" dirty="0"/>
          </a:p>
        </p:txBody>
      </p:sp>
      <p:sp>
        <p:nvSpPr>
          <p:cNvPr id="54" name="Shape 51"/>
          <p:cNvSpPr/>
          <p:nvPr/>
        </p:nvSpPr>
        <p:spPr>
          <a:xfrm>
            <a:off x="457200"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5" name="Shape 52"/>
          <p:cNvSpPr/>
          <p:nvPr/>
        </p:nvSpPr>
        <p:spPr>
          <a:xfrm>
            <a:off x="585216" y="4288536"/>
            <a:ext cx="310896" cy="310896"/>
          </a:xfrm>
          <a:prstGeom prst="ellipse">
            <a:avLst/>
          </a:prstGeom>
          <a:solidFill>
            <a:srgbClr val="1B3B6F"/>
          </a:solidFill>
          <a:ln w="12700">
            <a:solidFill>
              <a:srgbClr val="1B3B6F"/>
            </a:solidFill>
            <a:prstDash val="solid"/>
          </a:ln>
        </p:spPr>
      </p:sp>
      <p:sp>
        <p:nvSpPr>
          <p:cNvPr id="56" name="Text 53"/>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4</a:t>
            </a:r>
            <a:endParaRPr lang="en-US" sz="1100" dirty="0"/>
          </a:p>
        </p:txBody>
      </p:sp>
      <p:sp>
        <p:nvSpPr>
          <p:cNvPr id="57" name="Text 54"/>
          <p:cNvSpPr txBox="1"/>
          <p:nvPr/>
        </p:nvSpPr>
        <p:spPr>
          <a:xfrm>
            <a:off x="950976" y="4224528"/>
            <a:ext cx="1395070" cy="475488"/>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ea typeface="Calibri" pitchFamily="34" charset="-122"/>
                <a:cs typeface="Calibri" pitchFamily="34" charset="-120"/>
              </a:rPr>
              <a:t>Choose the accurate sentence.</a:t>
            </a:r>
            <a:endParaRPr lang="en-US" sz="1150" dirty="0"/>
          </a:p>
        </p:txBody>
      </p:sp>
      <p:sp>
        <p:nvSpPr>
          <p:cNvPr id="58" name="Text 55"/>
          <p:cNvSpPr txBox="1"/>
          <p:nvPr/>
        </p:nvSpPr>
        <p:spPr>
          <a:xfrm>
            <a:off x="2406701" y="4224528"/>
            <a:ext cx="1577035" cy="475488"/>
          </a:xfrm>
          <a:prstGeom prst="rect">
            <a:avLst/>
          </a:prstGeom>
          <a:noFill/>
          <a:ln/>
        </p:spPr>
        <p:txBody>
          <a:bodyPr wrap="square" lIns="0" tIns="0" rIns="0" bIns="0" rtlCol="0" anchor="ctr"/>
          <a:lstStyle/>
          <a:p>
            <a:pPr rtl="1" algn="r" indent="0" marL="0">
              <a:buNone/>
            </a:pPr>
            <a:r>
              <a:rPr lang="ar-SA" altLang="en-US" sz="2200" b="1" dirty="0">
                <a:solidFill>
                  <a:srgbClr val="1B3B6F"/>
                </a:solidFill>
                <a:latin typeface="Amiri" pitchFamily="34" charset="0"/>
                <a:ea typeface="Amiri" pitchFamily="34" charset="-122"/>
                <a:cs typeface="Amiri" pitchFamily="34" charset="-120"/>
              </a:rPr>
              <a:t>زَمِيلَةٌ</a:t>
            </a:r>
            <a:endParaRPr lang="ar-SA" sz="2200" dirty="0"/>
          </a:p>
        </p:txBody>
      </p:sp>
      <p:sp>
        <p:nvSpPr>
          <p:cNvPr id="59" name="Shape 56"/>
          <p:cNvSpPr/>
          <p:nvPr/>
        </p:nvSpPr>
        <p:spPr>
          <a:xfrm>
            <a:off x="640080" y="4873752"/>
            <a:ext cx="256032" cy="256032"/>
          </a:xfrm>
          <a:prstGeom prst="ellipse">
            <a:avLst/>
          </a:prstGeom>
          <a:solidFill>
            <a:srgbClr val="F4F1EA"/>
          </a:solidFill>
          <a:ln w="12700">
            <a:solidFill>
              <a:srgbClr val="F4F1EA"/>
            </a:solidFill>
            <a:prstDash val="solid"/>
          </a:ln>
        </p:spPr>
      </p:sp>
      <p:sp>
        <p:nvSpPr>
          <p:cNvPr id="60" name="Text 57"/>
          <p:cNvSpPr txBox="1"/>
          <p:nvPr/>
        </p:nvSpPr>
        <p:spPr>
          <a:xfrm>
            <a:off x="640080"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A</a:t>
            </a:r>
            <a:endParaRPr lang="en-US" sz="900" dirty="0"/>
          </a:p>
        </p:txBody>
      </p:sp>
      <p:sp>
        <p:nvSpPr>
          <p:cNvPr id="61" name="Text 58"/>
          <p:cNvSpPr txBox="1"/>
          <p:nvPr/>
        </p:nvSpPr>
        <p:spPr>
          <a:xfrm>
            <a:off x="969264" y="47731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34" charset="0"/>
                <a:ea typeface="Amiri" pitchFamily="34" charset="-122"/>
                <a:cs typeface="Amiri" pitchFamily="34" charset="-120"/>
              </a:rPr>
              <a:t>هَذَا زَمِيلَةٌ سَعِيدٌ.</a:t>
            </a:r>
            <a:endParaRPr lang="ar-SA" sz="2050" dirty="0"/>
          </a:p>
        </p:txBody>
      </p:sp>
      <p:sp>
        <p:nvSpPr>
          <p:cNvPr id="62" name="Shape 59"/>
          <p:cNvSpPr/>
          <p:nvPr/>
        </p:nvSpPr>
        <p:spPr>
          <a:xfrm>
            <a:off x="640080" y="5330952"/>
            <a:ext cx="256032" cy="256032"/>
          </a:xfrm>
          <a:prstGeom prst="ellipse">
            <a:avLst/>
          </a:prstGeom>
          <a:solidFill>
            <a:srgbClr val="F4F1EA"/>
          </a:solidFill>
          <a:ln w="12700">
            <a:solidFill>
              <a:srgbClr val="F4F1EA"/>
            </a:solidFill>
            <a:prstDash val="solid"/>
          </a:ln>
        </p:spPr>
      </p:sp>
      <p:sp>
        <p:nvSpPr>
          <p:cNvPr id="63" name="Text 60"/>
          <p:cNvSpPr txBox="1"/>
          <p:nvPr/>
        </p:nvSpPr>
        <p:spPr>
          <a:xfrm>
            <a:off x="640080"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64" name="Text 61"/>
          <p:cNvSpPr txBox="1"/>
          <p:nvPr/>
        </p:nvSpPr>
        <p:spPr>
          <a:xfrm>
            <a:off x="969264" y="52303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34" charset="0"/>
                <a:ea typeface="Amiri" pitchFamily="34" charset="-122"/>
                <a:cs typeface="Amiri" pitchFamily="34" charset="-120"/>
              </a:rPr>
              <a:t>هَذِهِ زَمِيلَةٌ سَعِيدَةٌ.</a:t>
            </a:r>
            <a:endParaRPr lang="ar-SA" sz="2050" dirty="0"/>
          </a:p>
        </p:txBody>
      </p:sp>
      <p:sp>
        <p:nvSpPr>
          <p:cNvPr id="65" name="Shape 62"/>
          <p:cNvSpPr/>
          <p:nvPr/>
        </p:nvSpPr>
        <p:spPr>
          <a:xfrm>
            <a:off x="640080" y="5788152"/>
            <a:ext cx="256032" cy="256032"/>
          </a:xfrm>
          <a:prstGeom prst="ellipse">
            <a:avLst/>
          </a:prstGeom>
          <a:solidFill>
            <a:srgbClr val="F4F1EA"/>
          </a:solidFill>
          <a:ln w="12700">
            <a:solidFill>
              <a:srgbClr val="F4F1EA"/>
            </a:solidFill>
            <a:prstDash val="solid"/>
          </a:ln>
        </p:spPr>
      </p:sp>
      <p:sp>
        <p:nvSpPr>
          <p:cNvPr id="66" name="Text 63"/>
          <p:cNvSpPr txBox="1"/>
          <p:nvPr/>
        </p:nvSpPr>
        <p:spPr>
          <a:xfrm>
            <a:off x="640080"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C</a:t>
            </a:r>
            <a:endParaRPr lang="en-US" sz="900" dirty="0"/>
          </a:p>
        </p:txBody>
      </p:sp>
      <p:sp>
        <p:nvSpPr>
          <p:cNvPr id="67" name="Text 64"/>
          <p:cNvSpPr txBox="1"/>
          <p:nvPr/>
        </p:nvSpPr>
        <p:spPr>
          <a:xfrm>
            <a:off x="969264" y="56875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34" charset="0"/>
                <a:ea typeface="Amiri" pitchFamily="34" charset="-122"/>
                <a:cs typeface="Amiri" pitchFamily="34" charset="-120"/>
              </a:rPr>
              <a:t>هَذِهِ زَمِيلٌ سَعِيدَةٌ.</a:t>
            </a:r>
            <a:endParaRPr lang="ar-SA" sz="2050" dirty="0"/>
          </a:p>
        </p:txBody>
      </p:sp>
      <p:sp>
        <p:nvSpPr>
          <p:cNvPr id="68" name="Shape 65"/>
          <p:cNvSpPr/>
          <p:nvPr/>
        </p:nvSpPr>
        <p:spPr>
          <a:xfrm>
            <a:off x="4276344"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9" name="Shape 66"/>
          <p:cNvSpPr/>
          <p:nvPr/>
        </p:nvSpPr>
        <p:spPr>
          <a:xfrm>
            <a:off x="4404360" y="4288536"/>
            <a:ext cx="310896" cy="310896"/>
          </a:xfrm>
          <a:prstGeom prst="ellipse">
            <a:avLst/>
          </a:prstGeom>
          <a:solidFill>
            <a:srgbClr val="1B3B6F"/>
          </a:solidFill>
          <a:ln w="12700">
            <a:solidFill>
              <a:srgbClr val="1B3B6F"/>
            </a:solidFill>
            <a:prstDash val="solid"/>
          </a:ln>
        </p:spPr>
      </p:sp>
      <p:sp>
        <p:nvSpPr>
          <p:cNvPr id="70" name="Text 67"/>
          <p:cNvSpPr txBox="1"/>
          <p:nvPr/>
        </p:nvSpPr>
        <p:spPr>
          <a:xfrm>
            <a:off x="4404360"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5</a:t>
            </a:r>
            <a:endParaRPr lang="en-US" sz="1100" dirty="0"/>
          </a:p>
        </p:txBody>
      </p:sp>
      <p:sp>
        <p:nvSpPr>
          <p:cNvPr id="71" name="Text 68"/>
          <p:cNvSpPr txBox="1"/>
          <p:nvPr/>
        </p:nvSpPr>
        <p:spPr>
          <a:xfrm>
            <a:off x="4770120" y="4224528"/>
            <a:ext cx="1395070" cy="475488"/>
          </a:xfrm>
          <a:prstGeom prst="rect">
            <a:avLst/>
          </a:prstGeom>
          <a:noFill/>
          <a:ln/>
        </p:spPr>
        <p:txBody>
          <a:bodyPr wrap="square" lIns="0" tIns="0" rIns="0" bIns="0" rtlCol="0" anchor="ctr"/>
          <a:lstStyle/>
          <a:p>
            <a:pPr algn="l" indent="0" marL="0">
              <a:buNone/>
            </a:pPr>
            <a:r>
              <a:rPr lang="en-US" sz="1100" b="1" dirty="0">
                <a:solidFill>
                  <a:srgbClr val="1B3B6F"/>
                </a:solidFill>
                <a:latin typeface="Calibri" pitchFamily="34" charset="0"/>
                <a:ea typeface="Calibri" pitchFamily="34" charset="-122"/>
                <a:cs typeface="Calibri" pitchFamily="34" charset="-120"/>
              </a:rPr>
              <a:t>Choose the matching description.</a:t>
            </a:r>
            <a:endParaRPr lang="en-US" sz="1100" dirty="0"/>
          </a:p>
        </p:txBody>
      </p:sp>
      <p:sp>
        <p:nvSpPr>
          <p:cNvPr id="72" name="Text 69"/>
          <p:cNvSpPr txBox="1"/>
          <p:nvPr/>
        </p:nvSpPr>
        <p:spPr>
          <a:xfrm>
            <a:off x="6225845" y="4224528"/>
            <a:ext cx="1577035" cy="475488"/>
          </a:xfrm>
          <a:prstGeom prst="rect">
            <a:avLst/>
          </a:prstGeom>
          <a:noFill/>
          <a:ln/>
        </p:spPr>
        <p:txBody>
          <a:bodyPr wrap="square" lIns="0" tIns="0" rIns="0" bIns="0" rtlCol="0" anchor="ctr"/>
          <a:lstStyle/>
          <a:p>
            <a:pPr rtl="1" algn="r" indent="0" marL="0">
              <a:buNone/>
            </a:pPr>
            <a:r>
              <a:rPr lang="ar-SA" altLang="en-US" sz="2200" b="1" dirty="0">
                <a:solidFill>
                  <a:srgbClr val="1B3B6F"/>
                </a:solidFill>
                <a:latin typeface="Amiri" pitchFamily="34" charset="0"/>
                <a:ea typeface="Amiri" pitchFamily="34" charset="-122"/>
                <a:cs typeface="Amiri" pitchFamily="34" charset="-120"/>
              </a:rPr>
              <a:t>أُخْتٌ</a:t>
            </a:r>
            <a:endParaRPr lang="ar-SA" sz="2200" dirty="0"/>
          </a:p>
        </p:txBody>
      </p:sp>
      <p:sp>
        <p:nvSpPr>
          <p:cNvPr id="73" name="Shape 70"/>
          <p:cNvSpPr/>
          <p:nvPr/>
        </p:nvSpPr>
        <p:spPr>
          <a:xfrm>
            <a:off x="4459224" y="4873752"/>
            <a:ext cx="256032" cy="256032"/>
          </a:xfrm>
          <a:prstGeom prst="ellipse">
            <a:avLst/>
          </a:prstGeom>
          <a:solidFill>
            <a:srgbClr val="F4F1EA"/>
          </a:solidFill>
          <a:ln w="12700">
            <a:solidFill>
              <a:srgbClr val="F4F1EA"/>
            </a:solidFill>
            <a:prstDash val="solid"/>
          </a:ln>
        </p:spPr>
      </p:sp>
      <p:sp>
        <p:nvSpPr>
          <p:cNvPr id="74" name="Text 71"/>
          <p:cNvSpPr txBox="1"/>
          <p:nvPr/>
        </p:nvSpPr>
        <p:spPr>
          <a:xfrm>
            <a:off x="4459224"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A</a:t>
            </a:r>
            <a:endParaRPr lang="en-US" sz="900" dirty="0"/>
          </a:p>
        </p:txBody>
      </p:sp>
      <p:sp>
        <p:nvSpPr>
          <p:cNvPr id="75" name="Text 72"/>
          <p:cNvSpPr txBox="1"/>
          <p:nvPr/>
        </p:nvSpPr>
        <p:spPr>
          <a:xfrm>
            <a:off x="4788408" y="47731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34" charset="0"/>
                <a:ea typeface="Amiri" pitchFamily="34" charset="-122"/>
                <a:cs typeface="Amiri" pitchFamily="34" charset="-120"/>
              </a:rPr>
              <a:t>أُخْتٌ قَصِيرَةٌ</a:t>
            </a:r>
            <a:endParaRPr lang="ar-SA" sz="2050" dirty="0"/>
          </a:p>
        </p:txBody>
      </p:sp>
      <p:sp>
        <p:nvSpPr>
          <p:cNvPr id="76" name="Shape 73"/>
          <p:cNvSpPr/>
          <p:nvPr/>
        </p:nvSpPr>
        <p:spPr>
          <a:xfrm>
            <a:off x="4459224" y="5330952"/>
            <a:ext cx="256032" cy="256032"/>
          </a:xfrm>
          <a:prstGeom prst="ellipse">
            <a:avLst/>
          </a:prstGeom>
          <a:solidFill>
            <a:srgbClr val="F4F1EA"/>
          </a:solidFill>
          <a:ln w="12700">
            <a:solidFill>
              <a:srgbClr val="F4F1EA"/>
            </a:solidFill>
            <a:prstDash val="solid"/>
          </a:ln>
        </p:spPr>
      </p:sp>
      <p:sp>
        <p:nvSpPr>
          <p:cNvPr id="77" name="Text 74"/>
          <p:cNvSpPr txBox="1"/>
          <p:nvPr/>
        </p:nvSpPr>
        <p:spPr>
          <a:xfrm>
            <a:off x="4459224"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78" name="Text 75"/>
          <p:cNvSpPr txBox="1"/>
          <p:nvPr/>
        </p:nvSpPr>
        <p:spPr>
          <a:xfrm>
            <a:off x="4788408" y="52303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34" charset="0"/>
                <a:ea typeface="Amiri" pitchFamily="34" charset="-122"/>
                <a:cs typeface="Amiri" pitchFamily="34" charset="-120"/>
              </a:rPr>
              <a:t>أُخْتٌ قَصِيرٌ</a:t>
            </a:r>
            <a:endParaRPr lang="ar-SA" sz="2050" dirty="0"/>
          </a:p>
        </p:txBody>
      </p:sp>
      <p:sp>
        <p:nvSpPr>
          <p:cNvPr id="79" name="Shape 76"/>
          <p:cNvSpPr/>
          <p:nvPr/>
        </p:nvSpPr>
        <p:spPr>
          <a:xfrm>
            <a:off x="4459224" y="5788152"/>
            <a:ext cx="256032" cy="256032"/>
          </a:xfrm>
          <a:prstGeom prst="ellipse">
            <a:avLst/>
          </a:prstGeom>
          <a:solidFill>
            <a:srgbClr val="F4F1EA"/>
          </a:solidFill>
          <a:ln w="12700">
            <a:solidFill>
              <a:srgbClr val="F4F1EA"/>
            </a:solidFill>
            <a:prstDash val="solid"/>
          </a:ln>
        </p:spPr>
      </p:sp>
      <p:sp>
        <p:nvSpPr>
          <p:cNvPr id="80" name="Text 77"/>
          <p:cNvSpPr txBox="1"/>
          <p:nvPr/>
        </p:nvSpPr>
        <p:spPr>
          <a:xfrm>
            <a:off x="4459224"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C</a:t>
            </a:r>
            <a:endParaRPr lang="en-US" sz="900" dirty="0"/>
          </a:p>
        </p:txBody>
      </p:sp>
      <p:sp>
        <p:nvSpPr>
          <p:cNvPr id="81" name="Text 78"/>
          <p:cNvSpPr txBox="1"/>
          <p:nvPr/>
        </p:nvSpPr>
        <p:spPr>
          <a:xfrm>
            <a:off x="4788408" y="56875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34" charset="0"/>
                <a:ea typeface="Amiri" pitchFamily="34" charset="-122"/>
                <a:cs typeface="Amiri" pitchFamily="34" charset="-120"/>
              </a:rPr>
              <a:t>قَصِيرَةٌ أُخْتٌ</a:t>
            </a:r>
            <a:endParaRPr lang="ar-SA" sz="2050" dirty="0"/>
          </a:p>
        </p:txBody>
      </p:sp>
      <p:sp>
        <p:nvSpPr>
          <p:cNvPr id="82" name="Shape 79"/>
          <p:cNvSpPr/>
          <p:nvPr/>
        </p:nvSpPr>
        <p:spPr>
          <a:xfrm>
            <a:off x="8095488" y="4151376"/>
            <a:ext cx="3636264" cy="2157984"/>
          </a:xfrm>
          <a:prstGeom prst="roundRect">
            <a:avLst>
              <a:gd name="adj" fmla="val 3390"/>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83" name="Shape 80"/>
          <p:cNvSpPr/>
          <p:nvPr/>
        </p:nvSpPr>
        <p:spPr>
          <a:xfrm>
            <a:off x="8717280" y="4361688"/>
            <a:ext cx="914400" cy="274320"/>
          </a:xfrm>
          <a:prstGeom prst="roundRect">
            <a:avLst>
              <a:gd name="adj" fmla="val 50000"/>
            </a:avLst>
          </a:prstGeom>
          <a:solidFill>
            <a:srgbClr val="2E8B57"/>
          </a:solidFill>
          <a:ln w="12700">
            <a:solidFill>
              <a:srgbClr val="2E8B57"/>
            </a:solidFill>
            <a:prstDash val="solid"/>
          </a:ln>
        </p:spPr>
      </p:sp>
      <p:sp>
        <p:nvSpPr>
          <p:cNvPr id="84" name="Text 81"/>
          <p:cNvSpPr txBox="1"/>
          <p:nvPr/>
        </p:nvSpPr>
        <p:spPr>
          <a:xfrm>
            <a:off x="8717280" y="4361688"/>
            <a:ext cx="91440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ea typeface="Calibri" pitchFamily="34" charset="-122"/>
                <a:cs typeface="Calibri" pitchFamily="34" charset="-120"/>
              </a:rPr>
              <a:t>CORE</a:t>
            </a:r>
            <a:endParaRPr lang="en-US" sz="850" dirty="0"/>
          </a:p>
        </p:txBody>
      </p:sp>
      <p:sp>
        <p:nvSpPr>
          <p:cNvPr id="85" name="Text 82"/>
          <p:cNvSpPr txBox="1"/>
          <p:nvPr/>
        </p:nvSpPr>
        <p:spPr>
          <a:xfrm>
            <a:off x="8296656" y="4791456"/>
            <a:ext cx="3270504" cy="1380744"/>
          </a:xfrm>
          <a:prstGeom prst="rect">
            <a:avLst/>
          </a:prstGeom>
          <a:noFill/>
          <a:ln/>
        </p:spPr>
        <p:txBody>
          <a:bodyPr wrap="square" lIns="0" tIns="0" rIns="0" bIns="0" rtlCol="0" anchor="t"/>
          <a:lstStyle/>
          <a:p>
            <a:pPr algn="l" indent="0" marL="0">
              <a:buNone/>
            </a:pPr>
            <a:r>
              <a:rPr lang="en-US" sz="1250" dirty="0">
                <a:solidFill>
                  <a:srgbClr val="1E6B52"/>
                </a:solidFill>
                <a:latin typeface="Calibri" pitchFamily="34" charset="0"/>
                <a:ea typeface="Calibri" pitchFamily="34" charset="-122"/>
                <a:cs typeface="Calibri" pitchFamily="34" charset="-120"/>
              </a:rPr>
              <a:t>Step 1: masculine or feminine?</a:t>
            </a:r>
            <a:endParaRPr lang="en-US" sz="1250" dirty="0"/>
          </a:p>
          <a:p>
            <a:pPr algn="l" indent="0" marL="0">
              <a:buNone/>
            </a:pPr>
            <a:r>
              <a:rPr lang="en-US" sz="1250" dirty="0">
                <a:solidFill>
                  <a:srgbClr val="1E6B52"/>
                </a:solidFill>
                <a:latin typeface="Calibri" pitchFamily="34" charset="0"/>
                <a:ea typeface="Calibri" pitchFamily="34" charset="-122"/>
                <a:cs typeface="Calibri" pitchFamily="34" charset="-120"/>
              </a:rPr>
              <a:t>Step 2: every word matches.</a:t>
            </a:r>
            <a:endParaRPr lang="en-US" sz="1250" dirty="0"/>
          </a:p>
          <a:p>
            <a:pPr algn="l" indent="0" marL="0">
              <a:buNone/>
            </a:pPr>
            <a:r>
              <a:rPr lang="en-US" sz="1250" dirty="0">
                <a:solidFill>
                  <a:srgbClr val="1E6B52"/>
                </a:solidFill>
                <a:latin typeface="Calibri" pitchFamily="34" charset="0"/>
                <a:ea typeface="Calibri" pitchFamily="34" charset="-122"/>
                <a:cs typeface="Calibri" pitchFamily="34" charset="-120"/>
              </a:rPr>
              <a:t>Step 3: noun first.</a:t>
            </a:r>
            <a:endParaRPr lang="en-US" sz="1250" dirty="0"/>
          </a:p>
        </p:txBody>
      </p:sp>
      <p:sp>
        <p:nvSpPr>
          <p:cNvPr id="86" name="Text 83"/>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ea typeface="Calibri" pitchFamily="34" charset="-122"/>
                <a:cs typeface="Calibri" pitchFamily="34" charset="-120"/>
              </a:rPr>
              <a:t>18 / 36</a:t>
            </a:r>
            <a:endParaRPr lang="en-US" sz="85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34" charset="0"/>
                <a:ea typeface="Amiri" pitchFamily="34" charset="-122"/>
                <a:cs typeface="Amiri" pitchFamily="34" charset="-120"/>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ea typeface="Cambria" pitchFamily="34" charset="-122"/>
                <a:cs typeface="Cambria" pitchFamily="34" charset="-120"/>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ea typeface="Calibri" pitchFamily="34" charset="-122"/>
                <a:cs typeface="Calibri" pitchFamily="34" charset="-120"/>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ea typeface="Calibri" pitchFamily="34" charset="-122"/>
                <a:cs typeface="Calibri" pitchFamily="34" charset="-120"/>
              </a:rPr>
              <a:t>F2-L05 · Masculine &amp; Feminine</a:t>
            </a:r>
            <a:endParaRPr lang="en-US" sz="950" dirty="0"/>
          </a:p>
        </p:txBody>
      </p:sp>
      <p:sp>
        <p:nvSpPr>
          <p:cNvPr id="8" name="Shape 6"/>
          <p:cNvSpPr/>
          <p:nvPr/>
        </p:nvSpPr>
        <p:spPr>
          <a:xfrm>
            <a:off x="7388352" y="274320"/>
            <a:ext cx="1371600"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ea typeface="Calibri" pitchFamily="34" charset="-122"/>
                <a:cs typeface="Calibri" pitchFamily="34" charset="-120"/>
              </a:rPr>
              <a:t>WE DO</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ea typeface="Calibri" pitchFamily="34" charset="-122"/>
                <a:cs typeface="Calibri" pitchFamily="34" charset="-120"/>
              </a:rPr>
              <a:t>WE DO · GENDER DETECTIVE ANSWERS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ea typeface="Cambria" pitchFamily="34" charset="-122"/>
                <a:cs typeface="Cambria" pitchFamily="34" charset="-120"/>
              </a:rPr>
              <a:t>Detective: answers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34" charset="0"/>
                <a:ea typeface="Amiri" pitchFamily="34" charset="-122"/>
                <a:cs typeface="Amiri" pitchFamily="34" charset="-120"/>
              </a:rPr>
              <a:t>الإِجَابَاتُ</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ea typeface="Calibri" pitchFamily="34" charset="-122"/>
                <a:cs typeface="Calibri" pitchFamily="34" charset="-120"/>
              </a:rPr>
              <a:t>Miftah Arabic · Foundation F2 · Greetings &amp; Introductions · Week 2 · Lesson 2 of 3</a:t>
            </a:r>
            <a:endParaRPr lang="en-US" sz="850" dirty="0"/>
          </a:p>
        </p:txBody>
      </p:sp>
      <p:sp>
        <p:nvSpPr>
          <p:cNvPr id="15" name="Shape 12"/>
          <p:cNvSpPr/>
          <p:nvPr/>
        </p:nvSpPr>
        <p:spPr>
          <a:xfrm>
            <a:off x="457200"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1</a:t>
            </a:r>
            <a:endParaRPr lang="en-US" sz="1100" dirty="0"/>
          </a:p>
        </p:txBody>
      </p:sp>
      <p:sp>
        <p:nvSpPr>
          <p:cNvPr id="18" name="Text 15"/>
          <p:cNvSpPr txBox="1"/>
          <p:nvPr/>
        </p:nvSpPr>
        <p:spPr>
          <a:xfrm>
            <a:off x="950976" y="1883664"/>
            <a:ext cx="1395070" cy="475488"/>
          </a:xfrm>
          <a:prstGeom prst="rect">
            <a:avLst/>
          </a:prstGeom>
          <a:noFill/>
          <a:ln/>
        </p:spPr>
        <p:txBody>
          <a:bodyPr wrap="square" lIns="0" tIns="0" rIns="0" bIns="0" rtlCol="0" anchor="ctr"/>
          <a:lstStyle/>
          <a:p>
            <a:pPr algn="l" indent="0" marL="0">
              <a:buNone/>
            </a:pPr>
            <a:r>
              <a:rPr lang="en-US" sz="1200" b="1" dirty="0">
                <a:solidFill>
                  <a:srgbClr val="1B3B6F"/>
                </a:solidFill>
                <a:latin typeface="Calibri" pitchFamily="34" charset="0"/>
                <a:ea typeface="Calibri" pitchFamily="34" charset="-122"/>
                <a:cs typeface="Calibri" pitchFamily="34" charset="-120"/>
              </a:rPr>
              <a:t>Choose the gender.</a:t>
            </a:r>
            <a:endParaRPr lang="en-US" sz="1200" dirty="0"/>
          </a:p>
        </p:txBody>
      </p:sp>
      <p:sp>
        <p:nvSpPr>
          <p:cNvPr id="19" name="Text 16"/>
          <p:cNvSpPr txBox="1"/>
          <p:nvPr/>
        </p:nvSpPr>
        <p:spPr>
          <a:xfrm>
            <a:off x="2406701" y="1883664"/>
            <a:ext cx="1577035" cy="475488"/>
          </a:xfrm>
          <a:prstGeom prst="rect">
            <a:avLst/>
          </a:prstGeom>
          <a:noFill/>
          <a:ln/>
        </p:spPr>
        <p:txBody>
          <a:bodyPr wrap="square" lIns="0" tIns="0" rIns="0" bIns="0" rtlCol="0" anchor="ctr"/>
          <a:lstStyle/>
          <a:p>
            <a:pPr rtl="1" algn="r" indent="0" marL="0">
              <a:buNone/>
            </a:pPr>
            <a:r>
              <a:rPr lang="ar-SA" altLang="en-US" sz="2200" b="1" dirty="0">
                <a:solidFill>
                  <a:srgbClr val="1B3B6F"/>
                </a:solidFill>
                <a:latin typeface="Amiri" pitchFamily="34" charset="0"/>
                <a:ea typeface="Amiri" pitchFamily="34" charset="-122"/>
                <a:cs typeface="Amiri" pitchFamily="34" charset="-120"/>
              </a:rPr>
              <a:t>شَمْسٌ</a:t>
            </a:r>
            <a:endParaRPr lang="ar-SA" sz="2200" dirty="0"/>
          </a:p>
        </p:txBody>
      </p:sp>
      <p:sp>
        <p:nvSpPr>
          <p:cNvPr id="20" name="Shape 17"/>
          <p:cNvSpPr/>
          <p:nvPr/>
        </p:nvSpPr>
        <p:spPr>
          <a:xfrm>
            <a:off x="548640" y="2496312"/>
            <a:ext cx="3453384" cy="347472"/>
          </a:xfrm>
          <a:prstGeom prst="roundRect">
            <a:avLst>
              <a:gd name="adj" fmla="val 15789"/>
            </a:avLst>
          </a:prstGeom>
          <a:solidFill>
            <a:srgbClr val="E6F4EC"/>
          </a:solidFill>
          <a:ln w="9525">
            <a:solidFill>
              <a:srgbClr val="2E8B57"/>
            </a:solidFill>
            <a:prstDash val="solid"/>
          </a:ln>
        </p:spPr>
      </p:sp>
      <p:sp>
        <p:nvSpPr>
          <p:cNvPr id="21" name="Shape 18"/>
          <p:cNvSpPr/>
          <p:nvPr/>
        </p:nvSpPr>
        <p:spPr>
          <a:xfrm>
            <a:off x="640080" y="2532888"/>
            <a:ext cx="256032" cy="256032"/>
          </a:xfrm>
          <a:prstGeom prst="ellipse">
            <a:avLst/>
          </a:prstGeom>
          <a:solidFill>
            <a:srgbClr val="2E8B57"/>
          </a:solidFill>
          <a:ln w="12700">
            <a:solidFill>
              <a:srgbClr val="2E8B57"/>
            </a:solidFill>
            <a:prstDash val="solid"/>
          </a:ln>
        </p:spPr>
      </p:sp>
      <p:sp>
        <p:nvSpPr>
          <p:cNvPr id="22" name="Text 19"/>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A</a:t>
            </a:r>
            <a:endParaRPr lang="en-US" sz="900" dirty="0"/>
          </a:p>
        </p:txBody>
      </p:sp>
      <p:sp>
        <p:nvSpPr>
          <p:cNvPr id="23" name="Text 20"/>
          <p:cNvSpPr txBox="1"/>
          <p:nvPr/>
        </p:nvSpPr>
        <p:spPr>
          <a:xfrm>
            <a:off x="969264" y="2432304"/>
            <a:ext cx="2977896" cy="457200"/>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ea typeface="Calibri" pitchFamily="34" charset="-122"/>
                <a:cs typeface="Calibri" pitchFamily="34" charset="-120"/>
              </a:rPr>
              <a:t>Feminine</a:t>
            </a:r>
            <a:endParaRPr lang="en-US" sz="1250" dirty="0"/>
          </a:p>
        </p:txBody>
      </p:sp>
      <p:sp>
        <p:nvSpPr>
          <p:cNvPr id="24" name="Shape 21"/>
          <p:cNvSpPr/>
          <p:nvPr/>
        </p:nvSpPr>
        <p:spPr>
          <a:xfrm>
            <a:off x="640080" y="2990088"/>
            <a:ext cx="256032" cy="256032"/>
          </a:xfrm>
          <a:prstGeom prst="ellipse">
            <a:avLst/>
          </a:prstGeom>
          <a:solidFill>
            <a:srgbClr val="C9CED6"/>
          </a:solidFill>
          <a:ln w="12700">
            <a:solidFill>
              <a:srgbClr val="C9CED6"/>
            </a:solidFill>
            <a:prstDash val="solid"/>
          </a:ln>
        </p:spPr>
      </p:sp>
      <p:sp>
        <p:nvSpPr>
          <p:cNvPr id="25" name="Text 22"/>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26" name="Text 23"/>
          <p:cNvSpPr txBox="1"/>
          <p:nvPr/>
        </p:nvSpPr>
        <p:spPr>
          <a:xfrm>
            <a:off x="969264" y="2889504"/>
            <a:ext cx="2977896" cy="457200"/>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ea typeface="Calibri" pitchFamily="34" charset="-122"/>
                <a:cs typeface="Calibri" pitchFamily="34" charset="-120"/>
              </a:rPr>
              <a:t>Masculine</a:t>
            </a:r>
            <a:endParaRPr lang="en-US" sz="1250" dirty="0"/>
          </a:p>
        </p:txBody>
      </p:sp>
      <p:sp>
        <p:nvSpPr>
          <p:cNvPr id="27" name="Text 24"/>
          <p:cNvSpPr txBox="1"/>
          <p:nvPr/>
        </p:nvSpPr>
        <p:spPr>
          <a:xfrm>
            <a:off x="585216" y="3566160"/>
            <a:ext cx="3380232" cy="365760"/>
          </a:xfrm>
          <a:prstGeom prst="rect">
            <a:avLst/>
          </a:prstGeom>
          <a:noFill/>
          <a:ln/>
        </p:spPr>
        <p:txBody>
          <a:bodyPr wrap="square" lIns="0" tIns="0" rIns="0" bIns="0" rtlCol="0" anchor="ctr"/>
          <a:lstStyle/>
          <a:p>
            <a:pPr algn="l" indent="0" marL="0">
              <a:buNone/>
            </a:pPr>
            <a:r>
              <a:rPr lang="ar-SA" altLang="en-US" sz="1350" dirty="0">
                <a:solidFill>
                  <a:srgbClr val="8A6D1E"/>
                </a:solidFill>
                <a:latin typeface="Amiri" pitchFamily="34" charset="0"/>
                <a:ea typeface="Amiri" pitchFamily="34" charset="-122"/>
                <a:cs typeface="Amiri" pitchFamily="34" charset="-120"/>
              </a:rPr>
              <a:t>شَمْسٌ</a:t>
            </a:r>
            <a:pPr algn="l" indent="0" marL="0">
              <a:buNone/>
            </a:pPr>
            <a:r>
              <a:rPr lang="en-US" sz="1050" i="1" dirty="0">
                <a:solidFill>
                  <a:srgbClr val="8A6D1E"/>
                </a:solidFill>
                <a:latin typeface="Calibri" pitchFamily="34" charset="0"/>
                <a:ea typeface="Calibri" pitchFamily="34" charset="-122"/>
                <a:cs typeface="Calibri" pitchFamily="34" charset="-120"/>
              </a:rPr>
              <a:t> is feminine without </a:t>
            </a:r>
            <a:pPr algn="l" indent="0" marL="0">
              <a:buNone/>
            </a:pPr>
            <a:r>
              <a:rPr lang="ar-SA" altLang="en-US" sz="1350" dirty="0">
                <a:solidFill>
                  <a:srgbClr val="8A6D1E"/>
                </a:solidFill>
                <a:latin typeface="Amiri" pitchFamily="34" charset="0"/>
                <a:ea typeface="Amiri" pitchFamily="34" charset="-122"/>
                <a:cs typeface="Amiri" pitchFamily="34" charset="-120"/>
              </a:rPr>
              <a:t>ة</a:t>
            </a:r>
            <a:pPr algn="l" indent="0" marL="0">
              <a:buNone/>
            </a:pPr>
            <a:r>
              <a:rPr lang="en-US" sz="1050" i="1" dirty="0">
                <a:solidFill>
                  <a:srgbClr val="8A6D1E"/>
                </a:solidFill>
                <a:latin typeface="Calibri" pitchFamily="34" charset="0"/>
                <a:ea typeface="Calibri" pitchFamily="34" charset="-122"/>
                <a:cs typeface="Calibri" pitchFamily="34" charset="-120"/>
              </a:rPr>
              <a:t>.</a:t>
            </a:r>
            <a:endParaRPr lang="en-US" sz="1050" dirty="0"/>
          </a:p>
        </p:txBody>
      </p:sp>
      <p:sp>
        <p:nvSpPr>
          <p:cNvPr id="28" name="Shape 25"/>
          <p:cNvSpPr/>
          <p:nvPr/>
        </p:nvSpPr>
        <p:spPr>
          <a:xfrm>
            <a:off x="4276344"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9" name="Shape 26"/>
          <p:cNvSpPr/>
          <p:nvPr/>
        </p:nvSpPr>
        <p:spPr>
          <a:xfrm>
            <a:off x="4404360" y="1947672"/>
            <a:ext cx="310896" cy="310896"/>
          </a:xfrm>
          <a:prstGeom prst="ellipse">
            <a:avLst/>
          </a:prstGeom>
          <a:solidFill>
            <a:srgbClr val="1B3B6F"/>
          </a:solidFill>
          <a:ln w="12700">
            <a:solidFill>
              <a:srgbClr val="1B3B6F"/>
            </a:solidFill>
            <a:prstDash val="solid"/>
          </a:ln>
        </p:spPr>
      </p:sp>
      <p:sp>
        <p:nvSpPr>
          <p:cNvPr id="30" name="Text 27"/>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2</a:t>
            </a:r>
            <a:endParaRPr lang="en-US" sz="1100" dirty="0"/>
          </a:p>
        </p:txBody>
      </p:sp>
      <p:sp>
        <p:nvSpPr>
          <p:cNvPr id="31" name="Text 28"/>
          <p:cNvSpPr txBox="1"/>
          <p:nvPr/>
        </p:nvSpPr>
        <p:spPr>
          <a:xfrm>
            <a:off x="4770120" y="1883664"/>
            <a:ext cx="1395070" cy="475488"/>
          </a:xfrm>
          <a:prstGeom prst="rect">
            <a:avLst/>
          </a:prstGeom>
          <a:noFill/>
          <a:ln/>
        </p:spPr>
        <p:txBody>
          <a:bodyPr wrap="square" lIns="0" tIns="0" rIns="0" bIns="0" rtlCol="0" anchor="ctr"/>
          <a:lstStyle/>
          <a:p>
            <a:pPr algn="l" indent="0" marL="0">
              <a:buNone/>
            </a:pPr>
            <a:r>
              <a:rPr lang="en-US" sz="1100" b="1" dirty="0">
                <a:solidFill>
                  <a:srgbClr val="1B3B6F"/>
                </a:solidFill>
                <a:latin typeface="Calibri" pitchFamily="34" charset="0"/>
                <a:ea typeface="Calibri" pitchFamily="34" charset="-122"/>
                <a:cs typeface="Calibri" pitchFamily="34" charset="-120"/>
              </a:rPr>
              <a:t>Choose the matching demonstrative.</a:t>
            </a:r>
            <a:endParaRPr lang="en-US" sz="1100" dirty="0"/>
          </a:p>
        </p:txBody>
      </p:sp>
      <p:sp>
        <p:nvSpPr>
          <p:cNvPr id="32" name="Text 29"/>
          <p:cNvSpPr txBox="1"/>
          <p:nvPr/>
        </p:nvSpPr>
        <p:spPr>
          <a:xfrm>
            <a:off x="6225845" y="1883664"/>
            <a:ext cx="1577035" cy="475488"/>
          </a:xfrm>
          <a:prstGeom prst="rect">
            <a:avLst/>
          </a:prstGeom>
          <a:noFill/>
          <a:ln/>
        </p:spPr>
        <p:txBody>
          <a:bodyPr wrap="square" lIns="0" tIns="0" rIns="0" bIns="0" rtlCol="0" anchor="ctr"/>
          <a:lstStyle/>
          <a:p>
            <a:pPr rtl="1" algn="r" indent="0" marL="0">
              <a:buNone/>
            </a:pPr>
            <a:r>
              <a:rPr lang="ar-SA" altLang="en-US" sz="2200" b="1" dirty="0">
                <a:solidFill>
                  <a:srgbClr val="1B3B6F"/>
                </a:solidFill>
                <a:latin typeface="Amiri" pitchFamily="34" charset="0"/>
                <a:ea typeface="Amiri" pitchFamily="34" charset="-122"/>
                <a:cs typeface="Amiri" pitchFamily="34" charset="-120"/>
              </a:rPr>
              <a:t>عَيْنٌ</a:t>
            </a:r>
            <a:endParaRPr lang="ar-SA" sz="2200" dirty="0"/>
          </a:p>
        </p:txBody>
      </p:sp>
      <p:sp>
        <p:nvSpPr>
          <p:cNvPr id="33" name="Shape 30"/>
          <p:cNvSpPr/>
          <p:nvPr/>
        </p:nvSpPr>
        <p:spPr>
          <a:xfrm>
            <a:off x="4459224" y="2490216"/>
            <a:ext cx="256032" cy="256032"/>
          </a:xfrm>
          <a:prstGeom prst="ellipse">
            <a:avLst/>
          </a:prstGeom>
          <a:solidFill>
            <a:srgbClr val="C9CED6"/>
          </a:solidFill>
          <a:ln w="12700">
            <a:solidFill>
              <a:srgbClr val="C9CED6"/>
            </a:solidFill>
            <a:prstDash val="solid"/>
          </a:ln>
        </p:spPr>
      </p:sp>
      <p:sp>
        <p:nvSpPr>
          <p:cNvPr id="34" name="Text 31"/>
          <p:cNvSpPr txBox="1"/>
          <p:nvPr/>
        </p:nvSpPr>
        <p:spPr>
          <a:xfrm>
            <a:off x="4459224"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A</a:t>
            </a:r>
            <a:endParaRPr lang="en-US" sz="900" dirty="0"/>
          </a:p>
        </p:txBody>
      </p:sp>
      <p:sp>
        <p:nvSpPr>
          <p:cNvPr id="35" name="Text 32"/>
          <p:cNvSpPr txBox="1"/>
          <p:nvPr/>
        </p:nvSpPr>
        <p:spPr>
          <a:xfrm>
            <a:off x="4788408" y="2432304"/>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34" charset="0"/>
                <a:ea typeface="Amiri" pitchFamily="34" charset="-122"/>
                <a:cs typeface="Amiri" pitchFamily="34" charset="-120"/>
              </a:rPr>
              <a:t>هَذَا</a:t>
            </a:r>
            <a:endParaRPr lang="ar-SA" sz="1700" dirty="0"/>
          </a:p>
        </p:txBody>
      </p:sp>
      <p:sp>
        <p:nvSpPr>
          <p:cNvPr id="36" name="Shape 33"/>
          <p:cNvSpPr/>
          <p:nvPr/>
        </p:nvSpPr>
        <p:spPr>
          <a:xfrm>
            <a:off x="4459224" y="2862072"/>
            <a:ext cx="256032" cy="256032"/>
          </a:xfrm>
          <a:prstGeom prst="ellipse">
            <a:avLst/>
          </a:prstGeom>
          <a:solidFill>
            <a:srgbClr val="C9CED6"/>
          </a:solidFill>
          <a:ln w="12700">
            <a:solidFill>
              <a:srgbClr val="C9CED6"/>
            </a:solidFill>
            <a:prstDash val="solid"/>
          </a:ln>
        </p:spPr>
      </p:sp>
      <p:sp>
        <p:nvSpPr>
          <p:cNvPr id="37" name="Text 34"/>
          <p:cNvSpPr txBox="1"/>
          <p:nvPr/>
        </p:nvSpPr>
        <p:spPr>
          <a:xfrm>
            <a:off x="4459224"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38" name="Text 35"/>
          <p:cNvSpPr txBox="1"/>
          <p:nvPr/>
        </p:nvSpPr>
        <p:spPr>
          <a:xfrm>
            <a:off x="4788408" y="2804160"/>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34" charset="0"/>
                <a:ea typeface="Amiri" pitchFamily="34" charset="-122"/>
                <a:cs typeface="Amiri" pitchFamily="34" charset="-120"/>
              </a:rPr>
              <a:t>هُوَ</a:t>
            </a:r>
            <a:endParaRPr lang="ar-SA" sz="1700" dirty="0"/>
          </a:p>
        </p:txBody>
      </p:sp>
      <p:sp>
        <p:nvSpPr>
          <p:cNvPr id="39" name="Shape 36"/>
          <p:cNvSpPr/>
          <p:nvPr/>
        </p:nvSpPr>
        <p:spPr>
          <a:xfrm>
            <a:off x="4367784" y="3197352"/>
            <a:ext cx="3453384" cy="347472"/>
          </a:xfrm>
          <a:prstGeom prst="roundRect">
            <a:avLst>
              <a:gd name="adj" fmla="val 15789"/>
            </a:avLst>
          </a:prstGeom>
          <a:solidFill>
            <a:srgbClr val="E6F4EC"/>
          </a:solidFill>
          <a:ln w="9525">
            <a:solidFill>
              <a:srgbClr val="2E8B57"/>
            </a:solidFill>
            <a:prstDash val="solid"/>
          </a:ln>
        </p:spPr>
      </p:sp>
      <p:sp>
        <p:nvSpPr>
          <p:cNvPr id="40" name="Shape 37"/>
          <p:cNvSpPr/>
          <p:nvPr/>
        </p:nvSpPr>
        <p:spPr>
          <a:xfrm>
            <a:off x="4459224" y="3233928"/>
            <a:ext cx="256032" cy="256032"/>
          </a:xfrm>
          <a:prstGeom prst="ellipse">
            <a:avLst/>
          </a:prstGeom>
          <a:solidFill>
            <a:srgbClr val="2E8B57"/>
          </a:solidFill>
          <a:ln w="12700">
            <a:solidFill>
              <a:srgbClr val="2E8B57"/>
            </a:solidFill>
            <a:prstDash val="solid"/>
          </a:ln>
        </p:spPr>
      </p:sp>
      <p:sp>
        <p:nvSpPr>
          <p:cNvPr id="41" name="Text 38"/>
          <p:cNvSpPr txBox="1"/>
          <p:nvPr/>
        </p:nvSpPr>
        <p:spPr>
          <a:xfrm>
            <a:off x="4459224" y="323392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C</a:t>
            </a:r>
            <a:endParaRPr lang="en-US" sz="900" dirty="0"/>
          </a:p>
        </p:txBody>
      </p:sp>
      <p:sp>
        <p:nvSpPr>
          <p:cNvPr id="42" name="Text 39"/>
          <p:cNvSpPr txBox="1"/>
          <p:nvPr/>
        </p:nvSpPr>
        <p:spPr>
          <a:xfrm>
            <a:off x="4788408" y="3176016"/>
            <a:ext cx="2977896"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34" charset="0"/>
                <a:ea typeface="Amiri" pitchFamily="34" charset="-122"/>
                <a:cs typeface="Amiri" pitchFamily="34" charset="-120"/>
              </a:rPr>
              <a:t>هَذِهِ</a:t>
            </a:r>
            <a:endParaRPr lang="ar-SA" sz="1700" dirty="0"/>
          </a:p>
        </p:txBody>
      </p:sp>
      <p:sp>
        <p:nvSpPr>
          <p:cNvPr id="43" name="Text 40"/>
          <p:cNvSpPr txBox="1"/>
          <p:nvPr/>
        </p:nvSpPr>
        <p:spPr>
          <a:xfrm>
            <a:off x="4404360" y="3566160"/>
            <a:ext cx="3380232" cy="365760"/>
          </a:xfrm>
          <a:prstGeom prst="rect">
            <a:avLst/>
          </a:prstGeom>
          <a:noFill/>
          <a:ln/>
        </p:spPr>
        <p:txBody>
          <a:bodyPr wrap="square" lIns="0" tIns="0" rIns="0" bIns="0" rtlCol="0" anchor="ctr"/>
          <a:lstStyle/>
          <a:p>
            <a:pPr algn="l" indent="0" marL="0">
              <a:buNone/>
            </a:pPr>
            <a:r>
              <a:rPr lang="ar-SA" altLang="en-US" sz="1350" dirty="0">
                <a:solidFill>
                  <a:srgbClr val="8A6D1E"/>
                </a:solidFill>
                <a:latin typeface="Amiri" pitchFamily="34" charset="0"/>
                <a:ea typeface="Amiri" pitchFamily="34" charset="-122"/>
                <a:cs typeface="Amiri" pitchFamily="34" charset="-120"/>
              </a:rPr>
              <a:t>عَيْنٌ</a:t>
            </a:r>
            <a:pPr algn="l" indent="0" marL="0">
              <a:buNone/>
            </a:pPr>
            <a:r>
              <a:rPr lang="en-US" sz="1050" i="1" dirty="0">
                <a:solidFill>
                  <a:srgbClr val="8A6D1E"/>
                </a:solidFill>
                <a:latin typeface="Calibri" pitchFamily="34" charset="0"/>
                <a:ea typeface="Calibri" pitchFamily="34" charset="-122"/>
                <a:cs typeface="Calibri" pitchFamily="34" charset="-120"/>
              </a:rPr>
              <a:t> is feminine, so use </a:t>
            </a:r>
            <a:pPr algn="l" indent="0" marL="0">
              <a:buNone/>
            </a:pPr>
            <a:r>
              <a:rPr lang="ar-SA" altLang="en-US" sz="1350" dirty="0">
                <a:solidFill>
                  <a:srgbClr val="8A6D1E"/>
                </a:solidFill>
                <a:latin typeface="Amiri" pitchFamily="34" charset="0"/>
                <a:ea typeface="Amiri" pitchFamily="34" charset="-122"/>
                <a:cs typeface="Amiri" pitchFamily="34" charset="-120"/>
              </a:rPr>
              <a:t>هَذِهِ</a:t>
            </a:r>
            <a:pPr algn="l" indent="0" marL="0">
              <a:buNone/>
            </a:pPr>
            <a:r>
              <a:rPr lang="en-US" sz="1050" i="1" dirty="0">
                <a:solidFill>
                  <a:srgbClr val="8A6D1E"/>
                </a:solidFill>
                <a:latin typeface="Calibri" pitchFamily="34" charset="0"/>
                <a:ea typeface="Calibri" pitchFamily="34" charset="-122"/>
                <a:cs typeface="Calibri" pitchFamily="34" charset="-120"/>
              </a:rPr>
              <a:t>.</a:t>
            </a:r>
            <a:endParaRPr lang="en-US" sz="1050" dirty="0"/>
          </a:p>
        </p:txBody>
      </p:sp>
      <p:sp>
        <p:nvSpPr>
          <p:cNvPr id="44" name="Shape 41"/>
          <p:cNvSpPr/>
          <p:nvPr/>
        </p:nvSpPr>
        <p:spPr>
          <a:xfrm>
            <a:off x="8095488"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5" name="Shape 42"/>
          <p:cNvSpPr/>
          <p:nvPr/>
        </p:nvSpPr>
        <p:spPr>
          <a:xfrm>
            <a:off x="8223504" y="1947672"/>
            <a:ext cx="310896" cy="310896"/>
          </a:xfrm>
          <a:prstGeom prst="ellipse">
            <a:avLst/>
          </a:prstGeom>
          <a:solidFill>
            <a:srgbClr val="1B3B6F"/>
          </a:solidFill>
          <a:ln w="12700">
            <a:solidFill>
              <a:srgbClr val="1B3B6F"/>
            </a:solidFill>
            <a:prstDash val="solid"/>
          </a:ln>
        </p:spPr>
      </p:sp>
      <p:sp>
        <p:nvSpPr>
          <p:cNvPr id="46" name="Text 43"/>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3</a:t>
            </a:r>
            <a:endParaRPr lang="en-US" sz="1100" dirty="0"/>
          </a:p>
        </p:txBody>
      </p:sp>
      <p:sp>
        <p:nvSpPr>
          <p:cNvPr id="47" name="Text 44"/>
          <p:cNvSpPr txBox="1"/>
          <p:nvPr/>
        </p:nvSpPr>
        <p:spPr>
          <a:xfrm>
            <a:off x="8589264" y="1883664"/>
            <a:ext cx="1395070" cy="475488"/>
          </a:xfrm>
          <a:prstGeom prst="rect">
            <a:avLst/>
          </a:prstGeom>
          <a:noFill/>
          <a:ln/>
        </p:spPr>
        <p:txBody>
          <a:bodyPr wrap="square" lIns="0" tIns="0" rIns="0" bIns="0" rtlCol="0" anchor="ctr"/>
          <a:lstStyle/>
          <a:p>
            <a:pPr algn="l" indent="0" marL="0">
              <a:buNone/>
            </a:pPr>
            <a:r>
              <a:rPr lang="en-US" sz="1200" b="1" dirty="0">
                <a:solidFill>
                  <a:srgbClr val="1B3B6F"/>
                </a:solidFill>
                <a:latin typeface="Calibri" pitchFamily="34" charset="0"/>
                <a:ea typeface="Calibri" pitchFamily="34" charset="-122"/>
                <a:cs typeface="Calibri" pitchFamily="34" charset="-120"/>
              </a:rPr>
              <a:t>Choose the accurate phrase.</a:t>
            </a:r>
            <a:endParaRPr lang="en-US" sz="1200" dirty="0"/>
          </a:p>
        </p:txBody>
      </p:sp>
      <p:sp>
        <p:nvSpPr>
          <p:cNvPr id="48" name="Text 45"/>
          <p:cNvSpPr txBox="1"/>
          <p:nvPr/>
        </p:nvSpPr>
        <p:spPr>
          <a:xfrm>
            <a:off x="10044989" y="1883664"/>
            <a:ext cx="1577035" cy="475488"/>
          </a:xfrm>
          <a:prstGeom prst="rect">
            <a:avLst/>
          </a:prstGeom>
          <a:noFill/>
          <a:ln/>
        </p:spPr>
        <p:txBody>
          <a:bodyPr wrap="square" lIns="0" tIns="0" rIns="0" bIns="0" rtlCol="0" anchor="ctr"/>
          <a:lstStyle/>
          <a:p>
            <a:pPr rtl="1" algn="r" indent="0" marL="0">
              <a:buNone/>
            </a:pPr>
            <a:r>
              <a:rPr lang="ar-SA" altLang="en-US" sz="2200" b="1" dirty="0">
                <a:solidFill>
                  <a:srgbClr val="1B3B6F"/>
                </a:solidFill>
                <a:latin typeface="Amiri" pitchFamily="34" charset="0"/>
                <a:ea typeface="Amiri" pitchFamily="34" charset="-122"/>
                <a:cs typeface="Amiri" pitchFamily="34" charset="-120"/>
              </a:rPr>
              <a:t>أُمٌّ</a:t>
            </a:r>
            <a:endParaRPr lang="ar-SA" sz="2200" dirty="0"/>
          </a:p>
        </p:txBody>
      </p:sp>
      <p:sp>
        <p:nvSpPr>
          <p:cNvPr id="49" name="Shape 46"/>
          <p:cNvSpPr/>
          <p:nvPr/>
        </p:nvSpPr>
        <p:spPr>
          <a:xfrm>
            <a:off x="8186928" y="2453640"/>
            <a:ext cx="3453384" cy="347472"/>
          </a:xfrm>
          <a:prstGeom prst="roundRect">
            <a:avLst>
              <a:gd name="adj" fmla="val 15789"/>
            </a:avLst>
          </a:prstGeom>
          <a:solidFill>
            <a:srgbClr val="E6F4EC"/>
          </a:solidFill>
          <a:ln w="9525">
            <a:solidFill>
              <a:srgbClr val="2E8B57"/>
            </a:solidFill>
            <a:prstDash val="solid"/>
          </a:ln>
        </p:spPr>
      </p:sp>
      <p:sp>
        <p:nvSpPr>
          <p:cNvPr id="50" name="Shape 47"/>
          <p:cNvSpPr/>
          <p:nvPr/>
        </p:nvSpPr>
        <p:spPr>
          <a:xfrm>
            <a:off x="8278368" y="2490216"/>
            <a:ext cx="256032" cy="256032"/>
          </a:xfrm>
          <a:prstGeom prst="ellipse">
            <a:avLst/>
          </a:prstGeom>
          <a:solidFill>
            <a:srgbClr val="2E8B57"/>
          </a:solidFill>
          <a:ln w="12700">
            <a:solidFill>
              <a:srgbClr val="2E8B57"/>
            </a:solidFill>
            <a:prstDash val="solid"/>
          </a:ln>
        </p:spPr>
      </p:sp>
      <p:sp>
        <p:nvSpPr>
          <p:cNvPr id="51" name="Text 48"/>
          <p:cNvSpPr txBox="1"/>
          <p:nvPr/>
        </p:nvSpPr>
        <p:spPr>
          <a:xfrm>
            <a:off x="8278368" y="249021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A</a:t>
            </a:r>
            <a:endParaRPr lang="en-US" sz="900" dirty="0"/>
          </a:p>
        </p:txBody>
      </p:sp>
      <p:sp>
        <p:nvSpPr>
          <p:cNvPr id="52" name="Text 49"/>
          <p:cNvSpPr txBox="1"/>
          <p:nvPr/>
        </p:nvSpPr>
        <p:spPr>
          <a:xfrm>
            <a:off x="8607552" y="2432304"/>
            <a:ext cx="2977896"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34" charset="0"/>
                <a:ea typeface="Amiri" pitchFamily="34" charset="-122"/>
                <a:cs typeface="Amiri" pitchFamily="34" charset="-120"/>
              </a:rPr>
              <a:t>أُمٌّ جَمِيلَةٌ</a:t>
            </a:r>
            <a:endParaRPr lang="ar-SA" sz="1700" dirty="0"/>
          </a:p>
        </p:txBody>
      </p:sp>
      <p:sp>
        <p:nvSpPr>
          <p:cNvPr id="53" name="Shape 50"/>
          <p:cNvSpPr/>
          <p:nvPr/>
        </p:nvSpPr>
        <p:spPr>
          <a:xfrm>
            <a:off x="8278368" y="2862072"/>
            <a:ext cx="256032" cy="256032"/>
          </a:xfrm>
          <a:prstGeom prst="ellipse">
            <a:avLst/>
          </a:prstGeom>
          <a:solidFill>
            <a:srgbClr val="C9CED6"/>
          </a:solidFill>
          <a:ln w="12700">
            <a:solidFill>
              <a:srgbClr val="C9CED6"/>
            </a:solidFill>
            <a:prstDash val="solid"/>
          </a:ln>
        </p:spPr>
      </p:sp>
      <p:sp>
        <p:nvSpPr>
          <p:cNvPr id="54" name="Text 51"/>
          <p:cNvSpPr txBox="1"/>
          <p:nvPr/>
        </p:nvSpPr>
        <p:spPr>
          <a:xfrm>
            <a:off x="8278368"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55" name="Text 52"/>
          <p:cNvSpPr txBox="1"/>
          <p:nvPr/>
        </p:nvSpPr>
        <p:spPr>
          <a:xfrm>
            <a:off x="8607552" y="2804160"/>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34" charset="0"/>
                <a:ea typeface="Amiri" pitchFamily="34" charset="-122"/>
                <a:cs typeface="Amiri" pitchFamily="34" charset="-120"/>
              </a:rPr>
              <a:t>أُمٌّ جَمِيلٌ</a:t>
            </a:r>
            <a:endParaRPr lang="ar-SA" sz="1700" dirty="0"/>
          </a:p>
        </p:txBody>
      </p:sp>
      <p:sp>
        <p:nvSpPr>
          <p:cNvPr id="56" name="Shape 53"/>
          <p:cNvSpPr/>
          <p:nvPr/>
        </p:nvSpPr>
        <p:spPr>
          <a:xfrm>
            <a:off x="8278368" y="3233928"/>
            <a:ext cx="256032" cy="256032"/>
          </a:xfrm>
          <a:prstGeom prst="ellipse">
            <a:avLst/>
          </a:prstGeom>
          <a:solidFill>
            <a:srgbClr val="C9CED6"/>
          </a:solidFill>
          <a:ln w="12700">
            <a:solidFill>
              <a:srgbClr val="C9CED6"/>
            </a:solidFill>
            <a:prstDash val="solid"/>
          </a:ln>
        </p:spPr>
      </p:sp>
      <p:sp>
        <p:nvSpPr>
          <p:cNvPr id="57" name="Text 54"/>
          <p:cNvSpPr txBox="1"/>
          <p:nvPr/>
        </p:nvSpPr>
        <p:spPr>
          <a:xfrm>
            <a:off x="8278368"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C</a:t>
            </a:r>
            <a:endParaRPr lang="en-US" sz="900" dirty="0"/>
          </a:p>
        </p:txBody>
      </p:sp>
      <p:sp>
        <p:nvSpPr>
          <p:cNvPr id="58" name="Text 55"/>
          <p:cNvSpPr txBox="1"/>
          <p:nvPr/>
        </p:nvSpPr>
        <p:spPr>
          <a:xfrm>
            <a:off x="8607552" y="3176016"/>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34" charset="0"/>
                <a:ea typeface="Amiri" pitchFamily="34" charset="-122"/>
                <a:cs typeface="Amiri" pitchFamily="34" charset="-120"/>
              </a:rPr>
              <a:t>جَمِيلَةٌ أُمٌّ</a:t>
            </a:r>
            <a:endParaRPr lang="ar-SA" sz="1700" dirty="0"/>
          </a:p>
        </p:txBody>
      </p:sp>
      <p:sp>
        <p:nvSpPr>
          <p:cNvPr id="59" name="Text 56"/>
          <p:cNvSpPr txBox="1"/>
          <p:nvPr/>
        </p:nvSpPr>
        <p:spPr>
          <a:xfrm>
            <a:off x="8223504" y="3566160"/>
            <a:ext cx="3380232" cy="365760"/>
          </a:xfrm>
          <a:prstGeom prst="rect">
            <a:avLst/>
          </a:prstGeom>
          <a:noFill/>
          <a:ln/>
        </p:spPr>
        <p:txBody>
          <a:bodyPr wrap="square" lIns="0" tIns="0" rIns="0" bIns="0" rtlCol="0" anchor="ctr"/>
          <a:lstStyle/>
          <a:p>
            <a:pPr algn="l" indent="0" marL="0">
              <a:buNone/>
            </a:pPr>
            <a:r>
              <a:rPr lang="ar-SA" altLang="en-US" sz="1350" dirty="0">
                <a:solidFill>
                  <a:srgbClr val="8A6D1E"/>
                </a:solidFill>
                <a:latin typeface="Amiri" pitchFamily="34" charset="0"/>
                <a:ea typeface="Amiri" pitchFamily="34" charset="-122"/>
                <a:cs typeface="Amiri" pitchFamily="34" charset="-120"/>
              </a:rPr>
              <a:t>أُمٌّ</a:t>
            </a:r>
            <a:pPr algn="l" indent="0" marL="0">
              <a:buNone/>
            </a:pPr>
            <a:r>
              <a:rPr lang="en-US" sz="1050" i="1" dirty="0">
                <a:solidFill>
                  <a:srgbClr val="8A6D1E"/>
                </a:solidFill>
                <a:latin typeface="Calibri" pitchFamily="34" charset="0"/>
                <a:ea typeface="Calibri" pitchFamily="34" charset="-122"/>
                <a:cs typeface="Calibri" pitchFamily="34" charset="-120"/>
              </a:rPr>
              <a:t> is feminine, so it takes </a:t>
            </a:r>
            <a:pPr algn="l" indent="0" marL="0">
              <a:buNone/>
            </a:pPr>
            <a:r>
              <a:rPr lang="ar-SA" altLang="en-US" sz="1350" dirty="0">
                <a:solidFill>
                  <a:srgbClr val="8A6D1E"/>
                </a:solidFill>
                <a:latin typeface="Amiri" pitchFamily="34" charset="0"/>
                <a:ea typeface="Amiri" pitchFamily="34" charset="-122"/>
                <a:cs typeface="Amiri" pitchFamily="34" charset="-120"/>
              </a:rPr>
              <a:t>جَمِيلَةٌ</a:t>
            </a:r>
            <a:pPr algn="l" indent="0" marL="0">
              <a:buNone/>
            </a:pPr>
            <a:r>
              <a:rPr lang="en-US" sz="1050" i="1" dirty="0">
                <a:solidFill>
                  <a:srgbClr val="8A6D1E"/>
                </a:solidFill>
                <a:latin typeface="Calibri" pitchFamily="34" charset="0"/>
                <a:ea typeface="Calibri" pitchFamily="34" charset="-122"/>
                <a:cs typeface="Calibri" pitchFamily="34" charset="-120"/>
              </a:rPr>
              <a:t>.</a:t>
            </a:r>
            <a:endParaRPr lang="en-US" sz="1050" dirty="0"/>
          </a:p>
        </p:txBody>
      </p:sp>
      <p:sp>
        <p:nvSpPr>
          <p:cNvPr id="60" name="Shape 57"/>
          <p:cNvSpPr/>
          <p:nvPr/>
        </p:nvSpPr>
        <p:spPr>
          <a:xfrm>
            <a:off x="457200"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1" name="Shape 58"/>
          <p:cNvSpPr/>
          <p:nvPr/>
        </p:nvSpPr>
        <p:spPr>
          <a:xfrm>
            <a:off x="585216" y="4288536"/>
            <a:ext cx="310896" cy="310896"/>
          </a:xfrm>
          <a:prstGeom prst="ellipse">
            <a:avLst/>
          </a:prstGeom>
          <a:solidFill>
            <a:srgbClr val="1B3B6F"/>
          </a:solidFill>
          <a:ln w="12700">
            <a:solidFill>
              <a:srgbClr val="1B3B6F"/>
            </a:solidFill>
            <a:prstDash val="solid"/>
          </a:ln>
        </p:spPr>
      </p:sp>
      <p:sp>
        <p:nvSpPr>
          <p:cNvPr id="62" name="Text 59"/>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4</a:t>
            </a:r>
            <a:endParaRPr lang="en-US" sz="1100" dirty="0"/>
          </a:p>
        </p:txBody>
      </p:sp>
      <p:sp>
        <p:nvSpPr>
          <p:cNvPr id="63" name="Text 60"/>
          <p:cNvSpPr txBox="1"/>
          <p:nvPr/>
        </p:nvSpPr>
        <p:spPr>
          <a:xfrm>
            <a:off x="950976" y="4224528"/>
            <a:ext cx="1395070" cy="475488"/>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ea typeface="Calibri" pitchFamily="34" charset="-122"/>
                <a:cs typeface="Calibri" pitchFamily="34" charset="-120"/>
              </a:rPr>
              <a:t>Choose the accurate sentence.</a:t>
            </a:r>
            <a:endParaRPr lang="en-US" sz="1150" dirty="0"/>
          </a:p>
        </p:txBody>
      </p:sp>
      <p:sp>
        <p:nvSpPr>
          <p:cNvPr id="64" name="Text 61"/>
          <p:cNvSpPr txBox="1"/>
          <p:nvPr/>
        </p:nvSpPr>
        <p:spPr>
          <a:xfrm>
            <a:off x="2406701" y="4224528"/>
            <a:ext cx="1577035" cy="475488"/>
          </a:xfrm>
          <a:prstGeom prst="rect">
            <a:avLst/>
          </a:prstGeom>
          <a:noFill/>
          <a:ln/>
        </p:spPr>
        <p:txBody>
          <a:bodyPr wrap="square" lIns="0" tIns="0" rIns="0" bIns="0" rtlCol="0" anchor="ctr"/>
          <a:lstStyle/>
          <a:p>
            <a:pPr rtl="1" algn="r" indent="0" marL="0">
              <a:buNone/>
            </a:pPr>
            <a:r>
              <a:rPr lang="ar-SA" altLang="en-US" sz="2200" b="1" dirty="0">
                <a:solidFill>
                  <a:srgbClr val="1B3B6F"/>
                </a:solidFill>
                <a:latin typeface="Amiri" pitchFamily="34" charset="0"/>
                <a:ea typeface="Amiri" pitchFamily="34" charset="-122"/>
                <a:cs typeface="Amiri" pitchFamily="34" charset="-120"/>
              </a:rPr>
              <a:t>زَمِيلَةٌ</a:t>
            </a:r>
            <a:endParaRPr lang="ar-SA" sz="2200" dirty="0"/>
          </a:p>
        </p:txBody>
      </p:sp>
      <p:sp>
        <p:nvSpPr>
          <p:cNvPr id="65" name="Shape 62"/>
          <p:cNvSpPr/>
          <p:nvPr/>
        </p:nvSpPr>
        <p:spPr>
          <a:xfrm>
            <a:off x="640080" y="4831080"/>
            <a:ext cx="256032" cy="256032"/>
          </a:xfrm>
          <a:prstGeom prst="ellipse">
            <a:avLst/>
          </a:prstGeom>
          <a:solidFill>
            <a:srgbClr val="C9CED6"/>
          </a:solidFill>
          <a:ln w="12700">
            <a:solidFill>
              <a:srgbClr val="C9CED6"/>
            </a:solidFill>
            <a:prstDash val="solid"/>
          </a:ln>
        </p:spPr>
      </p:sp>
      <p:sp>
        <p:nvSpPr>
          <p:cNvPr id="66" name="Text 63"/>
          <p:cNvSpPr txBox="1"/>
          <p:nvPr/>
        </p:nvSpPr>
        <p:spPr>
          <a:xfrm>
            <a:off x="640080" y="4831080"/>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A</a:t>
            </a:r>
            <a:endParaRPr lang="en-US" sz="900" dirty="0"/>
          </a:p>
        </p:txBody>
      </p:sp>
      <p:sp>
        <p:nvSpPr>
          <p:cNvPr id="67" name="Text 64"/>
          <p:cNvSpPr txBox="1"/>
          <p:nvPr/>
        </p:nvSpPr>
        <p:spPr>
          <a:xfrm>
            <a:off x="969264" y="4773168"/>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34" charset="0"/>
                <a:ea typeface="Amiri" pitchFamily="34" charset="-122"/>
                <a:cs typeface="Amiri" pitchFamily="34" charset="-120"/>
              </a:rPr>
              <a:t>هَذَا زَمِيلَةٌ سَعِيدٌ.</a:t>
            </a:r>
            <a:endParaRPr lang="ar-SA" sz="1700" dirty="0"/>
          </a:p>
        </p:txBody>
      </p:sp>
      <p:sp>
        <p:nvSpPr>
          <p:cNvPr id="68" name="Shape 65"/>
          <p:cNvSpPr/>
          <p:nvPr/>
        </p:nvSpPr>
        <p:spPr>
          <a:xfrm>
            <a:off x="548640" y="5166360"/>
            <a:ext cx="3453384" cy="347472"/>
          </a:xfrm>
          <a:prstGeom prst="roundRect">
            <a:avLst>
              <a:gd name="adj" fmla="val 15789"/>
            </a:avLst>
          </a:prstGeom>
          <a:solidFill>
            <a:srgbClr val="E6F4EC"/>
          </a:solidFill>
          <a:ln w="9525">
            <a:solidFill>
              <a:srgbClr val="2E8B57"/>
            </a:solidFill>
            <a:prstDash val="solid"/>
          </a:ln>
        </p:spPr>
      </p:sp>
      <p:sp>
        <p:nvSpPr>
          <p:cNvPr id="69" name="Shape 66"/>
          <p:cNvSpPr/>
          <p:nvPr/>
        </p:nvSpPr>
        <p:spPr>
          <a:xfrm>
            <a:off x="640080" y="5202936"/>
            <a:ext cx="256032" cy="256032"/>
          </a:xfrm>
          <a:prstGeom prst="ellipse">
            <a:avLst/>
          </a:prstGeom>
          <a:solidFill>
            <a:srgbClr val="2E8B57"/>
          </a:solidFill>
          <a:ln w="12700">
            <a:solidFill>
              <a:srgbClr val="2E8B57"/>
            </a:solidFill>
            <a:prstDash val="solid"/>
          </a:ln>
        </p:spPr>
      </p:sp>
      <p:sp>
        <p:nvSpPr>
          <p:cNvPr id="70" name="Text 67"/>
          <p:cNvSpPr txBox="1"/>
          <p:nvPr/>
        </p:nvSpPr>
        <p:spPr>
          <a:xfrm>
            <a:off x="640080" y="520293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B</a:t>
            </a:r>
            <a:endParaRPr lang="en-US" sz="900" dirty="0"/>
          </a:p>
        </p:txBody>
      </p:sp>
      <p:sp>
        <p:nvSpPr>
          <p:cNvPr id="71" name="Text 68"/>
          <p:cNvSpPr txBox="1"/>
          <p:nvPr/>
        </p:nvSpPr>
        <p:spPr>
          <a:xfrm>
            <a:off x="969264" y="5145024"/>
            <a:ext cx="2977896"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34" charset="0"/>
                <a:ea typeface="Amiri" pitchFamily="34" charset="-122"/>
                <a:cs typeface="Amiri" pitchFamily="34" charset="-120"/>
              </a:rPr>
              <a:t>هَذِهِ زَمِيلَةٌ سَعِيدَةٌ.</a:t>
            </a:r>
            <a:endParaRPr lang="ar-SA" sz="1700" dirty="0"/>
          </a:p>
        </p:txBody>
      </p:sp>
      <p:sp>
        <p:nvSpPr>
          <p:cNvPr id="72" name="Shape 69"/>
          <p:cNvSpPr/>
          <p:nvPr/>
        </p:nvSpPr>
        <p:spPr>
          <a:xfrm>
            <a:off x="640080" y="5574792"/>
            <a:ext cx="256032" cy="256032"/>
          </a:xfrm>
          <a:prstGeom prst="ellipse">
            <a:avLst/>
          </a:prstGeom>
          <a:solidFill>
            <a:srgbClr val="C9CED6"/>
          </a:solidFill>
          <a:ln w="12700">
            <a:solidFill>
              <a:srgbClr val="C9CED6"/>
            </a:solidFill>
            <a:prstDash val="solid"/>
          </a:ln>
        </p:spPr>
      </p:sp>
      <p:sp>
        <p:nvSpPr>
          <p:cNvPr id="73" name="Text 70"/>
          <p:cNvSpPr txBox="1"/>
          <p:nvPr/>
        </p:nvSpPr>
        <p:spPr>
          <a:xfrm>
            <a:off x="640080"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C</a:t>
            </a:r>
            <a:endParaRPr lang="en-US" sz="900" dirty="0"/>
          </a:p>
        </p:txBody>
      </p:sp>
      <p:sp>
        <p:nvSpPr>
          <p:cNvPr id="74" name="Text 71"/>
          <p:cNvSpPr txBox="1"/>
          <p:nvPr/>
        </p:nvSpPr>
        <p:spPr>
          <a:xfrm>
            <a:off x="969264" y="5516880"/>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34" charset="0"/>
                <a:ea typeface="Amiri" pitchFamily="34" charset="-122"/>
                <a:cs typeface="Amiri" pitchFamily="34" charset="-120"/>
              </a:rPr>
              <a:t>هَذِهِ زَمِيلٌ سَعِيدَةٌ.</a:t>
            </a:r>
            <a:endParaRPr lang="ar-SA" sz="1700" dirty="0"/>
          </a:p>
        </p:txBody>
      </p:sp>
      <p:sp>
        <p:nvSpPr>
          <p:cNvPr id="75" name="Text 72"/>
          <p:cNvSpPr txBox="1"/>
          <p:nvPr/>
        </p:nvSpPr>
        <p:spPr>
          <a:xfrm>
            <a:off x="585216" y="5907024"/>
            <a:ext cx="3380232" cy="365760"/>
          </a:xfrm>
          <a:prstGeom prst="rect">
            <a:avLst/>
          </a:prstGeom>
          <a:noFill/>
          <a:ln/>
        </p:spPr>
        <p:txBody>
          <a:bodyPr wrap="square" lIns="0" tIns="0" rIns="0" bIns="0" rtlCol="0" anchor="ctr"/>
          <a:lstStyle/>
          <a:p>
            <a:pPr algn="l" indent="0" marL="0">
              <a:buNone/>
            </a:pPr>
            <a:r>
              <a:rPr lang="ar-SA" altLang="en-US" sz="1350" dirty="0">
                <a:solidFill>
                  <a:srgbClr val="8A6D1E"/>
                </a:solidFill>
                <a:latin typeface="Amiri" pitchFamily="34" charset="0"/>
                <a:ea typeface="Amiri" pitchFamily="34" charset="-122"/>
                <a:cs typeface="Amiri" pitchFamily="34" charset="-120"/>
              </a:rPr>
              <a:t>هَذِهِ</a:t>
            </a:r>
            <a:pPr algn="l" indent="0" marL="0">
              <a:buNone/>
            </a:pPr>
            <a:r>
              <a:rPr lang="en-US" sz="1050" i="1" dirty="0">
                <a:solidFill>
                  <a:srgbClr val="8A6D1E"/>
                </a:solidFill>
                <a:latin typeface="Calibri" pitchFamily="34" charset="0"/>
                <a:ea typeface="Calibri" pitchFamily="34" charset="-122"/>
                <a:cs typeface="Calibri" pitchFamily="34" charset="-120"/>
              </a:rPr>
              <a:t>, </a:t>
            </a:r>
            <a:pPr algn="l" indent="0" marL="0">
              <a:buNone/>
            </a:pPr>
            <a:r>
              <a:rPr lang="ar-SA" altLang="en-US" sz="1350" dirty="0">
                <a:solidFill>
                  <a:srgbClr val="8A6D1E"/>
                </a:solidFill>
                <a:latin typeface="Amiri" pitchFamily="34" charset="0"/>
                <a:ea typeface="Amiri" pitchFamily="34" charset="-122"/>
                <a:cs typeface="Amiri" pitchFamily="34" charset="-120"/>
              </a:rPr>
              <a:t>زَمِيلَةٌ</a:t>
            </a:r>
            <a:pPr algn="l" indent="0" marL="0">
              <a:buNone/>
            </a:pPr>
            <a:r>
              <a:rPr lang="en-US" sz="1050" i="1" dirty="0">
                <a:solidFill>
                  <a:srgbClr val="8A6D1E"/>
                </a:solidFill>
                <a:latin typeface="Calibri" pitchFamily="34" charset="0"/>
                <a:ea typeface="Calibri" pitchFamily="34" charset="-122"/>
                <a:cs typeface="Calibri" pitchFamily="34" charset="-120"/>
              </a:rPr>
              <a:t> and </a:t>
            </a:r>
            <a:pPr algn="l" indent="0" marL="0">
              <a:buNone/>
            </a:pPr>
            <a:r>
              <a:rPr lang="ar-SA" altLang="en-US" sz="1350" dirty="0">
                <a:solidFill>
                  <a:srgbClr val="8A6D1E"/>
                </a:solidFill>
                <a:latin typeface="Amiri" pitchFamily="34" charset="0"/>
                <a:ea typeface="Amiri" pitchFamily="34" charset="-122"/>
                <a:cs typeface="Amiri" pitchFamily="34" charset="-120"/>
              </a:rPr>
              <a:t>سَعِيدَةٌ</a:t>
            </a:r>
            <a:pPr algn="l" indent="0" marL="0">
              <a:buNone/>
            </a:pPr>
            <a:r>
              <a:rPr lang="en-US" sz="1050" i="1" dirty="0">
                <a:solidFill>
                  <a:srgbClr val="8A6D1E"/>
                </a:solidFill>
                <a:latin typeface="Calibri" pitchFamily="34" charset="0"/>
                <a:ea typeface="Calibri" pitchFamily="34" charset="-122"/>
                <a:cs typeface="Calibri" pitchFamily="34" charset="-120"/>
              </a:rPr>
              <a:t> agree.</a:t>
            </a:r>
            <a:endParaRPr lang="en-US" sz="1050" dirty="0"/>
          </a:p>
        </p:txBody>
      </p:sp>
      <p:sp>
        <p:nvSpPr>
          <p:cNvPr id="76" name="Shape 73"/>
          <p:cNvSpPr/>
          <p:nvPr/>
        </p:nvSpPr>
        <p:spPr>
          <a:xfrm>
            <a:off x="4276344"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77" name="Shape 74"/>
          <p:cNvSpPr/>
          <p:nvPr/>
        </p:nvSpPr>
        <p:spPr>
          <a:xfrm>
            <a:off x="4404360" y="4288536"/>
            <a:ext cx="310896" cy="310896"/>
          </a:xfrm>
          <a:prstGeom prst="ellipse">
            <a:avLst/>
          </a:prstGeom>
          <a:solidFill>
            <a:srgbClr val="1B3B6F"/>
          </a:solidFill>
          <a:ln w="12700">
            <a:solidFill>
              <a:srgbClr val="1B3B6F"/>
            </a:solidFill>
            <a:prstDash val="solid"/>
          </a:ln>
        </p:spPr>
      </p:sp>
      <p:sp>
        <p:nvSpPr>
          <p:cNvPr id="78" name="Text 75"/>
          <p:cNvSpPr txBox="1"/>
          <p:nvPr/>
        </p:nvSpPr>
        <p:spPr>
          <a:xfrm>
            <a:off x="4404360"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5</a:t>
            </a:r>
            <a:endParaRPr lang="en-US" sz="1100" dirty="0"/>
          </a:p>
        </p:txBody>
      </p:sp>
      <p:sp>
        <p:nvSpPr>
          <p:cNvPr id="79" name="Text 76"/>
          <p:cNvSpPr txBox="1"/>
          <p:nvPr/>
        </p:nvSpPr>
        <p:spPr>
          <a:xfrm>
            <a:off x="4770120" y="4224528"/>
            <a:ext cx="1395070" cy="475488"/>
          </a:xfrm>
          <a:prstGeom prst="rect">
            <a:avLst/>
          </a:prstGeom>
          <a:noFill/>
          <a:ln/>
        </p:spPr>
        <p:txBody>
          <a:bodyPr wrap="square" lIns="0" tIns="0" rIns="0" bIns="0" rtlCol="0" anchor="ctr"/>
          <a:lstStyle/>
          <a:p>
            <a:pPr algn="l" indent="0" marL="0">
              <a:buNone/>
            </a:pPr>
            <a:r>
              <a:rPr lang="en-US" sz="1100" b="1" dirty="0">
                <a:solidFill>
                  <a:srgbClr val="1B3B6F"/>
                </a:solidFill>
                <a:latin typeface="Calibri" pitchFamily="34" charset="0"/>
                <a:ea typeface="Calibri" pitchFamily="34" charset="-122"/>
                <a:cs typeface="Calibri" pitchFamily="34" charset="-120"/>
              </a:rPr>
              <a:t>Choose the matching description.</a:t>
            </a:r>
            <a:endParaRPr lang="en-US" sz="1100" dirty="0"/>
          </a:p>
        </p:txBody>
      </p:sp>
      <p:sp>
        <p:nvSpPr>
          <p:cNvPr id="80" name="Text 77"/>
          <p:cNvSpPr txBox="1"/>
          <p:nvPr/>
        </p:nvSpPr>
        <p:spPr>
          <a:xfrm>
            <a:off x="6225845" y="4224528"/>
            <a:ext cx="1577035" cy="475488"/>
          </a:xfrm>
          <a:prstGeom prst="rect">
            <a:avLst/>
          </a:prstGeom>
          <a:noFill/>
          <a:ln/>
        </p:spPr>
        <p:txBody>
          <a:bodyPr wrap="square" lIns="0" tIns="0" rIns="0" bIns="0" rtlCol="0" anchor="ctr"/>
          <a:lstStyle/>
          <a:p>
            <a:pPr rtl="1" algn="r" indent="0" marL="0">
              <a:buNone/>
            </a:pPr>
            <a:r>
              <a:rPr lang="ar-SA" altLang="en-US" sz="2200" b="1" dirty="0">
                <a:solidFill>
                  <a:srgbClr val="1B3B6F"/>
                </a:solidFill>
                <a:latin typeface="Amiri" pitchFamily="34" charset="0"/>
                <a:ea typeface="Amiri" pitchFamily="34" charset="-122"/>
                <a:cs typeface="Amiri" pitchFamily="34" charset="-120"/>
              </a:rPr>
              <a:t>أُخْتٌ</a:t>
            </a:r>
            <a:endParaRPr lang="ar-SA" sz="2200" dirty="0"/>
          </a:p>
        </p:txBody>
      </p:sp>
      <p:sp>
        <p:nvSpPr>
          <p:cNvPr id="81" name="Shape 78"/>
          <p:cNvSpPr/>
          <p:nvPr/>
        </p:nvSpPr>
        <p:spPr>
          <a:xfrm>
            <a:off x="4367784" y="4794504"/>
            <a:ext cx="3453384" cy="347472"/>
          </a:xfrm>
          <a:prstGeom prst="roundRect">
            <a:avLst>
              <a:gd name="adj" fmla="val 15789"/>
            </a:avLst>
          </a:prstGeom>
          <a:solidFill>
            <a:srgbClr val="E6F4EC"/>
          </a:solidFill>
          <a:ln w="9525">
            <a:solidFill>
              <a:srgbClr val="2E8B57"/>
            </a:solidFill>
            <a:prstDash val="solid"/>
          </a:ln>
        </p:spPr>
      </p:sp>
      <p:sp>
        <p:nvSpPr>
          <p:cNvPr id="82" name="Shape 79"/>
          <p:cNvSpPr/>
          <p:nvPr/>
        </p:nvSpPr>
        <p:spPr>
          <a:xfrm>
            <a:off x="4459224" y="4831080"/>
            <a:ext cx="256032" cy="256032"/>
          </a:xfrm>
          <a:prstGeom prst="ellipse">
            <a:avLst/>
          </a:prstGeom>
          <a:solidFill>
            <a:srgbClr val="2E8B57"/>
          </a:solidFill>
          <a:ln w="12700">
            <a:solidFill>
              <a:srgbClr val="2E8B57"/>
            </a:solidFill>
            <a:prstDash val="solid"/>
          </a:ln>
        </p:spPr>
      </p:sp>
      <p:sp>
        <p:nvSpPr>
          <p:cNvPr id="83" name="Text 80"/>
          <p:cNvSpPr txBox="1"/>
          <p:nvPr/>
        </p:nvSpPr>
        <p:spPr>
          <a:xfrm>
            <a:off x="4459224" y="4831080"/>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A</a:t>
            </a:r>
            <a:endParaRPr lang="en-US" sz="900" dirty="0"/>
          </a:p>
        </p:txBody>
      </p:sp>
      <p:sp>
        <p:nvSpPr>
          <p:cNvPr id="84" name="Text 81"/>
          <p:cNvSpPr txBox="1"/>
          <p:nvPr/>
        </p:nvSpPr>
        <p:spPr>
          <a:xfrm>
            <a:off x="4788408" y="4773168"/>
            <a:ext cx="2977896"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34" charset="0"/>
                <a:ea typeface="Amiri" pitchFamily="34" charset="-122"/>
                <a:cs typeface="Amiri" pitchFamily="34" charset="-120"/>
              </a:rPr>
              <a:t>أُخْتٌ قَصِيرَةٌ</a:t>
            </a:r>
            <a:endParaRPr lang="ar-SA" sz="1700" dirty="0"/>
          </a:p>
        </p:txBody>
      </p:sp>
      <p:sp>
        <p:nvSpPr>
          <p:cNvPr id="85" name="Shape 82"/>
          <p:cNvSpPr/>
          <p:nvPr/>
        </p:nvSpPr>
        <p:spPr>
          <a:xfrm>
            <a:off x="4459224" y="5202936"/>
            <a:ext cx="256032" cy="256032"/>
          </a:xfrm>
          <a:prstGeom prst="ellipse">
            <a:avLst/>
          </a:prstGeom>
          <a:solidFill>
            <a:srgbClr val="C9CED6"/>
          </a:solidFill>
          <a:ln w="12700">
            <a:solidFill>
              <a:srgbClr val="C9CED6"/>
            </a:solidFill>
            <a:prstDash val="solid"/>
          </a:ln>
        </p:spPr>
      </p:sp>
      <p:sp>
        <p:nvSpPr>
          <p:cNvPr id="86" name="Text 83"/>
          <p:cNvSpPr txBox="1"/>
          <p:nvPr/>
        </p:nvSpPr>
        <p:spPr>
          <a:xfrm>
            <a:off x="4459224"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87" name="Text 84"/>
          <p:cNvSpPr txBox="1"/>
          <p:nvPr/>
        </p:nvSpPr>
        <p:spPr>
          <a:xfrm>
            <a:off x="4788408" y="5145024"/>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34" charset="0"/>
                <a:ea typeface="Amiri" pitchFamily="34" charset="-122"/>
                <a:cs typeface="Amiri" pitchFamily="34" charset="-120"/>
              </a:rPr>
              <a:t>أُخْتٌ قَصِيرٌ</a:t>
            </a:r>
            <a:endParaRPr lang="ar-SA" sz="1700" dirty="0"/>
          </a:p>
        </p:txBody>
      </p:sp>
      <p:sp>
        <p:nvSpPr>
          <p:cNvPr id="88" name="Shape 85"/>
          <p:cNvSpPr/>
          <p:nvPr/>
        </p:nvSpPr>
        <p:spPr>
          <a:xfrm>
            <a:off x="4459224" y="5574792"/>
            <a:ext cx="256032" cy="256032"/>
          </a:xfrm>
          <a:prstGeom prst="ellipse">
            <a:avLst/>
          </a:prstGeom>
          <a:solidFill>
            <a:srgbClr val="C9CED6"/>
          </a:solidFill>
          <a:ln w="12700">
            <a:solidFill>
              <a:srgbClr val="C9CED6"/>
            </a:solidFill>
            <a:prstDash val="solid"/>
          </a:ln>
        </p:spPr>
      </p:sp>
      <p:sp>
        <p:nvSpPr>
          <p:cNvPr id="89" name="Text 86"/>
          <p:cNvSpPr txBox="1"/>
          <p:nvPr/>
        </p:nvSpPr>
        <p:spPr>
          <a:xfrm>
            <a:off x="4459224"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C</a:t>
            </a:r>
            <a:endParaRPr lang="en-US" sz="900" dirty="0"/>
          </a:p>
        </p:txBody>
      </p:sp>
      <p:sp>
        <p:nvSpPr>
          <p:cNvPr id="90" name="Text 87"/>
          <p:cNvSpPr txBox="1"/>
          <p:nvPr/>
        </p:nvSpPr>
        <p:spPr>
          <a:xfrm>
            <a:off x="4788408" y="5516880"/>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34" charset="0"/>
                <a:ea typeface="Amiri" pitchFamily="34" charset="-122"/>
                <a:cs typeface="Amiri" pitchFamily="34" charset="-120"/>
              </a:rPr>
              <a:t>قَصِيرَةٌ أُخْتٌ</a:t>
            </a:r>
            <a:endParaRPr lang="ar-SA" sz="1700" dirty="0"/>
          </a:p>
        </p:txBody>
      </p:sp>
      <p:sp>
        <p:nvSpPr>
          <p:cNvPr id="91" name="Text 88"/>
          <p:cNvSpPr txBox="1"/>
          <p:nvPr/>
        </p:nvSpPr>
        <p:spPr>
          <a:xfrm>
            <a:off x="4404360" y="5907024"/>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ea typeface="Calibri" pitchFamily="34" charset="-122"/>
                <a:cs typeface="Calibri" pitchFamily="34" charset="-120"/>
              </a:rPr>
              <a:t>The noun is feminine, so the adjective is </a:t>
            </a:r>
            <a:pPr algn="l" indent="0" marL="0">
              <a:buNone/>
            </a:pPr>
            <a:r>
              <a:rPr lang="ar-SA" altLang="en-US" sz="1350" dirty="0">
                <a:solidFill>
                  <a:srgbClr val="8A6D1E"/>
                </a:solidFill>
                <a:latin typeface="Amiri" pitchFamily="34" charset="0"/>
                <a:ea typeface="Amiri" pitchFamily="34" charset="-122"/>
                <a:cs typeface="Amiri" pitchFamily="34" charset="-120"/>
              </a:rPr>
              <a:t>قَصِيرَةٌ</a:t>
            </a:r>
            <a:pPr algn="l" indent="0" marL="0">
              <a:buNone/>
            </a:pPr>
            <a:r>
              <a:rPr lang="en-US" sz="1050" i="1" dirty="0">
                <a:solidFill>
                  <a:srgbClr val="8A6D1E"/>
                </a:solidFill>
                <a:latin typeface="Calibri" pitchFamily="34" charset="0"/>
                <a:ea typeface="Calibri" pitchFamily="34" charset="-122"/>
                <a:cs typeface="Calibri" pitchFamily="34" charset="-120"/>
              </a:rPr>
              <a:t>.</a:t>
            </a:r>
            <a:endParaRPr lang="en-US" sz="1050" dirty="0"/>
          </a:p>
        </p:txBody>
      </p:sp>
      <p:sp>
        <p:nvSpPr>
          <p:cNvPr id="92" name="Shape 89"/>
          <p:cNvSpPr/>
          <p:nvPr/>
        </p:nvSpPr>
        <p:spPr>
          <a:xfrm>
            <a:off x="8095488" y="4151376"/>
            <a:ext cx="3636264" cy="2157984"/>
          </a:xfrm>
          <a:prstGeom prst="roundRect">
            <a:avLst>
              <a:gd name="adj" fmla="val 3390"/>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93" name="Shape 90"/>
          <p:cNvSpPr/>
          <p:nvPr/>
        </p:nvSpPr>
        <p:spPr>
          <a:xfrm>
            <a:off x="8717280" y="4361688"/>
            <a:ext cx="914400" cy="274320"/>
          </a:xfrm>
          <a:prstGeom prst="roundRect">
            <a:avLst>
              <a:gd name="adj" fmla="val 50000"/>
            </a:avLst>
          </a:prstGeom>
          <a:solidFill>
            <a:srgbClr val="2E8B57"/>
          </a:solidFill>
          <a:ln w="12700">
            <a:solidFill>
              <a:srgbClr val="2E8B57"/>
            </a:solidFill>
            <a:prstDash val="solid"/>
          </a:ln>
        </p:spPr>
      </p:sp>
      <p:sp>
        <p:nvSpPr>
          <p:cNvPr id="94" name="Text 91"/>
          <p:cNvSpPr txBox="1"/>
          <p:nvPr/>
        </p:nvSpPr>
        <p:spPr>
          <a:xfrm>
            <a:off x="8717280" y="4361688"/>
            <a:ext cx="91440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ea typeface="Calibri" pitchFamily="34" charset="-122"/>
                <a:cs typeface="Calibri" pitchFamily="34" charset="-120"/>
              </a:rPr>
              <a:t>CORE</a:t>
            </a:r>
            <a:endParaRPr lang="en-US" sz="850" dirty="0"/>
          </a:p>
        </p:txBody>
      </p:sp>
      <p:sp>
        <p:nvSpPr>
          <p:cNvPr id="95" name="Text 92"/>
          <p:cNvSpPr txBox="1"/>
          <p:nvPr/>
        </p:nvSpPr>
        <p:spPr>
          <a:xfrm>
            <a:off x="8296656" y="4791456"/>
            <a:ext cx="3270504" cy="1380744"/>
          </a:xfrm>
          <a:prstGeom prst="rect">
            <a:avLst/>
          </a:prstGeom>
          <a:noFill/>
          <a:ln/>
        </p:spPr>
        <p:txBody>
          <a:bodyPr wrap="square" lIns="0" tIns="0" rIns="0" bIns="0" rtlCol="0" anchor="t"/>
          <a:lstStyle/>
          <a:p>
            <a:pPr algn="l" indent="0" marL="0">
              <a:buNone/>
            </a:pPr>
            <a:r>
              <a:rPr lang="en-US" sz="1250" dirty="0">
                <a:solidFill>
                  <a:srgbClr val="1E6B52"/>
                </a:solidFill>
                <a:latin typeface="Calibri" pitchFamily="34" charset="0"/>
                <a:ea typeface="Calibri" pitchFamily="34" charset="-122"/>
                <a:cs typeface="Calibri" pitchFamily="34" charset="-120"/>
              </a:rPr>
              <a:t>Step 1: masculine or feminine?</a:t>
            </a:r>
            <a:endParaRPr lang="en-US" sz="1250" dirty="0"/>
          </a:p>
          <a:p>
            <a:pPr algn="l" indent="0" marL="0">
              <a:buNone/>
            </a:pPr>
            <a:r>
              <a:rPr lang="en-US" sz="1250" dirty="0">
                <a:solidFill>
                  <a:srgbClr val="1E6B52"/>
                </a:solidFill>
                <a:latin typeface="Calibri" pitchFamily="34" charset="0"/>
                <a:ea typeface="Calibri" pitchFamily="34" charset="-122"/>
                <a:cs typeface="Calibri" pitchFamily="34" charset="-120"/>
              </a:rPr>
              <a:t>Step 2: every word matches.</a:t>
            </a:r>
            <a:endParaRPr lang="en-US" sz="1250" dirty="0"/>
          </a:p>
          <a:p>
            <a:pPr algn="l" indent="0" marL="0">
              <a:buNone/>
            </a:pPr>
            <a:r>
              <a:rPr lang="en-US" sz="1250" dirty="0">
                <a:solidFill>
                  <a:srgbClr val="1E6B52"/>
                </a:solidFill>
                <a:latin typeface="Calibri" pitchFamily="34" charset="0"/>
                <a:ea typeface="Calibri" pitchFamily="34" charset="-122"/>
                <a:cs typeface="Calibri" pitchFamily="34" charset="-120"/>
              </a:rPr>
              <a:t>Step 3: noun first.</a:t>
            </a:r>
            <a:endParaRPr lang="en-US" sz="1250" dirty="0"/>
          </a:p>
        </p:txBody>
      </p:sp>
      <p:sp>
        <p:nvSpPr>
          <p:cNvPr id="96" name="Text 93"/>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ea typeface="Calibri" pitchFamily="34" charset="-122"/>
                <a:cs typeface="Calibri" pitchFamily="34" charset="-120"/>
              </a:rPr>
              <a:t>19 / 36</a:t>
            </a:r>
            <a:endParaRPr lang="en-US" sz="85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34" charset="0"/>
                <a:ea typeface="Amiri" pitchFamily="34" charset="-122"/>
                <a:cs typeface="Amiri" pitchFamily="34" charset="-120"/>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ea typeface="Cambria" pitchFamily="34" charset="-122"/>
                <a:cs typeface="Cambria" pitchFamily="34" charset="-120"/>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ea typeface="Calibri" pitchFamily="34" charset="-122"/>
                <a:cs typeface="Calibri" pitchFamily="34" charset="-120"/>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ea typeface="Calibri" pitchFamily="34" charset="-122"/>
                <a:cs typeface="Calibri" pitchFamily="34" charset="-120"/>
              </a:rPr>
              <a:t>F2-L05 · Masculine &amp; Feminine</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ea typeface="Calibri" pitchFamily="34" charset="-122"/>
                <a:cs typeface="Calibri" pitchFamily="34" charset="-120"/>
              </a:rPr>
              <a:t>WE DO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ea typeface="Calibri" pitchFamily="34" charset="-122"/>
                <a:cs typeface="Calibri" pitchFamily="34" charset="-120"/>
              </a:rPr>
              <a:t>WE DO · SPOT AND FIX</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ea typeface="Cambria" pitchFamily="34" charset="-122"/>
                <a:cs typeface="Cambria" pitchFamily="34" charset="-120"/>
              </a:rPr>
              <a:t>Repair the mistake</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34" charset="0"/>
                <a:ea typeface="Amiri" pitchFamily="34" charset="-122"/>
                <a:cs typeface="Amiri" pitchFamily="34" charset="-120"/>
              </a:rPr>
              <a:t>صَحِّحِ الخَطَأَ</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ea typeface="Calibri" pitchFamily="34" charset="-122"/>
                <a:cs typeface="Calibri" pitchFamily="34" charset="-120"/>
              </a:rPr>
              <a:t>Miftah Arabic · Foundation F2 · Greetings &amp; Introductions · Week 2 · Lesson 2 of 3</a:t>
            </a:r>
            <a:endParaRPr lang="en-US" sz="850" dirty="0"/>
          </a:p>
        </p:txBody>
      </p:sp>
      <p:sp>
        <p:nvSpPr>
          <p:cNvPr id="15" name="Shape 12"/>
          <p:cNvSpPr/>
          <p:nvPr/>
        </p:nvSpPr>
        <p:spPr>
          <a:xfrm>
            <a:off x="457200" y="1810512"/>
            <a:ext cx="11274552" cy="1298448"/>
          </a:xfrm>
          <a:prstGeom prst="roundRect">
            <a:avLst>
              <a:gd name="adj" fmla="val 5634"/>
            </a:avLst>
          </a:prstGeom>
          <a:solidFill>
            <a:srgbClr val="FBEAEA"/>
          </a:solidFill>
          <a:ln w="9525">
            <a:solidFill>
              <a:srgbClr val="E3B4AE"/>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11183112" y="2249424"/>
            <a:ext cx="402336" cy="402336"/>
          </a:xfrm>
          <a:prstGeom prst="ellipse">
            <a:avLst/>
          </a:prstGeom>
          <a:solidFill>
            <a:srgbClr val="B83227"/>
          </a:solidFill>
          <a:ln w="12700">
            <a:solidFill>
              <a:srgbClr val="B83227"/>
            </a:solidFill>
            <a:prstDash val="solid"/>
          </a:ln>
        </p:spPr>
      </p:sp>
      <p:sp>
        <p:nvSpPr>
          <p:cNvPr id="17" name="Text 14"/>
          <p:cNvSpPr txBox="1"/>
          <p:nvPr/>
        </p:nvSpPr>
        <p:spPr>
          <a:xfrm>
            <a:off x="11183112" y="2249424"/>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1</a:t>
            </a:r>
            <a:endParaRPr lang="en-US" sz="1300" dirty="0"/>
          </a:p>
        </p:txBody>
      </p:sp>
      <p:sp>
        <p:nvSpPr>
          <p:cNvPr id="18" name="Text 15"/>
          <p:cNvSpPr txBox="1"/>
          <p:nvPr/>
        </p:nvSpPr>
        <p:spPr>
          <a:xfrm>
            <a:off x="4023360" y="1901952"/>
            <a:ext cx="6976872" cy="1097280"/>
          </a:xfrm>
          <a:prstGeom prst="rect">
            <a:avLst/>
          </a:prstGeom>
          <a:noFill/>
          <a:ln/>
        </p:spPr>
        <p:txBody>
          <a:bodyPr wrap="square" lIns="0" tIns="0" rIns="0" bIns="0" rtlCol="0" anchor="ctr"/>
          <a:lstStyle/>
          <a:p>
            <a:pPr rtl="1" algn="r" indent="0" marL="0">
              <a:buNone/>
            </a:pPr>
            <a:r>
              <a:rPr lang="ar-SA" altLang="en-US" sz="3000" b="1" dirty="0">
                <a:solidFill>
                  <a:srgbClr val="B83227"/>
                </a:solidFill>
                <a:latin typeface="Amiri" pitchFamily="34" charset="0"/>
                <a:ea typeface="Amiri" pitchFamily="34" charset="-122"/>
                <a:cs typeface="Amiri" pitchFamily="34" charset="-120"/>
              </a:rPr>
              <a:t>زَمِيلَةٌ لَطِيفٌ</a:t>
            </a:r>
            <a:endParaRPr lang="ar-SA" sz="3000" dirty="0"/>
          </a:p>
        </p:txBody>
      </p:sp>
      <p:sp>
        <p:nvSpPr>
          <p:cNvPr id="19" name="Text 16"/>
          <p:cNvSpPr txBox="1"/>
          <p:nvPr/>
        </p:nvSpPr>
        <p:spPr>
          <a:xfrm>
            <a:off x="731520" y="1901952"/>
            <a:ext cx="3200400" cy="1097280"/>
          </a:xfrm>
          <a:prstGeom prst="rect">
            <a:avLst/>
          </a:prstGeom>
          <a:noFill/>
          <a:ln/>
        </p:spPr>
        <p:txBody>
          <a:bodyPr wrap="square" lIns="0" tIns="0" rIns="0" bIns="0" rtlCol="0" anchor="ctr"/>
          <a:lstStyle/>
          <a:p>
            <a:pPr algn="l" indent="0" marL="0">
              <a:buNone/>
            </a:pPr>
            <a:r>
              <a:rPr lang="en-US" sz="1300" i="1" dirty="0">
                <a:solidFill>
                  <a:srgbClr val="5A6472"/>
                </a:solidFill>
                <a:latin typeface="Calibri" pitchFamily="34" charset="0"/>
                <a:ea typeface="Calibri" pitchFamily="34" charset="-122"/>
                <a:cs typeface="Calibri" pitchFamily="34" charset="-120"/>
              </a:rPr>
              <a:t>The noun is feminine. What about the adjective?</a:t>
            </a:r>
            <a:endParaRPr lang="en-US" sz="1300" dirty="0"/>
          </a:p>
        </p:txBody>
      </p:sp>
      <p:sp>
        <p:nvSpPr>
          <p:cNvPr id="20" name="Shape 17"/>
          <p:cNvSpPr/>
          <p:nvPr/>
        </p:nvSpPr>
        <p:spPr>
          <a:xfrm>
            <a:off x="457200" y="3255264"/>
            <a:ext cx="11274552" cy="1298448"/>
          </a:xfrm>
          <a:prstGeom prst="roundRect">
            <a:avLst>
              <a:gd name="adj" fmla="val 5634"/>
            </a:avLst>
          </a:prstGeom>
          <a:solidFill>
            <a:srgbClr val="FBEAEA"/>
          </a:solidFill>
          <a:ln w="9525">
            <a:solidFill>
              <a:srgbClr val="E3B4AE"/>
            </a:solidFill>
            <a:prstDash val="solid"/>
          </a:ln>
          <a:effectLst>
            <a:outerShdw sx="100000" sy="100000" kx="0" ky="0" algn="bl" rotWithShape="0" blurRad="50800" dist="19050" dir="5400000">
              <a:srgbClr val="000000">
                <a:alpha val="10000"/>
              </a:srgbClr>
            </a:outerShdw>
          </a:effectLst>
        </p:spPr>
      </p:sp>
      <p:sp>
        <p:nvSpPr>
          <p:cNvPr id="21" name="Shape 18"/>
          <p:cNvSpPr/>
          <p:nvPr/>
        </p:nvSpPr>
        <p:spPr>
          <a:xfrm>
            <a:off x="11183112" y="3694176"/>
            <a:ext cx="402336" cy="402336"/>
          </a:xfrm>
          <a:prstGeom prst="ellipse">
            <a:avLst/>
          </a:prstGeom>
          <a:solidFill>
            <a:srgbClr val="B83227"/>
          </a:solidFill>
          <a:ln w="12700">
            <a:solidFill>
              <a:srgbClr val="B83227"/>
            </a:solidFill>
            <a:prstDash val="solid"/>
          </a:ln>
        </p:spPr>
      </p:sp>
      <p:sp>
        <p:nvSpPr>
          <p:cNvPr id="22" name="Text 19"/>
          <p:cNvSpPr txBox="1"/>
          <p:nvPr/>
        </p:nvSpPr>
        <p:spPr>
          <a:xfrm>
            <a:off x="11183112" y="3694176"/>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2</a:t>
            </a:r>
            <a:endParaRPr lang="en-US" sz="1300" dirty="0"/>
          </a:p>
        </p:txBody>
      </p:sp>
      <p:sp>
        <p:nvSpPr>
          <p:cNvPr id="23" name="Text 20"/>
          <p:cNvSpPr txBox="1"/>
          <p:nvPr/>
        </p:nvSpPr>
        <p:spPr>
          <a:xfrm>
            <a:off x="4023360" y="3346704"/>
            <a:ext cx="6976872" cy="1097280"/>
          </a:xfrm>
          <a:prstGeom prst="rect">
            <a:avLst/>
          </a:prstGeom>
          <a:noFill/>
          <a:ln/>
        </p:spPr>
        <p:txBody>
          <a:bodyPr wrap="square" lIns="0" tIns="0" rIns="0" bIns="0" rtlCol="0" anchor="ctr"/>
          <a:lstStyle/>
          <a:p>
            <a:pPr rtl="1" algn="r" indent="0" marL="0">
              <a:buNone/>
            </a:pPr>
            <a:r>
              <a:rPr lang="ar-SA" altLang="en-US" sz="3000" b="1" dirty="0">
                <a:solidFill>
                  <a:srgbClr val="B83227"/>
                </a:solidFill>
                <a:latin typeface="Amiri" pitchFamily="34" charset="0"/>
                <a:ea typeface="Amiri" pitchFamily="34" charset="-122"/>
                <a:cs typeface="Amiri" pitchFamily="34" charset="-120"/>
              </a:rPr>
              <a:t>جَدِيدٌ كِتَابٌ</a:t>
            </a:r>
            <a:endParaRPr lang="ar-SA" sz="3000" dirty="0"/>
          </a:p>
        </p:txBody>
      </p:sp>
      <p:sp>
        <p:nvSpPr>
          <p:cNvPr id="24" name="Text 21"/>
          <p:cNvSpPr txBox="1"/>
          <p:nvPr/>
        </p:nvSpPr>
        <p:spPr>
          <a:xfrm>
            <a:off x="731520" y="3346704"/>
            <a:ext cx="3200400" cy="1097280"/>
          </a:xfrm>
          <a:prstGeom prst="rect">
            <a:avLst/>
          </a:prstGeom>
          <a:noFill/>
          <a:ln/>
        </p:spPr>
        <p:txBody>
          <a:bodyPr wrap="square" lIns="0" tIns="0" rIns="0" bIns="0" rtlCol="0" anchor="ctr"/>
          <a:lstStyle/>
          <a:p>
            <a:pPr algn="l" indent="0" marL="0">
              <a:buNone/>
            </a:pPr>
            <a:r>
              <a:rPr lang="en-US" sz="1300" i="1" dirty="0">
                <a:solidFill>
                  <a:srgbClr val="5A6472"/>
                </a:solidFill>
                <a:latin typeface="Calibri" pitchFamily="34" charset="0"/>
                <a:ea typeface="Calibri" pitchFamily="34" charset="-122"/>
                <a:cs typeface="Calibri" pitchFamily="34" charset="-120"/>
              </a:rPr>
              <a:t>Which comes first in Arabic?</a:t>
            </a:r>
            <a:endParaRPr lang="en-US" sz="1300" dirty="0"/>
          </a:p>
        </p:txBody>
      </p:sp>
      <p:sp>
        <p:nvSpPr>
          <p:cNvPr id="25" name="Shape 22"/>
          <p:cNvSpPr/>
          <p:nvPr/>
        </p:nvSpPr>
        <p:spPr>
          <a:xfrm>
            <a:off x="457200" y="4700016"/>
            <a:ext cx="11274552" cy="1298448"/>
          </a:xfrm>
          <a:prstGeom prst="roundRect">
            <a:avLst>
              <a:gd name="adj" fmla="val 5634"/>
            </a:avLst>
          </a:prstGeom>
          <a:solidFill>
            <a:srgbClr val="FBEAEA"/>
          </a:solidFill>
          <a:ln w="9525">
            <a:solidFill>
              <a:srgbClr val="E3B4AE"/>
            </a:solidFill>
            <a:prstDash val="solid"/>
          </a:ln>
          <a:effectLst>
            <a:outerShdw sx="100000" sy="100000" kx="0" ky="0" algn="bl" rotWithShape="0" blurRad="50800" dist="19050" dir="5400000">
              <a:srgbClr val="000000">
                <a:alpha val="10000"/>
              </a:srgbClr>
            </a:outerShdw>
          </a:effectLst>
        </p:spPr>
      </p:sp>
      <p:sp>
        <p:nvSpPr>
          <p:cNvPr id="26" name="Shape 23"/>
          <p:cNvSpPr/>
          <p:nvPr/>
        </p:nvSpPr>
        <p:spPr>
          <a:xfrm>
            <a:off x="11183112" y="5138928"/>
            <a:ext cx="402336" cy="402336"/>
          </a:xfrm>
          <a:prstGeom prst="ellipse">
            <a:avLst/>
          </a:prstGeom>
          <a:solidFill>
            <a:srgbClr val="B83227"/>
          </a:solidFill>
          <a:ln w="12700">
            <a:solidFill>
              <a:srgbClr val="B83227"/>
            </a:solidFill>
            <a:prstDash val="solid"/>
          </a:ln>
        </p:spPr>
      </p:sp>
      <p:sp>
        <p:nvSpPr>
          <p:cNvPr id="27" name="Text 24"/>
          <p:cNvSpPr txBox="1"/>
          <p:nvPr/>
        </p:nvSpPr>
        <p:spPr>
          <a:xfrm>
            <a:off x="11183112" y="5138928"/>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3</a:t>
            </a:r>
            <a:endParaRPr lang="en-US" sz="1300" dirty="0"/>
          </a:p>
        </p:txBody>
      </p:sp>
      <p:sp>
        <p:nvSpPr>
          <p:cNvPr id="28" name="Text 25"/>
          <p:cNvSpPr txBox="1"/>
          <p:nvPr/>
        </p:nvSpPr>
        <p:spPr>
          <a:xfrm>
            <a:off x="4023360" y="4791456"/>
            <a:ext cx="6976872" cy="1097280"/>
          </a:xfrm>
          <a:prstGeom prst="rect">
            <a:avLst/>
          </a:prstGeom>
          <a:noFill/>
          <a:ln/>
        </p:spPr>
        <p:txBody>
          <a:bodyPr wrap="square" lIns="0" tIns="0" rIns="0" bIns="0" rtlCol="0" anchor="ctr"/>
          <a:lstStyle/>
          <a:p>
            <a:pPr rtl="1" algn="r" indent="0" marL="0">
              <a:buNone/>
            </a:pPr>
            <a:r>
              <a:rPr lang="ar-SA" altLang="en-US" sz="3000" b="1" dirty="0">
                <a:solidFill>
                  <a:srgbClr val="B83227"/>
                </a:solidFill>
                <a:latin typeface="Amiri" pitchFamily="34" charset="0"/>
                <a:ea typeface="Amiri" pitchFamily="34" charset="-122"/>
                <a:cs typeface="Amiri" pitchFamily="34" charset="-120"/>
              </a:rPr>
              <a:t>هَذَا أُخْتٌ قَصِيرَةٌ.</a:t>
            </a:r>
            <a:endParaRPr lang="ar-SA" sz="3000" dirty="0"/>
          </a:p>
        </p:txBody>
      </p:sp>
      <p:sp>
        <p:nvSpPr>
          <p:cNvPr id="29" name="Text 26"/>
          <p:cNvSpPr txBox="1"/>
          <p:nvPr/>
        </p:nvSpPr>
        <p:spPr>
          <a:xfrm>
            <a:off x="731520" y="4791456"/>
            <a:ext cx="3200400" cy="1097280"/>
          </a:xfrm>
          <a:prstGeom prst="rect">
            <a:avLst/>
          </a:prstGeom>
          <a:noFill/>
          <a:ln/>
        </p:spPr>
        <p:txBody>
          <a:bodyPr wrap="square" lIns="0" tIns="0" rIns="0" bIns="0" rtlCol="0" anchor="ctr"/>
          <a:lstStyle/>
          <a:p>
            <a:pPr algn="l" indent="0" marL="0">
              <a:buNone/>
            </a:pPr>
            <a:r>
              <a:rPr lang="ar-SA" altLang="en-US" sz="1700" dirty="0">
                <a:solidFill>
                  <a:srgbClr val="5A6472"/>
                </a:solidFill>
                <a:latin typeface="Amiri" pitchFamily="34" charset="0"/>
                <a:ea typeface="Amiri" pitchFamily="34" charset="-122"/>
                <a:cs typeface="Amiri" pitchFamily="34" charset="-120"/>
              </a:rPr>
              <a:t>أُخْتٌ</a:t>
            </a:r>
            <a:pPr algn="l" indent="0" marL="0">
              <a:buNone/>
            </a:pPr>
            <a:r>
              <a:rPr lang="en-US" sz="1300" i="1" dirty="0">
                <a:solidFill>
                  <a:srgbClr val="5A6472"/>
                </a:solidFill>
                <a:latin typeface="Calibri" pitchFamily="34" charset="0"/>
                <a:ea typeface="Calibri" pitchFamily="34" charset="-122"/>
                <a:cs typeface="Calibri" pitchFamily="34" charset="-120"/>
              </a:rPr>
              <a:t> has no </a:t>
            </a:r>
            <a:pPr algn="l" indent="0" marL="0">
              <a:buNone/>
            </a:pPr>
            <a:r>
              <a:rPr lang="ar-SA" altLang="en-US" sz="1700" dirty="0">
                <a:solidFill>
                  <a:srgbClr val="5A6472"/>
                </a:solidFill>
                <a:latin typeface="Amiri" pitchFamily="34" charset="0"/>
                <a:ea typeface="Amiri" pitchFamily="34" charset="-122"/>
                <a:cs typeface="Amiri" pitchFamily="34" charset="-120"/>
              </a:rPr>
              <a:t>ة</a:t>
            </a:r>
            <a:pPr algn="l" indent="0" marL="0">
              <a:buNone/>
            </a:pPr>
            <a:r>
              <a:rPr lang="en-US" sz="1300" i="1" dirty="0">
                <a:solidFill>
                  <a:srgbClr val="5A6472"/>
                </a:solidFill>
                <a:latin typeface="Calibri" pitchFamily="34" charset="0"/>
                <a:ea typeface="Calibri" pitchFamily="34" charset="-122"/>
                <a:cs typeface="Calibri" pitchFamily="34" charset="-120"/>
              </a:rPr>
              <a:t> — but is it masculine?</a:t>
            </a:r>
            <a:endParaRPr lang="en-US" sz="1300" dirty="0"/>
          </a:p>
        </p:txBody>
      </p:sp>
      <p:sp>
        <p:nvSpPr>
          <p:cNvPr id="30" name="Text 2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ea typeface="Calibri" pitchFamily="34" charset="-122"/>
                <a:cs typeface="Calibri" pitchFamily="34" charset="-120"/>
              </a:rPr>
              <a:t>20 / 36</a:t>
            </a:r>
            <a:endParaRPr lang="en-US" sz="85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34" charset="0"/>
                <a:ea typeface="Amiri" pitchFamily="34" charset="-122"/>
                <a:cs typeface="Amiri" pitchFamily="34" charset="-120"/>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ea typeface="Cambria" pitchFamily="34" charset="-122"/>
                <a:cs typeface="Cambria" pitchFamily="34" charset="-120"/>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ea typeface="Calibri" pitchFamily="34" charset="-122"/>
                <a:cs typeface="Calibri" pitchFamily="34" charset="-120"/>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ea typeface="Calibri" pitchFamily="34" charset="-122"/>
                <a:cs typeface="Calibri" pitchFamily="34" charset="-120"/>
              </a:rPr>
              <a:t>F2-L05 · Masculine &amp; Feminine</a:t>
            </a:r>
            <a:endParaRPr lang="en-US" sz="950" dirty="0"/>
          </a:p>
        </p:txBody>
      </p:sp>
      <p:sp>
        <p:nvSpPr>
          <p:cNvPr id="8" name="Shape 6"/>
          <p:cNvSpPr/>
          <p:nvPr/>
        </p:nvSpPr>
        <p:spPr>
          <a:xfrm>
            <a:off x="7388352" y="274320"/>
            <a:ext cx="1371600"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ea typeface="Calibri" pitchFamily="34" charset="-122"/>
                <a:cs typeface="Calibri" pitchFamily="34" charset="-120"/>
              </a:rPr>
              <a:t>WE DO</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ea typeface="Calibri" pitchFamily="34" charset="-122"/>
                <a:cs typeface="Calibri" pitchFamily="34" charset="-120"/>
              </a:rPr>
              <a:t>WE DO · CORRECTIONS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ea typeface="Cambria" pitchFamily="34" charset="-122"/>
                <a:cs typeface="Cambria" pitchFamily="34" charset="-120"/>
              </a:rPr>
              <a:t>Fixed — and why</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34" charset="0"/>
                <a:ea typeface="Amiri" pitchFamily="34" charset="-122"/>
                <a:cs typeface="Amiri" pitchFamily="34" charset="-120"/>
              </a:rPr>
              <a:t>التَّصْحِيحُ وَالسَّبَبُ</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ea typeface="Calibri" pitchFamily="34" charset="-122"/>
                <a:cs typeface="Calibri" pitchFamily="34" charset="-120"/>
              </a:rPr>
              <a:t>Miftah Arabic · Foundation F2 · Greetings &amp; Introductions · Week 2 · Lesson 2 of 3</a:t>
            </a:r>
            <a:endParaRPr lang="en-US" sz="850" dirty="0"/>
          </a:p>
        </p:txBody>
      </p:sp>
      <p:sp>
        <p:nvSpPr>
          <p:cNvPr id="15" name="Shape 12"/>
          <p:cNvSpPr/>
          <p:nvPr/>
        </p:nvSpPr>
        <p:spPr>
          <a:xfrm>
            <a:off x="457200" y="1810512"/>
            <a:ext cx="11274552" cy="1298448"/>
          </a:xfrm>
          <a:prstGeom prst="roundRect">
            <a:avLst>
              <a:gd name="adj" fmla="val 5634"/>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8503920" y="1901952"/>
            <a:ext cx="3063240" cy="1097280"/>
          </a:xfrm>
          <a:prstGeom prst="rect">
            <a:avLst/>
          </a:prstGeom>
          <a:noFill/>
          <a:ln/>
        </p:spPr>
        <p:txBody>
          <a:bodyPr wrap="square" lIns="0" tIns="0" rIns="0" bIns="0" rtlCol="0" anchor="ctr"/>
          <a:lstStyle/>
          <a:p>
            <a:pPr rtl="1" algn="r" indent="0" marL="0">
              <a:buNone/>
            </a:pPr>
            <a:r>
              <a:rPr lang="ar-SA" altLang="en-US" sz="1800" b="1" dirty="0">
                <a:solidFill>
                  <a:srgbClr val="B83227"/>
                </a:solidFill>
                <a:latin typeface="Amiri" pitchFamily="34" charset="0"/>
                <a:ea typeface="Amiri" pitchFamily="34" charset="-122"/>
                <a:cs typeface="Amiri" pitchFamily="34" charset="-120"/>
              </a:rPr>
              <a:t>زَمِيلَةٌ لَطِيفٌ</a:t>
            </a:r>
            <a:endParaRPr lang="ar-SA" sz="1800" dirty="0"/>
          </a:p>
        </p:txBody>
      </p:sp>
      <p:sp>
        <p:nvSpPr>
          <p:cNvPr id="17" name="Shape 14"/>
          <p:cNvSpPr/>
          <p:nvPr/>
        </p:nvSpPr>
        <p:spPr>
          <a:xfrm>
            <a:off x="8641080" y="2459736"/>
            <a:ext cx="2834640" cy="0"/>
          </a:xfrm>
          <a:prstGeom prst="line">
            <a:avLst/>
          </a:prstGeom>
          <a:noFill/>
          <a:ln w="15875">
            <a:solidFill>
              <a:srgbClr val="B83227"/>
            </a:solidFill>
            <a:prstDash val="solid"/>
          </a:ln>
        </p:spPr>
      </p:sp>
      <p:sp>
        <p:nvSpPr>
          <p:cNvPr id="18" name="Text 15"/>
          <p:cNvSpPr txBox="1"/>
          <p:nvPr/>
        </p:nvSpPr>
        <p:spPr>
          <a:xfrm>
            <a:off x="8138160" y="1901952"/>
            <a:ext cx="365760" cy="1097280"/>
          </a:xfrm>
          <a:prstGeom prst="rect">
            <a:avLst/>
          </a:prstGeom>
          <a:noFill/>
          <a:ln/>
        </p:spPr>
        <p:txBody>
          <a:bodyPr wrap="square" lIns="0" tIns="0" rIns="0" bIns="0" rtlCol="0" anchor="ctr"/>
          <a:lstStyle/>
          <a:p>
            <a:pPr algn="ctr" indent="0" marL="0">
              <a:buNone/>
            </a:pPr>
            <a:r>
              <a:rPr lang="en-US" sz="2000" dirty="0">
                <a:solidFill>
                  <a:srgbClr val="5A6472"/>
                </a:solidFill>
                <a:latin typeface="Calibri" pitchFamily="34" charset="0"/>
                <a:ea typeface="Calibri" pitchFamily="34" charset="-122"/>
                <a:cs typeface="Calibri" pitchFamily="34" charset="-120"/>
              </a:rPr>
              <a:t>←</a:t>
            </a:r>
            <a:endParaRPr lang="en-US" sz="2000" dirty="0"/>
          </a:p>
        </p:txBody>
      </p:sp>
      <p:sp>
        <p:nvSpPr>
          <p:cNvPr id="19" name="Text 16"/>
          <p:cNvSpPr txBox="1"/>
          <p:nvPr/>
        </p:nvSpPr>
        <p:spPr>
          <a:xfrm>
            <a:off x="3566160" y="1901952"/>
            <a:ext cx="4526280" cy="1097280"/>
          </a:xfrm>
          <a:prstGeom prst="rect">
            <a:avLst/>
          </a:prstGeom>
          <a:noFill/>
          <a:ln/>
        </p:spPr>
        <p:txBody>
          <a:bodyPr wrap="square" lIns="0" tIns="0" rIns="0" bIns="0" rtlCol="0" anchor="ctr"/>
          <a:lstStyle/>
          <a:p>
            <a:pPr rtl="1" algn="r" indent="0" marL="0">
              <a:buNone/>
            </a:pPr>
            <a:r>
              <a:rPr lang="ar-SA" altLang="en-US" sz="2400" b="1" dirty="0">
                <a:solidFill>
                  <a:srgbClr val="1E6B52"/>
                </a:solidFill>
                <a:latin typeface="Amiri" pitchFamily="34" charset="0"/>
                <a:ea typeface="Amiri" pitchFamily="34" charset="-122"/>
                <a:cs typeface="Amiri" pitchFamily="34" charset="-120"/>
              </a:rPr>
              <a:t>زَمِيلَةٌ لَطِيفَةٌ</a:t>
            </a:r>
            <a:endParaRPr lang="ar-SA" sz="2400" dirty="0"/>
          </a:p>
        </p:txBody>
      </p:sp>
      <p:sp>
        <p:nvSpPr>
          <p:cNvPr id="20" name="Text 17"/>
          <p:cNvSpPr txBox="1"/>
          <p:nvPr/>
        </p:nvSpPr>
        <p:spPr>
          <a:xfrm>
            <a:off x="685800" y="1901952"/>
            <a:ext cx="2788920" cy="109728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ea typeface="Calibri" pitchFamily="34" charset="-122"/>
                <a:cs typeface="Calibri" pitchFamily="34" charset="-120"/>
              </a:rPr>
              <a:t>The noun is feminine, so the adjective is feminine too.</a:t>
            </a:r>
            <a:endParaRPr lang="en-US" sz="1150" dirty="0"/>
          </a:p>
        </p:txBody>
      </p:sp>
      <p:sp>
        <p:nvSpPr>
          <p:cNvPr id="21" name="Shape 18"/>
          <p:cNvSpPr/>
          <p:nvPr/>
        </p:nvSpPr>
        <p:spPr>
          <a:xfrm>
            <a:off x="457200" y="3255264"/>
            <a:ext cx="11274552" cy="1298448"/>
          </a:xfrm>
          <a:prstGeom prst="roundRect">
            <a:avLst>
              <a:gd name="adj" fmla="val 5634"/>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22" name="Text 19"/>
          <p:cNvSpPr txBox="1"/>
          <p:nvPr/>
        </p:nvSpPr>
        <p:spPr>
          <a:xfrm>
            <a:off x="8503920" y="3346704"/>
            <a:ext cx="3063240" cy="1097280"/>
          </a:xfrm>
          <a:prstGeom prst="rect">
            <a:avLst/>
          </a:prstGeom>
          <a:noFill/>
          <a:ln/>
        </p:spPr>
        <p:txBody>
          <a:bodyPr wrap="square" lIns="0" tIns="0" rIns="0" bIns="0" rtlCol="0" anchor="ctr"/>
          <a:lstStyle/>
          <a:p>
            <a:pPr rtl="1" algn="r" indent="0" marL="0">
              <a:buNone/>
            </a:pPr>
            <a:r>
              <a:rPr lang="ar-SA" altLang="en-US" sz="1800" b="1" dirty="0">
                <a:solidFill>
                  <a:srgbClr val="B83227"/>
                </a:solidFill>
                <a:latin typeface="Amiri" pitchFamily="34" charset="0"/>
                <a:ea typeface="Amiri" pitchFamily="34" charset="-122"/>
                <a:cs typeface="Amiri" pitchFamily="34" charset="-120"/>
              </a:rPr>
              <a:t>جَدِيدٌ كِتَابٌ</a:t>
            </a:r>
            <a:endParaRPr lang="ar-SA" sz="1800" dirty="0"/>
          </a:p>
        </p:txBody>
      </p:sp>
      <p:sp>
        <p:nvSpPr>
          <p:cNvPr id="23" name="Shape 20"/>
          <p:cNvSpPr/>
          <p:nvPr/>
        </p:nvSpPr>
        <p:spPr>
          <a:xfrm>
            <a:off x="8641080" y="3904488"/>
            <a:ext cx="2834640" cy="0"/>
          </a:xfrm>
          <a:prstGeom prst="line">
            <a:avLst/>
          </a:prstGeom>
          <a:noFill/>
          <a:ln w="15875">
            <a:solidFill>
              <a:srgbClr val="B83227"/>
            </a:solidFill>
            <a:prstDash val="solid"/>
          </a:ln>
        </p:spPr>
      </p:sp>
      <p:sp>
        <p:nvSpPr>
          <p:cNvPr id="24" name="Text 21"/>
          <p:cNvSpPr txBox="1"/>
          <p:nvPr/>
        </p:nvSpPr>
        <p:spPr>
          <a:xfrm>
            <a:off x="8138160" y="3346704"/>
            <a:ext cx="365760" cy="1097280"/>
          </a:xfrm>
          <a:prstGeom prst="rect">
            <a:avLst/>
          </a:prstGeom>
          <a:noFill/>
          <a:ln/>
        </p:spPr>
        <p:txBody>
          <a:bodyPr wrap="square" lIns="0" tIns="0" rIns="0" bIns="0" rtlCol="0" anchor="ctr"/>
          <a:lstStyle/>
          <a:p>
            <a:pPr algn="ctr" indent="0" marL="0">
              <a:buNone/>
            </a:pPr>
            <a:r>
              <a:rPr lang="en-US" sz="2000" dirty="0">
                <a:solidFill>
                  <a:srgbClr val="5A6472"/>
                </a:solidFill>
                <a:latin typeface="Calibri" pitchFamily="34" charset="0"/>
                <a:ea typeface="Calibri" pitchFamily="34" charset="-122"/>
                <a:cs typeface="Calibri" pitchFamily="34" charset="-120"/>
              </a:rPr>
              <a:t>←</a:t>
            </a:r>
            <a:endParaRPr lang="en-US" sz="2000" dirty="0"/>
          </a:p>
        </p:txBody>
      </p:sp>
      <p:sp>
        <p:nvSpPr>
          <p:cNvPr id="25" name="Text 22"/>
          <p:cNvSpPr txBox="1"/>
          <p:nvPr/>
        </p:nvSpPr>
        <p:spPr>
          <a:xfrm>
            <a:off x="3566160" y="3346704"/>
            <a:ext cx="4526280" cy="1097280"/>
          </a:xfrm>
          <a:prstGeom prst="rect">
            <a:avLst/>
          </a:prstGeom>
          <a:noFill/>
          <a:ln/>
        </p:spPr>
        <p:txBody>
          <a:bodyPr wrap="square" lIns="0" tIns="0" rIns="0" bIns="0" rtlCol="0" anchor="ctr"/>
          <a:lstStyle/>
          <a:p>
            <a:pPr rtl="1" algn="r" indent="0" marL="0">
              <a:buNone/>
            </a:pPr>
            <a:r>
              <a:rPr lang="ar-SA" altLang="en-US" sz="2400" b="1" dirty="0">
                <a:solidFill>
                  <a:srgbClr val="1E6B52"/>
                </a:solidFill>
                <a:latin typeface="Amiri" pitchFamily="34" charset="0"/>
                <a:ea typeface="Amiri" pitchFamily="34" charset="-122"/>
                <a:cs typeface="Amiri" pitchFamily="34" charset="-120"/>
              </a:rPr>
              <a:t>كِتَابٌ جَدِيدٌ</a:t>
            </a:r>
            <a:endParaRPr lang="ar-SA" sz="2400" dirty="0"/>
          </a:p>
        </p:txBody>
      </p:sp>
      <p:sp>
        <p:nvSpPr>
          <p:cNvPr id="26" name="Text 23"/>
          <p:cNvSpPr txBox="1"/>
          <p:nvPr/>
        </p:nvSpPr>
        <p:spPr>
          <a:xfrm>
            <a:off x="685800" y="3346704"/>
            <a:ext cx="2788920" cy="109728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ea typeface="Calibri" pitchFamily="34" charset="-122"/>
                <a:cs typeface="Calibri" pitchFamily="34" charset="-120"/>
              </a:rPr>
              <a:t>Noun first, adjective second.</a:t>
            </a:r>
            <a:endParaRPr lang="en-US" sz="1150" dirty="0"/>
          </a:p>
        </p:txBody>
      </p:sp>
      <p:sp>
        <p:nvSpPr>
          <p:cNvPr id="27" name="Shape 24"/>
          <p:cNvSpPr/>
          <p:nvPr/>
        </p:nvSpPr>
        <p:spPr>
          <a:xfrm>
            <a:off x="457200" y="4700016"/>
            <a:ext cx="11274552" cy="1298448"/>
          </a:xfrm>
          <a:prstGeom prst="roundRect">
            <a:avLst>
              <a:gd name="adj" fmla="val 5634"/>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28" name="Text 25"/>
          <p:cNvSpPr txBox="1"/>
          <p:nvPr/>
        </p:nvSpPr>
        <p:spPr>
          <a:xfrm>
            <a:off x="8503920" y="4791456"/>
            <a:ext cx="3063240" cy="1097280"/>
          </a:xfrm>
          <a:prstGeom prst="rect">
            <a:avLst/>
          </a:prstGeom>
          <a:noFill/>
          <a:ln/>
        </p:spPr>
        <p:txBody>
          <a:bodyPr wrap="square" lIns="0" tIns="0" rIns="0" bIns="0" rtlCol="0" anchor="ctr"/>
          <a:lstStyle/>
          <a:p>
            <a:pPr rtl="1" algn="r" indent="0" marL="0">
              <a:buNone/>
            </a:pPr>
            <a:r>
              <a:rPr lang="ar-SA" altLang="en-US" sz="1800" b="1" dirty="0">
                <a:solidFill>
                  <a:srgbClr val="B83227"/>
                </a:solidFill>
                <a:latin typeface="Amiri" pitchFamily="34" charset="0"/>
                <a:ea typeface="Amiri" pitchFamily="34" charset="-122"/>
                <a:cs typeface="Amiri" pitchFamily="34" charset="-120"/>
              </a:rPr>
              <a:t>هَذَا أُخْتٌ قَصِيرَةٌ.</a:t>
            </a:r>
            <a:endParaRPr lang="ar-SA" sz="1800" dirty="0"/>
          </a:p>
        </p:txBody>
      </p:sp>
      <p:sp>
        <p:nvSpPr>
          <p:cNvPr id="29" name="Shape 26"/>
          <p:cNvSpPr/>
          <p:nvPr/>
        </p:nvSpPr>
        <p:spPr>
          <a:xfrm>
            <a:off x="8641080" y="5349240"/>
            <a:ext cx="2834640" cy="0"/>
          </a:xfrm>
          <a:prstGeom prst="line">
            <a:avLst/>
          </a:prstGeom>
          <a:noFill/>
          <a:ln w="15875">
            <a:solidFill>
              <a:srgbClr val="B83227"/>
            </a:solidFill>
            <a:prstDash val="solid"/>
          </a:ln>
        </p:spPr>
      </p:sp>
      <p:sp>
        <p:nvSpPr>
          <p:cNvPr id="30" name="Text 27"/>
          <p:cNvSpPr txBox="1"/>
          <p:nvPr/>
        </p:nvSpPr>
        <p:spPr>
          <a:xfrm>
            <a:off x="8138160" y="4791456"/>
            <a:ext cx="365760" cy="1097280"/>
          </a:xfrm>
          <a:prstGeom prst="rect">
            <a:avLst/>
          </a:prstGeom>
          <a:noFill/>
          <a:ln/>
        </p:spPr>
        <p:txBody>
          <a:bodyPr wrap="square" lIns="0" tIns="0" rIns="0" bIns="0" rtlCol="0" anchor="ctr"/>
          <a:lstStyle/>
          <a:p>
            <a:pPr algn="ctr" indent="0" marL="0">
              <a:buNone/>
            </a:pPr>
            <a:r>
              <a:rPr lang="en-US" sz="2000" dirty="0">
                <a:solidFill>
                  <a:srgbClr val="5A6472"/>
                </a:solidFill>
                <a:latin typeface="Calibri" pitchFamily="34" charset="0"/>
                <a:ea typeface="Calibri" pitchFamily="34" charset="-122"/>
                <a:cs typeface="Calibri" pitchFamily="34" charset="-120"/>
              </a:rPr>
              <a:t>←</a:t>
            </a:r>
            <a:endParaRPr lang="en-US" sz="2000" dirty="0"/>
          </a:p>
        </p:txBody>
      </p:sp>
      <p:sp>
        <p:nvSpPr>
          <p:cNvPr id="31" name="Text 28"/>
          <p:cNvSpPr txBox="1"/>
          <p:nvPr/>
        </p:nvSpPr>
        <p:spPr>
          <a:xfrm>
            <a:off x="3566160" y="4791456"/>
            <a:ext cx="4526280" cy="1097280"/>
          </a:xfrm>
          <a:prstGeom prst="rect">
            <a:avLst/>
          </a:prstGeom>
          <a:noFill/>
          <a:ln/>
        </p:spPr>
        <p:txBody>
          <a:bodyPr wrap="square" lIns="0" tIns="0" rIns="0" bIns="0" rtlCol="0" anchor="ctr"/>
          <a:lstStyle/>
          <a:p>
            <a:pPr rtl="1" algn="r" indent="0" marL="0">
              <a:buNone/>
            </a:pPr>
            <a:r>
              <a:rPr lang="ar-SA" altLang="en-US" sz="2400" b="1" dirty="0">
                <a:solidFill>
                  <a:srgbClr val="1E6B52"/>
                </a:solidFill>
                <a:latin typeface="Amiri" pitchFamily="34" charset="0"/>
                <a:ea typeface="Amiri" pitchFamily="34" charset="-122"/>
                <a:cs typeface="Amiri" pitchFamily="34" charset="-120"/>
              </a:rPr>
              <a:t>هَذِهِ أُخْتٌ قَصِيرَةٌ.</a:t>
            </a:r>
            <a:endParaRPr lang="ar-SA" sz="2400" dirty="0"/>
          </a:p>
        </p:txBody>
      </p:sp>
      <p:sp>
        <p:nvSpPr>
          <p:cNvPr id="32" name="Text 29"/>
          <p:cNvSpPr txBox="1"/>
          <p:nvPr/>
        </p:nvSpPr>
        <p:spPr>
          <a:xfrm>
            <a:off x="685800" y="4791456"/>
            <a:ext cx="2788920" cy="1097280"/>
          </a:xfrm>
          <a:prstGeom prst="rect">
            <a:avLst/>
          </a:prstGeom>
          <a:noFill/>
          <a:ln/>
        </p:spPr>
        <p:txBody>
          <a:bodyPr wrap="square" lIns="0" tIns="0" rIns="0" bIns="0" rtlCol="0" anchor="ctr"/>
          <a:lstStyle/>
          <a:p>
            <a:pPr algn="l" indent="0" marL="0">
              <a:buNone/>
            </a:pPr>
            <a:r>
              <a:rPr lang="ar-SA" altLang="en-US" sz="1500" b="1" dirty="0">
                <a:solidFill>
                  <a:srgbClr val="1B3B6F"/>
                </a:solidFill>
                <a:latin typeface="Amiri" pitchFamily="34" charset="0"/>
                <a:ea typeface="Amiri" pitchFamily="34" charset="-122"/>
                <a:cs typeface="Amiri" pitchFamily="34" charset="-120"/>
              </a:rPr>
              <a:t>أُخْتٌ</a:t>
            </a:r>
            <a:pPr algn="l" indent="0" marL="0">
              <a:buNone/>
            </a:pPr>
            <a:r>
              <a:rPr lang="en-US" sz="1150" b="1" dirty="0">
                <a:solidFill>
                  <a:srgbClr val="1B3B6F"/>
                </a:solidFill>
                <a:latin typeface="Calibri" pitchFamily="34" charset="0"/>
                <a:ea typeface="Calibri" pitchFamily="34" charset="-122"/>
                <a:cs typeface="Calibri" pitchFamily="34" charset="-120"/>
              </a:rPr>
              <a:t> is feminine without </a:t>
            </a:r>
            <a:pPr algn="l" indent="0" marL="0">
              <a:buNone/>
            </a:pPr>
            <a:r>
              <a:rPr lang="ar-SA" altLang="en-US" sz="1500" b="1" dirty="0">
                <a:solidFill>
                  <a:srgbClr val="1B3B6F"/>
                </a:solidFill>
                <a:latin typeface="Amiri" pitchFamily="34" charset="0"/>
                <a:ea typeface="Amiri" pitchFamily="34" charset="-122"/>
                <a:cs typeface="Amiri" pitchFamily="34" charset="-120"/>
              </a:rPr>
              <a:t>ة</a:t>
            </a:r>
            <a:pPr algn="l" indent="0" marL="0">
              <a:buNone/>
            </a:pPr>
            <a:r>
              <a:rPr lang="en-US" sz="1150" b="1" dirty="0">
                <a:solidFill>
                  <a:srgbClr val="1B3B6F"/>
                </a:solidFill>
                <a:latin typeface="Calibri" pitchFamily="34" charset="0"/>
                <a:ea typeface="Calibri" pitchFamily="34" charset="-122"/>
                <a:cs typeface="Calibri" pitchFamily="34" charset="-120"/>
              </a:rPr>
              <a:t>, so use </a:t>
            </a:r>
            <a:pPr algn="l" indent="0" marL="0">
              <a:buNone/>
            </a:pPr>
            <a:r>
              <a:rPr lang="ar-SA" altLang="en-US" sz="1500" b="1" dirty="0">
                <a:solidFill>
                  <a:srgbClr val="1B3B6F"/>
                </a:solidFill>
                <a:latin typeface="Amiri" pitchFamily="34" charset="0"/>
                <a:ea typeface="Amiri" pitchFamily="34" charset="-122"/>
                <a:cs typeface="Amiri" pitchFamily="34" charset="-120"/>
              </a:rPr>
              <a:t>هَذِهِ</a:t>
            </a:r>
            <a:pPr algn="l" indent="0" marL="0">
              <a:buNone/>
            </a:pPr>
            <a:r>
              <a:rPr lang="en-US" sz="1150" b="1" dirty="0">
                <a:solidFill>
                  <a:srgbClr val="1B3B6F"/>
                </a:solidFill>
                <a:latin typeface="Calibri" pitchFamily="34" charset="0"/>
                <a:ea typeface="Calibri" pitchFamily="34" charset="-122"/>
                <a:cs typeface="Calibri" pitchFamily="34" charset="-120"/>
              </a:rPr>
              <a:t>.</a:t>
            </a:r>
            <a:endParaRPr lang="en-US" sz="1150" dirty="0"/>
          </a:p>
        </p:txBody>
      </p:sp>
      <p:sp>
        <p:nvSpPr>
          <p:cNvPr id="33" name="Text 30"/>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ea typeface="Calibri" pitchFamily="34" charset="-122"/>
                <a:cs typeface="Calibri" pitchFamily="34" charset="-120"/>
              </a:rPr>
              <a:t>21 / 36</a:t>
            </a:r>
            <a:endParaRPr lang="en-US" sz="85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34" charset="0"/>
                <a:ea typeface="Amiri" pitchFamily="34" charset="-122"/>
                <a:cs typeface="Amiri" pitchFamily="34" charset="-120"/>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ea typeface="Cambria" pitchFamily="34" charset="-122"/>
                <a:cs typeface="Cambria" pitchFamily="34" charset="-120"/>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ea typeface="Calibri" pitchFamily="34" charset="-122"/>
                <a:cs typeface="Calibri" pitchFamily="34" charset="-120"/>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ea typeface="Calibri" pitchFamily="34" charset="-122"/>
                <a:cs typeface="Calibri" pitchFamily="34" charset="-120"/>
              </a:rPr>
              <a:t>F2-L05 · Masculine &amp; Feminine</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ea typeface="Calibri" pitchFamily="34" charset="-122"/>
                <a:cs typeface="Calibri" pitchFamily="34" charset="-120"/>
              </a:rPr>
              <a:t>WE DO · 4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ea typeface="Calibri" pitchFamily="34" charset="-122"/>
                <a:cs typeface="Calibri" pitchFamily="34" charset="-120"/>
              </a:rPr>
              <a:t>WE DO · LISTENING · TEACHER READS ALOUD TWICE</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ea typeface="Cambria" pitchFamily="34" charset="-122"/>
                <a:cs typeface="Cambria" pitchFamily="34" charset="-120"/>
              </a:rPr>
              <a:t>Who is being described?</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34" charset="0"/>
                <a:ea typeface="Amiri" pitchFamily="34" charset="-122"/>
                <a:cs typeface="Amiri" pitchFamily="34" charset="-120"/>
              </a:rPr>
              <a:t>الاِسْتِمَاعُ</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ea typeface="Calibri" pitchFamily="34" charset="-122"/>
                <a:cs typeface="Calibri" pitchFamily="34" charset="-120"/>
              </a:rPr>
              <a:t>Miftah Arabic · Foundation F2 · Greetings &amp; Introductions · Week 2 · Lesson 2 of 3</a:t>
            </a:r>
            <a:endParaRPr lang="en-US" sz="850" dirty="0"/>
          </a:p>
        </p:txBody>
      </p:sp>
      <p:sp>
        <p:nvSpPr>
          <p:cNvPr id="15" name="Shape 12"/>
          <p:cNvSpPr/>
          <p:nvPr/>
        </p:nvSpPr>
        <p:spPr>
          <a:xfrm>
            <a:off x="457200"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1</a:t>
            </a:r>
            <a:endParaRPr lang="en-US" sz="1100" dirty="0"/>
          </a:p>
        </p:txBody>
      </p:sp>
      <p:sp>
        <p:nvSpPr>
          <p:cNvPr id="18" name="Text 15"/>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Description 1 is about a…</a:t>
            </a:r>
            <a:endParaRPr lang="en-US" sz="1250" dirty="0"/>
          </a:p>
        </p:txBody>
      </p:sp>
      <p:sp>
        <p:nvSpPr>
          <p:cNvPr id="19" name="Shape 16"/>
          <p:cNvSpPr/>
          <p:nvPr/>
        </p:nvSpPr>
        <p:spPr>
          <a:xfrm>
            <a:off x="640080" y="2532888"/>
            <a:ext cx="256032" cy="256032"/>
          </a:xfrm>
          <a:prstGeom prst="ellipse">
            <a:avLst/>
          </a:prstGeom>
          <a:solidFill>
            <a:srgbClr val="F4F1EA"/>
          </a:solidFill>
          <a:ln w="12700">
            <a:solidFill>
              <a:srgbClr val="F4F1EA"/>
            </a:solidFill>
            <a:prstDash val="solid"/>
          </a:ln>
        </p:spPr>
      </p:sp>
      <p:sp>
        <p:nvSpPr>
          <p:cNvPr id="20" name="Text 17"/>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A</a:t>
            </a:r>
            <a:endParaRPr lang="en-US" sz="900" dirty="0"/>
          </a:p>
        </p:txBody>
      </p:sp>
      <p:sp>
        <p:nvSpPr>
          <p:cNvPr id="21" name="Text 18"/>
          <p:cNvSpPr txBox="1"/>
          <p:nvPr/>
        </p:nvSpPr>
        <p:spPr>
          <a:xfrm>
            <a:off x="969264" y="24323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34" charset="0"/>
                <a:ea typeface="Amiri" pitchFamily="34" charset="-122"/>
                <a:cs typeface="Amiri" pitchFamily="34" charset="-120"/>
              </a:rPr>
              <a:t>زَمِيلٌ</a:t>
            </a:r>
            <a:endParaRPr lang="ar-SA" sz="2050" dirty="0"/>
          </a:p>
        </p:txBody>
      </p:sp>
      <p:sp>
        <p:nvSpPr>
          <p:cNvPr id="22" name="Shape 19"/>
          <p:cNvSpPr/>
          <p:nvPr/>
        </p:nvSpPr>
        <p:spPr>
          <a:xfrm>
            <a:off x="640080" y="2990088"/>
            <a:ext cx="256032" cy="256032"/>
          </a:xfrm>
          <a:prstGeom prst="ellipse">
            <a:avLst/>
          </a:prstGeom>
          <a:solidFill>
            <a:srgbClr val="F4F1EA"/>
          </a:solidFill>
          <a:ln w="12700">
            <a:solidFill>
              <a:srgbClr val="F4F1EA"/>
            </a:solidFill>
            <a:prstDash val="solid"/>
          </a:ln>
        </p:spPr>
      </p:sp>
      <p:sp>
        <p:nvSpPr>
          <p:cNvPr id="23" name="Text 20"/>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24" name="Text 21"/>
          <p:cNvSpPr txBox="1"/>
          <p:nvPr/>
        </p:nvSpPr>
        <p:spPr>
          <a:xfrm>
            <a:off x="969264"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34" charset="0"/>
                <a:ea typeface="Amiri" pitchFamily="34" charset="-122"/>
                <a:cs typeface="Amiri" pitchFamily="34" charset="-120"/>
              </a:rPr>
              <a:t>مُعَلِّمٌ</a:t>
            </a:r>
            <a:endParaRPr lang="ar-SA" sz="2050" dirty="0"/>
          </a:p>
        </p:txBody>
      </p:sp>
      <p:sp>
        <p:nvSpPr>
          <p:cNvPr id="25" name="Shape 22"/>
          <p:cNvSpPr/>
          <p:nvPr/>
        </p:nvSpPr>
        <p:spPr>
          <a:xfrm>
            <a:off x="640080" y="3447288"/>
            <a:ext cx="256032" cy="256032"/>
          </a:xfrm>
          <a:prstGeom prst="ellipse">
            <a:avLst/>
          </a:prstGeom>
          <a:solidFill>
            <a:srgbClr val="F4F1EA"/>
          </a:solidFill>
          <a:ln w="12700">
            <a:solidFill>
              <a:srgbClr val="F4F1EA"/>
            </a:solidFill>
            <a:prstDash val="solid"/>
          </a:ln>
        </p:spPr>
      </p:sp>
      <p:sp>
        <p:nvSpPr>
          <p:cNvPr id="26" name="Text 23"/>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C</a:t>
            </a:r>
            <a:endParaRPr lang="en-US" sz="900" dirty="0"/>
          </a:p>
        </p:txBody>
      </p:sp>
      <p:sp>
        <p:nvSpPr>
          <p:cNvPr id="27" name="Text 24"/>
          <p:cNvSpPr txBox="1"/>
          <p:nvPr/>
        </p:nvSpPr>
        <p:spPr>
          <a:xfrm>
            <a:off x="969264"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34" charset="0"/>
                <a:ea typeface="Amiri" pitchFamily="34" charset="-122"/>
                <a:cs typeface="Amiri" pitchFamily="34" charset="-120"/>
              </a:rPr>
              <a:t>طِفْلٌ</a:t>
            </a:r>
            <a:endParaRPr lang="ar-SA" sz="2050" dirty="0"/>
          </a:p>
        </p:txBody>
      </p:sp>
      <p:sp>
        <p:nvSpPr>
          <p:cNvPr id="28" name="Shape 25"/>
          <p:cNvSpPr/>
          <p:nvPr/>
        </p:nvSpPr>
        <p:spPr>
          <a:xfrm>
            <a:off x="4276344"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9" name="Shape 26"/>
          <p:cNvSpPr/>
          <p:nvPr/>
        </p:nvSpPr>
        <p:spPr>
          <a:xfrm>
            <a:off x="4404360" y="1947672"/>
            <a:ext cx="310896" cy="310896"/>
          </a:xfrm>
          <a:prstGeom prst="ellipse">
            <a:avLst/>
          </a:prstGeom>
          <a:solidFill>
            <a:srgbClr val="1B3B6F"/>
          </a:solidFill>
          <a:ln w="12700">
            <a:solidFill>
              <a:srgbClr val="1B3B6F"/>
            </a:solidFill>
            <a:prstDash val="solid"/>
          </a:ln>
        </p:spPr>
      </p:sp>
      <p:sp>
        <p:nvSpPr>
          <p:cNvPr id="30" name="Text 27"/>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2</a:t>
            </a:r>
            <a:endParaRPr lang="en-US" sz="1100" dirty="0"/>
          </a:p>
        </p:txBody>
      </p:sp>
      <p:sp>
        <p:nvSpPr>
          <p:cNvPr id="31" name="Text 28"/>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Which two adjectives describe Yusuf?</a:t>
            </a:r>
            <a:endParaRPr lang="en-US" sz="1250" dirty="0"/>
          </a:p>
        </p:txBody>
      </p:sp>
      <p:sp>
        <p:nvSpPr>
          <p:cNvPr id="32" name="Shape 29"/>
          <p:cNvSpPr/>
          <p:nvPr/>
        </p:nvSpPr>
        <p:spPr>
          <a:xfrm>
            <a:off x="4459224" y="2532888"/>
            <a:ext cx="256032" cy="256032"/>
          </a:xfrm>
          <a:prstGeom prst="ellipse">
            <a:avLst/>
          </a:prstGeom>
          <a:solidFill>
            <a:srgbClr val="F4F1EA"/>
          </a:solidFill>
          <a:ln w="12700">
            <a:solidFill>
              <a:srgbClr val="F4F1EA"/>
            </a:solidFill>
            <a:prstDash val="solid"/>
          </a:ln>
        </p:spPr>
      </p:sp>
      <p:sp>
        <p:nvSpPr>
          <p:cNvPr id="33" name="Text 30"/>
          <p:cNvSpPr txBox="1"/>
          <p:nvPr/>
        </p:nvSpPr>
        <p:spPr>
          <a:xfrm>
            <a:off x="4459224"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A</a:t>
            </a:r>
            <a:endParaRPr lang="en-US" sz="900" dirty="0"/>
          </a:p>
        </p:txBody>
      </p:sp>
      <p:sp>
        <p:nvSpPr>
          <p:cNvPr id="34" name="Text 31"/>
          <p:cNvSpPr txBox="1"/>
          <p:nvPr/>
        </p:nvSpPr>
        <p:spPr>
          <a:xfrm>
            <a:off x="4788408" y="24323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34" charset="0"/>
                <a:ea typeface="Amiri" pitchFamily="34" charset="-122"/>
                <a:cs typeface="Amiri" pitchFamily="34" charset="-120"/>
              </a:rPr>
              <a:t>ذَكِيٌّ وَقَصِيرٌ</a:t>
            </a:r>
            <a:endParaRPr lang="ar-SA" sz="2050" dirty="0"/>
          </a:p>
        </p:txBody>
      </p:sp>
      <p:sp>
        <p:nvSpPr>
          <p:cNvPr id="35" name="Shape 32"/>
          <p:cNvSpPr/>
          <p:nvPr/>
        </p:nvSpPr>
        <p:spPr>
          <a:xfrm>
            <a:off x="4459224" y="2990088"/>
            <a:ext cx="256032" cy="256032"/>
          </a:xfrm>
          <a:prstGeom prst="ellipse">
            <a:avLst/>
          </a:prstGeom>
          <a:solidFill>
            <a:srgbClr val="F4F1EA"/>
          </a:solidFill>
          <a:ln w="12700">
            <a:solidFill>
              <a:srgbClr val="F4F1EA"/>
            </a:solidFill>
            <a:prstDash val="solid"/>
          </a:ln>
        </p:spPr>
      </p:sp>
      <p:sp>
        <p:nvSpPr>
          <p:cNvPr id="36" name="Text 33"/>
          <p:cNvSpPr txBox="1"/>
          <p:nvPr/>
        </p:nvSpPr>
        <p:spPr>
          <a:xfrm>
            <a:off x="4459224"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37" name="Text 34"/>
          <p:cNvSpPr txBox="1"/>
          <p:nvPr/>
        </p:nvSpPr>
        <p:spPr>
          <a:xfrm>
            <a:off x="4788408"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34" charset="0"/>
                <a:ea typeface="Amiri" pitchFamily="34" charset="-122"/>
                <a:cs typeface="Amiri" pitchFamily="34" charset="-120"/>
              </a:rPr>
              <a:t>سَعِيدٌ وَصَغِيرٌ</a:t>
            </a:r>
            <a:endParaRPr lang="ar-SA" sz="2050" dirty="0"/>
          </a:p>
        </p:txBody>
      </p:sp>
      <p:sp>
        <p:nvSpPr>
          <p:cNvPr id="38" name="Shape 35"/>
          <p:cNvSpPr/>
          <p:nvPr/>
        </p:nvSpPr>
        <p:spPr>
          <a:xfrm>
            <a:off x="4459224" y="3447288"/>
            <a:ext cx="256032" cy="256032"/>
          </a:xfrm>
          <a:prstGeom prst="ellipse">
            <a:avLst/>
          </a:prstGeom>
          <a:solidFill>
            <a:srgbClr val="F4F1EA"/>
          </a:solidFill>
          <a:ln w="12700">
            <a:solidFill>
              <a:srgbClr val="F4F1EA"/>
            </a:solidFill>
            <a:prstDash val="solid"/>
          </a:ln>
        </p:spPr>
      </p:sp>
      <p:sp>
        <p:nvSpPr>
          <p:cNvPr id="39" name="Text 36"/>
          <p:cNvSpPr txBox="1"/>
          <p:nvPr/>
        </p:nvSpPr>
        <p:spPr>
          <a:xfrm>
            <a:off x="4459224"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C</a:t>
            </a:r>
            <a:endParaRPr lang="en-US" sz="900" dirty="0"/>
          </a:p>
        </p:txBody>
      </p:sp>
      <p:sp>
        <p:nvSpPr>
          <p:cNvPr id="40" name="Text 37"/>
          <p:cNvSpPr txBox="1"/>
          <p:nvPr/>
        </p:nvSpPr>
        <p:spPr>
          <a:xfrm>
            <a:off x="4788408"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34" charset="0"/>
                <a:ea typeface="Amiri" pitchFamily="34" charset="-122"/>
                <a:cs typeface="Amiri" pitchFamily="34" charset="-120"/>
              </a:rPr>
              <a:t>لَطِيفٌ وَطَوِيلٌ</a:t>
            </a:r>
            <a:endParaRPr lang="ar-SA" sz="2050" dirty="0"/>
          </a:p>
        </p:txBody>
      </p:sp>
      <p:sp>
        <p:nvSpPr>
          <p:cNvPr id="41" name="Shape 38"/>
          <p:cNvSpPr/>
          <p:nvPr/>
        </p:nvSpPr>
        <p:spPr>
          <a:xfrm>
            <a:off x="8095488"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2" name="Shape 39"/>
          <p:cNvSpPr/>
          <p:nvPr/>
        </p:nvSpPr>
        <p:spPr>
          <a:xfrm>
            <a:off x="8223504" y="1947672"/>
            <a:ext cx="310896" cy="310896"/>
          </a:xfrm>
          <a:prstGeom prst="ellipse">
            <a:avLst/>
          </a:prstGeom>
          <a:solidFill>
            <a:srgbClr val="1B3B6F"/>
          </a:solidFill>
          <a:ln w="12700">
            <a:solidFill>
              <a:srgbClr val="1B3B6F"/>
            </a:solidFill>
            <a:prstDash val="solid"/>
          </a:ln>
        </p:spPr>
      </p:sp>
      <p:sp>
        <p:nvSpPr>
          <p:cNvPr id="43" name="Text 40"/>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3</a:t>
            </a:r>
            <a:endParaRPr lang="en-US" sz="1100" dirty="0"/>
          </a:p>
        </p:txBody>
      </p:sp>
      <p:sp>
        <p:nvSpPr>
          <p:cNvPr id="44" name="Text 41"/>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Description 2 uses which feminine noun?</a:t>
            </a:r>
            <a:endParaRPr lang="en-US" sz="1250" dirty="0"/>
          </a:p>
        </p:txBody>
      </p:sp>
      <p:sp>
        <p:nvSpPr>
          <p:cNvPr id="45" name="Shape 42"/>
          <p:cNvSpPr/>
          <p:nvPr/>
        </p:nvSpPr>
        <p:spPr>
          <a:xfrm>
            <a:off x="8278368" y="2532888"/>
            <a:ext cx="256032" cy="256032"/>
          </a:xfrm>
          <a:prstGeom prst="ellipse">
            <a:avLst/>
          </a:prstGeom>
          <a:solidFill>
            <a:srgbClr val="F4F1EA"/>
          </a:solidFill>
          <a:ln w="12700">
            <a:solidFill>
              <a:srgbClr val="F4F1EA"/>
            </a:solidFill>
            <a:prstDash val="solid"/>
          </a:ln>
        </p:spPr>
      </p:sp>
      <p:sp>
        <p:nvSpPr>
          <p:cNvPr id="46" name="Text 43"/>
          <p:cNvSpPr txBox="1"/>
          <p:nvPr/>
        </p:nvSpPr>
        <p:spPr>
          <a:xfrm>
            <a:off x="8278368"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A</a:t>
            </a:r>
            <a:endParaRPr lang="en-US" sz="900" dirty="0"/>
          </a:p>
        </p:txBody>
      </p:sp>
      <p:sp>
        <p:nvSpPr>
          <p:cNvPr id="47" name="Text 44"/>
          <p:cNvSpPr txBox="1"/>
          <p:nvPr/>
        </p:nvSpPr>
        <p:spPr>
          <a:xfrm>
            <a:off x="8607552" y="24323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34" charset="0"/>
                <a:ea typeface="Amiri" pitchFamily="34" charset="-122"/>
                <a:cs typeface="Amiri" pitchFamily="34" charset="-120"/>
              </a:rPr>
              <a:t>صَدِيقَةٌ</a:t>
            </a:r>
            <a:endParaRPr lang="ar-SA" sz="2050" dirty="0"/>
          </a:p>
        </p:txBody>
      </p:sp>
      <p:sp>
        <p:nvSpPr>
          <p:cNvPr id="48" name="Shape 45"/>
          <p:cNvSpPr/>
          <p:nvPr/>
        </p:nvSpPr>
        <p:spPr>
          <a:xfrm>
            <a:off x="8278368" y="2990088"/>
            <a:ext cx="256032" cy="256032"/>
          </a:xfrm>
          <a:prstGeom prst="ellipse">
            <a:avLst/>
          </a:prstGeom>
          <a:solidFill>
            <a:srgbClr val="F4F1EA"/>
          </a:solidFill>
          <a:ln w="12700">
            <a:solidFill>
              <a:srgbClr val="F4F1EA"/>
            </a:solidFill>
            <a:prstDash val="solid"/>
          </a:ln>
        </p:spPr>
      </p:sp>
      <p:sp>
        <p:nvSpPr>
          <p:cNvPr id="49" name="Text 46"/>
          <p:cNvSpPr txBox="1"/>
          <p:nvPr/>
        </p:nvSpPr>
        <p:spPr>
          <a:xfrm>
            <a:off x="8278368"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50" name="Text 47"/>
          <p:cNvSpPr txBox="1"/>
          <p:nvPr/>
        </p:nvSpPr>
        <p:spPr>
          <a:xfrm>
            <a:off x="8607552"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34" charset="0"/>
                <a:ea typeface="Amiri" pitchFamily="34" charset="-122"/>
                <a:cs typeface="Amiri" pitchFamily="34" charset="-120"/>
              </a:rPr>
              <a:t>مُعَلِّمَةٌ</a:t>
            </a:r>
            <a:endParaRPr lang="ar-SA" sz="2050" dirty="0"/>
          </a:p>
        </p:txBody>
      </p:sp>
      <p:sp>
        <p:nvSpPr>
          <p:cNvPr id="51" name="Shape 48"/>
          <p:cNvSpPr/>
          <p:nvPr/>
        </p:nvSpPr>
        <p:spPr>
          <a:xfrm>
            <a:off x="8278368" y="3447288"/>
            <a:ext cx="256032" cy="256032"/>
          </a:xfrm>
          <a:prstGeom prst="ellipse">
            <a:avLst/>
          </a:prstGeom>
          <a:solidFill>
            <a:srgbClr val="F4F1EA"/>
          </a:solidFill>
          <a:ln w="12700">
            <a:solidFill>
              <a:srgbClr val="F4F1EA"/>
            </a:solidFill>
            <a:prstDash val="solid"/>
          </a:ln>
        </p:spPr>
      </p:sp>
      <p:sp>
        <p:nvSpPr>
          <p:cNvPr id="52" name="Text 49"/>
          <p:cNvSpPr txBox="1"/>
          <p:nvPr/>
        </p:nvSpPr>
        <p:spPr>
          <a:xfrm>
            <a:off x="8278368"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C</a:t>
            </a:r>
            <a:endParaRPr lang="en-US" sz="900" dirty="0"/>
          </a:p>
        </p:txBody>
      </p:sp>
      <p:sp>
        <p:nvSpPr>
          <p:cNvPr id="53" name="Text 50"/>
          <p:cNvSpPr txBox="1"/>
          <p:nvPr/>
        </p:nvSpPr>
        <p:spPr>
          <a:xfrm>
            <a:off x="8607552"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34" charset="0"/>
                <a:ea typeface="Amiri" pitchFamily="34" charset="-122"/>
                <a:cs typeface="Amiri" pitchFamily="34" charset="-120"/>
              </a:rPr>
              <a:t>زَمِيلَةٌ</a:t>
            </a:r>
            <a:endParaRPr lang="ar-SA" sz="2050" dirty="0"/>
          </a:p>
        </p:txBody>
      </p:sp>
      <p:sp>
        <p:nvSpPr>
          <p:cNvPr id="54" name="Shape 51"/>
          <p:cNvSpPr/>
          <p:nvPr/>
        </p:nvSpPr>
        <p:spPr>
          <a:xfrm>
            <a:off x="457200"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5" name="Shape 52"/>
          <p:cNvSpPr/>
          <p:nvPr/>
        </p:nvSpPr>
        <p:spPr>
          <a:xfrm>
            <a:off x="585216" y="4288536"/>
            <a:ext cx="310896" cy="310896"/>
          </a:xfrm>
          <a:prstGeom prst="ellipse">
            <a:avLst/>
          </a:prstGeom>
          <a:solidFill>
            <a:srgbClr val="1B3B6F"/>
          </a:solidFill>
          <a:ln w="12700">
            <a:solidFill>
              <a:srgbClr val="1B3B6F"/>
            </a:solidFill>
            <a:prstDash val="solid"/>
          </a:ln>
        </p:spPr>
      </p:sp>
      <p:sp>
        <p:nvSpPr>
          <p:cNvPr id="56" name="Text 53"/>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4</a:t>
            </a:r>
            <a:endParaRPr lang="en-US" sz="1100" dirty="0"/>
          </a:p>
        </p:txBody>
      </p:sp>
      <p:sp>
        <p:nvSpPr>
          <p:cNvPr id="57" name="Text 54"/>
          <p:cNvSpPr txBox="1"/>
          <p:nvPr/>
        </p:nvSpPr>
        <p:spPr>
          <a:xfrm>
            <a:off x="950976"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Zaynab is…</a:t>
            </a:r>
            <a:endParaRPr lang="en-US" sz="1250" dirty="0"/>
          </a:p>
        </p:txBody>
      </p:sp>
      <p:sp>
        <p:nvSpPr>
          <p:cNvPr id="58" name="Shape 55"/>
          <p:cNvSpPr/>
          <p:nvPr/>
        </p:nvSpPr>
        <p:spPr>
          <a:xfrm>
            <a:off x="640080" y="4873752"/>
            <a:ext cx="256032" cy="256032"/>
          </a:xfrm>
          <a:prstGeom prst="ellipse">
            <a:avLst/>
          </a:prstGeom>
          <a:solidFill>
            <a:srgbClr val="F4F1EA"/>
          </a:solidFill>
          <a:ln w="12700">
            <a:solidFill>
              <a:srgbClr val="F4F1EA"/>
            </a:solidFill>
            <a:prstDash val="solid"/>
          </a:ln>
        </p:spPr>
      </p:sp>
      <p:sp>
        <p:nvSpPr>
          <p:cNvPr id="59" name="Text 56"/>
          <p:cNvSpPr txBox="1"/>
          <p:nvPr/>
        </p:nvSpPr>
        <p:spPr>
          <a:xfrm>
            <a:off x="640080"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A</a:t>
            </a:r>
            <a:endParaRPr lang="en-US" sz="900" dirty="0"/>
          </a:p>
        </p:txBody>
      </p:sp>
      <p:sp>
        <p:nvSpPr>
          <p:cNvPr id="60" name="Text 57"/>
          <p:cNvSpPr txBox="1"/>
          <p:nvPr/>
        </p:nvSpPr>
        <p:spPr>
          <a:xfrm>
            <a:off x="969264" y="47731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34" charset="0"/>
                <a:ea typeface="Amiri" pitchFamily="34" charset="-122"/>
                <a:cs typeface="Amiri" pitchFamily="34" charset="-120"/>
              </a:rPr>
              <a:t>ذَكِيَّةٌ وَسَعِيدَةٌ</a:t>
            </a:r>
            <a:endParaRPr lang="ar-SA" sz="2050" dirty="0"/>
          </a:p>
        </p:txBody>
      </p:sp>
      <p:sp>
        <p:nvSpPr>
          <p:cNvPr id="61" name="Shape 58"/>
          <p:cNvSpPr/>
          <p:nvPr/>
        </p:nvSpPr>
        <p:spPr>
          <a:xfrm>
            <a:off x="640080" y="5330952"/>
            <a:ext cx="256032" cy="256032"/>
          </a:xfrm>
          <a:prstGeom prst="ellipse">
            <a:avLst/>
          </a:prstGeom>
          <a:solidFill>
            <a:srgbClr val="F4F1EA"/>
          </a:solidFill>
          <a:ln w="12700">
            <a:solidFill>
              <a:srgbClr val="F4F1EA"/>
            </a:solidFill>
            <a:prstDash val="solid"/>
          </a:ln>
        </p:spPr>
      </p:sp>
      <p:sp>
        <p:nvSpPr>
          <p:cNvPr id="62" name="Text 59"/>
          <p:cNvSpPr txBox="1"/>
          <p:nvPr/>
        </p:nvSpPr>
        <p:spPr>
          <a:xfrm>
            <a:off x="640080"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63" name="Text 60"/>
          <p:cNvSpPr txBox="1"/>
          <p:nvPr/>
        </p:nvSpPr>
        <p:spPr>
          <a:xfrm>
            <a:off x="969264" y="52303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34" charset="0"/>
                <a:ea typeface="Amiri" pitchFamily="34" charset="-122"/>
                <a:cs typeface="Amiri" pitchFamily="34" charset="-120"/>
              </a:rPr>
              <a:t>لَطِيفَةٌ وَطَوِيلَةٌ</a:t>
            </a:r>
            <a:endParaRPr lang="ar-SA" sz="2050" dirty="0"/>
          </a:p>
        </p:txBody>
      </p:sp>
      <p:sp>
        <p:nvSpPr>
          <p:cNvPr id="64" name="Shape 61"/>
          <p:cNvSpPr/>
          <p:nvPr/>
        </p:nvSpPr>
        <p:spPr>
          <a:xfrm>
            <a:off x="640080" y="5788152"/>
            <a:ext cx="256032" cy="256032"/>
          </a:xfrm>
          <a:prstGeom prst="ellipse">
            <a:avLst/>
          </a:prstGeom>
          <a:solidFill>
            <a:srgbClr val="F4F1EA"/>
          </a:solidFill>
          <a:ln w="12700">
            <a:solidFill>
              <a:srgbClr val="F4F1EA"/>
            </a:solidFill>
            <a:prstDash val="solid"/>
          </a:ln>
        </p:spPr>
      </p:sp>
      <p:sp>
        <p:nvSpPr>
          <p:cNvPr id="65" name="Text 62"/>
          <p:cNvSpPr txBox="1"/>
          <p:nvPr/>
        </p:nvSpPr>
        <p:spPr>
          <a:xfrm>
            <a:off x="640080"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C</a:t>
            </a:r>
            <a:endParaRPr lang="en-US" sz="900" dirty="0"/>
          </a:p>
        </p:txBody>
      </p:sp>
      <p:sp>
        <p:nvSpPr>
          <p:cNvPr id="66" name="Text 63"/>
          <p:cNvSpPr txBox="1"/>
          <p:nvPr/>
        </p:nvSpPr>
        <p:spPr>
          <a:xfrm>
            <a:off x="969264" y="56875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34" charset="0"/>
                <a:ea typeface="Amiri" pitchFamily="34" charset="-122"/>
                <a:cs typeface="Amiri" pitchFamily="34" charset="-120"/>
              </a:rPr>
              <a:t>قَدِيمَةٌ وَكَبِيرَةٌ</a:t>
            </a:r>
            <a:endParaRPr lang="ar-SA" sz="2050" dirty="0"/>
          </a:p>
        </p:txBody>
      </p:sp>
      <p:sp>
        <p:nvSpPr>
          <p:cNvPr id="67" name="Shape 64"/>
          <p:cNvSpPr/>
          <p:nvPr/>
        </p:nvSpPr>
        <p:spPr>
          <a:xfrm>
            <a:off x="4276344"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8" name="Shape 65"/>
          <p:cNvSpPr/>
          <p:nvPr/>
        </p:nvSpPr>
        <p:spPr>
          <a:xfrm>
            <a:off x="4404360" y="4288536"/>
            <a:ext cx="310896" cy="310896"/>
          </a:xfrm>
          <a:prstGeom prst="ellipse">
            <a:avLst/>
          </a:prstGeom>
          <a:solidFill>
            <a:srgbClr val="1B3B6F"/>
          </a:solidFill>
          <a:ln w="12700">
            <a:solidFill>
              <a:srgbClr val="1B3B6F"/>
            </a:solidFill>
            <a:prstDash val="solid"/>
          </a:ln>
        </p:spPr>
      </p:sp>
      <p:sp>
        <p:nvSpPr>
          <p:cNvPr id="69" name="Text 66"/>
          <p:cNvSpPr txBox="1"/>
          <p:nvPr/>
        </p:nvSpPr>
        <p:spPr>
          <a:xfrm>
            <a:off x="4404360"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5</a:t>
            </a:r>
            <a:endParaRPr lang="en-US" sz="1100" dirty="0"/>
          </a:p>
        </p:txBody>
      </p:sp>
      <p:sp>
        <p:nvSpPr>
          <p:cNvPr id="70" name="Text 67"/>
          <p:cNvSpPr txBox="1"/>
          <p:nvPr/>
        </p:nvSpPr>
        <p:spPr>
          <a:xfrm>
            <a:off x="4770120"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The sister is described as…</a:t>
            </a:r>
            <a:endParaRPr lang="en-US" sz="1250" dirty="0"/>
          </a:p>
        </p:txBody>
      </p:sp>
      <p:sp>
        <p:nvSpPr>
          <p:cNvPr id="71" name="Shape 68"/>
          <p:cNvSpPr/>
          <p:nvPr/>
        </p:nvSpPr>
        <p:spPr>
          <a:xfrm>
            <a:off x="4459224" y="4873752"/>
            <a:ext cx="256032" cy="256032"/>
          </a:xfrm>
          <a:prstGeom prst="ellipse">
            <a:avLst/>
          </a:prstGeom>
          <a:solidFill>
            <a:srgbClr val="F4F1EA"/>
          </a:solidFill>
          <a:ln w="12700">
            <a:solidFill>
              <a:srgbClr val="F4F1EA"/>
            </a:solidFill>
            <a:prstDash val="solid"/>
          </a:ln>
        </p:spPr>
      </p:sp>
      <p:sp>
        <p:nvSpPr>
          <p:cNvPr id="72" name="Text 69"/>
          <p:cNvSpPr txBox="1"/>
          <p:nvPr/>
        </p:nvSpPr>
        <p:spPr>
          <a:xfrm>
            <a:off x="4459224"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A</a:t>
            </a:r>
            <a:endParaRPr lang="en-US" sz="900" dirty="0"/>
          </a:p>
        </p:txBody>
      </p:sp>
      <p:sp>
        <p:nvSpPr>
          <p:cNvPr id="73" name="Text 70"/>
          <p:cNvSpPr txBox="1"/>
          <p:nvPr/>
        </p:nvSpPr>
        <p:spPr>
          <a:xfrm>
            <a:off x="4788408" y="47731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34" charset="0"/>
                <a:ea typeface="Amiri" pitchFamily="34" charset="-122"/>
                <a:cs typeface="Amiri" pitchFamily="34" charset="-120"/>
              </a:rPr>
              <a:t>طَوِيلَةٌ</a:t>
            </a:r>
            <a:endParaRPr lang="ar-SA" sz="2050" dirty="0"/>
          </a:p>
        </p:txBody>
      </p:sp>
      <p:sp>
        <p:nvSpPr>
          <p:cNvPr id="74" name="Shape 71"/>
          <p:cNvSpPr/>
          <p:nvPr/>
        </p:nvSpPr>
        <p:spPr>
          <a:xfrm>
            <a:off x="4459224" y="5330952"/>
            <a:ext cx="256032" cy="256032"/>
          </a:xfrm>
          <a:prstGeom prst="ellipse">
            <a:avLst/>
          </a:prstGeom>
          <a:solidFill>
            <a:srgbClr val="F4F1EA"/>
          </a:solidFill>
          <a:ln w="12700">
            <a:solidFill>
              <a:srgbClr val="F4F1EA"/>
            </a:solidFill>
            <a:prstDash val="solid"/>
          </a:ln>
        </p:spPr>
      </p:sp>
      <p:sp>
        <p:nvSpPr>
          <p:cNvPr id="75" name="Text 72"/>
          <p:cNvSpPr txBox="1"/>
          <p:nvPr/>
        </p:nvSpPr>
        <p:spPr>
          <a:xfrm>
            <a:off x="4459224"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76" name="Text 73"/>
          <p:cNvSpPr txBox="1"/>
          <p:nvPr/>
        </p:nvSpPr>
        <p:spPr>
          <a:xfrm>
            <a:off x="4788408" y="52303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34" charset="0"/>
                <a:ea typeface="Amiri" pitchFamily="34" charset="-122"/>
                <a:cs typeface="Amiri" pitchFamily="34" charset="-120"/>
              </a:rPr>
              <a:t>قَصِيرَةٌ</a:t>
            </a:r>
            <a:endParaRPr lang="ar-SA" sz="2050" dirty="0"/>
          </a:p>
        </p:txBody>
      </p:sp>
      <p:sp>
        <p:nvSpPr>
          <p:cNvPr id="77" name="Shape 74"/>
          <p:cNvSpPr/>
          <p:nvPr/>
        </p:nvSpPr>
        <p:spPr>
          <a:xfrm>
            <a:off x="4459224" y="5788152"/>
            <a:ext cx="256032" cy="256032"/>
          </a:xfrm>
          <a:prstGeom prst="ellipse">
            <a:avLst/>
          </a:prstGeom>
          <a:solidFill>
            <a:srgbClr val="F4F1EA"/>
          </a:solidFill>
          <a:ln w="12700">
            <a:solidFill>
              <a:srgbClr val="F4F1EA"/>
            </a:solidFill>
            <a:prstDash val="solid"/>
          </a:ln>
        </p:spPr>
      </p:sp>
      <p:sp>
        <p:nvSpPr>
          <p:cNvPr id="78" name="Text 75"/>
          <p:cNvSpPr txBox="1"/>
          <p:nvPr/>
        </p:nvSpPr>
        <p:spPr>
          <a:xfrm>
            <a:off x="4459224"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C</a:t>
            </a:r>
            <a:endParaRPr lang="en-US" sz="900" dirty="0"/>
          </a:p>
        </p:txBody>
      </p:sp>
      <p:sp>
        <p:nvSpPr>
          <p:cNvPr id="79" name="Text 76"/>
          <p:cNvSpPr txBox="1"/>
          <p:nvPr/>
        </p:nvSpPr>
        <p:spPr>
          <a:xfrm>
            <a:off x="4788408" y="56875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34" charset="0"/>
                <a:ea typeface="Amiri" pitchFamily="34" charset="-122"/>
                <a:cs typeface="Amiri" pitchFamily="34" charset="-120"/>
              </a:rPr>
              <a:t>لَطِيفَةٌ</a:t>
            </a:r>
            <a:endParaRPr lang="ar-SA" sz="2050" dirty="0"/>
          </a:p>
        </p:txBody>
      </p:sp>
      <p:sp>
        <p:nvSpPr>
          <p:cNvPr id="80" name="Shape 77"/>
          <p:cNvSpPr/>
          <p:nvPr/>
        </p:nvSpPr>
        <p:spPr>
          <a:xfrm>
            <a:off x="8095488" y="4151376"/>
            <a:ext cx="3636264" cy="2157984"/>
          </a:xfrm>
          <a:prstGeom prst="roundRect">
            <a:avLst>
              <a:gd name="adj" fmla="val 3390"/>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81" name="Shape 78"/>
          <p:cNvSpPr/>
          <p:nvPr/>
        </p:nvSpPr>
        <p:spPr>
          <a:xfrm>
            <a:off x="8717280" y="4361688"/>
            <a:ext cx="914400" cy="274320"/>
          </a:xfrm>
          <a:prstGeom prst="roundRect">
            <a:avLst>
              <a:gd name="adj" fmla="val 50000"/>
            </a:avLst>
          </a:prstGeom>
          <a:solidFill>
            <a:srgbClr val="2E8B57"/>
          </a:solidFill>
          <a:ln w="12700">
            <a:solidFill>
              <a:srgbClr val="2E8B57"/>
            </a:solidFill>
            <a:prstDash val="solid"/>
          </a:ln>
        </p:spPr>
      </p:sp>
      <p:sp>
        <p:nvSpPr>
          <p:cNvPr id="82" name="Text 79"/>
          <p:cNvSpPr txBox="1"/>
          <p:nvPr/>
        </p:nvSpPr>
        <p:spPr>
          <a:xfrm>
            <a:off x="8717280" y="4361688"/>
            <a:ext cx="91440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ea typeface="Calibri" pitchFamily="34" charset="-122"/>
                <a:cs typeface="Calibri" pitchFamily="34" charset="-120"/>
              </a:rPr>
              <a:t>CORE</a:t>
            </a:r>
            <a:endParaRPr lang="en-US" sz="850" dirty="0"/>
          </a:p>
        </p:txBody>
      </p:sp>
      <p:sp>
        <p:nvSpPr>
          <p:cNvPr id="83" name="Text 80"/>
          <p:cNvSpPr txBox="1"/>
          <p:nvPr/>
        </p:nvSpPr>
        <p:spPr>
          <a:xfrm>
            <a:off x="8296656" y="4791456"/>
            <a:ext cx="3270504" cy="1380744"/>
          </a:xfrm>
          <a:prstGeom prst="rect">
            <a:avLst/>
          </a:prstGeom>
          <a:noFill/>
          <a:ln/>
        </p:spPr>
        <p:txBody>
          <a:bodyPr wrap="square" lIns="0" tIns="0" rIns="0" bIns="0" rtlCol="0" anchor="t"/>
          <a:lstStyle/>
          <a:p>
            <a:pPr algn="l" indent="0" marL="0">
              <a:buNone/>
            </a:pPr>
            <a:r>
              <a:rPr lang="en-US" sz="1250" dirty="0">
                <a:solidFill>
                  <a:srgbClr val="1E6B52"/>
                </a:solidFill>
                <a:latin typeface="Calibri" pitchFamily="34" charset="0"/>
                <a:ea typeface="Calibri" pitchFamily="34" charset="-122"/>
                <a:cs typeface="Calibri" pitchFamily="34" charset="-120"/>
              </a:rPr>
              <a:t>Listen twice.</a:t>
            </a:r>
            <a:endParaRPr lang="en-US" sz="1250" dirty="0"/>
          </a:p>
          <a:p>
            <a:pPr algn="l" indent="0" marL="0">
              <a:buNone/>
            </a:pPr>
            <a:r>
              <a:rPr lang="en-US" sz="1250" dirty="0">
                <a:solidFill>
                  <a:srgbClr val="1E6B52"/>
                </a:solidFill>
                <a:latin typeface="Calibri" pitchFamily="34" charset="0"/>
                <a:ea typeface="Calibri" pitchFamily="34" charset="-122"/>
                <a:cs typeface="Calibri" pitchFamily="34" charset="-120"/>
              </a:rPr>
              <a:t>First: who? Then: the exact noun + adjective pair.</a:t>
            </a:r>
            <a:endParaRPr lang="en-US" sz="1250" dirty="0"/>
          </a:p>
        </p:txBody>
      </p:sp>
      <p:sp>
        <p:nvSpPr>
          <p:cNvPr id="84" name="Text 8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ea typeface="Calibri" pitchFamily="34" charset="-122"/>
                <a:cs typeface="Calibri" pitchFamily="34" charset="-120"/>
              </a:rPr>
              <a:t>22 / 36</a:t>
            </a:r>
            <a:endParaRPr lang="en-US" sz="85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34" charset="0"/>
                <a:ea typeface="Amiri" pitchFamily="34" charset="-122"/>
                <a:cs typeface="Amiri" pitchFamily="34" charset="-120"/>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ea typeface="Cambria" pitchFamily="34" charset="-122"/>
                <a:cs typeface="Cambria" pitchFamily="34" charset="-120"/>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ea typeface="Calibri" pitchFamily="34" charset="-122"/>
                <a:cs typeface="Calibri" pitchFamily="34" charset="-120"/>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ea typeface="Calibri" pitchFamily="34" charset="-122"/>
                <a:cs typeface="Calibri" pitchFamily="34" charset="-120"/>
              </a:rPr>
              <a:t>F2-L05 · Masculine &amp; Feminine</a:t>
            </a:r>
            <a:endParaRPr lang="en-US" sz="950" dirty="0"/>
          </a:p>
        </p:txBody>
      </p:sp>
      <p:sp>
        <p:nvSpPr>
          <p:cNvPr id="8" name="Shape 6"/>
          <p:cNvSpPr/>
          <p:nvPr/>
        </p:nvSpPr>
        <p:spPr>
          <a:xfrm>
            <a:off x="7388352" y="274320"/>
            <a:ext cx="1371600"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ea typeface="Calibri" pitchFamily="34" charset="-122"/>
                <a:cs typeface="Calibri" pitchFamily="34" charset="-120"/>
              </a:rPr>
              <a:t>WE DO</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ea typeface="Calibri" pitchFamily="34" charset="-122"/>
                <a:cs typeface="Calibri" pitchFamily="34" charset="-120"/>
              </a:rPr>
              <a:t>WE DO · LISTENING SUPPORT · READ ALONG (CORE)</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650" b="1" dirty="0">
                <a:solidFill>
                  <a:srgbClr val="1B3B6F"/>
                </a:solidFill>
                <a:latin typeface="Cambria" pitchFamily="34" charset="0"/>
                <a:ea typeface="Cambria" pitchFamily="34" charset="-122"/>
                <a:cs typeface="Cambria" pitchFamily="34" charset="-120"/>
              </a:rPr>
              <a:t>The script — read along with English</a:t>
            </a:r>
            <a:endParaRPr lang="en-US" sz="265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34" charset="0"/>
                <a:ea typeface="Amiri" pitchFamily="34" charset="-122"/>
                <a:cs typeface="Amiri" pitchFamily="34" charset="-120"/>
              </a:rPr>
              <a:t>نَصُّ الاِسْتِمَاعِ</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ea typeface="Calibri" pitchFamily="34" charset="-122"/>
                <a:cs typeface="Calibri" pitchFamily="34" charset="-120"/>
              </a:rPr>
              <a:t>Miftah Arabic · Foundation F2 · Greetings &amp; Introductions · Week 2 · Lesson 2 of 3</a:t>
            </a:r>
            <a:endParaRPr lang="en-US" sz="850" dirty="0"/>
          </a:p>
        </p:txBody>
      </p:sp>
      <p:sp>
        <p:nvSpPr>
          <p:cNvPr id="15" name="Shape 12"/>
          <p:cNvSpPr/>
          <p:nvPr/>
        </p:nvSpPr>
        <p:spPr>
          <a:xfrm>
            <a:off x="457200" y="1810512"/>
            <a:ext cx="11274552" cy="1069848"/>
          </a:xfrm>
          <a:prstGeom prst="roundRect">
            <a:avLst>
              <a:gd name="adj" fmla="val 4274"/>
            </a:avLst>
          </a:prstGeom>
          <a:solidFill>
            <a:srgbClr val="FFFFFF"/>
          </a:solidFill>
          <a:ln w="9525">
            <a:solidFill>
              <a:srgbClr val="D8D0BF"/>
            </a:solidFill>
            <a:prstDash val="solid"/>
          </a:ln>
        </p:spPr>
      </p:sp>
      <p:sp>
        <p:nvSpPr>
          <p:cNvPr id="16" name="Text 13"/>
          <p:cNvSpPr txBox="1"/>
          <p:nvPr/>
        </p:nvSpPr>
        <p:spPr>
          <a:xfrm>
            <a:off x="4937760" y="1828800"/>
            <a:ext cx="6675120" cy="103327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34" charset="0"/>
                <a:ea typeface="Amiri" pitchFamily="34" charset="-122"/>
                <a:cs typeface="Amiri" pitchFamily="34" charset="-120"/>
              </a:rPr>
              <a:t>هَذَا زَمِيلٌ جَدِيدٌ. اِسْمُهُ يُوسُفُ. هُوَ لَطِيفٌ وَطَوِيلٌ.</a:t>
            </a:r>
            <a:endParaRPr lang="ar-SA" sz="2000" dirty="0"/>
          </a:p>
        </p:txBody>
      </p:sp>
      <p:sp>
        <p:nvSpPr>
          <p:cNvPr id="17" name="Text 14"/>
          <p:cNvSpPr txBox="1"/>
          <p:nvPr/>
        </p:nvSpPr>
        <p:spPr>
          <a:xfrm>
            <a:off x="640080" y="1828800"/>
            <a:ext cx="4160520" cy="1033272"/>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This is a new classmate. His name is Yusuf. He is kind and tall.</a:t>
            </a:r>
            <a:endParaRPr lang="en-US" sz="1250" dirty="0"/>
          </a:p>
        </p:txBody>
      </p:sp>
      <p:sp>
        <p:nvSpPr>
          <p:cNvPr id="18" name="Shape 15"/>
          <p:cNvSpPr/>
          <p:nvPr/>
        </p:nvSpPr>
        <p:spPr>
          <a:xfrm>
            <a:off x="457200" y="2953512"/>
            <a:ext cx="11274552" cy="1069848"/>
          </a:xfrm>
          <a:prstGeom prst="roundRect">
            <a:avLst>
              <a:gd name="adj" fmla="val 4274"/>
            </a:avLst>
          </a:prstGeom>
          <a:solidFill>
            <a:srgbClr val="F4F1EA"/>
          </a:solidFill>
          <a:ln w="9525">
            <a:solidFill>
              <a:srgbClr val="D8D0BF"/>
            </a:solidFill>
            <a:prstDash val="solid"/>
          </a:ln>
        </p:spPr>
      </p:sp>
      <p:sp>
        <p:nvSpPr>
          <p:cNvPr id="19" name="Text 16"/>
          <p:cNvSpPr txBox="1"/>
          <p:nvPr/>
        </p:nvSpPr>
        <p:spPr>
          <a:xfrm>
            <a:off x="4937760" y="2971800"/>
            <a:ext cx="6675120" cy="103327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34" charset="0"/>
                <a:ea typeface="Amiri" pitchFamily="34" charset="-122"/>
                <a:cs typeface="Amiri" pitchFamily="34" charset="-120"/>
              </a:rPr>
              <a:t>هَذِهِ زَمِيلَةٌ جَدِيدَةٌ. اِسْمُهَا زَيْنَبُ. هِيَ ذَكِيَّةٌ وَسَعِيدَةٌ.</a:t>
            </a:r>
            <a:endParaRPr lang="ar-SA" sz="2000" dirty="0"/>
          </a:p>
        </p:txBody>
      </p:sp>
      <p:sp>
        <p:nvSpPr>
          <p:cNvPr id="20" name="Text 17"/>
          <p:cNvSpPr txBox="1"/>
          <p:nvPr/>
        </p:nvSpPr>
        <p:spPr>
          <a:xfrm>
            <a:off x="640080" y="2971800"/>
            <a:ext cx="4160520" cy="1033272"/>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This is a new classmate (f.). Her name is Zaynab. She is clever and happy.</a:t>
            </a:r>
            <a:endParaRPr lang="en-US" sz="1250" dirty="0"/>
          </a:p>
        </p:txBody>
      </p:sp>
      <p:sp>
        <p:nvSpPr>
          <p:cNvPr id="21" name="Shape 18"/>
          <p:cNvSpPr/>
          <p:nvPr/>
        </p:nvSpPr>
        <p:spPr>
          <a:xfrm>
            <a:off x="457200" y="4096512"/>
            <a:ext cx="11274552" cy="1069848"/>
          </a:xfrm>
          <a:prstGeom prst="roundRect">
            <a:avLst>
              <a:gd name="adj" fmla="val 4274"/>
            </a:avLst>
          </a:prstGeom>
          <a:solidFill>
            <a:srgbClr val="FFFFFF"/>
          </a:solidFill>
          <a:ln w="9525">
            <a:solidFill>
              <a:srgbClr val="D8D0BF"/>
            </a:solidFill>
            <a:prstDash val="solid"/>
          </a:ln>
        </p:spPr>
      </p:sp>
      <p:sp>
        <p:nvSpPr>
          <p:cNvPr id="22" name="Text 19"/>
          <p:cNvSpPr txBox="1"/>
          <p:nvPr/>
        </p:nvSpPr>
        <p:spPr>
          <a:xfrm>
            <a:off x="4937760" y="4114800"/>
            <a:ext cx="6675120" cy="103327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34" charset="0"/>
                <a:ea typeface="Amiri" pitchFamily="34" charset="-122"/>
                <a:cs typeface="Amiri" pitchFamily="34" charset="-120"/>
              </a:rPr>
              <a:t>هَذَا طِفْلٌ صَغِيرٌ، وَهَذِهِ طِفْلَةٌ صَغِيرَةٌ.</a:t>
            </a:r>
            <a:endParaRPr lang="ar-SA" sz="2000" dirty="0"/>
          </a:p>
        </p:txBody>
      </p:sp>
      <p:sp>
        <p:nvSpPr>
          <p:cNvPr id="23" name="Text 20"/>
          <p:cNvSpPr txBox="1"/>
          <p:nvPr/>
        </p:nvSpPr>
        <p:spPr>
          <a:xfrm>
            <a:off x="640080" y="4114800"/>
            <a:ext cx="4160520" cy="1033272"/>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This is a young boy, and this is a young girl.</a:t>
            </a:r>
            <a:endParaRPr lang="en-US" sz="1250" dirty="0"/>
          </a:p>
        </p:txBody>
      </p:sp>
      <p:sp>
        <p:nvSpPr>
          <p:cNvPr id="24" name="Shape 21"/>
          <p:cNvSpPr/>
          <p:nvPr/>
        </p:nvSpPr>
        <p:spPr>
          <a:xfrm>
            <a:off x="457200" y="5239512"/>
            <a:ext cx="11274552" cy="1069848"/>
          </a:xfrm>
          <a:prstGeom prst="roundRect">
            <a:avLst>
              <a:gd name="adj" fmla="val 4274"/>
            </a:avLst>
          </a:prstGeom>
          <a:solidFill>
            <a:srgbClr val="F4F1EA"/>
          </a:solidFill>
          <a:ln w="9525">
            <a:solidFill>
              <a:srgbClr val="D8D0BF"/>
            </a:solidFill>
            <a:prstDash val="solid"/>
          </a:ln>
        </p:spPr>
      </p:sp>
      <p:sp>
        <p:nvSpPr>
          <p:cNvPr id="25" name="Text 22"/>
          <p:cNvSpPr txBox="1"/>
          <p:nvPr/>
        </p:nvSpPr>
        <p:spPr>
          <a:xfrm>
            <a:off x="4937760" y="5257800"/>
            <a:ext cx="6675120" cy="103327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34" charset="0"/>
                <a:ea typeface="Amiri" pitchFamily="34" charset="-122"/>
                <a:cs typeface="Amiri" pitchFamily="34" charset="-120"/>
              </a:rPr>
              <a:t>هَذَا أَخٌ طَوِيلٌ، وَهَذِهِ أُخْتٌ قَصِيرَةٌ.</a:t>
            </a:r>
            <a:endParaRPr lang="ar-SA" sz="2000" dirty="0"/>
          </a:p>
        </p:txBody>
      </p:sp>
      <p:sp>
        <p:nvSpPr>
          <p:cNvPr id="26" name="Text 23"/>
          <p:cNvSpPr txBox="1"/>
          <p:nvPr/>
        </p:nvSpPr>
        <p:spPr>
          <a:xfrm>
            <a:off x="640080" y="5257800"/>
            <a:ext cx="4160520" cy="1033272"/>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This is a tall brother, and this is a short sister.</a:t>
            </a:r>
            <a:endParaRPr lang="en-US" sz="1250" dirty="0"/>
          </a:p>
        </p:txBody>
      </p:sp>
      <p:sp>
        <p:nvSpPr>
          <p:cNvPr id="27" name="Text 24"/>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ea typeface="Calibri" pitchFamily="34" charset="-122"/>
                <a:cs typeface="Calibri" pitchFamily="34" charset="-120"/>
              </a:rPr>
              <a:t>23 / 36</a:t>
            </a:r>
            <a:endParaRPr lang="en-US" sz="85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34" charset="0"/>
                <a:ea typeface="Amiri" pitchFamily="34" charset="-122"/>
                <a:cs typeface="Amiri" pitchFamily="34" charset="-120"/>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ea typeface="Cambria" pitchFamily="34" charset="-122"/>
                <a:cs typeface="Cambria" pitchFamily="34" charset="-120"/>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ea typeface="Calibri" pitchFamily="34" charset="-122"/>
                <a:cs typeface="Calibri" pitchFamily="34" charset="-120"/>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ea typeface="Calibri" pitchFamily="34" charset="-122"/>
                <a:cs typeface="Calibri" pitchFamily="34" charset="-120"/>
              </a:rPr>
              <a:t>F2-L05 · Masculine &amp; Feminine</a:t>
            </a:r>
            <a:endParaRPr lang="en-US" sz="950" dirty="0"/>
          </a:p>
        </p:txBody>
      </p:sp>
      <p:sp>
        <p:nvSpPr>
          <p:cNvPr id="8" name="Shape 6"/>
          <p:cNvSpPr/>
          <p:nvPr/>
        </p:nvSpPr>
        <p:spPr>
          <a:xfrm>
            <a:off x="7388352" y="274320"/>
            <a:ext cx="1371600"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ea typeface="Calibri" pitchFamily="34" charset="-122"/>
                <a:cs typeface="Calibri" pitchFamily="34" charset="-120"/>
              </a:rPr>
              <a:t>WE DO</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ea typeface="Calibri" pitchFamily="34" charset="-122"/>
                <a:cs typeface="Calibri" pitchFamily="34" charset="-120"/>
              </a:rPr>
              <a:t>WE DO · LISTENING ANSWERS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ea typeface="Cambria" pitchFamily="34" charset="-122"/>
                <a:cs typeface="Cambria" pitchFamily="34" charset="-120"/>
              </a:rPr>
              <a:t>Listening: answers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34" charset="0"/>
                <a:ea typeface="Amiri" pitchFamily="34" charset="-122"/>
                <a:cs typeface="Amiri" pitchFamily="34" charset="-120"/>
              </a:rPr>
              <a:t>إِجَابَاتُ الاِسْتِمَاعِ</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ea typeface="Calibri" pitchFamily="34" charset="-122"/>
                <a:cs typeface="Calibri" pitchFamily="34" charset="-120"/>
              </a:rPr>
              <a:t>Miftah Arabic · Foundation F2 · Greetings &amp; Introductions · Week 2 · Lesson 2 of 3</a:t>
            </a:r>
            <a:endParaRPr lang="en-US" sz="850" dirty="0"/>
          </a:p>
        </p:txBody>
      </p:sp>
      <p:sp>
        <p:nvSpPr>
          <p:cNvPr id="15" name="Shape 12"/>
          <p:cNvSpPr/>
          <p:nvPr/>
        </p:nvSpPr>
        <p:spPr>
          <a:xfrm>
            <a:off x="457200"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1</a:t>
            </a:r>
            <a:endParaRPr lang="en-US" sz="1100" dirty="0"/>
          </a:p>
        </p:txBody>
      </p:sp>
      <p:sp>
        <p:nvSpPr>
          <p:cNvPr id="18" name="Text 15"/>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Description 1 is about a…</a:t>
            </a:r>
            <a:endParaRPr lang="en-US" sz="1250" dirty="0"/>
          </a:p>
        </p:txBody>
      </p:sp>
      <p:sp>
        <p:nvSpPr>
          <p:cNvPr id="19" name="Shape 16"/>
          <p:cNvSpPr/>
          <p:nvPr/>
        </p:nvSpPr>
        <p:spPr>
          <a:xfrm>
            <a:off x="548640" y="2453640"/>
            <a:ext cx="3453384" cy="347472"/>
          </a:xfrm>
          <a:prstGeom prst="roundRect">
            <a:avLst>
              <a:gd name="adj" fmla="val 15789"/>
            </a:avLst>
          </a:prstGeom>
          <a:solidFill>
            <a:srgbClr val="E6F4EC"/>
          </a:solidFill>
          <a:ln w="9525">
            <a:solidFill>
              <a:srgbClr val="2E8B57"/>
            </a:solidFill>
            <a:prstDash val="solid"/>
          </a:ln>
        </p:spPr>
      </p:sp>
      <p:sp>
        <p:nvSpPr>
          <p:cNvPr id="20" name="Shape 17"/>
          <p:cNvSpPr/>
          <p:nvPr/>
        </p:nvSpPr>
        <p:spPr>
          <a:xfrm>
            <a:off x="640080" y="2490216"/>
            <a:ext cx="256032" cy="256032"/>
          </a:xfrm>
          <a:prstGeom prst="ellipse">
            <a:avLst/>
          </a:prstGeom>
          <a:solidFill>
            <a:srgbClr val="2E8B57"/>
          </a:solidFill>
          <a:ln w="12700">
            <a:solidFill>
              <a:srgbClr val="2E8B57"/>
            </a:solidFill>
            <a:prstDash val="solid"/>
          </a:ln>
        </p:spPr>
      </p:sp>
      <p:sp>
        <p:nvSpPr>
          <p:cNvPr id="21" name="Text 18"/>
          <p:cNvSpPr txBox="1"/>
          <p:nvPr/>
        </p:nvSpPr>
        <p:spPr>
          <a:xfrm>
            <a:off x="640080" y="249021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A</a:t>
            </a:r>
            <a:endParaRPr lang="en-US" sz="900" dirty="0"/>
          </a:p>
        </p:txBody>
      </p:sp>
      <p:sp>
        <p:nvSpPr>
          <p:cNvPr id="22" name="Text 19"/>
          <p:cNvSpPr txBox="1"/>
          <p:nvPr/>
        </p:nvSpPr>
        <p:spPr>
          <a:xfrm>
            <a:off x="969264" y="2432304"/>
            <a:ext cx="2977896"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34" charset="0"/>
                <a:ea typeface="Amiri" pitchFamily="34" charset="-122"/>
                <a:cs typeface="Amiri" pitchFamily="34" charset="-120"/>
              </a:rPr>
              <a:t>زَمِيلٌ</a:t>
            </a:r>
            <a:endParaRPr lang="ar-SA" sz="1700" dirty="0"/>
          </a:p>
        </p:txBody>
      </p:sp>
      <p:sp>
        <p:nvSpPr>
          <p:cNvPr id="23" name="Shape 20"/>
          <p:cNvSpPr/>
          <p:nvPr/>
        </p:nvSpPr>
        <p:spPr>
          <a:xfrm>
            <a:off x="640080" y="2862072"/>
            <a:ext cx="256032" cy="256032"/>
          </a:xfrm>
          <a:prstGeom prst="ellipse">
            <a:avLst/>
          </a:prstGeom>
          <a:solidFill>
            <a:srgbClr val="C9CED6"/>
          </a:solidFill>
          <a:ln w="12700">
            <a:solidFill>
              <a:srgbClr val="C9CED6"/>
            </a:solidFill>
            <a:prstDash val="solid"/>
          </a:ln>
        </p:spPr>
      </p:sp>
      <p:sp>
        <p:nvSpPr>
          <p:cNvPr id="24" name="Text 21"/>
          <p:cNvSpPr txBox="1"/>
          <p:nvPr/>
        </p:nvSpPr>
        <p:spPr>
          <a:xfrm>
            <a:off x="640080"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25" name="Text 22"/>
          <p:cNvSpPr txBox="1"/>
          <p:nvPr/>
        </p:nvSpPr>
        <p:spPr>
          <a:xfrm>
            <a:off x="969264" y="2804160"/>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34" charset="0"/>
                <a:ea typeface="Amiri" pitchFamily="34" charset="-122"/>
                <a:cs typeface="Amiri" pitchFamily="34" charset="-120"/>
              </a:rPr>
              <a:t>مُعَلِّمٌ</a:t>
            </a:r>
            <a:endParaRPr lang="ar-SA" sz="1700" dirty="0"/>
          </a:p>
        </p:txBody>
      </p:sp>
      <p:sp>
        <p:nvSpPr>
          <p:cNvPr id="26" name="Shape 23"/>
          <p:cNvSpPr/>
          <p:nvPr/>
        </p:nvSpPr>
        <p:spPr>
          <a:xfrm>
            <a:off x="640080" y="3233928"/>
            <a:ext cx="256032" cy="256032"/>
          </a:xfrm>
          <a:prstGeom prst="ellipse">
            <a:avLst/>
          </a:prstGeom>
          <a:solidFill>
            <a:srgbClr val="C9CED6"/>
          </a:solidFill>
          <a:ln w="12700">
            <a:solidFill>
              <a:srgbClr val="C9CED6"/>
            </a:solidFill>
            <a:prstDash val="solid"/>
          </a:ln>
        </p:spPr>
      </p:sp>
      <p:sp>
        <p:nvSpPr>
          <p:cNvPr id="27" name="Text 24"/>
          <p:cNvSpPr txBox="1"/>
          <p:nvPr/>
        </p:nvSpPr>
        <p:spPr>
          <a:xfrm>
            <a:off x="640080"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C</a:t>
            </a:r>
            <a:endParaRPr lang="en-US" sz="900" dirty="0"/>
          </a:p>
        </p:txBody>
      </p:sp>
      <p:sp>
        <p:nvSpPr>
          <p:cNvPr id="28" name="Text 25"/>
          <p:cNvSpPr txBox="1"/>
          <p:nvPr/>
        </p:nvSpPr>
        <p:spPr>
          <a:xfrm>
            <a:off x="969264" y="3176016"/>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34" charset="0"/>
                <a:ea typeface="Amiri" pitchFamily="34" charset="-122"/>
                <a:cs typeface="Amiri" pitchFamily="34" charset="-120"/>
              </a:rPr>
              <a:t>طِفْلٌ</a:t>
            </a:r>
            <a:endParaRPr lang="ar-SA" sz="1700" dirty="0"/>
          </a:p>
        </p:txBody>
      </p:sp>
      <p:sp>
        <p:nvSpPr>
          <p:cNvPr id="29" name="Text 26"/>
          <p:cNvSpPr txBox="1"/>
          <p:nvPr/>
        </p:nvSpPr>
        <p:spPr>
          <a:xfrm>
            <a:off x="585216" y="3566160"/>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ea typeface="Calibri" pitchFamily="34" charset="-122"/>
                <a:cs typeface="Calibri" pitchFamily="34" charset="-120"/>
              </a:rPr>
              <a:t>The speaker says </a:t>
            </a:r>
            <a:pPr algn="l" indent="0" marL="0">
              <a:buNone/>
            </a:pPr>
            <a:r>
              <a:rPr lang="ar-SA" altLang="en-US" sz="1350" dirty="0">
                <a:solidFill>
                  <a:srgbClr val="8A6D1E"/>
                </a:solidFill>
                <a:latin typeface="Amiri" pitchFamily="34" charset="0"/>
                <a:ea typeface="Amiri" pitchFamily="34" charset="-122"/>
                <a:cs typeface="Amiri" pitchFamily="34" charset="-120"/>
              </a:rPr>
              <a:t>هَذَا زَمِيلٌ جَدِيدٌ</a:t>
            </a:r>
            <a:pPr algn="l" indent="0" marL="0">
              <a:buNone/>
            </a:pPr>
            <a:r>
              <a:rPr lang="en-US" sz="1050" i="1" dirty="0">
                <a:solidFill>
                  <a:srgbClr val="8A6D1E"/>
                </a:solidFill>
                <a:latin typeface="Calibri" pitchFamily="34" charset="0"/>
                <a:ea typeface="Calibri" pitchFamily="34" charset="-122"/>
                <a:cs typeface="Calibri" pitchFamily="34" charset="-120"/>
              </a:rPr>
              <a:t>.</a:t>
            </a:r>
            <a:endParaRPr lang="en-US" sz="1050" dirty="0"/>
          </a:p>
        </p:txBody>
      </p:sp>
      <p:sp>
        <p:nvSpPr>
          <p:cNvPr id="30" name="Shape 27"/>
          <p:cNvSpPr/>
          <p:nvPr/>
        </p:nvSpPr>
        <p:spPr>
          <a:xfrm>
            <a:off x="4276344"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4404360" y="1947672"/>
            <a:ext cx="310896" cy="310896"/>
          </a:xfrm>
          <a:prstGeom prst="ellipse">
            <a:avLst/>
          </a:prstGeom>
          <a:solidFill>
            <a:srgbClr val="1B3B6F"/>
          </a:solidFill>
          <a:ln w="12700">
            <a:solidFill>
              <a:srgbClr val="1B3B6F"/>
            </a:solidFill>
            <a:prstDash val="solid"/>
          </a:ln>
        </p:spPr>
      </p:sp>
      <p:sp>
        <p:nvSpPr>
          <p:cNvPr id="32" name="Text 29"/>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2</a:t>
            </a:r>
            <a:endParaRPr lang="en-US" sz="1100" dirty="0"/>
          </a:p>
        </p:txBody>
      </p:sp>
      <p:sp>
        <p:nvSpPr>
          <p:cNvPr id="33" name="Text 30"/>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Which two adjectives describe Yusuf?</a:t>
            </a:r>
            <a:endParaRPr lang="en-US" sz="1250" dirty="0"/>
          </a:p>
        </p:txBody>
      </p:sp>
      <p:sp>
        <p:nvSpPr>
          <p:cNvPr id="34" name="Shape 31"/>
          <p:cNvSpPr/>
          <p:nvPr/>
        </p:nvSpPr>
        <p:spPr>
          <a:xfrm>
            <a:off x="4459224" y="2490216"/>
            <a:ext cx="256032" cy="256032"/>
          </a:xfrm>
          <a:prstGeom prst="ellipse">
            <a:avLst/>
          </a:prstGeom>
          <a:solidFill>
            <a:srgbClr val="C9CED6"/>
          </a:solidFill>
          <a:ln w="12700">
            <a:solidFill>
              <a:srgbClr val="C9CED6"/>
            </a:solidFill>
            <a:prstDash val="solid"/>
          </a:ln>
        </p:spPr>
      </p:sp>
      <p:sp>
        <p:nvSpPr>
          <p:cNvPr id="35" name="Text 32"/>
          <p:cNvSpPr txBox="1"/>
          <p:nvPr/>
        </p:nvSpPr>
        <p:spPr>
          <a:xfrm>
            <a:off x="4459224"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A</a:t>
            </a:r>
            <a:endParaRPr lang="en-US" sz="900" dirty="0"/>
          </a:p>
        </p:txBody>
      </p:sp>
      <p:sp>
        <p:nvSpPr>
          <p:cNvPr id="36" name="Text 33"/>
          <p:cNvSpPr txBox="1"/>
          <p:nvPr/>
        </p:nvSpPr>
        <p:spPr>
          <a:xfrm>
            <a:off x="4788408" y="2432304"/>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34" charset="0"/>
                <a:ea typeface="Amiri" pitchFamily="34" charset="-122"/>
                <a:cs typeface="Amiri" pitchFamily="34" charset="-120"/>
              </a:rPr>
              <a:t>ذَكِيٌّ وَقَصِيرٌ</a:t>
            </a:r>
            <a:endParaRPr lang="ar-SA" sz="1700" dirty="0"/>
          </a:p>
        </p:txBody>
      </p:sp>
      <p:sp>
        <p:nvSpPr>
          <p:cNvPr id="37" name="Shape 34"/>
          <p:cNvSpPr/>
          <p:nvPr/>
        </p:nvSpPr>
        <p:spPr>
          <a:xfrm>
            <a:off x="4459224" y="2862072"/>
            <a:ext cx="256032" cy="256032"/>
          </a:xfrm>
          <a:prstGeom prst="ellipse">
            <a:avLst/>
          </a:prstGeom>
          <a:solidFill>
            <a:srgbClr val="C9CED6"/>
          </a:solidFill>
          <a:ln w="12700">
            <a:solidFill>
              <a:srgbClr val="C9CED6"/>
            </a:solidFill>
            <a:prstDash val="solid"/>
          </a:ln>
        </p:spPr>
      </p:sp>
      <p:sp>
        <p:nvSpPr>
          <p:cNvPr id="38" name="Text 35"/>
          <p:cNvSpPr txBox="1"/>
          <p:nvPr/>
        </p:nvSpPr>
        <p:spPr>
          <a:xfrm>
            <a:off x="4459224"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39" name="Text 36"/>
          <p:cNvSpPr txBox="1"/>
          <p:nvPr/>
        </p:nvSpPr>
        <p:spPr>
          <a:xfrm>
            <a:off x="4788408" y="2804160"/>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34" charset="0"/>
                <a:ea typeface="Amiri" pitchFamily="34" charset="-122"/>
                <a:cs typeface="Amiri" pitchFamily="34" charset="-120"/>
              </a:rPr>
              <a:t>سَعِيدٌ وَصَغِيرٌ</a:t>
            </a:r>
            <a:endParaRPr lang="ar-SA" sz="1700" dirty="0"/>
          </a:p>
        </p:txBody>
      </p:sp>
      <p:sp>
        <p:nvSpPr>
          <p:cNvPr id="40" name="Shape 37"/>
          <p:cNvSpPr/>
          <p:nvPr/>
        </p:nvSpPr>
        <p:spPr>
          <a:xfrm>
            <a:off x="4367784" y="3197352"/>
            <a:ext cx="3453384" cy="347472"/>
          </a:xfrm>
          <a:prstGeom prst="roundRect">
            <a:avLst>
              <a:gd name="adj" fmla="val 15789"/>
            </a:avLst>
          </a:prstGeom>
          <a:solidFill>
            <a:srgbClr val="E6F4EC"/>
          </a:solidFill>
          <a:ln w="9525">
            <a:solidFill>
              <a:srgbClr val="2E8B57"/>
            </a:solidFill>
            <a:prstDash val="solid"/>
          </a:ln>
        </p:spPr>
      </p:sp>
      <p:sp>
        <p:nvSpPr>
          <p:cNvPr id="41" name="Shape 38"/>
          <p:cNvSpPr/>
          <p:nvPr/>
        </p:nvSpPr>
        <p:spPr>
          <a:xfrm>
            <a:off x="4459224" y="3233928"/>
            <a:ext cx="256032" cy="256032"/>
          </a:xfrm>
          <a:prstGeom prst="ellipse">
            <a:avLst/>
          </a:prstGeom>
          <a:solidFill>
            <a:srgbClr val="2E8B57"/>
          </a:solidFill>
          <a:ln w="12700">
            <a:solidFill>
              <a:srgbClr val="2E8B57"/>
            </a:solidFill>
            <a:prstDash val="solid"/>
          </a:ln>
        </p:spPr>
      </p:sp>
      <p:sp>
        <p:nvSpPr>
          <p:cNvPr id="42" name="Text 39"/>
          <p:cNvSpPr txBox="1"/>
          <p:nvPr/>
        </p:nvSpPr>
        <p:spPr>
          <a:xfrm>
            <a:off x="4459224" y="323392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C</a:t>
            </a:r>
            <a:endParaRPr lang="en-US" sz="900" dirty="0"/>
          </a:p>
        </p:txBody>
      </p:sp>
      <p:sp>
        <p:nvSpPr>
          <p:cNvPr id="43" name="Text 40"/>
          <p:cNvSpPr txBox="1"/>
          <p:nvPr/>
        </p:nvSpPr>
        <p:spPr>
          <a:xfrm>
            <a:off x="4788408" y="3176016"/>
            <a:ext cx="2977896"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34" charset="0"/>
                <a:ea typeface="Amiri" pitchFamily="34" charset="-122"/>
                <a:cs typeface="Amiri" pitchFamily="34" charset="-120"/>
              </a:rPr>
              <a:t>لَطِيفٌ وَطَوِيلٌ</a:t>
            </a:r>
            <a:endParaRPr lang="ar-SA" sz="1700" dirty="0"/>
          </a:p>
        </p:txBody>
      </p:sp>
      <p:sp>
        <p:nvSpPr>
          <p:cNvPr id="44" name="Text 41"/>
          <p:cNvSpPr txBox="1"/>
          <p:nvPr/>
        </p:nvSpPr>
        <p:spPr>
          <a:xfrm>
            <a:off x="4404360" y="3566160"/>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ea typeface="Calibri" pitchFamily="34" charset="-122"/>
                <a:cs typeface="Calibri" pitchFamily="34" charset="-120"/>
              </a:rPr>
              <a:t>Yusuf is described as kind and tall.</a:t>
            </a:r>
            <a:endParaRPr lang="en-US" sz="1050" dirty="0"/>
          </a:p>
        </p:txBody>
      </p:sp>
      <p:sp>
        <p:nvSpPr>
          <p:cNvPr id="45" name="Shape 42"/>
          <p:cNvSpPr/>
          <p:nvPr/>
        </p:nvSpPr>
        <p:spPr>
          <a:xfrm>
            <a:off x="8095488"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6" name="Shape 43"/>
          <p:cNvSpPr/>
          <p:nvPr/>
        </p:nvSpPr>
        <p:spPr>
          <a:xfrm>
            <a:off x="8223504" y="1947672"/>
            <a:ext cx="310896" cy="310896"/>
          </a:xfrm>
          <a:prstGeom prst="ellipse">
            <a:avLst/>
          </a:prstGeom>
          <a:solidFill>
            <a:srgbClr val="1B3B6F"/>
          </a:solidFill>
          <a:ln w="12700">
            <a:solidFill>
              <a:srgbClr val="1B3B6F"/>
            </a:solidFill>
            <a:prstDash val="solid"/>
          </a:ln>
        </p:spPr>
      </p:sp>
      <p:sp>
        <p:nvSpPr>
          <p:cNvPr id="47" name="Text 44"/>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3</a:t>
            </a:r>
            <a:endParaRPr lang="en-US" sz="1100" dirty="0"/>
          </a:p>
        </p:txBody>
      </p:sp>
      <p:sp>
        <p:nvSpPr>
          <p:cNvPr id="48" name="Text 45"/>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Description 2 uses which feminine noun?</a:t>
            </a:r>
            <a:endParaRPr lang="en-US" sz="1250" dirty="0"/>
          </a:p>
        </p:txBody>
      </p:sp>
      <p:sp>
        <p:nvSpPr>
          <p:cNvPr id="49" name="Shape 46"/>
          <p:cNvSpPr/>
          <p:nvPr/>
        </p:nvSpPr>
        <p:spPr>
          <a:xfrm>
            <a:off x="8278368" y="2490216"/>
            <a:ext cx="256032" cy="256032"/>
          </a:xfrm>
          <a:prstGeom prst="ellipse">
            <a:avLst/>
          </a:prstGeom>
          <a:solidFill>
            <a:srgbClr val="C9CED6"/>
          </a:solidFill>
          <a:ln w="12700">
            <a:solidFill>
              <a:srgbClr val="C9CED6"/>
            </a:solidFill>
            <a:prstDash val="solid"/>
          </a:ln>
        </p:spPr>
      </p:sp>
      <p:sp>
        <p:nvSpPr>
          <p:cNvPr id="50" name="Text 47"/>
          <p:cNvSpPr txBox="1"/>
          <p:nvPr/>
        </p:nvSpPr>
        <p:spPr>
          <a:xfrm>
            <a:off x="8278368"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A</a:t>
            </a:r>
            <a:endParaRPr lang="en-US" sz="900" dirty="0"/>
          </a:p>
        </p:txBody>
      </p:sp>
      <p:sp>
        <p:nvSpPr>
          <p:cNvPr id="51" name="Text 48"/>
          <p:cNvSpPr txBox="1"/>
          <p:nvPr/>
        </p:nvSpPr>
        <p:spPr>
          <a:xfrm>
            <a:off x="8607552" y="2432304"/>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34" charset="0"/>
                <a:ea typeface="Amiri" pitchFamily="34" charset="-122"/>
                <a:cs typeface="Amiri" pitchFamily="34" charset="-120"/>
              </a:rPr>
              <a:t>صَدِيقَةٌ</a:t>
            </a:r>
            <a:endParaRPr lang="ar-SA" sz="1700" dirty="0"/>
          </a:p>
        </p:txBody>
      </p:sp>
      <p:sp>
        <p:nvSpPr>
          <p:cNvPr id="52" name="Shape 49"/>
          <p:cNvSpPr/>
          <p:nvPr/>
        </p:nvSpPr>
        <p:spPr>
          <a:xfrm>
            <a:off x="8278368" y="2862072"/>
            <a:ext cx="256032" cy="256032"/>
          </a:xfrm>
          <a:prstGeom prst="ellipse">
            <a:avLst/>
          </a:prstGeom>
          <a:solidFill>
            <a:srgbClr val="C9CED6"/>
          </a:solidFill>
          <a:ln w="12700">
            <a:solidFill>
              <a:srgbClr val="C9CED6"/>
            </a:solidFill>
            <a:prstDash val="solid"/>
          </a:ln>
        </p:spPr>
      </p:sp>
      <p:sp>
        <p:nvSpPr>
          <p:cNvPr id="53" name="Text 50"/>
          <p:cNvSpPr txBox="1"/>
          <p:nvPr/>
        </p:nvSpPr>
        <p:spPr>
          <a:xfrm>
            <a:off x="8278368"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54" name="Text 51"/>
          <p:cNvSpPr txBox="1"/>
          <p:nvPr/>
        </p:nvSpPr>
        <p:spPr>
          <a:xfrm>
            <a:off x="8607552" y="2804160"/>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34" charset="0"/>
                <a:ea typeface="Amiri" pitchFamily="34" charset="-122"/>
                <a:cs typeface="Amiri" pitchFamily="34" charset="-120"/>
              </a:rPr>
              <a:t>مُعَلِّمَةٌ</a:t>
            </a:r>
            <a:endParaRPr lang="ar-SA" sz="1700" dirty="0"/>
          </a:p>
        </p:txBody>
      </p:sp>
      <p:sp>
        <p:nvSpPr>
          <p:cNvPr id="55" name="Shape 52"/>
          <p:cNvSpPr/>
          <p:nvPr/>
        </p:nvSpPr>
        <p:spPr>
          <a:xfrm>
            <a:off x="8186928" y="3197352"/>
            <a:ext cx="3453384" cy="347472"/>
          </a:xfrm>
          <a:prstGeom prst="roundRect">
            <a:avLst>
              <a:gd name="adj" fmla="val 15789"/>
            </a:avLst>
          </a:prstGeom>
          <a:solidFill>
            <a:srgbClr val="E6F4EC"/>
          </a:solidFill>
          <a:ln w="9525">
            <a:solidFill>
              <a:srgbClr val="2E8B57"/>
            </a:solidFill>
            <a:prstDash val="solid"/>
          </a:ln>
        </p:spPr>
      </p:sp>
      <p:sp>
        <p:nvSpPr>
          <p:cNvPr id="56" name="Shape 53"/>
          <p:cNvSpPr/>
          <p:nvPr/>
        </p:nvSpPr>
        <p:spPr>
          <a:xfrm>
            <a:off x="8278368" y="3233928"/>
            <a:ext cx="256032" cy="256032"/>
          </a:xfrm>
          <a:prstGeom prst="ellipse">
            <a:avLst/>
          </a:prstGeom>
          <a:solidFill>
            <a:srgbClr val="2E8B57"/>
          </a:solidFill>
          <a:ln w="12700">
            <a:solidFill>
              <a:srgbClr val="2E8B57"/>
            </a:solidFill>
            <a:prstDash val="solid"/>
          </a:ln>
        </p:spPr>
      </p:sp>
      <p:sp>
        <p:nvSpPr>
          <p:cNvPr id="57" name="Text 54"/>
          <p:cNvSpPr txBox="1"/>
          <p:nvPr/>
        </p:nvSpPr>
        <p:spPr>
          <a:xfrm>
            <a:off x="8278368" y="323392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C</a:t>
            </a:r>
            <a:endParaRPr lang="en-US" sz="900" dirty="0"/>
          </a:p>
        </p:txBody>
      </p:sp>
      <p:sp>
        <p:nvSpPr>
          <p:cNvPr id="58" name="Text 55"/>
          <p:cNvSpPr txBox="1"/>
          <p:nvPr/>
        </p:nvSpPr>
        <p:spPr>
          <a:xfrm>
            <a:off x="8607552" y="3176016"/>
            <a:ext cx="2977896"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34" charset="0"/>
                <a:ea typeface="Amiri" pitchFamily="34" charset="-122"/>
                <a:cs typeface="Amiri" pitchFamily="34" charset="-120"/>
              </a:rPr>
              <a:t>زَمِيلَةٌ</a:t>
            </a:r>
            <a:endParaRPr lang="ar-SA" sz="1700" dirty="0"/>
          </a:p>
        </p:txBody>
      </p:sp>
      <p:sp>
        <p:nvSpPr>
          <p:cNvPr id="59" name="Text 56"/>
          <p:cNvSpPr txBox="1"/>
          <p:nvPr/>
        </p:nvSpPr>
        <p:spPr>
          <a:xfrm>
            <a:off x="8223504" y="3566160"/>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ea typeface="Calibri" pitchFamily="34" charset="-122"/>
                <a:cs typeface="Calibri" pitchFamily="34" charset="-120"/>
              </a:rPr>
              <a:t>The speaker introduces Zaynab as </a:t>
            </a:r>
            <a:pPr algn="l" indent="0" marL="0">
              <a:buNone/>
            </a:pPr>
            <a:r>
              <a:rPr lang="ar-SA" altLang="en-US" sz="1350" dirty="0">
                <a:solidFill>
                  <a:srgbClr val="8A6D1E"/>
                </a:solidFill>
                <a:latin typeface="Amiri" pitchFamily="34" charset="0"/>
                <a:ea typeface="Amiri" pitchFamily="34" charset="-122"/>
                <a:cs typeface="Amiri" pitchFamily="34" charset="-120"/>
              </a:rPr>
              <a:t>زَمِيلَةٌ</a:t>
            </a:r>
            <a:pPr algn="l" indent="0" marL="0">
              <a:buNone/>
            </a:pPr>
            <a:r>
              <a:rPr lang="en-US" sz="1050" i="1" dirty="0">
                <a:solidFill>
                  <a:srgbClr val="8A6D1E"/>
                </a:solidFill>
                <a:latin typeface="Calibri" pitchFamily="34" charset="0"/>
                <a:ea typeface="Calibri" pitchFamily="34" charset="-122"/>
                <a:cs typeface="Calibri" pitchFamily="34" charset="-120"/>
              </a:rPr>
              <a:t>.</a:t>
            </a:r>
            <a:endParaRPr lang="en-US" sz="1050" dirty="0"/>
          </a:p>
        </p:txBody>
      </p:sp>
      <p:sp>
        <p:nvSpPr>
          <p:cNvPr id="60" name="Shape 57"/>
          <p:cNvSpPr/>
          <p:nvPr/>
        </p:nvSpPr>
        <p:spPr>
          <a:xfrm>
            <a:off x="457200"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1" name="Shape 58"/>
          <p:cNvSpPr/>
          <p:nvPr/>
        </p:nvSpPr>
        <p:spPr>
          <a:xfrm>
            <a:off x="585216" y="4288536"/>
            <a:ext cx="310896" cy="310896"/>
          </a:xfrm>
          <a:prstGeom prst="ellipse">
            <a:avLst/>
          </a:prstGeom>
          <a:solidFill>
            <a:srgbClr val="1B3B6F"/>
          </a:solidFill>
          <a:ln w="12700">
            <a:solidFill>
              <a:srgbClr val="1B3B6F"/>
            </a:solidFill>
            <a:prstDash val="solid"/>
          </a:ln>
        </p:spPr>
      </p:sp>
      <p:sp>
        <p:nvSpPr>
          <p:cNvPr id="62" name="Text 59"/>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4</a:t>
            </a:r>
            <a:endParaRPr lang="en-US" sz="1100" dirty="0"/>
          </a:p>
        </p:txBody>
      </p:sp>
      <p:sp>
        <p:nvSpPr>
          <p:cNvPr id="63" name="Text 60"/>
          <p:cNvSpPr txBox="1"/>
          <p:nvPr/>
        </p:nvSpPr>
        <p:spPr>
          <a:xfrm>
            <a:off x="950976"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Zaynab is…</a:t>
            </a:r>
            <a:endParaRPr lang="en-US" sz="1250" dirty="0"/>
          </a:p>
        </p:txBody>
      </p:sp>
      <p:sp>
        <p:nvSpPr>
          <p:cNvPr id="64" name="Shape 61"/>
          <p:cNvSpPr/>
          <p:nvPr/>
        </p:nvSpPr>
        <p:spPr>
          <a:xfrm>
            <a:off x="548640" y="4794504"/>
            <a:ext cx="3453384" cy="347472"/>
          </a:xfrm>
          <a:prstGeom prst="roundRect">
            <a:avLst>
              <a:gd name="adj" fmla="val 15789"/>
            </a:avLst>
          </a:prstGeom>
          <a:solidFill>
            <a:srgbClr val="E6F4EC"/>
          </a:solidFill>
          <a:ln w="9525">
            <a:solidFill>
              <a:srgbClr val="2E8B57"/>
            </a:solidFill>
            <a:prstDash val="solid"/>
          </a:ln>
        </p:spPr>
      </p:sp>
      <p:sp>
        <p:nvSpPr>
          <p:cNvPr id="65" name="Shape 62"/>
          <p:cNvSpPr/>
          <p:nvPr/>
        </p:nvSpPr>
        <p:spPr>
          <a:xfrm>
            <a:off x="640080" y="4831080"/>
            <a:ext cx="256032" cy="256032"/>
          </a:xfrm>
          <a:prstGeom prst="ellipse">
            <a:avLst/>
          </a:prstGeom>
          <a:solidFill>
            <a:srgbClr val="2E8B57"/>
          </a:solidFill>
          <a:ln w="12700">
            <a:solidFill>
              <a:srgbClr val="2E8B57"/>
            </a:solidFill>
            <a:prstDash val="solid"/>
          </a:ln>
        </p:spPr>
      </p:sp>
      <p:sp>
        <p:nvSpPr>
          <p:cNvPr id="66" name="Text 63"/>
          <p:cNvSpPr txBox="1"/>
          <p:nvPr/>
        </p:nvSpPr>
        <p:spPr>
          <a:xfrm>
            <a:off x="640080" y="4831080"/>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A</a:t>
            </a:r>
            <a:endParaRPr lang="en-US" sz="900" dirty="0"/>
          </a:p>
        </p:txBody>
      </p:sp>
      <p:sp>
        <p:nvSpPr>
          <p:cNvPr id="67" name="Text 64"/>
          <p:cNvSpPr txBox="1"/>
          <p:nvPr/>
        </p:nvSpPr>
        <p:spPr>
          <a:xfrm>
            <a:off x="969264" y="4773168"/>
            <a:ext cx="2977896"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34" charset="0"/>
                <a:ea typeface="Amiri" pitchFamily="34" charset="-122"/>
                <a:cs typeface="Amiri" pitchFamily="34" charset="-120"/>
              </a:rPr>
              <a:t>ذَكِيَّةٌ وَسَعِيدَةٌ</a:t>
            </a:r>
            <a:endParaRPr lang="ar-SA" sz="1700" dirty="0"/>
          </a:p>
        </p:txBody>
      </p:sp>
      <p:sp>
        <p:nvSpPr>
          <p:cNvPr id="68" name="Shape 65"/>
          <p:cNvSpPr/>
          <p:nvPr/>
        </p:nvSpPr>
        <p:spPr>
          <a:xfrm>
            <a:off x="640080" y="5202936"/>
            <a:ext cx="256032" cy="256032"/>
          </a:xfrm>
          <a:prstGeom prst="ellipse">
            <a:avLst/>
          </a:prstGeom>
          <a:solidFill>
            <a:srgbClr val="C9CED6"/>
          </a:solidFill>
          <a:ln w="12700">
            <a:solidFill>
              <a:srgbClr val="C9CED6"/>
            </a:solidFill>
            <a:prstDash val="solid"/>
          </a:ln>
        </p:spPr>
      </p:sp>
      <p:sp>
        <p:nvSpPr>
          <p:cNvPr id="69" name="Text 66"/>
          <p:cNvSpPr txBox="1"/>
          <p:nvPr/>
        </p:nvSpPr>
        <p:spPr>
          <a:xfrm>
            <a:off x="640080"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70" name="Text 67"/>
          <p:cNvSpPr txBox="1"/>
          <p:nvPr/>
        </p:nvSpPr>
        <p:spPr>
          <a:xfrm>
            <a:off x="969264" y="5145024"/>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34" charset="0"/>
                <a:ea typeface="Amiri" pitchFamily="34" charset="-122"/>
                <a:cs typeface="Amiri" pitchFamily="34" charset="-120"/>
              </a:rPr>
              <a:t>لَطِيفَةٌ وَطَوِيلَةٌ</a:t>
            </a:r>
            <a:endParaRPr lang="ar-SA" sz="1700" dirty="0"/>
          </a:p>
        </p:txBody>
      </p:sp>
      <p:sp>
        <p:nvSpPr>
          <p:cNvPr id="71" name="Shape 68"/>
          <p:cNvSpPr/>
          <p:nvPr/>
        </p:nvSpPr>
        <p:spPr>
          <a:xfrm>
            <a:off x="640080" y="5574792"/>
            <a:ext cx="256032" cy="256032"/>
          </a:xfrm>
          <a:prstGeom prst="ellipse">
            <a:avLst/>
          </a:prstGeom>
          <a:solidFill>
            <a:srgbClr val="C9CED6"/>
          </a:solidFill>
          <a:ln w="12700">
            <a:solidFill>
              <a:srgbClr val="C9CED6"/>
            </a:solidFill>
            <a:prstDash val="solid"/>
          </a:ln>
        </p:spPr>
      </p:sp>
      <p:sp>
        <p:nvSpPr>
          <p:cNvPr id="72" name="Text 69"/>
          <p:cNvSpPr txBox="1"/>
          <p:nvPr/>
        </p:nvSpPr>
        <p:spPr>
          <a:xfrm>
            <a:off x="640080"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C</a:t>
            </a:r>
            <a:endParaRPr lang="en-US" sz="900" dirty="0"/>
          </a:p>
        </p:txBody>
      </p:sp>
      <p:sp>
        <p:nvSpPr>
          <p:cNvPr id="73" name="Text 70"/>
          <p:cNvSpPr txBox="1"/>
          <p:nvPr/>
        </p:nvSpPr>
        <p:spPr>
          <a:xfrm>
            <a:off x="969264" y="5516880"/>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34" charset="0"/>
                <a:ea typeface="Amiri" pitchFamily="34" charset="-122"/>
                <a:cs typeface="Amiri" pitchFamily="34" charset="-120"/>
              </a:rPr>
              <a:t>قَدِيمَةٌ وَكَبِيرَةٌ</a:t>
            </a:r>
            <a:endParaRPr lang="ar-SA" sz="1700" dirty="0"/>
          </a:p>
        </p:txBody>
      </p:sp>
      <p:sp>
        <p:nvSpPr>
          <p:cNvPr id="74" name="Text 71"/>
          <p:cNvSpPr txBox="1"/>
          <p:nvPr/>
        </p:nvSpPr>
        <p:spPr>
          <a:xfrm>
            <a:off x="585216" y="5907024"/>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ea typeface="Calibri" pitchFamily="34" charset="-122"/>
                <a:cs typeface="Calibri" pitchFamily="34" charset="-120"/>
              </a:rPr>
              <a:t>The exact adjectives are </a:t>
            </a:r>
            <a:pPr algn="l" indent="0" marL="0">
              <a:buNone/>
            </a:pPr>
            <a:r>
              <a:rPr lang="ar-SA" altLang="en-US" sz="1350" dirty="0">
                <a:solidFill>
                  <a:srgbClr val="8A6D1E"/>
                </a:solidFill>
                <a:latin typeface="Amiri" pitchFamily="34" charset="0"/>
                <a:ea typeface="Amiri" pitchFamily="34" charset="-122"/>
                <a:cs typeface="Amiri" pitchFamily="34" charset="-120"/>
              </a:rPr>
              <a:t>ذَكِيَّةٌ وَسَعِيدَةٌ</a:t>
            </a:r>
            <a:pPr algn="l" indent="0" marL="0">
              <a:buNone/>
            </a:pPr>
            <a:r>
              <a:rPr lang="en-US" sz="1050" i="1" dirty="0">
                <a:solidFill>
                  <a:srgbClr val="8A6D1E"/>
                </a:solidFill>
                <a:latin typeface="Calibri" pitchFamily="34" charset="0"/>
                <a:ea typeface="Calibri" pitchFamily="34" charset="-122"/>
                <a:cs typeface="Calibri" pitchFamily="34" charset="-120"/>
              </a:rPr>
              <a:t>.</a:t>
            </a:r>
            <a:endParaRPr lang="en-US" sz="1050" dirty="0"/>
          </a:p>
        </p:txBody>
      </p:sp>
      <p:sp>
        <p:nvSpPr>
          <p:cNvPr id="75" name="Shape 72"/>
          <p:cNvSpPr/>
          <p:nvPr/>
        </p:nvSpPr>
        <p:spPr>
          <a:xfrm>
            <a:off x="4276344"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76" name="Shape 73"/>
          <p:cNvSpPr/>
          <p:nvPr/>
        </p:nvSpPr>
        <p:spPr>
          <a:xfrm>
            <a:off x="4404360" y="4288536"/>
            <a:ext cx="310896" cy="310896"/>
          </a:xfrm>
          <a:prstGeom prst="ellipse">
            <a:avLst/>
          </a:prstGeom>
          <a:solidFill>
            <a:srgbClr val="1B3B6F"/>
          </a:solidFill>
          <a:ln w="12700">
            <a:solidFill>
              <a:srgbClr val="1B3B6F"/>
            </a:solidFill>
            <a:prstDash val="solid"/>
          </a:ln>
        </p:spPr>
      </p:sp>
      <p:sp>
        <p:nvSpPr>
          <p:cNvPr id="77" name="Text 74"/>
          <p:cNvSpPr txBox="1"/>
          <p:nvPr/>
        </p:nvSpPr>
        <p:spPr>
          <a:xfrm>
            <a:off x="4404360"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5</a:t>
            </a:r>
            <a:endParaRPr lang="en-US" sz="1100" dirty="0"/>
          </a:p>
        </p:txBody>
      </p:sp>
      <p:sp>
        <p:nvSpPr>
          <p:cNvPr id="78" name="Text 75"/>
          <p:cNvSpPr txBox="1"/>
          <p:nvPr/>
        </p:nvSpPr>
        <p:spPr>
          <a:xfrm>
            <a:off x="4770120"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The sister is described as…</a:t>
            </a:r>
            <a:endParaRPr lang="en-US" sz="1250" dirty="0"/>
          </a:p>
        </p:txBody>
      </p:sp>
      <p:sp>
        <p:nvSpPr>
          <p:cNvPr id="79" name="Shape 76"/>
          <p:cNvSpPr/>
          <p:nvPr/>
        </p:nvSpPr>
        <p:spPr>
          <a:xfrm>
            <a:off x="4459224" y="4831080"/>
            <a:ext cx="256032" cy="256032"/>
          </a:xfrm>
          <a:prstGeom prst="ellipse">
            <a:avLst/>
          </a:prstGeom>
          <a:solidFill>
            <a:srgbClr val="C9CED6"/>
          </a:solidFill>
          <a:ln w="12700">
            <a:solidFill>
              <a:srgbClr val="C9CED6"/>
            </a:solidFill>
            <a:prstDash val="solid"/>
          </a:ln>
        </p:spPr>
      </p:sp>
      <p:sp>
        <p:nvSpPr>
          <p:cNvPr id="80" name="Text 77"/>
          <p:cNvSpPr txBox="1"/>
          <p:nvPr/>
        </p:nvSpPr>
        <p:spPr>
          <a:xfrm>
            <a:off x="4459224" y="4831080"/>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A</a:t>
            </a:r>
            <a:endParaRPr lang="en-US" sz="900" dirty="0"/>
          </a:p>
        </p:txBody>
      </p:sp>
      <p:sp>
        <p:nvSpPr>
          <p:cNvPr id="81" name="Text 78"/>
          <p:cNvSpPr txBox="1"/>
          <p:nvPr/>
        </p:nvSpPr>
        <p:spPr>
          <a:xfrm>
            <a:off x="4788408" y="4773168"/>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34" charset="0"/>
                <a:ea typeface="Amiri" pitchFamily="34" charset="-122"/>
                <a:cs typeface="Amiri" pitchFamily="34" charset="-120"/>
              </a:rPr>
              <a:t>طَوِيلَةٌ</a:t>
            </a:r>
            <a:endParaRPr lang="ar-SA" sz="1700" dirty="0"/>
          </a:p>
        </p:txBody>
      </p:sp>
      <p:sp>
        <p:nvSpPr>
          <p:cNvPr id="82" name="Shape 79"/>
          <p:cNvSpPr/>
          <p:nvPr/>
        </p:nvSpPr>
        <p:spPr>
          <a:xfrm>
            <a:off x="4367784" y="5166360"/>
            <a:ext cx="3453384" cy="347472"/>
          </a:xfrm>
          <a:prstGeom prst="roundRect">
            <a:avLst>
              <a:gd name="adj" fmla="val 15789"/>
            </a:avLst>
          </a:prstGeom>
          <a:solidFill>
            <a:srgbClr val="E6F4EC"/>
          </a:solidFill>
          <a:ln w="9525">
            <a:solidFill>
              <a:srgbClr val="2E8B57"/>
            </a:solidFill>
            <a:prstDash val="solid"/>
          </a:ln>
        </p:spPr>
      </p:sp>
      <p:sp>
        <p:nvSpPr>
          <p:cNvPr id="83" name="Shape 80"/>
          <p:cNvSpPr/>
          <p:nvPr/>
        </p:nvSpPr>
        <p:spPr>
          <a:xfrm>
            <a:off x="4459224" y="5202936"/>
            <a:ext cx="256032" cy="256032"/>
          </a:xfrm>
          <a:prstGeom prst="ellipse">
            <a:avLst/>
          </a:prstGeom>
          <a:solidFill>
            <a:srgbClr val="2E8B57"/>
          </a:solidFill>
          <a:ln w="12700">
            <a:solidFill>
              <a:srgbClr val="2E8B57"/>
            </a:solidFill>
            <a:prstDash val="solid"/>
          </a:ln>
        </p:spPr>
      </p:sp>
      <p:sp>
        <p:nvSpPr>
          <p:cNvPr id="84" name="Text 81"/>
          <p:cNvSpPr txBox="1"/>
          <p:nvPr/>
        </p:nvSpPr>
        <p:spPr>
          <a:xfrm>
            <a:off x="4459224" y="520293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B</a:t>
            </a:r>
            <a:endParaRPr lang="en-US" sz="900" dirty="0"/>
          </a:p>
        </p:txBody>
      </p:sp>
      <p:sp>
        <p:nvSpPr>
          <p:cNvPr id="85" name="Text 82"/>
          <p:cNvSpPr txBox="1"/>
          <p:nvPr/>
        </p:nvSpPr>
        <p:spPr>
          <a:xfrm>
            <a:off x="4788408" y="5145024"/>
            <a:ext cx="2977896"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34" charset="0"/>
                <a:ea typeface="Amiri" pitchFamily="34" charset="-122"/>
                <a:cs typeface="Amiri" pitchFamily="34" charset="-120"/>
              </a:rPr>
              <a:t>قَصِيرَةٌ</a:t>
            </a:r>
            <a:endParaRPr lang="ar-SA" sz="1700" dirty="0"/>
          </a:p>
        </p:txBody>
      </p:sp>
      <p:sp>
        <p:nvSpPr>
          <p:cNvPr id="86" name="Shape 83"/>
          <p:cNvSpPr/>
          <p:nvPr/>
        </p:nvSpPr>
        <p:spPr>
          <a:xfrm>
            <a:off x="4459224" y="5574792"/>
            <a:ext cx="256032" cy="256032"/>
          </a:xfrm>
          <a:prstGeom prst="ellipse">
            <a:avLst/>
          </a:prstGeom>
          <a:solidFill>
            <a:srgbClr val="C9CED6"/>
          </a:solidFill>
          <a:ln w="12700">
            <a:solidFill>
              <a:srgbClr val="C9CED6"/>
            </a:solidFill>
            <a:prstDash val="solid"/>
          </a:ln>
        </p:spPr>
      </p:sp>
      <p:sp>
        <p:nvSpPr>
          <p:cNvPr id="87" name="Text 84"/>
          <p:cNvSpPr txBox="1"/>
          <p:nvPr/>
        </p:nvSpPr>
        <p:spPr>
          <a:xfrm>
            <a:off x="4459224"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C</a:t>
            </a:r>
            <a:endParaRPr lang="en-US" sz="900" dirty="0"/>
          </a:p>
        </p:txBody>
      </p:sp>
      <p:sp>
        <p:nvSpPr>
          <p:cNvPr id="88" name="Text 85"/>
          <p:cNvSpPr txBox="1"/>
          <p:nvPr/>
        </p:nvSpPr>
        <p:spPr>
          <a:xfrm>
            <a:off x="4788408" y="5516880"/>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34" charset="0"/>
                <a:ea typeface="Amiri" pitchFamily="34" charset="-122"/>
                <a:cs typeface="Amiri" pitchFamily="34" charset="-120"/>
              </a:rPr>
              <a:t>لَطِيفَةٌ</a:t>
            </a:r>
            <a:endParaRPr lang="ar-SA" sz="1700" dirty="0"/>
          </a:p>
        </p:txBody>
      </p:sp>
      <p:sp>
        <p:nvSpPr>
          <p:cNvPr id="89" name="Text 86"/>
          <p:cNvSpPr txBox="1"/>
          <p:nvPr/>
        </p:nvSpPr>
        <p:spPr>
          <a:xfrm>
            <a:off x="4404360" y="5907024"/>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ea typeface="Calibri" pitchFamily="34" charset="-122"/>
                <a:cs typeface="Calibri" pitchFamily="34" charset="-120"/>
              </a:rPr>
              <a:t>The transcript says </a:t>
            </a:r>
            <a:pPr algn="l" indent="0" marL="0">
              <a:buNone/>
            </a:pPr>
            <a:r>
              <a:rPr lang="ar-SA" altLang="en-US" sz="1350" dirty="0">
                <a:solidFill>
                  <a:srgbClr val="8A6D1E"/>
                </a:solidFill>
                <a:latin typeface="Amiri" pitchFamily="34" charset="0"/>
                <a:ea typeface="Amiri" pitchFamily="34" charset="-122"/>
                <a:cs typeface="Amiri" pitchFamily="34" charset="-120"/>
              </a:rPr>
              <a:t>أُخْتٌ قَصِيرَةٌ</a:t>
            </a:r>
            <a:pPr algn="l" indent="0" marL="0">
              <a:buNone/>
            </a:pPr>
            <a:r>
              <a:rPr lang="en-US" sz="1050" i="1" dirty="0">
                <a:solidFill>
                  <a:srgbClr val="8A6D1E"/>
                </a:solidFill>
                <a:latin typeface="Calibri" pitchFamily="34" charset="0"/>
                <a:ea typeface="Calibri" pitchFamily="34" charset="-122"/>
                <a:cs typeface="Calibri" pitchFamily="34" charset="-120"/>
              </a:rPr>
              <a:t>.</a:t>
            </a:r>
            <a:endParaRPr lang="en-US" sz="1050" dirty="0"/>
          </a:p>
        </p:txBody>
      </p:sp>
      <p:sp>
        <p:nvSpPr>
          <p:cNvPr id="90" name="Shape 87"/>
          <p:cNvSpPr/>
          <p:nvPr/>
        </p:nvSpPr>
        <p:spPr>
          <a:xfrm>
            <a:off x="8095488" y="4151376"/>
            <a:ext cx="3636264" cy="2157984"/>
          </a:xfrm>
          <a:prstGeom prst="roundRect">
            <a:avLst>
              <a:gd name="adj" fmla="val 3390"/>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91" name="Shape 88"/>
          <p:cNvSpPr/>
          <p:nvPr/>
        </p:nvSpPr>
        <p:spPr>
          <a:xfrm>
            <a:off x="8717280" y="4361688"/>
            <a:ext cx="914400" cy="274320"/>
          </a:xfrm>
          <a:prstGeom prst="roundRect">
            <a:avLst>
              <a:gd name="adj" fmla="val 50000"/>
            </a:avLst>
          </a:prstGeom>
          <a:solidFill>
            <a:srgbClr val="2E8B57"/>
          </a:solidFill>
          <a:ln w="12700">
            <a:solidFill>
              <a:srgbClr val="2E8B57"/>
            </a:solidFill>
            <a:prstDash val="solid"/>
          </a:ln>
        </p:spPr>
      </p:sp>
      <p:sp>
        <p:nvSpPr>
          <p:cNvPr id="92" name="Text 89"/>
          <p:cNvSpPr txBox="1"/>
          <p:nvPr/>
        </p:nvSpPr>
        <p:spPr>
          <a:xfrm>
            <a:off x="8717280" y="4361688"/>
            <a:ext cx="91440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ea typeface="Calibri" pitchFamily="34" charset="-122"/>
                <a:cs typeface="Calibri" pitchFamily="34" charset="-120"/>
              </a:rPr>
              <a:t>CORE</a:t>
            </a:r>
            <a:endParaRPr lang="en-US" sz="850" dirty="0"/>
          </a:p>
        </p:txBody>
      </p:sp>
      <p:sp>
        <p:nvSpPr>
          <p:cNvPr id="93" name="Text 90"/>
          <p:cNvSpPr txBox="1"/>
          <p:nvPr/>
        </p:nvSpPr>
        <p:spPr>
          <a:xfrm>
            <a:off x="8296656" y="4791456"/>
            <a:ext cx="3270504" cy="1380744"/>
          </a:xfrm>
          <a:prstGeom prst="rect">
            <a:avLst/>
          </a:prstGeom>
          <a:noFill/>
          <a:ln/>
        </p:spPr>
        <p:txBody>
          <a:bodyPr wrap="square" lIns="0" tIns="0" rIns="0" bIns="0" rtlCol="0" anchor="t"/>
          <a:lstStyle/>
          <a:p>
            <a:pPr algn="l" indent="0" marL="0">
              <a:buNone/>
            </a:pPr>
            <a:r>
              <a:rPr lang="en-US" sz="1250" dirty="0">
                <a:solidFill>
                  <a:srgbClr val="1E6B52"/>
                </a:solidFill>
                <a:latin typeface="Calibri" pitchFamily="34" charset="0"/>
                <a:ea typeface="Calibri" pitchFamily="34" charset="-122"/>
                <a:cs typeface="Calibri" pitchFamily="34" charset="-120"/>
              </a:rPr>
              <a:t>Listen twice.</a:t>
            </a:r>
            <a:endParaRPr lang="en-US" sz="1250" dirty="0"/>
          </a:p>
          <a:p>
            <a:pPr algn="l" indent="0" marL="0">
              <a:buNone/>
            </a:pPr>
            <a:r>
              <a:rPr lang="en-US" sz="1250" dirty="0">
                <a:solidFill>
                  <a:srgbClr val="1E6B52"/>
                </a:solidFill>
                <a:latin typeface="Calibri" pitchFamily="34" charset="0"/>
                <a:ea typeface="Calibri" pitchFamily="34" charset="-122"/>
                <a:cs typeface="Calibri" pitchFamily="34" charset="-120"/>
              </a:rPr>
              <a:t>First: who? Then: the exact noun + adjective pair.</a:t>
            </a:r>
            <a:endParaRPr lang="en-US" sz="1250" dirty="0"/>
          </a:p>
        </p:txBody>
      </p:sp>
      <p:sp>
        <p:nvSpPr>
          <p:cNvPr id="94" name="Text 9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ea typeface="Calibri" pitchFamily="34" charset="-122"/>
                <a:cs typeface="Calibri" pitchFamily="34" charset="-120"/>
              </a:rPr>
              <a:t>24 / 36</a:t>
            </a:r>
            <a:endParaRPr lang="en-US" sz="85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34" charset="0"/>
                <a:ea typeface="Amiri" pitchFamily="34" charset="-122"/>
                <a:cs typeface="Amiri" pitchFamily="34" charset="-120"/>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ea typeface="Cambria" pitchFamily="34" charset="-122"/>
                <a:cs typeface="Cambria" pitchFamily="34" charset="-120"/>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ea typeface="Calibri" pitchFamily="34" charset="-122"/>
                <a:cs typeface="Calibri" pitchFamily="34" charset="-120"/>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ea typeface="Calibri" pitchFamily="34" charset="-122"/>
                <a:cs typeface="Calibri" pitchFamily="34" charset="-120"/>
              </a:rPr>
              <a:t>F2-L05 · Masculine &amp; Feminine</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ea typeface="Calibri" pitchFamily="34" charset="-122"/>
                <a:cs typeface="Calibri" pitchFamily="34" charset="-120"/>
              </a:rPr>
              <a:t>WE DO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ea typeface="Calibri" pitchFamily="34" charset="-122"/>
                <a:cs typeface="Calibri" pitchFamily="34" charset="-120"/>
              </a:rPr>
              <a:t>WE DO · READING · A SHORT CLASS PROFILE (WEBSITE)</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ea typeface="Cambria" pitchFamily="34" charset="-122"/>
                <a:cs typeface="Cambria" pitchFamily="34" charset="-120"/>
              </a:rPr>
              <a:t>Read a short class profile</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34" charset="0"/>
                <a:ea typeface="Amiri" pitchFamily="34" charset="-122"/>
                <a:cs typeface="Amiri" pitchFamily="34" charset="-120"/>
              </a:rPr>
              <a:t>اِقْرَأْ مَلَفًّا قَصِيرًا عَنِ الفَصْلِ</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ea typeface="Calibri" pitchFamily="34" charset="-122"/>
                <a:cs typeface="Calibri" pitchFamily="34" charset="-120"/>
              </a:rPr>
              <a:t>Miftah Arabic · Foundation F2 · Greetings &amp; Introductions · Week 2 · Lesson 2 of 3</a:t>
            </a:r>
            <a:endParaRPr lang="en-US" sz="850" dirty="0"/>
          </a:p>
        </p:txBody>
      </p:sp>
      <p:sp>
        <p:nvSpPr>
          <p:cNvPr id="15" name="Shape 12"/>
          <p:cNvSpPr/>
          <p:nvPr/>
        </p:nvSpPr>
        <p:spPr>
          <a:xfrm>
            <a:off x="457200" y="1810512"/>
            <a:ext cx="11274552" cy="1069848"/>
          </a:xfrm>
          <a:prstGeom prst="roundRect">
            <a:avLst>
              <a:gd name="adj" fmla="val 4274"/>
            </a:avLst>
          </a:prstGeom>
          <a:solidFill>
            <a:srgbClr val="FFFFFF"/>
          </a:solidFill>
          <a:ln w="9525">
            <a:solidFill>
              <a:srgbClr val="D8D0BF"/>
            </a:solidFill>
            <a:prstDash val="solid"/>
          </a:ln>
        </p:spPr>
      </p:sp>
      <p:sp>
        <p:nvSpPr>
          <p:cNvPr id="16" name="Text 13"/>
          <p:cNvSpPr txBox="1"/>
          <p:nvPr/>
        </p:nvSpPr>
        <p:spPr>
          <a:xfrm>
            <a:off x="4937760" y="1828800"/>
            <a:ext cx="6675120" cy="103327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34" charset="0"/>
                <a:ea typeface="Amiri" pitchFamily="34" charset="-122"/>
                <a:cs typeface="Amiri" pitchFamily="34" charset="-120"/>
              </a:rPr>
              <a:t>هَذَا خَالِدٌ. هُوَ طَالِبٌ جَدِيدٌ وَزَمِيلٌ لَطِيفٌ. هُوَ طَوِيلٌ وَذَكِيٌّ.</a:t>
            </a:r>
            <a:endParaRPr lang="ar-SA" sz="2000" dirty="0"/>
          </a:p>
        </p:txBody>
      </p:sp>
      <p:sp>
        <p:nvSpPr>
          <p:cNvPr id="17" name="Text 14"/>
          <p:cNvSpPr txBox="1"/>
          <p:nvPr/>
        </p:nvSpPr>
        <p:spPr>
          <a:xfrm>
            <a:off x="640080" y="1828800"/>
            <a:ext cx="4160520" cy="1033272"/>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This is Khalid. He is a new student and a kind classmate. He is tall and clever.</a:t>
            </a:r>
            <a:endParaRPr lang="en-US" sz="1250" dirty="0"/>
          </a:p>
        </p:txBody>
      </p:sp>
      <p:sp>
        <p:nvSpPr>
          <p:cNvPr id="18" name="Shape 15"/>
          <p:cNvSpPr/>
          <p:nvPr/>
        </p:nvSpPr>
        <p:spPr>
          <a:xfrm>
            <a:off x="457200" y="2953512"/>
            <a:ext cx="11274552" cy="1069848"/>
          </a:xfrm>
          <a:prstGeom prst="roundRect">
            <a:avLst>
              <a:gd name="adj" fmla="val 4274"/>
            </a:avLst>
          </a:prstGeom>
          <a:solidFill>
            <a:srgbClr val="F4F1EA"/>
          </a:solidFill>
          <a:ln w="9525">
            <a:solidFill>
              <a:srgbClr val="D8D0BF"/>
            </a:solidFill>
            <a:prstDash val="solid"/>
          </a:ln>
        </p:spPr>
      </p:sp>
      <p:sp>
        <p:nvSpPr>
          <p:cNvPr id="19" name="Text 16"/>
          <p:cNvSpPr txBox="1"/>
          <p:nvPr/>
        </p:nvSpPr>
        <p:spPr>
          <a:xfrm>
            <a:off x="4937760" y="2971800"/>
            <a:ext cx="6675120" cy="103327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34" charset="0"/>
                <a:ea typeface="Amiri" pitchFamily="34" charset="-122"/>
                <a:cs typeface="Amiri" pitchFamily="34" charset="-120"/>
              </a:rPr>
              <a:t>هَذِهِ مَرْيَمُ. هِيَ طَالِبَةٌ جَدِيدَةٌ وَزَمِيلَةٌ لَطِيفَةٌ. هِيَ قَصِيرَةٌ وَسَعِيدَةٌ.</a:t>
            </a:r>
            <a:endParaRPr lang="ar-SA" sz="2000" dirty="0"/>
          </a:p>
        </p:txBody>
      </p:sp>
      <p:sp>
        <p:nvSpPr>
          <p:cNvPr id="20" name="Text 17"/>
          <p:cNvSpPr txBox="1"/>
          <p:nvPr/>
        </p:nvSpPr>
        <p:spPr>
          <a:xfrm>
            <a:off x="640080" y="2971800"/>
            <a:ext cx="4160520" cy="1033272"/>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This is Maryam. She is a new student and a kind classmate. She is short and happy.</a:t>
            </a:r>
            <a:endParaRPr lang="en-US" sz="1250" dirty="0"/>
          </a:p>
        </p:txBody>
      </p:sp>
      <p:sp>
        <p:nvSpPr>
          <p:cNvPr id="21" name="Shape 18"/>
          <p:cNvSpPr/>
          <p:nvPr/>
        </p:nvSpPr>
        <p:spPr>
          <a:xfrm>
            <a:off x="457200" y="4096512"/>
            <a:ext cx="11274552" cy="1069848"/>
          </a:xfrm>
          <a:prstGeom prst="roundRect">
            <a:avLst>
              <a:gd name="adj" fmla="val 4274"/>
            </a:avLst>
          </a:prstGeom>
          <a:solidFill>
            <a:srgbClr val="FFFFFF"/>
          </a:solidFill>
          <a:ln w="9525">
            <a:solidFill>
              <a:srgbClr val="D8D0BF"/>
            </a:solidFill>
            <a:prstDash val="solid"/>
          </a:ln>
        </p:spPr>
      </p:sp>
      <p:sp>
        <p:nvSpPr>
          <p:cNvPr id="22" name="Text 19"/>
          <p:cNvSpPr txBox="1"/>
          <p:nvPr/>
        </p:nvSpPr>
        <p:spPr>
          <a:xfrm>
            <a:off x="4937760" y="4114800"/>
            <a:ext cx="6675120" cy="103327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34" charset="0"/>
                <a:ea typeface="Amiri" pitchFamily="34" charset="-122"/>
                <a:cs typeface="Amiri" pitchFamily="34" charset="-120"/>
              </a:rPr>
              <a:t>هَذَا يُوسُفُ. هُوَ أَخٌ كَبِيرٌ. وَهَذِهِ زَيْنَبُ. هِيَ أُخْتٌ صَغِيرَةٌ.</a:t>
            </a:r>
            <a:endParaRPr lang="ar-SA" sz="2000" dirty="0"/>
          </a:p>
        </p:txBody>
      </p:sp>
      <p:sp>
        <p:nvSpPr>
          <p:cNvPr id="23" name="Text 20"/>
          <p:cNvSpPr txBox="1"/>
          <p:nvPr/>
        </p:nvSpPr>
        <p:spPr>
          <a:xfrm>
            <a:off x="640080" y="4114800"/>
            <a:ext cx="4160520" cy="1033272"/>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This is Yusuf. He is an older brother. And this is Zaynab. She is a younger sister.</a:t>
            </a:r>
            <a:endParaRPr lang="en-US" sz="1250" dirty="0"/>
          </a:p>
        </p:txBody>
      </p:sp>
      <p:sp>
        <p:nvSpPr>
          <p:cNvPr id="24" name="Shape 21"/>
          <p:cNvSpPr/>
          <p:nvPr/>
        </p:nvSpPr>
        <p:spPr>
          <a:xfrm>
            <a:off x="457200" y="5239512"/>
            <a:ext cx="11274552" cy="1069848"/>
          </a:xfrm>
          <a:prstGeom prst="roundRect">
            <a:avLst>
              <a:gd name="adj" fmla="val 4274"/>
            </a:avLst>
          </a:prstGeom>
          <a:solidFill>
            <a:srgbClr val="F4F1EA"/>
          </a:solidFill>
          <a:ln w="9525">
            <a:solidFill>
              <a:srgbClr val="D8D0BF"/>
            </a:solidFill>
            <a:prstDash val="solid"/>
          </a:ln>
        </p:spPr>
      </p:sp>
      <p:sp>
        <p:nvSpPr>
          <p:cNvPr id="25" name="Text 22"/>
          <p:cNvSpPr txBox="1"/>
          <p:nvPr/>
        </p:nvSpPr>
        <p:spPr>
          <a:xfrm>
            <a:off x="4937760" y="5257800"/>
            <a:ext cx="6675120" cy="103327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34" charset="0"/>
                <a:ea typeface="Amiri" pitchFamily="34" charset="-122"/>
                <a:cs typeface="Amiri" pitchFamily="34" charset="-120"/>
              </a:rPr>
              <a:t>فَصْلُهُمْ كَبِيرٌ، وَمَدْرَسَتُهُمْ جَدِيدَةٌ. فِي الفَصْلِ كِتَابٌ قَدِيمٌ وَحَقِيبَةٌ جَمِيلَةٌ.</a:t>
            </a:r>
            <a:endParaRPr lang="ar-SA" sz="2000" dirty="0"/>
          </a:p>
        </p:txBody>
      </p:sp>
      <p:sp>
        <p:nvSpPr>
          <p:cNvPr id="26" name="Text 23"/>
          <p:cNvSpPr txBox="1"/>
          <p:nvPr/>
        </p:nvSpPr>
        <p:spPr>
          <a:xfrm>
            <a:off x="640080" y="5257800"/>
            <a:ext cx="4160520" cy="1033272"/>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Their class is big and their school is new. In the class there is an old book and a beautiful bag.</a:t>
            </a:r>
            <a:endParaRPr lang="en-US" sz="1250" dirty="0"/>
          </a:p>
        </p:txBody>
      </p:sp>
      <p:sp>
        <p:nvSpPr>
          <p:cNvPr id="27" name="Text 24"/>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ea typeface="Calibri" pitchFamily="34" charset="-122"/>
                <a:cs typeface="Calibri" pitchFamily="34" charset="-120"/>
              </a:rPr>
              <a:t>25 / 36</a:t>
            </a:r>
            <a:endParaRPr lang="en-US" sz="85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34" charset="0"/>
                <a:ea typeface="Amiri" pitchFamily="34" charset="-122"/>
                <a:cs typeface="Amiri" pitchFamily="34" charset="-120"/>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ea typeface="Cambria" pitchFamily="34" charset="-122"/>
                <a:cs typeface="Cambria" pitchFamily="34" charset="-120"/>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ea typeface="Calibri" pitchFamily="34" charset="-122"/>
                <a:cs typeface="Calibri" pitchFamily="34" charset="-120"/>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ea typeface="Calibri" pitchFamily="34" charset="-122"/>
                <a:cs typeface="Calibri" pitchFamily="34" charset="-120"/>
              </a:rPr>
              <a:t>F2-L05 · Masculine &amp; Feminine</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ea typeface="Calibri" pitchFamily="34" charset="-122"/>
                <a:cs typeface="Calibri" pitchFamily="34" charset="-120"/>
              </a:rPr>
              <a:t>WE DO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ea typeface="Calibri" pitchFamily="34" charset="-122"/>
                <a:cs typeface="Calibri" pitchFamily="34" charset="-120"/>
              </a:rPr>
              <a:t>WE DO · READING QUESTIONS · FIND THE EVIDENCE (WEBSITE)</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ea typeface="Cambria" pitchFamily="34" charset="-122"/>
                <a:cs typeface="Cambria" pitchFamily="34" charset="-120"/>
              </a:rPr>
              <a:t>Prove it from the profile</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34" charset="0"/>
                <a:ea typeface="Amiri" pitchFamily="34" charset="-122"/>
                <a:cs typeface="Amiri" pitchFamily="34" charset="-120"/>
              </a:rPr>
              <a:t>أَسْئِلَةُ القِرَاءَةِ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ea typeface="Calibri" pitchFamily="34" charset="-122"/>
                <a:cs typeface="Calibri" pitchFamily="34" charset="-120"/>
              </a:rPr>
              <a:t>Miftah Arabic · Foundation F2 · Greetings &amp; Introductions · Week 2 · Lesson 2 of 3</a:t>
            </a:r>
            <a:endParaRPr lang="en-US" sz="850" dirty="0"/>
          </a:p>
        </p:txBody>
      </p:sp>
      <p:sp>
        <p:nvSpPr>
          <p:cNvPr id="15" name="Shape 12"/>
          <p:cNvSpPr/>
          <p:nvPr/>
        </p:nvSpPr>
        <p:spPr>
          <a:xfrm>
            <a:off x="457200"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1</a:t>
            </a:r>
            <a:endParaRPr lang="en-US" sz="1100" dirty="0"/>
          </a:p>
        </p:txBody>
      </p:sp>
      <p:sp>
        <p:nvSpPr>
          <p:cNvPr id="18" name="Text 15"/>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Which two adjectives describe Khalid?</a:t>
            </a:r>
            <a:endParaRPr lang="en-US" sz="1250" dirty="0"/>
          </a:p>
        </p:txBody>
      </p:sp>
      <p:sp>
        <p:nvSpPr>
          <p:cNvPr id="19" name="Shape 16"/>
          <p:cNvSpPr/>
          <p:nvPr/>
        </p:nvSpPr>
        <p:spPr>
          <a:xfrm>
            <a:off x="640080" y="2532888"/>
            <a:ext cx="256032" cy="256032"/>
          </a:xfrm>
          <a:prstGeom prst="ellipse">
            <a:avLst/>
          </a:prstGeom>
          <a:solidFill>
            <a:srgbClr val="F4F1EA"/>
          </a:solidFill>
          <a:ln w="12700">
            <a:solidFill>
              <a:srgbClr val="F4F1EA"/>
            </a:solidFill>
            <a:prstDash val="solid"/>
          </a:ln>
        </p:spPr>
      </p:sp>
      <p:sp>
        <p:nvSpPr>
          <p:cNvPr id="20" name="Text 17"/>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A</a:t>
            </a:r>
            <a:endParaRPr lang="en-US" sz="900" dirty="0"/>
          </a:p>
        </p:txBody>
      </p:sp>
      <p:sp>
        <p:nvSpPr>
          <p:cNvPr id="21" name="Text 18"/>
          <p:cNvSpPr txBox="1"/>
          <p:nvPr/>
        </p:nvSpPr>
        <p:spPr>
          <a:xfrm>
            <a:off x="969264" y="24323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34" charset="0"/>
                <a:ea typeface="Amiri" pitchFamily="34" charset="-122"/>
                <a:cs typeface="Amiri" pitchFamily="34" charset="-120"/>
              </a:rPr>
              <a:t>قَصِيرٌ وَسَعِيدٌ</a:t>
            </a:r>
            <a:endParaRPr lang="ar-SA" sz="2050" dirty="0"/>
          </a:p>
        </p:txBody>
      </p:sp>
      <p:sp>
        <p:nvSpPr>
          <p:cNvPr id="22" name="Shape 19"/>
          <p:cNvSpPr/>
          <p:nvPr/>
        </p:nvSpPr>
        <p:spPr>
          <a:xfrm>
            <a:off x="640080" y="2990088"/>
            <a:ext cx="256032" cy="256032"/>
          </a:xfrm>
          <a:prstGeom prst="ellipse">
            <a:avLst/>
          </a:prstGeom>
          <a:solidFill>
            <a:srgbClr val="F4F1EA"/>
          </a:solidFill>
          <a:ln w="12700">
            <a:solidFill>
              <a:srgbClr val="F4F1EA"/>
            </a:solidFill>
            <a:prstDash val="solid"/>
          </a:ln>
        </p:spPr>
      </p:sp>
      <p:sp>
        <p:nvSpPr>
          <p:cNvPr id="23" name="Text 20"/>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24" name="Text 21"/>
          <p:cNvSpPr txBox="1"/>
          <p:nvPr/>
        </p:nvSpPr>
        <p:spPr>
          <a:xfrm>
            <a:off x="969264"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34" charset="0"/>
                <a:ea typeface="Amiri" pitchFamily="34" charset="-122"/>
                <a:cs typeface="Amiri" pitchFamily="34" charset="-120"/>
              </a:rPr>
              <a:t>طَوِيلٌ وَذَكِيٌّ</a:t>
            </a:r>
            <a:endParaRPr lang="ar-SA" sz="2050" dirty="0"/>
          </a:p>
        </p:txBody>
      </p:sp>
      <p:sp>
        <p:nvSpPr>
          <p:cNvPr id="25" name="Shape 22"/>
          <p:cNvSpPr/>
          <p:nvPr/>
        </p:nvSpPr>
        <p:spPr>
          <a:xfrm>
            <a:off x="640080" y="3447288"/>
            <a:ext cx="256032" cy="256032"/>
          </a:xfrm>
          <a:prstGeom prst="ellipse">
            <a:avLst/>
          </a:prstGeom>
          <a:solidFill>
            <a:srgbClr val="F4F1EA"/>
          </a:solidFill>
          <a:ln w="12700">
            <a:solidFill>
              <a:srgbClr val="F4F1EA"/>
            </a:solidFill>
            <a:prstDash val="solid"/>
          </a:ln>
        </p:spPr>
      </p:sp>
      <p:sp>
        <p:nvSpPr>
          <p:cNvPr id="26" name="Text 23"/>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C</a:t>
            </a:r>
            <a:endParaRPr lang="en-US" sz="900" dirty="0"/>
          </a:p>
        </p:txBody>
      </p:sp>
      <p:sp>
        <p:nvSpPr>
          <p:cNvPr id="27" name="Text 24"/>
          <p:cNvSpPr txBox="1"/>
          <p:nvPr/>
        </p:nvSpPr>
        <p:spPr>
          <a:xfrm>
            <a:off x="969264"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34" charset="0"/>
                <a:ea typeface="Amiri" pitchFamily="34" charset="-122"/>
                <a:cs typeface="Amiri" pitchFamily="34" charset="-120"/>
              </a:rPr>
              <a:t>قَدِيمٌ وَجَمِيلٌ</a:t>
            </a:r>
            <a:endParaRPr lang="ar-SA" sz="2050" dirty="0"/>
          </a:p>
        </p:txBody>
      </p:sp>
      <p:sp>
        <p:nvSpPr>
          <p:cNvPr id="28" name="Shape 25"/>
          <p:cNvSpPr/>
          <p:nvPr/>
        </p:nvSpPr>
        <p:spPr>
          <a:xfrm>
            <a:off x="4276344"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9" name="Shape 26"/>
          <p:cNvSpPr/>
          <p:nvPr/>
        </p:nvSpPr>
        <p:spPr>
          <a:xfrm>
            <a:off x="4404360" y="1947672"/>
            <a:ext cx="310896" cy="310896"/>
          </a:xfrm>
          <a:prstGeom prst="ellipse">
            <a:avLst/>
          </a:prstGeom>
          <a:solidFill>
            <a:srgbClr val="1B3B6F"/>
          </a:solidFill>
          <a:ln w="12700">
            <a:solidFill>
              <a:srgbClr val="1B3B6F"/>
            </a:solidFill>
            <a:prstDash val="solid"/>
          </a:ln>
        </p:spPr>
      </p:sp>
      <p:sp>
        <p:nvSpPr>
          <p:cNvPr id="30" name="Text 27"/>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2</a:t>
            </a:r>
            <a:endParaRPr lang="en-US" sz="1100" dirty="0"/>
          </a:p>
        </p:txBody>
      </p:sp>
      <p:sp>
        <p:nvSpPr>
          <p:cNvPr id="31" name="Text 28"/>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Maryam is a…</a:t>
            </a:r>
            <a:endParaRPr lang="en-US" sz="1250" dirty="0"/>
          </a:p>
        </p:txBody>
      </p:sp>
      <p:sp>
        <p:nvSpPr>
          <p:cNvPr id="32" name="Shape 29"/>
          <p:cNvSpPr/>
          <p:nvPr/>
        </p:nvSpPr>
        <p:spPr>
          <a:xfrm>
            <a:off x="4459224" y="2532888"/>
            <a:ext cx="256032" cy="256032"/>
          </a:xfrm>
          <a:prstGeom prst="ellipse">
            <a:avLst/>
          </a:prstGeom>
          <a:solidFill>
            <a:srgbClr val="F4F1EA"/>
          </a:solidFill>
          <a:ln w="12700">
            <a:solidFill>
              <a:srgbClr val="F4F1EA"/>
            </a:solidFill>
            <a:prstDash val="solid"/>
          </a:ln>
        </p:spPr>
      </p:sp>
      <p:sp>
        <p:nvSpPr>
          <p:cNvPr id="33" name="Text 30"/>
          <p:cNvSpPr txBox="1"/>
          <p:nvPr/>
        </p:nvSpPr>
        <p:spPr>
          <a:xfrm>
            <a:off x="4459224"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A</a:t>
            </a:r>
            <a:endParaRPr lang="en-US" sz="900" dirty="0"/>
          </a:p>
        </p:txBody>
      </p:sp>
      <p:sp>
        <p:nvSpPr>
          <p:cNvPr id="34" name="Text 31"/>
          <p:cNvSpPr txBox="1"/>
          <p:nvPr/>
        </p:nvSpPr>
        <p:spPr>
          <a:xfrm>
            <a:off x="4788408" y="24323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34" charset="0"/>
                <a:ea typeface="Amiri" pitchFamily="34" charset="-122"/>
                <a:cs typeface="Amiri" pitchFamily="34" charset="-120"/>
              </a:rPr>
              <a:t>زَمِيلٌ لَطِيفٌ</a:t>
            </a:r>
            <a:endParaRPr lang="ar-SA" sz="2050" dirty="0"/>
          </a:p>
        </p:txBody>
      </p:sp>
      <p:sp>
        <p:nvSpPr>
          <p:cNvPr id="35" name="Shape 32"/>
          <p:cNvSpPr/>
          <p:nvPr/>
        </p:nvSpPr>
        <p:spPr>
          <a:xfrm>
            <a:off x="4459224" y="2990088"/>
            <a:ext cx="256032" cy="256032"/>
          </a:xfrm>
          <a:prstGeom prst="ellipse">
            <a:avLst/>
          </a:prstGeom>
          <a:solidFill>
            <a:srgbClr val="F4F1EA"/>
          </a:solidFill>
          <a:ln w="12700">
            <a:solidFill>
              <a:srgbClr val="F4F1EA"/>
            </a:solidFill>
            <a:prstDash val="solid"/>
          </a:ln>
        </p:spPr>
      </p:sp>
      <p:sp>
        <p:nvSpPr>
          <p:cNvPr id="36" name="Text 33"/>
          <p:cNvSpPr txBox="1"/>
          <p:nvPr/>
        </p:nvSpPr>
        <p:spPr>
          <a:xfrm>
            <a:off x="4459224"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37" name="Text 34"/>
          <p:cNvSpPr txBox="1"/>
          <p:nvPr/>
        </p:nvSpPr>
        <p:spPr>
          <a:xfrm>
            <a:off x="4788408"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34" charset="0"/>
                <a:ea typeface="Amiri" pitchFamily="34" charset="-122"/>
                <a:cs typeface="Amiri" pitchFamily="34" charset="-120"/>
              </a:rPr>
              <a:t>طِفْلَةٌ صَغِيرَةٌ</a:t>
            </a:r>
            <a:endParaRPr lang="ar-SA" sz="2050" dirty="0"/>
          </a:p>
        </p:txBody>
      </p:sp>
      <p:sp>
        <p:nvSpPr>
          <p:cNvPr id="38" name="Shape 35"/>
          <p:cNvSpPr/>
          <p:nvPr/>
        </p:nvSpPr>
        <p:spPr>
          <a:xfrm>
            <a:off x="4459224" y="3447288"/>
            <a:ext cx="256032" cy="256032"/>
          </a:xfrm>
          <a:prstGeom prst="ellipse">
            <a:avLst/>
          </a:prstGeom>
          <a:solidFill>
            <a:srgbClr val="F4F1EA"/>
          </a:solidFill>
          <a:ln w="12700">
            <a:solidFill>
              <a:srgbClr val="F4F1EA"/>
            </a:solidFill>
            <a:prstDash val="solid"/>
          </a:ln>
        </p:spPr>
      </p:sp>
      <p:sp>
        <p:nvSpPr>
          <p:cNvPr id="39" name="Text 36"/>
          <p:cNvSpPr txBox="1"/>
          <p:nvPr/>
        </p:nvSpPr>
        <p:spPr>
          <a:xfrm>
            <a:off x="4459224"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C</a:t>
            </a:r>
            <a:endParaRPr lang="en-US" sz="900" dirty="0"/>
          </a:p>
        </p:txBody>
      </p:sp>
      <p:sp>
        <p:nvSpPr>
          <p:cNvPr id="40" name="Text 37"/>
          <p:cNvSpPr txBox="1"/>
          <p:nvPr/>
        </p:nvSpPr>
        <p:spPr>
          <a:xfrm>
            <a:off x="4788408"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34" charset="0"/>
                <a:ea typeface="Amiri" pitchFamily="34" charset="-122"/>
                <a:cs typeface="Amiri" pitchFamily="34" charset="-120"/>
              </a:rPr>
              <a:t>زَمِيلَةٌ لَطِيفَةٌ</a:t>
            </a:r>
            <a:endParaRPr lang="ar-SA" sz="2050" dirty="0"/>
          </a:p>
        </p:txBody>
      </p:sp>
      <p:sp>
        <p:nvSpPr>
          <p:cNvPr id="41" name="Shape 38"/>
          <p:cNvSpPr/>
          <p:nvPr/>
        </p:nvSpPr>
        <p:spPr>
          <a:xfrm>
            <a:off x="8095488"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2" name="Shape 39"/>
          <p:cNvSpPr/>
          <p:nvPr/>
        </p:nvSpPr>
        <p:spPr>
          <a:xfrm>
            <a:off x="8223504" y="1947672"/>
            <a:ext cx="310896" cy="310896"/>
          </a:xfrm>
          <a:prstGeom prst="ellipse">
            <a:avLst/>
          </a:prstGeom>
          <a:solidFill>
            <a:srgbClr val="1B3B6F"/>
          </a:solidFill>
          <a:ln w="12700">
            <a:solidFill>
              <a:srgbClr val="1B3B6F"/>
            </a:solidFill>
            <a:prstDash val="solid"/>
          </a:ln>
        </p:spPr>
      </p:sp>
      <p:sp>
        <p:nvSpPr>
          <p:cNvPr id="43" name="Text 40"/>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3</a:t>
            </a:r>
            <a:endParaRPr lang="en-US" sz="1100" dirty="0"/>
          </a:p>
        </p:txBody>
      </p:sp>
      <p:sp>
        <p:nvSpPr>
          <p:cNvPr id="44" name="Text 41"/>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Which irregular feminine noun describes Zaynab?</a:t>
            </a:r>
            <a:endParaRPr lang="en-US" sz="1250" dirty="0"/>
          </a:p>
        </p:txBody>
      </p:sp>
      <p:sp>
        <p:nvSpPr>
          <p:cNvPr id="45" name="Shape 42"/>
          <p:cNvSpPr/>
          <p:nvPr/>
        </p:nvSpPr>
        <p:spPr>
          <a:xfrm>
            <a:off x="8278368" y="2532888"/>
            <a:ext cx="256032" cy="256032"/>
          </a:xfrm>
          <a:prstGeom prst="ellipse">
            <a:avLst/>
          </a:prstGeom>
          <a:solidFill>
            <a:srgbClr val="F4F1EA"/>
          </a:solidFill>
          <a:ln w="12700">
            <a:solidFill>
              <a:srgbClr val="F4F1EA"/>
            </a:solidFill>
            <a:prstDash val="solid"/>
          </a:ln>
        </p:spPr>
      </p:sp>
      <p:sp>
        <p:nvSpPr>
          <p:cNvPr id="46" name="Text 43"/>
          <p:cNvSpPr txBox="1"/>
          <p:nvPr/>
        </p:nvSpPr>
        <p:spPr>
          <a:xfrm>
            <a:off x="8278368"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A</a:t>
            </a:r>
            <a:endParaRPr lang="en-US" sz="900" dirty="0"/>
          </a:p>
        </p:txBody>
      </p:sp>
      <p:sp>
        <p:nvSpPr>
          <p:cNvPr id="47" name="Text 44"/>
          <p:cNvSpPr txBox="1"/>
          <p:nvPr/>
        </p:nvSpPr>
        <p:spPr>
          <a:xfrm>
            <a:off x="8607552" y="24323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34" charset="0"/>
                <a:ea typeface="Amiri" pitchFamily="34" charset="-122"/>
                <a:cs typeface="Amiri" pitchFamily="34" charset="-120"/>
              </a:rPr>
              <a:t>أُخْتٌ</a:t>
            </a:r>
            <a:endParaRPr lang="ar-SA" sz="2050" dirty="0"/>
          </a:p>
        </p:txBody>
      </p:sp>
      <p:sp>
        <p:nvSpPr>
          <p:cNvPr id="48" name="Shape 45"/>
          <p:cNvSpPr/>
          <p:nvPr/>
        </p:nvSpPr>
        <p:spPr>
          <a:xfrm>
            <a:off x="8278368" y="2990088"/>
            <a:ext cx="256032" cy="256032"/>
          </a:xfrm>
          <a:prstGeom prst="ellipse">
            <a:avLst/>
          </a:prstGeom>
          <a:solidFill>
            <a:srgbClr val="F4F1EA"/>
          </a:solidFill>
          <a:ln w="12700">
            <a:solidFill>
              <a:srgbClr val="F4F1EA"/>
            </a:solidFill>
            <a:prstDash val="solid"/>
          </a:ln>
        </p:spPr>
      </p:sp>
      <p:sp>
        <p:nvSpPr>
          <p:cNvPr id="49" name="Text 46"/>
          <p:cNvSpPr txBox="1"/>
          <p:nvPr/>
        </p:nvSpPr>
        <p:spPr>
          <a:xfrm>
            <a:off x="8278368"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50" name="Text 47"/>
          <p:cNvSpPr txBox="1"/>
          <p:nvPr/>
        </p:nvSpPr>
        <p:spPr>
          <a:xfrm>
            <a:off x="8607552"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34" charset="0"/>
                <a:ea typeface="Amiri" pitchFamily="34" charset="-122"/>
                <a:cs typeface="Amiri" pitchFamily="34" charset="-120"/>
              </a:rPr>
              <a:t>بِنْتٌ</a:t>
            </a:r>
            <a:endParaRPr lang="ar-SA" sz="2050" dirty="0"/>
          </a:p>
        </p:txBody>
      </p:sp>
      <p:sp>
        <p:nvSpPr>
          <p:cNvPr id="51" name="Shape 48"/>
          <p:cNvSpPr/>
          <p:nvPr/>
        </p:nvSpPr>
        <p:spPr>
          <a:xfrm>
            <a:off x="8278368" y="3447288"/>
            <a:ext cx="256032" cy="256032"/>
          </a:xfrm>
          <a:prstGeom prst="ellipse">
            <a:avLst/>
          </a:prstGeom>
          <a:solidFill>
            <a:srgbClr val="F4F1EA"/>
          </a:solidFill>
          <a:ln w="12700">
            <a:solidFill>
              <a:srgbClr val="F4F1EA"/>
            </a:solidFill>
            <a:prstDash val="solid"/>
          </a:ln>
        </p:spPr>
      </p:sp>
      <p:sp>
        <p:nvSpPr>
          <p:cNvPr id="52" name="Text 49"/>
          <p:cNvSpPr txBox="1"/>
          <p:nvPr/>
        </p:nvSpPr>
        <p:spPr>
          <a:xfrm>
            <a:off x="8278368"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C</a:t>
            </a:r>
            <a:endParaRPr lang="en-US" sz="900" dirty="0"/>
          </a:p>
        </p:txBody>
      </p:sp>
      <p:sp>
        <p:nvSpPr>
          <p:cNvPr id="53" name="Text 50"/>
          <p:cNvSpPr txBox="1"/>
          <p:nvPr/>
        </p:nvSpPr>
        <p:spPr>
          <a:xfrm>
            <a:off x="8607552"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34" charset="0"/>
                <a:ea typeface="Amiri" pitchFamily="34" charset="-122"/>
                <a:cs typeface="Amiri" pitchFamily="34" charset="-120"/>
              </a:rPr>
              <a:t>أُمٌّ</a:t>
            </a:r>
            <a:endParaRPr lang="ar-SA" sz="2050" dirty="0"/>
          </a:p>
        </p:txBody>
      </p:sp>
      <p:sp>
        <p:nvSpPr>
          <p:cNvPr id="54" name="Shape 51"/>
          <p:cNvSpPr/>
          <p:nvPr/>
        </p:nvSpPr>
        <p:spPr>
          <a:xfrm>
            <a:off x="457200"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5" name="Shape 52"/>
          <p:cNvSpPr/>
          <p:nvPr/>
        </p:nvSpPr>
        <p:spPr>
          <a:xfrm>
            <a:off x="585216" y="4288536"/>
            <a:ext cx="310896" cy="310896"/>
          </a:xfrm>
          <a:prstGeom prst="ellipse">
            <a:avLst/>
          </a:prstGeom>
          <a:solidFill>
            <a:srgbClr val="1B3B6F"/>
          </a:solidFill>
          <a:ln w="12700">
            <a:solidFill>
              <a:srgbClr val="1B3B6F"/>
            </a:solidFill>
            <a:prstDash val="solid"/>
          </a:ln>
        </p:spPr>
      </p:sp>
      <p:sp>
        <p:nvSpPr>
          <p:cNvPr id="56" name="Text 53"/>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4</a:t>
            </a:r>
            <a:endParaRPr lang="en-US" sz="1100" dirty="0"/>
          </a:p>
        </p:txBody>
      </p:sp>
      <p:sp>
        <p:nvSpPr>
          <p:cNvPr id="57" name="Text 54"/>
          <p:cNvSpPr txBox="1"/>
          <p:nvPr/>
        </p:nvSpPr>
        <p:spPr>
          <a:xfrm>
            <a:off x="950976"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The book is…</a:t>
            </a:r>
            <a:endParaRPr lang="en-US" sz="1250" dirty="0"/>
          </a:p>
        </p:txBody>
      </p:sp>
      <p:sp>
        <p:nvSpPr>
          <p:cNvPr id="58" name="Shape 55"/>
          <p:cNvSpPr/>
          <p:nvPr/>
        </p:nvSpPr>
        <p:spPr>
          <a:xfrm>
            <a:off x="640080" y="4873752"/>
            <a:ext cx="256032" cy="256032"/>
          </a:xfrm>
          <a:prstGeom prst="ellipse">
            <a:avLst/>
          </a:prstGeom>
          <a:solidFill>
            <a:srgbClr val="F4F1EA"/>
          </a:solidFill>
          <a:ln w="12700">
            <a:solidFill>
              <a:srgbClr val="F4F1EA"/>
            </a:solidFill>
            <a:prstDash val="solid"/>
          </a:ln>
        </p:spPr>
      </p:sp>
      <p:sp>
        <p:nvSpPr>
          <p:cNvPr id="59" name="Text 56"/>
          <p:cNvSpPr txBox="1"/>
          <p:nvPr/>
        </p:nvSpPr>
        <p:spPr>
          <a:xfrm>
            <a:off x="640080"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A</a:t>
            </a:r>
            <a:endParaRPr lang="en-US" sz="900" dirty="0"/>
          </a:p>
        </p:txBody>
      </p:sp>
      <p:sp>
        <p:nvSpPr>
          <p:cNvPr id="60" name="Text 57"/>
          <p:cNvSpPr txBox="1"/>
          <p:nvPr/>
        </p:nvSpPr>
        <p:spPr>
          <a:xfrm>
            <a:off x="969264" y="47731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34" charset="0"/>
                <a:ea typeface="Amiri" pitchFamily="34" charset="-122"/>
                <a:cs typeface="Amiri" pitchFamily="34" charset="-120"/>
              </a:rPr>
              <a:t>قَدِيمَةٌ</a:t>
            </a:r>
            <a:endParaRPr lang="ar-SA" sz="2050" dirty="0"/>
          </a:p>
        </p:txBody>
      </p:sp>
      <p:sp>
        <p:nvSpPr>
          <p:cNvPr id="61" name="Shape 58"/>
          <p:cNvSpPr/>
          <p:nvPr/>
        </p:nvSpPr>
        <p:spPr>
          <a:xfrm>
            <a:off x="640080" y="5330952"/>
            <a:ext cx="256032" cy="256032"/>
          </a:xfrm>
          <a:prstGeom prst="ellipse">
            <a:avLst/>
          </a:prstGeom>
          <a:solidFill>
            <a:srgbClr val="F4F1EA"/>
          </a:solidFill>
          <a:ln w="12700">
            <a:solidFill>
              <a:srgbClr val="F4F1EA"/>
            </a:solidFill>
            <a:prstDash val="solid"/>
          </a:ln>
        </p:spPr>
      </p:sp>
      <p:sp>
        <p:nvSpPr>
          <p:cNvPr id="62" name="Text 59"/>
          <p:cNvSpPr txBox="1"/>
          <p:nvPr/>
        </p:nvSpPr>
        <p:spPr>
          <a:xfrm>
            <a:off x="640080"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63" name="Text 60"/>
          <p:cNvSpPr txBox="1"/>
          <p:nvPr/>
        </p:nvSpPr>
        <p:spPr>
          <a:xfrm>
            <a:off x="969264" y="52303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34" charset="0"/>
                <a:ea typeface="Amiri" pitchFamily="34" charset="-122"/>
                <a:cs typeface="Amiri" pitchFamily="34" charset="-120"/>
              </a:rPr>
              <a:t>قَدِيمٌ</a:t>
            </a:r>
            <a:endParaRPr lang="ar-SA" sz="2050" dirty="0"/>
          </a:p>
        </p:txBody>
      </p:sp>
      <p:sp>
        <p:nvSpPr>
          <p:cNvPr id="64" name="Shape 61"/>
          <p:cNvSpPr/>
          <p:nvPr/>
        </p:nvSpPr>
        <p:spPr>
          <a:xfrm>
            <a:off x="640080" y="5788152"/>
            <a:ext cx="256032" cy="256032"/>
          </a:xfrm>
          <a:prstGeom prst="ellipse">
            <a:avLst/>
          </a:prstGeom>
          <a:solidFill>
            <a:srgbClr val="F4F1EA"/>
          </a:solidFill>
          <a:ln w="12700">
            <a:solidFill>
              <a:srgbClr val="F4F1EA"/>
            </a:solidFill>
            <a:prstDash val="solid"/>
          </a:ln>
        </p:spPr>
      </p:sp>
      <p:sp>
        <p:nvSpPr>
          <p:cNvPr id="65" name="Text 62"/>
          <p:cNvSpPr txBox="1"/>
          <p:nvPr/>
        </p:nvSpPr>
        <p:spPr>
          <a:xfrm>
            <a:off x="640080"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C</a:t>
            </a:r>
            <a:endParaRPr lang="en-US" sz="900" dirty="0"/>
          </a:p>
        </p:txBody>
      </p:sp>
      <p:sp>
        <p:nvSpPr>
          <p:cNvPr id="66" name="Text 63"/>
          <p:cNvSpPr txBox="1"/>
          <p:nvPr/>
        </p:nvSpPr>
        <p:spPr>
          <a:xfrm>
            <a:off x="969264" y="56875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34" charset="0"/>
                <a:ea typeface="Amiri" pitchFamily="34" charset="-122"/>
                <a:cs typeface="Amiri" pitchFamily="34" charset="-120"/>
              </a:rPr>
              <a:t>جَدِيدَةٌ</a:t>
            </a:r>
            <a:endParaRPr lang="ar-SA" sz="2050" dirty="0"/>
          </a:p>
        </p:txBody>
      </p:sp>
      <p:sp>
        <p:nvSpPr>
          <p:cNvPr id="67" name="Shape 64"/>
          <p:cNvSpPr/>
          <p:nvPr/>
        </p:nvSpPr>
        <p:spPr>
          <a:xfrm>
            <a:off x="4276344"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8" name="Shape 65"/>
          <p:cNvSpPr/>
          <p:nvPr/>
        </p:nvSpPr>
        <p:spPr>
          <a:xfrm>
            <a:off x="4404360" y="4288536"/>
            <a:ext cx="310896" cy="310896"/>
          </a:xfrm>
          <a:prstGeom prst="ellipse">
            <a:avLst/>
          </a:prstGeom>
          <a:solidFill>
            <a:srgbClr val="1B3B6F"/>
          </a:solidFill>
          <a:ln w="12700">
            <a:solidFill>
              <a:srgbClr val="1B3B6F"/>
            </a:solidFill>
            <a:prstDash val="solid"/>
          </a:ln>
        </p:spPr>
      </p:sp>
      <p:sp>
        <p:nvSpPr>
          <p:cNvPr id="69" name="Text 66"/>
          <p:cNvSpPr txBox="1"/>
          <p:nvPr/>
        </p:nvSpPr>
        <p:spPr>
          <a:xfrm>
            <a:off x="4404360"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5</a:t>
            </a:r>
            <a:endParaRPr lang="en-US" sz="1100" dirty="0"/>
          </a:p>
        </p:txBody>
      </p:sp>
      <p:sp>
        <p:nvSpPr>
          <p:cNvPr id="70" name="Text 67"/>
          <p:cNvSpPr txBox="1"/>
          <p:nvPr/>
        </p:nvSpPr>
        <p:spPr>
          <a:xfrm>
            <a:off x="4770120"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The bag is…</a:t>
            </a:r>
            <a:endParaRPr lang="en-US" sz="1250" dirty="0"/>
          </a:p>
        </p:txBody>
      </p:sp>
      <p:sp>
        <p:nvSpPr>
          <p:cNvPr id="71" name="Shape 68"/>
          <p:cNvSpPr/>
          <p:nvPr/>
        </p:nvSpPr>
        <p:spPr>
          <a:xfrm>
            <a:off x="4459224" y="4873752"/>
            <a:ext cx="256032" cy="256032"/>
          </a:xfrm>
          <a:prstGeom prst="ellipse">
            <a:avLst/>
          </a:prstGeom>
          <a:solidFill>
            <a:srgbClr val="F4F1EA"/>
          </a:solidFill>
          <a:ln w="12700">
            <a:solidFill>
              <a:srgbClr val="F4F1EA"/>
            </a:solidFill>
            <a:prstDash val="solid"/>
          </a:ln>
        </p:spPr>
      </p:sp>
      <p:sp>
        <p:nvSpPr>
          <p:cNvPr id="72" name="Text 69"/>
          <p:cNvSpPr txBox="1"/>
          <p:nvPr/>
        </p:nvSpPr>
        <p:spPr>
          <a:xfrm>
            <a:off x="4459224"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A</a:t>
            </a:r>
            <a:endParaRPr lang="en-US" sz="900" dirty="0"/>
          </a:p>
        </p:txBody>
      </p:sp>
      <p:sp>
        <p:nvSpPr>
          <p:cNvPr id="73" name="Text 70"/>
          <p:cNvSpPr txBox="1"/>
          <p:nvPr/>
        </p:nvSpPr>
        <p:spPr>
          <a:xfrm>
            <a:off x="4788408" y="47731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34" charset="0"/>
                <a:ea typeface="Amiri" pitchFamily="34" charset="-122"/>
                <a:cs typeface="Amiri" pitchFamily="34" charset="-120"/>
              </a:rPr>
              <a:t>جَمِيلَةٌ</a:t>
            </a:r>
            <a:endParaRPr lang="ar-SA" sz="2050" dirty="0"/>
          </a:p>
        </p:txBody>
      </p:sp>
      <p:sp>
        <p:nvSpPr>
          <p:cNvPr id="74" name="Shape 71"/>
          <p:cNvSpPr/>
          <p:nvPr/>
        </p:nvSpPr>
        <p:spPr>
          <a:xfrm>
            <a:off x="4459224" y="5330952"/>
            <a:ext cx="256032" cy="256032"/>
          </a:xfrm>
          <a:prstGeom prst="ellipse">
            <a:avLst/>
          </a:prstGeom>
          <a:solidFill>
            <a:srgbClr val="F4F1EA"/>
          </a:solidFill>
          <a:ln w="12700">
            <a:solidFill>
              <a:srgbClr val="F4F1EA"/>
            </a:solidFill>
            <a:prstDash val="solid"/>
          </a:ln>
        </p:spPr>
      </p:sp>
      <p:sp>
        <p:nvSpPr>
          <p:cNvPr id="75" name="Text 72"/>
          <p:cNvSpPr txBox="1"/>
          <p:nvPr/>
        </p:nvSpPr>
        <p:spPr>
          <a:xfrm>
            <a:off x="4459224"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76" name="Text 73"/>
          <p:cNvSpPr txBox="1"/>
          <p:nvPr/>
        </p:nvSpPr>
        <p:spPr>
          <a:xfrm>
            <a:off x="4788408" y="52303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34" charset="0"/>
                <a:ea typeface="Amiri" pitchFamily="34" charset="-122"/>
                <a:cs typeface="Amiri" pitchFamily="34" charset="-120"/>
              </a:rPr>
              <a:t>جَمِيلٌ</a:t>
            </a:r>
            <a:endParaRPr lang="ar-SA" sz="2050" dirty="0"/>
          </a:p>
        </p:txBody>
      </p:sp>
      <p:sp>
        <p:nvSpPr>
          <p:cNvPr id="77" name="Shape 74"/>
          <p:cNvSpPr/>
          <p:nvPr/>
        </p:nvSpPr>
        <p:spPr>
          <a:xfrm>
            <a:off x="4459224" y="5788152"/>
            <a:ext cx="256032" cy="256032"/>
          </a:xfrm>
          <a:prstGeom prst="ellipse">
            <a:avLst/>
          </a:prstGeom>
          <a:solidFill>
            <a:srgbClr val="F4F1EA"/>
          </a:solidFill>
          <a:ln w="12700">
            <a:solidFill>
              <a:srgbClr val="F4F1EA"/>
            </a:solidFill>
            <a:prstDash val="solid"/>
          </a:ln>
        </p:spPr>
      </p:sp>
      <p:sp>
        <p:nvSpPr>
          <p:cNvPr id="78" name="Text 75"/>
          <p:cNvSpPr txBox="1"/>
          <p:nvPr/>
        </p:nvSpPr>
        <p:spPr>
          <a:xfrm>
            <a:off x="4459224"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C</a:t>
            </a:r>
            <a:endParaRPr lang="en-US" sz="900" dirty="0"/>
          </a:p>
        </p:txBody>
      </p:sp>
      <p:sp>
        <p:nvSpPr>
          <p:cNvPr id="79" name="Text 76"/>
          <p:cNvSpPr txBox="1"/>
          <p:nvPr/>
        </p:nvSpPr>
        <p:spPr>
          <a:xfrm>
            <a:off x="4788408" y="56875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34" charset="0"/>
                <a:ea typeface="Amiri" pitchFamily="34" charset="-122"/>
                <a:cs typeface="Amiri" pitchFamily="34" charset="-120"/>
              </a:rPr>
              <a:t>قَصِيرَةٌ</a:t>
            </a:r>
            <a:endParaRPr lang="ar-SA" sz="2050" dirty="0"/>
          </a:p>
        </p:txBody>
      </p:sp>
      <p:sp>
        <p:nvSpPr>
          <p:cNvPr id="80" name="Shape 77"/>
          <p:cNvSpPr/>
          <p:nvPr/>
        </p:nvSpPr>
        <p:spPr>
          <a:xfrm>
            <a:off x="8095488" y="4151376"/>
            <a:ext cx="3636264" cy="2157984"/>
          </a:xfrm>
          <a:prstGeom prst="roundRect">
            <a:avLst>
              <a:gd name="adj" fmla="val 3390"/>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81" name="Text 78"/>
          <p:cNvSpPr txBox="1"/>
          <p:nvPr/>
        </p:nvSpPr>
        <p:spPr>
          <a:xfrm>
            <a:off x="8278368" y="4279392"/>
            <a:ext cx="3270504" cy="274320"/>
          </a:xfrm>
          <a:prstGeom prst="rect">
            <a:avLst/>
          </a:prstGeom>
          <a:noFill/>
          <a:ln/>
        </p:spPr>
        <p:txBody>
          <a:bodyPr wrap="square" lIns="0" tIns="0" rIns="0" bIns="0" rtlCol="0" anchor="ctr"/>
          <a:lstStyle/>
          <a:p>
            <a:pPr algn="l" indent="0" marL="0">
              <a:buNone/>
            </a:pPr>
            <a:r>
              <a:rPr lang="en-US" sz="1000" b="1" spc="200" kern="0" dirty="0">
                <a:solidFill>
                  <a:srgbClr val="1E6B52"/>
                </a:solidFill>
                <a:latin typeface="Calibri" pitchFamily="34" charset="0"/>
                <a:ea typeface="Calibri" pitchFamily="34" charset="-122"/>
                <a:cs typeface="Calibri" pitchFamily="34" charset="-120"/>
              </a:rPr>
              <a:t>FIND THE EVIDENCE</a:t>
            </a:r>
            <a:endParaRPr lang="en-US" sz="1000" dirty="0"/>
          </a:p>
        </p:txBody>
      </p:sp>
      <p:sp>
        <p:nvSpPr>
          <p:cNvPr id="82" name="Text 79"/>
          <p:cNvSpPr txBox="1"/>
          <p:nvPr/>
        </p:nvSpPr>
        <p:spPr>
          <a:xfrm>
            <a:off x="8278368" y="4590288"/>
            <a:ext cx="3270504" cy="1609344"/>
          </a:xfrm>
          <a:prstGeom prst="rect">
            <a:avLst/>
          </a:prstGeom>
          <a:noFill/>
          <a:ln/>
        </p:spPr>
        <p:txBody>
          <a:bodyPr wrap="square" lIns="0" tIns="0" rIns="0" bIns="0" rtlCol="0" anchor="t"/>
          <a:lstStyle/>
          <a:p>
            <a:pPr algn="l" indent="0" marL="0">
              <a:buNone/>
            </a:pPr>
            <a:r>
              <a:rPr lang="en-US" sz="1250" dirty="0">
                <a:solidFill>
                  <a:srgbClr val="1F2A37"/>
                </a:solidFill>
                <a:latin typeface="Calibri" pitchFamily="34" charset="0"/>
                <a:ea typeface="Calibri" pitchFamily="34" charset="-122"/>
                <a:cs typeface="Calibri" pitchFamily="34" charset="-120"/>
              </a:rPr>
              <a:t>Answer from the Arabic text, not from the pictures alone (website).</a:t>
            </a:r>
            <a:endParaRPr lang="en-US" sz="1250" dirty="0"/>
          </a:p>
        </p:txBody>
      </p:sp>
      <p:sp>
        <p:nvSpPr>
          <p:cNvPr id="83" name="Text 80"/>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ea typeface="Calibri" pitchFamily="34" charset="-122"/>
                <a:cs typeface="Calibri" pitchFamily="34" charset="-120"/>
              </a:rPr>
              <a:t>26 / 36</a:t>
            </a:r>
            <a:endParaRPr lang="en-US" sz="85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34" charset="0"/>
                <a:ea typeface="Amiri" pitchFamily="34" charset="-122"/>
                <a:cs typeface="Amiri" pitchFamily="34" charset="-120"/>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ea typeface="Cambria" pitchFamily="34" charset="-122"/>
                <a:cs typeface="Cambria" pitchFamily="34" charset="-120"/>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ea typeface="Calibri" pitchFamily="34" charset="-122"/>
                <a:cs typeface="Calibri" pitchFamily="34" charset="-120"/>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ea typeface="Calibri" pitchFamily="34" charset="-122"/>
                <a:cs typeface="Calibri" pitchFamily="34" charset="-120"/>
              </a:rPr>
              <a:t>F2-L05 · Masculine &amp; Feminine</a:t>
            </a:r>
            <a:endParaRPr lang="en-US" sz="950" dirty="0"/>
          </a:p>
        </p:txBody>
      </p:sp>
      <p:sp>
        <p:nvSpPr>
          <p:cNvPr id="8" name="Shape 6"/>
          <p:cNvSpPr/>
          <p:nvPr/>
        </p:nvSpPr>
        <p:spPr>
          <a:xfrm>
            <a:off x="7388352" y="274320"/>
            <a:ext cx="1371600"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ea typeface="Calibri" pitchFamily="34" charset="-122"/>
                <a:cs typeface="Calibri" pitchFamily="34" charset="-120"/>
              </a:rPr>
              <a:t>WE DO</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ea typeface="Calibri" pitchFamily="34" charset="-122"/>
                <a:cs typeface="Calibri" pitchFamily="34" charset="-120"/>
              </a:rPr>
              <a:t>WE DO · READING ANSWERS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ea typeface="Cambria" pitchFamily="34" charset="-122"/>
                <a:cs typeface="Cambria" pitchFamily="34" charset="-120"/>
              </a:rPr>
              <a:t>Reading: answers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34" charset="0"/>
                <a:ea typeface="Amiri" pitchFamily="34" charset="-122"/>
                <a:cs typeface="Amiri" pitchFamily="34" charset="-120"/>
              </a:rPr>
              <a:t>الإِجَابَاتُ</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ea typeface="Calibri" pitchFamily="34" charset="-122"/>
                <a:cs typeface="Calibri" pitchFamily="34" charset="-120"/>
              </a:rPr>
              <a:t>Miftah Arabic · Foundation F2 · Greetings &amp; Introductions · Week 2 · Lesson 2 of 3</a:t>
            </a:r>
            <a:endParaRPr lang="en-US" sz="850" dirty="0"/>
          </a:p>
        </p:txBody>
      </p:sp>
      <p:sp>
        <p:nvSpPr>
          <p:cNvPr id="15" name="Shape 12"/>
          <p:cNvSpPr/>
          <p:nvPr/>
        </p:nvSpPr>
        <p:spPr>
          <a:xfrm>
            <a:off x="457200"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1</a:t>
            </a:r>
            <a:endParaRPr lang="en-US" sz="1100" dirty="0"/>
          </a:p>
        </p:txBody>
      </p:sp>
      <p:sp>
        <p:nvSpPr>
          <p:cNvPr id="18" name="Text 15"/>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Which two adjectives describe Khalid?</a:t>
            </a:r>
            <a:endParaRPr lang="en-US" sz="1250" dirty="0"/>
          </a:p>
        </p:txBody>
      </p:sp>
      <p:sp>
        <p:nvSpPr>
          <p:cNvPr id="19" name="Shape 16"/>
          <p:cNvSpPr/>
          <p:nvPr/>
        </p:nvSpPr>
        <p:spPr>
          <a:xfrm>
            <a:off x="640080" y="2490216"/>
            <a:ext cx="256032" cy="256032"/>
          </a:xfrm>
          <a:prstGeom prst="ellipse">
            <a:avLst/>
          </a:prstGeom>
          <a:solidFill>
            <a:srgbClr val="C9CED6"/>
          </a:solidFill>
          <a:ln w="12700">
            <a:solidFill>
              <a:srgbClr val="C9CED6"/>
            </a:solidFill>
            <a:prstDash val="solid"/>
          </a:ln>
        </p:spPr>
      </p:sp>
      <p:sp>
        <p:nvSpPr>
          <p:cNvPr id="20" name="Text 17"/>
          <p:cNvSpPr txBox="1"/>
          <p:nvPr/>
        </p:nvSpPr>
        <p:spPr>
          <a:xfrm>
            <a:off x="640080"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A</a:t>
            </a:r>
            <a:endParaRPr lang="en-US" sz="900" dirty="0"/>
          </a:p>
        </p:txBody>
      </p:sp>
      <p:sp>
        <p:nvSpPr>
          <p:cNvPr id="21" name="Text 18"/>
          <p:cNvSpPr txBox="1"/>
          <p:nvPr/>
        </p:nvSpPr>
        <p:spPr>
          <a:xfrm>
            <a:off x="969264" y="2432304"/>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34" charset="0"/>
                <a:ea typeface="Amiri" pitchFamily="34" charset="-122"/>
                <a:cs typeface="Amiri" pitchFamily="34" charset="-120"/>
              </a:rPr>
              <a:t>قَصِيرٌ وَسَعِيدٌ</a:t>
            </a:r>
            <a:endParaRPr lang="ar-SA" sz="1700" dirty="0"/>
          </a:p>
        </p:txBody>
      </p:sp>
      <p:sp>
        <p:nvSpPr>
          <p:cNvPr id="22" name="Shape 19"/>
          <p:cNvSpPr/>
          <p:nvPr/>
        </p:nvSpPr>
        <p:spPr>
          <a:xfrm>
            <a:off x="548640" y="2825496"/>
            <a:ext cx="3453384" cy="347472"/>
          </a:xfrm>
          <a:prstGeom prst="roundRect">
            <a:avLst>
              <a:gd name="adj" fmla="val 15789"/>
            </a:avLst>
          </a:prstGeom>
          <a:solidFill>
            <a:srgbClr val="E6F4EC"/>
          </a:solidFill>
          <a:ln w="9525">
            <a:solidFill>
              <a:srgbClr val="2E8B57"/>
            </a:solidFill>
            <a:prstDash val="solid"/>
          </a:ln>
        </p:spPr>
      </p:sp>
      <p:sp>
        <p:nvSpPr>
          <p:cNvPr id="23" name="Shape 20"/>
          <p:cNvSpPr/>
          <p:nvPr/>
        </p:nvSpPr>
        <p:spPr>
          <a:xfrm>
            <a:off x="640080" y="2862072"/>
            <a:ext cx="256032" cy="256032"/>
          </a:xfrm>
          <a:prstGeom prst="ellipse">
            <a:avLst/>
          </a:prstGeom>
          <a:solidFill>
            <a:srgbClr val="2E8B57"/>
          </a:solidFill>
          <a:ln w="12700">
            <a:solidFill>
              <a:srgbClr val="2E8B57"/>
            </a:solidFill>
            <a:prstDash val="solid"/>
          </a:ln>
        </p:spPr>
      </p:sp>
      <p:sp>
        <p:nvSpPr>
          <p:cNvPr id="24" name="Text 21"/>
          <p:cNvSpPr txBox="1"/>
          <p:nvPr/>
        </p:nvSpPr>
        <p:spPr>
          <a:xfrm>
            <a:off x="640080" y="286207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B</a:t>
            </a:r>
            <a:endParaRPr lang="en-US" sz="900" dirty="0"/>
          </a:p>
        </p:txBody>
      </p:sp>
      <p:sp>
        <p:nvSpPr>
          <p:cNvPr id="25" name="Text 22"/>
          <p:cNvSpPr txBox="1"/>
          <p:nvPr/>
        </p:nvSpPr>
        <p:spPr>
          <a:xfrm>
            <a:off x="969264" y="2804160"/>
            <a:ext cx="2977896"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34" charset="0"/>
                <a:ea typeface="Amiri" pitchFamily="34" charset="-122"/>
                <a:cs typeface="Amiri" pitchFamily="34" charset="-120"/>
              </a:rPr>
              <a:t>طَوِيلٌ وَذَكِيٌّ</a:t>
            </a:r>
            <a:endParaRPr lang="ar-SA" sz="1700" dirty="0"/>
          </a:p>
        </p:txBody>
      </p:sp>
      <p:sp>
        <p:nvSpPr>
          <p:cNvPr id="26" name="Shape 23"/>
          <p:cNvSpPr/>
          <p:nvPr/>
        </p:nvSpPr>
        <p:spPr>
          <a:xfrm>
            <a:off x="640080" y="3233928"/>
            <a:ext cx="256032" cy="256032"/>
          </a:xfrm>
          <a:prstGeom prst="ellipse">
            <a:avLst/>
          </a:prstGeom>
          <a:solidFill>
            <a:srgbClr val="C9CED6"/>
          </a:solidFill>
          <a:ln w="12700">
            <a:solidFill>
              <a:srgbClr val="C9CED6"/>
            </a:solidFill>
            <a:prstDash val="solid"/>
          </a:ln>
        </p:spPr>
      </p:sp>
      <p:sp>
        <p:nvSpPr>
          <p:cNvPr id="27" name="Text 24"/>
          <p:cNvSpPr txBox="1"/>
          <p:nvPr/>
        </p:nvSpPr>
        <p:spPr>
          <a:xfrm>
            <a:off x="640080"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C</a:t>
            </a:r>
            <a:endParaRPr lang="en-US" sz="900" dirty="0"/>
          </a:p>
        </p:txBody>
      </p:sp>
      <p:sp>
        <p:nvSpPr>
          <p:cNvPr id="28" name="Text 25"/>
          <p:cNvSpPr txBox="1"/>
          <p:nvPr/>
        </p:nvSpPr>
        <p:spPr>
          <a:xfrm>
            <a:off x="969264" y="3176016"/>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34" charset="0"/>
                <a:ea typeface="Amiri" pitchFamily="34" charset="-122"/>
                <a:cs typeface="Amiri" pitchFamily="34" charset="-120"/>
              </a:rPr>
              <a:t>قَدِيمٌ وَجَمِيلٌ</a:t>
            </a:r>
            <a:endParaRPr lang="ar-SA" sz="1700" dirty="0"/>
          </a:p>
        </p:txBody>
      </p:sp>
      <p:sp>
        <p:nvSpPr>
          <p:cNvPr id="29" name="Text 26"/>
          <p:cNvSpPr txBox="1"/>
          <p:nvPr/>
        </p:nvSpPr>
        <p:spPr>
          <a:xfrm>
            <a:off x="585216" y="3566160"/>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ea typeface="Calibri" pitchFamily="34" charset="-122"/>
                <a:cs typeface="Calibri" pitchFamily="34" charset="-120"/>
              </a:rPr>
              <a:t>Khalid is tall and clever.</a:t>
            </a:r>
            <a:endParaRPr lang="en-US" sz="1050" dirty="0"/>
          </a:p>
        </p:txBody>
      </p:sp>
      <p:sp>
        <p:nvSpPr>
          <p:cNvPr id="30" name="Shape 27"/>
          <p:cNvSpPr/>
          <p:nvPr/>
        </p:nvSpPr>
        <p:spPr>
          <a:xfrm>
            <a:off x="4276344"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4404360" y="1947672"/>
            <a:ext cx="310896" cy="310896"/>
          </a:xfrm>
          <a:prstGeom prst="ellipse">
            <a:avLst/>
          </a:prstGeom>
          <a:solidFill>
            <a:srgbClr val="1B3B6F"/>
          </a:solidFill>
          <a:ln w="12700">
            <a:solidFill>
              <a:srgbClr val="1B3B6F"/>
            </a:solidFill>
            <a:prstDash val="solid"/>
          </a:ln>
        </p:spPr>
      </p:sp>
      <p:sp>
        <p:nvSpPr>
          <p:cNvPr id="32" name="Text 29"/>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2</a:t>
            </a:r>
            <a:endParaRPr lang="en-US" sz="1100" dirty="0"/>
          </a:p>
        </p:txBody>
      </p:sp>
      <p:sp>
        <p:nvSpPr>
          <p:cNvPr id="33" name="Text 30"/>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Maryam is a…</a:t>
            </a:r>
            <a:endParaRPr lang="en-US" sz="1250" dirty="0"/>
          </a:p>
        </p:txBody>
      </p:sp>
      <p:sp>
        <p:nvSpPr>
          <p:cNvPr id="34" name="Shape 31"/>
          <p:cNvSpPr/>
          <p:nvPr/>
        </p:nvSpPr>
        <p:spPr>
          <a:xfrm>
            <a:off x="4459224" y="2490216"/>
            <a:ext cx="256032" cy="256032"/>
          </a:xfrm>
          <a:prstGeom prst="ellipse">
            <a:avLst/>
          </a:prstGeom>
          <a:solidFill>
            <a:srgbClr val="C9CED6"/>
          </a:solidFill>
          <a:ln w="12700">
            <a:solidFill>
              <a:srgbClr val="C9CED6"/>
            </a:solidFill>
            <a:prstDash val="solid"/>
          </a:ln>
        </p:spPr>
      </p:sp>
      <p:sp>
        <p:nvSpPr>
          <p:cNvPr id="35" name="Text 32"/>
          <p:cNvSpPr txBox="1"/>
          <p:nvPr/>
        </p:nvSpPr>
        <p:spPr>
          <a:xfrm>
            <a:off x="4459224"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A</a:t>
            </a:r>
            <a:endParaRPr lang="en-US" sz="900" dirty="0"/>
          </a:p>
        </p:txBody>
      </p:sp>
      <p:sp>
        <p:nvSpPr>
          <p:cNvPr id="36" name="Text 33"/>
          <p:cNvSpPr txBox="1"/>
          <p:nvPr/>
        </p:nvSpPr>
        <p:spPr>
          <a:xfrm>
            <a:off x="4788408" y="2432304"/>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34" charset="0"/>
                <a:ea typeface="Amiri" pitchFamily="34" charset="-122"/>
                <a:cs typeface="Amiri" pitchFamily="34" charset="-120"/>
              </a:rPr>
              <a:t>زَمِيلٌ لَطِيفٌ</a:t>
            </a:r>
            <a:endParaRPr lang="ar-SA" sz="1700" dirty="0"/>
          </a:p>
        </p:txBody>
      </p:sp>
      <p:sp>
        <p:nvSpPr>
          <p:cNvPr id="37" name="Shape 34"/>
          <p:cNvSpPr/>
          <p:nvPr/>
        </p:nvSpPr>
        <p:spPr>
          <a:xfrm>
            <a:off x="4459224" y="2862072"/>
            <a:ext cx="256032" cy="256032"/>
          </a:xfrm>
          <a:prstGeom prst="ellipse">
            <a:avLst/>
          </a:prstGeom>
          <a:solidFill>
            <a:srgbClr val="C9CED6"/>
          </a:solidFill>
          <a:ln w="12700">
            <a:solidFill>
              <a:srgbClr val="C9CED6"/>
            </a:solidFill>
            <a:prstDash val="solid"/>
          </a:ln>
        </p:spPr>
      </p:sp>
      <p:sp>
        <p:nvSpPr>
          <p:cNvPr id="38" name="Text 35"/>
          <p:cNvSpPr txBox="1"/>
          <p:nvPr/>
        </p:nvSpPr>
        <p:spPr>
          <a:xfrm>
            <a:off x="4459224"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39" name="Text 36"/>
          <p:cNvSpPr txBox="1"/>
          <p:nvPr/>
        </p:nvSpPr>
        <p:spPr>
          <a:xfrm>
            <a:off x="4788408" y="2804160"/>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34" charset="0"/>
                <a:ea typeface="Amiri" pitchFamily="34" charset="-122"/>
                <a:cs typeface="Amiri" pitchFamily="34" charset="-120"/>
              </a:rPr>
              <a:t>طِفْلَةٌ صَغِيرَةٌ</a:t>
            </a:r>
            <a:endParaRPr lang="ar-SA" sz="1700" dirty="0"/>
          </a:p>
        </p:txBody>
      </p:sp>
      <p:sp>
        <p:nvSpPr>
          <p:cNvPr id="40" name="Shape 37"/>
          <p:cNvSpPr/>
          <p:nvPr/>
        </p:nvSpPr>
        <p:spPr>
          <a:xfrm>
            <a:off x="4367784" y="3197352"/>
            <a:ext cx="3453384" cy="347472"/>
          </a:xfrm>
          <a:prstGeom prst="roundRect">
            <a:avLst>
              <a:gd name="adj" fmla="val 15789"/>
            </a:avLst>
          </a:prstGeom>
          <a:solidFill>
            <a:srgbClr val="E6F4EC"/>
          </a:solidFill>
          <a:ln w="9525">
            <a:solidFill>
              <a:srgbClr val="2E8B57"/>
            </a:solidFill>
            <a:prstDash val="solid"/>
          </a:ln>
        </p:spPr>
      </p:sp>
      <p:sp>
        <p:nvSpPr>
          <p:cNvPr id="41" name="Shape 38"/>
          <p:cNvSpPr/>
          <p:nvPr/>
        </p:nvSpPr>
        <p:spPr>
          <a:xfrm>
            <a:off x="4459224" y="3233928"/>
            <a:ext cx="256032" cy="256032"/>
          </a:xfrm>
          <a:prstGeom prst="ellipse">
            <a:avLst/>
          </a:prstGeom>
          <a:solidFill>
            <a:srgbClr val="2E8B57"/>
          </a:solidFill>
          <a:ln w="12700">
            <a:solidFill>
              <a:srgbClr val="2E8B57"/>
            </a:solidFill>
            <a:prstDash val="solid"/>
          </a:ln>
        </p:spPr>
      </p:sp>
      <p:sp>
        <p:nvSpPr>
          <p:cNvPr id="42" name="Text 39"/>
          <p:cNvSpPr txBox="1"/>
          <p:nvPr/>
        </p:nvSpPr>
        <p:spPr>
          <a:xfrm>
            <a:off x="4459224" y="323392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C</a:t>
            </a:r>
            <a:endParaRPr lang="en-US" sz="900" dirty="0"/>
          </a:p>
        </p:txBody>
      </p:sp>
      <p:sp>
        <p:nvSpPr>
          <p:cNvPr id="43" name="Text 40"/>
          <p:cNvSpPr txBox="1"/>
          <p:nvPr/>
        </p:nvSpPr>
        <p:spPr>
          <a:xfrm>
            <a:off x="4788408" y="3176016"/>
            <a:ext cx="2977896"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34" charset="0"/>
                <a:ea typeface="Amiri" pitchFamily="34" charset="-122"/>
                <a:cs typeface="Amiri" pitchFamily="34" charset="-120"/>
              </a:rPr>
              <a:t>زَمِيلَةٌ لَطِيفَةٌ</a:t>
            </a:r>
            <a:endParaRPr lang="ar-SA" sz="1700" dirty="0"/>
          </a:p>
        </p:txBody>
      </p:sp>
      <p:sp>
        <p:nvSpPr>
          <p:cNvPr id="44" name="Text 41"/>
          <p:cNvSpPr txBox="1"/>
          <p:nvPr/>
        </p:nvSpPr>
        <p:spPr>
          <a:xfrm>
            <a:off x="4404360" y="3566160"/>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ea typeface="Calibri" pitchFamily="34" charset="-122"/>
                <a:cs typeface="Calibri" pitchFamily="34" charset="-120"/>
              </a:rPr>
              <a:t>Both words in </a:t>
            </a:r>
            <a:pPr algn="l" indent="0" marL="0">
              <a:buNone/>
            </a:pPr>
            <a:r>
              <a:rPr lang="ar-SA" altLang="en-US" sz="1350" dirty="0">
                <a:solidFill>
                  <a:srgbClr val="8A6D1E"/>
                </a:solidFill>
                <a:latin typeface="Amiri" pitchFamily="34" charset="0"/>
                <a:ea typeface="Amiri" pitchFamily="34" charset="-122"/>
                <a:cs typeface="Amiri" pitchFamily="34" charset="-120"/>
              </a:rPr>
              <a:t>زَمِيلَةٌ لَطِيفَةٌ</a:t>
            </a:r>
            <a:pPr algn="l" indent="0" marL="0">
              <a:buNone/>
            </a:pPr>
            <a:r>
              <a:rPr lang="en-US" sz="1050" i="1" dirty="0">
                <a:solidFill>
                  <a:srgbClr val="8A6D1E"/>
                </a:solidFill>
                <a:latin typeface="Calibri" pitchFamily="34" charset="0"/>
                <a:ea typeface="Calibri" pitchFamily="34" charset="-122"/>
                <a:cs typeface="Calibri" pitchFamily="34" charset="-120"/>
              </a:rPr>
              <a:t> are feminine.</a:t>
            </a:r>
            <a:endParaRPr lang="en-US" sz="1050" dirty="0"/>
          </a:p>
        </p:txBody>
      </p:sp>
      <p:sp>
        <p:nvSpPr>
          <p:cNvPr id="45" name="Shape 42"/>
          <p:cNvSpPr/>
          <p:nvPr/>
        </p:nvSpPr>
        <p:spPr>
          <a:xfrm>
            <a:off x="8095488"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6" name="Shape 43"/>
          <p:cNvSpPr/>
          <p:nvPr/>
        </p:nvSpPr>
        <p:spPr>
          <a:xfrm>
            <a:off x="8223504" y="1947672"/>
            <a:ext cx="310896" cy="310896"/>
          </a:xfrm>
          <a:prstGeom prst="ellipse">
            <a:avLst/>
          </a:prstGeom>
          <a:solidFill>
            <a:srgbClr val="1B3B6F"/>
          </a:solidFill>
          <a:ln w="12700">
            <a:solidFill>
              <a:srgbClr val="1B3B6F"/>
            </a:solidFill>
            <a:prstDash val="solid"/>
          </a:ln>
        </p:spPr>
      </p:sp>
      <p:sp>
        <p:nvSpPr>
          <p:cNvPr id="47" name="Text 44"/>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3</a:t>
            </a:r>
            <a:endParaRPr lang="en-US" sz="1100" dirty="0"/>
          </a:p>
        </p:txBody>
      </p:sp>
      <p:sp>
        <p:nvSpPr>
          <p:cNvPr id="48" name="Text 45"/>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Which irregular feminine noun describes Zaynab?</a:t>
            </a:r>
            <a:endParaRPr lang="en-US" sz="1250" dirty="0"/>
          </a:p>
        </p:txBody>
      </p:sp>
      <p:sp>
        <p:nvSpPr>
          <p:cNvPr id="49" name="Shape 46"/>
          <p:cNvSpPr/>
          <p:nvPr/>
        </p:nvSpPr>
        <p:spPr>
          <a:xfrm>
            <a:off x="8186928" y="2453640"/>
            <a:ext cx="3453384" cy="347472"/>
          </a:xfrm>
          <a:prstGeom prst="roundRect">
            <a:avLst>
              <a:gd name="adj" fmla="val 15789"/>
            </a:avLst>
          </a:prstGeom>
          <a:solidFill>
            <a:srgbClr val="E6F4EC"/>
          </a:solidFill>
          <a:ln w="9525">
            <a:solidFill>
              <a:srgbClr val="2E8B57"/>
            </a:solidFill>
            <a:prstDash val="solid"/>
          </a:ln>
        </p:spPr>
      </p:sp>
      <p:sp>
        <p:nvSpPr>
          <p:cNvPr id="50" name="Shape 47"/>
          <p:cNvSpPr/>
          <p:nvPr/>
        </p:nvSpPr>
        <p:spPr>
          <a:xfrm>
            <a:off x="8278368" y="2490216"/>
            <a:ext cx="256032" cy="256032"/>
          </a:xfrm>
          <a:prstGeom prst="ellipse">
            <a:avLst/>
          </a:prstGeom>
          <a:solidFill>
            <a:srgbClr val="2E8B57"/>
          </a:solidFill>
          <a:ln w="12700">
            <a:solidFill>
              <a:srgbClr val="2E8B57"/>
            </a:solidFill>
            <a:prstDash val="solid"/>
          </a:ln>
        </p:spPr>
      </p:sp>
      <p:sp>
        <p:nvSpPr>
          <p:cNvPr id="51" name="Text 48"/>
          <p:cNvSpPr txBox="1"/>
          <p:nvPr/>
        </p:nvSpPr>
        <p:spPr>
          <a:xfrm>
            <a:off x="8278368" y="249021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A</a:t>
            </a:r>
            <a:endParaRPr lang="en-US" sz="900" dirty="0"/>
          </a:p>
        </p:txBody>
      </p:sp>
      <p:sp>
        <p:nvSpPr>
          <p:cNvPr id="52" name="Text 49"/>
          <p:cNvSpPr txBox="1"/>
          <p:nvPr/>
        </p:nvSpPr>
        <p:spPr>
          <a:xfrm>
            <a:off x="8607552" y="2432304"/>
            <a:ext cx="2977896"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34" charset="0"/>
                <a:ea typeface="Amiri" pitchFamily="34" charset="-122"/>
                <a:cs typeface="Amiri" pitchFamily="34" charset="-120"/>
              </a:rPr>
              <a:t>أُخْتٌ</a:t>
            </a:r>
            <a:endParaRPr lang="ar-SA" sz="1700" dirty="0"/>
          </a:p>
        </p:txBody>
      </p:sp>
      <p:sp>
        <p:nvSpPr>
          <p:cNvPr id="53" name="Shape 50"/>
          <p:cNvSpPr/>
          <p:nvPr/>
        </p:nvSpPr>
        <p:spPr>
          <a:xfrm>
            <a:off x="8278368" y="2862072"/>
            <a:ext cx="256032" cy="256032"/>
          </a:xfrm>
          <a:prstGeom prst="ellipse">
            <a:avLst/>
          </a:prstGeom>
          <a:solidFill>
            <a:srgbClr val="C9CED6"/>
          </a:solidFill>
          <a:ln w="12700">
            <a:solidFill>
              <a:srgbClr val="C9CED6"/>
            </a:solidFill>
            <a:prstDash val="solid"/>
          </a:ln>
        </p:spPr>
      </p:sp>
      <p:sp>
        <p:nvSpPr>
          <p:cNvPr id="54" name="Text 51"/>
          <p:cNvSpPr txBox="1"/>
          <p:nvPr/>
        </p:nvSpPr>
        <p:spPr>
          <a:xfrm>
            <a:off x="8278368"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55" name="Text 52"/>
          <p:cNvSpPr txBox="1"/>
          <p:nvPr/>
        </p:nvSpPr>
        <p:spPr>
          <a:xfrm>
            <a:off x="8607552" y="2804160"/>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34" charset="0"/>
                <a:ea typeface="Amiri" pitchFamily="34" charset="-122"/>
                <a:cs typeface="Amiri" pitchFamily="34" charset="-120"/>
              </a:rPr>
              <a:t>بِنْتٌ</a:t>
            </a:r>
            <a:endParaRPr lang="ar-SA" sz="1700" dirty="0"/>
          </a:p>
        </p:txBody>
      </p:sp>
      <p:sp>
        <p:nvSpPr>
          <p:cNvPr id="56" name="Shape 53"/>
          <p:cNvSpPr/>
          <p:nvPr/>
        </p:nvSpPr>
        <p:spPr>
          <a:xfrm>
            <a:off x="8278368" y="3233928"/>
            <a:ext cx="256032" cy="256032"/>
          </a:xfrm>
          <a:prstGeom prst="ellipse">
            <a:avLst/>
          </a:prstGeom>
          <a:solidFill>
            <a:srgbClr val="C9CED6"/>
          </a:solidFill>
          <a:ln w="12700">
            <a:solidFill>
              <a:srgbClr val="C9CED6"/>
            </a:solidFill>
            <a:prstDash val="solid"/>
          </a:ln>
        </p:spPr>
      </p:sp>
      <p:sp>
        <p:nvSpPr>
          <p:cNvPr id="57" name="Text 54"/>
          <p:cNvSpPr txBox="1"/>
          <p:nvPr/>
        </p:nvSpPr>
        <p:spPr>
          <a:xfrm>
            <a:off x="8278368"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C</a:t>
            </a:r>
            <a:endParaRPr lang="en-US" sz="900" dirty="0"/>
          </a:p>
        </p:txBody>
      </p:sp>
      <p:sp>
        <p:nvSpPr>
          <p:cNvPr id="58" name="Text 55"/>
          <p:cNvSpPr txBox="1"/>
          <p:nvPr/>
        </p:nvSpPr>
        <p:spPr>
          <a:xfrm>
            <a:off x="8607552" y="3176016"/>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34" charset="0"/>
                <a:ea typeface="Amiri" pitchFamily="34" charset="-122"/>
                <a:cs typeface="Amiri" pitchFamily="34" charset="-120"/>
              </a:rPr>
              <a:t>أُمٌّ</a:t>
            </a:r>
            <a:endParaRPr lang="ar-SA" sz="1700" dirty="0"/>
          </a:p>
        </p:txBody>
      </p:sp>
      <p:sp>
        <p:nvSpPr>
          <p:cNvPr id="59" name="Text 56"/>
          <p:cNvSpPr txBox="1"/>
          <p:nvPr/>
        </p:nvSpPr>
        <p:spPr>
          <a:xfrm>
            <a:off x="8223504" y="3566160"/>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ea typeface="Calibri" pitchFamily="34" charset="-122"/>
                <a:cs typeface="Calibri" pitchFamily="34" charset="-120"/>
              </a:rPr>
              <a:t>The text says </a:t>
            </a:r>
            <a:pPr algn="l" indent="0" marL="0">
              <a:buNone/>
            </a:pPr>
            <a:r>
              <a:rPr lang="ar-SA" altLang="en-US" sz="1350" dirty="0">
                <a:solidFill>
                  <a:srgbClr val="8A6D1E"/>
                </a:solidFill>
                <a:latin typeface="Amiri" pitchFamily="34" charset="0"/>
                <a:ea typeface="Amiri" pitchFamily="34" charset="-122"/>
                <a:cs typeface="Amiri" pitchFamily="34" charset="-120"/>
              </a:rPr>
              <a:t>هِيَ أُخْتٌ صَغِيرَةٌ</a:t>
            </a:r>
            <a:pPr algn="l" indent="0" marL="0">
              <a:buNone/>
            </a:pPr>
            <a:r>
              <a:rPr lang="en-US" sz="1050" i="1" dirty="0">
                <a:solidFill>
                  <a:srgbClr val="8A6D1E"/>
                </a:solidFill>
                <a:latin typeface="Calibri" pitchFamily="34" charset="0"/>
                <a:ea typeface="Calibri" pitchFamily="34" charset="-122"/>
                <a:cs typeface="Calibri" pitchFamily="34" charset="-120"/>
              </a:rPr>
              <a:t>.</a:t>
            </a:r>
            <a:endParaRPr lang="en-US" sz="1050" dirty="0"/>
          </a:p>
        </p:txBody>
      </p:sp>
      <p:sp>
        <p:nvSpPr>
          <p:cNvPr id="60" name="Shape 57"/>
          <p:cNvSpPr/>
          <p:nvPr/>
        </p:nvSpPr>
        <p:spPr>
          <a:xfrm>
            <a:off x="457200"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1" name="Shape 58"/>
          <p:cNvSpPr/>
          <p:nvPr/>
        </p:nvSpPr>
        <p:spPr>
          <a:xfrm>
            <a:off x="585216" y="4288536"/>
            <a:ext cx="310896" cy="310896"/>
          </a:xfrm>
          <a:prstGeom prst="ellipse">
            <a:avLst/>
          </a:prstGeom>
          <a:solidFill>
            <a:srgbClr val="1B3B6F"/>
          </a:solidFill>
          <a:ln w="12700">
            <a:solidFill>
              <a:srgbClr val="1B3B6F"/>
            </a:solidFill>
            <a:prstDash val="solid"/>
          </a:ln>
        </p:spPr>
      </p:sp>
      <p:sp>
        <p:nvSpPr>
          <p:cNvPr id="62" name="Text 59"/>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4</a:t>
            </a:r>
            <a:endParaRPr lang="en-US" sz="1100" dirty="0"/>
          </a:p>
        </p:txBody>
      </p:sp>
      <p:sp>
        <p:nvSpPr>
          <p:cNvPr id="63" name="Text 60"/>
          <p:cNvSpPr txBox="1"/>
          <p:nvPr/>
        </p:nvSpPr>
        <p:spPr>
          <a:xfrm>
            <a:off x="950976"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The book is…</a:t>
            </a:r>
            <a:endParaRPr lang="en-US" sz="1250" dirty="0"/>
          </a:p>
        </p:txBody>
      </p:sp>
      <p:sp>
        <p:nvSpPr>
          <p:cNvPr id="64" name="Shape 61"/>
          <p:cNvSpPr/>
          <p:nvPr/>
        </p:nvSpPr>
        <p:spPr>
          <a:xfrm>
            <a:off x="640080" y="4831080"/>
            <a:ext cx="256032" cy="256032"/>
          </a:xfrm>
          <a:prstGeom prst="ellipse">
            <a:avLst/>
          </a:prstGeom>
          <a:solidFill>
            <a:srgbClr val="C9CED6"/>
          </a:solidFill>
          <a:ln w="12700">
            <a:solidFill>
              <a:srgbClr val="C9CED6"/>
            </a:solidFill>
            <a:prstDash val="solid"/>
          </a:ln>
        </p:spPr>
      </p:sp>
      <p:sp>
        <p:nvSpPr>
          <p:cNvPr id="65" name="Text 62"/>
          <p:cNvSpPr txBox="1"/>
          <p:nvPr/>
        </p:nvSpPr>
        <p:spPr>
          <a:xfrm>
            <a:off x="640080" y="4831080"/>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A</a:t>
            </a:r>
            <a:endParaRPr lang="en-US" sz="900" dirty="0"/>
          </a:p>
        </p:txBody>
      </p:sp>
      <p:sp>
        <p:nvSpPr>
          <p:cNvPr id="66" name="Text 63"/>
          <p:cNvSpPr txBox="1"/>
          <p:nvPr/>
        </p:nvSpPr>
        <p:spPr>
          <a:xfrm>
            <a:off x="969264" y="4773168"/>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34" charset="0"/>
                <a:ea typeface="Amiri" pitchFamily="34" charset="-122"/>
                <a:cs typeface="Amiri" pitchFamily="34" charset="-120"/>
              </a:rPr>
              <a:t>قَدِيمَةٌ</a:t>
            </a:r>
            <a:endParaRPr lang="ar-SA" sz="1700" dirty="0"/>
          </a:p>
        </p:txBody>
      </p:sp>
      <p:sp>
        <p:nvSpPr>
          <p:cNvPr id="67" name="Shape 64"/>
          <p:cNvSpPr/>
          <p:nvPr/>
        </p:nvSpPr>
        <p:spPr>
          <a:xfrm>
            <a:off x="548640" y="5166360"/>
            <a:ext cx="3453384" cy="347472"/>
          </a:xfrm>
          <a:prstGeom prst="roundRect">
            <a:avLst>
              <a:gd name="adj" fmla="val 15789"/>
            </a:avLst>
          </a:prstGeom>
          <a:solidFill>
            <a:srgbClr val="E6F4EC"/>
          </a:solidFill>
          <a:ln w="9525">
            <a:solidFill>
              <a:srgbClr val="2E8B57"/>
            </a:solidFill>
            <a:prstDash val="solid"/>
          </a:ln>
        </p:spPr>
      </p:sp>
      <p:sp>
        <p:nvSpPr>
          <p:cNvPr id="68" name="Shape 65"/>
          <p:cNvSpPr/>
          <p:nvPr/>
        </p:nvSpPr>
        <p:spPr>
          <a:xfrm>
            <a:off x="640080" y="5202936"/>
            <a:ext cx="256032" cy="256032"/>
          </a:xfrm>
          <a:prstGeom prst="ellipse">
            <a:avLst/>
          </a:prstGeom>
          <a:solidFill>
            <a:srgbClr val="2E8B57"/>
          </a:solidFill>
          <a:ln w="12700">
            <a:solidFill>
              <a:srgbClr val="2E8B57"/>
            </a:solidFill>
            <a:prstDash val="solid"/>
          </a:ln>
        </p:spPr>
      </p:sp>
      <p:sp>
        <p:nvSpPr>
          <p:cNvPr id="69" name="Text 66"/>
          <p:cNvSpPr txBox="1"/>
          <p:nvPr/>
        </p:nvSpPr>
        <p:spPr>
          <a:xfrm>
            <a:off x="640080" y="520293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B</a:t>
            </a:r>
            <a:endParaRPr lang="en-US" sz="900" dirty="0"/>
          </a:p>
        </p:txBody>
      </p:sp>
      <p:sp>
        <p:nvSpPr>
          <p:cNvPr id="70" name="Text 67"/>
          <p:cNvSpPr txBox="1"/>
          <p:nvPr/>
        </p:nvSpPr>
        <p:spPr>
          <a:xfrm>
            <a:off x="969264" y="5145024"/>
            <a:ext cx="2977896"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34" charset="0"/>
                <a:ea typeface="Amiri" pitchFamily="34" charset="-122"/>
                <a:cs typeface="Amiri" pitchFamily="34" charset="-120"/>
              </a:rPr>
              <a:t>قَدِيمٌ</a:t>
            </a:r>
            <a:endParaRPr lang="ar-SA" sz="1700" dirty="0"/>
          </a:p>
        </p:txBody>
      </p:sp>
      <p:sp>
        <p:nvSpPr>
          <p:cNvPr id="71" name="Shape 68"/>
          <p:cNvSpPr/>
          <p:nvPr/>
        </p:nvSpPr>
        <p:spPr>
          <a:xfrm>
            <a:off x="640080" y="5574792"/>
            <a:ext cx="256032" cy="256032"/>
          </a:xfrm>
          <a:prstGeom prst="ellipse">
            <a:avLst/>
          </a:prstGeom>
          <a:solidFill>
            <a:srgbClr val="C9CED6"/>
          </a:solidFill>
          <a:ln w="12700">
            <a:solidFill>
              <a:srgbClr val="C9CED6"/>
            </a:solidFill>
            <a:prstDash val="solid"/>
          </a:ln>
        </p:spPr>
      </p:sp>
      <p:sp>
        <p:nvSpPr>
          <p:cNvPr id="72" name="Text 69"/>
          <p:cNvSpPr txBox="1"/>
          <p:nvPr/>
        </p:nvSpPr>
        <p:spPr>
          <a:xfrm>
            <a:off x="640080"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C</a:t>
            </a:r>
            <a:endParaRPr lang="en-US" sz="900" dirty="0"/>
          </a:p>
        </p:txBody>
      </p:sp>
      <p:sp>
        <p:nvSpPr>
          <p:cNvPr id="73" name="Text 70"/>
          <p:cNvSpPr txBox="1"/>
          <p:nvPr/>
        </p:nvSpPr>
        <p:spPr>
          <a:xfrm>
            <a:off x="969264" y="5516880"/>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34" charset="0"/>
                <a:ea typeface="Amiri" pitchFamily="34" charset="-122"/>
                <a:cs typeface="Amiri" pitchFamily="34" charset="-120"/>
              </a:rPr>
              <a:t>جَدِيدَةٌ</a:t>
            </a:r>
            <a:endParaRPr lang="ar-SA" sz="1700" dirty="0"/>
          </a:p>
        </p:txBody>
      </p:sp>
      <p:sp>
        <p:nvSpPr>
          <p:cNvPr id="74" name="Text 71"/>
          <p:cNvSpPr txBox="1"/>
          <p:nvPr/>
        </p:nvSpPr>
        <p:spPr>
          <a:xfrm>
            <a:off x="585216" y="5907024"/>
            <a:ext cx="3380232" cy="365760"/>
          </a:xfrm>
          <a:prstGeom prst="rect">
            <a:avLst/>
          </a:prstGeom>
          <a:noFill/>
          <a:ln/>
        </p:spPr>
        <p:txBody>
          <a:bodyPr wrap="square" lIns="0" tIns="0" rIns="0" bIns="0" rtlCol="0" anchor="ctr"/>
          <a:lstStyle/>
          <a:p>
            <a:pPr algn="l" indent="0" marL="0">
              <a:buNone/>
            </a:pPr>
            <a:r>
              <a:rPr lang="ar-SA" altLang="en-US" sz="1350" dirty="0">
                <a:solidFill>
                  <a:srgbClr val="8A6D1E"/>
                </a:solidFill>
                <a:latin typeface="Amiri" pitchFamily="34" charset="0"/>
                <a:ea typeface="Amiri" pitchFamily="34" charset="-122"/>
                <a:cs typeface="Amiri" pitchFamily="34" charset="-120"/>
              </a:rPr>
              <a:t>كِتَابٌ</a:t>
            </a:r>
            <a:pPr algn="l" indent="0" marL="0">
              <a:buNone/>
            </a:pPr>
            <a:r>
              <a:rPr lang="en-US" sz="1050" i="1" dirty="0">
                <a:solidFill>
                  <a:srgbClr val="8A6D1E"/>
                </a:solidFill>
                <a:latin typeface="Calibri" pitchFamily="34" charset="0"/>
                <a:ea typeface="Calibri" pitchFamily="34" charset="-122"/>
                <a:cs typeface="Calibri" pitchFamily="34" charset="-120"/>
              </a:rPr>
              <a:t> is masculine, so the text uses </a:t>
            </a:r>
            <a:pPr algn="l" indent="0" marL="0">
              <a:buNone/>
            </a:pPr>
            <a:r>
              <a:rPr lang="ar-SA" altLang="en-US" sz="1350" dirty="0">
                <a:solidFill>
                  <a:srgbClr val="8A6D1E"/>
                </a:solidFill>
                <a:latin typeface="Amiri" pitchFamily="34" charset="0"/>
                <a:ea typeface="Amiri" pitchFamily="34" charset="-122"/>
                <a:cs typeface="Amiri" pitchFamily="34" charset="-120"/>
              </a:rPr>
              <a:t>قَدِيمٌ</a:t>
            </a:r>
            <a:pPr algn="l" indent="0" marL="0">
              <a:buNone/>
            </a:pPr>
            <a:r>
              <a:rPr lang="en-US" sz="1050" i="1" dirty="0">
                <a:solidFill>
                  <a:srgbClr val="8A6D1E"/>
                </a:solidFill>
                <a:latin typeface="Calibri" pitchFamily="34" charset="0"/>
                <a:ea typeface="Calibri" pitchFamily="34" charset="-122"/>
                <a:cs typeface="Calibri" pitchFamily="34" charset="-120"/>
              </a:rPr>
              <a:t>.</a:t>
            </a:r>
            <a:endParaRPr lang="en-US" sz="1050" dirty="0"/>
          </a:p>
        </p:txBody>
      </p:sp>
      <p:sp>
        <p:nvSpPr>
          <p:cNvPr id="75" name="Shape 72"/>
          <p:cNvSpPr/>
          <p:nvPr/>
        </p:nvSpPr>
        <p:spPr>
          <a:xfrm>
            <a:off x="4276344"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76" name="Shape 73"/>
          <p:cNvSpPr/>
          <p:nvPr/>
        </p:nvSpPr>
        <p:spPr>
          <a:xfrm>
            <a:off x="4404360" y="4288536"/>
            <a:ext cx="310896" cy="310896"/>
          </a:xfrm>
          <a:prstGeom prst="ellipse">
            <a:avLst/>
          </a:prstGeom>
          <a:solidFill>
            <a:srgbClr val="1B3B6F"/>
          </a:solidFill>
          <a:ln w="12700">
            <a:solidFill>
              <a:srgbClr val="1B3B6F"/>
            </a:solidFill>
            <a:prstDash val="solid"/>
          </a:ln>
        </p:spPr>
      </p:sp>
      <p:sp>
        <p:nvSpPr>
          <p:cNvPr id="77" name="Text 74"/>
          <p:cNvSpPr txBox="1"/>
          <p:nvPr/>
        </p:nvSpPr>
        <p:spPr>
          <a:xfrm>
            <a:off x="4404360"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5</a:t>
            </a:r>
            <a:endParaRPr lang="en-US" sz="1100" dirty="0"/>
          </a:p>
        </p:txBody>
      </p:sp>
      <p:sp>
        <p:nvSpPr>
          <p:cNvPr id="78" name="Text 75"/>
          <p:cNvSpPr txBox="1"/>
          <p:nvPr/>
        </p:nvSpPr>
        <p:spPr>
          <a:xfrm>
            <a:off x="4770120"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The bag is…</a:t>
            </a:r>
            <a:endParaRPr lang="en-US" sz="1250" dirty="0"/>
          </a:p>
        </p:txBody>
      </p:sp>
      <p:sp>
        <p:nvSpPr>
          <p:cNvPr id="79" name="Shape 76"/>
          <p:cNvSpPr/>
          <p:nvPr/>
        </p:nvSpPr>
        <p:spPr>
          <a:xfrm>
            <a:off x="4367784" y="4794504"/>
            <a:ext cx="3453384" cy="347472"/>
          </a:xfrm>
          <a:prstGeom prst="roundRect">
            <a:avLst>
              <a:gd name="adj" fmla="val 15789"/>
            </a:avLst>
          </a:prstGeom>
          <a:solidFill>
            <a:srgbClr val="E6F4EC"/>
          </a:solidFill>
          <a:ln w="9525">
            <a:solidFill>
              <a:srgbClr val="2E8B57"/>
            </a:solidFill>
            <a:prstDash val="solid"/>
          </a:ln>
        </p:spPr>
      </p:sp>
      <p:sp>
        <p:nvSpPr>
          <p:cNvPr id="80" name="Shape 77"/>
          <p:cNvSpPr/>
          <p:nvPr/>
        </p:nvSpPr>
        <p:spPr>
          <a:xfrm>
            <a:off x="4459224" y="4831080"/>
            <a:ext cx="256032" cy="256032"/>
          </a:xfrm>
          <a:prstGeom prst="ellipse">
            <a:avLst/>
          </a:prstGeom>
          <a:solidFill>
            <a:srgbClr val="2E8B57"/>
          </a:solidFill>
          <a:ln w="12700">
            <a:solidFill>
              <a:srgbClr val="2E8B57"/>
            </a:solidFill>
            <a:prstDash val="solid"/>
          </a:ln>
        </p:spPr>
      </p:sp>
      <p:sp>
        <p:nvSpPr>
          <p:cNvPr id="81" name="Text 78"/>
          <p:cNvSpPr txBox="1"/>
          <p:nvPr/>
        </p:nvSpPr>
        <p:spPr>
          <a:xfrm>
            <a:off x="4459224" y="4831080"/>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A</a:t>
            </a:r>
            <a:endParaRPr lang="en-US" sz="900" dirty="0"/>
          </a:p>
        </p:txBody>
      </p:sp>
      <p:sp>
        <p:nvSpPr>
          <p:cNvPr id="82" name="Text 79"/>
          <p:cNvSpPr txBox="1"/>
          <p:nvPr/>
        </p:nvSpPr>
        <p:spPr>
          <a:xfrm>
            <a:off x="4788408" y="4773168"/>
            <a:ext cx="2977896"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34" charset="0"/>
                <a:ea typeface="Amiri" pitchFamily="34" charset="-122"/>
                <a:cs typeface="Amiri" pitchFamily="34" charset="-120"/>
              </a:rPr>
              <a:t>جَمِيلَةٌ</a:t>
            </a:r>
            <a:endParaRPr lang="ar-SA" sz="1700" dirty="0"/>
          </a:p>
        </p:txBody>
      </p:sp>
      <p:sp>
        <p:nvSpPr>
          <p:cNvPr id="83" name="Shape 80"/>
          <p:cNvSpPr/>
          <p:nvPr/>
        </p:nvSpPr>
        <p:spPr>
          <a:xfrm>
            <a:off x="4459224" y="5202936"/>
            <a:ext cx="256032" cy="256032"/>
          </a:xfrm>
          <a:prstGeom prst="ellipse">
            <a:avLst/>
          </a:prstGeom>
          <a:solidFill>
            <a:srgbClr val="C9CED6"/>
          </a:solidFill>
          <a:ln w="12700">
            <a:solidFill>
              <a:srgbClr val="C9CED6"/>
            </a:solidFill>
            <a:prstDash val="solid"/>
          </a:ln>
        </p:spPr>
      </p:sp>
      <p:sp>
        <p:nvSpPr>
          <p:cNvPr id="84" name="Text 81"/>
          <p:cNvSpPr txBox="1"/>
          <p:nvPr/>
        </p:nvSpPr>
        <p:spPr>
          <a:xfrm>
            <a:off x="4459224"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85" name="Text 82"/>
          <p:cNvSpPr txBox="1"/>
          <p:nvPr/>
        </p:nvSpPr>
        <p:spPr>
          <a:xfrm>
            <a:off x="4788408" y="5145024"/>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34" charset="0"/>
                <a:ea typeface="Amiri" pitchFamily="34" charset="-122"/>
                <a:cs typeface="Amiri" pitchFamily="34" charset="-120"/>
              </a:rPr>
              <a:t>جَمِيلٌ</a:t>
            </a:r>
            <a:endParaRPr lang="ar-SA" sz="1700" dirty="0"/>
          </a:p>
        </p:txBody>
      </p:sp>
      <p:sp>
        <p:nvSpPr>
          <p:cNvPr id="86" name="Shape 83"/>
          <p:cNvSpPr/>
          <p:nvPr/>
        </p:nvSpPr>
        <p:spPr>
          <a:xfrm>
            <a:off x="4459224" y="5574792"/>
            <a:ext cx="256032" cy="256032"/>
          </a:xfrm>
          <a:prstGeom prst="ellipse">
            <a:avLst/>
          </a:prstGeom>
          <a:solidFill>
            <a:srgbClr val="C9CED6"/>
          </a:solidFill>
          <a:ln w="12700">
            <a:solidFill>
              <a:srgbClr val="C9CED6"/>
            </a:solidFill>
            <a:prstDash val="solid"/>
          </a:ln>
        </p:spPr>
      </p:sp>
      <p:sp>
        <p:nvSpPr>
          <p:cNvPr id="87" name="Text 84"/>
          <p:cNvSpPr txBox="1"/>
          <p:nvPr/>
        </p:nvSpPr>
        <p:spPr>
          <a:xfrm>
            <a:off x="4459224"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C</a:t>
            </a:r>
            <a:endParaRPr lang="en-US" sz="900" dirty="0"/>
          </a:p>
        </p:txBody>
      </p:sp>
      <p:sp>
        <p:nvSpPr>
          <p:cNvPr id="88" name="Text 85"/>
          <p:cNvSpPr txBox="1"/>
          <p:nvPr/>
        </p:nvSpPr>
        <p:spPr>
          <a:xfrm>
            <a:off x="4788408" y="5516880"/>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34" charset="0"/>
                <a:ea typeface="Amiri" pitchFamily="34" charset="-122"/>
                <a:cs typeface="Amiri" pitchFamily="34" charset="-120"/>
              </a:rPr>
              <a:t>قَصِيرَةٌ</a:t>
            </a:r>
            <a:endParaRPr lang="ar-SA" sz="1700" dirty="0"/>
          </a:p>
        </p:txBody>
      </p:sp>
      <p:sp>
        <p:nvSpPr>
          <p:cNvPr id="89" name="Text 86"/>
          <p:cNvSpPr txBox="1"/>
          <p:nvPr/>
        </p:nvSpPr>
        <p:spPr>
          <a:xfrm>
            <a:off x="4404360" y="5907024"/>
            <a:ext cx="3380232" cy="365760"/>
          </a:xfrm>
          <a:prstGeom prst="rect">
            <a:avLst/>
          </a:prstGeom>
          <a:noFill/>
          <a:ln/>
        </p:spPr>
        <p:txBody>
          <a:bodyPr wrap="square" lIns="0" tIns="0" rIns="0" bIns="0" rtlCol="0" anchor="ctr"/>
          <a:lstStyle/>
          <a:p>
            <a:pPr algn="l" indent="0" marL="0">
              <a:buNone/>
            </a:pPr>
            <a:r>
              <a:rPr lang="ar-SA" altLang="en-US" sz="1350" dirty="0">
                <a:solidFill>
                  <a:srgbClr val="8A6D1E"/>
                </a:solidFill>
                <a:latin typeface="Amiri" pitchFamily="34" charset="0"/>
                <a:ea typeface="Amiri" pitchFamily="34" charset="-122"/>
                <a:cs typeface="Amiri" pitchFamily="34" charset="-120"/>
              </a:rPr>
              <a:t>حَقِيبَةٌ</a:t>
            </a:r>
            <a:pPr algn="l" indent="0" marL="0">
              <a:buNone/>
            </a:pPr>
            <a:r>
              <a:rPr lang="en-US" sz="1050" i="1" dirty="0">
                <a:solidFill>
                  <a:srgbClr val="8A6D1E"/>
                </a:solidFill>
                <a:latin typeface="Calibri" pitchFamily="34" charset="0"/>
                <a:ea typeface="Calibri" pitchFamily="34" charset="-122"/>
                <a:cs typeface="Calibri" pitchFamily="34" charset="-120"/>
              </a:rPr>
              <a:t> is feminine and takes </a:t>
            </a:r>
            <a:pPr algn="l" indent="0" marL="0">
              <a:buNone/>
            </a:pPr>
            <a:r>
              <a:rPr lang="ar-SA" altLang="en-US" sz="1350" dirty="0">
                <a:solidFill>
                  <a:srgbClr val="8A6D1E"/>
                </a:solidFill>
                <a:latin typeface="Amiri" pitchFamily="34" charset="0"/>
                <a:ea typeface="Amiri" pitchFamily="34" charset="-122"/>
                <a:cs typeface="Amiri" pitchFamily="34" charset="-120"/>
              </a:rPr>
              <a:t>جَمِيلَةٌ</a:t>
            </a:r>
            <a:pPr algn="l" indent="0" marL="0">
              <a:buNone/>
            </a:pPr>
            <a:r>
              <a:rPr lang="en-US" sz="1050" i="1" dirty="0">
                <a:solidFill>
                  <a:srgbClr val="8A6D1E"/>
                </a:solidFill>
                <a:latin typeface="Calibri" pitchFamily="34" charset="0"/>
                <a:ea typeface="Calibri" pitchFamily="34" charset="-122"/>
                <a:cs typeface="Calibri" pitchFamily="34" charset="-120"/>
              </a:rPr>
              <a:t>.</a:t>
            </a:r>
            <a:endParaRPr lang="en-US" sz="1050" dirty="0"/>
          </a:p>
        </p:txBody>
      </p:sp>
      <p:sp>
        <p:nvSpPr>
          <p:cNvPr id="90" name="Shape 87"/>
          <p:cNvSpPr/>
          <p:nvPr/>
        </p:nvSpPr>
        <p:spPr>
          <a:xfrm>
            <a:off x="8095488" y="4151376"/>
            <a:ext cx="3636264" cy="2157984"/>
          </a:xfrm>
          <a:prstGeom prst="roundRect">
            <a:avLst>
              <a:gd name="adj" fmla="val 3390"/>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91" name="Text 88"/>
          <p:cNvSpPr txBox="1"/>
          <p:nvPr/>
        </p:nvSpPr>
        <p:spPr>
          <a:xfrm>
            <a:off x="8278368" y="4279392"/>
            <a:ext cx="3270504" cy="274320"/>
          </a:xfrm>
          <a:prstGeom prst="rect">
            <a:avLst/>
          </a:prstGeom>
          <a:noFill/>
          <a:ln/>
        </p:spPr>
        <p:txBody>
          <a:bodyPr wrap="square" lIns="0" tIns="0" rIns="0" bIns="0" rtlCol="0" anchor="ctr"/>
          <a:lstStyle/>
          <a:p>
            <a:pPr algn="l" indent="0" marL="0">
              <a:buNone/>
            </a:pPr>
            <a:r>
              <a:rPr lang="en-US" sz="1000" b="1" spc="200" kern="0" dirty="0">
                <a:solidFill>
                  <a:srgbClr val="1E6B52"/>
                </a:solidFill>
                <a:latin typeface="Calibri" pitchFamily="34" charset="0"/>
                <a:ea typeface="Calibri" pitchFamily="34" charset="-122"/>
                <a:cs typeface="Calibri" pitchFamily="34" charset="-120"/>
              </a:rPr>
              <a:t>FIND THE EVIDENCE</a:t>
            </a:r>
            <a:endParaRPr lang="en-US" sz="1000" dirty="0"/>
          </a:p>
        </p:txBody>
      </p:sp>
      <p:sp>
        <p:nvSpPr>
          <p:cNvPr id="92" name="Text 89"/>
          <p:cNvSpPr txBox="1"/>
          <p:nvPr/>
        </p:nvSpPr>
        <p:spPr>
          <a:xfrm>
            <a:off x="8278368" y="4590288"/>
            <a:ext cx="3270504" cy="1609344"/>
          </a:xfrm>
          <a:prstGeom prst="rect">
            <a:avLst/>
          </a:prstGeom>
          <a:noFill/>
          <a:ln/>
        </p:spPr>
        <p:txBody>
          <a:bodyPr wrap="square" lIns="0" tIns="0" rIns="0" bIns="0" rtlCol="0" anchor="t"/>
          <a:lstStyle/>
          <a:p>
            <a:pPr algn="l" indent="0" marL="0">
              <a:buNone/>
            </a:pPr>
            <a:r>
              <a:rPr lang="en-US" sz="1250" dirty="0">
                <a:solidFill>
                  <a:srgbClr val="1F2A37"/>
                </a:solidFill>
                <a:latin typeface="Calibri" pitchFamily="34" charset="0"/>
                <a:ea typeface="Calibri" pitchFamily="34" charset="-122"/>
                <a:cs typeface="Calibri" pitchFamily="34" charset="-120"/>
              </a:rPr>
              <a:t>Answer from the Arabic text, not from the pictures alone (website).</a:t>
            </a:r>
            <a:endParaRPr lang="en-US" sz="1250" dirty="0"/>
          </a:p>
        </p:txBody>
      </p:sp>
      <p:sp>
        <p:nvSpPr>
          <p:cNvPr id="93" name="Text 90"/>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ea typeface="Calibri" pitchFamily="34" charset="-122"/>
                <a:cs typeface="Calibri" pitchFamily="34" charset="-120"/>
              </a:rPr>
              <a:t>27 / 36</a:t>
            </a:r>
            <a:endParaRPr lang="en-US" sz="85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34" charset="0"/>
                <a:ea typeface="Amiri" pitchFamily="34" charset="-122"/>
                <a:cs typeface="Amiri" pitchFamily="34" charset="-120"/>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ea typeface="Cambria" pitchFamily="34" charset="-122"/>
                <a:cs typeface="Cambria" pitchFamily="34" charset="-120"/>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ea typeface="Calibri" pitchFamily="34" charset="-122"/>
                <a:cs typeface="Calibri" pitchFamily="34" charset="-120"/>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ea typeface="Calibri" pitchFamily="34" charset="-122"/>
                <a:cs typeface="Calibri" pitchFamily="34" charset="-120"/>
              </a:rPr>
              <a:t>F2-L05 · Masculine &amp; Feminine</a:t>
            </a:r>
            <a:endParaRPr lang="en-US" sz="950" dirty="0"/>
          </a:p>
        </p:txBody>
      </p:sp>
      <p:sp>
        <p:nvSpPr>
          <p:cNvPr id="8" name="Shape 6"/>
          <p:cNvSpPr/>
          <p:nvPr/>
        </p:nvSpPr>
        <p:spPr>
          <a:xfrm>
            <a:off x="7295083" y="274320"/>
            <a:ext cx="1464869"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ea typeface="Calibri" pitchFamily="34" charset="-122"/>
                <a:cs typeface="Calibri" pitchFamily="34" charset="-120"/>
              </a:rPr>
              <a:t>YOU DO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ea typeface="Calibri" pitchFamily="34" charset="-122"/>
                <a:cs typeface="Calibri" pitchFamily="34" charset="-120"/>
              </a:rPr>
              <a:t>YOU DO · SAY IT BEFORE YOU WRITE IT</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ea typeface="Cambria" pitchFamily="34" charset="-122"/>
                <a:cs typeface="Cambria" pitchFamily="34" charset="-120"/>
              </a:rPr>
              <a:t>Describe the person accurately</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34" charset="0"/>
                <a:ea typeface="Amiri" pitchFamily="34" charset="-122"/>
                <a:cs typeface="Amiri" pitchFamily="34" charset="-120"/>
              </a:rPr>
              <a:t>التَّحَدُّثُ</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ea typeface="Calibri" pitchFamily="34" charset="-122"/>
                <a:cs typeface="Calibri" pitchFamily="34" charset="-120"/>
              </a:rPr>
              <a:t>Miftah Arabic · Foundation F2 · Greetings &amp; Introductions · Week 2 · Lesson 2 of 3</a:t>
            </a:r>
            <a:endParaRPr lang="en-US" sz="850" dirty="0"/>
          </a:p>
        </p:txBody>
      </p:sp>
      <p:sp>
        <p:nvSpPr>
          <p:cNvPr id="15" name="Shape 12"/>
          <p:cNvSpPr/>
          <p:nvPr/>
        </p:nvSpPr>
        <p:spPr>
          <a:xfrm>
            <a:off x="457200" y="1810512"/>
            <a:ext cx="2185416" cy="566928"/>
          </a:xfrm>
          <a:prstGeom prst="roundRect">
            <a:avLst>
              <a:gd name="adj" fmla="val 12903"/>
            </a:avLst>
          </a:prstGeom>
          <a:solidFill>
            <a:srgbClr val="EEF3FA"/>
          </a:solidFill>
          <a:ln w="9525">
            <a:solidFill>
              <a:srgbClr val="C9D6EA"/>
            </a:solidFill>
            <a:prstDash val="solid"/>
          </a:ln>
        </p:spPr>
      </p:sp>
      <p:sp>
        <p:nvSpPr>
          <p:cNvPr id="16" name="Text 13"/>
          <p:cNvSpPr txBox="1"/>
          <p:nvPr/>
        </p:nvSpPr>
        <p:spPr>
          <a:xfrm>
            <a:off x="512064" y="1810512"/>
            <a:ext cx="384048" cy="566928"/>
          </a:xfrm>
          <a:prstGeom prst="rect">
            <a:avLst/>
          </a:prstGeom>
          <a:noFill/>
          <a:ln/>
        </p:spPr>
        <p:txBody>
          <a:bodyPr wrap="square" lIns="0" tIns="0" rIns="0" bIns="0" rtlCol="0" anchor="ctr"/>
          <a:lstStyle/>
          <a:p>
            <a:pPr algn="ctr" indent="0" marL="0">
              <a:buNone/>
            </a:pPr>
            <a:r>
              <a:rPr lang="en-US" sz="1800" b="1" dirty="0">
                <a:solidFill>
                  <a:srgbClr val="1B3B6F"/>
                </a:solidFill>
                <a:latin typeface="Arial" pitchFamily="34" charset="0"/>
                <a:ea typeface="Arial" pitchFamily="34" charset="-122"/>
                <a:cs typeface="Arial" pitchFamily="34" charset="-120"/>
              </a:rPr>
              <a:t>●</a:t>
            </a:r>
            <a:endParaRPr lang="en-US" sz="1800" dirty="0"/>
          </a:p>
        </p:txBody>
      </p:sp>
      <p:sp>
        <p:nvSpPr>
          <p:cNvPr id="17" name="Text 14"/>
          <p:cNvSpPr txBox="1"/>
          <p:nvPr/>
        </p:nvSpPr>
        <p:spPr>
          <a:xfrm>
            <a:off x="914400" y="1810512"/>
            <a:ext cx="1682496" cy="566928"/>
          </a:xfrm>
          <a:prstGeom prst="rect">
            <a:avLst/>
          </a:prstGeom>
          <a:noFill/>
          <a:ln/>
        </p:spPr>
        <p:txBody>
          <a:bodyPr wrap="square" lIns="0" tIns="0" rIns="0" bIns="0" rtlCol="0" anchor="ctr"/>
          <a:lstStyle/>
          <a:p>
            <a:pPr indent="0" marL="0">
              <a:buNone/>
            </a:pPr>
            <a:r>
              <a:rPr lang="en-US" sz="1050" b="1" dirty="0">
                <a:solidFill>
                  <a:srgbClr val="1B3B6F"/>
                </a:solidFill>
                <a:latin typeface="Calibri" pitchFamily="34" charset="0"/>
                <a:ea typeface="Calibri" pitchFamily="34" charset="-122"/>
                <a:cs typeface="Calibri" pitchFamily="34" charset="-120"/>
              </a:rPr>
              <a:t>Think</a:t>
            </a:r>
            <a:endParaRPr lang="en-US" sz="1050" dirty="0"/>
          </a:p>
          <a:p>
            <a:pPr indent="0" marL="0">
              <a:buNone/>
            </a:pPr>
            <a:r>
              <a:rPr lang="en-US" sz="950" dirty="0">
                <a:solidFill>
                  <a:srgbClr val="5A6472"/>
                </a:solidFill>
                <a:latin typeface="Calibri" pitchFamily="34" charset="0"/>
                <a:ea typeface="Calibri" pitchFamily="34" charset="-122"/>
                <a:cs typeface="Calibri" pitchFamily="34" charset="-120"/>
              </a:rPr>
              <a:t>10 seconds</a:t>
            </a:r>
            <a:endParaRPr lang="en-US" sz="1050" dirty="0"/>
          </a:p>
        </p:txBody>
      </p:sp>
      <p:sp>
        <p:nvSpPr>
          <p:cNvPr id="18" name="Shape 15"/>
          <p:cNvSpPr/>
          <p:nvPr/>
        </p:nvSpPr>
        <p:spPr>
          <a:xfrm>
            <a:off x="2729484" y="1810512"/>
            <a:ext cx="2185416" cy="566928"/>
          </a:xfrm>
          <a:prstGeom prst="roundRect">
            <a:avLst>
              <a:gd name="adj" fmla="val 12903"/>
            </a:avLst>
          </a:prstGeom>
          <a:solidFill>
            <a:srgbClr val="EEF3FA"/>
          </a:solidFill>
          <a:ln w="9525">
            <a:solidFill>
              <a:srgbClr val="C9D6EA"/>
            </a:solidFill>
            <a:prstDash val="solid"/>
          </a:ln>
        </p:spPr>
      </p:sp>
      <p:sp>
        <p:nvSpPr>
          <p:cNvPr id="19" name="Text 16"/>
          <p:cNvSpPr txBox="1"/>
          <p:nvPr/>
        </p:nvSpPr>
        <p:spPr>
          <a:xfrm>
            <a:off x="2784348" y="1810512"/>
            <a:ext cx="384048" cy="566928"/>
          </a:xfrm>
          <a:prstGeom prst="rect">
            <a:avLst/>
          </a:prstGeom>
          <a:noFill/>
          <a:ln/>
        </p:spPr>
        <p:txBody>
          <a:bodyPr wrap="square" lIns="0" tIns="0" rIns="0" bIns="0" rtlCol="0" anchor="ctr"/>
          <a:lstStyle/>
          <a:p>
            <a:pPr algn="ctr" indent="0" marL="0">
              <a:buNone/>
            </a:pPr>
            <a:r>
              <a:rPr lang="en-US" sz="1800" b="1" dirty="0">
                <a:solidFill>
                  <a:srgbClr val="1B3B6F"/>
                </a:solidFill>
                <a:latin typeface="Arial" pitchFamily="34" charset="0"/>
                <a:ea typeface="Arial" pitchFamily="34" charset="-122"/>
                <a:cs typeface="Arial" pitchFamily="34" charset="-120"/>
              </a:rPr>
              <a:t>↔</a:t>
            </a:r>
            <a:endParaRPr lang="en-US" sz="1800" dirty="0"/>
          </a:p>
        </p:txBody>
      </p:sp>
      <p:sp>
        <p:nvSpPr>
          <p:cNvPr id="20" name="Text 17"/>
          <p:cNvSpPr txBox="1"/>
          <p:nvPr/>
        </p:nvSpPr>
        <p:spPr>
          <a:xfrm>
            <a:off x="3186684" y="1810512"/>
            <a:ext cx="1682496" cy="566928"/>
          </a:xfrm>
          <a:prstGeom prst="rect">
            <a:avLst/>
          </a:prstGeom>
          <a:noFill/>
          <a:ln/>
        </p:spPr>
        <p:txBody>
          <a:bodyPr wrap="square" lIns="0" tIns="0" rIns="0" bIns="0" rtlCol="0" anchor="ctr"/>
          <a:lstStyle/>
          <a:p>
            <a:pPr indent="0" marL="0">
              <a:buNone/>
            </a:pPr>
            <a:r>
              <a:rPr lang="en-US" sz="1050" b="1" dirty="0">
                <a:solidFill>
                  <a:srgbClr val="1B3B6F"/>
                </a:solidFill>
                <a:latin typeface="Calibri" pitchFamily="34" charset="0"/>
                <a:ea typeface="Calibri" pitchFamily="34" charset="-122"/>
                <a:cs typeface="Calibri" pitchFamily="34" charset="-120"/>
              </a:rPr>
              <a:t>Rehearse</a:t>
            </a:r>
            <a:endParaRPr lang="en-US" sz="1050" dirty="0"/>
          </a:p>
          <a:p>
            <a:pPr indent="0" marL="0">
              <a:buNone/>
            </a:pPr>
            <a:r>
              <a:rPr lang="en-US" sz="950" dirty="0">
                <a:solidFill>
                  <a:srgbClr val="5A6472"/>
                </a:solidFill>
                <a:latin typeface="Calibri" pitchFamily="34" charset="0"/>
                <a:ea typeface="Calibri" pitchFamily="34" charset="-122"/>
                <a:cs typeface="Calibri" pitchFamily="34" charset="-120"/>
              </a:rPr>
              <a:t>muted · 45 s</a:t>
            </a:r>
            <a:endParaRPr lang="en-US" sz="1050" dirty="0"/>
          </a:p>
        </p:txBody>
      </p:sp>
      <p:sp>
        <p:nvSpPr>
          <p:cNvPr id="21" name="Shape 18"/>
          <p:cNvSpPr/>
          <p:nvPr/>
        </p:nvSpPr>
        <p:spPr>
          <a:xfrm>
            <a:off x="5001768" y="1810512"/>
            <a:ext cx="2185416" cy="566928"/>
          </a:xfrm>
          <a:prstGeom prst="roundRect">
            <a:avLst>
              <a:gd name="adj" fmla="val 12903"/>
            </a:avLst>
          </a:prstGeom>
          <a:solidFill>
            <a:srgbClr val="EEF3FA"/>
          </a:solidFill>
          <a:ln w="9525">
            <a:solidFill>
              <a:srgbClr val="C9D6EA"/>
            </a:solidFill>
            <a:prstDash val="solid"/>
          </a:ln>
        </p:spPr>
      </p:sp>
      <p:sp>
        <p:nvSpPr>
          <p:cNvPr id="22" name="Text 19"/>
          <p:cNvSpPr txBox="1"/>
          <p:nvPr/>
        </p:nvSpPr>
        <p:spPr>
          <a:xfrm>
            <a:off x="5056632" y="1810512"/>
            <a:ext cx="384048" cy="566928"/>
          </a:xfrm>
          <a:prstGeom prst="rect">
            <a:avLst/>
          </a:prstGeom>
          <a:noFill/>
          <a:ln/>
        </p:spPr>
        <p:txBody>
          <a:bodyPr wrap="square" lIns="0" tIns="0" rIns="0" bIns="0" rtlCol="0" anchor="ctr"/>
          <a:lstStyle/>
          <a:p>
            <a:pPr algn="ctr" indent="0" marL="0">
              <a:buNone/>
            </a:pPr>
            <a:r>
              <a:rPr lang="en-US" sz="1800" b="1" dirty="0">
                <a:solidFill>
                  <a:srgbClr val="1B3B6F"/>
                </a:solidFill>
                <a:latin typeface="Arial" pitchFamily="34" charset="0"/>
                <a:ea typeface="Arial" pitchFamily="34" charset="-122"/>
                <a:cs typeface="Arial" pitchFamily="34" charset="-120"/>
              </a:rPr>
              <a:t>◎</a:t>
            </a:r>
            <a:endParaRPr lang="en-US" sz="1800" dirty="0"/>
          </a:p>
        </p:txBody>
      </p:sp>
      <p:sp>
        <p:nvSpPr>
          <p:cNvPr id="23" name="Text 20"/>
          <p:cNvSpPr txBox="1"/>
          <p:nvPr/>
        </p:nvSpPr>
        <p:spPr>
          <a:xfrm>
            <a:off x="5458968" y="1810512"/>
            <a:ext cx="1682496" cy="566928"/>
          </a:xfrm>
          <a:prstGeom prst="rect">
            <a:avLst/>
          </a:prstGeom>
          <a:noFill/>
          <a:ln/>
        </p:spPr>
        <p:txBody>
          <a:bodyPr wrap="square" lIns="0" tIns="0" rIns="0" bIns="0" rtlCol="0" anchor="ctr"/>
          <a:lstStyle/>
          <a:p>
            <a:pPr indent="0" marL="0">
              <a:buNone/>
            </a:pPr>
            <a:r>
              <a:rPr lang="en-US" sz="1050" b="1" dirty="0">
                <a:solidFill>
                  <a:srgbClr val="1B3B6F"/>
                </a:solidFill>
                <a:latin typeface="Calibri" pitchFamily="34" charset="0"/>
                <a:ea typeface="Calibri" pitchFamily="34" charset="-122"/>
                <a:cs typeface="Calibri" pitchFamily="34" charset="-120"/>
              </a:rPr>
              <a:t>Pairs share</a:t>
            </a:r>
            <a:endParaRPr lang="en-US" sz="1050" dirty="0"/>
          </a:p>
          <a:p>
            <a:pPr indent="0" marL="0">
              <a:buNone/>
            </a:pPr>
            <a:r>
              <a:rPr lang="en-US" sz="950" dirty="0">
                <a:solidFill>
                  <a:srgbClr val="5A6472"/>
                </a:solidFill>
                <a:latin typeface="Calibri" pitchFamily="34" charset="0"/>
                <a:ea typeface="Calibri" pitchFamily="34" charset="-122"/>
                <a:cs typeface="Calibri" pitchFamily="34" charset="-120"/>
              </a:rPr>
              <a:t>open mic</a:t>
            </a:r>
            <a:endParaRPr lang="en-US" sz="1050" dirty="0"/>
          </a:p>
        </p:txBody>
      </p:sp>
      <p:sp>
        <p:nvSpPr>
          <p:cNvPr id="24" name="Shape 21"/>
          <p:cNvSpPr/>
          <p:nvPr/>
        </p:nvSpPr>
        <p:spPr>
          <a:xfrm>
            <a:off x="7274052" y="1810512"/>
            <a:ext cx="2185416" cy="566928"/>
          </a:xfrm>
          <a:prstGeom prst="roundRect">
            <a:avLst>
              <a:gd name="adj" fmla="val 12903"/>
            </a:avLst>
          </a:prstGeom>
          <a:solidFill>
            <a:srgbClr val="EEF3FA"/>
          </a:solidFill>
          <a:ln w="9525">
            <a:solidFill>
              <a:srgbClr val="C9D6EA"/>
            </a:solidFill>
            <a:prstDash val="solid"/>
          </a:ln>
        </p:spPr>
      </p:sp>
      <p:sp>
        <p:nvSpPr>
          <p:cNvPr id="25" name="Text 22"/>
          <p:cNvSpPr txBox="1"/>
          <p:nvPr/>
        </p:nvSpPr>
        <p:spPr>
          <a:xfrm>
            <a:off x="7328916" y="1810512"/>
            <a:ext cx="384048" cy="566928"/>
          </a:xfrm>
          <a:prstGeom prst="rect">
            <a:avLst/>
          </a:prstGeom>
          <a:noFill/>
          <a:ln/>
        </p:spPr>
        <p:txBody>
          <a:bodyPr wrap="square" lIns="0" tIns="0" rIns="0" bIns="0" rtlCol="0" anchor="ctr"/>
          <a:lstStyle/>
          <a:p>
            <a:pPr algn="ctr" indent="0" marL="0">
              <a:buNone/>
            </a:pPr>
            <a:r>
              <a:rPr lang="en-US" sz="1800" b="1" dirty="0">
                <a:solidFill>
                  <a:srgbClr val="1B3B6F"/>
                </a:solidFill>
                <a:latin typeface="Arial" pitchFamily="34" charset="0"/>
                <a:ea typeface="Arial" pitchFamily="34" charset="-122"/>
                <a:cs typeface="Arial" pitchFamily="34" charset="-120"/>
              </a:rPr>
              <a:t>+ ?</a:t>
            </a:r>
            <a:endParaRPr lang="en-US" sz="1800" dirty="0"/>
          </a:p>
        </p:txBody>
      </p:sp>
      <p:sp>
        <p:nvSpPr>
          <p:cNvPr id="26" name="Text 23"/>
          <p:cNvSpPr txBox="1"/>
          <p:nvPr/>
        </p:nvSpPr>
        <p:spPr>
          <a:xfrm>
            <a:off x="7731252" y="1810512"/>
            <a:ext cx="1682496" cy="566928"/>
          </a:xfrm>
          <a:prstGeom prst="rect">
            <a:avLst/>
          </a:prstGeom>
          <a:noFill/>
          <a:ln/>
        </p:spPr>
        <p:txBody>
          <a:bodyPr wrap="square" lIns="0" tIns="0" rIns="0" bIns="0" rtlCol="0" anchor="ctr"/>
          <a:lstStyle/>
          <a:p>
            <a:pPr indent="0" marL="0">
              <a:buNone/>
            </a:pPr>
            <a:r>
              <a:rPr lang="en-US" sz="1050" b="1" dirty="0">
                <a:solidFill>
                  <a:srgbClr val="1B3B6F"/>
                </a:solidFill>
                <a:latin typeface="Calibri" pitchFamily="34" charset="0"/>
                <a:ea typeface="Calibri" pitchFamily="34" charset="-122"/>
                <a:cs typeface="Calibri" pitchFamily="34" charset="-120"/>
              </a:rPr>
              <a:t>Build / ask</a:t>
            </a:r>
            <a:endParaRPr lang="en-US" sz="1050" dirty="0"/>
          </a:p>
          <a:p>
            <a:pPr indent="0" marL="0">
              <a:buNone/>
            </a:pPr>
            <a:r>
              <a:rPr lang="en-US" sz="950" dirty="0">
                <a:solidFill>
                  <a:srgbClr val="5A6472"/>
                </a:solidFill>
                <a:latin typeface="Calibri" pitchFamily="34" charset="0"/>
                <a:ea typeface="Calibri" pitchFamily="34" charset="-122"/>
                <a:cs typeface="Calibri" pitchFamily="34" charset="-120"/>
              </a:rPr>
              <a:t>in the chat</a:t>
            </a:r>
            <a:endParaRPr lang="en-US" sz="1050" dirty="0"/>
          </a:p>
        </p:txBody>
      </p:sp>
      <p:sp>
        <p:nvSpPr>
          <p:cNvPr id="27" name="Shape 24"/>
          <p:cNvSpPr/>
          <p:nvPr/>
        </p:nvSpPr>
        <p:spPr>
          <a:xfrm>
            <a:off x="9546336" y="1810512"/>
            <a:ext cx="2185416" cy="566928"/>
          </a:xfrm>
          <a:prstGeom prst="roundRect">
            <a:avLst>
              <a:gd name="adj" fmla="val 12903"/>
            </a:avLst>
          </a:prstGeom>
          <a:solidFill>
            <a:srgbClr val="EEF3FA"/>
          </a:solidFill>
          <a:ln w="9525">
            <a:solidFill>
              <a:srgbClr val="C9D6EA"/>
            </a:solidFill>
            <a:prstDash val="solid"/>
          </a:ln>
        </p:spPr>
      </p:sp>
      <p:sp>
        <p:nvSpPr>
          <p:cNvPr id="28" name="Text 25"/>
          <p:cNvSpPr txBox="1"/>
          <p:nvPr/>
        </p:nvSpPr>
        <p:spPr>
          <a:xfrm>
            <a:off x="9601200" y="1810512"/>
            <a:ext cx="384048" cy="566928"/>
          </a:xfrm>
          <a:prstGeom prst="rect">
            <a:avLst/>
          </a:prstGeom>
          <a:noFill/>
          <a:ln/>
        </p:spPr>
        <p:txBody>
          <a:bodyPr wrap="square" lIns="0" tIns="0" rIns="0" bIns="0" rtlCol="0" anchor="ctr"/>
          <a:lstStyle/>
          <a:p>
            <a:pPr algn="ctr" indent="0" marL="0">
              <a:buNone/>
            </a:pPr>
            <a:r>
              <a:rPr lang="en-US" sz="1800" b="1" dirty="0">
                <a:solidFill>
                  <a:srgbClr val="1B3B6F"/>
                </a:solidFill>
                <a:latin typeface="Arial" pitchFamily="34" charset="0"/>
                <a:ea typeface="Arial" pitchFamily="34" charset="-122"/>
                <a:cs typeface="Arial" pitchFamily="34" charset="-120"/>
              </a:rPr>
              <a:t>↺</a:t>
            </a:r>
            <a:endParaRPr lang="en-US" sz="1800" dirty="0"/>
          </a:p>
        </p:txBody>
      </p:sp>
      <p:sp>
        <p:nvSpPr>
          <p:cNvPr id="29" name="Text 26"/>
          <p:cNvSpPr txBox="1"/>
          <p:nvPr/>
        </p:nvSpPr>
        <p:spPr>
          <a:xfrm>
            <a:off x="10003536" y="1810512"/>
            <a:ext cx="1682496" cy="566928"/>
          </a:xfrm>
          <a:prstGeom prst="rect">
            <a:avLst/>
          </a:prstGeom>
          <a:noFill/>
          <a:ln/>
        </p:spPr>
        <p:txBody>
          <a:bodyPr wrap="square" lIns="0" tIns="0" rIns="0" bIns="0" rtlCol="0" anchor="ctr"/>
          <a:lstStyle/>
          <a:p>
            <a:pPr indent="0" marL="0">
              <a:buNone/>
            </a:pPr>
            <a:r>
              <a:rPr lang="en-US" sz="1050" b="1" dirty="0">
                <a:solidFill>
                  <a:srgbClr val="1B3B6F"/>
                </a:solidFill>
                <a:latin typeface="Calibri" pitchFamily="34" charset="0"/>
                <a:ea typeface="Calibri" pitchFamily="34" charset="-122"/>
                <a:cs typeface="Calibri" pitchFamily="34" charset="-120"/>
              </a:rPr>
              <a:t>Summarise</a:t>
            </a:r>
            <a:endParaRPr lang="en-US" sz="1050" dirty="0"/>
          </a:p>
          <a:p>
            <a:pPr indent="0" marL="0">
              <a:buNone/>
            </a:pPr>
            <a:r>
              <a:rPr lang="en-US" sz="950" dirty="0">
                <a:solidFill>
                  <a:srgbClr val="5A6472"/>
                </a:solidFill>
                <a:latin typeface="Calibri" pitchFamily="34" charset="0"/>
                <a:ea typeface="Calibri" pitchFamily="34" charset="-122"/>
                <a:cs typeface="Calibri" pitchFamily="34" charset="-120"/>
              </a:rPr>
              <a:t>he / she …</a:t>
            </a:r>
            <a:endParaRPr lang="en-US" sz="1050" dirty="0"/>
          </a:p>
        </p:txBody>
      </p:sp>
      <p:sp>
        <p:nvSpPr>
          <p:cNvPr id="30" name="Shape 27"/>
          <p:cNvSpPr/>
          <p:nvPr/>
        </p:nvSpPr>
        <p:spPr>
          <a:xfrm>
            <a:off x="4754880" y="2487168"/>
            <a:ext cx="6976872" cy="566928"/>
          </a:xfrm>
          <a:prstGeom prst="roundRect">
            <a:avLst>
              <a:gd name="adj" fmla="val 1290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4846320" y="2642616"/>
            <a:ext cx="960120" cy="256032"/>
          </a:xfrm>
          <a:prstGeom prst="roundRect">
            <a:avLst>
              <a:gd name="adj" fmla="val 50000"/>
            </a:avLst>
          </a:prstGeom>
          <a:solidFill>
            <a:srgbClr val="2E8B57"/>
          </a:solidFill>
          <a:ln w="12700">
            <a:solidFill>
              <a:srgbClr val="2E8B57"/>
            </a:solidFill>
            <a:prstDash val="solid"/>
          </a:ln>
        </p:spPr>
      </p:sp>
      <p:sp>
        <p:nvSpPr>
          <p:cNvPr id="32" name="Text 29"/>
          <p:cNvSpPr txBox="1"/>
          <p:nvPr/>
        </p:nvSpPr>
        <p:spPr>
          <a:xfrm>
            <a:off x="4846320" y="2642616"/>
            <a:ext cx="9601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ea typeface="Calibri" pitchFamily="34" charset="-122"/>
                <a:cs typeface="Calibri" pitchFamily="34" charset="-120"/>
              </a:rPr>
              <a:t>CORE</a:t>
            </a:r>
            <a:endParaRPr lang="en-US" sz="800" dirty="0"/>
          </a:p>
        </p:txBody>
      </p:sp>
      <p:sp>
        <p:nvSpPr>
          <p:cNvPr id="33" name="Text 30"/>
          <p:cNvSpPr txBox="1"/>
          <p:nvPr/>
        </p:nvSpPr>
        <p:spPr>
          <a:xfrm>
            <a:off x="5897880" y="2487168"/>
            <a:ext cx="5696712" cy="56692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34" charset="0"/>
                <a:ea typeface="Amiri" pitchFamily="34" charset="-122"/>
                <a:cs typeface="Amiri" pitchFamily="34" charset="-120"/>
              </a:rPr>
              <a:t>مَنْ هَذَا؟ مَنْ هَذِهِ؟</a:t>
            </a:r>
            <a:endParaRPr lang="ar-SA" sz="1800" dirty="0"/>
          </a:p>
        </p:txBody>
      </p:sp>
      <p:sp>
        <p:nvSpPr>
          <p:cNvPr id="34" name="Shape 31"/>
          <p:cNvSpPr/>
          <p:nvPr/>
        </p:nvSpPr>
        <p:spPr>
          <a:xfrm>
            <a:off x="4754880" y="3108960"/>
            <a:ext cx="6976872" cy="566928"/>
          </a:xfrm>
          <a:prstGeom prst="roundRect">
            <a:avLst>
              <a:gd name="adj" fmla="val 1290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5" name="Shape 32"/>
          <p:cNvSpPr/>
          <p:nvPr/>
        </p:nvSpPr>
        <p:spPr>
          <a:xfrm>
            <a:off x="4846320" y="3264408"/>
            <a:ext cx="960120" cy="256032"/>
          </a:xfrm>
          <a:prstGeom prst="roundRect">
            <a:avLst>
              <a:gd name="adj" fmla="val 50000"/>
            </a:avLst>
          </a:prstGeom>
          <a:solidFill>
            <a:srgbClr val="C9780A"/>
          </a:solidFill>
          <a:ln w="12700">
            <a:solidFill>
              <a:srgbClr val="C9780A"/>
            </a:solidFill>
            <a:prstDash val="solid"/>
          </a:ln>
        </p:spPr>
      </p:sp>
      <p:sp>
        <p:nvSpPr>
          <p:cNvPr id="36" name="Text 33"/>
          <p:cNvSpPr txBox="1"/>
          <p:nvPr/>
        </p:nvSpPr>
        <p:spPr>
          <a:xfrm>
            <a:off x="4846320" y="3264408"/>
            <a:ext cx="9601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ea typeface="Calibri" pitchFamily="34" charset="-122"/>
                <a:cs typeface="Calibri" pitchFamily="34" charset="-120"/>
              </a:rPr>
              <a:t>DEVELOP</a:t>
            </a:r>
            <a:endParaRPr lang="en-US" sz="800" dirty="0"/>
          </a:p>
        </p:txBody>
      </p:sp>
      <p:sp>
        <p:nvSpPr>
          <p:cNvPr id="37" name="Text 34"/>
          <p:cNvSpPr txBox="1"/>
          <p:nvPr/>
        </p:nvSpPr>
        <p:spPr>
          <a:xfrm>
            <a:off x="5897880" y="3108960"/>
            <a:ext cx="5696712" cy="56692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34" charset="0"/>
                <a:ea typeface="Amiri" pitchFamily="34" charset="-122"/>
                <a:cs typeface="Amiri" pitchFamily="34" charset="-120"/>
              </a:rPr>
              <a:t>صِفْ زَمِيلًا أَوْ زَمِيلَةً.</a:t>
            </a:r>
            <a:endParaRPr lang="ar-SA" sz="1800" dirty="0"/>
          </a:p>
        </p:txBody>
      </p:sp>
      <p:sp>
        <p:nvSpPr>
          <p:cNvPr id="38" name="Shape 35"/>
          <p:cNvSpPr/>
          <p:nvPr/>
        </p:nvSpPr>
        <p:spPr>
          <a:xfrm>
            <a:off x="4754880" y="3730752"/>
            <a:ext cx="6976872" cy="566928"/>
          </a:xfrm>
          <a:prstGeom prst="roundRect">
            <a:avLst>
              <a:gd name="adj" fmla="val 1290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9" name="Shape 36"/>
          <p:cNvSpPr/>
          <p:nvPr/>
        </p:nvSpPr>
        <p:spPr>
          <a:xfrm>
            <a:off x="4846320" y="3886200"/>
            <a:ext cx="960120" cy="256032"/>
          </a:xfrm>
          <a:prstGeom prst="roundRect">
            <a:avLst>
              <a:gd name="adj" fmla="val 50000"/>
            </a:avLst>
          </a:prstGeom>
          <a:solidFill>
            <a:srgbClr val="C9780A"/>
          </a:solidFill>
          <a:ln w="12700">
            <a:solidFill>
              <a:srgbClr val="C9780A"/>
            </a:solidFill>
            <a:prstDash val="solid"/>
          </a:ln>
        </p:spPr>
      </p:sp>
      <p:sp>
        <p:nvSpPr>
          <p:cNvPr id="40" name="Text 37"/>
          <p:cNvSpPr txBox="1"/>
          <p:nvPr/>
        </p:nvSpPr>
        <p:spPr>
          <a:xfrm>
            <a:off x="4846320" y="3886200"/>
            <a:ext cx="9601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ea typeface="Calibri" pitchFamily="34" charset="-122"/>
                <a:cs typeface="Calibri" pitchFamily="34" charset="-120"/>
              </a:rPr>
              <a:t>DEVELOP</a:t>
            </a:r>
            <a:endParaRPr lang="en-US" sz="800" dirty="0"/>
          </a:p>
        </p:txBody>
      </p:sp>
      <p:sp>
        <p:nvSpPr>
          <p:cNvPr id="41" name="Text 38"/>
          <p:cNvSpPr txBox="1"/>
          <p:nvPr/>
        </p:nvSpPr>
        <p:spPr>
          <a:xfrm>
            <a:off x="5897880" y="3730752"/>
            <a:ext cx="5696712" cy="56692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34" charset="0"/>
                <a:ea typeface="Amiri" pitchFamily="34" charset="-122"/>
                <a:cs typeface="Amiri" pitchFamily="34" charset="-120"/>
              </a:rPr>
              <a:t>صِفْ أَخًا أَوْ أُخْتًا.</a:t>
            </a:r>
            <a:endParaRPr lang="ar-SA" sz="1800" dirty="0"/>
          </a:p>
        </p:txBody>
      </p:sp>
      <p:sp>
        <p:nvSpPr>
          <p:cNvPr id="42" name="Shape 39"/>
          <p:cNvSpPr/>
          <p:nvPr/>
        </p:nvSpPr>
        <p:spPr>
          <a:xfrm>
            <a:off x="4754880" y="4352544"/>
            <a:ext cx="6976872" cy="566928"/>
          </a:xfrm>
          <a:prstGeom prst="roundRect">
            <a:avLst>
              <a:gd name="adj" fmla="val 1290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3" name="Shape 40"/>
          <p:cNvSpPr/>
          <p:nvPr/>
        </p:nvSpPr>
        <p:spPr>
          <a:xfrm>
            <a:off x="4846320" y="4507992"/>
            <a:ext cx="960120" cy="256032"/>
          </a:xfrm>
          <a:prstGeom prst="roundRect">
            <a:avLst>
              <a:gd name="adj" fmla="val 50000"/>
            </a:avLst>
          </a:prstGeom>
          <a:solidFill>
            <a:srgbClr val="B83227"/>
          </a:solidFill>
          <a:ln w="12700">
            <a:solidFill>
              <a:srgbClr val="B83227"/>
            </a:solidFill>
            <a:prstDash val="solid"/>
          </a:ln>
        </p:spPr>
      </p:sp>
      <p:sp>
        <p:nvSpPr>
          <p:cNvPr id="44" name="Text 41"/>
          <p:cNvSpPr txBox="1"/>
          <p:nvPr/>
        </p:nvSpPr>
        <p:spPr>
          <a:xfrm>
            <a:off x="4846320" y="4507992"/>
            <a:ext cx="9601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ea typeface="Calibri" pitchFamily="34" charset="-122"/>
                <a:cs typeface="Calibri" pitchFamily="34" charset="-120"/>
              </a:rPr>
              <a:t>STRETCH</a:t>
            </a:r>
            <a:endParaRPr lang="en-US" sz="800" dirty="0"/>
          </a:p>
        </p:txBody>
      </p:sp>
      <p:sp>
        <p:nvSpPr>
          <p:cNvPr id="45" name="Text 42"/>
          <p:cNvSpPr txBox="1"/>
          <p:nvPr/>
        </p:nvSpPr>
        <p:spPr>
          <a:xfrm>
            <a:off x="5897880" y="4352544"/>
            <a:ext cx="5696712" cy="56692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34" charset="0"/>
                <a:ea typeface="Amiri" pitchFamily="34" charset="-122"/>
                <a:cs typeface="Amiri" pitchFamily="34" charset="-120"/>
              </a:rPr>
              <a:t>صِفْ شَخْصَيْنِ بِصِفَتَيْنِ.</a:t>
            </a:r>
            <a:endParaRPr lang="ar-SA" sz="1800" dirty="0"/>
          </a:p>
        </p:txBody>
      </p:sp>
      <p:sp>
        <p:nvSpPr>
          <p:cNvPr id="46" name="Shape 43"/>
          <p:cNvSpPr/>
          <p:nvPr/>
        </p:nvSpPr>
        <p:spPr>
          <a:xfrm>
            <a:off x="457200" y="2487168"/>
            <a:ext cx="4114800" cy="2651760"/>
          </a:xfrm>
          <a:prstGeom prst="roundRect">
            <a:avLst>
              <a:gd name="adj" fmla="val 2759"/>
            </a:avLst>
          </a:prstGeom>
          <a:solidFill>
            <a:srgbClr val="F7F9FC"/>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47" name="Text 44"/>
          <p:cNvSpPr txBox="1"/>
          <p:nvPr/>
        </p:nvSpPr>
        <p:spPr>
          <a:xfrm>
            <a:off x="640080" y="2542032"/>
            <a:ext cx="2743200" cy="274320"/>
          </a:xfrm>
          <a:prstGeom prst="rect">
            <a:avLst/>
          </a:prstGeom>
          <a:noFill/>
          <a:ln/>
        </p:spPr>
        <p:txBody>
          <a:bodyPr wrap="square" lIns="0" tIns="0" rIns="0" bIns="0" rtlCol="0" anchor="ctr"/>
          <a:lstStyle/>
          <a:p>
            <a:pPr algn="l" indent="0" marL="0">
              <a:buNone/>
            </a:pPr>
            <a:r>
              <a:rPr lang="en-US" sz="1000" b="1" spc="200" kern="0" dirty="0">
                <a:solidFill>
                  <a:srgbClr val="1B3B6F"/>
                </a:solidFill>
                <a:latin typeface="Calibri" pitchFamily="34" charset="0"/>
                <a:ea typeface="Calibri" pitchFamily="34" charset="-122"/>
                <a:cs typeface="Calibri" pitchFamily="34" charset="-120"/>
              </a:rPr>
              <a:t>SENTENCE STEMS</a:t>
            </a:r>
            <a:endParaRPr lang="en-US" sz="1000" dirty="0"/>
          </a:p>
        </p:txBody>
      </p:sp>
      <p:sp>
        <p:nvSpPr>
          <p:cNvPr id="48" name="Shape 45"/>
          <p:cNvSpPr/>
          <p:nvPr/>
        </p:nvSpPr>
        <p:spPr>
          <a:xfrm>
            <a:off x="640080" y="3008376"/>
            <a:ext cx="1051560" cy="256032"/>
          </a:xfrm>
          <a:prstGeom prst="roundRect">
            <a:avLst>
              <a:gd name="adj" fmla="val 50000"/>
            </a:avLst>
          </a:prstGeom>
          <a:solidFill>
            <a:srgbClr val="2E8B57"/>
          </a:solidFill>
          <a:ln w="12700">
            <a:solidFill>
              <a:srgbClr val="2E8B57"/>
            </a:solidFill>
            <a:prstDash val="solid"/>
          </a:ln>
        </p:spPr>
      </p:sp>
      <p:sp>
        <p:nvSpPr>
          <p:cNvPr id="49" name="Text 46"/>
          <p:cNvSpPr txBox="1"/>
          <p:nvPr/>
        </p:nvSpPr>
        <p:spPr>
          <a:xfrm>
            <a:off x="640080" y="3008376"/>
            <a:ext cx="105156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ea typeface="Calibri" pitchFamily="34" charset="-122"/>
                <a:cs typeface="Calibri" pitchFamily="34" charset="-120"/>
              </a:rPr>
              <a:t>CORE</a:t>
            </a:r>
            <a:endParaRPr lang="en-US" sz="800" dirty="0"/>
          </a:p>
        </p:txBody>
      </p:sp>
      <p:sp>
        <p:nvSpPr>
          <p:cNvPr id="50" name="Text 47"/>
          <p:cNvSpPr txBox="1"/>
          <p:nvPr/>
        </p:nvSpPr>
        <p:spPr>
          <a:xfrm>
            <a:off x="1783080" y="2852928"/>
            <a:ext cx="2697480" cy="557784"/>
          </a:xfrm>
          <a:prstGeom prst="rect">
            <a:avLst/>
          </a:prstGeom>
          <a:noFill/>
          <a:ln/>
        </p:spPr>
        <p:txBody>
          <a:bodyPr wrap="square" lIns="0" tIns="0" rIns="0" bIns="0" rtlCol="0" anchor="ctr"/>
          <a:lstStyle/>
          <a:p>
            <a:pPr rtl="1" algn="r" indent="0" marL="0">
              <a:buNone/>
            </a:pPr>
            <a:r>
              <a:rPr lang="ar-SA" altLang="en-US" sz="1600" b="1" dirty="0">
                <a:solidFill>
                  <a:srgbClr val="1D5FBF"/>
                </a:solidFill>
                <a:latin typeface="Amiri" pitchFamily="34" charset="0"/>
                <a:ea typeface="Amiri" pitchFamily="34" charset="-122"/>
                <a:cs typeface="Amiri" pitchFamily="34" charset="-120"/>
              </a:rPr>
              <a:t>هَذَا ___ ___ . / هَذِهِ ___ ___ .</a:t>
            </a:r>
            <a:endParaRPr lang="ar-SA" sz="1600" dirty="0"/>
          </a:p>
        </p:txBody>
      </p:sp>
      <p:sp>
        <p:nvSpPr>
          <p:cNvPr id="51" name="Shape 48"/>
          <p:cNvSpPr/>
          <p:nvPr/>
        </p:nvSpPr>
        <p:spPr>
          <a:xfrm>
            <a:off x="640080" y="3566160"/>
            <a:ext cx="1051560" cy="256032"/>
          </a:xfrm>
          <a:prstGeom prst="roundRect">
            <a:avLst>
              <a:gd name="adj" fmla="val 50000"/>
            </a:avLst>
          </a:prstGeom>
          <a:solidFill>
            <a:srgbClr val="C9780A"/>
          </a:solidFill>
          <a:ln w="12700">
            <a:solidFill>
              <a:srgbClr val="C9780A"/>
            </a:solidFill>
            <a:prstDash val="solid"/>
          </a:ln>
        </p:spPr>
      </p:sp>
      <p:sp>
        <p:nvSpPr>
          <p:cNvPr id="52" name="Text 49"/>
          <p:cNvSpPr txBox="1"/>
          <p:nvPr/>
        </p:nvSpPr>
        <p:spPr>
          <a:xfrm>
            <a:off x="640080" y="3566160"/>
            <a:ext cx="105156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ea typeface="Calibri" pitchFamily="34" charset="-122"/>
                <a:cs typeface="Calibri" pitchFamily="34" charset="-120"/>
              </a:rPr>
              <a:t>DEVELOP</a:t>
            </a:r>
            <a:endParaRPr lang="en-US" sz="800" dirty="0"/>
          </a:p>
        </p:txBody>
      </p:sp>
      <p:sp>
        <p:nvSpPr>
          <p:cNvPr id="53" name="Text 50"/>
          <p:cNvSpPr txBox="1"/>
          <p:nvPr/>
        </p:nvSpPr>
        <p:spPr>
          <a:xfrm>
            <a:off x="1783080" y="3410712"/>
            <a:ext cx="2697480" cy="557784"/>
          </a:xfrm>
          <a:prstGeom prst="rect">
            <a:avLst/>
          </a:prstGeom>
          <a:noFill/>
          <a:ln/>
        </p:spPr>
        <p:txBody>
          <a:bodyPr wrap="square" lIns="0" tIns="0" rIns="0" bIns="0" rtlCol="0" anchor="ctr"/>
          <a:lstStyle/>
          <a:p>
            <a:pPr rtl="1" algn="r" indent="0" marL="0">
              <a:buNone/>
            </a:pPr>
            <a:r>
              <a:rPr lang="ar-SA" altLang="en-US" sz="1600" b="1" dirty="0">
                <a:solidFill>
                  <a:srgbClr val="1F2A37"/>
                </a:solidFill>
                <a:latin typeface="Amiri" pitchFamily="34" charset="0"/>
                <a:ea typeface="Amiri" pitchFamily="34" charset="-122"/>
                <a:cs typeface="Amiri" pitchFamily="34" charset="-120"/>
              </a:rPr>
              <a:t>هَذِهِ زَمِيلَتِي. اِسْمُهَا ___ . هِيَ ___ .</a:t>
            </a:r>
            <a:endParaRPr lang="ar-SA" sz="1600" dirty="0"/>
          </a:p>
        </p:txBody>
      </p:sp>
      <p:sp>
        <p:nvSpPr>
          <p:cNvPr id="54" name="Shape 51"/>
          <p:cNvSpPr/>
          <p:nvPr/>
        </p:nvSpPr>
        <p:spPr>
          <a:xfrm>
            <a:off x="640080" y="4123944"/>
            <a:ext cx="1051560" cy="256032"/>
          </a:xfrm>
          <a:prstGeom prst="roundRect">
            <a:avLst>
              <a:gd name="adj" fmla="val 50000"/>
            </a:avLst>
          </a:prstGeom>
          <a:solidFill>
            <a:srgbClr val="B83227"/>
          </a:solidFill>
          <a:ln w="12700">
            <a:solidFill>
              <a:srgbClr val="B83227"/>
            </a:solidFill>
            <a:prstDash val="solid"/>
          </a:ln>
        </p:spPr>
      </p:sp>
      <p:sp>
        <p:nvSpPr>
          <p:cNvPr id="55" name="Text 52"/>
          <p:cNvSpPr txBox="1"/>
          <p:nvPr/>
        </p:nvSpPr>
        <p:spPr>
          <a:xfrm>
            <a:off x="640080" y="4123944"/>
            <a:ext cx="105156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ea typeface="Calibri" pitchFamily="34" charset="-122"/>
                <a:cs typeface="Calibri" pitchFamily="34" charset="-120"/>
              </a:rPr>
              <a:t>STRETCH</a:t>
            </a:r>
            <a:endParaRPr lang="en-US" sz="800" dirty="0"/>
          </a:p>
        </p:txBody>
      </p:sp>
      <p:sp>
        <p:nvSpPr>
          <p:cNvPr id="56" name="Text 53"/>
          <p:cNvSpPr txBox="1"/>
          <p:nvPr/>
        </p:nvSpPr>
        <p:spPr>
          <a:xfrm>
            <a:off x="1783080" y="3968496"/>
            <a:ext cx="2697480" cy="557784"/>
          </a:xfrm>
          <a:prstGeom prst="rect">
            <a:avLst/>
          </a:prstGeom>
          <a:noFill/>
          <a:ln/>
        </p:spPr>
        <p:txBody>
          <a:bodyPr wrap="square" lIns="0" tIns="0" rIns="0" bIns="0" rtlCol="0" anchor="ctr"/>
          <a:lstStyle/>
          <a:p>
            <a:pPr rtl="1" algn="r" indent="0" marL="0">
              <a:buNone/>
            </a:pPr>
            <a:r>
              <a:rPr lang="ar-SA" altLang="en-US" sz="1600" b="1" dirty="0">
                <a:solidFill>
                  <a:srgbClr val="1F2A37"/>
                </a:solidFill>
                <a:latin typeface="Amiri" pitchFamily="34" charset="0"/>
                <a:ea typeface="Amiri" pitchFamily="34" charset="-122"/>
                <a:cs typeface="Amiri" pitchFamily="34" charset="-120"/>
              </a:rPr>
              <a:t>هُوَ ___ وَ ___ ، وَهِيَ ___ وَ ___ .</a:t>
            </a:r>
            <a:endParaRPr lang="ar-SA" sz="1600" dirty="0"/>
          </a:p>
        </p:txBody>
      </p:sp>
      <p:sp>
        <p:nvSpPr>
          <p:cNvPr id="57" name="Shape 54"/>
          <p:cNvSpPr/>
          <p:nvPr/>
        </p:nvSpPr>
        <p:spPr>
          <a:xfrm>
            <a:off x="640080" y="4681728"/>
            <a:ext cx="1051560" cy="256032"/>
          </a:xfrm>
          <a:prstGeom prst="roundRect">
            <a:avLst>
              <a:gd name="adj" fmla="val 50000"/>
            </a:avLst>
          </a:prstGeom>
          <a:solidFill>
            <a:srgbClr val="1B3B6F"/>
          </a:solidFill>
          <a:ln w="12700">
            <a:solidFill>
              <a:srgbClr val="1B3B6F"/>
            </a:solidFill>
            <a:prstDash val="solid"/>
          </a:ln>
        </p:spPr>
      </p:sp>
      <p:sp>
        <p:nvSpPr>
          <p:cNvPr id="58" name="Text 55"/>
          <p:cNvSpPr txBox="1"/>
          <p:nvPr/>
        </p:nvSpPr>
        <p:spPr>
          <a:xfrm>
            <a:off x="640080" y="4681728"/>
            <a:ext cx="105156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ea typeface="Calibri" pitchFamily="34" charset="-122"/>
                <a:cs typeface="Calibri" pitchFamily="34" charset="-120"/>
              </a:rPr>
              <a:t>↺ SUM UP</a:t>
            </a:r>
            <a:endParaRPr lang="en-US" sz="800" dirty="0"/>
          </a:p>
        </p:txBody>
      </p:sp>
      <p:sp>
        <p:nvSpPr>
          <p:cNvPr id="59" name="Text 56"/>
          <p:cNvSpPr txBox="1"/>
          <p:nvPr/>
        </p:nvSpPr>
        <p:spPr>
          <a:xfrm>
            <a:off x="1783080" y="4526280"/>
            <a:ext cx="2697480" cy="557784"/>
          </a:xfrm>
          <a:prstGeom prst="rect">
            <a:avLst/>
          </a:prstGeom>
          <a:noFill/>
          <a:ln/>
        </p:spPr>
        <p:txBody>
          <a:bodyPr wrap="square" lIns="0" tIns="0" rIns="0" bIns="0" rtlCol="0" anchor="ctr"/>
          <a:lstStyle/>
          <a:p>
            <a:pPr rtl="1" algn="r" indent="0" marL="0">
              <a:buNone/>
            </a:pPr>
            <a:r>
              <a:rPr lang="ar-SA" altLang="en-US" sz="1600" b="1" dirty="0">
                <a:solidFill>
                  <a:srgbClr val="1F2A37"/>
                </a:solidFill>
                <a:latin typeface="Amiri" pitchFamily="34" charset="0"/>
                <a:ea typeface="Amiri" pitchFamily="34" charset="-122"/>
                <a:cs typeface="Amiri" pitchFamily="34" charset="-120"/>
              </a:rPr>
              <a:t>مُمْتَازٌ! / مُمْتَازَةٌ!</a:t>
            </a:r>
            <a:endParaRPr lang="ar-SA" sz="1600" dirty="0"/>
          </a:p>
        </p:txBody>
      </p:sp>
      <p:sp>
        <p:nvSpPr>
          <p:cNvPr id="60" name="Shape 57"/>
          <p:cNvSpPr/>
          <p:nvPr/>
        </p:nvSpPr>
        <p:spPr>
          <a:xfrm>
            <a:off x="457200" y="5248656"/>
            <a:ext cx="11274552" cy="1060704"/>
          </a:xfrm>
          <a:prstGeom prst="roundRect">
            <a:avLst>
              <a:gd name="adj" fmla="val 6897"/>
            </a:avLst>
          </a:prstGeom>
          <a:solidFill>
            <a:srgbClr val="EAF3EF"/>
          </a:solidFill>
          <a:ln w="9525">
            <a:solidFill>
              <a:srgbClr val="A8CDB9"/>
            </a:solidFill>
            <a:prstDash val="solid"/>
          </a:ln>
          <a:effectLst>
            <a:outerShdw sx="100000" sy="100000" kx="0" ky="0" algn="bl" rotWithShape="0" blurRad="50800" dist="19050" dir="5400000">
              <a:srgbClr val="000000">
                <a:alpha val="10000"/>
              </a:srgbClr>
            </a:outerShdw>
          </a:effectLst>
        </p:spPr>
      </p:sp>
      <p:sp>
        <p:nvSpPr>
          <p:cNvPr id="61" name="Text 58"/>
          <p:cNvSpPr txBox="1"/>
          <p:nvPr/>
        </p:nvSpPr>
        <p:spPr>
          <a:xfrm>
            <a:off x="640080" y="5285232"/>
            <a:ext cx="2011680" cy="256032"/>
          </a:xfrm>
          <a:prstGeom prst="rect">
            <a:avLst/>
          </a:prstGeom>
          <a:noFill/>
          <a:ln/>
        </p:spPr>
        <p:txBody>
          <a:bodyPr wrap="square" lIns="0" tIns="0" rIns="0" bIns="0" rtlCol="0" anchor="ctr"/>
          <a:lstStyle/>
          <a:p>
            <a:pPr algn="l" indent="0" marL="0">
              <a:buNone/>
            </a:pPr>
            <a:r>
              <a:rPr lang="en-US" sz="950" b="1" spc="100" kern="0" dirty="0">
                <a:solidFill>
                  <a:srgbClr val="1E6B52"/>
                </a:solidFill>
                <a:latin typeface="Calibri" pitchFamily="34" charset="0"/>
                <a:ea typeface="Calibri" pitchFamily="34" charset="-122"/>
                <a:cs typeface="Calibri" pitchFamily="34" charset="-120"/>
              </a:rPr>
              <a:t>MODEL (WEBSITE)</a:t>
            </a:r>
            <a:endParaRPr lang="en-US" sz="950" dirty="0"/>
          </a:p>
        </p:txBody>
      </p:sp>
      <p:sp>
        <p:nvSpPr>
          <p:cNvPr id="62" name="Shape 59"/>
          <p:cNvSpPr/>
          <p:nvPr/>
        </p:nvSpPr>
        <p:spPr>
          <a:xfrm>
            <a:off x="11274552" y="5559552"/>
            <a:ext cx="292608" cy="292608"/>
          </a:xfrm>
          <a:prstGeom prst="ellipse">
            <a:avLst/>
          </a:prstGeom>
          <a:solidFill>
            <a:srgbClr val="1E6B52"/>
          </a:solidFill>
          <a:ln w="12700">
            <a:solidFill>
              <a:srgbClr val="1E6B52"/>
            </a:solidFill>
            <a:prstDash val="solid"/>
          </a:ln>
        </p:spPr>
      </p:sp>
      <p:sp>
        <p:nvSpPr>
          <p:cNvPr id="63" name="Text 60"/>
          <p:cNvSpPr txBox="1"/>
          <p:nvPr/>
        </p:nvSpPr>
        <p:spPr>
          <a:xfrm>
            <a:off x="11274552" y="5559552"/>
            <a:ext cx="292608" cy="292608"/>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1</a:t>
            </a:r>
            <a:endParaRPr lang="en-US" sz="1000" dirty="0"/>
          </a:p>
        </p:txBody>
      </p:sp>
      <p:sp>
        <p:nvSpPr>
          <p:cNvPr id="64" name="Text 61"/>
          <p:cNvSpPr txBox="1"/>
          <p:nvPr/>
        </p:nvSpPr>
        <p:spPr>
          <a:xfrm>
            <a:off x="2834640" y="5522976"/>
            <a:ext cx="8348472" cy="365760"/>
          </a:xfrm>
          <a:prstGeom prst="rect">
            <a:avLst/>
          </a:prstGeom>
          <a:noFill/>
          <a:ln/>
        </p:spPr>
        <p:txBody>
          <a:bodyPr wrap="square" lIns="0" tIns="0" rIns="0" bIns="0" rtlCol="0" anchor="ctr"/>
          <a:lstStyle/>
          <a:p>
            <a:pPr rtl="1" algn="r" indent="0" marL="0">
              <a:buNone/>
            </a:pPr>
            <a:r>
              <a:rPr lang="ar-SA" altLang="en-US" sz="1550" dirty="0">
                <a:solidFill>
                  <a:srgbClr val="1F2A37"/>
                </a:solidFill>
                <a:latin typeface="Amiri" pitchFamily="34" charset="0"/>
                <a:ea typeface="Amiri" pitchFamily="34" charset="-122"/>
                <a:cs typeface="Amiri" pitchFamily="34" charset="-120"/>
              </a:rPr>
              <a:t>هَذَا طَالِبٌ جَدِيدٌ. اِسْمُهُ يُوسُفُ.</a:t>
            </a:r>
            <a:endParaRPr lang="ar-SA" sz="1550" dirty="0"/>
          </a:p>
        </p:txBody>
      </p:sp>
      <p:sp>
        <p:nvSpPr>
          <p:cNvPr id="65" name="Text 62"/>
          <p:cNvSpPr txBox="1"/>
          <p:nvPr/>
        </p:nvSpPr>
        <p:spPr>
          <a:xfrm>
            <a:off x="640080" y="5522976"/>
            <a:ext cx="2148840" cy="365760"/>
          </a:xfrm>
          <a:prstGeom prst="rect">
            <a:avLst/>
          </a:prstGeom>
          <a:noFill/>
          <a:ln/>
        </p:spPr>
        <p:txBody>
          <a:bodyPr wrap="square" lIns="0" tIns="0" rIns="0" bIns="0" rtlCol="0" anchor="ctr"/>
          <a:lstStyle/>
          <a:p>
            <a:pPr algn="l" indent="0" marL="0">
              <a:buNone/>
            </a:pPr>
            <a:r>
              <a:rPr lang="en-US" sz="950" i="1" dirty="0">
                <a:solidFill>
                  <a:srgbClr val="5A6472"/>
                </a:solidFill>
                <a:latin typeface="Calibri" pitchFamily="34" charset="0"/>
                <a:ea typeface="Calibri" pitchFamily="34" charset="-122"/>
                <a:cs typeface="Calibri" pitchFamily="34" charset="-120"/>
              </a:rPr>
              <a:t>This is a new male student. His name is Yusuf.</a:t>
            </a:r>
            <a:endParaRPr lang="en-US" sz="950" dirty="0"/>
          </a:p>
        </p:txBody>
      </p:sp>
      <p:sp>
        <p:nvSpPr>
          <p:cNvPr id="66" name="Shape 63"/>
          <p:cNvSpPr/>
          <p:nvPr/>
        </p:nvSpPr>
        <p:spPr>
          <a:xfrm>
            <a:off x="11274552" y="5925312"/>
            <a:ext cx="292608" cy="292608"/>
          </a:xfrm>
          <a:prstGeom prst="ellipse">
            <a:avLst/>
          </a:prstGeom>
          <a:solidFill>
            <a:srgbClr val="1E6B52"/>
          </a:solidFill>
          <a:ln w="12700">
            <a:solidFill>
              <a:srgbClr val="1E6B52"/>
            </a:solidFill>
            <a:prstDash val="solid"/>
          </a:ln>
        </p:spPr>
      </p:sp>
      <p:sp>
        <p:nvSpPr>
          <p:cNvPr id="67" name="Text 64"/>
          <p:cNvSpPr txBox="1"/>
          <p:nvPr/>
        </p:nvSpPr>
        <p:spPr>
          <a:xfrm>
            <a:off x="11274552" y="5925312"/>
            <a:ext cx="292608" cy="292608"/>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2</a:t>
            </a:r>
            <a:endParaRPr lang="en-US" sz="1000" dirty="0"/>
          </a:p>
        </p:txBody>
      </p:sp>
      <p:sp>
        <p:nvSpPr>
          <p:cNvPr id="68" name="Text 65"/>
          <p:cNvSpPr txBox="1"/>
          <p:nvPr/>
        </p:nvSpPr>
        <p:spPr>
          <a:xfrm>
            <a:off x="2834640" y="5888736"/>
            <a:ext cx="8348472" cy="365760"/>
          </a:xfrm>
          <a:prstGeom prst="rect">
            <a:avLst/>
          </a:prstGeom>
          <a:noFill/>
          <a:ln/>
        </p:spPr>
        <p:txBody>
          <a:bodyPr wrap="square" lIns="0" tIns="0" rIns="0" bIns="0" rtlCol="0" anchor="ctr"/>
          <a:lstStyle/>
          <a:p>
            <a:pPr rtl="1" algn="r" indent="0" marL="0">
              <a:buNone/>
            </a:pPr>
            <a:r>
              <a:rPr lang="ar-SA" altLang="en-US" sz="1550" dirty="0">
                <a:solidFill>
                  <a:srgbClr val="1F2A37"/>
                </a:solidFill>
                <a:latin typeface="Amiri" pitchFamily="34" charset="0"/>
                <a:ea typeface="Amiri" pitchFamily="34" charset="-122"/>
                <a:cs typeface="Amiri" pitchFamily="34" charset="-120"/>
              </a:rPr>
              <a:t>هَذِهِ طَالِبَةٌ جَدِيدَةٌ. اِسْمُهَا زَيْنَبُ.</a:t>
            </a:r>
            <a:endParaRPr lang="ar-SA" sz="1550" dirty="0"/>
          </a:p>
        </p:txBody>
      </p:sp>
      <p:sp>
        <p:nvSpPr>
          <p:cNvPr id="69" name="Text 66"/>
          <p:cNvSpPr txBox="1"/>
          <p:nvPr/>
        </p:nvSpPr>
        <p:spPr>
          <a:xfrm>
            <a:off x="640080" y="5888736"/>
            <a:ext cx="2148840" cy="365760"/>
          </a:xfrm>
          <a:prstGeom prst="rect">
            <a:avLst/>
          </a:prstGeom>
          <a:noFill/>
          <a:ln/>
        </p:spPr>
        <p:txBody>
          <a:bodyPr wrap="square" lIns="0" tIns="0" rIns="0" bIns="0" rtlCol="0" anchor="ctr"/>
          <a:lstStyle/>
          <a:p>
            <a:pPr algn="l" indent="0" marL="0">
              <a:buNone/>
            </a:pPr>
            <a:r>
              <a:rPr lang="en-US" sz="950" i="1" dirty="0">
                <a:solidFill>
                  <a:srgbClr val="5A6472"/>
                </a:solidFill>
                <a:latin typeface="Calibri" pitchFamily="34" charset="0"/>
                <a:ea typeface="Calibri" pitchFamily="34" charset="-122"/>
                <a:cs typeface="Calibri" pitchFamily="34" charset="-120"/>
              </a:rPr>
              <a:t>This is a new female student. Her name is Zaynab.</a:t>
            </a:r>
            <a:endParaRPr lang="en-US" sz="950" dirty="0"/>
          </a:p>
        </p:txBody>
      </p:sp>
      <p:sp>
        <p:nvSpPr>
          <p:cNvPr id="70" name="Text 6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ea typeface="Calibri" pitchFamily="34" charset="-122"/>
                <a:cs typeface="Calibri" pitchFamily="34" charset="-120"/>
              </a:rPr>
              <a:t>28 / 36</a:t>
            </a:r>
            <a:endParaRPr lang="en-US" sz="85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34" charset="0"/>
                <a:ea typeface="Amiri" pitchFamily="34" charset="-122"/>
                <a:cs typeface="Amiri" pitchFamily="34" charset="-120"/>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ea typeface="Cambria" pitchFamily="34" charset="-122"/>
                <a:cs typeface="Cambria" pitchFamily="34" charset="-120"/>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ea typeface="Calibri" pitchFamily="34" charset="-122"/>
                <a:cs typeface="Calibri" pitchFamily="34" charset="-120"/>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ea typeface="Calibri" pitchFamily="34" charset="-122"/>
                <a:cs typeface="Calibri" pitchFamily="34" charset="-120"/>
              </a:rPr>
              <a:t>F2-L05 · Masculine &amp; Feminine</a:t>
            </a:r>
            <a:endParaRPr lang="en-US" sz="950" dirty="0"/>
          </a:p>
        </p:txBody>
      </p:sp>
      <p:sp>
        <p:nvSpPr>
          <p:cNvPr id="8" name="Shape 6"/>
          <p:cNvSpPr/>
          <p:nvPr/>
        </p:nvSpPr>
        <p:spPr>
          <a:xfrm>
            <a:off x="7295083" y="274320"/>
            <a:ext cx="1464869"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ea typeface="Calibri" pitchFamily="34" charset="-122"/>
                <a:cs typeface="Calibri" pitchFamily="34" charset="-120"/>
              </a:rPr>
              <a:t>YOU DO · 9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ea typeface="Calibri" pitchFamily="34" charset="-122"/>
                <a:cs typeface="Calibri" pitchFamily="34" charset="-120"/>
              </a:rPr>
              <a:t>YOU DO · INDEPENDENT PRACTICE · 9 MINUTES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ea typeface="Cambria" pitchFamily="34" charset="-122"/>
                <a:cs typeface="Cambria" pitchFamily="34" charset="-120"/>
              </a:rPr>
              <a:t>Write: choose your route</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34" charset="0"/>
                <a:ea typeface="Amiri" pitchFamily="34" charset="-122"/>
                <a:cs typeface="Amiri" pitchFamily="34" charset="-120"/>
              </a:rPr>
              <a:t>اُكْتُبْ</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ea typeface="Calibri" pitchFamily="34" charset="-122"/>
                <a:cs typeface="Calibri" pitchFamily="34" charset="-120"/>
              </a:rPr>
              <a:t>Miftah Arabic · Foundation F2 · Greetings &amp; Introductions · Week 2 · Lesson 2 of 3</a:t>
            </a:r>
            <a:endParaRPr lang="en-US" sz="850" dirty="0"/>
          </a:p>
        </p:txBody>
      </p:sp>
      <p:sp>
        <p:nvSpPr>
          <p:cNvPr id="15" name="Shape 12"/>
          <p:cNvSpPr/>
          <p:nvPr/>
        </p:nvSpPr>
        <p:spPr>
          <a:xfrm>
            <a:off x="457200" y="1810512"/>
            <a:ext cx="3639312" cy="4315968"/>
          </a:xfrm>
          <a:prstGeom prst="roundRect">
            <a:avLst>
              <a:gd name="adj" fmla="val 2010"/>
            </a:avLst>
          </a:prstGeom>
          <a:solidFill>
            <a:srgbClr val="E9F5EE"/>
          </a:solidFill>
          <a:ln w="9525">
            <a:solidFill>
              <a:srgbClr val="2E8B57"/>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1938528"/>
            <a:ext cx="1188720" cy="310896"/>
          </a:xfrm>
          <a:prstGeom prst="roundRect">
            <a:avLst>
              <a:gd name="adj" fmla="val 50000"/>
            </a:avLst>
          </a:prstGeom>
          <a:solidFill>
            <a:srgbClr val="2E8B57"/>
          </a:solidFill>
          <a:ln w="12700">
            <a:solidFill>
              <a:srgbClr val="2E8B57"/>
            </a:solidFill>
            <a:prstDash val="solid"/>
          </a:ln>
        </p:spPr>
      </p:sp>
      <p:sp>
        <p:nvSpPr>
          <p:cNvPr id="17" name="Text 14"/>
          <p:cNvSpPr txBox="1"/>
          <p:nvPr/>
        </p:nvSpPr>
        <p:spPr>
          <a:xfrm>
            <a:off x="640080" y="1938528"/>
            <a:ext cx="1188720" cy="310896"/>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ea typeface="Calibri" pitchFamily="34" charset="-122"/>
                <a:cs typeface="Calibri" pitchFamily="34" charset="-120"/>
              </a:rPr>
              <a:t>CORE</a:t>
            </a:r>
            <a:endParaRPr lang="en-US" sz="1000" dirty="0"/>
          </a:p>
        </p:txBody>
      </p:sp>
      <p:sp>
        <p:nvSpPr>
          <p:cNvPr id="18" name="Text 15"/>
          <p:cNvSpPr txBox="1"/>
          <p:nvPr/>
        </p:nvSpPr>
        <p:spPr>
          <a:xfrm>
            <a:off x="2450592" y="1883664"/>
            <a:ext cx="1463040" cy="420624"/>
          </a:xfrm>
          <a:prstGeom prst="rect">
            <a:avLst/>
          </a:prstGeom>
          <a:noFill/>
          <a:ln/>
        </p:spPr>
        <p:txBody>
          <a:bodyPr wrap="square" lIns="0" tIns="0" rIns="0" bIns="0" rtlCol="0" anchor="ctr"/>
          <a:lstStyle/>
          <a:p>
            <a:pPr rtl="1" algn="r" indent="0" marL="0">
              <a:buNone/>
            </a:pPr>
            <a:r>
              <a:rPr lang="ar-SA" altLang="en-US" sz="1800" b="1" dirty="0">
                <a:solidFill>
                  <a:srgbClr val="2E8B57"/>
                </a:solidFill>
                <a:latin typeface="Amiri" pitchFamily="34" charset="0"/>
                <a:ea typeface="Amiri" pitchFamily="34" charset="-122"/>
                <a:cs typeface="Amiri" pitchFamily="34" charset="-120"/>
              </a:rPr>
              <a:t>الأَسَاسُ</a:t>
            </a:r>
            <a:endParaRPr lang="ar-SA" sz="1800" dirty="0"/>
          </a:p>
        </p:txBody>
      </p:sp>
      <p:sp>
        <p:nvSpPr>
          <p:cNvPr id="19" name="Text 16"/>
          <p:cNvSpPr txBox="1"/>
          <p:nvPr/>
        </p:nvSpPr>
        <p:spPr>
          <a:xfrm>
            <a:off x="640080" y="2377440"/>
            <a:ext cx="3273552" cy="457200"/>
          </a:xfrm>
          <a:prstGeom prst="rect">
            <a:avLst/>
          </a:prstGeom>
          <a:noFill/>
          <a:ln/>
        </p:spPr>
        <p:txBody>
          <a:bodyPr wrap="square" lIns="0" tIns="0" rIns="0" bIns="0" rtlCol="0" anchor="ctr"/>
          <a:lstStyle/>
          <a:p>
            <a:pPr algn="l" indent="0" marL="0">
              <a:buNone/>
            </a:pPr>
            <a:r>
              <a:rPr lang="en-US" sz="2200" b="1" dirty="0">
                <a:solidFill>
                  <a:srgbClr val="2E8B57"/>
                </a:solidFill>
                <a:latin typeface="Cambria" pitchFamily="34" charset="0"/>
                <a:ea typeface="Cambria" pitchFamily="34" charset="-122"/>
                <a:cs typeface="Cambria" pitchFamily="34" charset="-120"/>
              </a:rPr>
              <a:t>4 phrases</a:t>
            </a:r>
            <a:endParaRPr lang="en-US" sz="2200" dirty="0"/>
          </a:p>
        </p:txBody>
      </p:sp>
      <p:sp>
        <p:nvSpPr>
          <p:cNvPr id="20" name="Text 17"/>
          <p:cNvSpPr txBox="1"/>
          <p:nvPr/>
        </p:nvSpPr>
        <p:spPr>
          <a:xfrm>
            <a:off x="640080" y="2880360"/>
            <a:ext cx="3273552" cy="1188720"/>
          </a:xfrm>
          <a:prstGeom prst="rect">
            <a:avLst/>
          </a:prstGeom>
          <a:noFill/>
          <a:ln/>
        </p:spPr>
        <p:txBody>
          <a:bodyPr wrap="square" lIns="0" tIns="0" rIns="0" bIns="0" rtlCol="0" anchor="ctr"/>
          <a:lstStyle/>
          <a:p>
            <a:pPr algn="l" indent="0" marL="0">
              <a:buNone/>
            </a:pPr>
            <a:r>
              <a:rPr lang="en-US" sz="1400" b="1" dirty="0">
                <a:solidFill>
                  <a:srgbClr val="1F2A37"/>
                </a:solidFill>
                <a:latin typeface="Calibri" pitchFamily="34" charset="0"/>
                <a:ea typeface="Calibri" pitchFamily="34" charset="-122"/>
                <a:cs typeface="Calibri" pitchFamily="34" charset="-120"/>
              </a:rPr>
              <a:t>Four noun + adjective phrases with four different people nouns.</a:t>
            </a:r>
            <a:endParaRPr lang="en-US" sz="1400" dirty="0"/>
          </a:p>
        </p:txBody>
      </p:sp>
      <p:sp>
        <p:nvSpPr>
          <p:cNvPr id="21" name="Shape 18"/>
          <p:cNvSpPr/>
          <p:nvPr/>
        </p:nvSpPr>
        <p:spPr>
          <a:xfrm>
            <a:off x="640080" y="4160520"/>
            <a:ext cx="3273552" cy="1783080"/>
          </a:xfrm>
          <a:prstGeom prst="roundRect">
            <a:avLst>
              <a:gd name="adj" fmla="val 4103"/>
            </a:avLst>
          </a:prstGeom>
          <a:solidFill>
            <a:srgbClr val="FFFFFF"/>
          </a:solidFill>
          <a:ln w="9525">
            <a:solidFill>
              <a:srgbClr val="FFFFFF"/>
            </a:solidFill>
            <a:prstDash val="solid"/>
          </a:ln>
        </p:spPr>
      </p:sp>
      <p:sp>
        <p:nvSpPr>
          <p:cNvPr id="22" name="Text 19"/>
          <p:cNvSpPr txBox="1"/>
          <p:nvPr/>
        </p:nvSpPr>
        <p:spPr>
          <a:xfrm>
            <a:off x="731520" y="4224528"/>
            <a:ext cx="3090672" cy="1645920"/>
          </a:xfrm>
          <a:prstGeom prst="rect">
            <a:avLst/>
          </a:prstGeom>
          <a:noFill/>
          <a:ln/>
        </p:spPr>
        <p:txBody>
          <a:bodyPr wrap="square" lIns="0" tIns="0" rIns="0" bIns="0" rtlCol="0" anchor="t"/>
          <a:lstStyle/>
          <a:p>
            <a:pPr indent="0" marL="0">
              <a:buNone/>
            </a:pPr>
            <a:r>
              <a:rPr lang="en-US" sz="900" b="1" spc="200" kern="0" dirty="0">
                <a:solidFill>
                  <a:srgbClr val="2E8B57"/>
                </a:solidFill>
                <a:latin typeface="Calibri" pitchFamily="34" charset="0"/>
                <a:ea typeface="Calibri" pitchFamily="34" charset="-122"/>
                <a:cs typeface="Calibri" pitchFamily="34" charset="-120"/>
              </a:rPr>
              <a:t>HOW</a:t>
            </a:r>
            <a:endParaRPr lang="en-US" sz="900" dirty="0"/>
          </a:p>
          <a:p>
            <a:pPr indent="0" marL="0">
              <a:buNone/>
            </a:pPr>
            <a:r>
              <a:rPr lang="en-US" sz="1150" dirty="0">
                <a:solidFill>
                  <a:srgbClr val="1F2A37"/>
                </a:solidFill>
                <a:latin typeface="Calibri" pitchFamily="34" charset="0"/>
                <a:ea typeface="Calibri" pitchFamily="34" charset="-122"/>
                <a:cs typeface="Calibri" pitchFamily="34" charset="-120"/>
              </a:rPr>
              <a:t>Four people nouns, each with ONE matching adjective (use the tables).</a:t>
            </a:r>
            <a:endParaRPr lang="en-US" sz="900" dirty="0"/>
          </a:p>
        </p:txBody>
      </p:sp>
      <p:sp>
        <p:nvSpPr>
          <p:cNvPr id="23" name="Shape 20"/>
          <p:cNvSpPr/>
          <p:nvPr/>
        </p:nvSpPr>
        <p:spPr>
          <a:xfrm>
            <a:off x="4279392" y="1810512"/>
            <a:ext cx="3639312" cy="4315968"/>
          </a:xfrm>
          <a:prstGeom prst="roundRect">
            <a:avLst>
              <a:gd name="adj" fmla="val 2010"/>
            </a:avLst>
          </a:prstGeom>
          <a:solidFill>
            <a:srgbClr val="FCF1E0"/>
          </a:solidFill>
          <a:ln w="9525">
            <a:solidFill>
              <a:srgbClr val="C9780A"/>
            </a:solidFill>
            <a:prstDash val="solid"/>
          </a:ln>
          <a:effectLst>
            <a:outerShdw sx="100000" sy="100000" kx="0" ky="0" algn="bl" rotWithShape="0" blurRad="50800" dist="19050" dir="5400000">
              <a:srgbClr val="000000">
                <a:alpha val="10000"/>
              </a:srgbClr>
            </a:outerShdw>
          </a:effectLst>
        </p:spPr>
      </p:sp>
      <p:sp>
        <p:nvSpPr>
          <p:cNvPr id="24" name="Shape 21"/>
          <p:cNvSpPr/>
          <p:nvPr/>
        </p:nvSpPr>
        <p:spPr>
          <a:xfrm>
            <a:off x="4462272" y="1938528"/>
            <a:ext cx="1188720" cy="310896"/>
          </a:xfrm>
          <a:prstGeom prst="roundRect">
            <a:avLst>
              <a:gd name="adj" fmla="val 50000"/>
            </a:avLst>
          </a:prstGeom>
          <a:solidFill>
            <a:srgbClr val="C9780A"/>
          </a:solidFill>
          <a:ln w="12700">
            <a:solidFill>
              <a:srgbClr val="C9780A"/>
            </a:solidFill>
            <a:prstDash val="solid"/>
          </a:ln>
        </p:spPr>
      </p:sp>
      <p:sp>
        <p:nvSpPr>
          <p:cNvPr id="25" name="Text 22"/>
          <p:cNvSpPr txBox="1"/>
          <p:nvPr/>
        </p:nvSpPr>
        <p:spPr>
          <a:xfrm>
            <a:off x="4462272" y="1938528"/>
            <a:ext cx="1188720" cy="310896"/>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ea typeface="Calibri" pitchFamily="34" charset="-122"/>
                <a:cs typeface="Calibri" pitchFamily="34" charset="-120"/>
              </a:rPr>
              <a:t>DEVELOP</a:t>
            </a:r>
            <a:endParaRPr lang="en-US" sz="1000" dirty="0"/>
          </a:p>
        </p:txBody>
      </p:sp>
      <p:sp>
        <p:nvSpPr>
          <p:cNvPr id="26" name="Text 23"/>
          <p:cNvSpPr txBox="1"/>
          <p:nvPr/>
        </p:nvSpPr>
        <p:spPr>
          <a:xfrm>
            <a:off x="6272784" y="1883664"/>
            <a:ext cx="1463040" cy="420624"/>
          </a:xfrm>
          <a:prstGeom prst="rect">
            <a:avLst/>
          </a:prstGeom>
          <a:noFill/>
          <a:ln/>
        </p:spPr>
        <p:txBody>
          <a:bodyPr wrap="square" lIns="0" tIns="0" rIns="0" bIns="0" rtlCol="0" anchor="ctr"/>
          <a:lstStyle/>
          <a:p>
            <a:pPr rtl="1" algn="r" indent="0" marL="0">
              <a:buNone/>
            </a:pPr>
            <a:r>
              <a:rPr lang="ar-SA" altLang="en-US" sz="1800" b="1" dirty="0">
                <a:solidFill>
                  <a:srgbClr val="C9780A"/>
                </a:solidFill>
                <a:latin typeface="Amiri" pitchFamily="34" charset="0"/>
                <a:ea typeface="Amiri" pitchFamily="34" charset="-122"/>
                <a:cs typeface="Amiri" pitchFamily="34" charset="-120"/>
              </a:rPr>
              <a:t>التَّطْوِيرُ</a:t>
            </a:r>
            <a:endParaRPr lang="ar-SA" sz="1800" dirty="0"/>
          </a:p>
        </p:txBody>
      </p:sp>
      <p:sp>
        <p:nvSpPr>
          <p:cNvPr id="27" name="Text 24"/>
          <p:cNvSpPr txBox="1"/>
          <p:nvPr/>
        </p:nvSpPr>
        <p:spPr>
          <a:xfrm>
            <a:off x="4462272" y="2377440"/>
            <a:ext cx="3273552" cy="457200"/>
          </a:xfrm>
          <a:prstGeom prst="rect">
            <a:avLst/>
          </a:prstGeom>
          <a:noFill/>
          <a:ln/>
        </p:spPr>
        <p:txBody>
          <a:bodyPr wrap="square" lIns="0" tIns="0" rIns="0" bIns="0" rtlCol="0" anchor="ctr"/>
          <a:lstStyle/>
          <a:p>
            <a:pPr algn="l" indent="0" marL="0">
              <a:buNone/>
            </a:pPr>
            <a:r>
              <a:rPr lang="en-US" sz="2200" b="1" dirty="0">
                <a:solidFill>
                  <a:srgbClr val="C9780A"/>
                </a:solidFill>
                <a:latin typeface="Cambria" pitchFamily="34" charset="0"/>
                <a:ea typeface="Cambria" pitchFamily="34" charset="-122"/>
                <a:cs typeface="Cambria" pitchFamily="34" charset="-120"/>
              </a:rPr>
              <a:t>3 descriptions</a:t>
            </a:r>
            <a:endParaRPr lang="en-US" sz="2200" dirty="0"/>
          </a:p>
        </p:txBody>
      </p:sp>
      <p:sp>
        <p:nvSpPr>
          <p:cNvPr id="28" name="Text 25"/>
          <p:cNvSpPr txBox="1"/>
          <p:nvPr/>
        </p:nvSpPr>
        <p:spPr>
          <a:xfrm>
            <a:off x="4462272" y="2880360"/>
            <a:ext cx="3273552" cy="1188720"/>
          </a:xfrm>
          <a:prstGeom prst="rect">
            <a:avLst/>
          </a:prstGeom>
          <a:noFill/>
          <a:ln/>
        </p:spPr>
        <p:txBody>
          <a:bodyPr wrap="square" lIns="0" tIns="0" rIns="0" bIns="0" rtlCol="0" anchor="ctr"/>
          <a:lstStyle/>
          <a:p>
            <a:pPr algn="l" indent="0" marL="0">
              <a:buNone/>
            </a:pPr>
            <a:r>
              <a:rPr lang="en-US" sz="1400" b="1" dirty="0">
                <a:solidFill>
                  <a:srgbClr val="1F2A37"/>
                </a:solidFill>
                <a:latin typeface="Calibri" pitchFamily="34" charset="0"/>
                <a:ea typeface="Calibri" pitchFamily="34" charset="-122"/>
                <a:cs typeface="Calibri" pitchFamily="34" charset="-120"/>
              </a:rPr>
              <a:t>Three connected descriptions with at least five different adjectives.</a:t>
            </a:r>
            <a:endParaRPr lang="en-US" sz="1400" dirty="0"/>
          </a:p>
        </p:txBody>
      </p:sp>
      <p:sp>
        <p:nvSpPr>
          <p:cNvPr id="29" name="Shape 26"/>
          <p:cNvSpPr/>
          <p:nvPr/>
        </p:nvSpPr>
        <p:spPr>
          <a:xfrm>
            <a:off x="4462272" y="4160520"/>
            <a:ext cx="3273552" cy="1783080"/>
          </a:xfrm>
          <a:prstGeom prst="roundRect">
            <a:avLst>
              <a:gd name="adj" fmla="val 4103"/>
            </a:avLst>
          </a:prstGeom>
          <a:solidFill>
            <a:srgbClr val="FFFFFF"/>
          </a:solidFill>
          <a:ln w="9525">
            <a:solidFill>
              <a:srgbClr val="FFFFFF"/>
            </a:solidFill>
            <a:prstDash val="solid"/>
          </a:ln>
        </p:spPr>
      </p:sp>
      <p:sp>
        <p:nvSpPr>
          <p:cNvPr id="30" name="Text 27"/>
          <p:cNvSpPr txBox="1"/>
          <p:nvPr/>
        </p:nvSpPr>
        <p:spPr>
          <a:xfrm>
            <a:off x="4553712" y="4224528"/>
            <a:ext cx="3090672" cy="1645920"/>
          </a:xfrm>
          <a:prstGeom prst="rect">
            <a:avLst/>
          </a:prstGeom>
          <a:noFill/>
          <a:ln/>
        </p:spPr>
        <p:txBody>
          <a:bodyPr wrap="square" lIns="0" tIns="0" rIns="0" bIns="0" rtlCol="0" anchor="t"/>
          <a:lstStyle/>
          <a:p>
            <a:pPr indent="0" marL="0">
              <a:buNone/>
            </a:pPr>
            <a:r>
              <a:rPr lang="en-US" sz="900" b="1" spc="200" kern="0" dirty="0">
                <a:solidFill>
                  <a:srgbClr val="C9780A"/>
                </a:solidFill>
                <a:latin typeface="Calibri" pitchFamily="34" charset="0"/>
                <a:ea typeface="Calibri" pitchFamily="34" charset="-122"/>
                <a:cs typeface="Calibri" pitchFamily="34" charset="-120"/>
              </a:rPr>
              <a:t>HOW</a:t>
            </a:r>
            <a:endParaRPr lang="en-US" sz="900" dirty="0"/>
          </a:p>
          <a:p>
            <a:pPr indent="0" marL="0">
              <a:buNone/>
            </a:pPr>
            <a:r>
              <a:rPr lang="en-US" sz="1150" dirty="0">
                <a:solidFill>
                  <a:srgbClr val="1F2A37"/>
                </a:solidFill>
                <a:latin typeface="Calibri" pitchFamily="34" charset="0"/>
                <a:ea typeface="Calibri" pitchFamily="34" charset="-122"/>
                <a:cs typeface="Calibri" pitchFamily="34" charset="-120"/>
              </a:rPr>
              <a:t>This is … + name + he / she is … with five different adjectives.</a:t>
            </a:r>
            <a:endParaRPr lang="en-US" sz="900" dirty="0"/>
          </a:p>
        </p:txBody>
      </p:sp>
      <p:sp>
        <p:nvSpPr>
          <p:cNvPr id="31" name="Shape 28"/>
          <p:cNvSpPr/>
          <p:nvPr/>
        </p:nvSpPr>
        <p:spPr>
          <a:xfrm>
            <a:off x="8101584" y="1810512"/>
            <a:ext cx="3639312" cy="4315968"/>
          </a:xfrm>
          <a:prstGeom prst="roundRect">
            <a:avLst>
              <a:gd name="adj" fmla="val 2010"/>
            </a:avLst>
          </a:prstGeom>
          <a:solidFill>
            <a:srgbClr val="FBEAEA"/>
          </a:solidFill>
          <a:ln w="9525">
            <a:solidFill>
              <a:srgbClr val="B83227"/>
            </a:solidFill>
            <a:prstDash val="solid"/>
          </a:ln>
          <a:effectLst>
            <a:outerShdw sx="100000" sy="100000" kx="0" ky="0" algn="bl" rotWithShape="0" blurRad="50800" dist="19050" dir="5400000">
              <a:srgbClr val="000000">
                <a:alpha val="10000"/>
              </a:srgbClr>
            </a:outerShdw>
          </a:effectLst>
        </p:spPr>
      </p:sp>
      <p:sp>
        <p:nvSpPr>
          <p:cNvPr id="32" name="Shape 29"/>
          <p:cNvSpPr/>
          <p:nvPr/>
        </p:nvSpPr>
        <p:spPr>
          <a:xfrm>
            <a:off x="8284464" y="1938528"/>
            <a:ext cx="1188720" cy="310896"/>
          </a:xfrm>
          <a:prstGeom prst="roundRect">
            <a:avLst>
              <a:gd name="adj" fmla="val 50000"/>
            </a:avLst>
          </a:prstGeom>
          <a:solidFill>
            <a:srgbClr val="B83227"/>
          </a:solidFill>
          <a:ln w="12700">
            <a:solidFill>
              <a:srgbClr val="B83227"/>
            </a:solidFill>
            <a:prstDash val="solid"/>
          </a:ln>
        </p:spPr>
      </p:sp>
      <p:sp>
        <p:nvSpPr>
          <p:cNvPr id="33" name="Text 30"/>
          <p:cNvSpPr txBox="1"/>
          <p:nvPr/>
        </p:nvSpPr>
        <p:spPr>
          <a:xfrm>
            <a:off x="8284464" y="1938528"/>
            <a:ext cx="1188720" cy="310896"/>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ea typeface="Calibri" pitchFamily="34" charset="-122"/>
                <a:cs typeface="Calibri" pitchFamily="34" charset="-120"/>
              </a:rPr>
              <a:t>STRETCH</a:t>
            </a:r>
            <a:endParaRPr lang="en-US" sz="1000" dirty="0"/>
          </a:p>
        </p:txBody>
      </p:sp>
      <p:sp>
        <p:nvSpPr>
          <p:cNvPr id="34" name="Text 31"/>
          <p:cNvSpPr txBox="1"/>
          <p:nvPr/>
        </p:nvSpPr>
        <p:spPr>
          <a:xfrm>
            <a:off x="10094976" y="1883664"/>
            <a:ext cx="1463040" cy="420624"/>
          </a:xfrm>
          <a:prstGeom prst="rect">
            <a:avLst/>
          </a:prstGeom>
          <a:noFill/>
          <a:ln/>
        </p:spPr>
        <p:txBody>
          <a:bodyPr wrap="square" lIns="0" tIns="0" rIns="0" bIns="0" rtlCol="0" anchor="ctr"/>
          <a:lstStyle/>
          <a:p>
            <a:pPr rtl="1" algn="r" indent="0" marL="0">
              <a:buNone/>
            </a:pPr>
            <a:r>
              <a:rPr lang="ar-SA" altLang="en-US" sz="1800" b="1" dirty="0">
                <a:solidFill>
                  <a:srgbClr val="B83227"/>
                </a:solidFill>
                <a:latin typeface="Amiri" pitchFamily="34" charset="0"/>
                <a:ea typeface="Amiri" pitchFamily="34" charset="-122"/>
                <a:cs typeface="Amiri" pitchFamily="34" charset="-120"/>
              </a:rPr>
              <a:t>التَّحَدِّي</a:t>
            </a:r>
            <a:endParaRPr lang="ar-SA" sz="1800" dirty="0"/>
          </a:p>
        </p:txBody>
      </p:sp>
      <p:sp>
        <p:nvSpPr>
          <p:cNvPr id="35" name="Text 32"/>
          <p:cNvSpPr txBox="1"/>
          <p:nvPr/>
        </p:nvSpPr>
        <p:spPr>
          <a:xfrm>
            <a:off x="8284464" y="2377440"/>
            <a:ext cx="3273552" cy="457200"/>
          </a:xfrm>
          <a:prstGeom prst="rect">
            <a:avLst/>
          </a:prstGeom>
          <a:noFill/>
          <a:ln/>
        </p:spPr>
        <p:txBody>
          <a:bodyPr wrap="square" lIns="0" tIns="0" rIns="0" bIns="0" rtlCol="0" anchor="ctr"/>
          <a:lstStyle/>
          <a:p>
            <a:pPr algn="l" indent="0" marL="0">
              <a:buNone/>
            </a:pPr>
            <a:r>
              <a:rPr lang="en-US" sz="2200" b="1" dirty="0">
                <a:solidFill>
                  <a:srgbClr val="B83227"/>
                </a:solidFill>
                <a:latin typeface="Cambria" pitchFamily="34" charset="0"/>
                <a:ea typeface="Cambria" pitchFamily="34" charset="-122"/>
                <a:cs typeface="Cambria" pitchFamily="34" charset="-120"/>
              </a:rPr>
              <a:t>3 descriptions +</a:t>
            </a:r>
            <a:endParaRPr lang="en-US" sz="2200" dirty="0"/>
          </a:p>
        </p:txBody>
      </p:sp>
      <p:sp>
        <p:nvSpPr>
          <p:cNvPr id="36" name="Text 33"/>
          <p:cNvSpPr txBox="1"/>
          <p:nvPr/>
        </p:nvSpPr>
        <p:spPr>
          <a:xfrm>
            <a:off x="8284464" y="2880360"/>
            <a:ext cx="3273552" cy="1188720"/>
          </a:xfrm>
          <a:prstGeom prst="rect">
            <a:avLst/>
          </a:prstGeom>
          <a:noFill/>
          <a:ln/>
        </p:spPr>
        <p:txBody>
          <a:bodyPr wrap="square" lIns="0" tIns="0" rIns="0" bIns="0" rtlCol="0" anchor="ctr"/>
          <a:lstStyle/>
          <a:p>
            <a:pPr algn="l" indent="0" marL="0">
              <a:buNone/>
            </a:pPr>
            <a:r>
              <a:rPr lang="en-US" sz="1400" b="1" dirty="0">
                <a:solidFill>
                  <a:srgbClr val="1F2A37"/>
                </a:solidFill>
                <a:latin typeface="Calibri" pitchFamily="34" charset="0"/>
                <a:ea typeface="Calibri" pitchFamily="34" charset="-122"/>
                <a:cs typeface="Calibri" pitchFamily="34" charset="-120"/>
              </a:rPr>
              <a:t>An irregular feminine noun, two adjectives in one sentence and one described object.</a:t>
            </a:r>
            <a:endParaRPr lang="en-US" sz="1400" dirty="0"/>
          </a:p>
        </p:txBody>
      </p:sp>
      <p:sp>
        <p:nvSpPr>
          <p:cNvPr id="37" name="Shape 34"/>
          <p:cNvSpPr/>
          <p:nvPr/>
        </p:nvSpPr>
        <p:spPr>
          <a:xfrm>
            <a:off x="8284464" y="4160520"/>
            <a:ext cx="3273552" cy="1783080"/>
          </a:xfrm>
          <a:prstGeom prst="roundRect">
            <a:avLst>
              <a:gd name="adj" fmla="val 4103"/>
            </a:avLst>
          </a:prstGeom>
          <a:solidFill>
            <a:srgbClr val="FFFFFF"/>
          </a:solidFill>
          <a:ln w="9525">
            <a:solidFill>
              <a:srgbClr val="FFFFFF"/>
            </a:solidFill>
            <a:prstDash val="solid"/>
          </a:ln>
        </p:spPr>
      </p:sp>
      <p:sp>
        <p:nvSpPr>
          <p:cNvPr id="38" name="Text 35"/>
          <p:cNvSpPr txBox="1"/>
          <p:nvPr/>
        </p:nvSpPr>
        <p:spPr>
          <a:xfrm>
            <a:off x="8375904" y="4224528"/>
            <a:ext cx="3090672" cy="1645920"/>
          </a:xfrm>
          <a:prstGeom prst="rect">
            <a:avLst/>
          </a:prstGeom>
          <a:noFill/>
          <a:ln/>
        </p:spPr>
        <p:txBody>
          <a:bodyPr wrap="square" lIns="0" tIns="0" rIns="0" bIns="0" rtlCol="0" anchor="t"/>
          <a:lstStyle/>
          <a:p>
            <a:pPr indent="0" marL="0">
              <a:buNone/>
            </a:pPr>
            <a:r>
              <a:rPr lang="en-US" sz="900" b="1" spc="200" kern="0" dirty="0">
                <a:solidFill>
                  <a:srgbClr val="B83227"/>
                </a:solidFill>
                <a:latin typeface="Calibri" pitchFamily="34" charset="0"/>
                <a:ea typeface="Calibri" pitchFamily="34" charset="-122"/>
                <a:cs typeface="Calibri" pitchFamily="34" charset="-120"/>
              </a:rPr>
              <a:t>HOW</a:t>
            </a:r>
            <a:endParaRPr lang="en-US" sz="900" dirty="0"/>
          </a:p>
          <a:p>
            <a:pPr indent="0" marL="0">
              <a:buNone/>
            </a:pPr>
            <a:r>
              <a:rPr lang="en-US" sz="1150" dirty="0">
                <a:solidFill>
                  <a:srgbClr val="1F2A37"/>
                </a:solidFill>
                <a:latin typeface="Calibri" pitchFamily="34" charset="0"/>
                <a:ea typeface="Calibri" pitchFamily="34" charset="-122"/>
                <a:cs typeface="Calibri" pitchFamily="34" charset="-120"/>
              </a:rPr>
              <a:t>Two adjectives in one sentence, a feminine noun without ة, and one object.</a:t>
            </a:r>
            <a:endParaRPr lang="en-US" sz="900" dirty="0"/>
          </a:p>
        </p:txBody>
      </p:sp>
      <p:sp>
        <p:nvSpPr>
          <p:cNvPr id="39" name="Text 36"/>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ea typeface="Calibri" pitchFamily="34" charset="-122"/>
                <a:cs typeface="Calibri" pitchFamily="34" charset="-120"/>
              </a:rPr>
              <a:t>29 / 36</a:t>
            </a:r>
            <a:endParaRPr lang="en-US" sz="85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34" charset="0"/>
                <a:ea typeface="Amiri" pitchFamily="34" charset="-122"/>
                <a:cs typeface="Amiri" pitchFamily="34" charset="-120"/>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ea typeface="Cambria" pitchFamily="34" charset="-122"/>
                <a:cs typeface="Cambria" pitchFamily="34" charset="-120"/>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ea typeface="Calibri" pitchFamily="34" charset="-122"/>
                <a:cs typeface="Calibri" pitchFamily="34" charset="-120"/>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ea typeface="Calibri" pitchFamily="34" charset="-122"/>
                <a:cs typeface="Calibri" pitchFamily="34" charset="-120"/>
              </a:rPr>
              <a:t>F2-L05 · Masculine &amp; Feminine</a:t>
            </a:r>
            <a:endParaRPr lang="en-US" sz="950" dirty="0"/>
          </a:p>
        </p:txBody>
      </p:sp>
      <p:sp>
        <p:nvSpPr>
          <p:cNvPr id="8" name="Shape 6"/>
          <p:cNvSpPr/>
          <p:nvPr/>
        </p:nvSpPr>
        <p:spPr>
          <a:xfrm>
            <a:off x="7388352" y="274320"/>
            <a:ext cx="1371600"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ea typeface="Calibri" pitchFamily="34" charset="-122"/>
                <a:cs typeface="Calibri" pitchFamily="34" charset="-120"/>
              </a:rPr>
              <a:t>YOU DO</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ea typeface="Calibri" pitchFamily="34" charset="-122"/>
                <a:cs typeface="Calibri" pitchFamily="34" charset="-120"/>
              </a:rPr>
              <a:t>YOU DO · SUPPORT · CORE AND DEVELOP FRAMES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ea typeface="Cambria" pitchFamily="34" charset="-122"/>
                <a:cs typeface="Cambria" pitchFamily="34" charset="-120"/>
              </a:rPr>
              <a:t>Sentence frames and word bank</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34" charset="0"/>
                <a:ea typeface="Amiri" pitchFamily="34" charset="-122"/>
                <a:cs typeface="Amiri" pitchFamily="34" charset="-120"/>
              </a:rPr>
              <a:t>قَوَالِبُ الجُمَلِ</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ea typeface="Calibri" pitchFamily="34" charset="-122"/>
                <a:cs typeface="Calibri" pitchFamily="34" charset="-120"/>
              </a:rPr>
              <a:t>Miftah Arabic · Foundation F2 · Greetings &amp; Introductions · Week 2 · Lesson 2 of 3</a:t>
            </a:r>
            <a:endParaRPr lang="en-US" sz="850" dirty="0"/>
          </a:p>
        </p:txBody>
      </p:sp>
      <p:sp>
        <p:nvSpPr>
          <p:cNvPr id="15" name="Shape 12"/>
          <p:cNvSpPr/>
          <p:nvPr/>
        </p:nvSpPr>
        <p:spPr>
          <a:xfrm>
            <a:off x="457200" y="1810512"/>
            <a:ext cx="5541264" cy="3566160"/>
          </a:xfrm>
          <a:prstGeom prst="roundRect">
            <a:avLst>
              <a:gd name="adj" fmla="val 2051"/>
            </a:avLst>
          </a:prstGeom>
          <a:solidFill>
            <a:srgbClr val="FCF1E0"/>
          </a:solidFill>
          <a:ln w="9525">
            <a:solidFill>
              <a:srgbClr val="C9780A"/>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94360" y="1901952"/>
            <a:ext cx="1051560" cy="274320"/>
          </a:xfrm>
          <a:prstGeom prst="roundRect">
            <a:avLst>
              <a:gd name="adj" fmla="val 50000"/>
            </a:avLst>
          </a:prstGeom>
          <a:solidFill>
            <a:srgbClr val="C9780A"/>
          </a:solidFill>
          <a:ln w="12700">
            <a:solidFill>
              <a:srgbClr val="C9780A"/>
            </a:solidFill>
            <a:prstDash val="solid"/>
          </a:ln>
        </p:spPr>
      </p:sp>
      <p:sp>
        <p:nvSpPr>
          <p:cNvPr id="17" name="Text 14"/>
          <p:cNvSpPr txBox="1"/>
          <p:nvPr/>
        </p:nvSpPr>
        <p:spPr>
          <a:xfrm>
            <a:off x="594360" y="1901952"/>
            <a:ext cx="105156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ea typeface="Calibri" pitchFamily="34" charset="-122"/>
                <a:cs typeface="Calibri" pitchFamily="34" charset="-120"/>
              </a:rPr>
              <a:t>DEVELOP</a:t>
            </a:r>
            <a:endParaRPr lang="en-US" sz="850" dirty="0"/>
          </a:p>
        </p:txBody>
      </p:sp>
      <p:sp>
        <p:nvSpPr>
          <p:cNvPr id="18" name="Text 15"/>
          <p:cNvSpPr txBox="1"/>
          <p:nvPr/>
        </p:nvSpPr>
        <p:spPr>
          <a:xfrm>
            <a:off x="2468880" y="2249424"/>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34" charset="0"/>
                <a:ea typeface="Amiri" pitchFamily="34" charset="-122"/>
                <a:cs typeface="Amiri" pitchFamily="34" charset="-120"/>
              </a:rPr>
              <a:t>هَذَا صَدِيقِي ______ .</a:t>
            </a:r>
            <a:endParaRPr lang="ar-SA" sz="1800" dirty="0"/>
          </a:p>
        </p:txBody>
      </p:sp>
      <p:sp>
        <p:nvSpPr>
          <p:cNvPr id="19" name="Text 16"/>
          <p:cNvSpPr txBox="1"/>
          <p:nvPr/>
        </p:nvSpPr>
        <p:spPr>
          <a:xfrm>
            <a:off x="594360" y="2249424"/>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ea typeface="Calibri" pitchFamily="34" charset="-122"/>
                <a:cs typeface="Calibri" pitchFamily="34" charset="-120"/>
              </a:rPr>
              <a:t>This is my friend …</a:t>
            </a:r>
            <a:endParaRPr lang="en-US" sz="1050" dirty="0"/>
          </a:p>
        </p:txBody>
      </p:sp>
      <p:sp>
        <p:nvSpPr>
          <p:cNvPr id="20" name="Text 17"/>
          <p:cNvSpPr txBox="1"/>
          <p:nvPr/>
        </p:nvSpPr>
        <p:spPr>
          <a:xfrm>
            <a:off x="2468880" y="2816352"/>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34" charset="0"/>
                <a:ea typeface="Amiri" pitchFamily="34" charset="-122"/>
                <a:cs typeface="Amiri" pitchFamily="34" charset="-120"/>
              </a:rPr>
              <a:t>هُوَ وَلَدٌ ______ وَ ______ .</a:t>
            </a:r>
            <a:endParaRPr lang="ar-SA" sz="1800" dirty="0"/>
          </a:p>
        </p:txBody>
      </p:sp>
      <p:sp>
        <p:nvSpPr>
          <p:cNvPr id="21" name="Text 18"/>
          <p:cNvSpPr txBox="1"/>
          <p:nvPr/>
        </p:nvSpPr>
        <p:spPr>
          <a:xfrm>
            <a:off x="594360" y="2816352"/>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ea typeface="Calibri" pitchFamily="34" charset="-122"/>
                <a:cs typeface="Calibri" pitchFamily="34" charset="-120"/>
              </a:rPr>
              <a:t>He is a … boy.</a:t>
            </a:r>
            <a:endParaRPr lang="en-US" sz="1050" dirty="0"/>
          </a:p>
        </p:txBody>
      </p:sp>
      <p:sp>
        <p:nvSpPr>
          <p:cNvPr id="22" name="Text 19"/>
          <p:cNvSpPr txBox="1"/>
          <p:nvPr/>
        </p:nvSpPr>
        <p:spPr>
          <a:xfrm>
            <a:off x="2468880" y="3383280"/>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34" charset="0"/>
                <a:ea typeface="Amiri" pitchFamily="34" charset="-122"/>
                <a:cs typeface="Amiri" pitchFamily="34" charset="-120"/>
              </a:rPr>
              <a:t>هَذِهِ زَمِيلَتِي ______ .</a:t>
            </a:r>
            <a:endParaRPr lang="ar-SA" sz="1800" dirty="0"/>
          </a:p>
        </p:txBody>
      </p:sp>
      <p:sp>
        <p:nvSpPr>
          <p:cNvPr id="23" name="Text 20"/>
          <p:cNvSpPr txBox="1"/>
          <p:nvPr/>
        </p:nvSpPr>
        <p:spPr>
          <a:xfrm>
            <a:off x="594360" y="3383280"/>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ea typeface="Calibri" pitchFamily="34" charset="-122"/>
                <a:cs typeface="Calibri" pitchFamily="34" charset="-120"/>
              </a:rPr>
              <a:t>This is my classmate (f.) …</a:t>
            </a:r>
            <a:endParaRPr lang="en-US" sz="1050" dirty="0"/>
          </a:p>
        </p:txBody>
      </p:sp>
      <p:sp>
        <p:nvSpPr>
          <p:cNvPr id="24" name="Text 21"/>
          <p:cNvSpPr txBox="1"/>
          <p:nvPr/>
        </p:nvSpPr>
        <p:spPr>
          <a:xfrm>
            <a:off x="2468880" y="3950208"/>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34" charset="0"/>
                <a:ea typeface="Amiri" pitchFamily="34" charset="-122"/>
                <a:cs typeface="Amiri" pitchFamily="34" charset="-120"/>
              </a:rPr>
              <a:t>هِيَ طَالِبَةٌ ______ وَ ______ .</a:t>
            </a:r>
            <a:endParaRPr lang="ar-SA" sz="1800" dirty="0"/>
          </a:p>
        </p:txBody>
      </p:sp>
      <p:sp>
        <p:nvSpPr>
          <p:cNvPr id="25" name="Text 22"/>
          <p:cNvSpPr txBox="1"/>
          <p:nvPr/>
        </p:nvSpPr>
        <p:spPr>
          <a:xfrm>
            <a:off x="594360" y="3950208"/>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ea typeface="Calibri" pitchFamily="34" charset="-122"/>
                <a:cs typeface="Calibri" pitchFamily="34" charset="-120"/>
              </a:rPr>
              <a:t>She is a … student.</a:t>
            </a:r>
            <a:endParaRPr lang="en-US" sz="1050" dirty="0"/>
          </a:p>
        </p:txBody>
      </p:sp>
      <p:sp>
        <p:nvSpPr>
          <p:cNvPr id="26" name="Text 23"/>
          <p:cNvSpPr txBox="1"/>
          <p:nvPr/>
        </p:nvSpPr>
        <p:spPr>
          <a:xfrm>
            <a:off x="2468880" y="4517136"/>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34" charset="0"/>
                <a:ea typeface="Amiri" pitchFamily="34" charset="-122"/>
                <a:cs typeface="Amiri" pitchFamily="34" charset="-120"/>
              </a:rPr>
              <a:t>فِي حَقِيبَتِي كِتَابٌ ______ .</a:t>
            </a:r>
            <a:endParaRPr lang="ar-SA" sz="1800" dirty="0"/>
          </a:p>
        </p:txBody>
      </p:sp>
      <p:sp>
        <p:nvSpPr>
          <p:cNvPr id="27" name="Text 24"/>
          <p:cNvSpPr txBox="1"/>
          <p:nvPr/>
        </p:nvSpPr>
        <p:spPr>
          <a:xfrm>
            <a:off x="594360" y="4517136"/>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ea typeface="Calibri" pitchFamily="34" charset="-122"/>
                <a:cs typeface="Calibri" pitchFamily="34" charset="-120"/>
              </a:rPr>
              <a:t>In my bag there is an old book.</a:t>
            </a:r>
            <a:endParaRPr lang="en-US" sz="1050" dirty="0"/>
          </a:p>
        </p:txBody>
      </p:sp>
      <p:sp>
        <p:nvSpPr>
          <p:cNvPr id="28" name="Shape 25"/>
          <p:cNvSpPr/>
          <p:nvPr/>
        </p:nvSpPr>
        <p:spPr>
          <a:xfrm>
            <a:off x="6190488" y="1810512"/>
            <a:ext cx="5541264" cy="3566160"/>
          </a:xfrm>
          <a:prstGeom prst="roundRect">
            <a:avLst>
              <a:gd name="adj" fmla="val 2051"/>
            </a:avLst>
          </a:prstGeom>
          <a:solidFill>
            <a:srgbClr val="E9F5EE"/>
          </a:solidFill>
          <a:ln w="9525">
            <a:solidFill>
              <a:srgbClr val="2E8B57"/>
            </a:solidFill>
            <a:prstDash val="solid"/>
          </a:ln>
          <a:effectLst>
            <a:outerShdw sx="100000" sy="100000" kx="0" ky="0" algn="bl" rotWithShape="0" blurRad="50800" dist="19050" dir="5400000">
              <a:srgbClr val="000000">
                <a:alpha val="10000"/>
              </a:srgbClr>
            </a:outerShdw>
          </a:effectLst>
        </p:spPr>
      </p:sp>
      <p:sp>
        <p:nvSpPr>
          <p:cNvPr id="29" name="Shape 26"/>
          <p:cNvSpPr/>
          <p:nvPr/>
        </p:nvSpPr>
        <p:spPr>
          <a:xfrm>
            <a:off x="10543032" y="1901952"/>
            <a:ext cx="1051560" cy="274320"/>
          </a:xfrm>
          <a:prstGeom prst="roundRect">
            <a:avLst>
              <a:gd name="adj" fmla="val 50000"/>
            </a:avLst>
          </a:prstGeom>
          <a:solidFill>
            <a:srgbClr val="2E8B57"/>
          </a:solidFill>
          <a:ln w="12700">
            <a:solidFill>
              <a:srgbClr val="2E8B57"/>
            </a:solidFill>
            <a:prstDash val="solid"/>
          </a:ln>
        </p:spPr>
      </p:sp>
      <p:sp>
        <p:nvSpPr>
          <p:cNvPr id="30" name="Text 27"/>
          <p:cNvSpPr txBox="1"/>
          <p:nvPr/>
        </p:nvSpPr>
        <p:spPr>
          <a:xfrm>
            <a:off x="10543032" y="1901952"/>
            <a:ext cx="105156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ea typeface="Calibri" pitchFamily="34" charset="-122"/>
                <a:cs typeface="Calibri" pitchFamily="34" charset="-120"/>
              </a:rPr>
              <a:t>CORE</a:t>
            </a:r>
            <a:endParaRPr lang="en-US" sz="850" dirty="0"/>
          </a:p>
        </p:txBody>
      </p:sp>
      <p:sp>
        <p:nvSpPr>
          <p:cNvPr id="31" name="Text 28"/>
          <p:cNvSpPr txBox="1"/>
          <p:nvPr/>
        </p:nvSpPr>
        <p:spPr>
          <a:xfrm>
            <a:off x="8202168" y="2249424"/>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34" charset="0"/>
                <a:ea typeface="Amiri" pitchFamily="34" charset="-122"/>
                <a:cs typeface="Amiri" pitchFamily="34" charset="-120"/>
              </a:rPr>
              <a:t>طَالِبٌ ______</a:t>
            </a:r>
            <a:endParaRPr lang="ar-SA" sz="1800" dirty="0"/>
          </a:p>
        </p:txBody>
      </p:sp>
      <p:sp>
        <p:nvSpPr>
          <p:cNvPr id="32" name="Text 29"/>
          <p:cNvSpPr txBox="1"/>
          <p:nvPr/>
        </p:nvSpPr>
        <p:spPr>
          <a:xfrm>
            <a:off x="6327648" y="2249424"/>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ea typeface="Calibri" pitchFamily="34" charset="-122"/>
                <a:cs typeface="Calibri" pitchFamily="34" charset="-120"/>
              </a:rPr>
              <a:t>a new male student</a:t>
            </a:r>
            <a:endParaRPr lang="en-US" sz="1050" dirty="0"/>
          </a:p>
        </p:txBody>
      </p:sp>
      <p:sp>
        <p:nvSpPr>
          <p:cNvPr id="33" name="Text 30"/>
          <p:cNvSpPr txBox="1"/>
          <p:nvPr/>
        </p:nvSpPr>
        <p:spPr>
          <a:xfrm>
            <a:off x="8202168" y="2816352"/>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34" charset="0"/>
                <a:ea typeface="Amiri" pitchFamily="34" charset="-122"/>
                <a:cs typeface="Amiri" pitchFamily="34" charset="-120"/>
              </a:rPr>
              <a:t>طَالِبَةٌ ______</a:t>
            </a:r>
            <a:endParaRPr lang="ar-SA" sz="1800" dirty="0"/>
          </a:p>
        </p:txBody>
      </p:sp>
      <p:sp>
        <p:nvSpPr>
          <p:cNvPr id="34" name="Text 31"/>
          <p:cNvSpPr txBox="1"/>
          <p:nvPr/>
        </p:nvSpPr>
        <p:spPr>
          <a:xfrm>
            <a:off x="6327648" y="2816352"/>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ea typeface="Calibri" pitchFamily="34" charset="-122"/>
                <a:cs typeface="Calibri" pitchFamily="34" charset="-120"/>
              </a:rPr>
              <a:t>a new female student</a:t>
            </a:r>
            <a:endParaRPr lang="en-US" sz="1050" dirty="0"/>
          </a:p>
        </p:txBody>
      </p:sp>
      <p:sp>
        <p:nvSpPr>
          <p:cNvPr id="35" name="Text 32"/>
          <p:cNvSpPr txBox="1"/>
          <p:nvPr/>
        </p:nvSpPr>
        <p:spPr>
          <a:xfrm>
            <a:off x="8202168" y="3383280"/>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34" charset="0"/>
                <a:ea typeface="Amiri" pitchFamily="34" charset="-122"/>
                <a:cs typeface="Amiri" pitchFamily="34" charset="-120"/>
              </a:rPr>
              <a:t>صَدِيقَةٌ ______</a:t>
            </a:r>
            <a:endParaRPr lang="ar-SA" sz="1800" dirty="0"/>
          </a:p>
        </p:txBody>
      </p:sp>
      <p:sp>
        <p:nvSpPr>
          <p:cNvPr id="36" name="Text 33"/>
          <p:cNvSpPr txBox="1"/>
          <p:nvPr/>
        </p:nvSpPr>
        <p:spPr>
          <a:xfrm>
            <a:off x="6327648" y="3383280"/>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ea typeface="Calibri" pitchFamily="34" charset="-122"/>
                <a:cs typeface="Calibri" pitchFamily="34" charset="-120"/>
              </a:rPr>
              <a:t>a kind friend (f.)</a:t>
            </a:r>
            <a:endParaRPr lang="en-US" sz="1050" dirty="0"/>
          </a:p>
        </p:txBody>
      </p:sp>
      <p:sp>
        <p:nvSpPr>
          <p:cNvPr id="37" name="Text 34"/>
          <p:cNvSpPr txBox="1"/>
          <p:nvPr/>
        </p:nvSpPr>
        <p:spPr>
          <a:xfrm>
            <a:off x="8202168" y="3950208"/>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34" charset="0"/>
                <a:ea typeface="Amiri" pitchFamily="34" charset="-122"/>
                <a:cs typeface="Amiri" pitchFamily="34" charset="-120"/>
              </a:rPr>
              <a:t>أَخٌ ______</a:t>
            </a:r>
            <a:endParaRPr lang="ar-SA" sz="1800" dirty="0"/>
          </a:p>
        </p:txBody>
      </p:sp>
      <p:sp>
        <p:nvSpPr>
          <p:cNvPr id="38" name="Text 35"/>
          <p:cNvSpPr txBox="1"/>
          <p:nvPr/>
        </p:nvSpPr>
        <p:spPr>
          <a:xfrm>
            <a:off x="6327648" y="3950208"/>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ea typeface="Calibri" pitchFamily="34" charset="-122"/>
                <a:cs typeface="Calibri" pitchFamily="34" charset="-120"/>
              </a:rPr>
              <a:t>a tall brother</a:t>
            </a:r>
            <a:endParaRPr lang="en-US" sz="1050" dirty="0"/>
          </a:p>
        </p:txBody>
      </p:sp>
      <p:sp>
        <p:nvSpPr>
          <p:cNvPr id="39" name="Text 36"/>
          <p:cNvSpPr txBox="1"/>
          <p:nvPr/>
        </p:nvSpPr>
        <p:spPr>
          <a:xfrm>
            <a:off x="8202168" y="4517136"/>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34" charset="0"/>
                <a:ea typeface="Amiri" pitchFamily="34" charset="-122"/>
                <a:cs typeface="Amiri" pitchFamily="34" charset="-120"/>
              </a:rPr>
              <a:t>أُخْتٌ ______</a:t>
            </a:r>
            <a:endParaRPr lang="ar-SA" sz="1800" dirty="0"/>
          </a:p>
        </p:txBody>
      </p:sp>
      <p:sp>
        <p:nvSpPr>
          <p:cNvPr id="40" name="Text 37"/>
          <p:cNvSpPr txBox="1"/>
          <p:nvPr/>
        </p:nvSpPr>
        <p:spPr>
          <a:xfrm>
            <a:off x="6327648" y="4517136"/>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ea typeface="Calibri" pitchFamily="34" charset="-122"/>
                <a:cs typeface="Calibri" pitchFamily="34" charset="-120"/>
              </a:rPr>
              <a:t>a short sister</a:t>
            </a:r>
            <a:endParaRPr lang="en-US" sz="1050" dirty="0"/>
          </a:p>
        </p:txBody>
      </p:sp>
      <p:sp>
        <p:nvSpPr>
          <p:cNvPr id="41" name="Shape 38"/>
          <p:cNvSpPr/>
          <p:nvPr/>
        </p:nvSpPr>
        <p:spPr>
          <a:xfrm>
            <a:off x="457200" y="5504688"/>
            <a:ext cx="11274552" cy="804672"/>
          </a:xfrm>
          <a:prstGeom prst="roundRect">
            <a:avLst>
              <a:gd name="adj" fmla="val 909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2" name="Text 39"/>
          <p:cNvSpPr txBox="1"/>
          <p:nvPr/>
        </p:nvSpPr>
        <p:spPr>
          <a:xfrm>
            <a:off x="640080" y="5541264"/>
            <a:ext cx="1828800" cy="237744"/>
          </a:xfrm>
          <a:prstGeom prst="rect">
            <a:avLst/>
          </a:prstGeom>
          <a:noFill/>
          <a:ln/>
        </p:spPr>
        <p:txBody>
          <a:bodyPr wrap="square" lIns="0" tIns="0" rIns="0" bIns="0" rtlCol="0" anchor="ctr"/>
          <a:lstStyle/>
          <a:p>
            <a:pPr algn="l" indent="0" marL="0">
              <a:buNone/>
            </a:pPr>
            <a:r>
              <a:rPr lang="en-US" sz="950" b="1" spc="200" kern="0" dirty="0">
                <a:solidFill>
                  <a:srgbClr val="8A6D1E"/>
                </a:solidFill>
                <a:latin typeface="Calibri" pitchFamily="34" charset="0"/>
                <a:ea typeface="Calibri" pitchFamily="34" charset="-122"/>
                <a:cs typeface="Calibri" pitchFamily="34" charset="-120"/>
              </a:rPr>
              <a:t>WORD BANK</a:t>
            </a:r>
            <a:endParaRPr lang="en-US" sz="950" dirty="0"/>
          </a:p>
        </p:txBody>
      </p:sp>
      <p:sp>
        <p:nvSpPr>
          <p:cNvPr id="43" name="Text 40"/>
          <p:cNvSpPr txBox="1"/>
          <p:nvPr/>
        </p:nvSpPr>
        <p:spPr>
          <a:xfrm>
            <a:off x="640080" y="5760720"/>
            <a:ext cx="10908792" cy="512064"/>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34" charset="0"/>
                <a:ea typeface="Amiri" pitchFamily="34" charset="-122"/>
                <a:cs typeface="Amiri" pitchFamily="34" charset="-120"/>
              </a:rPr>
              <a:t>جَدِيدٌ  ·  جَدِيدَةٌ  ·  قَدِيمٌ  ·  كَبِيرٌ  ·  صَغِيرَةٌ  ·  جَمِيلَةٌ  ·  ذَكِيٌّ  ·  ذَكِيَّةٌ  ·  لَطِيفٌ  ·  لَطِيفَةٌ  ·  طَوِيلٌ  ·  قَصِيرَةٌ  ·  سَعِيدٌ  ·  سَعِيدَةٌ</a:t>
            </a:r>
            <a:endParaRPr lang="ar-SA" sz="1600" dirty="0"/>
          </a:p>
        </p:txBody>
      </p:sp>
      <p:sp>
        <p:nvSpPr>
          <p:cNvPr id="44" name="Text 4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ea typeface="Calibri" pitchFamily="34" charset="-122"/>
                <a:cs typeface="Calibri" pitchFamily="34" charset="-120"/>
              </a:rPr>
              <a:t>30 / 36</a:t>
            </a:r>
            <a:endParaRPr lang="en-US" sz="85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34" charset="0"/>
                <a:ea typeface="Amiri" pitchFamily="34" charset="-122"/>
                <a:cs typeface="Amiri" pitchFamily="34" charset="-120"/>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ea typeface="Cambria" pitchFamily="34" charset="-122"/>
                <a:cs typeface="Cambria" pitchFamily="34" charset="-120"/>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ea typeface="Calibri" pitchFamily="34" charset="-122"/>
                <a:cs typeface="Calibri" pitchFamily="34" charset="-120"/>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ea typeface="Calibri" pitchFamily="34" charset="-122"/>
                <a:cs typeface="Calibri" pitchFamily="34" charset="-120"/>
              </a:rPr>
              <a:t>F2-L05 · Masculine &amp; Feminine</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ea typeface="Calibri" pitchFamily="34" charset="-122"/>
                <a:cs typeface="Calibri" pitchFamily="34" charset="-120"/>
              </a:rPr>
              <a:t>FEEDBACK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ea typeface="Calibri" pitchFamily="34" charset="-122"/>
                <a:cs typeface="Calibri" pitchFamily="34" charset="-120"/>
              </a:rPr>
              <a:t>FEEDBACK · COMPARE WITH THE MODEL</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ea typeface="Cambria" pitchFamily="34" charset="-122"/>
                <a:cs typeface="Cambria" pitchFamily="34" charset="-120"/>
              </a:rPr>
              <a:t>What a strong answer looks like</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34" charset="0"/>
                <a:ea typeface="Amiri" pitchFamily="34" charset="-122"/>
                <a:cs typeface="Amiri" pitchFamily="34" charset="-120"/>
              </a:rPr>
              <a:t>نَمُوذَجُ الإِجَابَةِ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ea typeface="Calibri" pitchFamily="34" charset="-122"/>
                <a:cs typeface="Calibri" pitchFamily="34" charset="-120"/>
              </a:rPr>
              <a:t>Miftah Arabic · Foundation F2 · Greetings &amp; Introductions · Week 2 · Lesson 2 of 3</a:t>
            </a:r>
            <a:endParaRPr lang="en-US" sz="850" dirty="0"/>
          </a:p>
        </p:txBody>
      </p:sp>
      <p:sp>
        <p:nvSpPr>
          <p:cNvPr id="15" name="Shape 12"/>
          <p:cNvSpPr/>
          <p:nvPr/>
        </p:nvSpPr>
        <p:spPr>
          <a:xfrm>
            <a:off x="457200" y="1810512"/>
            <a:ext cx="11274552" cy="3246120"/>
          </a:xfrm>
          <a:prstGeom prst="roundRect">
            <a:avLst>
              <a:gd name="adj" fmla="val 225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685800" y="1938528"/>
            <a:ext cx="10817352" cy="2990088"/>
          </a:xfrm>
          <a:prstGeom prst="rect">
            <a:avLst/>
          </a:prstGeom>
          <a:noFill/>
          <a:ln/>
        </p:spPr>
        <p:txBody>
          <a:bodyPr wrap="square" lIns="0" tIns="0" rIns="0" bIns="0" rtlCol="0" anchor="ctr"/>
          <a:lstStyle/>
          <a:p>
            <a:pPr rtl="1" algn="r" indent="0" marL="0">
              <a:lnSpc>
                <a:spcPct val="120000"/>
              </a:lnSpc>
              <a:buNone/>
            </a:pPr>
            <a:r>
              <a:rPr lang="ar-SA" altLang="en-US" sz="2600" dirty="0">
                <a:solidFill>
                  <a:srgbClr val="1F2A37"/>
                </a:solidFill>
                <a:latin typeface="Amiri" pitchFamily="34" charset="0"/>
                <a:ea typeface="Amiri" pitchFamily="34" charset="-122"/>
                <a:cs typeface="Amiri" pitchFamily="34" charset="-120"/>
              </a:rPr>
              <a:t>هَذَا صَدِيقِي يُوسُفُ. هُوَ وَلَدٌ ذَكِيٌّ وَلَطِيفٌ وَطَوِيلٌ.</a:t>
            </a:r>
            <a:endParaRPr lang="ar-SA" sz="2600" dirty="0"/>
          </a:p>
          <a:p>
            <a:pPr rtl="1" algn="r" indent="0" marL="0">
              <a:lnSpc>
                <a:spcPct val="120000"/>
              </a:lnSpc>
              <a:buNone/>
            </a:pPr>
            <a:r>
              <a:rPr lang="ar-SA" altLang="en-US" sz="2600" dirty="0">
                <a:solidFill>
                  <a:srgbClr val="1F2A37"/>
                </a:solidFill>
                <a:latin typeface="Amiri" pitchFamily="34" charset="0"/>
                <a:ea typeface="Amiri" pitchFamily="34" charset="-122"/>
                <a:cs typeface="Amiri" pitchFamily="34" charset="-120"/>
              </a:rPr>
              <a:t>هَذِهِ زَمِيلَتِي فَاطِمَةُ. هِيَ طَالِبَةٌ جَدِيدَةٌ وَسَعِيدَةٌ.</a:t>
            </a:r>
            <a:endParaRPr lang="ar-SA" sz="2600" dirty="0"/>
          </a:p>
          <a:p>
            <a:pPr rtl="1" algn="r" indent="0" marL="0">
              <a:lnSpc>
                <a:spcPct val="120000"/>
              </a:lnSpc>
              <a:buNone/>
            </a:pPr>
            <a:r>
              <a:rPr lang="ar-SA" altLang="en-US" sz="2600" dirty="0">
                <a:solidFill>
                  <a:srgbClr val="1F2A37"/>
                </a:solidFill>
                <a:latin typeface="Amiri" pitchFamily="34" charset="0"/>
                <a:ea typeface="Amiri" pitchFamily="34" charset="-122"/>
                <a:cs typeface="Amiri" pitchFamily="34" charset="-120"/>
              </a:rPr>
              <a:t>وَهَذِهِ أُخْتِي. هِيَ بِنْتٌ صَغِيرَةٌ وَجَمِيلَةٌ.</a:t>
            </a:r>
            <a:endParaRPr lang="ar-SA" sz="2600" dirty="0"/>
          </a:p>
        </p:txBody>
      </p:sp>
      <p:sp>
        <p:nvSpPr>
          <p:cNvPr id="17" name="Shape 14"/>
          <p:cNvSpPr/>
          <p:nvPr/>
        </p:nvSpPr>
        <p:spPr>
          <a:xfrm>
            <a:off x="457200" y="5166360"/>
            <a:ext cx="11274552" cy="1024128"/>
          </a:xfrm>
          <a:prstGeom prst="roundRect">
            <a:avLst>
              <a:gd name="adj" fmla="val 7143"/>
            </a:avLst>
          </a:prstGeom>
          <a:solidFill>
            <a:srgbClr val="F4F1EA"/>
          </a:solidFill>
          <a:ln w="9525">
            <a:solidFill>
              <a:srgbClr val="F4F1EA"/>
            </a:solidFill>
            <a:prstDash val="solid"/>
          </a:ln>
        </p:spPr>
      </p:sp>
      <p:sp>
        <p:nvSpPr>
          <p:cNvPr id="18" name="Text 15"/>
          <p:cNvSpPr txBox="1"/>
          <p:nvPr/>
        </p:nvSpPr>
        <p:spPr>
          <a:xfrm>
            <a:off x="640080" y="5202936"/>
            <a:ext cx="10908792" cy="950976"/>
          </a:xfrm>
          <a:prstGeom prst="rect">
            <a:avLst/>
          </a:prstGeom>
          <a:noFill/>
          <a:ln/>
        </p:spPr>
        <p:txBody>
          <a:bodyPr wrap="square" lIns="0" tIns="0" rIns="0" bIns="0" rtlCol="0" anchor="t"/>
          <a:lstStyle/>
          <a:p>
            <a:pPr algn="l" indent="0" marL="0">
              <a:buNone/>
            </a:pPr>
            <a:r>
              <a:rPr lang="en-US" sz="1150" i="1" dirty="0">
                <a:solidFill>
                  <a:srgbClr val="5A6472"/>
                </a:solidFill>
                <a:latin typeface="Calibri" pitchFamily="34" charset="0"/>
                <a:ea typeface="Calibri" pitchFamily="34" charset="-122"/>
                <a:cs typeface="Calibri" pitchFamily="34" charset="-120"/>
              </a:rPr>
              <a:t>This is my friend Yusuf. He is a clever, kind and tall boy. — This is my classmate Fatima. She is a new and happy student. — And this is my sister. She is a small and beautiful girl.</a:t>
            </a:r>
            <a:endParaRPr lang="en-US" sz="1150" dirty="0"/>
          </a:p>
        </p:txBody>
      </p:sp>
      <p:sp>
        <p:nvSpPr>
          <p:cNvPr id="19" name="Text 16"/>
          <p:cNvSpPr txBox="1"/>
          <p:nvPr/>
        </p:nvSpPr>
        <p:spPr>
          <a:xfrm>
            <a:off x="457200" y="6053328"/>
            <a:ext cx="2194560" cy="256032"/>
          </a:xfrm>
          <a:prstGeom prst="rect">
            <a:avLst/>
          </a:prstGeom>
          <a:noFill/>
          <a:ln/>
        </p:spPr>
        <p:txBody>
          <a:bodyPr wrap="square" lIns="0" tIns="0" rIns="0" bIns="0" rtlCol="0" anchor="ctr"/>
          <a:lstStyle/>
          <a:p>
            <a:pPr algn="l" indent="0" marL="0">
              <a:buNone/>
            </a:pPr>
            <a:r>
              <a:rPr lang="en-US" sz="950" b="1" spc="200" kern="0" dirty="0">
                <a:solidFill>
                  <a:srgbClr val="8A6D1E"/>
                </a:solidFill>
                <a:latin typeface="Calibri" pitchFamily="34" charset="0"/>
                <a:ea typeface="Calibri" pitchFamily="34" charset="-122"/>
                <a:cs typeface="Calibri" pitchFamily="34" charset="-120"/>
              </a:rPr>
              <a:t>FIND IN THE MODEL:</a:t>
            </a:r>
            <a:endParaRPr lang="en-US" sz="950" dirty="0"/>
          </a:p>
        </p:txBody>
      </p:sp>
      <p:sp>
        <p:nvSpPr>
          <p:cNvPr id="20" name="Shape 17"/>
          <p:cNvSpPr/>
          <p:nvPr/>
        </p:nvSpPr>
        <p:spPr>
          <a:xfrm>
            <a:off x="2697480" y="6035040"/>
            <a:ext cx="2148840" cy="274320"/>
          </a:xfrm>
          <a:prstGeom prst="roundRect">
            <a:avLst>
              <a:gd name="adj" fmla="val 50000"/>
            </a:avLst>
          </a:prstGeom>
          <a:solidFill>
            <a:srgbClr val="1D5FBF"/>
          </a:solidFill>
          <a:ln w="12700">
            <a:solidFill>
              <a:srgbClr val="1D5FBF"/>
            </a:solidFill>
            <a:prstDash val="solid"/>
          </a:ln>
        </p:spPr>
      </p:sp>
      <p:sp>
        <p:nvSpPr>
          <p:cNvPr id="21" name="Text 18"/>
          <p:cNvSpPr txBox="1"/>
          <p:nvPr/>
        </p:nvSpPr>
        <p:spPr>
          <a:xfrm>
            <a:off x="2697480" y="6035040"/>
            <a:ext cx="2148840" cy="274320"/>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ea typeface="Calibri" pitchFamily="34" charset="-122"/>
                <a:cs typeface="Calibri" pitchFamily="34" charset="-120"/>
              </a:rPr>
              <a:t>هَذَا / هَذِهِ</a:t>
            </a:r>
            <a:endParaRPr lang="en-US" sz="950" dirty="0"/>
          </a:p>
        </p:txBody>
      </p:sp>
      <p:sp>
        <p:nvSpPr>
          <p:cNvPr id="22" name="Shape 19"/>
          <p:cNvSpPr/>
          <p:nvPr/>
        </p:nvSpPr>
        <p:spPr>
          <a:xfrm>
            <a:off x="4983480" y="6035040"/>
            <a:ext cx="2148840" cy="274320"/>
          </a:xfrm>
          <a:prstGeom prst="roundRect">
            <a:avLst>
              <a:gd name="adj" fmla="val 50000"/>
            </a:avLst>
          </a:prstGeom>
          <a:solidFill>
            <a:srgbClr val="1B3B6F"/>
          </a:solidFill>
          <a:ln w="12700">
            <a:solidFill>
              <a:srgbClr val="1B3B6F"/>
            </a:solidFill>
            <a:prstDash val="solid"/>
          </a:ln>
        </p:spPr>
      </p:sp>
      <p:sp>
        <p:nvSpPr>
          <p:cNvPr id="23" name="Text 20"/>
          <p:cNvSpPr txBox="1"/>
          <p:nvPr/>
        </p:nvSpPr>
        <p:spPr>
          <a:xfrm>
            <a:off x="4983480" y="6035040"/>
            <a:ext cx="2148840" cy="274320"/>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ea typeface="Calibri" pitchFamily="34" charset="-122"/>
                <a:cs typeface="Calibri" pitchFamily="34" charset="-120"/>
              </a:rPr>
              <a:t>noun then adjective</a:t>
            </a:r>
            <a:endParaRPr lang="en-US" sz="950" dirty="0"/>
          </a:p>
        </p:txBody>
      </p:sp>
      <p:sp>
        <p:nvSpPr>
          <p:cNvPr id="24" name="Shape 21"/>
          <p:cNvSpPr/>
          <p:nvPr/>
        </p:nvSpPr>
        <p:spPr>
          <a:xfrm>
            <a:off x="7269480" y="6035040"/>
            <a:ext cx="2148840" cy="274320"/>
          </a:xfrm>
          <a:prstGeom prst="roundRect">
            <a:avLst>
              <a:gd name="adj" fmla="val 50000"/>
            </a:avLst>
          </a:prstGeom>
          <a:solidFill>
            <a:srgbClr val="C77700"/>
          </a:solidFill>
          <a:ln w="12700">
            <a:solidFill>
              <a:srgbClr val="C77700"/>
            </a:solidFill>
            <a:prstDash val="solid"/>
          </a:ln>
        </p:spPr>
      </p:sp>
      <p:sp>
        <p:nvSpPr>
          <p:cNvPr id="25" name="Text 22"/>
          <p:cNvSpPr txBox="1"/>
          <p:nvPr/>
        </p:nvSpPr>
        <p:spPr>
          <a:xfrm>
            <a:off x="7269480" y="6035040"/>
            <a:ext cx="2148840" cy="274320"/>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ea typeface="Calibri" pitchFamily="34" charset="-122"/>
                <a:cs typeface="Calibri" pitchFamily="34" charset="-120"/>
              </a:rPr>
              <a:t>five adjectives</a:t>
            </a:r>
            <a:endParaRPr lang="en-US" sz="950" dirty="0"/>
          </a:p>
        </p:txBody>
      </p:sp>
      <p:sp>
        <p:nvSpPr>
          <p:cNvPr id="26" name="Shape 23"/>
          <p:cNvSpPr/>
          <p:nvPr/>
        </p:nvSpPr>
        <p:spPr>
          <a:xfrm>
            <a:off x="9555480" y="6035040"/>
            <a:ext cx="2148840" cy="274320"/>
          </a:xfrm>
          <a:prstGeom prst="roundRect">
            <a:avLst>
              <a:gd name="adj" fmla="val 50000"/>
            </a:avLst>
          </a:prstGeom>
          <a:solidFill>
            <a:srgbClr val="7B3FA0"/>
          </a:solidFill>
          <a:ln w="12700">
            <a:solidFill>
              <a:srgbClr val="7B3FA0"/>
            </a:solidFill>
            <a:prstDash val="solid"/>
          </a:ln>
        </p:spPr>
      </p:sp>
      <p:sp>
        <p:nvSpPr>
          <p:cNvPr id="27" name="Text 24"/>
          <p:cNvSpPr txBox="1"/>
          <p:nvPr/>
        </p:nvSpPr>
        <p:spPr>
          <a:xfrm>
            <a:off x="9555480" y="6035040"/>
            <a:ext cx="2148840" cy="274320"/>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ea typeface="Calibri" pitchFamily="34" charset="-122"/>
                <a:cs typeface="Calibri" pitchFamily="34" charset="-120"/>
              </a:rPr>
              <a:t>a feminine noun without ة</a:t>
            </a:r>
            <a:endParaRPr lang="en-US" sz="950" dirty="0"/>
          </a:p>
        </p:txBody>
      </p:sp>
      <p:sp>
        <p:nvSpPr>
          <p:cNvPr id="28" name="Text 2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ea typeface="Calibri" pitchFamily="34" charset="-122"/>
                <a:cs typeface="Calibri" pitchFamily="34" charset="-120"/>
              </a:rPr>
              <a:t>31 / 36</a:t>
            </a:r>
            <a:endParaRPr lang="en-US" sz="85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34" charset="0"/>
                <a:ea typeface="Amiri" pitchFamily="34" charset="-122"/>
                <a:cs typeface="Amiri" pitchFamily="34" charset="-120"/>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ea typeface="Cambria" pitchFamily="34" charset="-122"/>
                <a:cs typeface="Cambria" pitchFamily="34" charset="-120"/>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ea typeface="Calibri" pitchFamily="34" charset="-122"/>
                <a:cs typeface="Calibri" pitchFamily="34" charset="-120"/>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ea typeface="Calibri" pitchFamily="34" charset="-122"/>
                <a:cs typeface="Calibri" pitchFamily="34" charset="-120"/>
              </a:rPr>
              <a:t>F2-L05 · Masculine &amp; Feminine</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ea typeface="Calibri" pitchFamily="34" charset="-122"/>
                <a:cs typeface="Calibri" pitchFamily="34" charset="-120"/>
              </a:rPr>
              <a:t>FEEDBACK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ea typeface="Calibri" pitchFamily="34" charset="-122"/>
                <a:cs typeface="Calibri" pitchFamily="34" charset="-120"/>
              </a:rPr>
              <a:t>FEEDBACK · SUCCESS CRITERIA</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ea typeface="Cambria" pitchFamily="34" charset="-122"/>
                <a:cs typeface="Cambria" pitchFamily="34" charset="-120"/>
              </a:rPr>
              <a:t>Check your work</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34" charset="0"/>
                <a:ea typeface="Amiri" pitchFamily="34" charset="-122"/>
                <a:cs typeface="Amiri" pitchFamily="34" charset="-120"/>
              </a:rPr>
              <a:t>قَيِّمْ عَمَلَكَ</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ea typeface="Calibri" pitchFamily="34" charset="-122"/>
                <a:cs typeface="Calibri" pitchFamily="34" charset="-120"/>
              </a:rPr>
              <a:t>Miftah Arabic · Foundation F2 · Greetings &amp; Introductions · Week 2 · Lesson 2 of 3</a:t>
            </a:r>
            <a:endParaRPr lang="en-US" sz="850" dirty="0"/>
          </a:p>
        </p:txBody>
      </p:sp>
      <p:sp>
        <p:nvSpPr>
          <p:cNvPr id="15" name="Shape 12"/>
          <p:cNvSpPr/>
          <p:nvPr/>
        </p:nvSpPr>
        <p:spPr>
          <a:xfrm>
            <a:off x="457200" y="1810512"/>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85800" y="2086661"/>
            <a:ext cx="219456" cy="219456"/>
          </a:xfrm>
          <a:prstGeom prst="rect">
            <a:avLst/>
          </a:prstGeom>
          <a:solidFill>
            <a:srgbClr val="FFFFFF"/>
          </a:solidFill>
          <a:ln w="19050">
            <a:solidFill>
              <a:srgbClr val="2E8B57"/>
            </a:solidFill>
            <a:prstDash val="solid"/>
          </a:ln>
        </p:spPr>
      </p:sp>
      <p:sp>
        <p:nvSpPr>
          <p:cNvPr id="17" name="Text 14"/>
          <p:cNvSpPr txBox="1"/>
          <p:nvPr/>
        </p:nvSpPr>
        <p:spPr>
          <a:xfrm>
            <a:off x="1097280" y="1810512"/>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ea typeface="Calibri" pitchFamily="34" charset="-122"/>
                <a:cs typeface="Calibri" pitchFamily="34" charset="-120"/>
              </a:rPr>
              <a:t>Each adjective comes after its noun.</a:t>
            </a:r>
            <a:endParaRPr lang="en-US" sz="1300" dirty="0"/>
          </a:p>
        </p:txBody>
      </p:sp>
      <p:sp>
        <p:nvSpPr>
          <p:cNvPr id="18" name="Shape 15"/>
          <p:cNvSpPr/>
          <p:nvPr/>
        </p:nvSpPr>
        <p:spPr>
          <a:xfrm>
            <a:off x="6583680" y="2068373"/>
            <a:ext cx="1097280" cy="256032"/>
          </a:xfrm>
          <a:prstGeom prst="roundRect">
            <a:avLst>
              <a:gd name="adj" fmla="val 50000"/>
            </a:avLst>
          </a:prstGeom>
          <a:solidFill>
            <a:srgbClr val="2E8B57"/>
          </a:solidFill>
          <a:ln w="12700">
            <a:solidFill>
              <a:srgbClr val="2E8B57"/>
            </a:solidFill>
            <a:prstDash val="solid"/>
          </a:ln>
        </p:spPr>
      </p:sp>
      <p:sp>
        <p:nvSpPr>
          <p:cNvPr id="19" name="Text 16"/>
          <p:cNvSpPr txBox="1"/>
          <p:nvPr/>
        </p:nvSpPr>
        <p:spPr>
          <a:xfrm>
            <a:off x="6583680" y="2068373"/>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ea typeface="Calibri" pitchFamily="34" charset="-122"/>
                <a:cs typeface="Calibri" pitchFamily="34" charset="-120"/>
              </a:rPr>
              <a:t>CORE</a:t>
            </a:r>
            <a:endParaRPr lang="en-US" sz="800" dirty="0"/>
          </a:p>
        </p:txBody>
      </p:sp>
      <p:sp>
        <p:nvSpPr>
          <p:cNvPr id="20" name="Shape 17"/>
          <p:cNvSpPr/>
          <p:nvPr/>
        </p:nvSpPr>
        <p:spPr>
          <a:xfrm>
            <a:off x="457200" y="2710282"/>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1" name="Shape 18"/>
          <p:cNvSpPr/>
          <p:nvPr/>
        </p:nvSpPr>
        <p:spPr>
          <a:xfrm>
            <a:off x="685800" y="2986430"/>
            <a:ext cx="219456" cy="219456"/>
          </a:xfrm>
          <a:prstGeom prst="rect">
            <a:avLst/>
          </a:prstGeom>
          <a:solidFill>
            <a:srgbClr val="FFFFFF"/>
          </a:solidFill>
          <a:ln w="19050">
            <a:solidFill>
              <a:srgbClr val="2E8B57"/>
            </a:solidFill>
            <a:prstDash val="solid"/>
          </a:ln>
        </p:spPr>
      </p:sp>
      <p:sp>
        <p:nvSpPr>
          <p:cNvPr id="22" name="Text 19"/>
          <p:cNvSpPr txBox="1"/>
          <p:nvPr/>
        </p:nvSpPr>
        <p:spPr>
          <a:xfrm>
            <a:off x="1097280" y="2710282"/>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ea typeface="Calibri" pitchFamily="34" charset="-122"/>
                <a:cs typeface="Calibri" pitchFamily="34" charset="-120"/>
              </a:rPr>
              <a:t>For a feminine noun, my adjective has </a:t>
            </a:r>
            <a:pPr algn="l" indent="0" marL="0">
              <a:buNone/>
            </a:pPr>
            <a:r>
              <a:rPr lang="ar-SA" altLang="en-US" sz="1700" dirty="0">
                <a:solidFill>
                  <a:srgbClr val="1F2A37"/>
                </a:solidFill>
                <a:latin typeface="Amiri" pitchFamily="34" charset="0"/>
                <a:ea typeface="Amiri" pitchFamily="34" charset="-122"/>
                <a:cs typeface="Amiri" pitchFamily="34" charset="-120"/>
              </a:rPr>
              <a:t>ة</a:t>
            </a:r>
            <a:pPr algn="l" indent="0" marL="0">
              <a:buNone/>
            </a:pPr>
            <a:r>
              <a:rPr lang="en-US" sz="1300" dirty="0">
                <a:solidFill>
                  <a:srgbClr val="1F2A37"/>
                </a:solidFill>
                <a:latin typeface="Calibri" pitchFamily="34" charset="0"/>
                <a:ea typeface="Calibri" pitchFamily="34" charset="-122"/>
                <a:cs typeface="Calibri" pitchFamily="34" charset="-120"/>
              </a:rPr>
              <a:t>.</a:t>
            </a:r>
            <a:endParaRPr lang="en-US" sz="1300" dirty="0"/>
          </a:p>
        </p:txBody>
      </p:sp>
      <p:sp>
        <p:nvSpPr>
          <p:cNvPr id="23" name="Shape 20"/>
          <p:cNvSpPr/>
          <p:nvPr/>
        </p:nvSpPr>
        <p:spPr>
          <a:xfrm>
            <a:off x="6583680" y="2968142"/>
            <a:ext cx="1097280" cy="256032"/>
          </a:xfrm>
          <a:prstGeom prst="roundRect">
            <a:avLst>
              <a:gd name="adj" fmla="val 50000"/>
            </a:avLst>
          </a:prstGeom>
          <a:solidFill>
            <a:srgbClr val="2E8B57"/>
          </a:solidFill>
          <a:ln w="12700">
            <a:solidFill>
              <a:srgbClr val="2E8B57"/>
            </a:solidFill>
            <a:prstDash val="solid"/>
          </a:ln>
        </p:spPr>
      </p:sp>
      <p:sp>
        <p:nvSpPr>
          <p:cNvPr id="24" name="Text 21"/>
          <p:cNvSpPr txBox="1"/>
          <p:nvPr/>
        </p:nvSpPr>
        <p:spPr>
          <a:xfrm>
            <a:off x="6583680" y="2968142"/>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ea typeface="Calibri" pitchFamily="34" charset="-122"/>
                <a:cs typeface="Calibri" pitchFamily="34" charset="-120"/>
              </a:rPr>
              <a:t>CORE</a:t>
            </a:r>
            <a:endParaRPr lang="en-US" sz="800" dirty="0"/>
          </a:p>
        </p:txBody>
      </p:sp>
      <p:sp>
        <p:nvSpPr>
          <p:cNvPr id="25" name="Shape 22"/>
          <p:cNvSpPr/>
          <p:nvPr/>
        </p:nvSpPr>
        <p:spPr>
          <a:xfrm>
            <a:off x="457200" y="3610051"/>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6" name="Shape 23"/>
          <p:cNvSpPr/>
          <p:nvPr/>
        </p:nvSpPr>
        <p:spPr>
          <a:xfrm>
            <a:off x="685800" y="3886200"/>
            <a:ext cx="219456" cy="219456"/>
          </a:xfrm>
          <a:prstGeom prst="rect">
            <a:avLst/>
          </a:prstGeom>
          <a:solidFill>
            <a:srgbClr val="FFFFFF"/>
          </a:solidFill>
          <a:ln w="19050">
            <a:solidFill>
              <a:srgbClr val="C9780A"/>
            </a:solidFill>
            <a:prstDash val="solid"/>
          </a:ln>
        </p:spPr>
      </p:sp>
      <p:sp>
        <p:nvSpPr>
          <p:cNvPr id="27" name="Text 24"/>
          <p:cNvSpPr txBox="1"/>
          <p:nvPr/>
        </p:nvSpPr>
        <p:spPr>
          <a:xfrm>
            <a:off x="1097280" y="3610051"/>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ea typeface="Calibri" pitchFamily="34" charset="-122"/>
                <a:cs typeface="Calibri" pitchFamily="34" charset="-120"/>
              </a:rPr>
              <a:t>I used </a:t>
            </a:r>
            <a:pPr algn="l" indent="0" marL="0">
              <a:buNone/>
            </a:pPr>
            <a:r>
              <a:rPr lang="ar-SA" altLang="en-US" sz="1700" dirty="0">
                <a:solidFill>
                  <a:srgbClr val="1F2A37"/>
                </a:solidFill>
                <a:latin typeface="Amiri" pitchFamily="34" charset="0"/>
                <a:ea typeface="Amiri" pitchFamily="34" charset="-122"/>
                <a:cs typeface="Amiri" pitchFamily="34" charset="-120"/>
              </a:rPr>
              <a:t>هَذَا</a:t>
            </a:r>
            <a:pPr algn="l" indent="0" marL="0">
              <a:buNone/>
            </a:pPr>
            <a:r>
              <a:rPr lang="en-US" sz="1300" dirty="0">
                <a:solidFill>
                  <a:srgbClr val="1F2A37"/>
                </a:solidFill>
                <a:latin typeface="Calibri" pitchFamily="34" charset="0"/>
                <a:ea typeface="Calibri" pitchFamily="34" charset="-122"/>
                <a:cs typeface="Calibri" pitchFamily="34" charset="-120"/>
              </a:rPr>
              <a:t> or </a:t>
            </a:r>
            <a:pPr algn="l" indent="0" marL="0">
              <a:buNone/>
            </a:pPr>
            <a:r>
              <a:rPr lang="ar-SA" altLang="en-US" sz="1700" dirty="0">
                <a:solidFill>
                  <a:srgbClr val="1F2A37"/>
                </a:solidFill>
                <a:latin typeface="Amiri" pitchFamily="34" charset="0"/>
                <a:ea typeface="Amiri" pitchFamily="34" charset="-122"/>
                <a:cs typeface="Amiri" pitchFamily="34" charset="-120"/>
              </a:rPr>
              <a:t>هَذِهِ</a:t>
            </a:r>
            <a:pPr algn="l" indent="0" marL="0">
              <a:buNone/>
            </a:pPr>
            <a:r>
              <a:rPr lang="en-US" sz="1300" dirty="0">
                <a:solidFill>
                  <a:srgbClr val="1F2A37"/>
                </a:solidFill>
                <a:latin typeface="Calibri" pitchFamily="34" charset="0"/>
                <a:ea typeface="Calibri" pitchFamily="34" charset="-122"/>
                <a:cs typeface="Calibri" pitchFamily="34" charset="-120"/>
              </a:rPr>
              <a:t> accurately.</a:t>
            </a:r>
            <a:endParaRPr lang="en-US" sz="1300" dirty="0"/>
          </a:p>
        </p:txBody>
      </p:sp>
      <p:sp>
        <p:nvSpPr>
          <p:cNvPr id="28" name="Shape 25"/>
          <p:cNvSpPr/>
          <p:nvPr/>
        </p:nvSpPr>
        <p:spPr>
          <a:xfrm>
            <a:off x="6583680" y="3867912"/>
            <a:ext cx="1097280" cy="256032"/>
          </a:xfrm>
          <a:prstGeom prst="roundRect">
            <a:avLst>
              <a:gd name="adj" fmla="val 50000"/>
            </a:avLst>
          </a:prstGeom>
          <a:solidFill>
            <a:srgbClr val="C9780A"/>
          </a:solidFill>
          <a:ln w="12700">
            <a:solidFill>
              <a:srgbClr val="C9780A"/>
            </a:solidFill>
            <a:prstDash val="solid"/>
          </a:ln>
        </p:spPr>
      </p:sp>
      <p:sp>
        <p:nvSpPr>
          <p:cNvPr id="29" name="Text 26"/>
          <p:cNvSpPr txBox="1"/>
          <p:nvPr/>
        </p:nvSpPr>
        <p:spPr>
          <a:xfrm>
            <a:off x="6583680" y="3867912"/>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ea typeface="Calibri" pitchFamily="34" charset="-122"/>
                <a:cs typeface="Calibri" pitchFamily="34" charset="-120"/>
              </a:rPr>
              <a:t>DEVELOP</a:t>
            </a:r>
            <a:endParaRPr lang="en-US" sz="800" dirty="0"/>
          </a:p>
        </p:txBody>
      </p:sp>
      <p:sp>
        <p:nvSpPr>
          <p:cNvPr id="30" name="Shape 27"/>
          <p:cNvSpPr/>
          <p:nvPr/>
        </p:nvSpPr>
        <p:spPr>
          <a:xfrm>
            <a:off x="457200" y="4509821"/>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685800" y="4785970"/>
            <a:ext cx="219456" cy="219456"/>
          </a:xfrm>
          <a:prstGeom prst="rect">
            <a:avLst/>
          </a:prstGeom>
          <a:solidFill>
            <a:srgbClr val="FFFFFF"/>
          </a:solidFill>
          <a:ln w="19050">
            <a:solidFill>
              <a:srgbClr val="C9780A"/>
            </a:solidFill>
            <a:prstDash val="solid"/>
          </a:ln>
        </p:spPr>
      </p:sp>
      <p:sp>
        <p:nvSpPr>
          <p:cNvPr id="32" name="Text 29"/>
          <p:cNvSpPr txBox="1"/>
          <p:nvPr/>
        </p:nvSpPr>
        <p:spPr>
          <a:xfrm>
            <a:off x="1097280" y="4509821"/>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ea typeface="Calibri" pitchFamily="34" charset="-122"/>
                <a:cs typeface="Calibri" pitchFamily="34" charset="-120"/>
              </a:rPr>
              <a:t>I used at least five different adjectives.</a:t>
            </a:r>
            <a:endParaRPr lang="en-US" sz="1300" dirty="0"/>
          </a:p>
        </p:txBody>
      </p:sp>
      <p:sp>
        <p:nvSpPr>
          <p:cNvPr id="33" name="Shape 30"/>
          <p:cNvSpPr/>
          <p:nvPr/>
        </p:nvSpPr>
        <p:spPr>
          <a:xfrm>
            <a:off x="6583680" y="4767682"/>
            <a:ext cx="1097280" cy="256032"/>
          </a:xfrm>
          <a:prstGeom prst="roundRect">
            <a:avLst>
              <a:gd name="adj" fmla="val 50000"/>
            </a:avLst>
          </a:prstGeom>
          <a:solidFill>
            <a:srgbClr val="C9780A"/>
          </a:solidFill>
          <a:ln w="12700">
            <a:solidFill>
              <a:srgbClr val="C9780A"/>
            </a:solidFill>
            <a:prstDash val="solid"/>
          </a:ln>
        </p:spPr>
      </p:sp>
      <p:sp>
        <p:nvSpPr>
          <p:cNvPr id="34" name="Text 31"/>
          <p:cNvSpPr txBox="1"/>
          <p:nvPr/>
        </p:nvSpPr>
        <p:spPr>
          <a:xfrm>
            <a:off x="6583680" y="4767682"/>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ea typeface="Calibri" pitchFamily="34" charset="-122"/>
                <a:cs typeface="Calibri" pitchFamily="34" charset="-120"/>
              </a:rPr>
              <a:t>DEVELOP</a:t>
            </a:r>
            <a:endParaRPr lang="en-US" sz="800" dirty="0"/>
          </a:p>
        </p:txBody>
      </p:sp>
      <p:sp>
        <p:nvSpPr>
          <p:cNvPr id="35" name="Shape 32"/>
          <p:cNvSpPr/>
          <p:nvPr/>
        </p:nvSpPr>
        <p:spPr>
          <a:xfrm>
            <a:off x="457200" y="5409590"/>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6" name="Shape 33"/>
          <p:cNvSpPr/>
          <p:nvPr/>
        </p:nvSpPr>
        <p:spPr>
          <a:xfrm>
            <a:off x="685800" y="5685739"/>
            <a:ext cx="219456" cy="219456"/>
          </a:xfrm>
          <a:prstGeom prst="rect">
            <a:avLst/>
          </a:prstGeom>
          <a:solidFill>
            <a:srgbClr val="FFFFFF"/>
          </a:solidFill>
          <a:ln w="19050">
            <a:solidFill>
              <a:srgbClr val="B83227"/>
            </a:solidFill>
            <a:prstDash val="solid"/>
          </a:ln>
        </p:spPr>
      </p:sp>
      <p:sp>
        <p:nvSpPr>
          <p:cNvPr id="37" name="Text 34"/>
          <p:cNvSpPr txBox="1"/>
          <p:nvPr/>
        </p:nvSpPr>
        <p:spPr>
          <a:xfrm>
            <a:off x="1097280" y="5409590"/>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ea typeface="Calibri" pitchFamily="34" charset="-122"/>
                <a:cs typeface="Calibri" pitchFamily="34" charset="-120"/>
              </a:rPr>
              <a:t>I included a feminine noun without </a:t>
            </a:r>
            <a:pPr algn="l" indent="0" marL="0">
              <a:buNone/>
            </a:pPr>
            <a:r>
              <a:rPr lang="ar-SA" altLang="en-US" sz="1700" dirty="0">
                <a:solidFill>
                  <a:srgbClr val="1F2A37"/>
                </a:solidFill>
                <a:latin typeface="Amiri" pitchFamily="34" charset="0"/>
                <a:ea typeface="Amiri" pitchFamily="34" charset="-122"/>
                <a:cs typeface="Amiri" pitchFamily="34" charset="-120"/>
              </a:rPr>
              <a:t>ة</a:t>
            </a:r>
            <a:pPr algn="l" indent="0" marL="0">
              <a:buNone/>
            </a:pPr>
            <a:r>
              <a:rPr lang="en-US" sz="1300" dirty="0">
                <a:solidFill>
                  <a:srgbClr val="1F2A37"/>
                </a:solidFill>
                <a:latin typeface="Calibri" pitchFamily="34" charset="0"/>
                <a:ea typeface="Calibri" pitchFamily="34" charset="-122"/>
                <a:cs typeface="Calibri" pitchFamily="34" charset="-120"/>
              </a:rPr>
              <a:t>, correctly matched.</a:t>
            </a:r>
            <a:endParaRPr lang="en-US" sz="1300" dirty="0"/>
          </a:p>
        </p:txBody>
      </p:sp>
      <p:sp>
        <p:nvSpPr>
          <p:cNvPr id="38" name="Shape 35"/>
          <p:cNvSpPr/>
          <p:nvPr/>
        </p:nvSpPr>
        <p:spPr>
          <a:xfrm>
            <a:off x="6583680" y="5667451"/>
            <a:ext cx="1097280" cy="256032"/>
          </a:xfrm>
          <a:prstGeom prst="roundRect">
            <a:avLst>
              <a:gd name="adj" fmla="val 50000"/>
            </a:avLst>
          </a:prstGeom>
          <a:solidFill>
            <a:srgbClr val="B83227"/>
          </a:solidFill>
          <a:ln w="12700">
            <a:solidFill>
              <a:srgbClr val="B83227"/>
            </a:solidFill>
            <a:prstDash val="solid"/>
          </a:ln>
        </p:spPr>
      </p:sp>
      <p:sp>
        <p:nvSpPr>
          <p:cNvPr id="39" name="Text 36"/>
          <p:cNvSpPr txBox="1"/>
          <p:nvPr/>
        </p:nvSpPr>
        <p:spPr>
          <a:xfrm>
            <a:off x="6583680" y="5667451"/>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ea typeface="Calibri" pitchFamily="34" charset="-122"/>
                <a:cs typeface="Calibri" pitchFamily="34" charset="-120"/>
              </a:rPr>
              <a:t>STRETCH</a:t>
            </a:r>
            <a:endParaRPr lang="en-US" sz="800" dirty="0"/>
          </a:p>
        </p:txBody>
      </p:sp>
      <p:sp>
        <p:nvSpPr>
          <p:cNvPr id="40" name="Shape 37"/>
          <p:cNvSpPr/>
          <p:nvPr/>
        </p:nvSpPr>
        <p:spPr>
          <a:xfrm>
            <a:off x="8092440" y="1810512"/>
            <a:ext cx="3639312" cy="2084832"/>
          </a:xfrm>
          <a:prstGeom prst="roundRect">
            <a:avLst>
              <a:gd name="adj" fmla="val 3509"/>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41" name="Text 38"/>
          <p:cNvSpPr txBox="1"/>
          <p:nvPr/>
        </p:nvSpPr>
        <p:spPr>
          <a:xfrm>
            <a:off x="8275320" y="1920240"/>
            <a:ext cx="3273552" cy="1828800"/>
          </a:xfrm>
          <a:prstGeom prst="rect">
            <a:avLst/>
          </a:prstGeom>
          <a:noFill/>
          <a:ln/>
        </p:spPr>
        <p:txBody>
          <a:bodyPr wrap="square" lIns="0" tIns="0" rIns="0" bIns="0" rtlCol="0" anchor="ctr"/>
          <a:lstStyle/>
          <a:p>
            <a:pPr indent="0" marL="0">
              <a:buNone/>
            </a:pPr>
            <a:r>
              <a:rPr lang="en-US" sz="1800" b="1" dirty="0">
                <a:solidFill>
                  <a:srgbClr val="2E8B57"/>
                </a:solidFill>
                <a:latin typeface="Calibri" pitchFamily="34" charset="0"/>
                <a:ea typeface="Calibri" pitchFamily="34" charset="-122"/>
                <a:cs typeface="Calibri" pitchFamily="34" charset="-120"/>
              </a:rPr>
              <a:t>WWW</a:t>
            </a:r>
            <a:endParaRPr lang="en-US" sz="1800" dirty="0"/>
          </a:p>
          <a:p>
            <a:pPr indent="0" marL="0">
              <a:buNone/>
            </a:pPr>
            <a:r>
              <a:rPr lang="en-US" sz="1200" dirty="0">
                <a:solidFill>
                  <a:srgbClr val="1F2A37"/>
                </a:solidFill>
                <a:latin typeface="Calibri" pitchFamily="34" charset="0"/>
                <a:ea typeface="Calibri" pitchFamily="34" charset="-122"/>
                <a:cs typeface="Calibri" pitchFamily="34" charset="-120"/>
              </a:rPr>
              <a:t>What went well? One thing you did accurately.</a:t>
            </a:r>
            <a:endParaRPr lang="en-US" sz="1800" dirty="0"/>
          </a:p>
        </p:txBody>
      </p:sp>
      <p:sp>
        <p:nvSpPr>
          <p:cNvPr id="42" name="Shape 39"/>
          <p:cNvSpPr/>
          <p:nvPr/>
        </p:nvSpPr>
        <p:spPr>
          <a:xfrm>
            <a:off x="8092440" y="4041648"/>
            <a:ext cx="3639312" cy="2084832"/>
          </a:xfrm>
          <a:prstGeom prst="roundRect">
            <a:avLst>
              <a:gd name="adj" fmla="val 3509"/>
            </a:avLst>
          </a:prstGeom>
          <a:solidFill>
            <a:srgbClr val="FFF4E0"/>
          </a:solidFill>
          <a:ln w="9525">
            <a:solidFill>
              <a:srgbClr val="E8D49A"/>
            </a:solidFill>
            <a:prstDash val="solid"/>
          </a:ln>
          <a:effectLst>
            <a:outerShdw sx="100000" sy="100000" kx="0" ky="0" algn="bl" rotWithShape="0" blurRad="50800" dist="19050" dir="5400000">
              <a:srgbClr val="000000">
                <a:alpha val="10000"/>
              </a:srgbClr>
            </a:outerShdw>
          </a:effectLst>
        </p:spPr>
      </p:sp>
      <p:sp>
        <p:nvSpPr>
          <p:cNvPr id="43" name="Text 40"/>
          <p:cNvSpPr txBox="1"/>
          <p:nvPr/>
        </p:nvSpPr>
        <p:spPr>
          <a:xfrm>
            <a:off x="8275320" y="4151376"/>
            <a:ext cx="3273552" cy="1828800"/>
          </a:xfrm>
          <a:prstGeom prst="rect">
            <a:avLst/>
          </a:prstGeom>
          <a:noFill/>
          <a:ln/>
        </p:spPr>
        <p:txBody>
          <a:bodyPr wrap="square" lIns="0" tIns="0" rIns="0" bIns="0" rtlCol="0" anchor="ctr"/>
          <a:lstStyle/>
          <a:p>
            <a:pPr indent="0" marL="0">
              <a:buNone/>
            </a:pPr>
            <a:r>
              <a:rPr lang="en-US" sz="1800" b="1" dirty="0">
                <a:solidFill>
                  <a:srgbClr val="C9780A"/>
                </a:solidFill>
                <a:latin typeface="Calibri" pitchFamily="34" charset="0"/>
                <a:ea typeface="Calibri" pitchFamily="34" charset="-122"/>
                <a:cs typeface="Calibri" pitchFamily="34" charset="-120"/>
              </a:rPr>
              <a:t>EBI</a:t>
            </a:r>
            <a:endParaRPr lang="en-US" sz="1800" dirty="0"/>
          </a:p>
          <a:p>
            <a:pPr indent="0" marL="0">
              <a:buNone/>
            </a:pPr>
            <a:r>
              <a:rPr lang="en-US" sz="1200" dirty="0">
                <a:solidFill>
                  <a:srgbClr val="1F2A37"/>
                </a:solidFill>
                <a:latin typeface="Calibri" pitchFamily="34" charset="0"/>
                <a:ea typeface="Calibri" pitchFamily="34" charset="-122"/>
                <a:cs typeface="Calibri" pitchFamily="34" charset="-120"/>
              </a:rPr>
              <a:t>Even better if… One thing you will fix or add.</a:t>
            </a:r>
            <a:endParaRPr lang="en-US" sz="1800" dirty="0"/>
          </a:p>
        </p:txBody>
      </p:sp>
      <p:sp>
        <p:nvSpPr>
          <p:cNvPr id="44" name="Text 4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ea typeface="Calibri" pitchFamily="34" charset="-122"/>
                <a:cs typeface="Calibri" pitchFamily="34" charset="-120"/>
              </a:rPr>
              <a:t>32 / 36</a:t>
            </a:r>
            <a:endParaRPr lang="en-US" sz="85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34" charset="0"/>
                <a:ea typeface="Amiri" pitchFamily="34" charset="-122"/>
                <a:cs typeface="Amiri" pitchFamily="34" charset="-120"/>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ea typeface="Cambria" pitchFamily="34" charset="-122"/>
                <a:cs typeface="Cambria" pitchFamily="34" charset="-120"/>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ea typeface="Calibri" pitchFamily="34" charset="-122"/>
                <a:cs typeface="Calibri" pitchFamily="34" charset="-120"/>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ea typeface="Calibri" pitchFamily="34" charset="-122"/>
                <a:cs typeface="Calibri" pitchFamily="34" charset="-120"/>
              </a:rPr>
              <a:t>F2-L05 · Masculine &amp; Feminine</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ea typeface="Calibri" pitchFamily="34" charset="-122"/>
                <a:cs typeface="Calibri" pitchFamily="34" charset="-120"/>
              </a:rPr>
              <a:t>FEEDBACK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ea typeface="Calibri" pitchFamily="34" charset="-122"/>
                <a:cs typeface="Calibri" pitchFamily="34" charset="-120"/>
              </a:rPr>
              <a:t>EXIT TICKET · ON YOUR OWN</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ea typeface="Cambria" pitchFamily="34" charset="-122"/>
                <a:cs typeface="Cambria" pitchFamily="34" charset="-120"/>
              </a:rPr>
              <a:t>Exit ticket: three questions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34" charset="0"/>
                <a:ea typeface="Amiri" pitchFamily="34" charset="-122"/>
                <a:cs typeface="Amiri" pitchFamily="34" charset="-120"/>
              </a:rPr>
              <a:t>تَذْكِرَةُ الخُرُوجِ</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ea typeface="Calibri" pitchFamily="34" charset="-122"/>
                <a:cs typeface="Calibri" pitchFamily="34" charset="-120"/>
              </a:rPr>
              <a:t>Miftah Arabic · Foundation F2 · Greetings &amp; Introductions · Week 2 · Lesson 2 of 3</a:t>
            </a:r>
            <a:endParaRPr lang="en-US" sz="850" dirty="0"/>
          </a:p>
        </p:txBody>
      </p:sp>
      <p:sp>
        <p:nvSpPr>
          <p:cNvPr id="15" name="Shape 12"/>
          <p:cNvSpPr/>
          <p:nvPr/>
        </p:nvSpPr>
        <p:spPr>
          <a:xfrm>
            <a:off x="457200" y="1810512"/>
            <a:ext cx="3636264" cy="3538728"/>
          </a:xfrm>
          <a:prstGeom prst="roundRect">
            <a:avLst>
              <a:gd name="adj" fmla="val 206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1</a:t>
            </a:r>
            <a:endParaRPr lang="en-US" sz="1100" dirty="0"/>
          </a:p>
        </p:txBody>
      </p:sp>
      <p:sp>
        <p:nvSpPr>
          <p:cNvPr id="18" name="Text 15"/>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Choose the correct feminine phrase.</a:t>
            </a:r>
            <a:endParaRPr lang="en-US" sz="1250" dirty="0"/>
          </a:p>
        </p:txBody>
      </p:sp>
      <p:sp>
        <p:nvSpPr>
          <p:cNvPr id="19" name="Shape 16"/>
          <p:cNvSpPr/>
          <p:nvPr/>
        </p:nvSpPr>
        <p:spPr>
          <a:xfrm>
            <a:off x="640080" y="2532888"/>
            <a:ext cx="256032" cy="256032"/>
          </a:xfrm>
          <a:prstGeom prst="ellipse">
            <a:avLst/>
          </a:prstGeom>
          <a:solidFill>
            <a:srgbClr val="F4F1EA"/>
          </a:solidFill>
          <a:ln w="12700">
            <a:solidFill>
              <a:srgbClr val="F4F1EA"/>
            </a:solidFill>
            <a:prstDash val="solid"/>
          </a:ln>
        </p:spPr>
      </p:sp>
      <p:sp>
        <p:nvSpPr>
          <p:cNvPr id="20" name="Text 17"/>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A</a:t>
            </a:r>
            <a:endParaRPr lang="en-US" sz="900" dirty="0"/>
          </a:p>
        </p:txBody>
      </p:sp>
      <p:sp>
        <p:nvSpPr>
          <p:cNvPr id="21" name="Text 18"/>
          <p:cNvSpPr txBox="1"/>
          <p:nvPr/>
        </p:nvSpPr>
        <p:spPr>
          <a:xfrm>
            <a:off x="969264" y="24323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34" charset="0"/>
                <a:ea typeface="Amiri" pitchFamily="34" charset="-122"/>
                <a:cs typeface="Amiri" pitchFamily="34" charset="-120"/>
              </a:rPr>
              <a:t>زَمِيلَةٌ لَطِيفَةٌ</a:t>
            </a:r>
            <a:endParaRPr lang="ar-SA" sz="2050" dirty="0"/>
          </a:p>
        </p:txBody>
      </p:sp>
      <p:sp>
        <p:nvSpPr>
          <p:cNvPr id="22" name="Shape 19"/>
          <p:cNvSpPr/>
          <p:nvPr/>
        </p:nvSpPr>
        <p:spPr>
          <a:xfrm>
            <a:off x="640080" y="2990088"/>
            <a:ext cx="256032" cy="256032"/>
          </a:xfrm>
          <a:prstGeom prst="ellipse">
            <a:avLst/>
          </a:prstGeom>
          <a:solidFill>
            <a:srgbClr val="F4F1EA"/>
          </a:solidFill>
          <a:ln w="12700">
            <a:solidFill>
              <a:srgbClr val="F4F1EA"/>
            </a:solidFill>
            <a:prstDash val="solid"/>
          </a:ln>
        </p:spPr>
      </p:sp>
      <p:sp>
        <p:nvSpPr>
          <p:cNvPr id="23" name="Text 20"/>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24" name="Text 21"/>
          <p:cNvSpPr txBox="1"/>
          <p:nvPr/>
        </p:nvSpPr>
        <p:spPr>
          <a:xfrm>
            <a:off x="969264"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34" charset="0"/>
                <a:ea typeface="Amiri" pitchFamily="34" charset="-122"/>
                <a:cs typeface="Amiri" pitchFamily="34" charset="-120"/>
              </a:rPr>
              <a:t>زَمِيلٌ لَطِيفَةٌ</a:t>
            </a:r>
            <a:endParaRPr lang="ar-SA" sz="2050" dirty="0"/>
          </a:p>
        </p:txBody>
      </p:sp>
      <p:sp>
        <p:nvSpPr>
          <p:cNvPr id="25" name="Shape 22"/>
          <p:cNvSpPr/>
          <p:nvPr/>
        </p:nvSpPr>
        <p:spPr>
          <a:xfrm>
            <a:off x="640080" y="3447288"/>
            <a:ext cx="256032" cy="256032"/>
          </a:xfrm>
          <a:prstGeom prst="ellipse">
            <a:avLst/>
          </a:prstGeom>
          <a:solidFill>
            <a:srgbClr val="F4F1EA"/>
          </a:solidFill>
          <a:ln w="12700">
            <a:solidFill>
              <a:srgbClr val="F4F1EA"/>
            </a:solidFill>
            <a:prstDash val="solid"/>
          </a:ln>
        </p:spPr>
      </p:sp>
      <p:sp>
        <p:nvSpPr>
          <p:cNvPr id="26" name="Text 23"/>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C</a:t>
            </a:r>
            <a:endParaRPr lang="en-US" sz="900" dirty="0"/>
          </a:p>
        </p:txBody>
      </p:sp>
      <p:sp>
        <p:nvSpPr>
          <p:cNvPr id="27" name="Text 24"/>
          <p:cNvSpPr txBox="1"/>
          <p:nvPr/>
        </p:nvSpPr>
        <p:spPr>
          <a:xfrm>
            <a:off x="969264"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34" charset="0"/>
                <a:ea typeface="Amiri" pitchFamily="34" charset="-122"/>
                <a:cs typeface="Amiri" pitchFamily="34" charset="-120"/>
              </a:rPr>
              <a:t>لَطِيفَةٌ زَمِيلَةٌ</a:t>
            </a:r>
            <a:endParaRPr lang="ar-SA" sz="2050" dirty="0"/>
          </a:p>
        </p:txBody>
      </p:sp>
      <p:sp>
        <p:nvSpPr>
          <p:cNvPr id="28" name="Shape 25"/>
          <p:cNvSpPr/>
          <p:nvPr/>
        </p:nvSpPr>
        <p:spPr>
          <a:xfrm>
            <a:off x="4276344" y="1810512"/>
            <a:ext cx="3636264" cy="3538728"/>
          </a:xfrm>
          <a:prstGeom prst="roundRect">
            <a:avLst>
              <a:gd name="adj" fmla="val 206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9" name="Shape 26"/>
          <p:cNvSpPr/>
          <p:nvPr/>
        </p:nvSpPr>
        <p:spPr>
          <a:xfrm>
            <a:off x="4404360" y="1947672"/>
            <a:ext cx="310896" cy="310896"/>
          </a:xfrm>
          <a:prstGeom prst="ellipse">
            <a:avLst/>
          </a:prstGeom>
          <a:solidFill>
            <a:srgbClr val="1B3B6F"/>
          </a:solidFill>
          <a:ln w="12700">
            <a:solidFill>
              <a:srgbClr val="1B3B6F"/>
            </a:solidFill>
            <a:prstDash val="solid"/>
          </a:ln>
        </p:spPr>
      </p:sp>
      <p:sp>
        <p:nvSpPr>
          <p:cNvPr id="30" name="Text 27"/>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2</a:t>
            </a:r>
            <a:endParaRPr lang="en-US" sz="1100" dirty="0"/>
          </a:p>
        </p:txBody>
      </p:sp>
      <p:sp>
        <p:nvSpPr>
          <p:cNvPr id="31" name="Text 28"/>
          <p:cNvSpPr txBox="1"/>
          <p:nvPr/>
        </p:nvSpPr>
        <p:spPr>
          <a:xfrm>
            <a:off x="4770120" y="1883664"/>
            <a:ext cx="1395070" cy="475488"/>
          </a:xfrm>
          <a:prstGeom prst="rect">
            <a:avLst/>
          </a:prstGeom>
          <a:noFill/>
          <a:ln/>
        </p:spPr>
        <p:txBody>
          <a:bodyPr wrap="square" lIns="0" tIns="0" rIns="0" bIns="0" rtlCol="0" anchor="ctr"/>
          <a:lstStyle/>
          <a:p>
            <a:pPr algn="l" indent="0" marL="0">
              <a:buNone/>
            </a:pPr>
            <a:r>
              <a:rPr lang="en-US" sz="1200" b="1" dirty="0">
                <a:solidFill>
                  <a:srgbClr val="1B3B6F"/>
                </a:solidFill>
                <a:latin typeface="Calibri" pitchFamily="34" charset="0"/>
                <a:ea typeface="Calibri" pitchFamily="34" charset="-122"/>
                <a:cs typeface="Calibri" pitchFamily="34" charset="-120"/>
              </a:rPr>
              <a:t>Complete:</a:t>
            </a:r>
            <a:endParaRPr lang="en-US" sz="1200" dirty="0"/>
          </a:p>
        </p:txBody>
      </p:sp>
      <p:sp>
        <p:nvSpPr>
          <p:cNvPr id="32" name="Text 29"/>
          <p:cNvSpPr txBox="1"/>
          <p:nvPr/>
        </p:nvSpPr>
        <p:spPr>
          <a:xfrm>
            <a:off x="6225845" y="1883664"/>
            <a:ext cx="1577035" cy="475488"/>
          </a:xfrm>
          <a:prstGeom prst="rect">
            <a:avLst/>
          </a:prstGeom>
          <a:noFill/>
          <a:ln/>
        </p:spPr>
        <p:txBody>
          <a:bodyPr wrap="square" lIns="0" tIns="0" rIns="0" bIns="0" rtlCol="0" anchor="ctr"/>
          <a:lstStyle/>
          <a:p>
            <a:pPr rtl="1" algn="r" indent="0" marL="0">
              <a:buNone/>
            </a:pPr>
            <a:r>
              <a:rPr lang="ar-SA" altLang="en-US" sz="2200" b="1" dirty="0">
                <a:solidFill>
                  <a:srgbClr val="1B3B6F"/>
                </a:solidFill>
                <a:latin typeface="Amiri" pitchFamily="34" charset="0"/>
                <a:ea typeface="Amiri" pitchFamily="34" charset="-122"/>
                <a:cs typeface="Amiri" pitchFamily="34" charset="-120"/>
              </a:rPr>
              <a:t>هَذِهِ طِفْلَةٌ ...</a:t>
            </a:r>
            <a:endParaRPr lang="ar-SA" sz="2200" dirty="0"/>
          </a:p>
        </p:txBody>
      </p:sp>
      <p:sp>
        <p:nvSpPr>
          <p:cNvPr id="33" name="Shape 30"/>
          <p:cNvSpPr/>
          <p:nvPr/>
        </p:nvSpPr>
        <p:spPr>
          <a:xfrm>
            <a:off x="4459224" y="2532888"/>
            <a:ext cx="256032" cy="256032"/>
          </a:xfrm>
          <a:prstGeom prst="ellipse">
            <a:avLst/>
          </a:prstGeom>
          <a:solidFill>
            <a:srgbClr val="F4F1EA"/>
          </a:solidFill>
          <a:ln w="12700">
            <a:solidFill>
              <a:srgbClr val="F4F1EA"/>
            </a:solidFill>
            <a:prstDash val="solid"/>
          </a:ln>
        </p:spPr>
      </p:sp>
      <p:sp>
        <p:nvSpPr>
          <p:cNvPr id="34" name="Text 31"/>
          <p:cNvSpPr txBox="1"/>
          <p:nvPr/>
        </p:nvSpPr>
        <p:spPr>
          <a:xfrm>
            <a:off x="4459224"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A</a:t>
            </a:r>
            <a:endParaRPr lang="en-US" sz="900" dirty="0"/>
          </a:p>
        </p:txBody>
      </p:sp>
      <p:sp>
        <p:nvSpPr>
          <p:cNvPr id="35" name="Text 32"/>
          <p:cNvSpPr txBox="1"/>
          <p:nvPr/>
        </p:nvSpPr>
        <p:spPr>
          <a:xfrm>
            <a:off x="4788408" y="24323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34" charset="0"/>
                <a:ea typeface="Amiri" pitchFamily="34" charset="-122"/>
                <a:cs typeface="Amiri" pitchFamily="34" charset="-120"/>
              </a:rPr>
              <a:t>صَغِيرٌ</a:t>
            </a:r>
            <a:endParaRPr lang="ar-SA" sz="2050" dirty="0"/>
          </a:p>
        </p:txBody>
      </p:sp>
      <p:sp>
        <p:nvSpPr>
          <p:cNvPr id="36" name="Shape 33"/>
          <p:cNvSpPr/>
          <p:nvPr/>
        </p:nvSpPr>
        <p:spPr>
          <a:xfrm>
            <a:off x="4459224" y="2990088"/>
            <a:ext cx="256032" cy="256032"/>
          </a:xfrm>
          <a:prstGeom prst="ellipse">
            <a:avLst/>
          </a:prstGeom>
          <a:solidFill>
            <a:srgbClr val="F4F1EA"/>
          </a:solidFill>
          <a:ln w="12700">
            <a:solidFill>
              <a:srgbClr val="F4F1EA"/>
            </a:solidFill>
            <a:prstDash val="solid"/>
          </a:ln>
        </p:spPr>
      </p:sp>
      <p:sp>
        <p:nvSpPr>
          <p:cNvPr id="37" name="Text 34"/>
          <p:cNvSpPr txBox="1"/>
          <p:nvPr/>
        </p:nvSpPr>
        <p:spPr>
          <a:xfrm>
            <a:off x="4459224"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38" name="Text 35"/>
          <p:cNvSpPr txBox="1"/>
          <p:nvPr/>
        </p:nvSpPr>
        <p:spPr>
          <a:xfrm>
            <a:off x="4788408"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34" charset="0"/>
                <a:ea typeface="Amiri" pitchFamily="34" charset="-122"/>
                <a:cs typeface="Amiri" pitchFamily="34" charset="-120"/>
              </a:rPr>
              <a:t>صَغِيرَةٌ</a:t>
            </a:r>
            <a:endParaRPr lang="ar-SA" sz="2050" dirty="0"/>
          </a:p>
        </p:txBody>
      </p:sp>
      <p:sp>
        <p:nvSpPr>
          <p:cNvPr id="39" name="Shape 36"/>
          <p:cNvSpPr/>
          <p:nvPr/>
        </p:nvSpPr>
        <p:spPr>
          <a:xfrm>
            <a:off x="4459224" y="3447288"/>
            <a:ext cx="256032" cy="256032"/>
          </a:xfrm>
          <a:prstGeom prst="ellipse">
            <a:avLst/>
          </a:prstGeom>
          <a:solidFill>
            <a:srgbClr val="F4F1EA"/>
          </a:solidFill>
          <a:ln w="12700">
            <a:solidFill>
              <a:srgbClr val="F4F1EA"/>
            </a:solidFill>
            <a:prstDash val="solid"/>
          </a:ln>
        </p:spPr>
      </p:sp>
      <p:sp>
        <p:nvSpPr>
          <p:cNvPr id="40" name="Text 37"/>
          <p:cNvSpPr txBox="1"/>
          <p:nvPr/>
        </p:nvSpPr>
        <p:spPr>
          <a:xfrm>
            <a:off x="4459224"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C</a:t>
            </a:r>
            <a:endParaRPr lang="en-US" sz="900" dirty="0"/>
          </a:p>
        </p:txBody>
      </p:sp>
      <p:sp>
        <p:nvSpPr>
          <p:cNvPr id="41" name="Text 38"/>
          <p:cNvSpPr txBox="1"/>
          <p:nvPr/>
        </p:nvSpPr>
        <p:spPr>
          <a:xfrm>
            <a:off x="4788408"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34" charset="0"/>
                <a:ea typeface="Amiri" pitchFamily="34" charset="-122"/>
                <a:cs typeface="Amiri" pitchFamily="34" charset="-120"/>
              </a:rPr>
              <a:t>قَصِيرٌ</a:t>
            </a:r>
            <a:endParaRPr lang="ar-SA" sz="2050" dirty="0"/>
          </a:p>
        </p:txBody>
      </p:sp>
      <p:sp>
        <p:nvSpPr>
          <p:cNvPr id="42" name="Shape 39"/>
          <p:cNvSpPr/>
          <p:nvPr/>
        </p:nvSpPr>
        <p:spPr>
          <a:xfrm>
            <a:off x="8095488" y="1810512"/>
            <a:ext cx="3636264" cy="3538728"/>
          </a:xfrm>
          <a:prstGeom prst="roundRect">
            <a:avLst>
              <a:gd name="adj" fmla="val 206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3" name="Shape 40"/>
          <p:cNvSpPr/>
          <p:nvPr/>
        </p:nvSpPr>
        <p:spPr>
          <a:xfrm>
            <a:off x="8223504" y="1947672"/>
            <a:ext cx="310896" cy="310896"/>
          </a:xfrm>
          <a:prstGeom prst="ellipse">
            <a:avLst/>
          </a:prstGeom>
          <a:solidFill>
            <a:srgbClr val="1B3B6F"/>
          </a:solidFill>
          <a:ln w="12700">
            <a:solidFill>
              <a:srgbClr val="1B3B6F"/>
            </a:solidFill>
            <a:prstDash val="solid"/>
          </a:ln>
        </p:spPr>
      </p:sp>
      <p:sp>
        <p:nvSpPr>
          <p:cNvPr id="44" name="Text 41"/>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3</a:t>
            </a:r>
            <a:endParaRPr lang="en-US" sz="1100" dirty="0"/>
          </a:p>
        </p:txBody>
      </p:sp>
      <p:sp>
        <p:nvSpPr>
          <p:cNvPr id="45" name="Text 42"/>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Choose the completely accurate sentence.</a:t>
            </a:r>
            <a:endParaRPr lang="en-US" sz="1250" dirty="0"/>
          </a:p>
        </p:txBody>
      </p:sp>
      <p:sp>
        <p:nvSpPr>
          <p:cNvPr id="46" name="Shape 43"/>
          <p:cNvSpPr/>
          <p:nvPr/>
        </p:nvSpPr>
        <p:spPr>
          <a:xfrm>
            <a:off x="8278368" y="2532888"/>
            <a:ext cx="256032" cy="256032"/>
          </a:xfrm>
          <a:prstGeom prst="ellipse">
            <a:avLst/>
          </a:prstGeom>
          <a:solidFill>
            <a:srgbClr val="F4F1EA"/>
          </a:solidFill>
          <a:ln w="12700">
            <a:solidFill>
              <a:srgbClr val="F4F1EA"/>
            </a:solidFill>
            <a:prstDash val="solid"/>
          </a:ln>
        </p:spPr>
      </p:sp>
      <p:sp>
        <p:nvSpPr>
          <p:cNvPr id="47" name="Text 44"/>
          <p:cNvSpPr txBox="1"/>
          <p:nvPr/>
        </p:nvSpPr>
        <p:spPr>
          <a:xfrm>
            <a:off x="8278368"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A</a:t>
            </a:r>
            <a:endParaRPr lang="en-US" sz="900" dirty="0"/>
          </a:p>
        </p:txBody>
      </p:sp>
      <p:sp>
        <p:nvSpPr>
          <p:cNvPr id="48" name="Text 45"/>
          <p:cNvSpPr txBox="1"/>
          <p:nvPr/>
        </p:nvSpPr>
        <p:spPr>
          <a:xfrm>
            <a:off x="8607552" y="24323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34" charset="0"/>
                <a:ea typeface="Amiri" pitchFamily="34" charset="-122"/>
                <a:cs typeface="Amiri" pitchFamily="34" charset="-120"/>
              </a:rPr>
              <a:t>هَذِهِ أُخْتٌ قَصِيرَةٌ وَلَطِيفَةٌ.</a:t>
            </a:r>
            <a:endParaRPr lang="ar-SA" sz="2050" dirty="0"/>
          </a:p>
        </p:txBody>
      </p:sp>
      <p:sp>
        <p:nvSpPr>
          <p:cNvPr id="49" name="Shape 46"/>
          <p:cNvSpPr/>
          <p:nvPr/>
        </p:nvSpPr>
        <p:spPr>
          <a:xfrm>
            <a:off x="8278368" y="2990088"/>
            <a:ext cx="256032" cy="256032"/>
          </a:xfrm>
          <a:prstGeom prst="ellipse">
            <a:avLst/>
          </a:prstGeom>
          <a:solidFill>
            <a:srgbClr val="F4F1EA"/>
          </a:solidFill>
          <a:ln w="12700">
            <a:solidFill>
              <a:srgbClr val="F4F1EA"/>
            </a:solidFill>
            <a:prstDash val="solid"/>
          </a:ln>
        </p:spPr>
      </p:sp>
      <p:sp>
        <p:nvSpPr>
          <p:cNvPr id="50" name="Text 47"/>
          <p:cNvSpPr txBox="1"/>
          <p:nvPr/>
        </p:nvSpPr>
        <p:spPr>
          <a:xfrm>
            <a:off x="8278368"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51" name="Text 48"/>
          <p:cNvSpPr txBox="1"/>
          <p:nvPr/>
        </p:nvSpPr>
        <p:spPr>
          <a:xfrm>
            <a:off x="8607552"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34" charset="0"/>
                <a:ea typeface="Amiri" pitchFamily="34" charset="-122"/>
                <a:cs typeface="Amiri" pitchFamily="34" charset="-120"/>
              </a:rPr>
              <a:t>هَذَا أُخْتٌ قَصِيرٌ وَلَطِيفٌ.</a:t>
            </a:r>
            <a:endParaRPr lang="ar-SA" sz="2050" dirty="0"/>
          </a:p>
        </p:txBody>
      </p:sp>
      <p:sp>
        <p:nvSpPr>
          <p:cNvPr id="52" name="Shape 49"/>
          <p:cNvSpPr/>
          <p:nvPr/>
        </p:nvSpPr>
        <p:spPr>
          <a:xfrm>
            <a:off x="8278368" y="3447288"/>
            <a:ext cx="256032" cy="256032"/>
          </a:xfrm>
          <a:prstGeom prst="ellipse">
            <a:avLst/>
          </a:prstGeom>
          <a:solidFill>
            <a:srgbClr val="F4F1EA"/>
          </a:solidFill>
          <a:ln w="12700">
            <a:solidFill>
              <a:srgbClr val="F4F1EA"/>
            </a:solidFill>
            <a:prstDash val="solid"/>
          </a:ln>
        </p:spPr>
      </p:sp>
      <p:sp>
        <p:nvSpPr>
          <p:cNvPr id="53" name="Text 50"/>
          <p:cNvSpPr txBox="1"/>
          <p:nvPr/>
        </p:nvSpPr>
        <p:spPr>
          <a:xfrm>
            <a:off x="8278368"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C</a:t>
            </a:r>
            <a:endParaRPr lang="en-US" sz="900" dirty="0"/>
          </a:p>
        </p:txBody>
      </p:sp>
      <p:sp>
        <p:nvSpPr>
          <p:cNvPr id="54" name="Text 51"/>
          <p:cNvSpPr txBox="1"/>
          <p:nvPr/>
        </p:nvSpPr>
        <p:spPr>
          <a:xfrm>
            <a:off x="8607552"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34" charset="0"/>
                <a:ea typeface="Amiri" pitchFamily="34" charset="-122"/>
                <a:cs typeface="Amiri" pitchFamily="34" charset="-120"/>
              </a:rPr>
              <a:t>هَذِهِ أَخٌ قَصِيرَةٌ وَلَطِيفَةٌ.</a:t>
            </a:r>
            <a:endParaRPr lang="ar-SA" sz="2050" dirty="0"/>
          </a:p>
        </p:txBody>
      </p:sp>
      <p:sp>
        <p:nvSpPr>
          <p:cNvPr id="55" name="Shape 52"/>
          <p:cNvSpPr/>
          <p:nvPr/>
        </p:nvSpPr>
        <p:spPr>
          <a:xfrm>
            <a:off x="457200" y="5532120"/>
            <a:ext cx="11274552" cy="777240"/>
          </a:xfrm>
          <a:prstGeom prst="roundRect">
            <a:avLst>
              <a:gd name="adj" fmla="val 9412"/>
            </a:avLst>
          </a:prstGeom>
          <a:solidFill>
            <a:srgbClr val="FFF7E0"/>
          </a:solidFill>
          <a:ln w="9525">
            <a:solidFill>
              <a:srgbClr val="E8D49A"/>
            </a:solidFill>
            <a:prstDash val="solid"/>
          </a:ln>
          <a:effectLst>
            <a:outerShdw sx="100000" sy="100000" kx="0" ky="0" algn="bl" rotWithShape="0" blurRad="50800" dist="19050" dir="5400000">
              <a:srgbClr val="000000">
                <a:alpha val="10000"/>
              </a:srgbClr>
            </a:outerShdw>
          </a:effectLst>
        </p:spPr>
      </p:sp>
      <p:sp>
        <p:nvSpPr>
          <p:cNvPr id="56" name="Text 53"/>
          <p:cNvSpPr txBox="1"/>
          <p:nvPr/>
        </p:nvSpPr>
        <p:spPr>
          <a:xfrm>
            <a:off x="685800" y="5577840"/>
            <a:ext cx="2830068" cy="685800"/>
          </a:xfrm>
          <a:prstGeom prst="rect">
            <a:avLst/>
          </a:prstGeom>
          <a:noFill/>
          <a:ln/>
        </p:spPr>
        <p:txBody>
          <a:bodyPr wrap="square" lIns="0" tIns="0" rIns="0" bIns="0" rtlCol="0" anchor="ctr"/>
          <a:lstStyle/>
          <a:p>
            <a:pPr algn="l" indent="0" marL="0">
              <a:buNone/>
            </a:pPr>
            <a:r>
              <a:rPr lang="en-US" sz="1200" b="1" spc="100" kern="0" dirty="0">
                <a:solidFill>
                  <a:srgbClr val="8A6D1E"/>
                </a:solidFill>
                <a:latin typeface="Calibri" pitchFamily="34" charset="0"/>
                <a:ea typeface="Calibri" pitchFamily="34" charset="-122"/>
                <a:cs typeface="Calibri" pitchFamily="34" charset="-120"/>
              </a:rPr>
              <a:t>ON YOUR OWN · 2 MINUTES</a:t>
            </a:r>
            <a:endParaRPr lang="en-US" sz="1200" dirty="0"/>
          </a:p>
        </p:txBody>
      </p:sp>
      <p:sp>
        <p:nvSpPr>
          <p:cNvPr id="57" name="Text 54"/>
          <p:cNvSpPr txBox="1"/>
          <p:nvPr/>
        </p:nvSpPr>
        <p:spPr>
          <a:xfrm>
            <a:off x="3515868" y="5577840"/>
            <a:ext cx="8051292" cy="6858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Answer silently. When the timer ends, type your three letters in the chat: 1_ 2_ 3_. The other end-of-lesson questions are on the website.</a:t>
            </a:r>
            <a:endParaRPr lang="en-US" sz="1250" dirty="0"/>
          </a:p>
        </p:txBody>
      </p:sp>
      <p:sp>
        <p:nvSpPr>
          <p:cNvPr id="58" name="Text 5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ea typeface="Calibri" pitchFamily="34" charset="-122"/>
                <a:cs typeface="Calibri" pitchFamily="34" charset="-120"/>
              </a:rPr>
              <a:t>33 / 36</a:t>
            </a:r>
            <a:endParaRPr lang="en-US" sz="850"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34" charset="0"/>
                <a:ea typeface="Amiri" pitchFamily="34" charset="-122"/>
                <a:cs typeface="Amiri" pitchFamily="34" charset="-120"/>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ea typeface="Cambria" pitchFamily="34" charset="-122"/>
                <a:cs typeface="Cambria" pitchFamily="34" charset="-120"/>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ea typeface="Calibri" pitchFamily="34" charset="-122"/>
                <a:cs typeface="Calibri" pitchFamily="34" charset="-120"/>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ea typeface="Calibri" pitchFamily="34" charset="-122"/>
                <a:cs typeface="Calibri" pitchFamily="34" charset="-120"/>
              </a:rPr>
              <a:t>F2-L05 · Masculine &amp; Feminine</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ea typeface="Calibri" pitchFamily="34" charset="-122"/>
                <a:cs typeface="Calibri" pitchFamily="34" charset="-120"/>
              </a:rPr>
              <a:t>FEEDBACK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ea typeface="Calibri" pitchFamily="34" charset="-122"/>
                <a:cs typeface="Calibri" pitchFamily="34" charset="-120"/>
              </a:rPr>
              <a:t>EXIT TICKET · ANSWERS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ea typeface="Cambria" pitchFamily="34" charset="-122"/>
                <a:cs typeface="Cambria" pitchFamily="34" charset="-120"/>
              </a:rPr>
              <a:t>Exit ticket: answers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34" charset="0"/>
                <a:ea typeface="Amiri" pitchFamily="34" charset="-122"/>
                <a:cs typeface="Amiri" pitchFamily="34" charset="-120"/>
              </a:rPr>
              <a:t>إِجَابَاتُ تَذْكِرَةِ الخُرُوجِ</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ea typeface="Calibri" pitchFamily="34" charset="-122"/>
                <a:cs typeface="Calibri" pitchFamily="34" charset="-120"/>
              </a:rPr>
              <a:t>Miftah Arabic · Foundation F2 · Greetings &amp; Introductions · Week 2 · Lesson 2 of 3</a:t>
            </a:r>
            <a:endParaRPr lang="en-US" sz="850" dirty="0"/>
          </a:p>
        </p:txBody>
      </p:sp>
      <p:sp>
        <p:nvSpPr>
          <p:cNvPr id="15" name="Shape 12"/>
          <p:cNvSpPr/>
          <p:nvPr/>
        </p:nvSpPr>
        <p:spPr>
          <a:xfrm>
            <a:off x="457200" y="1810512"/>
            <a:ext cx="3636264" cy="3538728"/>
          </a:xfrm>
          <a:prstGeom prst="roundRect">
            <a:avLst>
              <a:gd name="adj" fmla="val 206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1</a:t>
            </a:r>
            <a:endParaRPr lang="en-US" sz="1100" dirty="0"/>
          </a:p>
        </p:txBody>
      </p:sp>
      <p:sp>
        <p:nvSpPr>
          <p:cNvPr id="18" name="Text 15"/>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Choose the correct feminine phrase.</a:t>
            </a:r>
            <a:endParaRPr lang="en-US" sz="1250" dirty="0"/>
          </a:p>
        </p:txBody>
      </p:sp>
      <p:sp>
        <p:nvSpPr>
          <p:cNvPr id="19" name="Shape 16"/>
          <p:cNvSpPr/>
          <p:nvPr/>
        </p:nvSpPr>
        <p:spPr>
          <a:xfrm>
            <a:off x="548640" y="2496312"/>
            <a:ext cx="3453384" cy="347472"/>
          </a:xfrm>
          <a:prstGeom prst="roundRect">
            <a:avLst>
              <a:gd name="adj" fmla="val 15789"/>
            </a:avLst>
          </a:prstGeom>
          <a:solidFill>
            <a:srgbClr val="E6F4EC"/>
          </a:solidFill>
          <a:ln w="9525">
            <a:solidFill>
              <a:srgbClr val="2E8B57"/>
            </a:solidFill>
            <a:prstDash val="solid"/>
          </a:ln>
        </p:spPr>
      </p:sp>
      <p:sp>
        <p:nvSpPr>
          <p:cNvPr id="20" name="Shape 17"/>
          <p:cNvSpPr/>
          <p:nvPr/>
        </p:nvSpPr>
        <p:spPr>
          <a:xfrm>
            <a:off x="640080" y="2532888"/>
            <a:ext cx="256032" cy="256032"/>
          </a:xfrm>
          <a:prstGeom prst="ellipse">
            <a:avLst/>
          </a:prstGeom>
          <a:solidFill>
            <a:srgbClr val="2E8B57"/>
          </a:solidFill>
          <a:ln w="12700">
            <a:solidFill>
              <a:srgbClr val="2E8B57"/>
            </a:solidFill>
            <a:prstDash val="solid"/>
          </a:ln>
        </p:spPr>
      </p:sp>
      <p:sp>
        <p:nvSpPr>
          <p:cNvPr id="21" name="Text 18"/>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A</a:t>
            </a:r>
            <a:endParaRPr lang="en-US" sz="900" dirty="0"/>
          </a:p>
        </p:txBody>
      </p:sp>
      <p:sp>
        <p:nvSpPr>
          <p:cNvPr id="22" name="Text 19"/>
          <p:cNvSpPr txBox="1"/>
          <p:nvPr/>
        </p:nvSpPr>
        <p:spPr>
          <a:xfrm>
            <a:off x="969264" y="2432304"/>
            <a:ext cx="2977896" cy="457200"/>
          </a:xfrm>
          <a:prstGeom prst="rect">
            <a:avLst/>
          </a:prstGeom>
          <a:noFill/>
          <a:ln/>
        </p:spPr>
        <p:txBody>
          <a:bodyPr wrap="square" lIns="0" tIns="0" rIns="0" bIns="0" rtlCol="0" anchor="ctr"/>
          <a:lstStyle/>
          <a:p>
            <a:pPr rtl="1" algn="r" indent="0" marL="0">
              <a:buNone/>
            </a:pPr>
            <a:r>
              <a:rPr lang="ar-SA" altLang="en-US" sz="2050" b="1" dirty="0">
                <a:solidFill>
                  <a:srgbClr val="1F2A37"/>
                </a:solidFill>
                <a:latin typeface="Amiri" pitchFamily="34" charset="0"/>
                <a:ea typeface="Amiri" pitchFamily="34" charset="-122"/>
                <a:cs typeface="Amiri" pitchFamily="34" charset="-120"/>
              </a:rPr>
              <a:t>زَمِيلَةٌ لَطِيفَةٌ</a:t>
            </a:r>
            <a:endParaRPr lang="ar-SA" sz="2050" dirty="0"/>
          </a:p>
        </p:txBody>
      </p:sp>
      <p:sp>
        <p:nvSpPr>
          <p:cNvPr id="23" name="Shape 20"/>
          <p:cNvSpPr/>
          <p:nvPr/>
        </p:nvSpPr>
        <p:spPr>
          <a:xfrm>
            <a:off x="640080" y="2990088"/>
            <a:ext cx="256032" cy="256032"/>
          </a:xfrm>
          <a:prstGeom prst="ellipse">
            <a:avLst/>
          </a:prstGeom>
          <a:solidFill>
            <a:srgbClr val="C9CED6"/>
          </a:solidFill>
          <a:ln w="12700">
            <a:solidFill>
              <a:srgbClr val="C9CED6"/>
            </a:solidFill>
            <a:prstDash val="solid"/>
          </a:ln>
        </p:spPr>
      </p:sp>
      <p:sp>
        <p:nvSpPr>
          <p:cNvPr id="24" name="Text 21"/>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25" name="Text 22"/>
          <p:cNvSpPr txBox="1"/>
          <p:nvPr/>
        </p:nvSpPr>
        <p:spPr>
          <a:xfrm>
            <a:off x="969264"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9AA1AB"/>
                </a:solidFill>
                <a:latin typeface="Amiri" pitchFamily="34" charset="0"/>
                <a:ea typeface="Amiri" pitchFamily="34" charset="-122"/>
                <a:cs typeface="Amiri" pitchFamily="34" charset="-120"/>
              </a:rPr>
              <a:t>زَمِيلٌ لَطِيفَةٌ</a:t>
            </a:r>
            <a:endParaRPr lang="ar-SA" sz="2050" dirty="0"/>
          </a:p>
        </p:txBody>
      </p:sp>
      <p:sp>
        <p:nvSpPr>
          <p:cNvPr id="26" name="Shape 23"/>
          <p:cNvSpPr/>
          <p:nvPr/>
        </p:nvSpPr>
        <p:spPr>
          <a:xfrm>
            <a:off x="640080" y="3447288"/>
            <a:ext cx="256032" cy="256032"/>
          </a:xfrm>
          <a:prstGeom prst="ellipse">
            <a:avLst/>
          </a:prstGeom>
          <a:solidFill>
            <a:srgbClr val="C9CED6"/>
          </a:solidFill>
          <a:ln w="12700">
            <a:solidFill>
              <a:srgbClr val="C9CED6"/>
            </a:solidFill>
            <a:prstDash val="solid"/>
          </a:ln>
        </p:spPr>
      </p:sp>
      <p:sp>
        <p:nvSpPr>
          <p:cNvPr id="27" name="Text 24"/>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C</a:t>
            </a:r>
            <a:endParaRPr lang="en-US" sz="900" dirty="0"/>
          </a:p>
        </p:txBody>
      </p:sp>
      <p:sp>
        <p:nvSpPr>
          <p:cNvPr id="28" name="Text 25"/>
          <p:cNvSpPr txBox="1"/>
          <p:nvPr/>
        </p:nvSpPr>
        <p:spPr>
          <a:xfrm>
            <a:off x="969264"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9AA1AB"/>
                </a:solidFill>
                <a:latin typeface="Amiri" pitchFamily="34" charset="0"/>
                <a:ea typeface="Amiri" pitchFamily="34" charset="-122"/>
                <a:cs typeface="Amiri" pitchFamily="34" charset="-120"/>
              </a:rPr>
              <a:t>لَطِيفَةٌ زَمِيلَةٌ</a:t>
            </a:r>
            <a:endParaRPr lang="ar-SA" sz="2050" dirty="0"/>
          </a:p>
        </p:txBody>
      </p:sp>
      <p:sp>
        <p:nvSpPr>
          <p:cNvPr id="29" name="Text 26"/>
          <p:cNvSpPr txBox="1"/>
          <p:nvPr/>
        </p:nvSpPr>
        <p:spPr>
          <a:xfrm>
            <a:off x="585216" y="4946904"/>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ea typeface="Calibri" pitchFamily="34" charset="-122"/>
                <a:cs typeface="Calibri" pitchFamily="34" charset="-120"/>
              </a:rPr>
              <a:t>The noun comes first and both forms are feminine.</a:t>
            </a:r>
            <a:endParaRPr lang="en-US" sz="1050" dirty="0"/>
          </a:p>
        </p:txBody>
      </p:sp>
      <p:sp>
        <p:nvSpPr>
          <p:cNvPr id="30" name="Shape 27"/>
          <p:cNvSpPr/>
          <p:nvPr/>
        </p:nvSpPr>
        <p:spPr>
          <a:xfrm>
            <a:off x="4276344" y="1810512"/>
            <a:ext cx="3636264" cy="3538728"/>
          </a:xfrm>
          <a:prstGeom prst="roundRect">
            <a:avLst>
              <a:gd name="adj" fmla="val 206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4404360" y="1947672"/>
            <a:ext cx="310896" cy="310896"/>
          </a:xfrm>
          <a:prstGeom prst="ellipse">
            <a:avLst/>
          </a:prstGeom>
          <a:solidFill>
            <a:srgbClr val="1B3B6F"/>
          </a:solidFill>
          <a:ln w="12700">
            <a:solidFill>
              <a:srgbClr val="1B3B6F"/>
            </a:solidFill>
            <a:prstDash val="solid"/>
          </a:ln>
        </p:spPr>
      </p:sp>
      <p:sp>
        <p:nvSpPr>
          <p:cNvPr id="32" name="Text 29"/>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2</a:t>
            </a:r>
            <a:endParaRPr lang="en-US" sz="1100" dirty="0"/>
          </a:p>
        </p:txBody>
      </p:sp>
      <p:sp>
        <p:nvSpPr>
          <p:cNvPr id="33" name="Text 30"/>
          <p:cNvSpPr txBox="1"/>
          <p:nvPr/>
        </p:nvSpPr>
        <p:spPr>
          <a:xfrm>
            <a:off x="4770120" y="1883664"/>
            <a:ext cx="1395070" cy="475488"/>
          </a:xfrm>
          <a:prstGeom prst="rect">
            <a:avLst/>
          </a:prstGeom>
          <a:noFill/>
          <a:ln/>
        </p:spPr>
        <p:txBody>
          <a:bodyPr wrap="square" lIns="0" tIns="0" rIns="0" bIns="0" rtlCol="0" anchor="ctr"/>
          <a:lstStyle/>
          <a:p>
            <a:pPr algn="l" indent="0" marL="0">
              <a:buNone/>
            </a:pPr>
            <a:r>
              <a:rPr lang="en-US" sz="1200" b="1" dirty="0">
                <a:solidFill>
                  <a:srgbClr val="1B3B6F"/>
                </a:solidFill>
                <a:latin typeface="Calibri" pitchFamily="34" charset="0"/>
                <a:ea typeface="Calibri" pitchFamily="34" charset="-122"/>
                <a:cs typeface="Calibri" pitchFamily="34" charset="-120"/>
              </a:rPr>
              <a:t>Complete:</a:t>
            </a:r>
            <a:endParaRPr lang="en-US" sz="1200" dirty="0"/>
          </a:p>
        </p:txBody>
      </p:sp>
      <p:sp>
        <p:nvSpPr>
          <p:cNvPr id="34" name="Text 31"/>
          <p:cNvSpPr txBox="1"/>
          <p:nvPr/>
        </p:nvSpPr>
        <p:spPr>
          <a:xfrm>
            <a:off x="6225845" y="1883664"/>
            <a:ext cx="1577035" cy="475488"/>
          </a:xfrm>
          <a:prstGeom prst="rect">
            <a:avLst/>
          </a:prstGeom>
          <a:noFill/>
          <a:ln/>
        </p:spPr>
        <p:txBody>
          <a:bodyPr wrap="square" lIns="0" tIns="0" rIns="0" bIns="0" rtlCol="0" anchor="ctr"/>
          <a:lstStyle/>
          <a:p>
            <a:pPr rtl="1" algn="r" indent="0" marL="0">
              <a:buNone/>
            </a:pPr>
            <a:r>
              <a:rPr lang="ar-SA" altLang="en-US" sz="2200" b="1" dirty="0">
                <a:solidFill>
                  <a:srgbClr val="1B3B6F"/>
                </a:solidFill>
                <a:latin typeface="Amiri" pitchFamily="34" charset="0"/>
                <a:ea typeface="Amiri" pitchFamily="34" charset="-122"/>
                <a:cs typeface="Amiri" pitchFamily="34" charset="-120"/>
              </a:rPr>
              <a:t>هَذِهِ طِفْلَةٌ ...</a:t>
            </a:r>
            <a:endParaRPr lang="ar-SA" sz="2200" dirty="0"/>
          </a:p>
        </p:txBody>
      </p:sp>
      <p:sp>
        <p:nvSpPr>
          <p:cNvPr id="35" name="Shape 32"/>
          <p:cNvSpPr/>
          <p:nvPr/>
        </p:nvSpPr>
        <p:spPr>
          <a:xfrm>
            <a:off x="4459224" y="2532888"/>
            <a:ext cx="256032" cy="256032"/>
          </a:xfrm>
          <a:prstGeom prst="ellipse">
            <a:avLst/>
          </a:prstGeom>
          <a:solidFill>
            <a:srgbClr val="C9CED6"/>
          </a:solidFill>
          <a:ln w="12700">
            <a:solidFill>
              <a:srgbClr val="C9CED6"/>
            </a:solidFill>
            <a:prstDash val="solid"/>
          </a:ln>
        </p:spPr>
      </p:sp>
      <p:sp>
        <p:nvSpPr>
          <p:cNvPr id="36" name="Text 33"/>
          <p:cNvSpPr txBox="1"/>
          <p:nvPr/>
        </p:nvSpPr>
        <p:spPr>
          <a:xfrm>
            <a:off x="4459224"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A</a:t>
            </a:r>
            <a:endParaRPr lang="en-US" sz="900" dirty="0"/>
          </a:p>
        </p:txBody>
      </p:sp>
      <p:sp>
        <p:nvSpPr>
          <p:cNvPr id="37" name="Text 34"/>
          <p:cNvSpPr txBox="1"/>
          <p:nvPr/>
        </p:nvSpPr>
        <p:spPr>
          <a:xfrm>
            <a:off x="4788408" y="2432304"/>
            <a:ext cx="2977896" cy="457200"/>
          </a:xfrm>
          <a:prstGeom prst="rect">
            <a:avLst/>
          </a:prstGeom>
          <a:noFill/>
          <a:ln/>
        </p:spPr>
        <p:txBody>
          <a:bodyPr wrap="square" lIns="0" tIns="0" rIns="0" bIns="0" rtlCol="0" anchor="ctr"/>
          <a:lstStyle/>
          <a:p>
            <a:pPr rtl="1" algn="r" indent="0" marL="0">
              <a:buNone/>
            </a:pPr>
            <a:r>
              <a:rPr lang="ar-SA" altLang="en-US" sz="2050" dirty="0">
                <a:solidFill>
                  <a:srgbClr val="9AA1AB"/>
                </a:solidFill>
                <a:latin typeface="Amiri" pitchFamily="34" charset="0"/>
                <a:ea typeface="Amiri" pitchFamily="34" charset="-122"/>
                <a:cs typeface="Amiri" pitchFamily="34" charset="-120"/>
              </a:rPr>
              <a:t>صَغِيرٌ</a:t>
            </a:r>
            <a:endParaRPr lang="ar-SA" sz="2050" dirty="0"/>
          </a:p>
        </p:txBody>
      </p:sp>
      <p:sp>
        <p:nvSpPr>
          <p:cNvPr id="38" name="Shape 35"/>
          <p:cNvSpPr/>
          <p:nvPr/>
        </p:nvSpPr>
        <p:spPr>
          <a:xfrm>
            <a:off x="4367784" y="2953512"/>
            <a:ext cx="3453384" cy="347472"/>
          </a:xfrm>
          <a:prstGeom prst="roundRect">
            <a:avLst>
              <a:gd name="adj" fmla="val 15789"/>
            </a:avLst>
          </a:prstGeom>
          <a:solidFill>
            <a:srgbClr val="E6F4EC"/>
          </a:solidFill>
          <a:ln w="9525">
            <a:solidFill>
              <a:srgbClr val="2E8B57"/>
            </a:solidFill>
            <a:prstDash val="solid"/>
          </a:ln>
        </p:spPr>
      </p:sp>
      <p:sp>
        <p:nvSpPr>
          <p:cNvPr id="39" name="Shape 36"/>
          <p:cNvSpPr/>
          <p:nvPr/>
        </p:nvSpPr>
        <p:spPr>
          <a:xfrm>
            <a:off x="4459224" y="2990088"/>
            <a:ext cx="256032" cy="256032"/>
          </a:xfrm>
          <a:prstGeom prst="ellipse">
            <a:avLst/>
          </a:prstGeom>
          <a:solidFill>
            <a:srgbClr val="2E8B57"/>
          </a:solidFill>
          <a:ln w="12700">
            <a:solidFill>
              <a:srgbClr val="2E8B57"/>
            </a:solidFill>
            <a:prstDash val="solid"/>
          </a:ln>
        </p:spPr>
      </p:sp>
      <p:sp>
        <p:nvSpPr>
          <p:cNvPr id="40" name="Text 37"/>
          <p:cNvSpPr txBox="1"/>
          <p:nvPr/>
        </p:nvSpPr>
        <p:spPr>
          <a:xfrm>
            <a:off x="4459224" y="299008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B</a:t>
            </a:r>
            <a:endParaRPr lang="en-US" sz="900" dirty="0"/>
          </a:p>
        </p:txBody>
      </p:sp>
      <p:sp>
        <p:nvSpPr>
          <p:cNvPr id="41" name="Text 38"/>
          <p:cNvSpPr txBox="1"/>
          <p:nvPr/>
        </p:nvSpPr>
        <p:spPr>
          <a:xfrm>
            <a:off x="4788408" y="2889504"/>
            <a:ext cx="2977896" cy="457200"/>
          </a:xfrm>
          <a:prstGeom prst="rect">
            <a:avLst/>
          </a:prstGeom>
          <a:noFill/>
          <a:ln/>
        </p:spPr>
        <p:txBody>
          <a:bodyPr wrap="square" lIns="0" tIns="0" rIns="0" bIns="0" rtlCol="0" anchor="ctr"/>
          <a:lstStyle/>
          <a:p>
            <a:pPr rtl="1" algn="r" indent="0" marL="0">
              <a:buNone/>
            </a:pPr>
            <a:r>
              <a:rPr lang="ar-SA" altLang="en-US" sz="2050" b="1" dirty="0">
                <a:solidFill>
                  <a:srgbClr val="1F2A37"/>
                </a:solidFill>
                <a:latin typeface="Amiri" pitchFamily="34" charset="0"/>
                <a:ea typeface="Amiri" pitchFamily="34" charset="-122"/>
                <a:cs typeface="Amiri" pitchFamily="34" charset="-120"/>
              </a:rPr>
              <a:t>صَغِيرَةٌ</a:t>
            </a:r>
            <a:endParaRPr lang="ar-SA" sz="2050" dirty="0"/>
          </a:p>
        </p:txBody>
      </p:sp>
      <p:sp>
        <p:nvSpPr>
          <p:cNvPr id="42" name="Shape 39"/>
          <p:cNvSpPr/>
          <p:nvPr/>
        </p:nvSpPr>
        <p:spPr>
          <a:xfrm>
            <a:off x="4459224" y="3447288"/>
            <a:ext cx="256032" cy="256032"/>
          </a:xfrm>
          <a:prstGeom prst="ellipse">
            <a:avLst/>
          </a:prstGeom>
          <a:solidFill>
            <a:srgbClr val="C9CED6"/>
          </a:solidFill>
          <a:ln w="12700">
            <a:solidFill>
              <a:srgbClr val="C9CED6"/>
            </a:solidFill>
            <a:prstDash val="solid"/>
          </a:ln>
        </p:spPr>
      </p:sp>
      <p:sp>
        <p:nvSpPr>
          <p:cNvPr id="43" name="Text 40"/>
          <p:cNvSpPr txBox="1"/>
          <p:nvPr/>
        </p:nvSpPr>
        <p:spPr>
          <a:xfrm>
            <a:off x="4459224"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C</a:t>
            </a:r>
            <a:endParaRPr lang="en-US" sz="900" dirty="0"/>
          </a:p>
        </p:txBody>
      </p:sp>
      <p:sp>
        <p:nvSpPr>
          <p:cNvPr id="44" name="Text 41"/>
          <p:cNvSpPr txBox="1"/>
          <p:nvPr/>
        </p:nvSpPr>
        <p:spPr>
          <a:xfrm>
            <a:off x="4788408"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9AA1AB"/>
                </a:solidFill>
                <a:latin typeface="Amiri" pitchFamily="34" charset="0"/>
                <a:ea typeface="Amiri" pitchFamily="34" charset="-122"/>
                <a:cs typeface="Amiri" pitchFamily="34" charset="-120"/>
              </a:rPr>
              <a:t>قَصِيرٌ</a:t>
            </a:r>
            <a:endParaRPr lang="ar-SA" sz="2050" dirty="0"/>
          </a:p>
        </p:txBody>
      </p:sp>
      <p:sp>
        <p:nvSpPr>
          <p:cNvPr id="45" name="Text 42"/>
          <p:cNvSpPr txBox="1"/>
          <p:nvPr/>
        </p:nvSpPr>
        <p:spPr>
          <a:xfrm>
            <a:off x="4404360" y="4946904"/>
            <a:ext cx="3380232" cy="365760"/>
          </a:xfrm>
          <a:prstGeom prst="rect">
            <a:avLst/>
          </a:prstGeom>
          <a:noFill/>
          <a:ln/>
        </p:spPr>
        <p:txBody>
          <a:bodyPr wrap="square" lIns="0" tIns="0" rIns="0" bIns="0" rtlCol="0" anchor="ctr"/>
          <a:lstStyle/>
          <a:p>
            <a:pPr algn="l" indent="0" marL="0">
              <a:buNone/>
            </a:pPr>
            <a:r>
              <a:rPr lang="ar-SA" altLang="en-US" sz="1350" dirty="0">
                <a:solidFill>
                  <a:srgbClr val="8A6D1E"/>
                </a:solidFill>
                <a:latin typeface="Amiri" pitchFamily="34" charset="0"/>
                <a:ea typeface="Amiri" pitchFamily="34" charset="-122"/>
                <a:cs typeface="Amiri" pitchFamily="34" charset="-120"/>
              </a:rPr>
              <a:t>طِفْلَةٌ</a:t>
            </a:r>
            <a:pPr algn="l" indent="0" marL="0">
              <a:buNone/>
            </a:pPr>
            <a:r>
              <a:rPr lang="en-US" sz="1050" i="1" dirty="0">
                <a:solidFill>
                  <a:srgbClr val="8A6D1E"/>
                </a:solidFill>
                <a:latin typeface="Calibri" pitchFamily="34" charset="0"/>
                <a:ea typeface="Calibri" pitchFamily="34" charset="-122"/>
                <a:cs typeface="Calibri" pitchFamily="34" charset="-120"/>
              </a:rPr>
              <a:t> is feminine and takes </a:t>
            </a:r>
            <a:pPr algn="l" indent="0" marL="0">
              <a:buNone/>
            </a:pPr>
            <a:r>
              <a:rPr lang="ar-SA" altLang="en-US" sz="1350" dirty="0">
                <a:solidFill>
                  <a:srgbClr val="8A6D1E"/>
                </a:solidFill>
                <a:latin typeface="Amiri" pitchFamily="34" charset="0"/>
                <a:ea typeface="Amiri" pitchFamily="34" charset="-122"/>
                <a:cs typeface="Amiri" pitchFamily="34" charset="-120"/>
              </a:rPr>
              <a:t>صَغِيرَةٌ</a:t>
            </a:r>
            <a:pPr algn="l" indent="0" marL="0">
              <a:buNone/>
            </a:pPr>
            <a:r>
              <a:rPr lang="en-US" sz="1050" i="1" dirty="0">
                <a:solidFill>
                  <a:srgbClr val="8A6D1E"/>
                </a:solidFill>
                <a:latin typeface="Calibri" pitchFamily="34" charset="0"/>
                <a:ea typeface="Calibri" pitchFamily="34" charset="-122"/>
                <a:cs typeface="Calibri" pitchFamily="34" charset="-120"/>
              </a:rPr>
              <a:t>.</a:t>
            </a:r>
            <a:endParaRPr lang="en-US" sz="1050" dirty="0"/>
          </a:p>
        </p:txBody>
      </p:sp>
      <p:sp>
        <p:nvSpPr>
          <p:cNvPr id="46" name="Shape 43"/>
          <p:cNvSpPr/>
          <p:nvPr/>
        </p:nvSpPr>
        <p:spPr>
          <a:xfrm>
            <a:off x="8095488" y="1810512"/>
            <a:ext cx="3636264" cy="3538728"/>
          </a:xfrm>
          <a:prstGeom prst="roundRect">
            <a:avLst>
              <a:gd name="adj" fmla="val 206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7" name="Shape 44"/>
          <p:cNvSpPr/>
          <p:nvPr/>
        </p:nvSpPr>
        <p:spPr>
          <a:xfrm>
            <a:off x="8223504" y="1947672"/>
            <a:ext cx="310896" cy="310896"/>
          </a:xfrm>
          <a:prstGeom prst="ellipse">
            <a:avLst/>
          </a:prstGeom>
          <a:solidFill>
            <a:srgbClr val="1B3B6F"/>
          </a:solidFill>
          <a:ln w="12700">
            <a:solidFill>
              <a:srgbClr val="1B3B6F"/>
            </a:solidFill>
            <a:prstDash val="solid"/>
          </a:ln>
        </p:spPr>
      </p:sp>
      <p:sp>
        <p:nvSpPr>
          <p:cNvPr id="48" name="Text 45"/>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3</a:t>
            </a:r>
            <a:endParaRPr lang="en-US" sz="1100" dirty="0"/>
          </a:p>
        </p:txBody>
      </p:sp>
      <p:sp>
        <p:nvSpPr>
          <p:cNvPr id="49" name="Text 46"/>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Choose the completely accurate sentence.</a:t>
            </a:r>
            <a:endParaRPr lang="en-US" sz="1250" dirty="0"/>
          </a:p>
        </p:txBody>
      </p:sp>
      <p:sp>
        <p:nvSpPr>
          <p:cNvPr id="50" name="Shape 47"/>
          <p:cNvSpPr/>
          <p:nvPr/>
        </p:nvSpPr>
        <p:spPr>
          <a:xfrm>
            <a:off x="8186928" y="2496312"/>
            <a:ext cx="3453384" cy="347472"/>
          </a:xfrm>
          <a:prstGeom prst="roundRect">
            <a:avLst>
              <a:gd name="adj" fmla="val 15789"/>
            </a:avLst>
          </a:prstGeom>
          <a:solidFill>
            <a:srgbClr val="E6F4EC"/>
          </a:solidFill>
          <a:ln w="9525">
            <a:solidFill>
              <a:srgbClr val="2E8B57"/>
            </a:solidFill>
            <a:prstDash val="solid"/>
          </a:ln>
        </p:spPr>
      </p:sp>
      <p:sp>
        <p:nvSpPr>
          <p:cNvPr id="51" name="Shape 48"/>
          <p:cNvSpPr/>
          <p:nvPr/>
        </p:nvSpPr>
        <p:spPr>
          <a:xfrm>
            <a:off x="8278368" y="2532888"/>
            <a:ext cx="256032" cy="256032"/>
          </a:xfrm>
          <a:prstGeom prst="ellipse">
            <a:avLst/>
          </a:prstGeom>
          <a:solidFill>
            <a:srgbClr val="2E8B57"/>
          </a:solidFill>
          <a:ln w="12700">
            <a:solidFill>
              <a:srgbClr val="2E8B57"/>
            </a:solidFill>
            <a:prstDash val="solid"/>
          </a:ln>
        </p:spPr>
      </p:sp>
      <p:sp>
        <p:nvSpPr>
          <p:cNvPr id="52" name="Text 49"/>
          <p:cNvSpPr txBox="1"/>
          <p:nvPr/>
        </p:nvSpPr>
        <p:spPr>
          <a:xfrm>
            <a:off x="8278368" y="253288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A</a:t>
            </a:r>
            <a:endParaRPr lang="en-US" sz="900" dirty="0"/>
          </a:p>
        </p:txBody>
      </p:sp>
      <p:sp>
        <p:nvSpPr>
          <p:cNvPr id="53" name="Text 50"/>
          <p:cNvSpPr txBox="1"/>
          <p:nvPr/>
        </p:nvSpPr>
        <p:spPr>
          <a:xfrm>
            <a:off x="8607552" y="2432304"/>
            <a:ext cx="2977896" cy="457200"/>
          </a:xfrm>
          <a:prstGeom prst="rect">
            <a:avLst/>
          </a:prstGeom>
          <a:noFill/>
          <a:ln/>
        </p:spPr>
        <p:txBody>
          <a:bodyPr wrap="square" lIns="0" tIns="0" rIns="0" bIns="0" rtlCol="0" anchor="ctr"/>
          <a:lstStyle/>
          <a:p>
            <a:pPr rtl="1" algn="r" indent="0" marL="0">
              <a:buNone/>
            </a:pPr>
            <a:r>
              <a:rPr lang="ar-SA" altLang="en-US" sz="2050" b="1" dirty="0">
                <a:solidFill>
                  <a:srgbClr val="1F2A37"/>
                </a:solidFill>
                <a:latin typeface="Amiri" pitchFamily="34" charset="0"/>
                <a:ea typeface="Amiri" pitchFamily="34" charset="-122"/>
                <a:cs typeface="Amiri" pitchFamily="34" charset="-120"/>
              </a:rPr>
              <a:t>هَذِهِ أُخْتٌ قَصِيرَةٌ وَلَطِيفَةٌ.</a:t>
            </a:r>
            <a:endParaRPr lang="ar-SA" sz="2050" dirty="0"/>
          </a:p>
        </p:txBody>
      </p:sp>
      <p:sp>
        <p:nvSpPr>
          <p:cNvPr id="54" name="Shape 51"/>
          <p:cNvSpPr/>
          <p:nvPr/>
        </p:nvSpPr>
        <p:spPr>
          <a:xfrm>
            <a:off x="8278368" y="2990088"/>
            <a:ext cx="256032" cy="256032"/>
          </a:xfrm>
          <a:prstGeom prst="ellipse">
            <a:avLst/>
          </a:prstGeom>
          <a:solidFill>
            <a:srgbClr val="C9CED6"/>
          </a:solidFill>
          <a:ln w="12700">
            <a:solidFill>
              <a:srgbClr val="C9CED6"/>
            </a:solidFill>
            <a:prstDash val="solid"/>
          </a:ln>
        </p:spPr>
      </p:sp>
      <p:sp>
        <p:nvSpPr>
          <p:cNvPr id="55" name="Text 52"/>
          <p:cNvSpPr txBox="1"/>
          <p:nvPr/>
        </p:nvSpPr>
        <p:spPr>
          <a:xfrm>
            <a:off x="8278368"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56" name="Text 53"/>
          <p:cNvSpPr txBox="1"/>
          <p:nvPr/>
        </p:nvSpPr>
        <p:spPr>
          <a:xfrm>
            <a:off x="8607552"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9AA1AB"/>
                </a:solidFill>
                <a:latin typeface="Amiri" pitchFamily="34" charset="0"/>
                <a:ea typeface="Amiri" pitchFamily="34" charset="-122"/>
                <a:cs typeface="Amiri" pitchFamily="34" charset="-120"/>
              </a:rPr>
              <a:t>هَذَا أُخْتٌ قَصِيرٌ وَلَطِيفٌ.</a:t>
            </a:r>
            <a:endParaRPr lang="ar-SA" sz="2050" dirty="0"/>
          </a:p>
        </p:txBody>
      </p:sp>
      <p:sp>
        <p:nvSpPr>
          <p:cNvPr id="57" name="Shape 54"/>
          <p:cNvSpPr/>
          <p:nvPr/>
        </p:nvSpPr>
        <p:spPr>
          <a:xfrm>
            <a:off x="8278368" y="3447288"/>
            <a:ext cx="256032" cy="256032"/>
          </a:xfrm>
          <a:prstGeom prst="ellipse">
            <a:avLst/>
          </a:prstGeom>
          <a:solidFill>
            <a:srgbClr val="C9CED6"/>
          </a:solidFill>
          <a:ln w="12700">
            <a:solidFill>
              <a:srgbClr val="C9CED6"/>
            </a:solidFill>
            <a:prstDash val="solid"/>
          </a:ln>
        </p:spPr>
      </p:sp>
      <p:sp>
        <p:nvSpPr>
          <p:cNvPr id="58" name="Text 55"/>
          <p:cNvSpPr txBox="1"/>
          <p:nvPr/>
        </p:nvSpPr>
        <p:spPr>
          <a:xfrm>
            <a:off x="8278368"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C</a:t>
            </a:r>
            <a:endParaRPr lang="en-US" sz="900" dirty="0"/>
          </a:p>
        </p:txBody>
      </p:sp>
      <p:sp>
        <p:nvSpPr>
          <p:cNvPr id="59" name="Text 56"/>
          <p:cNvSpPr txBox="1"/>
          <p:nvPr/>
        </p:nvSpPr>
        <p:spPr>
          <a:xfrm>
            <a:off x="8607552"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9AA1AB"/>
                </a:solidFill>
                <a:latin typeface="Amiri" pitchFamily="34" charset="0"/>
                <a:ea typeface="Amiri" pitchFamily="34" charset="-122"/>
                <a:cs typeface="Amiri" pitchFamily="34" charset="-120"/>
              </a:rPr>
              <a:t>هَذِهِ أَخٌ قَصِيرَةٌ وَلَطِيفَةٌ.</a:t>
            </a:r>
            <a:endParaRPr lang="ar-SA" sz="2050" dirty="0"/>
          </a:p>
        </p:txBody>
      </p:sp>
      <p:sp>
        <p:nvSpPr>
          <p:cNvPr id="60" name="Text 57"/>
          <p:cNvSpPr txBox="1"/>
          <p:nvPr/>
        </p:nvSpPr>
        <p:spPr>
          <a:xfrm>
            <a:off x="8223504" y="4946904"/>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ea typeface="Calibri" pitchFamily="34" charset="-122"/>
                <a:cs typeface="Calibri" pitchFamily="34" charset="-120"/>
              </a:rPr>
              <a:t>The demonstrative, noun and both adjectives are feminine.</a:t>
            </a:r>
            <a:endParaRPr lang="en-US" sz="1050" dirty="0"/>
          </a:p>
        </p:txBody>
      </p:sp>
      <p:sp>
        <p:nvSpPr>
          <p:cNvPr id="61" name="Shape 58"/>
          <p:cNvSpPr/>
          <p:nvPr/>
        </p:nvSpPr>
        <p:spPr>
          <a:xfrm>
            <a:off x="457200" y="5532120"/>
            <a:ext cx="11274552" cy="777240"/>
          </a:xfrm>
          <a:prstGeom prst="roundRect">
            <a:avLst>
              <a:gd name="adj" fmla="val 9412"/>
            </a:avLst>
          </a:prstGeom>
          <a:solidFill>
            <a:srgbClr val="EEF3FA"/>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62" name="Text 59"/>
          <p:cNvSpPr txBox="1"/>
          <p:nvPr/>
        </p:nvSpPr>
        <p:spPr>
          <a:xfrm>
            <a:off x="685800" y="5577840"/>
            <a:ext cx="937260" cy="685800"/>
          </a:xfrm>
          <a:prstGeom prst="rect">
            <a:avLst/>
          </a:prstGeom>
          <a:noFill/>
          <a:ln/>
        </p:spPr>
        <p:txBody>
          <a:bodyPr wrap="square" lIns="0" tIns="0" rIns="0" bIns="0" rtlCol="0" anchor="ctr"/>
          <a:lstStyle/>
          <a:p>
            <a:pPr algn="l" indent="0" marL="0">
              <a:buNone/>
            </a:pPr>
            <a:r>
              <a:rPr lang="en-US" sz="1200" b="1" spc="100" kern="0" dirty="0">
                <a:solidFill>
                  <a:srgbClr val="1B3B6F"/>
                </a:solidFill>
                <a:latin typeface="Calibri" pitchFamily="34" charset="0"/>
                <a:ea typeface="Calibri" pitchFamily="34" charset="-122"/>
                <a:cs typeface="Calibri" pitchFamily="34" charset="-120"/>
              </a:rPr>
              <a:t>SCORE</a:t>
            </a:r>
            <a:endParaRPr lang="en-US" sz="1200" dirty="0"/>
          </a:p>
        </p:txBody>
      </p:sp>
      <p:sp>
        <p:nvSpPr>
          <p:cNvPr id="63" name="Text 60"/>
          <p:cNvSpPr txBox="1"/>
          <p:nvPr/>
        </p:nvSpPr>
        <p:spPr>
          <a:xfrm>
            <a:off x="1623060" y="5577840"/>
            <a:ext cx="9944100" cy="6858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3/3 → aim for Stretch next lesson  ·  2/3 → Develop  ·  0–1 → Core route and a quick check-in during the next Do Now.</a:t>
            </a:r>
            <a:endParaRPr lang="en-US" sz="1250" dirty="0"/>
          </a:p>
        </p:txBody>
      </p:sp>
      <p:sp>
        <p:nvSpPr>
          <p:cNvPr id="64" name="Text 6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ea typeface="Calibri" pitchFamily="34" charset="-122"/>
                <a:cs typeface="Calibri" pitchFamily="34" charset="-120"/>
              </a:rPr>
              <a:t>34 / 36</a:t>
            </a:r>
            <a:endParaRPr lang="en-US" sz="850"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34" charset="0"/>
                <a:ea typeface="Amiri" pitchFamily="34" charset="-122"/>
                <a:cs typeface="Amiri" pitchFamily="34" charset="-120"/>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ea typeface="Cambria" pitchFamily="34" charset="-122"/>
                <a:cs typeface="Cambria" pitchFamily="34" charset="-120"/>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ea typeface="Calibri" pitchFamily="34" charset="-122"/>
                <a:cs typeface="Calibri" pitchFamily="34" charset="-120"/>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ea typeface="Calibri" pitchFamily="34" charset="-122"/>
                <a:cs typeface="Calibri" pitchFamily="34" charset="-120"/>
              </a:rPr>
              <a:t>F2-L05 · Masculine &amp; Feminine</a:t>
            </a:r>
            <a:endParaRPr lang="en-US" sz="950" dirty="0"/>
          </a:p>
        </p:txBody>
      </p:sp>
      <p:sp>
        <p:nvSpPr>
          <p:cNvPr id="8" name="Shape 6"/>
          <p:cNvSpPr/>
          <p:nvPr/>
        </p:nvSpPr>
        <p:spPr>
          <a:xfrm>
            <a:off x="6915607" y="274320"/>
            <a:ext cx="1844345" cy="329184"/>
          </a:xfrm>
          <a:prstGeom prst="roundRect">
            <a:avLst>
              <a:gd name="adj" fmla="val 50000"/>
            </a:avLst>
          </a:prstGeom>
          <a:solidFill>
            <a:srgbClr val="C45A3C"/>
          </a:solidFill>
          <a:ln w="12700">
            <a:solidFill>
              <a:srgbClr val="C45A3C"/>
            </a:solidFill>
            <a:prstDash val="solid"/>
          </a:ln>
        </p:spPr>
      </p:sp>
      <p:sp>
        <p:nvSpPr>
          <p:cNvPr id="9" name="Text 7"/>
          <p:cNvSpPr txBox="1"/>
          <p:nvPr/>
        </p:nvSpPr>
        <p:spPr>
          <a:xfrm>
            <a:off x="6915607" y="274320"/>
            <a:ext cx="1844345"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ea typeface="Calibri" pitchFamily="34" charset="-122"/>
                <a:cs typeface="Calibri" pitchFamily="34" charset="-120"/>
              </a:rPr>
              <a:t>PREPARATION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C45A3C"/>
                </a:solidFill>
                <a:latin typeface="Calibri" pitchFamily="34" charset="0"/>
                <a:ea typeface="Calibri" pitchFamily="34" charset="-122"/>
                <a:cs typeface="Calibri" pitchFamily="34" charset="-120"/>
              </a:rPr>
              <a:t>PREPARATION FOR NEXT LESSON · ABOUT 10 MINUTES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750" b="1" dirty="0">
                <a:solidFill>
                  <a:srgbClr val="1B3B6F"/>
                </a:solidFill>
                <a:latin typeface="Cambria" pitchFamily="34" charset="0"/>
                <a:ea typeface="Cambria" pitchFamily="34" charset="-122"/>
                <a:cs typeface="Cambria" pitchFamily="34" charset="-120"/>
              </a:rPr>
              <a:t>Before F2-L06: get ready at home</a:t>
            </a:r>
            <a:endParaRPr lang="en-US" sz="275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34" charset="0"/>
                <a:ea typeface="Amiri" pitchFamily="34" charset="-122"/>
                <a:cs typeface="Amiri" pitchFamily="34" charset="-120"/>
              </a:rPr>
              <a:t>التَّحْضِيرُ لِلدَّرْسِ القَادِمِ</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ea typeface="Calibri" pitchFamily="34" charset="-122"/>
                <a:cs typeface="Calibri" pitchFamily="34" charset="-120"/>
              </a:rPr>
              <a:t>Miftah Arabic · Foundation F2 · Greetings &amp; Introductions · Week 2 · Lesson 2 of 3</a:t>
            </a:r>
            <a:endParaRPr lang="en-US" sz="850" dirty="0"/>
          </a:p>
        </p:txBody>
      </p:sp>
      <p:sp>
        <p:nvSpPr>
          <p:cNvPr id="15" name="Shape 12"/>
          <p:cNvSpPr/>
          <p:nvPr/>
        </p:nvSpPr>
        <p:spPr>
          <a:xfrm>
            <a:off x="457200" y="1810512"/>
            <a:ext cx="5394960" cy="4498848"/>
          </a:xfrm>
          <a:prstGeom prst="roundRect">
            <a:avLst>
              <a:gd name="adj" fmla="val 1626"/>
            </a:avLst>
          </a:prstGeom>
          <a:solidFill>
            <a:srgbClr val="FBEAEA"/>
          </a:solidFill>
          <a:ln w="9525">
            <a:solidFill>
              <a:srgbClr val="E3B4AE"/>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1938528"/>
            <a:ext cx="475488" cy="475488"/>
          </a:xfrm>
          <a:prstGeom prst="ellipse">
            <a:avLst/>
          </a:prstGeom>
          <a:solidFill>
            <a:srgbClr val="C45A3C"/>
          </a:solidFill>
          <a:ln w="12700">
            <a:solidFill>
              <a:srgbClr val="C45A3C"/>
            </a:solidFill>
            <a:prstDash val="solid"/>
          </a:ln>
        </p:spPr>
      </p:sp>
      <p:pic>
        <p:nvPicPr>
          <p:cNvPr id="17" name="Image 0" descr="preencoded.png">    </p:cNvPr>
          <p:cNvPicPr>
            <a:picLocks noChangeAspect="1"/>
          </p:cNvPicPr>
          <p:nvPr/>
        </p:nvPicPr>
        <p:blipFill>
          <a:blip r:embed="rId1"/>
          <a:stretch>
            <a:fillRect/>
          </a:stretch>
        </p:blipFill>
        <p:spPr>
          <a:xfrm>
            <a:off x="731520" y="2029968"/>
            <a:ext cx="292608" cy="292608"/>
          </a:xfrm>
          <a:prstGeom prst="rect">
            <a:avLst/>
          </a:prstGeom>
        </p:spPr>
      </p:pic>
      <p:sp>
        <p:nvSpPr>
          <p:cNvPr id="18" name="Text 14"/>
          <p:cNvSpPr txBox="1"/>
          <p:nvPr/>
        </p:nvSpPr>
        <p:spPr>
          <a:xfrm>
            <a:off x="1207008" y="1920240"/>
            <a:ext cx="4480560" cy="512064"/>
          </a:xfrm>
          <a:prstGeom prst="rect">
            <a:avLst/>
          </a:prstGeom>
          <a:noFill/>
          <a:ln/>
        </p:spPr>
        <p:txBody>
          <a:bodyPr wrap="square" lIns="0" tIns="0" rIns="0" bIns="0" rtlCol="0" anchor="ctr"/>
          <a:lstStyle/>
          <a:p>
            <a:pPr indent="0" marL="0">
              <a:buNone/>
            </a:pPr>
            <a:r>
              <a:rPr lang="en-US" sz="1100" b="1" spc="200" kern="0" dirty="0">
                <a:solidFill>
                  <a:srgbClr val="C45A3C"/>
                </a:solidFill>
                <a:latin typeface="Calibri" pitchFamily="34" charset="0"/>
                <a:ea typeface="Calibri" pitchFamily="34" charset="-122"/>
                <a:cs typeface="Calibri" pitchFamily="34" charset="-120"/>
              </a:rPr>
              <a:t>LEARN THESE 5 WORDS</a:t>
            </a:r>
            <a:endParaRPr lang="en-US" sz="1100" dirty="0"/>
          </a:p>
          <a:p>
            <a:pPr indent="0" marL="0">
              <a:buNone/>
            </a:pPr>
            <a:r>
              <a:rPr lang="en-US" sz="1000" dirty="0">
                <a:solidFill>
                  <a:srgbClr val="5A6472"/>
                </a:solidFill>
                <a:latin typeface="Calibri" pitchFamily="34" charset="0"/>
                <a:ea typeface="Calibri" pitchFamily="34" charset="-122"/>
                <a:cs typeface="Calibri" pitchFamily="34" charset="-120"/>
              </a:rPr>
              <a:t>for F2-L06 · Polite Classroom Arabic</a:t>
            </a:r>
            <a:endParaRPr lang="en-US" sz="1100" dirty="0"/>
          </a:p>
        </p:txBody>
      </p:sp>
      <p:sp>
        <p:nvSpPr>
          <p:cNvPr id="19" name="Text 15"/>
          <p:cNvSpPr txBox="1"/>
          <p:nvPr/>
        </p:nvSpPr>
        <p:spPr>
          <a:xfrm>
            <a:off x="3017520" y="2560320"/>
            <a:ext cx="2651760" cy="43891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34" charset="0"/>
                <a:ea typeface="Amiri" pitchFamily="34" charset="-122"/>
                <a:cs typeface="Amiri" pitchFamily="34" charset="-120"/>
              </a:rPr>
              <a:t>مِنْ فَضْلِكَ</a:t>
            </a:r>
            <a:endParaRPr lang="ar-SA" sz="2000" dirty="0"/>
          </a:p>
        </p:txBody>
      </p:sp>
      <p:sp>
        <p:nvSpPr>
          <p:cNvPr id="20" name="Text 16"/>
          <p:cNvSpPr txBox="1"/>
          <p:nvPr/>
        </p:nvSpPr>
        <p:spPr>
          <a:xfrm>
            <a:off x="685800" y="2560320"/>
            <a:ext cx="2331720" cy="438912"/>
          </a:xfrm>
          <a:prstGeom prst="rect">
            <a:avLst/>
          </a:prstGeom>
          <a:noFill/>
          <a:ln/>
        </p:spPr>
        <p:txBody>
          <a:bodyPr wrap="square" lIns="0" tIns="0" rIns="0" bIns="0" rtlCol="0" anchor="ctr"/>
          <a:lstStyle/>
          <a:p>
            <a:pPr indent="0" marL="0">
              <a:buNone/>
            </a:pPr>
            <a:r>
              <a:rPr lang="en-US" sz="1200" b="1" dirty="0">
                <a:solidFill>
                  <a:srgbClr val="1F2A37"/>
                </a:solidFill>
                <a:latin typeface="Calibri" pitchFamily="34" charset="0"/>
                <a:ea typeface="Calibri" pitchFamily="34" charset="-122"/>
                <a:cs typeface="Calibri" pitchFamily="34" charset="-120"/>
              </a:rPr>
              <a:t>please (to a boy)</a:t>
            </a:r>
            <a:pPr indent="0" marL="0">
              <a:buNone/>
            </a:pPr>
            <a:r>
              <a:rPr lang="en-US" sz="1000" i="1" dirty="0">
                <a:solidFill>
                  <a:srgbClr val="5A6472"/>
                </a:solidFill>
                <a:latin typeface="Calibri" pitchFamily="34" charset="0"/>
                <a:ea typeface="Calibri" pitchFamily="34" charset="-122"/>
                <a:cs typeface="Calibri" pitchFamily="34" charset="-120"/>
              </a:rPr>
              <a:t>  f. مِنْ فَضْلِكِ</a:t>
            </a:r>
            <a:endParaRPr lang="en-US" sz="1200" dirty="0"/>
          </a:p>
        </p:txBody>
      </p:sp>
      <p:sp>
        <p:nvSpPr>
          <p:cNvPr id="21" name="Text 17"/>
          <p:cNvSpPr txBox="1"/>
          <p:nvPr/>
        </p:nvSpPr>
        <p:spPr>
          <a:xfrm>
            <a:off x="3017520" y="3017520"/>
            <a:ext cx="2651760" cy="43891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34" charset="0"/>
                <a:ea typeface="Amiri" pitchFamily="34" charset="-122"/>
                <a:cs typeface="Amiri" pitchFamily="34" charset="-120"/>
              </a:rPr>
              <a:t>شُكْرًا جَزِيلًا</a:t>
            </a:r>
            <a:endParaRPr lang="ar-SA" sz="2000" dirty="0"/>
          </a:p>
        </p:txBody>
      </p:sp>
      <p:sp>
        <p:nvSpPr>
          <p:cNvPr id="22" name="Text 18"/>
          <p:cNvSpPr txBox="1"/>
          <p:nvPr/>
        </p:nvSpPr>
        <p:spPr>
          <a:xfrm>
            <a:off x="685800" y="3017520"/>
            <a:ext cx="2331720" cy="438912"/>
          </a:xfrm>
          <a:prstGeom prst="rect">
            <a:avLst/>
          </a:prstGeom>
          <a:noFill/>
          <a:ln/>
        </p:spPr>
        <p:txBody>
          <a:bodyPr wrap="square" lIns="0" tIns="0" rIns="0" bIns="0" rtlCol="0" anchor="ctr"/>
          <a:lstStyle/>
          <a:p>
            <a:pPr indent="0" marL="0">
              <a:buNone/>
            </a:pPr>
            <a:r>
              <a:rPr lang="en-US" sz="1200" b="1" dirty="0">
                <a:solidFill>
                  <a:srgbClr val="1F2A37"/>
                </a:solidFill>
                <a:latin typeface="Calibri" pitchFamily="34" charset="0"/>
                <a:ea typeface="Calibri" pitchFamily="34" charset="-122"/>
                <a:cs typeface="Calibri" pitchFamily="34" charset="-120"/>
              </a:rPr>
              <a:t>thank you very much</a:t>
            </a:r>
            <a:pPr indent="0" marL="0">
              <a:buNone/>
            </a:pPr>
            <a:endParaRPr lang="en-US" sz="1200" dirty="0"/>
          </a:p>
        </p:txBody>
      </p:sp>
      <p:sp>
        <p:nvSpPr>
          <p:cNvPr id="23" name="Text 19"/>
          <p:cNvSpPr txBox="1"/>
          <p:nvPr/>
        </p:nvSpPr>
        <p:spPr>
          <a:xfrm>
            <a:off x="3017520" y="3474720"/>
            <a:ext cx="2651760" cy="43891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34" charset="0"/>
                <a:ea typeface="Amiri" pitchFamily="34" charset="-122"/>
                <a:cs typeface="Amiri" pitchFamily="34" charset="-120"/>
              </a:rPr>
              <a:t>عَفْوًا</a:t>
            </a:r>
            <a:endParaRPr lang="ar-SA" sz="2000" dirty="0"/>
          </a:p>
        </p:txBody>
      </p:sp>
      <p:sp>
        <p:nvSpPr>
          <p:cNvPr id="24" name="Text 20"/>
          <p:cNvSpPr txBox="1"/>
          <p:nvPr/>
        </p:nvSpPr>
        <p:spPr>
          <a:xfrm>
            <a:off x="685800" y="3474720"/>
            <a:ext cx="2331720" cy="438912"/>
          </a:xfrm>
          <a:prstGeom prst="rect">
            <a:avLst/>
          </a:prstGeom>
          <a:noFill/>
          <a:ln/>
        </p:spPr>
        <p:txBody>
          <a:bodyPr wrap="square" lIns="0" tIns="0" rIns="0" bIns="0" rtlCol="0" anchor="ctr"/>
          <a:lstStyle/>
          <a:p>
            <a:pPr indent="0" marL="0">
              <a:buNone/>
            </a:pPr>
            <a:r>
              <a:rPr lang="en-US" sz="1200" b="1" dirty="0">
                <a:solidFill>
                  <a:srgbClr val="1F2A37"/>
                </a:solidFill>
                <a:latin typeface="Calibri" pitchFamily="34" charset="0"/>
                <a:ea typeface="Calibri" pitchFamily="34" charset="-122"/>
                <a:cs typeface="Calibri" pitchFamily="34" charset="-120"/>
              </a:rPr>
              <a:t>you’re welcome / excuse me</a:t>
            </a:r>
            <a:pPr indent="0" marL="0">
              <a:buNone/>
            </a:pPr>
            <a:endParaRPr lang="en-US" sz="1200" dirty="0"/>
          </a:p>
        </p:txBody>
      </p:sp>
      <p:sp>
        <p:nvSpPr>
          <p:cNvPr id="25" name="Text 21"/>
          <p:cNvSpPr txBox="1"/>
          <p:nvPr/>
        </p:nvSpPr>
        <p:spPr>
          <a:xfrm>
            <a:off x="3017520" y="3931920"/>
            <a:ext cx="2651760" cy="43891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34" charset="0"/>
                <a:ea typeface="Amiri" pitchFamily="34" charset="-122"/>
                <a:cs typeface="Amiri" pitchFamily="34" charset="-120"/>
              </a:rPr>
              <a:t>أَنَا آسِفٌ</a:t>
            </a:r>
            <a:endParaRPr lang="ar-SA" sz="2000" dirty="0"/>
          </a:p>
        </p:txBody>
      </p:sp>
      <p:sp>
        <p:nvSpPr>
          <p:cNvPr id="26" name="Text 22"/>
          <p:cNvSpPr txBox="1"/>
          <p:nvPr/>
        </p:nvSpPr>
        <p:spPr>
          <a:xfrm>
            <a:off x="685800" y="3931920"/>
            <a:ext cx="2331720" cy="438912"/>
          </a:xfrm>
          <a:prstGeom prst="rect">
            <a:avLst/>
          </a:prstGeom>
          <a:noFill/>
          <a:ln/>
        </p:spPr>
        <p:txBody>
          <a:bodyPr wrap="square" lIns="0" tIns="0" rIns="0" bIns="0" rtlCol="0" anchor="ctr"/>
          <a:lstStyle/>
          <a:p>
            <a:pPr indent="0" marL="0">
              <a:buNone/>
            </a:pPr>
            <a:r>
              <a:rPr lang="en-US" sz="1200" b="1" dirty="0">
                <a:solidFill>
                  <a:srgbClr val="1F2A37"/>
                </a:solidFill>
                <a:latin typeface="Calibri" pitchFamily="34" charset="0"/>
                <a:ea typeface="Calibri" pitchFamily="34" charset="-122"/>
                <a:cs typeface="Calibri" pitchFamily="34" charset="-120"/>
              </a:rPr>
              <a:t>I am sorry (boy speaking)</a:t>
            </a:r>
            <a:pPr indent="0" marL="0">
              <a:buNone/>
            </a:pPr>
            <a:r>
              <a:rPr lang="en-US" sz="1000" i="1" dirty="0">
                <a:solidFill>
                  <a:srgbClr val="5A6472"/>
                </a:solidFill>
                <a:latin typeface="Calibri" pitchFamily="34" charset="0"/>
                <a:ea typeface="Calibri" pitchFamily="34" charset="-122"/>
                <a:cs typeface="Calibri" pitchFamily="34" charset="-120"/>
              </a:rPr>
              <a:t>  f. آسِفَةٌ</a:t>
            </a:r>
            <a:endParaRPr lang="en-US" sz="1200" dirty="0"/>
          </a:p>
        </p:txBody>
      </p:sp>
      <p:sp>
        <p:nvSpPr>
          <p:cNvPr id="27" name="Text 23"/>
          <p:cNvSpPr txBox="1"/>
          <p:nvPr/>
        </p:nvSpPr>
        <p:spPr>
          <a:xfrm>
            <a:off x="3017520" y="4389120"/>
            <a:ext cx="2651760" cy="43891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34" charset="0"/>
                <a:ea typeface="Amiri" pitchFamily="34" charset="-122"/>
                <a:cs typeface="Amiri" pitchFamily="34" charset="-120"/>
              </a:rPr>
              <a:t>تَفَضَّلْ</a:t>
            </a:r>
            <a:endParaRPr lang="ar-SA" sz="2000" dirty="0"/>
          </a:p>
        </p:txBody>
      </p:sp>
      <p:sp>
        <p:nvSpPr>
          <p:cNvPr id="28" name="Text 24"/>
          <p:cNvSpPr txBox="1"/>
          <p:nvPr/>
        </p:nvSpPr>
        <p:spPr>
          <a:xfrm>
            <a:off x="685800" y="4389120"/>
            <a:ext cx="2331720" cy="438912"/>
          </a:xfrm>
          <a:prstGeom prst="rect">
            <a:avLst/>
          </a:prstGeom>
          <a:noFill/>
          <a:ln/>
        </p:spPr>
        <p:txBody>
          <a:bodyPr wrap="square" lIns="0" tIns="0" rIns="0" bIns="0" rtlCol="0" anchor="ctr"/>
          <a:lstStyle/>
          <a:p>
            <a:pPr indent="0" marL="0">
              <a:buNone/>
            </a:pPr>
            <a:r>
              <a:rPr lang="en-US" sz="1200" b="1" dirty="0">
                <a:solidFill>
                  <a:srgbClr val="1F2A37"/>
                </a:solidFill>
                <a:latin typeface="Calibri" pitchFamily="34" charset="0"/>
                <a:ea typeface="Calibri" pitchFamily="34" charset="-122"/>
                <a:cs typeface="Calibri" pitchFamily="34" charset="-120"/>
              </a:rPr>
              <a:t>here you are (to a boy)</a:t>
            </a:r>
            <a:pPr indent="0" marL="0">
              <a:buNone/>
            </a:pPr>
            <a:r>
              <a:rPr lang="en-US" sz="1000" i="1" dirty="0">
                <a:solidFill>
                  <a:srgbClr val="5A6472"/>
                </a:solidFill>
                <a:latin typeface="Calibri" pitchFamily="34" charset="0"/>
                <a:ea typeface="Calibri" pitchFamily="34" charset="-122"/>
                <a:cs typeface="Calibri" pitchFamily="34" charset="-120"/>
              </a:rPr>
              <a:t>  f. تَفَضَّلِي</a:t>
            </a:r>
            <a:endParaRPr lang="en-US" sz="1200" dirty="0"/>
          </a:p>
        </p:txBody>
      </p:sp>
      <p:sp>
        <p:nvSpPr>
          <p:cNvPr id="29" name="Text 25"/>
          <p:cNvSpPr txBox="1"/>
          <p:nvPr/>
        </p:nvSpPr>
        <p:spPr>
          <a:xfrm>
            <a:off x="685800" y="4892040"/>
            <a:ext cx="2743200" cy="237744"/>
          </a:xfrm>
          <a:prstGeom prst="rect">
            <a:avLst/>
          </a:prstGeom>
          <a:noFill/>
          <a:ln/>
        </p:spPr>
        <p:txBody>
          <a:bodyPr wrap="square" lIns="0" tIns="0" rIns="0" bIns="0" rtlCol="0" anchor="ctr"/>
          <a:lstStyle/>
          <a:p>
            <a:pPr algn="l" indent="0" marL="0">
              <a:buNone/>
            </a:pPr>
            <a:r>
              <a:rPr lang="en-US" sz="900" b="1" spc="200" kern="0" dirty="0">
                <a:solidFill>
                  <a:srgbClr val="C45A3C"/>
                </a:solidFill>
                <a:latin typeface="Calibri" pitchFamily="34" charset="0"/>
                <a:ea typeface="Calibri" pitchFamily="34" charset="-122"/>
                <a:cs typeface="Calibri" pitchFamily="34" charset="-120"/>
              </a:rPr>
              <a:t>AND ANSWER ONE QUESTION</a:t>
            </a:r>
            <a:endParaRPr lang="en-US" sz="900" dirty="0"/>
          </a:p>
        </p:txBody>
      </p:sp>
      <p:sp>
        <p:nvSpPr>
          <p:cNvPr id="30" name="Text 26"/>
          <p:cNvSpPr txBox="1"/>
          <p:nvPr/>
        </p:nvSpPr>
        <p:spPr>
          <a:xfrm>
            <a:off x="685800" y="5129784"/>
            <a:ext cx="2194560" cy="1005840"/>
          </a:xfrm>
          <a:prstGeom prst="rect">
            <a:avLst/>
          </a:prstGeom>
          <a:noFill/>
          <a:ln/>
        </p:spPr>
        <p:txBody>
          <a:bodyPr wrap="square" lIns="0" tIns="0" rIns="0" bIns="0" rtlCol="0" anchor="t"/>
          <a:lstStyle/>
          <a:p>
            <a:pPr algn="l" indent="0" marL="0">
              <a:buNone/>
            </a:pPr>
            <a:r>
              <a:rPr lang="en-US" sz="1050" dirty="0">
                <a:solidFill>
                  <a:srgbClr val="1F2A37"/>
                </a:solidFill>
                <a:latin typeface="Calibri" pitchFamily="34" charset="0"/>
                <a:ea typeface="Calibri" pitchFamily="34" charset="-122"/>
                <a:cs typeface="Calibri" pitchFamily="34" charset="-120"/>
              </a:rPr>
              <a:t>Which polite phrase do you use most in English at school? Find its Arabic partner in the list.</a:t>
            </a:r>
            <a:endParaRPr lang="en-US" sz="1050" dirty="0"/>
          </a:p>
        </p:txBody>
      </p:sp>
      <p:sp>
        <p:nvSpPr>
          <p:cNvPr id="31" name="Text 27"/>
          <p:cNvSpPr txBox="1"/>
          <p:nvPr/>
        </p:nvSpPr>
        <p:spPr>
          <a:xfrm>
            <a:off x="2926080" y="5074920"/>
            <a:ext cx="2743200" cy="1051560"/>
          </a:xfrm>
          <a:prstGeom prst="rect">
            <a:avLst/>
          </a:prstGeom>
          <a:noFill/>
          <a:ln/>
        </p:spPr>
        <p:txBody>
          <a:bodyPr wrap="square" lIns="0" tIns="0" rIns="0" bIns="0" rtlCol="0" anchor="ctr"/>
          <a:lstStyle/>
          <a:p>
            <a:pPr rtl="1" algn="r" indent="0" marL="0">
              <a:buNone/>
            </a:pPr>
            <a:r>
              <a:rPr lang="ar-SA" altLang="en-US" sz="1700" b="1" dirty="0">
                <a:solidFill>
                  <a:srgbClr val="1B3B6F"/>
                </a:solidFill>
                <a:latin typeface="Amiri" pitchFamily="34" charset="0"/>
                <a:ea typeface="Amiri" pitchFamily="34" charset="-122"/>
                <a:cs typeface="Amiri" pitchFamily="34" charset="-120"/>
              </a:rPr>
              <a:t>مِنْ فَضْلِكَ · شُكْرًا</a:t>
            </a:r>
            <a:endParaRPr lang="ar-SA" sz="1700" dirty="0"/>
          </a:p>
        </p:txBody>
      </p:sp>
      <p:sp>
        <p:nvSpPr>
          <p:cNvPr id="32" name="Text 28"/>
          <p:cNvSpPr txBox="1"/>
          <p:nvPr/>
        </p:nvSpPr>
        <p:spPr>
          <a:xfrm>
            <a:off x="6126480" y="1828800"/>
            <a:ext cx="5486400" cy="274320"/>
          </a:xfrm>
          <a:prstGeom prst="rect">
            <a:avLst/>
          </a:prstGeom>
          <a:noFill/>
          <a:ln/>
        </p:spPr>
        <p:txBody>
          <a:bodyPr wrap="square" lIns="0" tIns="0" rIns="0" bIns="0" rtlCol="0" anchor="ctr"/>
          <a:lstStyle/>
          <a:p>
            <a:pPr algn="l" indent="0" marL="0">
              <a:buNone/>
            </a:pPr>
            <a:r>
              <a:rPr lang="en-US" sz="1000" b="1" spc="200" kern="0" dirty="0">
                <a:solidFill>
                  <a:srgbClr val="1B3B6F"/>
                </a:solidFill>
                <a:latin typeface="Calibri" pitchFamily="34" charset="0"/>
                <a:ea typeface="Calibri" pitchFamily="34" charset="-122"/>
                <a:cs typeface="Calibri" pitchFamily="34" charset="-120"/>
              </a:rPr>
              <a:t>HOMEWORK — CHOOSE YOUR ROUTE</a:t>
            </a:r>
            <a:endParaRPr lang="en-US" sz="1000" dirty="0"/>
          </a:p>
        </p:txBody>
      </p:sp>
      <p:sp>
        <p:nvSpPr>
          <p:cNvPr id="33" name="Shape 29"/>
          <p:cNvSpPr/>
          <p:nvPr/>
        </p:nvSpPr>
        <p:spPr>
          <a:xfrm>
            <a:off x="6126480" y="2194560"/>
            <a:ext cx="5605272" cy="1243584"/>
          </a:xfrm>
          <a:prstGeom prst="roundRect">
            <a:avLst>
              <a:gd name="adj" fmla="val 5882"/>
            </a:avLst>
          </a:prstGeom>
          <a:solidFill>
            <a:srgbClr val="E9F5EE"/>
          </a:solidFill>
          <a:ln w="9525">
            <a:solidFill>
              <a:srgbClr val="2E8B57"/>
            </a:solidFill>
            <a:prstDash val="solid"/>
          </a:ln>
          <a:effectLst>
            <a:outerShdw sx="100000" sy="100000" kx="0" ky="0" algn="bl" rotWithShape="0" blurRad="50800" dist="19050" dir="5400000">
              <a:srgbClr val="000000">
                <a:alpha val="10000"/>
              </a:srgbClr>
            </a:outerShdw>
          </a:effectLst>
        </p:spPr>
      </p:sp>
      <p:sp>
        <p:nvSpPr>
          <p:cNvPr id="34" name="Shape 30"/>
          <p:cNvSpPr/>
          <p:nvPr/>
        </p:nvSpPr>
        <p:spPr>
          <a:xfrm>
            <a:off x="6309360" y="2322576"/>
            <a:ext cx="1051560" cy="274320"/>
          </a:xfrm>
          <a:prstGeom prst="roundRect">
            <a:avLst>
              <a:gd name="adj" fmla="val 50000"/>
            </a:avLst>
          </a:prstGeom>
          <a:solidFill>
            <a:srgbClr val="2E8B57"/>
          </a:solidFill>
          <a:ln w="12700">
            <a:solidFill>
              <a:srgbClr val="2E8B57"/>
            </a:solidFill>
            <a:prstDash val="solid"/>
          </a:ln>
        </p:spPr>
      </p:sp>
      <p:sp>
        <p:nvSpPr>
          <p:cNvPr id="35" name="Text 31"/>
          <p:cNvSpPr txBox="1"/>
          <p:nvPr/>
        </p:nvSpPr>
        <p:spPr>
          <a:xfrm>
            <a:off x="6309360" y="2322576"/>
            <a:ext cx="105156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ea typeface="Calibri" pitchFamily="34" charset="-122"/>
                <a:cs typeface="Calibri" pitchFamily="34" charset="-120"/>
              </a:rPr>
              <a:t>CORE</a:t>
            </a:r>
            <a:endParaRPr lang="en-US" sz="850" dirty="0"/>
          </a:p>
        </p:txBody>
      </p:sp>
      <p:sp>
        <p:nvSpPr>
          <p:cNvPr id="36" name="Text 32"/>
          <p:cNvSpPr txBox="1"/>
          <p:nvPr/>
        </p:nvSpPr>
        <p:spPr>
          <a:xfrm>
            <a:off x="6309360" y="2651760"/>
            <a:ext cx="5257800" cy="731520"/>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ea typeface="Calibri" pitchFamily="34" charset="-122"/>
                <a:cs typeface="Calibri" pitchFamily="34" charset="-120"/>
              </a:rPr>
              <a:t>Website F2-L05: Gender Detective (14 rounds) and the picture game.</a:t>
            </a:r>
            <a:endParaRPr lang="en-US" sz="1200" dirty="0"/>
          </a:p>
        </p:txBody>
      </p:sp>
      <p:sp>
        <p:nvSpPr>
          <p:cNvPr id="37" name="Shape 33"/>
          <p:cNvSpPr/>
          <p:nvPr/>
        </p:nvSpPr>
        <p:spPr>
          <a:xfrm>
            <a:off x="6126480" y="3566160"/>
            <a:ext cx="5605272" cy="1243584"/>
          </a:xfrm>
          <a:prstGeom prst="roundRect">
            <a:avLst>
              <a:gd name="adj" fmla="val 5882"/>
            </a:avLst>
          </a:prstGeom>
          <a:solidFill>
            <a:srgbClr val="FCF1E0"/>
          </a:solidFill>
          <a:ln w="9525">
            <a:solidFill>
              <a:srgbClr val="C9780A"/>
            </a:solidFill>
            <a:prstDash val="solid"/>
          </a:ln>
          <a:effectLst>
            <a:outerShdw sx="100000" sy="100000" kx="0" ky="0" algn="bl" rotWithShape="0" blurRad="50800" dist="19050" dir="5400000">
              <a:srgbClr val="000000">
                <a:alpha val="10000"/>
              </a:srgbClr>
            </a:outerShdw>
          </a:effectLst>
        </p:spPr>
      </p:sp>
      <p:sp>
        <p:nvSpPr>
          <p:cNvPr id="38" name="Shape 34"/>
          <p:cNvSpPr/>
          <p:nvPr/>
        </p:nvSpPr>
        <p:spPr>
          <a:xfrm>
            <a:off x="6309360" y="3694176"/>
            <a:ext cx="1051560" cy="274320"/>
          </a:xfrm>
          <a:prstGeom prst="roundRect">
            <a:avLst>
              <a:gd name="adj" fmla="val 50000"/>
            </a:avLst>
          </a:prstGeom>
          <a:solidFill>
            <a:srgbClr val="C9780A"/>
          </a:solidFill>
          <a:ln w="12700">
            <a:solidFill>
              <a:srgbClr val="C9780A"/>
            </a:solidFill>
            <a:prstDash val="solid"/>
          </a:ln>
        </p:spPr>
      </p:sp>
      <p:sp>
        <p:nvSpPr>
          <p:cNvPr id="39" name="Text 35"/>
          <p:cNvSpPr txBox="1"/>
          <p:nvPr/>
        </p:nvSpPr>
        <p:spPr>
          <a:xfrm>
            <a:off x="6309360" y="3694176"/>
            <a:ext cx="105156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ea typeface="Calibri" pitchFamily="34" charset="-122"/>
                <a:cs typeface="Calibri" pitchFamily="34" charset="-120"/>
              </a:rPr>
              <a:t>DEVELOP</a:t>
            </a:r>
            <a:endParaRPr lang="en-US" sz="850" dirty="0"/>
          </a:p>
        </p:txBody>
      </p:sp>
      <p:sp>
        <p:nvSpPr>
          <p:cNvPr id="40" name="Text 36"/>
          <p:cNvSpPr txBox="1"/>
          <p:nvPr/>
        </p:nvSpPr>
        <p:spPr>
          <a:xfrm>
            <a:off x="6309360" y="4023360"/>
            <a:ext cx="5257800" cy="731520"/>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ea typeface="Calibri" pitchFamily="34" charset="-122"/>
                <a:cs typeface="Calibri" pitchFamily="34" charset="-120"/>
              </a:rPr>
              <a:t>Write three accurate descriptions with five adjectives (type, draw or paper route).</a:t>
            </a:r>
            <a:endParaRPr lang="en-US" sz="1200" dirty="0"/>
          </a:p>
        </p:txBody>
      </p:sp>
      <p:sp>
        <p:nvSpPr>
          <p:cNvPr id="41" name="Shape 37"/>
          <p:cNvSpPr/>
          <p:nvPr/>
        </p:nvSpPr>
        <p:spPr>
          <a:xfrm>
            <a:off x="6126480" y="4937760"/>
            <a:ext cx="5605272" cy="1243584"/>
          </a:xfrm>
          <a:prstGeom prst="roundRect">
            <a:avLst>
              <a:gd name="adj" fmla="val 5882"/>
            </a:avLst>
          </a:prstGeom>
          <a:solidFill>
            <a:srgbClr val="FBEAEA"/>
          </a:solidFill>
          <a:ln w="9525">
            <a:solidFill>
              <a:srgbClr val="B83227"/>
            </a:solidFill>
            <a:prstDash val="solid"/>
          </a:ln>
          <a:effectLst>
            <a:outerShdw sx="100000" sy="100000" kx="0" ky="0" algn="bl" rotWithShape="0" blurRad="50800" dist="19050" dir="5400000">
              <a:srgbClr val="000000">
                <a:alpha val="10000"/>
              </a:srgbClr>
            </a:outerShdw>
          </a:effectLst>
        </p:spPr>
      </p:sp>
      <p:sp>
        <p:nvSpPr>
          <p:cNvPr id="42" name="Shape 38"/>
          <p:cNvSpPr/>
          <p:nvPr/>
        </p:nvSpPr>
        <p:spPr>
          <a:xfrm>
            <a:off x="6309360" y="5065776"/>
            <a:ext cx="1051560" cy="274320"/>
          </a:xfrm>
          <a:prstGeom prst="roundRect">
            <a:avLst>
              <a:gd name="adj" fmla="val 50000"/>
            </a:avLst>
          </a:prstGeom>
          <a:solidFill>
            <a:srgbClr val="B83227"/>
          </a:solidFill>
          <a:ln w="12700">
            <a:solidFill>
              <a:srgbClr val="B83227"/>
            </a:solidFill>
            <a:prstDash val="solid"/>
          </a:ln>
        </p:spPr>
      </p:sp>
      <p:sp>
        <p:nvSpPr>
          <p:cNvPr id="43" name="Text 39"/>
          <p:cNvSpPr txBox="1"/>
          <p:nvPr/>
        </p:nvSpPr>
        <p:spPr>
          <a:xfrm>
            <a:off x="6309360" y="5065776"/>
            <a:ext cx="105156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ea typeface="Calibri" pitchFamily="34" charset="-122"/>
                <a:cs typeface="Calibri" pitchFamily="34" charset="-120"/>
              </a:rPr>
              <a:t>STRETCH</a:t>
            </a:r>
            <a:endParaRPr lang="en-US" sz="850" dirty="0"/>
          </a:p>
        </p:txBody>
      </p:sp>
      <p:sp>
        <p:nvSpPr>
          <p:cNvPr id="44" name="Text 40"/>
          <p:cNvSpPr txBox="1"/>
          <p:nvPr/>
        </p:nvSpPr>
        <p:spPr>
          <a:xfrm>
            <a:off x="6309360" y="5394960"/>
            <a:ext cx="5257800" cy="731520"/>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ea typeface="Calibri" pitchFamily="34" charset="-122"/>
                <a:cs typeface="Calibri" pitchFamily="34" charset="-120"/>
              </a:rPr>
              <a:t>Add two adjectives in one sentence and a feminine noun without </a:t>
            </a:r>
            <a:pPr algn="l" indent="0" marL="0">
              <a:buNone/>
            </a:pPr>
            <a:r>
              <a:rPr lang="ar-SA" altLang="en-US" sz="1550" dirty="0">
                <a:solidFill>
                  <a:srgbClr val="1F2A37"/>
                </a:solidFill>
                <a:latin typeface="Amiri" pitchFamily="34" charset="0"/>
                <a:ea typeface="Amiri" pitchFamily="34" charset="-122"/>
                <a:cs typeface="Amiri" pitchFamily="34" charset="-120"/>
              </a:rPr>
              <a:t>ة</a:t>
            </a:r>
            <a:pPr algn="l" indent="0" marL="0">
              <a:buNone/>
            </a:pPr>
            <a:r>
              <a:rPr lang="en-US" sz="1200" dirty="0">
                <a:solidFill>
                  <a:srgbClr val="1F2A37"/>
                </a:solidFill>
                <a:latin typeface="Calibri" pitchFamily="34" charset="0"/>
                <a:ea typeface="Calibri" pitchFamily="34" charset="-122"/>
                <a:cs typeface="Calibri" pitchFamily="34" charset="-120"/>
              </a:rPr>
              <a:t>; then the 12-question checkpoint (aim for 10/12).</a:t>
            </a:r>
            <a:endParaRPr lang="en-US" sz="1200" dirty="0"/>
          </a:p>
        </p:txBody>
      </p:sp>
      <p:sp>
        <p:nvSpPr>
          <p:cNvPr id="45" name="Text 4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ea typeface="Calibri" pitchFamily="34" charset="-122"/>
                <a:cs typeface="Calibri" pitchFamily="34" charset="-120"/>
              </a:rPr>
              <a:t>35 / 36</a:t>
            </a:r>
            <a:endParaRPr lang="en-US" sz="850" dirty="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bg>
      <p:bgPr>
        <a:solidFill>
          <a:srgbClr val="0D1F3C"/>
        </a:solidFill>
      </p:bgPr>
    </p:bg>
    <p:spTree>
      <p:nvGrpSpPr>
        <p:cNvPr id="1" name=""/>
        <p:cNvGrpSpPr/>
        <p:nvPr/>
      </p:nvGrpSpPr>
      <p:grpSpPr>
        <a:xfrm>
          <a:off x="0" y="0"/>
          <a:ext cx="0" cy="0"/>
          <a:chOff x="0" y="0"/>
          <a:chExt cx="0" cy="0"/>
        </a:xfrm>
      </p:grpSpPr>
      <p:sp>
        <p:nvSpPr>
          <p:cNvPr id="2" name="Shape 0"/>
          <p:cNvSpPr/>
          <p:nvPr/>
        </p:nvSpPr>
        <p:spPr>
          <a:xfrm>
            <a:off x="7863840" y="1097280"/>
            <a:ext cx="5852160" cy="5852160"/>
          </a:xfrm>
          <a:prstGeom prst="ellipse">
            <a:avLst/>
          </a:prstGeom>
          <a:solidFill>
            <a:srgbClr val="14315C"/>
          </a:solidFill>
          <a:ln w="12700">
            <a:solidFill>
              <a:srgbClr val="14315C"/>
            </a:solidFill>
            <a:prstDash val="solid"/>
          </a:ln>
        </p:spPr>
      </p:sp>
      <p:sp>
        <p:nvSpPr>
          <p:cNvPr id="3" name="Shape 1"/>
          <p:cNvSpPr/>
          <p:nvPr/>
        </p:nvSpPr>
        <p:spPr>
          <a:xfrm>
            <a:off x="9372600" y="2606040"/>
            <a:ext cx="1737360" cy="1737360"/>
          </a:xfrm>
          <a:prstGeom prst="ellipse">
            <a:avLst/>
          </a:prstGeom>
          <a:solidFill>
            <a:srgbClr val="D4AF37"/>
          </a:solidFill>
          <a:ln w="12700">
            <a:solidFill>
              <a:srgbClr val="D4AF37"/>
            </a:solidFill>
            <a:prstDash val="solid"/>
          </a:ln>
        </p:spPr>
      </p:sp>
      <p:pic>
        <p:nvPicPr>
          <p:cNvPr id="4" name="Image 0" descr="preencoded.png">    </p:cNvPr>
          <p:cNvPicPr>
            <a:picLocks noChangeAspect="1"/>
          </p:cNvPicPr>
          <p:nvPr/>
        </p:nvPicPr>
        <p:blipFill>
          <a:blip r:embed="rId1"/>
          <a:stretch>
            <a:fillRect/>
          </a:stretch>
        </p:blipFill>
        <p:spPr>
          <a:xfrm>
            <a:off x="9710928" y="2944368"/>
            <a:ext cx="1060704" cy="1060704"/>
          </a:xfrm>
          <a:prstGeom prst="rect">
            <a:avLst/>
          </a:prstGeom>
        </p:spPr>
      </p:pic>
      <p:sp>
        <p:nvSpPr>
          <p:cNvPr id="5" name="Text 2"/>
          <p:cNvSpPr txBox="1"/>
          <p:nvPr/>
        </p:nvSpPr>
        <p:spPr>
          <a:xfrm>
            <a:off x="457200" y="1280160"/>
            <a:ext cx="5486400" cy="274320"/>
          </a:xfrm>
          <a:prstGeom prst="rect">
            <a:avLst/>
          </a:prstGeom>
          <a:noFill/>
          <a:ln/>
        </p:spPr>
        <p:txBody>
          <a:bodyPr wrap="square" lIns="0" tIns="0" rIns="0" bIns="0" rtlCol="0" anchor="ctr"/>
          <a:lstStyle/>
          <a:p>
            <a:pPr algn="l" indent="0" marL="0">
              <a:buNone/>
            </a:pPr>
            <a:r>
              <a:rPr lang="en-US" sz="1100" b="1" spc="300" kern="0" dirty="0">
                <a:solidFill>
                  <a:srgbClr val="D4AF37"/>
                </a:solidFill>
                <a:latin typeface="Calibri" pitchFamily="34" charset="0"/>
                <a:ea typeface="Calibri" pitchFamily="34" charset="-122"/>
                <a:cs typeface="Calibri" pitchFamily="34" charset="-120"/>
              </a:rPr>
              <a:t>F2-L05 COMPLETE</a:t>
            </a:r>
            <a:endParaRPr lang="en-US" sz="1100" dirty="0"/>
          </a:p>
        </p:txBody>
      </p:sp>
      <p:sp>
        <p:nvSpPr>
          <p:cNvPr id="6" name="Text 3"/>
          <p:cNvSpPr txBox="1"/>
          <p:nvPr/>
        </p:nvSpPr>
        <p:spPr>
          <a:xfrm>
            <a:off x="457200" y="1691640"/>
            <a:ext cx="7315200" cy="914400"/>
          </a:xfrm>
          <a:prstGeom prst="rect">
            <a:avLst/>
          </a:prstGeom>
          <a:noFill/>
          <a:ln/>
        </p:spPr>
        <p:txBody>
          <a:bodyPr wrap="square" lIns="0" tIns="0" rIns="0" bIns="0" rtlCol="0" anchor="ctr"/>
          <a:lstStyle/>
          <a:p>
            <a:pPr rtl="1" algn="l" indent="0" marL="0">
              <a:buNone/>
            </a:pPr>
            <a:r>
              <a:rPr lang="ar-SA" altLang="en-US" sz="4000" b="1" dirty="0">
                <a:solidFill>
                  <a:srgbClr val="FFFFFF"/>
                </a:solidFill>
                <a:latin typeface="Amiri" pitchFamily="34" charset="0"/>
                <a:ea typeface="Amiri" pitchFamily="34" charset="-122"/>
                <a:cs typeface="Amiri" pitchFamily="34" charset="-120"/>
              </a:rPr>
              <a:t>أَحْسَنْتُمْ! إِلَى اللِّقَاءِ</a:t>
            </a:r>
            <a:endParaRPr lang="ar-SA" sz="4000" dirty="0"/>
          </a:p>
        </p:txBody>
      </p:sp>
      <p:sp>
        <p:nvSpPr>
          <p:cNvPr id="7" name="Text 4"/>
          <p:cNvSpPr txBox="1"/>
          <p:nvPr/>
        </p:nvSpPr>
        <p:spPr>
          <a:xfrm>
            <a:off x="457200" y="2606040"/>
            <a:ext cx="7315200" cy="411480"/>
          </a:xfrm>
          <a:prstGeom prst="rect">
            <a:avLst/>
          </a:prstGeom>
          <a:noFill/>
          <a:ln/>
        </p:spPr>
        <p:txBody>
          <a:bodyPr wrap="square" lIns="0" tIns="0" rIns="0" bIns="0" rtlCol="0" anchor="ctr"/>
          <a:lstStyle/>
          <a:p>
            <a:pPr algn="l" indent="0" marL="0">
              <a:buNone/>
            </a:pPr>
            <a:r>
              <a:rPr lang="en-US" sz="1600" i="1" dirty="0">
                <a:solidFill>
                  <a:srgbClr val="C6D2E6"/>
                </a:solidFill>
                <a:latin typeface="Calibri" pitchFamily="34" charset="0"/>
                <a:ea typeface="Calibri" pitchFamily="34" charset="-122"/>
                <a:cs typeface="Calibri" pitchFamily="34" charset="-120"/>
              </a:rPr>
              <a:t>Well done — see you next lesson.</a:t>
            </a:r>
            <a:endParaRPr lang="en-US" sz="1600" dirty="0"/>
          </a:p>
        </p:txBody>
      </p:sp>
      <p:sp>
        <p:nvSpPr>
          <p:cNvPr id="8" name="Text 5"/>
          <p:cNvSpPr txBox="1"/>
          <p:nvPr/>
        </p:nvSpPr>
        <p:spPr>
          <a:xfrm>
            <a:off x="457200" y="3566160"/>
            <a:ext cx="5486400" cy="274320"/>
          </a:xfrm>
          <a:prstGeom prst="rect">
            <a:avLst/>
          </a:prstGeom>
          <a:noFill/>
          <a:ln/>
        </p:spPr>
        <p:txBody>
          <a:bodyPr wrap="square" lIns="0" tIns="0" rIns="0" bIns="0" rtlCol="0" anchor="ctr"/>
          <a:lstStyle/>
          <a:p>
            <a:pPr algn="l" indent="0" marL="0">
              <a:buNone/>
            </a:pPr>
            <a:r>
              <a:rPr lang="en-US" sz="1100" b="1" spc="300" kern="0" dirty="0">
                <a:solidFill>
                  <a:srgbClr val="D4AF37"/>
                </a:solidFill>
                <a:latin typeface="Calibri" pitchFamily="34" charset="0"/>
                <a:ea typeface="Calibri" pitchFamily="34" charset="-122"/>
                <a:cs typeface="Calibri" pitchFamily="34" charset="-120"/>
              </a:rPr>
              <a:t>NEXT LESSON</a:t>
            </a:r>
            <a:endParaRPr lang="en-US" sz="1100" dirty="0"/>
          </a:p>
        </p:txBody>
      </p:sp>
      <p:sp>
        <p:nvSpPr>
          <p:cNvPr id="9" name="Text 6"/>
          <p:cNvSpPr txBox="1"/>
          <p:nvPr/>
        </p:nvSpPr>
        <p:spPr>
          <a:xfrm>
            <a:off x="457200" y="3886200"/>
            <a:ext cx="7315200" cy="548640"/>
          </a:xfrm>
          <a:prstGeom prst="rect">
            <a:avLst/>
          </a:prstGeom>
          <a:noFill/>
          <a:ln/>
        </p:spPr>
        <p:txBody>
          <a:bodyPr wrap="square" lIns="0" tIns="0" rIns="0" bIns="0" rtlCol="0" anchor="ctr"/>
          <a:lstStyle/>
          <a:p>
            <a:pPr algn="l" indent="0" marL="0">
              <a:buNone/>
            </a:pPr>
            <a:r>
              <a:rPr lang="en-US" sz="2800" b="1" dirty="0">
                <a:solidFill>
                  <a:srgbClr val="FFFFFF"/>
                </a:solidFill>
                <a:latin typeface="Cambria" pitchFamily="34" charset="0"/>
                <a:ea typeface="Cambria" pitchFamily="34" charset="-122"/>
                <a:cs typeface="Cambria" pitchFamily="34" charset="-120"/>
              </a:rPr>
              <a:t>F2-L06 · Polite Classroom Arabic</a:t>
            </a:r>
            <a:endParaRPr lang="en-US" sz="2800" dirty="0"/>
          </a:p>
        </p:txBody>
      </p:sp>
      <p:sp>
        <p:nvSpPr>
          <p:cNvPr id="10" name="Text 7"/>
          <p:cNvSpPr txBox="1"/>
          <p:nvPr/>
        </p:nvSpPr>
        <p:spPr>
          <a:xfrm>
            <a:off x="457200" y="4434840"/>
            <a:ext cx="7315200" cy="548640"/>
          </a:xfrm>
          <a:prstGeom prst="rect">
            <a:avLst/>
          </a:prstGeom>
          <a:noFill/>
          <a:ln/>
        </p:spPr>
        <p:txBody>
          <a:bodyPr wrap="square" lIns="0" tIns="0" rIns="0" bIns="0" rtlCol="0" anchor="ctr"/>
          <a:lstStyle/>
          <a:p>
            <a:pPr rtl="1" algn="l" indent="0" marL="0">
              <a:buNone/>
            </a:pPr>
            <a:r>
              <a:rPr lang="ar-SA" altLang="en-US" sz="2400" b="1" dirty="0">
                <a:solidFill>
                  <a:srgbClr val="D4AF37"/>
                </a:solidFill>
                <a:latin typeface="Amiri" pitchFamily="34" charset="0"/>
                <a:ea typeface="Amiri" pitchFamily="34" charset="-122"/>
                <a:cs typeface="Amiri" pitchFamily="34" charset="-120"/>
              </a:rPr>
              <a:t>لُغَةُ الأَدَبِ فِي الصَّفِّ</a:t>
            </a:r>
            <a:endParaRPr lang="ar-SA" sz="2400" dirty="0"/>
          </a:p>
        </p:txBody>
      </p:sp>
      <p:sp>
        <p:nvSpPr>
          <p:cNvPr id="11" name="Text 8"/>
          <p:cNvSpPr txBox="1"/>
          <p:nvPr/>
        </p:nvSpPr>
        <p:spPr>
          <a:xfrm>
            <a:off x="457200" y="5303520"/>
            <a:ext cx="7315200" cy="365760"/>
          </a:xfrm>
          <a:prstGeom prst="rect">
            <a:avLst/>
          </a:prstGeom>
          <a:noFill/>
          <a:ln/>
        </p:spPr>
        <p:txBody>
          <a:bodyPr wrap="square" lIns="0" tIns="0" rIns="0" bIns="0" rtlCol="0" anchor="ctr"/>
          <a:lstStyle/>
          <a:p>
            <a:pPr algn="l" indent="0" marL="0">
              <a:buNone/>
            </a:pPr>
            <a:r>
              <a:rPr lang="en-US" sz="1300" b="1" dirty="0">
                <a:solidFill>
                  <a:srgbClr val="FFFFFF"/>
                </a:solidFill>
                <a:latin typeface="Calibri" pitchFamily="34" charset="0"/>
                <a:ea typeface="Calibri" pitchFamily="34" charset="-122"/>
                <a:cs typeface="Calibri" pitchFamily="34" charset="-120"/>
              </a:rPr>
              <a:t>Remember: learn 5 polite phrases (boy / girl forms).</a:t>
            </a:r>
            <a:endParaRPr lang="en-US" sz="13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36</Slides>
  <Notes>36</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36</vt:i4>
      </vt:variant>
    </vt:vector>
  </HeadingPairs>
  <TitlesOfParts>
    <vt:vector size="39"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vector>
  </TitlesOfParts>
  <Company>Al Madina Online School</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F2-L05 · Masculine and Feminine: Make the Pair Match</dc:title>
  <dc:subject>PptxGenJS Presentation</dc:subject>
  <dc:creator>Al Madina Online School · Arabic Department</dc:creator>
  <cp:lastModifiedBy>Al Madina Online School · Arabic Department</cp:lastModifiedBy>
  <cp:revision>1</cp:revision>
  <dcterms:created xsi:type="dcterms:W3CDTF">2026-09-27T10:15:02Z</dcterms:created>
  <dcterms:modified xsi:type="dcterms:W3CDTF">2026-09-27T10:15:02Z</dcterms:modified>
</cp:coreProperties>
</file>