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10–18 Form fields and connectives · 18–20 Quick check · 20–23 I Do (draft → improved) · 23–35 We Do (paragraph order, editor’s lens, dictation, reading) · 35–49 You Do (read-aloud + write) · 49–54 Feedback · 54–56 Preparation.
FLEX slides are optional. Use them if the class is moving quickly; otherwise the same activities are on the website for homework.
Content source: Miftah Arabic website, Pathways › Foundation › F2 Greetings &amp; Introductions › Lesson 11 (F2-L11). Website sections used: the writer’s route, the eight-question retrieval, the form and connected-writing vocabulary (with the recognition fields), the twelve-question form-language check, the form lab (Maryam’s fictional identity card), the connectives with examples and the ten-question connective workshop, the Paragraph Order Mission (7 cards), Draft 1 vs the improved model, the eight-question editor’s lens, Salma’s dictation (8 questions), Layla’s model profile (12 questions), the read-aloud editing routine, the polished-introduction task and the twelve-question writing checkpoint. The website visual game repeats the F2-L02 cards and is not used here.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WRITING-PROCESS lesson: the product is a polished introduction that students will reuse in the F2-L12 writing assessment. Make the five-step writer’s route visible all lesson.
• Core: complete the form + four accurate sentences with the model. Develop: five or six sentences, three connectives. Stretch: 50–70 words, a reason with لِأَنَّ (as a modelled chunk: لِأَنَّهَا مُفِيدَةٌ / لِأَنَّهُ جَمِيلٌ), self-editing.
• Website Foundation rule: use لِأَنَّ as a complete modelled chunk — no analysis of attached pronouns yet.
• PRIVACY (website): never enter real contact details; fictional identities are equally valid.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from the website “eight-question introduction retrieval” (age, residence, a female nationality).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introduction is planned, connected, checked and improved — not written once and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 (left) and the website challenge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مسودہ (draft — the same word!), تاریخ (date → تَارِيخُ المِيلَادِ date of birth), عنوان (FALSE FRIEND: Urdu title/heading; Arabic address on a form), لقب, تحسین (Urdu praise; Arabic improvement — same root ḥ-s-n, “making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FORM FIELDS (website “Read the language of forms”). Website strategy: a form usually needs a word, short phrase or number — not a full paragraph. Scan the label → copy only the relevant detail → keep agreement accurate → check script and numerals (13 and ١٣ both appear).
Receptive extension (website): تَارِيخُ المِيلَادِ date of birth · رَقْمُ الهَاتِفِ telephone number · البَرِيدُ الإِلِكْتُرُونِيُّ email — FICTIONAL details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CONNECTIVES (website section 4). Website Foundation rule: use لِأَنَّ as a complete modelled chunk (لِأَنَّهَا مُفِيدَةٌ · لِأَنَّهُ جَمِيلٌ); a fuller analysis of attached pronouns belongs in later grammar study.
Tip: لِأَنَّهَا for a feminine hobby (القِرَاءَةُ، السِّبَاحَةُ) and لِأَنَّهُ for a masculine one (الرَّسْمُ) — present as “copy the model”, not a rule.
Writing-process words (website): مَسَوَّدَةٌ draft · مُرَاجَعَةٌ checking · تَحْسِينٌ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WRITER’S ROUTE (website header + the four checking steps in section 10). Keep this slide visible (or pinned in chat) during You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“Ten-question connective workshop”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website section 6: “The information may be correct in both versions. The stronger version connects ideas, adds a reason and closes politely.” Think aloud row by row, then students COPY the improved column.
Website craft labels: 👋 greeting (natural opening) · 🔗 connectives (relationships) · 💡 reason (explains an interest) · ✅ polite close (finishes clearly). The full website model also adds جِنْسِيَّتِي بَرِيطَانِيَّةٌ and أَنَا طَالِبٌ.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Paragraph Order Mission (3 min). “A strong introduction opens politely, gives connected information, adds an interest and closes politely.”
ANSWER: E C G A F D B — i.e. greeting → name + age → origin + residence → nationality → languages → interest + reason → close.
Core: find the first and the last card only. Develop / Stretch: the whole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SLIDE. Students correct their order; then everyone reads the finished paragraph aloud together — it is the website’s improved Yusuf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8 editor’s-lens decisions. Each one is an item on the final checklist — students will use exactly these questions on their own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step of the writer’s route is this?” (connect / check /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Stretch writes the full dictation.
Listen 1: just listen. Listen 2: note answers. Then chat the letters.
Support: after the second listening, show the read-along slide (Arabic + English, line by line) for Core students.
SCRIPT (read aloud):
السَّلَامُ عَلَيْكُمْ. اِسْمِي سَلْمَى، وَعُمْرِي ثَلَاثَ عَشْرَةَ سَنَةً. أَنَا مِنْ سُورِيَا، وَأَسْكُنُ فِي مَانْشِسْتَرَ. جِنْسِيَّتِي سُورِيَّةٌ، وَأَتَكَلَّمُ العَرَبِيَّةَ وَالإِنْجِلِيزِيَّةَ أَيْضًا. أَنَا طَالِبَةٌ، وَأُحِبُّ الرَّسْمَ لِأَنَّهُ جَمِيلٌ. شُكْرًا، وَإِلَى اللِّقَاءِ.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READING (website section 8). Website: read for meaning first; then read again to notice form fields, connectives, gender agreement, a reason and the polite opening and close. The English column labels the WRITER’S CRAFT, not a translation — students find the connective in each line (وَ · وَلَكِنْ · أَيْضًا · لِأَنَّ).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reading questions 1, 4, 7, 10 and 11 (the other 7 are homework). Q5 (وَلَكِنْ) is the Stretch model: a contrast between origin and residence.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“READ YOUR WRITING ALOUD TO TEST IT” — reading aloud is an EDITING tool: it helps you hear missing words, repeated openings and where punctuation should create a pause.
Three readings (website, shown as the stems): 1 Meaning — can a listener identify name, age, origin, residence, languages and interest? · 2 Flow — pause at full stops and commas; make وَ، أَيْضًا، ثُمَّ، لِأَنَّ sound connected · 3 Accuracy — long vowels, final feminine forms, the age phrase ending سَنَةً.
Website rehearsal checklist (chat ticks): steady pace · paused at punctuation · age and nationality clear · made one improvement after listening to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Complete the form, then four to six accurate lines using the model. · Develop — Five or six connected sentences with at least three connectives. · Stretch — 50–70 words, a reason with لِأَنَّ, and independent editing.
Website writing task (Stretch): Website writing task: your polished personal introduction (real information only if you are comfortable; a fictional identity is equally valid): greeting · name and age · origin and residence · nationality and languages · interest and reason · polite close.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This is the website “full-mark model” from the F2-L12 writing assessment — the standard students are aiming for next lesson.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(F2-L12 · Review and Unit Assessment) will spend class time USING this language, so students prepare it tonight — short, simple, easy to access (school guidance: “Simple, Short, Interesting, Relevant, Easy to access”). The five words are the website F2-L12 assessment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cs typeface="Amiri" pitchFamily="2" charset="-78"/>
              </a:rPr>
              <a:t>Writing a Short Personal Introduction</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كِتَابَةُ تَعْرِيفٍ شَخْصِيٍّ قَصِيرٍ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Turn personal facts into accurate form answers and a polished Arabic introduction: plan first, connect ideas with </a:t>
            </a:r>
            <a:pPr algn="l" indent="0" marL="0">
              <a:buNone/>
            </a:pPr>
            <a:r>
              <a:rPr lang="ar-SA" altLang="en-US" sz="1800" dirty="0">
                <a:solidFill>
                  <a:srgbClr val="C6D2E6"/>
                </a:solidFill>
                <a:latin typeface="Amiri" pitchFamily="2" charset="-78"/>
                <a:ea typeface="Amiri" pitchFamily="2" charset="-78"/>
                <a:cs typeface="Amiri" pitchFamily="2" charset="-78"/>
              </a:rPr>
              <a:t>وَ، أَيْضًا، ثُمَّ، لِأَنَّ</a:t>
            </a:r>
            <a:pPr algn="l" indent="0" marL="0">
              <a:buNone/>
            </a:pPr>
            <a:r>
              <a:rPr lang="en-US" sz="1400" dirty="0">
                <a:solidFill>
                  <a:srgbClr val="C6D2E6"/>
                </a:solidFill>
                <a:latin typeface="Calibri" pitchFamily="34" charset="0"/>
                <a:cs typeface="Amiri" pitchFamily="2" charset="-78"/>
              </a:rPr>
              <a:t>, check the detail, and improve the draft before you finish.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F2-L11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Form fields, connectives and the writer’s route.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Order a paragraph, edit a draft, dictation and reading.</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also</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مَسَوَّدَةٌ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draft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signature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form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the speaker’s age?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عُمْرُهَا ثَلَاثَ عَشْرَةَ.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ثَلَاثَ عَشْرَةَ سَنَةً.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live in Bristol’.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بَرِيسْتُولَ.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أَتَكَلَّمُ بَرِيسْتُولَ.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فِي بَرِيسْتُولَ.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student says ‘My nationality is Lebanese’. Choose the correct line.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جِنْسِيَّتِي لُبْنَانِيَّةٌ.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جِنْسِيَّتِي لُبْنَانِيٌّ.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جِنْسِيَّتُهُ لُبْنَانِيَّةٌ.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because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also</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مَسَوَّدَةٌ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draft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signature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form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the speaker’s age?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عُمْرُهَا ثَلَاثَ عَشْرَةَ.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عُمْرِي ثَلَاثَ عَشْرَةَ سَنَةً.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عُمْرِي</a:t>
            </a:r>
            <a:pPr algn="l" indent="0" marL="0">
              <a:buNone/>
            </a:pPr>
            <a:r>
              <a:rPr lang="en-US" sz="1050" i="1" dirty="0">
                <a:solidFill>
                  <a:srgbClr val="8A6D1E"/>
                </a:solidFill>
                <a:latin typeface="Calibri" pitchFamily="34" charset="0"/>
                <a:cs typeface="Amiri" pitchFamily="2" charset="-78"/>
              </a:rPr>
              <a:t> means ‘my age’, and </a:t>
            </a:r>
            <a:pPr algn="l" indent="0" marL="0">
              <a:buNone/>
            </a:pPr>
            <a:r>
              <a:rPr lang="ar-SA" altLang="en-US" sz="1350" dirty="0">
                <a:solidFill>
                  <a:srgbClr val="8A6D1E"/>
                </a:solidFill>
                <a:latin typeface="Amiri" pitchFamily="2" charset="-78"/>
                <a:ea typeface="Amiri" pitchFamily="2" charset="-78"/>
                <a:cs typeface="Amiri" pitchFamily="2" charset="-78"/>
              </a:rPr>
              <a:t>سَنَةً</a:t>
            </a:r>
            <a:pPr algn="l" indent="0" marL="0">
              <a:buNone/>
            </a:pPr>
            <a:r>
              <a:rPr lang="en-US" sz="1050" i="1" dirty="0">
                <a:solidFill>
                  <a:srgbClr val="8A6D1E"/>
                </a:solidFill>
                <a:latin typeface="Calibri" pitchFamily="34" charset="0"/>
                <a:cs typeface="Amiri" pitchFamily="2" charset="-78"/>
              </a:rPr>
              <a:t> completes the age phrase.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live in Bristol’.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مِنْ بَرِيسْتُولَ.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أَتَكَلَّمُ بَرِيسْتُولَ.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أَسْكُنُ فِي بَرِيسْتُولَ.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أَسْكُنُ فِي</a:t>
            </a:r>
            <a:pPr algn="l" indent="0" marL="0">
              <a:buNone/>
            </a:pPr>
            <a:r>
              <a:rPr lang="en-US" sz="1050" i="1" dirty="0">
                <a:solidFill>
                  <a:srgbClr val="8A6D1E"/>
                </a:solidFill>
                <a:latin typeface="Calibri" pitchFamily="34" charset="0"/>
                <a:cs typeface="Amiri" pitchFamily="2" charset="-78"/>
              </a:rPr>
              <a:t> introduces place of residence.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student says ‘My nationality is Lebanese’. Choose the correct line.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جِنْسِيَّتِي لُبْنَانِيَّةٌ.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جِنْسِيَّتِي لُبْنَانِيٌّ.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جِنْسِيَّتُهُ لُبْنَانِيَّةٌ.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nationality adjective is </a:t>
            </a:r>
            <a:pPr algn="l" indent="0" marL="0">
              <a:buNone/>
            </a:pPr>
            <a:r>
              <a:rPr lang="ar-SA" altLang="en-US" sz="1350" dirty="0">
                <a:solidFill>
                  <a:srgbClr val="8A6D1E"/>
                </a:solidFill>
                <a:latin typeface="Amiri" pitchFamily="2" charset="-78"/>
                <a:ea typeface="Amiri" pitchFamily="2" charset="-78"/>
                <a:cs typeface="Amiri" pitchFamily="2" charset="-78"/>
              </a:rPr>
              <a:t>لُبْنَانِيَّةٌ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strong introduction is planned, connected, checked and improved — not written once and left.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خَطِّطْ · اُكْتُبْ · رَاجِعْ · حَسِّنْ</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complete common Arabic form fields.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four- to six-line fully vowelled introduction.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Join and improve sentences with </a:t>
            </a:r>
            <a:pPr algn="l" indent="0" marL="0">
              <a:buNone/>
            </a:pPr>
            <a:r>
              <a:rPr lang="ar-SA" altLang="en-US" sz="1700" dirty="0">
                <a:solidFill>
                  <a:srgbClr val="1F2A37"/>
                </a:solidFill>
                <a:latin typeface="Amiri" pitchFamily="2" charset="-78"/>
                <a:ea typeface="Amiri" pitchFamily="2" charset="-78"/>
                <a:cs typeface="Amiri" pitchFamily="2" charset="-78"/>
              </a:rPr>
              <a:t>وَ، أَيْضًا، ثُمَّ، لِأَنَّ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Check content, spelling, gender and punctuation before finishing.</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complete the form.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four accurate sentences with the model.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five or six connected sentences.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least three connectives.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50–70 words with a reason.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edit my own work independently.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Form fields, five connectives and three writing-process words — all from the website. Core: the six fields, </a:t>
            </a:r>
            <a:pPr algn="l" indent="0" marL="0">
              <a:buNone/>
            </a:pPr>
            <a:r>
              <a:rPr lang="ar-SA" altLang="en-US" sz="2100" dirty="0">
                <a:solidFill>
                  <a:srgbClr val="C6D2E6"/>
                </a:solidFill>
                <a:latin typeface="Amiri" pitchFamily="2" charset="-78"/>
                <a:ea typeface="Amiri" pitchFamily="2" charset="-78"/>
                <a:cs typeface="Amiri" pitchFamily="2" charset="-78"/>
              </a:rPr>
              <a:t>وَ</a:t>
            </a:r>
            <a:pPr algn="l" indent="0" marL="0">
              <a:buNone/>
            </a:pPr>
            <a:r>
              <a:rPr lang="en-US" sz="1600" dirty="0">
                <a:solidFill>
                  <a:srgbClr val="C6D2E6"/>
                </a:solidFill>
                <a:latin typeface="Calibri" pitchFamily="34" charset="0"/>
                <a:cs typeface="Amiri" pitchFamily="2" charset="-78"/>
              </a:rPr>
              <a:t> and </a:t>
            </a:r>
            <a:pPr algn="l" indent="0" marL="0">
              <a:buNone/>
            </a:pPr>
            <a:r>
              <a:rPr lang="ar-SA" altLang="en-US" sz="2100" dirty="0">
                <a:solidFill>
                  <a:srgbClr val="C6D2E6"/>
                </a:solidFill>
                <a:latin typeface="Amiri" pitchFamily="2" charset="-78"/>
                <a:ea typeface="Amiri" pitchFamily="2" charset="-78"/>
                <a:cs typeface="Amiri" pitchFamily="2" charset="-78"/>
              </a:rPr>
              <a:t>أَيْضًا</a:t>
            </a:r>
            <a:pPr algn="l" indent="0" marL="0">
              <a:buNone/>
            </a:pPr>
            <a:r>
              <a:rPr lang="en-US" sz="1600" dirty="0">
                <a:solidFill>
                  <a:srgbClr val="C6D2E6"/>
                </a:solidFill>
                <a:latin typeface="Calibri" pitchFamily="34" charset="0"/>
                <a:cs typeface="Amiri" pitchFamily="2" charset="-78"/>
              </a:rPr>
              <a: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Form fields · 7</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Connectives · 5</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Writing process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مَسَوَّدَةٌ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‎مسودہ‎ </a:t>
            </a:r>
            <a:pPr indent="0" marL="0">
              <a:buNone/>
            </a:pPr>
            <a:r>
              <a:rPr lang="en-US" sz="950" b="1" dirty="0">
                <a:solidFill>
                  <a:srgbClr val="2E8B57"/>
                </a:solidFill>
                <a:latin typeface="Calibri" pitchFamily="34" charset="0"/>
                <a:cs typeface="Amiri" pitchFamily="2" charset="-78"/>
              </a:rPr>
              <a:t> musawwada · draft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تَارِيخٌ</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‎تاریخ‎ </a:t>
            </a:r>
            <a:pPr indent="0" marL="0">
              <a:buNone/>
            </a:pPr>
            <a:r>
              <a:rPr lang="en-US" sz="950" b="1" dirty="0">
                <a:solidFill>
                  <a:srgbClr val="2E8B57"/>
                </a:solidFill>
                <a:latin typeface="Calibri" pitchFamily="34" charset="0"/>
                <a:cs typeface="Amiri" pitchFamily="2" charset="-78"/>
              </a:rPr>
              <a:t> tārīkh · date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العُنْوَانُ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‎عنوان‎ </a:t>
            </a:r>
            <a:pPr indent="0" marL="0">
              <a:buNone/>
            </a:pPr>
            <a:r>
              <a:rPr lang="en-US" sz="950" b="1" dirty="0">
                <a:solidFill>
                  <a:srgbClr val="2E8B57"/>
                </a:solidFill>
                <a:latin typeface="Calibri" pitchFamily="34" charset="0"/>
                <a:cs typeface="Amiri" pitchFamily="2" charset="-78"/>
              </a:rPr>
              <a:t> unwān · Urdu: title · Arabic: address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اللَّقَبُ</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‎لقب‎ </a:t>
            </a:r>
            <a:pPr indent="0" marL="0">
              <a:buNone/>
            </a:pPr>
            <a:r>
              <a:rPr lang="en-US" sz="950" b="1" dirty="0">
                <a:solidFill>
                  <a:srgbClr val="2E8B57"/>
                </a:solidFill>
                <a:latin typeface="Calibri" pitchFamily="34" charset="0"/>
                <a:cs typeface="Amiri" pitchFamily="2" charset="-78"/>
              </a:rPr>
              <a:t> laqab · title, surname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تَحْسِينٌ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‎تحسین‎ </a:t>
            </a:r>
            <a:pPr indent="0" marL="0">
              <a:buNone/>
            </a:pPr>
            <a:r>
              <a:rPr lang="en-US" sz="950" b="1" dirty="0">
                <a:solidFill>
                  <a:srgbClr val="2E8B57"/>
                </a:solidFill>
                <a:latin typeface="Calibri" pitchFamily="34" charset="0"/>
                <a:cs typeface="Amiri" pitchFamily="2" charset="-78"/>
              </a:rPr>
              <a:t> tahsīn · Urdu: praise · Arabic: improvement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THE LANGUAGE OF FORMS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field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حُقُولُ الاِسْتِمَارَةِ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name</a:t>
            </a:r>
            <a:endParaRPr lang="en-US" sz="1350" dirty="0"/>
          </a:p>
          <a:p>
            <a:pPr indent="0" marL="0">
              <a:buNone/>
            </a:pPr>
            <a:r>
              <a:rPr lang="en-US" sz="1100" i="1" dirty="0">
                <a:solidFill>
                  <a:srgbClr val="5A6472"/>
                </a:solidFill>
                <a:latin typeface="Calibri" pitchFamily="34" charset="0"/>
                <a:cs typeface="Amiri" pitchFamily="2" charset="-78"/>
              </a:rPr>
              <a:t>al-ism</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first</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الاِسْمُ الأَوَّلُ</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family</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اِسْمُ العَائِلَةِ</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surname</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اللَّقَبُ</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العُمْرُ</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age</a:t>
            </a:r>
            <a:endParaRPr lang="en-US" sz="1350" dirty="0"/>
          </a:p>
          <a:p>
            <a:pPr indent="0" marL="0">
              <a:buNone/>
            </a:pPr>
            <a:r>
              <a:rPr lang="en-US" sz="1100" i="1" dirty="0">
                <a:solidFill>
                  <a:srgbClr val="5A6472"/>
                </a:solidFill>
                <a:latin typeface="Calibri" pitchFamily="34" charset="0"/>
                <a:cs typeface="Amiri" pitchFamily="2" charset="-78"/>
              </a:rPr>
              <a:t>al-ʿumr</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العُمْرُ: ١٣ سَنَةً</a:t>
            </a:r>
            <a:endParaRPr lang="ar-SA" sz="13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الجِنْسِيَّةُ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a:t>
            </a:r>
            <a:endParaRPr lang="en-US" sz="1350" dirty="0"/>
          </a:p>
          <a:p>
            <a:pPr indent="0" marL="0">
              <a:buNone/>
            </a:pPr>
            <a:r>
              <a:rPr lang="en-US" sz="1100" i="1" dirty="0">
                <a:solidFill>
                  <a:srgbClr val="5A6472"/>
                </a:solidFill>
                <a:latin typeface="Calibri" pitchFamily="34" charset="0"/>
                <a:cs typeface="Amiri" pitchFamily="2" charset="-78"/>
              </a:rPr>
              <a:t>al-jin-siy-ya</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الجِنْسِيَّةُ: مِصْرِيَّةٌ</a:t>
            </a:r>
            <a:endParaRPr lang="ar-SA" sz="13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58" name="Shape 5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مَكَانُ السَّكَنِ</a:t>
            </a:r>
            <a:endParaRPr lang="ar-SA" sz="3000" dirty="0"/>
          </a:p>
        </p:txBody>
      </p:sp>
      <p:sp>
        <p:nvSpPr>
          <p:cNvPr id="61" name="Text 5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place of residence</a:t>
            </a:r>
            <a:endParaRPr lang="en-US" sz="1350" dirty="0"/>
          </a:p>
          <a:p>
            <a:pPr indent="0" marL="0">
              <a:buNone/>
            </a:pPr>
            <a:r>
              <a:rPr lang="en-US" sz="1100" i="1" dirty="0">
                <a:solidFill>
                  <a:srgbClr val="5A6472"/>
                </a:solidFill>
                <a:latin typeface="Calibri" pitchFamily="34" charset="0"/>
                <a:cs typeface="Amiri" pitchFamily="2" charset="-78"/>
              </a:rPr>
              <a:t>ma-kā-nu s-sa-kan</a:t>
            </a:r>
            <a:endParaRPr lang="en-US" sz="1350" dirty="0"/>
          </a:p>
        </p:txBody>
      </p:sp>
      <p:sp>
        <p:nvSpPr>
          <p:cNvPr id="62" name="Text 5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ea typeface="Amiri" pitchFamily="2" charset="-78"/>
                <a:cs typeface="Amiri" pitchFamily="2" charset="-78"/>
              </a:rPr>
              <a:t>البَلَدُ</a:t>
            </a:r>
            <a:pPr algn="l" indent="0" marL="0">
              <a:buNone/>
            </a:pPr>
            <a:r>
              <a:rPr lang="en-US" sz="1000" i="1" dirty="0">
                <a:solidFill>
                  <a:srgbClr val="8A6D1E"/>
                </a:solidFill>
                <a:latin typeface="Calibri" pitchFamily="34" charset="0"/>
                <a:cs typeface="Amiri" pitchFamily="2" charset="-78"/>
              </a:rPr>
              <a:t> · </a:t>
            </a:r>
            <a:pPr algn="l" indent="0" marL="0">
              <a:buNone/>
            </a:pPr>
            <a:r>
              <a:rPr lang="ar-SA" altLang="en-US" sz="1300" dirty="0">
                <a:solidFill>
                  <a:srgbClr val="8A6D1E"/>
                </a:solidFill>
                <a:latin typeface="Amiri" pitchFamily="2" charset="-78"/>
                <a:ea typeface="Amiri" pitchFamily="2" charset="-78"/>
                <a:cs typeface="Amiri" pitchFamily="2" charset="-78"/>
              </a:rPr>
              <a:t>المَدِينَةُ</a:t>
            </a:r>
            <a:pPr algn="l" indent="0" marL="0">
              <a:buNone/>
            </a:pPr>
            <a:r>
              <a:rPr lang="en-US" sz="1000" i="1" dirty="0">
                <a:solidFill>
                  <a:srgbClr val="8A6D1E"/>
                </a:solidFill>
                <a:latin typeface="Calibri" pitchFamily="34" charset="0"/>
                <a:cs typeface="Amiri" pitchFamily="2" charset="-78"/>
              </a:rPr>
              <a:t> · </a:t>
            </a:r>
            <a:pPr algn="l" indent="0" marL="0">
              <a:buNone/>
            </a:pPr>
            <a:r>
              <a:rPr lang="ar-SA" altLang="en-US" sz="1300" dirty="0">
                <a:solidFill>
                  <a:srgbClr val="8A6D1E"/>
                </a:solidFill>
                <a:latin typeface="Amiri" pitchFamily="2" charset="-78"/>
                <a:ea typeface="Amiri" pitchFamily="2" charset="-78"/>
                <a:cs typeface="Amiri" pitchFamily="2" charset="-78"/>
              </a:rPr>
              <a:t>العُنْوَانُ</a:t>
            </a:r>
            <a:endParaRPr lang="en-US" sz="10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اللُّغَاتُ</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languages</a:t>
            </a:r>
            <a:endParaRPr lang="en-US" sz="1350" dirty="0"/>
          </a:p>
          <a:p>
            <a:pPr indent="0" marL="0">
              <a:buNone/>
            </a:pPr>
            <a:r>
              <a:rPr lang="en-US" sz="1100" i="1" dirty="0">
                <a:solidFill>
                  <a:srgbClr val="5A6472"/>
                </a:solidFill>
                <a:latin typeface="Calibri" pitchFamily="34" charset="0"/>
                <a:cs typeface="Amiri" pitchFamily="2" charset="-78"/>
              </a:rPr>
              <a:t>al-lu-ghāt</a:t>
            </a:r>
            <a:endParaRPr lang="en-US" sz="1350" dirty="0"/>
          </a:p>
        </p:txBody>
      </p:sp>
      <p:sp>
        <p:nvSpPr>
          <p:cNvPr id="72" name="Shape 6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74" name="Text 7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اللُّغَةُ</a:t>
            </a:r>
            <a:endParaRPr lang="ar-SA" sz="1500" dirty="0"/>
          </a:p>
        </p:txBody>
      </p:sp>
      <p:sp>
        <p:nvSpPr>
          <p:cNvPr id="75" name="Shape 7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7" name="Text 7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اللُّغَاتُ</a:t>
            </a:r>
            <a:endParaRPr lang="ar-SA" sz="1500" dirty="0"/>
          </a:p>
        </p:txBody>
      </p:sp>
      <p:sp>
        <p:nvSpPr>
          <p:cNvPr id="78" name="Shape 7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first</a:t>
            </a:r>
            <a:endParaRPr lang="en-US" sz="700" dirty="0"/>
          </a:p>
        </p:txBody>
      </p:sp>
      <p:sp>
        <p:nvSpPr>
          <p:cNvPr id="80" name="Text 77"/>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اللُّغَةُ الأُولَى</a:t>
            </a:r>
            <a:endParaRPr lang="ar-SA" sz="1350" dirty="0"/>
          </a:p>
        </p:txBody>
      </p:sp>
      <p:sp>
        <p:nvSpPr>
          <p:cNvPr id="81" name="Shape 7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566928"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4" name="Shape 81"/>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86" name="Shape 83"/>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8" name="Text 8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التَّوْقِيعُ</a:t>
            </a:r>
            <a:endParaRPr lang="ar-SA" sz="3000" dirty="0"/>
          </a:p>
        </p:txBody>
      </p:sp>
      <p:sp>
        <p:nvSpPr>
          <p:cNvPr id="89" name="Text 8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signature</a:t>
            </a:r>
            <a:endParaRPr lang="en-US" sz="1350" dirty="0"/>
          </a:p>
          <a:p>
            <a:pPr indent="0" marL="0">
              <a:buNone/>
            </a:pPr>
            <a:r>
              <a:rPr lang="en-US" sz="1100" i="1" dirty="0">
                <a:solidFill>
                  <a:srgbClr val="5A6472"/>
                </a:solidFill>
                <a:latin typeface="Calibri" pitchFamily="34" charset="0"/>
                <a:cs typeface="Amiri" pitchFamily="2" charset="-78"/>
              </a:rPr>
              <a:t>at-taw-qīʿ</a:t>
            </a:r>
            <a:endParaRPr lang="en-US" sz="1350" dirty="0"/>
          </a:p>
        </p:txBody>
      </p:sp>
      <p:sp>
        <p:nvSpPr>
          <p:cNvPr id="90" name="Text 8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cs typeface="Amiri" pitchFamily="2" charset="-78"/>
              </a:rPr>
              <a:t>Recognise: </a:t>
            </a:r>
            <a:pPr algn="l" indent="0" marL="0">
              <a:buNone/>
            </a:pPr>
            <a:r>
              <a:rPr lang="ar-SA" altLang="en-US" sz="1150" dirty="0">
                <a:solidFill>
                  <a:srgbClr val="8A6D1E"/>
                </a:solidFill>
                <a:latin typeface="Amiri" pitchFamily="2" charset="-78"/>
                <a:ea typeface="Amiri" pitchFamily="2" charset="-78"/>
                <a:cs typeface="Amiri" pitchFamily="2" charset="-78"/>
              </a:rPr>
              <a:t>تَارِيخُ المِيلَادِ</a:t>
            </a:r>
            <a:pPr algn="l" indent="0" marL="0">
              <a:buNone/>
            </a:pPr>
            <a:r>
              <a:rPr lang="en-US" sz="900" i="1" dirty="0">
                <a:solidFill>
                  <a:srgbClr val="8A6D1E"/>
                </a:solidFill>
                <a:latin typeface="Calibri" pitchFamily="34" charset="0"/>
                <a:cs typeface="Amiri" pitchFamily="2" charset="-78"/>
              </a:rPr>
              <a:t> · </a:t>
            </a:r>
            <a:pPr algn="l" indent="0" marL="0">
              <a:buNone/>
            </a:pPr>
            <a:r>
              <a:rPr lang="ar-SA" altLang="en-US" sz="1150" dirty="0">
                <a:solidFill>
                  <a:srgbClr val="8A6D1E"/>
                </a:solidFill>
                <a:latin typeface="Amiri" pitchFamily="2" charset="-78"/>
                <a:ea typeface="Amiri" pitchFamily="2" charset="-78"/>
                <a:cs typeface="Amiri" pitchFamily="2" charset="-78"/>
              </a:rPr>
              <a:t>رَقْمُ الهَاتِفِ</a:t>
            </a:r>
            <a:pPr algn="l" indent="0" marL="0">
              <a:buNone/>
            </a:pPr>
            <a:r>
              <a:rPr lang="en-US" sz="900" i="1" dirty="0">
                <a:solidFill>
                  <a:srgbClr val="8A6D1E"/>
                </a:solidFill>
                <a:latin typeface="Calibri" pitchFamily="34" charset="0"/>
                <a:cs typeface="Amiri" pitchFamily="2" charset="-78"/>
              </a:rPr>
              <a:t> · </a:t>
            </a:r>
            <a:pPr algn="l" indent="0" marL="0">
              <a:buNone/>
            </a:pPr>
            <a:r>
              <a:rPr lang="ar-SA" altLang="en-US" sz="1150" dirty="0">
                <a:solidFill>
                  <a:srgbClr val="8A6D1E"/>
                </a:solidFill>
                <a:latin typeface="Amiri" pitchFamily="2" charset="-78"/>
                <a:ea typeface="Amiri" pitchFamily="2" charset="-78"/>
                <a:cs typeface="Amiri" pitchFamily="2" charset="-78"/>
              </a:rPr>
              <a:t>البَرِيدُ الإِلِكْتُرُونِيُّ</a:t>
            </a:r>
            <a:endParaRPr lang="en-US" sz="9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KEY WORDS · GROUP 2 · LIFT A LIST OF FACTS INTO CONNECTED PROSE (WEBSITE)</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connectives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اِرْبِطِ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Connective</a:t>
            </a:r>
            <a:endParaRPr lang="en-US" sz="1100" dirty="0"/>
          </a:p>
        </p:txBody>
      </p:sp>
      <p:sp>
        <p:nvSpPr>
          <p:cNvPr id="17" name="Text 14"/>
          <p:cNvSpPr txBox="1"/>
          <p:nvPr/>
        </p:nvSpPr>
        <p:spPr>
          <a:xfrm>
            <a:off x="695858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8" name="Text 15"/>
          <p:cNvSpPr txBox="1"/>
          <p:nvPr/>
        </p:nvSpPr>
        <p:spPr>
          <a:xfrm>
            <a:off x="530352" y="1810512"/>
            <a:ext cx="6281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example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720072" y="2286000"/>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وَ</a:t>
            </a:r>
            <a:endParaRPr lang="ar-SA" sz="2100" dirty="0"/>
          </a:p>
        </p:txBody>
      </p:sp>
      <p:sp>
        <p:nvSpPr>
          <p:cNvPr id="21" name="Text 18"/>
          <p:cNvSpPr txBox="1"/>
          <p:nvPr/>
        </p:nvSpPr>
        <p:spPr>
          <a:xfrm>
            <a:off x="9674352" y="2706624"/>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and</a:t>
            </a:r>
            <a:endParaRPr lang="en-US" sz="950" dirty="0"/>
          </a:p>
        </p:txBody>
      </p:sp>
      <p:sp>
        <p:nvSpPr>
          <p:cNvPr id="22" name="Text 19"/>
          <p:cNvSpPr txBox="1"/>
          <p:nvPr/>
        </p:nvSpPr>
        <p:spPr>
          <a:xfrm>
            <a:off x="6995160"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joins related information</a:t>
            </a:r>
            <a:endParaRPr lang="en-US" sz="1100" dirty="0"/>
          </a:p>
        </p:txBody>
      </p:sp>
      <p:sp>
        <p:nvSpPr>
          <p:cNvPr id="23" name="Text 20"/>
          <p:cNvSpPr txBox="1"/>
          <p:nvPr/>
        </p:nvSpPr>
        <p:spPr>
          <a:xfrm>
            <a:off x="548640" y="2267712"/>
            <a:ext cx="6245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أَنَا مِنْ سُورِيَا، </a:t>
            </a:r>
            <a:pPr rtl="1" algn="ctr" indent="0" marL="0">
              <a:buNone/>
            </a:pPr>
            <a:r>
              <a:rPr lang="ar-SA" altLang="en-US" sz="2000" b="1" dirty="0">
                <a:solidFill>
                  <a:srgbClr val="0E7C86"/>
                </a:solidFill>
                <a:latin typeface="Amiri" pitchFamily="2" charset="-78"/>
                <a:ea typeface="Amiri" pitchFamily="2" charset="-78"/>
                <a:cs typeface="Amiri" pitchFamily="2" charset="-78"/>
              </a:rPr>
              <a:t>وَ</a:t>
            </a:r>
            <a:pPr rtl="1" algn="ctr" indent="0" marL="0">
              <a:buNone/>
            </a:pPr>
            <a:r>
              <a:rPr lang="ar-SA" altLang="en-US" sz="2000" b="1" dirty="0">
                <a:solidFill>
                  <a:srgbClr val="1B3B6F"/>
                </a:solidFill>
                <a:latin typeface="Amiri" pitchFamily="2" charset="-78"/>
                <a:ea typeface="Amiri" pitchFamily="2" charset="-78"/>
                <a:cs typeface="Amiri" pitchFamily="2" charset="-78"/>
              </a:rPr>
              <a:t>أَسْكُنُ فِي لَنْدَنَ.</a:t>
            </a:r>
            <a:endParaRPr lang="ar-SA" sz="20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720072" y="3072384"/>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أَيْضًا</a:t>
            </a:r>
            <a:endParaRPr lang="ar-SA" sz="2100" dirty="0"/>
          </a:p>
        </p:txBody>
      </p:sp>
      <p:sp>
        <p:nvSpPr>
          <p:cNvPr id="28" name="Text 25"/>
          <p:cNvSpPr txBox="1"/>
          <p:nvPr/>
        </p:nvSpPr>
        <p:spPr>
          <a:xfrm>
            <a:off x="9674352" y="3493008"/>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also</a:t>
            </a:r>
            <a:endParaRPr lang="en-US" sz="950" dirty="0"/>
          </a:p>
        </p:txBody>
      </p:sp>
      <p:sp>
        <p:nvSpPr>
          <p:cNvPr id="29" name="Text 26"/>
          <p:cNvSpPr txBox="1"/>
          <p:nvPr/>
        </p:nvSpPr>
        <p:spPr>
          <a:xfrm>
            <a:off x="6995160"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adds another fact</a:t>
            </a:r>
            <a:endParaRPr lang="en-US" sz="1100" dirty="0"/>
          </a:p>
        </p:txBody>
      </p:sp>
      <p:sp>
        <p:nvSpPr>
          <p:cNvPr id="30" name="Text 27"/>
          <p:cNvSpPr txBox="1"/>
          <p:nvPr/>
        </p:nvSpPr>
        <p:spPr>
          <a:xfrm>
            <a:off x="548640" y="3054096"/>
            <a:ext cx="6245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أَفْهَمُ الفَرَنْسِيَّةَ </a:t>
            </a:r>
            <a:pPr rtl="1" algn="ctr" indent="0" marL="0">
              <a:buNone/>
            </a:pPr>
            <a:r>
              <a:rPr lang="ar-SA" altLang="en-US" sz="2000" b="1" dirty="0">
                <a:solidFill>
                  <a:srgbClr val="0E7C86"/>
                </a:solidFill>
                <a:latin typeface="Amiri" pitchFamily="2" charset="-78"/>
                <a:ea typeface="Amiri" pitchFamily="2" charset="-78"/>
                <a:cs typeface="Amiri" pitchFamily="2" charset="-78"/>
              </a:rPr>
              <a:t>أَيْضًا</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720072" y="3858768"/>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ثُمَّ</a:t>
            </a:r>
            <a:endParaRPr lang="ar-SA" sz="2100" dirty="0"/>
          </a:p>
        </p:txBody>
      </p:sp>
      <p:sp>
        <p:nvSpPr>
          <p:cNvPr id="35" name="Text 32"/>
          <p:cNvSpPr txBox="1"/>
          <p:nvPr/>
        </p:nvSpPr>
        <p:spPr>
          <a:xfrm>
            <a:off x="9674352" y="4279392"/>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then</a:t>
            </a:r>
            <a:endParaRPr lang="en-US" sz="950" dirty="0"/>
          </a:p>
        </p:txBody>
      </p:sp>
      <p:sp>
        <p:nvSpPr>
          <p:cNvPr id="36" name="Text 33"/>
          <p:cNvSpPr txBox="1"/>
          <p:nvPr/>
        </p:nvSpPr>
        <p:spPr>
          <a:xfrm>
            <a:off x="6995160"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shows sequence</a:t>
            </a:r>
            <a:endParaRPr lang="en-US" sz="1100" dirty="0"/>
          </a:p>
        </p:txBody>
      </p:sp>
      <p:sp>
        <p:nvSpPr>
          <p:cNvPr id="37" name="Text 34"/>
          <p:cNvSpPr txBox="1"/>
          <p:nvPr/>
        </p:nvSpPr>
        <p:spPr>
          <a:xfrm>
            <a:off x="548640" y="3840480"/>
            <a:ext cx="6245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أَكْتُبُ مَسَوَّدَةً، </a:t>
            </a:r>
            <a:pPr rtl="1" algn="ctr" indent="0" marL="0">
              <a:buNone/>
            </a:pPr>
            <a:r>
              <a:rPr lang="ar-SA" altLang="en-US" sz="2000" b="1" dirty="0">
                <a:solidFill>
                  <a:srgbClr val="0E7C86"/>
                </a:solidFill>
                <a:latin typeface="Amiri" pitchFamily="2" charset="-78"/>
                <a:ea typeface="Amiri" pitchFamily="2" charset="-78"/>
                <a:cs typeface="Amiri" pitchFamily="2" charset="-78"/>
              </a:rPr>
              <a:t>ثُمَّ</a:t>
            </a:r>
            <a:pPr rtl="1" algn="ctr" indent="0" marL="0">
              <a:buNone/>
            </a:pPr>
            <a:r>
              <a:rPr lang="ar-SA" altLang="en-US" sz="2000" b="1" dirty="0">
                <a:solidFill>
                  <a:srgbClr val="1B3B6F"/>
                </a:solidFill>
                <a:latin typeface="Amiri" pitchFamily="2" charset="-78"/>
                <a:ea typeface="Amiri" pitchFamily="2" charset="-78"/>
                <a:cs typeface="Amiri" pitchFamily="2" charset="-78"/>
              </a:rPr>
              <a:t> أُرَاجِعُهَا.</a:t>
            </a:r>
            <a:endParaRPr lang="ar-SA" sz="2000" dirty="0"/>
          </a:p>
        </p:txBody>
      </p:sp>
      <p:sp>
        <p:nvSpPr>
          <p:cNvPr id="38" name="Shape 3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9" name="Text 36"/>
          <p:cNvSpPr txBox="1"/>
          <p:nvPr/>
        </p:nvSpPr>
        <p:spPr>
          <a:xfrm>
            <a:off x="9720072" y="4645152"/>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لِأَنَّ</a:t>
            </a:r>
            <a:endParaRPr lang="ar-SA" sz="2100" dirty="0"/>
          </a:p>
        </p:txBody>
      </p:sp>
      <p:sp>
        <p:nvSpPr>
          <p:cNvPr id="40" name="Text 37"/>
          <p:cNvSpPr txBox="1"/>
          <p:nvPr/>
        </p:nvSpPr>
        <p:spPr>
          <a:xfrm>
            <a:off x="9674352" y="5065776"/>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because</a:t>
            </a:r>
            <a:endParaRPr lang="en-US" sz="950" dirty="0"/>
          </a:p>
        </p:txBody>
      </p:sp>
      <p:sp>
        <p:nvSpPr>
          <p:cNvPr id="41" name="Text 38"/>
          <p:cNvSpPr txBox="1"/>
          <p:nvPr/>
        </p:nvSpPr>
        <p:spPr>
          <a:xfrm>
            <a:off x="6995160"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introduces a reason</a:t>
            </a:r>
            <a:endParaRPr lang="en-US" sz="1100" dirty="0"/>
          </a:p>
        </p:txBody>
      </p:sp>
      <p:sp>
        <p:nvSpPr>
          <p:cNvPr id="42" name="Text 39"/>
          <p:cNvSpPr txBox="1"/>
          <p:nvPr/>
        </p:nvSpPr>
        <p:spPr>
          <a:xfrm>
            <a:off x="548640" y="4626864"/>
            <a:ext cx="6245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أُحِبُّ القِرَاءَةَ </a:t>
            </a:r>
            <a:pPr rtl="1" algn="ctr" indent="0" marL="0">
              <a:buNone/>
            </a:pPr>
            <a:r>
              <a:rPr lang="ar-SA" altLang="en-US" sz="2000" b="1" dirty="0">
                <a:solidFill>
                  <a:srgbClr val="0E7C86"/>
                </a:solidFill>
                <a:latin typeface="Amiri" pitchFamily="2" charset="-78"/>
                <a:ea typeface="Amiri" pitchFamily="2" charset="-78"/>
                <a:cs typeface="Amiri" pitchFamily="2" charset="-78"/>
              </a:rPr>
              <a:t>لِأَنَّهَا</a:t>
            </a:r>
            <a:pPr rtl="1" algn="ctr" indent="0" marL="0">
              <a:buNone/>
            </a:pPr>
            <a:r>
              <a:rPr lang="ar-SA" altLang="en-US" sz="2000" b="1" dirty="0">
                <a:solidFill>
                  <a:srgbClr val="1B3B6F"/>
                </a:solidFill>
                <a:latin typeface="Amiri" pitchFamily="2" charset="-78"/>
                <a:ea typeface="Amiri" pitchFamily="2" charset="-78"/>
                <a:cs typeface="Amiri" pitchFamily="2" charset="-78"/>
              </a:rPr>
              <a:t> مُفِيدَةٌ.</a:t>
            </a:r>
            <a:endParaRPr lang="ar-SA" sz="2000" dirty="0"/>
          </a:p>
        </p:txBody>
      </p:sp>
      <p:sp>
        <p:nvSpPr>
          <p:cNvPr id="43" name="Shape 4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9720072" y="5431536"/>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وَلَكِنْ</a:t>
            </a:r>
            <a:endParaRPr lang="ar-SA" sz="2100" dirty="0"/>
          </a:p>
        </p:txBody>
      </p:sp>
      <p:sp>
        <p:nvSpPr>
          <p:cNvPr id="45" name="Text 42"/>
          <p:cNvSpPr txBox="1"/>
          <p:nvPr/>
        </p:nvSpPr>
        <p:spPr>
          <a:xfrm>
            <a:off x="9674352" y="5852160"/>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but · Stretch</a:t>
            </a:r>
            <a:endParaRPr lang="en-US" sz="950" dirty="0"/>
          </a:p>
        </p:txBody>
      </p:sp>
      <p:sp>
        <p:nvSpPr>
          <p:cNvPr id="46" name="Text 43"/>
          <p:cNvSpPr txBox="1"/>
          <p:nvPr/>
        </p:nvSpPr>
        <p:spPr>
          <a:xfrm>
            <a:off x="6995160" y="5413248"/>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adds a contrast</a:t>
            </a:r>
            <a:endParaRPr lang="en-US" sz="1100" dirty="0"/>
          </a:p>
        </p:txBody>
      </p:sp>
      <p:sp>
        <p:nvSpPr>
          <p:cNvPr id="47" name="Text 44"/>
          <p:cNvSpPr txBox="1"/>
          <p:nvPr/>
        </p:nvSpPr>
        <p:spPr>
          <a:xfrm>
            <a:off x="548640" y="5413248"/>
            <a:ext cx="6245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أَتَكَلَّمُ العَرَبِيَّةَ، </a:t>
            </a:r>
            <a:pPr rtl="1" algn="ctr" indent="0" marL="0">
              <a:buNone/>
            </a:pPr>
            <a:r>
              <a:rPr lang="ar-SA" altLang="en-US" sz="2000" b="1" dirty="0">
                <a:solidFill>
                  <a:srgbClr val="0E7C86"/>
                </a:solidFill>
                <a:latin typeface="Amiri" pitchFamily="2" charset="-78"/>
                <a:ea typeface="Amiri" pitchFamily="2" charset="-78"/>
                <a:cs typeface="Amiri" pitchFamily="2" charset="-78"/>
              </a:rPr>
              <a:t>وَلَكِنْ</a:t>
            </a:r>
            <a:pPr rtl="1" algn="ctr" indent="0" marL="0">
              <a:buNone/>
            </a:pPr>
            <a:r>
              <a:rPr lang="ar-SA" altLang="en-US" sz="2000" b="1" dirty="0">
                <a:solidFill>
                  <a:srgbClr val="1B3B6F"/>
                </a:solidFill>
                <a:latin typeface="Amiri" pitchFamily="2" charset="-78"/>
                <a:ea typeface="Amiri" pitchFamily="2" charset="-78"/>
                <a:cs typeface="Amiri" pitchFamily="2" charset="-78"/>
              </a:rPr>
              <a:t> كِتَابَتِي تَحْتَاجُ إِلَى تَدْرِيبٍ.</a:t>
            </a:r>
            <a:endParaRPr lang="ar-SA" sz="2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THE WRITER’S ROUTE (WEBSITE) · FIVE STEPS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Plan, connect, check, improve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طَرِيقُ الكَاتِبِ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644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7" name="Text 14"/>
          <p:cNvSpPr txBox="1"/>
          <p:nvPr/>
        </p:nvSpPr>
        <p:spPr>
          <a:xfrm>
            <a:off x="530352" y="1810512"/>
            <a:ext cx="7287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982712" y="2286000"/>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 · اِقْرَأِ الحَقْلَ</a:t>
            </a:r>
            <a:endParaRPr lang="ar-SA" sz="2100" dirty="0"/>
          </a:p>
        </p:txBody>
      </p:sp>
      <p:sp>
        <p:nvSpPr>
          <p:cNvPr id="20" name="Text 17"/>
          <p:cNvSpPr txBox="1"/>
          <p:nvPr/>
        </p:nvSpPr>
        <p:spPr>
          <a:xfrm>
            <a:off x="7936992" y="2706624"/>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Read the field</a:t>
            </a:r>
            <a:endParaRPr lang="en-US" sz="950" dirty="0"/>
          </a:p>
        </p:txBody>
      </p:sp>
      <p:sp>
        <p:nvSpPr>
          <p:cNvPr id="21" name="Text 18"/>
          <p:cNvSpPr txBox="1"/>
          <p:nvPr/>
        </p:nvSpPr>
        <p:spPr>
          <a:xfrm>
            <a:off x="566928" y="2267712"/>
            <a:ext cx="7251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the form or task ask for? Give only that detail.</a:t>
            </a:r>
            <a:endParaRPr lang="en-US" sz="110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7982712" y="3072384"/>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٢ · خَطِّطِ المَعْلُومَاتِ</a:t>
            </a:r>
            <a:endParaRPr lang="ar-SA" sz="2100" dirty="0"/>
          </a:p>
        </p:txBody>
      </p:sp>
      <p:sp>
        <p:nvSpPr>
          <p:cNvPr id="26" name="Text 23"/>
          <p:cNvSpPr txBox="1"/>
          <p:nvPr/>
        </p:nvSpPr>
        <p:spPr>
          <a:xfrm>
            <a:off x="7936992" y="3493008"/>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Plan the facts</a:t>
            </a:r>
            <a:endParaRPr lang="en-US" sz="950" dirty="0"/>
          </a:p>
        </p:txBody>
      </p:sp>
      <p:sp>
        <p:nvSpPr>
          <p:cNvPr id="27" name="Text 24"/>
          <p:cNvSpPr txBox="1"/>
          <p:nvPr/>
        </p:nvSpPr>
        <p:spPr>
          <a:xfrm>
            <a:off x="566928" y="3054096"/>
            <a:ext cx="7251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Six groups: greeting · name + age · origin + residence · nationality + languages · interest + reason · close.</a:t>
            </a:r>
            <a:endParaRPr lang="en-US" sz="110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7982712" y="3858768"/>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٣ · اِرْبِطِ الجُمَلَ</a:t>
            </a:r>
            <a:endParaRPr lang="ar-SA" sz="2100" dirty="0"/>
          </a:p>
        </p:txBody>
      </p:sp>
      <p:sp>
        <p:nvSpPr>
          <p:cNvPr id="32" name="Text 29"/>
          <p:cNvSpPr txBox="1"/>
          <p:nvPr/>
        </p:nvSpPr>
        <p:spPr>
          <a:xfrm>
            <a:off x="7936992" y="4279392"/>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Connect ideas</a:t>
            </a:r>
            <a:endParaRPr lang="en-US" sz="950" dirty="0"/>
          </a:p>
        </p:txBody>
      </p:sp>
      <p:sp>
        <p:nvSpPr>
          <p:cNvPr id="33" name="Text 30"/>
          <p:cNvSpPr txBox="1"/>
          <p:nvPr/>
        </p:nvSpPr>
        <p:spPr>
          <a:xfrm>
            <a:off x="566928" y="3840480"/>
            <a:ext cx="7251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 with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add </a:t>
            </a:r>
            <a:pPr algn="l" indent="0" marL="0">
              <a:buNone/>
            </a:pPr>
            <a:r>
              <a:rPr lang="ar-SA" altLang="en-US" sz="1450" dirty="0">
                <a:solidFill>
                  <a:srgbClr val="5A6472"/>
                </a:solidFill>
                <a:latin typeface="Amiri" pitchFamily="2" charset="-78"/>
                <a:ea typeface="Amiri" pitchFamily="2" charset="-78"/>
                <a:cs typeface="Amiri" pitchFamily="2" charset="-78"/>
              </a:rPr>
              <a:t>أَيْضًا</a:t>
            </a:r>
            <a:pPr algn="l" indent="0" marL="0">
              <a:buNone/>
            </a:pPr>
            <a:r>
              <a:rPr lang="en-US" sz="1100" dirty="0">
                <a:solidFill>
                  <a:srgbClr val="5A6472"/>
                </a:solidFill>
                <a:latin typeface="Calibri" pitchFamily="34" charset="0"/>
                <a:cs typeface="Amiri" pitchFamily="2" charset="-78"/>
              </a:rPr>
              <a:t>,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or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where useful.</a:t>
            </a:r>
            <a:endParaRPr lang="en-US" sz="1100" dirty="0"/>
          </a:p>
        </p:txBody>
      </p:sp>
      <p:sp>
        <p:nvSpPr>
          <p:cNvPr id="34" name="Shape 31"/>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7" name="Text 34"/>
          <p:cNvSpPr txBox="1"/>
          <p:nvPr/>
        </p:nvSpPr>
        <p:spPr>
          <a:xfrm>
            <a:off x="7982712" y="4645152"/>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٤ · رَاجِعِ الدِّقَّةَ</a:t>
            </a:r>
            <a:endParaRPr lang="ar-SA" sz="2100" dirty="0"/>
          </a:p>
        </p:txBody>
      </p:sp>
      <p:sp>
        <p:nvSpPr>
          <p:cNvPr id="38" name="Text 35"/>
          <p:cNvSpPr txBox="1"/>
          <p:nvPr/>
        </p:nvSpPr>
        <p:spPr>
          <a:xfrm>
            <a:off x="7936992" y="5065776"/>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Check accuracy</a:t>
            </a:r>
            <a:endParaRPr lang="en-US" sz="950" dirty="0"/>
          </a:p>
        </p:txBody>
      </p:sp>
      <p:sp>
        <p:nvSpPr>
          <p:cNvPr id="39" name="Text 36"/>
          <p:cNvSpPr txBox="1"/>
          <p:nvPr/>
        </p:nvSpPr>
        <p:spPr>
          <a:xfrm>
            <a:off x="566928" y="4626864"/>
            <a:ext cx="7251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 + </a:t>
            </a:r>
            <a:pPr algn="l" indent="0" marL="0">
              <a:buNone/>
            </a:pPr>
            <a:r>
              <a:rPr lang="ar-SA" altLang="en-US" sz="1450" dirty="0">
                <a:solidFill>
                  <a:srgbClr val="5A6472"/>
                </a:solidFill>
                <a:latin typeface="Amiri" pitchFamily="2" charset="-78"/>
                <a:ea typeface="Amiri" pitchFamily="2" charset="-78"/>
                <a:cs typeface="Amiri" pitchFamily="2" charset="-78"/>
              </a:rPr>
              <a:t>سَنَةً</a:t>
            </a:r>
            <a:pPr algn="l" indent="0" marL="0">
              <a:buNone/>
            </a:pPr>
            <a:r>
              <a:rPr lang="en-US" sz="1100" dirty="0">
                <a:solidFill>
                  <a:srgbClr val="5A6472"/>
                </a:solidFill>
                <a:latin typeface="Calibri" pitchFamily="34" charset="0"/>
                <a:cs typeface="Amiri" pitchFamily="2" charset="-78"/>
              </a:rPr>
              <a:t> · nationality gender · “I” verbs · Arabic punctuation (</a:t>
            </a:r>
            <a:pPr algn="l" indent="0" marL="0">
              <a:buNone/>
            </a:pPr>
            <a:r>
              <a:rPr lang="ar-SA" altLang="en-US" sz="1450" dirty="0">
                <a:solidFill>
                  <a:srgbClr val="5A6472"/>
                </a:solidFill>
                <a:latin typeface="Amiri" pitchFamily="2" charset="-78"/>
                <a:ea typeface="Amiri" pitchFamily="2" charset="-78"/>
                <a:cs typeface="Amiri" pitchFamily="2" charset="-78"/>
              </a:rPr>
              <a:t>، ؟</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40" name="Shape 37"/>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2" name="Shape 39"/>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3" name="Text 40"/>
          <p:cNvSpPr txBox="1"/>
          <p:nvPr/>
        </p:nvSpPr>
        <p:spPr>
          <a:xfrm>
            <a:off x="7982712" y="5431536"/>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٥ · حَسِّنِ المَسَوَّدَةَ</a:t>
            </a:r>
            <a:endParaRPr lang="ar-SA" sz="2100" dirty="0"/>
          </a:p>
        </p:txBody>
      </p:sp>
      <p:sp>
        <p:nvSpPr>
          <p:cNvPr id="44" name="Text 41"/>
          <p:cNvSpPr txBox="1"/>
          <p:nvPr/>
        </p:nvSpPr>
        <p:spPr>
          <a:xfrm>
            <a:off x="7936992" y="5852160"/>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Improve</a:t>
            </a:r>
            <a:endParaRPr lang="en-US" sz="950" dirty="0"/>
          </a:p>
        </p:txBody>
      </p:sp>
      <p:sp>
        <p:nvSpPr>
          <p:cNvPr id="45" name="Text 42"/>
          <p:cNvSpPr txBox="1"/>
          <p:nvPr/>
        </p:nvSpPr>
        <p:spPr>
          <a:xfrm>
            <a:off x="566928" y="5413248"/>
            <a:ext cx="7251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Replace one repeated opening, add one useful detail, read it aloud.</a:t>
            </a:r>
            <a:endParaRPr lang="en-US" sz="1100" dirty="0"/>
          </a:p>
        </p:txBody>
      </p:sp>
      <p:sp>
        <p:nvSpPr>
          <p:cNvPr id="46" name="Shape 43"/>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أَنَا مِنْ مِصْرَ، … أَسْكُنُ فِي لَنْدَنَ.</a:t>
            </a:r>
            <a:endParaRPr lang="ar-SA"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أَتَكَلَّمُ الإِنْجِلِيزِيَّةَ، وَأَفْهَمُ العَرَبِيَّةَ …</a:t>
            </a:r>
            <a:endParaRPr lang="ar-SA"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أَكْتُبُ المَسَوَّدَةَ، … أُرَاجِعُهَا.</a:t>
            </a:r>
            <a:endParaRPr lang="ar-SA"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أُحِبُّ القِرَاءَةَ … هَا مُفِيدَةٌ.</a:t>
            </a:r>
            <a:endParaRPr lang="ar-SA"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أَنَا مِنْ مِصْرَ، … أَسْكُنُ فِي لَنْدَنَ.</a:t>
            </a:r>
            <a:endParaRPr lang="ar-SA"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a:t>
            </a:r>
            <a:pPr algn="l" indent="0" marL="0">
              <a:buNone/>
            </a:pPr>
            <a:r>
              <a:rPr lang="en-US" sz="1050" i="1" dirty="0">
                <a:solidFill>
                  <a:srgbClr val="8A6D1E"/>
                </a:solidFill>
                <a:latin typeface="Calibri" pitchFamily="34" charset="0"/>
                <a:cs typeface="Amiri" pitchFamily="2" charset="-78"/>
              </a:rPr>
              <a:t> joins the two related personal facts.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أَتَكَلَّمُ الإِنْجِلِيزِيَّةَ، وَأَفْهَمُ العَرَبِيَّةَ …</a:t>
            </a:r>
            <a:endParaRPr lang="ar-SA"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أَيْضًا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أَيْضًا</a:t>
            </a:r>
            <a:pPr algn="l" indent="0" marL="0">
              <a:buNone/>
            </a:pPr>
            <a:r>
              <a:rPr lang="en-US" sz="1050" i="1" dirty="0">
                <a:solidFill>
                  <a:srgbClr val="8A6D1E"/>
                </a:solidFill>
                <a:latin typeface="Calibri" pitchFamily="34" charset="0"/>
                <a:cs typeface="Amiri" pitchFamily="2" charset="-78"/>
              </a:rPr>
              <a:t> adds another language fact.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أَكْتُبُ المَسَوَّدَةَ، … أُرَاجِعُهَا.</a:t>
            </a:r>
            <a:endParaRPr lang="ar-SA"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وَلَكِنْ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ثُمَّ</a:t>
            </a:r>
            <a:pPr algn="l" indent="0" marL="0">
              <a:buNone/>
            </a:pPr>
            <a:r>
              <a:rPr lang="en-US" sz="1050" i="1" dirty="0">
                <a:solidFill>
                  <a:srgbClr val="8A6D1E"/>
                </a:solidFill>
                <a:latin typeface="Calibri" pitchFamily="34" charset="0"/>
                <a:cs typeface="Amiri" pitchFamily="2" charset="-78"/>
              </a:rPr>
              <a:t> shows the next step in a sequence.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أُحِبُّ القِرَاءَةَ … هَا مُفِيدَةٌ.</a:t>
            </a:r>
            <a:endParaRPr lang="ar-SA"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أَيْضًا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لِأَنَّهَا</a:t>
            </a:r>
            <a:pPr algn="l" indent="0" marL="0">
              <a:buNone/>
            </a:pPr>
            <a:r>
              <a:rPr lang="en-US" sz="1050" i="1" dirty="0">
                <a:solidFill>
                  <a:srgbClr val="8A6D1E"/>
                </a:solidFill>
                <a:latin typeface="Calibri" pitchFamily="34" charset="0"/>
                <a:cs typeface="Amiri" pitchFamily="2" charset="-78"/>
              </a:rPr>
              <a:t> introduces the reason ‘because it is useful’.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FROM THE FIRST DRAFT TO A STRONGER INTRODUCTION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improve a draft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المَسَوَّدَةِ إِلَى نَصٍّ أَفْضَلَ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05002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Draft 1 · accurate but list-like</a:t>
            </a:r>
            <a:endParaRPr lang="en-US" sz="1100" dirty="0"/>
          </a:p>
        </p:txBody>
      </p:sp>
      <p:sp>
        <p:nvSpPr>
          <p:cNvPr id="17" name="Text 14"/>
          <p:cNvSpPr txBox="1"/>
          <p:nvPr/>
        </p:nvSpPr>
        <p:spPr>
          <a:xfrm>
            <a:off x="2112264"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Improved model</a:t>
            </a:r>
            <a:endParaRPr lang="en-US" sz="1100" dirty="0"/>
          </a:p>
        </p:txBody>
      </p:sp>
      <p:sp>
        <p:nvSpPr>
          <p:cNvPr id="18" name="Text 15"/>
          <p:cNvSpPr txBox="1"/>
          <p:nvPr/>
        </p:nvSpPr>
        <p:spPr>
          <a:xfrm>
            <a:off x="53035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changed</a:t>
            </a:r>
            <a:endParaRPr lang="en-US" sz="1100" dirty="0"/>
          </a:p>
        </p:txBody>
      </p:sp>
      <p:sp>
        <p:nvSpPr>
          <p:cNvPr id="19" name="Shape 16"/>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0" name="Text 17"/>
          <p:cNvSpPr txBox="1"/>
          <p:nvPr/>
        </p:nvSpPr>
        <p:spPr>
          <a:xfrm>
            <a:off x="7068312" y="2267712"/>
            <a:ext cx="4572000" cy="627888"/>
          </a:xfrm>
          <a:prstGeom prst="rect">
            <a:avLst/>
          </a:prstGeom>
          <a:noFill/>
          <a:ln/>
        </p:spPr>
        <p:txBody>
          <a:bodyPr wrap="square" lIns="0" tIns="0" rIns="0" bIns="0" rtlCol="0" anchor="ctr"/>
          <a:lstStyle/>
          <a:p>
            <a:pPr algn="ctr" indent="0" marL="0">
              <a:buNone/>
            </a:pPr>
            <a:r>
              <a:rPr lang="en-US" sz="2000" b="1" dirty="0">
                <a:solidFill>
                  <a:srgbClr val="1B3B6F"/>
                </a:solidFill>
                <a:latin typeface="Calibri" pitchFamily="34" charset="0"/>
                <a:cs typeface="Amiri" pitchFamily="2" charset="-78"/>
              </a:rPr>
              <a:t>—</a:t>
            </a:r>
            <a:endParaRPr lang="en-US" sz="2000" dirty="0"/>
          </a:p>
        </p:txBody>
      </p:sp>
      <p:sp>
        <p:nvSpPr>
          <p:cNvPr id="21" name="Text 18"/>
          <p:cNvSpPr txBox="1"/>
          <p:nvPr/>
        </p:nvSpPr>
        <p:spPr>
          <a:xfrm>
            <a:off x="2130552" y="2267712"/>
            <a:ext cx="4754880" cy="62788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السَّلَامُ عَلَيْكُمْ.</a:t>
            </a:r>
            <a:endParaRPr lang="ar-SA" sz="2000" dirty="0"/>
          </a:p>
        </p:txBody>
      </p:sp>
      <p:sp>
        <p:nvSpPr>
          <p:cNvPr id="22" name="Text 19"/>
          <p:cNvSpPr txBox="1"/>
          <p:nvPr/>
        </p:nvSpPr>
        <p:spPr>
          <a:xfrm>
            <a:off x="566928" y="2267712"/>
            <a:ext cx="1399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greeting</a:t>
            </a:r>
            <a:endParaRPr lang="en-US" sz="110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7068312" y="2950464"/>
            <a:ext cx="457200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اِسْمِي يُوسُفُ. عُمْرِي أَرْبَعَ عَشْرَةَ سَنَةً.</a:t>
            </a:r>
            <a:endParaRPr lang="ar-SA" sz="2000" dirty="0"/>
          </a:p>
        </p:txBody>
      </p:sp>
      <p:sp>
        <p:nvSpPr>
          <p:cNvPr id="25" name="Text 22"/>
          <p:cNvSpPr txBox="1"/>
          <p:nvPr/>
        </p:nvSpPr>
        <p:spPr>
          <a:xfrm>
            <a:off x="2130552" y="2950464"/>
            <a:ext cx="475488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اِسْمِي يُوسُفُ، </a:t>
            </a:r>
            <a:pPr rtl="1" algn="ctr" indent="0" marL="0">
              <a:buNone/>
            </a:pPr>
            <a:r>
              <a:rPr lang="ar-SA" altLang="en-US" sz="2000" b="1" dirty="0">
                <a:solidFill>
                  <a:srgbClr val="0E7C86"/>
                </a:solidFill>
                <a:latin typeface="Amiri" pitchFamily="2" charset="-78"/>
                <a:ea typeface="Amiri" pitchFamily="2" charset="-78"/>
                <a:cs typeface="Amiri" pitchFamily="2" charset="-78"/>
              </a:rPr>
              <a:t>وَ</a:t>
            </a:r>
            <a:pPr rtl="1" algn="ctr" indent="0" marL="0">
              <a:buNone/>
            </a:pPr>
            <a:r>
              <a:rPr lang="ar-SA" altLang="en-US" sz="2000" b="1" dirty="0">
                <a:solidFill>
                  <a:srgbClr val="1B3B6F"/>
                </a:solidFill>
                <a:latin typeface="Amiri" pitchFamily="2" charset="-78"/>
                <a:ea typeface="Amiri" pitchFamily="2" charset="-78"/>
                <a:cs typeface="Amiri" pitchFamily="2" charset="-78"/>
              </a:rPr>
              <a:t>عُمْرِي أَرْبَعَ عَشْرَةَ سَنَةً.</a:t>
            </a:r>
            <a:endParaRPr lang="ar-SA" sz="2000" dirty="0"/>
          </a:p>
        </p:txBody>
      </p:sp>
      <p:sp>
        <p:nvSpPr>
          <p:cNvPr id="26" name="Text 23"/>
          <p:cNvSpPr txBox="1"/>
          <p:nvPr/>
        </p:nvSpPr>
        <p:spPr>
          <a:xfrm>
            <a:off x="566928" y="2950464"/>
            <a:ext cx="1399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joined</a:t>
            </a:r>
            <a:endParaRPr lang="en-US" sz="1100" dirty="0"/>
          </a:p>
        </p:txBody>
      </p:sp>
      <p:sp>
        <p:nvSpPr>
          <p:cNvPr id="27" name="Shape 24"/>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0" name="Text 27"/>
          <p:cNvSpPr txBox="1"/>
          <p:nvPr/>
        </p:nvSpPr>
        <p:spPr>
          <a:xfrm>
            <a:off x="7068312" y="3633216"/>
            <a:ext cx="457200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أَنَا مِنْ بَرِيطَانِيَا. أَسْكُنُ فِي لَنْدَنَ.</a:t>
            </a:r>
            <a:endParaRPr lang="ar-SA" sz="2000" dirty="0"/>
          </a:p>
        </p:txBody>
      </p:sp>
      <p:sp>
        <p:nvSpPr>
          <p:cNvPr id="31" name="Text 28"/>
          <p:cNvSpPr txBox="1"/>
          <p:nvPr/>
        </p:nvSpPr>
        <p:spPr>
          <a:xfrm>
            <a:off x="2130552" y="3633216"/>
            <a:ext cx="475488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أَنَا مِنْ بَرِيطَانِيَا، </a:t>
            </a:r>
            <a:pPr rtl="1" algn="ctr" indent="0" marL="0">
              <a:buNone/>
            </a:pPr>
            <a:r>
              <a:rPr lang="ar-SA" altLang="en-US" sz="2000" b="1" dirty="0">
                <a:solidFill>
                  <a:srgbClr val="0E7C86"/>
                </a:solidFill>
                <a:latin typeface="Amiri" pitchFamily="2" charset="-78"/>
                <a:ea typeface="Amiri" pitchFamily="2" charset="-78"/>
                <a:cs typeface="Amiri" pitchFamily="2" charset="-78"/>
              </a:rPr>
              <a:t>وَ</a:t>
            </a:r>
            <a:pPr rtl="1" algn="ctr" indent="0" marL="0">
              <a:buNone/>
            </a:pPr>
            <a:r>
              <a:rPr lang="ar-SA" altLang="en-US" sz="2000" b="1" dirty="0">
                <a:solidFill>
                  <a:srgbClr val="1B3B6F"/>
                </a:solidFill>
                <a:latin typeface="Amiri" pitchFamily="2" charset="-78"/>
                <a:ea typeface="Amiri" pitchFamily="2" charset="-78"/>
                <a:cs typeface="Amiri" pitchFamily="2" charset="-78"/>
              </a:rPr>
              <a:t>أَسْكُنُ فِي لَنْدَنَ.</a:t>
            </a:r>
            <a:endParaRPr lang="ar-SA" sz="2000" dirty="0"/>
          </a:p>
        </p:txBody>
      </p:sp>
      <p:sp>
        <p:nvSpPr>
          <p:cNvPr id="32" name="Text 29"/>
          <p:cNvSpPr txBox="1"/>
          <p:nvPr/>
        </p:nvSpPr>
        <p:spPr>
          <a:xfrm>
            <a:off x="566928" y="3633216"/>
            <a:ext cx="1399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joined</a:t>
            </a:r>
            <a:endParaRPr lang="en-US" sz="1100" dirty="0"/>
          </a:p>
        </p:txBody>
      </p:sp>
      <p:sp>
        <p:nvSpPr>
          <p:cNvPr id="33" name="Shape 30"/>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6" name="Text 33"/>
          <p:cNvSpPr txBox="1"/>
          <p:nvPr/>
        </p:nvSpPr>
        <p:spPr>
          <a:xfrm>
            <a:off x="7068312" y="4315968"/>
            <a:ext cx="457200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أَتَكَلَّمُ الإِنْجِلِيزِيَّةَ.</a:t>
            </a:r>
            <a:endParaRPr lang="ar-SA" sz="2000" dirty="0"/>
          </a:p>
        </p:txBody>
      </p:sp>
      <p:sp>
        <p:nvSpPr>
          <p:cNvPr id="37" name="Text 34"/>
          <p:cNvSpPr txBox="1"/>
          <p:nvPr/>
        </p:nvSpPr>
        <p:spPr>
          <a:xfrm>
            <a:off x="2130552" y="4315968"/>
            <a:ext cx="475488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أَتَكَلَّمُ الإِنْجِلِيزِيَّةَ وَالعَرَبِيَّةَ </a:t>
            </a:r>
            <a:pPr rtl="1" algn="ctr" indent="0" marL="0">
              <a:buNone/>
            </a:pPr>
            <a:r>
              <a:rPr lang="ar-SA" altLang="en-US" sz="2000" b="1" dirty="0">
                <a:solidFill>
                  <a:srgbClr val="0E7C86"/>
                </a:solidFill>
                <a:latin typeface="Amiri" pitchFamily="2" charset="-78"/>
                <a:ea typeface="Amiri" pitchFamily="2" charset="-78"/>
                <a:cs typeface="Amiri" pitchFamily="2" charset="-78"/>
              </a:rPr>
              <a:t>أَيْضًا</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8" name="Text 35"/>
          <p:cNvSpPr txBox="1"/>
          <p:nvPr/>
        </p:nvSpPr>
        <p:spPr>
          <a:xfrm>
            <a:off x="566928" y="4315968"/>
            <a:ext cx="1399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detail</a:t>
            </a:r>
            <a:endParaRPr lang="en-US" sz="1100" dirty="0"/>
          </a:p>
        </p:txBody>
      </p:sp>
      <p:sp>
        <p:nvSpPr>
          <p:cNvPr id="39" name="Shape 36"/>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0" name="Text 37"/>
          <p:cNvSpPr txBox="1"/>
          <p:nvPr/>
        </p:nvSpPr>
        <p:spPr>
          <a:xfrm>
            <a:off x="7068312" y="4998720"/>
            <a:ext cx="457200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أُحِبُّ القِرَاءَةَ.</a:t>
            </a:r>
            <a:endParaRPr lang="ar-SA" sz="2000" dirty="0"/>
          </a:p>
        </p:txBody>
      </p:sp>
      <p:sp>
        <p:nvSpPr>
          <p:cNvPr id="41" name="Text 38"/>
          <p:cNvSpPr txBox="1"/>
          <p:nvPr/>
        </p:nvSpPr>
        <p:spPr>
          <a:xfrm>
            <a:off x="2130552" y="4998720"/>
            <a:ext cx="475488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أُحِبُّ القِرَاءَةَ </a:t>
            </a:r>
            <a:pPr rtl="1" algn="ctr" indent="0" marL="0">
              <a:buNone/>
            </a:pPr>
            <a:r>
              <a:rPr lang="ar-SA" altLang="en-US" sz="2000" b="1" dirty="0">
                <a:solidFill>
                  <a:srgbClr val="0E7C86"/>
                </a:solidFill>
                <a:latin typeface="Amiri" pitchFamily="2" charset="-78"/>
                <a:ea typeface="Amiri" pitchFamily="2" charset="-78"/>
                <a:cs typeface="Amiri" pitchFamily="2" charset="-78"/>
              </a:rPr>
              <a:t>لِأَنَّهَا مُفِيدَةٌ</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42" name="Text 39"/>
          <p:cNvSpPr txBox="1"/>
          <p:nvPr/>
        </p:nvSpPr>
        <p:spPr>
          <a:xfrm>
            <a:off x="566928" y="4998720"/>
            <a:ext cx="1399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reason</a:t>
            </a:r>
            <a:endParaRPr lang="en-US" sz="1100" dirty="0"/>
          </a:p>
        </p:txBody>
      </p:sp>
      <p:sp>
        <p:nvSpPr>
          <p:cNvPr id="43" name="Shape 40"/>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4" name="Text 41"/>
          <p:cNvSpPr txBox="1"/>
          <p:nvPr/>
        </p:nvSpPr>
        <p:spPr>
          <a:xfrm>
            <a:off x="7068312" y="5681472"/>
            <a:ext cx="4572000" cy="627888"/>
          </a:xfrm>
          <a:prstGeom prst="rect">
            <a:avLst/>
          </a:prstGeom>
          <a:noFill/>
          <a:ln/>
        </p:spPr>
        <p:txBody>
          <a:bodyPr wrap="square" lIns="0" tIns="0" rIns="0" bIns="0" rtlCol="0" anchor="ctr"/>
          <a:lstStyle/>
          <a:p>
            <a:pPr algn="ctr" indent="0" marL="0">
              <a:buNone/>
            </a:pPr>
            <a:r>
              <a:rPr lang="en-US" sz="2000" b="1" dirty="0">
                <a:solidFill>
                  <a:srgbClr val="1B3B6F"/>
                </a:solidFill>
                <a:latin typeface="Calibri" pitchFamily="34" charset="0"/>
                <a:cs typeface="Amiri" pitchFamily="2" charset="-78"/>
              </a:rPr>
              <a:t>—</a:t>
            </a:r>
            <a:endParaRPr lang="en-US" sz="2000" dirty="0"/>
          </a:p>
        </p:txBody>
      </p:sp>
      <p:sp>
        <p:nvSpPr>
          <p:cNvPr id="45" name="Text 42"/>
          <p:cNvSpPr txBox="1"/>
          <p:nvPr/>
        </p:nvSpPr>
        <p:spPr>
          <a:xfrm>
            <a:off x="2130552" y="5681472"/>
            <a:ext cx="4754880" cy="62788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شُكْرًا، وَإِلَى اللِّقَاءِ.</a:t>
            </a:r>
            <a:endParaRPr lang="ar-SA" sz="2000" dirty="0"/>
          </a:p>
        </p:txBody>
      </p:sp>
      <p:sp>
        <p:nvSpPr>
          <p:cNvPr id="46" name="Text 43"/>
          <p:cNvSpPr txBox="1"/>
          <p:nvPr/>
        </p:nvSpPr>
        <p:spPr>
          <a:xfrm>
            <a:off x="566928" y="5681472"/>
            <a:ext cx="1399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polite close</a:t>
            </a:r>
            <a:endParaRPr lang="en-US" sz="11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cs typeface="Amiri" pitchFamily="2" charset="-78"/>
              </a:rPr>
              <a:t>WE DO · WEBSITE “PARAGRAPH ORDER MISSION” · PUT THE SEVEN CARDS IN ORDER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Build the paragraph in a logical order</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رَتِّبْ فِقْرَةَ 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Card</a:t>
            </a:r>
            <a:endParaRPr lang="en-US" sz="1100" dirty="0"/>
          </a:p>
        </p:txBody>
      </p:sp>
      <p:sp>
        <p:nvSpPr>
          <p:cNvPr id="17" name="Text 14"/>
          <p:cNvSpPr txBox="1"/>
          <p:nvPr/>
        </p:nvSpPr>
        <p:spPr>
          <a:xfrm>
            <a:off x="530352" y="1810512"/>
            <a:ext cx="9848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 card</a:t>
            </a:r>
            <a:endParaRPr lang="en-US" sz="1100" dirty="0"/>
          </a:p>
        </p:txBody>
      </p:sp>
      <p:sp>
        <p:nvSpPr>
          <p:cNvPr id="18" name="Shape 15"/>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19" name="Text 16"/>
          <p:cNvSpPr txBox="1"/>
          <p:nvPr/>
        </p:nvSpPr>
        <p:spPr>
          <a:xfrm>
            <a:off x="10561320" y="2267712"/>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0" name="Text 17"/>
          <p:cNvSpPr txBox="1"/>
          <p:nvPr/>
        </p:nvSpPr>
        <p:spPr>
          <a:xfrm>
            <a:off x="548640" y="2267712"/>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جِنْسِيَّتِي بَرِيطَانِيَّةٌ.</a:t>
            </a:r>
            <a:endParaRPr lang="ar-SA" sz="2200" dirty="0"/>
          </a:p>
        </p:txBody>
      </p:sp>
      <p:sp>
        <p:nvSpPr>
          <p:cNvPr id="21" name="Shape 18"/>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2" name="Text 19"/>
          <p:cNvSpPr txBox="1"/>
          <p:nvPr/>
        </p:nvSpPr>
        <p:spPr>
          <a:xfrm>
            <a:off x="10561320" y="2794145"/>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3" name="Text 20"/>
          <p:cNvSpPr txBox="1"/>
          <p:nvPr/>
        </p:nvSpPr>
        <p:spPr>
          <a:xfrm>
            <a:off x="548640" y="2794145"/>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شُكْرًا، وَإِلَى اللِّقَاءِ.</a:t>
            </a:r>
            <a:endParaRPr lang="ar-SA" sz="2200" dirty="0"/>
          </a:p>
        </p:txBody>
      </p:sp>
      <p:sp>
        <p:nvSpPr>
          <p:cNvPr id="24" name="Shape 21"/>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25" name="Text 22"/>
          <p:cNvSpPr txBox="1"/>
          <p:nvPr/>
        </p:nvSpPr>
        <p:spPr>
          <a:xfrm>
            <a:off x="10561320" y="3320578"/>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t>
            </a:r>
            <a:endParaRPr lang="en-US" sz="1100" dirty="0"/>
          </a:p>
        </p:txBody>
      </p:sp>
      <p:sp>
        <p:nvSpPr>
          <p:cNvPr id="26" name="Text 23"/>
          <p:cNvSpPr txBox="1"/>
          <p:nvPr/>
        </p:nvSpPr>
        <p:spPr>
          <a:xfrm>
            <a:off x="548640" y="3320578"/>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اِسْمِي يُوسُفُ، وَعُمْرِي أَرْبَعَ عَشْرَةَ سَنَةً.</a:t>
            </a:r>
            <a:endParaRPr lang="ar-SA" sz="2200" dirty="0"/>
          </a:p>
        </p:txBody>
      </p:sp>
      <p:sp>
        <p:nvSpPr>
          <p:cNvPr id="27" name="Shape 2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28" name="Text 25"/>
          <p:cNvSpPr txBox="1"/>
          <p:nvPr/>
        </p:nvSpPr>
        <p:spPr>
          <a:xfrm>
            <a:off x="10561320" y="3847011"/>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
            </a:r>
            <a:endParaRPr lang="en-US" sz="1100" dirty="0"/>
          </a:p>
        </p:txBody>
      </p:sp>
      <p:sp>
        <p:nvSpPr>
          <p:cNvPr id="29" name="Text 26"/>
          <p:cNvSpPr txBox="1"/>
          <p:nvPr/>
        </p:nvSpPr>
        <p:spPr>
          <a:xfrm>
            <a:off x="548640" y="3847011"/>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القِرَاءَةَ لِأَنَّهَا مُفِيدَةٌ.</a:t>
            </a:r>
            <a:endParaRPr lang="ar-SA" sz="2200" dirty="0"/>
          </a:p>
        </p:txBody>
      </p:sp>
      <p:sp>
        <p:nvSpPr>
          <p:cNvPr id="30" name="Shape 27"/>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31" name="Text 28"/>
          <p:cNvSpPr txBox="1"/>
          <p:nvPr/>
        </p:nvSpPr>
        <p:spPr>
          <a:xfrm>
            <a:off x="10561320" y="4373445"/>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t>
            </a:r>
            <a:endParaRPr lang="en-US" sz="1100" dirty="0"/>
          </a:p>
        </p:txBody>
      </p:sp>
      <p:sp>
        <p:nvSpPr>
          <p:cNvPr id="32" name="Text 29"/>
          <p:cNvSpPr txBox="1"/>
          <p:nvPr/>
        </p:nvSpPr>
        <p:spPr>
          <a:xfrm>
            <a:off x="548640" y="4373445"/>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السَّلَامُ عَلَيْكُمْ.</a:t>
            </a:r>
            <a:endParaRPr lang="ar-SA" sz="2200" dirty="0"/>
          </a:p>
        </p:txBody>
      </p:sp>
      <p:sp>
        <p:nvSpPr>
          <p:cNvPr id="33" name="Shape 30"/>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34" name="Text 31"/>
          <p:cNvSpPr txBox="1"/>
          <p:nvPr/>
        </p:nvSpPr>
        <p:spPr>
          <a:xfrm>
            <a:off x="10561320" y="4899878"/>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
            </a:r>
            <a:endParaRPr lang="en-US" sz="1100" dirty="0"/>
          </a:p>
        </p:txBody>
      </p:sp>
      <p:sp>
        <p:nvSpPr>
          <p:cNvPr id="35" name="Text 32"/>
          <p:cNvSpPr txBox="1"/>
          <p:nvPr/>
        </p:nvSpPr>
        <p:spPr>
          <a:xfrm>
            <a:off x="548640" y="4899878"/>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أَتَكَلَّمُ الإِنْجِلِيزِيَّةَ وَالعَرَبِيَّةَ أَيْضًا.</a:t>
            </a:r>
            <a:endParaRPr lang="ar-SA" sz="2200" dirty="0"/>
          </a:p>
        </p:txBody>
      </p:sp>
      <p:sp>
        <p:nvSpPr>
          <p:cNvPr id="36" name="Shape 33"/>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37" name="Text 34"/>
          <p:cNvSpPr txBox="1"/>
          <p:nvPr/>
        </p:nvSpPr>
        <p:spPr>
          <a:xfrm>
            <a:off x="10561320" y="5426311"/>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a:t>
            </a:r>
            <a:endParaRPr lang="en-US" sz="1100" dirty="0"/>
          </a:p>
        </p:txBody>
      </p:sp>
      <p:sp>
        <p:nvSpPr>
          <p:cNvPr id="38" name="Text 35"/>
          <p:cNvSpPr txBox="1"/>
          <p:nvPr/>
        </p:nvSpPr>
        <p:spPr>
          <a:xfrm>
            <a:off x="548640" y="5426311"/>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مِنْ بَرِيطَانِيَا، وَأَسْكُنُ فِي لَنْدَنَ.</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Type the order in the chat, e.g. E C … (open politely → facts → interest → close).</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PARAGRAPH ORDER MISSION ·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natural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التَّرْتِيبُ الصَّحِيحُ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Card</a:t>
            </a:r>
            <a:endParaRPr lang="en-US" sz="1100" dirty="0"/>
          </a:p>
        </p:txBody>
      </p:sp>
      <p:sp>
        <p:nvSpPr>
          <p:cNvPr id="17" name="Text 14"/>
          <p:cNvSpPr txBox="1"/>
          <p:nvPr/>
        </p:nvSpPr>
        <p:spPr>
          <a:xfrm>
            <a:off x="2843784" y="1810512"/>
            <a:ext cx="7534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8" name="Text 15"/>
          <p:cNvSpPr txBox="1"/>
          <p:nvPr/>
        </p:nvSpPr>
        <p:spPr>
          <a:xfrm>
            <a:off x="53035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10561320" y="2267712"/>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t>
            </a:r>
            <a:endParaRPr lang="en-US" sz="1100" dirty="0"/>
          </a:p>
        </p:txBody>
      </p:sp>
      <p:sp>
        <p:nvSpPr>
          <p:cNvPr id="21" name="Text 18"/>
          <p:cNvSpPr txBox="1"/>
          <p:nvPr/>
        </p:nvSpPr>
        <p:spPr>
          <a:xfrm>
            <a:off x="2862072" y="2267712"/>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السَّلَامُ عَلَيْكُمْ.</a:t>
            </a:r>
            <a:endParaRPr lang="ar-SA" sz="2200" dirty="0"/>
          </a:p>
        </p:txBody>
      </p:sp>
      <p:sp>
        <p:nvSpPr>
          <p:cNvPr id="22" name="Text 19"/>
          <p:cNvSpPr txBox="1"/>
          <p:nvPr/>
        </p:nvSpPr>
        <p:spPr>
          <a:xfrm>
            <a:off x="566928" y="2267712"/>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greeting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6" name="Text 23"/>
          <p:cNvSpPr txBox="1"/>
          <p:nvPr/>
        </p:nvSpPr>
        <p:spPr>
          <a:xfrm>
            <a:off x="10561320" y="2852928"/>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t>
            </a:r>
            <a:endParaRPr lang="en-US" sz="1100" dirty="0"/>
          </a:p>
        </p:txBody>
      </p:sp>
      <p:sp>
        <p:nvSpPr>
          <p:cNvPr id="27" name="Text 24"/>
          <p:cNvSpPr txBox="1"/>
          <p:nvPr/>
        </p:nvSpPr>
        <p:spPr>
          <a:xfrm>
            <a:off x="2862072" y="2852928"/>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اِسْمِي يُوسُفُ، وَعُمْرِي أَرْبَعَ عَشْرَةَ سَنَةً.</a:t>
            </a:r>
            <a:endParaRPr lang="ar-SA" sz="2200" dirty="0"/>
          </a:p>
        </p:txBody>
      </p:sp>
      <p:sp>
        <p:nvSpPr>
          <p:cNvPr id="28" name="Text 25"/>
          <p:cNvSpPr txBox="1"/>
          <p:nvPr/>
        </p:nvSpPr>
        <p:spPr>
          <a:xfrm>
            <a:off x="566928" y="2852928"/>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 age</a:t>
            </a:r>
            <a:endParaRPr lang="en-US" sz="1100" dirty="0"/>
          </a:p>
        </p:txBody>
      </p:sp>
      <p:sp>
        <p:nvSpPr>
          <p:cNvPr id="29" name="Shape 2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0" name="Text 27"/>
          <p:cNvSpPr txBox="1"/>
          <p:nvPr/>
        </p:nvSpPr>
        <p:spPr>
          <a:xfrm>
            <a:off x="10561320" y="3438144"/>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a:t>
            </a:r>
            <a:endParaRPr lang="en-US" sz="1100" dirty="0"/>
          </a:p>
        </p:txBody>
      </p:sp>
      <p:sp>
        <p:nvSpPr>
          <p:cNvPr id="31" name="Text 28"/>
          <p:cNvSpPr txBox="1"/>
          <p:nvPr/>
        </p:nvSpPr>
        <p:spPr>
          <a:xfrm>
            <a:off x="2862072" y="3438144"/>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مِنْ بَرِيطَانِيَا، وَأَسْكُنُ فِي لَنْدَنَ.</a:t>
            </a:r>
            <a:endParaRPr lang="ar-SA" sz="2200" dirty="0"/>
          </a:p>
        </p:txBody>
      </p:sp>
      <p:sp>
        <p:nvSpPr>
          <p:cNvPr id="32" name="Text 29"/>
          <p:cNvSpPr txBox="1"/>
          <p:nvPr/>
        </p:nvSpPr>
        <p:spPr>
          <a:xfrm>
            <a:off x="566928" y="3438144"/>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origin + residence</a:t>
            </a:r>
            <a:endParaRPr lang="en-US" sz="1100" dirty="0"/>
          </a:p>
        </p:txBody>
      </p:sp>
      <p:sp>
        <p:nvSpPr>
          <p:cNvPr id="33" name="Shape 30"/>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4" name="Text 31"/>
          <p:cNvSpPr txBox="1"/>
          <p:nvPr/>
        </p:nvSpPr>
        <p:spPr>
          <a:xfrm>
            <a:off x="10561320" y="4023360"/>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5" name="Text 32"/>
          <p:cNvSpPr txBox="1"/>
          <p:nvPr/>
        </p:nvSpPr>
        <p:spPr>
          <a:xfrm>
            <a:off x="2862072" y="4023360"/>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جِنْسِيَّتِي بَرِيطَانِيَّةٌ.</a:t>
            </a:r>
            <a:endParaRPr lang="ar-SA" sz="2200" dirty="0"/>
          </a:p>
        </p:txBody>
      </p:sp>
      <p:sp>
        <p:nvSpPr>
          <p:cNvPr id="36" name="Text 33"/>
          <p:cNvSpPr txBox="1"/>
          <p:nvPr/>
        </p:nvSpPr>
        <p:spPr>
          <a:xfrm>
            <a:off x="566928" y="4023360"/>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37" name="Shape 34"/>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38" name="Text 35"/>
          <p:cNvSpPr txBox="1"/>
          <p:nvPr/>
        </p:nvSpPr>
        <p:spPr>
          <a:xfrm>
            <a:off x="10561320" y="4608576"/>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
            </a:r>
            <a:endParaRPr lang="en-US" sz="1100" dirty="0"/>
          </a:p>
        </p:txBody>
      </p:sp>
      <p:sp>
        <p:nvSpPr>
          <p:cNvPr id="39" name="Text 36"/>
          <p:cNvSpPr txBox="1"/>
          <p:nvPr/>
        </p:nvSpPr>
        <p:spPr>
          <a:xfrm>
            <a:off x="2862072" y="4608576"/>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أَتَكَلَّمُ الإِنْجِلِيزِيَّةَ وَالعَرَبِيَّةَ أَيْضًا.</a:t>
            </a:r>
            <a:endParaRPr lang="ar-SA" sz="2200" dirty="0"/>
          </a:p>
        </p:txBody>
      </p:sp>
      <p:sp>
        <p:nvSpPr>
          <p:cNvPr id="40" name="Text 37"/>
          <p:cNvSpPr txBox="1"/>
          <p:nvPr/>
        </p:nvSpPr>
        <p:spPr>
          <a:xfrm>
            <a:off x="566928" y="4608576"/>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41" name="Shape 38"/>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42" name="Text 39"/>
          <p:cNvSpPr txBox="1"/>
          <p:nvPr/>
        </p:nvSpPr>
        <p:spPr>
          <a:xfrm>
            <a:off x="10561320" y="5193792"/>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
            </a:r>
            <a:endParaRPr lang="en-US" sz="1100" dirty="0"/>
          </a:p>
        </p:txBody>
      </p:sp>
      <p:sp>
        <p:nvSpPr>
          <p:cNvPr id="43" name="Text 40"/>
          <p:cNvSpPr txBox="1"/>
          <p:nvPr/>
        </p:nvSpPr>
        <p:spPr>
          <a:xfrm>
            <a:off x="2862072" y="5193792"/>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القِرَاءَةَ لِأَنَّهَا مُفِيدَةٌ.</a:t>
            </a:r>
            <a:endParaRPr lang="ar-SA" sz="2200" dirty="0"/>
          </a:p>
        </p:txBody>
      </p:sp>
      <p:sp>
        <p:nvSpPr>
          <p:cNvPr id="44" name="Text 41"/>
          <p:cNvSpPr txBox="1"/>
          <p:nvPr/>
        </p:nvSpPr>
        <p:spPr>
          <a:xfrm>
            <a:off x="566928" y="5193792"/>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interest + reason</a:t>
            </a:r>
            <a:endParaRPr lang="en-US" sz="1100" dirty="0"/>
          </a:p>
        </p:txBody>
      </p:sp>
      <p:sp>
        <p:nvSpPr>
          <p:cNvPr id="45" name="Shape 42"/>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46" name="Text 43"/>
          <p:cNvSpPr txBox="1"/>
          <p:nvPr/>
        </p:nvSpPr>
        <p:spPr>
          <a:xfrm>
            <a:off x="10561320" y="5779008"/>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7" name="Text 44"/>
          <p:cNvSpPr txBox="1"/>
          <p:nvPr/>
        </p:nvSpPr>
        <p:spPr>
          <a:xfrm>
            <a:off x="2862072" y="5779008"/>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شُكْرًا، وَإِلَى اللِّقَاءِ.</a:t>
            </a:r>
            <a:endParaRPr lang="ar-SA" sz="2200" dirty="0"/>
          </a:p>
        </p:txBody>
      </p:sp>
      <p:sp>
        <p:nvSpPr>
          <p:cNvPr id="48" name="Text 45"/>
          <p:cNvSpPr txBox="1"/>
          <p:nvPr/>
        </p:nvSpPr>
        <p:spPr>
          <a:xfrm>
            <a:off x="566928" y="5779008"/>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close</a:t>
            </a:r>
            <a:endParaRPr lang="en-US" sz="1100" dirty="0"/>
          </a:p>
        </p:txBody>
      </p:sp>
      <p:sp>
        <p:nvSpPr>
          <p:cNvPr id="49" name="Shape 46"/>
          <p:cNvSpPr/>
          <p:nvPr/>
        </p:nvSpPr>
        <p:spPr>
          <a:xfrm>
            <a:off x="11091672" y="582472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82472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“EDITOR’S LENS”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change makes it better?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عَدَسَةُ المُحَرِّرِ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opening improves a bare list of facts?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السَّلَامُ عَلَيْكُمْ.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العُمْرُ: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writer should choose…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جِنْسِيَّتِي سُورِيٌّ.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جِنْسِيَّتِي سُورِيَّةٌ.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جِنْسِيَّتُهُ سُورِيَّةٌ.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age sentence is complete?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ثَلَاثَ عَشْرَةَ سَنَةً.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ثَلَاثَ عَشْرَةَ.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explains an interest?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الرَّسْمَ.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 جَمِيلٌ.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الرَّسْمَ لِأَنَّهُ جَمِيلٌ.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closing completes the introduction politely?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العُمْرُ.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شُكْرًا، وَإِلَى اللِّقَاءِ.</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EDITOR’S QUESTIONS</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Is there a greeting?</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Is the age complete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سَنَةً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Does the gender match?</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Is there a reason and a close?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EDITOR’S LENS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Editor’s lens: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opening improves a bare list of facts?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السَّلَامُ عَلَيْكُمْ.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العُمْرُ: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greeting gives the introduction a natural opening.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writer should choose…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جِنْسِيَّتِي سُورِيٌّ.</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جِنْسِيَّتِي سُورِيَّةٌ.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جِنْسِيَّتُهُ سُورِيَّةٌ.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nationality adjective agrees with the female speaker.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age sentence is complete?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عُمْرِي ثَلَاثَ عَشْرَةَ سَنَةً.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ثَلَاثَ عَشْرَةَ.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complete model includes </a:t>
            </a:r>
            <a:pPr algn="l" indent="0" marL="0">
              <a:buNone/>
            </a:pPr>
            <a:r>
              <a:rPr lang="ar-SA" altLang="en-US" sz="1350" dirty="0">
                <a:solidFill>
                  <a:srgbClr val="8A6D1E"/>
                </a:solidFill>
                <a:latin typeface="Amiri" pitchFamily="2" charset="-78"/>
                <a:ea typeface="Amiri" pitchFamily="2" charset="-78"/>
                <a:cs typeface="Amiri" pitchFamily="2" charset="-78"/>
              </a:rPr>
              <a:t>سَنَةً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explains an interest?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الرَّسْمَ.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جَمِيلٌ.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أُحِبُّ الرَّسْمَ لِأَنَّهُ جَمِيلٌ.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complete reason explains why the speaker likes drawing.</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closing completes the introduction politely?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العُمْرُ.</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شُكْرًا، وَإِلَى اللِّقَاءِ.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phrase thanks the listener and signals the end.</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EDITOR’S QUESTIONS</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Is there a greeting?</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Is the age complete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سَنَةً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Does the gender match?</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Is there a reason and a close?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عُمْرِي ثَلَاثَ عَشْرَةَ.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age chunk complete?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سَلْمَى: جِنْسِيَّتِي سُورِيٌّ.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Salma is a girl. Check the nationality.</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الرَّسْمَ لِأَنَّ.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Because … what?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عُمْرِي ثَلَاثَ عَشْرَةَ.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عُمْرِي ثَلَاثَ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complete age chunk ends with “year”.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سَلْمَى: جِنْسِيَّتِي سُورِيٌّ.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سَلْمَى: جِنْسِيَّتِي سُورِيَّةٌ.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Nationality agrees: -iyya (and </a:t>
            </a:r>
            <a:pPr algn="l" indent="0" marL="0">
              <a:buNone/>
            </a:pPr>
            <a:r>
              <a:rPr lang="ar-SA" altLang="en-US" sz="1500" b="1" dirty="0">
                <a:solidFill>
                  <a:srgbClr val="1B3B6F"/>
                </a:solidFill>
                <a:latin typeface="Amiri" pitchFamily="2" charset="-78"/>
                <a:ea typeface="Amiri" pitchFamily="2" charset="-78"/>
                <a:cs typeface="Amiri" pitchFamily="2" charset="-78"/>
              </a:rPr>
              <a:t>جِنْسِيَّة</a:t>
            </a:r>
            <a:pPr algn="l" indent="0" marL="0">
              <a:buNone/>
            </a:pPr>
            <a:r>
              <a:rPr lang="en-US" sz="1150" b="1" dirty="0">
                <a:solidFill>
                  <a:srgbClr val="1B3B6F"/>
                </a:solidFill>
                <a:latin typeface="Calibri" pitchFamily="34" charset="0"/>
                <a:cs typeface="Amiri" pitchFamily="2" charset="-78"/>
              </a:rPr>
              <a:t> is feminine anyway).</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الرَّسْمَ لِأَنَّ.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الرَّسْمَ لِأَنَّهُ جَمِيلٌ.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“Because” must be followed by a reason.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Salma’s profile dictation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Salma?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١٣</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١٤</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١٥</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لَنْدَنُ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لِيدْزُ</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مَانْشِسْتَرُ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nationality?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بَرِيطَانِيَّةٌ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does she speak?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English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French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 only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like?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القِرَاءَةَ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الرَّسْمَ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السِّبَاحَةَ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Eight boxes: name · age · origin · residence · nationality · languages · interest · close.</a:t>
            </a:r>
            <a:endParaRPr lang="en-US" sz="1250" dirty="0"/>
          </a:p>
          <a:p>
            <a:pPr algn="l" indent="0" marL="0">
              <a:buNone/>
            </a:pPr>
            <a:r>
              <a:rPr lang="en-US" sz="1250" dirty="0">
                <a:solidFill>
                  <a:srgbClr val="1E6B52"/>
                </a:solidFill>
                <a:latin typeface="Calibri" pitchFamily="34" charset="0"/>
                <a:cs typeface="Amiri" pitchFamily="2" charset="-78"/>
              </a:rPr>
              <a:t>Stretch: full dictation.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السَّلَامُ عَلَيْكُمْ. اِسْمِي سَلْمَى، وَعُمْرِي ثَلَاثَ عَشْرَةَ سَنَةً.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 be upon you. My name is Salma, and I am thirteen.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مِنْ سُورِيَا، وَأَسْكُنُ فِي مَانْشِسْتَرَ.</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from Syria, and I live in Manchester.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جِنْسِيَّتِي سُورِيَّةٌ، وَأَتَكَلَّمُ العَرَبِيَّةَ وَالإِنْجِلِيزِيَّةَ أَيْضًا.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nationality is Syrian, and I speak Arabic and English too.</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طَالِبَةٌ، وَأُحِبُّ الرَّسْمَ لِأَنَّهُ جَمِيلٌ. شُكْرًا، وَإِلَى اللِّقَاءِ.</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a student, and I like drawing because it is beautiful. Thank you, and see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Salma?</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١٣</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١٤</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١٥</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ثَلَاثَ عَشْرَةَ سَنَةً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لَنْدَنُ</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لِيدْزُ</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مَانْشِسْتَرُ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أَسْكُنُ فِي مَانْشِسْتَرَ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nationality?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مِصْرِيَّةٌ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بَرِيطَانِيَّةٌ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سُورِيَّةٌ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جِنْسِيَّتِي سُورِيَّةٌ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does she speak?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and English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French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 only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names </a:t>
            </a:r>
            <a:pPr algn="l" indent="0" marL="0">
              <a:buNone/>
            </a:pPr>
            <a:r>
              <a:rPr lang="ar-SA" altLang="en-US" sz="1350" dirty="0">
                <a:solidFill>
                  <a:srgbClr val="8A6D1E"/>
                </a:solidFill>
                <a:latin typeface="Amiri" pitchFamily="2" charset="-78"/>
                <a:ea typeface="Amiri" pitchFamily="2" charset="-78"/>
                <a:cs typeface="Amiri" pitchFamily="2" charset="-78"/>
              </a:rPr>
              <a:t>العَرَبِيَّةَ وَالإِنْجِلِيزِيَّةَ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like?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القِرَاءَةَ</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الرَّسْمَ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السِّبَاحَةَ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أُحِبُّ الرَّسْمَ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Eight boxes: name · age · origin · residence · nationality · languages · interest · close.</a:t>
            </a:r>
            <a:endParaRPr lang="en-US" sz="1250" dirty="0"/>
          </a:p>
          <a:p>
            <a:pPr algn="l" indent="0" marL="0">
              <a:buNone/>
            </a:pPr>
            <a:r>
              <a:rPr lang="en-US" sz="1250" dirty="0">
                <a:solidFill>
                  <a:srgbClr val="1E6B52"/>
                </a:solidFill>
                <a:latin typeface="Calibri" pitchFamily="34" charset="0"/>
                <a:cs typeface="Amiri" pitchFamily="2" charset="-78"/>
              </a:rPr>
              <a:t>Stretch: full dictation.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 AS A WRITER · LAYLA’S MODEL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Study a complete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تَعْرِيفًا شَخْصِيًّا كَامِلًا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مَرْحَبًا. اِسْمِي لَيْلَى حَسَن، وَعُمْرِي خَمْسَ عَشْرَةَ سَنَةً.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 · full name · age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مِنَ المَغْرِبِ، وَلَكِنْ أَسْكُنُ فِي مَدِينَةِ لِيدْزَ فِي بَرِيطَانِيَا.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origin · CONTRAST · residence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جِنْسِيَّتِي مَغْرِبِيَّةٌ، وَأَتَكَلَّمُ العَرَبِيَّةَ وَالإِنْجِلِيزِيَّةَ، وَأَفْهَمُ الفَرَنْسِيَّةَ أَيْضًا.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nationality · languages · an ADDED detail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طَالِبَةٌ مُجْتَهِدَةٌ، وَأُحِبُّ تَعَلُّمَ اللُّغَاتِ لِأَنَّهُ مُفِيدٌ وَمُمْتِعٌ.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 interest + REASON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تَشَرَّفْنَا، وَإِلَى اللِّقَاءِ.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polite close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AND WRITER’S CRAFT CHECK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Find the information and the craft</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Layla’s family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خَالِد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حَسَن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يُوسُف</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لَنْدَنُ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بِرْمِنْغَامُ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لِيدْزُ</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additional language does she understand?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الفَرَنْسِيَّةَ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الأُرْدِيَّةَ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الإِسْبَانِيَّةَ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it?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قَصِيرَةٌ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مُفِيدٌ وَمُمْتِعٌ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 فَقَطْ</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contrast between origin and residence?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AS A WRITER</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fact. Then ask: which connective did Layla use, and why?</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Layla’s family name?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خَالِد</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حَسَن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يُوسُف</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says </a:t>
            </a:r>
            <a:pPr algn="l" indent="0" marL="0">
              <a:buNone/>
            </a:pPr>
            <a:r>
              <a:rPr lang="ar-SA" altLang="en-US" sz="1350" dirty="0">
                <a:solidFill>
                  <a:srgbClr val="8A6D1E"/>
                </a:solidFill>
                <a:latin typeface="Amiri" pitchFamily="2" charset="-78"/>
                <a:ea typeface="Amiri" pitchFamily="2" charset="-78"/>
                <a:cs typeface="Amiri" pitchFamily="2" charset="-78"/>
              </a:rPr>
              <a:t>اِسْمِي لَيْلَى حَسَن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لَنْدَنُ</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بِرْمِنْغَامُ</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لِيدْزُ</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lives in Leeds in Britain.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additional language does she understand?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الفَرَنْسِيَّةَ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الأُرْدِيَّةَ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الإِسْبَانِيَّةَ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understands French also.</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it?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قَصِيرَةٌ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 مُفِيدٌ وَمُمْتِعٌ</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فَقَطْ</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it is useful and enjoyable.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contrast between origin and residence?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وَلَكِنْ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أَيْضًا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contrasts being from Morocco with living in Britain.</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AS A WRITER</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fact. Then ask: which connective did Layla use, and why?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your writing aloud to test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نَمُوذَجَ يُوسُفَ بِصَوْتٍ مَسْمُوعٍ.</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تَعْرِيفَ لَيْلَى بِصَوْتٍ مَسْمُوعٍ.</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مَسَوَّدَتَكَ، ثُمَّ حَسِّنْ جُمْلَةً وَاحِدَةً.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قَدِّمْ تَعْرِيفَكَ بِدُونِ قِرَاءَةِ كُلِّ كَلِمَةٍ.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القِرَاءَةُ ١: المَعْنَى</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القِرَاءَةُ ٢: الاِنْسِيَابُ (، ·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القِرَاءَةُ ٣: الدِّقَّةُ (سَنَةً · ـيَّةٌ)</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حَسَّنْتُ … / حَسَّنْتُ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يُوسُفُ</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السَّلَامُ عَلَيْكُمْ. اِسْمِي يُوسُفُ، وَعُمْرِي أَرْبَعَ عَشْرَةَ سَنَةً.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Peace be upon you. My name is Yusuf, and I am fourteen.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يُوسُفُ</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أَنَا مِنْ بَرِيطَانِيَا، وَأَسْكُنُ فِي لَنْدَنَ.</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am from Britain, and I live in London.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form + 4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Complete the form, then four to six accurate lines using the model.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Fill the six fields, then four sentences using Yusuf’s model and your plan.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Five or six connected sentences with at least three connectives.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Six-part plan; at least three connectives; a polite close.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50–70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50–70 words, a reason with </a:t>
            </a:r>
            <a:pPr algn="l" indent="0" marL="0">
              <a:buNone/>
            </a:pPr>
            <a:r>
              <a:rPr lang="ar-SA" altLang="en-US" sz="1800" b="1" dirty="0">
                <a:solidFill>
                  <a:srgbClr val="1F2A37"/>
                </a:solidFill>
                <a:latin typeface="Amiri" pitchFamily="2" charset="-78"/>
                <a:ea typeface="Amiri" pitchFamily="2" charset="-78"/>
                <a:cs typeface="Amiri" pitchFamily="2" charset="-78"/>
              </a:rPr>
              <a:t>لِأَنَّ</a:t>
            </a:r>
            <a:pPr algn="l" indent="0" marL="0">
              <a:buNone/>
            </a:pPr>
            <a:r>
              <a:rPr lang="en-US" sz="1400" b="1" dirty="0">
                <a:solidFill>
                  <a:srgbClr val="1F2A37"/>
                </a:solidFill>
                <a:latin typeface="Calibri" pitchFamily="34" charset="0"/>
                <a:cs typeface="Amiri" pitchFamily="2" charset="-78"/>
              </a:rPr>
              <a:t>, and independent editing.</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Add a reason with لِأَنَّ and a contrast; edit with the four checks.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جِنْسِيَّتِي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nationality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______ وَ ______ أَيْضًا.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and … too.</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لِأَنَّهَا مُفِيدَةٌ.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because it is useful.</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لِأَنَّهُ جَمِيلٌ.</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because it is beautiful.</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______ ، وَلَكِنْ أَسْكُنُ فِي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from …, but I live in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 مَرْحَبًا.</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Greeting</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 وَعُمْرِي ______ سَنَةً.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 and I am … years old.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______ ، وَأَسْكُنُ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from …, and I live in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وَإِلَى اللِّقَاءِ.</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Polite close</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  ·  أَيْضًا  ·  ثُمَّ  ·  لِأَنَّهَا  ·  لِأَنَّهُ  ·  وَلَكِنْ  ·  مُفِيدَةٌ  ·  جَمِيلٌ  ·  القِرَاءَةَ  ·  الرَّسْمَ  ·  طَالِبٌ  ·  طَالِبَةٌ  ·  تَشَرَّفْنَا</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اِسْمِي يُوسُفُ، وَعُمْرِي أَرْبَعَ عَشْرَةَ سَنَةً. أَنَا مِنْ بَرِيطَانِيَا، وَأَسْكُنُ فِي لَنْدَنَ. أَنَا طَالِبٌ، وَأَتَكَلَّمُ الإِنْجِلِيزِيَّةَ وَالعَرَبِيَّةَ أَيْضًا. أُحِبُّ القِرَاءَةَ لِأَنَّهَا مُفِيدَةٌ. شُكْرًا، وَإِلَى اللِّقَاءِ!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My name is Yusuf, and I am fourteen. I am from Britain, and I live in London. I am a student, and I speak English and Arabic too. I like reading because it is useful. Thank you, and see you!</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greeting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connectives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polite 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introduction has a greeting and a polite close.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age chunk ends with </a:t>
            </a:r>
            <a:pPr algn="l" indent="0" marL="0">
              <a:buNone/>
            </a:pPr>
            <a:r>
              <a:rPr lang="ar-SA" altLang="en-US" sz="1700" dirty="0">
                <a:solidFill>
                  <a:srgbClr val="1F2A37"/>
                </a:solidFill>
                <a:latin typeface="Amiri" pitchFamily="2" charset="-78"/>
                <a:ea typeface="Amiri" pitchFamily="2" charset="-78"/>
                <a:cs typeface="Amiri" pitchFamily="2" charset="-78"/>
              </a:rPr>
              <a:t>سَنَةً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three connectives (and, also, then, because).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nationality matches me (-iyy / -iyya).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read it aloud and improved one sentence.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field means ‘place of residence’?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مَكَانُ السَّكَنِ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تَارِيخُ المِيلَادِ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 العَائِلَةِ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gives a reason?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distinguishes origin from residence?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مِنْ</a:t>
            </a:r>
            <a:pPr algn="l" indent="0" marL="0">
              <a:buNone/>
            </a:pPr>
            <a:r>
              <a:rPr lang="en-US" sz="1250" dirty="0">
                <a:solidFill>
                  <a:srgbClr val="1F2A37"/>
                </a:solidFill>
                <a:latin typeface="Calibri" pitchFamily="34" charset="0"/>
                <a:cs typeface="Amiri" pitchFamily="2" charset="-78"/>
              </a:rPr>
              <a:t> gives origin; </a:t>
            </a:r>
            <a:pPr algn="l" indent="0" marL="0">
              <a:buNone/>
            </a:pPr>
            <a:r>
              <a:rPr lang="ar-SA" altLang="en-US" sz="1650" dirty="0">
                <a:solidFill>
                  <a:srgbClr val="1F2A37"/>
                </a:solidFill>
                <a:latin typeface="Amiri" pitchFamily="2" charset="-78"/>
                <a:ea typeface="Amiri" pitchFamily="2" charset="-78"/>
                <a:cs typeface="Amiri" pitchFamily="2" charset="-78"/>
              </a:rPr>
              <a:t>فِي</a:t>
            </a:r>
            <a:pPr algn="l" indent="0" marL="0">
              <a:buNone/>
            </a:pPr>
            <a:r>
              <a:rPr lang="en-US" sz="1250" dirty="0">
                <a:solidFill>
                  <a:srgbClr val="1F2A37"/>
                </a:solidFill>
                <a:latin typeface="Calibri" pitchFamily="34" charset="0"/>
                <a:cs typeface="Amiri" pitchFamily="2" charset="-78"/>
              </a:rPr>
              <a:t> follows </a:t>
            </a:r>
            <a:pPr algn="l" indent="0" marL="0">
              <a:buNone/>
            </a:pPr>
            <a:r>
              <a:rPr lang="ar-SA" altLang="en-US" sz="1650" dirty="0">
                <a:solidFill>
                  <a:srgbClr val="1F2A37"/>
                </a:solidFill>
                <a:latin typeface="Amiri" pitchFamily="2" charset="-78"/>
                <a:ea typeface="Amiri" pitchFamily="2" charset="-78"/>
                <a:cs typeface="Amiri" pitchFamily="2" charset="-78"/>
              </a:rPr>
              <a:t>أَسْكُنُ</a:t>
            </a:r>
            <a:pPr algn="l" indent="0" marL="0">
              <a:buNone/>
            </a:pPr>
            <a:r>
              <a:rPr lang="en-US" sz="1250" dirty="0">
                <a:solidFill>
                  <a:srgbClr val="1F2A37"/>
                </a:solidFill>
                <a:latin typeface="Calibri" pitchFamily="34" charset="0"/>
                <a:cs typeface="Amiri" pitchFamily="2" charset="-78"/>
              </a:rPr>
              <a:t> for residence.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always mean age.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فِي</a:t>
            </a:r>
            <a:pPr algn="l" indent="0" marL="0">
              <a:buNone/>
            </a:pPr>
            <a:r>
              <a:rPr lang="en-US" sz="1250" dirty="0">
                <a:solidFill>
                  <a:srgbClr val="1F2A37"/>
                </a:solidFill>
                <a:latin typeface="Calibri" pitchFamily="34" charset="0"/>
                <a:cs typeface="Amiri" pitchFamily="2" charset="-78"/>
              </a:rPr>
              <a:t> gives nationality.</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field means ‘place of residence’?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مَكَانُ السَّكَنِ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تَارِيخُ المِيلَادِ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اِسْمُ العَائِلَةِ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مَكَانُ السَّكَنِ</a:t>
            </a:r>
            <a:pPr algn="l" indent="0" marL="0">
              <a:buNone/>
            </a:pPr>
            <a:r>
              <a:rPr lang="en-US" sz="1050" i="1" dirty="0">
                <a:solidFill>
                  <a:srgbClr val="8A6D1E"/>
                </a:solidFill>
                <a:latin typeface="Calibri" pitchFamily="34" charset="0"/>
                <a:cs typeface="Amiri" pitchFamily="2" charset="-78"/>
              </a:rPr>
              <a:t> asks where the person lives.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gives a reason?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أَيْضًا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لِأَنَّ</a:t>
            </a:r>
            <a:pPr algn="l" indent="0" marL="0">
              <a:buNone/>
            </a:pPr>
            <a:r>
              <a:rPr lang="en-US" sz="1050" i="1" dirty="0">
                <a:solidFill>
                  <a:srgbClr val="8A6D1E"/>
                </a:solidFill>
                <a:latin typeface="Calibri" pitchFamily="34" charset="0"/>
                <a:cs typeface="Amiri" pitchFamily="2" charset="-78"/>
              </a:rPr>
              <a:t> introduces a reason.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distinguishes origin from residence?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مِنْ</a:t>
            </a:r>
            <a:pPr algn="l" indent="0" marL="0">
              <a:buNone/>
            </a:pPr>
            <a:r>
              <a:rPr lang="en-US" sz="1250" b="1" dirty="0">
                <a:solidFill>
                  <a:srgbClr val="1F2A37"/>
                </a:solidFill>
                <a:latin typeface="Calibri" pitchFamily="34" charset="0"/>
                <a:cs typeface="Amiri" pitchFamily="2" charset="-78"/>
              </a:rPr>
              <a:t> gives origin; </a:t>
            </a:r>
            <a:pPr algn="l" indent="0" marL="0">
              <a:buNone/>
            </a:pPr>
            <a:r>
              <a:rPr lang="ar-SA" altLang="en-US" sz="1650" b="1" dirty="0">
                <a:solidFill>
                  <a:srgbClr val="1F2A37"/>
                </a:solidFill>
                <a:latin typeface="Amiri" pitchFamily="2" charset="-78"/>
                <a:ea typeface="Amiri" pitchFamily="2" charset="-78"/>
                <a:cs typeface="Amiri" pitchFamily="2" charset="-78"/>
              </a:rPr>
              <a:t>فِي</a:t>
            </a:r>
            <a:pPr algn="l" indent="0" marL="0">
              <a:buNone/>
            </a:pPr>
            <a:r>
              <a:rPr lang="en-US" sz="1250" b="1" dirty="0">
                <a:solidFill>
                  <a:srgbClr val="1F2A37"/>
                </a:solidFill>
                <a:latin typeface="Calibri" pitchFamily="34" charset="0"/>
                <a:cs typeface="Amiri" pitchFamily="2" charset="-78"/>
              </a:rPr>
              <a:t> follows </a:t>
            </a:r>
            <a:pPr algn="l" indent="0" marL="0">
              <a:buNone/>
            </a:pPr>
            <a:r>
              <a:rPr lang="ar-SA" altLang="en-US" sz="1650" b="1" dirty="0">
                <a:solidFill>
                  <a:srgbClr val="1F2A37"/>
                </a:solidFill>
                <a:latin typeface="Amiri" pitchFamily="2" charset="-78"/>
                <a:ea typeface="Amiri" pitchFamily="2" charset="-78"/>
                <a:cs typeface="Amiri" pitchFamily="2" charset="-78"/>
              </a:rPr>
              <a:t>أَسْكُنُ</a:t>
            </a:r>
            <a:pPr algn="l" indent="0" marL="0">
              <a:buNone/>
            </a:pPr>
            <a:r>
              <a:rPr lang="en-US" sz="1250" b="1" dirty="0">
                <a:solidFill>
                  <a:srgbClr val="1F2A37"/>
                </a:solidFill>
                <a:latin typeface="Calibri" pitchFamily="34" charset="0"/>
                <a:cs typeface="Amiri" pitchFamily="2" charset="-78"/>
              </a:rPr>
              <a:t> for residence.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always mean age.</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فِي</a:t>
            </a:r>
            <a:pPr algn="l" indent="0" marL="0">
              <a:buNone/>
            </a:pPr>
            <a:r>
              <a:rPr lang="en-US" sz="1250" dirty="0">
                <a:solidFill>
                  <a:srgbClr val="9AA1AB"/>
                </a:solidFill>
                <a:latin typeface="Calibri" pitchFamily="34" charset="0"/>
                <a:cs typeface="Amiri" pitchFamily="2" charset="-78"/>
              </a:rPr>
              <a:t> gives nationality.</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أَسْكُنُ فِي</a:t>
            </a:r>
            <a:pPr algn="l" indent="0" marL="0">
              <a:buNone/>
            </a:pPr>
            <a:r>
              <a:rPr lang="en-US" sz="1050" i="1" dirty="0">
                <a:solidFill>
                  <a:srgbClr val="8A6D1E"/>
                </a:solidFill>
                <a:latin typeface="Calibri" pitchFamily="34" charset="0"/>
                <a:cs typeface="Amiri" pitchFamily="2" charset="-78"/>
              </a:rPr>
              <a:t> serve different information functions.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F2-L12 ·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مُرَاجَعَةٌ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review, revision</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assessment</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دَرَجَةٌ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mark, grade</a:t>
            </a:r>
            <a:pPr indent="0" marL="0">
              <a:buNone/>
            </a:pPr>
            <a:r>
              <a:rPr lang="ar-SA" sz="1000" i="1" dirty="0">
                <a:solidFill>
                  <a:srgbClr val="5A6472"/>
                </a:solidFill>
                <a:latin typeface="Calibri" pitchFamily="34" charset="0"/>
                <a:ea typeface="Amiri" pitchFamily="2" charset="-78"/>
                <a:cs typeface="Amiri" pitchFamily="2" charset="-78"/>
              </a:rPr>
              <a:t>  pl. دَرَجَاتٌ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نُقْطَةُ قُوَّةٍ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strength</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هَدَفٌ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target, goal</a:t>
            </a:r>
            <a:pPr indent="0" marL="0">
              <a:buNone/>
            </a:pPr>
            <a:r>
              <a:rPr lang="ar-SA" sz="1000" i="1" dirty="0">
                <a:solidFill>
                  <a:srgbClr val="5A6472"/>
                </a:solidFill>
                <a:latin typeface="Calibri" pitchFamily="34" charset="0"/>
                <a:ea typeface="Amiri" pitchFamily="2" charset="-78"/>
                <a:cs typeface="Amiri" pitchFamily="2" charset="-78"/>
              </a:rPr>
              <a:t>  pl. أَهْدَافٌ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Revise with the website F2 “language vault”. Bring your polished introduction — you will use it in the writing assessment.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نُقْطَةُ قُوَّتِي … · هَدَفِي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F2-L11: the form-language check (12) and the form lab.</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your polished introduction (five or six connected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50–70 words, edited; then the 12-question writing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F2-L12 · Review and Unit Assessment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مُرَاجَعَةُ الوَحْدَةِ وَتَقْيِيمُهَا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revise all of F2 + bring your introduction.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F2-L11 · Writing a Short Personal Introduction</dc:title>
  <dc:subject>PptxGenJS Presentation</dc:subject>
  <dc:creator>Al Madina Online School · Arabic Department</dc:creator>
  <cp:lastModifiedBy>Al Madina Online School · Arabic Department</cp:lastModifiedBy>
  <cp:revision>1</cp:revision>
  <dcterms:created xsi:type="dcterms:W3CDTF">2026-10-11T06:41:27Z</dcterms:created>
  <dcterms:modified xsi:type="dcterms:W3CDTF">2026-10-11T06:41:27Z</dcterms:modified>
</cp:coreProperties>
</file>