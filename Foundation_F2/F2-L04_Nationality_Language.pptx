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4 (F2-L04). Website sections used: the four-question readiness check, countries → nationality words (8 countries), core identity vocabulary, the nisba pattern, four language actions and four languages, the decision check, listening (three speakers, six questions), three identity profiles (five questions), the identity speaking model and checklist, the identity-card writing task and the ten-question checkpoint. Picture match: website visual game “Nationality and Language”. NOTE: website reading question 2 has an answer-key error (it names Maryam, but the profile that says “I speak English and understand Arabic” is Zaynab’s) — corrected on the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nationality (theirs) in the right form, and ONE language line: أَتَكَلَّمُ … . Develop: origin + nationality + two languages. Stretch: all four language verbs, including أَكْتُبُ بِـ.
• Identity is personal: many students have more than one heritage or nationality. Accept any true answer (e.g. أَنَا بَرِيطَانِيٌّ وَبَاكِسْتَانِيٌّ) and never ask a student to “choose”. Students may also use a character card instead of personal details.
• The nisba pattern (ـِيٌّ / ـِيَّةٌ) is the SAME one students met in Topic-style words like عَرَبِيٌّ — it prepares F2-L05 (gender agreement).
• Urdu bridge: عربی، اردو، انگریزی، فہم، کتاب — Urdu speakers already know most language names.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“readiness check” (name, age question to a girl, أَنَا مِنْ مِصْرَ).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nationality word matches the PERSON: -iyy for a boy, -iyya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عربی / اردو / انگریزی (the language names, with the same -ī nisba ending!), فہم (fahm → أَفْهَمُ I understand), کتاب (kitāb — same root k-t-b as أَكْتُبُ I write).
Big idea for EAL students: Urdu and Arabic BOTH make nationality/language words with -ī (پاکستانی ↔ بَاكِسْتَانِيٌّ).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COUNTRIES → NATIONALITIES (website, 8 countries). Orange = the country part; pink = the ending.
Read across each row: country → a boy says → a girl says. Core: Britain + Egypt + the student’s OWN country.
Not in the list? Build it the same way: بَاكِسْتَانُ → بَاكِسْتَانِيٌّ / بَاكِسْتَانِيَّةٌ · بَنْغْلَادِيشُ → بَنْغْلَادِيشِيٌّ / بَنْغْلَادِيشِيَّةٌ · الصُّومَالُ → صُومَالِيٌّ / صُومَالِيَّةٌ.
Note the “the” (ال) drops in the nationality: المَغْرِبُ → مَغْرِبِيٌّ.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COUNTRIES → NATIONALITIES (website) continued: Iraq, Syria, Lebanon, Jordan — the countries of the listening and reading speakers. Same pattern: country + ـِيٌّ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IDENTITY WORDS (website “Core identity vocabulary” + the speaking model question). Card 1 recycles the endings from F2-L02/L03: جِنْسِيَّتُكَ / جِنْسِيَّتُكِ / جِنْسِيَّتِي — notice ة becomes ت when an ending is added.
Card 6 (مِنْ أَيْنَ أَنْتَ؟) is the natural question for أَنَا مِنْ … — used in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FOUR LANGUAGE ACTIONS (website, with gestures): 🗣️ أَتَكَلَّمُ · 👂 أَفْهَمُ · 📖 أَقْرَأُ · ✍️ أَكْتُبُ. Do the gesture every time you say the verb.
The small boxes show I / you (to a boy) / you (to a girl) — the أَ = I and تَـ = you pattern students will meet again and again. Core: “I” only.
Website model sentences: أَتَكَلَّمُ العَرَبِيَّةَ. أَفْهَمُ الإِنْجِلِيزِيَّةَ. أَقْرَأُ العَرَبِيَّةَ. أَكْتُبُ بِالإِنْجِلِيزِيَّةِ.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The nationality is an ADJECTIVE: it changes to match whether the person is masculine or feminine. Memory rule: ـِيٌّ usually describes one male person; ـِيَّةٌ one female person.
Website common mistake: “Do not choose from your own gender” — the ending describes the person IN THE SENTENCE. A girl says أَنَا مِصْرِيَّةٌ; a boy says أَنَا مِصْرِيٌّ; and a boy describing Zaynab says هِيَ سُورِيَّةٌ.
Link: the same ـة feminine clue as صَدِيقَةٌ (F2-L02) — tomorrow’s lesson (F2-L05) is all about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THREE IDENTITY SENTENCES (built from the website model sentences and reading question 5: “Which sentence states origin rather than nationality?”). The key discovery: only row 2 changes. Website decision check Q5: أَكْتُبُ بِالعَرَبِيَّةِ is the natural way to say “I write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“Nationality and language decision check” questions 1, 2,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speaker 1, modelled as four decisions. Then change ONE detail aloud: “What if Zaynab from Syria says it?” → أَنَا مِنْ سُورِيَا. أَنَا سُورِيَّةٌ.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decision check Q3 and Q5, checkpoint Q2 and Q9.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١. مَرْحَبًا. اِسْمِي خَالِدٌ. أَنَا مِنَ العِرَاقِ. أَنَا عِرَاقِيٌّ. أَتَكَلَّمُ العَرَبِيَّةَ وَالإِنْجِلِيزِيَّةَ. ٢. مَرْحَبًا. اِسْمِي زَيْنَبُ. أَنَا مِنْ سُورِيَا. أَنَا سُورِيَّةٌ. أَفْهَمُ العَرَبِيَّةَ وَأَتَكَلَّمُ الإِنْجِلِيزِيَّةَ. ٣. اِسْمِي مَرْيَمُ. أَنَا بَرِيطَانِيَّةٌ. أَتَكَلَّمُ الإِنْجِلِيزِيَّةَ وَالفَرَنْسِيَّةَ.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scan first for the NAME, then underline the nationality ending and circle each language verb. Core: read with the English; Develop / Stretch: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1–5. Q2 is CORRECTED: the website key gives Maryam, but Zaynab’s profile is the one that says “I speak English and I understand Arabic”. (If a student has done it online and “got it wrong” by choosing Zaynab — they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اللُّغَاتُ الَّتِي تَتَكَلَّمِينَهَا؟ (Which languages do you speak?)
ب: أَتَكَلَّمُ العَرَبِيَّةَ وَالإِنْجِلِيزِيَّةَ. (I speak Arabic and English.)
WEBSITE SPEAKING CHECKLIST (the listener ticks 1–5 in chat): 1 name · 2 origin with أَنَا مِنْ … · 3 matched gender -iyy / -iyya · 4 a language with أَتَكَلَّمُ · 5 extended with understand, read or write.
Website “random identity prompt”: show a character (e.g. خَالِد 🇮🇶) — the partner asks مَا جِنْسِيَّتُكَ؟ and answers as that character: أَنَا عِرَاقِيٌّ. أَتَكَلَّمُ العَرَبِيَّةَ وَالإِنْجِلِيزِيَّةَ.
Summarise (↺, Stretch): he / she is … and speaks … — the he-verb يَتَكَلَّمُ and she-verb تَتَكَلَّمُ (from the picture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identity-card fields. · Develop — Write four connected sentences: name, origin, nationality, languages. · Stretch — Use three or four different language verbs (speak, understand, read, write).
Website writing task (Stretch): Website writing task: create your Arabic identity card (name, age, origin, nationality, languages), then write four connected sentences. Stretch: use speak, understand, read and write.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identity card. Develop: turn each field into a full sentence (اِسْمِي مَرْيَم. عُمْرِي … أَنَا بَرِيطَانِيَّةٌ. أَتَكَلَّمُ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(F2-L05 · Masculine and Feminine Agreement) will spend class time USING this language, so students prepare it tonight — short, simple, easy to access (school guidance: “Simple, Short, Interesting, Relevant, Easy to access”). The five words are from the website F2-L05 active vocabulary (people-noun pairs, the first adjective pair and the ة clue).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Nationality and Language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الجِنْسِيَّةُ وَاللُّغَةُ — مَنْ أَنْتَ؟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where you are from (</a:t>
            </a:r>
            <a:pPr algn="l" indent="0" marL="0">
              <a:buNone/>
            </a:pPr>
            <a:r>
              <a:rPr lang="ar-SA" altLang="en-US" sz="1800" dirty="0">
                <a:solidFill>
                  <a:srgbClr val="C6D2E6"/>
                </a:solidFill>
                <a:latin typeface="Amiri" pitchFamily="2" charset="-78"/>
                <a:ea typeface="Amiri" pitchFamily="2" charset="-78"/>
                <a:cs typeface="Amiri" pitchFamily="2" charset="-78"/>
              </a:rPr>
              <a:t>أَنَا مِنْ</a:t>
            </a:r>
            <a:pPr algn="l" indent="0" marL="0">
              <a:buNone/>
            </a:pPr>
            <a:r>
              <a:rPr lang="en-US" sz="1400" dirty="0">
                <a:solidFill>
                  <a:srgbClr val="C6D2E6"/>
                </a:solidFill>
                <a:latin typeface="Calibri" pitchFamily="34" charset="0"/>
                <a:cs typeface="Amiri" pitchFamily="2" charset="-78"/>
              </a:rPr>
              <a:t> …), choose the nationality ending that matches the person (</a:t>
            </a:r>
            <a:pPr algn="l" indent="0" marL="0">
              <a:buNone/>
            </a:pPr>
            <a:r>
              <a:rPr lang="ar-SA" altLang="en-US" sz="1800" dirty="0">
                <a:solidFill>
                  <a:srgbClr val="C6D2E6"/>
                </a:solidFill>
                <a:latin typeface="Amiri" pitchFamily="2" charset="-78"/>
                <a:ea typeface="Amiri" pitchFamily="2" charset="-78"/>
                <a:cs typeface="Amiri" pitchFamily="2" charset="-78"/>
              </a:rPr>
              <a:t>ـِيٌّ / ـِيَّةٌ</a:t>
            </a:r>
            <a:pPr algn="l" indent="0" marL="0">
              <a:buNone/>
            </a:pPr>
            <a:r>
              <a:rPr lang="en-US" sz="1400" dirty="0">
                <a:solidFill>
                  <a:srgbClr val="C6D2E6"/>
                </a:solidFill>
                <a:latin typeface="Calibri" pitchFamily="34" charset="0"/>
                <a:cs typeface="Amiri" pitchFamily="2" charset="-78"/>
              </a:rPr>
              <a:t>), and say which languages you speak, understand, read and write.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F2-L04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Countries → nationalities, then four language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boy or girl ending, listen and read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Arab.</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read Arabic.</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 ...</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am from Egypt’ ?</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مِصْرَ.</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nationality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speak Arabic.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Arab.</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read Arabic.</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 ...</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introduces your name.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 or woman.</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am from Egypt’ ?</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مِصْرَ.</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the place you are from.</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nationality word matches the PERSON: -iyy for a boy, -iyya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مِصْرِيٌّ  ·  مِصْرِيَّةٌ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nationality with the correct masculine or feminine 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which languages I speak, understand, read and write.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identity details in short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and present a simple Arabic identity card.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one nationality in the right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language line with “I speak”.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my name, age, origin and nationality.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two language details.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speak, understand, read and write.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“in” a language with bi-.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countries, 3 identity words, 4 language verbs and 4 languages — all from the website. Core: YOUR country, YOUR languages, and “I speak”.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Countries → nationality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Identity words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 verbs + languages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العَرَبِيَّةُ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‎عربی‎ </a:t>
            </a:r>
            <a:pPr indent="0" marL="0">
              <a:buNone/>
            </a:pPr>
            <a:r>
              <a:rPr lang="en-US" sz="950" b="1" dirty="0">
                <a:solidFill>
                  <a:srgbClr val="2E8B57"/>
                </a:solidFill>
                <a:latin typeface="Calibri" pitchFamily="34" charset="0"/>
                <a:cs typeface="Amiri" pitchFamily="2" charset="-78"/>
              </a:rPr>
              <a:t> arabī · Arabic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الأُرْدِيَّةُ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‎اردو‎ </a:t>
            </a:r>
            <a:pPr indent="0" marL="0">
              <a:buNone/>
            </a:pPr>
            <a:r>
              <a:rPr lang="en-US" sz="950" b="1" dirty="0">
                <a:solidFill>
                  <a:srgbClr val="2E8B57"/>
                </a:solidFill>
                <a:latin typeface="Calibri" pitchFamily="34" charset="0"/>
                <a:cs typeface="Amiri" pitchFamily="2" charset="-78"/>
              </a:rPr>
              <a:t> urdū ·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الإِنْجِلِيزِيَّةُ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‎انگریزی‎ </a:t>
            </a:r>
            <a:pPr indent="0" marL="0">
              <a:buNone/>
            </a:pPr>
            <a:r>
              <a:rPr lang="en-US" sz="950" b="1" dirty="0">
                <a:solidFill>
                  <a:srgbClr val="2E8B57"/>
                </a:solidFill>
                <a:latin typeface="Calibri" pitchFamily="34" charset="0"/>
                <a:cs typeface="Amiri" pitchFamily="2" charset="-78"/>
              </a:rPr>
              <a:t> angrezī · English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أَفْهَمُ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‎فہم‎ </a:t>
            </a:r>
            <a:pPr indent="0" marL="0">
              <a:buNone/>
            </a:pPr>
            <a:r>
              <a:rPr lang="en-US" sz="950" b="1" dirty="0">
                <a:solidFill>
                  <a:srgbClr val="2E8B57"/>
                </a:solidFill>
                <a:latin typeface="Calibri" pitchFamily="34" charset="0"/>
                <a:cs typeface="Amiri" pitchFamily="2" charset="-78"/>
              </a:rPr>
              <a:t> fahm · understanding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أَكْتُبُ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 (k-t-b = write)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KEY WORDS · GROUP 1 · COUNTRIES BECOME NATIONALITY WORDS (WEBSITE) · 1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بَرِيطَانِيَا</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بَرِيطَانِ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بَرِيطَانِ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Britain</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مِصْرُ</a:t>
            </a:r>
            <a:endParaRPr lang="ar-SA" sz="2100" dirty="0"/>
          </a:p>
        </p:txBody>
      </p:sp>
      <p:sp>
        <p:nvSpPr>
          <p:cNvPr id="32" name="Text 29"/>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3" name="Text 30"/>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مِصْرِ</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34" name="Text 31"/>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35" name="Text 32"/>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مِصْرِ</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36" name="Text 33"/>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37" name="Text 34"/>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السُّعُودِيَّةُ</a:t>
            </a:r>
            <a:endParaRPr lang="ar-SA" sz="2100" dirty="0"/>
          </a:p>
        </p:txBody>
      </p:sp>
      <p:sp>
        <p:nvSpPr>
          <p:cNvPr id="42" name="Text 39"/>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43" name="Text 40"/>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سُعُودِ</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4" name="Text 41"/>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5" name="Text 42"/>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سُعُودِ</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46" name="Text 43"/>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47" name="Text 44"/>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Saudi Arabia</a:t>
            </a:r>
            <a:endParaRPr lang="en-US" sz="110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المَغْرِبُ</a:t>
            </a:r>
            <a:endParaRPr lang="ar-SA" sz="2100" dirty="0"/>
          </a:p>
        </p:txBody>
      </p:sp>
      <p:sp>
        <p:nvSpPr>
          <p:cNvPr id="50" name="Text 47"/>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51" name="Text 48"/>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مَغْرِبِ</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52" name="Text 49"/>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53" name="Text 50"/>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مَغْرِبِ</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54" name="Text 51"/>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55" name="Text 52"/>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KEY WORDS · GROUP 1 · COUNTRIES BECOME NATIONALITY WORDS (WEBSITE) · 2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more Arab countries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العِرَاقُ</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عِرَاقِ</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عِرَاقِ</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Iraq</a:t>
            </a:r>
            <a:endParaRPr lang="en-US" sz="110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سُورِيَا</a:t>
            </a:r>
            <a:endParaRPr lang="ar-SA" sz="2100" dirty="0"/>
          </a:p>
        </p:txBody>
      </p:sp>
      <p:sp>
        <p:nvSpPr>
          <p:cNvPr id="30" name="Text 27"/>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1" name="Text 28"/>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سُورِ</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32" name="Text 29"/>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33" name="Text 30"/>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سُورِ</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34" name="Text 31"/>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35" name="Text 32"/>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a:t>
            </a:r>
            <a:endParaRPr lang="en-US" sz="110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لُبْنَانُ</a:t>
            </a:r>
            <a:endParaRPr lang="ar-SA" sz="2100" dirty="0"/>
          </a:p>
        </p:txBody>
      </p:sp>
      <p:sp>
        <p:nvSpPr>
          <p:cNvPr id="38" name="Text 35"/>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9" name="Text 36"/>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0" name="Text 37"/>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1" name="Text 38"/>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42" name="Text 39"/>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43" name="Text 40"/>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Lebanon</a:t>
            </a:r>
            <a:endParaRPr lang="en-US" sz="110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الأُرْدُنُّ</a:t>
            </a:r>
            <a:endParaRPr lang="ar-SA" sz="2100" dirty="0"/>
          </a:p>
        </p:txBody>
      </p:sp>
      <p:sp>
        <p:nvSpPr>
          <p:cNvPr id="46" name="Text 43"/>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47" name="Text 44"/>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أُرْدُنِ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8" name="Text 45"/>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9" name="Text 46"/>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أُرْدُنِ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50" name="Text 47"/>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51" name="Text 48"/>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Jordan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IDENTITY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Identity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lu-ghāt</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لُغَتَانِ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عَرَبِيٌّ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a:t>
            </a:r>
            <a:endParaRPr lang="en-US" sz="1350" dirty="0"/>
          </a:p>
          <a:p>
            <a:pPr indent="0" marL="0">
              <a:buNone/>
            </a:pPr>
            <a:r>
              <a:rPr lang="en-US" sz="1100" i="1" dirty="0">
                <a:solidFill>
                  <a:srgbClr val="5A6472"/>
                </a:solidFill>
                <a:latin typeface="Calibri" pitchFamily="34" charset="0"/>
                <a:cs typeface="Amiri" pitchFamily="2" charset="-78"/>
              </a:rPr>
              <a:t>ʿa-ra-biy · ʿa-ra-biy-ya · ʿa-rab</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origin</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76" name="Text 7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 a country: </a:t>
            </a:r>
            <a:pPr algn="l" indent="0" marL="0">
              <a:buNone/>
            </a:pPr>
            <a:r>
              <a:rPr lang="ar-SA" altLang="en-US" sz="1300" dirty="0">
                <a:solidFill>
                  <a:srgbClr val="8A6D1E"/>
                </a:solidFill>
                <a:latin typeface="Amiri" pitchFamily="2" charset="-78"/>
                <a:ea typeface="Amiri" pitchFamily="2" charset="-78"/>
                <a:cs typeface="Amiri" pitchFamily="2" charset="-78"/>
              </a:rPr>
              <a:t>أَنَا مِنْ مِصْرَ</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جِنْسِيَّتُكَ؟</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nationality? (to a boy)</a:t>
            </a:r>
            <a:endParaRPr lang="en-US" sz="1350" dirty="0"/>
          </a:p>
          <a:p>
            <a:pPr indent="0" marL="0">
              <a:buNone/>
            </a:pPr>
            <a:r>
              <a:rPr lang="en-US" sz="1100" i="1" dirty="0">
                <a:solidFill>
                  <a:srgbClr val="5A6472"/>
                </a:solidFill>
                <a:latin typeface="Calibri" pitchFamily="34" charset="0"/>
                <a:cs typeface="Amiri" pitchFamily="2" charset="-78"/>
              </a:rPr>
              <a:t>mā jin-siy-ya-tu-ka</a:t>
            </a:r>
            <a:endParaRPr lang="en-US" sz="1350" dirty="0"/>
          </a:p>
        </p:txBody>
      </p:sp>
      <p:sp>
        <p:nvSpPr>
          <p:cNvPr id="84" name="Text 8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-ki.</a:t>
            </a:r>
            <a:endParaRPr lang="en-US" sz="10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 (to a boy)</a:t>
            </a:r>
            <a:endParaRPr lang="en-US" sz="1350" dirty="0"/>
          </a:p>
          <a:p>
            <a:pPr indent="0" marL="0">
              <a:buNone/>
            </a:pPr>
            <a:r>
              <a:rPr lang="en-US" sz="1100" i="1" dirty="0">
                <a:solidFill>
                  <a:srgbClr val="5A6472"/>
                </a:solidFill>
                <a:latin typeface="Calibri" pitchFamily="34" charset="0"/>
                <a:cs typeface="Amiri" pitchFamily="2" charset="-78"/>
              </a:rPr>
              <a:t>min ay-na an-ta · an-ti</a:t>
            </a:r>
            <a:endParaRPr lang="en-US" sz="1350" dirty="0"/>
          </a:p>
        </p:txBody>
      </p:sp>
      <p:sp>
        <p:nvSpPr>
          <p:cNvPr id="92" name="Text 8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a:t>
            </a:r>
            <a:pPr algn="l" indent="0" marL="0">
              <a:buNone/>
            </a:pPr>
            <a:r>
              <a:rPr lang="ar-SA" altLang="en-US" sz="1300" dirty="0">
                <a:solidFill>
                  <a:srgbClr val="8A6D1E"/>
                </a:solidFill>
                <a:latin typeface="Amiri" pitchFamily="2" charset="-78"/>
                <a:ea typeface="Amiri" pitchFamily="2" charset="-78"/>
                <a:cs typeface="Amiri" pitchFamily="2" charset="-78"/>
              </a:rPr>
              <a:t>مِنْ أَيْنَ أَنْتِ؟</a:t>
            </a:r>
            <a:endParaRPr lang="en-US" sz="10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KEY WORDS · GROUP 3 · FOUR LANGUAGE ACTIONS AND FOUR LANGUAGES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understand, read,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أَتَكَلَّمُ · أَفْهَمُ · أَقْرَأُ · أَكْتُبُ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a:t>
            </a:r>
            <a:endParaRPr lang="en-US" sz="1350" dirty="0"/>
          </a:p>
          <a:p>
            <a:pPr indent="0" marL="0">
              <a:buNone/>
            </a:pPr>
            <a:r>
              <a:rPr lang="en-US" sz="1100" i="1" dirty="0">
                <a:solidFill>
                  <a:srgbClr val="5A6472"/>
                </a:solidFill>
                <a:latin typeface="Calibri" pitchFamily="34" charset="0"/>
                <a:cs typeface="Amiri" pitchFamily="2" charset="-78"/>
              </a:rPr>
              <a:t>a-ta-kal-la-mu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أَفْهَمُ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understand</a:t>
            </a:r>
            <a:endParaRPr lang="en-US" sz="1350" dirty="0"/>
          </a:p>
          <a:p>
            <a:pPr indent="0" marL="0">
              <a:buNone/>
            </a:pPr>
            <a:r>
              <a:rPr lang="en-US" sz="1100" i="1" dirty="0">
                <a:solidFill>
                  <a:srgbClr val="5A6472"/>
                </a:solidFill>
                <a:latin typeface="Calibri" pitchFamily="34" charset="0"/>
                <a:cs typeface="Amiri" pitchFamily="2" charset="-78"/>
              </a:rPr>
              <a:t>af-ha-mu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أَفْهَمُ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a:t>
            </a:r>
            <a:endParaRPr lang="en-US" sz="1350" dirty="0"/>
          </a:p>
          <a:p>
            <a:pPr indent="0" marL="0">
              <a:buNone/>
            </a:pPr>
            <a:r>
              <a:rPr lang="en-US" sz="1100" i="1" dirty="0">
                <a:solidFill>
                  <a:srgbClr val="5A6472"/>
                </a:solidFill>
                <a:latin typeface="Calibri" pitchFamily="34" charset="0"/>
                <a:cs typeface="Amiri" pitchFamily="2" charset="-78"/>
              </a:rPr>
              <a:t>aq-ra-ʾu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تَقْرَأُ</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66" name="Text 6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تَقْرَئِينَ</a:t>
            </a:r>
            <a:endParaRPr lang="ar-SA" sz="135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أَكْتُبُ بِـ</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write (in)</a:t>
            </a:r>
            <a:endParaRPr lang="en-US" sz="1350" dirty="0"/>
          </a:p>
          <a:p>
            <a:pPr indent="0" marL="0">
              <a:buNone/>
            </a:pPr>
            <a:r>
              <a:rPr lang="en-US" sz="1100" i="1" dirty="0">
                <a:solidFill>
                  <a:srgbClr val="5A6472"/>
                </a:solidFill>
                <a:latin typeface="Calibri" pitchFamily="34" charset="0"/>
                <a:cs typeface="Amiri" pitchFamily="2" charset="-78"/>
              </a:rPr>
              <a:t>ak-tu-bu bi-</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أَكْتُبُ</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82" name="Text 7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تَكْتُبِينَ</a:t>
            </a:r>
            <a:endParaRPr lang="ar-SA" sz="135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6" name="Shape 8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0" name="Text 8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 الإِنْجِلِيزِيَّةُ</a:t>
            </a:r>
            <a:endParaRPr lang="ar-SA" sz="3000" dirty="0"/>
          </a:p>
        </p:txBody>
      </p:sp>
      <p:sp>
        <p:nvSpPr>
          <p:cNvPr id="91" name="Text 8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 English</a:t>
            </a:r>
            <a:endParaRPr lang="en-US" sz="1350" dirty="0"/>
          </a:p>
          <a:p>
            <a:pPr indent="0" marL="0">
              <a:buNone/>
            </a:pPr>
            <a:r>
              <a:rPr lang="en-US" sz="1100" i="1" dirty="0">
                <a:solidFill>
                  <a:srgbClr val="5A6472"/>
                </a:solidFill>
                <a:latin typeface="Calibri" pitchFamily="34" charset="0"/>
                <a:cs typeface="Amiri" pitchFamily="2" charset="-78"/>
              </a:rPr>
              <a:t>al-ʿa-ra-biy-ya · al-in-ji-lī-ziy-ya</a:t>
            </a:r>
            <a:endParaRPr lang="en-US" sz="1350" dirty="0"/>
          </a:p>
        </p:txBody>
      </p:sp>
      <p:sp>
        <p:nvSpPr>
          <p:cNvPr id="92" name="Text 8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Languages are feminine and take </a:t>
            </a:r>
            <a:pPr algn="l" indent="0" marL="0">
              <a:buNone/>
            </a:pPr>
            <a:r>
              <a:rPr lang="ar-SA" altLang="en-US" sz="1300" dirty="0">
                <a:solidFill>
                  <a:srgbClr val="8A6D1E"/>
                </a:solidFill>
                <a:latin typeface="Amiri" pitchFamily="2" charset="-78"/>
                <a:ea typeface="Amiri" pitchFamily="2" charset="-78"/>
                <a:cs typeface="Amiri" pitchFamily="2" charset="-78"/>
              </a:rPr>
              <a:t>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6" name="Shape 9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الفَرَنْسِيَّةُ · الأُرْدِيَّةُ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French · Urdu</a:t>
            </a:r>
            <a:endParaRPr lang="en-US" sz="1350" dirty="0"/>
          </a:p>
          <a:p>
            <a:pPr indent="0" marL="0">
              <a:buNone/>
            </a:pPr>
            <a:r>
              <a:rPr lang="en-US" sz="1100" i="1" dirty="0">
                <a:solidFill>
                  <a:srgbClr val="5A6472"/>
                </a:solidFill>
                <a:latin typeface="Calibri" pitchFamily="34" charset="0"/>
                <a:cs typeface="Amiri" pitchFamily="2" charset="-78"/>
              </a:rPr>
              <a:t>al-fa-ran-siy-ya · al-ur-diy-ya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yours: </a:t>
            </a:r>
            <a:pPr algn="l" indent="0" marL="0">
              <a:buNone/>
            </a:pPr>
            <a:r>
              <a:rPr lang="ar-SA" altLang="en-US" sz="1300" dirty="0">
                <a:solidFill>
                  <a:srgbClr val="8A6D1E"/>
                </a:solidFill>
                <a:latin typeface="Amiri" pitchFamily="2" charset="-78"/>
                <a:ea typeface="Amiri" pitchFamily="2" charset="-78"/>
                <a:cs typeface="Amiri" pitchFamily="2" charset="-78"/>
              </a:rPr>
              <a:t>البِنْغَالِيَّةُ، الصُّومَالِيَّةُ</a:t>
            </a:r>
            <a:pPr algn="l" indent="0" marL="0">
              <a:buNone/>
            </a:pPr>
            <a:r>
              <a:rPr lang="en-US" sz="1000" i="1" dirty="0">
                <a:solidFill>
                  <a:srgbClr val="8A6D1E"/>
                </a:solidFill>
                <a:latin typeface="Calibri" pitchFamily="34" charset="0"/>
                <a:cs typeface="Amiri" pitchFamily="2" charset="-78"/>
              </a:rPr>
              <a:t> …</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MATCH THE NATIONALITY TO THE PERSON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Boy or girl? Listen for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الجِنْسِيَّةَ مَعَ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2" charset="-78"/>
                <a:ea typeface="Amiri" pitchFamily="2" charset="-78"/>
                <a:cs typeface="Amiri" pitchFamily="2" charset="-78"/>
              </a:rPr>
              <a:t>أَنَا </a:t>
            </a:r>
            <a:pPr rtl="1" algn="ctr" indent="0" marL="0">
              <a:buNone/>
            </a:pPr>
            <a:r>
              <a:rPr lang="ar-SA" altLang="en-US" sz="7200" b="1" dirty="0">
                <a:solidFill>
                  <a:srgbClr val="C77700"/>
                </a:solidFill>
                <a:latin typeface="Amiri" pitchFamily="2" charset="-78"/>
                <a:ea typeface="Amiri" pitchFamily="2" charset="-78"/>
                <a:cs typeface="Amiri" pitchFamily="2" charset="-78"/>
              </a:rPr>
              <a:t>مِصْرِ</a:t>
            </a:r>
            <a:pPr rtl="1" algn="ctr" indent="0" marL="0">
              <a:buNone/>
            </a:pPr>
            <a:r>
              <a:rPr lang="ar-SA" altLang="en-US" sz="7200" b="1" dirty="0">
                <a:solidFill>
                  <a:srgbClr val="D6336C"/>
                </a:solidFill>
                <a:latin typeface="Amiri" pitchFamily="2" charset="-78"/>
                <a:ea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a-nā miṣ-riy-ya · I am Egyptian (a girl speaking)</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أَنَا</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person the sentence describes.</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C7770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C77700"/>
                </a:solidFill>
                <a:latin typeface="Amiri" pitchFamily="2" charset="-78"/>
                <a:ea typeface="Amiri" pitchFamily="2" charset="-78"/>
                <a:cs typeface="Amiri" pitchFamily="2" charset="-78"/>
              </a:rPr>
              <a:t>مِصْرِ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C77700"/>
                </a:solidFill>
                <a:latin typeface="Calibri" pitchFamily="34" charset="0"/>
                <a:cs typeface="Amiri" pitchFamily="2" charset="-78"/>
              </a:rPr>
              <a:t>PATTERN: the country</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مِصْرُ</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مِصْرِ</a:t>
            </a:r>
            <a:pPr algn="l" indent="0" marL="0">
              <a:buNone/>
            </a:pPr>
            <a:r>
              <a:rPr lang="en-US" sz="1150" dirty="0">
                <a:solidFill>
                  <a:srgbClr val="5A6472"/>
                </a:solidFill>
                <a:latin typeface="Calibri" pitchFamily="34" charset="0"/>
                <a:cs typeface="Amiri" pitchFamily="2" charset="-78"/>
              </a:rPr>
              <a:t>… (drop </a:t>
            </a:r>
            <a:pPr algn="l" indent="0" marL="0">
              <a:buNone/>
            </a:pPr>
            <a:r>
              <a:rPr lang="ar-SA" altLang="en-US" sz="1500" dirty="0">
                <a:solidFill>
                  <a:srgbClr val="5A6472"/>
                </a:solidFill>
                <a:latin typeface="Amiri" pitchFamily="2" charset="-78"/>
                <a:ea typeface="Amiri" pitchFamily="2" charset="-78"/>
                <a:cs typeface="Amiri" pitchFamily="2" charset="-78"/>
              </a:rPr>
              <a:t>ال</a:t>
            </a:r>
            <a:pPr algn="l" indent="0" marL="0">
              <a:buNone/>
            </a:pPr>
            <a:r>
              <a:rPr lang="en-US" sz="1150" dirty="0">
                <a:solidFill>
                  <a:srgbClr val="5A6472"/>
                </a:solidFill>
                <a:latin typeface="Calibri" pitchFamily="34" charset="0"/>
                <a:cs typeface="Amiri" pitchFamily="2" charset="-78"/>
              </a:rPr>
              <a:t> if there is one).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ـِيٌّ / 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m. /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-iyy for a boy · -iyya for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ORIGIN, NATIONALITY OR LANGUAGE?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identity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 الجِنْسِيَّةُ · اللُّغَةُ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a:t>
            </a:r>
            <a:endParaRPr lang="en-US" sz="1100" dirty="0"/>
          </a:p>
        </p:txBody>
      </p:sp>
      <p:sp>
        <p:nvSpPr>
          <p:cNvPr id="17" name="Text 14"/>
          <p:cNvSpPr txBox="1"/>
          <p:nvPr/>
        </p:nvSpPr>
        <p:spPr>
          <a:xfrm>
            <a:off x="34564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tells you</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لُبْنَانَ.</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Lebanon.</a:t>
            </a:r>
            <a:endParaRPr lang="en-US" sz="950" dirty="0"/>
          </a:p>
        </p:txBody>
      </p:sp>
      <p:sp>
        <p:nvSpPr>
          <p:cNvPr id="22" name="Text 19"/>
          <p:cNvSpPr txBox="1"/>
          <p:nvPr/>
        </p:nvSpPr>
        <p:spPr>
          <a:xfrm>
            <a:off x="3474720" y="2286000"/>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لُبْنَانَ.</a:t>
            </a:r>
            <a:endParaRPr lang="ar-SA" sz="2100" dirty="0"/>
          </a:p>
        </p:txBody>
      </p:sp>
      <p:sp>
        <p:nvSpPr>
          <p:cNvPr id="23" name="Text 20"/>
          <p:cNvSpPr txBox="1"/>
          <p:nvPr/>
        </p:nvSpPr>
        <p:spPr>
          <a:xfrm>
            <a:off x="3429000" y="2706624"/>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Lebanon.</a:t>
            </a:r>
            <a:endParaRPr lang="en-US" sz="95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dirty="0">
                <a:solidFill>
                  <a:srgbClr val="5A6472"/>
                </a:solidFill>
                <a:latin typeface="Calibri" pitchFamily="34" charset="0"/>
                <a:cs typeface="Amiri" pitchFamily="2" charset="-78"/>
              </a:rPr>
              <a:t> + country (same for both)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Lebanese.</a:t>
            </a:r>
            <a:endParaRPr lang="en-US" sz="950" dirty="0"/>
          </a:p>
        </p:txBody>
      </p:sp>
      <p:sp>
        <p:nvSpPr>
          <p:cNvPr id="30" name="Text 27"/>
          <p:cNvSpPr txBox="1"/>
          <p:nvPr/>
        </p:nvSpPr>
        <p:spPr>
          <a:xfrm>
            <a:off x="3474720" y="3072384"/>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429000" y="3493008"/>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Lebanese.</a:t>
            </a:r>
            <a:endParaRPr lang="en-US" sz="950" dirty="0"/>
          </a:p>
        </p:txBody>
      </p:sp>
      <p:sp>
        <p:nvSpPr>
          <p:cNvPr id="32" name="Text 29"/>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the ending changes</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تَكَلَّمُ العَرَبِيَّةَ.</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a:t>
            </a:r>
            <a:endParaRPr lang="en-US" sz="950" dirty="0"/>
          </a:p>
        </p:txBody>
      </p:sp>
      <p:sp>
        <p:nvSpPr>
          <p:cNvPr id="38" name="Text 35"/>
          <p:cNvSpPr txBox="1"/>
          <p:nvPr/>
        </p:nvSpPr>
        <p:spPr>
          <a:xfrm>
            <a:off x="3474720" y="3858768"/>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تَكَلَّمُ العَرَبِيَّةَ.</a:t>
            </a:r>
            <a:endParaRPr lang="ar-SA" sz="2100" dirty="0"/>
          </a:p>
        </p:txBody>
      </p:sp>
      <p:sp>
        <p:nvSpPr>
          <p:cNvPr id="39" name="Text 36"/>
          <p:cNvSpPr txBox="1"/>
          <p:nvPr/>
        </p:nvSpPr>
        <p:spPr>
          <a:xfrm>
            <a:off x="3429000" y="4279392"/>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a:t>
            </a:r>
            <a:endParaRPr lang="en-US" sz="950" dirty="0"/>
          </a:p>
        </p:txBody>
      </p:sp>
      <p:sp>
        <p:nvSpPr>
          <p:cNvPr id="40" name="Text 37"/>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the same for both</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أَكْتُبُ </a:t>
            </a:r>
            <a:pPr rtl="1" algn="ctr" indent="0" marL="0">
              <a:buNone/>
            </a:pPr>
            <a:r>
              <a:rPr lang="ar-SA" altLang="en-US" sz="2100" b="1" dirty="0">
                <a:solidFill>
                  <a:srgbClr val="0E7C86"/>
                </a:solidFill>
                <a:latin typeface="Amiri" pitchFamily="2" charset="-78"/>
                <a:ea typeface="Amiri" pitchFamily="2" charset="-78"/>
                <a:cs typeface="Amiri" pitchFamily="2" charset="-78"/>
              </a:rPr>
              <a:t>بِ</a:t>
            </a:r>
            <a:pPr rtl="1" algn="ctr" indent="0" marL="0">
              <a:buNone/>
            </a:pPr>
            <a:r>
              <a:rPr lang="ar-SA" altLang="en-US" sz="2100" b="1" dirty="0">
                <a:solidFill>
                  <a:srgbClr val="1B3B6F"/>
                </a:solidFill>
                <a:latin typeface="Amiri" pitchFamily="2" charset="-78"/>
                <a:ea typeface="Amiri" pitchFamily="2" charset="-78"/>
                <a:cs typeface="Amiri" pitchFamily="2" charset="-78"/>
              </a:rPr>
              <a:t>الإِنْجِلِيزِيَّةِ.</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write in English.</a:t>
            </a:r>
            <a:endParaRPr lang="en-US" sz="950" dirty="0"/>
          </a:p>
        </p:txBody>
      </p:sp>
      <p:sp>
        <p:nvSpPr>
          <p:cNvPr id="44" name="Text 41"/>
          <p:cNvSpPr txBox="1"/>
          <p:nvPr/>
        </p:nvSpPr>
        <p:spPr>
          <a:xfrm>
            <a:off x="3474720" y="4645152"/>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أَكْتُبُ </a:t>
            </a:r>
            <a:pPr rtl="1" algn="ctr" indent="0" marL="0">
              <a:buNone/>
            </a:pPr>
            <a:r>
              <a:rPr lang="ar-SA" altLang="en-US" sz="2100" b="1" dirty="0">
                <a:solidFill>
                  <a:srgbClr val="0E7C86"/>
                </a:solidFill>
                <a:latin typeface="Amiri" pitchFamily="2" charset="-78"/>
                <a:ea typeface="Amiri" pitchFamily="2" charset="-78"/>
                <a:cs typeface="Amiri" pitchFamily="2" charset="-78"/>
              </a:rPr>
              <a:t>بِ</a:t>
            </a:r>
            <a:pPr rtl="1" algn="ctr" indent="0" marL="0">
              <a:buNone/>
            </a:pPr>
            <a:r>
              <a:rPr lang="ar-SA" altLang="en-US" sz="2100" b="1" dirty="0">
                <a:solidFill>
                  <a:srgbClr val="1B3B6F"/>
                </a:solidFill>
                <a:latin typeface="Amiri" pitchFamily="2" charset="-78"/>
                <a:ea typeface="Amiri" pitchFamily="2" charset="-78"/>
                <a:cs typeface="Amiri" pitchFamily="2" charset="-78"/>
              </a:rPr>
              <a:t>الإِنْجِلِيزِيَّةِ.</a:t>
            </a:r>
            <a:endParaRPr lang="ar-SA" sz="2100" dirty="0"/>
          </a:p>
        </p:txBody>
      </p:sp>
      <p:sp>
        <p:nvSpPr>
          <p:cNvPr id="45" name="Text 42"/>
          <p:cNvSpPr txBox="1"/>
          <p:nvPr/>
        </p:nvSpPr>
        <p:spPr>
          <a:xfrm>
            <a:off x="3429000" y="5065776"/>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write in English.</a:t>
            </a:r>
            <a:endParaRPr lang="en-US" sz="950" dirty="0"/>
          </a:p>
        </p:txBody>
      </p:sp>
      <p:sp>
        <p:nvSpPr>
          <p:cNvPr id="46" name="Text 4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IN: bi- + the language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NATIONALITY changes for a boy or a girl.</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boy from Egypt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from Syria says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speak Arabic’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العَرَبِيَّةَ.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العَرَبِيَّةَ.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nationality.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جِنْسِيَّتُكِ؟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جِنْسِيَّتُكَ؟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boy from Egypt says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مِصْرِيٌّ.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adjective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from Syria says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سُورِيَّةٌ.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nationality ends in </a:t>
            </a:r>
            <a:pPr algn="l" indent="0" marL="0">
              <a:buNone/>
            </a:pPr>
            <a:r>
              <a:rPr lang="ar-SA" altLang="en-US" sz="1350" dirty="0">
                <a:solidFill>
                  <a:srgbClr val="8A6D1E"/>
                </a:solidFill>
                <a:latin typeface="Amiri" pitchFamily="2" charset="-78"/>
                <a:ea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speak Arabic’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أَفْهَمُ العَرَبِيَّةَ.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أَتَكَلَّمُ العَرَبِيَّةَ.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 العَرَبِيَّةَ.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أَتَكَلَّمُ</a:t>
            </a:r>
            <a:pPr algn="l" indent="0" marL="0">
              <a:buNone/>
            </a:pPr>
            <a:r>
              <a:rPr lang="en-US" sz="1050" i="1" dirty="0">
                <a:solidFill>
                  <a:srgbClr val="8A6D1E"/>
                </a:solidFill>
                <a:latin typeface="Calibri" pitchFamily="34" charset="0"/>
                <a:cs typeface="Amiri" pitchFamily="2" charset="-78"/>
              </a:rPr>
              <a:t> means ‘I speak’.</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nationality.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جِنْسِيَّتُكِ؟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جِنْسِيَّتُكَ؟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 or woman.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an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اِسْمِي خَالِدٌ.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with the name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a:t>
            </a:r>
            <a:pPr rtl="1" algn="ctr" indent="0" marL="0">
              <a:buNone/>
            </a:pPr>
            <a:r>
              <a:rPr lang="ar-SA" altLang="en-US" sz="2800" b="1" dirty="0">
                <a:solidFill>
                  <a:srgbClr val="0E7C86"/>
                </a:solidFill>
                <a:latin typeface="Amiri" pitchFamily="2" charset="-78"/>
                <a:ea typeface="Amiri" pitchFamily="2" charset="-78"/>
                <a:cs typeface="Amiri" pitchFamily="2" charset="-78"/>
              </a:rPr>
              <a:t>مِنَ</a:t>
            </a:r>
            <a:pPr rtl="1" algn="ctr" indent="0" marL="0">
              <a:buNone/>
            </a:pPr>
            <a:r>
              <a:rPr lang="ar-SA" altLang="en-US" sz="2800" b="1" dirty="0">
                <a:solidFill>
                  <a:srgbClr val="1B3B6F"/>
                </a:solidFill>
                <a:latin typeface="Amiri" pitchFamily="2" charset="-78"/>
                <a:ea typeface="Amiri" pitchFamily="2" charset="-78"/>
                <a:cs typeface="Amiri" pitchFamily="2" charset="-78"/>
              </a:rPr>
              <a:t> العِرَاقِ.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 + the country.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 before </a:t>
            </a:r>
            <a:pPr algn="l" indent="0" marL="0">
              <a:buNone/>
            </a:pPr>
            <a:r>
              <a:rPr lang="ar-SA" altLang="en-US" sz="1500" dirty="0">
                <a:solidFill>
                  <a:srgbClr val="1F2A37"/>
                </a:solidFill>
                <a:latin typeface="Amiri" pitchFamily="2" charset="-78"/>
                <a:ea typeface="Amiri" pitchFamily="2" charset="-78"/>
                <a:cs typeface="Amiri" pitchFamily="2" charset="-78"/>
              </a:rPr>
              <a:t>ال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Nationality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عِرَاقِ</a:t>
            </a:r>
            <a:pPr rtl="1" algn="ctr" indent="0" marL="0">
              <a:buNone/>
            </a:pPr>
            <a:r>
              <a:rPr lang="ar-SA" altLang="en-US" sz="2800" b="1" dirty="0">
                <a:solidFill>
                  <a:srgbClr val="D6336C"/>
                </a:solidFill>
                <a:latin typeface="Amiri" pitchFamily="2" charset="-78"/>
                <a:ea typeface="Amiri" pitchFamily="2" charset="-78"/>
                <a:cs typeface="Amiri" pitchFamily="2" charset="-78"/>
              </a:rPr>
              <a:t>يٌّ</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Khalid is a boy: -iyy.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تَكَلَّمُ العَرَبِيَّةَ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الإِنْجِلِيزِيَّةَ.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speak + language, and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joins the second 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مَرْحَبًا. اِسْمِي خَالِدٌ. أَنَا </a:t>
            </a:r>
            <a:pPr rtl="1" algn="r" indent="0" marL="0">
              <a:buNone/>
            </a:pPr>
            <a:r>
              <a:rPr lang="ar-SA" altLang="en-US" sz="2600" b="1" dirty="0">
                <a:solidFill>
                  <a:srgbClr val="0E7C86"/>
                </a:solidFill>
                <a:latin typeface="Amiri" pitchFamily="2" charset="-78"/>
                <a:ea typeface="Amiri" pitchFamily="2" charset="-78"/>
                <a:cs typeface="Amiri" pitchFamily="2" charset="-78"/>
              </a:rPr>
              <a:t>مِنَ</a:t>
            </a:r>
            <a:pPr rtl="1" algn="r" indent="0" marL="0">
              <a:buNone/>
            </a:pPr>
            <a:r>
              <a:rPr lang="ar-SA" altLang="en-US" sz="2600" b="1" dirty="0">
                <a:solidFill>
                  <a:srgbClr val="1B3B6F"/>
                </a:solidFill>
                <a:latin typeface="Amiri" pitchFamily="2" charset="-78"/>
                <a:ea typeface="Amiri" pitchFamily="2" charset="-78"/>
                <a:cs typeface="Amiri" pitchFamily="2" charset="-78"/>
              </a:rPr>
              <a:t> العِرَاقِ. أَنَا عِرَاقِ</a:t>
            </a:r>
            <a:pPr rtl="1" algn="r" indent="0" marL="0">
              <a:buNone/>
            </a:pPr>
            <a:r>
              <a:rPr lang="ar-SA" altLang="en-US" sz="2600" b="1" dirty="0">
                <a:solidFill>
                  <a:srgbClr val="D6336C"/>
                </a:solidFill>
                <a:latin typeface="Amiri" pitchFamily="2" charset="-78"/>
                <a:ea typeface="Amiri" pitchFamily="2" charset="-78"/>
                <a:cs typeface="Amiri" pitchFamily="2" charset="-78"/>
              </a:rPr>
              <a:t>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ea typeface="Amiri" pitchFamily="2" charset="-78"/>
                <a:cs typeface="Amiri" pitchFamily="2" charset="-78"/>
              </a:rPr>
              <a:t>أَ</a:t>
            </a:r>
            <a:pPr rtl="1" algn="r" indent="0" marL="0">
              <a:buNone/>
            </a:pPr>
            <a:r>
              <a:rPr lang="ar-SA" altLang="en-US" sz="2600" b="1" dirty="0">
                <a:solidFill>
                  <a:srgbClr val="1B3B6F"/>
                </a:solidFill>
                <a:latin typeface="Amiri" pitchFamily="2" charset="-78"/>
                <a:ea typeface="Amiri" pitchFamily="2" charset="-78"/>
                <a:cs typeface="Amiri" pitchFamily="2" charset="-78"/>
              </a:rPr>
              <a:t>تَكَلَّمُ العَرَبِيَّةَ </a:t>
            </a:r>
            <a:pPr rtl="1" algn="r" indent="0" marL="0">
              <a:buNone/>
            </a:pPr>
            <a:r>
              <a:rPr lang="ar-SA" altLang="en-US" sz="2600" b="1" dirty="0">
                <a:solidFill>
                  <a:srgbClr val="0E7C86"/>
                </a:solidFill>
                <a:latin typeface="Amiri" pitchFamily="2" charset="-78"/>
                <a:ea typeface="Amiri" pitchFamily="2" charset="-78"/>
                <a:cs typeface="Amiri" pitchFamily="2" charset="-78"/>
              </a:rPr>
              <a:t>وَ</a:t>
            </a:r>
            <a:pPr rtl="1" algn="r" indent="0" marL="0">
              <a:buNone/>
            </a:pPr>
            <a:r>
              <a:rPr lang="ar-SA" altLang="en-US" sz="2600" b="1" dirty="0">
                <a:solidFill>
                  <a:srgbClr val="1B3B6F"/>
                </a:solidFill>
                <a:latin typeface="Amiri" pitchFamily="2" charset="-78"/>
                <a:ea typeface="Amiri" pitchFamily="2" charset="-78"/>
                <a:cs typeface="Amiri" pitchFamily="2" charset="-78"/>
              </a:rPr>
              <a:t>الإِنْجِلِيزِيَّةَ.</a:t>
            </a:r>
            <a:endParaRPr lang="ar-SA" sz="2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My name is Khalid. I am from Iraq. I am Iraqi. I speak Arabic and English.</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cs typeface="Amiri" pitchFamily="2" charset="-78"/>
              </a:rPr>
              <a:t>WE DO · PICTURE MATCH · WEBSITE GAME “VISUAL GAME — NATIONALITY AND LANGUAGE”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Saudi Arabia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speaks French</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سَعُودِيَّةٌ.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تَتَكَلَّمُ الفَرَنْسِيَّةَ.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Egyptian.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Saudi Arabia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سَعُودِيَّةٌ.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Saudi.</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speaks French</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تَتَكَلَّمُ الفَرَنْسِيَّةَ.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speaks French.</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DECISION CHECK (CONTINUED) AND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accurate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أَنَا مِنَ العِرَاقِ. أَنَا …</a:t>
            </a:r>
            <a:endParaRPr lang="ar-SA" sz="15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the natural way to say ‘I write in Arabic’ ?</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العَرَبِيَّةَ 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عَرَبِيَّةٌ.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بِالعَرَبِيَّةِ.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from Morocco says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مَغْرِبِيَّةٍ.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2" charset="-78"/>
                <a:ea typeface="Amiri" pitchFamily="2" charset="-78"/>
                <a:cs typeface="Amiri" pitchFamily="2" charset="-78"/>
              </a:rPr>
              <a:t>أَنَا مِنْ لُبْنَانَ</a:t>
            </a:r>
            <a:pPr algn="l" indent="0" marL="0">
              <a:buNone/>
            </a:pPr>
            <a:r>
              <a:rPr lang="en-US" sz="1450" b="1" dirty="0">
                <a:solidFill>
                  <a:srgbClr val="1B3B6F"/>
                </a:solidFill>
                <a:latin typeface="Calibri" pitchFamily="34" charset="0"/>
                <a:cs typeface="Amiri" pitchFamily="2" charset="-78"/>
              </a:rPr>
              <a:t>. </a:t>
            </a:r>
            <a:pPr algn="l" indent="0" marL="0">
              <a:buNone/>
            </a:pPr>
            <a:r>
              <a:rPr lang="ar-SA" altLang="en-US" sz="1900" b="1" dirty="0">
                <a:solidFill>
                  <a:srgbClr val="1B3B6F"/>
                </a:solidFill>
                <a:latin typeface="Amiri" pitchFamily="2" charset="-78"/>
                <a:ea typeface="Amiri" pitchFamily="2" charset="-78"/>
                <a:cs typeface="Amiri" pitchFamily="2" charset="-78"/>
              </a:rPr>
              <a:t>أَنَا</a:t>
            </a:r>
            <a:pPr algn="l" indent="0" marL="0">
              <a:buNone/>
            </a:pPr>
            <a:r>
              <a:rPr lang="en-US" sz="1450" b="1" dirty="0">
                <a:solidFill>
                  <a:srgbClr val="1B3B6F"/>
                </a:solidFill>
                <a:latin typeface="Calibri" pitchFamily="34" charset="0"/>
                <a:cs typeface="Amiri" pitchFamily="2" charset="-78"/>
              </a:rPr>
              <a:t> … (girl)</a:t>
            </a:r>
            <a:endParaRPr lang="en-US"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2" name="Text 69"/>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Boy → -iyy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Girl → -iyya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Write in → bi-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أَنَا مِنَ العِرَاقِ. أَنَا …</a:t>
            </a:r>
            <a:endParaRPr lang="ar-SA" sz="15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العِرَاق</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is presented as male, so use </a:t>
            </a:r>
            <a:pPr algn="l" indent="0" marL="0">
              <a:buNone/>
            </a:pPr>
            <a:r>
              <a:rPr lang="ar-SA" altLang="en-US" sz="1350" dirty="0">
                <a:solidFill>
                  <a:srgbClr val="8A6D1E"/>
                </a:solidFill>
                <a:latin typeface="Amiri" pitchFamily="2" charset="-78"/>
                <a:ea typeface="Amiri" pitchFamily="2" charset="-78"/>
                <a:cs typeface="Amiri" pitchFamily="2" charset="-78"/>
              </a:rPr>
              <a:t>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the natural way to say ‘I write in Arabic’ ?</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 العَرَبِيَّةَ مِنْ.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عَرَبِيَّةٌ.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 بِالعَرَبِيَّةِ.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the language used for writing.</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from Morocco says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مَغْرِبِيٌّ.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مَغْرِبِيَّةٍ.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مَغْرِبِيَّةٌ.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form is </a:t>
            </a:r>
            <a:pPr algn="l" indent="0" marL="0">
              <a:buNone/>
            </a:pPr>
            <a:r>
              <a:rPr lang="ar-SA" altLang="en-US" sz="1350" dirty="0">
                <a:solidFill>
                  <a:srgbClr val="8A6D1E"/>
                </a:solidFill>
                <a:latin typeface="Amiri" pitchFamily="2" charset="-78"/>
                <a:ea typeface="Amiri" pitchFamily="2" charset="-78"/>
                <a:cs typeface="Amiri" pitchFamily="2" charset="-78"/>
              </a:rPr>
              <a:t>مَغْرِبِيَّةٌ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2" charset="-78"/>
                <a:ea typeface="Amiri" pitchFamily="2" charset="-78"/>
                <a:cs typeface="Amiri" pitchFamily="2" charset="-78"/>
              </a:rPr>
              <a:t>أَنَا مِنْ لُبْنَانَ</a:t>
            </a:r>
            <a:pPr algn="l" indent="0" marL="0">
              <a:buNone/>
            </a:pPr>
            <a:r>
              <a:rPr lang="en-US" sz="1450" b="1" dirty="0">
                <a:solidFill>
                  <a:srgbClr val="1B3B6F"/>
                </a:solidFill>
                <a:latin typeface="Calibri" pitchFamily="34" charset="0"/>
                <a:cs typeface="Amiri" pitchFamily="2" charset="-78"/>
              </a:rPr>
              <a:t>. </a:t>
            </a:r>
            <a:pPr algn="l" indent="0" marL="0">
              <a:buNone/>
            </a:pPr>
            <a:r>
              <a:rPr lang="ar-SA" altLang="en-US" sz="1900" b="1" dirty="0">
                <a:solidFill>
                  <a:srgbClr val="1B3B6F"/>
                </a:solidFill>
                <a:latin typeface="Amiri" pitchFamily="2" charset="-78"/>
                <a:ea typeface="Amiri" pitchFamily="2" charset="-78"/>
                <a:cs typeface="Amiri" pitchFamily="2" charset="-78"/>
              </a:rPr>
              <a:t>أَنَا</a:t>
            </a:r>
            <a:pPr algn="l" indent="0" marL="0">
              <a:buNone/>
            </a:pPr>
            <a:r>
              <a:rPr lang="en-US" sz="1450" b="1" dirty="0">
                <a:solidFill>
                  <a:srgbClr val="1B3B6F"/>
                </a:solidFill>
                <a:latin typeface="Calibri" pitchFamily="34" charset="0"/>
                <a:cs typeface="Amiri" pitchFamily="2" charset="-78"/>
              </a:rPr>
              <a:t> … (girl)</a:t>
            </a:r>
            <a:endParaRPr lang="en-US" sz="14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لُبْنَانِيَّةٌ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feminine nationality form </a:t>
            </a:r>
            <a:pPr algn="l" indent="0" marL="0">
              <a:buNone/>
            </a:pPr>
            <a:r>
              <a:rPr lang="ar-SA" altLang="en-US" sz="1350" dirty="0">
                <a:solidFill>
                  <a:srgbClr val="8A6D1E"/>
                </a:solidFill>
                <a:latin typeface="Amiri" pitchFamily="2" charset="-78"/>
                <a:ea typeface="Amiri" pitchFamily="2" charset="-78"/>
                <a:cs typeface="Amiri" pitchFamily="2" charset="-78"/>
              </a:rPr>
              <a:t>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Boy → -iyy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Girl → -iyya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Write in → bi-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زَيْنَب: أَنَا سُورِيٌّ.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Zaynab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مِصْرَ.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country needs a little word before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أَكْتُبُ العَرَبِيَّةَ مِنْ.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say “write IN a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زَيْنَب: أَنَا سُورِيٌّ.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زَيْنَب: أَنَا سُورِيَّةٌ.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Zaynab is a girl: the feminine ending -iyya.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مِصْرَ.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مِصْرَ. / أَنَا مِصْرِيٌّ.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 country, or the nationality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أَكْتُبُ العَرَبِيَّةَ مِنْ.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أَكْتُبُ بِالعَرَبِيَّةِ.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write IN a language: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 the language.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Catch the country, nationality and language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country is Khalid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what is Khalid’s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languages does he speak?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2: which nationality does Zaynab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3: which two languages does Maryam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Urdu</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and French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Listen for: the country after min, the ending, and “I speak”.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 مَرْحَبًا. اِسْمِي خَالِدٌ. أَنَا مِنَ العِرَاقِ. أَنَا عِرَاقِيٌّ.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Khalid. I am from Iraq. I am Iraqi.</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٢. مَرْحَبًا. اِسْمِي زَيْنَبُ. أَنَا مِنْ سُورِيَا. أَنَا سُورِيَّةٌ.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Zaynab. I am from Syria. I am Syrian.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أَفْهَمُ العَرَبِيَّةَ وَأَتَكَلَّمُ الإِنْجِلِيزِيَّةَ.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understand Arabic and I speak English.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٣. اِسْمِي مَرْيَمُ. أَنَا بَرِيطَانِيَّةٌ. أَتَكَلَّمُ الإِنْجِلِيزِيَّةَ وَالفَرَنْسِيَّةَ.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am British. I speak English and French.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country is Khalid from?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العِرَاق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المَغْرِب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العِرَاقِ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what is Khalid’s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says </a:t>
            </a:r>
            <a:pPr algn="l" indent="0" marL="0">
              <a:buNone/>
            </a:pPr>
            <a:r>
              <a:rPr lang="ar-SA" altLang="en-US" sz="1350" dirty="0">
                <a:solidFill>
                  <a:srgbClr val="8A6D1E"/>
                </a:solidFill>
                <a:latin typeface="Amiri" pitchFamily="2" charset="-78"/>
                <a:ea typeface="Amiri" pitchFamily="2" charset="-78"/>
                <a:cs typeface="Amiri" pitchFamily="2" charset="-78"/>
              </a:rPr>
              <a:t>أَنَا 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languages does he speak?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2: which nationality does Zaynab state?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 uses the feminine form </a:t>
            </a:r>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3: which two languages does Maryam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Urdu</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English and French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الإِنْجِلِيزِيَّةَ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Listen for: the country after min, the ending, and “I speak”.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IDENTITY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three identity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ثَلَاثَ بَطَاقَاتٍ 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 · اِسْمِي يُوسُفُ. أَنَا مِنَ المَغْرِبِ. أَنَا مَغْرِبِيٌّ.</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 My name is Yusuf. I am from Morocco. I am Moroccan.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وَالفَرَنْسِيَّةَ.</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 and French.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 · اِسْمِي زَيْنَبُ. أَنَا مِنْ سُورِيَا. أَنَا سُورِيَّةٌ.</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My name is Zaynab. I am from Syria. I am Syrian.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وَأَفْهَمُ العَرَبِيَّةَ.</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I understand Arabic.</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 · اِسْمِي مَرْيَمُ. أَنَا بَرِيطَانِيَّةٌ.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My name is Maryam. I am British.</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وَالفَرَنْسِيَّةَ. أَقْرَأُ العَرَبِيَّةَ.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French. I read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Moroccan?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understands Arabic but speaks English?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profile uses a feminine nationality ending?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appears in Yusuf’s profile?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الأُرْدِيَّة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الفَرَنْسِيَّة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الإِسْبَانِيَّة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origin rather than nationality?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سُورِيَا.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Arabic words that prove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Moroccan?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Yusuf’s profile says </a:t>
            </a:r>
            <a:pPr algn="l" indent="0" marL="0">
              <a:buNone/>
            </a:pPr>
            <a:r>
              <a:rPr lang="ar-SA" altLang="en-US" sz="1350" dirty="0">
                <a:solidFill>
                  <a:srgbClr val="8A6D1E"/>
                </a:solidFill>
                <a:latin typeface="Amiri" pitchFamily="2" charset="-78"/>
                <a:ea typeface="Amiri" pitchFamily="2" charset="-78"/>
                <a:cs typeface="Amiri" pitchFamily="2" charset="-78"/>
              </a:rPr>
              <a:t>أَنَا مَغْرِبِيٌّ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understands Arabic but speaks English?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Zaynab’s profile: </a:t>
            </a:r>
            <a:pPr algn="l" indent="0" marL="0">
              <a:buNone/>
            </a:pPr>
            <a:r>
              <a:rPr lang="ar-SA" altLang="en-US" sz="1350" dirty="0">
                <a:solidFill>
                  <a:srgbClr val="8A6D1E"/>
                </a:solidFill>
                <a:latin typeface="Amiri" pitchFamily="2" charset="-78"/>
                <a:ea typeface="Amiri" pitchFamily="2" charset="-78"/>
                <a:cs typeface="Amiri" pitchFamily="2" charset="-78"/>
              </a:rPr>
              <a:t>أَتَكَلَّمُ الإِنْجِلِيزِيَّةَ وَأَفْهَمُ العَرَبِيَّةَ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profile uses a feminine nationality ending?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appears in Yusuf’s profile?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الأُرْدِيَّة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الفَرَنْسِيَّة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الإِسْبَانِيَّة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speaks Arabic and French.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origin rather than nationality?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سُورِيَا.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العَرَبِيَّةَ.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 place states where someone is from.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Arabic words that prove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a short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جِنْسِيَّتُكَ؟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أَيْنَ أَنْتِ؟ مَا جِنْسِيَّتُكِ؟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اللُّغَاتُ الَّتِي تَتَكَلَّمُهَا؟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تَقْرَأُ؟ وَبِأَيِّ لُغَةٍ تَكْتُبُ؟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 أَتَكَلَّمُ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أَنَا مِنْ ___ . أَنَا ___ . أَتَكَلَّمُ ___ وَ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أَفْهَمُ ___ ، وَأَقْرَأُ ___ ، وَأَكْتُبُ بِـ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هُوَ / هِيَ ___ ، وَيَتَكَلَّمُ / وَتَتَكَلَّمُ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جِنْسِيَّتُكِ؟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nationality?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مِصْرِيَّةٌ.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Egyptian. (f.)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identity card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identity-card fields.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Fill in: name, age, nationality, languages (copy words from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connected sentences: name, origin, nationality, languages.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 origin → nationality → languages, joined with “and”.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three or four different language verbs (speak, understand, read, write).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understand, read and write in, plus one family member (he / she is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(nationality: -iyy / -iyya)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______ وَأَكْتُبُ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 and I write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الاِسْمُ: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Name: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العُمْرُ: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Age: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الجِنْسِيَّةُ: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اللُّغَاتُ: ______ وَ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Languages: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بَرِيطَانِيٌّ  ·  بَرِيطَانِيَّةٌ  ·  مِصْرِيٌّ  ·  مِصْرِيَّةٌ  ·  العَرَبِيَّةَ  ·  الإِنْجِلِيزِيَّةَ  ·  الأُرْدِيَّةَ  ·  الفَرَنْسِيَّةَ  ·  أَتَكَلَّمُ  ·  أَفْهَمُ  ·  أَقْرَأُ  ·  أَكْتُبُ</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الاِسْمُ: مَرْيَم</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العُمْرُ: أَرْبَعَ عَشْرَةَ سَنَةً</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الجِنْسِيَّةُ: بَرِيطَانِيَّةٌ</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اللُّغَاتُ: الإِنْجِلِيزِيَّةُ وَالفَرَنْسِيَّةُ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Name: Maryam · Age: fourteen years · Nationality: British (f.) · Languages: English and French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nationality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age with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and (wa-)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ending matches the person (-iyy or -iyya).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أَتَكَلَّمُ</a:t>
            </a:r>
            <a:pPr algn="l" indent="0" marL="0">
              <a:buNone/>
            </a:pPr>
            <a:r>
              <a:rPr lang="en-US" sz="1300" dirty="0">
                <a:solidFill>
                  <a:srgbClr val="1F2A37"/>
                </a:solidFill>
                <a:latin typeface="Calibri" pitchFamily="34" charset="0"/>
                <a:cs typeface="Amiri" pitchFamily="2" charset="-78"/>
              </a:rPr>
              <a:t> before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my origin with </a:t>
            </a:r>
            <a:pPr algn="l" indent="0" marL="0">
              <a:buNone/>
            </a:pPr>
            <a:r>
              <a:rPr lang="ar-SA" altLang="en-US" sz="1700" dirty="0">
                <a:solidFill>
                  <a:srgbClr val="1F2A37"/>
                </a:solidFill>
                <a:latin typeface="Amiri" pitchFamily="2" charset="-78"/>
                <a:ea typeface="Amiri" pitchFamily="2" charset="-78"/>
                <a:cs typeface="Amiri" pitchFamily="2" charset="-78"/>
              </a:rPr>
              <a:t>أَنَا مِنْ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languages with “and” (wa-).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understand, read and write 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from Jordan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أُرْدُنِيٌّ.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أُرْدُنِيَّةٌ.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الأُرْدُنُّ.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understand’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 in English’.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بِالإِنْجِلِيزِيَّةِ.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الإِنْجِلِيزِيَّةَ.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إِنْجِلِيزِيَّةٌ.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from Jordan says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أُرْدُنِيٌّ.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أُرْدُنِيَّةٌ.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الأُرْدُنُّ.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form is </a:t>
            </a:r>
            <a:pPr algn="l" indent="0" marL="0">
              <a:buNone/>
            </a:pPr>
            <a:r>
              <a:rPr lang="ar-SA" altLang="en-US" sz="1350" dirty="0">
                <a:solidFill>
                  <a:srgbClr val="8A6D1E"/>
                </a:solidFill>
                <a:latin typeface="Amiri" pitchFamily="2" charset="-78"/>
                <a:ea typeface="Amiri" pitchFamily="2" charset="-78"/>
                <a:cs typeface="Amiri" pitchFamily="2" charset="-78"/>
              </a:rPr>
              <a:t>أُرْدُنِيٌّ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understand’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أَقْرَأُ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means ‘I understand’.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 in English’.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أَكْتُبُ بِالإِنْجِلِيزِيَّةِ.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أَفْهَمُ الإِنْجِلِيزِيَّةَ.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إِنْجِلِيزِيَّةٌ.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أَكْتُبُ بِـ</a:t>
            </a:r>
            <a:pPr algn="l" indent="0" marL="0">
              <a:buNone/>
            </a:pPr>
            <a:r>
              <a:rPr lang="en-US" sz="1050" i="1" dirty="0">
                <a:solidFill>
                  <a:srgbClr val="8A6D1E"/>
                </a:solidFill>
                <a:latin typeface="Calibri" pitchFamily="34" charset="0"/>
                <a:cs typeface="Amiri" pitchFamily="2" charset="-78"/>
              </a:rPr>
              <a:t> means ‘I write 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F2-L05 · Masculine and Feminine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student (m.)</a:t>
            </a:r>
            <a:pPr indent="0" marL="0">
              <a:buNone/>
            </a:pPr>
            <a:r>
              <a:rPr lang="ar-SA" sz="1000" i="1" dirty="0">
                <a:solidFill>
                  <a:srgbClr val="5A6472"/>
                </a:solidFill>
                <a:latin typeface="Calibri" pitchFamily="34" charset="0"/>
                <a:ea typeface="Amiri" pitchFamily="2" charset="-78"/>
                <a:cs typeface="Amiri" pitchFamily="2" charset="-78"/>
              </a:rPr>
              <a:t>  f. طَالِبَةٌ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teacher (m.)</a:t>
            </a:r>
            <a:pPr indent="0" marL="0">
              <a:buNone/>
            </a:pPr>
            <a:r>
              <a:rPr lang="ar-SA" sz="1000" i="1" dirty="0">
                <a:solidFill>
                  <a:srgbClr val="5A6472"/>
                </a:solidFill>
                <a:latin typeface="Calibri" pitchFamily="34" charset="0"/>
                <a:ea typeface="Amiri" pitchFamily="2" charset="-78"/>
                <a:cs typeface="Amiri" pitchFamily="2" charset="-78"/>
              </a:rPr>
              <a:t>  f. مُعَلِّمَةٌ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وَلَدٌ · بِنْتٌ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boy · a girl</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new (m.)</a:t>
            </a:r>
            <a:pPr indent="0" marL="0">
              <a:buNone/>
            </a:pPr>
            <a:r>
              <a:rPr lang="ar-SA" sz="1000" i="1" dirty="0">
                <a:solidFill>
                  <a:srgbClr val="5A6472"/>
                </a:solidFill>
                <a:latin typeface="Calibri" pitchFamily="34" charset="0"/>
                <a:ea typeface="Amiri" pitchFamily="2" charset="-78"/>
                <a:cs typeface="Amiri" pitchFamily="2" charset="-78"/>
              </a:rPr>
              <a:t>  f. جَدِيدَةٌ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tāʾ marbūṭa: a feminine clue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five words: which ending shows the feminine form? Find two more words with it at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طَالِبٌ ←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F2-L04: the Passport Mission (8 cards) and the picture game “Nationality and Language”.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Your identity card + four connected sentences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all four language verbs,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F2-L05 · Masculine and Feminine Agreement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words + spot the feminine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F2-L04 · Nationality and Language</dc:title>
  <dc:subject>PptxGenJS Presentation</dc:subject>
  <dc:creator>Al Madina Online School · Arabic Department</dc:creator>
  <cp:lastModifiedBy>Al Madina Online School · Arabic Department</cp:lastModifiedBy>
  <cp:revision>1</cp:revision>
  <dcterms:created xsi:type="dcterms:W3CDTF">2026-10-11T06:41:23Z</dcterms:created>
  <dcterms:modified xsi:type="dcterms:W3CDTF">2026-10-11T06:41:23Z</dcterms:modified>
</cp:coreProperties>
</file>