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F2 Greetings &amp; Introductions › Lesson 4 (F2-L04). Website sections used: the four-question readiness check, countries → nationality words (8 countries), core identity vocabulary, the nisba pattern, four language actions and four languages, the decision check, listening (three speakers, six questions), three identity profiles (five questions), the identity speaking model and checklist, the identity-card writing task and the ten-question checkpoint. Picture match: website visual game “Nationality and Language”. NOTE: website reading question 2 has an answer-key error (it names Maryam, but the profile that says “I speak English and understand Arabic” is Zaynab’s) — corrected on the slide.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ONE nationality (theirs) in the right form, and ONE language line: أَتَكَلَّمُ … . Develop: origin + nationality + two languages. Stretch: all four language verbs, including أَكْتُبُ بِـ.
• Identity is personal: many students have more than one heritage or nationality. Accept any true answer (e.g. أَنَا بَرِيطَانِيٌّ وَبَاكِسْتَانِيٌّ) and never ask a student to “choose”. Students may also use a character card instead of personal details.
• The nisba pattern (ـِيٌّ / ـِيَّةٌ) is the SAME one students met in Topic-style words like عَرَبِيٌّ — it prepares F2-L05 (gender agreement).
• Urdu bridge: عربی، اردو، انگریزی، فہم، کتاب — Urdu speakers already know most language names.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are the website “readiness check” (name, age question to a girl, أَنَا مِنْ مِصْرَ).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nationality word matches the PERSON: -iyy for a boy, -iyya for a girl.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I can …” (left) and the website Core / Develop / Stretch goals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عربی / اردو / انگریزی (the language names, with the same -ī nisba ending!), فہم (fahm → أَفْهَمُ I understand), کتاب (kitāb — same root k-t-b as أَكْتُبُ I write).
Big idea for EAL students: Urdu and Arabic BOTH make nationality/language words with -ī (پاکستانی ↔ بَاكِسْتَانِيٌّ).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COUNTRIES → NATIONALITIES (website, 8 countries). Orange = the country part; pink = the ending.
Read across each row: country → a boy says → a girl says. Core: Britain + Egypt + the student’s OWN country.
Not in the list? Build it the same way: بَاكِسْتَانُ → بَاكِسْتَانِيٌّ / بَاكِسْتَانِيَّةٌ · بَنْغْلَادِيشُ → بَنْغْلَادِيشِيٌّ / بَنْغْلَادِيشِيَّةٌ · الصُّومَالُ → صُومَالِيٌّ / صُومَالِيَّةٌ.
Note the “the” (ال) drops in the nationality: المَغْرِبُ → مَغْرِبِيٌّ.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COUNTRIES → NATIONALITIES (website) continued: Iraq, Syria, Lebanon, Jordan — the countries of the listening and reading speakers. Same pattern: country + ـِيٌّ / ـِيَّةٌ.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IDENTITY WORDS (website “Core identity vocabulary” + the speaking model question). Card 1 recycles the endings from F2-L02/L03: جِنْسِيَّتُكَ / جِنْسِيَّتُكِ / جِنْسِيَّتِي — notice ة becomes ت when an ending is added.
Card 6 (مِنْ أَيْنَ أَنْتَ؟) is the natural question for أَنَا مِنْ … — used in F2-L07.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LANGUAGE ACTIONS (website, with gestures): 🗣️ أَتَكَلَّمُ · 👂 أَفْهَمُ · 📖 أَقْرَأُ · ✍️ أَكْتُبُ. Do the gesture every time you say the verb.
The small boxes show I / you (to a boy) / you (to a girl) — the أَ = I and تَـ = you pattern students will meet again and again. Core: “I” only.
Website model sentences: أَتَكَلَّمُ العَرَبِيَّةَ. أَفْهَمُ الإِنْجِلِيزِيَّةَ. أَقْرَأُ العَرَبِيَّةَ. أَكْتُبُ بِالإِنْجِلِيزِيَّةِ.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(website section 3). The nationality is an ADJECTIVE: it changes to match whether the person is masculine or feminine. Memory rule: ـِيٌّ usually describes one male person; ـِيَّةٌ one female person.
Website common mistake: “Do not choose from your own gender” — the ending describes the person IN THE SENTENCE. A girl says أَنَا مِصْرِيَّةٌ; a boy says أَنَا مِصْرِيٌّ; and a boy describing Zaynab says هِيَ سُورِيَّةٌ.
Link: the same ـة feminine clue as صَدِيقَةٌ (F2-L02) — tomorrow’s lesson (F2-L05) is all about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IDENTITY SENTENCES (built from the website model sentences and reading question 5: “Which sentence states origin rather than nationality?”). The key discovery: only row 2 changes. Website decision check Q5: أَكْتُبُ بِالعَرَبِيَّةِ is the natural way to say “I write in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“Nationality and language decision check” questions 1, 2, 4 and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listening speaker 1, modelled as four decisions. Then change ONE detail aloud: “What if Zaynab from Syria says it?” → أَنَا مِنْ سُورِيَا. أَنَا سُورِيَّةٌ. Students copy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Nationality and Language”)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“Nationality and Language” (3 of 6 cards). New but guessable: هُوَ = he, هِيَ = she. Key to spot: the ending ـِيٌّ / ـِيَّةٌ and the verb تَتَكَلَّمُ (she speaks).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Nationality and Language”)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“Nationality and Language” (3 of 6 cards). New but guessable: هُوَ = he, هِيَ = she. Key to spot: the ending ـِيٌّ / ـِيَّةٌ and the verb تَتَكَلَّمُ (she speaks).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decision check Q3 and Q5, checkpoint Q2 and Q9. Show-me: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 class reads each correct sentence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4. Develop / Stretch: all 5.
Listen 1: just listen. Listen 2: note answers. Then chat the letters.
Support: after the second listening, show the read-along slide (Arabic + English, line by line) for Core students.
SCRIPT (read aloud):
١. مَرْحَبًا. اِسْمِي خَالِدٌ. أَنَا مِنَ العِرَاقِ. أَنَا عِرَاقِيٌّ. أَتَكَلَّمُ العَرَبِيَّةَ وَالإِنْجِلِيزِيَّةَ. ٢. مَرْحَبًا. اِسْمِي زَيْنَبُ. أَنَا مِنْ سُورِيَا. أَنَا سُورِيَّةٌ. أَفْهَمُ العَرَبِيَّةَ وَأَتَكَلَّمُ الإِنْجِلِيزِيَّةَ. ٣. اِسْمِي مَرْيَمُ. أَنَا بَرِيطَانِيَّةٌ. أَتَكَلَّمُ الإِنْجِلِيزِيَّةَ وَالفَرَنْسِيَّةَ.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section 5). Website strategy: scan first for the NAME, then underline the nationality ending and circle each language verb. Core: read with the English; Develop / Stretch: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1–5. Q2 is CORRECTED: the website key gives Maryam, but Zaynab’s profile is the one that says “I speak English and I understand Arabic”. (If a student has done it online and “got it wrong” by choosing Zaynab — they were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for each answer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أ: مَا اللُّغَاتُ الَّتِي تَتَكَلَّمِينَهَا؟ (Which languages do you speak?)
ب: أَتَكَلَّمُ العَرَبِيَّةَ وَالإِنْجِلِيزِيَّةَ. (I speak Arabic and English.)
WEBSITE SPEAKING CHECKLIST (the listener ticks 1–5 in chat): 1 name · 2 origin with أَنَا مِنْ … · 3 matched gender -iyy / -iyya · 4 a language with أَتَكَلَّمُ · 5 extended with understand, read or write.
Website “random identity prompt”: show a character (e.g. خَالِد 🇮🇶) — the partner asks مَا جِنْسِيَّتُكَ؟ and answers as that character: أَنَا عِرَاقِيٌّ. أَتَكَلَّمُ العَرَبِيَّةَ وَالإِنْجِلِيزِيَّةَ.
Summarise (↺, Stretch): he / she is … and speaks … — the he-verb يَتَكَلَّمُ and she-verb تَتَكَلَّمُ (from the picture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Complete the identity-card fields. · Develop — Write four connected sentences: name, origin, nationality, languages. · Stretch — Use three or four different language verbs (speak, understand, read, write).
Website writing task (Stretch): Website writing task: create your Arabic identity card (name, age, origin, nationality, languages), then write four connected sentences. Stretch: use speak, understand, read and write.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“achievable model” identity card. Develop: turn each field into a full sentence (اِسْمِي مَرْيَم. عُمْرِي … أَنَا بَرِيطَانِيَّةٌ. أَتَكَلَّمُ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(F2-L05 · Masculine and Feminine Agreement) will spend class time USING this language, so students prepare it tonight — short, simple, easy to access (school guidance: “Simple, Short, Interesting, Relevant, Easy to access”). The five words are from the website F2-L05 active vocabulary (people-noun pairs, the first adjective pair and the ة clue).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Nationality and Language</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الجِنْسِيَّةُ وَاللُّغَةُ — مَنْ أَنْتَ؟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Say where you are from (</a:t>
            </a:r>
            <a:pPr algn="l" indent="0" marL="0">
              <a:buNone/>
            </a:pPr>
            <a:r>
              <a:rPr lang="ar-SA" altLang="en-US" sz="1800" dirty="0">
                <a:solidFill>
                  <a:srgbClr val="C6D2E6"/>
                </a:solidFill>
                <a:latin typeface="Amiri" pitchFamily="2" charset="-78"/>
                <a:cs typeface="Amiri" pitchFamily="2" charset="-78"/>
              </a:rPr>
              <a:t>أَنَا مِنْ</a:t>
            </a:r>
            <a:pPr algn="l" indent="0" marL="0">
              <a:buNone/>
            </a:pPr>
            <a:r>
              <a:rPr lang="en-US" sz="1400" dirty="0">
                <a:solidFill>
                  <a:srgbClr val="C6D2E6"/>
                </a:solidFill>
                <a:latin typeface="Calibri" pitchFamily="34" charset="0"/>
                <a:cs typeface="Amiri" pitchFamily="2" charset="-78"/>
              </a:rPr>
              <a:t> …), choose the nationality ending that matches the person (</a:t>
            </a:r>
            <a:pPr algn="l" indent="0" marL="0">
              <a:buNone/>
            </a:pPr>
            <a:r>
              <a:rPr lang="ar-SA" altLang="en-US" sz="1800" dirty="0">
                <a:solidFill>
                  <a:srgbClr val="C6D2E6"/>
                </a:solidFill>
                <a:latin typeface="Amiri" pitchFamily="2" charset="-78"/>
                <a:cs typeface="Amiri" pitchFamily="2" charset="-78"/>
              </a:rPr>
              <a:t>ـِيٌّ / ـِيَّةٌ</a:t>
            </a:r>
            <a:pPr algn="l" indent="0" marL="0">
              <a:buNone/>
            </a:pPr>
            <a:r>
              <a:rPr lang="en-US" sz="1400" dirty="0">
                <a:solidFill>
                  <a:srgbClr val="C6D2E6"/>
                </a:solidFill>
                <a:latin typeface="Calibri" pitchFamily="34" charset="0"/>
                <a:cs typeface="Amiri" pitchFamily="2" charset="-78"/>
              </a:rPr>
              <a:t>), and say which languages you speak, understand, read and write.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F2-L04 · Foundation F2 · Greetings &amp; Introductions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Countries → nationalities, then four language verbs.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boy or girl ending, listen and read profiles.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F2-L05.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جِنْسِيَّةٌ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language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nationality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age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sentence mean?</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أَتَكَلَّمُ العَرَبِيَّةَ.</a:t>
            </a:r>
            <a:endParaRPr lang="ar-SA" sz="22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speak Arabic.</a:t>
            </a:r>
            <a:endParaRPr lang="en-US" sz="12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Arab.</a:t>
            </a:r>
            <a:endParaRPr lang="en-US" sz="12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read Arabic.</a:t>
            </a:r>
            <a:endParaRPr lang="en-US" sz="12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‘My name is …’ ?</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عُمْرِي ...</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مِنْ ...</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اِسْمِي ...</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question to ask a girl her age.</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عُمْرُكَ؟</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اسْمُكِ؟</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عُمْرُكِ؟</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‘I am from Egypt’ ?</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مِنْ مِصْرَ.</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مِصْرِيَّةٌ.</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أَتَكَلَّمُ مِصْرَ.</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جِنْسِيَّةٌ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language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nationality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age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sentence mean?</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أَتَكَلَّمُ العَرَبِيَّةَ.</a:t>
            </a:r>
            <a:endParaRPr lang="ar-SA" sz="2200" dirty="0"/>
          </a:p>
        </p:txBody>
      </p:sp>
      <p:sp>
        <p:nvSpPr>
          <p:cNvPr id="35" name="Shape 32"/>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speak Arabic.</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am Arab.</a:t>
            </a:r>
            <a:endParaRPr lang="en-US" sz="125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read Arabic.</a:t>
            </a:r>
            <a:endParaRPr lang="en-US" sz="125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‘My name is …’ ?</a:t>
            </a:r>
            <a:endParaRPr lang="en-US" sz="125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عُمْرِي ...</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مِنْ ...</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اِسْمِي ...</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اِسْمِي</a:t>
            </a:r>
            <a:pPr algn="l" indent="0" marL="0">
              <a:buNone/>
            </a:pPr>
            <a:r>
              <a:rPr lang="en-US" sz="1050" i="1" dirty="0">
                <a:solidFill>
                  <a:srgbClr val="8A6D1E"/>
                </a:solidFill>
                <a:latin typeface="Calibri" pitchFamily="34" charset="0"/>
                <a:cs typeface="Amiri" pitchFamily="2" charset="-78"/>
              </a:rPr>
              <a:t> introduces your name.</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question to ask a girl her age.</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عُمْرُكَ؟</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 اسْمُكِ؟</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كَمْ عُمْرُكِ؟</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-ki addresses one girl or woman.</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‘I am from Egypt’ ?</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أَنَا مِنْ مِصْرَ.</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مِصْرِيَّةٌ.</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أَتَكَلَّمُ مِصْرَ.</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 introduces the place you are from.</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nationality word matches the PERSON: -iyy for a boy, -iyya for a girl.</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مِصْرِيٌّ  ·  مِصْرِيَّةٌ</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State a nationality with the correct masculine or feminine form.</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which languages I speak, understand, read and write.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identity details in short listening and reading texts.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Create and present a simple Arabic identity card.</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state one nationality in the right form.</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one language line with “I speak”.</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my name, age, origin and nationality.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two language details.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speak, understand, read and write.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“in” a language with bi-.</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8 countries, 3 identity words, 4 language verbs and 4 languages — all from the website. Core: YOUR country, YOUR languages, and “I speak”.</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Countries → nationality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Identity words · 4</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Language verbs + languages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العَرَبِيَّةُ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‎عربی‎ </a:t>
            </a:r>
            <a:pPr indent="0" marL="0">
              <a:buNone/>
            </a:pPr>
            <a:r>
              <a:rPr lang="en-US" sz="950" b="1" dirty="0">
                <a:solidFill>
                  <a:srgbClr val="2E8B57"/>
                </a:solidFill>
                <a:latin typeface="Calibri" pitchFamily="34" charset="0"/>
                <a:cs typeface="Amiri" pitchFamily="2" charset="-78"/>
              </a:rPr>
              <a:t> arabī · Arabic</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الأُرْدِيَّةُ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‎اردو‎ </a:t>
            </a:r>
            <a:pPr indent="0" marL="0">
              <a:buNone/>
            </a:pPr>
            <a:r>
              <a:rPr lang="en-US" sz="950" b="1" dirty="0">
                <a:solidFill>
                  <a:srgbClr val="2E8B57"/>
                </a:solidFill>
                <a:latin typeface="Calibri" pitchFamily="34" charset="0"/>
                <a:cs typeface="Amiri" pitchFamily="2" charset="-78"/>
              </a:rPr>
              <a:t> urdū · Urdu</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الإِنْجِلِيزِيَّةُ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‎انگریزی‎ </a:t>
            </a:r>
            <a:pPr indent="0" marL="0">
              <a:buNone/>
            </a:pPr>
            <a:r>
              <a:rPr lang="en-US" sz="950" b="1" dirty="0">
                <a:solidFill>
                  <a:srgbClr val="2E8B57"/>
                </a:solidFill>
                <a:latin typeface="Calibri" pitchFamily="34" charset="0"/>
                <a:cs typeface="Amiri" pitchFamily="2" charset="-78"/>
              </a:rPr>
              <a:t> angrezī · English</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أَفْهَمُ</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‎فہم‎ </a:t>
            </a:r>
            <a:pPr indent="0" marL="0">
              <a:buNone/>
            </a:pPr>
            <a:r>
              <a:rPr lang="en-US" sz="950" b="1" dirty="0">
                <a:solidFill>
                  <a:srgbClr val="2E8B57"/>
                </a:solidFill>
                <a:latin typeface="Calibri" pitchFamily="34" charset="0"/>
                <a:cs typeface="Amiri" pitchFamily="2" charset="-78"/>
              </a:rPr>
              <a:t> fahm · understanding</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أَكْتُبُ</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‎کتاب‎ </a:t>
            </a:r>
            <a:pPr indent="0" marL="0">
              <a:buNone/>
            </a:pPr>
            <a:r>
              <a:rPr lang="en-US" sz="950" b="1" dirty="0">
                <a:solidFill>
                  <a:srgbClr val="2E8B57"/>
                </a:solidFill>
                <a:latin typeface="Calibri" pitchFamily="34" charset="0"/>
                <a:cs typeface="Amiri" pitchFamily="2" charset="-78"/>
              </a:rPr>
              <a:t> kitāb · book (k-t-b = write)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B3B6F"/>
                </a:solidFill>
                <a:latin typeface="Calibri" pitchFamily="34" charset="0"/>
                <a:cs typeface="Amiri" pitchFamily="2" charset="-78"/>
              </a:rPr>
              <a:t>KEY WORDS · GROUP 1 · COUNTRIES BECOME NATIONALITY WORDS (WEBSITE) · 1 OF 2</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From country to nationality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مِنَ البَلَدِ إِلَى الجِنْسِيَّةِ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153144"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Country</a:t>
            </a:r>
            <a:endParaRPr lang="en-US" sz="1100" dirty="0"/>
          </a:p>
        </p:txBody>
      </p:sp>
      <p:sp>
        <p:nvSpPr>
          <p:cNvPr id="17" name="Text 14"/>
          <p:cNvSpPr txBox="1"/>
          <p:nvPr/>
        </p:nvSpPr>
        <p:spPr>
          <a:xfrm>
            <a:off x="5952744" y="1810512"/>
            <a:ext cx="3054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boy (m.)</a:t>
            </a:r>
            <a:endParaRPr lang="en-US" sz="1100" dirty="0"/>
          </a:p>
        </p:txBody>
      </p:sp>
      <p:sp>
        <p:nvSpPr>
          <p:cNvPr id="18" name="Text 15"/>
          <p:cNvSpPr txBox="1"/>
          <p:nvPr/>
        </p:nvSpPr>
        <p:spPr>
          <a:xfrm>
            <a:off x="2633472" y="1810512"/>
            <a:ext cx="3172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girl (f.)</a:t>
            </a:r>
            <a:endParaRPr lang="en-US" sz="1100" dirty="0"/>
          </a:p>
        </p:txBody>
      </p:sp>
      <p:sp>
        <p:nvSpPr>
          <p:cNvPr id="19" name="Text 16"/>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171432" y="2286000"/>
            <a:ext cx="24688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بَرِيطَانِيَا</a:t>
            </a:r>
            <a:endParaRPr lang="ar-SA" sz="2100" dirty="0"/>
          </a:p>
        </p:txBody>
      </p:sp>
      <p:sp>
        <p:nvSpPr>
          <p:cNvPr id="22" name="Text 19"/>
          <p:cNvSpPr txBox="1"/>
          <p:nvPr/>
        </p:nvSpPr>
        <p:spPr>
          <a:xfrm>
            <a:off x="9125712" y="2706624"/>
            <a:ext cx="25603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country</a:t>
            </a:r>
            <a:endParaRPr lang="en-US" sz="950" dirty="0"/>
          </a:p>
        </p:txBody>
      </p:sp>
      <p:sp>
        <p:nvSpPr>
          <p:cNvPr id="23" name="Text 20"/>
          <p:cNvSpPr txBox="1"/>
          <p:nvPr/>
        </p:nvSpPr>
        <p:spPr>
          <a:xfrm>
            <a:off x="5971032" y="2286000"/>
            <a:ext cx="30175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أَنَا </a:t>
            </a:r>
            <a:pPr rtl="1" algn="ctr" indent="0" marL="0">
              <a:buNone/>
            </a:pPr>
            <a:r>
              <a:rPr lang="ar-SA" altLang="en-US" sz="2100" b="1" dirty="0">
                <a:solidFill>
                  <a:srgbClr val="C77700"/>
                </a:solidFill>
                <a:latin typeface="Amiri" pitchFamily="2" charset="-78"/>
                <a:cs typeface="Amiri" pitchFamily="2" charset="-78"/>
              </a:rPr>
              <a:t>بَرِيطَانِ</a:t>
            </a:r>
            <a:pPr rtl="1" algn="ctr" indent="0" marL="0">
              <a:buNone/>
            </a:pPr>
            <a:r>
              <a:rPr lang="ar-SA" altLang="en-US" sz="2100" b="1" dirty="0">
                <a:solidFill>
                  <a:srgbClr val="D6336C"/>
                </a:solidFill>
                <a:latin typeface="Amiri" pitchFamily="2" charset="-78"/>
                <a:cs typeface="Amiri" pitchFamily="2" charset="-78"/>
              </a:rPr>
              <a:t>يٌّ</a:t>
            </a:r>
            <a:endParaRPr lang="ar-SA" sz="2100" dirty="0"/>
          </a:p>
        </p:txBody>
      </p:sp>
      <p:sp>
        <p:nvSpPr>
          <p:cNvPr id="24" name="Text 21"/>
          <p:cNvSpPr txBox="1"/>
          <p:nvPr/>
        </p:nvSpPr>
        <p:spPr>
          <a:xfrm>
            <a:off x="5925312" y="2706624"/>
            <a:ext cx="3108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boy says</a:t>
            </a:r>
            <a:endParaRPr lang="en-US" sz="950" dirty="0"/>
          </a:p>
        </p:txBody>
      </p:sp>
      <p:sp>
        <p:nvSpPr>
          <p:cNvPr id="25" name="Text 22"/>
          <p:cNvSpPr txBox="1"/>
          <p:nvPr/>
        </p:nvSpPr>
        <p:spPr>
          <a:xfrm>
            <a:off x="2651760" y="2286000"/>
            <a:ext cx="313639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أَنَا </a:t>
            </a:r>
            <a:pPr rtl="1" algn="ctr" indent="0" marL="0">
              <a:buNone/>
            </a:pPr>
            <a:r>
              <a:rPr lang="ar-SA" altLang="en-US" sz="2100" b="1" dirty="0">
                <a:solidFill>
                  <a:srgbClr val="C77700"/>
                </a:solidFill>
                <a:latin typeface="Amiri" pitchFamily="2" charset="-78"/>
                <a:cs typeface="Amiri" pitchFamily="2" charset="-78"/>
              </a:rPr>
              <a:t>بَرِيطَانِ</a:t>
            </a:r>
            <a:pPr rtl="1" algn="ctr" indent="0" marL="0">
              <a:buNone/>
            </a:pPr>
            <a:r>
              <a:rPr lang="ar-SA" altLang="en-US" sz="2100" b="1" dirty="0">
                <a:solidFill>
                  <a:srgbClr val="D6336C"/>
                </a:solidFill>
                <a:latin typeface="Amiri" pitchFamily="2" charset="-78"/>
                <a:cs typeface="Amiri" pitchFamily="2" charset="-78"/>
              </a:rPr>
              <a:t>يَّةٌ</a:t>
            </a:r>
            <a:endParaRPr lang="ar-SA" sz="2100" dirty="0"/>
          </a:p>
        </p:txBody>
      </p:sp>
      <p:sp>
        <p:nvSpPr>
          <p:cNvPr id="26" name="Text 23"/>
          <p:cNvSpPr txBox="1"/>
          <p:nvPr/>
        </p:nvSpPr>
        <p:spPr>
          <a:xfrm>
            <a:off x="2606040" y="2706624"/>
            <a:ext cx="32278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girl says</a:t>
            </a:r>
            <a:endParaRPr lang="en-US" sz="950" dirty="0"/>
          </a:p>
        </p:txBody>
      </p:sp>
      <p:sp>
        <p:nvSpPr>
          <p:cNvPr id="27" name="Text 24"/>
          <p:cNvSpPr txBox="1"/>
          <p:nvPr/>
        </p:nvSpPr>
        <p:spPr>
          <a:xfrm>
            <a:off x="566928" y="2267712"/>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Britain</a:t>
            </a:r>
            <a:endParaRPr lang="en-US" sz="1100" dirty="0"/>
          </a:p>
        </p:txBody>
      </p:sp>
      <p:sp>
        <p:nvSpPr>
          <p:cNvPr id="28" name="Shape 25"/>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0" name="Shape 27"/>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1" name="Text 28"/>
          <p:cNvSpPr txBox="1"/>
          <p:nvPr/>
        </p:nvSpPr>
        <p:spPr>
          <a:xfrm>
            <a:off x="9171432" y="3072384"/>
            <a:ext cx="24688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مِصْرُ</a:t>
            </a:r>
            <a:endParaRPr lang="ar-SA" sz="2100" dirty="0"/>
          </a:p>
        </p:txBody>
      </p:sp>
      <p:sp>
        <p:nvSpPr>
          <p:cNvPr id="32" name="Text 29"/>
          <p:cNvSpPr txBox="1"/>
          <p:nvPr/>
        </p:nvSpPr>
        <p:spPr>
          <a:xfrm>
            <a:off x="9125712" y="3493008"/>
            <a:ext cx="25603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country</a:t>
            </a:r>
            <a:endParaRPr lang="en-US" sz="950" dirty="0"/>
          </a:p>
        </p:txBody>
      </p:sp>
      <p:sp>
        <p:nvSpPr>
          <p:cNvPr id="33" name="Text 30"/>
          <p:cNvSpPr txBox="1"/>
          <p:nvPr/>
        </p:nvSpPr>
        <p:spPr>
          <a:xfrm>
            <a:off x="5971032" y="3072384"/>
            <a:ext cx="30175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أَنَا </a:t>
            </a:r>
            <a:pPr rtl="1" algn="ctr" indent="0" marL="0">
              <a:buNone/>
            </a:pPr>
            <a:r>
              <a:rPr lang="ar-SA" altLang="en-US" sz="2100" b="1" dirty="0">
                <a:solidFill>
                  <a:srgbClr val="C77700"/>
                </a:solidFill>
                <a:latin typeface="Amiri" pitchFamily="2" charset="-78"/>
                <a:cs typeface="Amiri" pitchFamily="2" charset="-78"/>
              </a:rPr>
              <a:t>مِصْرِ</a:t>
            </a:r>
            <a:pPr rtl="1" algn="ctr" indent="0" marL="0">
              <a:buNone/>
            </a:pPr>
            <a:r>
              <a:rPr lang="ar-SA" altLang="en-US" sz="2100" b="1" dirty="0">
                <a:solidFill>
                  <a:srgbClr val="D6336C"/>
                </a:solidFill>
                <a:latin typeface="Amiri" pitchFamily="2" charset="-78"/>
                <a:cs typeface="Amiri" pitchFamily="2" charset="-78"/>
              </a:rPr>
              <a:t>يٌّ</a:t>
            </a:r>
            <a:endParaRPr lang="ar-SA" sz="2100" dirty="0"/>
          </a:p>
        </p:txBody>
      </p:sp>
      <p:sp>
        <p:nvSpPr>
          <p:cNvPr id="34" name="Text 31"/>
          <p:cNvSpPr txBox="1"/>
          <p:nvPr/>
        </p:nvSpPr>
        <p:spPr>
          <a:xfrm>
            <a:off x="5925312" y="3493008"/>
            <a:ext cx="3108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boy says</a:t>
            </a:r>
            <a:endParaRPr lang="en-US" sz="950" dirty="0"/>
          </a:p>
        </p:txBody>
      </p:sp>
      <p:sp>
        <p:nvSpPr>
          <p:cNvPr id="35" name="Text 32"/>
          <p:cNvSpPr txBox="1"/>
          <p:nvPr/>
        </p:nvSpPr>
        <p:spPr>
          <a:xfrm>
            <a:off x="2651760" y="3072384"/>
            <a:ext cx="313639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أَنَا </a:t>
            </a:r>
            <a:pPr rtl="1" algn="ctr" indent="0" marL="0">
              <a:buNone/>
            </a:pPr>
            <a:r>
              <a:rPr lang="ar-SA" altLang="en-US" sz="2100" b="1" dirty="0">
                <a:solidFill>
                  <a:srgbClr val="C77700"/>
                </a:solidFill>
                <a:latin typeface="Amiri" pitchFamily="2" charset="-78"/>
                <a:cs typeface="Amiri" pitchFamily="2" charset="-78"/>
              </a:rPr>
              <a:t>مِصْرِ</a:t>
            </a:r>
            <a:pPr rtl="1" algn="ctr" indent="0" marL="0">
              <a:buNone/>
            </a:pPr>
            <a:r>
              <a:rPr lang="ar-SA" altLang="en-US" sz="2100" b="1" dirty="0">
                <a:solidFill>
                  <a:srgbClr val="D6336C"/>
                </a:solidFill>
                <a:latin typeface="Amiri" pitchFamily="2" charset="-78"/>
                <a:cs typeface="Amiri" pitchFamily="2" charset="-78"/>
              </a:rPr>
              <a:t>يَّةٌ</a:t>
            </a:r>
            <a:endParaRPr lang="ar-SA" sz="2100" dirty="0"/>
          </a:p>
        </p:txBody>
      </p:sp>
      <p:sp>
        <p:nvSpPr>
          <p:cNvPr id="36" name="Text 33"/>
          <p:cNvSpPr txBox="1"/>
          <p:nvPr/>
        </p:nvSpPr>
        <p:spPr>
          <a:xfrm>
            <a:off x="2606040" y="3493008"/>
            <a:ext cx="32278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girl says</a:t>
            </a:r>
            <a:endParaRPr lang="en-US" sz="950" dirty="0"/>
          </a:p>
        </p:txBody>
      </p:sp>
      <p:sp>
        <p:nvSpPr>
          <p:cNvPr id="37" name="Text 34"/>
          <p:cNvSpPr txBox="1"/>
          <p:nvPr/>
        </p:nvSpPr>
        <p:spPr>
          <a:xfrm>
            <a:off x="566928" y="3054096"/>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Egypt</a:t>
            </a:r>
            <a:endParaRPr lang="en-US" sz="1100" dirty="0"/>
          </a:p>
        </p:txBody>
      </p:sp>
      <p:sp>
        <p:nvSpPr>
          <p:cNvPr id="38" name="Shape 35"/>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1" name="Text 38"/>
          <p:cNvSpPr txBox="1"/>
          <p:nvPr/>
        </p:nvSpPr>
        <p:spPr>
          <a:xfrm>
            <a:off x="9171432" y="3858768"/>
            <a:ext cx="24688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السُّعُودِيَّةُ</a:t>
            </a:r>
            <a:endParaRPr lang="ar-SA" sz="2100" dirty="0"/>
          </a:p>
        </p:txBody>
      </p:sp>
      <p:sp>
        <p:nvSpPr>
          <p:cNvPr id="42" name="Text 39"/>
          <p:cNvSpPr txBox="1"/>
          <p:nvPr/>
        </p:nvSpPr>
        <p:spPr>
          <a:xfrm>
            <a:off x="9125712" y="4279392"/>
            <a:ext cx="25603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country</a:t>
            </a:r>
            <a:endParaRPr lang="en-US" sz="950" dirty="0"/>
          </a:p>
        </p:txBody>
      </p:sp>
      <p:sp>
        <p:nvSpPr>
          <p:cNvPr id="43" name="Text 40"/>
          <p:cNvSpPr txBox="1"/>
          <p:nvPr/>
        </p:nvSpPr>
        <p:spPr>
          <a:xfrm>
            <a:off x="5971032" y="3858768"/>
            <a:ext cx="30175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أَنَا </a:t>
            </a:r>
            <a:pPr rtl="1" algn="ctr" indent="0" marL="0">
              <a:buNone/>
            </a:pPr>
            <a:r>
              <a:rPr lang="ar-SA" altLang="en-US" sz="2100" b="1" dirty="0">
                <a:solidFill>
                  <a:srgbClr val="C77700"/>
                </a:solidFill>
                <a:latin typeface="Amiri" pitchFamily="2" charset="-78"/>
                <a:cs typeface="Amiri" pitchFamily="2" charset="-78"/>
              </a:rPr>
              <a:t>سُعُودِ</a:t>
            </a:r>
            <a:pPr rtl="1" algn="ctr" indent="0" marL="0">
              <a:buNone/>
            </a:pPr>
            <a:r>
              <a:rPr lang="ar-SA" altLang="en-US" sz="2100" b="1" dirty="0">
                <a:solidFill>
                  <a:srgbClr val="D6336C"/>
                </a:solidFill>
                <a:latin typeface="Amiri" pitchFamily="2" charset="-78"/>
                <a:cs typeface="Amiri" pitchFamily="2" charset="-78"/>
              </a:rPr>
              <a:t>يٌّ</a:t>
            </a:r>
            <a:endParaRPr lang="ar-SA" sz="2100" dirty="0"/>
          </a:p>
        </p:txBody>
      </p:sp>
      <p:sp>
        <p:nvSpPr>
          <p:cNvPr id="44" name="Text 41"/>
          <p:cNvSpPr txBox="1"/>
          <p:nvPr/>
        </p:nvSpPr>
        <p:spPr>
          <a:xfrm>
            <a:off x="5925312" y="4279392"/>
            <a:ext cx="3108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boy says</a:t>
            </a:r>
            <a:endParaRPr lang="en-US" sz="950" dirty="0"/>
          </a:p>
        </p:txBody>
      </p:sp>
      <p:sp>
        <p:nvSpPr>
          <p:cNvPr id="45" name="Text 42"/>
          <p:cNvSpPr txBox="1"/>
          <p:nvPr/>
        </p:nvSpPr>
        <p:spPr>
          <a:xfrm>
            <a:off x="2651760" y="3858768"/>
            <a:ext cx="313639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أَنَا </a:t>
            </a:r>
            <a:pPr rtl="1" algn="ctr" indent="0" marL="0">
              <a:buNone/>
            </a:pPr>
            <a:r>
              <a:rPr lang="ar-SA" altLang="en-US" sz="2100" b="1" dirty="0">
                <a:solidFill>
                  <a:srgbClr val="C77700"/>
                </a:solidFill>
                <a:latin typeface="Amiri" pitchFamily="2" charset="-78"/>
                <a:cs typeface="Amiri" pitchFamily="2" charset="-78"/>
              </a:rPr>
              <a:t>سُعُودِ</a:t>
            </a:r>
            <a:pPr rtl="1" algn="ctr" indent="0" marL="0">
              <a:buNone/>
            </a:pPr>
            <a:r>
              <a:rPr lang="ar-SA" altLang="en-US" sz="2100" b="1" dirty="0">
                <a:solidFill>
                  <a:srgbClr val="D6336C"/>
                </a:solidFill>
                <a:latin typeface="Amiri" pitchFamily="2" charset="-78"/>
                <a:cs typeface="Amiri" pitchFamily="2" charset="-78"/>
              </a:rPr>
              <a:t>يَّةٌ</a:t>
            </a:r>
            <a:endParaRPr lang="ar-SA" sz="2100" dirty="0"/>
          </a:p>
        </p:txBody>
      </p:sp>
      <p:sp>
        <p:nvSpPr>
          <p:cNvPr id="46" name="Text 43"/>
          <p:cNvSpPr txBox="1"/>
          <p:nvPr/>
        </p:nvSpPr>
        <p:spPr>
          <a:xfrm>
            <a:off x="2606040" y="4279392"/>
            <a:ext cx="32278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girl says</a:t>
            </a:r>
            <a:endParaRPr lang="en-US" sz="950" dirty="0"/>
          </a:p>
        </p:txBody>
      </p:sp>
      <p:sp>
        <p:nvSpPr>
          <p:cNvPr id="47" name="Text 44"/>
          <p:cNvSpPr txBox="1"/>
          <p:nvPr/>
        </p:nvSpPr>
        <p:spPr>
          <a:xfrm>
            <a:off x="566928" y="3840480"/>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Saudi Arabia</a:t>
            </a:r>
            <a:endParaRPr lang="en-US" sz="1100" dirty="0"/>
          </a:p>
        </p:txBody>
      </p:sp>
      <p:sp>
        <p:nvSpPr>
          <p:cNvPr id="48" name="Shape 45"/>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9" name="Text 46"/>
          <p:cNvSpPr txBox="1"/>
          <p:nvPr/>
        </p:nvSpPr>
        <p:spPr>
          <a:xfrm>
            <a:off x="9171432" y="4645152"/>
            <a:ext cx="24688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المَغْرِبُ</a:t>
            </a:r>
            <a:endParaRPr lang="ar-SA" sz="2100" dirty="0"/>
          </a:p>
        </p:txBody>
      </p:sp>
      <p:sp>
        <p:nvSpPr>
          <p:cNvPr id="50" name="Text 47"/>
          <p:cNvSpPr txBox="1"/>
          <p:nvPr/>
        </p:nvSpPr>
        <p:spPr>
          <a:xfrm>
            <a:off x="9125712" y="5065776"/>
            <a:ext cx="25603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country</a:t>
            </a:r>
            <a:endParaRPr lang="en-US" sz="950" dirty="0"/>
          </a:p>
        </p:txBody>
      </p:sp>
      <p:sp>
        <p:nvSpPr>
          <p:cNvPr id="51" name="Text 48"/>
          <p:cNvSpPr txBox="1"/>
          <p:nvPr/>
        </p:nvSpPr>
        <p:spPr>
          <a:xfrm>
            <a:off x="5971032" y="4645152"/>
            <a:ext cx="30175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أَنَا </a:t>
            </a:r>
            <a:pPr rtl="1" algn="ctr" indent="0" marL="0">
              <a:buNone/>
            </a:pPr>
            <a:r>
              <a:rPr lang="ar-SA" altLang="en-US" sz="2100" b="1" dirty="0">
                <a:solidFill>
                  <a:srgbClr val="C77700"/>
                </a:solidFill>
                <a:latin typeface="Amiri" pitchFamily="2" charset="-78"/>
                <a:cs typeface="Amiri" pitchFamily="2" charset="-78"/>
              </a:rPr>
              <a:t>مَغْرِبِ</a:t>
            </a:r>
            <a:pPr rtl="1" algn="ctr" indent="0" marL="0">
              <a:buNone/>
            </a:pPr>
            <a:r>
              <a:rPr lang="ar-SA" altLang="en-US" sz="2100" b="1" dirty="0">
                <a:solidFill>
                  <a:srgbClr val="D6336C"/>
                </a:solidFill>
                <a:latin typeface="Amiri" pitchFamily="2" charset="-78"/>
                <a:cs typeface="Amiri" pitchFamily="2" charset="-78"/>
              </a:rPr>
              <a:t>يٌّ</a:t>
            </a:r>
            <a:endParaRPr lang="ar-SA" sz="2100" dirty="0"/>
          </a:p>
        </p:txBody>
      </p:sp>
      <p:sp>
        <p:nvSpPr>
          <p:cNvPr id="52" name="Text 49"/>
          <p:cNvSpPr txBox="1"/>
          <p:nvPr/>
        </p:nvSpPr>
        <p:spPr>
          <a:xfrm>
            <a:off x="5925312" y="5065776"/>
            <a:ext cx="3108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boy says</a:t>
            </a:r>
            <a:endParaRPr lang="en-US" sz="950" dirty="0"/>
          </a:p>
        </p:txBody>
      </p:sp>
      <p:sp>
        <p:nvSpPr>
          <p:cNvPr id="53" name="Text 50"/>
          <p:cNvSpPr txBox="1"/>
          <p:nvPr/>
        </p:nvSpPr>
        <p:spPr>
          <a:xfrm>
            <a:off x="2651760" y="4645152"/>
            <a:ext cx="313639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أَنَا </a:t>
            </a:r>
            <a:pPr rtl="1" algn="ctr" indent="0" marL="0">
              <a:buNone/>
            </a:pPr>
            <a:r>
              <a:rPr lang="ar-SA" altLang="en-US" sz="2100" b="1" dirty="0">
                <a:solidFill>
                  <a:srgbClr val="C77700"/>
                </a:solidFill>
                <a:latin typeface="Amiri" pitchFamily="2" charset="-78"/>
                <a:cs typeface="Amiri" pitchFamily="2" charset="-78"/>
              </a:rPr>
              <a:t>مَغْرِبِ</a:t>
            </a:r>
            <a:pPr rtl="1" algn="ctr" indent="0" marL="0">
              <a:buNone/>
            </a:pPr>
            <a:r>
              <a:rPr lang="ar-SA" altLang="en-US" sz="2100" b="1" dirty="0">
                <a:solidFill>
                  <a:srgbClr val="D6336C"/>
                </a:solidFill>
                <a:latin typeface="Amiri" pitchFamily="2" charset="-78"/>
                <a:cs typeface="Amiri" pitchFamily="2" charset="-78"/>
              </a:rPr>
              <a:t>يَّةٌ</a:t>
            </a:r>
            <a:endParaRPr lang="ar-SA" sz="2100" dirty="0"/>
          </a:p>
        </p:txBody>
      </p:sp>
      <p:sp>
        <p:nvSpPr>
          <p:cNvPr id="54" name="Text 51"/>
          <p:cNvSpPr txBox="1"/>
          <p:nvPr/>
        </p:nvSpPr>
        <p:spPr>
          <a:xfrm>
            <a:off x="2606040" y="5065776"/>
            <a:ext cx="32278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girl says</a:t>
            </a:r>
            <a:endParaRPr lang="en-US" sz="950" dirty="0"/>
          </a:p>
        </p:txBody>
      </p:sp>
      <p:sp>
        <p:nvSpPr>
          <p:cNvPr id="55" name="Text 52"/>
          <p:cNvSpPr txBox="1"/>
          <p:nvPr/>
        </p:nvSpPr>
        <p:spPr>
          <a:xfrm>
            <a:off x="566928" y="4626864"/>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Morocco</a:t>
            </a:r>
            <a:endParaRPr lang="en-US" sz="11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B3B6F"/>
                </a:solidFill>
                <a:latin typeface="Calibri" pitchFamily="34" charset="0"/>
                <a:cs typeface="Amiri" pitchFamily="2" charset="-78"/>
              </a:rPr>
              <a:t>KEY WORDS · GROUP 1 · COUNTRIES BECOME NATIONALITY WORDS (WEBSITE) · 2 OF 2</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more Arab countries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مِنَ البَلَدِ إِلَى الجِنْسِيَّةِ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153144"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Country</a:t>
            </a:r>
            <a:endParaRPr lang="en-US" sz="1100" dirty="0"/>
          </a:p>
        </p:txBody>
      </p:sp>
      <p:sp>
        <p:nvSpPr>
          <p:cNvPr id="17" name="Text 14"/>
          <p:cNvSpPr txBox="1"/>
          <p:nvPr/>
        </p:nvSpPr>
        <p:spPr>
          <a:xfrm>
            <a:off x="5952744" y="1810512"/>
            <a:ext cx="3054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boy (m.)</a:t>
            </a:r>
            <a:endParaRPr lang="en-US" sz="1100" dirty="0"/>
          </a:p>
        </p:txBody>
      </p:sp>
      <p:sp>
        <p:nvSpPr>
          <p:cNvPr id="18" name="Text 15"/>
          <p:cNvSpPr txBox="1"/>
          <p:nvPr/>
        </p:nvSpPr>
        <p:spPr>
          <a:xfrm>
            <a:off x="2633472" y="1810512"/>
            <a:ext cx="3172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girl (f.)</a:t>
            </a:r>
            <a:endParaRPr lang="en-US" sz="1100" dirty="0"/>
          </a:p>
        </p:txBody>
      </p:sp>
      <p:sp>
        <p:nvSpPr>
          <p:cNvPr id="19" name="Text 16"/>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171432" y="2286000"/>
            <a:ext cx="24688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العِرَاقُ</a:t>
            </a:r>
            <a:endParaRPr lang="ar-SA" sz="2100" dirty="0"/>
          </a:p>
        </p:txBody>
      </p:sp>
      <p:sp>
        <p:nvSpPr>
          <p:cNvPr id="22" name="Text 19"/>
          <p:cNvSpPr txBox="1"/>
          <p:nvPr/>
        </p:nvSpPr>
        <p:spPr>
          <a:xfrm>
            <a:off x="9125712" y="2706624"/>
            <a:ext cx="25603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country</a:t>
            </a:r>
            <a:endParaRPr lang="en-US" sz="950" dirty="0"/>
          </a:p>
        </p:txBody>
      </p:sp>
      <p:sp>
        <p:nvSpPr>
          <p:cNvPr id="23" name="Text 20"/>
          <p:cNvSpPr txBox="1"/>
          <p:nvPr/>
        </p:nvSpPr>
        <p:spPr>
          <a:xfrm>
            <a:off x="5971032" y="2286000"/>
            <a:ext cx="30175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أَنَا </a:t>
            </a:r>
            <a:pPr rtl="1" algn="ctr" indent="0" marL="0">
              <a:buNone/>
            </a:pPr>
            <a:r>
              <a:rPr lang="ar-SA" altLang="en-US" sz="2100" b="1" dirty="0">
                <a:solidFill>
                  <a:srgbClr val="C77700"/>
                </a:solidFill>
                <a:latin typeface="Amiri" pitchFamily="2" charset="-78"/>
                <a:cs typeface="Amiri" pitchFamily="2" charset="-78"/>
              </a:rPr>
              <a:t>عِرَاقِ</a:t>
            </a:r>
            <a:pPr rtl="1" algn="ctr" indent="0" marL="0">
              <a:buNone/>
            </a:pPr>
            <a:r>
              <a:rPr lang="ar-SA" altLang="en-US" sz="2100" b="1" dirty="0">
                <a:solidFill>
                  <a:srgbClr val="D6336C"/>
                </a:solidFill>
                <a:latin typeface="Amiri" pitchFamily="2" charset="-78"/>
                <a:cs typeface="Amiri" pitchFamily="2" charset="-78"/>
              </a:rPr>
              <a:t>يٌّ</a:t>
            </a:r>
            <a:endParaRPr lang="ar-SA" sz="2100" dirty="0"/>
          </a:p>
        </p:txBody>
      </p:sp>
      <p:sp>
        <p:nvSpPr>
          <p:cNvPr id="24" name="Text 21"/>
          <p:cNvSpPr txBox="1"/>
          <p:nvPr/>
        </p:nvSpPr>
        <p:spPr>
          <a:xfrm>
            <a:off x="5925312" y="2706624"/>
            <a:ext cx="3108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boy says</a:t>
            </a:r>
            <a:endParaRPr lang="en-US" sz="950" dirty="0"/>
          </a:p>
        </p:txBody>
      </p:sp>
      <p:sp>
        <p:nvSpPr>
          <p:cNvPr id="25" name="Text 22"/>
          <p:cNvSpPr txBox="1"/>
          <p:nvPr/>
        </p:nvSpPr>
        <p:spPr>
          <a:xfrm>
            <a:off x="2651760" y="2286000"/>
            <a:ext cx="313639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أَنَا </a:t>
            </a:r>
            <a:pPr rtl="1" algn="ctr" indent="0" marL="0">
              <a:buNone/>
            </a:pPr>
            <a:r>
              <a:rPr lang="ar-SA" altLang="en-US" sz="2100" b="1" dirty="0">
                <a:solidFill>
                  <a:srgbClr val="C77700"/>
                </a:solidFill>
                <a:latin typeface="Amiri" pitchFamily="2" charset="-78"/>
                <a:cs typeface="Amiri" pitchFamily="2" charset="-78"/>
              </a:rPr>
              <a:t>عِرَاقِ</a:t>
            </a:r>
            <a:pPr rtl="1" algn="ctr" indent="0" marL="0">
              <a:buNone/>
            </a:pPr>
            <a:r>
              <a:rPr lang="ar-SA" altLang="en-US" sz="2100" b="1" dirty="0">
                <a:solidFill>
                  <a:srgbClr val="D6336C"/>
                </a:solidFill>
                <a:latin typeface="Amiri" pitchFamily="2" charset="-78"/>
                <a:cs typeface="Amiri" pitchFamily="2" charset="-78"/>
              </a:rPr>
              <a:t>يَّةٌ</a:t>
            </a:r>
            <a:endParaRPr lang="ar-SA" sz="2100" dirty="0"/>
          </a:p>
        </p:txBody>
      </p:sp>
      <p:sp>
        <p:nvSpPr>
          <p:cNvPr id="26" name="Text 23"/>
          <p:cNvSpPr txBox="1"/>
          <p:nvPr/>
        </p:nvSpPr>
        <p:spPr>
          <a:xfrm>
            <a:off x="2606040" y="2706624"/>
            <a:ext cx="32278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girl says</a:t>
            </a:r>
            <a:endParaRPr lang="en-US" sz="950" dirty="0"/>
          </a:p>
        </p:txBody>
      </p:sp>
      <p:sp>
        <p:nvSpPr>
          <p:cNvPr id="27" name="Text 24"/>
          <p:cNvSpPr txBox="1"/>
          <p:nvPr/>
        </p:nvSpPr>
        <p:spPr>
          <a:xfrm>
            <a:off x="566928" y="2267712"/>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Iraq</a:t>
            </a:r>
            <a:endParaRPr lang="en-US" sz="1100" dirty="0"/>
          </a:p>
        </p:txBody>
      </p:sp>
      <p:sp>
        <p:nvSpPr>
          <p:cNvPr id="28" name="Shape 25"/>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9" name="Text 26"/>
          <p:cNvSpPr txBox="1"/>
          <p:nvPr/>
        </p:nvSpPr>
        <p:spPr>
          <a:xfrm>
            <a:off x="9171432" y="3072384"/>
            <a:ext cx="24688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سُورِيَا</a:t>
            </a:r>
            <a:endParaRPr lang="ar-SA" sz="2100" dirty="0"/>
          </a:p>
        </p:txBody>
      </p:sp>
      <p:sp>
        <p:nvSpPr>
          <p:cNvPr id="30" name="Text 27"/>
          <p:cNvSpPr txBox="1"/>
          <p:nvPr/>
        </p:nvSpPr>
        <p:spPr>
          <a:xfrm>
            <a:off x="9125712" y="3493008"/>
            <a:ext cx="25603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country</a:t>
            </a:r>
            <a:endParaRPr lang="en-US" sz="950" dirty="0"/>
          </a:p>
        </p:txBody>
      </p:sp>
      <p:sp>
        <p:nvSpPr>
          <p:cNvPr id="31" name="Text 28"/>
          <p:cNvSpPr txBox="1"/>
          <p:nvPr/>
        </p:nvSpPr>
        <p:spPr>
          <a:xfrm>
            <a:off x="5971032" y="3072384"/>
            <a:ext cx="30175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أَنَا </a:t>
            </a:r>
            <a:pPr rtl="1" algn="ctr" indent="0" marL="0">
              <a:buNone/>
            </a:pPr>
            <a:r>
              <a:rPr lang="ar-SA" altLang="en-US" sz="2100" b="1" dirty="0">
                <a:solidFill>
                  <a:srgbClr val="C77700"/>
                </a:solidFill>
                <a:latin typeface="Amiri" pitchFamily="2" charset="-78"/>
                <a:cs typeface="Amiri" pitchFamily="2" charset="-78"/>
              </a:rPr>
              <a:t>سُورِ</a:t>
            </a:r>
            <a:pPr rtl="1" algn="ctr" indent="0" marL="0">
              <a:buNone/>
            </a:pPr>
            <a:r>
              <a:rPr lang="ar-SA" altLang="en-US" sz="2100" b="1" dirty="0">
                <a:solidFill>
                  <a:srgbClr val="D6336C"/>
                </a:solidFill>
                <a:latin typeface="Amiri" pitchFamily="2" charset="-78"/>
                <a:cs typeface="Amiri" pitchFamily="2" charset="-78"/>
              </a:rPr>
              <a:t>يٌّ</a:t>
            </a:r>
            <a:endParaRPr lang="ar-SA" sz="2100" dirty="0"/>
          </a:p>
        </p:txBody>
      </p:sp>
      <p:sp>
        <p:nvSpPr>
          <p:cNvPr id="32" name="Text 29"/>
          <p:cNvSpPr txBox="1"/>
          <p:nvPr/>
        </p:nvSpPr>
        <p:spPr>
          <a:xfrm>
            <a:off x="5925312" y="3493008"/>
            <a:ext cx="3108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boy says</a:t>
            </a:r>
            <a:endParaRPr lang="en-US" sz="950" dirty="0"/>
          </a:p>
        </p:txBody>
      </p:sp>
      <p:sp>
        <p:nvSpPr>
          <p:cNvPr id="33" name="Text 30"/>
          <p:cNvSpPr txBox="1"/>
          <p:nvPr/>
        </p:nvSpPr>
        <p:spPr>
          <a:xfrm>
            <a:off x="2651760" y="3072384"/>
            <a:ext cx="313639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أَنَا </a:t>
            </a:r>
            <a:pPr rtl="1" algn="ctr" indent="0" marL="0">
              <a:buNone/>
            </a:pPr>
            <a:r>
              <a:rPr lang="ar-SA" altLang="en-US" sz="2100" b="1" dirty="0">
                <a:solidFill>
                  <a:srgbClr val="C77700"/>
                </a:solidFill>
                <a:latin typeface="Amiri" pitchFamily="2" charset="-78"/>
                <a:cs typeface="Amiri" pitchFamily="2" charset="-78"/>
              </a:rPr>
              <a:t>سُورِ</a:t>
            </a:r>
            <a:pPr rtl="1" algn="ctr" indent="0" marL="0">
              <a:buNone/>
            </a:pPr>
            <a:r>
              <a:rPr lang="ar-SA" altLang="en-US" sz="2100" b="1" dirty="0">
                <a:solidFill>
                  <a:srgbClr val="D6336C"/>
                </a:solidFill>
                <a:latin typeface="Amiri" pitchFamily="2" charset="-78"/>
                <a:cs typeface="Amiri" pitchFamily="2" charset="-78"/>
              </a:rPr>
              <a:t>يَّةٌ</a:t>
            </a:r>
            <a:endParaRPr lang="ar-SA" sz="2100" dirty="0"/>
          </a:p>
        </p:txBody>
      </p:sp>
      <p:sp>
        <p:nvSpPr>
          <p:cNvPr id="34" name="Text 31"/>
          <p:cNvSpPr txBox="1"/>
          <p:nvPr/>
        </p:nvSpPr>
        <p:spPr>
          <a:xfrm>
            <a:off x="2606040" y="3493008"/>
            <a:ext cx="32278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girl says</a:t>
            </a:r>
            <a:endParaRPr lang="en-US" sz="950" dirty="0"/>
          </a:p>
        </p:txBody>
      </p:sp>
      <p:sp>
        <p:nvSpPr>
          <p:cNvPr id="35" name="Text 32"/>
          <p:cNvSpPr txBox="1"/>
          <p:nvPr/>
        </p:nvSpPr>
        <p:spPr>
          <a:xfrm>
            <a:off x="566928" y="3054096"/>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Syria</a:t>
            </a:r>
            <a:endParaRPr lang="en-US" sz="1100" dirty="0"/>
          </a:p>
        </p:txBody>
      </p:sp>
      <p:sp>
        <p:nvSpPr>
          <p:cNvPr id="36" name="Shape 33"/>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7" name="Text 34"/>
          <p:cNvSpPr txBox="1"/>
          <p:nvPr/>
        </p:nvSpPr>
        <p:spPr>
          <a:xfrm>
            <a:off x="9171432" y="3858768"/>
            <a:ext cx="24688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لُبْنَانُ</a:t>
            </a:r>
            <a:endParaRPr lang="ar-SA" sz="2100" dirty="0"/>
          </a:p>
        </p:txBody>
      </p:sp>
      <p:sp>
        <p:nvSpPr>
          <p:cNvPr id="38" name="Text 35"/>
          <p:cNvSpPr txBox="1"/>
          <p:nvPr/>
        </p:nvSpPr>
        <p:spPr>
          <a:xfrm>
            <a:off x="9125712" y="4279392"/>
            <a:ext cx="25603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country</a:t>
            </a:r>
            <a:endParaRPr lang="en-US" sz="950" dirty="0"/>
          </a:p>
        </p:txBody>
      </p:sp>
      <p:sp>
        <p:nvSpPr>
          <p:cNvPr id="39" name="Text 36"/>
          <p:cNvSpPr txBox="1"/>
          <p:nvPr/>
        </p:nvSpPr>
        <p:spPr>
          <a:xfrm>
            <a:off x="5971032" y="3858768"/>
            <a:ext cx="30175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أَنَا </a:t>
            </a:r>
            <a:pPr rtl="1" algn="ctr" indent="0" marL="0">
              <a:buNone/>
            </a:pPr>
            <a:r>
              <a:rPr lang="ar-SA" altLang="en-US" sz="2100" b="1" dirty="0">
                <a:solidFill>
                  <a:srgbClr val="C77700"/>
                </a:solidFill>
                <a:latin typeface="Amiri" pitchFamily="2" charset="-78"/>
                <a:cs typeface="Amiri" pitchFamily="2" charset="-78"/>
              </a:rPr>
              <a:t>لُبْنَانِ</a:t>
            </a:r>
            <a:pPr rtl="1" algn="ctr" indent="0" marL="0">
              <a:buNone/>
            </a:pPr>
            <a:r>
              <a:rPr lang="ar-SA" altLang="en-US" sz="2100" b="1" dirty="0">
                <a:solidFill>
                  <a:srgbClr val="D6336C"/>
                </a:solidFill>
                <a:latin typeface="Amiri" pitchFamily="2" charset="-78"/>
                <a:cs typeface="Amiri" pitchFamily="2" charset="-78"/>
              </a:rPr>
              <a:t>يٌّ</a:t>
            </a:r>
            <a:endParaRPr lang="ar-SA" sz="2100" dirty="0"/>
          </a:p>
        </p:txBody>
      </p:sp>
      <p:sp>
        <p:nvSpPr>
          <p:cNvPr id="40" name="Text 37"/>
          <p:cNvSpPr txBox="1"/>
          <p:nvPr/>
        </p:nvSpPr>
        <p:spPr>
          <a:xfrm>
            <a:off x="5925312" y="4279392"/>
            <a:ext cx="3108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boy says</a:t>
            </a:r>
            <a:endParaRPr lang="en-US" sz="950" dirty="0"/>
          </a:p>
        </p:txBody>
      </p:sp>
      <p:sp>
        <p:nvSpPr>
          <p:cNvPr id="41" name="Text 38"/>
          <p:cNvSpPr txBox="1"/>
          <p:nvPr/>
        </p:nvSpPr>
        <p:spPr>
          <a:xfrm>
            <a:off x="2651760" y="3858768"/>
            <a:ext cx="313639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أَنَا </a:t>
            </a:r>
            <a:pPr rtl="1" algn="ctr" indent="0" marL="0">
              <a:buNone/>
            </a:pPr>
            <a:r>
              <a:rPr lang="ar-SA" altLang="en-US" sz="2100" b="1" dirty="0">
                <a:solidFill>
                  <a:srgbClr val="C77700"/>
                </a:solidFill>
                <a:latin typeface="Amiri" pitchFamily="2" charset="-78"/>
                <a:cs typeface="Amiri" pitchFamily="2" charset="-78"/>
              </a:rPr>
              <a:t>لُبْنَانِ</a:t>
            </a:r>
            <a:pPr rtl="1" algn="ctr" indent="0" marL="0">
              <a:buNone/>
            </a:pPr>
            <a:r>
              <a:rPr lang="ar-SA" altLang="en-US" sz="2100" b="1" dirty="0">
                <a:solidFill>
                  <a:srgbClr val="D6336C"/>
                </a:solidFill>
                <a:latin typeface="Amiri" pitchFamily="2" charset="-78"/>
                <a:cs typeface="Amiri" pitchFamily="2" charset="-78"/>
              </a:rPr>
              <a:t>يَّةٌ</a:t>
            </a:r>
            <a:endParaRPr lang="ar-SA" sz="2100" dirty="0"/>
          </a:p>
        </p:txBody>
      </p:sp>
      <p:sp>
        <p:nvSpPr>
          <p:cNvPr id="42" name="Text 39"/>
          <p:cNvSpPr txBox="1"/>
          <p:nvPr/>
        </p:nvSpPr>
        <p:spPr>
          <a:xfrm>
            <a:off x="2606040" y="4279392"/>
            <a:ext cx="32278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girl says</a:t>
            </a:r>
            <a:endParaRPr lang="en-US" sz="950" dirty="0"/>
          </a:p>
        </p:txBody>
      </p:sp>
      <p:sp>
        <p:nvSpPr>
          <p:cNvPr id="43" name="Text 40"/>
          <p:cNvSpPr txBox="1"/>
          <p:nvPr/>
        </p:nvSpPr>
        <p:spPr>
          <a:xfrm>
            <a:off x="566928" y="3840480"/>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Lebanon</a:t>
            </a:r>
            <a:endParaRPr lang="en-US" sz="1100" dirty="0"/>
          </a:p>
        </p:txBody>
      </p:sp>
      <p:sp>
        <p:nvSpPr>
          <p:cNvPr id="44" name="Shape 4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5" name="Text 42"/>
          <p:cNvSpPr txBox="1"/>
          <p:nvPr/>
        </p:nvSpPr>
        <p:spPr>
          <a:xfrm>
            <a:off x="9171432" y="4645152"/>
            <a:ext cx="24688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الأُرْدُنُّ</a:t>
            </a:r>
            <a:endParaRPr lang="ar-SA" sz="2100" dirty="0"/>
          </a:p>
        </p:txBody>
      </p:sp>
      <p:sp>
        <p:nvSpPr>
          <p:cNvPr id="46" name="Text 43"/>
          <p:cNvSpPr txBox="1"/>
          <p:nvPr/>
        </p:nvSpPr>
        <p:spPr>
          <a:xfrm>
            <a:off x="9125712" y="5065776"/>
            <a:ext cx="25603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country</a:t>
            </a:r>
            <a:endParaRPr lang="en-US" sz="950" dirty="0"/>
          </a:p>
        </p:txBody>
      </p:sp>
      <p:sp>
        <p:nvSpPr>
          <p:cNvPr id="47" name="Text 44"/>
          <p:cNvSpPr txBox="1"/>
          <p:nvPr/>
        </p:nvSpPr>
        <p:spPr>
          <a:xfrm>
            <a:off x="5971032" y="4645152"/>
            <a:ext cx="30175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أَنَا </a:t>
            </a:r>
            <a:pPr rtl="1" algn="ctr" indent="0" marL="0">
              <a:buNone/>
            </a:pPr>
            <a:r>
              <a:rPr lang="ar-SA" altLang="en-US" sz="2100" b="1" dirty="0">
                <a:solidFill>
                  <a:srgbClr val="C77700"/>
                </a:solidFill>
                <a:latin typeface="Amiri" pitchFamily="2" charset="-78"/>
                <a:cs typeface="Amiri" pitchFamily="2" charset="-78"/>
              </a:rPr>
              <a:t>أُرْدُنِ</a:t>
            </a:r>
            <a:pPr rtl="1" algn="ctr" indent="0" marL="0">
              <a:buNone/>
            </a:pPr>
            <a:r>
              <a:rPr lang="ar-SA" altLang="en-US" sz="2100" b="1" dirty="0">
                <a:solidFill>
                  <a:srgbClr val="D6336C"/>
                </a:solidFill>
                <a:latin typeface="Amiri" pitchFamily="2" charset="-78"/>
                <a:cs typeface="Amiri" pitchFamily="2" charset="-78"/>
              </a:rPr>
              <a:t>يٌّ</a:t>
            </a:r>
            <a:endParaRPr lang="ar-SA" sz="2100" dirty="0"/>
          </a:p>
        </p:txBody>
      </p:sp>
      <p:sp>
        <p:nvSpPr>
          <p:cNvPr id="48" name="Text 45"/>
          <p:cNvSpPr txBox="1"/>
          <p:nvPr/>
        </p:nvSpPr>
        <p:spPr>
          <a:xfrm>
            <a:off x="5925312" y="5065776"/>
            <a:ext cx="3108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boy says</a:t>
            </a:r>
            <a:endParaRPr lang="en-US" sz="950" dirty="0"/>
          </a:p>
        </p:txBody>
      </p:sp>
      <p:sp>
        <p:nvSpPr>
          <p:cNvPr id="49" name="Text 46"/>
          <p:cNvSpPr txBox="1"/>
          <p:nvPr/>
        </p:nvSpPr>
        <p:spPr>
          <a:xfrm>
            <a:off x="2651760" y="4645152"/>
            <a:ext cx="313639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أَنَا </a:t>
            </a:r>
            <a:pPr rtl="1" algn="ctr" indent="0" marL="0">
              <a:buNone/>
            </a:pPr>
            <a:r>
              <a:rPr lang="ar-SA" altLang="en-US" sz="2100" b="1" dirty="0">
                <a:solidFill>
                  <a:srgbClr val="C77700"/>
                </a:solidFill>
                <a:latin typeface="Amiri" pitchFamily="2" charset="-78"/>
                <a:cs typeface="Amiri" pitchFamily="2" charset="-78"/>
              </a:rPr>
              <a:t>أُرْدُنِ</a:t>
            </a:r>
            <a:pPr rtl="1" algn="ctr" indent="0" marL="0">
              <a:buNone/>
            </a:pPr>
            <a:r>
              <a:rPr lang="ar-SA" altLang="en-US" sz="2100" b="1" dirty="0">
                <a:solidFill>
                  <a:srgbClr val="D6336C"/>
                </a:solidFill>
                <a:latin typeface="Amiri" pitchFamily="2" charset="-78"/>
                <a:cs typeface="Amiri" pitchFamily="2" charset="-78"/>
              </a:rPr>
              <a:t>يَّةٌ</a:t>
            </a:r>
            <a:endParaRPr lang="ar-SA" sz="2100" dirty="0"/>
          </a:p>
        </p:txBody>
      </p:sp>
      <p:sp>
        <p:nvSpPr>
          <p:cNvPr id="50" name="Text 47"/>
          <p:cNvSpPr txBox="1"/>
          <p:nvPr/>
        </p:nvSpPr>
        <p:spPr>
          <a:xfrm>
            <a:off x="2606040" y="5065776"/>
            <a:ext cx="32278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girl says</a:t>
            </a:r>
            <a:endParaRPr lang="en-US" sz="950" dirty="0"/>
          </a:p>
        </p:txBody>
      </p:sp>
      <p:sp>
        <p:nvSpPr>
          <p:cNvPr id="51" name="Text 48"/>
          <p:cNvSpPr txBox="1"/>
          <p:nvPr/>
        </p:nvSpPr>
        <p:spPr>
          <a:xfrm>
            <a:off x="566928" y="4626864"/>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Jordan</a:t>
            </a:r>
            <a:endParaRPr lang="en-US" sz="110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IDENTITY WORDS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Identity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مُفْرَدَاتُ الهُوِيَّةِ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جِنْسِيَّةٌ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nationality</a:t>
            </a:r>
            <a:endParaRPr lang="en-US" sz="1350" dirty="0"/>
          </a:p>
          <a:p>
            <a:pPr indent="0" marL="0">
              <a:buNone/>
            </a:pPr>
            <a:r>
              <a:rPr lang="en-US" sz="1100" i="1" dirty="0">
                <a:solidFill>
                  <a:srgbClr val="5A6472"/>
                </a:solidFill>
                <a:latin typeface="Calibri" pitchFamily="34" charset="0"/>
                <a:cs typeface="Amiri" pitchFamily="2" charset="-78"/>
              </a:rPr>
              <a:t>jin-siy-ya</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your m.</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جِنْسِيَّتُكَ</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your f.</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جِنْسِيَّتُكِ</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جِنْسِيَّتِي</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لُغَةٌ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language</a:t>
            </a:r>
            <a:endParaRPr lang="en-US" sz="1350" dirty="0"/>
          </a:p>
          <a:p>
            <a:pPr indent="0" marL="0">
              <a:buNone/>
            </a:pPr>
            <a:r>
              <a:rPr lang="en-US" sz="1100" i="1" dirty="0">
                <a:solidFill>
                  <a:srgbClr val="5A6472"/>
                </a:solidFill>
                <a:latin typeface="Calibri" pitchFamily="34" charset="0"/>
                <a:cs typeface="Amiri" pitchFamily="2" charset="-78"/>
              </a:rPr>
              <a:t>lu-gha · lu-ghāt</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لُغَةٌ</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two</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لُغَتَانِ</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لُغَاتٌ</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Text 5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عَرَبِيٌّ</a:t>
            </a:r>
            <a:endParaRPr lang="ar-SA" sz="3000" dirty="0"/>
          </a:p>
        </p:txBody>
      </p:sp>
      <p:sp>
        <p:nvSpPr>
          <p:cNvPr id="57" name="Text 5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Arab</a:t>
            </a:r>
            <a:endParaRPr lang="en-US" sz="1350" dirty="0"/>
          </a:p>
          <a:p>
            <a:pPr indent="0" marL="0">
              <a:buNone/>
            </a:pPr>
            <a:r>
              <a:rPr lang="en-US" sz="1100" i="1" dirty="0">
                <a:solidFill>
                  <a:srgbClr val="5A6472"/>
                </a:solidFill>
                <a:latin typeface="Calibri" pitchFamily="34" charset="0"/>
                <a:cs typeface="Amiri" pitchFamily="2" charset="-78"/>
              </a:rPr>
              <a:t>ʿa-ra-biy · ʿa-ra-biy-ya · ʿa-rab</a:t>
            </a:r>
            <a:endParaRPr lang="en-US" sz="1350" dirty="0"/>
          </a:p>
        </p:txBody>
      </p:sp>
      <p:sp>
        <p:nvSpPr>
          <p:cNvPr id="58" name="Shape 5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0" name="Text 5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عَرَبِيٌّ</a:t>
            </a:r>
            <a:endParaRPr lang="ar-SA" sz="1500" dirty="0"/>
          </a:p>
        </p:txBody>
      </p:sp>
      <p:sp>
        <p:nvSpPr>
          <p:cNvPr id="61" name="Shape 5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3" name="Text 60"/>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عَرَبِيَّةٌ</a:t>
            </a:r>
            <a:endParaRPr lang="ar-SA" sz="1500" dirty="0"/>
          </a:p>
        </p:txBody>
      </p:sp>
      <p:sp>
        <p:nvSpPr>
          <p:cNvPr id="64" name="Shape 6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6" name="Text 6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عَرَبٌ</a:t>
            </a:r>
            <a:endParaRPr lang="ar-SA" sz="1500" dirty="0"/>
          </a:p>
        </p:txBody>
      </p:sp>
      <p:sp>
        <p:nvSpPr>
          <p:cNvPr id="67" name="Shape 6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8211312"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0" name="Shape 67"/>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origin</a:t>
            </a:r>
            <a:endParaRPr lang="en-US" sz="800" dirty="0"/>
          </a:p>
        </p:txBody>
      </p:sp>
      <p:sp>
        <p:nvSpPr>
          <p:cNvPr id="72" name="Shape 6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4" name="Text 7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أَنَا مِنْ …</a:t>
            </a:r>
            <a:endParaRPr lang="ar-SA" sz="3000" dirty="0"/>
          </a:p>
        </p:txBody>
      </p:sp>
      <p:sp>
        <p:nvSpPr>
          <p:cNvPr id="75" name="Text 7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from …</a:t>
            </a:r>
            <a:endParaRPr lang="en-US" sz="1350" dirty="0"/>
          </a:p>
          <a:p>
            <a:pPr indent="0" marL="0">
              <a:buNone/>
            </a:pPr>
            <a:r>
              <a:rPr lang="en-US" sz="1100" i="1" dirty="0">
                <a:solidFill>
                  <a:srgbClr val="5A6472"/>
                </a:solidFill>
                <a:latin typeface="Calibri" pitchFamily="34" charset="0"/>
                <a:cs typeface="Amiri" pitchFamily="2" charset="-78"/>
              </a:rPr>
              <a:t>a-nā min …</a:t>
            </a:r>
            <a:endParaRPr lang="en-US" sz="1350" dirty="0"/>
          </a:p>
        </p:txBody>
      </p:sp>
      <p:sp>
        <p:nvSpPr>
          <p:cNvPr id="76" name="Text 73"/>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cs typeface="Amiri" pitchFamily="2" charset="-78"/>
              </a:rPr>
              <a:t>مِنْ</a:t>
            </a:r>
            <a:pPr algn="l" indent="0" marL="0">
              <a:buNone/>
            </a:pPr>
            <a:r>
              <a:rPr lang="en-US" sz="1000" i="1" dirty="0">
                <a:solidFill>
                  <a:srgbClr val="8A6D1E"/>
                </a:solidFill>
                <a:latin typeface="Calibri" pitchFamily="34" charset="0"/>
                <a:cs typeface="Amiri" pitchFamily="2" charset="-78"/>
              </a:rPr>
              <a:t> + a country: </a:t>
            </a:r>
            <a:pPr algn="l" indent="0" marL="0">
              <a:buNone/>
            </a:pPr>
            <a:r>
              <a:rPr lang="ar-SA" altLang="en-US" sz="1300" dirty="0">
                <a:solidFill>
                  <a:srgbClr val="8A6D1E"/>
                </a:solidFill>
                <a:latin typeface="Amiri" pitchFamily="2" charset="-78"/>
                <a:cs typeface="Amiri" pitchFamily="2" charset="-78"/>
              </a:rPr>
              <a:t>أَنَا مِنْ مِصْرَ</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77" name="Shape 7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389120" y="4261104"/>
            <a:ext cx="310896" cy="310896"/>
          </a:xfrm>
          <a:prstGeom prst="ellipse">
            <a:avLst/>
          </a:prstGeom>
          <a:solidFill>
            <a:srgbClr val="F4F1EA"/>
          </a:solidFill>
          <a:ln w="12700">
            <a:solidFill>
              <a:srgbClr val="F4F1EA"/>
            </a:solidFill>
            <a:prstDash val="solid"/>
          </a:ln>
        </p:spPr>
      </p:sp>
      <p:sp>
        <p:nvSpPr>
          <p:cNvPr id="79" name="Text 7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80" name="Shape 77"/>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81" name="Text 78"/>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a:t>
            </a:r>
            <a:endParaRPr lang="en-US" sz="800" dirty="0"/>
          </a:p>
        </p:txBody>
      </p:sp>
      <p:sp>
        <p:nvSpPr>
          <p:cNvPr id="82" name="Text 7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مَا جِنْسِيَّتُكَ؟</a:t>
            </a:r>
            <a:endParaRPr lang="ar-SA" sz="3000" dirty="0"/>
          </a:p>
        </p:txBody>
      </p:sp>
      <p:sp>
        <p:nvSpPr>
          <p:cNvPr id="83" name="Text 8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is your nationality? (to a boy)</a:t>
            </a:r>
            <a:endParaRPr lang="en-US" sz="1350" dirty="0"/>
          </a:p>
          <a:p>
            <a:pPr indent="0" marL="0">
              <a:buNone/>
            </a:pPr>
            <a:r>
              <a:rPr lang="en-US" sz="1100" i="1" dirty="0">
                <a:solidFill>
                  <a:srgbClr val="5A6472"/>
                </a:solidFill>
                <a:latin typeface="Calibri" pitchFamily="34" charset="0"/>
                <a:cs typeface="Amiri" pitchFamily="2" charset="-78"/>
              </a:rPr>
              <a:t>mā jin-siy-ya-tu-ka</a:t>
            </a:r>
            <a:endParaRPr lang="en-US" sz="1350" dirty="0"/>
          </a:p>
        </p:txBody>
      </p:sp>
      <p:sp>
        <p:nvSpPr>
          <p:cNvPr id="84" name="Text 81"/>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To a girl: -ki.</a:t>
            </a:r>
            <a:endParaRPr lang="en-US" sz="1000" dirty="0"/>
          </a:p>
        </p:txBody>
      </p:sp>
      <p:sp>
        <p:nvSpPr>
          <p:cNvPr id="85" name="Shape 8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566928"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8" name="Shape 85"/>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 · f.</a:t>
            </a:r>
            <a:endParaRPr lang="en-US" sz="800" dirty="0"/>
          </a:p>
        </p:txBody>
      </p:sp>
      <p:sp>
        <p:nvSpPr>
          <p:cNvPr id="90" name="Text 8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أَيْنَ أَنْتَ؟</a:t>
            </a:r>
            <a:endParaRPr lang="ar-SA" sz="3000" dirty="0"/>
          </a:p>
        </p:txBody>
      </p:sp>
      <p:sp>
        <p:nvSpPr>
          <p:cNvPr id="91" name="Text 8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 are you from? (to a boy)</a:t>
            </a:r>
            <a:endParaRPr lang="en-US" sz="1350" dirty="0"/>
          </a:p>
          <a:p>
            <a:pPr indent="0" marL="0">
              <a:buNone/>
            </a:pPr>
            <a:r>
              <a:rPr lang="en-US" sz="1100" i="1" dirty="0">
                <a:solidFill>
                  <a:srgbClr val="5A6472"/>
                </a:solidFill>
                <a:latin typeface="Calibri" pitchFamily="34" charset="0"/>
                <a:cs typeface="Amiri" pitchFamily="2" charset="-78"/>
              </a:rPr>
              <a:t>min ay-na an-ta · an-ti</a:t>
            </a:r>
            <a:endParaRPr lang="en-US" sz="1350" dirty="0"/>
          </a:p>
        </p:txBody>
      </p:sp>
      <p:sp>
        <p:nvSpPr>
          <p:cNvPr id="92" name="Text 8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To a girl: </a:t>
            </a:r>
            <a:pPr algn="l" indent="0" marL="0">
              <a:buNone/>
            </a:pPr>
            <a:r>
              <a:rPr lang="ar-SA" altLang="en-US" sz="1300" dirty="0">
                <a:solidFill>
                  <a:srgbClr val="8A6D1E"/>
                </a:solidFill>
                <a:latin typeface="Amiri" pitchFamily="2" charset="-78"/>
                <a:cs typeface="Amiri" pitchFamily="2" charset="-78"/>
              </a:rPr>
              <a:t>مِنْ أَيْنَ أَنْتِ؟</a:t>
            </a:r>
            <a:endParaRPr lang="en-US" sz="100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cs typeface="Amiri" pitchFamily="2" charset="-78"/>
              </a:rPr>
              <a:t>KEY WORDS · GROUP 3 · FOUR LANGUAGE ACTIONS AND FOUR LANGUAGES (WEBSITE)</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 understand, read, write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أَتَكَلَّمُ · أَفْهَمُ · أَقْرَأُ · أَكْتُبُ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455725"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you m. · you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أَتَكَلَّمُ</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speak</a:t>
            </a:r>
            <a:endParaRPr lang="en-US" sz="1350" dirty="0"/>
          </a:p>
          <a:p>
            <a:pPr indent="0" marL="0">
              <a:buNone/>
            </a:pPr>
            <a:r>
              <a:rPr lang="en-US" sz="1100" i="1" dirty="0">
                <a:solidFill>
                  <a:srgbClr val="5A6472"/>
                </a:solidFill>
                <a:latin typeface="Calibri" pitchFamily="34" charset="0"/>
                <a:cs typeface="Amiri" pitchFamily="2" charset="-78"/>
              </a:rPr>
              <a:t>a-ta-kal-la-mu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أَتَكَلَّمُ</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m.</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تَتَكَلَّمُ</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f.</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تَتَكَلَّمِينَ</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1455725"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you m. · you f.</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أَفْهَمُ</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understand</a:t>
            </a:r>
            <a:endParaRPr lang="en-US" sz="1350" dirty="0"/>
          </a:p>
          <a:p>
            <a:pPr indent="0" marL="0">
              <a:buNone/>
            </a:pPr>
            <a:r>
              <a:rPr lang="en-US" sz="1100" i="1" dirty="0">
                <a:solidFill>
                  <a:srgbClr val="5A6472"/>
                </a:solidFill>
                <a:latin typeface="Calibri" pitchFamily="34" charset="0"/>
                <a:cs typeface="Amiri" pitchFamily="2" charset="-78"/>
              </a:rPr>
              <a:t>af-ha-mu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أَفْهَمُ</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m.</a:t>
            </a:r>
            <a:endParaRPr lang="en-US" sz="700" dirty="0"/>
          </a:p>
        </p:txBody>
      </p:sp>
      <p:sp>
        <p:nvSpPr>
          <p:cNvPr id="47" name="Text 44"/>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تَفْهَمُ</a:t>
            </a:r>
            <a:endParaRPr lang="ar-SA" sz="135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f.</a:t>
            </a:r>
            <a:endParaRPr lang="en-US" sz="700" dirty="0"/>
          </a:p>
        </p:txBody>
      </p:sp>
      <p:sp>
        <p:nvSpPr>
          <p:cNvPr id="50" name="Text 47"/>
          <p:cNvSpPr txBox="1"/>
          <p:nvPr/>
        </p:nvSpPr>
        <p:spPr>
          <a:xfrm>
            <a:off x="446227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تَفْهَمِينَ</a:t>
            </a:r>
            <a:endParaRPr lang="ar-SA" sz="135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1455725"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you m. · you f.</a:t>
            </a:r>
            <a:endParaRPr lang="en-US" sz="800" dirty="0"/>
          </a:p>
        </p:txBody>
      </p:sp>
      <p:sp>
        <p:nvSpPr>
          <p:cNvPr id="56" name="Text 5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أَقْرَأُ</a:t>
            </a:r>
            <a:endParaRPr lang="ar-SA" sz="3000" dirty="0"/>
          </a:p>
        </p:txBody>
      </p:sp>
      <p:sp>
        <p:nvSpPr>
          <p:cNvPr id="57" name="Text 5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read</a:t>
            </a:r>
            <a:endParaRPr lang="en-US" sz="1350" dirty="0"/>
          </a:p>
          <a:p>
            <a:pPr indent="0" marL="0">
              <a:buNone/>
            </a:pPr>
            <a:r>
              <a:rPr lang="en-US" sz="1100" i="1" dirty="0">
                <a:solidFill>
                  <a:srgbClr val="5A6472"/>
                </a:solidFill>
                <a:latin typeface="Calibri" pitchFamily="34" charset="0"/>
                <a:cs typeface="Amiri" pitchFamily="2" charset="-78"/>
              </a:rPr>
              <a:t>aq-ra-ʾu</a:t>
            </a:r>
            <a:endParaRPr lang="en-US" sz="1350" dirty="0"/>
          </a:p>
        </p:txBody>
      </p:sp>
      <p:sp>
        <p:nvSpPr>
          <p:cNvPr id="58" name="Shape 5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0" name="Text 5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أَقْرَأُ</a:t>
            </a:r>
            <a:endParaRPr lang="ar-SA" sz="1500" dirty="0"/>
          </a:p>
        </p:txBody>
      </p:sp>
      <p:sp>
        <p:nvSpPr>
          <p:cNvPr id="61" name="Shape 5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m.</a:t>
            </a:r>
            <a:endParaRPr lang="en-US" sz="700" dirty="0"/>
          </a:p>
        </p:txBody>
      </p:sp>
      <p:sp>
        <p:nvSpPr>
          <p:cNvPr id="63" name="Text 60"/>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تَقْرَأُ</a:t>
            </a:r>
            <a:endParaRPr lang="ar-SA" sz="1350" dirty="0"/>
          </a:p>
        </p:txBody>
      </p:sp>
      <p:sp>
        <p:nvSpPr>
          <p:cNvPr id="64" name="Shape 6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f.</a:t>
            </a:r>
            <a:endParaRPr lang="en-US" sz="700" dirty="0"/>
          </a:p>
        </p:txBody>
      </p:sp>
      <p:sp>
        <p:nvSpPr>
          <p:cNvPr id="66" name="Text 63"/>
          <p:cNvSpPr txBox="1"/>
          <p:nvPr/>
        </p:nvSpPr>
        <p:spPr>
          <a:xfrm>
            <a:off x="64008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تَقْرَئِينَ</a:t>
            </a:r>
            <a:endParaRPr lang="ar-SA" sz="1350" dirty="0"/>
          </a:p>
        </p:txBody>
      </p:sp>
      <p:sp>
        <p:nvSpPr>
          <p:cNvPr id="67" name="Shape 6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8211312"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0" name="Shape 67"/>
          <p:cNvSpPr/>
          <p:nvPr/>
        </p:nvSpPr>
        <p:spPr>
          <a:xfrm>
            <a:off x="8604504" y="4279392"/>
            <a:ext cx="1455725"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8604504" y="4279392"/>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you m. · you f.</a:t>
            </a:r>
            <a:endParaRPr lang="en-US" sz="800" dirty="0"/>
          </a:p>
        </p:txBody>
      </p:sp>
      <p:sp>
        <p:nvSpPr>
          <p:cNvPr id="72" name="Text 6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أَكْتُبُ بِـ</a:t>
            </a:r>
            <a:endParaRPr lang="ar-SA" sz="3000" dirty="0"/>
          </a:p>
        </p:txBody>
      </p:sp>
      <p:sp>
        <p:nvSpPr>
          <p:cNvPr id="73" name="Text 7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write (in)</a:t>
            </a:r>
            <a:endParaRPr lang="en-US" sz="1350" dirty="0"/>
          </a:p>
          <a:p>
            <a:pPr indent="0" marL="0">
              <a:buNone/>
            </a:pPr>
            <a:r>
              <a:rPr lang="en-US" sz="1100" i="1" dirty="0">
                <a:solidFill>
                  <a:srgbClr val="5A6472"/>
                </a:solidFill>
                <a:latin typeface="Calibri" pitchFamily="34" charset="0"/>
                <a:cs typeface="Amiri" pitchFamily="2" charset="-78"/>
              </a:rPr>
              <a:t>ak-tu-bu bi-</a:t>
            </a:r>
            <a:endParaRPr lang="en-US" sz="1350" dirty="0"/>
          </a:p>
        </p:txBody>
      </p:sp>
      <p:sp>
        <p:nvSpPr>
          <p:cNvPr id="74" name="Shape 7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6" name="Text 73"/>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أَكْتُبُ</a:t>
            </a:r>
            <a:endParaRPr lang="ar-SA" sz="1500" dirty="0"/>
          </a:p>
        </p:txBody>
      </p:sp>
      <p:sp>
        <p:nvSpPr>
          <p:cNvPr id="77" name="Shape 7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m.</a:t>
            </a:r>
            <a:endParaRPr lang="en-US" sz="700" dirty="0"/>
          </a:p>
        </p:txBody>
      </p:sp>
      <p:sp>
        <p:nvSpPr>
          <p:cNvPr id="79" name="Text 76"/>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تَكْتُبُ</a:t>
            </a:r>
            <a:endParaRPr lang="ar-SA" sz="1350" dirty="0"/>
          </a:p>
        </p:txBody>
      </p:sp>
      <p:sp>
        <p:nvSpPr>
          <p:cNvPr id="80" name="Shape 7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f.</a:t>
            </a:r>
            <a:endParaRPr lang="en-US" sz="700" dirty="0"/>
          </a:p>
        </p:txBody>
      </p:sp>
      <p:sp>
        <p:nvSpPr>
          <p:cNvPr id="82" name="Text 79"/>
          <p:cNvSpPr txBox="1"/>
          <p:nvPr/>
        </p:nvSpPr>
        <p:spPr>
          <a:xfrm>
            <a:off x="828446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تَكْتُبِينَ</a:t>
            </a:r>
            <a:endParaRPr lang="ar-SA" sz="1350" dirty="0"/>
          </a:p>
        </p:txBody>
      </p:sp>
      <p:sp>
        <p:nvSpPr>
          <p:cNvPr id="83" name="Shape 8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4389120"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86" name="Shape 83"/>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87" name="Text 84"/>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languages</a:t>
            </a:r>
            <a:endParaRPr lang="en-US" sz="800" dirty="0"/>
          </a:p>
        </p:txBody>
      </p:sp>
      <p:sp>
        <p:nvSpPr>
          <p:cNvPr id="88" name="Shape 8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9" name="Text 8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0" name="Text 8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العَرَبِيَّةُ · الإِنْجِلِيزِيَّةُ</a:t>
            </a:r>
            <a:endParaRPr lang="ar-SA" sz="3000" dirty="0"/>
          </a:p>
        </p:txBody>
      </p:sp>
      <p:sp>
        <p:nvSpPr>
          <p:cNvPr id="91" name="Text 8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Arabic · English</a:t>
            </a:r>
            <a:endParaRPr lang="en-US" sz="1350" dirty="0"/>
          </a:p>
          <a:p>
            <a:pPr indent="0" marL="0">
              <a:buNone/>
            </a:pPr>
            <a:r>
              <a:rPr lang="en-US" sz="1100" i="1" dirty="0">
                <a:solidFill>
                  <a:srgbClr val="5A6472"/>
                </a:solidFill>
                <a:latin typeface="Calibri" pitchFamily="34" charset="0"/>
                <a:cs typeface="Amiri" pitchFamily="2" charset="-78"/>
              </a:rPr>
              <a:t>al-ʿa-ra-biy-ya · al-in-ji-lī-ziy-ya</a:t>
            </a:r>
            <a:endParaRPr lang="en-US" sz="1350" dirty="0"/>
          </a:p>
        </p:txBody>
      </p:sp>
      <p:sp>
        <p:nvSpPr>
          <p:cNvPr id="92" name="Text 89"/>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Languages are feminine and take </a:t>
            </a:r>
            <a:pPr algn="l" indent="0" marL="0">
              <a:buNone/>
            </a:pPr>
            <a:r>
              <a:rPr lang="ar-SA" altLang="en-US" sz="1300" dirty="0">
                <a:solidFill>
                  <a:srgbClr val="8A6D1E"/>
                </a:solidFill>
                <a:latin typeface="Amiri" pitchFamily="2" charset="-78"/>
                <a:cs typeface="Amiri" pitchFamily="2" charset="-78"/>
              </a:rPr>
              <a:t>ال</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93" name="Shape 9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566928" y="4261104"/>
            <a:ext cx="310896" cy="310896"/>
          </a:xfrm>
          <a:prstGeom prst="ellipse">
            <a:avLst/>
          </a:prstGeom>
          <a:solidFill>
            <a:srgbClr val="F4F1EA"/>
          </a:solidFill>
          <a:ln w="12700">
            <a:solidFill>
              <a:srgbClr val="F4F1EA"/>
            </a:solidFill>
            <a:prstDash val="solid"/>
          </a:ln>
        </p:spPr>
      </p:sp>
      <p:sp>
        <p:nvSpPr>
          <p:cNvPr id="95" name="Text 9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6" name="Shape 93"/>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7" name="Text 94"/>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languages</a:t>
            </a:r>
            <a:endParaRPr lang="en-US" sz="800" dirty="0"/>
          </a:p>
        </p:txBody>
      </p:sp>
      <p:sp>
        <p:nvSpPr>
          <p:cNvPr id="98" name="Text 9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الفَرَنْسِيَّةُ · الأُرْدِيَّةُ</a:t>
            </a:r>
            <a:endParaRPr lang="ar-SA" sz="3000" dirty="0"/>
          </a:p>
        </p:txBody>
      </p:sp>
      <p:sp>
        <p:nvSpPr>
          <p:cNvPr id="99" name="Text 9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French · Urdu</a:t>
            </a:r>
            <a:endParaRPr lang="en-US" sz="1350" dirty="0"/>
          </a:p>
          <a:p>
            <a:pPr indent="0" marL="0">
              <a:buNone/>
            </a:pPr>
            <a:r>
              <a:rPr lang="en-US" sz="1100" i="1" dirty="0">
                <a:solidFill>
                  <a:srgbClr val="5A6472"/>
                </a:solidFill>
                <a:latin typeface="Calibri" pitchFamily="34" charset="0"/>
                <a:cs typeface="Amiri" pitchFamily="2" charset="-78"/>
              </a:rPr>
              <a:t>al-fa-ran-siy-ya · al-ur-diy-ya</a:t>
            </a:r>
            <a:endParaRPr lang="en-US" sz="1350" dirty="0"/>
          </a:p>
        </p:txBody>
      </p:sp>
      <p:sp>
        <p:nvSpPr>
          <p:cNvPr id="100" name="Text 97"/>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Add yours: </a:t>
            </a:r>
            <a:pPr algn="l" indent="0" marL="0">
              <a:buNone/>
            </a:pPr>
            <a:r>
              <a:rPr lang="ar-SA" altLang="en-US" sz="1300" dirty="0">
                <a:solidFill>
                  <a:srgbClr val="8A6D1E"/>
                </a:solidFill>
                <a:latin typeface="Amiri" pitchFamily="2" charset="-78"/>
                <a:cs typeface="Amiri" pitchFamily="2" charset="-78"/>
              </a:rPr>
              <a:t>البِنْغَالِيَّةُ، الصُّومَالِيَّةُ</a:t>
            </a:r>
            <a:pPr algn="l" indent="0" marL="0">
              <a:buNone/>
            </a:pPr>
            <a:r>
              <a:rPr lang="en-US" sz="1000" i="1" dirty="0">
                <a:solidFill>
                  <a:srgbClr val="8A6D1E"/>
                </a:solidFill>
                <a:latin typeface="Calibri" pitchFamily="34" charset="0"/>
                <a:cs typeface="Amiri" pitchFamily="2" charset="-78"/>
              </a:rPr>
              <a:t> …</a:t>
            </a:r>
            <a:endParaRPr lang="en-US" sz="10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MATCH THE NATIONALITY TO THE PERSON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Boy or girl? Listen for the ending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طَابِقِ الجِنْسِيَّةَ مَعَ الشَّخْصِ</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28800"/>
            <a:ext cx="11274552" cy="2331720"/>
          </a:xfrm>
          <a:prstGeom prst="roundRect">
            <a:avLst>
              <a:gd name="adj" fmla="val 313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371600" y="1828800"/>
            <a:ext cx="9445752" cy="1572768"/>
          </a:xfrm>
          <a:prstGeom prst="rect">
            <a:avLst/>
          </a:prstGeom>
          <a:noFill/>
          <a:ln/>
        </p:spPr>
        <p:txBody>
          <a:bodyPr wrap="square" lIns="0" tIns="0" rIns="0" bIns="0" rtlCol="0" anchor="ctr"/>
          <a:lstStyle/>
          <a:p>
            <a:pPr rtl="1" algn="ctr" indent="0" marL="0">
              <a:buNone/>
            </a:pPr>
            <a:r>
              <a:rPr lang="ar-SA" altLang="en-US" sz="7200" b="1" dirty="0">
                <a:solidFill>
                  <a:srgbClr val="1B3B6F"/>
                </a:solidFill>
                <a:latin typeface="Amiri" pitchFamily="2" charset="-78"/>
                <a:cs typeface="Amiri" pitchFamily="2" charset="-78"/>
              </a:rPr>
              <a:t>أَنَا </a:t>
            </a:r>
            <a:pPr rtl="1" algn="ctr" indent="0" marL="0">
              <a:buNone/>
            </a:pPr>
            <a:r>
              <a:rPr lang="ar-SA" altLang="en-US" sz="7200" b="1" dirty="0">
                <a:solidFill>
                  <a:srgbClr val="C77700"/>
                </a:solidFill>
                <a:latin typeface="Amiri" pitchFamily="2" charset="-78"/>
                <a:cs typeface="Amiri" pitchFamily="2" charset="-78"/>
              </a:rPr>
              <a:t>مِصْرِ</a:t>
            </a:r>
            <a:pPr rtl="1" algn="ctr" indent="0" marL="0">
              <a:buNone/>
            </a:pPr>
            <a:r>
              <a:rPr lang="ar-SA" altLang="en-US" sz="7200" b="1" dirty="0">
                <a:solidFill>
                  <a:srgbClr val="D6336C"/>
                </a:solidFill>
                <a:latin typeface="Amiri" pitchFamily="2" charset="-78"/>
                <a:cs typeface="Amiri" pitchFamily="2" charset="-78"/>
              </a:rPr>
              <a:t>يَّةٌ</a:t>
            </a:r>
            <a:endParaRPr lang="ar-SA" sz="7200" dirty="0"/>
          </a:p>
        </p:txBody>
      </p:sp>
      <p:sp>
        <p:nvSpPr>
          <p:cNvPr id="17" name="Text 14"/>
          <p:cNvSpPr txBox="1"/>
          <p:nvPr/>
        </p:nvSpPr>
        <p:spPr>
          <a:xfrm>
            <a:off x="457200" y="3675888"/>
            <a:ext cx="11274552" cy="365760"/>
          </a:xfrm>
          <a:prstGeom prst="rect">
            <a:avLst/>
          </a:prstGeom>
          <a:noFill/>
          <a:ln/>
        </p:spPr>
        <p:txBody>
          <a:bodyPr wrap="square" lIns="0" tIns="0" rIns="0" bIns="0" rtlCol="0" anchor="ctr"/>
          <a:lstStyle/>
          <a:p>
            <a:pPr algn="ctr" indent="0" marL="0">
              <a:buNone/>
            </a:pPr>
            <a:r>
              <a:rPr lang="en-US" sz="1500" i="1" dirty="0">
                <a:solidFill>
                  <a:srgbClr val="5A6472"/>
                </a:solidFill>
                <a:latin typeface="Calibri" pitchFamily="34" charset="0"/>
                <a:cs typeface="Amiri" pitchFamily="2" charset="-78"/>
              </a:rPr>
              <a:t>a-nā miṣ-riy-ya · I am Egyptian (a girl speaking)</a:t>
            </a:r>
            <a:endParaRPr lang="en-US" sz="1500" dirty="0"/>
          </a:p>
        </p:txBody>
      </p:sp>
      <p:sp>
        <p:nvSpPr>
          <p:cNvPr id="18" name="Shape 15"/>
          <p:cNvSpPr/>
          <p:nvPr/>
        </p:nvSpPr>
        <p:spPr>
          <a:xfrm>
            <a:off x="8095488" y="4370832"/>
            <a:ext cx="3636264" cy="1783080"/>
          </a:xfrm>
          <a:prstGeom prst="roundRect">
            <a:avLst>
              <a:gd name="adj" fmla="val 4103"/>
            </a:avLst>
          </a:prstGeom>
          <a:solidFill>
            <a:srgbClr val="FFFFFF"/>
          </a:solidFill>
          <a:ln w="19050">
            <a:solidFill>
              <a:srgbClr val="1D5FBF"/>
            </a:solidFill>
            <a:prstDash val="solid"/>
          </a:ln>
          <a:effectLst>
            <a:outerShdw sx="100000" sy="100000" kx="0" ky="0" algn="bl" rotWithShape="0" blurRad="50800" dist="19050" dir="5400000">
              <a:srgbClr val="000000">
                <a:alpha val="10000"/>
              </a:srgbClr>
            </a:outerShdw>
          </a:effectLst>
        </p:spPr>
      </p:sp>
      <p:sp>
        <p:nvSpPr>
          <p:cNvPr id="19" name="Text 16"/>
          <p:cNvSpPr txBox="1"/>
          <p:nvPr/>
        </p:nvSpPr>
        <p:spPr>
          <a:xfrm>
            <a:off x="8278368"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1</a:t>
            </a:r>
            <a:endParaRPr lang="en-US" sz="3000" dirty="0"/>
          </a:p>
        </p:txBody>
      </p:sp>
      <p:sp>
        <p:nvSpPr>
          <p:cNvPr id="20" name="Text 17"/>
          <p:cNvSpPr txBox="1"/>
          <p:nvPr/>
        </p:nvSpPr>
        <p:spPr>
          <a:xfrm>
            <a:off x="8827008"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1D5FBF"/>
                </a:solidFill>
                <a:latin typeface="Amiri" pitchFamily="2" charset="-78"/>
                <a:cs typeface="Amiri" pitchFamily="2" charset="-78"/>
              </a:rPr>
              <a:t>أَنَا</a:t>
            </a:r>
            <a:endParaRPr lang="ar-SA" sz="3400" dirty="0"/>
          </a:p>
        </p:txBody>
      </p:sp>
      <p:sp>
        <p:nvSpPr>
          <p:cNvPr id="21" name="Text 18"/>
          <p:cNvSpPr txBox="1"/>
          <p:nvPr/>
        </p:nvSpPr>
        <p:spPr>
          <a:xfrm>
            <a:off x="8278368" y="5120640"/>
            <a:ext cx="3270504" cy="310896"/>
          </a:xfrm>
          <a:prstGeom prst="rect">
            <a:avLst/>
          </a:prstGeom>
          <a:noFill/>
          <a:ln/>
        </p:spPr>
        <p:txBody>
          <a:bodyPr wrap="square" lIns="0" tIns="0" rIns="0" bIns="0" rtlCol="0" anchor="ctr"/>
          <a:lstStyle/>
          <a:p>
            <a:pPr algn="l" indent="0" marL="0">
              <a:buNone/>
            </a:pPr>
            <a:r>
              <a:rPr lang="en-US" sz="1600" b="1" dirty="0">
                <a:solidFill>
                  <a:srgbClr val="1D5FBF"/>
                </a:solidFill>
                <a:latin typeface="Calibri" pitchFamily="34" charset="0"/>
                <a:cs typeface="Amiri" pitchFamily="2" charset="-78"/>
              </a:rPr>
              <a:t>WHO: I</a:t>
            </a:r>
            <a:endParaRPr lang="en-US" sz="1600" dirty="0"/>
          </a:p>
        </p:txBody>
      </p:sp>
      <p:sp>
        <p:nvSpPr>
          <p:cNvPr id="22" name="Text 19"/>
          <p:cNvSpPr txBox="1"/>
          <p:nvPr/>
        </p:nvSpPr>
        <p:spPr>
          <a:xfrm>
            <a:off x="8278368"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cs typeface="Amiri" pitchFamily="2" charset="-78"/>
              </a:rPr>
              <a:t>The person the sentence describes.</a:t>
            </a:r>
            <a:endParaRPr lang="en-US" sz="1150" dirty="0"/>
          </a:p>
        </p:txBody>
      </p:sp>
      <p:sp>
        <p:nvSpPr>
          <p:cNvPr id="23" name="Shape 20"/>
          <p:cNvSpPr/>
          <p:nvPr/>
        </p:nvSpPr>
        <p:spPr>
          <a:xfrm>
            <a:off x="4276344" y="4370832"/>
            <a:ext cx="3636264" cy="1783080"/>
          </a:xfrm>
          <a:prstGeom prst="roundRect">
            <a:avLst>
              <a:gd name="adj" fmla="val 4103"/>
            </a:avLst>
          </a:prstGeom>
          <a:solidFill>
            <a:srgbClr val="FFFFFF"/>
          </a:solidFill>
          <a:ln w="19050">
            <a:solidFill>
              <a:srgbClr val="C77700"/>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4459224"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2</a:t>
            </a:r>
            <a:endParaRPr lang="en-US" sz="3000" dirty="0"/>
          </a:p>
        </p:txBody>
      </p:sp>
      <p:sp>
        <p:nvSpPr>
          <p:cNvPr id="25" name="Text 22"/>
          <p:cNvSpPr txBox="1"/>
          <p:nvPr/>
        </p:nvSpPr>
        <p:spPr>
          <a:xfrm>
            <a:off x="5007864"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C77700"/>
                </a:solidFill>
                <a:latin typeface="Amiri" pitchFamily="2" charset="-78"/>
                <a:cs typeface="Amiri" pitchFamily="2" charset="-78"/>
              </a:rPr>
              <a:t>مِصْرِ</a:t>
            </a:r>
            <a:endParaRPr lang="ar-SA" sz="3400" dirty="0"/>
          </a:p>
        </p:txBody>
      </p:sp>
      <p:sp>
        <p:nvSpPr>
          <p:cNvPr id="26" name="Text 23"/>
          <p:cNvSpPr txBox="1"/>
          <p:nvPr/>
        </p:nvSpPr>
        <p:spPr>
          <a:xfrm>
            <a:off x="4459224" y="5120640"/>
            <a:ext cx="3270504" cy="310896"/>
          </a:xfrm>
          <a:prstGeom prst="rect">
            <a:avLst/>
          </a:prstGeom>
          <a:noFill/>
          <a:ln/>
        </p:spPr>
        <p:txBody>
          <a:bodyPr wrap="square" lIns="0" tIns="0" rIns="0" bIns="0" rtlCol="0" anchor="ctr"/>
          <a:lstStyle/>
          <a:p>
            <a:pPr algn="l" indent="0" marL="0">
              <a:buNone/>
            </a:pPr>
            <a:r>
              <a:rPr lang="en-US" sz="1600" b="1" dirty="0">
                <a:solidFill>
                  <a:srgbClr val="C77700"/>
                </a:solidFill>
                <a:latin typeface="Calibri" pitchFamily="34" charset="0"/>
                <a:cs typeface="Amiri" pitchFamily="2" charset="-78"/>
              </a:rPr>
              <a:t>PATTERN: the country</a:t>
            </a:r>
            <a:endParaRPr lang="en-US" sz="1600" dirty="0"/>
          </a:p>
        </p:txBody>
      </p:sp>
      <p:sp>
        <p:nvSpPr>
          <p:cNvPr id="27" name="Text 24"/>
          <p:cNvSpPr txBox="1"/>
          <p:nvPr/>
        </p:nvSpPr>
        <p:spPr>
          <a:xfrm>
            <a:off x="4459224" y="5440680"/>
            <a:ext cx="3270504" cy="658368"/>
          </a:xfrm>
          <a:prstGeom prst="rect">
            <a:avLst/>
          </a:prstGeom>
          <a:noFill/>
          <a:ln/>
        </p:spPr>
        <p:txBody>
          <a:bodyPr wrap="square" lIns="0" tIns="0" rIns="0" bIns="0" rtlCol="0" anchor="t"/>
          <a:lstStyle/>
          <a:p>
            <a:pPr algn="l" indent="0" marL="0">
              <a:buNone/>
            </a:pPr>
            <a:r>
              <a:rPr lang="ar-SA" altLang="en-US" sz="1500" dirty="0">
                <a:solidFill>
                  <a:srgbClr val="5A6472"/>
                </a:solidFill>
                <a:latin typeface="Amiri" pitchFamily="2" charset="-78"/>
                <a:cs typeface="Amiri" pitchFamily="2" charset="-78"/>
              </a:rPr>
              <a:t>مِصْرُ</a:t>
            </a:r>
            <a:pPr algn="l" indent="0" marL="0">
              <a:buNone/>
            </a:pPr>
            <a:r>
              <a:rPr lang="en-US" sz="1150" dirty="0">
                <a:solidFill>
                  <a:srgbClr val="5A6472"/>
                </a:solidFill>
                <a:latin typeface="Calibri" pitchFamily="34" charset="0"/>
                <a:cs typeface="Amiri" pitchFamily="2" charset="-78"/>
              </a:rPr>
              <a:t> → </a:t>
            </a:r>
            <a:pPr algn="l" indent="0" marL="0">
              <a:buNone/>
            </a:pPr>
            <a:r>
              <a:rPr lang="ar-SA" altLang="en-US" sz="1500" dirty="0">
                <a:solidFill>
                  <a:srgbClr val="5A6472"/>
                </a:solidFill>
                <a:latin typeface="Amiri" pitchFamily="2" charset="-78"/>
                <a:cs typeface="Amiri" pitchFamily="2" charset="-78"/>
              </a:rPr>
              <a:t>مِصْرِ</a:t>
            </a:r>
            <a:pPr algn="l" indent="0" marL="0">
              <a:buNone/>
            </a:pPr>
            <a:r>
              <a:rPr lang="en-US" sz="1150" dirty="0">
                <a:solidFill>
                  <a:srgbClr val="5A6472"/>
                </a:solidFill>
                <a:latin typeface="Calibri" pitchFamily="34" charset="0"/>
                <a:cs typeface="Amiri" pitchFamily="2" charset="-78"/>
              </a:rPr>
              <a:t>… (drop </a:t>
            </a:r>
            <a:pPr algn="l" indent="0" marL="0">
              <a:buNone/>
            </a:pPr>
            <a:r>
              <a:rPr lang="ar-SA" altLang="en-US" sz="1500" dirty="0">
                <a:solidFill>
                  <a:srgbClr val="5A6472"/>
                </a:solidFill>
                <a:latin typeface="Amiri" pitchFamily="2" charset="-78"/>
                <a:cs typeface="Amiri" pitchFamily="2" charset="-78"/>
              </a:rPr>
              <a:t>ال</a:t>
            </a:r>
            <a:pPr algn="l" indent="0" marL="0">
              <a:buNone/>
            </a:pPr>
            <a:r>
              <a:rPr lang="en-US" sz="1150" dirty="0">
                <a:solidFill>
                  <a:srgbClr val="5A6472"/>
                </a:solidFill>
                <a:latin typeface="Calibri" pitchFamily="34" charset="0"/>
                <a:cs typeface="Amiri" pitchFamily="2" charset="-78"/>
              </a:rPr>
              <a:t> if there is one).</a:t>
            </a:r>
            <a:endParaRPr lang="en-US" sz="1150" dirty="0"/>
          </a:p>
        </p:txBody>
      </p:sp>
      <p:sp>
        <p:nvSpPr>
          <p:cNvPr id="28" name="Shape 25"/>
          <p:cNvSpPr/>
          <p:nvPr/>
        </p:nvSpPr>
        <p:spPr>
          <a:xfrm>
            <a:off x="457200" y="4370832"/>
            <a:ext cx="3636264" cy="1783080"/>
          </a:xfrm>
          <a:prstGeom prst="roundRect">
            <a:avLst>
              <a:gd name="adj" fmla="val 4103"/>
            </a:avLst>
          </a:prstGeom>
          <a:solidFill>
            <a:srgbClr val="FFFFFF"/>
          </a:solidFill>
          <a:ln w="19050">
            <a:solidFill>
              <a:srgbClr val="D6336C"/>
            </a:solidFill>
            <a:prstDash val="solid"/>
          </a:ln>
          <a:effectLst>
            <a:outerShdw sx="100000" sy="100000" kx="0" ky="0" algn="bl" rotWithShape="0" blurRad="50800" dist="19050" dir="5400000">
              <a:srgbClr val="000000">
                <a:alpha val="10000"/>
              </a:srgbClr>
            </a:outerShdw>
          </a:effectLst>
        </p:spPr>
      </p:sp>
      <p:sp>
        <p:nvSpPr>
          <p:cNvPr id="29" name="Text 26"/>
          <p:cNvSpPr txBox="1"/>
          <p:nvPr/>
        </p:nvSpPr>
        <p:spPr>
          <a:xfrm>
            <a:off x="640080"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3</a:t>
            </a:r>
            <a:endParaRPr lang="en-US" sz="3000" dirty="0"/>
          </a:p>
        </p:txBody>
      </p:sp>
      <p:sp>
        <p:nvSpPr>
          <p:cNvPr id="30" name="Text 27"/>
          <p:cNvSpPr txBox="1"/>
          <p:nvPr/>
        </p:nvSpPr>
        <p:spPr>
          <a:xfrm>
            <a:off x="1188720"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D6336C"/>
                </a:solidFill>
                <a:latin typeface="Amiri" pitchFamily="2" charset="-78"/>
                <a:cs typeface="Amiri" pitchFamily="2" charset="-78"/>
              </a:rPr>
              <a:t>ـِيٌّ / ـِيَّةٌ</a:t>
            </a:r>
            <a:endParaRPr lang="ar-SA" sz="3400" dirty="0"/>
          </a:p>
        </p:txBody>
      </p:sp>
      <p:sp>
        <p:nvSpPr>
          <p:cNvPr id="31" name="Text 28"/>
          <p:cNvSpPr txBox="1"/>
          <p:nvPr/>
        </p:nvSpPr>
        <p:spPr>
          <a:xfrm>
            <a:off x="640080" y="5120640"/>
            <a:ext cx="3270504" cy="310896"/>
          </a:xfrm>
          <a:prstGeom prst="rect">
            <a:avLst/>
          </a:prstGeom>
          <a:noFill/>
          <a:ln/>
        </p:spPr>
        <p:txBody>
          <a:bodyPr wrap="square" lIns="0" tIns="0" rIns="0" bIns="0" rtlCol="0" anchor="ctr"/>
          <a:lstStyle/>
          <a:p>
            <a:pPr algn="l" indent="0" marL="0">
              <a:buNone/>
            </a:pPr>
            <a:r>
              <a:rPr lang="en-US" sz="1600" b="1" dirty="0">
                <a:solidFill>
                  <a:srgbClr val="D6336C"/>
                </a:solidFill>
                <a:latin typeface="Calibri" pitchFamily="34" charset="0"/>
                <a:cs typeface="Amiri" pitchFamily="2" charset="-78"/>
              </a:rPr>
              <a:t>ENDING: m. / f.</a:t>
            </a:r>
            <a:endParaRPr lang="en-US" sz="1600" dirty="0"/>
          </a:p>
        </p:txBody>
      </p:sp>
      <p:sp>
        <p:nvSpPr>
          <p:cNvPr id="32" name="Text 29"/>
          <p:cNvSpPr txBox="1"/>
          <p:nvPr/>
        </p:nvSpPr>
        <p:spPr>
          <a:xfrm>
            <a:off x="640080"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cs typeface="Amiri" pitchFamily="2" charset="-78"/>
              </a:rPr>
              <a:t>-iyy for a boy · -iyya for a girl.</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ORIGIN, NATIONALITY OR LANGUAGE?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Three identity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مِنْ أَيْنَ؟ · الجِنْسِيَّةُ · اللُّغَةُ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90104" y="1810512"/>
            <a:ext cx="3968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boy</a:t>
            </a:r>
            <a:endParaRPr lang="en-US" sz="1100" dirty="0"/>
          </a:p>
        </p:txBody>
      </p:sp>
      <p:sp>
        <p:nvSpPr>
          <p:cNvPr id="17" name="Text 14"/>
          <p:cNvSpPr txBox="1"/>
          <p:nvPr/>
        </p:nvSpPr>
        <p:spPr>
          <a:xfrm>
            <a:off x="34564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girl</a:t>
            </a:r>
            <a:endParaRPr lang="en-US" sz="1100" dirty="0"/>
          </a:p>
        </p:txBody>
      </p:sp>
      <p:sp>
        <p:nvSpPr>
          <p:cNvPr id="18" name="Text 15"/>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it tells you</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708392" y="2286000"/>
            <a:ext cx="3931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أَنَا </a:t>
            </a:r>
            <a:pPr rtl="1" algn="ctr" indent="0" marL="0">
              <a:buNone/>
            </a:pPr>
            <a:r>
              <a:rPr lang="ar-SA" altLang="en-US" sz="2100" b="1" dirty="0">
                <a:solidFill>
                  <a:srgbClr val="0E7C86"/>
                </a:solidFill>
                <a:latin typeface="Amiri" pitchFamily="2" charset="-78"/>
                <a:cs typeface="Amiri" pitchFamily="2" charset="-78"/>
              </a:rPr>
              <a:t>مِنْ</a:t>
            </a:r>
            <a:pPr rtl="1" algn="ctr" indent="0" marL="0">
              <a:buNone/>
            </a:pPr>
            <a:r>
              <a:rPr lang="ar-SA" altLang="en-US" sz="2100" b="1" dirty="0">
                <a:solidFill>
                  <a:srgbClr val="1B3B6F"/>
                </a:solidFill>
                <a:latin typeface="Amiri" pitchFamily="2" charset="-78"/>
                <a:cs typeface="Amiri" pitchFamily="2" charset="-78"/>
              </a:rPr>
              <a:t> لُبْنَانَ.</a:t>
            </a:r>
            <a:endParaRPr lang="ar-SA" sz="2100" dirty="0"/>
          </a:p>
        </p:txBody>
      </p:sp>
      <p:sp>
        <p:nvSpPr>
          <p:cNvPr id="21" name="Text 18"/>
          <p:cNvSpPr txBox="1"/>
          <p:nvPr/>
        </p:nvSpPr>
        <p:spPr>
          <a:xfrm>
            <a:off x="7662672" y="2706624"/>
            <a:ext cx="4023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from Lebanon.</a:t>
            </a:r>
            <a:endParaRPr lang="en-US" sz="950" dirty="0"/>
          </a:p>
        </p:txBody>
      </p:sp>
      <p:sp>
        <p:nvSpPr>
          <p:cNvPr id="22" name="Text 19"/>
          <p:cNvSpPr txBox="1"/>
          <p:nvPr/>
        </p:nvSpPr>
        <p:spPr>
          <a:xfrm>
            <a:off x="3474720" y="2286000"/>
            <a:ext cx="405079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أَنَا </a:t>
            </a:r>
            <a:pPr rtl="1" algn="ctr" indent="0" marL="0">
              <a:buNone/>
            </a:pPr>
            <a:r>
              <a:rPr lang="ar-SA" altLang="en-US" sz="2100" b="1" dirty="0">
                <a:solidFill>
                  <a:srgbClr val="0E7C86"/>
                </a:solidFill>
                <a:latin typeface="Amiri" pitchFamily="2" charset="-78"/>
                <a:cs typeface="Amiri" pitchFamily="2" charset="-78"/>
              </a:rPr>
              <a:t>مِنْ</a:t>
            </a:r>
            <a:pPr rtl="1" algn="ctr" indent="0" marL="0">
              <a:buNone/>
            </a:pPr>
            <a:r>
              <a:rPr lang="ar-SA" altLang="en-US" sz="2100" b="1" dirty="0">
                <a:solidFill>
                  <a:srgbClr val="1B3B6F"/>
                </a:solidFill>
                <a:latin typeface="Amiri" pitchFamily="2" charset="-78"/>
                <a:cs typeface="Amiri" pitchFamily="2" charset="-78"/>
              </a:rPr>
              <a:t> لُبْنَانَ.</a:t>
            </a:r>
            <a:endParaRPr lang="ar-SA" sz="2100" dirty="0"/>
          </a:p>
        </p:txBody>
      </p:sp>
      <p:sp>
        <p:nvSpPr>
          <p:cNvPr id="23" name="Text 20"/>
          <p:cNvSpPr txBox="1"/>
          <p:nvPr/>
        </p:nvSpPr>
        <p:spPr>
          <a:xfrm>
            <a:off x="3429000" y="2706624"/>
            <a:ext cx="41422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from Lebanon.</a:t>
            </a:r>
            <a:endParaRPr lang="en-US" sz="950" dirty="0"/>
          </a:p>
        </p:txBody>
      </p:sp>
      <p:sp>
        <p:nvSpPr>
          <p:cNvPr id="24" name="Text 21"/>
          <p:cNvSpPr txBox="1"/>
          <p:nvPr/>
        </p:nvSpPr>
        <p:spPr>
          <a:xfrm>
            <a:off x="566928"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ORIGIN: </a:t>
            </a:r>
            <a:pPr algn="l" indent="0" marL="0">
              <a:buNone/>
            </a:pPr>
            <a:r>
              <a:rPr lang="ar-SA" altLang="en-US" sz="1450" dirty="0">
                <a:solidFill>
                  <a:srgbClr val="5A6472"/>
                </a:solidFill>
                <a:latin typeface="Amiri" pitchFamily="2" charset="-78"/>
                <a:cs typeface="Amiri" pitchFamily="2" charset="-78"/>
              </a:rPr>
              <a:t>مِنْ</a:t>
            </a:r>
            <a:pPr algn="l" indent="0" marL="0">
              <a:buNone/>
            </a:pPr>
            <a:r>
              <a:rPr lang="en-US" sz="1100" dirty="0">
                <a:solidFill>
                  <a:srgbClr val="5A6472"/>
                </a:solidFill>
                <a:latin typeface="Calibri" pitchFamily="34" charset="0"/>
                <a:cs typeface="Amiri" pitchFamily="2" charset="-78"/>
              </a:rPr>
              <a:t> + country (same for both)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7708392" y="3072384"/>
            <a:ext cx="3931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أَنَا لُبْنَانِ</a:t>
            </a:r>
            <a:pPr rtl="1" algn="ctr" indent="0" marL="0">
              <a:buNone/>
            </a:pPr>
            <a:r>
              <a:rPr lang="ar-SA" altLang="en-US" sz="2100" b="1" dirty="0">
                <a:solidFill>
                  <a:srgbClr val="D6336C"/>
                </a:solidFill>
                <a:latin typeface="Amiri" pitchFamily="2" charset="-78"/>
                <a:cs typeface="Amiri" pitchFamily="2" charset="-78"/>
              </a:rPr>
              <a:t>يٌّ</a:t>
            </a:r>
            <a:pPr rtl="1" algn="ctr" indent="0" marL="0">
              <a:buNone/>
            </a:pPr>
            <a:r>
              <a:rPr lang="ar-SA" altLang="en-US" sz="2100" b="1" dirty="0">
                <a:solidFill>
                  <a:srgbClr val="1B3B6F"/>
                </a:solidFill>
                <a:latin typeface="Amiri" pitchFamily="2" charset="-78"/>
                <a:cs typeface="Amiri" pitchFamily="2" charset="-78"/>
              </a:rPr>
              <a:t>.</a:t>
            </a:r>
            <a:endParaRPr lang="ar-SA" sz="2100" dirty="0"/>
          </a:p>
        </p:txBody>
      </p:sp>
      <p:sp>
        <p:nvSpPr>
          <p:cNvPr id="29" name="Text 26"/>
          <p:cNvSpPr txBox="1"/>
          <p:nvPr/>
        </p:nvSpPr>
        <p:spPr>
          <a:xfrm>
            <a:off x="7662672" y="3493008"/>
            <a:ext cx="4023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Lebanese.</a:t>
            </a:r>
            <a:endParaRPr lang="en-US" sz="950" dirty="0"/>
          </a:p>
        </p:txBody>
      </p:sp>
      <p:sp>
        <p:nvSpPr>
          <p:cNvPr id="30" name="Text 27"/>
          <p:cNvSpPr txBox="1"/>
          <p:nvPr/>
        </p:nvSpPr>
        <p:spPr>
          <a:xfrm>
            <a:off x="3474720" y="3072384"/>
            <a:ext cx="405079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أَنَا لُبْنَانِ</a:t>
            </a:r>
            <a:pPr rtl="1" algn="ctr" indent="0" marL="0">
              <a:buNone/>
            </a:pPr>
            <a:r>
              <a:rPr lang="ar-SA" altLang="en-US" sz="2100" b="1" dirty="0">
                <a:solidFill>
                  <a:srgbClr val="D6336C"/>
                </a:solidFill>
                <a:latin typeface="Amiri" pitchFamily="2" charset="-78"/>
                <a:cs typeface="Amiri" pitchFamily="2" charset="-78"/>
              </a:rPr>
              <a:t>يَّةٌ</a:t>
            </a:r>
            <a:pPr rtl="1" algn="ctr" indent="0" marL="0">
              <a:buNone/>
            </a:pPr>
            <a:r>
              <a:rPr lang="ar-SA" altLang="en-US" sz="2100" b="1" dirty="0">
                <a:solidFill>
                  <a:srgbClr val="1B3B6F"/>
                </a:solidFill>
                <a:latin typeface="Amiri" pitchFamily="2" charset="-78"/>
                <a:cs typeface="Amiri" pitchFamily="2" charset="-78"/>
              </a:rPr>
              <a:t>.</a:t>
            </a:r>
            <a:endParaRPr lang="ar-SA" sz="2100" dirty="0"/>
          </a:p>
        </p:txBody>
      </p:sp>
      <p:sp>
        <p:nvSpPr>
          <p:cNvPr id="31" name="Text 28"/>
          <p:cNvSpPr txBox="1"/>
          <p:nvPr/>
        </p:nvSpPr>
        <p:spPr>
          <a:xfrm>
            <a:off x="3429000" y="3493008"/>
            <a:ext cx="41422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Lebanese.</a:t>
            </a:r>
            <a:endParaRPr lang="en-US" sz="950" dirty="0"/>
          </a:p>
        </p:txBody>
      </p:sp>
      <p:sp>
        <p:nvSpPr>
          <p:cNvPr id="32" name="Text 29"/>
          <p:cNvSpPr txBox="1"/>
          <p:nvPr/>
        </p:nvSpPr>
        <p:spPr>
          <a:xfrm>
            <a:off x="566928"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NATIONALITY: the ending changes</a:t>
            </a:r>
            <a:endParaRPr lang="en-US" sz="1100" dirty="0"/>
          </a:p>
        </p:txBody>
      </p:sp>
      <p:sp>
        <p:nvSpPr>
          <p:cNvPr id="33" name="Shape 30"/>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6" name="Text 33"/>
          <p:cNvSpPr txBox="1"/>
          <p:nvPr/>
        </p:nvSpPr>
        <p:spPr>
          <a:xfrm>
            <a:off x="7708392" y="3858768"/>
            <a:ext cx="393192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cs typeface="Amiri" pitchFamily="2" charset="-78"/>
              </a:rPr>
              <a:t>أَ</a:t>
            </a:r>
            <a:pPr rtl="1" algn="ctr" indent="0" marL="0">
              <a:buNone/>
            </a:pPr>
            <a:r>
              <a:rPr lang="ar-SA" altLang="en-US" sz="2100" b="1" dirty="0">
                <a:solidFill>
                  <a:srgbClr val="1B3B6F"/>
                </a:solidFill>
                <a:latin typeface="Amiri" pitchFamily="2" charset="-78"/>
                <a:cs typeface="Amiri" pitchFamily="2" charset="-78"/>
              </a:rPr>
              <a:t>تَكَلَّمُ العَرَبِيَّةَ.</a:t>
            </a:r>
            <a:endParaRPr lang="ar-SA" sz="2100" dirty="0"/>
          </a:p>
        </p:txBody>
      </p:sp>
      <p:sp>
        <p:nvSpPr>
          <p:cNvPr id="37" name="Text 34"/>
          <p:cNvSpPr txBox="1"/>
          <p:nvPr/>
        </p:nvSpPr>
        <p:spPr>
          <a:xfrm>
            <a:off x="7662672" y="4279392"/>
            <a:ext cx="4023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speak Arabic.</a:t>
            </a:r>
            <a:endParaRPr lang="en-US" sz="950" dirty="0"/>
          </a:p>
        </p:txBody>
      </p:sp>
      <p:sp>
        <p:nvSpPr>
          <p:cNvPr id="38" name="Text 35"/>
          <p:cNvSpPr txBox="1"/>
          <p:nvPr/>
        </p:nvSpPr>
        <p:spPr>
          <a:xfrm>
            <a:off x="3474720" y="3858768"/>
            <a:ext cx="4050792"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cs typeface="Amiri" pitchFamily="2" charset="-78"/>
              </a:rPr>
              <a:t>أَ</a:t>
            </a:r>
            <a:pPr rtl="1" algn="ctr" indent="0" marL="0">
              <a:buNone/>
            </a:pPr>
            <a:r>
              <a:rPr lang="ar-SA" altLang="en-US" sz="2100" b="1" dirty="0">
                <a:solidFill>
                  <a:srgbClr val="1B3B6F"/>
                </a:solidFill>
                <a:latin typeface="Amiri" pitchFamily="2" charset="-78"/>
                <a:cs typeface="Amiri" pitchFamily="2" charset="-78"/>
              </a:rPr>
              <a:t>تَكَلَّمُ العَرَبِيَّةَ.</a:t>
            </a:r>
            <a:endParaRPr lang="ar-SA" sz="2100" dirty="0"/>
          </a:p>
        </p:txBody>
      </p:sp>
      <p:sp>
        <p:nvSpPr>
          <p:cNvPr id="39" name="Text 36"/>
          <p:cNvSpPr txBox="1"/>
          <p:nvPr/>
        </p:nvSpPr>
        <p:spPr>
          <a:xfrm>
            <a:off x="3429000" y="4279392"/>
            <a:ext cx="41422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speak Arabic.</a:t>
            </a:r>
            <a:endParaRPr lang="en-US" sz="950" dirty="0"/>
          </a:p>
        </p:txBody>
      </p:sp>
      <p:sp>
        <p:nvSpPr>
          <p:cNvPr id="40" name="Text 37"/>
          <p:cNvSpPr txBox="1"/>
          <p:nvPr/>
        </p:nvSpPr>
        <p:spPr>
          <a:xfrm>
            <a:off x="566928"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LANGUAGE: the same for both</a:t>
            </a:r>
            <a:endParaRPr lang="en-US" sz="110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7708392" y="4645152"/>
            <a:ext cx="3931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أَكْتُبُ </a:t>
            </a:r>
            <a:pPr rtl="1" algn="ctr" indent="0" marL="0">
              <a:buNone/>
            </a:pPr>
            <a:r>
              <a:rPr lang="ar-SA" altLang="en-US" sz="2100" b="1" dirty="0">
                <a:solidFill>
                  <a:srgbClr val="0E7C86"/>
                </a:solidFill>
                <a:latin typeface="Amiri" pitchFamily="2" charset="-78"/>
                <a:cs typeface="Amiri" pitchFamily="2" charset="-78"/>
              </a:rPr>
              <a:t>بِ</a:t>
            </a:r>
            <a:pPr rtl="1" algn="ctr" indent="0" marL="0">
              <a:buNone/>
            </a:pPr>
            <a:r>
              <a:rPr lang="ar-SA" altLang="en-US" sz="2100" b="1" dirty="0">
                <a:solidFill>
                  <a:srgbClr val="1B3B6F"/>
                </a:solidFill>
                <a:latin typeface="Amiri" pitchFamily="2" charset="-78"/>
                <a:cs typeface="Amiri" pitchFamily="2" charset="-78"/>
              </a:rPr>
              <a:t>الإِنْجِلِيزِيَّةِ.</a:t>
            </a:r>
            <a:endParaRPr lang="ar-SA" sz="2100" dirty="0"/>
          </a:p>
        </p:txBody>
      </p:sp>
      <p:sp>
        <p:nvSpPr>
          <p:cNvPr id="43" name="Text 40"/>
          <p:cNvSpPr txBox="1"/>
          <p:nvPr/>
        </p:nvSpPr>
        <p:spPr>
          <a:xfrm>
            <a:off x="7662672" y="5065776"/>
            <a:ext cx="4023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write in English.</a:t>
            </a:r>
            <a:endParaRPr lang="en-US" sz="950" dirty="0"/>
          </a:p>
        </p:txBody>
      </p:sp>
      <p:sp>
        <p:nvSpPr>
          <p:cNvPr id="44" name="Text 41"/>
          <p:cNvSpPr txBox="1"/>
          <p:nvPr/>
        </p:nvSpPr>
        <p:spPr>
          <a:xfrm>
            <a:off x="3474720" y="4645152"/>
            <a:ext cx="405079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أَكْتُبُ </a:t>
            </a:r>
            <a:pPr rtl="1" algn="ctr" indent="0" marL="0">
              <a:buNone/>
            </a:pPr>
            <a:r>
              <a:rPr lang="ar-SA" altLang="en-US" sz="2100" b="1" dirty="0">
                <a:solidFill>
                  <a:srgbClr val="0E7C86"/>
                </a:solidFill>
                <a:latin typeface="Amiri" pitchFamily="2" charset="-78"/>
                <a:cs typeface="Amiri" pitchFamily="2" charset="-78"/>
              </a:rPr>
              <a:t>بِ</a:t>
            </a:r>
            <a:pPr rtl="1" algn="ctr" indent="0" marL="0">
              <a:buNone/>
            </a:pPr>
            <a:r>
              <a:rPr lang="ar-SA" altLang="en-US" sz="2100" b="1" dirty="0">
                <a:solidFill>
                  <a:srgbClr val="1B3B6F"/>
                </a:solidFill>
                <a:latin typeface="Amiri" pitchFamily="2" charset="-78"/>
                <a:cs typeface="Amiri" pitchFamily="2" charset="-78"/>
              </a:rPr>
              <a:t>الإِنْجِلِيزِيَّةِ.</a:t>
            </a:r>
            <a:endParaRPr lang="ar-SA" sz="2100" dirty="0"/>
          </a:p>
        </p:txBody>
      </p:sp>
      <p:sp>
        <p:nvSpPr>
          <p:cNvPr id="45" name="Text 42"/>
          <p:cNvSpPr txBox="1"/>
          <p:nvPr/>
        </p:nvSpPr>
        <p:spPr>
          <a:xfrm>
            <a:off x="3429000" y="5065776"/>
            <a:ext cx="41422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write in English.</a:t>
            </a:r>
            <a:endParaRPr lang="en-US" sz="950" dirty="0"/>
          </a:p>
        </p:txBody>
      </p:sp>
      <p:sp>
        <p:nvSpPr>
          <p:cNvPr id="46" name="Text 43"/>
          <p:cNvSpPr txBox="1"/>
          <p:nvPr/>
        </p:nvSpPr>
        <p:spPr>
          <a:xfrm>
            <a:off x="566928" y="4626864"/>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IN: bi- + the language</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Only the NATIONALITY changes for a boy or a girl.</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boy from Egypt says …</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مِصْرِيَّةٌ.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مِصْرَ.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مِصْرِيٌّ.</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girl from Syria says …</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سُورِيَّةٌ.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سُورِيٌّ.</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سُورِيَا.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‘I speak Arabic’ ?</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أَفْهَمُ العَرَبِيَّةَ.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أَتَكَلَّمُ العَرَبِيَّةَ.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أَكْتُبُ العَرَبِيَّةَ.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question to ask a girl her nationality.</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جِنْسِيَّتُكِ؟</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جِنْسِيَّتُكَ؟</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عُمْرُكِ؟</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boy from Egypt says …</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مِصْرِيَّةٌ.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مِصْرَ.</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أَنَا مِصْرِيٌّ.</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masculine nisba adjective ends in </a:t>
            </a:r>
            <a:pPr algn="l" indent="0" marL="0">
              <a:buNone/>
            </a:pPr>
            <a:r>
              <a:rPr lang="ar-SA" altLang="en-US" sz="1350" dirty="0">
                <a:solidFill>
                  <a:srgbClr val="8A6D1E"/>
                </a:solidFill>
                <a:latin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girl from Syria says …</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أَنَا سُورِيَّةٌ.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سُورِيٌّ.</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سُورِيَا.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nationality ends in </a:t>
            </a:r>
            <a:pPr algn="l" indent="0" marL="0">
              <a:buNone/>
            </a:pPr>
            <a:r>
              <a:rPr lang="ar-SA" altLang="en-US" sz="1350" dirty="0">
                <a:solidFill>
                  <a:srgbClr val="8A6D1E"/>
                </a:solidFill>
                <a:latin typeface="Amiri" pitchFamily="2" charset="-78"/>
                <a:cs typeface="Amiri" pitchFamily="2" charset="-78"/>
              </a:rPr>
              <a:t>ـِيَّةٌ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‘I speak Arabic’ ?</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أَفْهَمُ العَرَبِيَّةَ.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أَتَكَلَّمُ العَرَبِيَّةَ.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أَكْتُبُ العَرَبِيَّةَ.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أَتَكَلَّمُ</a:t>
            </a:r>
            <a:pPr algn="l" indent="0" marL="0">
              <a:buNone/>
            </a:pPr>
            <a:r>
              <a:rPr lang="en-US" sz="1050" i="1" dirty="0">
                <a:solidFill>
                  <a:srgbClr val="8A6D1E"/>
                </a:solidFill>
                <a:latin typeface="Calibri" pitchFamily="34" charset="0"/>
                <a:cs typeface="Amiri" pitchFamily="2" charset="-78"/>
              </a:rPr>
              <a:t> means ‘I speak’.</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question to ask a girl her nationality.</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مَا جِنْسِيَّتُكِ؟</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 جِنْسِيَّتُكَ؟</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عُمْرُكِ؟</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-ki addresses one girl or woman.</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build an identity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Name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اِسْمِي خَالِدٌ.</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the name (F2-L02).</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Origin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أَنَا </a:t>
            </a:r>
            <a:pPr rtl="1" algn="ctr" indent="0" marL="0">
              <a:buNone/>
            </a:pPr>
            <a:r>
              <a:rPr lang="ar-SA" altLang="en-US" sz="2800" b="1" dirty="0">
                <a:solidFill>
                  <a:srgbClr val="0E7C86"/>
                </a:solidFill>
                <a:latin typeface="Amiri" pitchFamily="2" charset="-78"/>
                <a:cs typeface="Amiri" pitchFamily="2" charset="-78"/>
              </a:rPr>
              <a:t>مِنَ</a:t>
            </a:r>
            <a:pPr rtl="1" algn="ctr" indent="0" marL="0">
              <a:buNone/>
            </a:pPr>
            <a:r>
              <a:rPr lang="ar-SA" altLang="en-US" sz="2800" b="1" dirty="0">
                <a:solidFill>
                  <a:srgbClr val="1B3B6F"/>
                </a:solidFill>
                <a:latin typeface="Amiri" pitchFamily="2" charset="-78"/>
                <a:cs typeface="Amiri" pitchFamily="2" charset="-78"/>
              </a:rPr>
              <a:t> العِرَاقِ.</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cs typeface="Amiri" pitchFamily="2" charset="-78"/>
              </a:rPr>
              <a:t>مِنْ</a:t>
            </a:r>
            <a:pPr algn="l" indent="0" marL="0">
              <a:buNone/>
            </a:pPr>
            <a:r>
              <a:rPr lang="en-US" sz="1150" dirty="0">
                <a:solidFill>
                  <a:srgbClr val="1F2A37"/>
                </a:solidFill>
                <a:latin typeface="Calibri" pitchFamily="34" charset="0"/>
                <a:cs typeface="Amiri" pitchFamily="2" charset="-78"/>
              </a:rPr>
              <a:t> + the country. (</a:t>
            </a:r>
            <a:pPr algn="l" indent="0" marL="0">
              <a:buNone/>
            </a:pPr>
            <a:r>
              <a:rPr lang="ar-SA" altLang="en-US" sz="1500" dirty="0">
                <a:solidFill>
                  <a:srgbClr val="1F2A37"/>
                </a:solidFill>
                <a:latin typeface="Amiri" pitchFamily="2" charset="-78"/>
                <a:cs typeface="Amiri" pitchFamily="2" charset="-78"/>
              </a:rPr>
              <a:t>مِنَ</a:t>
            </a:r>
            <a:pPr algn="l" indent="0" marL="0">
              <a:buNone/>
            </a:pPr>
            <a:r>
              <a:rPr lang="en-US" sz="1150" dirty="0">
                <a:solidFill>
                  <a:srgbClr val="1F2A37"/>
                </a:solidFill>
                <a:latin typeface="Calibri" pitchFamily="34" charset="0"/>
                <a:cs typeface="Amiri" pitchFamily="2" charset="-78"/>
              </a:rPr>
              <a:t> before </a:t>
            </a:r>
            <a:pPr algn="l" indent="0" marL="0">
              <a:buNone/>
            </a:pPr>
            <a:r>
              <a:rPr lang="ar-SA" altLang="en-US" sz="1500" dirty="0">
                <a:solidFill>
                  <a:srgbClr val="1F2A37"/>
                </a:solidFill>
                <a:latin typeface="Amiri" pitchFamily="2" charset="-78"/>
                <a:cs typeface="Amiri" pitchFamily="2" charset="-78"/>
              </a:rPr>
              <a:t>ال</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Nationality</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أَنَا عِرَاقِ</a:t>
            </a:r>
            <a:pPr rtl="1" algn="ctr" indent="0" marL="0">
              <a:buNone/>
            </a:pPr>
            <a:r>
              <a:rPr lang="ar-SA" altLang="en-US" sz="2800" b="1" dirty="0">
                <a:solidFill>
                  <a:srgbClr val="D6336C"/>
                </a:solidFill>
                <a:latin typeface="Amiri" pitchFamily="2" charset="-78"/>
                <a:cs typeface="Amiri" pitchFamily="2" charset="-78"/>
              </a:rPr>
              <a:t>يٌّ</a:t>
            </a:r>
            <a:pPr rtl="1" algn="ctr" indent="0" marL="0">
              <a:buNone/>
            </a:pPr>
            <a:r>
              <a:rPr lang="ar-SA" altLang="en-US" sz="2800" b="1" dirty="0">
                <a:solidFill>
                  <a:srgbClr val="1B3B6F"/>
                </a:solidFill>
                <a:latin typeface="Amiri" pitchFamily="2" charset="-78"/>
                <a:cs typeface="Amiri" pitchFamily="2" charset="-78"/>
              </a:rPr>
              <a:t>.</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Khalid is a boy: -iyy.</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Languages</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D5FBF"/>
                </a:solidFill>
                <a:latin typeface="Amiri" pitchFamily="2" charset="-78"/>
                <a:cs typeface="Amiri" pitchFamily="2" charset="-78"/>
              </a:rPr>
              <a:t>أَ</a:t>
            </a:r>
            <a:pPr rtl="1" algn="ctr" indent="0" marL="0">
              <a:lnSpc>
                <a:spcPct val="120000"/>
              </a:lnSpc>
              <a:buNone/>
            </a:pPr>
            <a:r>
              <a:rPr lang="ar-SA" altLang="en-US" sz="1850" b="1" dirty="0">
                <a:solidFill>
                  <a:srgbClr val="1B3B6F"/>
                </a:solidFill>
                <a:latin typeface="Amiri" pitchFamily="2" charset="-78"/>
                <a:cs typeface="Amiri" pitchFamily="2" charset="-78"/>
              </a:rPr>
              <a:t>تَكَلَّمُ العَرَبِيَّةَ </a:t>
            </a:r>
            <a:pPr rtl="1" algn="ctr" indent="0" marL="0">
              <a:lnSpc>
                <a:spcPct val="120000"/>
              </a:lnSpc>
              <a:buNone/>
            </a:pPr>
            <a:r>
              <a:rPr lang="ar-SA" altLang="en-US" sz="1850" b="1" dirty="0">
                <a:solidFill>
                  <a:srgbClr val="0E7C86"/>
                </a:solidFill>
                <a:latin typeface="Amiri" pitchFamily="2" charset="-78"/>
                <a:cs typeface="Amiri" pitchFamily="2" charset="-78"/>
              </a:rPr>
              <a:t>وَ</a:t>
            </a:r>
            <a:pPr rtl="1" algn="ctr" indent="0" marL="0">
              <a:lnSpc>
                <a:spcPct val="120000"/>
              </a:lnSpc>
              <a:buNone/>
            </a:pPr>
            <a:r>
              <a:rPr lang="ar-SA" altLang="en-US" sz="1850" b="1" dirty="0">
                <a:solidFill>
                  <a:srgbClr val="1B3B6F"/>
                </a:solidFill>
                <a:latin typeface="Amiri" pitchFamily="2" charset="-78"/>
                <a:cs typeface="Amiri" pitchFamily="2" charset="-78"/>
              </a:rPr>
              <a:t>الإِنْجِلِيزِيَّةَ.</a:t>
            </a:r>
            <a:endParaRPr lang="ar-SA" sz="18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 speak + language, and </a:t>
            </a:r>
            <a:pPr algn="l" indent="0" marL="0">
              <a:buNone/>
            </a:pPr>
            <a:r>
              <a:rPr lang="ar-SA" altLang="en-US" sz="1500" dirty="0">
                <a:solidFill>
                  <a:srgbClr val="1F2A37"/>
                </a:solidFill>
                <a:latin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joins the second one.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LINK WORD</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ENDING</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I</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مَرْحَبًا. اِسْمِي خَالِدٌ. أَنَا </a:t>
            </a:r>
            <a:pPr rtl="1" algn="r" indent="0" marL="0">
              <a:buNone/>
            </a:pPr>
            <a:r>
              <a:rPr lang="ar-SA" altLang="en-US" sz="2600" b="1" dirty="0">
                <a:solidFill>
                  <a:srgbClr val="0E7C86"/>
                </a:solidFill>
                <a:latin typeface="Amiri" pitchFamily="2" charset="-78"/>
                <a:cs typeface="Amiri" pitchFamily="2" charset="-78"/>
              </a:rPr>
              <a:t>مِنَ</a:t>
            </a:r>
            <a:pPr rtl="1" algn="r" indent="0" marL="0">
              <a:buNone/>
            </a:pPr>
            <a:r>
              <a:rPr lang="ar-SA" altLang="en-US" sz="2600" b="1" dirty="0">
                <a:solidFill>
                  <a:srgbClr val="1B3B6F"/>
                </a:solidFill>
                <a:latin typeface="Amiri" pitchFamily="2" charset="-78"/>
                <a:cs typeface="Amiri" pitchFamily="2" charset="-78"/>
              </a:rPr>
              <a:t> العِرَاقِ. أَنَا عِرَاقِ</a:t>
            </a:r>
            <a:pPr rtl="1" algn="r" indent="0" marL="0">
              <a:buNone/>
            </a:pPr>
            <a:r>
              <a:rPr lang="ar-SA" altLang="en-US" sz="2600" b="1" dirty="0">
                <a:solidFill>
                  <a:srgbClr val="D6336C"/>
                </a:solidFill>
                <a:latin typeface="Amiri" pitchFamily="2" charset="-78"/>
                <a:cs typeface="Amiri" pitchFamily="2" charset="-78"/>
              </a:rPr>
              <a:t>يٌّ</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1D5FBF"/>
                </a:solidFill>
                <a:latin typeface="Amiri" pitchFamily="2" charset="-78"/>
                <a:cs typeface="Amiri" pitchFamily="2" charset="-78"/>
              </a:rPr>
              <a:t>أَ</a:t>
            </a:r>
            <a:pPr rtl="1" algn="r" indent="0" marL="0">
              <a:buNone/>
            </a:pPr>
            <a:r>
              <a:rPr lang="ar-SA" altLang="en-US" sz="2600" b="1" dirty="0">
                <a:solidFill>
                  <a:srgbClr val="1B3B6F"/>
                </a:solidFill>
                <a:latin typeface="Amiri" pitchFamily="2" charset="-78"/>
                <a:cs typeface="Amiri" pitchFamily="2" charset="-78"/>
              </a:rPr>
              <a:t>تَكَلَّمُ العَرَبِيَّةَ </a:t>
            </a:r>
            <a:pPr rtl="1" algn="r" indent="0" marL="0">
              <a:buNone/>
            </a:pPr>
            <a:r>
              <a:rPr lang="ar-SA" altLang="en-US" sz="2600" b="1" dirty="0">
                <a:solidFill>
                  <a:srgbClr val="0E7C86"/>
                </a:solidFill>
                <a:latin typeface="Amiri" pitchFamily="2" charset="-78"/>
                <a:cs typeface="Amiri" pitchFamily="2" charset="-78"/>
              </a:rPr>
              <a:t>وَ</a:t>
            </a:r>
            <a:pPr rtl="1" algn="r" indent="0" marL="0">
              <a:buNone/>
            </a:pPr>
            <a:r>
              <a:rPr lang="ar-SA" altLang="en-US" sz="2600" b="1" dirty="0">
                <a:solidFill>
                  <a:srgbClr val="1B3B6F"/>
                </a:solidFill>
                <a:latin typeface="Amiri" pitchFamily="2" charset="-78"/>
                <a:cs typeface="Amiri" pitchFamily="2" charset="-78"/>
              </a:rPr>
              <a:t>الإِنْجِلِيزِيَّةَ.</a:t>
            </a:r>
            <a:endParaRPr lang="ar-SA" sz="26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Hello. My name is Khalid. I am from Iraq. I am Iraqi. I speak Arabic and English.</a:t>
            </a:r>
            <a:endParaRPr lang="en-US" sz="13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03" b="1" spc="150" kern="0" dirty="0">
                <a:solidFill>
                  <a:srgbClr val="2F6FB0"/>
                </a:solidFill>
                <a:latin typeface="Calibri" pitchFamily="34" charset="0"/>
                <a:cs typeface="Amiri" pitchFamily="2" charset="-78"/>
              </a:rPr>
              <a:t>WE DO · PICTURE MATCH · WEBSITE GAME “VISUAL GAME — NATIONALITY AND LANGUAGE”</a:t>
            </a:r>
            <a:endParaRPr lang="en-US" sz="90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الدُّوَلُ وَاللُّغَاتُ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boy · Egypt</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girl · Saudi Arabia</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girl · speaks French</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هِيَ سَعُودِيَّةٌ.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هِيَ تَتَكَلَّمُ الفَرَنْسِيَّةَ.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هُوَ مِصْرِيٌّ.</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الدُّوَلُ وَاللُّغَاتُ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boy · Egypt</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هُوَ مِصْرِيٌّ.</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He is Egyptian.</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girl · Saudi Arabia</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هِيَ سَعُودِيَّةٌ.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She is Saudi.</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girl · speaks French</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هِيَ تَتَكَلَّمُ الفَرَنْسِيَّةَ.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She speaks French.</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DECISION CHECK (CONTINUED) AND CHECKPOINT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Choose the accurate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الشَّكْلَ الصَّحِيحَ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أَنَا مِنَ العِرَاقِ. أَنَا …</a:t>
            </a:r>
            <a:endParaRPr lang="ar-SA" sz="155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عِرَاقِيٌّ</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عِرَاقِيَّةٌ</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العِرَاق</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the natural way to say ‘I write in Arabic’ ?</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أَكْتُبُ العَرَبِيَّةَ مِنْ.</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عَرَبِيَّةٌ.</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أَكْتُبُ بِالعَرَبِيَّةِ.</a:t>
            </a:r>
            <a:endParaRPr lang="ar-SA" sz="2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female speaker from Morocco says …</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مَغْرِبِيٌّ.</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مِنْ مَغْرِبِيَّةٍ.</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مَغْرِبِيَّةٌ.</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9" name="Text 56"/>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900" b="1" dirty="0">
                <a:solidFill>
                  <a:srgbClr val="1B3B6F"/>
                </a:solidFill>
                <a:latin typeface="Amiri" pitchFamily="2" charset="-78"/>
                <a:cs typeface="Amiri" pitchFamily="2" charset="-78"/>
              </a:rPr>
              <a:t>أَنَا مِنْ لُبْنَانَ</a:t>
            </a:r>
            <a:pPr algn="l" indent="0" marL="0">
              <a:buNone/>
            </a:pPr>
            <a:r>
              <a:rPr lang="en-US" sz="1450" b="1" dirty="0">
                <a:solidFill>
                  <a:srgbClr val="1B3B6F"/>
                </a:solidFill>
                <a:latin typeface="Calibri" pitchFamily="34" charset="0"/>
                <a:cs typeface="Amiri" pitchFamily="2" charset="-78"/>
              </a:rPr>
              <a:t>. </a:t>
            </a:r>
            <a:pPr algn="l" indent="0" marL="0">
              <a:buNone/>
            </a:pPr>
            <a:r>
              <a:rPr lang="ar-SA" altLang="en-US" sz="1900" b="1" dirty="0">
                <a:solidFill>
                  <a:srgbClr val="1B3B6F"/>
                </a:solidFill>
                <a:latin typeface="Amiri" pitchFamily="2" charset="-78"/>
                <a:cs typeface="Amiri" pitchFamily="2" charset="-78"/>
              </a:rPr>
              <a:t>أَنَا</a:t>
            </a:r>
            <a:pPr algn="l" indent="0" marL="0">
              <a:buNone/>
            </a:pPr>
            <a:r>
              <a:rPr lang="en-US" sz="1450" b="1" dirty="0">
                <a:solidFill>
                  <a:srgbClr val="1B3B6F"/>
                </a:solidFill>
                <a:latin typeface="Calibri" pitchFamily="34" charset="0"/>
                <a:cs typeface="Amiri" pitchFamily="2" charset="-78"/>
              </a:rPr>
              <a:t> … (girl)</a:t>
            </a:r>
            <a:endParaRPr lang="en-US" sz="14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لُبْنَانِيَّةٌ</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لُبْنَانِيٌّ</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لُبْنَانُ</a:t>
            </a:r>
            <a:endParaRPr lang="ar-SA" sz="2050" dirty="0"/>
          </a:p>
        </p:txBody>
      </p:sp>
      <p:sp>
        <p:nvSpPr>
          <p:cNvPr id="69" name="Shape 66"/>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1" name="Text 68"/>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2" name="Text 69"/>
          <p:cNvSpPr txBox="1"/>
          <p:nvPr/>
        </p:nvSpPr>
        <p:spPr>
          <a:xfrm>
            <a:off x="4477512"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Boy → -iyy (</a:t>
            </a:r>
            <a:pPr algn="l" indent="0" marL="0">
              <a:lnSpc>
                <a:spcPct val="115000"/>
              </a:lnSpc>
              <a:buNone/>
            </a:pPr>
            <a:r>
              <a:rPr lang="ar-SA" altLang="en-US" sz="1650" dirty="0">
                <a:solidFill>
                  <a:srgbClr val="1E6B52"/>
                </a:solidFill>
                <a:latin typeface="Amiri" pitchFamily="2" charset="-78"/>
                <a:cs typeface="Amiri" pitchFamily="2" charset="-78"/>
              </a:rPr>
              <a:t>ـِيٌّ</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Girl → -iyya (</a:t>
            </a:r>
            <a:pPr algn="l" indent="0" marL="0">
              <a:lnSpc>
                <a:spcPct val="115000"/>
              </a:lnSpc>
              <a:buNone/>
            </a:pPr>
            <a:r>
              <a:rPr lang="ar-SA" altLang="en-US" sz="1650" dirty="0">
                <a:solidFill>
                  <a:srgbClr val="1E6B52"/>
                </a:solidFill>
                <a:latin typeface="Amiri" pitchFamily="2" charset="-78"/>
                <a:cs typeface="Amiri" pitchFamily="2" charset="-78"/>
              </a:rPr>
              <a:t>ـِيَّةٌ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Write in → bi- (</a:t>
            </a:r>
            <a:pPr algn="l" indent="0" marL="0">
              <a:lnSpc>
                <a:spcPct val="115000"/>
              </a:lnSpc>
              <a:buNone/>
            </a:pPr>
            <a:r>
              <a:rPr lang="ar-SA" altLang="en-US" sz="1650" dirty="0">
                <a:solidFill>
                  <a:srgbClr val="1E6B52"/>
                </a:solidFill>
                <a:latin typeface="Amiri" pitchFamily="2" charset="-78"/>
                <a:cs typeface="Amiri" pitchFamily="2" charset="-78"/>
              </a:rPr>
              <a:t>بِـ</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أَنَا مِنَ العِرَاقِ. أَنَا …</a:t>
            </a:r>
            <a:endParaRPr lang="ar-SA" sz="1550" dirty="0"/>
          </a:p>
        </p:txBody>
      </p:sp>
      <p:sp>
        <p:nvSpPr>
          <p:cNvPr id="20" name="Shape 17"/>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490216"/>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عِرَاقِيٌّ</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عِرَاقِيَّةٌ</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العِرَاق</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 is presented as male, so use </a:t>
            </a:r>
            <a:pPr algn="l" indent="0" marL="0">
              <a:buNone/>
            </a:pPr>
            <a:r>
              <a:rPr lang="ar-SA" altLang="en-US" sz="1350" dirty="0">
                <a:solidFill>
                  <a:srgbClr val="8A6D1E"/>
                </a:solidFill>
                <a:latin typeface="Amiri" pitchFamily="2" charset="-78"/>
                <a:cs typeface="Amiri" pitchFamily="2" charset="-78"/>
              </a:rPr>
              <a:t>عِرَاقِيٌّ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the natural way to say ‘I write in Arabic’ ?</a:t>
            </a:r>
            <a:endParaRPr lang="en-US" sz="1250" dirty="0"/>
          </a:p>
        </p:txBody>
      </p:sp>
      <p:sp>
        <p:nvSpPr>
          <p:cNvPr id="35" name="Shape 32"/>
          <p:cNvSpPr/>
          <p:nvPr/>
        </p:nvSpPr>
        <p:spPr>
          <a:xfrm>
            <a:off x="4459224" y="2490216"/>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أَكْتُبُ العَرَبِيَّةَ مِنْ.</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عَرَبِيَّةٌ.</a:t>
            </a:r>
            <a:endParaRPr lang="ar-SA" sz="1700" dirty="0"/>
          </a:p>
        </p:txBody>
      </p:sp>
      <p:sp>
        <p:nvSpPr>
          <p:cNvPr id="41" name="Shape 38"/>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2" name="Shape 39"/>
          <p:cNvSpPr/>
          <p:nvPr/>
        </p:nvSpPr>
        <p:spPr>
          <a:xfrm>
            <a:off x="4459224" y="3233928"/>
            <a:ext cx="256032" cy="256032"/>
          </a:xfrm>
          <a:prstGeom prst="ellipse">
            <a:avLst/>
          </a:prstGeom>
          <a:solidFill>
            <a:srgbClr val="2E8B57"/>
          </a:solidFill>
          <a:ln w="12700">
            <a:solidFill>
              <a:srgbClr val="2E8B57"/>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أَكْتُبُ بِالعَرَبِيَّةِ.</a:t>
            </a:r>
            <a:endParaRPr lang="ar-SA" sz="170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with the language used for writing.</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female speaker from Morocco says …</a:t>
            </a:r>
            <a:endParaRPr lang="en-US" sz="125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مَغْرِبِيٌّ.</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مِنْ مَغْرِبِيَّةٍ.</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أَنَا مَغْرِبِيَّةٌ.</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nisba form is </a:t>
            </a:r>
            <a:pPr algn="l" indent="0" marL="0">
              <a:buNone/>
            </a:pPr>
            <a:r>
              <a:rPr lang="ar-SA" altLang="en-US" sz="1350" dirty="0">
                <a:solidFill>
                  <a:srgbClr val="8A6D1E"/>
                </a:solidFill>
                <a:latin typeface="Amiri" pitchFamily="2" charset="-78"/>
                <a:cs typeface="Amiri" pitchFamily="2" charset="-78"/>
              </a:rPr>
              <a:t>مَغْرِبِيَّةٌ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5" name="Text 62"/>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900" b="1" dirty="0">
                <a:solidFill>
                  <a:srgbClr val="1B3B6F"/>
                </a:solidFill>
                <a:latin typeface="Amiri" pitchFamily="2" charset="-78"/>
                <a:cs typeface="Amiri" pitchFamily="2" charset="-78"/>
              </a:rPr>
              <a:t>أَنَا مِنْ لُبْنَانَ</a:t>
            </a:r>
            <a:pPr algn="l" indent="0" marL="0">
              <a:buNone/>
            </a:pPr>
            <a:r>
              <a:rPr lang="en-US" sz="1450" b="1" dirty="0">
                <a:solidFill>
                  <a:srgbClr val="1B3B6F"/>
                </a:solidFill>
                <a:latin typeface="Calibri" pitchFamily="34" charset="0"/>
                <a:cs typeface="Amiri" pitchFamily="2" charset="-78"/>
              </a:rPr>
              <a:t>. </a:t>
            </a:r>
            <a:pPr algn="l" indent="0" marL="0">
              <a:buNone/>
            </a:pPr>
            <a:r>
              <a:rPr lang="ar-SA" altLang="en-US" sz="1900" b="1" dirty="0">
                <a:solidFill>
                  <a:srgbClr val="1B3B6F"/>
                </a:solidFill>
                <a:latin typeface="Amiri" pitchFamily="2" charset="-78"/>
                <a:cs typeface="Amiri" pitchFamily="2" charset="-78"/>
              </a:rPr>
              <a:t>أَنَا</a:t>
            </a:r>
            <a:pPr algn="l" indent="0" marL="0">
              <a:buNone/>
            </a:pPr>
            <a:r>
              <a:rPr lang="en-US" sz="1450" b="1" dirty="0">
                <a:solidFill>
                  <a:srgbClr val="1B3B6F"/>
                </a:solidFill>
                <a:latin typeface="Calibri" pitchFamily="34" charset="0"/>
                <a:cs typeface="Amiri" pitchFamily="2" charset="-78"/>
              </a:rPr>
              <a:t> … (girl)</a:t>
            </a:r>
            <a:endParaRPr lang="en-US" sz="1450" dirty="0"/>
          </a:p>
        </p:txBody>
      </p:sp>
      <p:sp>
        <p:nvSpPr>
          <p:cNvPr id="66" name="Shape 63"/>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40080"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لُبْنَانِيَّةٌ</a:t>
            </a:r>
            <a:endParaRPr lang="ar-SA" sz="1700" dirty="0"/>
          </a:p>
        </p:txBody>
      </p:sp>
      <p:sp>
        <p:nvSpPr>
          <p:cNvPr id="70"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لُبْنَانِيٌّ</a:t>
            </a:r>
            <a:endParaRPr lang="ar-SA" sz="170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لُبْنَانُ</a:t>
            </a:r>
            <a:endParaRPr lang="ar-SA" sz="17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the feminine nationality form </a:t>
            </a:r>
            <a:pPr algn="l" indent="0" marL="0">
              <a:buNone/>
            </a:pPr>
            <a:r>
              <a:rPr lang="ar-SA" altLang="en-US" sz="1350" dirty="0">
                <a:solidFill>
                  <a:srgbClr val="8A6D1E"/>
                </a:solidFill>
                <a:latin typeface="Amiri" pitchFamily="2" charset="-78"/>
                <a:cs typeface="Amiri" pitchFamily="2" charset="-78"/>
              </a:rPr>
              <a:t>لُبْنَانِيَّةٌ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Shape 7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9" name="Text 7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0" name="Text 77"/>
          <p:cNvSpPr txBox="1"/>
          <p:nvPr/>
        </p:nvSpPr>
        <p:spPr>
          <a:xfrm>
            <a:off x="4477512"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Boy → -iyy (</a:t>
            </a:r>
            <a:pPr algn="l" indent="0" marL="0">
              <a:lnSpc>
                <a:spcPct val="115000"/>
              </a:lnSpc>
              <a:buNone/>
            </a:pPr>
            <a:r>
              <a:rPr lang="ar-SA" altLang="en-US" sz="1650" dirty="0">
                <a:solidFill>
                  <a:srgbClr val="1E6B52"/>
                </a:solidFill>
                <a:latin typeface="Amiri" pitchFamily="2" charset="-78"/>
                <a:cs typeface="Amiri" pitchFamily="2" charset="-78"/>
              </a:rPr>
              <a:t>ـِيٌّ</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Girl → -iyya (</a:t>
            </a:r>
            <a:pPr algn="l" indent="0" marL="0">
              <a:lnSpc>
                <a:spcPct val="115000"/>
              </a:lnSpc>
              <a:buNone/>
            </a:pPr>
            <a:r>
              <a:rPr lang="ar-SA" altLang="en-US" sz="1650" dirty="0">
                <a:solidFill>
                  <a:srgbClr val="1E6B52"/>
                </a:solidFill>
                <a:latin typeface="Amiri" pitchFamily="2" charset="-78"/>
                <a:cs typeface="Amiri" pitchFamily="2" charset="-78"/>
              </a:rPr>
              <a:t>ـِيَّةٌ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Write in → bi- (</a:t>
            </a:r>
            <a:pPr algn="l" indent="0" marL="0">
              <a:lnSpc>
                <a:spcPct val="115000"/>
              </a:lnSpc>
              <a:buNone/>
            </a:pPr>
            <a:r>
              <a:rPr lang="ar-SA" altLang="en-US" sz="1650" dirty="0">
                <a:solidFill>
                  <a:srgbClr val="1E6B52"/>
                </a:solidFill>
                <a:latin typeface="Amiri" pitchFamily="2" charset="-78"/>
                <a:cs typeface="Amiri" pitchFamily="2" charset="-78"/>
              </a:rPr>
              <a:t>بِـ</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زَيْنَب: أَنَا سُورِيٌّ.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Zaynab is a girl. Check the ending.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أَنَا مِصْرَ.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country needs a little word before it.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أَكْتُبُ العَرَبِيَّةَ مِنْ.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How do you say “write IN a language”?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زَيْنَب: أَنَا سُورِيٌّ.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زَيْنَب: أَنَا سُورِيَّةٌ.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Zaynab is a girl: the feminine ending -iyya.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أَنَا مِصْرَ.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أَنَا مِنْ مِصْرَ. / أَنَا مِصْرِيٌّ.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t>
            </a:r>
            <a:pPr algn="l" indent="0" marL="0">
              <a:buNone/>
            </a:pPr>
            <a:r>
              <a:rPr lang="ar-SA" altLang="en-US" sz="1500" b="1" dirty="0">
                <a:solidFill>
                  <a:srgbClr val="1B3B6F"/>
                </a:solidFill>
                <a:latin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 + country, or the nationality word.</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أَكْتُبُ العَرَبِيَّةَ مِنْ.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أَكْتُبُ بِالعَرَبِيَّةِ.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 write IN a language: </a:t>
            </a:r>
            <a:pPr algn="l" indent="0" marL="0">
              <a:buNone/>
            </a:pPr>
            <a:r>
              <a:rPr lang="ar-SA" altLang="en-US" sz="1500" b="1" dirty="0">
                <a:solidFill>
                  <a:srgbClr val="1B3B6F"/>
                </a:solidFill>
                <a:latin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 + the language.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Catch the country, nationality and language</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Speaker 1: which country is Khalid from?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العِرَاق</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سُورِيَا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المَغْرِب</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Speaker 1: what is Khalid’s nationality?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عِرَاقِيَّةٌ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مَغْرِبِيٌّ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عِرَاقِيٌّ</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Speaker 1: which languages does he speak?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and French</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English only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and English</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Speaker 2: which nationality does Zaynab state?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سُورِيَّةٌ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سُورِيٌّ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لُبْنَانِيَّةٌ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Speaker 3: which two languages does Maryam speak?</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and Urdu</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English and French</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French and Arabic</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Listen for: the country after min, the ending, and “I speak”.</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١. مَرْحَبًا. اِسْمِي خَالِدٌ. أَنَا مِنَ العِرَاقِ. أَنَا عِرَاقِيٌّ.</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Hello. My name is Khalid. I am from Iraq. I am Iraqi.</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أَتَكَلَّمُ العَرَبِيَّةَ وَالإِنْجِلِيزِيَّةَ.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speak Arabic and English.</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٢. مَرْحَبًا. اِسْمِي زَيْنَبُ. أَنَا مِنْ سُورِيَا. أَنَا سُورِيَّةٌ.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Hello. My name is Zaynab. I am from Syria. I am Syrian.</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أَفْهَمُ العَرَبِيَّةَ وَأَتَكَلَّمُ الإِنْجِلِيزِيَّةَ.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understand Arabic and I speak English.</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٣. اِسْمِي مَرْيَمُ. أَنَا بَرِيطَانِيَّةٌ. أَتَكَلَّمُ الإِنْجِلِيزِيَّةَ وَالفَرَنْسِيَّةَ.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name is Maryam. I am British. I speak English and French.</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Speaker 1: which country is Khalid from?</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العِرَاق</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سُورِيَا</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المَغْرِب</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cs typeface="Amiri" pitchFamily="2" charset="-78"/>
              </a:rPr>
              <a:t>أَنَا مِنَ العِرَاقِ</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Speaker 1: what is Khalid’s nationality?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عِرَاقِيَّةٌ</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مَغْرِبِيٌّ</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عِرَاقِيٌّ</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Khalid says </a:t>
            </a:r>
            <a:pPr algn="l" indent="0" marL="0">
              <a:buNone/>
            </a:pPr>
            <a:r>
              <a:rPr lang="ar-SA" altLang="en-US" sz="1350" dirty="0">
                <a:solidFill>
                  <a:srgbClr val="8A6D1E"/>
                </a:solidFill>
                <a:latin typeface="Amiri" pitchFamily="2" charset="-78"/>
                <a:cs typeface="Amiri" pitchFamily="2" charset="-78"/>
              </a:rPr>
              <a:t>أَنَا عِرَاقِيٌّ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Speaker 1: which languages does he speak?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 and French</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English only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Arabic and English</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cs typeface="Amiri" pitchFamily="2" charset="-78"/>
              </a:rPr>
              <a:t>العَرَبِيَّةَ وَالإِنْجِلِيزِيَّةَ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Speaker 2: which nationality does Zaynab state?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سُورِيَّةٌ</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سُورِيٌّ</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لُبْنَانِيَّةٌ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Zaynab uses the feminine form </a:t>
            </a:r>
            <a:pPr algn="l" indent="0" marL="0">
              <a:buNone/>
            </a:pPr>
            <a:r>
              <a:rPr lang="ar-SA" altLang="en-US" sz="1350" dirty="0">
                <a:solidFill>
                  <a:srgbClr val="8A6D1E"/>
                </a:solidFill>
                <a:latin typeface="Amiri" pitchFamily="2" charset="-78"/>
                <a:cs typeface="Amiri" pitchFamily="2" charset="-78"/>
              </a:rPr>
              <a:t>سُورِيَّةٌ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Speaker 3: which two languages does Maryam speak?</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 and Urdu</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English and French</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French and Arabic</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الإِنْجِلِيزِيَّةَ وَالفَرَنْسِيَّةَ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Listen for: the country after min, the ending, and “I speak”.</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THREE IDENTITY PROFILES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three identity profiles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ثَلَاثَ بَطَاقَاتٍ شَخْصِيَّةٍ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11274552" cy="688848"/>
          </a:xfrm>
          <a:prstGeom prst="roundRect">
            <a:avLst>
              <a:gd name="adj" fmla="val 6637"/>
            </a:avLst>
          </a:prstGeom>
          <a:solidFill>
            <a:srgbClr val="FFFFFF"/>
          </a:solidFill>
          <a:ln w="9525">
            <a:solidFill>
              <a:srgbClr val="D8D0BF"/>
            </a:solidFill>
            <a:prstDash val="solid"/>
          </a:ln>
        </p:spPr>
      </p:sp>
      <p:sp>
        <p:nvSpPr>
          <p:cNvPr id="16" name="Text 13"/>
          <p:cNvSpPr txBox="1"/>
          <p:nvPr/>
        </p:nvSpPr>
        <p:spPr>
          <a:xfrm>
            <a:off x="4937760" y="182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 · اِسْمِي يُوسُفُ. أَنَا مِنَ المَغْرِبِ. أَنَا مَغْرِبِيٌّ.</a:t>
            </a:r>
            <a:endParaRPr lang="ar-SA" sz="2000" dirty="0"/>
          </a:p>
        </p:txBody>
      </p:sp>
      <p:sp>
        <p:nvSpPr>
          <p:cNvPr id="17" name="Text 14"/>
          <p:cNvSpPr txBox="1"/>
          <p:nvPr/>
        </p:nvSpPr>
        <p:spPr>
          <a:xfrm>
            <a:off x="640080" y="182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 My name is Yusuf. I am from Morocco. I am Moroccan.</a:t>
            </a:r>
            <a:endParaRPr lang="en-US" sz="1250" dirty="0"/>
          </a:p>
        </p:txBody>
      </p:sp>
      <p:sp>
        <p:nvSpPr>
          <p:cNvPr id="18" name="Shape 15"/>
          <p:cNvSpPr/>
          <p:nvPr/>
        </p:nvSpPr>
        <p:spPr>
          <a:xfrm>
            <a:off x="457200" y="2572512"/>
            <a:ext cx="11274552" cy="688848"/>
          </a:xfrm>
          <a:prstGeom prst="roundRect">
            <a:avLst>
              <a:gd name="adj" fmla="val 6637"/>
            </a:avLst>
          </a:prstGeom>
          <a:solidFill>
            <a:srgbClr val="F4F1EA"/>
          </a:solidFill>
          <a:ln w="9525">
            <a:solidFill>
              <a:srgbClr val="D8D0BF"/>
            </a:solidFill>
            <a:prstDash val="solid"/>
          </a:ln>
        </p:spPr>
      </p:sp>
      <p:sp>
        <p:nvSpPr>
          <p:cNvPr id="19" name="Text 16"/>
          <p:cNvSpPr txBox="1"/>
          <p:nvPr/>
        </p:nvSpPr>
        <p:spPr>
          <a:xfrm>
            <a:off x="4937760" y="2590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أَتَكَلَّمُ العَرَبِيَّةَ وَالفَرَنْسِيَّةَ.</a:t>
            </a:r>
            <a:endParaRPr lang="ar-SA" sz="2000" dirty="0"/>
          </a:p>
        </p:txBody>
      </p:sp>
      <p:sp>
        <p:nvSpPr>
          <p:cNvPr id="20" name="Text 17"/>
          <p:cNvSpPr txBox="1"/>
          <p:nvPr/>
        </p:nvSpPr>
        <p:spPr>
          <a:xfrm>
            <a:off x="640080" y="2590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speak Arabic and French.</a:t>
            </a:r>
            <a:endParaRPr lang="en-US" sz="1250" dirty="0"/>
          </a:p>
        </p:txBody>
      </p:sp>
      <p:sp>
        <p:nvSpPr>
          <p:cNvPr id="21" name="Shape 18"/>
          <p:cNvSpPr/>
          <p:nvPr/>
        </p:nvSpPr>
        <p:spPr>
          <a:xfrm>
            <a:off x="457200" y="3334512"/>
            <a:ext cx="11274552" cy="688848"/>
          </a:xfrm>
          <a:prstGeom prst="roundRect">
            <a:avLst>
              <a:gd name="adj" fmla="val 6637"/>
            </a:avLst>
          </a:prstGeom>
          <a:solidFill>
            <a:srgbClr val="FFFFFF"/>
          </a:solidFill>
          <a:ln w="9525">
            <a:solidFill>
              <a:srgbClr val="D8D0BF"/>
            </a:solidFill>
            <a:prstDash val="solid"/>
          </a:ln>
        </p:spPr>
      </p:sp>
      <p:sp>
        <p:nvSpPr>
          <p:cNvPr id="22" name="Text 19"/>
          <p:cNvSpPr txBox="1"/>
          <p:nvPr/>
        </p:nvSpPr>
        <p:spPr>
          <a:xfrm>
            <a:off x="4937760" y="3352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 · اِسْمِي زَيْنَبُ. أَنَا مِنْ سُورِيَا. أَنَا سُورِيَّةٌ.</a:t>
            </a:r>
            <a:endParaRPr lang="ar-SA" sz="2000" dirty="0"/>
          </a:p>
        </p:txBody>
      </p:sp>
      <p:sp>
        <p:nvSpPr>
          <p:cNvPr id="23" name="Text 20"/>
          <p:cNvSpPr txBox="1"/>
          <p:nvPr/>
        </p:nvSpPr>
        <p:spPr>
          <a:xfrm>
            <a:off x="640080" y="3352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 · My name is Zaynab. I am from Syria. I am Syrian.</a:t>
            </a:r>
            <a:endParaRPr lang="en-US" sz="1250" dirty="0"/>
          </a:p>
        </p:txBody>
      </p:sp>
      <p:sp>
        <p:nvSpPr>
          <p:cNvPr id="24" name="Shape 21"/>
          <p:cNvSpPr/>
          <p:nvPr/>
        </p:nvSpPr>
        <p:spPr>
          <a:xfrm>
            <a:off x="457200" y="4096512"/>
            <a:ext cx="11274552" cy="688848"/>
          </a:xfrm>
          <a:prstGeom prst="roundRect">
            <a:avLst>
              <a:gd name="adj" fmla="val 6637"/>
            </a:avLst>
          </a:prstGeom>
          <a:solidFill>
            <a:srgbClr val="F4F1EA"/>
          </a:solidFill>
          <a:ln w="9525">
            <a:solidFill>
              <a:srgbClr val="D8D0BF"/>
            </a:solidFill>
            <a:prstDash val="solid"/>
          </a:ln>
        </p:spPr>
      </p:sp>
      <p:sp>
        <p:nvSpPr>
          <p:cNvPr id="25" name="Text 22"/>
          <p:cNvSpPr txBox="1"/>
          <p:nvPr/>
        </p:nvSpPr>
        <p:spPr>
          <a:xfrm>
            <a:off x="4937760" y="4114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أَتَكَلَّمُ الإِنْجِلِيزِيَّةَ وَأَفْهَمُ العَرَبِيَّةَ.</a:t>
            </a:r>
            <a:endParaRPr lang="ar-SA" sz="2000" dirty="0"/>
          </a:p>
        </p:txBody>
      </p:sp>
      <p:sp>
        <p:nvSpPr>
          <p:cNvPr id="26" name="Text 23"/>
          <p:cNvSpPr txBox="1"/>
          <p:nvPr/>
        </p:nvSpPr>
        <p:spPr>
          <a:xfrm>
            <a:off x="640080" y="4114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speak English and I understand Arabic.</a:t>
            </a:r>
            <a:endParaRPr lang="en-US" sz="1250" dirty="0"/>
          </a:p>
        </p:txBody>
      </p:sp>
      <p:sp>
        <p:nvSpPr>
          <p:cNvPr id="27" name="Shape 24"/>
          <p:cNvSpPr/>
          <p:nvPr/>
        </p:nvSpPr>
        <p:spPr>
          <a:xfrm>
            <a:off x="457200" y="4858512"/>
            <a:ext cx="11274552" cy="688848"/>
          </a:xfrm>
          <a:prstGeom prst="roundRect">
            <a:avLst>
              <a:gd name="adj" fmla="val 6637"/>
            </a:avLst>
          </a:prstGeom>
          <a:solidFill>
            <a:srgbClr val="FFFFFF"/>
          </a:solidFill>
          <a:ln w="9525">
            <a:solidFill>
              <a:srgbClr val="D8D0BF"/>
            </a:solidFill>
            <a:prstDash val="solid"/>
          </a:ln>
        </p:spPr>
      </p:sp>
      <p:sp>
        <p:nvSpPr>
          <p:cNvPr id="28" name="Text 25"/>
          <p:cNvSpPr txBox="1"/>
          <p:nvPr/>
        </p:nvSpPr>
        <p:spPr>
          <a:xfrm>
            <a:off x="4937760" y="4876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ج · اِسْمِي مَرْيَمُ. أَنَا بَرِيطَانِيَّةٌ.</a:t>
            </a:r>
            <a:endParaRPr lang="ar-SA" sz="2000" dirty="0"/>
          </a:p>
        </p:txBody>
      </p:sp>
      <p:sp>
        <p:nvSpPr>
          <p:cNvPr id="29" name="Text 26"/>
          <p:cNvSpPr txBox="1"/>
          <p:nvPr/>
        </p:nvSpPr>
        <p:spPr>
          <a:xfrm>
            <a:off x="640080" y="4876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 · My name is Maryam. I am British.</a:t>
            </a:r>
            <a:endParaRPr lang="en-US" sz="1250" dirty="0"/>
          </a:p>
        </p:txBody>
      </p:sp>
      <p:sp>
        <p:nvSpPr>
          <p:cNvPr id="30" name="Shape 27"/>
          <p:cNvSpPr/>
          <p:nvPr/>
        </p:nvSpPr>
        <p:spPr>
          <a:xfrm>
            <a:off x="457200" y="5620512"/>
            <a:ext cx="11274552" cy="688848"/>
          </a:xfrm>
          <a:prstGeom prst="roundRect">
            <a:avLst>
              <a:gd name="adj" fmla="val 6637"/>
            </a:avLst>
          </a:prstGeom>
          <a:solidFill>
            <a:srgbClr val="F4F1EA"/>
          </a:solidFill>
          <a:ln w="9525">
            <a:solidFill>
              <a:srgbClr val="D8D0BF"/>
            </a:solidFill>
            <a:prstDash val="solid"/>
          </a:ln>
        </p:spPr>
      </p:sp>
      <p:sp>
        <p:nvSpPr>
          <p:cNvPr id="31" name="Text 28"/>
          <p:cNvSpPr txBox="1"/>
          <p:nvPr/>
        </p:nvSpPr>
        <p:spPr>
          <a:xfrm>
            <a:off x="4937760" y="563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أَتَكَلَّمُ الإِنْجِلِيزِيَّةَ وَالفَرَنْسِيَّةَ. أَقْرَأُ العَرَبِيَّةَ.</a:t>
            </a:r>
            <a:endParaRPr lang="ar-SA" sz="2000" dirty="0"/>
          </a:p>
        </p:txBody>
      </p:sp>
      <p:sp>
        <p:nvSpPr>
          <p:cNvPr id="32" name="Text 29"/>
          <p:cNvSpPr txBox="1"/>
          <p:nvPr/>
        </p:nvSpPr>
        <p:spPr>
          <a:xfrm>
            <a:off x="640080" y="563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speak English and French. I read Arabic.</a:t>
            </a:r>
            <a:endParaRPr lang="en-US" sz="12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QUESTIONS · FIND THE EVIDENCE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Prove it from the profiles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Moroccan?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زَيْنَب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يُوسُف</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مَرْيَم</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understands Arabic but speaks English?</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مَرْيَم</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يُوسُف</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زَيْنَب</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profile uses a feminine nationality ending?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زَيْنَب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خَالِد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يُوسُف</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language appears in Yusuf’s profile?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الأُرْدِيَّة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الفَرَنْسِيَّة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الإِسْبَانِيَّة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states origin rather than nationality?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مِنْ سُورِيَا.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سُورِيَّةٌ.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أَتَكَلَّمُ العَرَبِيَّةَ.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FIND THE 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Choose, then point to the exact Arabic words that prove it.</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Moroccan?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زَيْنَب</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يُوسُف</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مَرْيَم</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Yusuf’s profile says </a:t>
            </a:r>
            <a:pPr algn="l" indent="0" marL="0">
              <a:buNone/>
            </a:pPr>
            <a:r>
              <a:rPr lang="ar-SA" altLang="en-US" sz="1350" dirty="0">
                <a:solidFill>
                  <a:srgbClr val="8A6D1E"/>
                </a:solidFill>
                <a:latin typeface="Amiri" pitchFamily="2" charset="-78"/>
                <a:cs typeface="Amiri" pitchFamily="2" charset="-78"/>
              </a:rPr>
              <a:t>أَنَا مَغْرِبِيٌّ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understands Arabic but speaks English?</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مَرْيَم</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يُوسُف</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زَيْنَب</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Zaynab’s profile: </a:t>
            </a:r>
            <a:pPr algn="l" indent="0" marL="0">
              <a:buNone/>
            </a:pPr>
            <a:r>
              <a:rPr lang="ar-SA" altLang="en-US" sz="1350" dirty="0">
                <a:solidFill>
                  <a:srgbClr val="8A6D1E"/>
                </a:solidFill>
                <a:latin typeface="Amiri" pitchFamily="2" charset="-78"/>
                <a:cs typeface="Amiri" pitchFamily="2" charset="-78"/>
              </a:rPr>
              <a:t>أَتَكَلَّمُ الإِنْجِلِيزِيَّةَ وَأَفْهَمُ العَرَبِيَّةَ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profile uses a feminine nationality ending?</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زَيْنَب</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خَالِد</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يُوسُف</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سُورِيَّةٌ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language appears in Yusuf’s profile?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الأُرْدِيَّة</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الفَرَنْسِيَّة</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الإِسْبَانِيَّة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Yusuf speaks Arabic and French.</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states origin rather than nationality?</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أَنَا مِنْ سُورِيَا.</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سُورِيَّةٌ.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أَتَكَلَّمُ العَرَبِيَّةَ.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 + place states where someone is from.</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FIND THE 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Choose, then point to the exact Arabic words that prove it.</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Present a short identity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جِنْسِيَّتُكَ؟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أَيْنَ أَنْتِ؟ مَا جِنْسِيَّتُكِ؟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اللُّغَاتُ الَّتِي تَتَكَلَّمُهَا؟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تَقْرَأُ؟ وَبِأَيِّ لُغَةٍ تَكْتُبُ؟</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أَنَا ___ . أَتَكَلَّمُ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cs typeface="Amiri" pitchFamily="2" charset="-78"/>
              </a:rPr>
              <a:t>أَنَا مِنْ ___ . أَنَا ___ . أَتَكَلَّمُ ___ وَ ___ .</a:t>
            </a:r>
            <a:endParaRPr lang="ar-SA" sz="13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أَفْهَمُ ___ ، وَأَقْرَأُ ___ ، وَأَكْتُبُ بِـ ___ .</a:t>
            </a:r>
            <a:endParaRPr lang="ar-SA" sz="145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هُوَ / هِيَ ___ ، وَيَتَكَلَّمُ / وَتَتَكَلَّمُ ___ .</a:t>
            </a:r>
            <a:endParaRPr lang="ar-SA" sz="15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cs typeface="Amiri" pitchFamily="2" charset="-78"/>
              </a:rPr>
              <a:t>أ</a:t>
            </a:r>
            <a:endParaRPr lang="ar-SA"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 جِنْسِيَّتُكِ؟</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your nationality? (to a girl)</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cs typeface="Amiri" pitchFamily="2" charset="-78"/>
              </a:rPr>
              <a:t>ب</a:t>
            </a:r>
            <a:endParaRPr lang="ar-SA"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أَنَا مِصْرِيَّةٌ.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am Egyptian. (f.)</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identity card</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Complete the identity-card fields.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Fill in: name, age, nationality, languages (copy words from the tables).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4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four connected sentences: name, origin, nationality, languages.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Name → origin → nationality → languages, joined with “and”.</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5–6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three or four different language verbs (speak, understand, read, write).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understand, read and write in, plus one family member (he / she is …).</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اِسْمِي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name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أَنَا مِنْ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from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أَنَا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 (nationality: -iyy / -iyya)</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أَتَكَلَّمُ ______ وَ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speak … and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أَفْهَمُ ______ وَأَكْتُبُ بِـ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understand … and I write in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الاِسْمُ: ______</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Name:</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العُمْرُ: ______ سَنَةً</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Age:</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الجِنْسِيَّةُ: ______</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Nationality:</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اللُّغَاتُ: ______ وَ ______</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Languages:</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بَرِيطَانِيٌّ  ·  بَرِيطَانِيَّةٌ  ·  مِصْرِيٌّ  ·  مِصْرِيَّةٌ  ·  العَرَبِيَّةَ  ·  الإِنْجِلِيزِيَّةَ  ·  الأُرْدِيَّةَ  ·  الفَرَنْسِيَّةَ  ·  أَتَكَلَّمُ  ·  أَفْهَمُ  ·  أَقْرَأُ  ·  أَكْتُبُ</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الاِسْمُ: مَرْيَم</a:t>
            </a:r>
            <a:endParaRPr lang="ar-SA" sz="2600" dirty="0"/>
          </a:p>
          <a:p>
            <a:pPr rtl="1" algn="r" indent="0" marL="0">
              <a:lnSpc>
                <a:spcPct val="120000"/>
              </a:lnSpc>
              <a:buNone/>
            </a:pPr>
            <a:r>
              <a:rPr lang="ar-SA" altLang="en-US" sz="2600" dirty="0">
                <a:solidFill>
                  <a:srgbClr val="1F2A37"/>
                </a:solidFill>
                <a:latin typeface="Amiri" pitchFamily="2" charset="-78"/>
                <a:cs typeface="Amiri" pitchFamily="2" charset="-78"/>
              </a:rPr>
              <a:t>العُمْرُ: أَرْبَعَ عَشْرَةَ سَنَةً</a:t>
            </a:r>
            <a:endParaRPr lang="ar-SA" sz="2600" dirty="0"/>
          </a:p>
          <a:p>
            <a:pPr rtl="1" algn="r" indent="0" marL="0">
              <a:lnSpc>
                <a:spcPct val="120000"/>
              </a:lnSpc>
              <a:buNone/>
            </a:pPr>
            <a:r>
              <a:rPr lang="ar-SA" altLang="en-US" sz="2600" dirty="0">
                <a:solidFill>
                  <a:srgbClr val="1F2A37"/>
                </a:solidFill>
                <a:latin typeface="Amiri" pitchFamily="2" charset="-78"/>
                <a:cs typeface="Amiri" pitchFamily="2" charset="-78"/>
              </a:rPr>
              <a:t>الجِنْسِيَّةُ: بَرِيطَانِيَّةٌ</a:t>
            </a:r>
            <a:endParaRPr lang="ar-SA" sz="2600" dirty="0"/>
          </a:p>
          <a:p>
            <a:pPr rtl="1" algn="r" indent="0" marL="0">
              <a:lnSpc>
                <a:spcPct val="120000"/>
              </a:lnSpc>
              <a:buNone/>
            </a:pPr>
            <a:r>
              <a:rPr lang="ar-SA" altLang="en-US" sz="2600" dirty="0">
                <a:solidFill>
                  <a:srgbClr val="1F2A37"/>
                </a:solidFill>
                <a:latin typeface="Amiri" pitchFamily="2" charset="-78"/>
                <a:cs typeface="Amiri" pitchFamily="2" charset="-78"/>
              </a:rPr>
              <a:t>اللُّغَاتُ: الإِنْجِلِيزِيَّةُ وَالفَرَنْسِيَّةُ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Name: Maryam · Age: fourteen years · Nationality: British (f.) · Languages: English and French</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feminine nationality</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age with sanatan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languages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and (wa-)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nationality ending matches the person (-iyy or -iyya).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cs typeface="Amiri" pitchFamily="2" charset="-78"/>
              </a:rPr>
              <a:t>أَتَكَلَّمُ</a:t>
            </a:r>
            <a:pPr algn="l" indent="0" marL="0">
              <a:buNone/>
            </a:pPr>
            <a:r>
              <a:rPr lang="en-US" sz="1300" dirty="0">
                <a:solidFill>
                  <a:srgbClr val="1F2A37"/>
                </a:solidFill>
                <a:latin typeface="Calibri" pitchFamily="34" charset="0"/>
                <a:cs typeface="Amiri" pitchFamily="2" charset="-78"/>
              </a:rPr>
              <a:t> before a language.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my origin with </a:t>
            </a:r>
            <a:pPr algn="l" indent="0" marL="0">
              <a:buNone/>
            </a:pPr>
            <a:r>
              <a:rPr lang="ar-SA" altLang="en-US" sz="1700" dirty="0">
                <a:solidFill>
                  <a:srgbClr val="1F2A37"/>
                </a:solidFill>
                <a:latin typeface="Amiri" pitchFamily="2" charset="-78"/>
                <a:cs typeface="Amiri" pitchFamily="2" charset="-78"/>
              </a:rPr>
              <a:t>أَنَا مِنْ</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joined languages with “and” (wa-).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understand, read and write in.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male speaker from Jordan says …</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أُرْدُنِيٌّ.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أُرْدُنِيَّةٌ.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الأُرْدُنُّ.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‘I understand’ ?</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أَقْرَأُ</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أَفْهَمُ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أَكْتُبُ</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write in English’.</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أَكْتُبُ بِالإِنْجِلِيزِيَّةِ.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أَفْهَمُ الإِنْجِلِيزِيَّةَ.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إِنْجِلِيزِيَّةٌ.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male speaker from Jordan says …</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أَنَا أُرْدُنِيٌّ.</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أَنَا أُرْدُنِيَّةٌ.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أَنَا الأُرْدُنُّ.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masculine form is </a:t>
            </a:r>
            <a:pPr algn="l" indent="0" marL="0">
              <a:buNone/>
            </a:pPr>
            <a:r>
              <a:rPr lang="ar-SA" altLang="en-US" sz="1350" dirty="0">
                <a:solidFill>
                  <a:srgbClr val="8A6D1E"/>
                </a:solidFill>
                <a:latin typeface="Amiri" pitchFamily="2" charset="-78"/>
                <a:cs typeface="Amiri" pitchFamily="2" charset="-78"/>
              </a:rPr>
              <a:t>أُرْدُنِيٌّ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‘I understand’ ?</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أَقْرَأُ</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أَفْهَمُ</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أَكْتُبُ</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أَفْهَمُ</a:t>
            </a:r>
            <a:pPr algn="l" indent="0" marL="0">
              <a:buNone/>
            </a:pPr>
            <a:r>
              <a:rPr lang="en-US" sz="1050" i="1" dirty="0">
                <a:solidFill>
                  <a:srgbClr val="8A6D1E"/>
                </a:solidFill>
                <a:latin typeface="Calibri" pitchFamily="34" charset="0"/>
                <a:cs typeface="Amiri" pitchFamily="2" charset="-78"/>
              </a:rPr>
              <a:t> means ‘I understand’.</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write in English’.</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أَكْتُبُ بِالإِنْجِلِيزِيَّةِ.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أَفْهَمُ الإِنْجِلِيزِيَّةَ.</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أَنَا إِنْجِلِيزِيَّةٌ.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أَكْتُبُ بِـ</a:t>
            </a:r>
            <a:pPr algn="l" indent="0" marL="0">
              <a:buNone/>
            </a:pPr>
            <a:r>
              <a:rPr lang="en-US" sz="1050" i="1" dirty="0">
                <a:solidFill>
                  <a:srgbClr val="8A6D1E"/>
                </a:solidFill>
                <a:latin typeface="Calibri" pitchFamily="34" charset="0"/>
                <a:cs typeface="Amiri" pitchFamily="2" charset="-78"/>
              </a:rPr>
              <a:t> means ‘I write in’.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F2-L04 · Nationality &amp; Language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F2-L05: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F2-L05 · Masculine and Feminine Agreement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طَالِبٌ</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student (m.)</a:t>
            </a:r>
            <a:pPr indent="0" marL="0">
              <a:buNone/>
            </a:pPr>
            <a:r>
              <a:rPr lang="en-US" sz="1000" i="1" dirty="0">
                <a:solidFill>
                  <a:srgbClr val="5A6472"/>
                </a:solidFill>
                <a:latin typeface="Calibri" pitchFamily="34" charset="0"/>
                <a:cs typeface="Amiri" pitchFamily="2" charset="-78"/>
              </a:rPr>
              <a:t>  f. طَالِبَةٌ</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مُعَلِّمٌ</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teacher (m.)</a:t>
            </a:r>
            <a:pPr indent="0" marL="0">
              <a:buNone/>
            </a:pPr>
            <a:r>
              <a:rPr lang="en-US" sz="1000" i="1" dirty="0">
                <a:solidFill>
                  <a:srgbClr val="5A6472"/>
                </a:solidFill>
                <a:latin typeface="Calibri" pitchFamily="34" charset="0"/>
                <a:cs typeface="Amiri" pitchFamily="2" charset="-78"/>
              </a:rPr>
              <a:t>  f. مُعَلِّمَةٌ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وَلَدٌ · بِنْتٌ</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boy · a girl</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جَدِيدٌ</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new (m.)</a:t>
            </a:r>
            <a:pPr indent="0" marL="0">
              <a:buNone/>
            </a:pPr>
            <a:r>
              <a:rPr lang="en-US" sz="1000" i="1" dirty="0">
                <a:solidFill>
                  <a:srgbClr val="5A6472"/>
                </a:solidFill>
                <a:latin typeface="Calibri" pitchFamily="34" charset="0"/>
                <a:cs typeface="Amiri" pitchFamily="2" charset="-78"/>
              </a:rPr>
              <a:t>  f. جَدِيدَةٌ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tāʾ marbūṭa: a feminine clue</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Look at the five words: which ending shows the feminine form? Find two more words with it at home.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طَالِبٌ ← طَالِبَةٌ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F2-L04: the Passport Mission (8 cards) and the picture game “Nationality and Language”.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Your identity card + four connected sentences (type, draw or paper route).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all four language verbs, then the ten-question checkpoint (aim for 8/10).</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37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50" b="1" dirty="0">
                <a:solidFill>
                  <a:srgbClr val="FFFFFF"/>
                </a:solidFill>
                <a:latin typeface="Cambria" pitchFamily="34" charset="0"/>
                <a:cs typeface="Amiri" pitchFamily="2" charset="-78"/>
              </a:rPr>
              <a:t>F2-L05 · Masculine and Feminine Agreement</a:t>
            </a:r>
            <a:endParaRPr lang="en-US" sz="22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المُذَكَّرُ وَالمُؤَنَّثُ</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learn 5 words + spot the feminine </a:t>
            </a:r>
            <a:pPr algn="l" indent="0" marL="0">
              <a:buNone/>
            </a:pPr>
            <a:r>
              <a:rPr lang="ar-SA" altLang="en-US" sz="1700" b="1" dirty="0">
                <a:solidFill>
                  <a:srgbClr val="FFFFFF"/>
                </a:solidFill>
                <a:latin typeface="Amiri" pitchFamily="2" charset="-78"/>
                <a:cs typeface="Amiri" pitchFamily="2" charset="-78"/>
              </a:rPr>
              <a:t>ة</a:t>
            </a:r>
            <a:pPr algn="l" indent="0" marL="0">
              <a:buNone/>
            </a:pPr>
            <a:r>
              <a:rPr lang="en-US" sz="1300" b="1" dirty="0">
                <a:solidFill>
                  <a:srgbClr val="FFFFFF"/>
                </a:solidFill>
                <a:latin typeface="Calibri" pitchFamily="34" charset="0"/>
                <a:cs typeface="Amiri" pitchFamily="2" charset="-78"/>
              </a:rPr>
              <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F2-L04 · Nationality and Language</dc:title>
  <dc:subject>PptxGenJS Presentation</dc:subject>
  <dc:creator>Al Madina Online School · Arabic Department</dc:creator>
  <cp:lastModifiedBy>Al Madina Online School · Arabic Department</cp:lastModifiedBy>
  <cp:revision>1</cp:revision>
  <dcterms:created xsi:type="dcterms:W3CDTF">2026-10-11T06:41:23Z</dcterms:created>
  <dcterms:modified xsi:type="dcterms:W3CDTF">2026-10-11T06:41:23Z</dcterms:modified>
</cp:coreProperties>
</file>