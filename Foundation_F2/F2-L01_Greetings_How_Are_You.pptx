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10–19 Greeting pairs (3 groups) · 19–24 The five moves + كَ / كِ · 24–26 Quick check · 26–29 I Do · 29–38 We Do (picture match, relay, listening, fix) · 38–49 You Do (Mingle Mission 5 + write 6) · 49–54 Feedback · 54–56 Preparation.
FLEX slides are optional. Use them if the class is moving quickly; otherwise the same activities are on the website for homework.
Content source: Miftah Arabic website, Pathways › Foundation › F2 Greetings &amp; Introductions › Lesson 1 (F2-L01). Website sections used: the greeting system in pairs, Response Relay (8 items), the gender form explorer and gender check (6), the Ahmad–Sara dialogue (listening and dialogue rebuild), the Four-Move Mingle Mission, the ten-question checkpoint (exit ticket) and the six-line homework dialogue. The picture match is the website visual game “Hello, Goodbye and How Are You?”.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the first SPEAKING unit. Core: learn phrases as whole chunks in pairs (A says → B replies); transliteration is on every card as a temporary bridge. Develop: choose -ka / -ki correctly. Stretch: the extended greeting (heritage-reader extension).
• Culture (website): greeting choice, gesture and physical contact vary by country, relationship and person — follow the other person’s lead; never assume one gesture is expected. This is careful Modern Standard Arabic; spoken varieties differ, and that is normal, not an error.
• Urdu bridge: سلام، خیر، حال، شکریہ، صبح — many students already know these words.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greetings prepared at home after the F1 assessment (Flipped Learning follow-up). Questions 3–5 use F1 decoding skills (letters, long vowels, tanwīn) on today’s words.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greeting usually comes in a PAIR: one person opens, the other gives the matching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left column is the website’s “Today’s success criteria”.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سلام (السَّلَامُ عَلَيْكُمْ), خیر (بِخَيْرٍ / صَبَاحُ الخَيْرِ), حال (کیا حال ہے؟ = كَيْفَ حَالُكَ؟), شکریہ (شُكْرًا), صبح (صَبَاحٌ). Ask: “Which of these do you already say at home?” — a quick confidence win for EAL students.
All phrases are the website “greeting system”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1 (website “Opening and welcome”). Hear → Say → See → Use, in PAIRS: teacher says card 1, class replies with card 2. Swap: class opens, teacher replies.
Card 5: the plural عَلَيْكُمْ is used in the greeting even to one person — it is the fixed form. The three boxes show m / f / pl so students notice the ENDING pattern they meet today (كَ / كِ / كُمْ).
Card 6 is the website heritage-reader extension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2 (website “Time-of-day pairs”). Show a sun / moon gesture. Drill: teacher says the OPENING, class says the REPLY; then swap.
Memory cue: opening = الخَيْرِ (goodness); reply = النُّورِ (light). Sun letters from F1: in النُّور the ل is silent and the ن is doubled (an-nūr).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3 (website “Check in and answer” + “Closing the exchange”; وَأَنْتَ؟ from the website dialogue).
Cards 11 and 14 show the three addressee forms (to one boy · one girl · a group). Today we practise the first two; the plural is for recognition.
Pronunciation (website): ḥ in حَال is not English h — breathe out through a narrowed throat; hold the long ā in حَال and سَلَام.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MOVES (website section 1, “A greeting is a social action”): Open → Respond → Check in → Answer → Close.
Website “Notice”: What do hello, bonjour, hola, salam and nǐ hǎo do BEFORE any information is exchanged? (They open the interaction and show goodwill.)
Read each row as a mini-dialogue: teacher = A, class = B. Then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(website section 5, “Address one person accurately”). In careful MSA the short vowel on the final ك tells the listener whether you are speaking to one male or one female.
Memory cue: LOOK at the listener, then choose the final vowel. The ending depends on the person you are speaking TO — not on your own gender.
Website: in ordinary unvowelled print both look the same (كيف حالك؟) — context supplies the reading.
Respectful workaround (website): if unsure, كَيْفَ الحَالُ؟ (“how are things?”) avoids a gendered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 / F / PL TABLE (1 min). Pink = the ending. Read across each row; students repeat, stressing the last sound.
Rows 1–2 are today’s CORE (website: حَالُكَ / حَالُكِ; وَأَنْتَ؟ / وَأَنْتِ؟ from the dialogue). Row 3 links back to the greeting: السَّلَامُ عَلَيْكُمْ uses the group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“Gender ending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the website Ahmad–Sara dialogue with a think-aloud, then students COPY it into their books.
Think aloud each decision: “What time is it? → which pair?”, “Who am I speaking to? → -ka or -ki?”, “How do I close?”.
Website pronunciation contrasts to model: ḥ (مَرْحَبًا، حَال), ʿ (عَلَيْكُمْ، مَعَ), long ā (حَال، سَلَام، مَسَاء), final vowel (حَالُكَ / حَالُكِ).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Hello, Goodbye and How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صَبَاحُ (morning), مَسَاءُ (evening), the final ـكِ (a girl). The other three website game items (مَرْحَبًا، كَيْفَ حَالُكَ؟، إِلَى اللِّقَاءِ) are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Hello, Goodbye and How Are You?”)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صَبَاحُ (morning), مَسَاءُ (evening), the final ـكِ (a girl). The other three website game items (مَرْحَبًا، كَيْفَ حَالُكَ؟، إِلَى اللِّقَاءِ) are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“Response Relay” (5 of its 8 decisions; the other 3 are homework). Guided rehearsal, so immediate feedback is appropriate (website).
After each answer: class SAYS the pair aloud (A: opening, B: reply) — chunk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 class says each pair aloud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أَحْمَدُ: صَبَاحُ الخَيْرِ يَا سَارَةُ. سَارَةُ: صَبَاحُ النُّورِ يَا أَحْمَدُ. أَحْمَدُ: كَيْفَ حَالُكِ؟ سَارَةُ: بِخَيْرٍ، الحَمْدُ لِلَّهِ. وَأَنْتَ؟ أَحْمَدُ: بِخَيْرٍ، شُكْرًا. سَارَةُ: إِلَى اللِّقَاءِ. أَحْمَدُ: مَعَ السَّلَامَةِ.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teacher-made sorter based on the website conversation map (FLEX, 2 min). Core clue: a “?” means check-in; السَّلَامَة / اللِّقَاء mean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teacher-made sorter based on the website conversation map (FLEX, 2 min). Core clue: a “?” means check-in; السَّلَامَة / اللِّقَاء mean goodbye.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أَحْمَدُ: كَيْفَ حَالُكِ؟ (How are you? (to a girl))
سَارَةُ: بِخَيْرٍ، الحَمْدُ لِلَّهِ. وَأَنْتَ؟ (Fine, praise be to God. And you?)
أَحْمَدُ: بِخَيْرٍ، شُكْرًا. (Fine, thank you.)
سَارَةُ: إِلَى اللِّقَاءِ. (See you later.)
أَحْمَدُ: مَعَ السَّلَامَةِ. (Goodbye.)
WEBSITE “FOUR-MOVE MINGLE MISSION” (online version): 5-minute timer. Pairs on open mic, one after another; each pair must complete all four functions — Open · Respond · Check in and answer · Close — and change partner after every exchange. The class ticks the moves heard in the chat (1 2 3 4).
Before: each student chooses one opening and one closing and rehearses the gendered question they will need (website).
After (website): “The phrase that became easier was … The sound I still need to practise 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lines: open, reply, ask how, answer — copy the pairs from the phrase map. · Develop — The full six-line dialogue with a correct -ka or -ki question. · Stretch — A 6–8 line dialogue using the extended greeting, without transliteration.
Website writing task (Stretch): Website homework: write a six-line imaginary dialogue between two speakers. Use at least four phrases from today, and make every line respond to the one before it.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This is the website dialogue (section 6, “Notice who is speaking to whom”).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(F2-L02 · What Is Your Name?) will spend class time USING this language, so students prepare it tonight — short, simple, easy to access (school guidance: “Simple, Short, Interesting, Relevant, Easy to access”). The five words are the website F2-L02 vocabulary (the name question, the answer, “pleased to meet you” and introducing a friend).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cs typeface="Amiri" pitchFamily="2" charset="-78"/>
              </a:rPr>
              <a:t>Hello, Goodbye &amp; How Are You?</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مَرْحَبًا! كَيْفَ حَالُكَ؟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Move from reading Arabic to using it with another person: open with a suitable greeting, give the paired reply, ask how someone is (to a boy or a girl), answer, and close the exchange politely.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F2-L01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Greeting pairs, then </a:t>
            </a:r>
            <a:pPr algn="ctr" indent="0" marL="0">
              <a:buNone/>
            </a:pPr>
            <a:r>
              <a:rPr lang="ar-SA" altLang="en-US" sz="1550" dirty="0">
                <a:solidFill>
                  <a:srgbClr val="1F2A37"/>
                </a:solidFill>
                <a:latin typeface="Amiri" pitchFamily="2" charset="-78"/>
                <a:ea typeface="Amiri" pitchFamily="2" charset="-78"/>
                <a:cs typeface="Amiri" pitchFamily="2" charset="-78"/>
              </a:rPr>
              <a:t>كَ</a:t>
            </a:r>
            <a:pPr algn="ctr" indent="0" marL="0">
              <a:buNone/>
            </a:pPr>
            <a:r>
              <a:rPr lang="en-US" sz="1200" dirty="0">
                <a:solidFill>
                  <a:srgbClr val="1F2A37"/>
                </a:solidFill>
                <a:latin typeface="Calibri" pitchFamily="34" charset="0"/>
                <a:cs typeface="Amiri" pitchFamily="2" charset="-78"/>
              </a:rPr>
              <a:t> for a boy and </a:t>
            </a:r>
            <a:pPr algn="ctr" indent="0" marL="0">
              <a:buNone/>
            </a:pPr>
            <a:r>
              <a:rPr lang="ar-SA" altLang="en-US" sz="1550" dirty="0">
                <a:solidFill>
                  <a:srgbClr val="1F2A37"/>
                </a:solidFill>
                <a:latin typeface="Amiri" pitchFamily="2" charset="-78"/>
                <a:ea typeface="Amiri" pitchFamily="2" charset="-78"/>
                <a:cs typeface="Amiri" pitchFamily="2" charset="-78"/>
              </a:rPr>
              <a:t>كِ</a:t>
            </a:r>
            <a:pPr algn="ctr" indent="0" marL="0">
              <a:buNone/>
            </a:pPr>
            <a:r>
              <a:rPr lang="en-US" sz="1200" dirty="0">
                <a:solidFill>
                  <a:srgbClr val="1F2A37"/>
                </a:solidFill>
                <a:latin typeface="Calibri" pitchFamily="34" charset="0"/>
                <a:cs typeface="Amiri" pitchFamily="2" charset="-78"/>
              </a:rPr>
              <a:t> for a girl.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response relay, listen and fix.</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مَرْحَبًا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goodbye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welcome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reply to this greeting.</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السَّلَامُ عَلَيْكُمْ</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وَعَلَيْكُمُ السَّلَامُ</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letter is </a:t>
            </a:r>
            <a:pPr algn="l" indent="0" marL="0">
              <a:buNone/>
            </a:pPr>
            <a:r>
              <a:rPr lang="ar-SA" altLang="en-US" sz="1550" b="1" dirty="0">
                <a:solidFill>
                  <a:srgbClr val="1B3B6F"/>
                </a:solidFill>
                <a:latin typeface="Amiri" pitchFamily="2" charset="-78"/>
                <a:ea typeface="Amiri" pitchFamily="2" charset="-78"/>
                <a:cs typeface="Amiri" pitchFamily="2" charset="-78"/>
              </a:rPr>
              <a:t>ح</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ح</a:t>
            </a:r>
            <a:endParaRPr lang="ar-SA" sz="22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jīm</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khāʾ</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ḥāʾ</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reading.</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a:t>
            </a:r>
            <a:endParaRPr lang="ar-SA" sz="22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sabah</a:t>
            </a:r>
            <a:endParaRPr lang="en-US"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ṣubḥ</a:t>
            </a:r>
            <a:endParaRPr lang="en-US"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ṣabāḥ</a:t>
            </a:r>
            <a:endParaRPr lang="en-US"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What does the tanwīn on this word add?</a:t>
            </a:r>
            <a:endParaRPr lang="en-US" sz="10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بِخَيْرٍ</a:t>
            </a:r>
            <a:endParaRPr lang="ar-SA" sz="22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 ending</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doubled letter</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ā</a:t>
            </a:r>
            <a:endParaRPr lang="en-US" sz="1250" dirty="0"/>
          </a:p>
        </p:txBody>
      </p:sp>
      <p:sp>
        <p:nvSpPr>
          <p:cNvPr id="84" name="Shape 8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6" name="Text 8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7" name="Text 8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8" name="Text 8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مَرْحَبًا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goodbye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hello, welcome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thank you</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reply to this greeting.</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السَّلَامُ عَلَيْكُمْ</a:t>
            </a:r>
            <a:endParaRPr lang="ar-SA" sz="220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وَعَلَيْكُمُ السَّلَامُ</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مَرْحَبًا</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اِسْمِي</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the reply returns the peace.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letter is </a:t>
            </a:r>
            <a:pPr algn="l" indent="0" marL="0">
              <a:buNone/>
            </a:pPr>
            <a:r>
              <a:rPr lang="ar-SA" altLang="en-US" sz="1550" b="1" dirty="0">
                <a:solidFill>
                  <a:srgbClr val="1B3B6F"/>
                </a:solidFill>
                <a:latin typeface="Amiri" pitchFamily="2" charset="-78"/>
                <a:ea typeface="Amiri" pitchFamily="2" charset="-78"/>
                <a:cs typeface="Amiri" pitchFamily="2" charset="-78"/>
              </a:rPr>
              <a:t>ح</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ح</a:t>
            </a:r>
            <a:endParaRPr lang="ar-SA" sz="220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jīm</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khāʾ</a:t>
            </a:r>
            <a:endParaRPr lang="en-US" sz="125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ḥāʾ</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 no dot — the throat letter ḥāʾ.</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closest reading.</a:t>
            </a:r>
            <a:endParaRPr lang="en-US" sz="1200" dirty="0"/>
          </a:p>
        </p:txBody>
      </p:sp>
      <p:sp>
        <p:nvSpPr>
          <p:cNvPr id="66" name="Text 63"/>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a:t>
            </a:r>
            <a:endParaRPr lang="ar-SA" sz="2200" dirty="0"/>
          </a:p>
        </p:txBody>
      </p:sp>
      <p:sp>
        <p:nvSpPr>
          <p:cNvPr id="67"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sabah</a:t>
            </a:r>
            <a:endParaRPr lang="en-US" sz="125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ṣubḥ</a:t>
            </a:r>
            <a:endParaRPr lang="en-US" sz="1250" dirty="0"/>
          </a:p>
        </p:txBody>
      </p:sp>
      <p:sp>
        <p:nvSpPr>
          <p:cNvPr id="73"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ṣabāḥ</a:t>
            </a:r>
            <a:endParaRPr lang="en-US" sz="1250" dirty="0"/>
          </a:p>
        </p:txBody>
      </p:sp>
      <p:sp>
        <p:nvSpPr>
          <p:cNvPr id="77"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 decoding: </a:t>
            </a:r>
            <a:pPr algn="l" indent="0" marL="0">
              <a:buNone/>
            </a:pPr>
            <a:r>
              <a:rPr lang="ar-SA" altLang="en-US" sz="1350" dirty="0">
                <a:solidFill>
                  <a:srgbClr val="8A6D1E"/>
                </a:solidFill>
                <a:latin typeface="Amiri" pitchFamily="2" charset="-78"/>
                <a:ea typeface="Amiri" pitchFamily="2" charset="-78"/>
                <a:cs typeface="Amiri" pitchFamily="2" charset="-78"/>
              </a:rPr>
              <a:t>ص</a:t>
            </a:r>
            <a:pPr algn="l" indent="0" marL="0">
              <a:buNone/>
            </a:pPr>
            <a:r>
              <a:rPr lang="en-US" sz="1050" i="1" dirty="0">
                <a:solidFill>
                  <a:srgbClr val="8A6D1E"/>
                </a:solidFill>
                <a:latin typeface="Calibri" pitchFamily="34" charset="0"/>
                <a:cs typeface="Amiri" pitchFamily="2" charset="-78"/>
              </a:rPr>
              <a:t> is ṣād; alif gives long ā.</a:t>
            </a:r>
            <a:endParaRPr lang="en-US" sz="1050" dirty="0"/>
          </a:p>
        </p:txBody>
      </p:sp>
      <p:sp>
        <p:nvSpPr>
          <p:cNvPr id="78"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What does the tanwīn on this word add?</a:t>
            </a:r>
            <a:endParaRPr lang="en-US" sz="1000" dirty="0"/>
          </a:p>
        </p:txBody>
      </p:sp>
      <p:sp>
        <p:nvSpPr>
          <p:cNvPr id="82" name="Text 7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بِخَيْرٍ</a:t>
            </a:r>
            <a:endParaRPr lang="ar-SA" sz="2200" dirty="0"/>
          </a:p>
        </p:txBody>
      </p:sp>
      <p:sp>
        <p:nvSpPr>
          <p:cNvPr id="83"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-in ending</a:t>
            </a:r>
            <a:endParaRPr lang="en-US" sz="125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doubled letter</a:t>
            </a:r>
            <a:endParaRPr lang="en-US" sz="1250" dirty="0"/>
          </a:p>
        </p:txBody>
      </p:sp>
      <p:sp>
        <p:nvSpPr>
          <p:cNvPr id="90"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ā</a:t>
            </a:r>
            <a:endParaRPr lang="en-US" sz="125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F1-L06: two kasras = -in (bi-khayr-in).</a:t>
            </a:r>
            <a:endParaRPr lang="en-US" sz="1050" dirty="0"/>
          </a:p>
        </p:txBody>
      </p:sp>
      <p:sp>
        <p:nvSpPr>
          <p:cNvPr id="94" name="Shape 9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5" name="Text 9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6" name="Text 9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greeting usually comes in a PAIR: one person opens, the other gives the matching reply.</a:t>
            </a:r>
            <a:endParaRPr lang="en-US" sz="1300" dirty="0"/>
          </a:p>
        </p:txBody>
      </p:sp>
      <p:sp>
        <p:nvSpPr>
          <p:cNvPr id="97" name="Text 9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صَبَاحُ الخَيْرِ ← صَبَاحُ النُّورِ</a:t>
            </a:r>
            <a:endParaRPr lang="ar-SA" sz="240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least four different greeting moves.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the correct response to three greeting pairs.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t>
            </a:r>
            <a:pPr algn="l" indent="0" marL="0">
              <a:buNone/>
            </a:pPr>
            <a:r>
              <a:rPr lang="ar-SA" altLang="en-US" sz="1700" dirty="0">
                <a:solidFill>
                  <a:srgbClr val="1F2A37"/>
                </a:solidFill>
                <a:latin typeface="Amiri" pitchFamily="2" charset="-78"/>
                <a:ea typeface="Amiri" pitchFamily="2" charset="-78"/>
                <a:cs typeface="Amiri" pitchFamily="2" charset="-78"/>
              </a:rPr>
              <a:t>حَالُكَ</a:t>
            </a:r>
            <a:pPr algn="l" indent="0" marL="0">
              <a:buNone/>
            </a:pPr>
            <a:r>
              <a:rPr lang="en-US" sz="1300" dirty="0">
                <a:solidFill>
                  <a:srgbClr val="1F2A37"/>
                </a:solidFill>
                <a:latin typeface="Calibri" pitchFamily="34" charset="0"/>
                <a:cs typeface="Amiri" pitchFamily="2" charset="-78"/>
              </a:rPr>
              <a:t> (to a boy) from </a:t>
            </a:r>
            <a:pPr algn="l" indent="0" marL="0">
              <a:buNone/>
            </a:pPr>
            <a:r>
              <a:rPr lang="ar-SA" altLang="en-US" sz="1700" dirty="0">
                <a:solidFill>
                  <a:srgbClr val="1F2A37"/>
                </a:solidFill>
                <a:latin typeface="Amiri" pitchFamily="2" charset="-78"/>
                <a:ea typeface="Amiri" pitchFamily="2" charset="-78"/>
                <a:cs typeface="Amiri" pitchFamily="2" charset="-78"/>
              </a:rPr>
              <a:t>حَالُكِ</a:t>
            </a:r>
            <a:pPr algn="l" indent="0" marL="0">
              <a:buNone/>
            </a:pPr>
            <a:r>
              <a:rPr lang="en-US" sz="1300" dirty="0">
                <a:solidFill>
                  <a:srgbClr val="1F2A37"/>
                </a:solidFill>
                <a:latin typeface="Calibri" pitchFamily="34" charset="0"/>
                <a:cs typeface="Amiri" pitchFamily="2" charset="-78"/>
              </a:rPr>
              <a:t> (to a girl).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Perform a four-line exchange without reading every word.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and answer the peace greeting and “hello”.</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“how are you?” with “fine”.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the morning and evening pairs.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choose -ka (boy) or -ki (girl) for my listener.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hold a six-line exchange with the model hidden.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the extended greeting respectfully.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14 phrases from the website in 3 groups. Learn them as PAIRS: A says → B replies.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Opening and welcome · 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Time of day · 4</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Check in and close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السَّلَامُ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‎سلام‎ </a:t>
            </a:r>
            <a:pPr indent="0" marL="0">
              <a:buNone/>
            </a:pPr>
            <a:r>
              <a:rPr lang="en-US" sz="950" b="1" dirty="0">
                <a:solidFill>
                  <a:srgbClr val="2E8B57"/>
                </a:solidFill>
                <a:latin typeface="Calibri" pitchFamily="34" charset="0"/>
                <a:cs typeface="Amiri" pitchFamily="2" charset="-78"/>
              </a:rPr>
              <a:t> salām · peace, greeting</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خَيْرٌ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‎خیر‎ </a:t>
            </a:r>
            <a:pPr indent="0" marL="0">
              <a:buNone/>
            </a:pPr>
            <a:r>
              <a:rPr lang="en-US" sz="950" b="1" dirty="0">
                <a:solidFill>
                  <a:srgbClr val="2E8B57"/>
                </a:solidFill>
                <a:latin typeface="Calibri" pitchFamily="34" charset="0"/>
                <a:cs typeface="Amiri" pitchFamily="2" charset="-78"/>
              </a:rPr>
              <a:t> khair · good, well-being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حَالٌ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‎حال‎ </a:t>
            </a:r>
            <a:pPr indent="0" marL="0">
              <a:buNone/>
            </a:pPr>
            <a:r>
              <a:rPr lang="en-US" sz="950" b="1" dirty="0">
                <a:solidFill>
                  <a:srgbClr val="2E8B57"/>
                </a:solidFill>
                <a:latin typeface="Calibri" pitchFamily="34" charset="0"/>
                <a:cs typeface="Amiri" pitchFamily="2" charset="-78"/>
              </a:rPr>
              <a:t> hāl · condition, state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شُكْرًا</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‎شکریہ‎ </a:t>
            </a:r>
            <a:pPr indent="0" marL="0">
              <a:buNone/>
            </a:pPr>
            <a:r>
              <a:rPr lang="en-US" sz="950" b="1" dirty="0">
                <a:solidFill>
                  <a:srgbClr val="2E8B57"/>
                </a:solidFill>
                <a:latin typeface="Calibri" pitchFamily="34" charset="0"/>
                <a:cs typeface="Amiri" pitchFamily="2" charset="-78"/>
              </a:rPr>
              <a:t> shukriya · thank you</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صَبَاحٌ</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‎صبح‎ </a:t>
            </a:r>
            <a:pPr indent="0" marL="0">
              <a:buNone/>
            </a:pPr>
            <a:r>
              <a:rPr lang="en-US" sz="950" b="1" dirty="0">
                <a:solidFill>
                  <a:srgbClr val="2E8B57"/>
                </a:solidFill>
                <a:latin typeface="Calibri" pitchFamily="34" charset="0"/>
                <a:cs typeface="Amiri" pitchFamily="2" charset="-78"/>
              </a:rPr>
              <a:t> subah · morning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OPEN AND WELCOME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Opening and welcome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التَّحِيَّةُ وَالتَّرْحِيبُ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السَّلَامُ عَلَيْكُمْ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Peace be upon you.</a:t>
            </a:r>
            <a:endParaRPr lang="en-US" sz="1350" dirty="0"/>
          </a:p>
          <a:p>
            <a:pPr indent="0" marL="0">
              <a:buNone/>
            </a:pPr>
            <a:r>
              <a:rPr lang="en-US" sz="1100" i="1" dirty="0">
                <a:solidFill>
                  <a:srgbClr val="5A6472"/>
                </a:solidFill>
                <a:latin typeface="Calibri" pitchFamily="34" charset="0"/>
                <a:cs typeface="Amiri" pitchFamily="2" charset="-78"/>
              </a:rPr>
              <a:t>as-sa-lā-mu ʿa-lay-kum</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Widely used greeting of Islamic origin.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وَعَلَيْكُمُ السَّلَامُ</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upon you be peace.</a:t>
            </a:r>
            <a:endParaRPr lang="en-US" sz="1350" dirty="0"/>
          </a:p>
          <a:p>
            <a:pPr indent="0" marL="0">
              <a:buNone/>
            </a:pPr>
            <a:r>
              <a:rPr lang="en-US" sz="1100" i="1" dirty="0">
                <a:solidFill>
                  <a:srgbClr val="5A6472"/>
                </a:solidFill>
                <a:latin typeface="Calibri" pitchFamily="34" charset="0"/>
                <a:cs typeface="Amiri" pitchFamily="2" charset="-78"/>
              </a:rPr>
              <a:t>wa-ʿa-lay-ku-mu s-sa-lām</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reply turns it round: “and upon YOU”.</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 + reply</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مَرْحَبًا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Hello / welcome.</a:t>
            </a:r>
            <a:endParaRPr lang="en-US" sz="1350" dirty="0"/>
          </a:p>
          <a:p>
            <a:pPr indent="0" marL="0">
              <a:buNone/>
            </a:pPr>
            <a:r>
              <a:rPr lang="en-US" sz="1100" i="1" dirty="0">
                <a:solidFill>
                  <a:srgbClr val="5A6472"/>
                </a:solidFill>
                <a:latin typeface="Calibri" pitchFamily="34" charset="0"/>
                <a:cs typeface="Amiri" pitchFamily="2" charset="-78"/>
              </a:rPr>
              <a:t>mar-ḥa-ban</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Flexible: answer with the same word.</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welcome</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أَهْلًا وَسَهْلًا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Welcome.</a:t>
            </a:r>
            <a:endParaRPr lang="en-US" sz="1350" dirty="0"/>
          </a:p>
          <a:p>
            <a:pPr indent="0" marL="0">
              <a:buNone/>
            </a:pPr>
            <a:r>
              <a:rPr lang="en-US" sz="1100" i="1" dirty="0">
                <a:solidFill>
                  <a:srgbClr val="5A6472"/>
                </a:solidFill>
                <a:latin typeface="Calibri" pitchFamily="34" charset="0"/>
                <a:cs typeface="Amiri" pitchFamily="2" charset="-78"/>
              </a:rPr>
              <a:t>ah-lan wa-sah-lan</a:t>
            </a:r>
            <a:endParaRPr lang="en-US" sz="1350" dirty="0"/>
          </a:p>
        </p:txBody>
      </p:sp>
      <p:sp>
        <p:nvSpPr>
          <p:cNvPr id="54" name="Text 5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Idiomatic: the meaning matters, not word-for-word.</a:t>
            </a:r>
            <a:endParaRPr lang="en-US" sz="100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8" name="Shape 5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عَلَيْكَ</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upon you</a:t>
            </a:r>
            <a:endParaRPr lang="en-US" sz="1350" dirty="0"/>
          </a:p>
          <a:p>
            <a:pPr indent="0" marL="0">
              <a:buNone/>
            </a:pPr>
            <a:r>
              <a:rPr lang="en-US" sz="1100" i="1" dirty="0">
                <a:solidFill>
                  <a:srgbClr val="5A6472"/>
                </a:solidFill>
                <a:latin typeface="Calibri" pitchFamily="34" charset="0"/>
                <a:cs typeface="Amiri" pitchFamily="2" charset="-78"/>
              </a:rPr>
              <a:t>to one boy · to one girl · to a group</a:t>
            </a:r>
            <a:endParaRPr lang="en-US" sz="1350" dirty="0"/>
          </a:p>
        </p:txBody>
      </p:sp>
      <p:sp>
        <p:nvSpPr>
          <p:cNvPr id="62" name="Shape 59"/>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عَلَيْكَ</a:t>
            </a:r>
            <a:endParaRPr lang="ar-SA" sz="1500" dirty="0"/>
          </a:p>
        </p:txBody>
      </p:sp>
      <p:sp>
        <p:nvSpPr>
          <p:cNvPr id="65" name="Shape 62"/>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عَلَيْكِ</a:t>
            </a:r>
            <a:endParaRPr lang="ar-SA" sz="1500" dirty="0"/>
          </a:p>
        </p:txBody>
      </p:sp>
      <p:sp>
        <p:nvSpPr>
          <p:cNvPr id="68" name="Shape 65"/>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عَلَيْكُمْ</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4" name="Shape 71"/>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76" name="Text 7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150" b="1" dirty="0">
                <a:solidFill>
                  <a:srgbClr val="1B3B6F"/>
                </a:solidFill>
                <a:latin typeface="Amiri" pitchFamily="2" charset="-78"/>
                <a:ea typeface="Amiri" pitchFamily="2" charset="-78"/>
                <a:cs typeface="Amiri" pitchFamily="2" charset="-78"/>
              </a:rPr>
              <a:t>السَّلَامُ عَلَيْكُمْ وَرَحْمَةُ اللَّهِ وَبَرَكَاتُهُ</a:t>
            </a:r>
            <a:endParaRPr lang="ar-SA" sz="2150" dirty="0"/>
          </a:p>
        </p:txBody>
      </p:sp>
      <p:sp>
        <p:nvSpPr>
          <p:cNvPr id="77" name="Text 7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extended greeting (Stretch)</a:t>
            </a:r>
            <a:endParaRPr lang="en-US" sz="1350" dirty="0"/>
          </a:p>
          <a:p>
            <a:pPr indent="0" marL="0">
              <a:buNone/>
            </a:pPr>
            <a:r>
              <a:rPr lang="en-US" sz="1100" i="1" dirty="0">
                <a:solidFill>
                  <a:srgbClr val="5A6472"/>
                </a:solidFill>
                <a:latin typeface="Calibri" pitchFamily="34" charset="0"/>
                <a:cs typeface="Amiri" pitchFamily="2" charset="-78"/>
              </a:rPr>
              <a:t>… and the mercy of God and His blessings</a:t>
            </a:r>
            <a:endParaRPr lang="en-US" sz="13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TIME OF DAY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Morning and evening pairs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تَحِيَّاتُ الصَّبَاحِ وَالمَسَاءِ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 الخَيْرِ</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morning.</a:t>
            </a:r>
            <a:endParaRPr lang="en-US" sz="1350" dirty="0"/>
          </a:p>
          <a:p>
            <a:pPr indent="0" marL="0">
              <a:buNone/>
            </a:pPr>
            <a:r>
              <a:rPr lang="en-US" sz="1100" i="1" dirty="0">
                <a:solidFill>
                  <a:srgbClr val="5A6472"/>
                </a:solidFill>
                <a:latin typeface="Calibri" pitchFamily="34" charset="0"/>
                <a:cs typeface="Amiri" pitchFamily="2" charset="-78"/>
              </a:rPr>
              <a:t>ṣa-bā-ḥu l-khayr</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Literally: morning of goodness.</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صَبَاحُ النُّورِ</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morning. (reply)</a:t>
            </a:r>
            <a:endParaRPr lang="en-US" sz="1350" dirty="0"/>
          </a:p>
          <a:p>
            <a:pPr indent="0" marL="0">
              <a:buNone/>
            </a:pPr>
            <a:r>
              <a:rPr lang="en-US" sz="1100" i="1" dirty="0">
                <a:solidFill>
                  <a:srgbClr val="5A6472"/>
                </a:solidFill>
                <a:latin typeface="Calibri" pitchFamily="34" charset="0"/>
                <a:cs typeface="Amiri" pitchFamily="2" charset="-78"/>
              </a:rPr>
              <a:t>ṣa-bā-ḥu n-nūr</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Literally: morning of light.</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open</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 الخَيْرِ</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evening.</a:t>
            </a:r>
            <a:endParaRPr lang="en-US" sz="1350" dirty="0"/>
          </a:p>
          <a:p>
            <a:pPr indent="0" marL="0">
              <a:buNone/>
            </a:pPr>
            <a:r>
              <a:rPr lang="en-US" sz="1100" i="1" dirty="0">
                <a:solidFill>
                  <a:srgbClr val="5A6472"/>
                </a:solidFill>
                <a:latin typeface="Calibri" pitchFamily="34" charset="0"/>
                <a:cs typeface="Amiri" pitchFamily="2" charset="-78"/>
              </a:rPr>
              <a:t>ma-sā-ʾu l-khayr</a:t>
            </a:r>
            <a:endParaRPr lang="en-US" sz="1350" dirty="0"/>
          </a:p>
        </p:txBody>
      </p:sp>
      <p:sp>
        <p:nvSpPr>
          <p:cNvPr id="42" name="Text 3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hamza is a short stop.</a:t>
            </a:r>
            <a:endParaRPr lang="en-US" sz="10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6" name="Shape 4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reply</a:t>
            </a:r>
            <a:endParaRPr lang="en-US" sz="8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مَسَاءُ النُّورِ</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evening. (reply)</a:t>
            </a:r>
            <a:endParaRPr lang="en-US" sz="1350" dirty="0"/>
          </a:p>
          <a:p>
            <a:pPr indent="0" marL="0">
              <a:buNone/>
            </a:pPr>
            <a:r>
              <a:rPr lang="en-US" sz="1100" i="1" dirty="0">
                <a:solidFill>
                  <a:srgbClr val="5A6472"/>
                </a:solidFill>
                <a:latin typeface="Calibri" pitchFamily="34" charset="0"/>
                <a:cs typeface="Amiri" pitchFamily="2" charset="-78"/>
              </a:rPr>
              <a:t>ma-sā-ʾu n-nūr</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Keep the evening pair.</a:t>
            </a:r>
            <a:endParaRPr lang="en-US" sz="1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CHECK IN AND CLOSE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are you? and goodbye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السُّؤَالُ عَنِ الحَالِ وَالوَدَاعُ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كَيْفَ حَالُكَ؟</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are you?</a:t>
            </a:r>
            <a:endParaRPr lang="en-US" sz="1350" dirty="0"/>
          </a:p>
          <a:p>
            <a:pPr indent="0" marL="0">
              <a:buNone/>
            </a:pPr>
            <a:r>
              <a:rPr lang="en-US" sz="1100" i="1" dirty="0">
                <a:solidFill>
                  <a:srgbClr val="5A6472"/>
                </a:solidFill>
                <a:latin typeface="Calibri" pitchFamily="34" charset="0"/>
                <a:cs typeface="Amiri" pitchFamily="2" charset="-78"/>
              </a:rPr>
              <a:t>kay-fa ḥā-lu-ka · -ki · -kum</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حَالُكَ</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حَالُكِ</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حَالُكُمْ</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بِخَيْرٍ، الحَمْدُ لِلَّهِ</a:t>
            </a:r>
            <a:endParaRPr lang="ar-SA" sz="3000" dirty="0"/>
          </a:p>
        </p:txBody>
      </p:sp>
      <p:sp>
        <p:nvSpPr>
          <p:cNvPr id="41" name="Text 3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Fine, praise be to God.</a:t>
            </a:r>
            <a:endParaRPr lang="en-US" sz="1350" dirty="0"/>
          </a:p>
          <a:p>
            <a:pPr indent="0" marL="0">
              <a:buNone/>
            </a:pPr>
            <a:r>
              <a:rPr lang="en-US" sz="1100" i="1" dirty="0">
                <a:solidFill>
                  <a:srgbClr val="5A6472"/>
                </a:solidFill>
                <a:latin typeface="Calibri" pitchFamily="34" charset="0"/>
                <a:cs typeface="Amiri" pitchFamily="2" charset="-78"/>
              </a:rPr>
              <a:t>bi-khay-rin, al-ḥam-du lil-lāh</a:t>
            </a:r>
            <a:endParaRPr lang="en-US" sz="1350" dirty="0"/>
          </a:p>
        </p:txBody>
      </p:sp>
      <p:sp>
        <p:nvSpPr>
          <p:cNvPr id="42" name="Text 3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بِخَيْرٍ</a:t>
            </a:r>
            <a:pPr algn="l" indent="0" marL="0">
              <a:buNone/>
            </a:pPr>
            <a:r>
              <a:rPr lang="en-US" sz="1000" i="1" dirty="0">
                <a:solidFill>
                  <a:srgbClr val="8A6D1E"/>
                </a:solidFill>
                <a:latin typeface="Calibri" pitchFamily="34" charset="0"/>
                <a:cs typeface="Amiri" pitchFamily="2" charset="-78"/>
              </a:rPr>
              <a:t> can stand alone.</a:t>
            </a:r>
            <a:endParaRPr lang="en-US" sz="10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6" name="Shape 4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polite</a:t>
            </a:r>
            <a:endParaRPr lang="en-US" sz="800" dirty="0"/>
          </a:p>
        </p:txBody>
      </p:sp>
      <p:sp>
        <p:nvSpPr>
          <p:cNvPr id="48" name="Shape 4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شُكْرًا</a:t>
            </a:r>
            <a:endParaRPr lang="ar-SA" sz="3000" dirty="0"/>
          </a:p>
        </p:txBody>
      </p:sp>
      <p:sp>
        <p:nvSpPr>
          <p:cNvPr id="51" name="Text 4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Thank you.</a:t>
            </a:r>
            <a:endParaRPr lang="en-US" sz="1350" dirty="0"/>
          </a:p>
          <a:p>
            <a:pPr indent="0" marL="0">
              <a:buNone/>
            </a:pPr>
            <a:r>
              <a:rPr lang="en-US" sz="1100" i="1" dirty="0">
                <a:solidFill>
                  <a:srgbClr val="5A6472"/>
                </a:solidFill>
                <a:latin typeface="Calibri" pitchFamily="34" charset="0"/>
                <a:cs typeface="Amiri" pitchFamily="2" charset="-78"/>
              </a:rPr>
              <a:t>shuk-ran</a:t>
            </a:r>
            <a:endParaRPr lang="en-US" sz="1350" dirty="0"/>
          </a:p>
        </p:txBody>
      </p:sp>
      <p:sp>
        <p:nvSpPr>
          <p:cNvPr id="52" name="Text 4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shukriya.</a:t>
            </a:r>
            <a:endParaRPr lang="en-US" sz="10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6" name="Shape 53"/>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وَأَنْتَ؟</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you?</a:t>
            </a:r>
            <a:endParaRPr lang="en-US" sz="1350" dirty="0"/>
          </a:p>
          <a:p>
            <a:pPr indent="0" marL="0">
              <a:buNone/>
            </a:pPr>
            <a:r>
              <a:rPr lang="en-US" sz="1100" i="1" dirty="0">
                <a:solidFill>
                  <a:srgbClr val="5A6472"/>
                </a:solidFill>
                <a:latin typeface="Calibri" pitchFamily="34" charset="0"/>
                <a:cs typeface="Amiri" pitchFamily="2" charset="-78"/>
              </a:rPr>
              <a:t>wa-an-ta · wa-an-ti · wa-an-tum</a:t>
            </a:r>
            <a:endParaRPr lang="en-US" sz="1350" dirty="0"/>
          </a:p>
        </p:txBody>
      </p:sp>
      <p:sp>
        <p:nvSpPr>
          <p:cNvPr id="60" name="Shape 5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a:t>
            </a:r>
            <a:endParaRPr lang="ar-SA" sz="1500" dirty="0"/>
          </a:p>
        </p:txBody>
      </p:sp>
      <p:sp>
        <p:nvSpPr>
          <p:cNvPr id="63" name="Shape 6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a:t>
            </a:r>
            <a:endParaRPr lang="ar-SA" sz="1500" dirty="0"/>
          </a:p>
        </p:txBody>
      </p:sp>
      <p:sp>
        <p:nvSpPr>
          <p:cNvPr id="66" name="Shape 6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وَأَنْتُمْ؟</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 السَّلَامَةِ</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Goodbye.</a:t>
            </a:r>
            <a:endParaRPr lang="en-US" sz="1350" dirty="0"/>
          </a:p>
          <a:p>
            <a:pPr indent="0" marL="0">
              <a:buNone/>
            </a:pPr>
            <a:r>
              <a:rPr lang="en-US" sz="1100" i="1" dirty="0">
                <a:solidFill>
                  <a:srgbClr val="5A6472"/>
                </a:solidFill>
                <a:latin typeface="Calibri" pitchFamily="34" charset="0"/>
                <a:cs typeface="Amiri" pitchFamily="2" charset="-78"/>
              </a:rPr>
              <a:t>ma-ʿa s-sa-lā-ma</a:t>
            </a:r>
            <a:endParaRPr lang="en-US" sz="1350" dirty="0"/>
          </a:p>
        </p:txBody>
      </p:sp>
      <p:sp>
        <p:nvSpPr>
          <p:cNvPr id="78" name="Text 7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general, polite closing.</a:t>
            </a:r>
            <a:endParaRPr lang="en-US" sz="10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82" name="Shape 7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close</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إِلَى اللِّقَاءِ</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See you later.</a:t>
            </a:r>
            <a:endParaRPr lang="en-US" sz="1350" dirty="0"/>
          </a:p>
          <a:p>
            <a:pPr indent="0" marL="0">
              <a:buNone/>
            </a:pPr>
            <a:r>
              <a:rPr lang="en-US" sz="1100" i="1" dirty="0">
                <a:solidFill>
                  <a:srgbClr val="5A6472"/>
                </a:solidFill>
                <a:latin typeface="Calibri" pitchFamily="34" charset="0"/>
                <a:cs typeface="Amiri" pitchFamily="2" charset="-78"/>
              </a:rPr>
              <a:t>i-lā l-li-qāʾ</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When you will meet again.</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THE CONVERSATION MAP (WEBSITE) · FIVE MOVES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greeting is a social action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التَّحِيَّةُ تَفْتَحُ الحِوَارَ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اِفْتَحْ ← رُدَّ</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1 · Open → 2 · Respond</a:t>
            </a:r>
            <a:endParaRPr lang="en-US" sz="900" dirty="0"/>
          </a:p>
        </p:txBody>
      </p:sp>
      <p:sp>
        <p:nvSpPr>
          <p:cNvPr id="19" name="Shape 16"/>
          <p:cNvSpPr/>
          <p:nvPr/>
        </p:nvSpPr>
        <p:spPr>
          <a:xfrm>
            <a:off x="6336792" y="1810512"/>
            <a:ext cx="2642616" cy="566928"/>
          </a:xfrm>
          <a:prstGeom prst="roundRect">
            <a:avLst>
              <a:gd name="adj" fmla="val 9677"/>
            </a:avLst>
          </a:prstGeom>
          <a:solidFill>
            <a:srgbClr val="6B4C9A"/>
          </a:solidFill>
          <a:ln w="12700">
            <a:solidFill>
              <a:srgbClr val="6B4C9A"/>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اِسْأَلْ ← أَجِبْ</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3 · Check in → 4 · Answer</a:t>
            </a:r>
            <a:endParaRPr lang="en-US" sz="900" dirty="0"/>
          </a:p>
        </p:txBody>
      </p:sp>
      <p:sp>
        <p:nvSpPr>
          <p:cNvPr id="22" name="Shape 19"/>
          <p:cNvSpPr/>
          <p:nvPr/>
        </p:nvSpPr>
        <p:spPr>
          <a:xfrm>
            <a:off x="3584448" y="1810512"/>
            <a:ext cx="2642616" cy="566928"/>
          </a:xfrm>
          <a:prstGeom prst="roundRect">
            <a:avLst>
              <a:gd name="adj" fmla="val 9677"/>
            </a:avLst>
          </a:prstGeom>
          <a:solidFill>
            <a:srgbClr val="0E7C86"/>
          </a:solidFill>
          <a:ln w="12700">
            <a:solidFill>
              <a:srgbClr val="0E7C86"/>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وَدِّعْ</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5 · Close</a:t>
            </a:r>
            <a:endParaRPr lang="en-US" sz="900" dirty="0"/>
          </a:p>
        </p:txBody>
      </p:sp>
      <p:sp>
        <p:nvSpPr>
          <p:cNvPr id="25" name="Text 22"/>
          <p:cNvSpPr txBox="1"/>
          <p:nvPr/>
        </p:nvSpPr>
        <p:spPr>
          <a:xfrm>
            <a:off x="457200" y="2487168"/>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Morning: open, ask a girl, close.</a:t>
            </a:r>
            <a:endParaRPr lang="en-US" sz="1200" dirty="0"/>
          </a:p>
        </p:txBody>
      </p:sp>
      <p:sp>
        <p:nvSpPr>
          <p:cNvPr id="26" name="Shape 23"/>
          <p:cNvSpPr/>
          <p:nvPr/>
        </p:nvSpPr>
        <p:spPr>
          <a:xfrm>
            <a:off x="9089136" y="2487168"/>
            <a:ext cx="2642616" cy="822960"/>
          </a:xfrm>
          <a:prstGeom prst="roundRect">
            <a:avLst>
              <a:gd name="adj" fmla="val 6667"/>
            </a:avLst>
          </a:prstGeom>
          <a:solidFill>
            <a:srgbClr val="EEF3FA"/>
          </a:solidFill>
          <a:ln w="9525">
            <a:solidFill>
              <a:srgbClr val="EEF3FA"/>
            </a:solidFill>
            <a:prstDash val="solid"/>
          </a:ln>
        </p:spPr>
      </p:sp>
      <p:sp>
        <p:nvSpPr>
          <p:cNvPr id="27" name="Text 24"/>
          <p:cNvSpPr txBox="1"/>
          <p:nvPr/>
        </p:nvSpPr>
        <p:spPr>
          <a:xfrm>
            <a:off x="9162288" y="2487168"/>
            <a:ext cx="2496312" cy="82296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صَبَاحُ الخَيْرِ ← صَبَاحُ النُّورِ</a:t>
            </a:r>
            <a:endParaRPr lang="ar-SA" sz="2100" dirty="0"/>
          </a:p>
        </p:txBody>
      </p:sp>
      <p:sp>
        <p:nvSpPr>
          <p:cNvPr id="28" name="Shape 25"/>
          <p:cNvSpPr/>
          <p:nvPr/>
        </p:nvSpPr>
        <p:spPr>
          <a:xfrm>
            <a:off x="6336792" y="2487168"/>
            <a:ext cx="2642616" cy="822960"/>
          </a:xfrm>
          <a:prstGeom prst="roundRect">
            <a:avLst>
              <a:gd name="adj" fmla="val 6667"/>
            </a:avLst>
          </a:prstGeom>
          <a:solidFill>
            <a:srgbClr val="F1ECF7"/>
          </a:solidFill>
          <a:ln w="9525">
            <a:solidFill>
              <a:srgbClr val="F1ECF7"/>
            </a:solidFill>
            <a:prstDash val="solid"/>
          </a:ln>
        </p:spPr>
      </p:sp>
      <p:sp>
        <p:nvSpPr>
          <p:cNvPr id="29" name="Text 26"/>
          <p:cNvSpPr txBox="1"/>
          <p:nvPr/>
        </p:nvSpPr>
        <p:spPr>
          <a:xfrm>
            <a:off x="6409944" y="2487168"/>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كَيْفَ حَالُكِ؟ ← بِخَيْرٍ</a:t>
            </a:r>
            <a:endParaRPr lang="ar-SA" sz="2400" dirty="0"/>
          </a:p>
        </p:txBody>
      </p:sp>
      <p:sp>
        <p:nvSpPr>
          <p:cNvPr id="30" name="Shape 27"/>
          <p:cNvSpPr/>
          <p:nvPr/>
        </p:nvSpPr>
        <p:spPr>
          <a:xfrm>
            <a:off x="3584448" y="2487168"/>
            <a:ext cx="2642616" cy="822960"/>
          </a:xfrm>
          <a:prstGeom prst="roundRect">
            <a:avLst>
              <a:gd name="adj" fmla="val 6667"/>
            </a:avLst>
          </a:prstGeom>
          <a:solidFill>
            <a:srgbClr val="E3F2F3"/>
          </a:solidFill>
          <a:ln w="9525">
            <a:solidFill>
              <a:srgbClr val="E3F2F3"/>
            </a:solidFill>
            <a:prstDash val="solid"/>
          </a:ln>
        </p:spPr>
      </p:sp>
      <p:sp>
        <p:nvSpPr>
          <p:cNvPr id="31" name="Text 28"/>
          <p:cNvSpPr txBox="1"/>
          <p:nvPr/>
        </p:nvSpPr>
        <p:spPr>
          <a:xfrm>
            <a:off x="3657600" y="2487168"/>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إِلَى اللِّقَاءِ</a:t>
            </a:r>
            <a:endParaRPr lang="ar-SA" sz="2400" dirty="0"/>
          </a:p>
        </p:txBody>
      </p:sp>
      <p:sp>
        <p:nvSpPr>
          <p:cNvPr id="32" name="Text 29"/>
          <p:cNvSpPr txBox="1"/>
          <p:nvPr/>
        </p:nvSpPr>
        <p:spPr>
          <a:xfrm>
            <a:off x="457200" y="3419856"/>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Any time: open, ask a boy, close.</a:t>
            </a:r>
            <a:endParaRPr lang="en-US" sz="1200" dirty="0"/>
          </a:p>
        </p:txBody>
      </p:sp>
      <p:sp>
        <p:nvSpPr>
          <p:cNvPr id="33" name="Shape 30"/>
          <p:cNvSpPr/>
          <p:nvPr/>
        </p:nvSpPr>
        <p:spPr>
          <a:xfrm>
            <a:off x="9089136" y="3419856"/>
            <a:ext cx="2642616" cy="822960"/>
          </a:xfrm>
          <a:prstGeom prst="roundRect">
            <a:avLst>
              <a:gd name="adj" fmla="val 6667"/>
            </a:avLst>
          </a:prstGeom>
          <a:solidFill>
            <a:srgbClr val="EEF3FA"/>
          </a:solidFill>
          <a:ln w="9525">
            <a:solidFill>
              <a:srgbClr val="EEF3FA"/>
            </a:solidFill>
            <a:prstDash val="solid"/>
          </a:ln>
        </p:spPr>
      </p:sp>
      <p:sp>
        <p:nvSpPr>
          <p:cNvPr id="34" name="Text 31"/>
          <p:cNvSpPr txBox="1"/>
          <p:nvPr/>
        </p:nvSpPr>
        <p:spPr>
          <a:xfrm>
            <a:off x="9162288" y="3419856"/>
            <a:ext cx="2496312" cy="82296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السَّلَامُ عَلَيْكُمْ ← وَعَلَيْكُمُ السَّلَامُ</a:t>
            </a:r>
            <a:endParaRPr lang="ar-SA" sz="1750" dirty="0"/>
          </a:p>
        </p:txBody>
      </p:sp>
      <p:sp>
        <p:nvSpPr>
          <p:cNvPr id="35" name="Shape 32"/>
          <p:cNvSpPr/>
          <p:nvPr/>
        </p:nvSpPr>
        <p:spPr>
          <a:xfrm>
            <a:off x="6336792" y="3419856"/>
            <a:ext cx="2642616" cy="822960"/>
          </a:xfrm>
          <a:prstGeom prst="roundRect">
            <a:avLst>
              <a:gd name="adj" fmla="val 6667"/>
            </a:avLst>
          </a:prstGeom>
          <a:solidFill>
            <a:srgbClr val="F1ECF7"/>
          </a:solidFill>
          <a:ln w="9525">
            <a:solidFill>
              <a:srgbClr val="F1ECF7"/>
            </a:solidFill>
            <a:prstDash val="solid"/>
          </a:ln>
        </p:spPr>
      </p:sp>
      <p:sp>
        <p:nvSpPr>
          <p:cNvPr id="36" name="Text 33"/>
          <p:cNvSpPr txBox="1"/>
          <p:nvPr/>
        </p:nvSpPr>
        <p:spPr>
          <a:xfrm>
            <a:off x="6409944"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كَيْفَ حَالُكَ؟ ← بِخَيْرٍ</a:t>
            </a:r>
            <a:endParaRPr lang="ar-SA" sz="2400" dirty="0"/>
          </a:p>
        </p:txBody>
      </p:sp>
      <p:sp>
        <p:nvSpPr>
          <p:cNvPr id="37" name="Shape 34"/>
          <p:cNvSpPr/>
          <p:nvPr/>
        </p:nvSpPr>
        <p:spPr>
          <a:xfrm>
            <a:off x="3584448" y="3419856"/>
            <a:ext cx="2642616" cy="822960"/>
          </a:xfrm>
          <a:prstGeom prst="roundRect">
            <a:avLst>
              <a:gd name="adj" fmla="val 6667"/>
            </a:avLst>
          </a:prstGeom>
          <a:solidFill>
            <a:srgbClr val="E3F2F3"/>
          </a:solidFill>
          <a:ln w="9525">
            <a:solidFill>
              <a:srgbClr val="E3F2F3"/>
            </a:solidFill>
            <a:prstDash val="solid"/>
          </a:ln>
        </p:spPr>
      </p:sp>
      <p:sp>
        <p:nvSpPr>
          <p:cNvPr id="38" name="Text 35"/>
          <p:cNvSpPr txBox="1"/>
          <p:nvPr/>
        </p:nvSpPr>
        <p:spPr>
          <a:xfrm>
            <a:off x="3657600" y="3419856"/>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 السَّلَامَةِ</a:t>
            </a:r>
            <a:endParaRPr lang="ar-SA" sz="2400" dirty="0"/>
          </a:p>
        </p:txBody>
      </p:sp>
      <p:sp>
        <p:nvSpPr>
          <p:cNvPr id="39" name="Text 36"/>
          <p:cNvSpPr txBox="1"/>
          <p:nvPr/>
        </p:nvSpPr>
        <p:spPr>
          <a:xfrm>
            <a:off x="457200" y="4352544"/>
            <a:ext cx="2926080" cy="82296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Friendly: hello, ask, close.</a:t>
            </a:r>
            <a:endParaRPr lang="en-US" sz="1200" dirty="0"/>
          </a:p>
        </p:txBody>
      </p:sp>
      <p:sp>
        <p:nvSpPr>
          <p:cNvPr id="40" name="Shape 37"/>
          <p:cNvSpPr/>
          <p:nvPr/>
        </p:nvSpPr>
        <p:spPr>
          <a:xfrm>
            <a:off x="9089136" y="4352544"/>
            <a:ext cx="2642616" cy="822960"/>
          </a:xfrm>
          <a:prstGeom prst="roundRect">
            <a:avLst>
              <a:gd name="adj" fmla="val 6667"/>
            </a:avLst>
          </a:prstGeom>
          <a:solidFill>
            <a:srgbClr val="EEF3FA"/>
          </a:solidFill>
          <a:ln w="9525">
            <a:solidFill>
              <a:srgbClr val="EEF3FA"/>
            </a:solidFill>
            <a:prstDash val="solid"/>
          </a:ln>
        </p:spPr>
      </p:sp>
      <p:sp>
        <p:nvSpPr>
          <p:cNvPr id="41" name="Text 38"/>
          <p:cNvSpPr txBox="1"/>
          <p:nvPr/>
        </p:nvSpPr>
        <p:spPr>
          <a:xfrm>
            <a:off x="9162288" y="4352544"/>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مَرْحَبًا ← مَرْحَبًا</a:t>
            </a:r>
            <a:endParaRPr lang="ar-SA" sz="2400" dirty="0"/>
          </a:p>
        </p:txBody>
      </p:sp>
      <p:sp>
        <p:nvSpPr>
          <p:cNvPr id="42" name="Shape 39"/>
          <p:cNvSpPr/>
          <p:nvPr/>
        </p:nvSpPr>
        <p:spPr>
          <a:xfrm>
            <a:off x="6336792" y="4352544"/>
            <a:ext cx="2642616" cy="822960"/>
          </a:xfrm>
          <a:prstGeom prst="roundRect">
            <a:avLst>
              <a:gd name="adj" fmla="val 6667"/>
            </a:avLst>
          </a:prstGeom>
          <a:solidFill>
            <a:srgbClr val="F1ECF7"/>
          </a:solidFill>
          <a:ln w="9525">
            <a:solidFill>
              <a:srgbClr val="F1ECF7"/>
            </a:solidFill>
            <a:prstDash val="solid"/>
          </a:ln>
        </p:spPr>
      </p:sp>
      <p:sp>
        <p:nvSpPr>
          <p:cNvPr id="43" name="Text 40"/>
          <p:cNvSpPr txBox="1"/>
          <p:nvPr/>
        </p:nvSpPr>
        <p:spPr>
          <a:xfrm>
            <a:off x="6409944" y="4352544"/>
            <a:ext cx="2496312" cy="82296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كَيْفَ حَالُكَ؟ ← بِخَيْرٍ، الحَمْدُ لِلَّهِ</a:t>
            </a:r>
            <a:endParaRPr lang="ar-SA" sz="1800" dirty="0"/>
          </a:p>
        </p:txBody>
      </p:sp>
      <p:sp>
        <p:nvSpPr>
          <p:cNvPr id="44" name="Shape 41"/>
          <p:cNvSpPr/>
          <p:nvPr/>
        </p:nvSpPr>
        <p:spPr>
          <a:xfrm>
            <a:off x="3584448" y="4352544"/>
            <a:ext cx="2642616" cy="822960"/>
          </a:xfrm>
          <a:prstGeom prst="roundRect">
            <a:avLst>
              <a:gd name="adj" fmla="val 6667"/>
            </a:avLst>
          </a:prstGeom>
          <a:solidFill>
            <a:srgbClr val="E3F2F3"/>
          </a:solidFill>
          <a:ln w="9525">
            <a:solidFill>
              <a:srgbClr val="E3F2F3"/>
            </a:solidFill>
            <a:prstDash val="solid"/>
          </a:ln>
        </p:spPr>
      </p:sp>
      <p:sp>
        <p:nvSpPr>
          <p:cNvPr id="45" name="Text 42"/>
          <p:cNvSpPr txBox="1"/>
          <p:nvPr/>
        </p:nvSpPr>
        <p:spPr>
          <a:xfrm>
            <a:off x="3657600" y="4352544"/>
            <a:ext cx="2496312" cy="82296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 السَّلَامَةِ</a:t>
            </a:r>
            <a:endParaRPr lang="ar-SA" sz="2400" dirty="0"/>
          </a:p>
        </p:txBody>
      </p:sp>
      <p:sp>
        <p:nvSpPr>
          <p:cNvPr id="46" name="Text 43"/>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Turn-taking: listen to the line you receive, then make your line answer it.</a:t>
            </a:r>
            <a:endParaRPr lang="en-US" sz="120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ONE SMALL VOWEL, ONE IMPORTANT CHOICE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am I speaking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حَالُكَ؟ أَمْ كَيْفَ حَالُكِ؟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B3B6F"/>
                </a:solidFill>
                <a:latin typeface="Amiri" pitchFamily="2" charset="-78"/>
                <a:ea typeface="Amiri" pitchFamily="2" charset="-78"/>
                <a:cs typeface="Amiri" pitchFamily="2" charset="-78"/>
              </a:rPr>
              <a:t>كَيْفَ </a:t>
            </a:r>
            <a:pPr rtl="1" algn="ctr" indent="0" marL="0">
              <a:buNone/>
            </a:pPr>
            <a:r>
              <a:rPr lang="ar-SA" altLang="en-US" sz="7200" b="1" dirty="0">
                <a:solidFill>
                  <a:srgbClr val="7B3FA0"/>
                </a:solidFill>
                <a:latin typeface="Amiri" pitchFamily="2" charset="-78"/>
                <a:ea typeface="Amiri" pitchFamily="2" charset="-78"/>
                <a:cs typeface="Amiri" pitchFamily="2" charset="-78"/>
              </a:rPr>
              <a:t>حَالُـ</a:t>
            </a:r>
            <a:pPr rtl="1" algn="ctr" indent="0" marL="0">
              <a:buNone/>
            </a:pPr>
            <a:r>
              <a:rPr lang="ar-SA" altLang="en-US" sz="7200" b="1" dirty="0">
                <a:solidFill>
                  <a:srgbClr val="D6336C"/>
                </a:solidFill>
                <a:latin typeface="Amiri" pitchFamily="2" charset="-78"/>
                <a:ea typeface="Amiri" pitchFamily="2" charset="-78"/>
                <a:cs typeface="Amiri" pitchFamily="2" charset="-78"/>
              </a:rPr>
              <a:t>كِ</a:t>
            </a:r>
            <a:pPr rtl="1" algn="ctr" indent="0" marL="0">
              <a:buNone/>
            </a:pPr>
            <a:r>
              <a:rPr lang="ar-SA" altLang="en-US" sz="7200" b="1" dirty="0">
                <a:solidFill>
                  <a:srgbClr val="1B3B6F"/>
                </a:solidFill>
                <a:latin typeface="Amiri" pitchFamily="2" charset="-78"/>
                <a:ea typeface="Amiri" pitchFamily="2" charset="-78"/>
                <a:cs typeface="Amiri" pitchFamily="2" charset="-78"/>
              </a:rPr>
              <a:t>؟</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kay-fa ḥā-lu-ki · how are you? (to one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2" charset="-78"/>
                <a:ea typeface="Amiri" pitchFamily="2" charset="-78"/>
                <a:cs typeface="Amiri" pitchFamily="2" charset="-78"/>
              </a:rPr>
              <a:t>كَيْفَ</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cs typeface="Amiri" pitchFamily="2" charset="-78"/>
              </a:rPr>
              <a:t>KEY WORD: how?</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Question word — it stays the same.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ea typeface="Amiri" pitchFamily="2" charset="-78"/>
                <a:cs typeface="Amiri" pitchFamily="2" charset="-78"/>
              </a:rPr>
              <a:t>حَالُ</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MEANING: state</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2" charset="-78"/>
                <a:ea typeface="Amiri" pitchFamily="2" charset="-78"/>
                <a:cs typeface="Amiri" pitchFamily="2" charset="-78"/>
              </a:rPr>
              <a:t>حَال</a:t>
            </a:r>
            <a:pPr algn="l" indent="0" marL="0">
              <a:buNone/>
            </a:pPr>
            <a:r>
              <a:rPr lang="en-US" sz="1150" dirty="0">
                <a:solidFill>
                  <a:srgbClr val="5A6472"/>
                </a:solidFill>
                <a:latin typeface="Calibri" pitchFamily="34" charset="0"/>
                <a:cs typeface="Amiri" pitchFamily="2" charset="-78"/>
              </a:rPr>
              <a:t> = condition, state (Urdu: hāl).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ea typeface="Amiri" pitchFamily="2" charset="-78"/>
                <a:cs typeface="Amiri" pitchFamily="2" charset="-78"/>
              </a:rPr>
              <a:t>كَ / كِ</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ENDING: your</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ar-SA" altLang="en-US" sz="1500" dirty="0">
                <a:solidFill>
                  <a:srgbClr val="5A6472"/>
                </a:solidFill>
                <a:latin typeface="Amiri" pitchFamily="2" charset="-78"/>
                <a:ea typeface="Amiri" pitchFamily="2" charset="-78"/>
                <a:cs typeface="Amiri" pitchFamily="2" charset="-78"/>
              </a:rPr>
              <a:t>كَ</a:t>
            </a:r>
            <a:pPr algn="l" indent="0" marL="0">
              <a:buNone/>
            </a:pPr>
            <a:r>
              <a:rPr lang="en-US" sz="1150" dirty="0">
                <a:solidFill>
                  <a:srgbClr val="5A6472"/>
                </a:solidFill>
                <a:latin typeface="Calibri" pitchFamily="34" charset="0"/>
                <a:cs typeface="Amiri" pitchFamily="2" charset="-78"/>
              </a:rPr>
              <a:t> (-ka) to a boy · </a:t>
            </a:r>
            <a:pPr algn="l" indent="0" marL="0">
              <a:buNone/>
            </a:pPr>
            <a:r>
              <a:rPr lang="ar-SA" altLang="en-US" sz="1500" dirty="0">
                <a:solidFill>
                  <a:srgbClr val="5A6472"/>
                </a:solidFill>
                <a:latin typeface="Amiri" pitchFamily="2" charset="-78"/>
                <a:ea typeface="Amiri" pitchFamily="2" charset="-78"/>
                <a:cs typeface="Amiri" pitchFamily="2" charset="-78"/>
              </a:rPr>
              <a:t>كِ</a:t>
            </a:r>
            <a:pPr algn="l" indent="0" marL="0">
              <a:buNone/>
            </a:pPr>
            <a:r>
              <a:rPr lang="en-US" sz="1150" dirty="0">
                <a:solidFill>
                  <a:srgbClr val="5A6472"/>
                </a:solidFill>
                <a:latin typeface="Calibri" pitchFamily="34" charset="0"/>
                <a:cs typeface="Amiri" pitchFamily="2" charset="-78"/>
              </a:rPr>
              <a:t> (-ki) to a girl.</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SAME ENDING ON THREE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Boy, girl or group?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مُذَكَّرٌ · مُؤَنَّثٌ · 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boy (m.)</a:t>
            </a:r>
            <a:endParaRPr lang="en-US" sz="1100" dirty="0"/>
          </a:p>
        </p:txBody>
      </p:sp>
      <p:sp>
        <p:nvSpPr>
          <p:cNvPr id="17" name="Text 14"/>
          <p:cNvSpPr txBox="1"/>
          <p:nvPr/>
        </p:nvSpPr>
        <p:spPr>
          <a:xfrm>
            <a:off x="59527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girl (f.)</a:t>
            </a:r>
            <a:endParaRPr lang="en-US" sz="1100" dirty="0"/>
          </a:p>
        </p:txBody>
      </p:sp>
      <p:sp>
        <p:nvSpPr>
          <p:cNvPr id="18" name="Text 15"/>
          <p:cNvSpPr txBox="1"/>
          <p:nvPr/>
        </p:nvSpPr>
        <p:spPr>
          <a:xfrm>
            <a:off x="302666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group (pl.)</a:t>
            </a:r>
            <a:endParaRPr lang="en-US" sz="1100" dirty="0"/>
          </a:p>
        </p:txBody>
      </p:sp>
      <p:sp>
        <p:nvSpPr>
          <p:cNvPr id="19" name="Text 16"/>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9711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كَيْفَ حَالُ</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2" name="Text 19"/>
          <p:cNvSpPr txBox="1"/>
          <p:nvPr/>
        </p:nvSpPr>
        <p:spPr>
          <a:xfrm>
            <a:off x="8851392" y="2706624"/>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ḥā-lu-ka</a:t>
            </a:r>
            <a:endParaRPr lang="en-US" sz="950" dirty="0"/>
          </a:p>
        </p:txBody>
      </p:sp>
      <p:sp>
        <p:nvSpPr>
          <p:cNvPr id="23" name="Text 20"/>
          <p:cNvSpPr txBox="1"/>
          <p:nvPr/>
        </p:nvSpPr>
        <p:spPr>
          <a:xfrm>
            <a:off x="597103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كَيْفَ حَالُ</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4" name="Text 21"/>
          <p:cNvSpPr txBox="1"/>
          <p:nvPr/>
        </p:nvSpPr>
        <p:spPr>
          <a:xfrm>
            <a:off x="5925312" y="2706624"/>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ḥā-lu-ki</a:t>
            </a:r>
            <a:endParaRPr lang="en-US" sz="950" dirty="0"/>
          </a:p>
        </p:txBody>
      </p:sp>
      <p:sp>
        <p:nvSpPr>
          <p:cNvPr id="25" name="Text 22"/>
          <p:cNvSpPr txBox="1"/>
          <p:nvPr/>
        </p:nvSpPr>
        <p:spPr>
          <a:xfrm>
            <a:off x="3044952" y="2286000"/>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كَيْفَ حَالُ</a:t>
            </a:r>
            <a:pPr rtl="1" algn="ctr" indent="0" marL="0">
              <a:buNone/>
            </a:pPr>
            <a:r>
              <a:rPr lang="ar-SA" altLang="en-US" sz="2100" b="1" dirty="0">
                <a:solidFill>
                  <a:srgbClr val="D6336C"/>
                </a:solidFill>
                <a:latin typeface="Amiri" pitchFamily="2" charset="-78"/>
                <a:ea typeface="Amiri" pitchFamily="2" charset="-78"/>
                <a:cs typeface="Amiri" pitchFamily="2" charset="-78"/>
              </a:rPr>
              <a:t>كُمْ</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6" name="Text 23"/>
          <p:cNvSpPr txBox="1"/>
          <p:nvPr/>
        </p:nvSpPr>
        <p:spPr>
          <a:xfrm>
            <a:off x="2999232" y="2706624"/>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ḥā-lu-kum</a:t>
            </a:r>
            <a:endParaRPr lang="en-US" sz="950" dirty="0"/>
          </a:p>
        </p:txBody>
      </p:sp>
      <p:sp>
        <p:nvSpPr>
          <p:cNvPr id="27" name="Text 24"/>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are you?</a:t>
            </a:r>
            <a:endParaRPr lang="en-US" sz="110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8897112" y="3072384"/>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وَأَنْ</a:t>
            </a:r>
            <a:pPr rtl="1" algn="ctr" indent="0" marL="0">
              <a:buNone/>
            </a:pPr>
            <a:r>
              <a:rPr lang="ar-SA" altLang="en-US" sz="2100" b="1" dirty="0">
                <a:solidFill>
                  <a:srgbClr val="D6336C"/>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32" name="Text 29"/>
          <p:cNvSpPr txBox="1"/>
          <p:nvPr/>
        </p:nvSpPr>
        <p:spPr>
          <a:xfrm>
            <a:off x="8851392" y="3493008"/>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wa-an-ta</a:t>
            </a:r>
            <a:endParaRPr lang="en-US" sz="950" dirty="0"/>
          </a:p>
        </p:txBody>
      </p:sp>
      <p:sp>
        <p:nvSpPr>
          <p:cNvPr id="33" name="Text 30"/>
          <p:cNvSpPr txBox="1"/>
          <p:nvPr/>
        </p:nvSpPr>
        <p:spPr>
          <a:xfrm>
            <a:off x="5971032" y="3072384"/>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وَأَنْ</a:t>
            </a:r>
            <a:pPr rtl="1" algn="ctr" indent="0" marL="0">
              <a:buNone/>
            </a:pPr>
            <a:r>
              <a:rPr lang="ar-SA" altLang="en-US" sz="2100" b="1" dirty="0">
                <a:solidFill>
                  <a:srgbClr val="D6336C"/>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34" name="Text 31"/>
          <p:cNvSpPr txBox="1"/>
          <p:nvPr/>
        </p:nvSpPr>
        <p:spPr>
          <a:xfrm>
            <a:off x="5925312" y="3493008"/>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wa-an-ti</a:t>
            </a:r>
            <a:endParaRPr lang="en-US" sz="950" dirty="0"/>
          </a:p>
        </p:txBody>
      </p:sp>
      <p:sp>
        <p:nvSpPr>
          <p:cNvPr id="35" name="Text 32"/>
          <p:cNvSpPr txBox="1"/>
          <p:nvPr/>
        </p:nvSpPr>
        <p:spPr>
          <a:xfrm>
            <a:off x="3044952" y="3072384"/>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وَأَنْ</a:t>
            </a:r>
            <a:pPr rtl="1" algn="ctr" indent="0" marL="0">
              <a:buNone/>
            </a:pPr>
            <a:r>
              <a:rPr lang="ar-SA" altLang="en-US" sz="2100" b="1" dirty="0">
                <a:solidFill>
                  <a:srgbClr val="D6336C"/>
                </a:solidFill>
                <a:latin typeface="Amiri" pitchFamily="2" charset="-78"/>
                <a:ea typeface="Amiri" pitchFamily="2" charset="-78"/>
                <a:cs typeface="Amiri" pitchFamily="2" charset="-78"/>
              </a:rPr>
              <a:t>تُمْ</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36" name="Text 33"/>
          <p:cNvSpPr txBox="1"/>
          <p:nvPr/>
        </p:nvSpPr>
        <p:spPr>
          <a:xfrm>
            <a:off x="2999232" y="3493008"/>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wa-an-tum</a:t>
            </a:r>
            <a:endParaRPr lang="en-US" sz="950" dirty="0"/>
          </a:p>
        </p:txBody>
      </p:sp>
      <p:sp>
        <p:nvSpPr>
          <p:cNvPr id="37" name="Text 34"/>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a:t>
            </a:r>
            <a:endParaRPr lang="en-US" sz="110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8897112" y="3858768"/>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عَلَيْ</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42" name="Text 39"/>
          <p:cNvSpPr txBox="1"/>
          <p:nvPr/>
        </p:nvSpPr>
        <p:spPr>
          <a:xfrm>
            <a:off x="8851392" y="4279392"/>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ʿa-lay-ka</a:t>
            </a:r>
            <a:endParaRPr lang="en-US" sz="950" dirty="0"/>
          </a:p>
        </p:txBody>
      </p:sp>
      <p:sp>
        <p:nvSpPr>
          <p:cNvPr id="43" name="Text 40"/>
          <p:cNvSpPr txBox="1"/>
          <p:nvPr/>
        </p:nvSpPr>
        <p:spPr>
          <a:xfrm>
            <a:off x="5971032" y="3858768"/>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عَلَيْ</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44" name="Text 41"/>
          <p:cNvSpPr txBox="1"/>
          <p:nvPr/>
        </p:nvSpPr>
        <p:spPr>
          <a:xfrm>
            <a:off x="5925312" y="4279392"/>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ʿa-lay-ki</a:t>
            </a:r>
            <a:endParaRPr lang="en-US" sz="950" dirty="0"/>
          </a:p>
        </p:txBody>
      </p:sp>
      <p:sp>
        <p:nvSpPr>
          <p:cNvPr id="45" name="Text 42"/>
          <p:cNvSpPr txBox="1"/>
          <p:nvPr/>
        </p:nvSpPr>
        <p:spPr>
          <a:xfrm>
            <a:off x="3044952" y="3858768"/>
            <a:ext cx="2743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عَلَيْ</a:t>
            </a:r>
            <a:pPr rtl="1" algn="ctr" indent="0" marL="0">
              <a:buNone/>
            </a:pPr>
            <a:r>
              <a:rPr lang="ar-SA" altLang="en-US" sz="2100" b="1" dirty="0">
                <a:solidFill>
                  <a:srgbClr val="D6336C"/>
                </a:solidFill>
                <a:latin typeface="Amiri" pitchFamily="2" charset="-78"/>
                <a:ea typeface="Amiri" pitchFamily="2" charset="-78"/>
                <a:cs typeface="Amiri" pitchFamily="2" charset="-78"/>
              </a:rPr>
              <a:t>كُمْ</a:t>
            </a:r>
            <a:endParaRPr lang="ar-SA" sz="2100" dirty="0"/>
          </a:p>
        </p:txBody>
      </p:sp>
      <p:sp>
        <p:nvSpPr>
          <p:cNvPr id="46" name="Text 43"/>
          <p:cNvSpPr txBox="1"/>
          <p:nvPr/>
        </p:nvSpPr>
        <p:spPr>
          <a:xfrm>
            <a:off x="2999232" y="4279392"/>
            <a:ext cx="2834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ʿa-lay-kum</a:t>
            </a:r>
            <a:endParaRPr lang="en-US" sz="950" dirty="0"/>
          </a:p>
        </p:txBody>
      </p:sp>
      <p:sp>
        <p:nvSpPr>
          <p:cNvPr id="47" name="Text 44"/>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upon you</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Fatḥa (-a) for a boy · kasra (-i) for a girl · -um for a group.</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Ahmad. Choose the fully vowelled ending.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الحَالُ؟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Sara. Choose the fully vowelled ending.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the final short vowel signal?</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حَالُكَ</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female addressee</a:t>
            </a:r>
            <a:endParaRPr lang="en-US" sz="12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male addressee</a:t>
            </a:r>
            <a:endParaRPr lang="en-US" sz="12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plural addressee</a:t>
            </a:r>
            <a:endParaRPr lang="en-US" sz="12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unsure which singular ending to use. Choose the non-gendered workaround taught here.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الحَالُ؟</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Ahmad. Choose the fully vowelled ending.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الحَالُ؟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حَالُكَ؟</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Ahmad is the male addressee, so careful MSA uses -ka: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speaking to Sara. Choose the fully vowelled ending.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حَالُكِ؟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Sara is the female addressee, so careful MSA uses -ki: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does the final short vowel signal?</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حَالُكَ</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female addressee</a:t>
            </a:r>
            <a:endParaRPr lang="en-US" sz="125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one male addressee</a:t>
            </a:r>
            <a:endParaRPr lang="en-US" sz="125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plural addressee</a:t>
            </a:r>
            <a:endParaRPr lang="en-US" sz="125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fatḥa in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gives the singular masculine address form.</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unsure which singular ending to use. Choose the non-gendered workaround taught here.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الحَالُ؟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اسْمُكَ؟</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كَيْفَ الحَالُ؟</a:t>
            </a:r>
            <a:pPr algn="l" indent="0" marL="0">
              <a:buNone/>
            </a:pPr>
            <a:r>
              <a:rPr lang="en-US" sz="1050" i="1" dirty="0">
                <a:solidFill>
                  <a:srgbClr val="8A6D1E"/>
                </a:solidFill>
                <a:latin typeface="Calibri" pitchFamily="34" charset="0"/>
                <a:cs typeface="Amiri" pitchFamily="2" charset="-78"/>
              </a:rPr>
              <a:t> asks “how are things?” without a singular gender suffix.</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Watch me build a greeting exchange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Open (morning)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صَبَاحُ الخَيْرِ يَا سَارَةُ.</a:t>
            </a:r>
            <a:endParaRPr lang="ar-SA" sz="25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It is morning, so I choose the morning pair. </a:t>
            </a:r>
            <a:pPr algn="l" indent="0" marL="0">
              <a:buNone/>
            </a:pPr>
            <a:r>
              <a:rPr lang="ar-SA" altLang="en-US" sz="1500" dirty="0">
                <a:solidFill>
                  <a:srgbClr val="1F2A37"/>
                </a:solidFill>
                <a:latin typeface="Amiri" pitchFamily="2" charset="-78"/>
                <a:ea typeface="Amiri" pitchFamily="2" charset="-78"/>
                <a:cs typeface="Amiri" pitchFamily="2" charset="-78"/>
              </a:rPr>
              <a:t>يَا</a:t>
            </a:r>
            <a:pPr algn="l" indent="0" marL="0">
              <a:buNone/>
            </a:pPr>
            <a:r>
              <a:rPr lang="en-US" sz="1150" dirty="0">
                <a:solidFill>
                  <a:srgbClr val="1F2A37"/>
                </a:solidFill>
                <a:latin typeface="Calibri" pitchFamily="34" charset="0"/>
                <a:cs typeface="Amiri" pitchFamily="2" charset="-78"/>
              </a:rPr>
              <a:t> = addressing Sara.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She replies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صَبَاحُ النُّورِ يَا أَحْمَدُ.</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paired reply: </a:t>
            </a:r>
            <a:pPr algn="l" indent="0" marL="0">
              <a:buNone/>
            </a:pPr>
            <a:r>
              <a:rPr lang="ar-SA" altLang="en-US" sz="1500" dirty="0">
                <a:solidFill>
                  <a:srgbClr val="1F2A37"/>
                </a:solidFill>
                <a:latin typeface="Amiri" pitchFamily="2" charset="-78"/>
                <a:ea typeface="Amiri" pitchFamily="2" charset="-78"/>
                <a:cs typeface="Amiri" pitchFamily="2" charset="-78"/>
              </a:rPr>
              <a:t>الخَيْرِ</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النُّورِ</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 in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كَيْفَ حَالُ</a:t>
            </a:r>
            <a:pPr rtl="1" algn="ctr" indent="0" marL="0">
              <a:buNone/>
            </a:pPr>
            <a:r>
              <a:rPr lang="ar-SA" altLang="en-US" sz="2800" b="1" dirty="0">
                <a:solidFill>
                  <a:srgbClr val="D6336C"/>
                </a:solidFill>
                <a:latin typeface="Amiri" pitchFamily="2" charset="-78"/>
                <a:ea typeface="Amiri" pitchFamily="2" charset="-78"/>
                <a:cs typeface="Amiri" pitchFamily="2" charset="-78"/>
              </a:rPr>
              <a:t>كِ</a:t>
            </a:r>
            <a:pPr rtl="1" algn="ctr" indent="0" marL="0">
              <a:buNone/>
            </a:pPr>
            <a:r>
              <a:rPr lang="ar-SA" altLang="en-US" sz="2800" b="1" dirty="0">
                <a:solidFill>
                  <a:srgbClr val="1B3B6F"/>
                </a:solidFill>
                <a:latin typeface="Amiri" pitchFamily="2" charset="-78"/>
                <a:ea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look at Sara — a girl — so the ending is -ki.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 and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بِخَيْرٍ … إِلَى اللِّقَاءِ.</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answers, then we close politely.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ENDING</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صَبَاحُ الخَيْرِ يَا سَارَةُ. — صَبَاحُ النُّورِ يَا أَحْمَدُ. — كَيْفَ حَالُ</a:t>
            </a:r>
            <a:pPr rtl="1" algn="r" indent="0" marL="0">
              <a:buNone/>
            </a:pPr>
            <a:r>
              <a:rPr lang="ar-SA" altLang="en-US" sz="2450" b="1" dirty="0">
                <a:solidFill>
                  <a:srgbClr val="D6336C"/>
                </a:solidFill>
                <a:latin typeface="Amiri" pitchFamily="2" charset="-78"/>
                <a:ea typeface="Amiri" pitchFamily="2" charset="-78"/>
                <a:cs typeface="Amiri" pitchFamily="2" charset="-78"/>
              </a:rPr>
              <a:t>كِ</a:t>
            </a:r>
            <a:pPr rtl="1" algn="r" indent="0" marL="0">
              <a:buNone/>
            </a:pPr>
            <a:r>
              <a:rPr lang="ar-SA" altLang="en-US" sz="2450" b="1" dirty="0">
                <a:solidFill>
                  <a:srgbClr val="1B3B6F"/>
                </a:solidFill>
                <a:latin typeface="Amiri" pitchFamily="2" charset="-78"/>
                <a:ea typeface="Amiri" pitchFamily="2" charset="-78"/>
                <a:cs typeface="Amiri" pitchFamily="2" charset="-78"/>
              </a:rPr>
              <a:t>؟ — بِخَيْرٍ، الحَمْدُ لِلَّهِ. — إِلَى اللِّقَاءِ.</a:t>
            </a:r>
            <a:endParaRPr lang="ar-SA" sz="245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Good morning, Sara. — Good morning, Ahmad. — How are you? — Fine, praise be to God. — See you later.</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2F6FB0"/>
                </a:solidFill>
                <a:latin typeface="Calibri" pitchFamily="34" charset="0"/>
                <a:cs typeface="Amiri" pitchFamily="2" charset="-78"/>
              </a:rPr>
              <a:t>WE DO · PICTURE MATCH · WEBSITE GAME “VISUAL GAME — HELLO, GOODBYE AND HOW ARE YOU?”</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Match the picture to the greeting</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طَابِقِ التَّحِيَّةَ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morning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evening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asking a girl</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مَسَاءُ الخَيْرِ.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كَيْفَ حَالُكِ؟</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صَبَاحُ الخَيْرِ.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طَابِقِ التَّحِيَّةَ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morning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صَبَاحُ الخَيْرِ.</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Good morning.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evening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مَسَاءُ الخَيْرِ.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Good evening.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asking a girl</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كَيْفَ حَالُكِ؟</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How are you? (to a girl)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“RESPONSE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Choose the natural next move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الرُّدُودِ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Choose the conventional morning response.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 الخَيْرِ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النُّورِ</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Choose the conventional evening response.</a:t>
            </a:r>
            <a:endParaRPr lang="en-US" sz="95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مَسَاءُ الخَيْرِ</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النُّورِ</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A classmate says “hello”. Choose a simple natural return.</a:t>
            </a:r>
            <a:endParaRPr lang="en-US" sz="95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مَرْحَبًا</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النُّورِ</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guest arrives. Which phrase offers a welcome?</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وَسَهْلًا</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conversation is ending. Choose the general goodbye.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وَسَهْلًا</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83" name="Shape 80"/>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6" name="Text 83"/>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Find the PAIR.</a:t>
            </a:r>
            <a:endParaRPr lang="en-US" sz="1250" dirty="0"/>
          </a:p>
          <a:p>
            <a:pPr algn="l" indent="0" marL="0">
              <a:buNone/>
            </a:pPr>
            <a:r>
              <a:rPr lang="en-US" sz="1250" dirty="0">
                <a:solidFill>
                  <a:srgbClr val="1E6B52"/>
                </a:solidFill>
                <a:latin typeface="Calibri" pitchFamily="34" charset="0"/>
                <a:cs typeface="Amiri" pitchFamily="2" charset="-78"/>
              </a:rPr>
              <a:t>Morning → the morning reply.</a:t>
            </a:r>
            <a:endParaRPr lang="en-US" sz="1250" dirty="0"/>
          </a:p>
          <a:p>
            <a:pPr algn="l" indent="0" marL="0">
              <a:buNone/>
            </a:pPr>
            <a:r>
              <a:rPr lang="en-US" sz="1250" dirty="0">
                <a:solidFill>
                  <a:srgbClr val="1E6B52"/>
                </a:solidFill>
                <a:latin typeface="Calibri" pitchFamily="34" charset="0"/>
                <a:cs typeface="Amiri" pitchFamily="2" charset="-78"/>
              </a:rPr>
              <a:t>Hello → hello.</a:t>
            </a:r>
            <a:endParaRPr lang="en-US" sz="1250" dirty="0"/>
          </a:p>
          <a:p>
            <a:pPr algn="l" indent="0" marL="0">
              <a:buNone/>
            </a:pPr>
            <a:r>
              <a:rPr lang="en-US" sz="1250" dirty="0">
                <a:solidFill>
                  <a:srgbClr val="1E6B52"/>
                </a:solidFill>
                <a:latin typeface="Calibri" pitchFamily="34" charset="0"/>
                <a:cs typeface="Amiri" pitchFamily="2" charset="-78"/>
              </a:rPr>
              <a:t>A guest → a welcome.</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RESPONSE RELAY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Relay: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Choose the conventional morning response.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 الخَيْرِ</a:t>
            </a:r>
            <a:endParaRPr lang="ar-SA" sz="220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صَبَاحُ النُّورِ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مَسَاءُ النُّورِ</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صَبَاحُ النُّورِ</a:t>
            </a:r>
            <a:pPr algn="l" indent="0" marL="0">
              <a:buNone/>
            </a:pPr>
            <a:r>
              <a:rPr lang="en-US" sz="1050" i="1" dirty="0">
                <a:solidFill>
                  <a:srgbClr val="8A6D1E"/>
                </a:solidFill>
                <a:latin typeface="Calibri" pitchFamily="34" charset="0"/>
                <a:cs typeface="Amiri" pitchFamily="2" charset="-78"/>
              </a:rPr>
              <a:t> is the paired morning response.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Choose the conventional evening response.</a:t>
            </a:r>
            <a:endParaRPr lang="en-US" sz="95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مَسَاءُ الخَيْرِ</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صَبَاحُ النُّورِ</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مَسَاءُ النُّورِ</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مَرْحَبًا</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مَسَاءُ النُّورِ</a:t>
            </a:r>
            <a:pPr algn="l" indent="0" marL="0">
              <a:buNone/>
            </a:pPr>
            <a:r>
              <a:rPr lang="en-US" sz="1050" i="1" dirty="0">
                <a:solidFill>
                  <a:srgbClr val="8A6D1E"/>
                </a:solidFill>
                <a:latin typeface="Calibri" pitchFamily="34" charset="0"/>
                <a:cs typeface="Amiri" pitchFamily="2" charset="-78"/>
              </a:rPr>
              <a:t> keeps the evening pair.</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A classmate says “hello”. Choose a simple natural return.</a:t>
            </a:r>
            <a:endParaRPr lang="en-US" sz="95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مَرْحَبًا</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مَرْحَبًا</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مَسَاءُ النُّورِ</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مَرْحَبًا</a:t>
            </a:r>
            <a:pPr algn="l" indent="0" marL="0">
              <a:buNone/>
            </a:pPr>
            <a:r>
              <a:rPr lang="en-US" sz="1050" i="1" dirty="0">
                <a:solidFill>
                  <a:srgbClr val="8A6D1E"/>
                </a:solidFill>
                <a:latin typeface="Calibri" pitchFamily="34" charset="0"/>
                <a:cs typeface="Amiri" pitchFamily="2" charset="-78"/>
              </a:rPr>
              <a:t> can be returned with the same flexible greeting.</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guest arrives. Which phrase offers a welcome?</a:t>
            </a:r>
            <a:endParaRPr lang="en-US" sz="1250" dirty="0"/>
          </a:p>
        </p:txBody>
      </p:sp>
      <p:sp>
        <p:nvSpPr>
          <p:cNvPr id="67"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a:t>
            </a:r>
            <a:endParaRPr lang="ar-SA" sz="1700" dirty="0"/>
          </a:p>
        </p:txBody>
      </p:sp>
      <p:sp>
        <p:nvSpPr>
          <p:cNvPr id="70"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اللِّقَاءِ</a:t>
            </a:r>
            <a:endParaRPr lang="ar-SA" sz="1700" dirty="0"/>
          </a:p>
        </p:txBody>
      </p:sp>
      <p:sp>
        <p:nvSpPr>
          <p:cNvPr id="73"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أَهْلًا وَسَهْلًا</a:t>
            </a:r>
            <a:endParaRPr lang="ar-SA" sz="1700" dirty="0"/>
          </a:p>
        </p:txBody>
      </p:sp>
      <p:sp>
        <p:nvSpPr>
          <p:cNvPr id="77"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أَهْلًا وَسَهْلًا</a:t>
            </a:r>
            <a:pPr algn="l" indent="0" marL="0">
              <a:buNone/>
            </a:pPr>
            <a:r>
              <a:rPr lang="en-US" sz="1050" i="1" dirty="0">
                <a:solidFill>
                  <a:srgbClr val="8A6D1E"/>
                </a:solidFill>
                <a:latin typeface="Calibri" pitchFamily="34" charset="0"/>
                <a:cs typeface="Amiri" pitchFamily="2" charset="-78"/>
              </a:rPr>
              <a:t> is an idiomatic welcome.</a:t>
            </a:r>
            <a:endParaRPr lang="en-US" sz="1050" dirty="0"/>
          </a:p>
        </p:txBody>
      </p:sp>
      <p:sp>
        <p:nvSpPr>
          <p:cNvPr id="78"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conversation is ending. Choose the general goodbye.</a:t>
            </a:r>
            <a:endParaRPr lang="en-US" sz="1250" dirty="0"/>
          </a:p>
        </p:txBody>
      </p:sp>
      <p:sp>
        <p:nvSpPr>
          <p:cNvPr id="82" name="Shape 79"/>
          <p:cNvSpPr/>
          <p:nvPr/>
        </p:nvSpPr>
        <p:spPr>
          <a:xfrm>
            <a:off x="4459224" y="4831080"/>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أَهْلًا وَسَهْلًا</a:t>
            </a:r>
            <a:endParaRPr lang="ar-SA" sz="1700" dirty="0"/>
          </a:p>
        </p:txBody>
      </p:sp>
      <p:sp>
        <p:nvSpPr>
          <p:cNvPr id="88" name="Shape 85"/>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9" name="Shape 86"/>
          <p:cNvSpPr/>
          <p:nvPr/>
        </p:nvSpPr>
        <p:spPr>
          <a:xfrm>
            <a:off x="4459224" y="5574792"/>
            <a:ext cx="256032" cy="256032"/>
          </a:xfrm>
          <a:prstGeom prst="ellipse">
            <a:avLst/>
          </a:prstGeom>
          <a:solidFill>
            <a:srgbClr val="2E8B57"/>
          </a:solidFill>
          <a:ln w="12700">
            <a:solidFill>
              <a:srgbClr val="2E8B57"/>
            </a:solidFill>
            <a:prstDash val="solid"/>
          </a:ln>
        </p:spPr>
      </p:sp>
      <p:sp>
        <p:nvSpPr>
          <p:cNvPr id="90"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1"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السَّلَامَةِ</a:t>
            </a:r>
            <a:endParaRPr lang="ar-SA" sz="1700" dirty="0"/>
          </a:p>
        </p:txBody>
      </p:sp>
      <p:sp>
        <p:nvSpPr>
          <p:cNvPr id="92"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مَعَ السَّلَامَةِ</a:t>
            </a:r>
            <a:pPr algn="l" indent="0" marL="0">
              <a:buNone/>
            </a:pPr>
            <a:r>
              <a:rPr lang="en-US" sz="1050" i="1" dirty="0">
                <a:solidFill>
                  <a:srgbClr val="8A6D1E"/>
                </a:solidFill>
                <a:latin typeface="Calibri" pitchFamily="34" charset="0"/>
                <a:cs typeface="Amiri" pitchFamily="2" charset="-78"/>
              </a:rPr>
              <a:t> is a general, polite goodbye.</a:t>
            </a:r>
            <a:endParaRPr lang="en-US" sz="1050" dirty="0"/>
          </a:p>
        </p:txBody>
      </p:sp>
      <p:sp>
        <p:nvSpPr>
          <p:cNvPr id="93" name="Shape 90"/>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Find the PAIR.</a:t>
            </a:r>
            <a:endParaRPr lang="en-US" sz="1250" dirty="0"/>
          </a:p>
          <a:p>
            <a:pPr algn="l" indent="0" marL="0">
              <a:buNone/>
            </a:pPr>
            <a:r>
              <a:rPr lang="en-US" sz="1250" dirty="0">
                <a:solidFill>
                  <a:srgbClr val="1E6B52"/>
                </a:solidFill>
                <a:latin typeface="Calibri" pitchFamily="34" charset="0"/>
                <a:cs typeface="Amiri" pitchFamily="2" charset="-78"/>
              </a:rPr>
              <a:t>Morning → the morning reply.</a:t>
            </a:r>
            <a:endParaRPr lang="en-US" sz="1250" dirty="0"/>
          </a:p>
          <a:p>
            <a:pPr algn="l" indent="0" marL="0">
              <a:buNone/>
            </a:pPr>
            <a:r>
              <a:rPr lang="en-US" sz="1250" dirty="0">
                <a:solidFill>
                  <a:srgbClr val="1E6B52"/>
                </a:solidFill>
                <a:latin typeface="Calibri" pitchFamily="34" charset="0"/>
                <a:cs typeface="Amiri" pitchFamily="2" charset="-78"/>
              </a:rPr>
              <a:t>Hello → hello.</a:t>
            </a:r>
            <a:endParaRPr lang="en-US" sz="1250" dirty="0"/>
          </a:p>
          <a:p>
            <a:pPr algn="l" indent="0" marL="0">
              <a:buNone/>
            </a:pPr>
            <a:r>
              <a:rPr lang="en-US" sz="1250" dirty="0">
                <a:solidFill>
                  <a:srgbClr val="1E6B52"/>
                </a:solidFill>
                <a:latin typeface="Calibri" pitchFamily="34" charset="0"/>
                <a:cs typeface="Amiri" pitchFamily="2" charset="-78"/>
              </a:rPr>
              <a:t>A guest → a welcome.</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Ahmad and Sara meet in the morning</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of day is 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morning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evening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night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 reply to the first line?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النُّورِ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وَعَلَيْكُمُ السَّلَامُ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does Ahmad ask Sara?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Sara?</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shows Sara returns the question to Ahmad?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morning · the -ki ending · fine.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أَحْمَدُ: صَبَاحُ الخَيْرِ يَا سَارَةُ.</a:t>
            </a:r>
            <a:endParaRPr lang="ar-SA" sz="20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morning, Sara.</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سَارَةُ: صَبَاحُ النُّورِ يَا أَحْمَدُ.</a:t>
            </a:r>
            <a:endParaRPr lang="ar-SA" sz="20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morning, Ahmad.</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أَحْمَدُ: كَيْفَ حَالُكِ؟</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are you? (to a girl)</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سَارَةُ: بِخَيْرٍ، الحَمْدُ لِلَّهِ. وَأَنْتَ؟</a:t>
            </a:r>
            <a:endParaRPr lang="ar-SA" sz="200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Fine, praise be to God. And you?</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أَحْمَدُ: بِخَيْرٍ، شُكْرًا.</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Fine, thank you.</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سَارَةُ: إِلَى اللِّقَاءِ.</a:t>
            </a:r>
            <a:endParaRPr lang="ar-SA" sz="200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 you later.</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أَحْمَدُ: مَعَ السَّلَامَةِ.</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Goodbye.</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of day is it?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morning</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evening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night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صَبَاحُ الخَيْرِ</a:t>
            </a:r>
            <a:pPr algn="l" indent="0" marL="0">
              <a:buNone/>
            </a:pPr>
            <a:r>
              <a:rPr lang="en-US" sz="1050" i="1" dirty="0">
                <a:solidFill>
                  <a:srgbClr val="8A6D1E"/>
                </a:solidFill>
                <a:latin typeface="Calibri" pitchFamily="34" charset="0"/>
                <a:cs typeface="Amiri" pitchFamily="2" charset="-78"/>
              </a:rPr>
              <a:t> = good morning.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 reply to the first line?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مَسَاءُ النُّورِ</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وَعَلَيْكُمُ السَّلَامُ</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صَبَاحُ النُّورِ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paired morning reply.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does Ahmad ask Sara?</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حَالُكِ؟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Sara is female: -ki.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Sara?</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بِخَيْرٍ</a:t>
            </a:r>
            <a:pPr algn="l" indent="0" marL="0">
              <a:buNone/>
            </a:pPr>
            <a:r>
              <a:rPr lang="en-US" sz="1050" i="1" dirty="0">
                <a:solidFill>
                  <a:srgbClr val="8A6D1E"/>
                </a:solidFill>
                <a:latin typeface="Calibri" pitchFamily="34" charset="0"/>
                <a:cs typeface="Amiri" pitchFamily="2" charset="-78"/>
              </a:rPr>
              <a:t> = fine.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shows Sara returns the question to Ahmad?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وَأَنْتِ؟</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وَأَنْتَ؟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Ahmad is male: </a:t>
            </a:r>
            <a:pPr algn="l" indent="0" marL="0">
              <a:buNone/>
            </a:pPr>
            <a:r>
              <a:rPr lang="ar-SA" altLang="en-US" sz="1350" dirty="0">
                <a:solidFill>
                  <a:srgbClr val="8A6D1E"/>
                </a:solidFill>
                <a:latin typeface="Amiri" pitchFamily="2" charset="-78"/>
                <a:ea typeface="Amiri" pitchFamily="2" charset="-78"/>
                <a:cs typeface="Amiri" pitchFamily="2" charset="-78"/>
              </a:rPr>
              <a:t>وَأَنْتَ؟</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morning · the -ki ending · fine.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THE MOVES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Open, check in or close?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بِخَيْرٍ</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حَالُكَ؟</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وَسَهْلًا</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وَعَلَيْكُمُ السَّلَامُ</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Open or reply</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Check in or answer</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Close</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Open or reply</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صَبَاحُ النُّورِ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أَهْلًا وَسَهْلًا</a:t>
            </a:r>
            <a:endParaRPr lang="ar-SA" sz="1800" dirty="0"/>
          </a:p>
        </p:txBody>
      </p:sp>
      <p:sp>
        <p:nvSpPr>
          <p:cNvPr id="26" name="Shape 23"/>
          <p:cNvSpPr/>
          <p:nvPr/>
        </p:nvSpPr>
        <p:spPr>
          <a:xfrm>
            <a:off x="8232648" y="3913632"/>
            <a:ext cx="3361944" cy="438912"/>
          </a:xfrm>
          <a:prstGeom prst="roundRect">
            <a:avLst>
              <a:gd name="adj" fmla="val 12500"/>
            </a:avLst>
          </a:prstGeom>
          <a:solidFill>
            <a:srgbClr val="FFF4DC"/>
          </a:solidFill>
          <a:ln w="9525">
            <a:solidFill>
              <a:srgbClr val="E6C98A"/>
            </a:solidFill>
            <a:prstDash val="solid"/>
          </a:ln>
        </p:spPr>
      </p:sp>
      <p:sp>
        <p:nvSpPr>
          <p:cNvPr id="27" name="Text 24"/>
          <p:cNvSpPr txBox="1"/>
          <p:nvPr/>
        </p:nvSpPr>
        <p:spPr>
          <a:xfrm>
            <a:off x="8324088" y="3913632"/>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وَعَلَيْكُمُ السَّلَامُ</a:t>
            </a:r>
            <a:endParaRPr lang="ar-SA" sz="1800" dirty="0"/>
          </a:p>
        </p:txBody>
      </p:sp>
      <p:sp>
        <p:nvSpPr>
          <p:cNvPr id="28" name="Shape 25"/>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9" name="Shape 26"/>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30" name="Text 27"/>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Check in or answer</a:t>
            </a:r>
            <a:endParaRPr lang="en-US" sz="950" dirty="0"/>
          </a:p>
        </p:txBody>
      </p:sp>
      <p:sp>
        <p:nvSpPr>
          <p:cNvPr id="31" name="Shape 28"/>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بِخَيْرٍ</a:t>
            </a:r>
            <a:endParaRPr lang="ar-SA" sz="1800" dirty="0"/>
          </a:p>
        </p:txBody>
      </p:sp>
      <p:sp>
        <p:nvSpPr>
          <p:cNvPr id="33" name="Shape 30"/>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حَالُكَ؟</a:t>
            </a:r>
            <a:endParaRPr lang="ar-SA" sz="1800" dirty="0"/>
          </a:p>
        </p:txBody>
      </p:sp>
      <p:sp>
        <p:nvSpPr>
          <p:cNvPr id="35" name="Shape 32"/>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a:t>
            </a:r>
            <a:endParaRPr lang="ar-SA" sz="1800" dirty="0"/>
          </a:p>
        </p:txBody>
      </p:sp>
      <p:sp>
        <p:nvSpPr>
          <p:cNvPr id="37" name="Shape 34"/>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8" name="Shape 35"/>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Close</a:t>
            </a:r>
            <a:endParaRPr lang="en-US" sz="950" dirty="0"/>
          </a:p>
        </p:txBody>
      </p:sp>
      <p:sp>
        <p:nvSpPr>
          <p:cNvPr id="40" name="Shape 37"/>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a:t>
            </a:r>
            <a:endParaRPr lang="ar-SA" sz="1800" dirty="0"/>
          </a:p>
        </p:txBody>
      </p:sp>
      <p:sp>
        <p:nvSpPr>
          <p:cNvPr id="42" name="Shape 39"/>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اللِّقَاءِ</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أَحْمَدُ ← كَيْفَ حَالُكِ؟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Ahmad is a boy. Look at the last vowel.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صَبَاحُ الخَيْرِ ← مَسَاءُ النُّورِ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It is morning. Which reply matches?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كَيْفَ حَالُكَ؟ ← أَهْلًا وَسَهْلًا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Answer the question you heard.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أَحْمَدُ ← كَيْفَ حَالُكِ؟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أَحْمَدُ ← كَيْفَ حَالُكَ؟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Ahmad is one male: the question ends in -ka (fatḥa).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صَبَاحُ الخَيْرِ ← مَسَاءُ النُّورِ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صَبَاحُ الخَيْرِ ← صَبَاحُ النُّورِ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pair: a morning greeting gets the morning reply.</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كَيْفَ حَالُكَ؟ ← أَهْلًا وَسَهْلًا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كَيْفَ حَالُكَ؟ ← بِخَيْرٍ، الحَمْدُ لِلَّهِ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the question you heard: give how you are.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Four-Move Mingle Mission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كَيْفَ حَالُكَ؟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صَبَاحُ الخَيْرِ! كَيْفَ حَالُكِ؟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مَسَاءُ الخَيْرِ! كَيْفَ حَالُكَ؟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وَرَحْمَةُ اللَّهِ وَبَرَكَاتُهُ</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وَعَلَيْكُمُ السَّلَامُ. بِخَيْرٍ، شُكْرًا.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صَبَاحُ النُّورِ. بِخَيْرٍ، الحَمْدُ لِلَّهِ. وَأَنْتَ؟</a:t>
            </a:r>
            <a:endParaRPr lang="ar-SA" sz="155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وَعَلَيْكُمُ السَّلَامُ وَرَحْمَةُ اللَّهِ وَبَرَكَاتُهُ …</a:t>
            </a:r>
            <a:endParaRPr lang="ar-SA" sz="155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إِلَى اللِّقَاءِ! مَعَ السَّلَامَةِ!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أَحْمَدُ</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صَبَاحُ الخَيْرِ يَا سَارَةُ.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Good morning, Sara.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Amiri" pitchFamily="2" charset="-78"/>
                <a:cs typeface="Amiri" pitchFamily="2" charset="-78"/>
              </a:rPr>
              <a:t>سَارَةُ</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صَبَاحُ النُّورِ يَا أَحْمَدُ.</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Good morning, Ahmad.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lines: open, reply, ask how, answer — copy the pairs from the phrase map.</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Copy the pairs from the frames: open → reply → how are you? → fine.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The full six-line dialogue with a correct -ka or -ki question.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website homework dialogue: every line answers the one before; -ka / -ki correct.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6–8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6–8 line dialogue using the extended greeting, without transliteration.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extended greeting; no transliteration; both a morning and a closing pair.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صَبَاحُ الخَيْرِ يَا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morning,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صَبَاحُ ______ يَا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 morning (reply),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حَالُـ 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are you? (to a girl)</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بِخَيْرٍ، الحَمْدُ لِلَّهِ.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Fine, praise be to God. And you?</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إِلَى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See you later.</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Peace be upon you.</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وَعَلَيْكُمُ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 And upon you be peace.</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How are you? (to a boy)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شُكْرًا.</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 Fine, thank you.</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Goodbye.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السَّلَامُ  ·  حَالُكَ  ·  حَالُكِ  ·  بِخَيْرٍ  ·  النُّورِ  ·  الخَيْرِ  ·  السَّلَامَةِ  ·  اللِّقَاءِ  ·  أَنْتَ  ·  أَنْتِ  ·  شُكْرًا  ·  مَرْحَبًا</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homework: write a six-line imaginary dialogue between two speakers. Use at least four phrases from today, and make every line respond to the one before it.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time-suitable opening and its paired reply.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“how are you?” question matched to the listener (-ka or -ki).</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short answer, and the question returned.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polite closing.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وَرَحْمَةُ اللَّهِ وَبَرَكَاتُهُ</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peace be upon you, and the mercy of God and His blessings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وَعَلَيْكُمُ السَّلَامُ وَرَحْمَةُ اللَّهِ وَبَرَكَاتُهُ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full reply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وَسَهْلًا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welcome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الحَالُ؟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 are things? (no gender ending)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مَسَاءُ الخَيْرِ ← مَسَاءُ النُّورِ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evening pair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أَحْمَدُ: صَبَاحُ الخَيْرِ يَا سَارَةُ.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سَارَةُ: صَبَاحُ النُّورِ يَا أَحْمَدُ.</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أَحْمَدُ: كَيْفَ حَالُكِ؟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سَارَةُ: بِخَيْرٍ، الحَمْدُ لِلَّهِ. وَأَنْتَ؟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أَحْمَدُ: بِخَيْرٍ، شُكْرًا.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سَارَةُ: إِلَى اللِّقَاءِ.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أَحْمَدُ: مَعَ السَّلَامَةِ.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Ahmad: Good morning, Sara. — Sara: Good morning, Ahmad. — Ahmad: How are you? — Sara: Fine, praise be to God. And you? — Ahmad: Fine, thank you. — Sara: See you later. — Ahmad: Goodbye.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morning pair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-ki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“and you?” to a boy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closings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and answer </a:t>
            </a:r>
            <a:pPr algn="l" indent="0" marL="0">
              <a:buNone/>
            </a:pPr>
            <a:r>
              <a:rPr lang="ar-SA" altLang="en-US" sz="1700" dirty="0">
                <a:solidFill>
                  <a:srgbClr val="1F2A37"/>
                </a:solidFill>
                <a:latin typeface="Amiri" pitchFamily="2" charset="-78"/>
                <a:ea typeface="Amiri" pitchFamily="2" charset="-78"/>
                <a:cs typeface="Amiri" pitchFamily="2" charset="-78"/>
              </a:rPr>
              <a:t>السَّلَامُ عَلَيْكُمْ</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answer “how are you?” with </a:t>
            </a:r>
            <a:pPr algn="l" indent="0" marL="0">
              <a:buNone/>
            </a:pPr>
            <a:r>
              <a:rPr lang="ar-SA" altLang="en-US" sz="1700" dirty="0">
                <a:solidFill>
                  <a:srgbClr val="1F2A37"/>
                </a:solidFill>
                <a:latin typeface="Amiri" pitchFamily="2" charset="-78"/>
                <a:ea typeface="Amiri" pitchFamily="2" charset="-78"/>
                <a:cs typeface="Amiri" pitchFamily="2" charset="-78"/>
              </a:rPr>
              <a:t>بِخَيْرٍ</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the morning and evening pairs.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choose </a:t>
            </a:r>
            <a:pPr algn="l" indent="0" marL="0">
              <a:buNone/>
            </a:pPr>
            <a:r>
              <a:rPr lang="ar-SA" altLang="en-US" sz="1700" dirty="0">
                <a:solidFill>
                  <a:srgbClr val="1F2A37"/>
                </a:solidFill>
                <a:latin typeface="Amiri" pitchFamily="2" charset="-78"/>
                <a:ea typeface="Amiri" pitchFamily="2" charset="-78"/>
                <a:cs typeface="Amiri" pitchFamily="2" charset="-78"/>
              </a:rPr>
              <a:t>حَالُكَ</a:t>
            </a:r>
            <a:pPr algn="l" indent="0" marL="0">
              <a:buNone/>
            </a:pPr>
            <a:r>
              <a:rPr lang="en-US" sz="1300" dirty="0">
                <a:solidFill>
                  <a:srgbClr val="1F2A37"/>
                </a:solidFill>
                <a:latin typeface="Calibri" pitchFamily="34" charset="0"/>
                <a:cs typeface="Amiri" pitchFamily="2" charset="-78"/>
              </a:rPr>
              <a:t> for a boy and </a:t>
            </a:r>
            <a:pPr algn="l" indent="0" marL="0">
              <a:buNone/>
            </a:pPr>
            <a:r>
              <a:rPr lang="ar-SA" altLang="en-US" sz="1700" dirty="0">
                <a:solidFill>
                  <a:srgbClr val="1F2A37"/>
                </a:solidFill>
                <a:latin typeface="Amiri" pitchFamily="2" charset="-78"/>
                <a:ea typeface="Amiri" pitchFamily="2" charset="-78"/>
                <a:cs typeface="Amiri" pitchFamily="2" charset="-78"/>
              </a:rPr>
              <a:t>حَالُكِ</a:t>
            </a:r>
            <a:pPr algn="l" indent="0" marL="0">
              <a:buNone/>
            </a:pPr>
            <a:r>
              <a:rPr lang="en-US" sz="1300" dirty="0">
                <a:solidFill>
                  <a:srgbClr val="1F2A37"/>
                </a:solidFill>
                <a:latin typeface="Calibri" pitchFamily="34" charset="0"/>
                <a:cs typeface="Amiri" pitchFamily="2" charset="-78"/>
              </a:rPr>
              <a:t> for a girl.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hold a four-line exchange without reading every word.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opening most likely came immediately before?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 النُّورِ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الخَيْرِ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الخَيْرِ</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how she is in careful MSA.</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حَالُكُمْ؟</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closing most directly suggests meeting again?</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وَسَهْلًا</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opening most likely came immediately before?</a:t>
            </a:r>
            <a:endParaRPr lang="en-US" sz="95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 النُّورِ</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صَبَاحُ الخَيْرِ</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مَسَاءُ الخَيْرِ</a:t>
            </a:r>
            <a:endParaRPr lang="ar-SA" sz="20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 اللِّقَاءِ</a:t>
            </a:r>
            <a:endParaRPr lang="ar-SA" sz="20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صَبَاحُ النُّورِ</a:t>
            </a:r>
            <a:pPr algn="l" indent="0" marL="0">
              <a:buNone/>
            </a:pPr>
            <a:r>
              <a:rPr lang="en-US" sz="1050" i="1" dirty="0">
                <a:solidFill>
                  <a:srgbClr val="8A6D1E"/>
                </a:solidFill>
                <a:latin typeface="Calibri" pitchFamily="34" charset="0"/>
                <a:cs typeface="Amiri" pitchFamily="2" charset="-78"/>
              </a:rPr>
              <a:t> conventionally answers </a:t>
            </a:r>
            <a:pPr algn="l" indent="0" marL="0">
              <a:buNone/>
            </a:pPr>
            <a:r>
              <a:rPr lang="ar-SA" altLang="en-US" sz="1350" dirty="0">
                <a:solidFill>
                  <a:srgbClr val="8A6D1E"/>
                </a:solidFill>
                <a:latin typeface="Amiri" pitchFamily="2" charset="-78"/>
                <a:ea typeface="Amiri" pitchFamily="2" charset="-78"/>
                <a:cs typeface="Amiri" pitchFamily="2" charset="-78"/>
              </a:rPr>
              <a:t>صَبَاحُ الخَيْرِ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how she is in careful MSA.</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كَيْفَ حَالُكَ؟</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كَيْفَ حَالُكِ؟</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كَيْفَ حَالُكُمْ؟</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suffix is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pronounced -ki.</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closing most directly suggests meeting again?</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 اللِّقَاءِ</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 السَّلَامَةِ</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أَهْلًا وَسَهْلًا</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إِلَى اللِّقَاءِ</a:t>
            </a:r>
            <a:pPr algn="l" indent="0" marL="0">
              <a:buNone/>
            </a:pPr>
            <a:r>
              <a:rPr lang="en-US" sz="1050" i="1" dirty="0">
                <a:solidFill>
                  <a:srgbClr val="8A6D1E"/>
                </a:solidFill>
                <a:latin typeface="Calibri" pitchFamily="34" charset="0"/>
                <a:cs typeface="Amiri" pitchFamily="2" charset="-78"/>
              </a:rPr>
              <a:t> means “until the meeting / see you later”.</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F2-L01 · Greetings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F2-L02 · What Is Your Name?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اسْمُكَ؟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is your name? (to a boy)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My name is …</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تَشَرَّفْنَا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Pleased to meet you.</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صَدِيقِي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This is my friend. (m.)</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صَدِيقَتِي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This is my friend. (f.)</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Practise: say your name in Arabic three times, then ask a family member theirs.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اِسْمِي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F2-L01: play the picture game “Hello, Goodbye and How Are You?”, then write 4 greeting lines.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the six-line imaginary dialogue (at least four phrases from today).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Heritage extension: a natural 6–8 line dialogue with the extended greeting, no transliteration.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F2-L02 · What Is Your Name?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مَا اسْمُكَ؟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name phrases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F2-L01 · Hello, Goodbye &amp; How Are You?</dc:title>
  <dc:subject>PptxGenJS Presentation</dc:subject>
  <dc:creator>Al Madina Online School · Arabic Department</dc:creator>
  <cp:lastModifiedBy>Al Madina Online School · Arabic Department</cp:lastModifiedBy>
  <cp:revision>1</cp:revision>
  <dcterms:created xsi:type="dcterms:W3CDTF">2026-10-11T06:41:21Z</dcterms:created>
  <dcterms:modified xsi:type="dcterms:W3CDTF">2026-10-11T06:41:21Z</dcterms:modified>
</cp:coreProperties>
</file>