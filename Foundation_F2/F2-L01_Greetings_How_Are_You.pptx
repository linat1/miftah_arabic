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10–19 Greeting pairs (3 groups) · 19–24 The five moves + كَ / كِ · 24–26 Quick check · 26–29 I Do · 29–38 We Do (picture match, relay, listening, fix) · 38–49 You Do (Mingle Mission 5 + write 6) · 49–54 Feedback · 54–56 Preparation.
FLEX slides are optional. Use them if the class is moving quickly; otherwise the same activities are on the website for homework.
Content source: Miftah Arabic website, Pathways › Foundation › F2 Greetings &amp; Introductions › Lesson 1 (F2-L01). Website sections used: the greeting system in pairs, Response Relay (8 items), the gender form explorer and gender check (6), the Ahmad–Sara dialogue (listening and dialogue rebuild), the Four-Move Mingle Mission, the ten-question checkpoint (exit ticket) and the six-line homework dialogue. The picture match is the website visual game “Hello, Goodbye and How Are You?”.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This is the first SPEAKING unit. Core: learn phrases as whole chunks in pairs (A says → B replies); transliteration is on every card as a temporary bridge. Develop: choose -ka / -ki correctly. Stretch: the extended greeting (heritage-reader extension).
• Culture (website): greeting choice, gesture and physical contact vary by country, relationship and person — follow the other person’s lead; never assume one gesture is expected. This is careful Modern Standard Arabic; spoken varieties differ, and that is normal, not an error.
• Urdu bridge: سلام، خیر، حال، شکریہ، صبح — many students already know these words.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the greetings prepared at home after the F1 assessment (Flipped Learning follow-up). Questions 3–5 use F1 decoding skills (letters, long vowels, tanwīn) on today’s words.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greeting usually comes in a PAIR: one person opens, the other gives the matching reply.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left column is the website’s “Today’s success criteria”.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سلام (السَّلَامُ عَلَيْكُمْ), خیر (بِخَيْرٍ / صَبَاحُ الخَيْرِ), حال (کیا حال ہے؟ = كَيْفَ حَالُكَ؟), شکریہ (شُكْرًا), صبح (صَبَاحٌ). Ask: “Which of these do you already say at home?” — a quick confidence win for EAL students.
All phrases are the website “greeting system” cards.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Group 1 (website “Opening and welcome”). Hear → Say → See → Use, in PAIRS: teacher says card 1, class replies with card 2. Swap: class opens, teacher replies.
Card 5: the plural عَلَيْكُمْ is used in the greeting even to one person — it is the fixed form. The three boxes show m / f / pl so students notice the ENDING pattern they meet today (كَ / كِ / كُمْ).
Card 6 is the website heritage-reader extension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Group 2 (website “Time-of-day pairs”). Show a sun / moon gesture. Drill: teacher says the OPENING, class says the REPLY; then swap.
Memory cue: opening = الخَيْرِ (goodness); reply = النُّورِ (light). Sun letters from F1: in النُّور the ل is silent and the ن is doubled (an-nūr).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Group 3 (website “Check in and answer” + “Closing the exchange”; وَأَنْتَ؟ from the website dialogue).
Cards 11 and 14 show the three addressee forms (to one boy · one girl · a group). Today we practise the first two; the plural is for recognition.
Pronunciation (website): ḥ in حَال is not English h — breathe out through a narrowed throat; hold the long ā in حَال and سَلَام.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MOVES (website section 1, “A greeting is a social action”): Open → Respond → Check in → Answer → Close.
Website “Notice”: What do hello, bonjour, hola, salam and nǐ hǎo do BEFORE any information is exchanged? (They open the interaction and show goodwill.)
Read each row as a mini-dialogue: teacher = A, class = B. Then swap.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(website section 5, “Address one person accurately”). In careful MSA the short vowel on the final ك tells the listener whether you are speaking to one male or one female.
Memory cue: LOOK at the listener, then choose the final vowel. The ending depends on the person you are speaking TO — not on your own gender.
Website: in ordinary unvowelled print both look the same (كيف حالك؟) — context supplies the reading.
Respectful workaround (website): if unsure, كَيْفَ الحَالُ؟ (“how are things?”) avoids a gendered 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 / F / PL TABLE (1 min). Pink = the ending. Read across each row; students repeat, stressing the last sound.
Rows 1–2 are today’s CORE (website: حَالُكَ / حَالُكِ; وَأَنْتَ؟ / وَأَنْتِ؟ from the dialogue). Row 3 links back to the greeting: السَّلَامُ عَلَيْكُمْ uses the group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“Gender ending check” questions 1, 2, 3 and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 models the website Ahmad–Sara dialogue with a think-aloud, then students COPY it into their books.
Think aloud each decision: “What time is it? → which pair?”, “Who am I speaking to? → -ka or -ki?”, “How do I close?”.
Website pronunciation contrasts to model: ḥ (مَرْحَبًا، حَال), ʿ (عَلَيْكُمْ، مَعَ), long ā (حَال، سَلَام، مَسَاء), final vowel (حَالُكَ / حَالُكِ).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Hello, Goodbye and How Are You?”)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صَبَاحُ (morning), مَسَاءُ (evening), the final ـكِ (a girl). The other three website game items (مَرْحَبًا، كَيْفَ حَالُكَ؟، إِلَى اللِّقَاءِ) are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Hello, Goodbye and How Are You?”)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صَبَاحُ (morning), مَسَاءُ (evening), the final ـكِ (a girl). The other three website game items (مَرْحَبًا، كَيْفَ حَالُكَ؟، إِلَى اللِّقَاءِ) are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“Response Relay” (5 of its 8 decisions; the other 3 are homework). Guided rehearsal, so immediate feedback is appropriate (website).
After each answer: class SAYS the pair aloud (A: opening, B: reply) — chunk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 class says each pair aloud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4. Develop / Stretch: all 5.
Listen 1: just listen. Listen 2: note answers. Then chat the letters.
Support: after the second listening, show the read-along slide (Arabic + English, line by line) for Core students.
SCRIPT (read aloud):
أَحْمَدُ: صَبَاحُ الخَيْرِ يَا سَارَةُ. سَارَةُ: صَبَاحُ النُّورِ يَا أَحْمَدُ. أَحْمَدُ: كَيْفَ حَالُكِ؟ سَارَةُ: بِخَيْرٍ، الحَمْدُ لِلَّهِ. وَأَنْتَ؟ أَحْمَدُ: بِخَيْرٍ، شُكْرًا. سَارَةُ: إِلَى اللِّقَاءِ. أَحْمَدُ: مَعَ السَّلَامَةِ.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teacher-made sorter based on the website conversation map (FLEX, 2 min). Core clue: a “?” means check-in; السَّلَامَة / اللِّقَاء mean goodbye.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teacher-made sorter based on the website conversation map (FLEX, 2 min). Core clue: a “?” means check-in; السَّلَامَة / اللِّقَاء mean goodbye.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أَحْمَدُ: كَيْفَ حَالُكِ؟ (How are you? (to a girl))
سَارَةُ: بِخَيْرٍ، الحَمْدُ لِلَّهِ. وَأَنْتَ؟ (Fine, praise be to God. And you?)
أَحْمَدُ: بِخَيْرٍ، شُكْرًا. (Fine, thank you.)
سَارَةُ: إِلَى اللِّقَاءِ. (See you later.)
أَحْمَدُ: مَعَ السَّلَامَةِ. (Goodbye.)
WEBSITE “FOUR-MOVE MINGLE MISSION” (online version): 5-minute timer. Pairs on open mic, one after another; each pair must complete all four functions — Open · Respond · Check in and answer · Close — and change partner after every exchange. The class ticks the moves heard in the chat (1 2 3 4).
Before: each student chooses one opening and one closing and rehearses the gendered question they will need (website).
After (website): “The phrase that became easier was … The sound I still need to practise is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Four lines: open, reply, ask how, answer — copy the pairs from the phrase map. · Develop — The full six-line dialogue with a correct -ka or -ki question. · Stretch — A 6–8 line dialogue using the extended greeting, without transliteration.
Website writing task (Stretch): Website homework: write a six-line imaginary dialogue between two speakers. Use at least four phrases from today, and make every line respond to the one before it.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This is the website dialogue (section 6, “Notice who is speaking to whom”).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10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(F2-L02 · What Is Your Name?) will spend class time USING this language, so students prepare it tonight — short, simple, easy to access (school guidance: “Simple, Short, Interesting, Relevant, Easy to access”). The five words are the website F2-L02 vocabulary (the name question, the answer, “pleased to meet you” and introducing a friend).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F2  ·  F2-L01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F2-L01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650" b="1" dirty="0">
                <a:solidFill>
                  <a:srgbClr val="FFFFFF"/>
                </a:solidFill>
                <a:latin typeface="Cambria" pitchFamily="34" charset="0"/>
                <a:ea typeface="Cambria" pitchFamily="34" charset="-122"/>
                <a:cs typeface="Cambria" pitchFamily="34" charset="-120"/>
              </a:rPr>
              <a:t>Hello, Goodbye &amp; How Are You?</a:t>
            </a:r>
            <a:endParaRPr lang="en-US" sz="3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مَرْحَبًا! كَيْفَ حَالُكَ؟</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Move from reading Arabic to using it with another person: open with a suitable greeting, give the paired reply, ask how someone is (to a boy or a girl), answer, and close the exchange politely.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F2-L01 · Foundation F2 · Greetings &amp; Introductions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F2 › F2-L01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Greeting pairs, then </a:t>
            </a:r>
            <a:pPr algn="ctr" indent="0" marL="0">
              <a:buNone/>
            </a:pPr>
            <a:r>
              <a:rPr lang="ar-SA" altLang="en-US" sz="1550" dirty="0">
                <a:solidFill>
                  <a:srgbClr val="1F2A37"/>
                </a:solidFill>
                <a:latin typeface="Amiri" pitchFamily="34" charset="0"/>
                <a:ea typeface="Amiri" pitchFamily="34" charset="-122"/>
                <a:cs typeface="Amiri" pitchFamily="34" charset="-120"/>
              </a:rPr>
              <a:t>كَ</a:t>
            </a:r>
            <a:pPr algn="ctr" indent="0" marL="0">
              <a:buNone/>
            </a:pPr>
            <a:r>
              <a:rPr lang="en-US" sz="1200" dirty="0">
                <a:solidFill>
                  <a:srgbClr val="1F2A37"/>
                </a:solidFill>
                <a:latin typeface="Calibri" pitchFamily="34" charset="0"/>
                <a:ea typeface="Calibri" pitchFamily="34" charset="-122"/>
                <a:cs typeface="Calibri" pitchFamily="34" charset="-120"/>
              </a:rPr>
              <a:t> for a boy and </a:t>
            </a:r>
            <a:pPr algn="ctr" indent="0" marL="0">
              <a:buNone/>
            </a:pPr>
            <a:r>
              <a:rPr lang="ar-SA" altLang="en-US" sz="1550" dirty="0">
                <a:solidFill>
                  <a:srgbClr val="1F2A37"/>
                </a:solidFill>
                <a:latin typeface="Amiri" pitchFamily="34" charset="0"/>
                <a:ea typeface="Amiri" pitchFamily="34" charset="-122"/>
                <a:cs typeface="Amiri" pitchFamily="34" charset="-120"/>
              </a:rPr>
              <a:t>كِ</a:t>
            </a:r>
            <a:pPr algn="ctr" indent="0" marL="0">
              <a:buNone/>
            </a:pPr>
            <a:r>
              <a:rPr lang="en-US" sz="1200" dirty="0">
                <a:solidFill>
                  <a:srgbClr val="1F2A37"/>
                </a:solidFill>
                <a:latin typeface="Calibri" pitchFamily="34" charset="0"/>
                <a:ea typeface="Calibri" pitchFamily="34" charset="-122"/>
                <a:cs typeface="Calibri" pitchFamily="34" charset="-120"/>
              </a:rPr>
              <a:t> for a girl.</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response relay, listen and fix.</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F2-L02.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مَرْحَبًا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goodbye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hello, welcome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thank you</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reply to this greeting.</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السَّلَامُ عَلَيْكُمْ</a:t>
            </a:r>
            <a:endParaRPr lang="ar-SA" sz="220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وَعَلَيْكُمُ السَّلَامُ</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مَرْحَبًا</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اِسْمِي</a:t>
            </a:r>
            <a:endParaRPr lang="ar-SA" sz="2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letter is </a:t>
            </a:r>
            <a:pPr algn="l" indent="0" marL="0">
              <a:buNone/>
            </a:pPr>
            <a:r>
              <a:rPr lang="ar-SA" altLang="en-US" sz="1550" b="1" dirty="0">
                <a:solidFill>
                  <a:srgbClr val="1B3B6F"/>
                </a:solidFill>
                <a:latin typeface="Amiri" pitchFamily="34" charset="0"/>
                <a:ea typeface="Amiri" pitchFamily="34" charset="-122"/>
                <a:cs typeface="Amiri" pitchFamily="34" charset="-120"/>
              </a:rPr>
              <a:t>ح</a:t>
            </a:r>
            <a:pPr algn="l" indent="0" marL="0">
              <a:buNone/>
            </a:pPr>
            <a:r>
              <a:rPr lang="en-US" sz="1200" b="1" dirty="0">
                <a:solidFill>
                  <a:srgbClr val="1B3B6F"/>
                </a:solidFill>
                <a:latin typeface="Calibri" pitchFamily="34" charset="0"/>
                <a:ea typeface="Calibri" pitchFamily="34" charset="-122"/>
                <a:cs typeface="Calibri" pitchFamily="34" charset="-120"/>
              </a:rPr>
              <a:t>?</a:t>
            </a:r>
            <a:endParaRPr lang="en-US" sz="1200" dirty="0"/>
          </a:p>
        </p:txBody>
      </p:sp>
      <p:sp>
        <p:nvSpPr>
          <p:cNvPr id="46" name="Text 43"/>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ح</a:t>
            </a:r>
            <a:endParaRPr lang="ar-SA" sz="220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jīm</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khāʾ</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ḥāʾ</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closest reading.</a:t>
            </a:r>
            <a:endParaRPr lang="en-US" sz="1200" dirty="0"/>
          </a:p>
        </p:txBody>
      </p:sp>
      <p:sp>
        <p:nvSpPr>
          <p:cNvPr id="60" name="Text 57"/>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صَبَاح</a:t>
            </a:r>
            <a:endParaRPr lang="ar-SA" sz="220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sabah</a:t>
            </a:r>
            <a:endParaRPr lang="en-US" sz="12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ṣubḥ</a:t>
            </a:r>
            <a:endParaRPr lang="en-US" sz="12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ṣabāḥ</a:t>
            </a:r>
            <a:endParaRPr lang="en-US" sz="12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3" name="Text 70"/>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000" b="1" dirty="0">
                <a:solidFill>
                  <a:srgbClr val="1B3B6F"/>
                </a:solidFill>
                <a:latin typeface="Calibri" pitchFamily="34" charset="0"/>
                <a:ea typeface="Calibri" pitchFamily="34" charset="-122"/>
                <a:cs typeface="Calibri" pitchFamily="34" charset="-120"/>
              </a:rPr>
              <a:t>What does the tanwīn on this word add?</a:t>
            </a:r>
            <a:endParaRPr lang="en-US" sz="1000" dirty="0"/>
          </a:p>
        </p:txBody>
      </p:sp>
      <p:sp>
        <p:nvSpPr>
          <p:cNvPr id="74" name="Text 71"/>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بِخَيْرٍ</a:t>
            </a:r>
            <a:endParaRPr lang="ar-SA" sz="2200" dirty="0"/>
          </a:p>
        </p:txBody>
      </p:sp>
      <p:sp>
        <p:nvSpPr>
          <p:cNvPr id="75" name="Shape 72"/>
          <p:cNvSpPr/>
          <p:nvPr/>
        </p:nvSpPr>
        <p:spPr>
          <a:xfrm>
            <a:off x="4459224" y="48737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-in ending</a:t>
            </a:r>
            <a:endParaRPr lang="en-US" sz="1250" dirty="0"/>
          </a:p>
        </p:txBody>
      </p:sp>
      <p:sp>
        <p:nvSpPr>
          <p:cNvPr id="78" name="Shape 75"/>
          <p:cNvSpPr/>
          <p:nvPr/>
        </p:nvSpPr>
        <p:spPr>
          <a:xfrm>
            <a:off x="4459224" y="53309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0" name="Text 77"/>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doubled letter</a:t>
            </a:r>
            <a:endParaRPr lang="en-US" sz="1250" dirty="0"/>
          </a:p>
        </p:txBody>
      </p:sp>
      <p:sp>
        <p:nvSpPr>
          <p:cNvPr id="81" name="Shape 78"/>
          <p:cNvSpPr/>
          <p:nvPr/>
        </p:nvSpPr>
        <p:spPr>
          <a:xfrm>
            <a:off x="4459224" y="57881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3" name="Text 80"/>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long ā</a:t>
            </a:r>
            <a:endParaRPr lang="en-US" sz="1250" dirty="0"/>
          </a:p>
        </p:txBody>
      </p:sp>
      <p:sp>
        <p:nvSpPr>
          <p:cNvPr id="84" name="Shape 81"/>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5" name="Text 82"/>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6" name="Text 83"/>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7" name="Text 84"/>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8" name="Text 85"/>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9" name="Text 8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مَرْحَبًا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goodbye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hello, welcome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thank you</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reply to this greeting.</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السَّلَامُ عَلَيْكُمْ</a:t>
            </a:r>
            <a:endParaRPr lang="ar-SA" sz="2200" dirty="0"/>
          </a:p>
        </p:txBody>
      </p:sp>
      <p:sp>
        <p:nvSpPr>
          <p:cNvPr id="35" name="Shape 32"/>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وَعَلَيْكُمُ السَّلَامُ</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مَرْحَبًا</a:t>
            </a:r>
            <a:endParaRPr lang="ar-SA" sz="1700" dirty="0"/>
          </a:p>
        </p:txBody>
      </p:sp>
      <p:sp>
        <p:nvSpPr>
          <p:cNvPr id="42" name="Shape 39"/>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اِسْمِي</a:t>
            </a:r>
            <a:endParaRPr lang="ar-SA" sz="170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the reply returns the peace.</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letter is </a:t>
            </a:r>
            <a:pPr algn="l" indent="0" marL="0">
              <a:buNone/>
            </a:pPr>
            <a:r>
              <a:rPr lang="ar-SA" altLang="en-US" sz="1550" b="1" dirty="0">
                <a:solidFill>
                  <a:srgbClr val="1B3B6F"/>
                </a:solidFill>
                <a:latin typeface="Amiri" pitchFamily="34" charset="0"/>
                <a:ea typeface="Amiri" pitchFamily="34" charset="-122"/>
                <a:cs typeface="Amiri" pitchFamily="34" charset="-120"/>
              </a:rPr>
              <a:t>ح</a:t>
            </a:r>
            <a:pPr algn="l" indent="0" marL="0">
              <a:buNone/>
            </a:pPr>
            <a:r>
              <a:rPr lang="en-US" sz="1200" b="1" dirty="0">
                <a:solidFill>
                  <a:srgbClr val="1B3B6F"/>
                </a:solidFill>
                <a:latin typeface="Calibri" pitchFamily="34" charset="0"/>
                <a:ea typeface="Calibri" pitchFamily="34" charset="-122"/>
                <a:cs typeface="Calibri" pitchFamily="34" charset="-120"/>
              </a:rPr>
              <a:t>?</a:t>
            </a:r>
            <a:endParaRPr lang="en-US" sz="1200" dirty="0"/>
          </a:p>
        </p:txBody>
      </p:sp>
      <p:sp>
        <p:nvSpPr>
          <p:cNvPr id="50" name="Text 47"/>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ح</a:t>
            </a:r>
            <a:endParaRPr lang="ar-SA" sz="2200" dirty="0"/>
          </a:p>
        </p:txBody>
      </p:sp>
      <p:sp>
        <p:nvSpPr>
          <p:cNvPr id="51"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jīm</a:t>
            </a:r>
            <a:endParaRPr lang="en-US" sz="1250" dirty="0"/>
          </a:p>
        </p:txBody>
      </p:sp>
      <p:sp>
        <p:nvSpPr>
          <p:cNvPr id="54"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khāʾ</a:t>
            </a:r>
            <a:endParaRPr lang="en-US" sz="1250" dirty="0"/>
          </a:p>
        </p:txBody>
      </p:sp>
      <p:sp>
        <p:nvSpPr>
          <p:cNvPr id="57"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ḥāʾ</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F1: no dot — the throat letter ḥāʾ.</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closest reading.</a:t>
            </a:r>
            <a:endParaRPr lang="en-US" sz="1200" dirty="0"/>
          </a:p>
        </p:txBody>
      </p:sp>
      <p:sp>
        <p:nvSpPr>
          <p:cNvPr id="66" name="Text 63"/>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صَبَاح</a:t>
            </a:r>
            <a:endParaRPr lang="ar-SA" sz="2200" dirty="0"/>
          </a:p>
        </p:txBody>
      </p:sp>
      <p:sp>
        <p:nvSpPr>
          <p:cNvPr id="67"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sabah</a:t>
            </a:r>
            <a:endParaRPr lang="en-US" sz="1250" dirty="0"/>
          </a:p>
        </p:txBody>
      </p:sp>
      <p:sp>
        <p:nvSpPr>
          <p:cNvPr id="70"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ṣubḥ</a:t>
            </a:r>
            <a:endParaRPr lang="en-US" sz="1250" dirty="0"/>
          </a:p>
        </p:txBody>
      </p:sp>
      <p:sp>
        <p:nvSpPr>
          <p:cNvPr id="73"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ṣabāḥ</a:t>
            </a:r>
            <a:endParaRPr lang="en-US" sz="1250" dirty="0"/>
          </a:p>
        </p:txBody>
      </p:sp>
      <p:sp>
        <p:nvSpPr>
          <p:cNvPr id="77"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F1 decoding: </a:t>
            </a:r>
            <a:pPr algn="l" indent="0" marL="0">
              <a:buNone/>
            </a:pPr>
            <a:r>
              <a:rPr lang="ar-SA" altLang="en-US" sz="1350" dirty="0">
                <a:solidFill>
                  <a:srgbClr val="8A6D1E"/>
                </a:solidFill>
                <a:latin typeface="Amiri" pitchFamily="34" charset="0"/>
                <a:ea typeface="Amiri" pitchFamily="34" charset="-122"/>
                <a:cs typeface="Amiri" pitchFamily="34" charset="-120"/>
              </a:rPr>
              <a:t>ص</a:t>
            </a:r>
            <a:pPr algn="l" indent="0" marL="0">
              <a:buNone/>
            </a:pPr>
            <a:r>
              <a:rPr lang="en-US" sz="1050" i="1" dirty="0">
                <a:solidFill>
                  <a:srgbClr val="8A6D1E"/>
                </a:solidFill>
                <a:latin typeface="Calibri" pitchFamily="34" charset="0"/>
                <a:ea typeface="Calibri" pitchFamily="34" charset="-122"/>
                <a:cs typeface="Calibri" pitchFamily="34" charset="-120"/>
              </a:rPr>
              <a:t> is ṣād; alif gives long ā.</a:t>
            </a:r>
            <a:endParaRPr lang="en-US" sz="1050" dirty="0"/>
          </a:p>
        </p:txBody>
      </p:sp>
      <p:sp>
        <p:nvSpPr>
          <p:cNvPr id="78"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9"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80"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1" name="Text 78"/>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000" b="1" dirty="0">
                <a:solidFill>
                  <a:srgbClr val="1B3B6F"/>
                </a:solidFill>
                <a:latin typeface="Calibri" pitchFamily="34" charset="0"/>
                <a:ea typeface="Calibri" pitchFamily="34" charset="-122"/>
                <a:cs typeface="Calibri" pitchFamily="34" charset="-120"/>
              </a:rPr>
              <a:t>What does the tanwīn on this word add?</a:t>
            </a:r>
            <a:endParaRPr lang="en-US" sz="1000" dirty="0"/>
          </a:p>
        </p:txBody>
      </p:sp>
      <p:sp>
        <p:nvSpPr>
          <p:cNvPr id="82" name="Text 79"/>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بِخَيْرٍ</a:t>
            </a:r>
            <a:endParaRPr lang="ar-SA" sz="2200" dirty="0"/>
          </a:p>
        </p:txBody>
      </p:sp>
      <p:sp>
        <p:nvSpPr>
          <p:cNvPr id="83" name="Shape 8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4" name="Shape 81"/>
          <p:cNvSpPr/>
          <p:nvPr/>
        </p:nvSpPr>
        <p:spPr>
          <a:xfrm>
            <a:off x="4459224" y="4831080"/>
            <a:ext cx="256032" cy="256032"/>
          </a:xfrm>
          <a:prstGeom prst="ellipse">
            <a:avLst/>
          </a:prstGeom>
          <a:solidFill>
            <a:srgbClr val="2E8B57"/>
          </a:solidFill>
          <a:ln w="12700">
            <a:solidFill>
              <a:srgbClr val="2E8B57"/>
            </a:solidFill>
            <a:prstDash val="solid"/>
          </a:ln>
        </p:spPr>
      </p:sp>
      <p:sp>
        <p:nvSpPr>
          <p:cNvPr id="85"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-in ending</a:t>
            </a:r>
            <a:endParaRPr lang="en-US" sz="1250" dirty="0"/>
          </a:p>
        </p:txBody>
      </p:sp>
      <p:sp>
        <p:nvSpPr>
          <p:cNvPr id="87" name="Shape 84"/>
          <p:cNvSpPr/>
          <p:nvPr/>
        </p:nvSpPr>
        <p:spPr>
          <a:xfrm>
            <a:off x="4459224" y="5202936"/>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doubled letter</a:t>
            </a:r>
            <a:endParaRPr lang="en-US" sz="1250" dirty="0"/>
          </a:p>
        </p:txBody>
      </p:sp>
      <p:sp>
        <p:nvSpPr>
          <p:cNvPr id="90" name="Shape 87"/>
          <p:cNvSpPr/>
          <p:nvPr/>
        </p:nvSpPr>
        <p:spPr>
          <a:xfrm>
            <a:off x="4459224" y="5574792"/>
            <a:ext cx="256032" cy="256032"/>
          </a:xfrm>
          <a:prstGeom prst="ellipse">
            <a:avLst/>
          </a:prstGeom>
          <a:solidFill>
            <a:srgbClr val="C9CED6"/>
          </a:solidFill>
          <a:ln w="12700">
            <a:solidFill>
              <a:srgbClr val="C9CED6"/>
            </a:solidFill>
            <a:prstDash val="solid"/>
          </a:ln>
        </p:spPr>
      </p:sp>
      <p:sp>
        <p:nvSpPr>
          <p:cNvPr id="91" name="Text 8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long ā</a:t>
            </a:r>
            <a:endParaRPr lang="en-US" sz="1250" dirty="0"/>
          </a:p>
        </p:txBody>
      </p:sp>
      <p:sp>
        <p:nvSpPr>
          <p:cNvPr id="93" name="Text 9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F1-L06: two kasras = -in (bi-khayr-in).</a:t>
            </a:r>
            <a:endParaRPr lang="en-US" sz="1050" dirty="0"/>
          </a:p>
        </p:txBody>
      </p:sp>
      <p:sp>
        <p:nvSpPr>
          <p:cNvPr id="94" name="Shape 91"/>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5" name="Text 92"/>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6" name="Text 93"/>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 greeting usually comes in a PAIR: one person opens, the other gives the matching reply.</a:t>
            </a:r>
            <a:endParaRPr lang="en-US" sz="1300" dirty="0"/>
          </a:p>
        </p:txBody>
      </p:sp>
      <p:sp>
        <p:nvSpPr>
          <p:cNvPr id="97" name="Text 94"/>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صَبَاحُ الخَيْرِ ← صَبَاحُ النُّورِ</a:t>
            </a:r>
            <a:endParaRPr lang="ar-SA" sz="240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at least four different greeting moves.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Give the correct response to three greeting pairs.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Tell </a:t>
            </a:r>
            <a:pPr algn="l" indent="0" marL="0">
              <a:buNone/>
            </a:pPr>
            <a:r>
              <a:rPr lang="ar-SA" altLang="en-US" sz="1700" dirty="0">
                <a:solidFill>
                  <a:srgbClr val="1F2A37"/>
                </a:solidFill>
                <a:latin typeface="Amiri" pitchFamily="34" charset="0"/>
                <a:ea typeface="Amiri" pitchFamily="34" charset="-122"/>
                <a:cs typeface="Amiri" pitchFamily="34" charset="-120"/>
              </a:rPr>
              <a:t>حَالُكَ</a:t>
            </a:r>
            <a:pPr algn="l" indent="0" marL="0">
              <a:buNone/>
            </a:pPr>
            <a:r>
              <a:rPr lang="en-US" sz="1300" dirty="0">
                <a:solidFill>
                  <a:srgbClr val="1F2A37"/>
                </a:solidFill>
                <a:latin typeface="Calibri" pitchFamily="34" charset="0"/>
                <a:ea typeface="Calibri" pitchFamily="34" charset="-122"/>
                <a:cs typeface="Calibri" pitchFamily="34" charset="-120"/>
              </a:rPr>
              <a:t> (to a boy) from </a:t>
            </a:r>
            <a:pPr algn="l" indent="0" marL="0">
              <a:buNone/>
            </a:pPr>
            <a:r>
              <a:rPr lang="ar-SA" altLang="en-US" sz="1700" dirty="0">
                <a:solidFill>
                  <a:srgbClr val="1F2A37"/>
                </a:solidFill>
                <a:latin typeface="Amiri" pitchFamily="34" charset="0"/>
                <a:ea typeface="Amiri" pitchFamily="34" charset="-122"/>
                <a:cs typeface="Amiri" pitchFamily="34" charset="-120"/>
              </a:rPr>
              <a:t>حَالُكِ</a:t>
            </a:r>
            <a:pPr algn="l" indent="0" marL="0">
              <a:buNone/>
            </a:pPr>
            <a:r>
              <a:rPr lang="en-US" sz="1300" dirty="0">
                <a:solidFill>
                  <a:srgbClr val="1F2A37"/>
                </a:solidFill>
                <a:latin typeface="Calibri" pitchFamily="34" charset="0"/>
                <a:ea typeface="Calibri" pitchFamily="34" charset="-122"/>
                <a:cs typeface="Calibri" pitchFamily="34" charset="-120"/>
              </a:rPr>
              <a:t> (to a girl).</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Perform a four-line exchange without reading every word.</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and answer the peace greeting and “hello”.</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answer “how are you?” with “fine”.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the morning and evening pairs.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choose -ka (boy) or -ki (girl) for my listener.</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hold a six-line exchange with the model hidden.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use the extended greeting respectfully.</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14 phrases from the website in 3 groups. Learn them as PAIRS: A says → B replies.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Opening and welcome · 4</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Time of day · 4</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Check in and close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السَّلَامُ</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‎سلام‎ </a:t>
            </a:r>
            <a:pPr indent="0" marL="0">
              <a:buNone/>
            </a:pPr>
            <a:r>
              <a:rPr lang="en-US" sz="950" b="1" dirty="0">
                <a:solidFill>
                  <a:srgbClr val="2E8B57"/>
                </a:solidFill>
                <a:latin typeface="Calibri" pitchFamily="34" charset="0"/>
                <a:ea typeface="Calibri" pitchFamily="34" charset="-122"/>
                <a:cs typeface="Calibri" pitchFamily="34" charset="-120"/>
              </a:rPr>
              <a:t> salām · peace, greeting</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خَيْرٌ</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‎خیر‎ </a:t>
            </a:r>
            <a:pPr indent="0" marL="0">
              <a:buNone/>
            </a:pPr>
            <a:r>
              <a:rPr lang="en-US" sz="950" b="1" dirty="0">
                <a:solidFill>
                  <a:srgbClr val="2E8B57"/>
                </a:solidFill>
                <a:latin typeface="Calibri" pitchFamily="34" charset="0"/>
                <a:ea typeface="Calibri" pitchFamily="34" charset="-122"/>
                <a:cs typeface="Calibri" pitchFamily="34" charset="-120"/>
              </a:rPr>
              <a:t> khair · good, well-being</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حَالٌ</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‎حال‎ </a:t>
            </a:r>
            <a:pPr indent="0" marL="0">
              <a:buNone/>
            </a:pPr>
            <a:r>
              <a:rPr lang="en-US" sz="950" b="1" dirty="0">
                <a:solidFill>
                  <a:srgbClr val="2E8B57"/>
                </a:solidFill>
                <a:latin typeface="Calibri" pitchFamily="34" charset="0"/>
                <a:ea typeface="Calibri" pitchFamily="34" charset="-122"/>
                <a:cs typeface="Calibri" pitchFamily="34" charset="-120"/>
              </a:rPr>
              <a:t> hāl · condition, state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شُكْرًا</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‎شکریہ‎ </a:t>
            </a:r>
            <a:pPr indent="0" marL="0">
              <a:buNone/>
            </a:pPr>
            <a:r>
              <a:rPr lang="en-US" sz="950" b="1" dirty="0">
                <a:solidFill>
                  <a:srgbClr val="2E8B57"/>
                </a:solidFill>
                <a:latin typeface="Calibri" pitchFamily="34" charset="0"/>
                <a:ea typeface="Calibri" pitchFamily="34" charset="-122"/>
                <a:cs typeface="Calibri" pitchFamily="34" charset="-120"/>
              </a:rPr>
              <a:t> shukriya · thank you</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صَبَاحٌ</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‎صبح‎ </a:t>
            </a:r>
            <a:pPr indent="0" marL="0">
              <a:buNone/>
            </a:pPr>
            <a:r>
              <a:rPr lang="en-US" sz="950" b="1" dirty="0">
                <a:solidFill>
                  <a:srgbClr val="2E8B57"/>
                </a:solidFill>
                <a:latin typeface="Calibri" pitchFamily="34" charset="0"/>
                <a:ea typeface="Calibri" pitchFamily="34" charset="-122"/>
                <a:cs typeface="Calibri" pitchFamily="34" charset="-120"/>
              </a:rPr>
              <a:t> subah · morning</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 · OPEN AND WELCOME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Opening and welcome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التَّحِيَّةُ وَالتَّرْحِيبُ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open</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السَّلَامُ عَلَيْكُمْ</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Peace be upon you.</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as-sa-lā-mu ʿa-lay-kum</a:t>
            </a:r>
            <a:endParaRPr lang="en-US" sz="1350" dirty="0"/>
          </a:p>
        </p:txBody>
      </p:sp>
      <p:sp>
        <p:nvSpPr>
          <p:cNvPr id="24" name="Text 21"/>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Widely used greeting of Islamic origin.</a:t>
            </a:r>
            <a:endParaRPr lang="en-US" sz="10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8" name="Shape 25"/>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reply</a:t>
            </a:r>
            <a:endParaRPr lang="en-US" sz="8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وَعَلَيْكُمُ السَّلَامُ</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And upon you be peace.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wa-ʿa-lay-ku-mu s-sa-lām</a:t>
            </a:r>
            <a:endParaRPr lang="en-US" sz="1350" dirty="0"/>
          </a:p>
        </p:txBody>
      </p:sp>
      <p:sp>
        <p:nvSpPr>
          <p:cNvPr id="34" name="Text 31"/>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The reply turns it round: “and upon YOU”.</a:t>
            </a:r>
            <a:endParaRPr lang="en-US" sz="10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8" name="Shape 35"/>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open + reply</a:t>
            </a:r>
            <a:endParaRPr lang="en-US" sz="800" dirty="0"/>
          </a:p>
        </p:txBody>
      </p:sp>
      <p:sp>
        <p:nvSpPr>
          <p:cNvPr id="40" name="Shape 3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مَرْحَبًا</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Hello / welcome.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mar-ḥa-ban</a:t>
            </a:r>
            <a:endParaRPr lang="en-US" sz="1350" dirty="0"/>
          </a:p>
        </p:txBody>
      </p:sp>
      <p:sp>
        <p:nvSpPr>
          <p:cNvPr id="44" name="Text 41"/>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Flexible: answer with the same word.</a:t>
            </a:r>
            <a:endParaRPr lang="en-US" sz="10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8" name="Shape 45"/>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welcome</a:t>
            </a:r>
            <a:endParaRPr lang="en-US" sz="8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أَهْلًا وَسَهْلًا</a:t>
            </a:r>
            <a:endParaRPr lang="ar-SA" sz="3000" dirty="0"/>
          </a:p>
        </p:txBody>
      </p:sp>
      <p:sp>
        <p:nvSpPr>
          <p:cNvPr id="53" name="Text 5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Welcome.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ah-lan wa-sah-lan</a:t>
            </a:r>
            <a:endParaRPr lang="en-US" sz="1350" dirty="0"/>
          </a:p>
        </p:txBody>
      </p:sp>
      <p:sp>
        <p:nvSpPr>
          <p:cNvPr id="54" name="Text 51"/>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Idiomatic: the meaning matters, not word-for-word.</a:t>
            </a:r>
            <a:endParaRPr lang="en-US" sz="1000" dirty="0"/>
          </a:p>
        </p:txBody>
      </p:sp>
      <p:sp>
        <p:nvSpPr>
          <p:cNvPr id="55" name="Shape 5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4389120"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8" name="Shape 55"/>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59" name="Text 56"/>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60" name="Text 5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عَلَيْكَ</a:t>
            </a:r>
            <a:endParaRPr lang="ar-SA" sz="3000" dirty="0"/>
          </a:p>
        </p:txBody>
      </p:sp>
      <p:sp>
        <p:nvSpPr>
          <p:cNvPr id="61" name="Text 5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upon you</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to one boy · to one girl · to a group</a:t>
            </a:r>
            <a:endParaRPr lang="en-US" sz="1350" dirty="0"/>
          </a:p>
        </p:txBody>
      </p:sp>
      <p:sp>
        <p:nvSpPr>
          <p:cNvPr id="62" name="Shape 59"/>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4" name="Text 61"/>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عَلَيْكَ</a:t>
            </a:r>
            <a:endParaRPr lang="ar-SA" sz="1500" dirty="0"/>
          </a:p>
        </p:txBody>
      </p:sp>
      <p:sp>
        <p:nvSpPr>
          <p:cNvPr id="65" name="Shape 62"/>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7" name="Text 64"/>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عَلَيْكِ</a:t>
            </a:r>
            <a:endParaRPr lang="ar-SA" sz="1500" dirty="0"/>
          </a:p>
        </p:txBody>
      </p:sp>
      <p:sp>
        <p:nvSpPr>
          <p:cNvPr id="68" name="Shape 65"/>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0" name="Text 67"/>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عَلَيْكُمْ</a:t>
            </a:r>
            <a:endParaRPr lang="ar-SA" sz="1500" dirty="0"/>
          </a:p>
        </p:txBody>
      </p:sp>
      <p:sp>
        <p:nvSpPr>
          <p:cNvPr id="71" name="Shape 6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566928" y="4261104"/>
            <a:ext cx="310896" cy="310896"/>
          </a:xfrm>
          <a:prstGeom prst="ellipse">
            <a:avLst/>
          </a:prstGeom>
          <a:solidFill>
            <a:srgbClr val="F4F1EA"/>
          </a:solidFill>
          <a:ln w="12700">
            <a:solidFill>
              <a:srgbClr val="F4F1EA"/>
            </a:solidFill>
            <a:prstDash val="solid"/>
          </a:ln>
        </p:spPr>
      </p:sp>
      <p:sp>
        <p:nvSpPr>
          <p:cNvPr id="73" name="Text 7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74" name="Shape 71"/>
          <p:cNvSpPr/>
          <p:nvPr/>
        </p:nvSpPr>
        <p:spPr>
          <a:xfrm>
            <a:off x="960120" y="4279392"/>
            <a:ext cx="709574" cy="256032"/>
          </a:xfrm>
          <a:prstGeom prst="roundRect">
            <a:avLst>
              <a:gd name="adj" fmla="val 50000"/>
            </a:avLst>
          </a:prstGeom>
          <a:solidFill>
            <a:srgbClr val="EFE7D2"/>
          </a:solidFill>
          <a:ln w="12700">
            <a:solidFill>
              <a:srgbClr val="EFE7D2"/>
            </a:solidFill>
            <a:prstDash val="solid"/>
          </a:ln>
        </p:spPr>
      </p:sp>
      <p:sp>
        <p:nvSpPr>
          <p:cNvPr id="75" name="Text 72"/>
          <p:cNvSpPr txBox="1"/>
          <p:nvPr/>
        </p:nvSpPr>
        <p:spPr>
          <a:xfrm>
            <a:off x="960120"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Stretch</a:t>
            </a:r>
            <a:endParaRPr lang="en-US" sz="800" dirty="0"/>
          </a:p>
        </p:txBody>
      </p:sp>
      <p:sp>
        <p:nvSpPr>
          <p:cNvPr id="76" name="Text 73"/>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2150" b="1" dirty="0">
                <a:solidFill>
                  <a:srgbClr val="1B3B6F"/>
                </a:solidFill>
                <a:latin typeface="Amiri" pitchFamily="34" charset="0"/>
                <a:ea typeface="Amiri" pitchFamily="34" charset="-122"/>
                <a:cs typeface="Amiri" pitchFamily="34" charset="-120"/>
              </a:rPr>
              <a:t>السَّلَامُ عَلَيْكُمْ وَرَحْمَةُ اللَّهِ وَبَرَكَاتُهُ</a:t>
            </a:r>
            <a:endParaRPr lang="ar-SA" sz="2150" dirty="0"/>
          </a:p>
        </p:txBody>
      </p:sp>
      <p:sp>
        <p:nvSpPr>
          <p:cNvPr id="77" name="Text 74"/>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extended greeting (Stretch)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 and the mercy of God and His blessings</a:t>
            </a:r>
            <a:endParaRPr lang="en-US" sz="13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TIME OF DAY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Morning and evening pairs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تَحِيَّاتُ الصَّبَاحِ وَالمَسَاءِ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open</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صَبَاحُ الخَيْرِ</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Good morning.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ṣa-bā-ḥu l-khayr</a:t>
            </a:r>
            <a:endParaRPr lang="en-US" sz="1350" dirty="0"/>
          </a:p>
        </p:txBody>
      </p:sp>
      <p:sp>
        <p:nvSpPr>
          <p:cNvPr id="24" name="Text 21"/>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Literally: morning of goodness.</a:t>
            </a:r>
            <a:endParaRPr lang="en-US" sz="10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8" name="Shape 25"/>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reply</a:t>
            </a:r>
            <a:endParaRPr lang="en-US" sz="8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صَبَاحُ النُّورِ</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Good morning. (reply)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ṣa-bā-ḥu n-nūr</a:t>
            </a:r>
            <a:endParaRPr lang="en-US" sz="1350" dirty="0"/>
          </a:p>
        </p:txBody>
      </p:sp>
      <p:sp>
        <p:nvSpPr>
          <p:cNvPr id="34" name="Text 31"/>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Literally: morning of light.</a:t>
            </a:r>
            <a:endParaRPr lang="en-US" sz="10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8" name="Shape 3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open</a:t>
            </a:r>
            <a:endParaRPr lang="en-US" sz="8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مَسَاءُ الخَيْرِ</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Good evening.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ma-sā-ʾu l-khayr</a:t>
            </a:r>
            <a:endParaRPr lang="en-US" sz="1350" dirty="0"/>
          </a:p>
        </p:txBody>
      </p:sp>
      <p:sp>
        <p:nvSpPr>
          <p:cNvPr id="42" name="Text 39"/>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The hamza is a short stop.</a:t>
            </a:r>
            <a:endParaRPr lang="en-US" sz="1000" dirty="0"/>
          </a:p>
        </p:txBody>
      </p:sp>
      <p:sp>
        <p:nvSpPr>
          <p:cNvPr id="43" name="Shape 4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11312"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46" name="Shape 43"/>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reply</a:t>
            </a:r>
            <a:endParaRPr lang="en-US" sz="8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مَسَاءُ النُّورِ</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Good evening. (reply)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ma-sā-ʾu n-nūr</a:t>
            </a:r>
            <a:endParaRPr lang="en-US" sz="1350" dirty="0"/>
          </a:p>
        </p:txBody>
      </p:sp>
      <p:sp>
        <p:nvSpPr>
          <p:cNvPr id="50" name="Text 47"/>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Keep the evening pair.</a:t>
            </a:r>
            <a:endParaRPr lang="en-US" sz="100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CHECK IN AND CLOSE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How are you? and goodbye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السُّؤَالُ عَنِ الحَالِ وَالوَدَاعُ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كَيْفَ حَالُكَ؟</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 are you?</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kay-fa ḥā-lu-ka · -ki · -kum</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m.</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حَالُكَ</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f.</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حَالُكِ</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pl.</a:t>
            </a:r>
            <a:endParaRPr lang="en-US" sz="700" dirty="0"/>
          </a:p>
        </p:txBody>
      </p:sp>
      <p:sp>
        <p:nvSpPr>
          <p:cNvPr id="32" name="Text 29"/>
          <p:cNvSpPr txBox="1"/>
          <p:nvPr/>
        </p:nvSpPr>
        <p:spPr>
          <a:xfrm>
            <a:off x="828446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حَالُكُمْ</a:t>
            </a:r>
            <a:endParaRPr lang="ar-SA" sz="135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36" name="Shape 33"/>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answer</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بِخَيْرٍ، الحَمْدُ لِلَّهِ</a:t>
            </a:r>
            <a:endParaRPr lang="ar-SA" sz="3000" dirty="0"/>
          </a:p>
        </p:txBody>
      </p:sp>
      <p:sp>
        <p:nvSpPr>
          <p:cNvPr id="41" name="Text 3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Fine, praise be to God.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bi-khay-rin, al-ḥam-du lil-lāh</a:t>
            </a:r>
            <a:endParaRPr lang="en-US" sz="1350" dirty="0"/>
          </a:p>
        </p:txBody>
      </p:sp>
      <p:sp>
        <p:nvSpPr>
          <p:cNvPr id="42" name="Text 39"/>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بِخَيْرٍ</a:t>
            </a:r>
            <a:pPr algn="l" indent="0" marL="0">
              <a:buNone/>
            </a:pPr>
            <a:r>
              <a:rPr lang="en-US" sz="1000" i="1" dirty="0">
                <a:solidFill>
                  <a:srgbClr val="8A6D1E"/>
                </a:solidFill>
                <a:latin typeface="Calibri" pitchFamily="34" charset="0"/>
                <a:ea typeface="Calibri" pitchFamily="34" charset="-122"/>
                <a:cs typeface="Calibri" pitchFamily="34" charset="-120"/>
              </a:rPr>
              <a:t> can stand alone.</a:t>
            </a:r>
            <a:endParaRPr lang="en-US" sz="10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46" name="Shape 43"/>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polite</a:t>
            </a:r>
            <a:endParaRPr lang="en-US" sz="800" dirty="0"/>
          </a:p>
        </p:txBody>
      </p:sp>
      <p:sp>
        <p:nvSpPr>
          <p:cNvPr id="48" name="Shape 4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شُكْرًا</a:t>
            </a:r>
            <a:endParaRPr lang="ar-SA" sz="3000" dirty="0"/>
          </a:p>
        </p:txBody>
      </p:sp>
      <p:sp>
        <p:nvSpPr>
          <p:cNvPr id="51" name="Text 4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Thank you.</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shuk-ran</a:t>
            </a:r>
            <a:endParaRPr lang="en-US" sz="1350" dirty="0"/>
          </a:p>
        </p:txBody>
      </p:sp>
      <p:sp>
        <p:nvSpPr>
          <p:cNvPr id="52" name="Text 49"/>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Urdu: shukriya.</a:t>
            </a:r>
            <a:endParaRPr lang="en-US" sz="1000" dirty="0"/>
          </a:p>
        </p:txBody>
      </p:sp>
      <p:sp>
        <p:nvSpPr>
          <p:cNvPr id="53" name="Shape 5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8211312"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56" name="Shape 53"/>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57" name="Text 54"/>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وَأَنْتَ؟</a:t>
            </a:r>
            <a:endParaRPr lang="ar-SA" sz="30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And you?</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wa-an-ta · wa-an-ti · wa-an-tum</a:t>
            </a:r>
            <a:endParaRPr lang="en-US" sz="1350" dirty="0"/>
          </a:p>
        </p:txBody>
      </p:sp>
      <p:sp>
        <p:nvSpPr>
          <p:cNvPr id="60" name="Shape 57"/>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2" name="Text 59"/>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وَأَنْتَ؟</a:t>
            </a:r>
            <a:endParaRPr lang="ar-SA" sz="1500" dirty="0"/>
          </a:p>
        </p:txBody>
      </p:sp>
      <p:sp>
        <p:nvSpPr>
          <p:cNvPr id="63" name="Shape 60"/>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5" name="Text 62"/>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وَأَنْتِ؟</a:t>
            </a:r>
            <a:endParaRPr lang="ar-SA" sz="1500" dirty="0"/>
          </a:p>
        </p:txBody>
      </p:sp>
      <p:sp>
        <p:nvSpPr>
          <p:cNvPr id="66" name="Shape 63"/>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8" name="Text 65"/>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وَأَنْتُمْ؟</a:t>
            </a:r>
            <a:endParaRPr lang="ar-SA" sz="1500" dirty="0"/>
          </a:p>
        </p:txBody>
      </p:sp>
      <p:sp>
        <p:nvSpPr>
          <p:cNvPr id="69" name="Shape 6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389120"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72" name="Shape 69"/>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close</a:t>
            </a:r>
            <a:endParaRPr lang="en-US" sz="800" dirty="0"/>
          </a:p>
        </p:txBody>
      </p:sp>
      <p:sp>
        <p:nvSpPr>
          <p:cNvPr id="74" name="Shape 7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6" name="Text 7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 السَّلَامَةِ</a:t>
            </a:r>
            <a:endParaRPr lang="ar-SA" sz="3000" dirty="0"/>
          </a:p>
        </p:txBody>
      </p:sp>
      <p:sp>
        <p:nvSpPr>
          <p:cNvPr id="77" name="Text 7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Goodbye.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ma-ʿa s-sa-lā-ma</a:t>
            </a:r>
            <a:endParaRPr lang="en-US" sz="1350" dirty="0"/>
          </a:p>
        </p:txBody>
      </p:sp>
      <p:sp>
        <p:nvSpPr>
          <p:cNvPr id="78" name="Text 75"/>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 general, polite closing.</a:t>
            </a:r>
            <a:endParaRPr lang="en-US" sz="1000" dirty="0"/>
          </a:p>
        </p:txBody>
      </p:sp>
      <p:sp>
        <p:nvSpPr>
          <p:cNvPr id="79" name="Shape 76"/>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566928" y="4261104"/>
            <a:ext cx="310896" cy="310896"/>
          </a:xfrm>
          <a:prstGeom prst="ellipse">
            <a:avLst/>
          </a:prstGeom>
          <a:solidFill>
            <a:srgbClr val="F4F1EA"/>
          </a:solidFill>
          <a:ln w="12700">
            <a:solidFill>
              <a:srgbClr val="F4F1EA"/>
            </a:solidFill>
            <a:prstDash val="solid"/>
          </a:ln>
        </p:spPr>
      </p:sp>
      <p:sp>
        <p:nvSpPr>
          <p:cNvPr id="81" name="Text 78"/>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82" name="Shape 79"/>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83" name="Text 80"/>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close</a:t>
            </a:r>
            <a:endParaRPr lang="en-US" sz="800" dirty="0"/>
          </a:p>
        </p:txBody>
      </p:sp>
      <p:sp>
        <p:nvSpPr>
          <p:cNvPr id="84" name="Text 81"/>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إِلَى اللِّقَاءِ</a:t>
            </a:r>
            <a:endParaRPr lang="ar-SA" sz="3000" dirty="0"/>
          </a:p>
        </p:txBody>
      </p:sp>
      <p:sp>
        <p:nvSpPr>
          <p:cNvPr id="85" name="Text 82"/>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See you later.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i-lā l-li-qāʾ</a:t>
            </a:r>
            <a:endParaRPr lang="en-US" sz="1350" dirty="0"/>
          </a:p>
        </p:txBody>
      </p:sp>
      <p:sp>
        <p:nvSpPr>
          <p:cNvPr id="86" name="Text 83"/>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When you will meet again.</a:t>
            </a:r>
            <a:endParaRPr lang="en-US" sz="100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THE CONVERSATION MAP (WEBSITE) · FIVE MOVES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greeting is a social action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التَّحِيَّةُ تَفْتَحُ الحِوَارَ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F2-L01</a:t>
            </a:r>
            <a:endParaRPr lang="en-US" sz="850" dirty="0"/>
          </a:p>
        </p:txBody>
      </p:sp>
      <p:sp>
        <p:nvSpPr>
          <p:cNvPr id="15" name="Text 12"/>
          <p:cNvSpPr txBox="1"/>
          <p:nvPr/>
        </p:nvSpPr>
        <p:spPr>
          <a:xfrm>
            <a:off x="457200" y="1828800"/>
            <a:ext cx="3017520" cy="566928"/>
          </a:xfrm>
          <a:prstGeom prst="rect">
            <a:avLst/>
          </a:prstGeom>
          <a:noFill/>
          <a:ln/>
        </p:spPr>
        <p:txBody>
          <a:bodyPr wrap="square" lIns="0" tIns="0" rIns="0" bIns="0" rtlCol="0" anchor="ctr"/>
          <a:lstStyle/>
          <a:p>
            <a:pPr algn="l" indent="0" marL="0">
              <a:buNone/>
            </a:pPr>
            <a:r>
              <a:rPr lang="en-US" sz="1100" b="1" dirty="0">
                <a:solidFill>
                  <a:srgbClr val="5A6472"/>
                </a:solidFill>
                <a:latin typeface="Calibri" pitchFamily="34" charset="0"/>
                <a:ea typeface="Calibri" pitchFamily="34" charset="-122"/>
                <a:cs typeface="Calibri" pitchFamily="34" charset="-120"/>
              </a:rPr>
              <a:t>English meaning</a:t>
            </a:r>
            <a:endParaRPr lang="en-US" sz="1100" dirty="0"/>
          </a:p>
        </p:txBody>
      </p:sp>
      <p:sp>
        <p:nvSpPr>
          <p:cNvPr id="16" name="Shape 13"/>
          <p:cNvSpPr/>
          <p:nvPr/>
        </p:nvSpPr>
        <p:spPr>
          <a:xfrm>
            <a:off x="9089136" y="1810512"/>
            <a:ext cx="2642616" cy="566928"/>
          </a:xfrm>
          <a:prstGeom prst="roundRect">
            <a:avLst>
              <a:gd name="adj" fmla="val 9677"/>
            </a:avLst>
          </a:prstGeom>
          <a:solidFill>
            <a:srgbClr val="1D5FBF"/>
          </a:solidFill>
          <a:ln w="12700">
            <a:solidFill>
              <a:srgbClr val="1D5FBF"/>
            </a:solidFill>
            <a:prstDash val="solid"/>
          </a:ln>
        </p:spPr>
      </p:sp>
      <p:sp>
        <p:nvSpPr>
          <p:cNvPr id="17" name="Text 14"/>
          <p:cNvSpPr txBox="1"/>
          <p:nvPr/>
        </p:nvSpPr>
        <p:spPr>
          <a:xfrm>
            <a:off x="9089136"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اِفْتَحْ ← رُدَّ</a:t>
            </a:r>
            <a:endParaRPr lang="ar-SA" sz="1850" dirty="0"/>
          </a:p>
        </p:txBody>
      </p:sp>
      <p:sp>
        <p:nvSpPr>
          <p:cNvPr id="18" name="Text 15"/>
          <p:cNvSpPr txBox="1"/>
          <p:nvPr/>
        </p:nvSpPr>
        <p:spPr>
          <a:xfrm>
            <a:off x="9089136"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1 · Open → 2 · Respond</a:t>
            </a:r>
            <a:endParaRPr lang="en-US" sz="900" dirty="0"/>
          </a:p>
        </p:txBody>
      </p:sp>
      <p:sp>
        <p:nvSpPr>
          <p:cNvPr id="19" name="Shape 16"/>
          <p:cNvSpPr/>
          <p:nvPr/>
        </p:nvSpPr>
        <p:spPr>
          <a:xfrm>
            <a:off x="6336792" y="1810512"/>
            <a:ext cx="2642616" cy="566928"/>
          </a:xfrm>
          <a:prstGeom prst="roundRect">
            <a:avLst>
              <a:gd name="adj" fmla="val 9677"/>
            </a:avLst>
          </a:prstGeom>
          <a:solidFill>
            <a:srgbClr val="6B4C9A"/>
          </a:solidFill>
          <a:ln w="12700">
            <a:solidFill>
              <a:srgbClr val="6B4C9A"/>
            </a:solidFill>
            <a:prstDash val="solid"/>
          </a:ln>
        </p:spPr>
      </p:sp>
      <p:sp>
        <p:nvSpPr>
          <p:cNvPr id="20" name="Text 17"/>
          <p:cNvSpPr txBox="1"/>
          <p:nvPr/>
        </p:nvSpPr>
        <p:spPr>
          <a:xfrm>
            <a:off x="6336792"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اِسْأَلْ ← أَجِبْ</a:t>
            </a:r>
            <a:endParaRPr lang="ar-SA" sz="1850" dirty="0"/>
          </a:p>
        </p:txBody>
      </p:sp>
      <p:sp>
        <p:nvSpPr>
          <p:cNvPr id="21" name="Text 18"/>
          <p:cNvSpPr txBox="1"/>
          <p:nvPr/>
        </p:nvSpPr>
        <p:spPr>
          <a:xfrm>
            <a:off x="6336792"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3 · Check in → 4 · Answer</a:t>
            </a:r>
            <a:endParaRPr lang="en-US" sz="900" dirty="0"/>
          </a:p>
        </p:txBody>
      </p:sp>
      <p:sp>
        <p:nvSpPr>
          <p:cNvPr id="22" name="Shape 19"/>
          <p:cNvSpPr/>
          <p:nvPr/>
        </p:nvSpPr>
        <p:spPr>
          <a:xfrm>
            <a:off x="3584448" y="1810512"/>
            <a:ext cx="2642616" cy="566928"/>
          </a:xfrm>
          <a:prstGeom prst="roundRect">
            <a:avLst>
              <a:gd name="adj" fmla="val 9677"/>
            </a:avLst>
          </a:prstGeom>
          <a:solidFill>
            <a:srgbClr val="0E7C86"/>
          </a:solidFill>
          <a:ln w="12700">
            <a:solidFill>
              <a:srgbClr val="0E7C86"/>
            </a:solidFill>
            <a:prstDash val="solid"/>
          </a:ln>
        </p:spPr>
      </p:sp>
      <p:sp>
        <p:nvSpPr>
          <p:cNvPr id="23" name="Text 20"/>
          <p:cNvSpPr txBox="1"/>
          <p:nvPr/>
        </p:nvSpPr>
        <p:spPr>
          <a:xfrm>
            <a:off x="3584448"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وَدِّعْ</a:t>
            </a:r>
            <a:endParaRPr lang="ar-SA" sz="1850" dirty="0"/>
          </a:p>
        </p:txBody>
      </p:sp>
      <p:sp>
        <p:nvSpPr>
          <p:cNvPr id="24" name="Text 21"/>
          <p:cNvSpPr txBox="1"/>
          <p:nvPr/>
        </p:nvSpPr>
        <p:spPr>
          <a:xfrm>
            <a:off x="3584448"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5 · Close</a:t>
            </a:r>
            <a:endParaRPr lang="en-US" sz="900" dirty="0"/>
          </a:p>
        </p:txBody>
      </p:sp>
      <p:sp>
        <p:nvSpPr>
          <p:cNvPr id="25" name="Text 22"/>
          <p:cNvSpPr txBox="1"/>
          <p:nvPr/>
        </p:nvSpPr>
        <p:spPr>
          <a:xfrm>
            <a:off x="457200" y="2487168"/>
            <a:ext cx="2926080" cy="82296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Morning: open, ask a girl, close.</a:t>
            </a:r>
            <a:endParaRPr lang="en-US" sz="1200" dirty="0"/>
          </a:p>
        </p:txBody>
      </p:sp>
      <p:sp>
        <p:nvSpPr>
          <p:cNvPr id="26" name="Shape 23"/>
          <p:cNvSpPr/>
          <p:nvPr/>
        </p:nvSpPr>
        <p:spPr>
          <a:xfrm>
            <a:off x="9089136" y="2487168"/>
            <a:ext cx="2642616" cy="822960"/>
          </a:xfrm>
          <a:prstGeom prst="roundRect">
            <a:avLst>
              <a:gd name="adj" fmla="val 6667"/>
            </a:avLst>
          </a:prstGeom>
          <a:solidFill>
            <a:srgbClr val="EEF3FA"/>
          </a:solidFill>
          <a:ln w="9525">
            <a:solidFill>
              <a:srgbClr val="EEF3FA"/>
            </a:solidFill>
            <a:prstDash val="solid"/>
          </a:ln>
        </p:spPr>
      </p:sp>
      <p:sp>
        <p:nvSpPr>
          <p:cNvPr id="27" name="Text 24"/>
          <p:cNvSpPr txBox="1"/>
          <p:nvPr/>
        </p:nvSpPr>
        <p:spPr>
          <a:xfrm>
            <a:off x="9162288" y="2487168"/>
            <a:ext cx="2496312" cy="82296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صَبَاحُ الخَيْرِ ← صَبَاحُ النُّورِ</a:t>
            </a:r>
            <a:endParaRPr lang="ar-SA" sz="2100" dirty="0"/>
          </a:p>
        </p:txBody>
      </p:sp>
      <p:sp>
        <p:nvSpPr>
          <p:cNvPr id="28" name="Shape 25"/>
          <p:cNvSpPr/>
          <p:nvPr/>
        </p:nvSpPr>
        <p:spPr>
          <a:xfrm>
            <a:off x="6336792" y="2487168"/>
            <a:ext cx="2642616" cy="822960"/>
          </a:xfrm>
          <a:prstGeom prst="roundRect">
            <a:avLst>
              <a:gd name="adj" fmla="val 6667"/>
            </a:avLst>
          </a:prstGeom>
          <a:solidFill>
            <a:srgbClr val="F1ECF7"/>
          </a:solidFill>
          <a:ln w="9525">
            <a:solidFill>
              <a:srgbClr val="F1ECF7"/>
            </a:solidFill>
            <a:prstDash val="solid"/>
          </a:ln>
        </p:spPr>
      </p:sp>
      <p:sp>
        <p:nvSpPr>
          <p:cNvPr id="29" name="Text 26"/>
          <p:cNvSpPr txBox="1"/>
          <p:nvPr/>
        </p:nvSpPr>
        <p:spPr>
          <a:xfrm>
            <a:off x="6409944" y="2487168"/>
            <a:ext cx="2496312" cy="82296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كَيْفَ حَالُكِ؟ ← بِخَيْرٍ</a:t>
            </a:r>
            <a:endParaRPr lang="ar-SA" sz="2400" dirty="0"/>
          </a:p>
        </p:txBody>
      </p:sp>
      <p:sp>
        <p:nvSpPr>
          <p:cNvPr id="30" name="Shape 27"/>
          <p:cNvSpPr/>
          <p:nvPr/>
        </p:nvSpPr>
        <p:spPr>
          <a:xfrm>
            <a:off x="3584448" y="2487168"/>
            <a:ext cx="2642616" cy="822960"/>
          </a:xfrm>
          <a:prstGeom prst="roundRect">
            <a:avLst>
              <a:gd name="adj" fmla="val 6667"/>
            </a:avLst>
          </a:prstGeom>
          <a:solidFill>
            <a:srgbClr val="E3F2F3"/>
          </a:solidFill>
          <a:ln w="9525">
            <a:solidFill>
              <a:srgbClr val="E3F2F3"/>
            </a:solidFill>
            <a:prstDash val="solid"/>
          </a:ln>
        </p:spPr>
      </p:sp>
      <p:sp>
        <p:nvSpPr>
          <p:cNvPr id="31" name="Text 28"/>
          <p:cNvSpPr txBox="1"/>
          <p:nvPr/>
        </p:nvSpPr>
        <p:spPr>
          <a:xfrm>
            <a:off x="3657600" y="2487168"/>
            <a:ext cx="2496312" cy="82296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إِلَى اللِّقَاءِ</a:t>
            </a:r>
            <a:endParaRPr lang="ar-SA" sz="2400" dirty="0"/>
          </a:p>
        </p:txBody>
      </p:sp>
      <p:sp>
        <p:nvSpPr>
          <p:cNvPr id="32" name="Text 29"/>
          <p:cNvSpPr txBox="1"/>
          <p:nvPr/>
        </p:nvSpPr>
        <p:spPr>
          <a:xfrm>
            <a:off x="457200" y="3419856"/>
            <a:ext cx="2926080" cy="82296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Any time: open, ask a boy, close.</a:t>
            </a:r>
            <a:endParaRPr lang="en-US" sz="1200" dirty="0"/>
          </a:p>
        </p:txBody>
      </p:sp>
      <p:sp>
        <p:nvSpPr>
          <p:cNvPr id="33" name="Shape 30"/>
          <p:cNvSpPr/>
          <p:nvPr/>
        </p:nvSpPr>
        <p:spPr>
          <a:xfrm>
            <a:off x="9089136" y="3419856"/>
            <a:ext cx="2642616" cy="822960"/>
          </a:xfrm>
          <a:prstGeom prst="roundRect">
            <a:avLst>
              <a:gd name="adj" fmla="val 6667"/>
            </a:avLst>
          </a:prstGeom>
          <a:solidFill>
            <a:srgbClr val="EEF3FA"/>
          </a:solidFill>
          <a:ln w="9525">
            <a:solidFill>
              <a:srgbClr val="EEF3FA"/>
            </a:solidFill>
            <a:prstDash val="solid"/>
          </a:ln>
        </p:spPr>
      </p:sp>
      <p:sp>
        <p:nvSpPr>
          <p:cNvPr id="34" name="Text 31"/>
          <p:cNvSpPr txBox="1"/>
          <p:nvPr/>
        </p:nvSpPr>
        <p:spPr>
          <a:xfrm>
            <a:off x="9162288" y="3419856"/>
            <a:ext cx="2496312" cy="82296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السَّلَامُ عَلَيْكُمْ ← وَعَلَيْكُمُ السَّلَامُ</a:t>
            </a:r>
            <a:endParaRPr lang="ar-SA" sz="1750" dirty="0"/>
          </a:p>
        </p:txBody>
      </p:sp>
      <p:sp>
        <p:nvSpPr>
          <p:cNvPr id="35" name="Shape 32"/>
          <p:cNvSpPr/>
          <p:nvPr/>
        </p:nvSpPr>
        <p:spPr>
          <a:xfrm>
            <a:off x="6336792" y="3419856"/>
            <a:ext cx="2642616" cy="822960"/>
          </a:xfrm>
          <a:prstGeom prst="roundRect">
            <a:avLst>
              <a:gd name="adj" fmla="val 6667"/>
            </a:avLst>
          </a:prstGeom>
          <a:solidFill>
            <a:srgbClr val="F1ECF7"/>
          </a:solidFill>
          <a:ln w="9525">
            <a:solidFill>
              <a:srgbClr val="F1ECF7"/>
            </a:solidFill>
            <a:prstDash val="solid"/>
          </a:ln>
        </p:spPr>
      </p:sp>
      <p:sp>
        <p:nvSpPr>
          <p:cNvPr id="36" name="Text 33"/>
          <p:cNvSpPr txBox="1"/>
          <p:nvPr/>
        </p:nvSpPr>
        <p:spPr>
          <a:xfrm>
            <a:off x="6409944" y="3419856"/>
            <a:ext cx="2496312" cy="82296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كَيْفَ حَالُكَ؟ ← بِخَيْرٍ</a:t>
            </a:r>
            <a:endParaRPr lang="ar-SA" sz="2400" dirty="0"/>
          </a:p>
        </p:txBody>
      </p:sp>
      <p:sp>
        <p:nvSpPr>
          <p:cNvPr id="37" name="Shape 34"/>
          <p:cNvSpPr/>
          <p:nvPr/>
        </p:nvSpPr>
        <p:spPr>
          <a:xfrm>
            <a:off x="3584448" y="3419856"/>
            <a:ext cx="2642616" cy="822960"/>
          </a:xfrm>
          <a:prstGeom prst="roundRect">
            <a:avLst>
              <a:gd name="adj" fmla="val 6667"/>
            </a:avLst>
          </a:prstGeom>
          <a:solidFill>
            <a:srgbClr val="E3F2F3"/>
          </a:solidFill>
          <a:ln w="9525">
            <a:solidFill>
              <a:srgbClr val="E3F2F3"/>
            </a:solidFill>
            <a:prstDash val="solid"/>
          </a:ln>
        </p:spPr>
      </p:sp>
      <p:sp>
        <p:nvSpPr>
          <p:cNvPr id="38" name="Text 35"/>
          <p:cNvSpPr txBox="1"/>
          <p:nvPr/>
        </p:nvSpPr>
        <p:spPr>
          <a:xfrm>
            <a:off x="3657600" y="3419856"/>
            <a:ext cx="2496312" cy="82296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مَعَ السَّلَامَةِ</a:t>
            </a:r>
            <a:endParaRPr lang="ar-SA" sz="2400" dirty="0"/>
          </a:p>
        </p:txBody>
      </p:sp>
      <p:sp>
        <p:nvSpPr>
          <p:cNvPr id="39" name="Text 36"/>
          <p:cNvSpPr txBox="1"/>
          <p:nvPr/>
        </p:nvSpPr>
        <p:spPr>
          <a:xfrm>
            <a:off x="457200" y="4352544"/>
            <a:ext cx="2926080" cy="82296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Friendly: hello, ask, close.</a:t>
            </a:r>
            <a:endParaRPr lang="en-US" sz="1200" dirty="0"/>
          </a:p>
        </p:txBody>
      </p:sp>
      <p:sp>
        <p:nvSpPr>
          <p:cNvPr id="40" name="Shape 37"/>
          <p:cNvSpPr/>
          <p:nvPr/>
        </p:nvSpPr>
        <p:spPr>
          <a:xfrm>
            <a:off x="9089136" y="4352544"/>
            <a:ext cx="2642616" cy="822960"/>
          </a:xfrm>
          <a:prstGeom prst="roundRect">
            <a:avLst>
              <a:gd name="adj" fmla="val 6667"/>
            </a:avLst>
          </a:prstGeom>
          <a:solidFill>
            <a:srgbClr val="EEF3FA"/>
          </a:solidFill>
          <a:ln w="9525">
            <a:solidFill>
              <a:srgbClr val="EEF3FA"/>
            </a:solidFill>
            <a:prstDash val="solid"/>
          </a:ln>
        </p:spPr>
      </p:sp>
      <p:sp>
        <p:nvSpPr>
          <p:cNvPr id="41" name="Text 38"/>
          <p:cNvSpPr txBox="1"/>
          <p:nvPr/>
        </p:nvSpPr>
        <p:spPr>
          <a:xfrm>
            <a:off x="9162288" y="4352544"/>
            <a:ext cx="2496312" cy="82296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مَرْحَبًا ← مَرْحَبًا</a:t>
            </a:r>
            <a:endParaRPr lang="ar-SA" sz="2400" dirty="0"/>
          </a:p>
        </p:txBody>
      </p:sp>
      <p:sp>
        <p:nvSpPr>
          <p:cNvPr id="42" name="Shape 39"/>
          <p:cNvSpPr/>
          <p:nvPr/>
        </p:nvSpPr>
        <p:spPr>
          <a:xfrm>
            <a:off x="6336792" y="4352544"/>
            <a:ext cx="2642616" cy="822960"/>
          </a:xfrm>
          <a:prstGeom prst="roundRect">
            <a:avLst>
              <a:gd name="adj" fmla="val 6667"/>
            </a:avLst>
          </a:prstGeom>
          <a:solidFill>
            <a:srgbClr val="F1ECF7"/>
          </a:solidFill>
          <a:ln w="9525">
            <a:solidFill>
              <a:srgbClr val="F1ECF7"/>
            </a:solidFill>
            <a:prstDash val="solid"/>
          </a:ln>
        </p:spPr>
      </p:sp>
      <p:sp>
        <p:nvSpPr>
          <p:cNvPr id="43" name="Text 40"/>
          <p:cNvSpPr txBox="1"/>
          <p:nvPr/>
        </p:nvSpPr>
        <p:spPr>
          <a:xfrm>
            <a:off x="6409944" y="4352544"/>
            <a:ext cx="2496312" cy="82296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كَيْفَ حَالُكَ؟ ← بِخَيْرٍ، الحَمْدُ لِلَّهِ</a:t>
            </a:r>
            <a:endParaRPr lang="ar-SA" sz="1800" dirty="0"/>
          </a:p>
        </p:txBody>
      </p:sp>
      <p:sp>
        <p:nvSpPr>
          <p:cNvPr id="44" name="Shape 41"/>
          <p:cNvSpPr/>
          <p:nvPr/>
        </p:nvSpPr>
        <p:spPr>
          <a:xfrm>
            <a:off x="3584448" y="4352544"/>
            <a:ext cx="2642616" cy="822960"/>
          </a:xfrm>
          <a:prstGeom prst="roundRect">
            <a:avLst>
              <a:gd name="adj" fmla="val 6667"/>
            </a:avLst>
          </a:prstGeom>
          <a:solidFill>
            <a:srgbClr val="E3F2F3"/>
          </a:solidFill>
          <a:ln w="9525">
            <a:solidFill>
              <a:srgbClr val="E3F2F3"/>
            </a:solidFill>
            <a:prstDash val="solid"/>
          </a:ln>
        </p:spPr>
      </p:sp>
      <p:sp>
        <p:nvSpPr>
          <p:cNvPr id="45" name="Text 42"/>
          <p:cNvSpPr txBox="1"/>
          <p:nvPr/>
        </p:nvSpPr>
        <p:spPr>
          <a:xfrm>
            <a:off x="3657600" y="4352544"/>
            <a:ext cx="2496312" cy="82296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مَعَ السَّلَامَةِ</a:t>
            </a:r>
            <a:endParaRPr lang="ar-SA" sz="2400" dirty="0"/>
          </a:p>
        </p:txBody>
      </p:sp>
      <p:sp>
        <p:nvSpPr>
          <p:cNvPr id="46" name="Text 43"/>
          <p:cNvSpPr txBox="1"/>
          <p:nvPr/>
        </p:nvSpPr>
        <p:spPr>
          <a:xfrm>
            <a:off x="457200" y="5989320"/>
            <a:ext cx="11274552" cy="32004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ea typeface="Calibri" pitchFamily="34" charset="-122"/>
                <a:cs typeface="Calibri" pitchFamily="34" charset="-120"/>
              </a:rPr>
              <a:t>Turn-taking: listen to the line you receive, then make your line answer it.</a:t>
            </a:r>
            <a:endParaRPr lang="en-US" sz="120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ONE SMALL VOWEL, ONE IMPORTANT CHOICE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Who am I speaking to?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كَيْفَ حَالُكَ؟ أَمْ كَيْفَ حَالُكِ؟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F2-L01</a:t>
            </a:r>
            <a:endParaRPr lang="en-US" sz="850" dirty="0"/>
          </a:p>
        </p:txBody>
      </p:sp>
      <p:sp>
        <p:nvSpPr>
          <p:cNvPr id="15" name="Shape 12"/>
          <p:cNvSpPr/>
          <p:nvPr/>
        </p:nvSpPr>
        <p:spPr>
          <a:xfrm>
            <a:off x="457200" y="1828800"/>
            <a:ext cx="11274552" cy="2331720"/>
          </a:xfrm>
          <a:prstGeom prst="roundRect">
            <a:avLst>
              <a:gd name="adj" fmla="val 313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1371600" y="1828800"/>
            <a:ext cx="9445752" cy="1572768"/>
          </a:xfrm>
          <a:prstGeom prst="rect">
            <a:avLst/>
          </a:prstGeom>
          <a:noFill/>
          <a:ln/>
        </p:spPr>
        <p:txBody>
          <a:bodyPr wrap="square" lIns="0" tIns="0" rIns="0" bIns="0" rtlCol="0" anchor="ctr"/>
          <a:lstStyle/>
          <a:p>
            <a:pPr rtl="1" algn="ctr" indent="0" marL="0">
              <a:buNone/>
            </a:pPr>
            <a:r>
              <a:rPr lang="ar-SA" altLang="en-US" sz="7200" b="1" dirty="0">
                <a:solidFill>
                  <a:srgbClr val="1B3B6F"/>
                </a:solidFill>
                <a:latin typeface="Amiri" pitchFamily="34" charset="0"/>
                <a:ea typeface="Amiri" pitchFamily="34" charset="-122"/>
                <a:cs typeface="Amiri" pitchFamily="34" charset="-120"/>
              </a:rPr>
              <a:t>كَيْفَ </a:t>
            </a:r>
            <a:pPr rtl="1" algn="ctr" indent="0" marL="0">
              <a:buNone/>
            </a:pPr>
            <a:r>
              <a:rPr lang="ar-SA" altLang="en-US" sz="7200" b="1" dirty="0">
                <a:solidFill>
                  <a:srgbClr val="7B3FA0"/>
                </a:solidFill>
                <a:latin typeface="Amiri" pitchFamily="34" charset="0"/>
                <a:ea typeface="Amiri" pitchFamily="34" charset="-122"/>
                <a:cs typeface="Amiri" pitchFamily="34" charset="-120"/>
              </a:rPr>
              <a:t>حَالُـ</a:t>
            </a:r>
            <a:pPr rtl="1" algn="ctr" indent="0" marL="0">
              <a:buNone/>
            </a:pPr>
            <a:r>
              <a:rPr lang="ar-SA" altLang="en-US" sz="7200" b="1" dirty="0">
                <a:solidFill>
                  <a:srgbClr val="D6336C"/>
                </a:solidFill>
                <a:latin typeface="Amiri" pitchFamily="34" charset="0"/>
                <a:ea typeface="Amiri" pitchFamily="34" charset="-122"/>
                <a:cs typeface="Amiri" pitchFamily="34" charset="-120"/>
              </a:rPr>
              <a:t>كِ</a:t>
            </a:r>
            <a:pPr rtl="1" algn="ctr" indent="0" marL="0">
              <a:buNone/>
            </a:pPr>
            <a:r>
              <a:rPr lang="ar-SA" altLang="en-US" sz="7200" b="1" dirty="0">
                <a:solidFill>
                  <a:srgbClr val="1B3B6F"/>
                </a:solidFill>
                <a:latin typeface="Amiri" pitchFamily="34" charset="0"/>
                <a:ea typeface="Amiri" pitchFamily="34" charset="-122"/>
                <a:cs typeface="Amiri" pitchFamily="34" charset="-120"/>
              </a:rPr>
              <a:t>؟</a:t>
            </a:r>
            <a:endParaRPr lang="ar-SA" sz="7200" dirty="0"/>
          </a:p>
        </p:txBody>
      </p:sp>
      <p:sp>
        <p:nvSpPr>
          <p:cNvPr id="17" name="Text 14"/>
          <p:cNvSpPr txBox="1"/>
          <p:nvPr/>
        </p:nvSpPr>
        <p:spPr>
          <a:xfrm>
            <a:off x="457200" y="3675888"/>
            <a:ext cx="11274552" cy="365760"/>
          </a:xfrm>
          <a:prstGeom prst="rect">
            <a:avLst/>
          </a:prstGeom>
          <a:noFill/>
          <a:ln/>
        </p:spPr>
        <p:txBody>
          <a:bodyPr wrap="square" lIns="0" tIns="0" rIns="0" bIns="0" rtlCol="0" anchor="ctr"/>
          <a:lstStyle/>
          <a:p>
            <a:pPr algn="ctr" indent="0" marL="0">
              <a:buNone/>
            </a:pPr>
            <a:r>
              <a:rPr lang="en-US" sz="1500" i="1" dirty="0">
                <a:solidFill>
                  <a:srgbClr val="5A6472"/>
                </a:solidFill>
                <a:latin typeface="Calibri" pitchFamily="34" charset="0"/>
                <a:ea typeface="Calibri" pitchFamily="34" charset="-122"/>
                <a:cs typeface="Calibri" pitchFamily="34" charset="-120"/>
              </a:rPr>
              <a:t>kay-fa ḥā-lu-ki · how are you? (to one girl)</a:t>
            </a:r>
            <a:endParaRPr lang="en-US" sz="1500" dirty="0"/>
          </a:p>
        </p:txBody>
      </p:sp>
      <p:sp>
        <p:nvSpPr>
          <p:cNvPr id="18" name="Shape 15"/>
          <p:cNvSpPr/>
          <p:nvPr/>
        </p:nvSpPr>
        <p:spPr>
          <a:xfrm>
            <a:off x="8095488" y="4370832"/>
            <a:ext cx="3636264" cy="1783080"/>
          </a:xfrm>
          <a:prstGeom prst="roundRect">
            <a:avLst>
              <a:gd name="adj" fmla="val 4103"/>
            </a:avLst>
          </a:prstGeom>
          <a:solidFill>
            <a:srgbClr val="FFFFFF"/>
          </a:solidFill>
          <a:ln w="19050">
            <a:solidFill>
              <a:srgbClr val="0E7C86"/>
            </a:solidFill>
            <a:prstDash val="solid"/>
          </a:ln>
          <a:effectLst>
            <a:outerShdw sx="100000" sy="100000" kx="0" ky="0" algn="bl" rotWithShape="0" blurRad="50800" dist="19050" dir="5400000">
              <a:srgbClr val="000000">
                <a:alpha val="10000"/>
              </a:srgbClr>
            </a:outerShdw>
          </a:effectLst>
        </p:spPr>
      </p:sp>
      <p:sp>
        <p:nvSpPr>
          <p:cNvPr id="19" name="Text 16"/>
          <p:cNvSpPr txBox="1"/>
          <p:nvPr/>
        </p:nvSpPr>
        <p:spPr>
          <a:xfrm>
            <a:off x="8278368"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1</a:t>
            </a:r>
            <a:endParaRPr lang="en-US" sz="3000" dirty="0"/>
          </a:p>
        </p:txBody>
      </p:sp>
      <p:sp>
        <p:nvSpPr>
          <p:cNvPr id="20" name="Text 17"/>
          <p:cNvSpPr txBox="1"/>
          <p:nvPr/>
        </p:nvSpPr>
        <p:spPr>
          <a:xfrm>
            <a:off x="8827008"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0E7C86"/>
                </a:solidFill>
                <a:latin typeface="Amiri" pitchFamily="34" charset="0"/>
                <a:ea typeface="Amiri" pitchFamily="34" charset="-122"/>
                <a:cs typeface="Amiri" pitchFamily="34" charset="-120"/>
              </a:rPr>
              <a:t>كَيْفَ</a:t>
            </a:r>
            <a:endParaRPr lang="ar-SA" sz="3400" dirty="0"/>
          </a:p>
        </p:txBody>
      </p:sp>
      <p:sp>
        <p:nvSpPr>
          <p:cNvPr id="21" name="Text 18"/>
          <p:cNvSpPr txBox="1"/>
          <p:nvPr/>
        </p:nvSpPr>
        <p:spPr>
          <a:xfrm>
            <a:off x="8278368" y="5120640"/>
            <a:ext cx="3270504" cy="310896"/>
          </a:xfrm>
          <a:prstGeom prst="rect">
            <a:avLst/>
          </a:prstGeom>
          <a:noFill/>
          <a:ln/>
        </p:spPr>
        <p:txBody>
          <a:bodyPr wrap="square" lIns="0" tIns="0" rIns="0" bIns="0" rtlCol="0" anchor="ctr"/>
          <a:lstStyle/>
          <a:p>
            <a:pPr algn="l" indent="0" marL="0">
              <a:buNone/>
            </a:pPr>
            <a:r>
              <a:rPr lang="en-US" sz="1600" b="1" dirty="0">
                <a:solidFill>
                  <a:srgbClr val="0E7C86"/>
                </a:solidFill>
                <a:latin typeface="Calibri" pitchFamily="34" charset="0"/>
                <a:ea typeface="Calibri" pitchFamily="34" charset="-122"/>
                <a:cs typeface="Calibri" pitchFamily="34" charset="-120"/>
              </a:rPr>
              <a:t>KEY WORD: how?</a:t>
            </a:r>
            <a:endParaRPr lang="en-US" sz="1600" dirty="0"/>
          </a:p>
        </p:txBody>
      </p:sp>
      <p:sp>
        <p:nvSpPr>
          <p:cNvPr id="22" name="Text 19"/>
          <p:cNvSpPr txBox="1"/>
          <p:nvPr/>
        </p:nvSpPr>
        <p:spPr>
          <a:xfrm>
            <a:off x="8278368"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ea typeface="Calibri" pitchFamily="34" charset="-122"/>
                <a:cs typeface="Calibri" pitchFamily="34" charset="-120"/>
              </a:rPr>
              <a:t>Question word — it stays the same.</a:t>
            </a:r>
            <a:endParaRPr lang="en-US" sz="1150" dirty="0"/>
          </a:p>
        </p:txBody>
      </p:sp>
      <p:sp>
        <p:nvSpPr>
          <p:cNvPr id="23" name="Shape 20"/>
          <p:cNvSpPr/>
          <p:nvPr/>
        </p:nvSpPr>
        <p:spPr>
          <a:xfrm>
            <a:off x="4276344" y="4370832"/>
            <a:ext cx="3636264" cy="1783080"/>
          </a:xfrm>
          <a:prstGeom prst="roundRect">
            <a:avLst>
              <a:gd name="adj" fmla="val 4103"/>
            </a:avLst>
          </a:prstGeom>
          <a:solidFill>
            <a:srgbClr val="FFFFFF"/>
          </a:solidFill>
          <a:ln w="19050">
            <a:solidFill>
              <a:srgbClr val="7B3FA0"/>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4459224"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2</a:t>
            </a:r>
            <a:endParaRPr lang="en-US" sz="3000" dirty="0"/>
          </a:p>
        </p:txBody>
      </p:sp>
      <p:sp>
        <p:nvSpPr>
          <p:cNvPr id="25" name="Text 22"/>
          <p:cNvSpPr txBox="1"/>
          <p:nvPr/>
        </p:nvSpPr>
        <p:spPr>
          <a:xfrm>
            <a:off x="5007864"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7B3FA0"/>
                </a:solidFill>
                <a:latin typeface="Amiri" pitchFamily="34" charset="0"/>
                <a:ea typeface="Amiri" pitchFamily="34" charset="-122"/>
                <a:cs typeface="Amiri" pitchFamily="34" charset="-120"/>
              </a:rPr>
              <a:t>حَالُ</a:t>
            </a:r>
            <a:endParaRPr lang="ar-SA" sz="3400" dirty="0"/>
          </a:p>
        </p:txBody>
      </p:sp>
      <p:sp>
        <p:nvSpPr>
          <p:cNvPr id="26" name="Text 23"/>
          <p:cNvSpPr txBox="1"/>
          <p:nvPr/>
        </p:nvSpPr>
        <p:spPr>
          <a:xfrm>
            <a:off x="4459224" y="5120640"/>
            <a:ext cx="3270504" cy="310896"/>
          </a:xfrm>
          <a:prstGeom prst="rect">
            <a:avLst/>
          </a:prstGeom>
          <a:noFill/>
          <a:ln/>
        </p:spPr>
        <p:txBody>
          <a:bodyPr wrap="square" lIns="0" tIns="0" rIns="0" bIns="0" rtlCol="0" anchor="ctr"/>
          <a:lstStyle/>
          <a:p>
            <a:pPr algn="l" indent="0" marL="0">
              <a:buNone/>
            </a:pPr>
            <a:r>
              <a:rPr lang="en-US" sz="1600" b="1" dirty="0">
                <a:solidFill>
                  <a:srgbClr val="7B3FA0"/>
                </a:solidFill>
                <a:latin typeface="Calibri" pitchFamily="34" charset="0"/>
                <a:ea typeface="Calibri" pitchFamily="34" charset="-122"/>
                <a:cs typeface="Calibri" pitchFamily="34" charset="-120"/>
              </a:rPr>
              <a:t>MEANING: state</a:t>
            </a:r>
            <a:endParaRPr lang="en-US" sz="1600" dirty="0"/>
          </a:p>
        </p:txBody>
      </p:sp>
      <p:sp>
        <p:nvSpPr>
          <p:cNvPr id="27" name="Text 24"/>
          <p:cNvSpPr txBox="1"/>
          <p:nvPr/>
        </p:nvSpPr>
        <p:spPr>
          <a:xfrm>
            <a:off x="4459224" y="5440680"/>
            <a:ext cx="3270504" cy="658368"/>
          </a:xfrm>
          <a:prstGeom prst="rect">
            <a:avLst/>
          </a:prstGeom>
          <a:noFill/>
          <a:ln/>
        </p:spPr>
        <p:txBody>
          <a:bodyPr wrap="square" lIns="0" tIns="0" rIns="0" bIns="0" rtlCol="0" anchor="t"/>
          <a:lstStyle/>
          <a:p>
            <a:pPr algn="l" indent="0" marL="0">
              <a:buNone/>
            </a:pPr>
            <a:r>
              <a:rPr lang="ar-SA" altLang="en-US" sz="1500" dirty="0">
                <a:solidFill>
                  <a:srgbClr val="5A6472"/>
                </a:solidFill>
                <a:latin typeface="Amiri" pitchFamily="34" charset="0"/>
                <a:ea typeface="Amiri" pitchFamily="34" charset="-122"/>
                <a:cs typeface="Amiri" pitchFamily="34" charset="-120"/>
              </a:rPr>
              <a:t>حَال</a:t>
            </a:r>
            <a:pPr algn="l" indent="0" marL="0">
              <a:buNone/>
            </a:pPr>
            <a:r>
              <a:rPr lang="en-US" sz="1150" dirty="0">
                <a:solidFill>
                  <a:srgbClr val="5A6472"/>
                </a:solidFill>
                <a:latin typeface="Calibri" pitchFamily="34" charset="0"/>
                <a:ea typeface="Calibri" pitchFamily="34" charset="-122"/>
                <a:cs typeface="Calibri" pitchFamily="34" charset="-120"/>
              </a:rPr>
              <a:t> = condition, state (Urdu: hāl).</a:t>
            </a:r>
            <a:endParaRPr lang="en-US" sz="1150" dirty="0"/>
          </a:p>
        </p:txBody>
      </p:sp>
      <p:sp>
        <p:nvSpPr>
          <p:cNvPr id="28" name="Shape 25"/>
          <p:cNvSpPr/>
          <p:nvPr/>
        </p:nvSpPr>
        <p:spPr>
          <a:xfrm>
            <a:off x="457200" y="4370832"/>
            <a:ext cx="3636264" cy="1783080"/>
          </a:xfrm>
          <a:prstGeom prst="roundRect">
            <a:avLst>
              <a:gd name="adj" fmla="val 4103"/>
            </a:avLst>
          </a:prstGeom>
          <a:solidFill>
            <a:srgbClr val="FFFFFF"/>
          </a:solidFill>
          <a:ln w="19050">
            <a:solidFill>
              <a:srgbClr val="D6336C"/>
            </a:solidFill>
            <a:prstDash val="solid"/>
          </a:ln>
          <a:effectLst>
            <a:outerShdw sx="100000" sy="100000" kx="0" ky="0" algn="bl" rotWithShape="0" blurRad="50800" dist="19050" dir="5400000">
              <a:srgbClr val="000000">
                <a:alpha val="10000"/>
              </a:srgbClr>
            </a:outerShdw>
          </a:effectLst>
        </p:spPr>
      </p:sp>
      <p:sp>
        <p:nvSpPr>
          <p:cNvPr id="29" name="Text 26"/>
          <p:cNvSpPr txBox="1"/>
          <p:nvPr/>
        </p:nvSpPr>
        <p:spPr>
          <a:xfrm>
            <a:off x="640080"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3</a:t>
            </a:r>
            <a:endParaRPr lang="en-US" sz="3000" dirty="0"/>
          </a:p>
        </p:txBody>
      </p:sp>
      <p:sp>
        <p:nvSpPr>
          <p:cNvPr id="30" name="Text 27"/>
          <p:cNvSpPr txBox="1"/>
          <p:nvPr/>
        </p:nvSpPr>
        <p:spPr>
          <a:xfrm>
            <a:off x="1188720"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D6336C"/>
                </a:solidFill>
                <a:latin typeface="Amiri" pitchFamily="34" charset="0"/>
                <a:ea typeface="Amiri" pitchFamily="34" charset="-122"/>
                <a:cs typeface="Amiri" pitchFamily="34" charset="-120"/>
              </a:rPr>
              <a:t>كَ / كِ</a:t>
            </a:r>
            <a:endParaRPr lang="ar-SA" sz="3400" dirty="0"/>
          </a:p>
        </p:txBody>
      </p:sp>
      <p:sp>
        <p:nvSpPr>
          <p:cNvPr id="31" name="Text 28"/>
          <p:cNvSpPr txBox="1"/>
          <p:nvPr/>
        </p:nvSpPr>
        <p:spPr>
          <a:xfrm>
            <a:off x="640080" y="5120640"/>
            <a:ext cx="3270504" cy="310896"/>
          </a:xfrm>
          <a:prstGeom prst="rect">
            <a:avLst/>
          </a:prstGeom>
          <a:noFill/>
          <a:ln/>
        </p:spPr>
        <p:txBody>
          <a:bodyPr wrap="square" lIns="0" tIns="0" rIns="0" bIns="0" rtlCol="0" anchor="ctr"/>
          <a:lstStyle/>
          <a:p>
            <a:pPr algn="l" indent="0" marL="0">
              <a:buNone/>
            </a:pPr>
            <a:r>
              <a:rPr lang="en-US" sz="1600" b="1" dirty="0">
                <a:solidFill>
                  <a:srgbClr val="D6336C"/>
                </a:solidFill>
                <a:latin typeface="Calibri" pitchFamily="34" charset="0"/>
                <a:ea typeface="Calibri" pitchFamily="34" charset="-122"/>
                <a:cs typeface="Calibri" pitchFamily="34" charset="-120"/>
              </a:rPr>
              <a:t>ENDING: your</a:t>
            </a:r>
            <a:endParaRPr lang="en-US" sz="1600" dirty="0"/>
          </a:p>
        </p:txBody>
      </p:sp>
      <p:sp>
        <p:nvSpPr>
          <p:cNvPr id="32" name="Text 29"/>
          <p:cNvSpPr txBox="1"/>
          <p:nvPr/>
        </p:nvSpPr>
        <p:spPr>
          <a:xfrm>
            <a:off x="640080" y="5440680"/>
            <a:ext cx="3270504" cy="658368"/>
          </a:xfrm>
          <a:prstGeom prst="rect">
            <a:avLst/>
          </a:prstGeom>
          <a:noFill/>
          <a:ln/>
        </p:spPr>
        <p:txBody>
          <a:bodyPr wrap="square" lIns="0" tIns="0" rIns="0" bIns="0" rtlCol="0" anchor="t"/>
          <a:lstStyle/>
          <a:p>
            <a:pPr algn="l" indent="0" marL="0">
              <a:buNone/>
            </a:pPr>
            <a:r>
              <a:rPr lang="ar-SA" altLang="en-US" sz="1500" dirty="0">
                <a:solidFill>
                  <a:srgbClr val="5A6472"/>
                </a:solidFill>
                <a:latin typeface="Amiri" pitchFamily="34" charset="0"/>
                <a:ea typeface="Amiri" pitchFamily="34" charset="-122"/>
                <a:cs typeface="Amiri" pitchFamily="34" charset="-120"/>
              </a:rPr>
              <a:t>كَ</a:t>
            </a:r>
            <a:pPr algn="l" indent="0" marL="0">
              <a:buNone/>
            </a:pPr>
            <a:r>
              <a:rPr lang="en-US" sz="1150" dirty="0">
                <a:solidFill>
                  <a:srgbClr val="5A6472"/>
                </a:solidFill>
                <a:latin typeface="Calibri" pitchFamily="34" charset="0"/>
                <a:ea typeface="Calibri" pitchFamily="34" charset="-122"/>
                <a:cs typeface="Calibri" pitchFamily="34" charset="-120"/>
              </a:rPr>
              <a:t> (-ka) to a boy · </a:t>
            </a:r>
            <a:pPr algn="l" indent="0" marL="0">
              <a:buNone/>
            </a:pPr>
            <a:r>
              <a:rPr lang="ar-SA" altLang="en-US" sz="1500" dirty="0">
                <a:solidFill>
                  <a:srgbClr val="5A6472"/>
                </a:solidFill>
                <a:latin typeface="Amiri" pitchFamily="34" charset="0"/>
                <a:ea typeface="Amiri" pitchFamily="34" charset="-122"/>
                <a:cs typeface="Amiri" pitchFamily="34" charset="-120"/>
              </a:rPr>
              <a:t>كِ</a:t>
            </a:r>
            <a:pPr algn="l" indent="0" marL="0">
              <a:buNone/>
            </a:pPr>
            <a:r>
              <a:rPr lang="en-US" sz="1150" dirty="0">
                <a:solidFill>
                  <a:srgbClr val="5A6472"/>
                </a:solidFill>
                <a:latin typeface="Calibri" pitchFamily="34" charset="0"/>
                <a:ea typeface="Calibri" pitchFamily="34" charset="-122"/>
                <a:cs typeface="Calibri" pitchFamily="34" charset="-120"/>
              </a:rPr>
              <a:t> (-ki) to a girl.</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SAME ENDING ON THREE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Boy, girl or group?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مُذَكَّرٌ · مُؤَنَّثٌ · جَمْعٌ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7882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 a boy (m.)</a:t>
            </a:r>
            <a:endParaRPr lang="en-US" sz="1100" dirty="0"/>
          </a:p>
        </p:txBody>
      </p:sp>
      <p:sp>
        <p:nvSpPr>
          <p:cNvPr id="17" name="Text 14"/>
          <p:cNvSpPr txBox="1"/>
          <p:nvPr/>
        </p:nvSpPr>
        <p:spPr>
          <a:xfrm>
            <a:off x="595274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 a girl (f.)</a:t>
            </a:r>
            <a:endParaRPr lang="en-US" sz="1100" dirty="0"/>
          </a:p>
        </p:txBody>
      </p:sp>
      <p:sp>
        <p:nvSpPr>
          <p:cNvPr id="18" name="Text 15"/>
          <p:cNvSpPr txBox="1"/>
          <p:nvPr/>
        </p:nvSpPr>
        <p:spPr>
          <a:xfrm>
            <a:off x="302666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 a group (pl.)</a:t>
            </a:r>
            <a:endParaRPr lang="en-US" sz="1100" dirty="0"/>
          </a:p>
        </p:txBody>
      </p:sp>
      <p:sp>
        <p:nvSpPr>
          <p:cNvPr id="19" name="Text 16"/>
          <p:cNvSpPr txBox="1"/>
          <p:nvPr/>
        </p:nvSpPr>
        <p:spPr>
          <a:xfrm>
            <a:off x="53035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897112" y="2286000"/>
            <a:ext cx="27432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كَيْفَ حَالُ</a:t>
            </a:r>
            <a:pPr rtl="1" algn="ctr" indent="0" marL="0">
              <a:buNone/>
            </a:pPr>
            <a:r>
              <a:rPr lang="ar-SA" altLang="en-US" sz="2100" b="1" dirty="0">
                <a:solidFill>
                  <a:srgbClr val="D6336C"/>
                </a:solidFill>
                <a:latin typeface="Amiri" pitchFamily="34" charset="0"/>
                <a:ea typeface="Amiri" pitchFamily="34" charset="-122"/>
                <a:cs typeface="Amiri" pitchFamily="34" charset="-120"/>
              </a:rPr>
              <a:t>كَ</a:t>
            </a:r>
            <a:pPr rtl="1" algn="ctr" indent="0" marL="0">
              <a:buNone/>
            </a:pPr>
            <a:r>
              <a:rPr lang="ar-SA" altLang="en-US" sz="2100" b="1" dirty="0">
                <a:solidFill>
                  <a:srgbClr val="1B3B6F"/>
                </a:solidFill>
                <a:latin typeface="Amiri" pitchFamily="34" charset="0"/>
                <a:ea typeface="Amiri" pitchFamily="34" charset="-122"/>
                <a:cs typeface="Amiri" pitchFamily="34" charset="-120"/>
              </a:rPr>
              <a:t>؟</a:t>
            </a:r>
            <a:endParaRPr lang="ar-SA" sz="2100" dirty="0"/>
          </a:p>
        </p:txBody>
      </p:sp>
      <p:sp>
        <p:nvSpPr>
          <p:cNvPr id="22" name="Text 19"/>
          <p:cNvSpPr txBox="1"/>
          <p:nvPr/>
        </p:nvSpPr>
        <p:spPr>
          <a:xfrm>
            <a:off x="8851392" y="2706624"/>
            <a:ext cx="28346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ḥā-lu-ka</a:t>
            </a:r>
            <a:endParaRPr lang="en-US" sz="950" dirty="0"/>
          </a:p>
        </p:txBody>
      </p:sp>
      <p:sp>
        <p:nvSpPr>
          <p:cNvPr id="23" name="Text 20"/>
          <p:cNvSpPr txBox="1"/>
          <p:nvPr/>
        </p:nvSpPr>
        <p:spPr>
          <a:xfrm>
            <a:off x="5971032" y="2286000"/>
            <a:ext cx="27432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كَيْفَ حَالُ</a:t>
            </a:r>
            <a:pPr rtl="1" algn="ctr" indent="0" marL="0">
              <a:buNone/>
            </a:pPr>
            <a:r>
              <a:rPr lang="ar-SA" altLang="en-US" sz="2100" b="1" dirty="0">
                <a:solidFill>
                  <a:srgbClr val="D6336C"/>
                </a:solidFill>
                <a:latin typeface="Amiri" pitchFamily="34" charset="0"/>
                <a:ea typeface="Amiri" pitchFamily="34" charset="-122"/>
                <a:cs typeface="Amiri" pitchFamily="34" charset="-120"/>
              </a:rPr>
              <a:t>كِ</a:t>
            </a:r>
            <a:pPr rtl="1" algn="ctr" indent="0" marL="0">
              <a:buNone/>
            </a:pPr>
            <a:r>
              <a:rPr lang="ar-SA" altLang="en-US" sz="2100" b="1" dirty="0">
                <a:solidFill>
                  <a:srgbClr val="1B3B6F"/>
                </a:solidFill>
                <a:latin typeface="Amiri" pitchFamily="34" charset="0"/>
                <a:ea typeface="Amiri" pitchFamily="34" charset="-122"/>
                <a:cs typeface="Amiri" pitchFamily="34" charset="-120"/>
              </a:rPr>
              <a:t>؟</a:t>
            </a:r>
            <a:endParaRPr lang="ar-SA" sz="2100" dirty="0"/>
          </a:p>
        </p:txBody>
      </p:sp>
      <p:sp>
        <p:nvSpPr>
          <p:cNvPr id="24" name="Text 21"/>
          <p:cNvSpPr txBox="1"/>
          <p:nvPr/>
        </p:nvSpPr>
        <p:spPr>
          <a:xfrm>
            <a:off x="5925312" y="2706624"/>
            <a:ext cx="28346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ḥā-lu-ki</a:t>
            </a:r>
            <a:endParaRPr lang="en-US" sz="950" dirty="0"/>
          </a:p>
        </p:txBody>
      </p:sp>
      <p:sp>
        <p:nvSpPr>
          <p:cNvPr id="25" name="Text 22"/>
          <p:cNvSpPr txBox="1"/>
          <p:nvPr/>
        </p:nvSpPr>
        <p:spPr>
          <a:xfrm>
            <a:off x="3044952" y="2286000"/>
            <a:ext cx="27432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كَيْفَ حَالُ</a:t>
            </a:r>
            <a:pPr rtl="1" algn="ctr" indent="0" marL="0">
              <a:buNone/>
            </a:pPr>
            <a:r>
              <a:rPr lang="ar-SA" altLang="en-US" sz="2100" b="1" dirty="0">
                <a:solidFill>
                  <a:srgbClr val="D6336C"/>
                </a:solidFill>
                <a:latin typeface="Amiri" pitchFamily="34" charset="0"/>
                <a:ea typeface="Amiri" pitchFamily="34" charset="-122"/>
                <a:cs typeface="Amiri" pitchFamily="34" charset="-120"/>
              </a:rPr>
              <a:t>كُمْ</a:t>
            </a:r>
            <a:pPr rtl="1" algn="ctr" indent="0" marL="0">
              <a:buNone/>
            </a:pPr>
            <a:r>
              <a:rPr lang="ar-SA" altLang="en-US" sz="2100" b="1" dirty="0">
                <a:solidFill>
                  <a:srgbClr val="1B3B6F"/>
                </a:solidFill>
                <a:latin typeface="Amiri" pitchFamily="34" charset="0"/>
                <a:ea typeface="Amiri" pitchFamily="34" charset="-122"/>
                <a:cs typeface="Amiri" pitchFamily="34" charset="-120"/>
              </a:rPr>
              <a:t>؟</a:t>
            </a:r>
            <a:endParaRPr lang="ar-SA" sz="2100" dirty="0"/>
          </a:p>
        </p:txBody>
      </p:sp>
      <p:sp>
        <p:nvSpPr>
          <p:cNvPr id="26" name="Text 23"/>
          <p:cNvSpPr txBox="1"/>
          <p:nvPr/>
        </p:nvSpPr>
        <p:spPr>
          <a:xfrm>
            <a:off x="2999232" y="2706624"/>
            <a:ext cx="28346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ḥā-lu-kum</a:t>
            </a:r>
            <a:endParaRPr lang="en-US" sz="950" dirty="0"/>
          </a:p>
        </p:txBody>
      </p:sp>
      <p:sp>
        <p:nvSpPr>
          <p:cNvPr id="27" name="Text 24"/>
          <p:cNvSpPr txBox="1"/>
          <p:nvPr/>
        </p:nvSpPr>
        <p:spPr>
          <a:xfrm>
            <a:off x="566928" y="2267712"/>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How are you?</a:t>
            </a:r>
            <a:endParaRPr lang="en-US" sz="1100" dirty="0"/>
          </a:p>
        </p:txBody>
      </p:sp>
      <p:sp>
        <p:nvSpPr>
          <p:cNvPr id="28" name="Shape 25"/>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0" name="Shape 27"/>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1" name="Text 28"/>
          <p:cNvSpPr txBox="1"/>
          <p:nvPr/>
        </p:nvSpPr>
        <p:spPr>
          <a:xfrm>
            <a:off x="8897112" y="3072384"/>
            <a:ext cx="27432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وَأَنْ</a:t>
            </a:r>
            <a:pPr rtl="1" algn="ctr" indent="0" marL="0">
              <a:buNone/>
            </a:pPr>
            <a:r>
              <a:rPr lang="ar-SA" altLang="en-US" sz="2100" b="1" dirty="0">
                <a:solidFill>
                  <a:srgbClr val="D6336C"/>
                </a:solidFill>
                <a:latin typeface="Amiri" pitchFamily="34" charset="0"/>
                <a:ea typeface="Amiri" pitchFamily="34" charset="-122"/>
                <a:cs typeface="Amiri" pitchFamily="34" charset="-120"/>
              </a:rPr>
              <a:t>تَ</a:t>
            </a:r>
            <a:pPr rtl="1" algn="ctr" indent="0" marL="0">
              <a:buNone/>
            </a:pPr>
            <a:r>
              <a:rPr lang="ar-SA" altLang="en-US" sz="2100" b="1" dirty="0">
                <a:solidFill>
                  <a:srgbClr val="1B3B6F"/>
                </a:solidFill>
                <a:latin typeface="Amiri" pitchFamily="34" charset="0"/>
                <a:ea typeface="Amiri" pitchFamily="34" charset="-122"/>
                <a:cs typeface="Amiri" pitchFamily="34" charset="-120"/>
              </a:rPr>
              <a:t>؟</a:t>
            </a:r>
            <a:endParaRPr lang="ar-SA" sz="2100" dirty="0"/>
          </a:p>
        </p:txBody>
      </p:sp>
      <p:sp>
        <p:nvSpPr>
          <p:cNvPr id="32" name="Text 29"/>
          <p:cNvSpPr txBox="1"/>
          <p:nvPr/>
        </p:nvSpPr>
        <p:spPr>
          <a:xfrm>
            <a:off x="8851392" y="3493008"/>
            <a:ext cx="28346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wa-an-ta</a:t>
            </a:r>
            <a:endParaRPr lang="en-US" sz="950" dirty="0"/>
          </a:p>
        </p:txBody>
      </p:sp>
      <p:sp>
        <p:nvSpPr>
          <p:cNvPr id="33" name="Text 30"/>
          <p:cNvSpPr txBox="1"/>
          <p:nvPr/>
        </p:nvSpPr>
        <p:spPr>
          <a:xfrm>
            <a:off x="5971032" y="3072384"/>
            <a:ext cx="27432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وَأَنْ</a:t>
            </a:r>
            <a:pPr rtl="1" algn="ctr" indent="0" marL="0">
              <a:buNone/>
            </a:pPr>
            <a:r>
              <a:rPr lang="ar-SA" altLang="en-US" sz="2100" b="1" dirty="0">
                <a:solidFill>
                  <a:srgbClr val="D6336C"/>
                </a:solidFill>
                <a:latin typeface="Amiri" pitchFamily="34" charset="0"/>
                <a:ea typeface="Amiri" pitchFamily="34" charset="-122"/>
                <a:cs typeface="Amiri" pitchFamily="34" charset="-120"/>
              </a:rPr>
              <a:t>تِ</a:t>
            </a:r>
            <a:pPr rtl="1" algn="ctr" indent="0" marL="0">
              <a:buNone/>
            </a:pPr>
            <a:r>
              <a:rPr lang="ar-SA" altLang="en-US" sz="2100" b="1" dirty="0">
                <a:solidFill>
                  <a:srgbClr val="1B3B6F"/>
                </a:solidFill>
                <a:latin typeface="Amiri" pitchFamily="34" charset="0"/>
                <a:ea typeface="Amiri" pitchFamily="34" charset="-122"/>
                <a:cs typeface="Amiri" pitchFamily="34" charset="-120"/>
              </a:rPr>
              <a:t>؟</a:t>
            </a:r>
            <a:endParaRPr lang="ar-SA" sz="2100" dirty="0"/>
          </a:p>
        </p:txBody>
      </p:sp>
      <p:sp>
        <p:nvSpPr>
          <p:cNvPr id="34" name="Text 31"/>
          <p:cNvSpPr txBox="1"/>
          <p:nvPr/>
        </p:nvSpPr>
        <p:spPr>
          <a:xfrm>
            <a:off x="5925312" y="3493008"/>
            <a:ext cx="28346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wa-an-ti</a:t>
            </a:r>
            <a:endParaRPr lang="en-US" sz="950" dirty="0"/>
          </a:p>
        </p:txBody>
      </p:sp>
      <p:sp>
        <p:nvSpPr>
          <p:cNvPr id="35" name="Text 32"/>
          <p:cNvSpPr txBox="1"/>
          <p:nvPr/>
        </p:nvSpPr>
        <p:spPr>
          <a:xfrm>
            <a:off x="3044952" y="3072384"/>
            <a:ext cx="27432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وَأَنْ</a:t>
            </a:r>
            <a:pPr rtl="1" algn="ctr" indent="0" marL="0">
              <a:buNone/>
            </a:pPr>
            <a:r>
              <a:rPr lang="ar-SA" altLang="en-US" sz="2100" b="1" dirty="0">
                <a:solidFill>
                  <a:srgbClr val="D6336C"/>
                </a:solidFill>
                <a:latin typeface="Amiri" pitchFamily="34" charset="0"/>
                <a:ea typeface="Amiri" pitchFamily="34" charset="-122"/>
                <a:cs typeface="Amiri" pitchFamily="34" charset="-120"/>
              </a:rPr>
              <a:t>تُمْ</a:t>
            </a:r>
            <a:pPr rtl="1" algn="ctr" indent="0" marL="0">
              <a:buNone/>
            </a:pPr>
            <a:r>
              <a:rPr lang="ar-SA" altLang="en-US" sz="2100" b="1" dirty="0">
                <a:solidFill>
                  <a:srgbClr val="1B3B6F"/>
                </a:solidFill>
                <a:latin typeface="Amiri" pitchFamily="34" charset="0"/>
                <a:ea typeface="Amiri" pitchFamily="34" charset="-122"/>
                <a:cs typeface="Amiri" pitchFamily="34" charset="-120"/>
              </a:rPr>
              <a:t>؟</a:t>
            </a:r>
            <a:endParaRPr lang="ar-SA" sz="2100" dirty="0"/>
          </a:p>
        </p:txBody>
      </p:sp>
      <p:sp>
        <p:nvSpPr>
          <p:cNvPr id="36" name="Text 33"/>
          <p:cNvSpPr txBox="1"/>
          <p:nvPr/>
        </p:nvSpPr>
        <p:spPr>
          <a:xfrm>
            <a:off x="2999232" y="3493008"/>
            <a:ext cx="28346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wa-an-tum</a:t>
            </a:r>
            <a:endParaRPr lang="en-US" sz="950" dirty="0"/>
          </a:p>
        </p:txBody>
      </p:sp>
      <p:sp>
        <p:nvSpPr>
          <p:cNvPr id="37" name="Text 34"/>
          <p:cNvSpPr txBox="1"/>
          <p:nvPr/>
        </p:nvSpPr>
        <p:spPr>
          <a:xfrm>
            <a:off x="566928" y="3054096"/>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And you?</a:t>
            </a:r>
            <a:endParaRPr lang="en-US" sz="1100" dirty="0"/>
          </a:p>
        </p:txBody>
      </p:sp>
      <p:sp>
        <p:nvSpPr>
          <p:cNvPr id="38" name="Shape 35"/>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0" name="Shape 37"/>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41" name="Text 38"/>
          <p:cNvSpPr txBox="1"/>
          <p:nvPr/>
        </p:nvSpPr>
        <p:spPr>
          <a:xfrm>
            <a:off x="8897112" y="3858768"/>
            <a:ext cx="27432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عَلَيْ</a:t>
            </a:r>
            <a:pPr rtl="1" algn="ctr" indent="0" marL="0">
              <a:buNone/>
            </a:pPr>
            <a:r>
              <a:rPr lang="ar-SA" altLang="en-US" sz="2100" b="1" dirty="0">
                <a:solidFill>
                  <a:srgbClr val="D6336C"/>
                </a:solidFill>
                <a:latin typeface="Amiri" pitchFamily="34" charset="0"/>
                <a:ea typeface="Amiri" pitchFamily="34" charset="-122"/>
                <a:cs typeface="Amiri" pitchFamily="34" charset="-120"/>
              </a:rPr>
              <a:t>كَ</a:t>
            </a:r>
            <a:endParaRPr lang="ar-SA" sz="2100" dirty="0"/>
          </a:p>
        </p:txBody>
      </p:sp>
      <p:sp>
        <p:nvSpPr>
          <p:cNvPr id="42" name="Text 39"/>
          <p:cNvSpPr txBox="1"/>
          <p:nvPr/>
        </p:nvSpPr>
        <p:spPr>
          <a:xfrm>
            <a:off x="8851392" y="4279392"/>
            <a:ext cx="28346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ʿa-lay-ka</a:t>
            </a:r>
            <a:endParaRPr lang="en-US" sz="950" dirty="0"/>
          </a:p>
        </p:txBody>
      </p:sp>
      <p:sp>
        <p:nvSpPr>
          <p:cNvPr id="43" name="Text 40"/>
          <p:cNvSpPr txBox="1"/>
          <p:nvPr/>
        </p:nvSpPr>
        <p:spPr>
          <a:xfrm>
            <a:off x="5971032" y="3858768"/>
            <a:ext cx="27432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عَلَيْ</a:t>
            </a:r>
            <a:pPr rtl="1" algn="ctr" indent="0" marL="0">
              <a:buNone/>
            </a:pPr>
            <a:r>
              <a:rPr lang="ar-SA" altLang="en-US" sz="2100" b="1" dirty="0">
                <a:solidFill>
                  <a:srgbClr val="D6336C"/>
                </a:solidFill>
                <a:latin typeface="Amiri" pitchFamily="34" charset="0"/>
                <a:ea typeface="Amiri" pitchFamily="34" charset="-122"/>
                <a:cs typeface="Amiri" pitchFamily="34" charset="-120"/>
              </a:rPr>
              <a:t>كِ</a:t>
            </a:r>
            <a:endParaRPr lang="ar-SA" sz="2100" dirty="0"/>
          </a:p>
        </p:txBody>
      </p:sp>
      <p:sp>
        <p:nvSpPr>
          <p:cNvPr id="44" name="Text 41"/>
          <p:cNvSpPr txBox="1"/>
          <p:nvPr/>
        </p:nvSpPr>
        <p:spPr>
          <a:xfrm>
            <a:off x="5925312" y="4279392"/>
            <a:ext cx="28346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ʿa-lay-ki</a:t>
            </a:r>
            <a:endParaRPr lang="en-US" sz="950" dirty="0"/>
          </a:p>
        </p:txBody>
      </p:sp>
      <p:sp>
        <p:nvSpPr>
          <p:cNvPr id="45" name="Text 42"/>
          <p:cNvSpPr txBox="1"/>
          <p:nvPr/>
        </p:nvSpPr>
        <p:spPr>
          <a:xfrm>
            <a:off x="3044952" y="3858768"/>
            <a:ext cx="27432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عَلَيْ</a:t>
            </a:r>
            <a:pPr rtl="1" algn="ctr" indent="0" marL="0">
              <a:buNone/>
            </a:pPr>
            <a:r>
              <a:rPr lang="ar-SA" altLang="en-US" sz="2100" b="1" dirty="0">
                <a:solidFill>
                  <a:srgbClr val="D6336C"/>
                </a:solidFill>
                <a:latin typeface="Amiri" pitchFamily="34" charset="0"/>
                <a:ea typeface="Amiri" pitchFamily="34" charset="-122"/>
                <a:cs typeface="Amiri" pitchFamily="34" charset="-120"/>
              </a:rPr>
              <a:t>كُمْ</a:t>
            </a:r>
            <a:endParaRPr lang="ar-SA" sz="2100" dirty="0"/>
          </a:p>
        </p:txBody>
      </p:sp>
      <p:sp>
        <p:nvSpPr>
          <p:cNvPr id="46" name="Text 43"/>
          <p:cNvSpPr txBox="1"/>
          <p:nvPr/>
        </p:nvSpPr>
        <p:spPr>
          <a:xfrm>
            <a:off x="2999232" y="4279392"/>
            <a:ext cx="28346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ʿa-lay-kum</a:t>
            </a:r>
            <a:endParaRPr lang="en-US" sz="950" dirty="0"/>
          </a:p>
        </p:txBody>
      </p:sp>
      <p:sp>
        <p:nvSpPr>
          <p:cNvPr id="47" name="Text 44"/>
          <p:cNvSpPr txBox="1"/>
          <p:nvPr/>
        </p:nvSpPr>
        <p:spPr>
          <a:xfrm>
            <a:off x="566928" y="3840480"/>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upon you</a:t>
            </a:r>
            <a:endParaRPr lang="en-US" sz="1100" dirty="0"/>
          </a:p>
        </p:txBody>
      </p:sp>
      <p:sp>
        <p:nvSpPr>
          <p:cNvPr id="48" name="Text 4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Fatḥa (-a) for a boy · kasra (-i) for a girl · -um for a group.</a:t>
            </a:r>
            <a:endParaRPr lang="en-US" sz="11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are speaking to Ahmad. Choose the fully vowelled ending.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حَالُكِ؟</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الحَالُ؟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حَالُكَ؟</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are speaking to Sara. Choose the fully vowelled ending.</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حَالُكِ؟</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حَالُكَ؟</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حَالُكُمْ؟</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does the final short vowel signal?</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حَالُكَ</a:t>
            </a:r>
            <a:endParaRPr lang="ar-SA" sz="22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female addressee</a:t>
            </a:r>
            <a:endParaRPr lang="en-US" sz="12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male addressee</a:t>
            </a:r>
            <a:endParaRPr lang="en-US" sz="12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plural addressee</a:t>
            </a:r>
            <a:endParaRPr lang="en-US" sz="12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are unsure which singular ending to use. Choose the non-gendered workaround taught here.</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الحَالُ؟</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السَّلَامَةِ</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اسْمُكَ؟</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are speaking to Ahmad. Choose the fully vowelled ending.</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كَيْفَ حَالُكِ؟</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كَيْفَ الحَالُ؟</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كَيْفَ حَالُكَ؟</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Ahmad is the male addressee, so careful MSA uses -ka: </a:t>
            </a:r>
            <a:pPr algn="l" indent="0" marL="0">
              <a:buNone/>
            </a:pPr>
            <a:r>
              <a:rPr lang="ar-SA" altLang="en-US" sz="1350" dirty="0">
                <a:solidFill>
                  <a:srgbClr val="8A6D1E"/>
                </a:solidFill>
                <a:latin typeface="Amiri" pitchFamily="34" charset="0"/>
                <a:ea typeface="Amiri" pitchFamily="34" charset="-122"/>
                <a:cs typeface="Amiri" pitchFamily="34" charset="-120"/>
              </a:rPr>
              <a:t>كَ</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are speaking to Sara. Choose the fully vowelled ending.</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كَيْفَ حَالُكِ؟</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كَيْفَ حَالُكَ؟</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كَيْفَ حَالُكُمْ؟</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Sara is the female addressee, so careful MSA uses -ki: </a:t>
            </a:r>
            <a:pPr algn="l" indent="0" marL="0">
              <a:buNone/>
            </a:pPr>
            <a:r>
              <a:rPr lang="ar-SA" altLang="en-US" sz="1350" dirty="0">
                <a:solidFill>
                  <a:srgbClr val="8A6D1E"/>
                </a:solidFill>
                <a:latin typeface="Amiri" pitchFamily="34" charset="0"/>
                <a:ea typeface="Amiri" pitchFamily="34" charset="-122"/>
                <a:cs typeface="Amiri" pitchFamily="34" charset="-120"/>
              </a:rPr>
              <a:t>كِ</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does the final short vowel signal?</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حَالُكَ</a:t>
            </a:r>
            <a:endParaRPr lang="ar-SA" sz="22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female addressee</a:t>
            </a:r>
            <a:endParaRPr lang="en-US" sz="125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one male addressee</a:t>
            </a:r>
            <a:endParaRPr lang="en-US" sz="125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plural addressee</a:t>
            </a:r>
            <a:endParaRPr lang="en-US" sz="125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fatḥa in </a:t>
            </a:r>
            <a:pPr algn="l" indent="0" marL="0">
              <a:buNone/>
            </a:pPr>
            <a:r>
              <a:rPr lang="ar-SA" altLang="en-US" sz="1350" dirty="0">
                <a:solidFill>
                  <a:srgbClr val="8A6D1E"/>
                </a:solidFill>
                <a:latin typeface="Amiri" pitchFamily="34" charset="0"/>
                <a:ea typeface="Amiri" pitchFamily="34" charset="-122"/>
                <a:cs typeface="Amiri" pitchFamily="34" charset="-120"/>
              </a:rPr>
              <a:t>كَ</a:t>
            </a:r>
            <a:pPr algn="l" indent="0" marL="0">
              <a:buNone/>
            </a:pPr>
            <a:r>
              <a:rPr lang="en-US" sz="1050" i="1" dirty="0">
                <a:solidFill>
                  <a:srgbClr val="8A6D1E"/>
                </a:solidFill>
                <a:latin typeface="Calibri" pitchFamily="34" charset="0"/>
                <a:ea typeface="Calibri" pitchFamily="34" charset="-122"/>
                <a:cs typeface="Calibri" pitchFamily="34" charset="-120"/>
              </a:rPr>
              <a:t> gives the singular masculine address form.</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are unsure which singular ending to use. Choose the non-gendered workaround taught here.</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كَيْفَ الحَالُ؟</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 السَّلَامَةِ</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 اسْمُكَ؟</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كَيْفَ الحَالُ؟</a:t>
            </a:r>
            <a:pPr algn="l" indent="0" marL="0">
              <a:buNone/>
            </a:pPr>
            <a:r>
              <a:rPr lang="en-US" sz="1050" i="1" dirty="0">
                <a:solidFill>
                  <a:srgbClr val="8A6D1E"/>
                </a:solidFill>
                <a:latin typeface="Calibri" pitchFamily="34" charset="0"/>
                <a:ea typeface="Calibri" pitchFamily="34" charset="-122"/>
                <a:cs typeface="Calibri" pitchFamily="34" charset="-120"/>
              </a:rPr>
              <a:t> asks “how are things?” without a singular gender suffix.</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Watch me build a greeting exchange</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Open (morning)</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34" charset="0"/>
                <a:ea typeface="Amiri" pitchFamily="34" charset="-122"/>
                <a:cs typeface="Amiri" pitchFamily="34" charset="-120"/>
              </a:rPr>
              <a:t>صَبَاحُ الخَيْرِ يَا سَارَةُ.</a:t>
            </a:r>
            <a:endParaRPr lang="ar-SA" sz="25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It is morning, so I choose the morning pair. </a:t>
            </a:r>
            <a:pPr algn="l" indent="0" marL="0">
              <a:buNone/>
            </a:pPr>
            <a:r>
              <a:rPr lang="ar-SA" altLang="en-US" sz="1500" dirty="0">
                <a:solidFill>
                  <a:srgbClr val="1F2A37"/>
                </a:solidFill>
                <a:latin typeface="Amiri" pitchFamily="34" charset="0"/>
                <a:ea typeface="Amiri" pitchFamily="34" charset="-122"/>
                <a:cs typeface="Amiri" pitchFamily="34" charset="-120"/>
              </a:rPr>
              <a:t>يَا</a:t>
            </a:r>
            <a:pPr algn="l" indent="0" marL="0">
              <a:buNone/>
            </a:pPr>
            <a:r>
              <a:rPr lang="en-US" sz="1150" dirty="0">
                <a:solidFill>
                  <a:srgbClr val="1F2A37"/>
                </a:solidFill>
                <a:latin typeface="Calibri" pitchFamily="34" charset="0"/>
                <a:ea typeface="Calibri" pitchFamily="34" charset="-122"/>
                <a:cs typeface="Calibri" pitchFamily="34" charset="-120"/>
              </a:rPr>
              <a:t> = addressing Sara.</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She replies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34" charset="0"/>
                <a:ea typeface="Amiri" pitchFamily="34" charset="-122"/>
                <a:cs typeface="Amiri" pitchFamily="34" charset="-120"/>
              </a:rPr>
              <a:t>صَبَاحُ النُّورِ يَا أَحْمَدُ.</a:t>
            </a:r>
            <a:endParaRPr lang="ar-SA" sz="25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The paired reply: </a:t>
            </a:r>
            <a:pPr algn="l" indent="0" marL="0">
              <a:buNone/>
            </a:pPr>
            <a:r>
              <a:rPr lang="ar-SA" altLang="en-US" sz="1500" dirty="0">
                <a:solidFill>
                  <a:srgbClr val="1F2A37"/>
                </a:solidFill>
                <a:latin typeface="Amiri" pitchFamily="34" charset="0"/>
                <a:ea typeface="Amiri" pitchFamily="34" charset="-122"/>
                <a:cs typeface="Amiri" pitchFamily="34" charset="-120"/>
              </a:rPr>
              <a:t>الخَيْرِ</a:t>
            </a:r>
            <a:pPr algn="l" indent="0" marL="0">
              <a:buNone/>
            </a:pPr>
            <a:r>
              <a:rPr lang="en-US" sz="1150" dirty="0">
                <a:solidFill>
                  <a:srgbClr val="1F2A37"/>
                </a:solidFill>
                <a:latin typeface="Calibri" pitchFamily="34" charset="0"/>
                <a:ea typeface="Calibri" pitchFamily="34" charset="-122"/>
                <a:cs typeface="Calibri" pitchFamily="34" charset="-120"/>
              </a:rPr>
              <a:t> → </a:t>
            </a:r>
            <a:pPr algn="l" indent="0" marL="0">
              <a:buNone/>
            </a:pPr>
            <a:r>
              <a:rPr lang="ar-SA" altLang="en-US" sz="1500" dirty="0">
                <a:solidFill>
                  <a:srgbClr val="1F2A37"/>
                </a:solidFill>
                <a:latin typeface="Amiri" pitchFamily="34" charset="0"/>
                <a:ea typeface="Amiri" pitchFamily="34" charset="-122"/>
                <a:cs typeface="Amiri" pitchFamily="34" charset="-120"/>
              </a:rPr>
              <a:t>النُّورِ</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Check in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كَيْفَ حَالُ</a:t>
            </a:r>
            <a:pPr rtl="1" algn="ctr" indent="0" marL="0">
              <a:buNone/>
            </a:pPr>
            <a:r>
              <a:rPr lang="ar-SA" altLang="en-US" sz="2800" b="1" dirty="0">
                <a:solidFill>
                  <a:srgbClr val="D6336C"/>
                </a:solidFill>
                <a:latin typeface="Amiri" pitchFamily="34" charset="0"/>
                <a:ea typeface="Amiri" pitchFamily="34" charset="-122"/>
                <a:cs typeface="Amiri" pitchFamily="34" charset="-120"/>
              </a:rPr>
              <a:t>كِ</a:t>
            </a:r>
            <a:pPr rtl="1" algn="ctr" indent="0" marL="0">
              <a:buNone/>
            </a:pPr>
            <a:r>
              <a:rPr lang="ar-SA" altLang="en-US" sz="2800" b="1" dirty="0">
                <a:solidFill>
                  <a:srgbClr val="1B3B6F"/>
                </a:solidFill>
                <a:latin typeface="Amiri" pitchFamily="34" charset="0"/>
                <a:ea typeface="Amiri" pitchFamily="34" charset="-122"/>
                <a:cs typeface="Amiri" pitchFamily="34" charset="-120"/>
              </a:rPr>
              <a:t>؟</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 look at Sara — a girl — so the ending is -ki.</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Answer and close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34" charset="0"/>
                <a:ea typeface="Amiri" pitchFamily="34" charset="-122"/>
                <a:cs typeface="Amiri" pitchFamily="34" charset="-120"/>
              </a:rPr>
              <a:t>بِخَيْرٍ … إِلَى اللِّقَاءِ.</a:t>
            </a:r>
            <a:endParaRPr lang="ar-SA" sz="27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She answers, then we close politely.</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ENDING</a:t>
            </a:r>
            <a:endParaRPr lang="en-US" sz="800" dirty="0"/>
          </a:p>
        </p:txBody>
      </p:sp>
      <p:sp>
        <p:nvSpPr>
          <p:cNvPr id="47" name="Text 43"/>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450" b="1" dirty="0">
                <a:solidFill>
                  <a:srgbClr val="1B3B6F"/>
                </a:solidFill>
                <a:latin typeface="Amiri" pitchFamily="34" charset="0"/>
                <a:ea typeface="Amiri" pitchFamily="34" charset="-122"/>
                <a:cs typeface="Amiri" pitchFamily="34" charset="-120"/>
              </a:rPr>
              <a:t>صَبَاحُ الخَيْرِ يَا سَارَةُ. — صَبَاحُ النُّورِ يَا أَحْمَدُ. — كَيْفَ حَالُ</a:t>
            </a:r>
            <a:pPr rtl="1" algn="r" indent="0" marL="0">
              <a:buNone/>
            </a:pPr>
            <a:r>
              <a:rPr lang="ar-SA" altLang="en-US" sz="2450" b="1" dirty="0">
                <a:solidFill>
                  <a:srgbClr val="D6336C"/>
                </a:solidFill>
                <a:latin typeface="Amiri" pitchFamily="34" charset="0"/>
                <a:ea typeface="Amiri" pitchFamily="34" charset="-122"/>
                <a:cs typeface="Amiri" pitchFamily="34" charset="-120"/>
              </a:rPr>
              <a:t>كِ</a:t>
            </a:r>
            <a:pPr rtl="1" algn="r" indent="0" marL="0">
              <a:buNone/>
            </a:pPr>
            <a:r>
              <a:rPr lang="ar-SA" altLang="en-US" sz="2450" b="1" dirty="0">
                <a:solidFill>
                  <a:srgbClr val="1B3B6F"/>
                </a:solidFill>
                <a:latin typeface="Amiri" pitchFamily="34" charset="0"/>
                <a:ea typeface="Amiri" pitchFamily="34" charset="-122"/>
                <a:cs typeface="Amiri" pitchFamily="34" charset="-120"/>
              </a:rPr>
              <a:t>؟ — بِخَيْرٍ، الحَمْدُ لِلَّهِ. — إِلَى اللِّقَاءِ.</a:t>
            </a:r>
            <a:endParaRPr lang="ar-SA" sz="2450" dirty="0"/>
          </a:p>
        </p:txBody>
      </p:sp>
      <p:sp>
        <p:nvSpPr>
          <p:cNvPr id="48" name="Text 44"/>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Good morning, Sara. — Good morning, Ahmad. — How are you? — Fine, praise be to God. — See you later.</a:t>
            </a:r>
            <a:endParaRPr lang="en-US" sz="1300" dirty="0"/>
          </a:p>
        </p:txBody>
      </p:sp>
      <p:sp>
        <p:nvSpPr>
          <p:cNvPr id="49"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7" b="1" spc="150" kern="0" dirty="0">
                <a:solidFill>
                  <a:srgbClr val="2F6FB0"/>
                </a:solidFill>
                <a:latin typeface="Calibri" pitchFamily="34" charset="0"/>
                <a:ea typeface="Calibri" pitchFamily="34" charset="-122"/>
                <a:cs typeface="Calibri" pitchFamily="34" charset="-120"/>
              </a:rPr>
              <a:t>WE DO · PICTURE MATCH · WEBSITE GAME “VISUAL GAME — HELLO, GOODBYE AND HOW ARE YOU?”</a:t>
            </a:r>
            <a:endParaRPr lang="en-US" sz="807"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Match the picture to the greeting</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طَابِقِ التَّحِيَّةَ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morning</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evening</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asking a girl</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مَسَاءُ الخَيْرِ.</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كَيْفَ حَالُكِ؟</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صَبَاحُ الخَيْرِ.</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طَابِقِ التَّحِيَّةَ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morning</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صَبَاحُ الخَيْرِ.</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Good morning.</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evening</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مَسَاءُ الخَيْرِ.</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Good evening.</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asking a girl</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كَيْفَ حَالُكِ؟</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How are you? (to a girl)</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GAME “RESPONSE RELAY”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Choose the natural next move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سِبَاقُ الرُّدُودِ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ea typeface="Calibri" pitchFamily="34" charset="-122"/>
                <a:cs typeface="Calibri" pitchFamily="34" charset="-120"/>
              </a:rPr>
              <a:t>Choose the conventional morning response.</a:t>
            </a:r>
            <a:endParaRPr lang="en-US" sz="95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صَبَاحُ الخَيْرِ</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صَبَاحُ النُّورِ</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مَسَاءُ النُّورِ</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السَّلَامَةِ</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ea typeface="Calibri" pitchFamily="34" charset="-122"/>
                <a:cs typeface="Calibri" pitchFamily="34" charset="-120"/>
              </a:rPr>
              <a:t>Choose the conventional evening response.</a:t>
            </a:r>
            <a:endParaRPr lang="en-US" sz="95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مَسَاءُ الخَيْرِ</a:t>
            </a:r>
            <a:endParaRPr lang="ar-SA" sz="22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صَبَاحُ النُّورِ</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مَسَاءُ النُّورِ</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مَرْحَبًا</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ea typeface="Calibri" pitchFamily="34" charset="-122"/>
                <a:cs typeface="Calibri" pitchFamily="34" charset="-120"/>
              </a:rPr>
              <a:t>A classmate says “hello”. Choose a simple natural return.</a:t>
            </a:r>
            <a:endParaRPr lang="en-US" sz="95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مَرْحَبًا</a:t>
            </a:r>
            <a:endParaRPr lang="ar-SA" sz="22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مَرْحَبًا</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السَّلَامَةِ</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مَسَاءُ النُّورِ</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guest arrives. Which phrase offers a welcome?</a:t>
            </a:r>
            <a:endParaRPr lang="en-US" sz="12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شُكْرًا</a:t>
            </a:r>
            <a:endParaRPr lang="ar-SA" sz="20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 اللِّقَاءِ</a:t>
            </a:r>
            <a:endParaRPr lang="ar-SA" sz="20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أَهْلًا وَسَهْلًا</a:t>
            </a:r>
            <a:endParaRPr lang="ar-SA" sz="20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3" name="Text 7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 conversation is ending. Choose the general goodbye.</a:t>
            </a:r>
            <a:endParaRPr lang="en-US" sz="12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حَالُكِ؟</a:t>
            </a:r>
            <a:endParaRPr lang="ar-SA" sz="20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أَهْلًا وَسَهْلًا</a:t>
            </a:r>
            <a:endParaRPr lang="ar-SA" sz="20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السَّلَامَةِ</a:t>
            </a:r>
            <a:endParaRPr lang="ar-SA" sz="2050" dirty="0"/>
          </a:p>
        </p:txBody>
      </p:sp>
      <p:sp>
        <p:nvSpPr>
          <p:cNvPr id="83" name="Shape 80"/>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5" name="Text 82"/>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6" name="Text 83"/>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Find the PAIR.</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Morning → the morning reply.</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Hello → hello.</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A guest → a welcome.</a:t>
            </a:r>
            <a:endParaRPr lang="en-US" sz="125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RESPONSE RELAY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Relay: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ea typeface="Calibri" pitchFamily="34" charset="-122"/>
                <a:cs typeface="Calibri" pitchFamily="34" charset="-120"/>
              </a:rPr>
              <a:t>Choose the conventional morning response.</a:t>
            </a:r>
            <a:endParaRPr lang="en-US" sz="95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صَبَاحُ الخَيْرِ</a:t>
            </a:r>
            <a:endParaRPr lang="ar-SA" sz="2200" dirty="0"/>
          </a:p>
        </p:txBody>
      </p:sp>
      <p:sp>
        <p:nvSpPr>
          <p:cNvPr id="20" name="Shape 17"/>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490216"/>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صَبَاحُ النُّورِ</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مَسَاءُ النُّورِ</a:t>
            </a:r>
            <a:endParaRPr lang="ar-SA" sz="17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 السَّلَامَةِ</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صَبَاحُ النُّورِ</a:t>
            </a:r>
            <a:pPr algn="l" indent="0" marL="0">
              <a:buNone/>
            </a:pPr>
            <a:r>
              <a:rPr lang="en-US" sz="1050" i="1" dirty="0">
                <a:solidFill>
                  <a:srgbClr val="8A6D1E"/>
                </a:solidFill>
                <a:latin typeface="Calibri" pitchFamily="34" charset="0"/>
                <a:ea typeface="Calibri" pitchFamily="34" charset="-122"/>
                <a:cs typeface="Calibri" pitchFamily="34" charset="-120"/>
              </a:rPr>
              <a:t> is the paired morning response.</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ea typeface="Calibri" pitchFamily="34" charset="-122"/>
                <a:cs typeface="Calibri" pitchFamily="34" charset="-120"/>
              </a:rPr>
              <a:t>Choose the conventional evening response.</a:t>
            </a:r>
            <a:endParaRPr lang="en-US" sz="95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مَسَاءُ الخَيْرِ</a:t>
            </a:r>
            <a:endParaRPr lang="ar-SA" sz="22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صَبَاحُ النُّورِ</a:t>
            </a:r>
            <a:endParaRPr lang="ar-SA" sz="1700" dirty="0"/>
          </a:p>
        </p:txBody>
      </p:sp>
      <p:sp>
        <p:nvSpPr>
          <p:cNvPr id="39" name="Shape 36"/>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مَسَاءُ النُّورِ</a:t>
            </a:r>
            <a:endParaRPr lang="ar-SA" sz="1700" dirty="0"/>
          </a:p>
        </p:txBody>
      </p:sp>
      <p:sp>
        <p:nvSpPr>
          <p:cNvPr id="43"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مَرْحَبًا</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مَسَاءُ النُّورِ</a:t>
            </a:r>
            <a:pPr algn="l" indent="0" marL="0">
              <a:buNone/>
            </a:pPr>
            <a:r>
              <a:rPr lang="en-US" sz="1050" i="1" dirty="0">
                <a:solidFill>
                  <a:srgbClr val="8A6D1E"/>
                </a:solidFill>
                <a:latin typeface="Calibri" pitchFamily="34" charset="0"/>
                <a:ea typeface="Calibri" pitchFamily="34" charset="-122"/>
                <a:cs typeface="Calibri" pitchFamily="34" charset="-120"/>
              </a:rPr>
              <a:t> keeps the evening pair.</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ea typeface="Calibri" pitchFamily="34" charset="-122"/>
                <a:cs typeface="Calibri" pitchFamily="34" charset="-120"/>
              </a:rPr>
              <a:t>A classmate says “hello”. Choose a simple natural return.</a:t>
            </a:r>
            <a:endParaRPr lang="en-US" sz="95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مَرْحَبًا</a:t>
            </a:r>
            <a:endParaRPr lang="ar-SA" sz="2200" dirty="0"/>
          </a:p>
        </p:txBody>
      </p:sp>
      <p:sp>
        <p:nvSpPr>
          <p:cNvPr id="52" name="Shape 49"/>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49021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5" name="Text 52"/>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مَرْحَبًا</a:t>
            </a:r>
            <a:endParaRPr lang="ar-SA" sz="1700" dirty="0"/>
          </a:p>
        </p:txBody>
      </p:sp>
      <p:sp>
        <p:nvSpPr>
          <p:cNvPr id="56"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 السَّلَامَةِ</a:t>
            </a:r>
            <a:endParaRPr lang="ar-SA" sz="1700" dirty="0"/>
          </a:p>
        </p:txBody>
      </p:sp>
      <p:sp>
        <p:nvSpPr>
          <p:cNvPr id="59" name="Shape 56"/>
          <p:cNvSpPr/>
          <p:nvPr/>
        </p:nvSpPr>
        <p:spPr>
          <a:xfrm>
            <a:off x="8278368" y="323392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مَسَاءُ النُّورِ</a:t>
            </a:r>
            <a:endParaRPr lang="ar-SA" sz="170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مَرْحَبًا</a:t>
            </a:r>
            <a:pPr algn="l" indent="0" marL="0">
              <a:buNone/>
            </a:pPr>
            <a:r>
              <a:rPr lang="en-US" sz="1050" i="1" dirty="0">
                <a:solidFill>
                  <a:srgbClr val="8A6D1E"/>
                </a:solidFill>
                <a:latin typeface="Calibri" pitchFamily="34" charset="0"/>
                <a:ea typeface="Calibri" pitchFamily="34" charset="-122"/>
                <a:cs typeface="Calibri" pitchFamily="34" charset="-120"/>
              </a:rPr>
              <a:t> can be returned with the same flexible greeting.</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guest arrives. Which phrase offers a welcome?</a:t>
            </a:r>
            <a:endParaRPr lang="en-US" sz="1250" dirty="0"/>
          </a:p>
        </p:txBody>
      </p:sp>
      <p:sp>
        <p:nvSpPr>
          <p:cNvPr id="67"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شُكْرًا</a:t>
            </a:r>
            <a:endParaRPr lang="ar-SA" sz="1700" dirty="0"/>
          </a:p>
        </p:txBody>
      </p:sp>
      <p:sp>
        <p:nvSpPr>
          <p:cNvPr id="70"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 اللِّقَاءِ</a:t>
            </a:r>
            <a:endParaRPr lang="ar-SA" sz="1700" dirty="0"/>
          </a:p>
        </p:txBody>
      </p:sp>
      <p:sp>
        <p:nvSpPr>
          <p:cNvPr id="73"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أَهْلًا وَسَهْلًا</a:t>
            </a:r>
            <a:endParaRPr lang="ar-SA" sz="1700" dirty="0"/>
          </a:p>
        </p:txBody>
      </p:sp>
      <p:sp>
        <p:nvSpPr>
          <p:cNvPr id="77"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أَهْلًا وَسَهْلًا</a:t>
            </a:r>
            <a:pPr algn="l" indent="0" marL="0">
              <a:buNone/>
            </a:pPr>
            <a:r>
              <a:rPr lang="en-US" sz="1050" i="1" dirty="0">
                <a:solidFill>
                  <a:srgbClr val="8A6D1E"/>
                </a:solidFill>
                <a:latin typeface="Calibri" pitchFamily="34" charset="0"/>
                <a:ea typeface="Calibri" pitchFamily="34" charset="-122"/>
                <a:cs typeface="Calibri" pitchFamily="34" charset="-120"/>
              </a:rPr>
              <a:t> is an idiomatic welcome.</a:t>
            </a:r>
            <a:endParaRPr lang="en-US" sz="1050" dirty="0"/>
          </a:p>
        </p:txBody>
      </p:sp>
      <p:sp>
        <p:nvSpPr>
          <p:cNvPr id="78"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9"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80"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1" name="Text 7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 conversation is ending. Choose the general goodbye.</a:t>
            </a:r>
            <a:endParaRPr lang="en-US" sz="1250" dirty="0"/>
          </a:p>
        </p:txBody>
      </p:sp>
      <p:sp>
        <p:nvSpPr>
          <p:cNvPr id="82" name="Shape 79"/>
          <p:cNvSpPr/>
          <p:nvPr/>
        </p:nvSpPr>
        <p:spPr>
          <a:xfrm>
            <a:off x="4459224" y="4831080"/>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كَيْفَ حَالُكِ؟</a:t>
            </a:r>
            <a:endParaRPr lang="ar-SA" sz="170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أَهْلًا وَسَهْلًا</a:t>
            </a:r>
            <a:endParaRPr lang="ar-SA" sz="1700" dirty="0"/>
          </a:p>
        </p:txBody>
      </p:sp>
      <p:sp>
        <p:nvSpPr>
          <p:cNvPr id="88" name="Shape 85"/>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9" name="Shape 86"/>
          <p:cNvSpPr/>
          <p:nvPr/>
        </p:nvSpPr>
        <p:spPr>
          <a:xfrm>
            <a:off x="4459224" y="5574792"/>
            <a:ext cx="256032" cy="256032"/>
          </a:xfrm>
          <a:prstGeom prst="ellipse">
            <a:avLst/>
          </a:prstGeom>
          <a:solidFill>
            <a:srgbClr val="2E8B57"/>
          </a:solidFill>
          <a:ln w="12700">
            <a:solidFill>
              <a:srgbClr val="2E8B57"/>
            </a:solidFill>
            <a:prstDash val="solid"/>
          </a:ln>
        </p:spPr>
      </p:sp>
      <p:sp>
        <p:nvSpPr>
          <p:cNvPr id="90"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91"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 السَّلَامَةِ</a:t>
            </a:r>
            <a:endParaRPr lang="ar-SA" sz="1700" dirty="0"/>
          </a:p>
        </p:txBody>
      </p:sp>
      <p:sp>
        <p:nvSpPr>
          <p:cNvPr id="92"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مَعَ السَّلَامَةِ</a:t>
            </a:r>
            <a:pPr algn="l" indent="0" marL="0">
              <a:buNone/>
            </a:pPr>
            <a:r>
              <a:rPr lang="en-US" sz="1050" i="1" dirty="0">
                <a:solidFill>
                  <a:srgbClr val="8A6D1E"/>
                </a:solidFill>
                <a:latin typeface="Calibri" pitchFamily="34" charset="0"/>
                <a:ea typeface="Calibri" pitchFamily="34" charset="-122"/>
                <a:cs typeface="Calibri" pitchFamily="34" charset="-120"/>
              </a:rPr>
              <a:t> is a general, polite goodbye.</a:t>
            </a:r>
            <a:endParaRPr lang="en-US" sz="1050" dirty="0"/>
          </a:p>
        </p:txBody>
      </p:sp>
      <p:sp>
        <p:nvSpPr>
          <p:cNvPr id="93" name="Shape 90"/>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Find the PAIR.</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Morning → the morning reply.</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Hello → hello.</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A guest → a welcome.</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Ahmad and Sara meet in the morning</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of day is it?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morning</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evening</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night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Sara reply to the first line?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مَسَاءُ النُّورِ</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وَعَلَيْكُمُ السَّلَامُ</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صَبَاحُ النُّورِ</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question does Ahmad ask Sara?</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حَالُكَ؟</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اسْمُكِ؟</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حَالُكِ؟</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Sara?</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fine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tired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ill</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shows Sara returns the question to Ahmad?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وَأَنْتِ؟</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وَأَنْتَ؟</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شُكْرًا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Core: questions 1, 3 and 4.</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morning · the -ki ending · fine.</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F2-L01</a:t>
            </a:r>
            <a:endParaRPr lang="en-US" sz="850" dirty="0"/>
          </a:p>
        </p:txBody>
      </p:sp>
      <p:sp>
        <p:nvSpPr>
          <p:cNvPr id="15" name="Shape 12"/>
          <p:cNvSpPr/>
          <p:nvPr/>
        </p:nvSpPr>
        <p:spPr>
          <a:xfrm>
            <a:off x="457200" y="1810512"/>
            <a:ext cx="11274552" cy="579991"/>
          </a:xfrm>
          <a:prstGeom prst="roundRect">
            <a:avLst>
              <a:gd name="adj" fmla="val 7883"/>
            </a:avLst>
          </a:prstGeom>
          <a:solidFill>
            <a:srgbClr val="FFFFFF"/>
          </a:solidFill>
          <a:ln w="9525">
            <a:solidFill>
              <a:srgbClr val="D8D0BF"/>
            </a:solidFill>
            <a:prstDash val="solid"/>
          </a:ln>
        </p:spPr>
      </p:sp>
      <p:sp>
        <p:nvSpPr>
          <p:cNvPr id="16" name="Text 13"/>
          <p:cNvSpPr txBox="1"/>
          <p:nvPr/>
        </p:nvSpPr>
        <p:spPr>
          <a:xfrm>
            <a:off x="4937760" y="1828800"/>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أَحْمَدُ: صَبَاحُ الخَيْرِ يَا سَارَةُ.</a:t>
            </a:r>
            <a:endParaRPr lang="ar-SA" sz="2000" dirty="0"/>
          </a:p>
        </p:txBody>
      </p:sp>
      <p:sp>
        <p:nvSpPr>
          <p:cNvPr id="17" name="Text 14"/>
          <p:cNvSpPr txBox="1"/>
          <p:nvPr/>
        </p:nvSpPr>
        <p:spPr>
          <a:xfrm>
            <a:off x="640080" y="1828800"/>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Good morning, Sara.</a:t>
            </a:r>
            <a:endParaRPr lang="en-US" sz="1250" dirty="0"/>
          </a:p>
        </p:txBody>
      </p:sp>
      <p:sp>
        <p:nvSpPr>
          <p:cNvPr id="18" name="Shape 15"/>
          <p:cNvSpPr/>
          <p:nvPr/>
        </p:nvSpPr>
        <p:spPr>
          <a:xfrm>
            <a:off x="457200" y="2463655"/>
            <a:ext cx="11274552" cy="579991"/>
          </a:xfrm>
          <a:prstGeom prst="roundRect">
            <a:avLst>
              <a:gd name="adj" fmla="val 7883"/>
            </a:avLst>
          </a:prstGeom>
          <a:solidFill>
            <a:srgbClr val="F4F1EA"/>
          </a:solidFill>
          <a:ln w="9525">
            <a:solidFill>
              <a:srgbClr val="D8D0BF"/>
            </a:solidFill>
            <a:prstDash val="solid"/>
          </a:ln>
        </p:spPr>
      </p:sp>
      <p:sp>
        <p:nvSpPr>
          <p:cNvPr id="19" name="Text 16"/>
          <p:cNvSpPr txBox="1"/>
          <p:nvPr/>
        </p:nvSpPr>
        <p:spPr>
          <a:xfrm>
            <a:off x="4937760" y="2481943"/>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سَارَةُ: صَبَاحُ النُّورِ يَا أَحْمَدُ.</a:t>
            </a:r>
            <a:endParaRPr lang="ar-SA" sz="2000" dirty="0"/>
          </a:p>
        </p:txBody>
      </p:sp>
      <p:sp>
        <p:nvSpPr>
          <p:cNvPr id="20" name="Text 17"/>
          <p:cNvSpPr txBox="1"/>
          <p:nvPr/>
        </p:nvSpPr>
        <p:spPr>
          <a:xfrm>
            <a:off x="640080" y="2481943"/>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Good morning, Ahmad.</a:t>
            </a:r>
            <a:endParaRPr lang="en-US" sz="1250" dirty="0"/>
          </a:p>
        </p:txBody>
      </p:sp>
      <p:sp>
        <p:nvSpPr>
          <p:cNvPr id="21" name="Shape 18"/>
          <p:cNvSpPr/>
          <p:nvPr/>
        </p:nvSpPr>
        <p:spPr>
          <a:xfrm>
            <a:off x="457200" y="3116798"/>
            <a:ext cx="11274552" cy="579991"/>
          </a:xfrm>
          <a:prstGeom prst="roundRect">
            <a:avLst>
              <a:gd name="adj" fmla="val 7883"/>
            </a:avLst>
          </a:prstGeom>
          <a:solidFill>
            <a:srgbClr val="FFFFFF"/>
          </a:solidFill>
          <a:ln w="9525">
            <a:solidFill>
              <a:srgbClr val="D8D0BF"/>
            </a:solidFill>
            <a:prstDash val="solid"/>
          </a:ln>
        </p:spPr>
      </p:sp>
      <p:sp>
        <p:nvSpPr>
          <p:cNvPr id="22" name="Text 19"/>
          <p:cNvSpPr txBox="1"/>
          <p:nvPr/>
        </p:nvSpPr>
        <p:spPr>
          <a:xfrm>
            <a:off x="4937760" y="3135086"/>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أَحْمَدُ: كَيْفَ حَالُكِ؟</a:t>
            </a:r>
            <a:endParaRPr lang="ar-SA" sz="2000" dirty="0"/>
          </a:p>
        </p:txBody>
      </p:sp>
      <p:sp>
        <p:nvSpPr>
          <p:cNvPr id="23" name="Text 20"/>
          <p:cNvSpPr txBox="1"/>
          <p:nvPr/>
        </p:nvSpPr>
        <p:spPr>
          <a:xfrm>
            <a:off x="640080" y="3135086"/>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How are you? (to a girl)</a:t>
            </a:r>
            <a:endParaRPr lang="en-US" sz="1250" dirty="0"/>
          </a:p>
        </p:txBody>
      </p:sp>
      <p:sp>
        <p:nvSpPr>
          <p:cNvPr id="24" name="Shape 21"/>
          <p:cNvSpPr/>
          <p:nvPr/>
        </p:nvSpPr>
        <p:spPr>
          <a:xfrm>
            <a:off x="457200" y="3769941"/>
            <a:ext cx="11274552" cy="579991"/>
          </a:xfrm>
          <a:prstGeom prst="roundRect">
            <a:avLst>
              <a:gd name="adj" fmla="val 7883"/>
            </a:avLst>
          </a:prstGeom>
          <a:solidFill>
            <a:srgbClr val="F4F1EA"/>
          </a:solidFill>
          <a:ln w="9525">
            <a:solidFill>
              <a:srgbClr val="D8D0BF"/>
            </a:solidFill>
            <a:prstDash val="solid"/>
          </a:ln>
        </p:spPr>
      </p:sp>
      <p:sp>
        <p:nvSpPr>
          <p:cNvPr id="25" name="Text 22"/>
          <p:cNvSpPr txBox="1"/>
          <p:nvPr/>
        </p:nvSpPr>
        <p:spPr>
          <a:xfrm>
            <a:off x="4937760" y="3788229"/>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سَارَةُ: بِخَيْرٍ، الحَمْدُ لِلَّهِ. وَأَنْتَ؟</a:t>
            </a:r>
            <a:endParaRPr lang="ar-SA" sz="2000" dirty="0"/>
          </a:p>
        </p:txBody>
      </p:sp>
      <p:sp>
        <p:nvSpPr>
          <p:cNvPr id="26" name="Text 23"/>
          <p:cNvSpPr txBox="1"/>
          <p:nvPr/>
        </p:nvSpPr>
        <p:spPr>
          <a:xfrm>
            <a:off x="640080" y="3788229"/>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Fine, praise be to God. And you?</a:t>
            </a:r>
            <a:endParaRPr lang="en-US" sz="1250" dirty="0"/>
          </a:p>
        </p:txBody>
      </p:sp>
      <p:sp>
        <p:nvSpPr>
          <p:cNvPr id="27" name="Shape 24"/>
          <p:cNvSpPr/>
          <p:nvPr/>
        </p:nvSpPr>
        <p:spPr>
          <a:xfrm>
            <a:off x="457200" y="4423083"/>
            <a:ext cx="11274552" cy="579991"/>
          </a:xfrm>
          <a:prstGeom prst="roundRect">
            <a:avLst>
              <a:gd name="adj" fmla="val 7883"/>
            </a:avLst>
          </a:prstGeom>
          <a:solidFill>
            <a:srgbClr val="FFFFFF"/>
          </a:solidFill>
          <a:ln w="9525">
            <a:solidFill>
              <a:srgbClr val="D8D0BF"/>
            </a:solidFill>
            <a:prstDash val="solid"/>
          </a:ln>
        </p:spPr>
      </p:sp>
      <p:sp>
        <p:nvSpPr>
          <p:cNvPr id="28" name="Text 25"/>
          <p:cNvSpPr txBox="1"/>
          <p:nvPr/>
        </p:nvSpPr>
        <p:spPr>
          <a:xfrm>
            <a:off x="4937760" y="4441371"/>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أَحْمَدُ: بِخَيْرٍ، شُكْرًا.</a:t>
            </a:r>
            <a:endParaRPr lang="ar-SA" sz="2000" dirty="0"/>
          </a:p>
        </p:txBody>
      </p:sp>
      <p:sp>
        <p:nvSpPr>
          <p:cNvPr id="29" name="Text 26"/>
          <p:cNvSpPr txBox="1"/>
          <p:nvPr/>
        </p:nvSpPr>
        <p:spPr>
          <a:xfrm>
            <a:off x="640080" y="4441371"/>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Fine, thank you.</a:t>
            </a:r>
            <a:endParaRPr lang="en-US" sz="1250" dirty="0"/>
          </a:p>
        </p:txBody>
      </p:sp>
      <p:sp>
        <p:nvSpPr>
          <p:cNvPr id="30" name="Shape 27"/>
          <p:cNvSpPr/>
          <p:nvPr/>
        </p:nvSpPr>
        <p:spPr>
          <a:xfrm>
            <a:off x="457200" y="5076226"/>
            <a:ext cx="11274552" cy="579991"/>
          </a:xfrm>
          <a:prstGeom prst="roundRect">
            <a:avLst>
              <a:gd name="adj" fmla="val 7883"/>
            </a:avLst>
          </a:prstGeom>
          <a:solidFill>
            <a:srgbClr val="F4F1EA"/>
          </a:solidFill>
          <a:ln w="9525">
            <a:solidFill>
              <a:srgbClr val="D8D0BF"/>
            </a:solidFill>
            <a:prstDash val="solid"/>
          </a:ln>
        </p:spPr>
      </p:sp>
      <p:sp>
        <p:nvSpPr>
          <p:cNvPr id="31" name="Text 28"/>
          <p:cNvSpPr txBox="1"/>
          <p:nvPr/>
        </p:nvSpPr>
        <p:spPr>
          <a:xfrm>
            <a:off x="4937760" y="5094514"/>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سَارَةُ: إِلَى اللِّقَاءِ.</a:t>
            </a:r>
            <a:endParaRPr lang="ar-SA" sz="2000" dirty="0"/>
          </a:p>
        </p:txBody>
      </p:sp>
      <p:sp>
        <p:nvSpPr>
          <p:cNvPr id="32" name="Text 29"/>
          <p:cNvSpPr txBox="1"/>
          <p:nvPr/>
        </p:nvSpPr>
        <p:spPr>
          <a:xfrm>
            <a:off x="640080" y="5094514"/>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See you later.</a:t>
            </a:r>
            <a:endParaRPr lang="en-US" sz="1250" dirty="0"/>
          </a:p>
        </p:txBody>
      </p:sp>
      <p:sp>
        <p:nvSpPr>
          <p:cNvPr id="33" name="Shape 30"/>
          <p:cNvSpPr/>
          <p:nvPr/>
        </p:nvSpPr>
        <p:spPr>
          <a:xfrm>
            <a:off x="457200" y="5729369"/>
            <a:ext cx="11274552" cy="579991"/>
          </a:xfrm>
          <a:prstGeom prst="roundRect">
            <a:avLst>
              <a:gd name="adj" fmla="val 7883"/>
            </a:avLst>
          </a:prstGeom>
          <a:solidFill>
            <a:srgbClr val="FFFFFF"/>
          </a:solidFill>
          <a:ln w="9525">
            <a:solidFill>
              <a:srgbClr val="D8D0BF"/>
            </a:solidFill>
            <a:prstDash val="solid"/>
          </a:ln>
        </p:spPr>
      </p:sp>
      <p:sp>
        <p:nvSpPr>
          <p:cNvPr id="34" name="Text 31"/>
          <p:cNvSpPr txBox="1"/>
          <p:nvPr/>
        </p:nvSpPr>
        <p:spPr>
          <a:xfrm>
            <a:off x="4937760" y="5747657"/>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أَحْمَدُ: مَعَ السَّلَامَةِ.</a:t>
            </a:r>
            <a:endParaRPr lang="ar-SA" sz="2000" dirty="0"/>
          </a:p>
        </p:txBody>
      </p:sp>
      <p:sp>
        <p:nvSpPr>
          <p:cNvPr id="35" name="Text 32"/>
          <p:cNvSpPr txBox="1"/>
          <p:nvPr/>
        </p:nvSpPr>
        <p:spPr>
          <a:xfrm>
            <a:off x="640080" y="5747657"/>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Goodbye.</a:t>
            </a:r>
            <a:endParaRPr lang="en-US" sz="12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of day is it?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morning</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evening</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night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صَبَاحُ الخَيْرِ</a:t>
            </a:r>
            <a:pPr algn="l" indent="0" marL="0">
              <a:buNone/>
            </a:pPr>
            <a:r>
              <a:rPr lang="en-US" sz="1050" i="1" dirty="0">
                <a:solidFill>
                  <a:srgbClr val="8A6D1E"/>
                </a:solidFill>
                <a:latin typeface="Calibri" pitchFamily="34" charset="0"/>
                <a:ea typeface="Calibri" pitchFamily="34" charset="-122"/>
                <a:cs typeface="Calibri" pitchFamily="34" charset="-120"/>
              </a:rPr>
              <a:t> = good morning.</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Sara reply to the first line?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مَسَاءُ النُّورِ</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وَعَلَيْكُمُ السَّلَامُ</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صَبَاحُ النُّورِ</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paired morning reply.</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question does Ahmad ask Sara?</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كَيْفَ حَالُكَ؟</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 اسْمُكِ؟</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كَيْفَ حَالُكِ؟</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Sara is female: -ki.</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Sara?</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fine</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tired</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ill</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بِخَيْرٍ</a:t>
            </a:r>
            <a:pPr algn="l" indent="0" marL="0">
              <a:buNone/>
            </a:pPr>
            <a:r>
              <a:rPr lang="en-US" sz="1050" i="1" dirty="0">
                <a:solidFill>
                  <a:srgbClr val="8A6D1E"/>
                </a:solidFill>
                <a:latin typeface="Calibri" pitchFamily="34" charset="0"/>
                <a:ea typeface="Calibri" pitchFamily="34" charset="-122"/>
                <a:cs typeface="Calibri" pitchFamily="34" charset="-120"/>
              </a:rPr>
              <a:t> = fine.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shows Sara returns the question to Ahmad?</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وَأَنْتِ؟</a:t>
            </a:r>
            <a:endParaRPr lang="ar-SA" sz="170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وَأَنْتَ؟</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شُكْرًا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Ahmad is male: </a:t>
            </a:r>
            <a:pPr algn="l" indent="0" marL="0">
              <a:buNone/>
            </a:pPr>
            <a:r>
              <a:rPr lang="ar-SA" altLang="en-US" sz="1350" dirty="0">
                <a:solidFill>
                  <a:srgbClr val="8A6D1E"/>
                </a:solidFill>
                <a:latin typeface="Amiri" pitchFamily="34" charset="0"/>
                <a:ea typeface="Amiri" pitchFamily="34" charset="-122"/>
                <a:cs typeface="Amiri" pitchFamily="34" charset="-120"/>
              </a:rPr>
              <a:t>وَأَنْتَ؟</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Core: questions 1, 3 and 4.</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morning · the -ki ending · fine.</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 THE MOVES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Open, check in or close?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F2-L01</a:t>
            </a:r>
            <a:endParaRPr lang="en-US" sz="850" dirty="0"/>
          </a:p>
        </p:txBody>
      </p:sp>
      <p:sp>
        <p:nvSpPr>
          <p:cNvPr id="17" name="Shape 14"/>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مَرْحَبًا</a:t>
            </a:r>
            <a:endParaRPr lang="ar-SA" sz="1800" dirty="0"/>
          </a:p>
        </p:txBody>
      </p:sp>
      <p:sp>
        <p:nvSpPr>
          <p:cNvPr id="19" name="Shape 16"/>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بِخَيْرٍ</a:t>
            </a:r>
            <a:endParaRPr lang="ar-SA" sz="1800" dirty="0"/>
          </a:p>
        </p:txBody>
      </p:sp>
      <p:sp>
        <p:nvSpPr>
          <p:cNvPr id="21" name="Shape 18"/>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مَعَ السَّلَامَةِ</a:t>
            </a:r>
            <a:endParaRPr lang="ar-SA" sz="1800" dirty="0"/>
          </a:p>
        </p:txBody>
      </p:sp>
      <p:sp>
        <p:nvSpPr>
          <p:cNvPr id="23" name="Shape 20"/>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صَبَاحُ النُّورِ</a:t>
            </a:r>
            <a:endParaRPr lang="ar-SA" sz="1800" dirty="0"/>
          </a:p>
        </p:txBody>
      </p:sp>
      <p:sp>
        <p:nvSpPr>
          <p:cNvPr id="25" name="Shape 22"/>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كَيْفَ حَالُكَ؟</a:t>
            </a:r>
            <a:endParaRPr lang="ar-SA" sz="1800" dirty="0"/>
          </a:p>
        </p:txBody>
      </p:sp>
      <p:sp>
        <p:nvSpPr>
          <p:cNvPr id="27" name="Shape 24"/>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إِلَى اللِّقَاءِ</a:t>
            </a:r>
            <a:endParaRPr lang="ar-SA" sz="1800" dirty="0"/>
          </a:p>
        </p:txBody>
      </p:sp>
      <p:sp>
        <p:nvSpPr>
          <p:cNvPr id="29" name="Shape 26"/>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أَهْلًا وَسَهْلًا</a:t>
            </a:r>
            <a:endParaRPr lang="ar-SA" sz="1800" dirty="0"/>
          </a:p>
        </p:txBody>
      </p:sp>
      <p:sp>
        <p:nvSpPr>
          <p:cNvPr id="31" name="Shape 28"/>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وَأَنْتِ؟</a:t>
            </a:r>
            <a:endParaRPr lang="ar-SA" sz="1800" dirty="0"/>
          </a:p>
        </p:txBody>
      </p:sp>
      <p:sp>
        <p:nvSpPr>
          <p:cNvPr id="33" name="Shape 30"/>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وَعَلَيْكُمُ السَّلَامُ</a:t>
            </a:r>
            <a:endParaRPr lang="ar-SA" sz="1800" dirty="0"/>
          </a:p>
        </p:txBody>
      </p:sp>
      <p:sp>
        <p:nvSpPr>
          <p:cNvPr id="35" name="Shape 32"/>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6" name="Shape 33"/>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Open or reply</a:t>
            </a:r>
            <a:endParaRPr lang="en-US" sz="950" dirty="0"/>
          </a:p>
        </p:txBody>
      </p:sp>
      <p:sp>
        <p:nvSpPr>
          <p:cNvPr id="38" name="Shape 35"/>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9" name="Shape 36"/>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40" name="Text 37"/>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Check in or answer</a:t>
            </a:r>
            <a:endParaRPr lang="en-US" sz="950" dirty="0"/>
          </a:p>
        </p:txBody>
      </p:sp>
      <p:sp>
        <p:nvSpPr>
          <p:cNvPr id="41" name="Shape 38"/>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2" name="Shape 39"/>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3" name="Text 40"/>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Close</a:t>
            </a:r>
            <a:endParaRPr lang="en-US" sz="9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F2-L01</a:t>
            </a:r>
            <a:endParaRPr lang="en-US" sz="850" dirty="0"/>
          </a:p>
        </p:txBody>
      </p:sp>
      <p:sp>
        <p:nvSpPr>
          <p:cNvPr id="17" name="Shape 14"/>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8" name="Shape 15"/>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9" name="Text 16"/>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Open or reply</a:t>
            </a:r>
            <a:endParaRPr lang="en-US" sz="950" dirty="0"/>
          </a:p>
        </p:txBody>
      </p:sp>
      <p:sp>
        <p:nvSpPr>
          <p:cNvPr id="20" name="Shape 17"/>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مَرْحَبًا</a:t>
            </a:r>
            <a:endParaRPr lang="ar-SA" sz="1800" dirty="0"/>
          </a:p>
        </p:txBody>
      </p:sp>
      <p:sp>
        <p:nvSpPr>
          <p:cNvPr id="22" name="Shape 19"/>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صَبَاحُ النُّورِ</a:t>
            </a:r>
            <a:endParaRPr lang="ar-SA" sz="1800" dirty="0"/>
          </a:p>
        </p:txBody>
      </p:sp>
      <p:sp>
        <p:nvSpPr>
          <p:cNvPr id="24" name="Shape 21"/>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أَهْلًا وَسَهْلًا</a:t>
            </a:r>
            <a:endParaRPr lang="ar-SA" sz="1800" dirty="0"/>
          </a:p>
        </p:txBody>
      </p:sp>
      <p:sp>
        <p:nvSpPr>
          <p:cNvPr id="26" name="Shape 23"/>
          <p:cNvSpPr/>
          <p:nvPr/>
        </p:nvSpPr>
        <p:spPr>
          <a:xfrm>
            <a:off x="8232648" y="3913632"/>
            <a:ext cx="3361944" cy="438912"/>
          </a:xfrm>
          <a:prstGeom prst="roundRect">
            <a:avLst>
              <a:gd name="adj" fmla="val 12500"/>
            </a:avLst>
          </a:prstGeom>
          <a:solidFill>
            <a:srgbClr val="FFF4DC"/>
          </a:solidFill>
          <a:ln w="9525">
            <a:solidFill>
              <a:srgbClr val="E6C98A"/>
            </a:solidFill>
            <a:prstDash val="solid"/>
          </a:ln>
        </p:spPr>
      </p:sp>
      <p:sp>
        <p:nvSpPr>
          <p:cNvPr id="27" name="Text 24"/>
          <p:cNvSpPr txBox="1"/>
          <p:nvPr/>
        </p:nvSpPr>
        <p:spPr>
          <a:xfrm>
            <a:off x="8324088" y="3913632"/>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وَعَلَيْكُمُ السَّلَامُ</a:t>
            </a:r>
            <a:endParaRPr lang="ar-SA" sz="1800" dirty="0"/>
          </a:p>
        </p:txBody>
      </p:sp>
      <p:sp>
        <p:nvSpPr>
          <p:cNvPr id="28" name="Shape 25"/>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9" name="Shape 26"/>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30" name="Text 27"/>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Check in or answer</a:t>
            </a:r>
            <a:endParaRPr lang="en-US" sz="950" dirty="0"/>
          </a:p>
        </p:txBody>
      </p:sp>
      <p:sp>
        <p:nvSpPr>
          <p:cNvPr id="31" name="Shape 28"/>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بِخَيْرٍ</a:t>
            </a:r>
            <a:endParaRPr lang="ar-SA" sz="1800" dirty="0"/>
          </a:p>
        </p:txBody>
      </p:sp>
      <p:sp>
        <p:nvSpPr>
          <p:cNvPr id="33" name="Shape 30"/>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كَيْفَ حَالُكَ؟</a:t>
            </a:r>
            <a:endParaRPr lang="ar-SA" sz="1800" dirty="0"/>
          </a:p>
        </p:txBody>
      </p:sp>
      <p:sp>
        <p:nvSpPr>
          <p:cNvPr id="35" name="Shape 32"/>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وَأَنْتِ؟</a:t>
            </a:r>
            <a:endParaRPr lang="ar-SA" sz="1800" dirty="0"/>
          </a:p>
        </p:txBody>
      </p:sp>
      <p:sp>
        <p:nvSpPr>
          <p:cNvPr id="37" name="Shape 34"/>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8" name="Shape 35"/>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Close</a:t>
            </a:r>
            <a:endParaRPr lang="en-US" sz="950" dirty="0"/>
          </a:p>
        </p:txBody>
      </p:sp>
      <p:sp>
        <p:nvSpPr>
          <p:cNvPr id="40" name="Shape 37"/>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مَعَ السَّلَامَةِ</a:t>
            </a:r>
            <a:endParaRPr lang="ar-SA" sz="1800" dirty="0"/>
          </a:p>
        </p:txBody>
      </p:sp>
      <p:sp>
        <p:nvSpPr>
          <p:cNvPr id="42" name="Shape 39"/>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43" name="Text 40"/>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إِلَى اللِّقَاءِ</a:t>
            </a:r>
            <a:endParaRPr lang="ar-SA"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أَحْمَدُ ← كَيْفَ حَالُكِ؟</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Ahmad is a boy. Look at the last vowel.</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صَبَاحُ الخَيْرِ ← مَسَاءُ النُّورِ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It is morning. Which reply matches?</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كَيْفَ حَالُكَ؟ ← أَهْلًا وَسَهْلًا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Answer the question you heard.</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أَحْمَدُ ← كَيْفَ حَالُكِ؟</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أَحْمَدُ ← كَيْفَ حَالُكَ؟</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Ahmad is one male: the question ends in -ka (fatḥa).</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صَبَاحُ الخَيْرِ ← مَسَاءُ النُّورِ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صَبَاحُ الخَيْرِ ← صَبَاحُ النُّورِ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Keep the pair: a morning greeting gets the morning reply.</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كَيْفَ حَالُكَ؟ ← أَهْلًا وَسَهْلًا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كَيْفَ حَالُكَ؟ ← بِخَيْرٍ، الحَمْدُ لِلَّهِ</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Answer the question you heard: give how you are.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Four-Move Mingle Mission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السَّلَامُ عَلَيْكُمْ! كَيْفَ حَالُكَ؟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صَبَاحُ الخَيْرِ! كَيْفَ حَالُكِ؟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مَسَاءُ الخَيْرِ! كَيْفَ حَالُكَ؟</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السَّلَامُ عَلَيْكُمْ وَرَحْمَةُ اللَّهِ وَبَرَكَاتُهُ</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وَعَلَيْكُمُ السَّلَامُ. بِخَيْرٍ، شُكْرًا.</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صَبَاحُ النُّورِ. بِخَيْرٍ، الحَمْدُ لِلَّهِ. وَأَنْتَ؟</a:t>
            </a:r>
            <a:endParaRPr lang="ar-SA" sz="155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وَعَلَيْكُمُ السَّلَامُ وَرَحْمَةُ اللَّهِ وَبَرَكَاتُهُ …</a:t>
            </a:r>
            <a:endParaRPr lang="ar-SA" sz="155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إِلَى اللِّقَاءِ! مَعَ السَّلَامَةِ!</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Calibri" pitchFamily="34" charset="-122"/>
                <a:cs typeface="Calibri" pitchFamily="34" charset="-120"/>
              </a:rPr>
              <a:t>أَحْمَدُ</a:t>
            </a:r>
            <a:endParaRPr lang="ar-SA"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صَبَاحُ الخَيْرِ يَا سَارَةُ.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Good morning, Sara.</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Calibri" pitchFamily="34" charset="-122"/>
                <a:cs typeface="Calibri" pitchFamily="34" charset="-120"/>
              </a:rPr>
              <a:t>سَارَةُ</a:t>
            </a:r>
            <a:endParaRPr lang="ar-SA"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صَبَاحُ النُّورِ يَا أَحْمَدُ.</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Good morning, Ahmad.</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4 lines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Four lines: open, reply, ask how, answer — copy the pairs from the phrase map.</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Copy the pairs from the frames: open → reply → how are you? → fine.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 lines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The full six-line dialogue with a correct -ka or -ki question.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The website homework dialogue: every line answers the one before; -ka / -ki correct.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6–8 lines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 6–8 line dialogue using the extended greeting, without transliteration.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Use the extended greeting; no transliteration; both a morning and a closing pair.</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صَبَاحُ الخَيْرِ يَا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Good morning,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صَبَاحُ ______ يَا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Good morning (reply),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حَالُـ 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How are you? (to a girl)</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بِخَيْرٍ، الحَمْدُ لِلَّهِ. وَ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Fine, praise be to God. And you?</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إِلَى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See you later.</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السَّلَامُ عَلَيْكُمْ.</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 Peace be upon you.</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وَعَلَيْكُمُ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 And upon you be peace.</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 How are you? (to a boy)</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 شُكْرًا.</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 Fine, thank you.</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مَعَ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 Goodbye.</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السَّلَامُ  ·  حَالُكَ  ·  حَالُكِ  ·  بِخَيْرٍ  ·  النُّورِ  ·  الخَيْرِ  ·  السَّلَامَةِ  ·  اللِّقَاءِ  ·  أَنْتَ  ·  أَنْتِ  ·  شُكْرًا  ·  مَرْحَبًا</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Website homework: write a six-line imaginary dialogue between two speakers. Use at least four phrases from today, and make every line respond to the one before it.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time-suitable opening and its paired reply.</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The “how are you?” question matched to the listener (-ka or -ki).</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short answer, and the question returned.</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polite closing.</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السَّلَامُ عَلَيْكُمْ وَرَحْمَةُ اللَّهِ وَبَرَكَاتُهُ</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peace be upon you, and the mercy of God and His blessings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وَعَلَيْكُمُ السَّلَامُ وَرَحْمَةُ اللَّهِ وَبَرَكَاتُهُ</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full reply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أَهْلًا وَسَهْلًا</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welcome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الحَالُ؟</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how are things? (no gender ending)</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مَسَاءُ الخَيْرِ ← مَسَاءُ النُّورِ</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evening pair</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34" charset="0"/>
                <a:ea typeface="Amiri" pitchFamily="34" charset="-122"/>
                <a:cs typeface="Amiri" pitchFamily="34" charset="-120"/>
              </a:rPr>
              <a:t>أَحْمَدُ: صَبَاحُ الخَيْرِ يَا سَارَةُ.</a:t>
            </a:r>
            <a:endParaRPr lang="ar-SA" sz="1650" dirty="0"/>
          </a:p>
          <a:p>
            <a:pPr rtl="1" algn="r" indent="0" marL="0">
              <a:lnSpc>
                <a:spcPct val="120000"/>
              </a:lnSpc>
              <a:buNone/>
            </a:pPr>
            <a:r>
              <a:rPr lang="ar-SA" altLang="en-US" sz="1650" dirty="0">
                <a:solidFill>
                  <a:srgbClr val="1F2A37"/>
                </a:solidFill>
                <a:latin typeface="Amiri" pitchFamily="34" charset="0"/>
                <a:ea typeface="Amiri" pitchFamily="34" charset="-122"/>
                <a:cs typeface="Amiri" pitchFamily="34" charset="-120"/>
              </a:rPr>
              <a:t>سَارَةُ: صَبَاحُ النُّورِ يَا أَحْمَدُ.</a:t>
            </a:r>
            <a:endParaRPr lang="ar-SA" sz="1650" dirty="0"/>
          </a:p>
          <a:p>
            <a:pPr rtl="1" algn="r" indent="0" marL="0">
              <a:lnSpc>
                <a:spcPct val="120000"/>
              </a:lnSpc>
              <a:buNone/>
            </a:pPr>
            <a:r>
              <a:rPr lang="ar-SA" altLang="en-US" sz="1650" dirty="0">
                <a:solidFill>
                  <a:srgbClr val="1F2A37"/>
                </a:solidFill>
                <a:latin typeface="Amiri" pitchFamily="34" charset="0"/>
                <a:ea typeface="Amiri" pitchFamily="34" charset="-122"/>
                <a:cs typeface="Amiri" pitchFamily="34" charset="-120"/>
              </a:rPr>
              <a:t>أَحْمَدُ: كَيْفَ حَالُكِ؟</a:t>
            </a:r>
            <a:endParaRPr lang="ar-SA" sz="1650" dirty="0"/>
          </a:p>
          <a:p>
            <a:pPr rtl="1" algn="r" indent="0" marL="0">
              <a:lnSpc>
                <a:spcPct val="120000"/>
              </a:lnSpc>
              <a:buNone/>
            </a:pPr>
            <a:r>
              <a:rPr lang="ar-SA" altLang="en-US" sz="1650" dirty="0">
                <a:solidFill>
                  <a:srgbClr val="1F2A37"/>
                </a:solidFill>
                <a:latin typeface="Amiri" pitchFamily="34" charset="0"/>
                <a:ea typeface="Amiri" pitchFamily="34" charset="-122"/>
                <a:cs typeface="Amiri" pitchFamily="34" charset="-120"/>
              </a:rPr>
              <a:t>سَارَةُ: بِخَيْرٍ، الحَمْدُ لِلَّهِ. وَأَنْتَ؟</a:t>
            </a:r>
            <a:endParaRPr lang="ar-SA" sz="1650" dirty="0"/>
          </a:p>
          <a:p>
            <a:pPr rtl="1" algn="r" indent="0" marL="0">
              <a:lnSpc>
                <a:spcPct val="120000"/>
              </a:lnSpc>
              <a:buNone/>
            </a:pPr>
            <a:r>
              <a:rPr lang="ar-SA" altLang="en-US" sz="1650" dirty="0">
                <a:solidFill>
                  <a:srgbClr val="1F2A37"/>
                </a:solidFill>
                <a:latin typeface="Amiri" pitchFamily="34" charset="0"/>
                <a:ea typeface="Amiri" pitchFamily="34" charset="-122"/>
                <a:cs typeface="Amiri" pitchFamily="34" charset="-120"/>
              </a:rPr>
              <a:t>أَحْمَدُ: بِخَيْرٍ، شُكْرًا.</a:t>
            </a:r>
            <a:endParaRPr lang="ar-SA" sz="1650" dirty="0"/>
          </a:p>
          <a:p>
            <a:pPr rtl="1" algn="r" indent="0" marL="0">
              <a:lnSpc>
                <a:spcPct val="120000"/>
              </a:lnSpc>
              <a:buNone/>
            </a:pPr>
            <a:r>
              <a:rPr lang="ar-SA" altLang="en-US" sz="1650" dirty="0">
                <a:solidFill>
                  <a:srgbClr val="1F2A37"/>
                </a:solidFill>
                <a:latin typeface="Amiri" pitchFamily="34" charset="0"/>
                <a:ea typeface="Amiri" pitchFamily="34" charset="-122"/>
                <a:cs typeface="Amiri" pitchFamily="34" charset="-120"/>
              </a:rPr>
              <a:t>سَارَةُ: إِلَى اللِّقَاءِ.</a:t>
            </a:r>
            <a:endParaRPr lang="ar-SA" sz="1650" dirty="0"/>
          </a:p>
          <a:p>
            <a:pPr rtl="1" algn="r" indent="0" marL="0">
              <a:lnSpc>
                <a:spcPct val="120000"/>
              </a:lnSpc>
              <a:buNone/>
            </a:pPr>
            <a:r>
              <a:rPr lang="ar-SA" altLang="en-US" sz="1650" dirty="0">
                <a:solidFill>
                  <a:srgbClr val="1F2A37"/>
                </a:solidFill>
                <a:latin typeface="Amiri" pitchFamily="34" charset="0"/>
                <a:ea typeface="Amiri" pitchFamily="34" charset="-122"/>
                <a:cs typeface="Amiri" pitchFamily="34" charset="-120"/>
              </a:rPr>
              <a:t>أَحْمَدُ: مَعَ السَّلَامَةِ.</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Ahmad: Good morning, Sara. — Sara: Good morning, Ahmad. — Ahmad: How are you? — Sara: Fine, praise be to God. And you? — Ahmad: Fine, thank you. — Sara: See you later. — Ahmad: Goodbye.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morning pair</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-ki question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“and you?” to a boy</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closings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say and answer </a:t>
            </a:r>
            <a:pPr algn="l" indent="0" marL="0">
              <a:buNone/>
            </a:pPr>
            <a:r>
              <a:rPr lang="ar-SA" altLang="en-US" sz="1700" dirty="0">
                <a:solidFill>
                  <a:srgbClr val="1F2A37"/>
                </a:solidFill>
                <a:latin typeface="Amiri" pitchFamily="34" charset="0"/>
                <a:ea typeface="Amiri" pitchFamily="34" charset="-122"/>
                <a:cs typeface="Amiri" pitchFamily="34" charset="-120"/>
              </a:rPr>
              <a:t>السَّلَامُ عَلَيْكُمْ</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answer “how are you?” with </a:t>
            </a:r>
            <a:pPr algn="l" indent="0" marL="0">
              <a:buNone/>
            </a:pPr>
            <a:r>
              <a:rPr lang="ar-SA" altLang="en-US" sz="1700" dirty="0">
                <a:solidFill>
                  <a:srgbClr val="1F2A37"/>
                </a:solidFill>
                <a:latin typeface="Amiri" pitchFamily="34" charset="0"/>
                <a:ea typeface="Amiri" pitchFamily="34" charset="-122"/>
                <a:cs typeface="Amiri" pitchFamily="34" charset="-120"/>
              </a:rPr>
              <a:t>بِخَيْرٍ</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use the morning and evening pairs.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choose </a:t>
            </a:r>
            <a:pPr algn="l" indent="0" marL="0">
              <a:buNone/>
            </a:pPr>
            <a:r>
              <a:rPr lang="ar-SA" altLang="en-US" sz="1700" dirty="0">
                <a:solidFill>
                  <a:srgbClr val="1F2A37"/>
                </a:solidFill>
                <a:latin typeface="Amiri" pitchFamily="34" charset="0"/>
                <a:ea typeface="Amiri" pitchFamily="34" charset="-122"/>
                <a:cs typeface="Amiri" pitchFamily="34" charset="-120"/>
              </a:rPr>
              <a:t>حَالُكَ</a:t>
            </a:r>
            <a:pPr algn="l" indent="0" marL="0">
              <a:buNone/>
            </a:pPr>
            <a:r>
              <a:rPr lang="en-US" sz="1300" dirty="0">
                <a:solidFill>
                  <a:srgbClr val="1F2A37"/>
                </a:solidFill>
                <a:latin typeface="Calibri" pitchFamily="34" charset="0"/>
                <a:ea typeface="Calibri" pitchFamily="34" charset="-122"/>
                <a:cs typeface="Calibri" pitchFamily="34" charset="-120"/>
              </a:rPr>
              <a:t> for a boy and </a:t>
            </a:r>
            <a:pPr algn="l" indent="0" marL="0">
              <a:buNone/>
            </a:pPr>
            <a:r>
              <a:rPr lang="ar-SA" altLang="en-US" sz="1700" dirty="0">
                <a:solidFill>
                  <a:srgbClr val="1F2A37"/>
                </a:solidFill>
                <a:latin typeface="Amiri" pitchFamily="34" charset="0"/>
                <a:ea typeface="Amiri" pitchFamily="34" charset="-122"/>
                <a:cs typeface="Amiri" pitchFamily="34" charset="-120"/>
              </a:rPr>
              <a:t>حَالُكِ</a:t>
            </a:r>
            <a:pPr algn="l" indent="0" marL="0">
              <a:buNone/>
            </a:pPr>
            <a:r>
              <a:rPr lang="en-US" sz="1300" dirty="0">
                <a:solidFill>
                  <a:srgbClr val="1F2A37"/>
                </a:solidFill>
                <a:latin typeface="Calibri" pitchFamily="34" charset="0"/>
                <a:ea typeface="Calibri" pitchFamily="34" charset="-122"/>
                <a:cs typeface="Calibri" pitchFamily="34" charset="-120"/>
              </a:rPr>
              <a:t> for a girl.</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hold a four-line exchange without reading every word.</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ea typeface="Calibri" pitchFamily="34" charset="-122"/>
                <a:cs typeface="Calibri" pitchFamily="34" charset="-120"/>
              </a:rPr>
              <a:t>Which opening most likely came immediately before?</a:t>
            </a:r>
            <a:endParaRPr lang="en-US" sz="95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صَبَاحُ النُّورِ</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صَبَاحُ الخَيْرِ</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مَسَاءُ الخَيْرِ</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 اللِّقَاءِ</a:t>
            </a:r>
            <a:endParaRPr lang="ar-SA" sz="2050" dirty="0"/>
          </a:p>
        </p:txBody>
      </p:sp>
      <p:sp>
        <p:nvSpPr>
          <p:cNvPr id="29" name="Shape 26"/>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female how she is in careful MSA.</a:t>
            </a:r>
            <a:endParaRPr lang="en-US" sz="12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حَالُكَ؟</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حَالُكِ؟</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حَالُكُمْ؟</a:t>
            </a:r>
            <a:endParaRPr lang="ar-SA" sz="2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closing most directly suggests meeting again?</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 اللِّقَاءِ</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السَّلَامَةِ</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أَهْلًا وَسَهْلًا</a:t>
            </a:r>
            <a:endParaRPr lang="ar-SA" sz="2050" dirty="0"/>
          </a:p>
        </p:txBody>
      </p:sp>
      <p:sp>
        <p:nvSpPr>
          <p:cNvPr id="55" name="Shape 52"/>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7" name="Text 54"/>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37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ea typeface="Calibri" pitchFamily="34" charset="-122"/>
                <a:cs typeface="Calibri" pitchFamily="34" charset="-120"/>
              </a:rPr>
              <a:t>Which opening most likely came immediately before?</a:t>
            </a:r>
            <a:endParaRPr lang="en-US" sz="95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صَبَاحُ النُّورِ</a:t>
            </a:r>
            <a:endParaRPr lang="ar-SA" sz="2200" dirty="0"/>
          </a:p>
        </p:txBody>
      </p:sp>
      <p:sp>
        <p:nvSpPr>
          <p:cNvPr id="20" name="Shape 17"/>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532888"/>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صَبَاحُ الخَيْرِ</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مَسَاءُ الخَيْرِ</a:t>
            </a:r>
            <a:endParaRPr lang="ar-SA" sz="2050" dirty="0"/>
          </a:p>
        </p:txBody>
      </p:sp>
      <p:sp>
        <p:nvSpPr>
          <p:cNvPr id="27" name="Shape 24"/>
          <p:cNvSpPr/>
          <p:nvPr/>
        </p:nvSpPr>
        <p:spPr>
          <a:xfrm>
            <a:off x="640080" y="344728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إِلَى اللِّقَاءِ</a:t>
            </a:r>
            <a:endParaRPr lang="ar-SA" sz="2050" dirty="0"/>
          </a:p>
        </p:txBody>
      </p:sp>
      <p:sp>
        <p:nvSpPr>
          <p:cNvPr id="30" name="Text 27"/>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صَبَاحُ النُّورِ</a:t>
            </a:r>
            <a:pPr algn="l" indent="0" marL="0">
              <a:buNone/>
            </a:pPr>
            <a:r>
              <a:rPr lang="en-US" sz="1050" i="1" dirty="0">
                <a:solidFill>
                  <a:srgbClr val="8A6D1E"/>
                </a:solidFill>
                <a:latin typeface="Calibri" pitchFamily="34" charset="0"/>
                <a:ea typeface="Calibri" pitchFamily="34" charset="-122"/>
                <a:cs typeface="Calibri" pitchFamily="34" charset="-120"/>
              </a:rPr>
              <a:t> conventionally answers </a:t>
            </a:r>
            <a:pPr algn="l" indent="0" marL="0">
              <a:buNone/>
            </a:pPr>
            <a:r>
              <a:rPr lang="ar-SA" altLang="en-US" sz="1350" dirty="0">
                <a:solidFill>
                  <a:srgbClr val="8A6D1E"/>
                </a:solidFill>
                <a:latin typeface="Amiri" pitchFamily="34" charset="0"/>
                <a:ea typeface="Amiri" pitchFamily="34" charset="-122"/>
                <a:cs typeface="Amiri" pitchFamily="34" charset="-120"/>
              </a:rPr>
              <a:t>صَبَاحُ الخَيْرِ</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8"/>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female how she is in careful MSA.</a:t>
            </a:r>
            <a:endParaRPr lang="en-US" sz="1250" dirty="0"/>
          </a:p>
        </p:txBody>
      </p:sp>
      <p:sp>
        <p:nvSpPr>
          <p:cNvPr id="35" name="Shape 32"/>
          <p:cNvSpPr/>
          <p:nvPr/>
        </p:nvSpPr>
        <p:spPr>
          <a:xfrm>
            <a:off x="4459224" y="2532888"/>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كَيْفَ حَالُكَ؟</a:t>
            </a:r>
            <a:endParaRPr lang="ar-SA" sz="2050" dirty="0"/>
          </a:p>
        </p:txBody>
      </p:sp>
      <p:sp>
        <p:nvSpPr>
          <p:cNvPr id="38" name="Shape 35"/>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990088"/>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كَيْفَ حَالُكِ؟</a:t>
            </a:r>
            <a:endParaRPr lang="ar-SA" sz="2050" dirty="0"/>
          </a:p>
        </p:txBody>
      </p:sp>
      <p:sp>
        <p:nvSpPr>
          <p:cNvPr id="42" name="Shape 39"/>
          <p:cNvSpPr/>
          <p:nvPr/>
        </p:nvSpPr>
        <p:spPr>
          <a:xfrm>
            <a:off x="4459224" y="344728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كَيْفَ حَالُكُمْ؟</a:t>
            </a:r>
            <a:endParaRPr lang="ar-SA" sz="2050" dirty="0"/>
          </a:p>
        </p:txBody>
      </p:sp>
      <p:sp>
        <p:nvSpPr>
          <p:cNvPr id="45" name="Text 42"/>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singular suffix is </a:t>
            </a:r>
            <a:pPr algn="l" indent="0" marL="0">
              <a:buNone/>
            </a:pPr>
            <a:r>
              <a:rPr lang="ar-SA" altLang="en-US" sz="1350" dirty="0">
                <a:solidFill>
                  <a:srgbClr val="8A6D1E"/>
                </a:solidFill>
                <a:latin typeface="Amiri" pitchFamily="34" charset="0"/>
                <a:ea typeface="Amiri" pitchFamily="34" charset="-122"/>
                <a:cs typeface="Amiri" pitchFamily="34" charset="-120"/>
              </a:rPr>
              <a:t>كِ</a:t>
            </a:r>
            <a:pPr algn="l" indent="0" marL="0">
              <a:buNone/>
            </a:pPr>
            <a:r>
              <a:rPr lang="en-US" sz="1050" i="1" dirty="0">
                <a:solidFill>
                  <a:srgbClr val="8A6D1E"/>
                </a:solidFill>
                <a:latin typeface="Calibri" pitchFamily="34" charset="0"/>
                <a:ea typeface="Calibri" pitchFamily="34" charset="-122"/>
                <a:cs typeface="Calibri" pitchFamily="34" charset="-120"/>
              </a:rPr>
              <a:t>, pronounced -ki.</a:t>
            </a:r>
            <a:endParaRPr lang="en-US" sz="1050" dirty="0"/>
          </a:p>
        </p:txBody>
      </p:sp>
      <p:sp>
        <p:nvSpPr>
          <p:cNvPr id="46" name="Shape 43"/>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closing most directly suggests meeting again?</a:t>
            </a:r>
            <a:endParaRPr lang="en-US" sz="1250" dirty="0"/>
          </a:p>
        </p:txBody>
      </p:sp>
      <p:sp>
        <p:nvSpPr>
          <p:cNvPr id="50" name="Shape 47"/>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1" name="Shape 48"/>
          <p:cNvSpPr/>
          <p:nvPr/>
        </p:nvSpPr>
        <p:spPr>
          <a:xfrm>
            <a:off x="8278368" y="2532888"/>
            <a:ext cx="256032" cy="256032"/>
          </a:xfrm>
          <a:prstGeom prst="ellipse">
            <a:avLst/>
          </a:prstGeom>
          <a:solidFill>
            <a:srgbClr val="2E8B57"/>
          </a:solidFill>
          <a:ln w="12700">
            <a:solidFill>
              <a:srgbClr val="2E8B57"/>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إِلَى اللِّقَاءِ</a:t>
            </a:r>
            <a:endParaRPr lang="ar-SA" sz="2050" dirty="0"/>
          </a:p>
        </p:txBody>
      </p:sp>
      <p:sp>
        <p:nvSpPr>
          <p:cNvPr id="54" name="Shape 51"/>
          <p:cNvSpPr/>
          <p:nvPr/>
        </p:nvSpPr>
        <p:spPr>
          <a:xfrm>
            <a:off x="8278368" y="2990088"/>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مَعَ السَّلَامَةِ</a:t>
            </a:r>
            <a:endParaRPr lang="ar-SA" sz="2050" dirty="0"/>
          </a:p>
        </p:txBody>
      </p:sp>
      <p:sp>
        <p:nvSpPr>
          <p:cNvPr id="57" name="Shape 54"/>
          <p:cNvSpPr/>
          <p:nvPr/>
        </p:nvSpPr>
        <p:spPr>
          <a:xfrm>
            <a:off x="8278368" y="344728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أَهْلًا وَسَهْلًا</a:t>
            </a:r>
            <a:endParaRPr lang="ar-SA" sz="2050" dirty="0"/>
          </a:p>
        </p:txBody>
      </p:sp>
      <p:sp>
        <p:nvSpPr>
          <p:cNvPr id="60" name="Text 57"/>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إِلَى اللِّقَاءِ</a:t>
            </a:r>
            <a:pPr algn="l" indent="0" marL="0">
              <a:buNone/>
            </a:pPr>
            <a:r>
              <a:rPr lang="en-US" sz="1050" i="1" dirty="0">
                <a:solidFill>
                  <a:srgbClr val="8A6D1E"/>
                </a:solidFill>
                <a:latin typeface="Calibri" pitchFamily="34" charset="0"/>
                <a:ea typeface="Calibri" pitchFamily="34" charset="-122"/>
                <a:cs typeface="Calibri" pitchFamily="34" charset="-120"/>
              </a:rPr>
              <a:t> means “until the meeting / see you later”.</a:t>
            </a:r>
            <a:endParaRPr lang="en-US" sz="1050" dirty="0"/>
          </a:p>
        </p:txBody>
      </p:sp>
      <p:sp>
        <p:nvSpPr>
          <p:cNvPr id="61" name="Shape 58"/>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2" name="Text 59"/>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3" name="Text 60"/>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37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F2-L02: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F2-L02 · What Is Your Name?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مَا اسْمُكَ؟</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What is your name? (to a boy)</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اِسْمِي …</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My name is …</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تَشَرَّفْنَا</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Pleased to meet you.</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هَذَا صَدِيقِي</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This is my friend. (m.)</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صَدِيقَتِي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This is my friend. (f.)</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Practise: say your name in Arabic three times, then ask a family member theirs.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اِسْمِي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F2-L01: play the picture game “Hello, Goodbye and How Are You?”, then write 4 greeting lines.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homework: the six-line imaginary dialogue (at least four phrases from today).</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Heritage extension: a natural 6–8 line dialogue with the extended greeting, no transliteration.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37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F2-L01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F2-L02 · What Is Your Name?</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مَا اسْمُكَ؟</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learn the 5 name phrases before next lesson.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F2-L01 · Hello, Goodbye &amp; How Are You?</dc:title>
  <dc:subject>PptxGenJS Presentation</dc:subject>
  <dc:creator>Al Madina Online School · Arabic Department</dc:creator>
  <cp:lastModifiedBy>Al Madina Online School · Arabic Department</cp:lastModifiedBy>
  <cp:revision>1</cp:revision>
  <dcterms:created xsi:type="dcterms:W3CDTF">2026-09-27T10:53:25Z</dcterms:created>
  <dcterms:modified xsi:type="dcterms:W3CDTF">2026-09-27T10:53:25Z</dcterms:modified>
</cp:coreProperties>
</file>