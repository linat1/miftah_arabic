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P4 The Built and Natural World › P4-L05. The website lesson “Natural Disasters — Describing and Responding to Extreme Events”: vocabulary, grammar rules and quiz, patterns, common mistakes, sorter, listening, reading, speaking prompts and model, writing task and model, differentiation, final check and the lesson mission. Picture match: website visual game “Natural Disasters — Describing and Responding to Extreme Events”.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five disaster sentences in the reporting passive (website Core). Develop: add a past-perfect “before” layer and an official’s statement. Stretch: a full 110–120-word four-layer report with both conditionals.
• Sensitivity: some students may have family affected by recent disasters (e.g. the 2023 Türkiye–Syria and Morocco earthquakes, the 2023 Derna floods in Libya, the 2022 Pakistan floods). Keep the focus on preparation, rescue and recovery; let anyone opt to write about an imagined event.
• Faith link (optional): «مَثَلُ المُؤْمِنِينَ فِي تَوَادِّهِمْ وَتَرَاحُمِهِمْ … مَثَلُ الجَسَدِ» (al-Bukhārī, Muslim) — when one part suffers, the whole body responds. Relief is a shared duty.
• Grammar links: the passive (P4-L02) · past perfect kāna qad (P3) · reported speech (P3-L06) · both conditionals (P3-L05).
• TEACHER-WRITTEN ITEMS: waṣl alif shown without a kasra; one case fix (خُطَّةَ طَوَارِئٍ → طَوَارِئَ, a diptote); rule formulas in transliteration; sorter headings expanded with layer numbers; writing prompt and checklist in transliteration; listening and reading question 5 answers shortened to fit; game cards 1, 2 and 4 not used; the passive, four-layer and register tables are teacher-built from the website texts.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P4-L04. Question 4 retrieves the subjunctive after yanbaghī an (P4-L04); question 5 retrieves the passive with a nominative subject (P4-L02) — the heart of today’s lesson.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news report hides the doer: the passive verb comes first and the thing affected stays nominative (-u).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زلزلہ, اعلان, خسارہ and حالت are shared (حَالَةُ الطَّوَارِئِ = state of emergency). Careful: Urdu طوفان is a storm; Arabic طُوفَانٌ is a great flood (the flood of Nūḥ). Today’s word for a flood is فَيَضَانٌ.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Disaster events (website vocabulary (1 of 2)). Hear → Say → See → Use. Transliteration is printed for Core students (cover it for Develop/Stretch).
Disaster events. فَيَضَانٌ is the dictionary form; you will also hear and read فَيْضَانٌ (the website game uses it) — both are accepted. A tsunami is borrowed: مَوْجَةُ تْسُونَامِي.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Disaster events (website vocabulary (2 of 2)). Hear → Say → See → Use. Transliteration is printed for Core students (cover it for Develop/Stretch).
Disaster events. فَيَضَانٌ is the dictionary form; you will also hear and read فَيْضَانٌ (the website game uses it) — both are accepted. A tsunami is borrowed: مَوْجَةُ تْسُونَامِي.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Impact and response (website vocabulary (1 of 2)). Hear → Say → See → Use. Transliteration is printed for Core students (cover it for Develop/Stretch).
Impact and response: ضَحَايَا (victims, sg. ضَحِيَّةٌ) and خَسَائِرُ (losses) are diptotes — no tanwīn. The verbs are active (يُجْلِي = he evacuates); in a report they usually become passive (أُجْلِيَ = were evacuated).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Impact and response (website vocabulary (2 of 2)). Hear → Say → See → Use. Transliteration is printed for Core students (cover it for Develop/Stretch).
FLEX: teach if time allows; otherwise these are on the website vocabulary tab for homework.
Impact and response: ضَحَايَا (victims, sg. ضَحِيَّةٌ) and خَسَائِرُ (losses) are diptotes — no tanwīn. The verbs are active (يُجْلِي = he evacuates); in a report they usually become passive (أُجْلِيَ = were evacuated).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Disaster reporting passives (website vocabulary (1 of 2)). Hear → Say → See → Use. Transliteration is printed for Core students (cover it for Develop/Stretch).
FLEX: teach if time allows; otherwise these are on the website vocabulary tab for homework.
Reporting passives: ḍamma on the first letter, kasra before the last. The verb agrees with what follows: دُمِّرَتْ مِئَاتُ (feminine) · أُجْلِيَ آلَافُ (masculine, stays singular before a plural). تَضَرَّرَتْ and انْقَطَعَتْ are not passive — they are already intransitive (“got damaged”, “got cut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Disaster reporting passives (website vocabulary (2 of 2)). Hear → Say → See → Use. Transliteration is printed for Core students (cover it for Develop/Stretch).
FLEX: teach if time allows; otherwise these are on the website vocabulary tab for homework.
Reporting passives: ḍamma on the first letter, kasra before the last. The verb agrees with what follows: دُمِّرَتْ مِئَاتُ (feminine) · أُجْلِيَ آلَافُ (masculine, stays singular before a plural). تَضَرَّرَتْ and انْقَطَعَتْ are not passive — they are already intransitive (“got damaged”, “got cut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1, teaching point 1 (“News reporting uses the passive by default”), mistakes 1–2, with rows 4–6 from the website reading and listening.
Why passive? The doer is obvious (the earthquake) or unknown, and the news is what happened to people and homes.
The pattern: past passive = ḍamma on the first letter + kasra before the last (دُمِّرَ · أُعْلِنَ · أُجْلِيَ). Present passive = ḍamma on the prefix + fatḥa before the last (تُنْقَذُ · يُبْنَى).
Row 6: تَضَرَّرَ (Form V) already means “got damaged” — no passive needed. Same for انْقَطَعَ (Form VII): انْقَطَعَتِ الكَهْرَبَاءُ.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2–4, the website table and teaching point 2 (“The four layers of a disaster account”).
Layer 1 sets the scene: what HAD been done before the disaster (كَانَتْ … قَدْ + past). Row 2 is the hardest form: كَانَتْ قَدْ + a PASSIVE = “had been destroyed”.
Another Layer-1 form from the website: كَانَ قَدْ تَمَّ تَحْذِيرُ السُّكَّانِ (“residents had been warned”) — تَمَّ + maṣdar is a common way to avoid a difficult passive.
Agreement in row 1: كَانَتِ السُّلْطَاتُ (feminine — non-human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reading (cards 1 and 3), listening (card 2), mission round 6 and mistake 3.
قَالَ is followed by إِنَّ (with kasra); أَعْلَنَ / أَكَّدَ / أَشَارَ إِلَى are followed by أَنَّ (with fatḥa). Both put the next noun in -a: إِنَّ الوَقْتَ · أَنَّ الحُكُومَةَ.
Card 3 has a past perfect passive INSIDE a Type 2: لَوْ كَانَتِ المَبَانِي قَدْ بُنِيَتْ = had the buildings been built. Website: وَفْقَ مَعَايِيرَ مُقَاوِمَةٍ لِلزَّلَازِلِ (to earthquake-resistant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register tools from the website listening, reading and writing model.
Row 2: مَا يَزِيدُ عَلَى = more than (formal); the writing model uses the simpler أَكْثَرُ مِنْ. Row 3: غَيْرَ أَنَّ = however, but — it turns the story from preparation to disaster.
Row 5: two ways to say “more resilient”: أَصْمَدُ (afʿal) or أَكْثَرُ صُمُودًا (akthar + tamyīz).
Numbers: ثَلَاثِينَ أَلْفَ شَخْصٍ — 30 takes a singular accusative (أَلْفَ), 1000 takes a singular genitive (شَخْصٍ).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reporting passives with nominative subjects, laid out across the four temporal layers, including the past perfect of a passive verb.”
• Reporting passive: No named doer; the affected noun is nominative.
• Layer 1 · before: What had been done before the disaster.
• Past perfect of a passive: A prior action, itself passive.
• Layer 4 · analysis: A counterfactual regret and a real future measure.
Website common error: Keeping the affected noun accusative after a passive (دُمِّرَتْ مِئَاتَ), or telling the whole account in the simple past with no past-perfect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“Layer 1: what HAD they done? kānat … QAD aʿaddat. Layer 2: what happened? Passive first — dummirat, ujliya — and the noun after stays -u: miʾātu, aktharu. Layer 3: who said it? aʿlana … ANNA. Layer 4: what if? law … LA-kānat.”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Natural Disasters — Describing and Responding to Extreme Events”)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2 not used — waṣl kasra). Then report each one as news with a passive: دُمِّرَتْ مَنَازِلُ كَثِيرَةٌ · تَضَرَّرَتِ المِنْطَقَةُ · أُجْلِيَ السُّكَّانُ إِلَى مَكَانٍ آمِنٍ.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Natural Disasters — Describing and Responding to Extreme Events”)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2 not used — waṣl kasra). Then report each one as news with a passive: دُمِّرَتْ مَنَازِلُ كَثِيرَةٌ · تَضَرَّرَتِ المِنْطَقَةُ · أُجْلِيَ السُّكَّانُ إِلَى مَكَانٍ آمِنٍ.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the website live builder: “Build a disaster report from a preparation, a passive event and an analysis.” Website feedback: any three different combinations work.
Core: read row 1 across. Develop: label column 3 — reported speech (row 1), Type 2 (row 2), Type 1 (row 3). Stretch: add a fourth clause of your own with qāla … inna.
Note column 2 row 1: فَدُمِّرَتْ … وَانْقَطَعَتْ — a passive and an intransitive Form VII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put the cards in the order of a real report: one “before” card, one event card, one response or analysis card — and read the mini-report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put the cards in the order of a real report: one “before” card, one event card, one response or analysis card — and read the mini-report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2, 3 and 4. Develop / Stretch: all 5 — and label each sentence with its layer (1, 2, 3 or 4).
Listen 1: just listen. Listen 2: note answers. Then chat the letters.
Support: after the second listening, show the read-along slide (Arabic + English, line by line) for Core students.
SCRIPT (read aloud):
كَانَتِ السُّلْطَاتُ قَدْ أَعَدَّتْ خُطَّةً لِلطَّوَارِئِ قَبْلَ مَوْسِمِ العَوَاصِفِ، وَكَانَ قَدْ تَمَّ تَحْذِيرُ السُّكَّانِ مِنِ احْتِمَالِ حُدُوثِ فَيَضَانَاتٍ. غَيْرَ أَنَّ الإِعْصَارَ ضَرَبَ المِنْطَقَةَ السَّاحِلِيَّةَ فَجْرَ الثُّلَاثَاءِ. دُمِّرَتْ مِئَاتُ المَنَازِلِ، وَانْقَطَعَتْ شَبَكَاتُ الكَهْرَبَاءِ وَالمِيَاهِ، وَأُجْلِيَ مَا يَزِيدُ عَلَى ثَلَاثِينَ أَلْفَ شَخْصٍ. وَأُعْلِنَتْ حَالَةُ الطَّوَارِئِ. أَعْلَنَ الوَزِيرُ أَنَّ الحُكُومَةَ أَرْسَلَتْ فِرَقَ الإِغَاثَةِ فَوْرًا، وَأَشَارَ الهِلَالُ الأَحْمَرُ إِلَى أَنَّ الاحْتِيَاجَاتِ الإِنْسَانِيَّةَ ضَخْمَةٌ. لَوْ كَانَتِ البُنْيَةُ التَّحْتِيَّةُ أَكْثَرَ صُمُودًا، لَكَانَتِ الخَسَائِرُ أَقَلَّ بِكَثِيرٍ. وَإِذَا اسْتَثْمَرَتِ الحُكُومَاتُ فِي أَنْظِمَةِ الإِنْذَارِ المُبَكِّرِ، سَتُنْقَذُ أَرْوَاحٌ كَثِيرَةٌ مُسْتَقْبَلًا.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وَمَاذَا حَدَثَ؟ (Layer 2 passive)
B: دُمِّرَتْ مِئَاتُ المَنَازِلِ وَأُجْلِيَ الآلَافُ، وَلَوْ كَانَتِ البُنْيَةُ أَصْمَدَ لَقَلَّتِ الخَسَائِرُ. (Passives plus a Type 2)
Website prompts and model. Pair task: “live news” — A is the studio presenter and asks the three questions in order; B is the reporter on the scene and answers layer by layer. Swap. Partner listens for the -u after every passive. To a girl: اسْتَعْمِلِي.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five disaster sentences in the reporting passive. · Develop — Add a past-perfect preparation and a reported-speech response. · Stretch — Write a full four-layer report with both conditional types.
Website writing task (Stretch): Write a disaster response report of one hundred and ten to one hundred and twenty words using the four layers. Use a past-perfect preparation, disaster passives (dummirat, ujliya, uʿlinat), reported speech from officials, and both conditional types.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كَانَتِ … قَدْ أَعَدَّتْ · كَانَ قَدْ تَمَّ تَحْذِيرُ · غَيْرَ أَنَّ · دُمِّرَتْ مِئَاتُ · أُجْلِيَ أَكْثَرُ · أُعْلِنَتْ حَالَةُ · أَعْلَنَ … أَنَّ · أَشَارَ … إِلَى أَنَّ · لَوْ … لَكَانَتِ · إِذَا … سَتُنْقَذُ.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(P4-L06 · Energy and Resources — Arab World Potential and Global Responsibility) will spend class time USING this language, so students prepare it tonight — short, simple, easy to access (school guidance: “Simple, Short, Interesting, Relevant, Easy to access”). The five words come from the website P4-L06 vocabulary (energy and resources).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P4  ·  P4-L05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P4-L05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Natural Disasters — Describing and Responding to Extreme Events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2900" b="1" dirty="0">
                <a:solidFill>
                  <a:srgbClr val="D4AF37"/>
                </a:solidFill>
                <a:latin typeface="Amiri" pitchFamily="2" charset="-78"/>
                <a:ea typeface="Amiri" pitchFamily="2" charset="-78"/>
                <a:cs typeface="Amiri" pitchFamily="2" charset="-78"/>
              </a:rPr>
              <a:t>الكَوَارِثُ الطَّبِيعِيَّةُ — وَصْفُ الأَحْدَاثِ المُتَطَرِّفَةِ وَالاسْتِجَابَةُ لَهَا</a:t>
            </a:r>
            <a:endParaRPr lang="ar-SA" sz="29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Report a disaster like a journalist — reporting passives (dummirat, ujliya, uʿlinat) with a nominative subject, told in four layers: before (past perfect), the event, the official response and the analysis.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P4-L05 · Progression P4 · The Built and Natural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P4 › P4-L05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050" dirty="0">
                <a:solidFill>
                  <a:srgbClr val="1F2A37"/>
                </a:solidFill>
                <a:latin typeface="Calibri" pitchFamily="34" charset="0"/>
                <a:cs typeface="Amiri" pitchFamily="2" charset="-78"/>
              </a:rPr>
              <a:t>Reporting passives with a nominative subject, the four layers, qāla inna / aʿlana anna, the news-report register.</a:t>
            </a:r>
            <a:endParaRPr lang="en-US" sz="105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disaster pictures, build a four-layer report, sort event / before / analysis.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P4-L06.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زِلْزَالٌ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volcano</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earthquake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flood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إِغَاثَةٌ إِنْسَانِيَّةٌ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humanitarian relief</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human rights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evacuation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دُمِّرَتْ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destroyed (active)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will destroy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were destroyed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الدُّوَلُ تِقْنِيَّاتِ التَّحْلِيَةِ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تُطَوِّرُ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طَوَّرَتْ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تُطَوِّرَ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يُبْنَى سَدٌّ جَدِيدٌ.</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يُبْنَى سَدًّا جَدِيدًا.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يُبْنَى سَدٍّ جَدِيدٍ.</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زِلْزَالٌ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volcano</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earthquake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flood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إِغَاثَةٌ إِنْسَانِيَّةٌ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humanitarian relief</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human rights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evacuation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(P4-L04).</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دُمِّرَتْ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destroyed (active)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will destroy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were destroyed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(P4-L04).</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الدُّوَلُ تِقْنِيَّاتِ التَّحْلِيَةِ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تُطَوِّرُ</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طَوَّرَتْ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تُطَوِّرَ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P4-L04: after an, the verb ends in -a.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يُبْنَى سَدٌّ جَدِيدٌ.</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يُبْنَى سَدًّا جَدِيدًا.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يُبْنَى سَدٍّ جَدِيدٍ.</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P4-L02: the passive subject is nominative — today’s key rule.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news report hides the doer: the passive verb comes first and the thing affected stays nominative (-u).</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دُمِّرَتْ</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مِئَاتُ المَنَازِلِ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أُجْلِيَ</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آلَافُ السُّكَّانِ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أُعْلِنَتْ</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حَالَةُ الطَّوَارِئِ</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disaster events and relief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reporting passives dummirat, ujliya, uʿlinat with a nominative subject.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Structure a disaster account in four time layers.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past perfect of a passive (kānat qad dummirat).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disaster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report an event in the passive (dummirat …).</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“before” layer with kānat qad.</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report what an official said.</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the past perfect of a passive.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four-layer report with both conditionals.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Disaster events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Impact and response · 9</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Disaster reporting passives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زِلْزَالٌ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‎زلزلہ‎ </a:t>
            </a:r>
            <a:pPr indent="0" marL="0">
              <a:buNone/>
            </a:pPr>
            <a:r>
              <a:rPr lang="en-US" sz="950" b="1" dirty="0">
                <a:solidFill>
                  <a:srgbClr val="2E8B57"/>
                </a:solidFill>
                <a:latin typeface="Calibri" pitchFamily="34" charset="0"/>
                <a:cs typeface="Amiri" pitchFamily="2" charset="-78"/>
              </a:rPr>
              <a:t> zalzala · an earthquake (Sūrat al-Zalzala)</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إِعْلَانٌ · أُعْلِنَتْ</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‎اعلان‎ </a:t>
            </a:r>
            <a:pPr indent="0" marL="0">
              <a:buNone/>
            </a:pPr>
            <a:r>
              <a:rPr lang="en-US" sz="950" b="1" dirty="0">
                <a:solidFill>
                  <a:srgbClr val="2E8B57"/>
                </a:solidFill>
                <a:latin typeface="Calibri" pitchFamily="34" charset="0"/>
                <a:cs typeface="Amiri" pitchFamily="2" charset="-78"/>
              </a:rPr>
              <a:t> ailān · an announcement · was declared</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خَسَارَةٌ · خَسَائِرُ</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‎خسارہ‎ </a:t>
            </a:r>
            <a:pPr indent="0" marL="0">
              <a:buNone/>
            </a:pPr>
            <a:r>
              <a:rPr lang="en-US" sz="950" b="1" dirty="0">
                <a:solidFill>
                  <a:srgbClr val="2E8B57"/>
                </a:solidFill>
                <a:latin typeface="Calibri" pitchFamily="34" charset="0"/>
                <a:cs typeface="Amiri" pitchFamily="2" charset="-78"/>
              </a:rPr>
              <a:t> khasāra · a loss · losses</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حَالَةٌ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‎حالت‎ </a:t>
            </a:r>
            <a:pPr indent="0" marL="0">
              <a:buNone/>
            </a:pPr>
            <a:r>
              <a:rPr lang="en-US" sz="950" b="1" dirty="0">
                <a:solidFill>
                  <a:srgbClr val="2E8B57"/>
                </a:solidFill>
                <a:latin typeface="Calibri" pitchFamily="34" charset="0"/>
                <a:cs typeface="Amiri" pitchFamily="2" charset="-78"/>
              </a:rPr>
              <a:t> hālat · a state, a condition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طُوفَانٌ</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‎طوفان‎ </a:t>
            </a:r>
            <a:pPr indent="0" marL="0">
              <a:buNone/>
            </a:pPr>
            <a:r>
              <a:rPr lang="en-US" sz="950" b="1" dirty="0">
                <a:solidFill>
                  <a:srgbClr val="2E8B57"/>
                </a:solidFill>
                <a:latin typeface="Calibri" pitchFamily="34" charset="0"/>
                <a:cs typeface="Amiri" pitchFamily="2" charset="-78"/>
              </a:rPr>
              <a:t> tūfān · Arabic: a great flood · Urdu: a storm</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Disaster events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زِلْزَالٌ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earthquake</a:t>
            </a:r>
            <a:endParaRPr lang="en-US" sz="1350" dirty="0"/>
          </a:p>
          <a:p>
            <a:pPr indent="0" marL="0">
              <a:buNone/>
            </a:pPr>
            <a:r>
              <a:rPr lang="en-US" sz="1100" i="1" dirty="0">
                <a:solidFill>
                  <a:srgbClr val="5A6472"/>
                </a:solidFill>
                <a:latin typeface="Calibri" pitchFamily="34" charset="0"/>
                <a:cs typeface="Amiri" pitchFamily="2" charset="-78"/>
              </a:rPr>
              <a:t>zil-zā-lun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زَلَازِلُ</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بُرْكَانٌ</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volcano</a:t>
            </a:r>
            <a:endParaRPr lang="en-US" sz="1350" dirty="0"/>
          </a:p>
          <a:p>
            <a:pPr indent="0" marL="0">
              <a:buNone/>
            </a:pPr>
            <a:r>
              <a:rPr lang="en-US" sz="1100" i="1" dirty="0">
                <a:solidFill>
                  <a:srgbClr val="5A6472"/>
                </a:solidFill>
                <a:latin typeface="Calibri" pitchFamily="34" charset="0"/>
                <a:cs typeface="Amiri" pitchFamily="2" charset="-78"/>
              </a:rPr>
              <a:t>bur-kā-nun</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بَرَاكِينُ</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0" name="Shape 3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فَيَضَانٌ</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flood</a:t>
            </a:r>
            <a:endParaRPr lang="en-US" sz="1350" dirty="0"/>
          </a:p>
          <a:p>
            <a:pPr indent="0" marL="0">
              <a:buNone/>
            </a:pPr>
            <a:r>
              <a:rPr lang="en-US" sz="1100" i="1" dirty="0">
                <a:solidFill>
                  <a:srgbClr val="5A6472"/>
                </a:solidFill>
                <a:latin typeface="Calibri" pitchFamily="34" charset="0"/>
                <a:cs typeface="Amiri" pitchFamily="2" charset="-78"/>
              </a:rPr>
              <a:t>fa-ya-ḍā-nun</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8" name="Text 45"/>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فَيَضَانَاتٌ</a:t>
            </a:r>
            <a:endParaRPr lang="ar-SA" sz="150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2" name="Shape 4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جَفَافٌ</a:t>
            </a:r>
            <a:endParaRPr lang="ar-SA" sz="3000" dirty="0"/>
          </a:p>
        </p:txBody>
      </p:sp>
      <p:sp>
        <p:nvSpPr>
          <p:cNvPr id="55" name="Text 5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drought</a:t>
            </a:r>
            <a:endParaRPr lang="en-US" sz="1350" dirty="0"/>
          </a:p>
          <a:p>
            <a:pPr indent="0" marL="0">
              <a:buNone/>
            </a:pPr>
            <a:r>
              <a:rPr lang="en-US" sz="1100" i="1" dirty="0">
                <a:solidFill>
                  <a:srgbClr val="5A6472"/>
                </a:solidFill>
                <a:latin typeface="Calibri" pitchFamily="34" charset="0"/>
                <a:cs typeface="Amiri" pitchFamily="2" charset="-78"/>
              </a:rPr>
              <a:t>ja-fā-fun</a:t>
            </a:r>
            <a:endParaRPr lang="en-US" sz="1350" dirty="0"/>
          </a:p>
        </p:txBody>
      </p:sp>
      <p:sp>
        <p:nvSpPr>
          <p:cNvPr id="56" name="Shape 5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4389120"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9" name="Shape 56"/>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61" name="Shape 5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إِعْصَارٌ</a:t>
            </a:r>
            <a:endParaRPr lang="ar-SA" sz="3000" dirty="0"/>
          </a:p>
        </p:txBody>
      </p:sp>
      <p:sp>
        <p:nvSpPr>
          <p:cNvPr id="64" name="Text 61"/>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hurricane</a:t>
            </a:r>
            <a:endParaRPr lang="en-US" sz="1350" dirty="0"/>
          </a:p>
          <a:p>
            <a:pPr indent="0" marL="0">
              <a:buNone/>
            </a:pPr>
            <a:r>
              <a:rPr lang="en-US" sz="1100" i="1" dirty="0">
                <a:solidFill>
                  <a:srgbClr val="5A6472"/>
                </a:solidFill>
                <a:latin typeface="Calibri" pitchFamily="34" charset="0"/>
                <a:cs typeface="Amiri" pitchFamily="2" charset="-78"/>
              </a:rPr>
              <a:t>iʿ-ṣā-run</a:t>
            </a:r>
            <a:endParaRPr lang="en-US" sz="1350" dirty="0"/>
          </a:p>
        </p:txBody>
      </p:sp>
      <p:sp>
        <p:nvSpPr>
          <p:cNvPr id="65" name="Shape 62"/>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7" name="Text 64"/>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أَعَاصِيرُ</a:t>
            </a:r>
            <a:endParaRPr lang="ar-SA" sz="150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Disaster events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عَاصِفَةٌ رَمْلِيَّةٌ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sandstorm</a:t>
            </a:r>
            <a:endParaRPr lang="en-US" sz="1350" dirty="0"/>
          </a:p>
          <a:p>
            <a:pPr indent="0" marL="0">
              <a:buNone/>
            </a:pPr>
            <a:r>
              <a:rPr lang="en-US" sz="1100" i="1" dirty="0">
                <a:solidFill>
                  <a:srgbClr val="5A6472"/>
                </a:solidFill>
                <a:latin typeface="Calibri" pitchFamily="34" charset="0"/>
                <a:cs typeface="Amiri" pitchFamily="2" charset="-78"/>
              </a:rPr>
              <a:t>ʿā-ṣi-fa-tun ram-liy-ya-tun</a:t>
            </a:r>
            <a:endParaRPr lang="en-US" sz="1350" dirty="0"/>
          </a:p>
        </p:txBody>
      </p:sp>
      <p:sp>
        <p:nvSpPr>
          <p:cNvPr id="22" name="Shape 19"/>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عَوَاصِفُ رَمْلِيَّةٌ</a:t>
            </a:r>
            <a:endParaRPr lang="ar-SA" sz="15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8" name="Shape 25"/>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حَرِيقُ غَابَاتٍ</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forest fire</a:t>
            </a:r>
            <a:endParaRPr lang="en-US" sz="1350" dirty="0"/>
          </a:p>
          <a:p>
            <a:pPr indent="0" marL="0">
              <a:buNone/>
            </a:pPr>
            <a:r>
              <a:rPr lang="en-US" sz="1100" i="1" dirty="0">
                <a:solidFill>
                  <a:srgbClr val="5A6472"/>
                </a:solidFill>
                <a:latin typeface="Calibri" pitchFamily="34" charset="0"/>
                <a:cs typeface="Amiri" pitchFamily="2" charset="-78"/>
              </a:rPr>
              <a:t>ḥa-rī-qu ghā-bā-tin</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حَرَائِقُ غَابَاتٍ</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انْهِيَارٌ أَرْضِيٌّ</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landslide</a:t>
            </a:r>
            <a:endParaRPr lang="en-US" sz="1350" dirty="0"/>
          </a:p>
          <a:p>
            <a:pPr indent="0" marL="0">
              <a:buNone/>
            </a:pPr>
            <a:r>
              <a:rPr lang="en-US" sz="1100" i="1" dirty="0">
                <a:solidFill>
                  <a:srgbClr val="5A6472"/>
                </a:solidFill>
                <a:latin typeface="Calibri" pitchFamily="34" charset="0"/>
                <a:cs typeface="Amiri" pitchFamily="2" charset="-78"/>
              </a:rPr>
              <a:t>an-hi-yā-run ar-ḍiy-yun</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مَوْجَةُ تْسُونَامِي</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tsunami wave</a:t>
            </a:r>
            <a:endParaRPr lang="en-US" sz="1350" dirty="0"/>
          </a:p>
          <a:p>
            <a:pPr indent="0" marL="0">
              <a:buNone/>
            </a:pPr>
            <a:r>
              <a:rPr lang="en-US" sz="1100" i="1" dirty="0">
                <a:solidFill>
                  <a:srgbClr val="5A6472"/>
                </a:solidFill>
                <a:latin typeface="Calibri" pitchFamily="34" charset="0"/>
                <a:cs typeface="Amiri" pitchFamily="2" charset="-78"/>
              </a:rPr>
              <a:t>maw-ja-tu t-sū-nā-mī</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Impact and response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ضَحَايَا</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casualties, victims</a:t>
            </a:r>
            <a:endParaRPr lang="en-US" sz="1350" dirty="0"/>
          </a:p>
          <a:p>
            <a:pPr indent="0" marL="0">
              <a:buNone/>
            </a:pPr>
            <a:r>
              <a:rPr lang="en-US" sz="1100" i="1" dirty="0">
                <a:solidFill>
                  <a:srgbClr val="5A6472"/>
                </a:solidFill>
                <a:latin typeface="Calibri" pitchFamily="34" charset="0"/>
                <a:cs typeface="Amiri" pitchFamily="2" charset="-78"/>
              </a:rPr>
              <a:t>ḍa-ḥā-yā</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ضَحِيَّةٌ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0" name="Shape 27"/>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مُتَضَرِّرُونَ</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affected people</a:t>
            </a:r>
            <a:endParaRPr lang="en-US" sz="1350" dirty="0"/>
          </a:p>
          <a:p>
            <a:pPr indent="0" marL="0">
              <a:buNone/>
            </a:pPr>
            <a:r>
              <a:rPr lang="en-US" sz="1100" i="1" dirty="0">
                <a:solidFill>
                  <a:srgbClr val="5A6472"/>
                </a:solidFill>
                <a:latin typeface="Calibri" pitchFamily="34" charset="0"/>
                <a:cs typeface="Amiri" pitchFamily="2" charset="-78"/>
              </a:rPr>
              <a:t>mu-ta-ḍar-ri-rū-na</a:t>
            </a:r>
            <a:endParaRPr lang="en-US" sz="1350" dirty="0"/>
          </a:p>
        </p:txBody>
      </p:sp>
      <p:sp>
        <p:nvSpPr>
          <p:cNvPr id="34" name="Shape 31"/>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 pl.</a:t>
            </a:r>
            <a:endParaRPr lang="en-US" sz="700" dirty="0"/>
          </a:p>
        </p:txBody>
      </p:sp>
      <p:sp>
        <p:nvSpPr>
          <p:cNvPr id="36" name="Text 33"/>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مُتَضَرِّرَاتٌ</a:t>
            </a:r>
            <a:endParaRPr lang="ar-SA" sz="1350" dirty="0"/>
          </a:p>
        </p:txBody>
      </p:sp>
      <p:sp>
        <p:nvSpPr>
          <p:cNvPr id="37" name="Shape 34"/>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 sg.</a:t>
            </a:r>
            <a:endParaRPr lang="en-US" sz="700" dirty="0"/>
          </a:p>
        </p:txBody>
      </p:sp>
      <p:sp>
        <p:nvSpPr>
          <p:cNvPr id="39" name="Text 36"/>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مُتَضَرِّرٌ</a:t>
            </a:r>
            <a:endParaRPr lang="ar-SA"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إِجْلَاءٌ</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evacuation</a:t>
            </a:r>
            <a:endParaRPr lang="en-US" sz="1350" dirty="0"/>
          </a:p>
          <a:p>
            <a:pPr indent="0" marL="0">
              <a:buNone/>
            </a:pPr>
            <a:r>
              <a:rPr lang="en-US" sz="1100" i="1" dirty="0">
                <a:solidFill>
                  <a:srgbClr val="5A6472"/>
                </a:solidFill>
                <a:latin typeface="Calibri" pitchFamily="34" charset="0"/>
                <a:cs typeface="Amiri" pitchFamily="2" charset="-78"/>
              </a:rPr>
              <a:t>ij-lā-ʾun</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إِغَاثَةٌ إِنْسَانِيَّةٌ</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humanitarian relief</a:t>
            </a:r>
            <a:endParaRPr lang="en-US" sz="1350" dirty="0"/>
          </a:p>
          <a:p>
            <a:pPr indent="0" marL="0">
              <a:buNone/>
            </a:pPr>
            <a:r>
              <a:rPr lang="en-US" sz="1100" i="1" dirty="0">
                <a:solidFill>
                  <a:srgbClr val="5A6472"/>
                </a:solidFill>
                <a:latin typeface="Calibri" pitchFamily="34" charset="0"/>
                <a:cs typeface="Amiri" pitchFamily="2" charset="-78"/>
              </a:rPr>
              <a:t>i-ghā-tha-tun in-sā-niy-ya-tun</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57" name="Shape 54"/>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9" name="Shape 5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خَسَائِرُ مَادِّيَّةٌ</a:t>
            </a:r>
            <a:endParaRPr lang="ar-SA" sz="3000" dirty="0"/>
          </a:p>
        </p:txBody>
      </p:sp>
      <p:sp>
        <p:nvSpPr>
          <p:cNvPr id="62" name="Text 5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material losses</a:t>
            </a:r>
            <a:endParaRPr lang="en-US" sz="1350" dirty="0"/>
          </a:p>
          <a:p>
            <a:pPr indent="0" marL="0">
              <a:buNone/>
            </a:pPr>
            <a:r>
              <a:rPr lang="en-US" sz="1100" i="1" dirty="0">
                <a:solidFill>
                  <a:srgbClr val="5A6472"/>
                </a:solidFill>
                <a:latin typeface="Calibri" pitchFamily="34" charset="0"/>
                <a:cs typeface="Amiri" pitchFamily="2" charset="-78"/>
              </a:rPr>
              <a:t>kha-sā-ʾi-ru mād-diy-ya-tun</a:t>
            </a:r>
            <a:endParaRPr lang="en-US" sz="1350" dirty="0"/>
          </a:p>
        </p:txBody>
      </p:sp>
      <p:sp>
        <p:nvSpPr>
          <p:cNvPr id="63" name="Shape 60"/>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65" name="Text 62"/>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خَسَارَةٌ مَادِّيَّةٌ</a:t>
            </a:r>
            <a:endParaRPr lang="ar-SA" sz="15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Impact and response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0" name="Shape 17"/>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يُجْلِي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evacuates</a:t>
            </a:r>
            <a:endParaRPr lang="en-US" sz="1350" dirty="0"/>
          </a:p>
          <a:p>
            <a:pPr indent="0" marL="0">
              <a:buNone/>
            </a:pPr>
            <a:r>
              <a:rPr lang="en-US" sz="1100" i="1" dirty="0">
                <a:solidFill>
                  <a:srgbClr val="5A6472"/>
                </a:solidFill>
                <a:latin typeface="Calibri" pitchFamily="34" charset="0"/>
                <a:cs typeface="Amiri" pitchFamily="2" charset="-78"/>
              </a:rPr>
              <a:t>yuj-lī</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تُجْلِي</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0" name="Shape 27"/>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يُغِيثُ</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provides relief to</a:t>
            </a:r>
            <a:endParaRPr lang="en-US" sz="1350" dirty="0"/>
          </a:p>
          <a:p>
            <a:pPr indent="0" marL="0">
              <a:buNone/>
            </a:pPr>
            <a:r>
              <a:rPr lang="en-US" sz="1100" i="1" dirty="0">
                <a:solidFill>
                  <a:srgbClr val="5A6472"/>
                </a:solidFill>
                <a:latin typeface="Calibri" pitchFamily="34" charset="0"/>
                <a:cs typeface="Amiri" pitchFamily="2" charset="-78"/>
              </a:rPr>
              <a:t>yu-ghī-thu</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6" name="Text 33"/>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تُغِيثُ</a:t>
            </a:r>
            <a:endParaRPr lang="ar-SA"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0" name="Shape 37"/>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2" name="Text 3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يُعِيدُ البِنَاءَ</a:t>
            </a:r>
            <a:endParaRPr lang="ar-SA" sz="3000" dirty="0"/>
          </a:p>
        </p:txBody>
      </p:sp>
      <p:sp>
        <p:nvSpPr>
          <p:cNvPr id="43" name="Text 4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rebuilds</a:t>
            </a:r>
            <a:endParaRPr lang="en-US" sz="1350" dirty="0"/>
          </a:p>
          <a:p>
            <a:pPr indent="0" marL="0">
              <a:buNone/>
            </a:pPr>
            <a:r>
              <a:rPr lang="en-US" sz="1100" i="1" dirty="0">
                <a:solidFill>
                  <a:srgbClr val="5A6472"/>
                </a:solidFill>
                <a:latin typeface="Calibri" pitchFamily="34" charset="0"/>
                <a:cs typeface="Amiri" pitchFamily="2" charset="-78"/>
              </a:rPr>
              <a:t>yu-ʿī-du al-bi-nā-ʾa</a:t>
            </a:r>
            <a:endParaRPr lang="en-US" sz="1350" dirty="0"/>
          </a:p>
        </p:txBody>
      </p:sp>
      <p:sp>
        <p:nvSpPr>
          <p:cNvPr id="44" name="Shape 4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46" name="Text 43"/>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تُعِيدُ البِنَاءَ</a:t>
            </a:r>
            <a:endParaRPr lang="ar-SA"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50" name="Shape 47"/>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52" name="Text 4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يُعْلِنُ حَالَةَ الطَّوَارِئِ</a:t>
            </a:r>
            <a:endParaRPr lang="ar-SA" sz="3000" dirty="0"/>
          </a:p>
        </p:txBody>
      </p:sp>
      <p:sp>
        <p:nvSpPr>
          <p:cNvPr id="53" name="Text 5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declares a state of emergency</a:t>
            </a:r>
            <a:endParaRPr lang="en-US" sz="1350" dirty="0"/>
          </a:p>
          <a:p>
            <a:pPr indent="0" marL="0">
              <a:buNone/>
            </a:pPr>
            <a:r>
              <a:rPr lang="en-US" sz="1100" i="1" dirty="0">
                <a:solidFill>
                  <a:srgbClr val="5A6472"/>
                </a:solidFill>
                <a:latin typeface="Calibri" pitchFamily="34" charset="0"/>
                <a:cs typeface="Amiri" pitchFamily="2" charset="-78"/>
              </a:rPr>
              <a:t>yuʿ-li-nu ḥā-la-ta aṭ-ṭa-wā-ri-ʾi</a:t>
            </a:r>
            <a:endParaRPr lang="en-US" sz="1350" dirty="0"/>
          </a:p>
        </p:txBody>
      </p:sp>
      <p:sp>
        <p:nvSpPr>
          <p:cNvPr id="54" name="Shape 51"/>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56" name="Text 53"/>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تُعْلِنُ حَالَةَ الطَّوَارِئِ</a:t>
            </a:r>
            <a:endParaRPr lang="ar-SA"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Disaster reporting passives (1 of 2)</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Shape 17"/>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دُمِّرَتْ</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were destroyed</a:t>
            </a:r>
            <a:endParaRPr lang="en-US" sz="1350" dirty="0"/>
          </a:p>
          <a:p>
            <a:pPr indent="0" marL="0">
              <a:buNone/>
            </a:pPr>
            <a:r>
              <a:rPr lang="en-US" sz="1100" i="1" dirty="0">
                <a:solidFill>
                  <a:srgbClr val="5A6472"/>
                </a:solidFill>
                <a:latin typeface="Calibri" pitchFamily="34" charset="0"/>
                <a:cs typeface="Amiri" pitchFamily="2" charset="-78"/>
              </a:rPr>
              <a:t>dum-mi-rat</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8" name="Text 25"/>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دُمِّرَ</a:t>
            </a:r>
            <a:endParaRPr lang="ar-SA" sz="150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2" name="Shape 29"/>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4" name="Shape 31"/>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أُجْلِيَ</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were evacuated</a:t>
            </a:r>
            <a:endParaRPr lang="en-US" sz="1350" dirty="0"/>
          </a:p>
          <a:p>
            <a:pPr indent="0" marL="0">
              <a:buNone/>
            </a:pPr>
            <a:r>
              <a:rPr lang="en-US" sz="1100" i="1" dirty="0">
                <a:solidFill>
                  <a:srgbClr val="5A6472"/>
                </a:solidFill>
                <a:latin typeface="Calibri" pitchFamily="34" charset="0"/>
                <a:cs typeface="Amiri" pitchFamily="2" charset="-78"/>
              </a:rPr>
              <a:t>uj-li-ya</a:t>
            </a:r>
            <a:endParaRPr lang="en-US" sz="1350" dirty="0"/>
          </a:p>
        </p:txBody>
      </p:sp>
      <p:sp>
        <p:nvSpPr>
          <p:cNvPr id="38" name="Shape 35"/>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0" name="Text 37"/>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أُجْلِيَتْ</a:t>
            </a:r>
            <a:endParaRPr lang="ar-SA" sz="150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44" name="Shape 41"/>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46" name="Shape 4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أُعْلِنَتْ</a:t>
            </a:r>
            <a:endParaRPr lang="ar-SA" sz="3000" dirty="0"/>
          </a:p>
        </p:txBody>
      </p:sp>
      <p:sp>
        <p:nvSpPr>
          <p:cNvPr id="49" name="Text 4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was declared</a:t>
            </a:r>
            <a:endParaRPr lang="en-US" sz="1350" dirty="0"/>
          </a:p>
          <a:p>
            <a:pPr indent="0" marL="0">
              <a:buNone/>
            </a:pPr>
            <a:r>
              <a:rPr lang="en-US" sz="1100" i="1" dirty="0">
                <a:solidFill>
                  <a:srgbClr val="5A6472"/>
                </a:solidFill>
                <a:latin typeface="Calibri" pitchFamily="34" charset="0"/>
                <a:cs typeface="Amiri" pitchFamily="2" charset="-78"/>
              </a:rPr>
              <a:t>uʿ-li-nat</a:t>
            </a:r>
            <a:endParaRPr lang="en-US" sz="1350" dirty="0"/>
          </a:p>
        </p:txBody>
      </p:sp>
      <p:sp>
        <p:nvSpPr>
          <p:cNvPr id="50" name="Shape 47"/>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2" name="Text 49"/>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أُعْلِنَ</a:t>
            </a:r>
            <a:endParaRPr lang="ar-SA" sz="15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56" name="Shape 5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تَضَرَّرَتْ</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were damaged</a:t>
            </a:r>
            <a:endParaRPr lang="en-US" sz="1350" dirty="0"/>
          </a:p>
          <a:p>
            <a:pPr indent="0" marL="0">
              <a:buNone/>
            </a:pPr>
            <a:r>
              <a:rPr lang="en-US" sz="1100" i="1" dirty="0">
                <a:solidFill>
                  <a:srgbClr val="5A6472"/>
                </a:solidFill>
                <a:latin typeface="Calibri" pitchFamily="34" charset="0"/>
                <a:cs typeface="Amiri" pitchFamily="2" charset="-78"/>
              </a:rPr>
              <a:t>ta-ḍar-ra-rat</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2" name="Text 59"/>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تَضَرَّرَ</a:t>
            </a:r>
            <a:endParaRPr lang="ar-SA" sz="15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Disaster reporting passives (2 of 2)</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0" name="Shape 17"/>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انْقَطَعَتْ</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were cut off</a:t>
            </a:r>
            <a:endParaRPr lang="en-US" sz="1350" dirty="0"/>
          </a:p>
          <a:p>
            <a:pPr indent="0" marL="0">
              <a:buNone/>
            </a:pPr>
            <a:r>
              <a:rPr lang="en-US" sz="1100" i="1" dirty="0">
                <a:solidFill>
                  <a:srgbClr val="5A6472"/>
                </a:solidFill>
                <a:latin typeface="Calibri" pitchFamily="34" charset="0"/>
                <a:cs typeface="Amiri" pitchFamily="2" charset="-78"/>
              </a:rPr>
              <a:t>an-qa-ṭa-ʿat</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انْقَطَعَ</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كَانَتْ قَدْ دُمِّرَتْ</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had been destroyed</a:t>
            </a:r>
            <a:endParaRPr lang="en-US" sz="1350" dirty="0"/>
          </a:p>
          <a:p>
            <a:pPr indent="0" marL="0">
              <a:buNone/>
            </a:pPr>
            <a:r>
              <a:rPr lang="en-US" sz="1100" i="1" dirty="0">
                <a:solidFill>
                  <a:srgbClr val="5A6472"/>
                </a:solidFill>
                <a:latin typeface="Calibri" pitchFamily="34" charset="0"/>
                <a:cs typeface="Amiri" pitchFamily="2" charset="-78"/>
              </a:rPr>
              <a:t>kā-nat qad dum-mi-rat</a:t>
            </a:r>
            <a:endParaRPr lang="en-US" sz="1350" dirty="0"/>
          </a:p>
        </p:txBody>
      </p:sp>
      <p:sp>
        <p:nvSpPr>
          <p:cNvPr id="32" name="Text 2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Past perfect of a passive.</a:t>
            </a:r>
            <a:endParaRPr lang="en-US" sz="100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بُنْيَةٌ تَحْتِيَّةٌ مُدَمَّرَةٌ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destroyed infrastructure</a:t>
            </a:r>
            <a:endParaRPr lang="en-US" sz="1350" dirty="0"/>
          </a:p>
          <a:p>
            <a:pPr indent="0" marL="0">
              <a:buNone/>
            </a:pPr>
            <a:r>
              <a:rPr lang="en-US" sz="1100" i="1" dirty="0">
                <a:solidFill>
                  <a:srgbClr val="5A6472"/>
                </a:solidFill>
                <a:latin typeface="Calibri" pitchFamily="34" charset="0"/>
                <a:cs typeface="Amiri" pitchFamily="2" charset="-78"/>
              </a:rPr>
              <a:t>bun-ya-tun taḥ-tiy-ya-tun mu-dam-ma-ra-tun</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التَّعَافِي</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recovery</a:t>
            </a:r>
            <a:endParaRPr lang="en-US" sz="1350" dirty="0"/>
          </a:p>
          <a:p>
            <a:pPr indent="0" marL="0">
              <a:buNone/>
            </a:pPr>
            <a:r>
              <a:rPr lang="en-US" sz="1100" i="1" dirty="0">
                <a:solidFill>
                  <a:srgbClr val="5A6472"/>
                </a:solidFill>
                <a:latin typeface="Calibri" pitchFamily="34" charset="0"/>
                <a:cs typeface="Amiri" pitchFamily="2" charset="-78"/>
              </a:rPr>
              <a:t>at-ta-ʿā-fī</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REPORTING PASSIVE (WEBSITE RULE 1, TEACHING POINT 1 AND MISTAKES 1–2)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Hide the doer — keep the -u</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المَبْنِيُّ لِلْمَجْهُولِ فِي الأَخْبَارِ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925312" y="1810512"/>
            <a:ext cx="5733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409651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a:t>
            </a:r>
            <a:endParaRPr lang="en-US" sz="1100" dirty="0"/>
          </a:p>
        </p:txBody>
      </p:sp>
      <p:sp>
        <p:nvSpPr>
          <p:cNvPr id="18" name="Text 15"/>
          <p:cNvSpPr txBox="1"/>
          <p:nvPr/>
        </p:nvSpPr>
        <p:spPr>
          <a:xfrm>
            <a:off x="226771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Passive</a:t>
            </a:r>
            <a:endParaRPr lang="en-US" sz="1100" dirty="0"/>
          </a:p>
        </p:txBody>
      </p:sp>
      <p:sp>
        <p:nvSpPr>
          <p:cNvPr id="19" name="Text 16"/>
          <p:cNvSpPr txBox="1"/>
          <p:nvPr/>
        </p:nvSpPr>
        <p:spPr>
          <a:xfrm>
            <a:off x="53035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Active</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5943600" y="2267712"/>
            <a:ext cx="5696712" cy="559308"/>
          </a:xfrm>
          <a:prstGeom prst="rect">
            <a:avLst/>
          </a:prstGeom>
          <a:noFill/>
          <a:ln/>
        </p:spPr>
        <p:txBody>
          <a:bodyPr wrap="square" lIns="0" tIns="0" rIns="0" bIns="0" rtlCol="0" anchor="ctr"/>
          <a:lstStyle/>
          <a:p>
            <a:pPr rtl="1" algn="ctr" indent="0" marL="0">
              <a:buNone/>
            </a:pPr>
            <a:r>
              <a:rPr lang="ar-SA" altLang="en-US" sz="1700" b="1" dirty="0">
                <a:solidFill>
                  <a:srgbClr val="D6336C"/>
                </a:solidFill>
                <a:latin typeface="Amiri" pitchFamily="2" charset="-78"/>
                <a:ea typeface="Amiri" pitchFamily="2" charset="-78"/>
                <a:cs typeface="Amiri" pitchFamily="2" charset="-78"/>
              </a:rPr>
              <a:t>دُمِّرَتْ</a:t>
            </a:r>
            <a:pPr rtl="1" algn="ctr" indent="0" marL="0">
              <a:buNone/>
            </a:pPr>
            <a:r>
              <a:rPr lang="ar-SA" altLang="en-US" sz="1700" b="1" dirty="0">
                <a:solidFill>
                  <a:srgbClr val="1B3B6F"/>
                </a:solidFill>
                <a:latin typeface="Amiri" pitchFamily="2" charset="-78"/>
                <a:ea typeface="Amiri" pitchFamily="2" charset="-78"/>
                <a:cs typeface="Amiri" pitchFamily="2" charset="-78"/>
              </a:rPr>
              <a:t> مِئَاتُ المَنَازِلِ.</a:t>
            </a:r>
            <a:endParaRPr lang="ar-SA" sz="1700" dirty="0"/>
          </a:p>
        </p:txBody>
      </p:sp>
      <p:sp>
        <p:nvSpPr>
          <p:cNvPr id="22" name="Text 19"/>
          <p:cNvSpPr txBox="1"/>
          <p:nvPr/>
        </p:nvSpPr>
        <p:spPr>
          <a:xfrm>
            <a:off x="4133088" y="2267712"/>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II</a:t>
            </a:r>
            <a:endParaRPr lang="en-US" sz="1100" dirty="0"/>
          </a:p>
        </p:txBody>
      </p:sp>
      <p:sp>
        <p:nvSpPr>
          <p:cNvPr id="23" name="Text 20"/>
          <p:cNvSpPr txBox="1"/>
          <p:nvPr/>
        </p:nvSpPr>
        <p:spPr>
          <a:xfrm>
            <a:off x="2286000" y="2267712"/>
            <a:ext cx="1645920" cy="559308"/>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دُمِّرَتْ</a:t>
            </a:r>
            <a:endParaRPr lang="ar-SA" sz="2000" dirty="0"/>
          </a:p>
        </p:txBody>
      </p:sp>
      <p:sp>
        <p:nvSpPr>
          <p:cNvPr id="24" name="Text 21"/>
          <p:cNvSpPr txBox="1"/>
          <p:nvPr/>
        </p:nvSpPr>
        <p:spPr>
          <a:xfrm>
            <a:off x="548640" y="2267712"/>
            <a:ext cx="1554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دَمَّرَ</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5943600" y="2881884"/>
            <a:ext cx="5696712" cy="559308"/>
          </a:xfrm>
          <a:prstGeom prst="rect">
            <a:avLst/>
          </a:prstGeom>
          <a:noFill/>
          <a:ln/>
        </p:spPr>
        <p:txBody>
          <a:bodyPr wrap="square" lIns="0" tIns="0" rIns="0" bIns="0" rtlCol="0" anchor="ctr"/>
          <a:lstStyle/>
          <a:p>
            <a:pPr rtl="1" algn="ctr" indent="0" marL="0">
              <a:buNone/>
            </a:pPr>
            <a:r>
              <a:rPr lang="ar-SA" altLang="en-US" sz="1700" b="1" dirty="0">
                <a:solidFill>
                  <a:srgbClr val="D6336C"/>
                </a:solidFill>
                <a:latin typeface="Amiri" pitchFamily="2" charset="-78"/>
                <a:ea typeface="Amiri" pitchFamily="2" charset="-78"/>
                <a:cs typeface="Amiri" pitchFamily="2" charset="-78"/>
              </a:rPr>
              <a:t>أُجْلِيَ</a:t>
            </a:r>
            <a:pPr rtl="1" algn="ctr" indent="0" marL="0">
              <a:buNone/>
            </a:pPr>
            <a:r>
              <a:rPr lang="ar-SA" altLang="en-US" sz="1700" b="1" dirty="0">
                <a:solidFill>
                  <a:srgbClr val="1B3B6F"/>
                </a:solidFill>
                <a:latin typeface="Amiri" pitchFamily="2" charset="-78"/>
                <a:ea typeface="Amiri" pitchFamily="2" charset="-78"/>
                <a:cs typeface="Amiri" pitchFamily="2" charset="-78"/>
              </a:rPr>
              <a:t> آلَافُ السُّكَّانِ.</a:t>
            </a:r>
            <a:endParaRPr lang="ar-SA" sz="1700" dirty="0"/>
          </a:p>
        </p:txBody>
      </p:sp>
      <p:sp>
        <p:nvSpPr>
          <p:cNvPr id="29" name="Text 26"/>
          <p:cNvSpPr txBox="1"/>
          <p:nvPr/>
        </p:nvSpPr>
        <p:spPr>
          <a:xfrm>
            <a:off x="4133088" y="2881884"/>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IV, weak</a:t>
            </a:r>
            <a:endParaRPr lang="en-US" sz="1100" dirty="0"/>
          </a:p>
        </p:txBody>
      </p:sp>
      <p:sp>
        <p:nvSpPr>
          <p:cNvPr id="30" name="Text 27"/>
          <p:cNvSpPr txBox="1"/>
          <p:nvPr/>
        </p:nvSpPr>
        <p:spPr>
          <a:xfrm>
            <a:off x="2286000" y="2881884"/>
            <a:ext cx="1645920" cy="559308"/>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أُجْلِيَ</a:t>
            </a:r>
            <a:endParaRPr lang="ar-SA" sz="2000" dirty="0"/>
          </a:p>
        </p:txBody>
      </p:sp>
      <p:sp>
        <p:nvSpPr>
          <p:cNvPr id="31" name="Text 28"/>
          <p:cNvSpPr txBox="1"/>
          <p:nvPr/>
        </p:nvSpPr>
        <p:spPr>
          <a:xfrm>
            <a:off x="548640" y="2881884"/>
            <a:ext cx="1554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أَجْلَى</a:t>
            </a:r>
            <a:endParaRPr lang="ar-SA" sz="20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5943600" y="3496056"/>
            <a:ext cx="5696712" cy="559308"/>
          </a:xfrm>
          <a:prstGeom prst="rect">
            <a:avLst/>
          </a:prstGeom>
          <a:noFill/>
          <a:ln/>
        </p:spPr>
        <p:txBody>
          <a:bodyPr wrap="square" lIns="0" tIns="0" rIns="0" bIns="0" rtlCol="0" anchor="ctr"/>
          <a:lstStyle/>
          <a:p>
            <a:pPr rtl="1" algn="ctr" indent="0" marL="0">
              <a:buNone/>
            </a:pPr>
            <a:r>
              <a:rPr lang="ar-SA" altLang="en-US" sz="1700" b="1" dirty="0">
                <a:solidFill>
                  <a:srgbClr val="D6336C"/>
                </a:solidFill>
                <a:latin typeface="Amiri" pitchFamily="2" charset="-78"/>
                <a:ea typeface="Amiri" pitchFamily="2" charset="-78"/>
                <a:cs typeface="Amiri" pitchFamily="2" charset="-78"/>
              </a:rPr>
              <a:t>أُعْلِنَتْ</a:t>
            </a:r>
            <a:pPr rtl="1" algn="ctr" indent="0" marL="0">
              <a:buNone/>
            </a:pPr>
            <a:r>
              <a:rPr lang="ar-SA" altLang="en-US" sz="1700" b="1" dirty="0">
                <a:solidFill>
                  <a:srgbClr val="1B3B6F"/>
                </a:solidFill>
                <a:latin typeface="Amiri" pitchFamily="2" charset="-78"/>
                <a:ea typeface="Amiri" pitchFamily="2" charset="-78"/>
                <a:cs typeface="Amiri" pitchFamily="2" charset="-78"/>
              </a:rPr>
              <a:t> حَالَةُ الطَّوَارِئِ.</a:t>
            </a:r>
            <a:endParaRPr lang="ar-SA" sz="1700" dirty="0"/>
          </a:p>
        </p:txBody>
      </p:sp>
      <p:sp>
        <p:nvSpPr>
          <p:cNvPr id="36" name="Text 33"/>
          <p:cNvSpPr txBox="1"/>
          <p:nvPr/>
        </p:nvSpPr>
        <p:spPr>
          <a:xfrm>
            <a:off x="4133088" y="3496056"/>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IV</a:t>
            </a:r>
            <a:endParaRPr lang="en-US" sz="1100" dirty="0"/>
          </a:p>
        </p:txBody>
      </p:sp>
      <p:sp>
        <p:nvSpPr>
          <p:cNvPr id="37" name="Text 34"/>
          <p:cNvSpPr txBox="1"/>
          <p:nvPr/>
        </p:nvSpPr>
        <p:spPr>
          <a:xfrm>
            <a:off x="2286000" y="3496056"/>
            <a:ext cx="1645920" cy="559308"/>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أُعْلِنَتْ</a:t>
            </a:r>
            <a:endParaRPr lang="ar-SA" sz="2000" dirty="0"/>
          </a:p>
        </p:txBody>
      </p:sp>
      <p:sp>
        <p:nvSpPr>
          <p:cNvPr id="38" name="Text 35"/>
          <p:cNvSpPr txBox="1"/>
          <p:nvPr/>
        </p:nvSpPr>
        <p:spPr>
          <a:xfrm>
            <a:off x="548640" y="3496056"/>
            <a:ext cx="1554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أَعْلَنَ</a:t>
            </a:r>
            <a:endParaRPr lang="ar-SA" sz="20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5943600" y="4110228"/>
            <a:ext cx="5696712"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إِذَا </a:t>
            </a:r>
            <a:pPr rtl="1" algn="ctr" indent="0" marL="0">
              <a:buNone/>
            </a:pPr>
            <a:r>
              <a:rPr lang="ar-SA" altLang="en-US" sz="1700" b="1" dirty="0">
                <a:solidFill>
                  <a:srgbClr val="D6336C"/>
                </a:solidFill>
                <a:latin typeface="Amiri" pitchFamily="2" charset="-78"/>
                <a:ea typeface="Amiri" pitchFamily="2" charset="-78"/>
                <a:cs typeface="Amiri" pitchFamily="2" charset="-78"/>
              </a:rPr>
              <a:t>طُبِّقَتْ</a:t>
            </a:r>
            <a:pPr rtl="1" algn="ctr" indent="0" marL="0">
              <a:buNone/>
            </a:pPr>
            <a:r>
              <a:rPr lang="ar-SA" altLang="en-US" sz="1700" b="1" dirty="0">
                <a:solidFill>
                  <a:srgbClr val="1B3B6F"/>
                </a:solidFill>
                <a:latin typeface="Amiri" pitchFamily="2" charset="-78"/>
                <a:ea typeface="Amiri" pitchFamily="2" charset="-78"/>
                <a:cs typeface="Amiri" pitchFamily="2" charset="-78"/>
              </a:rPr>
              <a:t> هٰذِهِ المَعَايِيرُ مُسْتَقْبَلًا …</a:t>
            </a:r>
            <a:endParaRPr lang="ar-SA" sz="1700" dirty="0"/>
          </a:p>
        </p:txBody>
      </p:sp>
      <p:sp>
        <p:nvSpPr>
          <p:cNvPr id="43" name="Text 40"/>
          <p:cNvSpPr txBox="1"/>
          <p:nvPr/>
        </p:nvSpPr>
        <p:spPr>
          <a:xfrm>
            <a:off x="4133088" y="4110228"/>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II</a:t>
            </a:r>
            <a:endParaRPr lang="en-US" sz="1100" dirty="0"/>
          </a:p>
        </p:txBody>
      </p:sp>
      <p:sp>
        <p:nvSpPr>
          <p:cNvPr id="44" name="Text 41"/>
          <p:cNvSpPr txBox="1"/>
          <p:nvPr/>
        </p:nvSpPr>
        <p:spPr>
          <a:xfrm>
            <a:off x="2286000" y="4110228"/>
            <a:ext cx="1645920" cy="559308"/>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طُبِّقَتْ</a:t>
            </a:r>
            <a:endParaRPr lang="ar-SA" sz="2000" dirty="0"/>
          </a:p>
        </p:txBody>
      </p:sp>
      <p:sp>
        <p:nvSpPr>
          <p:cNvPr id="45" name="Text 42"/>
          <p:cNvSpPr txBox="1"/>
          <p:nvPr/>
        </p:nvSpPr>
        <p:spPr>
          <a:xfrm>
            <a:off x="548640" y="4110228"/>
            <a:ext cx="1554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طَبَّقَ</a:t>
            </a:r>
            <a:endParaRPr lang="ar-SA" sz="20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5943600" y="4724400"/>
            <a:ext cx="5696712"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سَ</a:t>
            </a:r>
            <a:pPr rtl="1" algn="ctr" indent="0" marL="0">
              <a:buNone/>
            </a:pPr>
            <a:r>
              <a:rPr lang="ar-SA" altLang="en-US" sz="1700" b="1" dirty="0">
                <a:solidFill>
                  <a:srgbClr val="D6336C"/>
                </a:solidFill>
                <a:latin typeface="Amiri" pitchFamily="2" charset="-78"/>
                <a:ea typeface="Amiri" pitchFamily="2" charset="-78"/>
                <a:cs typeface="Amiri" pitchFamily="2" charset="-78"/>
              </a:rPr>
              <a:t>تُنْقَذُ</a:t>
            </a:r>
            <a:pPr rtl="1" algn="ctr" indent="0" marL="0">
              <a:buNone/>
            </a:pPr>
            <a:r>
              <a:rPr lang="ar-SA" altLang="en-US" sz="1700" b="1" dirty="0">
                <a:solidFill>
                  <a:srgbClr val="1B3B6F"/>
                </a:solidFill>
                <a:latin typeface="Amiri" pitchFamily="2" charset="-78"/>
                <a:ea typeface="Amiri" pitchFamily="2" charset="-78"/>
                <a:cs typeface="Amiri" pitchFamily="2" charset="-78"/>
              </a:rPr>
              <a:t> أَرْوَاحٌ كَثِيرَةٌ مُسْتَقْبَلًا.</a:t>
            </a:r>
            <a:endParaRPr lang="ar-SA" sz="1700" dirty="0"/>
          </a:p>
        </p:txBody>
      </p:sp>
      <p:sp>
        <p:nvSpPr>
          <p:cNvPr id="48" name="Text 45"/>
          <p:cNvSpPr txBox="1"/>
          <p:nvPr/>
        </p:nvSpPr>
        <p:spPr>
          <a:xfrm>
            <a:off x="4133088" y="4724400"/>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passive</a:t>
            </a:r>
            <a:endParaRPr lang="en-US" sz="1100" dirty="0"/>
          </a:p>
        </p:txBody>
      </p:sp>
      <p:sp>
        <p:nvSpPr>
          <p:cNvPr id="49" name="Text 46"/>
          <p:cNvSpPr txBox="1"/>
          <p:nvPr/>
        </p:nvSpPr>
        <p:spPr>
          <a:xfrm>
            <a:off x="2286000" y="4724400"/>
            <a:ext cx="1645920" cy="559308"/>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تُنْقَذُ</a:t>
            </a:r>
            <a:endParaRPr lang="ar-SA" sz="2000" dirty="0"/>
          </a:p>
        </p:txBody>
      </p:sp>
      <p:sp>
        <p:nvSpPr>
          <p:cNvPr id="50" name="Text 47"/>
          <p:cNvSpPr txBox="1"/>
          <p:nvPr/>
        </p:nvSpPr>
        <p:spPr>
          <a:xfrm>
            <a:off x="548640" y="4724400"/>
            <a:ext cx="1554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يُنْقِذُ</a:t>
            </a:r>
            <a:endParaRPr lang="ar-SA" sz="20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5943600" y="5338572"/>
            <a:ext cx="5696712" cy="559308"/>
          </a:xfrm>
          <a:prstGeom prst="rect">
            <a:avLst/>
          </a:prstGeom>
          <a:noFill/>
          <a:ln/>
        </p:spPr>
        <p:txBody>
          <a:bodyPr wrap="square" lIns="0" tIns="0" rIns="0" bIns="0" rtlCol="0" anchor="ctr"/>
          <a:lstStyle/>
          <a:p>
            <a:pPr rtl="1" algn="ctr" indent="0" marL="0">
              <a:buNone/>
            </a:pPr>
            <a:r>
              <a:rPr lang="ar-SA" altLang="en-US" sz="1700" b="1" dirty="0">
                <a:solidFill>
                  <a:srgbClr val="C77700"/>
                </a:solidFill>
                <a:latin typeface="Amiri" pitchFamily="2" charset="-78"/>
                <a:ea typeface="Amiri" pitchFamily="2" charset="-78"/>
                <a:cs typeface="Amiri" pitchFamily="2" charset="-78"/>
              </a:rPr>
              <a:t>تَضَرَّرَتْ</a:t>
            </a:r>
            <a:pPr rtl="1" algn="ctr" indent="0" marL="0">
              <a:buNone/>
            </a:pPr>
            <a:r>
              <a:rPr lang="ar-SA" altLang="en-US" sz="1700" b="1" dirty="0">
                <a:solidFill>
                  <a:srgbClr val="1B3B6F"/>
                </a:solidFill>
                <a:latin typeface="Amiri" pitchFamily="2" charset="-78"/>
                <a:ea typeface="Amiri" pitchFamily="2" charset="-78"/>
                <a:cs typeface="Amiri" pitchFamily="2" charset="-78"/>
              </a:rPr>
              <a:t> قُرًى بِأَكْمَلِهَا.</a:t>
            </a:r>
            <a:endParaRPr lang="ar-SA" sz="1700" dirty="0"/>
          </a:p>
        </p:txBody>
      </p:sp>
      <p:sp>
        <p:nvSpPr>
          <p:cNvPr id="53" name="Text 50"/>
          <p:cNvSpPr txBox="1"/>
          <p:nvPr/>
        </p:nvSpPr>
        <p:spPr>
          <a:xfrm>
            <a:off x="4133088" y="5338572"/>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not passive</a:t>
            </a:r>
            <a:endParaRPr lang="en-US" sz="1100" dirty="0"/>
          </a:p>
        </p:txBody>
      </p:sp>
      <p:sp>
        <p:nvSpPr>
          <p:cNvPr id="54" name="Text 51"/>
          <p:cNvSpPr txBox="1"/>
          <p:nvPr/>
        </p:nvSpPr>
        <p:spPr>
          <a:xfrm>
            <a:off x="2286000" y="5338572"/>
            <a:ext cx="1645920" cy="559308"/>
          </a:xfrm>
          <a:prstGeom prst="rect">
            <a:avLst/>
          </a:prstGeom>
          <a:noFill/>
          <a:ln/>
        </p:spPr>
        <p:txBody>
          <a:bodyPr wrap="square" lIns="0" tIns="0" rIns="0" bIns="0" rtlCol="0" anchor="ctr"/>
          <a:lstStyle/>
          <a:p>
            <a:pPr rtl="1" algn="ctr" indent="0" marL="0">
              <a:buNone/>
            </a:pPr>
            <a:r>
              <a:rPr lang="ar-SA" altLang="en-US" sz="2000" b="1" dirty="0">
                <a:solidFill>
                  <a:srgbClr val="C77700"/>
                </a:solidFill>
                <a:latin typeface="Amiri" pitchFamily="2" charset="-78"/>
                <a:ea typeface="Amiri" pitchFamily="2" charset="-78"/>
                <a:cs typeface="Amiri" pitchFamily="2" charset="-78"/>
              </a:rPr>
              <a:t>تَضَرَّرَتْ</a:t>
            </a:r>
            <a:endParaRPr lang="ar-SA" sz="2000" dirty="0"/>
          </a:p>
        </p:txBody>
      </p:sp>
      <p:sp>
        <p:nvSpPr>
          <p:cNvPr id="55" name="Text 52"/>
          <p:cNvSpPr txBox="1"/>
          <p:nvPr/>
        </p:nvSpPr>
        <p:spPr>
          <a:xfrm>
            <a:off x="566928" y="5338572"/>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mistakes 1–2: dummirat miʾāta ✗ → dummirat miʾātu ✓ · ajlā ✗ → ujliya ✓ (ḍamma on the first letter).</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THE FOUR LAYERS (WEBSITE RULES 2–4, TEACHING POINT 2 AND TABLE)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 event → response → analysis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السَّرْدُ الرُّبَاعِيُّ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925312" y="1810512"/>
            <a:ext cx="5733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7" name="Text 14"/>
          <p:cNvSpPr txBox="1"/>
          <p:nvPr/>
        </p:nvSpPr>
        <p:spPr>
          <a:xfrm>
            <a:off x="400507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Signal</a:t>
            </a:r>
            <a:endParaRPr lang="en-US" sz="1100" dirty="0"/>
          </a:p>
        </p:txBody>
      </p:sp>
      <p:sp>
        <p:nvSpPr>
          <p:cNvPr id="18" name="Text 15"/>
          <p:cNvSpPr txBox="1"/>
          <p:nvPr/>
        </p:nvSpPr>
        <p:spPr>
          <a:xfrm>
            <a:off x="226771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Tense</a:t>
            </a:r>
            <a:endParaRPr lang="en-US" sz="1100" dirty="0"/>
          </a:p>
        </p:txBody>
      </p:sp>
      <p:sp>
        <p:nvSpPr>
          <p:cNvPr id="19" name="Text 16"/>
          <p:cNvSpPr txBox="1"/>
          <p:nvPr/>
        </p:nvSpPr>
        <p:spPr>
          <a:xfrm>
            <a:off x="53035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Layer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5943600" y="2267712"/>
            <a:ext cx="5696712" cy="682142"/>
          </a:xfrm>
          <a:prstGeom prst="rect">
            <a:avLst/>
          </a:prstGeom>
          <a:noFill/>
          <a:ln/>
        </p:spPr>
        <p:txBody>
          <a:bodyPr wrap="square" lIns="0" tIns="0" rIns="0" bIns="0" rtlCol="0" anchor="ctr"/>
          <a:lstStyle/>
          <a:p>
            <a:pPr rtl="1" algn="ctr" indent="0" marL="0">
              <a:buNone/>
            </a:pPr>
            <a:r>
              <a:rPr lang="ar-SA" altLang="en-US" sz="1700" b="1" dirty="0">
                <a:solidFill>
                  <a:srgbClr val="C77700"/>
                </a:solidFill>
                <a:latin typeface="Amiri" pitchFamily="2" charset="-78"/>
                <a:ea typeface="Amiri" pitchFamily="2" charset="-78"/>
                <a:cs typeface="Amiri" pitchFamily="2" charset="-78"/>
              </a:rPr>
              <a:t>كَانَتِ</a:t>
            </a:r>
            <a:pPr rtl="1" algn="ctr" indent="0" marL="0">
              <a:buNone/>
            </a:pPr>
            <a:r>
              <a:rPr lang="ar-SA" altLang="en-US" sz="1700" b="1" dirty="0">
                <a:solidFill>
                  <a:srgbClr val="1B3B6F"/>
                </a:solidFill>
                <a:latin typeface="Amiri" pitchFamily="2" charset="-78"/>
                <a:ea typeface="Amiri" pitchFamily="2" charset="-78"/>
                <a:cs typeface="Amiri" pitchFamily="2" charset="-78"/>
              </a:rPr>
              <a:t> السُّلْطَاتُ </a:t>
            </a:r>
            <a:pPr rtl="1" algn="ctr" indent="0" marL="0">
              <a:buNone/>
            </a:pPr>
            <a:r>
              <a:rPr lang="ar-SA" altLang="en-US" sz="1700" b="1" dirty="0">
                <a:solidFill>
                  <a:srgbClr val="C77700"/>
                </a:solidFill>
                <a:latin typeface="Amiri" pitchFamily="2" charset="-78"/>
                <a:ea typeface="Amiri" pitchFamily="2" charset="-78"/>
                <a:cs typeface="Amiri" pitchFamily="2" charset="-78"/>
              </a:rPr>
              <a:t>قَدْ</a:t>
            </a:r>
            <a:pPr rtl="1" algn="ctr" indent="0" marL="0">
              <a:buNone/>
            </a:pPr>
            <a:r>
              <a:rPr lang="ar-SA" altLang="en-US" sz="1700" b="1" dirty="0">
                <a:solidFill>
                  <a:srgbClr val="1B3B6F"/>
                </a:solidFill>
                <a:latin typeface="Amiri" pitchFamily="2" charset="-78"/>
                <a:ea typeface="Amiri" pitchFamily="2" charset="-78"/>
                <a:cs typeface="Amiri" pitchFamily="2" charset="-78"/>
              </a:rPr>
              <a:t> أَعَدَّتْ خُطَّةً لِلطَّوَارِئِ.</a:t>
            </a:r>
            <a:endParaRPr lang="ar-SA" sz="1700" dirty="0"/>
          </a:p>
        </p:txBody>
      </p:sp>
      <p:sp>
        <p:nvSpPr>
          <p:cNvPr id="22" name="Text 19"/>
          <p:cNvSpPr txBox="1"/>
          <p:nvPr/>
        </p:nvSpPr>
        <p:spPr>
          <a:xfrm>
            <a:off x="4041648" y="2267712"/>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kānat … qad</a:t>
            </a:r>
            <a:endParaRPr lang="en-US" sz="1100" dirty="0"/>
          </a:p>
        </p:txBody>
      </p:sp>
      <p:sp>
        <p:nvSpPr>
          <p:cNvPr id="23" name="Text 20"/>
          <p:cNvSpPr txBox="1"/>
          <p:nvPr/>
        </p:nvSpPr>
        <p:spPr>
          <a:xfrm>
            <a:off x="230428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24" name="Text 21"/>
          <p:cNvSpPr txBox="1"/>
          <p:nvPr/>
        </p:nvSpPr>
        <p:spPr>
          <a:xfrm>
            <a:off x="56692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before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5943600" y="3004718"/>
            <a:ext cx="56967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كَانَتِ البُنْيَةُ التَّحْتِيَّةُ </a:t>
            </a:r>
            <a:pPr rtl="1" algn="ctr" indent="0" marL="0">
              <a:buNone/>
            </a:pPr>
            <a:r>
              <a:rPr lang="ar-SA" altLang="en-US" sz="1700" b="1" dirty="0">
                <a:solidFill>
                  <a:srgbClr val="C77700"/>
                </a:solidFill>
                <a:latin typeface="Amiri" pitchFamily="2" charset="-78"/>
                <a:ea typeface="Amiri" pitchFamily="2" charset="-78"/>
                <a:cs typeface="Amiri" pitchFamily="2" charset="-78"/>
              </a:rPr>
              <a:t>قَدْ دُمِّرَتْ</a:t>
            </a:r>
            <a:pPr rtl="1" algn="ctr" indent="0" marL="0">
              <a:buNone/>
            </a:pPr>
            <a:r>
              <a:rPr lang="ar-SA" altLang="en-US" sz="1700" b="1" dirty="0">
                <a:solidFill>
                  <a:srgbClr val="1B3B6F"/>
                </a:solidFill>
                <a:latin typeface="Amiri" pitchFamily="2" charset="-78"/>
                <a:ea typeface="Amiri" pitchFamily="2" charset="-78"/>
                <a:cs typeface="Amiri" pitchFamily="2" charset="-78"/>
              </a:rPr>
              <a:t> قَبْلَ وُصُولِ الإِغَاثَةِ.</a:t>
            </a:r>
            <a:endParaRPr lang="ar-SA" sz="1700" dirty="0"/>
          </a:p>
        </p:txBody>
      </p:sp>
      <p:sp>
        <p:nvSpPr>
          <p:cNvPr id="29" name="Text 26"/>
          <p:cNvSpPr txBox="1"/>
          <p:nvPr/>
        </p:nvSpPr>
        <p:spPr>
          <a:xfrm>
            <a:off x="4041648" y="3004718"/>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kānat qad + passive</a:t>
            </a:r>
            <a:endParaRPr lang="en-US" sz="1100" dirty="0"/>
          </a:p>
        </p:txBody>
      </p:sp>
      <p:sp>
        <p:nvSpPr>
          <p:cNvPr id="30" name="Text 27"/>
          <p:cNvSpPr txBox="1"/>
          <p:nvPr/>
        </p:nvSpPr>
        <p:spPr>
          <a:xfrm>
            <a:off x="230428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 passive</a:t>
            </a:r>
            <a:endParaRPr lang="en-US" sz="1100" dirty="0"/>
          </a:p>
        </p:txBody>
      </p:sp>
      <p:sp>
        <p:nvSpPr>
          <p:cNvPr id="31" name="Text 28"/>
          <p:cNvSpPr txBox="1"/>
          <p:nvPr/>
        </p:nvSpPr>
        <p:spPr>
          <a:xfrm>
            <a:off x="56692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before</a:t>
            </a:r>
            <a:endParaRPr lang="en-US" sz="1100" dirty="0"/>
          </a:p>
        </p:txBody>
      </p:sp>
      <p:sp>
        <p:nvSpPr>
          <p:cNvPr id="32" name="Shape 29"/>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3" name="Text 30"/>
          <p:cNvSpPr txBox="1"/>
          <p:nvPr/>
        </p:nvSpPr>
        <p:spPr>
          <a:xfrm>
            <a:off x="5943600" y="3741725"/>
            <a:ext cx="56967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ضَرَبَ الإِعْصَارُ المِنْطَقَةَ، وَ</a:t>
            </a:r>
            <a:pPr rtl="1" algn="ctr" indent="0" marL="0">
              <a:buNone/>
            </a:pPr>
            <a:r>
              <a:rPr lang="ar-SA" altLang="en-US" sz="1700" b="1" dirty="0">
                <a:solidFill>
                  <a:srgbClr val="D6336C"/>
                </a:solidFill>
                <a:latin typeface="Amiri" pitchFamily="2" charset="-78"/>
                <a:ea typeface="Amiri" pitchFamily="2" charset="-78"/>
                <a:cs typeface="Amiri" pitchFamily="2" charset="-78"/>
              </a:rPr>
              <a:t>دُمِّرَتْ</a:t>
            </a:r>
            <a:pPr rtl="1" algn="ctr" indent="0" marL="0">
              <a:buNone/>
            </a:pPr>
            <a:r>
              <a:rPr lang="ar-SA" altLang="en-US" sz="1700" b="1" dirty="0">
                <a:solidFill>
                  <a:srgbClr val="1B3B6F"/>
                </a:solidFill>
                <a:latin typeface="Amiri" pitchFamily="2" charset="-78"/>
                <a:ea typeface="Amiri" pitchFamily="2" charset="-78"/>
                <a:cs typeface="Amiri" pitchFamily="2" charset="-78"/>
              </a:rPr>
              <a:t> مِئَاتُ المَنَازِلِ.</a:t>
            </a:r>
            <a:endParaRPr lang="ar-SA" sz="1700" dirty="0"/>
          </a:p>
        </p:txBody>
      </p:sp>
      <p:sp>
        <p:nvSpPr>
          <p:cNvPr id="34" name="Text 31"/>
          <p:cNvSpPr txBox="1"/>
          <p:nvPr/>
        </p:nvSpPr>
        <p:spPr>
          <a:xfrm>
            <a:off x="4041648" y="3741725"/>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ḍaraba … dummirat</a:t>
            </a:r>
            <a:endParaRPr lang="en-US" sz="1100" dirty="0"/>
          </a:p>
        </p:txBody>
      </p:sp>
      <p:sp>
        <p:nvSpPr>
          <p:cNvPr id="35" name="Text 32"/>
          <p:cNvSpPr txBox="1"/>
          <p:nvPr/>
        </p:nvSpPr>
        <p:spPr>
          <a:xfrm>
            <a:off x="230428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 passive</a:t>
            </a:r>
            <a:endParaRPr lang="en-US" sz="1100" dirty="0"/>
          </a:p>
        </p:txBody>
      </p:sp>
      <p:sp>
        <p:nvSpPr>
          <p:cNvPr id="36" name="Text 33"/>
          <p:cNvSpPr txBox="1"/>
          <p:nvPr/>
        </p:nvSpPr>
        <p:spPr>
          <a:xfrm>
            <a:off x="56692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event</a:t>
            </a:r>
            <a:endParaRPr lang="en-US" sz="1100" dirty="0"/>
          </a:p>
        </p:txBody>
      </p:sp>
      <p:sp>
        <p:nvSpPr>
          <p:cNvPr id="37" name="Shape 34"/>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5943600" y="4478731"/>
            <a:ext cx="5696712" cy="682142"/>
          </a:xfrm>
          <a:prstGeom prst="rect">
            <a:avLst/>
          </a:prstGeom>
          <a:noFill/>
          <a:ln/>
        </p:spPr>
        <p:txBody>
          <a:bodyPr wrap="square" lIns="0" tIns="0" rIns="0" bIns="0" rtlCol="0" anchor="ctr"/>
          <a:lstStyle/>
          <a:p>
            <a:pPr rtl="1" algn="ctr" indent="0" marL="0">
              <a:buNone/>
            </a:pPr>
            <a:r>
              <a:rPr lang="ar-SA" altLang="en-US" sz="1700" b="1" dirty="0">
                <a:solidFill>
                  <a:srgbClr val="1D5FBF"/>
                </a:solidFill>
                <a:latin typeface="Amiri" pitchFamily="2" charset="-78"/>
                <a:ea typeface="Amiri" pitchFamily="2" charset="-78"/>
                <a:cs typeface="Amiri" pitchFamily="2" charset="-78"/>
              </a:rPr>
              <a:t>أَعْلَنَ</a:t>
            </a:r>
            <a:pPr rtl="1" algn="ctr" indent="0" marL="0">
              <a:buNone/>
            </a:pPr>
            <a:r>
              <a:rPr lang="ar-SA" altLang="en-US" sz="1700" b="1" dirty="0">
                <a:solidFill>
                  <a:srgbClr val="1B3B6F"/>
                </a:solidFill>
                <a:latin typeface="Amiri" pitchFamily="2" charset="-78"/>
                <a:ea typeface="Amiri" pitchFamily="2" charset="-78"/>
                <a:cs typeface="Amiri" pitchFamily="2" charset="-78"/>
              </a:rPr>
              <a:t> الوَزِيرُ </a:t>
            </a:r>
            <a:pPr rtl="1" algn="ctr" indent="0" marL="0">
              <a:buNone/>
            </a:pPr>
            <a:r>
              <a:rPr lang="ar-SA" altLang="en-US" sz="1700" b="1" dirty="0">
                <a:solidFill>
                  <a:srgbClr val="1D5FBF"/>
                </a:solidFill>
                <a:latin typeface="Amiri" pitchFamily="2" charset="-78"/>
                <a:ea typeface="Amiri" pitchFamily="2" charset="-78"/>
                <a:cs typeface="Amiri" pitchFamily="2" charset="-78"/>
              </a:rPr>
              <a:t>أَنَّ</a:t>
            </a:r>
            <a:pPr rtl="1" algn="ctr" indent="0" marL="0">
              <a:buNone/>
            </a:pPr>
            <a:r>
              <a:rPr lang="ar-SA" altLang="en-US" sz="1700" b="1" dirty="0">
                <a:solidFill>
                  <a:srgbClr val="1B3B6F"/>
                </a:solidFill>
                <a:latin typeface="Amiri" pitchFamily="2" charset="-78"/>
                <a:ea typeface="Amiri" pitchFamily="2" charset="-78"/>
                <a:cs typeface="Amiri" pitchFamily="2" charset="-78"/>
              </a:rPr>
              <a:t> الحُكُومَةَ أَرْسَلَتْ فِرَقَ الإِغَاثَةِ.</a:t>
            </a:r>
            <a:endParaRPr lang="ar-SA" sz="1700" dirty="0"/>
          </a:p>
        </p:txBody>
      </p:sp>
      <p:sp>
        <p:nvSpPr>
          <p:cNvPr id="41" name="Text 38"/>
          <p:cNvSpPr txBox="1"/>
          <p:nvPr/>
        </p:nvSpPr>
        <p:spPr>
          <a:xfrm>
            <a:off x="4041648" y="4478731"/>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aʿlana anna</a:t>
            </a:r>
            <a:endParaRPr lang="en-US" sz="1100" dirty="0"/>
          </a:p>
        </p:txBody>
      </p:sp>
      <p:sp>
        <p:nvSpPr>
          <p:cNvPr id="42" name="Text 39"/>
          <p:cNvSpPr txBox="1"/>
          <p:nvPr/>
        </p:nvSpPr>
        <p:spPr>
          <a:xfrm>
            <a:off x="230428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speech</a:t>
            </a:r>
            <a:endParaRPr lang="en-US" sz="1100" dirty="0"/>
          </a:p>
        </p:txBody>
      </p:sp>
      <p:sp>
        <p:nvSpPr>
          <p:cNvPr id="43" name="Text 40"/>
          <p:cNvSpPr txBox="1"/>
          <p:nvPr/>
        </p:nvSpPr>
        <p:spPr>
          <a:xfrm>
            <a:off x="56692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response</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5943600" y="5215738"/>
            <a:ext cx="5696712" cy="682142"/>
          </a:xfrm>
          <a:prstGeom prst="rect">
            <a:avLst/>
          </a:prstGeom>
          <a:noFill/>
          <a:ln/>
        </p:spPr>
        <p:txBody>
          <a:bodyPr wrap="square" lIns="0" tIns="0" rIns="0" bIns="0" rtlCol="0" anchor="ctr"/>
          <a:lstStyle/>
          <a:p>
            <a:pPr rtl="1" algn="ctr" indent="0" marL="0">
              <a:buNone/>
            </a:pPr>
            <a:r>
              <a:rPr lang="ar-SA" altLang="en-US" sz="1700" b="1" dirty="0">
                <a:solidFill>
                  <a:srgbClr val="7B3FA0"/>
                </a:solidFill>
                <a:latin typeface="Amiri" pitchFamily="2" charset="-78"/>
                <a:ea typeface="Amiri" pitchFamily="2" charset="-78"/>
                <a:cs typeface="Amiri" pitchFamily="2" charset="-78"/>
              </a:rPr>
              <a:t>لَوْ</a:t>
            </a:r>
            <a:pPr rtl="1" algn="ctr" indent="0" marL="0">
              <a:buNone/>
            </a:pPr>
            <a:r>
              <a:rPr lang="ar-SA" altLang="en-US" sz="1700" b="1" dirty="0">
                <a:solidFill>
                  <a:srgbClr val="1B3B6F"/>
                </a:solidFill>
                <a:latin typeface="Amiri" pitchFamily="2" charset="-78"/>
                <a:ea typeface="Amiri" pitchFamily="2" charset="-78"/>
                <a:cs typeface="Amiri" pitchFamily="2" charset="-78"/>
              </a:rPr>
              <a:t> كَانَتِ البُنْيَةُ أَصْمَدَ، </a:t>
            </a:r>
            <a:pPr rtl="1" algn="ctr" indent="0" marL="0">
              <a:buNone/>
            </a:pPr>
            <a:r>
              <a:rPr lang="ar-SA" altLang="en-US" sz="1700" b="1" dirty="0">
                <a:solidFill>
                  <a:srgbClr val="7B3FA0"/>
                </a:solidFill>
                <a:latin typeface="Amiri" pitchFamily="2" charset="-78"/>
                <a:ea typeface="Amiri" pitchFamily="2" charset="-78"/>
                <a:cs typeface="Amiri" pitchFamily="2" charset="-78"/>
              </a:rPr>
              <a:t>لَكَانَتِ</a:t>
            </a:r>
            <a:pPr rtl="1" algn="ctr" indent="0" marL="0">
              <a:buNone/>
            </a:pPr>
            <a:r>
              <a:rPr lang="ar-SA" altLang="en-US" sz="1700" b="1" dirty="0">
                <a:solidFill>
                  <a:srgbClr val="1B3B6F"/>
                </a:solidFill>
                <a:latin typeface="Amiri" pitchFamily="2" charset="-78"/>
                <a:ea typeface="Amiri" pitchFamily="2" charset="-78"/>
                <a:cs typeface="Amiri" pitchFamily="2" charset="-78"/>
              </a:rPr>
              <a:t> الخَسَائِرُ أَقَلَّ.</a:t>
            </a:r>
            <a:endParaRPr lang="ar-SA" sz="1700" dirty="0"/>
          </a:p>
        </p:txBody>
      </p:sp>
      <p:sp>
        <p:nvSpPr>
          <p:cNvPr id="46" name="Text 43"/>
          <p:cNvSpPr txBox="1"/>
          <p:nvPr/>
        </p:nvSpPr>
        <p:spPr>
          <a:xfrm>
            <a:off x="4041648" y="5215738"/>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 la- · idhā … sa-</a:t>
            </a:r>
            <a:endParaRPr lang="en-US" sz="1100" dirty="0"/>
          </a:p>
        </p:txBody>
      </p:sp>
      <p:sp>
        <p:nvSpPr>
          <p:cNvPr id="47" name="Text 44"/>
          <p:cNvSpPr txBox="1"/>
          <p:nvPr/>
        </p:nvSpPr>
        <p:spPr>
          <a:xfrm>
            <a:off x="230428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 idhā</a:t>
            </a:r>
            <a:endParaRPr lang="en-US" sz="1100" dirty="0"/>
          </a:p>
        </p:txBody>
      </p:sp>
      <p:sp>
        <p:nvSpPr>
          <p:cNvPr id="48" name="Text 45"/>
          <p:cNvSpPr txBox="1"/>
          <p:nvPr/>
        </p:nvSpPr>
        <p:spPr>
          <a:xfrm>
            <a:off x="56692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analysis</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common error: telling the whole account in the simple past, with no past-perfect “before” layer.</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THE RESPONSE AND THE ANALYSIS (WEBSITE READING, LISTENING, MISSION AND MISTAKE 3)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said it — and what if?</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الاسْتِجَابَةُ وَالتَّحْلِيلُ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2344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LAYER 3 · CORE</a:t>
            </a:r>
            <a:endParaRPr lang="en-US" sz="850" dirty="0"/>
          </a:p>
        </p:txBody>
      </p:sp>
      <p:sp>
        <p:nvSpPr>
          <p:cNvPr id="18" name="Text 15"/>
          <p:cNvSpPr txBox="1"/>
          <p:nvPr/>
        </p:nvSpPr>
        <p:spPr>
          <a:xfrm>
            <a:off x="9512808"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قَالَ … إِنَّ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قَالَ رَئِيسُ فَرِيقِ الإِنْقَاذِ إِنَّ الوَقْتَ عَامِلٌ حَاسِمٌ.</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head of the rescue team said that time is a decisive factor.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qāla → inna.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1E6B52"/>
          </a:solidFill>
          <a:ln w="12700">
            <a:solidFill>
              <a:srgbClr val="1E6B52"/>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LAYER 3 · DEVELOP</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أَعْلَنَ … أَنَّ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أَعْلَنَ الوَزِيرُ أَنَّ الحُكُومَةَ أَرْسَلَتْ فِرَقَ الإِغَاثَةِ فَوْرًا.</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minister announced that the government sent relief teams at once.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aʿlana → anna.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C0386B"/>
          </a:solidFill>
          <a:ln w="12700">
            <a:solidFill>
              <a:srgbClr val="C0386B"/>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LAYER 4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لَوْ … لَمَا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لَوْ كَانَتِ المَبَانِي قَدْ بُنِيَتْ وَفْقَ المَعَايِيرِ، لَمَا انْهَارَ هٰذَا العَدَدُ.</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Had the buildings been built to standard, so many would not have collapsed.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Negative: la-mā.</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a Type 2 result takes la-, not sa-.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لَوْ كَانَتِ البُنْيَةُ أَصْمَدَ، لَكَانَتِ الخَسَائِرُ أَقَلَّ</a:t>
            </a:r>
            <a:endParaRPr lang="ar-SA" sz="1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00" b="1" dirty="0">
                <a:solidFill>
                  <a:srgbClr val="B83227"/>
                </a:solidFill>
                <a:latin typeface="Amiri" pitchFamily="2" charset="-78"/>
                <a:ea typeface="Amiri" pitchFamily="2" charset="-78"/>
                <a:cs typeface="Amiri" pitchFamily="2" charset="-78"/>
              </a:rPr>
              <a:t>لَوْ كَانَتِ البُنْيَةُ أَصْمَدَ، سَتَكُونُ الخَسَائِرُ أَقَلَّ</a:t>
            </a:r>
            <a:endParaRPr lang="ar-SA" sz="1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LANGUAGE OF A NEWS REPORT (WEBSITE LISTENING, READING AND WRITING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Sound like a news report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لُغَةُ الأَخْبَارِ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7" name="Text 14"/>
          <p:cNvSpPr txBox="1"/>
          <p:nvPr/>
        </p:nvSpPr>
        <p:spPr>
          <a:xfrm>
            <a:off x="2724912" y="1810512"/>
            <a:ext cx="6620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528048" y="2267712"/>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time adverb</a:t>
            </a:r>
            <a:endParaRPr lang="en-US" sz="1100" dirty="0"/>
          </a:p>
        </p:txBody>
      </p:sp>
      <p:sp>
        <p:nvSpPr>
          <p:cNvPr id="21" name="Text 18"/>
          <p:cNvSpPr txBox="1"/>
          <p:nvPr/>
        </p:nvSpPr>
        <p:spPr>
          <a:xfrm>
            <a:off x="2743200" y="2267712"/>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ضَرَبَ الإِعْصَارُ المِنْطَقَةَ السَّاحِلِيَّةَ </a:t>
            </a:r>
            <a:pPr rtl="1" algn="ctr" indent="0" marL="0">
              <a:buNone/>
            </a:pPr>
            <a:r>
              <a:rPr lang="ar-SA" altLang="en-US" sz="1800" b="1" dirty="0">
                <a:solidFill>
                  <a:srgbClr val="1D5FBF"/>
                </a:solidFill>
                <a:latin typeface="Amiri" pitchFamily="2" charset="-78"/>
                <a:ea typeface="Amiri" pitchFamily="2" charset="-78"/>
                <a:cs typeface="Amiri" pitchFamily="2" charset="-78"/>
              </a:rPr>
              <a:t>فَجْرَ الثُّلَاثَاءِ</a:t>
            </a:r>
            <a:endParaRPr lang="ar-SA" sz="1800" dirty="0"/>
          </a:p>
        </p:txBody>
      </p:sp>
      <p:sp>
        <p:nvSpPr>
          <p:cNvPr id="22" name="Text 19"/>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time stamp</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528048" y="300471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mā yazīdu ʿalā</a:t>
            </a:r>
            <a:endParaRPr lang="en-US" sz="1100" dirty="0"/>
          </a:p>
        </p:txBody>
      </p:sp>
      <p:sp>
        <p:nvSpPr>
          <p:cNvPr id="27" name="Text 24"/>
          <p:cNvSpPr txBox="1"/>
          <p:nvPr/>
        </p:nvSpPr>
        <p:spPr>
          <a:xfrm>
            <a:off x="2743200" y="3004718"/>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وَأُجْلِيَ </a:t>
            </a:r>
            <a:pPr rtl="1" algn="ctr" indent="0" marL="0">
              <a:buNone/>
            </a:pPr>
            <a:r>
              <a:rPr lang="ar-SA" altLang="en-US" sz="1800" b="1" dirty="0">
                <a:solidFill>
                  <a:srgbClr val="D6336C"/>
                </a:solidFill>
                <a:latin typeface="Amiri" pitchFamily="2" charset="-78"/>
                <a:ea typeface="Amiri" pitchFamily="2" charset="-78"/>
                <a:cs typeface="Amiri" pitchFamily="2" charset="-78"/>
              </a:rPr>
              <a:t>مَا يَزِيدُ عَلَى</a:t>
            </a:r>
            <a:pPr rtl="1" algn="ctr" indent="0" marL="0">
              <a:buNone/>
            </a:pPr>
            <a:r>
              <a:rPr lang="ar-SA" altLang="en-US" sz="1800" b="1" dirty="0">
                <a:solidFill>
                  <a:srgbClr val="1B3B6F"/>
                </a:solidFill>
                <a:latin typeface="Amiri" pitchFamily="2" charset="-78"/>
                <a:ea typeface="Amiri" pitchFamily="2" charset="-78"/>
                <a:cs typeface="Amiri" pitchFamily="2" charset="-78"/>
              </a:rPr>
              <a:t> ثَلَاثِينَ أَلْفَ شَخْصٍ</a:t>
            </a:r>
            <a:endParaRPr lang="ar-SA" sz="1800" dirty="0"/>
          </a:p>
        </p:txBody>
      </p:sp>
      <p:sp>
        <p:nvSpPr>
          <p:cNvPr id="28" name="Text 25"/>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more than</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9528048" y="3741725"/>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ghayra anna + noun</a:t>
            </a:r>
            <a:endParaRPr lang="en-US" sz="1100" dirty="0"/>
          </a:p>
        </p:txBody>
      </p:sp>
      <p:sp>
        <p:nvSpPr>
          <p:cNvPr id="31" name="Text 28"/>
          <p:cNvSpPr txBox="1"/>
          <p:nvPr/>
        </p:nvSpPr>
        <p:spPr>
          <a:xfrm>
            <a:off x="2743200" y="3741725"/>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ea typeface="Amiri" pitchFamily="2" charset="-78"/>
                <a:cs typeface="Amiri" pitchFamily="2" charset="-78"/>
              </a:rPr>
              <a:t>غَيْرَ أَنَّ</a:t>
            </a:r>
            <a:pPr rtl="1" algn="ctr" indent="0" marL="0">
              <a:buNone/>
            </a:pPr>
            <a:r>
              <a:rPr lang="ar-SA" altLang="en-US" sz="1800" b="1" dirty="0">
                <a:solidFill>
                  <a:srgbClr val="1B3B6F"/>
                </a:solidFill>
                <a:latin typeface="Amiri" pitchFamily="2" charset="-78"/>
                <a:ea typeface="Amiri" pitchFamily="2" charset="-78"/>
                <a:cs typeface="Amiri" pitchFamily="2" charset="-78"/>
              </a:rPr>
              <a:t> الإِعْصَارَ ضَرَبَ المِنْطَقَةَ</a:t>
            </a:r>
            <a:endParaRPr lang="ar-SA" sz="1800" dirty="0"/>
          </a:p>
        </p:txBody>
      </p:sp>
      <p:sp>
        <p:nvSpPr>
          <p:cNvPr id="32" name="Text 29"/>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however</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9528048" y="4478731"/>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emphasis</a:t>
            </a:r>
            <a:endParaRPr lang="en-US" sz="1100" dirty="0"/>
          </a:p>
        </p:txBody>
      </p:sp>
      <p:sp>
        <p:nvSpPr>
          <p:cNvPr id="35" name="Text 32"/>
          <p:cNvSpPr txBox="1"/>
          <p:nvPr/>
        </p:nvSpPr>
        <p:spPr>
          <a:xfrm>
            <a:off x="2743200" y="4478731"/>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تَضَرَّرَتْ قُرًى </a:t>
            </a:r>
            <a:pPr rtl="1" algn="ctr" indent="0" marL="0">
              <a:buNone/>
            </a:pPr>
            <a:r>
              <a:rPr lang="ar-SA" altLang="en-US" sz="1800" b="1" dirty="0">
                <a:solidFill>
                  <a:srgbClr val="7B3FA0"/>
                </a:solidFill>
                <a:latin typeface="Amiri" pitchFamily="2" charset="-78"/>
                <a:ea typeface="Amiri" pitchFamily="2" charset="-78"/>
                <a:cs typeface="Amiri" pitchFamily="2" charset="-78"/>
              </a:rPr>
              <a:t>بِأَكْمَلِهَا</a:t>
            </a:r>
            <a:endParaRPr lang="ar-SA" sz="1800" dirty="0"/>
          </a:p>
        </p:txBody>
      </p:sp>
      <p:sp>
        <p:nvSpPr>
          <p:cNvPr id="36" name="Text 33"/>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entire</a:t>
            </a:r>
            <a:endParaRPr lang="en-US" sz="1100" dirty="0"/>
          </a:p>
        </p:txBody>
      </p:sp>
      <p:sp>
        <p:nvSpPr>
          <p:cNvPr id="37" name="Shape 3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528048" y="521573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comparatives</a:t>
            </a:r>
            <a:endParaRPr lang="en-US" sz="1100" dirty="0"/>
          </a:p>
        </p:txBody>
      </p:sp>
      <p:sp>
        <p:nvSpPr>
          <p:cNvPr id="39" name="Text 36"/>
          <p:cNvSpPr txBox="1"/>
          <p:nvPr/>
        </p:nvSpPr>
        <p:spPr>
          <a:xfrm>
            <a:off x="2743200" y="5215738"/>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كَانَتِ البُنْيَةُ </a:t>
            </a:r>
            <a:pPr rtl="1" algn="ctr" indent="0" marL="0">
              <a:buNone/>
            </a:pPr>
            <a:r>
              <a:rPr lang="ar-SA" altLang="en-US" sz="1800" b="1" dirty="0">
                <a:solidFill>
                  <a:srgbClr val="0E7C86"/>
                </a:solidFill>
                <a:latin typeface="Amiri" pitchFamily="2" charset="-78"/>
                <a:ea typeface="Amiri" pitchFamily="2" charset="-78"/>
                <a:cs typeface="Amiri" pitchFamily="2" charset="-78"/>
              </a:rPr>
              <a:t>أَكْثَرَ صُمُودًا</a:t>
            </a:r>
            <a:pPr rtl="1" algn="ctr" indent="0" marL="0">
              <a:buNone/>
            </a:pPr>
            <a:r>
              <a:rPr lang="ar-SA" altLang="en-US" sz="1800" b="1" dirty="0">
                <a:solidFill>
                  <a:srgbClr val="1B3B6F"/>
                </a:solidFill>
                <a:latin typeface="Amiri" pitchFamily="2" charset="-78"/>
                <a:cs typeface="Amiri" pitchFamily="2" charset="-78"/>
              </a:rPr>
              <a:t> = </a:t>
            </a:r>
            <a:pPr rtl="1" algn="ctr" indent="0" marL="0">
              <a:buNone/>
            </a:pPr>
            <a:r>
              <a:rPr lang="ar-SA" altLang="en-US" sz="1800" b="1" dirty="0">
                <a:solidFill>
                  <a:srgbClr val="0E7C86"/>
                </a:solidFill>
                <a:latin typeface="Amiri" pitchFamily="2" charset="-78"/>
                <a:ea typeface="Amiri" pitchFamily="2" charset="-78"/>
                <a:cs typeface="Amiri" pitchFamily="2" charset="-78"/>
              </a:rPr>
              <a:t>أَصْمَدَ</a:t>
            </a:r>
            <a:endParaRPr lang="ar-SA" sz="1800" dirty="0"/>
          </a:p>
        </p:txBody>
      </p:sp>
      <p:sp>
        <p:nvSpPr>
          <p:cNvPr id="40" name="Text 37"/>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more resilient</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news report moves: when and where → what happened (passive) → how many → who said what → what we learn.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Disaster passives in a four-layer narrative</a:t>
            </a:r>
            <a:endParaRPr lang="en-US" sz="22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250" b="1" dirty="0">
                <a:solidFill>
                  <a:srgbClr val="8A6D1E"/>
                </a:solidFill>
                <a:latin typeface="Amiri" pitchFamily="2" charset="-78"/>
                <a:ea typeface="Amiri" pitchFamily="2" charset="-78"/>
                <a:cs typeface="Amiri" pitchFamily="2" charset="-78"/>
              </a:rPr>
              <a:t>مَبْنِيُّ الكَوَارِثِ لِلْمَجْهُولِ فِي السَّرْدِ الرُّبَاعِيِّ</a:t>
            </a:r>
            <a:endParaRPr lang="ar-SA" sz="22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Reporting passive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dummirat / ujliya / uʿlinat + nominative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دُمِّرَتْ مِئَاتُ المَنَازِلِ   ·   أُجْلِيَ آلَافُ السُّكَّانِ</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Layer 1 · before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kānat qad + past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كَانَتِ السُّلْطَاتُ قَدْ حَذَّرَتِ السُّكَّانَ</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Past perfect of a passive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kānat qad + passive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كَانَتِ البُنْيَةُ التَّحْتِيَّةُ قَدْ دُمِّرَتْ قَبْلَ وُصُولِ الإِغَاثَةِ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Layer 4 · analysis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law … la- · idhā … sa-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لَوْ كَانَتِ البُنْيَةُ أَصْمَدَ، لَكَانَتِ الخَسَائِرُ أَقَلَّ   ·   إِذَا اسْتَثْمَرْنَا فِي الإِنْذَارِ المُبَكِّرِ، سَتُنْقَذُ أَرْوَاحٌ</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reporting passive.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دُمِّرَتْ مِئَاتَ المَنَازِلِ.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دَمَّرَتْ مِئَاتُ المَنَازِلِ نَفْسَهَا.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دُمِّرَتْ مِئَاتُ المَنَازِلِ.</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“thousands were evacuated”?</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أُجْلِيَ آلَافُ السُّكَّانِ.</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أَجْلَى آلَافُ السُّكَّانِ.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يُجْلِي آلَافُ السُّكَّانِ.</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“a state of emergency was declared”?</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أَعْلَنَتْ حَالَةُ الطَّوَارِئِ.</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أُعْلِنَتْ حَالَةُ الطَّوَارِئِ.</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تُعْلِنُ حَالَةُ الطَّوَارِئِ.</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of a passive: ___ </a:t>
            </a:r>
            <a:pPr algn="l" indent="0" marL="0">
              <a:buNone/>
            </a:pPr>
            <a:r>
              <a:rPr lang="ar-SA" altLang="en-US" sz="1650" b="1" dirty="0">
                <a:solidFill>
                  <a:srgbClr val="1B3B6F"/>
                </a:solidFill>
                <a:latin typeface="Amiri" pitchFamily="2" charset="-78"/>
                <a:ea typeface="Amiri" pitchFamily="2" charset="-78"/>
                <a:cs typeface="Amiri" pitchFamily="2" charset="-78"/>
              </a:rPr>
              <a:t>البُنْيَةُ التَّحْتِيَّةُ قَدْ دُمِّرَتْ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reporting passive.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دُمِّرَتْ مِئَاتَ المَنَازِلِ.</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دَمَّرَتْ مِئَاتُ المَنَازِلِ نَفْسَهَا.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دُمِّرَتْ مِئَاتُ المَنَازِلِ.</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subject is nominative.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“thousands were evacuated”?</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أُجْلِيَ آلَافُ السُّكَّانِ.</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أَجْلَى آلَافُ السُّكَّانِ.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يُجْلِي آلَافُ السُّكَّانِ.</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أُجْلِيَ</a:t>
            </a:r>
            <a:pPr algn="l" indent="0" marL="0">
              <a:buNone/>
            </a:pPr>
            <a:r>
              <a:rPr lang="en-US" sz="1050" i="1" dirty="0">
                <a:solidFill>
                  <a:srgbClr val="8A6D1E"/>
                </a:solidFill>
                <a:latin typeface="Calibri" pitchFamily="34" charset="0"/>
                <a:cs typeface="Amiri" pitchFamily="2" charset="-78"/>
              </a:rPr>
              <a:t> is the Form IV passive.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“a state of emergency was declared”?</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أَعْلَنَتْ حَالَةُ الطَّوَارِئِ.</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أُعْلِنَتْ حَالَةُ الطَّوَارِئِ.</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تُعْلِنُ حَالَةُ الطَّوَارِئِ.</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أُعْلِنَتْ</a:t>
            </a:r>
            <a:pPr algn="l" indent="0" marL="0">
              <a:buNone/>
            </a:pPr>
            <a:r>
              <a:rPr lang="en-US" sz="1050" i="1" dirty="0">
                <a:solidFill>
                  <a:srgbClr val="8A6D1E"/>
                </a:solidFill>
                <a:latin typeface="Calibri" pitchFamily="34" charset="0"/>
                <a:cs typeface="Amiri" pitchFamily="2" charset="-78"/>
              </a:rPr>
              <a:t> is the passive.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of a passive: ___ </a:t>
            </a:r>
            <a:pPr algn="l" indent="0" marL="0">
              <a:buNone/>
            </a:pPr>
            <a:r>
              <a:rPr lang="ar-SA" altLang="en-US" sz="1650" b="1" dirty="0">
                <a:solidFill>
                  <a:srgbClr val="1B3B6F"/>
                </a:solidFill>
                <a:latin typeface="Amiri" pitchFamily="2" charset="-78"/>
                <a:ea typeface="Amiri" pitchFamily="2" charset="-78"/>
                <a:cs typeface="Amiri" pitchFamily="2" charset="-78"/>
              </a:rPr>
              <a:t>البُنْيَةُ التَّحْتِيَّةُ قَدْ دُمِّرَتْ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سَـ</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كَانَتْ قَدْ</a:t>
            </a:r>
            <a:pPr algn="l" indent="0" marL="0">
              <a:buNone/>
            </a:pPr>
            <a:r>
              <a:rPr lang="en-US" sz="1050" i="1" dirty="0">
                <a:solidFill>
                  <a:srgbClr val="8A6D1E"/>
                </a:solidFill>
                <a:latin typeface="Calibri" pitchFamily="34" charset="0"/>
                <a:cs typeface="Amiri" pitchFamily="2" charset="-78"/>
              </a:rPr>
              <a:t> + passive forms the past perfect of a passive.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Watch me write a four-layer report</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Before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C77700"/>
                </a:solidFill>
                <a:latin typeface="Amiri" pitchFamily="2" charset="-78"/>
                <a:ea typeface="Amiri" pitchFamily="2" charset="-78"/>
                <a:cs typeface="Amiri" pitchFamily="2" charset="-78"/>
              </a:rPr>
              <a:t>كَانَتِ</a:t>
            </a:r>
            <a:pPr rtl="1" algn="ctr" indent="0" marL="0">
              <a:buNone/>
            </a:pPr>
            <a:r>
              <a:rPr lang="ar-SA" altLang="en-US" sz="2200" b="1" dirty="0">
                <a:solidFill>
                  <a:srgbClr val="1B3B6F"/>
                </a:solidFill>
                <a:latin typeface="Amiri" pitchFamily="2" charset="-78"/>
                <a:ea typeface="Amiri" pitchFamily="2" charset="-78"/>
                <a:cs typeface="Amiri" pitchFamily="2" charset="-78"/>
              </a:rPr>
              <a:t> السُّلْطَاتُ </a:t>
            </a:r>
            <a:pPr rtl="1" algn="ctr" indent="0" marL="0">
              <a:buNone/>
            </a:pPr>
            <a:r>
              <a:rPr lang="ar-SA" altLang="en-US" sz="2200" b="1" dirty="0">
                <a:solidFill>
                  <a:srgbClr val="C77700"/>
                </a:solidFill>
                <a:latin typeface="Amiri" pitchFamily="2" charset="-78"/>
                <a:ea typeface="Amiri" pitchFamily="2" charset="-78"/>
                <a:cs typeface="Amiri" pitchFamily="2" charset="-78"/>
              </a:rPr>
              <a:t>قَدْ</a:t>
            </a:r>
            <a:pPr rtl="1" algn="ctr" indent="0" marL="0">
              <a:buNone/>
            </a:pPr>
            <a:r>
              <a:rPr lang="ar-SA" altLang="en-US" sz="2200" b="1" dirty="0">
                <a:solidFill>
                  <a:srgbClr val="1B3B6F"/>
                </a:solidFill>
                <a:latin typeface="Amiri" pitchFamily="2" charset="-78"/>
                <a:ea typeface="Amiri" pitchFamily="2" charset="-78"/>
                <a:cs typeface="Amiri" pitchFamily="2" charset="-78"/>
              </a:rPr>
              <a:t> أَعَدَّتْ …</a:t>
            </a:r>
            <a:endParaRPr lang="ar-SA" sz="22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perfect.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Event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D6336C"/>
                </a:solidFill>
                <a:latin typeface="Amiri" pitchFamily="2" charset="-78"/>
                <a:ea typeface="Amiri" pitchFamily="2" charset="-78"/>
                <a:cs typeface="Amiri" pitchFamily="2" charset="-78"/>
              </a:rPr>
              <a:t>دُمِّرَتْ</a:t>
            </a:r>
            <a:pPr rtl="1" algn="ctr" indent="0" marL="0">
              <a:buNone/>
            </a:pPr>
            <a:r>
              <a:rPr lang="ar-SA" altLang="en-US" sz="2700" b="1" dirty="0">
                <a:solidFill>
                  <a:srgbClr val="1B3B6F"/>
                </a:solidFill>
                <a:latin typeface="Amiri" pitchFamily="2" charset="-78"/>
                <a:ea typeface="Amiri" pitchFamily="2" charset="-78"/>
                <a:cs typeface="Amiri" pitchFamily="2" charset="-78"/>
              </a:rPr>
              <a:t> مِئَاتُ · </a:t>
            </a:r>
            <a:pPr rtl="1" algn="ctr" indent="0" marL="0">
              <a:buNone/>
            </a:pPr>
            <a:r>
              <a:rPr lang="ar-SA" altLang="en-US" sz="2700" b="1" dirty="0">
                <a:solidFill>
                  <a:srgbClr val="D6336C"/>
                </a:solidFill>
                <a:latin typeface="Amiri" pitchFamily="2" charset="-78"/>
                <a:ea typeface="Amiri" pitchFamily="2" charset="-78"/>
                <a:cs typeface="Amiri" pitchFamily="2" charset="-78"/>
              </a:rPr>
              <a:t>أُجْلِيَ</a:t>
            </a:r>
            <a:pPr rtl="1" algn="ctr" indent="0" marL="0">
              <a:buNone/>
            </a:pPr>
            <a:r>
              <a:rPr lang="ar-SA" altLang="en-US" sz="2700" b="1" dirty="0">
                <a:solidFill>
                  <a:srgbClr val="1B3B6F"/>
                </a:solidFill>
                <a:latin typeface="Amiri" pitchFamily="2" charset="-78"/>
                <a:cs typeface="Amiri" pitchFamily="2" charset="-78"/>
              </a:rPr>
              <a:t> …</a:t>
            </a:r>
            <a:endParaRPr lang="ar-SA" sz="27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Passive, -u.</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Response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أَعْلَنَ</a:t>
            </a:r>
            <a:pPr rtl="1" algn="ctr" indent="0" marL="0">
              <a:buNone/>
            </a:pPr>
            <a:r>
              <a:rPr lang="ar-SA" altLang="en-US" sz="2800" b="1" dirty="0">
                <a:solidFill>
                  <a:srgbClr val="1B3B6F"/>
                </a:solidFill>
                <a:latin typeface="Amiri" pitchFamily="2" charset="-78"/>
                <a:ea typeface="Amiri" pitchFamily="2" charset="-78"/>
                <a:cs typeface="Amiri" pitchFamily="2" charset="-78"/>
              </a:rPr>
              <a:t> الوَزِيرُ </a:t>
            </a:r>
            <a:pPr rtl="1" algn="ctr" indent="0" marL="0">
              <a:buNone/>
            </a:pPr>
            <a:r>
              <a:rPr lang="ar-SA" altLang="en-US" sz="2800" b="1" dirty="0">
                <a:solidFill>
                  <a:srgbClr val="1D5FBF"/>
                </a:solidFill>
                <a:latin typeface="Amiri" pitchFamily="2" charset="-78"/>
                <a:ea typeface="Amiri" pitchFamily="2" charset="-78"/>
                <a:cs typeface="Amiri" pitchFamily="2" charset="-78"/>
              </a:rPr>
              <a:t>أَنَّ</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Who said it?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Analysis</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2" charset="-78"/>
                <a:ea typeface="Amiri" pitchFamily="2" charset="-78"/>
                <a:cs typeface="Amiri" pitchFamily="2" charset="-78"/>
              </a:rPr>
              <a:t>لَوْ</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7B3FA0"/>
                </a:solidFill>
                <a:latin typeface="Amiri" pitchFamily="2" charset="-78"/>
                <a:ea typeface="Amiri" pitchFamily="2" charset="-78"/>
                <a:cs typeface="Amiri" pitchFamily="2" charset="-78"/>
              </a:rPr>
              <a:t>لَكَانَتِ</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What if?</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LAYER 1</a:t>
            </a:r>
            <a:endParaRPr lang="en-US" sz="800" dirty="0"/>
          </a:p>
        </p:txBody>
      </p:sp>
      <p:sp>
        <p:nvSpPr>
          <p:cNvPr id="47" name="Shape 43"/>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LAYER 2</a:t>
            </a:r>
            <a:endParaRPr lang="en-US" sz="800" dirty="0"/>
          </a:p>
        </p:txBody>
      </p:sp>
      <p:sp>
        <p:nvSpPr>
          <p:cNvPr id="49" name="Shape 45"/>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LAYER 3</a:t>
            </a:r>
            <a:endParaRPr lang="en-US" sz="800" dirty="0"/>
          </a:p>
        </p:txBody>
      </p:sp>
      <p:sp>
        <p:nvSpPr>
          <p:cNvPr id="51" name="Shape 47"/>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LAYER 4</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كَانَتِ السُّلْطَاتُ قَدْ أَعَدَّتْ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خُطَّةً لِلطَّوَارِئِ قَبْلَ مَوْسِمِ العَوَاصِفِ. غَيْرَ أَنَّ الإِعْصَارَ ضَرَبَ المِنْطَقَةَ السَّاحِلِيَّةَ.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دُمِّرَتْ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مِئَاتُ المَنَازِلِ،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وَأُجْلِيَ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أَكْثَرُ مِنْ ثَلَاثِينَ أَلْفَ شَخْصٍ.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أَعْلَنَ الوَزِيرُ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الحُكُومَةَ أَرْسَلَتْ فِرَقَ الإِغَاثَةِ فَوْرًا.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لَوْ</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كَانَتِ البُنْيَةُ التَّحْتِيَّةُ أَكْثَرَ صُمُودًا،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لَكَانَتِ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الخَسَائِرُ أَقَلَّ بِكَثِيرٍ.</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The authorities had prepared an emergency plan before the storm season. However, the hurricane struck the coastal region. Hundreds of homes were destroyed, and more than thirty thousand people were evacuated. The minister announced that the government sent relief teams at once. Had the infrastructure been more resilient, the losses would have been far fewer.</a:t>
            </a:r>
            <a:endParaRPr lang="en-US" sz="9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كَانَتِ السُّلْطَاتُ قَدْ حَذَّرَتِ السُّكَّانَ قَبْلَ أَنْ يَضْرِبَ الإِعْصَارُ</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authorities had warned residents before the hurricane struck</a:t>
            </a:r>
            <a:endParaRPr lang="en-US" sz="1250" dirty="0"/>
          </a:p>
          <a:p>
            <a:pPr indent="0" marL="0">
              <a:buNone/>
            </a:pPr>
            <a:r>
              <a:rPr lang="en-US" sz="1050" i="1" dirty="0">
                <a:solidFill>
                  <a:srgbClr val="8A6D1E"/>
                </a:solidFill>
                <a:latin typeface="Calibri" pitchFamily="34" charset="0"/>
                <a:cs typeface="Amiri" pitchFamily="2" charset="-78"/>
              </a:rPr>
              <a:t>Layer 1 past perfect.</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دُمِّرَتْ مِئَاتُ المَنَازِلِ وَأُجْلِيَ آلَافُ السُّكَّانِ</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hundreds of homes were destroyed and thousands of residents were evacuated</a:t>
            </a:r>
            <a:endParaRPr lang="en-US" sz="1250" dirty="0"/>
          </a:p>
          <a:p>
            <a:pPr indent="0" marL="0">
              <a:buNone/>
            </a:pPr>
            <a:r>
              <a:rPr lang="en-US" sz="1050" i="1" dirty="0">
                <a:solidFill>
                  <a:srgbClr val="8A6D1E"/>
                </a:solidFill>
                <a:latin typeface="Calibri" pitchFamily="34" charset="0"/>
                <a:cs typeface="Amiri" pitchFamily="2" charset="-78"/>
              </a:rPr>
              <a:t>Reporting passives, nominative subjects.</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لَوْ كَانَتِ البُنْيَةُ التَّحْتِيَّةُ أَصْمَدَ، لَكَانَتِ الخَسَائِرُ أَقَلَّ بِكَثِيرٍ</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had the infrastructure been more resilient, the losses would have been far fewer</a:t>
            </a:r>
            <a:endParaRPr lang="en-US" sz="1250" dirty="0"/>
          </a:p>
          <a:p>
            <a:pPr indent="0" marL="0">
              <a:buNone/>
            </a:pPr>
            <a:r>
              <a:rPr lang="en-US" sz="1050" i="1" dirty="0">
                <a:solidFill>
                  <a:srgbClr val="8A6D1E"/>
                </a:solidFill>
                <a:latin typeface="Calibri" pitchFamily="34" charset="0"/>
                <a:cs typeface="Amiri" pitchFamily="2" charset="-78"/>
              </a:rPr>
              <a:t>Layer 4 counterfactual.</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NATURAL DISASTERS — DESCRIBING AND RESPONDING TO EXTREME EVENTS”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Disasters and responses: match the picture</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حَدَثٌ طَبِيعِيٌّ مُتَطَرِّفٌ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earthquake</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storm</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evacuation</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ضَرَبَتْ عَاصِفَةٌ شَدِيدَةٌ المِنْطَقَةَ.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 إِجْلَاءُ السُّكَّانِ إِلَى مَكَانٍ آمِنٍ.</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وَقَعَ زِلْزَالٌ قَوِيٌّ.</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حَدَثٌ طَبِيعِيٌّ مُتَطَرِّفٌ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earthquake</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وَقَعَ زِلْزَالٌ قَوِيٌّ.</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A strong earthquake occurred.</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storm</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ضَرَبَتْ عَاصِفَةٌ شَدِيدَةٌ المِنْطَقَةَ.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A severe storm struck the region.</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evacuation</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يَجِبُ إِجْلَاءُ السُّكَّانِ إِلَى مَكَانٍ آمِنٍ.</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Residents must be evacuated to a safe place.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DISASTER REPORT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 event + response / analysis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تَقْرِيرًا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Before (kānat qad)</a:t>
            </a:r>
            <a:endParaRPr lang="en-US" sz="1100" dirty="0"/>
          </a:p>
        </p:txBody>
      </p:sp>
      <p:sp>
        <p:nvSpPr>
          <p:cNvPr id="17" name="Text 14"/>
          <p:cNvSpPr txBox="1"/>
          <p:nvPr/>
        </p:nvSpPr>
        <p:spPr>
          <a:xfrm>
            <a:off x="43982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Event (passive)</a:t>
            </a:r>
            <a:endParaRPr lang="en-US" sz="1100" dirty="0"/>
          </a:p>
        </p:txBody>
      </p:sp>
      <p:sp>
        <p:nvSpPr>
          <p:cNvPr id="18" name="Text 15"/>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Response / analysis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كَانَتِ السُّلْطَاتُ قَدْ أَعَدَّتْ خُطَّةً لِلطَّوَارِئِ</a:t>
            </a:r>
            <a:endParaRPr lang="ar-SA" sz="1600" dirty="0"/>
          </a:p>
        </p:txBody>
      </p:sp>
      <p:sp>
        <p:nvSpPr>
          <p:cNvPr id="21" name="Text 18"/>
          <p:cNvSpPr txBox="1"/>
          <p:nvPr/>
        </p:nvSpPr>
        <p:spPr>
          <a:xfrm>
            <a:off x="4416552"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فَدُمِّرَتْ مِئَاتُ المَنَازِلِ وَانْقَطَعَتِ الشَّبَكَاتُ</a:t>
            </a:r>
            <a:endParaRPr lang="ar-SA" sz="1600" dirty="0"/>
          </a:p>
        </p:txBody>
      </p:sp>
      <p:sp>
        <p:nvSpPr>
          <p:cNvPr id="22" name="Text 19"/>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وَأَعْلَنَ الوَزِيرُ أَنَّ الحُكُومَةَ أَرْسَلَتْ فِرَقَ الإِغَاثَةِ</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كَانَ قَدْ تَمَّ تَحْذِيرُ السُّكَّانِ مِنَ الفَيَضَانَاتِ</a:t>
            </a:r>
            <a:endParaRPr lang="ar-SA" sz="1600" dirty="0"/>
          </a:p>
        </p:txBody>
      </p:sp>
      <p:sp>
        <p:nvSpPr>
          <p:cNvPr id="27" name="Text 24"/>
          <p:cNvSpPr txBox="1"/>
          <p:nvPr/>
        </p:nvSpPr>
        <p:spPr>
          <a:xfrm>
            <a:off x="441655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وَأُجْلِيَ آلَافُ السُّكَّانِ إِلَى مُخَيَّمَاتٍ مُؤَقَّتَةٍ</a:t>
            </a:r>
            <a:endParaRPr lang="ar-SA" sz="1600" dirty="0"/>
          </a:p>
        </p:txBody>
      </p:sp>
      <p:sp>
        <p:nvSpPr>
          <p:cNvPr id="28" name="Text 25"/>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وَلَوْ كَانَتِ البُنْيَةُ أَصْمَدَ لَكَانَتِ الخَسَائِرُ أَقَلَّ</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كَانَتِ المَبَانِي قَدْ صَمَدَتْ قُرُونًا قَبْلَ الزِّلْزَالِ</a:t>
            </a:r>
            <a:endParaRPr lang="ar-SA" sz="1600" dirty="0"/>
          </a:p>
        </p:txBody>
      </p:sp>
      <p:sp>
        <p:nvSpPr>
          <p:cNvPr id="31" name="Text 28"/>
          <p:cNvSpPr txBox="1"/>
          <p:nvPr/>
        </p:nvSpPr>
        <p:spPr>
          <a:xfrm>
            <a:off x="44165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وَأُعْلِنَتْ حَالَةُ الطَّوَارِئِ فِي سَاعَاتٍ</a:t>
            </a:r>
            <a:endParaRPr lang="ar-SA" sz="1600" dirty="0"/>
          </a:p>
        </p:txBody>
      </p:sp>
      <p:sp>
        <p:nvSpPr>
          <p:cNvPr id="32" name="Text 29"/>
          <p:cNvSpPr txBox="1"/>
          <p:nvPr/>
        </p:nvSpPr>
        <p:spPr>
          <a:xfrm>
            <a:off x="548640" y="3840480"/>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اسْتَثْمَرْنَا فِي الإِنْذَارِ المُبَكِّرِ سَتُنْقَذُ أَرْوَاحٌ</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Then underline every passive verb and circle the -u on the noun after it.</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Event, before — or response / analysis?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دُمِّرَتْ مِئَاتُ المَنَازِلِ</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أُجْلِيَ آلَافُ السُّكَّانِ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أُعْلِنَتْ حَالَةُ الطَّوَارِئِ</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السُّلْطَاتُ قَدْ حَذَّرَتِ السُّكَّانَ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قَدْ تَمَّ إِعْدَادُ الخُطَّةِ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البُنْيَةُ قَدْ دُمِّرَتْ سَابِقًا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أَعْلَنَ الوَزِيرُ أَنَّ الإِغَاثَةَ وَصَلَتْ</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لَوْ كَانَ الإِنْذَارُ مُبَكِّرًا، لَنَجَا كَثِيرُونَ</a:t>
            </a:r>
            <a:endParaRPr lang="ar-SA" sz="15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إِذَا اسْتَثْمَرْنَا فِي الإِنْذَارِ، سَتُنْقَذُ أَرْوَاحٌ</a:t>
            </a:r>
            <a:endParaRPr lang="ar-SA" sz="135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passive event (Layer 2)</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before (Layer 1)</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reported / analysis (Layers 3–4)</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passive event (Layer 2)</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دُمِّرَتْ مِئَاتُ المَنَازِلِ</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أُجْلِيَ آلَافُ السُّكَّانِ</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أُعْلِنَتْ حَالَةُ الطَّوَارِئِ</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before (Layer 1)</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السُّلْطَاتُ قَدْ حَذَّرَتِ السُّكَّانَ</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قَدْ تَمَّ إِعْدَادُ الخُطَّةِ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البُنْيَةُ قَدْ دُمِّرَتْ سَابِقًا</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reported / analysis (Layers 3–4)</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أَعْلَنَ الوَزِيرُ أَنَّ الإِغَاثَةَ وَصَلَتْ</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كَانَ الإِنْذَارُ مُبَكِّرًا، لَنَجَا كَثِيرُونَ</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إِذَا اسْتَثْمَرْنَا فِي الإِنْذَارِ، سَتُنْقَذُ أَرْوَاحٌ</a:t>
            </a:r>
            <a:endParaRPr lang="ar-SA" sz="17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belongs to Layer 1 (before)?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ضَرَبَ الإِعْصَارُ المِنْطَقَةَ.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أَعْلَنَ الوَزِيرُ الطَّوَارِئَ.</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السُّلْطَاتُ قَدْ حَذَّرَتِ السُّكَّانَ.</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Layer 4 counterfactual?</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اسْتَثْمَرْنَا، سَتُنْقَذُ أَرْوَاحٌ.</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كَانَتِ البُنْيَةُ أَصْمَدَ، لَكَانَتِ الخَسَائِرُ أَقَلَّ.</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دُمِّرَتِ المَنَازِلُ.</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reports an official (Layer 3)?</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دُمِّرَتِ المَنَازِلُ.</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أَعْلَنَ الوَزِيرُ أَنَّ الحُكُومَةَ أَرْسَلَتِ الإِغَاثَةَ.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ضَرَبَ الفَيَضَانُ المَدِينَةَ.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Layer 4 future measure?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كَانَ الإِنْذَارُ مُبَكِّرًا، لَنَجَا كَثِيرُونَ.</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أُجْلِيَ السُّكَّانُ.</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اسْتَثْمَرْنَا فِي الإِنْذَارِ المُبَكِّرِ، سَتُنْقَذُ أَرْوَاحٌ.</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belongs to Layer 1 (before)?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ضَرَبَ الإِعْصَارُ المِنْطَقَةَ.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أَعْلَنَ الوَزِيرُ الطَّوَارِئَ.</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 السُّلْطَاتُ قَدْ حَذَّرَتِ السُّكَّانَ.</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كَانَتْ قَدْ</a:t>
            </a:r>
            <a:pPr algn="l" indent="0" marL="0">
              <a:buNone/>
            </a:pPr>
            <a:r>
              <a:rPr lang="en-US" sz="1050" i="1" dirty="0">
                <a:solidFill>
                  <a:srgbClr val="8A6D1E"/>
                </a:solidFill>
                <a:latin typeface="Calibri" pitchFamily="34" charset="0"/>
                <a:cs typeface="Amiri" pitchFamily="2" charset="-78"/>
              </a:rPr>
              <a:t> + past is the past-perfect preparation.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Layer 4 counterfactual?</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اسْتَثْمَرْنَا، سَتُنْقَذُ أَرْوَاحٌ.</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كَانَتِ البُنْيَةُ أَصْمَدَ، لَكَانَتِ الخَسَائِرُ أَقَلَّ.</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دُمِّرَتِ المَنَازِلُ.</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the counterfactual regret.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reports an official (Layer 3)?</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دُمِّرَتِ المَنَازِلُ.</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أَعْلَنَ الوَزِيرُ أَنَّ الحُكُومَةَ أَرْسَلَتِ الإِغَاثَةَ.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ضَرَبَ الفَيَضَانُ المَدِينَةَ.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أَعْلَنَ … أَنَّ</a:t>
            </a:r>
            <a:pPr algn="l" indent="0" marL="0">
              <a:buNone/>
            </a:pPr>
            <a:r>
              <a:rPr lang="en-US" sz="1050" i="1" dirty="0">
                <a:solidFill>
                  <a:srgbClr val="8A6D1E"/>
                </a:solidFill>
                <a:latin typeface="Calibri" pitchFamily="34" charset="0"/>
                <a:cs typeface="Amiri" pitchFamily="2" charset="-78"/>
              </a:rPr>
              <a:t> is reported speech.</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Layer 4 future measure?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كَانَ الإِنْذَارُ مُبَكِّرًا، لَنَجَا كَثِيرُونَ.</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أُجْلِيَ السُّكَّانُ.</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اسْتَثْمَرْنَا فِي الإِنْذَارِ المُبَكِّرِ، سَتُنْقَذُ أَرْوَاحٌ.</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the real future measure.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دُمِّرَتْ مِئَاتَ المَنَازِلِ.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dummirat miʾāta?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أَجْلَى آلَافُ السُّكَّانِ.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ajlā ālāfu?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كَانَتِ البُنْيَةُ أَصْمَدَ، سَتَكُونُ الخَسَائِرُ أَقَلَّ.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sa-?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دُمِّرَتْ مِئَاتَ المَنَازِلِ.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دُمِّرَتْ مِئَاتُ المَنَازِلِ.</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passive subject is nominative: </a:t>
            </a:r>
            <a:pPr algn="l" indent="0" marL="0">
              <a:buNone/>
            </a:pPr>
            <a:r>
              <a:rPr lang="ar-SA" altLang="en-US" sz="1500" b="1" dirty="0">
                <a:solidFill>
                  <a:srgbClr val="1B3B6F"/>
                </a:solidFill>
                <a:latin typeface="Amiri" pitchFamily="2" charset="-78"/>
                <a:ea typeface="Amiri" pitchFamily="2" charset="-78"/>
                <a:cs typeface="Amiri" pitchFamily="2" charset="-78"/>
              </a:rPr>
              <a:t>مِئَاتُ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أَجْلَى آلَافُ السُّكَّانِ.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أُجْلِيَ آلَافُ السُّكَّانِ.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reporting passive is </a:t>
            </a:r>
            <a:pPr algn="l" indent="0" marL="0">
              <a:buNone/>
            </a:pPr>
            <a:r>
              <a:rPr lang="ar-SA" altLang="en-US" sz="1500" b="1" dirty="0">
                <a:solidFill>
                  <a:srgbClr val="1B3B6F"/>
                </a:solidFill>
                <a:latin typeface="Amiri" pitchFamily="2" charset="-78"/>
                <a:ea typeface="Amiri" pitchFamily="2" charset="-78"/>
                <a:cs typeface="Amiri" pitchFamily="2" charset="-78"/>
              </a:rPr>
              <a:t>أُجْلِيَ</a:t>
            </a:r>
            <a:pPr algn="l" indent="0" marL="0">
              <a:buNone/>
            </a:pPr>
            <a:r>
              <a:rPr lang="en-US" sz="1150" b="1" dirty="0">
                <a:solidFill>
                  <a:srgbClr val="1B3B6F"/>
                </a:solidFill>
                <a:latin typeface="Calibri" pitchFamily="34" charset="0"/>
                <a:cs typeface="Amiri" pitchFamily="2" charset="-78"/>
              </a:rPr>
              <a:t>, with a ḍamma on the first letter.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لَوْ كَانَتِ البُنْيَةُ أَصْمَدَ، سَتَكُونُ الخَسَائِرُ أَقَلَّ.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250" b="1" dirty="0">
                <a:solidFill>
                  <a:srgbClr val="1E6B52"/>
                </a:solidFill>
                <a:latin typeface="Amiri" pitchFamily="2" charset="-78"/>
                <a:ea typeface="Amiri" pitchFamily="2" charset="-78"/>
                <a:cs typeface="Amiri" pitchFamily="2" charset="-78"/>
              </a:rPr>
              <a:t>لَوْ كَانَتِ البُنْيَةُ أَصْمَدَ، لَكَانَتِ الخَسَائِرُ أَقَلَّ.</a:t>
            </a:r>
            <a:endParaRPr lang="ar-SA" sz="225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Type 2 result takes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ea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Listening: a flood and its aftermath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authorities done before the storm season?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Prepared an emergency plan and warned residents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Cancelled all plans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to homes and networks?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Homes were built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changed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Homes were destroyed and networks were cut off</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people were evacuated?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hundred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None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Over thirty thousand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minister announce?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government sent relief teams immediately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was done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Help would not come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Infrastructure makes no difference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infrastructure been more resilient, losses would be far fewer</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Losses were unavoidable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2, 3 and 4.</a:t>
            </a:r>
            <a:endParaRPr lang="en-US" sz="1250" dirty="0"/>
          </a:p>
          <a:p>
            <a:pPr algn="l" indent="0" marL="0">
              <a:buNone/>
            </a:pPr>
            <a:r>
              <a:rPr lang="en-US" sz="1250" dirty="0">
                <a:solidFill>
                  <a:srgbClr val="1E6B52"/>
                </a:solidFill>
                <a:latin typeface="Calibri" pitchFamily="34" charset="0"/>
                <a:cs typeface="Amiri" pitchFamily="2" charset="-78"/>
              </a:rPr>
              <a:t>Listen for: dummirat · ujliya · uʿlinat · aʿlana anna.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كَانَتِ السُّلْطَاتُ قَدْ أَعَدَّتْ خُطَّةً لِلطَّوَارِئِ قَبْلَ مَوْسِمِ العَوَاصِفِ، وَكَانَ قَدْ تَمَّ تَحْذِيرُ السُّكَّانِ مِنِ احْتِمَالِ حُدُوثِ فَيَضَانَاتٍ.</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authorities had prepared an emergency plan before the storm season, and residents had been warned of possible floods.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غَيْرَ أَنَّ الإِعْصَارَ ضَرَبَ المِنْطَقَةَ السَّاحِلِيَّةَ فَجْرَ الثُّلَاثَاءِ. دُمِّرَتْ مِئَاتُ المَنَازِلِ، وَانْقَطَعَتْ شَبَكَاتُ الكَهْرَبَاءِ وَالمِيَاهِ، وَأُجْلِيَ مَا يَزِيدُ عَلَى ثَلَاثِينَ أَلْفَ شَخْصٍ.</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However, the hurricane struck the coastal region at dawn on Tuesday. Hundreds of homes were destroyed, power and water networks were cut off, and more than thirty thousand people were evacuated.</a:t>
            </a:r>
            <a:endParaRPr lang="en-US" sz="120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وَأُعْلِنَتْ حَالَةُ الطَّوَارِئِ. أَعْلَنَ الوَزِيرُ أَنَّ الحُكُومَةَ أَرْسَلَتْ فِرَقَ الإِغَاثَةِ فَوْرًا، وَأَشَارَ الهِلَالُ الأَحْمَرُ إِلَى أَنَّ الاحْتِيَاجَاتِ الإِنْسَانِيَّةَ ضَخْمَةٌ.</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state of emergency was declared. The minister announced that the government sent relief teams at once, and the Red Crescent pointed out that humanitarian needs are huge.</a:t>
            </a:r>
            <a:endParaRPr lang="en-US" sz="120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لَوْ كَانَتِ البُنْيَةُ التَّحْتِيَّةُ أَكْثَرَ صُمُودًا، لَكَانَتِ الخَسَائِرُ أَقَلَّ بِكَثِيرٍ.</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the infrastructure been more resilient, the losses would have been far fewer.</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وَإِذَا اسْتَثْمَرَتِ الحُكُومَاتُ فِي أَنْظِمَةِ الإِنْذَارِ المُبَكِّرِ، سَتُنْقَذُ أَرْوَاحٌ كَثِيرَةٌ مُسْتَقْبَلًا.</a:t>
            </a:r>
            <a:endParaRPr lang="ar-SA" sz="18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if governments invest in early-warning systems, many lives will be saved in the future.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authorities done before the storm season?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Prepared an emergency plan and warned residents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Cancelled all plans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كَانَتِ السُّلْطَاتُ قَدْ أَعَدَّتْ خُطَّةً … وَكَانَ قَدْ تَمَّ تَحْذِيرُ السُّكَّانِ.</a:t>
            </a:r>
            <a:endParaRPr lang="ar-SA" sz="130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to homes and networks?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Homes were built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changed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Homes were destroyed and networks were cut off</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دُمِّرَتْ مِئَاتُ المَنَازِلِ، وَانْقَطَعَتْ شَبَكَاتُ الكَهْرَبَاءِ وَالمِيَاهِ.</a:t>
            </a:r>
            <a:endParaRPr lang="ar-SA" sz="130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people were evacuated?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 hundred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None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Over thirty thousand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أُجْلِيَ مَا يَزِيدُ عَلَى ثَلَاثِينَ أَلْفَ شَخْصٍ.</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minister announce?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government sent relief teams immediately</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was done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Help would not come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أَعْلَنَ الوَزِيرُ أَنَّ الحُكُومَةَ أَرْسَلَتْ فِرَقَ الإِغَاثَةِ فَوْرًا.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Infrastructure makes no difference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infrastructure been more resilient, losses would be far fewer</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Losses were unavoidable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لَوْ كَانَتِ البُنْيَةُ التَّحْتِيَّةُ أَكْثَرَ صُمُودًا، لَكَانَتِ الخَسَائِرُ أَقَلَّ.</a:t>
            </a:r>
            <a:endParaRPr lang="ar-SA" sz="12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2, 3 and 4.</a:t>
            </a:r>
            <a:endParaRPr lang="en-US" sz="1250" dirty="0"/>
          </a:p>
          <a:p>
            <a:pPr algn="l" indent="0" marL="0">
              <a:buNone/>
            </a:pPr>
            <a:r>
              <a:rPr lang="en-US" sz="1250" dirty="0">
                <a:solidFill>
                  <a:srgbClr val="1E6B52"/>
                </a:solidFill>
                <a:latin typeface="Calibri" pitchFamily="34" charset="0"/>
                <a:cs typeface="Amiri" pitchFamily="2" charset="-78"/>
              </a:rPr>
              <a:t>Listen for: dummirat · ujliya · uʿlinat · aʿlana anna.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Speaking: report a disaster in layers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حَدَثَ؟ اسْتَعْمِلْ مَبْنِيًّا لِلْمَجْهُولِ: دُمِّرَتْ · أُجْلِيَ · أُعْلِنَتْ.</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كَانَتِ السُّلْطَاتُ قَدْ فَعَلَتْ قَبْلَ الكَارِثَةِ؟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كَانَ الاسْتِعْدَادُ أَفْضَلَ، مَاذَا كَانَ سَيَخْتَلِفُ؟</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دُمِّرَتْ ___ وَأُجْلِيَ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كَانَتِ السُّلْطَاتُ قَدْ ___ قَبْلَ الكَارِثَةِ.</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لَوْ كَانَتِ البُنْيَةُ أَصْمَدَ، لَكَانَتِ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كَانَتِ السُّلْطَاتُ قَدْ فَعَلَتْ؟</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had the authorities done?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كَانَتِ السُّلْطَاتُ قَدْ حَذَّرَتِ السُّكَّانَ وَأَعَدَّتْ خُطَّةَ طَوَارِئَ.</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The authorities had warned residents and prepared an emergency plan.</a:t>
            </a:r>
            <a:endParaRPr lang="en-US" sz="9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disaster sentences in the reporting passive.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five disaster sentences in the reporting passive.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past-perfect preparation and a reported-speech response.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past-perfect preparation and a reported-speech response.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110–120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full four-layer report with both conditional types.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full four-layer report with both conditional types.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السُّلْطَاتُ قَدْ ______ قَبْلَ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authorities had … before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غَيْرَ أَنَّ ______ ضَرَبَ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However, the … struck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أَعْلَنَ الوَزِيرُ 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minister announced that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إِذَا اسْتَثْمَرَتِ الحُكُومَاتُ فِي ______ ، سَتُنْقَذُ أَرْوَاحٌ.</a:t>
            </a:r>
            <a:endParaRPr lang="ar-SA" sz="14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governments invest in …, lives will be saved.</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دُمِّرَتْ مِئَاتُ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Hundreds of homes were destroyed.</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أُجْلِيَ آلَافُ ______ إِلَى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Thousands of … were evacuated to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أُعْلِنَتْ حَالَةُ الطَّوَارِئِ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state of emergency was declared in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انْقَطَعَتْ شَبَكَاتُ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 networks were cut off.</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lnSpc>
                <a:spcPct val="120000"/>
              </a:lnSpc>
              <a:buNone/>
            </a:pPr>
            <a:r>
              <a:rPr lang="ar-SA" altLang="en-US" sz="1100" b="1" dirty="0">
                <a:solidFill>
                  <a:srgbClr val="1B3B6F"/>
                </a:solidFill>
                <a:latin typeface="Amiri" pitchFamily="2" charset="-78"/>
                <a:ea typeface="Amiri" pitchFamily="2" charset="-78"/>
                <a:cs typeface="Amiri" pitchFamily="2" charset="-78"/>
              </a:rPr>
              <a:t>المَنَازِلِ  ·  السُّكَّانِ  ·  مُخَيَّمَاتٍ مُؤَقَّتَةٍ  ·  المِنْطَقَةِ السَّاحِلِيَّةِ  ·  الكَهْرَبَاءِ وَالمِيَاهِ  ·  حَذَّرَتِ السُّكَّانَ  ·  أَعَدَّتْ خُطَّةً لِلطَّوَارِئِ  ·  مَوْسِمِ العَوَاصِفِ  ·  الإِعْصَارَ  ·  الحُكُومَةَ أَرْسَلَتْ فِرَقَ الإِغَاثَةِ  ·  أَنْظِمَةِ الإِنْذَارِ المُبَكِّرِ  ·  الخَسَائِرُ أَقَلَّ</a:t>
            </a:r>
            <a:endParaRPr lang="ar-SA" sz="11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a disaster response report of one hundred and ten to one hundred and twenty words using the four layers. Use a past-perfect preparation, disaster passives (dummirat, ujliya, uʿlinat), reported speech from officials, and both conditional types.</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past-perfect preparation layer (kānat … qad …).</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Disaster passives with nominative subjects.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reported-speech response layer (aʿlana … anna / qāla … inna).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2 regret and a Type 1 future measure.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قَدْ تَمَّ تَحْذِيرُ السُّكَّانِ</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residents had been warned</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فَجْرَ الثُّلَاثَاءِ</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dawn on Tuesday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يَزِيدُ عَلَى ثَلَاثِينَ أَلْفَ شَخْصٍ</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 than thirty thousand people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أَشَارَ الهِلَالُ الأَحْمَرُ إِلَى أَنَّ</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Red Crescent pointed out that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أَكْثَرَ صُمُودًا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 resilient</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كَانَتِ السُّلْطَاتُ قَدْ أَعَدَّتْ خُطَّةً لِلطَّوَارِئِ قَبْلَ مَوْسِمِ العَوَاصِفِ، وَكَانَ قَدْ تَمَّ تَحْذِيرُ السُّكَّانِ مِنِ احْتِمَالِ الفَيَضَانَاتِ. غَيْرَ أَنَّ الإِعْصَارَ ضَرَبَ المِنْطَقَةَ السَّاحِلِيَّةَ فَجْرَ الثُّلَاثَاءِ. دُمِّرَتْ مِئَاتُ المَنَازِلِ، وَانْقَطَعَتْ شَبَكَاتُ الكَهْرَبَاءِ، وَأُجْلِيَ أَكْثَرُ مِنْ ثَلَاثِينَ أَلْفَ شَخْصٍ، وَأُعْلِنَتْ حَالَةُ الطَّوَارِئِ. أَعْلَنَ الوَزِيرُ أَنَّ الحُكُومَةَ أَرْسَلَتْ فِرَقَ الإِغَاثَةِ فَوْرًا، وَأَشَارَ الهِلَالُ الأَحْمَرُ إِلَى أَنَّ الاحْتِيَاجَاتِ الإِنْسَانِيَّةَ ضَخْمَةٌ. لَوْ كَانَتِ البُنْيَةُ التَّحْتِيَّةُ أَكْثَرَ صُمُودًا، لَكَانَتِ الخَسَائِرُ أَقَلَّ بِكَثِيرٍ. وَإِذَا اسْتَثْمَرَتِ الحُكُومَاتُ فِي أَنْظِمَةِ الإِنْذَارِ المُبَكِّرِ، سَتُنْقَذُ أَرْوَاحٌ كَثِيرَةٌ فِي المُسْتَقْبَلِ.</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authorities had prepared an emergency plan before the storm season, and residents had been warned of possible floods. However, the hurricane struck the coastal region at dawn on Tuesday. Hundreds of homes were destroyed, power networks were cut off, more than thirty thousand people were evacuated, and a state of emergency was declared. The minister announced that the government sent relief teams at once, and the Red Crescent pointed out that humanitarian needs are huge. Had the infrastructure been more resilient, the losses would have been far fewer. And if governments invest in early-warning systems, many lives will be saved in the future.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kānat … qad aʿaddat (Layer 1)</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dummirat · ujliya · uʿlinat (Layer 2)</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aʿlana … anna (Layer 3)</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law … la- · idhā … sa- (Layer 4)</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every passive verb, the noun ends in -u (miʾātu, ālāfu).</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least three passives: dummirat, ujliya, uʿlinat.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opened with a “before” layer: kānat … qad + past.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reported an official: aʿlana anna or qāla inna.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ended with a Type 2 regret (law … la-) and a Type 1 measure (idhā … sa-).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reporting passive.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دُمِّرَتْ مِئَاتُ المَنَازِلِ.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دُمِّرَتْ مِئَاتَ المَنَازِلِ.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دَمَّرَتْ مِئَاتُ المَنَازِلِ نَفْسَهَا.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“thousands were evacuated”?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أَجْلَى آلَافُ السُّكَّانِ.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أُجْلِيَ آلَافُ السُّكَّانِ.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يُجْلِي آلَافُ السُّكَّانِ.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of a passive: ___ </a:t>
            </a:r>
            <a:pPr algn="l" indent="0" marL="0">
              <a:buNone/>
            </a:pPr>
            <a:r>
              <a:rPr lang="ar-SA" altLang="en-US" sz="1650" b="1" dirty="0">
                <a:solidFill>
                  <a:srgbClr val="1B3B6F"/>
                </a:solidFill>
                <a:latin typeface="Amiri" pitchFamily="2" charset="-78"/>
                <a:ea typeface="Amiri" pitchFamily="2" charset="-78"/>
                <a:cs typeface="Amiri" pitchFamily="2" charset="-78"/>
              </a:rPr>
              <a:t>البُنْيَةُ قَدْ دُمِّرَتْ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reporting passive.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دُمِّرَتْ مِئَاتُ المَنَازِلِ.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دُمِّرَتْ مِئَاتَ المَنَازِلِ.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دَمَّرَتْ مِئَاتُ المَنَازِلِ نَفْسَهَا.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subject is nominative.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“thousands were evacuated”?</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أَجْلَى آلَافُ السُّكَّانِ.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أُجْلِيَ آلَافُ السُّكَّانِ.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يُجْلِي آلَافُ السُّكَّانِ.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أُجْلِيَ</a:t>
            </a:r>
            <a:pPr algn="l" indent="0" marL="0">
              <a:buNone/>
            </a:pPr>
            <a:r>
              <a:rPr lang="en-US" sz="1050" i="1" dirty="0">
                <a:solidFill>
                  <a:srgbClr val="8A6D1E"/>
                </a:solidFill>
                <a:latin typeface="Calibri" pitchFamily="34" charset="0"/>
                <a:cs typeface="Amiri" pitchFamily="2" charset="-78"/>
              </a:rPr>
              <a:t> is the passive.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of a passive: ___ </a:t>
            </a:r>
            <a:pPr algn="l" indent="0" marL="0">
              <a:buNone/>
            </a:pPr>
            <a:r>
              <a:rPr lang="ar-SA" altLang="en-US" sz="1650" b="1" dirty="0">
                <a:solidFill>
                  <a:srgbClr val="1B3B6F"/>
                </a:solidFill>
                <a:latin typeface="Amiri" pitchFamily="2" charset="-78"/>
                <a:ea typeface="Amiri" pitchFamily="2" charset="-78"/>
                <a:cs typeface="Amiri" pitchFamily="2" charset="-78"/>
              </a:rPr>
              <a:t>البُنْيَةُ قَدْ دُمِّرَتْ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كَانَتِ</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سَـ</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إِذَا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كَانَتْ قَدْ</a:t>
            </a:r>
            <a:pPr algn="l" indent="0" marL="0">
              <a:buNone/>
            </a:pPr>
            <a:r>
              <a:rPr lang="en-US" sz="1050" i="1" dirty="0">
                <a:solidFill>
                  <a:srgbClr val="8A6D1E"/>
                </a:solidFill>
                <a:latin typeface="Calibri" pitchFamily="34" charset="0"/>
                <a:cs typeface="Amiri" pitchFamily="2" charset="-78"/>
              </a:rPr>
              <a:t> + passive forms the past perfect of a passive.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 earthquake report</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كَانَتِ المِنْطَقَةُ الجَبَلِيَّةُ قَدْ عَاشَتْ سَنَوَاتٍ مِنَ الهُدُوءِ قَبْلَ أَنْ يَضْرِبَهَا الزِّلْزَالُ لَيْلًا. تَضَرَّرَتْ قُرًى بِأَكْمَلِهَا، وَدُمِّرَتْ مَبَانٍ تَارِيخِيَّةٌ كَانَتْ قَدْ صَمَدَتْ قُرُونًا. أُجْلِيَ النَّاجُونَ إِلَى مُخَيَّمَاتٍ مُؤَقَّتَةٍ، وَأُعْلِنَتْ حَالَةُ الطَّوَارِئِ فِي سَاعَاتٍ. وَقَالَ رَئِيسُ فَرِيقِ الإِنْقَاذِ إِنَّ الوَقْتَ عَامِلٌ حَاسِمٌ فِي إِنْقَاذِ الأَرْوَاحِ. لَوْ كَانَتِ المَبَانِي قَدْ بُنِيَتْ وَفْقَ مَعَايِيرَ مُقَاوِمَةٍ لِلزَّلَازِلِ، لَمَا انْهَارَ هٰذَا العَدَدُ الكَبِيرُ. وَإِذَا طُبِّقَتْ هٰذِهِ المَعَايِيرُ مُسْتَقْبَلًا، سَتَقِلُّ الخَسَائِرُ فِي أَيِّ زِلْزَالٍ قَادِمٍ.</a:t>
            </a:r>
            <a:endParaRPr lang="ar-SA" sz="24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مَوْسِمِ العَوَاصِفِ</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storm season</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تَحْذِيرُ</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warning</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السَّاحِلِيَّةَ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coastal</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شَبَكَاتُ</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networks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الهِلَالُ الأَحْمَرُ</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Red Crescent</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الاحْتِيَاجَاتِ</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needs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النَّاجُونَ</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survivors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مُخَيَّمَاتٍ مُؤَقَّتَةٍ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temporary camps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عَامِلٌ حَاسِمٌ</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decisive factor</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الإِنْذَارِ المُبَكِّرِ</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early warning</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region experienced before the earthquake?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Frequent quakes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Years of calm</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flood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to the historic buildings?</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were renovated</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were unaffected</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were destroyed, though they had stood for centuries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were the survivors evacuated?</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temporary camps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hotels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Nowhere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rescue-team leader say?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was no hope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Time is a decisive factor in saving lives</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Help was unnecessary</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buildings met quake-resistant standards, fewer would have collapsed</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Standards make no difference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Collapse was unavoidable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region experienced before the earthquake?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Frequent quakes</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Years of calm</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flood</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كَانَتِ المِنْطَقَةُ … قَدْ عَاشَتْ سَنَوَاتٍ مِنَ الهُدُوءِ.</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to the historic buildings?</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were renovated</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were unaffected</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were destroyed, though they had stood for centuries</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دُمِّرَتْ مَبَانٍ تَارِيخِيَّةٌ كَانَتْ قَدْ صَمَدَتْ قُرُونًا.</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were the survivors evacuated?</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temporary camps</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hotels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Nowhere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أُجْلِيَ النَّاجُونَ إِلَى مُخَيَّمَاتٍ مُؤَقَّتَةٍ.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rescue-team leader say?</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was no hope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Time is a decisive factor in saving lives</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Help was unnecessary</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قَالَ رَئِيسُ فَرِيقِ الإِنْقَاذِ إِنَّ الوَقْتَ عَامِلٌ حَاسِمٌ.</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buildings met quake-resistant standards, fewer would have collapsed</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Standards make no difference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Collapse was unavoidable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لَوْ كَانَتِ المَبَانِي قَدْ بُنِيَتْ وَفْقَ مَعَايِيرَ مُقَاوِمَةٍ، لَمَا انْهَارَ هٰذَا العَدَدُ.</a:t>
            </a:r>
            <a:endParaRPr lang="ar-SA"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Disaster Mission — Passives, Layers and Analysis</a:t>
            </a:r>
            <a:endParaRPr lang="en-US" sz="19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complete — ___ </a:t>
            </a:r>
            <a:pPr algn="l" indent="0" marL="0">
              <a:buNone/>
            </a:pPr>
            <a:r>
              <a:rPr lang="ar-SA" altLang="en-US" sz="1650" b="1" dirty="0">
                <a:solidFill>
                  <a:srgbClr val="1B3B6F"/>
                </a:solidFill>
                <a:latin typeface="Amiri" pitchFamily="2" charset="-78"/>
                <a:ea typeface="Amiri" pitchFamily="2" charset="-78"/>
                <a:cs typeface="Amiri" pitchFamily="2" charset="-78"/>
              </a:rPr>
              <a:t>مِئَاتُ المَنَازِلِ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دَمَّرَتْ</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دُمِّرَتْ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دُمِّرَتِ المَنَازِلَ</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ea typeface="Amiri" pitchFamily="2" charset="-78"/>
                <a:cs typeface="Amiri" pitchFamily="2" charset="-78"/>
              </a:rPr>
              <a:t>أُجْلِيَ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السُّكَّانِ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آلَافُ</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آلَافَ</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بِآلَافِ</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which means “was declared”?</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أَعْلَنَتْ</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تُعْلِنُ</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أُعْلِنَتْ</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Layer: «</a:t>
            </a:r>
            <a:pPr algn="l" indent="0" marL="0">
              <a:buNone/>
            </a:pPr>
            <a:r>
              <a:rPr lang="ar-SA" altLang="en-US" sz="1650" b="1" dirty="0">
                <a:solidFill>
                  <a:srgbClr val="1B3B6F"/>
                </a:solidFill>
                <a:latin typeface="Amiri" pitchFamily="2" charset="-78"/>
                <a:ea typeface="Amiri" pitchFamily="2" charset="-78"/>
                <a:cs typeface="Amiri" pitchFamily="2" charset="-78"/>
              </a:rPr>
              <a:t>كَانَتِ السُّلْطَاتُ قَدْ حَذَّرَتْ</a:t>
            </a:r>
            <a:pPr algn="l" indent="0" marL="0">
              <a:buNone/>
            </a:pPr>
            <a:r>
              <a:rPr lang="en-US" sz="1250" b="1" dirty="0">
                <a:solidFill>
                  <a:srgbClr val="1B3B6F"/>
                </a:solidFill>
                <a:latin typeface="Calibri" pitchFamily="34" charset="0"/>
                <a:cs typeface="Amiri" pitchFamily="2" charset="-78"/>
              </a:rPr>
              <a:t>» belongs to …</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Layer 2 (event)</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Layer 4 (analysis)</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Layer 1 (before)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perfect passive: complete — </a:t>
            </a:r>
            <a:pPr algn="l" indent="0" marL="0">
              <a:buNone/>
            </a:pPr>
            <a:r>
              <a:rPr lang="ar-SA" altLang="en-US" sz="1650" b="1" dirty="0">
                <a:solidFill>
                  <a:srgbClr val="1B3B6F"/>
                </a:solidFill>
                <a:latin typeface="Amiri" pitchFamily="2" charset="-78"/>
                <a:ea typeface="Amiri" pitchFamily="2" charset="-78"/>
                <a:cs typeface="Amiri" pitchFamily="2" charset="-78"/>
              </a:rPr>
              <a:t>كَانَتِ البُنْيَةُ قَدْ</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دُمِّرَتْ</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تُدَمَّرُ</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دَمَّرَتْ</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complete — </a:t>
            </a:r>
            <a:pPr algn="l" indent="0" marL="0">
              <a:buNone/>
            </a:pPr>
            <a:r>
              <a:rPr lang="ar-SA" altLang="en-US" sz="1650" b="1" dirty="0">
                <a:solidFill>
                  <a:srgbClr val="1B3B6F"/>
                </a:solidFill>
                <a:latin typeface="Amiri" pitchFamily="2" charset="-78"/>
                <a:ea typeface="Amiri" pitchFamily="2" charset="-78"/>
                <a:cs typeface="Amiri" pitchFamily="2" charset="-78"/>
              </a:rPr>
              <a:t>أَعْلَنَ الوَزِيرُ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الإِغَاثَةَ وَصَلَتْ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complete — ___ </a:t>
            </a:r>
            <a:pPr algn="l" indent="0" marL="0">
              <a:buNone/>
            </a:pPr>
            <a:r>
              <a:rPr lang="ar-SA" altLang="en-US" sz="1650" b="1" dirty="0">
                <a:solidFill>
                  <a:srgbClr val="1B3B6F"/>
                </a:solidFill>
                <a:latin typeface="Amiri" pitchFamily="2" charset="-78"/>
                <a:ea typeface="Amiri" pitchFamily="2" charset="-78"/>
                <a:cs typeface="Amiri" pitchFamily="2" charset="-78"/>
              </a:rPr>
              <a:t>مِئَاتُ المَنَازِلِ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دَمَّرَتْ</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دُمِّرَتْ</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دُمِّرَتِ المَنَازِلَ</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names no doer; the subject is nominative.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ea typeface="Amiri" pitchFamily="2" charset="-78"/>
                <a:cs typeface="Amiri" pitchFamily="2" charset="-78"/>
              </a:rPr>
              <a:t>أُجْلِيَ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السُّكَّانِ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آلَافُ</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آلَافَ</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بِآلَافِ</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subject is nominative: </a:t>
            </a:r>
            <a:pPr algn="l" indent="0" marL="0">
              <a:buNone/>
            </a:pPr>
            <a:r>
              <a:rPr lang="ar-SA" altLang="en-US" sz="1350" dirty="0">
                <a:solidFill>
                  <a:srgbClr val="8A6D1E"/>
                </a:solidFill>
                <a:latin typeface="Amiri" pitchFamily="2" charset="-78"/>
                <a:ea typeface="Amiri" pitchFamily="2" charset="-78"/>
                <a:cs typeface="Amiri" pitchFamily="2" charset="-78"/>
              </a:rPr>
              <a:t>آلَافُ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which means “was declared”?</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أَعْلَنَتْ</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تُعْلِنُ</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أُعْلِنَتْ</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أُعْلِنَتْ</a:t>
            </a:r>
            <a:pPr algn="l" indent="0" marL="0">
              <a:buNone/>
            </a:pPr>
            <a:r>
              <a:rPr lang="en-US" sz="1050" i="1" dirty="0">
                <a:solidFill>
                  <a:srgbClr val="8A6D1E"/>
                </a:solidFill>
                <a:latin typeface="Calibri" pitchFamily="34" charset="0"/>
                <a:cs typeface="Amiri" pitchFamily="2" charset="-78"/>
              </a:rPr>
              <a:t> is the passive.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Layer: «</a:t>
            </a:r>
            <a:pPr algn="l" indent="0" marL="0">
              <a:buNone/>
            </a:pPr>
            <a:r>
              <a:rPr lang="ar-SA" altLang="en-US" sz="1650" b="1" dirty="0">
                <a:solidFill>
                  <a:srgbClr val="1B3B6F"/>
                </a:solidFill>
                <a:latin typeface="Amiri" pitchFamily="2" charset="-78"/>
                <a:ea typeface="Amiri" pitchFamily="2" charset="-78"/>
                <a:cs typeface="Amiri" pitchFamily="2" charset="-78"/>
              </a:rPr>
              <a:t>كَانَتِ السُّلْطَاتُ قَدْ حَذَّرَتْ</a:t>
            </a:r>
            <a:pPr algn="l" indent="0" marL="0">
              <a:buNone/>
            </a:pPr>
            <a:r>
              <a:rPr lang="en-US" sz="1250" b="1" dirty="0">
                <a:solidFill>
                  <a:srgbClr val="1B3B6F"/>
                </a:solidFill>
                <a:latin typeface="Calibri" pitchFamily="34" charset="0"/>
                <a:cs typeface="Amiri" pitchFamily="2" charset="-78"/>
              </a:rPr>
              <a:t>» belongs to …</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Layer 2 (event)</a:t>
            </a:r>
            <a:endParaRPr lang="en-US" sz="125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Layer 4 (analysis)</a:t>
            </a:r>
            <a:endParaRPr lang="en-US" sz="125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Layer 1 (before)</a:t>
            </a:r>
            <a:endParaRPr lang="en-US" sz="125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perfect opens the before-layer.</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perfect passive: complete — </a:t>
            </a:r>
            <a:pPr algn="l" indent="0" marL="0">
              <a:buNone/>
            </a:pPr>
            <a:r>
              <a:rPr lang="ar-SA" altLang="en-US" sz="1650" b="1" dirty="0">
                <a:solidFill>
                  <a:srgbClr val="1B3B6F"/>
                </a:solidFill>
                <a:latin typeface="Amiri" pitchFamily="2" charset="-78"/>
                <a:ea typeface="Amiri" pitchFamily="2" charset="-78"/>
                <a:cs typeface="Amiri" pitchFamily="2" charset="-78"/>
              </a:rPr>
              <a:t>كَانَتِ البُنْيَةُ قَدْ</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دُمِّرَتْ</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تُدَمَّرُ</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دَمَّرَتْ</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كَانَتْ قَدْ</a:t>
            </a:r>
            <a:pPr algn="l" indent="0" marL="0">
              <a:buNone/>
            </a:pPr>
            <a:r>
              <a:rPr lang="en-US" sz="1050" i="1" dirty="0">
                <a:solidFill>
                  <a:srgbClr val="8A6D1E"/>
                </a:solidFill>
                <a:latin typeface="Calibri" pitchFamily="34" charset="0"/>
                <a:cs typeface="Amiri" pitchFamily="2" charset="-78"/>
              </a:rPr>
              <a:t> + passive: </a:t>
            </a:r>
            <a:pPr algn="l" indent="0" marL="0">
              <a:buNone/>
            </a:pPr>
            <a:r>
              <a:rPr lang="ar-SA" altLang="en-US" sz="1350" dirty="0">
                <a:solidFill>
                  <a:srgbClr val="8A6D1E"/>
                </a:solidFill>
                <a:latin typeface="Amiri" pitchFamily="2" charset="-78"/>
                <a:ea typeface="Amiri" pitchFamily="2" charset="-78"/>
                <a:cs typeface="Amiri" pitchFamily="2" charset="-78"/>
              </a:rPr>
              <a:t>دُمِّرَتْ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complete — </a:t>
            </a:r>
            <a:pPr algn="l" indent="0" marL="0">
              <a:buNone/>
            </a:pPr>
            <a:r>
              <a:rPr lang="ar-SA" altLang="en-US" sz="1650" b="1" dirty="0">
                <a:solidFill>
                  <a:srgbClr val="1B3B6F"/>
                </a:solidFill>
                <a:latin typeface="Amiri" pitchFamily="2" charset="-78"/>
                <a:ea typeface="Amiri" pitchFamily="2" charset="-78"/>
                <a:cs typeface="Amiri" pitchFamily="2" charset="-78"/>
              </a:rPr>
              <a:t>أَعْلَنَ الوَزِيرُ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الإِغَاثَةَ وَصَلَتْ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إِنَّ</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بِأَنَّ</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أَعْلَنَ</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P4-L05 · Report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P4-L06: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P4-L06 · Energy and Resources — Arab World Potential and Global Responsibility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احْتِيَاطِيَّاتُ النِّفْطِ</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oil reserves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طَاقَةٌ مُتَجَدِّدَةٌ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renewable energy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يَسْتَثْمِرُ فِي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invests in</a:t>
            </a:r>
            <a:pPr indent="0" marL="0">
              <a:buNone/>
            </a:pPr>
            <a:r>
              <a:rPr lang="en-US" sz="1000" i="1" dirty="0">
                <a:solidFill>
                  <a:srgbClr val="5A6472"/>
                </a:solidFill>
                <a:latin typeface="Calibri" pitchFamily="34" charset="0"/>
                <a:cs typeface="Amiri" pitchFamily="2" charset="-78"/>
              </a:rPr>
              <a:t>  Form X, with fī</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يَهْدِفُ إِلَى</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aims at</a:t>
            </a:r>
            <a:pPr indent="0" marL="0">
              <a:buNone/>
            </a:pPr>
            <a:r>
              <a:rPr lang="en-US" sz="1000" i="1" dirty="0">
                <a:solidFill>
                  <a:srgbClr val="5A6472"/>
                </a:solidFill>
                <a:latin typeface="Calibri" pitchFamily="34" charset="0"/>
                <a:cs typeface="Amiri" pitchFamily="2" charset="-78"/>
              </a:rPr>
              <a:t>  with ilā</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تَنْوِيعُ الدَّخْلِ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income diversification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Where does your country’s energy come from? What should it invest in?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يَنْبَغِي أَنْ يَسْتَثْمِرَ بَلَدِي فِي ______ لِكَيْ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disaster sentences in the passive (dummirat, ujliya, uʿlinat …) — noun in -u!</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“before” layer (kānat … qad) and an official’s statement (aʿlana anna) — 60–80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110–120-word four-layer disaster report.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P4-L05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P4-L06 · Energy and Resources — Arab World Potential and Global Responsibility</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الطَّاقَةُ وَالمَوَارِدُ</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in the news, the passive comes first and the noun stays -u (dummirat miʾātu) — and a report has four layers: kānat qad (before) → passive (event) → aʿlana anna (response) → law … la- / idhā … sa- (analysis).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P4-L05 · Natural Disasters — Describing and Responding to Extreme Events</dc:title>
  <dc:subject>PptxGenJS Presentation</dc:subject>
  <dc:creator>Al Madina Online School · Arabic Department</dc:creator>
  <cp:lastModifiedBy>Al Madina Online School · Arabic Department</cp:lastModifiedBy>
  <cp:revision>1</cp:revision>
  <dcterms:created xsi:type="dcterms:W3CDTF">2026-10-11T06:43:18Z</dcterms:created>
  <dcterms:modified xsi:type="dcterms:W3CDTF">2026-10-11T06:43:18Z</dcterms:modified>
</cp:coreProperties>
</file>