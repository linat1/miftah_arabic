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P4-L08. The website lesson “Reading — Built and Natural World Texts”: vocabulary, grammar rules and quiz, patterns, common mistakes, sorter, listening, reading, speaking prompts and model, writing task and model, differentiation, final check and the lesson mission. Picture match: website visual game “Reading — Built and Natural World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water-policy opinion” is the main You Do task. The grammar slides are a reading toolkit built on the subjunctive system students have used since P4-L01.
• Core: classify six verbs as subjunctive (-a) or indicative (-u) by their ending (website Core). Develop: name each trigger type. Stretch: an R3 answer inferring the writer’s stance from a necessity subjunctive.
• Exam link: R3 asks what the writer implies. A verb in -a after a trigger is evidence that something is REQUIRED BUT NOT YET DONE — quote it and name it: «… أَنْ تَتَعَاوَنَ» فِعْلٌ مَنْصُوبٌ بَعْدَ مُحَفِّزِ إِرَادَةٍ.
• Teacher note: the website classes يَتَطَلَّبُ أَنْ as volition (P4-L03, L04, L08) but lists it under necessity in P4-L09. Accept either if the student justifies it — the reading point is the same: required, not yet done.
• Grammar links: li-kay (P4-L01) · volition (P4-L03) · necessity (P4-L04) · intention (P4-L06) · reading conditionals for attitude (P3-L08).
• TEACHER-WRITTEN ITEMS: waṣl alif shown without a kasra; لِكَيْ always written with its sukūn; the Arabic label inside the wrong sentence of mistake 2 removed; rule headings and formulas in English and transliteration; rule examples shown without their English labels; trigger-word glosses and sorter headings in transliteration; the ending, trigger and R1–R4 tables and the annotation table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P4-L07. Questions 4–5 retrieve the past perfect and allā (P4-L07) — today students read the grammar instead of writing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verb in -a after a trigger means “wanted, required or aimed at — but not done yet”. That is the writer’s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تحلیل، موقف، مطلوب، صیغہ and نحو are all shared — Urdu-speaking students who studied ʿarabī grammar may already know صیغہ for a verb form. Today’s key phrase: مَطْلُوبٌ لَا مُنْجَزٌ — required,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analysis terms (website vocabulary (1 of 2)). Hear → Say → See → Use. Transliteration is printed for Core students (cover it for Develop/Stretch).
Text and analysis terms — the words of an exam answer. يَسْتَنْتِجُ takes an object or أَنَّ (أَسْتَنْتِجُ أَنَّ …); يُمَيِّزُ بَيْنَ … وَ … (distinguishes between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analysis terms (website vocabulary (2 of 2)). Hear → Say → See → Use. Transliteration is printed for Core students (cover it for Develop/Stretch).
Text and analysis terms — the words of an exam answer. يَسْتَنْتِجُ takes an object or أَنَّ (أَسْتَنْتِجُ أَنَّ …); يُمَيِّزُ بَيْنَ … وَ … (distinguishes between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Subjunctive-reading skills (website vocabulary (1 of 2)). Hear → Say → See → Use. Transliteration is printed for Core students (cover it for Develop/Stretch).
Subjunctive-reading skills: المَنْصُوبُ ends in -a (تُطَوِّرَ); المَرْفُوعُ ends in -u (تُطَوِّرُ). مُحَفِّزُ النَّصْبِ is the word that causes the -a. مَطْلُوبٌ لَا مُنْجَزٌ = required, not done — the R3 key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Subjunctive-reading skills (website vocabulary (2 of 2)). Hear → Say → See → Use. Transliteration is printed for Core students (cover it for Develop/Stretch).
FLEX: teach if time allows; otherwise these are on the website vocabulary tab for homework.
Subjunctive-reading skills: المَنْصُوبُ ends in -a (تُطَوِّرَ); المَرْفُوعُ ends in -u (تُطَوِّرُ). مُحَفِّزُ النَّصْبِ is the word that causes the -a. مَطْلُوبٌ لَا مُنْجَزٌ = required, not done — the R3 key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 and natural content (website vocabulary (1 of 2)). Hear → Say → See → Use. Transliteration is printed for Core students (cover it for Develop/Stretch).
FLEX: teach if time allows; otherwise these are on the website vocabulary tab for homework.
Built and natural content — the topic words of P4 that appear in reading texts: scarcity, conservation, urban development, depletion, sustainable development,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 and natural content (website vocabulary (2 of 2)). Hear → Say → See → Use. Transliteration is printed for Core students (cover it for Develop/Stretch).
FLEX: teach if time allows; otherwise these are on the website vocabulary tab for homework.
Built and natural content — the topic words of P4 that appear in reading texts: scarcity, conservation, urban development, depletion, sustainable development,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“Identify by the fatḥa” and “Gap-fill choice”, mistakes 1–2, the website patterns and the website reading (rows 3–4).
Two checks for every verb: (1) the last vowel: ـَ or ـُ? (2) is there a trigger before it (لِكَيْ · أَنْ)?
Row 5 (from the website sorter): verbs ending in alif maqṣūra (يَبْقَى · يَخْشَى) show no change — the TRIGGER proves it is subjunctive. Verbs in -ī / -ū DO show it: نَبْنِيَ · يَرْجُوَ.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“Name the trigger” and “Read the force (R3)”, teaching point 1, the website table and the website reading (rows 1–3, 5).
The argument hides in the triggers: the writer never says “governments have failed” — but يَتَطَلَّبُ … أَنْ تَتَعَاوَنَ and مِنَ الضَّرُورِيِّ أَنْ تَسْتَثْمِرَ tell us cooperation and investment are NOT happening enough. Row 5 then confirms it openly.
Row 4 is from the website sorter (P4-L06 intention).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reading labels its five questions R1–R4; this table shows what each type needs, using the website text.
R1: أَخْطَرُ مِمَّا يَظُنُّ كَثِيرُونَ = more serious than many think (comparative + mimmā). R2: تَسْتَنْفِدُ = depletes (Form X, from نَفِدَ = run out, P4-L04).
Exam habit for R3: name the MOOD (فِعْلٌ مَنْصُوبٌ), the TRIGGER (يَتَطَلَّبُ أَنْ) and the FORCE (مَطْلُوبٌ لَا مُنْجَزٌ). The reading also has a Type 2 (لَوْ أُدِيرَتْ … لَمَا) — an implicit criticism, as in P3-L08.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“Gap-fill choice”, teaching point 2 (“In a gap-fill, find the trigger first”), quiz 6–7 and mistakes 1–2.
Strategy: cover the options. Look LEFT of the gap. أَنْ / لِكَيْ / لِـ / لَنْ / أَلَّا → -a. Nothing → -u. Only then look at the options.
Card 3 trap: أَنَّ (shadda, fatḥa) is followed by a NOUN, not a verb in -a — يَرَى أَنَّ الأَزْمَةَ … . And a past-tense option (طَوَّرَتْ) is never right after أَنْ in these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identify the subjunctive by its fatḥa, name its trigger type, read its argumentative force, and choose subjunctive versus indicative in a gap.”
• Identify by the ending: A trigger + a verb ending in fatḥa is a subjunctive.
• Name the trigger: لِكَيْ = purpose; يَتَطَلَّبُ / يَهْدِفُ = volition; يَنْبَغِي = necessity.
• Read the force (R3): The subjunctive marks a desired or required action, hinting at what is lacking.
• Gap-fill choice: Spot the trigger, then pick the ending.
Website common error: Choosing a subjunctive where there is no trigger, or missing the trigger and choosing the indicative. Find the trigger first, then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“Step 1: the last vowel — tataʿāwanA → subjunctive. Step 2: look left — yataṭallabu an → volition. Step 3: so what? It is NEEDED, not done — that is the writer’s point. Step 4: contrast — tastanfiDU, no trigger, a fact. Four steps, one R3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“a water-policy opinion”. Read the text aloud first, then fill columns 2–3 together, covering them.
Core: rows 1–2 (-u or -a?). Develop: row 3 — name the trigger type. Stretch: row 4 — how does غَيْرَ أَنَّ support the reading of rows 2–3? Then: يَدُلُّ المَنْصُوبُ عَلَى أَنَّ … .
Vocabulary: مَا زَالَتْ مَحْدُودَةً = are still limited · مِمَّا يَظُنُّ كَثِيرُونَ = than many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grammar analysis from an identification, a trigger classification and a force reading.” Website feedback: any three different combinations work.
Use it as oral rehearsal for the website writing task. Stretch: match each column-1 verb with its REAL trigger in the reading (تَتَعَاوَنَ ← يَتَطَلَّبُ أَنْ · تُقَلِّلَ ← لِكَيْ).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card reveals: purpose → the goal · volition → what is wanted · necessity → what is missing and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card reveals: purpose → the goal · volition → what is wanted · necessity → what is missing and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three triggers and what each one is “for”.
Listen 1: just listen. Listen 2: note answers. Then chat the letters.
Support: after the second listening, show the read-along slide (Arabic + English, line by line) for Core students.
SCRIPT (read aloud):
عِنْدَمَا تَقْرَأُ نَصًّا بِيئِيًّا أَوْ تُرَاثِيًّا، لَا تَنْظُرْ إِلَى المَعْلُومَةِ فَقَطْ، بَلْ إِلَى صِيغَةِ الفِعْلِ. فَالفِعْلُ المَنْصُوبُ يَنْتَهِي بِفَتْحَةٍ، وَيَأْتِي بَعْدَ مُحَفِّزٍ: «لِكَيْ» لِلْغَرَضِ، وَ«يَتَطَلَّبُ أَنْ» لِلْإِرَادَةِ، وَ«يَنْبَغِي أَنْ» لِلضَّرُورَةِ. وَهٰذَا يُخْبِرُكَ بِعَلَاقَةِ الكَاتِبِ بِالفِعْلِ: هَلْ يَصِفُ غَرَضًا، أَمْ يُعَبِّرُ عَنْ حَاجَةٍ، أَمْ يُقَرِّرُ ضَرُورَةً؟ فَالمَنْصُوبُ يَدُلُّ عَلَى أَنَّ الفِعْلَ مَطْلُوبٌ وَلٰكِنْ لَمْ يَحْدُثْ بَعْدُ. أَمَّا الفِعْلُ المَرْفُوعُ فَيَنْتَهِي بِضَمَّةٍ وَيَصِفُ فِعْلًا وَاقِعًا. وَفِي مِلْءِ الفَرَاغِ، ابْحَثْ عَنِ المُحَفِّزِ أَوَّلًا، ثُمَّ اخْتَرِ العَلَامَةَ.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“a water-policy opinion”. Before reading: circle every verb ending in -a and box the trigger to its left (لِكَيْ · أَنْ); underline verbs in -u.
Core: questions 1, 2 and 3 (R1–R3). Develop: all 5 + quote the words that prove each answer. Stretch: then write an R3 answer in Arabic: «يَدُلُّ الفِعْلُ المَنْصُوبُ … عَلَى أَنَّ …، لِأَنَّ …»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مُحَفِّزُهُ؟ (Trigger)
B: المُحَفِّزُ «يَتَطَلَّبُ أَنْ»، وَهُوَ إِرَادَةٌ؛ يَكْشِفُ أَنَّ الكَاتِبَ يَرَى التَّعَاوُنَ مَطْلُوبًا لَا مُنْجَزًا. (Names trigger and force)
Website prompts and model. Pairs take one sentence from the reading each and analyse it aloud with the three questions (identify · trigger · force). To a girl: عَرَفْتِ.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verbs as subjunctive or indicative by their ending. · Develop — For each subjunctive, name the trigger type. · Stretch — Write an R3 answer inferring the writer's stance from a necessity subjunctive.
Website writing task (Stretch): Write eighty to ninety words analysing a short built/natural world text of your choice. Identify one subjunctive verb and its trigger (purpose, volition or necessity), explain what it reveals about the writer's argument, and note one indicative verb by contrast.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يَكْشِفُ النَّصُّ عَنْ حُجَّةِ كَاتِبِهِ · فِعْلًا مَنْصُوبًا عَرَفْتُهُ مِنَ الفَتْحَةِ · وَمُحَفِّزُهُ «يَتَطَلَّبُ أَنْ» · مُحَفِّزُ إِرَادَةٍ · يَدُلُّ عَلَى أَنَّ … مَطْلُوبًا لَا مُنْجَزًا · أَمَّا … فَفِعْلُهَا مَرْفُوعٌ · بِلَا مُحَفِّزٍ.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(P4-L09 · Writing — The Built and Natural World (Paper 4 Extended Writing)) will spend class time USING this language, so students prepare it tonight — short, simple, easy to access (school guidance: “Simple, Short, Interesting, Relevant, Easy to access”). The five words come from the website P4-L09 vocabulary (extended writing on the built and natural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Reading — Built and Natural World Texts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 نُصُوصُ العَالَمِ المَبْنِيِّ وَالطَّبِيعِيِّ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environmental texts like an examiner: spot the verb in -a, name its trigger (purpose, volition, necessity), read it as “required but not yet done”, and in a gap choose -a after a trigger and -u everywhere else.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P4-L08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Ending → mood, trigger → type → force, R1–R4 on the website text, the gap-fill strategy.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Annotate the four key sentences of the text, build an analysis, sort purpose / volition / necessity.</a:t>
            </a:r>
            <a:endParaRPr lang="en-US" sz="11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message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مَوْقِفُ الكَاتِبِ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stance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address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مُحَفِّزُ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tense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grammar book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trigger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site should NOT be destroyed”?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أَلَّا يُدَمَّرَ المَوْقِعُ.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يُدَمَّرَ المَوْقِعُ.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 المَوْقِعُ.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text message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مَوْقِفُ الكَاتِبِ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stance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address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مُحَفِّزُ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past tense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grammar book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 trigger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P4-L07: kānat … qad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site should NOT be destroyed”?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يَنْبَغِي أَلَّا يُدَمَّرَ المَوْقِعُ.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أَنْ يُدَمَّرَ المَوْقِعُ.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 المَوْقِعُ.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P4-L07: allā = an + 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A verb in -a after a trigger means “wanted, required or aimed at — but not done yet”. That is the writer’s argument.</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يَتَطَلَّبُ الوَضْعُ أَنْ </a:t>
            </a:r>
            <a:pPr rtl="1" algn="ctr" indent="0" marL="0">
              <a:lnSpc>
                <a:spcPct val="120000"/>
              </a:lnSpc>
              <a:buNone/>
            </a:pPr>
            <a:r>
              <a:rPr lang="ar-SA" altLang="en-US" sz="1950" b="1" dirty="0">
                <a:solidFill>
                  <a:srgbClr val="D6336C"/>
                </a:solidFill>
                <a:latin typeface="Amiri" pitchFamily="2" charset="-78"/>
                <a:cs typeface="Amiri" pitchFamily="2" charset="-78"/>
              </a:rPr>
              <a:t>تَتَعَاوَنَ</a:t>
            </a:r>
            <a:pPr rtl="1" algn="ctr" indent="0" marL="0">
              <a:lnSpc>
                <a:spcPct val="120000"/>
              </a:lnSpc>
              <a:buNone/>
            </a:pPr>
            <a:r>
              <a:rPr lang="ar-SA" altLang="en-US" sz="1950" b="1" dirty="0">
                <a:solidFill>
                  <a:srgbClr val="1B3B6F"/>
                </a:solidFill>
                <a:latin typeface="Amiri" pitchFamily="2" charset="-78"/>
                <a:cs typeface="Amiri" pitchFamily="2" charset="-78"/>
              </a:rPr>
              <a:t> = مَطْلُوبٌ لَا مُنْجَزٌ</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questions on a built / natural world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a subjunctive by its final -a and name its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the trigger reveals about the writer’s argument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subjunctive or indicative in a gap by spotting the trigger.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 verb in -a (subjunctive) from a verb in -u (indicative).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trigger: purpose, volition or necessity.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 or -u in a gap.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 subjunctive reveals (R3).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 answer with yadull ʿalā.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and analysis terms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Subjunctive-reading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Built and natural content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مَوْقِفٌ</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‎موقف‎ </a:t>
            </a:r>
            <a:pPr indent="0" marL="0">
              <a:buNone/>
            </a:pPr>
            <a:r>
              <a:rPr lang="en-US" sz="950" b="1" dirty="0">
                <a:solidFill>
                  <a:srgbClr val="2E8B57"/>
                </a:solidFill>
                <a:latin typeface="Calibri" pitchFamily="34" charset="0"/>
                <a:cs typeface="Amiri" pitchFamily="2" charset="-78"/>
              </a:rPr>
              <a:t> mauqif · a stance, a position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مَطْلُوبٌ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‎مطلوب‎ </a:t>
            </a:r>
            <a:pPr indent="0" marL="0">
              <a:buNone/>
            </a:pPr>
            <a:r>
              <a:rPr lang="en-US" sz="950" b="1" dirty="0">
                <a:solidFill>
                  <a:srgbClr val="2E8B57"/>
                </a:solidFill>
                <a:latin typeface="Calibri" pitchFamily="34" charset="0"/>
                <a:cs typeface="Amiri" pitchFamily="2" charset="-78"/>
              </a:rPr>
              <a:t> matlūb · required, wanted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صِيغَةٌ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‎صیغہ‎ </a:t>
            </a:r>
            <a:pPr indent="0" marL="0">
              <a:buNone/>
            </a:pPr>
            <a:r>
              <a:rPr lang="en-US" sz="950" b="1" dirty="0">
                <a:solidFill>
                  <a:srgbClr val="2E8B57"/>
                </a:solidFill>
                <a:latin typeface="Calibri" pitchFamily="34" charset="0"/>
                <a:cs typeface="Amiri" pitchFamily="2" charset="-78"/>
              </a:rPr>
              <a:t> sīgha · a (grammatical) form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نَحْوٌ · نَحْوِيٌّ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‎نحو‎ </a:t>
            </a:r>
            <a:pPr indent="0" marL="0">
              <a:buNone/>
            </a:pPr>
            <a:r>
              <a:rPr lang="en-US" sz="950" b="1" dirty="0">
                <a:solidFill>
                  <a:srgbClr val="2E8B57"/>
                </a:solidFill>
                <a:latin typeface="Calibri" pitchFamily="34" charset="0"/>
                <a:cs typeface="Amiri" pitchFamily="2" charset="-78"/>
              </a:rPr>
              <a:t> nahw · grammar · grammatical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analysis terms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analytical text</a:t>
            </a:r>
            <a:endParaRPr lang="en-US" sz="1350" dirty="0"/>
          </a:p>
          <a:p>
            <a:pPr indent="0" marL="0">
              <a:buNone/>
            </a:pPr>
            <a:r>
              <a:rPr lang="en-US" sz="1100" i="1" dirty="0">
                <a:solidFill>
                  <a:srgbClr val="5A6472"/>
                </a:solidFill>
                <a:latin typeface="Calibri" pitchFamily="34" charset="0"/>
                <a:cs typeface="Amiri" pitchFamily="2" charset="-78"/>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البِنْيَةُ النَّحْوِيَّةُ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grammatical structure</a:t>
            </a:r>
            <a:endParaRPr lang="en-US" sz="1350" dirty="0"/>
          </a:p>
          <a:p>
            <a:pPr indent="0" marL="0">
              <a:buNone/>
            </a:pPr>
            <a:r>
              <a:rPr lang="en-US" sz="1100" i="1" dirty="0">
                <a:solidFill>
                  <a:srgbClr val="5A6472"/>
                </a:solidFill>
                <a:latin typeface="Calibri" pitchFamily="34" charset="0"/>
                <a:cs typeface="Amiri" pitchFamily="2" charset="-78"/>
              </a:rPr>
              <a:t>al-bin-ya-tu an-naḥ-wiy-ya-tu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الغَرَضُ مِنَ الصِّيغَةِ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form</a:t>
            </a:r>
            <a:endParaRPr lang="en-US" sz="1350" dirty="0"/>
          </a:p>
          <a:p>
            <a:pPr indent="0" marL="0">
              <a:buNone/>
            </a:pPr>
            <a:r>
              <a:rPr lang="en-US" sz="1100" i="1" dirty="0">
                <a:solidFill>
                  <a:srgbClr val="5A6472"/>
                </a:solidFill>
                <a:latin typeface="Calibri" pitchFamily="34" charset="0"/>
                <a:cs typeface="Amiri" pitchFamily="2" charset="-78"/>
              </a:rPr>
              <a:t>al-gha-ra-ḍu mi-na aṣ-ṣī-gha-ti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الحُجَّةُ مِنْ خِلَالِ القَوَاعِدِ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argument through grammar</a:t>
            </a:r>
            <a:endParaRPr lang="en-US" sz="1350" dirty="0"/>
          </a:p>
          <a:p>
            <a:pPr indent="0" marL="0">
              <a:buNone/>
            </a:pPr>
            <a:r>
              <a:rPr lang="en-US" sz="1100" i="1" dirty="0">
                <a:solidFill>
                  <a:srgbClr val="5A6472"/>
                </a:solidFill>
                <a:latin typeface="Calibri" pitchFamily="34" charset="0"/>
                <a:cs typeface="Amiri" pitchFamily="2" charset="-78"/>
              </a:rPr>
              <a:t>al-ḥuj-ja-tu min khi-lā-li al-qa-wā-ʿi-di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analysis terms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مَوْقِفُ الكَاتِبِ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stance</a:t>
            </a:r>
            <a:endParaRPr lang="en-US" sz="1350" dirty="0"/>
          </a:p>
          <a:p>
            <a:pPr indent="0" marL="0">
              <a:buNone/>
            </a:pPr>
            <a:r>
              <a:rPr lang="en-US" sz="1100" i="1" dirty="0">
                <a:solidFill>
                  <a:srgbClr val="5A6472"/>
                </a:solidFill>
                <a:latin typeface="Calibri" pitchFamily="34" charset="0"/>
                <a:cs typeface="Amiri" pitchFamily="2" charset="-78"/>
              </a:rPr>
              <a:t>maw-qi-fu al-kā-ti-bi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مَوْقِفُ الكَاتِبَةِ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الغَرَضُ مِنَ الكِتَابَةِ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writing</a:t>
            </a:r>
            <a:endParaRPr lang="en-US" sz="1350" dirty="0"/>
          </a:p>
          <a:p>
            <a:pPr indent="0" marL="0">
              <a:buNone/>
            </a:pPr>
            <a:r>
              <a:rPr lang="en-US" sz="1100" i="1" dirty="0">
                <a:solidFill>
                  <a:srgbClr val="5A6472"/>
                </a:solidFill>
                <a:latin typeface="Calibri" pitchFamily="34" charset="0"/>
                <a:cs typeface="Amiri" pitchFamily="2" charset="-78"/>
              </a:rPr>
              <a:t>al-gha-ra-ḍu mi-na al-ki-tā-ba-ti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يَسْتَنْتِجُ</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43" name="Shape 40"/>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تَسْتَنْتِجُ</a:t>
            </a:r>
            <a:endParaRPr lang="ar-SA" sz="1500" dirty="0"/>
          </a:p>
        </p:txBody>
      </p:sp>
      <p:sp>
        <p:nvSpPr>
          <p:cNvPr id="46" name="Shape 43"/>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أَسْتَنْتِجُ</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يُمَيِّزُ بَيْنَ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تُمَيِّزُ بَيْنَ</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أُمَيِّزُ بَيْنَ</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Subjunctive-reading skills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Final fatḥa.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المُضَارِعُ المَنْصُوبُ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present</a:t>
            </a:r>
            <a:endParaRPr lang="en-US" sz="1350" dirty="0"/>
          </a:p>
          <a:p>
            <a:pPr indent="0" marL="0">
              <a:buNone/>
            </a:pPr>
            <a:r>
              <a:rPr lang="en-US" sz="1100" i="1" dirty="0">
                <a:solidFill>
                  <a:srgbClr val="5A6472"/>
                </a:solidFill>
                <a:latin typeface="Calibri" pitchFamily="34" charset="0"/>
                <a:cs typeface="Amiri" pitchFamily="2" charset="-78"/>
              </a:rPr>
              <a:t>al-mu-ḍā-ri-ʿu al-man-ṣū-bu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Final ḍamma.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المُضَارِعُ المَرْفُوعُ</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indicative present</a:t>
            </a:r>
            <a:endParaRPr lang="en-US" sz="1350" dirty="0"/>
          </a:p>
          <a:p>
            <a:pPr indent="0" marL="0">
              <a:buNone/>
            </a:pPr>
            <a:r>
              <a:rPr lang="en-US" sz="1100" i="1" dirty="0">
                <a:solidFill>
                  <a:srgbClr val="5A6472"/>
                </a:solidFill>
                <a:latin typeface="Calibri" pitchFamily="34" charset="0"/>
                <a:cs typeface="Amiri" pitchFamily="2" charset="-78"/>
              </a:rPr>
              <a:t>al-mu-ḍā-ri-ʿu al-mar-fū-ʿu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مُحَفِّزُ النَّصْبِ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mu-ḥaf-fi-zu an-naṣ-bi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غَرَضٌ: لِكَيْ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li-kay</a:t>
            </a:r>
            <a:endParaRPr lang="en-US" sz="1350" dirty="0"/>
          </a:p>
          <a:p>
            <a:pPr indent="0" marL="0">
              <a:buNone/>
            </a:pPr>
            <a:r>
              <a:rPr lang="en-US" sz="1100" i="1" dirty="0">
                <a:solidFill>
                  <a:srgbClr val="5A6472"/>
                </a:solidFill>
                <a:latin typeface="Calibri" pitchFamily="34" charset="0"/>
                <a:cs typeface="Amiri" pitchFamily="2" charset="-78"/>
              </a:rPr>
              <a:t>gha-ra-ḍun-: li-kay</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Subjunctive-reading skills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إِرَادَةٌ: يَتَطَلَّبُ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volition: yataṭallabu an</a:t>
            </a:r>
            <a:endParaRPr lang="en-US" sz="1350" dirty="0"/>
          </a:p>
          <a:p>
            <a:pPr indent="0" marL="0">
              <a:buNone/>
            </a:pPr>
            <a:r>
              <a:rPr lang="en-US" sz="1100" i="1" dirty="0">
                <a:solidFill>
                  <a:srgbClr val="5A6472"/>
                </a:solidFill>
                <a:latin typeface="Calibri" pitchFamily="34" charset="0"/>
                <a:cs typeface="Amiri" pitchFamily="2" charset="-78"/>
              </a:rPr>
              <a:t>i-rā-da-tun-: ya-ta-ṭal-la-bu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ضَرُورَةٌ: يَنْبَغِي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necessity: yanbaghī an</a:t>
            </a:r>
            <a:endParaRPr lang="en-US" sz="1350" dirty="0"/>
          </a:p>
          <a:p>
            <a:pPr indent="0" marL="0">
              <a:buNone/>
            </a:pPr>
            <a:r>
              <a:rPr lang="en-US" sz="1100" i="1" dirty="0">
                <a:solidFill>
                  <a:srgbClr val="5A6472"/>
                </a:solidFill>
                <a:latin typeface="Calibri" pitchFamily="34" charset="0"/>
                <a:cs typeface="Amiri" pitchFamily="2" charset="-78"/>
              </a:rPr>
              <a:t>ḍa-rū-ra-tun-: yan-ba-ghī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مَطْلُوبٌ لَا مُنْجَزٌ</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required, not yet done</a:t>
            </a:r>
            <a:endParaRPr lang="en-US" sz="1350" dirty="0"/>
          </a:p>
          <a:p>
            <a:pPr indent="0" marL="0">
              <a:buNone/>
            </a:pPr>
            <a:r>
              <a:rPr lang="en-US" sz="1100" i="1" dirty="0">
                <a:solidFill>
                  <a:srgbClr val="5A6472"/>
                </a:solidFill>
                <a:latin typeface="Calibri" pitchFamily="34" charset="0"/>
                <a:cs typeface="Amiri" pitchFamily="2" charset="-78"/>
              </a:rPr>
              <a:t>maṭ-lū-bun lā mun-ja-zun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دِقَّةٌ نَحْوِيَّةٌ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grammatical precision</a:t>
            </a:r>
            <a:endParaRPr lang="en-US" sz="1350" dirty="0"/>
          </a:p>
          <a:p>
            <a:pPr indent="0" marL="0">
              <a:buNone/>
            </a:pPr>
            <a:r>
              <a:rPr lang="en-US" sz="1100" i="1" dirty="0">
                <a:solidFill>
                  <a:srgbClr val="5A6472"/>
                </a:solidFill>
                <a:latin typeface="Calibri" pitchFamily="34" charset="0"/>
                <a:cs typeface="Amiri" pitchFamily="2" charset="-78"/>
              </a:rPr>
              <a:t>diq-qa-tun naḥ-wiy-ya-tun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Built and natural content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شُحُّ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الحِفَاظُ عَلَى التُّرَاثِ</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 conservation</a:t>
            </a:r>
            <a:endParaRPr lang="en-US" sz="1350" dirty="0"/>
          </a:p>
          <a:p>
            <a:pPr indent="0" marL="0">
              <a:buNone/>
            </a:pPr>
            <a:r>
              <a:rPr lang="en-US" sz="1100" i="1" dirty="0">
                <a:solidFill>
                  <a:srgbClr val="5A6472"/>
                </a:solidFill>
                <a:latin typeface="Calibri" pitchFamily="34" charset="0"/>
                <a:cs typeface="Amiri" pitchFamily="2" charset="-78"/>
              </a:rPr>
              <a:t>al-ḥi-fā-ẓu ʿa-lā at-tu-rā-thi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التَّطَوُّرُ العُمْرَانِيُّ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development</a:t>
            </a:r>
            <a:endParaRPr lang="en-US" sz="1350" dirty="0"/>
          </a:p>
          <a:p>
            <a:pPr indent="0" marL="0">
              <a:buNone/>
            </a:pPr>
            <a:r>
              <a:rPr lang="en-US" sz="1100" i="1" dirty="0">
                <a:solidFill>
                  <a:srgbClr val="5A6472"/>
                </a:solidFill>
                <a:latin typeface="Calibri" pitchFamily="34" charset="0"/>
                <a:cs typeface="Amiri" pitchFamily="2" charset="-78"/>
              </a:rPr>
              <a:t>at-ta-ṭaw-wu-ru al-ʿum-rā-niy-yu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Shape 32"/>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يَسْتَنْفِدُ</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exhausts, depletes</a:t>
            </a:r>
            <a:endParaRPr lang="en-US" sz="1350" dirty="0"/>
          </a:p>
          <a:p>
            <a:pPr indent="0" marL="0">
              <a:buNone/>
            </a:pPr>
            <a:r>
              <a:rPr lang="en-US" sz="1100" i="1" dirty="0">
                <a:solidFill>
                  <a:srgbClr val="5A6472"/>
                </a:solidFill>
                <a:latin typeface="Calibri" pitchFamily="34" charset="0"/>
                <a:cs typeface="Amiri" pitchFamily="2" charset="-78"/>
              </a:rPr>
              <a:t>yas-tan-fi-du</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تَسْتَنْفِدُ</a:t>
            </a:r>
            <a:endParaRPr lang="ar-SA"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Built and natural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يَتَنَاقَصُ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dwindles</a:t>
            </a:r>
            <a:endParaRPr lang="en-US" sz="1350" dirty="0"/>
          </a:p>
          <a:p>
            <a:pPr indent="0" marL="0">
              <a:buNone/>
            </a:pPr>
            <a:r>
              <a:rPr lang="en-US" sz="1100" i="1" dirty="0">
                <a:solidFill>
                  <a:srgbClr val="5A6472"/>
                </a:solidFill>
                <a:latin typeface="Calibri" pitchFamily="34" charset="0"/>
                <a:cs typeface="Amiri" pitchFamily="2" charset="-78"/>
              </a:rPr>
              <a:t>ya-ta-nā-qa-ṣu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تَتَنَاقَصُ</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المَوَارِدُ المُشْتَرَكَةُ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shared resources</a:t>
            </a:r>
            <a:endParaRPr lang="en-US" sz="1350" dirty="0"/>
          </a:p>
          <a:p>
            <a:pPr indent="0" marL="0">
              <a:buNone/>
            </a:pPr>
            <a:r>
              <a:rPr lang="en-US" sz="1100" i="1" dirty="0">
                <a:solidFill>
                  <a:srgbClr val="5A6472"/>
                </a:solidFill>
                <a:latin typeface="Calibri" pitchFamily="34" charset="0"/>
                <a:cs typeface="Amiri" pitchFamily="2" charset="-78"/>
              </a:rPr>
              <a:t>al-ma-wā-ri-du al-mush-ta-ra-ka-tu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التَّنْمِيَةُ المُسْتَدَامَةُ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development</a:t>
            </a:r>
            <a:endParaRPr lang="en-US" sz="1350" dirty="0"/>
          </a:p>
          <a:p>
            <a:pPr indent="0" marL="0">
              <a:buNone/>
            </a:pPr>
            <a:r>
              <a:rPr lang="en-US" sz="1100" i="1" dirty="0">
                <a:solidFill>
                  <a:srgbClr val="5A6472"/>
                </a:solidFill>
                <a:latin typeface="Calibri" pitchFamily="34" charset="0"/>
                <a:cs typeface="Amiri" pitchFamily="2" charset="-78"/>
              </a:rPr>
              <a:t>at-tan-mi-ya-tu al-mus-ta-dā-ma-tu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الأَجْيَالُ القَادِمَةُ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generations</a:t>
            </a:r>
            <a:endParaRPr lang="en-US" sz="1350" dirty="0"/>
          </a:p>
          <a:p>
            <a:pPr indent="0" marL="0">
              <a:buNone/>
            </a:pPr>
            <a:r>
              <a:rPr lang="en-US" sz="1100" i="1" dirty="0">
                <a:solidFill>
                  <a:srgbClr val="5A6472"/>
                </a:solidFill>
                <a:latin typeface="Calibri" pitchFamily="34" charset="0"/>
                <a:cs typeface="Amiri" pitchFamily="2" charset="-78"/>
              </a:rPr>
              <a:t>al-aj-yā-lu al-qā-di-ma-tu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IDENTIFY BY THE ENDING (WEBSITE RULES 1 AND 4, MISTAKES 1–2 AND PATTERNS)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it -a or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المَنْصُوبُ أَمِ المَرْفُوعُ؟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9311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Mood</a:t>
            </a:r>
            <a:endParaRPr lang="en-US" sz="1100" dirty="0"/>
          </a:p>
        </p:txBody>
      </p:sp>
      <p:sp>
        <p:nvSpPr>
          <p:cNvPr id="18" name="Text 15"/>
          <p:cNvSpPr txBox="1"/>
          <p:nvPr/>
        </p:nvSpPr>
        <p:spPr>
          <a:xfrm>
            <a:off x="56509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yanbaghī an</a:t>
            </a:r>
            <a:endParaRPr lang="en-US" sz="1100" dirty="0"/>
          </a:p>
        </p:txBody>
      </p:sp>
      <p:sp>
        <p:nvSpPr>
          <p:cNvPr id="22" name="Text 19"/>
          <p:cNvSpPr txBox="1"/>
          <p:nvPr/>
        </p:nvSpPr>
        <p:spPr>
          <a:xfrm>
            <a:off x="69677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a:t>
            </a:r>
            <a:endParaRPr lang="en-US" sz="1100" dirty="0"/>
          </a:p>
        </p:txBody>
      </p:sp>
      <p:sp>
        <p:nvSpPr>
          <p:cNvPr id="23" name="Text 20"/>
          <p:cNvSpPr txBox="1"/>
          <p:nvPr/>
        </p:nvSpPr>
        <p:spPr>
          <a:xfrm>
            <a:off x="56875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4" name="Text 21"/>
          <p:cNvSpPr txBox="1"/>
          <p:nvPr/>
        </p:nvSpPr>
        <p:spPr>
          <a:xfrm>
            <a:off x="548640" y="2267712"/>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a:t>
            </a:r>
            <a:pPr rtl="1" algn="ctr" indent="0" marL="0">
              <a:buNone/>
            </a:pPr>
            <a:r>
              <a:rPr lang="ar-SA" altLang="en-US" sz="1800" b="1" dirty="0">
                <a:solidFill>
                  <a:srgbClr val="D6336C"/>
                </a:solidFill>
                <a:latin typeface="Amiri" pitchFamily="2" charset="-78"/>
                <a:cs typeface="Amiri" pitchFamily="2" charset="-78"/>
              </a:rPr>
              <a:t>تُطَوِّرَ</a:t>
            </a:r>
            <a:pPr rtl="1" algn="ctr" indent="0" marL="0">
              <a:buNone/>
            </a:pPr>
            <a:r>
              <a:rPr lang="ar-SA" altLang="en-US" sz="1800" b="1" dirty="0">
                <a:solidFill>
                  <a:srgbClr val="1B3B6F"/>
                </a:solidFill>
                <a:latin typeface="Amiri" pitchFamily="2" charset="-78"/>
                <a:cs typeface="Amiri" pitchFamily="2" charset="-78"/>
              </a:rPr>
              <a:t> الدُّوَلُ التَّحْلِيَةَ.</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trigger — a fact</a:t>
            </a:r>
            <a:endParaRPr lang="en-US" sz="1100" dirty="0"/>
          </a:p>
        </p:txBody>
      </p:sp>
      <p:sp>
        <p:nvSpPr>
          <p:cNvPr id="29" name="Text 26"/>
          <p:cNvSpPr txBox="1"/>
          <p:nvPr/>
        </p:nvSpPr>
        <p:spPr>
          <a:xfrm>
            <a:off x="69677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indicative</a:t>
            </a:r>
            <a:endParaRPr lang="en-US" sz="1100" dirty="0"/>
          </a:p>
        </p:txBody>
      </p:sp>
      <p:sp>
        <p:nvSpPr>
          <p:cNvPr id="30" name="Text 27"/>
          <p:cNvSpPr txBox="1"/>
          <p:nvPr/>
        </p:nvSpPr>
        <p:spPr>
          <a:xfrm>
            <a:off x="56875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31" name="Text 28"/>
          <p:cNvSpPr txBox="1"/>
          <p:nvPr/>
        </p:nvSpPr>
        <p:spPr>
          <a:xfrm>
            <a:off x="548640" y="3004718"/>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تُطَوِّرُ</a:t>
            </a:r>
            <a:pPr rtl="1" algn="ctr" indent="0" marL="0">
              <a:buNone/>
            </a:pPr>
            <a:r>
              <a:rPr lang="ar-SA" altLang="en-US" sz="1800" b="1" dirty="0">
                <a:solidFill>
                  <a:srgbClr val="1B3B6F"/>
                </a:solidFill>
                <a:latin typeface="Amiri" pitchFamily="2" charset="-78"/>
                <a:cs typeface="Amiri" pitchFamily="2" charset="-78"/>
              </a:rPr>
              <a:t> الدُّوَلُ سِيَاسَاتِهَا حَالِيًّا.</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li-kay</a:t>
            </a:r>
            <a:endParaRPr lang="en-US" sz="1100" dirty="0"/>
          </a:p>
        </p:txBody>
      </p:sp>
      <p:sp>
        <p:nvSpPr>
          <p:cNvPr id="36" name="Text 33"/>
          <p:cNvSpPr txBox="1"/>
          <p:nvPr/>
        </p:nvSpPr>
        <p:spPr>
          <a:xfrm>
            <a:off x="69677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a:t>
            </a:r>
            <a:endParaRPr lang="en-US" sz="1100" dirty="0"/>
          </a:p>
        </p:txBody>
      </p:sp>
      <p:sp>
        <p:nvSpPr>
          <p:cNvPr id="37" name="Text 34"/>
          <p:cNvSpPr txBox="1"/>
          <p:nvPr/>
        </p:nvSpPr>
        <p:spPr>
          <a:xfrm>
            <a:off x="56875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8" name="Text 35"/>
          <p:cNvSpPr txBox="1"/>
          <p:nvPr/>
        </p:nvSpPr>
        <p:spPr>
          <a:xfrm>
            <a:off x="548640" y="3741725"/>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تَعْتَمِدُ الدُّوَلُ الرِّيَّ الحَدِيثَ لِكَيْ </a:t>
            </a:r>
            <a:pPr rtl="1" algn="ctr" indent="0" marL="0">
              <a:buNone/>
            </a:pPr>
            <a:r>
              <a:rPr lang="ar-SA" altLang="en-US" sz="1800" b="1" dirty="0">
                <a:solidFill>
                  <a:srgbClr val="D6336C"/>
                </a:solidFill>
                <a:latin typeface="Amiri" pitchFamily="2" charset="-78"/>
                <a:cs typeface="Amiri" pitchFamily="2" charset="-78"/>
              </a:rPr>
              <a:t>تُقَلِّلَ</a:t>
            </a:r>
            <a:pPr rtl="1" algn="ctr" indent="0" marL="0">
              <a:buNone/>
            </a:pPr>
            <a:r>
              <a:rPr lang="ar-SA" altLang="en-US" sz="1800" b="1" dirty="0">
                <a:solidFill>
                  <a:srgbClr val="1B3B6F"/>
                </a:solidFill>
                <a:latin typeface="Amiri" pitchFamily="2" charset="-78"/>
                <a:cs typeface="Amiri" pitchFamily="2" charset="-78"/>
              </a:rPr>
              <a:t> الهَدْرَ.</a:t>
            </a:r>
            <a:endParaRPr lang="ar-SA" sz="18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happening now</a:t>
            </a:r>
            <a:endParaRPr lang="en-US" sz="1100" dirty="0"/>
          </a:p>
        </p:txBody>
      </p:sp>
      <p:sp>
        <p:nvSpPr>
          <p:cNvPr id="41" name="Text 38"/>
          <p:cNvSpPr txBox="1"/>
          <p:nvPr/>
        </p:nvSpPr>
        <p:spPr>
          <a:xfrm>
            <a:off x="69677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indicative</a:t>
            </a:r>
            <a:endParaRPr lang="en-US" sz="1100" dirty="0"/>
          </a:p>
        </p:txBody>
      </p:sp>
      <p:sp>
        <p:nvSpPr>
          <p:cNvPr id="42" name="Text 39"/>
          <p:cNvSpPr txBox="1"/>
          <p:nvPr/>
        </p:nvSpPr>
        <p:spPr>
          <a:xfrm>
            <a:off x="56875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43" name="Text 40"/>
          <p:cNvSpPr txBox="1"/>
          <p:nvPr/>
        </p:nvSpPr>
        <p:spPr>
          <a:xfrm>
            <a:off x="548640" y="4478731"/>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فَالمِنْطَقَةُ </a:t>
            </a:r>
            <a:pPr rtl="1" algn="ctr" indent="0" marL="0">
              <a:buNone/>
            </a:pPr>
            <a:r>
              <a:rPr lang="ar-SA" altLang="en-US" sz="1800" b="1" dirty="0">
                <a:solidFill>
                  <a:srgbClr val="7B3FA0"/>
                </a:solidFill>
                <a:latin typeface="Amiri" pitchFamily="2" charset="-78"/>
                <a:cs typeface="Amiri" pitchFamily="2" charset="-78"/>
              </a:rPr>
              <a:t>تَسْتَنْفِدُ</a:t>
            </a:r>
            <a:pPr rtl="1" algn="ctr" indent="0" marL="0">
              <a:buNone/>
            </a:pPr>
            <a:r>
              <a:rPr lang="ar-SA" altLang="en-US" sz="1800" b="1" dirty="0">
                <a:solidFill>
                  <a:srgbClr val="1B3B6F"/>
                </a:solidFill>
                <a:latin typeface="Amiri" pitchFamily="2" charset="-78"/>
                <a:cs typeface="Amiri" pitchFamily="2" charset="-78"/>
              </a:rPr>
              <a:t> مِيَاهَهَا الجَوْفِيَّةَ بِسُرْعَةٍ.</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hidden ending — the trigger tells you</a:t>
            </a:r>
            <a:endParaRPr lang="en-US" sz="1100" dirty="0"/>
          </a:p>
        </p:txBody>
      </p:sp>
      <p:sp>
        <p:nvSpPr>
          <p:cNvPr id="46" name="Text 43"/>
          <p:cNvSpPr txBox="1"/>
          <p:nvPr/>
        </p:nvSpPr>
        <p:spPr>
          <a:xfrm>
            <a:off x="69677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a:t>
            </a:r>
            <a:endParaRPr lang="en-US" sz="1100" dirty="0"/>
          </a:p>
        </p:txBody>
      </p:sp>
      <p:sp>
        <p:nvSpPr>
          <p:cNvPr id="47" name="Text 44"/>
          <p:cNvSpPr txBox="1"/>
          <p:nvPr/>
        </p:nvSpPr>
        <p:spPr>
          <a:xfrm>
            <a:off x="56875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a:t>
            </a:r>
            <a:endParaRPr lang="en-US" sz="1100" dirty="0"/>
          </a:p>
        </p:txBody>
      </p:sp>
      <p:sp>
        <p:nvSpPr>
          <p:cNvPr id="48" name="Text 45"/>
          <p:cNvSpPr txBox="1"/>
          <p:nvPr/>
        </p:nvSpPr>
        <p:spPr>
          <a:xfrm>
            <a:off x="548640" y="5215738"/>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a:t>
            </a:r>
            <a:pPr rtl="1" algn="ctr" indent="0" marL="0">
              <a:buNone/>
            </a:pPr>
            <a:r>
              <a:rPr lang="ar-SA" altLang="en-US" sz="1800" b="1" dirty="0">
                <a:solidFill>
                  <a:srgbClr val="D6336C"/>
                </a:solidFill>
                <a:latin typeface="Amiri" pitchFamily="2" charset="-78"/>
                <a:cs typeface="Amiri" pitchFamily="2" charset="-78"/>
              </a:rPr>
              <a:t>يَبْقَى</a:t>
            </a:r>
            <a:pPr rtl="1" algn="ctr" indent="0" marL="0">
              <a:buNone/>
            </a:pPr>
            <a:r>
              <a:rPr lang="ar-SA" altLang="en-US" sz="1800" b="1" dirty="0">
                <a:solidFill>
                  <a:srgbClr val="1B3B6F"/>
                </a:solidFill>
                <a:latin typeface="Amiri" pitchFamily="2" charset="-78"/>
                <a:cs typeface="Amiri" pitchFamily="2" charset="-78"/>
              </a:rPr>
              <a:t> التُّرَاثُ حَيًّا</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LAST vowel of the verb — then look LEFT for a trigger. Row 5: a verb ending in -ā cannot show the -a, but it is still subjunctive.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NAME THE TRIGGER, READ THE FORCE (WEBSITE RULES 2–3, TEACHING POINT 1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Trigger → type → what it reveals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المُحَفِّزُ وَدَلَالَتُهُ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reading)</a:t>
            </a:r>
            <a:endParaRPr lang="en-US" sz="1100" dirty="0"/>
          </a:p>
        </p:txBody>
      </p:sp>
      <p:sp>
        <p:nvSpPr>
          <p:cNvPr id="17" name="Text 14"/>
          <p:cNvSpPr txBox="1"/>
          <p:nvPr/>
        </p:nvSpPr>
        <p:spPr>
          <a:xfrm>
            <a:off x="4462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reveals</a:t>
            </a:r>
            <a:endParaRPr lang="en-US" sz="1100" dirty="0"/>
          </a:p>
        </p:txBody>
      </p:sp>
      <p:sp>
        <p:nvSpPr>
          <p:cNvPr id="18" name="Text 15"/>
          <p:cNvSpPr txBox="1"/>
          <p:nvPr/>
        </p:nvSpPr>
        <p:spPr>
          <a:xfrm>
            <a:off x="290779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تَعْتَمِدُ بَعْضُ الدُّوَلِ الرِّيَّ الحَدِيثَ لِكَيْ </a:t>
            </a:r>
            <a:pPr rtl="1" algn="ctr" indent="0" marL="0">
              <a:buNone/>
            </a:pPr>
            <a:r>
              <a:rPr lang="ar-SA" altLang="en-US" sz="1700" b="1" dirty="0">
                <a:solidFill>
                  <a:srgbClr val="D6336C"/>
                </a:solidFill>
                <a:latin typeface="Amiri" pitchFamily="2" charset="-78"/>
                <a:cs typeface="Amiri" pitchFamily="2" charset="-78"/>
              </a:rPr>
              <a:t>تُقَلِّلَ</a:t>
            </a:r>
            <a:pPr rtl="1" algn="ctr" indent="0" marL="0">
              <a:buNone/>
            </a:pPr>
            <a:r>
              <a:rPr lang="ar-SA" altLang="en-US" sz="1700" b="1" dirty="0">
                <a:solidFill>
                  <a:srgbClr val="1B3B6F"/>
                </a:solidFill>
                <a:latin typeface="Amiri" pitchFamily="2" charset="-78"/>
                <a:cs typeface="Amiri" pitchFamily="2" charset="-78"/>
              </a:rPr>
              <a:t> الهَدْرَ.</a:t>
            </a:r>
            <a:endParaRPr lang="ar-SA" sz="1700" dirty="0"/>
          </a:p>
        </p:txBody>
      </p:sp>
      <p:sp>
        <p:nvSpPr>
          <p:cNvPr id="22" name="Text 19"/>
          <p:cNvSpPr txBox="1"/>
          <p:nvPr/>
        </p:nvSpPr>
        <p:spPr>
          <a:xfrm>
            <a:off x="44988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goal of an action</a:t>
            </a:r>
            <a:endParaRPr lang="en-US" sz="1100" dirty="0"/>
          </a:p>
        </p:txBody>
      </p:sp>
      <p:sp>
        <p:nvSpPr>
          <p:cNvPr id="23" name="Text 20"/>
          <p:cNvSpPr txBox="1"/>
          <p:nvPr/>
        </p:nvSpPr>
        <p:spPr>
          <a:xfrm>
            <a:off x="294436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لِكَيْ</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الوَضْعُ أَنْ </a:t>
            </a:r>
            <a:pPr rtl="1" algn="ctr" indent="0" marL="0">
              <a:buNone/>
            </a:pPr>
            <a:r>
              <a:rPr lang="ar-SA" altLang="en-US" sz="1700" b="1" dirty="0">
                <a:solidFill>
                  <a:srgbClr val="1D5FBF"/>
                </a:solidFill>
                <a:latin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cs typeface="Amiri" pitchFamily="2" charset="-78"/>
              </a:rPr>
              <a:t> الدُّوَلُ.</a:t>
            </a:r>
            <a:endParaRPr lang="ar-SA" sz="1700" dirty="0"/>
          </a:p>
        </p:txBody>
      </p:sp>
      <p:sp>
        <p:nvSpPr>
          <p:cNvPr id="29" name="Text 26"/>
          <p:cNvSpPr txBox="1"/>
          <p:nvPr/>
        </p:nvSpPr>
        <p:spPr>
          <a:xfrm>
            <a:off x="44988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needed — not yet happening</a:t>
            </a:r>
            <a:endParaRPr lang="en-US" sz="1100" dirty="0"/>
          </a:p>
        </p:txBody>
      </p:sp>
      <p:sp>
        <p:nvSpPr>
          <p:cNvPr id="30" name="Text 27"/>
          <p:cNvSpPr txBox="1"/>
          <p:nvPr/>
        </p:nvSpPr>
        <p:spPr>
          <a:xfrm>
            <a:off x="294436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يَتَطَلَّبُ أَنْ</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cs typeface="Amiri" pitchFamily="2" charset="-78"/>
              </a:rPr>
              <a:t> الحُكُومَاتُ فِي التَّحْلِيَةِ.</a:t>
            </a:r>
            <a:endParaRPr lang="ar-SA" sz="1700" dirty="0"/>
          </a:p>
        </p:txBody>
      </p:sp>
      <p:sp>
        <p:nvSpPr>
          <p:cNvPr id="36" name="Text 33"/>
          <p:cNvSpPr txBox="1"/>
          <p:nvPr/>
        </p:nvSpPr>
        <p:spPr>
          <a:xfrm>
            <a:off x="44988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urgent and missing</a:t>
            </a:r>
            <a:endParaRPr lang="en-US" sz="1100" dirty="0"/>
          </a:p>
        </p:txBody>
      </p:sp>
      <p:sp>
        <p:nvSpPr>
          <p:cNvPr id="37" name="Text 34"/>
          <p:cNvSpPr txBox="1"/>
          <p:nvPr/>
        </p:nvSpPr>
        <p:spPr>
          <a:xfrm>
            <a:off x="294436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مِنَ الضَّرُورِيِّ أَنْ</a:t>
            </a:r>
            <a:endParaRPr lang="ar-SA" sz="18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تَهْدِفُ الرُّؤْيَةُ إِلَى أَنْ </a:t>
            </a:r>
            <a:pPr rtl="1" algn="ctr" indent="0" marL="0">
              <a:buNone/>
            </a:pPr>
            <a:r>
              <a:rPr lang="ar-SA" altLang="en-US" sz="1700" b="1" dirty="0">
                <a:solidFill>
                  <a:srgbClr val="1D5FBF"/>
                </a:solidFill>
                <a:latin typeface="Amiri" pitchFamily="2" charset="-78"/>
                <a:cs typeface="Amiri" pitchFamily="2" charset="-78"/>
              </a:rPr>
              <a:t>تُنَوِّعَ</a:t>
            </a:r>
            <a:pPr rtl="1" algn="ctr" indent="0" marL="0">
              <a:buNone/>
            </a:pPr>
            <a:r>
              <a:rPr lang="ar-SA" altLang="en-US" sz="1700" b="1" dirty="0">
                <a:solidFill>
                  <a:srgbClr val="1B3B6F"/>
                </a:solidFill>
                <a:latin typeface="Amiri" pitchFamily="2" charset="-78"/>
                <a:cs typeface="Amiri" pitchFamily="2" charset="-78"/>
              </a:rPr>
              <a:t> الاقْتِصَادَ.</a:t>
            </a:r>
            <a:endParaRPr lang="ar-SA" sz="1700" dirty="0"/>
          </a:p>
        </p:txBody>
      </p:sp>
      <p:sp>
        <p:nvSpPr>
          <p:cNvPr id="43" name="Text 40"/>
          <p:cNvSpPr txBox="1"/>
          <p:nvPr/>
        </p:nvSpPr>
        <p:spPr>
          <a:xfrm>
            <a:off x="44988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plan, not a result</a:t>
            </a:r>
            <a:endParaRPr lang="en-US" sz="1100" dirty="0"/>
          </a:p>
        </p:txBody>
      </p:sp>
      <p:sp>
        <p:nvSpPr>
          <p:cNvPr id="44" name="Text 41"/>
          <p:cNvSpPr txBox="1"/>
          <p:nvPr/>
        </p:nvSpPr>
        <p:spPr>
          <a:xfrm>
            <a:off x="294436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 (aim)</a:t>
            </a:r>
            <a:endParaRPr lang="en-US" sz="11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يَهْدِفُ إِلَى أَنْ</a:t>
            </a:r>
            <a:endParaRPr lang="ar-SA" sz="18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غَيْرَ أَنَّ هٰذِهِ الجُهُودَ </a:t>
            </a:r>
            <a:pPr rtl="1" algn="ctr" indent="0" marL="0">
              <a:buNone/>
            </a:pPr>
            <a:r>
              <a:rPr lang="ar-SA" altLang="en-US" sz="1700" b="1" dirty="0">
                <a:solidFill>
                  <a:srgbClr val="C77700"/>
                </a:solidFill>
                <a:latin typeface="Amiri" pitchFamily="2" charset="-78"/>
                <a:cs typeface="Amiri" pitchFamily="2" charset="-78"/>
              </a:rPr>
              <a:t>مَا زَالَتْ مَحْدُودَةً</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48" name="Text 45"/>
          <p:cNvSpPr txBox="1"/>
          <p:nvPr/>
        </p:nvSpPr>
        <p:spPr>
          <a:xfrm>
            <a:off x="44988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confirms the gap</a:t>
            </a:r>
            <a:endParaRPr lang="en-US" sz="1100" dirty="0"/>
          </a:p>
        </p:txBody>
      </p:sp>
      <p:sp>
        <p:nvSpPr>
          <p:cNvPr id="49" name="Text 46"/>
          <p:cNvSpPr txBox="1"/>
          <p:nvPr/>
        </p:nvSpPr>
        <p:spPr>
          <a:xfrm>
            <a:off x="294436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a trigger</a:t>
            </a:r>
            <a:endParaRPr lang="en-US" sz="1100" dirty="0"/>
          </a:p>
        </p:txBody>
      </p:sp>
      <p:sp>
        <p:nvSpPr>
          <p:cNvPr id="50" name="Text 47"/>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غَيْرَ أَنَّ</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subjunctive signals what is not yet done” — the writer is telling you what is MISSING.</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frame</a:t>
            </a:r>
            <a:endParaRPr lang="en-US" sz="1100" dirty="0"/>
          </a:p>
        </p:txBody>
      </p:sp>
      <p:sp>
        <p:nvSpPr>
          <p:cNvPr id="17" name="Text 14"/>
          <p:cNvSpPr txBox="1"/>
          <p:nvPr/>
        </p:nvSpPr>
        <p:spPr>
          <a:xfrm>
            <a:off x="400507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text</a:t>
            </a:r>
            <a:endParaRPr lang="en-US" sz="1100" dirty="0"/>
          </a:p>
        </p:txBody>
      </p:sp>
      <p:sp>
        <p:nvSpPr>
          <p:cNvPr id="18" name="Text 15"/>
          <p:cNvSpPr txBox="1"/>
          <p:nvPr/>
        </p:nvSpPr>
        <p:spPr>
          <a:xfrm>
            <a:off x="19019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asks for …</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18320" y="2267712"/>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يَرَى الكَاتِبُ أَنَّ …</a:t>
            </a:r>
            <a:endParaRPr lang="ar-SA" sz="1600" dirty="0"/>
          </a:p>
        </p:txBody>
      </p:sp>
      <p:sp>
        <p:nvSpPr>
          <p:cNvPr id="22" name="Text 19"/>
          <p:cNvSpPr txBox="1"/>
          <p:nvPr/>
        </p:nvSpPr>
        <p:spPr>
          <a:xfrm>
            <a:off x="4023360" y="2267712"/>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يَرَى الكَاتِبُ أَنَّ الأَزْمَةَ </a:t>
            </a:r>
            <a:pPr rtl="1" algn="ctr" indent="0" marL="0">
              <a:buNone/>
            </a:pPr>
            <a:r>
              <a:rPr lang="ar-SA" altLang="en-US" sz="1700" b="1" dirty="0">
                <a:solidFill>
                  <a:srgbClr val="C77700"/>
                </a:solidFill>
                <a:latin typeface="Amiri" pitchFamily="2" charset="-78"/>
                <a:cs typeface="Amiri" pitchFamily="2" charset="-78"/>
              </a:rPr>
              <a:t>أَخْطَرُ مِمَّا يَظُنُّ كَثِيرُونَ</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3" name="Text 20"/>
          <p:cNvSpPr txBox="1"/>
          <p:nvPr/>
        </p:nvSpPr>
        <p:spPr>
          <a:xfrm>
            <a:off x="19385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main view</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18320" y="300471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 تَعْنِي …</a:t>
            </a:r>
            <a:endParaRPr lang="ar-SA" sz="1600" dirty="0"/>
          </a:p>
        </p:txBody>
      </p:sp>
      <p:sp>
        <p:nvSpPr>
          <p:cNvPr id="29" name="Text 26"/>
          <p:cNvSpPr txBox="1"/>
          <p:nvPr/>
        </p:nvSpPr>
        <p:spPr>
          <a:xfrm>
            <a:off x="4023360" y="3004718"/>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فَالمِنْطَقَةُ </a:t>
            </a:r>
            <a:pPr rtl="1" algn="ctr" indent="0" marL="0">
              <a:buNone/>
            </a:pPr>
            <a:r>
              <a:rPr lang="ar-SA" altLang="en-US" sz="1700" b="1" dirty="0">
                <a:solidFill>
                  <a:srgbClr val="7B3FA0"/>
                </a:solidFill>
                <a:latin typeface="Amiri" pitchFamily="2" charset="-78"/>
                <a:cs typeface="Amiri" pitchFamily="2" charset="-78"/>
              </a:rPr>
              <a:t>تَسْتَنْفِدُ</a:t>
            </a:r>
            <a:pPr rtl="1" algn="ctr" indent="0" marL="0">
              <a:buNone/>
            </a:pPr>
            <a:r>
              <a:rPr lang="ar-SA" altLang="en-US" sz="1700" b="1" dirty="0">
                <a:solidFill>
                  <a:srgbClr val="1B3B6F"/>
                </a:solidFill>
                <a:latin typeface="Amiri" pitchFamily="2" charset="-78"/>
                <a:cs typeface="Amiri" pitchFamily="2" charset="-78"/>
              </a:rPr>
              <a:t> مِيَاهَهَا الجَوْفِيَّةَ.</a:t>
            </a:r>
            <a:endParaRPr lang="ar-SA" sz="1700" dirty="0"/>
          </a:p>
        </p:txBody>
      </p:sp>
      <p:sp>
        <p:nvSpPr>
          <p:cNvPr id="30" name="Text 27"/>
          <p:cNvSpPr txBox="1"/>
          <p:nvPr/>
        </p:nvSpPr>
        <p:spPr>
          <a:xfrm>
            <a:off x="19385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word / detail</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18320" y="3741725"/>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المُحَفِّزُ … وَهُوَ …</a:t>
            </a:r>
            <a:endParaRPr lang="ar-SA" sz="1600" dirty="0"/>
          </a:p>
        </p:txBody>
      </p:sp>
      <p:sp>
        <p:nvSpPr>
          <p:cNvPr id="36" name="Text 33"/>
          <p:cNvSpPr txBox="1"/>
          <p:nvPr/>
        </p:nvSpPr>
        <p:spPr>
          <a:xfrm>
            <a:off x="4023360" y="3741725"/>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الوَضْعُ أَنْ </a:t>
            </a:r>
            <a:pPr rtl="1" algn="ctr" indent="0" marL="0">
              <a:buNone/>
            </a:pPr>
            <a:r>
              <a:rPr lang="ar-SA" altLang="en-US" sz="1700" b="1" dirty="0">
                <a:solidFill>
                  <a:srgbClr val="1D5FBF"/>
                </a:solidFill>
                <a:latin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cs typeface="Amiri" pitchFamily="2" charset="-78"/>
              </a:rPr>
              <a:t> الدُّوَلُ.</a:t>
            </a:r>
            <a:endParaRPr lang="ar-SA" sz="1700" dirty="0"/>
          </a:p>
        </p:txBody>
      </p:sp>
      <p:sp>
        <p:nvSpPr>
          <p:cNvPr id="37" name="Text 34"/>
          <p:cNvSpPr txBox="1"/>
          <p:nvPr/>
        </p:nvSpPr>
        <p:spPr>
          <a:xfrm>
            <a:off x="19385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trigger</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18320" y="4478731"/>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يَدُلُّ … عَلَى …</a:t>
            </a:r>
            <a:endParaRPr lang="ar-SA" sz="1600" dirty="0"/>
          </a:p>
        </p:txBody>
      </p:sp>
      <p:sp>
        <p:nvSpPr>
          <p:cNvPr id="41" name="Text 38"/>
          <p:cNvSpPr txBox="1"/>
          <p:nvPr/>
        </p:nvSpPr>
        <p:spPr>
          <a:xfrm>
            <a:off x="4023360" y="4478731"/>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cs typeface="Amiri" pitchFamily="2" charset="-78"/>
              </a:rPr>
              <a:t> الحُكُومَاتُ …</a:t>
            </a:r>
            <a:endParaRPr lang="ar-SA" sz="1700" dirty="0"/>
          </a:p>
        </p:txBody>
      </p:sp>
      <p:sp>
        <p:nvSpPr>
          <p:cNvPr id="42" name="Text 39"/>
          <p:cNvSpPr txBox="1"/>
          <p:nvPr/>
        </p:nvSpPr>
        <p:spPr>
          <a:xfrm>
            <a:off x="19385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force</a:t>
            </a:r>
            <a:endParaRPr lang="en-US" sz="1100" dirty="0"/>
          </a:p>
        </p:txBody>
      </p:sp>
      <p:sp>
        <p:nvSpPr>
          <p:cNvPr id="43" name="Text 40"/>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18320" y="521573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الغَرَضُ مِنَ النَّصِّ …</a:t>
            </a:r>
            <a:endParaRPr lang="ar-SA" sz="1600" dirty="0"/>
          </a:p>
        </p:txBody>
      </p:sp>
      <p:sp>
        <p:nvSpPr>
          <p:cNvPr id="46" name="Text 43"/>
          <p:cNvSpPr txBox="1"/>
          <p:nvPr/>
        </p:nvSpPr>
        <p:spPr>
          <a:xfrm>
            <a:off x="4023360" y="5215738"/>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وَالغَرَضُ مِنَ النَّصِّ</a:t>
            </a:r>
            <a:pPr rtl="1" algn="ctr" indent="0" marL="0">
              <a:buNone/>
            </a:pPr>
            <a:r>
              <a:rPr lang="ar-SA" altLang="en-US" sz="1700" b="1" dirty="0">
                <a:solidFill>
                  <a:srgbClr val="1B3B6F"/>
                </a:solidFill>
                <a:latin typeface="Amiri" pitchFamily="2" charset="-78"/>
                <a:cs typeface="Amiri" pitchFamily="2" charset="-78"/>
              </a:rPr>
              <a:t> إِقْنَاعُ القَارِئِ …</a:t>
            </a:r>
            <a:endParaRPr lang="ar-SA" sz="1700" dirty="0"/>
          </a:p>
        </p:txBody>
      </p:sp>
      <p:sp>
        <p:nvSpPr>
          <p:cNvPr id="47" name="Text 44"/>
          <p:cNvSpPr txBox="1"/>
          <p:nvPr/>
        </p:nvSpPr>
        <p:spPr>
          <a:xfrm>
            <a:off x="19385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purpose</a:t>
            </a:r>
            <a:endParaRPr lang="en-US" sz="1100" dirty="0"/>
          </a:p>
        </p:txBody>
      </p:sp>
      <p:sp>
        <p:nvSpPr>
          <p:cNvPr id="48" name="Text 45"/>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R4</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R1–R2: find it. R3–R4: work it out — and quote the words that prove it.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GAP-FILL STRATEGY (WEBSITE RULE 4, TEACHING POINT 2 AND MISTAKES) · CORE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trigger, then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ابْحَثْ عَنِ المُحَفِّزِ أَوَّلًا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TRIGGER → -A · CORE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 لِكَيْ ← فَتْحَةٌ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يَنْبَغِي أَنْ تُطَوِّرَ الدُّوَلُ التَّحْلِيَةَ.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States should develop desalination.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Trigger → fatḥa.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 TRIGGER → -U · CORE</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لَا مُحَفِّزَ ← ضَمَّةٌ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تُطَوِّرُ الدُّوَلُ سِيَاسَاتِهَا حَالِيًّا.</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States are currently developing their policies.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trigger → ḍamma.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TRAP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يَرَى الكَاتِبُ أَنَّ الأَزْمَةَ أَخْطَرُ.</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writer believes that the crisis is more serious.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 no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no trigger — so the verb ends in -u.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تُطَوِّرُ الدُّوَلُ سِيَاسَاتِهَا حَالِيًّا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تُطَوِّرَ الدُّوَلُ سِيَاسَاتِهَا حَالِيًّا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subjunctives for argument</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قِرَاءَةُ المَنْصُوبِ لِفَهْمِ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Identify by the ending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final -a = subjunctive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يَنْبَغِي أَنْ تُطَوِّرَ   ·   تُطَوِّرُ الدُّوَلُ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Name the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purpose · volition · necessity</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لِكَيْ تُقَلِّلَ   ·   يَتَطَلَّبُ أَنْ تَتَعَاوَنَ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the force (R3)</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subjunctive → not yet done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يَتَطَلَّبُ أَنْ …</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Gap-fill choice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trigger → -a · no trigger → -u</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يَنْبَغِي أَنْ تُطَوِّرَ   ·   تُطَوِّرُ الدُّوَلُ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 الدُّوَلُ سِيَاسَاتِهَا.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طَوَّرَتِ الدُّوَلُ سِيَاسَاتِهَا.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تُطَوِّرَ الدُّوَلُ.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cs typeface="Amiri" pitchFamily="2" charset="-78"/>
              </a:rPr>
              <a:t>لِكَيْ تُقَلِّلَ الهَدْرَ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 (</a:t>
            </a:r>
            <a:pPr algn="l" indent="0" marL="0">
              <a:buNone/>
            </a:pPr>
            <a:r>
              <a:rPr lang="ar-SA" altLang="en-US" sz="1650" dirty="0">
                <a:solidFill>
                  <a:srgbClr val="1F2A37"/>
                </a:solidFill>
                <a:latin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cs typeface="Amiri" pitchFamily="2" charset="-78"/>
              </a:rPr>
              <a:t>يَتَطَلَّبُ الوَضْعُ أَنْ تَتَعَاوَنَ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 (</a:t>
            </a:r>
            <a:pPr algn="l" indent="0" marL="0">
              <a:buNone/>
            </a:pPr>
            <a:r>
              <a:rPr lang="ar-SA" altLang="en-US" sz="1650" dirty="0">
                <a:solidFill>
                  <a:srgbClr val="1F2A37"/>
                </a:solidFill>
                <a:latin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يَنْبَغِي أَنْ ___ الدُّوَلُ التَّحْلِيَةَ.</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طَوَّرَتْ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تُطَوِّرُ الدُّوَلُ سِيَاسَاتِهَا.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طَوَّرَتِ الدُّوَلُ سِيَاسَاتِهَا.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يَنْبَغِي أَنْ تُطَوِّرَ الدُّوَلُ.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a fatḥa: </a:t>
            </a:r>
            <a:pPr algn="l" indent="0" marL="0">
              <a:buNone/>
            </a:pPr>
            <a:r>
              <a:rPr lang="ar-SA" altLang="en-US" sz="1350" dirty="0">
                <a:solidFill>
                  <a:srgbClr val="8A6D1E"/>
                </a:solidFill>
                <a:latin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cs typeface="Amiri" pitchFamily="2" charset="-78"/>
              </a:rPr>
              <a:t>لِكَيْ تُقَلِّلَ الهَدْرَ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 (</a:t>
            </a:r>
            <a:pPr algn="l" indent="0" marL="0">
              <a:buNone/>
            </a:pPr>
            <a:r>
              <a:rPr lang="ar-SA" altLang="en-US" sz="1650" b="1" dirty="0">
                <a:solidFill>
                  <a:srgbClr val="1F2A37"/>
                </a:solidFill>
                <a:latin typeface="Amiri" pitchFamily="2" charset="-78"/>
                <a:cs typeface="Amiri" pitchFamily="2" charset="-78"/>
              </a:rPr>
              <a:t>لِكَيْ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the purpose trigger.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cs typeface="Amiri" pitchFamily="2" charset="-78"/>
              </a:rPr>
              <a:t>يَتَطَلَّبُ الوَضْعُ أَنْ تَتَعَاوَنَ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 (</a:t>
            </a:r>
            <a:pPr algn="l" indent="0" marL="0">
              <a:buNone/>
            </a:pPr>
            <a:r>
              <a:rPr lang="ar-SA" altLang="en-US" sz="1650" b="1" dirty="0">
                <a:solidFill>
                  <a:srgbClr val="1F2A37"/>
                </a:solidFill>
                <a:latin typeface="Amiri" pitchFamily="2" charset="-78"/>
                <a:cs typeface="Amiri" pitchFamily="2" charset="-78"/>
              </a:rPr>
              <a:t>يَتَطَلَّبُ</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يَنْبَغِي أَنْ ___ الدُّوَلُ التَّحْلِيَةَ.</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تُطَوِّرَ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تُطَوِّرُ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طَوَّرَتْ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requires the subjunctive fatḥa.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analyse the grammar of an argument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Identify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a:t>
            </a:r>
            <a:pPr rtl="1" algn="ctr" indent="0" marL="0">
              <a:buNone/>
            </a:pPr>
            <a:r>
              <a:rPr lang="ar-SA" altLang="en-US" sz="2100" b="1" dirty="0">
                <a:solidFill>
                  <a:srgbClr val="D6336C"/>
                </a:solidFill>
                <a:latin typeface="Amiri" pitchFamily="2" charset="-78"/>
                <a:cs typeface="Amiri" pitchFamily="2" charset="-78"/>
              </a:rPr>
              <a:t>تَتَعَاوَنَ</a:t>
            </a:r>
            <a:pPr rtl="1" algn="ctr" indent="0" marL="0">
              <a:buNone/>
            </a:pPr>
            <a:r>
              <a:rPr lang="ar-SA" altLang="en-US" sz="2100" b="1" dirty="0">
                <a:solidFill>
                  <a:srgbClr val="1B3B6F"/>
                </a:solidFill>
                <a:latin typeface="Amiri" pitchFamily="2" charset="-78"/>
                <a:cs typeface="Amiri" pitchFamily="2" charset="-78"/>
              </a:rPr>
              <a:t>» مَنْصُوبٌ — الفَتْحَةُ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ending.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cs typeface="Amiri" pitchFamily="2" charset="-78"/>
              </a:rPr>
              <a:t>«يَتَطَلَّبُ أَنْ»</a:t>
            </a:r>
            <a:pPr rtl="1" algn="ctr" indent="0" marL="0">
              <a:buNone/>
            </a:pPr>
            <a:r>
              <a:rPr lang="ar-SA" altLang="en-US" sz="2700" b="1" dirty="0">
                <a:solidFill>
                  <a:srgbClr val="1B3B6F"/>
                </a:solidFill>
                <a:latin typeface="Amiri" pitchFamily="2" charset="-78"/>
                <a:cs typeface="Amiri" pitchFamily="2" charset="-78"/>
              </a:rPr>
              <a:t> = إِرَادَةٌ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Look left.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0E7C86"/>
                </a:solidFill>
                <a:latin typeface="Amiri" pitchFamily="2" charset="-78"/>
                <a:cs typeface="Amiri" pitchFamily="2" charset="-78"/>
              </a:rPr>
              <a:t>يَدُلُّ عَلَى</a:t>
            </a:r>
            <a:pPr rtl="1" algn="ctr" indent="0" marL="0">
              <a:lnSpc>
                <a:spcPct val="120000"/>
              </a:lnSpc>
              <a:buNone/>
            </a:pPr>
            <a:r>
              <a:rPr lang="ar-SA" altLang="en-US" sz="1900" b="1" dirty="0">
                <a:solidFill>
                  <a:srgbClr val="1B3B6F"/>
                </a:solidFill>
                <a:latin typeface="Amiri" pitchFamily="2" charset="-78"/>
                <a:cs typeface="Amiri" pitchFamily="2" charset="-78"/>
              </a:rPr>
              <a:t> … مَطْلُوبًا لَا مُنْجَزًا</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done yet.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«تَسْتَنْفِدُ» </a:t>
            </a:r>
            <a:pPr rtl="1" algn="ctr" indent="0" marL="0">
              <a:buNone/>
            </a:pPr>
            <a:r>
              <a:rPr lang="ar-SA" altLang="en-US" sz="2800" b="1" dirty="0">
                <a:solidFill>
                  <a:srgbClr val="7B3FA0"/>
                </a:solidFill>
                <a:latin typeface="Amiri" pitchFamily="2" charset="-78"/>
                <a:cs typeface="Amiri" pitchFamily="2" charset="-78"/>
              </a:rPr>
              <a:t>مَرْفُوعٌ</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fact.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SUBJUNCTIVE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INFERENCE</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INDICATIVE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يَكْشِفُ</a:t>
            </a:r>
            <a:pPr rtl="1" algn="r" indent="0" marL="0">
              <a:lnSpc>
                <a:spcPct val="120000"/>
              </a:lnSpc>
              <a:buNone/>
            </a:pPr>
            <a:r>
              <a:rPr lang="ar-SA" altLang="en-US" sz="1400" b="1" dirty="0">
                <a:solidFill>
                  <a:srgbClr val="1B3B6F"/>
                </a:solidFill>
                <a:latin typeface="Amiri" pitchFamily="2" charset="-78"/>
                <a:cs typeface="Amiri" pitchFamily="2" charset="-78"/>
              </a:rPr>
              <a:t> النَّصُّ </a:t>
            </a:r>
            <a:pPr rtl="1" algn="r" indent="0" marL="0">
              <a:lnSpc>
                <a:spcPct val="120000"/>
              </a:lnSpc>
              <a:buNone/>
            </a:pPr>
            <a:r>
              <a:rPr lang="ar-SA" altLang="en-US" sz="1400" b="1" dirty="0">
                <a:solidFill>
                  <a:srgbClr val="0E7C86"/>
                </a:solidFill>
                <a:latin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cs typeface="Amiri" pitchFamily="2" charset="-78"/>
              </a:rPr>
              <a:t> حُجَّةِ كَاتِبِهِ مِنْ خِلَالِ صِيَغِ الأَفْعَالِ. فَجُمْلَةُ «يَتَطَلَّبُ الوَضْعُ أَنْ </a:t>
            </a:r>
            <a:pPr rtl="1" algn="r" indent="0" marL="0">
              <a:lnSpc>
                <a:spcPct val="120000"/>
              </a:lnSpc>
              <a:buNone/>
            </a:pPr>
            <a:r>
              <a:rPr lang="ar-SA" altLang="en-US" sz="1400" b="1" dirty="0">
                <a:solidFill>
                  <a:srgbClr val="D6336C"/>
                </a:solidFill>
                <a:latin typeface="Amiri" pitchFamily="2" charset="-78"/>
                <a:cs typeface="Amiri" pitchFamily="2" charset="-78"/>
              </a:rPr>
              <a:t>تَتَعَاوَنَ</a:t>
            </a:r>
            <a:pPr rtl="1" algn="r" indent="0" marL="0">
              <a:lnSpc>
                <a:spcPct val="120000"/>
              </a:lnSpc>
              <a:buNone/>
            </a:pPr>
            <a:r>
              <a:rPr lang="ar-SA" altLang="en-US" sz="1400" b="1" dirty="0">
                <a:solidFill>
                  <a:srgbClr val="1B3B6F"/>
                </a:solidFill>
                <a:latin typeface="Amiri" pitchFamily="2" charset="-78"/>
                <a:cs typeface="Amiri" pitchFamily="2" charset="-78"/>
              </a:rPr>
              <a:t> الدُّوَلُ» تَحْمِلُ فِعْلًا مَنْصُوبًا عَرَفْتُهُ مِنَ الفَتْحَةِ، وَمُحَفِّزُهُ </a:t>
            </a:r>
            <a:pPr rtl="1" algn="r" indent="0" marL="0">
              <a:lnSpc>
                <a:spcPct val="120000"/>
              </a:lnSpc>
              <a:buNone/>
            </a:pPr>
            <a:r>
              <a:rPr lang="ar-SA" altLang="en-US" sz="1400" b="1" dirty="0">
                <a:solidFill>
                  <a:srgbClr val="1D5FBF"/>
                </a:solidFill>
                <a:latin typeface="Amiri" pitchFamily="2" charset="-78"/>
                <a:cs typeface="Amiri" pitchFamily="2" charset="-78"/>
              </a:rPr>
              <a:t>«يَتَطَلَّبُ أَنْ»</a:t>
            </a:r>
            <a:pPr rtl="1" algn="r" indent="0" marL="0">
              <a:lnSpc>
                <a:spcPct val="120000"/>
              </a:lnSpc>
              <a:buNone/>
            </a:pPr>
            <a:r>
              <a:rPr lang="ar-SA" altLang="en-US" sz="1400" b="1" dirty="0">
                <a:solidFill>
                  <a:srgbClr val="1B3B6F"/>
                </a:solidFill>
                <a:latin typeface="Amiri" pitchFamily="2" charset="-78"/>
                <a:cs typeface="Amiri" pitchFamily="2" charset="-78"/>
              </a:rPr>
              <a:t>، وَهُوَ مُحَفِّزُ إِرَادَةٍ. </a:t>
            </a:r>
            <a:pPr rtl="1" algn="r" indent="0" marL="0">
              <a:lnSpc>
                <a:spcPct val="120000"/>
              </a:lnSpc>
              <a:buNone/>
            </a:pPr>
            <a:r>
              <a:rPr lang="ar-SA" altLang="en-US" sz="1400" b="1" dirty="0">
                <a:solidFill>
                  <a:srgbClr val="0E7C86"/>
                </a:solidFill>
                <a:latin typeface="Amiri" pitchFamily="2" charset="-78"/>
                <a:cs typeface="Amiri" pitchFamily="2" charset="-78"/>
              </a:rPr>
              <a:t>وَهٰذَا يَدُلُّ عَلَى</a:t>
            </a:r>
            <a:pPr rtl="1" algn="r" indent="0" marL="0">
              <a:lnSpc>
                <a:spcPct val="120000"/>
              </a:lnSpc>
              <a:buNone/>
            </a:pPr>
            <a:r>
              <a:rPr lang="ar-SA" altLang="en-US" sz="1400" b="1" dirty="0">
                <a:solidFill>
                  <a:srgbClr val="1B3B6F"/>
                </a:solidFill>
                <a:latin typeface="Amiri" pitchFamily="2" charset="-78"/>
                <a:cs typeface="Amiri" pitchFamily="2" charset="-78"/>
              </a:rPr>
              <a:t> أَنَّ الكَاتِبَ يَرَى التَّعَاوُنَ مَطْلُوبًا لَا مُنْجَزًا. أَمَّا «تَسْتَنْفِدُ المِنْطَقَةُ مِيَاهَهَا» فَفِعْلُهَا </a:t>
            </a:r>
            <a:pPr rtl="1" algn="r" indent="0" marL="0">
              <a:lnSpc>
                <a:spcPct val="120000"/>
              </a:lnSpc>
              <a:buNone/>
            </a:pPr>
            <a:r>
              <a:rPr lang="ar-SA" altLang="en-US" sz="1400" b="1" dirty="0">
                <a:solidFill>
                  <a:srgbClr val="7B3FA0"/>
                </a:solidFill>
                <a:latin typeface="Amiri" pitchFamily="2" charset="-78"/>
                <a:cs typeface="Amiri" pitchFamily="2" charset="-78"/>
              </a:rPr>
              <a:t>مَرْفُوعٌ</a:t>
            </a:r>
            <a:pPr rtl="1" algn="r" indent="0" marL="0">
              <a:lnSpc>
                <a:spcPct val="120000"/>
              </a:lnSpc>
              <a:buNone/>
            </a:pPr>
            <a:r>
              <a:rPr lang="ar-SA" altLang="en-US" sz="1400" b="1" dirty="0">
                <a:solidFill>
                  <a:srgbClr val="1B3B6F"/>
                </a:solidFill>
                <a:latin typeface="Amiri" pitchFamily="2" charset="-78"/>
                <a:cs typeface="Amiri" pitchFamily="2" charset="-78"/>
              </a:rPr>
              <a:t>، لِأَنَّهُ يَصِفُ فِعْلًا وَاقِعًا بِلَا مُحَفِّزٍ.</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text reveals its writer’s argument through its verb forms. The sentence “the situation requires states to cooperate” contains a subjunctive verb, which I recognised from the fatḥa; its trigger is “yataṭallabu an”, a volition trigger. This shows that the writer sees cooperation as required, not yet achieved. “The region is depleting its water”, by contrast, has an indicative verb, because it describes a real action with no trigger.</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يَنْبَغِي أَنْ تُطَوِّرَ الدُّوَلُ سِيَاسَاتِ المِيَاهِ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should develop water policies</a:t>
            </a:r>
            <a:endParaRPr lang="en-US" sz="1250" dirty="0"/>
          </a:p>
          <a:p>
            <a:pPr indent="0" marL="0">
              <a:buNone/>
            </a:pPr>
            <a:r>
              <a:rPr lang="en-US" sz="1050" i="1" dirty="0">
                <a:solidFill>
                  <a:srgbClr val="8A6D1E"/>
                </a:solidFill>
                <a:latin typeface="Calibri" pitchFamily="34" charset="0"/>
                <a:cs typeface="Amiri" pitchFamily="2" charset="-78"/>
              </a:rPr>
              <a:t>Necessity trigger; subjunctive fatḥa.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تَسْتَثْمِرُ الدُّوَلُ فِي الشَّمْسِ لِكَيْ تُقَلِّلَ الانْبِعَاثَاتِ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invest in the sun so that they reduce emissions</a:t>
            </a:r>
            <a:endParaRPr lang="en-US" sz="1250" dirty="0"/>
          </a:p>
          <a:p>
            <a:pPr indent="0" marL="0">
              <a:buNone/>
            </a:pPr>
            <a:r>
              <a:rPr lang="en-US" sz="1050" i="1" dirty="0">
                <a:solidFill>
                  <a:srgbClr val="8A6D1E"/>
                </a:solidFill>
                <a:latin typeface="Calibri" pitchFamily="34" charset="0"/>
                <a:cs typeface="Amiri" pitchFamily="2" charset="-78"/>
              </a:rPr>
              <a:t>Purpose trigger;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تُطَوِّرُ الدُّوَلُ سِيَاسَاتِهَا حَالِيًّا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are currently developing their policies</a:t>
            </a:r>
            <a:endParaRPr lang="en-US" sz="1250" dirty="0"/>
          </a:p>
          <a:p>
            <a:pPr indent="0" marL="0">
              <a:buNone/>
            </a:pPr>
            <a:r>
              <a:rPr lang="en-US" sz="1050" i="1" dirty="0">
                <a:solidFill>
                  <a:srgbClr val="8A6D1E"/>
                </a:solidFill>
                <a:latin typeface="Calibri" pitchFamily="34" charset="0"/>
                <a:cs typeface="Amiri" pitchFamily="2" charset="-78"/>
              </a:rPr>
              <a:t>No trigger; indicative ḍamma.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حَلِّلِ الجُمَلَ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reveals</a:t>
            </a:r>
            <a:endParaRPr lang="en-US" sz="1100" dirty="0"/>
          </a:p>
        </p:txBody>
      </p:sp>
      <p:sp>
        <p:nvSpPr>
          <p:cNvPr id="17" name="Text 14"/>
          <p:cNvSpPr txBox="1"/>
          <p:nvPr/>
        </p:nvSpPr>
        <p:spPr>
          <a:xfrm>
            <a:off x="63825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mood</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the reading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0508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fact happening now</a:t>
            </a:r>
            <a:endParaRPr lang="en-US" sz="1100" dirty="0"/>
          </a:p>
        </p:txBody>
      </p:sp>
      <p:sp>
        <p:nvSpPr>
          <p:cNvPr id="21" name="Text 18"/>
          <p:cNvSpPr txBox="1"/>
          <p:nvPr/>
        </p:nvSpPr>
        <p:spPr>
          <a:xfrm>
            <a:off x="64190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tastanfidu · indicative</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فَالمِنْطَقَةُ </a:t>
            </a:r>
            <a:pPr rtl="1" algn="ctr" indent="0" marL="0">
              <a:buNone/>
            </a:pPr>
            <a:r>
              <a:rPr lang="ar-SA" altLang="en-US" sz="1700" b="1" dirty="0">
                <a:solidFill>
                  <a:srgbClr val="7B3FA0"/>
                </a:solidFill>
                <a:latin typeface="Amiri" pitchFamily="2" charset="-78"/>
                <a:cs typeface="Amiri" pitchFamily="2" charset="-78"/>
              </a:rPr>
              <a:t>تَسْتَنْفِدُ</a:t>
            </a:r>
            <a:pPr rtl="1" algn="ctr" indent="0" marL="0">
              <a:buNone/>
            </a:pPr>
            <a:r>
              <a:rPr lang="ar-SA" altLang="en-US" sz="1700" b="1" dirty="0">
                <a:solidFill>
                  <a:srgbClr val="1B3B6F"/>
                </a:solidFill>
                <a:latin typeface="Amiri" pitchFamily="2" charset="-78"/>
                <a:cs typeface="Amiri" pitchFamily="2" charset="-78"/>
              </a:rPr>
              <a:t> مِيَاهَهَا الجَوْفِيَّةَ بِسُرْعَةٍ.</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0508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cooperation is needed — not yet happening</a:t>
            </a:r>
            <a:endParaRPr lang="en-US" sz="1100" dirty="0"/>
          </a:p>
        </p:txBody>
      </p:sp>
      <p:sp>
        <p:nvSpPr>
          <p:cNvPr id="27" name="Text 24"/>
          <p:cNvSpPr txBox="1"/>
          <p:nvPr/>
        </p:nvSpPr>
        <p:spPr>
          <a:xfrm>
            <a:off x="64190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tataʿāwana · volition</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الوَضْعُ أَنْ </a:t>
            </a:r>
            <a:pPr rtl="1" algn="ctr" indent="0" marL="0">
              <a:buNone/>
            </a:pPr>
            <a:r>
              <a:rPr lang="ar-SA" altLang="en-US" sz="1700" b="1" dirty="0">
                <a:solidFill>
                  <a:srgbClr val="D6336C"/>
                </a:solidFill>
                <a:latin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cs typeface="Amiri" pitchFamily="2" charset="-78"/>
              </a:rPr>
              <a:t> الدُّوَلُ فِي إِدَارَةِ المَوَارِدِ المُشْتَرَكَةِ.</a:t>
            </a:r>
            <a:endParaRPr lang="ar-SA" sz="17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0508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urges investment</a:t>
            </a:r>
            <a:endParaRPr lang="en-US" sz="1100" dirty="0"/>
          </a:p>
        </p:txBody>
      </p:sp>
      <p:sp>
        <p:nvSpPr>
          <p:cNvPr id="33" name="Text 30"/>
          <p:cNvSpPr txBox="1"/>
          <p:nvPr/>
        </p:nvSpPr>
        <p:spPr>
          <a:xfrm>
            <a:off x="64190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tastathmira · necessity</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وَمِنَ الضَّرُورِيِّ أَنْ </a:t>
            </a:r>
            <a:pPr rtl="1" algn="ctr" indent="0" marL="0">
              <a:buNone/>
            </a:pPr>
            <a:r>
              <a:rPr lang="ar-SA" altLang="en-US" sz="1700" b="1" dirty="0">
                <a:solidFill>
                  <a:srgbClr val="D6336C"/>
                </a:solidFill>
                <a:latin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cs typeface="Amiri" pitchFamily="2" charset="-78"/>
              </a:rPr>
              <a:t> الحُكُومَاتُ فِي التَّحْلِيَةِ.</a:t>
            </a:r>
            <a:endParaRPr lang="ar-SA" sz="17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0508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confirms: efforts are not enough</a:t>
            </a:r>
            <a:endParaRPr lang="en-US" sz="1100" dirty="0"/>
          </a:p>
        </p:txBody>
      </p:sp>
      <p:sp>
        <p:nvSpPr>
          <p:cNvPr id="37" name="Text 34"/>
          <p:cNvSpPr txBox="1"/>
          <p:nvPr/>
        </p:nvSpPr>
        <p:spPr>
          <a:xfrm>
            <a:off x="64190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verb in -a</a:t>
            </a:r>
            <a:endParaRPr lang="en-US" sz="1100" dirty="0"/>
          </a:p>
        </p:txBody>
      </p:sp>
      <p:sp>
        <p:nvSpPr>
          <p:cNvPr id="38" name="Text 35"/>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غَيْرَ أَنَّ هٰذِهِ الجُهُودَ مَا زَالَتْ مَحْدُودَةً.</a:t>
            </a:r>
            <a:endParaRPr lang="ar-SA" sz="17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sentences — this table is the plan for answering its R1–R4 questions.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GRAMMAR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Identify + trigger + force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Identify</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Name the trigger</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Read the force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الفِعْلُ «تَتَعَاوَنَ» مَنْصُوبٌ عَرَفْتُهُ مِنَ الفَتْحَةِ</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وَمُحَفِّزُهُ «يَتَطَلَّبُ أَنْ» وَهُوَ إِرَادَةٌ</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وَهٰذَا يَدُلُّ عَلَى أَنَّ الفِعْلَ مَطْلُوبٌ لَا مُنْجَزٌ بَعْدُ</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الفِعْلُ «تُطَوِّرَ» مَنْصُوبٌ بِفَتْحَةٍ فِي آخِرِهِ</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وَمُحَفِّزُهُ «يَنْبَغِي أَنْ» وَهُوَ ضَرُورَةٌ</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وَيَكْشِفُ عَنْ حَاجَةٍ يُلِحُّ عَلَيْهَا الكَاتِبُ</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الفِعْلُ «تُقَلِّلَ» مَنْصُوبٌ لَا مَرْفُوعٌ</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وَمُحَفِّزُهُ «لِكَيْ» وَهُوَ غَرَضٌ</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وَيُبَيِّنُ غَرَضَ الفِعْلِ لَا وُقُوعَهُ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تُقَلِّلَ الهَدْرَ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يَبْقَى التُّرَاثُ حَيًّا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تُحَقِّقَ الاسْتِدَامَةَ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يَتَطَلَّبُ الوَضْعُ أَنْ تَتَعَاوَنَ الدُّوَلُ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تَهْدِفُ الرُّؤْيَةُ إِلَى أَنْ تُنَوِّعَ الاقْتِصَادَ</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يَرْجُو الجَمِيعُ أَنْ يَتَحَقَّقَ الأَمْنُ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تُطَوِّرَ الدُّوَلُ التَّحْلِيَةَ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الضَّرُورِيِّ أَنْ تُخَصِّصَ مِيزَانِيَّاتٍ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المُهِمِّ أَنْ يُشَارِكَ المُجْتَمَعُ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(yataṭallabu / yahdifu)</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min al-ḍarūrī)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تُقَلِّلَ الهَدْرَ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يَبْقَى التُّرَاثُ حَيًّا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تُحَقِّقَ الاسْتِدَامَةَ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(yataṭallabu / yahdifu)</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يَتَطَلَّبُ الوَضْعُ أَنْ تَتَعَاوَنَ الدُّوَلُ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تَهْدِفُ الرُّؤْيَةُ إِلَى أَنْ تُنَوِّعَ الاقْتِصَادَ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يَرْجُو الجَمِيعُ أَنْ يَتَحَقَّقَ الأَمْنُ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min al-ḍarūrī)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تُطَوِّرَ الدُّوَلُ التَّحْلِيَةَ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الضَّرُورِيِّ أَنْ تُخَصِّصَ مِيزَانِيَّاتٍ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المُهِمِّ أَنْ يُشَارِكَ المُجْتَمَعُ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cs typeface="Amiri" pitchFamily="2" charset="-78"/>
              </a:rPr>
              <a:t>يَنْبَغِي أَنْ 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 (</a:t>
            </a:r>
            <a:pPr algn="l" indent="0" marL="0">
              <a:buNone/>
            </a:pPr>
            <a:r>
              <a:rPr lang="ar-SA" altLang="en-US" sz="1650" dirty="0">
                <a:solidFill>
                  <a:srgbClr val="1F2A37"/>
                </a:solidFill>
                <a:latin typeface="Amiri" pitchFamily="2" charset="-78"/>
                <a:cs typeface="Amiri" pitchFamily="2" charset="-78"/>
              </a:rPr>
              <a:t>يَنْبَغِي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necessity subjunctive tell you (R3)?</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action is complete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action is required but not yet done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action is impossible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(no trigger): ___ </a:t>
            </a:r>
            <a:pPr algn="l" indent="0" marL="0">
              <a:buNone/>
            </a:pPr>
            <a:r>
              <a:rPr lang="ar-SA" altLang="en-US" sz="1650" b="1" dirty="0">
                <a:solidFill>
                  <a:srgbClr val="1B3B6F"/>
                </a:solidFill>
                <a:latin typeface="Amiri" pitchFamily="2" charset="-78"/>
                <a:cs typeface="Amiri" pitchFamily="2" charset="-78"/>
              </a:rPr>
              <a:t>الدُّوَلُ سِيَاسَاتِهَا حَالِيًّا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لِتُطَوِّرَ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R3 answer about a subjunctive?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past-tense fact.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plain description.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necessity subjunctive, so the writer signals the action is required but not yet done.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cs typeface="Amiri" pitchFamily="2" charset="-78"/>
              </a:rPr>
              <a:t>يَنْبَغِي أَنْ 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 (</a:t>
            </a:r>
            <a:pPr algn="l" indent="0" marL="0">
              <a:buNone/>
            </a:pPr>
            <a:r>
              <a:rPr lang="ar-SA" altLang="en-US" sz="1650" b="1" dirty="0">
                <a:solidFill>
                  <a:srgbClr val="1F2A37"/>
                </a:solidFill>
                <a:latin typeface="Amiri" pitchFamily="2" charset="-78"/>
                <a:cs typeface="Amiri" pitchFamily="2" charset="-78"/>
              </a:rPr>
              <a:t>يَنْبَغِي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is a necessity trigger.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necessity subjunctive tell you (R3)?</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action is complete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action is required but not yet done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action is impossible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necessity subjunctive marks a required, undone action.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(no trigger): ___ </a:t>
            </a:r>
            <a:pPr algn="l" indent="0" marL="0">
              <a:buNone/>
            </a:pPr>
            <a:r>
              <a:rPr lang="ar-SA" altLang="en-US" sz="1650" b="1" dirty="0">
                <a:solidFill>
                  <a:srgbClr val="1B3B6F"/>
                </a:solidFill>
                <a:latin typeface="Amiri" pitchFamily="2" charset="-78"/>
                <a:cs typeface="Amiri" pitchFamily="2" charset="-78"/>
              </a:rPr>
              <a:t>الدُّوَلُ سِيَاسَاتِهَا حَالِيًّا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تُطَوِّرَ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تُطَوِّرُ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لِتُطَوِّرَ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no trigger, the verb is indicative: </a:t>
            </a:r>
            <a:pPr algn="l" indent="0" marL="0">
              <a:buNone/>
            </a:pPr>
            <a:r>
              <a:rPr lang="ar-SA" altLang="en-US" sz="1350" dirty="0">
                <a:solidFill>
                  <a:srgbClr val="8A6D1E"/>
                </a:solidFill>
                <a:latin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R3 answer about a subjunctive?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past-tense fact.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plain description.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necessity subjunctive, so the writer signals the action is required but not yet done.</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names the trigger and reads its argumentative force.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يَنْبَغِي أَنْ تُطَوِّرُ الدُّوَلُ التَّحْلِيَةَ.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tuṭawwiru?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تُطَوِّرَ الدُّوَلُ سِيَاسَاتِهَا حَالِيًّا.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 trigger +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«لِكَيْ» تُشِيرُ إِلَى فِعْلٍ مُنْجَزٍ.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 a done action?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يَنْبَغِي أَنْ تُطَوِّرُ الدُّوَلُ التَّحْلِيَةَ.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يَنْبَغِي أَنْ تُطَوِّرَ الدُّوَلُ التَّحْلِيَةَ.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trigger the verb is subjunctive: </a:t>
            </a:r>
            <a:pPr algn="l" indent="0" marL="0">
              <a:buNone/>
            </a:pPr>
            <a:r>
              <a:rPr lang="ar-SA" altLang="en-US" sz="1500" b="1" dirty="0">
                <a:solidFill>
                  <a:srgbClr val="1B3B6F"/>
                </a:solidFill>
                <a:latin typeface="Amiri" pitchFamily="2" charset="-78"/>
                <a:cs typeface="Amiri" pitchFamily="2" charset="-78"/>
              </a:rPr>
              <a:t>تُطَوِّرَ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تُطَوِّرَ الدُّوَلُ سِيَاسَاتِهَا حَالِيًّا.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تُطَوِّرُ الدُّوَلُ سِيَاسَاتِهَا حَالِيًّا.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no trigger the verb is indicative: </a:t>
            </a:r>
            <a:pPr algn="l" indent="0" marL="0">
              <a:buNone/>
            </a:pPr>
            <a:r>
              <a:rPr lang="ar-SA" altLang="en-US" sz="1500" b="1" dirty="0">
                <a:solidFill>
                  <a:srgbClr val="1B3B6F"/>
                </a:solidFill>
                <a:latin typeface="Amiri" pitchFamily="2" charset="-78"/>
                <a:cs typeface="Amiri" pitchFamily="2" charset="-78"/>
              </a:rPr>
              <a:t>تُطَوِّرُ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«لِكَيْ» تُشِيرُ إِلَى فِعْلٍ مُنْجَزٍ.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«لِكَيْ» تُشِيرُ إِلَى غَرَضٍ لَمْ يَتَحَقَّقْ بَعْدُ.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purpose subjunctive marks a goal, not a completed action.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reading grammar for meaning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form of the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subjunctive verb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ḍamma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fatḥa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event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subjunctive tell you about the action?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required but has not happened yet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complete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what do you do first?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the ending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for the trigger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 the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fatḥa · li-kay · yataṭallabu an · yanbaghī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عِنْدَمَا تَقْرَأُ نَصًّا بِيئِيًّا أَوْ تُرَاثِيًّا، لَا تَنْظُرْ إِلَى المَعْلُومَةِ فَقَطْ، بَلْ إِلَى صِيغَةِ الفِعْلِ.</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an environmental or heritage text, do not look only at the information, but at the form of the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فَالفِعْلُ المَنْصُوبُ يَنْتَهِي بِفَتْحَةٍ، وَيَأْتِي بَعْدَ مُحَفِّزٍ: «لِكَيْ» لِلْغَرَضِ، وَ«يَتَطَلَّبُ أَنْ» لِلْإِرَادَةِ، وَ«يَنْبَغِي أَنْ» لِلضَّرُورَةِ.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verb ends in a fatḥa and comes after a trigger: “li-kay” for purpose, “yataṭallabu an” for volition, and “yanbaghī an” for necessity.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وَهٰذَا يُخْبِرُكَ بِعَلَاقَةِ الكَاتِبِ بِالفِعْلِ: هَلْ يَصِفُ غَرَضًا، أَمْ يُعَبِّرُ عَنْ حَاجَةٍ، أَمْ يُقَرِّرُ ضَرُورَةً؟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tells you the writer’s relationship to the action: is he describing a goal, expressing a need, or stating a necessity?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فَالمَنْصُوبُ يَدُلُّ عَلَى أَنَّ الفِعْلَ مَطْلُوبٌ وَلٰكِنْ لَمْ يَحْدُثْ بَعْدُ. أَمَّا الفِعْلُ المَرْفُوعُ فَيَنْتَهِي بِضَمَّةٍ وَيَصِفُ فِعْلًا وَاقِعًا.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shows that the action is required but has not happened yet. The indicative verb, however, ends in a ḍamma and describes a real action.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مِلْءِ الفَرَاغِ، ابْحَثْ عَنِ المُحَفِّزِ أَوَّلًا، ثُمَّ اخْتَرِ العَلَامَةَ.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a gap-fill, look for the trigger first, then choose the ending.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form of the verb</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إِلَى صِيغَةِ الفِعْلِ.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subjunctive verb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ḍamma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sukūn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fatḥa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الفِعْلُ المَنْصُوبُ يَنْتَهِي بِفَتْحَةٍ.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event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«يَنْبَغِي أَنْ» لِلضَّرُورَةِ.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subjunctive tell you about the action?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required but has not happened yet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complete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المَنْصُوبُ يَدُلُّ عَلَى أَنَّ الفِعْلَ مَطْلُوبٌ وَلٰكِنْ لَمْ يَحْدُثْ بَعْدُ.</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what do you do first?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the ending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 for the trigger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 the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ابْحَثْ عَنِ المُحَفِّزِ أَوَّلًا، ثُمَّ اخْتَرِ العَلَامَةَ.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fatḥa · li-kay · yataṭallabu an · yanbaghī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water-policy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يَرَى الكَاتِبُ أَنَّ أَزْمَةَ المِيَاهِ فِي العَالَمِ العَرَبِيِّ أَخْطَرُ مِمَّا يَظُنُّ كَثِيرُونَ. فَالمِنْطَقَةُ تَسْتَنْفِدُ مِيَاهَهَا الجَوْفِيَّةَ بِسُرْعَةٍ. يَتَطَلَّبُ الوَضْعُ أَنْ تَتَعَاوَنَ الدُّوَلُ فِي إِدَارَةِ المَوَارِدِ المُشْتَرَكَةِ، وَمِنَ الضَّرُورِيِّ أَنْ تَسْتَثْمِرَ الحُكُومَاتُ فِي التَّحْلِيَةِ. وَتَعْتَمِدُ بَعْضُ الدُّوَلِ الرِّيَّ الحَدِيثَ لِكَيْ تُقَلِّلَ الهَدْرَ. غَيْرَ أَنَّ هٰذِهِ الجُهُودَ مَا زَالَتْ مَحْدُودَةً. لَوْ أُدِيرَتِ المَوَارِدُ بِحِكْمَةٍ مُنْذُ عُقُودٍ، لَمَا وَصَلَتِ المِنْطَقَةُ إِلَى هٰذِهِ النَّدْرَةِ. وَالغَرَضُ مِنَ النَّصِّ إِقْنَاعُ القَارِئِ بِأَنَّ الإِصْلَاحَ ضَرُورِيٌّ وَعَاجِلٌ.</a:t>
            </a:r>
            <a:endParaRPr lang="ar-SA" sz="245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أَخْطَرُ مِمَّا يَظُنُّ كَثِيرُونَ</a:t>
            </a:r>
            <a:endParaRPr lang="ar-SA" sz="155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serious than many think</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تَسْتَنْفِدُ</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depletes</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بِسُرْعَةٍ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quickly</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المَوَارِدِ المُشْتَرَكَةِ</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 resources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التَّحْلِيَةِ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desalination</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الهَدْرَ</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waste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الجُهُودَ</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efforts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 زَالَتْ مَحْدُودَةً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still limited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الإِصْلَاحَ</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reform</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عَاجِلٌ</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urgent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crisis is exaggerated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water crisis is more serious than many think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crisis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does </a:t>
            </a:r>
            <a:pPr algn="l" indent="0" marL="0">
              <a:buNone/>
            </a:pPr>
            <a:r>
              <a:rPr lang="ar-SA" altLang="en-US" sz="1650" b="1" dirty="0">
                <a:solidFill>
                  <a:srgbClr val="1B3B6F"/>
                </a:solidFill>
                <a:latin typeface="Amiri" pitchFamily="2" charset="-78"/>
                <a:cs typeface="Amiri" pitchFamily="2" charset="-78"/>
              </a:rPr>
              <a:t>يَسْتَنْفِدُ</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Stores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Depletes / exhausts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a volition subjunctive and its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يَتَطَلَّبُ الوَضْعُ أَنْ تَتَعَاوَنَ</a:t>
            </a:r>
            <a:pPr algn="l" indent="0" marL="0">
              <a:buNone/>
            </a:pPr>
            <a:r>
              <a:rPr lang="en-US" sz="1250" dirty="0">
                <a:solidFill>
                  <a:srgbClr val="1F2A37"/>
                </a:solidFill>
                <a:latin typeface="Calibri" pitchFamily="34" charset="0"/>
                <a:cs typeface="Amiri" pitchFamily="2" charset="-78"/>
              </a:rPr>
              <a:t> — trigger </a:t>
            </a:r>
            <a:pPr algn="l" indent="0" marL="0">
              <a:buNone/>
            </a:pPr>
            <a:r>
              <a:rPr lang="ar-SA" altLang="en-US" sz="1650" dirty="0">
                <a:solidFill>
                  <a:srgbClr val="1F2A37"/>
                </a:solidFill>
                <a:latin typeface="Amiri" pitchFamily="2" charset="-78"/>
                <a:cs typeface="Amiri" pitchFamily="2" charset="-78"/>
              </a:rPr>
              <a:t>يَتَطَلَّبُ</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لِكَيْ تُقَلِّلَ</a:t>
            </a:r>
            <a:pPr algn="l" indent="0" marL="0">
              <a:buNone/>
            </a:pPr>
            <a:r>
              <a:rPr lang="en-US" sz="1250" dirty="0">
                <a:solidFill>
                  <a:srgbClr val="1F2A37"/>
                </a:solidFill>
                <a:latin typeface="Calibri" pitchFamily="34" charset="0"/>
                <a:cs typeface="Amiri" pitchFamily="2" charset="-78"/>
              </a:rPr>
              <a:t> — trigger </a:t>
            </a:r>
            <a:pPr algn="l" indent="0" marL="0">
              <a:buNone/>
            </a:pPr>
            <a:r>
              <a:rPr lang="ar-SA" altLang="en-US" sz="1650" dirty="0">
                <a:solidFill>
                  <a:srgbClr val="1F2A37"/>
                </a:solidFill>
                <a:latin typeface="Amiri" pitchFamily="2" charset="-78"/>
                <a:cs typeface="Amiri" pitchFamily="2" charset="-78"/>
              </a:rPr>
              <a:t>لِكَيْ</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لَوْ أُدِيرَتْ</a:t>
            </a:r>
            <a:pPr algn="l" indent="0" marL="0">
              <a:buNone/>
            </a:pPr>
            <a:r>
              <a:rPr lang="en-US" sz="1250" dirty="0">
                <a:solidFill>
                  <a:srgbClr val="1F2A37"/>
                </a:solidFill>
                <a:latin typeface="Calibri" pitchFamily="34" charset="0"/>
                <a:cs typeface="Amiri" pitchFamily="2" charset="-78"/>
              </a:rPr>
              <a:t> — a conditional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R3 — What does the necessity subjunctive «</a:t>
            </a:r>
            <a:pPr algn="l" indent="0" marL="0">
              <a:buNone/>
            </a:pPr>
            <a:r>
              <a:rPr lang="ar-SA" altLang="en-US" sz="1500" b="1" dirty="0">
                <a:solidFill>
                  <a:srgbClr val="1B3B6F"/>
                </a:solidFill>
                <a:latin typeface="Amiri" pitchFamily="2" charset="-78"/>
                <a:cs typeface="Amiri" pitchFamily="2" charset="-78"/>
              </a:rPr>
              <a:t>مِنَ الضَّرُورِيِّ أَنْ تَسْتَثْمِرَ</a:t>
            </a:r>
            <a:pPr algn="l" indent="0" marL="0">
              <a:buNone/>
            </a:pPr>
            <a:r>
              <a:rPr lang="en-US" sz="1150" b="1" dirty="0">
                <a:solidFill>
                  <a:srgbClr val="1B3B6F"/>
                </a:solidFill>
                <a:latin typeface="Calibri" pitchFamily="34" charset="0"/>
                <a:cs typeface="Amiri" pitchFamily="2" charset="-78"/>
              </a:rPr>
              <a:t>» reveal?</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complete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required but not yet done — the writer urges reform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that reform is necessary and urgent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crisis is exaggerated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water crisis is more serious than many think</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crisis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أَزْمَةَ المِيَاهِ … أَخْطَرُ مِمَّا يَظُنُّ كَثِيرُونَ.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does </a:t>
            </a:r>
            <a:pPr algn="l" indent="0" marL="0">
              <a:buNone/>
            </a:pPr>
            <a:r>
              <a:rPr lang="ar-SA" altLang="en-US" sz="1650" b="1" dirty="0">
                <a:solidFill>
                  <a:srgbClr val="1B3B6F"/>
                </a:solidFill>
                <a:latin typeface="Amiri" pitchFamily="2" charset="-78"/>
                <a:cs typeface="Amiri" pitchFamily="2" charset="-78"/>
              </a:rPr>
              <a:t>يَسْتَنْفِدُ</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Stores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Cleans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Depletes / exhausts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تَسْتَنْفِدُ مِيَاهَهَا الجَوْفِيَّةَ بِسُرْعَةٍ</a:t>
            </a:r>
            <a:pPr algn="l" indent="0" marL="0">
              <a:buNone/>
            </a:pPr>
            <a:r>
              <a:rPr lang="en-US" sz="1050" i="1" dirty="0">
                <a:solidFill>
                  <a:srgbClr val="8A6D1E"/>
                </a:solidFill>
                <a:latin typeface="Calibri" pitchFamily="34" charset="0"/>
                <a:cs typeface="Amiri" pitchFamily="2" charset="-78"/>
              </a:rPr>
              <a:t> — it depletes them.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a volition subjunctive and its trigger.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cs typeface="Amiri" pitchFamily="2" charset="-78"/>
              </a:rPr>
              <a:t>يَتَطَلَّبُ الوَضْعُ أَنْ تَتَعَاوَنَ</a:t>
            </a:r>
            <a:pPr algn="l" indent="0" marL="0">
              <a:buNone/>
            </a:pPr>
            <a:r>
              <a:rPr lang="en-US" sz="1150" b="1" dirty="0">
                <a:solidFill>
                  <a:srgbClr val="1F2A37"/>
                </a:solidFill>
                <a:latin typeface="Calibri" pitchFamily="34" charset="0"/>
                <a:cs typeface="Amiri" pitchFamily="2" charset="-78"/>
              </a:rPr>
              <a:t> — trigger </a:t>
            </a:r>
            <a:pPr algn="l" indent="0" marL="0">
              <a:buNone/>
            </a:pPr>
            <a:r>
              <a:rPr lang="ar-SA" altLang="en-US" sz="1500" b="1" dirty="0">
                <a:solidFill>
                  <a:srgbClr val="1F2A37"/>
                </a:solidFill>
                <a:latin typeface="Amiri" pitchFamily="2" charset="-78"/>
                <a:cs typeface="Amiri" pitchFamily="2" charset="-78"/>
              </a:rPr>
              <a:t>يَتَطَلَّبُ</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لِكَيْ تُقَلِّلَ</a:t>
            </a:r>
            <a:pPr algn="l" indent="0" marL="0">
              <a:buNone/>
            </a:pPr>
            <a:r>
              <a:rPr lang="en-US" sz="1250" dirty="0">
                <a:solidFill>
                  <a:srgbClr val="9AA1AB"/>
                </a:solidFill>
                <a:latin typeface="Calibri" pitchFamily="34" charset="0"/>
                <a:cs typeface="Amiri" pitchFamily="2" charset="-78"/>
              </a:rPr>
              <a:t> — trigger </a:t>
            </a:r>
            <a:pPr algn="l" indent="0" marL="0">
              <a:buNone/>
            </a:pPr>
            <a:r>
              <a:rPr lang="ar-SA" altLang="en-US" sz="1650" dirty="0">
                <a:solidFill>
                  <a:srgbClr val="9AA1AB"/>
                </a:solidFill>
                <a:latin typeface="Amiri" pitchFamily="2" charset="-78"/>
                <a:cs typeface="Amiri" pitchFamily="2" charset="-78"/>
              </a:rPr>
              <a:t>لِكَيْ</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لَوْ أُدِيرَتْ</a:t>
            </a:r>
            <a:pPr algn="l" indent="0" marL="0">
              <a:buNone/>
            </a:pPr>
            <a:r>
              <a:rPr lang="en-US" sz="1250" dirty="0">
                <a:solidFill>
                  <a:srgbClr val="9AA1AB"/>
                </a:solidFill>
                <a:latin typeface="Calibri" pitchFamily="34" charset="0"/>
                <a:cs typeface="Amiri" pitchFamily="2" charset="-78"/>
              </a:rPr>
              <a:t> — a conditional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 </a:t>
            </a:r>
            <a:pPr algn="l" indent="0" marL="0">
              <a:buNone/>
            </a:pPr>
            <a:r>
              <a:rPr lang="ar-SA" altLang="en-US" sz="1350" dirty="0">
                <a:solidFill>
                  <a:srgbClr val="8A6D1E"/>
                </a:solidFill>
                <a:latin typeface="Amiri" pitchFamily="2" charset="-78"/>
                <a:cs typeface="Amiri" pitchFamily="2" charset="-78"/>
              </a:rPr>
              <a:t>تَتَعَاوَنَ</a:t>
            </a:r>
            <a:pPr algn="l" indent="0" marL="0">
              <a:buNone/>
            </a:pPr>
            <a:r>
              <a:rPr lang="en-US" sz="1050" i="1" dirty="0">
                <a:solidFill>
                  <a:srgbClr val="8A6D1E"/>
                </a:solidFill>
                <a:latin typeface="Calibri" pitchFamily="34" charset="0"/>
                <a:cs typeface="Amiri" pitchFamily="2" charset="-78"/>
              </a:rPr>
              <a:t> is subjunctive.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R3 — What does the necessity subjunctive «</a:t>
            </a:r>
            <a:pPr algn="l" indent="0" marL="0">
              <a:buNone/>
            </a:pPr>
            <a:r>
              <a:rPr lang="ar-SA" altLang="en-US" sz="1500" b="1" dirty="0">
                <a:solidFill>
                  <a:srgbClr val="1B3B6F"/>
                </a:solidFill>
                <a:latin typeface="Amiri" pitchFamily="2" charset="-78"/>
                <a:cs typeface="Amiri" pitchFamily="2" charset="-78"/>
              </a:rPr>
              <a:t>مِنَ الضَّرُورِيِّ أَنْ تَسْتَثْمِرَ</a:t>
            </a:r>
            <a:pPr algn="l" indent="0" marL="0">
              <a:buNone/>
            </a:pPr>
            <a:r>
              <a:rPr lang="en-US" sz="1150" b="1" dirty="0">
                <a:solidFill>
                  <a:srgbClr val="1B3B6F"/>
                </a:solidFill>
                <a:latin typeface="Calibri" pitchFamily="34" charset="0"/>
                <a:cs typeface="Amiri" pitchFamily="2" charset="-78"/>
              </a:rPr>
              <a:t>» reveal?</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complete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Investment is required but not yet done — the writer urges reform</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necessity subjunctive marks a required, undone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that reform is necessary and urgent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الغَرَضُ مِنَ النَّصِّ إِقْنَاعُ القَارِئِ بِأَنَّ الإِصْلَاحَ ضَرُورِيٌّ وَعَاجِلٌ.</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analyse the grammar aloud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فِعْلٍ فِي الجُمْلَةِ مَنْصُوبٌ؟ وَكَيْفَ عَرَفْتَ؟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مُحَفِّزُ النَّصْبِ؟ غَرَضٌ أَمْ إِرَادَةٌ أَمْ ضَرُورَةٌ؟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يَكْشِفُ ذٰلِكَ عَنْ حُجَّةِ الكَاتِبِ؟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cs typeface="Amiri" pitchFamily="2" charset="-78"/>
              </a:rPr>
              <a:t>« ___ » مَنْصُوبٌ؛ عَرَفْتُهُ مِنَ الفَتْحَةِ فِي آخِرِهِ.</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المُحَفِّزُ « ___ »، وَهُوَ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يَكْشِفُ أَنَّ الكَاتِبَ يَرَى ___ مَطْلُوبًا لَا مُنْجَزًا.</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 فِعْلٍ مَنْصُوبٌ؟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verb is subjunctive?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«تَتَعَاوَنَ» مَنْصُوبٌ؛ عَرَفْتُهُ مِنَ الفَتْحَةِ فِي آخِرِهِ.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“tataʿāwana” is subjunctive; I recognised it from the fatḥa at the end.</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six verbs as subjunctive or indicative by their ending.</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classify six verbs as subjunctive or indicative by their ending.</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each subjunctive, name the trigger type.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for each subjunctive, name the trigger type.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R3 answer inferring the writer's stance from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short text — one subjunctive and its trigger, what it reveals, and one indicative by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مُحَفِّزُهُ « ______ »، وَهُوَ مُحَفِّزُ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trigger is “…”, a … trigger.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وَهٰذَا يَدُلُّ عَلَى أَنَّ الكَاتِبَ يَرَى ______ مَطْلُوبًا لَا مُنْجَزًا.</a:t>
            </a:r>
            <a:endParaRPr lang="ar-SA" sz="13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shows that the writer sees … as required, not achieved.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 « ______ » فَفِعْلُهُ مَرْفُوعٌ، لِأَنَّهُ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contrast, the verb “…” is indicative,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الغَرَضُ مِنَ النَّصِّ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purpose of the text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______ » مَنْصُوبٌ؛ عَرَفْتُهُ مِنَ الفَتْحَةِ.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subjunctive; I recognised it from the fatḥa.</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______ » مَرْفُوعٌ، لِأَنَّهُ بِلَا مُحَفِّزٍ.</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indicative, because there is no trigger.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الكَاتِبُ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writer’s main view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كَلِمَةُ « ______ » تَعْنِي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word “…” means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تَتَعَاوَنَ  ·  تَسْتَثْمِرَ  ·  تُقَلِّلَ  ·  تَسْتَنْفِدُ  ·  يَتَطَلَّبُ أَنْ  ·  مِنَ الضَّرُورِيِّ أَنْ  ·  لِكَيْ  ·  غَرَضٍ  ·  إِرَادَةٍ  ·  ضَرُورَةٍ  ·  يَصِفُ فِعْلًا وَاقِعًا  ·  إِقْنَاعُ القَارِئِ</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eighty to ninety words analysing a short built/natural world text of your choice. Identify one subjunctive verb and its trigger (purpose, volition or necessity), explain what it reveals about the writer's argument, and note one indicative verb by contrast.</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subjunctive verb identified by its fatḥa, with its trigger named.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trigger classified as purpose, volition or necessity.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What the subjunctive reveals (required / intended / aimed, not yet done).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indicative verb noted by contrast.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خِلَالِ صِيَغِ الأَفْعَالِ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its verb forms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عَرَفْتُهُ مِنَ الفَتْحَةِ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recognised it from the fatḥa</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مَطْلُوبًا لَا مُنْجَزًا بَعْدُ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required, not yet achieved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يَصِفُ فِعْلًا وَاقِعًا بِلَا مُحَفِّزٍ</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describes a real action, with no trigger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أَقْرَأُ النَّصَّ بِوَعْيٍ بِالصِّيَغِ النَّحْوِيَّةِ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the text aware of its grammatical forms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يَكْشِفُ النَّصُّ عَنْ حُجَّةِ كَاتِبِهِ مِنْ خِلَالِ صِيَغِ الأَفْعَالِ. فَجُمْلَةُ «يَتَطَلَّبُ الوَضْعُ أَنْ تَتَعَاوَنَ الدُّوَلُ» تَحْمِلُ فِعْلًا مَنْصُوبًا عَرَفْتُهُ مِنَ الفَتْحَةِ، وَمُحَفِّزُهُ «يَتَطَلَّبُ أَنْ»، وَهُوَ مُحَفِّزُ إِرَادَةٍ. وَهٰذَا يَدُلُّ عَلَى أَنَّ الكَاتِبَ يَرَى التَّعَاوُنَ مَطْلُوبًا لَا مُنْجَزًا بَعْدُ. أَمَّا جُمْلَةُ «تَسْتَنْفِدُ المِنْطَقَةُ مِيَاهَهَا» فَفِعْلُهَا مَرْفُوعٌ يَنْتَهِي بِضَمَّةٍ، لِأَنَّهُ يَصِفُ فِعْلًا وَاقِعًا بِلَا مُحَفِّزٍ. لِذٰلِكَ أَقْرَأُ النَّصَّ بِوَعْيٍ بِالصِّيَغِ النَّحْوِيَّةِ، فَهِيَ تَكْشِفُ مَوْقِفَ الكَاتِبِ.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writer’s argument through its verb forms. The sentence “the situation requires states to cooperate” contains a subjunctive verb, which I recognised from the fatḥa; its trigger is “yataṭallabu an”, a volition trigger. This shows that the writer sees cooperation as required, not yet achieved. The sentence “the region is depleting its water”, by contrast, has an indicative verb ending in a ḍamma, because it describes a real action with no trigger. So I read the text aware of its grammatical forms, because they reveal the writer’s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subjunctive (tataʿāwana)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trigger (yataṭallabu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force (maṭlūban lā munjazan)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indicative contrast (tastanfidu)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the last vowel of each verb: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exact words that prove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each trigger: purpose, volition or necessity.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 a gap, I looked left for a trigger before choosing.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force: required, not yet done (yadull ʿalā … li-anna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تُطَوِّرَ الدُّوَلُ.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 الدُّوَلُ سِيَاسَاتِهَا.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طَوَّرَتِ الدُّوَلُ سِيَاسَاتِهَا.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cs typeface="Amiri" pitchFamily="2" charset="-78"/>
              </a:rPr>
              <a:t>لِكَيْ تُقَلِّلَ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 (</a:t>
            </a:r>
            <a:pPr algn="l" indent="0" marL="0">
              <a:buNone/>
            </a:pPr>
            <a:r>
              <a:rPr lang="ar-SA" altLang="en-US" sz="1650" dirty="0">
                <a:solidFill>
                  <a:srgbClr val="1F2A37"/>
                </a:solidFill>
                <a:latin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الدُّوَلُ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يَنْبَغِي أَنْ تُطَوِّرَ الدُّوَلُ.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تُطَوِّرُ الدُّوَلُ سِيَاسَاتِهَا.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طَوَّرَتِ الدُّوَلُ سِيَاسَاتِهَا.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a fatḥa: </a:t>
            </a:r>
            <a:pPr algn="l" indent="0" marL="0">
              <a:buNone/>
            </a:pPr>
            <a:r>
              <a:rPr lang="ar-SA" altLang="en-US" sz="1350" dirty="0">
                <a:solidFill>
                  <a:srgbClr val="8A6D1E"/>
                </a:solidFill>
                <a:latin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cs typeface="Amiri" pitchFamily="2" charset="-78"/>
              </a:rPr>
              <a:t>لِكَيْ تُقَلِّلَ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 (</a:t>
            </a:r>
            <a:pPr algn="l" indent="0" marL="0">
              <a:buNone/>
            </a:pPr>
            <a:r>
              <a:rPr lang="ar-SA" altLang="en-US" sz="1650" b="1" dirty="0">
                <a:solidFill>
                  <a:srgbClr val="1F2A37"/>
                </a:solidFill>
                <a:latin typeface="Amiri" pitchFamily="2" charset="-78"/>
                <a:cs typeface="Amiri" pitchFamily="2" charset="-78"/>
              </a:rPr>
              <a:t>لِكَيْ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the purpose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الدُّوَلُ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تُطَوِّرَ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تُطَوِّرُ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طَوَّرَتْ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requires the subjunctive fatḥa.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Trigger, Marker and Force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which is subjunctive?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 الدُّوَلُ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يَنْبَغِي أَنْ تُطَوِّرَ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subjunctive verb ends in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fatḥa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ḍamma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Force: a necessity subjunctive signals …</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already complete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required but not yet done</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which is subjunctive?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تُطَوِّرُ الدُّوَلُ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يَنْبَغِي أَنْ تُطَوِّرَ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marks the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subjunctive verb ends in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fatḥa</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ḍamma</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marker is a final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a:t>
            </a:r>
            <a:endParaRPr lang="en-US" sz="125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marks purpose.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a:t>
            </a:r>
            <a:endParaRPr lang="en-US" sz="125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marks volition.</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2" name="Text 80"/>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marks necessity.</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Force: a necessity subjunctive signals …</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already complete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required but not yet done</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marks a required, undone action.</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P4-L09 · Writing — The Built and Natural World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الحُجَّةُ البِيئِيَّةُ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environmental argument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التَّشْخِيصُ</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diagnosis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الحَلُّ المُقْتَرَحُ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proposed solution</a:t>
            </a:r>
            <a:pPr indent="0" marL="0">
              <a:buNone/>
            </a:pPr>
            <a:r>
              <a:rPr lang="en-US" sz="1000" i="1" dirty="0">
                <a:solidFill>
                  <a:srgbClr val="5A6472"/>
                </a:solidFill>
                <a:latin typeface="Calibri" pitchFamily="34" charset="0"/>
                <a:cs typeface="Amiri" pitchFamily="2" charset="-78"/>
              </a:rPr>
              <a:t>  pl. الحُلُولُ المُقْتَرَحَةُ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وَمِنْ ثَمَّ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and thus</a:t>
            </a:r>
            <a:pPr indent="0" marL="0">
              <a:buNone/>
            </a:pPr>
            <a:r>
              <a:rPr lang="en-US" sz="1000" i="1" dirty="0">
                <a:solidFill>
                  <a:srgbClr val="5A6472"/>
                </a:solidFill>
                <a:latin typeface="Calibri" pitchFamily="34" charset="0"/>
                <a:cs typeface="Amiri" pitchFamily="2" charset="-78"/>
              </a:rPr>
              <a:t>  connector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الاسْتِدَامَةُ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sustainability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biggest environmental problem where you live — and your solution?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المُشْكِلَةُ هِيَ ______ ، وَالحَلُّ المُقْتَرَحُ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six verbs in an Arabic text and classify them: -a (subjunctive) or -u (indicative).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 each subjunctive, name the trigger type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grammar analysis of a short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P4-L09 · Writing — The Built and Natural World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check the last vowel, then look left — a trigger (li-kay, an) → -a = wanted or required but NOT yet done; no trigger → -u = a real action. Name it: mood, trigger, force.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P4-L08 · Reading — Built and Natural World Texts</dc:title>
  <dc:subject>PptxGenJS Presentation</dc:subject>
  <dc:creator>Al Madina Online School · Arabic Department</dc:creator>
  <cp:lastModifiedBy>Al Madina Online School · Arabic Department</cp:lastModifiedBy>
  <cp:revision>1</cp:revision>
  <dcterms:created xsi:type="dcterms:W3CDTF">2026-10-11T06:43:21Z</dcterms:created>
  <dcterms:modified xsi:type="dcterms:W3CDTF">2026-10-11T06:43:21Z</dcterms:modified>
</cp:coreProperties>
</file>