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P4 The Built and Natural World › P4-L02. The website lesson “Urban Environments — Cities, Architecture and Urban Planning”: vocabulary, grammar rules and quiz, patterns, common mistakes, sorter, listening, reading, speaking prompts and model, writing task and model, differentiation, final check and the lesson mission. Picture match: website visual game “Urban Environments — Cities, Architecture and Urban Planning”.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five urban sentences with mabniyyun min and the planning verbs (website Core). Develop: add an urban passive and a Type 1 challenge. Stretch: close with a Type 2 counterfactual and a li-kay goal (website 100–110 words).
• Invite students to describe their own town or a city they love (Makkah, Madinah, Istanbul, Manchester…). Keep it positive: what is built, what is renewed, what would make it better.
• The passive is the new structure: the doer disappears and the thing built becomes the subject — so it is NOMINATIVE (يُبْنَى مَشْرُوعٌ, not مَشْرُوعًا).
• Grammar links: yatamayyaz bi- (P3-L04) · the passive in reports (P3-L05) · li-kay + -a (P4-L01) · both conditionals (P3-L05).
• TEACHER-WRITTEN ITEMS: waṣl alif shown without a kasra; لِكَيْ always written with its sukūn; agreement fix in the reading (وَتُبْنَى … مُدُنٌ); rule headings and formulas in English and transliteration; game card 4 not used (its waṣl alif carries a kasra); the verb, passive and analysis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P4-L01. Questions 4–5 retrieve yaḍummu + object and li-kay + -a (P4-L01) — today li-kay sets the goal of a city plan.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In the passive the doer disappears — and the thing built becomes the subject (-un).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تعمیر، تجدید and ازدحام are shared. Two traps: Urdu تحویل = custody (تحویل میں), Arabic تَحْوِيلٌ = converting (يُحَوِّلُ إِلَى); Urdu منصوبہ = a plan, but Arabic مَنْصُوبٌ = the subjunctive (the -a verb) — a plan in Arabic is خُطَّةٌ or مَشْرُوعٌ.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Urban planning (website vocabulary (1 of 2)). Hear → Say → See → Use. Transliteration is printed for Core students (cover it for Develop/Stretch).
Urban planning: the nouns of a city report. عُمْرَانِيٌّ (from عُمْرَانٌ, built environment) and حَضَرِيٌّ (urban, from حَضَرٌ) are both used for “urban”.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Urban planning (website vocabulary (2 of 2)). Hear → Say → See → Use. Transliteration is printed for Core students (cover it for Develop/Stretch).
Urban planning: the nouns of a city report. عُمْرَانِيٌّ (from عُمْرَانٌ, built environment) and حَضَرِيٌّ (urban, from حَضَرٌ) are both used for “urban”.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Planning verbs and materials (website vocabulary (1 of 2)). Hear → Say → See → Use. Transliteration is printed for Core students (cover it for Develop/Stretch).
Planning verbs and materials: learn each with its partner — مَبْنِيٌّ مِنْ · يَتَمَيَّزُ بِـ · يُعِيدُ تَصْمِيمَ / يُجَدِّدُ + object · يُحَوِّلُ … إِلَى · يُخَطِّطُ لِـ · يُؤَدِّي إِلَى.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Planning verbs and materials (website vocabulary (2 of 2)). Hear → Say → See → Use. Transliteration is printed for Core students (cover it for Develop/Stretch).
FLEX: teach if time allows; otherwise these are on the website vocabulary tab for homework.
Planning verbs and materials: learn each with its partner — مَبْنِيٌّ مِنْ · يَتَمَيَّزُ بِـ · يُعِيدُ تَصْمِيمَ / يُجَدِّدُ + object · يُحَوِّلُ … إِلَى · يُخَطِّطُ لِـ · يُؤَدِّي إِلَى.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urban passive and goals (website vocabulary (1 of 2)). Hear → Say → See → Use. Transliteration is printed for Core students (cover it for Develop/Stretch).
FLEX: teach if time allows; otherwise these are on the website vocabulary tab for homework.
The urban passive and goals: يُبْنَى · يُخَطَّطُ · يُعَادُ تَصْمِيمُهُ · يُحَوَّلُ إِلَى — the subject after them is nominative (-un). Population density is more often called الكَثَافَةُ السُّكَّانِيَّةُ.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urban passive and goals (website vocabulary (2 of 2)). Hear → Say → See → Use. Transliteration is printed for Core students (cover it for Develop/Stretch).
FLEX: teach if time allows; otherwise these are on the website vocabulary tab for homework.
The urban passive and goals: يُبْنَى · يُخَطَّطُ · يُعَادُ تَصْمِيمُهُ · يُحَوَّلُ إِلَى — the subject after them is nominative (-un). Population density is more often called الكَثَافَةُ السُّكَّانِيَّةُ.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“Materials and features” and “Planning verbs”, the vocabulary notes and mistakes 1–2. Examples from the website quiz, listening and reading.
مَبْنِيٌّ is an adjective (passive participle) — it agrees: البُرْجُ مَبْنِيٌّ · نَاطِحَاتُ السَّحَابِ مَبْنِيَّةٌ (non-human plural = feminine singular).
يُعِيدُ تَصْمِيمَ is literally “repeats the design of” — the place is in the genitive after تَصْمِيمَ: تَصْمِيمَ المِنْطَقَةِ.
Accuracy note for teachers: Dubai’s historic Al Fahidi district was built mainly from coral stone, gypsum and palm wood; the website simplifies this to “clay and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“Urban passive”, teaching point 1 and quiz 3. Examples from the website listening, reading, speaking and writing model.
The passive vowel pattern: present يُفْعَلُ (yu-…-a-) · past فُعِلَ (u-…-i-). Hollow verb: يُعِيدُ → يُعَادُ (long ā).
Row 6 — website correction: the reading has وَيُبْنَى … مُدُنٌ ذَكِيَّةٌ; a non-human plural takes a feminine verb, so وَتُبْنَى.
Row 3: يُخَطَّطُ لِـ has no subject at all (“it is planned to …”) — an impersonal passive.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“Goal clause”, teaching point 2 and the listening (cards 1–2).
تَكُونَ is a hollow verb: تَكُونُ → تَكُونَ (the long ū stays). After li-kay تَكُونَ is followed by its predicate in the accusative: صَالِحَةً · أَكْثَرَ اسْتِدَامَةً.
Card 1: دُونَ = without (+ noun); دُونَ أَنْ + a verb in -a (website reading: دُونَ أَنْ تَمْحُوَ).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register tools from the website reading and writing model.
Row 1: فِي حِينِ أَنَّ + an accusative noun — نَاطِحَاتِ ends in -i because a sound feminine plural takes -i in the accusative.
Row 3: يَمْحُو (to erase) → أَنْ تَمْحُوَ — weak verbs in -ū add -a: تَمْحُوَ · تَدْعُوَ.
Stretch: write one sentence comparing the old and new parts of a city you know with فِي حِينِ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“مَبْنِيٌّ مِنْ and the planning verbs, the urban passive with a nominative subject, and the لِكَيْ goal clause with its subjunctive.”
• Materials and features: Say what a building is made of and its features.
• Planning verbs: Redesign, renovate and convert.
• Urban passive: No named doer; the subject is nominative.
• Goal clause: State the planning goal with a subjunctive.
Website common error: Keeping the passive subject accusative, or leaving the verb after لِكَيْ in the indicative. The passive subject is nominative, and لِكَيْ takes a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“Materials: buniya … MIN, mabniyyatun MIN. Change: tuʿīdu taṣmīma + object; the passive yuḥawwalu — the subject kathīrun is -UN. A risk: idhā … SA-. A regret: law … LA-. The goal: li-kay tabqā — a verb in -ā shows no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Urban Environments — Cities, Architecture and Urban Planning”)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4 not used). Then turn each into a goal with li-kay: نُنْشِئُ حَدَائِقَ لِكَيْ تَكُونَ المَدِينَةُ أَجْمَلَ · نُطَوِّرُ النَّقْلَ العَامَّ لِكَيْ يَقِلَّ الازْدِحَامُ · نَبْنِي مَمَرَّاتٍ لِكَيْ يَمْشِيَ النَّاسُ أَكْثَرَ.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Urban Environments — Cities, Architecture and Urban Planning”)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4 not used). Then turn each into a goal with li-kay: نُنْشِئُ حَدَائِقَ لِكَيْ تَكُونَ المَدِينَةُ أَجْمَلَ · نُطَوِّرُ النَّقْلَ العَامَّ لِكَيْ يَقِلَّ الازْدِحَامُ · نَبْنِي مَمَرَّاتٍ لِكَيْ يَمْشِيَ النَّاسُ أَكْثَرَ.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an urban analysis from a material, a planning action and a goal.” Website feedback: any three different combinations work.
Core: read row 1 across. Develop: find the two passives in column 2 (يُحَوَّلُ · يُبْنَى) and their nominative subjects (كَثِيرٌ · مَشْرُوعٌ). Stretch: column 3 row 3 uses a passive in the condition (إِذَا خُطِّطَ) — write your own: إِذَا بُنِيَتْ … سَـ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join one card from each column: … مَبْنِيٌّ مِنْ … ، وَيُعِيدُ المَشْرُوعُ تَصْمِيمَهُ لِكَيْ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join one card from each column: … مَبْنِيٌّ مِنْ … ، وَيُعِيدُ المَشْرُوعُ تَصْمِيمَهُ لِكَيْ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one passive verb you hear.
Listen 1: just listen. Listen 2: note answers. Then chat the letters.
Support: after the second listening, show the read-along slide (Arabic + English, line by line) for Core students.
SCRIPT (read aloud):
تَتَمَيَّزُ مَدِينَةُ دُبَيَّ بِمَزِيجٍ فَرِيدٍ مِنَ العِمَارَةِ التُّرَاثِيَّةِ وَالمِعْمَارِ الحَدِيثِ. بُنِيَ الجُزْءُ القَدِيمُ مِنَ الطِّينِ وَالخَشَبِ، فِي حِينِ أَنَّ نَاطِحَاتِ السَّحَابِ مَبْنِيَّةٌ مِنَ الزُّجَاجِ وَالصُّلْبِ. تُعِيدُ هَيْئَاتُ التَّطْوِيرِ تَصْمِيمَ أَحْيَاءٍ كَامِلَةٍ، وَتُحَوِّلُ مَنَاطِقَ صِنَاعِيَّةً قَدِيمَةً إِلَى مَسَاحَاتٍ خَضْرَاءَ. غَيْرَ أَنَّ التَّوَسُّعَ السَّرِيعَ يُؤَدِّي إِلَى ازْدِحَامٍ مُرُورِيٍّ. إِذَا وَاصَلَتِ المُدُنُ التَّوَسُّعَ دُونَ تَخْطِيطٍ، سَتُعَانِي مِنْ تَلَوُّثٍ ضَوْضَائِيٍّ. وَلَوْ كَانَ التَّخْطِيطُ أَكْثَرَ اسْتِدَامَةً مُنْذُ البِدَايَةِ، لَكَانَتِ المُدُنُ أَقَلَّ اكْتِظَاظًا. لِذٰلِكَ يُخَطِّطُ المُهَنْدِسُونَ لِكَيْ تَكُونَ المُدُنُ صَالِحَةً لِلْعَيْشِ.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الهَدَفُ العُمْرَانِيُّ؟ (Goal)
B: يُعَادُ تَصْمِيمُ الأَحْيَاءِ لِكَيْ تَكُونَ صَالِحَةً لِلْعَيْشِ، وَلَوِ اهْتَمُّوا بِالخُضْرَةِ مُبَكِّرًا لَكَانَتْ أَجْمَلَ. (Passive + لِكَيْ + Type 2)
Website prompts and model. Pair task: “city planner” — each student presents one change to their own town (passive + li-kay), the partner asks: لِمَاذَا؟ To a girl: صِفِي · مُسْتَعْمِلَةً · اسْتَعْمِلِي. Core stem: … بِمَزِيجٍ مِنَ القَدِيمِ وَالحَدِيثِ.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five urban sentences with مَبْنِيٌّ مِنْ and the planning verbs. · Develop — Add an urban passive and a Type 1 challenge. · Stretch — Close with a Type 2 counterfactual and a لِكَي goal clause.
Website writing task (Stretch): Write one hundred to one hundred and ten words analysing a city or urban project. Use مَبْنِيٌّ مِنْ, a planning verb, the urban passive, both conditional types and a لِكَيْ goal clause.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تَتَمَيَّزُ … بِمَزِيجٍ · بُنِيَ … مِنَ · مَبْنِيَّةٌ مِنَ · تُعِيدُ … تَصْمِيمَ · وَيُحَوَّلُ كَثِيرٌ … إِلَى · إِذَا وَاصَلَتِ … سَتُعَانِي · لَوْ كَانَ … لَكَانَتِ · يُشِيرُ … إِلَى أَنَّ · لِكَيْ تَبْقَى.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(P4-L03 · Climate Change and the Arab World — Causes, Impacts and Responses) will spend class time USING this language, so students prepare it tonight — short, simple, easy to access (school guidance: “Simple, Short, Interesting, Relevant, Easy to access”). The five words come from the website P4-L03 vocabulary (climate change).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P4  ·  P4-L02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P4-L02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Urban Environments — Cities, Architecture and Urban Planning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150" b="1" dirty="0">
                <a:solidFill>
                  <a:srgbClr val="D4AF37"/>
                </a:solidFill>
                <a:latin typeface="Amiri" pitchFamily="2" charset="-78"/>
                <a:ea typeface="Amiri" pitchFamily="2" charset="-78"/>
                <a:cs typeface="Amiri" pitchFamily="2" charset="-78"/>
              </a:rPr>
              <a:t>البِيئَاتُ الحَضَرِيَّةُ — المُدُنُ وَالعِمَارَةُ وَالتَّخْطِيطُ العُمْرَانِيُّ</a:t>
            </a:r>
            <a:endParaRPr lang="ar-SA" sz="31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Analyse a city: mabniyyun min for materials, the planning verbs (yuʿīdu taṣmīm · yujaddidu · yuḥawwilu ilā), the urban passive with a nominative subject (yubnā mashrūʿun), and a goal with li-kay takūna.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P4-L02 · Progression P4 · The Built and Natural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P4 › P4-L02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Materials and planning verbs, the urban passive, goals with li-kay, the language of urban analysis.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city scenes, build an urban analysis, sort material / planning / passive and goal.</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P4-L03.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تَخْطِيطٌ عُمْرَانِيٌّ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building site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urban planning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architect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حَيٌّ سَكَنِيٌّ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residential district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living creature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quiet street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الازْدِحَامُ المُرُورِيُّ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road safety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traffic light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traffic congestion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تَضُمُّ الغَابَةُ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الأَنْوَاعِ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بِآلَافِ</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لِآلَافِ</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آلَافَ</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نَحْتَاجُ إِلَى قَوَانِينَ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الغَابَاتِ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سَنَحْمِي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تَخْطِيطٌ عُمْرَانِيٌّ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building site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urban planning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architect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حَيٌّ سَكَنِيٌّ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residential district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living creature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quiet street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الازْدِحَامُ المُرُورِيُّ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road safety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traffic light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traffic congestion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(P4-L01).</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تَضُمُّ الغَابَةُ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الأَنْوَاعِ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بِآلَافِ</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لِآلَافِ</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آلَافَ</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P4-L01: yaḍummu + direct object.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نَحْتَاجُ إِلَى قَوَانِينَ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الغَابَاتِ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نَحْمِيَ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نَحْمِي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سَنَحْمِي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P4-L01: after li-kay, -a.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In the passive the doer disappears — and the thing built becomes the subject (-un).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يَبْنِي المُهَنْدِسُونَ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مَشْرُوعًا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يُبْنَى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مَشْرُوعٌ</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urban-planning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what buildings are made of with mabniyyun min.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change with the planning verbs and the urban passive.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State a planning goal with li-kay + a verb in -a.</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urban-planning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a building is made of (mabniyyun min).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the planning verbs with their partners.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the urban passive with a nominative subject.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set a goal with li-kay + -a.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an urban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Urban planning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Planning verbs and materials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urban passive and goals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تَعْمِيرٌ · عُمْرَانِيٌّ</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‎تعمیر‎ </a:t>
            </a:r>
            <a:pPr indent="0" marL="0">
              <a:buNone/>
            </a:pPr>
            <a:r>
              <a:rPr lang="en-US" sz="950" b="1" dirty="0">
                <a:solidFill>
                  <a:srgbClr val="2E8B57"/>
                </a:solidFill>
                <a:latin typeface="Calibri" pitchFamily="34" charset="0"/>
                <a:cs typeface="Amiri" pitchFamily="2" charset="-78"/>
              </a:rPr>
              <a:t> taʿmīr · construction · urban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تَجْدِيدٌ</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‎تجدید‎ </a:t>
            </a:r>
            <a:pPr indent="0" marL="0">
              <a:buNone/>
            </a:pPr>
            <a:r>
              <a:rPr lang="en-US" sz="950" b="1" dirty="0">
                <a:solidFill>
                  <a:srgbClr val="2E8B57"/>
                </a:solidFill>
                <a:latin typeface="Calibri" pitchFamily="34" charset="0"/>
                <a:cs typeface="Amiri" pitchFamily="2" charset="-78"/>
              </a:rPr>
              <a:t> tajdīd · renewal, renovation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ازْدِحَامٌ</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‎ازدحام‎ </a:t>
            </a:r>
            <a:pPr indent="0" marL="0">
              <a:buNone/>
            </a:pPr>
            <a:r>
              <a:rPr lang="en-US" sz="950" b="1" dirty="0">
                <a:solidFill>
                  <a:srgbClr val="2E8B57"/>
                </a:solidFill>
                <a:latin typeface="Calibri" pitchFamily="34" charset="0"/>
                <a:cs typeface="Amiri" pitchFamily="2" charset="-78"/>
              </a:rPr>
              <a:t> izdihām · crowding, congestion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تَحْوِيلٌ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‎تحویل‎ </a:t>
            </a:r>
            <a:pPr indent="0" marL="0">
              <a:buNone/>
            </a:pPr>
            <a:r>
              <a:rPr lang="en-US" sz="950" b="1" dirty="0">
                <a:solidFill>
                  <a:srgbClr val="2E8B57"/>
                </a:solidFill>
                <a:latin typeface="Calibri" pitchFamily="34" charset="0"/>
                <a:cs typeface="Amiri" pitchFamily="2" charset="-78"/>
              </a:rPr>
              <a:t> tahwīl · Arabic: conversion · Urdu: custody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مَنْصُوبٌ</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‎منصوبہ‎ </a:t>
            </a:r>
            <a:pPr indent="0" marL="0">
              <a:buNone/>
            </a:pPr>
            <a:r>
              <a:rPr lang="en-US" sz="950" b="1" dirty="0">
                <a:solidFill>
                  <a:srgbClr val="2E8B57"/>
                </a:solidFill>
                <a:latin typeface="Calibri" pitchFamily="34" charset="0"/>
                <a:cs typeface="Amiri" pitchFamily="2" charset="-78"/>
              </a:rPr>
              <a:t> mansūba · Arabic: subjunctive · Urdu: a plan!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Urban planning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تَخْطِيطٌ عُمْرَانِيٌّ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urban planning</a:t>
            </a:r>
            <a:endParaRPr lang="en-US" sz="1350" dirty="0"/>
          </a:p>
          <a:p>
            <a:pPr indent="0" marL="0">
              <a:buNone/>
            </a:pPr>
            <a:r>
              <a:rPr lang="en-US" sz="1100" i="1" dirty="0">
                <a:solidFill>
                  <a:srgbClr val="5A6472"/>
                </a:solidFill>
                <a:latin typeface="Calibri" pitchFamily="34" charset="0"/>
                <a:cs typeface="Amiri" pitchFamily="2" charset="-78"/>
              </a:rPr>
              <a:t>takh-ṭī-ṭun ʿum-rā-niy-yun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تَطْوِيرٌ حَضَرِيٌّ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urban development</a:t>
            </a:r>
            <a:endParaRPr lang="en-US" sz="1350" dirty="0"/>
          </a:p>
          <a:p>
            <a:pPr indent="0" marL="0">
              <a:buNone/>
            </a:pPr>
            <a:r>
              <a:rPr lang="en-US" sz="1100" i="1" dirty="0">
                <a:solidFill>
                  <a:srgbClr val="5A6472"/>
                </a:solidFill>
                <a:latin typeface="Calibri" pitchFamily="34" charset="0"/>
                <a:cs typeface="Amiri" pitchFamily="2" charset="-78"/>
              </a:rPr>
              <a:t>taṭ-wī-run ḥa-ḍa-riy-yun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تَجْدِيدٌ حَضَرِيٌّ</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urban renewal</a:t>
            </a:r>
            <a:endParaRPr lang="en-US" sz="1350" dirty="0"/>
          </a:p>
          <a:p>
            <a:pPr indent="0" marL="0">
              <a:buNone/>
            </a:pPr>
            <a:r>
              <a:rPr lang="en-US" sz="1100" i="1" dirty="0">
                <a:solidFill>
                  <a:srgbClr val="5A6472"/>
                </a:solidFill>
                <a:latin typeface="Calibri" pitchFamily="34" charset="0"/>
                <a:cs typeface="Amiri" pitchFamily="2" charset="-78"/>
              </a:rPr>
              <a:t>taj-dī-dun ḥa-ḍa-riy-yun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Shape 3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حَيٌّ سَكَنِيٌّ</a:t>
            </a:r>
            <a:endParaRPr lang="ar-SA" sz="3000" dirty="0"/>
          </a:p>
        </p:txBody>
      </p:sp>
      <p:sp>
        <p:nvSpPr>
          <p:cNvPr id="42" name="Text 3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residential district</a:t>
            </a:r>
            <a:endParaRPr lang="en-US" sz="1350" dirty="0"/>
          </a:p>
          <a:p>
            <a:pPr indent="0" marL="0">
              <a:buNone/>
            </a:pPr>
            <a:r>
              <a:rPr lang="en-US" sz="1100" i="1" dirty="0">
                <a:solidFill>
                  <a:srgbClr val="5A6472"/>
                </a:solidFill>
                <a:latin typeface="Calibri" pitchFamily="34" charset="0"/>
                <a:cs typeface="Amiri" pitchFamily="2" charset="-78"/>
              </a:rPr>
              <a:t>ḥay-yun sa-ka-niy-yun</a:t>
            </a:r>
            <a:endParaRPr lang="en-US" sz="1350" dirty="0"/>
          </a:p>
        </p:txBody>
      </p:sp>
      <p:sp>
        <p:nvSpPr>
          <p:cNvPr id="43" name="Shape 4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5" name="Text 4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أَحْيَاءٌ سَكَنِيَّةٌ</a:t>
            </a:r>
            <a:endParaRPr lang="ar-SA" sz="15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Urban planning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بِنْيَةٌ تَحْتِيَّةٌ حَضَرِيَّةٌ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urban infrastructure</a:t>
            </a:r>
            <a:endParaRPr lang="en-US" sz="1350" dirty="0"/>
          </a:p>
          <a:p>
            <a:pPr indent="0" marL="0">
              <a:buNone/>
            </a:pPr>
            <a:r>
              <a:rPr lang="en-US" sz="1100" i="1" dirty="0">
                <a:solidFill>
                  <a:srgbClr val="5A6472"/>
                </a:solidFill>
                <a:latin typeface="Calibri" pitchFamily="34" charset="0"/>
                <a:cs typeface="Amiri" pitchFamily="2" charset="-78"/>
              </a:rPr>
              <a:t>bin-ya-tun taḥ-tiy-ya-tun ḥa-ḍa-riy-ya-tun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مَسَاحَاتٌ خَضْرَاءُ حَضَرِيَّةٌ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urban green spaces</a:t>
            </a:r>
            <a:endParaRPr lang="en-US" sz="1350" dirty="0"/>
          </a:p>
          <a:p>
            <a:pPr indent="0" marL="0">
              <a:buNone/>
            </a:pPr>
            <a:r>
              <a:rPr lang="en-US" sz="1100" i="1" dirty="0">
                <a:solidFill>
                  <a:srgbClr val="5A6472"/>
                </a:solidFill>
                <a:latin typeface="Calibri" pitchFamily="34" charset="0"/>
                <a:cs typeface="Amiri" pitchFamily="2" charset="-78"/>
              </a:rPr>
              <a:t>ma-sā-ḥā-tun khaḍ-rā-ʾu ḥa-ḍa-riy-ya-tun</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مَسَاحَةٌ خَضْرَاءُ حَضَرِيَّةٌ</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5" name="Shape 3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مَدِينَةٌ ذَكِيَّةٌ</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smart city</a:t>
            </a:r>
            <a:endParaRPr lang="en-US" sz="1350" dirty="0"/>
          </a:p>
          <a:p>
            <a:pPr indent="0" marL="0">
              <a:buNone/>
            </a:pPr>
            <a:r>
              <a:rPr lang="en-US" sz="1100" i="1" dirty="0">
                <a:solidFill>
                  <a:srgbClr val="5A6472"/>
                </a:solidFill>
                <a:latin typeface="Calibri" pitchFamily="34" charset="0"/>
                <a:cs typeface="Amiri" pitchFamily="2" charset="-78"/>
              </a:rPr>
              <a:t>ma-dī-na-tun dha-kiy-ya-tun</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مُدُنٌ ذَكِيَّةٌ</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نَسِيجٌ عُمْرَانِيٌّ</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urban fabric</a:t>
            </a:r>
            <a:endParaRPr lang="en-US" sz="1350" dirty="0"/>
          </a:p>
          <a:p>
            <a:pPr indent="0" marL="0">
              <a:buNone/>
            </a:pPr>
            <a:r>
              <a:rPr lang="en-US" sz="1100" i="1" dirty="0">
                <a:solidFill>
                  <a:srgbClr val="5A6472"/>
                </a:solidFill>
                <a:latin typeface="Calibri" pitchFamily="34" charset="0"/>
                <a:cs typeface="Amiri" pitchFamily="2" charset="-78"/>
              </a:rPr>
              <a:t>na-sī-jun ʿum-rā-niy-yun</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Planning verbs and materials (1 of 2)</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مَبْنِيٌّ 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built from</a:t>
            </a:r>
            <a:endParaRPr lang="en-US" sz="1350" dirty="0"/>
          </a:p>
          <a:p>
            <a:pPr indent="0" marL="0">
              <a:buNone/>
            </a:pPr>
            <a:r>
              <a:rPr lang="en-US" sz="1100" i="1" dirty="0">
                <a:solidFill>
                  <a:srgbClr val="5A6472"/>
                </a:solidFill>
                <a:latin typeface="Calibri" pitchFamily="34" charset="0"/>
                <a:cs typeface="Amiri" pitchFamily="2" charset="-78"/>
              </a:rPr>
              <a:t>mab-niy-yun min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 non-human pl.</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مَبْنِيَّةٌ مِنْ</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0" name="Shape 27"/>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يَتَمَيَّزُ بِـ</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 by</a:t>
            </a:r>
            <a:endParaRPr lang="en-US" sz="1350" dirty="0"/>
          </a:p>
          <a:p>
            <a:pPr indent="0" marL="0">
              <a:buNone/>
            </a:pPr>
            <a:r>
              <a:rPr lang="en-US" sz="1100" i="1" dirty="0">
                <a:solidFill>
                  <a:srgbClr val="5A6472"/>
                </a:solidFill>
                <a:latin typeface="Calibri" pitchFamily="34" charset="0"/>
                <a:cs typeface="Amiri" pitchFamily="2" charset="-78"/>
              </a:rPr>
              <a:t>ya-ta-may-ya-zu bi</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6" name="Text 33"/>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تَتَمَيَّزُ بِـ</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0" name="Shape 37"/>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يُعِيدُ تَصْمِيمَ</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redesigns</a:t>
            </a:r>
            <a:endParaRPr lang="en-US" sz="1350" dirty="0"/>
          </a:p>
          <a:p>
            <a:pPr indent="0" marL="0">
              <a:buNone/>
            </a:pPr>
            <a:r>
              <a:rPr lang="en-US" sz="1100" i="1" dirty="0">
                <a:solidFill>
                  <a:srgbClr val="5A6472"/>
                </a:solidFill>
                <a:latin typeface="Calibri" pitchFamily="34" charset="0"/>
                <a:cs typeface="Amiri" pitchFamily="2" charset="-78"/>
              </a:rPr>
              <a:t>yu-ʿī-du taṣ-mī-ma</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8" name="Text 4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تُعِيدُ تَصْمِيمَ</a:t>
            </a:r>
            <a:endParaRPr lang="ar-SA" sz="135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2" name="Shape 49"/>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يُجَدِّدُ</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renovates</a:t>
            </a:r>
            <a:endParaRPr lang="en-US" sz="1350" dirty="0"/>
          </a:p>
          <a:p>
            <a:pPr indent="0" marL="0">
              <a:buNone/>
            </a:pPr>
            <a:r>
              <a:rPr lang="en-US" sz="1100" i="1" dirty="0">
                <a:solidFill>
                  <a:srgbClr val="5A6472"/>
                </a:solidFill>
                <a:latin typeface="Calibri" pitchFamily="34" charset="0"/>
                <a:cs typeface="Amiri" pitchFamily="2" charset="-78"/>
              </a:rPr>
              <a:t>yu-jad-di-du</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60" name="Text 57"/>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تُجَدِّدُ</a:t>
            </a:r>
            <a:endParaRPr lang="ar-SA"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Planning verbs and materials (2 of 2)</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يُحَوِّلُ إِلَى</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converts into</a:t>
            </a:r>
            <a:endParaRPr lang="en-US" sz="1350" dirty="0"/>
          </a:p>
          <a:p>
            <a:pPr indent="0" marL="0">
              <a:buNone/>
            </a:pPr>
            <a:r>
              <a:rPr lang="en-US" sz="1100" i="1" dirty="0">
                <a:solidFill>
                  <a:srgbClr val="5A6472"/>
                </a:solidFill>
                <a:latin typeface="Calibri" pitchFamily="34" charset="0"/>
                <a:cs typeface="Amiri" pitchFamily="2" charset="-78"/>
              </a:rPr>
              <a:t>yu-ḥaw-wi-lu i-lā</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8" name="Text 25"/>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تُحَوِّلُ إِلَى</a:t>
            </a:r>
            <a:endParaRPr lang="ar-SA" sz="135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2" name="Shape 29"/>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يُخَطِّطُ لِـ</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plans for</a:t>
            </a:r>
            <a:endParaRPr lang="en-US" sz="1350" dirty="0"/>
          </a:p>
          <a:p>
            <a:pPr indent="0" marL="0">
              <a:buNone/>
            </a:pPr>
            <a:r>
              <a:rPr lang="en-US" sz="1100" i="1" dirty="0">
                <a:solidFill>
                  <a:srgbClr val="5A6472"/>
                </a:solidFill>
                <a:latin typeface="Calibri" pitchFamily="34" charset="0"/>
                <a:cs typeface="Amiri" pitchFamily="2" charset="-78"/>
              </a:rPr>
              <a:t>yu-khaṭ-ṭi-ṭu li</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تُخَطِّطُ لِـ</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2" name="Shape 39"/>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يُؤَدِّي إِلَى</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yu-ʾad-dī i-lā</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8" name="Text 4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تُؤَدِّي إِلَى</a:t>
            </a:r>
            <a:endParaRPr lang="ar-SA" sz="135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2" name="Shape 4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الازْدِحَامُ المُرُورِيُّ</a:t>
            </a:r>
            <a:endParaRPr lang="ar-SA" sz="3000" dirty="0"/>
          </a:p>
        </p:txBody>
      </p:sp>
      <p:sp>
        <p:nvSpPr>
          <p:cNvPr id="55" name="Text 5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traffic congestion</a:t>
            </a:r>
            <a:endParaRPr lang="en-US" sz="1350" dirty="0"/>
          </a:p>
          <a:p>
            <a:pPr indent="0" marL="0">
              <a:buNone/>
            </a:pPr>
            <a:r>
              <a:rPr lang="en-US" sz="1100" i="1" dirty="0">
                <a:solidFill>
                  <a:srgbClr val="5A6472"/>
                </a:solidFill>
                <a:latin typeface="Calibri" pitchFamily="34" charset="0"/>
                <a:cs typeface="Amiri" pitchFamily="2" charset="-78"/>
              </a:rPr>
              <a:t>alz-di-ḥā-mu al-mu-rū-riy-yu</a:t>
            </a:r>
            <a:endParaRPr lang="en-US"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urban passive and goals (1 of 2)</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يُبْنَى</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built</a:t>
            </a:r>
            <a:endParaRPr lang="en-US" sz="1350" dirty="0"/>
          </a:p>
          <a:p>
            <a:pPr indent="0" marL="0">
              <a:buNone/>
            </a:pPr>
            <a:r>
              <a:rPr lang="en-US" sz="1100" i="1" dirty="0">
                <a:solidFill>
                  <a:srgbClr val="5A6472"/>
                </a:solidFill>
                <a:latin typeface="Calibri" pitchFamily="34" charset="0"/>
                <a:cs typeface="Amiri" pitchFamily="2" charset="-78"/>
              </a:rPr>
              <a:t>yub-nā</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8" name="Text 25"/>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تُبْنَى</a:t>
            </a:r>
            <a:endParaRPr lang="ar-SA" sz="135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2" name="Shape 29"/>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يُخَطَّطُ</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planned</a:t>
            </a:r>
            <a:endParaRPr lang="en-US" sz="1350" dirty="0"/>
          </a:p>
          <a:p>
            <a:pPr indent="0" marL="0">
              <a:buNone/>
            </a:pPr>
            <a:r>
              <a:rPr lang="en-US" sz="1100" i="1" dirty="0">
                <a:solidFill>
                  <a:srgbClr val="5A6472"/>
                </a:solidFill>
                <a:latin typeface="Calibri" pitchFamily="34" charset="0"/>
                <a:cs typeface="Amiri" pitchFamily="2" charset="-78"/>
              </a:rPr>
              <a:t>yu-khaṭ-ṭa-ṭu</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تُخَطَّطُ</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2" name="Shape 3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it (m · f)</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يُعَادُ تَصْمِيمُهُ</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redesigned</a:t>
            </a:r>
            <a:endParaRPr lang="en-US" sz="1350" dirty="0"/>
          </a:p>
          <a:p>
            <a:pPr indent="0" marL="0">
              <a:buNone/>
            </a:pPr>
            <a:r>
              <a:rPr lang="en-US" sz="1100" i="1" dirty="0">
                <a:solidFill>
                  <a:srgbClr val="5A6472"/>
                </a:solidFill>
                <a:latin typeface="Calibri" pitchFamily="34" charset="0"/>
                <a:cs typeface="Amiri" pitchFamily="2" charset="-78"/>
              </a:rPr>
              <a:t>yu-ʿā-du taṣ-mī-mu-hu</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it (f.)</a:t>
            </a:r>
            <a:endParaRPr lang="en-US" sz="700" dirty="0"/>
          </a:p>
        </p:txBody>
      </p:sp>
      <p:sp>
        <p:nvSpPr>
          <p:cNvPr id="48" name="Text 4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يُعَادُ تَصْمِيمُهَا</a:t>
            </a:r>
            <a:endParaRPr lang="ar-SA" sz="135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2" name="Shape 49"/>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يُحَوَّلُ إِلَى</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converted into</a:t>
            </a:r>
            <a:endParaRPr lang="en-US" sz="1350" dirty="0"/>
          </a:p>
          <a:p>
            <a:pPr indent="0" marL="0">
              <a:buNone/>
            </a:pPr>
            <a:r>
              <a:rPr lang="en-US" sz="1100" i="1" dirty="0">
                <a:solidFill>
                  <a:srgbClr val="5A6472"/>
                </a:solidFill>
                <a:latin typeface="Calibri" pitchFamily="34" charset="0"/>
                <a:cs typeface="Amiri" pitchFamily="2" charset="-78"/>
              </a:rPr>
              <a:t>yu-ḥaw-wa-lu i-lā</a:t>
            </a:r>
            <a:endParaRPr lang="en-US" sz="1350" dirty="0"/>
          </a:p>
        </p:txBody>
      </p:sp>
      <p:sp>
        <p:nvSpPr>
          <p:cNvPr id="56" name="Shape 5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8" name="Text 55"/>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تُحَوَّلُ إِلَى</a:t>
            </a:r>
            <a:endParaRPr lang="ar-SA" sz="13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urban passive and goals (2 of 2)</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التَّرَاصُّ السُّكَّانِيُّ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population density</a:t>
            </a:r>
            <a:endParaRPr lang="en-US" sz="1350" dirty="0"/>
          </a:p>
          <a:p>
            <a:pPr indent="0" marL="0">
              <a:buNone/>
            </a:pPr>
            <a:r>
              <a:rPr lang="en-US" sz="1100" i="1" dirty="0">
                <a:solidFill>
                  <a:srgbClr val="5A6472"/>
                </a:solidFill>
                <a:latin typeface="Calibri" pitchFamily="34" charset="0"/>
                <a:cs typeface="Amiri" pitchFamily="2" charset="-78"/>
              </a:rPr>
              <a:t>at-ta-rāṣ-ṣu as-suk-kā-niy-yu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التَّلَوُّثُ الضَّوْضَائِيُّ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noise pollution</a:t>
            </a:r>
            <a:endParaRPr lang="en-US" sz="1350" dirty="0"/>
          </a:p>
          <a:p>
            <a:pPr indent="0" marL="0">
              <a:buNone/>
            </a:pPr>
            <a:r>
              <a:rPr lang="en-US" sz="1100" i="1" dirty="0">
                <a:solidFill>
                  <a:srgbClr val="5A6472"/>
                </a:solidFill>
                <a:latin typeface="Calibri" pitchFamily="34" charset="0"/>
                <a:cs typeface="Amiri" pitchFamily="2" charset="-78"/>
              </a:rPr>
              <a:t>at-ta-law-wu-thu aḍ-ḍaw-ḍā-ʾiy-yu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Shape 27"/>
          <p:cNvSpPr/>
          <p:nvPr/>
        </p:nvSpPr>
        <p:spPr>
          <a:xfrm>
            <a:off x="960120" y="1938528"/>
            <a:ext cx="151790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517904"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Subjunctive تَكُونَ.</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 تَكُونَ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 it becomes</a:t>
            </a:r>
            <a:endParaRPr lang="en-US" sz="1350" dirty="0"/>
          </a:p>
          <a:p>
            <a:pPr indent="0" marL="0">
              <a:buNone/>
            </a:pPr>
            <a:r>
              <a:rPr lang="en-US" sz="1100" i="1" dirty="0">
                <a:solidFill>
                  <a:srgbClr val="5A6472"/>
                </a:solidFill>
                <a:latin typeface="Calibri" pitchFamily="34" charset="0"/>
                <a:cs typeface="Amiri" pitchFamily="2" charset="-78"/>
              </a:rPr>
              <a:t>li-kay ta-kū-na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7" name="Shape 34"/>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صَالِحٌ لِلْعَيْشِ</a:t>
            </a:r>
            <a:endParaRPr lang="ar-SA" sz="3000" dirty="0"/>
          </a:p>
        </p:txBody>
      </p:sp>
      <p:sp>
        <p:nvSpPr>
          <p:cNvPr id="42" name="Text 3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liveable</a:t>
            </a:r>
            <a:endParaRPr lang="en-US" sz="1350" dirty="0"/>
          </a:p>
          <a:p>
            <a:pPr indent="0" marL="0">
              <a:buNone/>
            </a:pPr>
            <a:r>
              <a:rPr lang="en-US" sz="1100" i="1" dirty="0">
                <a:solidFill>
                  <a:srgbClr val="5A6472"/>
                </a:solidFill>
                <a:latin typeface="Calibri" pitchFamily="34" charset="0"/>
                <a:cs typeface="Amiri" pitchFamily="2" charset="-78"/>
              </a:rPr>
              <a:t>ṣā-li-ḥun lil-ʿay-shi</a:t>
            </a:r>
            <a:endParaRPr lang="en-US" sz="1350" dirty="0"/>
          </a:p>
        </p:txBody>
      </p:sp>
      <p:sp>
        <p:nvSpPr>
          <p:cNvPr id="43" name="Shape 4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صَالِحَةٌ لِلْعَيْشِ</a:t>
            </a:r>
            <a:endParaRPr lang="ar-SA" sz="15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MATERIALS AND PLANNING VERBS (WEBSITE RULES 1–2 + VOCABULARY NOTES)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Made of … and changed into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المَوَادُّ وَأَفْعَالُ التَّخْطِيطِ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99632" y="1810512"/>
            <a:ext cx="5458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473659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a:t>
            </a:r>
            <a:endParaRPr lang="en-US" sz="1100" dirty="0"/>
          </a:p>
        </p:txBody>
      </p:sp>
      <p:sp>
        <p:nvSpPr>
          <p:cNvPr id="18" name="Text 15"/>
          <p:cNvSpPr txBox="1"/>
          <p:nvPr/>
        </p:nvSpPr>
        <p:spPr>
          <a:xfrm>
            <a:off x="290779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6217920" y="2267712"/>
            <a:ext cx="542239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نَاطِحَاتُ السَّحَابِ مَبْنِيَّةٌ </a:t>
            </a:r>
            <a:pPr rtl="1" algn="ctr" indent="0" marL="0">
              <a:buNone/>
            </a:pPr>
            <a:r>
              <a:rPr lang="ar-SA" altLang="en-US" sz="1800" b="1" dirty="0">
                <a:solidFill>
                  <a:srgbClr val="7B3FA0"/>
                </a:solidFill>
                <a:latin typeface="Amiri" pitchFamily="2" charset="-78"/>
                <a:ea typeface="Amiri" pitchFamily="2" charset="-78"/>
                <a:cs typeface="Amiri" pitchFamily="2" charset="-78"/>
              </a:rPr>
              <a:t>مِنَ</a:t>
            </a:r>
            <a:pPr rtl="1" algn="ctr" indent="0" marL="0">
              <a:buNone/>
            </a:pPr>
            <a:r>
              <a:rPr lang="ar-SA" altLang="en-US" sz="1800" b="1" dirty="0">
                <a:solidFill>
                  <a:srgbClr val="1B3B6F"/>
                </a:solidFill>
                <a:latin typeface="Amiri" pitchFamily="2" charset="-78"/>
                <a:ea typeface="Amiri" pitchFamily="2" charset="-78"/>
                <a:cs typeface="Amiri" pitchFamily="2" charset="-78"/>
              </a:rPr>
              <a:t> الزُّجَاجِ وَالصُّلْبِ.</a:t>
            </a:r>
            <a:endParaRPr lang="ar-SA" sz="1800" dirty="0"/>
          </a:p>
        </p:txBody>
      </p:sp>
      <p:sp>
        <p:nvSpPr>
          <p:cNvPr id="22" name="Text 19"/>
          <p:cNvSpPr txBox="1"/>
          <p:nvPr/>
        </p:nvSpPr>
        <p:spPr>
          <a:xfrm>
            <a:off x="4773168" y="226771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min</a:t>
            </a:r>
            <a:endParaRPr lang="en-US" sz="1100" dirty="0"/>
          </a:p>
        </p:txBody>
      </p:sp>
      <p:sp>
        <p:nvSpPr>
          <p:cNvPr id="23" name="Text 20"/>
          <p:cNvSpPr txBox="1"/>
          <p:nvPr/>
        </p:nvSpPr>
        <p:spPr>
          <a:xfrm>
            <a:off x="2944368" y="226771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built from</a:t>
            </a:r>
            <a:endParaRPr lang="en-US" sz="1100" dirty="0"/>
          </a:p>
        </p:txBody>
      </p:sp>
      <p:sp>
        <p:nvSpPr>
          <p:cNvPr id="24" name="Text 21"/>
          <p:cNvSpPr txBox="1"/>
          <p:nvPr/>
        </p:nvSpPr>
        <p:spPr>
          <a:xfrm>
            <a:off x="548640" y="2267712"/>
            <a:ext cx="2194560" cy="559308"/>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مَبْنِيٌّ مِنْ</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6217920" y="2881884"/>
            <a:ext cx="542239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تَتَمَيَّزُ المَدِينَةُ </a:t>
            </a:r>
            <a:pPr rtl="1" algn="ctr" indent="0" marL="0">
              <a:buNone/>
            </a:pPr>
            <a:r>
              <a:rPr lang="ar-SA" altLang="en-US" sz="1800" b="1" dirty="0">
                <a:solidFill>
                  <a:srgbClr val="0E7C86"/>
                </a:solidFill>
                <a:latin typeface="Amiri" pitchFamily="2" charset="-78"/>
                <a:ea typeface="Amiri" pitchFamily="2" charset="-78"/>
                <a:cs typeface="Amiri" pitchFamily="2" charset="-78"/>
              </a:rPr>
              <a:t>بِمَزِيجٍ</a:t>
            </a:r>
            <a:pPr rtl="1" algn="ctr" indent="0" marL="0">
              <a:buNone/>
            </a:pPr>
            <a:r>
              <a:rPr lang="ar-SA" altLang="en-US" sz="1800" b="1" dirty="0">
                <a:solidFill>
                  <a:srgbClr val="1B3B6F"/>
                </a:solidFill>
                <a:latin typeface="Amiri" pitchFamily="2" charset="-78"/>
                <a:ea typeface="Amiri" pitchFamily="2" charset="-78"/>
                <a:cs typeface="Amiri" pitchFamily="2" charset="-78"/>
              </a:rPr>
              <a:t> مِنَ القَدِيمِ وَالحَدِيثِ.</a:t>
            </a:r>
            <a:endParaRPr lang="ar-SA" sz="1800" dirty="0"/>
          </a:p>
        </p:txBody>
      </p:sp>
      <p:sp>
        <p:nvSpPr>
          <p:cNvPr id="29" name="Text 26"/>
          <p:cNvSpPr txBox="1"/>
          <p:nvPr/>
        </p:nvSpPr>
        <p:spPr>
          <a:xfrm>
            <a:off x="4773168" y="2881884"/>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a:t>
            </a:r>
            <a:endParaRPr lang="en-US" sz="1100" dirty="0"/>
          </a:p>
        </p:txBody>
      </p:sp>
      <p:sp>
        <p:nvSpPr>
          <p:cNvPr id="30" name="Text 27"/>
          <p:cNvSpPr txBox="1"/>
          <p:nvPr/>
        </p:nvSpPr>
        <p:spPr>
          <a:xfrm>
            <a:off x="2944368" y="2881884"/>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stands out for</a:t>
            </a:r>
            <a:endParaRPr lang="en-US" sz="1100" dirty="0"/>
          </a:p>
        </p:txBody>
      </p:sp>
      <p:sp>
        <p:nvSpPr>
          <p:cNvPr id="31" name="Text 28"/>
          <p:cNvSpPr txBox="1"/>
          <p:nvPr/>
        </p:nvSpPr>
        <p:spPr>
          <a:xfrm>
            <a:off x="548640" y="2881884"/>
            <a:ext cx="2194560"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يَتَمَيَّزُ بِـ</a:t>
            </a:r>
            <a:endParaRPr lang="ar-SA" sz="2000" dirty="0"/>
          </a:p>
        </p:txBody>
      </p:sp>
      <p:sp>
        <p:nvSpPr>
          <p:cNvPr id="32" name="Shape 29"/>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3" name="Text 30"/>
          <p:cNvSpPr txBox="1"/>
          <p:nvPr/>
        </p:nvSpPr>
        <p:spPr>
          <a:xfrm>
            <a:off x="6217920" y="3496056"/>
            <a:ext cx="542239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تُعِيدُ الهَيْئَاتُ تَصْمِيمَ </a:t>
            </a:r>
            <a:pPr rtl="1" algn="ctr" indent="0" marL="0">
              <a:buNone/>
            </a:pPr>
            <a:r>
              <a:rPr lang="ar-SA" altLang="en-US" sz="1800" b="1" dirty="0">
                <a:solidFill>
                  <a:srgbClr val="1D5FBF"/>
                </a:solidFill>
                <a:latin typeface="Amiri" pitchFamily="2" charset="-78"/>
                <a:ea typeface="Amiri" pitchFamily="2" charset="-78"/>
                <a:cs typeface="Amiri" pitchFamily="2" charset="-78"/>
              </a:rPr>
              <a:t>أَحْيَاءٍ</a:t>
            </a:r>
            <a:pPr rtl="1" algn="ctr" indent="0" marL="0">
              <a:buNone/>
            </a:pPr>
            <a:r>
              <a:rPr lang="ar-SA" altLang="en-US" sz="1800" b="1" dirty="0">
                <a:solidFill>
                  <a:srgbClr val="1B3B6F"/>
                </a:solidFill>
                <a:latin typeface="Amiri" pitchFamily="2" charset="-78"/>
                <a:ea typeface="Amiri" pitchFamily="2" charset="-78"/>
                <a:cs typeface="Amiri" pitchFamily="2" charset="-78"/>
              </a:rPr>
              <a:t> كَامِلَةٍ.</a:t>
            </a:r>
            <a:endParaRPr lang="ar-SA" sz="1800" dirty="0"/>
          </a:p>
        </p:txBody>
      </p:sp>
      <p:sp>
        <p:nvSpPr>
          <p:cNvPr id="34" name="Text 31"/>
          <p:cNvSpPr txBox="1"/>
          <p:nvPr/>
        </p:nvSpPr>
        <p:spPr>
          <a:xfrm>
            <a:off x="4773168" y="3496056"/>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35" name="Text 32"/>
          <p:cNvSpPr txBox="1"/>
          <p:nvPr/>
        </p:nvSpPr>
        <p:spPr>
          <a:xfrm>
            <a:off x="2944368" y="3496056"/>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redesigns</a:t>
            </a:r>
            <a:endParaRPr lang="en-US" sz="1100" dirty="0"/>
          </a:p>
        </p:txBody>
      </p:sp>
      <p:sp>
        <p:nvSpPr>
          <p:cNvPr id="36" name="Text 33"/>
          <p:cNvSpPr txBox="1"/>
          <p:nvPr/>
        </p:nvSpPr>
        <p:spPr>
          <a:xfrm>
            <a:off x="548640" y="3496056"/>
            <a:ext cx="2194560" cy="559308"/>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يُعِيدُ تَصْمِيمَ</a:t>
            </a:r>
            <a:endParaRPr lang="ar-SA" sz="2000" dirty="0"/>
          </a:p>
        </p:txBody>
      </p:sp>
      <p:sp>
        <p:nvSpPr>
          <p:cNvPr id="37" name="Shape 34"/>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6217920" y="4110228"/>
            <a:ext cx="542239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تُجَدِّدُ المَشَارِيعُ </a:t>
            </a:r>
            <a:pPr rtl="1" algn="ctr" indent="0" marL="0">
              <a:buNone/>
            </a:pPr>
            <a:r>
              <a:rPr lang="ar-SA" altLang="en-US" sz="1800" b="1" dirty="0">
                <a:solidFill>
                  <a:srgbClr val="1D5FBF"/>
                </a:solidFill>
                <a:latin typeface="Amiri" pitchFamily="2" charset="-78"/>
                <a:ea typeface="Amiri" pitchFamily="2" charset="-78"/>
                <a:cs typeface="Amiri" pitchFamily="2" charset="-78"/>
              </a:rPr>
              <a:t>الأَحْيَاءَ</a:t>
            </a:r>
            <a:pPr rtl="1" algn="ctr" indent="0" marL="0">
              <a:buNone/>
            </a:pPr>
            <a:r>
              <a:rPr lang="ar-SA" altLang="en-US" sz="1800" b="1" dirty="0">
                <a:solidFill>
                  <a:srgbClr val="1B3B6F"/>
                </a:solidFill>
                <a:latin typeface="Amiri" pitchFamily="2" charset="-78"/>
                <a:ea typeface="Amiri" pitchFamily="2" charset="-78"/>
                <a:cs typeface="Amiri" pitchFamily="2" charset="-78"/>
              </a:rPr>
              <a:t> القَدِيمَةَ.</a:t>
            </a:r>
            <a:endParaRPr lang="ar-SA" sz="1800" dirty="0"/>
          </a:p>
        </p:txBody>
      </p:sp>
      <p:sp>
        <p:nvSpPr>
          <p:cNvPr id="41" name="Text 38"/>
          <p:cNvSpPr txBox="1"/>
          <p:nvPr/>
        </p:nvSpPr>
        <p:spPr>
          <a:xfrm>
            <a:off x="4773168" y="4110228"/>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42" name="Text 39"/>
          <p:cNvSpPr txBox="1"/>
          <p:nvPr/>
        </p:nvSpPr>
        <p:spPr>
          <a:xfrm>
            <a:off x="2944368" y="4110228"/>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renovates</a:t>
            </a:r>
            <a:endParaRPr lang="en-US" sz="1100" dirty="0"/>
          </a:p>
        </p:txBody>
      </p:sp>
      <p:sp>
        <p:nvSpPr>
          <p:cNvPr id="43" name="Text 40"/>
          <p:cNvSpPr txBox="1"/>
          <p:nvPr/>
        </p:nvSpPr>
        <p:spPr>
          <a:xfrm>
            <a:off x="548640" y="4110228"/>
            <a:ext cx="2194560" cy="559308"/>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يُجَدِّدُ</a:t>
            </a:r>
            <a:endParaRPr lang="ar-SA" sz="20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6217920" y="4724400"/>
            <a:ext cx="542239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يُحَوِّلُ المَشْرُوعُ المَطَارَ القَدِيمَ </a:t>
            </a:r>
            <a:pPr rtl="1" algn="ctr" indent="0" marL="0">
              <a:buNone/>
            </a:pPr>
            <a:r>
              <a:rPr lang="ar-SA" altLang="en-US" sz="1800" b="1" dirty="0">
                <a:solidFill>
                  <a:srgbClr val="D6336C"/>
                </a:solidFill>
                <a:latin typeface="Amiri" pitchFamily="2" charset="-78"/>
                <a:ea typeface="Amiri" pitchFamily="2" charset="-78"/>
                <a:cs typeface="Amiri" pitchFamily="2" charset="-78"/>
              </a:rPr>
              <a:t>إِلَى</a:t>
            </a:r>
            <a:pPr rtl="1" algn="ctr" indent="0" marL="0">
              <a:buNone/>
            </a:pPr>
            <a:r>
              <a:rPr lang="ar-SA" altLang="en-US" sz="1800" b="1" dirty="0">
                <a:solidFill>
                  <a:srgbClr val="1B3B6F"/>
                </a:solidFill>
                <a:latin typeface="Amiri" pitchFamily="2" charset="-78"/>
                <a:ea typeface="Amiri" pitchFamily="2" charset="-78"/>
                <a:cs typeface="Amiri" pitchFamily="2" charset="-78"/>
              </a:rPr>
              <a:t> حَدِيقَةٍ.</a:t>
            </a:r>
            <a:endParaRPr lang="ar-SA" sz="1800" dirty="0"/>
          </a:p>
        </p:txBody>
      </p:sp>
      <p:sp>
        <p:nvSpPr>
          <p:cNvPr id="46" name="Text 43"/>
          <p:cNvSpPr txBox="1"/>
          <p:nvPr/>
        </p:nvSpPr>
        <p:spPr>
          <a:xfrm>
            <a:off x="4773168" y="4724400"/>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 + ilā</a:t>
            </a:r>
            <a:endParaRPr lang="en-US" sz="1100" dirty="0"/>
          </a:p>
        </p:txBody>
      </p:sp>
      <p:sp>
        <p:nvSpPr>
          <p:cNvPr id="47" name="Text 44"/>
          <p:cNvSpPr txBox="1"/>
          <p:nvPr/>
        </p:nvSpPr>
        <p:spPr>
          <a:xfrm>
            <a:off x="2944368" y="4724400"/>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converts into</a:t>
            </a:r>
            <a:endParaRPr lang="en-US" sz="1100" dirty="0"/>
          </a:p>
        </p:txBody>
      </p:sp>
      <p:sp>
        <p:nvSpPr>
          <p:cNvPr id="48" name="Text 45"/>
          <p:cNvSpPr txBox="1"/>
          <p:nvPr/>
        </p:nvSpPr>
        <p:spPr>
          <a:xfrm>
            <a:off x="548640" y="4724400"/>
            <a:ext cx="2194560" cy="559308"/>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يُحَوِّلُ … إِلَى</a:t>
            </a:r>
            <a:endParaRPr lang="ar-SA" sz="2000" dirty="0"/>
          </a:p>
        </p:txBody>
      </p:sp>
      <p:sp>
        <p:nvSpPr>
          <p:cNvPr id="49" name="Shape 46"/>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6217920" y="5338572"/>
            <a:ext cx="542239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يُخَطِّطُ المُهَنْدِسُونَ </a:t>
            </a:r>
            <a:pPr rtl="1" algn="ctr" indent="0" marL="0">
              <a:buNone/>
            </a:pPr>
            <a:r>
              <a:rPr lang="ar-SA" altLang="en-US" sz="1800" b="1" dirty="0">
                <a:solidFill>
                  <a:srgbClr val="C77700"/>
                </a:solidFill>
                <a:latin typeface="Amiri" pitchFamily="2" charset="-78"/>
                <a:ea typeface="Amiri" pitchFamily="2" charset="-78"/>
                <a:cs typeface="Amiri" pitchFamily="2" charset="-78"/>
              </a:rPr>
              <a:t>لِمَدِينَةٍ</a:t>
            </a:r>
            <a:pPr rtl="1" algn="ctr" indent="0" marL="0">
              <a:buNone/>
            </a:pPr>
            <a:r>
              <a:rPr lang="ar-SA" altLang="en-US" sz="1800" b="1" dirty="0">
                <a:solidFill>
                  <a:srgbClr val="1B3B6F"/>
                </a:solidFill>
                <a:latin typeface="Amiri" pitchFamily="2" charset="-78"/>
                <a:ea typeface="Amiri" pitchFamily="2" charset="-78"/>
                <a:cs typeface="Amiri" pitchFamily="2" charset="-78"/>
              </a:rPr>
              <a:t> ذَكِيَّةٍ.</a:t>
            </a:r>
            <a:endParaRPr lang="ar-SA" sz="1800" dirty="0"/>
          </a:p>
        </p:txBody>
      </p:sp>
      <p:sp>
        <p:nvSpPr>
          <p:cNvPr id="53" name="Text 50"/>
          <p:cNvSpPr txBox="1"/>
          <p:nvPr/>
        </p:nvSpPr>
        <p:spPr>
          <a:xfrm>
            <a:off x="4773168" y="533857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a:t>
            </a:r>
            <a:endParaRPr lang="en-US" sz="1100" dirty="0"/>
          </a:p>
        </p:txBody>
      </p:sp>
      <p:sp>
        <p:nvSpPr>
          <p:cNvPr id="54" name="Text 51"/>
          <p:cNvSpPr txBox="1"/>
          <p:nvPr/>
        </p:nvSpPr>
        <p:spPr>
          <a:xfrm>
            <a:off x="2944368" y="533857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plans for</a:t>
            </a:r>
            <a:endParaRPr lang="en-US" sz="1100" dirty="0"/>
          </a:p>
        </p:txBody>
      </p:sp>
      <p:sp>
        <p:nvSpPr>
          <p:cNvPr id="55" name="Text 52"/>
          <p:cNvSpPr txBox="1"/>
          <p:nvPr/>
        </p:nvSpPr>
        <p:spPr>
          <a:xfrm>
            <a:off x="548640" y="5338572"/>
            <a:ext cx="2194560" cy="559308"/>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ea typeface="Amiri" pitchFamily="2" charset="-78"/>
                <a:cs typeface="Amiri" pitchFamily="2" charset="-78"/>
              </a:rPr>
              <a:t>يُخَطِّطُ لِـ</a:t>
            </a:r>
            <a:endParaRPr lang="ar-SA" sz="20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mistakes 1–2: mabniyya bi-l-zujāj ✗ → min al-zujāj ✓ · yuḥawwilu l-maṭāra ḥadīqatan ✗ → ilā ḥadīqatin ✓.</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URBAN PASSIVE (WEBSITE RULE 3 + TEACHING POINT 1)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doer disappears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المَبْنِيُّ لِلْمَجْهُولِ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010912" y="1810512"/>
            <a:ext cx="6647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26334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a:t>
            </a:r>
            <a:endParaRPr lang="en-US" sz="1100" dirty="0"/>
          </a:p>
        </p:txBody>
      </p:sp>
      <p:sp>
        <p:nvSpPr>
          <p:cNvPr id="18" name="Text 15"/>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029200" y="2267712"/>
            <a:ext cx="661111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يُبْنَى </a:t>
            </a:r>
            <a:pPr rtl="1" algn="ctr" indent="0" marL="0">
              <a:buNone/>
            </a:pPr>
            <a:r>
              <a:rPr lang="ar-SA" altLang="en-US" sz="1800" b="1" dirty="0">
                <a:solidFill>
                  <a:srgbClr val="0E7C86"/>
                </a:solidFill>
                <a:latin typeface="Amiri" pitchFamily="2" charset="-78"/>
                <a:ea typeface="Amiri" pitchFamily="2" charset="-78"/>
                <a:cs typeface="Amiri" pitchFamily="2" charset="-78"/>
              </a:rPr>
              <a:t>مَشْرُوعٌ ضَخْمٌ</a:t>
            </a:r>
            <a:pPr rtl="1" algn="ctr" indent="0" marL="0">
              <a:buNone/>
            </a:pPr>
            <a:r>
              <a:rPr lang="ar-SA" altLang="en-US" sz="1800" b="1" dirty="0">
                <a:solidFill>
                  <a:srgbClr val="1B3B6F"/>
                </a:solidFill>
                <a:latin typeface="Amiri" pitchFamily="2" charset="-78"/>
                <a:ea typeface="Amiri" pitchFamily="2" charset="-78"/>
                <a:cs typeface="Amiri" pitchFamily="2" charset="-78"/>
              </a:rPr>
              <a:t> عَلَى أَطْرَافِ المَدِينَةِ.</a:t>
            </a:r>
            <a:endParaRPr lang="ar-SA" sz="1800" dirty="0"/>
          </a:p>
        </p:txBody>
      </p:sp>
      <p:sp>
        <p:nvSpPr>
          <p:cNvPr id="21" name="Text 18"/>
          <p:cNvSpPr txBox="1"/>
          <p:nvPr/>
        </p:nvSpPr>
        <p:spPr>
          <a:xfrm>
            <a:off x="2651760" y="2267712"/>
            <a:ext cx="2194560"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يُبْنَى</a:t>
            </a:r>
            <a:endParaRPr lang="ar-SA" sz="2000" dirty="0"/>
          </a:p>
        </p:txBody>
      </p:sp>
      <p:sp>
        <p:nvSpPr>
          <p:cNvPr id="22" name="Text 19"/>
          <p:cNvSpPr txBox="1"/>
          <p:nvPr/>
        </p:nvSpPr>
        <p:spPr>
          <a:xfrm>
            <a:off x="548640" y="2267712"/>
            <a:ext cx="19202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يَبْنِي</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029200" y="2881884"/>
            <a:ext cx="661111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بُنِيَ </a:t>
            </a:r>
            <a:pPr rtl="1" algn="ctr" indent="0" marL="0">
              <a:buNone/>
            </a:pPr>
            <a:r>
              <a:rPr lang="ar-SA" altLang="en-US" sz="1800" b="1" dirty="0">
                <a:solidFill>
                  <a:srgbClr val="0E7C86"/>
                </a:solidFill>
                <a:latin typeface="Amiri" pitchFamily="2" charset="-78"/>
                <a:ea typeface="Amiri" pitchFamily="2" charset="-78"/>
                <a:cs typeface="Amiri" pitchFamily="2" charset="-78"/>
              </a:rPr>
              <a:t>الجُزْءُ القَدِيمُ</a:t>
            </a:r>
            <a:pPr rtl="1" algn="ctr" indent="0" marL="0">
              <a:buNone/>
            </a:pPr>
            <a:r>
              <a:rPr lang="ar-SA" altLang="en-US" sz="1800" b="1" dirty="0">
                <a:solidFill>
                  <a:srgbClr val="1B3B6F"/>
                </a:solidFill>
                <a:latin typeface="Amiri" pitchFamily="2" charset="-78"/>
                <a:ea typeface="Amiri" pitchFamily="2" charset="-78"/>
                <a:cs typeface="Amiri" pitchFamily="2" charset="-78"/>
              </a:rPr>
              <a:t> مِنَ الطِّينِ وَالخَشَبِ.</a:t>
            </a:r>
            <a:endParaRPr lang="ar-SA" sz="1800" dirty="0"/>
          </a:p>
        </p:txBody>
      </p:sp>
      <p:sp>
        <p:nvSpPr>
          <p:cNvPr id="27" name="Text 24"/>
          <p:cNvSpPr txBox="1"/>
          <p:nvPr/>
        </p:nvSpPr>
        <p:spPr>
          <a:xfrm>
            <a:off x="2651760" y="2881884"/>
            <a:ext cx="2194560"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بُنِيَ</a:t>
            </a:r>
            <a:endParaRPr lang="ar-SA" sz="2000" dirty="0"/>
          </a:p>
        </p:txBody>
      </p:sp>
      <p:sp>
        <p:nvSpPr>
          <p:cNvPr id="28" name="Text 25"/>
          <p:cNvSpPr txBox="1"/>
          <p:nvPr/>
        </p:nvSpPr>
        <p:spPr>
          <a:xfrm>
            <a:off x="548640" y="2881884"/>
            <a:ext cx="19202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بَنَى</a:t>
            </a:r>
            <a:endParaRPr lang="ar-SA" sz="20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029200" y="3496056"/>
            <a:ext cx="661111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يُخَطَّطُ لِاسْتِكْمَالِ المَشْرُوعِ.</a:t>
            </a:r>
            <a:endParaRPr lang="ar-SA" sz="1800" dirty="0"/>
          </a:p>
        </p:txBody>
      </p:sp>
      <p:sp>
        <p:nvSpPr>
          <p:cNvPr id="33" name="Text 30"/>
          <p:cNvSpPr txBox="1"/>
          <p:nvPr/>
        </p:nvSpPr>
        <p:spPr>
          <a:xfrm>
            <a:off x="2651760" y="3496056"/>
            <a:ext cx="2194560"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يُخَطَّطُ</a:t>
            </a:r>
            <a:endParaRPr lang="ar-SA" sz="2000" dirty="0"/>
          </a:p>
        </p:txBody>
      </p:sp>
      <p:sp>
        <p:nvSpPr>
          <p:cNvPr id="34" name="Text 31"/>
          <p:cNvSpPr txBox="1"/>
          <p:nvPr/>
        </p:nvSpPr>
        <p:spPr>
          <a:xfrm>
            <a:off x="548640" y="3496056"/>
            <a:ext cx="19202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يُخَطِّطُ</a:t>
            </a:r>
            <a:endParaRPr lang="ar-SA" sz="20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5029200" y="4110228"/>
            <a:ext cx="661111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يُعَادُ </a:t>
            </a:r>
            <a:pPr rtl="1" algn="ctr" indent="0" marL="0">
              <a:buNone/>
            </a:pPr>
            <a:r>
              <a:rPr lang="ar-SA" altLang="en-US" sz="1800" b="1" dirty="0">
                <a:solidFill>
                  <a:srgbClr val="0E7C86"/>
                </a:solidFill>
                <a:latin typeface="Amiri" pitchFamily="2" charset="-78"/>
                <a:ea typeface="Amiri" pitchFamily="2" charset="-78"/>
                <a:cs typeface="Amiri" pitchFamily="2" charset="-78"/>
              </a:rPr>
              <a:t>تَصْمِيمُ</a:t>
            </a:r>
            <a:pPr rtl="1" algn="ctr" indent="0" marL="0">
              <a:buNone/>
            </a:pPr>
            <a:r>
              <a:rPr lang="ar-SA" altLang="en-US" sz="1800" b="1" dirty="0">
                <a:solidFill>
                  <a:srgbClr val="1B3B6F"/>
                </a:solidFill>
                <a:latin typeface="Amiri" pitchFamily="2" charset="-78"/>
                <a:ea typeface="Amiri" pitchFamily="2" charset="-78"/>
                <a:cs typeface="Amiri" pitchFamily="2" charset="-78"/>
              </a:rPr>
              <a:t> الأَحْيَاءِ لِكَيْ تَكُونَ صَالِحَةً لِلْعَيْشِ.</a:t>
            </a:r>
            <a:endParaRPr lang="ar-SA" sz="1800" dirty="0"/>
          </a:p>
        </p:txBody>
      </p:sp>
      <p:sp>
        <p:nvSpPr>
          <p:cNvPr id="37" name="Text 34"/>
          <p:cNvSpPr txBox="1"/>
          <p:nvPr/>
        </p:nvSpPr>
        <p:spPr>
          <a:xfrm>
            <a:off x="2651760" y="4110228"/>
            <a:ext cx="2194560"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يُعَادُ تَصْمِيمُ</a:t>
            </a:r>
            <a:endParaRPr lang="ar-SA" sz="2000" dirty="0"/>
          </a:p>
        </p:txBody>
      </p:sp>
      <p:sp>
        <p:nvSpPr>
          <p:cNvPr id="38" name="Text 35"/>
          <p:cNvSpPr txBox="1"/>
          <p:nvPr/>
        </p:nvSpPr>
        <p:spPr>
          <a:xfrm>
            <a:off x="548640" y="4110228"/>
            <a:ext cx="19202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يُعِيدُ تَصْمِيمَ</a:t>
            </a:r>
            <a:endParaRPr lang="ar-SA" sz="20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5029200" y="4724400"/>
            <a:ext cx="661111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يُحَوَّلُ </a:t>
            </a:r>
            <a:pPr rtl="1" algn="ctr" indent="0" marL="0">
              <a:buNone/>
            </a:pPr>
            <a:r>
              <a:rPr lang="ar-SA" altLang="en-US" sz="1800" b="1" dirty="0">
                <a:solidFill>
                  <a:srgbClr val="0E7C86"/>
                </a:solidFill>
                <a:latin typeface="Amiri" pitchFamily="2" charset="-78"/>
                <a:ea typeface="Amiri" pitchFamily="2" charset="-78"/>
                <a:cs typeface="Amiri" pitchFamily="2" charset="-78"/>
              </a:rPr>
              <a:t>كَثِيرٌ</a:t>
            </a:r>
            <a:pPr rtl="1" algn="ctr" indent="0" marL="0">
              <a:buNone/>
            </a:pPr>
            <a:r>
              <a:rPr lang="ar-SA" altLang="en-US" sz="1800" b="1" dirty="0">
                <a:solidFill>
                  <a:srgbClr val="1B3B6F"/>
                </a:solidFill>
                <a:latin typeface="Amiri" pitchFamily="2" charset="-78"/>
                <a:ea typeface="Amiri" pitchFamily="2" charset="-78"/>
                <a:cs typeface="Amiri" pitchFamily="2" charset="-78"/>
              </a:rPr>
              <a:t> مِنَ المَنَاطِقِ الصِّنَاعِيَّةِ إِلَى مَسَاحَاتٍ خَضْرَاءَ.</a:t>
            </a:r>
            <a:endParaRPr lang="ar-SA" sz="1800" dirty="0"/>
          </a:p>
        </p:txBody>
      </p:sp>
      <p:sp>
        <p:nvSpPr>
          <p:cNvPr id="41" name="Text 38"/>
          <p:cNvSpPr txBox="1"/>
          <p:nvPr/>
        </p:nvSpPr>
        <p:spPr>
          <a:xfrm>
            <a:off x="2651760" y="4724400"/>
            <a:ext cx="2194560"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يُحَوَّلُ</a:t>
            </a:r>
            <a:endParaRPr lang="ar-SA" sz="2000" dirty="0"/>
          </a:p>
        </p:txBody>
      </p:sp>
      <p:sp>
        <p:nvSpPr>
          <p:cNvPr id="42" name="Text 39"/>
          <p:cNvSpPr txBox="1"/>
          <p:nvPr/>
        </p:nvSpPr>
        <p:spPr>
          <a:xfrm>
            <a:off x="548640" y="4724400"/>
            <a:ext cx="19202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يُحَوِّلُ</a:t>
            </a:r>
            <a:endParaRPr lang="ar-SA" sz="20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5029200" y="5338572"/>
            <a:ext cx="661111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وَتُبْنَى فِي المُقَابِلِ </a:t>
            </a:r>
            <a:pPr rtl="1" algn="ctr" indent="0" marL="0">
              <a:buNone/>
            </a:pPr>
            <a:r>
              <a:rPr lang="ar-SA" altLang="en-US" sz="1800" b="1" dirty="0">
                <a:solidFill>
                  <a:srgbClr val="0E7C86"/>
                </a:solidFill>
                <a:latin typeface="Amiri" pitchFamily="2" charset="-78"/>
                <a:ea typeface="Amiri" pitchFamily="2" charset="-78"/>
                <a:cs typeface="Amiri" pitchFamily="2" charset="-78"/>
              </a:rPr>
              <a:t>مُدُنٌ ذَكِيَّةٌ</a:t>
            </a:r>
            <a:pPr rtl="1" algn="ctr" indent="0" marL="0">
              <a:buNone/>
            </a:pPr>
            <a:r>
              <a:rPr lang="ar-SA" altLang="en-US" sz="1800" b="1" dirty="0">
                <a:solidFill>
                  <a:srgbClr val="1B3B6F"/>
                </a:solidFill>
                <a:latin typeface="Amiri" pitchFamily="2" charset="-78"/>
                <a:ea typeface="Amiri" pitchFamily="2" charset="-78"/>
                <a:cs typeface="Amiri" pitchFamily="2" charset="-78"/>
              </a:rPr>
              <a:t> جَدِيدَةٌ.</a:t>
            </a:r>
            <a:endParaRPr lang="ar-SA" sz="1800" dirty="0"/>
          </a:p>
        </p:txBody>
      </p:sp>
      <p:sp>
        <p:nvSpPr>
          <p:cNvPr id="45" name="Text 42"/>
          <p:cNvSpPr txBox="1"/>
          <p:nvPr/>
        </p:nvSpPr>
        <p:spPr>
          <a:xfrm>
            <a:off x="2651760" y="5338572"/>
            <a:ext cx="2194560"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تُبْنَى</a:t>
            </a:r>
            <a:endParaRPr lang="ar-SA" sz="2000" dirty="0"/>
          </a:p>
        </p:txBody>
      </p:sp>
      <p:sp>
        <p:nvSpPr>
          <p:cNvPr id="46" name="Text 43"/>
          <p:cNvSpPr txBox="1"/>
          <p:nvPr/>
        </p:nvSpPr>
        <p:spPr>
          <a:xfrm>
            <a:off x="566928" y="5338572"/>
            <a:ext cx="1920240"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تَبْنِي</a:t>
            </a:r>
            <a:pPr algn="l" indent="0" marL="0">
              <a:buNone/>
            </a:pPr>
            <a:r>
              <a:rPr lang="en-US" sz="1100" dirty="0">
                <a:solidFill>
                  <a:srgbClr val="5A6472"/>
                </a:solidFill>
                <a:latin typeface="Calibri" pitchFamily="34" charset="0"/>
                <a:cs typeface="Amiri" pitchFamily="2" charset="-78"/>
              </a:rPr>
              <a:t> (f.)</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new subject is nominative (-un): yubnā mashrūʿun ✓ · yubnā mashrūʿan ✗ (website quiz 3).</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CHALLENGE, REGRET, GOAL (WEBSITE RULE 4 + TEACHING POINT 2 + LISTENING)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problem to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التَّحَدِّي · الافْتِرَاضُ · الهَدَفُ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9888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1 · CHALLENGE · CORE</a:t>
            </a:r>
            <a:endParaRPr lang="en-US" sz="850" dirty="0"/>
          </a:p>
        </p:txBody>
      </p:sp>
      <p:sp>
        <p:nvSpPr>
          <p:cNvPr id="18" name="Text 15"/>
          <p:cNvSpPr txBox="1"/>
          <p:nvPr/>
        </p:nvSpPr>
        <p:spPr>
          <a:xfrm>
            <a:off x="10267188"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وَاصَلَتِ المُدُنُ التَّوَسُّعَ دُونَ تَخْطِيطٍ، سَتُعَانِي مِنْ تَلَوُّثٍ ضَوْضَائِيٍّ.</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cities keep expanding without planning, they will suffer noise pollution.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real risk.</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8882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2 · REGRET · DEVELOP</a:t>
            </a:r>
            <a:endParaRPr lang="en-US" sz="850" dirty="0"/>
          </a:p>
        </p:txBody>
      </p:sp>
      <p:sp>
        <p:nvSpPr>
          <p:cNvPr id="26" name="Text 23"/>
          <p:cNvSpPr txBox="1"/>
          <p:nvPr/>
        </p:nvSpPr>
        <p:spPr>
          <a:xfrm>
            <a:off x="6448044"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كَانَ التَّخْطِيطُ أَكْثَرَ اسْتِدَامَةً، لَكَانَتِ المُدُنُ أَقَلَّ اكْتِظَاظًا.</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planning been more sustainable, cities would be less crowded.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It did not happen.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23444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GOAL · STRETCH</a:t>
            </a:r>
            <a:endParaRPr lang="en-US" sz="850" dirty="0"/>
          </a:p>
        </p:txBody>
      </p:sp>
      <p:sp>
        <p:nvSpPr>
          <p:cNvPr id="34" name="Text 31"/>
          <p:cNvSpPr txBox="1"/>
          <p:nvPr/>
        </p:nvSpPr>
        <p:spPr>
          <a:xfrm>
            <a:off x="1874520"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لِكَيْ تَكُونَ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يُخَطِّطُ المُهَنْدِسُونَ لِكَيْ تَكُونَ المُدُنُ صَالِحَةً لِلْعَيْشِ.</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Engineers plan so that cities become liveable.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takūnu → takūna.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after li-kay the verb ends in -a.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لِكَيْ تَكُونَ المَدِينَةُ صَالِحَةً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لِكَيْ تَكُونُ المَدِينَةُ صَالِحَةً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LANGUAGE OF URBAN ANALYSIS (WEBSITE READING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Old and new, side by side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لُغَةُ التَّحْلِيلِ العُمْرَانِيِّ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Effect</a:t>
            </a:r>
            <a:endParaRPr lang="en-US" sz="1100" dirty="0"/>
          </a:p>
        </p:txBody>
      </p:sp>
      <p:sp>
        <p:nvSpPr>
          <p:cNvPr id="17" name="Text 14"/>
          <p:cNvSpPr txBox="1"/>
          <p:nvPr/>
        </p:nvSpPr>
        <p:spPr>
          <a:xfrm>
            <a:off x="2724912" y="1810512"/>
            <a:ext cx="6620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a:t>
            </a:r>
            <a:endParaRPr lang="en-US" sz="1100" dirty="0"/>
          </a:p>
        </p:txBody>
      </p:sp>
      <p:sp>
        <p:nvSpPr>
          <p:cNvPr id="21" name="Text 18"/>
          <p:cNvSpPr txBox="1"/>
          <p:nvPr/>
        </p:nvSpPr>
        <p:spPr>
          <a:xfrm>
            <a:off x="2743200" y="2267712"/>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بُنِيَ الجُزْءُ القَدِيمُ مِنَ الطِّينِ، </a:t>
            </a:r>
            <a:pPr rtl="1" algn="ctr" indent="0" marL="0">
              <a:buNone/>
            </a:pPr>
            <a:r>
              <a:rPr lang="ar-SA" altLang="en-US" sz="1800" b="1" dirty="0">
                <a:solidFill>
                  <a:srgbClr val="C77700"/>
                </a:solidFill>
                <a:latin typeface="Amiri" pitchFamily="2" charset="-78"/>
                <a:ea typeface="Amiri" pitchFamily="2" charset="-78"/>
                <a:cs typeface="Amiri" pitchFamily="2" charset="-78"/>
              </a:rPr>
              <a:t>فِي حِينِ أَنَّ</a:t>
            </a:r>
            <a:pPr rtl="1" algn="ctr" indent="0" marL="0">
              <a:buNone/>
            </a:pPr>
            <a:r>
              <a:rPr lang="ar-SA" altLang="en-US" sz="1800" b="1" dirty="0">
                <a:solidFill>
                  <a:srgbClr val="1B3B6F"/>
                </a:solidFill>
                <a:latin typeface="Amiri" pitchFamily="2" charset="-78"/>
                <a:ea typeface="Amiri" pitchFamily="2" charset="-78"/>
                <a:cs typeface="Amiri" pitchFamily="2" charset="-78"/>
              </a:rPr>
              <a:t> نَاطِحَاتِ السَّحَابِ مَبْنِيَّةٌ مِنَ الزُّجَاجِ.</a:t>
            </a:r>
            <a:endParaRPr lang="ar-SA" sz="18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whereas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balance</a:t>
            </a:r>
            <a:endParaRPr lang="en-US" sz="1100" dirty="0"/>
          </a:p>
        </p:txBody>
      </p:sp>
      <p:sp>
        <p:nvSpPr>
          <p:cNvPr id="27" name="Text 24"/>
          <p:cNvSpPr txBox="1"/>
          <p:nvPr/>
        </p:nvSpPr>
        <p:spPr>
          <a:xfrm>
            <a:off x="2743200" y="300471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تُوَاجِهُ المُدُنُ تَحَدِّيًا </a:t>
            </a:r>
            <a:pPr rtl="1" algn="ctr" indent="0" marL="0">
              <a:buNone/>
            </a:pPr>
            <a:r>
              <a:rPr lang="ar-SA" altLang="en-US" sz="1800" b="1" dirty="0">
                <a:solidFill>
                  <a:srgbClr val="7B3FA0"/>
                </a:solidFill>
                <a:latin typeface="Amiri" pitchFamily="2" charset="-78"/>
                <a:ea typeface="Amiri" pitchFamily="2" charset="-78"/>
                <a:cs typeface="Amiri" pitchFamily="2" charset="-78"/>
              </a:rPr>
              <a:t>بَيْنَ</a:t>
            </a:r>
            <a:pPr rtl="1" algn="ctr" indent="0" marL="0">
              <a:buNone/>
            </a:pPr>
            <a:r>
              <a:rPr lang="ar-SA" altLang="en-US" sz="1800" b="1" dirty="0">
                <a:solidFill>
                  <a:srgbClr val="1B3B6F"/>
                </a:solidFill>
                <a:latin typeface="Amiri" pitchFamily="2" charset="-78"/>
                <a:ea typeface="Amiri" pitchFamily="2" charset="-78"/>
                <a:cs typeface="Amiri" pitchFamily="2" charset="-78"/>
              </a:rPr>
              <a:t> الحِفَاظِ عَلَى تُرَاثِهَا </a:t>
            </a:r>
            <a:pPr rtl="1" algn="ctr" indent="0" marL="0">
              <a:buNone/>
            </a:pPr>
            <a:r>
              <a:rPr lang="ar-SA" altLang="en-US" sz="1800" b="1" dirty="0">
                <a:solidFill>
                  <a:srgbClr val="7B3FA0"/>
                </a:solidFill>
                <a:latin typeface="Amiri" pitchFamily="2" charset="-78"/>
                <a:ea typeface="Amiri" pitchFamily="2" charset="-78"/>
                <a:cs typeface="Amiri" pitchFamily="2" charset="-78"/>
              </a:rPr>
              <a:t>وَ</a:t>
            </a:r>
            <a:pPr rtl="1" algn="ctr" indent="0" marL="0">
              <a:buNone/>
            </a:pPr>
            <a:r>
              <a:rPr lang="ar-SA" altLang="en-US" sz="1800" b="1" dirty="0">
                <a:solidFill>
                  <a:srgbClr val="1B3B6F"/>
                </a:solidFill>
                <a:latin typeface="Amiri" pitchFamily="2" charset="-78"/>
                <a:ea typeface="Amiri" pitchFamily="2" charset="-78"/>
                <a:cs typeface="Amiri" pitchFamily="2" charset="-78"/>
              </a:rPr>
              <a:t>بِنَاءِ مُسْتَقْبَلِهَا.</a:t>
            </a:r>
            <a:endParaRPr lang="ar-SA" sz="18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challenge between</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-a (ū → uwa)</a:t>
            </a:r>
            <a:endParaRPr lang="en-US" sz="1100" dirty="0"/>
          </a:p>
        </p:txBody>
      </p:sp>
      <p:sp>
        <p:nvSpPr>
          <p:cNvPr id="31" name="Text 28"/>
          <p:cNvSpPr txBox="1"/>
          <p:nvPr/>
        </p:nvSpPr>
        <p:spPr>
          <a:xfrm>
            <a:off x="2743200" y="3741725"/>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تُعِيدُ تَصْمِيمَهَا </a:t>
            </a:r>
            <a:pPr rtl="1" algn="ctr" indent="0" marL="0">
              <a:buNone/>
            </a:pPr>
            <a:r>
              <a:rPr lang="ar-SA" altLang="en-US" sz="1800" b="1" dirty="0">
                <a:solidFill>
                  <a:srgbClr val="D6336C"/>
                </a:solidFill>
                <a:latin typeface="Amiri" pitchFamily="2" charset="-78"/>
                <a:ea typeface="Amiri" pitchFamily="2" charset="-78"/>
                <a:cs typeface="Amiri" pitchFamily="2" charset="-78"/>
              </a:rPr>
              <a:t>دُونَ أَنْ تَمْحُوَ</a:t>
            </a:r>
            <a:pPr rtl="1" algn="ctr" indent="0" marL="0">
              <a:buNone/>
            </a:pPr>
            <a:r>
              <a:rPr lang="ar-SA" altLang="en-US" sz="1800" b="1" dirty="0">
                <a:solidFill>
                  <a:srgbClr val="1B3B6F"/>
                </a:solidFill>
                <a:latin typeface="Amiri" pitchFamily="2" charset="-78"/>
                <a:ea typeface="Amiri" pitchFamily="2" charset="-78"/>
                <a:cs typeface="Amiri" pitchFamily="2" charset="-78"/>
              </a:rPr>
              <a:t> طَابِعَهَا.</a:t>
            </a:r>
            <a:endParaRPr lang="ar-SA" sz="1800" dirty="0"/>
          </a:p>
        </p:txBody>
      </p:sp>
      <p:sp>
        <p:nvSpPr>
          <p:cNvPr id="32" name="Text 29"/>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without -ing</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a:t>
            </a:r>
            <a:endParaRPr lang="en-US" sz="1100" dirty="0"/>
          </a:p>
        </p:txBody>
      </p:sp>
      <p:sp>
        <p:nvSpPr>
          <p:cNvPr id="35" name="Text 32"/>
          <p:cNvSpPr txBox="1"/>
          <p:nvPr/>
        </p:nvSpPr>
        <p:spPr>
          <a:xfrm>
            <a:off x="2743200" y="4478731"/>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وَفِي المُقَابِلِ</a:t>
            </a:r>
            <a:pPr rtl="1" algn="ctr" indent="0" marL="0">
              <a:buNone/>
            </a:pPr>
            <a:r>
              <a:rPr lang="ar-SA" altLang="en-US" sz="1800" b="1" dirty="0">
                <a:solidFill>
                  <a:srgbClr val="1B3B6F"/>
                </a:solidFill>
                <a:latin typeface="Amiri" pitchFamily="2" charset="-78"/>
                <a:ea typeface="Amiri" pitchFamily="2" charset="-78"/>
                <a:cs typeface="Amiri" pitchFamily="2" charset="-78"/>
              </a:rPr>
              <a:t>، تُبْنَى مُدُنٌ ذَكِيَّةٌ عَلَى أَحْدَثِ المَعَايِيرِ.</a:t>
            </a:r>
            <a:endParaRPr lang="ar-SA" sz="1800" dirty="0"/>
          </a:p>
        </p:txBody>
      </p:sp>
      <p:sp>
        <p:nvSpPr>
          <p:cNvPr id="36" name="Text 33"/>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the other hand</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evidence</a:t>
            </a:r>
            <a:endParaRPr lang="en-US" sz="1100" dirty="0"/>
          </a:p>
        </p:txBody>
      </p:sp>
      <p:sp>
        <p:nvSpPr>
          <p:cNvPr id="39" name="Text 36"/>
          <p:cNvSpPr txBox="1"/>
          <p:nvPr/>
        </p:nvSpPr>
        <p:spPr>
          <a:xfrm>
            <a:off x="2743200" y="521573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يُشِيرُ الخُبَرَاءُ إِلَى أَنَّ</a:t>
            </a:r>
            <a:pPr rtl="1" algn="ctr" indent="0" marL="0">
              <a:buNone/>
            </a:pPr>
            <a:r>
              <a:rPr lang="ar-SA" altLang="en-US" sz="1800" b="1" dirty="0">
                <a:solidFill>
                  <a:srgbClr val="1B3B6F"/>
                </a:solidFill>
                <a:latin typeface="Amiri" pitchFamily="2" charset="-78"/>
                <a:ea typeface="Amiri" pitchFamily="2" charset="-78"/>
                <a:cs typeface="Amiri" pitchFamily="2" charset="-78"/>
              </a:rPr>
              <a:t> المُدُنَ تَحْتَاجُ إِلَى مَسَاحَاتٍ خَضْرَاءَ.</a:t>
            </a:r>
            <a:endParaRPr lang="ar-SA" sz="1800" dirty="0"/>
          </a:p>
        </p:txBody>
      </p:sp>
      <p:sp>
        <p:nvSpPr>
          <p:cNvPr id="40" name="Text 37"/>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experts say</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 urban analysis weighs the old against the new, then closes with experts and a goal.</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Materials, the urban passive and the goal clause</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450" b="1" dirty="0">
                <a:solidFill>
                  <a:srgbClr val="8A6D1E"/>
                </a:solidFill>
                <a:latin typeface="Amiri" pitchFamily="2" charset="-78"/>
                <a:ea typeface="Amiri" pitchFamily="2" charset="-78"/>
                <a:cs typeface="Amiri" pitchFamily="2" charset="-78"/>
              </a:rPr>
              <a:t>المَوَادُّ وَالمَبْنِيُّ لِلْمَجْهُولِ وَجُمْلَةُ الغَرَضِ</a:t>
            </a:r>
            <a:endParaRPr lang="ar-SA" sz="24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Materials and features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mabniyyun min · yatamayyazu bi-</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نَاطِحَاتُ السَّحَابِ مَبْنِيَّةٌ مِنَ الزُّجَاجِ   ·   تَتَمَيَّزُ المَدِينَةُ بِمِعْمَارٍ حَدِيثٍ</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Planning verbs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yuʿīdu taṣmīm · yujaddidu · yuḥawwilu ilā</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يُعِيدُ المُهَنْدِسُ تَصْمِيمَ المِنْطَقَةِ   ·   يُحَوِّلُ المَشْرُوعُ المَطَارَ القَدِيمَ إِلَى حَدِيقَةٍ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Urban passive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yubnā / yukhaṭṭaṭu + nominative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يُبْنَى مَشْرُوعٌ ضَخْمٌ عَلَى أَطْرَافِ المَدِينَةِ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Goal clause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li-kay + verb in -a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يُخَطِّطُونَ لِكَيْ تَكُونَ المَدِينَةُ صَالِحَةً لِلْعَيْشِ</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نَاطِحَاتُ السَّحَابِ مَبْنِيَّةٌ ___ الزُّجَاجِ وَالصُّلْبِ.</a:t>
            </a:r>
            <a:endParaRPr lang="ar-SA" sz="13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يُحَوِّلُ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يُحَوِّلُ المَشْرُوعُ المَطَارَ القَدِيمَ إِلَى حَدِيقَةٍ.</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يُحَوِّلُ المَشْرُوعُ المَطَارَ القَدِيمَ حَدِيقَةً.</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يُحَوِّلُ المَشْرُوعُ بِالمَطَارِ القَدِيمِ.</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urban passive.</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يُبْنَى مَشْرُوعًا ضَخْمًا عَلَى الأَطْرَافِ.</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يُبْنَى مَشْرُوعٌ ضَخْمٌ عَلَى الأَطْرَافِ.</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يَبْنِي مَشْرُوعٌ ضَخْمٌ نَفْسَهُ.</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goal clause:</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يُخَطِّطُونَ لِكَيْ ___ المَدِينَةُ صَالِحَةً لِلْعَيْشِ.</a:t>
            </a:r>
            <a:endParaRPr lang="ar-SA" sz="14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تَكُونَ</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تَكُونُ</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نَاطِحَاتُ السَّحَابِ مَبْنِيَّةٌ ___ الزُّجَاجِ وَالصُّلْبِ.</a:t>
            </a:r>
            <a:endParaRPr lang="ar-SA" sz="13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مَبْنِيٌّ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يُحَوِّلُ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يُحَوِّلُ المَشْرُوعُ المَطَارَ القَدِيمَ إِلَى حَدِيقَةٍ.</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يُحَوِّلُ المَشْرُوعُ المَطَارَ القَدِيمَ حَدِيقَةً.</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يُحَوِّلُ المَشْرُوعُ بِالمَطَارِ القَدِيمِ.</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يُحَوِّلُ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urban passive.</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يُبْنَى مَشْرُوعًا ضَخْمًا عَلَى الأَطْرَافِ.</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يُبْنَى مَشْرُوعٌ ضَخْمٌ عَلَى الأَطْرَافِ.</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يَبْنِي مَشْرُوعٌ ضَخْمٌ نَفْسَهُ.</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subject is nominative.</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goal clause:</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يُخَطِّطُونَ لِكَيْ ___ المَدِينَةُ صَالِحَةً لِلْعَيْشِ.</a:t>
            </a:r>
            <a:endParaRPr lang="ar-SA" sz="14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تَكُونَ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تَكُونُ</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ea typeface="Amiri" pitchFamily="2" charset="-78"/>
                <a:cs typeface="Amiri" pitchFamily="2" charset="-78"/>
              </a:rPr>
              <a:t>تَكُونَ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analyse a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Materials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7B3FA0"/>
                </a:solidFill>
                <a:latin typeface="Amiri" pitchFamily="2" charset="-78"/>
                <a:ea typeface="Amiri" pitchFamily="2" charset="-78"/>
                <a:cs typeface="Amiri" pitchFamily="2" charset="-78"/>
              </a:rPr>
              <a:t>بُنِيَ</a:t>
            </a:r>
            <a:pPr rtl="1" algn="ctr" indent="0" marL="0">
              <a:buNone/>
            </a:pPr>
            <a:r>
              <a:rPr lang="ar-SA" altLang="en-US" sz="2300" b="1" dirty="0">
                <a:solidFill>
                  <a:srgbClr val="1B3B6F"/>
                </a:solidFill>
                <a:latin typeface="Amiri" pitchFamily="2" charset="-78"/>
                <a:ea typeface="Amiri" pitchFamily="2" charset="-78"/>
                <a:cs typeface="Amiri" pitchFamily="2" charset="-78"/>
              </a:rPr>
              <a:t> … مِنَ · </a:t>
            </a:r>
            <a:pPr rtl="1" algn="ctr" indent="0" marL="0">
              <a:buNone/>
            </a:pPr>
            <a:r>
              <a:rPr lang="ar-SA" altLang="en-US" sz="2300" b="1" dirty="0">
                <a:solidFill>
                  <a:srgbClr val="7B3FA0"/>
                </a:solidFill>
                <a:latin typeface="Amiri" pitchFamily="2" charset="-78"/>
                <a:ea typeface="Amiri" pitchFamily="2" charset="-78"/>
                <a:cs typeface="Amiri" pitchFamily="2" charset="-78"/>
              </a:rPr>
              <a:t>مَبْنِيَّةٌ مِنَ</a:t>
            </a:r>
            <a:pPr rtl="1" algn="ctr" indent="0" marL="0">
              <a:buNone/>
            </a:pPr>
            <a:r>
              <a:rPr lang="ar-SA" altLang="en-US" sz="2300" b="1" dirty="0">
                <a:solidFill>
                  <a:srgbClr val="1B3B6F"/>
                </a:solidFill>
                <a:latin typeface="Amiri" pitchFamily="2" charset="-78"/>
                <a:cs typeface="Amiri" pitchFamily="2" charset="-78"/>
              </a:rPr>
              <a:t> …</a:t>
            </a:r>
            <a:endParaRPr lang="ar-SA" sz="23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Change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تُعِيدُ تَصْمِيمَ</a:t>
            </a:r>
            <a:pPr rtl="1" algn="ctr" indent="0" marL="0">
              <a:buNone/>
            </a:pPr>
            <a:r>
              <a:rPr lang="ar-SA" altLang="en-US" sz="2100" b="1" dirty="0">
                <a:solidFill>
                  <a:srgbClr val="1B3B6F"/>
                </a:solidFill>
                <a:latin typeface="Amiri" pitchFamily="2" charset="-78"/>
                <a:cs typeface="Amiri" pitchFamily="2" charset="-78"/>
              </a:rPr>
              <a:t> … </a:t>
            </a:r>
            <a:pPr rtl="1" algn="ctr" indent="0" marL="0">
              <a:buNone/>
            </a:pPr>
            <a:r>
              <a:rPr lang="ar-SA" altLang="en-US" sz="2100" b="1" dirty="0">
                <a:solidFill>
                  <a:srgbClr val="1D5FBF"/>
                </a:solidFill>
                <a:latin typeface="Amiri" pitchFamily="2" charset="-78"/>
                <a:ea typeface="Amiri" pitchFamily="2" charset="-78"/>
                <a:cs typeface="Amiri" pitchFamily="2" charset="-78"/>
              </a:rPr>
              <a:t>يُحَوَّلُ</a:t>
            </a:r>
            <a:pPr rtl="1" algn="ctr" indent="0" marL="0">
              <a:buNone/>
            </a:pPr>
            <a:r>
              <a:rPr lang="ar-SA" altLang="en-US" sz="2100" b="1" dirty="0">
                <a:solidFill>
                  <a:srgbClr val="1B3B6F"/>
                </a:solidFill>
                <a:latin typeface="Amiri" pitchFamily="2" charset="-78"/>
                <a:ea typeface="Amiri" pitchFamily="2" charset="-78"/>
                <a:cs typeface="Amiri" pitchFamily="2" charset="-78"/>
              </a:rPr>
              <a:t> … إِلَى</a:t>
            </a:r>
            <a:endParaRPr lang="ar-SA" sz="21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Passive: -un.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Risk + regret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إِذَا</a:t>
            </a:r>
            <a:pPr rtl="1" algn="ctr" indent="0" marL="0">
              <a:buNone/>
            </a:pPr>
            <a:r>
              <a:rPr lang="ar-SA" altLang="en-US" sz="2800" b="1" dirty="0">
                <a:solidFill>
                  <a:srgbClr val="1B3B6F"/>
                </a:solidFill>
                <a:latin typeface="Amiri" pitchFamily="2" charset="-78"/>
                <a:ea typeface="Amiri" pitchFamily="2" charset="-78"/>
                <a:cs typeface="Amiri" pitchFamily="2" charset="-78"/>
              </a:rPr>
              <a:t> … سَـ · </a:t>
            </a:r>
            <a:pPr rtl="1" algn="ctr" indent="0" marL="0">
              <a:buNone/>
            </a:pPr>
            <a:r>
              <a:rPr lang="ar-SA" altLang="en-US" sz="2800" b="1" dirty="0">
                <a:solidFill>
                  <a:srgbClr val="C77700"/>
                </a:solidFill>
                <a:latin typeface="Amiri" pitchFamily="2" charset="-78"/>
                <a:ea typeface="Amiri" pitchFamily="2" charset="-78"/>
                <a:cs typeface="Amiri" pitchFamily="2" charset="-78"/>
              </a:rPr>
              <a:t>لَوْ</a:t>
            </a:r>
            <a:pPr rtl="1" algn="ctr" indent="0" marL="0">
              <a:buNone/>
            </a:pPr>
            <a:r>
              <a:rPr lang="ar-SA" altLang="en-US" sz="2800" b="1" dirty="0">
                <a:solidFill>
                  <a:srgbClr val="1B3B6F"/>
                </a:solidFill>
                <a:latin typeface="Amiri" pitchFamily="2" charset="-78"/>
                <a:ea typeface="Amiri" pitchFamily="2" charset="-78"/>
                <a:cs typeface="Amiri" pitchFamily="2" charset="-78"/>
              </a:rPr>
              <a:t> … لَـ</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types.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Goal</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لِكَيْ تَبْقَى</a:t>
            </a:r>
            <a:pPr rtl="1" algn="ctr" indent="0" marL="0">
              <a:buNone/>
            </a:pPr>
            <a:r>
              <a:rPr lang="ar-SA" altLang="en-US" sz="2800" b="1" dirty="0">
                <a:solidFill>
                  <a:srgbClr val="1B3B6F"/>
                </a:solidFill>
                <a:latin typeface="Amiri" pitchFamily="2" charset="-78"/>
                <a:ea typeface="Amiri" pitchFamily="2" charset="-78"/>
                <a:cs typeface="Amiri" pitchFamily="2" charset="-78"/>
              </a:rPr>
              <a:t> صَالِحَةً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7B3FA0"/>
          </a:solidFill>
          <a:ln w="12700">
            <a:solidFill>
              <a:srgbClr val="7B3FA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MATERIALS</a:t>
            </a:r>
            <a:endParaRPr lang="en-US" sz="800" dirty="0"/>
          </a:p>
        </p:txBody>
      </p:sp>
      <p:sp>
        <p:nvSpPr>
          <p:cNvPr id="47" name="Shape 43"/>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PLANNING · PASSIVE</a:t>
            </a:r>
            <a:endParaRPr lang="en-US" sz="800" dirty="0"/>
          </a:p>
        </p:txBody>
      </p:sp>
      <p:sp>
        <p:nvSpPr>
          <p:cNvPr id="49" name="Shape 45"/>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1</a:t>
            </a:r>
            <a:endParaRPr lang="en-US" sz="800" dirty="0"/>
          </a:p>
        </p:txBody>
      </p:sp>
      <p:sp>
        <p:nvSpPr>
          <p:cNvPr id="51" name="Shape 47"/>
          <p:cNvSpPr/>
          <p:nvPr/>
        </p:nvSpPr>
        <p:spPr>
          <a:xfrm>
            <a:off x="9528048" y="4736592"/>
            <a:ext cx="914400" cy="237744"/>
          </a:xfrm>
          <a:prstGeom prst="roundRect">
            <a:avLst>
              <a:gd name="adj" fmla="val 50000"/>
            </a:avLst>
          </a:prstGeom>
          <a:solidFill>
            <a:srgbClr val="C77700"/>
          </a:solidFill>
          <a:ln w="12700">
            <a:solidFill>
              <a:srgbClr val="C77700"/>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3" name="Shape 49"/>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GOAL</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بُنِيَ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الجُزْءُ القَدِيمُ مِنْ دُبَيَّ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الطِّينِ، فِي حِينِ أَنَّ نَاطِحَاتِ السَّحَابِ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مَبْنِيَّةٌ 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الزُّجَاجِ.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تُعِيدُ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الهَيْئَاتُ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تَصْمِيمَ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أَحْيَاءٍ كَامِلَةٍ،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وَيُحَوَّلُ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كَثِيرٌ مِنَ المَنَاطِقِ الصِّنَاعِيَّةِ إِلَى مَسَاحَاتٍ خَضْرَاءَ.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إِذَا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تَوَسَّعَتِ المُدُنُ،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سَتُعَانِي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مِنَ الازْدِحَامِ.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كَانَ التَّخْطِيطُ أَكْثَرَ اسْتِدَامَةً،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لَكَانَتِ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المُدُنُ أَقَلَّ اكْتِظَاظًا. لِذٰلِكَ تَحْتَاجُ المُدُنُ إِلَى مَسَاحَاتٍ خَضْرَاءَ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لِكَيْ تَبْقَى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صَالِحَةً لِلْعَيْشِ.</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In Dubai, the old part was built from clay and wood, whereas the skyscrapers are built from glass. Authorities are redesigning whole districts, and many industrial areas are being converted into green spaces. If cities expand, they will suffer from congestion. Had planning been more sustainable, cities would be less crowded. So cities need green spaces so that they remain liveable.</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بُنِيَ الجُزْءُ القَدِيمُ مِنَ الطِّينِ، وَنَاطِحَاتُ السَّحَابِ مَبْنِيَّةٌ مِنَ الزُّجَاجِ</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old part was built from clay, and the skyscrapers are built from glass</a:t>
            </a:r>
            <a:endParaRPr lang="en-US" sz="1250" dirty="0"/>
          </a:p>
          <a:p>
            <a:pPr indent="0" marL="0">
              <a:buNone/>
            </a:pPr>
            <a:r>
              <a:rPr lang="en-US" sz="1050" i="1" dirty="0">
                <a:solidFill>
                  <a:srgbClr val="8A6D1E"/>
                </a:solidFill>
                <a:latin typeface="Calibri" pitchFamily="34" charset="0"/>
                <a:cs typeface="Amiri" pitchFamily="2" charset="-78"/>
              </a:rPr>
              <a:t>mabniyyun min names the material.</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يُحَوِّلُ مَشْرُوعُ العُلَا المَوَاقِعَ التَّارِيخِيَّةَ إِلَى وِجْهَاتٍ سِيَاحِيَّةٍ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AlUla project converts historic sites into tourist destinations</a:t>
            </a:r>
            <a:endParaRPr lang="en-US" sz="1250" dirty="0"/>
          </a:p>
          <a:p>
            <a:pPr indent="0" marL="0">
              <a:buNone/>
            </a:pPr>
            <a:r>
              <a:rPr lang="en-US" sz="1050" i="1" dirty="0">
                <a:solidFill>
                  <a:srgbClr val="8A6D1E"/>
                </a:solidFill>
                <a:latin typeface="Calibri" pitchFamily="34" charset="0"/>
                <a:cs typeface="Amiri" pitchFamily="2" charset="-78"/>
              </a:rPr>
              <a:t>yuḥawwilu … ilā.</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يُخَطِّطُونَ لِكَيْ تَكُونَ العَاصِمَةُ أَكْثَرَ اسْتِدَامَةً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they plan so that the capital becomes more sustainable</a:t>
            </a:r>
            <a:endParaRPr lang="en-US" sz="1250" dirty="0"/>
          </a:p>
          <a:p>
            <a:pPr indent="0" marL="0">
              <a:buNone/>
            </a:pPr>
            <a:r>
              <a:rPr lang="en-US" sz="1050" i="1" dirty="0">
                <a:solidFill>
                  <a:srgbClr val="8A6D1E"/>
                </a:solidFill>
                <a:latin typeface="Calibri" pitchFamily="34" charset="0"/>
                <a:cs typeface="Amiri" pitchFamily="2" charset="-78"/>
              </a:rPr>
              <a:t>li-kay + a verb in -a (takūna).</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URBAN ENVIRONMENTS — CITIES, ARCHITECTURE AND URBAN PLANNING”</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city: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مُخَطِّطُ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green spaces</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26"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public transport</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6"/>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34" name="Shape 27"/>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walking and cycling</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المَدِينَةُ الصِّحِّيَّةُ تُشَجِّعُ المَشْيَ وَرُكُوبَ الدَّرَّاجَاتِ.</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تَحْتَاجُ المَدِينَةُ إِلَى مَسَاحَاتٍ خَضْرَاءَ.</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النَّقْلُ العَامُّ مُهِمٌّ فِي المُدُنِ.</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مُخَطِّطُ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green spaces</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تَحْتَاجُ المَدِينَةُ إِلَى مَسَاحَاتٍ خَضْرَاءَ.</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city needs green spaces.</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31"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public transport</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النَّقْلُ العَامُّ مُهِمٌّ فِي المُدُنِ.</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Public transport is important in cities.</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6"/>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44" name="Shape 37"/>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walking and cycling</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المَدِينَةُ الصِّحِّيَّةُ تُشَجِّعُ المَشْيَ وَرُكُوبَ الدَّرَّاجَاتِ.</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A healthy city encourages walking and cycling.</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URBAN ANALYSIS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Material + planning + goal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تَحْلِيلًا عُمْرَانِيًّا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Material / feature</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Planning action</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Goal / condition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الأَحْيَاءُ القَدِيمَةُ مَبْنِيَّةٌ مِنَ الحَجَرِ وَالطِّينِ</a:t>
            </a:r>
            <a:endParaRPr lang="ar-SA" sz="160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وَتُجَدِّدُ المَشَارِيعُ الأَحْيَاءَ وَتُعِيدُ تَصْمِيمَهَا</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وَيُخَطِّطُ المُهَنْدِسُونَ لِكَيْ تَكُونَ المُدُنُ صَالِحَةً لِلْعَيْشِ</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نَاطِحَاتُ السَّحَابِ مَبْنِيَّةٌ مِنَ الزُّجَاجِ وَالصُّلْبِ</a:t>
            </a:r>
            <a:endParaRPr lang="ar-SA" sz="16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وَيُحَوَّلُ كَثِيرٌ مِنَ المَنَاطِقِ الصِّنَاعِيَّةِ إِلَى مَسَاحَاتٍ خَضْرَاءَ</a:t>
            </a:r>
            <a:endParaRPr lang="ar-SA" sz="15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اهْتَمُّوا بِالخُضْرَةِ مُبَكِّرًا لَكَانَتِ المُدُنُ أَجْمَلَ</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تَتَمَيَّزُ المَدِينَةُ بِمَزِيجٍ مِنَ القَدِيمِ وَالحَدِيثِ</a:t>
            </a:r>
            <a:endParaRPr lang="ar-SA" sz="16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وَيُبْنَى مَشْرُوعٌ ضَخْمٌ عَلَى أَطْرَافِ المَدِينَةِ</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خُطِّطَ بِاسْتِدَامَةٍ سَتَقِلُّ الازْدِحَامَاتُ</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find the passive verbs: is the noun after them -un?</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Material / feature, planning verb — or passive / goal?</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مَبْنِيٌّ مِنَ الحَجَرِ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يَتَمَيَّزُ بِمِعْمَارٍ حَدِيثٍ</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مَبْنِيٌّ مِنَ الزُّجَاجِ وَالصُّلْبِ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يُعِيدُ تَصْمِيمَ المِنْطَقَةِ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يُجَدِّدُ المَبَانِيَ القَدِيمَةَ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يُحَوِّلُ المَطَارَ إِلَى حَدِيقَةٍ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يُبْنَى مَشْرُوعٌ ضَخْمٌ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يُخَطَّطُ لِاسْتِكْمَالِ المَشْرُوعِ</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تَكُونَ المَدِينَةُ صَالِحَةً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Material / feature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Planning verb</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Passive / goal</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Material / feature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مَبْنِيٌّ مِنَ الحَجَرِ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يَتَمَيَّزُ بِمِعْمَارٍ حَدِيثٍ</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مَبْنِيٌّ مِنَ الزُّجَاجِ وَالصُّلْبِ</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Planning verb</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يُعِيدُ تَصْمِيمَ المِنْطَقَةِ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يُجَدِّدُ المَبَانِيَ القَدِيمَةَ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يُحَوِّلُ المَطَارَ إِلَى حَدِيقَةٍ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Passive / goal</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يُبْنَى مَشْرُوعٌ ضَخْمٌ</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يُخَطَّطُ لِاسْتِكْمَالِ المَشْرُوعِ</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تَكُونَ المَدِينَةُ صَالِحَةً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“redesigns”?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يُجَدِّدُ</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يُحَوِّلُ</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يُعِيدُ تَصْمِيمَ</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يُخَطِّطُ المُهَنْدِسُونَ ___ مَدِينَةٍ ذَكِيَّةٍ.</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passive of “is redesigned”?</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يُعِيدُ تَصْمِيمَهُ</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يُعَادُ تَصْمِيمُهُ</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أَعَادَ تَصْمِيمَهُ</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packs a material, a planning verb and a goal?</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المَدِينَةُ كَبِيرَةٌ.</a:t>
            </a:r>
            <a:endParaRPr lang="ar-SA" sz="19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أُحِبُّ المُدُنَ.</a:t>
            </a:r>
            <a:endParaRPr lang="ar-SA" sz="19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الحَيُّ مَبْنِيٌّ مِنَ الحَجَرِ، وَيُجَدِّدُهُ المَشْرُوعُ لِكَيْ يَكُونَ أَجْمَلَ.</a:t>
            </a:r>
            <a:endParaRPr lang="ar-SA" sz="1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“redesigns”?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يُجَدِّدُ</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يُحَوِّلُ</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يُعِيدُ تَصْمِيمَ</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يُعِيدُ تَصْمِيمَ</a:t>
            </a:r>
            <a:pPr algn="l" indent="0" marL="0">
              <a:buNone/>
            </a:pPr>
            <a:r>
              <a:rPr lang="en-US" sz="1050" i="1" dirty="0">
                <a:solidFill>
                  <a:srgbClr val="8A6D1E"/>
                </a:solidFill>
                <a:latin typeface="Calibri" pitchFamily="34" charset="0"/>
                <a:cs typeface="Amiri" pitchFamily="2" charset="-78"/>
              </a:rPr>
              <a:t> means redesigns.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يُخَطِّطُ المُهَنْدِسُونَ ___ مَدِينَةٍ ذَكِيَّةٍ.</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لِـ</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يُخَطِّطُ</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passive of “is redesigned”?</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يُعِيدُ تَصْمِيمَهُ</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يُعَادُ تَصْمِيمُهُ</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أَعَادَ تَصْمِيمَهُ</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يُعَادُ تَصْمِيمُهُ</a:t>
            </a:r>
            <a:pPr algn="l" indent="0" marL="0">
              <a:buNone/>
            </a:pPr>
            <a:r>
              <a:rPr lang="en-US" sz="1050" i="1" dirty="0">
                <a:solidFill>
                  <a:srgbClr val="8A6D1E"/>
                </a:solidFill>
                <a:latin typeface="Calibri" pitchFamily="34" charset="0"/>
                <a:cs typeface="Amiri" pitchFamily="2" charset="-78"/>
              </a:rPr>
              <a:t> is the passive.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packs a material, a planning verb and a goal?</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 كَبِيرَةٌ.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المُدُنَ.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الحَيُّ مَبْنِيٌّ مِنَ الحَجَرِ، وَيُجَدِّدُهُ المَشْرُوعُ لِكَيْ يَكُونَ أَجْمَلَ.</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combines </a:t>
            </a:r>
            <a:pPr algn="l" indent="0" marL="0">
              <a:buNone/>
            </a:pPr>
            <a:r>
              <a:rPr lang="ar-SA" altLang="en-US" sz="1350" dirty="0">
                <a:solidFill>
                  <a:srgbClr val="8A6D1E"/>
                </a:solidFill>
                <a:latin typeface="Amiri" pitchFamily="2" charset="-78"/>
                <a:ea typeface="Amiri" pitchFamily="2" charset="-78"/>
                <a:cs typeface="Amiri" pitchFamily="2" charset="-78"/>
              </a:rPr>
              <a:t>مَبْنِيٌّ مِنْ</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يُجَدِّدُ</a:t>
            </a:r>
            <a:pPr algn="l" indent="0" marL="0">
              <a:buNone/>
            </a:pPr>
            <a:r>
              <a:rPr lang="en-US" sz="1050" i="1" dirty="0">
                <a:solidFill>
                  <a:srgbClr val="8A6D1E"/>
                </a:solidFill>
                <a:latin typeface="Calibri" pitchFamily="34" charset="0"/>
                <a:cs typeface="Amiri" pitchFamily="2" charset="-78"/>
              </a:rPr>
              <a:t> and a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goal.</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نَاطِحَاتُ السَّحَابِ مَبْنِيَّةٌ بِالزُّجَاجِ.</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mabniyya bi-?</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يُحَوِّلُ المَشْرُوعُ المَطَارَ حَدِيقَةً.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yuḥawwilu … no ilā?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يُخَطِّطُونَ لِكَيْ تَكُونُ المَدِينَةُ صَالِحَةً.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yubnā mashrūʿan?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نَاطِحَاتُ السَّحَابِ مَبْنِيَّةٌ بِالزُّجَاجِ.</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نَاطِحَاتُ السَّحَابِ مَبْنِيَّةٌ مِنَ الزُّجَاجِ.</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مَبْنِيٌّ</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يُحَوِّلُ المَشْرُوعُ المَطَارَ حَدِيقَةً.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يُحَوِّلُ المَشْرُوعُ المَطَارَ إِلَى حَدِيقَةٍ.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يُحَوِّلُ</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يُخَطِّطُونَ لِكَيْ تَكُونُ المَدِينَةُ صَالِحَةً.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يُخَطِّطُونَ لِكَيْ تَكُونَ المَدِينَةُ صَالِحَةً.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ea typeface="Amiri" pitchFamily="2" charset="-78"/>
                <a:cs typeface="Amiri" pitchFamily="2" charset="-78"/>
              </a:rPr>
              <a:t>تَكُونَ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 city of the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distinguishes Dubai?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unique mix of heritage and modern architecture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skyscrapers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old houses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old part built from?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 and steel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Concrete only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Clay and wood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development authorities do with old industrial areas?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Demolish them entirely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them empty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Convert them into green spaces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planning been more sustainable, cities would be less crowded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Planning makes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Cities cannot be planned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engineers plan for?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make cities bigger only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cities become liveable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tatamayyazu bi- · buniya … min · tuḥawwilu … ilā.</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تَتَمَيَّزُ مَدِينَةُ دُبَيَّ بِمَزِيجٍ فَرِيدٍ مِنَ العِمَارَةِ التُّرَاثِيَّةِ وَالمِعْمَارِ الحَدِيثِ. بُنِيَ الجُزْءُ القَدِيمُ مِنَ الطِّينِ وَالخَشَبِ، فِي حِينِ أَنَّ نَاطِحَاتِ السَّحَابِ مَبْنِيَّةٌ مِنَ الزُّجَاجِ وَالصُّلْبِ.</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Dubai stands out for a unique mix of heritage and modern architecture. The old part was built from clay and wood, whereas the skyscrapers are built from glass and steel.</a:t>
            </a:r>
            <a:endParaRPr lang="en-US" sz="120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تُعِيدُ هَيْئَاتُ التَّطْوِيرِ تَصْمِيمَ أَحْيَاءٍ كَامِلَةٍ، وَتُحَوِّلُ مَنَاطِقَ صِنَاعِيَّةً قَدِيمَةً إِلَى مَسَاحَاتٍ خَضْرَاءَ.</a:t>
            </a:r>
            <a:endParaRPr lang="ar-SA" sz="16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Development authorities are redesigning whole districts and converting old industrial areas into green spaces.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غَيْرَ أَنَّ التَّوَسُّعَ السَّرِيعَ يُؤَدِّي إِلَى ازْدِحَامٍ مُرُورِيٍّ. إِذَا وَاصَلَتِ المُدُنُ التَّوَسُّعَ دُونَ تَخْطِيطٍ، سَتُعَانِي مِنْ تَلَوُّثٍ ضَوْضَائِيٍّ.</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However, rapid expansion leads to traffic congestion. If cities keep expanding without planning, they will suffer from noise pollution.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وَلَوْ كَانَ التَّخْطِيطُ أَكْثَرَ اسْتِدَامَةً مُنْذُ البِدَايَةِ، لَكَانَتِ المُدُنُ أَقَلَّ اكْتِظَاظًا.</a:t>
            </a:r>
            <a:endParaRPr lang="ar-SA" sz="19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planning been more sustainable from the start, cities would be less crowded.</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لِذٰلِكَ يُخَطِّطُ المُهَنْدِسُونَ لِكَيْ تَكُونَ المُدُنُ صَالِحَةً لِلْعَيْشِ.</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engineers plan so that cities become liveable.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distinguishes Dubai?</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unique mix of heritage and modern architecture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skyscrapers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old houses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تَتَمَيَّزُ مَدِينَةُ دُبَيَّ بِمَزِيجٍ فَرِيدٍ مِنَ العِمَارَةِ التُّرَاثِيَّةِ وَالمِعْمَارِ الحَدِيثِ.</a:t>
            </a:r>
            <a:endParaRPr lang="ar-SA"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old part built from?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 and steel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Concrete only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Clay and wood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بُنِيَ الجُزْءُ القَدِيمُ مِنَ الطِّينِ وَالخَشَبِ.</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development authorities do with old industrial areas?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Demolish them entirely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 them empty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Convert them into green spaces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تُحَوِّلُ مَنَاطِقَ صِنَاعِيَّةً قَدِيمَةً إِلَى مَسَاحَاتٍ خَضْرَاءَ.</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planning been more sustainable, cities would be less crowded</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Planning makes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Cities cannot be planned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لَوْ كَانَ التَّخْطِيطُ أَكْثَرَ اسْتِدَامَةً … لَكَانَتِ المُدُنُ أَقَلَّ اكْتِظَاظًا.</a:t>
            </a:r>
            <a:endParaRPr lang="ar-SA" sz="12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engineers plan for?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make cities bigger only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 that cities become liveable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يُخَطِّطُ المُهَنْدِسُونَ لِكَيْ تَكُونَ المُدُنُ صَالِحَةً لِلْعَيْشِ.</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tatamayyazu bi- · buniya … min · tuḥawwilu … ilā.</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analyse a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مَدِينَةً مُسْتَعْمِلًا «مَبْنِيٌّ مِنْ» وَ«يَتَمَيَّزُ بِـ».</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الَّذِي يُجَدَّدُ أَوْ يُعَادُ تَصْمِيمُهُ فِيهَا؟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الهَدَفُ العُمْرَانِيُّ؟ اسْتَعْمِلْ «لِكَيْ» + مَنْصُوبًا.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D5FBF"/>
                </a:solidFill>
                <a:latin typeface="Amiri" pitchFamily="2" charset="-78"/>
                <a:ea typeface="Amiri" pitchFamily="2" charset="-78"/>
                <a:cs typeface="Amiri" pitchFamily="2" charset="-78"/>
              </a:rPr>
              <a:t>تَتَمَيَّزُ ___ بِمَزِيجٍ مِنْ ___ ، وَأَحْيَاؤُهَا القَدِيمَةُ مَبْنِيَّةٌ مِنَ ___ .</a:t>
            </a:r>
            <a:endParaRPr lang="ar-SA" sz="10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يُعَادُ تَصْمِيمُ ___ ، وَيُحَوَّلُ ___ إِلَى ___ .</a:t>
            </a:r>
            <a:endParaRPr lang="ar-SA" sz="14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يُخَطِّطُ المُهَنْدِسُونَ لِكَيْ تَكُونَ المَدِينَةُ ___ .</a:t>
            </a:r>
            <a:endParaRPr lang="ar-SA" sz="14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مَدِينَةً.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a city.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تَتَمَيَّزُ المَدِينَةُ بِمَزِيجٍ مِنَ القَدِيمِ وَالحَدِيثِ، وَأَحْيَاؤُهَا القَدِيمَةُ مَبْنِيَّةٌ مِنَ الحَجَرِ.</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The city stands out for a mix of old and new, and its old districts are built of stone.</a:t>
            </a:r>
            <a:endParaRPr lang="en-US" sz="8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urban sentences with </a:t>
            </a:r>
            <a:pPr algn="l" indent="0" marL="0">
              <a:buNone/>
            </a:pPr>
            <a:r>
              <a:rPr lang="ar-SA" altLang="en-US" sz="1800" b="1" dirty="0">
                <a:solidFill>
                  <a:srgbClr val="1F2A37"/>
                </a:solidFill>
                <a:latin typeface="Amiri" pitchFamily="2" charset="-78"/>
                <a:ea typeface="Amiri" pitchFamily="2" charset="-78"/>
                <a:cs typeface="Amiri" pitchFamily="2" charset="-78"/>
              </a:rPr>
              <a:t>مَبْنِيٌّ مِنْ</a:t>
            </a:r>
            <a:pPr algn="l" indent="0" marL="0">
              <a:buNone/>
            </a:pPr>
            <a:r>
              <a:rPr lang="en-US" sz="1400" b="1" dirty="0">
                <a:solidFill>
                  <a:srgbClr val="1F2A37"/>
                </a:solidFill>
                <a:latin typeface="Calibri" pitchFamily="34" charset="0"/>
                <a:cs typeface="Amiri" pitchFamily="2" charset="-78"/>
              </a:rPr>
              <a:t> and the planning verbs.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five urban sentences with mabniyyun min and the planning verbs.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an urban passive and a Type 1 challenge.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an urban passive and a Type 1 challenge.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Close with a Type 2 counterfactual and a </a:t>
            </a:r>
            <a:pPr algn="l" indent="0" marL="0">
              <a:buNone/>
            </a:pPr>
            <a:r>
              <a:rPr lang="ar-SA" altLang="en-US" sz="1800" b="1" dirty="0">
                <a:solidFill>
                  <a:srgbClr val="1F2A37"/>
                </a:solidFill>
                <a:latin typeface="Amiri" pitchFamily="2" charset="-78"/>
                <a:ea typeface="Amiri" pitchFamily="2" charset="-78"/>
                <a:cs typeface="Amiri" pitchFamily="2" charset="-78"/>
              </a:rPr>
              <a:t>لِكَي</a:t>
            </a:r>
            <a:pPr algn="l" indent="0" marL="0">
              <a:buNone/>
            </a:pPr>
            <a:r>
              <a:rPr lang="en-US" sz="1400" b="1" dirty="0">
                <a:solidFill>
                  <a:srgbClr val="1F2A37"/>
                </a:solidFill>
                <a:latin typeface="Calibri" pitchFamily="34" charset="0"/>
                <a:cs typeface="Amiri" pitchFamily="2" charset="-78"/>
              </a:rPr>
              <a:t> goal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analyse a city or project with mabniyyun min, a planning verb, the passive, both conditionals and a li-kay goal.</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يُبْنَى ______ عَلَى أَطْرَافِ المَدِينَةِ.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being built on the edge of the city.</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إِذَا وَاصَلَتِ المُدُنُ التَّوَسُّعَ دُونَ تَخْطِيطٍ، سَتُعَانِي مِنْ ______ .</a:t>
            </a:r>
            <a:endParaRPr lang="ar-SA" sz="12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cities keep expanding without planning,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لَوْ كَانَ التَّخْطِيطُ أَكْثَرَ اسْتِدَامَةً، لَكَانَتِ المُدُنُ ______ .</a:t>
            </a:r>
            <a:endParaRPr lang="ar-SA" sz="13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planning been more sustainable,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تَحْتَاجُ المُدُنُ إِلَى ______ لِكَيْ تَبْقَى صَالِحَةً لِلْعَيْشِ.</a:t>
            </a:r>
            <a:endParaRPr lang="ar-SA" sz="15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Cities need … so that they remain liveable.</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تَتَمَيَّزُ مَدِينَةُ ______ بِمَزِيجٍ مِنْ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stands out for a mix of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الجُزْءُ القَدِيمُ مَبْنِيٌّ مِنَ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old part is built from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حِينِ أَنَّ المَبَانِيَ الجَدِيدَةَ مَبْنِيَّةٌ مِنَ ______ .</a:t>
            </a:r>
            <a:endParaRPr lang="ar-SA" sz="155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whereas the new buildings are built from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يُحَوِّلُ المَشْرُوعُ ______ إِلَى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project converts … into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ea typeface="Amiri" pitchFamily="2" charset="-78"/>
                <a:cs typeface="Amiri" pitchFamily="2" charset="-78"/>
              </a:rPr>
              <a:t>الحَجَرِ  ·  الطِّينِ وَالخَشَبِ  ·  الزُّجَاجِ وَالصُّلْبِ  ·  بِمَزِيجٍ مِنَ القَدِيمِ وَالحَدِيثِ  ·  المَطَارَ القَدِيمَ  ·  حَدِيقَةٍ عَامَّةٍ  ·  مَسَاحَاتٍ خَضْرَاءَ  ·  مَشْرُوعٌ ضَخْمٌ  ·  الازْدِحَامِ المُرُورِيِّ  ·  التَّلَوُّثِ الضَّوْضَائِيِّ  ·  أَقَلَّ اكْتِظَاظًا  ·  مَدِينَةٌ ذَكِيَّةٌ</a:t>
            </a:r>
            <a:endParaRPr lang="ar-SA"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one hundred to one hundred and ten words analysing a city or urban project. Use </a:t>
            </a:r>
            <a:pPr algn="l" indent="0" marL="0">
              <a:buNone/>
            </a:pPr>
            <a:r>
              <a:rPr lang="ar-SA" altLang="en-US" sz="1750" b="1" dirty="0">
                <a:solidFill>
                  <a:srgbClr val="1F2A37"/>
                </a:solidFill>
                <a:latin typeface="Amiri" pitchFamily="2" charset="-78"/>
                <a:ea typeface="Amiri" pitchFamily="2" charset="-78"/>
                <a:cs typeface="Amiri" pitchFamily="2" charset="-78"/>
              </a:rPr>
              <a:t>مَبْنِيٌّ مِنْ</a:t>
            </a:r>
            <a:pPr algn="l" indent="0" marL="0">
              <a:buNone/>
            </a:pPr>
            <a:r>
              <a:rPr lang="en-US" sz="1350" b="1" dirty="0">
                <a:solidFill>
                  <a:srgbClr val="1F2A37"/>
                </a:solidFill>
                <a:latin typeface="Calibri" pitchFamily="34" charset="0"/>
                <a:cs typeface="Amiri" pitchFamily="2" charset="-78"/>
              </a:rPr>
              <a:t>, a planning verb, the urban passive, both conditional types and a </a:t>
            </a:r>
            <a:pPr algn="l" indent="0" marL="0">
              <a:buNone/>
            </a:pPr>
            <a:r>
              <a:rPr lang="ar-SA" altLang="en-US" sz="1750" b="1" dirty="0">
                <a:solidFill>
                  <a:srgbClr val="1F2A37"/>
                </a:solidFill>
                <a:latin typeface="Amiri" pitchFamily="2" charset="-78"/>
                <a:ea typeface="Amiri" pitchFamily="2" charset="-78"/>
                <a:cs typeface="Amiri" pitchFamily="2" charset="-78"/>
              </a:rPr>
              <a:t>لِكَيْ</a:t>
            </a:r>
            <a:pPr algn="l" indent="0" marL="0">
              <a:buNone/>
            </a:pPr>
            <a:r>
              <a:rPr lang="en-US" sz="1350" b="1" dirty="0">
                <a:solidFill>
                  <a:srgbClr val="1F2A37"/>
                </a:solidFill>
                <a:latin typeface="Calibri" pitchFamily="34" charset="0"/>
                <a:cs typeface="Amiri" pitchFamily="2" charset="-78"/>
              </a:rPr>
              <a:t> goal clause.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مَبْنِيٌّ مِنْ</a:t>
            </a:r>
            <a:pPr algn="l" indent="0" marL="0">
              <a:buNone/>
            </a:pPr>
            <a:r>
              <a:rPr lang="en-US" sz="1200" dirty="0">
                <a:solidFill>
                  <a:srgbClr val="1F2A37"/>
                </a:solidFill>
                <a:latin typeface="Calibri" pitchFamily="34" charset="0"/>
                <a:cs typeface="Amiri" pitchFamily="2" charset="-78"/>
              </a:rPr>
              <a:t> and a planning verb (</a:t>
            </a:r>
            <a:pPr algn="l" indent="0" marL="0">
              <a:buNone/>
            </a:pPr>
            <a:r>
              <a:rPr lang="ar-SA" altLang="en-US" sz="1550" dirty="0">
                <a:solidFill>
                  <a:srgbClr val="1F2A37"/>
                </a:solidFill>
                <a:latin typeface="Amiri" pitchFamily="2" charset="-78"/>
                <a:ea typeface="Amiri" pitchFamily="2" charset="-78"/>
                <a:cs typeface="Amiri" pitchFamily="2" charset="-78"/>
              </a:rPr>
              <a:t>يُعِيدُ تَصْمِيمَ / يُجَدِّدُ / يُحَوِّلُ</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urban passive with a nominative subject.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challenge and a Type 2 counterfactual.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a:t>
            </a:r>
            <a:pPr algn="l" indent="0" marL="0">
              <a:buNone/>
            </a:pPr>
            <a:r>
              <a:rPr lang="ar-SA" altLang="en-US" sz="1550" dirty="0">
                <a:solidFill>
                  <a:srgbClr val="1F2A37"/>
                </a:solidFill>
                <a:latin typeface="Amiri" pitchFamily="2" charset="-78"/>
                <a:ea typeface="Amiri" pitchFamily="2" charset="-78"/>
                <a:cs typeface="Amiri" pitchFamily="2" charset="-78"/>
              </a:rPr>
              <a:t>لِكَيْ</a:t>
            </a:r>
            <a:pPr algn="l" indent="0" marL="0">
              <a:buNone/>
            </a:pPr>
            <a:r>
              <a:rPr lang="en-US" sz="1200" dirty="0">
                <a:solidFill>
                  <a:srgbClr val="1F2A37"/>
                </a:solidFill>
                <a:latin typeface="Calibri" pitchFamily="34" charset="0"/>
                <a:cs typeface="Amiri" pitchFamily="2" charset="-78"/>
              </a:rPr>
              <a:t> goal clause with the subjunctive fatḥa.</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بِمَزِيجٍ فَرِيدٍ مِنَ العِمَارَةِ التُّرَاثِيَّةِ وَالمِعْمَارِ الحَدِيثِ</a:t>
            </a:r>
            <a:endParaRPr lang="ar-SA" sz="13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a unique mix of heritage and modern architecture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فِي حِينِ أَنَّ نَاطِحَاتِ السَّحَابِ مَبْنِيَّةٌ مِنَ الزُّجَاجِ وَالصُّلْبِ</a:t>
            </a:r>
            <a:endParaRPr lang="ar-SA" sz="135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whereas the skyscrapers are built from glass and steel</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وَيُحَوَّلُ كَثِيرٌ مِنَ المَنَاطِقِ الصِّنَاعِيَّةِ إِلَى مَسَاحَاتٍ خَضْرَاءَ</a:t>
            </a:r>
            <a:endParaRPr lang="ar-SA" sz="13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many industrial areas are being converted into green spaces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سَتُعَانِي مِنِ ازْدِحَامٍ مُرُورِيٍّ وَتَلَوُّثٍ ضَوْضَائِيٍّ</a:t>
            </a:r>
            <a:endParaRPr lang="ar-SA" sz="175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will suffer from traffic congestion and noise pollution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 تَبْقَى صَالِحَةً لِلْعَيْشِ</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 they remain liveable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تَتَمَيَّزُ مَدِينَةُ دُبَيَّ بِمَزِيجٍ فَرِيدٍ مِنَ العِمَارَةِ التُّرَاثِيَّةِ وَالمِعْمَارِ الحَدِيثِ. بُنِيَ الجُزْءُ القَدِيمُ مِنَ الطِّينِ وَالخَشَبِ، فِي حِينِ أَنَّ نَاطِحَاتِ السَّحَابِ مَبْنِيَّةٌ مِنَ الزُّجَاجِ وَالصُّلْبِ. تُعِيدُ هَيْئَاتُ التَّطْوِيرِ تَصْمِيمَ أَحْيَاءٍ كَامِلَةٍ، وَيُحَوَّلُ كَثِيرٌ مِنَ المَنَاطِقِ الصِّنَاعِيَّةِ إِلَى مَسَاحَاتٍ خَضْرَاءَ. إِذَا وَاصَلَتِ المُدُنُ التَّوَسُّعَ دُونَ تَخْطِيطٍ كَافٍ، سَتُعَانِي مِنِ ازْدِحَامٍ مُرُورِيٍّ وَتَلَوُّثٍ ضَوْضَائِيٍّ. وَلَوْ كَانَ التَّخْطِيطُ أَكْثَرَ اسْتِدَامَةً مُنْذُ البِدَايَةِ، لَكَانَتِ المُدُنُ اليَوْمَ أَقَلَّ اكْتِظَاظًا. لِذٰلِكَ يُشِيرُ خُبَرَاءُ التَّخْطِيطِ إِلَى أَنَّ المُدُنَ تَحْتَاجُ إِلَى مَسَاحَاتٍ خَضْرَاءَ لِكَيْ تَبْقَى صَالِحَةً لِلْعَيْشِ.</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Dubai, the old part was built from clay and wood, whereas the skyscrapers are built from glass and steel. Development authorities are redesigning whole districts, and many industrial areas are being converted into green spaces. If cities keep expanding without enough planning, they will suffer from traffic congestion and noise pollution. Had planning been more sustainable from the start, cities would be less crowded today. So planning experts point out that cities need green spaces so that they remain liveable.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buniya … min · mabniyyatun min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tuʿīdu taṣmīm · yuḥawwalu … ilā (passive)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Type 1 and a Type 2</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li-kay tabqā + yushīr … ilā anna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mabniyyun takes min; it agrees (mabniyyatun for a feminine / non-human plural).</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yuḥawwilu has ilā; yuʿīdu taṣmīm and yujaddidu take an object.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 passive verb, the subject is nominative (-un).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have a Type 1 challenge and a Type 2 regret.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goal uses li-kay + a verb in -a (takūna · tabqā).</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نَاطِحَاتُ السَّحَابِ مَبْنِيَّةٌ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الزُّجَاجِ</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يُحَوِّلُ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يُحَوِّلُ المَشْرُوعُ المَطَارَ حَدِيقَةً.</a:t>
            </a:r>
            <a:endParaRPr lang="ar-SA" sz="19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يُحَوِّلُ المَشْرُوعُ المَطَارَ إِلَى حَدِيقَةٍ.</a:t>
            </a:r>
            <a:endParaRPr lang="ar-SA" sz="19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يُحَوِّلُ المَشْرُوعُ بِالمَطَارِ.</a:t>
            </a:r>
            <a:endParaRPr lang="ar-SA" sz="19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urban passive.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يُبْنَى مَشْرُوعٌ ضَخْمٌ عَلَى الأَطْرَافِ.</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يُبْنَى مَشْرُوعًا ضَخْمًا.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يَبْنِي مَشْرُوعٌ نَفْسَهُ.</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نَاطِحَاتُ السَّحَابِ مَبْنِيَّةٌ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الزُّجَاجِ</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مَبْنِيٌّ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يُحَوِّلُ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950" dirty="0">
                <a:solidFill>
                  <a:srgbClr val="9AA1AB"/>
                </a:solidFill>
                <a:latin typeface="Amiri" pitchFamily="2" charset="-78"/>
                <a:ea typeface="Amiri" pitchFamily="2" charset="-78"/>
                <a:cs typeface="Amiri" pitchFamily="2" charset="-78"/>
              </a:rPr>
              <a:t>يُحَوِّلُ المَشْرُوعُ المَطَارَ حَدِيقَةً.</a:t>
            </a:r>
            <a:endParaRPr lang="ar-SA" sz="19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950" b="1" dirty="0">
                <a:solidFill>
                  <a:srgbClr val="1F2A37"/>
                </a:solidFill>
                <a:latin typeface="Amiri" pitchFamily="2" charset="-78"/>
                <a:ea typeface="Amiri" pitchFamily="2" charset="-78"/>
                <a:cs typeface="Amiri" pitchFamily="2" charset="-78"/>
              </a:rPr>
              <a:t>يُحَوِّلُ المَشْرُوعُ المَطَارَ إِلَى حَدِيقَةٍ.</a:t>
            </a:r>
            <a:endParaRPr lang="ar-SA" sz="19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950" dirty="0">
                <a:solidFill>
                  <a:srgbClr val="9AA1AB"/>
                </a:solidFill>
                <a:latin typeface="Amiri" pitchFamily="2" charset="-78"/>
                <a:ea typeface="Amiri" pitchFamily="2" charset="-78"/>
                <a:cs typeface="Amiri" pitchFamily="2" charset="-78"/>
              </a:rPr>
              <a:t>يُحَوِّلُ المَشْرُوعُ بِالمَطَارِ.</a:t>
            </a:r>
            <a:endParaRPr lang="ar-SA" sz="19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يُحَوِّلُ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urban passive.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يُبْنَى مَشْرُوعٌ ضَخْمٌ عَلَى الأَطْرَافِ.</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يُبْنَى مَشْرُوعًا ضَخْمًا.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يَبْنِي مَشْرُوعٌ نَفْسَهُ.</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subject is nominative.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Reading: heritage and the modern city</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تُوَاجِهُ المُدُنُ العَرَبِيَّةُ تَحَدِّيًا بَيْنَ الحِفَاظِ عَلَى تُرَاثِهَا وَبِنَاءِ مُسْتَقْبَلِهَا. فَالأَحْيَاءُ القَدِيمَةُ مَبْنِيَّةٌ مِنَ الحَجَرِ وَالطِّينِ، وَتَحْمِلُ ذَاكِرَةَ أَجْيَالٍ. وَتُجَدِّدُ بَعْضُ المَشَارِيعِ هٰذِهِ الأَحْيَاءَ وَتُعِيدُ تَصْمِيمَهَا دُونَ أَنْ تَمْحُوَ طَابِعَهَا. وَتُبْنَى فِي المُقَابِلِ مُدُنٌ ذَكِيَّةٌ جَدِيدَةٌ عَلَى أَحْدَثِ المَعَايِيرِ. إِذَا وَازَنَتِ الحُكُومَاتُ بَيْنَ القَدِيمِ وَالجَدِيدِ، سَتَحْفَظُ هُوِيَّتَهَا وَتُوَاكِبُ العَصْرَ مَعًا. وَلَوِ اهْتَمَّتْ بِالمَسَاحَاتِ الخَضْرَاءِ مُبَكِّرًا، لَكَانَتِ المُدُنُ أَجْمَلَ وَأَصَحَّ. لِذٰلِكَ يُشِيرُ الخُبَرَاءُ إِلَى أَنَّ المُدُنَ تَحْتَاجُ إِلَى مَسَاحَاتٍ خَضْرَاءَ لِكَيْ تَبْقَى صَالِحَةً لِلْعَيْشِ.</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تُوَاجِهُ</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faces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تَحَدِّيًا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challenge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الحِفَاظِ عَلَى</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preserving</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ذَاكِرَةَ أَجْيَالٍ</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memory of generations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تَمْحُوَ</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erase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طَابِعَهَا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character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المُقَابِلِ</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the other hand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المَعَايِيرِ</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standards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هُوِيَّتَهَا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identity</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تُوَاكِبُ العَصْرَ</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keeps up with the times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challenge do Arab cities face?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building skyscrapers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Preserving heritage while building the future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preserving ruins</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old districts built from?</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 and steel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Plastic</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Stone and clay</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some projects do with old districts?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Renovate and redesign them without erasing their character</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Demolish them</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them</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Green spaces make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Had cities cared about green spaces early, they would be more beautiful and healthier</a:t>
            </a:r>
            <a:endParaRPr lang="en-US" sz="110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Cities cannot have green spaces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cities need green spaces, per the experts?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they remain liveable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decoration only</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no reason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challenge do Arab cities face?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building skyscrapers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Preserving heritage while building the future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preserving ruins</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تَحَدِّيًا بَيْنَ الحِفَاظِ عَلَى تُرَاثِهَا وَبِنَاءِ مُسْتَقْبَلِهَا.</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old districts built from?</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 and steel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Plastic</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Stone and clay</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الأَحْيَاءُ القَدِيمَةُ مَبْنِيَّةٌ مِنَ الحَجَرِ وَالطِّينِ.</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some projects do with old districts?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Renovate and redesign them without erasing their character</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Demolish them</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them</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تُجَدِّدُ … هٰذِهِ الأَحْيَاءَ وَتُعِيدُ تَصْمِيمَهَا دُونَ أَنْ تَمْحُوَ طَابِعَهَا.</a:t>
            </a:r>
            <a:endParaRPr lang="ar-SA" sz="12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Green spaces make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Had cities cared about green spaces early, they would be more beautiful and healthier</a:t>
            </a:r>
            <a:endParaRPr lang="en-US" sz="11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Cities cannot have green spaces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لَوِ اهْتَمَّتْ بِالمَسَاحَاتِ الخَضْرَاءِ مُبَكِّرًا، لَكَانَتِ المُدُنُ أَجْمَلَ وَأَصَحَّ.</a:t>
            </a:r>
            <a:endParaRPr lang="ar-SA" sz="11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cities need green spaces, per the experts?</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 that they remain liveable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decoration only</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no reason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تَحْتَاجُ إِلَى مَسَاحَاتٍ خَضْرَاءَ لِكَيْ تَبْقَى صَالِحَةً لِلْعَيْشِ.</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Urban Mission — Materials, Passive and Goal</a:t>
            </a:r>
            <a:endParaRPr lang="en-US" sz="22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Material: complete — </a:t>
            </a:r>
            <a:pPr algn="l" indent="0" marL="0">
              <a:buNone/>
            </a:pPr>
            <a:r>
              <a:rPr lang="ar-SA" altLang="en-US" sz="1650" b="1" dirty="0">
                <a:solidFill>
                  <a:srgbClr val="1B3B6F"/>
                </a:solidFill>
                <a:latin typeface="Amiri" pitchFamily="2" charset="-78"/>
                <a:ea typeface="Amiri" pitchFamily="2" charset="-78"/>
                <a:cs typeface="Amiri" pitchFamily="2" charset="-78"/>
              </a:rPr>
              <a:t>مَبْنِيٌّ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الحَجَرِ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يُحَوِّلُ المَطَارَ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حَدِيقَةٍ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حَدِيقَةً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يُخَطِّطُ المُهَنْدِسُونَ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مَدِينَةٍ ذَكِيَّةٍ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مَشْرُوعٌ ضَخْمٌ عَلَى الأَطْرَافِ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يَبْنِي</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بَنَى</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يُبْنَى</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يُخَطَّطُ لِاسْتِكْمَالِ</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المَشْرُوعِ</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المَشْرُوعَ</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المَشْرُوعُ</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Goal: complete —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المَدِينَةُ صَالِحَةً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تَكُونُ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تَكُونَ</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Material: complete — </a:t>
            </a:r>
            <a:pPr algn="l" indent="0" marL="0">
              <a:buNone/>
            </a:pPr>
            <a:r>
              <a:rPr lang="ar-SA" altLang="en-US" sz="1650" b="1" dirty="0">
                <a:solidFill>
                  <a:srgbClr val="1B3B6F"/>
                </a:solidFill>
                <a:latin typeface="Amiri" pitchFamily="2" charset="-78"/>
                <a:ea typeface="Amiri" pitchFamily="2" charset="-78"/>
                <a:cs typeface="Amiri" pitchFamily="2" charset="-78"/>
              </a:rPr>
              <a:t>مَبْنِيٌّ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الحَجَرِ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مَبْنِيٌّ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يُحَوِّلُ المَطَارَ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حَدِيقَةٍ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حَدِيقَةً</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يُحَوِّلُ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يُخَطِّطُ المُهَنْدِسُونَ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مَدِينَةٍ ذَكِيَّةٍ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لِـ</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يُخَطِّطُ</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مَشْرُوعٌ ضَخْمٌ عَلَى الأَطْرَافِ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يَبْنِي</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بَنَى</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يُبْنَى</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names no doer; the subject is nominative.</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يُخَطَّطُ لِاسْتِكْمَالِ</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المَشْرُوعِ</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المَشْرُوعَ</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المَشْرُوعُ</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the preposition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the noun is genitive.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Goal: complete —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المَدِينَةُ صَالِحَةً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تَكُونُ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تَكُونَ</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fatḥa.</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P4-L03: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P4-L03 · Climate Change and the Arab World — Causes, Impacts and Responses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تَغَيُّرُ المَنَاخِ</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climate change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شُحُّ المِيَاهِ</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water scarcity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التَّصَحُّرُ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desertification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يَخْشَى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fears that</a:t>
            </a:r>
            <a:pPr indent="0" marL="0">
              <a:buNone/>
            </a:pPr>
            <a:r>
              <a:rPr lang="en-US" sz="1000" i="1" dirty="0">
                <a:solidFill>
                  <a:srgbClr val="5A6472"/>
                </a:solidFill>
                <a:latin typeface="Calibri" pitchFamily="34" charset="0"/>
                <a:cs typeface="Amiri" pitchFamily="2" charset="-78"/>
              </a:rPr>
              <a:t>  + verb in -a</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الطَّاقَةُ الشَّمْسِيَّةُ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solar energy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is climate change affecting the Arab world — and what do you fear most?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أَخْشَى أَنْ ______ إِذَا لَمْ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urban sentences with mabniyyun min and the planning verbs.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passive (yubnā / yuḥawwalu + -un) and a Type 1 challenge (60–80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analysis of a city or urban project ending with li-kay.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P4-L02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P4-L03 · Climate Change and the Arab World — Causes, Impacts and Responses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تَغَيُّرُ المَنَاخِ وَالعَالَمُ العَرَبِيُّ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mabniyyun MIN · yuḥawwilu … ILĀ · yuʿīdu taṣmīma + object — after a passive verb the subject is -UN (yubnā mashrūʿun) — and the goal is li-kay + a verb in -a (takūna).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P4-L02 · Urban Environments — Cities, Architecture and Urban Planning</dc:title>
  <dc:subject>PptxGenJS Presentation</dc:subject>
  <dc:creator>Al Madina Online School · Arabic Department</dc:creator>
  <cp:lastModifiedBy>Al Madina Online School · Arabic Department</cp:lastModifiedBy>
  <cp:revision>1</cp:revision>
  <dcterms:created xsi:type="dcterms:W3CDTF">2026-10-11T06:43:16Z</dcterms:created>
  <dcterms:modified xsi:type="dcterms:W3CDTF">2026-10-11T06:43:16Z</dcterms:modified>
</cp:coreProperties>
</file>