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P4-L02. The website lesson “Urban Environments — Cities, Architecture and Urban Planning”: vocabulary, grammar rules and quiz, patterns, common mistakes, sorter, listening, reading, speaking prompts and model, writing task and model, differentiation, final check and the lesson mission. Picture match: website visual game “Urban Environments — Cities, Architecture and Urban Planning”.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urban sentences with mabniyyun min and the planning verbs (website Core). Develop: add an urban passive and a Type 1 challenge. Stretch: close with a Type 2 counterfactual and a li-kay goal (website 100–110 words).
• Invite students to describe their own town or a city they love (Makkah, Madinah, Istanbul, Manchester…). Keep it positive: what is built, what is renewed, what would make it better.
• The passive is the new structure: the doer disappears and the thing built becomes the subject — so it is NOMINATIVE (يُبْنَى مَشْرُوعٌ, not مَشْرُوعًا).
• Grammar links: yatamayyaz bi- (P3-L04) · the passive in reports (P3-L05) · li-kay + -a (P4-L01) · both conditionals (P3-L05).
• TEACHER-WRITTEN ITEMS: waṣl alif shown without a kasra; لِكَيْ always written with its sukūn; agreement fix in the reading (وَتُبْنَى … مُدُنٌ); rule headings and formulas in English and transliteration; game card 4 not used (its waṣl alif carries a kasra); the verb, passive and analysis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P4-L01. Questions 4–5 retrieve yaḍummu + object and li-kay + -a (P4-L01) — today li-kay sets the goal of a city plan.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passive the doer disappears — and the thing built becomes the subject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تعمیر، تجدید and ازدحام are shared. Two traps: Urdu تحویل = custody (تحویل میں), Arabic تَحْوِيلٌ = converting (يُحَوِّلُ إِلَى); Urdu منصوبہ = a plan, but Arabic مَنْصُوبٌ = the subjunctive (the -a verb) — a plan in Arabic is خُطَّةٌ or 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Urban planning (website vocabulary (1 of 2)). Hear → Say → See → Use. Transliteration is printed for Core students (cover it for Develop/Stretch).
Urban planning: the nouns of a city report. عُمْرَانِيٌّ (from عُمْرَانٌ, built environment) and حَضَرِيٌّ (urban, from حَضَرٌ) are both used for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Urban planning (website vocabulary (2 of 2)). Hear → Say → See → Use. Transliteration is printed for Core students (cover it for Develop/Stretch).
Urban planning: the nouns of a city report. عُمْرَانِيٌّ (from عُمْرَانٌ, built environment) and حَضَرِيٌّ (urban, from حَضَرٌ) are both used for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Planning verbs and materials (website vocabulary (1 of 2)). Hear → Say → See → Use. Transliteration is printed for Core students (cover it for Develop/Stretch).
Planning verbs and materials: learn each with its partner — مَبْنِيٌّ مِنْ · يَتَمَيَّزُ بِـ · يُعِيدُ تَصْمِيمَ / يُجَدِّدُ + object · يُحَوِّلُ … إِلَى · يُخَطِّطُ لِـ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Planning verbs and materials (website vocabulary (2 of 2)). Hear → Say → See → Use. Transliteration is printed for Core students (cover it for Develop/Stretch).
FLEX: teach if time allows; otherwise these are on the website vocabulary tab for homework.
Planning verbs and materials: learn each with its partner — مَبْنِيٌّ مِنْ · يَتَمَيَّزُ بِـ · يُعِيدُ تَصْمِيمَ / يُجَدِّدُ + object · يُحَوِّلُ … إِلَى · يُخَطِّطُ لِـ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urban passive and goals (website vocabulary (1 of 2)). Hear → Say → See → Use. Transliteration is printed for Core students (cover it for Develop/Stretch).
FLEX: teach if time allows; otherwise these are on the website vocabulary tab for homework.
The urban passive and goals: يُبْنَى · يُخَطَّطُ · يُعَادُ تَصْمِيمُهُ · يُحَوَّلُ إِلَى — the subject after them is nominative (-un). Population density is more often called الكَثَافَةُ السُّكَّانِيَّةُ.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urban passive and goals (website vocabulary (2 of 2)). Hear → Say → See → Use. Transliteration is printed for Core students (cover it for Develop/Stretch).
FLEX: teach if time allows; otherwise these are on the website vocabulary tab for homework.
The urban passive and goals: يُبْنَى · يُخَطَّطُ · يُعَادُ تَصْمِيمُهُ · يُحَوَّلُ إِلَى — the subject after them is nominative (-un). Population density is more often called الكَثَافَةُ السُّكَّانِيَّةُ.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“Materials and features” and “Planning verbs”, the vocabulary notes and mistakes 1–2. Examples from the website quiz, listening and reading.
مَبْنِيٌّ is an adjective (passive participle) — it agrees: البُرْجُ مَبْنِيٌّ · نَاطِحَاتُ السَّحَابِ مَبْنِيَّةٌ (non-human plural = feminine singular).
يُعِيدُ تَصْمِيمَ is literally “repeats the design of” — the place is in the genitive after تَصْمِيمَ: تَصْمِيمَ المِنْطَقَةِ.
Accuracy note for teachers: Dubai’s historic Al Fahidi district was built mainly from coral stone, gypsum and palm wood; the website simplifies this to “clay and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“Urban passive”, teaching point 1 and quiz 3. Examples from the website listening, reading, speaking and writing model.
The passive vowel pattern: present يُفْعَلُ (yu-…-a-) · past فُعِلَ (u-…-i-). Hollow verb: يُعِيدُ → يُعَادُ (long ā).
Row 6 — website correction: the reading has وَيُبْنَى … مُدُنٌ ذَكِيَّةٌ; a non-human plural takes a feminine verb, so وَتُبْنَى.
Row 3: يُخَطَّطُ لِـ has no subject at all (“it is planned to …”) — an impersonal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“Goal clause”, teaching point 2 and the listening (cards 1–2).
تَكُونَ is a hollow verb: تَكُونُ → تَكُونَ (the long ū stays). After li-kay تَكُونَ is followed by its predicate in the accusative: صَالِحَةً · أَكْثَرَ اسْتِدَامَةً.
Card 1: دُونَ = without (+ noun); دُونَ أَنْ + a verb in -a (website reading: دُونَ أَنْ تَمْحُوَ).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reading and writing model.
Row 1: فِي حِينِ أَنَّ + an accusative noun — نَاطِحَاتِ ends in -i because a sound feminine plural takes -i in the accusative.
Row 3: يَمْحُو (to erase) → أَنْ تَمْحُوَ — weak verbs in -ū add -a: تَمْحُوَ · تَدْعُوَ.
Stretch: write one sentence comparing the old and new parts of a city you know with فِي حِينِ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“مَبْنِيٌّ مِنْ and the planning verbs, the urban passive with a nominative subject, and the لِكَيْ goal clause with its subjunctive.”
• Materials and features: Say what a building is made of and its features.
• Planning verbs: Redesign, renovate and convert.
• Urban passive: No named doer; the subject is nominative.
• Goal clause: State the planning goal with a subjunctive.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“Materials: buniya … MIN, mabniyyatun MIN. Change: tuʿīdu taṣmīma + object; the passive yuḥawwalu — the subject kathīrun is -UN. A risk: idhā … SA-. A regret: law … LA-. The goal: li-kay tabqā — a verb in -ā shows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Urban Environments — Cities, Architecture and Urban Planning”)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Then turn each into a goal with li-kay: نُنْشِئُ حَدَائِقَ لِكَيْ تَكُونَ المَدِينَةُ أَجْمَلَ · نُطَوِّرُ النَّقْلَ العَامَّ لِكَيْ يَقِلَّ الازْدِحَامُ · نَبْنِي مَمَرَّاتٍ لِكَيْ يَمْشِيَ النَّاسُ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Urban Environments — Cities, Architecture and Urban Planning”)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Then turn each into a goal with li-kay: نُنْشِئُ حَدَائِقَ لِكَيْ تَكُونَ المَدِينَةُ أَجْمَلَ · نُطَوِّرُ النَّقْلَ العَامَّ لِكَيْ يَقِلَّ الازْدِحَامُ · نَبْنِي مَمَرَّاتٍ لِكَيْ يَمْشِيَ النَّاسُ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an urban analysis from a material, a planning action and a goal.” Website feedback: any three different combinations work.
Core: read row 1 across. Develop: find the two passives in column 2 (يُحَوَّلُ · يُبْنَى) and their nominative subjects (كَثِيرٌ · مَشْرُوعٌ). Stretch: column 3 row 3 uses a passive in the condition (إِذَا خُطِّطَ) — write your own: إِذَا بُنِيَتْ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join one card from each column: … مَبْنِيٌّ مِنْ … ، وَيُعِيدُ المَشْرُوعُ تَصْمِيمَهُ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join one card from each column: … مَبْنِيٌّ مِنْ … ، وَيُعِيدُ المَشْرُوعُ تَصْمِيمَهُ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one passive verb you hear.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Website prompts and model. Pair task: “city planner” — each student presents one change to their own town (passive + li-kay), the partner asks: لِمَاذَا؟ To a girl: صِفِي · مُسْتَعْمِلَةً · اسْتَعْمِلِي. Core stem: … بِمَزِيجٍ مِنَ القَدِيمِ وَالحَدِيثِ.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تَتَمَيَّزُ … بِمَزِيجٍ · بُنِيَ … مِنَ · مَبْنِيَّةٌ مِنَ · تُعِيدُ … تَصْمِيمَ · وَيُحَوَّلُ كَثِيرٌ … إِلَى · إِذَا وَاصَلَتِ … سَتُعَانِي · لَوْ كَانَ … لَكَانَتِ · يُشِيرُ … إِلَى أَنَّ · لِكَيْ تَبْقَى.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(P4-L03 · Climate Change and the Arab World — Causes, Impacts and Responses) will spend class time USING this language, so students prepare it tonight — short, simple, easy to access (school guidance: “Simple, Short, Interesting, Relevant, Easy to access”). The five words come from the website P4-L03 vocabulary (climate change).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Urban Environments — Cities, Architecture and Urban Planning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ea typeface="Amiri" pitchFamily="2" charset="-78"/>
                <a:cs typeface="Amiri" pitchFamily="2" charset="-78"/>
              </a:rPr>
              <a:t>البِيئَاتُ الحَضَرِيَّةُ — المُدُنُ وَالعِمَارَةُ وَالتَّخْطِيطُ العُمْرَانِيُّ</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Analyse a city: mabniyyun min for materials, the planning verbs (yuʿīdu taṣmīm · yujaddidu · yuḥawwilu ilā), the urban passive with a nominative subject (yubnā mashrūʿun), and a goal with li-kay takūna.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P4-L02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Materials and planning verbs, the urban passive, goals with li-kay, the language of urban analysis.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city scenes, build an urban analysis, sort material / planning / passive and goal.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تَخْطِيطٌ عُمْرَانِيٌّ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site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urban planning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architect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حَيٌّ سَكَنِيٌّ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residential district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living creature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quiet street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الازْدِحَامُ المُرُورِيُّ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road safety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traffic light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traffic congestion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بِآلَافِ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لِآلَافِ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آلَافَ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سَنَحْمِي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تَخْطِيطٌ عُمْرَانِيٌّ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site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urban planning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architect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حَيٌّ سَكَنِيٌّ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residential district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living creature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quiet street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الازْدِحَامُ المُرُورِيُّ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road safety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traffic light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traffic congestion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بِآلَافِ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لِآلَافِ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آلَافَ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P4-L01: yaḍummu + direct object.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سَنَحْمِي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P4-L01: after li-kay,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the passive the doer disappears — and the thing built becomes the subject (-un).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يَبْنِي المُهَنْدِسُونَ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مَشْرُوعًا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يُبْنَى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مَشْرُوعٌ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urban-planning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buildings are made of with mabniyyun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change with the planning verbs and the urban passive.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planning goal with li-kay + a verb in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urban-planning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building is made of (mabniyyun min).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planning verbs with their partners.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urban passive with a nominative subject.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goal with li-kay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urban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Urban planning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Planning verbs and materials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urban passive and goals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تَعْمِيرٌ · عُمْرَانِيٌّ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‎تعمیر‎ </a:t>
            </a:r>
            <a:pPr indent="0" marL="0">
              <a:buNone/>
            </a:pPr>
            <a:r>
              <a:rPr lang="en-US" sz="950" b="1" dirty="0">
                <a:solidFill>
                  <a:srgbClr val="2E8B57"/>
                </a:solidFill>
                <a:latin typeface="Calibri" pitchFamily="34" charset="0"/>
                <a:cs typeface="Amiri" pitchFamily="2" charset="-78"/>
              </a:rPr>
              <a:t> taʿmīr · construction · urban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تَجْدِيدٌ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‎تجدید‎ </a:t>
            </a:r>
            <a:pPr indent="0" marL="0">
              <a:buNone/>
            </a:pPr>
            <a:r>
              <a:rPr lang="en-US" sz="950" b="1" dirty="0">
                <a:solidFill>
                  <a:srgbClr val="2E8B57"/>
                </a:solidFill>
                <a:latin typeface="Calibri" pitchFamily="34" charset="0"/>
                <a:cs typeface="Amiri" pitchFamily="2" charset="-78"/>
              </a:rPr>
              <a:t> tajdīd · renewal, renovation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ازْدِحَامٌ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‎ازدحام‎ </a:t>
            </a:r>
            <a:pPr indent="0" marL="0">
              <a:buNone/>
            </a:pPr>
            <a:r>
              <a:rPr lang="en-US" sz="950" b="1" dirty="0">
                <a:solidFill>
                  <a:srgbClr val="2E8B57"/>
                </a:solidFill>
                <a:latin typeface="Calibri" pitchFamily="34" charset="0"/>
                <a:cs typeface="Amiri" pitchFamily="2" charset="-78"/>
              </a:rPr>
              <a:t> izdihām · crowding, congestion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تَحْوِيلٌ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‎تحویل‎ </a:t>
            </a:r>
            <a:pPr indent="0" marL="0">
              <a:buNone/>
            </a:pPr>
            <a:r>
              <a:rPr lang="en-US" sz="950" b="1" dirty="0">
                <a:solidFill>
                  <a:srgbClr val="2E8B57"/>
                </a:solidFill>
                <a:latin typeface="Calibri" pitchFamily="34" charset="0"/>
                <a:cs typeface="Amiri" pitchFamily="2" charset="-78"/>
              </a:rPr>
              <a:t> tahwīl · Arabic: conversion · Urdu: custody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مَنْصُوبٌ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‎منصوبہ‎ </a:t>
            </a:r>
            <a:pPr indent="0" marL="0">
              <a:buNone/>
            </a:pPr>
            <a:r>
              <a:rPr lang="en-US" sz="950" b="1" dirty="0">
                <a:solidFill>
                  <a:srgbClr val="2E8B57"/>
                </a:solidFill>
                <a:latin typeface="Calibri" pitchFamily="34" charset="0"/>
                <a:cs typeface="Amiri" pitchFamily="2" charset="-78"/>
              </a:rPr>
              <a:t> mansūba · Arabic: subjunctive · Urdu: a plan!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Urban planning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تَخْطِيطٌ عُمْرَانِيٌّ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planning</a:t>
            </a:r>
            <a:endParaRPr lang="en-US" sz="1350" dirty="0"/>
          </a:p>
          <a:p>
            <a:pPr indent="0" marL="0">
              <a:buNone/>
            </a:pPr>
            <a:r>
              <a:rPr lang="en-US" sz="1100" i="1" dirty="0">
                <a:solidFill>
                  <a:srgbClr val="5A6472"/>
                </a:solidFill>
                <a:latin typeface="Calibri" pitchFamily="34" charset="0"/>
                <a:cs typeface="Amiri" pitchFamily="2" charset="-78"/>
              </a:rPr>
              <a:t>takh-ṭī-ṭun ʿum-rā-niy-yun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تَطْوِيرٌ حَضَرِيٌّ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development</a:t>
            </a:r>
            <a:endParaRPr lang="en-US" sz="1350" dirty="0"/>
          </a:p>
          <a:p>
            <a:pPr indent="0" marL="0">
              <a:buNone/>
            </a:pPr>
            <a:r>
              <a:rPr lang="en-US" sz="1100" i="1" dirty="0">
                <a:solidFill>
                  <a:srgbClr val="5A6472"/>
                </a:solidFill>
                <a:latin typeface="Calibri" pitchFamily="34" charset="0"/>
                <a:cs typeface="Amiri" pitchFamily="2" charset="-78"/>
              </a:rPr>
              <a:t>taṭ-wī-run ḥa-ḍa-riy-yun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تَجْدِيدٌ حَضَرِيٌّ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renewal</a:t>
            </a:r>
            <a:endParaRPr lang="en-US" sz="1350" dirty="0"/>
          </a:p>
          <a:p>
            <a:pPr indent="0" marL="0">
              <a:buNone/>
            </a:pPr>
            <a:r>
              <a:rPr lang="en-US" sz="1100" i="1" dirty="0">
                <a:solidFill>
                  <a:srgbClr val="5A6472"/>
                </a:solidFill>
                <a:latin typeface="Calibri" pitchFamily="34" charset="0"/>
                <a:cs typeface="Amiri" pitchFamily="2" charset="-78"/>
              </a:rPr>
              <a:t>taj-dī-dun ḥa-ḍa-riy-yun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 سَكَنِيٌّ</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residential district</a:t>
            </a:r>
            <a:endParaRPr lang="en-US" sz="1350" dirty="0"/>
          </a:p>
          <a:p>
            <a:pPr indent="0" marL="0">
              <a:buNone/>
            </a:pPr>
            <a:r>
              <a:rPr lang="en-US" sz="1100" i="1" dirty="0">
                <a:solidFill>
                  <a:srgbClr val="5A6472"/>
                </a:solidFill>
                <a:latin typeface="Calibri" pitchFamily="34" charset="0"/>
                <a:cs typeface="Amiri" pitchFamily="2" charset="-78"/>
              </a:rPr>
              <a:t>ḥay-yun sa-ka-niy-yun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أَحْيَاءٌ سَكَنِيَّةٌ</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Urban planning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تَحْتِيَّةٌ حَضَرِيَّةٌ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infrastructure</a:t>
            </a:r>
            <a:endParaRPr lang="en-US" sz="1350" dirty="0"/>
          </a:p>
          <a:p>
            <a:pPr indent="0" marL="0">
              <a:buNone/>
            </a:pPr>
            <a:r>
              <a:rPr lang="en-US" sz="1100" i="1" dirty="0">
                <a:solidFill>
                  <a:srgbClr val="5A6472"/>
                </a:solidFill>
                <a:latin typeface="Calibri" pitchFamily="34" charset="0"/>
                <a:cs typeface="Amiri" pitchFamily="2" charset="-78"/>
              </a:rPr>
              <a:t>bin-ya-tun taḥ-tiy-ya-tun ḥa-ḍa-riy-ya-tun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مَسَاحَاتٌ خَضْرَاءُ حَضَرِيَّةٌ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green spaces</a:t>
            </a:r>
            <a:endParaRPr lang="en-US" sz="1350" dirty="0"/>
          </a:p>
          <a:p>
            <a:pPr indent="0" marL="0">
              <a:buNone/>
            </a:pPr>
            <a:r>
              <a:rPr lang="en-US" sz="1100" i="1" dirty="0">
                <a:solidFill>
                  <a:srgbClr val="5A6472"/>
                </a:solidFill>
                <a:latin typeface="Calibri" pitchFamily="34" charset="0"/>
                <a:cs typeface="Amiri" pitchFamily="2" charset="-78"/>
              </a:rPr>
              <a:t>ma-sā-ḥā-tun khaḍ-rā-ʾu ḥa-ḍa-riy-ya-tun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مَسَاحَةٌ خَضْرَاءُ حَضَرِيَّةٌ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 ذَكِيَّةٌ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smart city</a:t>
            </a:r>
            <a:endParaRPr lang="en-US" sz="1350" dirty="0"/>
          </a:p>
          <a:p>
            <a:pPr indent="0" marL="0">
              <a:buNone/>
            </a:pPr>
            <a:r>
              <a:rPr lang="en-US" sz="1100" i="1" dirty="0">
                <a:solidFill>
                  <a:srgbClr val="5A6472"/>
                </a:solidFill>
                <a:latin typeface="Calibri" pitchFamily="34" charset="0"/>
                <a:cs typeface="Amiri" pitchFamily="2" charset="-78"/>
              </a:rPr>
              <a:t>ma-dī-na-tun dha-kiy-ya-tun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مُدُنٌ ذَكِيَّةٌ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نَسِيجٌ عُمْرَانِيٌّ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urban fabric</a:t>
            </a:r>
            <a:endParaRPr lang="en-US" sz="1350" dirty="0"/>
          </a:p>
          <a:p>
            <a:pPr indent="0" marL="0">
              <a:buNone/>
            </a:pPr>
            <a:r>
              <a:rPr lang="en-US" sz="1100" i="1" dirty="0">
                <a:solidFill>
                  <a:srgbClr val="5A6472"/>
                </a:solidFill>
                <a:latin typeface="Calibri" pitchFamily="34" charset="0"/>
                <a:cs typeface="Amiri" pitchFamily="2" charset="-78"/>
              </a:rPr>
              <a:t>na-sī-jun ʿum-rā-niy-yun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Planning verbs and materials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from</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 non-human pl.</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مَبْنِيَّةٌ مِنْ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يَتَمَيَّزُ بِـ</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تَتَمَيَّزُ بِـ</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يُعِيدُ تَصْمِيمَ</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redesigns</a:t>
            </a:r>
            <a:endParaRPr lang="en-US" sz="1350" dirty="0"/>
          </a:p>
          <a:p>
            <a:pPr indent="0" marL="0">
              <a:buNone/>
            </a:pPr>
            <a:r>
              <a:rPr lang="en-US" sz="1100" i="1" dirty="0">
                <a:solidFill>
                  <a:srgbClr val="5A6472"/>
                </a:solidFill>
                <a:latin typeface="Calibri" pitchFamily="34" charset="0"/>
                <a:cs typeface="Amiri" pitchFamily="2" charset="-78"/>
              </a:rPr>
              <a:t>yu-ʿī-du taṣ-mī-ma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تُعِيدُ تَصْمِيمَ</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يُجَدِّدُ</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renovates</a:t>
            </a:r>
            <a:endParaRPr lang="en-US" sz="1350" dirty="0"/>
          </a:p>
          <a:p>
            <a:pPr indent="0" marL="0">
              <a:buNone/>
            </a:pPr>
            <a:r>
              <a:rPr lang="en-US" sz="1100" i="1" dirty="0">
                <a:solidFill>
                  <a:srgbClr val="5A6472"/>
                </a:solidFill>
                <a:latin typeface="Calibri" pitchFamily="34" charset="0"/>
                <a:cs typeface="Amiri" pitchFamily="2" charset="-78"/>
              </a:rPr>
              <a:t>yu-jad-di-du</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تُجَدِّدُ</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Planning verbs and materials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يُحَوِّلُ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converts into</a:t>
            </a:r>
            <a:endParaRPr lang="en-US" sz="1350" dirty="0"/>
          </a:p>
          <a:p>
            <a:pPr indent="0" marL="0">
              <a:buNone/>
            </a:pPr>
            <a:r>
              <a:rPr lang="en-US" sz="1100" i="1" dirty="0">
                <a:solidFill>
                  <a:srgbClr val="5A6472"/>
                </a:solidFill>
                <a:latin typeface="Calibri" pitchFamily="34" charset="0"/>
                <a:cs typeface="Amiri" pitchFamily="2" charset="-78"/>
              </a:rPr>
              <a:t>yu-ḥaw-wi-lu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تُحَوِّلُ إِلَى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يُخَطِّطُ لِـ</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plans for</a:t>
            </a:r>
            <a:endParaRPr lang="en-US" sz="1350" dirty="0"/>
          </a:p>
          <a:p>
            <a:pPr indent="0" marL="0">
              <a:buNone/>
            </a:pPr>
            <a:r>
              <a:rPr lang="en-US" sz="1100" i="1" dirty="0">
                <a:solidFill>
                  <a:srgbClr val="5A6472"/>
                </a:solidFill>
                <a:latin typeface="Calibri" pitchFamily="34" charset="0"/>
                <a:cs typeface="Amiri" pitchFamily="2" charset="-78"/>
              </a:rPr>
              <a:t>yu-khaṭ-ṭi-ṭu li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تُخَطِّطُ لِـ</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تُؤَدِّي إِلَى</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الازْدِحَامُ المُرُورِيُّ</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congestion</a:t>
            </a:r>
            <a:endParaRPr lang="en-US" sz="1350" dirty="0"/>
          </a:p>
          <a:p>
            <a:pPr indent="0" marL="0">
              <a:buNone/>
            </a:pPr>
            <a:r>
              <a:rPr lang="en-US" sz="1100" i="1" dirty="0">
                <a:solidFill>
                  <a:srgbClr val="5A6472"/>
                </a:solidFill>
                <a:latin typeface="Calibri" pitchFamily="34" charset="0"/>
                <a:cs typeface="Amiri" pitchFamily="2" charset="-78"/>
              </a:rPr>
              <a:t>alz-di-ḥā-mu al-mu-rū-riy-yu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urban passive and goals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يُبْنَى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built</a:t>
            </a:r>
            <a:endParaRPr lang="en-US" sz="1350" dirty="0"/>
          </a:p>
          <a:p>
            <a:pPr indent="0" marL="0">
              <a:buNone/>
            </a:pPr>
            <a:r>
              <a:rPr lang="en-US" sz="1100" i="1" dirty="0">
                <a:solidFill>
                  <a:srgbClr val="5A6472"/>
                </a:solidFill>
                <a:latin typeface="Calibri" pitchFamily="34" charset="0"/>
                <a:cs typeface="Amiri" pitchFamily="2" charset="-78"/>
              </a:rPr>
              <a:t>yub-nā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تُبْنَى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يُخَطَّطُ</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planned</a:t>
            </a:r>
            <a:endParaRPr lang="en-US" sz="1350" dirty="0"/>
          </a:p>
          <a:p>
            <a:pPr indent="0" marL="0">
              <a:buNone/>
            </a:pPr>
            <a:r>
              <a:rPr lang="en-US" sz="1100" i="1" dirty="0">
                <a:solidFill>
                  <a:srgbClr val="5A6472"/>
                </a:solidFill>
                <a:latin typeface="Calibri" pitchFamily="34" charset="0"/>
                <a:cs typeface="Amiri" pitchFamily="2" charset="-78"/>
              </a:rPr>
              <a:t>yu-khaṭ-ṭa-ṭu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تُخَطَّطُ</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(m · 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يُعَادُ تَصْمِيمُهُ</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redesigned</a:t>
            </a:r>
            <a:endParaRPr lang="en-US" sz="1350" dirty="0"/>
          </a:p>
          <a:p>
            <a:pPr indent="0" marL="0">
              <a:buNone/>
            </a:pPr>
            <a:r>
              <a:rPr lang="en-US" sz="1100" i="1" dirty="0">
                <a:solidFill>
                  <a:srgbClr val="5A6472"/>
                </a:solidFill>
                <a:latin typeface="Calibri" pitchFamily="34" charset="0"/>
                <a:cs typeface="Amiri" pitchFamily="2" charset="-78"/>
              </a:rPr>
              <a:t>yu-ʿā-du taṣ-mī-mu-hu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يُعَادُ تَصْمِيمُهَا</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يُحَوَّلُ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converted into</a:t>
            </a:r>
            <a:endParaRPr lang="en-US" sz="1350" dirty="0"/>
          </a:p>
          <a:p>
            <a:pPr indent="0" marL="0">
              <a:buNone/>
            </a:pPr>
            <a:r>
              <a:rPr lang="en-US" sz="1100" i="1" dirty="0">
                <a:solidFill>
                  <a:srgbClr val="5A6472"/>
                </a:solidFill>
                <a:latin typeface="Calibri" pitchFamily="34" charset="0"/>
                <a:cs typeface="Amiri" pitchFamily="2" charset="-78"/>
              </a:rPr>
              <a:t>yu-ḥaw-wa-lu i-lā</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تُحَوَّلُ إِلَى</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urban passive and goals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التَّرَاصُّ السُّكَّانِيُّ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population density</a:t>
            </a:r>
            <a:endParaRPr lang="en-US" sz="1350" dirty="0"/>
          </a:p>
          <a:p>
            <a:pPr indent="0" marL="0">
              <a:buNone/>
            </a:pPr>
            <a:r>
              <a:rPr lang="en-US" sz="1100" i="1" dirty="0">
                <a:solidFill>
                  <a:srgbClr val="5A6472"/>
                </a:solidFill>
                <a:latin typeface="Calibri" pitchFamily="34" charset="0"/>
                <a:cs typeface="Amiri" pitchFamily="2" charset="-78"/>
              </a:rPr>
              <a:t>at-ta-rāṣ-ṣu as-suk-kā-niy-yu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التَّلَوُّثُ الضَّوْضَائِيُّ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noise pollution</a:t>
            </a:r>
            <a:endParaRPr lang="en-US" sz="1350" dirty="0"/>
          </a:p>
          <a:p>
            <a:pPr indent="0" marL="0">
              <a:buNone/>
            </a:pPr>
            <a:r>
              <a:rPr lang="en-US" sz="1100" i="1" dirty="0">
                <a:solidFill>
                  <a:srgbClr val="5A6472"/>
                </a:solidFill>
                <a:latin typeface="Calibri" pitchFamily="34" charset="0"/>
                <a:cs typeface="Amiri" pitchFamily="2" charset="-78"/>
              </a:rPr>
              <a:t>at-ta-law-wu-thu aḍ-ḍaw-ḍā-ʾiy-yu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Subjunctive تَكُونَ.</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تَكُونَ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becomes</a:t>
            </a:r>
            <a:endParaRPr lang="en-US" sz="1350" dirty="0"/>
          </a:p>
          <a:p>
            <a:pPr indent="0" marL="0">
              <a:buNone/>
            </a:pPr>
            <a:r>
              <a:rPr lang="en-US" sz="1100" i="1" dirty="0">
                <a:solidFill>
                  <a:srgbClr val="5A6472"/>
                </a:solidFill>
                <a:latin typeface="Calibri" pitchFamily="34" charset="0"/>
                <a:cs typeface="Amiri" pitchFamily="2" charset="-78"/>
              </a:rPr>
              <a:t>li-kay ta-kū-na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صَالِحٌ لِلْعَيْشِ</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liveable</a:t>
            </a:r>
            <a:endParaRPr lang="en-US" sz="1350" dirty="0"/>
          </a:p>
          <a:p>
            <a:pPr indent="0" marL="0">
              <a:buNone/>
            </a:pPr>
            <a:r>
              <a:rPr lang="en-US" sz="1100" i="1" dirty="0">
                <a:solidFill>
                  <a:srgbClr val="5A6472"/>
                </a:solidFill>
                <a:latin typeface="Calibri" pitchFamily="34" charset="0"/>
                <a:cs typeface="Amiri" pitchFamily="2" charset="-78"/>
              </a:rPr>
              <a:t>ṣā-li-ḥun lil-ʿay-shi</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صَالِحَةٌ لِلْعَيْشِ</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MATERIALS AND PLANNING VERBS (WEBSITE RULES 1–2 + VOCABULARY NOTES)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Made of … and changed into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وَأَفْعَالُ التَّخْطِيطِ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7365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9077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نَاطِحَاتُ السَّحَابِ مَبْنِيَّةٌ </a:t>
            </a:r>
            <a:pPr rtl="1" algn="ctr" indent="0" marL="0">
              <a:buNone/>
            </a:pPr>
            <a:r>
              <a:rPr lang="ar-SA" altLang="en-US" sz="1800" b="1" dirty="0">
                <a:solidFill>
                  <a:srgbClr val="7B3FA0"/>
                </a:solidFill>
                <a:latin typeface="Amiri" pitchFamily="2" charset="-78"/>
                <a:ea typeface="Amiri" pitchFamily="2" charset="-78"/>
                <a:cs typeface="Amiri" pitchFamily="2" charset="-78"/>
              </a:rPr>
              <a:t>مِنَ</a:t>
            </a:r>
            <a:pPr rtl="1" algn="ctr" indent="0" marL="0">
              <a:buNone/>
            </a:pPr>
            <a:r>
              <a:rPr lang="ar-SA" altLang="en-US" sz="1800" b="1" dirty="0">
                <a:solidFill>
                  <a:srgbClr val="1B3B6F"/>
                </a:solidFill>
                <a:latin typeface="Amiri" pitchFamily="2" charset="-78"/>
                <a:ea typeface="Amiri" pitchFamily="2" charset="-78"/>
                <a:cs typeface="Amiri" pitchFamily="2" charset="-78"/>
              </a:rPr>
              <a:t> الزُّجَاجِ وَالصُّلْبِ.</a:t>
            </a:r>
            <a:endParaRPr lang="ar-SA" sz="1800" dirty="0"/>
          </a:p>
        </p:txBody>
      </p:sp>
      <p:sp>
        <p:nvSpPr>
          <p:cNvPr id="22" name="Text 19"/>
          <p:cNvSpPr txBox="1"/>
          <p:nvPr/>
        </p:nvSpPr>
        <p:spPr>
          <a:xfrm>
            <a:off x="477316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23" name="Text 20"/>
          <p:cNvSpPr txBox="1"/>
          <p:nvPr/>
        </p:nvSpPr>
        <p:spPr>
          <a:xfrm>
            <a:off x="294436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built from</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مَبْنِيٌّ مِنْ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المَدِينَةُ </a:t>
            </a:r>
            <a:pPr rtl="1" algn="ctr" indent="0" marL="0">
              <a:buNone/>
            </a:pPr>
            <a:r>
              <a:rPr lang="ar-SA" altLang="en-US" sz="1800" b="1" dirty="0">
                <a:solidFill>
                  <a:srgbClr val="0E7C86"/>
                </a:solidFill>
                <a:latin typeface="Amiri" pitchFamily="2" charset="-78"/>
                <a:ea typeface="Amiri" pitchFamily="2" charset="-78"/>
                <a:cs typeface="Amiri" pitchFamily="2" charset="-78"/>
              </a:rPr>
              <a:t>بِمَزِيجٍ</a:t>
            </a:r>
            <a:pPr rtl="1" algn="ctr" indent="0" marL="0">
              <a:buNone/>
            </a:pPr>
            <a:r>
              <a:rPr lang="ar-SA" altLang="en-US" sz="1800" b="1" dirty="0">
                <a:solidFill>
                  <a:srgbClr val="1B3B6F"/>
                </a:solidFill>
                <a:latin typeface="Amiri" pitchFamily="2" charset="-78"/>
                <a:ea typeface="Amiri" pitchFamily="2" charset="-78"/>
                <a:cs typeface="Amiri" pitchFamily="2" charset="-78"/>
              </a:rPr>
              <a:t> مِنَ القَدِيمِ وَالحَدِيثِ.</a:t>
            </a:r>
            <a:endParaRPr lang="ar-SA" sz="1800" dirty="0"/>
          </a:p>
        </p:txBody>
      </p:sp>
      <p:sp>
        <p:nvSpPr>
          <p:cNvPr id="29" name="Text 26"/>
          <p:cNvSpPr txBox="1"/>
          <p:nvPr/>
        </p:nvSpPr>
        <p:spPr>
          <a:xfrm>
            <a:off x="477316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0" name="Text 27"/>
          <p:cNvSpPr txBox="1"/>
          <p:nvPr/>
        </p:nvSpPr>
        <p:spPr>
          <a:xfrm>
            <a:off x="294436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stands out for</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يَتَمَيَّزُ بِـ</a:t>
            </a:r>
            <a:endParaRPr lang="ar-SA" sz="20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تُعِيدُ الهَيْئَاتُ تَصْمِيمَ </a:t>
            </a:r>
            <a:pPr rtl="1" algn="ctr" indent="0" marL="0">
              <a:buNone/>
            </a:pPr>
            <a:r>
              <a:rPr lang="ar-SA" altLang="en-US" sz="1800" b="1" dirty="0">
                <a:solidFill>
                  <a:srgbClr val="1D5FBF"/>
                </a:solidFill>
                <a:latin typeface="Amiri" pitchFamily="2" charset="-78"/>
                <a:ea typeface="Amiri" pitchFamily="2" charset="-78"/>
                <a:cs typeface="Amiri" pitchFamily="2" charset="-78"/>
              </a:rPr>
              <a:t>أَحْيَاءٍ</a:t>
            </a:r>
            <a:pPr rtl="1" algn="ctr" indent="0" marL="0">
              <a:buNone/>
            </a:pPr>
            <a:r>
              <a:rPr lang="ar-SA" altLang="en-US" sz="1800" b="1" dirty="0">
                <a:solidFill>
                  <a:srgbClr val="1B3B6F"/>
                </a:solidFill>
                <a:latin typeface="Amiri" pitchFamily="2" charset="-78"/>
                <a:ea typeface="Amiri" pitchFamily="2" charset="-78"/>
                <a:cs typeface="Amiri" pitchFamily="2" charset="-78"/>
              </a:rPr>
              <a:t> كَامِلَةٍ.</a:t>
            </a:r>
            <a:endParaRPr lang="ar-SA" sz="1800" dirty="0"/>
          </a:p>
        </p:txBody>
      </p:sp>
      <p:sp>
        <p:nvSpPr>
          <p:cNvPr id="34" name="Text 31"/>
          <p:cNvSpPr txBox="1"/>
          <p:nvPr/>
        </p:nvSpPr>
        <p:spPr>
          <a:xfrm>
            <a:off x="477316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5" name="Text 32"/>
          <p:cNvSpPr txBox="1"/>
          <p:nvPr/>
        </p:nvSpPr>
        <p:spPr>
          <a:xfrm>
            <a:off x="294436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redesigns</a:t>
            </a:r>
            <a:endParaRPr lang="en-US" sz="1100" dirty="0"/>
          </a:p>
        </p:txBody>
      </p:sp>
      <p:sp>
        <p:nvSpPr>
          <p:cNvPr id="36" name="Text 33"/>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يُعِيدُ تَصْمِيمَ</a:t>
            </a:r>
            <a:endParaRPr lang="ar-SA" sz="20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تُجَدِّدُ المَشَارِيعُ </a:t>
            </a:r>
            <a:pPr rtl="1" algn="ctr" indent="0" marL="0">
              <a:buNone/>
            </a:pPr>
            <a:r>
              <a:rPr lang="ar-SA" altLang="en-US" sz="1800" b="1" dirty="0">
                <a:solidFill>
                  <a:srgbClr val="1D5FBF"/>
                </a:solidFill>
                <a:latin typeface="Amiri" pitchFamily="2" charset="-78"/>
                <a:ea typeface="Amiri" pitchFamily="2" charset="-78"/>
                <a:cs typeface="Amiri" pitchFamily="2" charset="-78"/>
              </a:rPr>
              <a:t>الأَحْيَاءَ</a:t>
            </a:r>
            <a:pPr rtl="1" algn="ctr" indent="0" marL="0">
              <a:buNone/>
            </a:pPr>
            <a:r>
              <a:rPr lang="ar-SA" altLang="en-US" sz="1800" b="1" dirty="0">
                <a:solidFill>
                  <a:srgbClr val="1B3B6F"/>
                </a:solidFill>
                <a:latin typeface="Amiri" pitchFamily="2" charset="-78"/>
                <a:ea typeface="Amiri" pitchFamily="2" charset="-78"/>
                <a:cs typeface="Amiri" pitchFamily="2" charset="-78"/>
              </a:rPr>
              <a:t> القَدِيمَةَ.</a:t>
            </a:r>
            <a:endParaRPr lang="ar-SA" sz="1800" dirty="0"/>
          </a:p>
        </p:txBody>
      </p:sp>
      <p:sp>
        <p:nvSpPr>
          <p:cNvPr id="41" name="Text 38"/>
          <p:cNvSpPr txBox="1"/>
          <p:nvPr/>
        </p:nvSpPr>
        <p:spPr>
          <a:xfrm>
            <a:off x="477316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2" name="Text 39"/>
          <p:cNvSpPr txBox="1"/>
          <p:nvPr/>
        </p:nvSpPr>
        <p:spPr>
          <a:xfrm>
            <a:off x="294436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renovates</a:t>
            </a:r>
            <a:endParaRPr lang="en-US" sz="1100" dirty="0"/>
          </a:p>
        </p:txBody>
      </p:sp>
      <p:sp>
        <p:nvSpPr>
          <p:cNvPr id="43" name="Text 40"/>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يُجَدِّدُ</a:t>
            </a:r>
            <a:endParaRPr lang="ar-SA" sz="20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يُحَوِّلُ المَشْرُوعُ المَطَارَ القَدِيمَ </a:t>
            </a:r>
            <a:pPr rtl="1" algn="ctr" indent="0" marL="0">
              <a:buNone/>
            </a:pPr>
            <a:r>
              <a:rPr lang="ar-SA" altLang="en-US" sz="1800" b="1" dirty="0">
                <a:solidFill>
                  <a:srgbClr val="D6336C"/>
                </a:solidFill>
                <a:latin typeface="Amiri" pitchFamily="2" charset="-78"/>
                <a:ea typeface="Amiri" pitchFamily="2" charset="-78"/>
                <a:cs typeface="Amiri" pitchFamily="2" charset="-78"/>
              </a:rPr>
              <a:t>إِلَى</a:t>
            </a:r>
            <a:pPr rtl="1" algn="ctr" indent="0" marL="0">
              <a:buNone/>
            </a:pPr>
            <a:r>
              <a:rPr lang="ar-SA" altLang="en-US" sz="1800" b="1" dirty="0">
                <a:solidFill>
                  <a:srgbClr val="1B3B6F"/>
                </a:solidFill>
                <a:latin typeface="Amiri" pitchFamily="2" charset="-78"/>
                <a:ea typeface="Amiri" pitchFamily="2" charset="-78"/>
                <a:cs typeface="Amiri" pitchFamily="2" charset="-78"/>
              </a:rPr>
              <a:t> حَدِيقَةٍ.</a:t>
            </a:r>
            <a:endParaRPr lang="ar-SA" sz="1800" dirty="0"/>
          </a:p>
        </p:txBody>
      </p:sp>
      <p:sp>
        <p:nvSpPr>
          <p:cNvPr id="46" name="Text 43"/>
          <p:cNvSpPr txBox="1"/>
          <p:nvPr/>
        </p:nvSpPr>
        <p:spPr>
          <a:xfrm>
            <a:off x="477316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 ilā</a:t>
            </a:r>
            <a:endParaRPr lang="en-US" sz="1100" dirty="0"/>
          </a:p>
        </p:txBody>
      </p:sp>
      <p:sp>
        <p:nvSpPr>
          <p:cNvPr id="47" name="Text 44"/>
          <p:cNvSpPr txBox="1"/>
          <p:nvPr/>
        </p:nvSpPr>
        <p:spPr>
          <a:xfrm>
            <a:off x="294436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converts into</a:t>
            </a:r>
            <a:endParaRPr lang="en-US" sz="1100" dirty="0"/>
          </a:p>
        </p:txBody>
      </p:sp>
      <p:sp>
        <p:nvSpPr>
          <p:cNvPr id="48" name="Text 45"/>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يُحَوِّلُ … إِلَى</a:t>
            </a:r>
            <a:endParaRPr lang="ar-SA" sz="20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يُخَطِّطُ المُهَنْدِسُونَ </a:t>
            </a:r>
            <a:pPr rtl="1" algn="ctr" indent="0" marL="0">
              <a:buNone/>
            </a:pPr>
            <a:r>
              <a:rPr lang="ar-SA" altLang="en-US" sz="1800" b="1" dirty="0">
                <a:solidFill>
                  <a:srgbClr val="C77700"/>
                </a:solidFill>
                <a:latin typeface="Amiri" pitchFamily="2" charset="-78"/>
                <a:ea typeface="Amiri" pitchFamily="2" charset="-78"/>
                <a:cs typeface="Amiri" pitchFamily="2" charset="-78"/>
              </a:rPr>
              <a:t>لِمَدِينَةٍ</a:t>
            </a:r>
            <a:pPr rtl="1" algn="ctr" indent="0" marL="0">
              <a:buNone/>
            </a:pPr>
            <a:r>
              <a:rPr lang="ar-SA" altLang="en-US" sz="1800" b="1" dirty="0">
                <a:solidFill>
                  <a:srgbClr val="1B3B6F"/>
                </a:solidFill>
                <a:latin typeface="Amiri" pitchFamily="2" charset="-78"/>
                <a:ea typeface="Amiri" pitchFamily="2" charset="-78"/>
                <a:cs typeface="Amiri" pitchFamily="2" charset="-78"/>
              </a:rPr>
              <a:t> ذَكِيَّةٍ.</a:t>
            </a:r>
            <a:endParaRPr lang="ar-SA" sz="1800" dirty="0"/>
          </a:p>
        </p:txBody>
      </p:sp>
      <p:sp>
        <p:nvSpPr>
          <p:cNvPr id="53" name="Text 50"/>
          <p:cNvSpPr txBox="1"/>
          <p:nvPr/>
        </p:nvSpPr>
        <p:spPr>
          <a:xfrm>
            <a:off x="477316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t>
            </a:r>
            <a:endParaRPr lang="en-US" sz="1100" dirty="0"/>
          </a:p>
        </p:txBody>
      </p:sp>
      <p:sp>
        <p:nvSpPr>
          <p:cNvPr id="54" name="Text 51"/>
          <p:cNvSpPr txBox="1"/>
          <p:nvPr/>
        </p:nvSpPr>
        <p:spPr>
          <a:xfrm>
            <a:off x="294436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plans for</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يُخَطِّطُ لِـ</a:t>
            </a:r>
            <a:endParaRPr lang="ar-SA" sz="20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mabniyya bi-l-zujāj ✗ → min al-zujāj ✓ · yuḥawwilu l-maṭāra ḥadīqatan ✗ → ilā ḥadīqatin ✓.</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URBAN PASSIVE (WEBSITE RULE 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doer disappears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010912" y="1810512"/>
            <a:ext cx="6647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029200" y="2267712"/>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يُبْنَى </a:t>
            </a:r>
            <a:pPr rtl="1" algn="ctr" indent="0" marL="0">
              <a:buNone/>
            </a:pPr>
            <a:r>
              <a:rPr lang="ar-SA" altLang="en-US" sz="1800" b="1" dirty="0">
                <a:solidFill>
                  <a:srgbClr val="0E7C86"/>
                </a:solidFill>
                <a:latin typeface="Amiri" pitchFamily="2" charset="-78"/>
                <a:ea typeface="Amiri" pitchFamily="2" charset="-78"/>
                <a:cs typeface="Amiri" pitchFamily="2" charset="-78"/>
              </a:rPr>
              <a:t>مَشْرُوعٌ ضَخْمٌ</a:t>
            </a:r>
            <a:pPr rtl="1" algn="ctr" indent="0" marL="0">
              <a:buNone/>
            </a:pPr>
            <a:r>
              <a:rPr lang="ar-SA" altLang="en-US" sz="1800" b="1" dirty="0">
                <a:solidFill>
                  <a:srgbClr val="1B3B6F"/>
                </a:solidFill>
                <a:latin typeface="Amiri" pitchFamily="2" charset="-78"/>
                <a:ea typeface="Amiri" pitchFamily="2" charset="-78"/>
                <a:cs typeface="Amiri" pitchFamily="2" charset="-78"/>
              </a:rPr>
              <a:t> عَلَى أَطْرَافِ المَدِينَةِ.</a:t>
            </a:r>
            <a:endParaRPr lang="ar-SA" sz="1800" dirty="0"/>
          </a:p>
        </p:txBody>
      </p:sp>
      <p:sp>
        <p:nvSpPr>
          <p:cNvPr id="21" name="Text 18"/>
          <p:cNvSpPr txBox="1"/>
          <p:nvPr/>
        </p:nvSpPr>
        <p:spPr>
          <a:xfrm>
            <a:off x="2651760" y="226771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يُبْنَى</a:t>
            </a:r>
            <a:endParaRPr lang="ar-SA" sz="2000" dirty="0"/>
          </a:p>
        </p:txBody>
      </p:sp>
      <p:sp>
        <p:nvSpPr>
          <p:cNvPr id="22" name="Text 19"/>
          <p:cNvSpPr txBox="1"/>
          <p:nvPr/>
        </p:nvSpPr>
        <p:spPr>
          <a:xfrm>
            <a:off x="548640" y="2267712"/>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يَبْنِي</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029200" y="2881884"/>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بُنِيَ </a:t>
            </a:r>
            <a:pPr rtl="1" algn="ctr" indent="0" marL="0">
              <a:buNone/>
            </a:pPr>
            <a:r>
              <a:rPr lang="ar-SA" altLang="en-US" sz="1800" b="1" dirty="0">
                <a:solidFill>
                  <a:srgbClr val="0E7C86"/>
                </a:solidFill>
                <a:latin typeface="Amiri" pitchFamily="2" charset="-78"/>
                <a:ea typeface="Amiri" pitchFamily="2" charset="-78"/>
                <a:cs typeface="Amiri" pitchFamily="2" charset="-78"/>
              </a:rPr>
              <a:t>الجُزْءُ القَدِيمُ</a:t>
            </a:r>
            <a:pPr rtl="1" algn="ctr" indent="0" marL="0">
              <a:buNone/>
            </a:pPr>
            <a:r>
              <a:rPr lang="ar-SA" altLang="en-US" sz="1800" b="1" dirty="0">
                <a:solidFill>
                  <a:srgbClr val="1B3B6F"/>
                </a:solidFill>
                <a:latin typeface="Amiri" pitchFamily="2" charset="-78"/>
                <a:ea typeface="Amiri" pitchFamily="2" charset="-78"/>
                <a:cs typeface="Amiri" pitchFamily="2" charset="-78"/>
              </a:rPr>
              <a:t> مِنَ الطِّينِ وَالخَشَبِ.</a:t>
            </a:r>
            <a:endParaRPr lang="ar-SA" sz="1800" dirty="0"/>
          </a:p>
        </p:txBody>
      </p:sp>
      <p:sp>
        <p:nvSpPr>
          <p:cNvPr id="27" name="Text 24"/>
          <p:cNvSpPr txBox="1"/>
          <p:nvPr/>
        </p:nvSpPr>
        <p:spPr>
          <a:xfrm>
            <a:off x="2651760" y="2881884"/>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بُنِيَ</a:t>
            </a:r>
            <a:endParaRPr lang="ar-SA" sz="2000" dirty="0"/>
          </a:p>
        </p:txBody>
      </p:sp>
      <p:sp>
        <p:nvSpPr>
          <p:cNvPr id="28" name="Text 25"/>
          <p:cNvSpPr txBox="1"/>
          <p:nvPr/>
        </p:nvSpPr>
        <p:spPr>
          <a:xfrm>
            <a:off x="548640" y="2881884"/>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بَنَى</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029200" y="3496056"/>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يُخَطَّطُ لِاسْتِكْمَالِ المَشْرُوعِ.</a:t>
            </a:r>
            <a:endParaRPr lang="ar-SA" sz="1800" dirty="0"/>
          </a:p>
        </p:txBody>
      </p:sp>
      <p:sp>
        <p:nvSpPr>
          <p:cNvPr id="33" name="Text 30"/>
          <p:cNvSpPr txBox="1"/>
          <p:nvPr/>
        </p:nvSpPr>
        <p:spPr>
          <a:xfrm>
            <a:off x="2651760" y="3496056"/>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يُخَطَّطُ</a:t>
            </a:r>
            <a:endParaRPr lang="ar-SA" sz="2000" dirty="0"/>
          </a:p>
        </p:txBody>
      </p:sp>
      <p:sp>
        <p:nvSpPr>
          <p:cNvPr id="34" name="Text 31"/>
          <p:cNvSpPr txBox="1"/>
          <p:nvPr/>
        </p:nvSpPr>
        <p:spPr>
          <a:xfrm>
            <a:off x="548640" y="3496056"/>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يُخَطِّطُ</a:t>
            </a:r>
            <a:endParaRPr lang="ar-SA" sz="20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029200" y="4110228"/>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يُعَادُ </a:t>
            </a:r>
            <a:pPr rtl="1" algn="ctr" indent="0" marL="0">
              <a:buNone/>
            </a:pPr>
            <a:r>
              <a:rPr lang="ar-SA" altLang="en-US" sz="1800" b="1" dirty="0">
                <a:solidFill>
                  <a:srgbClr val="0E7C86"/>
                </a:solidFill>
                <a:latin typeface="Amiri" pitchFamily="2" charset="-78"/>
                <a:ea typeface="Amiri" pitchFamily="2" charset="-78"/>
                <a:cs typeface="Amiri" pitchFamily="2" charset="-78"/>
              </a:rPr>
              <a:t>تَصْمِيمُ</a:t>
            </a:r>
            <a:pPr rtl="1" algn="ctr" indent="0" marL="0">
              <a:buNone/>
            </a:pPr>
            <a:r>
              <a:rPr lang="ar-SA" altLang="en-US" sz="1800" b="1" dirty="0">
                <a:solidFill>
                  <a:srgbClr val="1B3B6F"/>
                </a:solidFill>
                <a:latin typeface="Amiri" pitchFamily="2" charset="-78"/>
                <a:ea typeface="Amiri" pitchFamily="2" charset="-78"/>
                <a:cs typeface="Amiri" pitchFamily="2" charset="-78"/>
              </a:rPr>
              <a:t> الأَحْيَاءِ لِكَيْ تَكُونَ صَالِحَةً لِلْعَيْشِ.</a:t>
            </a:r>
            <a:endParaRPr lang="ar-SA" sz="1800" dirty="0"/>
          </a:p>
        </p:txBody>
      </p:sp>
      <p:sp>
        <p:nvSpPr>
          <p:cNvPr id="37" name="Text 34"/>
          <p:cNvSpPr txBox="1"/>
          <p:nvPr/>
        </p:nvSpPr>
        <p:spPr>
          <a:xfrm>
            <a:off x="2651760" y="4110228"/>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يُعَادُ تَصْمِيمُ</a:t>
            </a:r>
            <a:endParaRPr lang="ar-SA" sz="2000" dirty="0"/>
          </a:p>
        </p:txBody>
      </p:sp>
      <p:sp>
        <p:nvSpPr>
          <p:cNvPr id="38" name="Text 35"/>
          <p:cNvSpPr txBox="1"/>
          <p:nvPr/>
        </p:nvSpPr>
        <p:spPr>
          <a:xfrm>
            <a:off x="548640" y="4110228"/>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يُعِيدُ تَصْمِيمَ</a:t>
            </a:r>
            <a:endParaRPr lang="ar-SA" sz="20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029200" y="4724400"/>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يُحَوَّلُ </a:t>
            </a:r>
            <a:pPr rtl="1" algn="ctr" indent="0" marL="0">
              <a:buNone/>
            </a:pPr>
            <a:r>
              <a:rPr lang="ar-SA" altLang="en-US" sz="1800" b="1" dirty="0">
                <a:solidFill>
                  <a:srgbClr val="0E7C86"/>
                </a:solidFill>
                <a:latin typeface="Amiri" pitchFamily="2" charset="-78"/>
                <a:ea typeface="Amiri" pitchFamily="2" charset="-78"/>
                <a:cs typeface="Amiri" pitchFamily="2" charset="-78"/>
              </a:rPr>
              <a:t>كَثِيرٌ</a:t>
            </a:r>
            <a:pPr rtl="1" algn="ctr" indent="0" marL="0">
              <a:buNone/>
            </a:pPr>
            <a:r>
              <a:rPr lang="ar-SA" altLang="en-US" sz="1800" b="1" dirty="0">
                <a:solidFill>
                  <a:srgbClr val="1B3B6F"/>
                </a:solidFill>
                <a:latin typeface="Amiri" pitchFamily="2" charset="-78"/>
                <a:ea typeface="Amiri" pitchFamily="2" charset="-78"/>
                <a:cs typeface="Amiri" pitchFamily="2" charset="-78"/>
              </a:rPr>
              <a:t> مِنَ المَنَاطِقِ الصِّنَاعِيَّةِ إِلَى مَسَاحَاتٍ خَضْرَاءَ.</a:t>
            </a:r>
            <a:endParaRPr lang="ar-SA" sz="1800" dirty="0"/>
          </a:p>
        </p:txBody>
      </p:sp>
      <p:sp>
        <p:nvSpPr>
          <p:cNvPr id="41" name="Text 38"/>
          <p:cNvSpPr txBox="1"/>
          <p:nvPr/>
        </p:nvSpPr>
        <p:spPr>
          <a:xfrm>
            <a:off x="2651760" y="4724400"/>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يُحَوَّلُ</a:t>
            </a:r>
            <a:endParaRPr lang="ar-SA" sz="2000" dirty="0"/>
          </a:p>
        </p:txBody>
      </p:sp>
      <p:sp>
        <p:nvSpPr>
          <p:cNvPr id="42" name="Text 39"/>
          <p:cNvSpPr txBox="1"/>
          <p:nvPr/>
        </p:nvSpPr>
        <p:spPr>
          <a:xfrm>
            <a:off x="548640" y="4724400"/>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يُحَوِّلُ</a:t>
            </a:r>
            <a:endParaRPr lang="ar-SA" sz="20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029200" y="5338572"/>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وَتُبْنَى فِي المُقَابِلِ </a:t>
            </a:r>
            <a:pPr rtl="1" algn="ctr" indent="0" marL="0">
              <a:buNone/>
            </a:pPr>
            <a:r>
              <a:rPr lang="ar-SA" altLang="en-US" sz="1800" b="1" dirty="0">
                <a:solidFill>
                  <a:srgbClr val="0E7C86"/>
                </a:solidFill>
                <a:latin typeface="Amiri" pitchFamily="2" charset="-78"/>
                <a:ea typeface="Amiri" pitchFamily="2" charset="-78"/>
                <a:cs typeface="Amiri" pitchFamily="2" charset="-78"/>
              </a:rPr>
              <a:t>مُدُنٌ ذَكِيَّةٌ</a:t>
            </a:r>
            <a:pPr rtl="1" algn="ctr" indent="0" marL="0">
              <a:buNone/>
            </a:pPr>
            <a:r>
              <a:rPr lang="ar-SA" altLang="en-US" sz="1800" b="1" dirty="0">
                <a:solidFill>
                  <a:srgbClr val="1B3B6F"/>
                </a:solidFill>
                <a:latin typeface="Amiri" pitchFamily="2" charset="-78"/>
                <a:ea typeface="Amiri" pitchFamily="2" charset="-78"/>
                <a:cs typeface="Amiri" pitchFamily="2" charset="-78"/>
              </a:rPr>
              <a:t> جَدِيدَةٌ.</a:t>
            </a:r>
            <a:endParaRPr lang="ar-SA" sz="1800" dirty="0"/>
          </a:p>
        </p:txBody>
      </p:sp>
      <p:sp>
        <p:nvSpPr>
          <p:cNvPr id="45" name="Text 42"/>
          <p:cNvSpPr txBox="1"/>
          <p:nvPr/>
        </p:nvSpPr>
        <p:spPr>
          <a:xfrm>
            <a:off x="2651760" y="533857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تُبْنَى</a:t>
            </a:r>
            <a:endParaRPr lang="ar-SA" sz="2000" dirty="0"/>
          </a:p>
        </p:txBody>
      </p:sp>
      <p:sp>
        <p:nvSpPr>
          <p:cNvPr id="46" name="Text 43"/>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تَبْنِي</a:t>
            </a:r>
            <a:pPr algn="l" indent="0" marL="0">
              <a:buNone/>
            </a:pPr>
            <a:r>
              <a:rPr lang="en-US" sz="1100" dirty="0">
                <a:solidFill>
                  <a:srgbClr val="5A6472"/>
                </a:solidFill>
                <a:latin typeface="Calibri" pitchFamily="34" charset="0"/>
                <a:cs typeface="Amiri" pitchFamily="2" charset="-78"/>
              </a:rPr>
              <a:t> (f.)</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new subject is nominative (-un): yubnā mashrūʿun ✓ · yubnā mashrūʿan ✗ (website quiz 3).</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CHALLENGE, REGRET, GOAL (WEBSITE RULE 4 + TEACHING POINT 2 + LISTENING)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problem to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التَّحَدِّي · الافْتِرَاضُ · الهَدَفُ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CHALLENGE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وَاصَلَتِ المُدُنُ التَّوَسُّعَ دُونَ تَخْطِيطٍ، سَتُعَانِي مِنْ تَلَوُّثٍ ضَوْضَائِيٍّ.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cities keep expanding without planning, they will suffer noise pollution.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real risk.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 التَّخْطِيطُ أَكْثَرَ اسْتِدَامَةً، لَكَانَتِ المُدُنُ أَقَلَّ اكْتِظَاظًا.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planning been more sustainable, cities would be less crowded.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GOAL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تَكُونَ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يُخَطِّطُ المُهَنْدِسُونَ لِكَيْ تَكُونَ المُدُنُ صَالِحَةً لِلْعَيْشِ.</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Engineers plan so that cities become liveable.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takūnu → takūna.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لِكَيْ تَكُونَ المَدِينَةُ صَالِحَةً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لِكَيْ تَكُونُ المَدِينَةُ صَالِحَةً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URBAN ANALYSIS (WEBSITE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side by side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التَّحْلِيلِ العُمْرَانِيِّ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Effect</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بُنِيَ الجُزْءُ القَدِيمُ مِنَ الطِّينِ، </a:t>
            </a:r>
            <a:pPr rtl="1" algn="ctr" indent="0" marL="0">
              <a:buNone/>
            </a:pPr>
            <a:r>
              <a:rPr lang="ar-SA" altLang="en-US" sz="1800" b="1" dirty="0">
                <a:solidFill>
                  <a:srgbClr val="C77700"/>
                </a:solidFill>
                <a:latin typeface="Amiri" pitchFamily="2" charset="-78"/>
                <a:ea typeface="Amiri" pitchFamily="2" charset="-78"/>
                <a:cs typeface="Amiri" pitchFamily="2" charset="-78"/>
              </a:rPr>
              <a:t>فِي حِينِ أَنَّ</a:t>
            </a:r>
            <a:pPr rtl="1" algn="ctr" indent="0" marL="0">
              <a:buNone/>
            </a:pPr>
            <a:r>
              <a:rPr lang="ar-SA" altLang="en-US" sz="1800" b="1" dirty="0">
                <a:solidFill>
                  <a:srgbClr val="1B3B6F"/>
                </a:solidFill>
                <a:latin typeface="Amiri" pitchFamily="2" charset="-78"/>
                <a:ea typeface="Amiri" pitchFamily="2" charset="-78"/>
                <a:cs typeface="Amiri" pitchFamily="2" charset="-78"/>
              </a:rPr>
              <a:t> نَاطِحَاتِ السَّحَابِ مَبْنِيَّةٌ مِنَ الزُّجَاجِ.</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تُوَاجِهُ المُدُنُ تَحَدِّيًا </a:t>
            </a:r>
            <a:pPr rtl="1" algn="ctr" indent="0" marL="0">
              <a:buNone/>
            </a:pPr>
            <a:r>
              <a:rPr lang="ar-SA" altLang="en-US" sz="1800" b="1" dirty="0">
                <a:solidFill>
                  <a:srgbClr val="7B3FA0"/>
                </a:solidFill>
                <a:latin typeface="Amiri" pitchFamily="2" charset="-78"/>
                <a:ea typeface="Amiri" pitchFamily="2" charset="-78"/>
                <a:cs typeface="Amiri" pitchFamily="2" charset="-78"/>
              </a:rPr>
              <a:t>بَيْنَ</a:t>
            </a:r>
            <a:pPr rtl="1" algn="ctr" indent="0" marL="0">
              <a:buNone/>
            </a:pPr>
            <a:r>
              <a:rPr lang="ar-SA" altLang="en-US" sz="1800" b="1" dirty="0">
                <a:solidFill>
                  <a:srgbClr val="1B3B6F"/>
                </a:solidFill>
                <a:latin typeface="Amiri" pitchFamily="2" charset="-78"/>
                <a:ea typeface="Amiri" pitchFamily="2" charset="-78"/>
                <a:cs typeface="Amiri" pitchFamily="2" charset="-78"/>
              </a:rPr>
              <a:t> الحِفَاظِ عَلَى تُرَاثِهَا </a:t>
            </a:r>
            <a:pPr rtl="1" algn="ctr" indent="0" marL="0">
              <a:buNone/>
            </a:pPr>
            <a:r>
              <a:rPr lang="ar-SA" altLang="en-US" sz="1800" b="1" dirty="0">
                <a:solidFill>
                  <a:srgbClr val="7B3FA0"/>
                </a:solidFill>
                <a:latin typeface="Amiri" pitchFamily="2" charset="-78"/>
                <a:ea typeface="Amiri" pitchFamily="2" charset="-78"/>
                <a:cs typeface="Amiri" pitchFamily="2" charset="-78"/>
              </a:rPr>
              <a:t>وَ</a:t>
            </a:r>
            <a:pPr rtl="1" algn="ctr" indent="0" marL="0">
              <a:buNone/>
            </a:pPr>
            <a:r>
              <a:rPr lang="ar-SA" altLang="en-US" sz="1800" b="1" dirty="0">
                <a:solidFill>
                  <a:srgbClr val="1B3B6F"/>
                </a:solidFill>
                <a:latin typeface="Amiri" pitchFamily="2" charset="-78"/>
                <a:ea typeface="Amiri" pitchFamily="2" charset="-78"/>
                <a:cs typeface="Amiri" pitchFamily="2" charset="-78"/>
              </a:rPr>
              <a:t>بِنَاءِ مُسْتَقْبَلِهَا.</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challenge between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 (ū → uwa)</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تُعِيدُ تَصْمِيمَهَا </a:t>
            </a:r>
            <a:pPr rtl="1" algn="ctr" indent="0" marL="0">
              <a:buNone/>
            </a:pPr>
            <a:r>
              <a:rPr lang="ar-SA" altLang="en-US" sz="1800" b="1" dirty="0">
                <a:solidFill>
                  <a:srgbClr val="D6336C"/>
                </a:solidFill>
                <a:latin typeface="Amiri" pitchFamily="2" charset="-78"/>
                <a:ea typeface="Amiri" pitchFamily="2" charset="-78"/>
                <a:cs typeface="Amiri" pitchFamily="2" charset="-78"/>
              </a:rPr>
              <a:t>دُونَ أَنْ تَمْحُوَ</a:t>
            </a:r>
            <a:pPr rtl="1" algn="ctr" indent="0" marL="0">
              <a:buNone/>
            </a:pPr>
            <a:r>
              <a:rPr lang="ar-SA" altLang="en-US" sz="1800" b="1" dirty="0">
                <a:solidFill>
                  <a:srgbClr val="1B3B6F"/>
                </a:solidFill>
                <a:latin typeface="Amiri" pitchFamily="2" charset="-78"/>
                <a:ea typeface="Amiri" pitchFamily="2" charset="-78"/>
                <a:cs typeface="Amiri" pitchFamily="2" charset="-78"/>
              </a:rPr>
              <a:t> طَابِعَهَا.</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without -ing</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وَفِي المُقَابِلِ</a:t>
            </a:r>
            <a:pPr rtl="1" algn="ctr" indent="0" marL="0">
              <a:buNone/>
            </a:pPr>
            <a:r>
              <a:rPr lang="ar-SA" altLang="en-US" sz="1800" b="1" dirty="0">
                <a:solidFill>
                  <a:srgbClr val="1B3B6F"/>
                </a:solidFill>
                <a:latin typeface="Amiri" pitchFamily="2" charset="-78"/>
                <a:ea typeface="Amiri" pitchFamily="2" charset="-78"/>
                <a:cs typeface="Amiri" pitchFamily="2" charset="-78"/>
              </a:rPr>
              <a:t>، تُبْنَى مُدُنٌ ذَكِيَّةٌ عَلَى أَحْدَثِ المَعَايِيرِ.</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other hand</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يُشِيرُ الخُبَرَاءُ إِلَى أَنَّ</a:t>
            </a:r>
            <a:pPr rtl="1" algn="ctr" indent="0" marL="0">
              <a:buNone/>
            </a:pPr>
            <a:r>
              <a:rPr lang="ar-SA" altLang="en-US" sz="1800" b="1" dirty="0">
                <a:solidFill>
                  <a:srgbClr val="1B3B6F"/>
                </a:solidFill>
                <a:latin typeface="Amiri" pitchFamily="2" charset="-78"/>
                <a:ea typeface="Amiri" pitchFamily="2" charset="-78"/>
                <a:cs typeface="Amiri" pitchFamily="2" charset="-78"/>
              </a:rPr>
              <a:t> المُدُنَ تَحْتَاجُ إِلَى مَسَاحَاتٍ خَضْرَاءَ.</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experts say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urban analysis weighs the old against the new, then closes with experts and a goal.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Materials, the urban passive and the goal clause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المَوَادُّ وَالمَبْنِيُّ لِلْمَجْهُولِ وَجُمْلَةُ الغَرَضِ</a:t>
            </a:r>
            <a:endParaRPr lang="ar-SA" sz="24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mabniyyun min · yatamayyazu bi-</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yuʿīdu taṣmīm · yujaddidu · yuḥawwilu ilā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yubnā / yukhaṭṭaṭu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يُبْنَى مَشْرُوعٌ ضَخْمٌ عَلَى أَطْرَافِ المَدِينَةِ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نَاطِحَاتُ السَّحَابِ مَبْنِيَّةٌ ___ الزُّجَاجِ وَالصُّلْبِ.</a:t>
            </a:r>
            <a:endParaRPr lang="ar-SA" sz="13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المَشْرُوعُ المَطَارَ القَدِيمَ إِلَى حَدِيقَةٍ.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المَشْرُوعُ المَطَارَ القَدِيمَ حَدِيقَةً.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المَشْرُوعُ بِالمَطَارِ القَدِيمِ.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مَشْرُوعًا ضَخْمًا عَلَى الأَطْرَافِ.</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 ضَخْمٌ عَلَى الأَطْرَافِ.</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يَبْنِي مَشْرُوعٌ ضَخْمٌ نَفْسَهُ.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يُخَطِّطُونَ لِكَيْ ___ المَدِينَةُ صَالِحَةً لِلْعَيْشِ.</a:t>
            </a:r>
            <a:endParaRPr lang="ar-SA" sz="14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نَاطِحَاتُ السَّحَابِ مَبْنِيَّةٌ ___ الزُّجَاجِ وَالصُّلْبِ.</a:t>
            </a:r>
            <a:endParaRPr lang="ar-SA" sz="13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يُحَوِّلُ المَشْرُوعُ المَطَارَ القَدِيمَ إِلَى حَدِيقَةٍ.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يُحَوِّلُ المَشْرُوعُ المَطَارَ القَدِيمَ حَدِيقَةً.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يُحَوِّلُ المَشْرُوعُ بِالمَطَارِ القَدِيمِ.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يُبْنَى مَشْرُوعًا ضَخْمًا عَلَى الأَطْرَافِ.</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يُبْنَى مَشْرُوعٌ ضَخْمٌ عَلَى الأَطْرَافِ.</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يَبْنِي مَشْرُوعٌ ضَخْمٌ نَفْسَهُ.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يُخَطِّطُونَ لِكَيْ ___ المَدِينَةُ صَالِحَةً لِلْعَيْشِ.</a:t>
            </a:r>
            <a:endParaRPr lang="ar-SA" sz="14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تَكُونَ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تَكُونُ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تَكُونَ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Materials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2" charset="-78"/>
                <a:ea typeface="Amiri" pitchFamily="2" charset="-78"/>
                <a:cs typeface="Amiri" pitchFamily="2" charset="-78"/>
              </a:rPr>
              <a:t>بُنِيَ</a:t>
            </a:r>
            <a:pPr rtl="1" algn="ctr" indent="0" marL="0">
              <a:buNone/>
            </a:pPr>
            <a:r>
              <a:rPr lang="ar-SA" altLang="en-US" sz="2300" b="1" dirty="0">
                <a:solidFill>
                  <a:srgbClr val="1B3B6F"/>
                </a:solidFill>
                <a:latin typeface="Amiri" pitchFamily="2" charset="-78"/>
                <a:ea typeface="Amiri" pitchFamily="2" charset="-78"/>
                <a:cs typeface="Amiri" pitchFamily="2" charset="-78"/>
              </a:rPr>
              <a:t> … مِنَ · </a:t>
            </a:r>
            <a:pPr rtl="1" algn="ctr" indent="0" marL="0">
              <a:buNone/>
            </a:pPr>
            <a:r>
              <a:rPr lang="ar-SA" altLang="en-US" sz="2300" b="1" dirty="0">
                <a:solidFill>
                  <a:srgbClr val="7B3FA0"/>
                </a:solidFill>
                <a:latin typeface="Amiri" pitchFamily="2" charset="-78"/>
                <a:ea typeface="Amiri" pitchFamily="2" charset="-78"/>
                <a:cs typeface="Amiri" pitchFamily="2" charset="-78"/>
              </a:rPr>
              <a:t>مَبْنِيَّةٌ مِنَ</a:t>
            </a:r>
            <a:pPr rtl="1" algn="ctr" indent="0" marL="0">
              <a:buNone/>
            </a:pPr>
            <a:r>
              <a:rPr lang="ar-SA" altLang="en-US" sz="2300" b="1" dirty="0">
                <a:solidFill>
                  <a:srgbClr val="1B3B6F"/>
                </a:solidFill>
                <a:latin typeface="Amiri" pitchFamily="2" charset="-78"/>
                <a:cs typeface="Amiri" pitchFamily="2" charset="-78"/>
              </a:rPr>
              <a:t>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Change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تُعِيدُ تَصْمِيمَ</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1D5FBF"/>
                </a:solidFill>
                <a:latin typeface="Amiri" pitchFamily="2" charset="-78"/>
                <a:ea typeface="Amiri" pitchFamily="2" charset="-78"/>
                <a:cs typeface="Amiri" pitchFamily="2" charset="-78"/>
              </a:rPr>
              <a:t>يُحَوَّلُ</a:t>
            </a:r>
            <a:pPr rtl="1" algn="ctr" indent="0" marL="0">
              <a:buNone/>
            </a:pPr>
            <a:r>
              <a:rPr lang="ar-SA" altLang="en-US" sz="2100" b="1" dirty="0">
                <a:solidFill>
                  <a:srgbClr val="1B3B6F"/>
                </a:solidFill>
                <a:latin typeface="Amiri" pitchFamily="2" charset="-78"/>
                <a:ea typeface="Amiri" pitchFamily="2" charset="-78"/>
                <a:cs typeface="Amiri" pitchFamily="2" charset="-78"/>
              </a:rPr>
              <a:t> … إِلَى</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Risk + 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ea typeface="Amiri" pitchFamily="2" charset="-78"/>
                <a:cs typeface="Amiri" pitchFamily="2" charset="-78"/>
              </a:rPr>
              <a:t> … سَـ · </a:t>
            </a:r>
            <a:pPr rtl="1" algn="ctr" indent="0" marL="0">
              <a:buNone/>
            </a:pPr>
            <a:r>
              <a:rPr lang="ar-SA" altLang="en-US" sz="2800" b="1" dirty="0">
                <a:solidFill>
                  <a:srgbClr val="C7770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ea typeface="Amiri" pitchFamily="2" charset="-78"/>
                <a:cs typeface="Amiri" pitchFamily="2" charset="-78"/>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لِكَيْ تَبْقَى</a:t>
            </a:r>
            <a:pPr rtl="1" algn="ctr" indent="0" marL="0">
              <a:buNone/>
            </a:pPr>
            <a:r>
              <a:rPr lang="ar-SA" altLang="en-US" sz="2800" b="1" dirty="0">
                <a:solidFill>
                  <a:srgbClr val="1B3B6F"/>
                </a:solidFill>
                <a:latin typeface="Amiri" pitchFamily="2" charset="-78"/>
                <a:ea typeface="Amiri" pitchFamily="2" charset="-78"/>
                <a:cs typeface="Amiri" pitchFamily="2" charset="-78"/>
              </a:rPr>
              <a:t> صَالِحَةً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MATERIALS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PLANNING · PASSIVE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GOAL</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بُنِيَ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الجُزْءُ القَدِيمُ مِنْ دُبَيَّ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الطِّينِ، فِي حِينِ أَنَّ نَاطِحَاتِ السَّحَابِ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مَبْنِيَّةٌ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الزُّجَاجِ.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تُعِيدُ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الهَيْئَاتُ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تَصْمِيمَ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أَحْيَاءٍ كَامِلَةٍ،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وَيُحَوَّلُ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 مِنَ المَنَاطِقِ الصِّنَاعِيَّةِ إِلَى مَسَاحَاتٍ خَضْرَاءَ.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تَوَسَّعَتِ المُدُنُ،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سَتُعَانِي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الازْدِحَامِ.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 التَّخْطِيطُ أَكْثَرَ اسْتِدَامَةً،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المُدُنُ أَقَلَّ اكْتِظَاظًا. لِذٰلِكَ تَحْتَاجُ المُدُنُ إِلَى مَسَاحَاتٍ خَضْرَاءَ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لِكَيْ تَبْقَى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صَالِحَةً لِلْعَيْشِ.</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In Dubai, the old part was built from clay and wood, whereas the skyscrapers are built from glass. Authorities are redesigning whole districts, and many industrial areas are being converted into green spaces. If cities expand, they will suffer from congestion. Had planning been more sustainable, cities would be less crowded. So cities need green spaces so that they remain liveable.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بُنِيَ الجُزْءُ القَدِيمُ مِنَ الطِّينِ، وَنَاطِحَاتُ السَّحَابِ مَبْنِيَّةٌ مِنَ الزُّجَاجِ</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old part was built from clay, and the skyscrapers are built from glass</a:t>
            </a:r>
            <a:endParaRPr lang="en-US" sz="1250" dirty="0"/>
          </a:p>
          <a:p>
            <a:pPr indent="0" marL="0">
              <a:buNone/>
            </a:pPr>
            <a:r>
              <a:rPr lang="en-US" sz="1050" i="1" dirty="0">
                <a:solidFill>
                  <a:srgbClr val="8A6D1E"/>
                </a:solidFill>
                <a:latin typeface="Calibri" pitchFamily="34" charset="0"/>
                <a:cs typeface="Amiri" pitchFamily="2" charset="-78"/>
              </a:rPr>
              <a:t>mabniyyun min names the material.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يُحَوِّلُ مَشْرُوعُ العُلَا المَوَاقِعَ التَّارِيخِيَّةَ إِلَى وِجْهَاتٍ سِيَاحِيَّةٍ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AlUla project converts historic sites into tourist destinations</a:t>
            </a:r>
            <a:endParaRPr lang="en-US" sz="1250" dirty="0"/>
          </a:p>
          <a:p>
            <a:pPr indent="0" marL="0">
              <a:buNone/>
            </a:pPr>
            <a:r>
              <a:rPr lang="en-US" sz="1050" i="1" dirty="0">
                <a:solidFill>
                  <a:srgbClr val="8A6D1E"/>
                </a:solidFill>
                <a:latin typeface="Calibri" pitchFamily="34" charset="0"/>
                <a:cs typeface="Amiri" pitchFamily="2" charset="-78"/>
              </a:rPr>
              <a:t>yuḥawwilu …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يُخَطِّطُونَ لِكَيْ تَكُونَ العَاصِمَةُ أَكْثَرَ اسْتِدَامَةً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plan so that the capital becomes more sustainable</a:t>
            </a:r>
            <a:endParaRPr lang="en-US" sz="1250" dirty="0"/>
          </a:p>
          <a:p>
            <a:pPr indent="0" marL="0">
              <a:buNone/>
            </a:pPr>
            <a:r>
              <a:rPr lang="en-US" sz="1050" i="1" dirty="0">
                <a:solidFill>
                  <a:srgbClr val="8A6D1E"/>
                </a:solidFill>
                <a:latin typeface="Calibri" pitchFamily="34" charset="0"/>
                <a:cs typeface="Amiri" pitchFamily="2" charset="-78"/>
              </a:rPr>
              <a:t>li-kay + a verb in -a (takūna).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URBAN ENVIRONMENTS — CITIES, ARCHITECTURE AND URBAN PLANNING”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city: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مُخَطِّطُ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spaces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transport</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and cycling</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المَدِينَةُ الصِّحِّيَّةُ تُشَجِّعُ المَشْيَ وَرُكُوبَ الدَّرَّاجَاتِ.</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تَحْتَاجُ المَدِينَةُ إِلَى مَسَاحَاتٍ خَضْرَاءَ.</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النَّقْلُ العَامُّ مُهِمٌّ فِي المُدُنِ.</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مُخَطِّطُ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spaces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تَحْتَاجُ المَدِينَةُ إِلَى مَسَاحَاتٍ خَضْرَاءَ.</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city needs green spaces.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transport</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النَّقْلُ العَامُّ مُهِمٌّ فِي المُدُنِ.</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Public transport is important in cities.</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and cycling</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المَدِينَةُ الصِّحِّيَّةُ تُشَجِّعُ المَشْيَ وَرُكُوبَ الدَّرَّاجَاتِ.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healthy city encourages walking and cycling.</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URBAN ANALYSIS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 planning + goal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تَحْلِيلًا عُمْرَانِيًّا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Material / feature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Planning action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Goal / condition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الأَحْيَاءُ القَدِيمَةُ مَبْنِيَّةٌ مِنَ الحَجَرِ وَالطِّينِ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وَتُجَدِّدُ المَشَارِيعُ الأَحْيَاءَ وَتُعِيدُ تَصْمِيمَهَا</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وَيُخَطِّطُ المُهَنْدِسُونَ لِكَيْ تَكُونَ المُدُنُ صَالِحَةً لِلْعَيْشِ</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نَاطِحَاتُ السَّحَابِ مَبْنِيَّةٌ مِنَ الزُّجَاجِ وَالصُّلْبِ</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وَيُحَوَّلُ كَثِيرٌ مِنَ المَنَاطِقِ الصِّنَاعِيَّةِ إِلَى مَسَاحَاتٍ خَضْرَاءَ</a:t>
            </a:r>
            <a:endParaRPr lang="ar-SA" sz="15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اهْتَمُّوا بِالخُضْرَةِ مُبَكِّرًا لَكَانَتِ المُدُنُ أَجْمَلَ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تَتَمَيَّزُ المَدِينَةُ بِمَزِيجٍ مِنَ القَدِيمِ وَالحَدِيثِ</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وَيُبْنَى مَشْرُوعٌ ضَخْمٌ عَلَى أَطْرَافِ المَدِينَةِ</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خُطِّطَ بِاسْتِدَامَةٍ سَتَقِلُّ الازْدِحَامَاتُ</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find the passive verbs: is the noun after them -un?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Material / feature, planning verb — or passive / goal?</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بِمِعْمَارٍ حَدِيثٍ</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الزُّجَاجِ وَالصُّلْبِ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يُعِيدُ تَصْمِيمَ المِنْطَقَةِ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يُجَدِّدُ المَبَانِيَ القَدِيمَةَ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يُحَوِّلُ المَطَارَ إِلَى حَدِيقَةٍ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يُبْنَى مَشْرُوعٌ ضَخْمٌ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يُخَطَّطُ لِاسْتِكْمَالِ المَشْرُوعِ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تَكُونَ المَدِينَةُ صَالِحَةً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الحَجَرِ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بِمِعْمَارٍ حَدِيثٍ</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الزُّجَاجِ وَالصُّلْبِ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يُعِيدُ تَصْمِيمَ المِنْطَقَةِ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يُجَدِّدُ المَبَانِيَ القَدِيمَةَ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يُحَوِّلُ المَطَارَ إِلَى حَدِيقَةٍ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يُبْنَى مَشْرُوعٌ ضَخْمٌ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يُخَطَّطُ لِاسْتِكْمَالِ المَشْرُوعِ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تَكُونَ المَدِينَةُ صَالِحَةً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“redesigns”?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يُجَدِّدُ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 تَصْمِيمَ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يُخَطِّطُ المُهَنْدِسُونَ ___ مَدِينَةٍ ذَكِيَّةٍ.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of “is redesigned”?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 تَصْمِيمَهُ</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يُعَادُ تَصْمِيمُهُ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أَعَادَ تَصْمِيمَهُ</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“redesigns”?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يُجَدِّدُ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يُحَوِّلُ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يُعِيدُ تَصْمِيمَ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يُعِيدُ تَصْمِيمَ</a:t>
            </a:r>
            <a:pPr algn="l" indent="0" marL="0">
              <a:buNone/>
            </a:pPr>
            <a:r>
              <a:rPr lang="en-US" sz="1050" i="1" dirty="0">
                <a:solidFill>
                  <a:srgbClr val="8A6D1E"/>
                </a:solidFill>
                <a:latin typeface="Calibri" pitchFamily="34" charset="0"/>
                <a:cs typeface="Amiri" pitchFamily="2" charset="-78"/>
              </a:rPr>
              <a:t> means redesigns.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يُخَطِّطُ المُهَنْدِسُونَ ___ مَدِينَةٍ ذَكِيَّةٍ.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يُخَطِّطُ</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of “is redesigned”?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يُعِيدُ تَصْمِيمَهُ</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يُعَادُ تَصْمِيمُهُ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أَعَادَ تَصْمِيمَهُ</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يُعَادُ تَصْمِيمُهُ</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t>
            </a:r>
            <a:pPr algn="l" indent="0" marL="0">
              <a:buNone/>
            </a:pPr>
            <a:r>
              <a:rPr lang="ar-SA" altLang="en-US" sz="1350" dirty="0">
                <a:solidFill>
                  <a:srgbClr val="8A6D1E"/>
                </a:solidFill>
                <a:latin typeface="Amiri" pitchFamily="2" charset="-78"/>
                <a:ea typeface="Amiri" pitchFamily="2" charset="-78"/>
                <a:cs typeface="Amiri" pitchFamily="2" charset="-78"/>
              </a:rPr>
              <a:t>مَبْنِيٌّ مِنْ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يُجَدِّدُ</a:t>
            </a:r>
            <a:pPr algn="l" indent="0" marL="0">
              <a:buNone/>
            </a:pPr>
            <a:r>
              <a:rPr lang="en-US" sz="1050" i="1" dirty="0">
                <a:solidFill>
                  <a:srgbClr val="8A6D1E"/>
                </a:solidFill>
                <a:latin typeface="Calibri" pitchFamily="34" charset="0"/>
                <a:cs typeface="Amiri" pitchFamily="2" charset="-78"/>
              </a:rPr>
              <a:t> and a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mabniyya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yuḥawwilu … no ilā?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yubnā mashrūʿan?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مَبْنِيٌّ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تَكُونَ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tatamayyazu bi- · buniya … min · tuḥawwilu … ilā.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تَتَمَيَّزُ مَدِينَةُ دُبَيَّ بِمَزِيجٍ فَرِيدٍ مِنَ العِمَارَةِ التُّرَاثِيَّةِ وَالمِعْمَارِ الحَدِيثِ. بُنِيَ الجُزْءُ القَدِيمُ مِنَ الطِّينِ وَالخَشَبِ، فِي حِينِ أَنَّ نَاطِحَاتِ السَّحَابِ مَبْنِيَّةٌ مِنَ الزُّجَاجِ وَالصُّلْبِ.</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Dubai stands out for a unique mix of heritage and modern architecture. The old part was built from clay and wood, whereas the skyscrapers are built from glass and steel.</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تُعِيدُ هَيْئَاتُ التَّطْوِيرِ تَصْمِيمَ أَحْيَاءٍ كَامِلَةٍ، وَتُحَوِّلُ مَنَاطِقَ صِنَاعِيَّةً قَدِيمَةً إِلَى مَسَاحَاتٍ خَضْرَاءَ.</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authorities are redesigning whole districts and converting old industrial areas into green spaces.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غَيْرَ أَنَّ التَّوَسُّعَ السَّرِيعَ يُؤَدِّي إِلَى ازْدِحَامٍ مُرُورِيٍّ. إِذَا وَاصَلَتِ المُدُنُ التَّوَسُّعَ دُونَ تَخْطِيطٍ، سَتُعَانِي مِنْ تَلَوُّثٍ ضَوْضَائِيٍّ.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rapid expansion leads to traffic congestion. If cities keep expanding without planning, they will suffer from noise pollution.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وَلَوْ كَانَ التَّخْطِيطُ أَكْثَرَ اسْتِدَامَةً مُنْذُ البِدَايَةِ، لَكَانَتِ المُدُنُ أَقَلَّ اكْتِظَاظًا.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from the start, cities would be less crowded.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يُخَطِّطُ المُهَنْدِسُونَ لِكَيْ تَكُونَ المُدُنُ صَالِحَةً لِلْعَيْشِ.</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engineers plan so that cities become liveable.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tatamayyazu bi- · buniya … min · tuḥawwilu … ilā.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مَدِينَةً مُسْتَعْمِلًا «مَبْنِيٌّ مِنْ» وَ«يَتَمَيَّزُ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يُجَدَّدُ أَوْ يُعَادُ تَصْمِيمُهُ فِيهَا؟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الهَدَفُ العُمْرَانِيُّ؟ اسْتَعْمِلْ «لِكَيْ» + مَنْصُوبًا.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2" charset="-78"/>
                <a:ea typeface="Amiri" pitchFamily="2" charset="-78"/>
                <a:cs typeface="Amiri" pitchFamily="2" charset="-78"/>
              </a:rPr>
              <a:t>تَتَمَيَّزُ ___ بِمَزِيجٍ مِنْ ___ ، وَأَحْيَاؤُهَا القَدِيمَةُ مَبْنِيَّةٌ مِنَ ___ .</a:t>
            </a:r>
            <a:endParaRPr lang="ar-SA" sz="10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يُعَادُ تَصْمِيمُ ___ ، وَيُحَوَّلُ ___ إِلَى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يُخَطِّطُ المُهَنْدِسُونَ لِكَيْ تَكُونَ المَدِينَةُ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مَدِينَةً.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تَتَمَيَّزُ المَدِينَةُ بِمَزِيجٍ مِنَ القَدِيمِ وَالحَدِيثِ، وَأَحْيَاؤُهَا القَدِيمَةُ مَبْنِيَّةٌ مِنَ الحَجَرِ.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The city stands out for a mix of old and new, and its old districts are built of stone.</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urban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مَبْنِيٌّ مِنْ</a:t>
            </a:r>
            <a:pPr algn="l" indent="0" marL="0">
              <a:buNone/>
            </a:pPr>
            <a:r>
              <a:rPr lang="en-US" sz="1400" b="1" dirty="0">
                <a:solidFill>
                  <a:srgbClr val="1F2A37"/>
                </a:solidFill>
                <a:latin typeface="Calibri" pitchFamily="34" charset="0"/>
                <a:cs typeface="Amiri" pitchFamily="2" charset="-78"/>
              </a:rPr>
              <a:t> and the planning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urban sentences with mabniyyun min and the planning verbs.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an urban passive and a Type 1 challenge.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an urban passive and a Type 1 challenge.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Type 2 counterfactual and a </a:t>
            </a:r>
            <a:pPr algn="l" indent="0" marL="0">
              <a:buNone/>
            </a:pPr>
            <a:r>
              <a:rPr lang="ar-SA" altLang="en-US" sz="1800" b="1" dirty="0">
                <a:solidFill>
                  <a:srgbClr val="1F2A37"/>
                </a:solidFill>
                <a:latin typeface="Amiri" pitchFamily="2" charset="-78"/>
                <a:ea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city or project with mabniyyun min, a planning verb, the passive, both conditionals and a li-kay goal.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يُبْنَى ______ عَلَى أَطْرَافِ المَدِينَةِ.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being built on the edge of the city.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إِذَا وَاصَلَتِ المُدُنُ التَّوَسُّعَ دُونَ تَخْطِيطٍ، سَتُعَانِي مِنْ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cities keep expanding without planning,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لَوْ كَانَ التَّخْطِيطُ أَكْثَرَ اسْتِدَامَةً، لَكَانَتِ المُدُنُ ______ .</a:t>
            </a:r>
            <a:endParaRPr lang="ar-SA" sz="13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planning been more sustainable,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تَحْتَاجُ المُدُنُ إِلَى ______ لِكَيْ تَبْقَى صَالِحَةً لِلْعَيْشِ.</a:t>
            </a:r>
            <a:endParaRPr lang="ar-SA" sz="15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Cities need … so that they remain liveable.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مَدِينَةُ ______ بِمَزِيجٍ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stands out for a mix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الجُزْءُ القَدِيمُ مَبْنِيٌّ مِنَ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part is built from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حِينِ أَنَّ المَبَانِيَ الجَدِيدَةَ مَبْنِيَّةٌ مِنَ ______ .</a:t>
            </a:r>
            <a:endParaRPr lang="ar-SA" sz="15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the new buildings are built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يُحَوِّلُ المَشْرُوعُ ______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project converts …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الحَجَرِ  ·  الطِّينِ وَالخَشَبِ  ·  الزُّجَاجِ وَالصُّلْبِ  ·  بِمَزِيجٍ مِنَ القَدِيمِ وَالحَدِيثِ  ·  المَطَارَ القَدِيمَ  ·  حَدِيقَةٍ عَامَّةٍ  ·  مَسَاحَاتٍ خَضْرَاءَ  ·  مَشْرُوعٌ ضَخْمٌ  ·  الازْدِحَامِ المُرُورِيِّ  ·  التَّلَوُّثِ الضَّوْضَائِيِّ  ·  أَقَلَّ اكْتِظَاظًا  ·  مَدِينَةٌ ذَكِيَّةٌ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a city or urban project. Use </a:t>
            </a:r>
            <a:pPr algn="l" indent="0" marL="0">
              <a:buNone/>
            </a:pPr>
            <a:r>
              <a:rPr lang="ar-SA" altLang="en-US" sz="1750" b="1" dirty="0">
                <a:solidFill>
                  <a:srgbClr val="1F2A37"/>
                </a:solidFill>
                <a:latin typeface="Amiri" pitchFamily="2" charset="-78"/>
                <a:ea typeface="Amiri" pitchFamily="2" charset="-78"/>
                <a:cs typeface="Amiri" pitchFamily="2" charset="-78"/>
              </a:rPr>
              <a:t>مَبْنِيٌّ مِنْ</a:t>
            </a:r>
            <a:pPr algn="l" indent="0" marL="0">
              <a:buNone/>
            </a:pPr>
            <a:r>
              <a:rPr lang="en-US" sz="1350" b="1" dirty="0">
                <a:solidFill>
                  <a:srgbClr val="1F2A37"/>
                </a:solidFill>
                <a:latin typeface="Calibri" pitchFamily="34" charset="0"/>
                <a:cs typeface="Amiri" pitchFamily="2" charset="-78"/>
              </a:rPr>
              <a:t>, a planning verb, the urban passive, both conditional types and a </a:t>
            </a:r>
            <a:pPr algn="l" indent="0" marL="0">
              <a:buNone/>
            </a:pPr>
            <a:r>
              <a:rPr lang="ar-SA" altLang="en-US" sz="1750" b="1" dirty="0">
                <a:solidFill>
                  <a:srgbClr val="1F2A37"/>
                </a:solidFill>
                <a:latin typeface="Amiri" pitchFamily="2" charset="-78"/>
                <a:ea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مَبْنِيٌّ مِنْ</a:t>
            </a:r>
            <a:pPr algn="l" indent="0" marL="0">
              <a:buNone/>
            </a:pPr>
            <a:r>
              <a:rPr lang="en-US" sz="1200" dirty="0">
                <a:solidFill>
                  <a:srgbClr val="1F2A37"/>
                </a:solidFill>
                <a:latin typeface="Calibri" pitchFamily="34" charset="0"/>
                <a:cs typeface="Amiri" pitchFamily="2" charset="-78"/>
              </a:rPr>
              <a:t> and a planning verb (</a:t>
            </a:r>
            <a:pPr algn="l" indent="0" marL="0">
              <a:buNone/>
            </a:pPr>
            <a:r>
              <a:rPr lang="ar-SA" altLang="en-US" sz="1550" dirty="0">
                <a:solidFill>
                  <a:srgbClr val="1F2A37"/>
                </a:solidFill>
                <a:latin typeface="Amiri" pitchFamily="2" charset="-78"/>
                <a:ea typeface="Amiri" pitchFamily="2" charset="-78"/>
                <a:cs typeface="Amiri" pitchFamily="2" charset="-78"/>
              </a:rPr>
              <a:t>يُعِيدُ تَصْمِيمَ / يُجَدِّدُ / يُحَوِّلُ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بِمَزِيجٍ فَرِيدٍ مِنَ العِمَارَةِ التُّرَاثِيَّةِ وَالمِعْمَارِ الحَدِيثِ</a:t>
            </a:r>
            <a:endParaRPr lang="ar-SA" sz="13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a unique mix of heritage and modern architecture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فِي حِينِ أَنَّ نَاطِحَاتِ السَّحَابِ مَبْنِيَّةٌ مِنَ الزُّجَاجِ وَالصُّلْبِ</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whereas the skyscrapers are built from glass and steel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وَيُحَوَّلُ كَثِيرٌ مِنَ المَنَاطِقِ الصِّنَاعِيَّةِ إِلَى مَسَاحَاتٍ خَضْرَاءَ</a:t>
            </a:r>
            <a:endParaRPr lang="ar-SA" sz="13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many industrial areas are being converted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سَتُعَانِي مِنِ ازْدِحَامٍ مُرُورِيٍّ وَتَلَوُّثٍ ضَوْضَائِيٍّ</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will suffer from traffic congestion and noise pollution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تَبْقَى صَالِحَةً لِلْعَيْشِ</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they remain liveable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Dubai, the old part was built from clay and wood, whereas the skyscrapers are built from glass and steel. Development authorities are redesigning whole districts, and many industrial areas are being converted into green spaces. If cities keep expanding without enough planning, they will suffer from traffic congestion and noise pollution. Had planning been more sustainable from the start, cities would be less crowded today. So planning experts point out that cities need green spaces so that they remain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buniya … min · mabniyyatun min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tuʿīdu taṣmīm · yuḥawwalu … ilā (passive)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and a Type 2</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tabqā + yushīr … ilā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mabniyyun takes min; it agrees (mabniyyatun for a feminine / non-human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yuḥawwilu has ilā; yuʿīdu taṣmīm and yujaddidu take an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 passive verb, the subject is nominative (-un).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 Type 1 challenge and a Type 2 regret.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goal uses li-kay + a verb in -a (takūna · tabqā).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نَاطِحَاتُ السَّحَابِ مَبْنِيَّةٌ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الزُّجَاجِ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يُحَوِّلُ المَشْرُوعُ المَطَارَ حَدِيقَةً.</a:t>
            </a:r>
            <a:endParaRPr lang="ar-SA" sz="19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يُحَوِّلُ المَشْرُوعُ المَطَارَ إِلَى حَدِيقَةٍ.</a:t>
            </a:r>
            <a:endParaRPr lang="ar-SA" sz="1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يُحَوِّلُ المَشْرُوعُ بِالمَطَارِ.</a:t>
            </a:r>
            <a:endParaRPr lang="ar-SA" sz="19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 ضَخْمٌ عَلَى الأَطْرَافِ.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مَشْرُوعًا ضَخْمًا.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يَبْنِي مَشْرُوعٌ نَفْسَهُ.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نَاطِحَاتُ السَّحَابِ مَبْنِيَّةٌ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الزُّجَاجِ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يُحَوِّلُ المَشْرُوعُ المَطَارَ حَدِيقَةً.</a:t>
            </a:r>
            <a:endParaRPr lang="ar-SA" sz="19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ea typeface="Amiri" pitchFamily="2" charset="-78"/>
                <a:cs typeface="Amiri" pitchFamily="2" charset="-78"/>
              </a:rPr>
              <a:t>يُحَوِّلُ المَشْرُوعُ المَطَارَ إِلَى حَدِيقَةٍ.</a:t>
            </a:r>
            <a:endParaRPr lang="ar-SA" sz="19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يُحَوِّلُ المَشْرُوعُ بِالمَطَارِ.</a:t>
            </a:r>
            <a:endParaRPr lang="ar-SA" sz="19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يُبْنَى مَشْرُوعٌ ضَخْمٌ عَلَى الأَطْرَافِ.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يُبْنَى مَشْرُوعًا ضَخْمًا.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يَبْنِي مَشْرُوعٌ نَفْسَهُ.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وَتُبْنَى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تُوَاجِهُ</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تَحَدِّيًا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challenge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الحِفَاظِ عَلَى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preserving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ذَاكِرَةَ أَجْيَالٍ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memory of generations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تَمْحُوَ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erase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طَابِعَهَا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character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المُقَابِلِ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other hand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المَعَايِيرِ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standards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هُوِيَّتَهَا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identity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تُوَاكِبُ العَصْرَ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keeps up with the times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Urban Mission — Materials, Passive and Goal</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Material: complete — </a:t>
            </a:r>
            <a:pPr algn="l" indent="0" marL="0">
              <a:buNone/>
            </a:pPr>
            <a:r>
              <a:rPr lang="ar-SA" altLang="en-US" sz="1650" b="1" dirty="0">
                <a:solidFill>
                  <a:srgbClr val="1B3B6F"/>
                </a:solidFill>
                <a:latin typeface="Amiri" pitchFamily="2" charset="-78"/>
                <a:ea typeface="Amiri" pitchFamily="2" charset="-78"/>
                <a:cs typeface="Amiri" pitchFamily="2" charset="-78"/>
              </a:rPr>
              <a:t>مَبْنِيٌّ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يُحَوِّلُ المَطَارَ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حَدِيقَةٍ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يُخَطِّطُ المُهَنْدِسُونَ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مَدِينَةٍ ذَكِيَّةٍ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مَشْرُوعٌ ضَخْمٌ عَلَى الأَطْرَافِ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يَبْنِي</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يُخَطَّطُ لِاسْتِكْمَالِ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المَشْرُوعِ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المَشْرُوعَ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المَشْرُوعُ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Goal: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صَالِحَةً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Material: complete — </a:t>
            </a:r>
            <a:pPr algn="l" indent="0" marL="0">
              <a:buNone/>
            </a:pPr>
            <a:r>
              <a:rPr lang="ar-SA" altLang="en-US" sz="1650" b="1" dirty="0">
                <a:solidFill>
                  <a:srgbClr val="1B3B6F"/>
                </a:solidFill>
                <a:latin typeface="Amiri" pitchFamily="2" charset="-78"/>
                <a:ea typeface="Amiri" pitchFamily="2" charset="-78"/>
                <a:cs typeface="Amiri" pitchFamily="2" charset="-78"/>
              </a:rPr>
              <a:t>مَبْنِيٌّ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يُحَوِّلُ المَطَارَ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حَدِيقَةٍ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حَدِيقَةً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يُخَطِّطُ المُهَنْدِسُونَ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مَدِينَةٍ ذَكِيَّةٍ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يُخَطِّطُ</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مَشْرُوعٌ ضَخْمٌ عَلَى الأَطْرَافِ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يَبْنِي</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يُبْنَى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names no doer; the subject is nominative.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يُخَطَّطُ لِاسْتِكْمَالِ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المَشْرُوعِ</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المَشْرُوعَ</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المَشْرُوعُ</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the preposition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the noun is genitive.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Goal: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صَالِحَةً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تَكُونَ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P4-L03 · Climate Change and the Arab World — Causes, Impacts and Responses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تَغَيُّرُ المَنَاخِ</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climate change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شُحُّ المِيَاهِ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 scarcity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التَّصَحُّرُ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desertification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يَخْشَى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fears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الطَّاقَةُ الشَّمْسِيَّةُ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solar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is climate change affecting the Arab world — and what do you fear most?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أَخْشَى أَنْ ______ إِذَا لَمْ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urban sentences with mabniyyun min and the planning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passive (yubnā / yuḥawwalu + -un) and a Type 1 challenge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analysis of a city or urban project ending with li-kay.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P4-L03 · Climate Change and the Arab World — Causes, Impacts and Responses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تَغَيُّرُ المَنَاخِ وَالعَالَمُ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mabniyyun MIN · yuḥawwilu … ILĀ · yuʿīdu taṣmīma + object — after a passive verb the subject is -UN (yubnā mashrūʿun) — and the goal is li-kay + a verb in -a (takūna).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P4-L02 · Urban Environments — Cities, Architecture and Urban Planning</dc:title>
  <dc:subject>PptxGenJS Presentation</dc:subject>
  <dc:creator>Al Madina Online School · Arabic Department</dc:creator>
  <cp:lastModifiedBy>Al Madina Online School · Arabic Department</cp:lastModifiedBy>
  <cp:revision>1</cp:revision>
  <dcterms:created xsi:type="dcterms:W3CDTF">2026-10-11T06:43:16Z</dcterms:created>
  <dcterms:modified xsi:type="dcterms:W3CDTF">2026-10-11T06:43:16Z</dcterms:modified>
</cp:coreProperties>
</file>