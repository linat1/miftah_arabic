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P4-L11. The website lesson “Consolidation — Speaking Preparation and Full Subjunctive Mastery”: vocabulary, grammar rules and quiz, patterns, common mistakes, sorter, listening, reading, speaking prompts and model, writing task and model, differentiation, final check and the lesson mission. Picture match: website visual game “Consolidation — Speaking Preparation and Full Subjunctive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P4-L12 assessment (topic conversation on the built and natural world + an environmental role play). The website names the three highest-frequency slips: a dropped final -a after a trigger · a Type 2 result without la- · a broken passive (yudammarat).
• Core: correct six P4 errors and write three sentences from memory (website Core). Develop: add a purpose clause, a necessity clause and a Type 2. Stretch: answer the why, the yataṭallabu and the law questions fluently and spontaneously.
• Praise the journey: students now control all three subjunctive triggers, both conditionals, the past perfect, the passive and reported speech — a full B1+ toolkit. Keep the rehearsal light and encouraging.
• Website teaching point 2 is today’s speaking rule: answer each question with the trigger it invites — WHY → li-kay · “what does it require?” → yataṭallabu an · law … → law … la-.
• TEACHER-WRITTEN ITEMS: waṣl alif shown without a kasra; لِكَيْ always written with its sukūn; vowel fix التُّرَاثِ المَعْمَارِيِّ → المِعْمَارِيِّ; rule headings, formulas, pattern tips and the writing checklist in English and transliteration (rule examples without their English glosses); the required-structure questions follow the P4-L12 assessment (topic Q1–Q3 + role play); the repair table adds three earlier P4 mistakes; sorter headings in lower case;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P4-L10. Questions 4–5 retrieve fear vs hope and the result marker (P4-L10) — today students produce every marker accurately in speech.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P4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is shared. Watch the shifts: Urdu اعراب = the vowel marks, but Arabic الإِعْرَابُ = the system of endings (the -a of today’s lesson is إِعْرَابُ النَّصْبِ); Urdu زمانہ = the times, Arabic زَمَنُ الفِعْلِ = the tense; Urdu تشکیل = formation, Arabic التَّشْكِيلُ = adding the vowels; Urdu اعتماد = confidence, Arabic الثِّقَةُ.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P4 error zones (website vocabulary (1 of 2)). Hear → Say → See → Use. Transliteration is printed for Core students (cover it for Develop/Stretch).
The P4 error zones — the labels for today’s repair work: the -a after لِكَيْ and أَنْ (most often dropped) · la- in the Type 2 result · a past verb after لَوْ · the passive shape (دُمِّرَتْ) · agreement ·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P4 error zones (website vocabulary (2 of 2)). Hear → Say → See → Use. Transliteration is printed for Core students (cover it for Develop/Stretch).
The P4 error zones — the labels for today’s repair work: the -a after لِكَيْ and أَنْ (most often dropped) · la- in the Type 2 result · a past verb after لَوْ · the passive shape (دُمِّرَتْ) · agreement ·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grammar spine (website vocabulary (1 of 2)). Hear → Say → See → Use. Transliteration is printed for Core students (cover it for Develop/Stretch).
The P4 grammar spine: the three triggers (purpose · volition · necessity), both conditionals, the past perfect, reported speech and the passive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grammar spine (website vocabulary (2 of 2)). Hear → Say → See → Use. Transliteration is printed for Core students (cover it for Develop/Stretch).
The P4 grammar spine: the three triggers (purpose · volition · necessity), both conditionals, the past perfect, reported speech and the passive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الارْتِجَالُ بِالمَنْصُوبِ = improvising with the subjunctive — using a trigger without being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الارْتِجَالُ بِالمَنْصُوبِ = improvising with the subjunctive — using a trigger without being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the reading “twelve sentences to repair” (rows 1–5), plus website quiz 8 (row 6).
Website teaching point 1 (“The three highest-frequency P4 slips”): the dropped final -a (rows 1–2) · a Type 2 result without la- (row 3) · a broken passive (row 5).
Core: rows 1–4. Drill: cover the Right column; students fix each one and NAME the zone. Then reverse — the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P4 grammar spine” with examples from the website listening, writing model and sorter.
Website challenge: “Write one accurate sentence for each of the four P4 error zones” — then cover the Example column here and write one for each structure.
Link the spine to the assessment parts: listening (hear the trigger) · reading (the -a = required, not done) · writing (one of each trigger for Range) · speaking (the structure each question invites).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three P4-L12 topic-conversation questions (passive + cause expected · Type 2 required · yataṭallabu an + subjunctive required) and the four role-play tasks (yushakkilu / yumaththilu · yataṭallabu an · a Type 1 · yarjū an).
Turn the question round: the examiner says لَدَيْكَ (you) → the student answers لَدَيَّ (I) · كُنْتَ سَتُغَيِّرُ → لَغَيَّرْتُ / لَأَطْلَقْتُ.
Q1 asks for the passive: add one — وَقَدْ أُهْمِلَتِ المَوَارِدُ لِعُقُودٍ (the resources were neglected for decades).
Row 4: تَعِيشُ → تَعِيشَ (hollow verb,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2 (“Answer each question with the trigger it invites”), the speaking model (card 1: لَأَطْلَقْتُ حَمْلَةً وَطَنِيَّةً لِكَيْ نَصُونَ المَعَالِمَ) and mistake 3. Card 2 is a teacher-added reason.
The routine: required structure → a reason → one extra P4 structure (another trigger). The mock conversation ends with the teacher’s praise «اسْتَعْمَلْتَ فِيهَا المُسَبِّبَاتِ الثَّلَاثَةَ تِلْقَائِيًّا».
Time-buying phrases if a student freezes: سُؤَالٌ مُهِمٌّ · دَعْنِي أُفَكِّرُ · فِي رَأْيِي … Repair phrase: عَفْوًا، أَقْصِدُ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correction across the spine: the subjunctive fatḥa after every trigger, the Type 2 لَـ result, the past verb after لَوْ, and the disaster passives.”
• Subjunctive after a trigger: Every subjunctive verb keeps its final fatḥa.
• Type 2 result: The result verb carries a لَـ prefix.
• Past verb after law: لَوْ is followed by a past-tense verb.
• Disaster passive: The passive of a reported disaster is fixed in shape.
Website common error: Dropping the subjunctive fatḥa after a trigger, dropping the لَـ in a Type 2 result, a present verb after لَوْ, or a broken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and model, spoken aloud as an exam answer. Think aloud: “Q1: the challenge — tushakkilu … bi-sabab. Q3 is a yataṭallabu question, so I answer with yataṭallabu AN nukhaṣṣiṣA — and add WHY with li-kay naṣūnA. Q2 is a law question, so I answer with law — and the result MUST start with LA-. Extra: narjū AN tataghayyarA.”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P4-L05, P4-L06 and P4-L09. Cover columns 2–3; pairs fix each slip and NAME the zone.
Core: rows 1–3. Develop: all six. Stretch: write two new slips of their own for a partner to repair.
Then each student writes their ONE priority error zone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past-perfect background, a necessity clause and a purpose clause.). Website feedback: Each background, necessity clause and purpose clause is accurate on its own, so any three different combinations work.
Use it as oral rehearsal: one student reads a combination as an exam answer; the partner names each structure and checks every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final -a after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final -a after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صِفْ نِظَامًا بِيئِيًّا فِي العَالَمِ العَرَبِيِّ تُعْجَبُ بِهِ. الطَّالِبُ: يُعْجِبُنِي نَهْرُ النِّيلِ لِأَنَّهُ يَضُمُّ تَنَوُّعًا كَبِيرًا، وَكَانَتِ الحَضَارَاتُ قَدْ نَشَأَتْ عَلَى ضِفَافِهِ. المُعَلِّمُ: مَا الَّذِي يَتَطَلَّبُهُ الحِفَاظُ عَلَيْهِ؟ الطَّالِبُ: يَتَطَلَّبُ الأَمْرُ أَنْ نُخَصِّصَ مِيزَانِيَّاتٍ أَكْبَرَ وَأَنْ نَحُدَّ مِنَ التَّلَوُّثِ. المُعَلِّمُ: وَلِمَاذَا نَفْعَلُ ذٰلِكَ؟ الطَّالِبُ: نَفْعَلُهُ لِكَيْ نَصُونَ المَوْرِدَ لِلْأَجْيَالِ القَادِمَةِ. المُعَلِّمُ: لَوْ كَانَتْ لَدَيْكَ صَلَاحِيَّاتُ وَزِيرِ البِيئَةِ، مَاذَا كُنْتَ سَتُغَيِّرُ؟ الطَّالِبُ: لَوْ كَانَتْ لَدَيَّ صَلَاحِيَّاتُهُ، لَأَطْلَقْتُ مَشْرُوعًا وَطَنِيًّا لِتَحْلِيَةِ المِيَاهِ. المُعَلِّمُ: أَجْوِبَةٌ مُتَوَازِنَةٌ اسْتَعْمَلْتَ فِيهَا المُسَبِّبَاتِ الثَّلَاثَةَ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كَانَتْ لَدَيْكَ صَلَاحِيَّاتُ الوَزِيرِ؟ (Q — Type 2)
B: لَوْ كَانَتْ لَدَيَّ صَلَاحِيَّاتُهُ، لَأَطْلَقْتُ حَمْلَةً وَطَنِيَّةً لِكَيْ نَصُونَ المَعَالِمَ. (Type 2 plus a purpose clause)
Website prompts and model — the topic-conversation questions. Pairs: examiner / candidate, 30–40 seconds per answer, then swap. The examiner ticks Structure · Reason · Extra. Then a 2-minute role play (P4-L12 tasks): describe a challenge (yushakkilu), say what the solution requires (yataṭallabu an), propose a future action (idhā … sa-) and express a hope (yarjū an). To a girl: تُعْجَبِينَ · رَأْيِكِ · لَدَيْكِ · كُنْتِ سَتُغَيِّرِينَ.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P4 errors and write three sentences from memory. · Develop — Add a purpose clause, a necessity clause and a Type 2 conditional. · Stretch — Deliver fluent answers to the why, the yataṭallabu and the law questions spontaneously.
Website writing task (Stretch): Write eighty to ninety words preparing for the P4 topic conversation. Answer two of the assessment questions, using all three subjunctive triggers, a Type 2 conditional and the past perfect,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كَانَتْ … قَدْ فَقَدَتْ · قَبْلَ أَنْ نَنْتَبِهَ · يَتَطَلَّبُ أَنْ نُخَصِّصَ … وَأَنْ نَحُدَّ · لِكَيْ نَصُونَ … وَنَحْمِيَ · نَرْجُو أَنْ تَتَغَيَّرَ · وَلَوْ كَانَتْ لَدَيَّ … لَأَطْلَقْتُ … وَلَدَعَمْتُ.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(P4-L12 · P4 Review and Unit Assessment) will spend class time USING this language, so students prepare it tonight — short, simple, easy to access (school guidance: “Simple, Short, Interesting, Relevant, Easy to access”). The five words prepare students for the P4-L12 assessment (its parts, the topic questions and the role play).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Full Subjunctive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ea typeface="Amiri" pitchFamily="2" charset="-78"/>
                <a:cs typeface="Amiri" pitchFamily="2" charset="-78"/>
              </a:rPr>
              <a:t>تَرْسِيخُ الوَحْدَةِ — إِعْدَادُ التَّحَدُّثِ وَإِتْقَانُ المُضَارِعِ المَنْصُوبِ</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P4 error zones (the final -a after li-kay and an · la- in the Type 2 result · a past verb after law · dummirat, not yudammarat · kānat for a city), revise the whole P4 spine, and rehearse the topic conversation and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P4-L11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the slips, build an assessment answer, sort the structures,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فَتْحَةُ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opening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fatḥa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vowel ā</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 of the result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answer key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lām in a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فَتْحَةُ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opening paragraph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 fatḥa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vowel ā</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la- of the result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answer key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lām in a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spontaneity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P4-L10: yakhshā = fear.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P4-L10: la- = it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P4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نَحْمِيَ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نَسْتَثْمِرَ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لَوْ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نَجَحْنَا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دُمِّرَتْ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most common P4 errors, led by the final -a.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three triggers, both conditionals and the past perfect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a why / yataṭallabu / law question with the structure it invites.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the topic conversation and role play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P4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li-kay, yataṭallabu an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each question with the trigger it invites,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P4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P4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مُطَابَقَةٌ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إِعْرَابٌ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‎اعراب‎ </a:t>
            </a:r>
            <a:pPr indent="0" marL="0">
              <a:buNone/>
            </a:pPr>
            <a:r>
              <a:rPr lang="en-US" sz="950" b="1" dirty="0">
                <a:solidFill>
                  <a:srgbClr val="2E8B57"/>
                </a:solidFill>
                <a:latin typeface="Calibri" pitchFamily="34" charset="0"/>
                <a:cs typeface="Amiri" pitchFamily="2" charset="-78"/>
              </a:rPr>
              <a:t> eʿrāb · Arabic: case endings · Urdu: vowel marks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Arabic: a tense · Urdu: an era, the times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‎تشکیل‎ </a:t>
            </a:r>
            <a:pPr indent="0" marL="0">
              <a:buNone/>
            </a:pPr>
            <a:r>
              <a:rPr lang="en-US" sz="950" b="1" dirty="0">
                <a:solidFill>
                  <a:srgbClr val="2E8B57"/>
                </a:solidFill>
                <a:latin typeface="Calibri" pitchFamily="34" charset="0"/>
                <a:cs typeface="Amiri" pitchFamily="2" charset="-78"/>
              </a:rPr>
              <a:t> tashkīl · Arabic: vowelling · Urdu: formation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اعْتِمَادٌ · ثِقَةٌ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‎اعتماد‎ </a:t>
            </a:r>
            <a:pPr indent="0" marL="0">
              <a:buNone/>
            </a:pPr>
            <a:r>
              <a:rPr lang="ar-SA" sz="950" b="1" dirty="0">
                <a:solidFill>
                  <a:srgbClr val="2E8B57"/>
                </a:solidFill>
                <a:latin typeface="Calibri" pitchFamily="34" charset="0"/>
                <a:ea typeface="Amiri" pitchFamily="2" charset="-78"/>
                <a:cs typeface="Amiri" pitchFamily="2" charset="-78"/>
              </a:rPr>
              <a:t> eʿtimād · Arabic: reliance · Urdu: confidence (Arabic ثِقَةٌ)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Most commonly dropped.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النَّصْبُ بَعْدَ لِكَيْ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subjunctive after لِكَيْ</a:t>
            </a:r>
            <a:endParaRPr lang="en-US" sz="1350" dirty="0"/>
          </a:p>
          <a:p>
            <a:pPr indent="0" marL="0">
              <a:buNone/>
            </a:pPr>
            <a:r>
              <a:rPr lang="en-US" sz="1100" i="1" dirty="0">
                <a:solidFill>
                  <a:srgbClr val="5A6472"/>
                </a:solidFill>
                <a:latin typeface="Calibri" pitchFamily="34" charset="0"/>
                <a:cs typeface="Amiri" pitchFamily="2" charset="-78"/>
              </a:rPr>
              <a:t>an-naṣ-bu baʿ-da li-kay</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النَّصْبُ بَعْدَ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subjunctive after أَنْ</a:t>
            </a:r>
            <a:endParaRPr lang="en-US" sz="1350" dirty="0"/>
          </a:p>
          <a:p>
            <a:pPr indent="0" marL="0">
              <a:buNone/>
            </a:pPr>
            <a:r>
              <a:rPr lang="en-US" sz="1100" i="1" dirty="0">
                <a:solidFill>
                  <a:srgbClr val="5A6472"/>
                </a:solidFill>
                <a:latin typeface="Calibri" pitchFamily="34" charset="0"/>
                <a:cs typeface="Amiri" pitchFamily="2" charset="-78"/>
              </a:rPr>
              <a:t>an-naṣ-bu baʿ-da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1" name="Shape 38"/>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a Type 2 result.</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لَامُ الجَوَابِ</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زَمَنُ فِعْلِ لَوْ</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verb tense after لَوْ</a:t>
            </a:r>
            <a:endParaRPr lang="en-US" sz="1350" dirty="0"/>
          </a:p>
          <a:p>
            <a:pPr indent="0" marL="0">
              <a:buNone/>
            </a:pPr>
            <a:r>
              <a:rPr lang="en-US" sz="1100" i="1" dirty="0">
                <a:solidFill>
                  <a:srgbClr val="5A6472"/>
                </a:solidFill>
                <a:latin typeface="Calibri" pitchFamily="34" charset="0"/>
                <a:cs typeface="Amiri" pitchFamily="2" charset="-78"/>
              </a:rPr>
              <a:t>za-ma-nu fiʿ-li law</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دُمِّرَتْ / أُعْلِنَتْ.</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المَبْنِيِّ لِلْمَجْهُولِ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passive formation</a:t>
            </a:r>
            <a:endParaRPr lang="en-US" sz="1350" dirty="0"/>
          </a:p>
          <a:p>
            <a:pPr indent="0" marL="0">
              <a:buNone/>
            </a:pPr>
            <a:r>
              <a:rPr lang="en-US" sz="1100" i="1" dirty="0">
                <a:solidFill>
                  <a:srgbClr val="5A6472"/>
                </a:solidFill>
                <a:latin typeface="Calibri" pitchFamily="34" charset="0"/>
                <a:cs typeface="Amiri" pitchFamily="2" charset="-78"/>
              </a:rPr>
              <a:t>ṣī-gha-tu al-mab-niy-yi lil-maj-hū-li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 الفِعْلِ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agreement</a:t>
            </a:r>
            <a:endParaRPr lang="en-US" sz="1350" dirty="0"/>
          </a:p>
          <a:p>
            <a:pPr indent="0" marL="0">
              <a:buNone/>
            </a:pPr>
            <a:r>
              <a:rPr lang="en-US" sz="1100" i="1" dirty="0">
                <a:solidFill>
                  <a:srgbClr val="5A6472"/>
                </a:solidFill>
                <a:latin typeface="Calibri" pitchFamily="34" charset="0"/>
                <a:cs typeface="Amiri" pitchFamily="2" charset="-78"/>
              </a:rPr>
              <a:t>mu-ṭā-ba-qa-tu al-fiʿ-li</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they</a:t>
            </a:r>
            <a:endParaRPr lang="en-US" sz="700" dirty="0"/>
          </a:p>
        </p:txBody>
      </p:sp>
      <p:sp>
        <p:nvSpPr>
          <p:cNvPr id="42" name="Text 39"/>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كَانَتْ · كَانُوا</a:t>
            </a:r>
            <a:endParaRPr lang="ar-SA" sz="135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 الدَّقِيقُ</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trigger</a:t>
            </a:r>
            <a:endParaRPr lang="en-US" sz="1350" dirty="0"/>
          </a:p>
          <a:p>
            <a:pPr indent="0" marL="0">
              <a:buNone/>
            </a:pPr>
            <a:r>
              <a:rPr lang="en-US" sz="1100" i="1" dirty="0">
                <a:solidFill>
                  <a:srgbClr val="5A6472"/>
                </a:solidFill>
                <a:latin typeface="Calibri" pitchFamily="34" charset="0"/>
                <a:cs typeface="Amiri" pitchFamily="2" charset="-78"/>
              </a:rPr>
              <a:t>mu-sab-bi-bu al-gha-ra-ḍi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الإِرَادَةِ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volition trigger</a:t>
            </a:r>
            <a:endParaRPr lang="en-US" sz="1350" dirty="0"/>
          </a:p>
          <a:p>
            <a:pPr indent="0" marL="0">
              <a:buNone/>
            </a:pPr>
            <a:r>
              <a:rPr lang="en-US" sz="1100" i="1" dirty="0">
                <a:solidFill>
                  <a:srgbClr val="5A6472"/>
                </a:solidFill>
                <a:latin typeface="Calibri" pitchFamily="34" charset="0"/>
                <a:cs typeface="Amiri" pitchFamily="2" charset="-78"/>
              </a:rPr>
              <a:t>mu-sab-bi-bu al-i-rā-da-ti</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تَرْجُو أَنْ · تَخْشَى أَنْ</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أَرْجُو أَنْ · أَخْشَى أَنْ</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الضَّرُورَةِ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necessity trigger</a:t>
            </a:r>
            <a:endParaRPr lang="en-US" sz="1350" dirty="0"/>
          </a:p>
          <a:p>
            <a:pPr indent="0" marL="0">
              <a:buNone/>
            </a:pPr>
            <a:r>
              <a:rPr lang="en-US" sz="1100" i="1" dirty="0">
                <a:solidFill>
                  <a:srgbClr val="5A6472"/>
                </a:solidFill>
                <a:latin typeface="Calibri" pitchFamily="34" charset="0"/>
                <a:cs typeface="Amiri" pitchFamily="2" charset="-78"/>
              </a:rPr>
              <a:t>mu-sab-bi-bu aḍ-ḍa-rū-ra-ti</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يَنْبَغِي/يَتَطَلَّبُ أَنْ.</a:t>
            </a:r>
            <a:endParaRPr lang="ar-SA" sz="13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الأَوَّلِ</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الثَّانِي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Shape 3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دُمِّرَتْ / أُجْلِيَ.</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المَبْنِيُّ لِلْمَجْهُولِ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passive</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الارْتِجَالُ بِالمَنْصُوبِ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improvising with the subjunctive</a:t>
            </a:r>
            <a:endParaRPr lang="en-US" sz="1350" dirty="0"/>
          </a:p>
          <a:p>
            <a:pPr indent="0" marL="0">
              <a:buNone/>
            </a:pPr>
            <a:r>
              <a:rPr lang="en-US" sz="1100" i="1" dirty="0">
                <a:solidFill>
                  <a:srgbClr val="5A6472"/>
                </a:solidFill>
                <a:latin typeface="Calibri" pitchFamily="34" charset="0"/>
                <a:cs typeface="Amiri" pitchFamily="2" charset="-78"/>
              </a:rPr>
              <a:t>alr-ti-jā-lu bil-man-ṣū-bi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حَوْلَ مَوْضُوعٍ</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 الأَدْوَارِ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مُؤْتَمَرٌ بِيئِيٌّ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environmental conference</a:t>
            </a:r>
            <a:endParaRPr lang="en-US" sz="1350" dirty="0"/>
          </a:p>
          <a:p>
            <a:pPr indent="0" marL="0">
              <a:buNone/>
            </a:pPr>
            <a:r>
              <a:rPr lang="en-US" sz="1100" i="1" dirty="0">
                <a:solidFill>
                  <a:srgbClr val="5A6472"/>
                </a:solidFill>
                <a:latin typeface="Calibri" pitchFamily="34" charset="0"/>
                <a:cs typeface="Amiri" pitchFamily="2" charset="-78"/>
              </a:rPr>
              <a:t>muʾ-ta-ma-run bī-ʾiy-yun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الأَدَاءُ تَحْتَ الضَّغْطِ</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 under pressure</a:t>
            </a:r>
            <a:endParaRPr lang="en-US" sz="1350" dirty="0"/>
          </a:p>
          <a:p>
            <a:pPr indent="0" marL="0">
              <a:buNone/>
            </a:pPr>
            <a:r>
              <a:rPr lang="en-US" sz="1100" i="1" dirty="0">
                <a:solidFill>
                  <a:srgbClr val="5A6472"/>
                </a:solidFill>
                <a:latin typeface="Calibri" pitchFamily="34" charset="0"/>
                <a:cs typeface="Amiri" pitchFamily="2" charset="-78"/>
              </a:rPr>
              <a:t>al-a-dā-ʾu taḥ-ta aḍ-ḍagh-ṭi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P4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9" name="Text 16"/>
          <p:cNvSpPr txBox="1"/>
          <p:nvPr/>
        </p:nvSpPr>
        <p:spPr>
          <a:xfrm>
            <a:off x="2542032"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-iya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نَحْمِيَ</a:t>
            </a:r>
            <a:pPr rtl="1" algn="ctr" indent="0" marL="0">
              <a:buNone/>
            </a:pPr>
            <a:r>
              <a:rPr lang="ar-SA" altLang="en-US" sz="2000" b="1" dirty="0">
                <a:solidFill>
                  <a:srgbClr val="1B3B6F"/>
                </a:solidFill>
                <a:latin typeface="Amiri" pitchFamily="2" charset="-78"/>
                <a:ea typeface="Amiri" pitchFamily="2" charset="-78"/>
                <a:cs typeface="Amiri" pitchFamily="2" charset="-78"/>
              </a:rPr>
              <a:t> البِيئَةَ</a:t>
            </a:r>
            <a:endParaRPr lang="ar-SA" sz="2000" dirty="0"/>
          </a:p>
        </p:txBody>
      </p:sp>
      <p:sp>
        <p:nvSpPr>
          <p:cNvPr id="25" name="Text 22"/>
          <p:cNvSpPr txBox="1"/>
          <p:nvPr/>
        </p:nvSpPr>
        <p:spPr>
          <a:xfrm>
            <a:off x="2560320" y="226771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نَحْمِي البِيئَةَ</a:t>
            </a:r>
            <a:endParaRPr lang="ar-SA" sz="20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li-kay</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P4-L04</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نَسْتَثْمِرَ</a:t>
            </a:r>
            <a:endParaRPr lang="ar-SA" sz="2000" dirty="0"/>
          </a:p>
        </p:txBody>
      </p:sp>
      <p:sp>
        <p:nvSpPr>
          <p:cNvPr id="31" name="Text 28"/>
          <p:cNvSpPr txBox="1"/>
          <p:nvPr/>
        </p:nvSpPr>
        <p:spPr>
          <a:xfrm>
            <a:off x="2560320" y="2881884"/>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نَسْتَثْمِرُ</a:t>
            </a:r>
            <a:endParaRPr lang="ar-SA" sz="2000" dirty="0"/>
          </a:p>
        </p:txBody>
      </p:sp>
      <p:sp>
        <p:nvSpPr>
          <p:cNvPr id="32" name="Text 29"/>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an</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بَدَأْنَا، </a:t>
            </a:r>
            <a:pPr rtl="1" algn="ctr" indent="0" marL="0">
              <a:buNone/>
            </a:pPr>
            <a:r>
              <a:rPr lang="ar-SA" altLang="en-US" sz="2000" b="1" dirty="0">
                <a:solidFill>
                  <a:srgbClr val="C77700"/>
                </a:solidFill>
                <a:latin typeface="Amiri" pitchFamily="2" charset="-78"/>
                <a:ea typeface="Amiri" pitchFamily="2" charset="-78"/>
                <a:cs typeface="Amiri" pitchFamily="2" charset="-78"/>
              </a:rPr>
              <a:t>لَنَجَحْنَا</a:t>
            </a:r>
            <a:endParaRPr lang="ar-SA" sz="2000" dirty="0"/>
          </a:p>
        </p:txBody>
      </p:sp>
      <p:sp>
        <p:nvSpPr>
          <p:cNvPr id="37" name="Text 34"/>
          <p:cNvSpPr txBox="1"/>
          <p:nvPr/>
        </p:nvSpPr>
        <p:spPr>
          <a:xfrm>
            <a:off x="2560320" y="3496056"/>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بَدَأْنَا، نَجَحْنَا</a:t>
            </a:r>
            <a:endParaRPr lang="ar-SA" sz="20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لَوِ اسْتَثْمَرْنَا</a:t>
            </a:r>
            <a:endParaRPr lang="ar-SA" sz="2000" dirty="0"/>
          </a:p>
        </p:txBody>
      </p:sp>
      <p:sp>
        <p:nvSpPr>
          <p:cNvPr id="43" name="Text 40"/>
          <p:cNvSpPr txBox="1"/>
          <p:nvPr/>
        </p:nvSpPr>
        <p:spPr>
          <a:xfrm>
            <a:off x="2560320" y="4110228"/>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نَسْتَثْمِرُ</a:t>
            </a:r>
            <a:endParaRPr lang="ar-SA" sz="2000" dirty="0"/>
          </a:p>
        </p:txBody>
      </p:sp>
      <p:sp>
        <p:nvSpPr>
          <p:cNvPr id="44" name="Text 41"/>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law</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دُمِّرَتِ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المَبَانِي</a:t>
            </a:r>
            <a:endParaRPr lang="ar-SA" sz="2000" dirty="0"/>
          </a:p>
        </p:txBody>
      </p:sp>
      <p:sp>
        <p:nvSpPr>
          <p:cNvPr id="49" name="Text 46"/>
          <p:cNvSpPr txBox="1"/>
          <p:nvPr/>
        </p:nvSpPr>
        <p:spPr>
          <a:xfrm>
            <a:off x="2560320" y="4724400"/>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يُدَمَّرَتِ المَبَانِي</a:t>
            </a:r>
            <a:endParaRPr lang="ar-SA" sz="20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 = she</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P4-L07</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كَانَتِ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المَدِينَةُ قَدْ فَقَدَتْ</a:t>
            </a:r>
            <a:endParaRPr lang="ar-SA" sz="2000" dirty="0"/>
          </a:p>
        </p:txBody>
      </p:sp>
      <p:sp>
        <p:nvSpPr>
          <p:cNvPr id="55" name="Text 52"/>
          <p:cNvSpPr txBox="1"/>
          <p:nvPr/>
        </p:nvSpPr>
        <p:spPr>
          <a:xfrm>
            <a:off x="2560320" y="533857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المَدِينَةُ قَدْ فَقَدَتْ</a:t>
            </a:r>
            <a:endParaRPr lang="ar-SA" sz="2000" dirty="0"/>
          </a:p>
        </p:txBody>
      </p:sp>
      <p:sp>
        <p:nvSpPr>
          <p:cNvPr id="56" name="Text 53"/>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structure has a precise marker that must be controlled.”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P4 GRAMMAR SPINE (VOCABULARY GROUP 2 + WEBSITE TEXTS)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Seven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00507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263347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li-kay + -a</a:t>
            </a:r>
            <a:endParaRPr lang="en-US" sz="1100" dirty="0"/>
          </a:p>
        </p:txBody>
      </p:sp>
      <p:sp>
        <p:nvSpPr>
          <p:cNvPr id="22" name="Text 19"/>
          <p:cNvSpPr txBox="1"/>
          <p:nvPr/>
        </p:nvSpPr>
        <p:spPr>
          <a:xfrm>
            <a:off x="4023360" y="2267712"/>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نَفْعَلُهُ لِكَيْ </a:t>
            </a:r>
            <a:pPr rtl="1" algn="ctr" indent="0" marL="0">
              <a:buNone/>
            </a:pPr>
            <a:r>
              <a:rPr lang="ar-SA" altLang="en-US" sz="1700" b="1" dirty="0">
                <a:solidFill>
                  <a:srgbClr val="D6336C"/>
                </a:solidFill>
                <a:latin typeface="Amiri" pitchFamily="2" charset="-78"/>
                <a:ea typeface="Amiri" pitchFamily="2" charset="-78"/>
                <a:cs typeface="Amiri" pitchFamily="2" charset="-78"/>
              </a:rPr>
              <a:t>نَصُونَ</a:t>
            </a:r>
            <a:pPr rtl="1" algn="ctr" indent="0" marL="0">
              <a:buNone/>
            </a:pPr>
            <a:r>
              <a:rPr lang="ar-SA" altLang="en-US" sz="1700" b="1" dirty="0">
                <a:solidFill>
                  <a:srgbClr val="1B3B6F"/>
                </a:solidFill>
                <a:latin typeface="Amiri" pitchFamily="2" charset="-78"/>
                <a:ea typeface="Amiri" pitchFamily="2" charset="-78"/>
                <a:cs typeface="Amiri" pitchFamily="2" charset="-78"/>
              </a:rPr>
              <a:t> المَوْرِدَ لِلْأَجْيَالِ القَادِمَةِ.</a:t>
            </a:r>
            <a:endParaRPr lang="ar-SA" sz="1700" dirty="0"/>
          </a:p>
        </p:txBody>
      </p:sp>
      <p:sp>
        <p:nvSpPr>
          <p:cNvPr id="23" name="Text 20"/>
          <p:cNvSpPr txBox="1"/>
          <p:nvPr/>
        </p:nvSpPr>
        <p:spPr>
          <a:xfrm>
            <a:off x="267004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a:t>
            </a:r>
            <a:endParaRPr lang="en-US" sz="11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yarjū an + -a</a:t>
            </a:r>
            <a:endParaRPr lang="en-US" sz="1100" dirty="0"/>
          </a:p>
        </p:txBody>
      </p:sp>
      <p:sp>
        <p:nvSpPr>
          <p:cNvPr id="29" name="Text 26"/>
          <p:cNvSpPr txBox="1"/>
          <p:nvPr/>
        </p:nvSpPr>
        <p:spPr>
          <a:xfrm>
            <a:off x="4023360" y="2881884"/>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نَرْجُو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تَتَغَيَّرَ</a:t>
            </a:r>
            <a:pPr rtl="1" algn="ctr" indent="0" marL="0">
              <a:buNone/>
            </a:pPr>
            <a:r>
              <a:rPr lang="ar-SA" altLang="en-US" sz="1700" b="1" dirty="0">
                <a:solidFill>
                  <a:srgbClr val="1B3B6F"/>
                </a:solidFill>
                <a:latin typeface="Amiri" pitchFamily="2" charset="-78"/>
                <a:ea typeface="Amiri" pitchFamily="2" charset="-78"/>
                <a:cs typeface="Amiri" pitchFamily="2" charset="-78"/>
              </a:rPr>
              <a:t> نَظْرَةُ النَّاسِ إِلَى المَبَانِي القَدِيمَةِ.</a:t>
            </a:r>
            <a:endParaRPr lang="ar-SA" sz="1700" dirty="0"/>
          </a:p>
        </p:txBody>
      </p:sp>
      <p:sp>
        <p:nvSpPr>
          <p:cNvPr id="30" name="Text 27"/>
          <p:cNvSpPr txBox="1"/>
          <p:nvPr/>
        </p:nvSpPr>
        <p:spPr>
          <a:xfrm>
            <a:off x="267004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P4-L03/06</a:t>
            </a:r>
            <a:endParaRPr lang="en-US" sz="11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yataṭallabu an + -a</a:t>
            </a:r>
            <a:endParaRPr lang="en-US" sz="1100" dirty="0"/>
          </a:p>
        </p:txBody>
      </p:sp>
      <p:sp>
        <p:nvSpPr>
          <p:cNvPr id="36" name="Text 33"/>
          <p:cNvSpPr txBox="1"/>
          <p:nvPr/>
        </p:nvSpPr>
        <p:spPr>
          <a:xfrm>
            <a:off x="4023360" y="3496056"/>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الأَمْرُ أَنْ </a:t>
            </a:r>
            <a:pPr rtl="1" algn="ctr" indent="0" marL="0">
              <a:buNone/>
            </a:pPr>
            <a:r>
              <a:rPr lang="ar-SA" altLang="en-US" sz="1700" b="1" dirty="0">
                <a:solidFill>
                  <a:srgbClr val="0E7C86"/>
                </a:solidFill>
                <a:latin typeface="Amiri" pitchFamily="2" charset="-78"/>
                <a:ea typeface="Amiri" pitchFamily="2" charset="-78"/>
                <a:cs typeface="Amiri" pitchFamily="2" charset="-78"/>
              </a:rPr>
              <a:t>نُخَصِّصَ</a:t>
            </a:r>
            <a:pPr rtl="1" algn="ctr" indent="0" marL="0">
              <a:buNone/>
            </a:pPr>
            <a:r>
              <a:rPr lang="ar-SA" altLang="en-US" sz="1700" b="1" dirty="0">
                <a:solidFill>
                  <a:srgbClr val="1B3B6F"/>
                </a:solidFill>
                <a:latin typeface="Amiri" pitchFamily="2" charset="-78"/>
                <a:ea typeface="Amiri" pitchFamily="2" charset="-78"/>
                <a:cs typeface="Amiri" pitchFamily="2" charset="-78"/>
              </a:rPr>
              <a:t> مِيزَانِيَّاتٍ لِلتَّرْمِيمِ.</a:t>
            </a:r>
            <a:endParaRPr lang="ar-SA" sz="1700" dirty="0"/>
          </a:p>
        </p:txBody>
      </p:sp>
      <p:sp>
        <p:nvSpPr>
          <p:cNvPr id="37" name="Text 34"/>
          <p:cNvSpPr txBox="1"/>
          <p:nvPr/>
        </p:nvSpPr>
        <p:spPr>
          <a:xfrm>
            <a:off x="267004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P4-L04</a:t>
            </a:r>
            <a:endParaRPr lang="en-US" sz="11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la-</a:t>
            </a:r>
            <a:endParaRPr lang="en-US" sz="1100" dirty="0"/>
          </a:p>
        </p:txBody>
      </p:sp>
      <p:sp>
        <p:nvSpPr>
          <p:cNvPr id="43" name="Text 40"/>
          <p:cNvSpPr txBox="1"/>
          <p:nvPr/>
        </p:nvSpPr>
        <p:spPr>
          <a:xfrm>
            <a:off x="4023360" y="4110228"/>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اسْتَثْمَرْنَا، سَنَحْمِي الغَدَ · لَوْ بَدَأْنَا، </a:t>
            </a:r>
            <a:pPr rtl="1" algn="ctr" indent="0" marL="0">
              <a:buNone/>
            </a:pPr>
            <a:r>
              <a:rPr lang="ar-SA" altLang="en-US" sz="1700" b="1" dirty="0">
                <a:solidFill>
                  <a:srgbClr val="C77700"/>
                </a:solidFill>
                <a:latin typeface="Amiri" pitchFamily="2" charset="-78"/>
                <a:ea typeface="Amiri" pitchFamily="2" charset="-78"/>
                <a:cs typeface="Amiri" pitchFamily="2" charset="-78"/>
              </a:rPr>
              <a:t>لَنَجَحْنَا</a:t>
            </a:r>
            <a:endParaRPr lang="ar-SA" sz="1700" dirty="0"/>
          </a:p>
        </p:txBody>
      </p:sp>
      <p:sp>
        <p:nvSpPr>
          <p:cNvPr id="44" name="Text 41"/>
          <p:cNvSpPr txBox="1"/>
          <p:nvPr/>
        </p:nvSpPr>
        <p:spPr>
          <a:xfrm>
            <a:off x="267004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conditionals</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qad</a:t>
            </a:r>
            <a:endParaRPr lang="en-US" sz="1100" dirty="0"/>
          </a:p>
        </p:txBody>
      </p:sp>
      <p:sp>
        <p:nvSpPr>
          <p:cNvPr id="48" name="Text 45"/>
          <p:cNvSpPr txBox="1"/>
          <p:nvPr/>
        </p:nvSpPr>
        <p:spPr>
          <a:xfrm>
            <a:off x="4023360" y="4724400"/>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الحَضَارَاتُ </a:t>
            </a:r>
            <a:pPr rtl="1" algn="ctr" indent="0" marL="0">
              <a:buNone/>
            </a:pPr>
            <a:r>
              <a:rPr lang="ar-SA" altLang="en-US" sz="1700" b="1" dirty="0">
                <a:solidFill>
                  <a:srgbClr val="D6336C"/>
                </a:solidFill>
                <a:latin typeface="Amiri" pitchFamily="2" charset="-78"/>
                <a:ea typeface="Amiri" pitchFamily="2" charset="-78"/>
                <a:cs typeface="Amiri" pitchFamily="2" charset="-78"/>
              </a:rPr>
              <a:t>قَدْ نَشَأَتْ</a:t>
            </a:r>
            <a:pPr rtl="1" algn="ctr" indent="0" marL="0">
              <a:buNone/>
            </a:pPr>
            <a:r>
              <a:rPr lang="ar-SA" altLang="en-US" sz="1700" b="1" dirty="0">
                <a:solidFill>
                  <a:srgbClr val="1B3B6F"/>
                </a:solidFill>
                <a:latin typeface="Amiri" pitchFamily="2" charset="-78"/>
                <a:ea typeface="Amiri" pitchFamily="2" charset="-78"/>
                <a:cs typeface="Amiri" pitchFamily="2" charset="-78"/>
              </a:rPr>
              <a:t> عَلَى ضِفَافِهِ.</a:t>
            </a:r>
            <a:endParaRPr lang="ar-SA" sz="1700" dirty="0"/>
          </a:p>
        </p:txBody>
      </p:sp>
      <p:sp>
        <p:nvSpPr>
          <p:cNvPr id="49" name="Text 46"/>
          <p:cNvSpPr txBox="1"/>
          <p:nvPr/>
        </p:nvSpPr>
        <p:spPr>
          <a:xfrm>
            <a:off x="267004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P4-L07</a:t>
            </a:r>
            <a:endParaRPr lang="en-US" sz="11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 · qāla inna</a:t>
            </a:r>
            <a:endParaRPr lang="en-US" sz="1100" dirty="0"/>
          </a:p>
        </p:txBody>
      </p:sp>
      <p:sp>
        <p:nvSpPr>
          <p:cNvPr id="53" name="Text 50"/>
          <p:cNvSpPr txBox="1"/>
          <p:nvPr/>
        </p:nvSpPr>
        <p:spPr>
          <a:xfrm>
            <a:off x="4023360" y="5338572"/>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أُعْلِنَتْ</a:t>
            </a:r>
            <a:pPr rtl="1" algn="ctr" indent="0" marL="0">
              <a:buNone/>
            </a:pPr>
            <a:r>
              <a:rPr lang="ar-SA" altLang="en-US" sz="1700" b="1" dirty="0">
                <a:solidFill>
                  <a:srgbClr val="1B3B6F"/>
                </a:solidFill>
                <a:latin typeface="Amiri" pitchFamily="2" charset="-78"/>
                <a:ea typeface="Amiri" pitchFamily="2" charset="-78"/>
                <a:cs typeface="Amiri" pitchFamily="2" charset="-78"/>
              </a:rPr>
              <a:t> حَالَةُ الطَّوَارِئِ · </a:t>
            </a:r>
            <a:pPr rtl="1" algn="ctr" indent="0" marL="0">
              <a:buNone/>
            </a:pPr>
            <a:r>
              <a:rPr lang="ar-SA" altLang="en-US" sz="1700" b="1" dirty="0">
                <a:solidFill>
                  <a:srgbClr val="7B3FA0"/>
                </a:solidFill>
                <a:latin typeface="Amiri" pitchFamily="2" charset="-78"/>
                <a:ea typeface="Amiri" pitchFamily="2" charset="-78"/>
                <a:cs typeface="Amiri" pitchFamily="2" charset="-78"/>
              </a:rPr>
              <a:t>قَالَ</a:t>
            </a:r>
            <a:pPr rtl="1" algn="ctr" indent="0" marL="0">
              <a:buNone/>
            </a:pPr>
            <a:r>
              <a:rPr lang="ar-SA" altLang="en-US" sz="1700" b="1" dirty="0">
                <a:solidFill>
                  <a:srgbClr val="1B3B6F"/>
                </a:solidFill>
                <a:latin typeface="Amiri" pitchFamily="2" charset="-78"/>
                <a:ea typeface="Amiri" pitchFamily="2" charset="-78"/>
                <a:cs typeface="Amiri" pitchFamily="2" charset="-78"/>
              </a:rPr>
              <a:t> الخَبِيرُ </a:t>
            </a:r>
            <a:pPr rtl="1" algn="ctr" indent="0" marL="0">
              <a:buNone/>
            </a:pPr>
            <a:r>
              <a:rPr lang="ar-SA" altLang="en-US" sz="1700" b="1" dirty="0">
                <a:solidFill>
                  <a:srgbClr val="7B3FA0"/>
                </a:solidFill>
                <a:latin typeface="Amiri" pitchFamily="2" charset="-78"/>
                <a:ea typeface="Amiri" pitchFamily="2" charset="-78"/>
                <a:cs typeface="Amiri" pitchFamily="2" charset="-78"/>
              </a:rPr>
              <a:t>إِنَّ</a:t>
            </a:r>
            <a:pPr rtl="1" algn="ctr" indent="0" marL="0">
              <a:buNone/>
            </a:pPr>
            <a:r>
              <a:rPr lang="ar-SA" altLang="en-US" sz="1700" b="1" dirty="0">
                <a:solidFill>
                  <a:srgbClr val="1B3B6F"/>
                </a:solidFill>
                <a:latin typeface="Amiri" pitchFamily="2" charset="-78"/>
                <a:cs typeface="Amiri" pitchFamily="2" charset="-78"/>
              </a:rPr>
              <a:t> …</a:t>
            </a:r>
            <a:endParaRPr lang="ar-SA" sz="1700" dirty="0"/>
          </a:p>
        </p:txBody>
      </p:sp>
      <p:sp>
        <p:nvSpPr>
          <p:cNvPr id="54" name="Text 51"/>
          <p:cNvSpPr txBox="1"/>
          <p:nvPr/>
        </p:nvSpPr>
        <p:spPr>
          <a:xfrm>
            <a:off x="267004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 · P3-L06</a:t>
            </a:r>
            <a:endParaRPr lang="en-US" sz="11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reported</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a P4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REQUIRED STRUCTURE, UNPROMPTED (P4-L12 TOPIC QUESTIONS + ROLE PLAY)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6451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cause</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23" name="Text 20"/>
          <p:cNvSpPr txBox="1"/>
          <p:nvPr/>
        </p:nvSpPr>
        <p:spPr>
          <a:xfrm>
            <a:off x="4663440" y="2267712"/>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تُشَكِّلُ</a:t>
            </a:r>
            <a:pPr rtl="1" algn="ctr" indent="0" marL="0">
              <a:buNone/>
            </a:pPr>
            <a:r>
              <a:rPr lang="ar-SA" altLang="en-US" sz="1700" b="1" dirty="0">
                <a:solidFill>
                  <a:srgbClr val="1B3B6F"/>
                </a:solidFill>
                <a:latin typeface="Amiri" pitchFamily="2" charset="-78"/>
                <a:ea typeface="Amiri" pitchFamily="2" charset="-78"/>
                <a:cs typeface="Amiri" pitchFamily="2" charset="-78"/>
              </a:rPr>
              <a:t> نُدْرَةُ المِيَاهِ أَكْبَرَ تَحَدٍّ، بِسَبَبِ قِلَّةِ الأَمْطَارِ …</a:t>
            </a:r>
            <a:endParaRPr lang="ar-SA" sz="1700" dirty="0"/>
          </a:p>
        </p:txBody>
      </p:sp>
      <p:sp>
        <p:nvSpPr>
          <p:cNvPr id="24" name="Text 21"/>
          <p:cNvSpPr txBox="1"/>
          <p:nvPr/>
        </p:nvSpPr>
        <p:spPr>
          <a:xfrm>
            <a:off x="548640" y="2267712"/>
            <a:ext cx="39319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تَحَدِّيًا بِيئِيًّا فِي العَالَمِ العَرَبِيِّ وَمَا أَسْبَابُهُ.</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30" name="Text 27"/>
          <p:cNvSpPr txBox="1"/>
          <p:nvPr/>
        </p:nvSpPr>
        <p:spPr>
          <a:xfrm>
            <a:off x="4663440" y="3054096"/>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لَوْ كَانَتْ لَدَيَّ</a:t>
            </a:r>
            <a:pPr rtl="1" algn="ctr" indent="0" marL="0">
              <a:buNone/>
            </a:pPr>
            <a:r>
              <a:rPr lang="ar-SA" altLang="en-US" sz="1700" b="1" dirty="0">
                <a:solidFill>
                  <a:srgbClr val="1B3B6F"/>
                </a:solidFill>
                <a:latin typeface="Amiri" pitchFamily="2" charset="-78"/>
                <a:ea typeface="Amiri" pitchFamily="2" charset="-78"/>
                <a:cs typeface="Amiri" pitchFamily="2" charset="-78"/>
              </a:rPr>
              <a:t> صَلَاحِيَّاتُهُ، </a:t>
            </a:r>
            <a:pPr rtl="1" algn="ctr" indent="0" marL="0">
              <a:buNone/>
            </a:pPr>
            <a:r>
              <a:rPr lang="ar-SA" altLang="en-US" sz="1700" b="1" dirty="0">
                <a:solidFill>
                  <a:srgbClr val="C77700"/>
                </a:solidFill>
                <a:latin typeface="Amiri" pitchFamily="2" charset="-78"/>
                <a:ea typeface="Amiri" pitchFamily="2" charset="-78"/>
                <a:cs typeface="Amiri" pitchFamily="2" charset="-78"/>
              </a:rPr>
              <a:t>لَأَطْلَقْتُ</a:t>
            </a:r>
            <a:pPr rtl="1" algn="ctr" indent="0" marL="0">
              <a:buNone/>
            </a:pPr>
            <a:r>
              <a:rPr lang="ar-SA" altLang="en-US" sz="1700" b="1" dirty="0">
                <a:solidFill>
                  <a:srgbClr val="1B3B6F"/>
                </a:solidFill>
                <a:latin typeface="Amiri" pitchFamily="2" charset="-78"/>
                <a:cs typeface="Amiri" pitchFamily="2" charset="-78"/>
              </a:rPr>
              <a:t> …</a:t>
            </a:r>
            <a:endParaRPr lang="ar-SA" sz="1700" dirty="0"/>
          </a:p>
        </p:txBody>
      </p:sp>
      <p:sp>
        <p:nvSpPr>
          <p:cNvPr id="31" name="Text 28"/>
          <p:cNvSpPr txBox="1"/>
          <p:nvPr/>
        </p:nvSpPr>
        <p:spPr>
          <a:xfrm>
            <a:off x="548640" y="3054096"/>
            <a:ext cx="39319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لَوْ كَانَتْ لَدَيْكَ صَلَاحِيَّاتُ وَزِيرِ البِيئَةِ، مَاذَا كُنْتَ سَتُغَيِّرُ؟</a:t>
            </a:r>
            <a:endParaRPr lang="ar-SA" sz="155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37" name="Text 34"/>
          <p:cNvSpPr txBox="1"/>
          <p:nvPr/>
        </p:nvSpPr>
        <p:spPr>
          <a:xfrm>
            <a:off x="4663440" y="3840480"/>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الأَمْرُ أَنْ </a:t>
            </a:r>
            <a:pPr rtl="1" algn="ctr" indent="0" marL="0">
              <a:buNone/>
            </a:pPr>
            <a:r>
              <a:rPr lang="ar-SA" altLang="en-US" sz="1700" b="1" dirty="0">
                <a:solidFill>
                  <a:srgbClr val="0E7C86"/>
                </a:solidFill>
                <a:latin typeface="Amiri" pitchFamily="2" charset="-78"/>
                <a:ea typeface="Amiri" pitchFamily="2" charset="-78"/>
                <a:cs typeface="Amiri" pitchFamily="2" charset="-78"/>
              </a:rPr>
              <a:t>نُخَصِّصَ</a:t>
            </a:r>
            <a:pPr rtl="1" algn="ctr" indent="0" marL="0">
              <a:buNone/>
            </a:pPr>
            <a:r>
              <a:rPr lang="ar-SA" altLang="en-US" sz="1700" b="1" dirty="0">
                <a:solidFill>
                  <a:srgbClr val="1B3B6F"/>
                </a:solidFill>
                <a:latin typeface="Amiri" pitchFamily="2" charset="-78"/>
                <a:ea typeface="Amiri" pitchFamily="2" charset="-78"/>
                <a:cs typeface="Amiri" pitchFamily="2" charset="-78"/>
              </a:rPr>
              <a:t> مِيزَانِيَّاتٍ لِلتَّرْمِيمِ …</a:t>
            </a:r>
            <a:endParaRPr lang="ar-SA" sz="1700" dirty="0"/>
          </a:p>
        </p:txBody>
      </p:sp>
      <p:sp>
        <p:nvSpPr>
          <p:cNvPr id="38" name="Text 35"/>
          <p:cNvSpPr txBox="1"/>
          <p:nvPr/>
        </p:nvSpPr>
        <p:spPr>
          <a:xfrm>
            <a:off x="548640" y="3840480"/>
            <a:ext cx="39319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الَّذِي يَتَطَلَّبُهُ الحِفَاظُ عَلَى التُّرَاثِ فِي رَأْيِكَ؟</a:t>
            </a:r>
            <a:endParaRPr lang="ar-SA" sz="16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yarjū an</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RP</a:t>
            </a:r>
            <a:endParaRPr lang="en-US" sz="1100" dirty="0"/>
          </a:p>
        </p:txBody>
      </p:sp>
      <p:sp>
        <p:nvSpPr>
          <p:cNvPr id="44" name="Text 41"/>
          <p:cNvSpPr txBox="1"/>
          <p:nvPr/>
        </p:nvSpPr>
        <p:spPr>
          <a:xfrm>
            <a:off x="4663440" y="4626864"/>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 سَـ … · نَرْجُو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تَعِيشَ</a:t>
            </a:r>
            <a:pPr rtl="1" algn="ctr" indent="0" marL="0">
              <a:buNone/>
            </a:pPr>
            <a:r>
              <a:rPr lang="ar-SA" altLang="en-US" sz="1700" b="1" dirty="0">
                <a:solidFill>
                  <a:srgbClr val="1B3B6F"/>
                </a:solidFill>
                <a:latin typeface="Amiri" pitchFamily="2" charset="-78"/>
                <a:ea typeface="Amiri" pitchFamily="2" charset="-78"/>
                <a:cs typeface="Amiri" pitchFamily="2" charset="-78"/>
              </a:rPr>
              <a:t> الأَجْيَالُ القَادِمَةُ …</a:t>
            </a:r>
            <a:endParaRPr lang="ar-SA" sz="1700" dirty="0"/>
          </a:p>
        </p:txBody>
      </p:sp>
      <p:sp>
        <p:nvSpPr>
          <p:cNvPr id="45" name="Text 42"/>
          <p:cNvSpPr txBox="1"/>
          <p:nvPr/>
        </p:nvSpPr>
        <p:spPr>
          <a:xfrm>
            <a:off x="566928" y="4626864"/>
            <a:ext cx="3931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a solution and a hope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answer each question with the trigger it invites — that is what earns the quality-of-language mark.</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ANSWER WITH THE TRIGGER IT INVITES (WEBSITE TEACHING POINT 2 + SPEAKING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كَانَتْ لَدَيَّ صَلَاحِيَّاتُهُ، لَأَطْلَقْتُ حَمْلَةً وَطَنِيَّةً لِلتَّشْجِيرِ.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had his powers, I would launch a national tree-planting campaign.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لِأَنَّ الأَشْجَارَ تُنَقِّي الهَوَاءَ وَتُقَلِّلُ الحَرَارَةَ.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trees purify the air and reduce the heat.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EXTRA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نَرْجُو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لِكَيْ نَصُونَ المَعَالِمَ، وَنَرْجُو أَنْ يُشَارِكَ الجَمِيعُ.</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 that we preserve the landmarks — and we hope everyone takes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more triggers.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بَدَأْنَا مُبَكِّرًا، لَنَجَحْنَا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بَدَأْنَا مُبَكِّرًا، نَجَحْنَا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P4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أَخْطَاءِ الوَحْدَةِ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Subjunctive after a trigger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نَحْمِيَ الأَجْيَالَ   ·   يَنْبَغِي أَنْ نَسْتَثْمِرَ فِي الطَّاقَةِ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Type 2 result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بَدَأْنَا مُبَكِّرًا، لَنَجَحْنَا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verb after law</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(not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اسْتَثْمَرْنَا …</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Disaster passive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dummirat · ujliya · uʿlinat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دُمِّرَتِ المَبَانِي وَأُعْلِنَتْ حَالَةُ الطَّوَارِئِ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نَحْمِي البِيئَةَ.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نَحْمِيْ البِيئَةَ.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نَحْمِيَ البِيئَةَ.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نَجَحْنَا.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سَنَنْجَحُ.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correctly formed?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 فِي الزِّلْزَالِ.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 المَبَانِي فِي الزِّلْزَالِ.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 فِي الزِّلْزَالِ.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نَحْمِي البِيئَةَ.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نَحْمِيْ البِيئَةَ.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نَحْمِيَ البِيئَةَ.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final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نَسْتَثْمِرَ فِي الطَّاقَةِ.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نَسْتَثْمِرُ فِي الطَّاقَةِ.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نَسْتَثْمِرْ فِي الطَّاقَةِ.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بَدَأْنَا مُبَكِّرًا، نَجَحْنَا.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بَدَأْنَا مُبَكِّرًا، لَنَجَحْنَا.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بَدَأْنَا مُبَكِّرًا، سَنَنْجَحُ.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correctly formed?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المَبَانِي فِي الزِّلْزَالِ.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 المَبَانِي فِي الزِّلْزَالِ.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المَبَانِي فِي الزِّلْزَالِ.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is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answer the assessment questions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7B3FA0"/>
                </a:solidFill>
                <a:latin typeface="Amiri" pitchFamily="2" charset="-78"/>
                <a:ea typeface="Amiri" pitchFamily="2" charset="-78"/>
                <a:cs typeface="Amiri" pitchFamily="2" charset="-78"/>
              </a:rPr>
              <a:t>تُشَكِّلُ</a:t>
            </a:r>
            <a:pPr rtl="1" algn="ctr" indent="0" marL="0">
              <a:buNone/>
            </a:pPr>
            <a:r>
              <a:rPr lang="ar-SA" altLang="en-US" sz="2700" b="1" dirty="0">
                <a:solidFill>
                  <a:srgbClr val="1B3B6F"/>
                </a:solidFill>
                <a:latin typeface="Amiri" pitchFamily="2" charset="-78"/>
                <a:ea typeface="Amiri" pitchFamily="2" charset="-78"/>
                <a:cs typeface="Amiri" pitchFamily="2" charset="-78"/>
              </a:rPr>
              <a:t> نُدْرَةُ المِيَاهِ …</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challenge.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Q3</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يَتَطَلَّبُ الأَمْرُ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نُخَصِّصَ</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لِكَيْ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نَصُونَ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Q2</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لَوْ كَانَتْ لَدَيَّ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C77700"/>
                </a:solidFill>
                <a:latin typeface="Amiri" pitchFamily="2" charset="-78"/>
                <a:ea typeface="Amiri" pitchFamily="2" charset="-78"/>
                <a:cs typeface="Amiri" pitchFamily="2" charset="-78"/>
              </a:rPr>
              <a:t>لَأَطْلَقْتُ</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نَرْجُو أَنْ </a:t>
            </a:r>
            <a:pPr rtl="1" algn="ctr" indent="0" marL="0">
              <a:buNone/>
            </a:pPr>
            <a:r>
              <a:rPr lang="ar-SA" altLang="en-US" sz="2800" b="1" dirty="0">
                <a:solidFill>
                  <a:srgbClr val="1D5FBF"/>
                </a:solidFill>
                <a:latin typeface="Amiri" pitchFamily="2" charset="-78"/>
                <a:ea typeface="Amiri" pitchFamily="2" charset="-78"/>
                <a:cs typeface="Amiri" pitchFamily="2" charset="-78"/>
              </a:rPr>
              <a:t>تَتَغَيَّرَ</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Hope.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CHALLENGE</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HOPE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تُشَكِّلُ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نُدْرَةُ المِيَاهِ أَكْبَرَ تَحَدٍّ بِيئِيٍّ، بِسَبَبِ قِلَّةِ الأَمْطَارِ وَسُوءِ الإِدَارَةِ. وَيَتَطَلَّبُ الأَمْرُ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نُخَصِّصَ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مِيزَانِيَّاتٍ أَكْبَرَ لِلتَّحْلِيَةِ، لِكَيْ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نَصُونَ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المَوْرِدَ لِلْأَجْيَالِ القَادِمَةِ.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كَانَتْ لَدَيَّ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صَلَاحِيَّاتُ وَزِيرِ البِيئَةِ،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لَأَطْلَقْتُ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مَشْرُوعًا وَطَنِيًّا لِتَحْلِيَةِ المِيَاهِ. وَنَرْجُو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تَتَغَيَّرَ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نَظْرَةُ النَّاسِ إِلَى البِيئَةِ.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Water scarcity is the biggest environmental challenge, because of low rainfall and poor management. It requires us to allocate bigger budgets for desalination, so that we preserve the resource for future generations. And if I had the powers of the environment minister, I would launch a national water-desalination project. We hope that people’s view of the environment will change.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نَسْتَثْمِرُ فِي الطَّاقَةِ النَّظِيفَةِ لِكَيْ نَحْمِيَ الأَجْيَالَ القَادِمَةَ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invest in clean energy so that we protect future generations</a:t>
            </a:r>
            <a:endParaRPr lang="en-US" sz="1250" dirty="0"/>
          </a:p>
          <a:p>
            <a:pPr indent="0" marL="0">
              <a:buNone/>
            </a:pPr>
            <a:r>
              <a:rPr lang="en-US" sz="1050" i="1" dirty="0">
                <a:solidFill>
                  <a:srgbClr val="8A6D1E"/>
                </a:solidFill>
                <a:latin typeface="Calibri" pitchFamily="34" charset="0"/>
                <a:cs typeface="Amiri" pitchFamily="2" charset="-78"/>
              </a:rPr>
              <a:t>Purpose: li-kay + -a.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يَتَطَلَّبُ الأَمْرُ أَنْ نُخَصِّصَ مِيزَانِيَّاتٍ أَكْبَرَ لِلْبِيئَةِ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matter requires us to allocate bigger budgets for the environment</a:t>
            </a:r>
            <a:endParaRPr lang="en-US" sz="1250" dirty="0"/>
          </a:p>
          <a:p>
            <a:pPr indent="0" marL="0">
              <a:buNone/>
            </a:pPr>
            <a:r>
              <a:rPr lang="en-US" sz="1050" i="1" dirty="0">
                <a:solidFill>
                  <a:srgbClr val="8A6D1E"/>
                </a:solidFill>
                <a:latin typeface="Calibri" pitchFamily="34" charset="0"/>
                <a:cs typeface="Amiri" pitchFamily="2" charset="-78"/>
              </a:rPr>
              <a:t>Necessity: yataṭallabu an + -a.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بَدَأْنَا التَّحَوُّلَ مُبَكِّرًا، لَكَانَتْ بِيئَتُنَا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we begun the transition early, our environment would be better</a:t>
            </a:r>
            <a:endParaRPr lang="en-US" sz="1250" dirty="0"/>
          </a:p>
          <a:p>
            <a:pPr indent="0" marL="0">
              <a:buNone/>
            </a:pPr>
            <a:r>
              <a:rPr lang="en-US" sz="1050" i="1" dirty="0">
                <a:solidFill>
                  <a:srgbClr val="8A6D1E"/>
                </a:solidFill>
                <a:latin typeface="Calibri" pitchFamily="34" charset="0"/>
                <a:cs typeface="Amiri" pitchFamily="2" charset="-78"/>
              </a:rPr>
              <a:t>Type 2: law + past → la-.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MISTAKES + EARLIER P4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li-kay + -a</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نَسْتَثْمِرُ فِي الطَّاقَةِ لِكَيْ نَحْمِيَ البِيئَةَ.</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نَسْتَثْمِرُ فِي الطَّاقَةِ لِكَيْ نَحْمِي البِيئَةَ.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يَتَطَلَّبُ الأَمْرُ أَنْ نُخَصِّصَ مِيزَانِيَّةً.</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يَتَطَلَّبُ الأَمْرُ أَنْ نُخَصِّصُ مِيزَانِيَّةً.</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بَدَأْنَا مُبَكِّرًا، لَنَجَحْنَا.</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بَدَأْنَا مُبَكِّرًا، نَجَحْنَا.</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(P4-L05)</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أُجْلِيَ آلَافُ السُّكَّانِ.</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أَجْلَى آلَافُ السُّكَّانِ.</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partner (P4-L06)</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يَتَحَوَّلُ العَالَمُ العَرَبِيُّ إِلَى الطَّاقَةِ المُتَجَدِّدَةِ.</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يَتَحَوَّلُ العَالَمُ العَرَبِيُّ فِي الطَّاقَةِ المُتَجَدِّدَةِ.</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yahdifu ilā (P4-L09)</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يَهْدِفُ المَشْرُوعُ إِلَى أَنْ يُقَلِّلَ الانْبِعَاثَاتِ.</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يَهْدِفُ المَشْرُوعُ أَنْ يُقَلِّلَ الانْبِعَاثَاتِ.</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necessity +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(kāna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Necessity (an + -a)</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Purpose (li-kay)</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كَانَتْ مَدِينَتِي قَدْ فَقَدَتْ حَدَائِقَهَا قَبْلَ أَنْ نَنْتَبِهَ لِقِيمَتِهَا</a:t>
            </a:r>
            <a:endParaRPr lang="ar-SA" sz="14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الحِفَاظُ عَلَيْهِ أَنْ نُخَصِّصَ مِيزَانِيَّاتٍ لِلتَّرْمِيمِ</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وَنَفْعَلُ ذٰلِكَ لِكَيْ نَصُونَ هُوِيَّتَنَا لِلْأَجْيَالِ القَادِمَةِ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الحَضَارَاتُ قَدْ نَشَأَتْ عَلَى ضِفَافِ النَّهْرِ</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وَيَنْبَغِي أَنْ نَحُدَّ مِنَ التَّلَوُّثِ وَالإِهْمَالِ</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وَنَعْمَلُ عَلَيْهِ لِكَيْ نَحْمِيَ ذَاكِرَتَنَا الجَمَاعِيَّةَ</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كُنَّا قَدْ أَهْمَلْنَا التُّرَاثَ العُمْرَانِيَّ لِسَنَوَاتٍ</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الضَّرُورِيِّ أَنْ نَسْتَثْمِرَ فِي الطَّاقَةِ المُتَجَدِّدَةِ</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وَنُطَوِّرُهُ لِكَيْ نُوَازِنَ بَيْنَ العُمْرَانِ وَالطَّبِيعَةِ</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Trigger, conditional / past perfect — or passive / reported?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الأَجْيَالَ القَادِمَةَ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نَسْتَثْمِرَ فِي الطَّاقَةِ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يَتَغَيَّرَ السُّلُوكُ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إِذَا اسْتَثْمَرْنَا اليَوْمَ، سَنَحْمِي الغَدَ</a:t>
            </a:r>
            <a:endParaRPr lang="ar-SA" sz="16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بَدَأْنَا مُبَكِّرًا، لَنَجَحْنَا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كَانَتِ المَدِينَةُ قَدْ فَقَدَتْ حَدَائِقَهَا</a:t>
            </a:r>
            <a:endParaRPr lang="ar-SA" sz="17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دُمِّرَتِ المَبَانِي فِي الزِّلْزَالِ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قَالَ الخَبِيرُ إِنَّ الاسْتِدَامَةَ ضَرُورَةٌ</a:t>
            </a:r>
            <a:endParaRPr lang="ar-SA" sz="17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triggers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conditionals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reported</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triggers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الأَجْيَالَ القَادِمَةَ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نَسْتَثْمِرَ فِي الطَّاقَةِ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يَتَغَيَّرَ السُّلُوكُ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conditionals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اسْتَثْمَرْنَا اليَوْمَ، سَنَحْمِي الغَدَ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بَدَأْنَا مُبَكِّرًا، لَنَجَحْنَا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المَدِينَةُ قَدْ فَقَدَتْ حَدَائِقَهَا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reported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دُمِّرَتِ المَبَانِي فِي الزِّلْزَالِ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الخَبِيرُ إِنَّ الاسْتِدَامَةَ ضَرُورَةٌ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9</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سَنَسْتَثْمِرُ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اسْتَثْمَرْنَا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volition clause is correct?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تَنْجَحُ المُفَاوَضَاتُ.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تَنْجَحَ المُفَاوَضَاتُ.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نَجَحَتِ المُفَاوَضَاتُ.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الخَبِيرُ أَنَّ الاسْتِدَامَةَ ضَرُورَةٌ.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الخَبِيرُ إِنَّ الاسْتِدَامَةَ ضَرُورَةٌ.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الخَبِيرُ بِأَنَّ الاسْتِدَامَةَ ضَرُورَةٌ.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 أَكْبَرَ.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مِيزَانِيَّةً أَكْبَرَ فَقَطْ.</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 أَكْبَرَ.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سَنَسْتَثْمِرُ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اسْتَثْمَرْنَا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volition clause is correct?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نَرْجُو أَنْ تَنْجَحُ المُفَاوَضَاتُ.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نَرْجُو أَنْ تَنْجَحَ المُفَاوَضَاتُ.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نَرْجُو أَنْ نَجَحَتِ المُفَاوَضَاتُ.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تَنْجَحَ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الخَبِيرُ أَنَّ الاسْتِدَامَةَ ضَرُورَةٌ.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الخَبِيرُ إِنَّ الاسْتِدَامَةَ ضَرُورَةٌ.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الخَبِيرُ بِأَنَّ الاسْتِدَامَةَ ضَرُورَةٌ.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الأَمْرُ أَنْ نُخَصِّصُ مِيزَانِيَّةً أَكْبَرَ.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الأَمْرُ مِيزَانِيَّةً أَكْبَرَ فَقَطْ.</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الأَمْرُ أَنْ نُخَصِّصَ مِيزَانِيَّةً أَكْبَرَ.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takes a subjunctive verb: </a:t>
            </a:r>
            <a:pPr algn="l" indent="0" marL="0">
              <a:buNone/>
            </a:pPr>
            <a:r>
              <a:rPr lang="ar-SA" altLang="en-US" sz="1350" dirty="0">
                <a:solidFill>
                  <a:srgbClr val="8A6D1E"/>
                </a:solidFill>
                <a:latin typeface="Amiri" pitchFamily="2" charset="-78"/>
                <a:ea typeface="Amiri" pitchFamily="2" charset="-78"/>
                <a:cs typeface="Amiri" pitchFamily="2" charset="-78"/>
              </a:rPr>
              <a:t>نُخَصِّصَ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نَسْتَثْمِرُ فِي الطَّاقَةِ لِكَيْ نَحْمِي البِيئَةَ.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naḥmī?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يَتَطَلَّبُ الأَمْرُ أَنْ نُخَصِّصُ مِيزَانِيَّةً.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najaḥnā?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بَدَأْنَا مُبَكِّرًا، نَجَحْنَا فِي حِمَايَةِ البِيئَةِ.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yudammarat?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نَسْتَثْمِرُ فِي الطَّاقَةِ لِكَيْ نَحْمِي البِيئَةَ.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نَسْتَثْمِرُ فِي الطَّاقَةِ لِكَيْ نَحْمِيَ البِيئَةَ.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takes a final fatḥa: </a:t>
            </a:r>
            <a:pPr algn="l" indent="0" marL="0">
              <a:buNone/>
            </a:pPr>
            <a:r>
              <a:rPr lang="ar-SA" altLang="en-US" sz="1500" b="1" dirty="0">
                <a:solidFill>
                  <a:srgbClr val="1B3B6F"/>
                </a:solidFill>
                <a:latin typeface="Amiri" pitchFamily="2" charset="-78"/>
                <a:ea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يَتَطَلَّبُ الأَمْرُ أَنْ نُخَصِّصُ مِيزَانِيَّةً.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يَتَطَلَّبُ الأَمْرُ أَنْ نُخَصِّصَ مِيزَانِيَّةً.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نُخَصِّصَ</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بَدَأْنَا مُبَكِّرًا، نَجَحْنَا فِي حِمَايَةِ البِيئَةِ.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لَوْ بَدَأْنَا مُبَكِّرًا، لَنَجَحْنَا فِي حِمَايَةِ البِيئَةِ.</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a mock environmental-conference conversation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ecosystem does the student admire, and why?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Nile, because it holds great diversity and civilisations arose on its banks</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desert, because it is empty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ecosystem at 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conserving it require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pollution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budgets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Allocating bigger budgets and curbing pollution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does the student give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pollution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diversity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preserve the resource for future generations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 minister's powers?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launch a national water-desalination project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Powers make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refuses to act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answers using all three triggers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kānat qad · yataṭallabu an · li-kay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صِفْ نِظَامًا بِيئِيًّا فِي العَالَمِ العَرَبِيِّ تُعْجَبُ بِهِ. الطَّالِبُ: يُعْجِبُنِي نَهْرُ النِّيلِ لِأَنَّهُ يَضُمُّ تَنَوُّعًا كَبِيرًا، وَكَانَتِ الحَضَارَاتُ قَدْ نَشَأَتْ عَلَى ضِفَافِهِ.</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Describe an ecosystem in the Arab world that you admire. Student: I admire the River Nile because it holds great diversity, and civilisations had grown up on its banks.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مَا الَّذِي يَتَطَلَّبُهُ الحِفَاظُ عَلَيْهِ؟ الطَّالِبُ: يَتَطَلَّبُ الأَمْرُ أَنْ نُخَصِّصَ مِيزَانِيَّاتٍ أَكْبَرَ وَأَنْ نَحُدَّ مِنَ التَّلَوُّثِ.</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does conserving it require? Student: It requires us to allocate bigger budgets and to curb pollution.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المُعَلِّمُ: وَلِمَاذَا نَفْعَلُ ذٰلِكَ؟ الطَّالِبُ: نَفْعَلُهُ لِكَيْ نَصُونَ المَوْرِدَ لِلْأَجْيَالِ القَادِمَةِ.</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why do we do that? Student: We do it so that we preserve the resource for future generations.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لَوْ كَانَتْ لَدَيْكَ صَلَاحِيَّاتُ وَزِيرِ البِيئَةِ، مَاذَا كُنْتَ سَتُغَيِّرُ؟ الطَّالِبُ: لَوْ كَانَتْ لَدَيَّ صَلَاحِيَّاتُهُ، لَأَطْلَقْتُ مَشْرُوعًا وَطَنِيًّا لِتَحْلِيَةِ المِيَاهِ.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If you had the powers of the environment minister, what would you change? Student: If I had his powers, I would launch a national water-desalination project.</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أَجْوِبَةٌ مُتَوَازِنَةٌ اسْتَعْمَلْتَ فِيهَا المُسَبِّبَاتِ الثَّلَاثَةَ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Balanced answers in which you used all three triggers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ecosystem does the student admire, and why?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Nile, because it holds great diversity and civilisations arose on its banks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desert, because it is empty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ecosystem at 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2" charset="-78"/>
                <a:ea typeface="Amiri" pitchFamily="2" charset="-78"/>
                <a:cs typeface="Amiri" pitchFamily="2" charset="-78"/>
              </a:rPr>
              <a:t>يُعْجِبُنِي نَهْرُ النِّيلِ لِأَنَّهُ يَضُمُّ تَنَوُّعًا كَبِيرًا، وَكَانَتِ الحَضَارَاتُ قَدْ نَشَأَتْ عَلَى ضِفَافِهِ.</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conserving it require (necessity)?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pollution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Reducing budgets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Allocating bigger budgets and curbing pollution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يَتَطَلَّبُ الأَمْرُ أَنْ نُخَصِّصَ مِيزَانِيَّاتٍ أَكْبَرَ وَأَنْ نَحُدَّ مِنَ التَّلَوُّثِ.</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does the student give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pollution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reduce diversity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preserve the resource for future generations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نَفْعَلُهُ لِكَيْ نَصُونَ المَوْرِدَ لِلْأَجْيَالِ القَادِمَةِ.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 minister's powers?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launch a national water-desalination project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Powers make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refuses to act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كَانَتْ لَدَيَّ صَلَاحِيَّاتُهُ، لَأَطْلَقْتُ مَشْرُوعًا وَطَنِيًّا لِتَحْلِيَةِ المِيَاهِ.</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answers using all three triggers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المُسَبِّبَاتِ الثَّلَاثَةَ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kānat qad · yataṭallabu an · li-kay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نِظَامًا بِيئِيًّا فِي العَالَمِ العَرَبِيِّ تُعْجَبُ بِهِ — لِمَاذَا هُوَ مُهِمٌّ؟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يَتَطَلَّبُهُ الحِفَاظُ عَلَى التُّرَاثِ المِعْمَارِيِّ فِي رَأْيِكَ؟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كَانَتْ لَدَيْكَ صَلَاحِيَّاتُ وَزِيرِ البِيئَةِ، مَاذَا كُنْتَ سَتُغَيِّرُ؟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يُعْجِبُنِي ___ لِأَنَّهُ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يَتَطَلَّبُ الأَمْرُ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لَوْ كَانَتْ لَدَيَّ صَلَاحِيَّاتُهُ، لَأَطْلَقْتُ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الَّذِي يَتَطَلَّبُهُ الحِفَاظُ عَلَى التُّرَاثِ؟</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does conserving heritage require?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يَتَطَلَّبُ الأَمْرُ أَنْ نُخَصِّصَ مِيزَانِيَّاتٍ لِلتَّرْمِيمِ وَأَنْ نَحُدَّ مِنَ الإِهْمَالِ.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requires us to allocate budgets for restoration and to curb neglect.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P4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P4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purpose clause, a necessity clause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purpose clause, a necessity clause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fluent answers to the why, the yataṭallabu and the law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all three triggers, a Type 2 and the past perfect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لَوْ كَانَتْ لَدَيَّ صَلَاحِيَّاتُ الوَزِيرِ، لَأَطْلَقْتُ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the minister’s powers, I would launch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كَانَتْ مُدُنُنَا قَدْ فَقَدَتْ ______ قَبْلَ أَنْ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cities had lost … before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نَرْجُو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hope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اسْتَثْمَرْنَا اليَوْمَ، سَنَحْمِي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invest today,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يُعْجِبُنِي ______ لِأَنَّهُ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admire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تُشَكِّلُ ______ أَكْبَرَ تَحَدٍّ بِيئِيٍّ.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biggest environmental challenge.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يَتَطَلَّبُ الأَمْرُ أَنْ نُخَصِّصَ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requires us to allocate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نَفْعَلُهُ لِكَيْ نَصُونَ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do it so that we preserve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B3B6F"/>
                </a:solidFill>
                <a:latin typeface="Amiri" pitchFamily="2" charset="-78"/>
                <a:ea typeface="Amiri" pitchFamily="2" charset="-78"/>
                <a:cs typeface="Amiri" pitchFamily="2" charset="-78"/>
              </a:rPr>
              <a:t>نَهْرُ النِّيلِ  ·  يَضُمُّ تَنَوُّعًا كَبِيرًا  ·  نُدْرَةُ المِيَاهِ  ·  مِيزَانِيَّاتٍ لِلتَّرْمِيمِ  ·  نَحُدَّ مِنَ التَّلَوُّثِ  ·  هُوِيَّتَنَا  ·  ذَاكِرَتَنَا الجَمَاعِيَّةَ  ·  حَمْلَةً وَطَنِيَّةً لِلتَّشْجِيرِ  ·  مَشْرُوعًا وَطَنِيًّا لِتَحْلِيَةِ المِيَاهِ  ·  تَتَغَيَّرَ نَظْرَةُ النَّاسِ  ·  تُرَاثِهَا العُمْرَانِيِّ  ·  الغَدَ</a:t>
            </a:r>
            <a:endParaRPr lang="ar-SA" sz="10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P4 topic conversation. Answer two of the assessment questions, using all three subjunctive triggers, a Type 2 conditional and the past perfect,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perfect (kāna qad …) with correct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purpose clause (li-kay), a necessity clause (yataṭallabu / yanbaghī an) and a volition clause.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conditional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final fatḥa on every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نَنْتَبِهَ لِقِيمَتِهِ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we noticed its value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 نَحُدَّ مِنَ الإِهْمَالِ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to curb neglect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وَنَحْمِيَ ذَاكِرَتَنَا الجَمَاعِيَّةَ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protect our collective memory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وَلَدَعَمْتُ الطَّاقَةَ المُتَجَدِّدَةَ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would support renewable energy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تَجْمَعُ بَيْنَ حِمَايَةِ الطَّبِيعَةِ وَصَوْنِ العُمْرَانِ</a:t>
            </a:r>
            <a:endParaRPr lang="ar-SA" sz="17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combine protecting nature and preserving buildings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كَانَتْ مُدُنُنَا قَدْ فَقَدَتْ كَثِيرًا مِنْ تُرَاثِهَا العُمْرَانِيِّ قَبْلَ أَنْ نَنْتَبِهَ لِقِيمَتِهِ. وَأَرَى أَنَّ الحِفَاظَ عَلَيْهِ يَتَطَلَّبُ أَنْ نُخَصِّصَ مِيزَانِيَّاتٍ لِلتَّرْمِيمِ وَأَنْ نَحُدَّ مِنَ الإِهْمَالِ. وَنَفْعَلُ ذٰلِكَ لِكَيْ نَصُونَ هُوِيَّتَنَا وَنَحْمِيَ ذَاكِرَتَنَا الجَمَاعِيَّةَ. وَنَرْجُو أَنْ تَتَغَيَّرَ نَظْرَةُ النَّاسِ إِلَى المَبَانِي القَدِيمَةِ. وَلَوْ كَانَتْ لَدَيَّ صَلَاحِيَّاتُ وَزِيرِ البِيئَةِ، لَأَطْلَقْتُ حَمْلَةً وَطَنِيَّةً لِلتَّشْجِيرِ وَلَدَعَمْتُ الطَّاقَةَ المُتَجَدِّدَةَ. فَهٰذِهِ الخُطُوَاتُ تَجْمَعُ بَيْنَ حِمَايَةِ الطَّبِيعَةِ وَصَوْنِ العُمْرَانِ مَعًا.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cities had lost much of their built heritage before we noticed its value. I think preserving it requires us to allocate budgets for restoration and to curb neglect. We do this so that we preserve our identity and protect our collective memory. We hope that people’s view of old buildings will change. And if I had the powers of the environment minister, I would launch a national tree-planting campaign and I would support renewable energy. These steps combine protecting nature and preserving our buildings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perfect (kānat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yataṭallabu an + two verbs in -a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two verbs in -a · narjū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with two la- results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after li-kay and an ends in -a (naḥmiya · nastathmira).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the verb after law is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has the right shape (dummirat · ujliya); kānat agrees with a city.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of each trigger: purpose, volition, necessity.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each question with the trigger it invites,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نَجَحْنَا.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سَنَنْجَحُ.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لِكَيْ نَحْمِي البِيئَةَ.</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لِكَيْ نَحْمِيْ البِيئَةَ.</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final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يَتَطَلَّبُ الأَمْرُ أَنْ نُخَصِّصُ مِيزَانِيَّةً.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يَتَطَلَّبُ الأَمْرُ أَنْ نُخَصِّصْ مِيزَانِيَّةً.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نُخَصِّصَ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بَدَأْنَا مُبَكِّرًا، نَجَحْنَا.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بَدَأْنَا مُبَكِّرًا، سَنَنْجَحُ.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تَحْتَوِي هٰذِهِ القَائِمَةُ عَلَى أَخْطَاءٍ شَائِعَةٍ فِي السَّنَةِ التَّاسِعَةِ. الأَوَّلُ فِي النَّصْبِ بَعْدَ لِكَيْ: «نَزْرَعُ الأَشْجَارَ لِكَيْ نَحْمِي البِيئَةَ» — وَالصَّوَابُ «نَحْمِيَ». الثَّانِي فِي النَّصْبِ بَعْدَ أَنْ: «يَنْبَغِي أَنْ نَسْتَثْمِرُ» — وَالصَّوَابُ «نَسْتَثْمِرَ». الثَّالِثُ فِي جَوَابِ لَوْ: «لَوْ بَدَأْنَا مُبَكِّرًا، نَجَحْنَا» — وَالصَّوَابُ «لَنَجَحْنَا». الرَّابِعُ فِي زَمَنِ فِعْلِ لَوْ: «لَوْ نَسْتَثْمِرُ» — وَالصَّوَابُ «لَوِ اسْتَثْمَرْنَا». الخَامِسُ فِي الفِعْلِ المَبْنِيِّ لِلْمَجْهُولِ: «يُدَمَّرَتِ المَبَانِي» — وَالصَّوَابُ «دُمِّرَتْ». وَالدَّرْسُ المُشْتَرَكُ أَنَّ لِكُلِّ بِنْيَةٍ عَلَامَةً دَقِيقَةً يَجِبُ ضَبْطُهَا.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جَوَابِ لَوْ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زَمَنِ فِعْلِ لَوْ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tense after law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المَبْنِيِّ لِلْمَجْهُولِ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passive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المُشْتَرَكُ</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structure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 … البِيئَةَ</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سَنَحْمِي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لَنَجَحْنَا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نَجَحْنَا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سَنَنْجَحُ</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نَسْتَثْمِرُ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اسْتَثْمَرْنَا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سَنَسْتَثْمِرُ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passive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 … البِيئَةَ</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نَحْمِيَ</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سَنَحْمِي</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final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لَنَجَحْنَا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نَجَحْنَا</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سَنَنْجَحُ</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نَسْتَثْمِرُ</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اسْتَثْمَرْنَا</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سَنَسْتَثْمِرُ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passive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is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Mastery Mission — The P4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نَرْجُو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المُفَاوَضَاتُ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تَنْجَحُ</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تَنْجَحَ</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الحِمَايَةِ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سَنَنْجَحُ</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نَجَحْنَا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لَنَجَحْنَا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لَتَجَنَّبْنَا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اسْتَثْمَرْنَا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سَنَسْتَثْمِرُ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correctly formed?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 المَبَانِي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نُنَقِّيَ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نُنَقِّيَ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نَرْجُو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المُفَاوَضَاتُ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تَنْجَحُ</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تَنْجَحَ</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تَنْجَحَ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الحِمَايَةِ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سَنَنْجَحُ</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نَجَحْنَا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لَنَجَحْنَا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لَتَجَنَّبْنَا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اسْتَثْمَرْنَا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سَنَسْتَثْمِرُ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correctly formed?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 المَبَانِي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المَبَانِي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المَبَانِي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is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P4-L12 · P4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صَلَاحِيَّاتٌ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powers, authority</a:t>
            </a:r>
            <a:pPr indent="0" marL="0">
              <a:buNone/>
            </a:pPr>
            <a:r>
              <a:rPr lang="ar-SA" sz="1000" i="1" dirty="0">
                <a:solidFill>
                  <a:srgbClr val="5A6472"/>
                </a:solidFill>
                <a:latin typeface="Calibri" pitchFamily="34" charset="0"/>
                <a:ea typeface="Amiri" pitchFamily="2" charset="-78"/>
                <a:cs typeface="Amiri" pitchFamily="2" charset="-78"/>
              </a:rPr>
              <a:t>  sg. صَلَاحِيَّةٌ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يُشَكِّلُ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constitutes, forms</a:t>
            </a:r>
            <a:pPr indent="0" marL="0">
              <a:buNone/>
            </a:pPr>
            <a:r>
              <a:rPr lang="en-US" sz="1000" i="1" dirty="0">
                <a:solidFill>
                  <a:srgbClr val="5A6472"/>
                </a:solidFill>
                <a:latin typeface="Calibri" pitchFamily="34" charset="0"/>
                <a:cs typeface="Amiri" pitchFamily="2" charset="-78"/>
              </a:rPr>
              <a:t>  Form II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تُشَكِّلُ … أَكْبَرَ تَحَدٍّ · يَتَطَلَّبُ الأَمْرُ أَنْ … · لَوْ كَانَتْ لَدَيَّ … لَأَطْلَقْتُ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P4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li-kay, a yataṭallabu an and a Type 2 sentence;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P4-L12 · P4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li-kay / an + verb in -A (naḥmiyA) · law + PAST → LA- · dummirat, never yudammarat · a city is “she” (kānat) — and answer each question with the trigger it invites,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P4-L11 · Consolidation — Speaking Preparation and Full Subjunctive Mastery</dc:title>
  <dc:subject>PptxGenJS Presentation</dc:subject>
  <dc:creator>Al Madina Online School · Arabic Department</dc:creator>
  <cp:lastModifiedBy>Al Madina Online School · Arabic Department</cp:lastModifiedBy>
  <cp:revision>1</cp:revision>
  <dcterms:created xsi:type="dcterms:W3CDTF">2026-10-11T06:43:23Z</dcterms:created>
  <dcterms:modified xsi:type="dcterms:W3CDTF">2026-10-11T06:43:23Z</dcterms:modified>
</cp:coreProperties>
</file>