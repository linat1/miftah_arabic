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P4 The Built and Natural World › P4-L11. The website lesson “Consolidation — Speaking Preparation and Full Subjunctive Mastery”: vocabulary, grammar rules and quiz, patterns, common mistakes, sorter, listening, reading, speaking prompts and model, writing task and model, differentiation, final check and the lesson mission. Picture match: website visual game “Consolidation — Speaking Preparation and Full Subjunctive Mastery”.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CONSOLIDATION + SPEAKING REHEARSAL for the P4-L12 assessment (topic conversation on the built and natural world + an environmental role play). The website names the three highest-frequency slips: a dropped final -a after a trigger · a Type 2 result without la- · a broken passive (yudammarat).
• Core: correct six P4 errors and write three sentences from memory (website Core). Develop: add a purpose clause, a necessity clause and a Type 2. Stretch: answer the why, the yataṭallabu and the law questions fluently and spontaneously.
• Praise the journey: students now control all three subjunctive triggers, both conditionals, the past perfect, the passive and reported speech — a full B1+ toolkit. Keep the rehearsal light and encouraging.
• Website teaching point 2 is today’s speaking rule: answer each question with the trigger it invites — WHY → li-kay · “what does it require?” → yataṭallabu an · law … → law … la-.
• TEACHER-WRITTEN ITEMS: waṣl alif shown without a kasra; لِكَيْ always written with its sukūn; vowel fix التُّرَاثِ المَعْمَارِيِّ → المِعْمَارِيِّ; rule headings, formulas, pattern tips and the writing checklist in English and transliteration (rule examples without their English glosses); the required-structure questions follow the P4-L12 assessment (topic Q1–Q3 + role play); the repair table adds three earlier P4 mistakes; sorter headings in lower case; no visual game.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P4-L10. Questions 4–5 retrieve fear vs hope and the result marker (P4-L10) — today students produce every marker accurately in speech.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Each P4 structure has ONE small marker — get the marker right and the structure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مطابقت is shared. Watch the shifts: Urdu اعراب = the vowel marks, but Arabic الإِعْرَابُ = the system of endings (the -a of today’s lesson is إِعْرَابُ النَّصْبِ); Urdu زمانہ = the times, Arabic زَمَنُ الفِعْلِ = the tense; Urdu تشکیل = formation, Arabic التَّشْكِيلُ = adding the vowels; Urdu اعتماد = confidence, Arabic الثِّقَةُ.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P4 error zones (website vocabulary (1 of 2)). Hear → Say → See → Use. Transliteration is printed for Core students (cover it for Develop/Stretch).
The P4 error zones — the labels for today’s repair work: the -a after لِكَيْ and أَنْ (most often dropped) · la- in the Type 2 result · a past verb after لَوْ · the passive shape (دُمِّرَتْ) · agreement · precise vowelling.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P4 error zones (website vocabulary (2 of 2)). Hear → Say → See → Use. Transliteration is printed for Core students (cover it for Develop/Stretch).
The P4 error zones — the labels for today’s repair work: the -a after لِكَيْ and أَنْ (most often dropped) · la- in the Type 2 result · a past verb after لَوْ · the passive shape (دُمِّرَتْ) · agreement · precise vowelling.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P4 grammar spine (website vocabulary (1 of 2)). Hear → Say → See → Use. Transliteration is printed for Core students (cover it for Develop/Stretch).
The P4 grammar spine: the three triggers (purpose · volition · necessity), both conditionals, the past perfect, reported speech and the passive — everything the assessment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P4 grammar spine (website vocabulary (2 of 2)). Hear → Say → See → Use. Transliteration is printed for Core students (cover it for Develop/Stretch).
The P4 grammar spine: the three triggers (purpose · volition · necessity), both conditionals, the past perfect, reported speech and the passive — everything the assessment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fluency (website vocabulary (1 of 2)). Hear → Say → See → Use. Transliteration is printed for Core students (cover it for Develop/Stretch).
FLEX: teach if time allows; otherwise these are on the website vocabulary tab for homework.
Speaking fluency (FLEX): words to talk ABOUT speaking. الارْتِجَالُ بِالمَنْصُوبِ = improvising with the subjunctive — using a trigger without being asked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fluency (website vocabulary (2 of 2)). Hear → Say → See → Use. Transliteration is printed for Core students (cover it for Develop/Stretch).
FLEX: teach if time allows; otherwise these are on the website vocabulary tab for homework.
Speaking fluency (FLEX): words to talk ABOUT speaking. الارْتِجَالُ بِالمَنْصُوبِ = improvising with the subjunctive — using a trigger without being asked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website table, common error and the reading “twelve sentences to repair” (rows 1–5), plus website quiz 8 (row 6).
Website teaching point 1 (“The three highest-frequency P4 slips”): the dropped final -a (rows 1–2) · a Type 2 result without la- (row 3) · a broken passive (row 5).
Core: rows 1–4. Drill: cover the Right column; students fix each one and NAME the zone. Then reverse — the teacher says a zone, students give a correct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the website vocabulary group “The P4 grammar spine” with examples from the website listening, writing model and sorter.
Website challenge: “Write one accurate sentence for each of the four P4 error zones” — then cover the Example column here and write one for each structure.
Link the spine to the assessment parts: listening (hear the trigger) · reading (the -a = required, not done) · writing (one of each trigger for Range) · speaking (the structure each question invites).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the three P4-L12 topic-conversation questions (passive + cause expected · Type 2 required · yataṭallabu an + subjunctive required) and the four role-play tasks (yushakkilu / yumaththilu · yataṭallabu an · a Type 1 · yarjū an).
Turn the question round: the examiner says لَدَيْكَ (you) → the student answers لَدَيَّ (I) · كُنْتَ سَتُغَيِّرُ → لَغَيَّرْتُ / لَأَطْلَقْتُ.
Q1 asks for the passive: add one — وَقَدْ أُهْمِلَتِ المَوَارِدُ لِعُقُودٍ (the resources were neglected for decades).
Row 4: تَعِيشُ → تَعِيشَ (hollow verb, still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teaching point 2 (“Answer each question with the trigger it invites”), the speaking model (card 1: لَأَطْلَقْتُ حَمْلَةً وَطَنِيَّةً لِكَيْ نَصُونَ المَعَالِمَ) and mistake 3. Card 2 is a teacher-added reason.
The routine: required structure → a reason → one extra P4 structure (another trigger). The mock conversation ends with the teacher’s praise «اسْتَعْمَلْتَ فِيهَا المُسَبِّبَاتِ الثَّلَاثَةَ تِلْقَائِيًّا».
Time-buying phrases if a student freezes: سُؤَالٌ مُهِمٌّ · دَعْنِي أُفَكِّرُ · فِي رَأْيِي … Repair phrase: عَفْوًا، أَقْصِدُ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“Targeted error correction across the spine: the subjunctive fatḥa after every trigger, the Type 2 لَـ result, the past verb after لَوْ, and the disaster passives.”
• Subjunctive after a trigger: Every subjunctive verb keeps its final fatḥa.
• Type 2 result: The result verb carries a لَـ prefix.
• Past verb after law: لَوْ is followed by a past-tense verb.
• Disaster passive: The passive of a reported disaster is fixed in shape.
Website common error: Dropping the subjunctive fatḥa after a trigger, dropping the لَـ in a Type 2 result, a present verb after لَوْ, or a broken passive.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and model, spoken aloud as an exam answer. Think aloud: “Q1: the challenge — tushakkilu … bi-sabab. Q3 is a yataṭallabu question, so I answer with yataṭallabu AN nukhaṣṣiṣA — and add WHY with li-kay naṣūnA. Q2 is a law question, so I answer with law — and the result MUST start with LA-. Extra: narjū AN tataghayyarA.” Do it twice — the second time faster, as fluent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rows 1–3 are the website mistakes; rows 4–6 recycle mistakes from P4-L05, P4-L06 and P4-L09. Cover columns 2–3; pairs fix each slip and NAME the zone.
Core: rows 1–3. Develop: all six. Stretch: write two new slips of their own for a partner to repair.
Then each student writes their ONE priority error zone in the chat — collect for 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(flex) — the website live builder (Build an assessment answer from a past-perfect background, a necessity clause and a purpose clause.). Website feedback: Each background, necessity clause and purpose clause is accurate on its own, so any three different combinations work.
Use it as oral rehearsal: one student reads a combination as an exam answer; the partner names each structure and checks every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a full sentence for each card as fast as possible — and stress every final -a after a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a full sentence for each card as fast as possible — and stress every final -a after a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9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write down the student’s Type 2 sentence word for word.
Listen 1: just listen. Listen 2: note answers. Then chat the letters.
Support: after the second listening, show the read-along slide (Arabic + English, line by line) for Core students.
SCRIPT (read aloud):
المُعَلِّمُ: صِفْ نِظَامًا بِيئِيًّا فِي العَالَمِ العَرَبِيِّ تُعْجَبُ بِهِ. الطَّالِبُ: يُعْجِبُنِي نَهْرُ النِّيلِ لِأَنَّهُ يَضُمُّ تَنَوُّعًا كَبِيرًا، وَكَانَتِ الحَضَارَاتُ قَدْ نَشَأَتْ عَلَى ضِفَافِهِ. المُعَلِّمُ: مَا الَّذِي يَتَطَلَّبُهُ الحِفَاظُ عَلَيْهِ؟ الطَّالِبُ: يَتَطَلَّبُ الأَمْرُ أَنْ نُخَصِّصَ مِيزَانِيَّاتٍ أَكْبَرَ وَأَنْ نَحُدَّ مِنَ التَّلَوُّثِ. المُعَلِّمُ: وَلِمَاذَا نَفْعَلُ ذٰلِكَ؟ الطَّالِبُ: نَفْعَلُهُ لِكَيْ نَصُونَ المَوْرِدَ لِلْأَجْيَالِ القَادِمَةِ. المُعَلِّمُ: لَوْ كَانَتْ لَدَيْكَ صَلَاحِيَّاتُ وَزِيرِ البِيئَةِ، مَاذَا كُنْتَ سَتُغَيِّرُ؟ الطَّالِبُ: لَوْ كَانَتْ لَدَيَّ صَلَاحِيَّاتُهُ، لَأَطْلَقْتُ مَشْرُوعًا وَطَنِيًّا لِتَحْلِيَةِ المِيَاهِ. المُعَلِّمُ: أَجْوِبَةٌ مُتَوَازِنَةٌ اسْتَعْمَلْتَ فِيهَا المُسَبِّبَاتِ الثَّلَاثَةَ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وَلَوْ كَانَتْ لَدَيْكَ صَلَاحِيَّاتُ الوَزِيرِ؟ (Q — Type 2)
B: لَوْ كَانَتْ لَدَيَّ صَلَاحِيَّاتُهُ، لَأَطْلَقْتُ حَمْلَةً وَطَنِيَّةً لِكَيْ نَصُونَ المَعَالِمَ. (Type 2 plus a purpose clause)
Website prompts and model — the topic-conversation questions. Pairs: examiner / candidate, 30–40 seconds per answer, then swap. The examiner ticks Structure · Reason · Extra. Then a 2-minute role play (P4-L12 tasks): describe a challenge (yushakkilu), say what the solution requires (yataṭallabu an), propose a future action (idhā … sa-) and express a hope (yarjū an). To a girl: تُعْجَبِينَ · رَأْيِكِ · لَدَيْكِ · كُنْتِ سَتُغَيِّرِينَ.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Correct six P4 errors and write three sentences from memory. · Develop — Add a purpose clause, a necessity clause and a Type 2 conditional. · Stretch — Deliver fluent answers to the why, the yataṭallabu and the law questions spontaneously.
Website writing task (Stretch): Write eighty to ninety words preparing for the P4 topic conversation. Answer two of the assessment questions, using all three subjunctive triggers, a Type 2 conditional and the past perfect, with every marker accurate.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كَانَتْ … قَدْ فَقَدَتْ · قَبْلَ أَنْ نَنْتَبِهَ · يَتَطَلَّبُ أَنْ نُخَصِّصَ … وَأَنْ نَحُدَّ · لِكَيْ نَصُونَ … وَنَحْمِيَ · نَرْجُو أَنْ تَتَغَيَّرَ · وَلَوْ كَانَتْ لَدَيَّ … لَأَطْلَقْتُ … وَلَدَعَمْتُ.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(P4-L12 · P4 Review and Unit Assessment) will spend class time USING this language, so students prepare it tonight — short, simple, easy to access (school guidance: “Simple, Short, Interesting, Relevant, Easy to access”). The five words prepare students for the P4-L12 assessment (its parts, the topic questions and the role play).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P4  ·  P4-L11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P4-L11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Consolidation — Speaking Preparation and Full Subjunctive Mastery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150" b="1" dirty="0">
                <a:solidFill>
                  <a:srgbClr val="D4AF37"/>
                </a:solidFill>
                <a:latin typeface="Amiri" pitchFamily="2" charset="-78"/>
                <a:cs typeface="Amiri" pitchFamily="2" charset="-78"/>
              </a:rPr>
              <a:t>تَرْسِيخُ الوَحْدَةِ — إِعْدَادُ التَّحَدُّثِ وَإِتْقَانُ المُضَارِعِ المَنْصُوبِ</a:t>
            </a:r>
            <a:endParaRPr lang="ar-SA" sz="31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Repair the P4 error zones (the final -a after li-kay and an · la- in the Type 2 result · a past verb after law · dummirat, not yudammarat · kānat for a city), revise the whole P4 spine, and rehearse the topic conversation and role play.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P4-L11 · Progression P4 · The Built and Natural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P4 › P4-L11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Fix the error zones, revise the spine, answer each question with its required structure.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Repair the slips, build an assessment answer, sort the structures, hear a mock conversation.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P4-L12.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فَتْحَةُ النَّصْبِ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opening paragraph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 fatḥa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vowel ā</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لَامُ الجَوَابِ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la- of the result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answer key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letter lām in a name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التِّلْقَائِيَّةُ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confidence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accuracy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spontaneity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يَخْشَى أَنْ</a:t>
            </a:r>
            <a:pPr algn="l" indent="0" marL="0">
              <a:buNone/>
            </a:pPr>
            <a:r>
              <a:rPr lang="en-US" sz="1250" b="1" dirty="0">
                <a:solidFill>
                  <a:srgbClr val="1B3B6F"/>
                </a:solidFill>
                <a:latin typeface="Calibri" pitchFamily="34" charset="0"/>
                <a:cs typeface="Amiri" pitchFamily="2" charset="-78"/>
              </a:rPr>
              <a:t>. The attitude is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hope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certainty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fear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la- result. The conditional is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hypothetical (Type 2)</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real (Type 1)</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فَتْحَةُ النَّصْبِ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opening paragraph</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subjunctive fatḥa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vowel ā</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لَامُ الجَوَابِ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la- of the result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answer key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letter lām in a name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التِّلْقَائِيَّةُ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confidence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accuracy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spontaneity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(P4-L10).</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يَخْشَى أَنْ</a:t>
            </a:r>
            <a:pPr algn="l" indent="0" marL="0">
              <a:buNone/>
            </a:pPr>
            <a:r>
              <a:rPr lang="en-US" sz="1250" b="1" dirty="0">
                <a:solidFill>
                  <a:srgbClr val="1B3B6F"/>
                </a:solidFill>
                <a:latin typeface="Calibri" pitchFamily="34" charset="0"/>
                <a:cs typeface="Amiri" pitchFamily="2" charset="-78"/>
              </a:rPr>
              <a:t>. The attitude is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hope</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certainty</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fear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P4-L10: yakhshā = fear.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 la- result. The conditional is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hypothetical (Type 2)</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real (Type 1)</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P4-L10: la- = it did not happen.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Each P4 structure has ONE small marker — get the marker right and the structure is right.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لِكَيْ </a:t>
            </a:r>
            <a:pPr rtl="1" algn="ctr" indent="0" marL="0">
              <a:lnSpc>
                <a:spcPct val="120000"/>
              </a:lnSpc>
              <a:buNone/>
            </a:pPr>
            <a:r>
              <a:rPr lang="ar-SA" altLang="en-US" sz="1950" b="1" dirty="0">
                <a:solidFill>
                  <a:srgbClr val="0E7C86"/>
                </a:solidFill>
                <a:latin typeface="Amiri" pitchFamily="2" charset="-78"/>
                <a:cs typeface="Amiri" pitchFamily="2" charset="-78"/>
              </a:rPr>
              <a:t>نَحْمِيَ</a:t>
            </a:r>
            <a:pPr rtl="1" algn="ctr" indent="0" marL="0">
              <a:lnSpc>
                <a:spcPct val="120000"/>
              </a:lnSpc>
              <a:buNone/>
            </a:pPr>
            <a:r>
              <a:rPr lang="ar-SA" altLang="en-US" sz="1950" b="1" dirty="0">
                <a:solidFill>
                  <a:srgbClr val="1B3B6F"/>
                </a:solidFill>
                <a:latin typeface="Amiri" pitchFamily="2" charset="-78"/>
                <a:cs typeface="Amiri" pitchFamily="2" charset="-78"/>
              </a:rPr>
              <a:t> · أَنْ </a:t>
            </a:r>
            <a:pPr rtl="1" algn="ctr" indent="0" marL="0">
              <a:lnSpc>
                <a:spcPct val="120000"/>
              </a:lnSpc>
              <a:buNone/>
            </a:pPr>
            <a:r>
              <a:rPr lang="ar-SA" altLang="en-US" sz="1950" b="1" dirty="0">
                <a:solidFill>
                  <a:srgbClr val="0E7C86"/>
                </a:solidFill>
                <a:latin typeface="Amiri" pitchFamily="2" charset="-78"/>
                <a:cs typeface="Amiri" pitchFamily="2" charset="-78"/>
              </a:rPr>
              <a:t>نَسْتَثْمِرَ</a:t>
            </a:r>
            <a:pPr rtl="1" algn="ctr" indent="0" marL="0">
              <a:lnSpc>
                <a:spcPct val="120000"/>
              </a:lnSpc>
              <a:buNone/>
            </a:pPr>
            <a:r>
              <a:rPr lang="ar-SA" altLang="en-US" sz="1950" b="1" dirty="0">
                <a:solidFill>
                  <a:srgbClr val="1B3B6F"/>
                </a:solidFill>
                <a:latin typeface="Amiri" pitchFamily="2" charset="-78"/>
                <a:cs typeface="Amiri" pitchFamily="2" charset="-78"/>
              </a:rPr>
              <a:t> · لَوْ … </a:t>
            </a:r>
            <a:pPr rtl="1" algn="ctr" indent="0" marL="0">
              <a:lnSpc>
                <a:spcPct val="120000"/>
              </a:lnSpc>
              <a:buNone/>
            </a:pPr>
            <a:r>
              <a:rPr lang="ar-SA" altLang="en-US" sz="1950" b="1" dirty="0">
                <a:solidFill>
                  <a:srgbClr val="C77700"/>
                </a:solidFill>
                <a:latin typeface="Amiri" pitchFamily="2" charset="-78"/>
                <a:cs typeface="Amiri" pitchFamily="2" charset="-78"/>
              </a:rPr>
              <a:t>لَـ</a:t>
            </a:r>
            <a:pPr rtl="1" algn="ctr" indent="0" marL="0">
              <a:lnSpc>
                <a:spcPct val="120000"/>
              </a:lnSpc>
              <a:buNone/>
            </a:pPr>
            <a:r>
              <a:rPr lang="ar-SA" altLang="en-US" sz="1950" b="1" dirty="0">
                <a:solidFill>
                  <a:srgbClr val="1B3B6F"/>
                </a:solidFill>
                <a:latin typeface="Amiri" pitchFamily="2" charset="-78"/>
                <a:cs typeface="Amiri" pitchFamily="2" charset="-78"/>
              </a:rPr>
              <a:t>نَجَحْنَا · </a:t>
            </a:r>
            <a:pPr rtl="1" algn="ctr" indent="0" marL="0">
              <a:lnSpc>
                <a:spcPct val="120000"/>
              </a:lnSpc>
              <a:buNone/>
            </a:pPr>
            <a:r>
              <a:rPr lang="ar-SA" altLang="en-US" sz="1950" b="1" dirty="0">
                <a:solidFill>
                  <a:srgbClr val="7B3FA0"/>
                </a:solidFill>
                <a:latin typeface="Amiri" pitchFamily="2" charset="-78"/>
                <a:cs typeface="Amiri" pitchFamily="2" charset="-78"/>
              </a:rPr>
              <a:t>دُمِّرَتْ</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Correct the most common P4 errors, led by the final -a.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Retrieve the three triggers, both conditionals and the past perfect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Answer a why / yataṭallabu / law question with the structure it invites.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Prepare the topic conversation and role play to assessment standard.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fix six P4 errors and name the zone.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three spine sentences from memory.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li-kay, yataṭallabu an and a Type 2 accurately.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with a reason.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answer each question with the trigger it invites, unprompted.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my own priority error.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P4 error zones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The P4 grammar spine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Speaking fluency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مُطَابَقَةٌ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‎مطابقت‎ </a:t>
            </a:r>
            <a:pPr indent="0" marL="0">
              <a:buNone/>
            </a:pPr>
            <a:r>
              <a:rPr lang="en-US" sz="950" b="1" dirty="0">
                <a:solidFill>
                  <a:srgbClr val="2E8B57"/>
                </a:solidFill>
                <a:latin typeface="Calibri" pitchFamily="34" charset="0"/>
                <a:cs typeface="Amiri" pitchFamily="2" charset="-78"/>
              </a:rPr>
              <a:t> mutābiqat · agreement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إِعْرَابٌ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‎اعراب‎ </a:t>
            </a:r>
            <a:pPr indent="0" marL="0">
              <a:buNone/>
            </a:pPr>
            <a:r>
              <a:rPr lang="en-US" sz="950" b="1" dirty="0">
                <a:solidFill>
                  <a:srgbClr val="2E8B57"/>
                </a:solidFill>
                <a:latin typeface="Calibri" pitchFamily="34" charset="0"/>
                <a:cs typeface="Amiri" pitchFamily="2" charset="-78"/>
              </a:rPr>
              <a:t> eʿrāb · Arabic: case endings · Urdu: vowel marks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زَمَنٌ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‎زمانہ‎ </a:t>
            </a:r>
            <a:pPr indent="0" marL="0">
              <a:buNone/>
            </a:pPr>
            <a:r>
              <a:rPr lang="en-US" sz="950" b="1" dirty="0">
                <a:solidFill>
                  <a:srgbClr val="2E8B57"/>
                </a:solidFill>
                <a:latin typeface="Calibri" pitchFamily="34" charset="0"/>
                <a:cs typeface="Amiri" pitchFamily="2" charset="-78"/>
              </a:rPr>
              <a:t> zamāna · Arabic: a tense · Urdu: an era, the times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تَشْكِيلٌ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‎تشکیل‎ </a:t>
            </a:r>
            <a:pPr indent="0" marL="0">
              <a:buNone/>
            </a:pPr>
            <a:r>
              <a:rPr lang="en-US" sz="950" b="1" dirty="0">
                <a:solidFill>
                  <a:srgbClr val="2E8B57"/>
                </a:solidFill>
                <a:latin typeface="Calibri" pitchFamily="34" charset="0"/>
                <a:cs typeface="Amiri" pitchFamily="2" charset="-78"/>
              </a:rPr>
              <a:t> tashkīl · Arabic: vowelling · Urdu: formation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اعْتِمَادٌ · ثِقَةٌ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‎اعتماد‎ </a:t>
            </a:r>
            <a:pPr indent="0" marL="0">
              <a:buNone/>
            </a:pPr>
            <a:r>
              <a:rPr lang="en-US" sz="950" b="1" dirty="0">
                <a:solidFill>
                  <a:srgbClr val="2E8B57"/>
                </a:solidFill>
                <a:latin typeface="Calibri" pitchFamily="34" charset="0"/>
                <a:cs typeface="Amiri" pitchFamily="2" charset="-78"/>
              </a:rPr>
              <a:t> eʿtimād · Arabic: reliance · Urdu: confidence (Arabic ثِقَةٌ)</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P4 error zones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64226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Most commonly dropped.</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فَتْحَةُ النَّصْبِ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fatḥa</a:t>
            </a:r>
            <a:endParaRPr lang="en-US" sz="1350" dirty="0"/>
          </a:p>
          <a:p>
            <a:pPr indent="0" marL="0">
              <a:buNone/>
            </a:pPr>
            <a:r>
              <a:rPr lang="en-US" sz="1100" i="1" dirty="0">
                <a:solidFill>
                  <a:srgbClr val="5A6472"/>
                </a:solidFill>
                <a:latin typeface="Calibri" pitchFamily="34" charset="0"/>
                <a:cs typeface="Amiri" pitchFamily="2" charset="-78"/>
              </a:rPr>
              <a:t>fat-ḥa-tu an-naṣ-bi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النَّصْبُ بَعْدَ لِكَيْ</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after لِكَيْ</a:t>
            </a:r>
            <a:endParaRPr lang="en-US" sz="1350" dirty="0"/>
          </a:p>
          <a:p>
            <a:pPr indent="0" marL="0">
              <a:buNone/>
            </a:pPr>
            <a:r>
              <a:rPr lang="en-US" sz="1100" i="1" dirty="0">
                <a:solidFill>
                  <a:srgbClr val="5A6472"/>
                </a:solidFill>
                <a:latin typeface="Calibri" pitchFamily="34" charset="0"/>
                <a:cs typeface="Amiri" pitchFamily="2" charset="-78"/>
              </a:rPr>
              <a:t>an-naṣ-bu baʿ-da li-kay</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النَّصْبُ بَعْدَ أَنْ</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after أَنْ</a:t>
            </a:r>
            <a:endParaRPr lang="en-US" sz="1350" dirty="0"/>
          </a:p>
          <a:p>
            <a:pPr indent="0" marL="0">
              <a:buNone/>
            </a:pPr>
            <a:r>
              <a:rPr lang="en-US" sz="1100" i="1" dirty="0">
                <a:solidFill>
                  <a:srgbClr val="5A6472"/>
                </a:solidFill>
                <a:latin typeface="Calibri" pitchFamily="34" charset="0"/>
                <a:cs typeface="Amiri" pitchFamily="2" charset="-78"/>
              </a:rPr>
              <a:t>an-naṣ-bu baʿ-da an</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1" name="Shape 38"/>
          <p:cNvSpPr/>
          <p:nvPr/>
        </p:nvSpPr>
        <p:spPr>
          <a:xfrm>
            <a:off x="8604504" y="4279392"/>
            <a:ext cx="1455725"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8604504" y="4279392"/>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 a Type 2 result.</a:t>
            </a:r>
            <a:endParaRPr lang="en-US" sz="800" dirty="0"/>
          </a:p>
        </p:txBody>
      </p:sp>
      <p:sp>
        <p:nvSpPr>
          <p:cNvPr id="43" name="Shape 4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لَامُ الجَوَابِ</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لَـ of the result</a:t>
            </a:r>
            <a:endParaRPr lang="en-US" sz="1350" dirty="0"/>
          </a:p>
          <a:p>
            <a:pPr indent="0" marL="0">
              <a:buNone/>
            </a:pPr>
            <a:r>
              <a:rPr lang="en-US" sz="1100" i="1" dirty="0">
                <a:solidFill>
                  <a:srgbClr val="5A6472"/>
                </a:solidFill>
                <a:latin typeface="Calibri" pitchFamily="34" charset="0"/>
                <a:cs typeface="Amiri" pitchFamily="2" charset="-78"/>
              </a:rPr>
              <a:t>lā-mu al-ja-wā-bi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P4 error zones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زَمَنُ فِعْلِ لَوْ</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verb tense after لَوْ</a:t>
            </a:r>
            <a:endParaRPr lang="en-US" sz="1350" dirty="0"/>
          </a:p>
          <a:p>
            <a:pPr indent="0" marL="0">
              <a:buNone/>
            </a:pPr>
            <a:r>
              <a:rPr lang="en-US" sz="1100" i="1" dirty="0">
                <a:solidFill>
                  <a:srgbClr val="5A6472"/>
                </a:solidFill>
                <a:latin typeface="Calibri" pitchFamily="34" charset="0"/>
                <a:cs typeface="Amiri" pitchFamily="2" charset="-78"/>
              </a:rPr>
              <a:t>za-ma-nu fiʿ-li law</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7" name="Shape 24"/>
          <p:cNvSpPr/>
          <p:nvPr/>
        </p:nvSpPr>
        <p:spPr>
          <a:xfrm>
            <a:off x="4782312" y="1938528"/>
            <a:ext cx="1704442"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70444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دُمِّرَتْ / أُعْلِنَتْ.</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صِيغَةُ المَبْنِيِّ لِلْمَجْهُولِ</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passive formation</a:t>
            </a:r>
            <a:endParaRPr lang="en-US" sz="1350" dirty="0"/>
          </a:p>
          <a:p>
            <a:pPr indent="0" marL="0">
              <a:buNone/>
            </a:pPr>
            <a:r>
              <a:rPr lang="en-US" sz="1100" i="1" dirty="0">
                <a:solidFill>
                  <a:srgbClr val="5A6472"/>
                </a:solidFill>
                <a:latin typeface="Calibri" pitchFamily="34" charset="0"/>
                <a:cs typeface="Amiri" pitchFamily="2" charset="-78"/>
              </a:rPr>
              <a:t>ṣī-gha-tu al-mab-niy-yi lil-maj-hū-li</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6" name="Shape 33"/>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38" name="Text 3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مُطَابَقَةُ الفِعْلِ</a:t>
            </a:r>
            <a:endParaRPr lang="ar-SA" sz="3000" dirty="0"/>
          </a:p>
        </p:txBody>
      </p:sp>
      <p:sp>
        <p:nvSpPr>
          <p:cNvPr id="39" name="Text 3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verb agreement</a:t>
            </a:r>
            <a:endParaRPr lang="en-US" sz="1350" dirty="0"/>
          </a:p>
          <a:p>
            <a:pPr indent="0" marL="0">
              <a:buNone/>
            </a:pPr>
            <a:r>
              <a:rPr lang="en-US" sz="1100" i="1" dirty="0">
                <a:solidFill>
                  <a:srgbClr val="5A6472"/>
                </a:solidFill>
                <a:latin typeface="Calibri" pitchFamily="34" charset="0"/>
                <a:cs typeface="Amiri" pitchFamily="2" charset="-78"/>
              </a:rPr>
              <a:t>mu-ṭā-ba-qa-tu al-fiʿ-li</a:t>
            </a:r>
            <a:endParaRPr lang="en-US" sz="1350" dirty="0"/>
          </a:p>
        </p:txBody>
      </p:sp>
      <p:sp>
        <p:nvSpPr>
          <p:cNvPr id="40" name="Shape 3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they</a:t>
            </a:r>
            <a:endParaRPr lang="en-US" sz="700" dirty="0"/>
          </a:p>
        </p:txBody>
      </p:sp>
      <p:sp>
        <p:nvSpPr>
          <p:cNvPr id="42" name="Text 39"/>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كَانَتْ · كَانُوا</a:t>
            </a:r>
            <a:endParaRPr lang="ar-SA" sz="1350" dirty="0"/>
          </a:p>
        </p:txBody>
      </p:sp>
      <p:sp>
        <p:nvSpPr>
          <p:cNvPr id="43" name="Shape 4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5" name="Text 4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كَانَ</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التَّشْكِيلُ الدَّقِيقُ</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precise vowelling</a:t>
            </a:r>
            <a:endParaRPr lang="en-US" sz="1350" dirty="0"/>
          </a:p>
          <a:p>
            <a:pPr indent="0" marL="0">
              <a:buNone/>
            </a:pPr>
            <a:r>
              <a:rPr lang="en-US" sz="1100" i="1" dirty="0">
                <a:solidFill>
                  <a:srgbClr val="5A6472"/>
                </a:solidFill>
                <a:latin typeface="Calibri" pitchFamily="34" charset="0"/>
                <a:cs typeface="Amiri" pitchFamily="2" charset="-78"/>
              </a:rPr>
              <a:t>at-tash-kī-lu ad-da-qī-qu</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P4 grammar spine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مُسَبِّبُ الغَرَضِ (لِكَيْ)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purpose trigger</a:t>
            </a:r>
            <a:endParaRPr lang="en-US" sz="1350" dirty="0"/>
          </a:p>
          <a:p>
            <a:pPr indent="0" marL="0">
              <a:buNone/>
            </a:pPr>
            <a:r>
              <a:rPr lang="en-US" sz="1100" i="1" dirty="0">
                <a:solidFill>
                  <a:srgbClr val="5A6472"/>
                </a:solidFill>
                <a:latin typeface="Calibri" pitchFamily="34" charset="0"/>
                <a:cs typeface="Amiri" pitchFamily="2" charset="-78"/>
              </a:rPr>
              <a:t>mu-sab-bi-bu al-gha-ra-ḍi (li-kay)</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Shape 2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مُسَبِّبُ الإِرَادَةِ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volition trigger</a:t>
            </a:r>
            <a:endParaRPr lang="en-US" sz="1350" dirty="0"/>
          </a:p>
          <a:p>
            <a:pPr indent="0" marL="0">
              <a:buNone/>
            </a:pPr>
            <a:r>
              <a:rPr lang="en-US" sz="1100" i="1" dirty="0">
                <a:solidFill>
                  <a:srgbClr val="5A6472"/>
                </a:solidFill>
                <a:latin typeface="Calibri" pitchFamily="34" charset="0"/>
                <a:cs typeface="Amiri" pitchFamily="2" charset="-78"/>
              </a:rPr>
              <a:t>mu-sab-bi-bu al-i-rā-da-ti</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3" name="Text 3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تَرْجُو أَنْ · تَخْشَى أَنْ</a:t>
            </a:r>
            <a:endParaRPr lang="ar-SA" sz="150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6" name="Text 3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أَرْجُو أَنْ · أَخْشَى أَنْ</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مُسَبِّبُ الضَّرُورَةِ</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necessity trigger</a:t>
            </a:r>
            <a:endParaRPr lang="en-US" sz="1350" dirty="0"/>
          </a:p>
          <a:p>
            <a:pPr indent="0" marL="0">
              <a:buNone/>
            </a:pPr>
            <a:r>
              <a:rPr lang="en-US" sz="1100" i="1" dirty="0">
                <a:solidFill>
                  <a:srgbClr val="5A6472"/>
                </a:solidFill>
                <a:latin typeface="Calibri" pitchFamily="34" charset="0"/>
                <a:cs typeface="Amiri" pitchFamily="2" charset="-78"/>
              </a:rPr>
              <a:t>mu-sab-bi-bu aḍ-ḍa-rū-ra-ti</a:t>
            </a:r>
            <a:endParaRPr lang="en-US" sz="1350" dirty="0"/>
          </a:p>
        </p:txBody>
      </p:sp>
      <p:sp>
        <p:nvSpPr>
          <p:cNvPr id="44" name="Text 41"/>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يَنْبَغِي/يَتَطَلَّبُ أَنْ.</a:t>
            </a:r>
            <a:endParaRPr lang="ar-SA" sz="13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شَرْطٌ مِنَ النَّوْعِ الأَوَّلِ</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Type 1 conditional</a:t>
            </a:r>
            <a:endParaRPr lang="en-US" sz="1350" dirty="0"/>
          </a:p>
          <a:p>
            <a:pPr indent="0" marL="0">
              <a:buNone/>
            </a:pPr>
            <a:r>
              <a:rPr lang="en-US" sz="1100" i="1" dirty="0">
                <a:solidFill>
                  <a:srgbClr val="5A6472"/>
                </a:solidFill>
                <a:latin typeface="Calibri" pitchFamily="34" charset="0"/>
                <a:cs typeface="Amiri" pitchFamily="2" charset="-78"/>
              </a:rPr>
              <a:t>shar-ṭun mi-na an-naw-ʿi al-aw-wa-li</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P4 grammar spine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شَرْطٌ مِنَ النَّوْعِ الثَّانِي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Type 2 conditional</a:t>
            </a:r>
            <a:endParaRPr lang="en-US" sz="1350" dirty="0"/>
          </a:p>
          <a:p>
            <a:pPr indent="0" marL="0">
              <a:buNone/>
            </a:pPr>
            <a:r>
              <a:rPr lang="en-US" sz="1100" i="1" dirty="0">
                <a:solidFill>
                  <a:srgbClr val="5A6472"/>
                </a:solidFill>
                <a:latin typeface="Calibri" pitchFamily="34" charset="0"/>
                <a:cs typeface="Amiri" pitchFamily="2" charset="-78"/>
              </a:rPr>
              <a:t>shar-ṭun mi-na an-naw-ʿi ath-thā-nī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المَاضِي التَّامُّ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 perfect</a:t>
            </a:r>
            <a:endParaRPr lang="en-US" sz="1350" dirty="0"/>
          </a:p>
          <a:p>
            <a:pPr indent="0" marL="0">
              <a:buNone/>
            </a:pPr>
            <a:r>
              <a:rPr lang="en-US" sz="1100" i="1" dirty="0">
                <a:solidFill>
                  <a:srgbClr val="5A6472"/>
                </a:solidFill>
                <a:latin typeface="Calibri" pitchFamily="34" charset="0"/>
                <a:cs typeface="Amiri" pitchFamily="2" charset="-78"/>
              </a:rPr>
              <a:t>al-mā-ḍī at-tām-mu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الكَلَامُ المَنْقُولُ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reported speech</a:t>
            </a:r>
            <a:endParaRPr lang="en-US" sz="1350" dirty="0"/>
          </a:p>
          <a:p>
            <a:pPr indent="0" marL="0">
              <a:buNone/>
            </a:pPr>
            <a:r>
              <a:rPr lang="en-US" sz="1100" i="1" dirty="0">
                <a:solidFill>
                  <a:srgbClr val="5A6472"/>
                </a:solidFill>
                <a:latin typeface="Calibri" pitchFamily="34" charset="0"/>
                <a:cs typeface="Amiri" pitchFamily="2" charset="-78"/>
              </a:rPr>
              <a:t>al-ka-lā-mu al-man-qū-lu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Shape 34"/>
          <p:cNvSpPr/>
          <p:nvPr/>
        </p:nvSpPr>
        <p:spPr>
          <a:xfrm>
            <a:off x="8604504" y="4279392"/>
            <a:ext cx="1580083"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دُمِّرَتْ / أُجْلِيَ.</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المَبْنِيُّ لِلْمَجْهُولِ</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passive</a:t>
            </a:r>
            <a:endParaRPr lang="en-US" sz="1350" dirty="0"/>
          </a:p>
          <a:p>
            <a:pPr indent="0" marL="0">
              <a:buNone/>
            </a:pPr>
            <a:r>
              <a:rPr lang="en-US" sz="1100" i="1" dirty="0">
                <a:solidFill>
                  <a:srgbClr val="5A6472"/>
                </a:solidFill>
                <a:latin typeface="Calibri" pitchFamily="34" charset="0"/>
                <a:cs typeface="Amiri" pitchFamily="2" charset="-78"/>
              </a:rPr>
              <a:t>al-mab-niy-yu lil-maj-hū-li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fluency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الارْتِجَالُ بِالمَنْصُوبِ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improvising with the subjunctive</a:t>
            </a:r>
            <a:endParaRPr lang="en-US" sz="1350" dirty="0"/>
          </a:p>
          <a:p>
            <a:pPr indent="0" marL="0">
              <a:buNone/>
            </a:pPr>
            <a:r>
              <a:rPr lang="en-US" sz="1100" i="1" dirty="0">
                <a:solidFill>
                  <a:srgbClr val="5A6472"/>
                </a:solidFill>
                <a:latin typeface="Calibri" pitchFamily="34" charset="0"/>
                <a:cs typeface="Amiri" pitchFamily="2" charset="-78"/>
              </a:rPr>
              <a:t>alr-ti-jā-lu bil-man-ṣū-bi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التِّلْقَائِيَّةُ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spontaneity</a:t>
            </a:r>
            <a:endParaRPr lang="en-US" sz="1350" dirty="0"/>
          </a:p>
          <a:p>
            <a:pPr indent="0" marL="0">
              <a:buNone/>
            </a:pPr>
            <a:r>
              <a:rPr lang="en-US" sz="1100" i="1" dirty="0">
                <a:solidFill>
                  <a:srgbClr val="5A6472"/>
                </a:solidFill>
                <a:latin typeface="Calibri" pitchFamily="34" charset="0"/>
                <a:cs typeface="Amiri" pitchFamily="2" charset="-78"/>
              </a:rPr>
              <a:t>at-til-qā-ʾiy-ya-tu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الطَّلَاقَةُ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مُحَادَثَةٌ حَوْلَ مَوْضُوعٍ</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topic conversation</a:t>
            </a:r>
            <a:endParaRPr lang="en-US" sz="1350" dirty="0"/>
          </a:p>
          <a:p>
            <a:pPr indent="0" marL="0">
              <a:buNone/>
            </a:pPr>
            <a:r>
              <a:rPr lang="en-US" sz="1100" i="1" dirty="0">
                <a:solidFill>
                  <a:srgbClr val="5A6472"/>
                </a:solidFill>
                <a:latin typeface="Calibri" pitchFamily="34" charset="0"/>
                <a:cs typeface="Amiri" pitchFamily="2" charset="-78"/>
              </a:rPr>
              <a:t>mu-ḥā-da-tha-tun ḥaw-la maw-ḍū-ʿin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fluency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لَعِبُ الأَدْوَارِ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role play</a:t>
            </a:r>
            <a:endParaRPr lang="en-US" sz="1350" dirty="0"/>
          </a:p>
          <a:p>
            <a:pPr indent="0" marL="0">
              <a:buNone/>
            </a:pPr>
            <a:r>
              <a:rPr lang="en-US" sz="1100" i="1" dirty="0">
                <a:solidFill>
                  <a:srgbClr val="5A6472"/>
                </a:solidFill>
                <a:latin typeface="Calibri" pitchFamily="34" charset="0"/>
                <a:cs typeface="Amiri" pitchFamily="2" charset="-78"/>
              </a:rPr>
              <a:t>la-ʿi-bu al-ad-wā-ri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مُؤْتَمَرٌ بِيئِيٌّ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environmental conference</a:t>
            </a:r>
            <a:endParaRPr lang="en-US" sz="1350" dirty="0"/>
          </a:p>
          <a:p>
            <a:pPr indent="0" marL="0">
              <a:buNone/>
            </a:pPr>
            <a:r>
              <a:rPr lang="en-US" sz="1100" i="1" dirty="0">
                <a:solidFill>
                  <a:srgbClr val="5A6472"/>
                </a:solidFill>
                <a:latin typeface="Calibri" pitchFamily="34" charset="0"/>
                <a:cs typeface="Amiri" pitchFamily="2" charset="-78"/>
              </a:rPr>
              <a:t>muʾ-ta-ma-run bī-ʾiy-yun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الأَدَاءُ تَحْتَ الضَّغْطِ</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performance under pressure</a:t>
            </a:r>
            <a:endParaRPr lang="en-US" sz="1350" dirty="0"/>
          </a:p>
          <a:p>
            <a:pPr indent="0" marL="0">
              <a:buNone/>
            </a:pPr>
            <a:r>
              <a:rPr lang="en-US" sz="1100" i="1" dirty="0">
                <a:solidFill>
                  <a:srgbClr val="5A6472"/>
                </a:solidFill>
                <a:latin typeface="Calibri" pitchFamily="34" charset="0"/>
                <a:cs typeface="Amiri" pitchFamily="2" charset="-78"/>
              </a:rPr>
              <a:t>al-a-dā-ʾu taḥ-ta aḍ-ḍagh-ṭi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الثِّقَةُ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confidence</a:t>
            </a:r>
            <a:endParaRPr lang="en-US" sz="1350" dirty="0"/>
          </a:p>
          <a:p>
            <a:pPr indent="0" marL="0">
              <a:buNone/>
            </a:pPr>
            <a:r>
              <a:rPr lang="en-US" sz="1100" i="1" dirty="0">
                <a:solidFill>
                  <a:srgbClr val="5A6472"/>
                </a:solidFill>
                <a:latin typeface="Calibri" pitchFamily="34" charset="0"/>
                <a:cs typeface="Amiri" pitchFamily="2" charset="-78"/>
              </a:rPr>
              <a:t>ath-thi-qa-tu</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P4 ERROR ZONES (WEBSITE TABLE + READING: THE REPAIR LIST)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Wrong → right, zone by zone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مَنَاطِقُ الأَخْطَاءِ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222992" y="1810512"/>
            <a:ext cx="1435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17" name="Text 14"/>
          <p:cNvSpPr txBox="1"/>
          <p:nvPr/>
        </p:nvSpPr>
        <p:spPr>
          <a:xfrm>
            <a:off x="9034272" y="1810512"/>
            <a:ext cx="1042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8" name="Text 15"/>
          <p:cNvSpPr txBox="1"/>
          <p:nvPr/>
        </p:nvSpPr>
        <p:spPr>
          <a:xfrm>
            <a:off x="574243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Right</a:t>
            </a:r>
            <a:endParaRPr lang="en-US" sz="1100" dirty="0"/>
          </a:p>
        </p:txBody>
      </p:sp>
      <p:sp>
        <p:nvSpPr>
          <p:cNvPr id="19" name="Text 16"/>
          <p:cNvSpPr txBox="1"/>
          <p:nvPr/>
        </p:nvSpPr>
        <p:spPr>
          <a:xfrm>
            <a:off x="2542032" y="1810512"/>
            <a:ext cx="3054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Wrong</a:t>
            </a:r>
            <a:endParaRPr lang="en-US" sz="1100" dirty="0"/>
          </a:p>
        </p:txBody>
      </p:sp>
      <p:sp>
        <p:nvSpPr>
          <p:cNvPr id="20" name="Text 17"/>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Zone</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10259568" y="2267712"/>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-ī → -iya</a:t>
            </a:r>
            <a:endParaRPr lang="en-US" sz="1100" dirty="0"/>
          </a:p>
        </p:txBody>
      </p:sp>
      <p:sp>
        <p:nvSpPr>
          <p:cNvPr id="23" name="Text 20"/>
          <p:cNvSpPr txBox="1"/>
          <p:nvPr/>
        </p:nvSpPr>
        <p:spPr>
          <a:xfrm>
            <a:off x="9070848" y="2267712"/>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P4-L01</a:t>
            </a:r>
            <a:endParaRPr lang="en-US" sz="1100" dirty="0"/>
          </a:p>
        </p:txBody>
      </p:sp>
      <p:sp>
        <p:nvSpPr>
          <p:cNvPr id="24" name="Text 21"/>
          <p:cNvSpPr txBox="1"/>
          <p:nvPr/>
        </p:nvSpPr>
        <p:spPr>
          <a:xfrm>
            <a:off x="5760720" y="2267712"/>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لِكَيْ </a:t>
            </a:r>
            <a:pPr rtl="1" algn="ctr" indent="0" marL="0">
              <a:buNone/>
            </a:pPr>
            <a:r>
              <a:rPr lang="ar-SA" altLang="en-US" sz="2000" b="1" dirty="0">
                <a:solidFill>
                  <a:srgbClr val="0E7C86"/>
                </a:solidFill>
                <a:latin typeface="Amiri" pitchFamily="2" charset="-78"/>
                <a:cs typeface="Amiri" pitchFamily="2" charset="-78"/>
              </a:rPr>
              <a:t>نَحْمِيَ</a:t>
            </a:r>
            <a:pPr rtl="1" algn="ctr" indent="0" marL="0">
              <a:buNone/>
            </a:pPr>
            <a:r>
              <a:rPr lang="ar-SA" altLang="en-US" sz="2000" b="1" dirty="0">
                <a:solidFill>
                  <a:srgbClr val="1B3B6F"/>
                </a:solidFill>
                <a:latin typeface="Amiri" pitchFamily="2" charset="-78"/>
                <a:cs typeface="Amiri" pitchFamily="2" charset="-78"/>
              </a:rPr>
              <a:t> البِيئَةَ</a:t>
            </a:r>
            <a:endParaRPr lang="ar-SA" sz="2000" dirty="0"/>
          </a:p>
        </p:txBody>
      </p:sp>
      <p:sp>
        <p:nvSpPr>
          <p:cNvPr id="25" name="Text 22"/>
          <p:cNvSpPr txBox="1"/>
          <p:nvPr/>
        </p:nvSpPr>
        <p:spPr>
          <a:xfrm>
            <a:off x="2560320" y="2267712"/>
            <a:ext cx="301752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لِكَيْ نَحْمِي البِيئَةَ</a:t>
            </a:r>
            <a:endParaRPr lang="ar-SA" sz="2000" dirty="0"/>
          </a:p>
        </p:txBody>
      </p:sp>
      <p:sp>
        <p:nvSpPr>
          <p:cNvPr id="26" name="Text 23"/>
          <p:cNvSpPr txBox="1"/>
          <p:nvPr/>
        </p:nvSpPr>
        <p:spPr>
          <a:xfrm>
            <a:off x="566928" y="2267712"/>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li-kay</a:t>
            </a:r>
            <a:endParaRPr lang="en-US" sz="110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10259568" y="2881884"/>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9" name="Text 26"/>
          <p:cNvSpPr txBox="1"/>
          <p:nvPr/>
        </p:nvSpPr>
        <p:spPr>
          <a:xfrm>
            <a:off x="9070848" y="2881884"/>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P4-L04</a:t>
            </a:r>
            <a:endParaRPr lang="en-US" sz="1100" dirty="0"/>
          </a:p>
        </p:txBody>
      </p:sp>
      <p:sp>
        <p:nvSpPr>
          <p:cNvPr id="30" name="Text 27"/>
          <p:cNvSpPr txBox="1"/>
          <p:nvPr/>
        </p:nvSpPr>
        <p:spPr>
          <a:xfrm>
            <a:off x="5760720" y="2881884"/>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أَنْ </a:t>
            </a:r>
            <a:pPr rtl="1" algn="ctr" indent="0" marL="0">
              <a:buNone/>
            </a:pPr>
            <a:r>
              <a:rPr lang="ar-SA" altLang="en-US" sz="2000" b="1" dirty="0">
                <a:solidFill>
                  <a:srgbClr val="0E7C86"/>
                </a:solidFill>
                <a:latin typeface="Amiri" pitchFamily="2" charset="-78"/>
                <a:cs typeface="Amiri" pitchFamily="2" charset="-78"/>
              </a:rPr>
              <a:t>نَسْتَثْمِرَ</a:t>
            </a:r>
            <a:endParaRPr lang="ar-SA" sz="2000" dirty="0"/>
          </a:p>
        </p:txBody>
      </p:sp>
      <p:sp>
        <p:nvSpPr>
          <p:cNvPr id="31" name="Text 28"/>
          <p:cNvSpPr txBox="1"/>
          <p:nvPr/>
        </p:nvSpPr>
        <p:spPr>
          <a:xfrm>
            <a:off x="2560320" y="2881884"/>
            <a:ext cx="301752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أَنْ نَسْتَثْمِرُ</a:t>
            </a:r>
            <a:endParaRPr lang="ar-SA" sz="2000" dirty="0"/>
          </a:p>
        </p:txBody>
      </p:sp>
      <p:sp>
        <p:nvSpPr>
          <p:cNvPr id="32" name="Text 29"/>
          <p:cNvSpPr txBox="1"/>
          <p:nvPr/>
        </p:nvSpPr>
        <p:spPr>
          <a:xfrm>
            <a:off x="566928" y="2881884"/>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an</a:t>
            </a:r>
            <a:endParaRPr lang="en-US" sz="1100" dirty="0"/>
          </a:p>
        </p:txBody>
      </p:sp>
      <p:sp>
        <p:nvSpPr>
          <p:cNvPr id="33" name="Shape 30"/>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4" name="Text 31"/>
          <p:cNvSpPr txBox="1"/>
          <p:nvPr/>
        </p:nvSpPr>
        <p:spPr>
          <a:xfrm>
            <a:off x="10259568" y="3496056"/>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a:t>
            </a:r>
            <a:endParaRPr lang="en-US" sz="1100" dirty="0"/>
          </a:p>
        </p:txBody>
      </p:sp>
      <p:sp>
        <p:nvSpPr>
          <p:cNvPr id="35" name="Text 32"/>
          <p:cNvSpPr txBox="1"/>
          <p:nvPr/>
        </p:nvSpPr>
        <p:spPr>
          <a:xfrm>
            <a:off x="9070848" y="3496056"/>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P3-L05</a:t>
            </a:r>
            <a:endParaRPr lang="en-US" sz="1100" dirty="0"/>
          </a:p>
        </p:txBody>
      </p:sp>
      <p:sp>
        <p:nvSpPr>
          <p:cNvPr id="36" name="Text 33"/>
          <p:cNvSpPr txBox="1"/>
          <p:nvPr/>
        </p:nvSpPr>
        <p:spPr>
          <a:xfrm>
            <a:off x="5760720" y="3496056"/>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لَوْ بَدَأْنَا، </a:t>
            </a:r>
            <a:pPr rtl="1" algn="ctr" indent="0" marL="0">
              <a:buNone/>
            </a:pPr>
            <a:r>
              <a:rPr lang="ar-SA" altLang="en-US" sz="2000" b="1" dirty="0">
                <a:solidFill>
                  <a:srgbClr val="C77700"/>
                </a:solidFill>
                <a:latin typeface="Amiri" pitchFamily="2" charset="-78"/>
                <a:cs typeface="Amiri" pitchFamily="2" charset="-78"/>
              </a:rPr>
              <a:t>لَنَجَحْنَا</a:t>
            </a:r>
            <a:endParaRPr lang="ar-SA" sz="2000" dirty="0"/>
          </a:p>
        </p:txBody>
      </p:sp>
      <p:sp>
        <p:nvSpPr>
          <p:cNvPr id="37" name="Text 34"/>
          <p:cNvSpPr txBox="1"/>
          <p:nvPr/>
        </p:nvSpPr>
        <p:spPr>
          <a:xfrm>
            <a:off x="2560320" y="3496056"/>
            <a:ext cx="301752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لَوْ بَدَأْنَا، نَجَحْنَا</a:t>
            </a:r>
            <a:endParaRPr lang="ar-SA" sz="2000" dirty="0"/>
          </a:p>
        </p:txBody>
      </p:sp>
      <p:sp>
        <p:nvSpPr>
          <p:cNvPr id="38" name="Text 35"/>
          <p:cNvSpPr txBox="1"/>
          <p:nvPr/>
        </p:nvSpPr>
        <p:spPr>
          <a:xfrm>
            <a:off x="566928" y="3496056"/>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result</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10259568" y="4110228"/>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a:t>
            </a:r>
            <a:endParaRPr lang="en-US" sz="1100" dirty="0"/>
          </a:p>
        </p:txBody>
      </p:sp>
      <p:sp>
        <p:nvSpPr>
          <p:cNvPr id="41" name="Text 38"/>
          <p:cNvSpPr txBox="1"/>
          <p:nvPr/>
        </p:nvSpPr>
        <p:spPr>
          <a:xfrm>
            <a:off x="9070848" y="4110228"/>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P3-L05</a:t>
            </a:r>
            <a:endParaRPr lang="en-US" sz="1100" dirty="0"/>
          </a:p>
        </p:txBody>
      </p:sp>
      <p:sp>
        <p:nvSpPr>
          <p:cNvPr id="42" name="Text 39"/>
          <p:cNvSpPr txBox="1"/>
          <p:nvPr/>
        </p:nvSpPr>
        <p:spPr>
          <a:xfrm>
            <a:off x="5760720" y="4110228"/>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cs typeface="Amiri" pitchFamily="2" charset="-78"/>
              </a:rPr>
              <a:t>لَوِ اسْتَثْمَرْنَا</a:t>
            </a:r>
            <a:endParaRPr lang="ar-SA" sz="2000" dirty="0"/>
          </a:p>
        </p:txBody>
      </p:sp>
      <p:sp>
        <p:nvSpPr>
          <p:cNvPr id="43" name="Text 40"/>
          <p:cNvSpPr txBox="1"/>
          <p:nvPr/>
        </p:nvSpPr>
        <p:spPr>
          <a:xfrm>
            <a:off x="2560320" y="4110228"/>
            <a:ext cx="301752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لَوْ نَسْتَثْمِرُ</a:t>
            </a:r>
            <a:endParaRPr lang="ar-SA" sz="2000" dirty="0"/>
          </a:p>
        </p:txBody>
      </p:sp>
      <p:sp>
        <p:nvSpPr>
          <p:cNvPr id="44" name="Text 41"/>
          <p:cNvSpPr txBox="1"/>
          <p:nvPr/>
        </p:nvSpPr>
        <p:spPr>
          <a:xfrm>
            <a:off x="566928" y="4110228"/>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after law</a:t>
            </a:r>
            <a:endParaRPr lang="en-US" sz="1100" dirty="0"/>
          </a:p>
        </p:txBody>
      </p:sp>
      <p:sp>
        <p:nvSpPr>
          <p:cNvPr id="45" name="Shape 4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6" name="Text 43"/>
          <p:cNvSpPr txBox="1"/>
          <p:nvPr/>
        </p:nvSpPr>
        <p:spPr>
          <a:xfrm>
            <a:off x="10259568" y="4724400"/>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 i</a:t>
            </a:r>
            <a:endParaRPr lang="en-US" sz="1100" dirty="0"/>
          </a:p>
        </p:txBody>
      </p:sp>
      <p:sp>
        <p:nvSpPr>
          <p:cNvPr id="47" name="Text 44"/>
          <p:cNvSpPr txBox="1"/>
          <p:nvPr/>
        </p:nvSpPr>
        <p:spPr>
          <a:xfrm>
            <a:off x="9070848" y="4724400"/>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P4-L05</a:t>
            </a:r>
            <a:endParaRPr lang="en-US" sz="1100" dirty="0"/>
          </a:p>
        </p:txBody>
      </p:sp>
      <p:sp>
        <p:nvSpPr>
          <p:cNvPr id="48" name="Text 45"/>
          <p:cNvSpPr txBox="1"/>
          <p:nvPr/>
        </p:nvSpPr>
        <p:spPr>
          <a:xfrm>
            <a:off x="5760720" y="4724400"/>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cs typeface="Amiri" pitchFamily="2" charset="-78"/>
              </a:rPr>
              <a:t>دُمِّرَتِ</a:t>
            </a:r>
            <a:pPr rtl="1" algn="ctr" indent="0" marL="0">
              <a:buNone/>
            </a:pPr>
            <a:r>
              <a:rPr lang="ar-SA" altLang="en-US" sz="2000" b="1" dirty="0">
                <a:solidFill>
                  <a:srgbClr val="1B3B6F"/>
                </a:solidFill>
                <a:latin typeface="Amiri" pitchFamily="2" charset="-78"/>
                <a:cs typeface="Amiri" pitchFamily="2" charset="-78"/>
              </a:rPr>
              <a:t> المَبَانِي</a:t>
            </a:r>
            <a:endParaRPr lang="ar-SA" sz="2000" dirty="0"/>
          </a:p>
        </p:txBody>
      </p:sp>
      <p:sp>
        <p:nvSpPr>
          <p:cNvPr id="49" name="Text 46"/>
          <p:cNvSpPr txBox="1"/>
          <p:nvPr/>
        </p:nvSpPr>
        <p:spPr>
          <a:xfrm>
            <a:off x="2560320" y="4724400"/>
            <a:ext cx="301752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يُدَمَّرَتِ المَبَانِي</a:t>
            </a:r>
            <a:endParaRPr lang="ar-SA" sz="2000" dirty="0"/>
          </a:p>
        </p:txBody>
      </p:sp>
      <p:sp>
        <p:nvSpPr>
          <p:cNvPr id="50" name="Text 47"/>
          <p:cNvSpPr txBox="1"/>
          <p:nvPr/>
        </p:nvSpPr>
        <p:spPr>
          <a:xfrm>
            <a:off x="566928" y="4724400"/>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10259568" y="5338572"/>
            <a:ext cx="13990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city = she</a:t>
            </a:r>
            <a:endParaRPr lang="en-US" sz="1100" dirty="0"/>
          </a:p>
        </p:txBody>
      </p:sp>
      <p:sp>
        <p:nvSpPr>
          <p:cNvPr id="53" name="Text 50"/>
          <p:cNvSpPr txBox="1"/>
          <p:nvPr/>
        </p:nvSpPr>
        <p:spPr>
          <a:xfrm>
            <a:off x="9070848" y="5338572"/>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P4-L07</a:t>
            </a:r>
            <a:endParaRPr lang="en-US" sz="1100" dirty="0"/>
          </a:p>
        </p:txBody>
      </p:sp>
      <p:sp>
        <p:nvSpPr>
          <p:cNvPr id="54" name="Text 51"/>
          <p:cNvSpPr txBox="1"/>
          <p:nvPr/>
        </p:nvSpPr>
        <p:spPr>
          <a:xfrm>
            <a:off x="5760720" y="5338572"/>
            <a:ext cx="3108960" cy="559308"/>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كَانَتِ</a:t>
            </a:r>
            <a:pPr rtl="1" algn="ctr" indent="0" marL="0">
              <a:buNone/>
            </a:pPr>
            <a:r>
              <a:rPr lang="ar-SA" altLang="en-US" sz="2000" b="1" dirty="0">
                <a:solidFill>
                  <a:srgbClr val="1B3B6F"/>
                </a:solidFill>
                <a:latin typeface="Amiri" pitchFamily="2" charset="-78"/>
                <a:cs typeface="Amiri" pitchFamily="2" charset="-78"/>
              </a:rPr>
              <a:t> المَدِينَةُ قَدْ فَقَدَتْ</a:t>
            </a:r>
            <a:endParaRPr lang="ar-SA" sz="2000" dirty="0"/>
          </a:p>
        </p:txBody>
      </p:sp>
      <p:sp>
        <p:nvSpPr>
          <p:cNvPr id="55" name="Text 52"/>
          <p:cNvSpPr txBox="1"/>
          <p:nvPr/>
        </p:nvSpPr>
        <p:spPr>
          <a:xfrm>
            <a:off x="2560320" y="5338572"/>
            <a:ext cx="301752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كَانَ المَدِينَةُ قَدْ فَقَدَتْ</a:t>
            </a:r>
            <a:endParaRPr lang="ar-SA" sz="2000" dirty="0"/>
          </a:p>
        </p:txBody>
      </p:sp>
      <p:sp>
        <p:nvSpPr>
          <p:cNvPr id="56" name="Text 53"/>
          <p:cNvSpPr txBox="1"/>
          <p:nvPr/>
        </p:nvSpPr>
        <p:spPr>
          <a:xfrm>
            <a:off x="566928" y="5338572"/>
            <a:ext cx="18288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agreement</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reading: “every structure has a precise marker that must be controlled.”</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WHOLE P4 GRAMMAR SPINE (VOCABULARY GROUP 2 + WEBSITE TEXTS)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Seven structures — one unit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العَمُودُ الفِقْرِيُّ لِقَوَاعِدِ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7" name="Text 14"/>
          <p:cNvSpPr txBox="1"/>
          <p:nvPr/>
        </p:nvSpPr>
        <p:spPr>
          <a:xfrm>
            <a:off x="4005072" y="1810512"/>
            <a:ext cx="5705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2633472"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893808" y="2267712"/>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li-kay + -a</a:t>
            </a:r>
            <a:endParaRPr lang="en-US" sz="1100" dirty="0"/>
          </a:p>
        </p:txBody>
      </p:sp>
      <p:sp>
        <p:nvSpPr>
          <p:cNvPr id="22" name="Text 19"/>
          <p:cNvSpPr txBox="1"/>
          <p:nvPr/>
        </p:nvSpPr>
        <p:spPr>
          <a:xfrm>
            <a:off x="4023360" y="2267712"/>
            <a:ext cx="5669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نَفْعَلُهُ لِكَيْ </a:t>
            </a:r>
            <a:pPr rtl="1" algn="ctr" indent="0" marL="0">
              <a:buNone/>
            </a:pPr>
            <a:r>
              <a:rPr lang="ar-SA" altLang="en-US" sz="1700" b="1" dirty="0">
                <a:solidFill>
                  <a:srgbClr val="D6336C"/>
                </a:solidFill>
                <a:latin typeface="Amiri" pitchFamily="2" charset="-78"/>
                <a:cs typeface="Amiri" pitchFamily="2" charset="-78"/>
              </a:rPr>
              <a:t>نَصُونَ</a:t>
            </a:r>
            <a:pPr rtl="1" algn="ctr" indent="0" marL="0">
              <a:buNone/>
            </a:pPr>
            <a:r>
              <a:rPr lang="ar-SA" altLang="en-US" sz="1700" b="1" dirty="0">
                <a:solidFill>
                  <a:srgbClr val="1B3B6F"/>
                </a:solidFill>
                <a:latin typeface="Amiri" pitchFamily="2" charset="-78"/>
                <a:cs typeface="Amiri" pitchFamily="2" charset="-78"/>
              </a:rPr>
              <a:t> المَوْرِدَ لِلْأَجْيَالِ القَادِمَةِ.</a:t>
            </a:r>
            <a:endParaRPr lang="ar-SA" sz="1700" dirty="0"/>
          </a:p>
        </p:txBody>
      </p:sp>
      <p:sp>
        <p:nvSpPr>
          <p:cNvPr id="23" name="Text 20"/>
          <p:cNvSpPr txBox="1"/>
          <p:nvPr/>
        </p:nvSpPr>
        <p:spPr>
          <a:xfrm>
            <a:off x="2670048" y="2267712"/>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P4-L01</a:t>
            </a:r>
            <a:endParaRPr lang="en-US" sz="1100" dirty="0"/>
          </a:p>
        </p:txBody>
      </p:sp>
      <p:sp>
        <p:nvSpPr>
          <p:cNvPr id="24" name="Text 21"/>
          <p:cNvSpPr txBox="1"/>
          <p:nvPr/>
        </p:nvSpPr>
        <p:spPr>
          <a:xfrm>
            <a:off x="566928" y="226771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893808" y="2881884"/>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yarjū an + -a</a:t>
            </a:r>
            <a:endParaRPr lang="en-US" sz="1100" dirty="0"/>
          </a:p>
        </p:txBody>
      </p:sp>
      <p:sp>
        <p:nvSpPr>
          <p:cNvPr id="29" name="Text 26"/>
          <p:cNvSpPr txBox="1"/>
          <p:nvPr/>
        </p:nvSpPr>
        <p:spPr>
          <a:xfrm>
            <a:off x="4023360" y="2881884"/>
            <a:ext cx="5669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نَرْجُو أَنْ </a:t>
            </a:r>
            <a:pPr rtl="1" algn="ctr" indent="0" marL="0">
              <a:buNone/>
            </a:pPr>
            <a:r>
              <a:rPr lang="ar-SA" altLang="en-US" sz="1700" b="1" dirty="0">
                <a:solidFill>
                  <a:srgbClr val="1D5FBF"/>
                </a:solidFill>
                <a:latin typeface="Amiri" pitchFamily="2" charset="-78"/>
                <a:cs typeface="Amiri" pitchFamily="2" charset="-78"/>
              </a:rPr>
              <a:t>تَتَغَيَّرَ</a:t>
            </a:r>
            <a:pPr rtl="1" algn="ctr" indent="0" marL="0">
              <a:buNone/>
            </a:pPr>
            <a:r>
              <a:rPr lang="ar-SA" altLang="en-US" sz="1700" b="1" dirty="0">
                <a:solidFill>
                  <a:srgbClr val="1B3B6F"/>
                </a:solidFill>
                <a:latin typeface="Amiri" pitchFamily="2" charset="-78"/>
                <a:cs typeface="Amiri" pitchFamily="2" charset="-78"/>
              </a:rPr>
              <a:t> نَظْرَةُ النَّاسِ إِلَى المَبَانِي القَدِيمَةِ.</a:t>
            </a:r>
            <a:endParaRPr lang="ar-SA" sz="1700" dirty="0"/>
          </a:p>
        </p:txBody>
      </p:sp>
      <p:sp>
        <p:nvSpPr>
          <p:cNvPr id="30" name="Text 27"/>
          <p:cNvSpPr txBox="1"/>
          <p:nvPr/>
        </p:nvSpPr>
        <p:spPr>
          <a:xfrm>
            <a:off x="2670048" y="2881884"/>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P4-L03/06</a:t>
            </a:r>
            <a:endParaRPr lang="en-US" sz="1100" dirty="0"/>
          </a:p>
        </p:txBody>
      </p:sp>
      <p:sp>
        <p:nvSpPr>
          <p:cNvPr id="31" name="Text 28"/>
          <p:cNvSpPr txBox="1"/>
          <p:nvPr/>
        </p:nvSpPr>
        <p:spPr>
          <a:xfrm>
            <a:off x="566928" y="2881884"/>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volition</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893808" y="3496056"/>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yataṭallabu an + -a</a:t>
            </a:r>
            <a:endParaRPr lang="en-US" sz="1100" dirty="0"/>
          </a:p>
        </p:txBody>
      </p:sp>
      <p:sp>
        <p:nvSpPr>
          <p:cNvPr id="36" name="Text 33"/>
          <p:cNvSpPr txBox="1"/>
          <p:nvPr/>
        </p:nvSpPr>
        <p:spPr>
          <a:xfrm>
            <a:off x="4023360" y="3496056"/>
            <a:ext cx="5669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يَتَطَلَّبُ الأَمْرُ أَنْ </a:t>
            </a:r>
            <a:pPr rtl="1" algn="ctr" indent="0" marL="0">
              <a:buNone/>
            </a:pPr>
            <a:r>
              <a:rPr lang="ar-SA" altLang="en-US" sz="1700" b="1" dirty="0">
                <a:solidFill>
                  <a:srgbClr val="0E7C86"/>
                </a:solidFill>
                <a:latin typeface="Amiri" pitchFamily="2" charset="-78"/>
                <a:cs typeface="Amiri" pitchFamily="2" charset="-78"/>
              </a:rPr>
              <a:t>نُخَصِّصَ</a:t>
            </a:r>
            <a:pPr rtl="1" algn="ctr" indent="0" marL="0">
              <a:buNone/>
            </a:pPr>
            <a:r>
              <a:rPr lang="ar-SA" altLang="en-US" sz="1700" b="1" dirty="0">
                <a:solidFill>
                  <a:srgbClr val="1B3B6F"/>
                </a:solidFill>
                <a:latin typeface="Amiri" pitchFamily="2" charset="-78"/>
                <a:cs typeface="Amiri" pitchFamily="2" charset="-78"/>
              </a:rPr>
              <a:t> مِيزَانِيَّاتٍ لِلتَّرْمِيمِ.</a:t>
            </a:r>
            <a:endParaRPr lang="ar-SA" sz="1700" dirty="0"/>
          </a:p>
        </p:txBody>
      </p:sp>
      <p:sp>
        <p:nvSpPr>
          <p:cNvPr id="37" name="Text 34"/>
          <p:cNvSpPr txBox="1"/>
          <p:nvPr/>
        </p:nvSpPr>
        <p:spPr>
          <a:xfrm>
            <a:off x="2670048" y="3496056"/>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P4-L04</a:t>
            </a:r>
            <a:endParaRPr lang="en-US" sz="1100" dirty="0"/>
          </a:p>
        </p:txBody>
      </p:sp>
      <p:sp>
        <p:nvSpPr>
          <p:cNvPr id="38" name="Text 35"/>
          <p:cNvSpPr txBox="1"/>
          <p:nvPr/>
        </p:nvSpPr>
        <p:spPr>
          <a:xfrm>
            <a:off x="566928" y="3496056"/>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necessity</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9893808" y="4110228"/>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la-</a:t>
            </a:r>
            <a:endParaRPr lang="en-US" sz="1100" dirty="0"/>
          </a:p>
        </p:txBody>
      </p:sp>
      <p:sp>
        <p:nvSpPr>
          <p:cNvPr id="43" name="Text 40"/>
          <p:cNvSpPr txBox="1"/>
          <p:nvPr/>
        </p:nvSpPr>
        <p:spPr>
          <a:xfrm>
            <a:off x="4023360" y="4110228"/>
            <a:ext cx="5669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إِذَا اسْتَثْمَرْنَا، سَنَحْمِي الغَدَ · لَوْ بَدَأْنَا، </a:t>
            </a:r>
            <a:pPr rtl="1" algn="ctr" indent="0" marL="0">
              <a:buNone/>
            </a:pPr>
            <a:r>
              <a:rPr lang="ar-SA" altLang="en-US" sz="1700" b="1" dirty="0">
                <a:solidFill>
                  <a:srgbClr val="C77700"/>
                </a:solidFill>
                <a:latin typeface="Amiri" pitchFamily="2" charset="-78"/>
                <a:cs typeface="Amiri" pitchFamily="2" charset="-78"/>
              </a:rPr>
              <a:t>لَنَجَحْنَا</a:t>
            </a:r>
            <a:endParaRPr lang="ar-SA" sz="1700" dirty="0"/>
          </a:p>
        </p:txBody>
      </p:sp>
      <p:sp>
        <p:nvSpPr>
          <p:cNvPr id="44" name="Text 41"/>
          <p:cNvSpPr txBox="1"/>
          <p:nvPr/>
        </p:nvSpPr>
        <p:spPr>
          <a:xfrm>
            <a:off x="2670048" y="4110228"/>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P3-L05</a:t>
            </a:r>
            <a:endParaRPr lang="en-US" sz="1100" dirty="0"/>
          </a:p>
        </p:txBody>
      </p:sp>
      <p:sp>
        <p:nvSpPr>
          <p:cNvPr id="45" name="Text 42"/>
          <p:cNvSpPr txBox="1"/>
          <p:nvPr/>
        </p:nvSpPr>
        <p:spPr>
          <a:xfrm>
            <a:off x="566928" y="4110228"/>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conditionals</a:t>
            </a:r>
            <a:endParaRPr lang="en-US" sz="11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9893808" y="4724400"/>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kānat qad</a:t>
            </a:r>
            <a:endParaRPr lang="en-US" sz="1100" dirty="0"/>
          </a:p>
        </p:txBody>
      </p:sp>
      <p:sp>
        <p:nvSpPr>
          <p:cNvPr id="48" name="Text 45"/>
          <p:cNvSpPr txBox="1"/>
          <p:nvPr/>
        </p:nvSpPr>
        <p:spPr>
          <a:xfrm>
            <a:off x="4023360" y="4724400"/>
            <a:ext cx="5669280" cy="559308"/>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cs typeface="Amiri" pitchFamily="2" charset="-78"/>
              </a:rPr>
              <a:t>كَانَتِ</a:t>
            </a:r>
            <a:pPr rtl="1" algn="ctr" indent="0" marL="0">
              <a:buNone/>
            </a:pPr>
            <a:r>
              <a:rPr lang="ar-SA" altLang="en-US" sz="1700" b="1" dirty="0">
                <a:solidFill>
                  <a:srgbClr val="1B3B6F"/>
                </a:solidFill>
                <a:latin typeface="Amiri" pitchFamily="2" charset="-78"/>
                <a:cs typeface="Amiri" pitchFamily="2" charset="-78"/>
              </a:rPr>
              <a:t> الحَضَارَاتُ </a:t>
            </a:r>
            <a:pPr rtl="1" algn="ctr" indent="0" marL="0">
              <a:buNone/>
            </a:pPr>
            <a:r>
              <a:rPr lang="ar-SA" altLang="en-US" sz="1700" b="1" dirty="0">
                <a:solidFill>
                  <a:srgbClr val="D6336C"/>
                </a:solidFill>
                <a:latin typeface="Amiri" pitchFamily="2" charset="-78"/>
                <a:cs typeface="Amiri" pitchFamily="2" charset="-78"/>
              </a:rPr>
              <a:t>قَدْ نَشَأَتْ</a:t>
            </a:r>
            <a:pPr rtl="1" algn="ctr" indent="0" marL="0">
              <a:buNone/>
            </a:pPr>
            <a:r>
              <a:rPr lang="ar-SA" altLang="en-US" sz="1700" b="1" dirty="0">
                <a:solidFill>
                  <a:srgbClr val="1B3B6F"/>
                </a:solidFill>
                <a:latin typeface="Amiri" pitchFamily="2" charset="-78"/>
                <a:cs typeface="Amiri" pitchFamily="2" charset="-78"/>
              </a:rPr>
              <a:t> عَلَى ضِفَافِهِ.</a:t>
            </a:r>
            <a:endParaRPr lang="ar-SA" sz="1700" dirty="0"/>
          </a:p>
        </p:txBody>
      </p:sp>
      <p:sp>
        <p:nvSpPr>
          <p:cNvPr id="49" name="Text 46"/>
          <p:cNvSpPr txBox="1"/>
          <p:nvPr/>
        </p:nvSpPr>
        <p:spPr>
          <a:xfrm>
            <a:off x="2670048" y="4724400"/>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P4-L07</a:t>
            </a:r>
            <a:endParaRPr lang="en-US" sz="1100" dirty="0"/>
          </a:p>
        </p:txBody>
      </p:sp>
      <p:sp>
        <p:nvSpPr>
          <p:cNvPr id="50" name="Text 47"/>
          <p:cNvSpPr txBox="1"/>
          <p:nvPr/>
        </p:nvSpPr>
        <p:spPr>
          <a:xfrm>
            <a:off x="566928" y="4724400"/>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9893808" y="5338572"/>
            <a:ext cx="17647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 i · qāla inna</a:t>
            </a:r>
            <a:endParaRPr lang="en-US" sz="1100" dirty="0"/>
          </a:p>
        </p:txBody>
      </p:sp>
      <p:sp>
        <p:nvSpPr>
          <p:cNvPr id="53" name="Text 50"/>
          <p:cNvSpPr txBox="1"/>
          <p:nvPr/>
        </p:nvSpPr>
        <p:spPr>
          <a:xfrm>
            <a:off x="4023360" y="5338572"/>
            <a:ext cx="5669280" cy="559308"/>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cs typeface="Amiri" pitchFamily="2" charset="-78"/>
              </a:rPr>
              <a:t>أُعْلِنَتْ</a:t>
            </a:r>
            <a:pPr rtl="1" algn="ctr" indent="0" marL="0">
              <a:buNone/>
            </a:pPr>
            <a:r>
              <a:rPr lang="ar-SA" altLang="en-US" sz="1700" b="1" dirty="0">
                <a:solidFill>
                  <a:srgbClr val="1B3B6F"/>
                </a:solidFill>
                <a:latin typeface="Amiri" pitchFamily="2" charset="-78"/>
                <a:cs typeface="Amiri" pitchFamily="2" charset="-78"/>
              </a:rPr>
              <a:t> حَالَةُ الطَّوَارِئِ · </a:t>
            </a:r>
            <a:pPr rtl="1" algn="ctr" indent="0" marL="0">
              <a:buNone/>
            </a:pPr>
            <a:r>
              <a:rPr lang="ar-SA" altLang="en-US" sz="1700" b="1" dirty="0">
                <a:solidFill>
                  <a:srgbClr val="7B3FA0"/>
                </a:solidFill>
                <a:latin typeface="Amiri" pitchFamily="2" charset="-78"/>
                <a:cs typeface="Amiri" pitchFamily="2" charset="-78"/>
              </a:rPr>
              <a:t>قَالَ</a:t>
            </a:r>
            <a:pPr rtl="1" algn="ctr" indent="0" marL="0">
              <a:buNone/>
            </a:pPr>
            <a:r>
              <a:rPr lang="ar-SA" altLang="en-US" sz="1700" b="1" dirty="0">
                <a:solidFill>
                  <a:srgbClr val="1B3B6F"/>
                </a:solidFill>
                <a:latin typeface="Amiri" pitchFamily="2" charset="-78"/>
                <a:cs typeface="Amiri" pitchFamily="2" charset="-78"/>
              </a:rPr>
              <a:t> الخَبِيرُ </a:t>
            </a:r>
            <a:pPr rtl="1" algn="ctr" indent="0" marL="0">
              <a:buNone/>
            </a:pPr>
            <a:r>
              <a:rPr lang="ar-SA" altLang="en-US" sz="1700" b="1" dirty="0">
                <a:solidFill>
                  <a:srgbClr val="7B3FA0"/>
                </a:solidFill>
                <a:latin typeface="Amiri" pitchFamily="2" charset="-78"/>
                <a:cs typeface="Amiri" pitchFamily="2" charset="-78"/>
              </a:rPr>
              <a:t>إِنَّ</a:t>
            </a:r>
            <a:pPr rtl="1" algn="ctr" indent="0" marL="0">
              <a:buNone/>
            </a:pPr>
            <a:r>
              <a:rPr lang="ar-SA" altLang="en-US" sz="1700" b="1" dirty="0">
                <a:solidFill>
                  <a:srgbClr val="1B3B6F"/>
                </a:solidFill>
                <a:latin typeface="Amiri" pitchFamily="2" charset="-78"/>
                <a:cs typeface="Amiri" pitchFamily="2" charset="-78"/>
              </a:rPr>
              <a:t> …</a:t>
            </a:r>
            <a:endParaRPr lang="ar-SA" sz="1700" dirty="0"/>
          </a:p>
        </p:txBody>
      </p:sp>
      <p:sp>
        <p:nvSpPr>
          <p:cNvPr id="54" name="Text 51"/>
          <p:cNvSpPr txBox="1"/>
          <p:nvPr/>
        </p:nvSpPr>
        <p:spPr>
          <a:xfrm>
            <a:off x="2670048" y="5338572"/>
            <a:ext cx="1188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P4-L05 · P3-L06</a:t>
            </a:r>
            <a:endParaRPr lang="en-US" sz="1100" dirty="0"/>
          </a:p>
        </p:txBody>
      </p:sp>
      <p:sp>
        <p:nvSpPr>
          <p:cNvPr id="55" name="Text 52"/>
          <p:cNvSpPr txBox="1"/>
          <p:nvPr/>
        </p:nvSpPr>
        <p:spPr>
          <a:xfrm>
            <a:off x="566928" y="533857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 reported</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row is a P4 lesson — the assessment tests them all.</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REQUIRED STRUCTURE, UNPROMPTED (P4-L12 TOPIC QUESTIONS + ROLE PLAY)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 required structure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البِنْيَةُ المَطْلُوبَةُ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405872" y="1810512"/>
            <a:ext cx="1252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Required</a:t>
            </a:r>
            <a:endParaRPr lang="en-US" sz="1100" dirty="0"/>
          </a:p>
        </p:txBody>
      </p:sp>
      <p:sp>
        <p:nvSpPr>
          <p:cNvPr id="17" name="Text 14"/>
          <p:cNvSpPr txBox="1"/>
          <p:nvPr/>
        </p:nvSpPr>
        <p:spPr>
          <a:xfrm>
            <a:off x="9582912" y="1810512"/>
            <a:ext cx="676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a:t>
            </a:r>
            <a:endParaRPr lang="en-US" sz="1100" dirty="0"/>
          </a:p>
        </p:txBody>
      </p:sp>
      <p:sp>
        <p:nvSpPr>
          <p:cNvPr id="18" name="Text 15"/>
          <p:cNvSpPr txBox="1"/>
          <p:nvPr/>
        </p:nvSpPr>
        <p:spPr>
          <a:xfrm>
            <a:off x="464515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with …</a:t>
            </a:r>
            <a:endParaRPr lang="en-US" sz="1100" dirty="0"/>
          </a:p>
        </p:txBody>
      </p:sp>
      <p:sp>
        <p:nvSpPr>
          <p:cNvPr id="19" name="Text 16"/>
          <p:cNvSpPr txBox="1"/>
          <p:nvPr/>
        </p:nvSpPr>
        <p:spPr>
          <a:xfrm>
            <a:off x="530352" y="1810512"/>
            <a:ext cx="3968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examiner asks …</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10442448" y="2267712"/>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 cause</a:t>
            </a:r>
            <a:endParaRPr lang="en-US" sz="1100" dirty="0"/>
          </a:p>
        </p:txBody>
      </p:sp>
      <p:sp>
        <p:nvSpPr>
          <p:cNvPr id="22" name="Text 19"/>
          <p:cNvSpPr txBox="1"/>
          <p:nvPr/>
        </p:nvSpPr>
        <p:spPr>
          <a:xfrm>
            <a:off x="9619488" y="2267712"/>
            <a:ext cx="640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Q1</a:t>
            </a:r>
            <a:endParaRPr lang="en-US" sz="1100" dirty="0"/>
          </a:p>
        </p:txBody>
      </p:sp>
      <p:sp>
        <p:nvSpPr>
          <p:cNvPr id="23" name="Text 20"/>
          <p:cNvSpPr txBox="1"/>
          <p:nvPr/>
        </p:nvSpPr>
        <p:spPr>
          <a:xfrm>
            <a:off x="4663440" y="2267712"/>
            <a:ext cx="4754880" cy="731520"/>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cs typeface="Amiri" pitchFamily="2" charset="-78"/>
              </a:rPr>
              <a:t>تُشَكِّلُ</a:t>
            </a:r>
            <a:pPr rtl="1" algn="ctr" indent="0" marL="0">
              <a:buNone/>
            </a:pPr>
            <a:r>
              <a:rPr lang="ar-SA" altLang="en-US" sz="1700" b="1" dirty="0">
                <a:solidFill>
                  <a:srgbClr val="1B3B6F"/>
                </a:solidFill>
                <a:latin typeface="Amiri" pitchFamily="2" charset="-78"/>
                <a:cs typeface="Amiri" pitchFamily="2" charset="-78"/>
              </a:rPr>
              <a:t> نُدْرَةُ المِيَاهِ أَكْبَرَ تَحَدٍّ، بِسَبَبِ قِلَّةِ الأَمْطَارِ …</a:t>
            </a:r>
            <a:endParaRPr lang="ar-SA" sz="1700" dirty="0"/>
          </a:p>
        </p:txBody>
      </p:sp>
      <p:sp>
        <p:nvSpPr>
          <p:cNvPr id="24" name="Text 21"/>
          <p:cNvSpPr txBox="1"/>
          <p:nvPr/>
        </p:nvSpPr>
        <p:spPr>
          <a:xfrm>
            <a:off x="548640" y="2267712"/>
            <a:ext cx="39319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صِفْ تَحَدِّيًا بِيئِيًّا فِي العَالَمِ العَرَبِيِّ وَمَا أَسْبَابُهُ.</a:t>
            </a:r>
            <a:endParaRPr lang="ar-SA" sz="1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10442448" y="3054096"/>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29" name="Text 26"/>
          <p:cNvSpPr txBox="1"/>
          <p:nvPr/>
        </p:nvSpPr>
        <p:spPr>
          <a:xfrm>
            <a:off x="9619488" y="3054096"/>
            <a:ext cx="640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Q2</a:t>
            </a:r>
            <a:endParaRPr lang="en-US" sz="1100" dirty="0"/>
          </a:p>
        </p:txBody>
      </p:sp>
      <p:sp>
        <p:nvSpPr>
          <p:cNvPr id="30" name="Text 27"/>
          <p:cNvSpPr txBox="1"/>
          <p:nvPr/>
        </p:nvSpPr>
        <p:spPr>
          <a:xfrm>
            <a:off x="4663440" y="3054096"/>
            <a:ext cx="4754880" cy="731520"/>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2" charset="-78"/>
                <a:cs typeface="Amiri" pitchFamily="2" charset="-78"/>
              </a:rPr>
              <a:t>لَوْ كَانَتْ لَدَيَّ</a:t>
            </a:r>
            <a:pPr rtl="1" algn="ctr" indent="0" marL="0">
              <a:buNone/>
            </a:pPr>
            <a:r>
              <a:rPr lang="ar-SA" altLang="en-US" sz="1700" b="1" dirty="0">
                <a:solidFill>
                  <a:srgbClr val="1B3B6F"/>
                </a:solidFill>
                <a:latin typeface="Amiri" pitchFamily="2" charset="-78"/>
                <a:cs typeface="Amiri" pitchFamily="2" charset="-78"/>
              </a:rPr>
              <a:t> صَلَاحِيَّاتُهُ، </a:t>
            </a:r>
            <a:pPr rtl="1" algn="ctr" indent="0" marL="0">
              <a:buNone/>
            </a:pPr>
            <a:r>
              <a:rPr lang="ar-SA" altLang="en-US" sz="1700" b="1" dirty="0">
                <a:solidFill>
                  <a:srgbClr val="C77700"/>
                </a:solidFill>
                <a:latin typeface="Amiri" pitchFamily="2" charset="-78"/>
                <a:cs typeface="Amiri" pitchFamily="2" charset="-78"/>
              </a:rPr>
              <a:t>لَأَطْلَقْتُ</a:t>
            </a:r>
            <a:pPr rtl="1" algn="ctr" indent="0" marL="0">
              <a:buNone/>
            </a:pPr>
            <a:r>
              <a:rPr lang="ar-SA" altLang="en-US" sz="1700" b="1" dirty="0">
                <a:solidFill>
                  <a:srgbClr val="1B3B6F"/>
                </a:solidFill>
                <a:latin typeface="Amiri" pitchFamily="2" charset="-78"/>
                <a:cs typeface="Amiri" pitchFamily="2" charset="-78"/>
              </a:rPr>
              <a:t> …</a:t>
            </a:r>
            <a:endParaRPr lang="ar-SA" sz="1700" dirty="0"/>
          </a:p>
        </p:txBody>
      </p:sp>
      <p:sp>
        <p:nvSpPr>
          <p:cNvPr id="31" name="Text 28"/>
          <p:cNvSpPr txBox="1"/>
          <p:nvPr/>
        </p:nvSpPr>
        <p:spPr>
          <a:xfrm>
            <a:off x="548640" y="3054096"/>
            <a:ext cx="3931920" cy="731520"/>
          </a:xfrm>
          <a:prstGeom prst="rect">
            <a:avLst/>
          </a:prstGeom>
          <a:noFill/>
          <a:ln/>
        </p:spPr>
        <p:txBody>
          <a:bodyPr wrap="square" lIns="0" tIns="0" rIns="0" bIns="0" rtlCol="0" anchor="ctr"/>
          <a:lstStyle/>
          <a:p>
            <a:pPr rtl="1" algn="ctr" indent="0" marL="0">
              <a:lnSpc>
                <a:spcPct val="120000"/>
              </a:lnSpc>
              <a:buNone/>
            </a:pPr>
            <a:r>
              <a:rPr lang="ar-SA" altLang="en-US" sz="1550" b="1" dirty="0">
                <a:solidFill>
                  <a:srgbClr val="1B3B6F"/>
                </a:solidFill>
                <a:latin typeface="Amiri" pitchFamily="2" charset="-78"/>
                <a:cs typeface="Amiri" pitchFamily="2" charset="-78"/>
              </a:rPr>
              <a:t>لَوْ كَانَتْ لَدَيْكَ صَلَاحِيَّاتُ وَزِيرِ البِيئَةِ، مَاذَا كُنْتَ سَتُغَيِّرُ؟</a:t>
            </a:r>
            <a:endParaRPr lang="ar-SA" sz="155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10442448" y="3840480"/>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-a</a:t>
            </a:r>
            <a:endParaRPr lang="en-US" sz="1100" dirty="0"/>
          </a:p>
        </p:txBody>
      </p:sp>
      <p:sp>
        <p:nvSpPr>
          <p:cNvPr id="36" name="Text 33"/>
          <p:cNvSpPr txBox="1"/>
          <p:nvPr/>
        </p:nvSpPr>
        <p:spPr>
          <a:xfrm>
            <a:off x="9619488" y="3840480"/>
            <a:ext cx="640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Q3</a:t>
            </a:r>
            <a:endParaRPr lang="en-US" sz="1100" dirty="0"/>
          </a:p>
        </p:txBody>
      </p:sp>
      <p:sp>
        <p:nvSpPr>
          <p:cNvPr id="37" name="Text 34"/>
          <p:cNvSpPr txBox="1"/>
          <p:nvPr/>
        </p:nvSpPr>
        <p:spPr>
          <a:xfrm>
            <a:off x="4663440" y="3840480"/>
            <a:ext cx="475488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يَتَطَلَّبُ الأَمْرُ أَنْ </a:t>
            </a:r>
            <a:pPr rtl="1" algn="ctr" indent="0" marL="0">
              <a:buNone/>
            </a:pPr>
            <a:r>
              <a:rPr lang="ar-SA" altLang="en-US" sz="1700" b="1" dirty="0">
                <a:solidFill>
                  <a:srgbClr val="0E7C86"/>
                </a:solidFill>
                <a:latin typeface="Amiri" pitchFamily="2" charset="-78"/>
                <a:cs typeface="Amiri" pitchFamily="2" charset="-78"/>
              </a:rPr>
              <a:t>نُخَصِّصَ</a:t>
            </a:r>
            <a:pPr rtl="1" algn="ctr" indent="0" marL="0">
              <a:buNone/>
            </a:pPr>
            <a:r>
              <a:rPr lang="ar-SA" altLang="en-US" sz="1700" b="1" dirty="0">
                <a:solidFill>
                  <a:srgbClr val="1B3B6F"/>
                </a:solidFill>
                <a:latin typeface="Amiri" pitchFamily="2" charset="-78"/>
                <a:cs typeface="Amiri" pitchFamily="2" charset="-78"/>
              </a:rPr>
              <a:t> مِيزَانِيَّاتٍ لِلتَّرْمِيمِ …</a:t>
            </a:r>
            <a:endParaRPr lang="ar-SA" sz="1700" dirty="0"/>
          </a:p>
        </p:txBody>
      </p:sp>
      <p:sp>
        <p:nvSpPr>
          <p:cNvPr id="38" name="Text 35"/>
          <p:cNvSpPr txBox="1"/>
          <p:nvPr/>
        </p:nvSpPr>
        <p:spPr>
          <a:xfrm>
            <a:off x="548640" y="3840480"/>
            <a:ext cx="39319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مَا الَّذِي يَتَطَلَّبُهُ الحِفَاظُ عَلَى التُّرَاثِ فِي رَأْيِكَ؟</a:t>
            </a:r>
            <a:endParaRPr lang="ar-SA" sz="16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10442448" y="4626864"/>
            <a:ext cx="12161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 · yarjū an</a:t>
            </a:r>
            <a:endParaRPr lang="en-US" sz="1100" dirty="0"/>
          </a:p>
        </p:txBody>
      </p:sp>
      <p:sp>
        <p:nvSpPr>
          <p:cNvPr id="43" name="Text 40"/>
          <p:cNvSpPr txBox="1"/>
          <p:nvPr/>
        </p:nvSpPr>
        <p:spPr>
          <a:xfrm>
            <a:off x="9619488" y="4626864"/>
            <a:ext cx="640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RP</a:t>
            </a:r>
            <a:endParaRPr lang="en-US" sz="1100" dirty="0"/>
          </a:p>
        </p:txBody>
      </p:sp>
      <p:sp>
        <p:nvSpPr>
          <p:cNvPr id="44" name="Text 41"/>
          <p:cNvSpPr txBox="1"/>
          <p:nvPr/>
        </p:nvSpPr>
        <p:spPr>
          <a:xfrm>
            <a:off x="4663440" y="4626864"/>
            <a:ext cx="475488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إِذَا … سَـ … · نَرْجُو أَنْ </a:t>
            </a:r>
            <a:pPr rtl="1" algn="ctr" indent="0" marL="0">
              <a:buNone/>
            </a:pPr>
            <a:r>
              <a:rPr lang="ar-SA" altLang="en-US" sz="1700" b="1" dirty="0">
                <a:solidFill>
                  <a:srgbClr val="1D5FBF"/>
                </a:solidFill>
                <a:latin typeface="Amiri" pitchFamily="2" charset="-78"/>
                <a:cs typeface="Amiri" pitchFamily="2" charset="-78"/>
              </a:rPr>
              <a:t>تَعِيشَ</a:t>
            </a:r>
            <a:pPr rtl="1" algn="ctr" indent="0" marL="0">
              <a:buNone/>
            </a:pPr>
            <a:r>
              <a:rPr lang="ar-SA" altLang="en-US" sz="1700" b="1" dirty="0">
                <a:solidFill>
                  <a:srgbClr val="1B3B6F"/>
                </a:solidFill>
                <a:latin typeface="Amiri" pitchFamily="2" charset="-78"/>
                <a:cs typeface="Amiri" pitchFamily="2" charset="-78"/>
              </a:rPr>
              <a:t> الأَجْيَالُ القَادِمَةُ …</a:t>
            </a:r>
            <a:endParaRPr lang="ar-SA" sz="1700" dirty="0"/>
          </a:p>
        </p:txBody>
      </p:sp>
      <p:sp>
        <p:nvSpPr>
          <p:cNvPr id="45" name="Text 42"/>
          <p:cNvSpPr txBox="1"/>
          <p:nvPr/>
        </p:nvSpPr>
        <p:spPr>
          <a:xfrm>
            <a:off x="566928" y="4626864"/>
            <a:ext cx="3931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role play: a solution and a hope</a:t>
            </a:r>
            <a:endParaRPr lang="en-US" sz="110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answer each question with the trigger it invites — that is what earns the quality-of-language mark.</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ANSWER WITH THE TRIGGER IT INVITES (WEBSITE TEACHING POINT 2 + SPEAKING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Structure · reason · extra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بِنْيَةٌ · سَبَبٌ · إِضَافَةٌ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STRUCTURE · CORE</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لَوْ … لَـ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لَوْ كَانَتْ لَدَيَّ صَلَاحِيَّاتُهُ، لَأَطْلَقْتُ حَمْلَةً وَطَنِيَّةً لِلتَّشْجِيرِ.</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I had his powers, I would launch a national tree-planting campaign.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required one.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REASON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لِأَنَّ الأَشْجَارَ تُنَقِّي الهَوَاءَ وَتُقَلِّلُ الحَرَارَةَ.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Because trees purify the air and reduce the heat.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Say WHY.</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EXTRA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لِكَيْ · نَرْجُو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لِكَيْ نَصُونَ المَعَالِمَ، وَنَرْجُو أَنْ يُشَارِكَ الجَمِيعُ.</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So that we preserve the landmarks — and we hope everyone takes part.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more triggers.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a Type 2 result takes la-.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لَوْ بَدَأْنَا مُبَكِّرًا، لَنَجَحْنَا</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لَوْ بَدَأْنَا مُبَكِّرًا، نَجَحْنَا</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Repairing the P4 error zones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إِصْلَاحُ أَخْطَاءِ الوَحْدَةِ الشَّائِعَةِ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Subjunctive after a trigger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li-kay / an + verb in -a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لِكَيْ نَحْمِيَ الأَجْيَالَ   ·   يَنْبَغِي أَنْ نَسْتَثْمِرَ فِي الطَّاقَةِ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Type 2 result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 + past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لَوْ بَدَأْنَا مُبَكِّرًا، لَنَجَحْنَا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Past verb after law</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(not present)</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لَوِ اسْتَثْمَرْنَا …</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Disaster passive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dummirat · ujliya · uʿlinat</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دُمِّرَتِ المَبَانِي وَأُعْلِنَتْ حَالَةُ الطَّوَارِئِ</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purpose clause is correct?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نَزْرَعُ الأَشْجَارَ لِكَيْ نَحْمِي البِيئَةَ.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نَزْرَعُ الأَشْجَارَ لِكَيْ نَحْمِيْ البِيئَةَ.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نَزْرَعُ الأَشْجَارَ لِكَيْ نَحْمِيَ البِيئَةَ.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نَسْتَثْمِرَ فِي الطَّاقَةِ.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نَسْتَثْمِرُ فِي الطَّاقَةِ.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 نَسْتَثْمِرْ فِي الطَّاقَةِ.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2 conditional is correct?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بَدَأْنَا مُبَكِّرًا، نَجَحْنَا.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بَدَأْنَا مُبَكِّرًا، لَنَجَحْنَا.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بَدَأْنَا مُبَكِّرًا، سَنَنْجَحُ.</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passive is correctly formed?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دُمِّرَتِ المَبَانِي فِي الزِّلْزَالِ.</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يُدَمَّرَتِ المَبَانِي فِي الزِّلْزَالِ.</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دَمَّرَتِ المَبَانِي فِي الزِّلْزَالِ.</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purpose clause is correct?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نَزْرَعُ الأَشْجَارَ لِكَيْ نَحْمِي البِيئَةَ.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نَزْرَعُ الأَشْجَارَ لِكَيْ نَحْمِيْ البِيئَةَ.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نَزْرَعُ الأَشْجَارَ لِكَيْ نَحْمِيَ البِيئَةَ.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final fatḥa: </a:t>
            </a:r>
            <a:pPr algn="l" indent="0" marL="0">
              <a:buNone/>
            </a:pPr>
            <a:r>
              <a:rPr lang="ar-SA" altLang="en-US" sz="1350" dirty="0">
                <a:solidFill>
                  <a:srgbClr val="8A6D1E"/>
                </a:solidFill>
                <a:latin typeface="Amiri" pitchFamily="2" charset="-78"/>
                <a:cs typeface="Amiri" pitchFamily="2" charset="-78"/>
              </a:rPr>
              <a:t>نَحْمِيَ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يَنْبَغِي أَنْ نَسْتَثْمِرَ فِي الطَّاقَةِ.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 نَسْتَثْمِرُ فِي الطَّاقَةِ.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 نَسْتَثْمِرْ فِي الطَّاقَةِ.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نَسْتَثْمِرَ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2 conditional is correct?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بَدَأْنَا مُبَكِّرًا، نَجَحْنَا.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لَوْ بَدَأْنَا مُبَكِّرًا، لَنَجَحْنَا.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بَدَأْنَا مُبَكِّرًا، سَنَنْجَحُ.</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passive is correctly formed?</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دُمِّرَتِ المَبَانِي فِي الزِّلْزَالِ.</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يُدَمَّرَتِ المَبَانِي فِي الزِّلْزَالِ.</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دَمَّرَتِ المَبَانِي فِي الزِّلْزَالِ.</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passive is </a:t>
            </a:r>
            <a:pPr algn="l" indent="0" marL="0">
              <a:buNone/>
            </a:pPr>
            <a:r>
              <a:rPr lang="ar-SA" altLang="en-US" sz="1350" dirty="0">
                <a:solidFill>
                  <a:srgbClr val="8A6D1E"/>
                </a:solidFill>
                <a:latin typeface="Amiri" pitchFamily="2" charset="-78"/>
                <a:cs typeface="Amiri" pitchFamily="2" charset="-78"/>
              </a:rPr>
              <a:t>دُمِّرَتْ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Watch me answer the assessment questions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Q1</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7B3FA0"/>
                </a:solidFill>
                <a:latin typeface="Amiri" pitchFamily="2" charset="-78"/>
                <a:cs typeface="Amiri" pitchFamily="2" charset="-78"/>
              </a:rPr>
              <a:t>تُشَكِّلُ</a:t>
            </a:r>
            <a:pPr rtl="1" algn="ctr" indent="0" marL="0">
              <a:buNone/>
            </a:pPr>
            <a:r>
              <a:rPr lang="ar-SA" altLang="en-US" sz="2700" b="1" dirty="0">
                <a:solidFill>
                  <a:srgbClr val="1B3B6F"/>
                </a:solidFill>
                <a:latin typeface="Amiri" pitchFamily="2" charset="-78"/>
                <a:cs typeface="Amiri" pitchFamily="2" charset="-78"/>
              </a:rPr>
              <a:t> نُدْرَةُ المِيَاهِ …</a:t>
            </a:r>
            <a:endParaRPr lang="ar-SA" sz="27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challenge.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Q3</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يَتَطَلَّبُ الأَمْرُ أَنْ </a:t>
            </a:r>
            <a:pPr rtl="1" algn="ctr" indent="0" marL="0">
              <a:lnSpc>
                <a:spcPct val="120000"/>
              </a:lnSpc>
              <a:buNone/>
            </a:pPr>
            <a:r>
              <a:rPr lang="ar-SA" altLang="en-US" sz="1750" b="1" dirty="0">
                <a:solidFill>
                  <a:srgbClr val="0E7C86"/>
                </a:solidFill>
                <a:latin typeface="Amiri" pitchFamily="2" charset="-78"/>
                <a:cs typeface="Amiri" pitchFamily="2" charset="-78"/>
              </a:rPr>
              <a:t>نُخَصِّصَ</a:t>
            </a:r>
            <a:pPr rtl="1" algn="ctr" indent="0" marL="0">
              <a:lnSpc>
                <a:spcPct val="120000"/>
              </a:lnSpc>
              <a:buNone/>
            </a:pPr>
            <a:r>
              <a:rPr lang="ar-SA" altLang="en-US" sz="1750" b="1" dirty="0">
                <a:solidFill>
                  <a:srgbClr val="1B3B6F"/>
                </a:solidFill>
                <a:latin typeface="Amiri" pitchFamily="2" charset="-78"/>
                <a:cs typeface="Amiri" pitchFamily="2" charset="-78"/>
              </a:rPr>
              <a:t> … لِكَيْ </a:t>
            </a:r>
            <a:pPr rtl="1" algn="ctr" indent="0" marL="0">
              <a:lnSpc>
                <a:spcPct val="120000"/>
              </a:lnSpc>
              <a:buNone/>
            </a:pPr>
            <a:r>
              <a:rPr lang="ar-SA" altLang="en-US" sz="1750" b="1" dirty="0">
                <a:solidFill>
                  <a:srgbClr val="D6336C"/>
                </a:solidFill>
                <a:latin typeface="Amiri" pitchFamily="2" charset="-78"/>
                <a:cs typeface="Amiri" pitchFamily="2" charset="-78"/>
              </a:rPr>
              <a:t>نَصُونَ</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Q2</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C77700"/>
                </a:solidFill>
                <a:latin typeface="Amiri" pitchFamily="2" charset="-78"/>
                <a:cs typeface="Amiri" pitchFamily="2" charset="-78"/>
              </a:rPr>
              <a:t>لَوْ كَانَتْ لَدَيَّ</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C77700"/>
                </a:solidFill>
                <a:latin typeface="Amiri" pitchFamily="2" charset="-78"/>
                <a:cs typeface="Amiri" pitchFamily="2" charset="-78"/>
              </a:rPr>
              <a:t>لَأَطْلَقْتُ</a:t>
            </a:r>
            <a:endParaRPr lang="ar-SA" sz="24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Extra</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نَرْجُو أَنْ </a:t>
            </a:r>
            <a:pPr rtl="1" algn="ctr" indent="0" marL="0">
              <a:buNone/>
            </a:pPr>
            <a:r>
              <a:rPr lang="ar-SA" altLang="en-US" sz="2800" b="1" dirty="0">
                <a:solidFill>
                  <a:srgbClr val="1D5FBF"/>
                </a:solidFill>
                <a:latin typeface="Amiri" pitchFamily="2" charset="-78"/>
                <a:cs typeface="Amiri" pitchFamily="2" charset="-78"/>
              </a:rPr>
              <a:t>تَتَغَيَّرَ</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Hope.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7B3FA0"/>
          </a:solidFill>
          <a:ln w="12700">
            <a:solidFill>
              <a:srgbClr val="7B3FA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CHALLENGE</a:t>
            </a:r>
            <a:endParaRPr lang="en-US" sz="800" dirty="0"/>
          </a:p>
        </p:txBody>
      </p:sp>
      <p:sp>
        <p:nvSpPr>
          <p:cNvPr id="47" name="Shape 43"/>
          <p:cNvSpPr/>
          <p:nvPr/>
        </p:nvSpPr>
        <p:spPr>
          <a:xfrm>
            <a:off x="7552944"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NECESSITY</a:t>
            </a:r>
            <a:endParaRPr lang="en-US" sz="800" dirty="0"/>
          </a:p>
        </p:txBody>
      </p:sp>
      <p:sp>
        <p:nvSpPr>
          <p:cNvPr id="49" name="Shape 45"/>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PURPOSE</a:t>
            </a:r>
            <a:endParaRPr lang="en-US" sz="800" dirty="0"/>
          </a:p>
        </p:txBody>
      </p:sp>
      <p:sp>
        <p:nvSpPr>
          <p:cNvPr id="51" name="Shape 47"/>
          <p:cNvSpPr/>
          <p:nvPr/>
        </p:nvSpPr>
        <p:spPr>
          <a:xfrm>
            <a:off x="9528048" y="4736592"/>
            <a:ext cx="914400" cy="237744"/>
          </a:xfrm>
          <a:prstGeom prst="roundRect">
            <a:avLst>
              <a:gd name="adj" fmla="val 50000"/>
            </a:avLst>
          </a:prstGeom>
          <a:solidFill>
            <a:srgbClr val="C77700"/>
          </a:solidFill>
          <a:ln w="12700">
            <a:solidFill>
              <a:srgbClr val="C77700"/>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3" name="Shape 49"/>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HOPE</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7B3FA0"/>
                </a:solidFill>
                <a:latin typeface="Amiri" pitchFamily="2" charset="-78"/>
                <a:cs typeface="Amiri" pitchFamily="2" charset="-78"/>
              </a:rPr>
              <a:t>تُشَكِّلُ</a:t>
            </a:r>
            <a:pPr rtl="1" algn="r" indent="0" marL="0">
              <a:lnSpc>
                <a:spcPct val="120000"/>
              </a:lnSpc>
              <a:buNone/>
            </a:pPr>
            <a:r>
              <a:rPr lang="ar-SA" altLang="en-US" sz="1400" b="1" dirty="0">
                <a:solidFill>
                  <a:srgbClr val="1B3B6F"/>
                </a:solidFill>
                <a:latin typeface="Amiri" pitchFamily="2" charset="-78"/>
                <a:cs typeface="Amiri" pitchFamily="2" charset="-78"/>
              </a:rPr>
              <a:t> نُدْرَةُ المِيَاهِ أَكْبَرَ تَحَدٍّ بِيئِيٍّ، بِسَبَبِ قِلَّةِ الأَمْطَارِ وَسُوءِ الإِدَارَةِ. وَيَتَطَلَّبُ الأَمْرُ أَنْ </a:t>
            </a:r>
            <a:pPr rtl="1" algn="r" indent="0" marL="0">
              <a:lnSpc>
                <a:spcPct val="120000"/>
              </a:lnSpc>
              <a:buNone/>
            </a:pPr>
            <a:r>
              <a:rPr lang="ar-SA" altLang="en-US" sz="1400" b="1" dirty="0">
                <a:solidFill>
                  <a:srgbClr val="0E7C86"/>
                </a:solidFill>
                <a:latin typeface="Amiri" pitchFamily="2" charset="-78"/>
                <a:cs typeface="Amiri" pitchFamily="2" charset="-78"/>
              </a:rPr>
              <a:t>نُخَصِّصَ</a:t>
            </a:r>
            <a:pPr rtl="1" algn="r" indent="0" marL="0">
              <a:lnSpc>
                <a:spcPct val="120000"/>
              </a:lnSpc>
              <a:buNone/>
            </a:pPr>
            <a:r>
              <a:rPr lang="ar-SA" altLang="en-US" sz="1400" b="1" dirty="0">
                <a:solidFill>
                  <a:srgbClr val="1B3B6F"/>
                </a:solidFill>
                <a:latin typeface="Amiri" pitchFamily="2" charset="-78"/>
                <a:cs typeface="Amiri" pitchFamily="2" charset="-78"/>
              </a:rPr>
              <a:t> مِيزَانِيَّاتٍ أَكْبَرَ لِلتَّحْلِيَةِ، لِكَيْ </a:t>
            </a:r>
            <a:pPr rtl="1" algn="r" indent="0" marL="0">
              <a:lnSpc>
                <a:spcPct val="120000"/>
              </a:lnSpc>
              <a:buNone/>
            </a:pPr>
            <a:r>
              <a:rPr lang="ar-SA" altLang="en-US" sz="1400" b="1" dirty="0">
                <a:solidFill>
                  <a:srgbClr val="D6336C"/>
                </a:solidFill>
                <a:latin typeface="Amiri" pitchFamily="2" charset="-78"/>
                <a:cs typeface="Amiri" pitchFamily="2" charset="-78"/>
              </a:rPr>
              <a:t>نَصُونَ</a:t>
            </a:r>
            <a:pPr rtl="1" algn="r" indent="0" marL="0">
              <a:lnSpc>
                <a:spcPct val="120000"/>
              </a:lnSpc>
              <a:buNone/>
            </a:pPr>
            <a:r>
              <a:rPr lang="ar-SA" altLang="en-US" sz="1400" b="1" dirty="0">
                <a:solidFill>
                  <a:srgbClr val="1B3B6F"/>
                </a:solidFill>
                <a:latin typeface="Amiri" pitchFamily="2" charset="-78"/>
                <a:cs typeface="Amiri" pitchFamily="2" charset="-78"/>
              </a:rPr>
              <a:t> المَوْرِدَ لِلْأَجْيَالِ القَادِمَةِ. </a:t>
            </a:r>
            <a:pPr rtl="1" algn="r" indent="0" marL="0">
              <a:lnSpc>
                <a:spcPct val="120000"/>
              </a:lnSpc>
              <a:buNone/>
            </a:pPr>
            <a:r>
              <a:rPr lang="ar-SA" altLang="en-US" sz="1400" b="1" dirty="0">
                <a:solidFill>
                  <a:srgbClr val="C77700"/>
                </a:solidFill>
                <a:latin typeface="Amiri" pitchFamily="2" charset="-78"/>
                <a:cs typeface="Amiri" pitchFamily="2" charset="-78"/>
              </a:rPr>
              <a:t>وَلَوْ كَانَتْ لَدَيَّ</a:t>
            </a:r>
            <a:pPr rtl="1" algn="r" indent="0" marL="0">
              <a:lnSpc>
                <a:spcPct val="120000"/>
              </a:lnSpc>
              <a:buNone/>
            </a:pPr>
            <a:r>
              <a:rPr lang="ar-SA" altLang="en-US" sz="1400" b="1" dirty="0">
                <a:solidFill>
                  <a:srgbClr val="1B3B6F"/>
                </a:solidFill>
                <a:latin typeface="Amiri" pitchFamily="2" charset="-78"/>
                <a:cs typeface="Amiri" pitchFamily="2" charset="-78"/>
              </a:rPr>
              <a:t> صَلَاحِيَّاتُ وَزِيرِ البِيئَةِ، </a:t>
            </a:r>
            <a:pPr rtl="1" algn="r" indent="0" marL="0">
              <a:lnSpc>
                <a:spcPct val="120000"/>
              </a:lnSpc>
              <a:buNone/>
            </a:pPr>
            <a:r>
              <a:rPr lang="ar-SA" altLang="en-US" sz="1400" b="1" dirty="0">
                <a:solidFill>
                  <a:srgbClr val="C77700"/>
                </a:solidFill>
                <a:latin typeface="Amiri" pitchFamily="2" charset="-78"/>
                <a:cs typeface="Amiri" pitchFamily="2" charset="-78"/>
              </a:rPr>
              <a:t>لَأَطْلَقْتُ</a:t>
            </a:r>
            <a:pPr rtl="1" algn="r" indent="0" marL="0">
              <a:lnSpc>
                <a:spcPct val="120000"/>
              </a:lnSpc>
              <a:buNone/>
            </a:pPr>
            <a:r>
              <a:rPr lang="ar-SA" altLang="en-US" sz="1400" b="1" dirty="0">
                <a:solidFill>
                  <a:srgbClr val="1B3B6F"/>
                </a:solidFill>
                <a:latin typeface="Amiri" pitchFamily="2" charset="-78"/>
                <a:cs typeface="Amiri" pitchFamily="2" charset="-78"/>
              </a:rPr>
              <a:t> مَشْرُوعًا وَطَنِيًّا لِتَحْلِيَةِ المِيَاهِ. وَنَرْجُو أَنْ </a:t>
            </a:r>
            <a:pPr rtl="1" algn="r" indent="0" marL="0">
              <a:lnSpc>
                <a:spcPct val="120000"/>
              </a:lnSpc>
              <a:buNone/>
            </a:pPr>
            <a:r>
              <a:rPr lang="ar-SA" altLang="en-US" sz="1400" b="1" dirty="0">
                <a:solidFill>
                  <a:srgbClr val="1D5FBF"/>
                </a:solidFill>
                <a:latin typeface="Amiri" pitchFamily="2" charset="-78"/>
                <a:cs typeface="Amiri" pitchFamily="2" charset="-78"/>
              </a:rPr>
              <a:t>تَتَغَيَّرَ</a:t>
            </a:r>
            <a:pPr rtl="1" algn="r" indent="0" marL="0">
              <a:lnSpc>
                <a:spcPct val="120000"/>
              </a:lnSpc>
              <a:buNone/>
            </a:pPr>
            <a:r>
              <a:rPr lang="ar-SA" altLang="en-US" sz="1400" b="1" dirty="0">
                <a:solidFill>
                  <a:srgbClr val="1B3B6F"/>
                </a:solidFill>
                <a:latin typeface="Amiri" pitchFamily="2" charset="-78"/>
                <a:cs typeface="Amiri" pitchFamily="2" charset="-78"/>
              </a:rPr>
              <a:t> نَظْرَةُ النَّاسِ إِلَى البِيئَةِ.</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Water scarcity is the biggest environmental challenge, because of low rainfall and poor management. It requires us to allocate bigger budgets for desalination, so that we preserve the resource for future generations. And if I had the powers of the environment minister, I would launch a national water-desalination project. We hope that people’s view of the environment will change.</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نَسْتَثْمِرُ فِي الطَّاقَةِ النَّظِيفَةِ لِكَيْ نَحْمِيَ الأَجْيَالَ القَادِمَةَ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invest in clean energy so that we protect future generations</a:t>
            </a:r>
            <a:endParaRPr lang="en-US" sz="1250" dirty="0"/>
          </a:p>
          <a:p>
            <a:pPr indent="0" marL="0">
              <a:buNone/>
            </a:pPr>
            <a:r>
              <a:rPr lang="en-US" sz="1050" i="1" dirty="0">
                <a:solidFill>
                  <a:srgbClr val="8A6D1E"/>
                </a:solidFill>
                <a:latin typeface="Calibri" pitchFamily="34" charset="0"/>
                <a:cs typeface="Amiri" pitchFamily="2" charset="-78"/>
              </a:rPr>
              <a:t>Purpose: li-kay + -a.</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يَتَطَلَّبُ الأَمْرُ أَنْ نُخَصِّصَ مِيزَانِيَّاتٍ أَكْبَرَ لِلْبِيئَةِ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matter requires us to allocate bigger budgets for the environment</a:t>
            </a:r>
            <a:endParaRPr lang="en-US" sz="1250" dirty="0"/>
          </a:p>
          <a:p>
            <a:pPr indent="0" marL="0">
              <a:buNone/>
            </a:pPr>
            <a:r>
              <a:rPr lang="en-US" sz="1050" i="1" dirty="0">
                <a:solidFill>
                  <a:srgbClr val="8A6D1E"/>
                </a:solidFill>
                <a:latin typeface="Calibri" pitchFamily="34" charset="0"/>
                <a:cs typeface="Amiri" pitchFamily="2" charset="-78"/>
              </a:rPr>
              <a:t>Necessity: yataṭallabu an + -a.</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لَوْ بَدَأْنَا التَّحَوُّلَ مُبَكِّرًا، لَكَانَتْ بِيئَتُنَا أَفْضَلَ</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had we begun the transition early, our environment would be better</a:t>
            </a:r>
            <a:endParaRPr lang="en-US" sz="1250" dirty="0"/>
          </a:p>
          <a:p>
            <a:pPr indent="0" marL="0">
              <a:buNone/>
            </a:pPr>
            <a:r>
              <a:rPr lang="en-US" sz="1050" i="1" dirty="0">
                <a:solidFill>
                  <a:srgbClr val="8A6D1E"/>
                </a:solidFill>
                <a:latin typeface="Calibri" pitchFamily="34" charset="0"/>
                <a:cs typeface="Amiri" pitchFamily="2" charset="-78"/>
              </a:rPr>
              <a:t>Type 2: law + past → la-.</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REPAIR THE SLIPS (WEBSITE MISTAKES + EARLIER P4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it, fix it, name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وَسَمِّ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6851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Zone</a:t>
            </a:r>
            <a:endParaRPr lang="en-US" sz="1100" dirty="0"/>
          </a:p>
        </p:txBody>
      </p:sp>
      <p:sp>
        <p:nvSpPr>
          <p:cNvPr id="17" name="Text 14"/>
          <p:cNvSpPr txBox="1"/>
          <p:nvPr/>
        </p:nvSpPr>
        <p:spPr>
          <a:xfrm>
            <a:off x="446227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Correct</a:t>
            </a:r>
            <a:endParaRPr lang="en-US" sz="1100" dirty="0"/>
          </a:p>
        </p:txBody>
      </p:sp>
      <p:sp>
        <p:nvSpPr>
          <p:cNvPr id="18" name="Text 15"/>
          <p:cNvSpPr txBox="1"/>
          <p:nvPr/>
        </p:nvSpPr>
        <p:spPr>
          <a:xfrm>
            <a:off x="53035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Slip</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705088" y="226771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li-kay + -a</a:t>
            </a:r>
            <a:endParaRPr lang="en-US" sz="1100" dirty="0"/>
          </a:p>
        </p:txBody>
      </p:sp>
      <p:sp>
        <p:nvSpPr>
          <p:cNvPr id="21" name="Text 18"/>
          <p:cNvSpPr txBox="1"/>
          <p:nvPr/>
        </p:nvSpPr>
        <p:spPr>
          <a:xfrm>
            <a:off x="4480560" y="2267712"/>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نَسْتَثْمِرُ فِي الطَّاقَةِ لِكَيْ نَحْمِيَ البِيئَةَ.</a:t>
            </a:r>
            <a:endParaRPr lang="ar-SA" sz="1900" dirty="0"/>
          </a:p>
        </p:txBody>
      </p:sp>
      <p:sp>
        <p:nvSpPr>
          <p:cNvPr id="22" name="Text 19"/>
          <p:cNvSpPr txBox="1"/>
          <p:nvPr/>
        </p:nvSpPr>
        <p:spPr>
          <a:xfrm>
            <a:off x="548640" y="2267712"/>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نَسْتَثْمِرُ فِي الطَّاقَةِ لِكَيْ نَحْمِي البِيئَةَ.</a:t>
            </a:r>
            <a:endParaRPr lang="ar-SA" sz="19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705088" y="2881884"/>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-a</a:t>
            </a:r>
            <a:endParaRPr lang="en-US" sz="1100" dirty="0"/>
          </a:p>
        </p:txBody>
      </p:sp>
      <p:sp>
        <p:nvSpPr>
          <p:cNvPr id="27" name="Text 24"/>
          <p:cNvSpPr txBox="1"/>
          <p:nvPr/>
        </p:nvSpPr>
        <p:spPr>
          <a:xfrm>
            <a:off x="4480560" y="2881884"/>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يَتَطَلَّبُ الأَمْرُ أَنْ نُخَصِّصَ مِيزَانِيَّةً.</a:t>
            </a:r>
            <a:endParaRPr lang="ar-SA" sz="1900" dirty="0"/>
          </a:p>
        </p:txBody>
      </p:sp>
      <p:sp>
        <p:nvSpPr>
          <p:cNvPr id="28" name="Text 25"/>
          <p:cNvSpPr txBox="1"/>
          <p:nvPr/>
        </p:nvSpPr>
        <p:spPr>
          <a:xfrm>
            <a:off x="548640" y="2881884"/>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يَتَطَلَّبُ الأَمْرُ أَنْ نُخَصِّصُ مِيزَانِيَّةً.</a:t>
            </a:r>
            <a:endParaRPr lang="ar-SA" sz="19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705088" y="3496056"/>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result</a:t>
            </a:r>
            <a:endParaRPr lang="en-US" sz="1100" dirty="0"/>
          </a:p>
        </p:txBody>
      </p:sp>
      <p:sp>
        <p:nvSpPr>
          <p:cNvPr id="33" name="Text 30"/>
          <p:cNvSpPr txBox="1"/>
          <p:nvPr/>
        </p:nvSpPr>
        <p:spPr>
          <a:xfrm>
            <a:off x="4480560" y="3496056"/>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لَوْ بَدَأْنَا مُبَكِّرًا، لَنَجَحْنَا.</a:t>
            </a:r>
            <a:endParaRPr lang="ar-SA" sz="1900" dirty="0"/>
          </a:p>
        </p:txBody>
      </p:sp>
      <p:sp>
        <p:nvSpPr>
          <p:cNvPr id="34" name="Text 31"/>
          <p:cNvSpPr txBox="1"/>
          <p:nvPr/>
        </p:nvSpPr>
        <p:spPr>
          <a:xfrm>
            <a:off x="548640" y="3496056"/>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لَوْ بَدَأْنَا مُبَكِّرًا، نَجَحْنَا.</a:t>
            </a:r>
            <a:endParaRPr lang="ar-SA" sz="19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705088" y="4110228"/>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(P4-L05)</a:t>
            </a:r>
            <a:endParaRPr lang="en-US" sz="1100" dirty="0"/>
          </a:p>
        </p:txBody>
      </p:sp>
      <p:sp>
        <p:nvSpPr>
          <p:cNvPr id="39" name="Text 36"/>
          <p:cNvSpPr txBox="1"/>
          <p:nvPr/>
        </p:nvSpPr>
        <p:spPr>
          <a:xfrm>
            <a:off x="4480560" y="4110228"/>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أُجْلِيَ آلَافُ السُّكَّانِ.</a:t>
            </a:r>
            <a:endParaRPr lang="ar-SA" sz="1900" dirty="0"/>
          </a:p>
        </p:txBody>
      </p:sp>
      <p:sp>
        <p:nvSpPr>
          <p:cNvPr id="40" name="Text 37"/>
          <p:cNvSpPr txBox="1"/>
          <p:nvPr/>
        </p:nvSpPr>
        <p:spPr>
          <a:xfrm>
            <a:off x="548640" y="4110228"/>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أَجْلَى آلَافُ السُّكَّانِ.</a:t>
            </a:r>
            <a:endParaRPr lang="ar-SA" sz="19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705088" y="4724400"/>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partner (P4-L06)</a:t>
            </a:r>
            <a:endParaRPr lang="en-US" sz="1100" dirty="0"/>
          </a:p>
        </p:txBody>
      </p:sp>
      <p:sp>
        <p:nvSpPr>
          <p:cNvPr id="43" name="Text 40"/>
          <p:cNvSpPr txBox="1"/>
          <p:nvPr/>
        </p:nvSpPr>
        <p:spPr>
          <a:xfrm>
            <a:off x="4480560" y="4724400"/>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يَتَحَوَّلُ العَالَمُ العَرَبِيُّ إِلَى الطَّاقَةِ المُتَجَدِّدَةِ.</a:t>
            </a:r>
            <a:endParaRPr lang="ar-SA" sz="1900" dirty="0"/>
          </a:p>
        </p:txBody>
      </p:sp>
      <p:sp>
        <p:nvSpPr>
          <p:cNvPr id="44" name="Text 41"/>
          <p:cNvSpPr txBox="1"/>
          <p:nvPr/>
        </p:nvSpPr>
        <p:spPr>
          <a:xfrm>
            <a:off x="548640" y="4724400"/>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يَتَحَوَّلُ العَالَمُ العَرَبِيُّ فِي الطَّاقَةِ المُتَجَدِّدَةِ.</a:t>
            </a:r>
            <a:endParaRPr lang="ar-SA" sz="19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705088" y="5338572"/>
            <a:ext cx="29535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yahdifu ilā (P4-L09)</a:t>
            </a:r>
            <a:endParaRPr lang="en-US" sz="1100" dirty="0"/>
          </a:p>
        </p:txBody>
      </p:sp>
      <p:sp>
        <p:nvSpPr>
          <p:cNvPr id="47" name="Text 44"/>
          <p:cNvSpPr txBox="1"/>
          <p:nvPr/>
        </p:nvSpPr>
        <p:spPr>
          <a:xfrm>
            <a:off x="4480560" y="5338572"/>
            <a:ext cx="402336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يَهْدِفُ المَشْرُوعُ إِلَى أَنْ يُقَلِّلَ الانْبِعَاثَاتِ.</a:t>
            </a:r>
            <a:endParaRPr lang="ar-SA" sz="1900" dirty="0"/>
          </a:p>
        </p:txBody>
      </p:sp>
      <p:sp>
        <p:nvSpPr>
          <p:cNvPr id="48" name="Text 45"/>
          <p:cNvSpPr txBox="1"/>
          <p:nvPr/>
        </p:nvSpPr>
        <p:spPr>
          <a:xfrm>
            <a:off x="548640" y="5338572"/>
            <a:ext cx="37490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يَهْدِفُ المَشْرُوعُ أَنْ يُقَلِّلَ الانْبِعَاثَاتِ.</a:t>
            </a:r>
            <a:endParaRPr lang="ar-SA" sz="19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reading: “the shared lesson is that every structure has a precise marker that must be controlled.”</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ASSESSMENT ANSWER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Background + necessity + purpose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جَوَابَكَ</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Background (kāna qad)</a:t>
            </a:r>
            <a:endParaRPr lang="en-US" sz="1100" dirty="0"/>
          </a:p>
        </p:txBody>
      </p:sp>
      <p:sp>
        <p:nvSpPr>
          <p:cNvPr id="19" name="Text 16"/>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Necessity (an + -a)</a:t>
            </a:r>
            <a:endParaRPr lang="en-US" sz="1100" dirty="0"/>
          </a:p>
        </p:txBody>
      </p:sp>
      <p:sp>
        <p:nvSpPr>
          <p:cNvPr id="20" name="Text 17"/>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Purpose (li-kay)</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165592" y="2267712"/>
            <a:ext cx="347472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كَانَتْ مَدِينَتِي قَدْ فَقَدَتْ حَدَائِقَهَا قَبْلَ أَنْ نَنْتَبِهَ لِقِيمَتِهَا</a:t>
            </a:r>
            <a:endParaRPr lang="ar-SA" sz="1400" dirty="0"/>
          </a:p>
        </p:txBody>
      </p:sp>
      <p:sp>
        <p:nvSpPr>
          <p:cNvPr id="23" name="Text 20"/>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وَيَتَطَلَّبُ الحِفَاظُ عَلَيْهِ أَنْ نُخَصِّصَ مِيزَانِيَّاتٍ لِلتَّرْمِيمِ</a:t>
            </a:r>
            <a:endParaRPr lang="ar-SA" sz="1600" dirty="0"/>
          </a:p>
        </p:txBody>
      </p:sp>
      <p:sp>
        <p:nvSpPr>
          <p:cNvPr id="24" name="Text 21"/>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وَنَفْعَلُ ذٰلِكَ لِكَيْ نَصُونَ هُوِيَّتَنَا لِلْأَجْيَالِ القَادِمَةِ</a:t>
            </a:r>
            <a:endParaRPr lang="ar-SA" sz="16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كَانَتِ الحَضَارَاتُ قَدْ نَشَأَتْ عَلَى ضِفَافِ النَّهْرِ</a:t>
            </a:r>
            <a:endParaRPr lang="ar-SA" sz="1600" dirty="0"/>
          </a:p>
        </p:txBody>
      </p:sp>
      <p:sp>
        <p:nvSpPr>
          <p:cNvPr id="29" name="Text 26"/>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وَيَنْبَغِي أَنْ نَحُدَّ مِنَ التَّلَوُّثِ وَالإِهْمَالِ</a:t>
            </a:r>
            <a:endParaRPr lang="ar-SA" sz="1600" dirty="0"/>
          </a:p>
        </p:txBody>
      </p:sp>
      <p:sp>
        <p:nvSpPr>
          <p:cNvPr id="30" name="Text 27"/>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وَنَعْمَلُ عَلَيْهِ لِكَيْ نَحْمِيَ ذَاكِرَتَنَا الجَمَاعِيَّةَ</a:t>
            </a:r>
            <a:endParaRPr lang="ar-SA" sz="16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كُنَّا قَدْ أَهْمَلْنَا التُّرَاثَ العُمْرَانِيَّ لِسَنَوَاتٍ</a:t>
            </a:r>
            <a:endParaRPr lang="ar-SA" sz="1600" dirty="0"/>
          </a:p>
        </p:txBody>
      </p:sp>
      <p:sp>
        <p:nvSpPr>
          <p:cNvPr id="33" name="Text 30"/>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وَمِنَ الضَّرُورِيِّ أَنْ نَسْتَثْمِرَ فِي الطَّاقَةِ المُتَجَدِّدَةِ</a:t>
            </a:r>
            <a:endParaRPr lang="ar-SA" sz="1600" dirty="0"/>
          </a:p>
        </p:txBody>
      </p:sp>
      <p:sp>
        <p:nvSpPr>
          <p:cNvPr id="34" name="Text 31"/>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وَنُطَوِّرُهُ لِكَيْ نُوَازِنَ بَيْنَ العُمْرَانِ وَالطَّبِيعَةِ</a:t>
            </a:r>
            <a:endParaRPr lang="ar-SA" sz="16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aloud as one fluent answer.</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Trigger, conditional / past perfect — or passive / reported?</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نَحْمِيَ الأَجْيَالَ القَادِمَةَ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يَنْبَغِي أَنْ نَسْتَثْمِرَ فِي الطَّاقَةِ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نَرْجُو أَنْ يَتَغَيَّرَ السُّلُوكُ</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إِذَا اسْتَثْمَرْنَا اليَوْمَ، سَنَحْمِي الغَدَ</a:t>
            </a:r>
            <a:endParaRPr lang="ar-SA" sz="165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 بَدَأْنَا مُبَكِّرًا، لَنَجَحْنَا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كَانَتِ المَدِينَةُ قَدْ فَقَدَتْ حَدَائِقَهَا</a:t>
            </a:r>
            <a:endParaRPr lang="ar-SA" sz="175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دُمِّرَتِ المَبَانِي فِي الزِّلْزَالِ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أُعْلِنَتْ حَالَةُ الطَّوَارِئِ</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قَالَ الخَبِيرُ إِنَّ الاسْتِدَامَةَ ضَرُورَةٌ</a:t>
            </a:r>
            <a:endParaRPr lang="ar-SA" sz="17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subjunctive triggers</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conditionals / past perfect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passive / reported</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subjunctive triggers</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نَحْمِيَ الأَجْيَالَ القَادِمَةَ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يَنْبَغِي أَنْ نَسْتَثْمِرَ فِي الطَّاقَةِ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نَرْجُو أَنْ يَتَغَيَّرَ السُّلُوكُ</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conditionals / past perfect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إِذَا اسْتَثْمَرْنَا اليَوْمَ، سَنَحْمِي الغَدَ</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لَوْ بَدَأْنَا مُبَكِّرًا، لَنَجَحْنَا</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كَانَتِ المَدِينَةُ قَدْ فَقَدَتْ حَدَائِقَهَا</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passive / reported</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دُمِّرَتِ المَبَانِي فِي الزِّلْزَالِ</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أُعْلِنَتْ حَالَةُ الطَّوَارِئِ</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قَالَ الخَبِيرُ إِنَّ الاسْتِدَامَةَ ضَرُورَةٌ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9</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سَنَسْتَثْمِرُ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اسْتَثْمَرْنَا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volition clause is correct?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نَرْجُو أَنْ تَنْجَحُ المُفَاوَضَاتُ.</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نَرْجُو أَنْ تَنْجَحَ المُفَاوَضَاتُ.</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نَرْجُو أَنْ نَجَحَتِ المُفَاوَضَاتُ.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reported clause is correct?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قَالَ الخَبِيرُ أَنَّ الاسْتِدَامَةَ ضَرُورَةٌ.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قَالَ الخَبِيرُ إِنَّ الاسْتِدَامَةَ ضَرُورَةٌ.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قَالَ الخَبِيرُ بِأَنَّ الاسْتِدَامَةَ ضَرُورَةٌ.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a </a:t>
            </a:r>
            <a:pPr algn="l" indent="0" marL="0">
              <a:buNone/>
            </a:pPr>
            <a:r>
              <a:rPr lang="ar-SA" altLang="en-US" sz="1650" b="1" dirty="0">
                <a:solidFill>
                  <a:srgbClr val="1B3B6F"/>
                </a:solidFill>
                <a:latin typeface="Amiri" pitchFamily="2" charset="-78"/>
                <a:cs typeface="Amiri" pitchFamily="2" charset="-78"/>
              </a:rPr>
              <a:t>يَتَطَلَّبُ</a:t>
            </a:r>
            <a:pPr algn="l" indent="0" marL="0">
              <a:buNone/>
            </a:pPr>
            <a:r>
              <a:rPr lang="en-US" sz="1250" b="1" dirty="0">
                <a:solidFill>
                  <a:srgbClr val="1B3B6F"/>
                </a:solidFill>
                <a:latin typeface="Calibri" pitchFamily="34" charset="0"/>
                <a:cs typeface="Amiri" pitchFamily="2" charset="-78"/>
              </a:rPr>
              <a:t> question well?</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الأَمْرُ أَنْ نُخَصِّصُ مِيزَانِيَّةً أَكْبَرَ.</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الأَمْرُ مِيزَانِيَّةً أَكْبَرَ فَقَطْ.</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الأَمْرُ أَنْ نُخَصِّصَ مِيزَانِيَّةً أَكْبَرَ.</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follows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نَسْتَثْمِرُ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سَنَسْتَثْمِرُ</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اسْتَثْمَرْنَا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is followed by a past-tense verb.</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volition clause is correct?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نَرْجُو أَنْ تَنْجَحُ المُفَاوَضَاتُ.</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نَرْجُو أَنْ تَنْجَحَ المُفَاوَضَاتُ.</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نَرْجُو أَنْ نَجَحَتِ المُفَاوَضَاتُ.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تَنْجَحَ</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reported clause is correct?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قَالَ الخَبِيرُ أَنَّ الاسْتِدَامَةَ ضَرُورَةٌ.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قَالَ الخَبِيرُ إِنَّ الاسْتِدَامَةَ ضَرُورَةٌ.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قَالَ الخَبِيرُ بِأَنَّ الاسْتِدَامَةَ ضَرُورَةٌ.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a </a:t>
            </a:r>
            <a:pPr algn="l" indent="0" marL="0">
              <a:buNone/>
            </a:pPr>
            <a:r>
              <a:rPr lang="ar-SA" altLang="en-US" sz="1650" b="1" dirty="0">
                <a:solidFill>
                  <a:srgbClr val="1B3B6F"/>
                </a:solidFill>
                <a:latin typeface="Amiri" pitchFamily="2" charset="-78"/>
                <a:cs typeface="Amiri" pitchFamily="2" charset="-78"/>
              </a:rPr>
              <a:t>يَتَطَلَّبُ</a:t>
            </a:r>
            <a:pPr algn="l" indent="0" marL="0">
              <a:buNone/>
            </a:pPr>
            <a:r>
              <a:rPr lang="en-US" sz="1250" b="1" dirty="0">
                <a:solidFill>
                  <a:srgbClr val="1B3B6F"/>
                </a:solidFill>
                <a:latin typeface="Calibri" pitchFamily="34" charset="0"/>
                <a:cs typeface="Amiri" pitchFamily="2" charset="-78"/>
              </a:rPr>
              <a:t> question well?</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يَتَطَلَّبُ الأَمْرُ أَنْ نُخَصِّصُ مِيزَانِيَّةً أَكْبَرَ.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يَتَطَلَّبُ الأَمْرُ مِيزَانِيَّةً أَكْبَرَ فَقَطْ.</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يَتَطَلَّبُ الأَمْرُ أَنْ نُخَصِّصَ مِيزَانِيَّةً أَكْبَرَ.</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يَتَطَلَّبُ أَنْ</a:t>
            </a:r>
            <a:pPr algn="l" indent="0" marL="0">
              <a:buNone/>
            </a:pPr>
            <a:r>
              <a:rPr lang="en-US" sz="1050" i="1" dirty="0">
                <a:solidFill>
                  <a:srgbClr val="8A6D1E"/>
                </a:solidFill>
                <a:latin typeface="Calibri" pitchFamily="34" charset="0"/>
                <a:cs typeface="Amiri" pitchFamily="2" charset="-78"/>
              </a:rPr>
              <a:t> takes a subjunctive verb: </a:t>
            </a:r>
            <a:pPr algn="l" indent="0" marL="0">
              <a:buNone/>
            </a:pPr>
            <a:r>
              <a:rPr lang="ar-SA" altLang="en-US" sz="1350" dirty="0">
                <a:solidFill>
                  <a:srgbClr val="8A6D1E"/>
                </a:solidFill>
                <a:latin typeface="Amiri" pitchFamily="2" charset="-78"/>
                <a:cs typeface="Amiri" pitchFamily="2" charset="-78"/>
              </a:rPr>
              <a:t>نُخَصِّصَ</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نَسْتَثْمِرُ فِي الطَّاقَةِ لِكَيْ نَحْمِي البِيئَةَ.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li-kay naḥmī?</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يَتَطَلَّبُ الأَمْرُ أَنْ نُخَصِّصُ مِيزَانِيَّةً.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najaḥnā?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لَوْ بَدَأْنَا مُبَكِّرًا، نَجَحْنَا فِي حِمَايَةِ البِيئَةِ.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yudammarat?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نَسْتَثْمِرُ فِي الطَّاقَةِ لِكَيْ نَحْمِي البِيئَةَ.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نَسْتَثْمِرُ فِي الطَّاقَةِ لِكَيْ نَحْمِيَ البِيئَةَ.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cs typeface="Amiri" pitchFamily="2" charset="-78"/>
              </a:rPr>
              <a:t>لِكَيْ</a:t>
            </a:r>
            <a:pPr algn="l" indent="0" marL="0">
              <a:buNone/>
            </a:pPr>
            <a:r>
              <a:rPr lang="en-US" sz="1150" b="1" dirty="0">
                <a:solidFill>
                  <a:srgbClr val="1B3B6F"/>
                </a:solidFill>
                <a:latin typeface="Calibri" pitchFamily="34" charset="0"/>
                <a:cs typeface="Amiri" pitchFamily="2" charset="-78"/>
              </a:rPr>
              <a:t> the verb takes a final fatḥa: </a:t>
            </a:r>
            <a:pPr algn="l" indent="0" marL="0">
              <a:buNone/>
            </a:pPr>
            <a:r>
              <a:rPr lang="ar-SA" altLang="en-US" sz="1500" b="1" dirty="0">
                <a:solidFill>
                  <a:srgbClr val="1B3B6F"/>
                </a:solidFill>
                <a:latin typeface="Amiri" pitchFamily="2" charset="-78"/>
                <a:cs typeface="Amiri" pitchFamily="2" charset="-78"/>
              </a:rPr>
              <a:t>نَحْمِيَ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يَتَطَلَّبُ الأَمْرُ أَنْ نُخَصِّصُ مِيزَانِيَّةً.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يَتَطَلَّبُ الأَمْرُ أَنْ نُخَصِّصَ مِيزَانِيَّةً.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cs typeface="Amiri" pitchFamily="2" charset="-78"/>
              </a:rPr>
              <a:t>نُخَصِّصَ</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لَوْ بَدَأْنَا مُبَكِّرًا، نَجَحْنَا فِي حِمَايَةِ البِيئَةِ.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250" b="1" dirty="0">
                <a:solidFill>
                  <a:srgbClr val="1E6B52"/>
                </a:solidFill>
                <a:latin typeface="Amiri" pitchFamily="2" charset="-78"/>
                <a:cs typeface="Amiri" pitchFamily="2" charset="-78"/>
              </a:rPr>
              <a:t>لَوْ بَدَأْنَا مُبَكِّرًا، لَنَجَحْنَا فِي حِمَايَةِ البِيئَةِ.</a:t>
            </a:r>
            <a:endParaRPr lang="ar-SA" sz="22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the </a:t>
            </a:r>
            <a:pPr algn="l" indent="0" marL="0">
              <a:buNone/>
            </a:pPr>
            <a:r>
              <a:rPr lang="ar-SA" altLang="en-US" sz="1500" b="1" dirty="0">
                <a:solidFill>
                  <a:srgbClr val="1B3B6F"/>
                </a:solidFill>
                <a:latin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prefix.</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Listening: a mock environmental-conference conversation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ecosystem does the student admire, and why?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Nile, because it holds great diversity and civilisations arose on its banks</a:t>
            </a:r>
            <a:endParaRPr lang="en-US" sz="12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desert, because it is empty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ecosystem at all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conserving it require (necessity)?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Ignoring pollution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Reducing budgets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Allocating bigger budgets and curbing pollution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purpose does the student give (</a:t>
            </a:r>
            <a:pPr algn="l" indent="0" marL="0">
              <a:buNone/>
            </a:pPr>
            <a:r>
              <a:rPr lang="ar-SA" altLang="en-US" sz="1650" b="1" dirty="0">
                <a:solidFill>
                  <a:srgbClr val="1B3B6F"/>
                </a:solidFill>
                <a:latin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increase pollution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reduce diversity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preserve the resource for future generations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answer about a minister's powers?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 would launch a national water-desalination project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Powers make no difference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 refuses to act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teacher praise?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answer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Balanced answers using all three triggers spontaneously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memorised list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kānat qad · yataṭallabu an · li-kay · law … la-.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المُعَلِّمُ: صِفْ نِظَامًا بِيئِيًّا فِي العَالَمِ العَرَبِيِّ تُعْجَبُ بِهِ. الطَّالِبُ: يُعْجِبُنِي نَهْرُ النِّيلِ لِأَنَّهُ يَضُمُّ تَنَوُّعًا كَبِيرًا، وَكَانَتِ الحَضَارَاتُ قَدْ نَشَأَتْ عَلَى ضِفَافِهِ.</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Teacher: Describe an ecosystem in the Arab world that you admire. Student: I admire the River Nile because it holds great diversity, and civilisations had grown up on its banks.</a:t>
            </a:r>
            <a:endParaRPr lang="en-US" sz="120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المُعَلِّمُ: مَا الَّذِي يَتَطَلَّبُهُ الحِفَاظُ عَلَيْهِ؟ الطَّالِبُ: يَتَطَلَّبُ الأَمْرُ أَنْ نُخَصِّصَ مِيزَانِيَّاتٍ أَكْبَرَ وَأَنْ نَحُدَّ مِنَ التَّلَوُّثِ.</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What does conserving it require? Student: It requires us to allocate bigger budgets and to curb pollution.</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المُعَلِّمُ: وَلِمَاذَا نَفْعَلُ ذٰلِكَ؟ الطَّالِبُ: نَفْعَلُهُ لِكَيْ نَصُونَ المَوْرِدَ لِلْأَجْيَالِ القَادِمَةِ.</a:t>
            </a:r>
            <a:endParaRPr lang="ar-SA" sz="18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And why do we do that? Student: We do it so that we preserve the resource for future generations.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المُعَلِّمُ: لَوْ كَانَتْ لَدَيْكَ صَلَاحِيَّاتُ وَزِيرِ البِيئَةِ، مَاذَا كُنْتَ سَتُغَيِّرُ؟ الطَّالِبُ: لَوْ كَانَتْ لَدَيَّ صَلَاحِيَّاتُهُ، لَأَطْلَقْتُ مَشْرُوعًا وَطَنِيًّا لِتَحْلِيَةِ المِيَاهِ.</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Teacher: If you had the powers of the environment minister, what would you change? Student: If I had his powers, I would launch a national water-desalination project.</a:t>
            </a:r>
            <a:endParaRPr lang="en-US" sz="120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المُعَلِّمُ: أَجْوِبَةٌ مُتَوَازِنَةٌ اسْتَعْمَلْتَ فِيهَا المُسَبِّبَاتِ الثَّلَاثَةَ تِلْقَائِيًّا.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Balanced answers in which you used all three triggers spontaneously.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ecosystem does the student admire, and why?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Nile, because it holds great diversity and civilisations arose on its banks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desert, because it is empty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ecosystem at all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900" dirty="0">
                <a:solidFill>
                  <a:srgbClr val="8A6D1E"/>
                </a:solidFill>
                <a:latin typeface="Amiri" pitchFamily="2" charset="-78"/>
                <a:cs typeface="Amiri" pitchFamily="2" charset="-78"/>
              </a:rPr>
              <a:t>يُعْجِبُنِي نَهْرُ النِّيلِ لِأَنَّهُ يَضُمُّ تَنَوُّعًا كَبِيرًا، وَكَانَتِ الحَضَارَاتُ قَدْ نَشَأَتْ عَلَى ضِفَافِهِ.</a:t>
            </a:r>
            <a:endParaRPr lang="ar-SA" sz="9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conserving it require (necessity)?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Ignoring pollution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Reducing budgets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Allocating bigger budgets and curbing pollution</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cs typeface="Amiri" pitchFamily="2" charset="-78"/>
              </a:rPr>
              <a:t>يَتَطَلَّبُ الأَمْرُ أَنْ نُخَصِّصَ مِيزَانِيَّاتٍ أَكْبَرَ وَأَنْ نَحُدَّ مِنَ التَّلَوُّثِ.</a:t>
            </a:r>
            <a:endParaRPr lang="ar-SA"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purpose does the student give (</a:t>
            </a:r>
            <a:pPr algn="l" indent="0" marL="0">
              <a:buNone/>
            </a:pPr>
            <a:r>
              <a:rPr lang="ar-SA" altLang="en-US" sz="1650" b="1" dirty="0">
                <a:solidFill>
                  <a:srgbClr val="1B3B6F"/>
                </a:solidFill>
                <a:latin typeface="Amiri" pitchFamily="2" charset="-78"/>
                <a:cs typeface="Amiri" pitchFamily="2" charset="-78"/>
              </a:rPr>
              <a:t>لِكَيْ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increase pollution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reduce diversity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preserve the resource for future generations</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نَفْعَلُهُ لِكَيْ نَصُونَ المَوْرِدَ لِلْأَجْيَالِ القَادِمَةِ.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answer about a minister's powers?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student would launch a national water-desalination project</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Powers make no difference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student refuses to act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cs typeface="Amiri" pitchFamily="2" charset="-78"/>
              </a:rPr>
              <a:t>لَوْ كَانَتْ لَدَيَّ صَلَاحِيَّاتُهُ، لَأَطْلَقْتُ مَشْرُوعًا وَطَنِيًّا لِتَحْلِيَةِ المِيَاهِ.</a:t>
            </a:r>
            <a:endParaRPr lang="ar-SA" sz="11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teacher praise?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answer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Balanced answers using all three triggers spontaneously</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memorised list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اسْتَعْمَلْتَ فِيهَا المُسَبِّبَاتِ الثَّلَاثَةَ تِلْقَائِيًّا.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kānat qad · yataṭallabu an · li-kay · law … la-.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Speaking: the five assessment questions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نِظَامًا بِيئِيًّا فِي العَالَمِ العَرَبِيِّ تُعْجَبُ بِهِ — لِمَاذَا هُوَ مُهِمٌّ؟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الَّذِي يَتَطَلَّبُهُ الحِفَاظُ عَلَى التُّرَاثِ المِعْمَارِيِّ فِي رَأْيِكَ؟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لَوْ كَانَتْ لَدَيْكَ صَلَاحِيَّاتُ وَزِيرِ البِيئَةِ، مَاذَا كُنْتَ سَتُغَيِّرُ؟</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يُعْجِبُنِي ___ لِأَنَّهُ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يَتَطَلَّبُ الأَمْرُ أَنْ ___ لِكَيْ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لَوْ كَانَتْ لَدَيَّ صَلَاحِيَّاتُهُ، لَأَطْلَقْتُ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الَّذِي يَتَطَلَّبُهُ الحِفَاظُ عَلَى التُّرَاثِ؟</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does conserving heritage require?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يَتَطَلَّبُ الأَمْرُ أَنْ نُخَصِّصَ مِيزَانِيَّاتٍ لِلتَّرْمِيمِ وَأَنْ نَحُدَّ مِنَ الإِهْمَالِ.</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 requires us to allocate budgets for restoration and to curb neglect.</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+ 3</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Correct six P4 errors and write three sentences from memory.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correct six P4 errors and write three sentences from memory.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3 structures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purpose clause, a necessity clause and a Type 2 conditional.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purpose clause, a necessity clause and a Type 2 conditional.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Deliver fluent answers to the why, the yataṭallabu and the law questions spontaneously.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answer two assessment questions with all three triggers, a Type 2 and the past perfect — every marker accurate.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لَوْ كَانَتْ لَدَيَّ صَلَاحِيَّاتُ الوَزِيرِ، لَأَطْلَقْتُ ______ .</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had the minister’s powers, I would launch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كَانَتْ مُدُنُنَا قَدْ فَقَدَتْ ______ قَبْلَ أَنْ ______ .</a:t>
            </a:r>
            <a:endParaRPr lang="ar-SA" sz="16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Our cities had lost … before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نَرْجُو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hope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اسْتَثْمَرْنَا اليَوْمَ، سَنَحْمِي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we invest today,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يُعْجِبُنِي ______ لِأَنَّهُ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admire … because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تُشَكِّلُ ______ أَكْبَرَ تَحَدٍّ بِيئِيٍّ.</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the biggest environmental challenge.</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يَتَطَلَّبُ الأَمْرُ أَنْ نُخَصِّصَ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requires us to allocate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نَفْعَلُهُ لِكَيْ نَصُونَ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do it so that we preserve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B3B6F"/>
                </a:solidFill>
                <a:latin typeface="Amiri" pitchFamily="2" charset="-78"/>
                <a:cs typeface="Amiri" pitchFamily="2" charset="-78"/>
              </a:rPr>
              <a:t>نَهْرُ النِّيلِ  ·  يَضُمُّ تَنَوُّعًا كَبِيرًا  ·  نُدْرَةُ المِيَاهِ  ·  مِيزَانِيَّاتٍ لِلتَّرْمِيمِ  ·  نَحُدَّ مِنَ التَّلَوُّثِ  ·  هُوِيَّتَنَا  ·  ذَاكِرَتَنَا الجَمَاعِيَّةَ  ·  حَمْلَةً وَطَنِيَّةً لِلتَّشْجِيرِ  ·  مَشْرُوعًا وَطَنِيًّا لِتَحْلِيَةِ المِيَاهِ  ·  تَتَغَيَّرَ نَظْرَةُ النَّاسِ  ·  تُرَاثِهَا العُمْرَانِيِّ  ·  الغَدَ</a:t>
            </a:r>
            <a:endParaRPr lang="ar-SA" sz="10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preparing for the P4 topic conversation. Answer two of the assessment questions, using all three subjunctive triggers, a Type 2 conditional and the past perfect, with every marker accurate.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perfect (kāna qad …) with correct agreement.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purpose clause (li-kay), a necessity clause (yataṭallabu / yanbaghī an) and a volition clause.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2 conditional with the la- result.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final fatḥa on every subjunctive verb.</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قَبْلَ أَنْ نَنْتَبِهَ لِقِيمَتِهِ</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we noticed its value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وَأَنْ نَحُدَّ مِنَ الإِهْمَالِ</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to curb neglect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وَنَحْمِيَ ذَاكِرَتَنَا الجَمَاعِيَّةَ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protect our collective memory</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وَلَدَعَمْتُ الطَّاقَةَ المُتَجَدِّدَةَ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 would support renewable energy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تَجْمَعُ بَيْنَ حِمَايَةِ الطَّبِيعَةِ وَصَوْنِ العُمْرَانِ</a:t>
            </a:r>
            <a:endParaRPr lang="ar-SA" sz="175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combine protecting nature and preserving buildings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cs typeface="Amiri" pitchFamily="2" charset="-78"/>
              </a:rPr>
              <a:t>كَانَتْ مُدُنُنَا قَدْ فَقَدَتْ كَثِيرًا مِنْ تُرَاثِهَا العُمْرَانِيِّ قَبْلَ أَنْ نَنْتَبِهَ لِقِيمَتِهِ. وَأَرَى أَنَّ الحِفَاظَ عَلَيْهِ يَتَطَلَّبُ أَنْ نُخَصِّصَ مِيزَانِيَّاتٍ لِلتَّرْمِيمِ وَأَنْ نَحُدَّ مِنَ الإِهْمَالِ. وَنَفْعَلُ ذٰلِكَ لِكَيْ نَصُونَ هُوِيَّتَنَا وَنَحْمِيَ ذَاكِرَتَنَا الجَمَاعِيَّةَ. وَنَرْجُو أَنْ تَتَغَيَّرَ نَظْرَةُ النَّاسِ إِلَى المَبَانِي القَدِيمَةِ. وَلَوْ كَانَتْ لَدَيَّ صَلَاحِيَّاتُ وَزِيرِ البِيئَةِ، لَأَطْلَقْتُ حَمْلَةً وَطَنِيَّةً لِلتَّشْجِيرِ وَلَدَعَمْتُ الطَّاقَةَ المُتَجَدِّدَةَ. فَهٰذِهِ الخُطُوَاتُ تَجْمَعُ بَيْنَ حِمَايَةِ الطَّبِيعَةِ وَصَوْنِ العُمْرَانِ مَعًا.</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Our cities had lost much of their built heritage before we noticed its value. I think preserving it requires us to allocate budgets for restoration and to curb neglect. We do this so that we preserve our identity and protect our collective memory. We hope that people’s view of old buildings will change. And if I had the powers of the environment minister, I would launch a national tree-planting campaign and I would support renewable energy. These steps combine protecting nature and preserving our buildings together.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past perfect (kānat qad)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yataṭallabu an + two verbs in -a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li-kay + two verbs in -a · narjū an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Type 2 with two la- results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after li-kay and an ends in -a (naḥmiya · nastathmira).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Type 2 result has la-; the verb after law is past.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passive has the right shape (dummirat · ujliya); kānat agrees with a city.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of each trigger: purpose, volition, necessity.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each question with the trigger it invites, and named my priority error.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purpose clause is correct?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نَزْرَعُ الأَشْجَارَ لِكَيْ نَحْمِيَ البِيئَةَ.</a:t>
            </a:r>
            <a:endParaRPr lang="ar-SA" sz="20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نَزْرَعُ الأَشْجَارَ لِكَيْ نَحْمِي البِيئَةَ.</a:t>
            </a:r>
            <a:endParaRPr lang="ar-SA" sz="200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cs typeface="Amiri" pitchFamily="2" charset="-78"/>
              </a:rPr>
              <a:t>نَزْرَعُ الأَشْجَارَ لِكَيْ نَحْمِيْ البِيئَةَ.</a:t>
            </a:r>
            <a:endParaRPr lang="ar-SA" sz="200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الأَمْرُ أَنْ نُخَصِّصُ مِيزَانِيَّةً.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الأَمْرُ أَنْ نُخَصِّصَ مِيزَانِيَّةً.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الأَمْرُ أَنْ نُخَصِّصْ مِيزَانِيَّةً.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2 conditional is correct?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بَدَأْنَا مُبَكِّرًا، لَنَجَحْنَا.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بَدَأْنَا مُبَكِّرًا، نَجَحْنَا.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بَدَأْنَا مُبَكِّرًا، سَنَنْجَحُ.</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purpose clause is correct?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نَزْرَعُ الأَشْجَارَ لِكَيْ نَحْمِيَ البِيئَةَ.</a:t>
            </a:r>
            <a:endParaRPr lang="ar-SA" sz="200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نَزْرَعُ الأَشْجَارَ لِكَيْ نَحْمِي البِيئَةَ.</a:t>
            </a:r>
            <a:endParaRPr lang="ar-SA" sz="200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cs typeface="Amiri" pitchFamily="2" charset="-78"/>
              </a:rPr>
              <a:t>نَزْرَعُ الأَشْجَارَ لِكَيْ نَحْمِيْ البِيئَةَ.</a:t>
            </a:r>
            <a:endParaRPr lang="ar-SA" sz="200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final fatḥa: </a:t>
            </a:r>
            <a:pPr algn="l" indent="0" marL="0">
              <a:buNone/>
            </a:pPr>
            <a:r>
              <a:rPr lang="ar-SA" altLang="en-US" sz="1350" dirty="0">
                <a:solidFill>
                  <a:srgbClr val="8A6D1E"/>
                </a:solidFill>
                <a:latin typeface="Amiri" pitchFamily="2" charset="-78"/>
                <a:cs typeface="Amiri" pitchFamily="2" charset="-78"/>
              </a:rPr>
              <a:t>نَحْمِيَ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correct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يَتَطَلَّبُ الأَمْرُ أَنْ نُخَصِّصُ مِيزَانِيَّةً.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يَتَطَلَّبُ الأَمْرُ أَنْ نُخَصِّصَ مِيزَانِيَّةً.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يَتَطَلَّبُ الأَمْرُ أَنْ نُخَصِّصْ مِيزَانِيَّةً.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نُخَصِّصَ</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Type 2 conditional is correct?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لَوْ بَدَأْنَا مُبَكِّرًا، لَنَجَحْنَا.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لَوْ بَدَأْنَا مُبَكِّرًا، نَجَحْنَا.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لَوْ بَدَأْنَا مُبَكِّرًا، سَنَنْجَحُ.</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twelve sentences to repair</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تَحْتَوِي هٰذِهِ القَائِمَةُ عَلَى أَخْطَاءٍ شَائِعَةٍ فِي السَّنَةِ التَّاسِعَةِ. الأَوَّلُ فِي النَّصْبِ بَعْدَ لِكَيْ: «نَزْرَعُ الأَشْجَارَ لِكَيْ نَحْمِي البِيئَةَ» — وَالصَّوَابُ «نَحْمِيَ». الثَّانِي فِي النَّصْبِ بَعْدَ أَنْ: «يَنْبَغِي أَنْ نَسْتَثْمِرُ» — وَالصَّوَابُ «نَسْتَثْمِرَ». الثَّالِثُ فِي جَوَابِ لَوْ: «لَوْ بَدَأْنَا مُبَكِّرًا، نَجَحْنَا» — وَالصَّوَابُ «لَنَجَحْنَا». الرَّابِعُ فِي زَمَنِ فِعْلِ لَوْ: «لَوْ نَسْتَثْمِرُ» — وَالصَّوَابُ «لَوِ اسْتَثْمَرْنَا». الخَامِسُ فِي الفِعْلِ المَبْنِيِّ لِلْمَجْهُولِ: «يُدَمَّرَتِ المَبَانِي» — وَالصَّوَابُ «دُمِّرَتْ». وَالدَّرْسُ المُشْتَرَكُ أَنَّ لِكُلِّ بِنْيَةٍ عَلَامَةً دَقِيقَةً يَجِبُ ضَبْطُهَا.</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تَحْتَوِي عَلَى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contains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القَائِمَةُ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list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أَخْطَاءٍ شَائِعَةٍ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common errors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وَالصَّوَابُ</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and the correct form is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جَوَابِ لَوْ</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result of law</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زَمَنِ فِعْلِ لَوْ</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tense after law</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المَبْنِيِّ لِلْمَجْهُولِ</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passive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المُشْتَرَكُ</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shared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بِنْيَةٍ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structure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ضَبْطُهَا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controlling it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cs typeface="Amiri" pitchFamily="2" charset="-78"/>
              </a:rPr>
              <a:t>نَزْرَعُ الأَشْجَارَ لِكَيْ … البِيئَةَ</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نَحْمِي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نَحْمِيَ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سَنَحْمِي</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verb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Type 2 result corrected?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لَنَجَحْنَا</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نَجَحْنَا</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سَنَنْجَحُ</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verb after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نَسْتَثْمِرُ</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اسْتَثْمَرْنَا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سَنَسْتَثْمِرُ</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passive corrected?</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دُمِّرَتْ</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يُدَمَّرَتْ</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دَمَّرَتْ</a:t>
            </a:r>
            <a:endParaRPr lang="ar-SA" sz="20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cs typeface="Amiri" pitchFamily="2" charset="-78"/>
              </a:rPr>
              <a:t>نَزْرَعُ الأَشْجَارَ لِكَيْ … البِيئَةَ</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نَحْمِي</a:t>
            </a:r>
            <a:endParaRPr lang="ar-SA" sz="170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نَحْمِيَ</a:t>
            </a:r>
            <a:endParaRPr lang="ar-SA" sz="17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سَنَحْمِي</a:t>
            </a:r>
            <a:endParaRPr lang="ar-SA" sz="170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final fatḥa: </a:t>
            </a:r>
            <a:pPr algn="l" indent="0" marL="0">
              <a:buNone/>
            </a:pPr>
            <a:r>
              <a:rPr lang="ar-SA" altLang="en-US" sz="1350" dirty="0">
                <a:solidFill>
                  <a:srgbClr val="8A6D1E"/>
                </a:solidFill>
                <a:latin typeface="Amiri" pitchFamily="2" charset="-78"/>
                <a:cs typeface="Amiri" pitchFamily="2" charset="-78"/>
              </a:rPr>
              <a:t>نَحْمِيَ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verb after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نَسْتَثْمِرُ</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نَسْتَثْمِرْ</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نَسْتَثْمِرَ</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نَسْتَثْمِرَ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Type 2 result corrected?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لَنَجَحْنَا</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نَجَحْنَا</a:t>
            </a:r>
            <a:endParaRPr lang="ar-SA" sz="17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سَنَنْجَحُ</a:t>
            </a:r>
            <a:endParaRPr lang="ar-SA" sz="17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verb after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نَسْتَثْمِرُ</a:t>
            </a:r>
            <a:endParaRPr lang="ar-SA" sz="170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لَوِ اسْتَثْمَرْنَا</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سَنَسْتَثْمِرُ</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is followed by a past-tense verb.</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passive corrected?</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دُمِّرَتْ</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يُدَمَّرَتْ</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دَمَّرَتْ</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passive is </a:t>
            </a:r>
            <a:pPr algn="l" indent="0" marL="0">
              <a:buNone/>
            </a:pPr>
            <a:r>
              <a:rPr lang="ar-SA" altLang="en-US" sz="1350" dirty="0">
                <a:solidFill>
                  <a:srgbClr val="8A6D1E"/>
                </a:solidFill>
                <a:latin typeface="Amiri" pitchFamily="2" charset="-78"/>
                <a:cs typeface="Amiri" pitchFamily="2" charset="-78"/>
              </a:rPr>
              <a:t>دُمِّرَتْ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Mastery Mission — The P4 Error Zones</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Purpose: complete — </a:t>
            </a:r>
            <a:pPr algn="l" indent="0" marL="0">
              <a:buNone/>
            </a:pPr>
            <a:r>
              <a:rPr lang="ar-SA" altLang="en-US" sz="1650" b="1" dirty="0">
                <a:solidFill>
                  <a:srgbClr val="1B3B6F"/>
                </a:solidFill>
                <a:latin typeface="Amiri" pitchFamily="2" charset="-78"/>
                <a:cs typeface="Amiri" pitchFamily="2" charset="-78"/>
              </a:rPr>
              <a:t>نَزْرَعُ الأَشْجَارَ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الهَوَاءَ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نُنَقِّي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نُنَقِّيَ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نُنَقِّيْ</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Necessity: complete —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الطَّاقَةِ المُتَجَدِّدَةِ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Volition: complete — </a:t>
            </a:r>
            <a:pPr algn="l" indent="0" marL="0">
              <a:buNone/>
            </a:pPr>
            <a:r>
              <a:rPr lang="ar-SA" altLang="en-US" sz="1650" b="1" dirty="0">
                <a:solidFill>
                  <a:srgbClr val="1B3B6F"/>
                </a:solidFill>
                <a:latin typeface="Amiri" pitchFamily="2" charset="-78"/>
                <a:cs typeface="Amiri" pitchFamily="2" charset="-78"/>
              </a:rPr>
              <a:t>نَرْجُو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المُفَاوَضَاتُ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تَنْجَحُ</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نَجَحَتْ</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تَنْجَحَ</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cs typeface="Amiri" pitchFamily="2" charset="-78"/>
              </a:rPr>
              <a:t>لَوْ بَدَأْنَا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الحِمَايَةِ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سَنَنْجَحُ</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نَجَحْنَا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لَنَجَحْنَا</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after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complete —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مُبَكِّرًا، لَتَجَنَّبْنَا الأَزْمَةَ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اسْتَثْمَرْنَا</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نَسْتَثْمِرُ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سَنَسْتَثْمِرُ</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correctly formed?</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يُدَمَّرَتِ المَبَانِي</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دُمِّرَتِ المَبَانِي</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دَمَّرَتِ المَبَانِي</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Purpose: complete — </a:t>
            </a:r>
            <a:pPr algn="l" indent="0" marL="0">
              <a:buNone/>
            </a:pPr>
            <a:r>
              <a:rPr lang="ar-SA" altLang="en-US" sz="1650" b="1" dirty="0">
                <a:solidFill>
                  <a:srgbClr val="1B3B6F"/>
                </a:solidFill>
                <a:latin typeface="Amiri" pitchFamily="2" charset="-78"/>
                <a:cs typeface="Amiri" pitchFamily="2" charset="-78"/>
              </a:rPr>
              <a:t>نَزْرَعُ الأَشْجَارَ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الهَوَاءَ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نُنَقِّي</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نُنَقِّيَ</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نُنَقِّيْ</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cs typeface="Amiri" pitchFamily="2" charset="-78"/>
              </a:rPr>
              <a:t>نُنَقِّيَ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Necessity: complete —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الطَّاقَةِ المُتَجَدِّدَةِ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نَسْتَثْمِرَ</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نَسْتَثْمِرُ</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نَسْتَثْمِرْ</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نَسْتَثْمِرَ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Volition: complete — </a:t>
            </a:r>
            <a:pPr algn="l" indent="0" marL="0">
              <a:buNone/>
            </a:pPr>
            <a:r>
              <a:rPr lang="ar-SA" altLang="en-US" sz="1650" b="1" dirty="0">
                <a:solidFill>
                  <a:srgbClr val="1B3B6F"/>
                </a:solidFill>
                <a:latin typeface="Amiri" pitchFamily="2" charset="-78"/>
                <a:cs typeface="Amiri" pitchFamily="2" charset="-78"/>
              </a:rPr>
              <a:t>نَرْجُو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المُفَاوَضَاتُ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تَنْجَحُ</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نَجَحَتْ</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تَنْجَحَ</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تَنْجَحَ</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cs typeface="Amiri" pitchFamily="2" charset="-78"/>
              </a:rPr>
              <a:t>لَوْ بَدَأْنَا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الحِمَايَةِ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سَنَنْجَحُ</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نَجَحْنَا</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لَنَجَحْنَا</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after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complete — </a:t>
            </a:r>
            <a:pPr algn="l" indent="0" marL="0">
              <a:buNone/>
            </a:pPr>
            <a:r>
              <a:rPr lang="ar-SA" altLang="en-US" sz="1650" b="1" dirty="0">
                <a:solidFill>
                  <a:srgbClr val="1B3B6F"/>
                </a:solidFill>
                <a:latin typeface="Amiri" pitchFamily="2" charset="-78"/>
                <a:cs typeface="Amiri" pitchFamily="2" charset="-78"/>
              </a:rPr>
              <a:t>لَوِ</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مُبَكِّرًا، لَتَجَنَّبْنَا الأَزْمَةَ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اسْتَثْمَرْنَا</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نَسْتَثْمِرُ</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سَنَسْتَثْمِرُ</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is followed by a past-tense verb.</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which is correctly formed?</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يُدَمَّرَتِ المَبَانِي</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دُمِّرَتِ المَبَانِي</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دَمَّرَتِ المَبَانِي</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passive is </a:t>
            </a:r>
            <a:pPr algn="l" indent="0" marL="0">
              <a:buNone/>
            </a:pPr>
            <a:r>
              <a:rPr lang="ar-SA" altLang="en-US" sz="1350" dirty="0">
                <a:solidFill>
                  <a:srgbClr val="8A6D1E"/>
                </a:solidFill>
                <a:latin typeface="Amiri" pitchFamily="2" charset="-78"/>
                <a:cs typeface="Amiri" pitchFamily="2" charset="-78"/>
              </a:rPr>
              <a:t>دُمِّرَتْ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P4-L12: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P4-L12 · P4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en-US" sz="1000" i="1" dirty="0">
                <a:solidFill>
                  <a:srgbClr val="5A6472"/>
                </a:solidFill>
                <a:latin typeface="Calibri" pitchFamily="34" charset="0"/>
                <a:cs typeface="Amiri" pitchFamily="2" charset="-78"/>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فَهْمُ المَسْمُوعِ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فَهْمُ المَقْرُوءِ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reading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صَلَاحِيَّاتٌ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powers, authority</a:t>
            </a:r>
            <a:pPr indent="0" marL="0">
              <a:buNone/>
            </a:pPr>
            <a:r>
              <a:rPr lang="en-US" sz="1000" i="1" dirty="0">
                <a:solidFill>
                  <a:srgbClr val="5A6472"/>
                </a:solidFill>
                <a:latin typeface="Calibri" pitchFamily="34" charset="0"/>
                <a:cs typeface="Amiri" pitchFamily="2" charset="-78"/>
              </a:rPr>
              <a:t>  sg. صَلَاحِيَّةٌ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يُشَكِّلُ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constitutes, forms</a:t>
            </a:r>
            <a:pPr indent="0" marL="0">
              <a:buNone/>
            </a:pPr>
            <a:r>
              <a:rPr lang="en-US" sz="1000" i="1" dirty="0">
                <a:solidFill>
                  <a:srgbClr val="5A6472"/>
                </a:solidFill>
                <a:latin typeface="Calibri" pitchFamily="34" charset="0"/>
                <a:cs typeface="Amiri" pitchFamily="2" charset="-78"/>
              </a:rPr>
              <a:t>  Form II</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answers to the three topic-conversation questions — each with its required structure and a reason.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تُشَكِّلُ … أَكْبَرَ تَحَدٍّ · يَتَطَلَّبُ الأَمْرُ أَنْ … · لَوْ كَانَتْ لَدَيَّ … لَأَطْلَقْتُ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Correct six P4 errors and write three spine sentences from memory.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li-kay, a yataṭallabu an and a Type 2 sentence; check each against the spine table.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answer to two assessment questions; record it aloud.</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P4-L11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P4-L12 · P4 Review and Unit Assessment</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li-kay / an + verb in -A (naḥmiyA) · law + PAST → LA- · dummirat, never yudammarat · a city is “she” (kānat) — and answer each question with the trigger it invites, before you are asked.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P4-L11 · Consolidation — Speaking Preparation and Full Subjunctive Mastery</dc:title>
  <dc:subject>PptxGenJS Presentation</dc:subject>
  <dc:creator>Al Madina Online School · Arabic Department</dc:creator>
  <cp:lastModifiedBy>Al Madina Online School · Arabic Department</cp:lastModifiedBy>
  <cp:revision>1</cp:revision>
  <dcterms:created xsi:type="dcterms:W3CDTF">2026-10-11T06:43:23Z</dcterms:created>
  <dcterms:modified xsi:type="dcterms:W3CDTF">2026-10-11T06:43:23Z</dcterms:modified>
</cp:coreProperties>
</file>