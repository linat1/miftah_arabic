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Lst>
  <p:notesMasterIdLst>
    <p:notesMasterId r:id="rId50"/>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notesMaster" Target="notesMasters/notesMaster1.xml"/><Relationship Id="rId51" Type="http://schemas.openxmlformats.org/officeDocument/2006/relationships/presProps" Target="presProps.xml"/><Relationship Id="rId52" Type="http://schemas.openxmlformats.org/officeDocument/2006/relationships/viewProps" Target="viewProps.xml"/><Relationship Id="rId53" Type="http://schemas.openxmlformats.org/officeDocument/2006/relationships/theme" Target="theme/theme1.xml"/><Relationship Id="rId54"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P4 The Built and Natural World › P4-L11. The website lesson “Consolidation — Speaking Preparation and Full Subjunctive Mastery”: vocabulary, grammar rules and quiz, patterns, common mistakes, sorter, listening, reading, speaking prompts and model, writing task and model, differentiation, final check and the lesson mission. Picture match: website visual game “Consolidation — Speaking Preparation and Full Subjunctive Mastery”.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CONSOLIDATION + SPEAKING REHEARSAL for the P4-L12 assessment (topic conversation on the built and natural world + an environmental role play). The website names the three highest-frequency slips: a dropped final -a after a trigger · a Type 2 result without la- · a broken passive (yudammarat).
• Core: correct six P4 errors and write three sentences from memory (website Core). Develop: add a purpose clause, a necessity clause and a Type 2. Stretch: answer the why, the yataṭallabu and the law questions fluently and spontaneously.
• Praise the journey: students now control all three subjunctive triggers, both conditionals, the past perfect, the passive and reported speech — a full B1+ toolkit. Keep the rehearsal light and encouraging.
• Website teaching point 2 is today’s speaking rule: answer each question with the trigger it invites — WHY → li-kay · “what does it require?” → yataṭallabu an · law … → law … la-.
• TEACHER-WRITTEN ITEMS: waṣl alif shown without a kasra; لِكَيْ always written with its sukūn; vowel fix التُّرَاثِ المَعْمَارِيِّ → المِعْمَارِيِّ; rule headings, formulas, pattern tips and the writing checklist in English and transliteration (rule examples without their English glosses); the required-structure questions follow the P4-L12 assessment (topic Q1–Q3 + role play); the repair table adds three earlier P4 mistakes; sorter headings in lower case; no visual game.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P4-L10. Questions 4–5 retrieve fear vs hope and the result marker (P4-L10) — today students produce every marker accurately in speech.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Each P4 structure has ONE small marker — get the marker right and the structure is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مطابقت is shared. Watch the shifts: Urdu اعراب = the vowel marks, but Arabic الإِعْرَابُ = the system of endings (the -a of today’s lesson is إِعْرَابُ النَّصْبِ); Urdu زمانہ = the times, Arabic زَمَنُ الفِعْلِ = the tense; Urdu تشکیل = formation, Arabic التَّشْكِيلُ = adding the vowels; Urdu اعتماد = confidence, Arabic الثِّقَةُ.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P4 error zones (website vocabulary (1 of 2)). Hear → Say → See → Use. Transliteration is printed for Core students (cover it for Develop/Stretch).
The P4 error zones — the labels for today’s repair work: the -a after لِكَيْ and أَنْ (most often dropped) · la- in the Type 2 result · a past verb after لَوْ · the passive shape (دُمِّرَتْ) · agreement · precise vowelling.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The P4 error zones (website vocabulary (2 of 2)). Hear → Say → See → Use. Transliteration is printed for Core students (cover it for Develop/Stretch).
The P4 error zones — the labels for today’s repair work: the -a after لِكَيْ and أَنْ (most often dropped) · la- in the Type 2 result · a past verb after لَوْ · the passive shape (دُمِّرَتْ) · agreement · precise vowelling.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P4 grammar spine (website vocabulary (1 of 2)). Hear → Say → See → Use. Transliteration is printed for Core students (cover it for Develop/Stretch).
The P4 grammar spine: the three triggers (purpose · volition · necessity), both conditionals, the past perfect, reported speech and the passive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The P4 grammar spine (website vocabulary (2 of 2)). Hear → Say → See → Use. Transliteration is printed for Core students (cover it for Develop/Stretch).
The P4 grammar spine: the three triggers (purpose · volition · necessity), both conditionals, the past perfect, reported speech and the passive — everything the assessment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fluency (website vocabulary (1 of 2)). Hear → Say → See → Use. Transliteration is printed for Core students (cover it for Develop/Stretch).
FLEX: teach if time allows; otherwise these are on the website vocabulary tab for homework.
Speaking fluency (FLEX): words to talk ABOUT speaking. الارْتِجَالُ بِالمَنْصُوبِ = improvising with the subjunctive — using a trigger without being asked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Speaking fluency (website vocabulary (2 of 2)). Hear → Say → See → Use. Transliteration is printed for Core students (cover it for Develop/Stretch).
FLEX: teach if time allows; otherwise these are on the website vocabulary tab for homework.
Speaking fluency (FLEX): words to talk ABOUT speaking. الارْتِجَالُ بِالمَنْصُوبِ = improvising with the subjunctive — using a trigger without being asked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the website table, common error and the reading “twelve sentences to repair” (rows 1–5), plus website quiz 8 (row 6).
Website teaching point 1 (“The three highest-frequency P4 slips”): the dropped final -a (rows 1–2) · a Type 2 result without la- (row 3) · a broken passive (row 5).
Core: rows 1–4. Drill: cover the Right column; students fix each one and NAME the zone. Then reverse — the teacher says a zone, students give a correct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website vocabulary group “The P4 grammar spine” with examples from the website listening, writing model and sorter.
Website challenge: “Write one accurate sentence for each of the four P4 error zones” — then cover the Example column here and write one for each structure.
Link the spine to the assessment parts: listening (hear the trigger) · reading (the -a = required, not done) · writing (one of each trigger for Range) · speaking (the structure each question invites).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3 — the three P4-L12 topic-conversation questions (passive + cause expected · Type 2 required · yataṭallabu an + subjunctive required) and the four role-play tasks (yushakkilu / yumaththilu · yataṭallabu an · a Type 1 · yarjū an).
Turn the question round: the examiner says لَدَيْكَ (you) → the student answers لَدَيَّ (I) · كُنْتَ سَتُغَيِّرُ → لَغَيَّرْتُ / لَأَطْلَقْتُ.
Q1 asks for the passive: add one — وَقَدْ أُهْمِلَتِ المَوَارِدُ لِعُقُودٍ (the resources were neglected for decades).
Row 4: تَعِيشُ → تَعِيشَ (hollow verb, still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4 — website teaching point 2 (“Answer each question with the trigger it invites”), the speaking model (card 1: لَأَطْلَقْتُ حَمْلَةً وَطَنِيَّةً لِكَيْ نَصُونَ المَعَالِمَ) and mistake 3. Card 2 is a teacher-added reason.
The routine: required structure → a reason → one extra P4 structure (another trigger). The mock conversation ends with the teacher’s praise «اسْتَعْمَلْتَ فِيهَا المُسَبِّبَاتِ الثَّلَاثَةَ تِلْقَائِيًّا».
Time-buying phrases if a student freezes: سُؤَالٌ مُهِمٌّ · دَعْنِي أُفَكِّرُ · فِي رَأْيِي … Repair phrase: عَفْوًا، أَقْصِدُ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WEBSITE GRAMMAR RULES AND EXAMPLES (FLEX — revision or homework). Website overview: “Targeted error correction across the spine: the subjunctive fatḥa after every trigger, the Type 2 لَـ result, the past verb after لَوْ, and the disaster passives.”
• Subjunctive after a trigger: Every subjunctive verb keeps its final fatḥa.
• Type 2 result: The result verb carries a لَـ prefix.
• Past verb after law: لَوْ is followed by a past-tense verb.
• Disaster passive: The passive of a reported disaster is fixed in shape.
Website common error: Dropping the subjunctive fatḥa after a trigger, dropping the لَـ in a Type 2 result, a present verb after لَوْ, or a broken passive.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and model, spoken aloud as an exam answer. Think aloud: “Q1: the challenge — tushakkilu … bi-sabab. Q3 is a yataṭallabu question, so I answer with yataṭallabu AN nukhaṣṣiṣA — and add WHY with li-kay naṣūnA. Q2 is a law question, so I answer with law — and the result MUST start with LA-. Extra: narjū AN tataghayyarA.” Do it twice — the second time faster, as fluent speech.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rows 1–3 are the website mistakes; rows 4–6 recycle mistakes from P4-L05, P4-L06 and P4-L09. Cover columns 2–3; pairs fix each slip and NAME the zone.
Core: rows 1–3. Develop: all six. Stretch: write two new slips of their own for a partner to repair.
Then each student writes their ONE priority error zone in the chat — collect for 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(flex) — the website live builder (Build an assessment answer from a past-perfect background, a necessity clause and a purpose clause.). Website feedback: Each background, necessity clause and purpose clause is accurate on its own, so any three different combinations work.
Use it as oral rehearsal: one student reads a combination as an exam answer; the partner names each structure and checks every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final -a after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full sentence for each card as fast as possible — and stress every final -a after a trigger.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4, 6, 7, 9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 and write down the student’s Type 2 sentence word for word.
Listen 1: just listen. Listen 2: note answers. Then chat the letters.
Support: after the second listening, show the read-along slide (Arabic + English, line by line) for Core students.
SCRIPT (read aloud):
المُعَلِّمُ: صِفْ نِظَامًا بِيئِيًّا فِي العَالَمِ العَرَبِيِّ تُعْجَبُ بِهِ. الطَّالِبُ: يُعْجِبُنِي نَهْرُ النِّيلِ لِأَنَّهُ يَضُمُّ تَنَوُّعًا كَبِيرًا، وَكَانَتِ الحَضَارَاتُ قَدْ نَشَأَتْ عَلَى ضِفَافِهِ. المُعَلِّمُ: مَا الَّذِي يَتَطَلَّبُهُ الحِفَاظُ عَلَيْهِ؟ الطَّالِبُ: يَتَطَلَّبُ الأَمْرُ أَنْ نُخَصِّصَ مِيزَانِيَّاتٍ أَكْبَرَ وَأَنْ نَحُدَّ مِنَ التَّلَوُّثِ. المُعَلِّمُ: وَلِمَاذَا نَفْعَلُ ذٰلِكَ؟ الطَّالِبُ: نَفْعَلُهُ لِكَيْ نَصُونَ المَوْرِدَ لِلْأَجْيَالِ القَادِمَةِ. المُعَلِّمُ: لَوْ كَانَتْ لَدَيْكَ صَلَاحِيَّاتُ وَزِيرِ البِيئَةِ، مَاذَا كُنْتَ سَتُغَيِّرُ؟ الطَّالِبُ: لَوْ كَانَتْ لَدَيَّ صَلَاحِيَّاتُهُ، لَأَطْلَقْتُ مَشْرُوعًا وَطَنِيًّا لِتَحْلِيَةِ المِيَاهِ. المُعَلِّمُ: أَجْوِبَةٌ مُتَوَازِنَةٌ اسْتَعْمَلْتَ فِيهَا المُسَبِّبَاتِ الثَّلَاثَةَ تِلْقَائِيًّا.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وَلَوْ كَانَتْ لَدَيْكَ صَلَاحِيَّاتُ الوَزِيرِ؟ (Q — Type 2)
B: لَوْ كَانَتْ لَدَيَّ صَلَاحِيَّاتُهُ، لَأَطْلَقْتُ حَمْلَةً وَطَنِيَّةً لِكَيْ نَصُونَ المَعَالِمَ. (Type 2 plus a purpose clause)
Website prompts and model — the topic-conversation questions. Pairs: examiner / candidate, 30–40 seconds per answer, then swap. The examiner ticks Structure · Reason · Extra. Then a 2-minute role play (P4-L12 tasks): describe a challenge (yushakkilu), say what the solution requires (yataṭallabu an), propose a future action (idhā … sa-) and express a hope (yarjū an). To a girl: تُعْجَبِينَ · رَأْيِكِ · لَدَيْكِ · كُنْتِ سَتُغَيِّرِينَ.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Correct six P4 errors and write three sentences from memory. · Develop — Add a purpose clause, a necessity clause and a Type 2 conditional. · Stretch — Deliver fluent answers to the why, the yataṭallabu and the law questions spontaneously.
Website writing task (Stretch): Write eighty to ninety words preparing for the P4 topic conversation. Answer two of the assessment questions, using all three subjunctive triggers, a Type 2 conditional and the past perfect, with every marker accurate.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Website writing model. Evidence: كَانَتْ … قَدْ فَقَدَتْ · قَبْلَ أَنْ نَنْتَبِهَ · يَتَطَلَّبُ أَنْ نُخَصِّصَ … وَأَنْ نَحُدَّ · لِكَيْ نَصُونَ … وَنَحْمِيَ · نَرْجُو أَنْ تَتَغَيَّرَ · وَلَوْ كَانَتْ لَدَيَّ … لَأَطْلَقْتُ … وَلَدَعَمْتُ.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(P4-L12 · P4 Review and Unit Assessment) will spend class time USING this language, so students prepare it tonight — short, simple, easy to access (school guidance: “Simple, Short, Interesting, Relevant, Easy to access”). The five words prepare students for the P4-L12 assessment (its parts, the topic questions and the role play).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9  ·  PROGRESSION P4  ·  P4-L11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P4-L11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Consolidation — Speaking Preparation and Full Subjunctive Mastery</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150" b="1" dirty="0">
                <a:solidFill>
                  <a:srgbClr val="D4AF37"/>
                </a:solidFill>
                <a:latin typeface="Amiri" pitchFamily="2" charset="-78"/>
                <a:ea typeface="Amiri" pitchFamily="2" charset="-78"/>
                <a:cs typeface="Amiri" pitchFamily="2" charset="-78"/>
              </a:rPr>
              <a:t>تَرْسِيخُ الوَحْدَةِ — إِعْدَادُ التَّحَدُّثِ وَإِتْقَانُ المُضَارِعِ المَنْصُوبِ</a:t>
            </a:r>
            <a:endParaRPr lang="ar-SA" sz="315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Repair the P4 error zones (the final -a after li-kay and an · la- in the Type 2 result · a past verb after law · dummirat, not yudammarat · kānat for a city), revise the whole P4 spine, and rehearse the topic conversation and role play.</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P4-L11 · Progression P4 · The Built and Natural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Progression · B1 → B2</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Progression › P4 › P4-L11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Fix the error zones, revise the spine, answer each question with its required structure.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Repair the slips, build an assessment answer, sort the structures, hear a mock conversation.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P4-L12.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فَتْحَةُ النَّصْبِ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opening paragraph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subjunctive fatḥa</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vowel ā</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لَامُ الجَوَابِ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la- of the result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answer key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letter lām in a name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التِّلْقَائِيَّةُ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confidence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accuracy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spontaneity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hope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certainty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fear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la- result. The conditional is …</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hypothetical (Type 2)</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real (Type 1)</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command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فَتْحَةُ النَّصْبِ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opening paragraph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subjunctive fatḥa</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vowel ā</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(P4-L10).</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لَامُ الجَوَابِ</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la- of the result</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answer key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letter lām in a name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(P4-L10).</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التِّلْقَائِيَّةُ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confidence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accuracy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spontaneity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(P4-L10).</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t>
            </a:r>
            <a:pPr algn="l" indent="0" marL="0">
              <a:buNone/>
            </a:pPr>
            <a:r>
              <a:rPr lang="ar-SA" altLang="en-US" sz="1650" b="1" dirty="0">
                <a:solidFill>
                  <a:srgbClr val="1B3B6F"/>
                </a:solidFill>
                <a:latin typeface="Amiri" pitchFamily="2" charset="-78"/>
                <a:ea typeface="Amiri" pitchFamily="2" charset="-78"/>
                <a:cs typeface="Amiri" pitchFamily="2" charset="-78"/>
              </a:rPr>
              <a:t>يَخْشَى أَنْ</a:t>
            </a:r>
            <a:pPr algn="l" indent="0" marL="0">
              <a:buNone/>
            </a:pPr>
            <a:r>
              <a:rPr lang="en-US" sz="1250" b="1" dirty="0">
                <a:solidFill>
                  <a:srgbClr val="1B3B6F"/>
                </a:solidFill>
                <a:latin typeface="Calibri" pitchFamily="34" charset="0"/>
                <a:cs typeface="Amiri" pitchFamily="2" charset="-78"/>
              </a:rPr>
              <a:t>. The attitude is …</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hope</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certainty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fear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P4-L10: yakhshā = fear.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You hear a la- result. The conditional is …</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hypothetical (Type 2)</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real (Type 1)</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command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P4-L10: la- = it did not happen.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Each P4 structure has ONE small marker — get the marker right and the structure is right.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لِكَيْ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نَحْمِيَ</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أَنْ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نَسْتَثْمِرَ</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 لَوْ … </a:t>
            </a:r>
            <a:pPr rtl="1" algn="ctr" indent="0" marL="0">
              <a:lnSpc>
                <a:spcPct val="120000"/>
              </a:lnSpc>
              <a:buNone/>
            </a:pPr>
            <a:r>
              <a:rPr lang="ar-SA" altLang="en-US" sz="1950" b="1" dirty="0">
                <a:solidFill>
                  <a:srgbClr val="C77700"/>
                </a:solidFill>
                <a:latin typeface="Amiri" pitchFamily="2" charset="-78"/>
                <a:ea typeface="Amiri" pitchFamily="2" charset="-78"/>
                <a:cs typeface="Amiri" pitchFamily="2" charset="-78"/>
              </a:rPr>
              <a:t>لَـ</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نَجَحْنَا · </a:t>
            </a:r>
            <a:pPr rtl="1" algn="ctr" indent="0" marL="0">
              <a:lnSpc>
                <a:spcPct val="120000"/>
              </a:lnSpc>
              <a:buNone/>
            </a:pPr>
            <a:r>
              <a:rPr lang="ar-SA" altLang="en-US" sz="1950" b="1" dirty="0">
                <a:solidFill>
                  <a:srgbClr val="7B3FA0"/>
                </a:solidFill>
                <a:latin typeface="Amiri" pitchFamily="2" charset="-78"/>
                <a:ea typeface="Amiri" pitchFamily="2" charset="-78"/>
                <a:cs typeface="Amiri" pitchFamily="2" charset="-78"/>
              </a:rPr>
              <a:t>دُمِّرَتْ</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Correct the most common P4 errors, led by the final -a.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Retrieve the three triggers, both conditionals and the past perfect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Answer a why / yataṭallabu / law question with the structure it invites.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Prepare the topic conversation and role play to assessment standard.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fix six P4 errors and name the zone.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three spine sentences from memory.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write li-kay, yataṭallabu an and a Type 2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answer with a reason.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answer each question with the trigger it invites, unprompted.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name my own priority error.</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The P4 error zones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The P4 grammar spine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Speaking fluency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مُطَابَقَةٌ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‎مطابقت‎ </a:t>
            </a:r>
            <a:pPr indent="0" marL="0">
              <a:buNone/>
            </a:pPr>
            <a:r>
              <a:rPr lang="en-US" sz="950" b="1" dirty="0">
                <a:solidFill>
                  <a:srgbClr val="2E8B57"/>
                </a:solidFill>
                <a:latin typeface="Calibri" pitchFamily="34" charset="0"/>
                <a:cs typeface="Amiri" pitchFamily="2" charset="-78"/>
              </a:rPr>
              <a:t> mutābiqat · agreement</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إِعْرَابٌ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‎اعراب‎ </a:t>
            </a:r>
            <a:pPr indent="0" marL="0">
              <a:buNone/>
            </a:pPr>
            <a:r>
              <a:rPr lang="en-US" sz="950" b="1" dirty="0">
                <a:solidFill>
                  <a:srgbClr val="2E8B57"/>
                </a:solidFill>
                <a:latin typeface="Calibri" pitchFamily="34" charset="0"/>
                <a:cs typeface="Amiri" pitchFamily="2" charset="-78"/>
              </a:rPr>
              <a:t> eʿrāb · Arabic: case endings · Urdu: vowel marks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زَمَنٌ</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‎زمانہ‎ </a:t>
            </a:r>
            <a:pPr indent="0" marL="0">
              <a:buNone/>
            </a:pPr>
            <a:r>
              <a:rPr lang="en-US" sz="950" b="1" dirty="0">
                <a:solidFill>
                  <a:srgbClr val="2E8B57"/>
                </a:solidFill>
                <a:latin typeface="Calibri" pitchFamily="34" charset="0"/>
                <a:cs typeface="Amiri" pitchFamily="2" charset="-78"/>
              </a:rPr>
              <a:t> zamāna · Arabic: a tense · Urdu: an era, the times</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تَشْكِيلٌ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‎تشکیل‎ </a:t>
            </a:r>
            <a:pPr indent="0" marL="0">
              <a:buNone/>
            </a:pPr>
            <a:r>
              <a:rPr lang="en-US" sz="950" b="1" dirty="0">
                <a:solidFill>
                  <a:srgbClr val="2E8B57"/>
                </a:solidFill>
                <a:latin typeface="Calibri" pitchFamily="34" charset="0"/>
                <a:cs typeface="Amiri" pitchFamily="2" charset="-78"/>
              </a:rPr>
              <a:t> tashkīl · Arabic: vowelling · Urdu: formation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اعْتِمَادٌ · ثِقَةٌ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‎اعتماد‎ </a:t>
            </a:r>
            <a:pPr indent="0" marL="0">
              <a:buNone/>
            </a:pPr>
            <a:r>
              <a:rPr lang="ar-SA" sz="950" b="1" dirty="0">
                <a:solidFill>
                  <a:srgbClr val="2E8B57"/>
                </a:solidFill>
                <a:latin typeface="Calibri" pitchFamily="34" charset="0"/>
                <a:ea typeface="Amiri" pitchFamily="2" charset="-78"/>
                <a:cs typeface="Amiri" pitchFamily="2" charset="-78"/>
              </a:rPr>
              <a:t> eʿtimād · Arabic: reliance · Urdu: confidence (Arabic ثِقَةٌ)</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P4 error zones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164226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64226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Most commonly dropped.</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فَتْحَةُ النَّصْبِ</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subjunctive fatḥa</a:t>
            </a:r>
            <a:endParaRPr lang="en-US" sz="1350" dirty="0"/>
          </a:p>
          <a:p>
            <a:pPr indent="0" marL="0">
              <a:buNone/>
            </a:pPr>
            <a:r>
              <a:rPr lang="en-US" sz="1100" i="1" dirty="0">
                <a:solidFill>
                  <a:srgbClr val="5A6472"/>
                </a:solidFill>
                <a:latin typeface="Calibri" pitchFamily="34" charset="0"/>
                <a:cs typeface="Amiri" pitchFamily="2" charset="-78"/>
              </a:rPr>
              <a:t>fat-ḥa-tu an-naṣ-bi</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النَّصْبُ بَعْدَ لِكَيْ</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subjunctive after لِكَيْ</a:t>
            </a:r>
            <a:endParaRPr lang="en-US" sz="1350" dirty="0"/>
          </a:p>
          <a:p>
            <a:pPr indent="0" marL="0">
              <a:buNone/>
            </a:pPr>
            <a:r>
              <a:rPr lang="en-US" sz="1100" i="1" dirty="0">
                <a:solidFill>
                  <a:srgbClr val="5A6472"/>
                </a:solidFill>
                <a:latin typeface="Calibri" pitchFamily="34" charset="0"/>
                <a:cs typeface="Amiri" pitchFamily="2" charset="-78"/>
              </a:rPr>
              <a:t>an-naṣ-bu baʿ-da li-kay</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النَّصْبُ بَعْدَ أَنْ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subjunctive after أَنْ</a:t>
            </a:r>
            <a:endParaRPr lang="en-US" sz="1350" dirty="0"/>
          </a:p>
          <a:p>
            <a:pPr indent="0" marL="0">
              <a:buNone/>
            </a:pPr>
            <a:r>
              <a:rPr lang="en-US" sz="1100" i="1" dirty="0">
                <a:solidFill>
                  <a:srgbClr val="5A6472"/>
                </a:solidFill>
                <a:latin typeface="Calibri" pitchFamily="34" charset="0"/>
                <a:cs typeface="Amiri" pitchFamily="2" charset="-78"/>
              </a:rPr>
              <a:t>an-naṣ-bu baʿ-da an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1" name="Shape 38"/>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42" name="Text 39"/>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In a Type 2 result.</a:t>
            </a:r>
            <a:endParaRPr lang="en-US" sz="800" dirty="0"/>
          </a:p>
        </p:txBody>
      </p:sp>
      <p:sp>
        <p:nvSpPr>
          <p:cNvPr id="43" name="Shape 40"/>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لَامُ الجَوَابِ</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لَـ of the result</a:t>
            </a:r>
            <a:endParaRPr lang="en-US" sz="1350" dirty="0"/>
          </a:p>
          <a:p>
            <a:pPr indent="0" marL="0">
              <a:buNone/>
            </a:pPr>
            <a:r>
              <a:rPr lang="en-US" sz="1100" i="1" dirty="0">
                <a:solidFill>
                  <a:srgbClr val="5A6472"/>
                </a:solidFill>
                <a:latin typeface="Calibri" pitchFamily="34" charset="0"/>
                <a:cs typeface="Amiri" pitchFamily="2" charset="-78"/>
              </a:rPr>
              <a:t>lā-mu al-ja-wā-bi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P4 error zones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Past.</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زَمَنُ فِعْلِ لَوْ</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ar-SA" sz="1350" b="1" dirty="0">
                <a:solidFill>
                  <a:srgbClr val="1F2A37"/>
                </a:solidFill>
                <a:latin typeface="Calibri" pitchFamily="34" charset="0"/>
                <a:ea typeface="Amiri" pitchFamily="2" charset="-78"/>
                <a:cs typeface="Amiri" pitchFamily="2" charset="-78"/>
              </a:rPr>
              <a:t>the verb tense after لَوْ</a:t>
            </a:r>
            <a:endParaRPr lang="en-US" sz="1350" dirty="0"/>
          </a:p>
          <a:p>
            <a:pPr indent="0" marL="0">
              <a:buNone/>
            </a:pPr>
            <a:r>
              <a:rPr lang="en-US" sz="1100" i="1" dirty="0">
                <a:solidFill>
                  <a:srgbClr val="5A6472"/>
                </a:solidFill>
                <a:latin typeface="Calibri" pitchFamily="34" charset="0"/>
                <a:cs typeface="Amiri" pitchFamily="2" charset="-78"/>
              </a:rPr>
              <a:t>za-ma-nu fiʿ-li law</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27" name="Shape 24"/>
          <p:cNvSpPr/>
          <p:nvPr/>
        </p:nvSpPr>
        <p:spPr>
          <a:xfrm>
            <a:off x="4782312" y="1938528"/>
            <a:ext cx="1704442"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1704442"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Amiri" pitchFamily="2" charset="-78"/>
                <a:ea typeface="Amiri" pitchFamily="2" charset="-78"/>
                <a:cs typeface="Amiri" pitchFamily="2" charset="-78"/>
              </a:rPr>
              <a:t>دُمِّرَتْ / أُعْلِنَتْ.</a:t>
            </a:r>
            <a:endParaRPr lang="en-US" sz="800" dirty="0"/>
          </a:p>
        </p:txBody>
      </p:sp>
      <p:sp>
        <p:nvSpPr>
          <p:cNvPr id="29" name="Shape 26"/>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1" name="Text 28"/>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صِيغَةُ المَبْنِيِّ لِلْمَجْهُولِ</a:t>
            </a:r>
            <a:endParaRPr lang="ar-SA" sz="3000" dirty="0"/>
          </a:p>
        </p:txBody>
      </p:sp>
      <p:sp>
        <p:nvSpPr>
          <p:cNvPr id="32" name="Text 29"/>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passive formation</a:t>
            </a:r>
            <a:endParaRPr lang="en-US" sz="1350" dirty="0"/>
          </a:p>
          <a:p>
            <a:pPr indent="0" marL="0">
              <a:buNone/>
            </a:pPr>
            <a:r>
              <a:rPr lang="en-US" sz="1100" i="1" dirty="0">
                <a:solidFill>
                  <a:srgbClr val="5A6472"/>
                </a:solidFill>
                <a:latin typeface="Calibri" pitchFamily="34" charset="0"/>
                <a:cs typeface="Amiri" pitchFamily="2" charset="-78"/>
              </a:rPr>
              <a:t>ṣī-gha-tu al-mab-niy-yi lil-maj-hū-li</a:t>
            </a:r>
            <a:endParaRPr lang="en-US" sz="135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36" name="Shape 33"/>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he · she · they</a:t>
            </a:r>
            <a:endParaRPr lang="en-US" sz="800" dirty="0"/>
          </a:p>
        </p:txBody>
      </p:sp>
      <p:sp>
        <p:nvSpPr>
          <p:cNvPr id="38" name="Text 3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مُطَابَقَةُ الفِعْلِ</a:t>
            </a:r>
            <a:endParaRPr lang="ar-SA" sz="3000" dirty="0"/>
          </a:p>
        </p:txBody>
      </p:sp>
      <p:sp>
        <p:nvSpPr>
          <p:cNvPr id="39" name="Text 3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verb agreement</a:t>
            </a:r>
            <a:endParaRPr lang="en-US" sz="1350" dirty="0"/>
          </a:p>
          <a:p>
            <a:pPr indent="0" marL="0">
              <a:buNone/>
            </a:pPr>
            <a:r>
              <a:rPr lang="en-US" sz="1100" i="1" dirty="0">
                <a:solidFill>
                  <a:srgbClr val="5A6472"/>
                </a:solidFill>
                <a:latin typeface="Calibri" pitchFamily="34" charset="0"/>
                <a:cs typeface="Amiri" pitchFamily="2" charset="-78"/>
              </a:rPr>
              <a:t>mu-ṭā-ba-qa-tu al-fiʿ-li</a:t>
            </a:r>
            <a:endParaRPr lang="en-US" sz="1350" dirty="0"/>
          </a:p>
        </p:txBody>
      </p:sp>
      <p:sp>
        <p:nvSpPr>
          <p:cNvPr id="40" name="Shape 3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she · they</a:t>
            </a:r>
            <a:endParaRPr lang="en-US" sz="700" dirty="0"/>
          </a:p>
        </p:txBody>
      </p:sp>
      <p:sp>
        <p:nvSpPr>
          <p:cNvPr id="42" name="Text 39"/>
          <p:cNvSpPr txBox="1"/>
          <p:nvPr/>
        </p:nvSpPr>
        <p:spPr>
          <a:xfrm>
            <a:off x="2368296"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كَانَتْ · كَانُوا</a:t>
            </a:r>
            <a:endParaRPr lang="ar-SA" sz="1350" dirty="0"/>
          </a:p>
        </p:txBody>
      </p:sp>
      <p:sp>
        <p:nvSpPr>
          <p:cNvPr id="43" name="Shape 4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he</a:t>
            </a:r>
            <a:endParaRPr lang="en-US" sz="750" dirty="0"/>
          </a:p>
        </p:txBody>
      </p:sp>
      <p:sp>
        <p:nvSpPr>
          <p:cNvPr id="45" name="Text 42"/>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كَانَ</a:t>
            </a:r>
            <a:endParaRPr lang="ar-SA" sz="1500" dirty="0"/>
          </a:p>
        </p:txBody>
      </p:sp>
      <p:sp>
        <p:nvSpPr>
          <p:cNvPr id="46" name="Shape 4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11312"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49" name="Text 4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التَّشْكِيلُ الدَّقِيقُ</a:t>
            </a:r>
            <a:endParaRPr lang="ar-SA" sz="3000" dirty="0"/>
          </a:p>
        </p:txBody>
      </p:sp>
      <p:sp>
        <p:nvSpPr>
          <p:cNvPr id="50" name="Text 4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precise vowelling</a:t>
            </a:r>
            <a:endParaRPr lang="en-US" sz="1350" dirty="0"/>
          </a:p>
          <a:p>
            <a:pPr indent="0" marL="0">
              <a:buNone/>
            </a:pPr>
            <a:r>
              <a:rPr lang="en-US" sz="1100" i="1" dirty="0">
                <a:solidFill>
                  <a:srgbClr val="5A6472"/>
                </a:solidFill>
                <a:latin typeface="Calibri" pitchFamily="34" charset="0"/>
                <a:cs typeface="Amiri" pitchFamily="2" charset="-78"/>
              </a:rPr>
              <a:t>at-tash-kī-lu ad-da-qī-qu</a:t>
            </a:r>
            <a:endParaRPr lang="en-US" sz="13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P4 grammar spine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مُسَبِّبُ الغَرَضِ (لِكَيْ)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purpose trigger</a:t>
            </a:r>
            <a:endParaRPr lang="en-US" sz="1350" dirty="0"/>
          </a:p>
          <a:p>
            <a:pPr indent="0" marL="0">
              <a:buNone/>
            </a:pPr>
            <a:r>
              <a:rPr lang="en-US" sz="1100" i="1" dirty="0">
                <a:solidFill>
                  <a:srgbClr val="5A6472"/>
                </a:solidFill>
                <a:latin typeface="Calibri" pitchFamily="34" charset="0"/>
                <a:cs typeface="Amiri" pitchFamily="2" charset="-78"/>
              </a:rPr>
              <a:t>mu-sab-bi-bu al-gha-ra-ḍi (li-kay)</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25" name="Shape 2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he · she</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مُسَبِّبُ الإِرَادَةِ</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volition trigger</a:t>
            </a:r>
            <a:endParaRPr lang="en-US" sz="1350" dirty="0"/>
          </a:p>
          <a:p>
            <a:pPr indent="0" marL="0">
              <a:buNone/>
            </a:pPr>
            <a:r>
              <a:rPr lang="en-US" sz="1100" i="1" dirty="0">
                <a:solidFill>
                  <a:srgbClr val="5A6472"/>
                </a:solidFill>
                <a:latin typeface="Calibri" pitchFamily="34" charset="0"/>
                <a:cs typeface="Amiri" pitchFamily="2" charset="-78"/>
              </a:rPr>
              <a:t>mu-sab-bi-bu al-i-rā-da-ti</a:t>
            </a:r>
            <a:endParaRPr lang="en-US" sz="1350" dirty="0"/>
          </a:p>
        </p:txBody>
      </p:sp>
      <p:sp>
        <p:nvSpPr>
          <p:cNvPr id="31" name="Shape 2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she</a:t>
            </a:r>
            <a:endParaRPr lang="en-US" sz="750" dirty="0"/>
          </a:p>
        </p:txBody>
      </p:sp>
      <p:sp>
        <p:nvSpPr>
          <p:cNvPr id="33" name="Text 3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تَرْجُو أَنْ · تَخْشَى أَنْ</a:t>
            </a:r>
            <a:endParaRPr lang="ar-SA" sz="1500" dirty="0"/>
          </a:p>
        </p:txBody>
      </p:sp>
      <p:sp>
        <p:nvSpPr>
          <p:cNvPr id="34" name="Shape 3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36" name="Text 3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أَرْجُو أَنْ · أَخْشَى أَنْ</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مُسَبِّبُ الضَّرُورَةِ</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necessity trigger</a:t>
            </a:r>
            <a:endParaRPr lang="en-US" sz="1350" dirty="0"/>
          </a:p>
          <a:p>
            <a:pPr indent="0" marL="0">
              <a:buNone/>
            </a:pPr>
            <a:r>
              <a:rPr lang="en-US" sz="1100" i="1" dirty="0">
                <a:solidFill>
                  <a:srgbClr val="5A6472"/>
                </a:solidFill>
                <a:latin typeface="Calibri" pitchFamily="34" charset="0"/>
                <a:cs typeface="Amiri" pitchFamily="2" charset="-78"/>
              </a:rPr>
              <a:t>mu-sab-bi-bu aḍ-ḍa-rū-ra-ti</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يَنْبَغِي/يَتَطَلَّبُ أَنْ.</a:t>
            </a:r>
            <a:endParaRPr lang="ar-SA" sz="13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8" name="Text 45"/>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الأَوَّلِ</a:t>
            </a:r>
            <a:endParaRPr lang="ar-SA" sz="3000" dirty="0"/>
          </a:p>
        </p:txBody>
      </p:sp>
      <p:sp>
        <p:nvSpPr>
          <p:cNvPr id="49" name="Text 46"/>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1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al-aw-wa-li</a:t>
            </a:r>
            <a:endParaRPr lang="en-US" sz="13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P4 grammar spine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شَرْطٌ مِنَ النَّوْعِ الثَّانِي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Type 2 conditional</a:t>
            </a:r>
            <a:endParaRPr lang="en-US" sz="1350" dirty="0"/>
          </a:p>
          <a:p>
            <a:pPr indent="0" marL="0">
              <a:buNone/>
            </a:pPr>
            <a:r>
              <a:rPr lang="en-US" sz="1100" i="1" dirty="0">
                <a:solidFill>
                  <a:srgbClr val="5A6472"/>
                </a:solidFill>
                <a:latin typeface="Calibri" pitchFamily="34" charset="0"/>
                <a:cs typeface="Amiri" pitchFamily="2" charset="-78"/>
              </a:rPr>
              <a:t>shar-ṭun mi-na an-naw-ʿi ath-thā-nī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المَاضِي التَّامُّ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past perfect</a:t>
            </a:r>
            <a:endParaRPr lang="en-US" sz="1350" dirty="0"/>
          </a:p>
          <a:p>
            <a:pPr indent="0" marL="0">
              <a:buNone/>
            </a:pPr>
            <a:r>
              <a:rPr lang="en-US" sz="1100" i="1" dirty="0">
                <a:solidFill>
                  <a:srgbClr val="5A6472"/>
                </a:solidFill>
                <a:latin typeface="Calibri" pitchFamily="34" charset="0"/>
                <a:cs typeface="Amiri" pitchFamily="2" charset="-78"/>
              </a:rPr>
              <a:t>al-mā-ḍī at-tām-mu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الكَلَامُ المَنْقُولُ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reported speech</a:t>
            </a:r>
            <a:endParaRPr lang="en-US" sz="1350" dirty="0"/>
          </a:p>
          <a:p>
            <a:pPr indent="0" marL="0">
              <a:buNone/>
            </a:pPr>
            <a:r>
              <a:rPr lang="en-US" sz="1100" i="1" dirty="0">
                <a:solidFill>
                  <a:srgbClr val="5A6472"/>
                </a:solidFill>
                <a:latin typeface="Calibri" pitchFamily="34" charset="0"/>
                <a:cs typeface="Amiri" pitchFamily="2" charset="-78"/>
              </a:rPr>
              <a:t>al-ka-lā-mu al-man-qū-lu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37" name="Shape 34"/>
          <p:cNvSpPr/>
          <p:nvPr/>
        </p:nvSpPr>
        <p:spPr>
          <a:xfrm>
            <a:off x="8604504" y="4279392"/>
            <a:ext cx="1580083" cy="256032"/>
          </a:xfrm>
          <a:prstGeom prst="roundRect">
            <a:avLst>
              <a:gd name="adj" fmla="val 50000"/>
            </a:avLst>
          </a:prstGeom>
          <a:solidFill>
            <a:srgbClr val="EFE7D2"/>
          </a:solidFill>
          <a:ln w="12700">
            <a:solidFill>
              <a:srgbClr val="EFE7D2"/>
            </a:solidFill>
            <a:prstDash val="solid"/>
          </a:ln>
        </p:spPr>
      </p:sp>
      <p:sp>
        <p:nvSpPr>
          <p:cNvPr id="38" name="Text 35"/>
          <p:cNvSpPr txBox="1"/>
          <p:nvPr/>
        </p:nvSpPr>
        <p:spPr>
          <a:xfrm>
            <a:off x="8604504" y="4279392"/>
            <a:ext cx="1580083" cy="256032"/>
          </a:xfrm>
          <a:prstGeom prst="rect">
            <a:avLst/>
          </a:prstGeom>
          <a:noFill/>
          <a:ln/>
        </p:spPr>
        <p:txBody>
          <a:bodyPr wrap="square" lIns="0" tIns="0" rIns="0" bIns="0" rtlCol="0" anchor="ctr"/>
          <a:lstStyle/>
          <a:p>
            <a:pPr algn="ctr" indent="0" marL="0">
              <a:buNone/>
            </a:pPr>
            <a:r>
              <a:rPr lang="ar-SA" sz="800" b="1" dirty="0">
                <a:solidFill>
                  <a:srgbClr val="8A6D1E"/>
                </a:solidFill>
                <a:latin typeface="Amiri" pitchFamily="2" charset="-78"/>
                <a:ea typeface="Amiri" pitchFamily="2" charset="-78"/>
                <a:cs typeface="Amiri" pitchFamily="2" charset="-78"/>
              </a:rPr>
              <a:t>دُمِّرَتْ / أُجْلِيَ.</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المَبْنِيُّ لِلْمَجْهُولِ</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passive</a:t>
            </a:r>
            <a:endParaRPr lang="en-US" sz="1350" dirty="0"/>
          </a:p>
          <a:p>
            <a:pPr indent="0" marL="0">
              <a:buNone/>
            </a:pPr>
            <a:r>
              <a:rPr lang="en-US" sz="1100" i="1" dirty="0">
                <a:solidFill>
                  <a:srgbClr val="5A6472"/>
                </a:solidFill>
                <a:latin typeface="Calibri" pitchFamily="34" charset="0"/>
                <a:cs typeface="Amiri" pitchFamily="2" charset="-78"/>
              </a:rPr>
              <a:t>al-mab-niy-yu lil-maj-hū-li</a:t>
            </a:r>
            <a:endParaRPr lang="en-US" sz="13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الارْتِجَالُ بِالمَنْصُوبِ</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improvising with the subjunctive</a:t>
            </a:r>
            <a:endParaRPr lang="en-US" sz="1350" dirty="0"/>
          </a:p>
          <a:p>
            <a:pPr indent="0" marL="0">
              <a:buNone/>
            </a:pPr>
            <a:r>
              <a:rPr lang="en-US" sz="1100" i="1" dirty="0">
                <a:solidFill>
                  <a:srgbClr val="5A6472"/>
                </a:solidFill>
                <a:latin typeface="Calibri" pitchFamily="34" charset="0"/>
                <a:cs typeface="Amiri" pitchFamily="2" charset="-78"/>
              </a:rPr>
              <a:t>alr-ti-jā-lu bil-man-ṣū-bi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التِّلْقَائِيَّةُ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spontaneity</a:t>
            </a:r>
            <a:endParaRPr lang="en-US" sz="1350" dirty="0"/>
          </a:p>
          <a:p>
            <a:pPr indent="0" marL="0">
              <a:buNone/>
            </a:pPr>
            <a:r>
              <a:rPr lang="en-US" sz="1100" i="1" dirty="0">
                <a:solidFill>
                  <a:srgbClr val="5A6472"/>
                </a:solidFill>
                <a:latin typeface="Calibri" pitchFamily="34" charset="0"/>
                <a:cs typeface="Amiri" pitchFamily="2" charset="-78"/>
              </a:rPr>
              <a:t>at-til-qā-ʾiy-ya-tu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مُحَادَثَةٌ حَوْلَ مَوْضُوعٍ</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topic conversation</a:t>
            </a:r>
            <a:endParaRPr lang="en-US" sz="1350" dirty="0"/>
          </a:p>
          <a:p>
            <a:pPr indent="0" marL="0">
              <a:buNone/>
            </a:pPr>
            <a:r>
              <a:rPr lang="en-US" sz="1100" i="1" dirty="0">
                <a:solidFill>
                  <a:srgbClr val="5A6472"/>
                </a:solidFill>
                <a:latin typeface="Calibri" pitchFamily="34" charset="0"/>
                <a:cs typeface="Amiri" pitchFamily="2" charset="-78"/>
              </a:rPr>
              <a:t>mu-ḥā-da-tha-tun ḥaw-la maw-ḍū-ʿin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fluency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لَعِبُ الأَدْوَارِ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role play</a:t>
            </a:r>
            <a:endParaRPr lang="en-US" sz="1350" dirty="0"/>
          </a:p>
          <a:p>
            <a:pPr indent="0" marL="0">
              <a:buNone/>
            </a:pPr>
            <a:r>
              <a:rPr lang="en-US" sz="1100" i="1" dirty="0">
                <a:solidFill>
                  <a:srgbClr val="5A6472"/>
                </a:solidFill>
                <a:latin typeface="Calibri" pitchFamily="34" charset="0"/>
                <a:cs typeface="Amiri" pitchFamily="2" charset="-78"/>
              </a:rPr>
              <a:t>la-ʿi-bu al-ad-wā-ri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مُؤْتَمَرٌ بِيئِيٌّ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environmental conference</a:t>
            </a:r>
            <a:endParaRPr lang="en-US" sz="1350" dirty="0"/>
          </a:p>
          <a:p>
            <a:pPr indent="0" marL="0">
              <a:buNone/>
            </a:pPr>
            <a:r>
              <a:rPr lang="en-US" sz="1100" i="1" dirty="0">
                <a:solidFill>
                  <a:srgbClr val="5A6472"/>
                </a:solidFill>
                <a:latin typeface="Calibri" pitchFamily="34" charset="0"/>
                <a:cs typeface="Amiri" pitchFamily="2" charset="-78"/>
              </a:rPr>
              <a:t>muʾ-ta-ma-run bī-ʾiy-yun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الأَدَاءُ تَحْتَ الضَّغْطِ</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performance under pressure</a:t>
            </a:r>
            <a:endParaRPr lang="en-US" sz="1350" dirty="0"/>
          </a:p>
          <a:p>
            <a:pPr indent="0" marL="0">
              <a:buNone/>
            </a:pPr>
            <a:r>
              <a:rPr lang="en-US" sz="1100" i="1" dirty="0">
                <a:solidFill>
                  <a:srgbClr val="5A6472"/>
                </a:solidFill>
                <a:latin typeface="Calibri" pitchFamily="34" charset="0"/>
                <a:cs typeface="Amiri" pitchFamily="2" charset="-78"/>
              </a:rPr>
              <a:t>al-a-dā-ʾu taḥ-ta aḍ-ḍagh-ṭi</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الثِّقَةُ</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confidence</a:t>
            </a:r>
            <a:endParaRPr lang="en-US" sz="1350" dirty="0"/>
          </a:p>
          <a:p>
            <a:pPr indent="0" marL="0">
              <a:buNone/>
            </a:pPr>
            <a:r>
              <a:rPr lang="en-US" sz="1100" i="1" dirty="0">
                <a:solidFill>
                  <a:srgbClr val="5A6472"/>
                </a:solidFill>
                <a:latin typeface="Calibri" pitchFamily="34" charset="0"/>
                <a:cs typeface="Amiri" pitchFamily="2" charset="-78"/>
              </a:rPr>
              <a:t>ath-thi-qa-tu</a:t>
            </a:r>
            <a:endParaRPr lang="en-US" sz="13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THE P4 ERROR ZONES (WEBSITE TABLE + READING: THE REPAIR LIST)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Wrong → right, zone by zone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مَنَاطِقُ الأَخْطَاءِ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222992" y="1810512"/>
            <a:ext cx="1435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9034272" y="1810512"/>
            <a:ext cx="1042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8" name="Text 15"/>
          <p:cNvSpPr txBox="1"/>
          <p:nvPr/>
        </p:nvSpPr>
        <p:spPr>
          <a:xfrm>
            <a:off x="574243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Right</a:t>
            </a:r>
            <a:endParaRPr lang="en-US" sz="1100" dirty="0"/>
          </a:p>
        </p:txBody>
      </p:sp>
      <p:sp>
        <p:nvSpPr>
          <p:cNvPr id="19" name="Text 16"/>
          <p:cNvSpPr txBox="1"/>
          <p:nvPr/>
        </p:nvSpPr>
        <p:spPr>
          <a:xfrm>
            <a:off x="2542032"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Wrong</a:t>
            </a:r>
            <a:endParaRPr lang="en-US" sz="1100" dirty="0"/>
          </a:p>
        </p:txBody>
      </p:sp>
      <p:sp>
        <p:nvSpPr>
          <p:cNvPr id="20" name="Text 17"/>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10259568" y="226771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-ī → -iya</a:t>
            </a:r>
            <a:endParaRPr lang="en-US" sz="1100" dirty="0"/>
          </a:p>
        </p:txBody>
      </p:sp>
      <p:sp>
        <p:nvSpPr>
          <p:cNvPr id="23" name="Text 20"/>
          <p:cNvSpPr txBox="1"/>
          <p:nvPr/>
        </p:nvSpPr>
        <p:spPr>
          <a:xfrm>
            <a:off x="9070848" y="226771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P4-L01</a:t>
            </a:r>
            <a:endParaRPr lang="en-US" sz="1100" dirty="0"/>
          </a:p>
        </p:txBody>
      </p:sp>
      <p:sp>
        <p:nvSpPr>
          <p:cNvPr id="24" name="Text 21"/>
          <p:cNvSpPr txBox="1"/>
          <p:nvPr/>
        </p:nvSpPr>
        <p:spPr>
          <a:xfrm>
            <a:off x="5760720" y="226771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لِكَيْ </a:t>
            </a:r>
            <a:pPr rtl="1" algn="ctr" indent="0" marL="0">
              <a:buNone/>
            </a:pPr>
            <a:r>
              <a:rPr lang="ar-SA" altLang="en-US" sz="2000" b="1" dirty="0">
                <a:solidFill>
                  <a:srgbClr val="0E7C86"/>
                </a:solidFill>
                <a:latin typeface="Amiri" pitchFamily="2" charset="-78"/>
                <a:ea typeface="Amiri" pitchFamily="2" charset="-78"/>
                <a:cs typeface="Amiri" pitchFamily="2" charset="-78"/>
              </a:rPr>
              <a:t>نَحْمِيَ</a:t>
            </a:r>
            <a:pPr rtl="1" algn="ctr" indent="0" marL="0">
              <a:buNone/>
            </a:pPr>
            <a:r>
              <a:rPr lang="ar-SA" altLang="en-US" sz="2000" b="1" dirty="0">
                <a:solidFill>
                  <a:srgbClr val="1B3B6F"/>
                </a:solidFill>
                <a:latin typeface="Amiri" pitchFamily="2" charset="-78"/>
                <a:ea typeface="Amiri" pitchFamily="2" charset="-78"/>
                <a:cs typeface="Amiri" pitchFamily="2" charset="-78"/>
              </a:rPr>
              <a:t> البِيئَةَ</a:t>
            </a:r>
            <a:endParaRPr lang="ar-SA" sz="2000" dirty="0"/>
          </a:p>
        </p:txBody>
      </p:sp>
      <p:sp>
        <p:nvSpPr>
          <p:cNvPr id="25" name="Text 22"/>
          <p:cNvSpPr txBox="1"/>
          <p:nvPr/>
        </p:nvSpPr>
        <p:spPr>
          <a:xfrm>
            <a:off x="2560320" y="226771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لِكَيْ نَحْمِي البِيئَةَ</a:t>
            </a:r>
            <a:endParaRPr lang="ar-SA" sz="2000" dirty="0"/>
          </a:p>
        </p:txBody>
      </p:sp>
      <p:sp>
        <p:nvSpPr>
          <p:cNvPr id="26" name="Text 23"/>
          <p:cNvSpPr txBox="1"/>
          <p:nvPr/>
        </p:nvSpPr>
        <p:spPr>
          <a:xfrm>
            <a:off x="566928" y="226771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li-kay</a:t>
            </a:r>
            <a:endParaRPr lang="en-US" sz="110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259568" y="2881884"/>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9" name="Text 26"/>
          <p:cNvSpPr txBox="1"/>
          <p:nvPr/>
        </p:nvSpPr>
        <p:spPr>
          <a:xfrm>
            <a:off x="9070848" y="2881884"/>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P4-L04</a:t>
            </a:r>
            <a:endParaRPr lang="en-US" sz="1100" dirty="0"/>
          </a:p>
        </p:txBody>
      </p:sp>
      <p:sp>
        <p:nvSpPr>
          <p:cNvPr id="30" name="Text 27"/>
          <p:cNvSpPr txBox="1"/>
          <p:nvPr/>
        </p:nvSpPr>
        <p:spPr>
          <a:xfrm>
            <a:off x="5760720" y="2881884"/>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 </a:t>
            </a:r>
            <a:pPr rtl="1" algn="ctr" indent="0" marL="0">
              <a:buNone/>
            </a:pPr>
            <a:r>
              <a:rPr lang="ar-SA" altLang="en-US" sz="2000" b="1" dirty="0">
                <a:solidFill>
                  <a:srgbClr val="0E7C86"/>
                </a:solidFill>
                <a:latin typeface="Amiri" pitchFamily="2" charset="-78"/>
                <a:ea typeface="Amiri" pitchFamily="2" charset="-78"/>
                <a:cs typeface="Amiri" pitchFamily="2" charset="-78"/>
              </a:rPr>
              <a:t>نَسْتَثْمِرَ</a:t>
            </a:r>
            <a:endParaRPr lang="ar-SA" sz="2000" dirty="0"/>
          </a:p>
        </p:txBody>
      </p:sp>
      <p:sp>
        <p:nvSpPr>
          <p:cNvPr id="31" name="Text 28"/>
          <p:cNvSpPr txBox="1"/>
          <p:nvPr/>
        </p:nvSpPr>
        <p:spPr>
          <a:xfrm>
            <a:off x="2560320" y="2881884"/>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أَنْ نَسْتَثْمِرُ</a:t>
            </a:r>
            <a:endParaRPr lang="ar-SA" sz="2000" dirty="0"/>
          </a:p>
        </p:txBody>
      </p:sp>
      <p:sp>
        <p:nvSpPr>
          <p:cNvPr id="32" name="Text 29"/>
          <p:cNvSpPr txBox="1"/>
          <p:nvPr/>
        </p:nvSpPr>
        <p:spPr>
          <a:xfrm>
            <a:off x="566928" y="2881884"/>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after an</a:t>
            </a:r>
            <a:endParaRPr lang="en-US" sz="1100" dirty="0"/>
          </a:p>
        </p:txBody>
      </p:sp>
      <p:sp>
        <p:nvSpPr>
          <p:cNvPr id="33" name="Shape 30"/>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4" name="Text 31"/>
          <p:cNvSpPr txBox="1"/>
          <p:nvPr/>
        </p:nvSpPr>
        <p:spPr>
          <a:xfrm>
            <a:off x="10259568" y="3496056"/>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la-</a:t>
            </a:r>
            <a:endParaRPr lang="en-US" sz="1100" dirty="0"/>
          </a:p>
        </p:txBody>
      </p:sp>
      <p:sp>
        <p:nvSpPr>
          <p:cNvPr id="35" name="Text 32"/>
          <p:cNvSpPr txBox="1"/>
          <p:nvPr/>
        </p:nvSpPr>
        <p:spPr>
          <a:xfrm>
            <a:off x="9070848" y="3496056"/>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36" name="Text 33"/>
          <p:cNvSpPr txBox="1"/>
          <p:nvPr/>
        </p:nvSpPr>
        <p:spPr>
          <a:xfrm>
            <a:off x="5760720" y="3496056"/>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بَدَأْنَا، </a:t>
            </a:r>
            <a:pPr rtl="1" algn="ctr" indent="0" marL="0">
              <a:buNone/>
            </a:pPr>
            <a:r>
              <a:rPr lang="ar-SA" altLang="en-US" sz="2000" b="1" dirty="0">
                <a:solidFill>
                  <a:srgbClr val="C77700"/>
                </a:solidFill>
                <a:latin typeface="Amiri" pitchFamily="2" charset="-78"/>
                <a:ea typeface="Amiri" pitchFamily="2" charset="-78"/>
                <a:cs typeface="Amiri" pitchFamily="2" charset="-78"/>
              </a:rPr>
              <a:t>لَنَجَحْنَا</a:t>
            </a:r>
            <a:endParaRPr lang="ar-SA" sz="2000" dirty="0"/>
          </a:p>
        </p:txBody>
      </p:sp>
      <p:sp>
        <p:nvSpPr>
          <p:cNvPr id="37" name="Text 34"/>
          <p:cNvSpPr txBox="1"/>
          <p:nvPr/>
        </p:nvSpPr>
        <p:spPr>
          <a:xfrm>
            <a:off x="2560320" y="3496056"/>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بَدَأْنَا، نَجَحْنَا</a:t>
            </a:r>
            <a:endParaRPr lang="ar-SA" sz="2000" dirty="0"/>
          </a:p>
        </p:txBody>
      </p:sp>
      <p:sp>
        <p:nvSpPr>
          <p:cNvPr id="38" name="Text 35"/>
          <p:cNvSpPr txBox="1"/>
          <p:nvPr/>
        </p:nvSpPr>
        <p:spPr>
          <a:xfrm>
            <a:off x="566928" y="3496056"/>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259568" y="4110228"/>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a:t>
            </a:r>
            <a:endParaRPr lang="en-US" sz="1100" dirty="0"/>
          </a:p>
        </p:txBody>
      </p:sp>
      <p:sp>
        <p:nvSpPr>
          <p:cNvPr id="41" name="Text 38"/>
          <p:cNvSpPr txBox="1"/>
          <p:nvPr/>
        </p:nvSpPr>
        <p:spPr>
          <a:xfrm>
            <a:off x="9070848" y="4110228"/>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42" name="Text 39"/>
          <p:cNvSpPr txBox="1"/>
          <p:nvPr/>
        </p:nvSpPr>
        <p:spPr>
          <a:xfrm>
            <a:off x="5760720" y="4110228"/>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C77700"/>
                </a:solidFill>
                <a:latin typeface="Amiri" pitchFamily="2" charset="-78"/>
                <a:ea typeface="Amiri" pitchFamily="2" charset="-78"/>
                <a:cs typeface="Amiri" pitchFamily="2" charset="-78"/>
              </a:rPr>
              <a:t>لَوِ اسْتَثْمَرْنَا</a:t>
            </a:r>
            <a:endParaRPr lang="ar-SA" sz="2000" dirty="0"/>
          </a:p>
        </p:txBody>
      </p:sp>
      <p:sp>
        <p:nvSpPr>
          <p:cNvPr id="43" name="Text 40"/>
          <p:cNvSpPr txBox="1"/>
          <p:nvPr/>
        </p:nvSpPr>
        <p:spPr>
          <a:xfrm>
            <a:off x="2560320" y="4110228"/>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لَوْ نَسْتَثْمِرُ</a:t>
            </a:r>
            <a:endParaRPr lang="ar-SA" sz="2000" dirty="0"/>
          </a:p>
        </p:txBody>
      </p:sp>
      <p:sp>
        <p:nvSpPr>
          <p:cNvPr id="44" name="Text 41"/>
          <p:cNvSpPr txBox="1"/>
          <p:nvPr/>
        </p:nvSpPr>
        <p:spPr>
          <a:xfrm>
            <a:off x="566928" y="4110228"/>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verb after law</a:t>
            </a:r>
            <a:endParaRPr lang="en-US" sz="1100" dirty="0"/>
          </a:p>
        </p:txBody>
      </p:sp>
      <p:sp>
        <p:nvSpPr>
          <p:cNvPr id="45" name="Shape 4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6" name="Text 43"/>
          <p:cNvSpPr txBox="1"/>
          <p:nvPr/>
        </p:nvSpPr>
        <p:spPr>
          <a:xfrm>
            <a:off x="10259568" y="4724400"/>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i</a:t>
            </a:r>
            <a:endParaRPr lang="en-US" sz="1100" dirty="0"/>
          </a:p>
        </p:txBody>
      </p:sp>
      <p:sp>
        <p:nvSpPr>
          <p:cNvPr id="47" name="Text 44"/>
          <p:cNvSpPr txBox="1"/>
          <p:nvPr/>
        </p:nvSpPr>
        <p:spPr>
          <a:xfrm>
            <a:off x="9070848" y="4724400"/>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P4-L05</a:t>
            </a:r>
            <a:endParaRPr lang="en-US" sz="1100" dirty="0"/>
          </a:p>
        </p:txBody>
      </p:sp>
      <p:sp>
        <p:nvSpPr>
          <p:cNvPr id="48" name="Text 45"/>
          <p:cNvSpPr txBox="1"/>
          <p:nvPr/>
        </p:nvSpPr>
        <p:spPr>
          <a:xfrm>
            <a:off x="5760720" y="4724400"/>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2" charset="-78"/>
                <a:ea typeface="Amiri" pitchFamily="2" charset="-78"/>
                <a:cs typeface="Amiri" pitchFamily="2" charset="-78"/>
              </a:rPr>
              <a:t>دُمِّرَتِ</a:t>
            </a:r>
            <a:pPr rtl="1" algn="ctr" indent="0" marL="0">
              <a:buNone/>
            </a:pPr>
            <a:r>
              <a:rPr lang="ar-SA" altLang="en-US" sz="2000" b="1" dirty="0">
                <a:solidFill>
                  <a:srgbClr val="1B3B6F"/>
                </a:solidFill>
                <a:latin typeface="Amiri" pitchFamily="2" charset="-78"/>
                <a:ea typeface="Amiri" pitchFamily="2" charset="-78"/>
                <a:cs typeface="Amiri" pitchFamily="2" charset="-78"/>
              </a:rPr>
              <a:t> المَبَانِي</a:t>
            </a:r>
            <a:endParaRPr lang="ar-SA" sz="2000" dirty="0"/>
          </a:p>
        </p:txBody>
      </p:sp>
      <p:sp>
        <p:nvSpPr>
          <p:cNvPr id="49" name="Text 46"/>
          <p:cNvSpPr txBox="1"/>
          <p:nvPr/>
        </p:nvSpPr>
        <p:spPr>
          <a:xfrm>
            <a:off x="2560320" y="4724400"/>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يُدَمَّرَتِ المَبَانِي</a:t>
            </a:r>
            <a:endParaRPr lang="ar-SA" sz="2000" dirty="0"/>
          </a:p>
        </p:txBody>
      </p:sp>
      <p:sp>
        <p:nvSpPr>
          <p:cNvPr id="50" name="Text 47"/>
          <p:cNvSpPr txBox="1"/>
          <p:nvPr/>
        </p:nvSpPr>
        <p:spPr>
          <a:xfrm>
            <a:off x="566928" y="4724400"/>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259568" y="5338572"/>
            <a:ext cx="13990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city = she</a:t>
            </a:r>
            <a:endParaRPr lang="en-US" sz="1100" dirty="0"/>
          </a:p>
        </p:txBody>
      </p:sp>
      <p:sp>
        <p:nvSpPr>
          <p:cNvPr id="53" name="Text 50"/>
          <p:cNvSpPr txBox="1"/>
          <p:nvPr/>
        </p:nvSpPr>
        <p:spPr>
          <a:xfrm>
            <a:off x="9070848" y="5338572"/>
            <a:ext cx="10058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P4-L07</a:t>
            </a:r>
            <a:endParaRPr lang="en-US" sz="1100" dirty="0"/>
          </a:p>
        </p:txBody>
      </p:sp>
      <p:sp>
        <p:nvSpPr>
          <p:cNvPr id="54" name="Text 51"/>
          <p:cNvSpPr txBox="1"/>
          <p:nvPr/>
        </p:nvSpPr>
        <p:spPr>
          <a:xfrm>
            <a:off x="5760720" y="5338572"/>
            <a:ext cx="3108960" cy="559308"/>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2" charset="-78"/>
                <a:ea typeface="Amiri" pitchFamily="2" charset="-78"/>
                <a:cs typeface="Amiri" pitchFamily="2" charset="-78"/>
              </a:rPr>
              <a:t>كَانَتِ</a:t>
            </a:r>
            <a:pPr rtl="1" algn="ctr" indent="0" marL="0">
              <a:buNone/>
            </a:pPr>
            <a:r>
              <a:rPr lang="ar-SA" altLang="en-US" sz="2000" b="1" dirty="0">
                <a:solidFill>
                  <a:srgbClr val="1B3B6F"/>
                </a:solidFill>
                <a:latin typeface="Amiri" pitchFamily="2" charset="-78"/>
                <a:ea typeface="Amiri" pitchFamily="2" charset="-78"/>
                <a:cs typeface="Amiri" pitchFamily="2" charset="-78"/>
              </a:rPr>
              <a:t> المَدِينَةُ قَدْ فَقَدَتْ</a:t>
            </a:r>
            <a:endParaRPr lang="ar-SA" sz="2000" dirty="0"/>
          </a:p>
        </p:txBody>
      </p:sp>
      <p:sp>
        <p:nvSpPr>
          <p:cNvPr id="55" name="Text 52"/>
          <p:cNvSpPr txBox="1"/>
          <p:nvPr/>
        </p:nvSpPr>
        <p:spPr>
          <a:xfrm>
            <a:off x="2560320" y="5338572"/>
            <a:ext cx="301752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كَانَ المَدِينَةُ قَدْ فَقَدَتْ</a:t>
            </a:r>
            <a:endParaRPr lang="ar-SA" sz="2000" dirty="0"/>
          </a:p>
        </p:txBody>
      </p:sp>
      <p:sp>
        <p:nvSpPr>
          <p:cNvPr id="56" name="Text 53"/>
          <p:cNvSpPr txBox="1"/>
          <p:nvPr/>
        </p:nvSpPr>
        <p:spPr>
          <a:xfrm>
            <a:off x="566928" y="5338572"/>
            <a:ext cx="18288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agreement</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“every structure has a precise marker that must be controlled.”</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THE WHOLE P4 GRAMMAR SPINE (VOCABULARY GROUP 2 + WEBSITE TEXTS) · CORE / DEVELOP</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Seven structures — one unit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العَمُودُ الفِقْرِيُّ لِقَوَاعِدِ الوَحْدَةِ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857232" y="1810512"/>
            <a:ext cx="18013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Check</a:t>
            </a:r>
            <a:endParaRPr lang="en-US" sz="1100" dirty="0"/>
          </a:p>
        </p:txBody>
      </p:sp>
      <p:sp>
        <p:nvSpPr>
          <p:cNvPr id="17" name="Text 14"/>
          <p:cNvSpPr txBox="1"/>
          <p:nvPr/>
        </p:nvSpPr>
        <p:spPr>
          <a:xfrm>
            <a:off x="4005072" y="1810512"/>
            <a:ext cx="5705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 texts)</a:t>
            </a:r>
            <a:endParaRPr lang="en-US" sz="1100" dirty="0"/>
          </a:p>
        </p:txBody>
      </p:sp>
      <p:sp>
        <p:nvSpPr>
          <p:cNvPr id="18" name="Text 15"/>
          <p:cNvSpPr txBox="1"/>
          <p:nvPr/>
        </p:nvSpPr>
        <p:spPr>
          <a:xfrm>
            <a:off x="2633472" y="1810512"/>
            <a:ext cx="1225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Lesson</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Structure</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9893808" y="226771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li-kay + -a</a:t>
            </a:r>
            <a:endParaRPr lang="en-US" sz="1100" dirty="0"/>
          </a:p>
        </p:txBody>
      </p:sp>
      <p:sp>
        <p:nvSpPr>
          <p:cNvPr id="22" name="Text 19"/>
          <p:cNvSpPr txBox="1"/>
          <p:nvPr/>
        </p:nvSpPr>
        <p:spPr>
          <a:xfrm>
            <a:off x="4023360" y="2267712"/>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نَفْعَلُهُ لِكَيْ </a:t>
            </a:r>
            <a:pPr rtl="1" algn="ctr" indent="0" marL="0">
              <a:buNone/>
            </a:pPr>
            <a:r>
              <a:rPr lang="ar-SA" altLang="en-US" sz="1700" b="1" dirty="0">
                <a:solidFill>
                  <a:srgbClr val="D6336C"/>
                </a:solidFill>
                <a:latin typeface="Amiri" pitchFamily="2" charset="-78"/>
                <a:ea typeface="Amiri" pitchFamily="2" charset="-78"/>
                <a:cs typeface="Amiri" pitchFamily="2" charset="-78"/>
              </a:rPr>
              <a:t>نَصُونَ</a:t>
            </a:r>
            <a:pPr rtl="1" algn="ctr" indent="0" marL="0">
              <a:buNone/>
            </a:pPr>
            <a:r>
              <a:rPr lang="ar-SA" altLang="en-US" sz="1700" b="1" dirty="0">
                <a:solidFill>
                  <a:srgbClr val="1B3B6F"/>
                </a:solidFill>
                <a:latin typeface="Amiri" pitchFamily="2" charset="-78"/>
                <a:ea typeface="Amiri" pitchFamily="2" charset="-78"/>
                <a:cs typeface="Amiri" pitchFamily="2" charset="-78"/>
              </a:rPr>
              <a:t> المَوْرِدَ لِلْأَجْيَالِ القَادِمَةِ.</a:t>
            </a:r>
            <a:endParaRPr lang="ar-SA" sz="1700" dirty="0"/>
          </a:p>
        </p:txBody>
      </p:sp>
      <p:sp>
        <p:nvSpPr>
          <p:cNvPr id="23" name="Text 20"/>
          <p:cNvSpPr txBox="1"/>
          <p:nvPr/>
        </p:nvSpPr>
        <p:spPr>
          <a:xfrm>
            <a:off x="2670048" y="226771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P4-L01</a:t>
            </a:r>
            <a:endParaRPr lang="en-US" sz="11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purpose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9893808" y="2881884"/>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yarjū an + -a</a:t>
            </a:r>
            <a:endParaRPr lang="en-US" sz="1100" dirty="0"/>
          </a:p>
        </p:txBody>
      </p:sp>
      <p:sp>
        <p:nvSpPr>
          <p:cNvPr id="29" name="Text 26"/>
          <p:cNvSpPr txBox="1"/>
          <p:nvPr/>
        </p:nvSpPr>
        <p:spPr>
          <a:xfrm>
            <a:off x="4023360" y="2881884"/>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نَرْجُو أَنْ </a:t>
            </a:r>
            <a:pPr rtl="1" algn="ctr" indent="0" marL="0">
              <a:buNone/>
            </a:pPr>
            <a:r>
              <a:rPr lang="ar-SA" altLang="en-US" sz="1700" b="1" dirty="0">
                <a:solidFill>
                  <a:srgbClr val="1D5FBF"/>
                </a:solidFill>
                <a:latin typeface="Amiri" pitchFamily="2" charset="-78"/>
                <a:ea typeface="Amiri" pitchFamily="2" charset="-78"/>
                <a:cs typeface="Amiri" pitchFamily="2" charset="-78"/>
              </a:rPr>
              <a:t>تَتَغَيَّرَ</a:t>
            </a:r>
            <a:pPr rtl="1" algn="ctr" indent="0" marL="0">
              <a:buNone/>
            </a:pPr>
            <a:r>
              <a:rPr lang="ar-SA" altLang="en-US" sz="1700" b="1" dirty="0">
                <a:solidFill>
                  <a:srgbClr val="1B3B6F"/>
                </a:solidFill>
                <a:latin typeface="Amiri" pitchFamily="2" charset="-78"/>
                <a:ea typeface="Amiri" pitchFamily="2" charset="-78"/>
                <a:cs typeface="Amiri" pitchFamily="2" charset="-78"/>
              </a:rPr>
              <a:t> نَظْرَةُ النَّاسِ إِلَى المَبَانِي القَدِيمَةِ.</a:t>
            </a:r>
            <a:endParaRPr lang="ar-SA" sz="1700" dirty="0"/>
          </a:p>
        </p:txBody>
      </p:sp>
      <p:sp>
        <p:nvSpPr>
          <p:cNvPr id="30" name="Text 27"/>
          <p:cNvSpPr txBox="1"/>
          <p:nvPr/>
        </p:nvSpPr>
        <p:spPr>
          <a:xfrm>
            <a:off x="2670048" y="2881884"/>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P4-L03/06</a:t>
            </a:r>
            <a:endParaRPr lang="en-US" sz="11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volition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9893808" y="3496056"/>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yataṭallabu an + -a</a:t>
            </a:r>
            <a:endParaRPr lang="en-US" sz="1100" dirty="0"/>
          </a:p>
        </p:txBody>
      </p:sp>
      <p:sp>
        <p:nvSpPr>
          <p:cNvPr id="36" name="Text 33"/>
          <p:cNvSpPr txBox="1"/>
          <p:nvPr/>
        </p:nvSpPr>
        <p:spPr>
          <a:xfrm>
            <a:off x="4023360" y="3496056"/>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الأَمْرُ أَنْ </a:t>
            </a:r>
            <a:pPr rtl="1" algn="ctr" indent="0" marL="0">
              <a:buNone/>
            </a:pPr>
            <a:r>
              <a:rPr lang="ar-SA" altLang="en-US" sz="1700" b="1" dirty="0">
                <a:solidFill>
                  <a:srgbClr val="0E7C86"/>
                </a:solidFill>
                <a:latin typeface="Amiri" pitchFamily="2" charset="-78"/>
                <a:ea typeface="Amiri" pitchFamily="2" charset="-78"/>
                <a:cs typeface="Amiri" pitchFamily="2" charset="-78"/>
              </a:rPr>
              <a:t>نُخَصِّصَ</a:t>
            </a:r>
            <a:pPr rtl="1" algn="ctr" indent="0" marL="0">
              <a:buNone/>
            </a:pPr>
            <a:r>
              <a:rPr lang="ar-SA" altLang="en-US" sz="1700" b="1" dirty="0">
                <a:solidFill>
                  <a:srgbClr val="1B3B6F"/>
                </a:solidFill>
                <a:latin typeface="Amiri" pitchFamily="2" charset="-78"/>
                <a:ea typeface="Amiri" pitchFamily="2" charset="-78"/>
                <a:cs typeface="Amiri" pitchFamily="2" charset="-78"/>
              </a:rPr>
              <a:t> مِيزَانِيَّاتٍ لِلتَّرْمِيمِ.</a:t>
            </a:r>
            <a:endParaRPr lang="ar-SA" sz="1700" dirty="0"/>
          </a:p>
        </p:txBody>
      </p:sp>
      <p:sp>
        <p:nvSpPr>
          <p:cNvPr id="37" name="Text 34"/>
          <p:cNvSpPr txBox="1"/>
          <p:nvPr/>
        </p:nvSpPr>
        <p:spPr>
          <a:xfrm>
            <a:off x="2670048" y="3496056"/>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P4-L04</a:t>
            </a:r>
            <a:endParaRPr lang="en-US" sz="11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necessity</a:t>
            </a:r>
            <a:endParaRPr lang="en-US" sz="1100" dirty="0"/>
          </a:p>
        </p:txBody>
      </p:sp>
      <p:sp>
        <p:nvSpPr>
          <p:cNvPr id="39" name="Shape 36"/>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2" name="Text 39"/>
          <p:cNvSpPr txBox="1"/>
          <p:nvPr/>
        </p:nvSpPr>
        <p:spPr>
          <a:xfrm>
            <a:off x="9893808" y="4110228"/>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 · la-</a:t>
            </a:r>
            <a:endParaRPr lang="en-US" sz="1100" dirty="0"/>
          </a:p>
        </p:txBody>
      </p:sp>
      <p:sp>
        <p:nvSpPr>
          <p:cNvPr id="43" name="Text 40"/>
          <p:cNvSpPr txBox="1"/>
          <p:nvPr/>
        </p:nvSpPr>
        <p:spPr>
          <a:xfrm>
            <a:off x="4023360" y="4110228"/>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اسْتَثْمَرْنَا، سَنَحْمِي الغَدَ · لَوْ بَدَأْنَا، </a:t>
            </a:r>
            <a:pPr rtl="1" algn="ctr" indent="0" marL="0">
              <a:buNone/>
            </a:pPr>
            <a:r>
              <a:rPr lang="ar-SA" altLang="en-US" sz="1700" b="1" dirty="0">
                <a:solidFill>
                  <a:srgbClr val="C77700"/>
                </a:solidFill>
                <a:latin typeface="Amiri" pitchFamily="2" charset="-78"/>
                <a:ea typeface="Amiri" pitchFamily="2" charset="-78"/>
                <a:cs typeface="Amiri" pitchFamily="2" charset="-78"/>
              </a:rPr>
              <a:t>لَنَجَحْنَا</a:t>
            </a:r>
            <a:endParaRPr lang="ar-SA" sz="1700" dirty="0"/>
          </a:p>
        </p:txBody>
      </p:sp>
      <p:sp>
        <p:nvSpPr>
          <p:cNvPr id="44" name="Text 41"/>
          <p:cNvSpPr txBox="1"/>
          <p:nvPr/>
        </p:nvSpPr>
        <p:spPr>
          <a:xfrm>
            <a:off x="2670048" y="4110228"/>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P3-L05</a:t>
            </a:r>
            <a:endParaRPr lang="en-US" sz="1100" dirty="0"/>
          </a:p>
        </p:txBody>
      </p:sp>
      <p:sp>
        <p:nvSpPr>
          <p:cNvPr id="45" name="Text 42"/>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conditionals</a:t>
            </a:r>
            <a:endParaRPr lang="en-US" sz="1100" dirty="0"/>
          </a:p>
        </p:txBody>
      </p:sp>
      <p:sp>
        <p:nvSpPr>
          <p:cNvPr id="46" name="Shape 43"/>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7" name="Text 44"/>
          <p:cNvSpPr txBox="1"/>
          <p:nvPr/>
        </p:nvSpPr>
        <p:spPr>
          <a:xfrm>
            <a:off x="9893808" y="4724400"/>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kānat qad</a:t>
            </a:r>
            <a:endParaRPr lang="en-US" sz="1100" dirty="0"/>
          </a:p>
        </p:txBody>
      </p:sp>
      <p:sp>
        <p:nvSpPr>
          <p:cNvPr id="48" name="Text 45"/>
          <p:cNvSpPr txBox="1"/>
          <p:nvPr/>
        </p:nvSpPr>
        <p:spPr>
          <a:xfrm>
            <a:off x="4023360" y="4724400"/>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D6336C"/>
                </a:solidFill>
                <a:latin typeface="Amiri" pitchFamily="2" charset="-78"/>
                <a:ea typeface="Amiri" pitchFamily="2" charset="-78"/>
                <a:cs typeface="Amiri" pitchFamily="2" charset="-78"/>
              </a:rPr>
              <a:t>كَانَتِ</a:t>
            </a:r>
            <a:pPr rtl="1" algn="ctr" indent="0" marL="0">
              <a:buNone/>
            </a:pPr>
            <a:r>
              <a:rPr lang="ar-SA" altLang="en-US" sz="1700" b="1" dirty="0">
                <a:solidFill>
                  <a:srgbClr val="1B3B6F"/>
                </a:solidFill>
                <a:latin typeface="Amiri" pitchFamily="2" charset="-78"/>
                <a:ea typeface="Amiri" pitchFamily="2" charset="-78"/>
                <a:cs typeface="Amiri" pitchFamily="2" charset="-78"/>
              </a:rPr>
              <a:t> الحَضَارَاتُ </a:t>
            </a:r>
            <a:pPr rtl="1" algn="ctr" indent="0" marL="0">
              <a:buNone/>
            </a:pPr>
            <a:r>
              <a:rPr lang="ar-SA" altLang="en-US" sz="1700" b="1" dirty="0">
                <a:solidFill>
                  <a:srgbClr val="D6336C"/>
                </a:solidFill>
                <a:latin typeface="Amiri" pitchFamily="2" charset="-78"/>
                <a:ea typeface="Amiri" pitchFamily="2" charset="-78"/>
                <a:cs typeface="Amiri" pitchFamily="2" charset="-78"/>
              </a:rPr>
              <a:t>قَدْ نَشَأَتْ</a:t>
            </a:r>
            <a:pPr rtl="1" algn="ctr" indent="0" marL="0">
              <a:buNone/>
            </a:pPr>
            <a:r>
              <a:rPr lang="ar-SA" altLang="en-US" sz="1700" b="1" dirty="0">
                <a:solidFill>
                  <a:srgbClr val="1B3B6F"/>
                </a:solidFill>
                <a:latin typeface="Amiri" pitchFamily="2" charset="-78"/>
                <a:ea typeface="Amiri" pitchFamily="2" charset="-78"/>
                <a:cs typeface="Amiri" pitchFamily="2" charset="-78"/>
              </a:rPr>
              <a:t> عَلَى ضِفَافِهِ.</a:t>
            </a:r>
            <a:endParaRPr lang="ar-SA" sz="1700" dirty="0"/>
          </a:p>
        </p:txBody>
      </p:sp>
      <p:sp>
        <p:nvSpPr>
          <p:cNvPr id="49" name="Text 46"/>
          <p:cNvSpPr txBox="1"/>
          <p:nvPr/>
        </p:nvSpPr>
        <p:spPr>
          <a:xfrm>
            <a:off x="2670048" y="4724400"/>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P4-L07</a:t>
            </a:r>
            <a:endParaRPr lang="en-US" sz="1100" dirty="0"/>
          </a:p>
        </p:txBody>
      </p:sp>
      <p:sp>
        <p:nvSpPr>
          <p:cNvPr id="50" name="Text 47"/>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past perfect</a:t>
            </a:r>
            <a:endParaRPr lang="en-US" sz="110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9893808" y="5338572"/>
            <a:ext cx="17647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 … i · qāla inna</a:t>
            </a:r>
            <a:endParaRPr lang="en-US" sz="1100" dirty="0"/>
          </a:p>
        </p:txBody>
      </p:sp>
      <p:sp>
        <p:nvSpPr>
          <p:cNvPr id="53" name="Text 50"/>
          <p:cNvSpPr txBox="1"/>
          <p:nvPr/>
        </p:nvSpPr>
        <p:spPr>
          <a:xfrm>
            <a:off x="4023360" y="5338572"/>
            <a:ext cx="5669280" cy="559308"/>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أُعْلِنَتْ</a:t>
            </a:r>
            <a:pPr rtl="1" algn="ctr" indent="0" marL="0">
              <a:buNone/>
            </a:pPr>
            <a:r>
              <a:rPr lang="ar-SA" altLang="en-US" sz="1700" b="1" dirty="0">
                <a:solidFill>
                  <a:srgbClr val="1B3B6F"/>
                </a:solidFill>
                <a:latin typeface="Amiri" pitchFamily="2" charset="-78"/>
                <a:ea typeface="Amiri" pitchFamily="2" charset="-78"/>
                <a:cs typeface="Amiri" pitchFamily="2" charset="-78"/>
              </a:rPr>
              <a:t> حَالَةُ الطَّوَارِئِ · </a:t>
            </a:r>
            <a:pPr rtl="1" algn="ctr" indent="0" marL="0">
              <a:buNone/>
            </a:pPr>
            <a:r>
              <a:rPr lang="ar-SA" altLang="en-US" sz="1700" b="1" dirty="0">
                <a:solidFill>
                  <a:srgbClr val="7B3FA0"/>
                </a:solidFill>
                <a:latin typeface="Amiri" pitchFamily="2" charset="-78"/>
                <a:ea typeface="Amiri" pitchFamily="2" charset="-78"/>
                <a:cs typeface="Amiri" pitchFamily="2" charset="-78"/>
              </a:rPr>
              <a:t>قَالَ</a:t>
            </a:r>
            <a:pPr rtl="1" algn="ctr" indent="0" marL="0">
              <a:buNone/>
            </a:pPr>
            <a:r>
              <a:rPr lang="ar-SA" altLang="en-US" sz="1700" b="1" dirty="0">
                <a:solidFill>
                  <a:srgbClr val="1B3B6F"/>
                </a:solidFill>
                <a:latin typeface="Amiri" pitchFamily="2" charset="-78"/>
                <a:ea typeface="Amiri" pitchFamily="2" charset="-78"/>
                <a:cs typeface="Amiri" pitchFamily="2" charset="-78"/>
              </a:rPr>
              <a:t> الخَبِيرُ </a:t>
            </a:r>
            <a:pPr rtl="1" algn="ctr" indent="0" marL="0">
              <a:buNone/>
            </a:pPr>
            <a:r>
              <a:rPr lang="ar-SA" altLang="en-US" sz="1700" b="1" dirty="0">
                <a:solidFill>
                  <a:srgbClr val="7B3FA0"/>
                </a:solidFill>
                <a:latin typeface="Amiri" pitchFamily="2" charset="-78"/>
                <a:ea typeface="Amiri" pitchFamily="2" charset="-78"/>
                <a:cs typeface="Amiri" pitchFamily="2" charset="-78"/>
              </a:rPr>
              <a:t>إِنَّ</a:t>
            </a:r>
            <a:pPr rtl="1" algn="ctr" indent="0" marL="0">
              <a:buNone/>
            </a:pPr>
            <a:r>
              <a:rPr lang="ar-SA" altLang="en-US" sz="1700" b="1" dirty="0">
                <a:solidFill>
                  <a:srgbClr val="1B3B6F"/>
                </a:solidFill>
                <a:latin typeface="Amiri" pitchFamily="2" charset="-78"/>
                <a:cs typeface="Amiri" pitchFamily="2" charset="-78"/>
              </a:rPr>
              <a:t> …</a:t>
            </a:r>
            <a:endParaRPr lang="ar-SA" sz="1700" dirty="0"/>
          </a:p>
        </p:txBody>
      </p:sp>
      <p:sp>
        <p:nvSpPr>
          <p:cNvPr id="54" name="Text 51"/>
          <p:cNvSpPr txBox="1"/>
          <p:nvPr/>
        </p:nvSpPr>
        <p:spPr>
          <a:xfrm>
            <a:off x="2670048" y="5338572"/>
            <a:ext cx="11887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P4-L05 · P3-L06</a:t>
            </a:r>
            <a:endParaRPr lang="en-US" sz="11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 reported</a:t>
            </a:r>
            <a:endParaRPr lang="en-US" sz="1100" dirty="0"/>
          </a:p>
        </p:txBody>
      </p:sp>
      <p:sp>
        <p:nvSpPr>
          <p:cNvPr id="56" name="Text 5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Every row is a P4 lesson — the assessment tests them all.</a:t>
            </a:r>
            <a:endParaRPr lang="en-US" sz="11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3 · THE REQUIRED STRUCTURE, UNPROMPTED (P4-L12 TOPIC QUESTIONS + ROLE PLAY)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Question → required structure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البِنْيَةُ المَطْلُوبَةُ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405872" y="1810512"/>
            <a:ext cx="12527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Required</a:t>
            </a:r>
            <a:endParaRPr lang="en-US" sz="1100" dirty="0"/>
          </a:p>
        </p:txBody>
      </p:sp>
      <p:sp>
        <p:nvSpPr>
          <p:cNvPr id="17" name="Text 14"/>
          <p:cNvSpPr txBox="1"/>
          <p:nvPr/>
        </p:nvSpPr>
        <p:spPr>
          <a:xfrm>
            <a:off x="9582912" y="1810512"/>
            <a:ext cx="676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a:t>
            </a:r>
            <a:endParaRPr lang="en-US" sz="1100" dirty="0"/>
          </a:p>
        </p:txBody>
      </p:sp>
      <p:sp>
        <p:nvSpPr>
          <p:cNvPr id="18" name="Text 15"/>
          <p:cNvSpPr txBox="1"/>
          <p:nvPr/>
        </p:nvSpPr>
        <p:spPr>
          <a:xfrm>
            <a:off x="4645152" y="1810512"/>
            <a:ext cx="4791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with …</a:t>
            </a:r>
            <a:endParaRPr lang="en-US" sz="1100" dirty="0"/>
          </a:p>
        </p:txBody>
      </p:sp>
      <p:sp>
        <p:nvSpPr>
          <p:cNvPr id="19" name="Text 16"/>
          <p:cNvSpPr txBox="1"/>
          <p:nvPr/>
        </p:nvSpPr>
        <p:spPr>
          <a:xfrm>
            <a:off x="530352" y="1810512"/>
            <a:ext cx="3968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The examiner asks …</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10442448" y="2267712"/>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 cause</a:t>
            </a:r>
            <a:endParaRPr lang="en-US" sz="1100" dirty="0"/>
          </a:p>
        </p:txBody>
      </p:sp>
      <p:sp>
        <p:nvSpPr>
          <p:cNvPr id="22" name="Text 19"/>
          <p:cNvSpPr txBox="1"/>
          <p:nvPr/>
        </p:nvSpPr>
        <p:spPr>
          <a:xfrm>
            <a:off x="9619488" y="2267712"/>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Q1</a:t>
            </a:r>
            <a:endParaRPr lang="en-US" sz="1100" dirty="0"/>
          </a:p>
        </p:txBody>
      </p:sp>
      <p:sp>
        <p:nvSpPr>
          <p:cNvPr id="23" name="Text 20"/>
          <p:cNvSpPr txBox="1"/>
          <p:nvPr/>
        </p:nvSpPr>
        <p:spPr>
          <a:xfrm>
            <a:off x="4663440" y="2267712"/>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7B3FA0"/>
                </a:solidFill>
                <a:latin typeface="Amiri" pitchFamily="2" charset="-78"/>
                <a:ea typeface="Amiri" pitchFamily="2" charset="-78"/>
                <a:cs typeface="Amiri" pitchFamily="2" charset="-78"/>
              </a:rPr>
              <a:t>تُشَكِّلُ</a:t>
            </a:r>
            <a:pPr rtl="1" algn="ctr" indent="0" marL="0">
              <a:buNone/>
            </a:pPr>
            <a:r>
              <a:rPr lang="ar-SA" altLang="en-US" sz="1700" b="1" dirty="0">
                <a:solidFill>
                  <a:srgbClr val="1B3B6F"/>
                </a:solidFill>
                <a:latin typeface="Amiri" pitchFamily="2" charset="-78"/>
                <a:ea typeface="Amiri" pitchFamily="2" charset="-78"/>
                <a:cs typeface="Amiri" pitchFamily="2" charset="-78"/>
              </a:rPr>
              <a:t> نُدْرَةُ المِيَاهِ أَكْبَرَ تَحَدٍّ، بِسَبَبِ قِلَّةِ الأَمْطَارِ …</a:t>
            </a:r>
            <a:endParaRPr lang="ar-SA" sz="1700" dirty="0"/>
          </a:p>
        </p:txBody>
      </p:sp>
      <p:sp>
        <p:nvSpPr>
          <p:cNvPr id="24" name="Text 21"/>
          <p:cNvSpPr txBox="1"/>
          <p:nvPr/>
        </p:nvSpPr>
        <p:spPr>
          <a:xfrm>
            <a:off x="548640" y="2267712"/>
            <a:ext cx="39319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صِفْ تَحَدِّيًا بِيئِيًّا فِي العَالَمِ العَرَبِيِّ وَمَا أَسْبَابُهُ.</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10442448" y="3054096"/>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a:t>
            </a:r>
            <a:endParaRPr lang="en-US" sz="1100" dirty="0"/>
          </a:p>
        </p:txBody>
      </p:sp>
      <p:sp>
        <p:nvSpPr>
          <p:cNvPr id="29" name="Text 26"/>
          <p:cNvSpPr txBox="1"/>
          <p:nvPr/>
        </p:nvSpPr>
        <p:spPr>
          <a:xfrm>
            <a:off x="9619488" y="3054096"/>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Q2</a:t>
            </a:r>
            <a:endParaRPr lang="en-US" sz="1100" dirty="0"/>
          </a:p>
        </p:txBody>
      </p:sp>
      <p:sp>
        <p:nvSpPr>
          <p:cNvPr id="30" name="Text 27"/>
          <p:cNvSpPr txBox="1"/>
          <p:nvPr/>
        </p:nvSpPr>
        <p:spPr>
          <a:xfrm>
            <a:off x="4663440" y="3054096"/>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C77700"/>
                </a:solidFill>
                <a:latin typeface="Amiri" pitchFamily="2" charset="-78"/>
                <a:ea typeface="Amiri" pitchFamily="2" charset="-78"/>
                <a:cs typeface="Amiri" pitchFamily="2" charset="-78"/>
              </a:rPr>
              <a:t>لَوْ كَانَتْ لَدَيَّ</a:t>
            </a:r>
            <a:pPr rtl="1" algn="ctr" indent="0" marL="0">
              <a:buNone/>
            </a:pPr>
            <a:r>
              <a:rPr lang="ar-SA" altLang="en-US" sz="1700" b="1" dirty="0">
                <a:solidFill>
                  <a:srgbClr val="1B3B6F"/>
                </a:solidFill>
                <a:latin typeface="Amiri" pitchFamily="2" charset="-78"/>
                <a:ea typeface="Amiri" pitchFamily="2" charset="-78"/>
                <a:cs typeface="Amiri" pitchFamily="2" charset="-78"/>
              </a:rPr>
              <a:t> صَلَاحِيَّاتُهُ، </a:t>
            </a:r>
            <a:pPr rtl="1" algn="ctr" indent="0" marL="0">
              <a:buNone/>
            </a:pPr>
            <a:r>
              <a:rPr lang="ar-SA" altLang="en-US" sz="1700" b="1" dirty="0">
                <a:solidFill>
                  <a:srgbClr val="C77700"/>
                </a:solidFill>
                <a:latin typeface="Amiri" pitchFamily="2" charset="-78"/>
                <a:ea typeface="Amiri" pitchFamily="2" charset="-78"/>
                <a:cs typeface="Amiri" pitchFamily="2" charset="-78"/>
              </a:rPr>
              <a:t>لَأَطْلَقْتُ</a:t>
            </a:r>
            <a:pPr rtl="1" algn="ctr" indent="0" marL="0">
              <a:buNone/>
            </a:pPr>
            <a:r>
              <a:rPr lang="ar-SA" altLang="en-US" sz="1700" b="1" dirty="0">
                <a:solidFill>
                  <a:srgbClr val="1B3B6F"/>
                </a:solidFill>
                <a:latin typeface="Amiri" pitchFamily="2" charset="-78"/>
                <a:cs typeface="Amiri" pitchFamily="2" charset="-78"/>
              </a:rPr>
              <a:t> …</a:t>
            </a:r>
            <a:endParaRPr lang="ar-SA" sz="1700" dirty="0"/>
          </a:p>
        </p:txBody>
      </p:sp>
      <p:sp>
        <p:nvSpPr>
          <p:cNvPr id="31" name="Text 28"/>
          <p:cNvSpPr txBox="1"/>
          <p:nvPr/>
        </p:nvSpPr>
        <p:spPr>
          <a:xfrm>
            <a:off x="548640" y="3054096"/>
            <a:ext cx="3931920" cy="731520"/>
          </a:xfrm>
          <a:prstGeom prst="rect">
            <a:avLst/>
          </a:prstGeom>
          <a:noFill/>
          <a:ln/>
        </p:spPr>
        <p:txBody>
          <a:bodyPr wrap="square" lIns="0" tIns="0" rIns="0" bIns="0" rtlCol="0" anchor="ctr"/>
          <a:lstStyle/>
          <a:p>
            <a:pPr rtl="1" algn="ct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لَوْ كَانَتْ لَدَيْكَ صَلَاحِيَّاتُ وَزِيرِ البِيئَةِ، مَاذَا كُنْتَ سَتُغَيِّرُ؟</a:t>
            </a:r>
            <a:endParaRPr lang="ar-SA" sz="155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10442448" y="3840480"/>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36" name="Text 33"/>
          <p:cNvSpPr txBox="1"/>
          <p:nvPr/>
        </p:nvSpPr>
        <p:spPr>
          <a:xfrm>
            <a:off x="9619488" y="3840480"/>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Q3</a:t>
            </a:r>
            <a:endParaRPr lang="en-US" sz="1100" dirty="0"/>
          </a:p>
        </p:txBody>
      </p:sp>
      <p:sp>
        <p:nvSpPr>
          <p:cNvPr id="37" name="Text 34"/>
          <p:cNvSpPr txBox="1"/>
          <p:nvPr/>
        </p:nvSpPr>
        <p:spPr>
          <a:xfrm>
            <a:off x="4663440" y="3840480"/>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يَتَطَلَّبُ الأَمْرُ أَنْ </a:t>
            </a:r>
            <a:pPr rtl="1" algn="ctr" indent="0" marL="0">
              <a:buNone/>
            </a:pPr>
            <a:r>
              <a:rPr lang="ar-SA" altLang="en-US" sz="1700" b="1" dirty="0">
                <a:solidFill>
                  <a:srgbClr val="0E7C86"/>
                </a:solidFill>
                <a:latin typeface="Amiri" pitchFamily="2" charset="-78"/>
                <a:ea typeface="Amiri" pitchFamily="2" charset="-78"/>
                <a:cs typeface="Amiri" pitchFamily="2" charset="-78"/>
              </a:rPr>
              <a:t>نُخَصِّصَ</a:t>
            </a:r>
            <a:pPr rtl="1" algn="ctr" indent="0" marL="0">
              <a:buNone/>
            </a:pPr>
            <a:r>
              <a:rPr lang="ar-SA" altLang="en-US" sz="1700" b="1" dirty="0">
                <a:solidFill>
                  <a:srgbClr val="1B3B6F"/>
                </a:solidFill>
                <a:latin typeface="Amiri" pitchFamily="2" charset="-78"/>
                <a:ea typeface="Amiri" pitchFamily="2" charset="-78"/>
                <a:cs typeface="Amiri" pitchFamily="2" charset="-78"/>
              </a:rPr>
              <a:t> مِيزَانِيَّاتٍ لِلتَّرْمِيمِ …</a:t>
            </a:r>
            <a:endParaRPr lang="ar-SA" sz="1700" dirty="0"/>
          </a:p>
        </p:txBody>
      </p:sp>
      <p:sp>
        <p:nvSpPr>
          <p:cNvPr id="38" name="Text 35"/>
          <p:cNvSpPr txBox="1"/>
          <p:nvPr/>
        </p:nvSpPr>
        <p:spPr>
          <a:xfrm>
            <a:off x="548640" y="3840480"/>
            <a:ext cx="39319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الَّذِي يَتَطَلَّبُهُ الحِفَاظُ عَلَى التُّرَاثِ فِي رَأْيِكَ؟</a:t>
            </a:r>
            <a:endParaRPr lang="ar-SA" sz="16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10442448" y="4626864"/>
            <a:ext cx="12161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1 · yarjū an</a:t>
            </a:r>
            <a:endParaRPr lang="en-US" sz="1100" dirty="0"/>
          </a:p>
        </p:txBody>
      </p:sp>
      <p:sp>
        <p:nvSpPr>
          <p:cNvPr id="43" name="Text 40"/>
          <p:cNvSpPr txBox="1"/>
          <p:nvPr/>
        </p:nvSpPr>
        <p:spPr>
          <a:xfrm>
            <a:off x="9619488" y="4626864"/>
            <a:ext cx="640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RP</a:t>
            </a:r>
            <a:endParaRPr lang="en-US" sz="1100" dirty="0"/>
          </a:p>
        </p:txBody>
      </p:sp>
      <p:sp>
        <p:nvSpPr>
          <p:cNvPr id="44" name="Text 41"/>
          <p:cNvSpPr txBox="1"/>
          <p:nvPr/>
        </p:nvSpPr>
        <p:spPr>
          <a:xfrm>
            <a:off x="4663440" y="4626864"/>
            <a:ext cx="475488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إِذَا … سَـ … · نَرْجُو أَنْ </a:t>
            </a:r>
            <a:pPr rtl="1" algn="ctr" indent="0" marL="0">
              <a:buNone/>
            </a:pPr>
            <a:r>
              <a:rPr lang="ar-SA" altLang="en-US" sz="1700" b="1" dirty="0">
                <a:solidFill>
                  <a:srgbClr val="1D5FBF"/>
                </a:solidFill>
                <a:latin typeface="Amiri" pitchFamily="2" charset="-78"/>
                <a:ea typeface="Amiri" pitchFamily="2" charset="-78"/>
                <a:cs typeface="Amiri" pitchFamily="2" charset="-78"/>
              </a:rPr>
              <a:t>تَعِيشَ</a:t>
            </a:r>
            <a:pPr rtl="1" algn="ctr" indent="0" marL="0">
              <a:buNone/>
            </a:pPr>
            <a:r>
              <a:rPr lang="ar-SA" altLang="en-US" sz="1700" b="1" dirty="0">
                <a:solidFill>
                  <a:srgbClr val="1B3B6F"/>
                </a:solidFill>
                <a:latin typeface="Amiri" pitchFamily="2" charset="-78"/>
                <a:ea typeface="Amiri" pitchFamily="2" charset="-78"/>
                <a:cs typeface="Amiri" pitchFamily="2" charset="-78"/>
              </a:rPr>
              <a:t> الأَجْيَالُ القَادِمَةُ …</a:t>
            </a:r>
            <a:endParaRPr lang="ar-SA" sz="1700" dirty="0"/>
          </a:p>
        </p:txBody>
      </p:sp>
      <p:sp>
        <p:nvSpPr>
          <p:cNvPr id="45" name="Text 42"/>
          <p:cNvSpPr txBox="1"/>
          <p:nvPr/>
        </p:nvSpPr>
        <p:spPr>
          <a:xfrm>
            <a:off x="566928" y="4626864"/>
            <a:ext cx="3931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role play: a solution and a hope</a:t>
            </a:r>
            <a:endParaRPr lang="en-US" sz="1100" dirty="0"/>
          </a:p>
        </p:txBody>
      </p:sp>
      <p:sp>
        <p:nvSpPr>
          <p:cNvPr id="46" name="Text 43"/>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teaching point: answer each question with the trigger it invites — that is what earns the quality-of-language mark.</a:t>
            </a:r>
            <a:endParaRPr lang="en-US" sz="11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4 · ANSWER WITH THE TRIGGER IT INVITES (WEBSITE TEACHING POINT 2 + SPEAKING MODEL)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Structure · reason · extra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بِنْيَةٌ · سَبَبٌ · إِضَافَةٌ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C0386B"/>
          </a:solidFill>
          <a:ln w="12700">
            <a:solidFill>
              <a:srgbClr val="C0386B"/>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1 · STRUCTURE · CORE</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لَوْ … لَـ</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لَوْ كَانَتْ لَدَيَّ صَلَاحِيَّاتُهُ، لَأَطْلَقْتُ حَمْلَةً وَطَنِيَّةً لِلتَّشْجِيرِ.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If I had his powers, I would launch a national tree-planting campaign.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The required one.</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2 · REASON · DEVELOP</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لِأَنَّ الأَشْجَارَ تُنَقِّي الهَوَاءَ وَتُقَلِّلُ الحَرَارَةَ.</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Because trees purify the air and reduce the heat.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WHY.</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3 · EXTRA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لِكَيْ · نَرْجُو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لِكَيْ نَصُونَ المَعَالِمَ، وَنَرْجُو أَنْ يُشَارِكَ الجَمِيعُ.</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So that we preserve the landmarks — and we hope everyone takes part.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Two more triggers.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3: a Type 2 result takes la-.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لَوْ بَدَأْنَا مُبَكِّرًا، لَنَجَحْنَا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لَوْ بَدَأْنَا مُبَكِّرًا، نَجَحْنَا</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Repairing the P4 error zones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إِصْلَاحُ أَخْطَاءِ الوَحْدَةِ الشَّائِعَةِ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Subjunctive after a trigger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li-kay / an + verb in -a</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لِكَيْ نَحْمِيَ الأَجْيَالَ   ·   يَنْبَغِي أَنْ نَسْتَثْمِرَ فِي الطَّاقَةِ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Type 2 result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 la- + past</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بَدَأْنَا مُبَكِّرًا، لَنَجَحْنَا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verb after law</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law + past (not present)</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لَوِ اسْتَثْمَرْنَا …</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Disaster passive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cs typeface="Amiri" pitchFamily="2" charset="-78"/>
              </a:rPr>
              <a:t>dummirat · ujliya · uʿlinat</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دُمِّرَتِ المَبَانِي وَأُعْلِنَتْ حَالَةُ الطَّوَارِئِ</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clause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نَحْمِي البِيئَةَ.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نَحْمِيْ البِيئَةَ.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نَزْرَعُ الأَشْجَارَ لِكَيْ نَحْمِيَ البِيئَةَ.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نَسْتَثْمِرَ فِي الطَّاقَةِ.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نَسْتَثْمِرُ فِي الطَّاقَةِ.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يَنْبَغِي أَنْ نَسْتَثْمِرْ فِي الطَّاقَةِ.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نَجَحْنَا.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لَنَجَحْنَا.</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سَنَنْجَحُ.</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is correctly formed?</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المَبَانِي فِي الزِّلْزَالِ.</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يُدَمَّرَتِ المَبَانِي فِي الزِّلْزَالِ.</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المَبَانِي فِي الزِّلْزَالِ.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clause is correct?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نَحْمِي البِيئَةَ.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نَزْرَعُ الأَشْجَارَ لِكَيْ نَحْمِيْ البِيئَةَ.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نَزْرَعُ الأَشْجَارَ لِكَيْ نَحْمِيَ البِيئَةَ.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final fatḥa: </a:t>
            </a:r>
            <a:pPr algn="l" indent="0" marL="0">
              <a:buNone/>
            </a:pPr>
            <a:r>
              <a:rPr lang="ar-SA" altLang="en-US" sz="1350" dirty="0">
                <a:solidFill>
                  <a:srgbClr val="8A6D1E"/>
                </a:solidFill>
                <a:latin typeface="Amiri" pitchFamily="2" charset="-78"/>
                <a:ea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يَنْبَغِي أَنْ نَسْتَثْمِرَ فِي الطَّاقَةِ.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نَسْتَثْمِرُ فِي الطَّاقَةِ.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يَنْبَغِي أَنْ نَسْتَثْمِرْ فِي الطَّاقَةِ.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نَسْتَثْمِرَ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بَدَأْنَا مُبَكِّرًا، نَجَحْنَا.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بَدَأْنَا مُبَكِّرًا، لَنَجَحْنَا.</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بَدَأْنَا مُبَكِّرًا، سَنَنْجَحُ.</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passive is correctly formed?</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دُمِّرَتِ المَبَانِي فِي الزِّلْزَالِ.</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يُدَمَّرَتِ المَبَانِي فِي الزِّلْزَالِ.</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المَبَانِي فِي الزِّلْزَالِ.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is </a:t>
            </a:r>
            <a:pPr algn="l" indent="0" marL="0">
              <a:buNone/>
            </a:pPr>
            <a:r>
              <a:rPr lang="ar-SA" altLang="en-US" sz="1350" dirty="0">
                <a:solidFill>
                  <a:srgbClr val="8A6D1E"/>
                </a:solidFill>
                <a:latin typeface="Amiri" pitchFamily="2" charset="-78"/>
                <a:ea typeface="Amiri" pitchFamily="2" charset="-78"/>
                <a:cs typeface="Amiri" pitchFamily="2" charset="-78"/>
              </a:rPr>
              <a:t>دُمِّرَتْ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Watch me answer the assessment questions</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Q1</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700" b="1" dirty="0">
                <a:solidFill>
                  <a:srgbClr val="7B3FA0"/>
                </a:solidFill>
                <a:latin typeface="Amiri" pitchFamily="2" charset="-78"/>
                <a:ea typeface="Amiri" pitchFamily="2" charset="-78"/>
                <a:cs typeface="Amiri" pitchFamily="2" charset="-78"/>
              </a:rPr>
              <a:t>تُشَكِّلُ</a:t>
            </a:r>
            <a:pPr rtl="1" algn="ctr" indent="0" marL="0">
              <a:buNone/>
            </a:pPr>
            <a:r>
              <a:rPr lang="ar-SA" altLang="en-US" sz="2700" b="1" dirty="0">
                <a:solidFill>
                  <a:srgbClr val="1B3B6F"/>
                </a:solidFill>
                <a:latin typeface="Amiri" pitchFamily="2" charset="-78"/>
                <a:ea typeface="Amiri" pitchFamily="2" charset="-78"/>
                <a:cs typeface="Amiri" pitchFamily="2" charset="-78"/>
              </a:rPr>
              <a:t> نُدْرَةُ المِيَاهِ …</a:t>
            </a:r>
            <a:endParaRPr lang="ar-SA" sz="27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challenge.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Q3</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يَتَطَلَّبُ الأَمْرُ أَنْ </a:t>
            </a:r>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نُخَصِّصَ</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 لِكَيْ </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نَصُونَ</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-a.</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Q2</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C77700"/>
                </a:solidFill>
                <a:latin typeface="Amiri" pitchFamily="2" charset="-78"/>
                <a:ea typeface="Amiri" pitchFamily="2" charset="-78"/>
                <a:cs typeface="Amiri" pitchFamily="2" charset="-78"/>
              </a:rPr>
              <a:t>لَوْ كَانَتْ لَدَيَّ</a:t>
            </a:r>
            <a:pPr rtl="1" algn="ctr" indent="0" marL="0">
              <a:buNone/>
            </a:pPr>
            <a:r>
              <a:rPr lang="ar-SA" altLang="en-US" sz="2400" b="1" dirty="0">
                <a:solidFill>
                  <a:srgbClr val="1B3B6F"/>
                </a:solidFill>
                <a:latin typeface="Amiri" pitchFamily="2" charset="-78"/>
                <a:cs typeface="Amiri" pitchFamily="2" charset="-78"/>
              </a:rPr>
              <a:t> … </a:t>
            </a:r>
            <a:pPr rtl="1" algn="ctr" indent="0" marL="0">
              <a:buNone/>
            </a:pPr>
            <a:r>
              <a:rPr lang="ar-SA" altLang="en-US" sz="2400" b="1" dirty="0">
                <a:solidFill>
                  <a:srgbClr val="C77700"/>
                </a:solidFill>
                <a:latin typeface="Amiri" pitchFamily="2" charset="-78"/>
                <a:ea typeface="Amiri" pitchFamily="2" charset="-78"/>
                <a:cs typeface="Amiri" pitchFamily="2" charset="-78"/>
              </a:rPr>
              <a:t>لَأَطْلَقْتُ</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Extra</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نَرْجُو أَنْ </a:t>
            </a:r>
            <a:pPr rtl="1" algn="ctr" indent="0" marL="0">
              <a:buNone/>
            </a:pPr>
            <a:r>
              <a:rPr lang="ar-SA" altLang="en-US" sz="2800" b="1" dirty="0">
                <a:solidFill>
                  <a:srgbClr val="1D5FBF"/>
                </a:solidFill>
                <a:latin typeface="Amiri" pitchFamily="2" charset="-78"/>
                <a:ea typeface="Amiri" pitchFamily="2" charset="-78"/>
                <a:cs typeface="Amiri" pitchFamily="2" charset="-78"/>
              </a:rPr>
              <a:t>تَتَغَيَّرَ</a:t>
            </a:r>
            <a:pPr rtl="1" algn="ctr" indent="0" marL="0">
              <a:buNone/>
            </a:pPr>
            <a:r>
              <a:rPr lang="ar-SA" altLang="en-US" sz="2800" b="1" dirty="0">
                <a:solidFill>
                  <a:srgbClr val="1B3B6F"/>
                </a:solidFill>
                <a:latin typeface="Amiri" pitchFamily="2" charset="-78"/>
                <a:cs typeface="Amiri" pitchFamily="2" charset="-78"/>
              </a:rPr>
              <a:t> …</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Hope.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6565392" y="4736592"/>
            <a:ext cx="914400" cy="237744"/>
          </a:xfrm>
          <a:prstGeom prst="roundRect">
            <a:avLst>
              <a:gd name="adj" fmla="val 50000"/>
            </a:avLst>
          </a:prstGeom>
          <a:solidFill>
            <a:srgbClr val="7B3FA0"/>
          </a:solidFill>
          <a:ln w="12700">
            <a:solidFill>
              <a:srgbClr val="7B3FA0"/>
            </a:solidFill>
            <a:prstDash val="solid"/>
          </a:ln>
        </p:spPr>
      </p:sp>
      <p:sp>
        <p:nvSpPr>
          <p:cNvPr id="46" name="Text 42"/>
          <p:cNvSpPr txBox="1"/>
          <p:nvPr/>
        </p:nvSpPr>
        <p:spPr>
          <a:xfrm>
            <a:off x="6565392"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CHALLENGE</a:t>
            </a:r>
            <a:endParaRPr lang="en-US" sz="800" dirty="0"/>
          </a:p>
        </p:txBody>
      </p:sp>
      <p:sp>
        <p:nvSpPr>
          <p:cNvPr id="47" name="Shape 43"/>
          <p:cNvSpPr/>
          <p:nvPr/>
        </p:nvSpPr>
        <p:spPr>
          <a:xfrm>
            <a:off x="7552944"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NECESSITY</a:t>
            </a:r>
            <a:endParaRPr lang="en-US" sz="800" dirty="0"/>
          </a:p>
        </p:txBody>
      </p:sp>
      <p:sp>
        <p:nvSpPr>
          <p:cNvPr id="49" name="Shape 45"/>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PURPOSE</a:t>
            </a:r>
            <a:endParaRPr lang="en-US" sz="800" dirty="0"/>
          </a:p>
        </p:txBody>
      </p:sp>
      <p:sp>
        <p:nvSpPr>
          <p:cNvPr id="51" name="Shape 47"/>
          <p:cNvSpPr/>
          <p:nvPr/>
        </p:nvSpPr>
        <p:spPr>
          <a:xfrm>
            <a:off x="9528048" y="4736592"/>
            <a:ext cx="914400" cy="237744"/>
          </a:xfrm>
          <a:prstGeom prst="roundRect">
            <a:avLst>
              <a:gd name="adj" fmla="val 50000"/>
            </a:avLst>
          </a:prstGeom>
          <a:solidFill>
            <a:srgbClr val="C77700"/>
          </a:solidFill>
          <a:ln w="12700">
            <a:solidFill>
              <a:srgbClr val="C77700"/>
            </a:solidFill>
            <a:prstDash val="solid"/>
          </a:ln>
        </p:spPr>
      </p:sp>
      <p:sp>
        <p:nvSpPr>
          <p:cNvPr id="52" name="Text 48"/>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TYPE 2</a:t>
            </a:r>
            <a:endParaRPr lang="en-US" sz="800" dirty="0"/>
          </a:p>
        </p:txBody>
      </p:sp>
      <p:sp>
        <p:nvSpPr>
          <p:cNvPr id="53" name="Shape 49"/>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4" name="Text 50"/>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HOPE</a:t>
            </a:r>
            <a:endParaRPr lang="en-US" sz="800" dirty="0"/>
          </a:p>
        </p:txBody>
      </p:sp>
      <p:sp>
        <p:nvSpPr>
          <p:cNvPr id="55" name="Text 51"/>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7B3FA0"/>
                </a:solidFill>
                <a:latin typeface="Amiri" pitchFamily="2" charset="-78"/>
                <a:ea typeface="Amiri" pitchFamily="2" charset="-78"/>
                <a:cs typeface="Amiri" pitchFamily="2" charset="-78"/>
              </a:rPr>
              <a:t>تُشَكِّلُ</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نُدْرَةُ المِيَاهِ أَكْبَرَ تَحَدٍّ بِيئِيٍّ، بِسَبَبِ قِلَّةِ الأَمْطَارِ وَسُوءِ الإِدَارَةِ. وَيَتَطَلَّبُ الأَمْرُ أَنْ </a:t>
            </a:r>
            <a:pPr rtl="1" algn="r" indent="0" marL="0">
              <a:lnSpc>
                <a:spcPct val="120000"/>
              </a:lnSpc>
              <a:buNone/>
            </a:pPr>
            <a:r>
              <a:rPr lang="ar-SA" altLang="en-US" sz="1400" b="1" dirty="0">
                <a:solidFill>
                  <a:srgbClr val="0E7C86"/>
                </a:solidFill>
                <a:latin typeface="Amiri" pitchFamily="2" charset="-78"/>
                <a:ea typeface="Amiri" pitchFamily="2" charset="-78"/>
                <a:cs typeface="Amiri" pitchFamily="2" charset="-78"/>
              </a:rPr>
              <a:t>نُخَصِّصَ</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مِيزَانِيَّاتٍ أَكْبَرَ لِلتَّحْلِيَةِ، لِكَيْ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نَصُونَ</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المَوْرِدَ لِلْأَجْيَالِ القَادِمَةِ.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وَلَوْ كَانَتْ لَدَيَّ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صَلَاحِيَّاتُ وَزِيرِ البِيئَةِ، </a:t>
            </a:r>
            <a:pPr rtl="1" algn="r" indent="0" marL="0">
              <a:lnSpc>
                <a:spcPct val="120000"/>
              </a:lnSpc>
              <a:buNone/>
            </a:pPr>
            <a:r>
              <a:rPr lang="ar-SA" altLang="en-US" sz="1400" b="1" dirty="0">
                <a:solidFill>
                  <a:srgbClr val="C77700"/>
                </a:solidFill>
                <a:latin typeface="Amiri" pitchFamily="2" charset="-78"/>
                <a:ea typeface="Amiri" pitchFamily="2" charset="-78"/>
                <a:cs typeface="Amiri" pitchFamily="2" charset="-78"/>
              </a:rPr>
              <a:t>لَأَطْلَقْتُ</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مَشْرُوعًا وَطَنِيًّا لِتَحْلِيَةِ المِيَاهِ. وَنَرْجُو أَنْ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تَتَغَيَّرَ</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نَظْرَةُ النَّاسِ إِلَى البِيئَةِ.</a:t>
            </a:r>
            <a:endParaRPr lang="ar-SA" sz="1400" dirty="0"/>
          </a:p>
        </p:txBody>
      </p:sp>
      <p:sp>
        <p:nvSpPr>
          <p:cNvPr id="56" name="Text 52"/>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900" i="1" dirty="0">
                <a:solidFill>
                  <a:srgbClr val="5A6472"/>
                </a:solidFill>
                <a:latin typeface="Calibri" pitchFamily="34" charset="0"/>
                <a:cs typeface="Amiri" pitchFamily="2" charset="-78"/>
              </a:rPr>
              <a:t>Water scarcity is the biggest environmental challenge, because of low rainfall and poor management. It requires us to allocate bigger budgets for desalination, so that we preserve the resource for future generations. And if I had the powers of the environment minister, I would launch a national water-desalination project. We hope that people’s view of the environment will change.</a:t>
            </a:r>
            <a:endParaRPr lang="en-US" sz="900" dirty="0"/>
          </a:p>
        </p:txBody>
      </p:sp>
      <p:sp>
        <p:nvSpPr>
          <p:cNvPr id="57"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نَسْتَثْمِرُ فِي الطَّاقَةِ النَّظِيفَةِ لِكَيْ نَحْمِيَ الأَجْيَالَ القَادِمَةَ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we invest in clean energy so that we protect future generations</a:t>
            </a:r>
            <a:endParaRPr lang="en-US" sz="1250" dirty="0"/>
          </a:p>
          <a:p>
            <a:pPr indent="0" marL="0">
              <a:buNone/>
            </a:pPr>
            <a:r>
              <a:rPr lang="en-US" sz="1050" i="1" dirty="0">
                <a:solidFill>
                  <a:srgbClr val="8A6D1E"/>
                </a:solidFill>
                <a:latin typeface="Calibri" pitchFamily="34" charset="0"/>
                <a:cs typeface="Amiri" pitchFamily="2" charset="-78"/>
              </a:rPr>
              <a:t>Purpose: li-kay + -a.</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يَتَطَلَّبُ الأَمْرُ أَنْ نُخَصِّصَ مِيزَانِيَّاتٍ أَكْبَرَ لِلْبِيئَةِ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matter requires us to allocate bigger budgets for the environment</a:t>
            </a:r>
            <a:endParaRPr lang="en-US" sz="1250" dirty="0"/>
          </a:p>
          <a:p>
            <a:pPr indent="0" marL="0">
              <a:buNone/>
            </a:pPr>
            <a:r>
              <a:rPr lang="en-US" sz="1050" i="1" dirty="0">
                <a:solidFill>
                  <a:srgbClr val="8A6D1E"/>
                </a:solidFill>
                <a:latin typeface="Calibri" pitchFamily="34" charset="0"/>
                <a:cs typeface="Amiri" pitchFamily="2" charset="-78"/>
              </a:rPr>
              <a:t>Necessity: yataṭallabu an + -a.</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لَوْ بَدَأْنَا التَّحَوُّلَ مُبَكِّرًا، لَكَانَتْ بِيئَتُنَا أَفْضَلَ</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had we begun the transition early, our environment would be better</a:t>
            </a:r>
            <a:endParaRPr lang="en-US" sz="1250" dirty="0"/>
          </a:p>
          <a:p>
            <a:pPr indent="0" marL="0">
              <a:buNone/>
            </a:pPr>
            <a:r>
              <a:rPr lang="en-US" sz="1050" i="1" dirty="0">
                <a:solidFill>
                  <a:srgbClr val="8A6D1E"/>
                </a:solidFill>
                <a:latin typeface="Calibri" pitchFamily="34" charset="0"/>
                <a:cs typeface="Amiri" pitchFamily="2" charset="-78"/>
              </a:rPr>
              <a:t>Type 2: law + past → la-.</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REPAIR THE SLIPS (WEBSITE MISTAKES + EARLIER P4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it, fix it, name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وَسَمِّ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Zone</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Correct</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Slip</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li-kay + -a</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نَسْتَثْمِرُ فِي الطَّاقَةِ لِكَيْ نَحْمِيَ البِيئَةَ.</a:t>
            </a:r>
            <a:endParaRPr lang="ar-SA" sz="19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نَسْتَثْمِرُ فِي الطَّاقَةِ لِكَيْ نَحْمِي البِيئَةَ.</a:t>
            </a:r>
            <a:endParaRPr lang="ar-SA" sz="19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 -a</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يَتَطَلَّبُ الأَمْرُ أَنْ نُخَصِّصَ مِيزَانِيَّةً.</a:t>
            </a:r>
            <a:endParaRPr lang="ar-SA" sz="19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يَتَطَلَّبُ الأَمْرُ أَنْ نُخَصِّصُ مِيزَانِيَّةً.</a:t>
            </a:r>
            <a:endParaRPr lang="ar-SA" sz="19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Type 2 result</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بَدَأْنَا مُبَكِّرًا، لَنَجَحْنَا.</a:t>
            </a:r>
            <a:endParaRPr lang="ar-SA" sz="19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لَوْ بَدَأْنَا مُبَكِّرًا، نَجَحْنَا.</a:t>
            </a:r>
            <a:endParaRPr lang="ar-SA" sz="19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passive (P4-L05)</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أُجْلِيَ آلَافُ السُّكَّانِ.</a:t>
            </a:r>
            <a:endParaRPr lang="ar-SA" sz="19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أَجْلَى آلَافُ السُّكَّانِ.</a:t>
            </a:r>
            <a:endParaRPr lang="ar-SA" sz="19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partner (P4-L06)</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يَتَحَوَّلُ العَالَمُ العَرَبِيُّ إِلَى الطَّاقَةِ المُتَجَدِّدَةِ.</a:t>
            </a:r>
            <a:endParaRPr lang="ar-SA" sz="19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يَتَحَوَّلُ العَالَمُ العَرَبِيُّ فِي الطَّاقَةِ المُتَجَدِّدَةِ.</a:t>
            </a:r>
            <a:endParaRPr lang="ar-SA" sz="19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yahdifu ilā (P4-L09)</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يَهْدِفُ المَشْرُوعُ إِلَى أَنْ يُقَلِّلَ الانْبِعَاثَاتِ.</a:t>
            </a:r>
            <a:endParaRPr lang="ar-SA" sz="19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يَهْدِفُ المَشْرُوعُ أَنْ يُقَلِّلَ الانْبِعَاثَاتِ.</a:t>
            </a:r>
            <a:endParaRPr lang="ar-SA" sz="19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reading: “the shared lesson is that every structure has a precise marker that must be controlled.”</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Shape 8"/>
          <p:cNvSpPr/>
          <p:nvPr/>
        </p:nvSpPr>
        <p:spPr>
          <a:xfrm>
            <a:off x="6273698"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73698"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BUILD AN ASSESSMENT ANSWER (WEBSITE LIVE BUILDER)</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Background + necessity + purpose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جَوَابَكَ</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8147304" y="1810512"/>
            <a:ext cx="35112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 · Background (kāna qad)</a:t>
            </a:r>
            <a:endParaRPr lang="en-US" sz="1100" dirty="0"/>
          </a:p>
        </p:txBody>
      </p:sp>
      <p:sp>
        <p:nvSpPr>
          <p:cNvPr id="19" name="Text 16"/>
          <p:cNvSpPr txBox="1"/>
          <p:nvPr/>
        </p:nvSpPr>
        <p:spPr>
          <a:xfrm>
            <a:off x="4398264"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 · Necessity (an + -a)</a:t>
            </a:r>
            <a:endParaRPr lang="en-US" sz="1100" dirty="0"/>
          </a:p>
        </p:txBody>
      </p:sp>
      <p:sp>
        <p:nvSpPr>
          <p:cNvPr id="20" name="Text 17"/>
          <p:cNvSpPr txBox="1"/>
          <p:nvPr/>
        </p:nvSpPr>
        <p:spPr>
          <a:xfrm>
            <a:off x="530352" y="1810512"/>
            <a:ext cx="37216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 · Purpose (li-kay)</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8165592" y="2267712"/>
            <a:ext cx="3474720" cy="73152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كَانَتْ مَدِينَتِي قَدْ فَقَدَتْ حَدَائِقَهَا قَبْلَ أَنْ نَنْتَبِهَ لِقِيمَتِهَا</a:t>
            </a:r>
            <a:endParaRPr lang="ar-SA" sz="1400" dirty="0"/>
          </a:p>
        </p:txBody>
      </p:sp>
      <p:sp>
        <p:nvSpPr>
          <p:cNvPr id="23" name="Text 20"/>
          <p:cNvSpPr txBox="1"/>
          <p:nvPr/>
        </p:nvSpPr>
        <p:spPr>
          <a:xfrm>
            <a:off x="4416552"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وَيَتَطَلَّبُ الحِفَاظُ عَلَيْهِ أَنْ نُخَصِّصَ مِيزَانِيَّاتٍ لِلتَّرْمِيمِ</a:t>
            </a:r>
            <a:endParaRPr lang="ar-SA" sz="1600" dirty="0"/>
          </a:p>
        </p:txBody>
      </p:sp>
      <p:sp>
        <p:nvSpPr>
          <p:cNvPr id="24" name="Text 21"/>
          <p:cNvSpPr txBox="1"/>
          <p:nvPr/>
        </p:nvSpPr>
        <p:spPr>
          <a:xfrm>
            <a:off x="548640" y="2267712"/>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وَنَفْعَلُ ذٰلِكَ لِكَيْ نَصُونَ هُوِيَّتَنَا لِلْأَجْيَالِ القَادِمَةِ</a:t>
            </a:r>
            <a:endParaRPr lang="ar-SA" sz="16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165592" y="3054096"/>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كَانَتِ الحَضَارَاتُ قَدْ نَشَأَتْ عَلَى ضِفَافِ النَّهْرِ</a:t>
            </a:r>
            <a:endParaRPr lang="ar-SA" sz="1600" dirty="0"/>
          </a:p>
        </p:txBody>
      </p:sp>
      <p:sp>
        <p:nvSpPr>
          <p:cNvPr id="29" name="Text 26"/>
          <p:cNvSpPr txBox="1"/>
          <p:nvPr/>
        </p:nvSpPr>
        <p:spPr>
          <a:xfrm>
            <a:off x="4416552"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وَيَنْبَغِي أَنْ نَحُدَّ مِنَ التَّلَوُّثِ وَالإِهْمَالِ</a:t>
            </a:r>
            <a:endParaRPr lang="ar-SA" sz="1600" dirty="0"/>
          </a:p>
        </p:txBody>
      </p:sp>
      <p:sp>
        <p:nvSpPr>
          <p:cNvPr id="30" name="Text 27"/>
          <p:cNvSpPr txBox="1"/>
          <p:nvPr/>
        </p:nvSpPr>
        <p:spPr>
          <a:xfrm>
            <a:off x="548640" y="3054096"/>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وَنَعْمَلُ عَلَيْهِ لِكَيْ نَحْمِيَ ذَاكِرَتَنَا الجَمَاعِيَّةَ</a:t>
            </a:r>
            <a:endParaRPr lang="ar-SA" sz="16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165592" y="3840480"/>
            <a:ext cx="347472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كُنَّا قَدْ أَهْمَلْنَا التُّرَاثَ العُمْرَانِيَّ لِسَنَوَاتٍ</a:t>
            </a:r>
            <a:endParaRPr lang="ar-SA" sz="1600" dirty="0"/>
          </a:p>
        </p:txBody>
      </p:sp>
      <p:sp>
        <p:nvSpPr>
          <p:cNvPr id="33" name="Text 30"/>
          <p:cNvSpPr txBox="1"/>
          <p:nvPr/>
        </p:nvSpPr>
        <p:spPr>
          <a:xfrm>
            <a:off x="4416552"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وَمِنَ الضَّرُورِيِّ أَنْ نَسْتَثْمِرَ فِي الطَّاقَةِ المُتَجَدِّدَةِ</a:t>
            </a:r>
            <a:endParaRPr lang="ar-SA" sz="1600" dirty="0"/>
          </a:p>
        </p:txBody>
      </p:sp>
      <p:sp>
        <p:nvSpPr>
          <p:cNvPr id="34" name="Text 31"/>
          <p:cNvSpPr txBox="1"/>
          <p:nvPr/>
        </p:nvSpPr>
        <p:spPr>
          <a:xfrm>
            <a:off x="548640" y="3840480"/>
            <a:ext cx="368503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وَنُطَوِّرُهُ لِكَيْ نُوَازِنَ بَيْنَ العُمْرَانِ وَالطَّبِيعَةِ</a:t>
            </a:r>
            <a:endParaRPr lang="ar-SA" sz="1600" dirty="0"/>
          </a:p>
        </p:txBody>
      </p:sp>
      <p:sp>
        <p:nvSpPr>
          <p:cNvPr id="35" name="Text 3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Pick one from each column — any combination is accurate. Say it aloud as one fluent answer.</a:t>
            </a:r>
            <a:endParaRPr lang="en-US" sz="11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Trigger, conditional / past perfect — or passive / reported?</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نَحْمِيَ الأَجْيَالَ القَادِمَةَ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نَسْتَثْمِرَ فِي الطَّاقَةِ</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نَرْجُو أَنْ يَتَغَيَّرَ السُّلُوكُ</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650" b="1" dirty="0">
                <a:solidFill>
                  <a:srgbClr val="1B3B6F"/>
                </a:solidFill>
                <a:latin typeface="Amiri" pitchFamily="2" charset="-78"/>
                <a:ea typeface="Amiri" pitchFamily="2" charset="-78"/>
                <a:cs typeface="Amiri" pitchFamily="2" charset="-78"/>
              </a:rPr>
              <a:t>إِذَا اسْتَثْمَرْنَا اليَوْمَ، سَنَحْمِي الغَدَ</a:t>
            </a:r>
            <a:endParaRPr lang="ar-SA" sz="165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بَدَأْنَا مُبَكِّرًا، لَنَجَحْنَا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كَانَتِ المَدِينَةُ قَدْ فَقَدَتْ حَدَائِقَهَا</a:t>
            </a:r>
            <a:endParaRPr lang="ar-SA" sz="17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دُمِّرَتِ المَبَانِي فِي الزِّلْزَالِ</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أُعْلِنَتْ حَالَةُ الطَّوَارِئِ</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قَالَ الخَبِيرُ إِنَّ الاسْتِدَامَةَ ضَرُورَةٌ</a:t>
            </a:r>
            <a:endParaRPr lang="ar-SA" sz="17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subjunctive triggers</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conditionals / past perfect</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reported</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subjunctive triggers</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لِكَيْ نَحْمِيَ الأَجْيَالَ القَادِمَةَ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يَنْبَغِي أَنْ نَسْتَثْمِرَ فِي الطَّاقَةِ</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نَرْجُو أَنْ يَتَغَيَّرَ السُّلُوكُ</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conditionals / past perfect</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إِذَا اسْتَثْمَرْنَا اليَوْمَ، سَنَحْمِي الغَدَ</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لَوْ بَدَأْنَا مُبَكِّرًا، لَنَجَحْنَا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كَانَتِ المَدِينَةُ قَدْ فَقَدَتْ حَدَائِقَهَا</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passive / reported</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دُمِّرَتِ المَبَانِي فِي الزِّلْزَالِ</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أُعْلِنَتْ حَالَةُ الطَّوَارِئِ</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 الخَبِيرُ إِنَّ الاسْتِدَامَةَ ضَرُورَةٌ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4, 6, 7, 9</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سَنَسْتَثْمِرُ</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اسْتَثْمَرْنَا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volition clause is correct?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نَرْجُو أَنْ تَنْجَحُ المُفَاوَضَاتُ.</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نَرْجُو أَنْ تَنْجَحَ المُفَاوَضَاتُ.</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نَرْجُو أَنْ نَجَحَتِ المُفَاوَضَاتُ.</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clause is correct?</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الخَبِيرُ أَنَّ الاسْتِدَامَةَ ضَرُورَةٌ.</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الخَبِيرُ إِنَّ الاسْتِدَامَةَ ضَرُورَةٌ.</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قَالَ الخَبِيرُ بِأَنَّ الاسْتِدَامَةَ ضَرُورَةٌ.</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 question well?</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أَنْ نُخَصِّصُ مِيزَانِيَّةً أَكْبَرَ.</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مِيزَانِيَّةً أَكْبَرَ فَقَطْ.</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أَنْ نُخَصِّصَ مِيزَانِيَّةً أَكْبَرَ.</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verb form follows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سَنَسْتَثْمِرُ</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اسْتَثْمَرْنَا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volition clause is correct?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نَرْجُو أَنْ تَنْجَحُ المُفَاوَضَاتُ.</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نَرْجُو أَنْ تَنْجَحَ المُفَاوَضَاتُ.</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نَرْجُو أَنْ نَجَحَتِ المُفَاوَضَاتُ.</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تَنْجَحَ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reported clause is correct?</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الخَبِيرُ أَنَّ الاسْتِدَامَةَ ضَرُورَةٌ.</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قَالَ الخَبِيرُ إِنَّ الاسْتِدَامَةَ ضَرُورَةٌ.</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قَالَ الخَبِيرُ بِأَنَّ الاسْتِدَامَةَ ضَرُورَةٌ.</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قَالَ</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ea typeface="Amiri" pitchFamily="2" charset="-78"/>
                <a:cs typeface="Amiri" pitchFamily="2" charset="-78"/>
              </a:rPr>
              <a:t>إِنَّ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answers a </a:t>
            </a:r>
            <a:pPr algn="l" indent="0" marL="0">
              <a:buNone/>
            </a:pPr>
            <a:r>
              <a:rPr lang="ar-SA" altLang="en-US" sz="1650" b="1" dirty="0">
                <a:solidFill>
                  <a:srgbClr val="1B3B6F"/>
                </a:solidFill>
                <a:latin typeface="Amiri" pitchFamily="2" charset="-78"/>
                <a:ea typeface="Amiri" pitchFamily="2" charset="-78"/>
                <a:cs typeface="Amiri" pitchFamily="2" charset="-78"/>
              </a:rPr>
              <a:t>يَتَطَلَّبُ</a:t>
            </a:r>
            <a:pPr algn="l" indent="0" marL="0">
              <a:buNone/>
            </a:pPr>
            <a:r>
              <a:rPr lang="en-US" sz="1250" b="1" dirty="0">
                <a:solidFill>
                  <a:srgbClr val="1B3B6F"/>
                </a:solidFill>
                <a:latin typeface="Calibri" pitchFamily="34" charset="0"/>
                <a:cs typeface="Amiri" pitchFamily="2" charset="-78"/>
              </a:rPr>
              <a:t> question well?</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يَتَطَلَّبُ الأَمْرُ أَنْ نُخَصِّصُ مِيزَانِيَّةً أَكْبَرَ.</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يَتَطَلَّبُ الأَمْرُ مِيزَانِيَّةً أَكْبَرَ فَقَطْ.</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يَتَطَلَّبُ الأَمْرُ أَنْ نُخَصِّصَ مِيزَانِيَّةً أَكْبَرَ.</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يَتَطَلَّبُ أَنْ</a:t>
            </a:r>
            <a:pPr algn="l" indent="0" marL="0">
              <a:buNone/>
            </a:pPr>
            <a:r>
              <a:rPr lang="en-US" sz="1050" i="1" dirty="0">
                <a:solidFill>
                  <a:srgbClr val="8A6D1E"/>
                </a:solidFill>
                <a:latin typeface="Calibri" pitchFamily="34" charset="0"/>
                <a:cs typeface="Amiri" pitchFamily="2" charset="-78"/>
              </a:rPr>
              <a:t> takes a subjunctive verb: </a:t>
            </a:r>
            <a:pPr algn="l" indent="0" marL="0">
              <a:buNone/>
            </a:pPr>
            <a:r>
              <a:rPr lang="ar-SA" altLang="en-US" sz="1350" dirty="0">
                <a:solidFill>
                  <a:srgbClr val="8A6D1E"/>
                </a:solidFill>
                <a:latin typeface="Amiri" pitchFamily="2" charset="-78"/>
                <a:ea typeface="Amiri" pitchFamily="2" charset="-78"/>
                <a:cs typeface="Amiri" pitchFamily="2" charset="-78"/>
              </a:rPr>
              <a:t>نُخَصِّصَ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نَسْتَثْمِرُ فِي الطَّاقَةِ لِكَيْ نَحْمِي البِيئَةَ.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li-kay naḥmī?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يَتَطَلَّبُ الأَمْرُ أَنْ نُخَصِّصُ مِيزَانِيَّةً.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law … najaḥnā?</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لَوْ بَدَأْنَا مُبَكِّرًا، نَجَحْنَا فِي حِمَايَةِ البِيئَةِ.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yudammarat?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نَسْتَثْمِرُ فِي الطَّاقَةِ لِكَيْ نَحْمِي البِيئَةَ.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نَسْتَثْمِرُ فِي الطَّاقَةِ لِكَيْ نَحْمِيَ البِيئَةَ.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لِكَيْ</a:t>
            </a:r>
            <a:pPr algn="l" indent="0" marL="0">
              <a:buNone/>
            </a:pPr>
            <a:r>
              <a:rPr lang="en-US" sz="1150" b="1" dirty="0">
                <a:solidFill>
                  <a:srgbClr val="1B3B6F"/>
                </a:solidFill>
                <a:latin typeface="Calibri" pitchFamily="34" charset="0"/>
                <a:cs typeface="Amiri" pitchFamily="2" charset="-78"/>
              </a:rPr>
              <a:t> the verb takes a final fatḥa: </a:t>
            </a:r>
            <a:pPr algn="l" indent="0" marL="0">
              <a:buNone/>
            </a:pPr>
            <a:r>
              <a:rPr lang="ar-SA" altLang="en-US" sz="1500" b="1" dirty="0">
                <a:solidFill>
                  <a:srgbClr val="1B3B6F"/>
                </a:solidFill>
                <a:latin typeface="Amiri" pitchFamily="2" charset="-78"/>
                <a:ea typeface="Amiri" pitchFamily="2" charset="-78"/>
                <a:cs typeface="Amiri" pitchFamily="2" charset="-78"/>
              </a:rPr>
              <a:t>نَحْمِيَ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يَتَطَلَّبُ الأَمْرُ أَنْ نُخَصِّصُ مِيزَانِيَّةً.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يَتَطَلَّبُ الأَمْرُ أَنْ نُخَصِّصَ مِيزَانِيَّةً.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After </a:t>
            </a:r>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the verb is subjunctive: </a:t>
            </a:r>
            <a:pPr algn="l" indent="0" marL="0">
              <a:buNone/>
            </a:pPr>
            <a:r>
              <a:rPr lang="ar-SA" altLang="en-US" sz="1500" b="1" dirty="0">
                <a:solidFill>
                  <a:srgbClr val="1B3B6F"/>
                </a:solidFill>
                <a:latin typeface="Amiri" pitchFamily="2" charset="-78"/>
                <a:ea typeface="Amiri" pitchFamily="2" charset="-78"/>
                <a:cs typeface="Amiri" pitchFamily="2" charset="-78"/>
              </a:rPr>
              <a:t>نُخَصِّصَ</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لَوْ بَدَأْنَا مُبَكِّرًا، نَجَحْنَا فِي حِمَايَةِ البِيئَةِ.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ea typeface="Amiri" pitchFamily="2" charset="-78"/>
                <a:cs typeface="Amiri" pitchFamily="2" charset="-78"/>
              </a:rPr>
              <a:t>لَوْ بَدَأْنَا مُبَكِّرًا، لَنَجَحْنَا فِي حِمَايَةِ البِيئَةِ.</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Type 2 result takes the </a:t>
            </a:r>
            <a:pPr algn="l" indent="0" marL="0">
              <a:buNone/>
            </a:pPr>
            <a:r>
              <a:rPr lang="ar-SA" altLang="en-US" sz="1500" b="1" dirty="0">
                <a:solidFill>
                  <a:srgbClr val="1B3B6F"/>
                </a:solidFill>
                <a:latin typeface="Amiri" pitchFamily="2" charset="-78"/>
                <a:ea typeface="Amiri" pitchFamily="2" charset="-78"/>
                <a:cs typeface="Amiri" pitchFamily="2" charset="-78"/>
              </a:rPr>
              <a:t>لَـ</a:t>
            </a:r>
            <a:pPr algn="l" indent="0" marL="0">
              <a:buNone/>
            </a:pPr>
            <a:r>
              <a:rPr lang="en-US" sz="1150" b="1" dirty="0">
                <a:solidFill>
                  <a:srgbClr val="1B3B6F"/>
                </a:solidFill>
                <a:latin typeface="Calibri" pitchFamily="34" charset="0"/>
                <a:cs typeface="Amiri" pitchFamily="2" charset="-78"/>
              </a:rPr>
              <a:t> prefix.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Listening: a mock environmental-conference conversation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ecosystem does the student admire, and why?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The Nile, because it holds great diversity and civilisations arose on its banks</a:t>
            </a:r>
            <a:endParaRPr lang="en-US" sz="12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desert, because it is empty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ecosystem at 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conserving it require (necessity)?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Ignoring pollution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Reducing budgets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Allocating bigger budgets and curbing pollution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purpose does the student give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increase pollution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reduce diversity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To preserve the resource for future generations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a minister's powers?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would launch a national water-desalination project</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Powers make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student refuses to act</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short answer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Balanced answers using all three triggers spontaneously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memorised list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kānat qad · yataṭallabu an · li-kay · law … la-.</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صِفْ نِظَامًا بِيئِيًّا فِي العَالَمِ العَرَبِيِّ تُعْجَبُ بِهِ. الطَّالِبُ: يُعْجِبُنِي نَهْرُ النِّيلِ لِأَنَّهُ يَضُمُّ تَنَوُّعًا كَبِيرًا، وَكَانَتِ الحَضَارَاتُ قَدْ نَشَأَتْ عَلَى ضِفَافِهِ.</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Teacher: Describe an ecosystem in the Arab world that you admire. Student: I admire the River Nile because it holds great diversity, and civilisations had grown up on its banks.</a:t>
            </a:r>
            <a:endParaRPr lang="en-US" sz="120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مَا الَّذِي يَتَطَلَّبُهُ الحِفَاظُ عَلَيْهِ؟ الطَّالِبُ: يَتَطَلَّبُ الأَمْرُ أَنْ نُخَصِّصَ مِيزَانِيَّاتٍ أَكْبَرَ وَأَنْ نَحُدَّ مِنَ التَّلَوُّثِ.</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What does conserving it require? Student: It requires us to allocate bigger budgets and to curb pollution.</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850" b="1" dirty="0">
                <a:solidFill>
                  <a:srgbClr val="1B3B6F"/>
                </a:solidFill>
                <a:latin typeface="Amiri" pitchFamily="2" charset="-78"/>
                <a:ea typeface="Amiri" pitchFamily="2" charset="-78"/>
                <a:cs typeface="Amiri" pitchFamily="2" charset="-78"/>
              </a:rPr>
              <a:t>المُعَلِّمُ: وَلِمَاذَا نَفْعَلُ ذٰلِكَ؟ الطَّالِبُ: نَفْعَلُهُ لِكَيْ نَصُونَ المَوْرِدَ لِلْأَجْيَالِ القَادِمَةِ.</a:t>
            </a:r>
            <a:endParaRPr lang="ar-SA" sz="18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And why do we do that? Student: We do it so that we preserve the resource for future generations.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المُعَلِّمُ: لَوْ كَانَتْ لَدَيْكَ صَلَاحِيَّاتُ وَزِيرِ البِيئَةِ، مَاذَا كُنْتَ سَتُغَيِّرُ؟ الطَّالِبُ: لَوْ كَانَتْ لَدَيَّ صَلَاحِيَّاتُهُ، لَأَطْلَقْتُ مَشْرُوعًا وَطَنِيًّا لِتَحْلِيَةِ المِيَاهِ.</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Teacher: If you had the powers of the environment minister, what would you change? Student: If I had his powers, I would launch a national water-desalination project.</a:t>
            </a:r>
            <a:endParaRPr lang="en-US" sz="120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المُعَلِّمُ: أَجْوِبَةٌ مُتَوَازِنَةٌ اسْتَعْمَلْتَ فِيهَا المُسَبِّبَاتِ الثَّلَاثَةَ تِلْقَائِيًّا.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Teacher: Balanced answers in which you used all three triggers spontaneously.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ecosystem does the student admire, and why?</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Nile, because it holds great diversity and civilisations arose on its banks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desert, because it is empty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ecosystem at 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900" dirty="0">
                <a:solidFill>
                  <a:srgbClr val="8A6D1E"/>
                </a:solidFill>
                <a:latin typeface="Amiri" pitchFamily="2" charset="-78"/>
                <a:ea typeface="Amiri" pitchFamily="2" charset="-78"/>
                <a:cs typeface="Amiri" pitchFamily="2" charset="-78"/>
              </a:rPr>
              <a:t>يُعْجِبُنِي نَهْرُ النِّيلِ لِأَنَّهُ يَضُمُّ تَنَوُّعًا كَبِيرًا، وَكَانَتِ الحَضَارَاتُ قَدْ نَشَأَتْ عَلَى ضِفَافِهِ.</a:t>
            </a:r>
            <a:endParaRPr lang="ar-SA" sz="9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conserving it require (necessity)?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Ignoring pollution</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Reducing budgets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Allocating bigger budgets and curbing pollution</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يَتَطَلَّبُ الأَمْرُ أَنْ نُخَصِّصَ مِيزَانِيَّاتٍ أَكْبَرَ وَأَنْ نَحُدَّ مِنَ التَّلَوُّثِ.</a:t>
            </a:r>
            <a:endParaRPr lang="ar-SA" sz="12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purpose does the student give (</a:t>
            </a:r>
            <a:pPr algn="l" indent="0" marL="0">
              <a:buNone/>
            </a:pPr>
            <a:r>
              <a:rPr lang="ar-SA" altLang="en-US" sz="1650" b="1" dirty="0">
                <a:solidFill>
                  <a:srgbClr val="1B3B6F"/>
                </a:solidFill>
                <a:latin typeface="Amiri" pitchFamily="2" charset="-78"/>
                <a:ea typeface="Amiri" pitchFamily="2" charset="-78"/>
                <a:cs typeface="Amiri" pitchFamily="2" charset="-78"/>
              </a:rPr>
              <a:t>لِكَيْ</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increase pollution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To reduce diversity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To preserve the resource for future generations</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نَفْعَلُهُ لِكَيْ نَصُونَ المَوْرِدَ لِلْأَجْيَالِ القَادِمَةِ.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Type 2 answer about a minister's powers?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student would launch a national water-desalination project</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Powers make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student refuses to act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ea typeface="Amiri" pitchFamily="2" charset="-78"/>
                <a:cs typeface="Amiri" pitchFamily="2" charset="-78"/>
              </a:rPr>
              <a:t>لَوْ كَانَتْ لَدَيَّ صَلَاحِيَّاتُهُ، لَأَطْلَقْتُ مَشْرُوعًا وَطَنِيًّا لِتَحْلِيَةِ المِيَاهِ.</a:t>
            </a:r>
            <a:endParaRPr lang="ar-SA" sz="11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 teacher praise?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short answer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Balanced answers using all three triggers spontaneously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memorised list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اسْتَعْمَلْتَ فِيهَا المُسَبِّبَاتِ الثَّلَاثَةَ تِلْقَائِيًّا.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Listen for: kānat qad · yataṭallabu an · li-kay · law … la-.</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cs typeface="Amiri" pitchFamily="2" charset="-78"/>
              </a:rPr>
              <a:t>Speaking: the five assessment questions</a:t>
            </a:r>
            <a:endParaRPr lang="en-US" sz="23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نِظَامًا بِيئِيًّا فِي العَالَمِ العَرَبِيِّ تُعْجَبُ بِهِ — لِمَاذَا هُوَ مُهِمٌّ؟</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الَّذِي يَتَطَلَّبُهُ الحِفَاظُ عَلَى التُّرَاثِ المِعْمَارِيِّ فِي رَأْيِكَ؟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لَوْ كَانَتْ لَدَيْكَ صَلَاحِيَّاتُ وَزِيرِ البِيئَةِ، مَاذَا كُنْتَ سَتُغَيِّرُ؟</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يُعْجِبُنِي ___ لِأَنَّهُ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يَتَطَلَّبُ الأَمْرُ أَنْ ___ لِكَيْ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ea typeface="Amiri" pitchFamily="2" charset="-78"/>
                <a:cs typeface="Amiri" pitchFamily="2" charset="-78"/>
              </a:rPr>
              <a:t>لَوْ كَانَتْ لَدَيَّ صَلَاحِيَّاتُهُ، لَأَطْلَقْتُ ___ .</a:t>
            </a:r>
            <a:endParaRPr lang="ar-SA" sz="15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الَّذِي يَتَطَلَّبُهُ الحِفَاظُ عَلَى التُّرَاثِ؟</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does conserving heritage require?</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يَتَطَلَّبُ الأَمْرُ أَنْ نُخَصِّصَ مِيزَانِيَّاتٍ لِلتَّرْمِيمِ وَأَنْ نَحُدَّ مِنَ الإِهْمَالِ.</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It requires us to allocate budgets for restoration and to curb neglect.</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+ 3</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Correct six P4 errors and write three sentences from memory.</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Core: correct six P4 errors and write three sentences from memory.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3 structures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purpose clause, a necessity clause and a Type 2 conditional.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Develop: add a purpose clause, a necessity clause and a Type 2 conditional.</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Deliver fluent answers to the why, the yataṭallabu and the law questions spontaneously.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answer two assessment questions with all three triggers, a Type 2 and the past perfect — every marker accurate.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550" b="1" dirty="0">
                <a:solidFill>
                  <a:srgbClr val="1B3B6F"/>
                </a:solidFill>
                <a:latin typeface="Amiri" pitchFamily="2" charset="-78"/>
                <a:ea typeface="Amiri" pitchFamily="2" charset="-78"/>
                <a:cs typeface="Amiri" pitchFamily="2" charset="-78"/>
              </a:rPr>
              <a:t>لَوْ كَانَتْ لَدَيَّ صَلَاحِيَّاتُ الوَزِيرِ، لَأَطْلَقْتُ ______ .</a:t>
            </a:r>
            <a:endParaRPr lang="ar-SA" sz="15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I had the minister’s powers, I would launch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كَانَتْ مُدُنُنَا قَدْ فَقَدَتْ ______ قَبْلَ أَنْ ______ .</a:t>
            </a:r>
            <a:endParaRPr lang="ar-SA" sz="16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Our cities had lost … before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نَرْجُو أَنْ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hope that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إِذَا اسْتَثْمَرْنَا اليَوْمَ، سَنَحْمِي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If we invest today,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يُعْجِبُنِي ______ لِأَنَّهُ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admire … because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تُشَكِّلُ ______ أَكْبَرَ تَحَدٍّ بِيئِيٍّ.</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the biggest environmental challenge.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يَتَطَلَّبُ الأَمْرُ أَنْ نُخَصِّصَ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requires us to allocate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نَفْعَلُهُ لِكَيْ نَصُونَ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do it so that we preserve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B3B6F"/>
                </a:solidFill>
                <a:latin typeface="Amiri" pitchFamily="2" charset="-78"/>
                <a:ea typeface="Amiri" pitchFamily="2" charset="-78"/>
                <a:cs typeface="Amiri" pitchFamily="2" charset="-78"/>
              </a:rPr>
              <a:t>نَهْرُ النِّيلِ  ·  يَضُمُّ تَنَوُّعًا كَبِيرًا  ·  نُدْرَةُ المِيَاهِ  ·  مِيزَانِيَّاتٍ لِلتَّرْمِيمِ  ·  نَحُدَّ مِنَ التَّلَوُّثِ  ·  هُوِيَّتَنَا  ·  ذَاكِرَتَنَا الجَمَاعِيَّةَ  ·  حَمْلَةً وَطَنِيَّةً لِلتَّشْجِيرِ  ·  مَشْرُوعًا وَطَنِيًّا لِتَحْلِيَةِ المِيَاهِ  ·  تَتَغَيَّرَ نَظْرَةُ النَّاسِ  ·  تُرَاثِهَا العُمْرَانِيِّ  ·  الغَدَ</a:t>
            </a:r>
            <a:endParaRPr lang="ar-SA" sz="10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preparing for the P4 topic conversation. Answer two of the assessment questions, using all three subjunctive triggers, a Type 2 conditional and the past perfect, with every marker accurate.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past perfect (kāna qad …) with correct agreement.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purpose clause (li-kay), a necessity clause (yataṭallabu / yanbaghī an) and a volition clause.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Type 2 conditional with the la- result.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The final fatḥa on every subjunctive verb.</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قَبْلَ أَنْ نَنْتَبِهَ لِقِيمَتِهِ</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before we noticed its value</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وَأَنْ نَحُدَّ مِنَ الإِهْمَالِ</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to curb neglect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وَنَحْمِيَ ذَاكِرَتَنَا الجَمَاعِيَّةَ</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protect our collective memory</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وَلَدَعَمْتُ الطَّاقَةَ المُتَجَدِّدَةَ</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and I would support renewable energy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تَجْمَعُ بَيْنَ حِمَايَةِ الطَّبِيعَةِ وَصَوْنِ العُمْرَانِ</a:t>
            </a:r>
            <a:endParaRPr lang="ar-SA" sz="175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combine protecting nature and preserving buildings</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كَانَتْ مُدُنُنَا قَدْ فَقَدَتْ كَثِيرًا مِنْ تُرَاثِهَا العُمْرَانِيِّ قَبْلَ أَنْ نَنْتَبِهَ لِقِيمَتِهِ. وَأَرَى أَنَّ الحِفَاظَ عَلَيْهِ يَتَطَلَّبُ أَنْ نُخَصِّصَ مِيزَانِيَّاتٍ لِلتَّرْمِيمِ وَأَنْ نَحُدَّ مِنَ الإِهْمَالِ. وَنَفْعَلُ ذٰلِكَ لِكَيْ نَصُونَ هُوِيَّتَنَا وَنَحْمِيَ ذَاكِرَتَنَا الجَمَاعِيَّةَ. وَنَرْجُو أَنْ تَتَغَيَّرَ نَظْرَةُ النَّاسِ إِلَى المَبَانِي القَدِيمَةِ. وَلَوْ كَانَتْ لَدَيَّ صَلَاحِيَّاتُ وَزِيرِ البِيئَةِ، لَأَطْلَقْتُ حَمْلَةً وَطَنِيَّةً لِلتَّشْجِيرِ وَلَدَعَمْتُ الطَّاقَةَ المُتَجَدِّدَةَ. فَهٰذِهِ الخُطُوَاتُ تَجْمَعُ بَيْنَ حِمَايَةِ الطَّبِيعَةِ وَصَوْنِ العُمْرَانِ مَعًا.</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cities had lost much of their built heritage before we noticed its value. I think preserving it requires us to allocate budgets for restoration and to curb neglect. We do this so that we preserve our identity and protect our collective memory. We hope that people’s view of old buildings will change. And if I had the powers of the environment minister, I would launch a national tree-planting campaign and I would support renewable energy. These steps combine protecting nature and preserving our buildings together.</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past perfect (kānat qad)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yataṭallabu an + two verbs in -a</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li-kay + two verbs in -a · narjū an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Type 2 with two la- results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verb after li-kay and an ends in -a (naḥmiya · nastathmira).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Type 2 result has la-; the verb after law is past.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passive has the right shape (dummirat · ujliya); kānat agrees with a city.</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one of each trigger: purpose, volition, necessity.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each question with the trigger it invites, and named my priority error.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48</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clause is correct?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نَحْمِيَ البِيئَةَ.</a:t>
            </a:r>
            <a:endParaRPr lang="ar-SA" sz="200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نَحْمِي البِيئَةَ.</a:t>
            </a:r>
            <a:endParaRPr lang="ar-SA" sz="200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نَزْرَعُ الأَشْجَارَ لِكَيْ نَحْمِيْ البِيئَةَ.</a:t>
            </a:r>
            <a:endParaRPr lang="ar-SA" sz="200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أَنْ نُخَصِّصُ مِيزَانِيَّةً.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أَنْ نُخَصِّصَ مِيزَانِيَّةً.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يَتَطَلَّبُ الأَمْرُ أَنْ نُخَصِّصْ مِيزَانِيَّةً.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لَنَجَحْنَا.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نَجَحْنَا.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بَدَأْنَا مُبَكِّرًا، سَنَنْجَحُ.</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48</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purpose clause is correct?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نَزْرَعُ الأَشْجَارَ لِكَيْ نَحْمِيَ البِيئَةَ.</a:t>
            </a:r>
            <a:endParaRPr lang="ar-SA" sz="200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نَزْرَعُ الأَشْجَارَ لِكَيْ نَحْمِي البِيئَةَ.</a:t>
            </a:r>
            <a:endParaRPr lang="ar-SA" sz="200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9AA1AB"/>
                </a:solidFill>
                <a:latin typeface="Amiri" pitchFamily="2" charset="-78"/>
                <a:ea typeface="Amiri" pitchFamily="2" charset="-78"/>
                <a:cs typeface="Amiri" pitchFamily="2" charset="-78"/>
              </a:rPr>
              <a:t>نَزْرَعُ الأَشْجَارَ لِكَيْ نَحْمِيْ البِيئَةَ.</a:t>
            </a:r>
            <a:endParaRPr lang="ar-SA" sz="200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final fatḥa: </a:t>
            </a:r>
            <a:pPr algn="l" indent="0" marL="0">
              <a:buNone/>
            </a:pPr>
            <a:r>
              <a:rPr lang="ar-SA" altLang="en-US" sz="1350" dirty="0">
                <a:solidFill>
                  <a:srgbClr val="8A6D1E"/>
                </a:solidFill>
                <a:latin typeface="Amiri" pitchFamily="2" charset="-78"/>
                <a:ea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correct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يَتَطَلَّبُ الأَمْرُ أَنْ نُخَصِّصُ مِيزَانِيَّةً.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يَتَطَلَّبُ الأَمْرُ أَنْ نُخَصِّصَ مِيزَانِيَّةً.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يَتَطَلَّبُ الأَمْرُ أَنْ نُخَصِّصْ مِيزَانِيَّةً.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نُخَصِّصَ</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Type 2 conditional is correct?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لَوْ بَدَأْنَا مُبَكِّرًا، لَنَجَحْنَا.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لَوْ بَدَأْنَا مُبَكِّرًا، نَجَحْنَا.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لَوْ بَدَأْنَا مُبَكِّرًا، سَنَنْجَحُ.</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48</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Reading: twelve sentences to repair</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2" charset="-78"/>
                <a:ea typeface="Amiri" pitchFamily="2" charset="-78"/>
                <a:cs typeface="Amiri" pitchFamily="2" charset="-78"/>
              </a:rPr>
              <a:t>تَحْتَوِي هٰذِهِ القَائِمَةُ عَلَى أَخْطَاءٍ شَائِعَةٍ فِي السَّنَةِ التَّاسِعَةِ. الأَوَّلُ فِي النَّصْبِ بَعْدَ لِكَيْ: «نَزْرَعُ الأَشْجَارَ لِكَيْ نَحْمِي البِيئَةَ» — وَالصَّوَابُ «نَحْمِيَ». الثَّانِي فِي النَّصْبِ بَعْدَ أَنْ: «يَنْبَغِي أَنْ نَسْتَثْمِرُ» — وَالصَّوَابُ «نَسْتَثْمِرَ». الثَّالِثُ فِي جَوَابِ لَوْ: «لَوْ بَدَأْنَا مُبَكِّرًا، نَجَحْنَا» — وَالصَّوَابُ «لَنَجَحْنَا». الرَّابِعُ فِي زَمَنِ فِعْلِ لَوْ: «لَوْ نَسْتَثْمِرُ» — وَالصَّوَابُ «لَوِ اسْتَثْمَرْنَا». الخَامِسُ فِي الفِعْلِ المَبْنِيِّ لِلْمَجْهُولِ: «يُدَمَّرَتِ المَبَانِي» — وَالصَّوَابُ «دُمِّرَتْ». وَالدَّرْسُ المُشْتَرَكُ أَنَّ لِكُلِّ بِنْيَةٍ عَلَامَةً دَقِيقَةً يَجِبُ ضَبْطُهَا.</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تَحْتَوِي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it contains</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القَائِمَةُ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list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أَخْطَاءٍ شَائِعَةٍ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common errors</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وَالصَّوَابُ</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and the correct form is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جَوَابِ لَوْ</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result of law</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زَمَنِ فِعْلِ لَوْ</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tense after law</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المَبْنِيِّ لِلْمَجْهُولِ</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passive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المُشْتَرَكُ</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shared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بِنْيَةٍ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structure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ضَبْطُهَا</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controlling it</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48</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 … البِيئَةَ</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نَحْمِيَ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سَنَحْمِي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2 result corrected?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لَنَجَحْنَا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نَجَحْنَا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سَنَنْجَحُ</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نَسْتَثْمِرُ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اسْتَثْمَرْنَا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لَوْ سَنَسْتَثْمِرُ</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passive corrected?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يُدَمَّرَتْ</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48</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 … البِيئَةَ</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نَحْمِي</a:t>
            </a:r>
            <a:endParaRPr lang="ar-SA" sz="170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نَحْمِيَ</a:t>
            </a:r>
            <a:endParaRPr lang="ar-SA" sz="170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سَنَحْمِي</a:t>
            </a:r>
            <a:endParaRPr lang="ar-SA" sz="170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final fatḥa: </a:t>
            </a:r>
            <a:pPr algn="l" indent="0" marL="0">
              <a:buNone/>
            </a:pPr>
            <a:r>
              <a:rPr lang="ar-SA" altLang="en-US" sz="1350" dirty="0">
                <a:solidFill>
                  <a:srgbClr val="8A6D1E"/>
                </a:solidFill>
                <a:latin typeface="Amiri" pitchFamily="2" charset="-78"/>
                <a:ea typeface="Amiri" pitchFamily="2" charset="-78"/>
                <a:cs typeface="Amiri" pitchFamily="2" charset="-78"/>
              </a:rPr>
              <a:t>نَحْمِيَ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أَنْ</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نَسْتَثْمِرَ</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نَسْتَثْمِرَ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Type 2 result corrected?</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لَنَجَحْنَا</a:t>
            </a:r>
            <a:endParaRPr lang="ar-SA" sz="170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نَجَحْنَا</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سَنَنْجَحُ</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corrected?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نَسْتَثْمِرُ</a:t>
            </a:r>
            <a:endParaRPr lang="ar-SA" sz="170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لَوِ اسْتَثْمَرْنَا</a:t>
            </a:r>
            <a:endParaRPr lang="ar-SA" sz="170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لَوْ سَنَسْتَثْمِرُ</a:t>
            </a:r>
            <a:endParaRPr lang="ar-SA" sz="170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passive corrected?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دُمِّرَتْ</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يُدَمَّرَتْ</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is </a:t>
            </a:r>
            <a:pPr algn="l" indent="0" marL="0">
              <a:buNone/>
            </a:pPr>
            <a:r>
              <a:rPr lang="ar-SA" altLang="en-US" sz="1350" dirty="0">
                <a:solidFill>
                  <a:srgbClr val="8A6D1E"/>
                </a:solidFill>
                <a:latin typeface="Amiri" pitchFamily="2" charset="-78"/>
                <a:ea typeface="Amiri" pitchFamily="2" charset="-78"/>
                <a:cs typeface="Amiri" pitchFamily="2" charset="-78"/>
              </a:rPr>
              <a:t>دُمِّرَتْ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48</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Mastery Mission — The P4 Error Zones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نُنَقِّيْ</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الطَّاقَةِ المُتَجَدِّدَةِ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Volition: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نَرْجُو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المُفَاوَضَاتُ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تَنْجَحُ</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تَنْجَحَ</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بَدَأْنَا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الحِمَايَةِ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سَنَنْجَحُ</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نَجَحْنَا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لَنَجَحْنَا</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لَتَجَنَّبْنَا الأَزْمَةَ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اسْتَثْمَرْنَا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نَسْتَثْمِرُ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سَنَسْتَثْمِرُ</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correctly formed?</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يُدَمَّرَتِ المَبَانِي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المَبَانِي</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دَمَّرَتِ المَبَانِي</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48</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Purpose: complete — </a:t>
            </a:r>
            <a:pPr algn="l" indent="0" marL="0">
              <a:buNone/>
            </a:pPr>
            <a:r>
              <a:rPr lang="ar-SA" altLang="en-US" sz="1650" b="1" dirty="0">
                <a:solidFill>
                  <a:srgbClr val="1B3B6F"/>
                </a:solidFill>
                <a:latin typeface="Amiri" pitchFamily="2" charset="-78"/>
                <a:ea typeface="Amiri" pitchFamily="2" charset="-78"/>
                <a:cs typeface="Amiri" pitchFamily="2" charset="-78"/>
              </a:rPr>
              <a:t>نَزْرَعُ الأَشْجَارَ لِكَيْ</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الهَوَاءَ</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نُنَقِّي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نُنَقِّيَ</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نُنَقِّيْ</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لِكَيْ</a:t>
            </a:r>
            <a:pPr algn="l" indent="0" marL="0">
              <a:buNone/>
            </a:pPr>
            <a:r>
              <a:rPr lang="en-US" sz="1050" i="1" dirty="0">
                <a:solidFill>
                  <a:srgbClr val="8A6D1E"/>
                </a:solidFill>
                <a:latin typeface="Calibri" pitchFamily="34" charset="0"/>
                <a:cs typeface="Amiri" pitchFamily="2" charset="-78"/>
              </a:rPr>
              <a:t> the verb takes a fatḥa: </a:t>
            </a:r>
            <a:pPr algn="l" indent="0" marL="0">
              <a:buNone/>
            </a:pPr>
            <a:r>
              <a:rPr lang="ar-SA" altLang="en-US" sz="1350" dirty="0">
                <a:solidFill>
                  <a:srgbClr val="8A6D1E"/>
                </a:solidFill>
                <a:latin typeface="Amiri" pitchFamily="2" charset="-78"/>
                <a:ea typeface="Amiri" pitchFamily="2" charset="-78"/>
                <a:cs typeface="Amiri" pitchFamily="2" charset="-78"/>
              </a:rPr>
              <a:t>نُنَقِّيَ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Necessity: complete — </a:t>
            </a:r>
            <a:pPr algn="l" indent="0" marL="0">
              <a:buNone/>
            </a:pPr>
            <a:r>
              <a:rPr lang="ar-SA" altLang="en-US" sz="1650" b="1" dirty="0">
                <a:solidFill>
                  <a:srgbClr val="1B3B6F"/>
                </a:solidFill>
                <a:latin typeface="Amiri" pitchFamily="2" charset="-78"/>
                <a:ea typeface="Amiri" pitchFamily="2" charset="-78"/>
                <a:cs typeface="Amiri" pitchFamily="2" charset="-78"/>
              </a:rPr>
              <a:t>يَنْبَغِي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الطَّاقَةِ المُتَجَدِّدَةِ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نَسْتَثْمِرَ</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نَسْتَثْمِرَ</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Volition: complete — </a:t>
            </a:r>
            <a:pPr algn="l" indent="0" marL="0">
              <a:buNone/>
            </a:pPr>
            <a:r>
              <a:rPr lang="ar-SA" altLang="en-US" sz="1650" b="1" dirty="0">
                <a:solidFill>
                  <a:srgbClr val="1B3B6F"/>
                </a:solidFill>
                <a:latin typeface="Amiri" pitchFamily="2" charset="-78"/>
                <a:ea typeface="Amiri" pitchFamily="2" charset="-78"/>
                <a:cs typeface="Amiri" pitchFamily="2" charset="-78"/>
              </a:rPr>
              <a:t>نَرْجُو أَنْ</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المُفَاوَضَاتُ</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تَنْجَحُ</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تَنْجَحَ</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After </a:t>
            </a:r>
            <a:pPr algn="l" indent="0" marL="0">
              <a:buNone/>
            </a:pPr>
            <a:r>
              <a:rPr lang="ar-SA" altLang="en-US" sz="1350" dirty="0">
                <a:solidFill>
                  <a:srgbClr val="8A6D1E"/>
                </a:solidFill>
                <a:latin typeface="Amiri" pitchFamily="2" charset="-78"/>
                <a:ea typeface="Amiri" pitchFamily="2" charset="-78"/>
                <a:cs typeface="Amiri" pitchFamily="2" charset="-78"/>
              </a:rPr>
              <a:t>أَنْ</a:t>
            </a:r>
            <a:pPr algn="l" indent="0" marL="0">
              <a:buNone/>
            </a:pPr>
            <a:r>
              <a:rPr lang="en-US" sz="1050" i="1" dirty="0">
                <a:solidFill>
                  <a:srgbClr val="8A6D1E"/>
                </a:solidFill>
                <a:latin typeface="Calibri" pitchFamily="34" charset="0"/>
                <a:cs typeface="Amiri" pitchFamily="2" charset="-78"/>
              </a:rPr>
              <a:t> the verb is subjunctive: </a:t>
            </a:r>
            <a:pPr algn="l" indent="0" marL="0">
              <a:buNone/>
            </a:pPr>
            <a:r>
              <a:rPr lang="ar-SA" altLang="en-US" sz="1350" dirty="0">
                <a:solidFill>
                  <a:srgbClr val="8A6D1E"/>
                </a:solidFill>
                <a:latin typeface="Amiri" pitchFamily="2" charset="-78"/>
                <a:ea typeface="Amiri" pitchFamily="2" charset="-78"/>
                <a:cs typeface="Amiri" pitchFamily="2" charset="-78"/>
              </a:rPr>
              <a:t>تَنْجَحَ</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Type 2: complete — </a:t>
            </a:r>
            <a:pPr algn="l" indent="0" marL="0">
              <a:buNone/>
            </a:pPr>
            <a:r>
              <a:rPr lang="ar-SA" altLang="en-US" sz="1650" b="1" dirty="0">
                <a:solidFill>
                  <a:srgbClr val="1B3B6F"/>
                </a:solidFill>
                <a:latin typeface="Amiri" pitchFamily="2" charset="-78"/>
                <a:ea typeface="Amiri" pitchFamily="2" charset="-78"/>
                <a:cs typeface="Amiri" pitchFamily="2" charset="-78"/>
              </a:rPr>
              <a:t>لَوْ بَدَأْنَا مُبَكِّرًا،</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فِي الحِمَايَةِ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سَنَنْجَحُ</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نَجَحْنَا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لَنَجَحْنَا</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Type 2 result takes the </a:t>
            </a:r>
            <a:pPr algn="l" indent="0" marL="0">
              <a:buNone/>
            </a:pPr>
            <a:r>
              <a:rPr lang="ar-SA" altLang="en-US" sz="1350" dirty="0">
                <a:solidFill>
                  <a:srgbClr val="8A6D1E"/>
                </a:solidFill>
                <a:latin typeface="Amiri" pitchFamily="2" charset="-78"/>
                <a:ea typeface="Amiri" pitchFamily="2" charset="-78"/>
                <a:cs typeface="Amiri" pitchFamily="2" charset="-78"/>
              </a:rPr>
              <a:t>لَـ</a:t>
            </a:r>
            <a:pPr algn="l" indent="0" marL="0">
              <a:buNone/>
            </a:pPr>
            <a:r>
              <a:rPr lang="en-US" sz="1050" i="1" dirty="0">
                <a:solidFill>
                  <a:srgbClr val="8A6D1E"/>
                </a:solidFill>
                <a:latin typeface="Calibri" pitchFamily="34" charset="0"/>
                <a:cs typeface="Amiri" pitchFamily="2" charset="-78"/>
              </a:rPr>
              <a:t> prefix.</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Verb after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complete — </a:t>
            </a:r>
            <a:pPr algn="l" indent="0" marL="0">
              <a:buNone/>
            </a:pPr>
            <a:r>
              <a:rPr lang="ar-SA" altLang="en-US" sz="1650" b="1" dirty="0">
                <a:solidFill>
                  <a:srgbClr val="1B3B6F"/>
                </a:solidFill>
                <a:latin typeface="Amiri" pitchFamily="2" charset="-78"/>
                <a:ea typeface="Amiri" pitchFamily="2" charset="-78"/>
                <a:cs typeface="Amiri" pitchFamily="2" charset="-78"/>
              </a:rPr>
              <a:t>لَوِ</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مُبَكِّرًا، لَتَجَنَّبْنَا الأَزْمَةَ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اسْتَثْمَرْنَا</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نَسْتَثْمِرُ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سَنَسْتَثْمِرُ</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لَوْ</a:t>
            </a:r>
            <a:pPr algn="l" indent="0" marL="0">
              <a:buNone/>
            </a:pPr>
            <a:r>
              <a:rPr lang="en-US" sz="1050" i="1" dirty="0">
                <a:solidFill>
                  <a:srgbClr val="8A6D1E"/>
                </a:solidFill>
                <a:latin typeface="Calibri" pitchFamily="34" charset="0"/>
                <a:cs typeface="Amiri" pitchFamily="2" charset="-78"/>
              </a:rPr>
              <a:t> is followed by a past-tense verb.</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Passive: which is correctly formed?</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يُدَمَّرَتِ المَبَانِي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دُمِّرَتِ المَبَانِي</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دَمَّرَتِ المَبَانِي</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past passive is </a:t>
            </a:r>
            <a:pPr algn="l" indent="0" marL="0">
              <a:buNone/>
            </a:pPr>
            <a:r>
              <a:rPr lang="ar-SA" altLang="en-US" sz="1350" dirty="0">
                <a:solidFill>
                  <a:srgbClr val="8A6D1E"/>
                </a:solidFill>
                <a:latin typeface="Amiri" pitchFamily="2" charset="-78"/>
                <a:ea typeface="Amiri" pitchFamily="2" charset="-78"/>
                <a:cs typeface="Amiri" pitchFamily="2" charset="-78"/>
              </a:rPr>
              <a:t>دُمِّرَتْ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48</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P4-L11 · Consolidation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P4-L12: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Progression P4 · The Built and Natural World · P4-L11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P4-L12 · P4 Review and Unit Assessment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تَقْيِيمٌ</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assessment</a:t>
            </a:r>
            <a:pPr indent="0" marL="0">
              <a:buNone/>
            </a:pPr>
            <a:r>
              <a:rPr lang="ar-SA" sz="1000" i="1" dirty="0">
                <a:solidFill>
                  <a:srgbClr val="5A6472"/>
                </a:solidFill>
                <a:latin typeface="Calibri" pitchFamily="34" charset="0"/>
                <a:ea typeface="Amiri" pitchFamily="2" charset="-78"/>
                <a:cs typeface="Amiri" pitchFamily="2" charset="-78"/>
              </a:rPr>
              <a:t>  pl. تَقْيِيمَاتٌ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المَسْمُوعِ</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listening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فَهْمُ المَقْرُوءِ</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reading comprehension</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صَلَاحِيَّاتٌ</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powers, authority</a:t>
            </a:r>
            <a:pPr indent="0" marL="0">
              <a:buNone/>
            </a:pPr>
            <a:r>
              <a:rPr lang="ar-SA" sz="1000" i="1" dirty="0">
                <a:solidFill>
                  <a:srgbClr val="5A6472"/>
                </a:solidFill>
                <a:latin typeface="Calibri" pitchFamily="34" charset="0"/>
                <a:ea typeface="Amiri" pitchFamily="2" charset="-78"/>
                <a:cs typeface="Amiri" pitchFamily="2" charset="-78"/>
              </a:rPr>
              <a:t>  sg. صَلَاحِيَّةٌ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يُشَكِّلُ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constitutes, forms</a:t>
            </a:r>
            <a:pPr indent="0" marL="0">
              <a:buNone/>
            </a:pPr>
            <a:r>
              <a:rPr lang="en-US" sz="1000" i="1" dirty="0">
                <a:solidFill>
                  <a:srgbClr val="5A6472"/>
                </a:solidFill>
                <a:latin typeface="Calibri" pitchFamily="34" charset="0"/>
                <a:cs typeface="Amiri" pitchFamily="2" charset="-78"/>
              </a:rPr>
              <a:t>  Form II</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Prepare answers to the three topic-conversation questions — each with its required structure and a reason.</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2" charset="-78"/>
                <a:ea typeface="Amiri" pitchFamily="2" charset="-78"/>
                <a:cs typeface="Amiri" pitchFamily="2" charset="-78"/>
              </a:rPr>
              <a:t>تُشَكِّلُ … أَكْبَرَ تَحَدٍّ · يَتَطَلَّبُ الأَمْرُ أَنْ … · لَوْ كَانَتْ لَدَيَّ … لَأَطْلَقْتُ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Correct six P4 errors and write three spine sentences from memory.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a li-kay, a yataṭallabu an and a Type 2 sentence; check each against the spine table.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an 80–90-word answer to two assessment questions; record it aloud.</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47 / 48</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P4-L11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00" b="1" dirty="0">
                <a:solidFill>
                  <a:srgbClr val="FFFFFF"/>
                </a:solidFill>
                <a:latin typeface="Cambria" pitchFamily="34" charset="0"/>
                <a:cs typeface="Amiri" pitchFamily="2" charset="-78"/>
              </a:rPr>
              <a:t>P4-L12 · P4 Review and Unit Assessment</a:t>
            </a:r>
            <a:endParaRPr lang="en-US" sz="24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المُرَاجَعَةُ وَتَقْيِيمُ الوَحْدَةِ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li-kay / an + verb in -A (naḥmiyA) · law + PAST → LA- · dummirat, never yudammarat · a city is “she” (kānat) — and answer each question with the trigger it invites, before you are asked.</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48</Slides>
  <Notes>48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48</vt:i4>
      </vt:variant>
    </vt:vector>
  </HeadingPairs>
  <TitlesOfParts>
    <vt:vector size="5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P4-L11 · Consolidation — Speaking Preparation and Full Subjunctive Mastery</dc:title>
  <dc:subject>PptxGenJS Presentation</dc:subject>
  <dc:creator>Al Madina Online School · Arabic Department</dc:creator>
  <cp:lastModifiedBy>Al Madina Online School · Arabic Department</cp:lastModifiedBy>
  <cp:revision>1</cp:revision>
  <dcterms:created xsi:type="dcterms:W3CDTF">2026-10-11T06:43:23Z</dcterms:created>
  <dcterms:modified xsi:type="dcterms:W3CDTF">2026-10-11T06:43:23Z</dcterms:modified>
</cp:coreProperties>
</file>