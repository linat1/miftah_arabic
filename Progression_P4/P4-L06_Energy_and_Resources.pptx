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P4-L06. The website lesson “Energy and Resources — Arab World Potential and Global Responsibility”: vocabulary, grammar rules and quiz, patterns, common mistakes, sorter, listening, reading, speaking prompts and model, writing task and model, differentiation, final check and the lesson mission. Picture match: website visual game “Energy and Resources — Arab World Potential and Global Responsibility”.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energy sentences, one for each trigger (website Core). Develop: add a Type 1 prospect and a Type 2 counterfactual. Stretch: a full 110–120-word analysis with all three triggers and a cited official.
• Accuracy: Arab states hold roughly 55–57% of the world’s proven oil reserves (OPEC / OAPEC figures vary by year), and Saudi Vision 2030 targets about half of electricity from renewables by 2030. The region has some of the strongest sunlight on Earth.
• Faith link (optional): «وَلَا تُفْسِدُوا فِي الأَرْضِ بَعْدَ إِصْلَاحِهَا» (al-Aʿrāf 7:56) — resources are a trust (amāna), to be used wisely for the next generation.
• Grammar links: li-kay (P4-L01) · volition verbs (P4-L03) · necessity (P4-L04) · both conditionals (P3-L05) · reported speech (P3-L06). Today: choose the RIGHT trigger.
• TEACHER-WRITTEN ITEMS: waṣl alif shown without a kasra; لِكَيْ always written with its sukūn; vowel fixes عَلَاوَةً → عِلَاوَةً and الأَحْفُورِيِّ → الأُحْفُورِيِّ; rule formulas, pattern tips, trigger-word glosses, writing prompt and connector checklist in transliteration; listening and reading question 5 answers shortened to fit; sorter headings in transliteration; game cards 1, 3 and 4 not used; the trigger, partner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P4-L05. Questions 4–5 retrieve the reporting passive and aʿlana anna (P4-L05) — today an official is cited with akkada anna.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triggers, three jobs — WHY (purpose), AIM (intention), MUST (necessity) — and after each,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نیت is shared (the niyya of every action!). Four false friends: Urdu طاقت = strength (Arabic طَاقَةٌ = energy) · رویت = sighting, as in رویتِ ہلال (Arabic رُؤْيَةُ 2030 = Vision 2030) · دخل = interference (Arabic دَخْلٌ = income) · احتیاط = caution (Arabic احْتِيَاطِيَّاتٌ = reserves).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Energy resources (website vocabulary (1 of 2)). Hear → Say → See → Use. Transliteration is printed for Core students (cover it for Develop/Stretch).
Energy resources: fossil (oil, gas) and renewable (sun, wind, hydrogen). صُفْرٌ كَرْبُونِيٌّ = net zero (literally “carbon zero”). The adjective after a feminine noun is feminine: طَاقَةٌ شَمْسِيَّةٌ.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Energy resources (website vocabulary (2 of 2)). Hear → Say → See → Use. Transliteration is printed for Core students (cover it for Develop/Stretch).
Energy resources: fossil (oil, gas) and renewable (sun, wind, hydrogen). صُفْرٌ كَرْبُونِيٌّ = net zero (literally “carbon zero”). The adjective after a feminine noun is feminine: طَاقَةٌ شَمْسِيَّةٌ.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Transition verbs (website vocabulary (1 of 2)). Hear → Say → See → Use. Transliteration is printed for Core students (cover it for Develop/Stretch).
Transition verbs: learn each WITH its partner — يَتَحَوَّلُ إِلَى · يَسْتَثْمِرُ فِي · يَعْتَمِدُ عَلَى · يَهْدِفُ إِلَى. يُنَوِّعُ and يُضَاعِفُ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Transition verbs (website vocabulary (2 of 2)). Hear → Say → See → Use. Transliteration is printed for Core students (cover it for Develop/Stretch).
FLEX: teach if time allows; otherwise these are on the website vocabulary tab for homework.
Transition verbs: learn each WITH its partner — يَتَحَوَّلُ إِلَى · يَسْتَثْمِرُ فِي · يَعْتَمِدُ عَلَى · يَهْدِفُ إِلَى. يُنَوِّعُ and يُضَاعِفُ take a direct object (no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triggers together (website vocabulary (1 of 2)). Hear → Say → See → Use. Transliteration is printed for Core students (cover it for Develop/Stretch).
FLEX: teach if time allows; otherwise these are on the website vocabulary tab for homework.
The three triggers together, plus the big ideas of energy policy: sovereign wealth funds, income diversification, a strategic vision, global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triggers together (website vocabulary (2 of 2)). Hear → Say → See → Use. Transliteration is printed for Core students (cover it for Develop/Stretch).
FLEX: teach if time allows; otherwise these are on the website vocabulary tab for homework.
The three triggers together, plus the big ideas of energy policy: sovereign wealth funds, income diversification, a strategic vision, global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1–3, the website table and teaching points 1–2 (“Three triggers, one energy argument” · “Which trigger, and why”). Row 4 is from the website reading; row 5 is from P4-L03.
Ask the question to choose the trigger: WHY are they doing it? → li-kay · What do they AIM at? → yahdifu ilā an · What MUST happen? → yanbaghī an.
Row 4: one li-kay can govern two verbs — both end in -a (tuwākiba … taḥmiya; weak -ī → -iya). Row 5: yahdifu ilā + a NOUN (maṣdar) needs no an and no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notes (“fixed with ilā / fī / ʿalā”; “object”), mistake 3, quiz 7 and mission rounds 7–8. Rows 3–4 are from the website reading; row 5 is teacher-built from the website vocabulary.
Rows 4–5 (blue/purple) take a direct object in -a: مَصَادِرَ · إِنْتَاجَ. Row 3: the maṣdar اعْتِمَادٌ keeps عَلَى, just like the verb.
The listening also uses يَتَحَوَّلُ نَحْوَ (towards) — accurate, but إِلَى is the default partner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4 (“Both conditionals”), the listening (cards 1–3) and mistake 2.
Card 3 is the Stretch sentence of the lesson: أَنَّ + a noun (المَمْلَكَةَ) AND, inside it, أَنْ + a verb (تُنْتِجَ). Both little words — two jobs.
Card 2: عِقْدَيْنِ = two decades (dual of عِقْدٌ, genitive after 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register tools from the website listening, reading and writing model.
Row 1: نَحْوَ + number = about, approximately. Row 2: مُفَارَقَةٌ = a paradox — the biggest fossil exporter with the strongest sunshine. Row 3: العَمُودُ الفِقْرِيُّ = the backbone (literally “the spinal column”).
Spelling: عِلَاوَةً (with kasra) = moreover — the website prints a fatḥa. The reading’s الوَقُودُ الأُحْفُورِيُّ (fossil fuel) takes a ḍamma on the hamza, as in the website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“Purpose (لِكَيْ), intention (يَهْدِفُ إِلَى أَنْ) and necessity (يَنْبَغِي أَنْ) drawn together in one argument, with both conditional types and reported speech.”
• Purpose: The goal of an action.
• Intention: A stated intention or aim.
• Necessity: A requirement.
• Both conditionals: A real prospect and a counterfactual.
Website common error: Using the indicative (تُحَقِّقُ) after any of the three triggers. لِكَيْ, يَهْدِفُ إِلَى أَنْ and يَنْبَغِي أَنْ all require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“The shift: yataḥawwalu — partner ILĀ. The aim: yahdifu ilā AN tuntijA. The reason: li-kay tuḥaqqiqA. The regret: law … LA-kānat. What must happen? yanbaghī AN tuwāṣilA. Three triggers — three jobs — one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Energy and Resources — Arab World Potential and Global Responsibility”)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give each card a trigger: تَسْتَثْمِرُ الدُّوَلُ فِي الشَّمْسِ لِكَيْ تُقَلِّلَ التَّلَوُّثَ · تَهْدِفُ الدُّوَلُ إِلَى أَنْ تُقَلِّلَ اعْتِمَادَهَا عَلَى النِّفْطِ · يَنْبَغِي أَنْ نَسْتَعْمِلَ الطَّاقَةَ النَّظِيفَةَ.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Energy and Resources — Arab World Potential and Global Responsibility”)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give each card a trigger: تَسْتَثْمِرُ الدُّوَلُ فِي الشَّمْسِ لِكَيْ تُقَلِّلَ التَّلَوُّثَ · تَهْدِفُ الدُّوَلُ إِلَى أَنْ تُقَلِّلَ اعْتِمَادَهَا عَلَى النِّفْطِ · يَنْبَغِي أَنْ نَسْتَعْمِلَ الطَّاقَةَ النَّظِيفَةَ.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an energy argument from a purpose, an intention and a necessity.” Website feedback: any three different combinations work.
Core: read row 1 across. Develop: find the one line with no trigger (column 3 row 3: a Type 2 regret with an impersonal passive, اسْتُثْمِرَ). Stretch: add “akkada l-masʾūlūna anna …” in front of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 intention and necessity cards start with an — put the right trigger in front before you read: تَهْدِفُ الرُّؤْيَةُ إِلَى … · يَنْبَغِي … . Ask: AIM or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 intention and necessity cards start with an — put the right trigger in front before you read: تَهْدِفُ الرُّؤْيَةُ إِلَى … · يَنْبَغِي … . Ask: AIM or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label each trigger you hear: purpose, intention or necessity.
Listen 1: just listen. Listen 2: note answers. Then chat the letters.
Support: after the second listening, show the read-along slide (Arabic + English, line by line) for Core students.
SCRIPT (read aloud):
تَمْتَلِكُ الدُّوَلُ العَرَبِيَّةُ نَحْوَ سَبْعَةٍ وَخَمْسِينَ بِالمِئَةِ مِنَ الاحْتِيَاطِيَّاتِ النِّفْطِيَّةِ المُؤَكَّدَةِ عَالَمِيًّا. غَيْرَ أَنَّ كَثِيرًا مِنْهَا يَتَحَوَّلُ الآنَ نَحْوَ الطَّاقَةِ المُتَجَدِّدَةِ. وَأَكَّدَ المَسْؤُولُونَ أَنَّ المَمْلَكَةَ تَهْدِفُ إِلَى أَنْ تُنْتِجَ نِصْفَ احْتِيَاجَاتِهَا الكَهْرَبَائِيَّةِ مِنْ مَصَادِرَ مُتَجَدِّدَةٍ. تَسْتَثْمِرُ دُوَلُ الخَلِيجِ فِي الطَّاقَةِ الشَّمْسِيَّةِ لِكَيْ تُحَقِّقَ صُفْرًا كَرْبُونِيًّا. وَيَنْبَغِي أَنْ تُوَاصِلَ الحُكُومَاتُ اسْتِثْمَارَاتِهَا، وَأَنْ يُشَارِكَ القِطَاعُ الخَاصُّ فِي التَّمْوِيلِ. إِذَا أَكْمَلَ الخَلِيجُ تَحَوُّلَهُ الطَّاقَوِيَّ، سَيُصْبِحُ رَائِدًا عَالَمِيًّا فِي الطَّاقَةِ النَّظِيفَةِ. وَلَوْ بَدَأَ هٰذَا التَّحَوُّلُ قَبْلَ عِقْدَيْنِ، لَكَانَتِ الانْبِعَاثَاتُ العَالَمِيَّةُ اليَوْمَ أَقَلَّ.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الضَّرُورِيُّ لِلنَّجَاحِ؟ (Necessity)
B: يَنْبَغِي أَنْ تُوَاصِلَ الحُكُومَاتُ اسْتِثْمَارَاتِهَا، وَلَوْ بَدَأْنَا مُبَكِّرًا لَكُنَّا رُوَّادًا. (يَنْبَغِي أَنْ + a Type 2)
Website prompts and model. Pair task: “minister and journalist” — the journalist asks WHY? / WHAT AIM? / WHAT MUST?; the minister answers with the matching trigger. Swap. Partner checks every -a.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three energy sentences, one for each subjunctive trigger. · Develop — Add a Type 1 prospect and a Type 2 counterfactual. · Stretch — Write a full analysis with all three triggers and a reported-speech citation.
Website writing task (Stretch): Write one hundred and ten to one hundred and twenty words analysing the Arab world’s energy transition. Use all three subjunctive triggers — li-kay (purpose), yahdifu ilā an (intention), yanbaghī an (necessity) — both conditional types, reported speech and a formal connector.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نَحْوَ … بِالمِئَةِ · العَمُودَ الفِقْرِيَّ · غَيْرَ أَنَّ · يَتَحَوَّلُ … نَحْوَ · أَكَّدَ … أَنَّ … تَهْدِفُ إِلَى أَنْ تُنْتِجَ · لِكَيْ تُحَقِّقَ · إِذَا أَكْمَلَ … سَيُصْبِحُ · لَوْ بَدَأَ … لَكَانَتِ · عِلَاوَةً عَلَى ذٰلِكَ · يَنْبَغِي أَنْ تُوَاصِلَ … وَأَنْ يُشَارِكَ · لِكَيْ يَنْجَحَ.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(P4-L07 · Heritage Conservation — Protecting the Built and Natural Past) will spend class time USING this language, so students prepare it tonight — short, simple, easy to access (school guidance: “Simple, Short, Interesting, Relevant, Easy to access”). The five words come from the website P4-L07 vocabulary (heritage conservation).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Energy and Resources — Arab World Potential and Global Responsibility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650" b="1" dirty="0">
                <a:solidFill>
                  <a:srgbClr val="D4AF37"/>
                </a:solidFill>
                <a:latin typeface="Amiri" pitchFamily="2" charset="-78"/>
                <a:cs typeface="Amiri" pitchFamily="2" charset="-78"/>
              </a:rPr>
              <a:t>الطَّاقَةُ وَالمَوَارِدُ — إِمْكَانَاتُ العَالَمِ العَرَبِيِّ وَالمَسْؤُولِيَّةُ العَالَمِيَّةُ</a:t>
            </a:r>
            <a:endParaRPr lang="ar-SA" sz="26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Analyse the Arab world’s energy transition with the whole subjunctive system in one argument — li-kay (purpose), yahdifu ilā an (intention), yanbaghī an (necessity), each + a verb in -a — plus verbs with fixed partners, both conditionals and a cited official.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P4-L06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950" dirty="0">
                <a:solidFill>
                  <a:srgbClr val="1F2A37"/>
                </a:solidFill>
                <a:latin typeface="Calibri" pitchFamily="34" charset="0"/>
                <a:cs typeface="Amiri" pitchFamily="2" charset="-78"/>
              </a:rPr>
              <a:t>Purpose, intention and necessity in one argument, verbs with fixed partners, prospect / counterfactual / citation, energy-policy register.</a:t>
            </a:r>
            <a:endParaRPr lang="en-US" sz="9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energy pictures, build an energy argument, sort purpose / intention / necessity.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احْتِيَاطِيَّاتُ النِّفْطِ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prices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reserves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pollution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طَاقَةٌ مُتَجَدِّدَةٌ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renewable energy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nuclear energy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energy saving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تَنْوِيعُ الدَّخْلِ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income tax</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low income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income diversification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مِئَاتَ المَنَازِلِ.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مِئَاتِ المَنَازِلِ.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مِئَاتُ المَنَازِلِ.</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أَعْلَنَ الوَزِيرُ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الإِغَاثَةَ وَصَلَتْ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احْتِيَاطِيَّاتُ النِّفْطِ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oil prices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oil reserves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oil pollution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طَاقَةٌ مُتَجَدِّدَةٌ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renewable energy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nuclear energy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energy saving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تَنْوِيعُ الدَّخْلِ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income tax</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low income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income diversification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reporting passive.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دُمِّرَتْ مِئَاتَ المَنَازِلِ.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دُمِّرَتْ مِئَاتِ المَنَازِلِ.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دُمِّرَتْ مِئَاتُ المَنَازِلِ.</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P4-L05: the passive subject stays nominative.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أَعْلَنَ الوَزِيرُ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الإِغَاثَةَ وَصَلَتْ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P4-L05: aʿlana + anna + a noun.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150" b="1" dirty="0">
                <a:solidFill>
                  <a:srgbClr val="1F2A37"/>
                </a:solidFill>
                <a:latin typeface="Calibri" pitchFamily="34" charset="0"/>
                <a:cs typeface="Amiri" pitchFamily="2" charset="-78"/>
              </a:rPr>
              <a:t>Three triggers, three jobs — WHY (purpose), AIM (intention), MUST (necessity) — and after each, the verb ends in -a.</a:t>
            </a:r>
            <a:endParaRPr lang="en-US" sz="11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لِكَيْ </a:t>
            </a:r>
            <a:pPr rtl="1" algn="ctr" indent="0" marL="0">
              <a:lnSpc>
                <a:spcPct val="120000"/>
              </a:lnSpc>
              <a:buNone/>
            </a:pPr>
            <a:r>
              <a:rPr lang="ar-SA" altLang="en-US" sz="1950" b="1" dirty="0">
                <a:solidFill>
                  <a:srgbClr val="D6336C"/>
                </a:solidFill>
                <a:latin typeface="Amiri" pitchFamily="2" charset="-78"/>
                <a:cs typeface="Amiri" pitchFamily="2" charset="-78"/>
              </a:rPr>
              <a:t>تُحَقِّقَ</a:t>
            </a:r>
            <a:pPr rtl="1" algn="ctr" indent="0" marL="0">
              <a:lnSpc>
                <a:spcPct val="120000"/>
              </a:lnSpc>
              <a:buNone/>
            </a:pPr>
            <a:r>
              <a:rPr lang="ar-SA" altLang="en-US" sz="1950" b="1" dirty="0">
                <a:solidFill>
                  <a:srgbClr val="1B3B6F"/>
                </a:solidFill>
                <a:latin typeface="Amiri" pitchFamily="2" charset="-78"/>
                <a:cs typeface="Amiri" pitchFamily="2" charset="-78"/>
              </a:rPr>
              <a:t> · يَهْدِفُ إِلَى أَنْ </a:t>
            </a:r>
            <a:pPr rtl="1" algn="ctr" indent="0" marL="0">
              <a:lnSpc>
                <a:spcPct val="120000"/>
              </a:lnSpc>
              <a:buNone/>
            </a:pPr>
            <a:r>
              <a:rPr lang="ar-SA" altLang="en-US" sz="1950" b="1" dirty="0">
                <a:solidFill>
                  <a:srgbClr val="1D5FBF"/>
                </a:solidFill>
                <a:latin typeface="Amiri" pitchFamily="2" charset="-78"/>
                <a:cs typeface="Amiri" pitchFamily="2" charset="-78"/>
              </a:rPr>
              <a:t>تُنَوِّعَ</a:t>
            </a:r>
            <a:pPr rtl="1" algn="ctr" indent="0" marL="0">
              <a:lnSpc>
                <a:spcPct val="120000"/>
              </a:lnSpc>
              <a:buNone/>
            </a:pPr>
            <a:r>
              <a:rPr lang="ar-SA" altLang="en-US" sz="1950" b="1" dirty="0">
                <a:solidFill>
                  <a:srgbClr val="1B3B6F"/>
                </a:solidFill>
                <a:latin typeface="Amiri" pitchFamily="2" charset="-78"/>
                <a:cs typeface="Amiri" pitchFamily="2" charset="-78"/>
              </a:rPr>
              <a:t> · يَنْبَغِي أَنْ </a:t>
            </a:r>
            <a:pPr rtl="1" algn="ctr" indent="0" marL="0">
              <a:lnSpc>
                <a:spcPct val="120000"/>
              </a:lnSpc>
              <a:buNone/>
            </a:pPr>
            <a:r>
              <a:rPr lang="ar-SA" altLang="en-US" sz="1950" b="1" dirty="0">
                <a:solidFill>
                  <a:srgbClr val="0E7C86"/>
                </a:solidFill>
                <a:latin typeface="Amiri" pitchFamily="2" charset="-78"/>
                <a:cs typeface="Amiri" pitchFamily="2" charset="-78"/>
              </a:rPr>
              <a:t>تَسْتَثْمِرَ</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energy resources and the transition to renewables.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li-kay (purpose), yahdifu ilā an (intention) and yanbaghī an (necessity).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right trigger within one argument.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an energy-transition analysis using all P4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energy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li-kay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yahdifu ilā an and yanbaghī 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the right trigger: purpose, intention or necessity.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prospect, a counterfactual and a cited official.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an energy-transition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Energy resources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Transition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three triggers together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‎طاقت‎ </a:t>
            </a:r>
            <a:pPr indent="0" marL="0">
              <a:buNone/>
            </a:pPr>
            <a:r>
              <a:rPr lang="en-US" sz="950" b="1" dirty="0">
                <a:solidFill>
                  <a:srgbClr val="2E8B57"/>
                </a:solidFill>
                <a:latin typeface="Calibri" pitchFamily="34" charset="0"/>
                <a:cs typeface="Amiri" pitchFamily="2" charset="-78"/>
              </a:rPr>
              <a:t> tāqat · Arabic: energy · Urdu: strength</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‎نیت‎ </a:t>
            </a:r>
            <a:pPr indent="0" marL="0">
              <a:buNone/>
            </a:pPr>
            <a:r>
              <a:rPr lang="en-US" sz="950" b="1" dirty="0">
                <a:solidFill>
                  <a:srgbClr val="2E8B57"/>
                </a:solidFill>
                <a:latin typeface="Calibri" pitchFamily="34" charset="0"/>
                <a:cs typeface="Amiri" pitchFamily="2" charset="-78"/>
              </a:rPr>
              <a:t> niyyat · an intention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رُؤْيَةٌ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‎رویت‎ </a:t>
            </a:r>
            <a:pPr indent="0" marL="0">
              <a:buNone/>
            </a:pPr>
            <a:r>
              <a:rPr lang="en-US" sz="950" b="1" dirty="0">
                <a:solidFill>
                  <a:srgbClr val="2E8B57"/>
                </a:solidFill>
                <a:latin typeface="Calibri" pitchFamily="34" charset="0"/>
                <a:cs typeface="Amiri" pitchFamily="2" charset="-78"/>
              </a:rPr>
              <a:t> ruʾyat · Arabic: a vision (plan) · Urdu: a sighting</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دَخْلٌ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‎دخل‎ </a:t>
            </a:r>
            <a:pPr indent="0" marL="0">
              <a:buNone/>
            </a:pPr>
            <a:r>
              <a:rPr lang="en-US" sz="950" b="1" dirty="0">
                <a:solidFill>
                  <a:srgbClr val="2E8B57"/>
                </a:solidFill>
                <a:latin typeface="Calibri" pitchFamily="34" charset="0"/>
                <a:cs typeface="Amiri" pitchFamily="2" charset="-78"/>
              </a:rPr>
              <a:t> dakhl · Arabic: income · Urdu: interference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احْتِيَاطٌ</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‎احتیاط‎ </a:t>
            </a:r>
            <a:pPr indent="0" marL="0">
              <a:buNone/>
            </a:pPr>
            <a:r>
              <a:rPr lang="en-US" sz="950" b="1" dirty="0">
                <a:solidFill>
                  <a:srgbClr val="2E8B57"/>
                </a:solidFill>
                <a:latin typeface="Calibri" pitchFamily="34" charset="0"/>
                <a:cs typeface="Amiri" pitchFamily="2" charset="-78"/>
              </a:rPr>
              <a:t> ehtiyāt · Arabic: reserve, precaution · Urdu: caution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Energy resources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احْتِيَاطِيَّاتُ النِّفْطِ</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oil reserves</a:t>
            </a:r>
            <a:endParaRPr lang="en-US" sz="1350" dirty="0"/>
          </a:p>
          <a:p>
            <a:pPr indent="0" marL="0">
              <a:buNone/>
            </a:pPr>
            <a:r>
              <a:rPr lang="en-US" sz="1100" i="1" dirty="0">
                <a:solidFill>
                  <a:srgbClr val="5A6472"/>
                </a:solidFill>
                <a:latin typeface="Calibri" pitchFamily="34" charset="0"/>
                <a:cs typeface="Amiri" pitchFamily="2" charset="-78"/>
              </a:rPr>
              <a:t>aḥ-ti-yā-ṭiy-yā-tu an-nif-ṭi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إِنْتَاجُ الغَازِ الطَّبِيعِيِّ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natural gas production</a:t>
            </a:r>
            <a:endParaRPr lang="en-US" sz="1350" dirty="0"/>
          </a:p>
          <a:p>
            <a:pPr indent="0" marL="0">
              <a:buNone/>
            </a:pPr>
            <a:r>
              <a:rPr lang="en-US" sz="1100" i="1" dirty="0">
                <a:solidFill>
                  <a:srgbClr val="5A6472"/>
                </a:solidFill>
                <a:latin typeface="Calibri" pitchFamily="34" charset="0"/>
                <a:cs typeface="Amiri" pitchFamily="2" charset="-78"/>
              </a:rPr>
              <a:t>in-tā-ju al-ghā-zi aṭ-ṭa-bī-ʿiy-yi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طَاقَةٌ شَمْسِيَّةٌ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solar energy</a:t>
            </a:r>
            <a:endParaRPr lang="en-US" sz="1350" dirty="0"/>
          </a:p>
          <a:p>
            <a:pPr indent="0" marL="0">
              <a:buNone/>
            </a:pPr>
            <a:r>
              <a:rPr lang="en-US" sz="1100" i="1" dirty="0">
                <a:solidFill>
                  <a:srgbClr val="5A6472"/>
                </a:solidFill>
                <a:latin typeface="Calibri" pitchFamily="34" charset="0"/>
                <a:cs typeface="Amiri" pitchFamily="2" charset="-78"/>
              </a:rPr>
              <a:t>ṭā-qa-tun sham-siy-ya-tun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طَاقَةُ الرِّيَاحِ</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 energy</a:t>
            </a:r>
            <a:endParaRPr lang="en-US" sz="1350" dirty="0"/>
          </a:p>
          <a:p>
            <a:pPr indent="0" marL="0">
              <a:buNone/>
            </a:pPr>
            <a:r>
              <a:rPr lang="en-US" sz="1100" i="1" dirty="0">
                <a:solidFill>
                  <a:srgbClr val="5A6472"/>
                </a:solidFill>
                <a:latin typeface="Calibri" pitchFamily="34" charset="0"/>
                <a:cs typeface="Amiri" pitchFamily="2" charset="-78"/>
              </a:rPr>
              <a:t>ṭā-qa-tu ar-ri-yā-ḥi</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Energy resources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طَاقَةٌ هِيدْرُوجِينِيَّةٌ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hydrogen energy</a:t>
            </a:r>
            <a:endParaRPr lang="en-US" sz="1350" dirty="0"/>
          </a:p>
          <a:p>
            <a:pPr indent="0" marL="0">
              <a:buNone/>
            </a:pPr>
            <a:r>
              <a:rPr lang="en-US" sz="1100" i="1" dirty="0">
                <a:solidFill>
                  <a:srgbClr val="5A6472"/>
                </a:solidFill>
                <a:latin typeface="Calibri" pitchFamily="34" charset="0"/>
                <a:cs typeface="Amiri" pitchFamily="2" charset="-78"/>
              </a:rPr>
              <a:t>ṭā-qa-tun hīd-rū-jī-niy-ya-tun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طَاقَةٌ مُتَجَدِّدَةٌ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renewable energy</a:t>
            </a:r>
            <a:endParaRPr lang="en-US" sz="1350" dirty="0"/>
          </a:p>
          <a:p>
            <a:pPr indent="0" marL="0">
              <a:buNone/>
            </a:pPr>
            <a:r>
              <a:rPr lang="en-US" sz="1100" i="1" dirty="0">
                <a:solidFill>
                  <a:srgbClr val="5A6472"/>
                </a:solidFill>
                <a:latin typeface="Calibri" pitchFamily="34" charset="0"/>
                <a:cs typeface="Amiri" pitchFamily="2" charset="-78"/>
              </a:rPr>
              <a:t>ṭā-qa-tun mu-ta-jad-di-da-tun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صُفْرٌ كَرْبُونِيٌّ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net-zero carbon</a:t>
            </a:r>
            <a:endParaRPr lang="en-US" sz="1350" dirty="0"/>
          </a:p>
          <a:p>
            <a:pPr indent="0" marL="0">
              <a:buNone/>
            </a:pPr>
            <a:r>
              <a:rPr lang="en-US" sz="1100" i="1" dirty="0">
                <a:solidFill>
                  <a:srgbClr val="5A6472"/>
                </a:solidFill>
                <a:latin typeface="Calibri" pitchFamily="34" charset="0"/>
                <a:cs typeface="Amiri" pitchFamily="2" charset="-78"/>
              </a:rPr>
              <a:t>ṣuf-run kar-bū-niy-yun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الاقْتِصَادُ الأَخْضَرُ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green economy</a:t>
            </a:r>
            <a:endParaRPr lang="en-US" sz="1350" dirty="0"/>
          </a:p>
          <a:p>
            <a:pPr indent="0" marL="0">
              <a:buNone/>
            </a:pPr>
            <a:r>
              <a:rPr lang="en-US" sz="1100" i="1" dirty="0">
                <a:solidFill>
                  <a:srgbClr val="5A6472"/>
                </a:solidFill>
                <a:latin typeface="Calibri" pitchFamily="34" charset="0"/>
                <a:cs typeface="Amiri" pitchFamily="2" charset="-78"/>
              </a:rPr>
              <a:t>alq-ti-ṣā-du al-akh-ḍa-ru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Transition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يَتَحَوَّلُ إِلَى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transitions to</a:t>
            </a:r>
            <a:endParaRPr lang="en-US" sz="1350" dirty="0"/>
          </a:p>
          <a:p>
            <a:pPr indent="0" marL="0">
              <a:buNone/>
            </a:pPr>
            <a:r>
              <a:rPr lang="en-US" sz="1100" i="1" dirty="0">
                <a:solidFill>
                  <a:srgbClr val="5A6472"/>
                </a:solidFill>
                <a:latin typeface="Calibri" pitchFamily="34" charset="0"/>
                <a:cs typeface="Amiri" pitchFamily="2" charset="-78"/>
              </a:rPr>
              <a:t>ya-ta-ḥaw-wa-lu i-lā</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تَتَحَوَّلُ إِلَى</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يُنَوِّعُ</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diversifies</a:t>
            </a:r>
            <a:endParaRPr lang="en-US" sz="1350" dirty="0"/>
          </a:p>
          <a:p>
            <a:pPr indent="0" marL="0">
              <a:buNone/>
            </a:pPr>
            <a:r>
              <a:rPr lang="en-US" sz="1100" i="1" dirty="0">
                <a:solidFill>
                  <a:srgbClr val="5A6472"/>
                </a:solidFill>
                <a:latin typeface="Calibri" pitchFamily="34" charset="0"/>
                <a:cs typeface="Amiri" pitchFamily="2" charset="-78"/>
              </a:rPr>
              <a:t>yu-naw-wi-ʿu</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تُنَوِّعُ</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Shape 3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يَسْتَثْمِرُ فِي</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invests in</a:t>
            </a:r>
            <a:endParaRPr lang="en-US" sz="1350" dirty="0"/>
          </a:p>
          <a:p>
            <a:pPr indent="0" marL="0">
              <a:buNone/>
            </a:pPr>
            <a:r>
              <a:rPr lang="en-US" sz="1100" i="1" dirty="0">
                <a:solidFill>
                  <a:srgbClr val="5A6472"/>
                </a:solidFill>
                <a:latin typeface="Calibri" pitchFamily="34" charset="0"/>
                <a:cs typeface="Amiri" pitchFamily="2" charset="-78"/>
              </a:rPr>
              <a:t>yas-tath-mi-ru fī</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8" name="Text 4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تَسْتَثْمِرُ فِي</a:t>
            </a:r>
            <a:endParaRPr lang="ar-SA" sz="135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2" name="Shape 4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يُضَاعِفُ</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doubles</a:t>
            </a:r>
            <a:endParaRPr lang="en-US" sz="1350" dirty="0"/>
          </a:p>
          <a:p>
            <a:pPr indent="0" marL="0">
              <a:buNone/>
            </a:pPr>
            <a:r>
              <a:rPr lang="en-US" sz="1100" i="1" dirty="0">
                <a:solidFill>
                  <a:srgbClr val="5A6472"/>
                </a:solidFill>
                <a:latin typeface="Calibri" pitchFamily="34" charset="0"/>
                <a:cs typeface="Amiri" pitchFamily="2" charset="-78"/>
              </a:rPr>
              <a:t>yu-ḍā-ʿi-fu</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8" name="Text 5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تُضَاعِفُ</a:t>
            </a:r>
            <a:endParaRPr lang="ar-SA" sz="13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Transition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يَهْدِفُ إِلَى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aims at</a:t>
            </a:r>
            <a:endParaRPr lang="en-US" sz="1350" dirty="0"/>
          </a:p>
          <a:p>
            <a:pPr indent="0" marL="0">
              <a:buNone/>
            </a:pPr>
            <a:r>
              <a:rPr lang="en-US" sz="1100" i="1" dirty="0">
                <a:solidFill>
                  <a:srgbClr val="5A6472"/>
                </a:solidFill>
                <a:latin typeface="Calibri" pitchFamily="34" charset="0"/>
                <a:cs typeface="Amiri" pitchFamily="2" charset="-78"/>
              </a:rPr>
              <a:t>yah-di-fu i-lā</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تَهْدِفُ إِلَى</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يَعْتَمِدُ عَلَى</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تَعْتَمِدُ عَلَى</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تَحَوُّلٌ طَاقَوِيٌّ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energy transition</a:t>
            </a:r>
            <a:endParaRPr lang="en-US" sz="1350" dirty="0"/>
          </a:p>
          <a:p>
            <a:pPr indent="0" marL="0">
              <a:buNone/>
            </a:pPr>
            <a:r>
              <a:rPr lang="en-US" sz="1100" i="1" dirty="0">
                <a:solidFill>
                  <a:srgbClr val="5A6472"/>
                </a:solidFill>
                <a:latin typeface="Calibri" pitchFamily="34" charset="0"/>
                <a:cs typeface="Amiri" pitchFamily="2" charset="-78"/>
              </a:rPr>
              <a:t>ta-ḥaw-wu-lun ṭā-qa-wiy-yun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تَحَوُّلَاتٌ طَاقَوِيَّةٌ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اسْتِثْمَارٌ أَخْضَرُ</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green investment</a:t>
            </a:r>
            <a:endParaRPr lang="en-US" sz="1350" dirty="0"/>
          </a:p>
          <a:p>
            <a:pPr indent="0" marL="0">
              <a:buNone/>
            </a:pPr>
            <a:r>
              <a:rPr lang="en-US" sz="1100" i="1" dirty="0">
                <a:solidFill>
                  <a:srgbClr val="5A6472"/>
                </a:solidFill>
                <a:latin typeface="Calibri" pitchFamily="34" charset="0"/>
                <a:cs typeface="Amiri" pitchFamily="2" charset="-78"/>
              </a:rPr>
              <a:t>as-tith-mā-run akh-ḍa-ru</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three triggers together (1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غَرَضٌ: لِكَيْ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li-kay</a:t>
            </a:r>
            <a:endParaRPr lang="en-US" sz="1350" dirty="0"/>
          </a:p>
          <a:p>
            <a:pPr indent="0" marL="0">
              <a:buNone/>
            </a:pPr>
            <a:r>
              <a:rPr lang="en-US" sz="1100" i="1" dirty="0">
                <a:solidFill>
                  <a:srgbClr val="5A6472"/>
                </a:solidFill>
                <a:latin typeface="Calibri" pitchFamily="34" charset="0"/>
                <a:cs typeface="Amiri" pitchFamily="2" charset="-78"/>
              </a:rPr>
              <a:t>gha-ra-ḍun-: li-kay</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نِيَّةٌ: يَهْدِفُ إِلَى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intention: yahdifu ilā an</a:t>
            </a:r>
            <a:endParaRPr lang="en-US" sz="1350" dirty="0"/>
          </a:p>
          <a:p>
            <a:pPr indent="0" marL="0">
              <a:buNone/>
            </a:pPr>
            <a:r>
              <a:rPr lang="en-US" sz="1100" i="1" dirty="0">
                <a:solidFill>
                  <a:srgbClr val="5A6472"/>
                </a:solidFill>
                <a:latin typeface="Calibri" pitchFamily="34" charset="0"/>
                <a:cs typeface="Amiri" pitchFamily="2" charset="-78"/>
              </a:rPr>
              <a:t>niy-ya-tun-: yah-di-fu i-lā 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ضَرُورَةٌ: يَنْبَغِي 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necessity: yanbaghī an</a:t>
            </a:r>
            <a:endParaRPr lang="en-US" sz="1350" dirty="0"/>
          </a:p>
          <a:p>
            <a:pPr indent="0" marL="0">
              <a:buNone/>
            </a:pPr>
            <a:r>
              <a:rPr lang="en-US" sz="1100" i="1" dirty="0">
                <a:solidFill>
                  <a:srgbClr val="5A6472"/>
                </a:solidFill>
                <a:latin typeface="Calibri" pitchFamily="34" charset="0"/>
                <a:cs typeface="Amiri" pitchFamily="2" charset="-78"/>
              </a:rPr>
              <a:t>ḍa-rū-ra-tun-: yan-ba-ghī 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صَنْدُوقُ الثَّرْوَةِ السِّيَادِيُّ</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sovereign wealth fund</a:t>
            </a:r>
            <a:endParaRPr lang="en-US" sz="1350" dirty="0"/>
          </a:p>
          <a:p>
            <a:pPr indent="0" marL="0">
              <a:buNone/>
            </a:pPr>
            <a:r>
              <a:rPr lang="en-US" sz="1100" i="1" dirty="0">
                <a:solidFill>
                  <a:srgbClr val="5A6472"/>
                </a:solidFill>
                <a:latin typeface="Calibri" pitchFamily="34" charset="0"/>
                <a:cs typeface="Amiri" pitchFamily="2" charset="-78"/>
              </a:rPr>
              <a:t>ṣan-dū-qu ath-thar-wa-ti as-si-yā-diy-yu</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صَنَادِيقُ الثَّرْوَةِ السِّيَادِيَّةُ</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The three triggers together (2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تَنْوِيعُ الدَّخْلِ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income diversification</a:t>
            </a:r>
            <a:endParaRPr lang="en-US" sz="1350" dirty="0"/>
          </a:p>
          <a:p>
            <a:pPr indent="0" marL="0">
              <a:buNone/>
            </a:pPr>
            <a:r>
              <a:rPr lang="en-US" sz="1100" i="1" dirty="0">
                <a:solidFill>
                  <a:srgbClr val="5A6472"/>
                </a:solidFill>
                <a:latin typeface="Calibri" pitchFamily="34" charset="0"/>
                <a:cs typeface="Amiri" pitchFamily="2" charset="-78"/>
              </a:rPr>
              <a:t>tan-wī-ʿu ad-dakh-li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رُؤْيَةٌ اسْتِرَاتِيجِيَّةٌ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strategic vision</a:t>
            </a:r>
            <a:endParaRPr lang="en-US" sz="1350" dirty="0"/>
          </a:p>
          <a:p>
            <a:pPr indent="0" marL="0">
              <a:buNone/>
            </a:pPr>
            <a:r>
              <a:rPr lang="en-US" sz="1100" i="1" dirty="0">
                <a:solidFill>
                  <a:srgbClr val="5A6472"/>
                </a:solidFill>
                <a:latin typeface="Calibri" pitchFamily="34" charset="0"/>
                <a:cs typeface="Amiri" pitchFamily="2" charset="-78"/>
              </a:rPr>
              <a:t>ruʾ-ya-tun as-ti-rā-tī-jiy-ya-tun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رُؤًى اسْتِرَاتِيجِيَّةٌ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المَنْصُوبُ</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المَسْؤُولِيَّةُ العَالَمِيَّةُ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global responsibility</a:t>
            </a:r>
            <a:endParaRPr lang="en-US" sz="1350" dirty="0"/>
          </a:p>
          <a:p>
            <a:pPr indent="0" marL="0">
              <a:buNone/>
            </a:pPr>
            <a:r>
              <a:rPr lang="en-US" sz="1100" i="1" dirty="0">
                <a:solidFill>
                  <a:srgbClr val="5A6472"/>
                </a:solidFill>
                <a:latin typeface="Calibri" pitchFamily="34" charset="0"/>
                <a:cs typeface="Amiri" pitchFamily="2" charset="-78"/>
              </a:rPr>
              <a:t>al-mas-ʾū-liy-ya-tu al-ʿā-la-miy-ya-tu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THREE TRIGGERS, THREE JOBS (WEBSITE RULES 1–3, TEACHING POINTS 1–2 AND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Aim? Must?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الغَرَضُ · النِّيَّةُ · الضَّرُورَةُ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3708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a:t>
            </a:r>
            <a:endParaRPr lang="en-US" sz="1100" dirty="0"/>
          </a:p>
        </p:txBody>
      </p:sp>
      <p:sp>
        <p:nvSpPr>
          <p:cNvPr id="18" name="Text 15"/>
          <p:cNvSpPr txBox="1"/>
          <p:nvPr/>
        </p:nvSpPr>
        <p:spPr>
          <a:xfrm>
            <a:off x="28163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852160" y="2267712"/>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تَسْتَثْمِرُ دُوَلُ الخَلِيجِ فِي الشَّمْسِ لِكَيْ </a:t>
            </a:r>
            <a:pPr rtl="1" algn="ctr" indent="0" marL="0">
              <a:buNone/>
            </a:pPr>
            <a:r>
              <a:rPr lang="ar-SA" altLang="en-US" sz="1700" b="1" dirty="0">
                <a:solidFill>
                  <a:srgbClr val="D6336C"/>
                </a:solidFill>
                <a:latin typeface="Amiri" pitchFamily="2" charset="-78"/>
                <a:cs typeface="Amiri" pitchFamily="2" charset="-78"/>
              </a:rPr>
              <a:t>تُحَقِّقَ</a:t>
            </a:r>
            <a:pPr rtl="1" algn="ctr" indent="0" marL="0">
              <a:buNone/>
            </a:pPr>
            <a:r>
              <a:rPr lang="ar-SA" altLang="en-US" sz="1700" b="1" dirty="0">
                <a:solidFill>
                  <a:srgbClr val="1B3B6F"/>
                </a:solidFill>
                <a:latin typeface="Amiri" pitchFamily="2" charset="-78"/>
                <a:cs typeface="Amiri" pitchFamily="2" charset="-78"/>
              </a:rPr>
              <a:t> صُفْرًا كَرْبُونِيًّا.</a:t>
            </a:r>
            <a:endParaRPr lang="ar-SA" sz="1700" dirty="0"/>
          </a:p>
        </p:txBody>
      </p:sp>
      <p:sp>
        <p:nvSpPr>
          <p:cNvPr id="22" name="Text 19"/>
          <p:cNvSpPr txBox="1"/>
          <p:nvPr/>
        </p:nvSpPr>
        <p:spPr>
          <a:xfrm>
            <a:off x="440740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23" name="Text 20"/>
          <p:cNvSpPr txBox="1"/>
          <p:nvPr/>
        </p:nvSpPr>
        <p:spPr>
          <a:xfrm>
            <a:off x="285292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4" name="Text 21"/>
          <p:cNvSpPr txBox="1"/>
          <p:nvPr/>
        </p:nvSpPr>
        <p:spPr>
          <a:xfrm>
            <a:off x="548640" y="2267712"/>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لِكَيْ</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852160" y="3004718"/>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تَهْدِفُ الرُّؤْيَةُ إِلَى أَنْ </a:t>
            </a:r>
            <a:pPr rtl="1" algn="ctr" indent="0" marL="0">
              <a:buNone/>
            </a:pPr>
            <a:r>
              <a:rPr lang="ar-SA" altLang="en-US" sz="1700" b="1" dirty="0">
                <a:solidFill>
                  <a:srgbClr val="1D5FBF"/>
                </a:solidFill>
                <a:latin typeface="Amiri" pitchFamily="2" charset="-78"/>
                <a:cs typeface="Amiri" pitchFamily="2" charset="-78"/>
              </a:rPr>
              <a:t>تُنَوِّعَ</a:t>
            </a:r>
            <a:pPr rtl="1" algn="ctr" indent="0" marL="0">
              <a:buNone/>
            </a:pPr>
            <a:r>
              <a:rPr lang="ar-SA" altLang="en-US" sz="1700" b="1" dirty="0">
                <a:solidFill>
                  <a:srgbClr val="1B3B6F"/>
                </a:solidFill>
                <a:latin typeface="Amiri" pitchFamily="2" charset="-78"/>
                <a:cs typeface="Amiri" pitchFamily="2" charset="-78"/>
              </a:rPr>
              <a:t> المَمْلَكَةُ اقْتِصَادَهَا.</a:t>
            </a:r>
            <a:endParaRPr lang="ar-SA" sz="1700" dirty="0"/>
          </a:p>
        </p:txBody>
      </p:sp>
      <p:sp>
        <p:nvSpPr>
          <p:cNvPr id="29" name="Text 26"/>
          <p:cNvSpPr txBox="1"/>
          <p:nvPr/>
        </p:nvSpPr>
        <p:spPr>
          <a:xfrm>
            <a:off x="440740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aim?</a:t>
            </a:r>
            <a:endParaRPr lang="en-US" sz="1100" dirty="0"/>
          </a:p>
        </p:txBody>
      </p:sp>
      <p:sp>
        <p:nvSpPr>
          <p:cNvPr id="30" name="Text 27"/>
          <p:cNvSpPr txBox="1"/>
          <p:nvPr/>
        </p:nvSpPr>
        <p:spPr>
          <a:xfrm>
            <a:off x="285292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intention</a:t>
            </a:r>
            <a:endParaRPr lang="en-US" sz="1100" dirty="0"/>
          </a:p>
        </p:txBody>
      </p:sp>
      <p:sp>
        <p:nvSpPr>
          <p:cNvPr id="31" name="Text 28"/>
          <p:cNvSpPr txBox="1"/>
          <p:nvPr/>
        </p:nvSpPr>
        <p:spPr>
          <a:xfrm>
            <a:off x="548640" y="300471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يَهْدِفُ إِلَى أَنْ</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852160" y="3741725"/>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cs typeface="Amiri" pitchFamily="2" charset="-78"/>
              </a:rPr>
              <a:t>تَسْتَثْمِرَ</a:t>
            </a:r>
            <a:pPr rtl="1" algn="ctr" indent="0" marL="0">
              <a:buNone/>
            </a:pPr>
            <a:r>
              <a:rPr lang="ar-SA" altLang="en-US" sz="1700" b="1" dirty="0">
                <a:solidFill>
                  <a:srgbClr val="1B3B6F"/>
                </a:solidFill>
                <a:latin typeface="Amiri" pitchFamily="2" charset="-78"/>
                <a:cs typeface="Amiri" pitchFamily="2" charset="-78"/>
              </a:rPr>
              <a:t> شَرِكَاتُ النِّفْطِ فِي الطَّاقَةِ الخَضْرَاءِ.</a:t>
            </a:r>
            <a:endParaRPr lang="ar-SA" sz="1700" dirty="0"/>
          </a:p>
        </p:txBody>
      </p:sp>
      <p:sp>
        <p:nvSpPr>
          <p:cNvPr id="36" name="Text 33"/>
          <p:cNvSpPr txBox="1"/>
          <p:nvPr/>
        </p:nvSpPr>
        <p:spPr>
          <a:xfrm>
            <a:off x="440740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a:t>
            </a:r>
            <a:endParaRPr lang="en-US" sz="1100" dirty="0"/>
          </a:p>
        </p:txBody>
      </p:sp>
      <p:sp>
        <p:nvSpPr>
          <p:cNvPr id="37" name="Text 34"/>
          <p:cNvSpPr txBox="1"/>
          <p:nvPr/>
        </p:nvSpPr>
        <p:spPr>
          <a:xfrm>
            <a:off x="285292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8" name="Text 35"/>
          <p:cNvSpPr txBox="1"/>
          <p:nvPr/>
        </p:nvSpPr>
        <p:spPr>
          <a:xfrm>
            <a:off x="548640" y="3741725"/>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يَنْبَغِي أَنْ</a:t>
            </a:r>
            <a:endParaRPr lang="ar-SA" sz="20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5852160" y="4478731"/>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لِكَيْ </a:t>
            </a:r>
            <a:pPr rtl="1" algn="ctr" indent="0" marL="0">
              <a:buNone/>
            </a:pPr>
            <a:r>
              <a:rPr lang="ar-SA" altLang="en-US" sz="1700" b="1" dirty="0">
                <a:solidFill>
                  <a:srgbClr val="D6336C"/>
                </a:solidFill>
                <a:latin typeface="Amiri" pitchFamily="2" charset="-78"/>
                <a:cs typeface="Amiri" pitchFamily="2" charset="-78"/>
              </a:rPr>
              <a:t>تُوَاكِبَ</a:t>
            </a:r>
            <a:pPr rtl="1" algn="ctr" indent="0" marL="0">
              <a:buNone/>
            </a:pPr>
            <a:r>
              <a:rPr lang="ar-SA" altLang="en-US" sz="1700" b="1" dirty="0">
                <a:solidFill>
                  <a:srgbClr val="1B3B6F"/>
                </a:solidFill>
                <a:latin typeface="Amiri" pitchFamily="2" charset="-78"/>
                <a:cs typeface="Amiri" pitchFamily="2" charset="-78"/>
              </a:rPr>
              <a:t> العَصْرَ وَ</a:t>
            </a:r>
            <a:pPr rtl="1" algn="ctr" indent="0" marL="0">
              <a:buNone/>
            </a:pPr>
            <a:r>
              <a:rPr lang="ar-SA" altLang="en-US" sz="1700" b="1" dirty="0">
                <a:solidFill>
                  <a:srgbClr val="D6336C"/>
                </a:solidFill>
                <a:latin typeface="Amiri" pitchFamily="2" charset="-78"/>
                <a:cs typeface="Amiri" pitchFamily="2" charset="-78"/>
              </a:rPr>
              <a:t>تَحْمِيَ</a:t>
            </a:r>
            <a:pPr rtl="1" algn="ctr" indent="0" marL="0">
              <a:buNone/>
            </a:pPr>
            <a:r>
              <a:rPr lang="ar-SA" altLang="en-US" sz="1700" b="1" dirty="0">
                <a:solidFill>
                  <a:srgbClr val="1B3B6F"/>
                </a:solidFill>
                <a:latin typeface="Amiri" pitchFamily="2" charset="-78"/>
                <a:cs typeface="Amiri" pitchFamily="2" charset="-78"/>
              </a:rPr>
              <a:t> اقْتِصَادَهَا.</a:t>
            </a:r>
            <a:endParaRPr lang="ar-SA" sz="1700" dirty="0"/>
          </a:p>
        </p:txBody>
      </p:sp>
      <p:sp>
        <p:nvSpPr>
          <p:cNvPr id="43" name="Text 40"/>
          <p:cNvSpPr txBox="1"/>
          <p:nvPr/>
        </p:nvSpPr>
        <p:spPr>
          <a:xfrm>
            <a:off x="440740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44" name="Text 41"/>
          <p:cNvSpPr txBox="1"/>
          <p:nvPr/>
        </p:nvSpPr>
        <p:spPr>
          <a:xfrm>
            <a:off x="285292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45" name="Text 42"/>
          <p:cNvSpPr txBox="1"/>
          <p:nvPr/>
        </p:nvSpPr>
        <p:spPr>
          <a:xfrm>
            <a:off x="566928" y="4478731"/>
            <a:ext cx="21031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verbs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5852160" y="5215738"/>
            <a:ext cx="57881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تَهْدِفُ الاتِّفَاقِيَّةُ إِلَى </a:t>
            </a:r>
            <a:pPr rtl="1" algn="ctr" indent="0" marL="0">
              <a:buNone/>
            </a:pPr>
            <a:r>
              <a:rPr lang="ar-SA" altLang="en-US" sz="1700" b="1" dirty="0">
                <a:solidFill>
                  <a:srgbClr val="C77700"/>
                </a:solidFill>
                <a:latin typeface="Amiri" pitchFamily="2" charset="-78"/>
                <a:cs typeface="Amiri" pitchFamily="2" charset="-78"/>
              </a:rPr>
              <a:t>خَفْضِ</a:t>
            </a:r>
            <a:pPr rtl="1" algn="ctr" indent="0" marL="0">
              <a:buNone/>
            </a:pPr>
            <a:r>
              <a:rPr lang="ar-SA" altLang="en-US" sz="1700" b="1" dirty="0">
                <a:solidFill>
                  <a:srgbClr val="1B3B6F"/>
                </a:solidFill>
                <a:latin typeface="Amiri" pitchFamily="2" charset="-78"/>
                <a:cs typeface="Amiri" pitchFamily="2" charset="-78"/>
              </a:rPr>
              <a:t> الانْبِعَاثَاتِ.</a:t>
            </a:r>
            <a:endParaRPr lang="ar-SA" sz="1700" dirty="0"/>
          </a:p>
        </p:txBody>
      </p:sp>
      <p:sp>
        <p:nvSpPr>
          <p:cNvPr id="48" name="Text 45"/>
          <p:cNvSpPr txBox="1"/>
          <p:nvPr/>
        </p:nvSpPr>
        <p:spPr>
          <a:xfrm>
            <a:off x="440740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an</a:t>
            </a:r>
            <a:endParaRPr lang="en-US" sz="1100" dirty="0"/>
          </a:p>
        </p:txBody>
      </p:sp>
      <p:sp>
        <p:nvSpPr>
          <p:cNvPr id="49" name="Text 46"/>
          <p:cNvSpPr txBox="1"/>
          <p:nvPr/>
        </p:nvSpPr>
        <p:spPr>
          <a:xfrm>
            <a:off x="285292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aim + noun</a:t>
            </a:r>
            <a:endParaRPr lang="en-US" sz="1100" dirty="0"/>
          </a:p>
        </p:txBody>
      </p:sp>
      <p:sp>
        <p:nvSpPr>
          <p:cNvPr id="50" name="Text 47"/>
          <p:cNvSpPr txBox="1"/>
          <p:nvPr/>
        </p:nvSpPr>
        <p:spPr>
          <a:xfrm>
            <a:off x="548640" y="5215738"/>
            <a:ext cx="21031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يَهْدِفُ إِلَى</a:t>
            </a:r>
            <a:endParaRPr lang="ar-SA" sz="20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li-kay states the goal of an action, yahdifu ilā an an intention, yanbaghī an a requirement — three triggers in three lines.</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VERBS WITH FIXED PARTNERS (WEBSITE VOCABULARY NOTES, MISTAKE 3, QUIZ 7 AND MISSION 7–8)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verb has its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وَحُرُوفُهَا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2531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0965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72491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943600" y="2267712"/>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يَتَحَوَّلُ العَالَمُ العَرَبِيُّ </a:t>
            </a:r>
            <a:pPr rtl="1" algn="ctr" indent="0" marL="0">
              <a:buNone/>
            </a:pPr>
            <a:r>
              <a:rPr lang="ar-SA" altLang="en-US" sz="1700" b="1" dirty="0">
                <a:solidFill>
                  <a:srgbClr val="C77700"/>
                </a:solidFill>
                <a:latin typeface="Amiri" pitchFamily="2" charset="-78"/>
                <a:cs typeface="Amiri" pitchFamily="2" charset="-78"/>
              </a:rPr>
              <a:t>إِلَى</a:t>
            </a:r>
            <a:pPr rtl="1" algn="ctr" indent="0" marL="0">
              <a:buNone/>
            </a:pPr>
            <a:r>
              <a:rPr lang="ar-SA" altLang="en-US" sz="1700" b="1" dirty="0">
                <a:solidFill>
                  <a:srgbClr val="1B3B6F"/>
                </a:solidFill>
                <a:latin typeface="Amiri" pitchFamily="2" charset="-78"/>
                <a:cs typeface="Amiri" pitchFamily="2" charset="-78"/>
              </a:rPr>
              <a:t> الطَّاقَةِ المُتَجَدِّدَةِ.</a:t>
            </a:r>
            <a:endParaRPr lang="ar-SA" sz="1700" dirty="0"/>
          </a:p>
        </p:txBody>
      </p:sp>
      <p:sp>
        <p:nvSpPr>
          <p:cNvPr id="22" name="Text 19"/>
          <p:cNvSpPr txBox="1"/>
          <p:nvPr/>
        </p:nvSpPr>
        <p:spPr>
          <a:xfrm>
            <a:off x="413308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transitions to</a:t>
            </a:r>
            <a:endParaRPr lang="en-US" sz="1100" dirty="0"/>
          </a:p>
        </p:txBody>
      </p:sp>
      <p:sp>
        <p:nvSpPr>
          <p:cNvPr id="23" name="Text 20"/>
          <p:cNvSpPr txBox="1"/>
          <p:nvPr/>
        </p:nvSpPr>
        <p:spPr>
          <a:xfrm>
            <a:off x="2743200" y="2267712"/>
            <a:ext cx="11887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إِلَى</a:t>
            </a:r>
            <a:endParaRPr lang="ar-SA" sz="2000" dirty="0"/>
          </a:p>
        </p:txBody>
      </p:sp>
      <p:sp>
        <p:nvSpPr>
          <p:cNvPr id="24" name="Text 21"/>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يَتَحَوَّلُ</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943600" y="300471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تَسْتَثْمِرُ الدُّوَلُ </a:t>
            </a:r>
            <a:pPr rtl="1" algn="ctr" indent="0" marL="0">
              <a:buNone/>
            </a:pPr>
            <a:r>
              <a:rPr lang="ar-SA" altLang="en-US" sz="1700" b="1" dirty="0">
                <a:solidFill>
                  <a:srgbClr val="C77700"/>
                </a:solidFill>
                <a:latin typeface="Amiri" pitchFamily="2" charset="-78"/>
                <a:cs typeface="Amiri" pitchFamily="2" charset="-78"/>
              </a:rPr>
              <a:t>فِي</a:t>
            </a:r>
            <a:pPr rtl="1" algn="ctr" indent="0" marL="0">
              <a:buNone/>
            </a:pPr>
            <a:r>
              <a:rPr lang="ar-SA" altLang="en-US" sz="1700" b="1" dirty="0">
                <a:solidFill>
                  <a:srgbClr val="1B3B6F"/>
                </a:solidFill>
                <a:latin typeface="Amiri" pitchFamily="2" charset="-78"/>
                <a:cs typeface="Amiri" pitchFamily="2" charset="-78"/>
              </a:rPr>
              <a:t> الطَّاقَةِ الشَّمْسِيَّةِ.</a:t>
            </a:r>
            <a:endParaRPr lang="ar-SA" sz="1700" dirty="0"/>
          </a:p>
        </p:txBody>
      </p:sp>
      <p:sp>
        <p:nvSpPr>
          <p:cNvPr id="29" name="Text 26"/>
          <p:cNvSpPr txBox="1"/>
          <p:nvPr/>
        </p:nvSpPr>
        <p:spPr>
          <a:xfrm>
            <a:off x="413308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invests in</a:t>
            </a:r>
            <a:endParaRPr lang="en-US" sz="1100" dirty="0"/>
          </a:p>
        </p:txBody>
      </p:sp>
      <p:sp>
        <p:nvSpPr>
          <p:cNvPr id="30" name="Text 27"/>
          <p:cNvSpPr txBox="1"/>
          <p:nvPr/>
        </p:nvSpPr>
        <p:spPr>
          <a:xfrm>
            <a:off x="2743200" y="3004718"/>
            <a:ext cx="11887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فِي</a:t>
            </a:r>
            <a:endParaRPr lang="ar-SA" sz="2000" dirty="0"/>
          </a:p>
        </p:txBody>
      </p:sp>
      <p:sp>
        <p:nvSpPr>
          <p:cNvPr id="31" name="Text 28"/>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يَسْتَثْمِرُ</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943600" y="3741725"/>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تُقَلِّلُ الدُّوَلُ اعْتِمَادَهَا </a:t>
            </a:r>
            <a:pPr rtl="1" algn="ctr" indent="0" marL="0">
              <a:buNone/>
            </a:pPr>
            <a:r>
              <a:rPr lang="ar-SA" altLang="en-US" sz="1700" b="1" dirty="0">
                <a:solidFill>
                  <a:srgbClr val="C77700"/>
                </a:solidFill>
                <a:latin typeface="Amiri" pitchFamily="2" charset="-78"/>
                <a:cs typeface="Amiri" pitchFamily="2" charset="-78"/>
              </a:rPr>
              <a:t>عَلَى</a:t>
            </a:r>
            <a:pPr rtl="1" algn="ctr" indent="0" marL="0">
              <a:buNone/>
            </a:pPr>
            <a:r>
              <a:rPr lang="ar-SA" altLang="en-US" sz="1700" b="1" dirty="0">
                <a:solidFill>
                  <a:srgbClr val="1B3B6F"/>
                </a:solidFill>
                <a:latin typeface="Amiri" pitchFamily="2" charset="-78"/>
                <a:cs typeface="Amiri" pitchFamily="2" charset="-78"/>
              </a:rPr>
              <a:t> النِّفْطِ.</a:t>
            </a:r>
            <a:endParaRPr lang="ar-SA" sz="1700" dirty="0"/>
          </a:p>
        </p:txBody>
      </p:sp>
      <p:sp>
        <p:nvSpPr>
          <p:cNvPr id="36" name="Text 33"/>
          <p:cNvSpPr txBox="1"/>
          <p:nvPr/>
        </p:nvSpPr>
        <p:spPr>
          <a:xfrm>
            <a:off x="413308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depends on</a:t>
            </a:r>
            <a:endParaRPr lang="en-US" sz="1100" dirty="0"/>
          </a:p>
        </p:txBody>
      </p:sp>
      <p:sp>
        <p:nvSpPr>
          <p:cNvPr id="37" name="Text 34"/>
          <p:cNvSpPr txBox="1"/>
          <p:nvPr/>
        </p:nvSpPr>
        <p:spPr>
          <a:xfrm>
            <a:off x="2743200" y="3741725"/>
            <a:ext cx="11887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عَلَى</a:t>
            </a:r>
            <a:endParaRPr lang="ar-SA" sz="2000" dirty="0"/>
          </a:p>
        </p:txBody>
      </p:sp>
      <p:sp>
        <p:nvSpPr>
          <p:cNvPr id="38" name="Text 35"/>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يَعْتَمِدُ</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5943600" y="4478731"/>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تُنَوِّعُ الدُّوَلُ </a:t>
            </a:r>
            <a:pPr rtl="1" algn="ctr" indent="0" marL="0">
              <a:buNone/>
            </a:pPr>
            <a:r>
              <a:rPr lang="ar-SA" altLang="en-US" sz="1700" b="1" dirty="0">
                <a:solidFill>
                  <a:srgbClr val="7B3FA0"/>
                </a:solidFill>
                <a:latin typeface="Amiri" pitchFamily="2" charset="-78"/>
                <a:cs typeface="Amiri" pitchFamily="2" charset="-78"/>
              </a:rPr>
              <a:t>مَصَادِرَ</a:t>
            </a:r>
            <a:pPr rtl="1" algn="ctr" indent="0" marL="0">
              <a:buNone/>
            </a:pPr>
            <a:r>
              <a:rPr lang="ar-SA" altLang="en-US" sz="1700" b="1" dirty="0">
                <a:solidFill>
                  <a:srgbClr val="1B3B6F"/>
                </a:solidFill>
                <a:latin typeface="Amiri" pitchFamily="2" charset="-78"/>
                <a:cs typeface="Amiri" pitchFamily="2" charset="-78"/>
              </a:rPr>
              <a:t> دَخْلِهَا.</a:t>
            </a:r>
            <a:endParaRPr lang="ar-SA" sz="1700" dirty="0"/>
          </a:p>
        </p:txBody>
      </p:sp>
      <p:sp>
        <p:nvSpPr>
          <p:cNvPr id="41" name="Text 38"/>
          <p:cNvSpPr txBox="1"/>
          <p:nvPr/>
        </p:nvSpPr>
        <p:spPr>
          <a:xfrm>
            <a:off x="413308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diversifies</a:t>
            </a:r>
            <a:endParaRPr lang="en-US" sz="1100" dirty="0"/>
          </a:p>
        </p:txBody>
      </p:sp>
      <p:sp>
        <p:nvSpPr>
          <p:cNvPr id="42" name="Text 39"/>
          <p:cNvSpPr txBox="1"/>
          <p:nvPr/>
        </p:nvSpPr>
        <p:spPr>
          <a:xfrm>
            <a:off x="2761488" y="4478731"/>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يُنَوِّعُ</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5943600" y="521573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تُضَاعِفُ الدَّوْلَةُ </a:t>
            </a:r>
            <a:pPr rtl="1" algn="ctr" indent="0" marL="0">
              <a:buNone/>
            </a:pPr>
            <a:r>
              <a:rPr lang="ar-SA" altLang="en-US" sz="1700" b="1" dirty="0">
                <a:solidFill>
                  <a:srgbClr val="7B3FA0"/>
                </a:solidFill>
                <a:latin typeface="Amiri" pitchFamily="2" charset="-78"/>
                <a:cs typeface="Amiri" pitchFamily="2" charset="-78"/>
              </a:rPr>
              <a:t>إِنْتَاجَ</a:t>
            </a:r>
            <a:pPr rtl="1" algn="ctr" indent="0" marL="0">
              <a:buNone/>
            </a:pPr>
            <a:r>
              <a:rPr lang="ar-SA" altLang="en-US" sz="1700" b="1" dirty="0">
                <a:solidFill>
                  <a:srgbClr val="1B3B6F"/>
                </a:solidFill>
                <a:latin typeface="Amiri" pitchFamily="2" charset="-78"/>
                <a:cs typeface="Amiri" pitchFamily="2" charset="-78"/>
              </a:rPr>
              <a:t> الطَّاقَةِ الشَّمْسِيَّةِ.</a:t>
            </a:r>
            <a:endParaRPr lang="ar-SA" sz="1700" dirty="0"/>
          </a:p>
        </p:txBody>
      </p:sp>
      <p:sp>
        <p:nvSpPr>
          <p:cNvPr id="46" name="Text 43"/>
          <p:cNvSpPr txBox="1"/>
          <p:nvPr/>
        </p:nvSpPr>
        <p:spPr>
          <a:xfrm>
            <a:off x="413308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doubles</a:t>
            </a:r>
            <a:endParaRPr lang="en-US" sz="1100" dirty="0"/>
          </a:p>
        </p:txBody>
      </p:sp>
      <p:sp>
        <p:nvSpPr>
          <p:cNvPr id="47" name="Text 44"/>
          <p:cNvSpPr txBox="1"/>
          <p:nvPr/>
        </p:nvSpPr>
        <p:spPr>
          <a:xfrm>
            <a:off x="2761488" y="5215738"/>
            <a:ext cx="11887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8" name="Text 45"/>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يُضَاعِفُ</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yataḥawwalu fī ✗ → yataḥawwalu ilā ✓. The maṣdar keeps the partner: iʿtimād ʿalā · istithmār fī.</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PROSPECT, REGRET, EVIDENCE (WEBSITE RULE 4, LISTENING AND MISTAKE 2)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Weigh the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الاحْتِمَالُ · الافْتِرَاضُ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202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PROSPECT · CORE</a:t>
            </a:r>
            <a:endParaRPr lang="en-US" sz="850" dirty="0"/>
          </a:p>
        </p:txBody>
      </p:sp>
      <p:sp>
        <p:nvSpPr>
          <p:cNvPr id="18" name="Text 15"/>
          <p:cNvSpPr txBox="1"/>
          <p:nvPr/>
        </p:nvSpPr>
        <p:spPr>
          <a:xfrm>
            <a:off x="10198608"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أَكْمَلَ الخَلِيجُ تَحَوُّلَهُ الطَّاقَوِيَّ، سَيُصْبِحُ رَائِدًا عَالَمِيًّا.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the Gulf completes its energy transition, it will become a global leader.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بَدَأَ هٰذَا التَّحَوُّلُ قَبْلَ عِقْدَيْنِ، لَكَانَتِ الانْبِعَاثَاتُ اليَوْمَ أَقَلَّ.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this transition begun two decades ago, emissions would be lower today.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It did not happen.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أَكَّدَ … أَنَّ …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أَكَّدَ المَسْؤُولُونَ أَنَّ المَمْلَكَةَ تَهْدِفُ إِلَى أَنْ تُنْتِجَ نِصْفَ كَهْرَبَائِهَا.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Officials stressed that the kingdom aims to produce half its electricity.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 · an + verb.</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after an, the verb takes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تَهْدِفُ الرُّؤْيَةُ إِلَى أَنْ تُنَوِّعَ المَمْلَكَةُ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تَهْدِفُ الرُّؤْيَةُ إِلَى أَنْ تُنَوِّعُ المَمْلَكَةُ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AN ENERGY ANALYSIS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an energy analyst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تَحْلِيلِ الطَّاقَةِ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naḥwa = about</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تَمْتَلِكُ الدُّوَلُ العَرَبِيَّةُ </a:t>
            </a:r>
            <a:pPr rtl="1" algn="ctr" indent="0" marL="0">
              <a:buNone/>
            </a:pPr>
            <a:r>
              <a:rPr lang="ar-SA" altLang="en-US" sz="1800" b="1" dirty="0">
                <a:solidFill>
                  <a:srgbClr val="1D5FBF"/>
                </a:solidFill>
                <a:latin typeface="Amiri" pitchFamily="2" charset="-78"/>
                <a:cs typeface="Amiri" pitchFamily="2" charset="-78"/>
              </a:rPr>
              <a:t>نَحْوَ سَبْعَةٍ وَخَمْسِينَ بِالمِئَةِ</a:t>
            </a:r>
            <a:pPr rtl="1" algn="ctr" indent="0" marL="0">
              <a:buNone/>
            </a:pPr>
            <a:r>
              <a:rPr lang="ar-SA" altLang="en-US" sz="1800" b="1" dirty="0">
                <a:solidFill>
                  <a:srgbClr val="1B3B6F"/>
                </a:solidFill>
                <a:latin typeface="Amiri" pitchFamily="2" charset="-78"/>
                <a:cs typeface="Amiri" pitchFamily="2" charset="-78"/>
              </a:rPr>
              <a:t> مِنَ الاحْتِيَاطِيَّاتِ</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statistic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framing</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يَعِيشُ العَالَمُ العَرَبِيُّ </a:t>
            </a:r>
            <a:pPr rtl="1" algn="ctr" indent="0" marL="0">
              <a:buNone/>
            </a:pPr>
            <a:r>
              <a:rPr lang="ar-SA" altLang="en-US" sz="1800" b="1" dirty="0">
                <a:solidFill>
                  <a:srgbClr val="D6336C"/>
                </a:solidFill>
                <a:latin typeface="Amiri" pitchFamily="2" charset="-78"/>
                <a:cs typeface="Amiri" pitchFamily="2" charset="-78"/>
              </a:rPr>
              <a:t>مُفَارَقَةً لَافِتَةً</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paradox</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metaphor</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شَكَّلَتْ هٰذِهِ المَوَارِدُ </a:t>
            </a:r>
            <a:pPr rtl="1" algn="ctr" indent="0" marL="0">
              <a:buNone/>
            </a:pPr>
            <a:r>
              <a:rPr lang="ar-SA" altLang="en-US" sz="1800" b="1" dirty="0">
                <a:solidFill>
                  <a:srgbClr val="7B3FA0"/>
                </a:solidFill>
                <a:latin typeface="Amiri" pitchFamily="2" charset="-78"/>
                <a:cs typeface="Amiri" pitchFamily="2" charset="-78"/>
              </a:rPr>
              <a:t>العَمُودَ الفِقْرِيَّ</a:t>
            </a:r>
            <a:pPr rtl="1" algn="ctr" indent="0" marL="0">
              <a:buNone/>
            </a:pPr>
            <a:r>
              <a:rPr lang="ar-SA" altLang="en-US" sz="1800" b="1" dirty="0">
                <a:solidFill>
                  <a:srgbClr val="1B3B6F"/>
                </a:solidFill>
                <a:latin typeface="Amiri" pitchFamily="2" charset="-78"/>
                <a:cs typeface="Amiri" pitchFamily="2" charset="-78"/>
              </a:rPr>
              <a:t> لِلِاقْتِصَادِ</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backbone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ghayra anna + noun</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غَيْرَ أَنَّ</a:t>
            </a:r>
            <a:pPr rtl="1" algn="ctr" indent="0" marL="0">
              <a:buNone/>
            </a:pPr>
            <a:r>
              <a:rPr lang="ar-SA" altLang="en-US" sz="1800" b="1" dirty="0">
                <a:solidFill>
                  <a:srgbClr val="1B3B6F"/>
                </a:solidFill>
                <a:latin typeface="Amiri" pitchFamily="2" charset="-78"/>
                <a:cs typeface="Amiri" pitchFamily="2" charset="-78"/>
              </a:rPr>
              <a:t> كَثِيرًا مِنْهَا يَتَحَوَّلُ الآنَ نَحْوَ الطَّاقَةِ المُتَجَدِّدَةِ</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however</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connector</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cs typeface="Amiri" pitchFamily="2" charset="-78"/>
              </a:rPr>
              <a:t>عِلَاوَةً عَلَى ذٰلِكَ</a:t>
            </a:r>
            <a:pPr rtl="1" algn="ctr" indent="0" marL="0">
              <a:buNone/>
            </a:pPr>
            <a:r>
              <a:rPr lang="ar-SA" altLang="en-US" sz="1800" b="1" dirty="0">
                <a:solidFill>
                  <a:srgbClr val="1B3B6F"/>
                </a:solidFill>
                <a:latin typeface="Amiri" pitchFamily="2" charset="-78"/>
                <a:cs typeface="Amiri" pitchFamily="2" charset="-78"/>
              </a:rPr>
              <a:t>، يَنْبَغِي أَنْ تُوَاصِلَ الحُكُومَاتُ اسْتِثْمَارَاتِهَا</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moreover</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energy analysis moves: the numbers → the paradox → the turn (ghayra anna) → aims and purposes → what must happen.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The full subjunctive system in energy policy</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cs typeface="Amiri" pitchFamily="2" charset="-78"/>
              </a:rPr>
              <a:t>نِظَامُ النَّصْبِ الكَامِلُ فِي سِيَاسَةِ الطَّاقَةِ</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Purpose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تَسْتَثْمِرُ الدُّوَلُ فِي الشَّمْسِ لِكَيْ تُحَقِّقَ الاسْتِدَامَةَ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Intention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yahdifu ilā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تَهْدِفُ الرُّؤْيَةُ إِلَى أَنْ تُنَوِّعَ المَمْلَكَةُ اقْتِصَادَهَا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Necessity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yanbaghī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يَنْبَغِي أَنْ تَسْتَثْمِرَ شَرِكَاتُ النِّفْطِ فِي الطَّاقَةِ الخَضْرَاءِ</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Both conditionals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إِذَا أَكْمَلَ الخَلِيجُ تَحَوُّلَهُ، سَيُصْبِحُ رَائِدًا   ·   لَوْ بَدَأَ التَّحَوُّلُ مُبَكِّرًا، لَكَانَتِ الانْبِعَاثَاتُ أَقَلَّ</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تَسْتَثْمِرُ الدُّوَلُ فِي الشَّمْسِ لِكَيْ ___ الاسْتِدَامَةَ.</a:t>
            </a:r>
            <a:endParaRPr lang="ar-SA" sz="12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حَقَّقَتْ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intention:</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تَهْدِفُ الرُّؤْيَةُ إِلَى أَنْ ___ المَمْلَكَةُ اقْتِصَادَهَا.</a:t>
            </a:r>
            <a:endParaRPr lang="ar-SA"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نَوَّعَتْ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necessity:</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يَنْبَغِي أَنْ ___ شَرِكَاتُ النِّفْطِ فِي الطَّاقَةِ الخَضْرَاءِ.</a:t>
            </a:r>
            <a:endParaRPr lang="ar-SA" sz="11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اسْتَثْمَرَتْ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يَتَحَوَّلُ العَالَمُ العَرَبِيُّ ___ الطَّاقَةِ المُتَجَدِّدَةِ.</a:t>
            </a:r>
            <a:endParaRPr lang="ar-SA"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تَسْتَثْمِرُ الدُّوَلُ فِي الشَّمْسِ لِكَيْ ___ الاسْتِدَامَةَ.</a:t>
            </a:r>
            <a:endParaRPr lang="ar-SA" sz="12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تُحَقِّقُ</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حَقَّقَتْ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تُحَقِّقَ</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تُحَقِّقَ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intention:</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تَهْدِفُ الرُّؤْيَةُ إِلَى أَنْ ___ المَمْلَكَةُ اقْتِصَادَهَا.</a:t>
            </a:r>
            <a:endParaRPr lang="ar-SA" sz="125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تُنَوِّعَ</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تُنَوِّعُ</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نَوَّعَتْ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تُنَوِّعَ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necessity:</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يَنْبَغِي أَنْ ___ شَرِكَاتُ النِّفْطِ فِي الطَّاقَةِ الخَضْرَاءِ.</a:t>
            </a:r>
            <a:endParaRPr lang="ar-SA" sz="11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تَسْتَثْمِرَ</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اسْتَثْمَرَتْ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cs typeface="Amiri" pitchFamily="2" charset="-78"/>
              </a:rPr>
              <a:t>تَسْتَثْمِرَ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يَتَحَوَّلُ العَالَمُ العَرَبِيُّ ___ الطَّاقَةِ المُتَجَدِّدَةِ.</a:t>
            </a:r>
            <a:endParaRPr lang="ar-SA" sz="125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write an energy analysis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Shift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تَتَحَوَّلُ … </a:t>
            </a:r>
            <a:pPr rtl="1" algn="ctr" indent="0" marL="0">
              <a:lnSpc>
                <a:spcPct val="120000"/>
              </a:lnSpc>
              <a:buNone/>
            </a:pPr>
            <a:r>
              <a:rPr lang="ar-SA" altLang="en-US" sz="1800" b="1" dirty="0">
                <a:solidFill>
                  <a:srgbClr val="C77700"/>
                </a:solidFill>
                <a:latin typeface="Amiri" pitchFamily="2" charset="-78"/>
                <a:cs typeface="Amiri" pitchFamily="2" charset="-78"/>
              </a:rPr>
              <a:t>إِلَى</a:t>
            </a:r>
            <a:pPr rtl="1" algn="ctr" indent="0" marL="0">
              <a:lnSpc>
                <a:spcPct val="120000"/>
              </a:lnSpc>
              <a:buNone/>
            </a:pPr>
            <a:r>
              <a:rPr lang="ar-SA" altLang="en-US" sz="1800" b="1" dirty="0">
                <a:solidFill>
                  <a:srgbClr val="1B3B6F"/>
                </a:solidFill>
                <a:latin typeface="Amiri" pitchFamily="2" charset="-78"/>
                <a:cs typeface="Amiri" pitchFamily="2" charset="-78"/>
              </a:rPr>
              <a:t> الطَّاقَةِ المُتَجَدِّدَةِ</a:t>
            </a:r>
            <a:endParaRPr lang="ar-SA" sz="1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 partner.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Aim + why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تَهْدِفُ إِلَى أَنْ </a:t>
            </a:r>
            <a:pPr rtl="1" algn="ctr" indent="0" marL="0">
              <a:lnSpc>
                <a:spcPct val="120000"/>
              </a:lnSpc>
              <a:buNone/>
            </a:pPr>
            <a:r>
              <a:rPr lang="ar-SA" altLang="en-US" sz="1800" b="1" dirty="0">
                <a:solidFill>
                  <a:srgbClr val="1D5FBF"/>
                </a:solidFill>
                <a:latin typeface="Amiri" pitchFamily="2" charset="-78"/>
                <a:cs typeface="Amiri" pitchFamily="2" charset="-78"/>
              </a:rPr>
              <a:t>تُنْتِجَ</a:t>
            </a:r>
            <a:pPr rtl="1" algn="ctr" indent="0" marL="0">
              <a:lnSpc>
                <a:spcPct val="120000"/>
              </a:lnSpc>
              <a:buNone/>
            </a:pPr>
            <a:r>
              <a:rPr lang="ar-SA" altLang="en-US" sz="1800" b="1" dirty="0">
                <a:solidFill>
                  <a:srgbClr val="1B3B6F"/>
                </a:solidFill>
                <a:latin typeface="Amiri" pitchFamily="2" charset="-78"/>
                <a:cs typeface="Amiri" pitchFamily="2" charset="-78"/>
              </a:rPr>
              <a:t> · لِكَيْ </a:t>
            </a:r>
            <a:pPr rtl="1" algn="ctr" indent="0" marL="0">
              <a:lnSpc>
                <a:spcPct val="120000"/>
              </a:lnSpc>
              <a:buNone/>
            </a:pPr>
            <a:r>
              <a:rPr lang="ar-SA" altLang="en-US" sz="1800" b="1" dirty="0">
                <a:solidFill>
                  <a:srgbClr val="D6336C"/>
                </a:solidFill>
                <a:latin typeface="Amiri" pitchFamily="2" charset="-78"/>
                <a:cs typeface="Amiri" pitchFamily="2" charset="-78"/>
              </a:rPr>
              <a:t>تُحَقِّقَ</a:t>
            </a:r>
            <a:endParaRPr lang="ar-SA" sz="1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Regret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cs typeface="Amiri" pitchFamily="2" charset="-78"/>
              </a:rPr>
              <a:t>لَكَانَتِ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Must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يَنْبَغِي أَنْ </a:t>
            </a:r>
            <a:pPr rtl="1" algn="ctr" indent="0" marL="0">
              <a:buNone/>
            </a:pPr>
            <a:r>
              <a:rPr lang="ar-SA" altLang="en-US" sz="2800" b="1" dirty="0">
                <a:solidFill>
                  <a:srgbClr val="0E7C86"/>
                </a:solidFill>
                <a:latin typeface="Amiri" pitchFamily="2" charset="-78"/>
                <a:cs typeface="Amiri" pitchFamily="2" charset="-78"/>
              </a:rPr>
              <a:t>تُوَاصِلَ</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Necessity.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PARTNER</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INTENTION</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Shape 47"/>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تَتَحَوَّلُ الدُّوَلُ العَرَبِيَّةُ الآنَ </a:t>
            </a:r>
            <a:pPr rtl="1" algn="r" indent="0" marL="0">
              <a:lnSpc>
                <a:spcPct val="120000"/>
              </a:lnSpc>
              <a:buNone/>
            </a:pPr>
            <a:r>
              <a:rPr lang="ar-SA" altLang="en-US" sz="1400" b="1" dirty="0">
                <a:solidFill>
                  <a:srgbClr val="C77700"/>
                </a:solidFill>
                <a:latin typeface="Amiri" pitchFamily="2" charset="-78"/>
                <a:cs typeface="Amiri" pitchFamily="2" charset="-78"/>
              </a:rPr>
              <a:t>إِلَى</a:t>
            </a:r>
            <a:pPr rtl="1" algn="r" indent="0" marL="0">
              <a:lnSpc>
                <a:spcPct val="120000"/>
              </a:lnSpc>
              <a:buNone/>
            </a:pPr>
            <a:r>
              <a:rPr lang="ar-SA" altLang="en-US" sz="1400" b="1" dirty="0">
                <a:solidFill>
                  <a:srgbClr val="1B3B6F"/>
                </a:solidFill>
                <a:latin typeface="Amiri" pitchFamily="2" charset="-78"/>
                <a:cs typeface="Amiri" pitchFamily="2" charset="-78"/>
              </a:rPr>
              <a:t> الطَّاقَةِ المُتَجَدِّدَةِ. وَأَكَّدَ المَسْؤُولُونَ أَنَّ المَمْلَكَةَ تَهْدِفُ إِلَى أَنْ </a:t>
            </a:r>
            <a:pPr rtl="1" algn="r" indent="0" marL="0">
              <a:lnSpc>
                <a:spcPct val="120000"/>
              </a:lnSpc>
              <a:buNone/>
            </a:pPr>
            <a:r>
              <a:rPr lang="ar-SA" altLang="en-US" sz="1400" b="1" dirty="0">
                <a:solidFill>
                  <a:srgbClr val="1D5FBF"/>
                </a:solidFill>
                <a:latin typeface="Amiri" pitchFamily="2" charset="-78"/>
                <a:cs typeface="Amiri" pitchFamily="2" charset="-78"/>
              </a:rPr>
              <a:t>تُنْتِجَ</a:t>
            </a:r>
            <a:pPr rtl="1" algn="r" indent="0" marL="0">
              <a:lnSpc>
                <a:spcPct val="120000"/>
              </a:lnSpc>
              <a:buNone/>
            </a:pPr>
            <a:r>
              <a:rPr lang="ar-SA" altLang="en-US" sz="1400" b="1" dirty="0">
                <a:solidFill>
                  <a:srgbClr val="1B3B6F"/>
                </a:solidFill>
                <a:latin typeface="Amiri" pitchFamily="2" charset="-78"/>
                <a:cs typeface="Amiri" pitchFamily="2" charset="-78"/>
              </a:rPr>
              <a:t> نِصْفَ كَهْرَبَائِهَا مِنْ مَصَادِرَ مُتَجَدِّدَةٍ، وَتَسْتَثْمِرُ دُوَلُ الخَلِيجِ فِي الشَّمْسِ لِكَيْ </a:t>
            </a:r>
            <a:pPr rtl="1" algn="r" indent="0" marL="0">
              <a:lnSpc>
                <a:spcPct val="120000"/>
              </a:lnSpc>
              <a:buNone/>
            </a:pPr>
            <a:r>
              <a:rPr lang="ar-SA" altLang="en-US" sz="1400" b="1" dirty="0">
                <a:solidFill>
                  <a:srgbClr val="D6336C"/>
                </a:solidFill>
                <a:latin typeface="Amiri" pitchFamily="2" charset="-78"/>
                <a:cs typeface="Amiri" pitchFamily="2" charset="-78"/>
              </a:rPr>
              <a:t>تُحَقِّقَ</a:t>
            </a:r>
            <a:pPr rtl="1" algn="r" indent="0" marL="0">
              <a:lnSpc>
                <a:spcPct val="120000"/>
              </a:lnSpc>
              <a:buNone/>
            </a:pPr>
            <a:r>
              <a:rPr lang="ar-SA" altLang="en-US" sz="1400" b="1" dirty="0">
                <a:solidFill>
                  <a:srgbClr val="1B3B6F"/>
                </a:solidFill>
                <a:latin typeface="Amiri" pitchFamily="2" charset="-78"/>
                <a:cs typeface="Amiri" pitchFamily="2" charset="-78"/>
              </a:rPr>
              <a:t> صُفْرًا كَرْبُونِيًّا.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بَدَأَ التَّحَوُّلُ قَبْلَ عِقْدَيْنِ، </a:t>
            </a:r>
            <a:pPr rtl="1" algn="r" indent="0" marL="0">
              <a:lnSpc>
                <a:spcPct val="120000"/>
              </a:lnSpc>
              <a:buNone/>
            </a:pPr>
            <a:r>
              <a:rPr lang="ar-SA" altLang="en-US" sz="1400" b="1" dirty="0">
                <a:solidFill>
                  <a:srgbClr val="7B3FA0"/>
                </a:solidFill>
                <a:latin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cs typeface="Amiri" pitchFamily="2" charset="-78"/>
              </a:rPr>
              <a:t> الانْبِعَاثَاتُ أَقَلَّ. لِذٰلِكَ يَنْبَغِي أَنْ </a:t>
            </a:r>
            <a:pPr rtl="1" algn="r" indent="0" marL="0">
              <a:lnSpc>
                <a:spcPct val="120000"/>
              </a:lnSpc>
              <a:buNone/>
            </a:pPr>
            <a:r>
              <a:rPr lang="ar-SA" altLang="en-US" sz="1400" b="1" dirty="0">
                <a:solidFill>
                  <a:srgbClr val="0E7C86"/>
                </a:solidFill>
                <a:latin typeface="Amiri" pitchFamily="2" charset="-78"/>
                <a:cs typeface="Amiri" pitchFamily="2" charset="-78"/>
              </a:rPr>
              <a:t>تُوَاصِلَ</a:t>
            </a:r>
            <a:pPr rtl="1" algn="r" indent="0" marL="0">
              <a:lnSpc>
                <a:spcPct val="120000"/>
              </a:lnSpc>
              <a:buNone/>
            </a:pPr>
            <a:r>
              <a:rPr lang="ar-SA" altLang="en-US" sz="1400" b="1" dirty="0">
                <a:solidFill>
                  <a:srgbClr val="1B3B6F"/>
                </a:solidFill>
                <a:latin typeface="Amiri" pitchFamily="2" charset="-78"/>
                <a:cs typeface="Amiri" pitchFamily="2" charset="-78"/>
              </a:rPr>
              <a:t> الحُكُومَاتُ اسْتِثْمَارَاتِهَا.</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Arab states are now turning to renewable energy. Officials stressed that the kingdom aims to produce half its electricity from renewable sources, and the Gulf states are investing in the sun so that they reach net zero. Had the transition begun two decades ago, emissions would be lower. So governments should continue their investments.</a:t>
            </a:r>
            <a:endParaRPr lang="en-US" sz="10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تَسْتَثْمِرُ دُوَلُ الخَلِيجِ فِي الطَّاقَةِ الشَّمْسِيَّةِ لِكَيْ تُحَقِّقَ الاسْتِدَامَةَ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Gulf states invest in solar energy so that they achieve sustainability</a:t>
            </a:r>
            <a:endParaRPr lang="en-US" sz="1250" dirty="0"/>
          </a:p>
          <a:p>
            <a:pPr indent="0" marL="0">
              <a:buNone/>
            </a:pPr>
            <a:r>
              <a:rPr lang="en-US" sz="1050" i="1" dirty="0">
                <a:solidFill>
                  <a:srgbClr val="8A6D1E"/>
                </a:solidFill>
                <a:latin typeface="Calibri" pitchFamily="34" charset="0"/>
                <a:cs typeface="Amiri" pitchFamily="2" charset="-78"/>
              </a:rPr>
              <a:t>li-kay + a verb in -a (tuḥaqqiqa).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تَهْدِفُ الرُّؤْيَةُ إِلَى أَنْ تُنَوِّعَ المَمْلَكَةُ اقْتِصَادَهَا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vision aims for the kingdom to diversify its economy</a:t>
            </a:r>
            <a:endParaRPr lang="en-US" sz="1250" dirty="0"/>
          </a:p>
          <a:p>
            <a:pPr indent="0" marL="0">
              <a:buNone/>
            </a:pPr>
            <a:r>
              <a:rPr lang="en-US" sz="1050" i="1" dirty="0">
                <a:solidFill>
                  <a:srgbClr val="8A6D1E"/>
                </a:solidFill>
                <a:latin typeface="Calibri" pitchFamily="34" charset="0"/>
                <a:cs typeface="Amiri" pitchFamily="2" charset="-78"/>
              </a:rPr>
              <a:t>yahdifu ilā an + a verb in -a (tunawwiʿa).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يَنْبَغِي أَنْ تَسْتَثْمِرَ شَرِكَاتُ النِّفْطِ فِي الطَّاقَةِ الخَضْرَاءِ</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oil companies should invest in green energy</a:t>
            </a:r>
            <a:endParaRPr lang="en-US" sz="1250" dirty="0"/>
          </a:p>
          <a:p>
            <a:pPr indent="0" marL="0">
              <a:buNone/>
            </a:pPr>
            <a:r>
              <a:rPr lang="en-US" sz="1050" i="1" dirty="0">
                <a:solidFill>
                  <a:srgbClr val="8A6D1E"/>
                </a:solidFill>
                <a:latin typeface="Calibri" pitchFamily="34" charset="0"/>
                <a:cs typeface="Amiri" pitchFamily="2" charset="-78"/>
              </a:rPr>
              <a:t>yanbaghī an + a verb in -a (tastathmira).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ENERGY AND RESOURCES — ARAB WORLD POTENTIAL AND GLOBAL RESPONSIBILITY”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Energy sources: match the picture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مَصَادِرُ الطَّاقَةِ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solar energy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oil</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clean energy</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الطَّاقَةُ النَّظِيفَةُ تُقَلِّلُ التَّلَوُّثَ.</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الطَّاقَةُ الشَّمْسِيَّةُ مُتَجَدِّدَةٌ.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النَّفْطُ مَوْرِدٌ غَيْرُ مُتَجَدِّدٍ.</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مَصَادِرُ الطَّاقَةِ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solar energy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الطَّاقَةُ الشَّمْسِيَّةُ مُتَجَدِّدَةٌ.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Solar energy is renewable.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oil</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النَّفْطُ مَوْرِدٌ غَيْرُ مُتَجَدِّدٍ.</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Oil is a non-renewable resource.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clean energy</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الطَّاقَةُ النَّظِيفَةُ تُقَلِّلُ التَّلَوُّثَ.</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Clean energy reduces pollution.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ENERGY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 intention +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حُجَّةً عَنِ الطَّاقَةِ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Purpose (li-kay)</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Intention (yahdifu ilā an)</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Necessity / regret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تَسْتَثْمِرُ الدُّوَلُ فِي الشَّمْسِ لِكَيْ تُحَقِّقَ صُفْرًا كَرْبُونِيًّا</a:t>
            </a:r>
            <a:endParaRPr lang="ar-SA" sz="160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وَتَهْدِفُ الرُّؤْيَةُ إِلَى أَنْ تُنَوِّعَ المَمْلَكَةُ اقْتِصَادَهَا</a:t>
            </a:r>
            <a:endParaRPr lang="ar-SA" sz="16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وَيَنْبَغِي أَنْ تُوَاصِلَ الحُكُومَاتُ اسْتِثْمَارَاتِهَا</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تَسْتَثْمِرُ فِي المُتَجَدِّدَةِ لِكَيْ تُوَاكِبَ العَصْرَ</a:t>
            </a:r>
            <a:endParaRPr lang="ar-SA" sz="16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وَتَهْدِفُ إِلَى أَنْ تُنْتِجَ نِصْفَ كَهْرَبَائِهَا مِنَ المُتَجَدِّدَةِ</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وَيَنْبَغِي أَنْ يُشَارِكَ القِطَاعُ الخَاصُّ فِي التَّمْوِيلِ</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تَعْتَمِدُ عَلَى الشَّمْسِ لِكَيْ تَحْمِيَ اقْتِصَادَهَا</a:t>
            </a:r>
            <a:endParaRPr lang="ar-SA" sz="16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وَتَهْدِفُ إِلَى أَنْ تَقُودَ الاقْتِصَادَ الأَخْضَرَ</a:t>
            </a:r>
            <a:endParaRPr lang="ar-SA" sz="16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وَلَوِ اسْتُثْمِرَ مُبَكِّرًا لَكَانَتِ المِنْطَقَةُ رَائِدَةً</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circle every verb after li-kay and an: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Purpose, intention — or necessity?</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تُحَقِّقَ الدُّوَلُ الاسْتِدَامَةَ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تُقَلِّلَ الانْبِعَاثَاتِ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يَنْجَحَ التَّحَوُّلُ الطَّاقَوِيُّ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تُنَوِّعَ المَمْلَكَةُ اقْتِصَادَهَا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أَنْ تُنْتِجَ نِصْفَ كَهْرَبَائِهَا مِنَ المُتَجَدِّدَةِ</a:t>
            </a:r>
            <a:endParaRPr lang="ar-SA" sz="15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أَنْ تَقُودَ المِنْطَقَةُ الاقْتِصَادَ الأَخْضَرَ</a:t>
            </a:r>
            <a:endParaRPr lang="ar-SA" sz="16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أَنْ تَسْتَثْمِرَ شَرِكَاتُ النِّفْطِ فِي الطَّاقَةِ الخَضْرَاءِ</a:t>
            </a:r>
            <a:endParaRPr lang="ar-SA" sz="12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تُوَاصِلَ الحُكُومَاتُ اسْتِثْمَارَاتِهَا</a:t>
            </a:r>
            <a:endParaRPr lang="ar-SA" sz="17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أَنْ يُشَارِكَ القِطَاعُ الخَاصُّ فِي التَّمْوِيلِ</a:t>
            </a:r>
            <a:endParaRPr lang="ar-SA" sz="15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intention (yahdifu ilā 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an)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تُحَقِّقَ الدُّوَلُ الاسْتِدَامَةَ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تُقَلِّلَ الانْبِعَاثَاتِ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يَنْجَحَ التَّحَوُّلُ الطَّاقَوِيُّ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intention (yahdifu ilā 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تُنَوِّعَ المَمْلَكَةُ اقْتِصَادَهَا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تُنْتِجَ نِصْفَ كَهْرَبَائِهَا مِنَ المُتَجَدِّدَةِ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تَقُودَ المِنْطَقَةُ الاقْتِصَادَ الأَخْضَرَ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an)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أَنْ تَسْتَثْمِرَ شَرِكَاتُ النِّفْطِ فِي الطَّاقَةِ الخَضْرَاءِ</a:t>
            </a:r>
            <a:endParaRPr lang="ar-SA" sz="16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تُوَاصِلَ الحُكُومَاتُ اسْتِثْمَارَاتِهَا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 يُشَارِكَ القِطَاعُ الخَاصُّ فِي التَّمْوِيلِ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purpose?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يَهْدِفُ إِلَى 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an intention?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يَهْدِفُ إِلَى أَنْ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necessity?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يَهْدِفُ إِلَى أَنْ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بَدَأَ التَّحَوُّلُ، سَتَقِلُّ الانْبِعَاثَاتُ.</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يَبْدَأُ التَّحَوُّلُ.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 التَّحَوُّلُ مُبَكِّرًا، لَكَانَتِ الانْبِعَاثَاتُ أَقَلَّ.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purpose?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يَهْدِفُ إِلَى 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states the goal of an action.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an intention?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يَهْدِفُ إِلَى أَنْ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 إِلَى أَنْ</a:t>
            </a:r>
            <a:pPr algn="l" indent="0" marL="0">
              <a:buNone/>
            </a:pPr>
            <a:r>
              <a:rPr lang="en-US" sz="1050" i="1" dirty="0">
                <a:solidFill>
                  <a:srgbClr val="8A6D1E"/>
                </a:solidFill>
                <a:latin typeface="Calibri" pitchFamily="34" charset="0"/>
                <a:cs typeface="Amiri" pitchFamily="2" charset="-78"/>
              </a:rPr>
              <a:t> states an intention.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necessity?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يَهْدِفُ إِلَى أَنْ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states a requirement.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بَدَأَ التَّحَوُّلُ، سَتَقِلُّ الانْبِعَاثَاتُ.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يَبْدَأُ التَّحَوُّلُ.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بَدَأَ التَّحَوُّلُ مُبَكِّرًا، لَكَانَتِ الانْبِعَاثَاتُ أَقَلَّ.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تَسْتَثْمِرُ الدُّوَلُ فِي الشَّمْسِ لِكَيْ تُحَقِّقُ الاسْتِدَامَةَ.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li-kay tuḥaqqiqu?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تَهْدِفُ الرُّؤْيَةُ إِلَى أَنْ تُنَوِّعُ المَمْلَكَةُ اقْتِصَادَهَا.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tunawwiʿu?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يَتَحَوَّلُ العَالَمُ العَرَبِيُّ فِي الطَّاقَةِ المُتَجَدِّدَةِ.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yataḥawwalu fī?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تَسْتَثْمِرُ الدُّوَلُ فِي الشَّمْسِ لِكَيْ تُحَقِّقُ الاسْتِدَامَةَ.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cs typeface="Amiri" pitchFamily="2" charset="-78"/>
              </a:rPr>
              <a:t>تَسْتَثْمِرُ الدُّوَلُ فِي الشَّمْسِ لِكَيْ تُحَقِّقَ الاسْتِدَامَةَ.</a:t>
            </a:r>
            <a:endParaRPr lang="ar-SA" sz="21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تُحَقِّقَ</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تَهْدِفُ الرُّؤْيَةُ إِلَى أَنْ تُنَوِّعُ المَمْلَكَةُ اقْتِصَادَهَا.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cs typeface="Amiri" pitchFamily="2" charset="-78"/>
              </a:rPr>
              <a:t>تَهْدِفُ الرُّؤْيَةُ إِلَى أَنْ تُنَوِّعَ المَمْلَكَةُ اقْتِصَادَهَا.</a:t>
            </a:r>
            <a:endParaRPr lang="ar-SA" sz="215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takes a fatḥa: </a:t>
            </a:r>
            <a:pPr algn="l" indent="0" marL="0">
              <a:buNone/>
            </a:pPr>
            <a:r>
              <a:rPr lang="ar-SA" altLang="en-US" sz="1500" b="1" dirty="0">
                <a:solidFill>
                  <a:srgbClr val="1B3B6F"/>
                </a:solidFill>
                <a:latin typeface="Amiri" pitchFamily="2" charset="-78"/>
                <a:cs typeface="Amiri" pitchFamily="2" charset="-78"/>
              </a:rPr>
              <a:t>تُنَوِّعَ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يَتَحَوَّلُ العَالَمُ العَرَبِيُّ فِي الطَّاقَةِ المُتَجَدِّدَةِ.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cs typeface="Amiri" pitchFamily="2" charset="-78"/>
              </a:rPr>
              <a:t>يَتَحَوَّلُ العَالَمُ العَرَبِيُّ إِلَى الطَّاقَةِ المُتَجَدِّدَةِ.</a:t>
            </a:r>
            <a:endParaRPr lang="ar-SA" sz="22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يَتَحَوَّلُ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Listening: oil wealth and clean energy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share of proven oil reserves do Arab states hold?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57%</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7%</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27%</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vision aim for (intention)?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burn more oil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all energy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produce half of electricity from renewables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Gulf states invest in solar (purpose)?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emissions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achieve net-zero carbon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necessary (necessity)?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continue investing and the private sector shares funding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further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Ending investment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Timing makes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it begun two decades ago, emissions would be lower today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Emissions cannot fall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yahdifu ilā an · li-kay · yanbaghī an.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تَمْتَلِكُ الدُّوَلُ العَرَبِيَّةُ نَحْوَ سَبْعَةٍ وَخَمْسِينَ بِالمِئَةِ مِنَ الاحْتِيَاطِيَّاتِ النِّفْطِيَّةِ المُؤَكَّدَةِ عَالَمِيًّا. غَيْرَ أَنَّ كَثِيرًا مِنْهَا يَتَحَوَّلُ الآنَ نَحْوَ الطَّاقَةِ المُتَجَدِّدَةِ.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 states hold about 57% of the world’s proven oil reserves. However, many of them are now turning towards renewable energy.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وَأَكَّدَ المَسْؤُولُونَ أَنَّ المَمْلَكَةَ تَهْدِفُ إِلَى أَنْ تُنْتِجَ نِصْفَ احْتِيَاجَاتِهَا الكَهْرَبَائِيَّةِ مِنْ مَصَادِرَ مُتَجَدِّدَةٍ.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Officials stressed that the kingdom aims to produce half of its electricity needs from renewable sources.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تَسْتَثْمِرُ دُوَلُ الخَلِيجِ فِي الطَّاقَةِ الشَّمْسِيَّةِ لِكَيْ تُحَقِّقَ صُفْرًا كَرْبُونِيًّا. وَيَنْبَغِي أَنْ تُوَاصِلَ الحُكُومَاتُ اسْتِثْمَارَاتِهَا، وَأَنْ يُشَارِكَ القِطَاعُ الخَاصُّ فِي التَّمْوِيلِ.</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Gulf states invest in solar energy so that they reach net zero. Governments should continue their investments, and the private sector should share in the funding.</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إِذَا أَكْمَلَ الخَلِيجُ تَحَوُّلَهُ الطَّاقَوِيَّ، سَيُصْبِحُ رَائِدًا عَالَمِيًّا فِي الطَّاقَةِ النَّظِيفَةِ.</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 Gulf completes its energy transition, it will become a global leader in clean energy.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وَلَوْ بَدَأَ هٰذَا التَّحَوُّلُ قَبْلَ عِقْدَيْنِ، لَكَانَتِ الانْبِعَاثَاتُ العَالَمِيَّةُ اليَوْمَ أَقَلَّ.</a:t>
            </a:r>
            <a:endParaRPr lang="ar-SA" sz="19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this transition begun two decades ago, global emissions would be lower today.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share of proven oil reserves do Arab states hold?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57%</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7%</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27%</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نَحْوَ سَبْعَةٍ وَخَمْسِينَ بِالمِئَةِ مِنَ الاحْتِيَاطِيَّاتِ النِّفْطِيَّةِ.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vision aim for (intention)?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burn more oil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all energy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produce half of electricity from renewables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تَهْدِفُ إِلَى أَنْ تُنْتِجَ نِصْفَ احْتِيَاجَاتِهَا … مِنْ مَصَادِرَ مُتَجَدِّدَةٍ.</a:t>
            </a:r>
            <a:endParaRPr lang="ar-SA" sz="13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Gulf states invest in solar (purpose)?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emissions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they achieve net-zero carbon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تُحَقِّقَ صُفْرًا كَرْبُونِيًّا.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necessary (necessity)?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Governments continue investing and the private sector shares funding</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further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Ending investment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900" dirty="0">
                <a:solidFill>
                  <a:srgbClr val="8A6D1E"/>
                </a:solidFill>
                <a:latin typeface="Amiri" pitchFamily="2" charset="-78"/>
                <a:cs typeface="Amiri" pitchFamily="2" charset="-78"/>
              </a:rPr>
              <a:t>يَنْبَغِي أَنْ تُوَاصِلَ الحُكُومَاتُ اسْتِثْمَارَاتِهَا، وَأَنْ يُشَارِكَ القِطَاعُ الخَاصُّ فِي التَّمْوِيلِ.</a:t>
            </a:r>
            <a:endParaRPr lang="ar-SA" sz="9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Timing makes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it begun two decades ago, emissions would be lower today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Emissions cannot fall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لَوْ بَدَأَ هٰذَا التَّحَوُّلُ قَبْلَ عِقْدَيْنِ، لَكَانَتِ الانْبِعَاثَاتُ … أَقَلَّ.</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yahdifu ilā an · li-kay · yanbaghī an.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Speaking: purpose, intention and necessity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تَسْتَثْمِرُ الدُّوَلُ فِي الشَّمْسِ؟ اسْتَعْمِلْ «لِكَيْ».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إِلَى مَاذَا تَهْدِفُ الرُّؤْيَةُ؟ اسْتَعْمِلْ «يَهْدِفُ إِلَى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الضَّرُورِيُّ لِنَجَاحِ التَّحَوُّلِ؟ اسْتَعْمِلْ «يَنْبَغِي أَنْ» وَ«لَوْ».</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D5FBF"/>
                </a:solidFill>
                <a:latin typeface="Amiri" pitchFamily="2" charset="-78"/>
                <a:cs typeface="Amiri" pitchFamily="2" charset="-78"/>
              </a:rPr>
              <a:t>تَسْتَثْمِرُ الدُّوَلُ فِي الشَّمْسِ لِكَيْ تُحَقِّقَ ___ .</a:t>
            </a:r>
            <a:endParaRPr lang="ar-SA" sz="14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تَهْدِفُ الرُّؤْيَةُ إِلَى أَنْ تُنَوِّعَ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F2A37"/>
                </a:solidFill>
                <a:latin typeface="Amiri" pitchFamily="2" charset="-78"/>
                <a:cs typeface="Amiri" pitchFamily="2" charset="-78"/>
              </a:rPr>
              <a:t>يَنْبَغِي أَنْ تُوَاصِلَ ___ ، وَلَوْ بَدَأْنَا مُبَكِّرًا لَكُنَّا ___ .</a:t>
            </a:r>
            <a:endParaRPr lang="ar-SA" sz="11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لِمَاذَا تَسْتَثْمِرُ الدُّوَلُ فِي الشَّمْسِ؟</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do states invest in the sun?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تَسْتَثْمِرُ لِكَيْ تُحَقِّقَ صُفْرًا كَرْبُونِيًّا وَتَحْمِيَ اقْتِصَادَهَا.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They invest so that they reach net zero and protect their economy.</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three energy sentences, one for each subjunctive trigger.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three energy sentences, one for each trigger.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Type 1 prospect and a Type 2 counterfactual.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Type 1 prospect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analysis with all three triggers and a reported-speech citation.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analysis with all three triggers, both conditionals, a cited official and a formal connector.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أَكْمَلَ الخَلِيجُ تَحَوُّلَهُ، سَيُصْبِحُ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Gulf completes its transition,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بَدَأَ التَّحَوُّلُ مُبَكِّرًا، لَكَانَتِ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the transition begun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أَكَّدَ المَسْؤُولُونَ أَنَّ المَمْلَكَةَ تَهْدِفُ إِلَى أَنْ ______ .</a:t>
            </a:r>
            <a:endParaRPr lang="ar-SA" sz="14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Officials stressed that the kingdom aims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عِلَاوَةً عَلَى ذٰلِكَ، يَنْبَغِي أَنْ تُوَاصِلَ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governments should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تَسْتَثْمِرُ الدُّوَلُ فِي ______ لِكَيْ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States invest in … so that they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تَهْدِفُ الرُّؤْيَةُ إِلَى أَنْ تُنَوِّعَ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vision aims for the kingdom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يَنْبَغِي أَنْ تَسْتَثْمِرَ شَرِكَاتُ النِّفْطِ فِي ______ .</a:t>
            </a:r>
            <a:endParaRPr lang="ar-SA" sz="17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Oil companies should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يَتَحَوَّلُ العَالَمُ العَرَبِيُّ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Arab world is turning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B3B6F"/>
                </a:solidFill>
                <a:latin typeface="Amiri" pitchFamily="2" charset="-78"/>
                <a:cs typeface="Amiri" pitchFamily="2" charset="-78"/>
              </a:rPr>
              <a:t>الطَّاقَةِ الشَّمْسِيَّةِ  ·  صُفْرًا كَرْبُونِيًّا  ·  المَمْلَكَةُ اقْتِصَادَهَا  ·  مَصَادِرَ دَخْلِهَا  ·  الطَّاقَةِ الخَضْرَاءِ  ·  الطَّاقَةِ المُتَجَدِّدَةِ  ·  رَائِدًا عَالَمِيًّا  ·  الانْبِعَاثَاتُ أَقَلَّ  ·  تُنْتِجَ نِصْفَ كَهْرَبَائِهَا  ·  الحُكُومَاتُ اسْتِثْمَارَاتِهَا  ·  تُوَاكِبَ العَصْرَ  ·  تَحْمِيَ اقْتِصَادَهَا</a:t>
            </a:r>
            <a:endParaRPr lang="ar-SA" sz="10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one hundred and ten to one hundred and twenty words analysing the Arab world’s energy transition. Use all three subjunctive triggers — li-kay (purpose), yahdifu ilā an (intention), yanbaghī an (necessity) — both conditional types, reported speech and a formal connector.</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three triggers, each with a subjunctive verb.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real prospect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citing officials.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connector (ʿilāwatan ʿalā dhālika / ghayra anna).</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نَحْوَ سَبْعَةٍ وَخَمْسِينَ بِالمِئَةِ مِنَ الاحْتِيَاطِيَّاتِ</a:t>
            </a:r>
            <a:endParaRPr lang="ar-SA" sz="16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about 57% of the reserves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العَمُودَ الفِقْرِيَّ لِلِاقْتِصَادِ</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backbone of the economy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غَيْرَ أَنَّ كَثِيرًا مِنْهَا يَتَحَوَّلُ</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however, many of them are turning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يَنْجَحَ الاقْتِصَادُ الأَخْضَرُ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the green economy succeeds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عِلَاوَةً عَلَى ذٰلِكَ</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moreover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50" dirty="0">
                <a:solidFill>
                  <a:srgbClr val="1F2A37"/>
                </a:solidFill>
                <a:latin typeface="Amiri" pitchFamily="2" charset="-78"/>
                <a:cs typeface="Amiri" pitchFamily="2" charset="-78"/>
              </a:rPr>
              <a:t>تَمْتَلِكُ الدُّوَلُ العَرَبِيَّةُ نَحْوَ سَبْعَةٍ وَخَمْسِينَ بِالمِئَةِ مِنَ الاحْتِيَاطِيَّاتِ النِّفْطِيَّةِ المُؤَكَّدَةِ، وَقَدْ شَكَّلَتْ هٰذِهِ المَوَارِدُ العَمُودَ الفِقْرِيَّ لِلِاقْتِصَادِ لِعُقُودٍ. غَيْرَ أَنَّ كَثِيرًا مِنْهَا يَتَحَوَّلُ الآنَ نَحْوَ الطَّاقَةِ المُتَجَدِّدَةِ. وَأَكَّدَ المَسْؤُولُونَ أَنَّ المَمْلَكَةَ تَهْدِفُ إِلَى أَنْ تُنْتِجَ نِصْفَ كَهْرَبَائِهَا مِنْ مَصَادِرَ مُتَجَدِّدَةٍ. وَتَسْتَثْمِرُ دُوَلُ الخَلِيجِ فِي الطَّاقَةِ الشَّمْسِيَّةِ لِكَيْ تُحَقِّقَ صُفْرًا كَرْبُونِيًّا. إِذَا أَكْمَلَ الخَلِيجُ تَحَوُّلَهُ، سَيُصْبِحُ رَائِدًا عَالَمِيًّا. وَلَوْ بَدَأَ التَّحَوُّلُ قَبْلَ عِقْدَيْنِ، لَكَانَتِ الانْبِعَاثَاتُ أَقَلَّ. عِلَاوَةً عَلَى ذٰلِكَ، يَنْبَغِي أَنْ تُوَاصِلَ الحُكُومَاتُ اسْتِثْمَارَاتِهَا، وَأَنْ يُشَارِكَ القِطَاعُ الخَاصُّ فِي التَّمْوِيلِ لِكَيْ يَنْجَحَ الاقْتِصَادُ الأَخْضَرُ.</a:t>
            </a:r>
            <a:endParaRPr lang="ar-SA" sz="22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Arab states hold about 57% of proven oil reserves, and these resources have formed the backbone of the economy for decades. However, many of them are now turning towards renewable energy. Officials stressed that the kingdom aims to produce half its electricity from renewable sources. The Gulf states invest in solar energy so that they reach net zero. If the Gulf completes its transition, it will become a global leader. Had the transition begun two decades ago, emissions would be lower. Moreover, governments should continue their investments, and the private sector should share in the funding so that the green economy succeeds.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tuḥaqqiqa (purpose)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yahdifu ilā an tuntija (intention)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yanbaghī an tuwāṣila (necessity)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 law … la- · akkada anna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li-kay and every an, my verb ends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 three triggers: li-kay, yahdifu ilā an, yanbaghī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verb has its partner: yataḥawwalu ilā · yastathmiru fī · yaʿtamidu ʿalā.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prospect uses idhā … sa-; my regret uses law … 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officials (akkada anna) and used a formal connector.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 </a:t>
            </a:r>
            <a:pPr algn="l" indent="0" marL="0">
              <a:buNone/>
            </a:pPr>
            <a:r>
              <a:rPr lang="ar-SA" altLang="en-US" sz="1550" b="1" dirty="0">
                <a:solidFill>
                  <a:srgbClr val="1B3B6F"/>
                </a:solidFill>
                <a:latin typeface="Amiri" pitchFamily="2" charset="-78"/>
                <a:cs typeface="Amiri" pitchFamily="2" charset="-78"/>
              </a:rPr>
              <a:t>تَسْتَثْمِرُ الدُّوَلُ فِي الشَّمْسِ لِكَيْ</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cs typeface="Amiri" pitchFamily="2" charset="-78"/>
              </a:rPr>
              <a:t>الاسْتِدَامَةَ</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حَقَّقَتْ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an intention?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يَهْدِفُ إِلَى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necessity: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اسْتِثْمَارَاتِهَا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تُوَاصِلَ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تُوَاصِلُ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وَاصَلَتْ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purpose clause: </a:t>
            </a:r>
            <a:pPr algn="l" indent="0" marL="0">
              <a:buNone/>
            </a:pPr>
            <a:r>
              <a:rPr lang="ar-SA" altLang="en-US" sz="1550" b="1" dirty="0">
                <a:solidFill>
                  <a:srgbClr val="1B3B6F"/>
                </a:solidFill>
                <a:latin typeface="Amiri" pitchFamily="2" charset="-78"/>
                <a:cs typeface="Amiri" pitchFamily="2" charset="-78"/>
              </a:rPr>
              <a:t>تَسْتَثْمِرُ الدُّوَلُ فِي الشَّمْسِ لِكَيْ</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cs typeface="Amiri" pitchFamily="2" charset="-78"/>
              </a:rPr>
              <a:t>الاسْتِدَامَةَ</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تُحَقِّقَ</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تُحَقِّقُ</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حَقَّقَتْ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تُحَقِّقَ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an intention?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لِكَيْ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يَهْدِفُ إِلَى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يَنْبَغِي 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 إِلَى أَنْ</a:t>
            </a:r>
            <a:pPr algn="l" indent="0" marL="0">
              <a:buNone/>
            </a:pPr>
            <a:r>
              <a:rPr lang="en-US" sz="1050" i="1" dirty="0">
                <a:solidFill>
                  <a:srgbClr val="8A6D1E"/>
                </a:solidFill>
                <a:latin typeface="Calibri" pitchFamily="34" charset="0"/>
                <a:cs typeface="Amiri" pitchFamily="2" charset="-78"/>
              </a:rPr>
              <a:t> states an intention.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necessity: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الحُكُومَاتُ اسْتِثْمَارَاتِهَا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تُوَاصِلَ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تُوَاصِلُ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وَاصَلَتْ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cs typeface="Amiri" pitchFamily="2" charset="-78"/>
              </a:rPr>
              <a:t>تُوَاصِلَ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energy paradox</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يَعِيشُ العَالَمُ العَرَبِيُّ مُفَارَقَةً لَافِتَةً: فَهُوَ أَكْبَرُ مُصَدِّرٍ لِلْوَقُودِ الأُحْفُورِيِّ، وَيَمْلِكُ فِي الوَقْتِ نَفْسِهِ أَعْلَى إِمْكَانَاتِ الطَّاقَةِ الشَّمْسِيَّةِ فِي العَالَمِ. تَهْدِفُ رُؤًى وَطَنِيَّةٌ عِدَّةٌ إِلَى أَنْ تُنَوِّعَ الدُّوَلُ مَصَادِرَ دَخْلِهَا وَتُقَلِّلَ اعْتِمَادَهَا عَلَى النِّفْطِ. وَتَسْتَثْمِرُ هٰذِهِ الدُّوَلُ فِي الطَّاقَةِ المُتَجَدِّدَةِ لِكَيْ تُوَاكِبَ العَصْرَ وَتَحْمِيَ اقْتِصَادَهَا. لٰكِنَّ الطَّرِيقَ طَوِيلٌ؛ فَيَنْبَغِي أَنْ تُوَجِّهَ صَنَادِيقُ الثَّرْوَةِ السِّيَادِيَّةُ جُزْءًا أَكْبَرَ نَحْوَ الاقْتِصَادِ الأَخْضَرِ. إِذَا نَجَحَ هٰذَا التَّحَوُّلُ، سَيُصْبِحُ العَالَمُ العَرَبِيُّ نَمُوذَجًا. وَلَوِ اسْتُثْمِرَ فِي الشَّمْسِ مُبَكِّرًا، لَكَانَتِ المِنْطَقَةُ رَائِدَةً عَالَمِيَّةً الآنَ.</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المُؤَكَّدَةِ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proven, confirmed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احْتِيَاجَاتِهَا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needs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القِطَاعُ الخَاصُّ</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private sector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التَّمْوِيلِ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funding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رَائِدًا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leader, a pioneer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عِقْدَيْنِ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decades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مُفَارَقَةً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paradox</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مُصَدِّرٍ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exporter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إِمْكَانَاتِ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potential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تُوَاكِبَ العَصْرَ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keep pace with the times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paradox does the Arab world live?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energy at all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Largest fossil-fuel exporter with the highest solar potential</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renewables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national visions aim for (intention)?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burn more oil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the economy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diversify income and cut reliance on oil</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states invest in renewables (purpose)?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they keep pace with the age and protect their economy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fall behind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necessary (necessity)?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further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Sovereign wealth funds direct a larger share to the green economy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Ending the funds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it invested in solar early, the region would lead the world now</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makes no difference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is impossible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paradox does the Arab world live?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energy at all</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Largest fossil-fuel exporter with the highest solar potential</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renewables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أَكْبَرُ مُصَدِّرٍ لِلْوَقُودِ الأُحْفُورِيِّ، وَيَمْلِكُ … أَعْلَى إِمْكَانَاتِ الطَّاقَةِ الشَّمْسِيَّةِ.</a:t>
            </a:r>
            <a:endParaRPr lang="ar-SA"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national visions aim for (intention)?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burn more oil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the economy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diversify income and cut reliance on oil</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تَهْدِفُ … إِلَى أَنْ تُنَوِّعَ الدُّوَلُ مَصَادِرَ دَخْلِهَا وَتُقَلِّلَ اعْتِمَادَهَا عَلَى النِّفْطِ.</a:t>
            </a:r>
            <a:endParaRPr lang="ar-SA"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the states invest in renewables (purpose)?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 that they keep pace with the age and protect their economy</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fall behind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تُوَاكِبَ العَصْرَ وَتَحْمِيَ اقْتِصَادَهَا.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necessary (necessity)?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further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Sovereign wealth funds direct a larger share to the green economy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Ending the funds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cs typeface="Amiri" pitchFamily="2" charset="-78"/>
              </a:rPr>
              <a:t>يَنْبَغِي أَنْ تُوَجِّهَ صَنَادِيقُ الثَّرْوَةِ السِّيَادِيَّةُ جُزْءًا أَكْبَرَ نَحْوَ الاقْتِصَادِ الأَخْضَرِ.</a:t>
            </a:r>
            <a:endParaRPr lang="ar-SA" sz="9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it invested in solar early, the region would lead the world now</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makes no difference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is impossible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لَوِ اسْتُثْمِرَ فِي الشَّمْسِ مُبَكِّرًا، لَكَانَتِ المِنْطَقَةُ رَائِدَةً.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Energy Mission — Purpose, Intention and Necessity</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الاسْتِدَامَةَ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تُحَقِّقَ</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حَقَّقَتْ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Intention: complete — </a:t>
            </a:r>
            <a:pPr algn="l" indent="0" marL="0">
              <a:buNone/>
            </a:pPr>
            <a:r>
              <a:rPr lang="ar-SA" altLang="en-US" sz="1650" b="1" dirty="0">
                <a:solidFill>
                  <a:srgbClr val="1B3B6F"/>
                </a:solidFill>
                <a:latin typeface="Amiri" pitchFamily="2" charset="-78"/>
                <a:cs typeface="Amiri" pitchFamily="2" charset="-78"/>
              </a:rPr>
              <a:t>تَهْدِفُ الرُّؤْيَةُ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تُنَوِّعُ</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نَوَّعَتْ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الشَّرِكَاتُ فِي الطَّاقَةِ الخَضْرَاءِ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اسْتَثْمَرَتْ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intention</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يَهْدِفُ إِلَى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intention</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88" name="Text 8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intention</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الاسْتِدَامَةَ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تُحَقِّقُ</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تُحَقِّقَ</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حَقَّقَتْ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Intention: complete — </a:t>
            </a:r>
            <a:pPr algn="l" indent="0" marL="0">
              <a:buNone/>
            </a:pPr>
            <a:r>
              <a:rPr lang="ar-SA" altLang="en-US" sz="1650" b="1" dirty="0">
                <a:solidFill>
                  <a:srgbClr val="1B3B6F"/>
                </a:solidFill>
                <a:latin typeface="Amiri" pitchFamily="2" charset="-78"/>
                <a:cs typeface="Amiri" pitchFamily="2" charset="-78"/>
              </a:rPr>
              <a:t>تَهْدِفُ الرُّؤْيَةُ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الاقْتِصَادَ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تُنَوِّعَ</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تُنَوِّعُ</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نَوَّعَتْ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الشَّرِكَاتُ فِي الطَّاقَةِ الخَضْرَاءِ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اسْتَثْمَرَتْ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تَسْتَثْمِرَ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takes a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intention</a:t>
            </a:r>
            <a:endParaRPr lang="en-US"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a:t>
            </a:r>
            <a:endParaRPr lang="en-US"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states purpose.</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يَهْدِفُ إِلَى أَنْ</a:t>
            </a:r>
            <a:pPr algn="l" indent="0" marL="0">
              <a:buNone/>
            </a:pPr>
            <a:r>
              <a:rPr lang="en-US" sz="1450" b="1" dirty="0">
                <a:solidFill>
                  <a:srgbClr val="1F2A37"/>
                </a:solidFill>
                <a:latin typeface="Calibri" pitchFamily="34" charset="0"/>
                <a:cs typeface="Amiri" pitchFamily="2" charset="-78"/>
              </a:rPr>
              <a:t> is …</a:t>
            </a:r>
            <a:endParaRPr lang="en-US" sz="14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intention</a:t>
            </a:r>
            <a:endParaRPr lang="en-US" sz="125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يَهْدِفُ إِلَى أَنْ</a:t>
            </a:r>
            <a:pPr algn="l" indent="0" marL="0">
              <a:buNone/>
            </a:pPr>
            <a:r>
              <a:rPr lang="en-US" sz="1050" i="1" dirty="0">
                <a:solidFill>
                  <a:srgbClr val="8A6D1E"/>
                </a:solidFill>
                <a:latin typeface="Calibri" pitchFamily="34" charset="0"/>
                <a:cs typeface="Amiri" pitchFamily="2" charset="-78"/>
              </a:rPr>
              <a:t> states intention.</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Type:</a:t>
            </a:r>
            <a:endParaRPr lang="en-US" sz="1200" dirty="0"/>
          </a:p>
        </p:txBody>
      </p:sp>
      <p:sp>
        <p:nvSpPr>
          <p:cNvPr id="97" name="Text 9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intention</a:t>
            </a:r>
            <a:endParaRPr lang="en-US" sz="125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states necessity.</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P4-L06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P4-L07 · Heritage Conservation — Protecting the Built and Natural Past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تُرَاثٌ مِعْمَارِيٌّ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architectural heritage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مَوْقِعٌ أَثَرِيٌّ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archaeological site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تَرْمِيمٌ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restoration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يُحَافِظُ عَلَى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preserves, maintains</a:t>
            </a:r>
            <a:pPr indent="0" marL="0">
              <a:buNone/>
            </a:pPr>
            <a:r>
              <a:rPr lang="en-US" sz="1000" i="1" dirty="0">
                <a:solidFill>
                  <a:srgbClr val="5A6472"/>
                </a:solidFill>
                <a:latin typeface="Calibri" pitchFamily="34" charset="0"/>
                <a:cs typeface="Amiri" pitchFamily="2" charset="-78"/>
              </a:rPr>
              <a:t>  with ʿalā</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الذَّاكِرَةُ الجَمَاعِيَّةُ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collective memory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heritage site in the Arab world would you protect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يَنْبَغِي أَنْ نُحَافِظَ عَلَى ______ لِكَيْ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energy sentences: one with li-kay, one with yahdifu ilā an, one with yanbaghī an (verbs in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Type 1 prospect and a Type 2 counterfactual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110–120-word energy-transition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P4-L07 · Heritage Conservation — Protecting the Built and Natural Past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الحِفَاظُ عَلَى التُّرَاثِ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WHY? li-kay · AIM? yahdifu ilā an · MUST? yanbaghī an — all + a verb in -A. Learn each verb with its partner (yataḥawwalu ilā, yastathmiru fī), and weigh the future with idhā … sa- and law … 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P4-L06 · Energy and Resources — Arab World Potential and Global Responsibility</dc:title>
  <dc:subject>PptxGenJS Presentation</dc:subject>
  <dc:creator>Al Madina Online School · Arabic Department</dc:creator>
  <cp:lastModifiedBy>Al Madina Online School · Arabic Department</cp:lastModifiedBy>
  <cp:revision>1</cp:revision>
  <dcterms:created xsi:type="dcterms:W3CDTF">2026-10-11T06:43:19Z</dcterms:created>
  <dcterms:modified xsi:type="dcterms:W3CDTF">2026-10-11T06:43:19Z</dcterms:modified>
</cp:coreProperties>
</file>