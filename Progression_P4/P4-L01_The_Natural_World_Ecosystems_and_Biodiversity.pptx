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P4-L01. The website lesson “The Natural World — Landscapes, Ecosystems and Biodiversity”: vocabulary, grammar rules and quiz, patterns, common mistakes, sorter, listening, reading, speaking prompts and model, writing task and model, differentiation, final check and the lesson mission. Picture match: website visual game “The Natural World — Landscapes, Ecosystems and Biodiversity”.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ecosystem sentences with yaḍummu, yushakkilu and their complements (website Core). Develop: add a Type 1 threat and a Type 2 counterfactual. Stretch: close with a li-kay purpose clause (website 100–110 words).
• A new unit: celebrate the P3 grammar students bring with them — both conditionals and the verb in -a after an. Today li-kay works exactly like an.
• Faith link (optional): وَوَضَعَ المِيزَانَ (al-Raḥmān 55:7) — Allah set the balance; humans are trustees (khalīfa) of the earth. A natural bridge to التَّوَازُنُ البِيئِيُّ.
• Grammar links: Type 1 / Type 2 (P3-L05) · the subjunctive after an (P3-L06/L07) · verbs with fixed partners (P3-L04).
• TEACHER-WRITTEN ITEMS: waṣl alif shown without a kasra; لِكَيْ always written with its sukūn; rule headings and formulas in English and transliteration; sorter headings in English; the verb, purpose and register tables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P3-L12. Questions 4–5 retrieve the Type 2 la- and the verb in -a after an (P3) — today li-kay uses the same -a.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li-kay works like an: the next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نظام، توازن، حیات and خطرہ are shared. Careful: Urdu طبیعت usually means one’s mood or health (طبیعت ٹھیک ہے؟); Arabic الطَّبِيعَةُ is nature — the natural world (Urdu uses قدرت).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Ecosystems and biodiversity (website vocabulary (1 of 2)). Hear → Say → See → Use. Transliteration is printed for Core students (cover it for Develop/Stretch).
Ecosystems and biodiversity: the nouns of a science report. Note the plurals: نِظَامٌ → أَنْظِمَةٌ (or نُظُمٌ in the website texts) · سِلْسِلَةٌ → سَلَاسِلُ · مَوْطِنٌ → مَوَاطِنُ.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Ecosystems and biodiversity (website vocabulary (2 of 2)). Hear → Say → See → Use. Transliteration is printed for Core students (cover it for Develop/Stretch).
Ecosystems and biodiversity: the nouns of a science report. Note the plurals: نِظَامٌ → أَنْظِمَةٌ (or نُظُمٌ in the website texts) · سِلْسِلَةٌ → سَلَاسِلُ · مَوْطِنٌ → مَوَاطِنُ.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Composition and impact verbs (website vocabulary (1 of 2)). Hear → Say → See → Use. Transliteration is printed for Core students (cover it for Develop/Stretch).
Composition and impact verbs: learn each with its partner — يَضُمُّ / يُشَكِّلُ / يُهَدِّدُ + object · يَتَكَوَّنُ مِنْ · يَتَفَاعَلُ مَعَ · يَعْتَمِدُ عَلَى · يُؤَدِّي إِلَى. With a forest, a sea or the reefs as subject, use ta-: تَضُمُّ · تُشَكِّلُ.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Composition and impact verbs (website vocabulary (2 of 2)). Hear → Say → See → Use. Transliteration is printed for Core students (cover it for Develop/Stretch).
FLEX: teach if time allows; otherwise these are on the website vocabulary tab for homework.
Composition and impact verbs: learn each with its partner — يَضُمُّ / يُشَكِّلُ / يُهَدِّدُ + object · يَتَكَوَّنُ مِنْ · يَتَفَاعَلُ مَعَ · يَعْتَمِدُ عَلَى · يُؤَدِّي إِلَى. With a forest, a sea or the reefs as subject, use ta-: تَضُمُّ · تُشَكِّلُ.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purpose subjunctive (website vocabulary (1 of 2)). Hear → Say → See → Use. Transliteration is printed for Core students (cover it for Develop/Stretch).
FLEX: teach if time allows; otherwise these are on the website vocabulary tab for homework.
The purpose subjunctive (FLEX): لِكَيْ = so that; the next verb ends in -a, just like after أَنْ: لِكَيْ نَحْمِيَ · لِكَيْ تَسْتَمِرَّ · لِكَيْ تُحَافِظَ.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purpose subjunctive (website vocabulary (2 of 2)). Hear → Say → See → Use. Transliteration is printed for Core students (cover it for Develop/Stretch).
FLEX: teach if time allows; otherwise these are on the website vocabulary tab for homework.
The purpose subjunctive (FLEX): لِكَيْ = so that; the next verb ends in -a, just like after أَنْ: لِكَيْ نَحْمِيَ · لِكَيْ تَسْتَمِرَّ · لِكَيْ تُحَافِظَ.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“Composition”, teaching point 1 and the vocabulary notes (يَضُمُّ Form I doubled · يُشَكِّلُ Form II · يَتَفَاعَلُ Form VI + مَعَ · يَعْتَمِدُ عَلَى · يُهَدِّدُ + object · يُؤَدِّي إِلَى). All examples are from the website listening and reading.
Also in the vocabulary: يَتَكَوَّنُ مِنْ (is composed of) — يَتَكَوَّنُ النِّظَامُ البِيئِيُّ مِنْ كَائِنَاتٍ حَيَّةٍ وَبِيئَتِهَا.
Agreement: الغَابَةُ / الشِّعَابُ / الأَنْوَاعُ are “she” → تَضُمُّ · تَتَفَاعَلُ; المَرْجَانُ / الاحْتِرَارُ are “he” → يُشَكِّلُ · يُهَدِّدُ.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“Real threat (Type 1)” and “Counterfactual (Type 2)”; card 3 is from the website reading (لَوْ عَامَلْنَا … لَمَا وَصَلَ كَثِيرٌ مِنَ الأَنْوَاعِ إِلَى حَافَّةِ الانْقِرَاضِ).
Revision from P3-L05: a real trend that can still happen → إِذَا … سَـ; a past that did not happen → لَوْ … لَـ / لَمَا.
أَصْرَمُ = stricter (comparative of صَارِمٌ) — accusative أَصْرَمَ as the predicate of كَانَ.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“Purpose subjunctive”, teaching point 2 (“P4 accuracy depends on it”), mistake 1 and vocabulary group 3. Row 5 is a teacher addition: verbs ending in -ā (تَبْقَى · يَسْعَى) show no change.
Same rule as P3-L06/L07: أَنْ / لِكَيْ / لِـ (purpose) all take the verb in -a. Also correct: لِنَحْمِيَ (li- + verb) — the shorter form.
The doubled verb: تَسْتَمِرُّ → تَسْتَمِرَّ (the shadda stays, only the last vowel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listening, reading and writing model.
Row 1: يُعَدُّ + accusative (أَسَاسَ) — “is considered the basis”. Row 2: P3-L01 superlative. Row 3: لَا غِنَى عَنْهُ / عَنْهَا = indispensable. Row 4: يُؤَدِّي إِلَى + a verbal noun (تَبْيِيضِ).
Science fact for Stretch: coral bleaching happens when hot water makes corals expel the algae that feed them; some northern Red Sea corals appear unusually heat-tolerant, which is why scientists study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ecosystem verbs with their complements, both conditional types applied to threats, and the لِكَيْ purpose clause with its subjunctive verb.”
• Composition: Both take a direct object; يَتَفَاعَلُ takes مَعَ.
• Real threat (Type 1): A likely consequence of a current trend.
• Counterfactual (Type 2): What would have been better.
• Purpose subjunctive: لِكَيْ triggers the subjunctive.
Website common error: Leaving the verb after لِكَيْ in the indicative (تَحْمِي) instead of the subjunctive (تَحْمِيَ). The final fatḥa is the mark that earns the accuracy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“Describe first: yaḍummu + object, yushakkilu + object. Then the threat: yuhaddidu — and a real warning, idhā … SA-. Then the regret: law … LA-kānat. Close with li-kay — so the verb ends in -A: naḥmiyA.”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The Natural World — Landscapes, Ecosystems and Biodiversity”)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a quick warm-up at A2 level. Then upgrade each to today’s register: تَضُمُّ الغَابَةُ آلَافَ الأَنْوَاعِ · يَضُمُّ البَحْرُ شِعَابًا مَرْجَانِيَّةً · يَجِبُ أَنْ نَتَعَاوَنَ لِكَيْ نَحْمِيَ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The Natural World — Landscapes, Ecosystems and Biodiversity”)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a quick warm-up at A2 level. Then upgrade each to today’s register: تَضُمُّ الغَابَةُ آلَافَ الأَنْوَاعِ · يَضُمُّ البَحْرُ شِعَابًا مَرْجَانِيَّةً · يَجِبُ أَنْ نَتَعَاوَنَ لِكَيْ نَحْمِيَ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an ecosystem argument from a composition, a threat and a purpose clause.” Website feedback: any three different combinations work.
Core: read row 1 across. Develop: label column 2 — Type 1 (row 1), Type 2 (row 2), cause–effect (row 3). Stretch: write your own column-3 line about a desert or a mountain: لِكَيْ نُحَافِظَ عَلَى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join one card from each column into a three-part argument: تَضُمُّ … ، وَإِذَا … سَـ … ، لِذٰلِكَ … لِكَيْ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join one card from each column into a three-part argument: تَضُمُّ … ، وَإِذَا … سَـ … ، لِذٰلِكَ … لِكَيْ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verb after li-kay with its final vowel.
Listen 1: just listen. Listen 2: note answers. Then chat the letters.
Support: after the second listening, show the read-along slide (Arabic + English, line by line) for Core students.
SCRIPT (read aloud):
يَقَعُ البَحْرُ الأَحْمَرُ بَيْنَ شِبْهِ الجَزِيرَةِ العَرَبِيَّةِ وَشَمَالِ أَفْرِيقِيَا. يَضُمُّ هٰذَا البَحْرُ شِعَابًا مَرْجَانِيَّةً مِنْ أَغْنَى النُّظُمِ البِيئِيَّةِ البَحْرِيَّةِ فِي العَالَمِ. يُشَكِّلُ المَرْجَانُ بِيئَةً لَا غِنَى عَنْهَا لِآلَافِ الأَسْمَاكِ. غَيْرَ أَنَّ الاحْتِرَارَ يُهَدِّدُ هٰذَا التَّوَازُنَ. إِذَا اسْتَمَرَّ ارْتِفَاعُ حَرَارَةِ المُحِيطَاتِ، سَتَتَبَيَّضُ الشِّعَابُ وَتَمُوتُ. وَلَوْ كَانَتْ إِجْرَاءَاتُ الحِمَايَةِ أَصْرَمَ فِي العُقُودِ المَاضِيَةِ، لَكَانَتِ الشِّعَابُ أَفْضَلَ حَالًا اليَوْمَ. لِذٰلِكَ تَحْتَاجُ دُوَلُ المِنْطَقَةِ إِلَى تَعَاوُنٍ إِقْلِيمِيٍّ لِكَيْ تَحْمِيَ هٰذَا الإِرْثَ الطَّبِيعِيَّ الاسْتِثْنَائِيَّ.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نَحْتَاجُ إِلَى حِمَايَتِهِ؟ (Purpose)
B: نَحْتَاجُ إِلَى تَعَاوُنٍ لِكَيْ نَحْمِيَ هٰذَا الإِرْثَ، وَلَوْ تَأَخَّرْنَا أَكْثَرَ لَخَسِرْنَاهُ. (لِكَيْ + subjunctive plus a Type 2)
Website prompts and model. Pair task: each student defends a different ecosystem (desert · forest · sea · mountain) in 40 seconds — composition, threat, purpose. Partner checks the -a after li-kay. To a girl: صِفِي · مُسْتَعْمِلَةً · عَبِّرِي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ecosystem sentences with يَضُمُّ, يُشَكِّلُ and their complements. · Develop — Add a Type 1 threat and a Type 2 counterfactual. · Stretch — Close with a لِكَي purpose clause using the subjunctive fatḥa.
Website writing task (Stretch): Write one hundred to one hundred and ten words describing a natural ecosystem. Use يَضُمُّ and يُشَكِّلُ, a Type 1 threat and a Type 2 counterfactual, and a purpose clause with لِكَيْ + a subjunctive verb.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وَيَضُمُّ شِعَابًا · يُشَكِّلُ المَرْجَانُ بِيئَةً · تَتَفَاعَلُ الأَنْوَاعُ مَعَ · يُهَدِّدُ … وَيُؤَدِّي إِلَى · إِذَا اسْتَمَرَّ … سَتَمُوتُ · لَوْ كَانَتْ … لَكَانَتِ · لِكَيْ تَحْمِيَ.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(P4-L02 · Urban Environments — Cities, Architecture and Urban Planning) will spend class time USING this language, so students prepare it tonight — short, simple, easy to access (school guidance: “Simple, Short, Interesting, Relevant, Easy to access”). The five words come from the website P4-L02 vocabulary (urban environments).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Natural World — Landscapes, Ecosystems and Biodiversity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800" b="1" dirty="0">
                <a:solidFill>
                  <a:srgbClr val="D4AF37"/>
                </a:solidFill>
                <a:latin typeface="Amiri" pitchFamily="2" charset="-78"/>
                <a:ea typeface="Amiri" pitchFamily="2" charset="-78"/>
                <a:cs typeface="Amiri" pitchFamily="2" charset="-78"/>
              </a:rPr>
              <a:t>العَالَمُ الطَّبِيعِيُّ — المَنَاظِرُ وَالأَنْظِمَةُ البِيئِيَّةُ وَالتَّنَوُّعُ الحَيَوِيُّ</a:t>
            </a:r>
            <a:endParaRPr lang="ar-SA" sz="28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an ecosystem in scientific register with yaḍummu and yushakkilu, weigh a real threat (idhā … sa-) against a counterfactual (law … la-), and give a purpose with li-kay + a verb ending in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P4-L01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Composition verbs + partners, a threat vs a counterfactual, li-kay + -a, scientific register.</a:t>
            </a:r>
            <a:endParaRPr lang="en-US" sz="11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natural scenes, build an ecosystem argument, sort composition / conditional / purpose.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نِظَامٌ بِيئِيٌّ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environmental law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ecosystem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nature reserve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مَوْطِنٌ طَبِيعِيٌّ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natural habitat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homeland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natural resource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يُهَدِّدُ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protects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includes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threatens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سَأُوَفِّرُ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نِظَامٌ بِيئِيٌّ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environmental law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ecosystem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nature reserve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مَوْطِنٌ طَبِيعِيٌّ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natural habitat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homeland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natural resource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يُهَدِّدُ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protects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includes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threatens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سَأُوَفِّرُ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 a Type 2 result takes la-.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P3-L07: after an, the verb ends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li-kay works like an: the next verb ends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أَنْ </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يَتَعَلَّمَ</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لِكَيْ </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نَحْمِيَ</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لِكَيْ </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تَسْتَمِرَّ</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ecosystem and biodiversity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composition with yaḍummu, yushakkilu and yatafāʿalu maʿa.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Weigh a real threat (idhā) against a counterfactual (law).</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purpose with li-kay + a verb ending in -a.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ecosystem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yaḍummu / yushakkilu with an object.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threat with idhā … sa-.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counterfactual with law … la-.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purpose with li-kay + -a.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and defend an ecosystem.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Ecosystems and biodiversity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Composition and impact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purpose subjunctive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نِظَامٌ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‎نظام‎ </a:t>
            </a:r>
            <a:pPr indent="0" marL="0">
              <a:buNone/>
            </a:pPr>
            <a:r>
              <a:rPr lang="en-US" sz="950" b="1" dirty="0">
                <a:solidFill>
                  <a:srgbClr val="2E8B57"/>
                </a:solidFill>
                <a:latin typeface="Calibri" pitchFamily="34" charset="0"/>
                <a:cs typeface="Amiri" pitchFamily="2" charset="-78"/>
              </a:rPr>
              <a:t> nizām · a system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تَوَازُنٌ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حَيَاةٌ · حَيَوِيٌّ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‎حیات‎ </a:t>
            </a:r>
            <a:pPr indent="0" marL="0">
              <a:buNone/>
            </a:pPr>
            <a:r>
              <a:rPr lang="en-US" sz="950" b="1" dirty="0">
                <a:solidFill>
                  <a:srgbClr val="2E8B57"/>
                </a:solidFill>
                <a:latin typeface="Calibri" pitchFamily="34" charset="0"/>
                <a:cs typeface="Amiri" pitchFamily="2" charset="-78"/>
              </a:rPr>
              <a:t> hayāt · life · biological, vital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‎خطرہ‎ </a:t>
            </a:r>
            <a:pPr indent="0" marL="0">
              <a:buNone/>
            </a:pPr>
            <a:r>
              <a:rPr lang="en-US" sz="950" b="1" dirty="0">
                <a:solidFill>
                  <a:srgbClr val="2E8B57"/>
                </a:solidFill>
                <a:latin typeface="Calibri" pitchFamily="34" charset="0"/>
                <a:cs typeface="Amiri" pitchFamily="2" charset="-78"/>
              </a:rPr>
              <a:t> khatra · danger, threat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طَبِيعَةٌ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‎طبیعت‎ </a:t>
            </a:r>
            <a:pPr indent="0" marL="0">
              <a:buNone/>
            </a:pPr>
            <a:r>
              <a:rPr lang="en-US" sz="950" b="1" dirty="0">
                <a:solidFill>
                  <a:srgbClr val="2E8B57"/>
                </a:solidFill>
                <a:latin typeface="Calibri" pitchFamily="34" charset="0"/>
                <a:cs typeface="Amiri" pitchFamily="2" charset="-78"/>
              </a:rPr>
              <a:t> tabīʿat · Arabic: nature · Urdu: mood, health</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Ecosystems and biodiversity (1 of 2)</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نِظَامٌ بِيئِيٌّ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ecosystem</a:t>
            </a:r>
            <a:endParaRPr lang="en-US" sz="1350" dirty="0"/>
          </a:p>
          <a:p>
            <a:pPr indent="0" marL="0">
              <a:buNone/>
            </a:pPr>
            <a:r>
              <a:rPr lang="en-US" sz="1100" i="1" dirty="0">
                <a:solidFill>
                  <a:srgbClr val="5A6472"/>
                </a:solidFill>
                <a:latin typeface="Calibri" pitchFamily="34" charset="0"/>
                <a:cs typeface="Amiri" pitchFamily="2" charset="-78"/>
              </a:rPr>
              <a:t>ni-ẓā-mun bī-ʾiy-yun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أَنْظِمَةٌ بِيئِيَّةٌ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تَنَوُّعٌ حَيَوِيٌّ</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biodiversity</a:t>
            </a:r>
            <a:endParaRPr lang="en-US" sz="1350" dirty="0"/>
          </a:p>
          <a:p>
            <a:pPr indent="0" marL="0">
              <a:buNone/>
            </a:pPr>
            <a:r>
              <a:rPr lang="en-US" sz="1100" i="1" dirty="0">
                <a:solidFill>
                  <a:srgbClr val="5A6472"/>
                </a:solidFill>
                <a:latin typeface="Calibri" pitchFamily="34" charset="0"/>
                <a:cs typeface="Amiri" pitchFamily="2" charset="-78"/>
              </a:rPr>
              <a:t>ta-naw-wu-ʿun ḥa-ya-wiy-yun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سِلْسِلَةٌ غِذَائِيَّةٌ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food chain</a:t>
            </a:r>
            <a:endParaRPr lang="en-US" sz="1350" dirty="0"/>
          </a:p>
          <a:p>
            <a:pPr indent="0" marL="0">
              <a:buNone/>
            </a:pPr>
            <a:r>
              <a:rPr lang="en-US" sz="1100" i="1" dirty="0">
                <a:solidFill>
                  <a:srgbClr val="5A6472"/>
                </a:solidFill>
                <a:latin typeface="Calibri" pitchFamily="34" charset="0"/>
                <a:cs typeface="Amiri" pitchFamily="2" charset="-78"/>
              </a:rPr>
              <a:t>sil-si-la-tun ghi-dhā-ʾiy-ya-tun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سَلَاسِلُ غِذَائِيَّةٌ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مَوْطِنٌ طَبِيعِيٌّ</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natural habitat</a:t>
            </a:r>
            <a:endParaRPr lang="en-US" sz="1350" dirty="0"/>
          </a:p>
          <a:p>
            <a:pPr indent="0" marL="0">
              <a:buNone/>
            </a:pPr>
            <a:r>
              <a:rPr lang="en-US" sz="1100" i="1" dirty="0">
                <a:solidFill>
                  <a:srgbClr val="5A6472"/>
                </a:solidFill>
                <a:latin typeface="Calibri" pitchFamily="34" charset="0"/>
                <a:cs typeface="Amiri" pitchFamily="2" charset="-78"/>
              </a:rPr>
              <a:t>maw-ṭi-nun ṭa-bī-ʿiy-yun</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مَوَاطِنُ طَبِيعِيَّةٌ</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أَنْوَاعٌ مُهَدَّدَةٌ بِالانْقِرَاضِ</a:t>
            </a:r>
            <a:endParaRPr lang="ar-SA" sz="3000" dirty="0"/>
          </a:p>
        </p:txBody>
      </p:sp>
      <p:sp>
        <p:nvSpPr>
          <p:cNvPr id="66" name="Text 6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endangered species</a:t>
            </a:r>
            <a:endParaRPr lang="en-US" sz="1350" dirty="0"/>
          </a:p>
          <a:p>
            <a:pPr indent="0" marL="0">
              <a:buNone/>
            </a:pPr>
            <a:r>
              <a:rPr lang="en-US" sz="1100" i="1" dirty="0">
                <a:solidFill>
                  <a:srgbClr val="5A6472"/>
                </a:solidFill>
                <a:latin typeface="Calibri" pitchFamily="34" charset="0"/>
                <a:cs typeface="Amiri" pitchFamily="2" charset="-78"/>
              </a:rPr>
              <a:t>an-wā-ʿun mu-had-da-da-tun biln-qi-rā-ḍi</a:t>
            </a:r>
            <a:endParaRPr lang="en-US" sz="1350" dirty="0"/>
          </a:p>
        </p:txBody>
      </p:sp>
      <p:sp>
        <p:nvSpPr>
          <p:cNvPr id="67" name="Shape 64"/>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9" name="Text 66"/>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نَوْعٌ مُهَدَّدٌ بِالانْقِرَاضِ</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Ecosystems and biodiversity (2 of 2)</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غَابَةٌ اسْتِوَائِيَّةٌ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tropical rainforest</a:t>
            </a:r>
            <a:endParaRPr lang="en-US" sz="1350" dirty="0"/>
          </a:p>
          <a:p>
            <a:pPr indent="0" marL="0">
              <a:buNone/>
            </a:pPr>
            <a:r>
              <a:rPr lang="en-US" sz="1100" i="1" dirty="0">
                <a:solidFill>
                  <a:srgbClr val="5A6472"/>
                </a:solidFill>
                <a:latin typeface="Calibri" pitchFamily="34" charset="0"/>
                <a:cs typeface="Amiri" pitchFamily="2" charset="-78"/>
              </a:rPr>
              <a:t>ghā-ba-tun as-ti-wā-ʾiy-ya-tun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غَابَاتٌ اسْتِوَائِيَّةٌ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شِعَابٌ مَرْجَانِيَّةٌ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coral reefs</a:t>
            </a:r>
            <a:endParaRPr lang="en-US" sz="1350" dirty="0"/>
          </a:p>
          <a:p>
            <a:pPr indent="0" marL="0">
              <a:buNone/>
            </a:pPr>
            <a:r>
              <a:rPr lang="en-US" sz="1100" i="1" dirty="0">
                <a:solidFill>
                  <a:srgbClr val="5A6472"/>
                </a:solidFill>
                <a:latin typeface="Calibri" pitchFamily="34" charset="0"/>
                <a:cs typeface="Amiri" pitchFamily="2" charset="-78"/>
              </a:rPr>
              <a:t>shi-ʿā-bun mar-jā-niy-ya-tun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شِعْبٌ مَرْجَانِيٌّ</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التَّوَازُنُ البِيئِيُّ</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ecological balance</a:t>
            </a:r>
            <a:endParaRPr lang="en-US" sz="1350" dirty="0"/>
          </a:p>
          <a:p>
            <a:pPr indent="0" marL="0">
              <a:buNone/>
            </a:pPr>
            <a:r>
              <a:rPr lang="en-US" sz="1100" i="1" dirty="0">
                <a:solidFill>
                  <a:srgbClr val="5A6472"/>
                </a:solidFill>
                <a:latin typeface="Calibri" pitchFamily="34" charset="0"/>
                <a:cs typeface="Amiri" pitchFamily="2" charset="-78"/>
              </a:rPr>
              <a:t>at-ta-wā-zu-nu al-bī-ʾiy-yu</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الانْقِرَاضُ</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extinction</a:t>
            </a:r>
            <a:endParaRPr lang="en-US" sz="1350" dirty="0"/>
          </a:p>
          <a:p>
            <a:pPr indent="0" marL="0">
              <a:buNone/>
            </a:pPr>
            <a:r>
              <a:rPr lang="en-US" sz="1100" i="1" dirty="0">
                <a:solidFill>
                  <a:srgbClr val="5A6472"/>
                </a:solidFill>
                <a:latin typeface="Calibri" pitchFamily="34" charset="0"/>
                <a:cs typeface="Amiri" pitchFamily="2" charset="-78"/>
              </a:rPr>
              <a:t>aln-qi-rā-ḍu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Composition and impact verbs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يَتَكَوَّنُ مِنْ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composed of</a:t>
            </a:r>
            <a:endParaRPr lang="en-US" sz="1350" dirty="0"/>
          </a:p>
          <a:p>
            <a:pPr indent="0" marL="0">
              <a:buNone/>
            </a:pPr>
            <a:r>
              <a:rPr lang="en-US" sz="1100" i="1" dirty="0">
                <a:solidFill>
                  <a:srgbClr val="5A6472"/>
                </a:solidFill>
                <a:latin typeface="Calibri" pitchFamily="34" charset="0"/>
                <a:cs typeface="Amiri" pitchFamily="2" charset="-78"/>
              </a:rPr>
              <a:t>ya-ta-kaw-wa-nu min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4" name="Text 21"/>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تَتَكَوَّنُ مِنْ</a:t>
            </a:r>
            <a:endParaRPr lang="ar-SA" sz="135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Shape 25"/>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يَضُمُّ</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encompasses, includes</a:t>
            </a:r>
            <a:endParaRPr lang="en-US" sz="1350" dirty="0"/>
          </a:p>
          <a:p>
            <a:pPr indent="0" marL="0">
              <a:buNone/>
            </a:pPr>
            <a:r>
              <a:rPr lang="en-US" sz="1100" i="1" dirty="0">
                <a:solidFill>
                  <a:srgbClr val="5A6472"/>
                </a:solidFill>
                <a:latin typeface="Calibri" pitchFamily="34" charset="0"/>
                <a:cs typeface="Amiri" pitchFamily="2" charset="-78"/>
              </a:rPr>
              <a:t>ya-ḍum-mu</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تَضُمُّ</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0" name="Shape 3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يُشَكِّلُ</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forms, constitutes</a:t>
            </a:r>
            <a:endParaRPr lang="en-US" sz="1350" dirty="0"/>
          </a:p>
          <a:p>
            <a:pPr indent="0" marL="0">
              <a:buNone/>
            </a:pPr>
            <a:r>
              <a:rPr lang="en-US" sz="1100" i="1" dirty="0">
                <a:solidFill>
                  <a:srgbClr val="5A6472"/>
                </a:solidFill>
                <a:latin typeface="Calibri" pitchFamily="34" charset="0"/>
                <a:cs typeface="Amiri" pitchFamily="2" charset="-78"/>
              </a:rPr>
              <a:t>yu-shak-ki-lu</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تُشَكِّلُ</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2" name="Shape 4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يَتَفَاعَلُ مَعَ</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interacts with</a:t>
            </a:r>
            <a:endParaRPr lang="en-US" sz="1350" dirty="0"/>
          </a:p>
          <a:p>
            <a:pPr indent="0" marL="0">
              <a:buNone/>
            </a:pPr>
            <a:r>
              <a:rPr lang="en-US" sz="1100" i="1" dirty="0">
                <a:solidFill>
                  <a:srgbClr val="5A6472"/>
                </a:solidFill>
                <a:latin typeface="Calibri" pitchFamily="34" charset="0"/>
                <a:cs typeface="Amiri" pitchFamily="2" charset="-78"/>
              </a:rPr>
              <a:t>ya-ta-fā-ʿa-lu ma-ʿa</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تَتَفَاعَلُ مَعَ</a:t>
            </a:r>
            <a:endParaRPr lang="ar-SA"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Composition and impact verbs (2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يَعْتَمِدُ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تَعْتَمِدُ عَلَى</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يُهَدِّدُ</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threatens</a:t>
            </a:r>
            <a:endParaRPr lang="en-US" sz="1350" dirty="0"/>
          </a:p>
          <a:p>
            <a:pPr indent="0" marL="0">
              <a:buNone/>
            </a:pPr>
            <a:r>
              <a:rPr lang="en-US" sz="1100" i="1" dirty="0">
                <a:solidFill>
                  <a:srgbClr val="5A6472"/>
                </a:solidFill>
                <a:latin typeface="Calibri" pitchFamily="34" charset="0"/>
                <a:cs typeface="Amiri" pitchFamily="2" charset="-78"/>
              </a:rPr>
              <a:t>yu-had-di-du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تُهَدِّدُ</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تُؤَدِّي إِلَى</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حِمَايَةُ التَّنَوُّعِ</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protecting biodiversity</a:t>
            </a:r>
            <a:endParaRPr lang="en-US" sz="1350" dirty="0"/>
          </a:p>
          <a:p>
            <a:pPr indent="0" marL="0">
              <a:buNone/>
            </a:pPr>
            <a:r>
              <a:rPr lang="en-US" sz="1100" i="1" dirty="0">
                <a:solidFill>
                  <a:srgbClr val="5A6472"/>
                </a:solidFill>
                <a:latin typeface="Calibri" pitchFamily="34" charset="0"/>
                <a:cs typeface="Amiri" pitchFamily="2" charset="-78"/>
              </a:rPr>
              <a:t>ḥi-mā-ya-tu at-ta-naw-wu-ʿi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purpose subjunctive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in order that</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Triggers the subjunctive.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المَنْصُوبُ</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3" name="Shape 30"/>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Final ـَ.</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فَتْحَةُ النَّصْبِ</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fatḥa</a:t>
            </a:r>
            <a:endParaRPr lang="en-US" sz="1350" dirty="0"/>
          </a:p>
          <a:p>
            <a:pPr indent="0" marL="0">
              <a:buNone/>
            </a:pPr>
            <a:r>
              <a:rPr lang="en-US" sz="1100" i="1" dirty="0">
                <a:solidFill>
                  <a:srgbClr val="5A6472"/>
                </a:solidFill>
                <a:latin typeface="Calibri" pitchFamily="34" charset="0"/>
                <a:cs typeface="Amiri" pitchFamily="2" charset="-78"/>
              </a:rPr>
              <a:t>fat-ḥa-tu an-naṣ-bi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0" name="Shape 3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 we</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تَحْمِيَ</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it protects</a:t>
            </a:r>
            <a:endParaRPr lang="en-US" sz="1350" dirty="0"/>
          </a:p>
          <a:p>
            <a:pPr indent="0" marL="0">
              <a:buNone/>
            </a:pPr>
            <a:r>
              <a:rPr lang="en-US" sz="1100" i="1" dirty="0">
                <a:solidFill>
                  <a:srgbClr val="5A6472"/>
                </a:solidFill>
                <a:latin typeface="Calibri" pitchFamily="34" charset="0"/>
                <a:cs typeface="Amiri" pitchFamily="2" charset="-78"/>
              </a:rPr>
              <a:t>li-kay taḥ-mi-ya</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لِكَيْ نَحْمِيَ</a:t>
            </a:r>
            <a:endParaRPr lang="ar-SA" sz="15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purpose subjunctive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 we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تَسْتَمِرَّ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it continues</a:t>
            </a:r>
            <a:endParaRPr lang="en-US" sz="1350" dirty="0"/>
          </a:p>
          <a:p>
            <a:pPr indent="0" marL="0">
              <a:buNone/>
            </a:pPr>
            <a:r>
              <a:rPr lang="en-US" sz="1100" i="1" dirty="0">
                <a:solidFill>
                  <a:srgbClr val="5A6472"/>
                </a:solidFill>
                <a:latin typeface="Calibri" pitchFamily="34" charset="0"/>
                <a:cs typeface="Amiri" pitchFamily="2" charset="-78"/>
              </a:rPr>
              <a:t>li-kay tas-ta-mir-ra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لِكَيْ نَسْتَمِرَّ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 we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تُحَافِظَ</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it preserves</a:t>
            </a:r>
            <a:endParaRPr lang="en-US" sz="1350" dirty="0"/>
          </a:p>
          <a:p>
            <a:pPr indent="0" marL="0">
              <a:buNone/>
            </a:pPr>
            <a:r>
              <a:rPr lang="en-US" sz="1100" i="1" dirty="0">
                <a:solidFill>
                  <a:srgbClr val="5A6472"/>
                </a:solidFill>
                <a:latin typeface="Calibri" pitchFamily="34" charset="0"/>
                <a:cs typeface="Amiri" pitchFamily="2" charset="-78"/>
              </a:rPr>
              <a:t>li-kay tu-ḥā-fi-ẓa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لِكَيْ نُحَافِظَ</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إِجْرَاءَاتُ الحِمَايَةِ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protection measures</a:t>
            </a:r>
            <a:endParaRPr lang="en-US" sz="1350" dirty="0"/>
          </a:p>
          <a:p>
            <a:pPr indent="0" marL="0">
              <a:buNone/>
            </a:pPr>
            <a:r>
              <a:rPr lang="en-US" sz="1100" i="1" dirty="0">
                <a:solidFill>
                  <a:srgbClr val="5A6472"/>
                </a:solidFill>
                <a:latin typeface="Calibri" pitchFamily="34" charset="0"/>
                <a:cs typeface="Amiri" pitchFamily="2" charset="-78"/>
              </a:rPr>
              <a:t>ij-rā-ʾā-tu al-ḥi-mā-ya-ti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تَعَاوُنٌ إِقْلِيمِيٌّ</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regional cooperation</a:t>
            </a:r>
            <a:endParaRPr lang="en-US" sz="1350" dirty="0"/>
          </a:p>
          <a:p>
            <a:pPr indent="0" marL="0">
              <a:buNone/>
            </a:pPr>
            <a:r>
              <a:rPr lang="en-US" sz="1100" i="1" dirty="0">
                <a:solidFill>
                  <a:srgbClr val="5A6472"/>
                </a:solidFill>
                <a:latin typeface="Calibri" pitchFamily="34" charset="0"/>
                <a:cs typeface="Amiri" pitchFamily="2" charset="-78"/>
              </a:rPr>
              <a:t>ta-ʿā-wu-nun iq-lī-miy-yun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COMPOSITION AND IMPACT VERBS (WEBSITE RULE 1 + TEACHING POINT 1 + VOCABULARY NOTES)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verb has a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التَّكْوِينِ وَمُتَمِّمَاتُهَا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0819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55371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8" name="Text 15"/>
          <p:cNvSpPr txBox="1"/>
          <p:nvPr/>
        </p:nvSpPr>
        <p:spPr>
          <a:xfrm>
            <a:off x="27249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126480" y="2267712"/>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تَضُمُّ الغَابَةُ </a:t>
            </a:r>
            <a:pPr rtl="1" algn="ctr" indent="0" marL="0">
              <a:buNone/>
            </a:pPr>
            <a:r>
              <a:rPr lang="ar-SA" altLang="en-US" sz="1800" b="1" dirty="0">
                <a:solidFill>
                  <a:srgbClr val="1D5FBF"/>
                </a:solidFill>
                <a:latin typeface="Amiri" pitchFamily="2" charset="-78"/>
                <a:ea typeface="Amiri" pitchFamily="2" charset="-78"/>
                <a:cs typeface="Amiri" pitchFamily="2" charset="-78"/>
              </a:rPr>
              <a:t>آلَافَ</a:t>
            </a:r>
            <a:pPr rtl="1" algn="ctr" indent="0" marL="0">
              <a:buNone/>
            </a:pPr>
            <a:r>
              <a:rPr lang="ar-SA" altLang="en-US" sz="1800" b="1" dirty="0">
                <a:solidFill>
                  <a:srgbClr val="1B3B6F"/>
                </a:solidFill>
                <a:latin typeface="Amiri" pitchFamily="2" charset="-78"/>
                <a:ea typeface="Amiri" pitchFamily="2" charset="-78"/>
                <a:cs typeface="Amiri" pitchFamily="2" charset="-78"/>
              </a:rPr>
              <a:t> الأَنْوَاعِ.</a:t>
            </a:r>
            <a:endParaRPr lang="ar-SA" sz="1800" dirty="0"/>
          </a:p>
        </p:txBody>
      </p:sp>
      <p:sp>
        <p:nvSpPr>
          <p:cNvPr id="22" name="Text 19"/>
          <p:cNvSpPr txBox="1"/>
          <p:nvPr/>
        </p:nvSpPr>
        <p:spPr>
          <a:xfrm>
            <a:off x="4590288" y="2267712"/>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3" name="Text 20"/>
          <p:cNvSpPr txBox="1"/>
          <p:nvPr/>
        </p:nvSpPr>
        <p:spPr>
          <a:xfrm>
            <a:off x="276148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includes</a:t>
            </a:r>
            <a:endParaRPr lang="en-US" sz="11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يَضُمُّ</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126480" y="2881884"/>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يُشَكِّلُ المَرْجَانُ </a:t>
            </a:r>
            <a:pPr rtl="1" algn="ctr" indent="0" marL="0">
              <a:buNone/>
            </a:pPr>
            <a:r>
              <a:rPr lang="ar-SA" altLang="en-US" sz="1800" b="1" dirty="0">
                <a:solidFill>
                  <a:srgbClr val="1D5FBF"/>
                </a:solidFill>
                <a:latin typeface="Amiri" pitchFamily="2" charset="-78"/>
                <a:ea typeface="Amiri" pitchFamily="2" charset="-78"/>
                <a:cs typeface="Amiri" pitchFamily="2" charset="-78"/>
              </a:rPr>
              <a:t>بِيئَةً</a:t>
            </a:r>
            <a:pPr rtl="1" algn="ctr" indent="0" marL="0">
              <a:buNone/>
            </a:pPr>
            <a:r>
              <a:rPr lang="ar-SA" altLang="en-US" sz="1800" b="1" dirty="0">
                <a:solidFill>
                  <a:srgbClr val="1B3B6F"/>
                </a:solidFill>
                <a:latin typeface="Amiri" pitchFamily="2" charset="-78"/>
                <a:ea typeface="Amiri" pitchFamily="2" charset="-78"/>
                <a:cs typeface="Amiri" pitchFamily="2" charset="-78"/>
              </a:rPr>
              <a:t> حَيَوِيَّةً.</a:t>
            </a:r>
            <a:endParaRPr lang="ar-SA" sz="1800" dirty="0"/>
          </a:p>
        </p:txBody>
      </p:sp>
      <p:sp>
        <p:nvSpPr>
          <p:cNvPr id="29" name="Text 26"/>
          <p:cNvSpPr txBox="1"/>
          <p:nvPr/>
        </p:nvSpPr>
        <p:spPr>
          <a:xfrm>
            <a:off x="4590288" y="2881884"/>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30" name="Text 27"/>
          <p:cNvSpPr txBox="1"/>
          <p:nvPr/>
        </p:nvSpPr>
        <p:spPr>
          <a:xfrm>
            <a:off x="276148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forms</a:t>
            </a:r>
            <a:endParaRPr lang="en-US" sz="11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يُشَكِّلُ</a:t>
            </a:r>
            <a:endParaRPr lang="ar-SA" sz="20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126480" y="3496056"/>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تَتَفَاعَلُ الأَنْوَاعُ </a:t>
            </a:r>
            <a:pPr rtl="1" algn="ctr" indent="0" marL="0">
              <a:buNone/>
            </a:pPr>
            <a:r>
              <a:rPr lang="ar-SA" altLang="en-US" sz="1800" b="1" dirty="0">
                <a:solidFill>
                  <a:srgbClr val="0E7C86"/>
                </a:solidFill>
                <a:latin typeface="Amiri" pitchFamily="2" charset="-78"/>
                <a:ea typeface="Amiri" pitchFamily="2" charset="-78"/>
                <a:cs typeface="Amiri" pitchFamily="2" charset="-78"/>
              </a:rPr>
              <a:t>مَعَ</a:t>
            </a:r>
            <a:pPr rtl="1" algn="ctr" indent="0" marL="0">
              <a:buNone/>
            </a:pPr>
            <a:r>
              <a:rPr lang="ar-SA" altLang="en-US" sz="1800" b="1" dirty="0">
                <a:solidFill>
                  <a:srgbClr val="1B3B6F"/>
                </a:solidFill>
                <a:latin typeface="Amiri" pitchFamily="2" charset="-78"/>
                <a:ea typeface="Amiri" pitchFamily="2" charset="-78"/>
                <a:cs typeface="Amiri" pitchFamily="2" charset="-78"/>
              </a:rPr>
              <a:t> بَعْضِهَا.</a:t>
            </a:r>
            <a:endParaRPr lang="ar-SA" sz="1800" dirty="0"/>
          </a:p>
        </p:txBody>
      </p:sp>
      <p:sp>
        <p:nvSpPr>
          <p:cNvPr id="36" name="Text 33"/>
          <p:cNvSpPr txBox="1"/>
          <p:nvPr/>
        </p:nvSpPr>
        <p:spPr>
          <a:xfrm>
            <a:off x="4590288" y="3496056"/>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a:t>
            </a:r>
            <a:endParaRPr lang="en-US" sz="1100" dirty="0"/>
          </a:p>
        </p:txBody>
      </p:sp>
      <p:sp>
        <p:nvSpPr>
          <p:cNvPr id="37" name="Text 34"/>
          <p:cNvSpPr txBox="1"/>
          <p:nvPr/>
        </p:nvSpPr>
        <p:spPr>
          <a:xfrm>
            <a:off x="276148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interacts with</a:t>
            </a:r>
            <a:endParaRPr lang="en-US" sz="11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يَتَفَاعَلُ مَعَ</a:t>
            </a:r>
            <a:endParaRPr lang="ar-SA" sz="20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6126480" y="4110228"/>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يَعْتَمِدُ التَّوَازُنُ </a:t>
            </a:r>
            <a:pPr rtl="1" algn="ctr" indent="0" marL="0">
              <a:buNone/>
            </a:pPr>
            <a:r>
              <a:rPr lang="ar-SA" altLang="en-US" sz="1800" b="1" dirty="0">
                <a:solidFill>
                  <a:srgbClr val="0E7C86"/>
                </a:solidFill>
                <a:latin typeface="Amiri" pitchFamily="2" charset="-78"/>
                <a:ea typeface="Amiri" pitchFamily="2" charset="-78"/>
                <a:cs typeface="Amiri" pitchFamily="2" charset="-78"/>
              </a:rPr>
              <a:t>عَلَى</a:t>
            </a:r>
            <a:pPr rtl="1" algn="ctr" indent="0" marL="0">
              <a:buNone/>
            </a:pPr>
            <a:r>
              <a:rPr lang="ar-SA" altLang="en-US" sz="1800" b="1" dirty="0">
                <a:solidFill>
                  <a:srgbClr val="1B3B6F"/>
                </a:solidFill>
                <a:latin typeface="Amiri" pitchFamily="2" charset="-78"/>
                <a:ea typeface="Amiri" pitchFamily="2" charset="-78"/>
                <a:cs typeface="Amiri" pitchFamily="2" charset="-78"/>
              </a:rPr>
              <a:t> بَقَاءِ كُلِّ عُنْصُرٍ.</a:t>
            </a:r>
            <a:endParaRPr lang="ar-SA" sz="1800" dirty="0"/>
          </a:p>
        </p:txBody>
      </p:sp>
      <p:sp>
        <p:nvSpPr>
          <p:cNvPr id="41" name="Text 38"/>
          <p:cNvSpPr txBox="1"/>
          <p:nvPr/>
        </p:nvSpPr>
        <p:spPr>
          <a:xfrm>
            <a:off x="4590288" y="4110228"/>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42" name="Text 39"/>
          <p:cNvSpPr txBox="1"/>
          <p:nvPr/>
        </p:nvSpPr>
        <p:spPr>
          <a:xfrm>
            <a:off x="276148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depends on</a:t>
            </a:r>
            <a:endParaRPr lang="en-US" sz="1100" dirty="0"/>
          </a:p>
        </p:txBody>
      </p:sp>
      <p:sp>
        <p:nvSpPr>
          <p:cNvPr id="43" name="Text 40"/>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يَعْتَمِدُ عَلَى</a:t>
            </a:r>
            <a:endParaRPr lang="ar-SA" sz="20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6126480" y="4724400"/>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يُهَدِّدُ الاحْتِرَارُ </a:t>
            </a:r>
            <a:pPr rtl="1" algn="ctr" indent="0" marL="0">
              <a:buNone/>
            </a:pPr>
            <a:r>
              <a:rPr lang="ar-SA" altLang="en-US" sz="1800" b="1" dirty="0">
                <a:solidFill>
                  <a:srgbClr val="D6336C"/>
                </a:solidFill>
                <a:latin typeface="Amiri" pitchFamily="2" charset="-78"/>
                <a:ea typeface="Amiri" pitchFamily="2" charset="-78"/>
                <a:cs typeface="Amiri" pitchFamily="2" charset="-78"/>
              </a:rPr>
              <a:t>هٰذَا التَّوَازُنَ</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46" name="Text 43"/>
          <p:cNvSpPr txBox="1"/>
          <p:nvPr/>
        </p:nvSpPr>
        <p:spPr>
          <a:xfrm>
            <a:off x="4590288" y="4724400"/>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7" name="Text 44"/>
          <p:cNvSpPr txBox="1"/>
          <p:nvPr/>
        </p:nvSpPr>
        <p:spPr>
          <a:xfrm>
            <a:off x="276148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threatens</a:t>
            </a:r>
            <a:endParaRPr lang="en-US" sz="1100" dirty="0"/>
          </a:p>
        </p:txBody>
      </p:sp>
      <p:sp>
        <p:nvSpPr>
          <p:cNvPr id="48" name="Text 45"/>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يُهَدِّدُ</a:t>
            </a:r>
            <a:endParaRPr lang="ar-SA" sz="20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6126480" y="5338572"/>
            <a:ext cx="55138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النَّشَاطُ البَشَرِيُّ </a:t>
            </a:r>
            <a:pPr rtl="1" algn="ctr" indent="0" marL="0">
              <a:buNone/>
            </a:pPr>
            <a:r>
              <a:rPr lang="ar-SA" altLang="en-US" sz="1800" b="1" dirty="0">
                <a:solidFill>
                  <a:srgbClr val="7B3FA0"/>
                </a:solidFill>
                <a:latin typeface="Amiri" pitchFamily="2" charset="-78"/>
                <a:ea typeface="Amiri" pitchFamily="2" charset="-78"/>
                <a:cs typeface="Amiri" pitchFamily="2" charset="-78"/>
              </a:rPr>
              <a:t>إِلَى</a:t>
            </a:r>
            <a:pPr rtl="1" algn="ctr" indent="0" marL="0">
              <a:buNone/>
            </a:pPr>
            <a:r>
              <a:rPr lang="ar-SA" altLang="en-US" sz="1800" b="1" dirty="0">
                <a:solidFill>
                  <a:srgbClr val="1B3B6F"/>
                </a:solidFill>
                <a:latin typeface="Amiri" pitchFamily="2" charset="-78"/>
                <a:ea typeface="Amiri" pitchFamily="2" charset="-78"/>
                <a:cs typeface="Amiri" pitchFamily="2" charset="-78"/>
              </a:rPr>
              <a:t> انْقِرَاضِ أَنْوَاعٍ.</a:t>
            </a:r>
            <a:endParaRPr lang="ar-SA" sz="1800" dirty="0"/>
          </a:p>
        </p:txBody>
      </p:sp>
      <p:sp>
        <p:nvSpPr>
          <p:cNvPr id="51" name="Text 48"/>
          <p:cNvSpPr txBox="1"/>
          <p:nvPr/>
        </p:nvSpPr>
        <p:spPr>
          <a:xfrm>
            <a:off x="4590288" y="5338572"/>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52" name="Text 49"/>
          <p:cNvSpPr txBox="1"/>
          <p:nvPr/>
        </p:nvSpPr>
        <p:spPr>
          <a:xfrm>
            <a:off x="276148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leads to</a:t>
            </a:r>
            <a:endParaRPr lang="en-US" sz="1100" dirty="0"/>
          </a:p>
        </p:txBody>
      </p:sp>
      <p:sp>
        <p:nvSpPr>
          <p:cNvPr id="53" name="Text 50"/>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يُؤَدِّي إِلَى</a:t>
            </a:r>
            <a:endParaRPr lang="ar-SA" sz="20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taḍummu bi-ālāfi ✗ → taḍummu ālāfa ✓ — no preposition after yaḍummu.</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A REAL THREAT OR A COUNTERFACTUAL? (WEBSITE RULES 2–3)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Warn with idhā, regret with law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الخَطَرُ الحَقِيقِيُّ وَالافْتِرَاضُ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830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THREAT · CORE</a:t>
            </a:r>
            <a:endParaRPr lang="en-US" sz="850" dirty="0"/>
          </a:p>
        </p:txBody>
      </p:sp>
      <p:sp>
        <p:nvSpPr>
          <p:cNvPr id="18" name="Text 15"/>
          <p:cNvSpPr txBox="1"/>
          <p:nvPr/>
        </p:nvSpPr>
        <p:spPr>
          <a:xfrm>
            <a:off x="10061448"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اسْتَمَرَّ الاحْتِرَارُ، سَتَتَبَيَّضُ الشِّعَابُ وَتَمُوتُ.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warming continues, the reefs will bleach and die.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كَانَتِ الحِمَايَةُ أَصْرَمَ، لَكَانَتِ الشِّعَابُ أَفْضَلَ حَالًا.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protection been stricter, the reefs would be in better shape.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NEGATIVE · STRETCH</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عَامَلْنَا الطَّبِيعَةَ بِاحْتِرَامٍ، لَمَا وَصَلَتِ الأَنْوَاعُ إِلَى حَافَّةِ الانْقِرَاضِ.</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we treated nature with respect, species would not have reached the brink.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lamā = would not.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لَوِ اسْتَمَرَّ الاحْتِرَارُ، لَمَاتَتِ الشِّعَابُ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لَوِ اسْتَمَرَّ الاحْتِرَارُ، سَتَمُوتُ الشِّعَابُ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LI-KAY + A VERB IN -A (WEBSITE RULE 4 + TEACHING POINT 2 + VOCABULARY GROUP 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 that …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لِكَيْ + الفِعْلُ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39712" y="1810512"/>
            <a:ext cx="4818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50109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type</a:t>
            </a:r>
            <a:endParaRPr lang="en-US" sz="1100" dirty="0"/>
          </a:p>
        </p:txBody>
      </p:sp>
      <p:sp>
        <p:nvSpPr>
          <p:cNvPr id="18" name="Text 15"/>
          <p:cNvSpPr txBox="1"/>
          <p:nvPr/>
        </p:nvSpPr>
        <p:spPr>
          <a:xfrm>
            <a:off x="24505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li-kay</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Normal</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858000" y="2267712"/>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نُحَافِظَ عَلَى التَّوَازُنِ</a:t>
            </a:r>
            <a:endParaRPr lang="ar-SA" sz="1700" dirty="0"/>
          </a:p>
        </p:txBody>
      </p:sp>
      <p:sp>
        <p:nvSpPr>
          <p:cNvPr id="22" name="Text 19"/>
          <p:cNvSpPr txBox="1"/>
          <p:nvPr/>
        </p:nvSpPr>
        <p:spPr>
          <a:xfrm>
            <a:off x="504748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23" name="Text 20"/>
          <p:cNvSpPr txBox="1"/>
          <p:nvPr/>
        </p:nvSpPr>
        <p:spPr>
          <a:xfrm>
            <a:off x="2468880" y="2267712"/>
            <a:ext cx="23774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لِكَيْ </a:t>
            </a:r>
            <a:pPr rtl="1" algn="ctr" indent="0" marL="0">
              <a:buNone/>
            </a:pPr>
            <a:r>
              <a:rPr lang="ar-SA" altLang="en-US" sz="2000" b="1" dirty="0">
                <a:solidFill>
                  <a:srgbClr val="0E7C86"/>
                </a:solidFill>
                <a:latin typeface="Amiri" pitchFamily="2" charset="-78"/>
                <a:ea typeface="Amiri" pitchFamily="2" charset="-78"/>
                <a:cs typeface="Amiri" pitchFamily="2" charset="-78"/>
              </a:rPr>
              <a:t>نُحَافِظَ</a:t>
            </a:r>
            <a:endParaRPr lang="ar-SA" sz="2000" dirty="0"/>
          </a:p>
        </p:txBody>
      </p:sp>
      <p:sp>
        <p:nvSpPr>
          <p:cNvPr id="24" name="Text 21"/>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نُحَافِظُ</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858000" y="300471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نَحْمِيَ التَّنَوُّعَ الحَيَوِيَّ</a:t>
            </a:r>
            <a:endParaRPr lang="ar-SA" sz="1700" dirty="0"/>
          </a:p>
        </p:txBody>
      </p:sp>
      <p:sp>
        <p:nvSpPr>
          <p:cNvPr id="29" name="Text 26"/>
          <p:cNvSpPr txBox="1"/>
          <p:nvPr/>
        </p:nvSpPr>
        <p:spPr>
          <a:xfrm>
            <a:off x="504748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 → -iya</a:t>
            </a:r>
            <a:endParaRPr lang="en-US" sz="1100" dirty="0"/>
          </a:p>
        </p:txBody>
      </p:sp>
      <p:sp>
        <p:nvSpPr>
          <p:cNvPr id="30" name="Text 27"/>
          <p:cNvSpPr txBox="1"/>
          <p:nvPr/>
        </p:nvSpPr>
        <p:spPr>
          <a:xfrm>
            <a:off x="2468880" y="3004718"/>
            <a:ext cx="23774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لِكَيْ </a:t>
            </a:r>
            <a:pPr rtl="1" algn="ctr" indent="0" marL="0">
              <a:buNone/>
            </a:pPr>
            <a:r>
              <a:rPr lang="ar-SA" altLang="en-US" sz="2000" b="1" dirty="0">
                <a:solidFill>
                  <a:srgbClr val="0E7C86"/>
                </a:solidFill>
                <a:latin typeface="Amiri" pitchFamily="2" charset="-78"/>
                <a:ea typeface="Amiri" pitchFamily="2" charset="-78"/>
                <a:cs typeface="Amiri" pitchFamily="2" charset="-78"/>
              </a:rPr>
              <a:t>نَحْمِيَ</a:t>
            </a:r>
            <a:endParaRPr lang="ar-SA" sz="2000" dirty="0"/>
          </a:p>
        </p:txBody>
      </p:sp>
      <p:sp>
        <p:nvSpPr>
          <p:cNvPr id="31" name="Text 28"/>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نَحْمِي</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858000" y="3741725"/>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تَسْتَمِرَّ الحَيَاةُ البَحْرِيَّةُ</a:t>
            </a:r>
            <a:endParaRPr lang="ar-SA" sz="1700" dirty="0"/>
          </a:p>
        </p:txBody>
      </p:sp>
      <p:sp>
        <p:nvSpPr>
          <p:cNvPr id="36" name="Text 33"/>
          <p:cNvSpPr txBox="1"/>
          <p:nvPr/>
        </p:nvSpPr>
        <p:spPr>
          <a:xfrm>
            <a:off x="504748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37" name="Text 34"/>
          <p:cNvSpPr txBox="1"/>
          <p:nvPr/>
        </p:nvSpPr>
        <p:spPr>
          <a:xfrm>
            <a:off x="2468880" y="3741725"/>
            <a:ext cx="23774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لِكَيْ </a:t>
            </a:r>
            <a:pPr rtl="1" algn="ctr" indent="0" marL="0">
              <a:buNone/>
            </a:pPr>
            <a:r>
              <a:rPr lang="ar-SA" altLang="en-US" sz="2000" b="1" dirty="0">
                <a:solidFill>
                  <a:srgbClr val="0E7C86"/>
                </a:solidFill>
                <a:latin typeface="Amiri" pitchFamily="2" charset="-78"/>
                <a:ea typeface="Amiri" pitchFamily="2" charset="-78"/>
                <a:cs typeface="Amiri" pitchFamily="2" charset="-78"/>
              </a:rPr>
              <a:t>تَسْتَمِرَّ</a:t>
            </a:r>
            <a:endParaRPr lang="ar-SA" sz="2000" dirty="0"/>
          </a:p>
        </p:txBody>
      </p:sp>
      <p:sp>
        <p:nvSpPr>
          <p:cNvPr id="38" name="Text 35"/>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تَسْتَمِرُّ</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858000" y="4478731"/>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تَحْمِيَ هٰذَا الإِرْثَ الطَّبِيعِيَّ</a:t>
            </a:r>
            <a:endParaRPr lang="ar-SA" sz="1700" dirty="0"/>
          </a:p>
        </p:txBody>
      </p:sp>
      <p:sp>
        <p:nvSpPr>
          <p:cNvPr id="41" name="Text 38"/>
          <p:cNvSpPr txBox="1"/>
          <p:nvPr/>
        </p:nvSpPr>
        <p:spPr>
          <a:xfrm>
            <a:off x="504748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 → -iya</a:t>
            </a:r>
            <a:endParaRPr lang="en-US" sz="1100" dirty="0"/>
          </a:p>
        </p:txBody>
      </p:sp>
      <p:sp>
        <p:nvSpPr>
          <p:cNvPr id="42" name="Text 39"/>
          <p:cNvSpPr txBox="1"/>
          <p:nvPr/>
        </p:nvSpPr>
        <p:spPr>
          <a:xfrm>
            <a:off x="2468880" y="4478731"/>
            <a:ext cx="23774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لِكَيْ </a:t>
            </a:r>
            <a:pPr rtl="1" algn="ctr" indent="0" marL="0">
              <a:buNone/>
            </a:pPr>
            <a:r>
              <a:rPr lang="ar-SA" altLang="en-US" sz="2000" b="1" dirty="0">
                <a:solidFill>
                  <a:srgbClr val="0E7C86"/>
                </a:solidFill>
                <a:latin typeface="Amiri" pitchFamily="2" charset="-78"/>
                <a:ea typeface="Amiri" pitchFamily="2" charset="-78"/>
                <a:cs typeface="Amiri" pitchFamily="2" charset="-78"/>
              </a:rPr>
              <a:t>تَحْمِيَ</a:t>
            </a:r>
            <a:endParaRPr lang="ar-SA" sz="2000" dirty="0"/>
          </a:p>
        </p:txBody>
      </p:sp>
      <p:sp>
        <p:nvSpPr>
          <p:cNvPr id="43" name="Text 40"/>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تَحْمِي</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858000" y="521573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تَبْقَى الشِّعَابُ حَيَّةً</a:t>
            </a:r>
            <a:endParaRPr lang="ar-SA" sz="1700" dirty="0"/>
          </a:p>
        </p:txBody>
      </p:sp>
      <p:sp>
        <p:nvSpPr>
          <p:cNvPr id="46" name="Text 43"/>
          <p:cNvSpPr txBox="1"/>
          <p:nvPr/>
        </p:nvSpPr>
        <p:spPr>
          <a:xfrm>
            <a:off x="504748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-ā: no change</a:t>
            </a:r>
            <a:endParaRPr lang="en-US" sz="1100" dirty="0"/>
          </a:p>
        </p:txBody>
      </p:sp>
      <p:sp>
        <p:nvSpPr>
          <p:cNvPr id="47" name="Text 44"/>
          <p:cNvSpPr txBox="1"/>
          <p:nvPr/>
        </p:nvSpPr>
        <p:spPr>
          <a:xfrm>
            <a:off x="2468880" y="5215738"/>
            <a:ext cx="23774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لِكَيْ </a:t>
            </a:r>
            <a:pPr rtl="1" algn="ctr" indent="0" marL="0">
              <a:buNone/>
            </a:pPr>
            <a:r>
              <a:rPr lang="ar-SA" altLang="en-US" sz="2000" b="1" dirty="0">
                <a:solidFill>
                  <a:srgbClr val="0E7C86"/>
                </a:solidFill>
                <a:latin typeface="Amiri" pitchFamily="2" charset="-78"/>
                <a:ea typeface="Amiri" pitchFamily="2" charset="-78"/>
                <a:cs typeface="Amiri" pitchFamily="2" charset="-78"/>
              </a:rPr>
              <a:t>تَبْقَى</a:t>
            </a:r>
            <a:endParaRPr lang="ar-SA" sz="2000" dirty="0"/>
          </a:p>
        </p:txBody>
      </p:sp>
      <p:sp>
        <p:nvSpPr>
          <p:cNvPr id="48" name="Text 45"/>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تَبْقَى</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li-kay naḥmī ✗ → li-kay naḥmiya ✓. “The final fatḥa is the mark that earns the accuracy point.”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SCIENTIFIC REGISTER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science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الأُسْلُوبُ العِلْمِيُّ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Effect</a:t>
            </a:r>
            <a:endParaRPr lang="en-US" sz="1100" dirty="0"/>
          </a:p>
        </p:txBody>
      </p:sp>
      <p:sp>
        <p:nvSpPr>
          <p:cNvPr id="17" name="Text 14"/>
          <p:cNvSpPr txBox="1"/>
          <p:nvPr/>
        </p:nvSpPr>
        <p:spPr>
          <a:xfrm>
            <a:off x="281635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436608" y="2267712"/>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yuʿaddu … + acc.</a:t>
            </a:r>
            <a:endParaRPr lang="en-US" sz="1100" dirty="0"/>
          </a:p>
        </p:txBody>
      </p:sp>
      <p:sp>
        <p:nvSpPr>
          <p:cNvPr id="21" name="Text 18"/>
          <p:cNvSpPr txBox="1"/>
          <p:nvPr/>
        </p:nvSpPr>
        <p:spPr>
          <a:xfrm>
            <a:off x="2834640" y="2267712"/>
            <a:ext cx="640080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يُعَدُّ</a:t>
            </a:r>
            <a:pPr rtl="1" algn="ctr" indent="0" marL="0">
              <a:buNone/>
            </a:pPr>
            <a:r>
              <a:rPr lang="ar-SA" altLang="en-US" sz="1800" b="1" dirty="0">
                <a:solidFill>
                  <a:srgbClr val="1B3B6F"/>
                </a:solidFill>
                <a:latin typeface="Amiri" pitchFamily="2" charset="-78"/>
                <a:ea typeface="Amiri" pitchFamily="2" charset="-78"/>
                <a:cs typeface="Amiri" pitchFamily="2" charset="-78"/>
              </a:rPr>
              <a:t> التَّنَوُّعُ الحَيَوِيُّ </a:t>
            </a:r>
            <a:pPr rtl="1" algn="ctr" indent="0" marL="0">
              <a:buNone/>
            </a:pPr>
            <a:r>
              <a:rPr lang="ar-SA" altLang="en-US" sz="1800" b="1" dirty="0">
                <a:solidFill>
                  <a:srgbClr val="C77700"/>
                </a:solidFill>
                <a:latin typeface="Amiri" pitchFamily="2" charset="-78"/>
                <a:ea typeface="Amiri" pitchFamily="2" charset="-78"/>
                <a:cs typeface="Amiri" pitchFamily="2" charset="-78"/>
              </a:rPr>
              <a:t>أَسَاسَ</a:t>
            </a:r>
            <a:pPr rtl="1" algn="ctr" indent="0" marL="0">
              <a:buNone/>
            </a:pPr>
            <a:r>
              <a:rPr lang="ar-SA" altLang="en-US" sz="1800" b="1" dirty="0">
                <a:solidFill>
                  <a:srgbClr val="1B3B6F"/>
                </a:solidFill>
                <a:latin typeface="Amiri" pitchFamily="2" charset="-78"/>
                <a:ea typeface="Amiri" pitchFamily="2" charset="-78"/>
                <a:cs typeface="Amiri" pitchFamily="2" charset="-78"/>
              </a:rPr>
              <a:t> الحَيَاةِ عَلَى الأَرْضِ.</a:t>
            </a:r>
            <a:endParaRPr lang="ar-SA" sz="1800" dirty="0"/>
          </a:p>
        </p:txBody>
      </p:sp>
      <p:sp>
        <p:nvSpPr>
          <p:cNvPr id="22" name="Text 19"/>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big claim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436608" y="300471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afʿal</a:t>
            </a:r>
            <a:endParaRPr lang="en-US" sz="1100" dirty="0"/>
          </a:p>
        </p:txBody>
      </p:sp>
      <p:sp>
        <p:nvSpPr>
          <p:cNvPr id="27" name="Text 24"/>
          <p:cNvSpPr txBox="1"/>
          <p:nvPr/>
        </p:nvSpPr>
        <p:spPr>
          <a:xfrm>
            <a:off x="2834640" y="3004718"/>
            <a:ext cx="6400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شِعَابٌ مَرْجَانِيَّةٌ </a:t>
            </a:r>
            <a:pPr rtl="1" algn="ctr" indent="0" marL="0">
              <a:buNone/>
            </a:pPr>
            <a:r>
              <a:rPr lang="ar-SA" altLang="en-US" sz="1800" b="1" dirty="0">
                <a:solidFill>
                  <a:srgbClr val="1D5FBF"/>
                </a:solidFill>
                <a:latin typeface="Amiri" pitchFamily="2" charset="-78"/>
                <a:ea typeface="Amiri" pitchFamily="2" charset="-78"/>
                <a:cs typeface="Amiri" pitchFamily="2" charset="-78"/>
              </a:rPr>
              <a:t>مِنْ أَغْنَى</a:t>
            </a:r>
            <a:pPr rtl="1" algn="ctr" indent="0" marL="0">
              <a:buNone/>
            </a:pPr>
            <a:r>
              <a:rPr lang="ar-SA" altLang="en-US" sz="1800" b="1" dirty="0">
                <a:solidFill>
                  <a:srgbClr val="1B3B6F"/>
                </a:solidFill>
                <a:latin typeface="Amiri" pitchFamily="2" charset="-78"/>
                <a:ea typeface="Amiri" pitchFamily="2" charset="-78"/>
                <a:cs typeface="Amiri" pitchFamily="2" charset="-78"/>
              </a:rPr>
              <a:t> النُّظُمِ البِيئِيَّةِ فِي العَالَمِ.</a:t>
            </a:r>
            <a:endParaRPr lang="ar-SA" sz="1800" dirty="0"/>
          </a:p>
        </p:txBody>
      </p:sp>
      <p:sp>
        <p:nvSpPr>
          <p:cNvPr id="28" name="Text 25"/>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436608" y="3741725"/>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emphasis</a:t>
            </a:r>
            <a:endParaRPr lang="en-US" sz="1100" dirty="0"/>
          </a:p>
        </p:txBody>
      </p:sp>
      <p:sp>
        <p:nvSpPr>
          <p:cNvPr id="31" name="Text 28"/>
          <p:cNvSpPr txBox="1"/>
          <p:nvPr/>
        </p:nvSpPr>
        <p:spPr>
          <a:xfrm>
            <a:off x="2834640" y="3741725"/>
            <a:ext cx="6400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يُشَكِّلُ المَرْجَانُ بِيئَةً </a:t>
            </a:r>
            <a:pPr rtl="1" algn="ctr" indent="0" marL="0">
              <a:buNone/>
            </a:pPr>
            <a:r>
              <a:rPr lang="ar-SA" altLang="en-US" sz="1800" b="1" dirty="0">
                <a:solidFill>
                  <a:srgbClr val="7B3FA0"/>
                </a:solidFill>
                <a:latin typeface="Amiri" pitchFamily="2" charset="-78"/>
                <a:ea typeface="Amiri" pitchFamily="2" charset="-78"/>
                <a:cs typeface="Amiri" pitchFamily="2" charset="-78"/>
              </a:rPr>
              <a:t>لَا غِنَى عَنْهَا</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32" name="Text 29"/>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indispensable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436608" y="4478731"/>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 maṣdar</a:t>
            </a:r>
            <a:endParaRPr lang="en-US" sz="1100" dirty="0"/>
          </a:p>
        </p:txBody>
      </p:sp>
      <p:sp>
        <p:nvSpPr>
          <p:cNvPr id="35" name="Text 32"/>
          <p:cNvSpPr txBox="1"/>
          <p:nvPr/>
        </p:nvSpPr>
        <p:spPr>
          <a:xfrm>
            <a:off x="2834640" y="4478731"/>
            <a:ext cx="64008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يُهَدِّدُ الاحْتِرَارُ التَّوَازُنَ </a:t>
            </a:r>
            <a:pPr rtl="1" algn="ctr" indent="0" marL="0">
              <a:buNone/>
            </a:pPr>
            <a:r>
              <a:rPr lang="ar-SA" altLang="en-US" sz="1800" b="1" dirty="0">
                <a:solidFill>
                  <a:srgbClr val="D6336C"/>
                </a:solidFill>
                <a:latin typeface="Amiri" pitchFamily="2" charset="-78"/>
                <a:ea typeface="Amiri" pitchFamily="2" charset="-78"/>
                <a:cs typeface="Amiri" pitchFamily="2" charset="-78"/>
              </a:rPr>
              <a:t>وَيُؤَدِّي إِلَى</a:t>
            </a:r>
            <a:pPr rtl="1" algn="ctr" indent="0" marL="0">
              <a:buNone/>
            </a:pPr>
            <a:r>
              <a:rPr lang="ar-SA" altLang="en-US" sz="1800" b="1" dirty="0">
                <a:solidFill>
                  <a:srgbClr val="1B3B6F"/>
                </a:solidFill>
                <a:latin typeface="Amiri" pitchFamily="2" charset="-78"/>
                <a:ea typeface="Amiri" pitchFamily="2" charset="-78"/>
                <a:cs typeface="Amiri" pitchFamily="2" charset="-78"/>
              </a:rPr>
              <a:t> تَبْيِيضِ المَرْجَانِ.</a:t>
            </a:r>
            <a:endParaRPr lang="ar-SA" sz="1800" dirty="0"/>
          </a:p>
        </p:txBody>
      </p:sp>
      <p:sp>
        <p:nvSpPr>
          <p:cNvPr id="36" name="Text 33"/>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 → effect</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436608" y="521573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therefore + purpose</a:t>
            </a:r>
            <a:endParaRPr lang="en-US" sz="1100" dirty="0"/>
          </a:p>
        </p:txBody>
      </p:sp>
      <p:sp>
        <p:nvSpPr>
          <p:cNvPr id="39" name="Text 36"/>
          <p:cNvSpPr txBox="1"/>
          <p:nvPr/>
        </p:nvSpPr>
        <p:spPr>
          <a:xfrm>
            <a:off x="2834640" y="5215738"/>
            <a:ext cx="640080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لِذٰلِكَ</a:t>
            </a:r>
            <a:pPr rtl="1" algn="ctr" indent="0" marL="0">
              <a:buNone/>
            </a:pPr>
            <a:r>
              <a:rPr lang="ar-SA" altLang="en-US" sz="1800" b="1" dirty="0">
                <a:solidFill>
                  <a:srgbClr val="1B3B6F"/>
                </a:solidFill>
                <a:latin typeface="Amiri" pitchFamily="2" charset="-78"/>
                <a:ea typeface="Amiri" pitchFamily="2" charset="-78"/>
                <a:cs typeface="Amiri" pitchFamily="2" charset="-78"/>
              </a:rPr>
              <a:t> يَجِبُ أَنْ نَتَعَاوَنَ </a:t>
            </a:r>
            <a:pPr rtl="1" algn="ctr" indent="0" marL="0">
              <a:buNone/>
            </a:pPr>
            <a:r>
              <a:rPr lang="ar-SA" altLang="en-US" sz="1800" b="1" dirty="0">
                <a:solidFill>
                  <a:srgbClr val="0E7C86"/>
                </a:solidFill>
                <a:latin typeface="Amiri" pitchFamily="2" charset="-78"/>
                <a:ea typeface="Amiri" pitchFamily="2" charset="-78"/>
                <a:cs typeface="Amiri" pitchFamily="2" charset="-78"/>
              </a:rPr>
              <a:t>لِكَيْ نَحْمِيَ</a:t>
            </a:r>
            <a:pPr rtl="1" algn="ctr" indent="0" marL="0">
              <a:buNone/>
            </a:pPr>
            <a:r>
              <a:rPr lang="ar-SA" altLang="en-US" sz="1800" b="1" dirty="0">
                <a:solidFill>
                  <a:srgbClr val="1B3B6F"/>
                </a:solidFill>
                <a:latin typeface="Amiri" pitchFamily="2" charset="-78"/>
                <a:ea typeface="Amiri" pitchFamily="2" charset="-78"/>
                <a:cs typeface="Amiri" pitchFamily="2" charset="-78"/>
              </a:rPr>
              <a:t> التَّنَوُّعَ الحَيَوِيَّ.</a:t>
            </a:r>
            <a:endParaRPr lang="ar-SA" sz="1800" dirty="0"/>
          </a:p>
        </p:txBody>
      </p:sp>
      <p:sp>
        <p:nvSpPr>
          <p:cNvPr id="40" name="Text 37"/>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science paragraph moves: what it is → why it matters → the threat → the counterfactual → therefore + li-kay.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Composition verbs and the purpose subjunctive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ea typeface="Amiri" pitchFamily="2" charset="-78"/>
                <a:cs typeface="Amiri" pitchFamily="2" charset="-78"/>
              </a:rPr>
              <a:t>أَفْعَالُ التَّكْوِينِ وَالفِعْلُ المَنْصُوبُ بَعْدَ لِكَيْ</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Composition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yaḍummu / yushakkilu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تَضُمُّ الغَابَةُ آلَافَ الأَنْوَاعِ   ·   يُشَكِّلُ المَرْجَانُ بِيئَةً حَيَوِيَّةً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Real threat (Type 1)</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اسْتَمَرَّ الاحْتِرَارُ، سَتَتَبَيَّضُ الشِّعَابُ</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Counterfactual (Type 2)</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كَانَتِ الحِمَايَةُ أَصْرَمَ، لَكَانَتِ الشِّعَابُ أَفْضَلَ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Purpose subjunctive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verb in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لِكَيْ تَحْمِيَ المِنْطَقَةُ إِرْثَهَا الطَّبِيعِيَّ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بِآلَافِ الأَنْوَاعِ.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لِآلَافِ الأَنْوَاعِ.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يَتَفَاعَلُ كُلُّ عُنْصُرٍ ___ العَنَاصِرِ الأُخْرَى.</a:t>
            </a:r>
            <a:endParaRPr lang="ar-SA" sz="14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نَحْتَاجُ إِلَى قَوَانِينَ لِكَيْ ___ الغَابَاتِ.</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is subjunctive?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تُحَافِظَ الحُكُومَاتُ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تُحَافِظُ الحُكُومَاتُ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حَافَظَتِ الحُكُومَاتُ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تَضُمُّ الغَابَةُ بِآلَافِ الأَنْوَاعِ.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تَضُمُّ الغَابَةُ لِآلَافِ الأَنْوَاعِ.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تَضُمُّ الغَابَةُ آلَافَ الأَنْوَاعِ.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يَتَفَاعَلُ كُلُّ عُنْصُرٍ ___ العَنَاصِرِ الأُخْرَى.</a:t>
            </a:r>
            <a:endParaRPr lang="ar-SA" sz="14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نَحْتَاجُ إِلَى قَوَانِينَ لِكَيْ ___ الغَابَاتِ.</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نَحْمِيَ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is subjunctive?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 تُحَافِظَ الحُكُومَاتُ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تُحَافِظُ الحُكُومَاتُ</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حَافَظَتِ الحُكُومَاتُ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ends in a fatḥa: </a:t>
            </a:r>
            <a:pPr algn="l" indent="0" marL="0">
              <a:buNone/>
            </a:pPr>
            <a:r>
              <a:rPr lang="ar-SA" altLang="en-US" sz="1350" dirty="0">
                <a:solidFill>
                  <a:srgbClr val="8A6D1E"/>
                </a:solidFill>
                <a:latin typeface="Amiri" pitchFamily="2" charset="-78"/>
                <a:ea typeface="Amiri" pitchFamily="2" charset="-78"/>
                <a:cs typeface="Amiri" pitchFamily="2" charset="-78"/>
              </a:rPr>
              <a:t>تُحَافِظَ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describe and defend an ecosystem</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Describe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يَضُمُّ</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ea typeface="Amiri" pitchFamily="2" charset="-78"/>
                <a:cs typeface="Amiri" pitchFamily="2" charset="-78"/>
              </a:rPr>
              <a:t>يُشَكِّلُ</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Threat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يُهَدِّدُ</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ea typeface="Amiri" pitchFamily="2" charset="-78"/>
                <a:cs typeface="Amiri" pitchFamily="2" charset="-78"/>
              </a:rPr>
              <a:t> … سَـ</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1.</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ea typeface="Amiri" pitchFamily="2" charset="-78"/>
                <a:cs typeface="Amiri" pitchFamily="2" charset="-78"/>
              </a:rPr>
              <a:t>لَـ</a:t>
            </a:r>
            <a:pPr rtl="1" algn="ctr" indent="0" marL="0">
              <a:buNone/>
            </a:pPr>
            <a:r>
              <a:rPr lang="ar-SA" altLang="en-US" sz="2800" b="1" dirty="0">
                <a:solidFill>
                  <a:srgbClr val="1B3B6F"/>
                </a:solidFill>
                <a:latin typeface="Amiri" pitchFamily="2" charset="-78"/>
                <a:ea typeface="Amiri" pitchFamily="2" charset="-78"/>
                <a:cs typeface="Amiri" pitchFamily="2" charset="-78"/>
              </a:rPr>
              <a:t>كَانَتْ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لِذٰلِكَ</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ea typeface="Amiri" pitchFamily="2" charset="-78"/>
                <a:cs typeface="Amiri" pitchFamily="2" charset="-78"/>
              </a:rPr>
              <a:t>لِكَيْ تَحْمِيَ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COMPOSITION</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THREAT · TYPE 1</a:t>
            </a:r>
            <a:endParaRPr lang="en-US" sz="800" dirty="0"/>
          </a:p>
        </p:txBody>
      </p:sp>
      <p:sp>
        <p:nvSpPr>
          <p:cNvPr id="49" name="Shape 45"/>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LI-KAY + -A</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يَقَعُ البَحْرُ الأَحْمَرُ بَيْنَ شِبْهِ الجَزِيرَةِ العَرَبِيَّةِ وَأَفْرِيقِيَا،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وَيَضُمُّ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شِعَابًا مَرْجَانِيَّةً غَنِيَّةً.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يُشَكِّلُ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المَرْجَانُ بِيئَةً لَا غِنَى عَنْهَا لِآلَافِ الأَسْمَاكِ. غَيْرَ أَنَّ الاحْتِرَارَ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يُهَدِّدُ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هٰذَا التَّوَازُنَ؛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اسْتَمَرَّ،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سَتَمُوتُ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الشِّعَابُ.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كَانَتِ الحِمَايَةُ أَصْرَمَ فِي المَاضِي،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الشِّعَابُ أَفْضَلَ حَالًا.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لِذٰلِكَ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نَحْتَاجُ إِلَى تَعَاوُنٍ إِقْلِيمِيٍّ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لِكَيْ نَحْمِيَ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هٰذَا الإِرْثَ.</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The Red Sea lies between the Arabian Peninsula and Africa, and it includes rich coral reefs. Coral forms an indispensable environment for thousands of fish. However, warming threatens this balance: if it continues, the reefs will die. Had protection been stricter in the past, the reefs would be in better shape. Therefore we need regional cooperation so that we protect this heritage.</a:t>
            </a:r>
            <a:endParaRPr lang="en-US" sz="9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تَضُمُّ الشِّعَابُ المَرْجَانِيَّةُ فِي البَحْرِ الأَحْمَرِ أَلْفَ نَوْعٍ مِنَ الأَسْمَاكِ</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Red Sea’s coral reefs include a thousand species of fish</a:t>
            </a:r>
            <a:endParaRPr lang="en-US" sz="1250" dirty="0"/>
          </a:p>
          <a:p>
            <a:pPr indent="0" marL="0">
              <a:buNone/>
            </a:pPr>
            <a:r>
              <a:rPr lang="en-US" sz="1050" i="1" dirty="0">
                <a:solidFill>
                  <a:srgbClr val="8A6D1E"/>
                </a:solidFill>
                <a:latin typeface="Calibri" pitchFamily="34" charset="0"/>
                <a:cs typeface="Amiri" pitchFamily="2" charset="-78"/>
              </a:rPr>
              <a:t>yaḍummu takes a direct object.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لَوْ كَانَتْ إِجْرَاءَاتُ الحِمَايَةِ أَصْرَمَ سَابِقًا، لَكَانَتِ الشِّعَابُ أَفْضَلَ حَالًا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protection measures been stricter, the reefs would be in better shape</a:t>
            </a:r>
            <a:endParaRPr lang="en-US" sz="1250" dirty="0"/>
          </a:p>
          <a:p>
            <a:pPr indent="0" marL="0">
              <a:buNone/>
            </a:pPr>
            <a:r>
              <a:rPr lang="en-US" sz="1050" i="1" dirty="0">
                <a:solidFill>
                  <a:srgbClr val="8A6D1E"/>
                </a:solidFill>
                <a:latin typeface="Calibri" pitchFamily="34" charset="0"/>
                <a:cs typeface="Amiri" pitchFamily="2" charset="-78"/>
              </a:rPr>
              <a:t>Type 2 counterfactual.</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تَحْتَاجُ الدُّوَلُ إِلَى تَعَاوُنٍ لِكَيْ تَحْمِيَ هٰذَا الإِرْثَ الطَّبِيعِيَّ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states need cooperation so that they protect this natural heritage</a:t>
            </a:r>
            <a:endParaRPr lang="en-US" sz="1250" dirty="0"/>
          </a:p>
          <a:p>
            <a:pPr indent="0" marL="0">
              <a:buNone/>
            </a:pPr>
            <a:r>
              <a:rPr lang="en-US" sz="1050" i="1" dirty="0">
                <a:solidFill>
                  <a:srgbClr val="8A6D1E"/>
                </a:solidFill>
                <a:latin typeface="Calibri" pitchFamily="34" charset="0"/>
                <a:cs typeface="Amiri" pitchFamily="2" charset="-78"/>
              </a:rPr>
              <a:t>li-kay + a verb in -a (taḥmiya).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NATURAL WORLD — LANDSCAPES, ECOSYSTEMS AND BIODIVERSITY”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Landscapes: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العَالَمُ الطَّبِيعِيُّ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forest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sea</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protect the environment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بَحْرٌ.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نَحْمِيَ البِيئَةَ.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غَابَةٌ.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العَالَمُ الطَّبِيعِيُّ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forest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غَابَةٌ.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forest.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sea</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بَحْرٌ.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sea.</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protect the environment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نَحْمِيَ البِيئَةَ.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protect the environment.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ECOSYSTEM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Composition + threat + purpose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حُجَّةً 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Composition</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Threat / counterfactual</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Purpose (li-kay)</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يَضُمُّ البَحْرُ الأَحْمَرُ شِعَابًا مَرْجَانِيَّةً غَنِيَّةً</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اسْتَمَرَّ الاحْتِرَارُ سَتَتَبَيَّضُ الشِّعَابُ وَتَمُوتُ</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وَنَحْتَاجُ إِلَى تَعَاوُنٍ إِقْلِيمِيٍّ لِكَيْ نَحْمِيَ هٰذَا الإِرْثَ</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يُشَكِّلُ المَرْجَانُ بِيئَةً لِآلَافِ الأَسْمَاكِ</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حُمِيَتْ مُبَكِّرًا لَكَانَتْ أَفْضَلَ حَالًا</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وَيَجِبُ أَنْ نَتَعَاوَنَ لِكَيْ تَسْتَمِرَّ الحَيَاةُ البَحْرِيَّةُ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تَتَفَاعَلُ الأَنْوَاعُ مَعَ بَعْضِهَا فِي سَلَاسِلَ غِذَائِيَّةٍ</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وَيُؤَدِّي النَّشَاطُ البَشَرِيُّ إِلَى انْقِرَاضِ أَنْوَاعٍ</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وَلِكَيْ نُحَافِظَ عَلَى التَّوَازُنِ نَحْتَاجُ إِلَى قَوَانِينَ صَارِمَةٍ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underline every verb after li-kay: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Composition, conditional — or purpose?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تَضُمُّ الغَابَةُ آلَافَ الأَنْوَاعِ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يُشَكِّلُ المَرْجَانُ بِيئَةً حَيَوِيَّةً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يَضُمُّ البَحْرُ شِعَابًا مَرْجَانِيَّةً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إِذَا اسْتَمَرَّ الاحْتِرَارُ، سَتَمُوتُ الشِّعَابُ</a:t>
            </a:r>
            <a:endParaRPr lang="ar-SA" sz="15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حُمِيَتْ مُبَكِّرًا، لَبَقِيَتِ الشِّعَابُ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ارْتَفَعَتِ الحَرَارَةُ، سَيَخْتَلُّ التَّوَازُنُ</a:t>
            </a:r>
            <a:endParaRPr lang="ar-SA" sz="15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تَحْمِيَ الحُكُومَاتُ التَّنَوُّعَ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تَسْتَمِرَّ الشِّعَابُ فِي دَوْرِهَا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نُحَافِظَ عَلَى التَّوَازُنِ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composition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 (Type 1 / 2)</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purpose (li-kay + -a)</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composition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تَضُمُّ الغَابَةُ آلَافَ الأَنْوَاعِ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يُشَكِّلُ المَرْجَانُ بِيئَةً حَيَوِيَّةً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يَضُمُّ البَحْرُ شِعَابًا مَرْجَانِيَّةً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 (Type 1 / 2)</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 الاحْتِرَارُ، سَتَمُوتُ الشِّعَابُ</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حُمِيَتْ مُبَكِّرًا، لَبَقِيَتِ الشِّعَابُ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ارْتَفَعَتِ الحَرَارَةُ، سَيَخْتَلُّ التَّوَازُنُ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purpose (li-kay + -a)</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تَحْمِيَ الحُكُومَاتُ التَّنَوُّعَ</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تَسْتَمِرَّ الشِّعَابُ فِي دَوْرِهَا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نُحَافِظَ عَلَى التَّوَازُنِ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threat (Type 1)?</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اسْتَمَرَّ الاحْتِرَارُ، لَتَبَيَّضَتِ الشِّعَابُ.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 الاحْتِرَارُ.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اسْتَمَرَّ الاحْتِرَارُ، سَتَتَبَيَّضُ الشِّعَابُ.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صَارَتِ الحِمَايَةُ أَصْرَمَ، سَتَتَحَسَّنُ الشِّعَابُ.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كَانَتِ الحِمَايَةُ أَصْرَمَ، لَكَانَتِ الشِّعَابُ أَفْضَلَ.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تُحْمَى الشِّعَابُ.</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لِكَيْ ___ الشِّعَابُ فِي أَدَاءِ دَوْرِهَا.</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اسْتَمَرَّتْ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ḍamma</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sukūn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threat (Type 1)?</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اسْتَمَرَّ الاحْتِرَارُ، لَتَبَيَّضَتِ الشِّعَابُ.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يَسْتَمِرُّ الاحْتِرَارُ.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اسْتَمَرَّ الاحْتِرَارُ، سَتَتَبَيَّضُ الشِّعَابُ.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states a real, likely consequence.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صَارَتِ الحِمَايَةُ أَصْرَمَ، سَتَتَحَسَّنُ الشِّعَابُ.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كَانَتِ الحِمَايَةُ أَصْرَمَ، لَكَانَتِ الشِّعَابُ أَفْضَلَ.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تُحْمَى الشِّعَابُ.</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لِكَيْ ___ الشِّعَابُ فِي أَدَاءِ دَوْرِهَا.</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تَسْتَمِرَّ</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اسْتَمَرَّتْ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of the doubled verb is </a:t>
            </a:r>
            <a:pPr algn="l" indent="0" marL="0">
              <a:buNone/>
            </a:pPr>
            <a:r>
              <a:rPr lang="ar-SA" altLang="en-US" sz="1350" dirty="0">
                <a:solidFill>
                  <a:srgbClr val="8A6D1E"/>
                </a:solidFill>
                <a:latin typeface="Amiri" pitchFamily="2" charset="-78"/>
                <a:ea typeface="Amiri" pitchFamily="2" charset="-78"/>
                <a:cs typeface="Amiri" pitchFamily="2" charset="-78"/>
              </a:rPr>
              <a:t>تَسْتَمِرَّ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ḍamma</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sukūn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verb ends in a fatḥa.</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نَحْتَاجُ إِلَى قَوَانِينَ لِكَيْ نَحْمِي الغَابَاتِ.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li-kay naḥmī?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تَضُمُّ الغَابَةُ بِآلَافِ الأَنْوَاعِ.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taḍummu + bi-?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اسْتَمَرَّ الاحْتِرَارُ، سَتَمُوتُ الشِّعَابُ.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نَحْتَاجُ إِلَى قَوَانِينَ لِكَيْ نَحْمِي الغَابَاتِ.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نَحْتَاجُ إِلَى قَوَانِينَ لِكَيْ نَحْمِيَ الغَابَاتِ.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نَحْمِيَ</a:t>
            </a:r>
            <a:pPr algn="l" indent="0" marL="0">
              <a:buNone/>
            </a:pPr>
            <a:r>
              <a:rPr lang="en-US" sz="1150" b="1" dirty="0">
                <a:solidFill>
                  <a:srgbClr val="1B3B6F"/>
                </a:solidFill>
                <a:latin typeface="Calibri" pitchFamily="34" charset="0"/>
                <a:cs typeface="Amiri" pitchFamily="2" charset="-78"/>
              </a:rPr>
              <a:t>, with a final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تَضُمُّ الغَابَةُ بِآلَافِ الأَنْوَاعِ.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تَضُمُّ الغَابَةُ آلَافَ الأَنْوَاعِ.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يَضُمُّ</a:t>
            </a:r>
            <a:pPr algn="l" indent="0" marL="0">
              <a:buNone/>
            </a:pPr>
            <a:r>
              <a:rPr lang="en-US" sz="1150" b="1" dirty="0">
                <a:solidFill>
                  <a:srgbClr val="1B3B6F"/>
                </a:solidFill>
                <a:latin typeface="Calibri" pitchFamily="34" charset="0"/>
                <a:cs typeface="Amiri" pitchFamily="2" charset="-78"/>
              </a:rPr>
              <a:t> takes a direct object, with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اسْتَمَرَّ الاحْتِرَارُ، سَتَمُوتُ الشِّعَابُ.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اسْتَمَرَّ الاحْتِرَارُ، لَمَاتَتِ الشِّعَابُ.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Listening: the Red Sea's coral reefs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Red Sea encompass?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of the world's richest marine coral reefs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sand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life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coral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barrier to fish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indispensable environment for thousands of 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Reefs are indestructible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Warming has stopped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ocean warming continues, reefs will bleach and die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protection been stricter, the reefs would be better today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Protection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reefs cannot recover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region's states need cooperation?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exploit the reefs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protect this natural heritage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tourism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yaḍummu · yushakkilu ·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يَقَعُ البَحْرُ الأَحْمَرُ بَيْنَ شِبْهِ الجَزِيرَةِ العَرَبِيَّةِ وَشَمَالِ أَفْرِيقِيَا. يَضُمُّ هٰذَا البَحْرُ شِعَابًا مَرْجَانِيَّةً مِنْ أَغْنَى النُّظُمِ البِيئِيَّةِ البَحْرِيَّةِ فِي العَالَمِ.</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Red Sea lies between the Arabian Peninsula and North Africa. This sea includes coral reefs among the richest marine ecosystems in the world.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يُشَكِّلُ المَرْجَانُ بِيئَةً لَا غِنَى عَنْهَا لِآلَافِ الأَسْمَاكِ. غَيْرَ أَنَّ الاحْتِرَارَ يُهَدِّدُ هٰذَا التَّوَازُنَ.</a:t>
            </a:r>
            <a:endParaRPr lang="ar-SA" sz="16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Coral forms an indispensable environment for thousands of fish. However, warming threatens this balance.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اسْتَمَرَّ ارْتِفَاعُ حَرَارَةِ المُحِيطَاتِ، سَتَتَبَيَّضُ الشِّعَابُ وَتَمُوتُ.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 rise in ocean temperatures continues, the reefs will bleach and die.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وَلَوْ كَانَتْ إِجْرَاءَاتُ الحِمَايَةِ أَصْرَمَ فِي العُقُودِ المَاضِيَةِ، لَكَانَتِ الشِّعَابُ أَفْضَلَ حَالًا اليَوْمَ.</a:t>
            </a:r>
            <a:endParaRPr lang="ar-SA" sz="16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protection measures been stricter in past decades, the reefs would be in better shape today.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لِذٰلِكَ تَحْتَاجُ دُوَلُ المِنْطَقَةِ إِلَى تَعَاوُنٍ إِقْلِيمِيٍّ لِكَيْ تَحْمِيَ هٰذَا الإِرْثَ الطَّبِيعِيَّ الاسْتِثْنَائِيَّ.</a:t>
            </a:r>
            <a:endParaRPr lang="ar-SA" sz="16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 region’s states need regional cooperation so that they protect this exceptional natural heritage.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Red Sea encompass?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of the world's richest marine coral reefs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sand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life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يَضُمُّ … شِعَابًا مَرْجَانِيَّةً مِنْ أَغْنَى النُّظُمِ البِيئِيَّةِ.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coral form?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barrier to fish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indispensable environment for thousands of fish</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يُشَكِّلُ المَرْجَانُ بِيئَةً لَا غِنَى عَنْهَا لِآلَافِ الأَسْمَاكِ.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Reefs are indestructible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Warming has stopped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ocean warming continues, reefs will bleach and die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إِذَا اسْتَمَرَّ ارْتِفَاعُ حَرَارَةِ المُحِيطَاتِ، سَتَتَبَيَّضُ الشِّعَابُ وَتَمُوتُ.</a:t>
            </a:r>
            <a:endParaRPr lang="ar-SA" sz="12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protection been stricter, the reefs would be better today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Protection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reefs cannot recover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كَانَتْ إِجْرَاءَاتُ الحِمَايَةِ أَصْرَمَ … لَكَانَتِ الشِّعَابُ أَفْضَلَ.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region's states need cooperation?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exploit the reefs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they protect this natural heritage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tourism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تَحْمِيَ هٰذَا الإِرْثَ الطَّبِيعِيَّ.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yaḍummu · yushakkilu ·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Speaking: describe and defend an ecosystem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نِظَامًا بِيئِيًّا مُسْتَعْمِلًا «يَضُمُّ» وَ«يُشَكِّلُ».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الخَطَرُ الحَقِيقِيُّ عَلَيْهِ؟ عَبِّرْ عَنْهُ بِشَرْطٍ مِنَ النَّوْعِ الأَوَّلِ.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نَحْتَاجُ إِلَى حِمَايَتِهِ؟ اسْتَعْمِلْ «لِكَيْ» + مَنْصُوبًا.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ea typeface="Amiri" pitchFamily="2" charset="-78"/>
                <a:cs typeface="Amiri" pitchFamily="2" charset="-78"/>
              </a:rPr>
              <a:t>يَضُمُّ ___ ، وَيُشَكِّلُ ___ بِيئَةً لِآلَافِ ___ .</a:t>
            </a:r>
            <a:endParaRPr lang="ar-SA" sz="14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اسْتَمَرَّ ___ ، سَيَخْتَلُّ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نَحْتَاجُ إِلَى ___ لِكَيْ نَحْمِيَ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نِظَامًا بِيئِيًّا.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an ecosystem.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يَضُمُّ البَحْرُ الأَحْمَرُ شِعَابًا مَرْجَانِيَّةً غَنِيَّةً، وَيُشَكِّلُ المَرْجَانُ بِيئَةً لِآلَافِ الأَسْمَاكِ.</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Red Sea includes rich coral reefs, and coral forms an environment for thousands of fish.</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ecosystem sentences with </a:t>
            </a:r>
            <a:pPr algn="l" indent="0" marL="0">
              <a:buNone/>
            </a:pPr>
            <a:r>
              <a:rPr lang="ar-SA" altLang="en-US" sz="1800" b="1" dirty="0">
                <a:solidFill>
                  <a:srgbClr val="1F2A37"/>
                </a:solidFill>
                <a:latin typeface="Amiri" pitchFamily="2" charset="-78"/>
                <a:ea typeface="Amiri" pitchFamily="2" charset="-78"/>
                <a:cs typeface="Amiri" pitchFamily="2" charset="-78"/>
              </a:rPr>
              <a:t>يَضُمُّ</a:t>
            </a:r>
            <a:pPr algn="l" indent="0" marL="0">
              <a:buNone/>
            </a:pPr>
            <a:r>
              <a:rPr lang="en-US" sz="1400" b="1" dirty="0">
                <a:solidFill>
                  <a:srgbClr val="1F2A37"/>
                </a:solidFill>
                <a:latin typeface="Calibri" pitchFamily="34" charset="0"/>
                <a:cs typeface="Amiri" pitchFamily="2" charset="-78"/>
              </a:rPr>
              <a:t>, </a:t>
            </a:r>
            <a:pPr algn="l" indent="0" marL="0">
              <a:buNone/>
            </a:pPr>
            <a:r>
              <a:rPr lang="ar-SA" altLang="en-US" sz="1800" b="1" dirty="0">
                <a:solidFill>
                  <a:srgbClr val="1F2A37"/>
                </a:solidFill>
                <a:latin typeface="Amiri" pitchFamily="2" charset="-78"/>
                <a:ea typeface="Amiri" pitchFamily="2" charset="-78"/>
                <a:cs typeface="Amiri" pitchFamily="2" charset="-78"/>
              </a:rPr>
              <a:t>يُشَكِّلُ</a:t>
            </a:r>
            <a:pPr algn="l" indent="0" marL="0">
              <a:buNone/>
            </a:pPr>
            <a:r>
              <a:rPr lang="en-US" sz="1400" b="1" dirty="0">
                <a:solidFill>
                  <a:srgbClr val="1F2A37"/>
                </a:solidFill>
                <a:latin typeface="Calibri" pitchFamily="34" charset="0"/>
                <a:cs typeface="Amiri" pitchFamily="2" charset="-78"/>
              </a:rPr>
              <a:t> and their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ecosystem sentences with yaḍummu, yushakkilu and their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1 threat and a Type 2 counterfactual.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1 threat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a:t>
            </a:r>
            <a:pPr algn="l" indent="0" marL="0">
              <a:buNone/>
            </a:pPr>
            <a:r>
              <a:rPr lang="ar-SA" altLang="en-US" sz="1800" b="1" dirty="0">
                <a:solidFill>
                  <a:srgbClr val="1F2A37"/>
                </a:solidFill>
                <a:latin typeface="Amiri" pitchFamily="2" charset="-78"/>
                <a:ea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purpose clause using the subjunctive fatḥa.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describe an ecosystem with both verbs, both conditionals, yuʾaddī ilā and a li-kay purpose clause.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يُهَدِّدُ ______ هٰذَا التَّوَازُنَ وَيُؤَدِّي إِلَى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threatens … and leads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______ ، سَيَخْتَلُّ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 continues, … will be disrupted.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لَوْ كَانَتِ الحِمَايَةُ أَصْرَمَ، لَكَانَ ______ أَفْضَلَ حَالًا.</a:t>
            </a:r>
            <a:endParaRPr lang="ar-SA" sz="15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protection been stricter, … would be in better shape.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لِذٰلِكَ نَحْتَاجُ إِلَى ______ لِكَيْ نَحْمِيَ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Therefore we need … so that we protect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يَضُمُّ ______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includes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يُشَكِّلُ ______ بِيئَةً لِآلَافِ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forms an environment for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تَتَفَاعَلُ الأَنْوَاعُ مَعَ بَعْضِهَا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species interact with each other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التَّوَازُنُ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balance depends on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البَحْرُ الأَحْمَرُ  ·  الغَابَةُ الاسْتِوَائِيَّةُ  ·  شِعَابًا مَرْجَانِيَّةً  ·  آلَافَ الأَنْوَاعِ  ·  المَرْجَانُ  ·  سَلَاسِلَ غِذَائِيَّةٍ مُعَقَّدَةٍ  ·  بَقَاءِ كُلِّ عُنْصُرٍ  ·  الاحْتِرَارُ  ·  انْقِرَاضِ أَنْوَاعٍ  ·  تَبْيِيضِ المَرْجَانِ  ·  تَعَاوُنٍ إِقْلِيمِيٍّ  ·  التَّنَوُّعَ الحَيَوِيَّ</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describing a natural ecosystem. Use </a:t>
            </a:r>
            <a:pPr algn="l" indent="0" marL="0">
              <a:buNone/>
            </a:pPr>
            <a:r>
              <a:rPr lang="ar-SA" altLang="en-US" sz="1750" b="1" dirty="0">
                <a:solidFill>
                  <a:srgbClr val="1F2A37"/>
                </a:solidFill>
                <a:latin typeface="Amiri" pitchFamily="2" charset="-78"/>
                <a:ea typeface="Amiri" pitchFamily="2" charset="-78"/>
                <a:cs typeface="Amiri" pitchFamily="2" charset="-78"/>
              </a:rPr>
              <a:t>يَضُمُّ</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يُشَكِّلُ</a:t>
            </a:r>
            <a:pPr algn="l" indent="0" marL="0">
              <a:buNone/>
            </a:pPr>
            <a:r>
              <a:rPr lang="en-US" sz="1350" b="1" dirty="0">
                <a:solidFill>
                  <a:srgbClr val="1F2A37"/>
                </a:solidFill>
                <a:latin typeface="Calibri" pitchFamily="34" charset="0"/>
                <a:cs typeface="Amiri" pitchFamily="2" charset="-78"/>
              </a:rPr>
              <a:t>, a Type 1 threat and a Type 2 counterfactual, and a purpose clause with </a:t>
            </a:r>
            <a:pPr algn="l" indent="0" marL="0">
              <a:buNone/>
            </a:pPr>
            <a:r>
              <a:rPr lang="ar-SA" altLang="en-US" sz="1750" b="1" dirty="0">
                <a:solidFill>
                  <a:srgbClr val="1F2A37"/>
                </a:solidFill>
                <a:latin typeface="Amiri" pitchFamily="2" charset="-78"/>
                <a:ea typeface="Amiri" pitchFamily="2" charset="-78"/>
                <a:cs typeface="Amiri" pitchFamily="2" charset="-78"/>
              </a:rPr>
              <a:t>لِكَيْ</a:t>
            </a:r>
            <a:pPr algn="l" indent="0" marL="0">
              <a:buNone/>
            </a:pPr>
            <a:r>
              <a:rPr lang="en-US" sz="1350" b="1" dirty="0">
                <a:solidFill>
                  <a:srgbClr val="1F2A37"/>
                </a:solidFill>
                <a:latin typeface="Calibri" pitchFamily="34" charset="0"/>
                <a:cs typeface="Amiri" pitchFamily="2" charset="-78"/>
              </a:rPr>
              <a:t> + a subjunctive verb.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Composition with </a:t>
            </a:r>
            <a:pPr algn="l" indent="0" marL="0">
              <a:buNone/>
            </a:pPr>
            <a:r>
              <a:rPr lang="ar-SA" altLang="en-US" sz="1550" dirty="0">
                <a:solidFill>
                  <a:srgbClr val="1F2A37"/>
                </a:solidFill>
                <a:latin typeface="Amiri" pitchFamily="2" charset="-78"/>
                <a:ea typeface="Amiri" pitchFamily="2" charset="-78"/>
                <a:cs typeface="Amiri" pitchFamily="2" charset="-78"/>
              </a:rPr>
              <a:t>يَضُمُّ</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يُشَكِّلُ</a:t>
            </a:r>
            <a:pPr algn="l" indent="0" marL="0">
              <a:buNone/>
            </a:pPr>
            <a:r>
              <a:rPr lang="en-US" sz="1200" dirty="0">
                <a:solidFill>
                  <a:srgbClr val="1F2A37"/>
                </a:solidFill>
                <a:latin typeface="Calibri" pitchFamily="34" charset="0"/>
                <a:cs typeface="Amiri" pitchFamily="2" charset="-78"/>
              </a:rPr>
              <a:t>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threat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a:t>
            </a:r>
            <a:pPr algn="l" indent="0" marL="0">
              <a:buNone/>
            </a:pPr>
            <a:r>
              <a:rPr lang="ar-SA" altLang="en-US" sz="1550" dirty="0">
                <a:solidFill>
                  <a:srgbClr val="1F2A37"/>
                </a:solidFill>
                <a:latin typeface="Amiri" pitchFamily="2" charset="-78"/>
                <a:ea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cause-effect link with </a:t>
            </a:r>
            <a:pPr algn="l" indent="0" marL="0">
              <a:buNone/>
            </a:pPr>
            <a:r>
              <a:rPr lang="ar-SA" altLang="en-US" sz="1550" dirty="0">
                <a:solidFill>
                  <a:srgbClr val="1F2A37"/>
                </a:solidFill>
                <a:latin typeface="Amiri" pitchFamily="2" charset="-78"/>
                <a:ea typeface="Amiri" pitchFamily="2" charset="-78"/>
                <a:cs typeface="Amiri" pitchFamily="2" charset="-78"/>
              </a:rPr>
              <a:t>يُؤَدِّي إِلَى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أَغْنَى النُّظُمِ البِيئِيَّةِ فِي العَالَمِ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among the richest ecosystems in the world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بِيئَةً لَا غِنَى عَنْهَا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indispensable environment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سَلَاسِلَ غِذَائِيَّةٍ مُعَقَّدَةٍ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complex food chains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وَيُؤَدِّي إِلَى تَبْيِيضِ المَرْجَانِ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leads to coral bleaching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لِكَيْ تَحْمِيَ هٰذَا الإِرْثَ الطَّبِيعِيَّ لِلْأَجْيَالِ القَادِمَةِ</a:t>
            </a:r>
            <a:endParaRPr lang="ar-SA" sz="145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it protects this natural heritage for future generations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يَقَعُ البَحْرُ الأَحْمَرُ بَيْنَ شِبْهِ الجَزِيرَةِ العَرَبِيَّةِ وَشَمَالِ أَفْرِيقِيَا، وَيَضُمُّ شِعَابًا مَرْجَانِيَّةً مِنْ أَغْنَى النُّظُمِ البِيئِيَّةِ فِي العَالَمِ. يُشَكِّلُ المَرْجَانُ بِيئَةً لَا غِنَى عَنْهَا لِآلَافِ الأَسْمَاكِ، وَتَتَفَاعَلُ الأَنْوَاعُ مَعَ بَعْضِهَا فِي سَلَاسِلَ غِذَائِيَّةٍ مُعَقَّدَةٍ. غَيْرَ أَنَّ الاحْتِرَارَ يُهَدِّدُ هٰذَا التَّوَازُنَ وَيُؤَدِّي إِلَى تَبْيِيضِ المَرْجَانِ. إِذَا اسْتَمَرَّ ارْتِفَاعُ حَرَارَةِ المُحِيطَاتِ، سَتَمُوتُ الشِّعَابُ خِلَالَ عُقُودٍ. وَلَوْ كَانَتْ إِجْرَاءَاتُ الحِمَايَةِ أَصْرَمَ فِي المَاضِي، لَكَانَتِ الشِّعَابُ أَفْضَلَ حَالًا اليَوْمَ. لِذٰلِكَ تَحْتَاجُ دُوَلُ المِنْطَقَةِ إِلَى تَعَاوُنٍ إِقْلِيمِيٍّ لِكَيْ تَحْمِيَ هٰذَا الإِرْثَ الطَّبِيعِيَّ الاسْتِثْنَائِيَّ لِلْأَجْيَالِ القَادِمَةِ.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Red Sea lies between the Arabian Peninsula and North Africa, and it includes coral reefs among the richest ecosystems in the world. Coral forms an indispensable environment for thousands of fish, and the species interact with each other in complex food chains. However, warming threatens this balance and leads to coral bleaching. If the rise in ocean temperatures continues, the reefs will die within decades. Had protection measures been stricter in the past, the reefs would be in better shape today. Therefore the region’s states need regional cooperation so that they protect this exceptional natural heritage for future generations.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yaḍummu + object · yushakkilu + object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yatafāʿalu maʿa · yuʾaddī ilā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(idhā … sa-) and a Type 2 (law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taḥmiya (-a)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yaḍummu / yushakkilu have a direct object (no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other verb has its partner (maʿa · ʿalā · ilā).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threat uses idhā … sa-; my counterfactual uses law … la-.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subjects take ta- (taḍummu l-ghābatu).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after li-kay ends in -a (naḥmiya · tastamirra).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بِآلَافِ الأَنْوَاعِ.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لِآلَافِ الأَنْوَاعِ.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نَحْتَاجُ إِلَى قَوَانِينَ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سَنَحْمِي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حُمِيَتْ مُبَكِّرًا، لَبَقِيَتِ الشِّعَابُ.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حُمِيَتْ، سَتَبْقَى الشِّعَابُ.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تُحْمَى الشِّعَابُ.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تَضُمُّ الغَابَةُ بِآلَافِ الأَنْوَاعِ.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تَضُمُّ الغَابَةُ لِآلَافِ الأَنْوَاعِ.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نَحْتَاجُ إِلَى قَوَانِينَ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نَحْمِي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نَحْمِيَ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سَنَحْمِي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(Type 2)?</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حُمِيَتْ مُبَكِّرًا، لَبَقِيَتِ الشِّعَابُ.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حُمِيَتْ، سَتَبْقَى الشِّعَابُ.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تُحْمَى الشِّعَابُ.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threatened balance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يُعَدُّ التَّنَوُّعُ الحَيَوِيُّ أَسَاسَ الحَيَاةِ عَلَى الأَرْضِ. فَكُلُّ نِظَامٍ بِيئِيٍّ يَضُمُّ أَنْوَاعًا تَتَفَاعَلُ مَعَ بَعْضِهَا فِي سَلَاسِلَ غِذَائِيَّةٍ مُعَقَّدَةٍ، وَيَعْتَمِدُ تَوَازُنُهُ عَلَى بَقَاءِ كُلِّ عُنْصُرٍ. غَيْرَ أَنَّ النَّشَاطَ البَشَرِيَّ يُهَدِّدُ هٰذَا التَّوَازُنَ وَيُؤَدِّي إِلَى انْقِرَاضِ أَنْوَاعٍ كَثِيرَةٍ. إِذَا فَقَدْنَا نَوْعًا وَاحِدًا، سَتَتَأَثَّرُ السِّلْسِلَةُ كُلُّهَا. وَلَوْ عَامَلْنَا الطَّبِيعَةَ بِاحْتِرَامٍ أَكْبَرَ فِي المَاضِي، لَمَا وَصَلَ كَثِيرٌ مِنَ الأَنْوَاعِ إِلَى حَافَّةِ الانْقِرَاضِ. لِذٰلِكَ يَجِبُ أَنْ نَتَعَاوَنَ لِكَيْ نَحْمِيَ التَّنَوُّعَ الحَيَوِيَّ لِلْأَجْيَالِ القَادِمَةِ.</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أَسَاسَ</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basis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مُعَقَّدَةٍ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complex</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بَقَاءِ</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survival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عُنْصُرٍ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element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النَّشَاطَ البَشَرِيَّ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human activity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انْقِرَاضِ</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extinction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فَقَدْنَا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lost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سَتَتَأَثَّرُ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be affected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عَامَلْنَا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treated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حَافَّةِ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edge, the brink</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biodiversity called?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luxury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basis of life on Earth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obstacle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ecosystem's balance depend 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species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Human activity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survival of every element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we lose one species, the whole chain is affected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Losing a species has no effect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Chains cannot be affected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Had we treated nature with more respect, many species would not have neared extinction</a:t>
            </a:r>
            <a:endParaRPr lang="en-US" sz="1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Extinction is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we cooperate, per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we protect biodiversity for future generations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exploit nature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biodiversity called?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luxury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basis of life on Earth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obstacle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يُعَدُّ التَّنَوُّعُ الحَيَوِيُّ أَسَاسَ الحَيَاةِ عَلَى الأَرْضِ.</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ecosystem's balance depend 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species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Human activity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survival of every element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يَعْتَمِدُ تَوَازُنُهُ عَلَى بَقَاءِ كُلِّ عُنْصُرٍ.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we lose one species, the whole chain is affected</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Losing a species has no effect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Chains cannot be affected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فَقَدْنَا نَوْعًا وَاحِدًا، سَتَتَأَثَّرُ السِّلْسِلَةُ كُلُّهَا.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Had we treated nature with more respect, many species would not have neared extinction</a:t>
            </a:r>
            <a:endParaRPr lang="en-US" sz="10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Extinction is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ea typeface="Amiri" pitchFamily="2" charset="-78"/>
                <a:cs typeface="Amiri" pitchFamily="2" charset="-78"/>
              </a:rPr>
              <a:t>لَوْ عَامَلْنَا الطَّبِيعَةَ بِاحْتِرَامٍ أَكْبَرَ … لَمَا وَصَلَ كَثِيرٌ مِنَ الأَنْوَاعِ إِلَى حَافَّةِ الانْقِرَاضِ.</a:t>
            </a:r>
            <a:endParaRPr lang="ar-SA" sz="9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we cooperate, per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we protect biodiversity for future generations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exploit nature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يَجِبُ أَنْ نَتَعَاوَنَ لِكَيْ نَحْمِيَ التَّنَوُّعَ الحَيَوِيَّ لِلْأَجْيَالِ القَادِمَةِ.</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Ecosystem Mission — Composition, Conditionals and </a:t>
            </a:r>
            <a:pPr algn="l" indent="0" marL="0">
              <a:buNone/>
            </a:pPr>
            <a:r>
              <a:rPr lang="ar-SA" altLang="en-US" sz="2300" b="1" dirty="0">
                <a:solidFill>
                  <a:srgbClr val="1B3B6F"/>
                </a:solidFill>
                <a:latin typeface="Amiri" pitchFamily="2" charset="-78"/>
                <a:ea typeface="Amiri" pitchFamily="2" charset="-78"/>
                <a:cs typeface="Amiri" pitchFamily="2" charset="-78"/>
              </a:rPr>
              <a:t>لِكَيْ</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تَضُمُّ الغَابَةُ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الأَنْوَاعِ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بِآلَافِ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آلَافَ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لِآلَافِ</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يَتَفَاعَلُ العُنْصُرُ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العَنَاصِرِ الأُخْرَى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اسْتَمَرَّ الاحْتِرَارُ، سَتَمُوتُ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threat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حُمِيَتْ، لَبَقِيَتْ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threat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سَنَحْمِي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الشِّعَابُ فِي دَوْرِهَا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تَسْتَمِرَّ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اسْتَمَرَّتْ</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تَضُمُّ الغَابَةُ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الأَنْوَاعِ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بِآلَافِ</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آلَافَ</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لِآلَافِ</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يَتَفَاعَلُ العُنْصُرُ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العَنَاصِرِ الأُخْرَى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اسْتَمَرَّ الاحْتِرَارُ، سَتَمُوتُ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threat</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threat.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حُمِيَتْ، لَبَقِيَتْ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threat</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counterfactual.</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نَحْمِيَ</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سَنَحْمِي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الشِّعَابُ فِي دَوْرِهَا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تَسْتَمِرُّ</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تَسْتَمِرَّ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اسْتَمَرَّتْ</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of the doubled verb is </a:t>
            </a:r>
            <a:pPr algn="l" indent="0" marL="0">
              <a:buNone/>
            </a:pPr>
            <a:r>
              <a:rPr lang="ar-SA" altLang="en-US" sz="1350" dirty="0">
                <a:solidFill>
                  <a:srgbClr val="8A6D1E"/>
                </a:solidFill>
                <a:latin typeface="Amiri" pitchFamily="2" charset="-78"/>
                <a:ea typeface="Amiri" pitchFamily="2" charset="-78"/>
                <a:cs typeface="Amiri" pitchFamily="2" charset="-78"/>
              </a:rPr>
              <a:t>تَسْتَمِرَّ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P4-L02 · Urban Environments — Cities, Architecture and Urban Planning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تَخْطِيطٌ عُمْرَانِيٌّ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urban planning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حَيٌّ سَكَنِيٌّ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residential district</a:t>
            </a:r>
            <a:pPr indent="0" marL="0">
              <a:buNone/>
            </a:pPr>
            <a:r>
              <a:rPr lang="ar-SA" sz="1000" i="1" dirty="0">
                <a:solidFill>
                  <a:srgbClr val="5A6472"/>
                </a:solidFill>
                <a:latin typeface="Calibri" pitchFamily="34" charset="0"/>
                <a:ea typeface="Amiri" pitchFamily="2" charset="-78"/>
                <a:cs typeface="Amiri" pitchFamily="2" charset="-78"/>
              </a:rPr>
              <a:t>  pl. أَحْيَاءٌ سَكَنِيَّةٌ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مَسَاحَاتٌ خَضْرَاءُ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green spaces</a:t>
            </a:r>
            <a:pPr indent="0" marL="0">
              <a:buNone/>
            </a:pPr>
            <a:r>
              <a:rPr lang="ar-SA" sz="1000" i="1" dirty="0">
                <a:solidFill>
                  <a:srgbClr val="5A6472"/>
                </a:solidFill>
                <a:latin typeface="Calibri" pitchFamily="34" charset="0"/>
                <a:ea typeface="Amiri" pitchFamily="2" charset="-78"/>
                <a:cs typeface="Amiri" pitchFamily="2" charset="-78"/>
              </a:rPr>
              <a:t>  sg. مَسَاحَةٌ خَضْرَاءُ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الازْدِحَامُ المُرُورِيُّ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traffic congestion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يُبْنَى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built</a:t>
            </a:r>
            <a:pPr indent="0" marL="0">
              <a:buNone/>
            </a:pPr>
            <a:r>
              <a:rPr lang="ar-SA" sz="1000" i="1" dirty="0">
                <a:solidFill>
                  <a:srgbClr val="5A6472"/>
                </a:solidFill>
                <a:latin typeface="Calibri" pitchFamily="34" charset="0"/>
                <a:ea typeface="Amiri" pitchFamily="2" charset="-78"/>
                <a:cs typeface="Amiri" pitchFamily="2" charset="-78"/>
              </a:rPr>
              <a:t>  تُبْنَى she / it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would make your town or city a better place to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تَحْتَاجُ مَدِينَتِي إِلَى ______ لِكَيْ تَكُونَ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ecosystem sentences with yaḍummu and yushakkilu (no preposition!).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1 threat and a Type 2 counterfactual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description of an ecosystem ending with li-kay + -a.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P4-L02 · Urban Environments — Cities, Architecture and Urban Planning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البِيئَاتُ الحَضَرِيَّةُ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yaḍummu / yushakkilu / yuhaddidu + an OBJECT · yatafāʿalu MAʿA · yaʿtamidu ʿALĀ · yuʾaddī ILĀ — warn with idhā … sa-, regret with law … la- — and after li-kay the verb ends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P4-L01 · The Natural World — Landscapes, Ecosystems and Biodiversity</dc:title>
  <dc:subject>PptxGenJS Presentation</dc:subject>
  <dc:creator>Al Madina Online School · Arabic Department</dc:creator>
  <cp:lastModifiedBy>Al Madina Online School · Arabic Department</cp:lastModifiedBy>
  <cp:revision>1</cp:revision>
  <dcterms:created xsi:type="dcterms:W3CDTF">2026-10-11T06:43:16Z</dcterms:created>
  <dcterms:modified xsi:type="dcterms:W3CDTF">2026-10-11T06:43:16Z</dcterms:modified>
</cp:coreProperties>
</file>