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P4-L01. The website lesson “The Natural World — Landscapes, Ecosystems and Biodiversity”: vocabulary, grammar rules and quiz, patterns, common mistakes, sorter, listening, reading, speaking prompts and model, writing task and model, differentiation, final check and the lesson mission. Picture match: website visual game “The Natural World — Landscapes, Ecosystems and Biodiversity”.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ecosystem sentences with yaḍummu, yushakkilu and their complements (website Core). Develop: add a Type 1 threat and a Type 2 counterfactual. Stretch: close with a li-kay purpose clause (website 100–110 words).
• A new unit: celebrate the P3 grammar students bring with them — both conditionals and the verb in -a after an. Today li-kay works exactly like an.
• Faith link (optional): وَوَضَعَ المِيزَانَ (al-Raḥmān 55:7) — Allah set the balance; humans are trustees (khalīfa) of the earth. A natural bridge to التَّوَازُنُ البِيئِيُّ.
• Grammar links: Type 1 / Type 2 (P3-L05) · the subjunctive after an (P3-L06/L07) · verbs with fixed partners (P3-L04).
• TEACHER-WRITTEN ITEMS: waṣl alif shown without a kasra; لِكَيْ always written with its sukūn; rule headings and formulas in English and transliteration; sorter headings in English; the verb, purpose and register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P3-L12. Questions 4–5 retrieve the Type 2 la- and the verb in -a after an (P3) — today li-kay uses the same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li-kay works like an: the next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نظام، توازن، حیات and خطرہ are shared. Careful: Urdu طبیعت usually means one’s mood or health (طبیعت ٹھیک ہے؟); Arabic الطَّبِيعَةُ is nature — the natural world (Urdu uses قدرت).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and biodiversity (website vocabulary (1 of 2)). Hear → Say → See → Use. Transliteration is printed for Core students (cover it for Develop/Stretch).
Ecosystems and biodiversity: the nouns of a science report. Note the plurals: نِظَامٌ → أَنْظِمَةٌ (or نُظُمٌ in the website texts) · سِلْسِلَةٌ → سَلَاسِلُ · مَوْطِنٌ → مَوَاطِنُ.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and biodiversity (website vocabulary (2 of 2)). Hear → Say → See → Use. Transliteration is printed for Core students (cover it for Develop/Stretch).
Ecosystems and biodiversity: the nouns of a science report. Note the plurals: نِظَامٌ → أَنْظِمَةٌ (or نُظُمٌ in the website texts) · سِلْسِلَةٌ → سَلَاسِلُ · مَوْطِنٌ → مَوَاطِنُ.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vocabulary (1 of 2)). Hear → Say → See → Use. Transliteration is printed for Core students (cover it for Develop/Stretch).
Composition and impact verbs: learn each with its partner — يَضُمُّ / يُشَكِّلُ / يُهَدِّدُ + object · يَتَكَوَّنُ مِنْ · يَتَفَاعَلُ مَعَ · يَعْتَمِدُ عَلَى · يُؤَدِّي إِلَى. With a forest, a sea or the reefs as subject, use ta-: تَضُمُّ · تُشَكِّلُ.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vocabulary (2 of 2)). Hear → Say → See → Use. Transliteration is printed for Core students (cover it for Develop/Stretch).
FLEX: teach if time allows; otherwise these are on the website vocabulary tab for homework.
Composition and impact verbs: learn each with its partner — يَضُمُّ / يُشَكِّلُ / يُهَدِّدُ + object · يَتَكَوَّنُ مِنْ · يَتَفَاعَلُ مَعَ · يَعْتَمِدُ عَلَى · يُؤَدِّي إِلَى. With a forest, a sea or the reefs as subject, use ta-: تَضُمُّ · تُشَكِّلُ.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purpose subjunctive (website vocabulary (1 of 2)). Hear → Say → See → Use. Transliteration is printed for Core students (cover it for Develop/Stretch).
FLEX: teach if time allows; otherwise these are on the website vocabulary tab for homework.
The purpose subjunctive (FLEX): لِكَيْ = so that; the next verb ends in -a, just like after أَنْ: لِكَيْ نَحْمِيَ · لِكَيْ تَسْتَمِرَّ · لِكَيْ تُحَافِظَ.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purpose subjunctive (website vocabulary (2 of 2)). Hear → Say → See → Use. Transliteration is printed for Core students (cover it for Develop/Stretch).
FLEX: teach if time allows; otherwise these are on the website vocabulary tab for homework.
The purpose subjunctive (FLEX): لِكَيْ = so that; the next verb ends in -a, just like after أَنْ: لِكَيْ نَحْمِيَ · لِكَيْ تَسْتَمِرَّ · لِكَيْ تُحَافِظَ.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“Composition”, teaching point 1 and the vocabulary notes (يَضُمُّ Form I doubled · يُشَكِّلُ Form II · يَتَفَاعَلُ Form VI + مَعَ · يَعْتَمِدُ عَلَى · يُهَدِّدُ + object · يُؤَدِّي إِلَى). All examples are from the website listening and reading.
Also in the vocabulary: يَتَكَوَّنُ مِنْ (is composed of) — يَتَكَوَّنُ النِّظَامُ البِيئِيُّ مِنْ كَائِنَاتٍ حَيَّةٍ وَبِيئَتِهَا.
Agreement: الغَابَةُ / الشِّعَابُ / الأَنْوَاعُ are “she” → تَضُمُّ · تَتَفَاعَلُ; المَرْجَانُ / الاحْتِرَارُ are “he” → يُشَكِّلُ · يُهَدِّدُ.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“Real threat (Type 1)” and “Counterfactual (Type 2)”; card 3 is from the website reading (لَوْ عَامَلْنَا … لَمَا وَصَلَ كَثِيرٌ مِنَ الأَنْوَاعِ إِلَى حَافَّةِ الانْقِرَاضِ).
Revision from P3-L05: a real trend that can still happen → إِذَا … سَـ; a past that did not happen → لَوْ … لَـ / لَمَا.
أَصْرَمُ = stricter (comparative of صَارِمٌ) — accusative أَصْرَمَ as the predicate of 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“Purpose subjunctive”, teaching point 2 (“P4 accuracy depends on it”), mistake 1 and vocabulary group 3. Row 5 is a teacher addition: verbs ending in -ā (تَبْقَى · يَسْعَى) show no change.
Same rule as P3-L06/L07: أَنْ / لِكَيْ / لِـ (purpose) all take the verb in -a. Also correct: لِنَحْمِيَ (li- + verb) — the shorter form.
The doubled verb: تَسْتَمِرُّ → تَسْتَمِرَّ (the shadda stays, only the last vowel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1: يُعَدُّ + accusative (أَسَاسَ) — “is considered the basis”. Row 2: P3-L01 superlative. Row 3: لَا غِنَى عَنْهُ / عَنْهَا = indispensable. Row 4: يُؤَدِّي إِلَى + a verbal noun (تَبْيِيضِ).
Science fact for Stretch: coral bleaching happens when hot water makes corals expel the algae that feed them; some northern Red Sea corals appear unusually heat-tolerant, which is why scientists study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ecosystem verbs with their complements, both conditional types applied to threats, and the لِكَيْ purpose clause with its subjunctive verb.”
• Composition: Both take a direct object; يَتَفَاعَلُ takes مَعَ.
• Real threat (Type 1): A likely consequence of a current trend.
• Counterfactual (Type 2): What would have been better.
• Purpose subjunctive: لِكَيْ triggers the subjunctive.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first: yaḍummu + object, yushakkilu + object. Then the threat: yuhaddidu — and a real warning, idhā … SA-. Then the regret: law … LA-kānat. Close with li-kay — so the verb ends in -A: naḥmiyA.”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Landscapes, Ecosystems and Biodiversity”)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 quick warm-up at A2 level. Then upgrade each to today’s register: تَضُمُّ الغَابَةُ آلَافَ الأَنْوَاعِ · يَضُمُّ البَحْرُ شِعَابًا مَرْجَانِيَّةً · يَجِبُ أَنْ نَتَعَاوَنَ لِكَيْ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Landscapes, Ecosystems and Biodiversity”)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 quick warm-up at A2 level. Then upgrade each to today’s register: تَضُمُّ الغَابَةُ آلَافَ الأَنْوَاعِ · يَضُمُّ البَحْرُ شِعَابًا مَرْجَانِيَّةً · يَجِبُ أَنْ نَتَعَاوَنَ لِكَيْ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ecosystem argument from a composition, a threat and a purpose clause.” Website feedback: any three different combinations work.
Core: read row 1 across. Develop: label column 2 — Type 1 (row 1), Type 2 (row 2), cause–effect (row 3). Stretch: write your own column-3 line about a desert or a mountain: لِكَيْ نُحَافِظَ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a three-part argument: تَضُمُّ … ، وَإِذَا … سَـ … ، لِذٰلِكَ …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a three-part argument: تَضُمُّ … ، وَإِذَا … سَـ … ، لِذٰلِكَ …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verb after li-kay with its final vowel.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Website prompts and model. Pair task: each student defends a different ecosystem (desert · forest · sea · mountain) in 40 seconds — composition, threat, purpose. Partner checks the -a after li-kay. To a girl: صِفِي · مُسْتَعْمِلَةً · عَبِّرِي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وَيَضُمُّ شِعَابًا · يُشَكِّلُ المَرْجَانُ بِيئَةً · تَتَفَاعَلُ الأَنْوَاعُ مَعَ · يُهَدِّدُ … وَيُؤَدِّي إِلَى · إِذَا اسْتَمَرَّ … سَتَمُوتُ · لَوْ كَانَتْ … لَكَانَتِ · لِكَيْ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(P4-L02 · Urban Environments — Cities, Architecture and Urban Planning) will spend class time USING this language, so students prepare it tonight — short, simple, easy to access (school guidance: “Simple, Short, Interesting, Relevant, Easy to access”). The five words come from the website P4-L02 vocabulary (urban environments).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P4  ·  P4-L01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Natural World — Landscapes, Ecosystems and Biodiversity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34" charset="0"/>
                <a:ea typeface="Amiri" pitchFamily="34" charset="-122"/>
                <a:cs typeface="Amiri" pitchFamily="34" charset="-120"/>
              </a:rPr>
              <a:t>العَالَمُ الطَّبِيعِيُّ — المَنَاظِرُ وَالأَنْظِمَةُ البِيئِيَّةُ وَالتَّنَوُّعُ الحَيَوِيُّ</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 ecosystem in scientific register with yaḍummu and yushakkilu, weigh a real threat (idhā … sa-) against a counterfactual (law … la-), and give a purpose with li-kay + a verb ending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P4-L01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P4 › P4-L01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ea typeface="Calibri" pitchFamily="34" charset="-122"/>
                <a:cs typeface="Calibri" pitchFamily="34" charset="-120"/>
              </a:rPr>
              <a:t>Composition verbs + partners, a threat vs a counterfactual, li-kay + -a, scientific register.</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natural scenes, build an ecosystem argument, sort composition / conditional / purpose.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نِظَامٌ بِيئِيٌّ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environmental 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ecosystem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nature reserve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مَوْطِنٌ طَبِيعِيٌّ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natural habitat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homeland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natural resource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يُهَدِّدُ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protects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includes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threatens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سَأُوَفِّرُ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لَوَفَّرْتُ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يَتَعَلَّمُ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نِظَامٌ بِيئِيٌّ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environmental law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ecosystem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nature reserve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مَوْطِنٌ طَبِيعِيٌّ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natural habitat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homeland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natural resource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يُهَدِّدُ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protects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includes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threatens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سَأُوَفِّرُ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لَوَفَّرْتُ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 a Type 2 result takes la-.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يُسْتَحْسَنُ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الزَّائِرُ التَّحِيَّةَ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يَتَعَلَّمَ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يَتَعَلَّمُ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P3-L07: after an, the verb ends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li-kay works like an: the next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أَنْ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يَتَعَلَّمَ</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لِكَيْ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نَحْمِيَ</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لِكَيْ </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تَسْتَمِرَّ</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ecosystem and biodiversity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composition with yaḍummu, yushakkilu and yatafāʿalu maʿa.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 real threat (idhā) against a counterfactual (law).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purpose with li-kay + a verb ending in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ecosystem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yaḍummu / yushakkilu with an object.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threat with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counterfactual with law …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purpose with li-kay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and defend an ecosystem.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Ecosystems and biodiversity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Composition and impact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purpose subjunctive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‎نظام‎ </a:t>
            </a:r>
            <a:pPr indent="0" marL="0">
              <a:buNone/>
            </a:pPr>
            <a:r>
              <a:rPr lang="en-US" sz="950" b="1" dirty="0">
                <a:solidFill>
                  <a:srgbClr val="2E8B57"/>
                </a:solidFill>
                <a:latin typeface="Calibri" pitchFamily="34" charset="0"/>
                <a:ea typeface="Calibri" pitchFamily="34" charset="-122"/>
                <a:cs typeface="Calibri" pitchFamily="34" charset="-120"/>
              </a:rPr>
              <a:t> nizām · a system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حَيَاةٌ · حَيَوِيٌّ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‎حیات‎ </a:t>
            </a:r>
            <a:pPr indent="0" marL="0">
              <a:buNone/>
            </a:pPr>
            <a:r>
              <a:rPr lang="en-US" sz="950" b="1" dirty="0">
                <a:solidFill>
                  <a:srgbClr val="2E8B57"/>
                </a:solidFill>
                <a:latin typeface="Calibri" pitchFamily="34" charset="0"/>
                <a:ea typeface="Calibri" pitchFamily="34" charset="-122"/>
                <a:cs typeface="Calibri" pitchFamily="34" charset="-120"/>
              </a:rPr>
              <a:t> hayāt · life · biological, vital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‎خطرہ‎ </a:t>
            </a:r>
            <a:pPr indent="0" marL="0">
              <a:buNone/>
            </a:pPr>
            <a:r>
              <a:rPr lang="en-US" sz="950" b="1" dirty="0">
                <a:solidFill>
                  <a:srgbClr val="2E8B57"/>
                </a:solidFill>
                <a:latin typeface="Calibri" pitchFamily="34" charset="0"/>
                <a:ea typeface="Calibri" pitchFamily="34" charset="-122"/>
                <a:cs typeface="Calibri" pitchFamily="34" charset="-120"/>
              </a:rPr>
              <a:t> khatra · danger, threat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طَبِيعَةٌ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‎طبیعت‎ </a:t>
            </a:r>
            <a:pPr indent="0" marL="0">
              <a:buNone/>
            </a:pPr>
            <a:r>
              <a:rPr lang="en-US" sz="950" b="1" dirty="0">
                <a:solidFill>
                  <a:srgbClr val="2E8B57"/>
                </a:solidFill>
                <a:latin typeface="Calibri" pitchFamily="34" charset="0"/>
                <a:ea typeface="Calibri" pitchFamily="34" charset="-122"/>
                <a:cs typeface="Calibri" pitchFamily="34" charset="-120"/>
              </a:rPr>
              <a:t> tabīʿat · Arabic: nature · Urdu: mood,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Ecosystems and biodiversity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بِيئِيٌّ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ecosystem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bī-ʾiy-yun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أَنْظِمَةٌ بِيئِيَّةٌ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تَنَوُّعٌ حَيَوِيٌّ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biodiversity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ta-naw-wu-ʿun ḥa-ya-wiy-yun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سِلْسِلَةٌ غِذَائِيَّةٌ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food chain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sil-si-la-tun ghi-dhā-ʾiy-ya-tun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سَلَاسِلُ غِذَائِيَّةٌ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مَوْطِنٌ طَبِيعِيٌّ</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natural habitat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maw-ṭi-nun ṭa-bī-ʿiy-yun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مَوَاطِنُ طَبِيعِيَّةٌ</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3" name="Shape 6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أَنْوَاعٌ مُهَدَّدَةٌ بِالانْقِرَاضِ</a:t>
            </a:r>
            <a:endParaRPr lang="ar-SA" sz="3000" dirty="0"/>
          </a:p>
        </p:txBody>
      </p:sp>
      <p:sp>
        <p:nvSpPr>
          <p:cNvPr id="66" name="Text 6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endangered species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an-wā-ʿun mu-had-da-da-tun biln-qi-rā-ḍi</a:t>
            </a:r>
            <a:endParaRPr lang="en-US" sz="1350" dirty="0"/>
          </a:p>
        </p:txBody>
      </p:sp>
      <p:sp>
        <p:nvSpPr>
          <p:cNvPr id="67" name="Shape 6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9" name="Text 6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نَوْعٌ مُهَدَّدٌ بِالانْقِرَاضِ</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Ecosystems and biodiversity (2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غَابَةٌ اسْتِوَائِيَّةٌ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tropical rainforest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ghā-ba-tun as-ti-wā-ʾiy-ya-tun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غَابَاتٌ اسْتِوَائِيَّةٌ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شِعَابٌ مَرْجَانِيَّةٌ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coral reefs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shi-ʿā-bun mar-jā-niy-ya-tun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شِعْبٌ مَرْجَانِيٌّ</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التَّوَازُنُ البِيئِيُّ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ecological 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at-ta-wā-zu-nu al-bī-ʾiy-yu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الانْقِرَاضُ</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aln-qi-rā-ḍu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Composition and impact verbs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يَتَكَوَّنُ مِنْ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composed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ya-ta-kaw-wa-nu min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4" name="Text 21"/>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تَتَكَوَّنُ مِنْ</a:t>
            </a:r>
            <a:endParaRPr lang="ar-SA" sz="135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8" name="Shape 25"/>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يَضُمُّ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encompasses, includes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ya-ḍum-mu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تَضُمُّ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يُشَكِّلُ</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forms, constitutes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yu-shak-ki-lu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تُشَكِّلُ</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يَتَفَاعَلُ مَعَ</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interacts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ya-ta-fā-ʿa-lu ma-ʿa</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تَتَفَاعَلُ مَعَ</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Composition and impact verbs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تَعْتَمِدُ عَلَى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يُهَدِّدُ</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threatens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yu-had-di-du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تُهَدِّدُ</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تُؤَدِّي إِلَى</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حِمَايَةُ التَّنَوُّعِ</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protecting biodiversity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ḥi-mā-ya-tu at-ta-naw-wu-ʿi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purpose subjunctive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in order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Triggers the subjunctive.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المَنْصُوبُ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al-man-ṣū-bu</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3" name="Shape 30"/>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Final ـَ.</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فَتْحَةُ النَّصْبِ</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subjunctive fatḥa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fat-ḥa-tu an-naṣ-bi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it · we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تَحْمِيَ</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protects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taḥ-mi-ya</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لِكَيْ نَحْمِيَ</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purpose subjunctive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it · we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تَسْتَمِرَّ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continues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tas-ta-mir-ra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لِكَيْ نَسْتَمِرَّ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it · we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تُحَافِظَ</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tu-ḥā-fi-ẓa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لِكَيْ نُحَافِظَ</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إِجْرَاءَاتُ الحِمَايَةِ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protection measures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ij-rā-ʾā-tu al-ḥi-mā-ya-ti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تَعَاوُنٌ إِقْلِيمِيٌّ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regional cooperation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ta-ʿā-wu-nun iq-lī-miy-yun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COMPOSITION AND IMPACT VERBS (WEBSITE RULE 1 + TEACHING POINT 1 + VOCABULARY NOTES)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verb has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التَّكْوِينِ وَمُتَمِّمَاتُهَا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55371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8" name="Text 15"/>
          <p:cNvSpPr txBox="1"/>
          <p:nvPr/>
        </p:nvSpPr>
        <p:spPr>
          <a:xfrm>
            <a:off x="2724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تَضُمُّ الغَابَةُ </a:t>
            </a:r>
            <a:pPr rtl="1" algn="ctr" indent="0" marL="0">
              <a:buNone/>
            </a:pPr>
            <a:r>
              <a:rPr lang="ar-SA" altLang="en-US" sz="1800" b="1" dirty="0">
                <a:solidFill>
                  <a:srgbClr val="1D5FBF"/>
                </a:solidFill>
                <a:latin typeface="Amiri" pitchFamily="34" charset="0"/>
                <a:ea typeface="Amiri" pitchFamily="34" charset="-122"/>
                <a:cs typeface="Amiri" pitchFamily="34" charset="-120"/>
              </a:rPr>
              <a:t>آلَافَ</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الأَنْوَاعِ.</a:t>
            </a:r>
            <a:endParaRPr lang="ar-SA" sz="1800" dirty="0"/>
          </a:p>
        </p:txBody>
      </p:sp>
      <p:sp>
        <p:nvSpPr>
          <p:cNvPr id="22" name="Text 19"/>
          <p:cNvSpPr txBox="1"/>
          <p:nvPr/>
        </p:nvSpPr>
        <p:spPr>
          <a:xfrm>
            <a:off x="4590288" y="226771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3" name="Text 20"/>
          <p:cNvSpPr txBox="1"/>
          <p:nvPr/>
        </p:nvSpPr>
        <p:spPr>
          <a:xfrm>
            <a:off x="276148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includes</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يَضُمُّ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يُشَكِّلُ المَرْجَانُ </a:t>
            </a:r>
            <a:pPr rtl="1" algn="ctr" indent="0" marL="0">
              <a:buNone/>
            </a:pPr>
            <a:r>
              <a:rPr lang="ar-SA" altLang="en-US" sz="1800" b="1" dirty="0">
                <a:solidFill>
                  <a:srgbClr val="1D5FBF"/>
                </a:solidFill>
                <a:latin typeface="Amiri" pitchFamily="34" charset="0"/>
                <a:ea typeface="Amiri" pitchFamily="34" charset="-122"/>
                <a:cs typeface="Amiri" pitchFamily="34" charset="-120"/>
              </a:rPr>
              <a:t>بِيئَةً</a:t>
            </a:r>
            <a:pPr rtl="1" algn="ctr" indent="0" marL="0">
              <a:buNone/>
            </a:pPr>
            <a:r>
              <a:rPr lang="ar-SA" altLang="en-US" sz="1800" b="1" dirty="0">
                <a:solidFill>
                  <a:srgbClr val="1B3B6F"/>
                </a:solidFill>
                <a:latin typeface="Amiri" pitchFamily="34" charset="0"/>
                <a:ea typeface="Amiri" pitchFamily="34" charset="-122"/>
                <a:cs typeface="Amiri" pitchFamily="34" charset="-120"/>
              </a:rPr>
              <a:t> حَيَوِيَّةً.</a:t>
            </a:r>
            <a:endParaRPr lang="ar-SA" sz="1800" dirty="0"/>
          </a:p>
        </p:txBody>
      </p:sp>
      <p:sp>
        <p:nvSpPr>
          <p:cNvPr id="29" name="Text 26"/>
          <p:cNvSpPr txBox="1"/>
          <p:nvPr/>
        </p:nvSpPr>
        <p:spPr>
          <a:xfrm>
            <a:off x="4590288" y="2881884"/>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30" name="Text 27"/>
          <p:cNvSpPr txBox="1"/>
          <p:nvPr/>
        </p:nvSpPr>
        <p:spPr>
          <a:xfrm>
            <a:off x="276148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forms</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يُشَكِّلُ</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تَتَفَاعَلُ الأَنْوَاعُ </a:t>
            </a:r>
            <a:pPr rtl="1" algn="ctr" indent="0" marL="0">
              <a:buNone/>
            </a:pPr>
            <a:r>
              <a:rPr lang="ar-SA" altLang="en-US" sz="1800" b="1" dirty="0">
                <a:solidFill>
                  <a:srgbClr val="0E7C86"/>
                </a:solidFill>
                <a:latin typeface="Amiri" pitchFamily="34" charset="0"/>
                <a:ea typeface="Amiri" pitchFamily="34" charset="-122"/>
                <a:cs typeface="Amiri" pitchFamily="34" charset="-120"/>
              </a:rPr>
              <a:t>مَعَ</a:t>
            </a:r>
            <a:pPr rtl="1" algn="ctr" indent="0" marL="0">
              <a:buNone/>
            </a:pPr>
            <a:r>
              <a:rPr lang="ar-SA" altLang="en-US" sz="1800" b="1" dirty="0">
                <a:solidFill>
                  <a:srgbClr val="1B3B6F"/>
                </a:solidFill>
                <a:latin typeface="Amiri" pitchFamily="34" charset="0"/>
                <a:ea typeface="Amiri" pitchFamily="34" charset="-122"/>
                <a:cs typeface="Amiri" pitchFamily="34" charset="-120"/>
              </a:rPr>
              <a:t> بَعْضِهَا.</a:t>
            </a:r>
            <a:endParaRPr lang="ar-SA" sz="1800" dirty="0"/>
          </a:p>
        </p:txBody>
      </p:sp>
      <p:sp>
        <p:nvSpPr>
          <p:cNvPr id="36" name="Text 33"/>
          <p:cNvSpPr txBox="1"/>
          <p:nvPr/>
        </p:nvSpPr>
        <p:spPr>
          <a:xfrm>
            <a:off x="4590288" y="3496056"/>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maʿa</a:t>
            </a:r>
            <a:endParaRPr lang="en-US" sz="1100" dirty="0"/>
          </a:p>
        </p:txBody>
      </p:sp>
      <p:sp>
        <p:nvSpPr>
          <p:cNvPr id="37" name="Text 34"/>
          <p:cNvSpPr txBox="1"/>
          <p:nvPr/>
        </p:nvSpPr>
        <p:spPr>
          <a:xfrm>
            <a:off x="276148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interacts with</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يَتَفَاعَلُ مَعَ</a:t>
            </a:r>
            <a:endParaRPr lang="ar-SA" sz="20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يَعْتَمِدُ التَّوَازُنُ </a:t>
            </a:r>
            <a:pPr rtl="1" algn="ctr" indent="0" marL="0">
              <a:buNone/>
            </a:pPr>
            <a:r>
              <a:rPr lang="ar-SA" altLang="en-US" sz="1800" b="1" dirty="0">
                <a:solidFill>
                  <a:srgbClr val="0E7C86"/>
                </a:solidFill>
                <a:latin typeface="Amiri" pitchFamily="34" charset="0"/>
                <a:ea typeface="Amiri" pitchFamily="34" charset="-122"/>
                <a:cs typeface="Amiri" pitchFamily="34" charset="-120"/>
              </a:rPr>
              <a:t>عَلَى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بَقَاءِ كُلِّ عُنْصُرٍ.</a:t>
            </a:r>
            <a:endParaRPr lang="ar-SA" sz="1800" dirty="0"/>
          </a:p>
        </p:txBody>
      </p:sp>
      <p:sp>
        <p:nvSpPr>
          <p:cNvPr id="41" name="Text 38"/>
          <p:cNvSpPr txBox="1"/>
          <p:nvPr/>
        </p:nvSpPr>
        <p:spPr>
          <a:xfrm>
            <a:off x="4590288" y="4110228"/>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42" name="Text 39"/>
          <p:cNvSpPr txBox="1"/>
          <p:nvPr/>
        </p:nvSpPr>
        <p:spPr>
          <a:xfrm>
            <a:off x="276148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depends on</a:t>
            </a:r>
            <a:endParaRPr lang="en-US" sz="1100" dirty="0"/>
          </a:p>
        </p:txBody>
      </p:sp>
      <p:sp>
        <p:nvSpPr>
          <p:cNvPr id="43" name="Text 40"/>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يَعْتَمِدُ عَلَى</a:t>
            </a:r>
            <a:endParaRPr lang="ar-SA" sz="20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يُهَدِّدُ الاحْتِرَارُ </a:t>
            </a:r>
            <a:pPr rtl="1" algn="ctr" indent="0" marL="0">
              <a:buNone/>
            </a:pPr>
            <a:r>
              <a:rPr lang="ar-SA" altLang="en-US" sz="1800" b="1" dirty="0">
                <a:solidFill>
                  <a:srgbClr val="D6336C"/>
                </a:solidFill>
                <a:latin typeface="Amiri" pitchFamily="34" charset="0"/>
                <a:ea typeface="Amiri" pitchFamily="34" charset="-122"/>
                <a:cs typeface="Amiri" pitchFamily="34" charset="-120"/>
              </a:rPr>
              <a:t>هٰذَا التَّوَازُنَ</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46" name="Text 43"/>
          <p:cNvSpPr txBox="1"/>
          <p:nvPr/>
        </p:nvSpPr>
        <p:spPr>
          <a:xfrm>
            <a:off x="4590288" y="4724400"/>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47" name="Text 44"/>
          <p:cNvSpPr txBox="1"/>
          <p:nvPr/>
        </p:nvSpPr>
        <p:spPr>
          <a:xfrm>
            <a:off x="276148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threatens</a:t>
            </a:r>
            <a:endParaRPr lang="en-US" sz="1100" dirty="0"/>
          </a:p>
        </p:txBody>
      </p:sp>
      <p:sp>
        <p:nvSpPr>
          <p:cNvPr id="48" name="Text 45"/>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يُهَدِّدُ</a:t>
            </a:r>
            <a:endParaRPr lang="ar-SA" sz="20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 النَّشَاطُ البَشَرِيُّ </a:t>
            </a:r>
            <a:pPr rtl="1" algn="ctr" indent="0" marL="0">
              <a:buNone/>
            </a:pPr>
            <a:r>
              <a:rPr lang="ar-SA" altLang="en-US" sz="1800" b="1" dirty="0">
                <a:solidFill>
                  <a:srgbClr val="7B3FA0"/>
                </a:solidFill>
                <a:latin typeface="Amiri" pitchFamily="34" charset="0"/>
                <a:ea typeface="Amiri" pitchFamily="34" charset="-122"/>
                <a:cs typeface="Amiri" pitchFamily="34" charset="-120"/>
              </a:rPr>
              <a:t>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انْقِرَاضِ أَنْوَاعٍ.</a:t>
            </a:r>
            <a:endParaRPr lang="ar-SA" sz="1800" dirty="0"/>
          </a:p>
        </p:txBody>
      </p:sp>
      <p:sp>
        <p:nvSpPr>
          <p:cNvPr id="51" name="Text 48"/>
          <p:cNvSpPr txBox="1"/>
          <p:nvPr/>
        </p:nvSpPr>
        <p:spPr>
          <a:xfrm>
            <a:off x="4590288" y="533857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a:t>
            </a:r>
            <a:endParaRPr lang="en-US" sz="1100" dirty="0"/>
          </a:p>
        </p:txBody>
      </p:sp>
      <p:sp>
        <p:nvSpPr>
          <p:cNvPr id="52" name="Text 49"/>
          <p:cNvSpPr txBox="1"/>
          <p:nvPr/>
        </p:nvSpPr>
        <p:spPr>
          <a:xfrm>
            <a:off x="276148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leads to</a:t>
            </a:r>
            <a:endParaRPr lang="en-US" sz="1100" dirty="0"/>
          </a:p>
        </p:txBody>
      </p:sp>
      <p:sp>
        <p:nvSpPr>
          <p:cNvPr id="53" name="Text 50"/>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يُؤَدِّي إِلَى</a:t>
            </a:r>
            <a:endParaRPr lang="ar-SA" sz="20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taḍummu bi-ālāfi ✗ → taḍummu ālāfa ✓ — no preposition after yaḍummu.</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A REAL THREAT OR A COUNTERFACTUAL? (WEBSITE RULES 2–3)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Warn with idhā, regret with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الخَطَرُ الحَقِيقِيُّ وَالافْتِرَاضُ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THREAT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اسْتَمَرَّ الاحْتِرَارُ، سَتَتَبَيَّضُ الشِّعَابُ وَتَمُوتُ.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warming continues, the reefs will bleach and die.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كَانَتِ الحِمَايَةُ أَصْرَمَ، لَكَانَتِ الشِّعَابُ أَفْضَلَ حَالًا.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protection been stricter, the reefs would be in better shape.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NEGATIVE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عَامَلْنَا الطَّبِيعَةَ بِاحْتِرَامٍ، لَمَا وَصَلَتِ الأَنْوَاعُ إِلَى حَافَّةِ الانْقِرَاضِ.</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we treated nature with respect, species would not have reached the brink.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lamā = would not.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اسْتَمَرَّ الاحْتِرَارُ، لَمَاتَتِ الشِّعَابُ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اسْتَمَرَّ الاحْتِرَارُ، سَتَمُوتُ الشِّعَابُ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LI-KAY + A VERB IN -A (WEBSITE RULE 4 + TEACHING POINT 2 + VOCABULARY GROUP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 that …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لِكَيْ + الفِعْلُ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5010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type</a:t>
            </a:r>
            <a:endParaRPr lang="en-US" sz="1100" dirty="0"/>
          </a:p>
        </p:txBody>
      </p:sp>
      <p:sp>
        <p:nvSpPr>
          <p:cNvPr id="18" name="Text 15"/>
          <p:cNvSpPr txBox="1"/>
          <p:nvPr/>
        </p:nvSpPr>
        <p:spPr>
          <a:xfrm>
            <a:off x="24505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li-kay</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نُحَافِظَ عَلَى التَّوَازُنِ</a:t>
            </a:r>
            <a:endParaRPr lang="ar-SA" sz="1700" dirty="0"/>
          </a:p>
        </p:txBody>
      </p:sp>
      <p:sp>
        <p:nvSpPr>
          <p:cNvPr id="22" name="Text 19"/>
          <p:cNvSpPr txBox="1"/>
          <p:nvPr/>
        </p:nvSpPr>
        <p:spPr>
          <a:xfrm>
            <a:off x="50474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a:t>
            </a:r>
            <a:endParaRPr lang="en-US" sz="1100" dirty="0"/>
          </a:p>
        </p:txBody>
      </p:sp>
      <p:sp>
        <p:nvSpPr>
          <p:cNvPr id="23" name="Text 20"/>
          <p:cNvSpPr txBox="1"/>
          <p:nvPr/>
        </p:nvSpPr>
        <p:spPr>
          <a:xfrm>
            <a:off x="2468880" y="2267712"/>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000" b="1" dirty="0">
                <a:solidFill>
                  <a:srgbClr val="0E7C86"/>
                </a:solidFill>
                <a:latin typeface="Amiri" pitchFamily="34" charset="0"/>
                <a:ea typeface="Amiri" pitchFamily="34" charset="-122"/>
                <a:cs typeface="Amiri" pitchFamily="34" charset="-120"/>
              </a:rPr>
              <a:t>نُحَافِظَ</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نُحَافِظُ</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نَحْمِيَ التَّنَوُّعَ الحَيَوِيَّ</a:t>
            </a:r>
            <a:endParaRPr lang="ar-SA" sz="1700" dirty="0"/>
          </a:p>
        </p:txBody>
      </p:sp>
      <p:sp>
        <p:nvSpPr>
          <p:cNvPr id="29" name="Text 26"/>
          <p:cNvSpPr txBox="1"/>
          <p:nvPr/>
        </p:nvSpPr>
        <p:spPr>
          <a:xfrm>
            <a:off x="50474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30" name="Text 27"/>
          <p:cNvSpPr txBox="1"/>
          <p:nvPr/>
        </p:nvSpPr>
        <p:spPr>
          <a:xfrm>
            <a:off x="2468880" y="3004718"/>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000" b="1" dirty="0">
                <a:solidFill>
                  <a:srgbClr val="0E7C86"/>
                </a:solidFill>
                <a:latin typeface="Amiri" pitchFamily="34" charset="0"/>
                <a:ea typeface="Amiri" pitchFamily="34" charset="-122"/>
                <a:cs typeface="Amiri" pitchFamily="34" charset="-120"/>
              </a:rPr>
              <a:t>نَحْمِيَ</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نَحْمِي</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تَسْتَمِرَّ الحَيَاةُ البَحْرِيَّةُ</a:t>
            </a:r>
            <a:endParaRPr lang="ar-SA" sz="1700" dirty="0"/>
          </a:p>
        </p:txBody>
      </p:sp>
      <p:sp>
        <p:nvSpPr>
          <p:cNvPr id="36" name="Text 33"/>
          <p:cNvSpPr txBox="1"/>
          <p:nvPr/>
        </p:nvSpPr>
        <p:spPr>
          <a:xfrm>
            <a:off x="50474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a:t>
            </a:r>
            <a:endParaRPr lang="en-US" sz="1100" dirty="0"/>
          </a:p>
        </p:txBody>
      </p:sp>
      <p:sp>
        <p:nvSpPr>
          <p:cNvPr id="37" name="Text 34"/>
          <p:cNvSpPr txBox="1"/>
          <p:nvPr/>
        </p:nvSpPr>
        <p:spPr>
          <a:xfrm>
            <a:off x="2468880" y="3741725"/>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000" b="1" dirty="0">
                <a:solidFill>
                  <a:srgbClr val="0E7C86"/>
                </a:solidFill>
                <a:latin typeface="Amiri" pitchFamily="34" charset="0"/>
                <a:ea typeface="Amiri" pitchFamily="34" charset="-122"/>
                <a:cs typeface="Amiri" pitchFamily="34" charset="-120"/>
              </a:rPr>
              <a:t>تَسْتَمِرَّ</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تَسْتَمِرُّ</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تَحْمِيَ هٰذَا الإِرْثَ الطَّبِيعِيَّ</a:t>
            </a:r>
            <a:endParaRPr lang="ar-SA" sz="1700" dirty="0"/>
          </a:p>
        </p:txBody>
      </p:sp>
      <p:sp>
        <p:nvSpPr>
          <p:cNvPr id="41" name="Text 38"/>
          <p:cNvSpPr txBox="1"/>
          <p:nvPr/>
        </p:nvSpPr>
        <p:spPr>
          <a:xfrm>
            <a:off x="50474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-ī → -iya</a:t>
            </a:r>
            <a:endParaRPr lang="en-US" sz="1100" dirty="0"/>
          </a:p>
        </p:txBody>
      </p:sp>
      <p:sp>
        <p:nvSpPr>
          <p:cNvPr id="42" name="Text 39"/>
          <p:cNvSpPr txBox="1"/>
          <p:nvPr/>
        </p:nvSpPr>
        <p:spPr>
          <a:xfrm>
            <a:off x="2468880" y="4478731"/>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000" b="1" dirty="0">
                <a:solidFill>
                  <a:srgbClr val="0E7C86"/>
                </a:solidFill>
                <a:latin typeface="Amiri" pitchFamily="34" charset="0"/>
                <a:ea typeface="Amiri" pitchFamily="34" charset="-122"/>
                <a:cs typeface="Amiri" pitchFamily="34" charset="-120"/>
              </a:rPr>
              <a:t>تَحْمِيَ</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تَحْمِي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لِكَيْ تَبْقَى الشِّعَابُ حَيَّةً</a:t>
            </a:r>
            <a:endParaRPr lang="ar-SA" sz="1700" dirty="0"/>
          </a:p>
        </p:txBody>
      </p:sp>
      <p:sp>
        <p:nvSpPr>
          <p:cNvPr id="46" name="Text 43"/>
          <p:cNvSpPr txBox="1"/>
          <p:nvPr/>
        </p:nvSpPr>
        <p:spPr>
          <a:xfrm>
            <a:off x="50474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-ā: no change</a:t>
            </a:r>
            <a:endParaRPr lang="en-US" sz="1100" dirty="0"/>
          </a:p>
        </p:txBody>
      </p:sp>
      <p:sp>
        <p:nvSpPr>
          <p:cNvPr id="47" name="Text 44"/>
          <p:cNvSpPr txBox="1"/>
          <p:nvPr/>
        </p:nvSpPr>
        <p:spPr>
          <a:xfrm>
            <a:off x="2468880" y="5215738"/>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000" b="1" dirty="0">
                <a:solidFill>
                  <a:srgbClr val="0E7C86"/>
                </a:solidFill>
                <a:latin typeface="Amiri" pitchFamily="34" charset="0"/>
                <a:ea typeface="Amiri" pitchFamily="34" charset="-122"/>
                <a:cs typeface="Amiri" pitchFamily="34" charset="-120"/>
              </a:rPr>
              <a:t>تَبْقَى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تَبْقَى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li-kay naḥmī ✗ → li-kay naḥmiya ✓. “The final fatḥa is the mark that earns the accuracy point.”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SCIENTIFIC REGISTER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science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الأُسْلُوبُ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p>
        </p:txBody>
      </p:sp>
      <p:sp>
        <p:nvSpPr>
          <p:cNvPr id="17" name="Text 14"/>
          <p:cNvSpPr txBox="1"/>
          <p:nvPr/>
        </p:nvSpPr>
        <p:spPr>
          <a:xfrm>
            <a:off x="28163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yuʿaddu … + acc.</a:t>
            </a:r>
            <a:endParaRPr lang="en-US" sz="1100" dirty="0"/>
          </a:p>
        </p:txBody>
      </p:sp>
      <p:sp>
        <p:nvSpPr>
          <p:cNvPr id="21" name="Text 18"/>
          <p:cNvSpPr txBox="1"/>
          <p:nvPr/>
        </p:nvSpPr>
        <p:spPr>
          <a:xfrm>
            <a:off x="2834640" y="2267712"/>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يُعَدُّ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التَّنَوُّعُ الحَيَوِيُّ </a:t>
            </a:r>
            <a:pPr rtl="1" algn="ctr" indent="0" marL="0">
              <a:buNone/>
            </a:pPr>
            <a:r>
              <a:rPr lang="ar-SA" altLang="en-US" sz="1800" b="1" dirty="0">
                <a:solidFill>
                  <a:srgbClr val="C77700"/>
                </a:solidFill>
                <a:latin typeface="Amiri" pitchFamily="34" charset="0"/>
                <a:ea typeface="Amiri" pitchFamily="34" charset="-122"/>
                <a:cs typeface="Amiri" pitchFamily="34" charset="-120"/>
              </a:rPr>
              <a:t>أَسَاسَ</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الحَيَاةِ عَلَى الأَرْضِ.</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big claim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 afʿal</a:t>
            </a:r>
            <a:endParaRPr lang="en-US" sz="1100" dirty="0"/>
          </a:p>
        </p:txBody>
      </p:sp>
      <p:sp>
        <p:nvSpPr>
          <p:cNvPr id="27" name="Text 24"/>
          <p:cNvSpPr txBox="1"/>
          <p:nvPr/>
        </p:nvSpPr>
        <p:spPr>
          <a:xfrm>
            <a:off x="2834640" y="3004718"/>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 </a:t>
            </a:r>
            <a:pPr rtl="1" algn="ctr" indent="0" marL="0">
              <a:buNone/>
            </a:pPr>
            <a:r>
              <a:rPr lang="ar-SA" altLang="en-US" sz="1800" b="1" dirty="0">
                <a:solidFill>
                  <a:srgbClr val="1D5FBF"/>
                </a:solidFill>
                <a:latin typeface="Amiri" pitchFamily="34" charset="0"/>
                <a:ea typeface="Amiri" pitchFamily="34" charset="-122"/>
                <a:cs typeface="Amiri" pitchFamily="34" charset="-120"/>
              </a:rPr>
              <a:t>مِنْ أَغْنَى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النُّظُمِ البِيئِيَّةِ فِي العَالَمِ.</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superlative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emphasis</a:t>
            </a:r>
            <a:endParaRPr lang="en-US" sz="1100" dirty="0"/>
          </a:p>
        </p:txBody>
      </p:sp>
      <p:sp>
        <p:nvSpPr>
          <p:cNvPr id="31" name="Text 28"/>
          <p:cNvSpPr txBox="1"/>
          <p:nvPr/>
        </p:nvSpPr>
        <p:spPr>
          <a:xfrm>
            <a:off x="2834640" y="3741725"/>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يُشَكِّلُ المَرْجَانُ بِيئَةً </a:t>
            </a:r>
            <a:pPr rtl="1" algn="ctr" indent="0" marL="0">
              <a:buNone/>
            </a:pPr>
            <a:r>
              <a:rPr lang="ar-SA" altLang="en-US" sz="1800" b="1" dirty="0">
                <a:solidFill>
                  <a:srgbClr val="7B3FA0"/>
                </a:solidFill>
                <a:latin typeface="Amiri" pitchFamily="34" charset="0"/>
                <a:ea typeface="Amiri" pitchFamily="34" charset="-122"/>
                <a:cs typeface="Amiri" pitchFamily="34" charset="-120"/>
              </a:rPr>
              <a:t>لَا غِنَى عَنْهَا</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2" name="Text 29"/>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indispensable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 + maṣdar</a:t>
            </a:r>
            <a:endParaRPr lang="en-US" sz="1100" dirty="0"/>
          </a:p>
        </p:txBody>
      </p:sp>
      <p:sp>
        <p:nvSpPr>
          <p:cNvPr id="35" name="Text 32"/>
          <p:cNvSpPr txBox="1"/>
          <p:nvPr/>
        </p:nvSpPr>
        <p:spPr>
          <a:xfrm>
            <a:off x="2834640" y="4478731"/>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يُهَدِّدُ الاحْتِرَارُ التَّوَازُنَ </a:t>
            </a:r>
            <a:pPr rtl="1" algn="ctr" indent="0" marL="0">
              <a:buNone/>
            </a:pPr>
            <a:r>
              <a:rPr lang="ar-SA" altLang="en-US" sz="1800" b="1" dirty="0">
                <a:solidFill>
                  <a:srgbClr val="D6336C"/>
                </a:solidFill>
                <a:latin typeface="Amiri" pitchFamily="34" charset="0"/>
                <a:ea typeface="Amiri" pitchFamily="34" charset="-122"/>
                <a:cs typeface="Amiri" pitchFamily="34" charset="-120"/>
              </a:rPr>
              <a:t>وَيُؤَدِّي 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تَبْيِيضِ المَرْجَانِ.</a:t>
            </a:r>
            <a:endParaRPr lang="ar-SA" sz="1800" dirty="0"/>
          </a:p>
        </p:txBody>
      </p:sp>
      <p:sp>
        <p:nvSpPr>
          <p:cNvPr id="36" name="Text 33"/>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cause → effect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therefore + purpose</a:t>
            </a:r>
            <a:endParaRPr lang="en-US" sz="1100" dirty="0"/>
          </a:p>
        </p:txBody>
      </p:sp>
      <p:sp>
        <p:nvSpPr>
          <p:cNvPr id="39" name="Text 36"/>
          <p:cNvSpPr txBox="1"/>
          <p:nvPr/>
        </p:nvSpPr>
        <p:spPr>
          <a:xfrm>
            <a:off x="2834640" y="5215738"/>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لِذٰلِكَ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يَجِبُ أَنْ نَتَعَاوَنَ </a:t>
            </a:r>
            <a:pPr rtl="1" algn="ctr" indent="0" marL="0">
              <a:buNone/>
            </a:pPr>
            <a:r>
              <a:rPr lang="ar-SA" altLang="en-US" sz="1800" b="1" dirty="0">
                <a:solidFill>
                  <a:srgbClr val="0E7C86"/>
                </a:solidFill>
                <a:latin typeface="Amiri" pitchFamily="34" charset="0"/>
                <a:ea typeface="Amiri" pitchFamily="34" charset="-122"/>
                <a:cs typeface="Amiri" pitchFamily="34" charset="-120"/>
              </a:rPr>
              <a:t>لِكَيْ نَحْمِيَ</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التَّنَوُّعَ الحَيَوِيَّ.</a:t>
            </a:r>
            <a:endParaRPr lang="ar-SA" sz="1800" dirty="0"/>
          </a:p>
        </p:txBody>
      </p:sp>
      <p:sp>
        <p:nvSpPr>
          <p:cNvPr id="40" name="Text 37"/>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science paragraph moves: what it is → why it matters → the threat → the counterfactual → therefore + li-kay.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Composition verbs and the purpose subjunctive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أَفْعَالُ التَّكْوِينِ وَالفِعْلُ المَنْصُوبُ بَعْدَ لِكَيْ</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yaḍummu / yushakkilu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اسْتَمَرَّ الاحْتِرَارُ، سَتَتَبَيَّضُ الشِّعَابُ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لِكَيْ تَحْمِيَ المِنْطَقَةُ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is subjunctive?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تُحَافِظَ الحُكُومَاتُ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تُحَافِظُ الحُكُومَاتُ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حَافَظَتِ الحُكُومَاتُ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بِآلَافِ الأَنْوَاعِ.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لِآلَافِ الأَنْوَاعِ.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تَضُمُّ الغَابَةُ آلَافَ الأَنْوَاعِ.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is subjunctive?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 تُحَافِظَ الحُكُومَاتُ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تُحَافِظُ الحُكُومَاتُ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حَافَظَتِ الحُكُومَاتُ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ends in a fatḥa: </a:t>
            </a:r>
            <a:pPr algn="l" indent="0" marL="0">
              <a:buNone/>
            </a:pPr>
            <a:r>
              <a:rPr lang="ar-SA" altLang="en-US" sz="1350" dirty="0">
                <a:solidFill>
                  <a:srgbClr val="8A6D1E"/>
                </a:solidFill>
                <a:latin typeface="Amiri" pitchFamily="34" charset="0"/>
                <a:ea typeface="Amiri" pitchFamily="34" charset="-122"/>
                <a:cs typeface="Amiri" pitchFamily="34" charset="-120"/>
              </a:rPr>
              <a:t>تُحَافِظَ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describe and defend an ecosystem</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Describe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يَضُمُّ</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يُشَكِّلُ</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Objects.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Threat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يُهَدِّدُ</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سَـ</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لَـ</a:t>
            </a:r>
            <a:pPr rtl="1" algn="ctr" indent="0" marL="0">
              <a:buNone/>
            </a:pPr>
            <a:r>
              <a:rPr lang="ar-SA" altLang="en-US" sz="2800" b="1" dirty="0">
                <a:solidFill>
                  <a:srgbClr val="1B3B6F"/>
                </a:solidFill>
                <a:latin typeface="Amiri" pitchFamily="34" charset="0"/>
                <a:ea typeface="Amiri" pitchFamily="34" charset="-122"/>
                <a:cs typeface="Amiri" pitchFamily="34" charset="-120"/>
              </a:rPr>
              <a:t>كَانَتْ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لِذٰلِكَ</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لِكَيْ تَحْمِيَ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COMPOSITION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THREAT · TYPE 1</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LI-KAY + -A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يَقَعُ البَحْرُ الأَحْمَرُ بَيْنَ شِبْهِ الجَزِيرَةِ العَرَبِيَّةِ وَأَفْرِيقِيَا،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وَيَضُمُّ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شِعَابًا مَرْجَانِيَّةً غَنِيَّةً.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يُشَكِّلُ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المَرْجَانُ بِيئَةً لَا غِنَى عَنْهَا لِآلَافِ الأَسْمَاكِ. غَيْرَ أَنَّ الاحْتِرَارَ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يُهَدِّدُ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التَّوَازُنَ؛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اسْتَمَرَّ،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سَتَمُوتُ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الشِّعَابُ.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كَانَتِ الحِمَايَةُ أَصْرَمَ فِي المَاضِي،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الشِّعَابُ أَفْضَلَ حَالًا.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نَحْتَاجُ إِلَى تَعَاوُنٍ إِقْلِيمِيٍّ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لِكَيْ نَحْمِيَ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الإِرْثَ.</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The Red Sea lies between the Arabian Peninsula and Africa, and it includes rich coral reefs. Coral forms an indispensable environment for thousands of fish. However, warming threatens this balance: if it continues, the reefs will die. Had protection been stricter in the past, the reefs would be in better shape. Therefore we need regional cooperation so that we protect this heritage.</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تَضُمُّ الشِّعَابُ المَرْجَانِيَّةُ فِي البَحْرِ الأَحْمَرِ أَلْفَ نَوْعٍ مِنَ الأَسْمَاكِ</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Red Sea’s coral reefs include a thousand species of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yaḍummu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لَوْ كَانَتْ إِجْرَاءَاتُ الحِمَايَةِ أَصْرَمَ سَابِقًا، لَكَانَتِ الشِّعَابُ أَفْضَلَ حَالًا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protection measures been stricter, the reefs would be in better shape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تَحْتَاجُ الدُّوَلُ إِلَى تَعَاوُنٍ لِكَيْ تَحْمِيَ هٰذَا الإِرْثَ الطَّبِيعِيَّ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states need cooperation so that they protect this natural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li-kay + a verb in -a (taḥmiya).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NATURAL WORLD — LANDSCAPES, ECOSYSTEMS AND BIODIVERSITY”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forest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sea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protect 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بَحْرٌ.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نَحْمِيَ البِيئَةَ.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غَابَةٌ.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forest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غَابَةٌ.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forest.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sea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بَحْرٌ.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sea.</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protect 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أَنْ نَحْمِيَ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ECOSYSTEM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Composition + threat +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Composition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Threat / counterfactual</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Purpose (li-kay)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يَضُمُّ البَحْرُ الأَحْمَرُ شِعَابًا مَرْجَانِيَّةً غَنِيَّةً</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اسْتَمَرَّ الاحْتِرَارُ سَتَتَبَيَّضُ الشِّعَابُ وَتَمُوتُ</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وَنَحْتَاجُ إِلَى تَعَاوُنٍ إِقْلِيمِيٍّ لِكَيْ نَحْمِيَ هٰذَا الإِرْثَ</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يُشَكِّلُ المَرْجَانُ بِيئَةً لِآلَافِ الأَسْمَاكِ</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حُمِيَتْ مُبَكِّرًا لَكَانَتْ أَفْضَلَ حَالًا</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وَيَجِبُ أَنْ نَتَعَاوَنَ لِكَيْ تَسْتَمِرَّ الحَيَاةُ البَحْرِيَّةُ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تَتَفَاعَلُ الأَنْوَاعُ مَعَ بَعْضِهَا فِي سَلَاسِلَ غِذَائِيَّةٍ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وَيُؤَدِّي النَّشَاطُ البَشَرِيُّ إِلَى انْقِرَاضِ أَنْوَاعٍ</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وَلِكَيْ نُحَافِظَ عَلَى التَّوَازُنِ نَحْتَاجُ إِلَى قَوَانِينَ صَارِمَةٍ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underline every verb after li-kay: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Composition, conditional — or purpose?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تَضُمُّ الغَابَةُ آلَافَ الأَنْوَاعِ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يُشَكِّلُ المَرْجَانُ بِيئَةً حَيَوِيَّةً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يَضُمُّ البَحْرُ شِعَابًا مَرْجَانِيَّةً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إِذَا اسْتَمَرَّ الاحْتِرَارُ، سَتَمُوتُ الشِّعَابُ</a:t>
            </a:r>
            <a:endParaRPr lang="ar-SA" sz="15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حُمِيَتْ مُبَكِّرًا، لَبَقِيَتِ الشِّعَابُ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ارْتَفَعَتِ الحَرَارَةُ، سَيَخْتَلُّ التَّوَازُنُ</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تَحْمِيَ الحُكُومَاتُ التَّنَوُّعَ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تَسْتَمِرَّ الشِّعَابُ فِي دَوْرِهَا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نُحَافِظَ عَلَى التَّوَازُنِ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composition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conditional (Type 1 / 2)</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purpose (li-kay + -a)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composition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تَضُمُّ الغَابَةُ آلَافَ الأَنْوَاعِ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يُشَكِّلُ المَرْجَانُ بِيئَةً حَيَوِيَّةً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يَضُمُّ البَحْرُ شِعَابًا مَرْجَانِيَّةً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conditional (Type 1 / 2)</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اسْتَمَرَّ الاحْتِرَارُ، سَتَمُوتُ الشِّعَابُ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حُمِيَتْ مُبَكِّرًا، لَبَقِيَتِ الشِّعَابُ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ارْتَفَعَتِ الحَرَارَةُ، سَيَخْتَلُّ التَّوَازُنُ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purpose (li-kay + -a)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تَحْمِيَ الحُكُومَاتُ التَّنَوُّعَ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تَسْتَمِرَّ الشِّعَابُ فِي دَوْرِهَا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لِكَيْ نُحَافِظَ عَلَى التَّوَازُنِ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اسْتَمَرَّ الاحْتِرَارُ، لَتَبَيَّضَتِ الشِّعَابُ.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الاحْتِرَارُ.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الاحْتِرَارُ، سَتَتَبَيَّضُ الشِّعَابُ.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صَارَتِ الحِمَايَةُ أَصْرَمَ، سَتَتَحَسَّنُ الشِّعَابُ.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تُحْمَى الشِّعَابُ.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الشِّعَابُ فِي أَدَاءِ دَوْرِهَا.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اسْتَمَرَّتْ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اسْتَمَرَّ الاحْتِرَارُ، لَتَبَيَّضَتِ الشِّعَابُ.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 الاحْتِرَارُ.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 الاحْتِرَارُ، سَتَتَبَيَّضُ الشِّعَابُ.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likely consequence.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صَارَتِ الحِمَايَةُ أَصْرَمَ، سَتَتَحَسَّنُ الشِّعَابُ.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تُحْمَى الشِّعَابُ.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لِكَيْ ___ الشِّعَابُ فِي أَدَاءِ دَوْرِهَا.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اسْتَمَرَّتْ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of the doubled verb is </a:t>
            </a:r>
            <a:pPr algn="l" indent="0" marL="0">
              <a:buNone/>
            </a:pPr>
            <a:r>
              <a:rPr lang="ar-SA" altLang="en-US" sz="1350" dirty="0">
                <a:solidFill>
                  <a:srgbClr val="8A6D1E"/>
                </a:solidFill>
                <a:latin typeface="Amiri" pitchFamily="34" charset="0"/>
                <a:ea typeface="Amiri" pitchFamily="34" charset="-122"/>
                <a:cs typeface="Amiri" pitchFamily="34" charset="-120"/>
              </a:rPr>
              <a:t>تَسْتَمِرَّ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li-kay naḥmī?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taḍummu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نَحْمِيَ</a:t>
            </a:r>
            <a:pPr algn="l" indent="0" marL="0">
              <a:buNone/>
            </a:pPr>
            <a:r>
              <a:rPr lang="en-US" sz="1150" b="1" dirty="0">
                <a:solidFill>
                  <a:srgbClr val="1B3B6F"/>
                </a:solidFill>
                <a:latin typeface="Calibri" pitchFamily="34" charset="0"/>
                <a:ea typeface="Calibri" pitchFamily="34" charset="-122"/>
                <a:cs typeface="Calibri" pitchFamily="34" charset="-120"/>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يَضُمُّ</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yaḍummu · yushakkilu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يَقَعُ البَحْرُ الأَحْمَرُ بَيْنَ شِبْهِ الجَزِيرَةِ العَرَبِيَّةِ وَشَمَالِ أَفْرِيقِيَا. يَضُمُّ هٰذَا البَحْرُ شِعَابًا مَرْجَانِيَّةً مِنْ أَغْنَى النُّظُمِ البِيئِيَّةِ البَحْرِيَّةِ فِي العَالَمِ.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Red Sea lies between the Arabian Peninsula and North Africa. This sea includes coral reefs among the richest marine ecosystems in the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يُشَكِّلُ المَرْجَانُ بِيئَةً لَا غِنَى عَنْهَا لِآلَافِ الأَسْمَاكِ. غَيْرَ أَنَّ الاحْتِرَارَ يُهَدِّدُ هٰذَا التَّوَازُنَ.</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Coral forms an indispensable environment for thousands of fish. However, warming threatens this balance.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اسْتَمَرَّ ارْتِفَاعُ حَرَارَةِ المُحِيطَاتِ، سَتَتَبَيَّضُ الشِّعَابُ وَتَمُوتُ.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rise in ocean temperatures continues, the reefs will bleach and die.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وَلَوْ كَانَتْ إِجْرَاءَاتُ الحِمَايَةِ أَصْرَمَ فِي العُقُودِ المَاضِيَةِ، لَكَانَتِ الشِّعَابُ أَفْضَلَ حَالًا اليَوْمَ.</a:t>
            </a:r>
            <a:endParaRPr lang="ar-SA" sz="16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measures been stricter in past decades, the reefs would be in better shape today.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لِذٰلِكَ تَحْتَاجُ دُوَلُ المِنْطَقَةِ إِلَى تَعَاوُنٍ إِقْلِيمِيٍّ لِكَيْ تَحْمِيَ هٰذَا الإِرْثَ الطَّبِيعِيَّ الاسْتِثْنَائِيَّ.</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 region’s states need regional cooperation so that they protect this exceptional natural heritage.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yaḍummu · yushakkilu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نِظَامًا بِيئِيًّا مُسْتَعْمِلًا «يَضُمُّ» وَ«يُشَكِّلُ».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الخَطَرُ الحَقِيقِيُّ عَلَيْهِ؟ عَبِّرْ عَنْهُ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نَحْتَاجُ إِلَى حِمَايَتِهِ؟ اسْتَعْمِلْ «لِكَيْ» + مَنْصُوبًا.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34" charset="0"/>
                <a:ea typeface="Amiri" pitchFamily="34" charset="-122"/>
                <a:cs typeface="Amiri" pitchFamily="34" charset="-120"/>
              </a:rPr>
              <a:t>يَضُمُّ ___ ، وَيُشَكِّلُ ___ بِيئَةً لِآلَافِ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اسْتَمَرَّ ___ ، سَيَخْتَلُّ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نَحْتَاجُ إِلَى ___ لِكَيْ نَحْمِيَ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نِظَامًا بِيئِيًّا.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an ecosystem.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يَضُمُّ البَحْرُ الأَحْمَرُ شِعَابًا مَرْجَانِيَّةً غَنِيَّةً، وَيُشَكِّلُ المَرْجَانُ بِيئَةً لِآلَافِ الأَسْمَاكِ.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Red Sea includes rich coral reefs, and coral forms an environment for thousands of fish.</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ecosystem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يُشَكِّلُ</a:t>
            </a:r>
            <a:pPr algn="l" indent="0" marL="0">
              <a:buNone/>
            </a:pPr>
            <a:r>
              <a:rPr lang="en-US" sz="1400" b="1" dirty="0">
                <a:solidFill>
                  <a:srgbClr val="1F2A37"/>
                </a:solidFill>
                <a:latin typeface="Calibri" pitchFamily="34" charset="0"/>
                <a:ea typeface="Calibri" pitchFamily="34" charset="-122"/>
                <a:cs typeface="Calibri" pitchFamily="34" charset="-120"/>
              </a:rPr>
              <a:t> and their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ecosystem sentences with yaḍummu, yushakkilu and their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1 threat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1 threat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purpose clause using the subjunctive fatḥa.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describe an ecosystem with both verbs, both conditionals, yuʾaddī ilā and a li-kay purpose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يُهَدِّدُ ______ هٰذَا التَّوَازُنَ وَيُؤَدِّي إِلَى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threatens … and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اسْتَمَرَّ ______ ، سَيَخْتَلُّ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 continues, … will be disrupted.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لَوْ كَانَتِ الحِمَايَةُ أَصْرَمَ، لَكَانَ ______ أَفْضَلَ حَالًا.</a:t>
            </a:r>
            <a:endParaRPr lang="ar-SA" sz="15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protection been stricter, … would be in better shape.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لِذٰلِكَ نَحْتَاجُ إِلَى ______ لِكَيْ نَحْمِيَ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Therefore we need … so that we protect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يَضُمُّ ______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includes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يُشَكِّلُ ______ بِيئَةً لِآلَافِ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forms an environment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تَتَفَاعَلُ الأَنْوَاعُ مَعَ بَعْضِهَا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species interact with each other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التَّوَازُنُ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balance depends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البَحْرُ الأَحْمَرُ  ·  الغَابَةُ الاسْتِوَائِيَّةُ  ·  شِعَابًا مَرْجَانِيَّةً  ·  آلَافَ الأَنْوَاعِ  ·  المَرْجَانُ  ·  سَلَاسِلَ غِذَائِيَّةٍ مُعَقَّدَةٍ  ·  بَقَاءِ كُلِّ عُنْصُرٍ  ·  الاحْتِرَارُ  ·  انْقِرَاضِ أَنْوَاعٍ  ·  تَبْيِيضِ المَرْجَانِ  ·  تَعَاوُنٍ إِقْلِيمِيٍّ  ·  التَّنَوُّعَ الحَيَوِيَّ</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describing a natural ecosystem. Use </a:t>
            </a:r>
            <a:pPr algn="l" indent="0" marL="0">
              <a:buNone/>
            </a:pPr>
            <a:r>
              <a:rPr lang="ar-SA" altLang="en-US" sz="1750" b="1" dirty="0">
                <a:solidFill>
                  <a:srgbClr val="1F2A37"/>
                </a:solidFill>
                <a:latin typeface="Amiri" pitchFamily="34" charset="0"/>
                <a:ea typeface="Amiri" pitchFamily="34" charset="-122"/>
                <a:cs typeface="Amiri" pitchFamily="34" charset="-120"/>
              </a:rPr>
              <a:t>يَضُمُّ</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يُشَكِّلُ</a:t>
            </a:r>
            <a:pPr algn="l" indent="0" marL="0">
              <a:buNone/>
            </a:pPr>
            <a:r>
              <a:rPr lang="en-US" sz="1350" b="1" dirty="0">
                <a:solidFill>
                  <a:srgbClr val="1F2A37"/>
                </a:solidFill>
                <a:latin typeface="Calibri" pitchFamily="34" charset="0"/>
                <a:ea typeface="Calibri" pitchFamily="34" charset="-122"/>
                <a:cs typeface="Calibri" pitchFamily="34" charset="-120"/>
              </a:rPr>
              <a:t>, a Type 1 threat and a Type 2 counterfactual, and a purpose clause with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Composition with </a:t>
            </a:r>
            <a:pPr algn="l" indent="0" marL="0">
              <a:buNone/>
            </a:pPr>
            <a:r>
              <a:rPr lang="ar-SA" altLang="en-US" sz="1550" dirty="0">
                <a:solidFill>
                  <a:srgbClr val="1F2A37"/>
                </a:solidFill>
                <a:latin typeface="Amiri" pitchFamily="34" charset="0"/>
                <a:ea typeface="Amiri" pitchFamily="34" charset="-122"/>
                <a:cs typeface="Amiri" pitchFamily="34" charset="-120"/>
              </a:rPr>
              <a:t>يَضُمُّ</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يُشَكِّلُ</a:t>
            </a:r>
            <a:pPr algn="l" indent="0" marL="0">
              <a:buNone/>
            </a:pPr>
            <a:r>
              <a:rPr lang="en-US" sz="1200" dirty="0">
                <a:solidFill>
                  <a:srgbClr val="1F2A37"/>
                </a:solidFill>
                <a:latin typeface="Calibri" pitchFamily="34" charset="0"/>
                <a:ea typeface="Calibri" pitchFamily="34" charset="-122"/>
                <a:cs typeface="Calibri" pitchFamily="34" charset="-120"/>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cause-effect link with </a:t>
            </a:r>
            <a:pPr algn="l" indent="0" marL="0">
              <a:buNone/>
            </a:pPr>
            <a:r>
              <a:rPr lang="ar-SA" altLang="en-US" sz="1550" dirty="0">
                <a:solidFill>
                  <a:srgbClr val="1F2A37"/>
                </a:solidFill>
                <a:latin typeface="Amiri" pitchFamily="34" charset="0"/>
                <a:ea typeface="Amiri" pitchFamily="34" charset="-122"/>
                <a:cs typeface="Amiri" pitchFamily="34" charset="-120"/>
              </a:rPr>
              <a:t>يُؤَدِّي إِلَى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أَغْنَى النُّظُمِ البِيئِيَّةِ فِي العَالَمِ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richest ecosystems in the world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بِيئَةً لَا غِنَى عَنْهَا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environment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سَلَاسِلَ غِذَائِيَّةٍ مُعَقَّدَةٍ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complex food chains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وَيُؤَدِّي إِلَى تَبْيِيضِ المَرْجَانِ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leads to coral bleaching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لِكَيْ تَحْمِيَ هٰذَا الإِرْثَ الطَّبِيعِيَّ لِلْأَجْيَالِ القَادِمَةِ</a:t>
            </a:r>
            <a:endParaRPr lang="ar-SA" sz="14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it protects this natural heritage for future generations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Red Sea lies between the Arabian Peninsula and North Africa, and it includes coral reefs among the richest ecosystems in the world. Coral forms an indispensable environment for thousands of fish, and the species interact with each other in complex food chains. However, warming threatens this balance and leads to coral bleaching. If the rise in ocean temperatures continues, the reefs will die within decades. Had protection measures been stricter in the past, the reefs would be in better shape today. Therefore the region’s states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yaḍummu + object · yushakkilu +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yatafāʿalu maʿa · yuʾaddī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(idhā … sa-) and a Type 2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taḥmiya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yaḍummu / yushakkilu have a direct object (no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other verb has its partner (maʿa · ʿalā ·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threat uses idhā … sa-; my counterfactual uses law …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subjects take ta- (taḍummu l-ghābatu).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after li-kay ends in -a (naḥmiya · tastamirra).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purpose clause: </a:t>
            </a:r>
            <a:pPr algn="l" indent="0" marL="0">
              <a:buNone/>
            </a:pPr>
            <a:r>
              <a:rPr lang="ar-SA" altLang="en-US" sz="1650" b="1" dirty="0">
                <a:solidFill>
                  <a:srgbClr val="1B3B6F"/>
                </a:solidFill>
                <a:latin typeface="Amiri" pitchFamily="34" charset="0"/>
                <a:ea typeface="Amiri" pitchFamily="34" charset="-122"/>
                <a:cs typeface="Amiri" pitchFamily="34" charset="-120"/>
              </a:rPr>
              <a:t>نَحْتَاجُ إِلَى قَوَانِينَ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حُمِيَتْ مُبَكِّرًا، لَبَقِيَتِ الشِّعَابُ.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حُمِيَتْ، سَتَبْقَى الشِّعَابُ.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تُحْمَى الشِّعَابُ.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purpose clause: </a:t>
            </a:r>
            <a:pPr algn="l" indent="0" marL="0">
              <a:buNone/>
            </a:pPr>
            <a:r>
              <a:rPr lang="ar-SA" altLang="en-US" sz="1650" b="1" dirty="0">
                <a:solidFill>
                  <a:srgbClr val="1B3B6F"/>
                </a:solidFill>
                <a:latin typeface="Amiri" pitchFamily="34" charset="0"/>
                <a:ea typeface="Amiri" pitchFamily="34" charset="-122"/>
                <a:cs typeface="Amiri" pitchFamily="34" charset="-120"/>
              </a:rPr>
              <a:t>نَحْتَاجُ إِلَى قَوَانِينَ 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نَحْمِي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نَحْمِيَ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سَنَحْمِي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حُمِيَتْ مُبَكِّرًا، لَبَقِيَتِ الشِّعَابُ.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حُمِيَتْ، سَتَبْقَى الشِّعَابُ.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تُحْمَى الشِّعَابُ.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basis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مُعَقَّدَةٍ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complex</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survival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عُنْصُرٍ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element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النَّشَاطَ البَشَرِيَّ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human activity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انْقِرَاضِ</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extinction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فَقَدْنَا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lost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سَتَتَأَثَّرُ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be affected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عَامَلْنَا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treated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edge, the brink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Ecosystem Mission — Composition, Conditionals and </a:t>
            </a:r>
            <a:pPr algn="l" indent="0" marL="0">
              <a:buNone/>
            </a:pPr>
            <a:r>
              <a:rPr lang="ar-SA" altLang="en-US" sz="2300" b="1" dirty="0">
                <a:solidFill>
                  <a:srgbClr val="1B3B6F"/>
                </a:solidFill>
                <a:latin typeface="Amiri" pitchFamily="34" charset="0"/>
                <a:ea typeface="Amiri" pitchFamily="34" charset="-122"/>
                <a:cs typeface="Amiri" pitchFamily="34" charset="-120"/>
              </a:rPr>
              <a:t>لِكَيْ</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تَضُمُّ الغَابَةُ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الأَنْوَاعِ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بِآلَافِ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آلَافَ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لِآلَافِ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العُنْصُرُ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العَنَاصِرِ الأُخْرَى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اسْتَمَرَّ الاحْتِرَارُ، سَتَمُوتُ</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threat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حُمِيَتْ، لَبَقِيَتْ</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threat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الشِّعَابُ فِي دَوْرِهَا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اسْتَمَرَّتْ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تَضُمُّ الغَابَةُ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الأَنْوَاعِ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بِآلَافِ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آلَافَ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لِآلَافِ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يَتَفَاعَلُ العُنْصُرُ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العَنَاصِرِ الأُخْرَى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اسْتَمَرَّ الاحْتِرَارُ، سَتَمُوتُ</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threat</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threat.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حُمِيَتْ، لَبَقِيَتْ</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threat</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a counterfactual.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سَنَحْمِي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Subjunctive: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الشِّعَابُ فِي دَوْرِهَا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اسْتَمَرَّتْ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of the doubled verb is </a:t>
            </a:r>
            <a:pPr algn="l" indent="0" marL="0">
              <a:buNone/>
            </a:pPr>
            <a:r>
              <a:rPr lang="ar-SA" altLang="en-US" sz="1350" dirty="0">
                <a:solidFill>
                  <a:srgbClr val="8A6D1E"/>
                </a:solidFill>
                <a:latin typeface="Amiri" pitchFamily="34" charset="0"/>
                <a:ea typeface="Amiri" pitchFamily="34" charset="-122"/>
                <a:cs typeface="Amiri" pitchFamily="34" charset="-120"/>
              </a:rPr>
              <a:t>تَسْتَمِرَّ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P4 · The Built and Natural World · P4-L01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P4-L02 · Urban Environments — Cities, Architecture and Urban Planning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تَخْطِيطٌ عُمْرَانِيٌّ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urban planning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 سَكَنِيٌّ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residential district</a:t>
            </a:r>
            <a:pPr indent="0" marL="0">
              <a:buNone/>
            </a:pPr>
            <a:r>
              <a:rPr lang="en-US" sz="1000" i="1" dirty="0">
                <a:solidFill>
                  <a:srgbClr val="5A6472"/>
                </a:solidFill>
                <a:latin typeface="Calibri" pitchFamily="34" charset="0"/>
                <a:ea typeface="Calibri" pitchFamily="34" charset="-122"/>
                <a:cs typeface="Calibri" pitchFamily="34" charset="-120"/>
              </a:rPr>
              <a:t>  pl. أَحْيَاءٌ سَكَنِيَّةٌ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مَسَاحَاتٌ خَضْرَاءُ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green spaces</a:t>
            </a:r>
            <a:pPr indent="0" marL="0">
              <a:buNone/>
            </a:pPr>
            <a:r>
              <a:rPr lang="en-US" sz="1000" i="1" dirty="0">
                <a:solidFill>
                  <a:srgbClr val="5A6472"/>
                </a:solidFill>
                <a:latin typeface="Calibri" pitchFamily="34" charset="0"/>
                <a:ea typeface="Calibri" pitchFamily="34" charset="-122"/>
                <a:cs typeface="Calibri" pitchFamily="34" charset="-120"/>
              </a:rPr>
              <a:t>  sg. مَسَاحَةٌ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الازْدِحَامُ المُرُورِيُّ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traffic congestion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يُبْنَى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built</a:t>
            </a:r>
            <a:pPr indent="0" marL="0">
              <a:buNone/>
            </a:pPr>
            <a:r>
              <a:rPr lang="en-US" sz="1000" i="1" dirty="0">
                <a:solidFill>
                  <a:srgbClr val="5A6472"/>
                </a:solidFill>
                <a:latin typeface="Calibri" pitchFamily="34" charset="0"/>
                <a:ea typeface="Calibri" pitchFamily="34" charset="-122"/>
                <a:cs typeface="Calibri" pitchFamily="34" charset="-120"/>
              </a:rPr>
              <a:t>  تُبْنَى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would make your town or city a better place to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تَحْتَاجُ مَدِينَتِي إِلَى ______ لِكَيْ تَكُونَ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ecosystem sentences with yaḍummu and yushakkilu (no preposition!).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1 threat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description of an ecosystem ending with li-kay + -a.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P4-L02 · Urban Environments — Cities, Architecture and Urban Planning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البِيئَاتُ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yaḍummu / yushakkilu / yuhaddidu + an OBJECT · yatafāʿalu MAʿA · yaʿtamidu ʿALĀ · yuʾaddī ILĀ — warn with idhā … sa-, regret with law … la- — and after li-kay the verb ends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P4-L01 · The Natural World — Landscapes, Ecosystems and Biodiversity</dc:title>
  <dc:subject>PptxGenJS Presentation</dc:subject>
  <dc:creator>Al Madina Online School · Arabic Department</dc:creator>
  <cp:lastModifiedBy>Al Madina Online School · Arabic Department</cp:lastModifiedBy>
  <cp:revision>1</cp:revision>
  <dcterms:created xsi:type="dcterms:W3CDTF">2026-10-10T15:56:29Z</dcterms:created>
  <dcterms:modified xsi:type="dcterms:W3CDTF">2026-10-10T15:56:29Z</dcterms:modified>
</cp:coreProperties>
</file>