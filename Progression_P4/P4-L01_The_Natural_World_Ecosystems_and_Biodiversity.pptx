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P4-L01. The website lesson “The Natural World — Landscapes, Ecosystems and Biodiversity”: vocabulary, grammar rules and quiz, patterns, common mistakes, sorter, listening, reading, speaking prompts and model, writing task and model, differentiation, final check and the lesson mission. Picture match: website visual game “The Natural World — Landscapes, Ecosystems and Biodiversity”.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ecosystem sentences with yaḍummu, yushakkilu and their complements (website Core). Develop: add a Type 1 threat and a Type 2 counterfactual. Stretch: close with a li-kay purpose clause (website 100–110 words).
• A new unit: celebrate the P3 grammar students bring with them — both conditionals and the verb in -a after an. Today li-kay works exactly like an.
• Faith link (optional): وَوَضَعَ المِيزَانَ (al-Raḥmān 55:7) — Allah set the balance; humans are trustees (khalīfa) of the earth. A natural bridge to التَّوَازُنُ البِيئِيُّ.
• Grammar links: Type 1 / Type 2 (P3-L05) · the subjunctive after an (P3-L06/L07) · verbs with fixed partners (P3-L04).
• TEACHER-WRITTEN ITEMS: waṣl alif shown without a kasra; لِكَيْ always written with its sukūn; rule headings and formulas in English and transliteration; sorter headings in English; the verb, purpose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P3-L12. Questions 4–5 retrieve the Type 2 la- and the verb in -a after an (P3) — today li-kay uses the same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li-kay works like an: the next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توازن، حیات and خطرہ are shared. Careful: Urdu طبیعت usually means one’s mood or health (طبیعت ٹھیک ہے؟); Arabic الطَّبِيعَةُ is nature — the natural world (Urdu uses قدرت).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and biodiversity (website vocabulary (1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and biodiversity (website vocabulary (2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vocabulary (1 of 2)). Hear → Say → See → Use. Transliteration is printed for Core students (cover it for Develop/Stretch).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vocabulary (2 of 2)). Hear → Say → See → Use. Transliteration is printed for Core students (cover it for Develop/Stretch).
FLEX: teach if time allows; otherwise these are on the website vocabulary tab for homework.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purpose subjunctive (website vocabulary (1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purpose subjunctive (website vocabulary (2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“Composition”, teaching point 1 and the vocabulary notes (يَضُمُّ Form I doubled · يُشَكِّلُ Form II · يَتَفَاعَلُ Form VI + مَعَ · يَعْتَمِدُ عَلَى · يُهَدِّدُ + object · يُؤَدِّي إِلَى). All examples are from the website listening and reading.
Also in the vocabulary: يَتَكَوَّنُ مِنْ (is composed of) — يَتَكَوَّنُ النِّظَامُ البِيئِيُّ مِنْ كَائِنَاتٍ حَيَّةٍ وَبِيئَتِهَا.
Agreement: الغَابَةُ / الشِّعَابُ / الأَنْوَاعُ are “she” → تَضُمُّ · تَتَفَاعَلُ; المَرْجَانُ / الاحْتِرَارُ are “he” → يُشَكِّلُ · يُهَدِّدُ.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“Real threat (Type 1)” and “Counterfactual (Type 2)”; card 3 is from the website reading (لَوْ عَامَلْنَا … لَمَا وَصَلَ كَثِيرٌ مِنَ الأَنْوَاعِ إِلَى حَافَّةِ الانْقِرَاضِ).
Revision from P3-L05: a real trend that can still happen → إِذَا … سَـ; a past that did not happen → لَوْ … لَـ / لَمَا.
أَصْرَمُ = stricter (comparative of صَارِمٌ) — accusative أَصْرَمَ as the predicate of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“Purpose subjunctive”, teaching point 2 (“P4 accuracy depends on it”), mistake 1 and vocabulary group 3. Row 5 is a teacher addition: verbs ending in -ā (تَبْقَى · يَسْعَى) show no change.
Same rule as P3-L06/L07: أَنْ / لِكَيْ / لِـ (purpose) all take the verb in -a. Also correct: لِنَحْمِيَ (li- + verb) — the shorter form.
The doubled verb: تَسْتَمِرُّ → تَسْتَمِرَّ (the shadda stays, only the last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يُعَدُّ + accusative (أَسَاسَ) — “is considered the basis”. Row 2: P3-L01 superlative. Row 3: لَا غِنَى عَنْهُ / عَنْهَا = indispensable. Row 4: يُؤَدِّي إِلَى + a verbal noun (تَبْيِيضِ).
Science fact for Stretch: coral bleaching happens when hot water makes corals expel the algae that feed them; some northern Red Sea corals appear unusually heat-tolerant, which is why scientists study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 Composition: Both take a direct object; يَتَفَاعَلُ takes مَعَ.
• Real threat (Type 1): A likely consequence of a current trend.
• Counterfactual (Type 2): What would have been better.
• Purpose subjunctive: لِكَيْ triggers the subjunctive.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first: yaḍummu + object, yushakkilu + object. Then the threat: yuhaddidu — and a real warning, idhā … SA-. Then the regret: law … LA-kānat. Close with li-kay — so the verb ends in -A: naḥmiyA.”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ecosystem argument from a composition, a threat and a purpose clause.” Website feedback: any three different combinations work.
Core: read row 1 across. Develop: label column 2 — Type 1 (row 1), Type 2 (row 2), cause–effect (row 3). Stretch: write your own column-3 line about a desert or a mountain: لِكَيْ نُحَافِظَ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verb after li-kay with its final vowel.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Website prompts and model. Pair task: each student defends a different ecosystem (desert · forest · sea · mountain) in 40 seconds — composition, threat, purpose. Partner checks the -a after li-kay. To a girl: صِفِي · مُسْتَعْمِلَةً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وَيَضُمُّ شِعَابًا · يُشَكِّلُ المَرْجَانُ بِيئَةً · تَتَفَاعَلُ الأَنْوَاعُ مَعَ · يُهَدِّدُ … وَيُؤَدِّي إِلَى · إِذَا اسْتَمَرَّ … سَتَمُوتُ · لَوْ كَانَتْ … لَكَانَتِ · لِكَيْ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(P4-L02 · Urban Environments — Cities, Architecture and Urban Planning) will spend class time USING this language, so students prepare it tonight — short, simple, easy to access (school guidance: “Simple, Short, Interesting, Relevant, Easy to access”). The five words come from the website P4-L02 vocabulary (urban environments).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Natural World — Landscapes, Ecosystems and Biodiversity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2" charset="-78"/>
                <a:cs typeface="Amiri" pitchFamily="2" charset="-78"/>
              </a:rPr>
              <a:t>العَالَمُ الطَّبِيعِيُّ — المَنَاظِرُ وَالأَنْظِمَةُ البِيئِيَّةُ وَالتَّنَوُّعُ الحَيَوِيُّ</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 ecosystem in scientific register with yaḍummu and yushakkilu, weigh a real threat (idhā … sa-) against a counterfactual (law … la-), and give a purpose with li-kay + a verb ending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Composition verbs + partners, a threat vs a counterfactual, li-kay + -a, scientific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natural scenes, build an ecosystem argument, sort composition / conditional / purpose.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نِظَامٌ بِيئِيٌّ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environmental 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ecosystem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nature reserve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مَوْطِنٌ طَبِيعِيٌّ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natural habitat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homeland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natural resource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يُهَدِّدُ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includes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threatens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نِظَامٌ بِيئِيٌّ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environmental law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ecosystem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nature reserve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مَوْطِنٌ طَبِيعِيٌّ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natural habitat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homeland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natural resource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يُهَدِّدُ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includes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threatens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 a Type 2 result takes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after an,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li-kay works like an: the next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أَنْ </a:t>
            </a:r>
            <a:pPr rtl="1" algn="ctr" indent="0" marL="0">
              <a:lnSpc>
                <a:spcPct val="120000"/>
              </a:lnSpc>
              <a:buNone/>
            </a:pPr>
            <a:r>
              <a:rPr lang="ar-SA" altLang="en-US" sz="2050" b="1" dirty="0">
                <a:solidFill>
                  <a:srgbClr val="0E7C86"/>
                </a:solidFill>
                <a:latin typeface="Amiri" pitchFamily="2" charset="-78"/>
                <a:cs typeface="Amiri" pitchFamily="2" charset="-78"/>
              </a:rPr>
              <a:t>يَتَعَلَّمَ</a:t>
            </a:r>
            <a:pPr rtl="1" algn="ctr" indent="0" marL="0">
              <a:lnSpc>
                <a:spcPct val="120000"/>
              </a:lnSpc>
              <a:buNone/>
            </a:pPr>
            <a:r>
              <a:rPr lang="ar-SA" altLang="en-US" sz="2050" b="1" dirty="0">
                <a:solidFill>
                  <a:srgbClr val="1B3B6F"/>
                </a:solidFill>
                <a:latin typeface="Amiri" pitchFamily="2" charset="-78"/>
                <a:cs typeface="Amiri" pitchFamily="2" charset="-78"/>
              </a:rPr>
              <a:t> · لِكَيْ </a:t>
            </a:r>
            <a:pPr rtl="1" algn="ctr" indent="0" marL="0">
              <a:lnSpc>
                <a:spcPct val="120000"/>
              </a:lnSpc>
              <a:buNone/>
            </a:pPr>
            <a:r>
              <a:rPr lang="ar-SA" altLang="en-US" sz="2050" b="1" dirty="0">
                <a:solidFill>
                  <a:srgbClr val="0E7C86"/>
                </a:solidFill>
                <a:latin typeface="Amiri" pitchFamily="2" charset="-78"/>
                <a:cs typeface="Amiri" pitchFamily="2" charset="-78"/>
              </a:rPr>
              <a:t>نَحْمِيَ</a:t>
            </a:r>
            <a:pPr rtl="1" algn="ctr" indent="0" marL="0">
              <a:lnSpc>
                <a:spcPct val="120000"/>
              </a:lnSpc>
              <a:buNone/>
            </a:pPr>
            <a:r>
              <a:rPr lang="ar-SA" altLang="en-US" sz="2050" b="1" dirty="0">
                <a:solidFill>
                  <a:srgbClr val="1B3B6F"/>
                </a:solidFill>
                <a:latin typeface="Amiri" pitchFamily="2" charset="-78"/>
                <a:cs typeface="Amiri" pitchFamily="2" charset="-78"/>
              </a:rPr>
              <a:t> · لِكَيْ </a:t>
            </a:r>
            <a:pPr rtl="1" algn="ctr" indent="0" marL="0">
              <a:lnSpc>
                <a:spcPct val="120000"/>
              </a:lnSpc>
              <a:buNone/>
            </a:pPr>
            <a:r>
              <a:rPr lang="ar-SA" altLang="en-US" sz="2050" b="1" dirty="0">
                <a:solidFill>
                  <a:srgbClr val="0E7C86"/>
                </a:solidFill>
                <a:latin typeface="Amiri" pitchFamily="2" charset="-78"/>
                <a:cs typeface="Amiri" pitchFamily="2" charset="-78"/>
              </a:rPr>
              <a:t>تَسْتَمِرَّ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ecosystem and biodiversity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composition with yaḍummu, yushakkilu and yatafāʿalu maʿa.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 real threat (idhā) against a counterfactual (law).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purpose with li-kay + a verb ending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ecosystem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yaḍummu / yushakkilu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threat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counterfactual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purpose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and defend an ecosystem.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Ecosystems and biodiversity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Composition and impact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purpose subjunctive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نِظَامٌ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‎نظام‎ </a:t>
            </a:r>
            <a:pPr indent="0" marL="0">
              <a:buNone/>
            </a:pPr>
            <a:r>
              <a:rPr lang="en-US" sz="950" b="1" dirty="0">
                <a:solidFill>
                  <a:srgbClr val="2E8B57"/>
                </a:solidFill>
                <a:latin typeface="Calibri" pitchFamily="34" charset="0"/>
                <a:cs typeface="Amiri" pitchFamily="2" charset="-78"/>
              </a:rPr>
              <a:t> nizām · a system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تَوَازُنٌ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حَيَاةٌ · حَيَوِيٌّ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‎حیات‎ </a:t>
            </a:r>
            <a:pPr indent="0" marL="0">
              <a:buNone/>
            </a:pPr>
            <a:r>
              <a:rPr lang="en-US" sz="950" b="1" dirty="0">
                <a:solidFill>
                  <a:srgbClr val="2E8B57"/>
                </a:solidFill>
                <a:latin typeface="Calibri" pitchFamily="34" charset="0"/>
                <a:cs typeface="Amiri" pitchFamily="2" charset="-78"/>
              </a:rPr>
              <a:t> hayāt · life · biological, vital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 threat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طَبِيعَةٌ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‎طبیعت‎ </a:t>
            </a:r>
            <a:pPr indent="0" marL="0">
              <a:buNone/>
            </a:pPr>
            <a:r>
              <a:rPr lang="en-US" sz="950" b="1" dirty="0">
                <a:solidFill>
                  <a:srgbClr val="2E8B57"/>
                </a:solidFill>
                <a:latin typeface="Calibri" pitchFamily="34" charset="0"/>
                <a:cs typeface="Amiri" pitchFamily="2" charset="-78"/>
              </a:rPr>
              <a:t> tabīʿat · Arabic: nature · Urdu: mood,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Ecosystems and biodiversity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نِظَامٌ بِيئِيٌّ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ecosystem</a:t>
            </a:r>
            <a:endParaRPr lang="en-US" sz="1350" dirty="0"/>
          </a:p>
          <a:p>
            <a:pPr indent="0" marL="0">
              <a:buNone/>
            </a:pPr>
            <a:r>
              <a:rPr lang="en-US" sz="1100" i="1" dirty="0">
                <a:solidFill>
                  <a:srgbClr val="5A6472"/>
                </a:solidFill>
                <a:latin typeface="Calibri" pitchFamily="34" charset="0"/>
                <a:cs typeface="Amiri" pitchFamily="2" charset="-78"/>
              </a:rPr>
              <a:t>ni-ẓā-mun bī-ʾiy-yun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أَنْظِمَةٌ بِيئِيَّةٌ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تَنَوُّعٌ حَيَوِيٌّ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biodiversity</a:t>
            </a:r>
            <a:endParaRPr lang="en-US" sz="1350" dirty="0"/>
          </a:p>
          <a:p>
            <a:pPr indent="0" marL="0">
              <a:buNone/>
            </a:pPr>
            <a:r>
              <a:rPr lang="en-US" sz="1100" i="1" dirty="0">
                <a:solidFill>
                  <a:srgbClr val="5A6472"/>
                </a:solidFill>
                <a:latin typeface="Calibri" pitchFamily="34" charset="0"/>
                <a:cs typeface="Amiri" pitchFamily="2" charset="-78"/>
              </a:rPr>
              <a:t>ta-naw-wu-ʿun ḥa-ya-wiy-yun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سِلْسِلَةٌ غِذَائِيَّةٌ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food chain</a:t>
            </a:r>
            <a:endParaRPr lang="en-US" sz="1350" dirty="0"/>
          </a:p>
          <a:p>
            <a:pPr indent="0" marL="0">
              <a:buNone/>
            </a:pPr>
            <a:r>
              <a:rPr lang="en-US" sz="1100" i="1" dirty="0">
                <a:solidFill>
                  <a:srgbClr val="5A6472"/>
                </a:solidFill>
                <a:latin typeface="Calibri" pitchFamily="34" charset="0"/>
                <a:cs typeface="Amiri" pitchFamily="2" charset="-78"/>
              </a:rPr>
              <a:t>sil-si-la-tun ghi-dhā-ʾiy-ya-tun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سَلَاسِلُ غِذَائِيَّةٌ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مَوْطِنٌ طَبِيعِيٌّ</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natural habitat</a:t>
            </a:r>
            <a:endParaRPr lang="en-US" sz="1350" dirty="0"/>
          </a:p>
          <a:p>
            <a:pPr indent="0" marL="0">
              <a:buNone/>
            </a:pPr>
            <a:r>
              <a:rPr lang="en-US" sz="1100" i="1" dirty="0">
                <a:solidFill>
                  <a:srgbClr val="5A6472"/>
                </a:solidFill>
                <a:latin typeface="Calibri" pitchFamily="34" charset="0"/>
                <a:cs typeface="Amiri" pitchFamily="2" charset="-78"/>
              </a:rPr>
              <a:t>maw-ṭi-nun ṭa-bī-ʿiy-yun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مَوَاطِنُ طَبِيعِيَّةٌ</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أَنْوَاعٌ مُهَدَّدَةٌ بِالانْقِرَاضِ</a:t>
            </a:r>
            <a:endParaRPr lang="ar-SA" sz="3000" dirty="0"/>
          </a:p>
        </p:txBody>
      </p:sp>
      <p:sp>
        <p:nvSpPr>
          <p:cNvPr id="66" name="Text 6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endangered species</a:t>
            </a:r>
            <a:endParaRPr lang="en-US" sz="1350" dirty="0"/>
          </a:p>
          <a:p>
            <a:pPr indent="0" marL="0">
              <a:buNone/>
            </a:pPr>
            <a:r>
              <a:rPr lang="en-US" sz="1100" i="1" dirty="0">
                <a:solidFill>
                  <a:srgbClr val="5A6472"/>
                </a:solidFill>
                <a:latin typeface="Calibri" pitchFamily="34" charset="0"/>
                <a:cs typeface="Amiri" pitchFamily="2" charset="-78"/>
              </a:rPr>
              <a:t>an-wā-ʿun mu-had-da-da-tun biln-qi-rā-ḍi</a:t>
            </a:r>
            <a:endParaRPr lang="en-US" sz="1350" dirty="0"/>
          </a:p>
        </p:txBody>
      </p:sp>
      <p:sp>
        <p:nvSpPr>
          <p:cNvPr id="67" name="Shape 6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9" name="Text 6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نَوْعٌ مُهَدَّدٌ بِالانْقِرَاضِ</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Ecosystems and biodiversity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غَابَةٌ اسْتِوَائِيَّةٌ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tropical rainforest</a:t>
            </a:r>
            <a:endParaRPr lang="en-US" sz="1350" dirty="0"/>
          </a:p>
          <a:p>
            <a:pPr indent="0" marL="0">
              <a:buNone/>
            </a:pPr>
            <a:r>
              <a:rPr lang="en-US" sz="1100" i="1" dirty="0">
                <a:solidFill>
                  <a:srgbClr val="5A6472"/>
                </a:solidFill>
                <a:latin typeface="Calibri" pitchFamily="34" charset="0"/>
                <a:cs typeface="Amiri" pitchFamily="2" charset="-78"/>
              </a:rPr>
              <a:t>ghā-ba-tun as-ti-wā-ʾiy-ya-tun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غَابَاتٌ اسْتِوَائِيَّةٌ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شِعَابٌ مَرْجَانِيَّةٌ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coral reefs</a:t>
            </a:r>
            <a:endParaRPr lang="en-US" sz="1350" dirty="0"/>
          </a:p>
          <a:p>
            <a:pPr indent="0" marL="0">
              <a:buNone/>
            </a:pPr>
            <a:r>
              <a:rPr lang="en-US" sz="1100" i="1" dirty="0">
                <a:solidFill>
                  <a:srgbClr val="5A6472"/>
                </a:solidFill>
                <a:latin typeface="Calibri" pitchFamily="34" charset="0"/>
                <a:cs typeface="Amiri" pitchFamily="2" charset="-78"/>
              </a:rPr>
              <a:t>shi-ʿā-bun mar-jā-niy-ya-tun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شِعْبٌ مَرْجَانِيٌّ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التَّوَازُنُ البِيئِيُّ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ecological balance</a:t>
            </a:r>
            <a:endParaRPr lang="en-US" sz="1350" dirty="0"/>
          </a:p>
          <a:p>
            <a:pPr indent="0" marL="0">
              <a:buNone/>
            </a:pPr>
            <a:r>
              <a:rPr lang="en-US" sz="1100" i="1" dirty="0">
                <a:solidFill>
                  <a:srgbClr val="5A6472"/>
                </a:solidFill>
                <a:latin typeface="Calibri" pitchFamily="34" charset="0"/>
                <a:cs typeface="Amiri" pitchFamily="2" charset="-78"/>
              </a:rPr>
              <a:t>at-ta-wā-zu-nu al-bī-ʾiy-yu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الانْقِرَاضُ</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extinction</a:t>
            </a:r>
            <a:endParaRPr lang="en-US" sz="1350" dirty="0"/>
          </a:p>
          <a:p>
            <a:pPr indent="0" marL="0">
              <a:buNone/>
            </a:pPr>
            <a:r>
              <a:rPr lang="en-US" sz="1100" i="1" dirty="0">
                <a:solidFill>
                  <a:srgbClr val="5A6472"/>
                </a:solidFill>
                <a:latin typeface="Calibri" pitchFamily="34" charset="0"/>
                <a:cs typeface="Amiri" pitchFamily="2" charset="-78"/>
              </a:rPr>
              <a:t>aln-qi-rā-ḍu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and impact verbs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يَتَكَوَّنُ مِنْ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composed of</a:t>
            </a:r>
            <a:endParaRPr lang="en-US" sz="1350" dirty="0"/>
          </a:p>
          <a:p>
            <a:pPr indent="0" marL="0">
              <a:buNone/>
            </a:pPr>
            <a:r>
              <a:rPr lang="en-US" sz="1100" i="1" dirty="0">
                <a:solidFill>
                  <a:srgbClr val="5A6472"/>
                </a:solidFill>
                <a:latin typeface="Calibri" pitchFamily="34" charset="0"/>
                <a:cs typeface="Amiri" pitchFamily="2" charset="-78"/>
              </a:rPr>
              <a:t>ya-ta-kaw-wa-nu min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4" name="Text 21"/>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تَتَكَوَّنُ مِنْ</a:t>
            </a:r>
            <a:endParaRPr lang="ar-SA" sz="135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يَضُمُّ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encompasses, includes</a:t>
            </a:r>
            <a:endParaRPr lang="en-US" sz="1350" dirty="0"/>
          </a:p>
          <a:p>
            <a:pPr indent="0" marL="0">
              <a:buNone/>
            </a:pPr>
            <a:r>
              <a:rPr lang="en-US" sz="1100" i="1" dirty="0">
                <a:solidFill>
                  <a:srgbClr val="5A6472"/>
                </a:solidFill>
                <a:latin typeface="Calibri" pitchFamily="34" charset="0"/>
                <a:cs typeface="Amiri" pitchFamily="2" charset="-78"/>
              </a:rPr>
              <a:t>ya-ḍum-mu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تَضُمُّ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يُشَكِّلُ</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forms, constitutes</a:t>
            </a:r>
            <a:endParaRPr lang="en-US" sz="1350" dirty="0"/>
          </a:p>
          <a:p>
            <a:pPr indent="0" marL="0">
              <a:buNone/>
            </a:pPr>
            <a:r>
              <a:rPr lang="en-US" sz="1100" i="1" dirty="0">
                <a:solidFill>
                  <a:srgbClr val="5A6472"/>
                </a:solidFill>
                <a:latin typeface="Calibri" pitchFamily="34" charset="0"/>
                <a:cs typeface="Amiri" pitchFamily="2" charset="-78"/>
              </a:rPr>
              <a:t>yu-shak-ki-lu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تُشَكِّلُ</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يَتَفَاعَلُ مَعَ</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interacts with</a:t>
            </a:r>
            <a:endParaRPr lang="en-US" sz="1350" dirty="0"/>
          </a:p>
          <a:p>
            <a:pPr indent="0" marL="0">
              <a:buNone/>
            </a:pPr>
            <a:r>
              <a:rPr lang="en-US" sz="1100" i="1" dirty="0">
                <a:solidFill>
                  <a:srgbClr val="5A6472"/>
                </a:solidFill>
                <a:latin typeface="Calibri" pitchFamily="34" charset="0"/>
                <a:cs typeface="Amiri" pitchFamily="2" charset="-78"/>
              </a:rPr>
              <a:t>ya-ta-fā-ʿa-lu ma-ʿa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تَتَفَاعَلُ مَعَ</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and impact verbs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يَعْتَمِدُ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تَعْتَمِدُ عَلَى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يُهَدِّدُ</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تُهَدِّدُ</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حِمَايَةُ التَّنَوُّعِ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protecting biodiversity</a:t>
            </a:r>
            <a:endParaRPr lang="en-US" sz="1350" dirty="0"/>
          </a:p>
          <a:p>
            <a:pPr indent="0" marL="0">
              <a:buNone/>
            </a:pPr>
            <a:r>
              <a:rPr lang="en-US" sz="1100" i="1" dirty="0">
                <a:solidFill>
                  <a:srgbClr val="5A6472"/>
                </a:solidFill>
                <a:latin typeface="Calibri" pitchFamily="34" charset="0"/>
                <a:cs typeface="Amiri" pitchFamily="2" charset="-78"/>
              </a:rPr>
              <a:t>ḥi-mā-ya-tu at-ta-naw-wu-ʿi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purpose subjunctive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in order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Triggers the subjunctive.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المَنْصُوبُ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3" name="Shape 3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ـَ.</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فَتْحَةُ النَّصْبِ</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تَحْمِيَ</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protects</a:t>
            </a:r>
            <a:endParaRPr lang="en-US" sz="1350" dirty="0"/>
          </a:p>
          <a:p>
            <a:pPr indent="0" marL="0">
              <a:buNone/>
            </a:pPr>
            <a:r>
              <a:rPr lang="en-US" sz="1100" i="1" dirty="0">
                <a:solidFill>
                  <a:srgbClr val="5A6472"/>
                </a:solidFill>
                <a:latin typeface="Calibri" pitchFamily="34" charset="0"/>
                <a:cs typeface="Amiri" pitchFamily="2" charset="-78"/>
              </a:rPr>
              <a:t>li-kay taḥ-mi-ya</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لِكَيْ نَحْمِيَ</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purpose subjunctive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تَسْتَمِرَّ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continues</a:t>
            </a:r>
            <a:endParaRPr lang="en-US" sz="1350" dirty="0"/>
          </a:p>
          <a:p>
            <a:pPr indent="0" marL="0">
              <a:buNone/>
            </a:pPr>
            <a:r>
              <a:rPr lang="en-US" sz="1100" i="1" dirty="0">
                <a:solidFill>
                  <a:srgbClr val="5A6472"/>
                </a:solidFill>
                <a:latin typeface="Calibri" pitchFamily="34" charset="0"/>
                <a:cs typeface="Amiri" pitchFamily="2" charset="-78"/>
              </a:rPr>
              <a:t>li-kay tas-ta-mir-ra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لِكَيْ نَسْتَمِرَّ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تُحَافِظَ</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preserves</a:t>
            </a:r>
            <a:endParaRPr lang="en-US" sz="1350" dirty="0"/>
          </a:p>
          <a:p>
            <a:pPr indent="0" marL="0">
              <a:buNone/>
            </a:pPr>
            <a:r>
              <a:rPr lang="en-US" sz="1100" i="1" dirty="0">
                <a:solidFill>
                  <a:srgbClr val="5A6472"/>
                </a:solidFill>
                <a:latin typeface="Calibri" pitchFamily="34" charset="0"/>
                <a:cs typeface="Amiri" pitchFamily="2" charset="-78"/>
              </a:rPr>
              <a:t>li-kay tu-ḥā-fi-ẓa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لِكَيْ نُحَافِظَ</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إِجْرَاءَاتُ الحِمَايَةِ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protection measures</a:t>
            </a:r>
            <a:endParaRPr lang="en-US" sz="1350" dirty="0"/>
          </a:p>
          <a:p>
            <a:pPr indent="0" marL="0">
              <a:buNone/>
            </a:pPr>
            <a:r>
              <a:rPr lang="en-US" sz="1100" i="1" dirty="0">
                <a:solidFill>
                  <a:srgbClr val="5A6472"/>
                </a:solidFill>
                <a:latin typeface="Calibri" pitchFamily="34" charset="0"/>
                <a:cs typeface="Amiri" pitchFamily="2" charset="-78"/>
              </a:rPr>
              <a:t>ij-rā-ʾā-tu al-ḥi-mā-ya-ti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تَعَاوُنٌ إِقْلِيمِيٌّ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regional cooperation</a:t>
            </a:r>
            <a:endParaRPr lang="en-US" sz="1350" dirty="0"/>
          </a:p>
          <a:p>
            <a:pPr indent="0" marL="0">
              <a:buNone/>
            </a:pPr>
            <a:r>
              <a:rPr lang="en-US" sz="1100" i="1" dirty="0">
                <a:solidFill>
                  <a:srgbClr val="5A6472"/>
                </a:solidFill>
                <a:latin typeface="Calibri" pitchFamily="34" charset="0"/>
                <a:cs typeface="Amiri" pitchFamily="2" charset="-78"/>
              </a:rPr>
              <a:t>ta-ʿā-wu-nun iq-lī-miy-yun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COMPOSITION AND IMPACT VERBS (WEBSITE RULE 1 + TEACHING POINT 1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التَّكْوِينِ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55371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724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تَضُمُّ الغَابَةُ </a:t>
            </a:r>
            <a:pPr rtl="1" algn="ctr" indent="0" marL="0">
              <a:buNone/>
            </a:pPr>
            <a:r>
              <a:rPr lang="ar-SA" altLang="en-US" sz="1800" b="1" dirty="0">
                <a:solidFill>
                  <a:srgbClr val="1D5FBF"/>
                </a:solidFill>
                <a:latin typeface="Amiri" pitchFamily="2" charset="-78"/>
                <a:cs typeface="Amiri" pitchFamily="2" charset="-78"/>
              </a:rPr>
              <a:t>آلَافَ</a:t>
            </a:r>
            <a:pPr rtl="1" algn="ctr" indent="0" marL="0">
              <a:buNone/>
            </a:pPr>
            <a:r>
              <a:rPr lang="ar-SA" altLang="en-US" sz="1800" b="1" dirty="0">
                <a:solidFill>
                  <a:srgbClr val="1B3B6F"/>
                </a:solidFill>
                <a:latin typeface="Amiri" pitchFamily="2" charset="-78"/>
                <a:cs typeface="Amiri" pitchFamily="2" charset="-78"/>
              </a:rPr>
              <a:t> الأَنْوَاعِ.</a:t>
            </a:r>
            <a:endParaRPr lang="ar-SA" sz="1800" dirty="0"/>
          </a:p>
        </p:txBody>
      </p:sp>
      <p:sp>
        <p:nvSpPr>
          <p:cNvPr id="22" name="Text 19"/>
          <p:cNvSpPr txBox="1"/>
          <p:nvPr/>
        </p:nvSpPr>
        <p:spPr>
          <a:xfrm>
            <a:off x="459028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3" name="Text 20"/>
          <p:cNvSpPr txBox="1"/>
          <p:nvPr/>
        </p:nvSpPr>
        <p:spPr>
          <a:xfrm>
            <a:off x="27614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includes</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يَضُمُّ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يُشَكِّلُ المَرْجَانُ </a:t>
            </a:r>
            <a:pPr rtl="1" algn="ctr" indent="0" marL="0">
              <a:buNone/>
            </a:pPr>
            <a:r>
              <a:rPr lang="ar-SA" altLang="en-US" sz="1800" b="1" dirty="0">
                <a:solidFill>
                  <a:srgbClr val="1D5FBF"/>
                </a:solidFill>
                <a:latin typeface="Amiri" pitchFamily="2" charset="-78"/>
                <a:cs typeface="Amiri" pitchFamily="2" charset="-78"/>
              </a:rPr>
              <a:t>بِيئَةً</a:t>
            </a:r>
            <a:pPr rtl="1" algn="ctr" indent="0" marL="0">
              <a:buNone/>
            </a:pPr>
            <a:r>
              <a:rPr lang="ar-SA" altLang="en-US" sz="1800" b="1" dirty="0">
                <a:solidFill>
                  <a:srgbClr val="1B3B6F"/>
                </a:solidFill>
                <a:latin typeface="Amiri" pitchFamily="2" charset="-78"/>
                <a:cs typeface="Amiri" pitchFamily="2" charset="-78"/>
              </a:rPr>
              <a:t> حَيَوِيَّةً.</a:t>
            </a:r>
            <a:endParaRPr lang="ar-SA" sz="1800" dirty="0"/>
          </a:p>
        </p:txBody>
      </p:sp>
      <p:sp>
        <p:nvSpPr>
          <p:cNvPr id="29" name="Text 26"/>
          <p:cNvSpPr txBox="1"/>
          <p:nvPr/>
        </p:nvSpPr>
        <p:spPr>
          <a:xfrm>
            <a:off x="459028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0" name="Text 27"/>
          <p:cNvSpPr txBox="1"/>
          <p:nvPr/>
        </p:nvSpPr>
        <p:spPr>
          <a:xfrm>
            <a:off x="27614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forms</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يُشَكِّلُ</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تَتَفَاعَلُ الأَنْوَاعُ </a:t>
            </a:r>
            <a:pPr rtl="1" algn="ctr" indent="0" marL="0">
              <a:buNone/>
            </a:pPr>
            <a:r>
              <a:rPr lang="ar-SA" altLang="en-US" sz="1800" b="1" dirty="0">
                <a:solidFill>
                  <a:srgbClr val="0E7C86"/>
                </a:solidFill>
                <a:latin typeface="Amiri" pitchFamily="2" charset="-78"/>
                <a:cs typeface="Amiri" pitchFamily="2" charset="-78"/>
              </a:rPr>
              <a:t>مَعَ</a:t>
            </a:r>
            <a:pPr rtl="1" algn="ctr" indent="0" marL="0">
              <a:buNone/>
            </a:pPr>
            <a:r>
              <a:rPr lang="ar-SA" altLang="en-US" sz="1800" b="1" dirty="0">
                <a:solidFill>
                  <a:srgbClr val="1B3B6F"/>
                </a:solidFill>
                <a:latin typeface="Amiri" pitchFamily="2" charset="-78"/>
                <a:cs typeface="Amiri" pitchFamily="2" charset="-78"/>
              </a:rPr>
              <a:t> بَعْضِهَا.</a:t>
            </a:r>
            <a:endParaRPr lang="ar-SA" sz="1800" dirty="0"/>
          </a:p>
        </p:txBody>
      </p:sp>
      <p:sp>
        <p:nvSpPr>
          <p:cNvPr id="36" name="Text 33"/>
          <p:cNvSpPr txBox="1"/>
          <p:nvPr/>
        </p:nvSpPr>
        <p:spPr>
          <a:xfrm>
            <a:off x="459028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37" name="Text 34"/>
          <p:cNvSpPr txBox="1"/>
          <p:nvPr/>
        </p:nvSpPr>
        <p:spPr>
          <a:xfrm>
            <a:off x="27614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interacts with</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يَتَفَاعَلُ مَعَ</a:t>
            </a:r>
            <a:endParaRPr lang="ar-SA" sz="20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يَعْتَمِدُ التَّوَازُنُ </a:t>
            </a:r>
            <a:pPr rtl="1" algn="ctr" indent="0" marL="0">
              <a:buNone/>
            </a:pPr>
            <a:r>
              <a:rPr lang="ar-SA" altLang="en-US" sz="1800" b="1" dirty="0">
                <a:solidFill>
                  <a:srgbClr val="0E7C86"/>
                </a:solidFill>
                <a:latin typeface="Amiri" pitchFamily="2" charset="-78"/>
                <a:cs typeface="Amiri" pitchFamily="2" charset="-78"/>
              </a:rPr>
              <a:t>عَلَى</a:t>
            </a:r>
            <a:pPr rtl="1" algn="ctr" indent="0" marL="0">
              <a:buNone/>
            </a:pPr>
            <a:r>
              <a:rPr lang="ar-SA" altLang="en-US" sz="1800" b="1" dirty="0">
                <a:solidFill>
                  <a:srgbClr val="1B3B6F"/>
                </a:solidFill>
                <a:latin typeface="Amiri" pitchFamily="2" charset="-78"/>
                <a:cs typeface="Amiri" pitchFamily="2" charset="-78"/>
              </a:rPr>
              <a:t> بَقَاءِ كُلِّ عُنْصُرٍ.</a:t>
            </a:r>
            <a:endParaRPr lang="ar-SA" sz="1800" dirty="0"/>
          </a:p>
        </p:txBody>
      </p:sp>
      <p:sp>
        <p:nvSpPr>
          <p:cNvPr id="41" name="Text 38"/>
          <p:cNvSpPr txBox="1"/>
          <p:nvPr/>
        </p:nvSpPr>
        <p:spPr>
          <a:xfrm>
            <a:off x="459028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42" name="Text 39"/>
          <p:cNvSpPr txBox="1"/>
          <p:nvPr/>
        </p:nvSpPr>
        <p:spPr>
          <a:xfrm>
            <a:off x="27614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depends on</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cs typeface="Amiri" pitchFamily="2" charset="-78"/>
              </a:rPr>
              <a:t>يَعْتَمِدُ عَلَى</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يُهَدِّدُ الاحْتِرَارُ </a:t>
            </a:r>
            <a:pPr rtl="1" algn="ctr" indent="0" marL="0">
              <a:buNone/>
            </a:pPr>
            <a:r>
              <a:rPr lang="ar-SA" altLang="en-US" sz="1800" b="1" dirty="0">
                <a:solidFill>
                  <a:srgbClr val="D6336C"/>
                </a:solidFill>
                <a:latin typeface="Amiri" pitchFamily="2" charset="-78"/>
                <a:cs typeface="Amiri" pitchFamily="2" charset="-78"/>
              </a:rPr>
              <a:t>هٰذَا التَّوَازُنَ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46" name="Text 43"/>
          <p:cNvSpPr txBox="1"/>
          <p:nvPr/>
        </p:nvSpPr>
        <p:spPr>
          <a:xfrm>
            <a:off x="459028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7" name="Text 44"/>
          <p:cNvSpPr txBox="1"/>
          <p:nvPr/>
        </p:nvSpPr>
        <p:spPr>
          <a:xfrm>
            <a:off x="27614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threatens</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cs typeface="Amiri" pitchFamily="2" charset="-78"/>
              </a:rPr>
              <a:t>يُهَدِّدُ</a:t>
            </a:r>
            <a:endParaRPr lang="ar-SA" sz="20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 النَّشَاطُ البَشَرِيُّ </a:t>
            </a:r>
            <a:pPr rtl="1" algn="ctr" indent="0" marL="0">
              <a:buNone/>
            </a:pPr>
            <a:r>
              <a:rPr lang="ar-SA" altLang="en-US" sz="1800" b="1" dirty="0">
                <a:solidFill>
                  <a:srgbClr val="7B3FA0"/>
                </a:solidFill>
                <a:latin typeface="Amiri" pitchFamily="2" charset="-78"/>
                <a:cs typeface="Amiri" pitchFamily="2" charset="-78"/>
              </a:rPr>
              <a:t>إِلَى</a:t>
            </a:r>
            <a:pPr rtl="1" algn="ctr" indent="0" marL="0">
              <a:buNone/>
            </a:pPr>
            <a:r>
              <a:rPr lang="ar-SA" altLang="en-US" sz="1800" b="1" dirty="0">
                <a:solidFill>
                  <a:srgbClr val="1B3B6F"/>
                </a:solidFill>
                <a:latin typeface="Amiri" pitchFamily="2" charset="-78"/>
                <a:cs typeface="Amiri" pitchFamily="2" charset="-78"/>
              </a:rPr>
              <a:t> انْقِرَاضِ أَنْوَاعٍ.</a:t>
            </a:r>
            <a:endParaRPr lang="ar-SA" sz="1800" dirty="0"/>
          </a:p>
        </p:txBody>
      </p:sp>
      <p:sp>
        <p:nvSpPr>
          <p:cNvPr id="51" name="Text 48"/>
          <p:cNvSpPr txBox="1"/>
          <p:nvPr/>
        </p:nvSpPr>
        <p:spPr>
          <a:xfrm>
            <a:off x="459028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52" name="Text 49"/>
          <p:cNvSpPr txBox="1"/>
          <p:nvPr/>
        </p:nvSpPr>
        <p:spPr>
          <a:xfrm>
            <a:off x="27614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leads to</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يُؤَدِّي إِلَى</a:t>
            </a:r>
            <a:endParaRPr lang="ar-SA" sz="20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taḍummu bi-ālāfi ✗ → taḍummu ālāfa ✓ — no preposition after yaḍummu.</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 REAL THREAT OR A COUNTERFACTUAL? (WEBSITE RULES 2–3)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Warn with idhā, regret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الخَطَرُ الحَقِيقِيُّ وَالافْتِرَاضُ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THREAT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اسْتَمَرَّ الاحْتِرَارُ، سَتَتَبَيَّضُ الشِّعَابُ وَتَمُوتُ.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warming continues, the reefs will bleach and die.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كَانَتِ الحِمَايَةُ أَصْرَمَ، لَكَانَتِ الشِّعَابُ أَفْضَلَ حَالًا.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protection been stricter, the reefs would be in better shape.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NEGATIVE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عَامَلْنَا الطَّبِيعَةَ بِاحْتِرَامٍ، لَمَا وَصَلَتِ الأَنْوَاعُ إِلَى حَافَّةِ الانْقِرَاضِ.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we treated nature with respect, species would not have reached the brink.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lamā = would not.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لَوِ اسْتَمَرَّ الاحْتِرَارُ، لَمَاتَتِ الشِّعَابُ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لَوِ اسْتَمَرَّ الاحْتِرَارُ، سَتَمُوتُ الشِّعَابُ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LI-KAY + A VERB IN -A (WEBSITE RULE 4 + TEACHING POINT 2 + VOCABULARY GROUP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 that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لِكَيْ + الفِعْلُ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type</a:t>
            </a:r>
            <a:endParaRPr lang="en-US" sz="1100" dirty="0"/>
          </a:p>
        </p:txBody>
      </p:sp>
      <p:sp>
        <p:nvSpPr>
          <p:cNvPr id="18" name="Text 15"/>
          <p:cNvSpPr txBox="1"/>
          <p:nvPr/>
        </p:nvSpPr>
        <p:spPr>
          <a:xfrm>
            <a:off x="2450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li-kay</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نُحَافِظَ عَلَى التَّوَازُنِ</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468880" y="2267712"/>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لِكَيْ </a:t>
            </a:r>
            <a:pPr rtl="1" algn="ctr" indent="0" marL="0">
              <a:buNone/>
            </a:pPr>
            <a:r>
              <a:rPr lang="ar-SA" altLang="en-US" sz="2000" b="1" dirty="0">
                <a:solidFill>
                  <a:srgbClr val="0E7C86"/>
                </a:solidFill>
                <a:latin typeface="Amiri" pitchFamily="2" charset="-78"/>
                <a:cs typeface="Amiri" pitchFamily="2" charset="-78"/>
              </a:rPr>
              <a:t>نُحَافِظَ</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نُحَافِظُ</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نَحْمِيَ التَّنَوُّعَ الحَيَوِيَّ</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0" name="Text 27"/>
          <p:cNvSpPr txBox="1"/>
          <p:nvPr/>
        </p:nvSpPr>
        <p:spPr>
          <a:xfrm>
            <a:off x="2468880" y="300471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لِكَيْ </a:t>
            </a:r>
            <a:pPr rtl="1" algn="ctr" indent="0" marL="0">
              <a:buNone/>
            </a:pPr>
            <a:r>
              <a:rPr lang="ar-SA" altLang="en-US" sz="2000" b="1" dirty="0">
                <a:solidFill>
                  <a:srgbClr val="0E7C86"/>
                </a:solidFill>
                <a:latin typeface="Amiri" pitchFamily="2" charset="-78"/>
                <a:cs typeface="Amiri" pitchFamily="2" charset="-78"/>
              </a:rPr>
              <a:t>نَحْمِيَ</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نَحْمِي</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تَسْتَمِرَّ الحَيَاةُ البَحْرِيَّةُ</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Text 34"/>
          <p:cNvSpPr txBox="1"/>
          <p:nvPr/>
        </p:nvSpPr>
        <p:spPr>
          <a:xfrm>
            <a:off x="2468880" y="3741725"/>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لِكَيْ </a:t>
            </a:r>
            <a:pPr rtl="1" algn="ctr" indent="0" marL="0">
              <a:buNone/>
            </a:pPr>
            <a:r>
              <a:rPr lang="ar-SA" altLang="en-US" sz="2000" b="1" dirty="0">
                <a:solidFill>
                  <a:srgbClr val="0E7C86"/>
                </a:solidFill>
                <a:latin typeface="Amiri" pitchFamily="2" charset="-78"/>
                <a:cs typeface="Amiri" pitchFamily="2" charset="-78"/>
              </a:rPr>
              <a:t>تَسْتَمِرَّ</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تَسْتَمِرُّ</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تَحْمِيَ هٰذَا الإِرْثَ الطَّبِيعِيَّ</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468880" y="4478731"/>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لِكَيْ </a:t>
            </a:r>
            <a:pPr rtl="1" algn="ctr" indent="0" marL="0">
              <a:buNone/>
            </a:pPr>
            <a:r>
              <a:rPr lang="ar-SA" altLang="en-US" sz="2000" b="1" dirty="0">
                <a:solidFill>
                  <a:srgbClr val="0E7C86"/>
                </a:solidFill>
                <a:latin typeface="Amiri" pitchFamily="2" charset="-78"/>
                <a:cs typeface="Amiri" pitchFamily="2" charset="-78"/>
              </a:rPr>
              <a:t>تَحْمِيَ</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تَحْمِي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تَبْقَى الشِّعَابُ حَيَّةً</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-ā: no change</a:t>
            </a:r>
            <a:endParaRPr lang="en-US" sz="1100" dirty="0"/>
          </a:p>
        </p:txBody>
      </p:sp>
      <p:sp>
        <p:nvSpPr>
          <p:cNvPr id="47" name="Text 44"/>
          <p:cNvSpPr txBox="1"/>
          <p:nvPr/>
        </p:nvSpPr>
        <p:spPr>
          <a:xfrm>
            <a:off x="2468880" y="521573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لِكَيْ </a:t>
            </a:r>
            <a:pPr rtl="1" algn="ctr" indent="0" marL="0">
              <a:buNone/>
            </a:pPr>
            <a:r>
              <a:rPr lang="ar-SA" altLang="en-US" sz="2000" b="1" dirty="0">
                <a:solidFill>
                  <a:srgbClr val="0E7C86"/>
                </a:solidFill>
                <a:latin typeface="Amiri" pitchFamily="2" charset="-78"/>
                <a:cs typeface="Amiri" pitchFamily="2" charset="-78"/>
              </a:rPr>
              <a:t>تَبْقَى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تَبْقَى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li-kay naḥmī ✗ → li-kay naḥmiya ✓. “The final fatḥa is the mark that earns the accuracy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SCIENTIFIC REGISTER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science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الأُسْلُوبُ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816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yuʿaddu … + acc.</a:t>
            </a:r>
            <a:endParaRPr lang="en-US" sz="1100" dirty="0"/>
          </a:p>
        </p:txBody>
      </p:sp>
      <p:sp>
        <p:nvSpPr>
          <p:cNvPr id="21" name="Text 18"/>
          <p:cNvSpPr txBox="1"/>
          <p:nvPr/>
        </p:nvSpPr>
        <p:spPr>
          <a:xfrm>
            <a:off x="2834640" y="2267712"/>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يُعَدُّ</a:t>
            </a:r>
            <a:pPr rtl="1" algn="ctr" indent="0" marL="0">
              <a:buNone/>
            </a:pPr>
            <a:r>
              <a:rPr lang="ar-SA" altLang="en-US" sz="1800" b="1" dirty="0">
                <a:solidFill>
                  <a:srgbClr val="1B3B6F"/>
                </a:solidFill>
                <a:latin typeface="Amiri" pitchFamily="2" charset="-78"/>
                <a:cs typeface="Amiri" pitchFamily="2" charset="-78"/>
              </a:rPr>
              <a:t> التَّنَوُّعُ الحَيَوِيُّ </a:t>
            </a:r>
            <a:pPr rtl="1" algn="ctr" indent="0" marL="0">
              <a:buNone/>
            </a:pPr>
            <a:r>
              <a:rPr lang="ar-SA" altLang="en-US" sz="1800" b="1" dirty="0">
                <a:solidFill>
                  <a:srgbClr val="C77700"/>
                </a:solidFill>
                <a:latin typeface="Amiri" pitchFamily="2" charset="-78"/>
                <a:cs typeface="Amiri" pitchFamily="2" charset="-78"/>
              </a:rPr>
              <a:t>أَسَاسَ</a:t>
            </a:r>
            <a:pPr rtl="1" algn="ctr" indent="0" marL="0">
              <a:buNone/>
            </a:pPr>
            <a:r>
              <a:rPr lang="ar-SA" altLang="en-US" sz="1800" b="1" dirty="0">
                <a:solidFill>
                  <a:srgbClr val="1B3B6F"/>
                </a:solidFill>
                <a:latin typeface="Amiri" pitchFamily="2" charset="-78"/>
                <a:cs typeface="Amiri" pitchFamily="2" charset="-78"/>
              </a:rPr>
              <a:t> الحَيَاةِ عَلَى الأَرْضِ.</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claim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afʿal</a:t>
            </a:r>
            <a:endParaRPr lang="en-US" sz="1100" dirty="0"/>
          </a:p>
        </p:txBody>
      </p:sp>
      <p:sp>
        <p:nvSpPr>
          <p:cNvPr id="27" name="Text 24"/>
          <p:cNvSpPr txBox="1"/>
          <p:nvPr/>
        </p:nvSpPr>
        <p:spPr>
          <a:xfrm>
            <a:off x="2834640" y="300471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شِعَابٌ مَرْجَانِيَّةٌ </a:t>
            </a:r>
            <a:pPr rtl="1" algn="ctr" indent="0" marL="0">
              <a:buNone/>
            </a:pPr>
            <a:r>
              <a:rPr lang="ar-SA" altLang="en-US" sz="1800" b="1" dirty="0">
                <a:solidFill>
                  <a:srgbClr val="1D5FBF"/>
                </a:solidFill>
                <a:latin typeface="Amiri" pitchFamily="2" charset="-78"/>
                <a:cs typeface="Amiri" pitchFamily="2" charset="-78"/>
              </a:rPr>
              <a:t>مِنْ أَغْنَى</a:t>
            </a:r>
            <a:pPr rtl="1" algn="ctr" indent="0" marL="0">
              <a:buNone/>
            </a:pPr>
            <a:r>
              <a:rPr lang="ar-SA" altLang="en-US" sz="1800" b="1" dirty="0">
                <a:solidFill>
                  <a:srgbClr val="1B3B6F"/>
                </a:solidFill>
                <a:latin typeface="Amiri" pitchFamily="2" charset="-78"/>
                <a:cs typeface="Amiri" pitchFamily="2" charset="-78"/>
              </a:rPr>
              <a:t> النُّظُمِ البِيئِيَّةِ فِي العَالَمِ.</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emphasis</a:t>
            </a:r>
            <a:endParaRPr lang="en-US" sz="1100" dirty="0"/>
          </a:p>
        </p:txBody>
      </p:sp>
      <p:sp>
        <p:nvSpPr>
          <p:cNvPr id="31" name="Text 28"/>
          <p:cNvSpPr txBox="1"/>
          <p:nvPr/>
        </p:nvSpPr>
        <p:spPr>
          <a:xfrm>
            <a:off x="2834640" y="3741725"/>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يُشَكِّلُ المَرْجَانُ بِيئَةً </a:t>
            </a:r>
            <a:pPr rtl="1" algn="ctr" indent="0" marL="0">
              <a:buNone/>
            </a:pPr>
            <a:r>
              <a:rPr lang="ar-SA" altLang="en-US" sz="1800" b="1" dirty="0">
                <a:solidFill>
                  <a:srgbClr val="7B3FA0"/>
                </a:solidFill>
                <a:latin typeface="Amiri" pitchFamily="2" charset="-78"/>
                <a:cs typeface="Amiri" pitchFamily="2" charset="-78"/>
              </a:rPr>
              <a:t>لَا غِنَى عَنْهَا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indispensable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 maṣdar</a:t>
            </a:r>
            <a:endParaRPr lang="en-US" sz="1100" dirty="0"/>
          </a:p>
        </p:txBody>
      </p:sp>
      <p:sp>
        <p:nvSpPr>
          <p:cNvPr id="35" name="Text 32"/>
          <p:cNvSpPr txBox="1"/>
          <p:nvPr/>
        </p:nvSpPr>
        <p:spPr>
          <a:xfrm>
            <a:off x="2834640" y="4478731"/>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يُهَدِّدُ الاحْتِرَارُ التَّوَازُنَ </a:t>
            </a:r>
            <a:pPr rtl="1" algn="ctr" indent="0" marL="0">
              <a:buNone/>
            </a:pPr>
            <a:r>
              <a:rPr lang="ar-SA" altLang="en-US" sz="1800" b="1" dirty="0">
                <a:solidFill>
                  <a:srgbClr val="D6336C"/>
                </a:solidFill>
                <a:latin typeface="Amiri" pitchFamily="2" charset="-78"/>
                <a:cs typeface="Amiri" pitchFamily="2" charset="-78"/>
              </a:rPr>
              <a:t>وَيُؤَدِّي إِلَى</a:t>
            </a:r>
            <a:pPr rtl="1" algn="ctr" indent="0" marL="0">
              <a:buNone/>
            </a:pPr>
            <a:r>
              <a:rPr lang="ar-SA" altLang="en-US" sz="1800" b="1" dirty="0">
                <a:solidFill>
                  <a:srgbClr val="1B3B6F"/>
                </a:solidFill>
                <a:latin typeface="Amiri" pitchFamily="2" charset="-78"/>
                <a:cs typeface="Amiri" pitchFamily="2" charset="-78"/>
              </a:rPr>
              <a:t> تَبْيِيضِ المَرْجَانِ.</a:t>
            </a:r>
            <a:endParaRPr lang="ar-SA" sz="1800" dirty="0"/>
          </a:p>
        </p:txBody>
      </p:sp>
      <p:sp>
        <p:nvSpPr>
          <p:cNvPr id="36" name="Text 33"/>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 → effect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therefore + purpose</a:t>
            </a:r>
            <a:endParaRPr lang="en-US" sz="1100" dirty="0"/>
          </a:p>
        </p:txBody>
      </p:sp>
      <p:sp>
        <p:nvSpPr>
          <p:cNvPr id="39" name="Text 36"/>
          <p:cNvSpPr txBox="1"/>
          <p:nvPr/>
        </p:nvSpPr>
        <p:spPr>
          <a:xfrm>
            <a:off x="2834640" y="521573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لِذٰلِكَ</a:t>
            </a:r>
            <a:pPr rtl="1" algn="ctr" indent="0" marL="0">
              <a:buNone/>
            </a:pPr>
            <a:r>
              <a:rPr lang="ar-SA" altLang="en-US" sz="1800" b="1" dirty="0">
                <a:solidFill>
                  <a:srgbClr val="1B3B6F"/>
                </a:solidFill>
                <a:latin typeface="Amiri" pitchFamily="2" charset="-78"/>
                <a:cs typeface="Amiri" pitchFamily="2" charset="-78"/>
              </a:rPr>
              <a:t> يَجِبُ أَنْ نَتَعَاوَنَ </a:t>
            </a:r>
            <a:pPr rtl="1" algn="ctr" indent="0" marL="0">
              <a:buNone/>
            </a:pPr>
            <a:r>
              <a:rPr lang="ar-SA" altLang="en-US" sz="1800" b="1" dirty="0">
                <a:solidFill>
                  <a:srgbClr val="0E7C86"/>
                </a:solidFill>
                <a:latin typeface="Amiri" pitchFamily="2" charset="-78"/>
                <a:cs typeface="Amiri" pitchFamily="2" charset="-78"/>
              </a:rPr>
              <a:t>لِكَيْ نَحْمِيَ</a:t>
            </a:r>
            <a:pPr rtl="1" algn="ctr" indent="0" marL="0">
              <a:buNone/>
            </a:pPr>
            <a:r>
              <a:rPr lang="ar-SA" altLang="en-US" sz="1800" b="1" dirty="0">
                <a:solidFill>
                  <a:srgbClr val="1B3B6F"/>
                </a:solidFill>
                <a:latin typeface="Amiri" pitchFamily="2" charset="-78"/>
                <a:cs typeface="Amiri" pitchFamily="2" charset="-78"/>
              </a:rPr>
              <a:t> التَّنَوُّعَ الحَيَوِيَّ.</a:t>
            </a:r>
            <a:endParaRPr lang="ar-SA" sz="1800" dirty="0"/>
          </a:p>
        </p:txBody>
      </p:sp>
      <p:sp>
        <p:nvSpPr>
          <p:cNvPr id="40" name="Text 37"/>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science paragraph moves: what it is → why it matters → the threat → the counterfactual → therefore + li-kay.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Composition verbs and the purpose subjunctive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cs typeface="Amiri" pitchFamily="2" charset="-78"/>
              </a:rPr>
              <a:t>أَفْعَالُ التَّكْوِينِ وَالفِعْلُ المَنْصُوبُ بَعْدَ لِكَيْ</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yaḍummu / yushakkilu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اسْتَمَرَّ الاحْتِرَارُ، سَتَتَبَيَّضُ الشِّعَابُ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كَانَتِ الحِمَايَةُ أَصْرَمَ، لَكَانَتِ الشِّعَابُ أَفْضَلَ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لِكَيْ تَحْمِيَ المِنْطَقَةُ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بِآلَافِ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لِآلَافِ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آلَافَ الأَنْوَاعِ.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يَتَفَاعَلُ كُلُّ عُنْصُرٍ ___ العَنَاصِرِ الأُخْرَى.</a:t>
            </a:r>
            <a:endParaRPr lang="ar-SA" sz="14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نَحْتَاجُ إِلَى قَوَانِينَ لِكَيْ ___ الغَابَاتِ.</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تُحَافِظَ الحُكُومَاتُ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تُحَافِظُ الحُكُومَاتُ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 حَافَظَتِ الحُكُومَاتُ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تَضُمُّ الغَابَةُ بِآلَافِ الأَنْوَاعِ.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تَضُمُّ الغَابَةُ لِآلَافِ الأَنْوَاعِ.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تَضُمُّ الغَابَةُ آلَافَ الأَنْوَاعِ.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يَتَفَاعَلُ كُلُّ عُنْصُرٍ ___ العَنَاصِرِ الأُخْرَى.</a:t>
            </a:r>
            <a:endParaRPr lang="ar-SA" sz="14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نَحْتَاجُ إِلَى قَوَانِينَ لِكَيْ ___ الغَابَاتِ.</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نَحْمِيَ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subjunctive?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 تُحَافِظَ الحُكُومَاتُ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تُحَافِظُ الحُكُومَاتُ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 حَافَظَتِ الحُكُومَاتُ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ends in a fatḥa: </a:t>
            </a:r>
            <a:pPr algn="l" indent="0" marL="0">
              <a:buNone/>
            </a:pPr>
            <a:r>
              <a:rPr lang="ar-SA" altLang="en-US" sz="1350" dirty="0">
                <a:solidFill>
                  <a:srgbClr val="8A6D1E"/>
                </a:solidFill>
                <a:latin typeface="Amiri" pitchFamily="2" charset="-78"/>
                <a:cs typeface="Amiri" pitchFamily="2" charset="-78"/>
              </a:rPr>
              <a:t>تُحَافِظَ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and defend an ecosystem</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Describe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يَضُمُّ</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cs typeface="Amiri" pitchFamily="2" charset="-78"/>
              </a:rPr>
              <a:t>يُشَكِّلُ</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Threat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يُهَدِّدُ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سَـ</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cs typeface="Amiri" pitchFamily="2" charset="-78"/>
              </a:rPr>
              <a:t>لَـ</a:t>
            </a:r>
            <a:pPr rtl="1" algn="ctr" indent="0" marL="0">
              <a:buNone/>
            </a:pPr>
            <a:r>
              <a:rPr lang="ar-SA" altLang="en-US" sz="2800" b="1" dirty="0">
                <a:solidFill>
                  <a:srgbClr val="1B3B6F"/>
                </a:solidFill>
                <a:latin typeface="Amiri" pitchFamily="2" charset="-78"/>
                <a:cs typeface="Amiri" pitchFamily="2" charset="-78"/>
              </a:rPr>
              <a:t>كَانَتْ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لِذٰلِكَ</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cs typeface="Amiri" pitchFamily="2" charset="-78"/>
              </a:rPr>
              <a:t>لِكَيْ تَحْمِيَ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COMPOSITION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THREAT · 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LI-KAY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يَقَعُ البَحْرُ الأَحْمَرُ بَيْنَ شِبْهِ الجَزِيرَةِ العَرَبِيَّةِ وَأَفْرِيقِيَا، </a:t>
            </a:r>
            <a:pPr rtl="1" algn="r" indent="0" marL="0">
              <a:lnSpc>
                <a:spcPct val="120000"/>
              </a:lnSpc>
              <a:buNone/>
            </a:pPr>
            <a:r>
              <a:rPr lang="ar-SA" altLang="en-US" sz="1400" b="1" dirty="0">
                <a:solidFill>
                  <a:srgbClr val="1D5FBF"/>
                </a:solidFill>
                <a:latin typeface="Amiri" pitchFamily="2" charset="-78"/>
                <a:cs typeface="Amiri" pitchFamily="2" charset="-78"/>
              </a:rPr>
              <a:t>وَيَضُمُّ</a:t>
            </a:r>
            <a:pPr rtl="1" algn="r" indent="0" marL="0">
              <a:lnSpc>
                <a:spcPct val="120000"/>
              </a:lnSpc>
              <a:buNone/>
            </a:pPr>
            <a:r>
              <a:rPr lang="ar-SA" altLang="en-US" sz="1400" b="1" dirty="0">
                <a:solidFill>
                  <a:srgbClr val="1B3B6F"/>
                </a:solidFill>
                <a:latin typeface="Amiri" pitchFamily="2" charset="-78"/>
                <a:cs typeface="Amiri" pitchFamily="2" charset="-78"/>
              </a:rPr>
              <a:t> شِعَابًا مَرْجَانِيَّةً غَنِيَّةً. </a:t>
            </a:r>
            <a:pPr rtl="1" algn="r" indent="0" marL="0">
              <a:lnSpc>
                <a:spcPct val="120000"/>
              </a:lnSpc>
              <a:buNone/>
            </a:pPr>
            <a:r>
              <a:rPr lang="ar-SA" altLang="en-US" sz="1400" b="1" dirty="0">
                <a:solidFill>
                  <a:srgbClr val="1D5FBF"/>
                </a:solidFill>
                <a:latin typeface="Amiri" pitchFamily="2" charset="-78"/>
                <a:cs typeface="Amiri" pitchFamily="2" charset="-78"/>
              </a:rPr>
              <a:t>يُشَكِّلُ</a:t>
            </a:r>
            <a:pPr rtl="1" algn="r" indent="0" marL="0">
              <a:lnSpc>
                <a:spcPct val="120000"/>
              </a:lnSpc>
              <a:buNone/>
            </a:pPr>
            <a:r>
              <a:rPr lang="ar-SA" altLang="en-US" sz="1400" b="1" dirty="0">
                <a:solidFill>
                  <a:srgbClr val="1B3B6F"/>
                </a:solidFill>
                <a:latin typeface="Amiri" pitchFamily="2" charset="-78"/>
                <a:cs typeface="Amiri" pitchFamily="2" charset="-78"/>
              </a:rPr>
              <a:t> المَرْجَانُ بِيئَةً لَا غِنَى عَنْهَا لِآلَافِ الأَسْمَاكِ. غَيْرَ أَنَّ الاحْتِرَارَ </a:t>
            </a:r>
            <a:pPr rtl="1" algn="r" indent="0" marL="0">
              <a:lnSpc>
                <a:spcPct val="120000"/>
              </a:lnSpc>
              <a:buNone/>
            </a:pPr>
            <a:r>
              <a:rPr lang="ar-SA" altLang="en-US" sz="1400" b="1" dirty="0">
                <a:solidFill>
                  <a:srgbClr val="D6336C"/>
                </a:solidFill>
                <a:latin typeface="Amiri" pitchFamily="2" charset="-78"/>
                <a:cs typeface="Amiri" pitchFamily="2" charset="-78"/>
              </a:rPr>
              <a:t>يُهَدِّدُ</a:t>
            </a:r>
            <a:pPr rtl="1" algn="r" indent="0" marL="0">
              <a:lnSpc>
                <a:spcPct val="120000"/>
              </a:lnSpc>
              <a:buNone/>
            </a:pPr>
            <a:r>
              <a:rPr lang="ar-SA" altLang="en-US" sz="1400" b="1" dirty="0">
                <a:solidFill>
                  <a:srgbClr val="1B3B6F"/>
                </a:solidFill>
                <a:latin typeface="Amiri" pitchFamily="2" charset="-78"/>
                <a:cs typeface="Amiri" pitchFamily="2" charset="-78"/>
              </a:rPr>
              <a:t> هٰذَا التَّوَازُنَ؛ </a:t>
            </a:r>
            <a:pPr rtl="1" algn="r" indent="0" marL="0">
              <a:lnSpc>
                <a:spcPct val="120000"/>
              </a:lnSpc>
              <a:buNone/>
            </a:pPr>
            <a:r>
              <a:rPr lang="ar-SA" altLang="en-US" sz="1400" b="1" dirty="0">
                <a:solidFill>
                  <a:srgbClr val="D6336C"/>
                </a:solidFill>
                <a:latin typeface="Amiri" pitchFamily="2" charset="-78"/>
                <a:cs typeface="Amiri" pitchFamily="2" charset="-78"/>
              </a:rPr>
              <a:t>فَإِذَا</a:t>
            </a:r>
            <a:pPr rtl="1" algn="r" indent="0" marL="0">
              <a:lnSpc>
                <a:spcPct val="120000"/>
              </a:lnSpc>
              <a:buNone/>
            </a:pPr>
            <a:r>
              <a:rPr lang="ar-SA" altLang="en-US" sz="1400" b="1" dirty="0">
                <a:solidFill>
                  <a:srgbClr val="1B3B6F"/>
                </a:solidFill>
                <a:latin typeface="Amiri" pitchFamily="2" charset="-78"/>
                <a:cs typeface="Amiri" pitchFamily="2" charset="-78"/>
              </a:rPr>
              <a:t> اسْتَمَرَّ، </a:t>
            </a:r>
            <a:pPr rtl="1" algn="r" indent="0" marL="0">
              <a:lnSpc>
                <a:spcPct val="120000"/>
              </a:lnSpc>
              <a:buNone/>
            </a:pPr>
            <a:r>
              <a:rPr lang="ar-SA" altLang="en-US" sz="1400" b="1" dirty="0">
                <a:solidFill>
                  <a:srgbClr val="D6336C"/>
                </a:solidFill>
                <a:latin typeface="Amiri" pitchFamily="2" charset="-78"/>
                <a:cs typeface="Amiri" pitchFamily="2" charset="-78"/>
              </a:rPr>
              <a:t>سَتَمُوتُ</a:t>
            </a:r>
            <a:pPr rtl="1" algn="r" indent="0" marL="0">
              <a:lnSpc>
                <a:spcPct val="120000"/>
              </a:lnSpc>
              <a:buNone/>
            </a:pPr>
            <a:r>
              <a:rPr lang="ar-SA" altLang="en-US" sz="1400" b="1" dirty="0">
                <a:solidFill>
                  <a:srgbClr val="1B3B6F"/>
                </a:solidFill>
                <a:latin typeface="Amiri" pitchFamily="2" charset="-78"/>
                <a:cs typeface="Amiri" pitchFamily="2" charset="-78"/>
              </a:rPr>
              <a:t> الشِّعَابُ. </a:t>
            </a:r>
            <a:pPr rtl="1" algn="r" indent="0" marL="0">
              <a:lnSpc>
                <a:spcPct val="120000"/>
              </a:lnSpc>
              <a:buNone/>
            </a:pPr>
            <a:r>
              <a:rPr lang="ar-SA" altLang="en-US" sz="1400" b="1" dirty="0">
                <a:solidFill>
                  <a:srgbClr val="C7770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كَانَتِ الحِمَايَةُ أَصْرَمَ فِي المَاضِي، </a:t>
            </a:r>
            <a:pPr rtl="1" algn="r" indent="0" marL="0">
              <a:lnSpc>
                <a:spcPct val="120000"/>
              </a:lnSpc>
              <a:buNone/>
            </a:pPr>
            <a:r>
              <a:rPr lang="ar-SA" altLang="en-US" sz="1400" b="1" dirty="0">
                <a:solidFill>
                  <a:srgbClr val="C7770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الشِّعَابُ أَفْضَلَ حَالًا. </a:t>
            </a:r>
            <a:pPr rtl="1" algn="r" indent="0" marL="0">
              <a:lnSpc>
                <a:spcPct val="120000"/>
              </a:lnSpc>
              <a:buNone/>
            </a:pPr>
            <a:r>
              <a:rPr lang="ar-SA" altLang="en-US" sz="1400" b="1" dirty="0">
                <a:solidFill>
                  <a:srgbClr val="0E7C86"/>
                </a:solidFill>
                <a:latin typeface="Amiri" pitchFamily="2" charset="-78"/>
                <a:cs typeface="Amiri" pitchFamily="2" charset="-78"/>
              </a:rPr>
              <a:t>لِذٰلِكَ</a:t>
            </a:r>
            <a:pPr rtl="1" algn="r" indent="0" marL="0">
              <a:lnSpc>
                <a:spcPct val="120000"/>
              </a:lnSpc>
              <a:buNone/>
            </a:pPr>
            <a:r>
              <a:rPr lang="ar-SA" altLang="en-US" sz="1400" b="1" dirty="0">
                <a:solidFill>
                  <a:srgbClr val="1B3B6F"/>
                </a:solidFill>
                <a:latin typeface="Amiri" pitchFamily="2" charset="-78"/>
                <a:cs typeface="Amiri" pitchFamily="2" charset="-78"/>
              </a:rPr>
              <a:t> نَحْتَاجُ إِلَى تَعَاوُنٍ إِقْلِيمِيٍّ </a:t>
            </a:r>
            <a:pPr rtl="1" algn="r" indent="0" marL="0">
              <a:lnSpc>
                <a:spcPct val="120000"/>
              </a:lnSpc>
              <a:buNone/>
            </a:pPr>
            <a:r>
              <a:rPr lang="ar-SA" altLang="en-US" sz="1400" b="1" dirty="0">
                <a:solidFill>
                  <a:srgbClr val="0E7C86"/>
                </a:solidFill>
                <a:latin typeface="Amiri" pitchFamily="2" charset="-78"/>
                <a:cs typeface="Amiri" pitchFamily="2" charset="-78"/>
              </a:rPr>
              <a:t>لِكَيْ نَحْمِيَ</a:t>
            </a:r>
            <a:pPr rtl="1" algn="r" indent="0" marL="0">
              <a:lnSpc>
                <a:spcPct val="120000"/>
              </a:lnSpc>
              <a:buNone/>
            </a:pPr>
            <a:r>
              <a:rPr lang="ar-SA" altLang="en-US" sz="1400" b="1" dirty="0">
                <a:solidFill>
                  <a:srgbClr val="1B3B6F"/>
                </a:solidFill>
                <a:latin typeface="Amiri" pitchFamily="2" charset="-78"/>
                <a:cs typeface="Amiri" pitchFamily="2" charset="-78"/>
              </a:rPr>
              <a:t> هٰذَا الإِرْثَ.</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Red Sea lies between the Arabian Peninsula and Africa, and it includes rich coral reefs. Coral forms an indispensable environment for thousands of fish. However, warming threatens this balance: if it continues, the reefs will die. Had protection been stricter in the past, the reefs would be in better shape. Therefore we need regional cooperation so that we protect this heritage.</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تَضُمُّ الشِّعَابُ المَرْجَانِيَّةُ فِي البَحْرِ الأَحْمَرِ أَلْفَ نَوْعٍ مِنَ الأَسْمَاكِ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Red Sea’s coral reefs include a thousand species of fish</a:t>
            </a:r>
            <a:endParaRPr lang="en-US" sz="1250" dirty="0"/>
          </a:p>
          <a:p>
            <a:pPr indent="0" marL="0">
              <a:buNone/>
            </a:pPr>
            <a:r>
              <a:rPr lang="en-US" sz="1050" i="1" dirty="0">
                <a:solidFill>
                  <a:srgbClr val="8A6D1E"/>
                </a:solidFill>
                <a:latin typeface="Calibri" pitchFamily="34" charset="0"/>
                <a:cs typeface="Amiri" pitchFamily="2" charset="-78"/>
              </a:rPr>
              <a:t>yaḍummu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لَوْ كَانَتْ إِجْرَاءَاتُ الحِمَايَةِ أَصْرَمَ سَابِقًا، لَكَانَتِ الشِّعَابُ أَفْضَلَ حَالًا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protection measures been stricter, the reefs would be in better shape</a:t>
            </a:r>
            <a:endParaRPr lang="en-US" sz="1250" dirty="0"/>
          </a:p>
          <a:p>
            <a:pPr indent="0" marL="0">
              <a:buNone/>
            </a:pPr>
            <a:r>
              <a:rPr lang="en-US" sz="1050" i="1" dirty="0">
                <a:solidFill>
                  <a:srgbClr val="8A6D1E"/>
                </a:solidFill>
                <a:latin typeface="Calibri" pitchFamily="34" charset="0"/>
                <a:cs typeface="Amiri" pitchFamily="2" charset="-78"/>
              </a:rPr>
              <a:t>Type 2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تَحْتَاجُ الدُّوَلُ إِلَى تَعَاوُنٍ لِكَيْ تَحْمِيَ هٰذَا الإِرْثَ الطَّبِيعِيَّ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need cooperation so that they protect this natural heritage</a:t>
            </a:r>
            <a:endParaRPr lang="en-US" sz="1250" dirty="0"/>
          </a:p>
          <a:p>
            <a:pPr indent="0" marL="0">
              <a:buNone/>
            </a:pPr>
            <a:r>
              <a:rPr lang="en-US" sz="1050" i="1" dirty="0">
                <a:solidFill>
                  <a:srgbClr val="8A6D1E"/>
                </a:solidFill>
                <a:latin typeface="Calibri" pitchFamily="34" charset="0"/>
                <a:cs typeface="Amiri" pitchFamily="2" charset="-78"/>
              </a:rPr>
              <a:t>li-kay + a verb in -a (taḥmiya).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NATURAL WORLD — LANDSCAPES, ECOSYSTEMS AND BIODIVERSITY”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forest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sea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بَحْرٌ.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نَحْمِيَ البِيئَةَ.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forest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sea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بَحْرٌ.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sea.</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نَحْمِيَ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ECOSYSTEM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Composition + threat +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حُجَّةً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Composition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Threat / counterfactual</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(li-kay)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يَضُمُّ البَحْرُ الأَحْمَرُ شِعَابًا مَرْجَانِيَّةً غَنِيَّةً</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اسْتَمَرَّ الاحْتِرَارُ سَتَتَبَيَّضُ الشِّعَابُ وَتَمُوتُ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وَنَحْتَاجُ إِلَى تَعَاوُنٍ إِقْلِيمِيٍّ لِكَيْ نَحْمِيَ هٰذَا الإِرْثَ</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يُشَكِّلُ المَرْجَانُ بِيئَةً لِآلَافِ الأَسْمَاكِ</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حُمِيَتْ مُبَكِّرًا لَكَانَتْ أَفْضَلَ حَالًا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وَيَجِبُ أَنْ نَتَعَاوَنَ لِكَيْ تَسْتَمِرَّ الحَيَاةُ البَحْرِيَّةُ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تَتَفَاعَلُ الأَنْوَاعُ مَعَ بَعْضِهَا فِي سَلَاسِلَ غِذَائِيَّةٍ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وَيُؤَدِّي النَّشَاطُ البَشَرِيُّ إِلَى انْقِرَاضِ أَنْوَاعٍ</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وَلِكَيْ نُحَافِظَ عَلَى التَّوَازُنِ نَحْتَاجُ إِلَى قَوَانِينَ صَارِمَةٍ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every verb after li-kay: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conditional — or purpose?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تَضُمُّ الغَابَةُ آلَافَ الأَنْوَاعِ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يُشَكِّلُ المَرْجَانُ بِيئَةً حَيَوِيَّةً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يَضُمُّ البَحْرُ شِعَابًا مَرْجَانِيَّةً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إِذَا اسْتَمَرَّ الاحْتِرَارُ، سَتَمُوتُ الشِّعَابُ</a:t>
            </a:r>
            <a:endParaRPr lang="ar-SA" sz="15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حُمِيَتْ مُبَكِّرًا، لَبَقِيَتِ الشِّعَابُ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ارْتَفَعَتِ الحَرَارَةُ، سَيَخْتَلُّ التَّوَازُنُ</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تَحْمِيَ الحُكُومَاتُ التَّنَوُّعَ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تَسْتَمِرَّ الشِّعَابُ فِي دَوْرِهَا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نُحَافِظَ عَلَى التَّوَازُنِ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composition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(Type 1 / 2)</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purpose (li-kay + -a)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composition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تَضُمُّ الغَابَةُ آلَافَ الأَنْوَاعِ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يُشَكِّلُ المَرْجَانُ بِيئَةً حَيَوِيَّةً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يَضُمُّ البَحْرُ شِعَابًا مَرْجَانِيَّةً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(Type 1 / 2)</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اسْتَمَرَّ الاحْتِرَارُ، سَتَمُوتُ الشِّعَابُ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حُمِيَتْ مُبَكِّرًا، لَبَقِيَتِ الشِّعَابُ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ارْتَفَعَتِ الحَرَارَةُ، سَيَخْتَلُّ التَّوَازُنُ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purpose (li-kay + -a)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تَحْمِيَ الحُكُومَاتُ التَّنَوُّعَ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تَسْتَمِرَّ الشِّعَابُ فِي دَوْرِهَا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نُحَافِظَ عَلَى التَّوَازُنِ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اسْتَمَرَّ الاحْتِرَارُ، لَتَبَيَّضَتِ الشِّعَابُ.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 الاحْتِرَارُ.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اسْتَمَرَّ الاحْتِرَارُ، سَتَتَبَيَّضُ الشِّعَابُ.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صَارَتِ الحِمَايَةُ أَصْرَمَ، سَتَتَحَسَّنُ الشِّعَابُ.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كَانَتِ الحِمَايَةُ أَصْرَمَ، لَكَانَتِ الشِّعَابُ أَفْضَلَ.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تُحْمَى الشِّعَابُ.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لِكَيْ ___ الشِّعَابُ فِي أَدَاءِ دَوْرِهَا.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اسْتَمَرَّتْ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اسْتَمَرَّ الاحْتِرَارُ، لَتَبَيَّضَتِ الشِّعَابُ.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يَسْتَمِرُّ الاحْتِرَارُ.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اسْتَمَرَّ الاحْتِرَارُ، سَتَتَبَيَّضُ الشِّعَابُ.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صَارَتِ الحِمَايَةُ أَصْرَمَ، سَتَتَحَسَّنُ الشِّعَابُ.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كَانَتِ الحِمَايَةُ أَصْرَمَ، لَكَانَتِ الشِّعَابُ أَفْضَلَ.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تُحْمَى الشِّعَابُ.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لِكَيْ ___ الشِّعَابُ فِي أَدَاءِ دَوْرِهَا.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اسْتَمَرَّتْ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of the doubled verb is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taḍummu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يَضُمُّ</a:t>
            </a:r>
            <a:pPr algn="l" indent="0" marL="0">
              <a:buNone/>
            </a:pPr>
            <a:r>
              <a:rPr lang="en-US" sz="1150" b="1" dirty="0">
                <a:solidFill>
                  <a:srgbClr val="1B3B6F"/>
                </a:solidFill>
                <a:latin typeface="Calibri" pitchFamily="34" charset="0"/>
                <a:cs typeface="Amiri" pitchFamily="2" charset="-78"/>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yaḍummu · yushakkilu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يَقَعُ البَحْرُ الأَحْمَرُ بَيْنَ شِبْهِ الجَزِيرَةِ العَرَبِيَّةِ وَشَمَالِ أَفْرِيقِيَا. يَضُمُّ هٰذَا البَحْرُ شِعَابًا مَرْجَانِيَّةً مِنْ أَغْنَى النُّظُمِ البِيئِيَّةِ البَحْرِيَّةِ فِي العَالَمِ.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 Sea lies between the Arabian Peninsula and North Africa. This sea includes coral reefs among the richest marine ecosystems in the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يُشَكِّلُ المَرْجَانُ بِيئَةً لَا غِنَى عَنْهَا لِآلَافِ الأَسْمَاكِ. غَيْرَ أَنَّ الاحْتِرَارَ يُهَدِّدُ هٰذَا التَّوَازُنَ.</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Coral forms an indispensable environment for thousands of fish. However, warming threatens this balance.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اسْتَمَرَّ ارْتِفَاعُ حَرَارَةِ المُحِيطَاتِ، سَتَتَبَيَّضُ الشِّعَابُ وَتَمُوتُ.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rise in ocean temperatures continues, the reefs will bleach and die.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وَلَوْ كَانَتْ إِجْرَاءَاتُ الحِمَايَةِ أَصْرَمَ فِي العُقُودِ المَاضِيَةِ، لَكَانَتِ الشِّعَابُ أَفْضَلَ حَالًا اليَوْمَ.</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measures been stricter in past decades, the reefs would be in better shape today.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لِذٰلِكَ تَحْتَاجُ دُوَلُ المِنْطَقَةِ إِلَى تَعَاوُنٍ إِقْلِيمِيٍّ لِكَيْ تَحْمِيَ هٰذَا الإِرْثَ الطَّبِيعِيَّ الاسْتِثْنَائِيَّ.</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region’s states need regional cooperation so that they protect this exceptional natural heritage.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yaḍummu · yushakkilu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نِظَامًا بِيئِيًّا مُسْتَعْمِلًا «يَضُمُّ» وَ«يُشَكِّلُ».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الخَطَرُ الحَقِيقِيُّ عَلَيْهِ؟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نَحْتَاجُ إِلَى حِمَايَتِهِ؟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cs typeface="Amiri" pitchFamily="2" charset="-78"/>
              </a:rPr>
              <a:t>يَضُمُّ ___ ، وَيُشَكِّلُ ___ بِيئَةً لِآلَافِ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اسْتَمَرَّ ___ ، سَيَخْتَلُّ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نَحْتَاجُ إِلَى ___ لِكَيْ نَحْمِيَ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نِظَامًا بِيئِيًّا.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ecosystem.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يَضُمُّ البَحْرُ الأَحْمَرُ شِعَابًا مَرْجَانِيَّةً غَنِيَّةً، وَيُشَكِّلُ المَرْجَانُ بِيئَةً لِآلَافِ الأَسْمَاكِ.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Red Sea includes rich coral reefs, and coral forms an environment for thousands of fish.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ecosystem sentences with </a:t>
            </a:r>
            <a:pPr algn="l" indent="0" marL="0">
              <a:buNone/>
            </a:pPr>
            <a:r>
              <a:rPr lang="ar-SA" altLang="en-US" sz="1800" b="1" dirty="0">
                <a:solidFill>
                  <a:srgbClr val="1F2A37"/>
                </a:solidFill>
                <a:latin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cs typeface="Amiri" pitchFamily="2" charset="-78"/>
              </a:rPr>
              <a:t>يُشَكِّلُ</a:t>
            </a:r>
            <a:pPr algn="l" indent="0" marL="0">
              <a:buNone/>
            </a:pPr>
            <a:r>
              <a:rPr lang="en-US" sz="1400" b="1" dirty="0">
                <a:solidFill>
                  <a:srgbClr val="1F2A37"/>
                </a:solidFill>
                <a:latin typeface="Calibri" pitchFamily="34" charset="0"/>
                <a:cs typeface="Amiri" pitchFamily="2" charset="-78"/>
              </a:rPr>
              <a:t> and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ecosystem sentences with yaḍummu, yushakkilu and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threat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threat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a:t>
            </a:r>
            <a:pPr algn="l" indent="0" marL="0">
              <a:buNone/>
            </a:pPr>
            <a:r>
              <a:rPr lang="ar-SA" altLang="en-US" sz="1800" b="1" dirty="0">
                <a:solidFill>
                  <a:srgbClr val="1F2A37"/>
                </a:solidFill>
                <a:latin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purpose clause using the subjunctive fatḥa.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describe an ecosystem with both verbs, both conditionals, yuʾaddī ilā and a li-kay purpose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يُهَدِّدُ ______ هٰذَا التَّوَازُنَ وَيُؤَدِّي إِلَى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threatens … and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اسْتَمَرَّ ______ ، سَيَخْتَلُّ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be disrupted.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لَوْ كَانَتِ الحِمَايَةُ أَصْرَمَ، لَكَانَ ______ أَفْضَلَ حَالًا.</a:t>
            </a:r>
            <a:endParaRPr lang="ar-SA" sz="15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protection been stricter, … would be in better shape.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لِذٰلِكَ نَحْتَاجُ إِلَى ______ لِكَيْ نَحْمِيَ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Therefore we need … so that we protect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يَضُمُّ ______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includes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يُشَكِّلُ ______ بِيئَةً لِآلَافِ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forms an environment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تَتَفَاعَلُ الأَنْوَاعُ مَعَ بَعْضِهَا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species interact with each other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يَعْتَمِدُ التَّوَازُنُ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balance depends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cs typeface="Amiri" pitchFamily="2" charset="-78"/>
              </a:rPr>
              <a:t>البَحْرُ الأَحْمَرُ  ·  الغَابَةُ الاسْتِوَائِيَّةُ  ·  شِعَابًا مَرْجَانِيَّةً  ·  آلَافَ الأَنْوَاعِ  ·  المَرْجَانُ  ·  سَلَاسِلَ غِذَائِيَّةٍ مُعَقَّدَةٍ  ·  بَقَاءِ كُلِّ عُنْصُرٍ  ·  الاحْتِرَارُ  ·  انْقِرَاضِ أَنْوَاعٍ  ·  تَبْيِيضِ المَرْجَانِ  ·  تَعَاوُنٍ إِقْلِيمِيٍّ  ·  التَّنَوُّعَ الحَيَوِيَّ</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describing a natural ecosystem. Use </a:t>
            </a:r>
            <a:pPr algn="l" indent="0" marL="0">
              <a:buNone/>
            </a:pPr>
            <a:r>
              <a:rPr lang="ar-SA" altLang="en-US" sz="1750" b="1" dirty="0">
                <a:solidFill>
                  <a:srgbClr val="1F2A37"/>
                </a:solidFill>
                <a:latin typeface="Amiri" pitchFamily="2" charset="-78"/>
                <a:cs typeface="Amiri" pitchFamily="2" charset="-78"/>
              </a:rPr>
              <a:t>يَضُمُّ</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يُشَكِّلُ</a:t>
            </a:r>
            <a:pPr algn="l" indent="0" marL="0">
              <a:buNone/>
            </a:pPr>
            <a:r>
              <a:rPr lang="en-US" sz="1350" b="1" dirty="0">
                <a:solidFill>
                  <a:srgbClr val="1F2A37"/>
                </a:solidFill>
                <a:latin typeface="Calibri" pitchFamily="34" charset="0"/>
                <a:cs typeface="Amiri" pitchFamily="2" charset="-78"/>
              </a:rPr>
              <a:t>, a Type 1 threat and a Type 2 counterfactual, and a purpose clause with </a:t>
            </a:r>
            <a:pPr algn="l" indent="0" marL="0">
              <a:buNone/>
            </a:pPr>
            <a:r>
              <a:rPr lang="ar-SA" altLang="en-US" sz="1750" b="1" dirty="0">
                <a:solidFill>
                  <a:srgbClr val="1F2A37"/>
                </a:solidFill>
                <a:latin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Composition with </a:t>
            </a:r>
            <a:pPr algn="l" indent="0" marL="0">
              <a:buNone/>
            </a:pPr>
            <a:r>
              <a:rPr lang="ar-SA" altLang="en-US" sz="1550" dirty="0">
                <a:solidFill>
                  <a:srgbClr val="1F2A37"/>
                </a:solidFill>
                <a:latin typeface="Amiri" pitchFamily="2" charset="-78"/>
                <a:cs typeface="Amiri" pitchFamily="2" charset="-78"/>
              </a:rPr>
              <a:t>يَضُمُّ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يُشَكِّلُ</a:t>
            </a:r>
            <a:pPr algn="l" indent="0" marL="0">
              <a:buNone/>
            </a:pPr>
            <a:r>
              <a:rPr lang="en-US" sz="1200" dirty="0">
                <a:solidFill>
                  <a:srgbClr val="1F2A37"/>
                </a:solidFill>
                <a:latin typeface="Calibri" pitchFamily="34" charset="0"/>
                <a:cs typeface="Amiri" pitchFamily="2" charset="-78"/>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cause-effect link with </a:t>
            </a:r>
            <a:pPr algn="l" indent="0" marL="0">
              <a:buNone/>
            </a:pPr>
            <a:r>
              <a:rPr lang="ar-SA" altLang="en-US" sz="1550" dirty="0">
                <a:solidFill>
                  <a:srgbClr val="1F2A37"/>
                </a:solidFill>
                <a:latin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أَغْنَى النُّظُمِ البِيئِيَّةِ فِي العَالَمِ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richest ecosystems in the world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بِيئَةً لَا غِنَى عَنْهَا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environment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سَلَاسِلَ غِذَائِيَّةٍ مُعَقَّدَةٍ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complex food chains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وَيُؤَدِّي إِلَى تَبْيِيضِ المَرْجَانِ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leads to coral bleaching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لِكَيْ تَحْمِيَ هٰذَا الإِرْثَ الطَّبِيعِيَّ لِلْأَجْيَالِ القَادِمَةِ</a:t>
            </a:r>
            <a:endParaRPr lang="ar-SA" sz="14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it protects this natural heritage for future generations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Red Sea lies between the Arabian Peninsula and North Africa, and it includes coral reefs among the richest ecosystems in the world. Coral forms an indispensable environment for thousands of fish, and the species interact with each other in complex food chains. However, warming threatens this balance and leads to coral bleaching. If the rise in ocean temperatures continues, the reefs will die within decades. Had protection measures been stricter in the past, the reefs would be in better shape today. Therefore the region’s states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yaḍummu + object · yushakkilu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yatafāʿalu maʿa · yuʾaddī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taḥmiya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yaḍummu / yushakkilu have a direct object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other verb has its partner (maʿa · ʿalā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threat uses idhā … sa-; my counterfactual uses law …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subjects take ta- (taḍummu l-ghābatu).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after li-kay ends in -a (naḥmiya · tastamirra).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سَنَحْمِي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حُمِيَتْ مُبَكِّرًا، لَبَقِيَتِ الشِّعَابُ.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حُمِيَتْ، سَتَبْقَى الشِّعَابُ.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تُحْمَى الشِّعَابُ.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نَحْمِي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نَحْمِيَ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سَنَحْمِي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لَوْ حُمِيَتْ مُبَكِّرًا، لَبَقِيَتِ الشِّعَابُ.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 حُمِيَتْ، سَتَبْقَى الشِّعَابُ.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تُحْمَى الشِّعَابُ.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مُعَقَّدَةٍ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complex</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بَقَاءِ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survival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عُنْصُرٍ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element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النَّشَاطَ البَشَرِيَّ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activity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انْقِرَاضِ</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extinction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فَقَدْنَا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lost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سَتَتَأَثَّرُ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 affected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عَامَلْنَا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treated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حَافَّةِ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edge, the brink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cs typeface="Amiri" pitchFamily="2" charset="-78"/>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Ecosystem Mission — Composition, Conditionals and </a:t>
            </a:r>
            <a:pPr algn="l" indent="0" marL="0">
              <a:buNone/>
            </a:pPr>
            <a:r>
              <a:rPr lang="ar-SA" altLang="en-US" sz="2300" b="1" dirty="0">
                <a:solidFill>
                  <a:srgbClr val="1B3B6F"/>
                </a:solidFill>
                <a:latin typeface="Amiri" pitchFamily="2" charset="-78"/>
                <a:cs typeface="Amiri" pitchFamily="2" charset="-78"/>
              </a:rPr>
              <a:t>لِكَيْ</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بِآلَافِ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آلَافَ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لِآلَافِ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يَتَفَاعَلُ العُنْصُرُ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العَنَاصِرِ الأُخْرَى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اسْتَمَرَّ الاحْتِرَارُ، سَتَمُوتُ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threat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حُمِيَتْ، لَبَقِيَتْ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threat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نَحْمِي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سَنَحْمِي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الشِّعَابُ فِي دَوْرِهَا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تَسْتَمِرَّ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اسْتَمَرَّتْ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بِآلَافِ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آلَافَ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لِآلَافِ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يَتَفَاعَلُ العُنْصُرُ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العَنَاصِرِ الأُخْرَى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إِذَا اسْتَمَرَّ الاحْتِرَارُ، سَتَمُوتُ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threat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threat.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cs typeface="Amiri" pitchFamily="2" charset="-78"/>
              </a:rPr>
              <a:t>لَوْ حُمِيَتْ، لَبَقِيَتْ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threat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نَحْمِيَ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نَحْمِي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سَنَحْمِي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الشِّعَابُ فِي دَوْرِهَا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تَسْتَمِرُّ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تَسْتَمِرَّ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اسْتَمَرَّتْ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of the doubled verb is </a:t>
            </a:r>
            <a:pPr algn="l" indent="0" marL="0">
              <a:buNone/>
            </a:pPr>
            <a:r>
              <a:rPr lang="ar-SA" altLang="en-US" sz="1350" dirty="0">
                <a:solidFill>
                  <a:srgbClr val="8A6D1E"/>
                </a:solidFill>
                <a:latin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P4-L02 · Urban Environments — Cities, Architecture and Urban Planning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تَخْطِيطٌ عُمْرَانِيٌّ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urban planning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حَيٌّ سَكَنِيٌّ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residential district</a:t>
            </a:r>
            <a:pPr indent="0" marL="0">
              <a:buNone/>
            </a:pPr>
            <a:r>
              <a:rPr lang="en-US" sz="1000" i="1" dirty="0">
                <a:solidFill>
                  <a:srgbClr val="5A6472"/>
                </a:solidFill>
                <a:latin typeface="Calibri" pitchFamily="34" charset="0"/>
                <a:cs typeface="Amiri" pitchFamily="2" charset="-78"/>
              </a:rPr>
              <a:t>  pl. أَحْيَاءٌ سَكَنِيَّةٌ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مَسَاحَاتٌ خَضْرَاءُ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 spaces</a:t>
            </a:r>
            <a:pPr indent="0" marL="0">
              <a:buNone/>
            </a:pPr>
            <a:r>
              <a:rPr lang="en-US" sz="1000" i="1" dirty="0">
                <a:solidFill>
                  <a:srgbClr val="5A6472"/>
                </a:solidFill>
                <a:latin typeface="Calibri" pitchFamily="34" charset="0"/>
                <a:cs typeface="Amiri" pitchFamily="2" charset="-78"/>
              </a:rPr>
              <a:t>  sg. مَسَاحَةٌ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الازْدِحَامُ المُرُورِيُّ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traffic congestion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يُبْنَى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built</a:t>
            </a:r>
            <a:pPr indent="0" marL="0">
              <a:buNone/>
            </a:pPr>
            <a:r>
              <a:rPr lang="en-US" sz="1000" i="1" dirty="0">
                <a:solidFill>
                  <a:srgbClr val="5A6472"/>
                </a:solidFill>
                <a:latin typeface="Calibri" pitchFamily="34" charset="0"/>
                <a:cs typeface="Amiri" pitchFamily="2" charset="-78"/>
              </a:rPr>
              <a:t>  تُبْنَى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would make your town or city a better place to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تَحْتَاجُ مَدِينَتِي إِلَى ______ لِكَيْ تَكُونَ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ecosystem sentences with yaḍummu and yushakkilu (no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threat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description of an ecosystem ending with li-kay +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P4-L02 · Urban Environments — Cities, Architecture and Urban Planning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البِيئَاتُ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yaḍummu / yushakkilu / yuhaddidu + an OBJECT · yatafāʿalu MAʿA · yaʿtamidu ʿALĀ · yuʾaddī ILĀ — warn with idhā … sa-, regret with law … la- — and after li-kay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P4-L01 · The Natural World — Landscapes, Ecosystems and Biodiversity</dc:title>
  <dc:subject>PptxGenJS Presentation</dc:subject>
  <dc:creator>Al Madina Online School · Arabic Department</dc:creator>
  <cp:lastModifiedBy>Al Madina Online School · Arabic Department</cp:lastModifiedBy>
  <cp:revision>1</cp:revision>
  <dcterms:created xsi:type="dcterms:W3CDTF">2026-10-11T06:43:16Z</dcterms:created>
  <dcterms:modified xsi:type="dcterms:W3CDTF">2026-10-11T06:43:16Z</dcterms:modified>
</cp:coreProperties>
</file>