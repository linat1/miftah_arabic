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P4-L03. The website lesson “Climate Change and the Arab World — Causes, Impacts and Responses”: vocabulary, grammar rules and quiz, patterns, common mistakes, sorter, listening, reading, speaking prompts and model, writing task and model, differentiation, final check and the lesson mission. Picture match: website visual game “Climate Change and the Arab World — Causes, Impacts and Responses”.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three sentences with yataṭallabu an, yakhshā an and yarjū an (website Core). Develop: add a Type 1 risk and a Type 2 counterfactual. Stretch: a full 110–120-word analysis with a li-kay clause and a cited expert.
• Climate news can make young people anxious. End on hope — the lesson’s own arc is fear → requirement → hope, and the reading closes with «تَتَحَوَّلَ الأَزْمَةُ إِلَى فُرْصَةٍ». Faith link (optional): we are trustees (khalīfa) of the earth and must not cause corruption in it (فَسَاد).
• The grammar is not new — the verb in -a after an (P3-L06/L07) and li-kay (P4-L01). What is new is the meaning of the verb before an: requirement, fear, hope.
• Grammar links: both conditionals (P3-L05) · reported speech and stance (P2-L08 / P3-L06) · li-kay (P4-L01).
• TEACHER-WRITTEN ITEMS: waṣl alif shown without a kasra; لِكَيْ always written with its sukūn; vowel fix مَسْتَوَى → مُسْتَوَى; rule headings and formulas in English and transliteration; sorter headings in transliteration; game cards 1 and 4 not used (waṣl kasras); the verb, subjunctive and register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P4-L02. Questions 4–5 retrieve the passive and yuḥawwilu ilā (P4-L02) — today the reading ends with yarjū an tataḥawwala l-azmatu ilā fursa.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Three moods of crisis — requirement, fear, hope — and after each an, the verb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خشیت (as in خشیتِ الٰہی), طلب, ضرورت and ہجرت are shared. Careful: Urdu امن usually means peace; Arabic الأَمْنُ الغِذَائِيُّ is food SECURITY (peace in Arabic is سَلَامٌ).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Climate impacts (website vocabulary (1 of 2)). Hear → Say → See → Use. Transliteration is printed for Core students (cover it for Develop/Stretch).
Climate impacts: the vocabulary of a crisis report. Note مُسْتَوَى (level) — with a ḍamma (the website prints a fatḥa). شُحٌّ = scarcity; التَّصَحُّرُ = desertification (land turning into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Climate impacts (website vocabulary (2 of 2)). Hear → Say → See → Use. Transliteration is printed for Core students (cover it for Develop/Stretch).
Climate impacts: the vocabulary of a crisis report. Note مُسْتَوَى (level) — with a ḍamma (the website prints a fatḥa). شُحٌّ = scarcity; التَّصَحُّرُ = desertification (land turning into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Volition verbs (+ subjunctive) (website vocabulary (1 of 2)). Hear → Say → See → Use. Transliteration is printed for Core students (cover it for Develop/Stretch).
Volition verbs: يَتَطَلَّبُ / يَخْشَى / يَرْجُو / يُرِيدُ + أَنْ + a verb in -a. يَقْتَضِي takes a direct object (يَقْتَضِي الأَمْرُ تَعَاوُنًا); يَهْدِفُ إِلَى takes a noun (يَهْدِفُ إِلَى خَفْضِ الانْبِعَاثَاتِ).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Volition verbs (+ subjunctive) (website vocabulary (2 of 2)). Hear → Say → See → Use. Transliteration is printed for Core students (cover it for Develop/Stretch).
FLEX: teach if time allows; otherwise these are on the website vocabulary tab for homework.
Volition verbs: يَتَطَلَّبُ / يَخْشَى / يَرْجُو / يُرِيدُ + أَنْ + a verb in -a. يَقْتَضِي takes a direct object (يَقْتَضِي الأَمْرُ تَعَاوُنًا); يَهْدِفُ إِلَى takes a noun (يَهْدِفُ إِلَى خَفْضِ الانْبِعَاثَاتِ).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Responses and policy (website vocabulary (1 of 2)). Hear → Say → See → Use. Transliteration is printed for Core students (cover it for Develop/Stretch).
FLEX: teach if time allows; otherwise these are on the website vocabulary tab for homework.
Responses and policy: the hopeful half of the lesson — political will, agreements, finance, solar energy, cutting emissions.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Responses and policy (website vocabulary (2 of 2)). Hear → Say → See → Use. Transliteration is printed for Core students (cover it for Develop/Stretch).
FLEX: teach if time allows; otherwise these are on the website vocabulary tab for homework.
Responses and policy: the hopeful half of the lesson — political will, agreements, finance, solar energy, cutting emissions.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“Requirement”, “Fear”, “Hope”, the website table and teaching point 2 (“Three moods of crisis”). Rows 5–6 use the website vocabulary (يَقْتَضِي · يَهْدِفُ إِلَى) — they do NOT take أَنْ here.
Feelings first: ask students to sort their own feelings about climate news into fear / requirement / hope before the grammar.
Agreement: the verb after أَنْ agrees with its own subject — أَنْ تَتَّخِذَ الحُكُومَاتُ (non-human / broken plural → ta-) · أَنْ يَتَجَاوَزَ الاحْتِرَارُ (masculine → 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teaching point 1 (“The final fatḥa marks the subjunctive”) and mistakes 1–2, with examples from the website reading, sorter and live builder.
Row 2: تُصْبِحَ + accusative predicate (غَيْرَ صَالِحَةٍ). Row 3: two parallel verbs each with its own أَنْ. Row 5: weak -ī verbs add -a (نَبْنِيَ, like نَحْمِيَ in P4-L01).
Remember: the verbs of fear and hope are themselves weak — يَخْشَى (no change after an: أَنْ يَخْشَى) · يَرْجُو (أَنْ يَرْجُوَ).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“Both conditionals”, mistake 3 and the writing model (card 3).
Do not confuse أَنْ and أَنَّ: يَخْشَى أَنْ + a VERB in -a · أَكَّدَ أَنَّ / يُشَارُ إِلَى أَنَّ + a NOUN in -a (أَنَّ التَّعَاوُنَ).
Card 2: أَقَلَّ حِدَّةً = less severe (comparative + tamyīz).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register tools from the website listening, reading and writing model.
Row 2: أَكْثَرُ + noun + tamyīz (تَأَثُّرًا) = “the most affected” — for qualities that have no afʿal form.
Row 3: أَخْطَرُ تَحَدٍّ = superlative + indefinite noun = “the gravest challenge”.
Accuracy: the UN and the World Bank describe the Middle East and North Africa as one of the regions most exposed to heat and water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“يَتَطَلَّبُ، يَخْشَى، يَرْجُو، يُرِيدُ + أَنْ put the next verb in the subjunctive, alongside both conditional types and reported speech.”
• Requirement: The situation requires an action.
• Fear: What is feared.
• Hope: What is hoped for.
• Both conditionals: A real risk and a counterfactual.
Website common error: Leaving the verb after أَنْ in the indicative (تَتَّخِذُ) instead of the subjunctive (تَتَّخِذَ). Verbs of requirement, fear and hope all require the subjunctive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“How serious? yushāru ilā ANNA + a noun. What do scientists fear? yakhshā AN + a verb in -a: tatajāwazA. What is required? yataṭallabu AN tattakhidhA. A real risk: idhā … SA-. A regret: law … LA-kānat. End on hope: yarjū AN tataḥawwalA.”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Climate Change and the Arab World — Causes, Impacts and Responses”)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cards 1 and 4 not used). Then add a mood to each: يَخْشَى العُلَمَاءُ أَنْ تَرْتَفِعَ الحَرَارَةُ أَكْثَرَ · يَتَطَلَّبُ الجَفَافُ أَنْ نُوَفِّرَ المِيَاهَ · نَرْجُو أَنْ تَنْتَشِرَ الطَّاقَةُ المُتَجَدِّدَةُ.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Climate Change and the Arab World — Causes, Impacts and Responses”)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cards 1 and 4 not used). Then add a mood to each: يَخْشَى العُلَمَاءُ أَنْ تَرْتَفِعَ الحَرَارَةُ أَكْثَرَ · يَتَطَلَّبُ الجَفَافُ أَنْ نُوَفِّرَ المِيَاهَ · نَرْجُو أَنْ تَنْتَشِرَ الطَّاقَةُ المُتَجَدِّدَةُ.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 climate argument from a fear, a requirement and a hope.” Website feedback: any three different combinations work.
Core: read row 1 across. Develop: find the one line with no أَنْ (column 2 row 3: يَقْتَضِي + object). Stretch: write your own fear–requirement–hope line about water (tomorrow’s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put the right verb in front of each card and read it aloud: يَتَطَلَّبُ الوَضْعُ … · يَخْشَى العُلَمَاءُ … · يَرْجُو الجَمِيعُ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put the right verb in front of each card and read it aloud: يَتَطَلَّبُ الوَضْعُ … · يَخْشَى العُلَمَاءُ … · يَرْجُو الجَمِيعُ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write down every verb after an with its final -a.
Listen 1: just listen. Listen 2: note answers. Then chat the letters.
Support: after the second listening, show the read-along slide (Arabic + English, line by line) for Core students.
SCRIPT (read aloud):
يُشَارُ إِلَى أَنَّ المِنْطَقَةَ العَرَبِيَّةَ مِنْ أَكْثَرِ مَنَاطِقِ العَالَمِ تَأَثُّرًا بِتَغَيُّرِ المَنَاخِ. تُعَانِي دُوَلٌ مِثْلُ العِرَاقِ وَالأُرْدُنِّ مِنْ تَصَحُّرٍ مُتَسَارِعٍ يُهَدِّدُ الأَمْنَ الغِذَائِيَّ. يَخْشَى الخُبَرَاءُ أَنْ تَتَجَاوَزَ دَرَجَاتُ الحَرَارَةِ حَدًّا لَا تُمْكِنُ مَعَهُ الحَيَاةُ فِي بَعْضِ المَنَاطِقِ. وَيَتَطَلَّبُ الوَضْعُ أَنْ تَتَّخِذَ الحُكُومَاتُ العَرَبِيَّةُ تَدَابِيرَ عَاجِلَةً. إِذَا وَاصَلَتِ الحَرَارَةُ ارْتِفَاعَهَا، سَتَنْتُجُ هِجْرَاتٌ مَنَاخِيَّةٌ وَاسِعَةٌ. وَلَوِ اتَّخَذَتِ الدُّوَلُ إِجْرَاءَاتٍ مُبَكِّرًا، لَكَانَتْ آثَارُ التَّصَحُّرِ أَقَلَّ حِدَّةً. وَيَرْجُو المُجْتَمَعُ الدَّوْلِيُّ أَنْ تُوَجِّهَ دُوَلُ الخَلِيجِ ثَرْوَتَهَا نَحْوَ الانْتِقَالِ الطَّاقَوِيِّ.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يَتَطَلَّبُ الوَضْعُ؟ (Requirement)
B: يَتَطَلَّبُ الوَضْعُ أَنْ تَتَّخِذَ الحُكُومَاتُ تَدَابِيرَ عَاجِلَةً، وَلَوْ بَدَأْنَا مُبَكِّرًا لَكَانَ الأَثَرُ أَقَلَّ. (يَتَطَلَّبُ أَنْ + a Type 2)
Website prompts and model. Pair task: “three moods” — A states a fear, B answers with a requirement, A closes with a hope. Partner checks every -a after an. To a girl: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three sentences with يَتَطَلَّبُ أَنْ, يَخْشَى أَنْ and يَرْجُو أَنْ. · Develop — Add a Type 1 risk and a Type 2 counterfactual. · Stretch — Write a full analysis with a لِكَي clause and a reported-speech citation.
Website writing task (Stretch): Write one hundred and ten to one hundred and twenty words analysing climate change in the Arab world. Use يَتَطَلَّبُ أَنْ, يَخْشَى أَنْ and يَرْجُو أَنْ, both conditional types, a لِكَيْ purpose clause and a reported-speech clause.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يُشَارُ إِلَى أَنَّ · يَخْشَى … أَنْ تَتَجَاوَزَ · يَتَطَلَّبُ … أَنْ تَتَّخِذَ · إِذَا وَاصَلَتِ … سَتَنْتُجُ · لَوِ اتَّخَذَتِ … لَكَانَتْ · أَكَّدَ خُبَرَاءُ … أَنَّ · لِكَيْ تُقَلِّلَ · يَرْجُو … أَنْ تَتَحَوَّلَ.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(P4-L04 · Water in the Arab World — Scarcity, Management and the Future) will spend class time USING this language, so students prepare it tonight — short, simple, easy to access (school guidance: “Simple, Short, Interesting, Relevant, Easy to access”). The five words come from the website P4-L04 vocabulary (water in the Arab world).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Climate Change and the Arab World — Causes, Impacts and Responses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650" b="1" dirty="0">
                <a:solidFill>
                  <a:srgbClr val="D4AF37"/>
                </a:solidFill>
                <a:latin typeface="Amiri" pitchFamily="2" charset="-78"/>
                <a:cs typeface="Amiri" pitchFamily="2" charset="-78"/>
              </a:rPr>
              <a:t>تَغَيُّرُ المَنَاخِ وَالعَالَمُ العَرَبِيُّ — الأَسْبَابُ وَالتَّأْثِيرَاتُ وَالاسْتِجَابَاتُ</a:t>
            </a:r>
            <a:endParaRPr lang="ar-SA" sz="26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Analyse climate impacts on the Arab world with three moods of crisis — yataṭallabu an (requirement), yakhshā an (fear), yarjū an (hope), each + a verb in -a — plus a real risk, a counterfactual and a cited expert.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P4-L03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100" dirty="0">
                <a:solidFill>
                  <a:srgbClr val="1F2A37"/>
                </a:solidFill>
                <a:latin typeface="Calibri" pitchFamily="34" charset="0"/>
                <a:cs typeface="Amiri" pitchFamily="2" charset="-78"/>
              </a:rPr>
              <a:t>Verbs of requirement, fear and hope + an, the verb in -a, risk / counterfactual / citation, climate register.</a:t>
            </a:r>
            <a:endParaRPr lang="en-US" sz="11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climate pictures, build a climate argument, sort fear / requirement / hope.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تَغَيُّرُ المَنَاخِ</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change of weather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climate change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climate law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شُحُّ المِيَاهِ</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scarcity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pollution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water tank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يَخْشَى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hopes that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requires that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fears that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يُبْنَى مَشْرُوعًا ضَخْمًا.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يُبْنَى مَشْرُوعٍ ضَخْمٍ.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يُبْنَى مَشْرُوعٌ ضَخْمٌ.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يُحَوِّلُ المَشْرُوعُ المَطَارَ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حَدِيقَةٍ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تَغَيُّرُ المَنَاخِ</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change of weather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climate change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climate law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شُحُّ المِيَاهِ</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scarcity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 pollution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water tank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يَخْشَى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hopes that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requires that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fears that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يُبْنَى مَشْرُوعًا ضَخْمًا.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يُبْنَى مَشْرُوعٍ ضَخْمٍ.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يُبْنَى مَشْرُوعٌ ضَخْمٌ.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P4-L02: the passive subject is nominative.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يُحَوِّلُ المَشْرُوعُ المَطَارَ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حَدِيقَةٍ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P4-L02: yuḥawwilu … ilā.</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Three moods of crisis — requirement, fear, hope — and after each an, the verb ends in -a.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يَتَطَلَّبُ أَنْ </a:t>
            </a:r>
            <a:pPr rtl="1" algn="ctr" indent="0" marL="0">
              <a:lnSpc>
                <a:spcPct val="120000"/>
              </a:lnSpc>
              <a:buNone/>
            </a:pPr>
            <a:r>
              <a:rPr lang="ar-SA" altLang="en-US" sz="1950" b="1" dirty="0">
                <a:solidFill>
                  <a:srgbClr val="0E7C86"/>
                </a:solidFill>
                <a:latin typeface="Amiri" pitchFamily="2" charset="-78"/>
                <a:cs typeface="Amiri" pitchFamily="2" charset="-78"/>
              </a:rPr>
              <a:t>تَتَّخِذَ</a:t>
            </a:r>
            <a:pPr rtl="1" algn="ctr" indent="0" marL="0">
              <a:lnSpc>
                <a:spcPct val="120000"/>
              </a:lnSpc>
              <a:buNone/>
            </a:pPr>
            <a:r>
              <a:rPr lang="ar-SA" altLang="en-US" sz="1950" b="1" dirty="0">
                <a:solidFill>
                  <a:srgbClr val="1B3B6F"/>
                </a:solidFill>
                <a:latin typeface="Amiri" pitchFamily="2" charset="-78"/>
                <a:cs typeface="Amiri" pitchFamily="2" charset="-78"/>
              </a:rPr>
              <a:t> · يَخْشَى أَنْ </a:t>
            </a:r>
            <a:pPr rtl="1" algn="ctr" indent="0" marL="0">
              <a:lnSpc>
                <a:spcPct val="120000"/>
              </a:lnSpc>
              <a:buNone/>
            </a:pPr>
            <a:r>
              <a:rPr lang="ar-SA" altLang="en-US" sz="1950" b="1" dirty="0">
                <a:solidFill>
                  <a:srgbClr val="D6336C"/>
                </a:solidFill>
                <a:latin typeface="Amiri" pitchFamily="2" charset="-78"/>
                <a:cs typeface="Amiri" pitchFamily="2" charset="-78"/>
              </a:rPr>
              <a:t>تَتَجَاوَزَ</a:t>
            </a:r>
            <a:pPr rtl="1" algn="ctr" indent="0" marL="0">
              <a:lnSpc>
                <a:spcPct val="120000"/>
              </a:lnSpc>
              <a:buNone/>
            </a:pPr>
            <a:r>
              <a:rPr lang="ar-SA" altLang="en-US" sz="1950" b="1" dirty="0">
                <a:solidFill>
                  <a:srgbClr val="1B3B6F"/>
                </a:solidFill>
                <a:latin typeface="Amiri" pitchFamily="2" charset="-78"/>
                <a:cs typeface="Amiri" pitchFamily="2" charset="-78"/>
              </a:rPr>
              <a:t> · يَرْجُو أَنْ </a:t>
            </a:r>
            <a:pPr rtl="1" algn="ctr" indent="0" marL="0">
              <a:lnSpc>
                <a:spcPct val="120000"/>
              </a:lnSpc>
              <a:buNone/>
            </a:pPr>
            <a:r>
              <a:rPr lang="ar-SA" altLang="en-US" sz="1950" b="1" dirty="0">
                <a:solidFill>
                  <a:srgbClr val="1D5FBF"/>
                </a:solidFill>
                <a:latin typeface="Amiri" pitchFamily="2" charset="-78"/>
                <a:cs typeface="Amiri" pitchFamily="2" charset="-78"/>
              </a:rPr>
              <a:t>تُوَقِّعَ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climate-impact and policy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requirement, fear and hope with yataṭallabu / yakhshā / yarjū an.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Put the verb after an in the subjunctive (-a).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balanced climate analysis.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climate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yakhshā an + a verb in -a.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yataṭallabu an and yarjū an.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real risk and a counterfactual.</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cite an expert and add a li-kay clause.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balanced climate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Climate impacts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Volition verbs (+ subjunctive)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Responses and policy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خَشْيَةٌ · يَخْشَى</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‎خشیت‎ </a:t>
            </a:r>
            <a:pPr indent="0" marL="0">
              <a:buNone/>
            </a:pPr>
            <a:r>
              <a:rPr lang="en-US" sz="950" b="1" dirty="0">
                <a:solidFill>
                  <a:srgbClr val="2E8B57"/>
                </a:solidFill>
                <a:latin typeface="Calibri" pitchFamily="34" charset="0"/>
                <a:cs typeface="Amiri" pitchFamily="2" charset="-78"/>
              </a:rPr>
              <a:t> khashiyat · awe, fear (خشیتِ الٰہی)</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طَلَبٌ · يَتَطَلَّبُ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‎طلب‎ </a:t>
            </a:r>
            <a:pPr indent="0" marL="0">
              <a:buNone/>
            </a:pPr>
            <a:r>
              <a:rPr lang="en-US" sz="950" b="1" dirty="0">
                <a:solidFill>
                  <a:srgbClr val="2E8B57"/>
                </a:solidFill>
                <a:latin typeface="Calibri" pitchFamily="34" charset="0"/>
                <a:cs typeface="Amiri" pitchFamily="2" charset="-78"/>
              </a:rPr>
              <a:t> talab · demand · it requires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ضَرُورَةٌ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‎ضرورت‎ </a:t>
            </a:r>
            <a:pPr indent="0" marL="0">
              <a:buNone/>
            </a:pPr>
            <a:r>
              <a:rPr lang="en-US" sz="950" b="1" dirty="0">
                <a:solidFill>
                  <a:srgbClr val="2E8B57"/>
                </a:solidFill>
                <a:latin typeface="Calibri" pitchFamily="34" charset="0"/>
                <a:cs typeface="Amiri" pitchFamily="2" charset="-78"/>
              </a:rPr>
              <a:t> zarūrat · necessity, need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هِجْرَةٌ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‎ہجرت‎ </a:t>
            </a:r>
            <a:pPr indent="0" marL="0">
              <a:buNone/>
            </a:pPr>
            <a:r>
              <a:rPr lang="en-US" sz="950" b="1" dirty="0">
                <a:solidFill>
                  <a:srgbClr val="2E8B57"/>
                </a:solidFill>
                <a:latin typeface="Calibri" pitchFamily="34" charset="0"/>
                <a:cs typeface="Amiri" pitchFamily="2" charset="-78"/>
              </a:rPr>
              <a:t> hijrat · migration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أَمْنٌ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‎امن‎ </a:t>
            </a:r>
            <a:pPr indent="0" marL="0">
              <a:buNone/>
            </a:pPr>
            <a:r>
              <a:rPr lang="en-US" sz="950" b="1" dirty="0">
                <a:solidFill>
                  <a:srgbClr val="2E8B57"/>
                </a:solidFill>
                <a:latin typeface="Calibri" pitchFamily="34" charset="0"/>
                <a:cs typeface="Amiri" pitchFamily="2" charset="-78"/>
              </a:rPr>
              <a:t> aman · Arabic: security · Urdu: peace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Climate impacts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تَغَيُّرُ المَنَاخِ</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climate change</a:t>
            </a:r>
            <a:endParaRPr lang="en-US" sz="1350" dirty="0"/>
          </a:p>
          <a:p>
            <a:pPr indent="0" marL="0">
              <a:buNone/>
            </a:pPr>
            <a:r>
              <a:rPr lang="en-US" sz="1100" i="1" dirty="0">
                <a:solidFill>
                  <a:srgbClr val="5A6472"/>
                </a:solidFill>
                <a:latin typeface="Calibri" pitchFamily="34" charset="0"/>
                <a:cs typeface="Amiri" pitchFamily="2" charset="-78"/>
              </a:rPr>
              <a:t>ta-ghay-yu-ru al-ma-nā-khi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ارْتِفَاعُ مُسْتَوَى البَحْرِ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sea-level rise</a:t>
            </a:r>
            <a:endParaRPr lang="en-US" sz="1350" dirty="0"/>
          </a:p>
          <a:p>
            <a:pPr indent="0" marL="0">
              <a:buNone/>
            </a:pPr>
            <a:r>
              <a:rPr lang="en-US" sz="1100" i="1" dirty="0">
                <a:solidFill>
                  <a:srgbClr val="5A6472"/>
                </a:solidFill>
                <a:latin typeface="Calibri" pitchFamily="34" charset="0"/>
                <a:cs typeface="Amiri" pitchFamily="2" charset="-78"/>
              </a:rPr>
              <a:t>ar-ti-fā-ʿu mus-ta-wā al-baḥ-ri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التَّصَحُّرُ المُتَسَارِعُ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accelerating desertification</a:t>
            </a:r>
            <a:endParaRPr lang="en-US" sz="1350" dirty="0"/>
          </a:p>
          <a:p>
            <a:pPr indent="0" marL="0">
              <a:buNone/>
            </a:pPr>
            <a:r>
              <a:rPr lang="en-US" sz="1100" i="1" dirty="0">
                <a:solidFill>
                  <a:srgbClr val="5A6472"/>
                </a:solidFill>
                <a:latin typeface="Calibri" pitchFamily="34" charset="0"/>
                <a:cs typeface="Amiri" pitchFamily="2" charset="-78"/>
              </a:rPr>
              <a:t>at-ta-ṣaḥ-ḥu-ru al-mu-ta-sā-ri-ʿu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شُحُّ المِيَاهِ</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scarcity</a:t>
            </a:r>
            <a:endParaRPr lang="en-US" sz="1350" dirty="0"/>
          </a:p>
          <a:p>
            <a:pPr indent="0" marL="0">
              <a:buNone/>
            </a:pPr>
            <a:r>
              <a:rPr lang="en-US" sz="1100" i="1" dirty="0">
                <a:solidFill>
                  <a:srgbClr val="5A6472"/>
                </a:solidFill>
                <a:latin typeface="Calibri" pitchFamily="34" charset="0"/>
                <a:cs typeface="Amiri" pitchFamily="2" charset="-78"/>
              </a:rPr>
              <a:t>shuḥ-ḥu al-mi-yā-hi</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Climate impacts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مَوْجَةُ حَرٍّ قَاتِلَةٌ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deadly heat wave</a:t>
            </a:r>
            <a:endParaRPr lang="en-US" sz="1350" dirty="0"/>
          </a:p>
          <a:p>
            <a:pPr indent="0" marL="0">
              <a:buNone/>
            </a:pPr>
            <a:r>
              <a:rPr lang="en-US" sz="1100" i="1" dirty="0">
                <a:solidFill>
                  <a:srgbClr val="5A6472"/>
                </a:solidFill>
                <a:latin typeface="Calibri" pitchFamily="34" charset="0"/>
                <a:cs typeface="Amiri" pitchFamily="2" charset="-78"/>
              </a:rPr>
              <a:t>maw-ja-tu ḥar-rin qā-ti-la-tun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مَوْجَاتُ حَرٍّ قَاتِلَةٌ</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8" name="Shape 25"/>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هِجْرَةٌ مَنَاخِيَّةٌ</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climate migration</a:t>
            </a:r>
            <a:endParaRPr lang="en-US" sz="1350" dirty="0"/>
          </a:p>
          <a:p>
            <a:pPr indent="0" marL="0">
              <a:buNone/>
            </a:pPr>
            <a:r>
              <a:rPr lang="en-US" sz="1100" i="1" dirty="0">
                <a:solidFill>
                  <a:srgbClr val="5A6472"/>
                </a:solidFill>
                <a:latin typeface="Calibri" pitchFamily="34" charset="0"/>
                <a:cs typeface="Amiri" pitchFamily="2" charset="-78"/>
              </a:rPr>
              <a:t>hij-ra-tun ma-nā-khiy-ya-tun</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هِجْرَاتٌ مَنَاخِيَّةٌ</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0" name="Shape 3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لَاجِئُونَ مَنَاخِيُّونَ</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climate refugees</a:t>
            </a:r>
            <a:endParaRPr lang="en-US" sz="1350" dirty="0"/>
          </a:p>
          <a:p>
            <a:pPr indent="0" marL="0">
              <a:buNone/>
            </a:pPr>
            <a:r>
              <a:rPr lang="en-US" sz="1100" i="1" dirty="0">
                <a:solidFill>
                  <a:srgbClr val="5A6472"/>
                </a:solidFill>
                <a:latin typeface="Calibri" pitchFamily="34" charset="0"/>
                <a:cs typeface="Amiri" pitchFamily="2" charset="-78"/>
              </a:rPr>
              <a:t>lā-ji-ʾū-na ma-nā-khiy-yū-na</a:t>
            </a:r>
            <a:endParaRPr lang="en-US" sz="1350" dirty="0"/>
          </a:p>
        </p:txBody>
      </p:sp>
      <p:sp>
        <p:nvSpPr>
          <p:cNvPr id="44" name="Shape 4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pl.</a:t>
            </a:r>
            <a:endParaRPr lang="en-US" sz="700" dirty="0"/>
          </a:p>
        </p:txBody>
      </p:sp>
      <p:sp>
        <p:nvSpPr>
          <p:cNvPr id="46" name="Text 4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لَاجِئَاتٌ مَنَاخِيَّاتٌ</a:t>
            </a:r>
            <a:endParaRPr lang="ar-SA" sz="1350" dirty="0"/>
          </a:p>
        </p:txBody>
      </p:sp>
      <p:sp>
        <p:nvSpPr>
          <p:cNvPr id="47" name="Shape 4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sg.</a:t>
            </a:r>
            <a:endParaRPr lang="en-US" sz="700" dirty="0"/>
          </a:p>
        </p:txBody>
      </p:sp>
      <p:sp>
        <p:nvSpPr>
          <p:cNvPr id="49" name="Text 4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لَاجِئٌ مَنَاخِيٌّ</a:t>
            </a:r>
            <a:endParaRPr lang="ar-SA" sz="135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3" name="Shape 5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الأَمْنُ الغِذَائِيُّ</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food security</a:t>
            </a:r>
            <a:endParaRPr lang="en-US" sz="1350" dirty="0"/>
          </a:p>
          <a:p>
            <a:pPr indent="0" marL="0">
              <a:buNone/>
            </a:pPr>
            <a:r>
              <a:rPr lang="en-US" sz="1100" i="1" dirty="0">
                <a:solidFill>
                  <a:srgbClr val="5A6472"/>
                </a:solidFill>
                <a:latin typeface="Calibri" pitchFamily="34" charset="0"/>
                <a:cs typeface="Amiri" pitchFamily="2" charset="-78"/>
              </a:rPr>
              <a:t>al-am-nu al-ghi-dhā-ʾiy-yu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Volition verbs (+ subjunctive) (1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يَتَطَلَّبُ أَنْ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requires that</a:t>
            </a:r>
            <a:endParaRPr lang="en-US" sz="1350" dirty="0"/>
          </a:p>
          <a:p>
            <a:pPr indent="0" marL="0">
              <a:buNone/>
            </a:pPr>
            <a:r>
              <a:rPr lang="en-US" sz="1100" i="1" dirty="0">
                <a:solidFill>
                  <a:srgbClr val="5A6472"/>
                </a:solidFill>
                <a:latin typeface="Calibri" pitchFamily="34" charset="0"/>
                <a:cs typeface="Amiri" pitchFamily="2" charset="-78"/>
              </a:rPr>
              <a:t>ya-ta-ṭal-la-bu an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تَتَطَلَّبُ أَنْ</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0" name="Shape 27"/>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يَخْشَى أَنْ</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fears that</a:t>
            </a:r>
            <a:endParaRPr lang="en-US" sz="1350" dirty="0"/>
          </a:p>
          <a:p>
            <a:pPr indent="0" marL="0">
              <a:buNone/>
            </a:pPr>
            <a:r>
              <a:rPr lang="en-US" sz="1100" i="1" dirty="0">
                <a:solidFill>
                  <a:srgbClr val="5A6472"/>
                </a:solidFill>
                <a:latin typeface="Calibri" pitchFamily="34" charset="0"/>
                <a:cs typeface="Amiri" pitchFamily="2" charset="-78"/>
              </a:rPr>
              <a:t>yakh-shā an</a:t>
            </a:r>
            <a:endParaRPr lang="en-US" sz="1350" dirty="0"/>
          </a:p>
        </p:txBody>
      </p:sp>
      <p:sp>
        <p:nvSpPr>
          <p:cNvPr id="36" name="Shape 33"/>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8" name="Text 35"/>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تَخْشَى أَنْ</a:t>
            </a:r>
            <a:endParaRPr lang="ar-SA" sz="1500" dirty="0"/>
          </a:p>
        </p:txBody>
      </p:sp>
      <p:sp>
        <p:nvSpPr>
          <p:cNvPr id="39" name="Shape 36"/>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1" name="Text 38"/>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أَخْشَى أَنْ</a:t>
            </a:r>
            <a:endParaRPr lang="ar-SA" sz="150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5" name="Shape 42"/>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يَرْجُو أَنْ</a:t>
            </a:r>
            <a:endParaRPr lang="ar-SA" sz="3000" dirty="0"/>
          </a:p>
        </p:txBody>
      </p:sp>
      <p:sp>
        <p:nvSpPr>
          <p:cNvPr id="50" name="Text 4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hopes that</a:t>
            </a:r>
            <a:endParaRPr lang="en-US" sz="1350" dirty="0"/>
          </a:p>
          <a:p>
            <a:pPr indent="0" marL="0">
              <a:buNone/>
            </a:pPr>
            <a:r>
              <a:rPr lang="en-US" sz="1100" i="1" dirty="0">
                <a:solidFill>
                  <a:srgbClr val="5A6472"/>
                </a:solidFill>
                <a:latin typeface="Calibri" pitchFamily="34" charset="0"/>
                <a:cs typeface="Amiri" pitchFamily="2" charset="-78"/>
              </a:rPr>
              <a:t>yar-jū an</a:t>
            </a:r>
            <a:endParaRPr lang="en-US" sz="1350" dirty="0"/>
          </a:p>
        </p:txBody>
      </p:sp>
      <p:sp>
        <p:nvSpPr>
          <p:cNvPr id="51" name="Shape 48"/>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3" name="Text 50"/>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تَرْجُو أَنْ</a:t>
            </a:r>
            <a:endParaRPr lang="ar-SA" sz="1500" dirty="0"/>
          </a:p>
        </p:txBody>
      </p:sp>
      <p:sp>
        <p:nvSpPr>
          <p:cNvPr id="54" name="Shape 51"/>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6" name="Text 53"/>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أَرْجُو أَنْ</a:t>
            </a:r>
            <a:endParaRPr lang="ar-SA" sz="150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0" name="Shape 57"/>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يُرِيدُ أَنْ</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wants to</a:t>
            </a:r>
            <a:endParaRPr lang="en-US" sz="1350" dirty="0"/>
          </a:p>
          <a:p>
            <a:pPr indent="0" marL="0">
              <a:buNone/>
            </a:pPr>
            <a:r>
              <a:rPr lang="en-US" sz="1100" i="1" dirty="0">
                <a:solidFill>
                  <a:srgbClr val="5A6472"/>
                </a:solidFill>
                <a:latin typeface="Calibri" pitchFamily="34" charset="0"/>
                <a:cs typeface="Amiri" pitchFamily="2" charset="-78"/>
              </a:rPr>
              <a:t>yu-rī-du an</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تُرِيدُ أَنْ</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9" name="Text 66"/>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أُرِيدُ أَنْ</a:t>
            </a:r>
            <a:endParaRPr lang="ar-SA" sz="15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Volition verbs (+ subjunctive) (2 of 2)</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يَقْتَضِي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necessitates</a:t>
            </a:r>
            <a:endParaRPr lang="en-US" sz="1350" dirty="0"/>
          </a:p>
          <a:p>
            <a:pPr indent="0" marL="0">
              <a:buNone/>
            </a:pPr>
            <a:r>
              <a:rPr lang="en-US" sz="1100" i="1" dirty="0">
                <a:solidFill>
                  <a:srgbClr val="5A6472"/>
                </a:solidFill>
                <a:latin typeface="Calibri" pitchFamily="34" charset="0"/>
                <a:cs typeface="Amiri" pitchFamily="2" charset="-78"/>
              </a:rPr>
              <a:t>yaq-ta-ḍī</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تَقْتَضِي</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يَهْدِفُ إِلَى</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aims to</a:t>
            </a:r>
            <a:endParaRPr lang="en-US" sz="1350" dirty="0"/>
          </a:p>
          <a:p>
            <a:pPr indent="0" marL="0">
              <a:buNone/>
            </a:pPr>
            <a:r>
              <a:rPr lang="en-US" sz="1100" i="1" dirty="0">
                <a:solidFill>
                  <a:srgbClr val="5A6472"/>
                </a:solidFill>
                <a:latin typeface="Calibri" pitchFamily="34" charset="0"/>
                <a:cs typeface="Amiri" pitchFamily="2" charset="-78"/>
              </a:rPr>
              <a:t>yah-di-fu i-lā</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تَهْدِفُ إِلَى</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0" name="Shape 3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Final fatḥa.</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الفِعْلُ المَنْصُوبُ</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verb</a:t>
            </a:r>
            <a:endParaRPr lang="en-US" sz="1350" dirty="0"/>
          </a:p>
          <a:p>
            <a:pPr indent="0" marL="0">
              <a:buNone/>
            </a:pPr>
            <a:r>
              <a:rPr lang="en-US" sz="1100" i="1" dirty="0">
                <a:solidFill>
                  <a:srgbClr val="5A6472"/>
                </a:solidFill>
                <a:latin typeface="Calibri" pitchFamily="34" charset="0"/>
                <a:cs typeface="Amiri" pitchFamily="2" charset="-78"/>
              </a:rPr>
              <a:t>al-fiʿ-lu al-man-ṣū-bu</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فَتْحَةُ النَّصْبِ</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fatḥa</a:t>
            </a:r>
            <a:endParaRPr lang="en-US" sz="1350" dirty="0"/>
          </a:p>
          <a:p>
            <a:pPr indent="0" marL="0">
              <a:buNone/>
            </a:pPr>
            <a:r>
              <a:rPr lang="en-US" sz="1100" i="1" dirty="0">
                <a:solidFill>
                  <a:srgbClr val="5A6472"/>
                </a:solidFill>
                <a:latin typeface="Calibri" pitchFamily="34" charset="0"/>
                <a:cs typeface="Amiri" pitchFamily="2" charset="-78"/>
              </a:rPr>
              <a:t>fat-ḥa-tu an-naṣ-bi</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Responses and policy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الإِرَادَةُ السِّيَاسِيَّةُ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political will</a:t>
            </a:r>
            <a:endParaRPr lang="en-US" sz="1350" dirty="0"/>
          </a:p>
          <a:p>
            <a:pPr indent="0" marL="0">
              <a:buNone/>
            </a:pPr>
            <a:r>
              <a:rPr lang="en-US" sz="1100" i="1" dirty="0">
                <a:solidFill>
                  <a:srgbClr val="5A6472"/>
                </a:solidFill>
                <a:latin typeface="Calibri" pitchFamily="34" charset="0"/>
                <a:cs typeface="Amiri" pitchFamily="2" charset="-78"/>
              </a:rPr>
              <a:t>al-i-rā-da-tu as-si-yā-siy-ya-tu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اتِّفَاقِيَّةُ المَنَاخِ</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climate agreement</a:t>
            </a:r>
            <a:endParaRPr lang="en-US" sz="1350" dirty="0"/>
          </a:p>
          <a:p>
            <a:pPr indent="0" marL="0">
              <a:buNone/>
            </a:pPr>
            <a:r>
              <a:rPr lang="en-US" sz="1100" i="1" dirty="0">
                <a:solidFill>
                  <a:srgbClr val="5A6472"/>
                </a:solidFill>
                <a:latin typeface="Calibri" pitchFamily="34" charset="0"/>
                <a:cs typeface="Amiri" pitchFamily="2" charset="-78"/>
              </a:rPr>
              <a:t>at-ti-fā-qiy-ya-tu al-ma-nā-khi</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اتِّفَاقِيَّاتُ المَنَاخِ</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تَمْوِيلٌ مَنَاخِيٌّ</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climate finance</a:t>
            </a:r>
            <a:endParaRPr lang="en-US" sz="1350" dirty="0"/>
          </a:p>
          <a:p>
            <a:pPr indent="0" marL="0">
              <a:buNone/>
            </a:pPr>
            <a:r>
              <a:rPr lang="en-US" sz="1100" i="1" dirty="0">
                <a:solidFill>
                  <a:srgbClr val="5A6472"/>
                </a:solidFill>
                <a:latin typeface="Calibri" pitchFamily="34" charset="0"/>
                <a:cs typeface="Amiri" pitchFamily="2" charset="-78"/>
              </a:rPr>
              <a:t>tam-wī-lun ma-nā-khiy-yun</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انْتِقَالٌ طَاقَوِيٌّ</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energy transition</a:t>
            </a:r>
            <a:endParaRPr lang="en-US" sz="1350" dirty="0"/>
          </a:p>
          <a:p>
            <a:pPr indent="0" marL="0">
              <a:buNone/>
            </a:pPr>
            <a:r>
              <a:rPr lang="en-US" sz="1100" i="1" dirty="0">
                <a:solidFill>
                  <a:srgbClr val="5A6472"/>
                </a:solidFill>
                <a:latin typeface="Calibri" pitchFamily="34" charset="0"/>
                <a:cs typeface="Amiri" pitchFamily="2" charset="-78"/>
              </a:rPr>
              <a:t>an-ti-qā-lun ṭā-qa-wiy-yun</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Responses and policy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تَدَابِيرُ عَاجِلَةٌ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urgent measures</a:t>
            </a:r>
            <a:endParaRPr lang="en-US" sz="1350" dirty="0"/>
          </a:p>
          <a:p>
            <a:pPr indent="0" marL="0">
              <a:buNone/>
            </a:pPr>
            <a:r>
              <a:rPr lang="en-US" sz="1100" i="1" dirty="0">
                <a:solidFill>
                  <a:srgbClr val="5A6472"/>
                </a:solidFill>
                <a:latin typeface="Calibri" pitchFamily="34" charset="0"/>
                <a:cs typeface="Amiri" pitchFamily="2" charset="-78"/>
              </a:rPr>
              <a:t>ta-dā-bī-ru ʿā-ji-la-tun</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تَدْبِيرٌ عَاجِلٌ</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الطَّاقَةُ الشَّمْسِيَّةُ</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solar energy</a:t>
            </a:r>
            <a:endParaRPr lang="en-US" sz="1350" dirty="0"/>
          </a:p>
          <a:p>
            <a:pPr indent="0" marL="0">
              <a:buNone/>
            </a:pPr>
            <a:r>
              <a:rPr lang="en-US" sz="1100" i="1" dirty="0">
                <a:solidFill>
                  <a:srgbClr val="5A6472"/>
                </a:solidFill>
                <a:latin typeface="Calibri" pitchFamily="34" charset="0"/>
                <a:cs typeface="Amiri" pitchFamily="2" charset="-78"/>
              </a:rPr>
              <a:t>aṭ-ṭā-qa-tu ash-sham-siy-ya-tu</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خَفْضُ الانْبِعَاثَاتِ</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cutting emissions</a:t>
            </a:r>
            <a:endParaRPr lang="en-US" sz="1350" dirty="0"/>
          </a:p>
          <a:p>
            <a:pPr indent="0" marL="0">
              <a:buNone/>
            </a:pPr>
            <a:r>
              <a:rPr lang="en-US" sz="1100" i="1" dirty="0">
                <a:solidFill>
                  <a:srgbClr val="5A6472"/>
                </a:solidFill>
                <a:latin typeface="Calibri" pitchFamily="34" charset="0"/>
                <a:cs typeface="Amiri" pitchFamily="2" charset="-78"/>
              </a:rPr>
              <a:t>khaf-ḍu aln-bi-ʿā-thā-ti</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مُسَاهَمَةٌ فِي الحَلِّ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contribution to the solution</a:t>
            </a:r>
            <a:endParaRPr lang="en-US" sz="1350" dirty="0"/>
          </a:p>
          <a:p>
            <a:pPr indent="0" marL="0">
              <a:buNone/>
            </a:pPr>
            <a:r>
              <a:rPr lang="en-US" sz="1100" i="1" dirty="0">
                <a:solidFill>
                  <a:srgbClr val="5A6472"/>
                </a:solidFill>
                <a:latin typeface="Calibri" pitchFamily="34" charset="0"/>
                <a:cs typeface="Amiri" pitchFamily="2" charset="-78"/>
              </a:rPr>
              <a:t>mu-sā-ha-ma-tun fī al-ḥal-li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THREE MOODS OF CRISIS (WEBSITE RULES 1–3 + TEACHING POINT 2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Require, fear, hope — + 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أَفْعَالُ الإِرَادَةِ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382512" y="1810512"/>
            <a:ext cx="5276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46227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follows</a:t>
            </a:r>
            <a:endParaRPr lang="en-US" sz="1100" dirty="0"/>
          </a:p>
        </p:txBody>
      </p:sp>
      <p:sp>
        <p:nvSpPr>
          <p:cNvPr id="18" name="Text 15"/>
          <p:cNvSpPr txBox="1"/>
          <p:nvPr/>
        </p:nvSpPr>
        <p:spPr>
          <a:xfrm>
            <a:off x="2816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Mood</a:t>
            </a:r>
            <a:endParaRPr lang="en-US" sz="1100" dirty="0"/>
          </a:p>
        </p:txBody>
      </p:sp>
      <p:sp>
        <p:nvSpPr>
          <p:cNvPr id="19" name="Text 16"/>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6400800" y="2267712"/>
            <a:ext cx="523951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يَتَطَلَّبُ الوَضْعُ أَنْ </a:t>
            </a:r>
            <a:pPr rtl="1" algn="ctr" indent="0" marL="0">
              <a:buNone/>
            </a:pPr>
            <a:r>
              <a:rPr lang="ar-SA" altLang="en-US" sz="1700" b="1" dirty="0">
                <a:solidFill>
                  <a:srgbClr val="0E7C86"/>
                </a:solidFill>
                <a:latin typeface="Amiri" pitchFamily="2" charset="-78"/>
                <a:cs typeface="Amiri" pitchFamily="2" charset="-78"/>
              </a:rPr>
              <a:t>تَتَّخِذَ</a:t>
            </a:r>
            <a:pPr rtl="1" algn="ctr" indent="0" marL="0">
              <a:buNone/>
            </a:pPr>
            <a:r>
              <a:rPr lang="ar-SA" altLang="en-US" sz="1700" b="1" dirty="0">
                <a:solidFill>
                  <a:srgbClr val="1B3B6F"/>
                </a:solidFill>
                <a:latin typeface="Amiri" pitchFamily="2" charset="-78"/>
                <a:cs typeface="Amiri" pitchFamily="2" charset="-78"/>
              </a:rPr>
              <a:t> الحُكُومَاتُ تَدَابِيرَ.</a:t>
            </a:r>
            <a:endParaRPr lang="ar-SA" sz="1700" dirty="0"/>
          </a:p>
        </p:txBody>
      </p:sp>
      <p:sp>
        <p:nvSpPr>
          <p:cNvPr id="22" name="Text 19"/>
          <p:cNvSpPr txBox="1"/>
          <p:nvPr/>
        </p:nvSpPr>
        <p:spPr>
          <a:xfrm>
            <a:off x="4498848" y="2267712"/>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in -a</a:t>
            </a:r>
            <a:endParaRPr lang="en-US" sz="1100" dirty="0"/>
          </a:p>
        </p:txBody>
      </p:sp>
      <p:sp>
        <p:nvSpPr>
          <p:cNvPr id="23" name="Text 20"/>
          <p:cNvSpPr txBox="1"/>
          <p:nvPr/>
        </p:nvSpPr>
        <p:spPr>
          <a:xfrm>
            <a:off x="2852928" y="2267712"/>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requirement</a:t>
            </a:r>
            <a:endParaRPr lang="en-US" sz="1100" dirty="0"/>
          </a:p>
        </p:txBody>
      </p:sp>
      <p:sp>
        <p:nvSpPr>
          <p:cNvPr id="24" name="Text 21"/>
          <p:cNvSpPr txBox="1"/>
          <p:nvPr/>
        </p:nvSpPr>
        <p:spPr>
          <a:xfrm>
            <a:off x="548640" y="2267712"/>
            <a:ext cx="210312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يَتَطَلَّبُ أَنْ</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6400800" y="2881884"/>
            <a:ext cx="523951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يَخْشَى العُلَمَاءُ أَنْ </a:t>
            </a:r>
            <a:pPr rtl="1" algn="ctr" indent="0" marL="0">
              <a:buNone/>
            </a:pPr>
            <a:r>
              <a:rPr lang="ar-SA" altLang="en-US" sz="1700" b="1" dirty="0">
                <a:solidFill>
                  <a:srgbClr val="D6336C"/>
                </a:solidFill>
                <a:latin typeface="Amiri" pitchFamily="2" charset="-78"/>
                <a:cs typeface="Amiri" pitchFamily="2" charset="-78"/>
              </a:rPr>
              <a:t>تَتَجَاوَزَ</a:t>
            </a:r>
            <a:pPr rtl="1" algn="ctr" indent="0" marL="0">
              <a:buNone/>
            </a:pPr>
            <a:r>
              <a:rPr lang="ar-SA" altLang="en-US" sz="1700" b="1" dirty="0">
                <a:solidFill>
                  <a:srgbClr val="1B3B6F"/>
                </a:solidFill>
                <a:latin typeface="Amiri" pitchFamily="2" charset="-78"/>
                <a:cs typeface="Amiri" pitchFamily="2" charset="-78"/>
              </a:rPr>
              <a:t> الحَرَارَةُ حَدًّا خَطِيرًا.</a:t>
            </a:r>
            <a:endParaRPr lang="ar-SA" sz="1700" dirty="0"/>
          </a:p>
        </p:txBody>
      </p:sp>
      <p:sp>
        <p:nvSpPr>
          <p:cNvPr id="29" name="Text 26"/>
          <p:cNvSpPr txBox="1"/>
          <p:nvPr/>
        </p:nvSpPr>
        <p:spPr>
          <a:xfrm>
            <a:off x="4498848" y="2881884"/>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in -a</a:t>
            </a:r>
            <a:endParaRPr lang="en-US" sz="1100" dirty="0"/>
          </a:p>
        </p:txBody>
      </p:sp>
      <p:sp>
        <p:nvSpPr>
          <p:cNvPr id="30" name="Text 27"/>
          <p:cNvSpPr txBox="1"/>
          <p:nvPr/>
        </p:nvSpPr>
        <p:spPr>
          <a:xfrm>
            <a:off x="2852928" y="2881884"/>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fear</a:t>
            </a:r>
            <a:endParaRPr lang="en-US" sz="1100" dirty="0"/>
          </a:p>
        </p:txBody>
      </p:sp>
      <p:sp>
        <p:nvSpPr>
          <p:cNvPr id="31" name="Text 28"/>
          <p:cNvSpPr txBox="1"/>
          <p:nvPr/>
        </p:nvSpPr>
        <p:spPr>
          <a:xfrm>
            <a:off x="548640" y="2881884"/>
            <a:ext cx="2103120" cy="559308"/>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يَخْشَى أَنْ</a:t>
            </a:r>
            <a:endParaRPr lang="ar-SA" sz="20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6400800" y="3496056"/>
            <a:ext cx="523951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يَرْجُو المُجْتَمَعُ أَنْ </a:t>
            </a:r>
            <a:pPr rtl="1" algn="ctr" indent="0" marL="0">
              <a:buNone/>
            </a:pPr>
            <a:r>
              <a:rPr lang="ar-SA" altLang="en-US" sz="1700" b="1" dirty="0">
                <a:solidFill>
                  <a:srgbClr val="1D5FBF"/>
                </a:solidFill>
                <a:latin typeface="Amiri" pitchFamily="2" charset="-78"/>
                <a:cs typeface="Amiri" pitchFamily="2" charset="-78"/>
              </a:rPr>
              <a:t>تُوَقِّعَ</a:t>
            </a:r>
            <a:pPr rtl="1" algn="ctr" indent="0" marL="0">
              <a:buNone/>
            </a:pPr>
            <a:r>
              <a:rPr lang="ar-SA" altLang="en-US" sz="1700" b="1" dirty="0">
                <a:solidFill>
                  <a:srgbClr val="1B3B6F"/>
                </a:solidFill>
                <a:latin typeface="Amiri" pitchFamily="2" charset="-78"/>
                <a:cs typeface="Amiri" pitchFamily="2" charset="-78"/>
              </a:rPr>
              <a:t> الدُّوَلُ الاتِّفَاقِيَّةَ.</a:t>
            </a:r>
            <a:endParaRPr lang="ar-SA" sz="1700" dirty="0"/>
          </a:p>
        </p:txBody>
      </p:sp>
      <p:sp>
        <p:nvSpPr>
          <p:cNvPr id="36" name="Text 33"/>
          <p:cNvSpPr txBox="1"/>
          <p:nvPr/>
        </p:nvSpPr>
        <p:spPr>
          <a:xfrm>
            <a:off x="4498848" y="3496056"/>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in -a</a:t>
            </a:r>
            <a:endParaRPr lang="en-US" sz="1100" dirty="0"/>
          </a:p>
        </p:txBody>
      </p:sp>
      <p:sp>
        <p:nvSpPr>
          <p:cNvPr id="37" name="Text 34"/>
          <p:cNvSpPr txBox="1"/>
          <p:nvPr/>
        </p:nvSpPr>
        <p:spPr>
          <a:xfrm>
            <a:off x="2852928" y="3496056"/>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hope</a:t>
            </a:r>
            <a:endParaRPr lang="en-US" sz="1100" dirty="0"/>
          </a:p>
        </p:txBody>
      </p:sp>
      <p:sp>
        <p:nvSpPr>
          <p:cNvPr id="38" name="Text 35"/>
          <p:cNvSpPr txBox="1"/>
          <p:nvPr/>
        </p:nvSpPr>
        <p:spPr>
          <a:xfrm>
            <a:off x="548640" y="3496056"/>
            <a:ext cx="2103120" cy="559308"/>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يَرْجُو أَنْ</a:t>
            </a:r>
            <a:endParaRPr lang="ar-SA" sz="20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6400800" y="4110228"/>
            <a:ext cx="523951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نُرِيدُ أَنْ </a:t>
            </a:r>
            <a:pPr rtl="1" algn="ctr" indent="0" marL="0">
              <a:buNone/>
            </a:pPr>
            <a:r>
              <a:rPr lang="ar-SA" altLang="en-US" sz="1700" b="1" dirty="0">
                <a:solidFill>
                  <a:srgbClr val="7B3FA0"/>
                </a:solidFill>
                <a:latin typeface="Amiri" pitchFamily="2" charset="-78"/>
                <a:cs typeface="Amiri" pitchFamily="2" charset="-78"/>
              </a:rPr>
              <a:t>نَبْنِيَ</a:t>
            </a:r>
            <a:pPr rtl="1" algn="ctr" indent="0" marL="0">
              <a:buNone/>
            </a:pPr>
            <a:r>
              <a:rPr lang="ar-SA" altLang="en-US" sz="1700" b="1" dirty="0">
                <a:solidFill>
                  <a:srgbClr val="1B3B6F"/>
                </a:solidFill>
                <a:latin typeface="Amiri" pitchFamily="2" charset="-78"/>
                <a:cs typeface="Amiri" pitchFamily="2" charset="-78"/>
              </a:rPr>
              <a:t> مُسْتَقْبَلًا أَنْظَفَ.</a:t>
            </a:r>
            <a:endParaRPr lang="ar-SA" sz="1700" dirty="0"/>
          </a:p>
        </p:txBody>
      </p:sp>
      <p:sp>
        <p:nvSpPr>
          <p:cNvPr id="43" name="Text 40"/>
          <p:cNvSpPr txBox="1"/>
          <p:nvPr/>
        </p:nvSpPr>
        <p:spPr>
          <a:xfrm>
            <a:off x="4498848" y="4110228"/>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in -a</a:t>
            </a:r>
            <a:endParaRPr lang="en-US" sz="1100" dirty="0"/>
          </a:p>
        </p:txBody>
      </p:sp>
      <p:sp>
        <p:nvSpPr>
          <p:cNvPr id="44" name="Text 41"/>
          <p:cNvSpPr txBox="1"/>
          <p:nvPr/>
        </p:nvSpPr>
        <p:spPr>
          <a:xfrm>
            <a:off x="2852928" y="4110228"/>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desire</a:t>
            </a:r>
            <a:endParaRPr lang="en-US" sz="1100" dirty="0"/>
          </a:p>
        </p:txBody>
      </p:sp>
      <p:sp>
        <p:nvSpPr>
          <p:cNvPr id="45" name="Text 42"/>
          <p:cNvSpPr txBox="1"/>
          <p:nvPr/>
        </p:nvSpPr>
        <p:spPr>
          <a:xfrm>
            <a:off x="548640" y="4110228"/>
            <a:ext cx="2103120" cy="559308"/>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cs typeface="Amiri" pitchFamily="2" charset="-78"/>
              </a:rPr>
              <a:t>يُرِيدُ أَنْ</a:t>
            </a:r>
            <a:endParaRPr lang="ar-SA" sz="20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6400800" y="4724400"/>
            <a:ext cx="523951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يَقْتَضِي الأَمْرُ </a:t>
            </a:r>
            <a:pPr rtl="1" algn="ctr" indent="0" marL="0">
              <a:buNone/>
            </a:pPr>
            <a:r>
              <a:rPr lang="ar-SA" altLang="en-US" sz="1700" b="1" dirty="0">
                <a:solidFill>
                  <a:srgbClr val="C77700"/>
                </a:solidFill>
                <a:latin typeface="Amiri" pitchFamily="2" charset="-78"/>
                <a:cs typeface="Amiri" pitchFamily="2" charset="-78"/>
              </a:rPr>
              <a:t>تَعَاوُنًا</a:t>
            </a:r>
            <a:pPr rtl="1" algn="ctr" indent="0" marL="0">
              <a:buNone/>
            </a:pPr>
            <a:r>
              <a:rPr lang="ar-SA" altLang="en-US" sz="1700" b="1" dirty="0">
                <a:solidFill>
                  <a:srgbClr val="1B3B6F"/>
                </a:solidFill>
                <a:latin typeface="Amiri" pitchFamily="2" charset="-78"/>
                <a:cs typeface="Amiri" pitchFamily="2" charset="-78"/>
              </a:rPr>
              <a:t> إِقْلِيمِيًّا.</a:t>
            </a:r>
            <a:endParaRPr lang="ar-SA" sz="1700" dirty="0"/>
          </a:p>
        </p:txBody>
      </p:sp>
      <p:sp>
        <p:nvSpPr>
          <p:cNvPr id="48" name="Text 45"/>
          <p:cNvSpPr txBox="1"/>
          <p:nvPr/>
        </p:nvSpPr>
        <p:spPr>
          <a:xfrm>
            <a:off x="4498848" y="4724400"/>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49" name="Text 46"/>
          <p:cNvSpPr txBox="1"/>
          <p:nvPr/>
        </p:nvSpPr>
        <p:spPr>
          <a:xfrm>
            <a:off x="2852928" y="4724400"/>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a:t>
            </a:r>
            <a:endParaRPr lang="en-US" sz="1100" dirty="0"/>
          </a:p>
        </p:txBody>
      </p:sp>
      <p:sp>
        <p:nvSpPr>
          <p:cNvPr id="50" name="Text 47"/>
          <p:cNvSpPr txBox="1"/>
          <p:nvPr/>
        </p:nvSpPr>
        <p:spPr>
          <a:xfrm>
            <a:off x="548640" y="4724400"/>
            <a:ext cx="2103120" cy="559308"/>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cs typeface="Amiri" pitchFamily="2" charset="-78"/>
              </a:rPr>
              <a:t>يَقْتَضِي</a:t>
            </a:r>
            <a:endParaRPr lang="ar-SA" sz="20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6400800" y="5338572"/>
            <a:ext cx="523951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تَهْدِفُ الاتِّفَاقِيَّةُ </a:t>
            </a:r>
            <a:pPr rtl="1" algn="ctr" indent="0" marL="0">
              <a:buNone/>
            </a:pPr>
            <a:r>
              <a:rPr lang="ar-SA" altLang="en-US" sz="1700" b="1" dirty="0">
                <a:solidFill>
                  <a:srgbClr val="C77700"/>
                </a:solidFill>
                <a:latin typeface="Amiri" pitchFamily="2" charset="-78"/>
                <a:cs typeface="Amiri" pitchFamily="2" charset="-78"/>
              </a:rPr>
              <a:t>إِلَى</a:t>
            </a:r>
            <a:pPr rtl="1" algn="ctr" indent="0" marL="0">
              <a:buNone/>
            </a:pPr>
            <a:r>
              <a:rPr lang="ar-SA" altLang="en-US" sz="1700" b="1" dirty="0">
                <a:solidFill>
                  <a:srgbClr val="1B3B6F"/>
                </a:solidFill>
                <a:latin typeface="Amiri" pitchFamily="2" charset="-78"/>
                <a:cs typeface="Amiri" pitchFamily="2" charset="-78"/>
              </a:rPr>
              <a:t> خَفْضِ الانْبِعَاثَاتِ.</a:t>
            </a:r>
            <a:endParaRPr lang="ar-SA" sz="1700" dirty="0"/>
          </a:p>
        </p:txBody>
      </p:sp>
      <p:sp>
        <p:nvSpPr>
          <p:cNvPr id="53" name="Text 50"/>
          <p:cNvSpPr txBox="1"/>
          <p:nvPr/>
        </p:nvSpPr>
        <p:spPr>
          <a:xfrm>
            <a:off x="4498848" y="5338572"/>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 + noun</a:t>
            </a:r>
            <a:endParaRPr lang="en-US" sz="1100" dirty="0"/>
          </a:p>
        </p:txBody>
      </p:sp>
      <p:sp>
        <p:nvSpPr>
          <p:cNvPr id="54" name="Text 51"/>
          <p:cNvSpPr txBox="1"/>
          <p:nvPr/>
        </p:nvSpPr>
        <p:spPr>
          <a:xfrm>
            <a:off x="2852928" y="5338572"/>
            <a:ext cx="1463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aim</a:t>
            </a:r>
            <a:endParaRPr lang="en-US" sz="1100" dirty="0"/>
          </a:p>
        </p:txBody>
      </p:sp>
      <p:sp>
        <p:nvSpPr>
          <p:cNvPr id="55" name="Text 52"/>
          <p:cNvSpPr txBox="1"/>
          <p:nvPr/>
        </p:nvSpPr>
        <p:spPr>
          <a:xfrm>
            <a:off x="548640" y="5338572"/>
            <a:ext cx="2103120" cy="559308"/>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cs typeface="Amiri" pitchFamily="2" charset="-78"/>
              </a:rPr>
              <a:t>يَهْدِفُ إِلَى</a:t>
            </a:r>
            <a:endParaRPr lang="ar-SA" sz="20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“each puts the following verb in the subjunctive, so the mood feels natural rather than technical.”</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VERB IN -A AFTER AN (WEBSITE TEACHING POINT 1, MISTAKES 1–2 AND TEXTS)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 an: -u becomes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الفِعْلُ المَنْصُوبُ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748272" y="1810512"/>
            <a:ext cx="4910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501091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8" name="Text 15"/>
          <p:cNvSpPr txBox="1"/>
          <p:nvPr/>
        </p:nvSpPr>
        <p:spPr>
          <a:xfrm>
            <a:off x="26334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an</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Normal</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766560" y="2267712"/>
            <a:ext cx="48737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أَنْ تَتَّخِذَ الحُكُومَاتُ تَدَابِيرَ عَاجِلَةً</a:t>
            </a:r>
            <a:endParaRPr lang="ar-SA" sz="1700" dirty="0"/>
          </a:p>
        </p:txBody>
      </p:sp>
      <p:sp>
        <p:nvSpPr>
          <p:cNvPr id="22" name="Text 19"/>
          <p:cNvSpPr txBox="1"/>
          <p:nvPr/>
        </p:nvSpPr>
        <p:spPr>
          <a:xfrm>
            <a:off x="504748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a:t>
            </a:r>
            <a:endParaRPr lang="en-US" sz="1100" dirty="0"/>
          </a:p>
        </p:txBody>
      </p:sp>
      <p:sp>
        <p:nvSpPr>
          <p:cNvPr id="23" name="Text 20"/>
          <p:cNvSpPr txBox="1"/>
          <p:nvPr/>
        </p:nvSpPr>
        <p:spPr>
          <a:xfrm>
            <a:off x="2651760" y="2267712"/>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تَتَّخِذَ</a:t>
            </a:r>
            <a:endParaRPr lang="ar-SA" sz="2000" dirty="0"/>
          </a:p>
        </p:txBody>
      </p:sp>
      <p:sp>
        <p:nvSpPr>
          <p:cNvPr id="24" name="Text 21"/>
          <p:cNvSpPr txBox="1"/>
          <p:nvPr/>
        </p:nvSpPr>
        <p:spPr>
          <a:xfrm>
            <a:off x="548640" y="2267712"/>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تَتَّخِذُ</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766560" y="3004718"/>
            <a:ext cx="48737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أَنْ تُصْبِحَ بَعْضُ المُدُنِ غَيْرَ صَالِحَةٍ لِلسَّكَنِ</a:t>
            </a:r>
            <a:endParaRPr lang="ar-SA" sz="1700" dirty="0"/>
          </a:p>
        </p:txBody>
      </p:sp>
      <p:sp>
        <p:nvSpPr>
          <p:cNvPr id="29" name="Text 26"/>
          <p:cNvSpPr txBox="1"/>
          <p:nvPr/>
        </p:nvSpPr>
        <p:spPr>
          <a:xfrm>
            <a:off x="504748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a:t>
            </a:r>
            <a:endParaRPr lang="en-US" sz="1100" dirty="0"/>
          </a:p>
        </p:txBody>
      </p:sp>
      <p:sp>
        <p:nvSpPr>
          <p:cNvPr id="30" name="Text 27"/>
          <p:cNvSpPr txBox="1"/>
          <p:nvPr/>
        </p:nvSpPr>
        <p:spPr>
          <a:xfrm>
            <a:off x="2651760" y="3004718"/>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تُصْبِحَ</a:t>
            </a:r>
            <a:endParaRPr lang="ar-SA" sz="2000" dirty="0"/>
          </a:p>
        </p:txBody>
      </p:sp>
      <p:sp>
        <p:nvSpPr>
          <p:cNvPr id="31" name="Text 28"/>
          <p:cNvSpPr txBox="1"/>
          <p:nvPr/>
        </p:nvSpPr>
        <p:spPr>
          <a:xfrm>
            <a:off x="548640" y="3004718"/>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تُصْبِحُ</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766560" y="3741725"/>
            <a:ext cx="48737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أَنْ تَتَعَاوَنَ الدُّوَلُ وَأَنْ تَسْتَثْمِرَ فِي الطَّاقَةِ</a:t>
            </a:r>
            <a:endParaRPr lang="ar-SA" sz="1700" dirty="0"/>
          </a:p>
        </p:txBody>
      </p:sp>
      <p:sp>
        <p:nvSpPr>
          <p:cNvPr id="36" name="Text 33"/>
          <p:cNvSpPr txBox="1"/>
          <p:nvPr/>
        </p:nvSpPr>
        <p:spPr>
          <a:xfrm>
            <a:off x="504748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an</a:t>
            </a:r>
            <a:endParaRPr lang="en-US" sz="1100" dirty="0"/>
          </a:p>
        </p:txBody>
      </p:sp>
      <p:sp>
        <p:nvSpPr>
          <p:cNvPr id="37" name="Text 34"/>
          <p:cNvSpPr txBox="1"/>
          <p:nvPr/>
        </p:nvSpPr>
        <p:spPr>
          <a:xfrm>
            <a:off x="2651760" y="3741725"/>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تَتَعَاوَنَ</a:t>
            </a:r>
            <a:pPr rtl="1" algn="ctr" indent="0" marL="0">
              <a:buNone/>
            </a:pPr>
            <a:r>
              <a:rPr lang="ar-SA" altLang="en-US" sz="2000" b="1" dirty="0">
                <a:solidFill>
                  <a:srgbClr val="1B3B6F"/>
                </a:solidFill>
                <a:latin typeface="Amiri" pitchFamily="2" charset="-78"/>
                <a:cs typeface="Amiri" pitchFamily="2" charset="-78"/>
              </a:rPr>
              <a:t> … </a:t>
            </a:r>
            <a:pPr rtl="1" algn="ctr" indent="0" marL="0">
              <a:buNone/>
            </a:pPr>
            <a:r>
              <a:rPr lang="ar-SA" altLang="en-US" sz="2000" b="1" dirty="0">
                <a:solidFill>
                  <a:srgbClr val="0E7C86"/>
                </a:solidFill>
                <a:latin typeface="Amiri" pitchFamily="2" charset="-78"/>
                <a:cs typeface="Amiri" pitchFamily="2" charset="-78"/>
              </a:rPr>
              <a:t>تَسْتَثْمِرَ</a:t>
            </a:r>
            <a:endParaRPr lang="ar-SA" sz="2000" dirty="0"/>
          </a:p>
        </p:txBody>
      </p:sp>
      <p:sp>
        <p:nvSpPr>
          <p:cNvPr id="38" name="Text 35"/>
          <p:cNvSpPr txBox="1"/>
          <p:nvPr/>
        </p:nvSpPr>
        <p:spPr>
          <a:xfrm>
            <a:off x="548640" y="3741725"/>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تَتَعَاوَنُ · تَسْتَثْمِرُ</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766560" y="4478731"/>
            <a:ext cx="48737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أَنْ يَزْدَادَ التَّصَحُّرُ فِي المِنْطَقَةِ</a:t>
            </a:r>
            <a:endParaRPr lang="ar-SA" sz="1700" dirty="0"/>
          </a:p>
        </p:txBody>
      </p:sp>
      <p:sp>
        <p:nvSpPr>
          <p:cNvPr id="41" name="Text 38"/>
          <p:cNvSpPr txBox="1"/>
          <p:nvPr/>
        </p:nvSpPr>
        <p:spPr>
          <a:xfrm>
            <a:off x="504748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a:t>
            </a:r>
            <a:endParaRPr lang="en-US" sz="1100" dirty="0"/>
          </a:p>
        </p:txBody>
      </p:sp>
      <p:sp>
        <p:nvSpPr>
          <p:cNvPr id="42" name="Text 39"/>
          <p:cNvSpPr txBox="1"/>
          <p:nvPr/>
        </p:nvSpPr>
        <p:spPr>
          <a:xfrm>
            <a:off x="2651760" y="4478731"/>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يَزْدَادَ</a:t>
            </a:r>
            <a:endParaRPr lang="ar-SA" sz="2000" dirty="0"/>
          </a:p>
        </p:txBody>
      </p:sp>
      <p:sp>
        <p:nvSpPr>
          <p:cNvPr id="43" name="Text 40"/>
          <p:cNvSpPr txBox="1"/>
          <p:nvPr/>
        </p:nvSpPr>
        <p:spPr>
          <a:xfrm>
            <a:off x="548640" y="4478731"/>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يَزْدَادُ</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766560" y="5215738"/>
            <a:ext cx="48737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نَرْجُو أَنْ نَبْنِيَ مُسْتَقْبَلًا أَنْظَفَ</a:t>
            </a:r>
            <a:endParaRPr lang="ar-SA" sz="1700" dirty="0"/>
          </a:p>
        </p:txBody>
      </p:sp>
      <p:sp>
        <p:nvSpPr>
          <p:cNvPr id="46" name="Text 43"/>
          <p:cNvSpPr txBox="1"/>
          <p:nvPr/>
        </p:nvSpPr>
        <p:spPr>
          <a:xfrm>
            <a:off x="504748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-ī → -iya</a:t>
            </a:r>
            <a:endParaRPr lang="en-US" sz="1100" dirty="0"/>
          </a:p>
        </p:txBody>
      </p:sp>
      <p:sp>
        <p:nvSpPr>
          <p:cNvPr id="47" name="Text 44"/>
          <p:cNvSpPr txBox="1"/>
          <p:nvPr/>
        </p:nvSpPr>
        <p:spPr>
          <a:xfrm>
            <a:off x="2651760" y="5215738"/>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نَبْنِيَ</a:t>
            </a:r>
            <a:endParaRPr lang="ar-SA" sz="2000" dirty="0"/>
          </a:p>
        </p:txBody>
      </p:sp>
      <p:sp>
        <p:nvSpPr>
          <p:cNvPr id="48" name="Text 45"/>
          <p:cNvSpPr txBox="1"/>
          <p:nvPr/>
        </p:nvSpPr>
        <p:spPr>
          <a:xfrm>
            <a:off x="548640" y="5215738"/>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نَبْنِي</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mistakes 1–2: an tattakhidhu ✗ → an tattakhidha ✓ · an yatajāwazu ✗ → an yatajāwaza ✓.</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RISK, REGRET, EVIDENCE (WEBSITE RULE 4 + LISTENING AND WRITING MODEL)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Make the argument stronger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الخَطَرُ · الافْتِرَاضُ · الدَّلِيلُ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RISK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إِذَا وَاصَلَتِ الحَرَارَةُ ارْتِفَاعَهَا، سَتَنْتُجُ هِجْرَاتٌ مَنَاخِيَّةٌ.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temperatures keep rising, climate migrations will result.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Still possible.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888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REGRET · DEVELOP</a:t>
            </a:r>
            <a:endParaRPr lang="en-US" sz="850" dirty="0"/>
          </a:p>
        </p:txBody>
      </p:sp>
      <p:sp>
        <p:nvSpPr>
          <p:cNvPr id="26" name="Text 23"/>
          <p:cNvSpPr txBox="1"/>
          <p:nvPr/>
        </p:nvSpPr>
        <p:spPr>
          <a:xfrm>
            <a:off x="6448044"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لَوْ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لَوِ اتَّخَذَتِ الدُّوَلُ إِجْرَاءَاتٍ مُبَكِّرًا، لَكَانَتْ آثَارُ التَّصَحُّرِ أَقَلَّ حِدَّةً.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states acted early, desertification would be less severe.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It did not happen.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أَكَّدَ …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أَكَّدَ خُبَرَاءُ الأُمَمِ المُتَّحِدَةِ أَنَّ التَّعَاوُنَ ضَرُورِيٌّ.</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UN experts stressed that cooperation is essential.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noun.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a Type 2 result takes la-, not 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لَوِ اتَّخَذَتِ الدُّوَلُ إِجْرَاءَاتٍ، لَقَلَّ التَّصَحُّرُ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B83227"/>
                </a:solidFill>
                <a:latin typeface="Amiri" pitchFamily="2" charset="-78"/>
                <a:cs typeface="Amiri" pitchFamily="2" charset="-78"/>
              </a:rPr>
              <a:t>لَوِ اتَّخَذَتِ الدُّوَلُ إِجْرَاءَاتٍ، سَيَقِلُّ التَّصَحُّرُ</a:t>
            </a:r>
            <a:endParaRPr lang="ar-SA" sz="1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LANGUAGE OF A CLIMATE REPORT (WEBSITE LISTENING, READING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Sound like a climate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لُغَةُ التَّقَارِيرِ المَنَاخِيَّةِ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72491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report</a:t>
            </a:r>
            <a:endParaRPr lang="en-US" sz="1100" dirty="0"/>
          </a:p>
        </p:txBody>
      </p:sp>
      <p:sp>
        <p:nvSpPr>
          <p:cNvPr id="21" name="Text 18"/>
          <p:cNvSpPr txBox="1"/>
          <p:nvPr/>
        </p:nvSpPr>
        <p:spPr>
          <a:xfrm>
            <a:off x="2743200" y="2267712"/>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cs typeface="Amiri" pitchFamily="2" charset="-78"/>
              </a:rPr>
              <a:t>يُشَارُ إِلَى أَنَّ</a:t>
            </a:r>
            <a:pPr rtl="1" algn="ctr" indent="0" marL="0">
              <a:buNone/>
            </a:pPr>
            <a:r>
              <a:rPr lang="ar-SA" altLang="en-US" sz="1800" b="1" dirty="0">
                <a:solidFill>
                  <a:srgbClr val="1B3B6F"/>
                </a:solidFill>
                <a:latin typeface="Amiri" pitchFamily="2" charset="-78"/>
                <a:cs typeface="Amiri" pitchFamily="2" charset="-78"/>
              </a:rPr>
              <a:t> المِنْطَقَةَ العَرَبِيَّةَ مِنْ أَكْثَرِ المَنَاطِقِ تَأَثُّرًا.</a:t>
            </a:r>
            <a:endParaRPr lang="ar-SA" sz="18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reported</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akthar + tamyīz</a:t>
            </a:r>
            <a:endParaRPr lang="en-US" sz="1100" dirty="0"/>
          </a:p>
        </p:txBody>
      </p:sp>
      <p:sp>
        <p:nvSpPr>
          <p:cNvPr id="27" name="Text 24"/>
          <p:cNvSpPr txBox="1"/>
          <p:nvPr/>
        </p:nvSpPr>
        <p:spPr>
          <a:xfrm>
            <a:off x="2743200" y="300471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a:t>
            </a:r>
            <a:pPr rtl="1" algn="ctr" indent="0" marL="0">
              <a:buNone/>
            </a:pPr>
            <a:r>
              <a:rPr lang="ar-SA" altLang="en-US" sz="1800" b="1" dirty="0">
                <a:solidFill>
                  <a:srgbClr val="1D5FBF"/>
                </a:solidFill>
                <a:latin typeface="Amiri" pitchFamily="2" charset="-78"/>
                <a:cs typeface="Amiri" pitchFamily="2" charset="-78"/>
              </a:rPr>
              <a:t>أَكْثَرِ</a:t>
            </a:r>
            <a:pPr rtl="1" algn="ctr" indent="0" marL="0">
              <a:buNone/>
            </a:pPr>
            <a:r>
              <a:rPr lang="ar-SA" altLang="en-US" sz="1800" b="1" dirty="0">
                <a:solidFill>
                  <a:srgbClr val="1B3B6F"/>
                </a:solidFill>
                <a:latin typeface="Amiri" pitchFamily="2" charset="-78"/>
                <a:cs typeface="Amiri" pitchFamily="2" charset="-78"/>
              </a:rPr>
              <a:t> مَنَاطِقِ العَالَمِ </a:t>
            </a:r>
            <a:pPr rtl="1" algn="ctr" indent="0" marL="0">
              <a:buNone/>
            </a:pPr>
            <a:r>
              <a:rPr lang="ar-SA" altLang="en-US" sz="1800" b="1" dirty="0">
                <a:solidFill>
                  <a:srgbClr val="1D5FBF"/>
                </a:solidFill>
                <a:latin typeface="Amiri" pitchFamily="2" charset="-78"/>
                <a:cs typeface="Amiri" pitchFamily="2" charset="-78"/>
              </a:rPr>
              <a:t>تَأَثُّرًا</a:t>
            </a:r>
            <a:pPr rtl="1" algn="ctr" indent="0" marL="0">
              <a:buNone/>
            </a:pPr>
            <a:r>
              <a:rPr lang="ar-SA" altLang="en-US" sz="1800" b="1" dirty="0">
                <a:solidFill>
                  <a:srgbClr val="1B3B6F"/>
                </a:solidFill>
                <a:latin typeface="Amiri" pitchFamily="2" charset="-78"/>
                <a:cs typeface="Amiri" pitchFamily="2" charset="-78"/>
              </a:rPr>
              <a:t> بِتَغَيُّرِ المَنَاخِ</a:t>
            </a:r>
            <a:endParaRPr lang="ar-SA" sz="18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most affected</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superlative</a:t>
            </a:r>
            <a:endParaRPr lang="en-US" sz="1100" dirty="0"/>
          </a:p>
        </p:txBody>
      </p:sp>
      <p:sp>
        <p:nvSpPr>
          <p:cNvPr id="31" name="Text 28"/>
          <p:cNvSpPr txBox="1"/>
          <p:nvPr/>
        </p:nvSpPr>
        <p:spPr>
          <a:xfrm>
            <a:off x="2743200" y="3741725"/>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يُعَدُّ تَغَيُّرُ المَنَاخِ </a:t>
            </a:r>
            <a:pPr rtl="1" algn="ctr" indent="0" marL="0">
              <a:buNone/>
            </a:pPr>
            <a:r>
              <a:rPr lang="ar-SA" altLang="en-US" sz="1800" b="1" dirty="0">
                <a:solidFill>
                  <a:srgbClr val="D6336C"/>
                </a:solidFill>
                <a:latin typeface="Amiri" pitchFamily="2" charset="-78"/>
                <a:cs typeface="Amiri" pitchFamily="2" charset="-78"/>
              </a:rPr>
              <a:t>أَخْطَرَ تَحَدٍّ</a:t>
            </a:r>
            <a:pPr rtl="1" algn="ctr" indent="0" marL="0">
              <a:buNone/>
            </a:pPr>
            <a:r>
              <a:rPr lang="ar-SA" altLang="en-US" sz="1800" b="1" dirty="0">
                <a:solidFill>
                  <a:srgbClr val="1B3B6F"/>
                </a:solidFill>
                <a:latin typeface="Amiri" pitchFamily="2" charset="-78"/>
                <a:cs typeface="Amiri" pitchFamily="2" charset="-78"/>
              </a:rPr>
              <a:t> يُوَاجِهُ العَالَمَ العَرَبِيَّ.</a:t>
            </a:r>
            <a:endParaRPr lang="ar-SA" sz="1800" dirty="0"/>
          </a:p>
        </p:txBody>
      </p:sp>
      <p:sp>
        <p:nvSpPr>
          <p:cNvPr id="32" name="Text 2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gravest</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relative description</a:t>
            </a:r>
            <a:endParaRPr lang="en-US" sz="1100" dirty="0"/>
          </a:p>
        </p:txBody>
      </p:sp>
      <p:sp>
        <p:nvSpPr>
          <p:cNvPr id="35" name="Text 32"/>
          <p:cNvSpPr txBox="1"/>
          <p:nvPr/>
        </p:nvSpPr>
        <p:spPr>
          <a:xfrm>
            <a:off x="2743200" y="4478731"/>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حَدًّا </a:t>
            </a:r>
            <a:pPr rtl="1" algn="ctr" indent="0" marL="0">
              <a:buNone/>
            </a:pPr>
            <a:r>
              <a:rPr lang="ar-SA" altLang="en-US" sz="1800" b="1" dirty="0">
                <a:solidFill>
                  <a:srgbClr val="7B3FA0"/>
                </a:solidFill>
                <a:latin typeface="Amiri" pitchFamily="2" charset="-78"/>
                <a:cs typeface="Amiri" pitchFamily="2" charset="-78"/>
              </a:rPr>
              <a:t>لَا تُمْكِنُ مَعَهُ الحَيَاةُ</a:t>
            </a:r>
            <a:endParaRPr lang="ar-SA" sz="1800" dirty="0"/>
          </a:p>
        </p:txBody>
      </p:sp>
      <p:sp>
        <p:nvSpPr>
          <p:cNvPr id="36" name="Text 33"/>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limit beyond life</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crisis → opportunity</a:t>
            </a:r>
            <a:endParaRPr lang="en-US" sz="1100" dirty="0"/>
          </a:p>
        </p:txBody>
      </p:sp>
      <p:sp>
        <p:nvSpPr>
          <p:cNvPr id="39" name="Text 36"/>
          <p:cNvSpPr txBox="1"/>
          <p:nvPr/>
        </p:nvSpPr>
        <p:spPr>
          <a:xfrm>
            <a:off x="2743200" y="521573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يَرْجُو الجَمِيعُ أَنْ </a:t>
            </a:r>
            <a:pPr rtl="1" algn="ctr" indent="0" marL="0">
              <a:buNone/>
            </a:pPr>
            <a:r>
              <a:rPr lang="ar-SA" altLang="en-US" sz="1800" b="1" dirty="0">
                <a:solidFill>
                  <a:srgbClr val="0E7C86"/>
                </a:solidFill>
                <a:latin typeface="Amiri" pitchFamily="2" charset="-78"/>
                <a:cs typeface="Amiri" pitchFamily="2" charset="-78"/>
              </a:rPr>
              <a:t>تَتَحَوَّلَ الأَزْمَةُ إِلَى فُرْصَةٍ</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40" name="Text 3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hopeful close</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climate report moves: how serious → what is feared → what is required → what could have been → what we hope.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The subjunctive after verbs of volition</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cs typeface="Amiri" pitchFamily="2" charset="-78"/>
              </a:rPr>
              <a:t>الفِعْلُ المَنْصُوبُ بَعْدَ أَفْعَالِ الإِرَادَةِ</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Requirement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yataṭallabu an + verb in -a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يَتَطَلَّبُ الوَضْعُ أَنْ تَتَّخِذَ الحُكُومَاتُ تَدَابِيرَ عَاجِلَةً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Fear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yakhshā 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يَخْشَى العُلَمَاءُ أَنْ تَتَجَاوَزَ الحَرَارَةُ حَدًّا خَطِيرًا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Hope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yarjū an + verb in -a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يَرْجُو المُجْتَمَعُ الدَّوْلِيُّ أَنْ تُوَقِّعَ الدُّوَلُ الاتِّفَاقِيَّةَ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Both conditionals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إِذَا وَاصَلَتِ الحَرَارَةُ ارْتِفَاعَهَا، سَتَنْتُجُ هِجْرَاتٌ   ·   لَوِ اتَّخَذَتِ الدُّوَلُ إِجْرَاءَاتٍ مُبَكِّرًا، لَكَانَ التَّصَحُّرُ أَقَلَّ</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يَتَطَلَّبُ الوَضْعُ أَنْ ___ الحُكُومَاتُ تَدَابِيرَ.</a:t>
            </a:r>
            <a:endParaRPr lang="ar-SA" sz="14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اتَّخَذَتْ</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يَخْشَى العُلَمَاءُ أَنْ ___ الحَرَارَةُ حَدًّا خَطِيرًا.</a:t>
            </a:r>
            <a:endParaRPr lang="ar-SA" sz="13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تَتَجَاوَزَ</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تَتَجَاوَزُ</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تَجَاوَزَتْ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يَرْجُو المُجْتَمَعُ أَنْ ___ الدُّوَلُ الاتِّفَاقِيَّةَ.</a:t>
            </a:r>
            <a:endParaRPr lang="ar-SA" sz="14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تُوَقِّعُ</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تُوَقِّعَ</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وَقَّعَتْ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اتَّخَذَتِ الدُّوَلُ إِجْرَاءَاتٍ مُبَكِّرًا، لَكَانَ التَّصَحُّرُ أَقَلَّ.</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اتَّخَذَتِ الدُّوَلُ إِجْرَاءَاتٍ، سَيَقِلُّ التَّصَحُّرُ.</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 الدُّوَلُ إِجْرَاءَاتٍ.</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يَتَطَلَّبُ الوَضْعُ أَنْ ___ الحُكُومَاتُ تَدَابِيرَ.</a:t>
            </a:r>
            <a:endParaRPr lang="ar-SA" sz="145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تَتَّخِذُ</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اتَّخَذَتْ</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تَتَّخِذَ</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تَتَّخِذَ</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يَخْشَى العُلَمَاءُ أَنْ ___ الحَرَارَةُ حَدًّا خَطِيرًا.</a:t>
            </a:r>
            <a:endParaRPr lang="ar-SA" sz="13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تَتَجَاوَزَ</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تَتَجَاوَزُ</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تَجَاوَزَتْ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cs typeface="Amiri" pitchFamily="2" charset="-78"/>
              </a:rPr>
              <a:t>تَتَجَاوَزَ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يَرْجُو المُجْتَمَعُ أَنْ ___ الدُّوَلُ الاتِّفَاقِيَّةَ.</a:t>
            </a:r>
            <a:endParaRPr lang="ar-SA" sz="14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تُوَقِّعُ</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تُوَقِّعَ</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وَقَّعَتْ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يَرْجُو أَنْ</a:t>
            </a:r>
            <a:pPr algn="l" indent="0" marL="0">
              <a:buNone/>
            </a:pPr>
            <a:r>
              <a:rPr lang="en-US" sz="1050" i="1" dirty="0">
                <a:solidFill>
                  <a:srgbClr val="8A6D1E"/>
                </a:solidFill>
                <a:latin typeface="Calibri" pitchFamily="34" charset="0"/>
                <a:cs typeface="Amiri" pitchFamily="2" charset="-78"/>
              </a:rPr>
              <a:t> takes a subjunctive: </a:t>
            </a:r>
            <a:pPr algn="l" indent="0" marL="0">
              <a:buNone/>
            </a:pPr>
            <a:r>
              <a:rPr lang="ar-SA" altLang="en-US" sz="1350" dirty="0">
                <a:solidFill>
                  <a:srgbClr val="8A6D1E"/>
                </a:solidFill>
                <a:latin typeface="Amiri" pitchFamily="2" charset="-78"/>
                <a:cs typeface="Amiri" pitchFamily="2" charset="-78"/>
              </a:rPr>
              <a:t>تُوَقِّعَ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لَوِ اتَّخَذَتِ الدُّوَلُ إِجْرَاءَاتٍ مُبَكِّرًا، لَكَانَ التَّصَحُّرُ أَقَلَّ.</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اتَّخَذَتِ الدُّوَلُ إِجْرَاءَاتٍ، سَيَقِلُّ التَّصَحُّرُ.</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تَتَّخِذُ الدُّوَلُ إِجْرَاءَاتٍ.</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imagines an unreal past.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Watch me write a climate analysis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serious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C77700"/>
                </a:solidFill>
                <a:latin typeface="Amiri" pitchFamily="2" charset="-78"/>
                <a:cs typeface="Amiri" pitchFamily="2" charset="-78"/>
              </a:rPr>
              <a:t>يُشَارُ إِلَى أَنَّ</a:t>
            </a:r>
            <a:pPr rtl="1" algn="ctr" indent="0" marL="0">
              <a:buNone/>
            </a:pPr>
            <a:r>
              <a:rPr lang="ar-SA" altLang="en-US" sz="2100" b="1" dirty="0">
                <a:solidFill>
                  <a:srgbClr val="1B3B6F"/>
                </a:solidFill>
                <a:latin typeface="Amiri" pitchFamily="2" charset="-78"/>
                <a:cs typeface="Amiri" pitchFamily="2" charset="-78"/>
              </a:rPr>
              <a:t> … مِنْ أَكْثَرِ …</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Evidence.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Fear + need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يَخْشَى أَنْ </a:t>
            </a:r>
            <a:pPr rtl="1" algn="ctr" indent="0" marL="0">
              <a:lnSpc>
                <a:spcPct val="120000"/>
              </a:lnSpc>
              <a:buNone/>
            </a:pPr>
            <a:r>
              <a:rPr lang="ar-SA" altLang="en-US" sz="1750" b="1" dirty="0">
                <a:solidFill>
                  <a:srgbClr val="D6336C"/>
                </a:solidFill>
                <a:latin typeface="Amiri" pitchFamily="2" charset="-78"/>
                <a:cs typeface="Amiri" pitchFamily="2" charset="-78"/>
              </a:rPr>
              <a:t>تَتَجَاوَزَ</a:t>
            </a:r>
            <a:pPr rtl="1" algn="ctr" indent="0" marL="0">
              <a:lnSpc>
                <a:spcPct val="120000"/>
              </a:lnSpc>
              <a:buNone/>
            </a:pPr>
            <a:r>
              <a:rPr lang="ar-SA" altLang="en-US" sz="1750" b="1" dirty="0">
                <a:solidFill>
                  <a:srgbClr val="1B3B6F"/>
                </a:solidFill>
                <a:latin typeface="Amiri" pitchFamily="2" charset="-78"/>
                <a:cs typeface="Amiri" pitchFamily="2" charset="-78"/>
              </a:rPr>
              <a:t> · يَتَطَلَّبُ أَنْ </a:t>
            </a:r>
            <a:pPr rtl="1" algn="ctr" indent="0" marL="0">
              <a:lnSpc>
                <a:spcPct val="120000"/>
              </a:lnSpc>
              <a:buNone/>
            </a:pPr>
            <a:r>
              <a:rPr lang="ar-SA" altLang="en-US" sz="1750" b="1" dirty="0">
                <a:solidFill>
                  <a:srgbClr val="0E7C86"/>
                </a:solidFill>
                <a:latin typeface="Amiri" pitchFamily="2" charset="-78"/>
                <a:cs typeface="Amiri" pitchFamily="2" charset="-78"/>
              </a:rPr>
              <a:t>تَتَّخِذَ</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Risk + regret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cs typeface="Amiri" pitchFamily="2" charset="-78"/>
              </a:rPr>
              <a:t>إِذَا</a:t>
            </a:r>
            <a:pPr rtl="1" algn="ctr" indent="0" marL="0">
              <a:buNone/>
            </a:pPr>
            <a:r>
              <a:rPr lang="ar-SA" altLang="en-US" sz="2800" b="1" dirty="0">
                <a:solidFill>
                  <a:srgbClr val="1B3B6F"/>
                </a:solidFill>
                <a:latin typeface="Amiri" pitchFamily="2" charset="-78"/>
                <a:cs typeface="Amiri" pitchFamily="2" charset="-78"/>
              </a:rPr>
              <a:t> … سَـ · </a:t>
            </a:r>
            <a:pPr rtl="1" algn="ctr" indent="0" marL="0">
              <a:buNone/>
            </a:pPr>
            <a:r>
              <a:rPr lang="ar-SA" altLang="en-US" sz="2800" b="1" dirty="0">
                <a:solidFill>
                  <a:srgbClr val="7B3FA0"/>
                </a:solidFill>
                <a:latin typeface="Amiri" pitchFamily="2" charset="-78"/>
                <a:cs typeface="Amiri" pitchFamily="2" charset="-78"/>
              </a:rPr>
              <a:t>لَوِ</a:t>
            </a:r>
            <a:pPr rtl="1" algn="ctr" indent="0" marL="0">
              <a:buNone/>
            </a:pPr>
            <a:r>
              <a:rPr lang="ar-SA" altLang="en-US" sz="2800" b="1" dirty="0">
                <a:solidFill>
                  <a:srgbClr val="1B3B6F"/>
                </a:solidFill>
                <a:latin typeface="Amiri" pitchFamily="2" charset="-78"/>
                <a:cs typeface="Amiri" pitchFamily="2" charset="-78"/>
              </a:rPr>
              <a:t> … لَـ</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types.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Hope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يَرْجُو أَنْ </a:t>
            </a:r>
            <a:pPr rtl="1" algn="ctr" indent="0" marL="0">
              <a:buNone/>
            </a:pPr>
            <a:r>
              <a:rPr lang="ar-SA" altLang="en-US" sz="2800" b="1" dirty="0">
                <a:solidFill>
                  <a:srgbClr val="0E7C86"/>
                </a:solidFill>
                <a:latin typeface="Amiri" pitchFamily="2" charset="-78"/>
                <a:cs typeface="Amiri" pitchFamily="2" charset="-78"/>
              </a:rPr>
              <a:t>تَتَحَوَّلَ</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End on hope.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a:t>
            </a:r>
            <a:endParaRPr lang="en-US" sz="800" dirty="0"/>
          </a:p>
        </p:txBody>
      </p:sp>
      <p:sp>
        <p:nvSpPr>
          <p:cNvPr id="47" name="Shape 43"/>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FEAR</a:t>
            </a:r>
            <a:endParaRPr lang="en-US" sz="800" dirty="0"/>
          </a:p>
        </p:txBody>
      </p:sp>
      <p:sp>
        <p:nvSpPr>
          <p:cNvPr id="49" name="Shape 45"/>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REQUIRE · HOPE</a:t>
            </a:r>
            <a:endParaRPr lang="en-US" sz="800" dirty="0"/>
          </a:p>
        </p:txBody>
      </p:sp>
      <p:sp>
        <p:nvSpPr>
          <p:cNvPr id="51" name="Shape 47"/>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1</a:t>
            </a:r>
            <a:endParaRPr lang="en-US" sz="800" dirty="0"/>
          </a:p>
        </p:txBody>
      </p:sp>
      <p:sp>
        <p:nvSpPr>
          <p:cNvPr id="53" name="Shape 49"/>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cs typeface="Amiri" pitchFamily="2" charset="-78"/>
              </a:rPr>
              <a:t>يُشَارُ إِلَى أَنَّ</a:t>
            </a:r>
            <a:pPr rtl="1" algn="r" indent="0" marL="0">
              <a:lnSpc>
                <a:spcPct val="120000"/>
              </a:lnSpc>
              <a:buNone/>
            </a:pPr>
            <a:r>
              <a:rPr lang="ar-SA" altLang="en-US" sz="1400" b="1" dirty="0">
                <a:solidFill>
                  <a:srgbClr val="1B3B6F"/>
                </a:solidFill>
                <a:latin typeface="Amiri" pitchFamily="2" charset="-78"/>
                <a:cs typeface="Amiri" pitchFamily="2" charset="-78"/>
              </a:rPr>
              <a:t> المِنْطَقَةَ العَرَبِيَّةَ مِنْ أَكْثَرِ مَنَاطِقِ العَالَمِ تَأَثُّرًا بِتَغَيُّرِ المَنَاخِ. يَخْشَى العُلَمَاءُ أَنْ </a:t>
            </a:r>
            <a:pPr rtl="1" algn="r" indent="0" marL="0">
              <a:lnSpc>
                <a:spcPct val="120000"/>
              </a:lnSpc>
              <a:buNone/>
            </a:pPr>
            <a:r>
              <a:rPr lang="ar-SA" altLang="en-US" sz="1400" b="1" dirty="0">
                <a:solidFill>
                  <a:srgbClr val="D6336C"/>
                </a:solidFill>
                <a:latin typeface="Amiri" pitchFamily="2" charset="-78"/>
                <a:cs typeface="Amiri" pitchFamily="2" charset="-78"/>
              </a:rPr>
              <a:t>تَتَجَاوَزَ</a:t>
            </a:r>
            <a:pPr rtl="1" algn="r" indent="0" marL="0">
              <a:lnSpc>
                <a:spcPct val="120000"/>
              </a:lnSpc>
              <a:buNone/>
            </a:pPr>
            <a:r>
              <a:rPr lang="ar-SA" altLang="en-US" sz="1400" b="1" dirty="0">
                <a:solidFill>
                  <a:srgbClr val="1B3B6F"/>
                </a:solidFill>
                <a:latin typeface="Amiri" pitchFamily="2" charset="-78"/>
                <a:cs typeface="Amiri" pitchFamily="2" charset="-78"/>
              </a:rPr>
              <a:t> الحَرَارَةُ حَدًّا خَطِيرًا، وَيَتَطَلَّبُ الوَضْعُ أَنْ </a:t>
            </a:r>
            <a:pPr rtl="1" algn="r" indent="0" marL="0">
              <a:lnSpc>
                <a:spcPct val="120000"/>
              </a:lnSpc>
              <a:buNone/>
            </a:pPr>
            <a:r>
              <a:rPr lang="ar-SA" altLang="en-US" sz="1400" b="1" dirty="0">
                <a:solidFill>
                  <a:srgbClr val="0E7C86"/>
                </a:solidFill>
                <a:latin typeface="Amiri" pitchFamily="2" charset="-78"/>
                <a:cs typeface="Amiri" pitchFamily="2" charset="-78"/>
              </a:rPr>
              <a:t>تَتَّخِذَ</a:t>
            </a:r>
            <a:pPr rtl="1" algn="r" indent="0" marL="0">
              <a:lnSpc>
                <a:spcPct val="120000"/>
              </a:lnSpc>
              <a:buNone/>
            </a:pPr>
            <a:r>
              <a:rPr lang="ar-SA" altLang="en-US" sz="1400" b="1" dirty="0">
                <a:solidFill>
                  <a:srgbClr val="1B3B6F"/>
                </a:solidFill>
                <a:latin typeface="Amiri" pitchFamily="2" charset="-78"/>
                <a:cs typeface="Amiri" pitchFamily="2" charset="-78"/>
              </a:rPr>
              <a:t> الحُكُومَاتُ تَدَابِيرَ عَاجِلَةً. </a:t>
            </a:r>
            <a:pPr rtl="1" algn="r" indent="0" marL="0">
              <a:lnSpc>
                <a:spcPct val="120000"/>
              </a:lnSpc>
              <a:buNone/>
            </a:pPr>
            <a:r>
              <a:rPr lang="ar-SA" altLang="en-US" sz="1400" b="1" dirty="0">
                <a:solidFill>
                  <a:srgbClr val="1D5FBF"/>
                </a:solidFill>
                <a:latin typeface="Amiri" pitchFamily="2" charset="-78"/>
                <a:cs typeface="Amiri" pitchFamily="2" charset="-78"/>
              </a:rPr>
              <a:t>إِذَا</a:t>
            </a:r>
            <a:pPr rtl="1" algn="r" indent="0" marL="0">
              <a:lnSpc>
                <a:spcPct val="120000"/>
              </a:lnSpc>
              <a:buNone/>
            </a:pPr>
            <a:r>
              <a:rPr lang="ar-SA" altLang="en-US" sz="1400" b="1" dirty="0">
                <a:solidFill>
                  <a:srgbClr val="1B3B6F"/>
                </a:solidFill>
                <a:latin typeface="Amiri" pitchFamily="2" charset="-78"/>
                <a:cs typeface="Amiri" pitchFamily="2" charset="-78"/>
              </a:rPr>
              <a:t> وَاصَلَتِ الحَرَارَةُ ارْتِفَاعَهَا، </a:t>
            </a:r>
            <a:pPr rtl="1" algn="r" indent="0" marL="0">
              <a:lnSpc>
                <a:spcPct val="120000"/>
              </a:lnSpc>
              <a:buNone/>
            </a:pPr>
            <a:r>
              <a:rPr lang="ar-SA" altLang="en-US" sz="1400" b="1" dirty="0">
                <a:solidFill>
                  <a:srgbClr val="1D5FBF"/>
                </a:solidFill>
                <a:latin typeface="Amiri" pitchFamily="2" charset="-78"/>
                <a:cs typeface="Amiri" pitchFamily="2" charset="-78"/>
              </a:rPr>
              <a:t>سَتَنْتُجُ</a:t>
            </a:r>
            <a:pPr rtl="1" algn="r" indent="0" marL="0">
              <a:lnSpc>
                <a:spcPct val="120000"/>
              </a:lnSpc>
              <a:buNone/>
            </a:pPr>
            <a:r>
              <a:rPr lang="ar-SA" altLang="en-US" sz="1400" b="1" dirty="0">
                <a:solidFill>
                  <a:srgbClr val="1B3B6F"/>
                </a:solidFill>
                <a:latin typeface="Amiri" pitchFamily="2" charset="-78"/>
                <a:cs typeface="Amiri" pitchFamily="2" charset="-78"/>
              </a:rPr>
              <a:t> هِجْرَاتٌ مَنَاخِيَّةٌ. </a:t>
            </a:r>
            <a:pPr rtl="1" algn="r" indent="0" marL="0">
              <a:lnSpc>
                <a:spcPct val="120000"/>
              </a:lnSpc>
              <a:buNone/>
            </a:pPr>
            <a:r>
              <a:rPr lang="ar-SA" altLang="en-US" sz="1400" b="1" dirty="0">
                <a:solidFill>
                  <a:srgbClr val="7B3FA0"/>
                </a:solidFill>
                <a:latin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cs typeface="Amiri" pitchFamily="2" charset="-78"/>
              </a:rPr>
              <a:t> اتَّخَذَتِ الدُّوَلُ إِجْرَاءَاتٍ مُبَكِّرًا، </a:t>
            </a:r>
            <a:pPr rtl="1" algn="r" indent="0" marL="0">
              <a:lnSpc>
                <a:spcPct val="120000"/>
              </a:lnSpc>
              <a:buNone/>
            </a:pPr>
            <a:r>
              <a:rPr lang="ar-SA" altLang="en-US" sz="1400" b="1" dirty="0">
                <a:solidFill>
                  <a:srgbClr val="7B3FA0"/>
                </a:solidFill>
                <a:latin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cs typeface="Amiri" pitchFamily="2" charset="-78"/>
              </a:rPr>
              <a:t> آثَارُ التَّصَحُّرِ أَقَلَّ حِدَّةً. وَيَرْجُو الجَمِيعُ أَنْ </a:t>
            </a:r>
            <a:pPr rtl="1" algn="r" indent="0" marL="0">
              <a:lnSpc>
                <a:spcPct val="120000"/>
              </a:lnSpc>
              <a:buNone/>
            </a:pPr>
            <a:r>
              <a:rPr lang="ar-SA" altLang="en-US" sz="1400" b="1" dirty="0">
                <a:solidFill>
                  <a:srgbClr val="0E7C86"/>
                </a:solidFill>
                <a:latin typeface="Amiri" pitchFamily="2" charset="-78"/>
                <a:cs typeface="Amiri" pitchFamily="2" charset="-78"/>
              </a:rPr>
              <a:t>تَتَحَوَّلَ</a:t>
            </a:r>
            <a:pPr rtl="1" algn="r" indent="0" marL="0">
              <a:lnSpc>
                <a:spcPct val="120000"/>
              </a:lnSpc>
              <a:buNone/>
            </a:pPr>
            <a:r>
              <a:rPr lang="ar-SA" altLang="en-US" sz="1400" b="1" dirty="0">
                <a:solidFill>
                  <a:srgbClr val="1B3B6F"/>
                </a:solidFill>
                <a:latin typeface="Amiri" pitchFamily="2" charset="-78"/>
                <a:cs typeface="Amiri" pitchFamily="2" charset="-78"/>
              </a:rPr>
              <a:t> الأَزْمَةُ إِلَى فُرْصَةٍ.</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It is reported that the Arab region is among the regions of the world most affected by climate change. Scientists fear that heat will exceed a dangerous limit, and the situation requires governments to take urgent measures. If temperatures keep rising, climate migrations will result. Had states acted early, the effects of desertification would be less severe. And everyone hopes that the crisis will turn into an opportunity.</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يَتَطَلَّبُ التَّغَيُّرُ المَنَاخِيُّ أَنْ تُعِيدَ الدُّوَلُ تَشْكِيلَ سِيَاسَاتِهَا</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climate change requires states to reshape their policies</a:t>
            </a:r>
            <a:endParaRPr lang="en-US" sz="1250" dirty="0"/>
          </a:p>
          <a:p>
            <a:pPr indent="0" marL="0">
              <a:buNone/>
            </a:pPr>
            <a:r>
              <a:rPr lang="en-US" sz="1050" i="1" dirty="0">
                <a:solidFill>
                  <a:srgbClr val="8A6D1E"/>
                </a:solidFill>
                <a:latin typeface="Calibri" pitchFamily="34" charset="0"/>
                <a:cs typeface="Amiri" pitchFamily="2" charset="-78"/>
              </a:rPr>
              <a:t>yataṭallabu an + a verb in -a (tuʿīda).</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يَخْشَى الخُبَرَاءُ أَنْ تَتَجَاوَزَ الحَرَارَةُ حَدًّا لَا تُمْكِنُ مَعَهُ الحَيَاةُ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experts fear that heat will exceed a limit at which life is impossible</a:t>
            </a:r>
            <a:endParaRPr lang="en-US" sz="1250" dirty="0"/>
          </a:p>
          <a:p>
            <a:pPr indent="0" marL="0">
              <a:buNone/>
            </a:pPr>
            <a:r>
              <a:rPr lang="en-US" sz="1050" i="1" dirty="0">
                <a:solidFill>
                  <a:srgbClr val="8A6D1E"/>
                </a:solidFill>
                <a:latin typeface="Calibri" pitchFamily="34" charset="0"/>
                <a:cs typeface="Amiri" pitchFamily="2" charset="-78"/>
              </a:rPr>
              <a:t>yakhshā an expresses fear.</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يَرْجُو المُجْتَمَعُ الدَّوْلِيُّ أَنْ تُوَجِّهَ الدُّوَلُ ثَرْوَتَهَا نَحْوَ الطَّاقَةِ النَّظِيفَةِ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international community hopes that states will steer their wealth towards clean energy</a:t>
            </a:r>
            <a:endParaRPr lang="en-US" sz="1250" dirty="0"/>
          </a:p>
          <a:p>
            <a:pPr indent="0" marL="0">
              <a:buNone/>
            </a:pPr>
            <a:r>
              <a:rPr lang="en-US" sz="1050" i="1" dirty="0">
                <a:solidFill>
                  <a:srgbClr val="8A6D1E"/>
                </a:solidFill>
                <a:latin typeface="Calibri" pitchFamily="34" charset="0"/>
                <a:cs typeface="Amiri" pitchFamily="2" charset="-78"/>
              </a:rPr>
              <a:t>yarjū an expresses hope.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CLIMATE CHANGE AND THE ARAB WORLD — CAUSES, IMPACTS AND RESPONSES”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Climate causes and answers: match the picture</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سِلْسِلَةُ تَغَيُّرِ المَنَاخِ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rising heat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drought</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renewable energy</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الجَفَافُ يَزْدَادُ فِي بَعْضِ المَنَاطِقِ.</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الطَّاقَةُ المُتَجَدِّدَةُ تُقَلِّلُ الانْبِعَاثَاتِ.</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تَرْتَفِعُ دَرَجَاتُ الحَرَارَةِ بِسَبَبِ تَغَيُّرِ المَنَاخِ.</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سِلْسِلَةُ تَغَيُّرِ المَنَاخِ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rising heat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تَرْتَفِعُ دَرَجَاتُ الحَرَارَةِ بِسَبَبِ تَغَيُّرِ المَنَاخِ.</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Temperatures are rising because of climate change.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drought</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الجَفَافُ يَزْدَادُ فِي بَعْضِ المَنَاطِقِ.</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Drought is increasing in some regions.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renewable energy</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الطَّاقَةُ المُتَجَدِّدَةُ تُقَلِّلُ الانْبِعَاثَاتِ.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Renewable energy reduces emissions.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CLIMATE ARGUMENT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Fear + requirement + hope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حُجَّةً مَنَاخِيَّةً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Fear (yakhshā an)</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Requirement</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Hope (yarjū an)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يَخْشَى العُلَمَاءُ أَنْ تَتَجَاوَزَ الحَرَارَةُ حَدًّا خَطِيرًا</a:t>
            </a:r>
            <a:endParaRPr lang="ar-SA" sz="16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وَيَتَطَلَّبُ الوَضْعُ أَنْ تَتَّخِذَ الحُكُومَاتُ تَدَابِيرَ عَاجِلَةً</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وَيَرْجُو الجَمِيعُ أَنْ تَتَحَوَّلَ الأَزْمَةُ إِلَى فُرْصَةٍ</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يَخْشَى الخُبَرَاءُ أَنْ يَزْدَادَ التَّصَحُّرُ فِي المِنْطَقَةِ</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وَيَتَطَلَّبُ الوَضْعُ أَنْ تَسْتَثْمِرَ الدُّوَلُ فِي الطَّاقَةِ النَّظِيفَةِ</a:t>
            </a:r>
            <a:endParaRPr lang="ar-SA" sz="15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وَيَرْجُو المُجْتَمَعُ الدَّوْلِيُّ أَنْ تُوَقِّعَ الدُّوَلُ الاتِّفَاقِيَّةَ</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يَخْشَى النَّاسُ أَنْ تَتَفَاقَمَ أَزْمَةُ المِيَاهِ</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وَيَقْتَضِي الأَمْرُ تَعَاوُنًا إِقْلِيمِيًّا حَقِيقِيًّا</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وَنَرْجُو أَنْ نَبْنِيَ مُسْتَقْبَلًا أَنْظَفَ لِلْأَجْيَالِ</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circle the verb after every an: does it end in -a?</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Requirement, fear — or hope?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تَتَّخِذَ الحُكُومَاتُ إِجْرَاءَاتٍ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أَنْ تُعِيدَ الدُّوَلُ تَشْكِيلَ سِيَاسَاتِهَا</a:t>
            </a:r>
            <a:endParaRPr lang="ar-SA" sz="17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تَلْتَزِمَ الحُكُومَاتُ بِالأَهْدَافِ</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تَتَجَاوَزَ الحَرَارَةُ حَدًّا خَطِيرًا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يَزْدَادَ التَّصَحُّرُ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تَغْرَقَ المُدُنُ السَّاحِلِيَّةُ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تُوَقِّعَ الدُّوَلُ الاتِّفَاقِيَّةَ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يَنْجَحَ الانْتِقَالُ الطَّاقَوِيُّ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تَتَعَاوَنَ الدُّوَلُ إِقْلِيمِيًّا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requirement (yataṭallabu)</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fear (yakhshā)</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hope (yarjū)</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requirement (yataṭallabu)</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تَتَّخِذَ الحُكُومَاتُ إِجْرَاءَاتٍ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تُعِيدَ الدُّوَلُ تَشْكِيلَ سِيَاسَاتِهَا</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تَلْتَزِمَ الحُكُومَاتُ بِالأَهْدَافِ</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fear (yakhshā)</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تَتَجَاوَزَ الحَرَارَةُ حَدًّا خَطِيرًا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يَزْدَادَ التَّصَحُّرُ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تَغْرَقَ المُدُنُ السَّاحِلِيَّةُ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hope (yarjū)</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تُوَقِّعَ الدُّوَلُ الاتِّفَاقِيَّةَ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يَنْجَحَ الانْتِقَالُ الطَّاقَوِيُّ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تَتَعَاوَنَ الدُّوَلُ إِقْلِيمِيًّا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expresses fear?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يَرْجُو 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أَنْ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يَخْشَى أَنْ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expresses hope?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يَخْشَى أَنْ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يَرْجُو أَنْ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يَقْتَضِي</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risk (Type 1)?</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وَاصَلَتِ الحَرَارَةُ، لَنَتَجَتْ هِجْرَاتٌ.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وَاصَلَتِ الحَرَارَةُ ارْتِفَاعَهَا، سَتَنْتُجُ هِجْرَاتٌ.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تَرْتَفِعُ الحَرَارَةُ.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marker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ḍamma</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sukūn</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fatḥa</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expresses fear?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يَرْجُو أَنْ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يَتَطَلَّبُ أَنْ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يَخْشَى أَنْ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يَخْشَى أَنْ</a:t>
            </a:r>
            <a:pPr algn="l" indent="0" marL="0">
              <a:buNone/>
            </a:pPr>
            <a:r>
              <a:rPr lang="en-US" sz="1050" i="1" dirty="0">
                <a:solidFill>
                  <a:srgbClr val="8A6D1E"/>
                </a:solidFill>
                <a:latin typeface="Calibri" pitchFamily="34" charset="0"/>
                <a:cs typeface="Amiri" pitchFamily="2" charset="-78"/>
              </a:rPr>
              <a:t> expresses fear.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expresses hope?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يَخْشَى أَنْ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يَرْجُو أَنْ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يَقْتَضِي</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يَرْجُو أَنْ</a:t>
            </a:r>
            <a:pPr algn="l" indent="0" marL="0">
              <a:buNone/>
            </a:pPr>
            <a:r>
              <a:rPr lang="en-US" sz="1050" i="1" dirty="0">
                <a:solidFill>
                  <a:srgbClr val="8A6D1E"/>
                </a:solidFill>
                <a:latin typeface="Calibri" pitchFamily="34" charset="0"/>
                <a:cs typeface="Amiri" pitchFamily="2" charset="-78"/>
              </a:rPr>
              <a:t> expresses hope.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risk (Type 1)?</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وَاصَلَتِ الحَرَارَةُ، لَنَتَجَتْ هِجْرَاتٌ.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وَاصَلَتِ الحَرَارَةُ ارْتِفَاعَهَا، سَتَنْتُجُ هِجْرَاتٌ.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تَرْتَفِعُ الحَرَارَةُ.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states a real risk.</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marker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ḍamma</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sukūn</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final fatḥa</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verb ends in a fatḥa.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يَتَطَلَّبُ الوَضْعُ أَنْ تَتَّخِذُ الحُكُومَاتُ إِجْرَاءَاتٍ.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tattakhidhu?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يَخْشَى العُلَمَاءُ أَنْ يَتَجَاوَزُ الاحْتِرَارُ حَدًّا خَطِيرًا.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yatajāwazu?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لَوِ اتَّخَذَتِ الدُّوَلُ إِجْرَاءَاتٍ، سَيَقِلُّ التَّصَحُّرُ.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يَتَطَلَّبُ الوَضْعُ أَنْ تَتَّخِذُ الحُكُومَاتُ إِجْرَاءَاتٍ.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يَتَطَلَّبُ الوَضْعُ أَنْ تَتَّخِذَ الحُكُومَاتُ إِجْرَاءَاتٍ.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cs typeface="Amiri" pitchFamily="2" charset="-78"/>
              </a:rPr>
              <a:t>تَتَّخِذَ</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يَخْشَى العُلَمَاءُ أَنْ يَتَجَاوَزُ الاحْتِرَارُ حَدًّا خَطِيرًا.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يَخْشَى العُلَمَاءُ أَنْ يَتَجَاوَزَ الاحْتِرَارُ حَدًّا خَطِيرًا.</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takes a fatḥa: </a:t>
            </a:r>
            <a:pPr algn="l" indent="0" marL="0">
              <a:buNone/>
            </a:pPr>
            <a:r>
              <a:rPr lang="ar-SA" altLang="en-US" sz="1500" b="1" dirty="0">
                <a:solidFill>
                  <a:srgbClr val="1B3B6F"/>
                </a:solidFill>
                <a:latin typeface="Amiri" pitchFamily="2" charset="-78"/>
                <a:cs typeface="Amiri" pitchFamily="2" charset="-78"/>
              </a:rPr>
              <a:t>يَتَجَاوَزَ</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لَوِ اتَّخَذَتِ الدُّوَلُ إِجْرَاءَاتٍ، سَيَقِلُّ التَّصَحُّرُ.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لَوِ اتَّخَذَتِ الدُّوَلُ إِجْرَاءَاتٍ، لَقَلَّ التَّصَحُّرُ.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the Arab world and climate risk</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Arab region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Among the most affected by climate change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Unaffected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least affected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experts fear?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it will rain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desert shrinks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temperatures exceed a level incompatible with life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situation require?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people wait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nothing be done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Arab governments take urgent measures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states acted early, desertification would be less severe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Acting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Desertification is unstoppable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international community hope?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nothing changes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Gulf states direct their wealth toward the energy transition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oil use rises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yakhshā an · yataṭallabu an · yarjū an.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يُشَارُ إِلَى أَنَّ المِنْطَقَةَ العَرَبِيَّةَ مِنْ أَكْثَرِ مَنَاطِقِ العَالَمِ تَأَثُّرًا بِتَغَيُّرِ المَنَاخِ. تُعَانِي دُوَلٌ مِثْلُ العِرَاقِ وَالأُرْدُنِّ مِنْ تَصَحُّرٍ مُتَسَارِعٍ يُهَدِّدُ الأَمْنَ الغِذَائِيَّ.</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It is reported that the Arab region is among the regions most affected by climate change. Countries such as Iraq and Jordan suffer from accelerating desertification that threatens food security.</a:t>
            </a:r>
            <a:endParaRPr lang="en-US" sz="120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cs typeface="Amiri" pitchFamily="2" charset="-78"/>
              </a:rPr>
              <a:t>يَخْشَى الخُبَرَاءُ أَنْ تَتَجَاوَزَ دَرَجَاتُ الحَرَارَةِ حَدًّا لَا تُمْكِنُ مَعَهُ الحَيَاةُ فِي بَعْضِ المَنَاطِقِ.</a:t>
            </a:r>
            <a:endParaRPr lang="ar-SA" sz="17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Experts fear that temperatures will exceed a limit at which life is impossible in some areas.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وَيَتَطَلَّبُ الوَضْعُ أَنْ تَتَّخِذَ الحُكُومَاتُ العَرَبِيَّةُ تَدَابِيرَ عَاجِلَةً. إِذَا وَاصَلَتِ الحَرَارَةُ ارْتِفَاعَهَا، سَتَنْتُجُ هِجْرَاتٌ مَنَاخِيَّةٌ وَاسِعَةٌ.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situation requires Arab governments to take urgent measures. If temperatures keep rising, large climate migrations will result.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وَلَوِ اتَّخَذَتِ الدُّوَلُ إِجْرَاءَاتٍ مُبَكِّرًا، لَكَانَتْ آثَارُ التَّصَحُّرِ أَقَلَّ حِدَّةً.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states acted early, the effects of desertification would be less severe.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وَيَرْجُو المُجْتَمَعُ الدَّوْلِيُّ أَنْ تُوَجِّهَ دُوَلُ الخَلِيجِ ثَرْوَتَهَا نَحْوَ الانْتِقَالِ الطَّاقَوِيِّ.</a:t>
            </a:r>
            <a:endParaRPr lang="ar-SA" sz="19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international community hopes that the Gulf states will direct their wealth towards the energy transition.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Arab region described?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Among the most affected by climate change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Unaffected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least affected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أَكْثَرِ مَنَاطِقِ العَالَمِ تَأَثُّرًا بِتَغَيُّرِ المَنَاخِ.</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experts fear?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it will rain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desert shrinks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temperatures exceed a level incompatible with life</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cs typeface="Amiri" pitchFamily="2" charset="-78"/>
              </a:rPr>
              <a:t>يَخْشَى الخُبَرَاءُ أَنْ تَتَجَاوَزَ دَرَجَاتُ الحَرَارَةِ حَدًّا لَا تُمْكِنُ مَعَهُ الحَيَاةُ.</a:t>
            </a:r>
            <a:endParaRPr lang="ar-SA" sz="11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situation require?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people wait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nothing be done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Arab governments take urgent measures</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يَتَطَلَّبُ الوَضْعُ أَنْ تَتَّخِذَ الحُكُومَاتُ … تَدَابِيرَ عَاجِلَةً.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states acted early, desertification would be less severe</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Acting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Desertification is unstoppable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cs typeface="Amiri" pitchFamily="2" charset="-78"/>
              </a:rPr>
              <a:t>لَوِ اتَّخَذَتِ الدُّوَلُ إِجْرَاءَاتٍ مُبَكِّرًا، لَكَانَتْ آثَارُ التَّصَحُّرِ أَقَلَّ.</a:t>
            </a:r>
            <a:endParaRPr lang="ar-SA" sz="12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international community hope?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nothing changes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Gulf states direct their wealth toward the energy transition</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oil use rises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2" charset="-78"/>
                <a:cs typeface="Amiri" pitchFamily="2" charset="-78"/>
              </a:rPr>
              <a:t>يَرْجُو المُجْتَمَعُ الدَّوْلِيُّ أَنْ تُوَجِّهَ دُوَلُ الخَلِيجِ ثَرْوَتَهَا نَحْوَ الانْتِقَالِ الطَّاقَوِيِّ.</a:t>
            </a:r>
            <a:endParaRPr lang="ar-SA" sz="9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yakhshā an · yataṭallabu an · yarjū an.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Speaking: fear, hope and requirement</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يَخْشَى العُلَمَاءُ؟ اسْتَعْمِلْ «يَخْشَى أَنْ» + مَنْصُوبًا.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يَتَطَلَّبُ الوَضْعُ؟ اسْتَعْمِلْ «يَتَطَلَّبُ أَنْ».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يَرْجُو الجَمِيعُ؟ اسْتَعْمِلْ «يَرْجُو أَنْ».</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يَخْشَى العُلَمَاءُ أَنْ تَتَجَاوَزَ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يَتَطَلَّبُ الوَضْعُ أَنْ تَتَّخِذَ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نَرْجُو أَنْ تَتَحَوَّلَ ___ إِلَى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يَخْشَى العُلَمَاءُ؟</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scientists fear?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يَخْشَى العُلَمَاءُ أَنْ تَتَجَاوَزَ الحَرَارَةُ حَدًّا خَطِيرًا فِي المِنْطَقَةِ العَرَبِيَّةِ.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Scientists fear that heat will exceed a dangerous limit in the Arab region.</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three sentences with </a:t>
            </a:r>
            <a:pPr algn="l" indent="0" marL="0">
              <a:buNone/>
            </a:pPr>
            <a:r>
              <a:rPr lang="ar-SA" altLang="en-US" sz="1800" b="1" dirty="0">
                <a:solidFill>
                  <a:srgbClr val="1F2A37"/>
                </a:solidFill>
                <a:latin typeface="Amiri" pitchFamily="2" charset="-78"/>
                <a:cs typeface="Amiri" pitchFamily="2" charset="-78"/>
              </a:rPr>
              <a:t>يَتَطَلَّبُ أَنْ</a:t>
            </a:r>
            <a:pPr algn="l" indent="0" marL="0">
              <a:buNone/>
            </a:pPr>
            <a:r>
              <a:rPr lang="en-US" sz="1400" b="1" dirty="0">
                <a:solidFill>
                  <a:srgbClr val="1F2A37"/>
                </a:solidFill>
                <a:latin typeface="Calibri" pitchFamily="34" charset="0"/>
                <a:cs typeface="Amiri" pitchFamily="2" charset="-78"/>
              </a:rPr>
              <a:t>, </a:t>
            </a:r>
            <a:pPr algn="l" indent="0" marL="0">
              <a:buNone/>
            </a:pPr>
            <a:r>
              <a:rPr lang="ar-SA" altLang="en-US" sz="1800" b="1" dirty="0">
                <a:solidFill>
                  <a:srgbClr val="1F2A37"/>
                </a:solidFill>
                <a:latin typeface="Amiri" pitchFamily="2" charset="-78"/>
                <a:cs typeface="Amiri" pitchFamily="2" charset="-78"/>
              </a:rPr>
              <a:t>يَخْشَى أَنْ</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cs typeface="Amiri" pitchFamily="2" charset="-78"/>
              </a:rPr>
              <a:t>يَرْجُو أَنْ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one sentence each with yataṭallabu an, yakhshā an and yarjū 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Type 1 risk and a Type 2 counterfactual.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Type 1 risk and a Type 2 counterfactual.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analysis with a </a:t>
            </a:r>
            <a:pPr algn="l" indent="0" marL="0">
              <a:buNone/>
            </a:pPr>
            <a:r>
              <a:rPr lang="ar-SA" altLang="en-US" sz="1800" b="1" dirty="0">
                <a:solidFill>
                  <a:srgbClr val="1F2A37"/>
                </a:solidFill>
                <a:latin typeface="Amiri" pitchFamily="2" charset="-78"/>
                <a:cs typeface="Amiri" pitchFamily="2" charset="-78"/>
              </a:rPr>
              <a:t>لِكَي</a:t>
            </a:r>
            <a:pPr algn="l" indent="0" marL="0">
              <a:buNone/>
            </a:pPr>
            <a:r>
              <a:rPr lang="en-US" sz="1400" b="1" dirty="0">
                <a:solidFill>
                  <a:srgbClr val="1F2A37"/>
                </a:solidFill>
                <a:latin typeface="Calibri" pitchFamily="34" charset="0"/>
                <a:cs typeface="Amiri" pitchFamily="2" charset="-78"/>
              </a:rPr>
              <a:t> clause and a reported-speech citation.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climate analysis with the three volition verbs, both conditionals, a li-kay clause and a cited expert.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إِذَا وَاصَلَتِ الحَرَارَةُ ارْتِفَاعَهَا، سَتَنْتُجُ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temperatures keep rising,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cs typeface="Amiri" pitchFamily="2" charset="-78"/>
              </a:rPr>
              <a:t>لَوِ اتَّخَذَتِ الدُّوَلُ إِجْرَاءَاتٍ مُبَكِّرًا، لَكَانَتْ ______ .</a:t>
            </a:r>
            <a:endParaRPr lang="ar-SA" sz="15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states acted early,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أَكَّدَ خُبَرَاءُ الأُمَمِ المُتَّحِدَةِ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UN experts stressed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cs typeface="Amiri" pitchFamily="2" charset="-78"/>
              </a:rPr>
              <a:t>يَجِبُ أَنْ تَعْتَمِدَ المِنْطَقَةُ عَلَى ______ لِكَيْ تُقَلِّلَ ______ .</a:t>
            </a:r>
            <a:endParaRPr lang="ar-SA" sz="13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region must rely on … so that it reduces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يَخْشَى العُلَمَاءُ 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Scientists fear that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يَتَطَلَّبُ الوَضْعُ أَنْ تَتَّخِذَ الحُكُومَاتُ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situation requires that governments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يَرْجُو الجَمِيعُ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Everyone hopes that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تُعَانِي دُوَلٌ مِثْلُ ______ مِنْ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Countries such as … suffer from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cs typeface="Amiri" pitchFamily="2" charset="-78"/>
              </a:rPr>
              <a:t>تَتَجَاوَزَ الحَرَارَةُ حَدًّا خَطِيرًا  ·  يَزْدَادَ التَّصَحُّرُ  ·  تَدَابِيرَ عَاجِلَةً  ·  تَسْتَثْمِرَ فِي الطَّاقَةِ النَّظِيفَةِ  ·  تُوَقِّعَ الدُّوَلُ الاتِّفَاقِيَّةَ  ·  تَتَحَوَّلَ الأَزْمَةُ إِلَى فُرْصَةٍ  ·  العِرَاقِ وَالأُرْدُنِّ  ·  تَصَحُّرٍ مُتَسَارِعٍ  ·  هِجْرَاتٌ مَنَاخِيَّةٌ  ·  أَقَلَّ حِدَّةً  ·  الطَّاقَةِ الشَّمْسِيَّةِ  ·  انْبِعَاثَاتِهَا</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one hundred and ten to one hundred and twenty words analysing climate change in the Arab world. Use </a:t>
            </a:r>
            <a:pPr algn="l" indent="0" marL="0">
              <a:buNone/>
            </a:pPr>
            <a:r>
              <a:rPr lang="ar-SA" altLang="en-US" sz="1750" b="1" dirty="0">
                <a:solidFill>
                  <a:srgbClr val="1F2A37"/>
                </a:solidFill>
                <a:latin typeface="Amiri" pitchFamily="2" charset="-78"/>
                <a:cs typeface="Amiri" pitchFamily="2" charset="-78"/>
              </a:rPr>
              <a:t>يَتَطَلَّبُ أَنْ</a:t>
            </a:r>
            <a:pPr algn="l" indent="0" marL="0">
              <a:buNone/>
            </a:pPr>
            <a:r>
              <a:rPr lang="en-US" sz="1350" b="1" dirty="0">
                <a:solidFill>
                  <a:srgbClr val="1F2A37"/>
                </a:solidFill>
                <a:latin typeface="Calibri" pitchFamily="34" charset="0"/>
                <a:cs typeface="Amiri" pitchFamily="2" charset="-78"/>
              </a:rPr>
              <a:t>, </a:t>
            </a:r>
            <a:pPr algn="l" indent="0" marL="0">
              <a:buNone/>
            </a:pPr>
            <a:r>
              <a:rPr lang="ar-SA" altLang="en-US" sz="1750" b="1" dirty="0">
                <a:solidFill>
                  <a:srgbClr val="1F2A37"/>
                </a:solidFill>
                <a:latin typeface="Amiri" pitchFamily="2" charset="-78"/>
                <a:cs typeface="Amiri" pitchFamily="2" charset="-78"/>
              </a:rPr>
              <a:t>يَخْشَى أَنْ</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cs typeface="Amiri" pitchFamily="2" charset="-78"/>
              </a:rPr>
              <a:t>يَرْجُو أَنْ</a:t>
            </a:r>
            <a:pPr algn="l" indent="0" marL="0">
              <a:buNone/>
            </a:pPr>
            <a:r>
              <a:rPr lang="en-US" sz="1350" b="1" dirty="0">
                <a:solidFill>
                  <a:srgbClr val="1F2A37"/>
                </a:solidFill>
                <a:latin typeface="Calibri" pitchFamily="34" charset="0"/>
                <a:cs typeface="Amiri" pitchFamily="2" charset="-78"/>
              </a:rPr>
              <a:t>, both conditional types, a </a:t>
            </a:r>
            <a:pPr algn="l" indent="0" marL="0">
              <a:buNone/>
            </a:pPr>
            <a:r>
              <a:rPr lang="ar-SA" altLang="en-US" sz="1750" b="1" dirty="0">
                <a:solidFill>
                  <a:srgbClr val="1F2A37"/>
                </a:solidFill>
                <a:latin typeface="Amiri" pitchFamily="2" charset="-78"/>
                <a:cs typeface="Amiri" pitchFamily="2" charset="-78"/>
              </a:rPr>
              <a:t>لِكَيْ</a:t>
            </a:r>
            <a:pPr algn="l" indent="0" marL="0">
              <a:buNone/>
            </a:pPr>
            <a:r>
              <a:rPr lang="en-US" sz="1350" b="1" dirty="0">
                <a:solidFill>
                  <a:srgbClr val="1F2A37"/>
                </a:solidFill>
                <a:latin typeface="Calibri" pitchFamily="34" charset="0"/>
                <a:cs typeface="Amiri" pitchFamily="2" charset="-78"/>
              </a:rPr>
              <a:t> purpose clause and a reported-speech clause.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cs typeface="Amiri" pitchFamily="2" charset="-78"/>
              </a:rPr>
              <a:t>يَتَطَلَّبُ أَنْ</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cs typeface="Amiri" pitchFamily="2" charset="-78"/>
              </a:rPr>
              <a:t>يَخْشَى أَنْ</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يَرْجُو أَنْ</a:t>
            </a:r>
            <a:pPr algn="l" indent="0" marL="0">
              <a:buNone/>
            </a:pPr>
            <a:r>
              <a:rPr lang="en-US" sz="1200" dirty="0">
                <a:solidFill>
                  <a:srgbClr val="1F2A37"/>
                </a:solidFill>
                <a:latin typeface="Calibri" pitchFamily="34" charset="0"/>
                <a:cs typeface="Amiri" pitchFamily="2" charset="-78"/>
              </a:rPr>
              <a:t>, each with a subjunctive verb.</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real risk and a Type 2 counterfactual.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a:t>
            </a:r>
            <a:pPr algn="l" indent="0" marL="0">
              <a:buNone/>
            </a:pPr>
            <a:r>
              <a:rPr lang="ar-SA" altLang="en-US" sz="1550" dirty="0">
                <a:solidFill>
                  <a:srgbClr val="1F2A37"/>
                </a:solidFill>
                <a:latin typeface="Amiri" pitchFamily="2" charset="-78"/>
                <a:cs typeface="Amiri" pitchFamily="2" charset="-78"/>
              </a:rPr>
              <a:t>لِكَيْ</a:t>
            </a:r>
            <a:pPr algn="l" indent="0" marL="0">
              <a:buNone/>
            </a:pPr>
            <a:r>
              <a:rPr lang="en-US" sz="1200" dirty="0">
                <a:solidFill>
                  <a:srgbClr val="1F2A37"/>
                </a:solidFill>
                <a:latin typeface="Calibri" pitchFamily="34" charset="0"/>
                <a:cs typeface="Amiri" pitchFamily="2" charset="-78"/>
              </a:rPr>
              <a:t> purpose clause with the subjunctive fatḥa.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reported-speech clause citing scientists.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مِنْ أَكْثَرِ مَنَاطِقِ العَالَمِ تَأَثُّرًا بِتَغَيُّرِ المَنَاخِ</a:t>
            </a:r>
            <a:endParaRPr lang="ar-SA" sz="15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among the regions most affected by climate change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تَصَحُّرٍ مُتَسَارِعٍ يُهَدِّدُ الأَمْنَ الغِذَائِيَّ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accelerating desertification that threatens food security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حَدًّا لَا تُمْكِنُ مَعَهُ الحَيَاةُ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limit at which life is impossible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لَكَانَتْ آثَارُ التَّصَحُّرِ أَقَلَّ حِدَّةً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effects of desertification would be less severe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 تَتَحَوَّلَ الأَزْمَةُ إِلَى فُرْصَةٍ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the crisis turns into an opportunity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يُشَارُ إِلَى أَنَّ المِنْطَقَةَ العَرَبِيَّةَ مِنْ أَكْثَرِ مَنَاطِقِ العَالَمِ تَأَثُّرًا بِتَغَيُّرِ المَنَاخِ. تُعَانِي دُوَلٌ مِثْلُ العِرَاقِ مِنْ تَصَحُّرٍ مُتَسَارِعٍ يُهَدِّدُ الأَمْنَ الغِذَائِيَّ. يَخْشَى العُلَمَاءُ أَنْ تَتَجَاوَزَ الحَرَارَةُ حَدًّا لَا تُمْكِنُ مَعَهُ الحَيَاةُ، وَيَتَطَلَّبُ الوَضْعُ أَنْ تَتَّخِذَ الحُكُومَاتُ تَدَابِيرَ عَاجِلَةً. إِذَا وَاصَلَتِ الحَرَارَةُ ارْتِفَاعَهَا، سَتَنْتُجُ هِجْرَاتٌ مَنَاخِيَّةٌ وَاسِعَةٌ. وَلَوِ اتَّخَذَتِ الدُّوَلُ إِجْرَاءَاتٍ مُبَكِّرًا، لَكَانَتْ آثَارُ التَّصَحُّرِ أَقَلَّ حِدَّةً. وَأَكَّدَ خُبَرَاءُ الأُمَمِ المُتَّحِدَةِ أَنَّ التَّعَاوُنَ ضَرُورِيٌّ. لِذٰلِكَ يَجِبُ أَنْ تَعْتَمِدَ المِنْطَقَةُ عَلَى الطَّاقَةِ الشَّمْسِيَّةِ لِكَيْ تُقَلِّلَ انْبِعَاثَاتِهَا. وَيَرْجُو الجَمِيعُ أَنْ تَتَحَوَّلَ الأَزْمَةُ إِلَى فُرْصَةٍ.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reported that the Arab region is among the regions most affected by climate change. Countries such as Iraq suffer from accelerating desertification that threatens food security. Scientists fear that heat will exceed a limit at which life is impossible, and the situation requires governments to take urgent measures. If temperatures keep rising, large climate migrations will result. Had states acted early, the effects of desertification would be less severe. UN experts have stressed that cooperation is essential. So the region must rely on solar energy so that it reduces its emissions. And everyone hopes that the crisis will turn into an opportunity.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yakhshā an tatajāwaza · yataṭallabu an tattakhidha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1 (idhā … sa-) and a Type 2 (law … la-)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akkada … anna (a cited expert)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 tuqallila · yarjū an tataḥawwala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every an, my verb ends in -a.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all three moods: requirement, fear, hope.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risk uses idhā … sa-; my regret uses law … la-.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 + verb, but anna + noun (akkada anna l-taʿāwuna).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cited an expert and added a li-kay purpose.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يَتَطَلَّبُ الوَضْعُ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الحُكُومَاتُ تَدَابِيرَ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اتَّخَذَتْ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expresses fear?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يَرْجُو 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يَخْشَى 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أَنْ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لَوِ اتَّخَذَتِ الدُّوَلُ إِجْرَاءَاتٍ، لَقَلَّ التَّصَحُّرُ.</a:t>
            </a:r>
            <a:endParaRPr lang="ar-SA" sz="15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إِذَا اتَّخَذَتِ الدُّوَلُ إِجْرَاءَاتٍ، سَيَقِلُّ التَّصَحُّرُ.</a:t>
            </a:r>
            <a:endParaRPr lang="ar-SA" sz="15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تَتَّخِذُ الدُّوَلُ إِجْرَاءَاتٍ.</a:t>
            </a:r>
            <a:endParaRPr lang="ar-SA" sz="15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يَتَطَلَّبُ الوَضْعُ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الحُكُومَاتُ تَدَابِيرَ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تَتَّخِذَ</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تَتَّخِذُ</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اتَّخَذَتْ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تَتَّخِذَ</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expresses fear?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يَرْجُو 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يَخْشَى 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يَتَطَلَّبُ أَنْ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يَخْشَى أَنْ</a:t>
            </a:r>
            <a:pPr algn="l" indent="0" marL="0">
              <a:buNone/>
            </a:pPr>
            <a:r>
              <a:rPr lang="en-US" sz="1050" i="1" dirty="0">
                <a:solidFill>
                  <a:srgbClr val="8A6D1E"/>
                </a:solidFill>
                <a:latin typeface="Calibri" pitchFamily="34" charset="0"/>
                <a:cs typeface="Amiri" pitchFamily="2" charset="-78"/>
              </a:rPr>
              <a:t> expresses fear.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لَوِ اتَّخَذَتِ الدُّوَلُ إِجْرَاءَاتٍ، لَقَلَّ التَّصَحُّرُ.</a:t>
            </a:r>
            <a:endParaRPr lang="ar-SA" sz="15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cs typeface="Amiri" pitchFamily="2" charset="-78"/>
              </a:rPr>
              <a:t>إِذَا اتَّخَذَتِ الدُّوَلُ إِجْرَاءَاتٍ، سَيَقِلُّ التَّصَحُّرُ.</a:t>
            </a:r>
            <a:endParaRPr lang="ar-SA" sz="15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cs typeface="Amiri" pitchFamily="2" charset="-78"/>
              </a:rPr>
              <a:t>تَتَّخِذُ الدُّوَلُ إِجْرَاءَاتٍ.</a:t>
            </a:r>
            <a:endParaRPr lang="ar-SA" sz="15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counterfactual.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fear, hope and requirement</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يُعَدُّ تَغَيُّرُ المَنَاخِ أَخْطَرَ تَحَدٍّ يُوَاجِهُ العَالَمَ العَرَبِيَّ. فَالمِنْطَقَةُ تَضُمُّ كَثِيرًا مِنَ الدُّوَلِ الأَشَدِّ هَشَاشَةً أَمَامَ الاحْتِرَارِ. يَخْشَى العُلَمَاءُ أَنْ تُصْبِحَ بَعْضُ المُدُنِ غَيْرَ صَالِحَةٍ لِلسَّكَنِ بِسَبَبِ مَوْجَاتِ الحَرِّ. وَيَتَطَلَّبُ الوَضْعُ أَنْ تَتَعَاوَنَ الدُّوَلُ العَرَبِيَّةُ وَأَنْ تَسْتَثْمِرَ فِي الطَّاقَةِ النَّظِيفَةِ. إِذَا اعْتَمَدَتِ المِنْطَقَةُ عَلَى الطَّاقَةِ الشَّمْسِيَّةِ، سَتُقَلِّلُ انْبِعَاثَاتِهَا وَتُحَقِّقُ اسْتِقْلَالِيَّةً طَاقَوِيَّةً. وَلَوْ بَدَأَ الاسْتِثْمَارُ فِي الطَّاقَةِ النَّظِيفَةِ مُبَكِّرًا، لَكَانَتِ المِنْطَقَةُ رَائِدَةً اليَوْمَ. وَيَرْجُو الجَمِيعُ أَنْ تَتَحَوَّلَ الأَزْمَةُ إِلَى فُرْصَةٍ لِبِنَاءِ مُسْتَقْبَلٍ أَنْظَفَ.</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أَخْطَرَ تَحَدٍّ</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gravest challenge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الأَشَدِّ هَشَاشَةً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most fragile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الاحْتِرَارِ</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warming</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غَيْرَ صَالِحَةٍ لِلسَّكَنِ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uninhabitable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مَوْجَاتِ الحَرِّ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heat waves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تَسْتَثْمِرَ</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invest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انْبِعَاثَاتِهَا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emissions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اسْتِقْلَالِيَّةً طَاقَوِيَّةً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energy independence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رَائِدَةً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leader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الأَزْمَةُ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crisis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climate change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minor issue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most serious challenge facing the Arab world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opportunity only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scientists fear?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it rains too much</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deserts vanish</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some cities become uninhabitable due to heat waves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situation require?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Cooperation and investment in clean energy</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Waiting</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Ignoring the issue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makes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Had clean-energy investment started early, the region would be a leader today</a:t>
            </a:r>
            <a:endParaRPr lang="en-US" sz="12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Leadership is impossible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everyone hope?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crisis turns into an opportunity for a cleaner future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nothing changes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oil use grows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climate change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minor issue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most serious challenge facing the Arab world</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opportunity only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أَخْطَرَ تَحَدٍّ يُوَاجِهُ العَالَمَ العَرَبِيَّ.</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scientists fear?</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it rains too much</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deserts vanish</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some cities become uninhabitable due to heat waves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يَخْشَى العُلَمَاءُ أَنْ تُصْبِحَ بَعْضُ المُدُنِ غَيْرَ صَالِحَةٍ لِلسَّكَنِ.</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situation require?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Cooperation and investment in clean energy</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Waiting</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Ignoring the issue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cs typeface="Amiri" pitchFamily="2" charset="-78"/>
              </a:rPr>
              <a:t>يَتَطَلَّبُ الوَضْعُ أَنْ تَتَعَاوَنَ الدُّوَلُ … وَأَنْ تَسْتَثْمِرَ فِي الطَّاقَةِ النَّظِيفَةِ.</a:t>
            </a:r>
            <a:endParaRPr lang="ar-SA" sz="11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makes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clean-energy investment started early, the region would be a leader today</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Leadership is impossible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cs typeface="Amiri" pitchFamily="2" charset="-78"/>
              </a:rPr>
              <a:t>لَوْ بَدَأَ الاسْتِثْمَارُ … مُبَكِّرًا، لَكَانَتِ المِنْطَقَةُ رَائِدَةً اليَوْمَ.</a:t>
            </a:r>
            <a:endParaRPr lang="ar-SA" sz="12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everyone hope?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the crisis turns into an opportunity for a cleaner future</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nothing changes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oil use grows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يَرْجُو الجَمِيعُ أَنْ تَتَحَوَّلَ الأَزْمَةُ إِلَى فُرْصَةٍ.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Climate Mission — Fear, Hope and Requirement</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يَتَطَلَّبُ الوَضْعُ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الحُكُومَاتُ تَدَابِيرَ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اتَّخَذَتْ</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يَخْشَى العُلَمَاءُ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الحَرَارَةُ حَدًّا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تَتَجَاوَزَ</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تَتَجَاوَزُ</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تَجَاوَزَتْ</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يَرْجُو الجَمِيعُ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الدُّوَلُ الاتِّفَاقِيَّةَ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تُوَقِّعُ</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وَقَّعَتْ</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تُوَقِّعَ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Mood:</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يَخْشَى أَنْ</a:t>
            </a:r>
            <a:pPr algn="l" indent="0" marL="0">
              <a:buNone/>
            </a:pPr>
            <a:r>
              <a:rPr lang="en-US" sz="1450" b="1" dirty="0">
                <a:solidFill>
                  <a:srgbClr val="1F2A37"/>
                </a:solidFill>
                <a:latin typeface="Calibri" pitchFamily="34" charset="0"/>
                <a:cs typeface="Amiri" pitchFamily="2" charset="-78"/>
              </a:rPr>
              <a:t> expresses …</a:t>
            </a:r>
            <a:endParaRPr lang="en-US" sz="14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hope</a:t>
            </a:r>
            <a:endParaRPr lang="en-US" sz="12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requirement</a:t>
            </a:r>
            <a:endParaRPr lang="en-US" sz="12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fear</a:t>
            </a:r>
            <a:endParaRPr lang="en-US" sz="12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Mood:</a:t>
            </a:r>
            <a:endParaRPr lang="en-US" sz="12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يَرْجُو أَنْ</a:t>
            </a:r>
            <a:pPr algn="l" indent="0" marL="0">
              <a:buNone/>
            </a:pPr>
            <a:r>
              <a:rPr lang="en-US" sz="1450" b="1" dirty="0">
                <a:solidFill>
                  <a:srgbClr val="1F2A37"/>
                </a:solidFill>
                <a:latin typeface="Calibri" pitchFamily="34" charset="0"/>
                <a:cs typeface="Amiri" pitchFamily="2" charset="-78"/>
              </a:rPr>
              <a:t> expresses …</a:t>
            </a:r>
            <a:endParaRPr lang="en-US" sz="14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hope</a:t>
            </a:r>
            <a:endParaRPr lang="en-US" sz="12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fear</a:t>
            </a:r>
            <a:endParaRPr lang="en-US" sz="12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Mood:</a:t>
            </a:r>
            <a:endParaRPr lang="en-US" sz="1200" dirty="0"/>
          </a:p>
        </p:txBody>
      </p:sp>
      <p:sp>
        <p:nvSpPr>
          <p:cNvPr id="88" name="Text 85"/>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يَتَطَلَّبُ أَنْ</a:t>
            </a:r>
            <a:pPr algn="l" indent="0" marL="0">
              <a:buNone/>
            </a:pPr>
            <a:r>
              <a:rPr lang="en-US" sz="1450" b="1" dirty="0">
                <a:solidFill>
                  <a:srgbClr val="1F2A37"/>
                </a:solidFill>
                <a:latin typeface="Calibri" pitchFamily="34" charset="0"/>
                <a:cs typeface="Amiri" pitchFamily="2" charset="-78"/>
              </a:rPr>
              <a:t> expresses …</a:t>
            </a:r>
            <a:endParaRPr lang="en-US" sz="1450" dirty="0"/>
          </a:p>
        </p:txBody>
      </p:sp>
      <p:sp>
        <p:nvSpPr>
          <p:cNvPr id="89" name="Shape 86"/>
          <p:cNvSpPr/>
          <p:nvPr/>
        </p:nvSpPr>
        <p:spPr>
          <a:xfrm>
            <a:off x="8278368" y="48737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hope</a:t>
            </a:r>
            <a:endParaRPr lang="en-US" sz="1250" dirty="0"/>
          </a:p>
        </p:txBody>
      </p:sp>
      <p:sp>
        <p:nvSpPr>
          <p:cNvPr id="92" name="Shape 89"/>
          <p:cNvSpPr/>
          <p:nvPr/>
        </p:nvSpPr>
        <p:spPr>
          <a:xfrm>
            <a:off x="8278368" y="53309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4" name="Text 91"/>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requirement</a:t>
            </a:r>
            <a:endParaRPr lang="en-US" sz="1250" dirty="0"/>
          </a:p>
        </p:txBody>
      </p:sp>
      <p:sp>
        <p:nvSpPr>
          <p:cNvPr id="95" name="Shape 92"/>
          <p:cNvSpPr/>
          <p:nvPr/>
        </p:nvSpPr>
        <p:spPr>
          <a:xfrm>
            <a:off x="8278368" y="57881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7" name="Text 94"/>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fear</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يَتَطَلَّبُ الوَضْعُ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الحُكُومَاتُ تَدَابِيرَ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تَتَّخِذُ</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تَتَّخِذَ</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اتَّخَذَتْ</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يَخْشَى العُلَمَاءُ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الحَرَارَةُ حَدًّا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تَتَجَاوَزَ</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تَتَجَاوَزُ</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تَجَاوَزَتْ</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 fatḥa.</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يَرْجُو الجَمِيعُ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الدُّوَلُ الاتِّفَاقِيَّةَ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تُوَقِّعُ</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وَقَّعَتْ</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تُوَقِّعَ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يَرْجُو أَنْ</a:t>
            </a:r>
            <a:pPr algn="l" indent="0" marL="0">
              <a:buNone/>
            </a:pPr>
            <a:r>
              <a:rPr lang="en-US" sz="1050" i="1" dirty="0">
                <a:solidFill>
                  <a:srgbClr val="8A6D1E"/>
                </a:solidFill>
                <a:latin typeface="Calibri" pitchFamily="34" charset="0"/>
                <a:cs typeface="Amiri" pitchFamily="2" charset="-78"/>
              </a:rPr>
              <a:t> takes a subjunctive.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Mood:</a:t>
            </a:r>
            <a:endParaRPr lang="en-US" sz="1200" dirty="0"/>
          </a:p>
        </p:txBody>
      </p:sp>
      <p:sp>
        <p:nvSpPr>
          <p:cNvPr id="65" name="Text 63"/>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يَخْشَى أَنْ</a:t>
            </a:r>
            <a:pPr algn="l" indent="0" marL="0">
              <a:buNone/>
            </a:pPr>
            <a:r>
              <a:rPr lang="en-US" sz="1450" b="1" dirty="0">
                <a:solidFill>
                  <a:srgbClr val="1F2A37"/>
                </a:solidFill>
                <a:latin typeface="Calibri" pitchFamily="34" charset="0"/>
                <a:cs typeface="Amiri" pitchFamily="2" charset="-78"/>
              </a:rPr>
              <a:t> expresses …</a:t>
            </a:r>
            <a:endParaRPr lang="en-US" sz="14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hope</a:t>
            </a:r>
            <a:endParaRPr lang="en-US" sz="125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requirement</a:t>
            </a:r>
            <a:endParaRPr lang="en-US" sz="125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fear</a:t>
            </a:r>
            <a:endParaRPr lang="en-US" sz="125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يَخْشَى أَنْ</a:t>
            </a:r>
            <a:pPr algn="l" indent="0" marL="0">
              <a:buNone/>
            </a:pPr>
            <a:r>
              <a:rPr lang="en-US" sz="1050" i="1" dirty="0">
                <a:solidFill>
                  <a:srgbClr val="8A6D1E"/>
                </a:solidFill>
                <a:latin typeface="Calibri" pitchFamily="34" charset="0"/>
                <a:cs typeface="Amiri" pitchFamily="2" charset="-78"/>
              </a:rPr>
              <a:t> expresses fear.</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Mood:</a:t>
            </a:r>
            <a:endParaRPr lang="en-US" sz="1200" dirty="0"/>
          </a:p>
        </p:txBody>
      </p:sp>
      <p:sp>
        <p:nvSpPr>
          <p:cNvPr id="81" name="Text 79"/>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يَرْجُو أَنْ</a:t>
            </a:r>
            <a:pPr algn="l" indent="0" marL="0">
              <a:buNone/>
            </a:pPr>
            <a:r>
              <a:rPr lang="en-US" sz="1450" b="1" dirty="0">
                <a:solidFill>
                  <a:srgbClr val="1F2A37"/>
                </a:solidFill>
                <a:latin typeface="Calibri" pitchFamily="34" charset="0"/>
                <a:cs typeface="Amiri" pitchFamily="2" charset="-78"/>
              </a:rPr>
              <a:t> expresses …</a:t>
            </a:r>
            <a:endParaRPr lang="en-US" sz="145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hope</a:t>
            </a:r>
            <a:endParaRPr lang="en-US" sz="125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fear</a:t>
            </a:r>
            <a:endParaRPr lang="en-US" sz="125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يَرْجُو أَنْ</a:t>
            </a:r>
            <a:pPr algn="l" indent="0" marL="0">
              <a:buNone/>
            </a:pPr>
            <a:r>
              <a:rPr lang="en-US" sz="1050" i="1" dirty="0">
                <a:solidFill>
                  <a:srgbClr val="8A6D1E"/>
                </a:solidFill>
                <a:latin typeface="Calibri" pitchFamily="34" charset="0"/>
                <a:cs typeface="Amiri" pitchFamily="2" charset="-78"/>
              </a:rPr>
              <a:t> expresses hope.</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Mood:</a:t>
            </a:r>
            <a:endParaRPr lang="en-US" sz="1200" dirty="0"/>
          </a:p>
        </p:txBody>
      </p:sp>
      <p:sp>
        <p:nvSpPr>
          <p:cNvPr id="97" name="Text 95"/>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يَتَطَلَّبُ أَنْ</a:t>
            </a:r>
            <a:pPr algn="l" indent="0" marL="0">
              <a:buNone/>
            </a:pPr>
            <a:r>
              <a:rPr lang="en-US" sz="1450" b="1" dirty="0">
                <a:solidFill>
                  <a:srgbClr val="1F2A37"/>
                </a:solidFill>
                <a:latin typeface="Calibri" pitchFamily="34" charset="0"/>
                <a:cs typeface="Amiri" pitchFamily="2" charset="-78"/>
              </a:rPr>
              <a:t> expresses …</a:t>
            </a:r>
            <a:endParaRPr lang="en-US" sz="1450" dirty="0"/>
          </a:p>
        </p:txBody>
      </p:sp>
      <p:sp>
        <p:nvSpPr>
          <p:cNvPr id="98" name="Shape 96"/>
          <p:cNvSpPr/>
          <p:nvPr/>
        </p:nvSpPr>
        <p:spPr>
          <a:xfrm>
            <a:off x="8278368" y="4831080"/>
            <a:ext cx="256032" cy="256032"/>
          </a:xfrm>
          <a:prstGeom prst="ellipse">
            <a:avLst/>
          </a:prstGeom>
          <a:solidFill>
            <a:srgbClr val="C9CED6"/>
          </a:solidFill>
          <a:ln w="12700">
            <a:solidFill>
              <a:srgbClr val="C9CED6"/>
            </a:solidFill>
            <a:prstDash val="solid"/>
          </a:ln>
        </p:spPr>
      </p:sp>
      <p:sp>
        <p:nvSpPr>
          <p:cNvPr id="99" name="Text 97"/>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0" name="Text 98"/>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hope</a:t>
            </a:r>
            <a:endParaRPr lang="en-US" sz="1250" dirty="0"/>
          </a:p>
        </p:txBody>
      </p:sp>
      <p:sp>
        <p:nvSpPr>
          <p:cNvPr id="101" name="Shape 99"/>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2" name="Shape 100"/>
          <p:cNvSpPr/>
          <p:nvPr/>
        </p:nvSpPr>
        <p:spPr>
          <a:xfrm>
            <a:off x="8278368" y="5202936"/>
            <a:ext cx="256032" cy="256032"/>
          </a:xfrm>
          <a:prstGeom prst="ellipse">
            <a:avLst/>
          </a:prstGeom>
          <a:solidFill>
            <a:srgbClr val="2E8B57"/>
          </a:solidFill>
          <a:ln w="12700">
            <a:solidFill>
              <a:srgbClr val="2E8B57"/>
            </a:solidFill>
            <a:prstDash val="solid"/>
          </a:ln>
        </p:spPr>
      </p:sp>
      <p:sp>
        <p:nvSpPr>
          <p:cNvPr id="103" name="Text 101"/>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4" name="Text 102"/>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requirement</a:t>
            </a:r>
            <a:endParaRPr lang="en-US" sz="1250" dirty="0"/>
          </a:p>
        </p:txBody>
      </p:sp>
      <p:sp>
        <p:nvSpPr>
          <p:cNvPr id="105" name="Shape 103"/>
          <p:cNvSpPr/>
          <p:nvPr/>
        </p:nvSpPr>
        <p:spPr>
          <a:xfrm>
            <a:off x="8278368" y="5574792"/>
            <a:ext cx="256032" cy="256032"/>
          </a:xfrm>
          <a:prstGeom prst="ellipse">
            <a:avLst/>
          </a:prstGeom>
          <a:solidFill>
            <a:srgbClr val="C9CED6"/>
          </a:solidFill>
          <a:ln w="12700">
            <a:solidFill>
              <a:srgbClr val="C9CED6"/>
            </a:solidFill>
            <a:prstDash val="solid"/>
          </a:ln>
        </p:spPr>
      </p:sp>
      <p:sp>
        <p:nvSpPr>
          <p:cNvPr id="106" name="Text 104"/>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5"/>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fear</a:t>
            </a:r>
            <a:endParaRPr lang="en-US" sz="1250" dirty="0"/>
          </a:p>
        </p:txBody>
      </p:sp>
      <p:sp>
        <p:nvSpPr>
          <p:cNvPr id="108" name="Text 10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expresses requirement.</a:t>
            </a:r>
            <a:endParaRPr lang="en-US" sz="1050" dirty="0"/>
          </a:p>
        </p:txBody>
      </p:sp>
      <p:sp>
        <p:nvSpPr>
          <p:cNvPr id="109"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P4-L03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P4-L04 · Water in the Arab World — Scarcity, Management and the Future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نَدْرَةُ المِيَاهِ</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water scarcity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مِيَاهٌ جَوْفِيَّةٌ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groundwater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تَحْلِيَةُ المِيَاهِ</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water desalination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يَنْبَغِي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is necessary that, should</a:t>
            </a:r>
            <a:pPr indent="0" marL="0">
              <a:buNone/>
            </a:pPr>
            <a:r>
              <a:rPr lang="en-US" sz="1000" i="1" dirty="0">
                <a:solidFill>
                  <a:srgbClr val="5A6472"/>
                </a:solidFill>
                <a:latin typeface="Calibri" pitchFamily="34" charset="0"/>
                <a:cs typeface="Amiri" pitchFamily="2" charset="-78"/>
              </a:rPr>
              <a:t>  + verb in -a</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الرِّيُّ الحَدِيثُ</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modern irrigation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can we save water at home and at school?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يَنْبَغِي أَنْ ______ لِكَيْ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with yataṭallabu an, yakhshā an and yarjū an (verbs in -a!).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Type 1 risk and a Type 2 counterfactual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110–120-word climate analysis ending on hope.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P4-L04 · Water in the Arab World — Scarcity, Management and the Future</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المِيَاهُ فِي العَالَمِ العَرَبِيِّ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yataṭallabu an · yakhshā an · yarjū an · yurīdu an + a verb in -A — but anna + a noun — warn with idhā … sa-, regret with law … la-, and end on hope.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P4-L03 · Climate Change and the Arab World — Causes, Impacts and Responses</dc:title>
  <dc:subject>PptxGenJS Presentation</dc:subject>
  <dc:creator>Al Madina Online School · Arabic Department</dc:creator>
  <cp:lastModifiedBy>Al Madina Online School · Arabic Department</cp:lastModifiedBy>
  <cp:revision>1</cp:revision>
  <dcterms:created xsi:type="dcterms:W3CDTF">2026-10-11T06:43:17Z</dcterms:created>
  <dcterms:modified xsi:type="dcterms:W3CDTF">2026-10-11T06:43:17Z</dcterms:modified>
</cp:coreProperties>
</file>