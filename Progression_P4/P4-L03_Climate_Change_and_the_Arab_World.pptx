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P4-L03. The website lesson “Climate Change and the Arab World — Causes, Impacts and Responses”: vocabulary, grammar rules and quiz, patterns, common mistakes, sorter, listening, reading, speaking prompts and model, writing task and model, differentiation, final check and the lesson mission. Picture match: website visual game “Climate Change and the Arab World — Causes, Impacts and Responses”.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sentences with yataṭallabu an, yakhshā an and yarjū an (website Core). Develop: add a Type 1 risk and a Type 2 counterfactual. Stretch: a full 110–120-word analysis with a li-kay clause and a cited expert.
• Climate news can make young people anxious. End on hope — the lesson’s own arc is fear → requirement → hope, and the reading closes with «تَتَحَوَّلَ الأَزْمَةُ إِلَى فُرْصَةٍ». Faith link (optional): we are trustees (khalīfa) of the earth and must not cause corruption in it (فَسَاد).
• The grammar is not new — the verb in -a after an (P3-L06/L07) and li-kay (P4-L01). What is new is the meaning of the verb before an: requirement, fear, hope.
• Grammar links: both conditionals (P3-L05) · reported speech and stance (P2-L08 / P3-L06) · li-kay (P4-L01).
• TEACHER-WRITTEN ITEMS: waṣl alif shown without a kasra; لِكَيْ always written with its sukūn; vowel fix مَسْتَوَى → مُسْتَوَى; rule headings and formulas in English and transliteration; sorter headings in transliteration; game cards 1 and 4 not used (waṣl kasras); the verb, subjunctive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P4-L02. Questions 4–5 retrieve the passive and yuḥawwilu ilā (P4-L02) — today the reading ends with yarjū an tataḥawwala l-azmatu ilā fursa.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moods of crisis — requirement, fear, hope — and after each an,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خشیت (as in خشیتِ الٰہی), طلب, ضرورت and ہجرت are shared. Careful: Urdu امن usually means peace; Arabic الأَمْنُ الغِذَائِيُّ is food SECURITY (peace in Arabic is سَلَامٌ).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Climate impacts (website vocabulary (1 of 2)). Hear → Say → See → Use. Transliteration is printed for Core students (cover it for Develop/Stretch).
Climate impacts: the vocabulary of a crisis report. Note مُسْتَوَى (level) — with a ḍamma (the website prints a fatḥa). شُحٌّ = scarcity; التَّصَحُّرُ = desertification (land turning into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Climate impacts (website vocabulary (2 of 2)). Hear → Say → See → Use. Transliteration is printed for Core students (cover it for Develop/Stretch).
Climate impacts: the vocabulary of a crisis report. Note مُسْتَوَى (level) — with a ḍamma (the website prints a fatḥa). شُحٌّ = scarcity; التَّصَحُّرُ = desertification (land turning into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Volition verbs (+ subjunctive) (website vocabulary (1 of 2)). Hear → Say → See → Use. Transliteration is printed for Core students (cover it for Develop/Stretch).
Volition verbs: يَتَطَلَّبُ / يَخْشَى / يَرْجُو / يُرِيدُ + أَنْ + a verb in -a. يَقْتَضِي takes a direct object (يَقْتَضِي الأَمْرُ تَعَاوُنًا); يَهْدِفُ إِلَى takes a noun (يَهْدِفُ إِلَى خَفْضِ الانْبِعَاثَاتِ).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Volition verbs (+ subjunctive) (website vocabulary (2 of 2)). Hear → Say → See → Use. Transliteration is printed for Core students (cover it for Develop/Stretch).
FLEX: teach if time allows; otherwise these are on the website vocabulary tab for homework.
Volition verbs: يَتَطَلَّبُ / يَخْشَى / يَرْجُو / يُرِيدُ + أَنْ + a verb in -a. يَقْتَضِي takes a direct object (يَقْتَضِي الأَمْرُ تَعَاوُنًا); يَهْدِفُ إِلَى takes a noun (يَهْدِفُ إِلَى خَفْضِ الانْبِعَاثَاتِ).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Responses and policy (website vocabulary (1 of 2)). Hear → Say → See → Use. Transliteration is printed for Core students (cover it for Develop/Stretch).
FLEX: teach if time allows; otherwise these are on the website vocabulary tab for homework.
Responses and policy: the hopeful half of the lesson — political will, agreements, finance, solar energy, cutting emissions.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Responses and policy (website vocabulary (2 of 2)). Hear → Say → See → Use. Transliteration is printed for Core students (cover it for Develop/Stretch).
FLEX: teach if time allows; otherwise these are on the website vocabulary tab for homework.
Responses and policy: the hopeful half of the lesson — political will, agreements, finance, solar energy, cutting emissions.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“Requirement”, “Fear”, “Hope”, the website table and teaching point 2 (“Three moods of crisis”). Rows 5–6 use the website vocabulary (يَقْتَضِي · يَهْدِفُ إِلَى) — they do NOT take أَنْ here.
Feelings first: ask students to sort their own feelings about climate news into fear / requirement / hope before the grammar.
Agreement: the verb after أَنْ agrees with its own subject — أَنْ تَتَّخِذَ الحُكُومَاتُ (non-human / broken plural → ta-) · أَنْ يَتَجَاوَزَ الاحْتِرَارُ (masculine →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point 1 (“The final fatḥa marks the subjunctive”) and mistakes 1–2, with examples from the website reading, sorter and live builder.
Row 2: تُصْبِحَ + accusative predicate (غَيْرَ صَالِحَةٍ). Row 3: two parallel verbs each with its own أَنْ. Row 5: weak -ī verbs add -a (نَبْنِيَ, like نَحْمِيَ in P4-L01).
Remember: the verbs of fear and hope are themselves weak — يَخْشَى (no change after an: أَنْ يَخْشَى) · يَرْجُو (أَنْ يَرْجُوَ).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“Both conditionals”, mistake 3 and the writing model (card 3).
Do not confuse أَنْ and أَنَّ: يَخْشَى أَنْ + a VERB in -a · أَكَّدَ أَنَّ / يُشَارُ إِلَى أَنَّ + a NOUN in -a (أَنَّ التَّعَاوُنَ).
Card 2: أَقَلَّ حِدَّةً = less severe (comparative + tamyīz).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2: أَكْثَرُ + noun + tamyīz (تَأَثُّرًا) = “the most affected” — for qualities that have no afʿal form.
Row 3: أَخْطَرُ تَحَدٍّ = superlative + indefinite noun = “the gravest challenge”.
Accuracy: the UN and the World Bank describe the Middle East and North Africa as one of the regions most exposed to heat and water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“يَتَطَلَّبُ، يَخْشَى، يَرْجُو، يُرِيدُ + أَنْ put the next verb in the subjunctive, alongside both conditional types and reported speech.”
• Requirement: The situation requires an action.
• Fear: What is feared.
• Hope: What is hoped for.
• Both conditionals: A real risk and a counterfactual.
Website common error: Leaving the verb after أَنْ in the indicative (تَتَّخِذُ) instead of the subjunctive (تَتَّخِذَ). Verbs of requirement, fear and hope all require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“How serious? yushāru ilā ANNA + a noun. What do scientists fear? yakhshā AN + a verb in -a: tatajāwazA. What is required? yataṭallabu AN tattakhidhA. A real risk: idhā … SA-. A regret: law … LA-kānat. End on hope: yarjū AN tataḥawwalA.”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Climate Change and the Arab World — Causes, Impacts and Responses”)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1 and 4 not used). Then add a mood to each: يَخْشَى العُلَمَاءُ أَنْ تَرْتَفِعَ الحَرَارَةُ أَكْثَرَ · يَتَطَلَّبُ الجَفَافُ أَنْ نُوَفِّرَ المِيَاهَ · نَرْجُو أَنْ تَنْتَشِرَ الطَّاقَةُ المُتَجَدِّدَةُ.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Climate Change and the Arab World — Causes, Impacts and Responses”)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1 and 4 not used). Then add a mood to each: يَخْشَى العُلَمَاءُ أَنْ تَرْتَفِعَ الحَرَارَةُ أَكْثَرَ · يَتَطَلَّبُ الجَفَافُ أَنْ نُوَفِّرَ المِيَاهَ · نَرْجُو أَنْ تَنْتَشِرَ الطَّاقَةُ المُتَجَدِّدَةُ.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climate argument from a fear, a requirement and a hope.” Website feedback: any three different combinations work.
Core: read row 1 across. Develop: find the one line with no أَنْ (column 2 row 3: يَقْتَضِي + object). Stretch: write your own fear–requirement–hope line about water (tomorrow’s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and read it aloud: يَتَطَلَّبُ الوَضْعُ … · يَخْشَى العُلَمَاءُ … · يَرْجُو الجَمِيعُ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and read it aloud: يَتَطَلَّبُ الوَضْعُ … · يَخْشَى العُلَمَاءُ … · يَرْجُو الجَمِيعُ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verb after an with its final -a.
Listen 1: just listen. Listen 2: note answers. Then chat the letters.
Support: after the second listening, show the read-along slide (Arabic + English, line by line) for Core students.
SCRIPT (read aloud):
يُشَارُ إِلَى أَنَّ المِنْطَقَةَ العَرَبِيَّةَ مِنْ أَكْثَرِ مَنَاطِقِ العَالَمِ تَأَثُّرًا بِتَغَيُّرِ المَنَاخِ. تُعَانِي دُوَلٌ مِثْلُ العِرَاقِ وَالأُرْدُنِّ مِنْ تَصَحُّرٍ مُتَسَارِعٍ يُهَدِّدُ الأَمْنَ الغِذَائِيَّ. يَخْشَى الخُبَرَاءُ أَنْ تَتَجَاوَزَ دَرَجَاتُ الحَرَارَةِ حَدًّا لَا تُمْكِنُ مَعَهُ الحَيَاةُ فِي بَعْضِ المَنَاطِقِ. وَيَتَطَلَّبُ الوَضْعُ أَنْ تَتَّخِذَ الحُكُومَاتُ العَرَبِيَّةُ تَدَابِيرَ عَاجِلَةً. إِذَا وَاصَلَتِ الحَرَارَةُ ارْتِفَاعَهَا، سَتَنْتُجُ هِجْرَاتٌ مَنَاخِيَّةٌ وَاسِعَةٌ. وَلَوِ اتَّخَذَتِ الدُّوَلُ إِجْرَاءَاتٍ مُبَكِّرًا، لَكَانَتْ آثَارُ التَّصَحُّرِ أَقَلَّ حِدَّةً. وَيَرْجُو المُجْتَمَعُ الدَّوْلِيُّ أَنْ تُوَجِّهَ دُوَلُ الخَلِيجِ ثَرْوَتَهَا نَحْوَ الانْتِقَالِ الطَّاقَوِيِّ.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يَتَطَلَّبُ الوَضْعُ؟ (Requirement)
B: يَتَطَلَّبُ الوَضْعُ أَنْ تَتَّخِذَ الحُكُومَاتُ تَدَابِيرَ عَاجِلَةً، وَلَوْ بَدَأْنَا مُبَكِّرًا لَكَانَ الأَثَرُ أَقَلَّ. (يَتَطَلَّبُ أَنْ + a Type 2)
Website prompts and model. Pair task: “three moods” — A states a fear, B answers with a requirement, A closes with a hope. Partner checks every -a after an.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sentences with يَتَطَلَّبُ أَنْ, يَخْشَى أَنْ and يَرْجُو أَنْ. · Develop — Add a Type 1 risk and a Type 2 counterfactual. · Stretch — Write a full analysis with a لِكَي clause and a reported-speech citation.
Website writing task (Stretch): Write one hundred and ten to one hundred and twenty words analysing climate change in the Arab world. Use يَتَطَلَّبُ أَنْ, يَخْشَى أَنْ and يَرْجُو أَنْ, both conditional types, a لِكَيْ purpose clause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يُشَارُ إِلَى أَنَّ · يَخْشَى … أَنْ تَتَجَاوَزَ · يَتَطَلَّبُ … أَنْ تَتَّخِذَ · إِذَا وَاصَلَتِ … سَتَنْتُجُ · لَوِ اتَّخَذَتِ … لَكَانَتْ · أَكَّدَ خُبَرَاءُ … أَنَّ · لِكَيْ تُقَلِّلَ · يَرْجُو … أَنْ تَتَحَوَّلَ.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(P4-L04 · Water in the Arab World — Scarcity, Management and the Future) will spend class time USING this language, so students prepare it tonight — short, simple, easy to access (school guidance: “Simple, Short, Interesting, Relevant, Easy to access”). The five words come from the website P4-L04 vocabulary (water in the Arab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Climate Change and the Arab World — Causes, Impacts and Responses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34" charset="0"/>
                <a:ea typeface="Amiri" pitchFamily="34" charset="-122"/>
                <a:cs typeface="Amiri" pitchFamily="34" charset="-120"/>
              </a:rPr>
              <a:t>تَغَيُّرُ المَنَاخِ وَالعَالَمُ العَرَبِيُّ — الأَسْبَابُ وَالتَّأْثِيرَاتُ وَالاسْتِجَابَاتُ</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Analyse climate impacts on the Arab world with three moods of crisis — yataṭallabu an (requirement), yakhshā an (fear), yarjū an (hope), each + a verb in -a — plus a real risk, a counterfactual and a cited expert.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P4-L03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ea typeface="Calibri" pitchFamily="34" charset="-122"/>
                <a:cs typeface="Calibri" pitchFamily="34" charset="-120"/>
              </a:rPr>
              <a:t>Verbs of requirement, fear and hope + an, the verb in -a, risk / counterfactual / citation, climate register.</a:t>
            </a:r>
            <a:endParaRPr lang="en-US" sz="11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climate pictures, build a climate argument, sort fear / requirement / hope.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تَغَيُّرُ المَنَاخِ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change of weather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climate change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climate law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شُحُّ المِيَاهِ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pollution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water tank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hopes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requires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fears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مَشْرُوعًا ضَخْمًا.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 ضَخْمٍ.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يُبْنَى مَشْرُوعٌ ضَخْمٌ.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يُحَوِّلُ المَشْرُوعُ المَطَارَ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حَدِيقَةٍ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تَغَيُّرُ المَنَاخِ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change of weather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climate change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climate law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شُحُّ المِيَاهِ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 pollution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water tank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hopes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requires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fears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يُبْنَى مَشْرُوعًا ضَخْمًا.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يُبْنَى مَشْرُوعٍ ضَخْمٍ.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يُبْنَى مَشْرُوعٌ ضَخْمٌ.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P4-L02: the passive subject is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يُحَوِّلُ المَشْرُوعُ المَطَارَ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حَدِيقَةٍ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P4-L02: yuḥawwilu … ilā.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Three moods of crisis — requirement, fear, hope — and after each an,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يَتَطَلَّبُ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تَتَّخِذَ</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يَخْشَى أَنْ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تَتَجَاوَزَ</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يَرْجُو أَنْ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تُوَقِّعَ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climate-impact and policy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requirement, fear and hope with yataṭallabu / yakhshā / yarjū 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the verb after an in the subjunctive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balanced climate analysis.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climate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yakhshā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yataṭallabu an and yarjū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real risk and a counterfactual.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cite an expert and add a li-kay clause.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climate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Climate impacts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Volition verbs (+ subjunctive)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Responses and policy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خَشْيَةٌ · يَخْشَى</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‎خشیت‎ </a:t>
            </a:r>
            <a:pPr indent="0" marL="0">
              <a:buNone/>
            </a:pPr>
            <a:r>
              <a:rPr lang="en-US" sz="950" b="1" dirty="0">
                <a:solidFill>
                  <a:srgbClr val="2E8B57"/>
                </a:solidFill>
                <a:latin typeface="Calibri" pitchFamily="34" charset="0"/>
                <a:ea typeface="Calibri" pitchFamily="34" charset="-122"/>
                <a:cs typeface="Calibri" pitchFamily="34" charset="-120"/>
              </a:rPr>
              <a:t> khashiyat · awe, fear (خشیتِ الٰہی)</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طَلَبٌ · يَتَطَلَّبُ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‎طلب‎ </a:t>
            </a:r>
            <a:pPr indent="0" marL="0">
              <a:buNone/>
            </a:pPr>
            <a:r>
              <a:rPr lang="en-US" sz="950" b="1" dirty="0">
                <a:solidFill>
                  <a:srgbClr val="2E8B57"/>
                </a:solidFill>
                <a:latin typeface="Calibri" pitchFamily="34" charset="0"/>
                <a:ea typeface="Calibri" pitchFamily="34" charset="-122"/>
                <a:cs typeface="Calibri" pitchFamily="34" charset="-120"/>
              </a:rPr>
              <a:t> talab · demand · it requires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ضَرُورَةٌ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‎ضرورت‎ </a:t>
            </a:r>
            <a:pPr indent="0" marL="0">
              <a:buNone/>
            </a:pPr>
            <a:r>
              <a:rPr lang="en-US" sz="950" b="1" dirty="0">
                <a:solidFill>
                  <a:srgbClr val="2E8B57"/>
                </a:solidFill>
                <a:latin typeface="Calibri" pitchFamily="34" charset="0"/>
                <a:ea typeface="Calibri" pitchFamily="34" charset="-122"/>
                <a:cs typeface="Calibri" pitchFamily="34" charset="-120"/>
              </a:rPr>
              <a:t> zarūrat · necessity, need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هِجْرَةٌ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‎ہجرت‎ </a:t>
            </a:r>
            <a:pPr indent="0" marL="0">
              <a:buNone/>
            </a:pPr>
            <a:r>
              <a:rPr lang="en-US" sz="950" b="1" dirty="0">
                <a:solidFill>
                  <a:srgbClr val="2E8B57"/>
                </a:solidFill>
                <a:latin typeface="Calibri" pitchFamily="34" charset="0"/>
                <a:ea typeface="Calibri" pitchFamily="34" charset="-122"/>
                <a:cs typeface="Calibri" pitchFamily="34" charset="-120"/>
              </a:rPr>
              <a:t> hijrat · migration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‎امن‎ </a:t>
            </a:r>
            <a:pPr indent="0" marL="0">
              <a:buNone/>
            </a:pPr>
            <a:r>
              <a:rPr lang="en-US" sz="950" b="1" dirty="0">
                <a:solidFill>
                  <a:srgbClr val="2E8B57"/>
                </a:solidFill>
                <a:latin typeface="Calibri" pitchFamily="34" charset="0"/>
                <a:ea typeface="Calibri" pitchFamily="34" charset="-122"/>
                <a:cs typeface="Calibri" pitchFamily="34" charset="-120"/>
              </a:rPr>
              <a:t> aman · Arabic: security · Urdu: peace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impacts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تَغَيُّرُ المَنَاخِ</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 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ta-ghay-yu-ru al-ma-nā-khi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ارْتِفَاعُ مُسْتَوَى البَحْرِ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sea-level rise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ar-ti-fā-ʿu mus-ta-wā al-baḥ-ri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التَّصَحُّرُ المُتَسَارِعُ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accelerating desertification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at-ta-ṣaḥ-ḥu-ru al-mu-ta-sā-ri-ʿu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شُحُّ المِيَاهِ</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scarcity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shuḥ-ḥu al-mi-yā-hi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impacts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مَوْجَةُ حَرٍّ قَاتِلَةٌ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deadly heat wave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maw-ja-tu ḥar-rin qā-ti-la-tun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مَوْجَاتُ حَرٍّ قَاتِلَةٌ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هِجْرَةٌ مَنَاخِيَّةٌ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 migration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hij-ra-tun ma-nā-khiy-ya-tun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هِجْرَاتٌ مَنَاخِيَّةٌ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لَاجِئُونَ مَنَاخِيُّونَ</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 refugees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lā-ji-ʾū-na ma-nā-khiy-yū-na</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pl.</a:t>
            </a:r>
            <a:endParaRPr lang="en-US" sz="700" dirty="0"/>
          </a:p>
        </p:txBody>
      </p:sp>
      <p:sp>
        <p:nvSpPr>
          <p:cNvPr id="46" name="Text 4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لَاجِئَاتٌ مَنَاخِيَّاتٌ</a:t>
            </a:r>
            <a:endParaRPr lang="ar-SA" sz="135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sg.</a:t>
            </a:r>
            <a:endParaRPr lang="en-US" sz="700" dirty="0"/>
          </a:p>
        </p:txBody>
      </p:sp>
      <p:sp>
        <p:nvSpPr>
          <p:cNvPr id="49" name="Text 4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لَاجِئٌ مَنَاخِيٌّ</a:t>
            </a:r>
            <a:endParaRPr lang="ar-SA"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الأَمْنُ الغِذَائِيُّ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food security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al-am-nu al-ghi-dhā-ʾiy-yu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Volition verbs (+ subjunctive)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يَتَطَلَّبُ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requires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ya-ta-ṭal-la-bu an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تَتَطَلَّبُ أَنْ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يَخْشَى أَنْ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fears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yakh-shā an</a:t>
            </a:r>
            <a:endParaRPr lang="en-US" sz="1350" dirty="0"/>
          </a:p>
        </p:txBody>
      </p:sp>
      <p:sp>
        <p:nvSpPr>
          <p:cNvPr id="36" name="Shape 33"/>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8" name="Text 35"/>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تَخْشَى أَنْ</a:t>
            </a:r>
            <a:endParaRPr lang="ar-SA" sz="1500" dirty="0"/>
          </a:p>
        </p:txBody>
      </p:sp>
      <p:sp>
        <p:nvSpPr>
          <p:cNvPr id="39" name="Shape 36"/>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1" name="Text 38"/>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أَخْشَى أَنْ</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يَرْجُو أَنْ</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hopes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yar-jū an</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تَرْجُو أَنْ</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أَرْجُو أَنْ</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0" name="Shape 5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يُرِيدُ أَنْ</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wants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yu-rī-du an</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تُرِيدُ أَنْ</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9" name="Text 66"/>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Volition verbs (+ subjunctive)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يَقْتَضِي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necessitates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yaq-ta-ḍī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تَقْتَضِي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يَهْدِفُ إِلَى</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aims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yah-di-fu i-lā</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تَهْدِفُ إِلَى</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Shape 3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Final fatḥa.</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فَتْحَةُ النَّصْبِ</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fatḥa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fat-ḥa-tu an-naṣ-bi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Responses and policy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الإِرَادَةُ السِّيَاسِيَّةُ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political will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al-i-rā-da-tu as-si-yā-siy-ya-tu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اتِّفَاقِيَّةُ المَنَاخِ</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climate 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at-ti-fā-qiy-ya-tu al-ma-nā-khi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اتِّفَاقِيَّاتُ المَنَاخِ</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تَمْوِيلٌ مَنَاخِيٌّ</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 finance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tam-wī-lun ma-nā-khiy-yun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انْتِقَالٌ طَاقَوِيٌّ</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transition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an-ti-qā-lun ṭā-qa-wiy-yun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Responses and policy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تَدَابِيرُ عَاجِلَةٌ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urgent measures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ta-dā-bī-ru ʿā-ji-la-tun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تَدْبِيرٌ عَاجِلٌ</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الشَّمْسِيَّةُ</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aṭ-ṭā-qa-tu ash-sham-siy-ya-tu</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خَفْضُ الانْبِعَاثَاتِ</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cutting emissions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khaf-ḍu aln-bi-ʿā-thā-ti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مُسَاهَمَةٌ فِي الحَلِّ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contribution to the solution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mu-sā-ha-ma-tun fī al-ḥal-li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THREE MOODS OF CRISIS (WEBSITE RULES 1–3 + TEACHING POINT 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 fear, hope — + 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الإِرَادَةِ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4622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a:t>
            </a:r>
            <a:endParaRPr lang="en-US" sz="1100" dirty="0"/>
          </a:p>
        </p:txBody>
      </p:sp>
      <p:sp>
        <p:nvSpPr>
          <p:cNvPr id="18" name="Text 15"/>
          <p:cNvSpPr txBox="1"/>
          <p:nvPr/>
        </p:nvSpPr>
        <p:spPr>
          <a:xfrm>
            <a:off x="2816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Mood</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400800" y="2267712"/>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الوَضْعُ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تَتَّخِذَ</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الحُكُومَاتُ تَدَابِيرَ.</a:t>
            </a:r>
            <a:endParaRPr lang="ar-SA" sz="1700" dirty="0"/>
          </a:p>
        </p:txBody>
      </p:sp>
      <p:sp>
        <p:nvSpPr>
          <p:cNvPr id="22" name="Text 19"/>
          <p:cNvSpPr txBox="1"/>
          <p:nvPr/>
        </p:nvSpPr>
        <p:spPr>
          <a:xfrm>
            <a:off x="4498848" y="226771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23" name="Text 20"/>
          <p:cNvSpPr txBox="1"/>
          <p:nvPr/>
        </p:nvSpPr>
        <p:spPr>
          <a:xfrm>
            <a:off x="2852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requirement</a:t>
            </a:r>
            <a:endParaRPr lang="en-US" sz="1100" dirty="0"/>
          </a:p>
        </p:txBody>
      </p:sp>
      <p:sp>
        <p:nvSpPr>
          <p:cNvPr id="24" name="Text 21"/>
          <p:cNvSpPr txBox="1"/>
          <p:nvPr/>
        </p:nvSpPr>
        <p:spPr>
          <a:xfrm>
            <a:off x="548640" y="2267712"/>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يَتَطَلَّبُ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400800" y="2881884"/>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يَخْشَى العُلَمَاءُ أَنْ </a:t>
            </a:r>
            <a:pPr rtl="1" algn="ctr" indent="0" marL="0">
              <a:buNone/>
            </a:pPr>
            <a:r>
              <a:rPr lang="ar-SA" altLang="en-US" sz="1700" b="1" dirty="0">
                <a:solidFill>
                  <a:srgbClr val="D6336C"/>
                </a:solidFill>
                <a:latin typeface="Amiri" pitchFamily="34" charset="0"/>
                <a:ea typeface="Amiri" pitchFamily="34" charset="-122"/>
                <a:cs typeface="Amiri" pitchFamily="34" charset="-120"/>
              </a:rPr>
              <a:t>تَتَجَاوَزَ</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الحَرَارَةُ حَدًّا خَطِيرًا.</a:t>
            </a:r>
            <a:endParaRPr lang="ar-SA" sz="1700" dirty="0"/>
          </a:p>
        </p:txBody>
      </p:sp>
      <p:sp>
        <p:nvSpPr>
          <p:cNvPr id="29" name="Text 26"/>
          <p:cNvSpPr txBox="1"/>
          <p:nvPr/>
        </p:nvSpPr>
        <p:spPr>
          <a:xfrm>
            <a:off x="4498848" y="2881884"/>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30" name="Text 27"/>
          <p:cNvSpPr txBox="1"/>
          <p:nvPr/>
        </p:nvSpPr>
        <p:spPr>
          <a:xfrm>
            <a:off x="2852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fear</a:t>
            </a:r>
            <a:endParaRPr lang="en-US" sz="1100" dirty="0"/>
          </a:p>
        </p:txBody>
      </p:sp>
      <p:sp>
        <p:nvSpPr>
          <p:cNvPr id="31" name="Text 28"/>
          <p:cNvSpPr txBox="1"/>
          <p:nvPr/>
        </p:nvSpPr>
        <p:spPr>
          <a:xfrm>
            <a:off x="548640" y="2881884"/>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يَخْشَى أَنْ</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400800" y="3496056"/>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يَرْجُو المُجْتَمَعُ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تُوَقِّعَ</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الاتِّفَاقِيَّةَ.</a:t>
            </a:r>
            <a:endParaRPr lang="ar-SA" sz="1700" dirty="0"/>
          </a:p>
        </p:txBody>
      </p:sp>
      <p:sp>
        <p:nvSpPr>
          <p:cNvPr id="36" name="Text 33"/>
          <p:cNvSpPr txBox="1"/>
          <p:nvPr/>
        </p:nvSpPr>
        <p:spPr>
          <a:xfrm>
            <a:off x="4498848" y="3496056"/>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37" name="Text 34"/>
          <p:cNvSpPr txBox="1"/>
          <p:nvPr/>
        </p:nvSpPr>
        <p:spPr>
          <a:xfrm>
            <a:off x="2852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hope</a:t>
            </a:r>
            <a:endParaRPr lang="en-US" sz="1100" dirty="0"/>
          </a:p>
        </p:txBody>
      </p:sp>
      <p:sp>
        <p:nvSpPr>
          <p:cNvPr id="38" name="Text 35"/>
          <p:cNvSpPr txBox="1"/>
          <p:nvPr/>
        </p:nvSpPr>
        <p:spPr>
          <a:xfrm>
            <a:off x="548640" y="3496056"/>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يَرْجُو أَنْ</a:t>
            </a:r>
            <a:endParaRPr lang="ar-SA" sz="20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400800" y="4110228"/>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نُرِيدُ أَنْ </a:t>
            </a:r>
            <a:pPr rtl="1" algn="ctr" indent="0" marL="0">
              <a:buNone/>
            </a:pPr>
            <a:r>
              <a:rPr lang="ar-SA" altLang="en-US" sz="1700" b="1" dirty="0">
                <a:solidFill>
                  <a:srgbClr val="7B3FA0"/>
                </a:solidFill>
                <a:latin typeface="Amiri" pitchFamily="34" charset="0"/>
                <a:ea typeface="Amiri" pitchFamily="34" charset="-122"/>
                <a:cs typeface="Amiri" pitchFamily="34" charset="-120"/>
              </a:rPr>
              <a:t>نَبْنِيَ</a:t>
            </a:r>
            <a:pPr rtl="1" algn="ctr" indent="0" marL="0">
              <a:buNone/>
            </a:pPr>
            <a:r>
              <a:rPr lang="ar-SA" altLang="en-US" sz="1700" b="1" dirty="0">
                <a:solidFill>
                  <a:srgbClr val="1B3B6F"/>
                </a:solidFill>
                <a:latin typeface="Amiri" pitchFamily="34" charset="0"/>
                <a:ea typeface="Amiri" pitchFamily="34" charset="-122"/>
                <a:cs typeface="Amiri" pitchFamily="34" charset="-120"/>
              </a:rPr>
              <a:t> مُسْتَقْبَلًا أَنْظَفَ.</a:t>
            </a:r>
            <a:endParaRPr lang="ar-SA" sz="1700" dirty="0"/>
          </a:p>
        </p:txBody>
      </p:sp>
      <p:sp>
        <p:nvSpPr>
          <p:cNvPr id="43" name="Text 40"/>
          <p:cNvSpPr txBox="1"/>
          <p:nvPr/>
        </p:nvSpPr>
        <p:spPr>
          <a:xfrm>
            <a:off x="4498848" y="4110228"/>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44" name="Text 41"/>
          <p:cNvSpPr txBox="1"/>
          <p:nvPr/>
        </p:nvSpPr>
        <p:spPr>
          <a:xfrm>
            <a:off x="2852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desire</a:t>
            </a:r>
            <a:endParaRPr lang="en-US" sz="1100" dirty="0"/>
          </a:p>
        </p:txBody>
      </p:sp>
      <p:sp>
        <p:nvSpPr>
          <p:cNvPr id="45" name="Text 42"/>
          <p:cNvSpPr txBox="1"/>
          <p:nvPr/>
        </p:nvSpPr>
        <p:spPr>
          <a:xfrm>
            <a:off x="548640" y="4110228"/>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يُرِيدُ أَنْ</a:t>
            </a:r>
            <a:endParaRPr lang="ar-SA" sz="20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400800" y="4724400"/>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يَقْتَضِي الأَمْرُ </a:t>
            </a:r>
            <a:pPr rtl="1" algn="ctr" indent="0" marL="0">
              <a:buNone/>
            </a:pPr>
            <a:r>
              <a:rPr lang="ar-SA" altLang="en-US" sz="1700" b="1" dirty="0">
                <a:solidFill>
                  <a:srgbClr val="C77700"/>
                </a:solidFill>
                <a:latin typeface="Amiri" pitchFamily="34" charset="0"/>
                <a:ea typeface="Amiri" pitchFamily="34" charset="-122"/>
                <a:cs typeface="Amiri" pitchFamily="34" charset="-120"/>
              </a:rPr>
              <a:t>تَعَاوُنًا</a:t>
            </a:r>
            <a:pPr rtl="1" algn="ctr" indent="0" marL="0">
              <a:buNone/>
            </a:pPr>
            <a:r>
              <a:rPr lang="ar-SA" altLang="en-US" sz="1700" b="1" dirty="0">
                <a:solidFill>
                  <a:srgbClr val="1B3B6F"/>
                </a:solidFill>
                <a:latin typeface="Amiri" pitchFamily="34" charset="0"/>
                <a:ea typeface="Amiri" pitchFamily="34" charset="-122"/>
                <a:cs typeface="Amiri" pitchFamily="34" charset="-120"/>
              </a:rPr>
              <a:t> إِقْلِيمِيًّا.</a:t>
            </a:r>
            <a:endParaRPr lang="ar-SA" sz="1700" dirty="0"/>
          </a:p>
        </p:txBody>
      </p:sp>
      <p:sp>
        <p:nvSpPr>
          <p:cNvPr id="48" name="Text 45"/>
          <p:cNvSpPr txBox="1"/>
          <p:nvPr/>
        </p:nvSpPr>
        <p:spPr>
          <a:xfrm>
            <a:off x="4498848" y="4724400"/>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49" name="Text 46"/>
          <p:cNvSpPr txBox="1"/>
          <p:nvPr/>
        </p:nvSpPr>
        <p:spPr>
          <a:xfrm>
            <a:off x="2852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50" name="Text 47"/>
          <p:cNvSpPr txBox="1"/>
          <p:nvPr/>
        </p:nvSpPr>
        <p:spPr>
          <a:xfrm>
            <a:off x="548640" y="4724400"/>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يَقْتَضِي</a:t>
            </a:r>
            <a:endParaRPr lang="ar-SA" sz="20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400800" y="5338572"/>
            <a:ext cx="52395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تَهْدِفُ الاتِّفَاقِيَّةُ </a:t>
            </a:r>
            <a:pPr rtl="1" algn="ctr" indent="0" marL="0">
              <a:buNone/>
            </a:pPr>
            <a:r>
              <a:rPr lang="ar-SA" altLang="en-US" sz="1700" b="1" dirty="0">
                <a:solidFill>
                  <a:srgbClr val="C77700"/>
                </a:solidFill>
                <a:latin typeface="Amiri" pitchFamily="34" charset="0"/>
                <a:ea typeface="Amiri" pitchFamily="34" charset="-122"/>
                <a:cs typeface="Amiri" pitchFamily="34" charset="-120"/>
              </a:rPr>
              <a:t>إِلَى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خَفْضِ الانْبِعَاثَاتِ.</a:t>
            </a:r>
            <a:endParaRPr lang="ar-SA" sz="1700" dirty="0"/>
          </a:p>
        </p:txBody>
      </p:sp>
      <p:sp>
        <p:nvSpPr>
          <p:cNvPr id="53" name="Text 50"/>
          <p:cNvSpPr txBox="1"/>
          <p:nvPr/>
        </p:nvSpPr>
        <p:spPr>
          <a:xfrm>
            <a:off x="4498848" y="533857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 + noun</a:t>
            </a:r>
            <a:endParaRPr lang="en-US" sz="1100" dirty="0"/>
          </a:p>
        </p:txBody>
      </p:sp>
      <p:sp>
        <p:nvSpPr>
          <p:cNvPr id="54" name="Text 51"/>
          <p:cNvSpPr txBox="1"/>
          <p:nvPr/>
        </p:nvSpPr>
        <p:spPr>
          <a:xfrm>
            <a:off x="2852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aim</a:t>
            </a:r>
            <a:endParaRPr lang="en-US" sz="1100" dirty="0"/>
          </a:p>
        </p:txBody>
      </p:sp>
      <p:sp>
        <p:nvSpPr>
          <p:cNvPr id="55" name="Text 52"/>
          <p:cNvSpPr txBox="1"/>
          <p:nvPr/>
        </p:nvSpPr>
        <p:spPr>
          <a:xfrm>
            <a:off x="548640" y="5338572"/>
            <a:ext cx="210312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يَهْدِفُ إِلَى</a:t>
            </a:r>
            <a:endParaRPr lang="ar-SA" sz="20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“each puts the following verb in the subjunctive, so the mood feels natural rather than technical.”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VERB IN -A AFTER AN (WEBSITE TEACHING POINT 1, MISTAKES 1–2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5010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8" name="Text 15"/>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766560" y="2267712"/>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أَنْ تَتَّخِذَ الحُكُومَاتُ تَدَابِيرَ عَاجِلَةً</a:t>
            </a:r>
            <a:endParaRPr lang="ar-SA" sz="1700" dirty="0"/>
          </a:p>
        </p:txBody>
      </p:sp>
      <p:sp>
        <p:nvSpPr>
          <p:cNvPr id="22" name="Text 19"/>
          <p:cNvSpPr txBox="1"/>
          <p:nvPr/>
        </p:nvSpPr>
        <p:spPr>
          <a:xfrm>
            <a:off x="504748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23" name="Text 20"/>
          <p:cNvSpPr txBox="1"/>
          <p:nvPr/>
        </p:nvSpPr>
        <p:spPr>
          <a:xfrm>
            <a:off x="265176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تَتَّخِذَ</a:t>
            </a:r>
            <a:endParaRPr lang="ar-SA" sz="2000" dirty="0"/>
          </a:p>
        </p:txBody>
      </p:sp>
      <p:sp>
        <p:nvSpPr>
          <p:cNvPr id="24" name="Text 21"/>
          <p:cNvSpPr txBox="1"/>
          <p:nvPr/>
        </p:nvSpPr>
        <p:spPr>
          <a:xfrm>
            <a:off x="548640" y="2267712"/>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تَتَّخِذُ</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766560" y="3004718"/>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أَنْ تُصْبِحَ بَعْضُ المُدُنِ غَيْرَ صَالِحَةٍ لِلسَّكَنِ</a:t>
            </a:r>
            <a:endParaRPr lang="ar-SA" sz="1700" dirty="0"/>
          </a:p>
        </p:txBody>
      </p:sp>
      <p:sp>
        <p:nvSpPr>
          <p:cNvPr id="29" name="Text 26"/>
          <p:cNvSpPr txBox="1"/>
          <p:nvPr/>
        </p:nvSpPr>
        <p:spPr>
          <a:xfrm>
            <a:off x="504748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30" name="Text 27"/>
          <p:cNvSpPr txBox="1"/>
          <p:nvPr/>
        </p:nvSpPr>
        <p:spPr>
          <a:xfrm>
            <a:off x="265176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تُصْبِحَ</a:t>
            </a:r>
            <a:endParaRPr lang="ar-SA" sz="2000" dirty="0"/>
          </a:p>
        </p:txBody>
      </p:sp>
      <p:sp>
        <p:nvSpPr>
          <p:cNvPr id="31" name="Text 28"/>
          <p:cNvSpPr txBox="1"/>
          <p:nvPr/>
        </p:nvSpPr>
        <p:spPr>
          <a:xfrm>
            <a:off x="548640" y="300471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تُصْبِحُ</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766560" y="3741725"/>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أَنْ تَتَعَاوَنَ الدُّوَلُ وَأَنْ تَسْتَثْمِرَ فِي الطَّاقَةِ</a:t>
            </a:r>
            <a:endParaRPr lang="ar-SA" sz="1700" dirty="0"/>
          </a:p>
        </p:txBody>
      </p:sp>
      <p:sp>
        <p:nvSpPr>
          <p:cNvPr id="36" name="Text 33"/>
          <p:cNvSpPr txBox="1"/>
          <p:nvPr/>
        </p:nvSpPr>
        <p:spPr>
          <a:xfrm>
            <a:off x="504748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an</a:t>
            </a:r>
            <a:endParaRPr lang="en-US" sz="1100" dirty="0"/>
          </a:p>
        </p:txBody>
      </p:sp>
      <p:sp>
        <p:nvSpPr>
          <p:cNvPr id="37" name="Text 34"/>
          <p:cNvSpPr txBox="1"/>
          <p:nvPr/>
        </p:nvSpPr>
        <p:spPr>
          <a:xfrm>
            <a:off x="265176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تَتَعَاوَنَ</a:t>
            </a:r>
            <a:pPr rtl="1" algn="ctr" indent="0" marL="0">
              <a:buNone/>
            </a:pPr>
            <a:r>
              <a:rPr lang="ar-SA" altLang="en-US" sz="2000" b="1" dirty="0">
                <a:solidFill>
                  <a:srgbClr val="1B3B6F"/>
                </a:solidFill>
                <a:latin typeface="Amiri" pitchFamily="34" charset="0"/>
                <a:ea typeface="Amiri" pitchFamily="34" charset="-122"/>
                <a:cs typeface="Amiri" pitchFamily="34" charset="-120"/>
              </a:rPr>
              <a:t> … </a:t>
            </a:r>
            <a:pPr rtl="1" algn="ctr" indent="0" marL="0">
              <a:buNone/>
            </a:pPr>
            <a:r>
              <a:rPr lang="ar-SA" altLang="en-US" sz="2000" b="1" dirty="0">
                <a:solidFill>
                  <a:srgbClr val="0E7C86"/>
                </a:solidFill>
                <a:latin typeface="Amiri" pitchFamily="34" charset="0"/>
                <a:ea typeface="Amiri" pitchFamily="34" charset="-122"/>
                <a:cs typeface="Amiri" pitchFamily="34" charset="-120"/>
              </a:rPr>
              <a:t>تَسْتَثْمِرَ</a:t>
            </a:r>
            <a:endParaRPr lang="ar-SA" sz="2000" dirty="0"/>
          </a:p>
        </p:txBody>
      </p:sp>
      <p:sp>
        <p:nvSpPr>
          <p:cNvPr id="38" name="Text 35"/>
          <p:cNvSpPr txBox="1"/>
          <p:nvPr/>
        </p:nvSpPr>
        <p:spPr>
          <a:xfrm>
            <a:off x="548640" y="3741725"/>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تَتَعَاوَنُ · تَسْتَثْمِرُ</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766560" y="4478731"/>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أَنْ يَزْدَادَ التَّصَحُّرُ فِي المِنْطَقَةِ</a:t>
            </a:r>
            <a:endParaRPr lang="ar-SA" sz="1700" dirty="0"/>
          </a:p>
        </p:txBody>
      </p:sp>
      <p:sp>
        <p:nvSpPr>
          <p:cNvPr id="41" name="Text 38"/>
          <p:cNvSpPr txBox="1"/>
          <p:nvPr/>
        </p:nvSpPr>
        <p:spPr>
          <a:xfrm>
            <a:off x="504748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a:t>
            </a:r>
            <a:endParaRPr lang="en-US" sz="1100" dirty="0"/>
          </a:p>
        </p:txBody>
      </p:sp>
      <p:sp>
        <p:nvSpPr>
          <p:cNvPr id="42" name="Text 39"/>
          <p:cNvSpPr txBox="1"/>
          <p:nvPr/>
        </p:nvSpPr>
        <p:spPr>
          <a:xfrm>
            <a:off x="265176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يَزْدَادَ</a:t>
            </a:r>
            <a:endParaRPr lang="ar-SA" sz="2000" dirty="0"/>
          </a:p>
        </p:txBody>
      </p:sp>
      <p:sp>
        <p:nvSpPr>
          <p:cNvPr id="43" name="Text 40"/>
          <p:cNvSpPr txBox="1"/>
          <p:nvPr/>
        </p:nvSpPr>
        <p:spPr>
          <a:xfrm>
            <a:off x="548640" y="4478731"/>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يَزْدَادُ</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766560" y="5215738"/>
            <a:ext cx="48737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نَرْجُو أَنْ نَبْنِيَ مُسْتَقْبَلًا أَنْظَفَ</a:t>
            </a:r>
            <a:endParaRPr lang="ar-SA" sz="1700" dirty="0"/>
          </a:p>
        </p:txBody>
      </p:sp>
      <p:sp>
        <p:nvSpPr>
          <p:cNvPr id="46" name="Text 43"/>
          <p:cNvSpPr txBox="1"/>
          <p:nvPr/>
        </p:nvSpPr>
        <p:spPr>
          <a:xfrm>
            <a:off x="50474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 → -iya</a:t>
            </a:r>
            <a:endParaRPr lang="en-US" sz="1100" dirty="0"/>
          </a:p>
        </p:txBody>
      </p:sp>
      <p:sp>
        <p:nvSpPr>
          <p:cNvPr id="47" name="Text 44"/>
          <p:cNvSpPr txBox="1"/>
          <p:nvPr/>
        </p:nvSpPr>
        <p:spPr>
          <a:xfrm>
            <a:off x="265176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نَبْنِيَ</a:t>
            </a:r>
            <a:endParaRPr lang="ar-SA" sz="2000" dirty="0"/>
          </a:p>
        </p:txBody>
      </p:sp>
      <p:sp>
        <p:nvSpPr>
          <p:cNvPr id="48" name="Text 45"/>
          <p:cNvSpPr txBox="1"/>
          <p:nvPr/>
        </p:nvSpPr>
        <p:spPr>
          <a:xfrm>
            <a:off x="548640" y="521573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نَبْنِي</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1–2: an tattakhidhu ✗ → an tattakhidha ✓ · an yatajāwazu ✗ → an yatajāwaza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RISK, REGRET, EVIDENCE (WEBSITE RULE 4 + LISTENING AND WRITING MODEL)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the argument stronger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الخَطَرُ · الافْتِرَاضُ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RISK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وَاصَلَتِ الحَرَارَةُ ارْتِفَاعَهَا، سَتَنْتُجُ هِجْرَاتٌ مَنَاخِيَّةٌ.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temperatures keep rising, climate migrations will result.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اتَّخَذَتِ الدُّوَلُ إِجْرَاءَاتٍ مُبَكِّرًا، لَكَانَتْ آثَارُ التَّصَحُّرِ أَقَلَّ حِدَّةً.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states acted early, desertification would be less severe.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أَكَّدَ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أَكَّدَ خُبَرَاءُ الأُمَمِ المُتَّحِدَةِ أَنَّ التَّعَاوُنَ ضَرُورِيٌّ.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 experts stressed that cooperation is essential.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noun.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اتَّخَذَتِ الدُّوَلُ إِجْرَاءَاتٍ، لَقَلَّ التَّصَحُّرُ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34" charset="0"/>
                <a:ea typeface="Amiri" pitchFamily="34" charset="-122"/>
                <a:cs typeface="Amiri" pitchFamily="34" charset="-120"/>
              </a:rPr>
              <a:t>لَوِ اتَّخَذَتِ الدُّوَلُ إِجْرَاءَاتٍ، سَيَقِلُّ التَّصَحُّرُ</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LANGUAGE OF A CLIMATE REPORT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climate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التَّقَارِيرِ المَنَاخِيَّةِ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report</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المِنْطَقَةَ العَرَبِيَّةَ مِنْ أَكْثَرِ المَنَاطِقِ تَأَثُّرًا.</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reported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akthar + tamyīz</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a:t>
            </a:r>
            <a:pPr rtl="1" algn="ctr" indent="0" marL="0">
              <a:buNone/>
            </a:pPr>
            <a:r>
              <a:rPr lang="ar-SA" altLang="en-US" sz="1800" b="1" dirty="0">
                <a:solidFill>
                  <a:srgbClr val="1D5FBF"/>
                </a:solidFill>
                <a:latin typeface="Amiri" pitchFamily="34" charset="0"/>
                <a:ea typeface="Amiri" pitchFamily="34" charset="-122"/>
                <a:cs typeface="Amiri" pitchFamily="34" charset="-120"/>
              </a:rPr>
              <a:t>أَكْثَرِ</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مَنَاطِقِ العَالَمِ </a:t>
            </a:r>
            <a:pPr rtl="1" algn="ctr" indent="0" marL="0">
              <a:buNone/>
            </a:pPr>
            <a:r>
              <a:rPr lang="ar-SA" altLang="en-US" sz="1800" b="1" dirty="0">
                <a:solidFill>
                  <a:srgbClr val="1D5FBF"/>
                </a:solidFill>
                <a:latin typeface="Amiri" pitchFamily="34" charset="0"/>
                <a:ea typeface="Amiri" pitchFamily="34" charset="-122"/>
                <a:cs typeface="Amiri" pitchFamily="34" charset="-120"/>
              </a:rPr>
              <a:t>تَأَثُّرًا</a:t>
            </a:r>
            <a:pPr rtl="1" algn="ctr" indent="0" marL="0">
              <a:buNone/>
            </a:pPr>
            <a:r>
              <a:rPr lang="ar-SA" altLang="en-US" sz="1800" b="1" dirty="0">
                <a:solidFill>
                  <a:srgbClr val="1B3B6F"/>
                </a:solidFill>
                <a:latin typeface="Amiri" pitchFamily="34" charset="0"/>
                <a:ea typeface="Amiri" pitchFamily="34" charset="-122"/>
                <a:cs typeface="Amiri" pitchFamily="34" charset="-120"/>
              </a:rPr>
              <a:t> بِتَغَيُّرِ المَنَاخِ</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most affected</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superlative</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تَغَيُّرُ المَنَاخِ </a:t>
            </a:r>
            <a:pPr rtl="1" algn="ctr" indent="0" marL="0">
              <a:buNone/>
            </a:pPr>
            <a:r>
              <a:rPr lang="ar-SA" altLang="en-US" sz="1800" b="1" dirty="0">
                <a:solidFill>
                  <a:srgbClr val="D6336C"/>
                </a:solidFill>
                <a:latin typeface="Amiri" pitchFamily="34" charset="0"/>
                <a:ea typeface="Amiri" pitchFamily="34" charset="-122"/>
                <a:cs typeface="Amiri" pitchFamily="34" charset="-120"/>
              </a:rPr>
              <a:t>أَخْطَرَ تَحَدٍّ</a:t>
            </a:r>
            <a:pPr rtl="1" algn="ctr" indent="0" marL="0">
              <a:buNone/>
            </a:pPr>
            <a:r>
              <a:rPr lang="ar-SA" altLang="en-US" sz="1800" b="1" dirty="0">
                <a:solidFill>
                  <a:srgbClr val="1B3B6F"/>
                </a:solidFill>
                <a:latin typeface="Amiri" pitchFamily="34" charset="0"/>
                <a:ea typeface="Amiri" pitchFamily="34" charset="-122"/>
                <a:cs typeface="Amiri" pitchFamily="34" charset="-120"/>
              </a:rPr>
              <a:t> يُوَاجِهُ العَالَمَ العَرَبِيَّ.</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gravest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description</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حَدًّا </a:t>
            </a:r>
            <a:pPr rtl="1" algn="ctr" indent="0" marL="0">
              <a:buNone/>
            </a:pPr>
            <a:r>
              <a:rPr lang="ar-SA" altLang="en-US" sz="1800" b="1" dirty="0">
                <a:solidFill>
                  <a:srgbClr val="7B3FA0"/>
                </a:solidFill>
                <a:latin typeface="Amiri" pitchFamily="34" charset="0"/>
                <a:ea typeface="Amiri" pitchFamily="34" charset="-122"/>
                <a:cs typeface="Amiri" pitchFamily="34" charset="-120"/>
              </a:rPr>
              <a:t>لَا تُمْكِنُ مَعَهُ الحَيَاةُ</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limit beyond life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crisis → opportunity</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يَرْجُو الجَمِيعُ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تَتَحَوَّلَ الأَزْمَةُ إِلَى فُرْصَةٍ</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hopeful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climate report moves: how serious → what is feared → what is required → what could have been → what we hope.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subjunctive after verbs of volition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الفِعْلُ المَنْصُوبُ بَعْدَ أَفْعَالِ الإِرَادَةِ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Requirement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yataṭallabu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يَتَطَلَّبُ الوَضْعُ أَنْ تَتَّخِذَ الحُكُومَاتُ تَدَابِيرَ عَاجِلَةً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yakhshā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يَخْشَى العُلَمَاءُ أَنْ تَتَجَاوَزَ الحَرَارَةُ حَدًّا خَطِيرًا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Hope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yarjū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يَرْجُو المُجْتَمَعُ الدَّوْلِيُّ أَنْ تُوَقِّعَ الدُّوَلُ الاتِّفَاقِيَّةَ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Both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إِذَا وَاصَلَتِ الحَرَارَةُ ارْتِفَاعَهَا، سَتَنْتُجُ هِجْرَاتٌ   ·   لَوِ اتَّخَذَتِ الدُّوَلُ إِجْرَاءَاتٍ مُبَكِّرًا، لَكَانَ التَّصَحُّرُ أَقَلَّ</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يَتَطَلَّبُ الوَضْعُ أَنْ ___ الحُكُومَاتُ تَدَابِيرَ.</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اتَّخَذَتْ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يَخْشَى العُلَمَاءُ أَنْ ___ الحَرَارَةُ حَدًّا خَطِيرًا.</a:t>
            </a:r>
            <a:endParaRPr lang="ar-SA" sz="13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تَتَجَاوَزَ</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تَتَجَاوَزُ</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تَجَاوَزَتْ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يَرْجُو المُجْتَمَعُ أَنْ ___ الدُّوَلُ الاتِّفَاقِيَّةَ.</a:t>
            </a:r>
            <a:endParaRPr lang="ar-SA" sz="14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تُوَقِّعُ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تُوَقِّعَ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وَقَّعَتْ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اتَّخَذَتِ الدُّوَلُ إِجْرَاءَاتٍ مُبَكِّرًا، لَكَانَ التَّصَحُّرُ أَقَلَّ.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اتَّخَذَتِ الدُّوَلُ إِجْرَاءَاتٍ، سَيَقِلُّ التَّصَحُّرُ.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 الدُّوَلُ إِجْرَاءَاتٍ.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يَتَطَلَّبُ الوَضْعُ أَنْ ___ الحُكُومَاتُ تَدَابِيرَ.</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اتَّخَذَتْ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تَتَّخِذَ</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يَخْشَى العُلَمَاءُ أَنْ ___ الحَرَارَةُ حَدًّا خَطِيرًا.</a:t>
            </a:r>
            <a:endParaRPr lang="ar-SA" sz="13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تَتَجَاوَزَ</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تَتَجَاوَزُ</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تَجَاوَزَتْ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تَتَجَاوَزَ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يَرْجُو المُجْتَمَعُ أَنْ ___ الدُّوَلُ الاتِّفَاقِيَّةَ.</a:t>
            </a:r>
            <a:endParaRPr lang="ar-SA" sz="14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تُوَقِّعُ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تُوَقِّعَ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وَقَّعَتْ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يَرْجُو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تُوَقِّعَ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اتَّخَذَتِ الدُّوَلُ إِجْرَاءَاتٍ مُبَكِّرًا، لَكَانَ التَّصَحُّرُ أَقَلَّ.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اتَّخَذَتِ الدُّوَلُ إِجْرَاءَاتٍ، سَيَقِلُّ التَّصَحُّرُ.</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 الدُّوَلُ إِجْرَاءَاتٍ.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write a climate analysis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serious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 مِنْ أَكْثَرِ …</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Evidence.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Fear + need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يَخْشَى أَنْ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تَتَجَاوَزَ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يَتَطَلَّبُ 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تَتَّخِذَ</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Risk + 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سَـ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لَـ</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يَرْجُو أَنْ </a:t>
            </a:r>
            <a:pPr rtl="1" algn="ctr" indent="0" marL="0">
              <a:buNone/>
            </a:pPr>
            <a:r>
              <a:rPr lang="ar-SA" altLang="en-US" sz="2800" b="1" dirty="0">
                <a:solidFill>
                  <a:srgbClr val="0E7C86"/>
                </a:solidFill>
                <a:latin typeface="Amiri" pitchFamily="34" charset="0"/>
                <a:ea typeface="Amiri" pitchFamily="34" charset="-122"/>
                <a:cs typeface="Amiri" pitchFamily="34" charset="-120"/>
              </a:rPr>
              <a:t>تَتَحَوَّلَ</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End on hope.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FEAR</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REQUIRE · HOPE</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المِنْطَقَةَ العَرَبِيَّةَ مِنْ أَكْثَرِ مَنَاطِقِ العَالَمِ تَأَثُّرًا بِتَغَيُّرِ المَنَاخِ. يَخْشَى العُلَمَاءُ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تَتَجَاوَزَ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الحَرَارَةُ حَدًّا خَطِيرًا، وَيَتَطَلَّبُ الوَضْعُ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تَتَّخِذَ</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الحُكُومَاتُ تَدَابِيرَ عَاجِلَةً.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وَاصَلَتِ الحَرَارَةُ ارْتِفَاعَهَا،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سَتَنْتُجُ</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هِجْرَاتٌ مَنَاخِيَّةٌ.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اتَّخَذَتِ الدُّوَلُ إِجْرَاءَاتٍ مُبَكِّرًا،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آثَارُ التَّصَحُّرِ أَقَلَّ حِدَّةً. وَيَرْجُو الجَمِيعُ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تَتَحَوَّلَ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الأَزْمَةُ إِلَى فُرْصَةٍ.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It is reported that the Arab region is among the regions of the world most affected by climate change. Scientists fear that heat will exceed a dangerous limit, and the situation requires governments to take urgent measures. If temperatures keep rising, climate migrations will result. Had states acted early, the effects of desertification would be less severe. And everyone hopes that the crisis will turn into an opportunity.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يَتَطَلَّبُ التَّغَيُّرُ المَنَاخِيُّ أَنْ تُعِيدَ الدُّوَلُ تَشْكِيلَ سِيَاسَاتِهَا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climate change requires states to reshape their policies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yataṭallabu an + a verb in -a (tuʿīda).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يَخْشَى الخُبَرَاءُ أَنْ تَتَجَاوَزَ الحَرَارَةُ حَدًّا لَا تُمْكِنُ مَعَهُ الحَيَاةُ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experts fear that heat will exceed a limit at which life is impossible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yakhshā an expresses fear.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يَرْجُو المُجْتَمَعُ الدَّوْلِيُّ أَنْ تُوَجِّهَ الدُّوَلُ ثَرْوَتَهَا نَحْوَ الطَّاقَةِ النَّظِيفَةِ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international community hopes that states will steer their wealth towards clean energy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yarjū an expresses hope.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CLIMATE CHANGE AND THE ARAB WORLD — CAUSES, IMPACTS AND RESPONSES”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Climate causes and answers: match the picture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سِلْسِلَةُ تَغَيُّرِ المَنَاخِ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rising heat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drought</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renewable energy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الجَفَافُ يَزْدَادُ فِي بَعْضِ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الطَّاقَةُ المُتَجَدِّدَةُ تُقَلِّلُ الانْبِعَاثَاتِ.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تَرْتَفِعُ دَرَجَاتُ الحَرَارَةِ بِسَبَبِ تَغَيُّرِ المَنَاخِ.</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سِلْسِلَةُ تَغَيُّرِ المَنَاخِ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rising heat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تَرْتَفِعُ دَرَجَاتُ الحَرَارَةِ بِسَبَبِ تَغَيُّرِ المَنَاخِ.</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Temperatures are rising because of climate change.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drought</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الجَفَافُ يَزْدَادُ فِي بَعْضِ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Drought is increasing in some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renewable energy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الطَّاقَةُ المُتَجَدِّدَةُ تُقَلِّلُ الانْبِعَاثَاتِ.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Renewable energy reduces emissions.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CLIMATE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Fear + requirement + hope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حُجَّةً مَنَاخِيَّةً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Fear (yakhshā an)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Requirement</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Hope (yarjū an)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يَخْشَى العُلَمَاءُ أَنْ تَتَجَاوَزَ الحَرَارَةُ حَدًّا خَطِيرًا</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وَيَتَطَلَّبُ الوَضْعُ أَنْ تَتَّخِذَ الحُكُومَاتُ تَدَابِيرَ عَاجِلَةً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وَيَرْجُو الجَمِيعُ أَنْ تَتَحَوَّلَ الأَزْمَةُ إِلَى فُرْصَةٍ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يَخْشَى الخُبَرَاءُ أَنْ يَزْدَادَ التَّصَحُّرُ فِي المِنْطَقَةِ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وَيَتَطَلَّبُ الوَضْعُ أَنْ تَسْتَثْمِرَ الدُّوَلُ فِي الطَّاقَةِ النَّظِيفَةِ</a:t>
            </a:r>
            <a:endParaRPr lang="ar-SA" sz="15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وَيَرْجُو المُجْتَمَعُ الدَّوْلِيُّ أَنْ تُوَقِّعَ الدُّوَلُ الاتِّفَاقِيَّةَ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يَخْشَى النَّاسُ أَنْ تَتَفَاقَمَ أَزْمَةُ المِيَاهِ</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وَيَقْتَضِي الأَمْرُ تَعَاوُنًا إِقْلِيمِيًّا حَقِيقِيًّا</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وَنَرْجُو أَنْ نَبْنِيَ مُسْتَقْبَلًا أَنْظَفَ لِلْأَجْيَالِ</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circle the verb after every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Requirement, fear — or hope?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تَتَّخِذَ الحُكُومَاتُ إِجْرَاءَاتٍ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أَنْ تُعِيدَ الدُّوَلُ تَشْكِيلَ سِيَاسَاتِهَا</a:t>
            </a:r>
            <a:endParaRPr lang="ar-SA" sz="17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تَلْتَزِمَ الحُكُومَاتُ بِالأَهْدَافِ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تَتَجَاوَزَ الحَرَارَةُ حَدًّا خَطِيرًا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يَزْدَادَ التَّصَحُّرُ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تَغْرَقَ المُدُنُ السَّاحِلِيَّةُ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تُوَقِّعَ الدُّوَلُ الاتِّفَاقِيَّةَ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يَنْجَحَ الانْتِقَالُ الطَّاقَوِيُّ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تَتَعَاوَنَ الدُّوَلُ إِقْلِيمِيًّا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requirement (yataṭallabu)</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fear (yakhshā)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hope (yarjū)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requirement (yataṭallabu)</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تَتَّخِذَ الحُكُومَاتُ إِجْرَاءَاتٍ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تُعِيدَ الدُّوَلُ تَشْكِيلَ سِيَاسَاتِهَا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تَلْتَزِمَ الحُكُومَاتُ بِالأَهْدَافِ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fear (yakhshā)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تَتَجَاوَزَ الحَرَارَةُ حَدًّا خَطِيرًا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يَزْدَادَ التَّصَحُّرُ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تَغْرَقَ المُدُنُ السَّاحِلِيَّةُ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hope (yarjū)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تُوَقِّعَ الدُّوَلُ الاتِّفَاقِيَّةَ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يَنْجَحَ الانْتِقَالُ الطَّاقَوِيُّ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تَتَعَاوَنَ الدُّوَلُ إِقْلِيمِيًّا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fear?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يَرْجُو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يَخْشَى أَنْ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hope?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يَخْشَى 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يَرْجُو أَنْ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يَقْتَضِي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risk (Type 1)?</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وَاصَلَتِ الحَرَارَةُ، لَنَتَجَتْ هِجْرَاتٌ.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وَاصَلَتِ الحَرَارَةُ ارْتِفَاعَهَا، سَتَنْتُجُ هِجْرَاتٌ.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fear?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يَرْجُو 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يَتَطَلَّبُ أَنْ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يَخْشَى أَنْ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يَخْشَى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fear.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hope?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يَخْشَى 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يَرْجُو أَنْ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يَقْتَضِي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يَرْجُو أَنْ</a:t>
            </a:r>
            <a:pPr algn="l" indent="0" marL="0">
              <a:buNone/>
            </a:pPr>
            <a:r>
              <a:rPr lang="en-US" sz="1050" i="1" dirty="0">
                <a:solidFill>
                  <a:srgbClr val="8A6D1E"/>
                </a:solidFill>
                <a:latin typeface="Calibri" pitchFamily="34" charset="0"/>
                <a:ea typeface="Calibri" pitchFamily="34" charset="-122"/>
                <a:cs typeface="Calibri" pitchFamily="34" charset="-120"/>
              </a:rPr>
              <a:t> expresses hope.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risk (Type 1)?</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وَاصَلَتِ الحَرَارَةُ، لَنَتَجَتْ هِجْرَاتٌ.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وَاصَلَتِ الحَرَارَةُ ارْتِفَاعَهَا، سَتَنْتُجُ هِجْرَاتٌ.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states a real risk.</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يَتَطَلَّبُ الوَضْعُ أَنْ تَتَّخِذُ الحُكُومَاتُ إِجْرَاءَاتٍ.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tattakhidhu?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يَخْشَى العُلَمَاءُ أَنْ يَتَجَاوَزُ الاحْتِرَارُ حَدًّا خَطِيرًا.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yatajāwazu?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اتَّخَذَتِ الدُّوَلُ إِجْرَاءَاتٍ، سَيَقِلُّ التَّصَحُّرُ.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يَتَطَلَّبُ الوَضْعُ أَنْ تَتَّخِذُ الحُكُومَاتُ إِجْرَاءَاتٍ.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يَتَطَلَّبُ الوَضْعُ أَنْ تَتَّخِذَ الحُكُومَاتُ إِجْرَاءَاتٍ.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تَتَّخِذَ</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يَخْشَى العُلَمَاءُ أَنْ يَتَجَاوَزُ الاحْتِرَارُ حَدًّا خَطِيرًا.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يَخْشَى العُلَمَاءُ أَنْ يَتَجَاوَزَ الاحْتِرَارُ حَدًّا خَطِيرًا.</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takes a fatḥa: </a:t>
            </a:r>
            <a:pPr algn="l" indent="0" marL="0">
              <a:buNone/>
            </a:pPr>
            <a:r>
              <a:rPr lang="ar-SA" altLang="en-US" sz="1500" b="1" dirty="0">
                <a:solidFill>
                  <a:srgbClr val="1B3B6F"/>
                </a:solidFill>
                <a:latin typeface="Amiri" pitchFamily="34" charset="0"/>
                <a:ea typeface="Amiri" pitchFamily="34" charset="-122"/>
                <a:cs typeface="Amiri" pitchFamily="34" charset="-120"/>
              </a:rPr>
              <a:t>يَتَجَاوَزَ</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اتَّخَذَتِ الدُّوَلُ إِجْرَاءَاتٍ، سَيَقِلُّ التَّصَحُّرُ.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اتَّخَذَتِ الدُّوَلُ إِجْرَاءَاتٍ، لَقَلَّ التَّصَحُّرُ.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the Arab world and climate risk</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 region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most affected by climate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Unaffected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least affected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experts fear?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will 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desert shrinks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temperatures exceed a level incompatible with life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situation require?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people wait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nothing be done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Arab governments take urgent measures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states acted early, desertification would be less severe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Acting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Desertification is unstoppable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international community hope?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nothing changes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Gulf states direct their wealth toward the energy transition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oil use rises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yakhshā an · yataṭallabu an · yarjū 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يُشَارُ إِلَى أَنَّ المِنْطَقَةَ العَرَبِيَّةَ مِنْ أَكْثَرِ مَنَاطِقِ العَالَمِ تَأَثُّرًا بِتَغَيُّرِ المَنَاخِ. تُعَانِي دُوَلٌ مِثْلُ العِرَاقِ وَالأُرْدُنِّ مِنْ تَصَحُّرٍ مُتَسَارِعٍ يُهَدِّدُ الأَمْنَ الغِذَائِيَّ.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It is reported that the Arab region is among the regions most affected by climate change. Countries such as Iraq and Jordan suffer from accelerating desertification that threatens food security.</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يَخْشَى الخُبَرَاءُ أَنْ تَتَجَاوَزَ دَرَجَاتُ الحَرَارَةِ حَدًّا لَا تُمْكِنُ مَعَهُ الحَيَاةُ فِي بَعْضِ المَنَاطِقِ.</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Experts fear that temperatures will exceed a limit at which life is impossible in some areas.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وَيَتَطَلَّبُ الوَضْعُ أَنْ تَتَّخِذَ الحُكُومَاتُ العَرَبِيَّةُ تَدَابِيرَ عَاجِلَةً. إِذَا وَاصَلَتِ الحَرَارَةُ ارْتِفَاعَهَا، سَتَنْتُجُ هِجْرَاتٌ مَنَاخِيَّةٌ وَاسِعَةٌ.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requires Arab governments to take urgent measures. If temperatures keep rising, large climate migrations will result.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اتَّخَذَتِ الدُّوَلُ إِجْرَاءَاتٍ مُبَكِّرًا، لَكَانَتْ آثَارُ التَّصَحُّرِ أَقَلَّ حِدَّةً.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states acted early, the effects of desertification would be less severe.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وَيَرْجُو المُجْتَمَعُ الدَّوْلِيُّ أَنْ تُوَجِّهَ دُوَلُ الخَلِيجِ ثَرْوَتَهَا نَحْوَ الانْتِقَالِ الطَّاقَوِيِّ.</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international community hopes that the Gulf states will direct their wealth towards the energy transition.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 region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Among the most affected by climate change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Unaffected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least affected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أَكْثَرِ مَنَاطِقِ العَالَمِ تَأَثُّرًا بِتَغَيُّرِ المَنَاخِ.</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experts fear?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will rain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desert shrinks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temperatures exceed a level incompatible with life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يَخْشَى الخُبَرَاءُ أَنْ تَتَجَاوَزَ دَرَجَاتُ الحَرَارَةِ حَدًّا لَا تُمْكِنُ مَعَهُ الحَيَاةُ.</a:t>
            </a:r>
            <a:endParaRPr lang="ar-SA" sz="11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situation require?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people wait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nothing be done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Arab governments take urgent measures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الوَضْعُ أَنْ تَتَّخِذَ الحُكُومَاتُ … تَدَابِيرَ عَاجِلَةً.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states acted early, desertification would be less severe</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Acting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Desertification is unstoppable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لَوِ اتَّخَذَتِ الدُّوَلُ إِجْرَاءَاتٍ مُبَكِّرًا، لَكَانَتْ آثَارُ التَّصَحُّرِ أَقَلَّ.</a:t>
            </a:r>
            <a:endParaRPr lang="ar-SA" sz="12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international community hope?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nothing changes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Gulf states direct their wealth toward the energy transition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oil use rises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يَرْجُو المُجْتَمَعُ الدَّوْلِيُّ أَنْ تُوَجِّهَ دُوَلُ الخَلِيجِ ثَرْوَتَهَا نَحْوَ الانْتِقَالِ الطَّاقَوِيِّ.</a:t>
            </a:r>
            <a:endParaRPr lang="ar-SA" sz="9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yakhshā an · yataṭallabu an · yarjū 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fear, hope and requirement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يَخْشَى العُلَمَاءُ؟ اسْتَعْمِلْ «يَخْشَى أَنْ» + مَنْصُوبًا.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يَتَطَلَّبُ الوَضْعُ؟ اسْتَعْمِلْ «يَتَطَلَّبُ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يَرْجُو الجَمِيعُ؟ اسْتَعْمِلْ «يَرْجُو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يَخْشَى العُلَمَاءُ أَنْ تَتَجَاوَزَ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يَتَطَلَّبُ الوَضْعُ أَنْ تَتَّخِذَ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نَرْجُو أَنْ تَتَحَوَّلَ ___ إِلَى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يَخْشَى العُلَمَاءُ؟</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scientists fear?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يَخْشَى العُلَمَاءُ أَنْ تَتَجَاوَزَ الحَرَارَةُ حَدًّا خَطِيرًا فِي المِنْطَقَةِ العَرَبِيَّةِ.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Scientists fear that heat will exceed a dangerous limit in the Arab region.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three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يَتَطَلَّبُ أَنْ</a:t>
            </a:r>
            <a:pPr algn="l" indent="0" marL="0">
              <a:buNone/>
            </a:pPr>
            <a:r>
              <a:rPr lang="en-US" sz="1400" b="1" dirty="0">
                <a:solidFill>
                  <a:srgbClr val="1F2A37"/>
                </a:solidFill>
                <a:latin typeface="Calibri" pitchFamily="34" charset="0"/>
                <a:ea typeface="Calibri" pitchFamily="34" charset="-122"/>
                <a:cs typeface="Calibri" pitchFamily="34" charset="-120"/>
              </a:rPr>
              <a:t>, </a:t>
            </a:r>
            <a:pPr algn="l" indent="0" marL="0">
              <a:buNone/>
            </a:pPr>
            <a:r>
              <a:rPr lang="ar-SA" altLang="en-US" sz="1800" b="1" dirty="0">
                <a:solidFill>
                  <a:srgbClr val="1F2A37"/>
                </a:solidFill>
                <a:latin typeface="Amiri" pitchFamily="34" charset="0"/>
                <a:ea typeface="Amiri" pitchFamily="34" charset="-122"/>
                <a:cs typeface="Amiri" pitchFamily="34" charset="-120"/>
              </a:rPr>
              <a:t>يَخْشَى أَنْ</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يَرْجُو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sentence each with yataṭallabu an, yakhshā an and yarjū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Type 1 risk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Type 1 risk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analysis with a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clause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climate analysis with the three volition verbs, both conditionals, a li-kay clause and a cited expert.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إِذَا وَاصَلَتِ الحَرَارَةُ ارْتِفَاعَهَا، سَتَنْتُجُ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temperatures keep rising,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لَوِ اتَّخَذَتِ الدُّوَلُ إِجْرَاءَاتٍ مُبَكِّرًا، لَكَانَتْ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states acted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أَكَّدَ خُبَرَاءُ الأُمَمِ المُتَّحِدَةِ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 experts stressed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يَجِبُ أَنْ تَعْتَمِدَ المِنْطَقَةُ عَلَى ______ لِكَيْ تُقَلِّلَ ______ .</a:t>
            </a:r>
            <a:endParaRPr lang="ar-SA" sz="13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region must rely on … so that it reduces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يَخْشَى العُلَمَاءُ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Scientists fear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تَتَّخِذَ الحُكُومَاتُ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situation requires that governments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يَرْجُو الجَمِيعُ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Everyone hopes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تُعَانِي دُوَلٌ مِثْلُ ______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Countries such as … suffer from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تَتَجَاوَزَ الحَرَارَةُ حَدًّا خَطِيرًا  ·  يَزْدَادَ التَّصَحُّرُ  ·  تَدَابِيرَ عَاجِلَةً  ·  تَسْتَثْمِرَ فِي الطَّاقَةِ النَّظِيفَةِ  ·  تُوَقِّعَ الدُّوَلُ الاتِّفَاقِيَّةَ  ·  تَتَحَوَّلَ الأَزْمَةُ إِلَى فُرْصَةٍ  ·  العِرَاقِ وَالأُرْدُنِّ  ·  تَصَحُّرٍ مُتَسَارِعٍ  ·  هِجْرَاتٌ مَنَاخِيَّةٌ  ·  أَقَلَّ حِدَّةً  ·  الطَّاقَةِ الشَّمْسِيَّةِ  ·  انْبِعَاثَاتِهَا</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and ten to one hundred and twenty words analysing climate change in the Arab world. Use </a:t>
            </a:r>
            <a:pPr algn="l" indent="0" marL="0">
              <a:buNone/>
            </a:pPr>
            <a:r>
              <a:rPr lang="ar-SA" altLang="en-US" sz="1750" b="1" dirty="0">
                <a:solidFill>
                  <a:srgbClr val="1F2A37"/>
                </a:solidFill>
                <a:latin typeface="Amiri" pitchFamily="34" charset="0"/>
                <a:ea typeface="Amiri" pitchFamily="34" charset="-122"/>
                <a:cs typeface="Amiri" pitchFamily="34" charset="-120"/>
              </a:rPr>
              <a:t>يَتَطَلَّبُ أَنْ</a:t>
            </a:r>
            <a:pPr algn="l" indent="0" marL="0">
              <a:buNone/>
            </a:pPr>
            <a:r>
              <a:rPr lang="en-US" sz="1350" b="1" dirty="0">
                <a:solidFill>
                  <a:srgbClr val="1F2A37"/>
                </a:solidFill>
                <a:latin typeface="Calibri" pitchFamily="34" charset="0"/>
                <a:ea typeface="Calibri" pitchFamily="34" charset="-122"/>
                <a:cs typeface="Calibri" pitchFamily="34" charset="-120"/>
              </a:rPr>
              <a:t>, </a:t>
            </a:r>
            <a:pPr algn="l" indent="0" marL="0">
              <a:buNone/>
            </a:pPr>
            <a:r>
              <a:rPr lang="ar-SA" altLang="en-US" sz="1750" b="1" dirty="0">
                <a:solidFill>
                  <a:srgbClr val="1F2A37"/>
                </a:solidFill>
                <a:latin typeface="Amiri" pitchFamily="34" charset="0"/>
                <a:ea typeface="Amiri" pitchFamily="34" charset="-122"/>
                <a:cs typeface="Amiri" pitchFamily="34" charset="-120"/>
              </a:rPr>
              <a:t>يَخْشَى أَنْ</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يَرْجُو أَنْ</a:t>
            </a:r>
            <a:pPr algn="l" indent="0" marL="0">
              <a:buNone/>
            </a:pPr>
            <a:r>
              <a:rPr lang="en-US" sz="1350" b="1" dirty="0">
                <a:solidFill>
                  <a:srgbClr val="1F2A37"/>
                </a:solidFill>
                <a:latin typeface="Calibri" pitchFamily="34" charset="0"/>
                <a:ea typeface="Calibri" pitchFamily="34" charset="-122"/>
                <a:cs typeface="Calibri" pitchFamily="34" charset="-120"/>
              </a:rPr>
              <a:t>, both conditional types, a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purpose clause and a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يَتَطَلَّبُ أَنْ</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يَخْشَى 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يَرْجُو أَنْ</a:t>
            </a:r>
            <a:pPr algn="l" indent="0" marL="0">
              <a:buNone/>
            </a:pPr>
            <a:r>
              <a:rPr lang="en-US" sz="1200" dirty="0">
                <a:solidFill>
                  <a:srgbClr val="1F2A37"/>
                </a:solidFill>
                <a:latin typeface="Calibri" pitchFamily="34" charset="0"/>
                <a:ea typeface="Calibri" pitchFamily="34" charset="-122"/>
                <a:cs typeface="Calibri" pitchFamily="34" charset="-120"/>
              </a:rPr>
              <a:t>, each with a subjunctive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real risk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clause citing scientists.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مِنْ أَكْثَرِ مَنَاطِقِ العَالَمِ تَأَثُّرًا بِتَغَيُّرِ المَنَاخِ</a:t>
            </a:r>
            <a:endParaRPr lang="ar-SA" sz="15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regions most affected by climate change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تَصَحُّرٍ مُتَسَارِعٍ يُهَدِّدُ الأَمْنَ الغِذَائِيَّ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accelerating desertification that threatens food security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حَدًّا لَا تُمْكِنُ مَعَهُ الحَيَاةُ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limit at which life is impossible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لَكَانَتْ آثَارُ التَّصَحُّرِ أَقَلَّ حِدَّةً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effects of desertification would be less severe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تَتَحَوَّلَ الأَزْمَةُ إِلَى فُرْصَةٍ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the crisis turns into an opportunity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المِنْطَقَةَ العَرَبِيَّةَ مِنْ أَكْثَرِ مَنَاطِقِ العَالَمِ تَأَثُّرًا بِتَغَيُّرِ المَنَاخِ. تُعَانِي دُوَلٌ مِثْلُ العِرَاقِ مِنْ تَصَحُّرٍ مُتَسَارِعٍ يُهَدِّدُ الأَمْنَ الغِذَائِيَّ. يَخْشَى العُلَمَاءُ أَنْ تَتَجَاوَزَ الحَرَارَةُ حَدًّا لَا تُمْكِنُ مَعَهُ الحَيَاةُ، وَيَتَطَلَّبُ الوَضْعُ أَنْ تَتَّخِذَ الحُكُومَاتُ تَدَابِيرَ عَاجِلَةً. إِذَا وَاصَلَتِ الحَرَارَةُ ارْتِفَاعَهَا، سَتَنْتُجُ هِجْرَاتٌ مَنَاخِيَّةٌ وَاسِعَةٌ. وَلَوِ اتَّخَذَتِ الدُّوَلُ إِجْرَاءَاتٍ مُبَكِّرًا، لَكَانَتْ آثَارُ التَّصَحُّرِ أَقَلَّ حِدَّةً. وَأَكَّدَ خُبَرَاءُ الأُمَمِ المُتَّحِدَةِ أَنَّ التَّعَاوُنَ ضَرُورِيٌّ. لِذٰلِكَ يَجِبُ أَنْ تَعْتَمِدَ المِنْطَقَةُ عَلَى الطَّاقَةِ الشَّمْسِيَّةِ لِكَيْ تُقَلِّلَ انْبِعَاثَاتِهَا. وَيَرْجُو الجَمِيعُ أَنْ تَتَحَوَّلَ الأَزْمَةُ إِلَى فُرْصَةٍ.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reported that the Arab region is among the regions most affected by climate change. Countries such as Iraq suffer from accelerating desertification that threatens food security. Scientists fear that heat will exceed a limit at which life is impossible, and the situation requires governments to take urgent measures. If temperatures keep rising, large climate migrations will result. Had states acted early, the effects of desertification would be less severe. UN experts have stressed that cooperation is essential. So the region must rely on solar energy so that it reduces its emissions. And everyone hopes that the crisis will turn into an opportunity.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yakhshā an tatajāwaza · yataṭallabu an tattakhidha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1 (idhā … sa-) and a Type 2 (law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akkada … anna (a cited expert)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tuqallila · yarjū an tataḥawwala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every an, my verb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 three moods: requirement, fear, hope.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risk uses idhā … sa-; my regret uses law …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 + verb, but anna + noun (akkada anna l-taʿāwuna).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an expert and added a li-kay purpose.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تَدَابِيرَ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اتَّخَذَتْ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fear?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يَرْجُو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يَخْشَى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لَوِ اتَّخَذَتِ الدُّوَلُ إِجْرَاءَاتٍ، لَقَلَّ التَّصَحُّرُ.</a:t>
            </a:r>
            <a:endParaRPr lang="ar-SA" sz="15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إِذَا اتَّخَذَتِ الدُّوَلُ إِجْرَاءَاتٍ، سَيَقِلُّ التَّصَحُّرُ.</a:t>
            </a:r>
            <a:endParaRPr lang="ar-SA" sz="15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تَتَّخِذُ الدُّوَلُ إِجْرَاءَاتٍ.</a:t>
            </a:r>
            <a:endParaRPr lang="ar-SA" sz="15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تَدَابِيرَ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تَتَّخِذَ</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تَتَّخِذُ</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اتَّخَذَتْ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تَتَّخِذَ</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expresses fear?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يَرْجُو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يَخْشَى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يَتَطَلَّبُ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يَخْشَى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fear.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لَوِ اتَّخَذَتِ الدُّوَلُ إِجْرَاءَاتٍ، لَقَلَّ التَّصَحُّرُ.</a:t>
            </a:r>
            <a:endParaRPr lang="ar-SA" sz="15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إِذَا اتَّخَذَتِ الدُّوَلُ إِجْرَاءَاتٍ، سَيَقِلُّ التَّصَحُّرُ.</a:t>
            </a:r>
            <a:endParaRPr lang="ar-SA" sz="15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تَتَّخِذُ الدُّوَلُ إِجْرَاءَاتٍ.</a:t>
            </a:r>
            <a:endParaRPr lang="ar-SA" sz="15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fear, hope and requirement</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يُعَدُّ تَغَيُّرُ المَنَاخِ أَخْطَرَ تَحَدٍّ يُوَاجِهُ العَالَمَ العَرَبِيَّ. فَالمِنْطَقَةُ تَضُمُّ كَثِيرًا مِنَ الدُّوَلِ الأَشَدِّ هَشَاشَةً أَمَامَ الاحْتِرَارِ. يَخْشَى العُلَمَاءُ أَنْ تُصْبِحَ بَعْضُ المُدُنِ غَيْرَ صَالِحَةٍ لِلسَّكَنِ بِسَبَبِ مَوْجَاتِ الحَرِّ. وَيَتَطَلَّبُ الوَضْعُ أَنْ تَتَعَاوَنَ الدُّوَلُ العَرَبِيَّةُ وَأَنْ تَسْتَثْمِرَ فِي الطَّاقَةِ النَّظِيفَةِ. إِذَا اعْتَمَدَتِ المِنْطَقَةُ عَلَى الطَّاقَةِ الشَّمْسِيَّةِ، سَتُقَلِّلُ انْبِعَاثَاتِهَا وَتُحَقِّقُ اسْتِقْلَالِيَّةً طَاقَوِيَّةً. وَلَوْ بَدَأَ الاسْتِثْمَارُ فِي الطَّاقَةِ النَّظِيفَةِ مُبَكِّرًا، لَكَانَتِ المِنْطَقَةُ رَائِدَةً اليَوْمَ. وَيَرْجُو الجَمِيعُ أَنْ تَتَحَوَّلَ الأَزْمَةُ إِلَى فُرْصَةٍ لِبِنَاءِ مُسْتَقْبَلٍ أَنْظَفَ.</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أَخْطَرَ تَحَدٍّ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gravest challenge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الأَشَدِّ هَشَاشَةً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most fragile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الاحْتِرَارِ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warming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غَيْرَ صَالِحَةٍ لِلسَّكَنِ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uninhabitable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مَوْجَاتِ الحَرِّ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heat waves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تَسْتَثْمِرَ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invest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انْبِعَاثَاتِهَا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emissions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اسْتِقْلَالِيَّةً طَاقَوِيَّةً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energy independence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رَائِدَةً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leader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الأَزْمَةُ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crisis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climate change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minor issue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most serious challenge facing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opportunity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scientists fear?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rains too much</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deserts vanish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some cities become uninhabitable due to heat waves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situation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Cooperation and investment in clean energy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Ignoring the issue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Had clean-energy investment started early, the region would be a leader today</a:t>
            </a:r>
            <a:endParaRPr lang="en-US" sz="12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is impossible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everyone hope?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crisis turns into an opportunity for a cleaner future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nothing changes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oil use grows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climate change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minor issue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most serious challenge facing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opportunity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أَخْطَرَ تَحَدٍّ يُوَاجِهُ العَالَمَ العَرَبِيَّ.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scientists fear?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rains too much</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deserts vanish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some cities become uninhabitable due to heat waves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يَخْشَى العُلَمَاءُ أَنْ تُصْبِحَ بَعْضُ المُدُنِ غَيْرَ صَالِحَةٍ لِلسَّكَنِ.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situation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Cooperation and investment in clean energy</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Waiting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Ignoring the issue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يَتَطَلَّبُ الوَضْعُ أَنْ تَتَعَاوَنَ الدُّوَلُ … وَأَنْ تَسْتَثْمِرَ فِي الطَّاقَةِ النَّظِيفَةِ.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clean-energy investment started early, the region would be a leader today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is impossible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لَوْ بَدَأَ الاسْتِثْمَارُ … مُبَكِّرًا، لَكَانَتِ المِنْطَقَةُ رَائِدَةً اليَوْمَ.</a:t>
            </a:r>
            <a:endParaRPr lang="ar-SA" sz="12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everyone hope?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the crisis turns into an opportunity for a cleaner future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nothing changes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oil use grows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يَرْجُو الجَمِيعُ أَنْ تَتَحَوَّلَ الأَزْمَةُ إِلَى فُرْصَةٍ.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Climate Mission — Fear, Hope and Requirement</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تَدَابِيرَ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اتَّخَذَتْ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يَخْشَى العُلَمَاءُ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الحَرَارَةُ حَدًّا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تَتَجَاوَزَ</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تَتَجَاوَزُ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تَجَاوَزَتْ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يَرْجُو الجَمِيعُ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الاتِّفَاقِيَّةَ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تُوَقِّعُ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وَقَّعَتْ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تُوَقِّعَ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Mood:</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يَخْشَى أَنْ</a:t>
            </a:r>
            <a:pPr algn="l" indent="0" marL="0">
              <a:buNone/>
            </a:pPr>
            <a:r>
              <a:rPr lang="en-US" sz="1450" b="1" dirty="0">
                <a:solidFill>
                  <a:srgbClr val="1F2A37"/>
                </a:solidFill>
                <a:latin typeface="Calibri" pitchFamily="34" charset="0"/>
                <a:ea typeface="Calibri" pitchFamily="34" charset="-122"/>
                <a:cs typeface="Calibri" pitchFamily="34" charset="-120"/>
              </a:rPr>
              <a:t> expresses …</a:t>
            </a:r>
            <a:endParaRPr lang="en-US" sz="14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requirement</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Mood: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يَرْجُو أَنْ</a:t>
            </a:r>
            <a:pPr algn="l" indent="0" marL="0">
              <a:buNone/>
            </a:pPr>
            <a:r>
              <a:rPr lang="en-US" sz="1450" b="1" dirty="0">
                <a:solidFill>
                  <a:srgbClr val="1F2A37"/>
                </a:solidFill>
                <a:latin typeface="Calibri" pitchFamily="34" charset="0"/>
                <a:ea typeface="Calibri" pitchFamily="34" charset="-122"/>
                <a:cs typeface="Calibri" pitchFamily="34" charset="-120"/>
              </a:rPr>
              <a:t> expresses …</a:t>
            </a:r>
            <a:endParaRPr lang="en-US" sz="14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Mood: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يَتَطَلَّبُ أَنْ</a:t>
            </a:r>
            <a:pPr algn="l" indent="0" marL="0">
              <a:buNone/>
            </a:pPr>
            <a:r>
              <a:rPr lang="en-US" sz="1450" b="1" dirty="0">
                <a:solidFill>
                  <a:srgbClr val="1F2A37"/>
                </a:solidFill>
                <a:latin typeface="Calibri" pitchFamily="34" charset="0"/>
                <a:ea typeface="Calibri" pitchFamily="34" charset="-122"/>
                <a:cs typeface="Calibri" pitchFamily="34" charset="-120"/>
              </a:rPr>
              <a:t> expresses …</a:t>
            </a:r>
            <a:endParaRPr lang="en-US" sz="14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requirement</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الوَضْعُ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تَدَابِيرَ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اتَّخَذَتْ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يَخْشَى العُلَمَاءُ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الحَرَارَةُ حَدًّا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تَتَجَاوَزَ</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تَتَجَاوَزُ</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تَجَاوَزَتْ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يَرْجُو الجَمِيعُ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 الاتِّفَاقِيَّةَ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تُوَقِّعُ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وَقَّعَتْ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تُوَقِّعَ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يَرْجُو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Mood:</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يَخْشَى أَنْ</a:t>
            </a:r>
            <a:pPr algn="l" indent="0" marL="0">
              <a:buNone/>
            </a:pPr>
            <a:r>
              <a:rPr lang="en-US" sz="1450" b="1" dirty="0">
                <a:solidFill>
                  <a:srgbClr val="1F2A37"/>
                </a:solidFill>
                <a:latin typeface="Calibri" pitchFamily="34" charset="0"/>
                <a:ea typeface="Calibri" pitchFamily="34" charset="-122"/>
                <a:cs typeface="Calibri" pitchFamily="34" charset="-120"/>
              </a:rPr>
              <a:t> expresses …</a:t>
            </a:r>
            <a:endParaRPr lang="en-US" sz="14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hope</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requirement</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fear</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يَخْشَى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fear.</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Mood: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يَرْجُو أَنْ</a:t>
            </a:r>
            <a:pPr algn="l" indent="0" marL="0">
              <a:buNone/>
            </a:pPr>
            <a:r>
              <a:rPr lang="en-US" sz="1450" b="1" dirty="0">
                <a:solidFill>
                  <a:srgbClr val="1F2A37"/>
                </a:solidFill>
                <a:latin typeface="Calibri" pitchFamily="34" charset="0"/>
                <a:ea typeface="Calibri" pitchFamily="34" charset="-122"/>
                <a:cs typeface="Calibri" pitchFamily="34" charset="-120"/>
              </a:rPr>
              <a:t> expresses …</a:t>
            </a:r>
            <a:endParaRPr lang="en-US" sz="14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hope</a:t>
            </a:r>
            <a:endParaRPr lang="en-US" sz="12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fear</a:t>
            </a:r>
            <a:endParaRPr lang="en-US" sz="12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يَرْجُو أَنْ</a:t>
            </a:r>
            <a:pPr algn="l" indent="0" marL="0">
              <a:buNone/>
            </a:pPr>
            <a:r>
              <a:rPr lang="en-US" sz="1050" i="1" dirty="0">
                <a:solidFill>
                  <a:srgbClr val="8A6D1E"/>
                </a:solidFill>
                <a:latin typeface="Calibri" pitchFamily="34" charset="0"/>
                <a:ea typeface="Calibri" pitchFamily="34" charset="-122"/>
                <a:cs typeface="Calibri" pitchFamily="34" charset="-120"/>
              </a:rPr>
              <a:t> expresses hope.</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Mood: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يَتَطَلَّبُ أَنْ</a:t>
            </a:r>
            <a:pPr algn="l" indent="0" marL="0">
              <a:buNone/>
            </a:pPr>
            <a:r>
              <a:rPr lang="en-US" sz="1450" b="1" dirty="0">
                <a:solidFill>
                  <a:srgbClr val="1F2A37"/>
                </a:solidFill>
                <a:latin typeface="Calibri" pitchFamily="34" charset="0"/>
                <a:ea typeface="Calibri" pitchFamily="34" charset="-122"/>
                <a:cs typeface="Calibri" pitchFamily="34" charset="-120"/>
              </a:rPr>
              <a:t> expresses …</a:t>
            </a:r>
            <a:endParaRPr lang="en-US" sz="14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hope</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requirement</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fear</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expresses requirement.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P4-L03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P4-L04 · Water in the Arab World — Scarcity, Management and the Future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نَدْرَةُ المِيَاهِ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 scarcity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مِيَاهٌ جَوْفِيَّةٌ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groundwater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تَحْلِيَةُ المِيَاهِ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 desalination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necessary that, should</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الرِّيُّ الحَدِيثُ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modern irrigation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can we save water at home and at school?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يَنْبَغِي أَنْ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with yataṭallabu an, yakhshā an and yarjū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Type 1 risk and a Type 2 counterfactual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climate analysis ending on hope.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P4-L04 · Water in the Arab World — Scarcity, Management and the Future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المِيَاهُ فِي 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yataṭallabu an · yakhshā an · yarjū an · yurīdu an + a verb in -A — but anna + a noun — warn with idhā … sa-, regret with law … la-, and end on hope.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P4-L03 · Climate Change and the Arab World — Causes, Impacts and Responses</dc:title>
  <dc:subject>PptxGenJS Presentation</dc:subject>
  <dc:creator>Al Madina Online School · Arabic Department</dc:creator>
  <cp:lastModifiedBy>Al Madina Online School · Arabic Department</cp:lastModifiedBy>
  <cp:revision>1</cp:revision>
  <dcterms:created xsi:type="dcterms:W3CDTF">2026-10-10T16:03:29Z</dcterms:created>
  <dcterms:modified xsi:type="dcterms:W3CDTF">2026-10-10T16:03:29Z</dcterms:modified>
</cp:coreProperties>
</file>