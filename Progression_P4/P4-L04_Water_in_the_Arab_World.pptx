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P4 The Built and Natural World › P4-L04. The website lesson “Water in the Arab World — Scarcity, Management and the Future”: vocabulary, grammar rules and quiz, patterns, common mistakes, sorter, listening, reading, speaking prompts and model, writing task and model, differentiation, final check and the lesson mission. Picture match: website visual game “Water in the Arab World — Scarcity, Management and the Future”.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sentences with yanbaghī an, min al-ḍarūrī an and min al-muhimm an (website Core). Develop: sort five subjunctives by trigger and add both conditionals. Stretch: a full 100–110-word water-policy analysis.
• Make it local first: how much water does your family use in a day? Then zoom out to the region. Faith link (optional): «وَجَعَلْنَا مِنَ المَاءِ كُلَّ شَيْءٍ حَيٍّ» (al-Anbiyāʾ 21:30) and «وَلَا تُسْرِفُوا» (al-Aʿrāf 7:31) — water is a trust, not something to waste.
• Nothing here is new grammar — an + a verb in -a has appeared after li-kay (P4-L01) and after volition verbs (P4-L03). Today adds the third trigger (necessity) and pulls the whole system together.
• Grammar links: li-kay (P4-L01) · passive and planning verbs (P4-L02) · volition verbs (P4-L03) · both conditionals (P3-L05) · reported speech (P3-L06).
• TEACHER-WRITTEN ITEMS: waṣl alif shown without a kasra; لِكَيْ always written with its sukūn; rule headings and formulas in transliteration; rule-4 examples shown without their English labels; Core and Stretch writing tasks in transliteration; listening question 2 and reading question 4 answers shortened to fit; sorter headings and trigger-word glosses in transliteration; game cards 0, 2 and 4 not used; the necessity, trigger and register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P4-L03. Questions 4–5 retrieve the volition verbs (P4-L03) — today they become one of the three triggers.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Three triggers — purpose, volition, necessity — and after each one the verb ends in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ضروری, حصہ and زراعت are shared. Urdu اہم is really the Arabic comparative أَهَمُّ (more important); in Arabic “important” is مُهِمٌّ. Careful: Urdu ادارہ is an institution; Arabic إِدَارَةُ المِيَاهِ is water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Water scarcity and management (website vocabulary (1 of 2)). Hear → Say → See → Use. Transliteration is printed for Core students (cover it for Develop/Stretch).
Water scarcity and management: the vocabulary of a water-policy report. نَدْرَةٌ is also pronounced نُدْرَةٌ (both are correct — the website game uses نُدْرَة). مِيَاهٌ is the plural of مَاءٌ; Arabic reports almost always use the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Water scarcity and management (website vocabulary (2 of 2)). Hear → Say → See → Use. Transliteration is printed for Core students (cover it for Develop/Stretch).
Water scarcity and management: the vocabulary of a water-policy report. نَدْرَةٌ is also pronounced نُدْرَةٌ (both are correct — the website game uses نُدْرَة). مِيَاهٌ is the plural of مَاءٌ; Arabic reports almost always use the plural.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Necessity expressions (+ subjunctive) (website vocabulary (1 of 2)). Hear → Say → See → Use. Transliteration is printed for Core students (cover it for Develop/Stretch).
Necessity expressions: يَنْبَغِي أَنْ / مِنَ الضَّرُورِيِّ أَنْ / مِنَ المُهِمِّ أَنْ never change for the person — the verb after أَنْ carries the subject and ends in -a. يُعَالِجُ / يَسْتَخْرِجُ / يُعِيدُ تَدْوِيرَ take a direct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Necessity expressions (+ subjunctive) (website vocabulary (2 of 2)). Hear → Say → See → Use. Transliteration is printed for Core students (cover it for Develop/Stretch).
FLEX: teach if time allows; otherwise these are on the website vocabulary tab for homework.
Necessity expressions: يَنْبَغِي أَنْ / مِنَ الضَّرُورِيِّ أَنْ / مِنَ المُهِمِّ أَنْ never change for the person — the verb after أَنْ carries the subject and ends in -a. يُعَالِجُ / يَسْتَخْرِجُ / يُعِيدُ تَدْوِيرَ take a direct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three subjunctive triggers (website vocabulary (1 of 2)). Hear → Say → See → Use. Transliteration is printed for Core students (cover it for Develop/Stretch).
FLEX: teach if time allows; otherwise these are on the website vocabulary tab for homework.
The three triggers: today’s map of the whole subjunctive system — purpose (li-kay), volition (yataṭallabu an), necessity (yanbaghī an). The last two words are the farming solution: water-saving agriculture and modern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three subjunctive triggers (website vocabulary (2 of 2)). Hear → Say → See → Use. Transliteration is printed for Core students (cover it for Develop/Stretch).
FLEX: teach if time allows; otherwise these are on the website vocabulary tab for homework.
The three triggers: today’s map of the whole subjunctive system — purpose (li-kay), volition (yataṭallabu an), necessity (yanbaghī an). The last two words are the farming solution: water-saving agriculture and modern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1–3, the website table and teaching point 1 (“Impersonal necessity always takes the subjunctive”). Row 4 is from the website speaking model; row 5 is from the website visual game.
“Impersonal” = the expression itself never changes: يَنْبَغِي أَنْ أَدْرُسَ · يَنْبَغِي أَنْ تَدْرُسِي · يَنْبَغِي أَنْ يَدْرُسُوا. The person goes on the verb after أَنْ.
Row 3: the verb is singular before a plural subject (يُعِيدَ المُزَارِعُونَ) — verb-first agreement. Row 5: يَجِبُ can also take a maṣdar instead of أَنْ + verb (يَجِبُ تَرْشِيدُ = rationing is a must). Both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4 (“Three triggers”), teaching point 2 (“Three triggers, one mood”) and examples from the website sorter, reading and listening.
Ask the question in column 3 to find the trigger: WHY? → purpose · WANTED / FEARED / HOPED? → volition · MUST? → necessity.
Row 3: تَنْفَدَ (to run out) — sound verb, fatḥa. Do not confuse it with سَيَسْتَنْفِدُ (will exhaust) in the listening. Row 4: يَتَحَقَّقَ — the hope is that water security is achieved.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quiz 7, mission rounds 11–12, the reading (card 2), the listening (card 3) and mistake 3.
Card 2 is new: a NEGATIVE Type 2 result uses لَمَا + past (لَمَا وَصَلَتْ = would not have reached). Positive: لَـ + past (لَكَانَتْ). أُدِيرَتْ is a passive (P4-L02): “had been managed”.
Do not confuse أَنْ and أَنَّ: يَنْبَغِي أَنْ + a VERB in -a · أَكَّدَ أَنَّ + a NOUN in -a (أَنَّ التَّعَاوُنَ).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register tools from the website listening, reading and writing model.
Row 1: أَشَدُّ + definite plural = “one of the most severe” · Row 4: أَخْطَرُ + indefinite singular = “THE gravest”. Row 3: إِذْ = since, as (gives a reason). Row 5: حَقٌّ لَا امْتِيَازٌ = a right, not a privilege — لَا here contrasts two nouns.
Accuracy: the World Bank describes the Middle East and North Africa as home to about 6% of the world’s people but only around 1–2% of its renewable fresh water — sources vary slightly, so “less than one percent” is the website’s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“يَنْبَغِي، مِنَ الضَّرُورِيِّ، مِنَ المُهِمِّ + أَنْ take the subjunctive; the three triggers (purpose, volition, necessity) are drawn together.”
• yanbaghī an: It is necessary / one should.
• min al-ḍarūrī an: It is essential.
• min al-muhimm an: It is important.
• Three triggers: Purpose, volition and necessity all take the subjunctive.
Website common error: Using the indicative (تُطَوِّرُ) after an impersonal necessity expression. يَنْبَغِي / مِنَ الضَّرُورِيِّ / مِنَ المُهِمِّ + أَنْ always take the subjunctive fatḥa.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“How serious? yushāru ilā ANNA + a noun. The real risk: idhā … SA-yastanfidu. The regret: law … LA-kānat. What must happen? yanbaghī AN tuṭawwirA · min al-muhimm AN taʿtamidA. Why? li-kay tuqallilA. Three triggers, one ending: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Water in the Arab World — Scarcity, Management and the Future”)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turn each card into a necessity: يَنْبَغِي أَنْ نُرَشِّدَ اسْتِهْلَاكَ المِيَاهِ · مِنَ الضَّرُورِيِّ أَنْ تُطَوِّرَ الدُّوَلُ التَّحْلِيَةَ · مِنَ المُهِمِّ أَنْ نُصْلِحَ التَّسَرُّبَاتِ لِكَيْ نُقَلِّلَ الهَدْرَ.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Water in the Arab World — Scarcity, Management and the Future”)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turn each card into a necessity: يَنْبَغِي أَنْ نُرَشِّدَ اسْتِهْلَاكَ المِيَاهِ · مِنَ الضَّرُورِيِّ أَنْ تُطَوِّرَ الدُّوَلُ التَّحْلِيَةَ · مِنَ المُهِمِّ أَنْ نُصْلِحَ التَّسَرُّبَاتِ لِكَيْ نُقَلِّلَ الهَدْرَ.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water-policy argument from a necessity, a purpose clause and a reflection.” Website feedback: any three different combinations work.
Core: read row 1 across. Develop: label column 3 — Type 2 (row 1), Type 1 (row 2), cited expert (row 3). Stretch: say your own necessity + purpose about water at school.
Note column 3 row 1: اسْتُثْمِرَ is an impersonal passive (“had it been invested”).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Ask the question for each card: WHY? (purpose) · WANTED, FEARED, HOPED? (volition) · MUST? (necessity). Then read each card aloud and stress the final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Ask the question for each card: WHY? (purpose) · WANTED, FEARED, HOPED? (volition) · MUST? (necessity). Then read each card aloud and stress the final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4 and 5. Develop / Stretch: all 5 — and write down every verb after an and li-kay with its final -a.
Listen 1: just listen. Listen 2: note answers. Then chat the letters.
Support: after the second listening, show the read-along slide (Arabic + English, line by line) for Core students.
SCRIPT (read aloud):
يُشَارُ إِلَى أَنَّ المِنْطَقَةَ العَرَبِيَّةَ تُعَانِي مِنْ أَشَدِّ أَزَمَاتِ المِيَاهِ فِي العَالَمِ. فَهِيَ تَضُمُّ أَقَلَّ مِنْ وَاحِدٍ بِالمِئَةِ مِنْ مَوَارِدِ المِيَاهِ العَذْبَةِ. إِذَا اسْتَمَرَّتْ مُعَدَّلَاتُ الاسْتِهْلَاكِ الحَالِيَّةُ، سَيَسْتَنْفِدُ كَثِيرٌ مِنْ دُوَلِ الخَلِيجِ مَخْزُونَهُ الجَوْفِيَّ خِلَالَ عُقُودٍ. وَلَوِ اسْتَثْمَرَتِ الدُّوَلُ فِي التَّحْلِيَةِ مُبَكِّرًا، لَكَانَتِ الأَزْمَةُ أَقَلَّ حِدَّةً. لِذٰلِكَ يَنْبَغِي أَنْ تُطَوِّرَ الدُّوَلُ سِيَاسَاتِ مِيَاهٍ مُتَكَامِلَةً. وَمِنَ الضَّرُورِيِّ أَنْ تَتَعَاوَنَ الدُّوَلُ المُجَاوِرَةُ فِي إِدَارَةِ المَوَارِدِ المُشْتَرَكَةِ. وَمِنَ المُهِمِّ أَنْ تَعْتَمِدَ الزِّرَاعَةُ الرِّيَّ الحَدِيثَ لِكَيْ تُقَلِّلَ الهَدْرَ. وَأَكَّدَ خُبَرَاءُ الأُمَمِ المُتَّحِدَةِ أَنَّ التَّعَاوُنَ الإِقْلِيمِيَّ هُوَ الحَلُّ.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الهَدَفُ مِنَ الرِّيِّ الحَدِيثِ؟ (Purpose)
B: تَعْتَمِدُ الزِّرَاعَةُ الرِّيَّ الحَدِيثَ لِكَيْ تُقَلِّلَ الهَدْرَ، وَلَوْ فَعَلْنَا ذٰلِكَ سَابِقًا لَوَفَّرْنَا الكَثِيرَ. (لِكَيْ + a Type 2)
Website prompts and model. Pair task: “water pledge” — A names a problem, B answers with a necessity, A adds a purpose with li-kay. Partner checks every -a after an and li-kay. To a girl: اسْتَعْمِلِي.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three sentences with yanbaghī an, min al-ḍarūrī an and min al-muhimm an. · Develop — Classify five subjunctives by trigger: purpose, volition or necessity. · Stretch — Write a full water-policy analysis using all three triggers and both conditionals.
Website writing task (Stretch): Write one hundred to one hundred and ten words analysing water in the Arab world. Use yanbaghī an, min al-ḍarūrī an and min al-muhimm an, both conditional types, a li-kay purpose clause and a reported-speech clause.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يُشَارُ إِلَى أَنَّ · إِذْ تَفْتَقِرُ إِلَى · إِذَا اسْتَمَرَّتْ … سَيَسْتَنْفِدُ · لَوِ اسْتَثْمَرَتِ … لَكَانَتِ · يَنْبَغِي أَنْ تُطَوِّرَ · مِنَ الضَّرُورِيِّ أَنْ تَتَعَاوَنَ · مِنَ المُهِمِّ أَنْ تَعْتَمِدَ · لِكَيْ تُقَلِّلَ · أَكَّدَ … أَنَّ.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(P4-L05 · Natural Disasters — Describing and Responding to Extreme Events) will spend class time USING this language, so students prepare it tonight — short, simple, easy to access (school guidance: “Simple, Short, Interesting, Relevant, Easy to access”). The five words come from the website P4-L05 vocabulary (natural disasters).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P4  ·  P4-L04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P4-L04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Water in the Arab World — Scarcity, Management and the Future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100" b="1" dirty="0">
                <a:solidFill>
                  <a:srgbClr val="D4AF37"/>
                </a:solidFill>
                <a:latin typeface="Amiri" pitchFamily="2" charset="-78"/>
                <a:cs typeface="Amiri" pitchFamily="2" charset="-78"/>
              </a:rPr>
              <a:t>المِيَاهُ فِي العَالَمِ العَرَبِيِّ — النَّدْرَةُ وَالإِدَارَةُ وَالمُسْتَقْبَلُ</a:t>
            </a:r>
            <a:endParaRPr lang="ar-SA" sz="31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Analyse water scarcity and propose policy with impersonal necessity — yanbaghī an, min al-ḍarūrī an, min al-muhimm an, each + a verb in -a — and sort every subjunctive by its trigger: purpose, volition or necessity.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P4-L04 · Progression P4 · The Built and Natural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P4 › P4-L04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00" dirty="0">
                <a:solidFill>
                  <a:srgbClr val="1F2A37"/>
                </a:solidFill>
                <a:latin typeface="Calibri" pitchFamily="34" charset="0"/>
                <a:cs typeface="Amiri" pitchFamily="2" charset="-78"/>
              </a:rPr>
              <a:t>Necessity expressions + an, the verb in -a, the three triggers, risk / counterfactual / citation, water-policy register.</a:t>
            </a:r>
            <a:endParaRPr lang="en-US" sz="10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Match water pictures, build a water-policy argument, sort purpose / volition / necessity.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P4-L05.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نَدْرَةُ المِيَاهِ</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pollution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scarcity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rainwater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مِيَاهٌ جَوْفِيَّةٌ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groundwater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sea water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drinking water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fears that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necessary that, should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يَخْشَى العُلَمَاءُ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الحَرَارَةُ حَدًّا خَطِيرًا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تَتَجَاوَزُ</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تَجَاوَزَتْ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تَتَجَاوَزَ</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hope?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يَرْجُو أَنْ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يَخْشَى أَنْ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نَدْرَةُ المِيَاهِ</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 pollution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scarcity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rainwater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مِيَاهٌ جَوْفِيَّةٌ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groundwater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sea water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drinking water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fears that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 that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necessary that, should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(P4-L03).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يَخْشَى العُلَمَاءُ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الحَرَارَةُ حَدًّا خَطِيرًا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تَتَجَاوَزُ</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تَجَاوَزَتْ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تَتَجَاوَزَ</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P4-L03: after an, the verb ends in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expresses hope?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يَرْجُو أَنْ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يَخْشَى أَنْ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يَتَطَلَّبُ أَنْ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P4-L03: yarjū an = he hopes that.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Three triggers — purpose, volition, necessity — and after each one the verb ends in -a.</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لِكَيْ </a:t>
            </a:r>
            <a:pPr rtl="1" algn="ctr" indent="0" marL="0">
              <a:lnSpc>
                <a:spcPct val="120000"/>
              </a:lnSpc>
              <a:buNone/>
            </a:pPr>
            <a:r>
              <a:rPr lang="ar-SA" altLang="en-US" sz="1950" b="1" dirty="0">
                <a:solidFill>
                  <a:srgbClr val="D6336C"/>
                </a:solidFill>
                <a:latin typeface="Amiri" pitchFamily="2" charset="-78"/>
                <a:cs typeface="Amiri" pitchFamily="2" charset="-78"/>
              </a:rPr>
              <a:t>تُقَلِّلَ</a:t>
            </a:r>
            <a:pPr rtl="1" algn="ctr" indent="0" marL="0">
              <a:lnSpc>
                <a:spcPct val="120000"/>
              </a:lnSpc>
              <a:buNone/>
            </a:pPr>
            <a:r>
              <a:rPr lang="ar-SA" altLang="en-US" sz="1950" b="1" dirty="0">
                <a:solidFill>
                  <a:srgbClr val="1B3B6F"/>
                </a:solidFill>
                <a:latin typeface="Amiri" pitchFamily="2" charset="-78"/>
                <a:cs typeface="Amiri" pitchFamily="2" charset="-78"/>
              </a:rPr>
              <a:t> · يَتَطَلَّبُ أَنْ </a:t>
            </a:r>
            <a:pPr rtl="1" algn="ctr" indent="0" marL="0">
              <a:lnSpc>
                <a:spcPct val="120000"/>
              </a:lnSpc>
              <a:buNone/>
            </a:pPr>
            <a:r>
              <a:rPr lang="ar-SA" altLang="en-US" sz="1950" b="1" dirty="0">
                <a:solidFill>
                  <a:srgbClr val="1D5FBF"/>
                </a:solidFill>
                <a:latin typeface="Amiri" pitchFamily="2" charset="-78"/>
                <a:cs typeface="Amiri" pitchFamily="2" charset="-78"/>
              </a:rPr>
              <a:t>تَسْتَثْمِرَ</a:t>
            </a:r>
            <a:pPr rtl="1" algn="ctr" indent="0" marL="0">
              <a:lnSpc>
                <a:spcPct val="120000"/>
              </a:lnSpc>
              <a:buNone/>
            </a:pPr>
            <a:r>
              <a:rPr lang="ar-SA" altLang="en-US" sz="1950" b="1" dirty="0">
                <a:solidFill>
                  <a:srgbClr val="1B3B6F"/>
                </a:solidFill>
                <a:latin typeface="Amiri" pitchFamily="2" charset="-78"/>
                <a:cs typeface="Amiri" pitchFamily="2" charset="-78"/>
              </a:rPr>
              <a:t> · يَنْبَغِي أَنْ </a:t>
            </a:r>
            <a:pPr rtl="1" algn="ctr" indent="0" marL="0">
              <a:lnSpc>
                <a:spcPct val="120000"/>
              </a:lnSpc>
              <a:buNone/>
            </a:pPr>
            <a:r>
              <a:rPr lang="ar-SA" altLang="en-US" sz="1950" b="1" dirty="0">
                <a:solidFill>
                  <a:srgbClr val="0E7C86"/>
                </a:solidFill>
                <a:latin typeface="Amiri" pitchFamily="2" charset="-78"/>
                <a:cs typeface="Amiri" pitchFamily="2" charset="-78"/>
              </a:rPr>
              <a:t>تُطَوِّرَ</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water scarcity and management with policy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yanbaghī an, min al-ḍarūrī an and min al-muhimm an + a verb in -a.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Classify a subjunctive by its trigger: purpose, volition or necessity.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water-policy analysis combining all P4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water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yanbaghī an + a verb in -a.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min al-ḍarūrī an and min al-muhimm 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sort a subjunctive by its trigger.</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add a real risk, a counterfactual and a cited report.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water-policy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Water scarcity and management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Necessity expressions (+ subjunctive)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The three subjunctive triggers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ضَرُورِيٌّ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‎ضروری‎ </a:t>
            </a:r>
            <a:pPr indent="0" marL="0">
              <a:buNone/>
            </a:pPr>
            <a:r>
              <a:rPr lang="en-US" sz="950" b="1" dirty="0">
                <a:solidFill>
                  <a:srgbClr val="2E8B57"/>
                </a:solidFill>
                <a:latin typeface="Calibri" pitchFamily="34" charset="0"/>
                <a:cs typeface="Amiri" pitchFamily="2" charset="-78"/>
              </a:rPr>
              <a:t> zarūrī · necessary, essential</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مُهِمٌّ · أَهَمُّ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‎اہم‎ </a:t>
            </a:r>
            <a:pPr indent="0" marL="0">
              <a:buNone/>
            </a:pPr>
            <a:r>
              <a:rPr lang="en-US" sz="950" b="1" dirty="0">
                <a:solidFill>
                  <a:srgbClr val="2E8B57"/>
                </a:solidFill>
                <a:latin typeface="Calibri" pitchFamily="34" charset="0"/>
                <a:cs typeface="Amiri" pitchFamily="2" charset="-78"/>
              </a:rPr>
              <a:t> aham · important (Urdu takes the Arabic comparative)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حِصَّةٌ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‎حصہ‎ </a:t>
            </a:r>
            <a:pPr indent="0" marL="0">
              <a:buNone/>
            </a:pPr>
            <a:r>
              <a:rPr lang="en-US" sz="950" b="1" dirty="0">
                <a:solidFill>
                  <a:srgbClr val="2E8B57"/>
                </a:solidFill>
                <a:latin typeface="Calibri" pitchFamily="34" charset="0"/>
                <a:cs typeface="Amiri" pitchFamily="2" charset="-78"/>
              </a:rPr>
              <a:t> hissa · a share, a quota</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زِرَاعَةٌ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‎زراعت‎ </a:t>
            </a:r>
            <a:pPr indent="0" marL="0">
              <a:buNone/>
            </a:pPr>
            <a:r>
              <a:rPr lang="en-US" sz="950" b="1" dirty="0">
                <a:solidFill>
                  <a:srgbClr val="2E8B57"/>
                </a:solidFill>
                <a:latin typeface="Calibri" pitchFamily="34" charset="0"/>
                <a:cs typeface="Amiri" pitchFamily="2" charset="-78"/>
              </a:rPr>
              <a:t> zirāʿat · agriculture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إِدَارَةٌ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‎ادارہ‎ </a:t>
            </a:r>
            <a:pPr indent="0" marL="0">
              <a:buNone/>
            </a:pPr>
            <a:r>
              <a:rPr lang="en-US" sz="950" b="1" dirty="0">
                <a:solidFill>
                  <a:srgbClr val="2E8B57"/>
                </a:solidFill>
                <a:latin typeface="Calibri" pitchFamily="34" charset="0"/>
                <a:cs typeface="Amiri" pitchFamily="2" charset="-78"/>
              </a:rPr>
              <a:t> idāra · Arabic: management · Urdu: an institution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Water scarcity and management (1 of 2)</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نَدْرَةُ المِيَاهِ</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scarcity</a:t>
            </a:r>
            <a:endParaRPr lang="en-US" sz="1350" dirty="0"/>
          </a:p>
          <a:p>
            <a:pPr indent="0" marL="0">
              <a:buNone/>
            </a:pPr>
            <a:r>
              <a:rPr lang="en-US" sz="1100" i="1" dirty="0">
                <a:solidFill>
                  <a:srgbClr val="5A6472"/>
                </a:solidFill>
                <a:latin typeface="Calibri" pitchFamily="34" charset="0"/>
                <a:cs typeface="Amiri" pitchFamily="2" charset="-78"/>
              </a:rPr>
              <a:t>nad-ra-tu al-mi-yā-hi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حِصَّةُ المِيَاهِ</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water quota</a:t>
            </a:r>
            <a:endParaRPr lang="en-US" sz="1350" dirty="0"/>
          </a:p>
          <a:p>
            <a:pPr indent="0" marL="0">
              <a:buNone/>
            </a:pPr>
            <a:r>
              <a:rPr lang="en-US" sz="1100" i="1" dirty="0">
                <a:solidFill>
                  <a:srgbClr val="5A6472"/>
                </a:solidFill>
                <a:latin typeface="Calibri" pitchFamily="34" charset="0"/>
                <a:cs typeface="Amiri" pitchFamily="2" charset="-78"/>
              </a:rPr>
              <a:t>ḥiṣ-ṣa-tu al-mi-yā-hi</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حِصَصُ المِيَاهِ</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إِدَارَةُ المِيَاهِ</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management</a:t>
            </a:r>
            <a:endParaRPr lang="en-US" sz="1350" dirty="0"/>
          </a:p>
          <a:p>
            <a:pPr indent="0" marL="0">
              <a:buNone/>
            </a:pPr>
            <a:r>
              <a:rPr lang="en-US" sz="1100" i="1" dirty="0">
                <a:solidFill>
                  <a:srgbClr val="5A6472"/>
                </a:solidFill>
                <a:latin typeface="Calibri" pitchFamily="34" charset="0"/>
                <a:cs typeface="Amiri" pitchFamily="2" charset="-78"/>
              </a:rPr>
              <a:t>i-dā-ra-tu al-mi-yā-hi</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مِيَاهٌ جَوْفِيَّةٌ</a:t>
            </a:r>
            <a:endParaRPr lang="ar-SA" sz="3000" dirty="0"/>
          </a:p>
        </p:txBody>
      </p:sp>
      <p:sp>
        <p:nvSpPr>
          <p:cNvPr id="47" name="Text 4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groundwater</a:t>
            </a:r>
            <a:endParaRPr lang="en-US" sz="1350" dirty="0"/>
          </a:p>
          <a:p>
            <a:pPr indent="0" marL="0">
              <a:buNone/>
            </a:pPr>
            <a:r>
              <a:rPr lang="en-US" sz="1100" i="1" dirty="0">
                <a:solidFill>
                  <a:srgbClr val="5A6472"/>
                </a:solidFill>
                <a:latin typeface="Calibri" pitchFamily="34" charset="0"/>
                <a:cs typeface="Amiri" pitchFamily="2" charset="-78"/>
              </a:rPr>
              <a:t>mi-yā-hun jaw-fiy-ya-tun</a:t>
            </a:r>
            <a:endParaRPr lang="en-US" sz="1350" dirty="0"/>
          </a:p>
        </p:txBody>
      </p:sp>
      <p:sp>
        <p:nvSpPr>
          <p:cNvPr id="48" name="Shape 4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0" name="Text 4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مَاءٌ جَوْفِيٌّ</a:t>
            </a:r>
            <a:endParaRPr lang="ar-SA" sz="15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تَحْلِيَةُ المِيَاهِ</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desalination</a:t>
            </a:r>
            <a:endParaRPr lang="en-US" sz="1350" dirty="0"/>
          </a:p>
          <a:p>
            <a:pPr indent="0" marL="0">
              <a:buNone/>
            </a:pPr>
            <a:r>
              <a:rPr lang="en-US" sz="1100" i="1" dirty="0">
                <a:solidFill>
                  <a:srgbClr val="5A6472"/>
                </a:solidFill>
                <a:latin typeface="Calibri" pitchFamily="34" charset="0"/>
                <a:cs typeface="Amiri" pitchFamily="2" charset="-78"/>
              </a:rPr>
              <a:t>taḥ-li-ya-tu al-mi-yā-hi</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Water scarcity and management (2 of 2)</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إِعَادَةُ اسْتِخْدَامِ المِيَاهِ</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reuse</a:t>
            </a:r>
            <a:endParaRPr lang="en-US" sz="1350" dirty="0"/>
          </a:p>
          <a:p>
            <a:pPr indent="0" marL="0">
              <a:buNone/>
            </a:pPr>
            <a:r>
              <a:rPr lang="en-US" sz="1100" i="1" dirty="0">
                <a:solidFill>
                  <a:srgbClr val="5A6472"/>
                </a:solidFill>
                <a:latin typeface="Calibri" pitchFamily="34" charset="0"/>
                <a:cs typeface="Amiri" pitchFamily="2" charset="-78"/>
              </a:rPr>
              <a:t>i-ʿā-da-tu as-tikh-dā-mi al-mi-yā-hi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سَدٌّ</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dam</a:t>
            </a:r>
            <a:endParaRPr lang="en-US" sz="1350" dirty="0"/>
          </a:p>
          <a:p>
            <a:pPr indent="0" marL="0">
              <a:buNone/>
            </a:pPr>
            <a:r>
              <a:rPr lang="en-US" sz="1100" i="1" dirty="0">
                <a:solidFill>
                  <a:srgbClr val="5A6472"/>
                </a:solidFill>
                <a:latin typeface="Calibri" pitchFamily="34" charset="0"/>
                <a:cs typeface="Amiri" pitchFamily="2" charset="-78"/>
              </a:rPr>
              <a:t>sad-dun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سُدُودٌ</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خَزَّانُ مِيَاهٍ</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water reservoir</a:t>
            </a:r>
            <a:endParaRPr lang="en-US" sz="1350" dirty="0"/>
          </a:p>
          <a:p>
            <a:pPr indent="0" marL="0">
              <a:buNone/>
            </a:pPr>
            <a:r>
              <a:rPr lang="en-US" sz="1100" i="1" dirty="0">
                <a:solidFill>
                  <a:srgbClr val="5A6472"/>
                </a:solidFill>
                <a:latin typeface="Calibri" pitchFamily="34" charset="0"/>
                <a:cs typeface="Amiri" pitchFamily="2" charset="-78"/>
              </a:rPr>
              <a:t>khaz-zā-nu mi-yā-hin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خَزَّانَاتُ مِيَاهٍ</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أَمْنٌ مَائِيٌّ</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 security</a:t>
            </a:r>
            <a:endParaRPr lang="en-US" sz="1350" dirty="0"/>
          </a:p>
          <a:p>
            <a:pPr indent="0" marL="0">
              <a:buNone/>
            </a:pPr>
            <a:r>
              <a:rPr lang="en-US" sz="1100" i="1" dirty="0">
                <a:solidFill>
                  <a:srgbClr val="5A6472"/>
                </a:solidFill>
                <a:latin typeface="Calibri" pitchFamily="34" charset="0"/>
                <a:cs typeface="Amiri" pitchFamily="2" charset="-78"/>
              </a:rPr>
              <a:t>am-nun mā-ʾiy-yun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Necessity expressions (+ subjunctive) (1 of 2)</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144829"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يَنْبَغِي أَنْ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necessary that, should</a:t>
            </a:r>
            <a:endParaRPr lang="en-US" sz="1350" dirty="0"/>
          </a:p>
          <a:p>
            <a:pPr indent="0" marL="0">
              <a:buNone/>
            </a:pPr>
            <a:r>
              <a:rPr lang="en-US" sz="1100" i="1" dirty="0">
                <a:solidFill>
                  <a:srgbClr val="5A6472"/>
                </a:solidFill>
                <a:latin typeface="Calibri" pitchFamily="34" charset="0"/>
                <a:cs typeface="Amiri" pitchFamily="2" charset="-78"/>
              </a:rPr>
              <a:t>yan-ba-ghī 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7" name="Shape 24"/>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الضَّرُورِيِّ أَنْ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essential that</a:t>
            </a:r>
            <a:endParaRPr lang="en-US" sz="1350" dirty="0"/>
          </a:p>
          <a:p>
            <a:pPr indent="0" marL="0">
              <a:buNone/>
            </a:pPr>
            <a:r>
              <a:rPr lang="en-US" sz="1100" i="1" dirty="0">
                <a:solidFill>
                  <a:srgbClr val="5A6472"/>
                </a:solidFill>
                <a:latin typeface="Calibri" pitchFamily="34" charset="0"/>
                <a:cs typeface="Amiri" pitchFamily="2" charset="-78"/>
              </a:rPr>
              <a:t>mi-na aḍ-ḍa-rū-riy-yi 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6" name="Shape 33"/>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 subjunctive.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المُهِمِّ أَنْ</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important that</a:t>
            </a:r>
            <a:endParaRPr lang="en-US" sz="1350" dirty="0"/>
          </a:p>
          <a:p>
            <a:pPr indent="0" marL="0">
              <a:buNone/>
            </a:pPr>
            <a:r>
              <a:rPr lang="en-US" sz="1100" i="1" dirty="0">
                <a:solidFill>
                  <a:srgbClr val="5A6472"/>
                </a:solidFill>
                <a:latin typeface="Calibri" pitchFamily="34" charset="0"/>
                <a:cs typeface="Amiri" pitchFamily="2" charset="-78"/>
              </a:rPr>
              <a:t>mi-na al-mu-him-mi an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5" name="Shape 42"/>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يُعَالِجُ</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treats, processes</a:t>
            </a:r>
            <a:endParaRPr lang="en-US" sz="1350" dirty="0"/>
          </a:p>
          <a:p>
            <a:pPr indent="0" marL="0">
              <a:buNone/>
            </a:pPr>
            <a:r>
              <a:rPr lang="en-US" sz="1100" i="1" dirty="0">
                <a:solidFill>
                  <a:srgbClr val="5A6472"/>
                </a:solidFill>
                <a:latin typeface="Calibri" pitchFamily="34" charset="0"/>
                <a:cs typeface="Amiri" pitchFamily="2" charset="-78"/>
              </a:rPr>
              <a:t>yu-ʿā-li-ju</a:t>
            </a:r>
            <a:endParaRPr lang="en-US" sz="1350" dirty="0"/>
          </a:p>
        </p:txBody>
      </p:sp>
      <p:sp>
        <p:nvSpPr>
          <p:cNvPr id="49" name="Shape 4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1" name="Text 48"/>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تُعَالِجُ</a:t>
            </a:r>
            <a:endParaRPr lang="ar-SA"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Necessity expressions (+ subjunctive) (2 of 2)</a:t>
            </a:r>
            <a:endParaRPr lang="en-US" sz="20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Shape 17"/>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يَسْتَخْرِجُ</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extracts</a:t>
            </a:r>
            <a:endParaRPr lang="en-US" sz="1350" dirty="0"/>
          </a:p>
          <a:p>
            <a:pPr indent="0" marL="0">
              <a:buNone/>
            </a:pPr>
            <a:r>
              <a:rPr lang="en-US" sz="1100" i="1" dirty="0">
                <a:solidFill>
                  <a:srgbClr val="5A6472"/>
                </a:solidFill>
                <a:latin typeface="Calibri" pitchFamily="34" charset="0"/>
                <a:cs typeface="Amiri" pitchFamily="2" charset="-78"/>
              </a:rPr>
              <a:t>yas-takh-ri-ju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تَسْتَخْرِجُ</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يُعِيدُ تَدْوِيرَ</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recycles</a:t>
            </a:r>
            <a:endParaRPr lang="en-US" sz="1350" dirty="0"/>
          </a:p>
          <a:p>
            <a:pPr indent="0" marL="0">
              <a:buNone/>
            </a:pPr>
            <a:r>
              <a:rPr lang="en-US" sz="1100" i="1" dirty="0">
                <a:solidFill>
                  <a:srgbClr val="5A6472"/>
                </a:solidFill>
                <a:latin typeface="Calibri" pitchFamily="34" charset="0"/>
                <a:cs typeface="Amiri" pitchFamily="2" charset="-78"/>
              </a:rPr>
              <a:t>yu-ʿī-du tad-wī-ra</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6" name="Text 33"/>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تُعِيدُ تَدْوِيرَ</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حَقُّ الوُصُولِ إِلَى المِيَاهِ</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right to water access</a:t>
            </a:r>
            <a:endParaRPr lang="en-US" sz="1350" dirty="0"/>
          </a:p>
          <a:p>
            <a:pPr indent="0" marL="0">
              <a:buNone/>
            </a:pPr>
            <a:r>
              <a:rPr lang="en-US" sz="1100" i="1" dirty="0">
                <a:solidFill>
                  <a:srgbClr val="5A6472"/>
                </a:solidFill>
                <a:latin typeface="Calibri" pitchFamily="34" charset="0"/>
                <a:cs typeface="Amiri" pitchFamily="2" charset="-78"/>
              </a:rPr>
              <a:t>ḥaq-qu al-wu-ṣū-li i-lā al-mi-yā-hi</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تَعَاوُنٌ إِقْلِيمِيٌّ</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regional cooperation</a:t>
            </a:r>
            <a:endParaRPr lang="en-US" sz="1350" dirty="0"/>
          </a:p>
          <a:p>
            <a:pPr indent="0" marL="0">
              <a:buNone/>
            </a:pPr>
            <a:r>
              <a:rPr lang="en-US" sz="1100" i="1" dirty="0">
                <a:solidFill>
                  <a:srgbClr val="5A6472"/>
                </a:solidFill>
                <a:latin typeface="Calibri" pitchFamily="34" charset="0"/>
                <a:cs typeface="Amiri" pitchFamily="2" charset="-78"/>
              </a:rPr>
              <a:t>ta-ʿā-wu-nun iq-lī-miy-yun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three subjunctive triggers (1 of 2)</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غَرَضٌ: لِكَيْ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purpose: li-kay</a:t>
            </a:r>
            <a:endParaRPr lang="en-US" sz="1350" dirty="0"/>
          </a:p>
          <a:p>
            <a:pPr indent="0" marL="0">
              <a:buNone/>
            </a:pPr>
            <a:r>
              <a:rPr lang="en-US" sz="1100" i="1" dirty="0">
                <a:solidFill>
                  <a:srgbClr val="5A6472"/>
                </a:solidFill>
                <a:latin typeface="Calibri" pitchFamily="34" charset="0"/>
                <a:cs typeface="Amiri" pitchFamily="2" charset="-78"/>
              </a:rPr>
              <a:t>gha-ra-ḍun-: li-kay</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إِرَادَةٌ: يَتَطَلَّبُ أَنْ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volition: yataṭallabu an</a:t>
            </a:r>
            <a:endParaRPr lang="en-US" sz="1350" dirty="0"/>
          </a:p>
          <a:p>
            <a:pPr indent="0" marL="0">
              <a:buNone/>
            </a:pPr>
            <a:r>
              <a:rPr lang="en-US" sz="1100" i="1" dirty="0">
                <a:solidFill>
                  <a:srgbClr val="5A6472"/>
                </a:solidFill>
                <a:latin typeface="Calibri" pitchFamily="34" charset="0"/>
                <a:cs typeface="Amiri" pitchFamily="2" charset="-78"/>
              </a:rPr>
              <a:t>i-rā-da-tun-: ya-ta-ṭal-la-bu 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ضَرُورَةٌ: يَنْبَغِي أَنْ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necessity: yanbaghī an</a:t>
            </a:r>
            <a:endParaRPr lang="en-US" sz="1350" dirty="0"/>
          </a:p>
          <a:p>
            <a:pPr indent="0" marL="0">
              <a:buNone/>
            </a:pPr>
            <a:r>
              <a:rPr lang="en-US" sz="1100" i="1" dirty="0">
                <a:solidFill>
                  <a:srgbClr val="5A6472"/>
                </a:solidFill>
                <a:latin typeface="Calibri" pitchFamily="34" charset="0"/>
                <a:cs typeface="Amiri" pitchFamily="2" charset="-78"/>
              </a:rPr>
              <a:t>ḍa-rū-ra-tun-: yan-ba-ghī an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الفِعْلُ المَنْصُوبُ</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verb</a:t>
            </a:r>
            <a:endParaRPr lang="en-US" sz="1350" dirty="0"/>
          </a:p>
          <a:p>
            <a:pPr indent="0" marL="0">
              <a:buNone/>
            </a:pPr>
            <a:r>
              <a:rPr lang="en-US" sz="1100" i="1" dirty="0">
                <a:solidFill>
                  <a:srgbClr val="5A6472"/>
                </a:solidFill>
                <a:latin typeface="Calibri" pitchFamily="34" charset="0"/>
                <a:cs typeface="Amiri" pitchFamily="2" charset="-78"/>
              </a:rPr>
              <a:t>al-fiʿ-lu al-man-ṣū-bu</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The three subjunctive triggers (2 of 2)</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فَتْحَةُ النَّصْبِ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subjunctive fatḥa</a:t>
            </a:r>
            <a:endParaRPr lang="en-US" sz="1350" dirty="0"/>
          </a:p>
          <a:p>
            <a:pPr indent="0" marL="0">
              <a:buNone/>
            </a:pPr>
            <a:r>
              <a:rPr lang="en-US" sz="1100" i="1" dirty="0">
                <a:solidFill>
                  <a:srgbClr val="5A6472"/>
                </a:solidFill>
                <a:latin typeface="Calibri" pitchFamily="34" charset="0"/>
                <a:cs typeface="Amiri" pitchFamily="2" charset="-78"/>
              </a:rPr>
              <a:t>fat-ḥa-tu an-naṣ-bi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Shape 22"/>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ends in ḍamma.</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المُضَارِعُ المَرْفُوعُ</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indicative present</a:t>
            </a:r>
            <a:endParaRPr lang="en-US" sz="1350" dirty="0"/>
          </a:p>
          <a:p>
            <a:pPr indent="0" marL="0">
              <a:buNone/>
            </a:pPr>
            <a:r>
              <a:rPr lang="en-US" sz="1100" i="1" dirty="0">
                <a:solidFill>
                  <a:srgbClr val="5A6472"/>
                </a:solidFill>
                <a:latin typeface="Calibri" pitchFamily="34" charset="0"/>
                <a:cs typeface="Amiri" pitchFamily="2" charset="-78"/>
              </a:rPr>
              <a:t>al-mu-ḍā-ri-ʿu al-mar-fū-ʿu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الزِّرَاعَةُ المُوَفِّرَةُ لِلْمِيَاهِ</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water-efficient agriculture</a:t>
            </a:r>
            <a:endParaRPr lang="en-US" sz="1350" dirty="0"/>
          </a:p>
          <a:p>
            <a:pPr indent="0" marL="0">
              <a:buNone/>
            </a:pPr>
            <a:r>
              <a:rPr lang="en-US" sz="1100" i="1" dirty="0">
                <a:solidFill>
                  <a:srgbClr val="5A6472"/>
                </a:solidFill>
                <a:latin typeface="Calibri" pitchFamily="34" charset="0"/>
                <a:cs typeface="Amiri" pitchFamily="2" charset="-78"/>
              </a:rPr>
              <a:t>az-zi-rā-ʿa-tu al-mu-waf-fi-ra-tu lil-mi-yā-hi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الرِّيُّ الحَدِيثُ</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 irrigation</a:t>
            </a:r>
            <a:endParaRPr lang="en-US" sz="1350" dirty="0"/>
          </a:p>
          <a:p>
            <a:pPr indent="0" marL="0">
              <a:buNone/>
            </a:pPr>
            <a:r>
              <a:rPr lang="en-US" sz="1100" i="1" dirty="0">
                <a:solidFill>
                  <a:srgbClr val="5A6472"/>
                </a:solidFill>
                <a:latin typeface="Calibri" pitchFamily="34" charset="0"/>
                <a:cs typeface="Amiri" pitchFamily="2" charset="-78"/>
              </a:rPr>
              <a:t>ar-riy-yu al-ḥa-dī-thu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IMPERSONAL NECESSITY (WEBSITE RULES 1–3 + TEACHING POINT 1)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Should, essential, important — + an</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الضَّرُورَةُ غَيْرُ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73659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8" name="Text 15"/>
          <p:cNvSpPr txBox="1"/>
          <p:nvPr/>
        </p:nvSpPr>
        <p:spPr>
          <a:xfrm>
            <a:off x="299923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Expression</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309360" y="2267712"/>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يَنْبَغِي أَنْ </a:t>
            </a:r>
            <a:pPr rtl="1" algn="ctr" indent="0" marL="0">
              <a:buNone/>
            </a:pPr>
            <a:r>
              <a:rPr lang="ar-SA" altLang="en-US" sz="1700" b="1" dirty="0">
                <a:solidFill>
                  <a:srgbClr val="0E7C86"/>
                </a:solidFill>
                <a:latin typeface="Amiri" pitchFamily="2" charset="-78"/>
                <a:cs typeface="Amiri" pitchFamily="2" charset="-78"/>
              </a:rPr>
              <a:t>تُطَوِّرَ</a:t>
            </a:r>
            <a:pPr rtl="1" algn="ctr" indent="0" marL="0">
              <a:buNone/>
            </a:pPr>
            <a:r>
              <a:rPr lang="ar-SA" altLang="en-US" sz="1700" b="1" dirty="0">
                <a:solidFill>
                  <a:srgbClr val="1B3B6F"/>
                </a:solidFill>
                <a:latin typeface="Amiri" pitchFamily="2" charset="-78"/>
                <a:cs typeface="Amiri" pitchFamily="2" charset="-78"/>
              </a:rPr>
              <a:t> الدُّوَلُ تِقْنِيَّاتِ التَّحْلِيَةِ.</a:t>
            </a:r>
            <a:endParaRPr lang="ar-SA" sz="1700" dirty="0"/>
          </a:p>
        </p:txBody>
      </p:sp>
      <p:sp>
        <p:nvSpPr>
          <p:cNvPr id="22" name="Text 19"/>
          <p:cNvSpPr txBox="1"/>
          <p:nvPr/>
        </p:nvSpPr>
        <p:spPr>
          <a:xfrm>
            <a:off x="4773168" y="2267712"/>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23" name="Text 20"/>
          <p:cNvSpPr txBox="1"/>
          <p:nvPr/>
        </p:nvSpPr>
        <p:spPr>
          <a:xfrm>
            <a:off x="303580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should</a:t>
            </a:r>
            <a:endParaRPr lang="en-US" sz="1100" dirty="0"/>
          </a:p>
        </p:txBody>
      </p:sp>
      <p:sp>
        <p:nvSpPr>
          <p:cNvPr id="24" name="Text 21"/>
          <p:cNvSpPr txBox="1"/>
          <p:nvPr/>
        </p:nvSpPr>
        <p:spPr>
          <a:xfrm>
            <a:off x="548640" y="2267712"/>
            <a:ext cx="228600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يَنْبَغِي أَنْ</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309360" y="300471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مِنَ الضَّرُورِيِّ أَنْ </a:t>
            </a:r>
            <a:pPr rtl="1" algn="ctr" indent="0" marL="0">
              <a:buNone/>
            </a:pPr>
            <a:r>
              <a:rPr lang="ar-SA" altLang="en-US" sz="1700" b="1" dirty="0">
                <a:solidFill>
                  <a:srgbClr val="0E7C86"/>
                </a:solidFill>
                <a:latin typeface="Amiri" pitchFamily="2" charset="-78"/>
                <a:cs typeface="Amiri" pitchFamily="2" charset="-78"/>
              </a:rPr>
              <a:t>تَتَعَاوَنَ</a:t>
            </a:r>
            <a:pPr rtl="1" algn="ctr" indent="0" marL="0">
              <a:buNone/>
            </a:pPr>
            <a:r>
              <a:rPr lang="ar-SA" altLang="en-US" sz="1700" b="1" dirty="0">
                <a:solidFill>
                  <a:srgbClr val="1B3B6F"/>
                </a:solidFill>
                <a:latin typeface="Amiri" pitchFamily="2" charset="-78"/>
                <a:cs typeface="Amiri" pitchFamily="2" charset="-78"/>
              </a:rPr>
              <a:t> الدُّوَلُ المُجَاوِرَةُ.</a:t>
            </a:r>
            <a:endParaRPr lang="ar-SA" sz="1700" dirty="0"/>
          </a:p>
        </p:txBody>
      </p:sp>
      <p:sp>
        <p:nvSpPr>
          <p:cNvPr id="29" name="Text 26"/>
          <p:cNvSpPr txBox="1"/>
          <p:nvPr/>
        </p:nvSpPr>
        <p:spPr>
          <a:xfrm>
            <a:off x="4773168" y="300471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30" name="Text 27"/>
          <p:cNvSpPr txBox="1"/>
          <p:nvPr/>
        </p:nvSpPr>
        <p:spPr>
          <a:xfrm>
            <a:off x="303580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essential</a:t>
            </a:r>
            <a:endParaRPr lang="en-US" sz="1100" dirty="0"/>
          </a:p>
        </p:txBody>
      </p:sp>
      <p:sp>
        <p:nvSpPr>
          <p:cNvPr id="31" name="Text 28"/>
          <p:cNvSpPr txBox="1"/>
          <p:nvPr/>
        </p:nvSpPr>
        <p:spPr>
          <a:xfrm>
            <a:off x="548640" y="3004718"/>
            <a:ext cx="228600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مِنَ الضَّرُورِيِّ أَنْ</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309360" y="3741725"/>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مِنَ المُهِمِّ أَنْ </a:t>
            </a:r>
            <a:pPr rtl="1" algn="ctr" indent="0" marL="0">
              <a:buNone/>
            </a:pPr>
            <a:r>
              <a:rPr lang="ar-SA" altLang="en-US" sz="1700" b="1" dirty="0">
                <a:solidFill>
                  <a:srgbClr val="0E7C86"/>
                </a:solidFill>
                <a:latin typeface="Amiri" pitchFamily="2" charset="-78"/>
                <a:cs typeface="Amiri" pitchFamily="2" charset="-78"/>
              </a:rPr>
              <a:t>يُعِيدَ</a:t>
            </a:r>
            <a:pPr rtl="1" algn="ctr" indent="0" marL="0">
              <a:buNone/>
            </a:pPr>
            <a:r>
              <a:rPr lang="ar-SA" altLang="en-US" sz="1700" b="1" dirty="0">
                <a:solidFill>
                  <a:srgbClr val="1B3B6F"/>
                </a:solidFill>
                <a:latin typeface="Amiri" pitchFamily="2" charset="-78"/>
                <a:cs typeface="Amiri" pitchFamily="2" charset="-78"/>
              </a:rPr>
              <a:t> المُزَارِعُونَ النَّظَرَ فِي الرِّيِّ.</a:t>
            </a:r>
            <a:endParaRPr lang="ar-SA" sz="1700" dirty="0"/>
          </a:p>
        </p:txBody>
      </p:sp>
      <p:sp>
        <p:nvSpPr>
          <p:cNvPr id="36" name="Text 33"/>
          <p:cNvSpPr txBox="1"/>
          <p:nvPr/>
        </p:nvSpPr>
        <p:spPr>
          <a:xfrm>
            <a:off x="4773168" y="3741725"/>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verb in -a</a:t>
            </a:r>
            <a:endParaRPr lang="en-US" sz="1100" dirty="0"/>
          </a:p>
        </p:txBody>
      </p:sp>
      <p:sp>
        <p:nvSpPr>
          <p:cNvPr id="37" name="Text 34"/>
          <p:cNvSpPr txBox="1"/>
          <p:nvPr/>
        </p:nvSpPr>
        <p:spPr>
          <a:xfrm>
            <a:off x="303580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important</a:t>
            </a:r>
            <a:endParaRPr lang="en-US" sz="1100" dirty="0"/>
          </a:p>
        </p:txBody>
      </p:sp>
      <p:sp>
        <p:nvSpPr>
          <p:cNvPr id="38" name="Text 35"/>
          <p:cNvSpPr txBox="1"/>
          <p:nvPr/>
        </p:nvSpPr>
        <p:spPr>
          <a:xfrm>
            <a:off x="548640" y="3741725"/>
            <a:ext cx="228600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مِنَ المُهِمِّ أَنْ</a:t>
            </a:r>
            <a:endParaRPr lang="ar-SA" sz="20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6309360" y="4478731"/>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يَنْبَغِي أَنْ </a:t>
            </a:r>
            <a:pPr rtl="1" algn="ctr" indent="0" marL="0">
              <a:buNone/>
            </a:pPr>
            <a:r>
              <a:rPr lang="ar-SA" altLang="en-US" sz="1700" b="1" dirty="0">
                <a:solidFill>
                  <a:srgbClr val="0E7C86"/>
                </a:solidFill>
                <a:latin typeface="Amiri" pitchFamily="2" charset="-78"/>
                <a:cs typeface="Amiri" pitchFamily="2" charset="-78"/>
              </a:rPr>
              <a:t>تُطَوِّرَ</a:t>
            </a:r>
            <a:pPr rtl="1" algn="ctr" indent="0" marL="0">
              <a:buNone/>
            </a:pPr>
            <a:r>
              <a:rPr lang="ar-SA" altLang="en-US" sz="1700" b="1" dirty="0">
                <a:solidFill>
                  <a:srgbClr val="1B3B6F"/>
                </a:solidFill>
                <a:latin typeface="Amiri" pitchFamily="2" charset="-78"/>
                <a:cs typeface="Amiri" pitchFamily="2" charset="-78"/>
              </a:rPr>
              <a:t> الدُّوَلُ التَّحْلِيَةَ وَأَنْ </a:t>
            </a:r>
            <a:pPr rtl="1" algn="ctr" indent="0" marL="0">
              <a:buNone/>
            </a:pPr>
            <a:r>
              <a:rPr lang="ar-SA" altLang="en-US" sz="1700" b="1" dirty="0">
                <a:solidFill>
                  <a:srgbClr val="0E7C86"/>
                </a:solidFill>
                <a:latin typeface="Amiri" pitchFamily="2" charset="-78"/>
                <a:cs typeface="Amiri" pitchFamily="2" charset="-78"/>
              </a:rPr>
              <a:t>تُعِيدَ</a:t>
            </a:r>
            <a:pPr rtl="1" algn="ctr" indent="0" marL="0">
              <a:buNone/>
            </a:pPr>
            <a:r>
              <a:rPr lang="ar-SA" altLang="en-US" sz="1700" b="1" dirty="0">
                <a:solidFill>
                  <a:srgbClr val="1B3B6F"/>
                </a:solidFill>
                <a:latin typeface="Amiri" pitchFamily="2" charset="-78"/>
                <a:cs typeface="Amiri" pitchFamily="2" charset="-78"/>
              </a:rPr>
              <a:t> اسْتِخْدَامَ المِيَاهِ.</a:t>
            </a:r>
            <a:endParaRPr lang="ar-SA" sz="1700" dirty="0"/>
          </a:p>
        </p:txBody>
      </p:sp>
      <p:sp>
        <p:nvSpPr>
          <p:cNvPr id="43" name="Text 40"/>
          <p:cNvSpPr txBox="1"/>
          <p:nvPr/>
        </p:nvSpPr>
        <p:spPr>
          <a:xfrm>
            <a:off x="4773168" y="4478731"/>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wa-an</a:t>
            </a:r>
            <a:endParaRPr lang="en-US" sz="1100" dirty="0"/>
          </a:p>
        </p:txBody>
      </p:sp>
      <p:sp>
        <p:nvSpPr>
          <p:cNvPr id="44" name="Text 41"/>
          <p:cNvSpPr txBox="1"/>
          <p:nvPr/>
        </p:nvSpPr>
        <p:spPr>
          <a:xfrm>
            <a:off x="303580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should … and</a:t>
            </a:r>
            <a:endParaRPr lang="en-US" sz="1100" dirty="0"/>
          </a:p>
        </p:txBody>
      </p:sp>
      <p:sp>
        <p:nvSpPr>
          <p:cNvPr id="45" name="Text 42"/>
          <p:cNvSpPr txBox="1"/>
          <p:nvPr/>
        </p:nvSpPr>
        <p:spPr>
          <a:xfrm>
            <a:off x="566928" y="4478731"/>
            <a:ext cx="22860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verbs</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6309360" y="521573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يَجِبُ </a:t>
            </a:r>
            <a:pPr rtl="1" algn="ctr" indent="0" marL="0">
              <a:buNone/>
            </a:pPr>
            <a:r>
              <a:rPr lang="ar-SA" altLang="en-US" sz="1700" b="1" dirty="0">
                <a:solidFill>
                  <a:srgbClr val="C77700"/>
                </a:solidFill>
                <a:latin typeface="Amiri" pitchFamily="2" charset="-78"/>
                <a:cs typeface="Amiri" pitchFamily="2" charset="-78"/>
              </a:rPr>
              <a:t>تَرْشِيدُ</a:t>
            </a:r>
            <a:pPr rtl="1" algn="ctr" indent="0" marL="0">
              <a:buNone/>
            </a:pPr>
            <a:r>
              <a:rPr lang="ar-SA" altLang="en-US" sz="1700" b="1" dirty="0">
                <a:solidFill>
                  <a:srgbClr val="1B3B6F"/>
                </a:solidFill>
                <a:latin typeface="Amiri" pitchFamily="2" charset="-78"/>
                <a:cs typeface="Amiri" pitchFamily="2" charset="-78"/>
              </a:rPr>
              <a:t> اسْتِهْلَاكِ المِيَاهِ.</a:t>
            </a:r>
            <a:endParaRPr lang="ar-SA" sz="1700" dirty="0"/>
          </a:p>
        </p:txBody>
      </p:sp>
      <p:sp>
        <p:nvSpPr>
          <p:cNvPr id="48" name="Text 45"/>
          <p:cNvSpPr txBox="1"/>
          <p:nvPr/>
        </p:nvSpPr>
        <p:spPr>
          <a:xfrm>
            <a:off x="4773168" y="521573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maṣdar</a:t>
            </a:r>
            <a:endParaRPr lang="en-US" sz="1100" dirty="0"/>
          </a:p>
        </p:txBody>
      </p:sp>
      <p:sp>
        <p:nvSpPr>
          <p:cNvPr id="49" name="Text 46"/>
          <p:cNvSpPr txBox="1"/>
          <p:nvPr/>
        </p:nvSpPr>
        <p:spPr>
          <a:xfrm>
            <a:off x="303580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must</a:t>
            </a:r>
            <a:endParaRPr lang="en-US" sz="1100" dirty="0"/>
          </a:p>
        </p:txBody>
      </p:sp>
      <p:sp>
        <p:nvSpPr>
          <p:cNvPr id="50" name="Text 47"/>
          <p:cNvSpPr txBox="1"/>
          <p:nvPr/>
        </p:nvSpPr>
        <p:spPr>
          <a:xfrm>
            <a:off x="548640" y="5215738"/>
            <a:ext cx="228600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يَجِبُ</a:t>
            </a:r>
            <a:endParaRPr lang="ar-SA" sz="20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these expressions signal that the action is required but not yet certain — so the verb takes the fatḥa.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THREE TRIGGERS, ONE MOOD (WEBSITE RULE 4, TEACHING POINT 2 AND SORTER)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volition, necessity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ثَلَاثَةُ مُحَفِّزَاتٍ لِلنَّصْبِ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473952" y="1810512"/>
            <a:ext cx="5184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37083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it answers</a:t>
            </a:r>
            <a:endParaRPr lang="en-US" sz="1100" dirty="0"/>
          </a:p>
        </p:txBody>
      </p:sp>
      <p:sp>
        <p:nvSpPr>
          <p:cNvPr id="18" name="Text 15"/>
          <p:cNvSpPr txBox="1"/>
          <p:nvPr/>
        </p:nvSpPr>
        <p:spPr>
          <a:xfrm>
            <a:off x="2724912" y="1810512"/>
            <a:ext cx="1499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492240" y="2267712"/>
            <a:ext cx="51480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تَعْتَمِدُ الزِّرَاعَةُ الرِّيَّ الحَدِيثَ لِكَيْ </a:t>
            </a:r>
            <a:pPr rtl="1" algn="ctr" indent="0" marL="0">
              <a:buNone/>
            </a:pPr>
            <a:r>
              <a:rPr lang="ar-SA" altLang="en-US" sz="1700" b="1" dirty="0">
                <a:solidFill>
                  <a:srgbClr val="D6336C"/>
                </a:solidFill>
                <a:latin typeface="Amiri" pitchFamily="2" charset="-78"/>
                <a:cs typeface="Amiri" pitchFamily="2" charset="-78"/>
              </a:rPr>
              <a:t>تُقَلِّلَ</a:t>
            </a:r>
            <a:pPr rtl="1" algn="ctr" indent="0" marL="0">
              <a:buNone/>
            </a:pPr>
            <a:r>
              <a:rPr lang="ar-SA" altLang="en-US" sz="1700" b="1" dirty="0">
                <a:solidFill>
                  <a:srgbClr val="1B3B6F"/>
                </a:solidFill>
                <a:latin typeface="Amiri" pitchFamily="2" charset="-78"/>
                <a:cs typeface="Amiri" pitchFamily="2" charset="-78"/>
              </a:rPr>
              <a:t> الهَدْرَ.</a:t>
            </a:r>
            <a:endParaRPr lang="ar-SA" sz="1700" dirty="0"/>
          </a:p>
        </p:txBody>
      </p:sp>
      <p:sp>
        <p:nvSpPr>
          <p:cNvPr id="22" name="Text 19"/>
          <p:cNvSpPr txBox="1"/>
          <p:nvPr/>
        </p:nvSpPr>
        <p:spPr>
          <a:xfrm>
            <a:off x="440740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a:t>
            </a:r>
            <a:endParaRPr lang="en-US" sz="1100" dirty="0"/>
          </a:p>
        </p:txBody>
      </p:sp>
      <p:sp>
        <p:nvSpPr>
          <p:cNvPr id="23" name="Text 20"/>
          <p:cNvSpPr txBox="1"/>
          <p:nvPr/>
        </p:nvSpPr>
        <p:spPr>
          <a:xfrm>
            <a:off x="2761488" y="2267712"/>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purpose</a:t>
            </a:r>
            <a:endParaRPr lang="en-US" sz="1100" dirty="0"/>
          </a:p>
        </p:txBody>
      </p:sp>
      <p:sp>
        <p:nvSpPr>
          <p:cNvPr id="24" name="Text 21"/>
          <p:cNvSpPr txBox="1"/>
          <p:nvPr/>
        </p:nvSpPr>
        <p:spPr>
          <a:xfrm>
            <a:off x="548640" y="2267712"/>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لِكَيْ</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492240" y="3004718"/>
            <a:ext cx="51480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يَتَطَلَّبُ الوَضْعُ أَنْ </a:t>
            </a:r>
            <a:pPr rtl="1" algn="ctr" indent="0" marL="0">
              <a:buNone/>
            </a:pPr>
            <a:r>
              <a:rPr lang="ar-SA" altLang="en-US" sz="1700" b="1" dirty="0">
                <a:solidFill>
                  <a:srgbClr val="1D5FBF"/>
                </a:solidFill>
                <a:latin typeface="Amiri" pitchFamily="2" charset="-78"/>
                <a:cs typeface="Amiri" pitchFamily="2" charset="-78"/>
              </a:rPr>
              <a:t>تَسْتَثْمِرَ</a:t>
            </a:r>
            <a:pPr rtl="1" algn="ctr" indent="0" marL="0">
              <a:buNone/>
            </a:pPr>
            <a:r>
              <a:rPr lang="ar-SA" altLang="en-US" sz="1700" b="1" dirty="0">
                <a:solidFill>
                  <a:srgbClr val="1B3B6F"/>
                </a:solidFill>
                <a:latin typeface="Amiri" pitchFamily="2" charset="-78"/>
                <a:cs typeface="Amiri" pitchFamily="2" charset="-78"/>
              </a:rPr>
              <a:t> الدُّوَلُ.</a:t>
            </a:r>
            <a:endParaRPr lang="ar-SA" sz="1700" dirty="0"/>
          </a:p>
        </p:txBody>
      </p:sp>
      <p:sp>
        <p:nvSpPr>
          <p:cNvPr id="29" name="Text 26"/>
          <p:cNvSpPr txBox="1"/>
          <p:nvPr/>
        </p:nvSpPr>
        <p:spPr>
          <a:xfrm>
            <a:off x="440740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wanted?</a:t>
            </a:r>
            <a:endParaRPr lang="en-US" sz="1100" dirty="0"/>
          </a:p>
        </p:txBody>
      </p:sp>
      <p:sp>
        <p:nvSpPr>
          <p:cNvPr id="30" name="Text 27"/>
          <p:cNvSpPr txBox="1"/>
          <p:nvPr/>
        </p:nvSpPr>
        <p:spPr>
          <a:xfrm>
            <a:off x="2761488" y="300471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31" name="Text 28"/>
          <p:cNvSpPr txBox="1"/>
          <p:nvPr/>
        </p:nvSpPr>
        <p:spPr>
          <a:xfrm>
            <a:off x="548640" y="300471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يَتَطَلَّبُ أَنْ</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492240" y="3741725"/>
            <a:ext cx="51480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يَخْشَى الخُبَرَاءُ أَنْ </a:t>
            </a:r>
            <a:pPr rtl="1" algn="ctr" indent="0" marL="0">
              <a:buNone/>
            </a:pPr>
            <a:r>
              <a:rPr lang="ar-SA" altLang="en-US" sz="1700" b="1" dirty="0">
                <a:solidFill>
                  <a:srgbClr val="1D5FBF"/>
                </a:solidFill>
                <a:latin typeface="Amiri" pitchFamily="2" charset="-78"/>
                <a:cs typeface="Amiri" pitchFamily="2" charset="-78"/>
              </a:rPr>
              <a:t>تَنْفَدَ</a:t>
            </a:r>
            <a:pPr rtl="1" algn="ctr" indent="0" marL="0">
              <a:buNone/>
            </a:pPr>
            <a:r>
              <a:rPr lang="ar-SA" altLang="en-US" sz="1700" b="1" dirty="0">
                <a:solidFill>
                  <a:srgbClr val="1B3B6F"/>
                </a:solidFill>
                <a:latin typeface="Amiri" pitchFamily="2" charset="-78"/>
                <a:cs typeface="Amiri" pitchFamily="2" charset="-78"/>
              </a:rPr>
              <a:t> المِيَاهُ الجَوْفِيَّةُ.</a:t>
            </a:r>
            <a:endParaRPr lang="ar-SA" sz="1700" dirty="0"/>
          </a:p>
        </p:txBody>
      </p:sp>
      <p:sp>
        <p:nvSpPr>
          <p:cNvPr id="36" name="Text 33"/>
          <p:cNvSpPr txBox="1"/>
          <p:nvPr/>
        </p:nvSpPr>
        <p:spPr>
          <a:xfrm>
            <a:off x="440740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feared?</a:t>
            </a:r>
            <a:endParaRPr lang="en-US" sz="1100" dirty="0"/>
          </a:p>
        </p:txBody>
      </p:sp>
      <p:sp>
        <p:nvSpPr>
          <p:cNvPr id="37" name="Text 34"/>
          <p:cNvSpPr txBox="1"/>
          <p:nvPr/>
        </p:nvSpPr>
        <p:spPr>
          <a:xfrm>
            <a:off x="2761488" y="3741725"/>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38" name="Text 35"/>
          <p:cNvSpPr txBox="1"/>
          <p:nvPr/>
        </p:nvSpPr>
        <p:spPr>
          <a:xfrm>
            <a:off x="548640" y="3741725"/>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يَخْشَى أَنْ</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6492240" y="4478731"/>
            <a:ext cx="51480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يَرْجُو الجَمِيعُ أَنْ </a:t>
            </a:r>
            <a:pPr rtl="1" algn="ctr" indent="0" marL="0">
              <a:buNone/>
            </a:pPr>
            <a:r>
              <a:rPr lang="ar-SA" altLang="en-US" sz="1700" b="1" dirty="0">
                <a:solidFill>
                  <a:srgbClr val="1D5FBF"/>
                </a:solidFill>
                <a:latin typeface="Amiri" pitchFamily="2" charset="-78"/>
                <a:cs typeface="Amiri" pitchFamily="2" charset="-78"/>
              </a:rPr>
              <a:t>يَتَحَقَّقَ</a:t>
            </a:r>
            <a:pPr rtl="1" algn="ctr" indent="0" marL="0">
              <a:buNone/>
            </a:pPr>
            <a:r>
              <a:rPr lang="ar-SA" altLang="en-US" sz="1700" b="1" dirty="0">
                <a:solidFill>
                  <a:srgbClr val="1B3B6F"/>
                </a:solidFill>
                <a:latin typeface="Amiri" pitchFamily="2" charset="-78"/>
                <a:cs typeface="Amiri" pitchFamily="2" charset="-78"/>
              </a:rPr>
              <a:t> الأَمْنُ المَائِيُّ.</a:t>
            </a:r>
            <a:endParaRPr lang="ar-SA" sz="1700" dirty="0"/>
          </a:p>
        </p:txBody>
      </p:sp>
      <p:sp>
        <p:nvSpPr>
          <p:cNvPr id="41" name="Text 38"/>
          <p:cNvSpPr txBox="1"/>
          <p:nvPr/>
        </p:nvSpPr>
        <p:spPr>
          <a:xfrm>
            <a:off x="440740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hoped?</a:t>
            </a:r>
            <a:endParaRPr lang="en-US" sz="1100" dirty="0"/>
          </a:p>
        </p:txBody>
      </p:sp>
      <p:sp>
        <p:nvSpPr>
          <p:cNvPr id="42" name="Text 39"/>
          <p:cNvSpPr txBox="1"/>
          <p:nvPr/>
        </p:nvSpPr>
        <p:spPr>
          <a:xfrm>
            <a:off x="2761488" y="4478731"/>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volition</a:t>
            </a:r>
            <a:endParaRPr lang="en-US" sz="1100" dirty="0"/>
          </a:p>
        </p:txBody>
      </p:sp>
      <p:sp>
        <p:nvSpPr>
          <p:cNvPr id="43" name="Text 40"/>
          <p:cNvSpPr txBox="1"/>
          <p:nvPr/>
        </p:nvSpPr>
        <p:spPr>
          <a:xfrm>
            <a:off x="548640" y="4478731"/>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يَرْجُو أَنْ</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6492240" y="5215738"/>
            <a:ext cx="514807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يَنْبَغِي أَنْ </a:t>
            </a:r>
            <a:pPr rtl="1" algn="ctr" indent="0" marL="0">
              <a:buNone/>
            </a:pPr>
            <a:r>
              <a:rPr lang="ar-SA" altLang="en-US" sz="1700" b="1" dirty="0">
                <a:solidFill>
                  <a:srgbClr val="0E7C86"/>
                </a:solidFill>
                <a:latin typeface="Amiri" pitchFamily="2" charset="-78"/>
                <a:cs typeface="Amiri" pitchFamily="2" charset="-78"/>
              </a:rPr>
              <a:t>تُطَوِّرَ</a:t>
            </a:r>
            <a:pPr rtl="1" algn="ctr" indent="0" marL="0">
              <a:buNone/>
            </a:pPr>
            <a:r>
              <a:rPr lang="ar-SA" altLang="en-US" sz="1700" b="1" dirty="0">
                <a:solidFill>
                  <a:srgbClr val="1B3B6F"/>
                </a:solidFill>
                <a:latin typeface="Amiri" pitchFamily="2" charset="-78"/>
                <a:cs typeface="Amiri" pitchFamily="2" charset="-78"/>
              </a:rPr>
              <a:t> الدُّوَلُ سِيَاسَاتِ المِيَاهِ.</a:t>
            </a:r>
            <a:endParaRPr lang="ar-SA" sz="1700" dirty="0"/>
          </a:p>
        </p:txBody>
      </p:sp>
      <p:sp>
        <p:nvSpPr>
          <p:cNvPr id="46" name="Text 43"/>
          <p:cNvSpPr txBox="1"/>
          <p:nvPr/>
        </p:nvSpPr>
        <p:spPr>
          <a:xfrm>
            <a:off x="440740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must happen?</a:t>
            </a:r>
            <a:endParaRPr lang="en-US" sz="1100" dirty="0"/>
          </a:p>
        </p:txBody>
      </p:sp>
      <p:sp>
        <p:nvSpPr>
          <p:cNvPr id="47" name="Text 44"/>
          <p:cNvSpPr txBox="1"/>
          <p:nvPr/>
        </p:nvSpPr>
        <p:spPr>
          <a:xfrm>
            <a:off x="2761488" y="5215738"/>
            <a:ext cx="1463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necessity</a:t>
            </a:r>
            <a:endParaRPr lang="en-US" sz="1100" dirty="0"/>
          </a:p>
        </p:txBody>
      </p:sp>
      <p:sp>
        <p:nvSpPr>
          <p:cNvPr id="48" name="Text 45"/>
          <p:cNvSpPr txBox="1"/>
          <p:nvPr/>
        </p:nvSpPr>
        <p:spPr>
          <a:xfrm>
            <a:off x="548640" y="5215738"/>
            <a:ext cx="201168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يَنْبَغِي أَنْ</a:t>
            </a:r>
            <a:endParaRPr lang="ar-SA" sz="20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mistakes 1–2: an tuṭawwiru ✗ → an tuṭawwira ✓ · an tataʿāwanu ✗ → an tataʿāwana ✓. Three triggers — one ending: -a.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RISK, REGRET, EVIDENCE (WEBSITE QUIZ, READING, LISTENING AND MISTAKE 3)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Weigh the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الخَطَرُ · الافْتِرَاضُ ·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1 · RISK · CORE</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إِذَا … سَـ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إِذَا اسْتَمَرَّتْ مُعَدَّلَاتُ الاسْتِهْلَاكِ، سَيَسْتَنْفِدُ الخَلِيجُ مَخْزُونَهُ.</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consumption continues, the Gulf will exhaust its reserves.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Still possible.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888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9888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TYPE 2 · REGRET · DEVELOP</a:t>
            </a:r>
            <a:endParaRPr lang="en-US" sz="850" dirty="0"/>
          </a:p>
        </p:txBody>
      </p:sp>
      <p:sp>
        <p:nvSpPr>
          <p:cNvPr id="26" name="Text 23"/>
          <p:cNvSpPr txBox="1"/>
          <p:nvPr/>
        </p:nvSpPr>
        <p:spPr>
          <a:xfrm>
            <a:off x="6448044" y="1874520"/>
            <a:ext cx="13274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لَوْ … لَمَا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لَوْ أُدِيرَتِ المَوَارِدُ بِحِكْمَةٍ، لَمَا وَصَلَتِ المِنْطَقَةُ إِلَى هٰذِهِ النَّدْرَةِ.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Had resources been managed wisely, the region would not have reached this scarcity.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Negative: la-mā.</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أَكَّدَ …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أَكَّدَ خُبَرَاءُ الأُمَمِ المُتَّحِدَةِ أَنَّ التَّعَاوُنَ الإِقْلِيمِيَّ هُوَ الحَلُّ.</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UN experts stressed that regional cooperation is the solution.</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noun.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a Type 2 result takes la-, not sa-.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لَوِ اسْتَثْمَرَتِ الدُّوَلُ مُبَكِّرًا، لَكَانَتِ الأَزْمَةُ أَقَلَّ</a:t>
            </a:r>
            <a:endParaRPr lang="ar-SA" sz="14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B83227"/>
                </a:solidFill>
                <a:latin typeface="Amiri" pitchFamily="2" charset="-78"/>
                <a:cs typeface="Amiri" pitchFamily="2" charset="-78"/>
              </a:rPr>
              <a:t>لَوِ اسْتَثْمَرَتِ الدُّوَلُ مُبَكِّرًا، سَتَكُونُ الأَزْمَةُ أَقَلَّ</a:t>
            </a:r>
            <a:endParaRPr lang="ar-SA" sz="14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THE LANGUAGE OF A WATER REPORT (WEBSITE LISTENING, READING AND WRITING MODEL)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Sound like a policy report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تَقَارِيرِ المِيَاهِ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superlative + plural</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تُعَانِي مِنْ </a:t>
            </a:r>
            <a:pPr rtl="1" algn="ctr" indent="0" marL="0">
              <a:buNone/>
            </a:pPr>
            <a:r>
              <a:rPr lang="ar-SA" altLang="en-US" sz="1800" b="1" dirty="0">
                <a:solidFill>
                  <a:srgbClr val="D6336C"/>
                </a:solidFill>
                <a:latin typeface="Amiri" pitchFamily="2" charset="-78"/>
                <a:cs typeface="Amiri" pitchFamily="2" charset="-78"/>
              </a:rPr>
              <a:t>أَشَدِّ</a:t>
            </a:r>
            <a:pPr rtl="1" algn="ctr" indent="0" marL="0">
              <a:buNone/>
            </a:pPr>
            <a:r>
              <a:rPr lang="ar-SA" altLang="en-US" sz="1800" b="1" dirty="0">
                <a:solidFill>
                  <a:srgbClr val="1B3B6F"/>
                </a:solidFill>
                <a:latin typeface="Amiri" pitchFamily="2" charset="-78"/>
                <a:cs typeface="Amiri" pitchFamily="2" charset="-78"/>
              </a:rPr>
              <a:t> أَزَمَاتِ المِيَاهِ فِي العَالَمِ</a:t>
            </a:r>
            <a:endParaRPr lang="ar-SA" sz="18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of the worst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less than … %</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تَضُمُّ </a:t>
            </a:r>
            <a:pPr rtl="1" algn="ctr" indent="0" marL="0">
              <a:buNone/>
            </a:pPr>
            <a:r>
              <a:rPr lang="ar-SA" altLang="en-US" sz="1800" b="1" dirty="0">
                <a:solidFill>
                  <a:srgbClr val="1D5FBF"/>
                </a:solidFill>
                <a:latin typeface="Amiri" pitchFamily="2" charset="-78"/>
                <a:cs typeface="Amiri" pitchFamily="2" charset="-78"/>
              </a:rPr>
              <a:t>أَقَلَّ مِنْ وَاحِدٍ بِالمِئَةِ</a:t>
            </a:r>
            <a:pPr rtl="1" algn="ctr" indent="0" marL="0">
              <a:buNone/>
            </a:pPr>
            <a:r>
              <a:rPr lang="ar-SA" altLang="en-US" sz="1800" b="1" dirty="0">
                <a:solidFill>
                  <a:srgbClr val="1B3B6F"/>
                </a:solidFill>
                <a:latin typeface="Amiri" pitchFamily="2" charset="-78"/>
                <a:cs typeface="Amiri" pitchFamily="2" charset="-78"/>
              </a:rPr>
              <a:t> مِنْ مَوَارِدِ المِيَاهِ العَذْبَةِ</a:t>
            </a:r>
            <a:endParaRPr lang="ar-SA" sz="18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statistic</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clause</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C77700"/>
                </a:solidFill>
                <a:latin typeface="Amiri" pitchFamily="2" charset="-78"/>
                <a:cs typeface="Amiri" pitchFamily="2" charset="-78"/>
              </a:rPr>
              <a:t>إِذْ تَفْتَقِرُ إِلَى</a:t>
            </a:r>
            <a:pPr rtl="1" algn="ctr" indent="0" marL="0">
              <a:buNone/>
            </a:pPr>
            <a:r>
              <a:rPr lang="ar-SA" altLang="en-US" sz="1800" b="1" dirty="0">
                <a:solidFill>
                  <a:srgbClr val="1B3B6F"/>
                </a:solidFill>
                <a:latin typeface="Amiri" pitchFamily="2" charset="-78"/>
                <a:cs typeface="Amiri" pitchFamily="2" charset="-78"/>
              </a:rPr>
              <a:t> مَوَارِدَ كَافِيَةٍ لِاسْتِدَامَةِ نُمُوِّهَا</a:t>
            </a:r>
            <a:endParaRPr lang="ar-SA" sz="18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it lacks</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superlative + indefinite</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تُعَدُّ المِيَاهُ </a:t>
            </a:r>
            <a:pPr rtl="1" algn="ctr" indent="0" marL="0">
              <a:buNone/>
            </a:pPr>
            <a:r>
              <a:rPr lang="ar-SA" altLang="en-US" sz="1800" b="1" dirty="0">
                <a:solidFill>
                  <a:srgbClr val="D6336C"/>
                </a:solidFill>
                <a:latin typeface="Amiri" pitchFamily="2" charset="-78"/>
                <a:cs typeface="Amiri" pitchFamily="2" charset="-78"/>
              </a:rPr>
              <a:t>أَخْطَرَ تَحَدٍّ اسْتِرَاتِيجِيٍّ</a:t>
            </a:r>
            <a:pPr rtl="1" algn="ctr" indent="0" marL="0">
              <a:buNone/>
            </a:pPr>
            <a:r>
              <a:rPr lang="ar-SA" altLang="en-US" sz="1800" b="1" dirty="0">
                <a:solidFill>
                  <a:srgbClr val="1B3B6F"/>
                </a:solidFill>
                <a:latin typeface="Amiri" pitchFamily="2" charset="-78"/>
                <a:cs typeface="Amiri" pitchFamily="2" charset="-78"/>
              </a:rPr>
              <a:t> يُوَاجِهُ العَالَمَ العَرَبِيَّ</a:t>
            </a:r>
            <a:endParaRPr lang="ar-SA" sz="18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gravest</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X, not Y</a:t>
            </a:r>
            <a:endParaRPr lang="en-US" sz="1100" dirty="0"/>
          </a:p>
        </p:txBody>
      </p:sp>
      <p:sp>
        <p:nvSpPr>
          <p:cNvPr id="39" name="Text 36"/>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المُهِمِّ أَنْ يُدْرِكَ الجَمِيعُ أَنَّ المَاءَ </a:t>
            </a:r>
            <a:pPr rtl="1" algn="ctr" indent="0" marL="0">
              <a:buNone/>
            </a:pPr>
            <a:r>
              <a:rPr lang="ar-SA" altLang="en-US" sz="1800" b="1" dirty="0">
                <a:solidFill>
                  <a:srgbClr val="0E7C86"/>
                </a:solidFill>
                <a:latin typeface="Amiri" pitchFamily="2" charset="-78"/>
                <a:cs typeface="Amiri" pitchFamily="2" charset="-78"/>
              </a:rPr>
              <a:t>حَقٌّ لَا امْتِيَازٌ</a:t>
            </a:r>
            <a:endParaRPr lang="ar-SA" sz="1800" dirty="0"/>
          </a:p>
        </p:txBody>
      </p:sp>
      <p:sp>
        <p:nvSpPr>
          <p:cNvPr id="40" name="Text 3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strong close</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water report moves: how serious → the numbers → the risk → what could have been → what must happen now.</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Impersonal necessity and the full subjunctive system</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الضَّرُورَةُ وَنِظَامُ النَّصْبِ الكَامِلُ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yanbaghī an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yanbaghī an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يَنْبَغِي أَنْ تُطَوِّرَ الدُّوَلُ تِقْنِيَّاتِ التَّحْلِيَةِ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min al-ḍarūrī an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min al-ḍarūrī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الضَّرُورِيِّ أَنْ تَتَعَاوَنَ الدُّوَلُ المُجَاوِرَةُ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min al-muhimm an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min al-muhimm an + verb in -a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المُهِمِّ أَنْ يُعِيدَ المُزَارِعُونَ النَّظَرَ فِي الرِّيِّ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Three triggers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li-kay · yataṭallabu an · yanbaghī an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لِكَيْ تُقَلِّلَ   ·   يَتَطَلَّبُ أَنْ تَسْتَثْمِرَ   ·   يَنْبَغِي أَنْ تُطَوِّرَ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يَنْبَغِي أَنْ ___ الدُّوَلُ تِقْنِيَّاتِ التَّحْلِيَةِ.</a:t>
            </a:r>
            <a:endParaRPr lang="ar-SA" sz="14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تُطَوِّرُ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طَوَّرَتْ</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تُطَوِّرَ</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مِنَ الضَّرُورِيِّ أَنْ ___ الدُّوَلُ المُجَاوِرَةُ.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تَتَعَاوَنَ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تَتَعَاوَنُ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تَعَاوَنَتْ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مِنَ المُهِمِّ أَنْ ___ المُزَارِعُونَ النَّظَرَ فِي الرِّيِّ.</a:t>
            </a:r>
            <a:endParaRPr lang="ar-SA"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يُعِيدُ</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يُعِيدَ</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أَعَادَ</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risk (Type 1)?</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اسْتَمَرَّتِ المُعَدَّلَاتُ، سَيَسْتَنْفِدُ الخَلِيجُ مَخْزُونَهُ.</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 اسْتَمَرَّتِ المُعَدَّلَاتُ، لَاسْتَنْفَدَ الخَلِيجُ.</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تَسْتَمِرُّ المُعَدَّلَاتُ.</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يَنْبَغِي أَنْ ___ الدُّوَلُ تِقْنِيَّاتِ التَّحْلِيَةِ.</a:t>
            </a:r>
            <a:endParaRPr lang="ar-SA" sz="145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تُطَوِّرُ</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طَوَّرَتْ</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تُطَوِّرَ</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تُطَوِّرَ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مِنَ الضَّرُورِيِّ أَنْ ___ الدُّوَلُ المُجَاوِرَةُ.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تَتَعَاوَنَ</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تَتَعَاوَنُ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تَعَاوَنَتْ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takes a fatḥa: </a:t>
            </a:r>
            <a:pPr algn="l" indent="0" marL="0">
              <a:buNone/>
            </a:pPr>
            <a:r>
              <a:rPr lang="ar-SA" altLang="en-US" sz="1350" dirty="0">
                <a:solidFill>
                  <a:srgbClr val="8A6D1E"/>
                </a:solidFill>
                <a:latin typeface="Amiri" pitchFamily="2" charset="-78"/>
                <a:cs typeface="Amiri" pitchFamily="2" charset="-78"/>
              </a:rPr>
              <a:t>تَتَعَاوَنَ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cs typeface="Amiri" pitchFamily="2" charset="-78"/>
              </a:rPr>
              <a:t>مِنَ المُهِمِّ أَنْ ___ المُزَارِعُونَ النَّظَرَ فِي الرِّيِّ.</a:t>
            </a:r>
            <a:endParaRPr lang="ar-SA"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يُعِيدُ</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يُعِيدَ</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أَعَادَ</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 المُهِمِّ أَنْ</a:t>
            </a:r>
            <a:pPr algn="l" indent="0" marL="0">
              <a:buNone/>
            </a:pPr>
            <a:r>
              <a:rPr lang="en-US" sz="1050" i="1" dirty="0">
                <a:solidFill>
                  <a:srgbClr val="8A6D1E"/>
                </a:solidFill>
                <a:latin typeface="Calibri" pitchFamily="34" charset="0"/>
                <a:cs typeface="Amiri" pitchFamily="2" charset="-78"/>
              </a:rPr>
              <a:t> takes a subjunctive: </a:t>
            </a:r>
            <a:pPr algn="l" indent="0" marL="0">
              <a:buNone/>
            </a:pPr>
            <a:r>
              <a:rPr lang="ar-SA" altLang="en-US" sz="1350" dirty="0">
                <a:solidFill>
                  <a:srgbClr val="8A6D1E"/>
                </a:solidFill>
                <a:latin typeface="Amiri" pitchFamily="2" charset="-78"/>
                <a:cs typeface="Amiri" pitchFamily="2" charset="-78"/>
              </a:rPr>
              <a:t>يُعِيدَ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real risk (Type 1)?</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اسْتَمَرَّتِ المُعَدَّلَاتُ، سَيَسْتَنْفِدُ الخَلِيجُ مَخْزُونَهُ.</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 اسْتَمَرَّتِ المُعَدَّلَاتُ، لَاسْتَنْفَدَ الخَلِيجُ.</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تَسْتَمِرُّ المُعَدَّلَاتُ.</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states a real risk.</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write a water-policy analysis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serious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C77700"/>
                </a:solidFill>
                <a:latin typeface="Amiri" pitchFamily="2" charset="-78"/>
                <a:cs typeface="Amiri" pitchFamily="2" charset="-78"/>
              </a:rPr>
              <a:t>يُشَارُ إِلَى أَنَّ</a:t>
            </a:r>
            <a:pPr rtl="1" algn="ctr" indent="0" marL="0">
              <a:lnSpc>
                <a:spcPct val="120000"/>
              </a:lnSpc>
              <a:buNone/>
            </a:pPr>
            <a:r>
              <a:rPr lang="ar-SA" altLang="en-US" sz="1900" b="1" dirty="0">
                <a:solidFill>
                  <a:srgbClr val="1B3B6F"/>
                </a:solidFill>
                <a:latin typeface="Amiri" pitchFamily="2" charset="-78"/>
                <a:cs typeface="Amiri" pitchFamily="2" charset="-78"/>
              </a:rPr>
              <a:t> … أَشَدِّ أَزَمَاتِ …</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Evidence.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Risk + regret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D5FBF"/>
                </a:solidFill>
                <a:latin typeface="Amiri" pitchFamily="2" charset="-78"/>
                <a:cs typeface="Amiri" pitchFamily="2" charset="-78"/>
              </a:rPr>
              <a:t>إِذَا</a:t>
            </a:r>
            <a:pPr rtl="1" algn="ctr" indent="0" marL="0">
              <a:lnSpc>
                <a:spcPct val="120000"/>
              </a:lnSpc>
              <a:buNone/>
            </a:pPr>
            <a:r>
              <a:rPr lang="ar-SA" altLang="en-US" sz="1850" b="1" dirty="0">
                <a:solidFill>
                  <a:srgbClr val="1B3B6F"/>
                </a:solidFill>
                <a:latin typeface="Amiri" pitchFamily="2" charset="-78"/>
                <a:cs typeface="Amiri" pitchFamily="2" charset="-78"/>
              </a:rPr>
              <a:t> … سَيَسْتَنْفِدُ · </a:t>
            </a:r>
            <a:pPr rtl="1" algn="ctr" indent="0" marL="0">
              <a:lnSpc>
                <a:spcPct val="120000"/>
              </a:lnSpc>
              <a:buNone/>
            </a:pPr>
            <a:r>
              <a:rPr lang="ar-SA" altLang="en-US" sz="1850" b="1" dirty="0">
                <a:solidFill>
                  <a:srgbClr val="7B3FA0"/>
                </a:solidFill>
                <a:latin typeface="Amiri" pitchFamily="2" charset="-78"/>
                <a:cs typeface="Amiri" pitchFamily="2" charset="-78"/>
              </a:rPr>
              <a:t>لَوِ</a:t>
            </a:r>
            <a:pPr rtl="1" algn="ctr" indent="0" marL="0">
              <a:lnSpc>
                <a:spcPct val="120000"/>
              </a:lnSpc>
              <a:buNone/>
            </a:pPr>
            <a:r>
              <a:rPr lang="ar-SA" altLang="en-US" sz="1850" b="1" dirty="0">
                <a:solidFill>
                  <a:srgbClr val="1B3B6F"/>
                </a:solidFill>
                <a:latin typeface="Amiri" pitchFamily="2" charset="-78"/>
                <a:cs typeface="Amiri" pitchFamily="2" charset="-78"/>
              </a:rPr>
              <a:t> … لَكَانَتِ</a:t>
            </a:r>
            <a:endParaRPr lang="ar-SA" sz="18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Both types.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Necessity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يَنْبَغِي أَنْ </a:t>
            </a:r>
            <a:pPr rtl="1" algn="ctr" indent="0" marL="0">
              <a:lnSpc>
                <a:spcPct val="120000"/>
              </a:lnSpc>
              <a:buNone/>
            </a:pPr>
            <a:r>
              <a:rPr lang="ar-SA" altLang="en-US" sz="1750" b="1" dirty="0">
                <a:solidFill>
                  <a:srgbClr val="0E7C86"/>
                </a:solidFill>
                <a:latin typeface="Amiri" pitchFamily="2" charset="-78"/>
                <a:cs typeface="Amiri" pitchFamily="2" charset="-78"/>
              </a:rPr>
              <a:t>تُطَوِّرَ</a:t>
            </a:r>
            <a:pPr rtl="1" algn="ctr" indent="0" marL="0">
              <a:lnSpc>
                <a:spcPct val="120000"/>
              </a:lnSpc>
              <a:buNone/>
            </a:pPr>
            <a:r>
              <a:rPr lang="ar-SA" altLang="en-US" sz="1750" b="1" dirty="0">
                <a:solidFill>
                  <a:srgbClr val="1B3B6F"/>
                </a:solidFill>
                <a:latin typeface="Amiri" pitchFamily="2" charset="-78"/>
                <a:cs typeface="Amiri" pitchFamily="2" charset="-78"/>
              </a:rPr>
              <a:t> · مِنَ المُهِمِّ أَنْ </a:t>
            </a:r>
            <a:pPr rtl="1" algn="ctr" indent="0" marL="0">
              <a:lnSpc>
                <a:spcPct val="120000"/>
              </a:lnSpc>
              <a:buNone/>
            </a:pPr>
            <a:r>
              <a:rPr lang="ar-SA" altLang="en-US" sz="1750" b="1" dirty="0">
                <a:solidFill>
                  <a:srgbClr val="0E7C86"/>
                </a:solidFill>
                <a:latin typeface="Amiri" pitchFamily="2" charset="-78"/>
                <a:cs typeface="Amiri" pitchFamily="2" charset="-78"/>
              </a:rPr>
              <a:t>تَعْتَمِدَ</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Purpose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لِكَيْ </a:t>
            </a:r>
            <a:pPr rtl="1" algn="ctr" indent="0" marL="0">
              <a:buNone/>
            </a:pPr>
            <a:r>
              <a:rPr lang="ar-SA" altLang="en-US" sz="2800" b="1" dirty="0">
                <a:solidFill>
                  <a:srgbClr val="D6336C"/>
                </a:solidFill>
                <a:latin typeface="Amiri" pitchFamily="2" charset="-78"/>
                <a:cs typeface="Amiri" pitchFamily="2" charset="-78"/>
              </a:rPr>
              <a:t>تُقَلِّلَ</a:t>
            </a:r>
            <a:pPr rtl="1" algn="ctr" indent="0" marL="0">
              <a:buNone/>
            </a:pPr>
            <a:r>
              <a:rPr lang="ar-SA" altLang="en-US" sz="2800" b="1" dirty="0">
                <a:solidFill>
                  <a:srgbClr val="1B3B6F"/>
                </a:solidFill>
                <a:latin typeface="Amiri" pitchFamily="2" charset="-78"/>
                <a:cs typeface="Amiri" pitchFamily="2" charset="-78"/>
              </a:rPr>
              <a:t> الهَدْرَ</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1</a:t>
            </a:r>
            <a:endParaRPr lang="en-US" sz="800" dirty="0"/>
          </a:p>
        </p:txBody>
      </p:sp>
      <p:sp>
        <p:nvSpPr>
          <p:cNvPr id="49" name="Shape 45"/>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1" name="Shape 47"/>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NECESSITY</a:t>
            </a:r>
            <a:endParaRPr lang="en-US" sz="800" dirty="0"/>
          </a:p>
        </p:txBody>
      </p:sp>
      <p:sp>
        <p:nvSpPr>
          <p:cNvPr id="53" name="Shape 49"/>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PURPOSE</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C77700"/>
                </a:solidFill>
                <a:latin typeface="Amiri" pitchFamily="2" charset="-78"/>
                <a:cs typeface="Amiri" pitchFamily="2" charset="-78"/>
              </a:rPr>
              <a:t>يُشَارُ إِلَى أَنَّ</a:t>
            </a:r>
            <a:pPr rtl="1" algn="r" indent="0" marL="0">
              <a:lnSpc>
                <a:spcPct val="120000"/>
              </a:lnSpc>
              <a:buNone/>
            </a:pPr>
            <a:r>
              <a:rPr lang="ar-SA" altLang="en-US" sz="1400" b="1" dirty="0">
                <a:solidFill>
                  <a:srgbClr val="1B3B6F"/>
                </a:solidFill>
                <a:latin typeface="Amiri" pitchFamily="2" charset="-78"/>
                <a:cs typeface="Amiri" pitchFamily="2" charset="-78"/>
              </a:rPr>
              <a:t> المِنْطَقَةَ العَرَبِيَّةَ تُعَانِي مِنْ أَشَدِّ أَزَمَاتِ المِيَاهِ فِي العَالَمِ. </a:t>
            </a:r>
            <a:pPr rtl="1" algn="r" indent="0" marL="0">
              <a:lnSpc>
                <a:spcPct val="120000"/>
              </a:lnSpc>
              <a:buNone/>
            </a:pPr>
            <a:r>
              <a:rPr lang="ar-SA" altLang="en-US" sz="1400" b="1" dirty="0">
                <a:solidFill>
                  <a:srgbClr val="1D5FBF"/>
                </a:solidFill>
                <a:latin typeface="Amiri" pitchFamily="2" charset="-78"/>
                <a:cs typeface="Amiri" pitchFamily="2" charset="-78"/>
              </a:rPr>
              <a:t>إِذَا</a:t>
            </a:r>
            <a:pPr rtl="1" algn="r" indent="0" marL="0">
              <a:lnSpc>
                <a:spcPct val="120000"/>
              </a:lnSpc>
              <a:buNone/>
            </a:pPr>
            <a:r>
              <a:rPr lang="ar-SA" altLang="en-US" sz="1400" b="1" dirty="0">
                <a:solidFill>
                  <a:srgbClr val="1B3B6F"/>
                </a:solidFill>
                <a:latin typeface="Amiri" pitchFamily="2" charset="-78"/>
                <a:cs typeface="Amiri" pitchFamily="2" charset="-78"/>
              </a:rPr>
              <a:t> اسْتَمَرَّتْ مُعَدَّلَاتُ الاسْتِهْلَاكِ، </a:t>
            </a:r>
            <a:pPr rtl="1" algn="r" indent="0" marL="0">
              <a:lnSpc>
                <a:spcPct val="120000"/>
              </a:lnSpc>
              <a:buNone/>
            </a:pPr>
            <a:r>
              <a:rPr lang="ar-SA" altLang="en-US" sz="1400" b="1" dirty="0">
                <a:solidFill>
                  <a:srgbClr val="1D5FBF"/>
                </a:solidFill>
                <a:latin typeface="Amiri" pitchFamily="2" charset="-78"/>
                <a:cs typeface="Amiri" pitchFamily="2" charset="-78"/>
              </a:rPr>
              <a:t>سَيَسْتَنْفِدُ</a:t>
            </a:r>
            <a:pPr rtl="1" algn="r" indent="0" marL="0">
              <a:lnSpc>
                <a:spcPct val="120000"/>
              </a:lnSpc>
              <a:buNone/>
            </a:pPr>
            <a:r>
              <a:rPr lang="ar-SA" altLang="en-US" sz="1400" b="1" dirty="0">
                <a:solidFill>
                  <a:srgbClr val="1B3B6F"/>
                </a:solidFill>
                <a:latin typeface="Amiri" pitchFamily="2" charset="-78"/>
                <a:cs typeface="Amiri" pitchFamily="2" charset="-78"/>
              </a:rPr>
              <a:t> الخَلِيجُ مَخْزُونَهُ الجَوْفِيَّ. </a:t>
            </a:r>
            <a:pPr rtl="1" algn="r" indent="0" marL="0">
              <a:lnSpc>
                <a:spcPct val="120000"/>
              </a:lnSpc>
              <a:buNone/>
            </a:pPr>
            <a:r>
              <a:rPr lang="ar-SA" altLang="en-US" sz="1400" b="1" dirty="0">
                <a:solidFill>
                  <a:srgbClr val="7B3FA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اسْتَثْمَرَتِ الدُّوَلُ فِي التَّحْلِيَةِ مُبَكِّرًا، </a:t>
            </a:r>
            <a:pPr rtl="1" algn="r" indent="0" marL="0">
              <a:lnSpc>
                <a:spcPct val="120000"/>
              </a:lnSpc>
              <a:buNone/>
            </a:pPr>
            <a:r>
              <a:rPr lang="ar-SA" altLang="en-US" sz="1400" b="1" dirty="0">
                <a:solidFill>
                  <a:srgbClr val="7B3FA0"/>
                </a:solidFill>
                <a:latin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cs typeface="Amiri" pitchFamily="2" charset="-78"/>
              </a:rPr>
              <a:t> الأَزْمَةُ أَقَلَّ حِدَّةً. لِذٰلِكَ يَنْبَغِي أَنْ </a:t>
            </a:r>
            <a:pPr rtl="1" algn="r" indent="0" marL="0">
              <a:lnSpc>
                <a:spcPct val="120000"/>
              </a:lnSpc>
              <a:buNone/>
            </a:pPr>
            <a:r>
              <a:rPr lang="ar-SA" altLang="en-US" sz="1400" b="1" dirty="0">
                <a:solidFill>
                  <a:srgbClr val="0E7C86"/>
                </a:solidFill>
                <a:latin typeface="Amiri" pitchFamily="2" charset="-78"/>
                <a:cs typeface="Amiri" pitchFamily="2" charset="-78"/>
              </a:rPr>
              <a:t>تُطَوِّرَ</a:t>
            </a:r>
            <a:pPr rtl="1" algn="r" indent="0" marL="0">
              <a:lnSpc>
                <a:spcPct val="120000"/>
              </a:lnSpc>
              <a:buNone/>
            </a:pPr>
            <a:r>
              <a:rPr lang="ar-SA" altLang="en-US" sz="1400" b="1" dirty="0">
                <a:solidFill>
                  <a:srgbClr val="1B3B6F"/>
                </a:solidFill>
                <a:latin typeface="Amiri" pitchFamily="2" charset="-78"/>
                <a:cs typeface="Amiri" pitchFamily="2" charset="-78"/>
              </a:rPr>
              <a:t> الدُّوَلُ سِيَاسَاتِ مِيَاهٍ مُتَكَامِلَةً، وَمِنَ المُهِمِّ أَنْ </a:t>
            </a:r>
            <a:pPr rtl="1" algn="r" indent="0" marL="0">
              <a:lnSpc>
                <a:spcPct val="120000"/>
              </a:lnSpc>
              <a:buNone/>
            </a:pPr>
            <a:r>
              <a:rPr lang="ar-SA" altLang="en-US" sz="1400" b="1" dirty="0">
                <a:solidFill>
                  <a:srgbClr val="0E7C86"/>
                </a:solidFill>
                <a:latin typeface="Amiri" pitchFamily="2" charset="-78"/>
                <a:cs typeface="Amiri" pitchFamily="2" charset="-78"/>
              </a:rPr>
              <a:t>تَعْتَمِدَ</a:t>
            </a:r>
            <a:pPr rtl="1" algn="r" indent="0" marL="0">
              <a:lnSpc>
                <a:spcPct val="120000"/>
              </a:lnSpc>
              <a:buNone/>
            </a:pPr>
            <a:r>
              <a:rPr lang="ar-SA" altLang="en-US" sz="1400" b="1" dirty="0">
                <a:solidFill>
                  <a:srgbClr val="1B3B6F"/>
                </a:solidFill>
                <a:latin typeface="Amiri" pitchFamily="2" charset="-78"/>
                <a:cs typeface="Amiri" pitchFamily="2" charset="-78"/>
              </a:rPr>
              <a:t> الزِّرَاعَةُ الرِّيَّ الحَدِيثَ لِكَيْ </a:t>
            </a:r>
            <a:pPr rtl="1" algn="r" indent="0" marL="0">
              <a:lnSpc>
                <a:spcPct val="120000"/>
              </a:lnSpc>
              <a:buNone/>
            </a:pPr>
            <a:r>
              <a:rPr lang="ar-SA" altLang="en-US" sz="1400" b="1" dirty="0">
                <a:solidFill>
                  <a:srgbClr val="D6336C"/>
                </a:solidFill>
                <a:latin typeface="Amiri" pitchFamily="2" charset="-78"/>
                <a:cs typeface="Amiri" pitchFamily="2" charset="-78"/>
              </a:rPr>
              <a:t>تُقَلِّلَ</a:t>
            </a:r>
            <a:pPr rtl="1" algn="r" indent="0" marL="0">
              <a:lnSpc>
                <a:spcPct val="120000"/>
              </a:lnSpc>
              <a:buNone/>
            </a:pPr>
            <a:r>
              <a:rPr lang="ar-SA" altLang="en-US" sz="1400" b="1" dirty="0">
                <a:solidFill>
                  <a:srgbClr val="1B3B6F"/>
                </a:solidFill>
                <a:latin typeface="Amiri" pitchFamily="2" charset="-78"/>
                <a:cs typeface="Amiri" pitchFamily="2" charset="-78"/>
              </a:rPr>
              <a:t> الهَدْرَ.</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It is reported that the Arab region suffers from one of the most severe water crises in the world. If consumption rates continue, the Gulf will exhaust its groundwater reserves. Had states invested in desalination early, the crisis would be less severe. So states should develop integrated water policies, and it is important that agriculture adopts modern irrigation so that it reduces waste.</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يَنْبَغِي أَنْ تُطَوِّرَ الدُّوَلُ العَرَبِيَّةُ تِقْنِيَّاتِ تَحْلِيَةٍ أَكْثَرَ كَفَاءَةً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Arab states should develop more efficient desalination technologies</a:t>
            </a:r>
            <a:endParaRPr lang="en-US" sz="1250" dirty="0"/>
          </a:p>
          <a:p>
            <a:pPr indent="0" marL="0">
              <a:buNone/>
            </a:pPr>
            <a:r>
              <a:rPr lang="en-US" sz="1050" i="1" dirty="0">
                <a:solidFill>
                  <a:srgbClr val="8A6D1E"/>
                </a:solidFill>
                <a:latin typeface="Calibri" pitchFamily="34" charset="0"/>
                <a:cs typeface="Amiri" pitchFamily="2" charset="-78"/>
              </a:rPr>
              <a:t>yanbaghī an + a verb in -a (tuṭawwira).</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مِنَ الضَّرُورِيِّ أَنْ تَتَعَاوَنَ الدُّوَلُ فِي إِدَارَةِ المَوَارِدِ المُشْتَرَكَةِ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essential that states cooperate in managing shared resources</a:t>
            </a:r>
            <a:endParaRPr lang="en-US" sz="1250" dirty="0"/>
          </a:p>
          <a:p>
            <a:pPr indent="0" marL="0">
              <a:buNone/>
            </a:pPr>
            <a:r>
              <a:rPr lang="en-US" sz="1050" i="1" dirty="0">
                <a:solidFill>
                  <a:srgbClr val="8A6D1E"/>
                </a:solidFill>
                <a:latin typeface="Calibri" pitchFamily="34" charset="0"/>
                <a:cs typeface="Amiri" pitchFamily="2" charset="-78"/>
              </a:rPr>
              <a:t>min al-ḍarūrī an + a verb in -a (tataʿāwana).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تَعْتَمِدُ الزِّرَاعَةُ الرِّيَّ الحَدِيثَ لِكَيْ تُقَلِّلَ الهَدْرَ</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agriculture adopts modern irrigation so that it reduces waste</a:t>
            </a:r>
            <a:endParaRPr lang="en-US" sz="1250" dirty="0"/>
          </a:p>
          <a:p>
            <a:pPr indent="0" marL="0">
              <a:buNone/>
            </a:pPr>
            <a:r>
              <a:rPr lang="en-US" sz="1050" i="1" dirty="0">
                <a:solidFill>
                  <a:srgbClr val="8A6D1E"/>
                </a:solidFill>
                <a:latin typeface="Calibri" pitchFamily="34" charset="0"/>
                <a:cs typeface="Amiri" pitchFamily="2" charset="-78"/>
              </a:rPr>
              <a:t>A li-kay purpose clause (tuqallila).</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WATER IN THE ARAB WORLD — SCARCITY, MANAGEMENT AND THE FUTURE”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Saving water: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المِيَاهُ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shorter showers</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desalination</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fixing leaks</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إِصْلَاحُ التَّسَرُّبَاتِ يُقَلِّلُ هَدْرَ المِيَاهِ.</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تَرْشِيدُ اسْتِهْلَاكِ المِيَاهِ.</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تُحَوِّلُ التَّحْلِيَةُ مَاءَ البَحْرِ إِلَى مَاءٍ عَذْبٍ.</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المِيَاهُ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shorter showers</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يَجِبُ تَرْشِيدُ اسْتِهْلَاكِ المِيَاهِ.</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Water consumption must be rationed.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desalination</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تُحَوِّلُ التَّحْلِيَةُ مَاءَ البَحْرِ إِلَى مَاءٍ عَذْبٍ.</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Desalination turns seawater into fresh water.</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fixing leaks</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إِصْلَاحُ التَّسَرُّبَاتِ يُقَلِّلُ هَدْرَ المِيَاهِ.</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Fixing leaks reduces water waste.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BUILD A WATER-POLICY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Necessity + purpose + reflection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حُجَّةً عَنِ المِيَاهِ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729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Necessity (yanbaghī an …)</a:t>
            </a:r>
            <a:endParaRPr lang="en-US" sz="1100" dirty="0"/>
          </a:p>
        </p:txBody>
      </p:sp>
      <p:sp>
        <p:nvSpPr>
          <p:cNvPr id="17" name="Text 14"/>
          <p:cNvSpPr txBox="1"/>
          <p:nvPr/>
        </p:nvSpPr>
        <p:spPr>
          <a:xfrm>
            <a:off x="439826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Purpose (li-kay)</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Reflection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91272" y="2267712"/>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يَنْبَغِي أَنْ تُطَوِّرَ الدُّوَلُ تِقْنِيَّاتِ التَّحْلِيَةِ</a:t>
            </a:r>
            <a:endParaRPr lang="ar-SA" sz="1600" dirty="0"/>
          </a:p>
        </p:txBody>
      </p:sp>
      <p:sp>
        <p:nvSpPr>
          <p:cNvPr id="21" name="Text 18"/>
          <p:cNvSpPr txBox="1"/>
          <p:nvPr/>
        </p:nvSpPr>
        <p:spPr>
          <a:xfrm>
            <a:off x="4416552" y="2267712"/>
            <a:ext cx="3291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لِكَيْ تُقَلِّلَ الزِّرَاعَةُ الهَدْرَ فِي المِيَاهِ</a:t>
            </a:r>
            <a:endParaRPr lang="ar-SA" sz="16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وَلَوِ اسْتُثْمِرَ فِي التَّحْلِيَةِ مُبَكِّرًا لَكَانَتِ الأَزْمَةُ أَقَلَّ</a:t>
            </a:r>
            <a:endParaRPr lang="ar-SA" sz="1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891272" y="3054096"/>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وَمِنَ الضَّرُورِيِّ أَنْ تَتَعَاوَنَ الدُّوَلُ المُجَاوِرَةُ</a:t>
            </a:r>
            <a:endParaRPr lang="ar-SA" sz="1600" dirty="0"/>
          </a:p>
        </p:txBody>
      </p:sp>
      <p:sp>
        <p:nvSpPr>
          <p:cNvPr id="27" name="Text 24"/>
          <p:cNvSpPr txBox="1"/>
          <p:nvPr/>
        </p:nvSpPr>
        <p:spPr>
          <a:xfrm>
            <a:off x="4416552" y="3054096"/>
            <a:ext cx="3291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لِكَيْ تَبْقَى المِيَاهُ الجَوْفِيَّةُ لِلْأَجْيَالِ</a:t>
            </a:r>
            <a:endParaRPr lang="ar-SA" sz="16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وَإِذَا تَعَاوَنَتِ الدُّوَلُ سَتَحُلُّ مُعْظَمَ مُشْكِلَاتِهَا</a:t>
            </a:r>
            <a:endParaRPr lang="ar-SA" sz="16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7891272" y="3840480"/>
            <a:ext cx="37490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وَمِنَ المُهِمِّ أَنْ يُعِيدَ المُزَارِعُونَ النَّظَرَ فِي الرِّيِّ</a:t>
            </a:r>
            <a:endParaRPr lang="ar-SA" sz="1600" dirty="0"/>
          </a:p>
        </p:txBody>
      </p:sp>
      <p:sp>
        <p:nvSpPr>
          <p:cNvPr id="31" name="Text 28"/>
          <p:cNvSpPr txBox="1"/>
          <p:nvPr/>
        </p:nvSpPr>
        <p:spPr>
          <a:xfrm>
            <a:off x="4416552" y="3840480"/>
            <a:ext cx="329184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لِكَيْ تُحَقِّقَ المِنْطَقَةُ الأَمْنَ المَائِيَّ</a:t>
            </a:r>
            <a:endParaRPr lang="ar-SA" sz="16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وَأَكَّدَ الخُبَرَاءُ أَنَّ المَاءَ حَقٌّ لَا امْتِيَازٌ</a:t>
            </a:r>
            <a:endParaRPr lang="ar-SA" sz="16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circle every verb after an and li-kay: does it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volition — or necessity?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تُقَلِّلَ الزِّرَاعَةُ الهَدْرَ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نَحْمِيَ المِيَاهَ الجَوْفِيَّةَ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تَبْقَى المَوَارِدُ لِلْأَجْيَالِ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يَتَطَلَّبُ الوَضْعُ أَنْ تَسْتَثْمِرَ الدُّوَلُ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يَخْشَى الخُبَرَاءُ أَنْ تَنْفَدَ المِيَاهُ</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يَرْجُو الجَمِيعُ أَنْ يَتَحَقَّقَ الأَمْنُ المَائِيُّ</a:t>
            </a:r>
            <a:endParaRPr lang="ar-SA" sz="15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يَنْبَغِي أَنْ تُطَوِّرَ الدُّوَلُ سِيَاسَاتِ المِيَاهِ</a:t>
            </a:r>
            <a:endParaRPr lang="ar-SA" sz="15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الضَّرُورِيِّ أَنْ تَتَعَاوَنَ الدُّوَلُ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مِنَ المُهِمِّ أَنْ يُعِيدَ المُزَارِعُونَ النَّظَرَ</a:t>
            </a:r>
            <a:endParaRPr lang="ar-SA" sz="155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(yataṭallabu an)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an)</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purpose (li-kay)</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تُقَلِّلَ الزِّرَاعَةُ الهَدْرَ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نَحْمِيَ المِيَاهَ الجَوْفِيَّةَ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لِكَيْ تَبْقَى المَوَارِدُ لِلْأَجْيَالِ</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volition (yataṭallabu an)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يَتَطَلَّبُ الوَضْعُ أَنْ تَسْتَثْمِرَ الدُّوَلُ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يَخْشَى الخُبَرَاءُ أَنْ تَنْفَدَ المِيَاهُ</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يَرْجُو الجَمِيعُ أَنْ يَتَحَقَّقَ الأَمْنُ المَائِيُّ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necessity (yanbaghī an)</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يَنْبَغِي أَنْ تُطَوِّرَ الدُّوَلُ سِيَاسَاتِ المِيَاهِ</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الضَّرُورِيِّ أَنْ تَتَعَاوَنَ الدُّوَلُ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المُهِمِّ أَنْ يُعِيدَ المُزَارِعُونَ النَّظَرَ</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impersonal necessity?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يَخْشَى أَنْ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purpose?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volition?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يَنْبَغِي أَنْ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يَتَطَلَّبُ أَنْ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المُهِمِّ أَنْ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these expressions?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ḍamma</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sukūn</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final fatḥa</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impersonal necessity?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لِكَيْ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يَخْشَى أَنْ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يَنْبَغِي أَنْ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is impersonal necessity.</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purpose?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لِكَيْ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يَتَطَلَّبُ أَنْ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is the purpose trigger.</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volition?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يَنْبَغِي أَنْ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يَتَطَلَّبُ أَنْ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المُهِمِّ أَنْ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is a volition trigger.</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subjunctive marker after these expressions?</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ḍamma</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final sukūn</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final fatḥa</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verb ends in a fatḥa.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يَنْبَغِي أَنْ تُطَوِّرُ الدُّوَلُ تِقْنِيَّاتِ التَّحْلِيَةِ.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tuṭawwiru?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مِنَ الضَّرُورِيِّ أَنْ تَتَعَاوَنُ الدُّوَلُ.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tataʿāwanu?</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لَوِ اسْتَثْمَرَتِ الدُّوَلُ مُبَكِّرًا، سَتَكُونُ الأَزْمَةُ أَقَلَّ.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law … sa-?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يَنْبَغِي أَنْ تُطَوِّرُ الدُّوَلُ تِقْنِيَّاتِ التَّحْلِيَةِ.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يَنْبَغِي أَنْ تُطَوِّرَ الدُّوَلُ تِقْنِيَّاتِ التَّحْلِيَةِ.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cs typeface="Amiri" pitchFamily="2" charset="-78"/>
              </a:rPr>
              <a:t>تُطَوِّرَ</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مِنَ الضَّرُورِيِّ أَنْ تَتَعَاوَنُ الدُّوَلُ.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مِنَ الضَّرُورِيِّ أَنْ تَتَعَاوَنَ الدُّوَلُ.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مِنَ الضَّرُورِيِّ أَنْ</a:t>
            </a:r>
            <a:pPr algn="l" indent="0" marL="0">
              <a:buNone/>
            </a:pPr>
            <a:r>
              <a:rPr lang="en-US" sz="1150" b="1" dirty="0">
                <a:solidFill>
                  <a:srgbClr val="1B3B6F"/>
                </a:solidFill>
                <a:latin typeface="Calibri" pitchFamily="34" charset="0"/>
                <a:cs typeface="Amiri" pitchFamily="2" charset="-78"/>
              </a:rPr>
              <a:t> takes a subjunctive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لَوِ اسْتَثْمَرَتِ الدُّوَلُ مُبَكِّرًا، سَتَكُونُ الأَزْمَةُ أَقَلَّ.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50" b="1" dirty="0">
                <a:solidFill>
                  <a:srgbClr val="1E6B52"/>
                </a:solidFill>
                <a:latin typeface="Amiri" pitchFamily="2" charset="-78"/>
                <a:cs typeface="Amiri" pitchFamily="2" charset="-78"/>
              </a:rPr>
              <a:t>لَوِ اسْتَثْمَرَتِ الدُّوَلُ مُبَكِّرًا، لَكَانَتِ الأَزْمَةُ أَقَلَّ.</a:t>
            </a:r>
            <a:endParaRPr lang="ar-SA" sz="21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Type 2 result takes </a:t>
            </a:r>
            <a:pPr algn="l" indent="0" marL="0">
              <a:buNone/>
            </a:pPr>
            <a:r>
              <a:rPr lang="ar-SA" altLang="en-US" sz="1500" b="1" dirty="0">
                <a:solidFill>
                  <a:srgbClr val="1B3B6F"/>
                </a:solidFill>
                <a:latin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the water crisis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of the world's fresh water does the region hold?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than one percent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Half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quarter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risk (Type 1)?</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Groundwater is unlimited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Consumption has stopped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consumption continues, Gulf states will exhaust their groundwater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makes no difference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crisis is unavoidable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states invested in desalination early, the crisis would be less severe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necessity require of neighbouring states?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they cooperate in managing shared resources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they compete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they do nothing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agriculture adopt modern irrigation?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use more water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 that it reduces waste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no reason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Listen for: yanbaghī an · min al-ḍarūrī an · li-kay.</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يُشَارُ إِلَى أَنَّ المِنْطَقَةَ العَرَبِيَّةَ تُعَانِي مِنْ أَشَدِّ أَزَمَاتِ المِيَاهِ فِي العَالَمِ. فَهِيَ تَضُمُّ أَقَلَّ مِنْ وَاحِدٍ بِالمِئَةِ مِنْ مَوَارِدِ المِيَاهِ العَذْبَةِ.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reported that the Arab region suffers from one of the most severe water crises in the world. It holds less than one percent of fresh water resources.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إِذَا اسْتَمَرَّتْ مُعَدَّلَاتُ الاسْتِهْلَاكِ الحَالِيَّةُ، سَيَسْتَنْفِدُ كَثِيرٌ مِنْ دُوَلِ الخَلِيجِ مَخْزُونَهُ الجَوْفِيَّ خِلَالَ عُقُودٍ.</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current consumption rates continue, many Gulf states will exhaust their groundwater reserves within decades.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وَلَوِ اسْتَثْمَرَتِ الدُّوَلُ فِي التَّحْلِيَةِ مُبَكِّرًا، لَكَانَتِ الأَزْمَةُ أَقَلَّ حِدَّةً. لِذٰلِكَ يَنْبَغِي أَنْ تُطَوِّرَ الدُّوَلُ سِيَاسَاتِ مِيَاهٍ مُتَكَامِلَةً.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states invested in desalination early, the crisis would be less severe. So states should develop integrated water policies.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وَمِنَ الضَّرُورِيِّ أَنْ تَتَعَاوَنَ الدُّوَلُ المُجَاوِرَةُ فِي إِدَارَةِ المَوَارِدِ المُشْتَرَكَةِ. وَمِنَ المُهِمِّ أَنْ تَعْتَمِدَ الزِّرَاعَةُ الرِّيَّ الحَدِيثَ لِكَيْ تُقَلِّلَ الهَدْرَ.</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It is essential that neighbouring states cooperate in managing shared resources. And it is important that agriculture adopts modern irrigation so that it reduces waste.</a:t>
            </a:r>
            <a:endParaRPr lang="en-US" sz="120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وَأَكَّدَ خُبَرَاءُ الأُمَمِ المُتَّحِدَةِ أَنَّ التَّعَاوُنَ الإِقْلِيمِيَّ هُوَ الحَلُّ.</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 experts stressed that regional cooperation is the solution.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of the world's fresh water does the region hold?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Less than one percent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Half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quarter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تَضُمُّ أَقَلَّ مِنْ وَاحِدٍ بِالمِئَةِ مِنْ مَوَارِدِ المِيَاهِ العَذْبَةِ.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real risk (Type 1)?</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Groundwater is unlimited</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Consumption has stopped</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consumption continues, Gulf states will exhaust their groundwater</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إِذَا اسْتَمَرَّتْ مُعَدَّلَاتُ الاسْتِهْلَاكِ … سَيَسْتَنْفِدُ … مَخْزُونَهُ الجَوْفِيَّ.</a:t>
            </a:r>
            <a:endParaRPr lang="ar-SA" sz="12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makes no difference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crisis is unavoidable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states invested in desalination early, the crisis would be less severe</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لَوِ اسْتَثْمَرَتِ الدُّوَلُ فِي التَّحْلِيَةِ مُبَكِّرًا، لَكَانَتِ الأَزْمَةُ أَقَلَّ حِدَّةً.</a:t>
            </a:r>
            <a:endParaRPr lang="ar-SA" sz="11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necessity require of neighbouring states?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they cooperate in managing shared resources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they compete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they do nothing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الضَّرُورِيِّ أَنْ تَتَعَاوَنَ الدُّوَلُ المُجَاوِرَةُ.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should agriculture adopt modern irrigation?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use more water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 that it reduces waste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no reason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لِكَيْ تُقَلِّلَ الهَدْرَ.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buNone/>
            </a:pPr>
            <a:r>
              <a:rPr lang="en-US" sz="1250" dirty="0">
                <a:solidFill>
                  <a:srgbClr val="1E6B52"/>
                </a:solidFill>
                <a:latin typeface="Calibri" pitchFamily="34" charset="0"/>
                <a:cs typeface="Amiri" pitchFamily="2" charset="-78"/>
              </a:rPr>
              <a:t>Listen for: yanbaghī an · min al-ḍarūrī an · li-kay.</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water policy pledge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يَنْبَغِي أَنْ تَفْعَلَ الدُّوَلُ؟ اسْتَعْمِلْ «يَنْبَغِي أَنْ».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الضَّرُورِيُّ فِي إِدَارَةِ المِيَاهِ؟ اسْتَعْمِلْ «مِنَ الضَّرُورِيِّ أَنْ».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الهَدَفُ مِنَ الرِّيِّ الحَدِيثِ؟ اسْتَعْمِلْ «لِكَيْ» وَ«لَوْ».</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يَنْبَغِي أَنْ تُطَوِّرَ الدُّوَلُ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مِنَ الضَّرُورِيِّ أَنْ تَتَعَاوَنَ ___ فِي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تَعْتَمِدُ الزِّرَاعَةُ الرِّيَّ الحَدِيثَ لِكَيْ ___ .</a:t>
            </a:r>
            <a:endParaRPr lang="ar-SA" sz="15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يَنْبَغِي أَنْ تَفْعَلَ الدُّوَلُ؟</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should states do?</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يَنْبَغِي أَنْ تُطَوِّرَ الدُّوَلُ تِقْنِيَّاتِ التَّحْلِيَةِ وَأَنْ تُعِيدَ اسْتِخْدَامَ المِيَاهِ.</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States should develop desalination technologies and reuse water.</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three sentences with yanbaghī an, min al-ḍarūrī an and min al-muhimm an.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sentence each with yanbaghī an, min al-ḍarūrī an and min al-muhimm 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Classify five subjunctives by trigger: purpose, volition or necessity.</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classify your subjunctives by trigger, and add a Type 1 risk and a Type 2 counterfactual.</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full water-policy analysis using all three triggers and both conditionals.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water analysis with the three necessity expressions, both conditionals, a li-kay clause and a cited report.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إِذَا اسْتَمَرَّتْ مُعَدَّلَاتُ الاسْتِهْلَاكِ، سَيَسْتَنْفِدُ ______ .</a:t>
            </a:r>
            <a:endParaRPr lang="ar-SA" sz="14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current consumption continues,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لَوِ اسْتَثْمَرَتِ الدُّوَلُ مُبَكِّرًا، لَكَانَتِ ______ .</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states invested early,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أَكَّدَ خُبَرَاءُ الأُمَمِ المُتَّحِدَةِ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 experts stressed that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يَنْبَغِي أَنْ تَعْتَمِدَ الزِّرَاعَةُ ______ لِكَيْ تُقَلِّلَ ______ .</a:t>
            </a:r>
            <a:endParaRPr lang="ar-SA" sz="14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Agriculture should adopt … so that it reduces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يَنْبَغِي أَنْ تُطَوِّرَ الدُّوَلُ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States should develop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مِنَ الضَّرُورِيِّ أَنْ تَتَعَاوَنَ ______ فِي ______ .</a:t>
            </a:r>
            <a:endParaRPr lang="ar-SA" sz="17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essential that … cooperate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المُهِمِّ أَنْ يُعِيدَ المُزَارِعُونَ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important that farmers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تُعَانِي المِنْطَقَةُ العَرَبِيَّةُ مِنْ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Arab region suffers from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cs typeface="Amiri" pitchFamily="2" charset="-78"/>
              </a:rPr>
              <a:t>تِقْنِيَّاتِ التَّحْلِيَةِ  ·  سِيَاسَاتِ مِيَاهٍ مُتَكَامِلَةً  ·  الدُّوَلُ المُجَاوِرَةُ  ·  إِدَارَةِ المَوَارِدِ المُشْتَرَكَةِ  ·  النَّظَرَ فِي الرِّيِّ  ·  أَشَدِّ أَزَمَاتِ المِيَاهِ  ·  الخَلِيجُ مَخْزُونَهُ الجَوْفِيَّ  ·  الأَزْمَةُ أَقَلَّ حِدَّةً  ·  التَّعَاوُنَ الإِقْلِيمِيَّ هُوَ الحَلُّ  ·  الرِّيَّ الحَدِيثَ  ·  الهَدْرَ  ·  إِعَادَةُ اسْتِخْدَامِ المِيَاهِ</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one hundred to one hundred and ten words analysing water in the Arab world. Use yanbaghī an, min al-ḍarūrī an and min al-muhimm an, both conditional types, a li-kay purpose clause and a reported-speech clause.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three necessity expressions, each with a subjunctive verb.</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real risk and a Type 2 counterfactual.</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li-kay purpose clause with the subjunctive fatḥa.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reported-speech clause citing experts.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أَشَدِّ أَزَمَاتِ المِيَاهِ فِي العَالَمِ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one of the most severe water crises in the world</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 تَفْتَقِرُ إِلَى مَوَارِدَ كَافِيَةٍ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it lacks sufficient resources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لِاسْتِدَامَةِ نُمُوِّهَا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sustain its growth</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 وَصَلَتِ المِنْطَقَةُ إِلَى هٰذِهِ النَّدْرَةِ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region would not have reached this scarcity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المَاءُ حَقٌّ لَا امْتِيَازٌ</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water is a right, not a privilege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يُشَارُ إِلَى أَنَّ المِنْطَقَةَ العَرَبِيَّةَ تُعَانِي مِنْ أَشَدِّ أَزَمَاتِ المِيَاهِ فِي العَالَمِ، إِذْ تَفْتَقِرُ إِلَى مَوَارِدَ كَافِيَةٍ لِاسْتِدَامَةِ نُمُوِّهَا. إِذَا اسْتَمَرَّتْ مُعَدَّلَاتُ الاسْتِهْلَاكِ الحَالِيَّةُ، سَيَسْتَنْفِدُ الخَلِيجُ مَخْزُونَهُ الجَوْفِيَّ خِلَالَ عُقُودٍ. وَلَوِ اسْتَثْمَرَتِ الدُّوَلُ فِي التَّحْلِيَةِ مُنْذُ السَّبْعِينِيَّاتِ، لَكَانَتِ الأَزْمَةُ اليَوْمَ أَقَلَّ حِدَّةً. لِذٰلِكَ يَنْبَغِي أَنْ تُطَوِّرَ الدُّوَلُ سِيَاسَاتِ مِيَاهٍ مُتَكَامِلَةً، وَمِنَ الضَّرُورِيِّ أَنْ تَتَعَاوَنَ الدُّوَلُ المُجَاوِرَةُ فِي إِدَارَةِ المَوَارِدِ المُشْتَرَكَةِ. وَمِنَ المُهِمِّ أَنْ تَعْتَمِدَ الزِّرَاعَةُ الرِّيَّ الحَدِيثَ لِكَيْ تُقَلِّلَ الهَدْرَ. وَأَكَّدَ خُبَرَاءُ الأُمَمِ المُتَّحِدَةِ أَنَّ التَّعَاوُنَ الإِقْلِيمِيَّ هُوَ الحَلُّ. فَالمَاءُ حَقٌّ لِلْجَمِيعِ.</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It is reported that the Arab region suffers from one of the most severe water crises in the world, since it lacks sufficient resources to sustain its growth. If current consumption rates continue, the Gulf will exhaust its groundwater reserves within decades. Had states invested in desalination since the seventies, the crisis today would be less severe. So states should develop integrated water policies, and it is essential that neighbouring states cooperate in managing shared resources. It is important that agriculture adopts modern irrigation so that it reduces waste. UN experts have stressed that regional cooperation is the solution. Water is a right for everyone.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necessity expressions + -a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Type 1 (idhā … sa-) and a Type 2 (law … la-)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 tuqallila (purpose)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akkada … anna (a cited report)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every an and li-kay, my verb ends in -a.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yanbaghī an, min al-ḍarūrī an and min al-muhimm an.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name the trigger of each subjunctive: purpose, volition or necessity.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risk uses idhā … sa-; my regret uses law … la- (or la-mā).</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cited a report (akkada anna) and ended with a strong close.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 تِقْنِيَّاتِ التَّحْلِيَةِ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تُطَوِّرَ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تُطَوِّرُ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طَوَّرَتْ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impersonal necessity?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لِكَيْ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الضَّرُورِيِّ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يَخْشَى أَنْ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لَوِ اسْتَثْمَرَتِ الدُّوَلُ مُبَكِّرًا، لَكَانَتِ الأَزْمَةُ أَقَلَّ.</a:t>
            </a:r>
            <a:endParaRPr lang="ar-SA" sz="14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إِذَا اسْتَثْمَرَتِ الدُّوَلُ، سَتَقِلُّ الأَزْمَةُ.</a:t>
            </a:r>
            <a:endParaRPr lang="ar-SA" sz="14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2" charset="-78"/>
                <a:cs typeface="Amiri" pitchFamily="2" charset="-78"/>
              </a:rPr>
              <a:t>تَسْتَثْمِرُ الدُّوَلُ.</a:t>
            </a:r>
            <a:endParaRPr lang="ar-SA" sz="14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 تِقْنِيَّاتِ التَّحْلِيَةِ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تُطَوِّرَ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تُطَوِّرُ</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طَوَّرَتْ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 </a:t>
            </a:r>
            <a:pPr algn="l" indent="0" marL="0">
              <a:buNone/>
            </a:pPr>
            <a:r>
              <a:rPr lang="ar-SA" altLang="en-US" sz="1350" dirty="0">
                <a:solidFill>
                  <a:srgbClr val="8A6D1E"/>
                </a:solidFill>
                <a:latin typeface="Amiri" pitchFamily="2" charset="-78"/>
                <a:cs typeface="Amiri" pitchFamily="2" charset="-78"/>
              </a:rPr>
              <a:t>تُطَوِّرَ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is impersonal necessity?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لِكَيْ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مِنَ الضَّرُورِيِّ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يَخْشَى أَنْ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 الضَّرُورِيِّ أَنْ</a:t>
            </a:r>
            <a:pPr algn="l" indent="0" marL="0">
              <a:buNone/>
            </a:pPr>
            <a:r>
              <a:rPr lang="en-US" sz="1050" i="1" dirty="0">
                <a:solidFill>
                  <a:srgbClr val="8A6D1E"/>
                </a:solidFill>
                <a:latin typeface="Calibri" pitchFamily="34" charset="0"/>
                <a:cs typeface="Amiri" pitchFamily="2" charset="-78"/>
              </a:rPr>
              <a:t> is impersonal necessity.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counterfactual (Type 2)?</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لَوِ اسْتَثْمَرَتِ الدُّوَلُ مُبَكِّرًا، لَكَانَتِ الأَزْمَةُ أَقَلَّ.</a:t>
            </a:r>
            <a:endParaRPr lang="ar-SA" sz="14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إِذَا اسْتَثْمَرَتِ الدُّوَلُ، سَتَقِلُّ الأَزْمَةُ.</a:t>
            </a:r>
            <a:endParaRPr lang="ar-SA" sz="14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400" dirty="0">
                <a:solidFill>
                  <a:srgbClr val="9AA1AB"/>
                </a:solidFill>
                <a:latin typeface="Amiri" pitchFamily="2" charset="-78"/>
                <a:cs typeface="Amiri" pitchFamily="2" charset="-78"/>
              </a:rPr>
              <a:t>تَسْتَثْمِرُ الدُّوَلُ.</a:t>
            </a:r>
            <a:endParaRPr lang="ar-SA" sz="14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counterfactual.</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managing a scarce resource</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تُعَدُّ المِيَاهُ أَخْطَرَ تَحَدٍّ اسْتِرَاتِيجِيٍّ يُوَاجِهُ العَالَمَ العَرَبِيَّ. فَالمِنْطَقَةُ تَفْتَقِرُ إِلَى مَوَارِدَ كَافِيَةٍ لِاسْتِدَامَةِ نُمُوِّهَا. يَخْشَى الخُبَرَاءُ أَنْ تَنْفَدَ المِيَاهُ الجَوْفِيَّةُ فِي بَعْضِ الدُّوَلِ. لِذٰلِكَ يَنْبَغِي أَنْ تُطَوِّرَ الحُكُومَاتُ تِقْنِيَّاتِ التَّحْلِيَةِ وَإِعَادَةِ الاسْتِخْدَامِ. وَمِنَ الضَّرُورِيِّ أَنْ تَعْتَمِدَ الزِّرَاعَةُ أَسَالِيبَ رِيٍّ مُوَفِّرَةً لِكَيْ تُقَلِّلَ الهَدْرَ. إِذَا تَعَاوَنَتِ الدُّوَلُ الإِقْلِيمِيَّةُ، سَتَحُلُّ مُعْظَمَ مُشْكِلَاتِهَا المَائِيَّةِ. وَلَوْ أُدِيرَتِ المَوَارِدُ بِحِكْمَةٍ مُنْذُ عُقُودٍ، لَمَا وَصَلَتِ المِنْطَقَةُ إِلَى هٰذِهِ النَّدْرَةِ. وَمِنَ المُهِمِّ أَنْ يُدْرِكَ الجَمِيعُ أَنَّ المَاءَ حَقٌّ لَا امْتِيَازٌ.</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أَشَدِّ أَزَمَاتِ</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most severe crises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المِيَاهِ العَذْبَةِ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fresh water</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مُعَدَّلَاتُ الاسْتِهْلَاكِ</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consumption rates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سَيَسْتَنْفِدُ</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exhaust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مَخْزُونَهُ الجَوْفِيَّ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groundwater reserve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تَفْتَقِرُ إِلَى</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lacks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تَنْفَدَ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run out</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الهَدْرَ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waste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مُتَكَامِلَةً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integrated</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امْتِيَازٌ</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privilege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water described?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minor issue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most serious strategic challenge facing the Arab world</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Abundant</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experts fear?</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there is too much water</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groundwater runs out in some countries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necessity require of governments?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develop desalination and reuse technologies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do nothing</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use more water</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Management makes no difference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resources been managed wisely, the region would not be this scarce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Scarcity is unavoidable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important for everyone to realise?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water is a right, not a privilege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water is a luxury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water is unlimited</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water described?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minor issue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most serious strategic challenge facing the Arab world</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Abundant</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أَخْطَرَ تَحَدٍّ اسْتِرَاتِيجِيٍّ يُوَاجِهُ العَالَمَ العَرَبِيَّ.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experts fear?</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there is too much water</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groundwater runs out in some countries</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يَخْشَى الخُبَرَاءُ أَنْ تَنْفَدَ المِيَاهُ الجَوْفِيَّةُ.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necessity require of governments?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develop desalination and reuse technologies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do nothing</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use more water</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يَنْبَغِي أَنْ تُطَوِّرَ الحُكُومَاتُ تِقْنِيَّاتِ التَّحْلِيَةِ وَإِعَادَةِ الاسْتِخْدَامِ.</a:t>
            </a:r>
            <a:endParaRPr lang="ar-SA" sz="120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counterfactual (Type 2)?</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Management makes no difference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resources been managed wisely, the region would not be this scarce</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Scarcity is unavoidable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cs typeface="Amiri" pitchFamily="2" charset="-78"/>
              </a:rPr>
              <a:t>لَوْ أُدِيرَتِ المَوَارِدُ بِحِكْمَةٍ … لَمَا وَصَلَتِ المِنْطَقَةُ إِلَى هٰذِهِ النَّدْرَةِ.</a:t>
            </a:r>
            <a:endParaRPr lang="ar-SA" sz="11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it important for everyone to realise?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water is a right, not a privilege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water is a luxury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water is unlimited</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مِنَ المُهِمِّ أَنْ يُدْرِكَ الجَمِيعُ أَنَّ المَاءَ حَقٌّ لَا امْتِيَازٌ.</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Water Mission — The Full Subjunctive System</a:t>
            </a:r>
            <a:endParaRPr lang="en-US" sz="20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 سِيَاسَاتِ المِيَاهِ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تُطَوِّرُ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تُطَوِّرَ</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طَوَّرَتْ</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مِنَ الضَّرُورِيِّ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تَتَعَاوَنَ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تَتَعَاوَنُ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تَعَاوَنَتْ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مِنَ المُهِمِّ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المُزَارِعُونَ النَّظَرَ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يُعِيدُ</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أَعَادَ</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يُعِيدَ</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يَنْبَغِي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74" name="Text 71"/>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88" name="Text 8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يَتَطَلَّبُ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89" name="Shape 86"/>
          <p:cNvSpPr/>
          <p:nvPr/>
        </p:nvSpPr>
        <p:spPr>
          <a:xfrm>
            <a:off x="8278368" y="48737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1" name="Text 88"/>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necessity</a:t>
            </a:r>
            <a:endParaRPr lang="en-US" sz="1250" dirty="0"/>
          </a:p>
        </p:txBody>
      </p:sp>
      <p:sp>
        <p:nvSpPr>
          <p:cNvPr id="92" name="Shape 89"/>
          <p:cNvSpPr/>
          <p:nvPr/>
        </p:nvSpPr>
        <p:spPr>
          <a:xfrm>
            <a:off x="8278368" y="53309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4" name="Text 91"/>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volition</a:t>
            </a:r>
            <a:endParaRPr lang="en-US" sz="1250" dirty="0"/>
          </a:p>
        </p:txBody>
      </p:sp>
      <p:sp>
        <p:nvSpPr>
          <p:cNvPr id="95" name="Shape 92"/>
          <p:cNvSpPr/>
          <p:nvPr/>
        </p:nvSpPr>
        <p:spPr>
          <a:xfrm>
            <a:off x="8278368" y="5788152"/>
            <a:ext cx="256032" cy="256032"/>
          </a:xfrm>
          <a:prstGeom prst="ellipse">
            <a:avLst/>
          </a:prstGeom>
          <a:solidFill>
            <a:srgbClr val="F4F1EA"/>
          </a:solidFill>
          <a:ln w="12700">
            <a:solidFill>
              <a:srgbClr val="F4F1EA"/>
            </a:solidFill>
            <a:prstDash val="solid"/>
          </a:ln>
        </p:spPr>
      </p:sp>
      <p:sp>
        <p:nvSpPr>
          <p:cNvPr id="96" name="Text 93"/>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7" name="Text 94"/>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purpose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يَنْبَغِي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 سِيَاسَاتِ المِيَاهِ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تُطَوِّرُ</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تُطَوِّرَ</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طَوَّرَتْ</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verb is subjunctive.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مِنَ الضَّرُورِيِّ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الدُّوَلُ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تَتَعَاوَنَ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تَتَعَاوَنُ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تَعَاوَنَتْ</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verb 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 fatḥa.</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Subjunctive: complete — </a:t>
            </a:r>
            <a:pPr algn="l" indent="0" marL="0">
              <a:buNone/>
            </a:pPr>
            <a:r>
              <a:rPr lang="ar-SA" altLang="en-US" sz="1650" b="1" dirty="0">
                <a:solidFill>
                  <a:srgbClr val="1B3B6F"/>
                </a:solidFill>
                <a:latin typeface="Amiri" pitchFamily="2" charset="-78"/>
                <a:cs typeface="Amiri" pitchFamily="2" charset="-78"/>
              </a:rPr>
              <a:t>مِنَ المُهِمِّ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المُزَارِعُونَ النَّظَرَ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يُعِيدُ</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أَعَادَ</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يُعِيدَ</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مِنَ المُهِمِّ أَنْ</a:t>
            </a:r>
            <a:pPr algn="l" indent="0" marL="0">
              <a:buNone/>
            </a:pPr>
            <a:r>
              <a:rPr lang="en-US" sz="1050" i="1" dirty="0">
                <a:solidFill>
                  <a:srgbClr val="8A6D1E"/>
                </a:solidFill>
                <a:latin typeface="Calibri" pitchFamily="34" charset="0"/>
                <a:cs typeface="Amiri" pitchFamily="2" charset="-78"/>
              </a:rPr>
              <a:t> takes a subjunctive.</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يَنْبَغِي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necessity</a:t>
            </a:r>
            <a:endParaRPr lang="en-US" sz="125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يَنْبَغِي أَنْ</a:t>
            </a:r>
            <a:pPr algn="l" indent="0" marL="0">
              <a:buNone/>
            </a:pPr>
            <a:r>
              <a:rPr lang="en-US" sz="1050" i="1" dirty="0">
                <a:solidFill>
                  <a:srgbClr val="8A6D1E"/>
                </a:solidFill>
                <a:latin typeface="Calibri" pitchFamily="34" charset="0"/>
                <a:cs typeface="Amiri" pitchFamily="2" charset="-78"/>
              </a:rPr>
              <a:t> is impersonal necessity.</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81" name="Text 79"/>
          <p:cNvSpPr txBox="1"/>
          <p:nvPr/>
        </p:nvSpPr>
        <p:spPr>
          <a:xfrm>
            <a:off x="6225845"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لِكَيْ</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purpose</a:t>
            </a:r>
            <a:endParaRPr lang="en-US" sz="125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volition</a:t>
            </a:r>
            <a:endParaRPr lang="en-US" sz="125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لِكَيْ</a:t>
            </a:r>
            <a:pPr algn="l" indent="0" marL="0">
              <a:buNone/>
            </a:pPr>
            <a:r>
              <a:rPr lang="en-US" sz="1050" i="1" dirty="0">
                <a:solidFill>
                  <a:srgbClr val="8A6D1E"/>
                </a:solidFill>
                <a:latin typeface="Calibri" pitchFamily="34" charset="0"/>
                <a:cs typeface="Amiri" pitchFamily="2" charset="-78"/>
              </a:rPr>
              <a:t> is the purpose trigger.</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97" name="Text 95"/>
          <p:cNvSpPr txBox="1"/>
          <p:nvPr/>
        </p:nvSpPr>
        <p:spPr>
          <a:xfrm>
            <a:off x="10044989" y="4224528"/>
            <a:ext cx="1577035" cy="475488"/>
          </a:xfrm>
          <a:prstGeom prst="rect">
            <a:avLst/>
          </a:prstGeom>
          <a:noFill/>
          <a:ln/>
        </p:spPr>
        <p:txBody>
          <a:bodyPr wrap="square" lIns="0" tIns="0" rIns="0" bIns="0" rtlCol="0" anchor="ctr"/>
          <a:lstStyle/>
          <a:p>
            <a:pPr algn="l" indent="0" marL="0">
              <a:buNone/>
            </a:pPr>
            <a:r>
              <a:rPr lang="ar-SA" altLang="en-US" sz="1950" b="1" dirty="0">
                <a:solidFill>
                  <a:srgbClr val="1F2A37"/>
                </a:solidFill>
                <a:latin typeface="Amiri" pitchFamily="2" charset="-78"/>
                <a:cs typeface="Amiri" pitchFamily="2" charset="-78"/>
              </a:rPr>
              <a:t>يَتَطَلَّبُ أَنْ</a:t>
            </a:r>
            <a:pPr algn="l" indent="0" marL="0">
              <a:buNone/>
            </a:pPr>
            <a:r>
              <a:rPr lang="en-US" sz="1500" b="1" dirty="0">
                <a:solidFill>
                  <a:srgbClr val="1F2A37"/>
                </a:solidFill>
                <a:latin typeface="Calibri" pitchFamily="34" charset="0"/>
                <a:cs typeface="Amiri" pitchFamily="2" charset="-78"/>
              </a:rPr>
              <a:t> is …</a:t>
            </a:r>
            <a:endParaRPr lang="en-US" sz="1500" dirty="0"/>
          </a:p>
        </p:txBody>
      </p:sp>
      <p:sp>
        <p:nvSpPr>
          <p:cNvPr id="98" name="Shape 96"/>
          <p:cNvSpPr/>
          <p:nvPr/>
        </p:nvSpPr>
        <p:spPr>
          <a:xfrm>
            <a:off x="8278368" y="4831080"/>
            <a:ext cx="256032" cy="256032"/>
          </a:xfrm>
          <a:prstGeom prst="ellipse">
            <a:avLst/>
          </a:prstGeom>
          <a:solidFill>
            <a:srgbClr val="C9CED6"/>
          </a:solidFill>
          <a:ln w="12700">
            <a:solidFill>
              <a:srgbClr val="C9CED6"/>
            </a:solidFill>
            <a:prstDash val="solid"/>
          </a:ln>
        </p:spPr>
      </p:sp>
      <p:sp>
        <p:nvSpPr>
          <p:cNvPr id="99" name="Text 97"/>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0" name="Text 98"/>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necessity</a:t>
            </a:r>
            <a:endParaRPr lang="en-US" sz="1250" dirty="0"/>
          </a:p>
        </p:txBody>
      </p:sp>
      <p:sp>
        <p:nvSpPr>
          <p:cNvPr id="101" name="Shape 99"/>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2" name="Shape 100"/>
          <p:cNvSpPr/>
          <p:nvPr/>
        </p:nvSpPr>
        <p:spPr>
          <a:xfrm>
            <a:off x="8278368" y="5202936"/>
            <a:ext cx="256032" cy="256032"/>
          </a:xfrm>
          <a:prstGeom prst="ellipse">
            <a:avLst/>
          </a:prstGeom>
          <a:solidFill>
            <a:srgbClr val="2E8B57"/>
          </a:solidFill>
          <a:ln w="12700">
            <a:solidFill>
              <a:srgbClr val="2E8B57"/>
            </a:solidFill>
            <a:prstDash val="solid"/>
          </a:ln>
        </p:spPr>
      </p:sp>
      <p:sp>
        <p:nvSpPr>
          <p:cNvPr id="103" name="Text 101"/>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4" name="Text 102"/>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volition</a:t>
            </a:r>
            <a:endParaRPr lang="en-US" sz="1250" dirty="0"/>
          </a:p>
        </p:txBody>
      </p:sp>
      <p:sp>
        <p:nvSpPr>
          <p:cNvPr id="105" name="Shape 103"/>
          <p:cNvSpPr/>
          <p:nvPr/>
        </p:nvSpPr>
        <p:spPr>
          <a:xfrm>
            <a:off x="8278368" y="5574792"/>
            <a:ext cx="256032" cy="256032"/>
          </a:xfrm>
          <a:prstGeom prst="ellipse">
            <a:avLst/>
          </a:prstGeom>
          <a:solidFill>
            <a:srgbClr val="C9CED6"/>
          </a:solidFill>
          <a:ln w="12700">
            <a:solidFill>
              <a:srgbClr val="C9CED6"/>
            </a:solidFill>
            <a:prstDash val="solid"/>
          </a:ln>
        </p:spPr>
      </p:sp>
      <p:sp>
        <p:nvSpPr>
          <p:cNvPr id="106" name="Text 104"/>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5"/>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purpose</a:t>
            </a:r>
            <a:endParaRPr lang="en-US" sz="1250" dirty="0"/>
          </a:p>
        </p:txBody>
      </p:sp>
      <p:sp>
        <p:nvSpPr>
          <p:cNvPr id="108" name="Text 106"/>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يَتَطَلَّبُ أَنْ</a:t>
            </a:r>
            <a:pPr algn="l" indent="0" marL="0">
              <a:buNone/>
            </a:pPr>
            <a:r>
              <a:rPr lang="en-US" sz="1050" i="1" dirty="0">
                <a:solidFill>
                  <a:srgbClr val="8A6D1E"/>
                </a:solidFill>
                <a:latin typeface="Calibri" pitchFamily="34" charset="0"/>
                <a:cs typeface="Amiri" pitchFamily="2" charset="-78"/>
              </a:rPr>
              <a:t> is a volition trigger.</a:t>
            </a:r>
            <a:endParaRPr lang="en-US" sz="1050" dirty="0"/>
          </a:p>
        </p:txBody>
      </p:sp>
      <p:sp>
        <p:nvSpPr>
          <p:cNvPr id="109"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P4-L04 · Policy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P4 · The Built and Natural World · P4-L04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P4-L05 · Natural Disasters — Describing and Responding to Extreme Events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زِلْزَالٌ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earthquake</a:t>
            </a:r>
            <a:pPr indent="0" marL="0">
              <a:buNone/>
            </a:pPr>
            <a:r>
              <a:rPr lang="en-US" sz="1000" i="1" dirty="0">
                <a:solidFill>
                  <a:srgbClr val="5A6472"/>
                </a:solidFill>
                <a:latin typeface="Calibri" pitchFamily="34" charset="0"/>
                <a:cs typeface="Amiri" pitchFamily="2" charset="-78"/>
              </a:rPr>
              <a:t>  pl. زَلَازِلُ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فَيَضَانٌ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flood</a:t>
            </a:r>
            <a:pPr indent="0" marL="0">
              <a:buNone/>
            </a:pPr>
            <a:r>
              <a:rPr lang="en-US" sz="1000" i="1" dirty="0">
                <a:solidFill>
                  <a:srgbClr val="5A6472"/>
                </a:solidFill>
                <a:latin typeface="Calibri" pitchFamily="34" charset="0"/>
                <a:cs typeface="Amiri" pitchFamily="2" charset="-78"/>
              </a:rPr>
              <a:t>  pl. فَيَضَانَاتٌ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إِجْلَاءٌ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evacuation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إِغَاثَةٌ إِنْسَانِيَّةٌ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humanitarian relief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دُمِّرَتْ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were destroyed</a:t>
            </a:r>
            <a:pPr indent="0" marL="0">
              <a:buNone/>
            </a:pPr>
            <a:r>
              <a:rPr lang="en-US" sz="1000" i="1" dirty="0">
                <a:solidFill>
                  <a:srgbClr val="5A6472"/>
                </a:solidFill>
                <a:latin typeface="Calibri" pitchFamily="34" charset="0"/>
                <a:cs typeface="Amiri" pitchFamily="2" charset="-78"/>
              </a:rPr>
              <a:t>  passive of دَمَّرَ</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natural disaster you have seen in the news. What happened, and who helped?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ضَرَبَ زِلْزَالٌ ______ وَدُمِّرَتْ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with yanbaghī an, min al-ḍarūrī an and min al-muhimm an (verbs in -a!).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subjunctives about water and label each trigger: purpose, volition or necessity.</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water-policy analysis.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P4-L04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P4-L05 · Natural Disasters — Describing and Responding to Extreme Events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الكَوَارِثُ الطَّبِيعِيَّةُ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yanbaghī an · min al-ḍarūrī an · min al-muhimm an + a verb in -A — three triggers (purpose, volition, necessity), one ending — warn with idhā … sa-, regret with law … la- (or la-mā), and cite with akkada anna.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P4-L04 · Water in the Arab World — Scarcity, Management and the Future</dc:title>
  <dc:subject>PptxGenJS Presentation</dc:subject>
  <dc:creator>Al Madina Online School · Arabic Department</dc:creator>
  <cp:lastModifiedBy>Al Madina Online School · Arabic Department</cp:lastModifiedBy>
  <cp:revision>1</cp:revision>
  <dcterms:created xsi:type="dcterms:W3CDTF">2026-10-11T06:43:18Z</dcterms:created>
  <dcterms:modified xsi:type="dcterms:W3CDTF">2026-10-11T06:43:18Z</dcterms:modified>
</cp:coreProperties>
</file>