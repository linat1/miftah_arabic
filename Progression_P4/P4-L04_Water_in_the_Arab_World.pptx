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P4-L04. The website lesson “Water in the Arab World — Scarcity, Management and the Future”: vocabulary, grammar rules and quiz, patterns, common mistakes, sorter, listening, reading, speaking prompts and model, writing task and model, differentiation, final check and the lesson mission. Picture match: website visual game “Water in the Arab World — Scarcity, Management and the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sentences with yanbaghī an, min al-ḍarūrī an and min al-muhimm an (website Core). Develop: sort five subjunctives by trigger and add both conditionals. Stretch: a full 100–110-word water-policy analysis.
• Make it local first: how much water does your family use in a day? Then zoom out to the region. Faith link (optional): «وَجَعَلْنَا مِنَ المَاءِ كُلَّ شَيْءٍ حَيٍّ» (al-Anbiyāʾ 21:30) and «وَلَا تُسْرِفُوا» (al-Aʿrāf 7:31) — water is a trust, not something to waste.
• Nothing here is new grammar — an + a verb in -a has appeared after li-kay (P4-L01) and after volition verbs (P4-L03). Today adds the third trigger (necessity) and pulls the whole system together.
• Grammar links: li-kay (P4-L01) · passive and planning verbs (P4-L02) · volition verbs (P4-L03) · both conditionals (P3-L05) · reported speech (P3-L06).
• TEACHER-WRITTEN ITEMS: waṣl alif shown without a kasra; لِكَيْ always written with its sukūn; rule headings and formulas in transliteration; rule-4 examples shown without their English labels; Core and Stretch writing tasks in transliteration; listening question 2 and reading question 4 answers shortened to fit; sorter headings and trigger-word glosses in transliteration; game cards 0, 2 and 4 not used; the necessity, trigger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P4-L03. Questions 4–5 retrieve the volition verbs (P4-L03) — today they become one of the three triggers.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 purpose, volition, necessity — and after each one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حصہ and زراعت are shared. Urdu اہم is really the Arabic comparative أَهَمُّ (more important); in Arabic “important” is مُهِمٌّ. Careful: Urdu ادارہ is an institution; Arabic إِدَارَةُ المِيَاهِ is water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Water scarcity and management (website vocabulary (1 of 2)). Hear → Say → See → Use. Transliteration is printed for Core students (cover it for Develop/Stretch).
Water scarcity and management: the vocabulary of a water-policy report. نَدْرَةٌ is also pronounced نُدْرَةٌ (both are correct — the website game uses نُدْرَة). مِيَاهٌ is the plural of مَاءٌ; Arabic reports almost always use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Water scarcity and management (website vocabulary (2 of 2)). Hear → Say → See → Use. Transliteration is printed for Core students (cover it for Develop/Stretch).
Water scarcity and management: the vocabulary of a water-policy report. نَدْرَةٌ is also pronounced نُدْرَةٌ (both are correct — the website game uses نُدْرَة). مِيَاهٌ is the plural of مَاءٌ; Arabic reports almost always use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Necessity expressions (+ subjunctive) (website vocabulary (1 of 2)). Hear → Say → See → Use. Transliteration is printed for Core students (cover it for Develop/Stretch).
Necessity expressions: يَنْبَغِي أَنْ / مِنَ الضَّرُورِيِّ أَنْ / مِنَ المُهِمِّ أَنْ never change for the person — the verb after أَنْ carries the subject and ends in -a. يُعَالِجُ / يَسْتَخْرِجُ / يُعِيدُ تَدْوِيرَ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Necessity expressions (+ subjunctive) (website vocabulary (2 of 2)). Hear → Say → See → Use. Transliteration is printed for Core students (cover it for Develop/Stretch).
FLEX: teach if time allows; otherwise these are on the website vocabulary tab for homework.
Necessity expressions: يَنْبَغِي أَنْ / مِنَ الضَّرُورِيِّ أَنْ / مِنَ المُهِمِّ أَنْ never change for the person — the verb after أَنْ carries the subject and ends in -a. يُعَالِجُ / يَسْتَخْرِجُ / يُعِيدُ تَدْوِيرَ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(1 of 2)). Hear → Say → See → Use. Transliteration is printed for Core students (cover it for Develop/Stretch).
FLEX: teach if time allows; otherwise these are on the website vocabulary tab for homework.
The three triggers: today’s map of the whole subjunctive system — purpose (li-kay), volition (yataṭallabu an), necessity (yanbaghī an). The last two words are the farming solution: water-saving agriculture and modern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(2 of 2)). Hear → Say → See → Use. Transliteration is printed for Core students (cover it for Develop/Stretch).
FLEX: teach if time allows; otherwise these are on the website vocabulary tab for homework.
The three triggers: today’s map of the whole subjunctive system — purpose (li-kay), volition (yataṭallabu an), necessity (yanbaghī an). The last two words are the farming solution: water-saving agriculture and modern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1–3, the website table and teaching point 1 (“Impersonal necessity always takes the subjunctive”). Row 4 is from the website speaking model; row 5 is from the website visual game.
“Impersonal” = the expression itself never changes: يَنْبَغِي أَنْ أَدْرُسَ · يَنْبَغِي أَنْ تَدْرُسِي · يَنْبَغِي أَنْ يَدْرُسُوا. The person goes on the verb after أَنْ.
Row 3: the verb is singular before a plural subject (يُعِيدَ المُزَارِعُونَ) — verb-first agreement. Row 5: يَجِبُ can also take a maṣdar instead of أَنْ + verb (يَجِبُ تَرْشِيدُ = rationing is a must). Both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4 (“Three triggers”), teaching point 2 (“Three triggers, one mood”) and examples from the website sorter, reading and listening.
Ask the question in column 3 to find the trigger: WHY? → purpose · WANTED / FEARED / HOPED? → volition · MUST? → necessity.
Row 3: تَنْفَدَ (to run out) — sound verb, fatḥa. Do not confuse it with سَيَسْتَنْفِدُ (will exhaust) in the listening. Row 4: يَتَحَقَّقَ — the hope is that water security is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quiz 7, mission rounds 11–12, the reading (card 2), the listening (card 3) and mistake 3.
Card 2 is new: a NEGATIVE Type 2 result uses لَمَا + past (لَمَا وَصَلَتْ = would not have reached). Positive: لَـ + past (لَكَانَتْ). أُدِيرَتْ is a passive (P4-L02): “had been managed”.
Do not confuse أَنْ and أَنَّ: يَنْبَغِي أَنْ + a VERB in -a · أَكَّدَ أَنَّ + a NOUN in -a (أَنَّ التَّعَاوُنَ).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1: أَشَدُّ + definite plural = “one of the most severe” · Row 4: أَخْطَرُ + indefinite singular = “THE gravest”. Row 3: إِذْ = since, as (gives a reason). Row 5: حَقٌّ لَا امْتِيَازٌ = a right, not a privilege — لَا here contrasts two nouns.
Accuracy: the World Bank describes the Middle East and North Africa as home to about 6% of the world’s people but only around 1–2% of its renewable fresh water — sources vary slightly, so “less than one percent” is the website’s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“يَنْبَغِي، مِنَ الضَّرُورِيِّ، مِنَ المُهِمِّ + أَنْ take the subjunctive; the three triggers (purpose, volition, necessity) are drawn together.”
• yanbaghī an: It is necessary / one should.
• min al-ḍarūrī an: It is essential.
• min al-muhimm an: It is important.
• Three triggers: Purpose, volition and necessity all take the subjunctive.
Website common error: Using the indicative (تُطَوِّرُ) after an impersonal necessity expression. يَنْبَغِي / مِنَ الضَّرُورِيِّ / مِنَ المُهِمِّ + أَنْ always take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“How serious? yushāru ilā ANNA + a noun. The real risk: idhā … SA-yastanfidu. The regret: law … LA-kānat. What must happen? yanbaghī AN tuṭawwirA · min al-muhimm AN taʿtamidA. Why? li-kay tuqallilA. Three triggers, one ending: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Water in the Arab World — Scarcity, Management and the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necessity: يَنْبَغِي أَنْ نُرَشِّدَ اسْتِهْلَاكَ المِيَاهِ · مِنَ الضَّرُورِيِّ أَنْ تُطَوِّرَ الدُّوَلُ التَّحْلِيَةَ · مِنَ المُهِمِّ أَنْ نُصْلِحَ التَّسَرُّبَاتِ لِكَيْ نُقَلِّلَ الهَدْرَ.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Water in the Arab World — Scarcity, Management and the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necessity: يَنْبَغِي أَنْ نُرَشِّدَ اسْتِهْلَاكَ المِيَاهِ · مِنَ الضَّرُورِيِّ أَنْ تُطَوِّرَ الدُّوَلُ التَّحْلِيَةَ · مِنَ المُهِمِّ أَنْ نُصْلِحَ التَّسَرُّبَاتِ لِكَيْ نُقَلِّلَ الهَدْرَ.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water-policy argument from a necessity, a purpose clause and a reflection.” Website feedback: any three different combinations work.
Core: read row 1 across. Develop: label column 3 — Type 2 (row 1), Type 1 (row 2), cited expert (row 3). Stretch: say your own necessity + purpose about water at school.
Note column 3 row 1: اسْتُثْمِرَ is an impersonal passive (“had it been invested”).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Ask the question for each card: WHY? (purpose) · WANTED, FEARED, HOPED? (volition) · MUST? (necessity). Then read each card aloud and stress the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Ask the question for each card: WHY? (purpose) · WANTED, FEARED, HOPED? (volition) · MUST? (necessity). Then read each card aloud and stress the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5. Develop / Stretch: all 5 — and write down every verb after an and li-kay with its final -a.
Listen 1: just listen. Listen 2: note answers. Then chat the letters.
Support: after the second listening, show the read-along slide (Arabic + English, line by line) for Core students.
SCRIPT (read aloud):
يُشَارُ إِلَى أَنَّ المِنْطَقَةَ العَرَبِيَّةَ تُعَانِي مِنْ أَشَدِّ أَزَمَاتِ المِيَاهِ فِي العَالَمِ. فَهِيَ تَضُمُّ أَقَلَّ مِنْ وَاحِدٍ بِالمِئَةِ مِنْ مَوَارِدِ المِيَاهِ العَذْبَةِ. إِذَا اسْتَمَرَّتْ مُعَدَّلَاتُ الاسْتِهْلَاكِ الحَالِيَّةُ، سَيَسْتَنْفِدُ كَثِيرٌ مِنْ دُوَلِ الخَلِيجِ مَخْزُونَهُ الجَوْفِيَّ خِلَالَ عُقُودٍ. وَلَوِ اسْتَثْمَرَتِ الدُّوَلُ فِي التَّحْلِيَةِ مُبَكِّرًا، لَكَانَتِ الأَزْمَةُ أَقَلَّ حِدَّةً. لِذٰلِكَ يَنْبَغِي أَنْ تُطَوِّرَ الدُّوَلُ سِيَاسَاتِ مِيَاهٍ مُتَكَامِلَةً. وَمِنَ الضَّرُورِيِّ أَنْ تَتَعَاوَنَ الدُّوَلُ المُجَاوِرَةُ فِي إِدَارَةِ المَوَارِدِ المُشْتَرَكَةِ. وَمِنَ المُهِمِّ أَنْ تَعْتَمِدَ الزِّرَاعَةُ الرِّيَّ الحَدِيثَ لِكَيْ تُقَلِّلَ الهَدْرَ. وَأَكَّدَ خُبَرَاءُ الأُمَمِ المُتَّحِدَةِ أَنَّ التَّعَاوُنَ الإِقْلِيمِيَّ هُوَ الحَلُّ.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مِنَ الرِّيِّ الحَدِيثِ؟ (Purpose)
B: تَعْتَمِدُ الزِّرَاعَةُ الرِّيَّ الحَدِيثَ لِكَيْ تُقَلِّلَ الهَدْرَ، وَلَوْ فَعَلْنَا ذٰلِكَ سَابِقًا لَوَفَّرْنَا الكَثِيرَ. (لِكَيْ + a Type 2)
Website prompts and model. Pair task: “water pledge” — A names a problem, B answers with a necessity, A adds a purpose with li-kay. Partner checks every -a after an and li-kay.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sentences with yanbaghī an, min al-ḍarūrī an and min al-muhimm an. · Develop — Classify five subjunctives by trigger: purpose, volition or necessity. · Stretch — Write a full water-policy analysis using all three triggers and both conditionals.
Website writing task (Stretch): Write one hundred to one hundred and ten words analysing water in the Arab world. Use yanbaghī an, min al-ḍarūrī an and min al-muhimm an, both conditional types, a li-kay purpose clause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يُشَارُ إِلَى أَنَّ · إِذْ تَفْتَقِرُ إِلَى · إِذَا اسْتَمَرَّتْ … سَيَسْتَنْفِدُ · لَوِ اسْتَثْمَرَتِ … لَكَانَتِ · يَنْبَغِي أَنْ تُطَوِّرَ · مِنَ الضَّرُورِيِّ أَنْ تَتَعَاوَنَ · مِنَ المُهِمِّ أَنْ تَعْتَمِدَ · لِكَيْ تُقَلِّلَ · أَكَّدَ … أَنَّ.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(P4-L05 · Natural Disasters — Describing and Responding to Extreme Events) will spend class time USING this language, so students prepare it tonight — short, simple, easy to access (school guidance: “Simple, Short, Interesting, Relevant, Easy to access”). The five words come from the website P4-L05 vocabulary (natural disasters).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Water in the Arab World — Scarcity, Management and the Future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ea typeface="Amiri" pitchFamily="2" charset="-78"/>
                <a:cs typeface="Amiri" pitchFamily="2" charset="-78"/>
              </a:rPr>
              <a:t>المِيَاهُ فِي العَالَمِ العَرَبِيِّ — النَّدْرَةُ وَالإِدَارَةُ وَالمُسْتَقْبَلُ</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Analyse water scarcity and propose policy with impersonal necessity — yanbaghī an, min al-ḍarūrī an, min al-muhimm an, each + a verb in -a — and sort every subjunctive by its trigger: purpose, volition or necessity.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P4-L04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00" dirty="0">
                <a:solidFill>
                  <a:srgbClr val="1F2A37"/>
                </a:solidFill>
                <a:latin typeface="Calibri" pitchFamily="34" charset="0"/>
                <a:cs typeface="Amiri" pitchFamily="2" charset="-78"/>
              </a:rPr>
              <a:t>Necessity expressions + an, the verb in -a, the three triggers, risk / counterfactual / citation, water-policy register.</a:t>
            </a:r>
            <a:endParaRPr lang="en-US" sz="10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water pictures, build a water-policy argument,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نَدْرَةُ المِيَاهِ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مِيَاهٌ جَوْفِيَّةٌ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fears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necessary that, should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يَخْشَى العُلَمَاءُ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الحَرَارَةُ حَدًّا خَطِيرًا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تَجَاوَزَتْ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hope?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يَرْجُو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نَدْرَةُ المِيَاهِ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pollution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مِيَاهٌ جَوْفِيَّةٌ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groundwater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fears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necessary that, should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يَخْشَى العُلَمَاءُ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الحَرَارَةُ حَدًّا خَطِيرًا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تَتَجَاوَزُ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تَجَاوَزَتْ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تَتَجَاوَزَ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P4-L03: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hope?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يَرْجُو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يَخْشَى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P4-L03: yarjū an = he hopes that.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triggers — purpose, volition, necessity — and after each one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تُقَلِّلَ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يَتَطَلَّبُ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تَسْتَثْمِرَ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يَنْبَغِي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تُطَوِّرَ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water scarcity and management with policy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yanbaghī an, min al-ḍarūrī an and min al-muhimm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a subjunctive by its trigger: purpose, volition or necessity.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water-policy analysis combining all P4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water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yanbaghī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min al-ḍarūrī an and min al-muhimm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sort a subjunctive by its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real risk, a counterfactual and a cited report.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water-policy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Water scarcity and management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Necessity expressions (+ subjunctive)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three subjunctive triggers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zarūrī · necessary, essential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مُهِمٌّ · أَهَمُّ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‎اہم‎ </a:t>
            </a:r>
            <a:pPr indent="0" marL="0">
              <a:buNone/>
            </a:pPr>
            <a:r>
              <a:rPr lang="en-US" sz="950" b="1" dirty="0">
                <a:solidFill>
                  <a:srgbClr val="2E8B57"/>
                </a:solidFill>
                <a:latin typeface="Calibri" pitchFamily="34" charset="0"/>
                <a:cs typeface="Amiri" pitchFamily="2" charset="-78"/>
              </a:rPr>
              <a:t> aham · important (Urdu takes the Arabic comparative)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‎حصہ‎ </a:t>
            </a:r>
            <a:pPr indent="0" marL="0">
              <a:buNone/>
            </a:pPr>
            <a:r>
              <a:rPr lang="en-US" sz="950" b="1" dirty="0">
                <a:solidFill>
                  <a:srgbClr val="2E8B57"/>
                </a:solidFill>
                <a:latin typeface="Calibri" pitchFamily="34" charset="0"/>
                <a:cs typeface="Amiri" pitchFamily="2" charset="-78"/>
              </a:rPr>
              <a:t> hissa · a share, a quota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زِرَاعَةٌ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‎زراعت‎ </a:t>
            </a:r>
            <a:pPr indent="0" marL="0">
              <a:buNone/>
            </a:pPr>
            <a:r>
              <a:rPr lang="en-US" sz="950" b="1" dirty="0">
                <a:solidFill>
                  <a:srgbClr val="2E8B57"/>
                </a:solidFill>
                <a:latin typeface="Calibri" pitchFamily="34" charset="0"/>
                <a:cs typeface="Amiri" pitchFamily="2" charset="-78"/>
              </a:rPr>
              <a:t> zirāʿat · agriculture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إِدَارَةٌ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‎ادارہ‎ </a:t>
            </a:r>
            <a:pPr indent="0" marL="0">
              <a:buNone/>
            </a:pPr>
            <a:r>
              <a:rPr lang="en-US" sz="950" b="1" dirty="0">
                <a:solidFill>
                  <a:srgbClr val="2E8B57"/>
                </a:solidFill>
                <a:latin typeface="Calibri" pitchFamily="34" charset="0"/>
                <a:cs typeface="Amiri" pitchFamily="2" charset="-78"/>
              </a:rPr>
              <a:t> idāra · Arabic: management · Urdu: an institution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Water scarcity and management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نَدْرَةُ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nad-ra-tu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المِيَاهِ</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water quota</a:t>
            </a:r>
            <a:endParaRPr lang="en-US" sz="1350" dirty="0"/>
          </a:p>
          <a:p>
            <a:pPr indent="0" marL="0">
              <a:buNone/>
            </a:pPr>
            <a:r>
              <a:rPr lang="en-US" sz="1100" i="1" dirty="0">
                <a:solidFill>
                  <a:srgbClr val="5A6472"/>
                </a:solidFill>
                <a:latin typeface="Calibri" pitchFamily="34" charset="0"/>
                <a:cs typeface="Amiri" pitchFamily="2" charset="-78"/>
              </a:rPr>
              <a:t>ḥiṣ-ṣa-tu al-mi-yā-hi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 المِيَاهِ</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المِيَاهِ</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management</a:t>
            </a:r>
            <a:endParaRPr lang="en-US" sz="1350" dirty="0"/>
          </a:p>
          <a:p>
            <a:pPr indent="0" marL="0">
              <a:buNone/>
            </a:pPr>
            <a:r>
              <a:rPr lang="en-US" sz="1100" i="1" dirty="0">
                <a:solidFill>
                  <a:srgbClr val="5A6472"/>
                </a:solidFill>
                <a:latin typeface="Calibri" pitchFamily="34" charset="0"/>
                <a:cs typeface="Amiri" pitchFamily="2" charset="-78"/>
              </a:rPr>
              <a:t>i-dā-ra-tu al-mi-yā-hi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مِيَاهٌ جَوْفِيَّةٌ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groundwater</a:t>
            </a:r>
            <a:endParaRPr lang="en-US" sz="1350" dirty="0"/>
          </a:p>
          <a:p>
            <a:pPr indent="0" marL="0">
              <a:buNone/>
            </a:pPr>
            <a:r>
              <a:rPr lang="en-US" sz="1100" i="1" dirty="0">
                <a:solidFill>
                  <a:srgbClr val="5A6472"/>
                </a:solidFill>
                <a:latin typeface="Calibri" pitchFamily="34" charset="0"/>
                <a:cs typeface="Amiri" pitchFamily="2" charset="-78"/>
              </a:rPr>
              <a:t>mi-yā-hun jaw-fiy-ya-tun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مَاءٌ جَوْفِيٌّ</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تَحْلِيَةُ المِيَاهِ</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desalination</a:t>
            </a:r>
            <a:endParaRPr lang="en-US" sz="1350" dirty="0"/>
          </a:p>
          <a:p>
            <a:pPr indent="0" marL="0">
              <a:buNone/>
            </a:pPr>
            <a:r>
              <a:rPr lang="en-US" sz="1100" i="1" dirty="0">
                <a:solidFill>
                  <a:srgbClr val="5A6472"/>
                </a:solidFill>
                <a:latin typeface="Calibri" pitchFamily="34" charset="0"/>
                <a:cs typeface="Amiri" pitchFamily="2" charset="-78"/>
              </a:rPr>
              <a:t>taḥ-li-ya-tu al-mi-yā-hi</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Water scarcity and management (2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اسْتِخْدَامِ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reuse</a:t>
            </a:r>
            <a:endParaRPr lang="en-US" sz="1350" dirty="0"/>
          </a:p>
          <a:p>
            <a:pPr indent="0" marL="0">
              <a:buNone/>
            </a:pPr>
            <a:r>
              <a:rPr lang="en-US" sz="1100" i="1" dirty="0">
                <a:solidFill>
                  <a:srgbClr val="5A6472"/>
                </a:solidFill>
                <a:latin typeface="Calibri" pitchFamily="34" charset="0"/>
                <a:cs typeface="Amiri" pitchFamily="2" charset="-78"/>
              </a:rPr>
              <a:t>i-ʿā-da-tu as-tikh-dā-mi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سَدٌّ</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dam</a:t>
            </a:r>
            <a:endParaRPr lang="en-US" sz="1350" dirty="0"/>
          </a:p>
          <a:p>
            <a:pPr indent="0" marL="0">
              <a:buNone/>
            </a:pPr>
            <a:r>
              <a:rPr lang="en-US" sz="1100" i="1" dirty="0">
                <a:solidFill>
                  <a:srgbClr val="5A6472"/>
                </a:solidFill>
                <a:latin typeface="Calibri" pitchFamily="34" charset="0"/>
                <a:cs typeface="Amiri" pitchFamily="2" charset="-78"/>
              </a:rPr>
              <a:t>sad-dun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سُدُودٌ</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 مِيَاهٍ</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water reservoir</a:t>
            </a:r>
            <a:endParaRPr lang="en-US" sz="1350" dirty="0"/>
          </a:p>
          <a:p>
            <a:pPr indent="0" marL="0">
              <a:buNone/>
            </a:pPr>
            <a:r>
              <a:rPr lang="en-US" sz="1100" i="1" dirty="0">
                <a:solidFill>
                  <a:srgbClr val="5A6472"/>
                </a:solidFill>
                <a:latin typeface="Calibri" pitchFamily="34" charset="0"/>
                <a:cs typeface="Amiri" pitchFamily="2" charset="-78"/>
              </a:rPr>
              <a:t>khaz-zā-nu mi-yā-hin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خَزَّانَاتُ مِيَاهٍ</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أَمْنٌ مَائِيٌّ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security</a:t>
            </a:r>
            <a:endParaRPr lang="en-US" sz="1350" dirty="0"/>
          </a:p>
          <a:p>
            <a:pPr indent="0" marL="0">
              <a:buNone/>
            </a:pPr>
            <a:r>
              <a:rPr lang="en-US" sz="1100" i="1" dirty="0">
                <a:solidFill>
                  <a:srgbClr val="5A6472"/>
                </a:solidFill>
                <a:latin typeface="Calibri" pitchFamily="34" charset="0"/>
                <a:cs typeface="Amiri" pitchFamily="2" charset="-78"/>
              </a:rPr>
              <a:t>am-nun mā-ʾiy-yun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Necessity expressions (+ subjunctive)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 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essential that</a:t>
            </a:r>
            <a:endParaRPr lang="en-US" sz="1350" dirty="0"/>
          </a:p>
          <a:p>
            <a:pPr indent="0" marL="0">
              <a:buNone/>
            </a:pPr>
            <a:r>
              <a:rPr lang="en-US" sz="1100" i="1" dirty="0">
                <a:solidFill>
                  <a:srgbClr val="5A6472"/>
                </a:solidFill>
                <a:latin typeface="Calibri" pitchFamily="34" charset="0"/>
                <a:cs typeface="Amiri" pitchFamily="2" charset="-78"/>
              </a:rPr>
              <a:t>mi-na aḍ-ḍa-rū-riy-yi 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المُهِمِّ أَنْ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that</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5" name="Shape 42"/>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يُعَالِجُ</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treats, processes</a:t>
            </a:r>
            <a:endParaRPr lang="en-US" sz="1350" dirty="0"/>
          </a:p>
          <a:p>
            <a:pPr indent="0" marL="0">
              <a:buNone/>
            </a:pPr>
            <a:r>
              <a:rPr lang="en-US" sz="1100" i="1" dirty="0">
                <a:solidFill>
                  <a:srgbClr val="5A6472"/>
                </a:solidFill>
                <a:latin typeface="Calibri" pitchFamily="34" charset="0"/>
                <a:cs typeface="Amiri" pitchFamily="2" charset="-78"/>
              </a:rPr>
              <a:t>yu-ʿā-li-ju</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تُعَالِجُ</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Necessity expressions (+ subjunctive) (2 of 2)</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يَسْتَخْرِجُ</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extracts</a:t>
            </a:r>
            <a:endParaRPr lang="en-US" sz="1350" dirty="0"/>
          </a:p>
          <a:p>
            <a:pPr indent="0" marL="0">
              <a:buNone/>
            </a:pPr>
            <a:r>
              <a:rPr lang="en-US" sz="1100" i="1" dirty="0">
                <a:solidFill>
                  <a:srgbClr val="5A6472"/>
                </a:solidFill>
                <a:latin typeface="Calibri" pitchFamily="34" charset="0"/>
                <a:cs typeface="Amiri" pitchFamily="2" charset="-78"/>
              </a:rPr>
              <a:t>yas-takh-ri-ju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تَسْتَخْرِجُ</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تَدْوِيرَ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recycles</a:t>
            </a:r>
            <a:endParaRPr lang="en-US" sz="1350" dirty="0"/>
          </a:p>
          <a:p>
            <a:pPr indent="0" marL="0">
              <a:buNone/>
            </a:pPr>
            <a:r>
              <a:rPr lang="en-US" sz="1100" i="1" dirty="0">
                <a:solidFill>
                  <a:srgbClr val="5A6472"/>
                </a:solidFill>
                <a:latin typeface="Calibri" pitchFamily="34" charset="0"/>
                <a:cs typeface="Amiri" pitchFamily="2" charset="-78"/>
              </a:rPr>
              <a:t>yu-ʿī-du tad-wī-ra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تُعِيدُ تَدْوِيرَ</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 الوُصُولِ إِلَى المِيَاهِ</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to water access</a:t>
            </a:r>
            <a:endParaRPr lang="en-US" sz="1350" dirty="0"/>
          </a:p>
          <a:p>
            <a:pPr indent="0" marL="0">
              <a:buNone/>
            </a:pPr>
            <a:r>
              <a:rPr lang="en-US" sz="1100" i="1" dirty="0">
                <a:solidFill>
                  <a:srgbClr val="5A6472"/>
                </a:solidFill>
                <a:latin typeface="Calibri" pitchFamily="34" charset="0"/>
                <a:cs typeface="Amiri" pitchFamily="2" charset="-78"/>
              </a:rPr>
              <a:t>ḥaq-qu al-wu-ṣū-li i-lā al-mi-yā-hi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تَعَاوُنٌ إِقْلِيمِيٌّ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regional cooperation</a:t>
            </a:r>
            <a:endParaRPr lang="en-US" sz="1350" dirty="0"/>
          </a:p>
          <a:p>
            <a:pPr indent="0" marL="0">
              <a:buNone/>
            </a:pPr>
            <a:r>
              <a:rPr lang="en-US" sz="1100" i="1" dirty="0">
                <a:solidFill>
                  <a:srgbClr val="5A6472"/>
                </a:solidFill>
                <a:latin typeface="Calibri" pitchFamily="34" charset="0"/>
                <a:cs typeface="Amiri" pitchFamily="2" charset="-78"/>
              </a:rPr>
              <a:t>ta-ʿā-wu-nun iq-lī-miy-yun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three subjunctive triggers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إِرَادَةٌ: يَتَطَلَّبُ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volition: yataṭallabu an</a:t>
            </a:r>
            <a:endParaRPr lang="en-US" sz="1350" dirty="0"/>
          </a:p>
          <a:p>
            <a:pPr indent="0" marL="0">
              <a:buNone/>
            </a:pPr>
            <a:r>
              <a:rPr lang="en-US" sz="1100" i="1" dirty="0">
                <a:solidFill>
                  <a:srgbClr val="5A6472"/>
                </a:solidFill>
                <a:latin typeface="Calibri" pitchFamily="34" charset="0"/>
                <a:cs typeface="Amiri" pitchFamily="2" charset="-78"/>
              </a:rPr>
              <a:t>i-rā-da-tun-: ya-ta-ṭal-la-bu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ضَرُورَةٌ: يَنْبَغِي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yanbaghī an</a:t>
            </a:r>
            <a:endParaRPr lang="en-US" sz="1350" dirty="0"/>
          </a:p>
          <a:p>
            <a:pPr indent="0" marL="0">
              <a:buNone/>
            </a:pPr>
            <a:r>
              <a:rPr lang="en-US" sz="1100" i="1" dirty="0">
                <a:solidFill>
                  <a:srgbClr val="5A6472"/>
                </a:solidFill>
                <a:latin typeface="Calibri" pitchFamily="34" charset="0"/>
                <a:cs typeface="Amiri" pitchFamily="2" charset="-78"/>
              </a:rPr>
              <a:t>ḍa-rū-ra-tun-: yan-ba-ghī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three subjunctive triggers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ends in ḍamma.</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 المَرْفُوعُ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indicative present</a:t>
            </a:r>
            <a:endParaRPr lang="en-US" sz="1350" dirty="0"/>
          </a:p>
          <a:p>
            <a:pPr indent="0" marL="0">
              <a:buNone/>
            </a:pPr>
            <a:r>
              <a:rPr lang="en-US" sz="1100" i="1" dirty="0">
                <a:solidFill>
                  <a:srgbClr val="5A6472"/>
                </a:solidFill>
                <a:latin typeface="Calibri" pitchFamily="34" charset="0"/>
                <a:cs typeface="Amiri" pitchFamily="2" charset="-78"/>
              </a:rPr>
              <a:t>al-mu-ḍā-ri-ʿu al-mar-fū-ʿu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الزِّرَاعَةُ المُوَفِّرَةُ لِلْمِيَاهِ</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water-efficient agriculture</a:t>
            </a:r>
            <a:endParaRPr lang="en-US" sz="1350" dirty="0"/>
          </a:p>
          <a:p>
            <a:pPr indent="0" marL="0">
              <a:buNone/>
            </a:pPr>
            <a:r>
              <a:rPr lang="en-US" sz="1100" i="1" dirty="0">
                <a:solidFill>
                  <a:srgbClr val="5A6472"/>
                </a:solidFill>
                <a:latin typeface="Calibri" pitchFamily="34" charset="0"/>
                <a:cs typeface="Amiri" pitchFamily="2" charset="-78"/>
              </a:rPr>
              <a:t>az-zi-rā-ʿa-tu al-mu-waf-fi-ra-tu lil-mi-yā-hi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 الحَدِيثُ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irrigation</a:t>
            </a:r>
            <a:endParaRPr lang="en-US" sz="1350" dirty="0"/>
          </a:p>
          <a:p>
            <a:pPr indent="0" marL="0">
              <a:buNone/>
            </a:pPr>
            <a:r>
              <a:rPr lang="en-US" sz="1100" i="1" dirty="0">
                <a:solidFill>
                  <a:srgbClr val="5A6472"/>
                </a:solidFill>
                <a:latin typeface="Calibri" pitchFamily="34" charset="0"/>
                <a:cs typeface="Amiri" pitchFamily="2" charset="-78"/>
              </a:rPr>
              <a:t>ar-riy-yu al-ḥa-dī-thu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IMPERSONAL NECESSITY (WEBSITE RULES 1–3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Should, essential, important — + an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الضَّرُورَةُ غَيْرُ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73659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9992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تُطَوِّرَ</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تِقْنِيَّاتِ التَّحْلِيَةِ.</a:t>
            </a:r>
            <a:endParaRPr lang="ar-SA" sz="1700" dirty="0"/>
          </a:p>
        </p:txBody>
      </p:sp>
      <p:sp>
        <p:nvSpPr>
          <p:cNvPr id="22" name="Text 19"/>
          <p:cNvSpPr txBox="1"/>
          <p:nvPr/>
        </p:nvSpPr>
        <p:spPr>
          <a:xfrm>
            <a:off x="477316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303580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a:t>
            </a:r>
            <a:endParaRPr lang="en-US" sz="1100" dirty="0"/>
          </a:p>
        </p:txBody>
      </p:sp>
      <p:sp>
        <p:nvSpPr>
          <p:cNvPr id="24" name="Text 21"/>
          <p:cNvSpPr txBox="1"/>
          <p:nvPr/>
        </p:nvSpPr>
        <p:spPr>
          <a:xfrm>
            <a:off x="548640" y="2267712"/>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يَنْبَغِي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المُجَاوِرَةُ.</a:t>
            </a:r>
            <a:endParaRPr lang="ar-SA" sz="1700" dirty="0"/>
          </a:p>
        </p:txBody>
      </p:sp>
      <p:sp>
        <p:nvSpPr>
          <p:cNvPr id="29" name="Text 26"/>
          <p:cNvSpPr txBox="1"/>
          <p:nvPr/>
        </p:nvSpPr>
        <p:spPr>
          <a:xfrm>
            <a:off x="477316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303580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essential</a:t>
            </a:r>
            <a:endParaRPr lang="en-US" sz="1100" dirty="0"/>
          </a:p>
        </p:txBody>
      </p:sp>
      <p:sp>
        <p:nvSpPr>
          <p:cNvPr id="31" name="Text 28"/>
          <p:cNvSpPr txBox="1"/>
          <p:nvPr/>
        </p:nvSpPr>
        <p:spPr>
          <a:xfrm>
            <a:off x="548640" y="3004718"/>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مِنَ الضَّرُورِيِّ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المُهِمِّ أَنْ </a:t>
            </a:r>
            <a:pPr rtl="1" algn="ctr" indent="0" marL="0">
              <a:buNone/>
            </a:pPr>
            <a:r>
              <a:rPr lang="ar-SA" altLang="en-US" sz="1700" b="1" dirty="0">
                <a:solidFill>
                  <a:srgbClr val="0E7C86"/>
                </a:solidFill>
                <a:latin typeface="Amiri" pitchFamily="2" charset="-78"/>
                <a:ea typeface="Amiri" pitchFamily="2" charset="-78"/>
                <a:cs typeface="Amiri" pitchFamily="2" charset="-78"/>
              </a:rPr>
              <a:t>يُعِيدَ</a:t>
            </a:r>
            <a:pPr rtl="1" algn="ctr" indent="0" marL="0">
              <a:buNone/>
            </a:pPr>
            <a:r>
              <a:rPr lang="ar-SA" altLang="en-US" sz="1700" b="1" dirty="0">
                <a:solidFill>
                  <a:srgbClr val="1B3B6F"/>
                </a:solidFill>
                <a:latin typeface="Amiri" pitchFamily="2" charset="-78"/>
                <a:ea typeface="Amiri" pitchFamily="2" charset="-78"/>
                <a:cs typeface="Amiri" pitchFamily="2" charset="-78"/>
              </a:rPr>
              <a:t> المُزَارِعُونَ النَّظَرَ فِي الرِّيِّ.</a:t>
            </a:r>
            <a:endParaRPr lang="ar-SA" sz="1700" dirty="0"/>
          </a:p>
        </p:txBody>
      </p:sp>
      <p:sp>
        <p:nvSpPr>
          <p:cNvPr id="36" name="Text 33"/>
          <p:cNvSpPr txBox="1"/>
          <p:nvPr/>
        </p:nvSpPr>
        <p:spPr>
          <a:xfrm>
            <a:off x="477316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7" name="Text 34"/>
          <p:cNvSpPr txBox="1"/>
          <p:nvPr/>
        </p:nvSpPr>
        <p:spPr>
          <a:xfrm>
            <a:off x="303580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important</a:t>
            </a:r>
            <a:endParaRPr lang="en-US" sz="1100" dirty="0"/>
          </a:p>
        </p:txBody>
      </p:sp>
      <p:sp>
        <p:nvSpPr>
          <p:cNvPr id="38" name="Text 35"/>
          <p:cNvSpPr txBox="1"/>
          <p:nvPr/>
        </p:nvSpPr>
        <p:spPr>
          <a:xfrm>
            <a:off x="548640" y="3741725"/>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مِنَ المُهِمِّ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تُطَوِّرَ</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التَّحْلِيَةَ وَأَنْ </a:t>
            </a:r>
            <a:pPr rtl="1" algn="ctr" indent="0" marL="0">
              <a:buNone/>
            </a:pPr>
            <a:r>
              <a:rPr lang="ar-SA" altLang="en-US" sz="1700" b="1" dirty="0">
                <a:solidFill>
                  <a:srgbClr val="0E7C86"/>
                </a:solidFill>
                <a:latin typeface="Amiri" pitchFamily="2" charset="-78"/>
                <a:ea typeface="Amiri" pitchFamily="2" charset="-78"/>
                <a:cs typeface="Amiri" pitchFamily="2" charset="-78"/>
              </a:rPr>
              <a:t>تُعِيدَ</a:t>
            </a:r>
            <a:pPr rtl="1" algn="ctr" indent="0" marL="0">
              <a:buNone/>
            </a:pPr>
            <a:r>
              <a:rPr lang="ar-SA" altLang="en-US" sz="1700" b="1" dirty="0">
                <a:solidFill>
                  <a:srgbClr val="1B3B6F"/>
                </a:solidFill>
                <a:latin typeface="Amiri" pitchFamily="2" charset="-78"/>
                <a:ea typeface="Amiri" pitchFamily="2" charset="-78"/>
                <a:cs typeface="Amiri" pitchFamily="2" charset="-78"/>
              </a:rPr>
              <a:t> اسْتِخْدَامَ المِيَاهِ.</a:t>
            </a:r>
            <a:endParaRPr lang="ar-SA" sz="1700" dirty="0"/>
          </a:p>
        </p:txBody>
      </p:sp>
      <p:sp>
        <p:nvSpPr>
          <p:cNvPr id="43" name="Text 40"/>
          <p:cNvSpPr txBox="1"/>
          <p:nvPr/>
        </p:nvSpPr>
        <p:spPr>
          <a:xfrm>
            <a:off x="477316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wa-an</a:t>
            </a:r>
            <a:endParaRPr lang="en-US" sz="1100" dirty="0"/>
          </a:p>
        </p:txBody>
      </p:sp>
      <p:sp>
        <p:nvSpPr>
          <p:cNvPr id="44" name="Text 41"/>
          <p:cNvSpPr txBox="1"/>
          <p:nvPr/>
        </p:nvSpPr>
        <p:spPr>
          <a:xfrm>
            <a:off x="303580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 … and</a:t>
            </a:r>
            <a:endParaRPr lang="en-US" sz="1100" dirty="0"/>
          </a:p>
        </p:txBody>
      </p:sp>
      <p:sp>
        <p:nvSpPr>
          <p:cNvPr id="45" name="Text 42"/>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verbs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يَجِبُ </a:t>
            </a:r>
            <a:pPr rtl="1" algn="ctr" indent="0" marL="0">
              <a:buNone/>
            </a:pPr>
            <a:r>
              <a:rPr lang="ar-SA" altLang="en-US" sz="1700" b="1" dirty="0">
                <a:solidFill>
                  <a:srgbClr val="C77700"/>
                </a:solidFill>
                <a:latin typeface="Amiri" pitchFamily="2" charset="-78"/>
                <a:ea typeface="Amiri" pitchFamily="2" charset="-78"/>
                <a:cs typeface="Amiri" pitchFamily="2" charset="-78"/>
              </a:rPr>
              <a:t>تَرْشِيدُ</a:t>
            </a:r>
            <a:pPr rtl="1" algn="ctr" indent="0" marL="0">
              <a:buNone/>
            </a:pPr>
            <a:r>
              <a:rPr lang="ar-SA" altLang="en-US" sz="1700" b="1" dirty="0">
                <a:solidFill>
                  <a:srgbClr val="1B3B6F"/>
                </a:solidFill>
                <a:latin typeface="Amiri" pitchFamily="2" charset="-78"/>
                <a:ea typeface="Amiri" pitchFamily="2" charset="-78"/>
                <a:cs typeface="Amiri" pitchFamily="2" charset="-78"/>
              </a:rPr>
              <a:t> اسْتِهْلَاكِ المِيَاهِ.</a:t>
            </a:r>
            <a:endParaRPr lang="ar-SA" sz="1700" dirty="0"/>
          </a:p>
        </p:txBody>
      </p:sp>
      <p:sp>
        <p:nvSpPr>
          <p:cNvPr id="48" name="Text 45"/>
          <p:cNvSpPr txBox="1"/>
          <p:nvPr/>
        </p:nvSpPr>
        <p:spPr>
          <a:xfrm>
            <a:off x="477316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maṣdar</a:t>
            </a:r>
            <a:endParaRPr lang="en-US" sz="1100" dirty="0"/>
          </a:p>
        </p:txBody>
      </p:sp>
      <p:sp>
        <p:nvSpPr>
          <p:cNvPr id="49" name="Text 46"/>
          <p:cNvSpPr txBox="1"/>
          <p:nvPr/>
        </p:nvSpPr>
        <p:spPr>
          <a:xfrm>
            <a:off x="303580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a:t>
            </a:r>
            <a:endParaRPr lang="en-US" sz="1100" dirty="0"/>
          </a:p>
        </p:txBody>
      </p:sp>
      <p:sp>
        <p:nvSpPr>
          <p:cNvPr id="50" name="Text 47"/>
          <p:cNvSpPr txBox="1"/>
          <p:nvPr/>
        </p:nvSpPr>
        <p:spPr>
          <a:xfrm>
            <a:off x="548640" y="5215738"/>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يَجِبُ</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these expressions signal that the action is required but not yet certain — so the verb takes the fatḥa.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TRIGGERS, ONE MOOD (WEBSITE RULE 4, TEACHING POINT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مُحَفِّزَاتٍ لِلنَّصْبِ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a:t>
            </a:r>
            <a:endParaRPr lang="en-US" sz="1100" dirty="0"/>
          </a:p>
        </p:txBody>
      </p:sp>
      <p:sp>
        <p:nvSpPr>
          <p:cNvPr id="18" name="Text 15"/>
          <p:cNvSpPr txBox="1"/>
          <p:nvPr/>
        </p:nvSpPr>
        <p:spPr>
          <a:xfrm>
            <a:off x="27249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تَعْتَمِدُ الزِّرَاعَةُ الرِّيَّ الحَدِيثَ لِكَيْ </a:t>
            </a:r>
            <a:pPr rtl="1" algn="ctr" indent="0" marL="0">
              <a:buNone/>
            </a:pPr>
            <a:r>
              <a:rPr lang="ar-SA" altLang="en-US" sz="1700" b="1" dirty="0">
                <a:solidFill>
                  <a:srgbClr val="D6336C"/>
                </a:solidFill>
                <a:latin typeface="Amiri" pitchFamily="2" charset="-78"/>
                <a:ea typeface="Amiri" pitchFamily="2" charset="-78"/>
                <a:cs typeface="Amiri" pitchFamily="2" charset="-78"/>
              </a:rPr>
              <a:t>تُقَلِّلَ</a:t>
            </a:r>
            <a:pPr rtl="1" algn="ctr" indent="0" marL="0">
              <a:buNone/>
            </a:pPr>
            <a:r>
              <a:rPr lang="ar-SA" altLang="en-US" sz="1700" b="1" dirty="0">
                <a:solidFill>
                  <a:srgbClr val="1B3B6F"/>
                </a:solidFill>
                <a:latin typeface="Amiri" pitchFamily="2" charset="-78"/>
                <a:ea typeface="Amiri" pitchFamily="2" charset="-78"/>
                <a:cs typeface="Amiri" pitchFamily="2" charset="-78"/>
              </a:rPr>
              <a:t> الهَدْرَ.</a:t>
            </a:r>
            <a:endParaRPr lang="ar-SA" sz="1700" dirty="0"/>
          </a:p>
        </p:txBody>
      </p:sp>
      <p:sp>
        <p:nvSpPr>
          <p:cNvPr id="22" name="Text 19"/>
          <p:cNvSpPr txBox="1"/>
          <p:nvPr/>
        </p:nvSpPr>
        <p:spPr>
          <a:xfrm>
            <a:off x="44074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23" name="Text 20"/>
          <p:cNvSpPr txBox="1"/>
          <p:nvPr/>
        </p:nvSpPr>
        <p:spPr>
          <a:xfrm>
            <a:off x="27614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الوَضْعُ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a:t>
            </a:r>
            <a:endParaRPr lang="ar-SA" sz="1700" dirty="0"/>
          </a:p>
        </p:txBody>
      </p:sp>
      <p:sp>
        <p:nvSpPr>
          <p:cNvPr id="29" name="Text 26"/>
          <p:cNvSpPr txBox="1"/>
          <p:nvPr/>
        </p:nvSpPr>
        <p:spPr>
          <a:xfrm>
            <a:off x="44074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wanted?</a:t>
            </a:r>
            <a:endParaRPr lang="en-US" sz="1100" dirty="0"/>
          </a:p>
        </p:txBody>
      </p:sp>
      <p:sp>
        <p:nvSpPr>
          <p:cNvPr id="30" name="Text 27"/>
          <p:cNvSpPr txBox="1"/>
          <p:nvPr/>
        </p:nvSpPr>
        <p:spPr>
          <a:xfrm>
            <a:off x="27614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يَتَطَلَّبُ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يَخْشَى الخُبَرَاءُ أَنْ </a:t>
            </a:r>
            <a:pPr rtl="1" algn="ctr" indent="0" marL="0">
              <a:buNone/>
            </a:pPr>
            <a:r>
              <a:rPr lang="ar-SA" altLang="en-US" sz="1700" b="1" dirty="0">
                <a:solidFill>
                  <a:srgbClr val="1D5FBF"/>
                </a:solidFill>
                <a:latin typeface="Amiri" pitchFamily="2" charset="-78"/>
                <a:ea typeface="Amiri" pitchFamily="2" charset="-78"/>
                <a:cs typeface="Amiri" pitchFamily="2" charset="-78"/>
              </a:rPr>
              <a:t>تَنْفَدَ</a:t>
            </a:r>
            <a:pPr rtl="1" algn="ctr" indent="0" marL="0">
              <a:buNone/>
            </a:pPr>
            <a:r>
              <a:rPr lang="ar-SA" altLang="en-US" sz="1700" b="1" dirty="0">
                <a:solidFill>
                  <a:srgbClr val="1B3B6F"/>
                </a:solidFill>
                <a:latin typeface="Amiri" pitchFamily="2" charset="-78"/>
                <a:ea typeface="Amiri" pitchFamily="2" charset="-78"/>
                <a:cs typeface="Amiri" pitchFamily="2" charset="-78"/>
              </a:rPr>
              <a:t> المِيَاهُ الجَوْفِيَّةُ.</a:t>
            </a:r>
            <a:endParaRPr lang="ar-SA" sz="1700" dirty="0"/>
          </a:p>
        </p:txBody>
      </p:sp>
      <p:sp>
        <p:nvSpPr>
          <p:cNvPr id="36" name="Text 33"/>
          <p:cNvSpPr txBox="1"/>
          <p:nvPr/>
        </p:nvSpPr>
        <p:spPr>
          <a:xfrm>
            <a:off x="44074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feared?</a:t>
            </a:r>
            <a:endParaRPr lang="en-US" sz="1100" dirty="0"/>
          </a:p>
        </p:txBody>
      </p:sp>
      <p:sp>
        <p:nvSpPr>
          <p:cNvPr id="37" name="Text 34"/>
          <p:cNvSpPr txBox="1"/>
          <p:nvPr/>
        </p:nvSpPr>
        <p:spPr>
          <a:xfrm>
            <a:off x="27614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يَخْشَى أَنْ</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يَرْجُو الجَمِيعُ أَنْ </a:t>
            </a:r>
            <a:pPr rtl="1" algn="ctr" indent="0" marL="0">
              <a:buNone/>
            </a:pPr>
            <a:r>
              <a:rPr lang="ar-SA" altLang="en-US" sz="1700" b="1" dirty="0">
                <a:solidFill>
                  <a:srgbClr val="1D5FBF"/>
                </a:solidFill>
                <a:latin typeface="Amiri" pitchFamily="2" charset="-78"/>
                <a:ea typeface="Amiri" pitchFamily="2" charset="-78"/>
                <a:cs typeface="Amiri" pitchFamily="2" charset="-78"/>
              </a:rPr>
              <a:t>يَتَحَقَّقَ</a:t>
            </a:r>
            <a:pPr rtl="1" algn="ctr" indent="0" marL="0">
              <a:buNone/>
            </a:pPr>
            <a:r>
              <a:rPr lang="ar-SA" altLang="en-US" sz="1700" b="1" dirty="0">
                <a:solidFill>
                  <a:srgbClr val="1B3B6F"/>
                </a:solidFill>
                <a:latin typeface="Amiri" pitchFamily="2" charset="-78"/>
                <a:ea typeface="Amiri" pitchFamily="2" charset="-78"/>
                <a:cs typeface="Amiri" pitchFamily="2" charset="-78"/>
              </a:rPr>
              <a:t> الأَمْنُ المَائِيُّ.</a:t>
            </a:r>
            <a:endParaRPr lang="ar-SA" sz="1700" dirty="0"/>
          </a:p>
        </p:txBody>
      </p:sp>
      <p:sp>
        <p:nvSpPr>
          <p:cNvPr id="41" name="Text 38"/>
          <p:cNvSpPr txBox="1"/>
          <p:nvPr/>
        </p:nvSpPr>
        <p:spPr>
          <a:xfrm>
            <a:off x="44074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hoped?</a:t>
            </a:r>
            <a:endParaRPr lang="en-US" sz="1100" dirty="0"/>
          </a:p>
        </p:txBody>
      </p:sp>
      <p:sp>
        <p:nvSpPr>
          <p:cNvPr id="42" name="Text 39"/>
          <p:cNvSpPr txBox="1"/>
          <p:nvPr/>
        </p:nvSpPr>
        <p:spPr>
          <a:xfrm>
            <a:off x="27614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يَرْجُو أَنْ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تُطَوِّرَ</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سِيَاسَاتِ المِيَاهِ.</a:t>
            </a:r>
            <a:endParaRPr lang="ar-SA" sz="1700" dirty="0"/>
          </a:p>
        </p:txBody>
      </p:sp>
      <p:sp>
        <p:nvSpPr>
          <p:cNvPr id="46" name="Text 43"/>
          <p:cNvSpPr txBox="1"/>
          <p:nvPr/>
        </p:nvSpPr>
        <p:spPr>
          <a:xfrm>
            <a:off x="44074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happen?</a:t>
            </a:r>
            <a:endParaRPr lang="en-US" sz="1100" dirty="0"/>
          </a:p>
        </p:txBody>
      </p:sp>
      <p:sp>
        <p:nvSpPr>
          <p:cNvPr id="47" name="Text 44"/>
          <p:cNvSpPr txBox="1"/>
          <p:nvPr/>
        </p:nvSpPr>
        <p:spPr>
          <a:xfrm>
            <a:off x="27614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48" name="Text 45"/>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يَنْبَغِي أَنْ</a:t>
            </a:r>
            <a:endParaRPr lang="ar-SA" sz="20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an tuṭawwiru ✗ → an tuṭawwira ✓ · an tataʿāwanu ✗ → an tataʿāwana ✓. Three triggers — one ending: -a.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RISK, REGRET, EVIDENCE (WEBSITE QUIZ, READING, LISTENING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Weigh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الخَطَرُ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RISK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اسْتَمَرَّتْ مُعَدَّلَاتُ الاسْتِهْلَاكِ، سَيَسْتَنْفِدُ الخَلِيجُ مَخْزُونَهُ.</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consumption continues, the Gulf will exhaust its reserves.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أُدِيرَتِ المَوَارِدُ بِحِكْمَةٍ، لَمَا وَصَلَتِ المِنْطَقَةُ إِلَى هٰذِهِ النَّدْرَةِ.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resources been managed wisely, the region would not have reached this scarcity.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la-mā.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أَكَّدَ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أَكَّدَ خُبَرَاءُ الأُمَمِ المُتَّحِدَةِ أَنَّ التَّعَاوُنَ الإِقْلِيمِيَّ هُوَ الحَلُّ.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 experts stressed that regional cooperation is the solution.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لَوِ اسْتَثْمَرَتِ الدُّوَلُ مُبَكِّرًا، لَكَانَتِ الأَزْمَةُ أَقَلَّ</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B83227"/>
                </a:solidFill>
                <a:latin typeface="Amiri" pitchFamily="2" charset="-78"/>
                <a:ea typeface="Amiri" pitchFamily="2" charset="-78"/>
                <a:cs typeface="Amiri" pitchFamily="2" charset="-78"/>
              </a:rPr>
              <a:t>لَوِ اسْتَثْمَرَتِ الدُّوَلُ مُبَكِّرًا، سَتَكُونُ الأَزْمَةُ أَقَلَّ</a:t>
            </a:r>
            <a:endParaRPr lang="ar-SA" sz="14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WATER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policy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تَقَارِيرِ 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 + plural</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تُعَانِي مِنْ </a:t>
            </a:r>
            <a:pPr rtl="1" algn="ctr" indent="0" marL="0">
              <a:buNone/>
            </a:pPr>
            <a:r>
              <a:rPr lang="ar-SA" altLang="en-US" sz="1800" b="1" dirty="0">
                <a:solidFill>
                  <a:srgbClr val="D6336C"/>
                </a:solidFill>
                <a:latin typeface="Amiri" pitchFamily="2" charset="-78"/>
                <a:ea typeface="Amiri" pitchFamily="2" charset="-78"/>
                <a:cs typeface="Amiri" pitchFamily="2" charset="-78"/>
              </a:rPr>
              <a:t>أَشَدِّ</a:t>
            </a:r>
            <a:pPr rtl="1" algn="ctr" indent="0" marL="0">
              <a:buNone/>
            </a:pPr>
            <a:r>
              <a:rPr lang="ar-SA" altLang="en-US" sz="1800" b="1" dirty="0">
                <a:solidFill>
                  <a:srgbClr val="1B3B6F"/>
                </a:solidFill>
                <a:latin typeface="Amiri" pitchFamily="2" charset="-78"/>
                <a:ea typeface="Amiri" pitchFamily="2" charset="-78"/>
                <a:cs typeface="Amiri" pitchFamily="2" charset="-78"/>
              </a:rPr>
              <a:t> أَزَمَاتِ المِيَاهِ فِي العَالَمِ</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worst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less than … %</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تَضُمُّ </a:t>
            </a:r>
            <a:pPr rtl="1" algn="ctr" indent="0" marL="0">
              <a:buNone/>
            </a:pPr>
            <a:r>
              <a:rPr lang="ar-SA" altLang="en-US" sz="1800" b="1" dirty="0">
                <a:solidFill>
                  <a:srgbClr val="1D5FBF"/>
                </a:solidFill>
                <a:latin typeface="Amiri" pitchFamily="2" charset="-78"/>
                <a:ea typeface="Amiri" pitchFamily="2" charset="-78"/>
                <a:cs typeface="Amiri" pitchFamily="2" charset="-78"/>
              </a:rPr>
              <a:t>أَقَلَّ مِنْ وَاحِدٍ بِالمِئَةِ</a:t>
            </a:r>
            <a:pPr rtl="1" algn="ctr" indent="0" marL="0">
              <a:buNone/>
            </a:pPr>
            <a:r>
              <a:rPr lang="ar-SA" altLang="en-US" sz="1800" b="1" dirty="0">
                <a:solidFill>
                  <a:srgbClr val="1B3B6F"/>
                </a:solidFill>
                <a:latin typeface="Amiri" pitchFamily="2" charset="-78"/>
                <a:ea typeface="Amiri" pitchFamily="2" charset="-78"/>
                <a:cs typeface="Amiri" pitchFamily="2" charset="-78"/>
              </a:rPr>
              <a:t> مِنْ مَوَارِدِ المِيَاهِ العَذْبَةِ</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statistic</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clause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إِذْ تَفْتَقِرُ إِلَى</a:t>
            </a:r>
            <a:pPr rtl="1" algn="ctr" indent="0" marL="0">
              <a:buNone/>
            </a:pPr>
            <a:r>
              <a:rPr lang="ar-SA" altLang="en-US" sz="1800" b="1" dirty="0">
                <a:solidFill>
                  <a:srgbClr val="1B3B6F"/>
                </a:solidFill>
                <a:latin typeface="Amiri" pitchFamily="2" charset="-78"/>
                <a:ea typeface="Amiri" pitchFamily="2" charset="-78"/>
                <a:cs typeface="Amiri" pitchFamily="2" charset="-78"/>
              </a:rPr>
              <a:t> مَوَارِدَ كَافِيَةٍ لِاسْتِدَامَةِ نُمُوِّهَا</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it lacks</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 + indefinite</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تُعَدُّ المِيَاهُ </a:t>
            </a:r>
            <a:pPr rtl="1" algn="ctr" indent="0" marL="0">
              <a:buNone/>
            </a:pPr>
            <a:r>
              <a:rPr lang="ar-SA" altLang="en-US" sz="1800" b="1" dirty="0">
                <a:solidFill>
                  <a:srgbClr val="D6336C"/>
                </a:solidFill>
                <a:latin typeface="Amiri" pitchFamily="2" charset="-78"/>
                <a:ea typeface="Amiri" pitchFamily="2" charset="-78"/>
                <a:cs typeface="Amiri" pitchFamily="2" charset="-78"/>
              </a:rPr>
              <a:t>أَخْطَرَ تَحَدٍّ اسْتِرَاتِيجِيٍّ</a:t>
            </a:r>
            <a:pPr rtl="1" algn="ctr" indent="0" marL="0">
              <a:buNone/>
            </a:pPr>
            <a:r>
              <a:rPr lang="ar-SA" altLang="en-US" sz="1800" b="1" dirty="0">
                <a:solidFill>
                  <a:srgbClr val="1B3B6F"/>
                </a:solidFill>
                <a:latin typeface="Amiri" pitchFamily="2" charset="-78"/>
                <a:ea typeface="Amiri" pitchFamily="2" charset="-78"/>
                <a:cs typeface="Amiri" pitchFamily="2" charset="-78"/>
              </a:rPr>
              <a:t> يُوَاجِهُ العَالَمَ العَرَبِيَّ</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gravest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 not Y</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المُهِمِّ أَنْ يُدْرِكَ الجَمِيعُ أَنَّ المَاءَ </a:t>
            </a:r>
            <a:pPr rtl="1" algn="ctr" indent="0" marL="0">
              <a:buNone/>
            </a:pPr>
            <a:r>
              <a:rPr lang="ar-SA" altLang="en-US" sz="1800" b="1" dirty="0">
                <a:solidFill>
                  <a:srgbClr val="0E7C86"/>
                </a:solidFill>
                <a:latin typeface="Amiri" pitchFamily="2" charset="-78"/>
                <a:ea typeface="Amiri" pitchFamily="2" charset="-78"/>
                <a:cs typeface="Amiri" pitchFamily="2" charset="-78"/>
              </a:rPr>
              <a:t>حَقٌّ لَا امْتِيَازٌ</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strong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water report moves: how serious → the numbers → the risk → what could have been → what must happen now.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Impersonal necessity and the full subjunctive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الضَّرُورَةُ وَنِظَامُ النَّصْبِ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yanbaghī an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yanbaghī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تُطَوِّرَ الدُّوَلُ تِقْنِيَّاتِ التَّحْلِيَةِ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min al-ḍarūrī 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min al-ḍarūrī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الضَّرُورِيِّ أَنْ تَتَعَاوَنَ الدُّوَلُ المُجَاوِرَةُ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min al-muhimm an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min al-muhimm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المُهِمِّ أَنْ يُعِيدَ المُزَارِعُونَ النَّظَرَ فِي الرِّيِّ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Three triggers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yataṭallabu an · yanbaghī 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تُقَلِّلَ   ·   يَتَطَلَّبُ أَنْ تَسْتَثْمِرَ   ·   يَنْبَغِي أَنْ تُطَوِّرَ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يَنْبَغِي أَنْ ___ الدُّوَلُ تِقْنِيَّاتِ التَّحْلِيَةِ.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الضَّرُورِيِّ أَنْ ___ الدُّوَلُ المُجَاوِرَةُ.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تَتَعَاوَنَ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تَتَعَاوَنُ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مِنَ المُهِمِّ أَنْ ___ المُزَارِعُونَ النَّظَرَ فِي الرِّيِّ.</a:t>
            </a:r>
            <a:endParaRPr lang="ar-SA"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أَعَادَ</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risk (Type 1)?</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اسْتَمَرَّتِ المُعَدَّلَاتُ، سَيَسْتَنْفِدُ الخَلِيجُ مَخْزُونَهُ.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اسْتَمَرَّتِ المُعَدَّلَاتُ، لَاسْتَنْفَدَ الخَلِيجُ.</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 المُعَدَّلَاتُ.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يَنْبَغِي أَنْ ___ الدُّوَلُ تِقْنِيَّاتِ التَّحْلِيَةِ.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تُطَوِّرَ</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الضَّرُورِيِّ أَنْ ___ الدُّوَلُ المُجَاوِرَةُ.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تَتَعَاوَنَ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تَتَعَاوَنُ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تَعَاوَنَتْ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تَتَعَاوَنَ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مِنَ المُهِمِّ أَنْ ___ المُزَارِعُونَ النَّظَرَ فِي الرِّيِّ.</a:t>
            </a:r>
            <a:endParaRPr lang="ar-SA"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أَعَادَ</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المُهِمِّ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يُعِيدَ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risk (Type 1)?</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اسْتَمَرَّتِ المُعَدَّلَاتُ، سَيَسْتَنْفِدُ الخَلِيجُ مَخْزُونَهُ.</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اسْتَمَرَّتِ المُعَدَّلَاتُ، لَاسْتَنْفَدَ الخَلِيجُ.</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 المُعَدَّلَاتُ.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risk.</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write a water-policy analysis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serious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C77700"/>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 أَشَدِّ أَزَمَاتِ …</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Risk + regret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 سَيَسْتَنْفِدُ · </a:t>
            </a:r>
            <a:pPr rtl="1" algn="ctr" indent="0" marL="0">
              <a:lnSpc>
                <a:spcPct val="120000"/>
              </a:lnSpc>
              <a:buNone/>
            </a:pPr>
            <a:r>
              <a:rPr lang="ar-SA" altLang="en-US" sz="185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 لَكَانَتِ</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Necessity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يَنْبَغِي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تُطَوِّرَ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مِنَ المُهِمِّ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تَعْتَمِدَ</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a:t>
            </a:r>
            <a:pPr rtl="1" algn="ctr" indent="0" marL="0">
              <a:buNone/>
            </a:pPr>
            <a:r>
              <a:rPr lang="ar-SA" altLang="en-US" sz="2800" b="1" dirty="0">
                <a:solidFill>
                  <a:srgbClr val="D6336C"/>
                </a:solidFill>
                <a:latin typeface="Amiri" pitchFamily="2" charset="-78"/>
                <a:ea typeface="Amiri" pitchFamily="2" charset="-78"/>
                <a:cs typeface="Amiri" pitchFamily="2" charset="-78"/>
              </a:rPr>
              <a:t>تُقَلِّلَ</a:t>
            </a:r>
            <a:pPr rtl="1" algn="ctr" indent="0" marL="0">
              <a:buNone/>
            </a:pPr>
            <a:r>
              <a:rPr lang="ar-SA" altLang="en-US" sz="2800" b="1" dirty="0">
                <a:solidFill>
                  <a:srgbClr val="1B3B6F"/>
                </a:solidFill>
                <a:latin typeface="Amiri" pitchFamily="2" charset="-78"/>
                <a:ea typeface="Amiri" pitchFamily="2" charset="-78"/>
                <a:cs typeface="Amiri" pitchFamily="2" charset="-78"/>
              </a:rPr>
              <a:t> الهَدْرَ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المِنْطَقَةَ العَرَبِيَّةَ تُعَانِي مِنْ أَشَدِّ أَزَمَاتِ المِيَاهِ فِي العَالَمِ.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اسْتَمَرَّتْ مُعَدَّلَاتُ الاسْتِهْلَاكِ،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سَيَسْتَنْفِدُ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الخَلِيجُ مَخْزُونَهُ الجَوْفِيَّ.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اسْتَثْمَرَتِ الدُّوَلُ فِي التَّحْلِيَةِ مُبَكِّرًا،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الأَزْمَةُ أَقَلَّ حِدَّةً. لِذٰلِكَ يَنْبَغِي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تُطَوِّرَ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الدُّوَلُ سِيَاسَاتِ مِيَاهٍ مُتَكَامِلَةً، وَمِنَ المُهِمِّ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تَعْتَمِدَ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الزِّرَاعَةُ الرِّيَّ الحَدِيثَ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تُقَلِّلَ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الهَدْرَ.</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It is reported that the Arab region suffers from one of the most severe water crises in the world. If consumption rates continue, the Gulf will exhaust its groundwater reserves. Had states invested in desalination early, the crisis would be less severe. So states should develop integrated water policies, and it is important that agriculture adopts modern irrigation so that it reduces waste.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يَنْبَغِي أَنْ تُطَوِّرَ الدُّوَلُ العَرَبِيَّةُ تِقْنِيَّاتِ تَحْلِيَةٍ أَكْثَرَ كَفَاءَةً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 states should develop more efficient desalination technologies</a:t>
            </a:r>
            <a:endParaRPr lang="en-US" sz="1250" dirty="0"/>
          </a:p>
          <a:p>
            <a:pPr indent="0" marL="0">
              <a:buNone/>
            </a:pPr>
            <a:r>
              <a:rPr lang="en-US" sz="1050" i="1" dirty="0">
                <a:solidFill>
                  <a:srgbClr val="8A6D1E"/>
                </a:solidFill>
                <a:latin typeface="Calibri" pitchFamily="34" charset="0"/>
                <a:cs typeface="Amiri" pitchFamily="2" charset="-78"/>
              </a:rPr>
              <a:t>yanbaghī an + a verb in -a (tuṭawwira).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مِنَ الضَّرُورِيِّ أَنْ تَتَعَاوَنَ الدُّوَلُ فِي إِدَارَةِ المَوَارِدِ المُشْتَرَكَةِ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essential that states cooperate in managing shared resources</a:t>
            </a:r>
            <a:endParaRPr lang="en-US" sz="1250" dirty="0"/>
          </a:p>
          <a:p>
            <a:pPr indent="0" marL="0">
              <a:buNone/>
            </a:pPr>
            <a:r>
              <a:rPr lang="en-US" sz="1050" i="1" dirty="0">
                <a:solidFill>
                  <a:srgbClr val="8A6D1E"/>
                </a:solidFill>
                <a:latin typeface="Calibri" pitchFamily="34" charset="0"/>
                <a:cs typeface="Amiri" pitchFamily="2" charset="-78"/>
              </a:rPr>
              <a:t>min al-ḍarūrī an + a verb in -a (tataʿāwana).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تَعْتَمِدُ الزِّرَاعَةُ الرِّيَّ الحَدِيثَ لِكَيْ تُقَلِّلَ الهَدْرَ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agriculture adopts modern irrigation so that it reduces waste</a:t>
            </a:r>
            <a:endParaRPr lang="en-US" sz="1250" dirty="0"/>
          </a:p>
          <a:p>
            <a:pPr indent="0" marL="0">
              <a:buNone/>
            </a:pPr>
            <a:r>
              <a:rPr lang="en-US" sz="1050" i="1" dirty="0">
                <a:solidFill>
                  <a:srgbClr val="8A6D1E"/>
                </a:solidFill>
                <a:latin typeface="Calibri" pitchFamily="34" charset="0"/>
                <a:cs typeface="Amiri" pitchFamily="2" charset="-78"/>
              </a:rPr>
              <a:t>A li-kay purpose clause (tuqallila).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WATER IN THE ARAB WORLD — SCARCITY, MANAGEMENT AND THE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Saving water: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shorter showers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desalination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fixing leaks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إِصْلَاحُ التَّسَرُّبَاتِ يُقَلِّلُ هَدْرَ المِيَاهِ.</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تَرْشِيدُ اسْتِهْلَاكِ المِيَاهِ.</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تُحَوِّلُ التَّحْلِيَةُ مَاءَ البَحْرِ إِلَى مَاءٍ عَذْبٍ.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shorter showers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تَرْشِيدُ اسْتِهْلَاكِ المِيَاهِ.</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Water consumption must be rationed.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desalination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تُحَوِّلُ التَّحْلِيَةُ مَاءَ البَحْرِ إِلَى مَاءٍ عَذْبٍ.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Desalination turns seawater into fresh water.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fixing leaks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إِصْلَاحُ التَّسَرُّبَاتِ يُقَلِّلُ هَدْرَ المِيَاهِ.</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Fixing leaks reduces water waste.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 WATER-POLICY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Necessity + purpose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عَنِ 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Necessity (yanbaghī an …)</a:t>
            </a:r>
            <a:endParaRPr lang="en-US" sz="1100" dirty="0"/>
          </a:p>
        </p:txBody>
      </p:sp>
      <p:sp>
        <p:nvSpPr>
          <p:cNvPr id="17" name="Text 14"/>
          <p:cNvSpPr txBox="1"/>
          <p:nvPr/>
        </p:nvSpPr>
        <p:spPr>
          <a:xfrm>
            <a:off x="439826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Purpose (li-kay)</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يَنْبَغِي أَنْ تُطَوِّرَ الدُّوَلُ تِقْنِيَّاتِ التَّحْلِيَةِ</a:t>
            </a:r>
            <a:endParaRPr lang="ar-SA" sz="1600" dirty="0"/>
          </a:p>
        </p:txBody>
      </p:sp>
      <p:sp>
        <p:nvSpPr>
          <p:cNvPr id="21" name="Text 18"/>
          <p:cNvSpPr txBox="1"/>
          <p:nvPr/>
        </p:nvSpPr>
        <p:spPr>
          <a:xfrm>
            <a:off x="4416552" y="2267712"/>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تُقَلِّلَ الزِّرَاعَةُ الهَدْرَ فِي المِيَاهِ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اسْتُثْمِرَ فِي التَّحْلِيَةِ مُبَكِّرًا لَكَانَتِ الأَزْمَةُ أَقَلَّ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91272"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الضَّرُورِيِّ أَنْ تَتَعَاوَنَ الدُّوَلُ المُجَاوِرَةُ</a:t>
            </a:r>
            <a:endParaRPr lang="ar-SA" sz="1600" dirty="0"/>
          </a:p>
        </p:txBody>
      </p:sp>
      <p:sp>
        <p:nvSpPr>
          <p:cNvPr id="27" name="Text 24"/>
          <p:cNvSpPr txBox="1"/>
          <p:nvPr/>
        </p:nvSpPr>
        <p:spPr>
          <a:xfrm>
            <a:off x="4416552" y="3054096"/>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تَبْقَى المِيَاهُ الجَوْفِيَّةُ لِلْأَجْيَالِ</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تَعَاوَنَتِ الدُّوَلُ سَتَحُلُّ مُعْظَمَ مُشْكِلَاتِهَا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891272"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المُهِمِّ أَنْ يُعِيدَ المُزَارِعُونَ النَّظَرَ فِي الرِّيِّ</a:t>
            </a:r>
            <a:endParaRPr lang="ar-SA" sz="1600" dirty="0"/>
          </a:p>
        </p:txBody>
      </p:sp>
      <p:sp>
        <p:nvSpPr>
          <p:cNvPr id="31" name="Text 28"/>
          <p:cNvSpPr txBox="1"/>
          <p:nvPr/>
        </p:nvSpPr>
        <p:spPr>
          <a:xfrm>
            <a:off x="4416552" y="3840480"/>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تُحَقِّقَ المِنْطَقَةُ الأَمْنَ المَائِيَّ</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وَأَكَّدَ الخُبَرَاءُ أَنَّ المَاءَ حَقٌّ لَا امْتِيَازٌ</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circle every verb after an and li-kay: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الزِّرَاعَةُ الهَدْرَ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المِيَاهَ الجَوْفِيَّةَ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تَبْقَى المَوَارِدُ لِلْأَجْيَالِ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تَسْتَثْمِرَ الدُّوَلُ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يَخْشَى الخُبَرَاءُ أَنْ تَنْفَدَ المِيَاهُ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يَرْجُو الجَمِيعُ أَنْ يَتَحَقَّقَ الأَمْنُ المَائِيُّ</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يَنْبَغِي أَنْ تُطَوِّرَ الدُّوَلُ سِيَاسَاتِ المِيَاهِ</a:t>
            </a:r>
            <a:endParaRPr lang="ar-SA" sz="15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تَتَعَاوَنَ الدُّوَلُ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مِنَ المُهِمِّ أَنْ يُعِيدَ المُزَارِعُونَ النَّظَرَ</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an)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الزِّرَاعَةُ الهَدْرَ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المِيَاهَ الجَوْفِيَّةَ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تَبْقَى المَوَارِدُ لِلْأَجْيَالِ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تَسْتَثْمِرَ الدُّوَلُ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يَخْشَى الخُبَرَاءُ أَنْ تَنْفَدَ المِيَاهُ</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الجَمِيعُ أَنْ يَتَحَقَّقَ الأَمْنُ المَائِيُّ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تُطَوِّرَ الدُّوَلُ سِيَاسَاتِ المِيَاهِ</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تَتَعَاوَنَ الدُّوَلُ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المُهِمِّ أَنْ يُعِيدَ المُزَارِعُونَ النَّظَرَ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impersonal necessity?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purpose?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volition?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المُهِمِّ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these expressions?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impersonal necessity?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يَخْشَى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impersonal necessity.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purpose?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volition?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المُهِمِّ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these expressions?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تُطَوِّرُ الدُّوَلُ تِقْنِيَّاتِ التَّحْلِيَةِ.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tuṭawwiru?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الضَّرُورِيِّ أَنْ تَتَعَاوَنُ الدُّوَلُ.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tataʿāwanu?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اسْتَثْمَرَتِ الدُّوَلُ مُبَكِّرًا، سَتَكُونُ الأَزْمَةُ أَقَلَّ.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يَنْبَغِي أَنْ تُطَوِّرُ الدُّوَلُ تِقْنِيَّاتِ التَّحْلِيَةِ.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تُطَوِّرَ الدُّوَلُ تِقْنِيَّاتِ التَّحْلِيَةِ.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الضَّرُورِيِّ أَنْ تَتَعَاوَنُ الدُّوَلُ.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الضَّرُورِيِّ أَنْ تَتَعَاوَنَ الدُّوَلُ.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مِنَ الضَّرُورِيِّ أَنْ</a:t>
            </a:r>
            <a:pPr algn="l" indent="0" marL="0">
              <a:buNone/>
            </a:pPr>
            <a:r>
              <a:rPr lang="en-US" sz="1150" b="1" dirty="0">
                <a:solidFill>
                  <a:srgbClr val="1B3B6F"/>
                </a:solidFill>
                <a:latin typeface="Calibri" pitchFamily="34" charset="0"/>
                <a:cs typeface="Amiri" pitchFamily="2" charset="-78"/>
              </a:rPr>
              <a:t> takes a subjunctive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اسْتَثْمَرَتِ الدُّوَلُ مُبَكِّرًا، سَتَكُونُ الأَزْمَةُ أَقَلَّ.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لَوِ اسْتَثْمَرَتِ الدُّوَلُ مُبَكِّرًا، لَكَانَتِ الأَزْمَةُ أَقَلَّ.</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the water crisis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the world's fresh water does the region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than one percent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quarter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risk (Type 1)?</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 is unlimited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has stopped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consumption continues, Gulf states will exhaust their groundwater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crisis is unavoidable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states invested in desalination early, the crisis would be less severe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necessity require of neighbouring states?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they cooperate in managing shared resources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they compete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they do nothing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agriculture adopt modern irrigation?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 more water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it reduces waste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Listen for: yanbaghī an · min al-ḍarūrī an · li-kay.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يُشَارُ إِلَى أَنَّ المِنْطَقَةَ العَرَبِيَّةَ تُعَانِي مِنْ أَشَدِّ أَزَمَاتِ المِيَاهِ فِي العَالَمِ. فَهِيَ تَضُمُّ أَقَلَّ مِنْ وَاحِدٍ بِالمِئَةِ مِنْ مَوَارِدِ المِيَاهِ العَذْبَةِ.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reported that the Arab region suffers from one of the most severe water crises in the world. It holds less than one percent of fresh water resources.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إِذَا اسْتَمَرَّتْ مُعَدَّلَاتُ الاسْتِهْلَاكِ الحَالِيَّةُ، سَيَسْتَنْفِدُ كَثِيرٌ مِنْ دُوَلِ الخَلِيجِ مَخْزُونَهُ الجَوْفِيَّ خِلَالَ عُقُودٍ.</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current consumption rates continue, many Gulf states will exhaust their groundwater reserves within decades.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وَلَوِ اسْتَثْمَرَتِ الدُّوَلُ فِي التَّحْلِيَةِ مُبَكِّرًا، لَكَانَتِ الأَزْمَةُ أَقَلَّ حِدَّةً. لِذٰلِكَ يَنْبَغِي أَنْ تُطَوِّرَ الدُّوَلُ سِيَاسَاتِ مِيَاهٍ مُتَكَامِلَةً.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states invested in desalination early, the crisis would be less severe. So states should develop integrated water policies.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وَمِنَ الضَّرُورِيِّ أَنْ تَتَعَاوَنَ الدُّوَلُ المُجَاوِرَةُ فِي إِدَارَةِ المَوَارِدِ المُشْتَرَكَةِ. وَمِنَ المُهِمِّ أَنْ تَعْتَمِدَ الزِّرَاعَةُ الرِّيَّ الحَدِيثَ لِكَيْ تُقَلِّلَ الهَدْرَ.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is essential that neighbouring states cooperate in managing shared resources. And it is important that agriculture adopts modern irrigation so that it reduces waste.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 خُبَرَاءُ الأُمَمِ المُتَّحِدَةِ أَنَّ التَّعَاوُنَ الإِقْلِيمِيَّ هُوَ الحَلُّ.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 experts stressed that regional cooperation is the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the world's fresh water does the region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Less than one percent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quarter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تَضُمُّ أَقَلَّ مِنْ وَاحِدٍ بِالمِئَةِ مِنْ مَوَارِدِ المِيَاهِ العَذْبَةِ.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risk (Type 1)?</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Groundwater is unlimited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 has stopped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consumption continues, Gulf states will exhaust their groundwater</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إِذَا اسْتَمَرَّتْ مُعَدَّلَاتُ الاسْتِهْلَاكِ … سَيَسْتَنْفِدُ … مَخْزُونَهُ الجَوْفِيَّ.</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crisis is unavoidable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states invested in desalination early, the crisis would be less severe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اسْتَثْمَرَتِ الدُّوَلُ فِي التَّحْلِيَةِ مُبَكِّرًا، لَكَانَتِ الأَزْمَةُ أَقَلَّ حِدَّةً.</a:t>
            </a:r>
            <a:endParaRPr lang="ar-SA" sz="11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necessity require of neighbouring states?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they cooperate in managing shared resources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they compete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they do nothing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الضَّرُورِيِّ أَنْ تَتَعَاوَنَ الدُّوَلُ المُجَاوِرَةُ.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agriculture adopt modern irrigation?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 more water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it reduces waste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تُقَلِّلَ الهَدْرَ.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Listen for: yanbaghī an · min al-ḍarūrī an · li-kay.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water policy pledge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يَنْبَغِي أَنْ تَفْعَلَ الدُّوَلُ؟ اسْتَعْمِلْ «يَنْبَغِي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الضَّرُورِيُّ فِي إِدَارَةِ المِيَاهِ؟ اسْتَعْمِلْ «مِنَ الضَّرُورِيِّ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الهَدَفُ مِنَ الرِّيِّ الحَدِيثِ؟ اسْتَعْمِلْ «لِكَيْ» وَ«لَوْ».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يَنْبَغِي أَنْ تُطَوِّرَ الدُّوَلُ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الضَّرُورِيِّ أَنْ تَتَعَاوَنَ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تَعْتَمِدُ الزِّرَاعَةُ الرِّيَّ الحَدِيثَ لِكَيْ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يَنْبَغِي أَنْ تَفْعَلَ الدُّوَلُ؟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should states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يَنْبَغِي أَنْ تُطَوِّرَ الدُّوَلُ تِقْنِيَّاتِ التَّحْلِيَةِ وَأَنْ تُعِيدَ اسْتِخْدَامَ المِيَاهِ.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States should develop desalination technologies and reuse water.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three sentences with yanbaghī an, min al-ḍarūrī an and min al-muhimm an.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each with yanbaghī an, min al-ḍarūrī an and min al-muhimm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five subjunctives by trigger: purpose, volition or necessity.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classify your subjunctives by trigger, and add a Type 1 risk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water-policy analysis using all three triggers and both conditionals.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water analysis with the three necessity expressions, both conditionals, a li-kay clause and a cited report.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إِذَا اسْتَمَرَّتْ مُعَدَّلَاتُ الاسْتِهْلَاكِ، سَيَسْتَنْفِدُ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current consumption continues,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لَوِ اسْتَثْمَرَتِ الدُّوَلُ مُبَكِّرًا، لَكَانَتِ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states invested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أَكَّدَ خُبَرَاءُ الأُمَمِ المُتَّحِدَةِ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 experts stressed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يَنْبَغِي أَنْ تَعْتَمِدَ الزِّرَاعَةُ ______ لِكَيْ تُقَلِّلَ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Agriculture should adopt … so that it reduces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تُطَوِّرَ الدُّوَلُ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should develop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الضَّرُورِيِّ أَنْ تَتَعَاوَنَ ______ فِي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essential that … cooperate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المُهِمِّ أَنْ يُعِيدَ المُزَارِعُونَ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important that farmers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تُعَانِي المِنْطَقَةُ العَرَبِيَّةُ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Arab region suffers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تِقْنِيَّاتِ التَّحْلِيَةِ  ·  سِيَاسَاتِ مِيَاهٍ مُتَكَامِلَةً  ·  الدُّوَلُ المُجَاوِرَةُ  ·  إِدَارَةِ المَوَارِدِ المُشْتَرَكَةِ  ·  النَّظَرَ فِي الرِّيِّ  ·  أَشَدِّ أَزَمَاتِ المِيَاهِ  ·  الخَلِيجُ مَخْزُونَهُ الجَوْفِيَّ  ·  الأَزْمَةُ أَقَلَّ حِدَّةً  ·  التَّعَاوُنَ الإِقْلِيمِيَّ هُوَ الحَلُّ  ·  الرِّيَّ الحَدِيثَ  ·  الهَدْرَ  ·  إِعَادَةُ اسْتِخْدَامِ المِيَاهِ</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water in the Arab world. Use yanbaghī an, min al-ḍarūrī an and min al-muhimm an, both conditional types, a li-kay purpose clause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necessity expressions,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real risk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li-kay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experts.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أَشَدِّ أَزَمَاتِ المِيَاهِ فِي العَالَمِ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severe water crises in the world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 تَفْتَقِرُ إِلَى مَوَارِدَ كَافِيَةٍ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it lacks sufficient resources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لِاسْتِدَامَةِ نُمُوِّهَا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sustain its growth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 وَصَلَتِ المِنْطَقَةُ إِلَى هٰذِهِ النَّدْرَةِ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region would not have reached this scarcity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المَاءُ حَقٌّ لَا امْتِيَازٌ</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water is a right, not a privilege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المِنْطَقَةَ العَرَبِيَّةَ تُعَانِي مِنْ أَشَدِّ أَزَمَاتِ المِيَاهِ فِي العَالَمِ، إِذْ تَفْتَقِرُ إِلَى مَوَارِدَ كَافِيَةٍ لِاسْتِدَامَةِ نُمُوِّهَا. إِذَا اسْتَمَرَّتْ مُعَدَّلَاتُ الاسْتِهْلَاكِ الحَالِيَّةُ، سَيَسْتَنْفِدُ الخَلِيجُ مَخْزُونَهُ الجَوْفِيَّ خِلَالَ عُقُودٍ. وَلَوِ اسْتَثْمَرَتِ الدُّوَلُ فِي التَّحْلِيَةِ مُنْذُ السَّبْعِينِيَّاتِ، لَكَانَتِ الأَزْمَةُ اليَوْمَ أَقَلَّ حِدَّةً. لِذٰلِكَ يَنْبَغِي أَنْ تُطَوِّرَ الدُّوَلُ سِيَاسَاتِ مِيَاهٍ مُتَكَامِلَةً، وَمِنَ الضَّرُورِيِّ أَنْ تَتَعَاوَنَ الدُّوَلُ المُجَاوِرَةُ فِي إِدَارَةِ المَوَارِدِ المُشْتَرَكَةِ. وَمِنَ المُهِمِّ أَنْ تَعْتَمِدَ الزِّرَاعَةُ الرِّيَّ الحَدِيثَ لِكَيْ تُقَلِّلَ الهَدْرَ. وَأَكَّدَ خُبَرَاءُ الأُمَمِ المُتَّحِدَةِ أَنَّ التَّعَاوُنَ الإِقْلِيمِيَّ هُوَ الحَلُّ. فَالمَاءُ حَقٌّ لِلْجَمِيعِ.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reported that the Arab region suffers from one of the most severe water crises in the world, since it lacks sufficient resources to sustain its growth. If current consumption rates continue, the Gulf will exhaust its groundwater reserves within decades. Had states invested in desalination since the seventies, the crisis today would be less severe. So states should develop integrated water policies, and it is essential that neighbouring states cooperate in managing shared resources. It is important that agriculture adopts modern irrigation so that it reduces waste. UN experts have stressed that regional cooperation is the solution. Water is a right for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necessity expressions + -a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 and a Type 2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tuqallila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akkada … anna (a cited report)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an and li-kay,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yanbaghī an, min al-ḍarūrī an and min al-muhimm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trigger of each subjunctive: purpose, volition or necessity.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risk uses idhā … sa-; my regret uses law … la- (or la-mā).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a report (akkada anna) and ended with a strong close.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impersonal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الضَّرُورِيِّ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لَوِ اسْتَثْمَرَتِ الدُّوَلُ مُبَكِّرًا، لَكَانَتِ الأَزْمَةُ أَقَلَّ.</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إِذَا اسْتَثْمَرَتِ الدُّوَلُ، سَتَقِلُّ الأَزْمَةُ.</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تَسْتَثْمِرُ الدُّوَلُ.</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تُطَوِّرَ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تُطَوِّرُ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طَوَّرَتْ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is impersonal necessity?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الضَّرُورِيِّ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يَخْشَى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is impersonal necessity.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لَوِ اسْتَثْمَرَتِ الدُّوَلُ مُبَكِّرًا، لَكَانَتِ الأَزْمَةُ أَقَلَّ.</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إِذَا اسْتَثْمَرَتِ الدُّوَلُ، سَتَقِلُّ الأَزْمَةُ.</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تَسْتَثْمِرُ الدُّوَلُ.</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managing a scarce resource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المِيَاهُ أَخْطَرَ تَحَدٍّ اسْتِرَاتِيجِيٍّ يُوَاجِهُ العَالَمَ العَرَبِيَّ. فَالمِنْطَقَةُ تَفْتَقِرُ إِلَى مَوَارِدَ كَافِيَةٍ لِاسْتِدَامَةِ نُمُوِّهَا. يَخْشَى الخُبَرَاءُ أَنْ تَنْفَدَ المِيَاهُ الجَوْفِيَّةُ فِي بَعْضِ الدُّوَلِ. لِذٰلِكَ يَنْبَغِي أَنْ تُطَوِّرَ الحُكُومَاتُ تِقْنِيَّاتِ التَّحْلِيَةِ وَإِعَادَةِ الاسْتِخْدَامِ. وَمِنَ الضَّرُورِيِّ أَنْ تَعْتَمِدَ الزِّرَاعَةُ أَسَالِيبَ رِيٍّ مُوَفِّرَةً لِكَيْ تُقَلِّلَ الهَدْرَ. إِذَا تَعَاوَنَتِ الدُّوَلُ الإِقْلِيمِيَّةُ، سَتَحُلُّ مُعْظَمَ مُشْكِلَاتِهَا المَائِيَّةِ. وَلَوْ أُدِيرَتِ المَوَارِدُ بِحِكْمَةٍ مُنْذُ عُقُودٍ، لَمَا وَصَلَتِ المِنْطَقَةُ إِلَى هٰذِهِ النَّدْرَةِ. وَمِنَ المُهِمِّ أَنْ يُدْرِكَ الجَمِيعُ أَنَّ المَاءَ حَقٌّ لَا امْتِيَازٌ.</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أَشَدِّ أَزَمَاتِ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severe crises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المِيَاهِ العَذْبَةِ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fresh water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مُعَدَّلَاتُ الاسْتِهْلَاكِ</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consumption rates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سَيَسْتَنْفِدُ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exhaust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مَخْزُونَهُ الجَوْفِيَّ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groundwater reserve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تَفْتَقِرُ إِلَى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lacks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تَنْفَدَ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run out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الهَدْرَ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waste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مُتَكَامِلَةً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integrated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امْتِيَازٌ</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privilege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water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serious strategic challenge facing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Abundant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fear?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there is too much water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groundwater runs out in some countries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necessity require of governments?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develop desalination and reuse technologies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do 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 more water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Management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resources been managed wisely, the region would not be this scarce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Scarcity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important for everyone to realise?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water is a right, not a privilege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water is a luxury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water is unlimited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water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most serious strategic challenge facing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Abundant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أَخْطَرَ تَحَدٍّ اسْتِرَاتِيجِيٍّ يُوَاجِهُ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fear?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there is too much water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groundwater runs out in some countries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يَخْشَى الخُبَرَاءُ أَنْ تَنْفَدَ المِيَاهُ الجَوْفِيَّةُ.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necessity require of governments?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develop desalination and reuse technologies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do nothing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 more water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يَنْبَغِي أَنْ تُطَوِّرَ الحُكُومَاتُ تِقْنِيَّاتِ التَّحْلِيَةِ وَإِعَادَةِ الاسْتِخْدَامِ.</a:t>
            </a:r>
            <a:endParaRPr lang="ar-SA" sz="12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Management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resources been managed wisely, the region would not be this scarce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Scarcity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أُدِيرَتِ المَوَارِدُ بِحِكْمَةٍ … لَمَا وَصَلَتِ المِنْطَقَةُ إِلَى هٰذِهِ النَّدْرَةِ.</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important for everyone to realise?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water is a right, not a privilege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water is a luxury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water is unlimited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المُهِمِّ أَنْ يُدْرِكَ الجَمِيعُ أَنَّ المَاءَ حَقٌّ لَا امْتِيَازٌ.</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Water Mission — The Full Subjunctive System</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سِيَاسَاتِ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تَتَعَاوَنَ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تَتَعَاوَنُ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المُهِمِّ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المُزَارِعُونَ النَّظَرَ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سِيَاسَاتِ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تُطَوِّرَ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تَتَعَاوَنَ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تَتَعَاوَنُ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تَعَاوَنَتْ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المُهِمِّ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المُزَارِعُونَ النَّظَرَ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أَعَادَ</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المُهِمِّ أَنْ</a:t>
            </a:r>
            <a:pPr algn="l" indent="0" marL="0">
              <a:buNone/>
            </a:pPr>
            <a:r>
              <a:rPr lang="en-US" sz="1050" i="1" dirty="0">
                <a:solidFill>
                  <a:srgbClr val="8A6D1E"/>
                </a:solidFill>
                <a:latin typeface="Calibri" pitchFamily="34" charset="0"/>
                <a:cs typeface="Amiri" pitchFamily="2" charset="-78"/>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impersonal necessity.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P4-L05 · Natural Disasters — Describing and Responding to Extreme Events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زِلْزَالٌ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earthquake</a:t>
            </a:r>
            <a:pPr indent="0" marL="0">
              <a:buNone/>
            </a:pPr>
            <a:r>
              <a:rPr lang="ar-SA" sz="1000" i="1" dirty="0">
                <a:solidFill>
                  <a:srgbClr val="5A6472"/>
                </a:solidFill>
                <a:latin typeface="Calibri" pitchFamily="34" charset="0"/>
                <a:ea typeface="Amiri" pitchFamily="2" charset="-78"/>
                <a:cs typeface="Amiri" pitchFamily="2" charset="-78"/>
              </a:rPr>
              <a:t>  pl. زَلَازِلُ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فَيَضَانٌ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flood</a:t>
            </a:r>
            <a:pPr indent="0" marL="0">
              <a:buNone/>
            </a:pPr>
            <a:r>
              <a:rPr lang="ar-SA" sz="1000" i="1" dirty="0">
                <a:solidFill>
                  <a:srgbClr val="5A6472"/>
                </a:solidFill>
                <a:latin typeface="Calibri" pitchFamily="34" charset="0"/>
                <a:ea typeface="Amiri" pitchFamily="2" charset="-78"/>
                <a:cs typeface="Amiri" pitchFamily="2" charset="-78"/>
              </a:rPr>
              <a:t>  pl. فَيَضَانَاتٌ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إِجْلَاءٌ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evacuation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إِغَاثَةٌ إِنْسَانِيَّةٌ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humanitarian relief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دُمِّرَتْ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were destroyed</a:t>
            </a:r>
            <a:pPr indent="0" marL="0">
              <a:buNone/>
            </a:pPr>
            <a:r>
              <a:rPr lang="ar-SA" sz="1000" i="1" dirty="0">
                <a:solidFill>
                  <a:srgbClr val="5A6472"/>
                </a:solidFill>
                <a:latin typeface="Calibri" pitchFamily="34" charset="0"/>
                <a:ea typeface="Amiri" pitchFamily="2" charset="-78"/>
                <a:cs typeface="Amiri" pitchFamily="2" charset="-78"/>
              </a:rPr>
              <a:t>  passive of دَمَّرَ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natural disaster you have seen in the news. What happened, and who helped?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ضَرَبَ زِلْزَالٌ ______ وَدُمِّرَتْ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with yanbaghī an, min al-ḍarūrī an and min al-muhimm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subjunctives about water and label each trigger: purpose, volition or necessity.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water-policy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P4-L05 · Natural Disasters — Describing and Responding to Extreme Events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الكَوَارِثُ الطَّبِيعِيَّةُ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yanbaghī an · min al-ḍarūrī an · min al-muhimm an + a verb in -A — three triggers (purpose, volition, necessity), one ending — warn with idhā … sa-, regret with law … la- (or la-mā), and cite with akkada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P4-L04 · Water in the Arab World — Scarcity, Management and the Future</dc:title>
  <dc:subject>PptxGenJS Presentation</dc:subject>
  <dc:creator>Al Madina Online School · Arabic Department</dc:creator>
  <cp:lastModifiedBy>Al Madina Online School · Arabic Department</cp:lastModifiedBy>
  <cp:revision>1</cp:revision>
  <dcterms:created xsi:type="dcterms:W3CDTF">2026-10-11T06:43:18Z</dcterms:created>
  <dcterms:modified xsi:type="dcterms:W3CDTF">2026-10-11T06:43:18Z</dcterms:modified>
</cp:coreProperties>
</file>