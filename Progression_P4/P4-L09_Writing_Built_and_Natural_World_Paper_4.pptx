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P4-L09. The website lesson “Writing — The Built and Natural World (Paper 4 Extended Writing)”: vocabulary, grammar rules and quiz, patterns, common mistakes, sorter, listening, reading, speaking prompts and model, writing task and model, differentiation, final check and the lesson mission. Picture match: website visual game “Writing — The Built and Natural World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style): the website task is a 145–160-word environmental article that brings together P4-L01 to P4-L08 and rehearses the P4 writing assessment.
• Core: the four-paragraph plan with one sentence per paragraph, each trigger labelled (website Core). Develop: expand to 145 words with all three triggers marked. Stretch: 160 words with both conditionals, the past perfect and reported speech.
• The website’s Range checklist gives a separate mark to purpose, volition and necessity — so one of EACH, not three li-kay. (This is the course’s own checklist; Cambridge rewards range and accuracy in general.)
• Accuracy first: the website calls the final -a “the single highest accuracy criterion in P4”. Students circle every verb after a trigger before handing in.
• Faith link (optional): «إِنَّ اللّٰهَ يُحِبُّ إِذَا عَمِلَ أَحَدُكُمْ عَمَلًا أَنْ يُتْقِنَهُ» (al-Bayhaqī; graded ḥasan by al-Albānī) — Allah loves that when you do a job you perfect it. Notice: أَنْ يُتْقِنَهُ!
• TEACHER-WRITTEN ITEMS: waṣl alif shown without a kasra; لِكَيْ always written with its sukūn; the connector spelt عِلَاوَةً (website: عَلَاوَةً); pattern tip 2 corrected to yahdifu ilā an (the website’s own mistake 3); rule formulas, pattern tips, writing prompt and checklist in transliteration; sorter headings in transliteration; the plan, trigger, Range and upgrade tables are teacher-built from the website model;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P4-L08. Questions 4–5 retrieve reading the subjunctive (P4-L08) — today students write it themselves.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triggers, three Range marks — WHY (li-kay), WANT (yahdifu / yarjū an), MUST (yanbaghī an) — and every verb after them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حل، تشخیص and خاتمہ are shared. Careful: Urdu مضمون is an essay, but Arabic مَضْمُونٌ is the CONTENT of a text — an essay or article is مَقَالَةٌ. Today’s plan: التَّشْخِيصُ (diagnosis) → الحَلُّ المُقْتَرَحُ (the proposed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subjunctive triggers (website vocabulary (1 of 2)). Hear → Say → See → Use. Transliteration is printed for Core students (cover it for Develop/Stretch).
The three triggers — today’s Range checklist: purpose (لِكَيْ) · volition (يَهْدِفُ إِلَى / يَرْجُو / يَخْشَى أَنْ) · necessity (يَنْبَغِي / يَتَطَلَّبُ / مِنَ الضَّرُورِيِّ أَنْ). The website lists يَتَطَلَّبُ under necessity here (and under volition in P4-L03) — either is fine if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three subjunctive triggers (website vocabulary (2 of 2)). Hear → Say → See → Use. Transliteration is printed for Core students (cover it for Develop/Stretch).
The three triggers — today’s Range checklist: purpose (لِكَيْ) · volition (يَهْدِفُ إِلَى / يَرْجُو / يَخْشَى أَنْ) · necessity (يَنْبَغِي / يَتَطَلَّبُ / مِنَ الضَّرُورِيِّ أَنْ). The website lists يَتَطَلَّبُ under necessity here (and under volition in P4-L03) — either is fine if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built and natural world (website vocabulary (1 of 2)). Hear → Say → See → Use. Transliteration is printed for Core students (cover it for Develop/Stretch).
The built and natural world — the topic words that carry the argument. يُحَافِظُ عَلَى always keeps عَلَى: أَنْ نُحَافِظَ عَلَى التُّرَاثِ.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built and natural world (website vocabulary (2 of 2)). Hear → Say → See → Use. Transliteration is printed for Core students (cover it for Develop/Stretch).
FLEX: teach if time allows; otherwise these are on the website vocabulary tab for homework.
The built and natural world — the topic words that carry the argument. يُحَافِظُ عَلَى always keeps عَلَى: أَنْ نُحَافِظَ عَلَى التُّرَاثِ.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argument (website vocabulary (1 of 2)). Hear → Say → See → Use. Transliteration is printed for Core students (cover it for Develop/Stretch).
FLEX: teach if time allows; otherwise these are on the website vocabulary tab for homework.
Structuring the argument: التَّشْخِيصُ (the problem) → الحَلُّ المُقْتَرَحُ (the solution). Formal connectors sit at the START of a sentence, followed by a comma: عِلَاوَةً عَلَى ذٰلِكَ، … · وَمِنْ ثَمَّ … · وَخِتَامًا،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argument (website vocabulary (2 of 2)). Hear → Say → See → Use. Transliteration is printed for Core students (cover it for Develop/Stretch).
FLEX: teach if time allows; otherwise these are on the website vocabulary tab for homework.
Structuring the argument: التَّشْخِيصُ (the problem) → الحَلُّ المُقْتَرَحُ (the solution). Formal connectors sit at the START of a sentence, followed by a comma: عِلَاوَةً عَلَى ذٰلِكَ، … · وَمِنْ ثَمَّ … · وَخِتَامًا،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writing model and differentiation (“the four-paragraph plan with one sentence per paragraph, labelling each trigger”).
Core students write ONLY four sentences — one per row — and label each trigger in the margin: غَرَضٌ · إِرَادَةٌ · ضَرُورَةٌ. That is already a complete, organised text with three Range marks.
Row 4: the model ends with a HOPE (نَرْجُو أَنْ) — a second volition trigger and a warm, forward-looking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“Purpose”, “Volition”, “Necessity”, teaching points 1–2, the website table and mistakes 1–3.
Teaching point 1: “a P4 essay that uses only one type cannot reach full Range — the balance of all three is what top-grade Arabic looks like.”
Row 1: weak verbs in -ī show the -a clearly: نُنَقِّيَ · نَحْمِيَ (a favourite accuracy check). Row 2: يَهْدِفُ needs إِلَى before أَنْ — the website pattern tip 2 drops it; we follow the website’s own mistake 3.
Row 4: يَتَفَاقَمُ = to get worse,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“Conditionals and narrative”, the writing model (cards 1–3) and mistake 3.
Card 2: the Stretch Type 2 puts a past perfect inside — لَوْ كُنَّا قَدْ بَدَأْنَا (had we begun). Simpler Core version from the website rule: لَوْ خَطَّطْنَا مُبَكِّرًا، لَتَجَنَّبْنَا الكَارِثَةَ.
Card 3: قَالَ → إِنَّ (kasra); أَكَّدَ / أَشَارَ إِلَى → أَنَّ. لَيْسَتْ … بَلْ … = not … but … — a strong, quotable close for any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writing checklist and model.
Spelling: عِلَاوَةً (ʿilāwatan, with kasra) — the website writes عَلَاوَةً. The kasra is correct (cf. Urdu علاوہ).
Self-assessment: students tick each row in their own draft with a coloured pen, then circle every verb after a trigger and check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synthesis: place a purpose clause, a volition clause and a necessity clause, then weave in both conditionals, the past perfect and reported speech.”
• Purpose: A purpose clause states why an action is taken.
• Volition: A volition verb expresses intention, hope or fear.
• Necessity: An impersonal expression states what must happen.
• Conditionals and narrative: Recommend with a Type 1, reflect with a Type 2, open with a past perfect.
Website common error: Using only one trigger type, or dropping the final fatḥa on the subjunctive verb. Range rewards all three triggers, and each verb must carry the ـَ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Range aloud: past perfect (1) · necessity (2) · volition (3) · purpose (4) · Type 2 (5). Circle each verb after a trigger — nuʿīdA · yazraʿA · nunaqqiyA. Then point to the full model (Feedback) for the Type 1, the cited expert and the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an upgrade drill built from the website model. The left-hand sentences are accurate but show almost no Range — that is the point.
Core: rows 1–2. Develop: rows 1–4 (all three triggers). Stretch: all five, then add a connector to the front of rows 3 and 5 (لِذٰلِكَ · عِلَاوَةً عَلَى ذٰلِكَ).
Row 5: the plain fact (we started late) is exactly what the law sentence imagines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purpose clause, a necessity clause and a volition clause.” Website feedback: any three different combinations work.
Ask: which line has the MOST Range? (column 3 row 2 hides a Type 1 too: إِذَا تَأَخَّرْنَا).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 — three triggers, three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 — three triggers, three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write down the order of the paragraphs the examiner recommends.
Listen 1: just listen. Listen 2: note answers. Then chat the letters.
Support: after the second listening, show the read-along slide (Arabic + English, line by line) for Core students.
SCRIPT (read aloud):
فِي الوَرَقَةِ الرَّابِعَةِ، يَبْلُغُ نَصُّ هٰذِهِ الوَحْدَةِ مِئَةً وَخَمْسًا وَأَرْبَعِينَ إِلَى مِئَةٍ وَسِتِّينَ كَلِمَةً. النِّطَاقُ فِي مُسْتَوَى السَّنَةِ التَّاسِعَةِ يُكَافِئُ المُسَبِّبَاتِ الثَّلَاثَةَ لِلنَّصْبِ بِثَلَاثِ عَلَامَاتٍ مُنْفَصِلَةٍ: عَلَامَةٌ لِلْغَرَضِ مَعَ «لِكَيْ»، وَعَلَامَةٌ لِلْإِرَادَةِ مَعَ «يَهْدِفُ أَوْ يَرْجُو أَوْ يَخْشَى أَنْ»، وَعَلَامَةٌ لِلضَّرُورَةِ مَعَ «يَنْبَغِي أَوْ يَتَطَلَّبُ أَنْ». وَبَعْدَ كُلِّ مُسَبِّبٍ يَأْتِي فِعْلٌ مَنْصُوبٌ بِفَتْحَةٍ فِي آخِرِهِ. النَّصُّ الَّذِي يَحْمِلُ مُسَبِّبًا وَاحِدًا فَقَطْ لَا يَنَالُ النِّطَاقَ الكَامِلَ. افْتَحْ بِخَلْفِيَّةٍ فِي المَاضِي التَّامِّ، ثُمَّ أَوْصِ بِشَرْطٍ مِنَ النَّوْعِ الأَوَّلِ، ثُمَّ تَأَمَّلْ بِشَرْطٍ مِنَ النَّوْعِ الثَّانِي، وَاخْتِمْ بِرَابِطٍ رَسْمِيٍّ.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الغَرَضُ؟ (Purpose)
B: نَزْرَعُ الأَشْجَارَ لِكَيْ نُنَقِّيَ الهَوَاءَ، وَيَنْبَغِي أَنْ نَسْتَثْمِرَ أَكْثَرَ. (Purpose plus necessity)
Website prompts and model: students TALK THROUGH their plan with a partner before writing (2 min each). The partner counts the triggers on their fingers — three needed! To a girl: خَلْفِيَّتُكِ · سَتَذْكُرِينَهُ · رَجَاؤُكِ.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paragraph, labelling each trigger. · Develop — Expand to 145 words with all three subjunctive triggers marked. · Stretch — Reach 160 words with all three triggers, both conditionals, past perfect and reported speech.
Website writing task (Stretch): Write a 145–160-word built / natural-world article. Open with a past-perfect background, then place all three subjunctive triggers — a purpose clause (li-kay), a volition clause (yahdifu ilā an / yarjū an / yakhshā an) and a necessity clause (yanbaghī an / yataṭallabu an) — and add a Type 1 recommendation, a Type 2 reflection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150 words). Range: كَانَتْ … قَدْ فَقَدَتْ (past perfect) · يَنْبَغِي أَنْ نُعِيدَ … وَأَنْ نُخَصِّصَ (necessity) · يَهْدِفُ إِلَى أَنْ يَزْرَعَ (volition) · لِكَيْ نُنَقِّيَ … وَنَحْمِيَ (purpose) · قَالَ … إِنَّ (reported) · إِذَا اسْتَثْمَرْنَا … سَنُقَلِّلُ (Type 1) · لَوْ كُنَّا قَدْ بَدَأْنَا … لَكَانَتْ (Type 2) · نَرْجُو أَنْ يَتَحَمَّلَ (volition) · لِذٰلِكَ · عِلَاوَةً عَلَى ذٰلِكَ · وَخِتَامًا (connectors).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(P4-L10 · Listening — Built and Natural World Texts) will spend class time USING this language, so students prepare it tonight — short, simple, easy to access (school guidance: “Simple, Short, Interesting, Relevant, Easy to access”). The five words come from the website P4-L10 vocabulary (listening for triggers).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The Built and Natural World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450" b="1" dirty="0">
                <a:solidFill>
                  <a:srgbClr val="D4AF37"/>
                </a:solidFill>
                <a:latin typeface="Amiri" pitchFamily="34" charset="0"/>
                <a:ea typeface="Amiri" pitchFamily="34" charset="-122"/>
                <a:cs typeface="Amiri" pitchFamily="34" charset="-120"/>
              </a:rPr>
              <a:t>الكِتَابَةُ — العَالَمُ المَبْنِيُّ وَالطَّبِيعِيُّ (كِتَابَةٌ مُوَسَّعَةٌ)</a:t>
            </a:r>
            <a:endParaRPr lang="ar-SA" sz="3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and write a 145–160-word environmental article that carries all three triggers — li-kay (purpose), yahdifu ilā an / yarjū an (volition), yanbaghī an (necessity) — with a kāna qad opening, both conditionals, a cited expert and formal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P4-L09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The four-paragraph plan, three triggers = three Range marks, both conditionals with a cited expert, the Range checklist.</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plain sentences, build an article line,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الحُجَّةُ البِيئِيَّةُ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environmental 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environmental argument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green building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التَّشْخِيصُ</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diagnosis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decoration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الحَلُّ المُقْتَرَحُ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answer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main problem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proposed solution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subjunctive?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تَسْتَنْفِدُ المِنْطَقَةُ مِيَاهَهَا.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تَعَاوَنَتِ الدُّوَلُ.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يَتَطَلَّبُ الوَضْعُ أَنْ تَتَعَاوَنَ الدُّوَلُ.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necessity subjunctive tells the reader the action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required but not yet done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already finished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الحُجَّةُ البِيئِيَّةُ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environmental law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environmental argument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green building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التَّشْخِيصُ</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diagnosis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decoration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description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الحَلُّ المُقْتَرَحُ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answer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main problem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proposed solution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subjunctive?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تَسْتَنْفِدُ المِنْطَقَةُ مِيَاهَهَا.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تَعَاوَنَتِ الدُّوَلُ.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يَتَطَلَّبُ الوَضْعُ أَنْ تَتَعَاوَنَ الدُّوَلُ.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P4-L08: trigger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necessity subjunctive tells the reader the action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required but not yet done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already finished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P4-L08: maṭlūb lā munjaz.</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ea typeface="Calibri" pitchFamily="34" charset="-122"/>
                <a:cs typeface="Calibri" pitchFamily="34" charset="-120"/>
              </a:rPr>
              <a:t>Three triggers, three Range marks — WHY (li-kay), WANT (yahdifu / yarjū an), MUST (yanbaghī an) — and every verb after them ends in -a.</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لِكَيْ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نُنَقِّيَ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يَهْدِفُ إِلَى أَنْ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يَزْرَعَ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يَنْبَغِي أَنْ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نُعِيدَ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four-paragraph environmental article.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li-kay (purpose), a volition verb and a necessity expression — one of each.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 a kāna qad opening, both conditionals and reported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Reach 145–160 words with nine or more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li-kay sentence with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all three triggers — one of each.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kāna qad opening and a cited expert.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both conditionals and two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145–160 accurate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three subjunctive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built and natural world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Structuring the argument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an article, a paper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مَضْمُونٌ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‎مضمون‎ </a:t>
            </a:r>
            <a:pPr indent="0" marL="0">
              <a:buNone/>
            </a:pPr>
            <a:r>
              <a:rPr lang="en-US" sz="950" b="1" dirty="0">
                <a:solidFill>
                  <a:srgbClr val="2E8B57"/>
                </a:solidFill>
                <a:latin typeface="Calibri" pitchFamily="34" charset="0"/>
                <a:ea typeface="Calibri" pitchFamily="34" charset="-122"/>
                <a:cs typeface="Calibri" pitchFamily="34" charset="-120"/>
              </a:rPr>
              <a:t> mazmūn · Arabic: content · Urdu: an essay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‎حل‎ </a:t>
            </a:r>
            <a:pPr indent="0" marL="0">
              <a:buNone/>
            </a:pPr>
            <a:r>
              <a:rPr lang="en-US" sz="950" b="1" dirty="0">
                <a:solidFill>
                  <a:srgbClr val="2E8B57"/>
                </a:solidFill>
                <a:latin typeface="Calibri" pitchFamily="34" charset="0"/>
                <a:ea typeface="Calibri" pitchFamily="34" charset="-122"/>
                <a:cs typeface="Calibri" pitchFamily="34" charset="-120"/>
              </a:rPr>
              <a:t> hal · a solution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تَشْخِيصٌ</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‎تشخیص‎ </a:t>
            </a:r>
            <a:pPr indent="0" marL="0">
              <a:buNone/>
            </a:pPr>
            <a:r>
              <a:rPr lang="en-US" sz="950" b="1" dirty="0">
                <a:solidFill>
                  <a:srgbClr val="2E8B57"/>
                </a:solidFill>
                <a:latin typeface="Calibri" pitchFamily="34" charset="0"/>
                <a:ea typeface="Calibri" pitchFamily="34" charset="-122"/>
                <a:cs typeface="Calibri" pitchFamily="34" charset="-120"/>
              </a:rPr>
              <a:t> tashkhīs · a diagnosis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خِتَامٌ · وَخِتَامًا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an ending · in conclusion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three subjunctive triggers (1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What forces the fatḥa.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مُسَبِّبُ النَّصْبِ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mu-sab-bi-bu an-naṣ-bi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لِكَيْ + subjunctive.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 (purpose)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يَهْدِفُ إِلَى أَنْ</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aims to (volition)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yah-di-fu i-lā an</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تَهْدِفُ إِلَى أَنْ</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أَهْدِفُ إِلَى أَنْ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يَرْجُو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hopes that (volition)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yar-jū an</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تَرْجُو أَنْ</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أَرْجُو أَنْ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three subjunctive triggers (2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يَخْشَى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fears that (volition)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yakh-shā 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تَخْشَى أَنْ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أَخْشَى أَنْ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3" name="Shape 30"/>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subjunctive.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يَنْبَغِي أَنْ</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ought that (necessity)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yan-ba-ghī an</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يَتَطَلَّبُ أَنْ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requires that (necessity)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ya-ta-ṭal-la-bu an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تَتَطَلَّبُ أَنْ</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2" name="Shape 49"/>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Impersonal necessity.</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الضَّرُورِيِّ أَنْ</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necessary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aḍ-ḍa-rū-riy-yi an</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built and natural world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البِيئَةُ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al-bī-ʾa-tu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التُّرَاثُ العُمْرَانِيُّ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built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at-tu-rā-thu al-ʿum-rā-niy-yu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النِّظَامُ البِيئِيُّ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ecosystem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an-ni-ẓā-mu al-bī-ʾiy-yu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الطَّاقَةُ المُتَجَدِّدَةُ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renewable energy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aṭ-ṭā-qa-tu al-mu-ta-jad-di-da-tu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built and natural world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الاسْتِدَامَةُ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als-ti-dā-ma-tu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التَّلَوُّثُ</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at-ta-law-wu-thu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الأَجْيَالُ القَادِمَةُ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future generations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al-aj-yā-lu al-qā-di-ma-tu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يُحَافِظُ عَلَى</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yu-ḥā-fi-ẓu ʿa-lā</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تُحَافِظُ عَلَى</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أُحَافِظُ عَلَى</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Structuring the argument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الحُجَّةُ البِيئِيَّةُ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environmental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al-ḥuj-ja-tu al-bī-ʾiy-ya-tu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التَّشْخِيصُ</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diagnosis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at-tash-khī-ṣu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الحَلُّ المُقْتَرَحُ</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proposed solution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al-ḥal-lu al-muq-ta-ra-ḥu</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الحُلُولُ المُقْتَرَحَةُ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4" name="Shape 4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connector.</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ʿi-lā-wa-tan ʿa-lā dhā-li-ka</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Structuring the argument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connector.</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وَمِنْ ثَمَّ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thus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wa-min tham-ma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وَخِتَامًا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wa-khi-tā-man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الصَّوْتُ الأَكَادِيمِيُّ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academic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aṣ-ṣaw-tu al-a-kā-dī-miy-yu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يُعَالِجُ</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addresses / tackles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yu-ʿā-li-ju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تُعَالِجُ</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أُعَالِجُ</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FOUR-PARAGRAPH PLAN (WEBSITE WRITING MODEL + DIFFERENTIATION)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Diagnosis → solution → evidence → future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 (website model)</a:t>
            </a:r>
            <a:endParaRPr lang="en-US" sz="1100" dirty="0"/>
          </a:p>
        </p:txBody>
      </p:sp>
      <p:sp>
        <p:nvSpPr>
          <p:cNvPr id="17" name="Text 14"/>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754880" y="2267712"/>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مُدُنُنَا العَرَبِيَّةُ </a:t>
            </a:r>
            <a:pPr rtl="1" algn="ctr" indent="0" marL="0">
              <a:buNone/>
            </a:pPr>
            <a:r>
              <a:rPr lang="ar-SA" altLang="en-US" sz="1800" b="1" dirty="0">
                <a:solidFill>
                  <a:srgbClr val="C77700"/>
                </a:solidFill>
                <a:latin typeface="Amiri" pitchFamily="34" charset="0"/>
                <a:ea typeface="Amiri" pitchFamily="34" charset="-122"/>
                <a:cs typeface="Amiri" pitchFamily="34" charset="-120"/>
              </a:rPr>
              <a:t>قَدْ فَقَدَتْ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كَثِيرًا مِنْ مِسَاحَاتِهَا الخَضْرَاءِ.</a:t>
            </a:r>
            <a:endParaRPr lang="ar-SA" sz="1800" dirty="0"/>
          </a:p>
        </p:txBody>
      </p:sp>
      <p:sp>
        <p:nvSpPr>
          <p:cNvPr id="21" name="Text 18"/>
          <p:cNvSpPr txBox="1"/>
          <p:nvPr/>
        </p:nvSpPr>
        <p:spPr>
          <a:xfrm>
            <a:off x="257860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problem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754880" y="3054096"/>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نُعِيدَ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التَّوَازُنَ … مَشْرُوعًا يَهْدِفُ إِلَى أَنْ </a:t>
            </a:r>
            <a:pPr rtl="1" algn="ctr" indent="0" marL="0">
              <a:buNone/>
            </a:pPr>
            <a:r>
              <a:rPr lang="ar-SA" altLang="en-US" sz="1800" b="1" dirty="0">
                <a:solidFill>
                  <a:srgbClr val="1D5FBF"/>
                </a:solidFill>
                <a:latin typeface="Amiri" pitchFamily="34" charset="0"/>
                <a:ea typeface="Amiri" pitchFamily="34" charset="-122"/>
                <a:cs typeface="Amiri" pitchFamily="34" charset="-120"/>
              </a:rPr>
              <a:t>يَزْرَعَ</a:t>
            </a:r>
            <a:pPr rtl="1" algn="ctr" indent="0" marL="0">
              <a:buNone/>
            </a:pPr>
            <a:r>
              <a:rPr lang="ar-SA" altLang="en-US" sz="1800" b="1" dirty="0">
                <a:solidFill>
                  <a:srgbClr val="1B3B6F"/>
                </a:solidFill>
                <a:latin typeface="Amiri" pitchFamily="34" charset="0"/>
                <a:ea typeface="Amiri" pitchFamily="34" charset="-122"/>
                <a:cs typeface="Amiri" pitchFamily="34" charset="-120"/>
              </a:rPr>
              <a:t> مَلَايِينَ الأَشْجَارِ.</a:t>
            </a:r>
            <a:endParaRPr lang="ar-SA" sz="1800" dirty="0"/>
          </a:p>
        </p:txBody>
      </p:sp>
      <p:sp>
        <p:nvSpPr>
          <p:cNvPr id="27" name="Text 24"/>
          <p:cNvSpPr txBox="1"/>
          <p:nvPr/>
        </p:nvSpPr>
        <p:spPr>
          <a:xfrm>
            <a:off x="257860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 + volition</a:t>
            </a:r>
            <a:endParaRPr lang="en-US" sz="11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what must happen</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754880" y="3840480"/>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نَزْرَعُهَا لِكَيْ </a:t>
            </a:r>
            <a:pPr rtl="1" algn="ctr" indent="0" marL="0">
              <a:buNone/>
            </a:pPr>
            <a:r>
              <a:rPr lang="ar-SA" altLang="en-US" sz="1800" b="1" dirty="0">
                <a:solidFill>
                  <a:srgbClr val="D6336C"/>
                </a:solidFill>
                <a:latin typeface="Amiri" pitchFamily="34" charset="0"/>
                <a:ea typeface="Amiri" pitchFamily="34" charset="-122"/>
                <a:cs typeface="Amiri" pitchFamily="34" charset="-120"/>
              </a:rPr>
              <a:t>نُنَقِّيَ</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الهَوَاءَ · </a:t>
            </a:r>
            <a:pPr rtl="1" algn="ctr" indent="0" marL="0">
              <a:buNone/>
            </a:pPr>
            <a:r>
              <a:rPr lang="ar-SA" altLang="en-US" sz="1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800" b="1" dirty="0">
                <a:solidFill>
                  <a:srgbClr val="1B3B6F"/>
                </a:solidFill>
                <a:latin typeface="Amiri" pitchFamily="34" charset="0"/>
                <a:ea typeface="Amiri" pitchFamily="34" charset="-122"/>
                <a:cs typeface="Amiri" pitchFamily="34" charset="-120"/>
              </a:rPr>
              <a:t> خَبِيرٌ بِيئِيٌّ </a:t>
            </a:r>
            <a:pPr rtl="1" algn="ctr" indent="0" marL="0">
              <a:buNone/>
            </a:pPr>
            <a:r>
              <a:rPr lang="ar-SA" altLang="en-US" sz="1800" b="1" dirty="0">
                <a:solidFill>
                  <a:srgbClr val="7B3FA0"/>
                </a:solidFill>
                <a:latin typeface="Amiri" pitchFamily="34" charset="0"/>
                <a:ea typeface="Amiri" pitchFamily="34" charset="-122"/>
                <a:cs typeface="Amiri" pitchFamily="34" charset="-120"/>
              </a:rPr>
              <a:t>إِنَّ</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33" name="Text 30"/>
          <p:cNvSpPr txBox="1"/>
          <p:nvPr/>
        </p:nvSpPr>
        <p:spPr>
          <a:xfrm>
            <a:off x="257860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 + reported</a:t>
            </a:r>
            <a:endParaRPr lang="en-US" sz="11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why + evidence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754880" y="4626864"/>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سَنُقَلِّلُ · لَوْ … لَكَانَتْ · </a:t>
            </a:r>
            <a:pPr rtl="1" algn="ctr" indent="0" marL="0">
              <a:buNone/>
            </a:pPr>
            <a:r>
              <a:rPr lang="ar-SA" altLang="en-US" sz="1800" b="1" dirty="0">
                <a:solidFill>
                  <a:srgbClr val="1D5FBF"/>
                </a:solidFill>
                <a:latin typeface="Amiri" pitchFamily="34" charset="0"/>
                <a:ea typeface="Amiri" pitchFamily="34" charset="-122"/>
                <a:cs typeface="Amiri" pitchFamily="34" charset="-120"/>
              </a:rPr>
              <a:t>وَخِتَامًا</a:t>
            </a:r>
            <a:pPr rtl="1" algn="ctr" indent="0" marL="0">
              <a:buNone/>
            </a:pPr>
            <a:r>
              <a:rPr lang="ar-SA" altLang="en-US" sz="1800" b="1" dirty="0">
                <a:solidFill>
                  <a:srgbClr val="1B3B6F"/>
                </a:solidFill>
                <a:latin typeface="Amiri" pitchFamily="34" charset="0"/>
                <a:ea typeface="Amiri" pitchFamily="34" charset="-122"/>
                <a:cs typeface="Amiri" pitchFamily="34" charset="-120"/>
              </a:rPr>
              <a:t>، نَرْجُو أَنْ يَتَحَمَّلَ …</a:t>
            </a:r>
            <a:endParaRPr lang="ar-SA" sz="1800" dirty="0"/>
          </a:p>
        </p:txBody>
      </p:sp>
      <p:sp>
        <p:nvSpPr>
          <p:cNvPr id="39" name="Text 36"/>
          <p:cNvSpPr txBox="1"/>
          <p:nvPr/>
        </p:nvSpPr>
        <p:spPr>
          <a:xfrm>
            <a:off x="257860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Type 2 · hope</a:t>
            </a:r>
            <a:endParaRPr lang="en-US" sz="1100" dirty="0"/>
          </a:p>
        </p:txBody>
      </p:sp>
      <p:sp>
        <p:nvSpPr>
          <p:cNvPr id="40" name="Text 37"/>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future → close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Back (what we had lost) → now (what must happen) → why (purpose + evidence) → forward and back (if … / had …) → hope.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TRIGGERS, THREE RANGE MARKS (WEBSITE RULES 1–3, TEACHING POINTS 1–2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of each — and every verb in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ثَلَاثَةُ مُسَبِّبَاتٍ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p>
        </p:txBody>
      </p:sp>
      <p:sp>
        <p:nvSpPr>
          <p:cNvPr id="17" name="Text 14"/>
          <p:cNvSpPr txBox="1"/>
          <p:nvPr/>
        </p:nvSpPr>
        <p:spPr>
          <a:xfrm>
            <a:off x="528523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21762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Triggers</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561320"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 → -iya</a:t>
            </a:r>
            <a:endParaRPr lang="en-US" sz="1100" dirty="0"/>
          </a:p>
        </p:txBody>
      </p:sp>
      <p:sp>
        <p:nvSpPr>
          <p:cNvPr id="22" name="Text 19"/>
          <p:cNvSpPr txBox="1"/>
          <p:nvPr/>
        </p:nvSpPr>
        <p:spPr>
          <a:xfrm>
            <a:off x="5303520" y="2267712"/>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نَزْرَعُ الأَشْجَارَ لِكَيْ </a:t>
            </a:r>
            <a:pPr rtl="1" algn="ctr" indent="0" marL="0">
              <a:buNone/>
            </a:pPr>
            <a:r>
              <a:rPr lang="ar-SA" altLang="en-US" sz="1700" b="1" dirty="0">
                <a:solidFill>
                  <a:srgbClr val="D6336C"/>
                </a:solidFill>
                <a:latin typeface="Amiri" pitchFamily="34" charset="0"/>
                <a:ea typeface="Amiri" pitchFamily="34" charset="-122"/>
                <a:cs typeface="Amiri" pitchFamily="34" charset="-120"/>
              </a:rPr>
              <a:t>نُنَقِّيَ</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الهَوَاءَ وَ</a:t>
            </a:r>
            <a:pPr rtl="1" algn="ctr" indent="0" marL="0">
              <a:buNone/>
            </a:pPr>
            <a:r>
              <a:rPr lang="ar-SA" altLang="en-US" sz="1700" b="1" dirty="0">
                <a:solidFill>
                  <a:srgbClr val="D6336C"/>
                </a:solidFill>
                <a:latin typeface="Amiri" pitchFamily="34" charset="0"/>
                <a:ea typeface="Amiri" pitchFamily="34" charset="-122"/>
                <a:cs typeface="Amiri" pitchFamily="34" charset="-120"/>
              </a:rPr>
              <a:t>نَحْمِيَ</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الأَجْيَالَ.</a:t>
            </a:r>
            <a:endParaRPr lang="ar-SA" sz="1700" dirty="0"/>
          </a:p>
        </p:txBody>
      </p:sp>
      <p:sp>
        <p:nvSpPr>
          <p:cNvPr id="23" name="Text 20"/>
          <p:cNvSpPr txBox="1"/>
          <p:nvPr/>
        </p:nvSpPr>
        <p:spPr>
          <a:xfrm>
            <a:off x="2194560" y="2267712"/>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لِكَيْ</a:t>
            </a:r>
            <a:endParaRPr lang="ar-SA" sz="17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561320"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a:t>
            </a:r>
            <a:endParaRPr lang="en-US" sz="1100" dirty="0"/>
          </a:p>
        </p:txBody>
      </p:sp>
      <p:sp>
        <p:nvSpPr>
          <p:cNvPr id="29" name="Text 26"/>
          <p:cNvSpPr txBox="1"/>
          <p:nvPr/>
        </p:nvSpPr>
        <p:spPr>
          <a:xfrm>
            <a:off x="5303520" y="3004718"/>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يَهْدِفُ المَشْرُوعُ إِلَى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يُقَلِّلَ</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الانْبِعَاثَاتِ.</a:t>
            </a:r>
            <a:endParaRPr lang="ar-SA" sz="1700" dirty="0"/>
          </a:p>
        </p:txBody>
      </p:sp>
      <p:sp>
        <p:nvSpPr>
          <p:cNvPr id="30" name="Text 27"/>
          <p:cNvSpPr txBox="1"/>
          <p:nvPr/>
        </p:nvSpPr>
        <p:spPr>
          <a:xfrm>
            <a:off x="2194560" y="3004718"/>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يَهْدِفُ إِلَى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يَرْجُو أَنْ · يَخْشَى أَنْ</a:t>
            </a:r>
            <a:endParaRPr lang="ar-SA" sz="17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561320"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an</a:t>
            </a:r>
            <a:endParaRPr lang="en-US" sz="1100" dirty="0"/>
          </a:p>
        </p:txBody>
      </p:sp>
      <p:sp>
        <p:nvSpPr>
          <p:cNvPr id="36" name="Text 33"/>
          <p:cNvSpPr txBox="1"/>
          <p:nvPr/>
        </p:nvSpPr>
        <p:spPr>
          <a:xfrm>
            <a:off x="5303520" y="3741725"/>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نُعِيدَ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التَّوَازُنَ وَأَنْ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نُخَصِّصَ</a:t>
            </a:r>
            <a:pPr rtl="1" algn="ctr" indent="0" marL="0">
              <a:buNone/>
            </a:pPr>
            <a:r>
              <a:rPr lang="ar-SA" altLang="en-US" sz="1700" b="1" dirty="0">
                <a:solidFill>
                  <a:srgbClr val="1B3B6F"/>
                </a:solidFill>
                <a:latin typeface="Amiri" pitchFamily="34" charset="0"/>
                <a:ea typeface="Amiri" pitchFamily="34" charset="-122"/>
                <a:cs typeface="Amiri" pitchFamily="34" charset="-120"/>
              </a:rPr>
              <a:t> مِيزَانِيَّاتٍ.</a:t>
            </a:r>
            <a:endParaRPr lang="ar-SA" sz="1700" dirty="0"/>
          </a:p>
        </p:txBody>
      </p:sp>
      <p:sp>
        <p:nvSpPr>
          <p:cNvPr id="37" name="Text 34"/>
          <p:cNvSpPr txBox="1"/>
          <p:nvPr/>
        </p:nvSpPr>
        <p:spPr>
          <a:xfrm>
            <a:off x="2194560" y="3741725"/>
            <a:ext cx="2926080" cy="682142"/>
          </a:xfrm>
          <a:prstGeom prst="rect">
            <a:avLst/>
          </a:prstGeom>
          <a:noFill/>
          <a:ln/>
        </p:spPr>
        <p:txBody>
          <a:bodyPr wrap="square" lIns="0" tIns="0" rIns="0" bIns="0" rtlCol="0" anchor="ctr"/>
          <a:lstStyle/>
          <a:p>
            <a:pPr rtl="1" algn="ctr" indent="0" marL="0">
              <a:buNone/>
            </a:pPr>
            <a:r>
              <a:rPr lang="ar-SA" altLang="en-US" sz="1650" b="1" dirty="0">
                <a:solidFill>
                  <a:srgbClr val="0E7C86"/>
                </a:solidFill>
                <a:latin typeface="Amiri" pitchFamily="34" charset="0"/>
                <a:ea typeface="Amiri" pitchFamily="34" charset="-122"/>
                <a:cs typeface="Amiri" pitchFamily="34" charset="-120"/>
              </a:rPr>
              <a:t>يَنْبَغِي أَنْ</a:t>
            </a:r>
            <a:pPr rtl="1" algn="ctr" indent="0" marL="0">
              <a:buNone/>
            </a:pPr>
            <a:r>
              <a:rPr lang="ar-SA" altLang="en-US" sz="1650" b="1" dirty="0">
                <a:solidFill>
                  <a:srgbClr val="1B3B6F"/>
                </a:solidFill>
                <a:latin typeface="Amiri" pitchFamily="34" charset="0"/>
                <a:ea typeface="Amiri" pitchFamily="34" charset="-122"/>
                <a:cs typeface="Amiri" pitchFamily="34" charset="-120"/>
              </a:rPr>
              <a:t> · يَتَطَلَّبُ أَنْ · مِنَ الضَّرُورِيِّ أَنْ</a:t>
            </a:r>
            <a:endParaRPr lang="ar-SA" sz="165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561320"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fear</a:t>
            </a:r>
            <a:endParaRPr lang="en-US" sz="1100" dirty="0"/>
          </a:p>
        </p:txBody>
      </p:sp>
      <p:sp>
        <p:nvSpPr>
          <p:cNvPr id="43" name="Text 40"/>
          <p:cNvSpPr txBox="1"/>
          <p:nvPr/>
        </p:nvSpPr>
        <p:spPr>
          <a:xfrm>
            <a:off x="5303520" y="4478731"/>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نَخْشَى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يَتَفَاقَمَ</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التَّلَوُّثُ إِذَا تَأَخَّرْنَا.</a:t>
            </a:r>
            <a:endParaRPr lang="ar-SA" sz="1700" dirty="0"/>
          </a:p>
        </p:txBody>
      </p:sp>
      <p:sp>
        <p:nvSpPr>
          <p:cNvPr id="44" name="Text 41"/>
          <p:cNvSpPr txBox="1"/>
          <p:nvPr/>
        </p:nvSpPr>
        <p:spPr>
          <a:xfrm>
            <a:off x="2194560" y="4478731"/>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نَخْشَى أَنْ</a:t>
            </a:r>
            <a:endParaRPr lang="ar-SA" sz="1700" dirty="0"/>
          </a:p>
        </p:txBody>
      </p:sp>
      <p:sp>
        <p:nvSpPr>
          <p:cNvPr id="45" name="Text 42"/>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561320"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hope</a:t>
            </a:r>
            <a:endParaRPr lang="en-US" sz="1100" dirty="0"/>
          </a:p>
        </p:txBody>
      </p:sp>
      <p:sp>
        <p:nvSpPr>
          <p:cNvPr id="48" name="Text 45"/>
          <p:cNvSpPr txBox="1"/>
          <p:nvPr/>
        </p:nvSpPr>
        <p:spPr>
          <a:xfrm>
            <a:off x="5303520" y="5215738"/>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نَرْجُو أَنْ </a:t>
            </a:r>
            <a:pPr rtl="1" algn="ctr" indent="0" marL="0">
              <a:buNone/>
            </a:pPr>
            <a:r>
              <a:rPr lang="ar-SA" altLang="en-US" sz="1700" b="1" dirty="0">
                <a:solidFill>
                  <a:srgbClr val="1D5FBF"/>
                </a:solidFill>
                <a:latin typeface="Amiri" pitchFamily="34" charset="0"/>
                <a:ea typeface="Amiri" pitchFamily="34" charset="-122"/>
                <a:cs typeface="Amiri" pitchFamily="34" charset="-120"/>
              </a:rPr>
              <a:t>يَتَحَمَّلَ</a:t>
            </a:r>
            <a:pPr rtl="1" algn="ctr" indent="0" marL="0">
              <a:buNone/>
            </a:pPr>
            <a:r>
              <a:rPr lang="ar-SA" altLang="en-US" sz="1700" b="1" dirty="0">
                <a:solidFill>
                  <a:srgbClr val="1B3B6F"/>
                </a:solidFill>
                <a:latin typeface="Amiri" pitchFamily="34" charset="0"/>
                <a:ea typeface="Amiri" pitchFamily="34" charset="-122"/>
                <a:cs typeface="Amiri" pitchFamily="34" charset="-120"/>
              </a:rPr>
              <a:t> كُلُّ فَرْدٍ مَسْؤُولِيَّتَهُ.</a:t>
            </a:r>
            <a:endParaRPr lang="ar-SA" sz="1700" dirty="0"/>
          </a:p>
        </p:txBody>
      </p:sp>
      <p:sp>
        <p:nvSpPr>
          <p:cNvPr id="49" name="Text 46"/>
          <p:cNvSpPr txBox="1"/>
          <p:nvPr/>
        </p:nvSpPr>
        <p:spPr>
          <a:xfrm>
            <a:off x="2194560" y="5215738"/>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نَرْجُو أَنْ</a:t>
            </a:r>
            <a:endParaRPr lang="ar-SA" sz="1700" dirty="0"/>
          </a:p>
        </p:txBody>
      </p:sp>
      <p:sp>
        <p:nvSpPr>
          <p:cNvPr id="50" name="Text 4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li-kay naḥmī ✗ → naḥmiya ✓ · an nastathmiru ✗ → nastathmira ✓. Mistake 3: yahdifu an ✗ → yahdifu ilā an ✓.</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FORWARD, BACK, EVIDENCE (WEBSITE RULE 4, WRITING MODEL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Recommend, reflect, cite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التَّوْصِيَةُ · التَّأَمُّلُ · الاسْتِشْهَادُ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FORWARD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اسْتَثْمَرْنَا فِي الطَّاقَةِ النَّظِيفَةِ، سَنُقَلِّلُ الانْبِعَاثَاتِ.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we invest in clean energy, we will cut emissions.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BACK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كُنَّا قَدْ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كُنَّا قَدْ بَدَأْنَا مُبَكِّرًا، لَكَانَتْ بِيئَتُنَا أَفْضَلَ حَالًا.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we started early, our environment would be in better shape.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perfect inside.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 …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قَالَ خَبِيرٌ بِيئِيٌّ إِنَّ الاسْتِدَامَةَ لَيْسَتْ رَفَاهِيَةً بَلْ ضَرُورَةٌ.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 environmental expert said sustainability is not a luxury but a necessity.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laysat … bal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yahdifu is fixed with ilā before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يَهْدِفُ المَشْرُوعُ إِلَى أَنْ يُقَلِّلَ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يَهْدِفُ المَشْرُوعُ أَنْ يُقَلِّلَ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P4 RANGE CHECKLIST IN THE WEBSITE MODEL (WEBSITE VOCABULARY + WRITING CHECKLIST)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Range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النِّطَاقِ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290779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 in the 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marker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P4-L05 / L07</a:t>
            </a:r>
            <a:endParaRPr lang="en-US" sz="1100" dirty="0"/>
          </a:p>
        </p:txBody>
      </p:sp>
      <p:sp>
        <p:nvSpPr>
          <p:cNvPr id="21" name="Text 18"/>
          <p:cNvSpPr txBox="1"/>
          <p:nvPr/>
        </p:nvSpPr>
        <p:spPr>
          <a:xfrm>
            <a:off x="292608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مُدُنُنَا </a:t>
            </a:r>
            <a:pPr rtl="1" algn="ctr" indent="0" marL="0">
              <a:buNone/>
            </a:pPr>
            <a:r>
              <a:rPr lang="ar-SA" altLang="en-US" sz="1800" b="1" dirty="0">
                <a:solidFill>
                  <a:srgbClr val="C77700"/>
                </a:solidFill>
                <a:latin typeface="Amiri" pitchFamily="34" charset="0"/>
                <a:ea typeface="Amiri" pitchFamily="34" charset="-122"/>
                <a:cs typeface="Amiri" pitchFamily="34" charset="-120"/>
              </a:rPr>
              <a:t>قَدْ فَقَدَتْ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C77700"/>
                </a:solidFill>
                <a:latin typeface="Amiri" pitchFamily="34" charset="0"/>
                <a:ea typeface="Amiri" pitchFamily="34" charset="-122"/>
                <a:cs typeface="Amiri" pitchFamily="34" charset="-120"/>
              </a:rPr>
              <a:t>كُنَّا قَدْ بَدَأْنَا</a:t>
            </a:r>
            <a:endParaRPr lang="ar-SA" sz="1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P4-L01–L06</a:t>
            </a:r>
            <a:endParaRPr lang="en-US" sz="1100" dirty="0"/>
          </a:p>
        </p:txBody>
      </p:sp>
      <p:sp>
        <p:nvSpPr>
          <p:cNvPr id="27" name="Text 24"/>
          <p:cNvSpPr txBox="1"/>
          <p:nvPr/>
        </p:nvSpPr>
        <p:spPr>
          <a:xfrm>
            <a:off x="292608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1800" b="1" dirty="0">
                <a:solidFill>
                  <a:srgbClr val="D6336C"/>
                </a:solidFill>
                <a:latin typeface="Amiri" pitchFamily="34" charset="0"/>
                <a:ea typeface="Amiri" pitchFamily="34" charset="-122"/>
                <a:cs typeface="Amiri" pitchFamily="34" charset="-120"/>
              </a:rPr>
              <a:t>نُنَقِّيَ</a:t>
            </a:r>
            <a:pPr rtl="1" algn="ctr" indent="0" marL="0">
              <a:buNone/>
            </a:pPr>
            <a:r>
              <a:rPr lang="ar-SA" altLang="en-US" sz="1800" b="1" dirty="0">
                <a:solidFill>
                  <a:srgbClr val="1B3B6F"/>
                </a:solidFill>
                <a:latin typeface="Amiri" pitchFamily="34" charset="0"/>
                <a:ea typeface="Amiri" pitchFamily="34" charset="-122"/>
                <a:cs typeface="Amiri" pitchFamily="34" charset="-120"/>
              </a:rPr>
              <a:t> · يَهْدِفُ إِلَى أَنْ </a:t>
            </a:r>
            <a:pPr rtl="1" algn="ctr" indent="0" marL="0">
              <a:buNone/>
            </a:pPr>
            <a:r>
              <a:rPr lang="ar-SA" altLang="en-US" sz="1800" b="1" dirty="0">
                <a:solidFill>
                  <a:srgbClr val="1D5FBF"/>
                </a:solidFill>
                <a:latin typeface="Amiri" pitchFamily="34" charset="0"/>
                <a:ea typeface="Amiri" pitchFamily="34" charset="-122"/>
                <a:cs typeface="Amiri" pitchFamily="34" charset="-120"/>
              </a:rPr>
              <a:t>يَزْرَعَ</a:t>
            </a:r>
            <a:pPr rtl="1" algn="ctr" indent="0" marL="0">
              <a:buNone/>
            </a:pPr>
            <a:r>
              <a:rPr lang="ar-SA" altLang="en-US" sz="1800" b="1" dirty="0">
                <a:solidFill>
                  <a:srgbClr val="1B3B6F"/>
                </a:solidFill>
                <a:latin typeface="Amiri" pitchFamily="34" charset="0"/>
                <a:ea typeface="Amiri" pitchFamily="34" charset="-122"/>
                <a:cs typeface="Amiri" pitchFamily="34" charset="-120"/>
              </a:rPr>
              <a:t> · يَنْبَغِي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نُعِيدَ</a:t>
            </a:r>
            <a:endParaRPr lang="ar-SA" sz="1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triggers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33" name="Text 30"/>
          <p:cNvSpPr txBox="1"/>
          <p:nvPr/>
        </p:nvSpPr>
        <p:spPr>
          <a:xfrm>
            <a:off x="292608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اسْتَثْمَرْنَا … سَنُقَلِّلُ · لَوْ كُنَّا … لَكَانَتْ</a:t>
            </a:r>
            <a:endParaRPr lang="ar-SA" sz="18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conditionals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P3-L06</a:t>
            </a:r>
            <a:endParaRPr lang="en-US" sz="1100" dirty="0"/>
          </a:p>
        </p:txBody>
      </p:sp>
      <p:sp>
        <p:nvSpPr>
          <p:cNvPr id="37" name="Text 34"/>
          <p:cNvSpPr txBox="1"/>
          <p:nvPr/>
        </p:nvSpPr>
        <p:spPr>
          <a:xfrm>
            <a:off x="292608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800" b="1" dirty="0">
                <a:solidFill>
                  <a:srgbClr val="1B3B6F"/>
                </a:solidFill>
                <a:latin typeface="Amiri" pitchFamily="34" charset="0"/>
                <a:ea typeface="Amiri" pitchFamily="34" charset="-122"/>
                <a:cs typeface="Amiri" pitchFamily="34" charset="-120"/>
              </a:rPr>
              <a:t> خَبِيرٌ بِيئِيٌّ </a:t>
            </a:r>
            <a:pPr rtl="1" algn="ctr" indent="0" marL="0">
              <a:buNone/>
            </a:pPr>
            <a:r>
              <a:rPr lang="ar-SA" altLang="en-US" sz="1800" b="1" dirty="0">
                <a:solidFill>
                  <a:srgbClr val="7B3FA0"/>
                </a:solidFill>
                <a:latin typeface="Amiri" pitchFamily="34" charset="0"/>
                <a:ea typeface="Amiri" pitchFamily="34" charset="-122"/>
                <a:cs typeface="Amiri" pitchFamily="34" charset="-120"/>
              </a:rPr>
              <a:t>إِنَّ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الاسْتِدَامَةَ …</a:t>
            </a:r>
            <a:endParaRPr lang="ar-SA" sz="18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P3-L05</a:t>
            </a:r>
            <a:endParaRPr lang="en-US" sz="1100" dirty="0"/>
          </a:p>
        </p:txBody>
      </p:sp>
      <p:sp>
        <p:nvSpPr>
          <p:cNvPr id="41" name="Text 38"/>
          <p:cNvSpPr txBox="1"/>
          <p:nvPr/>
        </p:nvSpPr>
        <p:spPr>
          <a:xfrm>
            <a:off x="292608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عِلَاوَةً عَلَى 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1D5FBF"/>
                </a:solidFill>
                <a:latin typeface="Amiri" pitchFamily="34" charset="0"/>
                <a:ea typeface="Amiri" pitchFamily="34" charset="-122"/>
                <a:cs typeface="Amiri" pitchFamily="34" charset="-120"/>
              </a:rPr>
              <a:t>لِذٰلِكَ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 </a:t>
            </a:r>
            <a:pPr rtl="1" algn="ctr" indent="0" marL="0">
              <a:buNone/>
            </a:pPr>
            <a:r>
              <a:rPr lang="ar-SA" altLang="en-US" sz="1800" b="1" dirty="0">
                <a:solidFill>
                  <a:srgbClr val="1D5FBF"/>
                </a:solidFill>
                <a:latin typeface="Amiri" pitchFamily="34" charset="0"/>
                <a:ea typeface="Amiri" pitchFamily="34" charset="-122"/>
                <a:cs typeface="Amiri" pitchFamily="34" charset="-120"/>
              </a:rPr>
              <a:t>وَخِتَامًا</a:t>
            </a:r>
            <a:endParaRPr lang="ar-SA" sz="1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connectors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Count them: that is nine or more structures — the website Stretch target for 160 words.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Assembling the P4 range with all three triggers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تَرْكِيبُ النِّطَاقِ بِالمُسَبِّبَاتِ الثَّلَاثَةِ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Purpose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نَسْتَثْمِرُ فِي الطَّاقَةِ النَّظِيفَةِ لِكَيْ نَحْمِيَ الأَجْيَالَ القَادِمَةَ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Volition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yahdifu ilā an / yarjū an / yakhshā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يَهْدِفُ المَشْرُوعُ إِلَى أَنْ يُقَلِّلَ الانْبِعَاثَاتِ   ·   نَخْشَى أَنْ يَتَفَاقَمَ التَّلَوُّثُ</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Necessity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yanbaghī / yataṭallabu / min al-ḍarūrī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يَنْبَغِي أَنْ نَسْتَثْمِرَ فِي البُنْيَةِ التَّحْتِيَّةِ   ·   مِنَ الضَّرُورِيِّ أَنْ نُحَافِظَ عَلَى التُّرَاثِ</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Conditionals and narrative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 · kāna qad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اسْتَثْمَرْنَا اليَوْمَ، سَنَحْمِي الغَدَ   ·   لَوْ خَطَّطْنَا مُبَكِّرًا، لَتَجَنَّبْنَا الكَارِثَةَ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states a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نَسْتَثْمِرَ فِي الطَّاقَةِ.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نَخْشَى أَنْ يَتَفَاقَمَ التَّلَوُّثُ.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 فِي الطَّاقَةِ النَّظِيفَةِ لِكَيْ نَحْمِيَ البِيئَةَ.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expresses volition (intention)?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يَهْدِفُ المَشْرُوعُ إِلَى أَنْ يُقَلِّلَ الانْبِعَاثَاتِ.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الانْبِعَاثَاتِ.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نُقَلِّلَ الانْبِعَاثَاتِ.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expresses impersonal necessity?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نُحَافِظَ عَلَى التُّرَاثِ.</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نُحَافِظَ عَلَى التُّرَاثِ.</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نَرْجُو أَنْ نُحَافِظَ عَلَى التُّرَاثِ.</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نَزْرَعُ الأَشْجَارَ لِكَيْ ___ الهَوَاءَ.</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states a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نَسْتَثْمِرَ فِي الطَّاقَةِ.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نَخْشَى أَنْ يَتَفَاقَمَ التَّلَوُّثُ.</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نَسْتَثْمِرُ فِي الطَّاقَةِ النَّظِيفَةِ لِكَيْ نَحْمِيَ البِيئَةَ.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 subjunctive states a purpose.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expresses volition (intention)?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يَهْدِفُ المَشْرُوعُ إِلَى أَنْ يُقَلِّلَ الانْبِعَاثَاتِ.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الانْبِعَاثَاتِ.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نُقَلِّلَ الانْبِعَاثَاتِ.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يَهْدِفُ إِلَى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intention — a volition trigger.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expresses impersonal necessity?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نُحَافِظَ عَلَى التُّرَاثِ.</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نُحَافِظَ عَلَى التُّرَاثِ.</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نَرْجُو أَنْ نُحَافِظَ عَلَى التُّرَاثِ.</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is an impersonal necessity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نَزْرَعُ الأَشْجَارَ لِكَيْ ___ الهَوَاءَ.</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نُنَقِّيَ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نُنَقِّيَ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كَانَتْ</a:t>
            </a:r>
            <a:pPr rtl="1" algn="ctr" indent="0" marL="0">
              <a:buNone/>
            </a:pPr>
            <a:r>
              <a:rPr lang="ar-SA" altLang="en-US" sz="2400" b="1" dirty="0">
                <a:solidFill>
                  <a:srgbClr val="1B3B6F"/>
                </a:solidFill>
                <a:latin typeface="Amiri" pitchFamily="34" charset="0"/>
                <a:ea typeface="Amiri" pitchFamily="34" charset="-122"/>
                <a:cs typeface="Amiri" pitchFamily="34" charset="-120"/>
              </a:rPr>
              <a:t> مُدُنُنَا </a:t>
            </a:r>
            <a:pPr rtl="1" algn="ctr" indent="0" marL="0">
              <a:buNone/>
            </a:pPr>
            <a:r>
              <a:rPr lang="ar-SA" altLang="en-US" sz="2400" b="1" dirty="0">
                <a:solidFill>
                  <a:srgbClr val="C77700"/>
                </a:solidFill>
                <a:latin typeface="Amiri" pitchFamily="34" charset="0"/>
                <a:ea typeface="Amiri" pitchFamily="34" charset="-122"/>
                <a:cs typeface="Amiri" pitchFamily="34" charset="-120"/>
              </a:rPr>
              <a:t>قَدْ فَقَدَتْ</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Back.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Must + want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يَنْبَغِي أَنْ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نُعِيدَ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يَهْدِفُ إِلَى أَنْ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يَزْرَعَ</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800" b="1" dirty="0">
                <a:solidFill>
                  <a:srgbClr val="D6336C"/>
                </a:solidFill>
                <a:latin typeface="Amiri" pitchFamily="34" charset="0"/>
                <a:ea typeface="Amiri" pitchFamily="34" charset="-122"/>
                <a:cs typeface="Amiri" pitchFamily="34" charset="-120"/>
              </a:rPr>
              <a:t>نُنَقِّيَ</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الهَوَاءَ</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كُنَّا قَدْ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لَكَانَتْ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VOLITION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كَانَتْ مُدُنُنَا قَدْ فَقَدَتْ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كَثِيرًا مِنْ مِسَاحَاتِهَا الخَضْرَاءِ. وَاليَوْمَ يَنْبَغِي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نُعِيدَ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التَّوَازُنَ بَيْنَ العُمْرَانِ وَالطَّبِيعَةِ. لِذٰلِكَ أَطْلَقَتِ الحُكُومَةُ مَشْرُوعًا يَهْدِفُ إِلَى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يَزْرَعَ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مَلَايِينَ الأَشْجَارِ، وَنَزْرَعُهَا لِكَيْ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نُنَقِّيَ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الهَوَاءَ.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كُنَّا قَدْ بَدَأْنَا مُبَكِّرًا،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بِيئَتُنَا أَفْضَلَ حَالًا.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Our cities had lost much of their green space. Today we should restore the balance between buildings and nature. So the government has launched a project that aims to plant millions of trees, and we plant them so that we purify the air. Had we started early, our environment would be in better shape.</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نَسْتَثْمِرُ فِي الطَّاقَةِ النَّظِيفَةِ لِكَيْ نَحْمِيَ الأَجْيَالَ القَادِمَةَ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invest in clean energy so that we protect future generations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li-kay + a verb in -a.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يَهْدِفُ المَشْرُوعُ إِلَى أَنْ يُقَلِّلَ الانْبِعَاثَاتِ الكَرْبُونِيَّةَ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project aims to reduce carbon emissions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Volition: yahdifu ilā an + a verb in -a.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يَنْبَغِي أَنْ نُحَافِظَ عَلَى التُّرَاثِ العُمْرَانِيِّ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should preserve our built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Necessity: yanbaghī an + a verb in -a.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32735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 4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1" name="Text 18"/>
          <p:cNvSpPr txBox="1"/>
          <p:nvPr/>
        </p:nvSpPr>
        <p:spPr>
          <a:xfrm>
            <a:off x="3291840" y="2267712"/>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مُدُنُنَا قَدْ فَقَدَتْ كَثِيرًا مِنْ مِسَاحَاتِهَا الخَضْرَاءِ.</a:t>
            </a:r>
            <a:endParaRPr lang="ar-SA" sz="18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المُدُنُ فَقَدَتِ الحَدَائِقَ.</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7" name="Text 24"/>
          <p:cNvSpPr txBox="1"/>
          <p:nvPr/>
        </p:nvSpPr>
        <p:spPr>
          <a:xfrm>
            <a:off x="3291840" y="3004718"/>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نَزْرَعُ الأَشْجَارَ لِكَيْ نُنَقِّيَ الهَوَاءَ وَنَحْمِيَ الأَجْيَالَ القَادِمَةَ.</a:t>
            </a:r>
            <a:endParaRPr lang="ar-SA" sz="18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نَزْرَعُ الأَشْجَارَ.</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volition</a:t>
            </a:r>
            <a:endParaRPr lang="en-US" sz="1100" dirty="0"/>
          </a:p>
        </p:txBody>
      </p:sp>
      <p:sp>
        <p:nvSpPr>
          <p:cNvPr id="33" name="Text 30"/>
          <p:cNvSpPr txBox="1"/>
          <p:nvPr/>
        </p:nvSpPr>
        <p:spPr>
          <a:xfrm>
            <a:off x="3291840" y="3741725"/>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أَطْلَقَتِ الحُكُومَةُ مَشْرُوعًا يَهْدِفُ إِلَى أَنْ يَزْرَعَ مَلَايِينَ الأَشْجَارِ.</a:t>
            </a:r>
            <a:endParaRPr lang="ar-SA" sz="18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المَشْرُوعُ يَزْرَعُ أَشْجَارًا.</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necessity</a:t>
            </a:r>
            <a:endParaRPr lang="en-US" sz="1100" dirty="0"/>
          </a:p>
        </p:txBody>
      </p:sp>
      <p:sp>
        <p:nvSpPr>
          <p:cNvPr id="37" name="Text 34"/>
          <p:cNvSpPr txBox="1"/>
          <p:nvPr/>
        </p:nvSpPr>
        <p:spPr>
          <a:xfrm>
            <a:off x="3291840" y="4478731"/>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نُعِيدَ التَّوَازُنَ بَيْنَ العُمْرَانِ وَالطَّبِيعَةِ.</a:t>
            </a:r>
            <a:endParaRPr lang="ar-SA" sz="18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التَّوَازُنُ مُهِمٌّ.</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41" name="Text 38"/>
          <p:cNvSpPr txBox="1"/>
          <p:nvPr/>
        </p:nvSpPr>
        <p:spPr>
          <a:xfrm>
            <a:off x="3291840" y="5215738"/>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كُنَّا قَدْ بَدَأْنَا مُبَكِّرًا، لَكَانَتْ بِيئَتُنَا أَفْضَلَ حَالًا.</a:t>
            </a:r>
            <a:endParaRPr lang="ar-SA" sz="18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بَدَأْنَا مُتَأَخِّرِينَ.</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 necessity + volition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Purpose (li-kay)</a:t>
            </a:r>
            <a:endParaRPr lang="en-US" sz="1100" dirty="0"/>
          </a:p>
        </p:txBody>
      </p:sp>
      <p:sp>
        <p:nvSpPr>
          <p:cNvPr id="19" name="Text 16"/>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Necessity</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Volition (hope / fear / aim)</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نَزْرَعُ الأَشْجَارَ لِكَيْ نُنَقِّيَ الهَوَاءَ وَنَحْمِيَ الأَجْيَالَ القَادِمَةَ</a:t>
            </a:r>
            <a:endParaRPr lang="ar-SA" sz="1400" dirty="0"/>
          </a:p>
        </p:txBody>
      </p:sp>
      <p:sp>
        <p:nvSpPr>
          <p:cNvPr id="23" name="Text 20"/>
          <p:cNvSpPr txBox="1"/>
          <p:nvPr/>
        </p:nvSpPr>
        <p:spPr>
          <a:xfrm>
            <a:off x="441655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وَيَنْبَغِي أَنْ نُعِيدَ التَّوَازُنَ بَيْنَ العُمْرَانِ وَالطَّبِيعَةِ</a:t>
            </a:r>
            <a:endParaRPr lang="ar-SA" sz="155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وَنَرْجُو أَنْ يَتَحَمَّلَ كُلُّ فَرْدٍ مَسْؤُولِيَّتَهُ تُجَاهَ البِيئَةِ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نَسْتَثْمِرُ فِي الطَّاقَةِ النَّظِيفَةِ لِكَيْ نُقَلِّلَ الانْبِعَاثَاتِ</a:t>
            </a:r>
            <a:endParaRPr lang="ar-SA" sz="1600" dirty="0"/>
          </a:p>
        </p:txBody>
      </p:sp>
      <p:sp>
        <p:nvSpPr>
          <p:cNvPr id="29" name="Text 26"/>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وَيَتَطَلَّبُ الأَمْرُ أَنْ نُخَصِّصَ مِيزَانِيَّاتٍ أَكْبَرَ لِلْبِيئَةِ</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وَنَخْشَى أَنْ يَتَفَاقَمَ التَّلَوُّثُ إِذَا تَأَخَّرْنَا</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نَحْفَظُ المِيَاهَ لِكَيْ نَصُونَ الحَيَاةَ فِي المِنْطَقَةِ</a:t>
            </a:r>
            <a:endParaRPr lang="ar-SA" sz="1600" dirty="0"/>
          </a:p>
        </p:txBody>
      </p:sp>
      <p:sp>
        <p:nvSpPr>
          <p:cNvPr id="33" name="Text 30"/>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وَمِنَ الضَّرُورِيِّ أَنْ نُحَافِظَ عَلَى التُّرَاثِ العُمْرَانِيِّ</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وَيَهْدِفُ المَشْرُوعُ إِلَى أَنْ يُوَازِنَ بَيْنَ التَّنْمِيَةِ وَالاسْتِدَامَةِ</a:t>
            </a:r>
            <a:endParaRPr lang="ar-SA" sz="145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and earns three Range marks.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الأَجْيَالَ القَادِمَةَ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نُنَقِّيَ الهَوَاءَ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نَصُونَ التُّرَاثَ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يَهْدِفُ المَشْرُوعُ إِلَى أَنْ يُقَلِّلَ الانْبِعَاثَاتِ</a:t>
            </a:r>
            <a:endParaRPr lang="ar-SA" sz="14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نَرْجُو أَنْ تَنْجَحَ المُفَاوَضَاتُ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نَخْشَى أَنْ يَتَفَاقَمَ التَّلَوُّثُ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نَسْتَثْمِرَ فِي الطَّاقَةِ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الأَمْرُ أَنْ نُخَصِّصَ مِيزَانِيَّةً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مِنَ الضَّرُورِيِّ أَنْ نُحَافِظَ عَلَى المِيَاهِ</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(yahdifu / yarjū / yakhshā)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 yataṭallabu)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نَحْمِيَ الأَجْيَالَ القَادِمَةَ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نُنَقِّيَ الهَوَاءَ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نَصُونَ التُّرَاثَ</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volition (yahdifu / yarjū / yakhshā)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يَهْدِفُ المَشْرُوعُ إِلَى أَنْ يُقَلِّلَ الانْبِعَاثَاتِ</a:t>
            </a:r>
            <a:endParaRPr lang="ar-SA" sz="175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نَرْجُو أَنْ تَنْجَحَ المُفَاوَضَاتُ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نَخْشَى أَنْ يَتَفَاقَمَ التَّلَوُّثُ</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necessity (yanbaghī / yataṭallabu)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يَنْبَغِي أَنْ نَسْتَثْمِرَ فِي الطَّاقَةِ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يَتَطَلَّبُ الأَمْرُ أَنْ نُخَصِّصَ مِيزَانِيَّةً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نُحَافِظَ عَلَى المِيَاهِ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three triggers matter for Range?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 enough for full Range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necessity clause: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يَتَطَلَّبُ الأَمْرُ أَنْ ___ فِي البُنْيَةِ التَّحْتِيَّةِ.</a:t>
            </a:r>
            <a:endParaRPr lang="ar-SA" sz="13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volition clause: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يَخْشَى الخُبَرَاءُ أَنْ ___ الاحْتِرَارُ حَدَّهُ.</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يَتَجَاوَزُ</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يَتَجَاوَزَ</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يَتَجَاوَزْ</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carries a Type 2 reflection?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خَطَّطْنَا، سَنَتَجَنَّبُ الكَارِثَةَ.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نُخَطِّطُ لِلْمُسْتَقْبَلِ.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خَطَّطْنَا مُبَكِّرًا، لَتَجَنَّبْنَا الكَارِثَةَ.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three triggers matter for Range?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 enough for full Range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Purpose, volition and necessity are three separate Range marks.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necessity clause: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يَتَطَلَّبُ الأَمْرُ أَنْ ___ فِي البُنْيَةِ التَّحْتِيَّةِ.</a:t>
            </a:r>
            <a:endParaRPr lang="ar-SA" sz="13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نَسْتَثْمِرَ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volition clause: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يَخْشَى الخُبَرَاءُ أَنْ ___ الاحْتِرَارُ حَدَّهُ.</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يَتَجَاوَزُ</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يَتَجَاوَزَ</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يَتَجَاوَزْ</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يَخْشَى</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يَتَجَاوَزَ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carries a Type 2 reflection?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خَطَّطْنَا، سَنَتَجَنَّبُ الكَارِثَةَ.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نُخَطِّطُ لِلْمُسْتَقْبَلِ.</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خَطَّطْنَا مُبَكِّرًا، لَتَجَنَّبْنَا الكَارِثَةَ.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a backward-looking reflection.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نَسْتَثْمِرُ فِي الطَّاقَةِ النَّظِيفَةِ لِكَيْ نَحْمِي البِيئَةَ.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Only one trigger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يَنْبَغِي أَنْ نَسْتَثْمِرُ فِي البُنْيَةِ التَّحْتِيَّةِ.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li-kay naḥmī?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يَهْدِفُ المَشْرُوعُ أَنْ يُقَلِّلَ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yahdifu 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نَسْتَثْمِرُ فِي الطَّاقَةِ النَّظِيفَةِ لِكَيْ نَحْمِي البِيئَةَ.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نَسْتَثْمِرُ فِي الطَّاقَةِ النَّظِيفَةِ لِكَيْ نَحْمِيَ البِيئَةَ.</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takes a final fatḥa: </a:t>
            </a:r>
            <a:pPr algn="l" indent="0" marL="0">
              <a:buNone/>
            </a:pPr>
            <a:r>
              <a:rPr lang="ar-SA" altLang="en-US" sz="1500" b="1" dirty="0">
                <a:solidFill>
                  <a:srgbClr val="1B3B6F"/>
                </a:solidFill>
                <a:latin typeface="Amiri" pitchFamily="34" charset="0"/>
                <a:ea typeface="Amiri" pitchFamily="34" charset="-122"/>
                <a:cs typeface="Amiri" pitchFamily="34" charset="-120"/>
              </a:rPr>
              <a:t>نَحْمِيَ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يَنْبَغِي أَنْ نَسْتَثْمِرُ فِي البُنْيَةِ التَّحْتِيَّةِ.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يَنْبَغِي أَنْ نَسْتَثْمِرَ فِي البُنْيَةِ التَّحْتِيَّةِ.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نَسْتَثْمِرَ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يَهْدِفُ المَشْرُوعُ أَنْ يُقَلِّلَ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يَهْدِفُ المَشْرُوعُ إِلَى أَنْ يُقَلِّلَ الانْبِعَاثَاتِ.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يَهْدِفُ</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 before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Listening: an examiner on the three triggers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P4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145 to 160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three subjunctive triggers marked?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share one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counts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every subjunctive verb after a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ḍamma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sukūn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 (</a:t>
            </a:r>
            <a:pPr algn="l" indent="0" marL="0">
              <a:buNone/>
            </a:pPr>
            <a:r>
              <a:rPr lang="ar-SA" altLang="en-US" sz="1650" dirty="0">
                <a:solidFill>
                  <a:srgbClr val="1F2A37"/>
                </a:solidFill>
                <a:latin typeface="Amiri" pitchFamily="34" charset="0"/>
                <a:ea typeface="Amiri" pitchFamily="34" charset="-122"/>
                <a:cs typeface="Amiri" pitchFamily="34" charset="-120"/>
              </a:rPr>
              <a:t>ـَ</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signals a purpose clause?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the future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past-perfect background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greeting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word count · li-kay · the fatḥa.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الوَرَقَةِ الرَّابِعَةِ، يَبْلُغُ نَصُّ هٰذِهِ الوَحْدَةِ مِئَةً وَخَمْسًا وَأَرْبَعِينَ إِلَى مِئَةٍ وَسِتِّينَ كَلِمَةً.</a:t>
            </a:r>
            <a:endParaRPr lang="ar-SA" sz="17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Paper 4, the text in this unit is 145 to 160 words.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النِّطَاقُ فِي مُسْتَوَى السَّنَةِ التَّاسِعَةِ يُكَافِئُ المُسَبِّبَاتِ الثَّلَاثَةَ لِلنَّصْبِ بِثَلَاثِ عَلَامَاتٍ مُنْفَصِلَةٍ.</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Year 9 level, Range rewards the three subjunctive triggers with three separate marks.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عَلَامَةٌ لِلْغَرَضِ مَعَ «لِكَيْ»، وَعَلَامَةٌ لِلْإِرَادَةِ مَعَ «يَهْدِفُ أَوْ يَرْجُو أَوْ يَخْشَى أَنْ»، وَعَلَامَةٌ لِلضَّرُورَةِ مَعَ «يَنْبَغِي أَوْ يَتَطَلَّبُ أَنْ».</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mark for purpose with “li-kay”, one for volition with “yahdifu, yarjū or yakhshā an”, and one for necessity with “yanbaghī or yataṭallabu an”.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وَبَعْدَ كُلِّ مُسَبِّبٍ يَأْتِي فِعْلٌ مَنْصُوبٌ بِفَتْحَةٍ فِي آخِرِهِ. النَّصُّ الَّذِي يَحْمِلُ مُسَبِّبًا وَاحِدًا فَقَطْ لَا يَنَالُ النِّطَاقَ الكَامِلَ.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every trigger comes a subjunctive verb with a fatḥa at the end. A text that carries only one trigger does not get full Range.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افْتَحْ بِخَلْفِيَّةٍ فِي المَاضِي التَّامِّ، ثُمَّ أَوْصِ بِشَرْطٍ مِنَ النَّوْعِ الأَوَّلِ، ثُمَّ تَأَمَّلْ بِشَرْطٍ مِنَ النَّوْعِ الثَّانِي، وَاخْتِمْ بِرَابِطٍ رَسْمِيٍّ.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with a background in the past perfect, then recommend with a Type 1, then reflect with a Type 2, and close with a formal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P4 text?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145 to 160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مِئَةً وَخَمْسًا وَأَرْبَعِينَ إِلَى مِئَةٍ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three subjunctive triggers marked?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share one mark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counts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Each earns a separate Range mark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يُكَافِئُ المُسَبِّبَاتِ الثَّلَاثَةَ بِثَلَاثِ عَلَامَاتٍ مُنْفَصِلَةٍ.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every subjunctive verb after a trigger?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ḍamma</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sukūn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 (</a:t>
            </a:r>
            <a:pPr algn="l" indent="0" marL="0">
              <a:buNone/>
            </a:pPr>
            <a:r>
              <a:rPr lang="ar-SA" altLang="en-US" sz="1650" b="1" dirty="0">
                <a:solidFill>
                  <a:srgbClr val="1F2A37"/>
                </a:solidFill>
                <a:latin typeface="Amiri" pitchFamily="34" charset="0"/>
                <a:ea typeface="Amiri" pitchFamily="34" charset="-122"/>
                <a:cs typeface="Amiri" pitchFamily="34" charset="-120"/>
              </a:rPr>
              <a:t>ـَ</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كُلِّ مُسَبِّبٍ يَأْتِي فِعْلٌ مَنْصُوبٌ بِفَتْحَةٍ.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marker signals a purpose clause?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عَلَامَةٌ لِلْغَرَضِ مَعَ «لِكَيْ».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the future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past-perfect background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greeting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اِفْتَحْ بِخَلْفِيَّةٍ فِي المَاضِي التَّامِّ.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word count · li-kay · the fatḥa.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خَلْفِيَّتُكَ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الغَرَضُ الَّذِي سَتَذْكُرُهُ بِـ«لِكَيْ»؟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الضَّرُورَةُ الَّتِي سَتَذْكُرُهَا بِـ«يَنْبَغِي أَنْ»؟ وَمَا رَجَاؤُكَ؟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كَانَتْ مَدِينَتِي قَدْ فَقَدَتْ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نَزْرَعُ الأَشْجَارَ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يَنْبَغِي أَنْ ___ ، وَنَرْجُو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كَانَتْ مَدِينَتِي قَدْ فَقَدَتْ حَدَائِقَهَا قَبْلَ أَنْ نَنْتَبِهَ.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city had lost its gardens before we noticed.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four-paragraph plan with one sentence per paragraph, labelling each trigger.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the four-paragraph plan with one sentence per paragraph, each trigger labelled.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145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to 145 words with all three subjunctive triggers marked.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to 145 words with all three triggers marked.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145–160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160 words with all three triggers, both conditionals, past perfect and reported speech.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all three triggers, both conditionals, the past perfect, reported speech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يَهْدِفُ المَشْرُوعُ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project aims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قَالَ خَبِيرٌ بِيئِيٌّ إِنَّ ______ لَيْسَتْ رَفَاهِيَةً بَلْ ______ .</a:t>
            </a:r>
            <a:endParaRPr lang="ar-SA" sz="14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 expert said that … is not a luxury but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B3B6F"/>
                </a:solidFill>
                <a:latin typeface="Amiri" pitchFamily="34" charset="0"/>
                <a:ea typeface="Amiri" pitchFamily="34" charset="-122"/>
                <a:cs typeface="Amiri" pitchFamily="34" charset="-120"/>
              </a:rPr>
              <a:t>عِلَاوَةً عَلَى ذٰلِكَ، إِذَا اسْتَثْمَرْنَا فِي ______ ، سَنُقَلِّلُ ______ .</a:t>
            </a:r>
            <a:endParaRPr lang="ar-SA" sz="12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if we invest in …, we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وَلَوْ كُنَّا قَدْ بَدَأْنَا مُبَكِّرًا، لَكَانَتْ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we started early,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كَانَتْ مَدِينَتُنَا قَدْ فَقَدَتْ ______ قَبْلَ أَنْ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city had lost … before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وَاليَوْمَ يَنْبَغِي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Today we should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نَسْتَثْمِرُ فِي ______ لِكَيْ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plant / invest … so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وَخِتَامًا، نَرْجُو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we hope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مِسَاحَاتِهَا الخَضْرَاءَ  ·  نَنْتَبِهَ لِلْخَطَرِ  ·  نُعِيدَ التَّوَازُنَ  ·  نُنَقِّيَ الهَوَاءَ  ·  نَحْمِيَ الأَجْيَالَ القَادِمَةَ  ·  يَزْرَعَ مَلَايِينَ الأَشْجَارِ  ·  يُقَلِّلَ الانْبِعَاثَاتِ  ·  الاسْتِدَامَةَ  ·  ضَرُورَةٌ حَتْمِيَّةٌ  ·  الطَّاقَةِ النَّظِيفَةِ  ·  بِيئَتُنَا أَفْضَلَ حَالًا  ·  يَتَحَمَّلَ كُلُّ فَرْدٍ مَسْؤُولِيَّتَهُ</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a 145–160-word built / natural-world article. Open with a past-perfect background, then place all three subjunctive triggers — a purpose clause (li-kay), a volition clause (yahdifu ilā an / yarjū an / yakhshā an) and a necessity clause (yanbaghī an / yataṭallabu an) — and add a Type 1 recommendation, a Type 2 reflection and a formal connector.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background opening (kāna qad).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subjunctive triggers, each with the final fatḥa on its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recommendation and a Type 2 reflection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Reported speech, a formal connector and 145-160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نُدْرِكَ حَجْمَ الخَطَرِ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we realised the scale of the danger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 العُمْرَانِ وَالطَّبِيعَةِ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between buildings and nature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لَيْسَتْ رَفَاهِيَةً بَلْ ضَرُورَةٌ حَتْمِيَّةٌ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a luxury but an absolute necessity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بِشَكْلٍ مَلْحُوظٍ</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noticeably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تُجَاهَ كَوْكَبِنَا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towards our planet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00" dirty="0">
                <a:solidFill>
                  <a:srgbClr val="1F2A37"/>
                </a:solidFill>
                <a:latin typeface="Amiri" pitchFamily="34" charset="0"/>
                <a:ea typeface="Amiri" pitchFamily="34" charset="-122"/>
                <a:cs typeface="Amiri" pitchFamily="34" charset="-120"/>
              </a:rPr>
              <a:t>كَانَتْ مُدُنُنَا العَرَبِيَّةُ قَدْ فَقَدَتْ كَثِيرًا مِنْ مِسَاحَاتِهَا الخَضْرَاءِ قَبْلَ أَنْ نُدْرِكَ حَجْمَ الخَطَرِ عَلَى البِيئَةِ. وَاليَوْمَ يَنْبَغِي أَنْ نُعِيدَ التَّوَازُنَ بَيْنَ العُمْرَانِ وَالطَّبِيعَةِ، وَأَنْ نُخَصِّصَ مِيزَانِيَّاتٍ أَكْبَرَ لِلطَّاقَةِ المُتَجَدِّدَةِ. لِذٰلِكَ أَطْلَقَتِ الحُكُومَةُ مَشْرُوعًا يَهْدِفُ إِلَى أَنْ يَزْرَعَ مَلَايِينَ الأَشْجَارِ، وَنَزْرَعُهَا لِكَيْ نُنَقِّيَ الهَوَاءَ وَنَحْمِيَ الأَجْيَالَ القَادِمَةَ. وَقَالَ خَبِيرٌ بِيئِيٌّ إِنَّ الاسْتِدَامَةَ لَيْسَتْ رَفَاهِيَةً بَلْ ضَرُورَةٌ حَتْمِيَّةٌ. عِلَاوَةً عَلَى ذٰلِكَ، إِذَا اسْتَثْمَرْنَا فِي الطَّاقَةِ النَّظِيفَةِ، سَنُقَلِّلُ الانْبِعَاثَاتِ الكَرْبُونِيَّةَ بِشَكْلٍ مَلْحُوظٍ. وَلَوْ كُنَّا قَدْ بَدَأْنَا هٰذَا التَّحَوُّلَ مُبَكِّرًا، لَكَانَتْ بِيئَتُنَا أَفْضَلَ حَالًا اليَوْمَ. وَخِتَامًا، نَرْجُو أَنْ يَتَحَمَّلَ كُلُّ فَرْدٍ مَسْؤُولِيَّتَهُ تُجَاهَ كَوْكَبِنَا.</a:t>
            </a:r>
            <a:endParaRPr lang="ar-SA" sz="21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Our Arab cities had lost much of their green space before we realised the danger. Today we should restore the balance between buildings and nature, and set aside bigger budgets for renewable energy. So the government has launched a project that aims to plant millions of trees, and we plant them so that we purify the air and protect future generations. An environmental expert said that sustainability is not a luxury but an absolute necessity. Moreover, if we invest in clean energy, we will cut emissions noticeably. Had we begun this transition early, our environment would be in better shape today. In conclusion, we hope everyone will take responsibility for our planet.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 qad faqadat (past perfect)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yahdifu ilā an · yanbaghī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qāla … inna + three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Four paragraphs: problem · what must happen · why + evidence · future +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opening uses kāna / kānat qad +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li-kay, one volition (with ilā after yahdifu), one necessity — every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idhā … sa- AND one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cited expert (qāla … inna), two connectors, 145–160 accurate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states a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نَزْرَعُ الأَشْجَارَ لِكَيْ نُنَقِّيَ الهَوَاءَ.</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يَنْبَغِي أَنْ نَزْرَعَ الأَشْجَارَ.</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نَخْشَى أَنْ نَفْقِدَ الأَشْجَارَ.</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expresses volition?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يَنْبَغِي أَنْ تَنْجَحَ المُفَاوَضَاتُ.</a:t>
            </a:r>
            <a:endParaRPr lang="ar-SA" sz="18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يَرْجُو المُجْتَمَعُ أَنْ تَنْجَحَ المُفَاوَضَاتُ.</a:t>
            </a:r>
            <a:endParaRPr lang="ar-SA" sz="18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لِكَيْ تَنْجَحَ المُفَاوَضَاتُ.</a:t>
            </a:r>
            <a:endParaRPr lang="ar-SA" sz="18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نُحَافِظَ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نُحَافِظُ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نُحَافِظْ</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states a purpose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نَزْرَعُ الأَشْجَارَ لِكَيْ نُنَقِّيَ الهَوَاءَ.</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يَنْبَغِي أَنْ نَزْرَعَ الأَشْجَارَ.</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نَخْشَى أَنْ نَفْقِدَ الأَشْجَارَ.</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 subjunctive states a purpose.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expresses volition?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يَنْبَغِي أَنْ تَنْجَحَ المُفَاوَضَاتُ.</a:t>
            </a:r>
            <a:endParaRPr lang="ar-SA" sz="18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يَرْجُو المُجْتَمَعُ أَنْ تَنْجَحَ المُفَاوَضَاتُ.</a:t>
            </a:r>
            <a:endParaRPr lang="ar-SA" sz="18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لِكَيْ تَنْجَحَ المُفَاوَضَاتُ.</a:t>
            </a:r>
            <a:endParaRPr lang="ar-SA" sz="18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يَرْجُو أَنْ</a:t>
            </a:r>
            <a:pPr algn="l" indent="0" marL="0">
              <a:buNone/>
            </a:pPr>
            <a:r>
              <a:rPr lang="en-US" sz="1050" i="1" dirty="0">
                <a:solidFill>
                  <a:srgbClr val="8A6D1E"/>
                </a:solidFill>
                <a:latin typeface="Calibri" pitchFamily="34" charset="0"/>
                <a:ea typeface="Calibri" pitchFamily="34" charset="-122"/>
                <a:cs typeface="Calibri" pitchFamily="34" charset="-120"/>
              </a:rPr>
              <a:t> expresses hope — a volition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subjunctive: </a:t>
            </a:r>
            <a:pPr algn="l" indent="0" marL="0">
              <a:buNone/>
            </a:pPr>
            <a:r>
              <a:rPr lang="ar-SA" altLang="en-US" sz="1650" b="1" dirty="0">
                <a:solidFill>
                  <a:srgbClr val="1B3B6F"/>
                </a:solidFill>
                <a:latin typeface="Amiri" pitchFamily="34" charset="0"/>
                <a:ea typeface="Amiri" pitchFamily="34" charset="-122"/>
                <a:cs typeface="Amiri" pitchFamily="34" charset="-120"/>
              </a:rPr>
              <a:t>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عَلَى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نُحَافِظَ</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نُحَافِظُ</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نُحَافِظْ</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نُحَافِظَ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كَانَتْ مُدُنُنَا قَدْ فَقَدَتْ كَثِيرًا مِنْ مِسَاحَاتِهَا الخَضْرَاءِ قَبْلَ أَنْ نَنْتَبِهَ لِلْخَطَرِ. وَاليَوْمَ يَنْبَغِي أَنْ نُعِيدَ التَّوَازُنَ بَيْنَ العُمْرَانِ وَالطَّبِيعَةِ. لِذٰلِكَ أَطْلَقَتِ الحُكُومَةُ مَشْرُوعًا يَهْدِفُ إِلَى أَنْ يَزْرَعَ مَلَايِينَ الأَشْجَارِ، وَنَزْرَعُهَا لِكَيْ نُنَقِّيَ الهَوَاءَ وَنَحْمِيَ الأَجْيَالَ القَادِمَةَ. قَالَ خَبِيرٌ بِيئِيٌّ إِنَّ الاسْتِدَامَةَ لَيْسَتْ رَفَاهِيَةً بَلْ ضَرُورَةٌ. عِلَاوَةً عَلَى ذٰلِكَ، إِذَا اسْتَثْمَرْنَا فِي الطَّاقَةِ المُتَجَدِّدَةِ، سَنُقَلِّلُ الانْبِعَاثَاتِ. وَلَوْ كُنَّا قَدْ بَدَأْنَا مُبَكِّرًا، لَكَانَتْ بِيئَتُنَا أَفْضَلَ حَالًا. وَخِتَامًا، نَرْجُو أَنْ يَتَحَمَّلَ الجَمِيعُ مَسْؤُولِيَّتَهُمْ.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مِسَاحَاتِهَا الخَضْرَاءِ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green spaces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نُدْرِكَ</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realise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التَّوَازُنَ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balance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العُمْرَانِ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buildings, urban areas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مِيزَانِيَّاتٍ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budgets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أَطْلَقَتِ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launched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نُنَقِّيَ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purify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رَفَاهِيَةً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luxury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حَتْمِيَّةٌ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inevitable, absolute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يَتَحَمَّلَ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bear, take 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 perfect (</a:t>
            </a:r>
            <a:pPr algn="l" indent="0" marL="0">
              <a:buNone/>
            </a:pPr>
            <a:r>
              <a:rPr lang="ar-SA" altLang="en-US" sz="1650" dirty="0">
                <a:solidFill>
                  <a:srgbClr val="1F2A37"/>
                </a:solidFill>
                <a:latin typeface="Amiri" pitchFamily="34" charset="0"/>
                <a:ea typeface="Amiri" pitchFamily="34" charset="-122"/>
                <a:cs typeface="Amiri" pitchFamily="34" charset="-120"/>
              </a:rPr>
              <a:t>كَانَتْ … قَدْ فَقَدَتْ</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necessity trigger?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نَزْرَعُهَا لِكَيْ نُنَقِّيَ الهَوَاءَ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نَرْجُو أَنْ يَتَحَمَّلَ الجَمِيعُ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نُعِيدَ التَّوَازُنَ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purpose trigger?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نَزْرَعُهَا لِكَيْ نُنَقِّيَ الهَوَاءَ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نُعِيدَ التَّوَازُنَ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اسْتَثْمَرْنَا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volition trigger?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يَنْبَغِي أَنْ نُعِيدَ التَّوَازُنَ</a:t>
            </a:r>
            <a:endParaRPr lang="ar-SA" sz="15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مَشْرُوعًا يَهْدِفُ إِلَى أَنْ يَزْرَعَ مَلَايِينَ الأَشْجَارِ</a:t>
            </a:r>
            <a:endParaRPr lang="ar-SA" sz="15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لَوْ كُنَّا قَدْ بَدَأْنَا مُبَكِّرًا</a:t>
            </a:r>
            <a:endParaRPr lang="ar-SA" sz="15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hope (</a:t>
            </a:r>
            <a:pPr algn="l" indent="0" marL="0">
              <a:buNone/>
            </a:pPr>
            <a:r>
              <a:rPr lang="ar-SA" altLang="en-US" sz="1650" dirty="0">
                <a:solidFill>
                  <a:srgbClr val="1F2A37"/>
                </a:solidFill>
                <a:latin typeface="Amiri" pitchFamily="34" charset="0"/>
                <a:ea typeface="Amiri" pitchFamily="34" charset="-122"/>
                <a:cs typeface="Amiri" pitchFamily="34" charset="-120"/>
              </a:rPr>
              <a:t>نَرْجُو أَنْ</a:t>
            </a:r>
            <a:pPr algn="l" indent="0" marL="0">
              <a:buNone/>
            </a:pPr>
            <a:r>
              <a:rPr lang="en-US" sz="1250" dirty="0">
                <a:solidFill>
                  <a:srgbClr val="1F2A37"/>
                </a:solidFill>
                <a:latin typeface="Calibri" pitchFamily="34" charset="0"/>
                <a:ea typeface="Calibri" pitchFamily="34" charset="-122"/>
                <a:cs typeface="Calibri" pitchFamily="34" charset="-120"/>
              </a:rPr>
              <a:t>) that everyone takes responsibility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statistic</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past perfect (</a:t>
            </a:r>
            <a:pPr algn="l" indent="0" marL="0">
              <a:buNone/>
            </a:pPr>
            <a:r>
              <a:rPr lang="ar-SA" altLang="en-US" sz="1650" b="1" dirty="0">
                <a:solidFill>
                  <a:srgbClr val="1F2A37"/>
                </a:solidFill>
                <a:latin typeface="Amiri" pitchFamily="34" charset="0"/>
                <a:ea typeface="Amiri" pitchFamily="34" charset="-122"/>
                <a:cs typeface="Amiri" pitchFamily="34" charset="-120"/>
              </a:rPr>
              <a:t>كَانَتْ … قَدْ فَقَدَتْ</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 مُدُنُنَا قَدْ فَقَدَتْ</a:t>
            </a:r>
            <a:pPr algn="l" indent="0" marL="0">
              <a:buNone/>
            </a:pPr>
            <a:r>
              <a:rPr lang="en-US" sz="1050" i="1" dirty="0">
                <a:solidFill>
                  <a:srgbClr val="8A6D1E"/>
                </a:solidFill>
                <a:latin typeface="Calibri" pitchFamily="34" charset="0"/>
                <a:ea typeface="Calibri" pitchFamily="34" charset="-122"/>
                <a:cs typeface="Calibri" pitchFamily="34" charset="-120"/>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necessity trigger?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نَزْرَعُهَا لِكَيْ نُنَقِّيَ الهَوَاءَ</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نَرْجُو أَنْ يَتَحَمَّلَ الجَمِيعُ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نُعِيدَ التَّوَازُنَ</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is the impersonal necessity trigger.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purpose trigger?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نَزْرَعُهَا لِكَيْ نُنَقِّيَ الهَوَاءَ</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نُعِيدَ التَّوَازُنَ</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اسْتَثْمَرْنَا</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 subjunctive states purpose.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volition trigger?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يَنْبَغِي أَنْ نُعِيدَ التَّوَازُنَ</a:t>
            </a:r>
            <a:endParaRPr lang="ar-SA" sz="15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مَشْرُوعًا يَهْدِفُ إِلَى أَنْ يَزْرَعَ مَلَايِينَ الأَشْجَارِ</a:t>
            </a:r>
            <a:endParaRPr lang="ar-SA" sz="15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لَوْ كُنَّا قَدْ بَدَأْنَا مُبَكِّرًا</a:t>
            </a:r>
            <a:endParaRPr lang="ar-SA" sz="15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يَهْدِفُ إِلَى أَنْ</a:t>
            </a:r>
            <a:pPr algn="l" indent="0" marL="0">
              <a:buNone/>
            </a:pPr>
            <a:r>
              <a:rPr lang="en-US" sz="1050" i="1" dirty="0">
                <a:solidFill>
                  <a:srgbClr val="8A6D1E"/>
                </a:solidFill>
                <a:latin typeface="Calibri" pitchFamily="34" charset="0"/>
                <a:ea typeface="Calibri" pitchFamily="34" charset="-122"/>
                <a:cs typeface="Calibri" pitchFamily="34" charset="-120"/>
              </a:rPr>
              <a:t> expresses intention — a volition trigger.</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hope (</a:t>
            </a:r>
            <a:pPr algn="l" indent="0" marL="0">
              <a:buNone/>
            </a:pPr>
            <a:r>
              <a:rPr lang="ar-SA" altLang="en-US" sz="1500" b="1" dirty="0">
                <a:solidFill>
                  <a:srgbClr val="1F2A37"/>
                </a:solidFill>
                <a:latin typeface="Amiri" pitchFamily="34" charset="0"/>
                <a:ea typeface="Amiri" pitchFamily="34" charset="-122"/>
                <a:cs typeface="Amiri" pitchFamily="34" charset="-120"/>
              </a:rPr>
              <a:t>نَرْجُو أَنْ</a:t>
            </a:r>
            <a:pPr algn="l" indent="0" marL="0">
              <a:buNone/>
            </a:pPr>
            <a:r>
              <a:rPr lang="en-US" sz="1150" b="1" dirty="0">
                <a:solidFill>
                  <a:srgbClr val="1F2A37"/>
                </a:solidFill>
                <a:latin typeface="Calibri" pitchFamily="34" charset="0"/>
                <a:ea typeface="Calibri" pitchFamily="34" charset="-122"/>
                <a:cs typeface="Calibri" pitchFamily="34" charset="-120"/>
              </a:rPr>
              <a:t>) that everyone takes responsibility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statistic</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وَخِتَامًا، نَرْجُو أَنْ يَتَحَمَّلَ الجَمِيعُ مَسْؤُولِيَّتَهُمْ.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Range Mission — Three Triggers, One Article</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signals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fact</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يَنْبَغِي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necessity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purpose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volition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نُنَقِّيَ</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الطَّاقَةِ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نَسْتَثْمِرَ</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Volition: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نَخْشَى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التَّلَوُّثُ حُدُودَهُ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يَتَجَاوَزَ</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يَتَجَاوَزُ</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يَتَجَاوَزْ</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Fix the 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يَهْدِفُ المَشْرُوعُ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يُقَلِّلَ الانْبِعَاثَاتِ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34" charset="0"/>
                <a:ea typeface="Amiri" pitchFamily="34" charset="-122"/>
                <a:cs typeface="Amiri" pitchFamily="34" charset="-120"/>
              </a:rPr>
              <a:t>لِكَيْ</a:t>
            </a:r>
            <a:pPr algn="l" indent="0" marL="0">
              <a:buNone/>
            </a:pPr>
            <a:r>
              <a:rPr lang="en-US" sz="1500" b="1" dirty="0">
                <a:solidFill>
                  <a:srgbClr val="1F2A37"/>
                </a:solidFill>
                <a:latin typeface="Calibri" pitchFamily="34" charset="0"/>
                <a:ea typeface="Calibri" pitchFamily="34" charset="-122"/>
                <a:cs typeface="Calibri" pitchFamily="34" charset="-120"/>
              </a:rPr>
              <a:t> signals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necessity</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purpose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fact</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signals a purpose clause.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يَنْبَغِي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necessity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purpose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volition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يَنْبَغِي أَنْ</a:t>
            </a:r>
            <a:pPr algn="l" indent="0" marL="0">
              <a:buNone/>
            </a:pPr>
            <a:r>
              <a:rPr lang="en-US" sz="1050" i="1" dirty="0">
                <a:solidFill>
                  <a:srgbClr val="8A6D1E"/>
                </a:solidFill>
                <a:latin typeface="Calibri" pitchFamily="34" charset="0"/>
                <a:ea typeface="Calibri" pitchFamily="34" charset="-122"/>
                <a:cs typeface="Calibri" pitchFamily="34" charset="-120"/>
              </a:rPr>
              <a:t> signals impersonal necessity.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Purpose: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نَزْرَعُ الأَشْجَارَ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الهَوَاءَ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نُنَقِّيْ</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نُنَقِّيَ</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نُنَقِّيَ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Necessity: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الطَّاقَةِ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نَسْتَثْمِرْ</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نَسْتَثْمِرَ</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نَسْتَثْمِرَ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Volition: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نَخْشَى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التَّلَوُّثُ حُدُودَهُ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يَتَجَاوَزَ</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يَتَجَاوَزُ</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يَتَجَاوَزْ</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يَتَجَاوَزَ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Fix the 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يَهْدِفُ المَشْرُوعُ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 يُقَلِّلَ الانْبِعَاثَاتِ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يَهْدِفُ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P4-L10 · Listening — Built and Natural World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المُسَبِّبُ المَسْمُوعُ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audible trigger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الفَتْحَةُ المُخْتَزَلَةُ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reduced fatḥa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المَوْقِفُ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attitude</a:t>
            </a:r>
            <a:pPr indent="0" marL="0">
              <a:buNone/>
            </a:pPr>
            <a:r>
              <a:rPr lang="en-US" sz="1000" i="1" dirty="0">
                <a:solidFill>
                  <a:srgbClr val="5A6472"/>
                </a:solidFill>
                <a:latin typeface="Calibri" pitchFamily="34" charset="0"/>
                <a:ea typeface="Calibri" pitchFamily="34" charset="-122"/>
                <a:cs typeface="Calibri" pitchFamily="34" charset="-120"/>
              </a:rPr>
              <a:t>  pl. المَوَاقِفُ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الاحْتِرَارُ العَالَمِيُّ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global warming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المَدِينَةُ الذَّكِيَّةُ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smart city</a:t>
            </a:r>
            <a:pPr indent="0" marL="0">
              <a:buNone/>
            </a:pPr>
            <a:r>
              <a:rPr lang="en-US" sz="1000" i="1" dirty="0">
                <a:solidFill>
                  <a:srgbClr val="5A6472"/>
                </a:solidFill>
                <a:latin typeface="Calibri" pitchFamily="34" charset="0"/>
                <a:ea typeface="Calibri" pitchFamily="34" charset="-122"/>
                <a:cs typeface="Calibri" pitchFamily="34" charset="-120"/>
              </a:rPr>
              <a:t>  pl. المُدُنُ الذَّكِيَّةُ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which is easier to hear: the trigger (li-kay, an) or the final -a?</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أَسْمَعُ « ______ » بِوُضُوحٍ، وَلَا أَسْمَعُ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four-paragraph plan with one sentence per paragraph — label each trigger.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145-word version and circle every verb after a trigger.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the full 145–160-word article with nine or more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P4-L10 · Listening — Built and Natural World Texts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نُصُوصُ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paragraphs — kāna qad (problem) · yanbaghī an + yahdifu ilā an (must + want) · li-kay + qāla inna (why + evidence) · idhā / law + narjū an (future + close) — one of each trigger, and every verb after it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P4-L09 · Writing — The Built and Natural World (Paper 4 Extended Writing)</dc:title>
  <dc:subject>PptxGenJS Presentation</dc:subject>
  <dc:creator>Al Madina Online School · Arabic Department</dc:creator>
  <cp:lastModifiedBy>Al Madina Online School · Arabic Department</cp:lastModifiedBy>
  <cp:revision>1</cp:revision>
  <dcterms:created xsi:type="dcterms:W3CDTF">2026-10-10T16:27:24Z</dcterms:created>
  <dcterms:modified xsi:type="dcterms:W3CDTF">2026-10-10T16:27:24Z</dcterms:modified>
</cp:coreProperties>
</file>