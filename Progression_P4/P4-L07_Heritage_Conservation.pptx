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P4 The Built and Natural World › P4-L07. The website lesson “Heritage Conservation — Protecting the Built and Natural Past”: vocabulary, grammar rules and quiz, patterns, common mistakes, sorter, listening, reading, speaking prompts and model, writing task and model, differentiation, final check and the lesson mission. Picture match: website visual game “Heritage Conservation — Protecting the Built and Natural Past”.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heritage sentences with yurammimu, yaṣūnu, yuwaththiqu (website Core). Develop: add a past-perfect sentence about earlier generations and a necessity subjunctive. Stretch: a full 110–120-word argument with all three triggers, both conditionals and a cited historian.
• Sensitivity: the listening mentions war damage to heritage in Syria and Libya (e.g. Palmyra, 2015). Some students may have family links — keep the focus on protection and restoration, not on the conflicts.
• Faith link (optional): «قُلْ سِيرُوا فِي الأَرْضِ فَانْظُرُوا كَيْفَ بَدَأَ الخَلْقَ» (al-ʿAnkabūt 29:20) — the Qur’an invites us to travel and reflect on what came before us. The reading calls heritage an amāna (a trust).
• Grammar links: past perfect (P3 / P4-L05) · the three triggers (P4-L01, L03, L04, L06) · Type 2 with la-mā (P4-L04) · reported speech (P3-L06).
• TEACHER-WRITTEN ITEMS: waṣl alif shown without a kasra; لِكَيْ always written with its sukūn; the Arabic label inside the wrong sentence of mistake 1 removed; rule formulas, a pattern tip, trigger-word glosses and the writing checklist and Core task in transliteration; listening question 3 and reading question 4 answers shortened to fit; sorter headings in transliteration; game cards 1, 2 and 5 not used; the past-perfect, trigger and register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P4-L06. Questions 4–5 retrieve the intention trigger and a verb with its partner (P4-L06).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They HAD built it (past perfect) — so today it is REQUIRED that we protect it (the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آثار, امانت and ثقافت are shared (آثارِ قدیمہ = antiquities). Careful: Urdu ترمیم is a legal amendment; Arabic تَرْمِيمٌ is the restoration of a building. Urdu تہذیب = civilisation, but in Arabic civilisation is حَضَارَةٌ (تَهْذِيبٌ = good manners, refinement).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Heritage conservation (website vocabulary (1 of 2)). Hear → Say → See → Use. Transliteration is printed for Core students (cover it for Develop/Stretch).
Heritage conservation: tangible heritage (buildings, sites) and intangible heritage (crafts, songs, stories — تُرَاثٌ غَيْرُ مَادِّيٍّ). الانْدِثَارُ = fading away, disappearing without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Heritage conservation (website vocabulary (2 of 2)). Hear → Say → See → Use. Transliteration is printed for Core students (cover it for Develop/Stretch).
Heritage conservation: tangible heritage (buildings, sites) and intangible heritage (crafts, songs, stories — تُرَاثٌ غَيْرُ مَادِّيٍّ). الانْدِثَارُ = fading away, disappearing without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Conservation verbs (website vocabulary (1 of 2)). Hear → Say → See → Use. Transliteration is printed for Core students (cover it for Develop/Stretch).
Conservation verbs: يُرَمِّمُ / يَصُونُ / يُوَثِّقُ take a direct object (يَصُونُ الهُوِيَّةَ — never بِ). يُحَافِظُ عَلَى and يَحْمِي مِنْ have fixed partners. After an: يَصُونَ · يَحْمِيَ · يُحَافِظَ.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Conservation verbs (website vocabulary (2 of 2)). Hear → Say → See → Use. Transliteration is printed for Core students (cover it for Develop/Stretch).
FLEX: teach if time allows; otherwise these are on the website vocabulary tab for homework.
Conservation verbs: يُرَمِّمُ / يَصُونُ / يُوَثِّقُ take a direct object (يَصُونُ الهُوِيَّةَ — never بِ). يُحَافِظُ عَلَى and يَحْمِي مِنْ have fixed partners. After an: يَصُونَ · يَحْمِيَ · يُحَافِظَ.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full P4 toolkit (website vocabulary (1 of 2)). Hear → Say → See → Use. Transliteration is printed for Core students (cover it for Develop/Stretch).
FLEX: teach if time allows; otherwise these are on the website vocabulary tab for homework.
The full P4 toolkit in one group: the past perfect, the three triggers and the Type 2 regret — plus the vocabulary of world heritage (أَوْلَوِيَّةٌ قُصْوَى = a top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full P4 toolkit (website vocabulary (2 of 2)). Hear → Say → See → Use. Transliteration is printed for Core students (cover it for Develop/Stretch).
FLEX: teach if time allows; otherwise these are on the website vocabulary tab for homework.
The full P4 toolkit in one group: the past perfect, the three triggers and the Type 2 regret — plus the vocabulary of world heritage (أَوْلَوِيَّةٌ قُصْوَى = a top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1 (“Intergenerational past perfect”), teaching point 1 (“The past perfect carries the intergenerational argument”), mistake 1, the website sorter and quiz 8.
Why past perfect? Our argument is about NOW (what we must do). What the ancestors did is one step further back — so it takes kāna qad + past.
Agreement: الأَجْيَالُ / الحَضَارَاتُ are plurals of non-humans → feminine singular (كَانَتْ … بَنَتْ). Row 5: كَانَ comes BEFORE the subject (singular), بَنَوْا comes AFTER it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2–3, teaching point 2 (“Three triggers make the case”), the listening, the reading and website game card 4 (row 6).
Row 1: تُعْطِيَهُ = tuʿṭiya + hu (weak -ī → -iya, then the pronoun). Row 3: تَظَلُّ → تَظَلَّ (doubled verb). Row 5: the short purpose lām (li-) works like li-kay — لِتَشْهَدَ = so that they bear witness.
Row 6 is new: أَلَّا = أَنْ + لَا (“that … not”) — يَنْبَغِي أَلَّا يُدَمَّرَ = the site must NOT be destroyed. Here the verb after it is a passive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4 (“Type 2 regret”), the reading (card 1), the live builder (card 2), the writing model (card 3) and mistake 3.
Card 2: أُولِيَ is the passive of أَوْلَى (to give attention) — the same weak Form IV pattern as أُجْلِيَ (P4-L05). لَمَا + past = would NOT have …
Card 3: لَا تُعَوَّضُ = cannot be replaced (a present passive with lā). The listening has a Type 2 with a past perfect inside: لَوْ كَانَتِ الجِهَاتُ الدَّوْلِيَّةُ قَدْ تَدَخَّلَتْ مُبَكِّرًا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register tools from the website listening, reading and writing model.
Row 1: يُعَدُّ (is considered) + an accusative (رَكِيزَةً) — like تُعَدُّ المِيَاهُ أَخْطَرَ تَحَدٍّ (P4-L04). Row 3: مُدْرَجٌ عَلَى = listed on. Row 4: بِفِعْلِ = because of, as a result of.
Accuracy: UNESCO lists 90+ World Heritage properties in the Arab States region (2024), so “more than eighty” is safe. Examples students may know: Petra, the Old City of Jerusalem, Islamic Cairo, al-Ḥijr (Madāʾin Ṣāliḥ), Fez, Palmyra.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“The past perfect for what was built, the three subjunctive triggers for what must be done, and a Type 2 conditional for past neglect.”
• Intergenerational past perfect: What earlier generations had built or documented.
• Volition: What conservation requires.
• Necessity and purpose: An essential action for a purpose.
• Type 2 regret: The neglect that should not have happened.
Website common error: Using the indicative after a subjunctive trigger, or the simple past instead of the past perfect for what ancestors had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“Before our time: kānat … QAD banat. The regret: law … LA-kānat. What does it require? yataṭallabu AN tuʿṭiyA-hu. What is essential? min al-ḍarūrī AN yurammimA. Why? li-kay taẓallA. Every trigger — the verb ends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Heritage Conservation — Protecting the Built and Natural Past”)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2 teaches a new word: أَلَّا = أَنْ + لَا (“that … not”) — يَنْبَغِي أَلَّا يُدَمَّرَ. Then add a trigger to the others: مِنَ الضَّرُورِيِّ أَنْ نَحْمِيَ المَبَانِيَ التَّارِيخِيَّةَ · نُوَثِّقُ التُّرَاثَ لِكَيْ نَحْفَظَهُ.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Heritage Conservation — Protecting the Built and Natural Past”)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2 teaches a new word: أَلَّا = أَنْ + لَا (“that … not”) — يَنْبَغِي أَلَّا يُدَمَّرَ. Then add a trigger to the others: مِنَ الضَّرُورِيِّ أَنْ نَحْمِيَ المَبَانِيَ التَّارِيخِيَّةَ · نُوَثِّقُ التُّرَاثَ لِكَيْ نَحْفَظَهُ.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 heritage argument from a past-perfect achievement, a subjunctive requirement and a regret.” Website feedback: any three different combinations work.
Core: read row 1 across. Develop: column 2 row 2 has TWO triggers (min al-ḍarūrī an … li-kay) — find both verbs in -a. Stretch: label column 3 — Type 2 (row 1), Type 2 with la-mā (row 2), Type 1 (row 3).
Column 3 row 1: أَصْرَمَ = stricter (afʿal of صَارِمٌ).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a three-card argument: one past perfect + one trigger + one regret — read it aloud as a single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a three-card argument: one past perfect + one trigger + one regret — read it aloud as a single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 and write down the three triggers with their verbs in -a.
Listen 1: just listen. Listen 2: note answers. Then chat the letters.
Support: after the second listening, show the read-along slide (Arabic + English, line by line) for Core students.
SCRIPT (read aloud):
يُعَدُّ التُّرَاثُ المِعْمَارِيُّ وَالطَّبِيعِيُّ رَكِيزَةً أَسَاسِيَّةً لِلْهُوِيَّةِ الثَّقَافِيَّةِ. تَضُمُّ المِنْطَقَةُ العَرَبِيَّةُ أَكْثَرَ مِنْ ثَمَانِينَ مَوْقِعًا مُدْرَجًا عَلَى قَائِمَةِ التُّرَاثِ العَالَمِيِّ. كَانَتِ الأَجْيَالُ السَّابِقَةُ قَدْ بَنَتْ هٰذِهِ الرَّوَائِعَ لِتَشْهَدَ عَلَى إِبْدَاعِ الحَضَارَاتِ، وَكَانَ قَدْ تَمَّ تَوْثِيقُ كَثِيرٍ مِنْهَا قَبْلَ أَنْ تَتَعَرَّضَ لِلْخَطَرِ. لَوْ كَانَتِ الجِهَاتُ الدَّوْلِيَّةُ قَدْ تَدَخَّلَتْ مُبَكِّرًا لِحِمَايَةِ آثَارِ سُورِيَا وَلِيبِيَا، لَكَانَتْ أَضْرَارُ الصِّرَاعَاتِ أَقَلَّ. يَتَطَلَّبُ الحِفَاظُ عَلَى هٰذَا التُّرَاثِ أَنْ تُعْطِيَهُ الحُكُومَاتُ أَوْلَوِيَّةً قُصْوَى. وَمِنَ الضَّرُورِيِّ أَنْ يُرَمِّمَ المُتَخَصِّصُونَ المَوَاقِعَ التَّالِفَةَ لِكَيْ تَظَلَّ شَاهِدَةً عَلَى عَظَمَةِ الحَضَارَةِ.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يَتَطَلَّبُ الحِفَاظُ؟ (Subjunctive)
B: يَتَطَلَّبُ أَنْ تُعْطِيَهُ الحُكُومَاتُ أَوْلَوِيَّةً، وَلَوْ أُهْمِلَ سَابِقًا لَانْدَثَرَ. (يَتَطَلَّبُ أَنْ + a Type 2)
Website prompts and model. Pair task: “heritage tour guide” — A chooses a real site (Petra, Fez, Islamic Cairo …) and says what had been built; B, the minister, says what it requires. Swap. Partner checks the past perfect and every -a. To a girl: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heritage sentences using yurammimu, yaṣūnu, yuwaththiqu. · Develop — Add a past-perfect intergenerational sentence and a necessity subjunctive. · Stretch — Write a full argument with all three triggers, both conditionals and a citation.
Website writing task (Stretch): Write one hundred and ten to one hundred and twenty words arguing for heritage conservation. Use the past perfect for what earlier generations had built, all three subjunctive triggers, both conditional types and a reported-speech clause.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يُعَدُّ … رَكِيزَةً · كَانَتِ … قَدْ بَنَتْ · لِتَشْهَدَ · كَانَ قَدْ تَمَّ تَوْثِيقُ · أَشَارَ … إِلَى أَنَّ · لَوْ كَانَتْ … لَكَانَتْ · يَتَطَلَّبُ … أَنْ تُعْطِيَهُ · مِنَ الضَّرُورِيِّ أَنْ يُرَمِّمَ · لِكَيْ تَظَلَّ · إِذَا اعْتَمَدْنَا … سَنَضْمَنُ.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(P4-L08 · Reading — Built and Natural World Texts) will spend class time USING this language, so students prepare it tonight — short, simple, easy to access (school guidance: “Simple, Short, Interesting, Relevant, Easy to access”). The five words come from the website P4-L08 vocabulary (reading built and natural world texts).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Heritage Conservation — Protecting the Built and Natural Past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300" b="1" dirty="0">
                <a:solidFill>
                  <a:srgbClr val="D4AF37"/>
                </a:solidFill>
                <a:latin typeface="Amiri" pitchFamily="2" charset="-78"/>
                <a:ea typeface="Amiri" pitchFamily="2" charset="-78"/>
                <a:cs typeface="Amiri" pitchFamily="2" charset="-78"/>
              </a:rPr>
              <a:t>الحِفَاظُ عَلَى التُّرَاثِ — حِمَايَةُ المَاضِي المَبْنِيِّ وَالطَّبِيعِيِّ</a:t>
            </a:r>
            <a:endParaRPr lang="ar-SA" sz="33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Argue for heritage conservation — the past perfect for what earlier generations had built (kānat … qad banat), the three triggers for what protecting it requires, a Type 2 regret over neglect and a cited historian.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P4-L07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The intergenerational past perfect, the three triggers in a heritage case, regret / proposal / citation, heritage register.</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heritage pictures, build a heritage argument, sort past perfect / trigger / regret.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P4-L08.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تُرَاثٌ مِعْمَارِيٌّ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modern architecture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architectural heritage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building company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تَرْمِيمٌ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restoration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demolition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amendment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الذَّاكِرَةُ الجَمَاعِيَّةُ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memory card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group of friends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collective memory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تَهْدِفُ الرُّؤْيَةُ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المَمْلَكَةُ اقْتِصَادَهَا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تُنَوِّعُ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نَوَّعَتْ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تُنَوِّعَ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يَتَحَوَّلُ العَالَمُ العَرَبِيُّ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الطَّاقَةِ المُتَجَدِّدَةِ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تُرَاثٌ مِعْمَارِيٌّ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modern architecture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architectural heritage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building company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تَرْمِيمٌ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restoration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demolition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amendment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(P4-L06). Careful: Urdu </a:t>
            </a:r>
            <a:pPr algn="l" indent="0" marL="0">
              <a:buNone/>
            </a:pPr>
            <a:r>
              <a:rPr lang="ar-SA" altLang="en-US" sz="1350" dirty="0">
                <a:solidFill>
                  <a:srgbClr val="8A6D1E"/>
                </a:solidFill>
                <a:latin typeface="Amiri" pitchFamily="2" charset="-78"/>
                <a:ea typeface="Amiri" pitchFamily="2" charset="-78"/>
                <a:cs typeface="Amiri" pitchFamily="2" charset="-78"/>
              </a:rPr>
              <a:t>ترمیم</a:t>
            </a:r>
            <a:pPr algn="l" indent="0" marL="0">
              <a:buNone/>
            </a:pPr>
            <a:r>
              <a:rPr lang="en-US" sz="1050" i="1" dirty="0">
                <a:solidFill>
                  <a:srgbClr val="8A6D1E"/>
                </a:solidFill>
                <a:latin typeface="Calibri" pitchFamily="34" charset="0"/>
                <a:cs typeface="Amiri" pitchFamily="2" charset="-78"/>
              </a:rPr>
              <a:t> = amendment!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الذَّاكِرَةُ الجَمَاعِيَّةُ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memory card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group of friends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collective memory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(P4-L06).</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تَهْدِفُ الرُّؤْيَةُ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المَمْلَكَةُ اقْتِصَادَهَا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تُنَوِّعُ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نَوَّعَتْ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تُنَوِّعَ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P4-L06: intention + an + a verb in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يَتَحَوَّلُ العَالَمُ العَرَبِيُّ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الطَّاقَةِ المُتَجَدِّدَةِ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P4-L06: yataḥawwalu ilā.</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They HAD built it (past perfect) — so today it is REQUIRED that we protect it (the verb in -a).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C77700"/>
                </a:solidFill>
                <a:latin typeface="Amiri" pitchFamily="2" charset="-78"/>
                <a:ea typeface="Amiri" pitchFamily="2" charset="-78"/>
                <a:cs typeface="Amiri" pitchFamily="2" charset="-78"/>
              </a:rPr>
              <a:t>كَانَتِ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الأَجْيَالُ </a:t>
            </a:r>
            <a:pPr rtl="1" algn="ctr" indent="0" marL="0">
              <a:lnSpc>
                <a:spcPct val="120000"/>
              </a:lnSpc>
              <a:buNone/>
            </a:pPr>
            <a:r>
              <a:rPr lang="ar-SA" altLang="en-US" sz="1950" b="1" dirty="0">
                <a:solidFill>
                  <a:srgbClr val="C77700"/>
                </a:solidFill>
                <a:latin typeface="Amiri" pitchFamily="2" charset="-78"/>
                <a:ea typeface="Amiri" pitchFamily="2" charset="-78"/>
                <a:cs typeface="Amiri" pitchFamily="2" charset="-78"/>
              </a:rPr>
              <a:t>قَدْ بَنَتْ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يَتَطَلَّبُ أَنْ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نَصُونَهَا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heritage conservation with yurammimu, yaṣūnu, yuwaththiqu.</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past perfect for what earlier generations had built.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all three subjunctive triggers in a heritage case.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Regret past neglect with a Type 2 conditional.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heritage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kānat … qad + past for what earlier generations had built.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yataṭallabu an, min al-ḍarūrī an and li-kay.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regret neglect with law … la- (or la-mā).</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cite a historian (ashāra ilā anna).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full heritage argument.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Heritage conservation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Conservation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full P4 toolkit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آثَارٌ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‎آثار‎ </a:t>
            </a:r>
            <a:pPr indent="0" marL="0">
              <a:buNone/>
            </a:pPr>
            <a:r>
              <a:rPr lang="en-US" sz="950" b="1" dirty="0">
                <a:solidFill>
                  <a:srgbClr val="2E8B57"/>
                </a:solidFill>
                <a:latin typeface="Calibri" pitchFamily="34" charset="0"/>
                <a:cs typeface="Amiri" pitchFamily="2" charset="-78"/>
              </a:rPr>
              <a:t> āsār · ruins, traces, antiquities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أَمَانَةٌ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‎امانت‎ </a:t>
            </a:r>
            <a:pPr indent="0" marL="0">
              <a:buNone/>
            </a:pPr>
            <a:r>
              <a:rPr lang="en-US" sz="950" b="1" dirty="0">
                <a:solidFill>
                  <a:srgbClr val="2E8B57"/>
                </a:solidFill>
                <a:latin typeface="Calibri" pitchFamily="34" charset="0"/>
                <a:cs typeface="Amiri" pitchFamily="2" charset="-78"/>
              </a:rPr>
              <a:t> amānat · a trust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ثَقَافَةٌ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‎ثقافت‎ </a:t>
            </a:r>
            <a:pPr indent="0" marL="0">
              <a:buNone/>
            </a:pPr>
            <a:r>
              <a:rPr lang="en-US" sz="950" b="1" dirty="0">
                <a:solidFill>
                  <a:srgbClr val="2E8B57"/>
                </a:solidFill>
                <a:latin typeface="Calibri" pitchFamily="34" charset="0"/>
                <a:cs typeface="Amiri" pitchFamily="2" charset="-78"/>
              </a:rPr>
              <a:t> saqāfat · culture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تَرْمِيمٌ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‎ترمیم‎ </a:t>
            </a:r>
            <a:pPr indent="0" marL="0">
              <a:buNone/>
            </a:pPr>
            <a:r>
              <a:rPr lang="en-US" sz="950" b="1" dirty="0">
                <a:solidFill>
                  <a:srgbClr val="2E8B57"/>
                </a:solidFill>
                <a:latin typeface="Calibri" pitchFamily="34" charset="0"/>
                <a:cs typeface="Amiri" pitchFamily="2" charset="-78"/>
              </a:rPr>
              <a:t> tarmīm · Arabic: restoration · Urdu: an amendment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حَضَارَةٌ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‎تہذیب‎ </a:t>
            </a:r>
            <a:pPr indent="0" marL="0">
              <a:buNone/>
            </a:pPr>
            <a:r>
              <a:rPr lang="ar-SA" sz="950" b="1" dirty="0">
                <a:solidFill>
                  <a:srgbClr val="2E8B57"/>
                </a:solidFill>
                <a:latin typeface="Calibri" pitchFamily="34" charset="0"/>
                <a:ea typeface="Amiri" pitchFamily="2" charset="-78"/>
                <a:cs typeface="Amiri" pitchFamily="2" charset="-78"/>
              </a:rPr>
              <a:t> tahzīb · civilisation (Arabic تَهْذِيبٌ = refinement)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Heritage conservation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الحِفَاظُ عَلَى التُّرَاثِ</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heritage conservation</a:t>
            </a:r>
            <a:endParaRPr lang="en-US" sz="1350" dirty="0"/>
          </a:p>
          <a:p>
            <a:pPr indent="0" marL="0">
              <a:buNone/>
            </a:pPr>
            <a:r>
              <a:rPr lang="en-US" sz="1100" i="1" dirty="0">
                <a:solidFill>
                  <a:srgbClr val="5A6472"/>
                </a:solidFill>
                <a:latin typeface="Calibri" pitchFamily="34" charset="0"/>
                <a:cs typeface="Amiri" pitchFamily="2" charset="-78"/>
              </a:rPr>
              <a:t>al-ḥi-fā-ẓu ʿa-lā at-tu-rā-thi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تُرَاثٌ مِعْمَارِيٌّ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architectural heritage</a:t>
            </a:r>
            <a:endParaRPr lang="en-US" sz="1350" dirty="0"/>
          </a:p>
          <a:p>
            <a:pPr indent="0" marL="0">
              <a:buNone/>
            </a:pPr>
            <a:r>
              <a:rPr lang="en-US" sz="1100" i="1" dirty="0">
                <a:solidFill>
                  <a:srgbClr val="5A6472"/>
                </a:solidFill>
                <a:latin typeface="Calibri" pitchFamily="34" charset="0"/>
                <a:cs typeface="Amiri" pitchFamily="2" charset="-78"/>
              </a:rPr>
              <a:t>tu-rā-thun miʿ-mā-riy-yun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مَوْقِعٌ أَثَرِيٌّ</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archaeological site</a:t>
            </a:r>
            <a:endParaRPr lang="en-US" sz="1350" dirty="0"/>
          </a:p>
          <a:p>
            <a:pPr indent="0" marL="0">
              <a:buNone/>
            </a:pPr>
            <a:r>
              <a:rPr lang="en-US" sz="1100" i="1" dirty="0">
                <a:solidFill>
                  <a:srgbClr val="5A6472"/>
                </a:solidFill>
                <a:latin typeface="Calibri" pitchFamily="34" charset="0"/>
                <a:cs typeface="Amiri" pitchFamily="2" charset="-78"/>
              </a:rPr>
              <a:t>maw-qi-ʿun a-tha-riy-yun</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مَوَاقِعُ أَثَرِيَّةٌ</a:t>
            </a:r>
            <a:endParaRPr lang="ar-SA" sz="15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تُرَاثٌ ثَقَافِيٌّ غَيْرُ مَادِّيٍّ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intangible cultural heritage</a:t>
            </a:r>
            <a:endParaRPr lang="en-US" sz="1350" dirty="0"/>
          </a:p>
          <a:p>
            <a:pPr indent="0" marL="0">
              <a:buNone/>
            </a:pPr>
            <a:r>
              <a:rPr lang="en-US" sz="1100" i="1" dirty="0">
                <a:solidFill>
                  <a:srgbClr val="5A6472"/>
                </a:solidFill>
                <a:latin typeface="Calibri" pitchFamily="34" charset="0"/>
                <a:cs typeface="Amiri" pitchFamily="2" charset="-78"/>
              </a:rPr>
              <a:t>tu-rā-thun tha-qā-fiy-yun ghay-ru mād-diy-yin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Heritage conservation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تَرْمِيمٌ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restoration</a:t>
            </a:r>
            <a:endParaRPr lang="en-US" sz="1350" dirty="0"/>
          </a:p>
          <a:p>
            <a:pPr indent="0" marL="0">
              <a:buNone/>
            </a:pPr>
            <a:r>
              <a:rPr lang="en-US" sz="1100" i="1" dirty="0">
                <a:solidFill>
                  <a:srgbClr val="5A6472"/>
                </a:solidFill>
                <a:latin typeface="Calibri" pitchFamily="34" charset="0"/>
                <a:cs typeface="Amiri" pitchFamily="2" charset="-78"/>
              </a:rPr>
              <a:t>tar-mī-mun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خُطُورَةُ الانْدِثَارِ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risk of disappearance</a:t>
            </a:r>
            <a:endParaRPr lang="en-US" sz="1350" dirty="0"/>
          </a:p>
          <a:p>
            <a:pPr indent="0" marL="0">
              <a:buNone/>
            </a:pPr>
            <a:r>
              <a:rPr lang="en-US" sz="1100" i="1" dirty="0">
                <a:solidFill>
                  <a:srgbClr val="5A6472"/>
                </a:solidFill>
                <a:latin typeface="Calibri" pitchFamily="34" charset="0"/>
                <a:cs typeface="Amiri" pitchFamily="2" charset="-78"/>
              </a:rPr>
              <a:t>khu-ṭū-ra-tu aln-di-thā-ri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الذَّاكِرَةُ الجَمَاعِيَّةُ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collective memory</a:t>
            </a:r>
            <a:endParaRPr lang="en-US" sz="1350" dirty="0"/>
          </a:p>
          <a:p>
            <a:pPr indent="0" marL="0">
              <a:buNone/>
            </a:pPr>
            <a:r>
              <a:rPr lang="en-US" sz="1100" i="1" dirty="0">
                <a:solidFill>
                  <a:srgbClr val="5A6472"/>
                </a:solidFill>
                <a:latin typeface="Calibri" pitchFamily="34" charset="0"/>
                <a:cs typeface="Amiri" pitchFamily="2" charset="-78"/>
              </a:rPr>
              <a:t>adh-dhā-ki-ra-tu al-ja-mā-ʿiy-ya-tu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مَسْؤُولِيَّةُ الأَجْيَالِ</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generational responsibility</a:t>
            </a:r>
            <a:endParaRPr lang="en-US" sz="1350" dirty="0"/>
          </a:p>
          <a:p>
            <a:pPr indent="0" marL="0">
              <a:buNone/>
            </a:pPr>
            <a:r>
              <a:rPr lang="en-US" sz="1100" i="1" dirty="0">
                <a:solidFill>
                  <a:srgbClr val="5A6472"/>
                </a:solidFill>
                <a:latin typeface="Calibri" pitchFamily="34" charset="0"/>
                <a:cs typeface="Amiri" pitchFamily="2" charset="-78"/>
              </a:rPr>
              <a:t>mas-ʾū-liy-ya-tu al-aj-yā-li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Conservation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يُرَمِّمُ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restores</a:t>
            </a:r>
            <a:endParaRPr lang="en-US" sz="1350" dirty="0"/>
          </a:p>
          <a:p>
            <a:pPr indent="0" marL="0">
              <a:buNone/>
            </a:pPr>
            <a:r>
              <a:rPr lang="en-US" sz="1100" i="1" dirty="0">
                <a:solidFill>
                  <a:srgbClr val="5A6472"/>
                </a:solidFill>
                <a:latin typeface="Calibri" pitchFamily="34" charset="0"/>
                <a:cs typeface="Amiri" pitchFamily="2" charset="-78"/>
              </a:rPr>
              <a:t>yu-ram-mi-mu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تُرَمِّمُ</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يَصُونُ</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preserves</a:t>
            </a:r>
            <a:endParaRPr lang="en-US" sz="1350" dirty="0"/>
          </a:p>
          <a:p>
            <a:pPr indent="0" marL="0">
              <a:buNone/>
            </a:pPr>
            <a:r>
              <a:rPr lang="en-US" sz="1100" i="1" dirty="0">
                <a:solidFill>
                  <a:srgbClr val="5A6472"/>
                </a:solidFill>
                <a:latin typeface="Calibri" pitchFamily="34" charset="0"/>
                <a:cs typeface="Amiri" pitchFamily="2" charset="-78"/>
              </a:rPr>
              <a:t>ya-ṣū-nu</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تَصُونُ</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2" name="Shape 3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يُحَافِظُ عَلَى</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maintains, preserves</a:t>
            </a:r>
            <a:endParaRPr lang="en-US" sz="1350" dirty="0"/>
          </a:p>
          <a:p>
            <a:pPr indent="0" marL="0">
              <a:buNone/>
            </a:pPr>
            <a:r>
              <a:rPr lang="en-US" sz="1100" i="1" dirty="0">
                <a:solidFill>
                  <a:srgbClr val="5A6472"/>
                </a:solidFill>
                <a:latin typeface="Calibri" pitchFamily="34" charset="0"/>
                <a:cs typeface="Amiri" pitchFamily="2" charset="-78"/>
              </a:rPr>
              <a:t>yu-ḥā-fi-ẓu ʿa-lā</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تُحَافِظُ عَلَى</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4" name="Shape 51"/>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يُوَثِّقُ</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documents</a:t>
            </a:r>
            <a:endParaRPr lang="en-US" sz="1350" dirty="0"/>
          </a:p>
          <a:p>
            <a:pPr indent="0" marL="0">
              <a:buNone/>
            </a:pPr>
            <a:r>
              <a:rPr lang="en-US" sz="1100" i="1" dirty="0">
                <a:solidFill>
                  <a:srgbClr val="5A6472"/>
                </a:solidFill>
                <a:latin typeface="Calibri" pitchFamily="34" charset="0"/>
                <a:cs typeface="Amiri" pitchFamily="2" charset="-78"/>
              </a:rPr>
              <a:t>yu-wath-thi-qu</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تُوَثِّقُ</a:t>
            </a:r>
            <a:endParaRPr lang="ar-SA"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Conservation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يَحْمِي مِنْ</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protects from</a:t>
            </a:r>
            <a:endParaRPr lang="en-US" sz="1350" dirty="0"/>
          </a:p>
          <a:p>
            <a:pPr indent="0" marL="0">
              <a:buNone/>
            </a:pPr>
            <a:r>
              <a:rPr lang="en-US" sz="1100" i="1" dirty="0">
                <a:solidFill>
                  <a:srgbClr val="5A6472"/>
                </a:solidFill>
                <a:latin typeface="Calibri" pitchFamily="34" charset="0"/>
                <a:cs typeface="Amiri" pitchFamily="2" charset="-78"/>
              </a:rPr>
              <a:t>yaḥ-mī min</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تَحْمِي مِنْ</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2" name="Shape 29"/>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يَتَنَاقَصُ</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dwindles, decreases</a:t>
            </a:r>
            <a:endParaRPr lang="en-US" sz="1350" dirty="0"/>
          </a:p>
          <a:p>
            <a:pPr indent="0" marL="0">
              <a:buNone/>
            </a:pPr>
            <a:r>
              <a:rPr lang="en-US" sz="1100" i="1" dirty="0">
                <a:solidFill>
                  <a:srgbClr val="5A6472"/>
                </a:solidFill>
                <a:latin typeface="Calibri" pitchFamily="34" charset="0"/>
                <a:cs typeface="Amiri" pitchFamily="2" charset="-78"/>
              </a:rPr>
              <a:t>ya-ta-nā-qa-ṣu</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تَتَنَاقَصُ</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مَوْرُوثٌ ثَقَافِيٌّ</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cultural heritage passed down</a:t>
            </a:r>
            <a:endParaRPr lang="en-US" sz="1350" dirty="0"/>
          </a:p>
          <a:p>
            <a:pPr indent="0" marL="0">
              <a:buNone/>
            </a:pPr>
            <a:r>
              <a:rPr lang="en-US" sz="1100" i="1" dirty="0">
                <a:solidFill>
                  <a:srgbClr val="5A6472"/>
                </a:solidFill>
                <a:latin typeface="Calibri" pitchFamily="34" charset="0"/>
                <a:cs typeface="Amiri" pitchFamily="2" charset="-78"/>
              </a:rPr>
              <a:t>maw-rū-thun tha-qā-fiy-yun</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الحِفَاظُ عَلَى الهُوِيَّةِ</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preserving identity</a:t>
            </a:r>
            <a:endParaRPr lang="en-US" sz="1350" dirty="0"/>
          </a:p>
          <a:p>
            <a:pPr indent="0" marL="0">
              <a:buNone/>
            </a:pPr>
            <a:r>
              <a:rPr lang="en-US" sz="1100" i="1" dirty="0">
                <a:solidFill>
                  <a:srgbClr val="5A6472"/>
                </a:solidFill>
                <a:latin typeface="Calibri" pitchFamily="34" charset="0"/>
                <a:cs typeface="Amiri" pitchFamily="2" charset="-78"/>
              </a:rPr>
              <a:t>al-ḥi-fā-ẓu ʿa-lā al-hu-wiy-ya-ti</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full P4 toolkit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 perfect.</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قَدْ بَنَى</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had built</a:t>
            </a:r>
            <a:endParaRPr lang="en-US" sz="1350" dirty="0"/>
          </a:p>
          <a:p>
            <a:pPr indent="0" marL="0">
              <a:buNone/>
            </a:pPr>
            <a:r>
              <a:rPr lang="en-US" sz="1100" i="1" dirty="0">
                <a:solidFill>
                  <a:srgbClr val="5A6472"/>
                </a:solidFill>
                <a:latin typeface="Calibri" pitchFamily="34" charset="0"/>
                <a:cs typeface="Amiri" pitchFamily="2" charset="-78"/>
              </a:rPr>
              <a:t>kā-na qad ba-nā</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غَرَضٌ: لِكَيْ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purpose: li-kay</a:t>
            </a:r>
            <a:endParaRPr lang="en-US" sz="1350" dirty="0"/>
          </a:p>
          <a:p>
            <a:pPr indent="0" marL="0">
              <a:buNone/>
            </a:pPr>
            <a:r>
              <a:rPr lang="en-US" sz="1100" i="1" dirty="0">
                <a:solidFill>
                  <a:srgbClr val="5A6472"/>
                </a:solidFill>
                <a:latin typeface="Calibri" pitchFamily="34" charset="0"/>
                <a:cs typeface="Amiri" pitchFamily="2" charset="-78"/>
              </a:rPr>
              <a:t>gha-ra-ḍun-: li-kay</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إِرَادَةٌ: يَتَطَلَّبُ أَنْ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volition: yataṭallabu an</a:t>
            </a:r>
            <a:endParaRPr lang="en-US" sz="1350" dirty="0"/>
          </a:p>
          <a:p>
            <a:pPr indent="0" marL="0">
              <a:buNone/>
            </a:pPr>
            <a:r>
              <a:rPr lang="en-US" sz="1100" i="1" dirty="0">
                <a:solidFill>
                  <a:srgbClr val="5A6472"/>
                </a:solidFill>
                <a:latin typeface="Calibri" pitchFamily="34" charset="0"/>
                <a:cs typeface="Amiri" pitchFamily="2" charset="-78"/>
              </a:rPr>
              <a:t>i-rā-da-tun-: ya-ta-ṭal-la-bu 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ضَرُورَةٌ: مِنَ الضَّرُورِيِّ أَنْ</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necessity: min al-ḍarūrī an</a:t>
            </a:r>
            <a:endParaRPr lang="en-US" sz="1350" dirty="0"/>
          </a:p>
          <a:p>
            <a:pPr indent="0" marL="0">
              <a:buNone/>
            </a:pPr>
            <a:r>
              <a:rPr lang="en-US" sz="1100" i="1" dirty="0">
                <a:solidFill>
                  <a:srgbClr val="5A6472"/>
                </a:solidFill>
                <a:latin typeface="Calibri" pitchFamily="34" charset="0"/>
                <a:cs typeface="Amiri" pitchFamily="2" charset="-78"/>
              </a:rPr>
              <a:t>ḍa-rū-ra-tun-: mi-na aḍ-ḍa-rū-riy-yi an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full P4 toolkit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 … لَـ</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Type 2 regret</a:t>
            </a:r>
            <a:endParaRPr lang="en-US" sz="1350" dirty="0"/>
          </a:p>
          <a:p>
            <a:pPr indent="0" marL="0">
              <a:buNone/>
            </a:pPr>
            <a:r>
              <a:rPr lang="en-US" sz="1100" i="1" dirty="0">
                <a:solidFill>
                  <a:srgbClr val="5A6472"/>
                </a:solidFill>
                <a:latin typeface="Calibri" pitchFamily="34" charset="0"/>
                <a:cs typeface="Amiri" pitchFamily="2" charset="-78"/>
              </a:rPr>
              <a:t>law … la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أَوْلَوِيَّةٌ قُصْوَى</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top priority</a:t>
            </a:r>
            <a:endParaRPr lang="en-US" sz="1350" dirty="0"/>
          </a:p>
          <a:p>
            <a:pPr indent="0" marL="0">
              <a:buNone/>
            </a:pPr>
            <a:r>
              <a:rPr lang="en-US" sz="1100" i="1" dirty="0">
                <a:solidFill>
                  <a:srgbClr val="5A6472"/>
                </a:solidFill>
                <a:latin typeface="Calibri" pitchFamily="34" charset="0"/>
                <a:cs typeface="Amiri" pitchFamily="2" charset="-78"/>
              </a:rPr>
              <a:t>aw-la-wiy-ya-tun quṣ-wā</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أَوْلَوِيَّاتٌ قُصْوَى</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لَجْنَةُ التَّرَاثِ العَالَمِيِّ</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World Heritage Committee</a:t>
            </a:r>
            <a:endParaRPr lang="en-US" sz="1350" dirty="0"/>
          </a:p>
          <a:p>
            <a:pPr indent="0" marL="0">
              <a:buNone/>
            </a:pPr>
            <a:r>
              <a:rPr lang="en-US" sz="1100" i="1" dirty="0">
                <a:solidFill>
                  <a:srgbClr val="5A6472"/>
                </a:solidFill>
                <a:latin typeface="Calibri" pitchFamily="34" charset="0"/>
                <a:cs typeface="Amiri" pitchFamily="2" charset="-78"/>
              </a:rPr>
              <a:t>laj-na-tu at-ta-rā-thi al-ʿā-la-miy-yi</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إِبْدَاعُ الحَضَارَاتِ</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creativity of civilisations</a:t>
            </a:r>
            <a:endParaRPr lang="en-US" sz="1350" dirty="0"/>
          </a:p>
          <a:p>
            <a:pPr indent="0" marL="0">
              <a:buNone/>
            </a:pPr>
            <a:r>
              <a:rPr lang="en-US" sz="1100" i="1" dirty="0">
                <a:solidFill>
                  <a:srgbClr val="5A6472"/>
                </a:solidFill>
                <a:latin typeface="Calibri" pitchFamily="34" charset="0"/>
                <a:cs typeface="Amiri" pitchFamily="2" charset="-78"/>
              </a:rPr>
              <a:t>ib-dā-ʿu al-ḥa-ḍā-rā-ti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INTERGENERATIONAL PAST PERFECT (WEBSITE RULE 1, TEACHING POINT 1, MISTAKE 1 AND TEXTS)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They had built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 التَّامُّ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839712" y="1810512"/>
            <a:ext cx="4818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50109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8" name="Text 15"/>
          <p:cNvSpPr txBox="1"/>
          <p:nvPr/>
        </p:nvSpPr>
        <p:spPr>
          <a:xfrm>
            <a:off x="23591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perfect</a:t>
            </a:r>
            <a:endParaRPr lang="en-US" sz="1100" dirty="0"/>
          </a:p>
        </p:txBody>
      </p:sp>
      <p:sp>
        <p:nvSpPr>
          <p:cNvPr id="19" name="Text 16"/>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858000" y="2267712"/>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كَانَتِ الأَجْيَالُ السَّابِقَةُ قَدْ بَنَتْ هٰذِهِ الرَّوَائِعَ.</a:t>
            </a:r>
            <a:endParaRPr lang="ar-SA" sz="1700" dirty="0"/>
          </a:p>
        </p:txBody>
      </p:sp>
      <p:sp>
        <p:nvSpPr>
          <p:cNvPr id="22" name="Text 19"/>
          <p:cNvSpPr txBox="1"/>
          <p:nvPr/>
        </p:nvSpPr>
        <p:spPr>
          <a:xfrm>
            <a:off x="504748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(plural of things)</a:t>
            </a:r>
            <a:endParaRPr lang="en-US" sz="1100" dirty="0"/>
          </a:p>
        </p:txBody>
      </p:sp>
      <p:sp>
        <p:nvSpPr>
          <p:cNvPr id="23" name="Text 20"/>
          <p:cNvSpPr txBox="1"/>
          <p:nvPr/>
        </p:nvSpPr>
        <p:spPr>
          <a:xfrm>
            <a:off x="2377440" y="2267712"/>
            <a:ext cx="24688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كَانَتْ</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C77700"/>
                </a:solidFill>
                <a:latin typeface="Amiri" pitchFamily="2" charset="-78"/>
                <a:ea typeface="Amiri" pitchFamily="2" charset="-78"/>
                <a:cs typeface="Amiri" pitchFamily="2" charset="-78"/>
              </a:rPr>
              <a:t>قَدْ بَنَتْ</a:t>
            </a:r>
            <a:endParaRPr lang="ar-SA" sz="1800" dirty="0"/>
          </a:p>
        </p:txBody>
      </p:sp>
      <p:sp>
        <p:nvSpPr>
          <p:cNvPr id="24" name="Text 21"/>
          <p:cNvSpPr txBox="1"/>
          <p:nvPr/>
        </p:nvSpPr>
        <p:spPr>
          <a:xfrm>
            <a:off x="5669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generations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858000" y="3004718"/>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كَانَتِ الحَضَارَاتُ قَدْ أَبْدَعَتْ فِي العِمَارَةِ وَالعِلْمِ.</a:t>
            </a:r>
            <a:endParaRPr lang="ar-SA" sz="1700" dirty="0"/>
          </a:p>
        </p:txBody>
      </p:sp>
      <p:sp>
        <p:nvSpPr>
          <p:cNvPr id="29" name="Text 26"/>
          <p:cNvSpPr txBox="1"/>
          <p:nvPr/>
        </p:nvSpPr>
        <p:spPr>
          <a:xfrm>
            <a:off x="504748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
            </a:r>
            <a:endParaRPr lang="en-US" sz="1100" dirty="0"/>
          </a:p>
        </p:txBody>
      </p:sp>
      <p:sp>
        <p:nvSpPr>
          <p:cNvPr id="30" name="Text 27"/>
          <p:cNvSpPr txBox="1"/>
          <p:nvPr/>
        </p:nvSpPr>
        <p:spPr>
          <a:xfrm>
            <a:off x="2377440" y="3004718"/>
            <a:ext cx="24688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كَانَتْ</a:t>
            </a:r>
            <a:pPr rtl="1" algn="ctr" indent="0" marL="0">
              <a:buNone/>
            </a:pPr>
            <a:r>
              <a:rPr lang="ar-SA" altLang="en-US" sz="1800" b="1" dirty="0">
                <a:solidFill>
                  <a:srgbClr val="1B3B6F"/>
                </a:solidFill>
                <a:latin typeface="Amiri" pitchFamily="2" charset="-78"/>
                <a:cs typeface="Amiri" pitchFamily="2" charset="-78"/>
              </a:rPr>
              <a:t> … </a:t>
            </a:r>
            <a:pPr rtl="1" algn="ctr" indent="0" marL="0">
              <a:buNone/>
            </a:pPr>
            <a:r>
              <a:rPr lang="ar-SA" altLang="en-US" sz="1800" b="1" dirty="0">
                <a:solidFill>
                  <a:srgbClr val="C77700"/>
                </a:solidFill>
                <a:latin typeface="Amiri" pitchFamily="2" charset="-78"/>
                <a:ea typeface="Amiri" pitchFamily="2" charset="-78"/>
                <a:cs typeface="Amiri" pitchFamily="2" charset="-78"/>
              </a:rPr>
              <a:t>قَدْ أَبْدَعَتْ</a:t>
            </a:r>
            <a:endParaRPr lang="ar-SA" sz="1800" dirty="0"/>
          </a:p>
        </p:txBody>
      </p:sp>
      <p:sp>
        <p:nvSpPr>
          <p:cNvPr id="31" name="Text 28"/>
          <p:cNvSpPr txBox="1"/>
          <p:nvPr/>
        </p:nvSpPr>
        <p:spPr>
          <a:xfrm>
            <a:off x="5669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civilisations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858000" y="3741725"/>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كَانَ قَدْ تَمَّ تَوْثِيقُ كَثِيرٍ مِنْهَا.</a:t>
            </a:r>
            <a:endParaRPr lang="ar-SA" sz="1700" dirty="0"/>
          </a:p>
        </p:txBody>
      </p:sp>
      <p:sp>
        <p:nvSpPr>
          <p:cNvPr id="36" name="Text 33"/>
          <p:cNvSpPr txBox="1"/>
          <p:nvPr/>
        </p:nvSpPr>
        <p:spPr>
          <a:xfrm>
            <a:off x="504748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“had been done”</a:t>
            </a:r>
            <a:endParaRPr lang="en-US" sz="1100" dirty="0"/>
          </a:p>
        </p:txBody>
      </p:sp>
      <p:sp>
        <p:nvSpPr>
          <p:cNvPr id="37" name="Text 34"/>
          <p:cNvSpPr txBox="1"/>
          <p:nvPr/>
        </p:nvSpPr>
        <p:spPr>
          <a:xfrm>
            <a:off x="2395728" y="3741725"/>
            <a:ext cx="24688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كَانَ قَدْ تَمَّ</a:t>
            </a:r>
            <a:pPr algn="l" indent="0" marL="0">
              <a:buNone/>
            </a:pPr>
            <a:r>
              <a:rPr lang="en-US" sz="1100" dirty="0">
                <a:solidFill>
                  <a:srgbClr val="5A6472"/>
                </a:solidFill>
                <a:latin typeface="Calibri" pitchFamily="34" charset="0"/>
                <a:cs typeface="Amiri" pitchFamily="2" charset="-78"/>
              </a:rPr>
              <a:t> + maṣdar</a:t>
            </a:r>
            <a:endParaRPr lang="en-US" sz="1100" dirty="0"/>
          </a:p>
        </p:txBody>
      </p:sp>
      <p:sp>
        <p:nvSpPr>
          <p:cNvPr id="38" name="Text 35"/>
          <p:cNvSpPr txBox="1"/>
          <p:nvPr/>
        </p:nvSpPr>
        <p:spPr>
          <a:xfrm>
            <a:off x="5669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impersonal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858000" y="4478731"/>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كَانُوا قَدْ صَمَّمُوهَا بِعِنَايَةٍ.</a:t>
            </a:r>
            <a:endParaRPr lang="ar-SA" sz="1700" dirty="0"/>
          </a:p>
        </p:txBody>
      </p:sp>
      <p:sp>
        <p:nvSpPr>
          <p:cNvPr id="41" name="Text 38"/>
          <p:cNvSpPr txBox="1"/>
          <p:nvPr/>
        </p:nvSpPr>
        <p:spPr>
          <a:xfrm>
            <a:off x="504748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 pl. — both verbs</a:t>
            </a:r>
            <a:endParaRPr lang="en-US" sz="1100" dirty="0"/>
          </a:p>
        </p:txBody>
      </p:sp>
      <p:sp>
        <p:nvSpPr>
          <p:cNvPr id="42" name="Text 39"/>
          <p:cNvSpPr txBox="1"/>
          <p:nvPr/>
        </p:nvSpPr>
        <p:spPr>
          <a:xfrm>
            <a:off x="2377440" y="4478731"/>
            <a:ext cx="24688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كَانُوا قَدْ</a:t>
            </a:r>
            <a:pPr rtl="1" algn="ctr" indent="0" marL="0">
              <a:buNone/>
            </a:pPr>
            <a:r>
              <a:rPr lang="ar-SA" altLang="en-US" sz="1800" b="1" dirty="0">
                <a:solidFill>
                  <a:srgbClr val="1B3B6F"/>
                </a:solidFill>
                <a:latin typeface="Amiri" pitchFamily="2" charset="-78"/>
                <a:ea typeface="Amiri" pitchFamily="2" charset="-78"/>
                <a:cs typeface="Amiri" pitchFamily="2" charset="-78"/>
              </a:rPr>
              <a:t> صَمَّمُوهَا</a:t>
            </a:r>
            <a:endParaRPr lang="ar-SA" sz="1800" dirty="0"/>
          </a:p>
        </p:txBody>
      </p:sp>
      <p:sp>
        <p:nvSpPr>
          <p:cNvPr id="43" name="Text 40"/>
          <p:cNvSpPr txBox="1"/>
          <p:nvPr/>
        </p:nvSpPr>
        <p:spPr>
          <a:xfrm>
            <a:off x="5669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(people)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858000" y="5215738"/>
            <a:ext cx="47823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كَانَ الأَجْدَادُ قَدْ بَنَوْهَا لِكَيْ يَنْعَمَ بِهَا الأَحْفَادُ.</a:t>
            </a:r>
            <a:endParaRPr lang="ar-SA" sz="1700" dirty="0"/>
          </a:p>
        </p:txBody>
      </p:sp>
      <p:sp>
        <p:nvSpPr>
          <p:cNvPr id="46" name="Text 43"/>
          <p:cNvSpPr txBox="1"/>
          <p:nvPr/>
        </p:nvSpPr>
        <p:spPr>
          <a:xfrm>
            <a:off x="504748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first → sg.</a:t>
            </a:r>
            <a:endParaRPr lang="en-US" sz="1100" dirty="0"/>
          </a:p>
        </p:txBody>
      </p:sp>
      <p:sp>
        <p:nvSpPr>
          <p:cNvPr id="47" name="Text 44"/>
          <p:cNvSpPr txBox="1"/>
          <p:nvPr/>
        </p:nvSpPr>
        <p:spPr>
          <a:xfrm>
            <a:off x="2377440" y="5215738"/>
            <a:ext cx="24688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ea typeface="Amiri" pitchFamily="2" charset="-78"/>
                <a:cs typeface="Amiri" pitchFamily="2" charset="-78"/>
              </a:rPr>
              <a:t>كَانَ</a:t>
            </a:r>
            <a:pPr rtl="1" algn="ctr" indent="0" marL="0">
              <a:buNone/>
            </a:pPr>
            <a:r>
              <a:rPr lang="ar-SA" altLang="en-US" sz="1800" b="1" dirty="0">
                <a:solidFill>
                  <a:srgbClr val="1B3B6F"/>
                </a:solidFill>
                <a:latin typeface="Amiri" pitchFamily="2" charset="-78"/>
                <a:ea typeface="Amiri" pitchFamily="2" charset="-78"/>
                <a:cs typeface="Amiri" pitchFamily="2" charset="-78"/>
              </a:rPr>
              <a:t> الأَجْدَادُ </a:t>
            </a:r>
            <a:pPr rtl="1" algn="ctr" indent="0" marL="0">
              <a:buNone/>
            </a:pPr>
            <a:r>
              <a:rPr lang="ar-SA" altLang="en-US" sz="1800" b="1" dirty="0">
                <a:solidFill>
                  <a:srgbClr val="C77700"/>
                </a:solidFill>
                <a:latin typeface="Amiri" pitchFamily="2" charset="-78"/>
                <a:ea typeface="Amiri" pitchFamily="2" charset="-78"/>
                <a:cs typeface="Amiri" pitchFamily="2" charset="-78"/>
              </a:rPr>
              <a:t>قَدْ بَنَوْهَا</a:t>
            </a:r>
            <a:endParaRPr lang="ar-SA" sz="1800" dirty="0"/>
          </a:p>
        </p:txBody>
      </p:sp>
      <p:sp>
        <p:nvSpPr>
          <p:cNvPr id="48" name="Text 45"/>
          <p:cNvSpPr txBox="1"/>
          <p:nvPr/>
        </p:nvSpPr>
        <p:spPr>
          <a:xfrm>
            <a:off x="5669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ancestors</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1: banati l-ajyālu … ✗ (simple past) → kānati l-ajyālu qad banat … ✓ — it happened BEFORE the argument we are making now.</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THREE TRIGGERS MAKE THE CASE (WEBSITE RULES 2–3, TEACHING POINT 2, GAME AND TEXTS)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protecting it requires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ثَلَاثَةُ مُحَفِّزَاتٍ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08192" y="1810512"/>
            <a:ext cx="5550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37083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in -a</a:t>
            </a:r>
            <a:endParaRPr lang="en-US" sz="1100" dirty="0"/>
          </a:p>
        </p:txBody>
      </p:sp>
      <p:sp>
        <p:nvSpPr>
          <p:cNvPr id="18" name="Text 15"/>
          <p:cNvSpPr txBox="1"/>
          <p:nvPr/>
        </p:nvSpPr>
        <p:spPr>
          <a:xfrm>
            <a:off x="290779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Trigger</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6126480" y="2267712"/>
            <a:ext cx="551383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يَتَطَلَّبُ الحِفَاظُ أَنْ </a:t>
            </a:r>
            <a:pPr rtl="1" algn="ctr" indent="0" marL="0">
              <a:buNone/>
            </a:pPr>
            <a:r>
              <a:rPr lang="ar-SA" altLang="en-US" sz="1700" b="1" dirty="0">
                <a:solidFill>
                  <a:srgbClr val="1D5FBF"/>
                </a:solidFill>
                <a:latin typeface="Amiri" pitchFamily="2" charset="-78"/>
                <a:ea typeface="Amiri" pitchFamily="2" charset="-78"/>
                <a:cs typeface="Amiri" pitchFamily="2" charset="-78"/>
              </a:rPr>
              <a:t>تُعْطِيَهُ</a:t>
            </a:r>
            <a:pPr rtl="1" algn="ctr" indent="0" marL="0">
              <a:buNone/>
            </a:pPr>
            <a:r>
              <a:rPr lang="ar-SA" altLang="en-US" sz="1700" b="1" dirty="0">
                <a:solidFill>
                  <a:srgbClr val="1B3B6F"/>
                </a:solidFill>
                <a:latin typeface="Amiri" pitchFamily="2" charset="-78"/>
                <a:ea typeface="Amiri" pitchFamily="2" charset="-78"/>
                <a:cs typeface="Amiri" pitchFamily="2" charset="-78"/>
              </a:rPr>
              <a:t> الحُكُومَاتُ أَوْلَوِيَّةً قُصْوَى.</a:t>
            </a:r>
            <a:endParaRPr lang="ar-SA" sz="1700" dirty="0"/>
          </a:p>
        </p:txBody>
      </p:sp>
      <p:sp>
        <p:nvSpPr>
          <p:cNvPr id="22" name="Text 19"/>
          <p:cNvSpPr txBox="1"/>
          <p:nvPr/>
        </p:nvSpPr>
        <p:spPr>
          <a:xfrm>
            <a:off x="4407408" y="2267712"/>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-iya</a:t>
            </a:r>
            <a:endParaRPr lang="en-US" sz="1100" dirty="0"/>
          </a:p>
        </p:txBody>
      </p:sp>
      <p:sp>
        <p:nvSpPr>
          <p:cNvPr id="23" name="Text 20"/>
          <p:cNvSpPr txBox="1"/>
          <p:nvPr/>
        </p:nvSpPr>
        <p:spPr>
          <a:xfrm>
            <a:off x="2944368" y="226771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a:t>
            </a:r>
            <a:endParaRPr lang="en-US" sz="1100" dirty="0"/>
          </a:p>
        </p:txBody>
      </p:sp>
      <p:sp>
        <p:nvSpPr>
          <p:cNvPr id="24" name="Text 21"/>
          <p:cNvSpPr txBox="1"/>
          <p:nvPr/>
        </p:nvSpPr>
        <p:spPr>
          <a:xfrm>
            <a:off x="548640" y="2267712"/>
            <a:ext cx="2194560" cy="559308"/>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2" charset="-78"/>
                <a:ea typeface="Amiri" pitchFamily="2" charset="-78"/>
                <a:cs typeface="Amiri" pitchFamily="2" charset="-78"/>
              </a:rPr>
              <a:t>يَتَطَلَّبُ أَنْ</a:t>
            </a:r>
            <a:endParaRPr lang="ar-SA" sz="18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6126480" y="2881884"/>
            <a:ext cx="551383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الضَّرُورِيِّ أَنْ </a:t>
            </a:r>
            <a:pPr rtl="1" algn="ctr" indent="0" marL="0">
              <a:buNone/>
            </a:pPr>
            <a:r>
              <a:rPr lang="ar-SA" altLang="en-US" sz="1700" b="1" dirty="0">
                <a:solidFill>
                  <a:srgbClr val="0E7C86"/>
                </a:solidFill>
                <a:latin typeface="Amiri" pitchFamily="2" charset="-78"/>
                <a:ea typeface="Amiri" pitchFamily="2" charset="-78"/>
                <a:cs typeface="Amiri" pitchFamily="2" charset="-78"/>
              </a:rPr>
              <a:t>يُرَمِّمَ</a:t>
            </a:r>
            <a:pPr rtl="1" algn="ctr" indent="0" marL="0">
              <a:buNone/>
            </a:pPr>
            <a:r>
              <a:rPr lang="ar-SA" altLang="en-US" sz="1700" b="1" dirty="0">
                <a:solidFill>
                  <a:srgbClr val="1B3B6F"/>
                </a:solidFill>
                <a:latin typeface="Amiri" pitchFamily="2" charset="-78"/>
                <a:ea typeface="Amiri" pitchFamily="2" charset="-78"/>
                <a:cs typeface="Amiri" pitchFamily="2" charset="-78"/>
              </a:rPr>
              <a:t> المُتَخَصِّصُونَ المَوَاقِعَ التَّالِفَةَ.</a:t>
            </a:r>
            <a:endParaRPr lang="ar-SA" sz="1700" dirty="0"/>
          </a:p>
        </p:txBody>
      </p:sp>
      <p:sp>
        <p:nvSpPr>
          <p:cNvPr id="29" name="Text 26"/>
          <p:cNvSpPr txBox="1"/>
          <p:nvPr/>
        </p:nvSpPr>
        <p:spPr>
          <a:xfrm>
            <a:off x="4407408" y="2881884"/>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a:t>
            </a:r>
            <a:endParaRPr lang="en-US" sz="1100" dirty="0"/>
          </a:p>
        </p:txBody>
      </p:sp>
      <p:sp>
        <p:nvSpPr>
          <p:cNvPr id="30" name="Text 27"/>
          <p:cNvSpPr txBox="1"/>
          <p:nvPr/>
        </p:nvSpPr>
        <p:spPr>
          <a:xfrm>
            <a:off x="2944368" y="2881884"/>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a:t>
            </a:r>
            <a:endParaRPr lang="en-US" sz="1100" dirty="0"/>
          </a:p>
        </p:txBody>
      </p:sp>
      <p:sp>
        <p:nvSpPr>
          <p:cNvPr id="31" name="Text 28"/>
          <p:cNvSpPr txBox="1"/>
          <p:nvPr/>
        </p:nvSpPr>
        <p:spPr>
          <a:xfrm>
            <a:off x="548640" y="2881884"/>
            <a:ext cx="2194560" cy="559308"/>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مِنَ الضَّرُورِيِّ أَنْ</a:t>
            </a:r>
            <a:endParaRPr lang="ar-SA" sz="18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6126480" y="3496056"/>
            <a:ext cx="551383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لِكَيْ </a:t>
            </a:r>
            <a:pPr rtl="1" algn="ctr" indent="0" marL="0">
              <a:buNone/>
            </a:pPr>
            <a:r>
              <a:rPr lang="ar-SA" altLang="en-US" sz="1700" b="1" dirty="0">
                <a:solidFill>
                  <a:srgbClr val="D6336C"/>
                </a:solidFill>
                <a:latin typeface="Amiri" pitchFamily="2" charset="-78"/>
                <a:ea typeface="Amiri" pitchFamily="2" charset="-78"/>
                <a:cs typeface="Amiri" pitchFamily="2" charset="-78"/>
              </a:rPr>
              <a:t>تَظَلَّ</a:t>
            </a:r>
            <a:pPr rtl="1" algn="ctr" indent="0" marL="0">
              <a:buNone/>
            </a:pPr>
            <a:r>
              <a:rPr lang="ar-SA" altLang="en-US" sz="1700" b="1" dirty="0">
                <a:solidFill>
                  <a:srgbClr val="1B3B6F"/>
                </a:solidFill>
                <a:latin typeface="Amiri" pitchFamily="2" charset="-78"/>
                <a:ea typeface="Amiri" pitchFamily="2" charset="-78"/>
                <a:cs typeface="Amiri" pitchFamily="2" charset="-78"/>
              </a:rPr>
              <a:t> شَاهِدَةً عَلَى عَظَمَةِ الحَضَارَةِ.</a:t>
            </a:r>
            <a:endParaRPr lang="ar-SA" sz="1700" dirty="0"/>
          </a:p>
        </p:txBody>
      </p:sp>
      <p:sp>
        <p:nvSpPr>
          <p:cNvPr id="36" name="Text 33"/>
          <p:cNvSpPr txBox="1"/>
          <p:nvPr/>
        </p:nvSpPr>
        <p:spPr>
          <a:xfrm>
            <a:off x="4407408" y="3496056"/>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doubled</a:t>
            </a:r>
            <a:endParaRPr lang="en-US" sz="1100" dirty="0"/>
          </a:p>
        </p:txBody>
      </p:sp>
      <p:sp>
        <p:nvSpPr>
          <p:cNvPr id="37" name="Text 34"/>
          <p:cNvSpPr txBox="1"/>
          <p:nvPr/>
        </p:nvSpPr>
        <p:spPr>
          <a:xfrm>
            <a:off x="2944368" y="3496056"/>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a:t>
            </a:r>
            <a:endParaRPr lang="en-US" sz="1100" dirty="0"/>
          </a:p>
        </p:txBody>
      </p:sp>
      <p:sp>
        <p:nvSpPr>
          <p:cNvPr id="38" name="Text 35"/>
          <p:cNvSpPr txBox="1"/>
          <p:nvPr/>
        </p:nvSpPr>
        <p:spPr>
          <a:xfrm>
            <a:off x="548640" y="3496056"/>
            <a:ext cx="2194560" cy="559308"/>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لِكَيْ</a:t>
            </a:r>
            <a:endParaRPr lang="ar-SA" sz="18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6126480" y="4110228"/>
            <a:ext cx="551383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يَنْبَغِي أَنْ </a:t>
            </a:r>
            <a:pPr rtl="1" algn="ctr" indent="0" marL="0">
              <a:buNone/>
            </a:pPr>
            <a:r>
              <a:rPr lang="ar-SA" altLang="en-US" sz="1700" b="1" dirty="0">
                <a:solidFill>
                  <a:srgbClr val="0E7C86"/>
                </a:solidFill>
                <a:latin typeface="Amiri" pitchFamily="2" charset="-78"/>
                <a:ea typeface="Amiri" pitchFamily="2" charset="-78"/>
                <a:cs typeface="Amiri" pitchFamily="2" charset="-78"/>
              </a:rPr>
              <a:t>يُشَارِكَ</a:t>
            </a:r>
            <a:pPr rtl="1" algn="ctr" indent="0" marL="0">
              <a:buNone/>
            </a:pPr>
            <a:r>
              <a:rPr lang="ar-SA" altLang="en-US" sz="1700" b="1" dirty="0">
                <a:solidFill>
                  <a:srgbClr val="1B3B6F"/>
                </a:solidFill>
                <a:latin typeface="Amiri" pitchFamily="2" charset="-78"/>
                <a:ea typeface="Amiri" pitchFamily="2" charset="-78"/>
                <a:cs typeface="Amiri" pitchFamily="2" charset="-78"/>
              </a:rPr>
              <a:t> المُجْتَمَعُ فِي صَوْنِهِ.</a:t>
            </a:r>
            <a:endParaRPr lang="ar-SA" sz="1700" dirty="0"/>
          </a:p>
        </p:txBody>
      </p:sp>
      <p:sp>
        <p:nvSpPr>
          <p:cNvPr id="43" name="Text 40"/>
          <p:cNvSpPr txBox="1"/>
          <p:nvPr/>
        </p:nvSpPr>
        <p:spPr>
          <a:xfrm>
            <a:off x="4407408" y="4110228"/>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a:t>
            </a:r>
            <a:endParaRPr lang="en-US" sz="1100" dirty="0"/>
          </a:p>
        </p:txBody>
      </p:sp>
      <p:sp>
        <p:nvSpPr>
          <p:cNvPr id="44" name="Text 41"/>
          <p:cNvSpPr txBox="1"/>
          <p:nvPr/>
        </p:nvSpPr>
        <p:spPr>
          <a:xfrm>
            <a:off x="2944368" y="4110228"/>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a:t>
            </a:r>
            <a:endParaRPr lang="en-US" sz="1100" dirty="0"/>
          </a:p>
        </p:txBody>
      </p:sp>
      <p:sp>
        <p:nvSpPr>
          <p:cNvPr id="45" name="Text 42"/>
          <p:cNvSpPr txBox="1"/>
          <p:nvPr/>
        </p:nvSpPr>
        <p:spPr>
          <a:xfrm>
            <a:off x="548640" y="4110228"/>
            <a:ext cx="2194560" cy="559308"/>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يَنْبَغِي أَنْ</a:t>
            </a:r>
            <a:endParaRPr lang="ar-SA" sz="18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6126480" y="4724400"/>
            <a:ext cx="551383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بَنَتْ هٰذِهِ الرَّوَائِعَ </a:t>
            </a:r>
            <a:pPr rtl="1" algn="ctr" indent="0" marL="0">
              <a:buNone/>
            </a:pPr>
            <a:r>
              <a:rPr lang="ar-SA" altLang="en-US" sz="1700" b="1" dirty="0">
                <a:solidFill>
                  <a:srgbClr val="D6336C"/>
                </a:solidFill>
                <a:latin typeface="Amiri" pitchFamily="2" charset="-78"/>
                <a:ea typeface="Amiri" pitchFamily="2" charset="-78"/>
                <a:cs typeface="Amiri" pitchFamily="2" charset="-78"/>
              </a:rPr>
              <a:t>لِتَشْهَدَ</a:t>
            </a:r>
            <a:pPr rtl="1" algn="ctr" indent="0" marL="0">
              <a:buNone/>
            </a:pPr>
            <a:r>
              <a:rPr lang="ar-SA" altLang="en-US" sz="1700" b="1" dirty="0">
                <a:solidFill>
                  <a:srgbClr val="1B3B6F"/>
                </a:solidFill>
                <a:latin typeface="Amiri" pitchFamily="2" charset="-78"/>
                <a:ea typeface="Amiri" pitchFamily="2" charset="-78"/>
                <a:cs typeface="Amiri" pitchFamily="2" charset="-78"/>
              </a:rPr>
              <a:t> عَلَى إِبْدَاعِ الحَضَارَاتِ.</a:t>
            </a:r>
            <a:endParaRPr lang="ar-SA" sz="1700" dirty="0"/>
          </a:p>
        </p:txBody>
      </p:sp>
      <p:sp>
        <p:nvSpPr>
          <p:cNvPr id="48" name="Text 45"/>
          <p:cNvSpPr txBox="1"/>
          <p:nvPr/>
        </p:nvSpPr>
        <p:spPr>
          <a:xfrm>
            <a:off x="4407408" y="4724400"/>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a:t>
            </a:r>
            <a:endParaRPr lang="en-US" sz="1100" dirty="0"/>
          </a:p>
        </p:txBody>
      </p:sp>
      <p:sp>
        <p:nvSpPr>
          <p:cNvPr id="49" name="Text 46"/>
          <p:cNvSpPr txBox="1"/>
          <p:nvPr/>
        </p:nvSpPr>
        <p:spPr>
          <a:xfrm>
            <a:off x="2944368" y="4724400"/>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 (short)</a:t>
            </a:r>
            <a:endParaRPr lang="en-US" sz="1100" dirty="0"/>
          </a:p>
        </p:txBody>
      </p:sp>
      <p:sp>
        <p:nvSpPr>
          <p:cNvPr id="50" name="Text 47"/>
          <p:cNvSpPr txBox="1"/>
          <p:nvPr/>
        </p:nvSpPr>
        <p:spPr>
          <a:xfrm>
            <a:off x="548640" y="4724400"/>
            <a:ext cx="2194560" cy="559308"/>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لِـ</a:t>
            </a:r>
            <a:endParaRPr lang="ar-SA" sz="18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6126480" y="5338572"/>
            <a:ext cx="5513832"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يَنْبَغِي </a:t>
            </a:r>
            <a:pPr rtl="1" algn="ctr" indent="0" marL="0">
              <a:buNone/>
            </a:pPr>
            <a:r>
              <a:rPr lang="ar-SA" altLang="en-US" sz="1700" b="1" dirty="0">
                <a:solidFill>
                  <a:srgbClr val="7B3FA0"/>
                </a:solidFill>
                <a:latin typeface="Amiri" pitchFamily="2" charset="-78"/>
                <a:ea typeface="Amiri" pitchFamily="2" charset="-78"/>
                <a:cs typeface="Amiri" pitchFamily="2" charset="-78"/>
              </a:rPr>
              <a:t>أَلَّا يُدَمَّرَ</a:t>
            </a:r>
            <a:pPr rtl="1" algn="ctr" indent="0" marL="0">
              <a:buNone/>
            </a:pPr>
            <a:r>
              <a:rPr lang="ar-SA" altLang="en-US" sz="1700" b="1" dirty="0">
                <a:solidFill>
                  <a:srgbClr val="1B3B6F"/>
                </a:solidFill>
                <a:latin typeface="Amiri" pitchFamily="2" charset="-78"/>
                <a:ea typeface="Amiri" pitchFamily="2" charset="-78"/>
                <a:cs typeface="Amiri" pitchFamily="2" charset="-78"/>
              </a:rPr>
              <a:t> المَوْقِعُ التَّارِيخِيُّ.</a:t>
            </a:r>
            <a:endParaRPr lang="ar-SA" sz="1700" dirty="0"/>
          </a:p>
        </p:txBody>
      </p:sp>
      <p:sp>
        <p:nvSpPr>
          <p:cNvPr id="53" name="Text 50"/>
          <p:cNvSpPr txBox="1"/>
          <p:nvPr/>
        </p:nvSpPr>
        <p:spPr>
          <a:xfrm>
            <a:off x="4407408" y="5338572"/>
            <a:ext cx="15544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54" name="Text 51"/>
          <p:cNvSpPr txBox="1"/>
          <p:nvPr/>
        </p:nvSpPr>
        <p:spPr>
          <a:xfrm>
            <a:off x="2944368" y="533857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 negative</a:t>
            </a:r>
            <a:endParaRPr lang="en-US" sz="1100" dirty="0"/>
          </a:p>
        </p:txBody>
      </p:sp>
      <p:sp>
        <p:nvSpPr>
          <p:cNvPr id="55" name="Text 52"/>
          <p:cNvSpPr txBox="1"/>
          <p:nvPr/>
        </p:nvSpPr>
        <p:spPr>
          <a:xfrm>
            <a:off x="548640" y="5338572"/>
            <a:ext cx="2194560" cy="559308"/>
          </a:xfrm>
          <a:prstGeom prst="rect">
            <a:avLst/>
          </a:prstGeom>
          <a:noFill/>
          <a:ln/>
        </p:spPr>
        <p:txBody>
          <a:bodyPr wrap="square" lIns="0" tIns="0" rIns="0" bIns="0" rtlCol="0" anchor="ctr"/>
          <a:lstStyle/>
          <a:p>
            <a:pPr rtl="1" algn="ctr" indent="0" marL="0">
              <a:buNone/>
            </a:pPr>
            <a:r>
              <a:rPr lang="ar-SA" altLang="en-US" sz="1800" b="1" dirty="0">
                <a:solidFill>
                  <a:srgbClr val="7B3FA0"/>
                </a:solidFill>
                <a:latin typeface="Amiri" pitchFamily="2" charset="-78"/>
                <a:ea typeface="Amiri" pitchFamily="2" charset="-78"/>
                <a:cs typeface="Amiri" pitchFamily="2" charset="-78"/>
              </a:rPr>
              <a:t>أَلَّا</a:t>
            </a:r>
            <a:pPr rtl="1" algn="ctr" indent="0" marL="0">
              <a:buNone/>
            </a:pPr>
            <a:r>
              <a:rPr lang="ar-SA" altLang="en-US" sz="1800" b="1" dirty="0">
                <a:solidFill>
                  <a:srgbClr val="1B3B6F"/>
                </a:solidFill>
                <a:latin typeface="Amiri" pitchFamily="2" charset="-78"/>
                <a:ea typeface="Amiri" pitchFamily="2" charset="-78"/>
                <a:cs typeface="Amiri" pitchFamily="2" charset="-78"/>
              </a:rPr>
              <a:t> = أَنْ + لَا</a:t>
            </a:r>
            <a:endParaRPr lang="ar-SA" sz="18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2: an yurammimu ✗ → an yurammima ✓. Row 6 (website game): an + lā joins into allā — the verb still ends in -a.</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PROPOSAL, REGRET, EVIDENCE (WEBSITE RULE 4, READING, WRITING MODEL AND MISTAKE 3)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Learn from the past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الاقْتِرَاحُ · النَّدَمُ · الدَّلِيلُ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9202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PROPOSAL · CORE</a:t>
            </a:r>
            <a:endParaRPr lang="en-US" sz="850" dirty="0"/>
          </a:p>
        </p:txBody>
      </p:sp>
      <p:sp>
        <p:nvSpPr>
          <p:cNvPr id="18" name="Text 15"/>
          <p:cNvSpPr txBox="1"/>
          <p:nvPr/>
        </p:nvSpPr>
        <p:spPr>
          <a:xfrm>
            <a:off x="10198608"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اعْتَمَدْنَا سِيَاسَاتِ حِمَايَةٍ صَارِمَةً، سَنَضْمَنُ بَقَاءَ هٰذَا الإِرْثِ.</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we adopt strict protection policies, we will guarantee this legacy survives.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Still possible.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888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REGRET · DEVELOP</a:t>
            </a:r>
            <a:endParaRPr lang="en-US" sz="850" dirty="0"/>
          </a:p>
        </p:txBody>
      </p:sp>
      <p:sp>
        <p:nvSpPr>
          <p:cNvPr id="26" name="Text 23"/>
          <p:cNvSpPr txBox="1"/>
          <p:nvPr/>
        </p:nvSpPr>
        <p:spPr>
          <a:xfrm>
            <a:off x="6448044"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لَوْ … لَمَا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لَوْ أُولِيَ التُّرَاثُ اهْتِمَامًا كَافِيًا، لَمَا انْدَثَرَ الكَثِيرُ.</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heritage been given enough attention, so much would not have vanished.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Negative: la-mā.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EVIDENCE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أَشَارَ … إِلَى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أَشَارَ المُؤَرِّخُونَ إِلَى أَنَّ هٰذِهِ المَوَاقِعَ لَا تُعَوَّضُ.</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Historians pointed out that these sites are irreplaceable.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noun.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yaṣūnu takes a direct object — no bi-.</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تَصُونُ السِّيَاسَاتُ الهُوِيَّةَ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تَصُونُ السِّيَاسَاتُ بِالهُوِيَّةِ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LANGUAGE OF A HERITAGE ARGUMENT (WEBSITE LISTENING, READING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Sound like a heritage advocate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الدِّفَاعِ عَنِ التُّرَاثِ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272491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yuʿaddu + -an</a:t>
            </a:r>
            <a:endParaRPr lang="en-US" sz="1100" dirty="0"/>
          </a:p>
        </p:txBody>
      </p:sp>
      <p:sp>
        <p:nvSpPr>
          <p:cNvPr id="21" name="Text 18"/>
          <p:cNvSpPr txBox="1"/>
          <p:nvPr/>
        </p:nvSpPr>
        <p:spPr>
          <a:xfrm>
            <a:off x="2743200" y="2267712"/>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يُعَدُّ التُّرَاثُ </a:t>
            </a:r>
            <a:pPr rtl="1" algn="ctr" indent="0" marL="0">
              <a:buNone/>
            </a:pPr>
            <a:r>
              <a:rPr lang="ar-SA" altLang="en-US" sz="1800" b="1" dirty="0">
                <a:solidFill>
                  <a:srgbClr val="D6336C"/>
                </a:solidFill>
                <a:latin typeface="Amiri" pitchFamily="2" charset="-78"/>
                <a:ea typeface="Amiri" pitchFamily="2" charset="-78"/>
                <a:cs typeface="Amiri" pitchFamily="2" charset="-78"/>
              </a:rPr>
              <a:t>رَكِيزَةً أَسَاسِيَّةً</a:t>
            </a:r>
            <a:pPr rtl="1" algn="ctr" indent="0" marL="0">
              <a:buNone/>
            </a:pPr>
            <a:r>
              <a:rPr lang="ar-SA" altLang="en-US" sz="1800" b="1" dirty="0">
                <a:solidFill>
                  <a:srgbClr val="1B3B6F"/>
                </a:solidFill>
                <a:latin typeface="Amiri" pitchFamily="2" charset="-78"/>
                <a:ea typeface="Amiri" pitchFamily="2" charset="-78"/>
                <a:cs typeface="Amiri" pitchFamily="2" charset="-78"/>
              </a:rPr>
              <a:t> لِلْهُوِيَّةِ الثَّقَافِيَّةِ</a:t>
            </a:r>
            <a:endParaRPr lang="ar-SA" sz="18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pillar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amāna</a:t>
            </a:r>
            <a:endParaRPr lang="en-US" sz="1100" dirty="0"/>
          </a:p>
        </p:txBody>
      </p:sp>
      <p:sp>
        <p:nvSpPr>
          <p:cNvPr id="27" name="Text 24"/>
          <p:cNvSpPr txBox="1"/>
          <p:nvPr/>
        </p:nvSpPr>
        <p:spPr>
          <a:xfrm>
            <a:off x="2743200" y="300471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يَحْمِلُ كُلُّ جِيلٍ </a:t>
            </a:r>
            <a:pPr rtl="1" algn="ctr" indent="0" marL="0">
              <a:buNone/>
            </a:pPr>
            <a:r>
              <a:rPr lang="ar-SA" altLang="en-US" sz="1800" b="1" dirty="0">
                <a:solidFill>
                  <a:srgbClr val="0E7C86"/>
                </a:solidFill>
                <a:latin typeface="Amiri" pitchFamily="2" charset="-78"/>
                <a:ea typeface="Amiri" pitchFamily="2" charset="-78"/>
                <a:cs typeface="Amiri" pitchFamily="2" charset="-78"/>
              </a:rPr>
              <a:t>أَمَانَةً</a:t>
            </a:r>
            <a:pPr rtl="1" algn="ctr" indent="0" marL="0">
              <a:buNone/>
            </a:pPr>
            <a:r>
              <a:rPr lang="ar-SA" altLang="en-US" sz="1800" b="1" dirty="0">
                <a:solidFill>
                  <a:srgbClr val="1B3B6F"/>
                </a:solidFill>
                <a:latin typeface="Amiri" pitchFamily="2" charset="-78"/>
                <a:ea typeface="Amiri" pitchFamily="2" charset="-78"/>
                <a:cs typeface="Amiri" pitchFamily="2" charset="-78"/>
              </a:rPr>
              <a:t> تِجَاهَ تُرَاثِهِ</a:t>
            </a:r>
            <a:endParaRPr lang="ar-SA" sz="18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trust</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participle</a:t>
            </a:r>
            <a:endParaRPr lang="en-US" sz="1100" dirty="0"/>
          </a:p>
        </p:txBody>
      </p:sp>
      <p:sp>
        <p:nvSpPr>
          <p:cNvPr id="31" name="Text 28"/>
          <p:cNvSpPr txBox="1"/>
          <p:nvPr/>
        </p:nvSpPr>
        <p:spPr>
          <a:xfrm>
            <a:off x="2743200" y="3741725"/>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أَكْثَرَ مِنْ ثَمَانِينَ مَوْقِعًا </a:t>
            </a:r>
            <a:pPr rtl="1" algn="ctr" indent="0" marL="0">
              <a:buNone/>
            </a:pPr>
            <a:r>
              <a:rPr lang="ar-SA" altLang="en-US" sz="1800" b="1" dirty="0">
                <a:solidFill>
                  <a:srgbClr val="1D5FBF"/>
                </a:solidFill>
                <a:latin typeface="Amiri" pitchFamily="2" charset="-78"/>
                <a:ea typeface="Amiri" pitchFamily="2" charset="-78"/>
                <a:cs typeface="Amiri" pitchFamily="2" charset="-78"/>
              </a:rPr>
              <a:t>مُدْرَجًا عَلَى قَائِمَةِ التُّرَاثِ العَالَمِيِّ</a:t>
            </a:r>
            <a:endParaRPr lang="ar-SA" sz="1800" dirty="0"/>
          </a:p>
        </p:txBody>
      </p:sp>
      <p:sp>
        <p:nvSpPr>
          <p:cNvPr id="32" name="Text 29"/>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listed</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bi-fiʿli = due to</a:t>
            </a:r>
            <a:endParaRPr lang="en-US" sz="1100" dirty="0"/>
          </a:p>
        </p:txBody>
      </p:sp>
      <p:sp>
        <p:nvSpPr>
          <p:cNvPr id="35" name="Text 32"/>
          <p:cNvSpPr txBox="1"/>
          <p:nvPr/>
        </p:nvSpPr>
        <p:spPr>
          <a:xfrm>
            <a:off x="2743200" y="4478731"/>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يَتَنَاقَصُ </a:t>
            </a:r>
            <a:pPr rtl="1" algn="ctr" indent="0" marL="0">
              <a:buNone/>
            </a:pPr>
            <a:r>
              <a:rPr lang="ar-SA" altLang="en-US" sz="1800" b="1" dirty="0">
                <a:solidFill>
                  <a:srgbClr val="C77700"/>
                </a:solidFill>
                <a:latin typeface="Amiri" pitchFamily="2" charset="-78"/>
                <a:ea typeface="Amiri" pitchFamily="2" charset="-78"/>
                <a:cs typeface="Amiri" pitchFamily="2" charset="-78"/>
              </a:rPr>
              <a:t>بِفِعْلِ</a:t>
            </a:r>
            <a:pPr rtl="1" algn="ctr" indent="0" marL="0">
              <a:buNone/>
            </a:pPr>
            <a:r>
              <a:rPr lang="ar-SA" altLang="en-US" sz="1800" b="1" dirty="0">
                <a:solidFill>
                  <a:srgbClr val="1B3B6F"/>
                </a:solidFill>
                <a:latin typeface="Amiri" pitchFamily="2" charset="-78"/>
                <a:ea typeface="Amiri" pitchFamily="2" charset="-78"/>
                <a:cs typeface="Amiri" pitchFamily="2" charset="-78"/>
              </a:rPr>
              <a:t> الإِهْمَالِ وَالصِّرَاعَاتِ</a:t>
            </a:r>
            <a:endParaRPr lang="ar-SA" sz="1800" dirty="0"/>
          </a:p>
        </p:txBody>
      </p:sp>
      <p:sp>
        <p:nvSpPr>
          <p:cNvPr id="36" name="Text 33"/>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of</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lā + passive</a:t>
            </a:r>
            <a:endParaRPr lang="en-US" sz="1100" dirty="0"/>
          </a:p>
        </p:txBody>
      </p:sp>
      <p:sp>
        <p:nvSpPr>
          <p:cNvPr id="39" name="Text 36"/>
          <p:cNvSpPr txBox="1"/>
          <p:nvPr/>
        </p:nvSpPr>
        <p:spPr>
          <a:xfrm>
            <a:off x="2743200" y="521573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 هٰذِهِ المَوَاقِعَ </a:t>
            </a:r>
            <a:pPr rtl="1" algn="ctr" indent="0" marL="0">
              <a:buNone/>
            </a:pPr>
            <a:r>
              <a:rPr lang="ar-SA" altLang="en-US" sz="1800" b="1" dirty="0">
                <a:solidFill>
                  <a:srgbClr val="7B3FA0"/>
                </a:solidFill>
                <a:latin typeface="Amiri" pitchFamily="2" charset="-78"/>
                <a:ea typeface="Amiri" pitchFamily="2" charset="-78"/>
                <a:cs typeface="Amiri" pitchFamily="2" charset="-78"/>
              </a:rPr>
              <a:t>لَا تُعَوَّضُ</a:t>
            </a:r>
            <a:endParaRPr lang="ar-SA" sz="1800" dirty="0"/>
          </a:p>
        </p:txBody>
      </p:sp>
      <p:sp>
        <p:nvSpPr>
          <p:cNvPr id="40" name="Text 3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irreplaceable</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heritage argument moves: why it matters → what they had built → what we have lost → what must be done → what we will gain.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Past perfect and the subjunctive in a heritage argument</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500" b="1" dirty="0">
                <a:solidFill>
                  <a:srgbClr val="8A6D1E"/>
                </a:solidFill>
                <a:latin typeface="Amiri" pitchFamily="2" charset="-78"/>
                <a:ea typeface="Amiri" pitchFamily="2" charset="-78"/>
                <a:cs typeface="Amiri" pitchFamily="2" charset="-78"/>
              </a:rPr>
              <a:t>المَاضِي التَّامُّ وَالنَّصْبُ فِي حُجَّةِ التُّرَاثِ</a:t>
            </a:r>
            <a:endParaRPr lang="ar-SA" sz="25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Intergenerational past perfect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kāna / kānat qad + past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كَانَتِ الأَجْيَالُ قَدْ بَنَتْ هٰذِهِ المَعَالِمَ   ·   كَانَ قَدْ تَمَّ تَوْثِيقُ كَثِيرٍ مِنْهَا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Volition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yataṭallabu an + verb in -a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يَتَطَلَّبُ الحِفَاظُ أَنْ تُعْطِيَهُ الحُكُومَاتُ أَوْلَوِيَّةً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Necessity and purpose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min al-ḍarūrī an … li-kay …</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مِنَ الضَّرُورِيِّ أَنْ يُرَمِّمَ المُتَخَصِّصُونَ المَوَاقِعَ لِكَيْ تَظَلَّ شَاهِدَةً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Type 2 regret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أُولِيَ التُّرَاثُ اهْتِمَامًا كَافِيًا، لَكَانَتْ حَالَتُهُ أَفْضَلَ</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ea typeface="Amiri" pitchFamily="2" charset="-78"/>
                <a:cs typeface="Amiri" pitchFamily="2" charset="-78"/>
              </a:rPr>
              <a:t>الأَجْيَالُ السَّابِقَةُ قَدْ بَنَتْ هٰذِهِ المَعَالِمَ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يَتَطَلَّبُ الحِفَاظُ أَنْ ___ الحُكُومَاتُ أَوْلَوِيَّةً لِلتُّرَاثِ.</a:t>
            </a:r>
            <a:endParaRPr lang="ar-SA" sz="11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تُعْطِيَ</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تُعْطِي</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أَعْطَتْ</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مِنَ الضَّرُورِيِّ أَنْ ___ المُتَخَصِّصُونَ المَوَاقِعَ التَّالِفَةَ.</a:t>
            </a:r>
            <a:endParaRPr lang="ar-SA" sz="11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يُرَمِّمُ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يُرَمِّمَ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نُرَمِّمُ المَوَاقِعَ لِكَيْ ___ شَاهِدَةً عَلَى الحَضَارَةِ.</a:t>
            </a:r>
            <a:endParaRPr lang="ar-SA" sz="13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تَظَلَّ</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تَظَلُّ</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ظَلَّتْ</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ea typeface="Amiri" pitchFamily="2" charset="-78"/>
                <a:cs typeface="Amiri" pitchFamily="2" charset="-78"/>
              </a:rPr>
              <a:t>الأَجْيَالُ السَّابِقَةُ قَدْ بَنَتْ هٰذِهِ المَعَالِمَ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 قَدْ</a:t>
            </a:r>
            <a:pPr algn="l" indent="0" marL="0">
              <a:buNone/>
            </a:pPr>
            <a:r>
              <a:rPr lang="en-US" sz="1050" i="1" dirty="0">
                <a:solidFill>
                  <a:srgbClr val="8A6D1E"/>
                </a:solidFill>
                <a:latin typeface="Calibri" pitchFamily="34" charset="0"/>
                <a:cs typeface="Amiri" pitchFamily="2" charset="-78"/>
              </a:rPr>
              <a:t> + past is the past perfect.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يَتَطَلَّبُ الحِفَاظُ أَنْ ___ الحُكُومَاتُ أَوْلَوِيَّةً لِلتُّرَاثِ.</a:t>
            </a:r>
            <a:endParaRPr lang="ar-SA" sz="11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تُعْطِيَ</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تُعْطِي</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أَعْطَتْ</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تُعْطِيَ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ea typeface="Amiri" pitchFamily="2" charset="-78"/>
                <a:cs typeface="Amiri" pitchFamily="2" charset="-78"/>
              </a:rPr>
              <a:t>مِنَ الضَّرُورِيِّ أَنْ ___ المُتَخَصِّصُونَ المَوَاقِعَ التَّالِفَةَ.</a:t>
            </a:r>
            <a:endParaRPr lang="ar-SA" sz="11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يُرَمِّمُ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يُرَمِّمَ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الضَّرُورِيِّ أَنْ</a:t>
            </a:r>
            <a:pPr algn="l" indent="0" marL="0">
              <a:buNone/>
            </a:pPr>
            <a:r>
              <a:rPr lang="en-US" sz="1050" i="1" dirty="0">
                <a:solidFill>
                  <a:srgbClr val="8A6D1E"/>
                </a:solidFill>
                <a:latin typeface="Calibri" pitchFamily="34" charset="0"/>
                <a:cs typeface="Amiri" pitchFamily="2" charset="-78"/>
              </a:rPr>
              <a:t> takes a subjunctive: </a:t>
            </a:r>
            <a:pPr algn="l" indent="0" marL="0">
              <a:buNone/>
            </a:pPr>
            <a:r>
              <a:rPr lang="ar-SA" altLang="en-US" sz="1350" dirty="0">
                <a:solidFill>
                  <a:srgbClr val="8A6D1E"/>
                </a:solidFill>
                <a:latin typeface="Amiri" pitchFamily="2" charset="-78"/>
                <a:ea typeface="Amiri" pitchFamily="2" charset="-78"/>
                <a:cs typeface="Amiri" pitchFamily="2" charset="-78"/>
              </a:rPr>
              <a:t>يُرَمِّمَ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نُرَمِّمُ المَوَاقِعَ لِكَيْ ___ شَاهِدَةً عَلَى الحَضَارَةِ.</a:t>
            </a:r>
            <a:endParaRPr lang="ar-SA" sz="13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تَظَلَّ</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تَظَلُّ</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ظَلَّتْ</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تَظَلَّ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write a heritage argument</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Before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C77700"/>
                </a:solidFill>
                <a:latin typeface="Amiri" pitchFamily="2" charset="-78"/>
                <a:ea typeface="Amiri" pitchFamily="2" charset="-78"/>
                <a:cs typeface="Amiri" pitchFamily="2" charset="-78"/>
              </a:rPr>
              <a:t>كَانَتِ</a:t>
            </a:r>
            <a:pPr rtl="1" algn="ctr" indent="0" marL="0">
              <a:buNone/>
            </a:pPr>
            <a:r>
              <a:rPr lang="ar-SA" altLang="en-US" sz="2300" b="1" dirty="0">
                <a:solidFill>
                  <a:srgbClr val="1B3B6F"/>
                </a:solidFill>
                <a:latin typeface="Amiri" pitchFamily="2" charset="-78"/>
                <a:ea typeface="Amiri" pitchFamily="2" charset="-78"/>
                <a:cs typeface="Amiri" pitchFamily="2" charset="-78"/>
              </a:rPr>
              <a:t> الأَجْيَالُ </a:t>
            </a:r>
            <a:pPr rtl="1" algn="ctr" indent="0" marL="0">
              <a:buNone/>
            </a:pPr>
            <a:r>
              <a:rPr lang="ar-SA" altLang="en-US" sz="2300" b="1" dirty="0">
                <a:solidFill>
                  <a:srgbClr val="C77700"/>
                </a:solidFill>
                <a:latin typeface="Amiri" pitchFamily="2" charset="-78"/>
                <a:ea typeface="Amiri" pitchFamily="2" charset="-78"/>
                <a:cs typeface="Amiri" pitchFamily="2" charset="-78"/>
              </a:rPr>
              <a:t>قَدْ بَنَتْ</a:t>
            </a:r>
            <a:pPr rtl="1" algn="ctr" indent="0" marL="0">
              <a:buNone/>
            </a:pPr>
            <a:r>
              <a:rPr lang="ar-SA" altLang="en-US" sz="2300" b="1" dirty="0">
                <a:solidFill>
                  <a:srgbClr val="1B3B6F"/>
                </a:solidFill>
                <a:latin typeface="Amiri" pitchFamily="2" charset="-78"/>
                <a:cs typeface="Amiri" pitchFamily="2" charset="-78"/>
              </a:rPr>
              <a:t> …</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perfect.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Regret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لَوْ</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7B3FA0"/>
                </a:solidFill>
                <a:latin typeface="Amiri" pitchFamily="2" charset="-78"/>
                <a:ea typeface="Amiri" pitchFamily="2" charset="-78"/>
                <a:cs typeface="Amiri" pitchFamily="2" charset="-78"/>
              </a:rPr>
              <a:t>لَكَانَتْ</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2.</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Require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يَتَطَلَّبُ أَنْ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تُعْطِيَهُ</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 مِنَ الضَّرُورِيِّ أَنْ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يُرَمِّمَ</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Purpose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لِكَيْ </a:t>
            </a:r>
            <a:pPr rtl="1" algn="ctr" indent="0" marL="0">
              <a:buNone/>
            </a:pPr>
            <a:r>
              <a:rPr lang="ar-SA" altLang="en-US" sz="2800" b="1" dirty="0">
                <a:solidFill>
                  <a:srgbClr val="D6336C"/>
                </a:solidFill>
                <a:latin typeface="Amiri" pitchFamily="2" charset="-78"/>
                <a:ea typeface="Amiri" pitchFamily="2" charset="-78"/>
                <a:cs typeface="Amiri" pitchFamily="2" charset="-78"/>
              </a:rPr>
              <a:t>تَظَلَّ</a:t>
            </a:r>
            <a:pPr rtl="1" algn="ctr" indent="0" marL="0">
              <a:buNone/>
            </a:pPr>
            <a:r>
              <a:rPr lang="ar-SA" altLang="en-US" sz="2800" b="1" dirty="0">
                <a:solidFill>
                  <a:srgbClr val="1B3B6F"/>
                </a:solidFill>
                <a:latin typeface="Amiri" pitchFamily="2" charset="-78"/>
                <a:ea typeface="Amiri" pitchFamily="2" charset="-78"/>
                <a:cs typeface="Amiri" pitchFamily="2" charset="-78"/>
              </a:rPr>
              <a:t> شَاهِدَةً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7552944"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49" name="Shape 45"/>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VOLITION</a:t>
            </a:r>
            <a:endParaRPr lang="en-US" sz="800" dirty="0"/>
          </a:p>
        </p:txBody>
      </p:sp>
      <p:sp>
        <p:nvSpPr>
          <p:cNvPr id="51" name="Shape 47"/>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NECESSITY</a:t>
            </a:r>
            <a:endParaRPr lang="en-US" sz="800" dirty="0"/>
          </a:p>
        </p:txBody>
      </p:sp>
      <p:sp>
        <p:nvSpPr>
          <p:cNvPr id="53" name="Shape 49"/>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PURPOSE</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كَانَتِ الأَجْيَالُ السَّابِقَةُ قَدْ بَنَتْ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هٰذِهِ الرَّوَائِعَ لِتَشْهَدَ عَلَى إِبْدَاعِ الحَضَارَاتِ، وَأَشَارَ المُؤَرِّخُونَ إِلَى أَنَّ هٰذِهِ المَوَاقِعَ لَا تُعَوَّضُ.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لَوْ</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كَانَتْ سِيَاسَاتُ الحِفَاظِ أَكْثَرَ صَرَامَةً،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مَوَاقِعُ كَثِيرَةٌ فِي حَالَةٍ أَفْضَلَ. لِذٰلِكَ يَتَطَلَّبُ الحِفَاظُ أَنْ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تُعْطِيَهُ</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الحُكُومَاتُ أَوْلَوِيَّةً، وَمِنَ الضَّرُورِيِّ أَنْ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يُرَمِّمَ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المُتَخَصِّصُونَ المَوَاقِعَ لِكَيْ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تَظَلَّ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شَاهِدَةً.</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Earlier generations had built these masterpieces to bear witness to the creativity of civilisations, and historians have pointed out that these sites are irreplaceable. Had conservation policies been stricter, many sites would be in better condition. So conservation requires governments to give it priority, and it is essential that specialists restore the sites so that they remain witnesses.</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كَانَتِ الأَجْيَالُ السَّابِقَةُ قَدْ بَنَتْ هٰذِهِ الرَّوَائِعَ المِعْمَارِيَّةَ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earlier generations had built these architectural masterpieces</a:t>
            </a:r>
            <a:endParaRPr lang="en-US" sz="1250" dirty="0"/>
          </a:p>
          <a:p>
            <a:pPr indent="0" marL="0">
              <a:buNone/>
            </a:pPr>
            <a:r>
              <a:rPr lang="en-US" sz="1050" i="1" dirty="0">
                <a:solidFill>
                  <a:srgbClr val="8A6D1E"/>
                </a:solidFill>
                <a:latin typeface="Calibri" pitchFamily="34" charset="0"/>
                <a:cs typeface="Amiri" pitchFamily="2" charset="-78"/>
              </a:rPr>
              <a:t>Intergenerational past perfect.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مِنَ الضَّرُورِيِّ أَنْ يُرَمِّمَ المُتَخَصِّصُونَ المَوَاقِعَ التَّالِفَةَ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essential that specialists restore the damaged sites</a:t>
            </a:r>
            <a:endParaRPr lang="en-US" sz="1250" dirty="0"/>
          </a:p>
          <a:p>
            <a:pPr indent="0" marL="0">
              <a:buNone/>
            </a:pPr>
            <a:r>
              <a:rPr lang="en-US" sz="1050" i="1" dirty="0">
                <a:solidFill>
                  <a:srgbClr val="8A6D1E"/>
                </a:solidFill>
                <a:latin typeface="Calibri" pitchFamily="34" charset="0"/>
                <a:cs typeface="Amiri" pitchFamily="2" charset="-78"/>
              </a:rPr>
              <a:t>min al-ḍarūrī an + a verb in -a (yurammima).</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لَوْ أُولِيَ التُّرَاثُ اهْتِمَامًا كَافِيًا، لَكَانَتْ حَالَتُهُ أَفْضَلَ</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heritage been given enough attention, its condition would be better</a:t>
            </a:r>
            <a:endParaRPr lang="en-US" sz="1250" dirty="0"/>
          </a:p>
          <a:p>
            <a:pPr indent="0" marL="0">
              <a:buNone/>
            </a:pPr>
            <a:r>
              <a:rPr lang="en-US" sz="1050" i="1" dirty="0">
                <a:solidFill>
                  <a:srgbClr val="8A6D1E"/>
                </a:solidFill>
                <a:latin typeface="Calibri" pitchFamily="34" charset="0"/>
                <a:cs typeface="Amiri" pitchFamily="2" charset="-78"/>
              </a:rPr>
              <a:t>Type 2 regret over neglect.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HERITAGE CONSERVATION — PROTECTING THE BUILT AND NATURAL PAST”</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Protecting heritage: match the picture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اِحْمِ التُّرَاثَ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protect buildings</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 destruction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documentation</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يَنْبَغِي أَلَّا يُدَمَّرَ المَوْقِعُ التَّارِيخِيُّ.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التَّوْثِيقُ يُسَاعِدُ عَلَى حِفْظِ التُّرَاثِ.</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حِمَايَةُ المَبَانِي التَّارِيخِيَّةِ.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اِحْمِ التُّرَاثَ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protect buildings</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حِمَايَةُ المَبَانِي التَّارِيخِيَّةِ.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Historic buildings must be protected.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no destruction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يَنْبَغِي أَلَّا يُدَمَّرَ المَوْقِعُ التَّارِيخِيُّ.</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historic site should not be destroyed.</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documentation</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التَّوْثِيقُ يُسَاعِدُ عَلَى حِفْظِ التُّرَاثِ.</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Documentation helps preserve heritage.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HERITAGE ARGUMENT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Past perfect + requirement + regret</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حُجَّةً عَنِ التُّرَاثِ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3018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What they had done</a:t>
            </a:r>
            <a:endParaRPr lang="en-US" sz="1100" dirty="0"/>
          </a:p>
        </p:txBody>
      </p:sp>
      <p:sp>
        <p:nvSpPr>
          <p:cNvPr id="17" name="Text 14"/>
          <p:cNvSpPr txBox="1"/>
          <p:nvPr/>
        </p:nvSpPr>
        <p:spPr>
          <a:xfrm>
            <a:off x="439826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What it requires</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Regret / proposal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348472" y="2267712"/>
            <a:ext cx="32918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كَانَتِ الأَجْيَالُ السَّابِقَةُ قَدْ بَنَتْ هٰذِهِ الرَّوَائِعَ</a:t>
            </a:r>
            <a:endParaRPr lang="ar-SA" sz="1600" dirty="0"/>
          </a:p>
        </p:txBody>
      </p:sp>
      <p:sp>
        <p:nvSpPr>
          <p:cNvPr id="21" name="Text 18"/>
          <p:cNvSpPr txBox="1"/>
          <p:nvPr/>
        </p:nvSpPr>
        <p:spPr>
          <a:xfrm>
            <a:off x="4416552" y="2267712"/>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وَيَتَطَلَّبُ الحِفَاظُ أَنْ تُعْطِيَهُ الحُكُومَاتُ أَوْلَوِيَّةً قُصْوَى</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وَلَوْ كَانَتْ سِيَاسَاتُ الحِفَاظِ أَصْرَمَ، لَكَانَتِ المَوَاقِعُ أَفْضَلَ حَالًا</a:t>
            </a:r>
            <a:endParaRPr lang="ar-SA" sz="1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348472" y="3054096"/>
            <a:ext cx="32918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 قَدْ تَمَّ تَوْثِيقُ كَثِيرٍ مِنْهَا قَبْلَ الخَطَرِ</a:t>
            </a:r>
            <a:endParaRPr lang="ar-SA" sz="1600" dirty="0"/>
          </a:p>
        </p:txBody>
      </p:sp>
      <p:sp>
        <p:nvSpPr>
          <p:cNvPr id="27" name="Text 24"/>
          <p:cNvSpPr txBox="1"/>
          <p:nvPr/>
        </p:nvSpPr>
        <p:spPr>
          <a:xfrm>
            <a:off x="4416552" y="3054096"/>
            <a:ext cx="374904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وَمِنَ الضَّرُورِيِّ أَنْ يُرَمِّمَ المُتَخَصِّصُونَ المَوَاقِعَ لِكَيْ تَظَلَّ شَاهِدَةً</a:t>
            </a:r>
            <a:endParaRPr lang="ar-SA" sz="145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وَلَوْ أُولِيَ التُّرَاثُ اهْتِمَامًا كَافِيًا، لَمَا انْدَثَرَ الكَثِيرُ</a:t>
            </a:r>
            <a:endParaRPr lang="ar-SA" sz="155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348472" y="3840480"/>
            <a:ext cx="32918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كَانَتِ الحَضَارَاتُ قَدْ أَبْدَعَتْ فِي العِمَارَةِ وَالعِلْمِ</a:t>
            </a:r>
            <a:endParaRPr lang="ar-SA" sz="1600" dirty="0"/>
          </a:p>
        </p:txBody>
      </p:sp>
      <p:sp>
        <p:nvSpPr>
          <p:cNvPr id="31" name="Text 28"/>
          <p:cNvSpPr txBox="1"/>
          <p:nvPr/>
        </p:nvSpPr>
        <p:spPr>
          <a:xfrm>
            <a:off x="4416552" y="3840480"/>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وَيَنْبَغِي أَنْ يُشَارِكَ المُجْتَمَعُ فِي صَوْنِ تُرَاثِهِ</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اعْتَمَدْنَا سِيَاسَاتِ حِمَايَةٍ صَارِمَةً سَنَضْمَنُ بَقَاءَهُ</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name the trigger in column 2 and circle the verb in -a.</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Past perfect, trigger — or regret?</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الأَجْيَالُ قَدْ بَنَتِ المَعَالِمَ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قَدْ تَمَّ تَوْثِيقُ المَوَاقِعِ</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كَانُوا قَدْ صَمَّمُوهَا بِعِنَايَةٍ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يَتَطَلَّبُ الحِفَاظُ أَنْ تُعْطِيَهُ أَوْلَوِيَّةً</a:t>
            </a:r>
            <a:endParaRPr lang="ar-SA" sz="175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مِنَ الضَّرُورِيِّ أَنْ يُرَمِّمَ المُتَخَصِّصُونَ</a:t>
            </a:r>
            <a:endParaRPr lang="ar-SA" sz="17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تَظَلَّ شَاهِدَةً عَلَى الحَضَارَةِ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لَوْ أُولِيَ التُّرَاثُ اهْتِمَامًا، لَكَانَ أَفْضَلَ</a:t>
            </a:r>
            <a:endParaRPr lang="ar-SA" sz="15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لَوْ تَدَخَّلَتِ الجِهَاتُ مُبَكِّرًا، لَقَلَّ الضَّرَرُ</a:t>
            </a:r>
            <a:endParaRPr lang="ar-SA" sz="155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صِينَتِ الآثَارُ، لَمَا انْدَثَرَتْ</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perfect (kāna qad)</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subjunctive trigger</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Type 2 regret</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perfect (kāna qad)</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الأَجْيَالُ قَدْ بَنَتِ المَعَالِمَ</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قَدْ تَمَّ تَوْثِيقُ المَوَاقِعِ</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كَانُوا قَدْ صَمَّمُوهَا بِعِنَايَةٍ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subjunctive trigger</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يَتَطَلَّبُ الحِفَاظُ أَنْ تُعْطِيَهُ أَوْلَوِيَّةً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الضَّرُورِيِّ أَنْ يُرَمِّمَ المُتَخَصِّصُونَ</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تَظَلَّ شَاهِدَةً عَلَى الحَضَارَةِ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Type 2 regret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أُولِيَ التُّرَاثُ اهْتِمَامًا، لَكَانَ أَفْضَلَ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تَدَخَّلَتِ الجِهَاتُ مُبَكِّرًا، لَقَلَّ الضَّرَرُ</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صِينَتِ الآثَارُ، لَمَا انْدَثَرَتْ</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regret?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اهْتَمَمْنَا بِالتُّرَاثِ، سَتَتَحَسَّنُ حَالَتُهُ.</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نَهْتَمُّ بِالتُّرَاثِ.</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لَوْ أُولِيَ التُّرَاثُ اهْتِمَامًا كَافِيًا، لَكَانَتْ حَالَتُهُ أَفْضَلَ.</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يَصُونُ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تَصُونُ السِّيَاسَاتُ الحَكِيمَةُ بِالهُوِيَّةِ.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تَصُونُ السِّيَاسَاتُ الحَكِيمَةُ الهُوِيَّةَ.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تَصُونُ السِّيَاسَاتُ عَلَى الهُوِيَّةِ.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“documents”?</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يُرَمِّمُ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يُوَثِّقُ</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يَصُونُ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a past perfect and a purpose clause?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التُّرَاثُ جَمِيلٌ.</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الآثَارَ.</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الأَجْدَادُ قَدْ بَنَوْهَا لِكَيْ يَنْعَمَ بِهَا الأَحْفَادُ.</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Type 2 regret?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اهْتَمَمْنَا بِالتُّرَاثِ، سَتَتَحَسَّنُ حَالَتُهُ.</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نَهْتَمُّ بِالتُّرَاثِ.</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أُولِيَ التُّرَاثُ اهْتِمَامًا كَافِيًا، لَكَانَتْ حَالَتُهُ أَفْضَلَ.</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counterfactual regret.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يَصُونُ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تَصُونُ السِّيَاسَاتُ الحَكِيمَةُ بِالهُوِيَّةِ.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تَصُونُ السِّيَاسَاتُ الحَكِيمَةُ الهُوِيَّةَ.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تَصُونُ السِّيَاسَاتُ عَلَى الهُوِيَّةِ.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يَصُونُ</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“documents”?</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يُرَمِّمُ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يُوَثِّقُ</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يَصُونُ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يُوَثِّقُ</a:t>
            </a:r>
            <a:pPr algn="l" indent="0" marL="0">
              <a:buNone/>
            </a:pPr>
            <a:r>
              <a:rPr lang="en-US" sz="1050" i="1" dirty="0">
                <a:solidFill>
                  <a:srgbClr val="8A6D1E"/>
                </a:solidFill>
                <a:latin typeface="Calibri" pitchFamily="34" charset="0"/>
                <a:cs typeface="Amiri" pitchFamily="2" charset="-78"/>
              </a:rPr>
              <a:t> means documents.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packs a past perfect and a purpose clause?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التُّرَاثُ جَمِيلٌ.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الآثَارَ.</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الأَجْدَادُ قَدْ بَنَوْهَا لِكَيْ يَنْعَمَ بِهَا الأَحْفَادُ.</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a:t>
            </a:r>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 with a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purpose clause.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بَنَتِ الأَجْيَالُ السَّابِقَةُ هٰذِهِ المَعَالِمَ قَبْلَ قُرُونٍ.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banat (simple past)?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مِنَ الضَّرُورِيِّ أَنْ يُرَمِّمُ المُتَخَصِّصُونَ المَوَاقِعَ.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yurammimu?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تَصُونُ السِّيَاسَاتُ بِالهُوِيَّةِ.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taṣūnu bi-?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بَنَتِ الأَجْيَالُ السَّابِقَةُ هٰذِهِ المَعَالِمَ قَبْلَ قُرُونٍ.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200" b="1" dirty="0">
                <a:solidFill>
                  <a:srgbClr val="1E6B52"/>
                </a:solidFill>
                <a:latin typeface="Amiri" pitchFamily="2" charset="-78"/>
                <a:ea typeface="Amiri" pitchFamily="2" charset="-78"/>
                <a:cs typeface="Amiri" pitchFamily="2" charset="-78"/>
              </a:rPr>
              <a:t>كَانَتِ الأَجْيَالُ السَّابِقَةُ قَدْ بَنَتْ هٰذِهِ المَعَالِمَ.</a:t>
            </a:r>
            <a:endParaRPr lang="ar-SA" sz="22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action completed before the present argument takes the past perfect.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مِنَ الضَّرُورِيِّ أَنْ يُرَمِّمُ المُتَخَصِّصُونَ المَوَاقِعَ.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مِنَ الضَّرُورِيِّ أَنْ يُرَمِّمَ المُتَخَصِّصُونَ المَوَاقِعَ.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مِنَ الضَّرُورِيِّ أَنْ</a:t>
            </a:r>
            <a:pPr algn="l" indent="0" marL="0">
              <a:buNone/>
            </a:pPr>
            <a:r>
              <a:rPr lang="en-US" sz="1150" b="1" dirty="0">
                <a:solidFill>
                  <a:srgbClr val="1B3B6F"/>
                </a:solidFill>
                <a:latin typeface="Calibri" pitchFamily="34" charset="0"/>
                <a:cs typeface="Amiri" pitchFamily="2" charset="-78"/>
              </a:rPr>
              <a:t> takes a subjunctive: </a:t>
            </a:r>
            <a:pPr algn="l" indent="0" marL="0">
              <a:buNone/>
            </a:pPr>
            <a:r>
              <a:rPr lang="ar-SA" altLang="en-US" sz="1500" b="1" dirty="0">
                <a:solidFill>
                  <a:srgbClr val="1B3B6F"/>
                </a:solidFill>
                <a:latin typeface="Amiri" pitchFamily="2" charset="-78"/>
                <a:ea typeface="Amiri" pitchFamily="2" charset="-78"/>
                <a:cs typeface="Amiri" pitchFamily="2" charset="-78"/>
              </a:rPr>
              <a:t>يُرَمِّمَ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تَصُونُ السِّيَاسَاتُ بِالهُوِيَّةِ.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تَصُونُ السِّيَاسَاتُ الهُوِيَّةَ.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يَصُونُ</a:t>
            </a:r>
            <a:pPr algn="l" indent="0" marL="0">
              <a:buNone/>
            </a:pPr>
            <a:r>
              <a:rPr lang="en-US" sz="1150" b="1" dirty="0">
                <a:solidFill>
                  <a:srgbClr val="1B3B6F"/>
                </a:solidFill>
                <a:latin typeface="Calibri" pitchFamily="34" charset="0"/>
                <a:cs typeface="Amiri" pitchFamily="2" charset="-78"/>
              </a:rPr>
              <a:t> takes a direct object.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Listening: a case for conservation</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architectural and natural heritage called?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basic pillar of cultural identity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luxury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obstacle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earlier generations done?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Destroyed them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Ignored them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Built these masterpieces to witness the creativity of civilisations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Intervention makes no difference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Damage was unavoidable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 world intervened early, war damage would be less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conservation require (volition)?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governments give it top priority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governments ignore it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specialists restore damaged sites (purpose)?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sell them</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they remain witnesses to the greatness of the civilisation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no reason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kānat … qad banat · yataṭallabu an · li-kay.</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يُعَدُّ التُّرَاثُ المِعْمَارِيُّ وَالطَّبِيعِيُّ رَكِيزَةً أَسَاسِيَّةً لِلْهُوِيَّةِ الثَّقَافِيَّةِ. تَضُمُّ المِنْطَقَةُ العَرَبِيَّةُ أَكْثَرَ مِنْ ثَمَانِينَ مَوْقِعًا مُدْرَجًا عَلَى قَائِمَةِ التُّرَاثِ العَالَمِيِّ.</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Architectural and natural heritage is considered a basic pillar of cultural identity. The Arab region has more than eighty sites on the World Heritage List.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كَانَتِ الأَجْيَالُ السَّابِقَةُ قَدْ بَنَتْ هٰذِهِ الرَّوَائِعَ لِتَشْهَدَ عَلَى إِبْدَاعِ الحَضَارَاتِ، وَكَانَ قَدْ تَمَّ تَوْثِيقُ كَثِيرٍ مِنْهَا قَبْلَ أَنْ تَتَعَرَّضَ لِلْخَطَرِ.</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Earlier generations had built these masterpieces to bear witness to the creativity of civilisations, and many had been documented before they were put at risk.</a:t>
            </a:r>
            <a:endParaRPr lang="en-US" sz="120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لَوْ كَانَتِ الجِهَاتُ الدَّوْلِيَّةُ قَدْ تَدَخَّلَتْ مُبَكِّرًا لِحِمَايَةِ آثَارِ سُورِيَا وَلِيبِيَا، لَكَانَتْ أَضْرَارُ الصِّرَاعَاتِ أَقَلَّ.</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international bodies intervened early to protect the antiquities of Syria and Libya, the damage from the conflicts would have been less.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يَتَطَلَّبُ الحِفَاظُ عَلَى هٰذَا التُّرَاثِ أَنْ تُعْطِيَهُ الحُكُومَاتُ أَوْلَوِيَّةً قُصْوَى.</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Preserving this heritage requires governments to give it top priority.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وَمِنَ الضَّرُورِيِّ أَنْ يُرَمِّمَ المُتَخَصِّصُونَ المَوَاقِعَ التَّالِفَةَ لِكَيْ تَظَلَّ شَاهِدَةً عَلَى عَظَمَةِ الحَضَارَةِ.</a:t>
            </a:r>
            <a:endParaRPr lang="ar-SA" sz="17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it is essential that specialists restore the damaged sites so that they remain witnesses to the greatness of the civilisation.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architectural and natural heritage called?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basic pillar of cultural identity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luxury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obstacle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رَكِيزَةً أَسَاسِيَّةً لِلْهُوِيَّةِ الثَّقَافِيَّةِ.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earlier generations done?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Destroyed them</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Ignored them</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Built these masterpieces to witness the creativity of civilisations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كَانَتِ الأَجْيَالُ السَّابِقَةُ قَدْ بَنَتْ هٰذِهِ الرَّوَائِعَ.</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Intervention makes no difference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Damage was unavoidable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the world intervened early, war damage would be less</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000" dirty="0">
                <a:solidFill>
                  <a:srgbClr val="8A6D1E"/>
                </a:solidFill>
                <a:latin typeface="Amiri" pitchFamily="2" charset="-78"/>
                <a:ea typeface="Amiri" pitchFamily="2" charset="-78"/>
                <a:cs typeface="Amiri" pitchFamily="2" charset="-78"/>
              </a:rPr>
              <a:t>لَوْ كَانَتِ الجِهَاتُ الدَّوْلِيَّةُ قَدْ تَدَخَّلَتْ مُبَكِّرًا … لَكَانَتْ أَضْرَارُ الصِّرَاعَاتِ أَقَلَّ.</a:t>
            </a:r>
            <a:endParaRPr lang="ar-SA" sz="100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conservation require (volition)?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governments give it top priority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governments ignore it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يَتَطَلَّبُ الحِفَاظُ … أَنْ تُعْطِيَهُ الحُكُومَاتُ أَوْلَوِيَّةً قُصْوَى.</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must specialists restore damaged sites (purpose)?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sell them</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 that they remain witnesses to the greatness of the civilisation</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no reason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لِكَيْ تَظَلَّ شَاهِدَةً عَلَى عَظَمَةِ الحَضَارَةِ.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kānat … qad banat · yataṭallabu an · li-kay.</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make the heritage case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كَانَتِ الأَجْيَالُ السَّابِقَةُ قَدْ بَنَتْ؟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يَتَطَلَّبُ الحِفَاظُ عَلَى التُّرَاثِ؟ اسْتَعْمِلْ «يَتَطَلَّبُ أَنْ» وَ«لِكَيْ».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أُهْمِلَ التُّرَاثُ، مَاذَا كَانَ سَيَحْدُثُ؟</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كَانَتِ الأَجْيَالُ السَّابِقَةُ قَدْ بَنَتْ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يَتَطَلَّبُ الحِفَاظُ أَنْ ___ لِكَيْ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لَوْ أُهْمِلَ التُّرَاثُ، لَانْدَثَرَ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كَانَتِ الأَجْيَالُ قَدْ بَنَتْ؟</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had earlier generations built?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كَانَتِ الأَجْيَالُ السَّابِقَةُ قَدْ بَنَتْ رَوَائِعَ مِعْمَارِيَّةً لِتَشْهَدَ عَلَى إِبْدَاعِهَا.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Earlier generations had built architectural masterpieces to bear witness to their creativity.</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heritage sentences using yurammimu, yaṣūnu, yuwaththiqu.</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heritage sentences with yurammimu, yaṣūnu, yuwaththiqu.</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past-perfect intergenerational sentence and a necessity subjunctive.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past-perfect sentence about earlier generations and a necessity subjunctive.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argument with all three triggers, both conditionals and a citation.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full argument with the past perfect, all three triggers, both conditionals and a cited historian.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يَتَطَلَّبُ الحِفَاظُ أَنْ تُعْطِيَهُ الحُكُومَاتُ ______ .</a:t>
            </a:r>
            <a:endParaRPr lang="ar-SA" sz="17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Conservation requires that governments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مِنَ الضَّرُورِيِّ أَنْ يُرَمِّمَ المُتَخَصِّصُونَ ______ لِكَيْ ______ .</a:t>
            </a:r>
            <a:endParaRPr lang="ar-SA" sz="13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essential that … so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لَوْ كَانَتِ السِّيَاسَاتُ أَكْثَرَ صَرَامَةً، لَكَانَتْ ______ .</a:t>
            </a:r>
            <a:endParaRPr lang="ar-SA" sz="15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policies been stricter,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أَشَارَ المُؤَرِّخُونَ إِلَى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Historians pointed out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يُرَمِّمُ المُتَخَصِّصُونَ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Specialists restore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تَصُونُ السِّيَاسَاتُ الحَكِيمَةُ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Wise policies preserve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يُوَثِّقُ المُؤَرِّخُونَ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Historians document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الأَجْيَالُ السَّابِقَةُ قَدْ بَنَتْ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Earlier generations had built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ea typeface="Amiri" pitchFamily="2" charset="-78"/>
                <a:cs typeface="Amiri" pitchFamily="2" charset="-78"/>
              </a:rPr>
              <a:t>المَوَاقِعَ التَّالِفَةَ  ·  الهُوِيَّةَ  ·  المَعَالِمَ التَّارِيخِيَّةَ  ·  هٰذِهِ الرَّوَائِعَ  ·  أَوْلَوِيَّةً قُصْوَى  ·  تَظَلَّ شَاهِدَةً  ·  مَوَاقِعُ كَثِيرَةٌ فِي حَالَةٍ أَفْضَلَ  ·  هٰذِهِ المَوَاقِعَ لَا تُعَوَّضُ  ·  الذَّاكِرَةَ الجَمَاعِيَّةَ  ·  التُّرَاثَ غَيْرَ المَادِّيِّ  ·  لِلْأَجْيَالِ القَادِمَةِ  ·  سِيَاسَاتِ حِمَايَةٍ صَارِمَةً</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one hundred and ten to one hundred and twenty words arguing for heritage conservation. Use the past perfect for what earlier generations had built, all three subjunctive triggers, both conditional types and a reported-speech clause.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past-perfect intergenerational sentence (kāna qad …).</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three subjunctive triggers, each with a subjunctive verb.</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2 regret and a Type 1 real proposal.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reported-speech clause citing historians.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رَكِيزَةً أَسَاسِيَّةً لِلْهُوِيَّةِ الثَّقَافِيَّةِ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basic pillar of cultural identity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لِتَشْهَدَ عَلَى إِبْدَاعِ الحَضَارَاتِ</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bear witness to the creativity of civilisations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أَنْ يَتَعَرَّضَ لِلْخَطَرِ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it was put at risk</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تُعَوَّضُ</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cannot be replaced</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سَنَضْمَنُ بَقَاءَ هٰذَا الإِرْثِ</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will guarantee the survival of this legacy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150" dirty="0">
                <a:solidFill>
                  <a:srgbClr val="1F2A37"/>
                </a:solidFill>
                <a:latin typeface="Amiri" pitchFamily="2" charset="-78"/>
                <a:ea typeface="Amiri" pitchFamily="2" charset="-78"/>
                <a:cs typeface="Amiri" pitchFamily="2" charset="-78"/>
              </a:rPr>
              <a:t>يُعَدُّ التُّرَاثُ المِعْمَارِيُّ وَالطَّبِيعِيُّ رَكِيزَةً أَسَاسِيَّةً لِلْهُوِيَّةِ الثَّقَافِيَّةِ لِأَيِّ مُجْتَمَعٍ. كَانَتِ الأَجْيَالُ السَّابِقَةُ قَدْ بَنَتْ هٰذِهِ الرَّوَائِعَ لِتَشْهَدَ عَلَى إِبْدَاعِ الحَضَارَاتِ العَرَبِيَّةِ وَالإِسْلَامِيَّةِ، وَكَانَ قَدْ تَمَّ تَوْثِيقُ كَثِيرٍ مِنْهَا قَبْلَ أَنْ يَتَعَرَّضَ لِلْخَطَرِ. وَأَشَارَ المُؤَرِّخُونَ إِلَى أَنَّ هٰذِهِ المَوَاقِعَ لَا تُعَوَّضُ. لَوْ كَانَتْ سِيَاسَاتُ الحِفَاظِ أَكْثَرَ صَرَامَةً، لَكَانَتْ مَوَاقِعُ كَثِيرَةٌ اليَوْمَ فِي حَالَةٍ أَفْضَلَ. يَتَطَلَّبُ الحِفَاظُ عَلَى هٰذَا التُّرَاثِ أَنْ تُعْطِيَهُ الحُكُومَاتُ أَوْلَوِيَّةً قُصْوَى. وَمِنَ الضَّرُورِيِّ أَنْ يُرَمِّمَ المُتَخَصِّصُونَ المَوَاقِعَ التَّالِفَةَ لِكَيْ تَظَلَّ شَاهِدَةً عَلَى عَظَمَةِ الحَضَارَةِ. وَإِذَا اعْتَمَدْنَا سِيَاسَاتِ حِمَايَةٍ صَارِمَةً، سَنَضْمَنُ بَقَاءَ هٰذَا الإِرْثِ لِلْأَجْيَالِ القَادِمَةِ.</a:t>
            </a:r>
            <a:endParaRPr lang="ar-SA" sz="21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Architectural and natural heritage is considered a basic pillar of the cultural identity of any society. Earlier generations had built these masterpieces to bear witness to the creativity of Arab and Islamic civilisations, and many had been documented before they were put at risk. Historians have pointed out that these sites are irreplaceable. Had conservation policies been stricter, many sites would be in better condition today. Preserving this heritage requires governments to give it top priority, and it is essential that specialists restore the damaged sites so that they remain witnesses to the greatness of the civilisation. If we adopt strict protection policies, we will guarantee that this legacy survives for future generations.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kānat … qad banat (past perfect)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yataṭallabu an · li-kay (triggers)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 la- · idhā … sa-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ashāra ilā anna (historians)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What earlier generations had done takes kāna / kānat qad + past.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yurammimu, yaṣūnu, yuwaththiqu take a direct object (no bi-).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every trigger (an, li-kay, li-), my verb ends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regret uses law … la- (or la-mā); my proposal uses idhā … sa-.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cited historians (ashāra ilā anna) and ended on a proposal.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ea typeface="Amiri" pitchFamily="2" charset="-78"/>
                <a:cs typeface="Amiri" pitchFamily="2" charset="-78"/>
              </a:rPr>
              <a:t>الأَجْيَالُ قَدْ بَنَتْ هٰذِهِ المَعَالِمَ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مِنَ الضَّرُورِيِّ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المُتَخَصِّصُونَ المَوَاقِعَ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يُرَمِّمُ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يُرَمِّمَ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purpose clause: </a:t>
            </a:r>
            <a:pPr algn="l" indent="0" marL="0">
              <a:buNone/>
            </a:pPr>
            <a:r>
              <a:rPr lang="ar-SA" altLang="en-US" sz="1650" b="1" dirty="0">
                <a:solidFill>
                  <a:srgbClr val="1B3B6F"/>
                </a:solidFill>
                <a:latin typeface="Amiri" pitchFamily="2" charset="-78"/>
                <a:ea typeface="Amiri" pitchFamily="2" charset="-78"/>
                <a:cs typeface="Amiri" pitchFamily="2" charset="-78"/>
              </a:rPr>
              <a:t>نُرَمِّمُ المَوَاقِعَ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شَاهِدَةً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تَظَلَّ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تَظَلُّ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ظَلَّتْ</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ea typeface="Amiri" pitchFamily="2" charset="-78"/>
                <a:cs typeface="Amiri" pitchFamily="2" charset="-78"/>
              </a:rPr>
              <a:t>الأَجْيَالُ قَدْ بَنَتْ هٰذِهِ المَعَالِمَ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كَانَتِ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سَـ</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 قَدْ</a:t>
            </a:r>
            <a:pPr algn="l" indent="0" marL="0">
              <a:buNone/>
            </a:pPr>
            <a:r>
              <a:rPr lang="en-US" sz="1050" i="1" dirty="0">
                <a:solidFill>
                  <a:srgbClr val="8A6D1E"/>
                </a:solidFill>
                <a:latin typeface="Calibri" pitchFamily="34" charset="0"/>
                <a:cs typeface="Amiri" pitchFamily="2" charset="-78"/>
              </a:rPr>
              <a:t> + past is the past perfect.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مِنَ الضَّرُورِيِّ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المُتَخَصِّصُونَ المَوَاقِعَ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يُرَمِّمُ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يُرَمِّمَ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رَمَّمَ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الضَّرُورِيِّ أَنْ</a:t>
            </a:r>
            <a:pPr algn="l" indent="0" marL="0">
              <a:buNone/>
            </a:pPr>
            <a:r>
              <a:rPr lang="en-US" sz="1050" i="1" dirty="0">
                <a:solidFill>
                  <a:srgbClr val="8A6D1E"/>
                </a:solidFill>
                <a:latin typeface="Calibri" pitchFamily="34" charset="0"/>
                <a:cs typeface="Amiri" pitchFamily="2" charset="-78"/>
              </a:rPr>
              <a:t> takes a subjunctive: </a:t>
            </a:r>
            <a:pPr algn="l" indent="0" marL="0">
              <a:buNone/>
            </a:pPr>
            <a:r>
              <a:rPr lang="ar-SA" altLang="en-US" sz="1350" dirty="0">
                <a:solidFill>
                  <a:srgbClr val="8A6D1E"/>
                </a:solidFill>
                <a:latin typeface="Amiri" pitchFamily="2" charset="-78"/>
                <a:ea typeface="Amiri" pitchFamily="2" charset="-78"/>
                <a:cs typeface="Amiri" pitchFamily="2" charset="-78"/>
              </a:rPr>
              <a:t>يُرَمِّمَ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purpose clause: </a:t>
            </a:r>
            <a:pPr algn="l" indent="0" marL="0">
              <a:buNone/>
            </a:pPr>
            <a:r>
              <a:rPr lang="ar-SA" altLang="en-US" sz="1650" b="1" dirty="0">
                <a:solidFill>
                  <a:srgbClr val="1B3B6F"/>
                </a:solidFill>
                <a:latin typeface="Amiri" pitchFamily="2" charset="-78"/>
                <a:ea typeface="Amiri" pitchFamily="2" charset="-78"/>
                <a:cs typeface="Amiri" pitchFamily="2" charset="-78"/>
              </a:rPr>
              <a:t>نُرَمِّمُ المَوَاقِعَ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شَاهِدَةً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تَظَلَّ</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تَظَلُّ</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ظَلَّتْ</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تَظَلَّ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duty to the past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يَحْمِلُ كُلُّ جِيلٍ أَمَانَةً تِجَاهَ تُرَاثِهِ. فَقَدْ كَانَتِ الحَضَارَاتُ العَرَبِيَّةُ وَالإِسْلَامِيَّةُ قَدْ أَبْدَعَتْ فِي العِمَارَةِ وَالعِلْمِ، وَتَرَكَتْ مَعَالِمَ تَشْهَدُ عَلَى عَظَمَتِهَا. غَيْرَ أَنَّ كَثِيرًا مِنْ هٰذِهِ المَعَالِمِ يَتَنَاقَصُ بِفِعْلِ الإِهْمَالِ وَالصِّرَاعَاتِ. يَتَطَلَّبُ الوَضْعُ أَنْ تَتَعَاوَنَ الدُّوَلُ، وَمِنَ الضَّرُورِيِّ أَنْ تُخَصِّصَ مِيزَانِيَّاتٍ لِلتَّرْمِيمِ. لِكَيْ يَبْقَى التُّرَاثُ حَيًّا، يَنْبَغِي أَنْ يُشَارِكَ المُجْتَمَعُ فِي صَوْنِهِ. لَوْ كَانَتْ سِيَاسَاتُ الحِفَاظِ أَكْثَرَ صَرَامَةً، لَكَانَتْ مَوَاقِعُ كَثِيرَةٌ اليَوْمَ فِي حَالَةٍ أَفْضَلَ. وَإِذَا اعْتَمَدْنَا سِيَاسَاتِ حِمَايَةٍ صَارِمَةً، سَنَضْمَنُ بَقَاءَ هٰذَا الإِرْثِ لِلْأَجْيَالِ.</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رَكِيزَةً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pillar</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مُدْرَجًا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listed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الرَّوَائِعَ</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masterpieces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الجِهَاتُ الدَّوْلِيَّةُ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international bodies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الصِّرَاعَاتِ</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conflicts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التَّالِفَةَ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damaged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أَمَانَةً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trust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الإِهْمَالِ</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neglect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صَرَامَةً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strictness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الإِرْثِ</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legacy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each generation carry toward its heritage?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burden to discard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trust / duty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Arab and Islamic civilisations done?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Destroyed their landmarks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Built nothing</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Created in architecture and science, leaving witnessing landmarks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situation require (volition + necessity)?</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Cooperation and dedicated restoration budgets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Selling the sites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Policies make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policies been stricter, many sites would be in better shape today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Decline was unavoidable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strict protection policies guarantee (Type 1)?</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survival of this heritage for future generations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loss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change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each generation carry toward its heritage?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burden to discard</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trust / duty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يَحْمِلُ كُلُّ جِيلٍ أَمَانَةً تِجَاهَ تُرَاثِهِ.</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Arab and Islamic civilisations done?</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Destroyed their landmarks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Built nothing</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Created in architecture and science, leaving witnessing landmarks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كَانَتِ الحَضَارَاتُ … قَدْ أَبْدَعَتْ فِي العِمَارَةِ وَالعِلْمِ، وَتَرَكَتْ مَعَالِمَ.</a:t>
            </a:r>
            <a:endParaRPr lang="ar-SA" sz="11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situation require (volition + necessity)?</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Cooperation and dedicated restoration budgets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Selling the sites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000" dirty="0">
                <a:solidFill>
                  <a:srgbClr val="8A6D1E"/>
                </a:solidFill>
                <a:latin typeface="Amiri" pitchFamily="2" charset="-78"/>
                <a:ea typeface="Amiri" pitchFamily="2" charset="-78"/>
                <a:cs typeface="Amiri" pitchFamily="2" charset="-78"/>
              </a:rPr>
              <a:t>يَتَطَلَّبُ الوَضْعُ أَنْ تَتَعَاوَنَ الدُّوَلُ، وَمِنَ الضَّرُورِيِّ أَنْ تُخَصِّصَ مِيزَانِيَّاتٍ لِلتَّرْمِيمِ.</a:t>
            </a:r>
            <a:endParaRPr lang="ar-SA" sz="10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Policies make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policies been stricter, many sites would be in better shape today</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Decline was unavoidable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950" dirty="0">
                <a:solidFill>
                  <a:srgbClr val="8A6D1E"/>
                </a:solidFill>
                <a:latin typeface="Amiri" pitchFamily="2" charset="-78"/>
                <a:ea typeface="Amiri" pitchFamily="2" charset="-78"/>
                <a:cs typeface="Amiri" pitchFamily="2" charset="-78"/>
              </a:rPr>
              <a:t>لَوْ كَانَتْ سِيَاسَاتُ الحِفَاظِ أَكْثَرَ صَرَامَةً، لَكَانَتْ مَوَاقِعُ كَثِيرَةٌ … فِي حَالَةٍ أَفْضَلَ.</a:t>
            </a:r>
            <a:endParaRPr lang="ar-SA" sz="9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strict protection policies guarantee (Type 1)?</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survival of this heritage for future generations</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Its loss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change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إِذَا اعْتَمَدْنَا سِيَاسَاتِ حِمَايَةٍ صَارِمَةً، سَنَضْمَنُ بَقَاءَ هٰذَا الإِرْثِ.</a:t>
            </a:r>
            <a:endParaRPr lang="ar-SA" sz="12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Heritage Mission — Past Perfect and Three Triggers</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الأَجْيَالُ قَدْ بَنَتِ المَعَالِمَ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Volition: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الحِفَاظُ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الحُكُومَاتُ أَوْلَوِيَّةً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تُعْطِيَ</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تُعْطِي</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أَعْطَتْ</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Necessity: complete — </a:t>
            </a:r>
            <a:pPr algn="l" indent="0" marL="0">
              <a:buNone/>
            </a:pPr>
            <a:r>
              <a:rPr lang="ar-SA" altLang="en-US" sz="1650" b="1" dirty="0">
                <a:solidFill>
                  <a:srgbClr val="1B3B6F"/>
                </a:solidFill>
                <a:latin typeface="Amiri" pitchFamily="2" charset="-78"/>
                <a:ea typeface="Amiri" pitchFamily="2" charset="-78"/>
                <a:cs typeface="Amiri" pitchFamily="2" charset="-78"/>
              </a:rPr>
              <a:t>مِنَ الضَّرُورِيِّ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المُتَخَصِّصُونَ المَوَاقِعَ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يُرَمِّمُ</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رَمَّمَ</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يُرَمِّمَ</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Purpose: complete —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التُّرَاثُ حَيًّا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يَظَلُّ</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ظَلَّ</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يَظَلَّ</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73" name="Text 70"/>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يَتَطَلَّبُ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87" name="Text 84"/>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مِنَ الضَّرُورِيِّ أَنْ</a:t>
            </a:r>
            <a:pPr algn="l" indent="0" marL="0">
              <a:buNone/>
            </a:pPr>
            <a:r>
              <a:rPr lang="en-US" sz="1450" b="1" dirty="0">
                <a:solidFill>
                  <a:srgbClr val="1F2A37"/>
                </a:solidFill>
                <a:latin typeface="Calibri" pitchFamily="34" charset="0"/>
                <a:cs typeface="Amiri" pitchFamily="2" charset="-78"/>
              </a:rPr>
              <a:t> is …</a:t>
            </a:r>
            <a:endParaRPr lang="en-US" sz="14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perfect: complete — ___ </a:t>
            </a:r>
            <a:pPr algn="l" indent="0" marL="0">
              <a:buNone/>
            </a:pPr>
            <a:r>
              <a:rPr lang="ar-SA" altLang="en-US" sz="1650" b="1" dirty="0">
                <a:solidFill>
                  <a:srgbClr val="1B3B6F"/>
                </a:solidFill>
                <a:latin typeface="Amiri" pitchFamily="2" charset="-78"/>
                <a:ea typeface="Amiri" pitchFamily="2" charset="-78"/>
                <a:cs typeface="Amiri" pitchFamily="2" charset="-78"/>
              </a:rPr>
              <a:t>الأَجْيَالُ قَدْ بَنَتِ المَعَالِمَ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 قَدْ</a:t>
            </a:r>
            <a:pPr algn="l" indent="0" marL="0">
              <a:buNone/>
            </a:pPr>
            <a:r>
              <a:rPr lang="en-US" sz="1050" i="1" dirty="0">
                <a:solidFill>
                  <a:srgbClr val="8A6D1E"/>
                </a:solidFill>
                <a:latin typeface="Calibri" pitchFamily="34" charset="0"/>
                <a:cs typeface="Amiri" pitchFamily="2" charset="-78"/>
              </a:rPr>
              <a:t> + past is the past perfect.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Volition: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الحِفَاظُ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الحُكُومَاتُ أَوْلَوِيَّةً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تُعْطِيَ</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تُعْطِي</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أَعْطَتْ</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Necessity: complete — </a:t>
            </a:r>
            <a:pPr algn="l" indent="0" marL="0">
              <a:buNone/>
            </a:pPr>
            <a:r>
              <a:rPr lang="ar-SA" altLang="en-US" sz="1650" b="1" dirty="0">
                <a:solidFill>
                  <a:srgbClr val="1B3B6F"/>
                </a:solidFill>
                <a:latin typeface="Amiri" pitchFamily="2" charset="-78"/>
                <a:ea typeface="Amiri" pitchFamily="2" charset="-78"/>
                <a:cs typeface="Amiri" pitchFamily="2" charset="-78"/>
              </a:rPr>
              <a:t>مِنَ الضَّرُورِيِّ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المُتَخَصِّصُونَ المَوَاقِعَ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يُرَمِّمُ</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رَمَّمَ</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يُرَمِّمَ</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الضَّرُورِيِّ أَنْ</a:t>
            </a:r>
            <a:pPr algn="l" indent="0" marL="0">
              <a:buNone/>
            </a:pPr>
            <a:r>
              <a:rPr lang="en-US" sz="1050" i="1" dirty="0">
                <a:solidFill>
                  <a:srgbClr val="8A6D1E"/>
                </a:solidFill>
                <a:latin typeface="Calibri" pitchFamily="34" charset="0"/>
                <a:cs typeface="Amiri" pitchFamily="2" charset="-78"/>
              </a:rPr>
              <a:t> takes a subjunctive.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Purpose: complete —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التُّرَاثُ حَيًّا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يَظَلُّ</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ظَلَّ</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يَظَلَّ</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is subjunctive.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80" name="Text 78"/>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ea typeface="Amiri" pitchFamily="2" charset="-78"/>
                <a:cs typeface="Amiri" pitchFamily="2" charset="-78"/>
              </a:rPr>
              <a:t>يَتَطَلَّبُ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volition</a:t>
            </a:r>
            <a:endParaRPr lang="en-US" sz="125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necessity</a:t>
            </a:r>
            <a:endParaRPr lang="en-US" sz="125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يَتَطَلَّبُ أَنْ</a:t>
            </a:r>
            <a:pPr algn="l" indent="0" marL="0">
              <a:buNone/>
            </a:pPr>
            <a:r>
              <a:rPr lang="en-US" sz="1050" i="1" dirty="0">
                <a:solidFill>
                  <a:srgbClr val="8A6D1E"/>
                </a:solidFill>
                <a:latin typeface="Calibri" pitchFamily="34" charset="0"/>
                <a:cs typeface="Amiri" pitchFamily="2" charset="-78"/>
              </a:rPr>
              <a:t> is a volition trigger.</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96" name="Text 94"/>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ea typeface="Amiri" pitchFamily="2" charset="-78"/>
                <a:cs typeface="Amiri" pitchFamily="2" charset="-78"/>
              </a:rPr>
              <a:t>مِنَ الضَّرُورِيِّ أَنْ</a:t>
            </a:r>
            <a:pPr algn="l" indent="0" marL="0">
              <a:buNone/>
            </a:pPr>
            <a:r>
              <a:rPr lang="en-US" sz="1450" b="1" dirty="0">
                <a:solidFill>
                  <a:srgbClr val="1F2A37"/>
                </a:solidFill>
                <a:latin typeface="Calibri" pitchFamily="34" charset="0"/>
                <a:cs typeface="Amiri" pitchFamily="2" charset="-78"/>
              </a:rPr>
              <a:t> is …</a:t>
            </a:r>
            <a:endParaRPr lang="en-US" sz="14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necessity</a:t>
            </a:r>
            <a:endParaRPr lang="en-US" sz="125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volition</a:t>
            </a:r>
            <a:endParaRPr lang="en-US" sz="125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الضَّرُورِيِّ أَنْ</a:t>
            </a:r>
            <a:pPr algn="l" indent="0" marL="0">
              <a:buNone/>
            </a:pPr>
            <a:r>
              <a:rPr lang="en-US" sz="1050" i="1" dirty="0">
                <a:solidFill>
                  <a:srgbClr val="8A6D1E"/>
                </a:solidFill>
                <a:latin typeface="Calibri" pitchFamily="34" charset="0"/>
                <a:cs typeface="Amiri" pitchFamily="2" charset="-78"/>
              </a:rPr>
              <a:t> is a necessity trigger.</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P4-L07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P4-L08 · Reading — Built and Natural World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نَصٌّ تَحْلِيلِيٌّ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analytical text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مَوْقِفُ الكَاتِبِ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writer’s stance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يَسْتَنْتِجُ</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infers</a:t>
            </a:r>
            <a:pPr indent="0" marL="0">
              <a:buNone/>
            </a:pPr>
            <a:r>
              <a:rPr lang="en-US" sz="1000" i="1" dirty="0">
                <a:solidFill>
                  <a:srgbClr val="5A6472"/>
                </a:solidFill>
                <a:latin typeface="Calibri" pitchFamily="34" charset="0"/>
                <a:cs typeface="Amiri" pitchFamily="2" charset="-78"/>
              </a:rPr>
              <a:t>  Form X</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مُحَفِّزُ النَّصْبِ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subjunctive trigger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التَّنْمِيَةُ المُسْتَدَامَةُ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sustainable development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Find one verb in -a in any Arabic text this week. What triggered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وَجَدْتُ فِعْلًا مَنْصُوبًا بَعْدَ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heritage sentences with yurammimu, yaṣūnu, yuwaththiqu.</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past-perfect sentence (kānat … qad) and a necessity subjunctive —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110–120-word heritage argument.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cs typeface="Amiri" pitchFamily="2" charset="-78"/>
              </a:rPr>
              <a:t>P4-L08 · Reading — Built and Natural World Texts</a:t>
            </a:r>
            <a:endParaRPr lang="en-US" sz="20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العَالَمِ المَبْنِيِّ وَالطَّبِيعِيِّ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what our ancestors HAD built → kānat … qad + past; what protecting it REQUIRES → yataṭallabu an / min al-ḍarūrī an / li-kay + a verb in -a; the neglect we regret → law … la- (or la-mā).</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P4-L07 · Heritage Conservation — Protecting the Built and Natural Past</dc:title>
  <dc:subject>PptxGenJS Presentation</dc:subject>
  <dc:creator>Al Madina Online School · Arabic Department</dc:creator>
  <cp:lastModifiedBy>Al Madina Online School · Arabic Department</cp:lastModifiedBy>
  <cp:revision>1</cp:revision>
  <dcterms:created xsi:type="dcterms:W3CDTF">2026-10-11T06:43:20Z</dcterms:created>
  <dcterms:modified xsi:type="dcterms:W3CDTF">2026-10-11T06:43:20Z</dcterms:modified>
</cp:coreProperties>
</file>