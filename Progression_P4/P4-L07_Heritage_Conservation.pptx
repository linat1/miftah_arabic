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P4-L07. The website lesson “Heritage Conservation — Protecting the Built and Natural Past”: vocabulary, grammar rules and quiz, patterns, common mistakes, sorter, listening, reading, speaking prompts and model, writing task and model, differentiation, final check and the lesson mission. Picture match: website visual game “Heritage Conservation — Protecting the Built and Natural Past”.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heritage sentences with yurammimu, yaṣūnu, yuwaththiqu (website Core). Develop: add a past-perfect sentence about earlier generations and a necessity subjunctive. Stretch: a full 110–120-word argument with all three triggers, both conditionals and a cited historian.
• Sensitivity: the listening mentions war damage to heritage in Syria and Libya (e.g. Palmyra, 2015). Some students may have family links — keep the focus on protection and restoration, not on the conflicts.
• Faith link (optional): «قُلْ سِيرُوا فِي الأَرْضِ فَانْظُرُوا كَيْفَ بَدَأَ الخَلْقَ» (al-ʿAnkabūt 29:20) — the Qur’an invites us to travel and reflect on what came before us. The reading calls heritage an amāna (a trust).
• Grammar links: past perfect (P3 / P4-L05) · the three triggers (P4-L01, L03, L04, L06) · Type 2 with la-mā (P4-L04) · reported speech (P3-L06).
• TEACHER-WRITTEN ITEMS: waṣl alif shown without a kasra; لِكَيْ always written with its sukūn; the Arabic label inside the wrong sentence of mistake 1 removed; rule formulas, a pattern tip, trigger-word glosses and the writing checklist and Core task in transliteration; listening question 3 and reading question 4 answers shortened to fit; sorter headings in transliteration; game cards 1, 2 and 5 not used; the past-perfect, trigger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P4-L06. Questions 4–5 retrieve the intention trigger and a verb with its partner (P4-L06).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They HAD built it (past perfect) — so today it is REQUIRED that we protect it (the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آثار, امانت and ثقافت are shared (آثارِ قدیمہ = antiquities). Careful: Urdu ترمیم is a legal amendment; Arabic تَرْمِيمٌ is the restoration of a building. Urdu تہذیب = civilisation, but in Arabic civilisation is حَضَارَةٌ (تَهْذِيبٌ = good manners, refinement).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Heritage conservation (website vocabulary (1 of 2)). Hear → Say → See → Use. Transliteration is printed for Core students (cover it for Develop/Stretch).
Heritage conservation: tangible heritage (buildings, sites) and intangible heritage (crafts, songs, stories — تُرَاثٌ غَيْرُ مَادِّيٍّ). الانْدِثَارُ = fading away, disappearing without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Heritage conservation (website vocabulary (2 of 2)). Hear → Say → See → Use. Transliteration is printed for Core students (cover it for Develop/Stretch).
Heritage conservation: tangible heritage (buildings, sites) and intangible heritage (crafts, songs, stories — تُرَاثٌ غَيْرُ مَادِّيٍّ). الانْدِثَارُ = fading away, disappearing without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Conservation verbs (website vocabulary (1 of 2)). Hear → Say → See → Use. Transliteration is printed for Core students (cover it for Develop/Stretch).
Conservation verbs: يُرَمِّمُ / يَصُونُ / يُوَثِّقُ take a direct object (يَصُونُ الهُوِيَّةَ — never بِ). يُحَافِظُ عَلَى and يَحْمِي مِنْ have fixed partners. After an: يَصُونَ · يَحْمِيَ · يُحَافِظَ.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Conservation verbs (website vocabulary (2 of 2)). Hear → Say → See → Use. Transliteration is printed for Core students (cover it for Develop/Stretch).
FLEX: teach if time allows; otherwise these are on the website vocabulary tab for homework.
Conservation verbs: يُرَمِّمُ / يَصُونُ / يُوَثِّقُ take a direct object (يَصُونُ الهُوِيَّةَ — never بِ). يُحَافِظُ عَلَى and يَحْمِي مِنْ have fixed partners. After an: يَصُونَ · يَحْمِيَ · يُحَافِظَ.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full P4 toolkit (website vocabulary (1 of 2)). Hear → Say → See → Use. Transliteration is printed for Core students (cover it for Develop/Stretch).
FLEX: teach if time allows; otherwise these are on the website vocabulary tab for homework.
The full P4 toolkit in one group: the past perfect, the three triggers and the Type 2 regret — plus the vocabulary of world heritage (أَوْلَوِيَّةٌ قُصْوَى = a top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full P4 toolkit (website vocabulary (2 of 2)). Hear → Say → See → Use. Transliteration is printed for Core students (cover it for Develop/Stretch).
FLEX: teach if time allows; otherwise these are on the website vocabulary tab for homework.
The full P4 toolkit in one group: the past perfect, the three triggers and the Type 2 regret — plus the vocabulary of world heritage (أَوْلَوِيَّةٌ قُصْوَى = a top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1 (“Intergenerational past perfect”), teaching point 1 (“The past perfect carries the intergenerational argument”), mistake 1, the website sorter and quiz 8.
Why past perfect? Our argument is about NOW (what we must do). What the ancestors did is one step further back — so it takes kāna qad + past.
Agreement: الأَجْيَالُ / الحَضَارَاتُ are plurals of non-humans → feminine singular (كَانَتْ … بَنَتْ). Row 5: كَانَ comes BEFORE the subject (singular), بَنَوْا comes AFTER it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2–3, teaching point 2 (“Three triggers make the case”), the listening, the reading and website game card 4 (row 6).
Row 1: تُعْطِيَهُ = tuʿṭiya + hu (weak -ī → -iya, then the pronoun). Row 3: تَظَلُّ → تَظَلَّ (doubled verb). Row 5: the short purpose lām (li-) works like li-kay — لِتَشْهَدَ = so that they bear witness.
Row 6 is new: أَلَّا = أَنْ + لَا (“that … not”) — يَنْبَغِي أَلَّا يُدَمَّرَ = the site must NOT be destroyed. Here the verb after it is a passive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4 (“Type 2 regret”), the reading (card 1), the live builder (card 2), the writing model (card 3) and mistake 3.
Card 2: أُولِيَ is the passive of أَوْلَى (to give attention) — the same weak Form IV pattern as أُجْلِيَ (P4-L05). لَمَا + past = would NOT have …
Card 3: لَا تُعَوَّضُ = cannot be replaced (a present passive with lā). The listening has a Type 2 with a past perfect inside: لَوْ كَانَتِ الجِهَاتُ الدَّوْلِيَّةُ قَدْ تَدَخَّلَتْ مُبَكِّرًا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reading and writing model.
Row 1: يُعَدُّ (is considered) + an accusative (رَكِيزَةً) — like تُعَدُّ المِيَاهُ أَخْطَرَ تَحَدٍّ (P4-L04). Row 3: مُدْرَجٌ عَلَى = listed on. Row 4: بِفِعْلِ = because of, as a result of.
Accuracy: UNESCO lists 90+ World Heritage properties in the Arab States region (2024), so “more than eighty” is safe. Examples students may know: Petra, the Old City of Jerusalem, Islamic Cairo, al-Ḥijr (Madāʾin Ṣāliḥ), Fez, Palmyra.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past perfect for what was built, the three subjunctive triggers for what must be done, and a Type 2 conditional for past neglect.”
• Intergenerational past perfect: What earlier generations had built or documented.
• Volition: What conservation requires.
• Necessity and purpose: An essential action for a purpose.
• Type 2 regret: The neglect that should not have happened.
Website common error: Using the indicative after a subjunctive trigger, or the simple past instead of the past perfect for what ancestors had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“Before our time: kānat … QAD banat. The regret: law … LA-kānat. What does it require? yataṭallabu AN tuʿṭiyA-hu. What is essential? min al-ḍarūrī AN yurammimA. Why? li-kay taẓallA. Every trigger —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Heritage Conservation — Protecting the Built and Natural Past”)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teaches a new word: أَلَّا = أَنْ + لَا (“that … not”) — يَنْبَغِي أَلَّا يُدَمَّرَ. Then add a trigger to the others: مِنَ الضَّرُورِيِّ أَنْ نَحْمِيَ المَبَانِيَ التَّارِيخِيَّةَ · نُوَثِّقُ التُّرَاثَ لِكَيْ نَحْفَظَهُ.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Heritage Conservation — Protecting the Built and Natural Past”)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teaches a new word: أَلَّا = أَنْ + لَا (“that … not”) — يَنْبَغِي أَلَّا يُدَمَّرَ. Then add a trigger to the others: مِنَ الضَّرُورِيِّ أَنْ نَحْمِيَ المَبَانِيَ التَّارِيخِيَّةَ · نُوَثِّقُ التُّرَاثَ لِكَيْ نَحْفَظَهُ.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heritage argument from a past-perfect achievement, a subjunctive requirement and a regret.” Website feedback: any three different combinations work.
Core: read row 1 across. Develop: column 2 row 2 has TWO triggers (min al-ḍarūrī an … li-kay) — find both verbs in -a. Stretch: label column 3 — Type 2 (row 1), Type 2 with la-mā (row 2), Type 1 (row 3).
Column 3 row 1: أَصْرَمَ = stricter (afʿal of صَارِمٌ).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three-card argument: one past perfect + one trigger + one regret — read it aloud as a single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three-card argument: one past perfect + one trigger + one regret — read it aloud as a single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the three triggers with their verbs in -a.
Listen 1: just listen. Listen 2: note answers. Then chat the letters.
Support: after the second listening, show the read-along slide (Arabic + English, line by line) for Core students.
SCRIPT (read aloud):
يُعَدُّ التُّرَاثُ المِعْمَارِيُّ وَالطَّبِيعِيُّ رَكِيزَةً أَسَاسِيَّةً لِلْهُوِيَّةِ الثَّقَافِيَّةِ. تَضُمُّ المِنْطَقَةُ العَرَبِيَّةُ أَكْثَرَ مِنْ ثَمَانِينَ مَوْقِعًا مُدْرَجًا عَلَى قَائِمَةِ التُّرَاثِ العَالَمِيِّ. كَانَتِ الأَجْيَالُ السَّابِقَةُ قَدْ بَنَتْ هٰذِهِ الرَّوَائِعَ لِتَشْهَدَ عَلَى إِبْدَاعِ الحَضَارَاتِ، وَكَانَ قَدْ تَمَّ تَوْثِيقُ كَثِيرٍ مِنْهَا قَبْلَ أَنْ تَتَعَرَّضَ لِلْخَطَرِ. لَوْ كَانَتِ الجِهَاتُ الدَّوْلِيَّةُ قَدْ تَدَخَّلَتْ مُبَكِّرًا لِحِمَايَةِ آثَارِ سُورِيَا وَلِيبِيَا، لَكَانَتْ أَضْرَارُ الصِّرَاعَاتِ أَقَلَّ. يَتَطَلَّبُ الحِفَاظُ عَلَى هٰذَا التُّرَاثِ أَنْ تُعْطِيَهُ الحُكُومَاتُ أَوْلَوِيَّةً قُصْوَى. وَمِنَ الضَّرُورِيِّ أَنْ يُرَمِّمَ المُتَخَصِّصُونَ المَوَاقِعَ التَّالِفَةَ لِكَيْ تَظَلَّ شَاهِدَةً عَلَى عَظَمَةِ الحَضَارَةِ.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يَتَطَلَّبُ الحِفَاظُ؟ (Subjunctive)
B: يَتَطَلَّبُ أَنْ تُعْطِيَهُ الحُكُومَاتُ أَوْلَوِيَّةً، وَلَوْ أُهْمِلَ سَابِقًا لَانْدَثَرَ. (يَتَطَلَّبُ أَنْ + a Type 2)
Website prompts and model. Pair task: “heritage tour guide” — A chooses a real site (Petra, Fez, Islamic Cairo …) and says what had been built; B, the minister, says what it requires. Swap. Partner checks the past perfect and every -a.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heritage sentences using yurammimu, yaṣūnu, yuwaththiqu. · Develop — Add a past-perfect intergenerational sentence and a necessity subjunctive. · Stretch — Write a full argument with all three triggers, both conditionals and a citation.
Website writing task (Stretch): Write one hundred and ten to one hundred and twenty words arguing for heritage conservation. Use the past perfect for what earlier generations had built, all three subjunctive triggers, both conditional types and a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يُعَدُّ … رَكِيزَةً · كَانَتِ … قَدْ بَنَتْ · لِتَشْهَدَ · كَانَ قَدْ تَمَّ تَوْثِيقُ · أَشَارَ … إِلَى أَنَّ · لَوْ كَانَتْ … لَكَانَتْ · يَتَطَلَّبُ … أَنْ تُعْطِيَهُ · مِنَ الضَّرُورِيِّ أَنْ يُرَمِّمَ · لِكَيْ تَظَلَّ · إِذَا اعْتَمَدْنَا … سَنَضْمَنُ.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(P4-L08 · Reading — Built and Natural World Texts) will spend class time USING this language, so students prepare it tonight — short, simple, easy to access (school guidance: “Simple, Short, Interesting, Relevant, Easy to access”). The five words come from the website P4-L08 vocabulary (reading built and natural world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Heritage Conservation — Protecting the Built and Natural Past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34" charset="0"/>
                <a:ea typeface="Amiri" pitchFamily="34" charset="-122"/>
                <a:cs typeface="Amiri" pitchFamily="34" charset="-120"/>
              </a:rPr>
              <a:t>الحِفَاظُ عَلَى التُّرَاثِ — حِمَايَةُ المَاضِي المَبْنِيِّ وَالطَّبِيعِيِّ</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Argue for heritage conservation — the past perfect for what earlier generations had built (kānat … qad banat), the three triggers for what protecting it requires, a Type 2 regret over neglect and a cited historian.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P4-L07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The intergenerational past perfect, the three triggers in a heritage case, regret / proposal / citation, heritage register.</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heritage pictures, build a heritage argument, sort past perfect / trigger / regret.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P4-L08.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تُرَاثٌ مِعْمَارِيٌّ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modern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architectural heritage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company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تَرْمِيمٌ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restoration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demolition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amendment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الذَّاكِرَةُ الجَمَاعِيَّةُ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memory card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group of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collective memory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تَهْدِفُ الرُّؤْيَةُ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المَمْلَكَةُ اقْتِصَادَهَا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نَوَّعَتْ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يَتَحَوَّلُ العَالَمُ العَرَبِيُّ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الطَّاقَةِ المُتَجَدِّدَةِ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تُرَاثٌ مِعْمَارِيٌّ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modern architecture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architectural heritage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building company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تَرْمِيمٌ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restoration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demolition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amendment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(P4-L06). Careful: Urdu </a:t>
            </a:r>
            <a:pPr algn="l" indent="0" marL="0">
              <a:buNone/>
            </a:pPr>
            <a:r>
              <a:rPr lang="ar-SA" altLang="en-US" sz="1350" dirty="0">
                <a:solidFill>
                  <a:srgbClr val="8A6D1E"/>
                </a:solidFill>
                <a:latin typeface="Amiri" pitchFamily="34" charset="0"/>
                <a:ea typeface="Amiri" pitchFamily="34" charset="-122"/>
                <a:cs typeface="Amiri" pitchFamily="34" charset="-120"/>
              </a:rPr>
              <a:t>ترمیم</a:t>
            </a:r>
            <a:pPr algn="l" indent="0" marL="0">
              <a:buNone/>
            </a:pPr>
            <a:r>
              <a:rPr lang="en-US" sz="1050" i="1" dirty="0">
                <a:solidFill>
                  <a:srgbClr val="8A6D1E"/>
                </a:solidFill>
                <a:latin typeface="Calibri" pitchFamily="34" charset="0"/>
                <a:ea typeface="Calibri" pitchFamily="34" charset="-122"/>
                <a:cs typeface="Calibri" pitchFamily="34" charset="-120"/>
              </a:rPr>
              <a:t> = amendment!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الذَّاكِرَةُ الجَمَاعِيَّةُ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memory card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group of friends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collective memory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تَهْدِفُ الرُّؤْيَةُ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المَمْلَكَةُ اقْتِصَادَهَا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نَوَّعَتْ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تُنَوِّعَ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P4-L06: intention + an + a verb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يَتَحَوَّلُ العَالَمُ العَرَبِيُّ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الطَّاقَةِ المُتَجَدِّدَةِ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P4-L06: yataḥawwalu ilā.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They HAD built it (past perfect) — so today it is REQUIRED that we protect it (the verb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كَانَتِ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الأَجْيَالُ </a:t>
            </a:r>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قَدْ بَنَتْ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يَتَطَلَّبُ أَنْ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نَصُونَهَا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heritage conservation with yurammimu, yaṣūnu, yuwaththiqu.</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past perfect for what earlier generations had built.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all three subjunctive triggers in a heritage case.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Regret past neglect with a Type 2 conditional.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heritage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kānat … qad + past for what earlier generations had built.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yataṭallabu an, min al-ḍarūrī an and li-kay.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regret neglect with law … la- (or la-mā).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cite a historian (ashāra ilā anna).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full heritage argument.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Heritage conservation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Conservation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full P4 toolkit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آثَارٌ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‎آثار‎ </a:t>
            </a:r>
            <a:pPr indent="0" marL="0">
              <a:buNone/>
            </a:pPr>
            <a:r>
              <a:rPr lang="en-US" sz="950" b="1" dirty="0">
                <a:solidFill>
                  <a:srgbClr val="2E8B57"/>
                </a:solidFill>
                <a:latin typeface="Calibri" pitchFamily="34" charset="0"/>
                <a:ea typeface="Calibri" pitchFamily="34" charset="-122"/>
                <a:cs typeface="Calibri" pitchFamily="34" charset="-120"/>
              </a:rPr>
              <a:t> āsār · ruins, traces, antiquities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أَمَانَةٌ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‎امانت‎ </a:t>
            </a:r>
            <a:pPr indent="0" marL="0">
              <a:buNone/>
            </a:pPr>
            <a:r>
              <a:rPr lang="en-US" sz="950" b="1" dirty="0">
                <a:solidFill>
                  <a:srgbClr val="2E8B57"/>
                </a:solidFill>
                <a:latin typeface="Calibri" pitchFamily="34" charset="0"/>
                <a:ea typeface="Calibri" pitchFamily="34" charset="-122"/>
                <a:cs typeface="Calibri" pitchFamily="34" charset="-120"/>
              </a:rPr>
              <a:t> amānat · a trust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ثَقَافَةٌ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‎ثقافت‎ </a:t>
            </a:r>
            <a:pPr indent="0" marL="0">
              <a:buNone/>
            </a:pPr>
            <a:r>
              <a:rPr lang="en-US" sz="950" b="1" dirty="0">
                <a:solidFill>
                  <a:srgbClr val="2E8B57"/>
                </a:solidFill>
                <a:latin typeface="Calibri" pitchFamily="34" charset="0"/>
                <a:ea typeface="Calibri" pitchFamily="34" charset="-122"/>
                <a:cs typeface="Calibri" pitchFamily="34" charset="-120"/>
              </a:rPr>
              <a:t> saqāfat · culture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تَرْمِيمٌ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‎ترمیم‎ </a:t>
            </a:r>
            <a:pPr indent="0" marL="0">
              <a:buNone/>
            </a:pPr>
            <a:r>
              <a:rPr lang="en-US" sz="950" b="1" dirty="0">
                <a:solidFill>
                  <a:srgbClr val="2E8B57"/>
                </a:solidFill>
                <a:latin typeface="Calibri" pitchFamily="34" charset="0"/>
                <a:ea typeface="Calibri" pitchFamily="34" charset="-122"/>
                <a:cs typeface="Calibri" pitchFamily="34" charset="-120"/>
              </a:rPr>
              <a:t> tarmīm · Arabic: restoration · Urdu: an amendment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حَضَارَةٌ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‎تہذیب‎ </a:t>
            </a:r>
            <a:pPr indent="0" marL="0">
              <a:buNone/>
            </a:pPr>
            <a:r>
              <a:rPr lang="en-US" sz="950" b="1" dirty="0">
                <a:solidFill>
                  <a:srgbClr val="2E8B57"/>
                </a:solidFill>
                <a:latin typeface="Calibri" pitchFamily="34" charset="0"/>
                <a:ea typeface="Calibri" pitchFamily="34" charset="-122"/>
                <a:cs typeface="Calibri" pitchFamily="34" charset="-120"/>
              </a:rPr>
              <a:t> tahzīb · civilisation (Arabic تَهْذِيبٌ = refinement)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Heritage conservation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الحِفَاظُ عَلَى التُّرَاثِ</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heritage conservation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al-ḥi-fā-ẓu ʿa-lā at-tu-rā-thi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تُرَاثٌ مِعْمَارِيٌّ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architectural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tu-rā-thun miʿ-mā-riy-yun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أَثَرِيٌّ</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archaeological 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maw-qi-ʿun a-tha-riy-yun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مَوَاقِعُ أَثَرِيَّةٌ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تُرَاثٌ ثَقَافِيٌّ غَيْرُ مَادِّيٍّ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intangible cultural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tu-rā-thun tha-qā-fiy-yun ghay-ru mād-diy-yin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Heritage conservation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تَرْمِيمٌ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restoration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tar-mī-mun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خُطُورَةُ الانْدِثَارِ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risk of disappearance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khu-ṭū-ra-tu aln-di-thā-ri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الذَّاكِرَةُ الجَمَاعِيَّةُ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collective memory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adh-dhā-ki-ra-tu al-ja-mā-ʿiy-ya-tu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مَسْؤُولِيَّةُ الأَجْيَالِ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generational responsibility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mas-ʾū-liy-ya-tu al-aj-yā-li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Conservation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يُرَمِّمُ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restores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yu-ram-mi-mu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تُرَمِّمُ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يَصُونُ</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preserves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ya-ṣū-nu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تَصُونُ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يُحَافِظُ عَلَى</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maintains, preserves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yu-ḥā-fi-ẓu ʿa-lā</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تُحَافِظُ عَلَى</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Shape 5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يُوَثِّقُ</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documents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yu-wath-thi-qu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تُوَثِّقُ</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Conservation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يَحْمِي مِنْ</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protects from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yaḥ-mī min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تَحْمِي مِنْ</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يَتَنَاقَصُ</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dwindles, decreases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ya-ta-nā-qa-ṣu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تَتَنَاقَصُ</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مَوْرُوثٌ ثَقَافِيٌّ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heritage passed down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maw-rū-thun tha-qā-fiy-yun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الحِفَاظُ عَلَى الهُوِيَّةِ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preserving 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al-ḥi-fā-ẓu ʿa-lā al-hu-wiy-ya-ti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full P4 toolkit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perfect.</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 قَدْ بَنَى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had built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 qad ba-nā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غَرَضٌ: لِكَيْ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purpose: li-kay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gha-ra-ḍun-: li-kay</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إِرَادَةٌ: يَتَطَلَّبُ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volition: yataṭallabu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i-rā-da-tun-: ya-ta-ṭal-la-bu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ضَرُورَةٌ: مِنَ الضَّرُورِيِّ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necessity: min al-ḍarūrī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ḍa-rū-ra-tun-: mi-na aḍ-ḍa-rū-riy-yi an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full P4 toolkit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 … لَـ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Type 2 regret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 … la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أَوْلَوِيَّةٌ قُصْوَى</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top priority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aw-la-wiy-ya-tun quṣ-wā</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أَوْلَوِيَّاتٌ قُصْوَى</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لَجْنَةُ التَّرَاثِ العَالَمِيِّ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World Heritage Committee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laj-na-tu at-ta-rā-thi al-ʿā-la-miy-yi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إِبْدَاعُ الحَضَارَاتِ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creativity of civilisations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ib-dā-ʿu al-ḥa-ḍā-rā-ti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INTERGENERATIONAL PAST PERFECT (WEBSITE RULE 1, TEACHING POINT 1, MISTAKE 1 AND TEXTS)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They had built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التَّامُّ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50109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8" name="Text 15"/>
          <p:cNvSpPr txBox="1"/>
          <p:nvPr/>
        </p:nvSpPr>
        <p:spPr>
          <a:xfrm>
            <a:off x="2359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perfect</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858000" y="2267712"/>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كَانَتِ الأَجْيَالُ السَّابِقَةُ قَدْ بَنَتْ هٰذِهِ الرَّوَائِعَ.</a:t>
            </a:r>
            <a:endParaRPr lang="ar-SA" sz="1700" dirty="0"/>
          </a:p>
        </p:txBody>
      </p:sp>
      <p:sp>
        <p:nvSpPr>
          <p:cNvPr id="22" name="Text 19"/>
          <p:cNvSpPr txBox="1"/>
          <p:nvPr/>
        </p:nvSpPr>
        <p:spPr>
          <a:xfrm>
            <a:off x="504748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(plural of things)</a:t>
            </a:r>
            <a:endParaRPr lang="en-US" sz="1100" dirty="0"/>
          </a:p>
        </p:txBody>
      </p:sp>
      <p:sp>
        <p:nvSpPr>
          <p:cNvPr id="23" name="Text 20"/>
          <p:cNvSpPr txBox="1"/>
          <p:nvPr/>
        </p:nvSpPr>
        <p:spPr>
          <a:xfrm>
            <a:off x="2377440" y="2267712"/>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كَانَتْ</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C77700"/>
                </a:solidFill>
                <a:latin typeface="Amiri" pitchFamily="34" charset="0"/>
                <a:ea typeface="Amiri" pitchFamily="34" charset="-122"/>
                <a:cs typeface="Amiri" pitchFamily="34" charset="-120"/>
              </a:rPr>
              <a:t>قَدْ بَنَتْ</a:t>
            </a:r>
            <a:endParaRPr lang="ar-SA" sz="1800" dirty="0"/>
          </a:p>
        </p:txBody>
      </p:sp>
      <p:sp>
        <p:nvSpPr>
          <p:cNvPr id="24" name="Text 21"/>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generations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858000" y="300471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كَانَتِ الحَضَارَاتُ قَدْ أَبْدَعَتْ فِي العِمَارَةِ وَالعِلْمِ.</a:t>
            </a:r>
            <a:endParaRPr lang="ar-SA" sz="1700" dirty="0"/>
          </a:p>
        </p:txBody>
      </p:sp>
      <p:sp>
        <p:nvSpPr>
          <p:cNvPr id="29" name="Text 26"/>
          <p:cNvSpPr txBox="1"/>
          <p:nvPr/>
        </p:nvSpPr>
        <p:spPr>
          <a:xfrm>
            <a:off x="504748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30" name="Text 27"/>
          <p:cNvSpPr txBox="1"/>
          <p:nvPr/>
        </p:nvSpPr>
        <p:spPr>
          <a:xfrm>
            <a:off x="2377440" y="3004718"/>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كَانَتْ</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C77700"/>
                </a:solidFill>
                <a:latin typeface="Amiri" pitchFamily="34" charset="0"/>
                <a:ea typeface="Amiri" pitchFamily="34" charset="-122"/>
                <a:cs typeface="Amiri" pitchFamily="34" charset="-120"/>
              </a:rPr>
              <a:t>قَدْ أَبْدَعَتْ</a:t>
            </a:r>
            <a:endParaRPr lang="ar-SA" sz="1800" dirty="0"/>
          </a:p>
        </p:txBody>
      </p:sp>
      <p:sp>
        <p:nvSpPr>
          <p:cNvPr id="31" name="Text 28"/>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civilisations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858000" y="3741725"/>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 قَدْ تَمَّ تَوْثِيقُ كَثِيرٍ مِنْهَا.</a:t>
            </a:r>
            <a:endParaRPr lang="ar-SA" sz="1700" dirty="0"/>
          </a:p>
        </p:txBody>
      </p:sp>
      <p:sp>
        <p:nvSpPr>
          <p:cNvPr id="36" name="Text 33"/>
          <p:cNvSpPr txBox="1"/>
          <p:nvPr/>
        </p:nvSpPr>
        <p:spPr>
          <a:xfrm>
            <a:off x="504748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“had been done”</a:t>
            </a:r>
            <a:endParaRPr lang="en-US" sz="1100" dirty="0"/>
          </a:p>
        </p:txBody>
      </p:sp>
      <p:sp>
        <p:nvSpPr>
          <p:cNvPr id="37" name="Text 34"/>
          <p:cNvSpPr txBox="1"/>
          <p:nvPr/>
        </p:nvSpPr>
        <p:spPr>
          <a:xfrm>
            <a:off x="2395728" y="3741725"/>
            <a:ext cx="24688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كَانَ قَدْ تَمَّ</a:t>
            </a:r>
            <a:pPr algn="l" indent="0" marL="0">
              <a:buNone/>
            </a:pPr>
            <a:r>
              <a:rPr lang="en-US" sz="1100" dirty="0">
                <a:solidFill>
                  <a:srgbClr val="5A6472"/>
                </a:solidFill>
                <a:latin typeface="Calibri" pitchFamily="34" charset="0"/>
                <a:ea typeface="Calibri" pitchFamily="34" charset="-122"/>
                <a:cs typeface="Calibri" pitchFamily="34" charset="-120"/>
              </a:rPr>
              <a:t> + maṣdar</a:t>
            </a:r>
            <a:endParaRPr lang="en-US" sz="1100" dirty="0"/>
          </a:p>
        </p:txBody>
      </p:sp>
      <p:sp>
        <p:nvSpPr>
          <p:cNvPr id="38" name="Text 35"/>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impersonal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858000" y="4478731"/>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كَانُوا قَدْ صَمَّمُوهَا بِعِنَايَةٍ.</a:t>
            </a:r>
            <a:endParaRPr lang="ar-SA" sz="1700" dirty="0"/>
          </a:p>
        </p:txBody>
      </p:sp>
      <p:sp>
        <p:nvSpPr>
          <p:cNvPr id="41" name="Text 38"/>
          <p:cNvSpPr txBox="1"/>
          <p:nvPr/>
        </p:nvSpPr>
        <p:spPr>
          <a:xfrm>
            <a:off x="504748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 pl. — both verbs</a:t>
            </a:r>
            <a:endParaRPr lang="en-US" sz="1100" dirty="0"/>
          </a:p>
        </p:txBody>
      </p:sp>
      <p:sp>
        <p:nvSpPr>
          <p:cNvPr id="42" name="Text 39"/>
          <p:cNvSpPr txBox="1"/>
          <p:nvPr/>
        </p:nvSpPr>
        <p:spPr>
          <a:xfrm>
            <a:off x="2377440" y="4478731"/>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كَانُوا قَدْ</a:t>
            </a:r>
            <a:pPr rtl="1" algn="ctr" indent="0" marL="0">
              <a:buNone/>
            </a:pPr>
            <a:r>
              <a:rPr lang="ar-SA" altLang="en-US" sz="1800" b="1" dirty="0">
                <a:solidFill>
                  <a:srgbClr val="1B3B6F"/>
                </a:solidFill>
                <a:latin typeface="Amiri" pitchFamily="34" charset="0"/>
                <a:ea typeface="Amiri" pitchFamily="34" charset="-122"/>
                <a:cs typeface="Amiri" pitchFamily="34" charset="-120"/>
              </a:rPr>
              <a:t> صَمَّمُوهَا</a:t>
            </a:r>
            <a:endParaRPr lang="ar-SA" sz="1800" dirty="0"/>
          </a:p>
        </p:txBody>
      </p:sp>
      <p:sp>
        <p:nvSpPr>
          <p:cNvPr id="43" name="Text 40"/>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(people)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858000" y="521573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 الأَجْدَادُ قَدْ بَنَوْهَا لِكَيْ يَنْعَمَ بِهَا الأَحْفَادُ.</a:t>
            </a:r>
            <a:endParaRPr lang="ar-SA" sz="1700" dirty="0"/>
          </a:p>
        </p:txBody>
      </p:sp>
      <p:sp>
        <p:nvSpPr>
          <p:cNvPr id="46" name="Text 43"/>
          <p:cNvSpPr txBox="1"/>
          <p:nvPr/>
        </p:nvSpPr>
        <p:spPr>
          <a:xfrm>
            <a:off x="504748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first → sg.</a:t>
            </a:r>
            <a:endParaRPr lang="en-US" sz="1100" dirty="0"/>
          </a:p>
        </p:txBody>
      </p:sp>
      <p:sp>
        <p:nvSpPr>
          <p:cNvPr id="47" name="Text 44"/>
          <p:cNvSpPr txBox="1"/>
          <p:nvPr/>
        </p:nvSpPr>
        <p:spPr>
          <a:xfrm>
            <a:off x="2377440" y="5215738"/>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كَانَ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الأَجْدَادُ </a:t>
            </a:r>
            <a:pPr rtl="1" algn="ctr" indent="0" marL="0">
              <a:buNone/>
            </a:pPr>
            <a:r>
              <a:rPr lang="ar-SA" altLang="en-US" sz="1800" b="1" dirty="0">
                <a:solidFill>
                  <a:srgbClr val="C77700"/>
                </a:solidFill>
                <a:latin typeface="Amiri" pitchFamily="34" charset="0"/>
                <a:ea typeface="Amiri" pitchFamily="34" charset="-122"/>
                <a:cs typeface="Amiri" pitchFamily="34" charset="-120"/>
              </a:rPr>
              <a:t>قَدْ بَنَوْهَا</a:t>
            </a:r>
            <a:endParaRPr lang="ar-SA" sz="1800" dirty="0"/>
          </a:p>
        </p:txBody>
      </p:sp>
      <p:sp>
        <p:nvSpPr>
          <p:cNvPr id="48" name="Text 45"/>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ancestors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banati l-ajyālu … ✗ (simple past) → kānati l-ajyālu qad banat … ✓ — it happened BEFORE the argument we are making now.</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THREE TRIGGERS MAKE THE CASE (WEBSITE RULES 2–3, TEACHING POINT 2, GAME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protecting it requires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ثَلَاثَةُ مُحَفِّزَاتٍ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37083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in -a</a:t>
            </a:r>
            <a:endParaRPr lang="en-US" sz="1100" dirty="0"/>
          </a:p>
        </p:txBody>
      </p:sp>
      <p:sp>
        <p:nvSpPr>
          <p:cNvPr id="18" name="Text 15"/>
          <p:cNvSpPr txBox="1"/>
          <p:nvPr/>
        </p:nvSpPr>
        <p:spPr>
          <a:xfrm>
            <a:off x="29077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Trigger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الحِفَاظُ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تُعْطِيَهُ</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الحُكُومَاتُ أَوْلَوِيَّةً قُصْوَى.</a:t>
            </a:r>
            <a:endParaRPr lang="ar-SA" sz="1700" dirty="0"/>
          </a:p>
        </p:txBody>
      </p:sp>
      <p:sp>
        <p:nvSpPr>
          <p:cNvPr id="22" name="Text 19"/>
          <p:cNvSpPr txBox="1"/>
          <p:nvPr/>
        </p:nvSpPr>
        <p:spPr>
          <a:xfrm>
            <a:off x="440740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-iya</a:t>
            </a:r>
            <a:endParaRPr lang="en-US" sz="1100" dirty="0"/>
          </a:p>
        </p:txBody>
      </p:sp>
      <p:sp>
        <p:nvSpPr>
          <p:cNvPr id="23" name="Text 20"/>
          <p:cNvSpPr txBox="1"/>
          <p:nvPr/>
        </p:nvSpPr>
        <p:spPr>
          <a:xfrm>
            <a:off x="294436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a:t>
            </a:r>
            <a:endParaRPr lang="en-US" sz="11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يَتَطَلَّبُ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مِنَ الضَّرُورِيِّ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يُرَمِّمَ</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المُتَخَصِّصُونَ المَوَاقِعَ التَّالِفَةَ.</a:t>
            </a:r>
            <a:endParaRPr lang="ar-SA" sz="1700" dirty="0"/>
          </a:p>
        </p:txBody>
      </p:sp>
      <p:sp>
        <p:nvSpPr>
          <p:cNvPr id="29" name="Text 26"/>
          <p:cNvSpPr txBox="1"/>
          <p:nvPr/>
        </p:nvSpPr>
        <p:spPr>
          <a:xfrm>
            <a:off x="440740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a:t>
            </a:r>
            <a:endParaRPr lang="en-US" sz="1100" dirty="0"/>
          </a:p>
        </p:txBody>
      </p:sp>
      <p:sp>
        <p:nvSpPr>
          <p:cNvPr id="30" name="Text 27"/>
          <p:cNvSpPr txBox="1"/>
          <p:nvPr/>
        </p:nvSpPr>
        <p:spPr>
          <a:xfrm>
            <a:off x="294436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a:t>
            </a:r>
            <a:endParaRPr lang="en-US" sz="11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مِنَ الضَّرُورِيِّ أَنْ</a:t>
            </a:r>
            <a:endParaRPr lang="ar-SA" sz="18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1700" b="1" dirty="0">
                <a:solidFill>
                  <a:srgbClr val="D6336C"/>
                </a:solidFill>
                <a:latin typeface="Amiri" pitchFamily="34" charset="0"/>
                <a:ea typeface="Amiri" pitchFamily="34" charset="-122"/>
                <a:cs typeface="Amiri" pitchFamily="34" charset="-120"/>
              </a:rPr>
              <a:t>تَظَلَّ</a:t>
            </a:r>
            <a:pPr rtl="1" algn="ctr" indent="0" marL="0">
              <a:buNone/>
            </a:pPr>
            <a:r>
              <a:rPr lang="ar-SA" altLang="en-US" sz="1700" b="1" dirty="0">
                <a:solidFill>
                  <a:srgbClr val="1B3B6F"/>
                </a:solidFill>
                <a:latin typeface="Amiri" pitchFamily="34" charset="0"/>
                <a:ea typeface="Amiri" pitchFamily="34" charset="-122"/>
                <a:cs typeface="Amiri" pitchFamily="34" charset="-120"/>
              </a:rPr>
              <a:t> شَاهِدَةً عَلَى عَظَمَةِ الحَضَارَةِ.</a:t>
            </a:r>
            <a:endParaRPr lang="ar-SA" sz="1700" dirty="0"/>
          </a:p>
        </p:txBody>
      </p:sp>
      <p:sp>
        <p:nvSpPr>
          <p:cNvPr id="36" name="Text 33"/>
          <p:cNvSpPr txBox="1"/>
          <p:nvPr/>
        </p:nvSpPr>
        <p:spPr>
          <a:xfrm>
            <a:off x="440740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doubled</a:t>
            </a:r>
            <a:endParaRPr lang="en-US" sz="1100" dirty="0"/>
          </a:p>
        </p:txBody>
      </p:sp>
      <p:sp>
        <p:nvSpPr>
          <p:cNvPr id="37" name="Text 34"/>
          <p:cNvSpPr txBox="1"/>
          <p:nvPr/>
        </p:nvSpPr>
        <p:spPr>
          <a:xfrm>
            <a:off x="294436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a:t>
            </a:r>
            <a:endParaRPr lang="en-US" sz="1100" dirty="0"/>
          </a:p>
        </p:txBody>
      </p:sp>
      <p:sp>
        <p:nvSpPr>
          <p:cNvPr id="38" name="Text 35"/>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لِكَيْ</a:t>
            </a:r>
            <a:endParaRPr lang="ar-SA" sz="18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يَنْبَغِي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يُشَارِكَ</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المُجْتَمَعُ فِي صَوْنِهِ.</a:t>
            </a:r>
            <a:endParaRPr lang="ar-SA" sz="1700" dirty="0"/>
          </a:p>
        </p:txBody>
      </p:sp>
      <p:sp>
        <p:nvSpPr>
          <p:cNvPr id="43" name="Text 40"/>
          <p:cNvSpPr txBox="1"/>
          <p:nvPr/>
        </p:nvSpPr>
        <p:spPr>
          <a:xfrm>
            <a:off x="440740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a:t>
            </a:r>
            <a:endParaRPr lang="en-US" sz="1100" dirty="0"/>
          </a:p>
        </p:txBody>
      </p:sp>
      <p:sp>
        <p:nvSpPr>
          <p:cNvPr id="44" name="Text 41"/>
          <p:cNvSpPr txBox="1"/>
          <p:nvPr/>
        </p:nvSpPr>
        <p:spPr>
          <a:xfrm>
            <a:off x="294436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a:t>
            </a:r>
            <a:endParaRPr lang="en-US" sz="1100" dirty="0"/>
          </a:p>
        </p:txBody>
      </p:sp>
      <p:sp>
        <p:nvSpPr>
          <p:cNvPr id="45" name="Text 42"/>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يَنْبَغِي أَنْ</a:t>
            </a:r>
            <a:endParaRPr lang="ar-SA" sz="18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بَنَتْ هٰذِهِ الرَّوَائِعَ </a:t>
            </a:r>
            <a:pPr rtl="1" algn="ctr" indent="0" marL="0">
              <a:buNone/>
            </a:pPr>
            <a:r>
              <a:rPr lang="ar-SA" altLang="en-US" sz="1700" b="1" dirty="0">
                <a:solidFill>
                  <a:srgbClr val="D6336C"/>
                </a:solidFill>
                <a:latin typeface="Amiri" pitchFamily="34" charset="0"/>
                <a:ea typeface="Amiri" pitchFamily="34" charset="-122"/>
                <a:cs typeface="Amiri" pitchFamily="34" charset="-120"/>
              </a:rPr>
              <a:t>لِتَشْهَدَ</a:t>
            </a:r>
            <a:pPr rtl="1" algn="ctr" indent="0" marL="0">
              <a:buNone/>
            </a:pPr>
            <a:r>
              <a:rPr lang="ar-SA" altLang="en-US" sz="1700" b="1" dirty="0">
                <a:solidFill>
                  <a:srgbClr val="1B3B6F"/>
                </a:solidFill>
                <a:latin typeface="Amiri" pitchFamily="34" charset="0"/>
                <a:ea typeface="Amiri" pitchFamily="34" charset="-122"/>
                <a:cs typeface="Amiri" pitchFamily="34" charset="-120"/>
              </a:rPr>
              <a:t> عَلَى إِبْدَاعِ الحَضَارَاتِ.</a:t>
            </a:r>
            <a:endParaRPr lang="ar-SA" sz="1700" dirty="0"/>
          </a:p>
        </p:txBody>
      </p:sp>
      <p:sp>
        <p:nvSpPr>
          <p:cNvPr id="48" name="Text 45"/>
          <p:cNvSpPr txBox="1"/>
          <p:nvPr/>
        </p:nvSpPr>
        <p:spPr>
          <a:xfrm>
            <a:off x="440740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a:t>
            </a:r>
            <a:endParaRPr lang="en-US" sz="1100" dirty="0"/>
          </a:p>
        </p:txBody>
      </p:sp>
      <p:sp>
        <p:nvSpPr>
          <p:cNvPr id="49" name="Text 46"/>
          <p:cNvSpPr txBox="1"/>
          <p:nvPr/>
        </p:nvSpPr>
        <p:spPr>
          <a:xfrm>
            <a:off x="294436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 (short)</a:t>
            </a:r>
            <a:endParaRPr lang="en-US" sz="1100" dirty="0"/>
          </a:p>
        </p:txBody>
      </p:sp>
      <p:sp>
        <p:nvSpPr>
          <p:cNvPr id="50" name="Text 47"/>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لِـ</a:t>
            </a:r>
            <a:endParaRPr lang="ar-SA" sz="18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يَنْبَغِي </a:t>
            </a:r>
            <a:pPr rtl="1" algn="ctr" indent="0" marL="0">
              <a:buNone/>
            </a:pPr>
            <a:r>
              <a:rPr lang="ar-SA" altLang="en-US" sz="1700" b="1" dirty="0">
                <a:solidFill>
                  <a:srgbClr val="7B3FA0"/>
                </a:solidFill>
                <a:latin typeface="Amiri" pitchFamily="34" charset="0"/>
                <a:ea typeface="Amiri" pitchFamily="34" charset="-122"/>
                <a:cs typeface="Amiri" pitchFamily="34" charset="-120"/>
              </a:rPr>
              <a:t>أَلَّا يُدَمَّرَ</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المَوْقِعُ التَّارِيخِيُّ.</a:t>
            </a:r>
            <a:endParaRPr lang="ar-SA" sz="1700" dirty="0"/>
          </a:p>
        </p:txBody>
      </p:sp>
      <p:sp>
        <p:nvSpPr>
          <p:cNvPr id="53" name="Text 50"/>
          <p:cNvSpPr txBox="1"/>
          <p:nvPr/>
        </p:nvSpPr>
        <p:spPr>
          <a:xfrm>
            <a:off x="440740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54" name="Text 51"/>
          <p:cNvSpPr txBox="1"/>
          <p:nvPr/>
        </p:nvSpPr>
        <p:spPr>
          <a:xfrm>
            <a:off x="294436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 negative</a:t>
            </a:r>
            <a:endParaRPr lang="en-US" sz="1100" dirty="0"/>
          </a:p>
        </p:txBody>
      </p:sp>
      <p:sp>
        <p:nvSpPr>
          <p:cNvPr id="55" name="Text 52"/>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أَلَّا</a:t>
            </a:r>
            <a:pPr rtl="1" algn="ctr" indent="0" marL="0">
              <a:buNone/>
            </a:pPr>
            <a:r>
              <a:rPr lang="ar-SA" altLang="en-US" sz="1800" b="1" dirty="0">
                <a:solidFill>
                  <a:srgbClr val="1B3B6F"/>
                </a:solidFill>
                <a:latin typeface="Amiri" pitchFamily="34" charset="0"/>
                <a:ea typeface="Amiri" pitchFamily="34" charset="-122"/>
                <a:cs typeface="Amiri" pitchFamily="34" charset="-120"/>
              </a:rPr>
              <a:t> = أَنْ + لَا</a:t>
            </a:r>
            <a:endParaRPr lang="ar-SA" sz="18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2: an yurammimu ✗ → an yurammima ✓. Row 6 (website game): an + lā joins into allā — the verb still ends in -a.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PROPOSAL, REGRET, EVIDENCE (WEBSITE RULE 4, READING, WRITING MODEL AND MISTAKE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Learn from the past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الاقْتِرَاحُ · النَّدَمُ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PROPOSAL · CORE</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اعْتَمَدْنَا سِيَاسَاتِ حِمَايَةٍ صَارِمَةً، سَنَضْمَنُ بَقَاءَ هٰذَا الإِرْثِ.</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we adopt strict protection policies, we will guarantee this legacy survives.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أُولِيَ التُّرَاثُ اهْتِمَامًا كَافِيًا، لَمَا انْدَثَرَ الكَثِيرُ.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heritage been given enough attention, so much would not have vanished.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Negative: la-mā.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أَشَارَ … إِلَى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أَشَارَ المُؤَرِّخُونَ إِلَى أَنَّ هٰذِهِ المَوَاقِعَ لَا تُعَوَّضُ.</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Historians pointed out that these sites are irreplaceable.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noun.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yaṣūnu takes a direct object — no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تَصُونُ السِّيَاسَاتُ الهُوِيَّةَ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تَصُونُ السِّيَاسَاتُ بِالهُوِيَّةِ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LANGUAGE OF A HERITAGE ARGUMENT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Sound like a heritage advocate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الدِّفَاعِ عَنِ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yuʿaddu + -an</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 التُّرَاثُ </a:t>
            </a:r>
            <a:pPr rtl="1" algn="ctr" indent="0" marL="0">
              <a:buNone/>
            </a:pPr>
            <a:r>
              <a:rPr lang="ar-SA" altLang="en-US" sz="1800" b="1" dirty="0">
                <a:solidFill>
                  <a:srgbClr val="D6336C"/>
                </a:solidFill>
                <a:latin typeface="Amiri" pitchFamily="34" charset="0"/>
                <a:ea typeface="Amiri" pitchFamily="34" charset="-122"/>
                <a:cs typeface="Amiri" pitchFamily="34" charset="-120"/>
              </a:rPr>
              <a:t>رَكِيزَةً أَسَاسِيَّةً</a:t>
            </a:r>
            <a:pPr rtl="1" algn="ctr" indent="0" marL="0">
              <a:buNone/>
            </a:pPr>
            <a:r>
              <a:rPr lang="ar-SA" altLang="en-US" sz="1800" b="1" dirty="0">
                <a:solidFill>
                  <a:srgbClr val="1B3B6F"/>
                </a:solidFill>
                <a:latin typeface="Amiri" pitchFamily="34" charset="0"/>
                <a:ea typeface="Amiri" pitchFamily="34" charset="-122"/>
                <a:cs typeface="Amiri" pitchFamily="34" charset="-120"/>
              </a:rPr>
              <a:t> لِلْهُوِيَّةِ الثَّقَافِيَّةِ</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pillar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amāna</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يَحْمِلُ كُلُّ جِيلٍ </a:t>
            </a:r>
            <a:pPr rtl="1" algn="ctr" indent="0" marL="0">
              <a:buNone/>
            </a:pPr>
            <a:r>
              <a:rPr lang="ar-SA" altLang="en-US" sz="1800" b="1" dirty="0">
                <a:solidFill>
                  <a:srgbClr val="0E7C86"/>
                </a:solidFill>
                <a:latin typeface="Amiri" pitchFamily="34" charset="0"/>
                <a:ea typeface="Amiri" pitchFamily="34" charset="-122"/>
                <a:cs typeface="Amiri" pitchFamily="34" charset="-120"/>
              </a:rPr>
              <a:t>أَمَانَةً</a:t>
            </a:r>
            <a:pPr rtl="1" algn="ctr" indent="0" marL="0">
              <a:buNone/>
            </a:pPr>
            <a:r>
              <a:rPr lang="ar-SA" altLang="en-US" sz="1800" b="1" dirty="0">
                <a:solidFill>
                  <a:srgbClr val="1B3B6F"/>
                </a:solidFill>
                <a:latin typeface="Amiri" pitchFamily="34" charset="0"/>
                <a:ea typeface="Amiri" pitchFamily="34" charset="-122"/>
                <a:cs typeface="Amiri" pitchFamily="34" charset="-120"/>
              </a:rPr>
              <a:t> تِجَاهَ تُرَاثِهِ</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trust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participle</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أَكْثَرَ مِنْ ثَمَانِينَ مَوْقِعًا </a:t>
            </a:r>
            <a:pPr rtl="1" algn="ctr" indent="0" marL="0">
              <a:buNone/>
            </a:pPr>
            <a:r>
              <a:rPr lang="ar-SA" altLang="en-US" sz="1800" b="1" dirty="0">
                <a:solidFill>
                  <a:srgbClr val="1D5FBF"/>
                </a:solidFill>
                <a:latin typeface="Amiri" pitchFamily="34" charset="0"/>
                <a:ea typeface="Amiri" pitchFamily="34" charset="-122"/>
                <a:cs typeface="Amiri" pitchFamily="34" charset="-120"/>
              </a:rPr>
              <a:t>مُدْرَجًا عَلَى قَائِمَةِ التُّرَاثِ العَالَمِيِّ</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listed</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bi-fiʿli = due to</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يَتَنَاقَصُ </a:t>
            </a:r>
            <a:pPr rtl="1" algn="ctr" indent="0" marL="0">
              <a:buNone/>
            </a:pPr>
            <a:r>
              <a:rPr lang="ar-SA" altLang="en-US" sz="1800" b="1" dirty="0">
                <a:solidFill>
                  <a:srgbClr val="C77700"/>
                </a:solidFill>
                <a:latin typeface="Amiri" pitchFamily="34" charset="0"/>
                <a:ea typeface="Amiri" pitchFamily="34" charset="-122"/>
                <a:cs typeface="Amiri" pitchFamily="34" charset="-120"/>
              </a:rPr>
              <a:t>بِفِعْلِ</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الإِهْمَالِ وَالصِّرَاعَاتِ</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because of</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lā + passive</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هٰذِهِ المَوَاقِعَ </a:t>
            </a:r>
            <a:pPr rtl="1" algn="ctr" indent="0" marL="0">
              <a:buNone/>
            </a:pPr>
            <a:r>
              <a:rPr lang="ar-SA" altLang="en-US" sz="1800" b="1" dirty="0">
                <a:solidFill>
                  <a:srgbClr val="7B3FA0"/>
                </a:solidFill>
                <a:latin typeface="Amiri" pitchFamily="34" charset="0"/>
                <a:ea typeface="Amiri" pitchFamily="34" charset="-122"/>
                <a:cs typeface="Amiri" pitchFamily="34" charset="-120"/>
              </a:rPr>
              <a:t>لَا تُعَوَّضُ</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irreplaceable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heritage argument moves: why it matters → what they had built → what we have lost → what must be done → what we will gain.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Past perfect and the subjunctive in a heritage argument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34" charset="0"/>
                <a:ea typeface="Amiri" pitchFamily="34" charset="-122"/>
                <a:cs typeface="Amiri" pitchFamily="34" charset="-120"/>
              </a:rPr>
              <a:t>المَاضِي التَّامُّ وَالنَّصْبُ فِي حُجَّةِ التُّرَاثِ</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Intergenerational past perfect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kāna / kānat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كَانَتِ الأَجْيَالُ قَدْ بَنَتْ هٰذِهِ المَعَالِمَ   ·   كَانَ قَدْ تَمَّ تَوْثِيقُ كَثِيرٍ مِنْهَا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Volition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yataṭallabu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يَتَطَلَّبُ الحِفَاظُ أَنْ تُعْطِيَهُ الحُكُومَاتُ أَوْلَوِيَّةً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Necessity and purpose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min al-ḍarūrī an … li-kay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الضَّرُورِيِّ أَنْ يُرَمِّمَ المُتَخَصِّصُونَ المَوَاقِعَ لِكَيْ تَظَلَّ شَاهِدَةً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Type 2 regret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أُولِيَ التُّرَاثُ اهْتِمَامًا كَافِيًا، لَكَانَتْ حَالَتُهُ أَفْضَلَ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السَّابِقَةُ قَدْ بَنَتْ هٰذِهِ المَعَالِمَ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يَتَطَلَّبُ الحِفَاظُ أَنْ ___ الحُكُومَاتُ أَوْلَوِيَّةً لِلتُّرَاثِ.</a:t>
            </a:r>
            <a:endParaRPr lang="ar-SA" sz="11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تُعْطِيَ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تُعْطِي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أَعْطَتْ</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مِنَ الضَّرُورِيِّ أَنْ ___ المُتَخَصِّصُونَ المَوَاقِعَ التَّالِفَةَ.</a:t>
            </a:r>
            <a:endParaRPr lang="ar-SA" sz="11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يُرَمِّمُ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يُرَمِّمَ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نُرَمِّمُ المَوَاقِعَ لِكَيْ ___ شَاهِدَةً عَلَى الحَضَارَةِ.</a:t>
            </a:r>
            <a:endParaRPr lang="ar-SA" sz="13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تَظَلَّ</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تَظَلُّ</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ظَلَّتْ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السَّابِقَةُ قَدْ بَنَتْ هٰذِهِ المَعَالِمَ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 قَدْ</a:t>
            </a:r>
            <a:pPr algn="l" indent="0" marL="0">
              <a:buNone/>
            </a:pPr>
            <a:r>
              <a:rPr lang="en-US" sz="1050" i="1" dirty="0">
                <a:solidFill>
                  <a:srgbClr val="8A6D1E"/>
                </a:solidFill>
                <a:latin typeface="Calibri" pitchFamily="34" charset="0"/>
                <a:ea typeface="Calibri" pitchFamily="34" charset="-122"/>
                <a:cs typeface="Calibri" pitchFamily="34" charset="-120"/>
              </a:rPr>
              <a:t> + past is the past perfect.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يَتَطَلَّبُ الحِفَاظُ أَنْ ___ الحُكُومَاتُ أَوْلَوِيَّةً لِلتُّرَاثِ.</a:t>
            </a:r>
            <a:endParaRPr lang="ar-SA" sz="11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تُعْطِيَ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تُعْطِي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أَعْطَتْ</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تُعْطِيَ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مِنَ الضَّرُورِيِّ أَنْ ___ المُتَخَصِّصُونَ المَوَاقِعَ التَّالِفَةَ.</a:t>
            </a:r>
            <a:endParaRPr lang="ar-SA" sz="11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يُرَمِّمُ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يُرَمِّمَ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الضَّرُورِيِّ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يُرَمِّمَ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نُرَمِّمُ المَوَاقِعَ لِكَيْ ___ شَاهِدَةً عَلَى الحَضَارَةِ.</a:t>
            </a:r>
            <a:endParaRPr lang="ar-SA" sz="13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تَظَلَّ</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تَظَلُّ</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ظَلَّتْ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تَظَلَّ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write a heritage argument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C77700"/>
                </a:solidFill>
                <a:latin typeface="Amiri" pitchFamily="34" charset="0"/>
                <a:ea typeface="Amiri" pitchFamily="34" charset="-122"/>
                <a:cs typeface="Amiri" pitchFamily="34" charset="-120"/>
              </a:rPr>
              <a:t>كَانَتِ</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الأَجْيَالُ </a:t>
            </a:r>
            <a:pPr rtl="1" algn="ctr" indent="0" marL="0">
              <a:buNone/>
            </a:pPr>
            <a:r>
              <a:rPr lang="ar-SA" altLang="en-US" sz="2300" b="1" dirty="0">
                <a:solidFill>
                  <a:srgbClr val="C77700"/>
                </a:solidFill>
                <a:latin typeface="Amiri" pitchFamily="34" charset="0"/>
                <a:ea typeface="Amiri" pitchFamily="34" charset="-122"/>
                <a:cs typeface="Amiri" pitchFamily="34" charset="-120"/>
              </a:rPr>
              <a:t>قَدْ بَنَتْ</a:t>
            </a:r>
            <a:pPr rtl="1" algn="ctr" indent="0" marL="0">
              <a:buNone/>
            </a:pPr>
            <a:r>
              <a:rPr lang="ar-SA" altLang="en-US" sz="2300" b="1" dirty="0">
                <a:solidFill>
                  <a:srgbClr val="1B3B6F"/>
                </a:solidFill>
                <a:latin typeface="Amiri" pitchFamily="34" charset="0"/>
                <a:ea typeface="Amiri" pitchFamily="34" charset="-122"/>
                <a:cs typeface="Amiri" pitchFamily="34" charset="-120"/>
              </a:rPr>
              <a:t> …</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Regret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7B3FA0"/>
                </a:solidFill>
                <a:latin typeface="Amiri" pitchFamily="34" charset="0"/>
                <a:ea typeface="Amiri" pitchFamily="34" charset="-122"/>
                <a:cs typeface="Amiri" pitchFamily="34" charset="-120"/>
              </a:rPr>
              <a:t>لَكَانَتْ</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Require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يَتَطَلَّبُ أَنْ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تُعْطِيَهُ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مِنَ الضَّرُورِيِّ أَنْ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يُرَمِّمَ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800" b="1" dirty="0">
                <a:solidFill>
                  <a:srgbClr val="D6336C"/>
                </a:solidFill>
                <a:latin typeface="Amiri" pitchFamily="34" charset="0"/>
                <a:ea typeface="Amiri" pitchFamily="34" charset="-122"/>
                <a:cs typeface="Amiri" pitchFamily="34" charset="-120"/>
              </a:rPr>
              <a:t>تَظَلَّ</a:t>
            </a:r>
            <a:pPr rtl="1" algn="ctr" indent="0" marL="0">
              <a:buNone/>
            </a:pPr>
            <a:r>
              <a:rPr lang="ar-SA" altLang="en-US" sz="2800" b="1" dirty="0">
                <a:solidFill>
                  <a:srgbClr val="1B3B6F"/>
                </a:solidFill>
                <a:latin typeface="Amiri" pitchFamily="34" charset="0"/>
                <a:ea typeface="Amiri" pitchFamily="34" charset="-122"/>
                <a:cs typeface="Amiri" pitchFamily="34" charset="-120"/>
              </a:rPr>
              <a:t> شَاهِدَةً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VOLITION</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NECESSITY</a:t>
            </a:r>
            <a:endParaRPr lang="en-US" sz="800" dirty="0"/>
          </a:p>
        </p:txBody>
      </p:sp>
      <p:sp>
        <p:nvSpPr>
          <p:cNvPr id="53" name="Shape 49"/>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كَانَتِ الأَجْيَالُ السَّابِقَةُ قَدْ بَنَتْ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هٰذِهِ الرَّوَائِعَ لِتَشْهَدَ عَلَى إِبْدَاعِ الحَضَارَاتِ، وَأَشَارَ المُؤَرِّخُونَ إِلَى أَنَّ هٰذِهِ المَوَاقِعَ لَا تُعَوَّضُ.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كَانَتْ سِيَاسَاتُ الحِفَاظِ أَكْثَرَ صَرَامَةً،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مَوَاقِعُ كَثِيرَةٌ فِي حَالَةٍ أَفْضَلَ. لِذٰلِكَ يَتَطَلَّبُ الحِفَاظُ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تُعْطِيَهُ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الحُكُومَاتُ أَوْلَوِيَّةً، وَمِنَ الضَّرُورِيِّ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يُرَمِّمَ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المُتَخَصِّصُونَ المَوَاقِعَ لِكَيْ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تَظَلَّ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شَاهِدَةً.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Earlier generations had built these masterpieces to bear witness to the creativity of civilisations, and historians have pointed out that these sites are irreplaceable. Had conservation policies been stricter, many sites would be in better condition. So conservation requires governments to give it priority, and it is essential that specialists restore the sites so that they remain witnesses.</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كَانَتِ الأَجْيَالُ السَّابِقَةُ قَدْ بَنَتْ هٰذِهِ الرَّوَائِعَ المِعْمَارِيَّةَ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earlier generations had built these architectural masterpieces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Intergenerational past perfect.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الضَّرُورِيِّ أَنْ يُرَمِّمَ المُتَخَصِّصُونَ المَوَاقِعَ التَّالِفَةَ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essential that specialists restore the damaged sites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min al-ḍarūrī an + a verb in -a (yurammima).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أُولِيَ التُّرَاثُ اهْتِمَامًا كَافِيًا، لَكَانَتْ حَالَتُهُ أَفْضَلَ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heritage been given enough attention, its condition would be better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regret over neglect.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HERITAGE CONSERVATION — PROTECTING THE BUILT AND NATURAL PAST”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Protecting heritage: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اِحْمِ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protect buildings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destruction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documentation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أَلَّا يُدَمَّرَ المَوْقِعُ التَّارِيخِيُّ.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التَّوْثِيقُ يُسَاعِدُ عَلَى حِفْظِ التُّرَاثِ.</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حِمَايَةُ المَبَانِي التَّارِيخِيَّةِ.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اِحْمِ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protect buildings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حِمَايَةُ المَبَانِي التَّارِيخِيَّةِ.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Historic buildings must be protected.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destruction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يَنْبَغِي أَلَّا يُدَمَّرَ المَوْقِعُ التَّارِيخِيُّ.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historic site should not be destroyed.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documentation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التَّوْثِيقُ يُسَاعِدُ عَلَى حِفْظِ التُّرَاثِ.</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Documentation helps preserve heritage.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HERITAGE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Past perfect + requirement + regret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حُجَّةً عَنِ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30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What they had done</a:t>
            </a:r>
            <a:endParaRPr lang="en-US" sz="1100" dirty="0"/>
          </a:p>
        </p:txBody>
      </p:sp>
      <p:sp>
        <p:nvSpPr>
          <p:cNvPr id="17" name="Text 14"/>
          <p:cNvSpPr txBox="1"/>
          <p:nvPr/>
        </p:nvSpPr>
        <p:spPr>
          <a:xfrm>
            <a:off x="439826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What it requires</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Regret / proposal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348472" y="2267712"/>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كَانَتِ الأَجْيَالُ السَّابِقَةُ قَدْ بَنَتْ هٰذِهِ الرَّوَائِعَ</a:t>
            </a:r>
            <a:endParaRPr lang="ar-SA" sz="1600" dirty="0"/>
          </a:p>
        </p:txBody>
      </p:sp>
      <p:sp>
        <p:nvSpPr>
          <p:cNvPr id="21" name="Text 18"/>
          <p:cNvSpPr txBox="1"/>
          <p:nvPr/>
        </p:nvSpPr>
        <p:spPr>
          <a:xfrm>
            <a:off x="4416552"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وَيَتَطَلَّبُ الحِفَاظُ أَنْ تُعْطِيَهُ الحُكُومَاتُ أَوْلَوِيَّةً قُصْوَى</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وَلَوْ كَانَتْ سِيَاسَاتُ الحِفَاظِ أَصْرَمَ، لَكَانَتِ المَوَاقِعُ أَفْضَلَ حَالًا</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348472" y="3054096"/>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 قَدْ تَمَّ تَوْثِيقُ كَثِيرٍ مِنْهَا قَبْلَ الخَطَرِ</a:t>
            </a:r>
            <a:endParaRPr lang="ar-SA" sz="1600" dirty="0"/>
          </a:p>
        </p:txBody>
      </p:sp>
      <p:sp>
        <p:nvSpPr>
          <p:cNvPr id="27" name="Text 24"/>
          <p:cNvSpPr txBox="1"/>
          <p:nvPr/>
        </p:nvSpPr>
        <p:spPr>
          <a:xfrm>
            <a:off x="4416552" y="3054096"/>
            <a:ext cx="374904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وَمِنَ الضَّرُورِيِّ أَنْ يُرَمِّمَ المُتَخَصِّصُونَ المَوَاقِعَ لِكَيْ تَظَلَّ شَاهِدَةً</a:t>
            </a:r>
            <a:endParaRPr lang="ar-SA" sz="145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وَلَوْ أُولِيَ التُّرَاثُ اهْتِمَامًا كَافِيًا، لَمَا انْدَثَرَ الكَثِيرُ</a:t>
            </a:r>
            <a:endParaRPr lang="ar-SA" sz="15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348472" y="3840480"/>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كَانَتِ الحَضَارَاتُ قَدْ أَبْدَعَتْ فِي العِمَارَةِ وَالعِلْمِ</a:t>
            </a:r>
            <a:endParaRPr lang="ar-SA" sz="1600" dirty="0"/>
          </a:p>
        </p:txBody>
      </p:sp>
      <p:sp>
        <p:nvSpPr>
          <p:cNvPr id="31" name="Text 28"/>
          <p:cNvSpPr txBox="1"/>
          <p:nvPr/>
        </p:nvSpPr>
        <p:spPr>
          <a:xfrm>
            <a:off x="4416552"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وَيَنْبَغِي أَنْ يُشَارِكَ المُجْتَمَعُ فِي صَوْنِ تُرَاثِهِ</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اعْتَمَدْنَا سِيَاسَاتِ حِمَايَةٍ صَارِمَةً سَنَضْمَنُ بَقَاءَهُ</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name the trigger in column 2 and circle the verb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Past perfect, trigger — or regret?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الأَجْيَالُ قَدْ بَنَتِ المَعَالِمَ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قَدْ تَمَّ تَوْثِيقُ المَوَاقِعِ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كَانُوا قَدْ صَمَّمُوهَا بِعِنَايَةٍ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يَتَطَلَّبُ الحِفَاظُ أَنْ تُعْطِيَهُ أَوْلَوِيَّةً</a:t>
            </a:r>
            <a:endParaRPr lang="ar-SA" sz="17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مِنَ الضَّرُورِيِّ أَنْ يُرَمِّمَ المُتَخَصِّصُونَ</a:t>
            </a:r>
            <a:endParaRPr lang="ar-SA" sz="17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تَظَلَّ شَاهِدَةً عَلَى الحَضَارَةِ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لَوْ أُولِيَ التُّرَاثُ اهْتِمَامًا، لَكَانَ أَفْضَلَ</a:t>
            </a:r>
            <a:endParaRPr lang="ar-SA" sz="15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لَوْ تَدَخَّلَتِ الجِهَاتُ مُبَكِّرًا، لَقَلَّ الضَّرَرُ</a:t>
            </a:r>
            <a:endParaRPr lang="ar-SA" sz="15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صِينَتِ الآثَارُ، لَمَا انْدَثَرَتْ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perfect (kāna qad)</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subjunctive trigger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Type 2 regret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perfect (kāna qad)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الأَجْيَالُ قَدْ بَنَتِ المَعَالِمَ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قَدْ تَمَّ تَوْثِيقُ المَوَاقِعِ</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كَانُوا قَدْ صَمَّمُوهَا بِعِنَايَةٍ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subjunctive trigger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الحِفَاظُ أَنْ تُعْطِيَهُ أَوْلَوِيَّةً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الضَّرُورِيِّ أَنْ يُرَمِّمَ المُتَخَصِّصُونَ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تَظَلَّ شَاهِدَةً عَلَى الحَضَارَةِ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Type 2 regret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أُولِيَ التُّرَاثُ اهْتِمَامًا، لَكَانَ أَفْضَلَ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تَدَخَّلَتِ الجِهَاتُ مُبَكِّرًا، لَقَلَّ الضَّرَرُ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صِينَتِ الآثَارُ، لَمَا انْدَثَرَتْ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regret?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اهْتَمَمْنَا بِالتُّرَاثِ، سَتَتَحَسَّنُ حَالَتُهُ.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نَهْتَمُّ بِالتُّرَاثِ.</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أُولِيَ التُّرَاثُ اهْتِمَامًا كَافِيًا، لَكَانَتْ حَالَتُهُ أَفْضَلَ.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يَصُونُ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تَصُونُ السِّيَاسَاتُ الحَكِيمَةُ بِالهُوِيَّةِ.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تَصُونُ السِّيَاسَاتُ الحَكِيمَةُ الهُوِيَّةَ.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تَصُونُ السِّيَاسَاتُ عَلَى الهُوِيَّةِ.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“documents”?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يُرَمِّمُ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يُوَثِّقُ</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a past perfect and a purpose clause?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التُّرَاثُ جَمِيلٌ.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الآثَارَ.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الأَجْدَادُ قَدْ بَنَوْهَا لِكَيْ يَنْعَمَ بِهَا الأَحْفَادُ.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regret?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اهْتَمَمْنَا بِالتُّرَاثِ، سَتَتَحَسَّنُ حَالَتُهُ.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نَهْتَمُّ بِالتُّرَاثِ.</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أُولِيَ التُّرَاثُ اهْتِمَامًا كَافِيًا، لَكَانَتْ حَالَتُهُ أَفْضَلَ.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 regret.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يَصُونُ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تَصُونُ السِّيَاسَاتُ الحَكِيمَةُ بِالهُوِيَّةِ.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تَصُونُ السِّيَاسَاتُ الحَكِيمَةُ الهُوِيَّةَ.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تَصُونُ السِّيَاسَاتُ عَلَى الهُوِيَّةِ.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يَصُونُ</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“documents”?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يُرَمِّمُ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يُوَثِّقُ</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يَصُونُ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يُوَثِّقُ</a:t>
            </a:r>
            <a:pPr algn="l" indent="0" marL="0">
              <a:buNone/>
            </a:pPr>
            <a:r>
              <a:rPr lang="en-US" sz="1050" i="1" dirty="0">
                <a:solidFill>
                  <a:srgbClr val="8A6D1E"/>
                </a:solidFill>
                <a:latin typeface="Calibri" pitchFamily="34" charset="0"/>
                <a:ea typeface="Calibri" pitchFamily="34" charset="-122"/>
                <a:cs typeface="Calibri" pitchFamily="34" charset="-120"/>
              </a:rPr>
              <a:t> means documents.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a past perfect and a purpose clause?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التُّرَاثُ جَمِيلٌ.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الآثَارَ.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الأَجْدَادُ قَدْ بَنَوْهَا لِكَيْ يَنْعَمَ بِهَا الأَحْفَادُ.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t>
            </a:r>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 with a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purpose clause.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بَنَتِ الأَجْيَالُ السَّابِقَةُ هٰذِهِ المَعَالِمَ قَبْلَ قُرُونٍ.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banat (simple past)?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مِنَ الضَّرُورِيِّ أَنْ يُرَمِّمُ المُتَخَصِّصُونَ المَوَاقِعَ.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yurammimu?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تَصُونُ السِّيَاسَاتُ بِالهُوِيَّةِ.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taṣūnu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بَنَتِ الأَجْيَالُ السَّابِقَةُ هٰذِهِ المَعَالِمَ قَبْلَ قُرُونٍ.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34" charset="0"/>
                <a:ea typeface="Amiri" pitchFamily="34" charset="-122"/>
                <a:cs typeface="Amiri" pitchFamily="34" charset="-120"/>
              </a:rPr>
              <a:t>كَانَتِ الأَجْيَالُ السَّابِقَةُ قَدْ بَنَتْ هٰذِهِ المَعَالِمَ.</a:t>
            </a:r>
            <a:endParaRPr lang="ar-SA" sz="22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 action completed before the present argument takes the past perfect.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مِنَ الضَّرُورِيِّ أَنْ يُرَمِّمُ المُتَخَصِّصُونَ المَوَاقِعَ.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مِنَ الضَّرُورِيِّ أَنْ يُرَمِّمَ المُتَخَصِّصُونَ المَوَاقِعَ.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مِنَ الضَّرُورِيِّ أَنْ</a:t>
            </a:r>
            <a:pPr algn="l" indent="0" marL="0">
              <a:buNone/>
            </a:pPr>
            <a:r>
              <a:rPr lang="en-US" sz="1150" b="1" dirty="0">
                <a:solidFill>
                  <a:srgbClr val="1B3B6F"/>
                </a:solidFill>
                <a:latin typeface="Calibri" pitchFamily="34" charset="0"/>
                <a:ea typeface="Calibri" pitchFamily="34" charset="-122"/>
                <a:cs typeface="Calibri" pitchFamily="34" charset="-120"/>
              </a:rPr>
              <a:t> takes a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يُرَمِّمَ</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تَصُونُ السِّيَاسَاتُ بِالهُوِيَّةِ.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تَصُونُ السِّيَاسَاتُ الهُوِيَّةَ.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يَصُونُ</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Listening: a case for conservation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architectural and natural heritage called?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basic pillar of cultural identity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luxury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obstacle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earlier generations done?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Destroyed them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Ignored them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Built these masterpieces to witness the creativity of civilisations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Intervention makes no difference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Damage was unavoidable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 world intervened early, war damage would be less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conservation require (volition)?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governments give it top priority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governments ignore it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specialists restore damaged sites (purpose)?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sell them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they remain witnesses to the greatness of the civilisation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reason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kānat … qad banat · yataṭallabu an · li-kay.</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يُعَدُّ التُّرَاثُ المِعْمَارِيُّ وَالطَّبِيعِيُّ رَكِيزَةً أَسَاسِيَّةً لِلْهُوِيَّةِ الثَّقَافِيَّةِ. تَضُمُّ المِنْطَقَةُ العَرَبِيَّةُ أَكْثَرَ مِنْ ثَمَانِينَ مَوْقِعًا مُدْرَجًا عَلَى قَائِمَةِ التُّرَاثِ العَالَمِيِّ.</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Architectural and natural heritage is considered a basic pillar of cultural identity. The Arab region has more than eighty sites on the World Heritage List.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كَانَتِ الأَجْيَالُ السَّابِقَةُ قَدْ بَنَتْ هٰذِهِ الرَّوَائِعَ لِتَشْهَدَ عَلَى إِبْدَاعِ الحَضَارَاتِ، وَكَانَ قَدْ تَمَّ تَوْثِيقُ كَثِيرٍ مِنْهَا قَبْلَ أَنْ تَتَعَرَّضَ لِلْخَطَرِ.</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Earlier generations had built these masterpieces to bear witness to the creativity of civilisations, and many had been documented before they were put at risk.</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لَوْ كَانَتِ الجِهَاتُ الدَّوْلِيَّةُ قَدْ تَدَخَّلَتْ مُبَكِّرًا لِحِمَايَةِ آثَارِ سُورِيَا وَلِيبِيَا، لَكَانَتْ أَضْرَارُ الصِّرَاعَاتِ أَقَلَّ.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international bodies intervened early to protect the antiquities of Syria and Libya, the damage from the conflicts would have been less.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يَتَطَلَّبُ الحِفَاظُ عَلَى هٰذَا التُّرَاثِ أَنْ تُعْطِيَهُ الحُكُومَاتُ أَوْلَوِيَّةً قُصْوَى.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Preserving this heritage requires governments to give it top priority.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وَمِنَ الضَّرُورِيِّ أَنْ يُرَمِّمَ المُتَخَصِّصُونَ المَوَاقِعَ التَّالِفَةَ لِكَيْ تَظَلَّ شَاهِدَةً عَلَى عَظَمَةِ الحَضَارَةِ.</a:t>
            </a:r>
            <a:endParaRPr lang="ar-SA" sz="17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it is essential that specialists restore the damaged sites so that they remain witnesses to the greatness of the civilisation.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architectural and natural heritage called?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basic pillar of cultural identity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luxury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obstacle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رَكِيزَةً أَسَاسِيَّةً لِلْهُوِيَّةِ الثَّقَافِيَّةِ.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earlier generations done?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Destroyed them</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Ignored them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Built these masterpieces to witness the creativity of civilisations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كَانَتِ الأَجْيَالُ السَّابِقَةُ قَدْ بَنَتْ هٰذِهِ الرَّوَائِعَ.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Intervention makes no difference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Damage was unavoidable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the world intervened early, war damage would be less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لَوْ كَانَتِ الجِهَاتُ الدَّوْلِيَّةُ قَدْ تَدَخَّلَتْ مُبَكِّرًا … لَكَانَتْ أَضْرَارُ الصِّرَاعَاتِ أَقَلَّ.</a:t>
            </a:r>
            <a:endParaRPr lang="ar-SA" sz="10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conservation require (volition)?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governments give it top priority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governments ignore it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الحِفَاظُ … أَنْ تُعْطِيَهُ الحُكُومَاتُ أَوْلَوِيَّةً قُصْوَى.</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specialists restore damaged sites (purpose)?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sell them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 that they remain witnesses to the greatness of the civilisation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reason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تَظَلَّ شَاهِدَةً عَلَى عَظَمَةِ الحَضَارَةِ.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kānat … qad banat · yataṭallabu an · li-kay.</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make the heritage case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كَانَتِ الأَجْيَالُ السَّابِقَةُ قَدْ بَنَتْ؟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يَتَطَلَّبُ الحِفَاظُ عَلَى التُّرَاثِ؟ اسْتَعْمِلْ «يَتَطَلَّبُ أَنْ» وَ«لِكَيْ».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أُهْمِلَ التُّرَاثُ، مَاذَا كَانَ سَيَحْدُثُ؟</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كَانَتِ الأَجْيَالُ السَّابِقَةُ قَدْ بَنَتْ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يَتَطَلَّبُ الحِفَاظُ أَنْ ___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أُهْمِلَ التُّرَاثُ، لَانْدَثَرَ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كَانَتِ الأَجْيَالُ قَدْ بَنَتْ؟</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had earlier generations built?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كَانَتِ الأَجْيَالُ السَّابِقَةُ قَدْ بَنَتْ رَوَائِعَ مِعْمَارِيَّةً لِتَشْهَدَ عَلَى إِبْدَاعِهَا.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Earlier generations had built architectural masterpieces to bear witness to their creativity.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heritage sentences using yurammimu, yaṣūnu, yuwaththiqu.</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heritage sentences with yurammimu, yaṣūnu, yuwaththiqu.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past-perfect intergenerational sentence and a necessity subjunctive.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past-perfect sentence about earlier generations and a necessity subjunctive.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argument with all three triggers, both conditionals and a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full argument with the past perfect, all three triggers, both conditionals and a cited historian.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يَتَطَلَّبُ الحِفَاظُ أَنْ تُعْطِيَهُ الحُكُومَاتُ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Conservation requires that governments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مِنَ الضَّرُورِيِّ أَنْ يُرَمِّمَ المُتَخَصِّصُونَ ______ لِكَيْ ______ .</a:t>
            </a:r>
            <a:endParaRPr lang="ar-SA" sz="13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essential that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لَوْ كَانَتِ السِّيَاسَاتُ أَكْثَرَ صَرَامَةً، لَكَانَتْ ______ .</a:t>
            </a:r>
            <a:endParaRPr lang="ar-SA" sz="15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policies been stricter,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 المُؤَرِّخُونَ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Historians pointed out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يُرَمِّمُ المُتَخَصِّصُونَ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Specialists restore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تَصُونُ السِّيَاسَاتُ الحَكِيمَةُ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Wise policies preserve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يُوَثِّقُ المُؤَرِّخُونَ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Historians document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الأَجْيَالُ السَّابِقَةُ قَدْ بَنَتْ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Earlier generations had built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المَوَاقِعَ التَّالِفَةَ  ·  الهُوِيَّةَ  ·  المَعَالِمَ التَّارِيخِيَّةَ  ·  هٰذِهِ الرَّوَائِعَ  ·  أَوْلَوِيَّةً قُصْوَى  ·  تَظَلَّ شَاهِدَةً  ·  مَوَاقِعُ كَثِيرَةٌ فِي حَالَةٍ أَفْضَلَ  ·  هٰذِهِ المَوَاقِعَ لَا تُعَوَّضُ  ·  الذَّاكِرَةَ الجَمَاعِيَّةَ  ·  التُّرَاثَ غَيْرَ المَادِّيِّ  ·  لِلْأَجْيَالِ القَادِمَةِ  ·  سِيَاسَاتِ حِمَايَةٍ صَارِمَةً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and ten to one hundred and twenty words arguing for heritage conservation. Use the past perfect for what earlier generations had built, all three subjunctive triggers, both conditional types and a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intergenerational sentence (kāna qad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three subjunctive triggers, each with a subjunctive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2 regret and a Type 1 real proposal.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reported-speech clause citing historians.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رَكِيزَةً أَسَاسِيَّةً لِلْهُوِيَّةِ الثَّقَافِيَّةِ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basic pillar of cultural identity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لِتَشْهَدَ عَلَى إِبْدَاعِ الحَضَارَاتِ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bear witness to the creativity of civilisations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يَتَعَرَّضَ لِلْخَطَرِ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before it was put at risk</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تُعَوَّضُ</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cannot be replaced</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سَنَضْمَنُ بَقَاءَ هٰذَا الإِرْثِ</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will guarantee the survival of this legacy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50" dirty="0">
                <a:solidFill>
                  <a:srgbClr val="1F2A37"/>
                </a:solidFill>
                <a:latin typeface="Amiri" pitchFamily="34" charset="0"/>
                <a:ea typeface="Amiri" pitchFamily="34" charset="-122"/>
                <a:cs typeface="Amiri" pitchFamily="34" charset="-120"/>
              </a:rPr>
              <a:t>يُعَدُّ التُّرَاثُ المِعْمَارِيُّ وَالطَّبِيعِيُّ رَكِيزَةً أَسَاسِيَّةً لِلْهُوِيَّةِ الثَّقَافِيَّةِ لِأَيِّ مُجْتَمَعٍ. كَانَتِ الأَجْيَالُ السَّابِقَةُ قَدْ بَنَتْ هٰذِهِ الرَّوَائِعَ لِتَشْهَدَ عَلَى إِبْدَاعِ الحَضَارَاتِ العَرَبِيَّةِ وَالإِسْلَامِيَّةِ، وَكَانَ قَدْ تَمَّ تَوْثِيقُ كَثِيرٍ مِنْهَا قَبْلَ أَنْ يَتَعَرَّضَ لِلْخَطَرِ. وَأَشَارَ المُؤَرِّخُونَ إِلَى أَنَّ هٰذِهِ المَوَاقِعَ لَا تُعَوَّضُ. لَوْ كَانَتْ سِيَاسَاتُ الحِفَاظِ أَكْثَرَ صَرَامَةً، لَكَانَتْ مَوَاقِعُ كَثِيرَةٌ اليَوْمَ فِي حَالَةٍ أَفْضَلَ. يَتَطَلَّبُ الحِفَاظُ عَلَى هٰذَا التُّرَاثِ أَنْ تُعْطِيَهُ الحُكُومَاتُ أَوْلَوِيَّةً قُصْوَى. وَمِنَ الضَّرُورِيِّ أَنْ يُرَمِّمَ المُتَخَصِّصُونَ المَوَاقِعَ التَّالِفَةَ لِكَيْ تَظَلَّ شَاهِدَةً عَلَى عَظَمَةِ الحَضَارَةِ. وَإِذَا اعْتَمَدْنَا سِيَاسَاتِ حِمَايَةٍ صَارِمَةً، سَنَضْمَنُ بَقَاءَ هٰذَا الإِرْثِ لِلْأَجْيَالِ القَادِمَةِ.</a:t>
            </a:r>
            <a:endParaRPr lang="ar-SA" sz="21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Architectural and natural heritage is considered a basic pillar of the cultural identity of any society. Earlier generations had built these masterpieces to bear witness to the creativity of Arab and Islamic civilisations, and many had been documented before they were put at risk. Historians have pointed out that these sites are irreplaceable. Had conservation policies been stricter, many sites would be in better condition today. Preserving this heritage requires governments to give it top priority, and it is essential that specialists restore the damaged sites so that they remain witnesses to the greatness of the civilisation. If we adopt strict protection policies, we will guarantee that this legacy survives for future generations.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kānat … qad banat (past perfect)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yataṭallabu an · li-kay (triggers)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 ·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ashāra ilā anna (historians)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What earlier generations had done takes kāna / kānat qad +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yurammimu, yaṣūnu, yuwaththiqu take a direct object (no bi-).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every trigger (an, li-kay, li-), my verb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regret uses law … la- (or la-mā); my proposal uses idhā …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cited historians (ashāra ilā anna) and ended on a proposal.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قَدْ بَنَتْ هٰذِهِ المَعَالِمَ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الضَّرُورِيِّ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المُتَخَصِّصُونَ المَوَاقِعَ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يُرَمِّمُ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يُرَمِّمَ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purpose clause: </a:t>
            </a:r>
            <a:pPr algn="l" indent="0" marL="0">
              <a:buNone/>
            </a:pPr>
            <a:r>
              <a:rPr lang="ar-SA" altLang="en-US" sz="1650" b="1" dirty="0">
                <a:solidFill>
                  <a:srgbClr val="1B3B6F"/>
                </a:solidFill>
                <a:latin typeface="Amiri" pitchFamily="34" charset="0"/>
                <a:ea typeface="Amiri" pitchFamily="34" charset="-122"/>
                <a:cs typeface="Amiri" pitchFamily="34" charset="-120"/>
              </a:rPr>
              <a:t>نُرَمِّمُ المَوَاقِعَ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شَاهِدَةً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تَظَلَّ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تَظَلُّ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ظَلَّتْ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قَدْ بَنَتْ هٰذِهِ المَعَالِمَ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كَانَتِ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 قَدْ</a:t>
            </a:r>
            <a:pPr algn="l" indent="0" marL="0">
              <a:buNone/>
            </a:pPr>
            <a:r>
              <a:rPr lang="en-US" sz="1050" i="1" dirty="0">
                <a:solidFill>
                  <a:srgbClr val="8A6D1E"/>
                </a:solidFill>
                <a:latin typeface="Calibri" pitchFamily="34" charset="0"/>
                <a:ea typeface="Calibri" pitchFamily="34" charset="-122"/>
                <a:cs typeface="Calibri" pitchFamily="34" charset="-120"/>
              </a:rPr>
              <a:t> + past is the past perfect.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الضَّرُورِيِّ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المُتَخَصِّصُونَ المَوَاقِعَ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يُرَمِّمُ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يُرَمِّمَ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رَمَّمَ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الضَّرُورِيِّ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يُرَمِّمَ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purpose clause: </a:t>
            </a:r>
            <a:pPr algn="l" indent="0" marL="0">
              <a:buNone/>
            </a:pPr>
            <a:r>
              <a:rPr lang="ar-SA" altLang="en-US" sz="1650" b="1" dirty="0">
                <a:solidFill>
                  <a:srgbClr val="1B3B6F"/>
                </a:solidFill>
                <a:latin typeface="Amiri" pitchFamily="34" charset="0"/>
                <a:ea typeface="Amiri" pitchFamily="34" charset="-122"/>
                <a:cs typeface="Amiri" pitchFamily="34" charset="-120"/>
              </a:rPr>
              <a:t>نُرَمِّمُ المَوَاقِعَ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شَاهِدَةً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تَظَلَّ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تَظَلُّ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ظَلَّتْ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تَظَلَّ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duty to the past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يَحْمِلُ كُلُّ جِيلٍ أَمَانَةً تِجَاهَ تُرَاثِهِ. فَقَدْ كَانَتِ الحَضَارَاتُ العَرَبِيَّةُ وَالإِسْلَامِيَّةُ قَدْ أَبْدَعَتْ فِي العِمَارَةِ وَالعِلْمِ، وَتَرَكَتْ مَعَالِمَ تَشْهَدُ عَلَى عَظَمَتِهَا. غَيْرَ أَنَّ كَثِيرًا مِنْ هٰذِهِ المَعَالِمِ يَتَنَاقَصُ بِفِعْلِ الإِهْمَالِ وَالصِّرَاعَاتِ. يَتَطَلَّبُ الوَضْعُ أَنْ تَتَعَاوَنَ الدُّوَلُ، وَمِنَ الضَّرُورِيِّ أَنْ تُخَصِّصَ مِيزَانِيَّاتٍ لِلتَّرْمِيمِ. لِكَيْ يَبْقَى التُّرَاثُ حَيًّا، يَنْبَغِي أَنْ يُشَارِكَ المُجْتَمَعُ فِي صَوْنِهِ. لَوْ كَانَتْ سِيَاسَاتُ الحِفَاظِ أَكْثَرَ صَرَامَةً، لَكَانَتْ مَوَاقِعُ كَثِيرَةٌ اليَوْمَ فِي حَالَةٍ أَفْضَلَ. وَإِذَا اعْتَمَدْنَا سِيَاسَاتِ حِمَايَةٍ صَارِمَةً، سَنَضْمَنُ بَقَاءَ هٰذَا الإِرْثِ لِلْأَجْيَالِ.</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رَكِيزَةً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pillar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مُدْرَجًا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listed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الرَّوَائِعَ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masterpieces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الجِهَاتُ الدَّوْلِيَّةُ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international bodies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الصِّرَاعَاتِ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conflicts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التَّالِفَةَ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damaged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أَمَانَةً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trust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الإِهْمَالِ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neglect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صَرَامَةً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strictness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الإِرْثِ</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legacy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each generation carry toward its heritage?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burden to discard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trust / duty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Arab and Islamic civilisations done?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Destroyed their landmarks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Built 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Created in architecture and science, leaving witnessing landmarks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situation require (volition + necessity)?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Cooperation and dedicated restoration budgets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Selling the sites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Policies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policies been stricter, many sites would be in better shape today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Decline was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strict protection policies guarantee (Type 1)?</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survival of this heritage for future generations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loss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each generation carry toward its heritage?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burden to discard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trust / duty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يَحْمِلُ كُلُّ جِيلٍ أَمَانَةً تِجَاهَ تُرَاثِهِ.</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Arab and Islamic civilisations done?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Destroyed their landmarks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Built 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Created in architecture and science, leaving witnessing landmarks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كَانَتِ الحَضَارَاتُ … قَدْ أَبْدَعَتْ فِي العِمَارَةِ وَالعِلْمِ، وَتَرَكَتْ مَعَالِمَ.</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situation require (volition + necessity)?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Cooperation and dedicated restoration budgets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Selling the sites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يَتَطَلَّبُ الوَضْعُ أَنْ تَتَعَاوَنَ الدُّوَلُ، وَمِنَ الضَّرُورِيِّ أَنْ تُخَصِّصَ مِيزَانِيَّاتٍ لِلتَّرْمِيمِ.</a:t>
            </a:r>
            <a:endParaRPr lang="ar-SA" sz="10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Policies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policies been stricter, many sites would be in better shape today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Decline was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34" charset="0"/>
                <a:ea typeface="Amiri" pitchFamily="34" charset="-122"/>
                <a:cs typeface="Amiri" pitchFamily="34" charset="-120"/>
              </a:rPr>
              <a:t>لَوْ كَانَتْ سِيَاسَاتُ الحِفَاظِ أَكْثَرَ صَرَامَةً، لَكَانَتْ مَوَاقِعُ كَثِيرَةٌ … فِي حَالَةٍ أَفْضَلَ.</a:t>
            </a:r>
            <a:endParaRPr lang="ar-SA" sz="9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strict protection policies guarantee (Type 1)?</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survival of this heritage for future generations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Its loss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إِذَا اعْتَمَدْنَا سِيَاسَاتِ حِمَايَةٍ صَارِمَةً، سَنَضْمَنُ بَقَاءَ هٰذَا الإِرْثِ.</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Heritage Mission — Past Perfect and Three Triggers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قَدْ بَنَتِ المَعَالِمَ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Volition: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الحِفَاظُ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أَوْلَوِيَّةً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تُعْطِيَ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تُعْطِي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Necessity: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مِنَ الضَّرُورِيِّ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المُتَخَصِّصُونَ المَوَاقِعَ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يُرَمِّمُ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يُرَمِّمَ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Purpose: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 حَيًّا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يَظَلُّ</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ظَلَّ</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يَظَلَّ</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يَتَطَلَّبُ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مِنَ الضَّرُورِيِّ أَنْ</a:t>
            </a:r>
            <a:pPr algn="l" indent="0" marL="0">
              <a:buNone/>
            </a:pPr>
            <a:r>
              <a:rPr lang="en-US" sz="1450" b="1" dirty="0">
                <a:solidFill>
                  <a:srgbClr val="1F2A37"/>
                </a:solidFill>
                <a:latin typeface="Calibri" pitchFamily="34" charset="0"/>
                <a:ea typeface="Calibri" pitchFamily="34" charset="-122"/>
                <a:cs typeface="Calibri" pitchFamily="34" charset="-120"/>
              </a:rPr>
              <a:t> is …</a:t>
            </a:r>
            <a:endParaRPr lang="en-US" sz="14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قَدْ بَنَتِ المَعَالِمَ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 قَدْ</a:t>
            </a:r>
            <a:pPr algn="l" indent="0" marL="0">
              <a:buNone/>
            </a:pPr>
            <a:r>
              <a:rPr lang="en-US" sz="1050" i="1" dirty="0">
                <a:solidFill>
                  <a:srgbClr val="8A6D1E"/>
                </a:solidFill>
                <a:latin typeface="Calibri" pitchFamily="34" charset="0"/>
                <a:ea typeface="Calibri" pitchFamily="34" charset="-122"/>
                <a:cs typeface="Calibri" pitchFamily="34" charset="-120"/>
              </a:rPr>
              <a:t> + past is the past perfect.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Volition: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الحِفَاظُ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أَوْلَوِيَّةً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تُعْطِيَ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تُعْطِي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Necessity: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مِنَ الضَّرُورِيِّ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المُتَخَصِّصُونَ المَوَاقِعَ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يُرَمِّمُ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يُرَمِّمَ</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الضَّرُورِيِّ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Purpose: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 حَيًّا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يَظَلُّ</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ظَلَّ</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يَظَلَّ</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يَتَطَلَّبُ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volition</a:t>
            </a:r>
            <a:endParaRPr lang="en-US" sz="12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necessity</a:t>
            </a:r>
            <a:endParaRPr lang="en-US" sz="12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يَتَطَلَّبُ أَنْ</a:t>
            </a:r>
            <a:pPr algn="l" indent="0" marL="0">
              <a:buNone/>
            </a:pPr>
            <a:r>
              <a:rPr lang="en-US" sz="1050" i="1" dirty="0">
                <a:solidFill>
                  <a:srgbClr val="8A6D1E"/>
                </a:solidFill>
                <a:latin typeface="Calibri" pitchFamily="34" charset="0"/>
                <a:ea typeface="Calibri" pitchFamily="34" charset="-122"/>
                <a:cs typeface="Calibri" pitchFamily="34" charset="-120"/>
              </a:rPr>
              <a:t> is a volition trigger.</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مِنَ الضَّرُورِيِّ أَنْ</a:t>
            </a:r>
            <a:pPr algn="l" indent="0" marL="0">
              <a:buNone/>
            </a:pPr>
            <a:r>
              <a:rPr lang="en-US" sz="1450" b="1" dirty="0">
                <a:solidFill>
                  <a:srgbClr val="1F2A37"/>
                </a:solidFill>
                <a:latin typeface="Calibri" pitchFamily="34" charset="0"/>
                <a:ea typeface="Calibri" pitchFamily="34" charset="-122"/>
                <a:cs typeface="Calibri" pitchFamily="34" charset="-120"/>
              </a:rPr>
              <a:t> is …</a:t>
            </a:r>
            <a:endParaRPr lang="en-US" sz="14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necessity</a:t>
            </a:r>
            <a:endParaRPr lang="en-US" sz="12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volition</a:t>
            </a:r>
            <a:endParaRPr lang="en-US" sz="12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الضَّرُورِيِّ أَنْ</a:t>
            </a:r>
            <a:pPr algn="l" indent="0" marL="0">
              <a:buNone/>
            </a:pPr>
            <a:r>
              <a:rPr lang="en-US" sz="1050" i="1" dirty="0">
                <a:solidFill>
                  <a:srgbClr val="8A6D1E"/>
                </a:solidFill>
                <a:latin typeface="Calibri" pitchFamily="34" charset="0"/>
                <a:ea typeface="Calibri" pitchFamily="34" charset="-122"/>
                <a:cs typeface="Calibri" pitchFamily="34" charset="-120"/>
              </a:rPr>
              <a:t> is a necessity trigger.</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P4-L08 · Reading — Built and Natural World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نَصٌّ تَحْلِيلِيٌّ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analytical text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مَوْقِفُ الكَاتِبِ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writer’s stance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يَسْتَنْتِجُ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infers</a:t>
            </a:r>
            <a:pPr indent="0" marL="0">
              <a:buNone/>
            </a:pPr>
            <a:r>
              <a:rPr lang="en-US" sz="1000" i="1" dirty="0">
                <a:solidFill>
                  <a:srgbClr val="5A6472"/>
                </a:solidFill>
                <a:latin typeface="Calibri" pitchFamily="34" charset="0"/>
                <a:ea typeface="Calibri" pitchFamily="34" charset="-122"/>
                <a:cs typeface="Calibri" pitchFamily="34" charset="-120"/>
              </a:rPr>
              <a:t>  Form X</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مُحَفِّزُ النَّصْبِ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subjunctive trigger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التَّنْمِيَةُ المُسْتَدَامَةُ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sustainable development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Find one verb in -a in any Arabic text this week. What triggered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وَجَدْتُ فِعْلًا مَنْصُوبًا بَعْدَ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heritage sentences with yurammimu, yaṣūnu, yuwaththiqu.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past-perfect sentence (kānat … qad) and a necessity subjunctive —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110–120-word heritage argument.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ea typeface="Cambria" pitchFamily="34" charset="-122"/>
                <a:cs typeface="Cambria" pitchFamily="34" charset="-120"/>
              </a:rPr>
              <a:t>P4-L08 · Reading — Built and Natural World Texts</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 — نُصُوصُ العَالَمِ المَبْنِيِّ وَالطَّبِيعِيِّ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what our ancestors HAD built → kānat … qad + past; what protecting it REQUIRES → yataṭallabu an / min al-ḍarūrī an / li-kay + a verb in -a; the neglect we regret → law … la- (or la-mā).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P4-L07 · Heritage Conservation — Protecting the Built and Natural Past</dc:title>
  <dc:subject>PptxGenJS Presentation</dc:subject>
  <dc:creator>Al Madina Online School · Arabic Department</dc:creator>
  <cp:lastModifiedBy>Al Madina Online School · Arabic Department</cp:lastModifiedBy>
  <cp:revision>1</cp:revision>
  <dcterms:created xsi:type="dcterms:W3CDTF">2026-10-10T16:20:27Z</dcterms:created>
  <dcterms:modified xsi:type="dcterms:W3CDTF">2026-10-10T16:20:27Z</dcterms:modified>
</cp:coreProperties>
</file>