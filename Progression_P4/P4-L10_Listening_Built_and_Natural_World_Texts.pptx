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P4-L10. The website lesson “Listening — Built and Natural World Texts”: vocabulary, grammar rules and quiz, patterns, common mistakes, sorter, listening, reading, speaking prompts and model, writing task and model, differentiation, final check and the lesson mission. Picture match: website visual game “Listening — Built and Natural World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LISTENING-SKILLS LESSON (IGCSE Paper 1 style): the website listening is played as two short listens, each twice. The grammar slides are a listening toolkit built on the trigger system of P4-L01 to P4-L09.
• Core: annotate five questions with the trigger you will listen for (website Core). Develop: add whether each targets purpose, volition or necessity. Stretch: explain how telling a fear from a hope changed one answer.
• The key message of the website: in fast speech the final -a is often swallowed — so listen for the TRIGGER (li-kay · an), which is always clear. The P4 listening target on the website is 14+ out of 20.
• Teacher note: here the website files يَتَطَلَّبُ under necessity (P4-L03 / L08 called it volition). For listening it does not matter — “the situation requires” = something must happen.
• Grammar links: the trigger system (P4-L01–L09) · result markers by ear (P3-L10) · disaster passives (P4-L05) · past perfect (P4-L07).
• TEACHER-WRITTEN ITEMS: the website listening is split into two short listens with one teacher-added question (the share of renewable water); waṣl alif shown without a kasra; لِكَيْ always written with its sukūn; fixes أَرْكُزُ عَلَى → أُرَكِّزُ عَلَى and لَوْ اسْتَثْمَرْنَا → لَوِ اسْتَثْمَرْنَا; rule formulas, pattern tips, writing prompt and checklist in transliteration; rule examples without their English labels; sorter headings in transliteration; the trigger, result and strategy tables are teacher-built from the website listening and reading; no visual game.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P4-L09. Questions 4–5 retrieve writing the triggers (P4-L09) — today students hear them.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fast speech the final -a disappears — but the trigger never does. Hear the trigger and you know the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خوف، توقع and احتمال are shared — today we PREDICT (نَتَوَقَّعُ) the clause from its trigger. Note two words: Urdu سماعت is a court hearing (Arabic سَمَاعٌ / اسْتِمَاعٌ = listening); and in Arabic grammar حَرَكَةٌ is a short vowel mark (fatḥa, ḍamma, kasra) — the reading says: رَكِّزْ عَلَى المُسَبِّبِ لَا عَلَى الحَرَكَةِ.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triggers (website vocabulary (1 of 2)). Hear → Say → See → Use. Transliteration is printed for Core students (cover it for Develop/Stretch).
Listening for triggers: لِكَيْ has two clear syllables (li-kay) — easy to hear. أَنْ is short, so listen for the VERB before it: يَخْشَى (fear) · يَرْجُو (hope) · يَتَطَلَّبُ / يَنْبَغِي (requirement). الفَتْحَةُ المُخْتَزَلَةُ = the final -a that is swallowed in fast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triggers (website vocabulary (2 of 2)). Hear → Say → See → Use. Transliteration is printed for Core students (cover it for Develop/Stretch).
Listening for triggers: لِكَيْ has two clear syllables (li-kay) — easy to hear. أَنْ is short, so listen for the VERB before it: يَخْشَى (fear) · يَرْجُو (hope) · يَتَطَلَّبُ / يَنْبَغِي (requirement). الفَتْحَةُ المُخْتَزَلَةُ = the final -a that is swallowed in fast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Built/natural content heard (website vocabulary (1 of 2)). Hear → Say → See → Use. Transliteration is printed for Core students (cover it for Develop/Stretch).
Built and natural content you will hear: the P4 topic words. Listen for them as the SUBJECT of the clause after the trigger: أَنْ يَتَجَاوَزَ الاحْتِرَارُ … · أَنْ تُخَصِّصَ الحُكُومَاتُ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Built/natural content heard (website vocabulary (2 of 2)). Hear → Say → See → Use. Transliteration is printed for Core students (cover it for Develop/Stretch).
FLEX: teach if time allows; otherwise these are on the website vocabulary tab for homework.
Built and natural content you will hear: the P4 topic words. Listen for them as the SUBJECT of the clause after the trigger: أَنْ يَتَجَاوَزَ الاحْتِرَارُ … · أَنْ تُخَصِّصَ الحُكُومَاتُ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Grammar markers by ear (website vocabulary (1 of 2)). Hear → Say → See → Use. Transliteration is printed for Core students (cover it for Develop/Stretch).
FLEX: teach if time allows; otherwise these are on the website vocabulary tab for homework.
Grammar markers by ear: a checklist for the two listens — triggers, result markers (سَ / لَ), كَانَ قَدْ, the disaster passives and the statistic verbs يُمَثِّلُ (represents) / يَبْلُغُ (amounts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Grammar markers by ear (website vocabulary (2 of 2)). Hear → Say → See → Use. Transliteration is printed for Core students (cover it for Develop/Stretch).
FLEX: teach if time allows; otherwise these are on the website vocabulary tab for homework.
Grammar markers by ear: a checklist for the two listens — triggers, result markers (سَ / لَ), كَانَ قَدْ, the disaster passives and the statistic verbs يُمَثِّلُ (represents) / يَبْلُغُ (amounts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“Trigger predicts the clause”, teaching point 1 (“Hear the trigger, not the final vowel”), the website table and mistake 3. Rows 1–4 are from the website listening; row 5 from the live builder.
Practise by ear: read each example at natural speed and let students shout the job (purpose! necessity! fear! hope!) as soon as they hear the trigger — before the end of the sentence.
Website mistake 1: hearing يَنْبَغِي أَنْ and thinking “purpose” ✗ — purpose is only لِكَيْ (or 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“Fear vs hope”, teaching point 2 (“Fear and hope are both volition — but opposite attitudes”) and mistake 2.
Paper 1 attitude questions often hang on this one verb: “What does the expert fear?” vs “What does the expert hope?” — the CONTENT after أَنْ may sound similar.
Card 3 is a sound trick: يَخْشَى has the rough kh + sh (a worried sound!); يَرْجُو has the soft r + j. Both come from the speaker: نَخْشَى / نَرْجُو = WE fear /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“Conditional by result marker” and “Past perfect and passives”, the vocabulary group “Grammar markers by ear” and the website listening (rows 1–2, 5).
Row 2 has a past perfect inside the Type 2: كُنَّا قَدِ اسْتَثْمَرْنَا (qad takes a kasra before the waṣl alif).
Row 5: نِسْبَةً ضَئِيلَةً = a tiny share — a statistic question may ask “how much?” and the answer is not a number but an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website reading (“a listening strategy guide”) turned into a four-step routine. The full text and its questions are on the extension slides.
Distractor example from today’s listening: “What is the main cause of scarcity?” — the specific answer is قِلَّةُ الأَمْطَارِ وَسُوءُ الإِدَارَةِ, not a general “climate”.
Stretch: write the four steps as advice to a younger student with يَنْبَغِي أَنْ: يَنْبَغِي أَنْ تَقْرَأَ الأَسْئِلَةَ أَوَّلًا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listening toolkit: read the clause type from the trigger, tell fear from hope, and catch the conditional result marker and the past perfect.”
• Trigger predicts the clause: Each trigger tells you what meaning follows.
• Fear vs hope: Both are volition, but signal opposite attitudes.
• Conditional by result marker: Both particles take a past verb, so the result marker decides.
• Past perfect and passives: Catch the prior action and the disaster passives.
Website common error: Trying to catch the final fatḥa on the subjunctive verb. Since it is reduced in speech, listen for the trigger instead — it tells you the clause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Model it on the question paper: write the trigger you expect next to each question number (Q2 → yataṭallabu · Q3 → nakhshā · Q6 → li-kay · Q7 → narjū). Then play Part 1 and tick the triggers as you hear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listening report from a necessity trigger, a fear and a real conditional.” Website feedback: any three different combinations work.
Use after the two listens: students retell the expert’s talk in the third person (يَرَى الخَبِيرُ أَنَّهُ يَنْبَغِي … · يَخْشَى الخَبِيرُ أَنْ …) — reported speech from P3-L06.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read each card aloud at full speed and let a partner sort it by ear only (eyes closed) — they must catch the trigger, not the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read each card aloud at full speed and let a partner sort it by ear only (eyes closed) — they must catch the trigger, not the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Develop/Stretch: all four — and give the SPECIFIC answer (low rainfall and poor management), not a general one.
Listen 1: just listen. Listen 2: note answers. Then chat the letters.
Support: after the second listening, show the read-along slide (Arabic + English, line by line) for Core students.
SCRIPT (read aloud):
يَقُولُ الخَبِيرُ البِيئِيُّ: تُعَانِي المِنْطَقَةُ العَرَبِيَّةُ مِنْ نُدْرَةِ المِيَاهِ بِسَبَبِ قِلَّةِ الأَمْطَارِ وَسُوءِ الإِدَارَةِ. وَتُمَثِّلُ المِيَاهُ المُتَجَدِّدَةُ نِسْبَةً ضَئِيلَةً مِنْ حَاجَتِنَا. يَتَطَلَّبُ الوَضْعُ أَنْ تُخَصِّصَ الحُكُومَاتُ مِيزَانِيَّاتٍ أَكْبَرَ لِلتَّحْلِيَةِ. وَنَخْشَى أَنْ يَتَجَاوَزَ الاحْتِرَارُ العَالَمِيُّ حُدُودَهُ الآمِنَةَ.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Develop/Stretch: all four — and for question 2, say what did NOT happen (they did not invest early).
Listen 1: just listen. Listen 2: note answers. Then chat the letters.
Support: after the second listening, show the read-along slide (Arabic + English, line by line) for Core students.
SCRIPT (read aloud):
إِذَا اعْتَمَدْنَا عَلَى الطَّاقَةِ الشَّمْسِيَّةِ فِي التَّحْلِيَةِ، سَنُخَفِّضُ التَّكَالِيفَ. وَلَوْ كُنَّا قَدِ اسْتَثْمَرْنَا مُبَكِّرًا، لَتَجَنَّبْنَا هٰذِهِ الأَزْمَةَ. وَنَزْرَعُ مَحَاصِيلَ أَقَلَّ اسْتِهْلَاكًا لِلْمَاءِ لِكَيْ نُوَفِّرَ مَوَارِدَنَا. وَأَخِيرًا، نَرْجُو أَنْ تُوَقِّعَ الدُّوَلُ اتِّفَاقًا لِإِدَارَةِ الأَنْهَارِ المُشْتَرَكَةِ.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سَمِعْتَ خَوْفًا؟ (Fear vs hope)
B: نَعَمْ، «نَخْشَى أَنْ يَتَجَاوَزَ الاحْتِرَارُ حَدَّهُ» خَوْفٌ، وَ«نَرْجُو أَنْ تُوَقِّعَ الدُّوَلُ» أَمَلٌ. (Distinguishes fear from hope)
Website prompts and model. Pairs replay the expert’s talk from memory: A names a trigger, B gives the sentence it introduced. Swap. To a girl: سَمِعْتِ · عَرَفْتِ · مَيَّزْتِ.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Annotate five questions with the trigger (li-kay / yanbaghī / yakhshā …) you will listen for. · Develop — Add whether each targets a purpose, a volition or a necessity clause. · Stretch — Explain how telling a fear from a hope changed the meaning of one answer.
Website writing task (Stretch): Write eighty to ninety words explaining your listening strategy for built and natural world texts. Describe how you use the trigger to predict a purpose, volition or necessity clause, why you do not chase the final fatḥa, and how you tell idhā from law.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أُحَدِّدُ نَوْعَ المُسَبِّبِ · إِنْ كَانَ … أُصْغِي إِلَى «لِكَيْ» · «يَنْبَغِي» أَوْ «يَتَطَلَّبُ» · أُمَيِّزُ «يَخْشَى» … مِنْ «يَرْجُو» · لِأَنَّهَا تُخْتَزَلُ · أُرَكِّزُ عَلَى المُسَبِّبِ · عَلَامَةِ الجَوَابِ · أَرْفُضُ الإِجَابَةَ العَامَّةَ. (Fix: أُرَكِّزُ — the website prints أَرْكُزُ.)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(P4-L11 · Consolidation — Speaking Preparation and Full Subjunctive Mastery) will spend class time USING this language, so students prepare it tonight — short, simple, easy to access (school guidance: “Simple, Short, Interesting, Relevant, Easy to access”). The five words come from the website P4-L11 vocabulary (consolidation and speaking).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 Built and Natural World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الاسْتِمَاعُ — نُصُوصُ العَالَمِ المَبْنِيِّ وَالطَّبِيعِيِّ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like an examiner: hear the trigger, not the reduced final -a — li-kay (purpose), yakhshā / yarjū an (fear / hope), yanbaghī / yataṭallabu an (necessity) — let the result marker decide the conditional, and catch kāna qad, disaster passives and statistic verbs.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P4-L10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Trigger → clause type, fear vs hope, result marker → conditional type, past perfect / passives / statistics by ear, the strategy guide.</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Two short listens, build a listening report, sort purpose / volition / necessity.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P4-L11.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المُسَبِّبُ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silent letter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audible trigger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name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الفَتْحَةُ المُخْتَزَلَةُ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reduced fatḥa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long vowel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final ḍamma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الاحْتِرَارُ العَالَمِيُّ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world heritage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global trade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global warming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يَهْدِفُ المَشْرُوعُ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أَنْ يُقَلِّلَ الانْبِعَاثَاتِ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نَزْرَعُ الأَشْجَارَ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الهَوَاءَ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نُنَقِّيَ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نُنَقِّي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نَقَّيْنَا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المُسَبِّبُ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silent letter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audible trigger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name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الفَتْحَةُ المُخْتَزَلَةُ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reduced fatḥa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long vowel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final ḍamma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الاحْتِرَارُ العَالَمِيُّ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world heritage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global trade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global warming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يَهْدِفُ المَشْرُوعُ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أَنْ يُقَلِّلَ الانْبِعَاثَاتِ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P4-L09: yahdifu ILĀ 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نَزْرَعُ الأَشْجَارَ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الهَوَاءَ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نُنَقِّيَ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نُنَقِّي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نَقَّيْنَا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P4-L09: li-kay + -a (nunaqqiya).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In fast speech the final -a disappears — but the trigger never does. Hear the trigger and you know the clause.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cs typeface="Amiri" pitchFamily="2" charset="-78"/>
              </a:rPr>
              <a:t>لِكَيْ</a:t>
            </a:r>
            <a:pPr rtl="1" algn="ctr" indent="0" marL="0">
              <a:lnSpc>
                <a:spcPct val="120000"/>
              </a:lnSpc>
              <a:buNone/>
            </a:pPr>
            <a:r>
              <a:rPr lang="ar-SA" altLang="en-US" sz="1950" b="1" dirty="0">
                <a:solidFill>
                  <a:srgbClr val="1B3B6F"/>
                </a:solidFill>
                <a:latin typeface="Amiri" pitchFamily="2" charset="-78"/>
                <a:cs typeface="Amiri" pitchFamily="2" charset="-78"/>
              </a:rPr>
              <a:t> = غَرَضٌ · </a:t>
            </a:r>
            <a:pPr rtl="1" algn="ctr" indent="0" marL="0">
              <a:lnSpc>
                <a:spcPct val="120000"/>
              </a:lnSpc>
              <a:buNone/>
            </a:pPr>
            <a:r>
              <a:rPr lang="ar-SA" altLang="en-US" sz="1950" b="1" dirty="0">
                <a:solidFill>
                  <a:srgbClr val="7B3FA0"/>
                </a:solidFill>
                <a:latin typeface="Amiri" pitchFamily="2" charset="-78"/>
                <a:cs typeface="Amiri" pitchFamily="2" charset="-78"/>
              </a:rPr>
              <a:t>يَخْشَى</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يَرْجُو</a:t>
            </a:r>
            <a:pPr rtl="1" algn="ctr" indent="0" marL="0">
              <a:lnSpc>
                <a:spcPct val="120000"/>
              </a:lnSpc>
              <a:buNone/>
            </a:pPr>
            <a:r>
              <a:rPr lang="ar-SA" altLang="en-US" sz="1950" b="1" dirty="0">
                <a:solidFill>
                  <a:srgbClr val="1B3B6F"/>
                </a:solidFill>
                <a:latin typeface="Amiri" pitchFamily="2" charset="-78"/>
                <a:cs typeface="Amiri" pitchFamily="2" charset="-78"/>
              </a:rPr>
              <a:t> أَنْ = مَوْقِفٌ · </a:t>
            </a:r>
            <a:pPr rtl="1" algn="ctr" indent="0" marL="0">
              <a:lnSpc>
                <a:spcPct val="120000"/>
              </a:lnSpc>
              <a:buNone/>
            </a:pPr>
            <a:r>
              <a:rPr lang="ar-SA" altLang="en-US" sz="1950" b="1" dirty="0">
                <a:solidFill>
                  <a:srgbClr val="0E7C86"/>
                </a:solidFill>
                <a:latin typeface="Amiri" pitchFamily="2" charset="-78"/>
                <a:cs typeface="Amiri" pitchFamily="2" charset="-78"/>
              </a:rPr>
              <a:t>يَنْبَغِي</a:t>
            </a:r>
            <a:pPr rtl="1" algn="ctr" indent="0" marL="0">
              <a:lnSpc>
                <a:spcPct val="120000"/>
              </a:lnSpc>
              <a:buNone/>
            </a:pPr>
            <a:r>
              <a:rPr lang="ar-SA" altLang="en-US" sz="1950" b="1" dirty="0">
                <a:solidFill>
                  <a:srgbClr val="1B3B6F"/>
                </a:solidFill>
                <a:latin typeface="Amiri" pitchFamily="2" charset="-78"/>
                <a:cs typeface="Amiri" pitchFamily="2" charset="-78"/>
              </a:rPr>
              <a:t> أَنْ = ضَرُورَةٌ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which trigger each question targets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purpose, volition and necessity apart by their trigger.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fear (yakhshā) from a hope (yarjū).</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Decide real or hypothetical by the result marker (sa- / la-).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hear li-kay and name it: purpose.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4 questions from the two listens.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volition from necessity by the trigger.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a fear from a hope.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decide real / hypothetical by sa- or la-.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reject the general distractor.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for triggers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Built/natural content heard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Grammar markers by ear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خَوْفٌ</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‎خوف‎ </a:t>
            </a:r>
            <a:pPr indent="0" marL="0">
              <a:buNone/>
            </a:pPr>
            <a:r>
              <a:rPr lang="en-US" sz="950" b="1" dirty="0">
                <a:solidFill>
                  <a:srgbClr val="2E8B57"/>
                </a:solidFill>
                <a:latin typeface="Calibri" pitchFamily="34" charset="0"/>
                <a:cs typeface="Amiri" pitchFamily="2" charset="-78"/>
              </a:rPr>
              <a:t> khauf · fear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تَوَقُّعٌ</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‎توقع‎ </a:t>
            </a:r>
            <a:pPr indent="0" marL="0">
              <a:buNone/>
            </a:pPr>
            <a:r>
              <a:rPr lang="en-US" sz="950" b="1" dirty="0">
                <a:solidFill>
                  <a:srgbClr val="2E8B57"/>
                </a:solidFill>
                <a:latin typeface="Calibri" pitchFamily="34" charset="0"/>
                <a:cs typeface="Amiri" pitchFamily="2" charset="-78"/>
              </a:rPr>
              <a:t> tawaqqo · an expectation, a prediction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احْتِمَالٌ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‎احتمال‎ </a:t>
            </a:r>
            <a:pPr indent="0" marL="0">
              <a:buNone/>
            </a:pPr>
            <a:r>
              <a:rPr lang="en-US" sz="950" b="1" dirty="0">
                <a:solidFill>
                  <a:srgbClr val="2E8B57"/>
                </a:solidFill>
                <a:latin typeface="Calibri" pitchFamily="34" charset="0"/>
                <a:cs typeface="Amiri" pitchFamily="2" charset="-78"/>
              </a:rPr>
              <a:t> ehtimāl · a possibility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سَمَاعٌ</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‎سماعت‎ </a:t>
            </a:r>
            <a:pPr indent="0" marL="0">
              <a:buNone/>
            </a:pPr>
            <a:r>
              <a:rPr lang="en-US" sz="950" b="1" dirty="0">
                <a:solidFill>
                  <a:srgbClr val="2E8B57"/>
                </a:solidFill>
                <a:latin typeface="Calibri" pitchFamily="34" charset="0"/>
                <a:cs typeface="Amiri" pitchFamily="2" charset="-78"/>
              </a:rPr>
              <a:t> samāat · Arabic: hearing (listening) · Urdu: a court hearing</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حَرَكَةٌ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‎حرکت‎ </a:t>
            </a:r>
            <a:pPr indent="0" marL="0">
              <a:buNone/>
            </a:pPr>
            <a:r>
              <a:rPr lang="en-US" sz="950" b="1" dirty="0">
                <a:solidFill>
                  <a:srgbClr val="2E8B57"/>
                </a:solidFill>
                <a:latin typeface="Calibri" pitchFamily="34" charset="0"/>
                <a:cs typeface="Amiri" pitchFamily="2" charset="-78"/>
              </a:rPr>
              <a:t> harkat · Arabic: a short vowel mark, movement · Urdu: movement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for triggers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المُسَبِّبُ المَسْمُوعُ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audible trigger</a:t>
            </a:r>
            <a:endParaRPr lang="en-US" sz="1350" dirty="0"/>
          </a:p>
          <a:p>
            <a:pPr indent="0" marL="0">
              <a:buNone/>
            </a:pPr>
            <a:r>
              <a:rPr lang="en-US" sz="1100" i="1" dirty="0">
                <a:solidFill>
                  <a:srgbClr val="5A6472"/>
                </a:solidFill>
                <a:latin typeface="Calibri" pitchFamily="34" charset="0"/>
                <a:cs typeface="Amiri" pitchFamily="2" charset="-78"/>
              </a:rPr>
              <a:t>al-mu-sab-bi-bu al-mas-mū-ʿu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Focus on this, not the vowel.</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لِكَيْ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 (purpose)</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Two clear syllables: li-kay.</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يَخْشَى أَنْ</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fears that</a:t>
            </a:r>
            <a:endParaRPr lang="en-US" sz="1350" dirty="0"/>
          </a:p>
          <a:p>
            <a:pPr indent="0" marL="0">
              <a:buNone/>
            </a:pPr>
            <a:r>
              <a:rPr lang="en-US" sz="1100" i="1" dirty="0">
                <a:solidFill>
                  <a:srgbClr val="5A6472"/>
                </a:solidFill>
                <a:latin typeface="Calibri" pitchFamily="34" charset="0"/>
                <a:cs typeface="Amiri" pitchFamily="2" charset="-78"/>
              </a:rPr>
              <a:t>yakh-shā an</a:t>
            </a:r>
            <a:endParaRPr lang="en-US" sz="1350" dirty="0"/>
          </a:p>
        </p:txBody>
      </p:sp>
      <p:sp>
        <p:nvSpPr>
          <p:cNvPr id="40" name="Shape 3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2" name="Text 3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تَخْشَى أَنْ</a:t>
            </a:r>
            <a:endParaRPr lang="ar-SA" sz="1500" dirty="0"/>
          </a:p>
        </p:txBody>
      </p:sp>
      <p:sp>
        <p:nvSpPr>
          <p:cNvPr id="43" name="Shape 4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5" name="Text 4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أَخْشَى أَنْ</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يَرْجُو أَنْ</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hopes that</a:t>
            </a:r>
            <a:endParaRPr lang="en-US" sz="1350" dirty="0"/>
          </a:p>
          <a:p>
            <a:pPr indent="0" marL="0">
              <a:buNone/>
            </a:pPr>
            <a:r>
              <a:rPr lang="en-US" sz="1100" i="1" dirty="0">
                <a:solidFill>
                  <a:srgbClr val="5A6472"/>
                </a:solidFill>
                <a:latin typeface="Calibri" pitchFamily="34" charset="0"/>
                <a:cs typeface="Amiri" pitchFamily="2" charset="-78"/>
              </a:rPr>
              <a:t>yar-jū an</a:t>
            </a:r>
            <a:endParaRPr lang="en-US" sz="1350" dirty="0"/>
          </a:p>
        </p:txBody>
      </p:sp>
      <p:sp>
        <p:nvSpPr>
          <p:cNvPr id="55" name="Shape 5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7" name="Text 5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تَرْجُو أَنْ</a:t>
            </a:r>
            <a:endParaRPr lang="ar-SA" sz="1500" dirty="0"/>
          </a:p>
        </p:txBody>
      </p:sp>
      <p:sp>
        <p:nvSpPr>
          <p:cNvPr id="58" name="Shape 5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0" name="Text 5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أَرْجُو أَنْ</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for triggers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Necessity.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يَتَطَلَّبُ 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requires that</a:t>
            </a:r>
            <a:endParaRPr lang="en-US" sz="1350" dirty="0"/>
          </a:p>
          <a:p>
            <a:pPr indent="0" marL="0">
              <a:buNone/>
            </a:pPr>
            <a:r>
              <a:rPr lang="en-US" sz="1100" i="1" dirty="0">
                <a:solidFill>
                  <a:srgbClr val="5A6472"/>
                </a:solidFill>
                <a:latin typeface="Calibri" pitchFamily="34" charset="0"/>
                <a:cs typeface="Amiri" pitchFamily="2" charset="-78"/>
              </a:rPr>
              <a:t>ya-ta-ṭal-la-bu 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7" name="Shape 24"/>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Necessity.</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يَنْبَغِي أَنْ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ought that</a:t>
            </a:r>
            <a:endParaRPr lang="en-US" sz="1350" dirty="0"/>
          </a:p>
          <a:p>
            <a:pPr indent="0" marL="0">
              <a:buNone/>
            </a:pPr>
            <a:r>
              <a:rPr lang="en-US" sz="1100" i="1" dirty="0">
                <a:solidFill>
                  <a:srgbClr val="5A6472"/>
                </a:solidFill>
                <a:latin typeface="Calibri" pitchFamily="34" charset="0"/>
                <a:cs typeface="Amiri" pitchFamily="2" charset="-78"/>
              </a:rPr>
              <a:t>yan-ba-ghī an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6" name="Shape 33"/>
          <p:cNvSpPr/>
          <p:nvPr/>
        </p:nvSpPr>
        <p:spPr>
          <a:xfrm>
            <a:off x="960120" y="1938528"/>
            <a:ext cx="170444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Hard to hear in speech.</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الفَتْحَةُ المُخْتَزَلَةُ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reduced fatḥa</a:t>
            </a:r>
            <a:endParaRPr lang="en-US" sz="1350" dirty="0"/>
          </a:p>
          <a:p>
            <a:pPr indent="0" marL="0">
              <a:buNone/>
            </a:pPr>
            <a:r>
              <a:rPr lang="en-US" sz="1100" i="1" dirty="0">
                <a:solidFill>
                  <a:srgbClr val="5A6472"/>
                </a:solidFill>
                <a:latin typeface="Calibri" pitchFamily="34" charset="0"/>
                <a:cs typeface="Amiri" pitchFamily="2" charset="-78"/>
              </a:rPr>
              <a:t>al-fat-ḥa-tu al-mukh-ta-za-la-tu</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5" name="Shape 4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المَوْقِفُ</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attitude</a:t>
            </a:r>
            <a:endParaRPr lang="en-US" sz="1350" dirty="0"/>
          </a:p>
          <a:p>
            <a:pPr indent="0" marL="0">
              <a:buNone/>
            </a:pPr>
            <a:r>
              <a:rPr lang="en-US" sz="1100" i="1" dirty="0">
                <a:solidFill>
                  <a:srgbClr val="5A6472"/>
                </a:solidFill>
                <a:latin typeface="Calibri" pitchFamily="34" charset="0"/>
                <a:cs typeface="Amiri" pitchFamily="2" charset="-78"/>
              </a:rPr>
              <a:t>al-maw-qi-fu</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المَوَاقِفُ</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Built/natural content heard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نُدْرَةُ المِيَاهِ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scarcity</a:t>
            </a:r>
            <a:endParaRPr lang="en-US" sz="1350" dirty="0"/>
          </a:p>
          <a:p>
            <a:pPr indent="0" marL="0">
              <a:buNone/>
            </a:pPr>
            <a:r>
              <a:rPr lang="en-US" sz="1100" i="1" dirty="0">
                <a:solidFill>
                  <a:srgbClr val="5A6472"/>
                </a:solidFill>
                <a:latin typeface="Calibri" pitchFamily="34" charset="0"/>
                <a:cs typeface="Amiri" pitchFamily="2" charset="-78"/>
              </a:rPr>
              <a:t>nud-ra-tu al-mi-yā-hi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الاحْتِرَارُ العَالَمِيُّ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global warming</a:t>
            </a:r>
            <a:endParaRPr lang="en-US" sz="1350" dirty="0"/>
          </a:p>
          <a:p>
            <a:pPr indent="0" marL="0">
              <a:buNone/>
            </a:pPr>
            <a:r>
              <a:rPr lang="en-US" sz="1100" i="1" dirty="0">
                <a:solidFill>
                  <a:srgbClr val="5A6472"/>
                </a:solidFill>
                <a:latin typeface="Calibri" pitchFamily="34" charset="0"/>
                <a:cs typeface="Amiri" pitchFamily="2" charset="-78"/>
              </a:rPr>
              <a:t>alḥ-ti-rā-ru al-ʿā-la-miy-yu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تَحْلِيَةُ المِيَاهِ</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desalination</a:t>
            </a:r>
            <a:endParaRPr lang="en-US" sz="1350" dirty="0"/>
          </a:p>
          <a:p>
            <a:pPr indent="0" marL="0">
              <a:buNone/>
            </a:pPr>
            <a:r>
              <a:rPr lang="en-US" sz="1100" i="1" dirty="0">
                <a:solidFill>
                  <a:srgbClr val="5A6472"/>
                </a:solidFill>
                <a:latin typeface="Calibri" pitchFamily="34" charset="0"/>
                <a:cs typeface="Amiri" pitchFamily="2" charset="-78"/>
              </a:rPr>
              <a:t>taḥ-li-ya-tu al-mi-yā-hi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الحِفَاظُ عَلَى التُّرَاثِ</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heritage conservation</a:t>
            </a:r>
            <a:endParaRPr lang="en-US" sz="1350" dirty="0"/>
          </a:p>
          <a:p>
            <a:pPr indent="0" marL="0">
              <a:buNone/>
            </a:pPr>
            <a:r>
              <a:rPr lang="en-US" sz="1100" i="1" dirty="0">
                <a:solidFill>
                  <a:srgbClr val="5A6472"/>
                </a:solidFill>
                <a:latin typeface="Calibri" pitchFamily="34" charset="0"/>
                <a:cs typeface="Amiri" pitchFamily="2" charset="-78"/>
              </a:rPr>
              <a:t>al-ḥi-fā-ẓu ʿa-lā at-tu-rā-thi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Built/natural content heard (2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المَدِينَةُ الذَّكِيَّةُ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smart city</a:t>
            </a:r>
            <a:endParaRPr lang="en-US" sz="1350" dirty="0"/>
          </a:p>
          <a:p>
            <a:pPr indent="0" marL="0">
              <a:buNone/>
            </a:pPr>
            <a:r>
              <a:rPr lang="en-US" sz="1100" i="1" dirty="0">
                <a:solidFill>
                  <a:srgbClr val="5A6472"/>
                </a:solidFill>
                <a:latin typeface="Calibri" pitchFamily="34" charset="0"/>
                <a:cs typeface="Amiri" pitchFamily="2" charset="-78"/>
              </a:rPr>
              <a:t>al-ma-dī-na-tu adh-dha-kiy-ya-tu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الانْبِعَاثَاتُ</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emissions</a:t>
            </a:r>
            <a:endParaRPr lang="en-US" sz="1350" dirty="0"/>
          </a:p>
          <a:p>
            <a:pPr indent="0" marL="0">
              <a:buNone/>
            </a:pPr>
            <a:r>
              <a:rPr lang="en-US" sz="1100" i="1" dirty="0">
                <a:solidFill>
                  <a:srgbClr val="5A6472"/>
                </a:solidFill>
                <a:latin typeface="Calibri" pitchFamily="34" charset="0"/>
                <a:cs typeface="Amiri" pitchFamily="2" charset="-78"/>
              </a:rPr>
              <a:t>aln-bi-ʿā-thā-tu</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انْبِعَاثٌ</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البُنْيَةُ التَّحْتِيَّةُ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infrastructure</a:t>
            </a:r>
            <a:endParaRPr lang="en-US" sz="1350" dirty="0"/>
          </a:p>
          <a:p>
            <a:pPr indent="0" marL="0">
              <a:buNone/>
            </a:pPr>
            <a:r>
              <a:rPr lang="en-US" sz="1100" i="1" dirty="0">
                <a:solidFill>
                  <a:srgbClr val="5A6472"/>
                </a:solidFill>
                <a:latin typeface="Calibri" pitchFamily="34" charset="0"/>
                <a:cs typeface="Amiri" pitchFamily="2" charset="-78"/>
              </a:rPr>
              <a:t>al-bun-ya-tu at-taḥ-tiy-ya-tu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المَوَارِدُ الطَّبِيعِيَّةُ</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natural resources</a:t>
            </a:r>
            <a:endParaRPr lang="en-US" sz="1350" dirty="0"/>
          </a:p>
          <a:p>
            <a:pPr indent="0" marL="0">
              <a:buNone/>
            </a:pPr>
            <a:r>
              <a:rPr lang="en-US" sz="1100" i="1" dirty="0">
                <a:solidFill>
                  <a:srgbClr val="5A6472"/>
                </a:solidFill>
                <a:latin typeface="Calibri" pitchFamily="34" charset="0"/>
                <a:cs typeface="Amiri" pitchFamily="2" charset="-78"/>
              </a:rPr>
              <a:t>al-ma-wā-ri-du aṭ-ṭa-bī-ʿiy-ya-tu</a:t>
            </a:r>
            <a:endParaRPr lang="en-US" sz="1350" dirty="0"/>
          </a:p>
        </p:txBody>
      </p:sp>
      <p:sp>
        <p:nvSpPr>
          <p:cNvPr id="46" name="Shape 4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8" name="Text 4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مَوْرِدٌ طَبِيعِيٌّ</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markers by ear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لِكَيْ + مُضَارِعٌ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purpose clause</a:t>
            </a:r>
            <a:endParaRPr lang="en-US" sz="1350" dirty="0"/>
          </a:p>
          <a:p>
            <a:pPr indent="0" marL="0">
              <a:buNone/>
            </a:pPr>
            <a:r>
              <a:rPr lang="en-US" sz="1100" i="1" dirty="0">
                <a:solidFill>
                  <a:srgbClr val="5A6472"/>
                </a:solidFill>
                <a:latin typeface="Calibri" pitchFamily="34" charset="0"/>
                <a:cs typeface="Amiri" pitchFamily="2" charset="-78"/>
              </a:rPr>
              <a:t>li-kay + mu-ḍā-ri-ʿun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Shape 22"/>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Volition markers.</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يَخْشَى / يَرْجُو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fear / hope</a:t>
            </a:r>
            <a:endParaRPr lang="en-US" sz="1350" dirty="0"/>
          </a:p>
          <a:p>
            <a:pPr indent="0" marL="0">
              <a:buNone/>
            </a:pPr>
            <a:r>
              <a:rPr lang="en-US" sz="1100" i="1" dirty="0">
                <a:solidFill>
                  <a:srgbClr val="5A6472"/>
                </a:solidFill>
                <a:latin typeface="Calibri" pitchFamily="34" charset="0"/>
                <a:cs typeface="Amiri" pitchFamily="2" charset="-78"/>
              </a:rPr>
              <a:t>yakh-shā / yar-jū 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Shape 29"/>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Necessity markers.</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يَتَطَلَّبُ / يَنْبَغِي أَنْ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requirement</a:t>
            </a:r>
            <a:endParaRPr lang="en-US" sz="1350" dirty="0"/>
          </a:p>
          <a:p>
            <a:pPr indent="0" marL="0">
              <a:buNone/>
            </a:pPr>
            <a:r>
              <a:rPr lang="en-US" sz="1100" i="1" dirty="0">
                <a:solidFill>
                  <a:srgbClr val="5A6472"/>
                </a:solidFill>
                <a:latin typeface="Calibri" pitchFamily="34" charset="0"/>
                <a:cs typeface="Amiri" pitchFamily="2" charset="-78"/>
              </a:rPr>
              <a:t>ya-ta-ṭal-la-bu / yan-ba-ghī 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إِذَا … سَـ</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real conditional</a:t>
            </a:r>
            <a:endParaRPr lang="en-US" sz="1350" dirty="0"/>
          </a:p>
          <a:p>
            <a:pPr indent="0" marL="0">
              <a:buNone/>
            </a:pPr>
            <a:r>
              <a:rPr lang="en-US" sz="1100" i="1" dirty="0">
                <a:solidFill>
                  <a:srgbClr val="5A6472"/>
                </a:solidFill>
                <a:latin typeface="Calibri" pitchFamily="34" charset="0"/>
                <a:cs typeface="Amiri" pitchFamily="2" charset="-78"/>
              </a:rPr>
              <a:t>i-dhā … sa</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markers by ear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لَوْ … لَـ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hypothetical conditional</a:t>
            </a:r>
            <a:endParaRPr lang="en-US" sz="1350" dirty="0"/>
          </a:p>
          <a:p>
            <a:pPr indent="0" marL="0">
              <a:buNone/>
            </a:pPr>
            <a:r>
              <a:rPr lang="en-US" sz="1100" i="1" dirty="0">
                <a:solidFill>
                  <a:srgbClr val="5A6472"/>
                </a:solidFill>
                <a:latin typeface="Calibri" pitchFamily="34" charset="0"/>
                <a:cs typeface="Amiri" pitchFamily="2" charset="-78"/>
              </a:rPr>
              <a:t>law … la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Shape 22"/>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Past-perfect marker.</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كَانَ قَدْ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had done</a:t>
            </a:r>
            <a:endParaRPr lang="en-US" sz="1350" dirty="0"/>
          </a:p>
          <a:p>
            <a:pPr indent="0" marL="0">
              <a:buNone/>
            </a:pPr>
            <a:r>
              <a:rPr lang="en-US" sz="1100" i="1" dirty="0">
                <a:solidFill>
                  <a:srgbClr val="5A6472"/>
                </a:solidFill>
                <a:latin typeface="Calibri" pitchFamily="34" charset="0"/>
                <a:cs typeface="Amiri" pitchFamily="2" charset="-78"/>
              </a:rPr>
              <a:t>kā-na qad</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2" name="Shape 29"/>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Disaster passives.</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دُمِّرَتْ / أُعْلِنَتْ</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 destroyed / was declared</a:t>
            </a:r>
            <a:endParaRPr lang="en-US" sz="1350" dirty="0"/>
          </a:p>
          <a:p>
            <a:pPr indent="0" marL="0">
              <a:buNone/>
            </a:pPr>
            <a:r>
              <a:rPr lang="en-US" sz="1100" i="1" dirty="0">
                <a:solidFill>
                  <a:srgbClr val="5A6472"/>
                </a:solidFill>
                <a:latin typeface="Calibri" pitchFamily="34" charset="0"/>
                <a:cs typeface="Amiri" pitchFamily="2" charset="-78"/>
              </a:rPr>
              <a:t>dum-mi-rat / uʿ-li-nat</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9" name="Shape 36"/>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Statistic verbs.</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يُمَثِّلُ / يَبْلُغُ</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represents / amounts to</a:t>
            </a:r>
            <a:endParaRPr lang="en-US" sz="1350" dirty="0"/>
          </a:p>
          <a:p>
            <a:pPr indent="0" marL="0">
              <a:buNone/>
            </a:pPr>
            <a:r>
              <a:rPr lang="en-US" sz="1100" i="1" dirty="0">
                <a:solidFill>
                  <a:srgbClr val="5A6472"/>
                </a:solidFill>
                <a:latin typeface="Calibri" pitchFamily="34" charset="0"/>
                <a:cs typeface="Amiri" pitchFamily="2" charset="-78"/>
              </a:rPr>
              <a:t>yu-math-thi-lu / yab-lu-ghu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TRIGGER PREDICTS THE CLAUSE (WEBSITE RULE 1, TEACHING POINT 1 AND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Hear the trigger, not the vowel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اسْمَعِ المُسَبِّبَ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listening)</a:t>
            </a:r>
            <a:endParaRPr lang="en-US" sz="1100" dirty="0"/>
          </a:p>
        </p:txBody>
      </p:sp>
      <p:sp>
        <p:nvSpPr>
          <p:cNvPr id="17" name="Text 14"/>
          <p:cNvSpPr txBox="1"/>
          <p:nvPr/>
        </p:nvSpPr>
        <p:spPr>
          <a:xfrm>
            <a:off x="43708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Listen next for …</a:t>
            </a:r>
            <a:endParaRPr lang="en-US" sz="1100" dirty="0"/>
          </a:p>
        </p:txBody>
      </p:sp>
      <p:sp>
        <p:nvSpPr>
          <p:cNvPr id="18" name="Text 15"/>
          <p:cNvSpPr txBox="1"/>
          <p:nvPr/>
        </p:nvSpPr>
        <p:spPr>
          <a:xfrm>
            <a:off x="272491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 signals</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309360" y="2267712"/>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نَزْرَعُ مَحَاصِيلَ أَقَلَّ اسْتِهْلَاكًا لِلْمَاءِ </a:t>
            </a:r>
            <a:pPr rtl="1" algn="ctr" indent="0" marL="0">
              <a:buNone/>
            </a:pPr>
            <a:r>
              <a:rPr lang="ar-SA" altLang="en-US" sz="1700" b="1" dirty="0">
                <a:solidFill>
                  <a:srgbClr val="D6336C"/>
                </a:solidFill>
                <a:latin typeface="Amiri" pitchFamily="2" charset="-78"/>
                <a:cs typeface="Amiri" pitchFamily="2" charset="-78"/>
              </a:rPr>
              <a:t>لِكَيْ</a:t>
            </a:r>
            <a:pPr rtl="1" algn="ctr" indent="0" marL="0">
              <a:buNone/>
            </a:pPr>
            <a:r>
              <a:rPr lang="ar-SA" altLang="en-US" sz="1700" b="1" dirty="0">
                <a:solidFill>
                  <a:srgbClr val="1B3B6F"/>
                </a:solidFill>
                <a:latin typeface="Amiri" pitchFamily="2" charset="-78"/>
                <a:cs typeface="Amiri" pitchFamily="2" charset="-78"/>
              </a:rPr>
              <a:t> نُوَفِّرَ مَوَارِدَنَا.</a:t>
            </a:r>
            <a:endParaRPr lang="ar-SA" sz="1700" dirty="0"/>
          </a:p>
        </p:txBody>
      </p:sp>
      <p:sp>
        <p:nvSpPr>
          <p:cNvPr id="22" name="Text 19"/>
          <p:cNvSpPr txBox="1"/>
          <p:nvPr/>
        </p:nvSpPr>
        <p:spPr>
          <a:xfrm>
            <a:off x="440740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reason</a:t>
            </a:r>
            <a:endParaRPr lang="en-US" sz="1100" dirty="0"/>
          </a:p>
        </p:txBody>
      </p:sp>
      <p:sp>
        <p:nvSpPr>
          <p:cNvPr id="23" name="Text 20"/>
          <p:cNvSpPr txBox="1"/>
          <p:nvPr/>
        </p:nvSpPr>
        <p:spPr>
          <a:xfrm>
            <a:off x="276148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a:t>
            </a:r>
            <a:endParaRPr lang="en-US" sz="1100" dirty="0"/>
          </a:p>
        </p:txBody>
      </p:sp>
      <p:sp>
        <p:nvSpPr>
          <p:cNvPr id="24" name="Text 21"/>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لِكَيْ</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309360" y="3004718"/>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cs typeface="Amiri" pitchFamily="2" charset="-78"/>
              </a:rPr>
              <a:t>يَتَطَلَّبُ</a:t>
            </a:r>
            <a:pPr rtl="1" algn="ctr" indent="0" marL="0">
              <a:buNone/>
            </a:pPr>
            <a:r>
              <a:rPr lang="ar-SA" altLang="en-US" sz="1700" b="1" dirty="0">
                <a:solidFill>
                  <a:srgbClr val="1B3B6F"/>
                </a:solidFill>
                <a:latin typeface="Amiri" pitchFamily="2" charset="-78"/>
                <a:cs typeface="Amiri" pitchFamily="2" charset="-78"/>
              </a:rPr>
              <a:t> الوَضْعُ أَنْ تُخَصِّصَ الحُكُومَاتُ مِيزَانِيَّاتٍ أَكْبَرَ.</a:t>
            </a:r>
            <a:endParaRPr lang="ar-SA" sz="1700" dirty="0"/>
          </a:p>
        </p:txBody>
      </p:sp>
      <p:sp>
        <p:nvSpPr>
          <p:cNvPr id="29" name="Text 26"/>
          <p:cNvSpPr txBox="1"/>
          <p:nvPr/>
        </p:nvSpPr>
        <p:spPr>
          <a:xfrm>
            <a:off x="440740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must happen</a:t>
            </a:r>
            <a:endParaRPr lang="en-US" sz="1100" dirty="0"/>
          </a:p>
        </p:txBody>
      </p:sp>
      <p:sp>
        <p:nvSpPr>
          <p:cNvPr id="30" name="Text 27"/>
          <p:cNvSpPr txBox="1"/>
          <p:nvPr/>
        </p:nvSpPr>
        <p:spPr>
          <a:xfrm>
            <a:off x="276148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a:t>
            </a:r>
            <a:endParaRPr lang="en-US" sz="1100" dirty="0"/>
          </a:p>
        </p:txBody>
      </p:sp>
      <p:sp>
        <p:nvSpPr>
          <p:cNvPr id="31" name="Text 28"/>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يَتَطَلَّبُ</a:t>
            </a:r>
            <a:pPr rtl="1" algn="ctr" indent="0" marL="0">
              <a:buNone/>
            </a:pPr>
            <a:r>
              <a:rPr lang="ar-SA" altLang="en-US" sz="2000" b="1" dirty="0">
                <a:solidFill>
                  <a:srgbClr val="1B3B6F"/>
                </a:solidFill>
                <a:latin typeface="Amiri" pitchFamily="2" charset="-78"/>
                <a:cs typeface="Amiri" pitchFamily="2" charset="-78"/>
              </a:rPr>
              <a:t> … أَنْ</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309360" y="3741725"/>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cs typeface="Amiri" pitchFamily="2" charset="-78"/>
              </a:rPr>
              <a:t>نَخْشَى</a:t>
            </a:r>
            <a:pPr rtl="1" algn="ctr" indent="0" marL="0">
              <a:buNone/>
            </a:pPr>
            <a:r>
              <a:rPr lang="ar-SA" altLang="en-US" sz="1700" b="1" dirty="0">
                <a:solidFill>
                  <a:srgbClr val="1B3B6F"/>
                </a:solidFill>
                <a:latin typeface="Amiri" pitchFamily="2" charset="-78"/>
                <a:cs typeface="Amiri" pitchFamily="2" charset="-78"/>
              </a:rPr>
              <a:t> أَنْ يَتَجَاوَزَ الاحْتِرَارُ العَالَمِيُّ حُدُودَهُ الآمِنَةَ.</a:t>
            </a:r>
            <a:endParaRPr lang="ar-SA" sz="1700" dirty="0"/>
          </a:p>
        </p:txBody>
      </p:sp>
      <p:sp>
        <p:nvSpPr>
          <p:cNvPr id="36" name="Text 33"/>
          <p:cNvSpPr txBox="1"/>
          <p:nvPr/>
        </p:nvSpPr>
        <p:spPr>
          <a:xfrm>
            <a:off x="440740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danger</a:t>
            </a:r>
            <a:endParaRPr lang="en-US" sz="1100" dirty="0"/>
          </a:p>
        </p:txBody>
      </p:sp>
      <p:sp>
        <p:nvSpPr>
          <p:cNvPr id="37" name="Text 34"/>
          <p:cNvSpPr txBox="1"/>
          <p:nvPr/>
        </p:nvSpPr>
        <p:spPr>
          <a:xfrm>
            <a:off x="276148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fear</a:t>
            </a:r>
            <a:endParaRPr lang="en-US" sz="1100" dirty="0"/>
          </a:p>
        </p:txBody>
      </p:sp>
      <p:sp>
        <p:nvSpPr>
          <p:cNvPr id="38" name="Text 35"/>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يَخْشَى</a:t>
            </a:r>
            <a:pPr rtl="1" algn="ctr" indent="0" marL="0">
              <a:buNone/>
            </a:pPr>
            <a:r>
              <a:rPr lang="ar-SA" altLang="en-US" sz="2000" b="1" dirty="0">
                <a:solidFill>
                  <a:srgbClr val="1B3B6F"/>
                </a:solidFill>
                <a:latin typeface="Amiri" pitchFamily="2" charset="-78"/>
                <a:cs typeface="Amiri" pitchFamily="2" charset="-78"/>
              </a:rPr>
              <a:t> أَنْ</a:t>
            </a:r>
            <a:endParaRPr lang="ar-SA" sz="20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6309360" y="4478731"/>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cs typeface="Amiri" pitchFamily="2" charset="-78"/>
              </a:rPr>
              <a:t>نَرْجُو</a:t>
            </a:r>
            <a:pPr rtl="1" algn="ctr" indent="0" marL="0">
              <a:buNone/>
            </a:pPr>
            <a:r>
              <a:rPr lang="ar-SA" altLang="en-US" sz="1700" b="1" dirty="0">
                <a:solidFill>
                  <a:srgbClr val="1B3B6F"/>
                </a:solidFill>
                <a:latin typeface="Amiri" pitchFamily="2" charset="-78"/>
                <a:cs typeface="Amiri" pitchFamily="2" charset="-78"/>
              </a:rPr>
              <a:t> أَنْ تُوَقِّعَ الدُّوَلُ اتِّفَاقًا لِإِدَارَةِ الأَنْهَارِ.</a:t>
            </a:r>
            <a:endParaRPr lang="ar-SA" sz="1700" dirty="0"/>
          </a:p>
        </p:txBody>
      </p:sp>
      <p:sp>
        <p:nvSpPr>
          <p:cNvPr id="43" name="Text 40"/>
          <p:cNvSpPr txBox="1"/>
          <p:nvPr/>
        </p:nvSpPr>
        <p:spPr>
          <a:xfrm>
            <a:off x="440740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wish</a:t>
            </a:r>
            <a:endParaRPr lang="en-US" sz="1100" dirty="0"/>
          </a:p>
        </p:txBody>
      </p:sp>
      <p:sp>
        <p:nvSpPr>
          <p:cNvPr id="44" name="Text 41"/>
          <p:cNvSpPr txBox="1"/>
          <p:nvPr/>
        </p:nvSpPr>
        <p:spPr>
          <a:xfrm>
            <a:off x="276148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hope</a:t>
            </a:r>
            <a:endParaRPr lang="en-US" sz="1100" dirty="0"/>
          </a:p>
        </p:txBody>
      </p:sp>
      <p:sp>
        <p:nvSpPr>
          <p:cNvPr id="45" name="Text 42"/>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يَرْجُو</a:t>
            </a:r>
            <a:pPr rtl="1" algn="ctr" indent="0" marL="0">
              <a:buNone/>
            </a:pPr>
            <a:r>
              <a:rPr lang="ar-SA" altLang="en-US" sz="2000" b="1" dirty="0">
                <a:solidFill>
                  <a:srgbClr val="1B3B6F"/>
                </a:solidFill>
                <a:latin typeface="Amiri" pitchFamily="2" charset="-78"/>
                <a:cs typeface="Amiri" pitchFamily="2" charset="-78"/>
              </a:rPr>
              <a:t> أَنْ</a:t>
            </a:r>
            <a:endParaRPr lang="ar-SA" sz="20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6309360" y="5215738"/>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a:t>
            </a:r>
            <a:pPr rtl="1" algn="ctr" indent="0" marL="0">
              <a:buNone/>
            </a:pPr>
            <a:r>
              <a:rPr lang="ar-SA" altLang="en-US" sz="1700" b="1" dirty="0">
                <a:solidFill>
                  <a:srgbClr val="1D5FBF"/>
                </a:solidFill>
                <a:latin typeface="Amiri" pitchFamily="2" charset="-78"/>
                <a:cs typeface="Amiri" pitchFamily="2" charset="-78"/>
              </a:rPr>
              <a:t>يَهْدِفُ</a:t>
            </a:r>
            <a:pPr rtl="1" algn="ctr" indent="0" marL="0">
              <a:buNone/>
            </a:pPr>
            <a:r>
              <a:rPr lang="ar-SA" altLang="en-US" sz="1700" b="1" dirty="0">
                <a:solidFill>
                  <a:srgbClr val="1B3B6F"/>
                </a:solidFill>
                <a:latin typeface="Amiri" pitchFamily="2" charset="-78"/>
                <a:cs typeface="Amiri" pitchFamily="2" charset="-78"/>
              </a:rPr>
              <a:t> المَشْرُوعُ إِلَى أَنْ يُخَفِّضَ الاسْتِهْلَاكَ.</a:t>
            </a:r>
            <a:endParaRPr lang="ar-SA" sz="1700" dirty="0"/>
          </a:p>
        </p:txBody>
      </p:sp>
      <p:sp>
        <p:nvSpPr>
          <p:cNvPr id="48" name="Text 45"/>
          <p:cNvSpPr txBox="1"/>
          <p:nvPr/>
        </p:nvSpPr>
        <p:spPr>
          <a:xfrm>
            <a:off x="440740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plan</a:t>
            </a:r>
            <a:endParaRPr lang="en-US" sz="1100" dirty="0"/>
          </a:p>
        </p:txBody>
      </p:sp>
      <p:sp>
        <p:nvSpPr>
          <p:cNvPr id="49" name="Text 46"/>
          <p:cNvSpPr txBox="1"/>
          <p:nvPr/>
        </p:nvSpPr>
        <p:spPr>
          <a:xfrm>
            <a:off x="276148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aim</a:t>
            </a:r>
            <a:endParaRPr lang="en-US" sz="1100" dirty="0"/>
          </a:p>
        </p:txBody>
      </p:sp>
      <p:sp>
        <p:nvSpPr>
          <p:cNvPr id="50" name="Text 47"/>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يَهْدِفُ</a:t>
            </a:r>
            <a:pPr rtl="1" algn="ctr" indent="0" marL="0">
              <a:buNone/>
            </a:pPr>
            <a:r>
              <a:rPr lang="ar-SA" altLang="en-US" sz="2000" b="1" dirty="0">
                <a:solidFill>
                  <a:srgbClr val="1B3B6F"/>
                </a:solidFill>
                <a:latin typeface="Amiri" pitchFamily="2" charset="-78"/>
                <a:cs typeface="Amiri" pitchFamily="2" charset="-78"/>
              </a:rPr>
              <a:t> إِلَى أَنْ</a:t>
            </a:r>
            <a:endParaRPr lang="ar-SA" sz="20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3: trying to catch the final fatḥa ✗ → focusing on the trigger ✓. The trigger alone answers the question.</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FEAR VS HOPE (WEBSITE RULE 2, TEACHING POINT 2 AND MISTAKE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Same grammar, opposite attitude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الخَوْفُ أَمِ الأَمَلُ؟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FEAR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يَخْشَى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نَخْشَى أَنْ يَتَجَاوَزَ الاحْتِرَارُ العَالَمِيُّ حُدُودَهُ الآمِنَةَ.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fear that global warming will exceed its safe limits.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Negative attitude.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HOPE · CORE</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يَرْجُو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نَرْجُو أَنْ تُوَقِّعَ الدُّوَلُ اتِّفَاقًا لِإِدَارَةِ الأَنْهَارِ.</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hope that states will sign an agreement to manage the rivers.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Positive attitude.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HEAR IT · DEVELOP</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yakh-shā · yar-jū</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يَخْشَى ≠ يَرْجُو</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kh + sh = fear · r + j = hope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an + verb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yakhshā and yarjū carry opposite attitudes.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«يَخْشَى» خَوْفٌ وَ«يَرْجُو» أَمَلٌ</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«يَخْشَى» وَ«يَرْجُو» مَوْقِفٌ وَاحِدٌ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RESULTS, PAST PERFECT, PASSIVES AND NUMBERS BY EAR (WEBSITE RULES 3–4 + VOCABULARY)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Wait for the result — and the time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عَلَامَةُ الجَوَابِ وَالزَّمَنُ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36592" y="1810512"/>
            <a:ext cx="6922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27249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 means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754880" y="2267712"/>
            <a:ext cx="68854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إِذَا اعْتَمَدْنَا عَلَى الطَّاقَةِ الشَّمْسِيَّةِ، </a:t>
            </a:r>
            <a:pPr rtl="1" algn="ctr" indent="0" marL="0">
              <a:buNone/>
            </a:pPr>
            <a:r>
              <a:rPr lang="ar-SA" altLang="en-US" sz="1700" b="1" dirty="0">
                <a:solidFill>
                  <a:srgbClr val="1D5FBF"/>
                </a:solidFill>
                <a:latin typeface="Amiri" pitchFamily="2" charset="-78"/>
                <a:cs typeface="Amiri" pitchFamily="2" charset="-78"/>
              </a:rPr>
              <a:t>سَنُخَفِّضُ</a:t>
            </a:r>
            <a:pPr rtl="1" algn="ctr" indent="0" marL="0">
              <a:buNone/>
            </a:pPr>
            <a:r>
              <a:rPr lang="ar-SA" altLang="en-US" sz="1700" b="1" dirty="0">
                <a:solidFill>
                  <a:srgbClr val="1B3B6F"/>
                </a:solidFill>
                <a:latin typeface="Amiri" pitchFamily="2" charset="-78"/>
                <a:cs typeface="Amiri" pitchFamily="2" charset="-78"/>
              </a:rPr>
              <a:t> التَّكَالِيفَ.</a:t>
            </a:r>
            <a:endParaRPr lang="ar-SA" sz="1700" dirty="0"/>
          </a:p>
        </p:txBody>
      </p:sp>
      <p:sp>
        <p:nvSpPr>
          <p:cNvPr id="21" name="Text 18"/>
          <p:cNvSpPr txBox="1"/>
          <p:nvPr/>
        </p:nvSpPr>
        <p:spPr>
          <a:xfrm>
            <a:off x="276148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(Type 1)</a:t>
            </a:r>
            <a:endParaRPr lang="en-US" sz="1100" dirty="0"/>
          </a:p>
        </p:txBody>
      </p:sp>
      <p:sp>
        <p:nvSpPr>
          <p:cNvPr id="22" name="Text 19"/>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 </a:t>
            </a:r>
            <a:pPr rtl="1" algn="ctr" indent="0" marL="0">
              <a:buNone/>
            </a:pPr>
            <a:r>
              <a:rPr lang="ar-SA" altLang="en-US" sz="1800" b="1" dirty="0">
                <a:solidFill>
                  <a:srgbClr val="1D5FBF"/>
                </a:solidFill>
                <a:latin typeface="Amiri" pitchFamily="2" charset="-78"/>
                <a:cs typeface="Amiri" pitchFamily="2" charset="-78"/>
              </a:rPr>
              <a:t>سَنُ</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4754880" y="3004718"/>
            <a:ext cx="68854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لَوْ كُنَّا قَدِ اسْتَثْمَرْنَا مُبَكِّرًا، </a:t>
            </a:r>
            <a:pPr rtl="1" algn="ctr" indent="0" marL="0">
              <a:buNone/>
            </a:pPr>
            <a:r>
              <a:rPr lang="ar-SA" altLang="en-US" sz="1700" b="1" dirty="0">
                <a:solidFill>
                  <a:srgbClr val="D6336C"/>
                </a:solidFill>
                <a:latin typeface="Amiri" pitchFamily="2" charset="-78"/>
                <a:cs typeface="Amiri" pitchFamily="2" charset="-78"/>
              </a:rPr>
              <a:t>لَتَجَنَّبْنَا</a:t>
            </a:r>
            <a:pPr rtl="1" algn="ctr" indent="0" marL="0">
              <a:buNone/>
            </a:pPr>
            <a:r>
              <a:rPr lang="ar-SA" altLang="en-US" sz="1700" b="1" dirty="0">
                <a:solidFill>
                  <a:srgbClr val="1B3B6F"/>
                </a:solidFill>
                <a:latin typeface="Amiri" pitchFamily="2" charset="-78"/>
                <a:cs typeface="Amiri" pitchFamily="2" charset="-78"/>
              </a:rPr>
              <a:t> هٰذِهِ الأَزْمَةَ.</a:t>
            </a:r>
            <a:endParaRPr lang="ar-SA" sz="1700" dirty="0"/>
          </a:p>
        </p:txBody>
      </p:sp>
      <p:sp>
        <p:nvSpPr>
          <p:cNvPr id="27" name="Text 24"/>
          <p:cNvSpPr txBox="1"/>
          <p:nvPr/>
        </p:nvSpPr>
        <p:spPr>
          <a:xfrm>
            <a:off x="276148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did NOT happen</a:t>
            </a:r>
            <a:endParaRPr lang="en-US" sz="1100" dirty="0"/>
          </a:p>
        </p:txBody>
      </p:sp>
      <p:sp>
        <p:nvSpPr>
          <p:cNvPr id="28" name="Text 25"/>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 </a:t>
            </a:r>
            <a:pPr rtl="1" algn="ctr" indent="0" marL="0">
              <a:buNone/>
            </a:pPr>
            <a:r>
              <a:rPr lang="ar-SA" altLang="en-US" sz="1800" b="1" dirty="0">
                <a:solidFill>
                  <a:srgbClr val="D6336C"/>
                </a:solidFill>
                <a:latin typeface="Amiri" pitchFamily="2" charset="-78"/>
                <a:cs typeface="Amiri" pitchFamily="2" charset="-78"/>
              </a:rPr>
              <a:t>لَـ</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4754880" y="3741725"/>
            <a:ext cx="68854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كَانَتِ المَدِينَةُ </a:t>
            </a:r>
            <a:pPr rtl="1" algn="ctr" indent="0" marL="0">
              <a:buNone/>
            </a:pPr>
            <a:r>
              <a:rPr lang="ar-SA" altLang="en-US" sz="1700" b="1" dirty="0">
                <a:solidFill>
                  <a:srgbClr val="C77700"/>
                </a:solidFill>
                <a:latin typeface="Amiri" pitchFamily="2" charset="-78"/>
                <a:cs typeface="Amiri" pitchFamily="2" charset="-78"/>
              </a:rPr>
              <a:t>قَدْ فَقَدَتْ</a:t>
            </a:r>
            <a:pPr rtl="1" algn="ctr" indent="0" marL="0">
              <a:buNone/>
            </a:pPr>
            <a:r>
              <a:rPr lang="ar-SA" altLang="en-US" sz="1700" b="1" dirty="0">
                <a:solidFill>
                  <a:srgbClr val="1B3B6F"/>
                </a:solidFill>
                <a:latin typeface="Amiri" pitchFamily="2" charset="-78"/>
                <a:cs typeface="Amiri" pitchFamily="2" charset="-78"/>
              </a:rPr>
              <a:t> حَدَائِقَهَا.</a:t>
            </a:r>
            <a:endParaRPr lang="ar-SA" sz="1700" dirty="0"/>
          </a:p>
        </p:txBody>
      </p:sp>
      <p:sp>
        <p:nvSpPr>
          <p:cNvPr id="33" name="Text 30"/>
          <p:cNvSpPr txBox="1"/>
          <p:nvPr/>
        </p:nvSpPr>
        <p:spPr>
          <a:xfrm>
            <a:off x="276148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earlier action</a:t>
            </a:r>
            <a:endParaRPr lang="en-US" sz="1100" dirty="0"/>
          </a:p>
        </p:txBody>
      </p:sp>
      <p:sp>
        <p:nvSpPr>
          <p:cNvPr id="34" name="Text 31"/>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كَانَ قَدْ</a:t>
            </a:r>
            <a:endParaRPr lang="ar-SA" sz="18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4754880" y="4478731"/>
            <a:ext cx="688543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cs typeface="Amiri" pitchFamily="2" charset="-78"/>
              </a:rPr>
              <a:t>دُمِّرَتِ</a:t>
            </a:r>
            <a:pPr rtl="1" algn="ctr" indent="0" marL="0">
              <a:buNone/>
            </a:pPr>
            <a:r>
              <a:rPr lang="ar-SA" altLang="en-US" sz="1700" b="1" dirty="0">
                <a:solidFill>
                  <a:srgbClr val="1B3B6F"/>
                </a:solidFill>
                <a:latin typeface="Amiri" pitchFamily="2" charset="-78"/>
                <a:cs typeface="Amiri" pitchFamily="2" charset="-78"/>
              </a:rPr>
              <a:t> المَبَانِي وَ</a:t>
            </a:r>
            <a:pPr rtl="1" algn="ctr" indent="0" marL="0">
              <a:buNone/>
            </a:pPr>
            <a:r>
              <a:rPr lang="ar-SA" altLang="en-US" sz="1700" b="1" dirty="0">
                <a:solidFill>
                  <a:srgbClr val="7B3FA0"/>
                </a:solidFill>
                <a:latin typeface="Amiri" pitchFamily="2" charset="-78"/>
                <a:cs typeface="Amiri" pitchFamily="2" charset="-78"/>
              </a:rPr>
              <a:t>أُعْلِنَتْ</a:t>
            </a:r>
            <a:pPr rtl="1" algn="ctr" indent="0" marL="0">
              <a:buNone/>
            </a:pPr>
            <a:r>
              <a:rPr lang="ar-SA" altLang="en-US" sz="1700" b="1" dirty="0">
                <a:solidFill>
                  <a:srgbClr val="1B3B6F"/>
                </a:solidFill>
                <a:latin typeface="Amiri" pitchFamily="2" charset="-78"/>
                <a:cs typeface="Amiri" pitchFamily="2" charset="-78"/>
              </a:rPr>
              <a:t> حَالَةُ الطَّوَارِئِ.</a:t>
            </a:r>
            <a:endParaRPr lang="ar-SA" sz="1700" dirty="0"/>
          </a:p>
        </p:txBody>
      </p:sp>
      <p:sp>
        <p:nvSpPr>
          <p:cNvPr id="37" name="Text 34"/>
          <p:cNvSpPr txBox="1"/>
          <p:nvPr/>
        </p:nvSpPr>
        <p:spPr>
          <a:xfrm>
            <a:off x="276148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disaster passive</a:t>
            </a:r>
            <a:endParaRPr lang="en-US" sz="1100" dirty="0"/>
          </a:p>
        </p:txBody>
      </p:sp>
      <p:sp>
        <p:nvSpPr>
          <p:cNvPr id="38" name="Text 35"/>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cs typeface="Amiri" pitchFamily="2" charset="-78"/>
              </a:rPr>
              <a:t>دُمِّرَتْ</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7B3FA0"/>
                </a:solidFill>
                <a:latin typeface="Amiri" pitchFamily="2" charset="-78"/>
                <a:cs typeface="Amiri" pitchFamily="2" charset="-78"/>
              </a:rPr>
              <a:t>أُعْلِنَتْ</a:t>
            </a:r>
            <a:endParaRPr lang="ar-SA" sz="18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754880" y="5215738"/>
            <a:ext cx="68854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a:t>
            </a:r>
            <a:pPr rtl="1" algn="ctr" indent="0" marL="0">
              <a:buNone/>
            </a:pPr>
            <a:r>
              <a:rPr lang="ar-SA" altLang="en-US" sz="1700" b="1" dirty="0">
                <a:solidFill>
                  <a:srgbClr val="0E7C86"/>
                </a:solidFill>
                <a:latin typeface="Amiri" pitchFamily="2" charset="-78"/>
                <a:cs typeface="Amiri" pitchFamily="2" charset="-78"/>
              </a:rPr>
              <a:t>تُمَثِّلُ</a:t>
            </a:r>
            <a:pPr rtl="1" algn="ctr" indent="0" marL="0">
              <a:buNone/>
            </a:pPr>
            <a:r>
              <a:rPr lang="ar-SA" altLang="en-US" sz="1700" b="1" dirty="0">
                <a:solidFill>
                  <a:srgbClr val="1B3B6F"/>
                </a:solidFill>
                <a:latin typeface="Amiri" pitchFamily="2" charset="-78"/>
                <a:cs typeface="Amiri" pitchFamily="2" charset="-78"/>
              </a:rPr>
              <a:t> المِيَاهُ المُتَجَدِّدَةُ نِسْبَةً ضَئِيلَةً مِنْ حَاجَتِنَا.</a:t>
            </a:r>
            <a:endParaRPr lang="ar-SA" sz="1700" dirty="0"/>
          </a:p>
        </p:txBody>
      </p:sp>
      <p:sp>
        <p:nvSpPr>
          <p:cNvPr id="41" name="Text 38"/>
          <p:cNvSpPr txBox="1"/>
          <p:nvPr/>
        </p:nvSpPr>
        <p:spPr>
          <a:xfrm>
            <a:off x="276148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statistic</a:t>
            </a:r>
            <a:endParaRPr lang="en-US" sz="1100" dirty="0"/>
          </a:p>
        </p:txBody>
      </p:sp>
      <p:sp>
        <p:nvSpPr>
          <p:cNvPr id="42" name="Text 39"/>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cs typeface="Amiri" pitchFamily="2" charset="-78"/>
              </a:rPr>
              <a:t>يُمَثِّلُ</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0E7C86"/>
                </a:solidFill>
                <a:latin typeface="Amiri" pitchFamily="2" charset="-78"/>
                <a:cs typeface="Amiri" pitchFamily="2" charset="-78"/>
              </a:rPr>
              <a:t>يَبْلُغُ</a:t>
            </a:r>
            <a:endParaRPr lang="ar-SA" sz="18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idhā and law take a past verb — so wait for the RESULT: sa- = real · la- = it did not happen.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LISTENING STRATEGY (WEBSITE READING — A STRATEGY GUIDE)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Before, during, after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اسْتِرَاتِيجِيَّةُ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199339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website strategy guide</a:t>
            </a:r>
            <a:endParaRPr lang="en-US" sz="1100" dirty="0"/>
          </a:p>
        </p:txBody>
      </p:sp>
      <p:sp>
        <p:nvSpPr>
          <p:cNvPr id="18" name="Text 15"/>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know what to wait for</a:t>
            </a:r>
            <a:endParaRPr lang="en-US" sz="1100" dirty="0"/>
          </a:p>
        </p:txBody>
      </p:sp>
      <p:sp>
        <p:nvSpPr>
          <p:cNvPr id="21" name="Text 18"/>
          <p:cNvSpPr txBox="1"/>
          <p:nvPr/>
        </p:nvSpPr>
        <p:spPr>
          <a:xfrm>
            <a:off x="2011680" y="2267712"/>
            <a:ext cx="67665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اقْرَأِ الأَسْئِلَةَ أَوَّلًا وَ</a:t>
            </a:r>
            <a:pPr rtl="1" algn="ctr" indent="0" marL="0">
              <a:buNone/>
            </a:pPr>
            <a:r>
              <a:rPr lang="ar-SA" altLang="en-US" sz="1700" b="1" dirty="0">
                <a:solidFill>
                  <a:srgbClr val="C77700"/>
                </a:solidFill>
                <a:latin typeface="Amiri" pitchFamily="2" charset="-78"/>
                <a:cs typeface="Amiri" pitchFamily="2" charset="-78"/>
              </a:rPr>
              <a:t>حَدِّدْ نَوْعَ المُسَبِّبِ المَطْلُوبِ</a:t>
            </a:r>
            <a:pPr rtl="1" algn="ctr" indent="0" marL="0">
              <a:buNone/>
            </a:pPr>
            <a:r>
              <a:rPr lang="ar-SA" altLang="en-US" sz="1700" b="1" dirty="0">
                <a:solidFill>
                  <a:srgbClr val="1B3B6F"/>
                </a:solidFill>
                <a:latin typeface="Amiri" pitchFamily="2" charset="-78"/>
                <a:cs typeface="Amiri" pitchFamily="2" charset="-78"/>
              </a:rPr>
              <a:t>.</a:t>
            </a:r>
            <a:endParaRPr lang="ar-SA" sz="1700" dirty="0"/>
          </a:p>
        </p:txBody>
      </p:sp>
      <p:sp>
        <p:nvSpPr>
          <p:cNvPr id="22" name="Text 19"/>
          <p:cNvSpPr txBox="1"/>
          <p:nvPr/>
        </p:nvSpPr>
        <p:spPr>
          <a:xfrm>
            <a:off x="56692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final -a is often swallowed</a:t>
            </a:r>
            <a:endParaRPr lang="en-US" sz="1100" dirty="0"/>
          </a:p>
        </p:txBody>
      </p:sp>
      <p:sp>
        <p:nvSpPr>
          <p:cNvPr id="27" name="Text 24"/>
          <p:cNvSpPr txBox="1"/>
          <p:nvPr/>
        </p:nvSpPr>
        <p:spPr>
          <a:xfrm>
            <a:off x="2011680" y="3054096"/>
            <a:ext cx="6766560" cy="731520"/>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cs typeface="Amiri" pitchFamily="2" charset="-78"/>
              </a:rPr>
              <a:t>رَكِّزْ عَلَى المُسَبِّبِ لَا عَلَى الحَرَكَةِ</a:t>
            </a:r>
            <a:pPr rtl="1" algn="ctr" indent="0" marL="0">
              <a:buNone/>
            </a:pPr>
            <a:r>
              <a:rPr lang="ar-SA" altLang="en-US" sz="1700" b="1" dirty="0">
                <a:solidFill>
                  <a:srgbClr val="1B3B6F"/>
                </a:solidFill>
                <a:latin typeface="Amiri" pitchFamily="2" charset="-78"/>
                <a:cs typeface="Amiri" pitchFamily="2" charset="-78"/>
              </a:rPr>
              <a:t>.</a:t>
            </a:r>
            <a:endParaRPr lang="ar-SA" sz="1700" dirty="0"/>
          </a:p>
        </p:txBody>
      </p:sp>
      <p:sp>
        <p:nvSpPr>
          <p:cNvPr id="28" name="Text 25"/>
          <p:cNvSpPr txBox="1"/>
          <p:nvPr/>
        </p:nvSpPr>
        <p:spPr>
          <a:xfrm>
            <a:off x="56692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during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result decides</a:t>
            </a:r>
            <a:endParaRPr lang="en-US" sz="1100" dirty="0"/>
          </a:p>
        </p:txBody>
      </p:sp>
      <p:sp>
        <p:nvSpPr>
          <p:cNvPr id="33" name="Text 30"/>
          <p:cNvSpPr txBox="1"/>
          <p:nvPr/>
        </p:nvSpPr>
        <p:spPr>
          <a:xfrm>
            <a:off x="2011680" y="3840480"/>
            <a:ext cx="67665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«سَ» تَدُلُّ عَلَى شَرْطٍ </a:t>
            </a:r>
            <a:pPr rtl="1" algn="ctr" indent="0" marL="0">
              <a:buNone/>
            </a:pPr>
            <a:r>
              <a:rPr lang="ar-SA" altLang="en-US" sz="1700" b="1" dirty="0">
                <a:solidFill>
                  <a:srgbClr val="1D5FBF"/>
                </a:solidFill>
                <a:latin typeface="Amiri" pitchFamily="2" charset="-78"/>
                <a:cs typeface="Amiri" pitchFamily="2" charset="-78"/>
              </a:rPr>
              <a:t>حَقِيقِيٍّ</a:t>
            </a:r>
            <a:pPr rtl="1" algn="ctr" indent="0" marL="0">
              <a:buNone/>
            </a:pPr>
            <a:r>
              <a:rPr lang="ar-SA" altLang="en-US" sz="1700" b="1" dirty="0">
                <a:solidFill>
                  <a:srgbClr val="1B3B6F"/>
                </a:solidFill>
                <a:latin typeface="Amiri" pitchFamily="2" charset="-78"/>
                <a:cs typeface="Amiri" pitchFamily="2" charset="-78"/>
              </a:rPr>
              <a:t> وَ«لَ» عَلَى شَرْطٍ </a:t>
            </a:r>
            <a:pPr rtl="1" algn="ctr" indent="0" marL="0">
              <a:buNone/>
            </a:pPr>
            <a:r>
              <a:rPr lang="ar-SA" altLang="en-US" sz="1700" b="1" dirty="0">
                <a:solidFill>
                  <a:srgbClr val="7B3FA0"/>
                </a:solidFill>
                <a:latin typeface="Amiri" pitchFamily="2" charset="-78"/>
                <a:cs typeface="Amiri" pitchFamily="2" charset="-78"/>
              </a:rPr>
              <a:t>افْتِرَاضِيٍّ</a:t>
            </a:r>
            <a:pPr rtl="1" algn="ctr" indent="0" marL="0">
              <a:buNone/>
            </a:pPr>
            <a:r>
              <a:rPr lang="ar-SA" altLang="en-US" sz="1700" b="1" dirty="0">
                <a:solidFill>
                  <a:srgbClr val="1B3B6F"/>
                </a:solidFill>
                <a:latin typeface="Amiri" pitchFamily="2" charset="-78"/>
                <a:cs typeface="Amiri" pitchFamily="2" charset="-78"/>
              </a:rPr>
              <a:t>.</a:t>
            </a:r>
            <a:endParaRPr lang="ar-SA" sz="1700" dirty="0"/>
          </a:p>
        </p:txBody>
      </p:sp>
      <p:sp>
        <p:nvSpPr>
          <p:cNvPr id="34" name="Text 31"/>
          <p:cNvSpPr txBox="1"/>
          <p:nvPr/>
        </p:nvSpPr>
        <p:spPr>
          <a:xfrm>
            <a:off x="56692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specific beats general</a:t>
            </a:r>
            <a:endParaRPr lang="en-US" sz="1100" dirty="0"/>
          </a:p>
        </p:txBody>
      </p:sp>
      <p:sp>
        <p:nvSpPr>
          <p:cNvPr id="37" name="Text 34"/>
          <p:cNvSpPr txBox="1"/>
          <p:nvPr/>
        </p:nvSpPr>
        <p:spPr>
          <a:xfrm>
            <a:off x="2011680" y="4626864"/>
            <a:ext cx="67665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تَذَكَّرْ أَنَّ </a:t>
            </a:r>
            <a:pPr rtl="1" algn="ctr" indent="0" marL="0">
              <a:buNone/>
            </a:pPr>
            <a:r>
              <a:rPr lang="ar-SA" altLang="en-US" sz="1700" b="1" dirty="0">
                <a:solidFill>
                  <a:srgbClr val="0E7C86"/>
                </a:solidFill>
                <a:latin typeface="Amiri" pitchFamily="2" charset="-78"/>
                <a:cs typeface="Amiri" pitchFamily="2" charset="-78"/>
              </a:rPr>
              <a:t>الإِجَابَةَ العَامَّةَ</a:t>
            </a:r>
            <a:pPr rtl="1" algn="ctr" indent="0" marL="0">
              <a:buNone/>
            </a:pPr>
            <a:r>
              <a:rPr lang="ar-SA" altLang="en-US" sz="1700" b="1" dirty="0">
                <a:solidFill>
                  <a:srgbClr val="1B3B6F"/>
                </a:solidFill>
                <a:latin typeface="Amiri" pitchFamily="2" charset="-78"/>
                <a:cs typeface="Amiri" pitchFamily="2" charset="-78"/>
              </a:rPr>
              <a:t> كَثِيرًا مَا تَكُونُ مُشَتِّتًا.</a:t>
            </a:r>
            <a:endParaRPr lang="ar-SA" sz="1700" dirty="0"/>
          </a:p>
        </p:txBody>
      </p:sp>
      <p:sp>
        <p:nvSpPr>
          <p:cNvPr id="38" name="Text 35"/>
          <p:cNvSpPr txBox="1"/>
          <p:nvPr/>
        </p:nvSpPr>
        <p:spPr>
          <a:xfrm>
            <a:off x="56692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guide itself starts with a subjunctive: </a:t>
            </a:r>
            <a:pPr algn="l" indent="0" marL="0">
              <a:buNone/>
            </a:pPr>
            <a:r>
              <a:rPr lang="ar-SA" altLang="en-US" sz="1500" b="1" dirty="0">
                <a:solidFill>
                  <a:srgbClr val="1B3B6F"/>
                </a:solidFill>
                <a:latin typeface="Amiri" pitchFamily="2" charset="-78"/>
                <a:cs typeface="Amiri" pitchFamily="2" charset="-78"/>
              </a:rPr>
              <a:t>لِتَنْجَحَ فِي الاسْتِمَاعِ</a:t>
            </a:r>
            <a:pPr algn="l" indent="0" marL="0">
              <a:buNone/>
            </a:pPr>
            <a:r>
              <a:rPr lang="en-US" sz="1150" b="1" dirty="0">
                <a:solidFill>
                  <a:srgbClr val="1B3B6F"/>
                </a:solidFill>
                <a:latin typeface="Calibri" pitchFamily="34" charset="0"/>
                <a:cs typeface="Amiri" pitchFamily="2" charset="-78"/>
              </a:rPr>
              <a:t> … = so that you succeed in listening (li- + -a).</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Hearing subjunctive triggers and conditionals in fast speech</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سَمَاعُ مُسَبِّبَاتِ النَّصْبِ وَالشَّرْطِ</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Trigger predicts the clause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li-kay · yakhshā / yarjū an · yanbaghī / yataṭallabu an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لِكَيْ نَحْمِيَ   ·   يَنْبَغِي أَنْ نَسْتَثْمِرَ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Fear vs hope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yakhshā (fear) · yarjū (hope)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يَخْشَى أَنْ يَتَجَاوَزَ الاحْتِرَارُ حَدَّهُ   ·   يَرْجُو أَنْ تُوَقِّعَ الدُّوَلُ الاتِّفَاقَ</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Conditional by result marker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sa- (real) · la- (hypothetical)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اسْتَثْمَرْنَا، سَنُقَلِّلُ   ·   لَوْ بَدَأْنَا مُبَكِّرًا، لَنَجَحْنَا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Past perfect and passives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 qad · dummirat · uʿlinat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كَانَتِ المَدِينَةُ قَدْ فَقَدَتْ حَدَائِقَهَا   ·   دُمِّرَتِ المَبَانِي وَأُعْلِنَتْ حَالَةُ الطَّوَارِئِ</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The clause is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necessity clause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 clause</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The clause is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necessity clause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 clause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conditional</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يَخْشَى أَنْ</a:t>
            </a:r>
            <a:pPr algn="l" indent="0" marL="0">
              <a:buNone/>
            </a:pPr>
            <a:r>
              <a:rPr lang="en-US" sz="1250" b="1" dirty="0">
                <a:solidFill>
                  <a:srgbClr val="1B3B6F"/>
                </a:solidFill>
                <a:latin typeface="Calibri" pitchFamily="34" charset="0"/>
                <a:cs typeface="Amiri" pitchFamily="2" charset="-78"/>
              </a:rPr>
              <a:t>. The attitude is …</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hope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fear</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يَرْجُو أَنْ</a:t>
            </a:r>
            <a:pPr algn="l" indent="0" marL="0">
              <a:buNone/>
            </a:pPr>
            <a:r>
              <a:rPr lang="en-US" sz="1250" b="1" dirty="0">
                <a:solidFill>
                  <a:srgbClr val="1B3B6F"/>
                </a:solidFill>
                <a:latin typeface="Calibri" pitchFamily="34" charset="0"/>
                <a:cs typeface="Amiri" pitchFamily="2" charset="-78"/>
              </a:rPr>
              <a:t>. The attitude is …</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hope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fear</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doubt</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The clause is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necessity clause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purpose clause</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signals a purpose clause.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The clause is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necessity clause</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purpose clause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conditional</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يَنْبَغِي أَنْ</a:t>
            </a:r>
            <a:pPr algn="l" indent="0" marL="0">
              <a:buNone/>
            </a:pPr>
            <a:r>
              <a:rPr lang="en-US" sz="1050" i="1" dirty="0">
                <a:solidFill>
                  <a:srgbClr val="8A6D1E"/>
                </a:solidFill>
                <a:latin typeface="Calibri" pitchFamily="34" charset="0"/>
                <a:cs typeface="Amiri" pitchFamily="2" charset="-78"/>
              </a:rPr>
              <a:t> signals impersonal necessity.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يَخْشَى أَنْ</a:t>
            </a:r>
            <a:pPr algn="l" indent="0" marL="0">
              <a:buNone/>
            </a:pPr>
            <a:r>
              <a:rPr lang="en-US" sz="1250" b="1" dirty="0">
                <a:solidFill>
                  <a:srgbClr val="1B3B6F"/>
                </a:solidFill>
                <a:latin typeface="Calibri" pitchFamily="34" charset="0"/>
                <a:cs typeface="Amiri" pitchFamily="2" charset="-78"/>
              </a:rPr>
              <a:t>. The attitude is …</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hope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fear</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يَخْشَى</a:t>
            </a:r>
            <a:pPr algn="l" indent="0" marL="0">
              <a:buNone/>
            </a:pPr>
            <a:r>
              <a:rPr lang="en-US" sz="1050" i="1" dirty="0">
                <a:solidFill>
                  <a:srgbClr val="8A6D1E"/>
                </a:solidFill>
                <a:latin typeface="Calibri" pitchFamily="34" charset="0"/>
                <a:cs typeface="Amiri" pitchFamily="2" charset="-78"/>
              </a:rPr>
              <a:t> signals fear — a volition trigger.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يَرْجُو أَنْ</a:t>
            </a:r>
            <a:pPr algn="l" indent="0" marL="0">
              <a:buNone/>
            </a:pPr>
            <a:r>
              <a:rPr lang="en-US" sz="1250" b="1" dirty="0">
                <a:solidFill>
                  <a:srgbClr val="1B3B6F"/>
                </a:solidFill>
                <a:latin typeface="Calibri" pitchFamily="34" charset="0"/>
                <a:cs typeface="Amiri" pitchFamily="2" charset="-78"/>
              </a:rPr>
              <a:t>. The attitude is …</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hope</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fear</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doubt</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يَرْجُو</a:t>
            </a:r>
            <a:pPr algn="l" indent="0" marL="0">
              <a:buNone/>
            </a:pPr>
            <a:r>
              <a:rPr lang="en-US" sz="1050" i="1" dirty="0">
                <a:solidFill>
                  <a:srgbClr val="8A6D1E"/>
                </a:solidFill>
                <a:latin typeface="Calibri" pitchFamily="34" charset="0"/>
                <a:cs typeface="Amiri" pitchFamily="2" charset="-78"/>
              </a:rPr>
              <a:t> signals hope — a volition trigger.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plan my listening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Before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أَقْرَأُ الأَسْئِلَةَ وَأُحَدِّدُ المُسَبِّبَ</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Predict.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Purpose / need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D6336C"/>
                </a:solidFill>
                <a:latin typeface="Amiri" pitchFamily="2" charset="-78"/>
                <a:cs typeface="Amiri" pitchFamily="2" charset="-78"/>
              </a:rPr>
              <a:t>«لِكَيْ»</a:t>
            </a:r>
            <a:pPr rtl="1" algn="ctr" indent="0" marL="0">
              <a:lnSpc>
                <a:spcPct val="120000"/>
              </a:lnSpc>
              <a:buNone/>
            </a:pPr>
            <a:r>
              <a:rPr lang="ar-SA" altLang="en-US" sz="1900" b="1" dirty="0">
                <a:solidFill>
                  <a:srgbClr val="1B3B6F"/>
                </a:solidFill>
                <a:latin typeface="Amiri" pitchFamily="2" charset="-78"/>
                <a:cs typeface="Amiri" pitchFamily="2" charset="-78"/>
              </a:rPr>
              <a:t> · </a:t>
            </a:r>
            <a:pPr rtl="1" algn="ctr" indent="0" marL="0">
              <a:lnSpc>
                <a:spcPct val="120000"/>
              </a:lnSpc>
              <a:buNone/>
            </a:pPr>
            <a:r>
              <a:rPr lang="ar-SA" altLang="en-US" sz="1900" b="1" dirty="0">
                <a:solidFill>
                  <a:srgbClr val="0E7C86"/>
                </a:solidFill>
                <a:latin typeface="Amiri" pitchFamily="2" charset="-78"/>
                <a:cs typeface="Amiri" pitchFamily="2" charset="-78"/>
              </a:rPr>
              <a:t>«يَنْبَغِي»</a:t>
            </a:r>
            <a:pPr rtl="1" algn="ctr" indent="0" marL="0">
              <a:lnSpc>
                <a:spcPct val="120000"/>
              </a:lnSpc>
              <a:buNone/>
            </a:pPr>
            <a:r>
              <a:rPr lang="ar-SA" altLang="en-US" sz="1900" b="1" dirty="0">
                <a:solidFill>
                  <a:srgbClr val="1B3B6F"/>
                </a:solidFill>
                <a:latin typeface="Amiri" pitchFamily="2" charset="-78"/>
                <a:cs typeface="Amiri" pitchFamily="2" charset="-78"/>
              </a:rPr>
              <a:t> / </a:t>
            </a:r>
            <a:pPr rtl="1" algn="ctr" indent="0" marL="0">
              <a:lnSpc>
                <a:spcPct val="120000"/>
              </a:lnSpc>
              <a:buNone/>
            </a:pPr>
            <a:r>
              <a:rPr lang="ar-SA" altLang="en-US" sz="1900" b="1" dirty="0">
                <a:solidFill>
                  <a:srgbClr val="0E7C86"/>
                </a:solidFill>
                <a:latin typeface="Amiri" pitchFamily="2" charset="-78"/>
                <a:cs typeface="Amiri" pitchFamily="2" charset="-78"/>
              </a:rPr>
              <a:t>«يَتَطَلَّبُ»</a:t>
            </a:r>
            <a:endParaRPr lang="ar-SA" sz="19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Which job?</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Attitude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cs typeface="Amiri" pitchFamily="2" charset="-78"/>
              </a:rPr>
              <a:t>«يَخْشَى»</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1D5FBF"/>
                </a:solidFill>
                <a:latin typeface="Amiri" pitchFamily="2" charset="-78"/>
                <a:cs typeface="Amiri" pitchFamily="2" charset="-78"/>
              </a:rPr>
              <a:t>«يَرْجُو»</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Fear or hope?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Conditional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C77700"/>
                </a:solidFill>
                <a:latin typeface="Amiri" pitchFamily="2" charset="-78"/>
                <a:cs typeface="Amiri" pitchFamily="2" charset="-78"/>
              </a:rPr>
              <a:t>عَلَامَةُ الجَوَابِ</a:t>
            </a:r>
            <a:pPr rtl="1" algn="ctr" indent="0" marL="0">
              <a:buNone/>
            </a:pPr>
            <a:r>
              <a:rPr lang="ar-SA" altLang="en-US" sz="2550" b="1" dirty="0">
                <a:solidFill>
                  <a:srgbClr val="1B3B6F"/>
                </a:solidFill>
                <a:latin typeface="Amiri" pitchFamily="2" charset="-78"/>
                <a:cs typeface="Amiri" pitchFamily="2" charset="-78"/>
              </a:rPr>
              <a:t>: سَ / لَ</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Wait for it.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PURPOSE</a:t>
            </a:r>
            <a:endParaRPr lang="en-US" sz="800" dirty="0"/>
          </a:p>
        </p:txBody>
      </p:sp>
      <p:sp>
        <p:nvSpPr>
          <p:cNvPr id="47" name="Shape 43"/>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NECESSITY</a:t>
            </a:r>
            <a:endParaRPr lang="en-US" sz="800" dirty="0"/>
          </a:p>
        </p:txBody>
      </p:sp>
      <p:sp>
        <p:nvSpPr>
          <p:cNvPr id="49" name="Shape 45"/>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FEAR</a:t>
            </a:r>
            <a:endParaRPr lang="en-US" sz="800" dirty="0"/>
          </a:p>
        </p:txBody>
      </p:sp>
      <p:sp>
        <p:nvSpPr>
          <p:cNvPr id="51" name="Shape 47"/>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HOPE</a:t>
            </a:r>
            <a:endParaRPr lang="en-US" sz="800" dirty="0"/>
          </a:p>
        </p:txBody>
      </p:sp>
      <p:sp>
        <p:nvSpPr>
          <p:cNvPr id="53" name="Shape 49"/>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RESULT MARKER</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قَبْلَ الاسْتِمَاعِ، أَقْرَأُ الأَسْئِلَةَ وَأُحَدِّدُ نَوْعَ المُسَبِّبِ المَطْلُوبِ. فَإِنْ كَانَ السُّؤَالُ عَنْ غَرَضٍ، أُصْغِي إِلَى </a:t>
            </a:r>
            <a:pPr rtl="1" algn="r" indent="0" marL="0">
              <a:lnSpc>
                <a:spcPct val="120000"/>
              </a:lnSpc>
              <a:buNone/>
            </a:pPr>
            <a:r>
              <a:rPr lang="ar-SA" altLang="en-US" sz="1400" b="1" dirty="0">
                <a:solidFill>
                  <a:srgbClr val="D6336C"/>
                </a:solidFill>
                <a:latin typeface="Amiri" pitchFamily="2" charset="-78"/>
                <a:cs typeface="Amiri" pitchFamily="2" charset="-78"/>
              </a:rPr>
              <a:t>«لِكَيْ»</a:t>
            </a:r>
            <a:pPr rtl="1" algn="r" indent="0" marL="0">
              <a:lnSpc>
                <a:spcPct val="120000"/>
              </a:lnSpc>
              <a:buNone/>
            </a:pPr>
            <a:r>
              <a:rPr lang="ar-SA" altLang="en-US" sz="1400" b="1" dirty="0">
                <a:solidFill>
                  <a:srgbClr val="1B3B6F"/>
                </a:solidFill>
                <a:latin typeface="Amiri" pitchFamily="2" charset="-78"/>
                <a:cs typeface="Amiri" pitchFamily="2" charset="-78"/>
              </a:rPr>
              <a:t>؛ وَإِنْ كَانَ عَنْ ضَرُورَةٍ، أُصْغِي إِلَى </a:t>
            </a:r>
            <a:pPr rtl="1" algn="r" indent="0" marL="0">
              <a:lnSpc>
                <a:spcPct val="120000"/>
              </a:lnSpc>
              <a:buNone/>
            </a:pPr>
            <a:r>
              <a:rPr lang="ar-SA" altLang="en-US" sz="1400" b="1" dirty="0">
                <a:solidFill>
                  <a:srgbClr val="0E7C86"/>
                </a:solidFill>
                <a:latin typeface="Amiri" pitchFamily="2" charset="-78"/>
                <a:cs typeface="Amiri" pitchFamily="2" charset="-78"/>
              </a:rPr>
              <a:t>«يَنْبَغِي»</a:t>
            </a:r>
            <a:pPr rtl="1" algn="r" indent="0" marL="0">
              <a:lnSpc>
                <a:spcPct val="120000"/>
              </a:lnSpc>
              <a:buNone/>
            </a:pPr>
            <a:r>
              <a:rPr lang="ar-SA" altLang="en-US" sz="1400" b="1" dirty="0">
                <a:solidFill>
                  <a:srgbClr val="1B3B6F"/>
                </a:solidFill>
                <a:latin typeface="Amiri" pitchFamily="2" charset="-78"/>
                <a:cs typeface="Amiri" pitchFamily="2" charset="-78"/>
              </a:rPr>
              <a:t> أَوْ </a:t>
            </a:r>
            <a:pPr rtl="1" algn="r" indent="0" marL="0">
              <a:lnSpc>
                <a:spcPct val="120000"/>
              </a:lnSpc>
              <a:buNone/>
            </a:pPr>
            <a:r>
              <a:rPr lang="ar-SA" altLang="en-US" sz="1400" b="1" dirty="0">
                <a:solidFill>
                  <a:srgbClr val="0E7C86"/>
                </a:solidFill>
                <a:latin typeface="Amiri" pitchFamily="2" charset="-78"/>
                <a:cs typeface="Amiri" pitchFamily="2" charset="-78"/>
              </a:rPr>
              <a:t>«يَتَطَلَّبُ»</a:t>
            </a:r>
            <a:pPr rtl="1" algn="r" indent="0" marL="0">
              <a:lnSpc>
                <a:spcPct val="120000"/>
              </a:lnSpc>
              <a:buNone/>
            </a:pPr>
            <a:r>
              <a:rPr lang="ar-SA" altLang="en-US" sz="1400" b="1" dirty="0">
                <a:solidFill>
                  <a:srgbClr val="1B3B6F"/>
                </a:solidFill>
                <a:latin typeface="Amiri" pitchFamily="2" charset="-78"/>
                <a:cs typeface="Amiri" pitchFamily="2" charset="-78"/>
              </a:rPr>
              <a:t>؛ وَإِنْ كَانَ عَنْ مَوْقِفٍ، أُمَيِّزُ </a:t>
            </a:r>
            <a:pPr rtl="1" algn="r" indent="0" marL="0">
              <a:lnSpc>
                <a:spcPct val="120000"/>
              </a:lnSpc>
              <a:buNone/>
            </a:pPr>
            <a:r>
              <a:rPr lang="ar-SA" altLang="en-US" sz="1400" b="1" dirty="0">
                <a:solidFill>
                  <a:srgbClr val="7B3FA0"/>
                </a:solidFill>
                <a:latin typeface="Amiri" pitchFamily="2" charset="-78"/>
                <a:cs typeface="Amiri" pitchFamily="2" charset="-78"/>
              </a:rPr>
              <a:t>«يَخْشَى»</a:t>
            </a:r>
            <a:pPr rtl="1" algn="r" indent="0" marL="0">
              <a:lnSpc>
                <a:spcPct val="120000"/>
              </a:lnSpc>
              <a:buNone/>
            </a:pPr>
            <a:r>
              <a:rPr lang="ar-SA" altLang="en-US" sz="1400" b="1" dirty="0">
                <a:solidFill>
                  <a:srgbClr val="1B3B6F"/>
                </a:solidFill>
                <a:latin typeface="Amiri" pitchFamily="2" charset="-78"/>
                <a:cs typeface="Amiri" pitchFamily="2" charset="-78"/>
              </a:rPr>
              <a:t> مِنْ </a:t>
            </a:r>
            <a:pPr rtl="1" algn="r" indent="0" marL="0">
              <a:lnSpc>
                <a:spcPct val="120000"/>
              </a:lnSpc>
              <a:buNone/>
            </a:pPr>
            <a:r>
              <a:rPr lang="ar-SA" altLang="en-US" sz="1400" b="1" dirty="0">
                <a:solidFill>
                  <a:srgbClr val="1D5FBF"/>
                </a:solidFill>
                <a:latin typeface="Amiri" pitchFamily="2" charset="-78"/>
                <a:cs typeface="Amiri" pitchFamily="2" charset="-78"/>
              </a:rPr>
              <a:t>«يَرْجُو»</a:t>
            </a:r>
            <a:pPr rtl="1" algn="r" indent="0" marL="0">
              <a:lnSpc>
                <a:spcPct val="120000"/>
              </a:lnSpc>
              <a:buNone/>
            </a:pPr>
            <a:r>
              <a:rPr lang="ar-SA" altLang="en-US" sz="1400" b="1" dirty="0">
                <a:solidFill>
                  <a:srgbClr val="1B3B6F"/>
                </a:solidFill>
                <a:latin typeface="Amiri" pitchFamily="2" charset="-78"/>
                <a:cs typeface="Amiri" pitchFamily="2" charset="-78"/>
              </a:rPr>
              <a:t>. وَلَا أُحَاوِلُ الْتِقَاطَ الفَتْحَةِ الأَخِيرَةِ، بَلْ أُرَكِّزُ عَلَى المُسَبِّبِ. وَفِي الشَّرْطِ، أُصْغِي إِلَى </a:t>
            </a:r>
            <a:pPr rtl="1" algn="r" indent="0" marL="0">
              <a:lnSpc>
                <a:spcPct val="120000"/>
              </a:lnSpc>
              <a:buNone/>
            </a:pPr>
            <a:r>
              <a:rPr lang="ar-SA" altLang="en-US" sz="1400" b="1" dirty="0">
                <a:solidFill>
                  <a:srgbClr val="C77700"/>
                </a:solidFill>
                <a:latin typeface="Amiri" pitchFamily="2" charset="-78"/>
                <a:cs typeface="Amiri" pitchFamily="2" charset="-78"/>
              </a:rPr>
              <a:t>عَلَامَةِ الجَوَابِ</a:t>
            </a:r>
            <a:pPr rtl="1" algn="r" indent="0" marL="0">
              <a:lnSpc>
                <a:spcPct val="120000"/>
              </a:lnSpc>
              <a:buNone/>
            </a:pPr>
            <a:r>
              <a:rPr lang="ar-SA" altLang="en-US" sz="1400" b="1" dirty="0">
                <a:solidFill>
                  <a:srgbClr val="1B3B6F"/>
                </a:solidFill>
                <a:latin typeface="Amiri" pitchFamily="2" charset="-78"/>
                <a:cs typeface="Amiri" pitchFamily="2" charset="-78"/>
              </a:rPr>
              <a:t>.</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50" i="1" dirty="0">
                <a:solidFill>
                  <a:srgbClr val="5A6472"/>
                </a:solidFill>
                <a:latin typeface="Calibri" pitchFamily="34" charset="0"/>
                <a:cs typeface="Amiri" pitchFamily="2" charset="-78"/>
              </a:rPr>
              <a:t>Before listening, I read the questions and identify the type of trigger needed. If the question is about a purpose, I listen for “li-kay”; if it is about a necessity, I listen for “yanbaghī” or “yataṭallabu”; if it is about an attitude, I tell “yakhshā” from “yarjū”. I do not try to catch the final fatḥa; I focus on the trigger. And in a conditional, I listen for the result marker.</a:t>
            </a:r>
            <a:endParaRPr lang="en-US" sz="95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يَتَطَلَّبُ الوَضْعُ أَنْ تُخَصِّصَ الحُكُومَاتُ مِيزَانِيَّاتٍ أَكْبَرَ</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situation requires governments to allocate bigger budgets</a:t>
            </a:r>
            <a:endParaRPr lang="en-US" sz="1250" dirty="0"/>
          </a:p>
          <a:p>
            <a:pPr indent="0" marL="0">
              <a:buNone/>
            </a:pPr>
            <a:r>
              <a:rPr lang="en-US" sz="1050" i="1" dirty="0">
                <a:solidFill>
                  <a:srgbClr val="8A6D1E"/>
                </a:solidFill>
                <a:latin typeface="Calibri" pitchFamily="34" charset="0"/>
                <a:cs typeface="Amiri" pitchFamily="2" charset="-78"/>
              </a:rPr>
              <a:t>yataṭallabu an → necessity.</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يَخْشَى الخُبَرَاءُ أَنْ يَتَجَاوَزَ الاحْتِرَارُ حَدَّهُ</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experts fear that warming will exceed its limit</a:t>
            </a:r>
            <a:endParaRPr lang="en-US" sz="1250" dirty="0"/>
          </a:p>
          <a:p>
            <a:pPr indent="0" marL="0">
              <a:buNone/>
            </a:pPr>
            <a:r>
              <a:rPr lang="en-US" sz="1050" i="1" dirty="0">
                <a:solidFill>
                  <a:srgbClr val="8A6D1E"/>
                </a:solidFill>
                <a:latin typeface="Calibri" pitchFamily="34" charset="0"/>
                <a:cs typeface="Amiri" pitchFamily="2" charset="-78"/>
              </a:rPr>
              <a:t>yakhshā an → fear (volition).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نُطَوِّرُ النَّقْلَ الكَهْرَبَائِيَّ لِكَيْ نُقَلِّلَ الانْبِعَاثَاتِ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develop electric transport so that we reduce emissions</a:t>
            </a:r>
            <a:endParaRPr lang="en-US" sz="1250" dirty="0"/>
          </a:p>
          <a:p>
            <a:pPr indent="0" marL="0">
              <a:buNone/>
            </a:pPr>
            <a:r>
              <a:rPr lang="en-US" sz="1050" i="1" dirty="0">
                <a:solidFill>
                  <a:srgbClr val="8A6D1E"/>
                </a:solidFill>
                <a:latin typeface="Calibri" pitchFamily="34" charset="0"/>
                <a:cs typeface="Amiri" pitchFamily="2" charset="-78"/>
              </a:rPr>
              <a:t>li-kay → purpose.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REPORT WHAT YOU HEARD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Necessity + attitude + conditional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تَقْرِيرٌ عَمَّا سَمِعْتَ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Necessity</a:t>
            </a:r>
            <a:endParaRPr lang="en-US" sz="1100" dirty="0"/>
          </a:p>
        </p:txBody>
      </p:sp>
      <p:sp>
        <p:nvSpPr>
          <p:cNvPr id="19" name="Text 16"/>
          <p:cNvSpPr txBox="1"/>
          <p:nvPr/>
        </p:nvSpPr>
        <p:spPr>
          <a:xfrm>
            <a:off x="43068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Fear / hope / aim</a:t>
            </a:r>
            <a:endParaRPr lang="en-US" sz="1100" dirty="0"/>
          </a:p>
        </p:txBody>
      </p:sp>
      <p:sp>
        <p:nvSpPr>
          <p:cNvPr id="20" name="Text 17"/>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Conditional / purpose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يَتَطَلَّبُ الوَضْعُ أَنْ تُخَصِّصَ الحُكُومَاتُ مِيزَانِيَّاتٍ أَكْبَرَ</a:t>
            </a:r>
            <a:endParaRPr lang="ar-SA" sz="1600" dirty="0"/>
          </a:p>
        </p:txBody>
      </p:sp>
      <p:sp>
        <p:nvSpPr>
          <p:cNvPr id="23" name="Text 20"/>
          <p:cNvSpPr txBox="1"/>
          <p:nvPr/>
        </p:nvSpPr>
        <p:spPr>
          <a:xfrm>
            <a:off x="4325112" y="2267712"/>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وَنَخْشَى أَنْ يَتَجَاوَزَ الاحْتِرَارُ العَالَمِيُّ حُدُودَهُ الآمِنَةَ</a:t>
            </a:r>
            <a:endParaRPr lang="ar-SA" sz="1600" dirty="0"/>
          </a:p>
        </p:txBody>
      </p:sp>
      <p:sp>
        <p:nvSpPr>
          <p:cNvPr id="24" name="Text 21"/>
          <p:cNvSpPr txBox="1"/>
          <p:nvPr/>
        </p:nvSpPr>
        <p:spPr>
          <a:xfrm>
            <a:off x="548640" y="2267712"/>
            <a:ext cx="3593592"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cs typeface="Amiri" pitchFamily="2" charset="-78"/>
              </a:rPr>
              <a:t>وَإِذَا اعْتَمَدْنَا عَلَى الطَّاقَةِ الشَّمْسِيَّةِ سَنُخَفِّضُ التَّكَالِيفَ</a:t>
            </a:r>
            <a:endParaRPr lang="ar-SA" sz="15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يَنْبَغِي أَنْ نَسْتَثْمِرَ فِي تَحْلِيَةِ المِيَاهِ</a:t>
            </a:r>
            <a:endParaRPr lang="ar-SA" sz="1600" dirty="0"/>
          </a:p>
        </p:txBody>
      </p:sp>
      <p:sp>
        <p:nvSpPr>
          <p:cNvPr id="29" name="Text 26"/>
          <p:cNvSpPr txBox="1"/>
          <p:nvPr/>
        </p:nvSpPr>
        <p:spPr>
          <a:xfrm>
            <a:off x="4325112" y="3054096"/>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وَنَرْجُو أَنْ تُوَقِّعَ الدُّوَلُ اتِّفَاقًا لِلْمِيَاهِ المُشْتَرَكَةِ</a:t>
            </a:r>
            <a:endParaRPr lang="ar-SA" sz="1600" dirty="0"/>
          </a:p>
        </p:txBody>
      </p:sp>
      <p:sp>
        <p:nvSpPr>
          <p:cNvPr id="30" name="Text 27"/>
          <p:cNvSpPr txBox="1"/>
          <p:nvPr/>
        </p:nvSpPr>
        <p:spPr>
          <a:xfrm>
            <a:off x="548640" y="3054096"/>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كُنَّا قَدِ اسْتَثْمَرْنَا مُبَكِّرًا لَتَجَنَّبْنَا الأَزْمَةَ</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مِنَ الضَّرُورِيِّ أَنْ نُدِيرَ المَوَارِدَ بِحِكْمَةٍ</a:t>
            </a:r>
            <a:endParaRPr lang="ar-SA" sz="1600" dirty="0"/>
          </a:p>
        </p:txBody>
      </p:sp>
      <p:sp>
        <p:nvSpPr>
          <p:cNvPr id="33" name="Text 30"/>
          <p:cNvSpPr txBox="1"/>
          <p:nvPr/>
        </p:nvSpPr>
        <p:spPr>
          <a:xfrm>
            <a:off x="4325112" y="3840480"/>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وَيَهْدِفُ المَشْرُوعُ إِلَى أَنْ يُخَفِّضَ الاسْتِهْلَاكَ</a:t>
            </a:r>
            <a:endParaRPr lang="ar-SA" sz="1600" dirty="0"/>
          </a:p>
        </p:txBody>
      </p:sp>
      <p:sp>
        <p:nvSpPr>
          <p:cNvPr id="34" name="Text 31"/>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وَنَزْرَعُ مَحَاصِيلَ أَقَلَّ اسْتِهْلَاكًا لِكَيْ نُوَفِّرَ المَاءَ</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Purpose, volition — or necessity?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نُقَلِّلَ الانْبِعَاثَاتِ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نَحْمِيَ المَوَارِدَ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نَصُونَ التُّرَاثَ</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يَخْشَى أَنْ يَتَجَاوَزَ الاحْتِرَارُ حَدَّهُ</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يَرْجُو أَنْ تُوَقِّعَ الدُّوَلُ الاتِّفَاقَ</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نَرْجُو أَنْ يَتَغَيَّرَ السُّلُوكُ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يَتَطَلَّبُ الوَضْعُ أَنْ نَسْتَثْمِرَ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يَنْبَغِي أَنْ نُخَصِّصَ مِيزَانِيَّاتٍ أَكْبَرَ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مِنَ الضَّرُورِيِّ أَنْ نُحَافِظَ عَلَى المِيَاهِ</a:t>
            </a:r>
            <a:endParaRPr lang="ar-SA" sz="16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purpose (li-kay)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volition (yakhshā / yarjū)</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necessity (yanbaghī / yataṭallabu)</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purpose (li-kay)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نُقَلِّلَ الانْبِعَاثَاتِ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نَحْمِيَ المَوَارِدَ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نَصُونَ التُّرَاثَ</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volition (yakhshā / yarjū)</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يَخْشَى أَنْ يَتَجَاوَزَ الاحْتِرَارُ حَدَّهُ</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يَرْجُو أَنْ تُوَقِّعَ الدُّوَلُ الاتِّفَاقَ</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نَرْجُو أَنْ يَتَغَيَّرَ السُّلُوكُ</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necessity (yanbaghī / yataṭallabu)</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يَتَطَلَّبُ الوَضْعُ أَنْ نَسْتَثْمِرَ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يَنْبَغِي أَنْ نُخَصِّصَ مِيزَانِيَّاتٍ أَكْبَرَ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الضَّرُورِيِّ أَنْ نُحَافِظَ عَلَى المِيَاهِ</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focus on the trigger, not the final vowel?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trigger is silent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vowel is louder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 fatḥa is often reduced in speech</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cs typeface="Amiri" pitchFamily="2" charset="-78"/>
              </a:rPr>
              <a:t>سَـ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past-perfect marker to listen for?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focus on the trigger, not the final vowel?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trigger is silent</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vowel is louder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subjunctive fatḥa is often reduced in speech</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fatḥa is fast and reduced, so the trigger is the reliable signal.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cs typeface="Amiri" pitchFamily="2" charset="-78"/>
              </a:rPr>
              <a:t>سَـ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hypothetical (Type 2)</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real (Type 1)</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 signals a real </a:t>
            </a:r>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conditional.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real (Type 1)</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hypothetical (Type 2)</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 signals a counterfactual </a:t>
            </a:r>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conditional.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past-perfect marker to listen for?</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 قَدْ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 marks the past perfect.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سَمِعْتُ «يَنْبَغِي أَنْ» فَظَنَنْتُهُ غَرَضًا.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yanbaghī = purpose?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«يَخْشَى» وَ«يَرْجُو» يَحْمِلَانِ المَوْقِفَ نَفْسَهُ.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yakhshā = yarjū?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حَاوَلْتُ الْتِقَاطَ الفَتْحَةِ الأَخِيرَةِ لِأَعْرِفَ النَّصْبَ.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chasing the final -a?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سَمِعْتُ «يَنْبَغِي أَنْ» فَظَنَنْتُهُ غَرَضًا.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سَمِعْتُ «يَنْبَغِي أَنْ» فَعَرَفْتُ أَنَّهُ ضَرُورَةٌ.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يَنْبَغِي أَنْ</a:t>
            </a:r>
            <a:pPr algn="l" indent="0" marL="0">
              <a:buNone/>
            </a:pPr>
            <a:r>
              <a:rPr lang="en-US" sz="1150" b="1" dirty="0">
                <a:solidFill>
                  <a:srgbClr val="1B3B6F"/>
                </a:solidFill>
                <a:latin typeface="Calibri" pitchFamily="34" charset="0"/>
                <a:cs typeface="Amiri" pitchFamily="2" charset="-78"/>
              </a:rPr>
              <a:t> signals necessity, not purpose — </a:t>
            </a:r>
            <a:pPr algn="l" indent="0" marL="0">
              <a:buNone/>
            </a:pPr>
            <a:r>
              <a:rPr lang="ar-SA" altLang="en-US" sz="1500" b="1" dirty="0">
                <a:solidFill>
                  <a:srgbClr val="1B3B6F"/>
                </a:solidFill>
                <a:latin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signals purpose.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«يَخْشَى» وَ«يَرْجُو» يَحْمِلَانِ المَوْقِفَ نَفْسَهُ.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«يَخْشَى» يَحْمِلُ الخَوْفَ وَ«يَرْجُو» يَحْمِلُ الأَمَلَ.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are volition, but </a:t>
            </a:r>
            <a:pPr algn="l" indent="0" marL="0">
              <a:buNone/>
            </a:pPr>
            <a:r>
              <a:rPr lang="ar-SA" altLang="en-US" sz="1500" b="1" dirty="0">
                <a:solidFill>
                  <a:srgbClr val="1B3B6F"/>
                </a:solidFill>
                <a:latin typeface="Amiri" pitchFamily="2" charset="-78"/>
                <a:cs typeface="Amiri" pitchFamily="2" charset="-78"/>
              </a:rPr>
              <a:t>يَخْشَى</a:t>
            </a:r>
            <a:pPr algn="l" indent="0" marL="0">
              <a:buNone/>
            </a:pPr>
            <a:r>
              <a:rPr lang="en-US" sz="1150" b="1" dirty="0">
                <a:solidFill>
                  <a:srgbClr val="1B3B6F"/>
                </a:solidFill>
                <a:latin typeface="Calibri" pitchFamily="34" charset="0"/>
                <a:cs typeface="Amiri" pitchFamily="2" charset="-78"/>
              </a:rPr>
              <a:t> is fear and </a:t>
            </a:r>
            <a:pPr algn="l" indent="0" marL="0">
              <a:buNone/>
            </a:pPr>
            <a:r>
              <a:rPr lang="ar-SA" altLang="en-US" sz="1500" b="1" dirty="0">
                <a:solidFill>
                  <a:srgbClr val="1B3B6F"/>
                </a:solidFill>
                <a:latin typeface="Amiri" pitchFamily="2" charset="-78"/>
                <a:cs typeface="Amiri" pitchFamily="2" charset="-78"/>
              </a:rPr>
              <a:t>يَرْجُو</a:t>
            </a:r>
            <a:pPr algn="l" indent="0" marL="0">
              <a:buNone/>
            </a:pPr>
            <a:r>
              <a:rPr lang="en-US" sz="1150" b="1" dirty="0">
                <a:solidFill>
                  <a:srgbClr val="1B3B6F"/>
                </a:solidFill>
                <a:latin typeface="Calibri" pitchFamily="34" charset="0"/>
                <a:cs typeface="Amiri" pitchFamily="2" charset="-78"/>
              </a:rPr>
              <a:t> is hope.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حَاوَلْتُ الْتِقَاطَ الفَتْحَةِ الأَخِيرَةِ لِأَعْرِفَ النَّصْبَ.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رَكَّزْتُ عَلَى المُسَبِّبِ لِأَعْرِفَ أَنَّ النَّصْبَ آتٍ.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final fatḥa is reduced in speech; the trigger is the reliable signal.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Part 1: the problem, the need, the fear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main cause of water scarcity?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Low rainfall and poor management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 much desalination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abundance of rivers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say is required (necessity)?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should stop desalination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is required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should allocate bigger budgets for desalination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fear (volition)?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rainfall will increase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budgets will grow</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global warming will exceed its safe limits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of our need does renewable water cover?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tiny share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half</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of it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cause · necessity · fear · share.</a:t>
            </a:r>
            <a:endParaRPr lang="en-US" sz="1250" dirty="0"/>
          </a:p>
          <a:p>
            <a:pPr algn="l" indent="0" marL="0">
              <a:buNone/>
            </a:pPr>
            <a:r>
              <a:rPr lang="en-US" sz="1250" dirty="0">
                <a:solidFill>
                  <a:srgbClr val="1E6B52"/>
                </a:solidFill>
                <a:latin typeface="Calibri" pitchFamily="34" charset="0"/>
                <a:cs typeface="Amiri" pitchFamily="2" charset="-78"/>
              </a:rPr>
              <a:t>Listen for: bi-sabab · yataṭallabu an · nakhshā an · tumaththilu.</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يَقُولُ الخَبِيرُ البِيئِيُّ: تُعَانِي المِنْطَقَةُ العَرَبِيَّةُ مِنْ نُدْرَةِ المِيَاهِ بِسَبَبِ قِلَّةِ الأَمْطَارِ وَسُوءِ الإِدَارَةِ.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environmental expert says: the Arab region suffers from water scarcity because of low rainfall and poor management.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وَتُمَثِّلُ المِيَاهُ المُتَجَدِّدَةُ نِسْبَةً ضَئِيلَةً مِنْ حَاجَتِنَا. يَتَطَلَّبُ الوَضْعُ أَنْ تُخَصِّصَ الحُكُومَاتُ مِيزَانِيَّاتٍ أَكْبَرَ لِلتَّحْلِيَةِ.</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Renewable water represents a tiny share of our need. The situation requires governments to allocate bigger budgets for desalination.</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وَنَخْشَى أَنْ يَتَجَاوَزَ الاحْتِرَارُ العَالَمِيُّ حُدُودَهُ الآمِنَةَ.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we fear that global warming will exceed its safe limits.</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main cause of water scarcity?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Low rainfall and poor management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Too much desalination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abundance of rivers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نُدْرَةِ المِيَاهِ بِسَبَبِ قِلَّةِ الأَمْطَارِ وَسُوءِ الإِدَارَةِ.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say is required (necessity)?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Governments should stop desalination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is required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Governments should allocate bigger budgets for desalination</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يَتَطَلَّبُ الوَضْعُ أَنْ تُخَصِّصَ الحُكُومَاتُ مِيزَانِيَّاتٍ أَكْبَرَ لِلتَّحْلِيَةِ.</a:t>
            </a:r>
            <a:endParaRPr lang="ar-SA" sz="13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fear (volition)?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rainfall will increase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budgets will grow</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global warming will exceed its safe limits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نَخْشَى أَنْ يَتَجَاوَزَ الاحْتِرَارُ العَالَمِيُّ حُدُودَهُ الآمِنَةَ.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of our need does renewable water cover?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tiny share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about half</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of it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وَتُمَثِّلُ المِيَاهُ المُتَجَدِّدَةُ نِسْبَةً ضَئِيلَةً مِنْ حَاجَتِنَا.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cause · necessity · fear · share.</a:t>
            </a:r>
            <a:endParaRPr lang="en-US" sz="1250" dirty="0"/>
          </a:p>
          <a:p>
            <a:pPr algn="l" indent="0" marL="0">
              <a:buNone/>
            </a:pPr>
            <a:r>
              <a:rPr lang="en-US" sz="1250" dirty="0">
                <a:solidFill>
                  <a:srgbClr val="1E6B52"/>
                </a:solidFill>
                <a:latin typeface="Calibri" pitchFamily="34" charset="0"/>
                <a:cs typeface="Amiri" pitchFamily="2" charset="-78"/>
              </a:rPr>
              <a:t>Listen for: bi-sabab · yataṭallabu an · nakhshā an · tumaththilu.</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 2: if, had, so that, we hope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recommendation?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they rely on solar power for desalination, costs will fall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power raises costs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Costs cannot fall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Investing makes no difference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refused to invest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they invested earlier, they would have avoided this crisis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purpose is given for low-water crops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increase water use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raise costs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save their resources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hope for (volition)?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states will sign an agreement to manage shared rivers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rivers will dry up</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desalination will stop</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Type 1 · Type 2 · purpose · hope.</a:t>
            </a:r>
            <a:endParaRPr lang="en-US" sz="1250" dirty="0"/>
          </a:p>
          <a:p>
            <a:pPr algn="l" indent="0" marL="0">
              <a:buNone/>
            </a:pPr>
            <a:r>
              <a:rPr lang="en-US" sz="1250" dirty="0">
                <a:solidFill>
                  <a:srgbClr val="1E6B52"/>
                </a:solidFill>
                <a:latin typeface="Calibri" pitchFamily="34" charset="0"/>
                <a:cs typeface="Amiri" pitchFamily="2" charset="-78"/>
              </a:rPr>
              <a:t>Listen for: sa- · la- · li-kay · narjū an.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إِذَا اعْتَمَدْنَا عَلَى الطَّاقَةِ الشَّمْسِيَّةِ فِي التَّحْلِيَةِ، سَنُخَفِّضُ التَّكَالِيفَ. وَلَوْ كُنَّا قَدِ اسْتَثْمَرْنَا مُبَكِّرًا، لَتَجَنَّبْنَا هٰذِهِ الأَزْمَةَ.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we rely on solar energy for desalination, we will cut costs. And had we invested early, we would have avoided this crisis.</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وَنَزْرَعُ مَحَاصِيلَ أَقَلَّ اسْتِهْلَاكًا لِلْمَاءِ لِكَيْ نُوَفِّرَ مَوَارِدَنَا.</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we grow crops that use less water so that we save our resources.</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وَأَخِيرًا، نَرْجُو أَنْ تُوَقِّعَ الدُّوَلُ اتِّفَاقًا لِإِدَارَةِ الأَنْهَارِ المُشْتَرَكَةِ.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Finally, we hope that states will sign an agreement to manage shared rivers.</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recommendation?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they rely on solar power for desalination, costs will fall</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Solar power raises costs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Costs cannot fall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إِذَا اعْتَمَدْنَا عَلَى الطَّاقَةِ الشَّمْسِيَّةِ فِي التَّحْلِيَةِ، سَنُخَفِّضُ التَّكَالِيفَ.</a:t>
            </a:r>
            <a:endParaRPr lang="ar-SA" sz="11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Investing makes no difference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refused to invest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they invested earlier, they would have avoided this crisis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لَوْ كُنَّا قَدِ اسْتَثْمَرْنَا مُبَكِّرًا، لَتَجَنَّبْنَا هٰذِهِ الأَزْمَةَ.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purpose is given for low-water crops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increase water use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raise costs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save their resources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نَزْرَعُ مَحَاصِيلَ أَقَلَّ اسْتِهْلَاكًا لِلْمَاءِ لِكَيْ نُوَفِّرَ مَوَارِدَنَا.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hope for (volition)?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states will sign an agreement to manage shared rivers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rivers will dry up</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desalination will stop</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نَرْجُو أَنْ تُوَقِّعَ الدُّوَلُ اتِّفَاقًا لِإِدَارَةِ الأَنْهَارِ المُشْتَرَكَةِ.</a:t>
            </a:r>
            <a:endParaRPr lang="ar-SA" sz="130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Type 1 · Type 2 · purpose · hope.</a:t>
            </a:r>
            <a:endParaRPr lang="en-US" sz="1250" dirty="0"/>
          </a:p>
          <a:p>
            <a:pPr algn="l" indent="0" marL="0">
              <a:buNone/>
            </a:pPr>
            <a:r>
              <a:rPr lang="en-US" sz="1250" dirty="0">
                <a:solidFill>
                  <a:srgbClr val="1E6B52"/>
                </a:solidFill>
                <a:latin typeface="Calibri" pitchFamily="34" charset="0"/>
                <a:cs typeface="Amiri" pitchFamily="2" charset="-78"/>
              </a:rPr>
              <a:t>Listen for: sa- · la- · li-kay · narjū an.</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report what you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الغَرَضُ الَّذِي سَمِعْتَهُ؟ وَبِأَيِّ مُسَبِّبٍ عَرَفْتَهُ؟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الضَّرُورَةُ الَّتِي سَمِعْتَهَا؟ وَبِأَيِّ مُسَبِّبٍ؟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سَمِعْتَ خَوْفًا أَمْ أَمَلًا؟ وَكَيْفَ مَيَّزْتَ بَيْنَهُمَا؟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2" charset="-78"/>
                <a:cs typeface="Amiri" pitchFamily="2" charset="-78"/>
              </a:rPr>
              <a:t>سَمِعْتُ «لِكَيْ نُوَفِّرَ مَوَارِدَنَا»، وَهٰذَا غَرَضٌ.</a:t>
            </a:r>
            <a:endParaRPr lang="ar-SA" sz="15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سَمِعْتُ « ___ »، وَعَرَفْتُهَا مِنْ «يَتَطَلَّبُ».</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«نَخْشَى أَنْ ___ » خَوْفٌ، وَ«نَرْجُو أَنْ ___ » أَمَلٌ.</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الضَّرُورَةُ الَّتِي سَمِعْتَهَا؟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necessity did you hear?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سَمِعْتُ «يَتَطَلَّبُ الوَضْعُ أَنْ تُخَصِّصَ الحُكُومَاتُ مِيزَانِيَّاتٍ»، وَعَرَفْتُهَا مِنْ «يَتَطَلَّبُ».</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heard “the situation requires governments to allocate budgets”, and I recognised it from “yataṭallabu”.</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Annotate five questions with the trigger (li-kay / yanbaghī / yakhshā …) you will listen for.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annotate five questions with the trigger you will listen for.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 questions + type</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whether each targets a purpose, a volition or a necessity clause.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whether each targets a purpose, a volition or a necessity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how telling a fear from a hope changed the meaning of one answer.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explain your listening strategy — triggers, the reduced fatḥa, idhā vs law, the distractor.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لَا أُحَاوِلُ الْتِقَاطَ الفَتْحَةِ الأَخِيرَةِ، لِأَنَّهَا ______ .</a:t>
            </a:r>
            <a:endParaRPr lang="ar-SA" sz="14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 not try to catch the final fatḥa,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بَلْ أُرَكِّزُ عَلَى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Instead, I focus on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وَفِي الشَّرْطِ، أُصْغِي إِلَى عَلَامَةِ الجَوَابِ: ______ .</a:t>
            </a:r>
            <a:endParaRPr lang="ar-SA" sz="15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a conditional, I listen for the result marker: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وَأَخِيرًا، أَرْفُضُ الإِجَابَةَ العَامَّةَ لِأَنَّهَا ______ .</a:t>
            </a:r>
            <a:endParaRPr lang="ar-SA" sz="15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I reject the general answer,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قَبْلَ الاسْتِمَاعِ، أَقْرَأُ الأَسْئِلَةَ وَأُحَدِّدُ ______ .</a:t>
            </a:r>
            <a:endParaRPr lang="ar-SA" sz="16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listening, I read the questions.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إِنْ كَانَ السُّؤَالُ عَنْ غَرَضٍ، أُصْغِي إِلَى « ______ ».</a:t>
            </a:r>
            <a:endParaRPr lang="ar-SA" sz="15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question is about a purpose, I listen for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إِنْ كَانَ عَنْ ضَرُورَةٍ، أُصْغِي إِلَى «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it is about a necessity, I listen for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«يَخْشَى» ______ وَ«يَرْجُو»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“yakhshā” is a fear and “yarjū” is a hope.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نَوْعَ المُسَبِّبِ  ·  لِكَيْ  ·  يَنْبَغِي  ·  يَتَطَلَّبُ  ·  خَوْفٌ  ·  أَمَلٌ  ·  تُخْتَزَلُ فِي الكَلَامِ السَّرِيعِ  ·  المُسَبِّبِ  ·  شَرْطٌ حَقِيقِيٌّ  ·  شَرْطٌ افْتِرَاضِيٌّ  ·  تَكُونُ مُشَتِّتًا  ·  الإِجَابَةَ المُحَدَّدَةَ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eighty to ninety words explaining your listening strategy for built and natural world texts. Describe how you use the trigger to predict a purpose, volition or necessity clause, why you do not chase the final fatḥa, and how you tell idhā from law.</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rule that the trigger, not the vowel, is the reliable signal.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li-kay for purpose, yakhshā / yarjū an for fear / hope, yanbaghī / yataṭallabu an for necessity.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How the result marker (sa- / la-) decides the conditional type.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How to catch the past perfect and reject the general distractor.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أُحَدِّدُ نَوْعَ المُسَبِّبِ المَطْلُوبِ</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identify the type of trigger needed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أُمَيِّزُ «يَخْشَى» الخَوْفَ مِنْ «يَرْجُو» الأَمَلَ</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tell “yakhshā” (fear) from “yarjū” (hope)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تُخْتَزَلُ فِي الكَلَامِ السَّرِيعِ</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is reduced in fast speech</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أُصْغِي إِلَى عَلَامَةِ الجَوَابِ</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listen for the result marker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كَثِيرًا مَا تَكُونُ مُشَتِّتًا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is often a distractor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قَبْلَ الاسْتِمَاعِ، أَقْرَأُ الأَسْئِلَةَ وَأُحَدِّدُ نَوْعَ المُسَبِّبِ المَطْلُوبِ. فَإِنْ كَانَ السُّؤَالُ عَنْ غَرَضٍ، أُصْغِي إِلَى «لِكَيْ»؛ وَإِنْ كَانَ عَنْ ضَرُورَةٍ، أُصْغِي إِلَى «يَنْبَغِي» أَوْ «يَتَطَلَّبُ»؛ وَإِنْ كَانَ عَنْ مَوْقِفٍ، أُمَيِّزُ «يَخْشَى» الخَوْفَ مِنْ «يَرْجُو» الأَمَلَ. وَلَا أُحَاوِلُ الْتِقَاطَ الفَتْحَةِ الأَخِيرَةِ لِأَنَّهَا تُخْتَزَلُ فِي الكَلَامِ السَّرِيعِ، بَلْ أُرَكِّزُ عَلَى المُسَبِّبِ. وَفِي الشَّرْطِ، أُصْغِي إِلَى عَلَامَةِ الجَوَابِ: «سَـ» شَرْطٌ حَقِيقِيٌّ وَ«لَـ» شَرْطٌ افْتِرَاضِيٌّ. وَأَخِيرًا، أَرْفُضُ الإِجَابَةَ العَامَّةَ لِأَنَّهَا كَثِيرًا مَا تَكُونُ مُشَتِّتًا.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Before listening, I read the questions and identify the type of trigger needed. If the question is about a purpose, I listen for “li-kay”; if it is about a necessity, I listen for “yanbaghī” or “yataṭallabu”; and if it is about an attitude, I tell “yakhshā” (fear) from “yarjū” (hope). I do not try to catch the final fatḥa, because it is reduced in fast speech; instead I focus on the trigger. In a conditional, I listen for the result marker: “sa-” is a real conditional and “la-” a hypothetical one. Finally, I reject the general answer, because it is often a distractor.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identify the trigger first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yakhshā (fear) vs yarjū (hope)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reduced fatḥa → focus on the trigger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sa- / la- + reject the general answer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Before listening, I wrote the trigger I expect next to each question.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heard li-kay and named it: purpose.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told volition (yakhshā / yarjū) from necessity (yanbaghī / yataṭallabu).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told a fear from a hope.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waited for sa- / la- and chose the specific answer, not the general one.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The clause is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 clause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necessity clause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يَخْشَى أَنْ</a:t>
            </a:r>
            <a:pPr algn="l" indent="0" marL="0">
              <a:buNone/>
            </a:pPr>
            <a:r>
              <a:rPr lang="en-US" sz="1250" b="1" dirty="0">
                <a:solidFill>
                  <a:srgbClr val="1B3B6F"/>
                </a:solidFill>
                <a:latin typeface="Calibri" pitchFamily="34" charset="0"/>
                <a:cs typeface="Amiri" pitchFamily="2" charset="-78"/>
              </a:rPr>
              <a:t>. The attitude is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hope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50</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The clause is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purpose clause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necessity clause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signals a purpose clause.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يَخْشَى أَنْ</a:t>
            </a:r>
            <a:pPr algn="l" indent="0" marL="0">
              <a:buNone/>
            </a:pPr>
            <a:r>
              <a:rPr lang="en-US" sz="1250" b="1" dirty="0">
                <a:solidFill>
                  <a:srgbClr val="1B3B6F"/>
                </a:solidFill>
                <a:latin typeface="Calibri" pitchFamily="34" charset="0"/>
                <a:cs typeface="Amiri" pitchFamily="2" charset="-78"/>
              </a:rPr>
              <a:t>. The attitude is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hope</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fear</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يَخْشَى</a:t>
            </a:r>
            <a:pPr algn="l" indent="0" marL="0">
              <a:buNone/>
            </a:pPr>
            <a:r>
              <a:rPr lang="en-US" sz="1050" i="1" dirty="0">
                <a:solidFill>
                  <a:srgbClr val="8A6D1E"/>
                </a:solidFill>
                <a:latin typeface="Calibri" pitchFamily="34" charset="0"/>
                <a:cs typeface="Amiri" pitchFamily="2" charset="-78"/>
              </a:rPr>
              <a:t> signals fear — a volition trigger.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hypothetical (Type 2)</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real (Type 1)</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 signals a counterfactual.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50</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a listening strategy guide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لِتَنْجَحَ فِي الاسْتِمَاعِ الأَكَادِيمِيِّ، اقْرَأِ الأَسْئِلَةَ أَوَّلًا وَحَدِّدْ نَوْعَ المُسَبِّبِ المَطْلُوبِ. فَإِنْ كَانَ السُّؤَالُ عَنْ غَرَضٍ، فَاسْتَمِعْ إِلَى «لِكَيْ»؛ وَهِيَ وَاضِحَةٌ فِي النُّطْقِ بِمَقْطَعَيْنِ. وَإِنْ كَانَ عَنْ ضَرُورَةٍ، فَاسْتَمِعْ إِلَى «يَتَطَلَّبُ» أَوْ «يَنْبَغِي» قَبْلَ «أَنْ». وَإِنْ كَانَ عَنْ خَوْفٍ أَوْ أَمَلٍ، فَاسْتَمِعْ إِلَى «يَخْشَى» أَوْ «يَرْجُو». أَمَّا الفِعْلُ المَنْصُوبُ نَفْسُهُ فَفَتْحَتُهُ الأَخِيرَةُ كَثِيرًا مَا تُخْتَزَلُ فِي الكَلَامِ السَّرِيعِ، لِذٰلِكَ رَكِّزْ عَلَى المُسَبِّبِ لَا عَلَى الحَرَكَةِ. وَفِي الشَّرْطِ، «سَـ» تَدُلُّ عَلَى شَرْطٍ حَقِيقِيٍّ وَ«لَـ» عَلَى شَرْطٍ افْتِرَاضِيٍّ. وَتَذَكَّرْ أَنَّ الإِجَابَةَ العَامَّةَ كَثِيرًا مَا تَكُونُ مُشَتِّتًا.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لِتَنْجَحَ</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 that you succeed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الأَكَادِيمِيِّ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academic</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حَدِّدْ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identify!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المَطْلُوبِ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required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بِمَقْطَعَيْنِ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two syllables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تُخْتَزَلُ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reduced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رَكِّزْ</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focus!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الحَرَكَةِ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vowel mark</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حَقِيقِيٍّ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real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مُشَتِّتًا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distractor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50</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strategy step?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with eyes closed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the questions and identify the type of trigger needed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everything down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purpose question answered by ear?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for </a:t>
            </a:r>
            <a:pPr algn="l" indent="0" marL="0">
              <a:buNone/>
            </a:pPr>
            <a:r>
              <a:rPr lang="ar-SA" altLang="en-US" sz="1650" dirty="0">
                <a:solidFill>
                  <a:srgbClr val="1F2A37"/>
                </a:solidFill>
                <a:latin typeface="Amiri" pitchFamily="2" charset="-78"/>
                <a:cs typeface="Amiri" pitchFamily="2" charset="-78"/>
              </a:rPr>
              <a:t>يَنْبَغِي</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for </a:t>
            </a:r>
            <a:pPr algn="l" indent="0" marL="0">
              <a:buNone/>
            </a:pPr>
            <a:r>
              <a:rPr lang="ar-SA" altLang="en-US" sz="1650" dirty="0">
                <a:solidFill>
                  <a:srgbClr val="1F2A37"/>
                </a:solidFill>
                <a:latin typeface="Amiri" pitchFamily="2" charset="-78"/>
                <a:cs typeface="Amiri" pitchFamily="2" charset="-78"/>
              </a:rPr>
              <a:t>إِذَا</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for </a:t>
            </a:r>
            <a:pPr algn="l" indent="0" marL="0">
              <a:buNone/>
            </a:pPr>
            <a:r>
              <a:rPr lang="ar-SA" altLang="en-US" sz="1650" dirty="0">
                <a:solidFill>
                  <a:srgbClr val="1F2A37"/>
                </a:solidFill>
                <a:latin typeface="Amiri" pitchFamily="2" charset="-78"/>
                <a:cs typeface="Amiri" pitchFamily="2" charset="-78"/>
              </a:rPr>
              <a:t>لِكَيْ</a:t>
            </a:r>
            <a:pPr algn="l" indent="0" marL="0">
              <a:buNone/>
            </a:pPr>
            <a:r>
              <a:rPr lang="en-US" sz="1250" dirty="0">
                <a:solidFill>
                  <a:srgbClr val="1F2A37"/>
                </a:solidFill>
                <a:latin typeface="Calibri" pitchFamily="34" charset="0"/>
                <a:cs typeface="Amiri" pitchFamily="2" charset="-78"/>
              </a:rPr>
              <a:t> — it is clear in speech</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 rely on catching the final fatḥa?</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often reduced in fast speech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always silent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louder than the trigger</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conditional type identified by ear?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the speaker's name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the result marker — </a:t>
            </a:r>
            <a:pPr algn="l" indent="0" marL="0">
              <a:buNone/>
            </a:pPr>
            <a:r>
              <a:rPr lang="ar-SA" altLang="en-US" sz="1650" dirty="0">
                <a:solidFill>
                  <a:srgbClr val="1F2A37"/>
                </a:solidFill>
                <a:latin typeface="Amiri" pitchFamily="2" charset="-78"/>
                <a:cs typeface="Amiri" pitchFamily="2" charset="-78"/>
              </a:rPr>
              <a:t>سَـ</a:t>
            </a:r>
            <a:pPr algn="l" indent="0" marL="0">
              <a:buNone/>
            </a:pPr>
            <a:r>
              <a:rPr lang="en-US" sz="1250" dirty="0">
                <a:solidFill>
                  <a:srgbClr val="1F2A37"/>
                </a:solidFill>
                <a:latin typeface="Calibri" pitchFamily="34" charset="0"/>
                <a:cs typeface="Amiri" pitchFamily="2" charset="-78"/>
              </a:rPr>
              <a:t> real, </a:t>
            </a:r>
            <a:pPr algn="l" indent="0" marL="0">
              <a:buNone/>
            </a:pPr>
            <a:r>
              <a:rPr lang="ar-SA" altLang="en-US" sz="1650" dirty="0">
                <a:solidFill>
                  <a:srgbClr val="1F2A37"/>
                </a:solidFill>
                <a:latin typeface="Amiri" pitchFamily="2" charset="-78"/>
                <a:cs typeface="Amiri" pitchFamily="2" charset="-78"/>
              </a:rPr>
              <a:t>لَـ</a:t>
            </a:r>
            <a:pPr algn="l" indent="0" marL="0">
              <a:buNone/>
            </a:pPr>
            <a:r>
              <a:rPr lang="en-US" sz="1250" dirty="0">
                <a:solidFill>
                  <a:srgbClr val="1F2A37"/>
                </a:solidFill>
                <a:latin typeface="Calibri" pitchFamily="34" charset="0"/>
                <a:cs typeface="Amiri" pitchFamily="2" charset="-78"/>
              </a:rPr>
              <a:t> hypothetical</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the question number</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often a distractor?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general answer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specific answer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numbered answer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50</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strategy step?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 with eyes closed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Read the questions and identify the type of trigger needed</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everything down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اقْرَأِ الأَسْئِلَةَ أَوَّلًا وَحَدِّدْ نَوْعَ المُسَبِّبِ المَطْلُوبِ.</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purpose question answered by ear?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 for </a:t>
            </a:r>
            <a:pPr algn="l" indent="0" marL="0">
              <a:buNone/>
            </a:pPr>
            <a:r>
              <a:rPr lang="ar-SA" altLang="en-US" sz="1650" dirty="0">
                <a:solidFill>
                  <a:srgbClr val="9AA1AB"/>
                </a:solidFill>
                <a:latin typeface="Amiri" pitchFamily="2" charset="-78"/>
                <a:cs typeface="Amiri" pitchFamily="2" charset="-78"/>
              </a:rPr>
              <a:t>يَنْبَغِي</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 for </a:t>
            </a:r>
            <a:pPr algn="l" indent="0" marL="0">
              <a:buNone/>
            </a:pPr>
            <a:r>
              <a:rPr lang="ar-SA" altLang="en-US" sz="1650" dirty="0">
                <a:solidFill>
                  <a:srgbClr val="9AA1AB"/>
                </a:solidFill>
                <a:latin typeface="Amiri" pitchFamily="2" charset="-78"/>
                <a:cs typeface="Amiri" pitchFamily="2" charset="-78"/>
              </a:rPr>
              <a:t>إِذَا</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 for </a:t>
            </a:r>
            <a:pPr algn="l" indent="0" marL="0">
              <a:buNone/>
            </a:pPr>
            <a:r>
              <a:rPr lang="ar-SA" altLang="en-US" sz="1650" b="1" dirty="0">
                <a:solidFill>
                  <a:srgbClr val="1F2A37"/>
                </a:solidFill>
                <a:latin typeface="Amiri" pitchFamily="2" charset="-78"/>
                <a:cs typeface="Amiri" pitchFamily="2" charset="-78"/>
              </a:rPr>
              <a:t>لِكَيْ</a:t>
            </a:r>
            <a:pPr algn="l" indent="0" marL="0">
              <a:buNone/>
            </a:pPr>
            <a:r>
              <a:rPr lang="en-US" sz="1250" b="1" dirty="0">
                <a:solidFill>
                  <a:srgbClr val="1F2A37"/>
                </a:solidFill>
                <a:latin typeface="Calibri" pitchFamily="34" charset="0"/>
                <a:cs typeface="Amiri" pitchFamily="2" charset="-78"/>
              </a:rPr>
              <a:t> — it is clear in speech</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فَاسْتَمِعْ إِلَى «لِكَيْ»؛ وَهِيَ وَاضِحَةٌ فِي النُّطْقِ.</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 rely on catching the final fatḥa?</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often reduced in fast speech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always silent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louder than the trigger</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فَتْحَتُهُ الأَخِيرَةُ كَثِيرًا مَا تُخْتَزَلُ فِي الكَلَامِ السَّرِيعِ.</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conditional type identified by ear?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the speaker's name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By the result marker — </a:t>
            </a:r>
            <a:pPr algn="l" indent="0" marL="0">
              <a:buNone/>
            </a:pPr>
            <a:r>
              <a:rPr lang="ar-SA" altLang="en-US" sz="1500" b="1" dirty="0">
                <a:solidFill>
                  <a:srgbClr val="1F2A37"/>
                </a:solidFill>
                <a:latin typeface="Amiri" pitchFamily="2" charset="-78"/>
                <a:cs typeface="Amiri" pitchFamily="2" charset="-78"/>
              </a:rPr>
              <a:t>سَـ</a:t>
            </a:r>
            <a:pPr algn="l" indent="0" marL="0">
              <a:buNone/>
            </a:pPr>
            <a:r>
              <a:rPr lang="en-US" sz="1150" b="1" dirty="0">
                <a:solidFill>
                  <a:srgbClr val="1F2A37"/>
                </a:solidFill>
                <a:latin typeface="Calibri" pitchFamily="34" charset="0"/>
                <a:cs typeface="Amiri" pitchFamily="2" charset="-78"/>
              </a:rPr>
              <a:t> real, </a:t>
            </a:r>
            <a:pPr algn="l" indent="0" marL="0">
              <a:buNone/>
            </a:pPr>
            <a:r>
              <a:rPr lang="ar-SA" altLang="en-US" sz="1500" b="1" dirty="0">
                <a:solidFill>
                  <a:srgbClr val="1F2A37"/>
                </a:solidFill>
                <a:latin typeface="Amiri" pitchFamily="2" charset="-78"/>
                <a:cs typeface="Amiri" pitchFamily="2" charset="-78"/>
              </a:rPr>
              <a:t>لَـ</a:t>
            </a:r>
            <a:pPr algn="l" indent="0" marL="0">
              <a:buNone/>
            </a:pPr>
            <a:r>
              <a:rPr lang="en-US" sz="1150" b="1" dirty="0">
                <a:solidFill>
                  <a:srgbClr val="1F2A37"/>
                </a:solidFill>
                <a:latin typeface="Calibri" pitchFamily="34" charset="0"/>
                <a:cs typeface="Amiri" pitchFamily="2" charset="-78"/>
              </a:rPr>
              <a:t> hypothetical</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the question number</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«سَـ» تَدُلُّ عَلَى شَرْطٍ حَقِيقِيٍّ وَ«لَـ» عَلَى شَرْطٍ افْتِرَاضِيٍّ.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often a distractor?</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general answer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specific answer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numbered answer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الإِجَابَةَ العَامَّةَ كَثِيرًا مَا تَكُونُ مُشَتِّتًا.</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50</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Listening Mission — Trigger, Attitude and Marker</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cs typeface="Amiri" pitchFamily="2" charset="-78"/>
              </a:rPr>
              <a:t>لِكَيْ</a:t>
            </a:r>
            <a:pPr algn="l" indent="0" marL="0">
              <a:buNone/>
            </a:pPr>
            <a:r>
              <a:rPr lang="en-US" sz="1500" b="1" dirty="0">
                <a:solidFill>
                  <a:srgbClr val="1F2A37"/>
                </a:solidFill>
                <a:latin typeface="Calibri" pitchFamily="34" charset="0"/>
                <a:cs typeface="Amiri" pitchFamily="2" charset="-78"/>
              </a:rPr>
              <a:t> signals …</a:t>
            </a:r>
            <a:endParaRPr lang="en-US"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necessity clause</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 clause</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يَتَطَلَّبُ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necessity clause</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 clause</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Attitude: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يَخْشَى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hope</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fear</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2" name="Text 59"/>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Attitude:</a:t>
            </a:r>
            <a:endParaRPr lang="en-US" sz="1200" dirty="0"/>
          </a:p>
        </p:txBody>
      </p:sp>
      <p:sp>
        <p:nvSpPr>
          <p:cNvPr id="63" name="Text 60"/>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يَرْجُو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64" name="Shape 61"/>
          <p:cNvSpPr/>
          <p:nvPr/>
        </p:nvSpPr>
        <p:spPr>
          <a:xfrm>
            <a:off x="640080" y="48737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fear</a:t>
            </a:r>
            <a:endParaRPr lang="en-US" sz="1250" dirty="0"/>
          </a:p>
        </p:txBody>
      </p:sp>
      <p:sp>
        <p:nvSpPr>
          <p:cNvPr id="67" name="Shape 64"/>
          <p:cNvSpPr/>
          <p:nvPr/>
        </p:nvSpPr>
        <p:spPr>
          <a:xfrm>
            <a:off x="640080" y="53309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doubt</a:t>
            </a:r>
            <a:endParaRPr lang="en-US" sz="1250" dirty="0"/>
          </a:p>
        </p:txBody>
      </p:sp>
      <p:sp>
        <p:nvSpPr>
          <p:cNvPr id="70" name="Shape 67"/>
          <p:cNvSpPr/>
          <p:nvPr/>
        </p:nvSpPr>
        <p:spPr>
          <a:xfrm>
            <a:off x="640080" y="5788152"/>
            <a:ext cx="256032" cy="256032"/>
          </a:xfrm>
          <a:prstGeom prst="ellipse">
            <a:avLst/>
          </a:prstGeom>
          <a:solidFill>
            <a:srgbClr val="F4F1EA"/>
          </a:solidFill>
          <a:ln w="12700">
            <a:solidFill>
              <a:srgbClr val="F4F1EA"/>
            </a:solidFill>
            <a:prstDash val="solid"/>
          </a:ln>
        </p:spPr>
      </p:sp>
      <p:sp>
        <p:nvSpPr>
          <p:cNvPr id="71" name="Text 68"/>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2" name="Text 69"/>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hope</a:t>
            </a:r>
            <a:endParaRPr lang="en-US" sz="1250" dirty="0"/>
          </a:p>
        </p:txBody>
      </p:sp>
      <p:sp>
        <p:nvSpPr>
          <p:cNvPr id="73" name="Shape 70"/>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404360" y="4288536"/>
            <a:ext cx="310896" cy="310896"/>
          </a:xfrm>
          <a:prstGeom prst="ellipse">
            <a:avLst/>
          </a:prstGeom>
          <a:solidFill>
            <a:srgbClr val="1B3B6F"/>
          </a:solidFill>
          <a:ln w="12700">
            <a:solidFill>
              <a:srgbClr val="1B3B6F"/>
            </a:solidFill>
            <a:prstDash val="solid"/>
          </a:ln>
        </p:spPr>
      </p:sp>
      <p:sp>
        <p:nvSpPr>
          <p:cNvPr id="75" name="Text 72"/>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6" name="Text 73"/>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Strategy: the reliable signal of a subjunctive clause is …</a:t>
            </a:r>
            <a:endParaRPr lang="en-US" sz="1250" dirty="0"/>
          </a:p>
        </p:txBody>
      </p:sp>
      <p:sp>
        <p:nvSpPr>
          <p:cNvPr id="77" name="Shape 74"/>
          <p:cNvSpPr/>
          <p:nvPr/>
        </p:nvSpPr>
        <p:spPr>
          <a:xfrm>
            <a:off x="4459224" y="48737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9" name="Text 76"/>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trigger</a:t>
            </a:r>
            <a:endParaRPr lang="en-US" sz="1250" dirty="0"/>
          </a:p>
        </p:txBody>
      </p:sp>
      <p:sp>
        <p:nvSpPr>
          <p:cNvPr id="80" name="Shape 77"/>
          <p:cNvSpPr/>
          <p:nvPr/>
        </p:nvSpPr>
        <p:spPr>
          <a:xfrm>
            <a:off x="4459224" y="53309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2" name="Text 79"/>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final vowel</a:t>
            </a:r>
            <a:endParaRPr lang="en-US" sz="1250" dirty="0"/>
          </a:p>
        </p:txBody>
      </p:sp>
      <p:sp>
        <p:nvSpPr>
          <p:cNvPr id="83" name="Shape 80"/>
          <p:cNvSpPr/>
          <p:nvPr/>
        </p:nvSpPr>
        <p:spPr>
          <a:xfrm>
            <a:off x="4459224" y="5788152"/>
            <a:ext cx="256032" cy="256032"/>
          </a:xfrm>
          <a:prstGeom prst="ellipse">
            <a:avLst/>
          </a:prstGeom>
          <a:solidFill>
            <a:srgbClr val="F4F1EA"/>
          </a:solidFill>
          <a:ln w="12700">
            <a:solidFill>
              <a:srgbClr val="F4F1EA"/>
            </a:solidFill>
            <a:prstDash val="solid"/>
          </a:ln>
        </p:spPr>
      </p:sp>
      <p:sp>
        <p:nvSpPr>
          <p:cNvPr id="84" name="Text 81"/>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5" name="Text 82"/>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loudness</a:t>
            </a:r>
            <a:endParaRPr lang="en-US" sz="1250" dirty="0"/>
          </a:p>
        </p:txBody>
      </p:sp>
      <p:sp>
        <p:nvSpPr>
          <p:cNvPr id="86" name="Shape 83"/>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8223504" y="4288536"/>
            <a:ext cx="310896" cy="310896"/>
          </a:xfrm>
          <a:prstGeom prst="ellipse">
            <a:avLst/>
          </a:prstGeom>
          <a:solidFill>
            <a:srgbClr val="1B3B6F"/>
          </a:solidFill>
          <a:ln w="12700">
            <a:solidFill>
              <a:srgbClr val="1B3B6F"/>
            </a:solidFill>
            <a:prstDash val="solid"/>
          </a:ln>
        </p:spPr>
      </p:sp>
      <p:sp>
        <p:nvSpPr>
          <p:cNvPr id="88" name="Text 85"/>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9" name="Text 86"/>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the past perfect?</a:t>
            </a:r>
            <a:endParaRPr lang="en-US" sz="1250" dirty="0"/>
          </a:p>
        </p:txBody>
      </p:sp>
      <p:sp>
        <p:nvSpPr>
          <p:cNvPr id="90" name="Shape 87"/>
          <p:cNvSpPr/>
          <p:nvPr/>
        </p:nvSpPr>
        <p:spPr>
          <a:xfrm>
            <a:off x="8278368" y="48737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2" name="Text 89"/>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a:t>
            </a:r>
            <a:endParaRPr lang="ar-SA" sz="2050" dirty="0"/>
          </a:p>
        </p:txBody>
      </p:sp>
      <p:sp>
        <p:nvSpPr>
          <p:cNvPr id="93" name="Shape 90"/>
          <p:cNvSpPr/>
          <p:nvPr/>
        </p:nvSpPr>
        <p:spPr>
          <a:xfrm>
            <a:off x="8278368" y="53309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5" name="Text 92"/>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a:t>
            </a:r>
            <a:endParaRPr lang="ar-SA" sz="2050" dirty="0"/>
          </a:p>
        </p:txBody>
      </p:sp>
      <p:sp>
        <p:nvSpPr>
          <p:cNvPr id="96" name="Shape 93"/>
          <p:cNvSpPr/>
          <p:nvPr/>
        </p:nvSpPr>
        <p:spPr>
          <a:xfrm>
            <a:off x="8278368" y="5788152"/>
            <a:ext cx="256032" cy="256032"/>
          </a:xfrm>
          <a:prstGeom prst="ellipse">
            <a:avLst/>
          </a:prstGeom>
          <a:solidFill>
            <a:srgbClr val="F4F1EA"/>
          </a:solidFill>
          <a:ln w="12700">
            <a:solidFill>
              <a:srgbClr val="F4F1EA"/>
            </a:solidFill>
            <a:prstDash val="solid"/>
          </a:ln>
        </p:spPr>
      </p:sp>
      <p:sp>
        <p:nvSpPr>
          <p:cNvPr id="97" name="Text 94"/>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8" name="Text 95"/>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50</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cs typeface="Amiri" pitchFamily="2" charset="-78"/>
              </a:rPr>
              <a:t>لِكَيْ</a:t>
            </a:r>
            <a:pPr algn="l" indent="0" marL="0">
              <a:buNone/>
            </a:pPr>
            <a:r>
              <a:rPr lang="en-US" sz="1500" b="1" dirty="0">
                <a:solidFill>
                  <a:srgbClr val="1F2A37"/>
                </a:solidFill>
                <a:latin typeface="Calibri" pitchFamily="34" charset="0"/>
                <a:cs typeface="Amiri" pitchFamily="2" charset="-78"/>
              </a:rPr>
              <a:t> signals …</a:t>
            </a:r>
            <a:endParaRPr lang="en-US" sz="15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necessity clause</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purpose clause</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signals a purpose clause.</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يَتَطَلَّبُ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necessity clause</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purpose clause</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يَتَطَلَّبُ أَنْ</a:t>
            </a:r>
            <a:pPr algn="l" indent="0" marL="0">
              <a:buNone/>
            </a:pPr>
            <a:r>
              <a:rPr lang="en-US" sz="1050" i="1" dirty="0">
                <a:solidFill>
                  <a:srgbClr val="8A6D1E"/>
                </a:solidFill>
                <a:latin typeface="Calibri" pitchFamily="34" charset="0"/>
                <a:cs typeface="Amiri" pitchFamily="2" charset="-78"/>
              </a:rPr>
              <a:t> signals impersonal necessity.</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Attitude:</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يَخْشَى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hope</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fear</a:t>
            </a:r>
            <a:endParaRPr lang="en-US" sz="125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يَخْشَى</a:t>
            </a:r>
            <a:pPr algn="l" indent="0" marL="0">
              <a:buNone/>
            </a:pPr>
            <a:r>
              <a:rPr lang="en-US" sz="1050" i="1" dirty="0">
                <a:solidFill>
                  <a:srgbClr val="8A6D1E"/>
                </a:solidFill>
                <a:latin typeface="Calibri" pitchFamily="34" charset="0"/>
                <a:cs typeface="Amiri" pitchFamily="2" charset="-78"/>
              </a:rPr>
              <a:t> signals fear.</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7" name="Text 6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Attitude:</a:t>
            </a:r>
            <a:endParaRPr lang="en-US" sz="1200" dirty="0"/>
          </a:p>
        </p:txBody>
      </p:sp>
      <p:sp>
        <p:nvSpPr>
          <p:cNvPr id="68" name="Text 6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يَرْجُو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69" name="Shape 67"/>
          <p:cNvSpPr/>
          <p:nvPr/>
        </p:nvSpPr>
        <p:spPr>
          <a:xfrm>
            <a:off x="640080" y="4831080"/>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9"/>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fear</a:t>
            </a:r>
            <a:endParaRPr lang="en-US" sz="1250" dirty="0"/>
          </a:p>
        </p:txBody>
      </p:sp>
      <p:sp>
        <p:nvSpPr>
          <p:cNvPr id="72" name="Shape 70"/>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2"/>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doubt</a:t>
            </a:r>
            <a:endParaRPr lang="en-US" sz="1250" dirty="0"/>
          </a:p>
        </p:txBody>
      </p:sp>
      <p:sp>
        <p:nvSpPr>
          <p:cNvPr id="75" name="Shape 73"/>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6" name="Shape 74"/>
          <p:cNvSpPr/>
          <p:nvPr/>
        </p:nvSpPr>
        <p:spPr>
          <a:xfrm>
            <a:off x="640080" y="5574792"/>
            <a:ext cx="256032" cy="256032"/>
          </a:xfrm>
          <a:prstGeom prst="ellipse">
            <a:avLst/>
          </a:prstGeom>
          <a:solidFill>
            <a:srgbClr val="2E8B57"/>
          </a:solidFill>
          <a:ln w="12700">
            <a:solidFill>
              <a:srgbClr val="2E8B57"/>
            </a:solidFill>
            <a:prstDash val="solid"/>
          </a:ln>
        </p:spPr>
      </p:sp>
      <p:sp>
        <p:nvSpPr>
          <p:cNvPr id="77" name="Text 7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6"/>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hope</a:t>
            </a:r>
            <a:endParaRPr lang="en-US" sz="1250" dirty="0"/>
          </a:p>
        </p:txBody>
      </p:sp>
      <p:sp>
        <p:nvSpPr>
          <p:cNvPr id="79" name="Text 77"/>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يَرْجُو</a:t>
            </a:r>
            <a:pPr algn="l" indent="0" marL="0">
              <a:buNone/>
            </a:pPr>
            <a:r>
              <a:rPr lang="en-US" sz="1050" i="1" dirty="0">
                <a:solidFill>
                  <a:srgbClr val="8A6D1E"/>
                </a:solidFill>
                <a:latin typeface="Calibri" pitchFamily="34" charset="0"/>
                <a:cs typeface="Amiri" pitchFamily="2" charset="-78"/>
              </a:rPr>
              <a:t> signals hope.</a:t>
            </a:r>
            <a:endParaRPr lang="en-US" sz="1050" dirty="0"/>
          </a:p>
        </p:txBody>
      </p:sp>
      <p:sp>
        <p:nvSpPr>
          <p:cNvPr id="80" name="Shape 7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9"/>
          <p:cNvSpPr/>
          <p:nvPr/>
        </p:nvSpPr>
        <p:spPr>
          <a:xfrm>
            <a:off x="4404360" y="4288536"/>
            <a:ext cx="310896" cy="310896"/>
          </a:xfrm>
          <a:prstGeom prst="ellipse">
            <a:avLst/>
          </a:prstGeom>
          <a:solidFill>
            <a:srgbClr val="1B3B6F"/>
          </a:solidFill>
          <a:ln w="12700">
            <a:solidFill>
              <a:srgbClr val="1B3B6F"/>
            </a:solidFill>
            <a:prstDash val="solid"/>
          </a:ln>
        </p:spPr>
      </p:sp>
      <p:sp>
        <p:nvSpPr>
          <p:cNvPr id="82" name="Text 8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3" name="Text 8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Strategy: the reliable signal of a subjunctive clause is …</a:t>
            </a:r>
            <a:endParaRPr lang="en-US" sz="1250" dirty="0"/>
          </a:p>
        </p:txBody>
      </p:sp>
      <p:sp>
        <p:nvSpPr>
          <p:cNvPr id="84" name="Shape 82"/>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3"/>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4"/>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5"/>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trigger</a:t>
            </a:r>
            <a:endParaRPr lang="en-US" sz="1250" dirty="0"/>
          </a:p>
        </p:txBody>
      </p:sp>
      <p:sp>
        <p:nvSpPr>
          <p:cNvPr id="88" name="Shape 86"/>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8"/>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final vowel</a:t>
            </a:r>
            <a:endParaRPr lang="en-US" sz="1250" dirty="0"/>
          </a:p>
        </p:txBody>
      </p:sp>
      <p:sp>
        <p:nvSpPr>
          <p:cNvPr id="91" name="Shape 89"/>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90"/>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1"/>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loudness</a:t>
            </a:r>
            <a:endParaRPr lang="en-US" sz="1250" dirty="0"/>
          </a:p>
        </p:txBody>
      </p:sp>
      <p:sp>
        <p:nvSpPr>
          <p:cNvPr id="94" name="Text 92"/>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fatḥa is reduced, so the trigger is reliable.</a:t>
            </a:r>
            <a:endParaRPr lang="en-US" sz="1050" dirty="0"/>
          </a:p>
        </p:txBody>
      </p:sp>
      <p:sp>
        <p:nvSpPr>
          <p:cNvPr id="95" name="Shape 93"/>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4"/>
          <p:cNvSpPr/>
          <p:nvPr/>
        </p:nvSpPr>
        <p:spPr>
          <a:xfrm>
            <a:off x="8223504" y="4288536"/>
            <a:ext cx="310896" cy="310896"/>
          </a:xfrm>
          <a:prstGeom prst="ellipse">
            <a:avLst/>
          </a:prstGeom>
          <a:solidFill>
            <a:srgbClr val="1B3B6F"/>
          </a:solidFill>
          <a:ln w="12700">
            <a:solidFill>
              <a:srgbClr val="1B3B6F"/>
            </a:solidFill>
            <a:prstDash val="solid"/>
          </a:ln>
        </p:spPr>
      </p:sp>
      <p:sp>
        <p:nvSpPr>
          <p:cNvPr id="97" name="Text 95"/>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8" name="Text 96"/>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the past perfect?</a:t>
            </a:r>
            <a:endParaRPr lang="en-US" sz="1250" dirty="0"/>
          </a:p>
        </p:txBody>
      </p:sp>
      <p:sp>
        <p:nvSpPr>
          <p:cNvPr id="99" name="Shape 97"/>
          <p:cNvSpPr/>
          <p:nvPr/>
        </p:nvSpPr>
        <p:spPr>
          <a:xfrm>
            <a:off x="8278368" y="4831080"/>
            <a:ext cx="256032" cy="256032"/>
          </a:xfrm>
          <a:prstGeom prst="ellipse">
            <a:avLst/>
          </a:prstGeom>
          <a:solidFill>
            <a:srgbClr val="C9CED6"/>
          </a:solidFill>
          <a:ln w="12700">
            <a:solidFill>
              <a:srgbClr val="C9CED6"/>
            </a:solidFill>
            <a:prstDash val="solid"/>
          </a:ln>
        </p:spPr>
      </p:sp>
      <p:sp>
        <p:nvSpPr>
          <p:cNvPr id="100" name="Text 98"/>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1" name="Text 99"/>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a:t>
            </a:r>
            <a:endParaRPr lang="ar-SA" sz="1700" dirty="0"/>
          </a:p>
        </p:txBody>
      </p:sp>
      <p:sp>
        <p:nvSpPr>
          <p:cNvPr id="102" name="Shape 100"/>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3" name="Shape 101"/>
          <p:cNvSpPr/>
          <p:nvPr/>
        </p:nvSpPr>
        <p:spPr>
          <a:xfrm>
            <a:off x="8278368" y="5202936"/>
            <a:ext cx="256032" cy="256032"/>
          </a:xfrm>
          <a:prstGeom prst="ellipse">
            <a:avLst/>
          </a:prstGeom>
          <a:solidFill>
            <a:srgbClr val="2E8B57"/>
          </a:solidFill>
          <a:ln w="12700">
            <a:solidFill>
              <a:srgbClr val="2E8B57"/>
            </a:solidFill>
            <a:prstDash val="solid"/>
          </a:ln>
        </p:spPr>
      </p:sp>
      <p:sp>
        <p:nvSpPr>
          <p:cNvPr id="104" name="Text 102"/>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5" name="Text 103"/>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 قَدْ</a:t>
            </a:r>
            <a:endParaRPr lang="ar-SA" sz="1700" dirty="0"/>
          </a:p>
        </p:txBody>
      </p:sp>
      <p:sp>
        <p:nvSpPr>
          <p:cNvPr id="106" name="Shape 104"/>
          <p:cNvSpPr/>
          <p:nvPr/>
        </p:nvSpPr>
        <p:spPr>
          <a:xfrm>
            <a:off x="8278368" y="5574792"/>
            <a:ext cx="256032" cy="256032"/>
          </a:xfrm>
          <a:prstGeom prst="ellipse">
            <a:avLst/>
          </a:prstGeom>
          <a:solidFill>
            <a:srgbClr val="C9CED6"/>
          </a:solidFill>
          <a:ln w="12700">
            <a:solidFill>
              <a:srgbClr val="C9CED6"/>
            </a:solidFill>
            <a:prstDash val="solid"/>
          </a:ln>
        </p:spPr>
      </p:sp>
      <p:sp>
        <p:nvSpPr>
          <p:cNvPr id="107" name="Text 105"/>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8" name="Text 106"/>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a:t>
            </a:r>
            <a:endParaRPr lang="ar-SA" sz="1700" dirty="0"/>
          </a:p>
        </p:txBody>
      </p:sp>
      <p:sp>
        <p:nvSpPr>
          <p:cNvPr id="109" name="Text 107"/>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 marks the past perfect.</a:t>
            </a:r>
            <a:endParaRPr lang="en-US" sz="1050" dirty="0"/>
          </a:p>
        </p:txBody>
      </p:sp>
      <p:sp>
        <p:nvSpPr>
          <p:cNvPr id="110" name="Text 10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50</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P4-L11 · Consolidation — Speaking Preparation and Full Subjunctive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فَتْحَةُ النَّصْبِ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subjunctive fatḥa</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لَامُ الجَوَابِ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la- of the result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التِّلْقَائِيَّةُ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spontaneity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الطَّلَاقَةُ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fluency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لَعِبُ الأَدْوَارِ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role play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P4 structure is hardest for you to SAY without notes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أَصْعَبُ تَرْكِيبٍ عِنْدِي هُوَ ______ ،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Annotate five listening questions with the trigger you would listen for.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the clause type to each: purpose, volition or necessity.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listening strategy.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50</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P4-L11 · Consolidation — Speaking Preparation and Full Subjunctive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تَرْسِيخُ الوَحْدَةِ — 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in fast speech the final -a disappears — so hear the TRIGGER: li-kay = purpose · yakhshā an = fear · yarjū an = hope · yanbaghī / yataṭallabu an = must. In a conditional, wait for sa- (real) or la- (it did not happen).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P4-L10 · Listening — Built and Natural World Texts</dc:title>
  <dc:subject>PptxGenJS Presentation</dc:subject>
  <dc:creator>Al Madina Online School · Arabic Department</dc:creator>
  <cp:lastModifiedBy>Al Madina Online School · Arabic Department</cp:lastModifiedBy>
  <cp:revision>1</cp:revision>
  <dcterms:created xsi:type="dcterms:W3CDTF">2026-10-11T06:43:22Z</dcterms:created>
  <dcterms:modified xsi:type="dcterms:W3CDTF">2026-10-11T06:43:22Z</dcterms:modified>
</cp:coreProperties>
</file>