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2–6 Grammar spine (not marked) · 6–7 Assessment map · 7–21 Listening (20) · 21–29 Reading (10) · 29–46 Writing (20) · 46–56 Speaking (10, one-to-one or trusted pairs) · 56–60 Profile and P5 target.
FLEX slides are optional. Use them if the class is moving quickly; otherwise the same activities are on the website for homework.
Content source: Miftah Arabic website, Pathways › Progression › P4 The Built and Natural World › P4-L12. The website P4-L12 is a four-skill, 60-mark unit assessment: a twelve-question grammar spine (revision, not counted), Part A listening (three texts — an environmental expert on water 8 · two architects, Sami and Layla, on heritage: who said what 6 · an urban planner on a smart city 6 = 20), Part B1 reading (an article on the environment in the Arab world: 10), Part B2 writing (five-field environmental form 5 + 145–160-word article 15, marked task / range / accuracy) and Part C speaking (role play: an environmental challenge 4 + topic conversation 6), then a P5 target.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Environmental topics can worry young people — keep the tone hopeful (the website texts all end on a hope or a solution). Disasters and conflict are not assessed here.
• Accuracy focus today (the website mark scheme): the final -a after every trigger (the PRIMARY criterion) · the la- of the Type 2 result · the passive shape (dummirat / uʿlinat) — and in speaking, the structure each question invites. In spontaneous speech, give credit for the trigger even if the final -a is not perfectly heard (website).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grammar spine · Part A listening · Part B1 reading · Part B2 writing · Part C speaking · mark scheme ·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P4-L11. Questions 2–5 are from the website twelve-question grammar spine (used diagnostically; the full spine is reviewed on the next slide).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choose ONE thing to check in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twelve-question grammar spine, correct answers): لِكَيْ نُنَقِّيَ · أَنْ نَسْتَثْمِرَ · أَنْ نُخَصِّصَ · يَهْدِفُ … إِلَى أَنْ · إِذَا اسْتَثْمَرْنَا، سَنَحْمِي · لَوْ بَدَأْنَا، لَنَجَحْنَا · لَوِ اسْتَثْمَرْنَا (past) · كَانَتِ … قَدْ فَقَدَتْ · دُمِّرَتْ · أُعْلِنَتْ · قَالَ … إِنَّ · نَخْشَى أَنْ يَتَفَاقَمَ. Close the vocabulary vault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sixty marks across listening, reading, writing and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1–4 (website Part A, 20 marks). Before listening: write the trigger you expect beside each question (لِكَيْ · يَتَطَلَّبُ أَنْ · يَخْشَى / يَرْجُو أَنْ · سَـ / لَـ · كَانَ قَدْ) — P4-L10: hear the trigger, not the final -a. Question 2: yataṭallabu an = what is required. Question 3: nakhshā an = a FEAR. Question 4: the sa- result = a real recommendation. Each recording may be played twice; students answer after the second reading.
SCRIPT: يَقُولُ الخَبِيرُ البِيئِيُّ: تُعَانِي المِنْطَقَةُ العَرَبِيَّةُ مِنْ نُدْرَةِ المِيَاهِ الحَادَّةِ، وَتُمَثِّلُ المَوَارِدُ المُتَجَدِّدَةُ نِسْبَةً ضَئِيلَةً مِنْ حَاجَتِنَا. يَتَطَلَّبُ الوَضْعُ أَنْ تُخَصِّصَ الحُكُومَاتُ مِيزَانِيَّاتٍ أَكْبَرَ لِلتَّحْلِيَةِ. وَنَخْشَى أَنْ يَتَجَاوَزَ الاحْتِرَارُ العَالَمِيُّ حُدُودَهُ الآمِنَةَ. إِذَا اعْتَمَدْنَا عَلَى الطَّاقَةِ الشَّمْسِيَّةِ، سَنُخَفِّضُ التَّكَالِيفَ. وَلَوْ كُنَّا قَدِ اسْتَثْمَرْنَا مُبَكِّرًا، لَتَجَنَّبْنَا هٰذِهِ الأَزْمَةَ. وَقَالَ تَقْرِيرٌ أُمَمِيٌّ إِنَّ ثُلُثَ سُكَّانِ العَالَمِ سَيُوَاجِهُونَ العَطَشَ. وَنَرْجُو أَنْ تُوَقِّعَ الدُّوَلُ اتِّفَاقًا لِإِدَارَةِ الأَنْهَارِ المُشْتَرَكَةِ.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trigger or marker (li-kay · an · sa- / la- · kāna qad · a passive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5–8 (website Part A, 20 marks). Before listening: write the trigger you expect beside each question (لِكَيْ · يَتَطَلَّبُ أَنْ · يَخْشَى / يَرْجُو أَنْ · سَـ / لَـ · كَانَ قَدْ) — P4-L10: hear the trigger, not the final -a. Question 5: the la- result = a regret (kunnā qad istathmarnā). Questions 6–7: qāla taqrīrun umamiyyun inna … = a UN report. Question 8: narjū an = a HOPE. Each recording may be played twice; students answer after the second reading.
SCRIPT: يَقُولُ الخَبِيرُ البِيئِيُّ: تُعَانِي المِنْطَقَةُ العَرَبِيَّةُ مِنْ نُدْرَةِ المِيَاهِ الحَادَّةِ، وَتُمَثِّلُ المَوَارِدُ المُتَجَدِّدَةُ نِسْبَةً ضَئِيلَةً مِنْ حَاجَتِنَا. يَتَطَلَّبُ الوَضْعُ أَنْ تُخَصِّصَ الحُكُومَاتُ مِيزَانِيَّاتٍ أَكْبَرَ لِلتَّحْلِيَةِ. وَنَخْشَى أَنْ يَتَجَاوَزَ الاحْتِرَارُ العَالَمِيُّ حُدُودَهُ الآمِنَةَ. إِذَا اعْتَمَدْنَا عَلَى الطَّاقَةِ الشَّمْسِيَّةِ، سَنُخَفِّضُ التَّكَالِيفَ. وَلَوْ كُنَّا قَدِ اسْتَثْمَرْنَا مُبَكِّرًا، لَتَجَنَّبْنَا هٰذِهِ الأَزْمَةَ. وَقَالَ تَقْرِيرٌ أُمَمِيٌّ إِنَّ ثُلُثَ سُكَّانِ العَالَمِ سَيُوَاجِهُونَ العَطَشَ. وَنَرْجُو أَنْ تُوَقِّعَ الدُّوَلُ اتِّفَاقًا لِإِدَارَةِ الأَنْهَارِ المُشْتَرَكَةِ.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trigger or marker (li-kay · an · sa- / la- · kāna qad · a passive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 6 QUESTIONS (website Part A, 20 marks). Before listening: write the trigger you expect beside each question (لِكَيْ · يَتَطَلَّبُ أَنْ · يَخْشَى / يَرْجُو أَنْ · سَـ / لَـ · كَانَ قَدْ) — P4-L10: hear the trigger, not the final -a. Attribution: write S / L / both beside each question while listening — listen for the name before each line, then the trigger. Each recording may be played twice; students answer after the second reading.
SCRIPT: مِعْمَارِيٌّ أَوَّلُ (سَامِي): يَنْبَغِي أَنْ نُحَافِظَ عَلَى المَبَانِي التَّارِيخِيَّةِ لِأَنَّهَا ذَاكِرَةُ المَدِينَةِ. مِعْمَارِيَّةٌ ثَانِيَةٌ (لَيْلَى): أَتَّفِقُ، لٰكِنِّي أَرَى أَنَّ التَّنْمِيَةَ ضَرُورِيَّةٌ أَيْضًا. سَامِي: نُرَمِّمُ التُّرَاثَ لِكَيْ نَصُونَ هُوِيَّتَنَا، وَلَوْ هَدَمْنَاهُ لَفَقَدْنَا جُزْءًا مِنْ تَارِيخِنَا. لَيْلَى: وَأَنَا أَرْجُو أَنْ نَجِدَ حَلًّا يُوَازِنُ بَيْنَ القَدِيمِ وَالحَدِيثِ. سَامِي: وَيَتَطَلَّبُ ذٰلِكَ أَنْ نَسْتَشِيرَ الخُبَرَاءَ. لَيْلَى: وَكَانَتِ المَدِينَةُ قَدْ فَقَدَتْ مَبَانِيَ كَثِيرَةً بِسَبَبِ الإِهْمَالِ.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trigger or marker (li-kay · an · sa- / la- · kāna qad · a passive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3 · 6 QUESTIONS (website Part A, 20 marks). Before listening: write the trigger you expect beside each question (لِكَيْ · يَتَطَلَّبُ أَنْ · يَخْشَى / يَرْجُو أَنْ · سَـ / لَـ · كَانَ قَدْ) — P4-L10: hear the trigger, not the final -a. Each question names the structure it tests: listen for kānat qad, the three passives (dummirat · ujliya · uʿlinat), li-kay, yataṭallabu an, idhā … sa- and narjū an. Each recording may be played twice; students answer after the second reading.
SCRIPT: يَقُولُ مُخَطِّطٌ عُمْرَانِيٌّ: كَانَتِ الحُكُومَةُ قَدْ أَطْلَقَتْ مَشْرُوعَ المَدِينَةِ الذَّكِيَّةِ قَبْلَ سَنَوَاتٍ. وَفِي العَامِ المَاضِي، دُمِّرَتْ أَحْيَاءٌ قَدِيمَةٌ فِي فَيَضَانٍ مُفَاجِئٍ، وَأُجْلِيَ السُّكَّانُ، وَأُعْلِنَتْ حَالَةُ الطَّوَارِئِ. وَلِذٰلِكَ صُمِّمَتِ المَدِينَةُ الجَدِيدَةُ لِكَيْ تُقَاوِمَ الكَوَارِثَ. وَيَتَطَلَّبُ الأَمْرُ أَنْ نُطَوِّرَ أَنْظِمَةَ الإِنْذَارِ المُبَكِّرِ. وَإِذَا اعْتَمَدْنَا عَلَى الطَّاقَةِ المُتَجَدِّدَةِ، سَتَنْخَفِضُ الانْبِعَاثَاتُ. وَنَرْجُو أَنْ تُصْبِحَ مِثَالًا يُحْتَذَى فِي المِنْطَقَةِ.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trigger or marker (li-kay · an · sa- / la- · kāna qad · a passive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READING TEXT (website Part B1). No English support on assessment texts. Strategy (P4-L08): circle every verb ending in -a and box its trigger (لِكَيْ · أَنْ); underline كَانَ … قَدْ and the result marker سَـ; then ask: what is REQUIRED but not yet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triggers and the past perfect · R4 subjunctive / result-marker gap-fill and purpose). Website skill labels for these questions: R1 · R2 · R2 · R3 · R3.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triggers and the past perfect · R4 subjunctive / result-marker gap-fill and purpose). Website skill labels for these questions: R3 · R3 · R4 · R4 · R4.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1 (website, 5 marks): one mark per field completed accurately in Arabic (a phrase is enough). Field 1 must use يُشَكِّلُ / يُمَثِّلُ; field 2 يَتَطَلَّبُ أَنْ + a verb in -a; field 3 لِكَيْ + a verb in -a; field 4 يَرْجُو أَنْ + a verb in -a; field 5 a Type 1 (إِذَا + past → سَـ). Check every final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2 (website, 15 marks): a 145–160-word article on a built or natural world challenge. Required: a challenge with يُشَكِّلُ / يُمَثِّلُ, a past-perfect background, one of EACH trigger (purpose · necessity · volition — separate Range marks), a Type 2 conditional, reported speech and a proposed solution. Mark scheme exactly as on the website (Accuracy: the final -a after every trigger 2 — the primary criterion · the Type 2 la- 2 · the passive 1). The P4-L09 website model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(website, 4 marks). Teacher plays the host of an environmental conference: أَهْلًا بِكَ فِي المُؤْتَمَرِ البِيئِيِّ. مَا التَّحَدِّي الَّذِي تُرِيدُ أَنْ تَتَحَدَّثَ عَنْهُ؟ Model answers: يُشَكِّلُ التَّلَوُّثُ تَحَدِّيًا كَبِيرًا فِي مَدِينَتِي · يَتَطَلَّبُ الحَلُّ أَنْ نُطَوِّرَ النَّقْلَ العَامَّ · إِذَا اسْتَعْمَلْنَا الحَافِلَاتِ الكَهْرَبَائِيَّةَ، سَيَقِلُّ التَّلَوُّثُ · أَرْجُو أَنْ تَعِيشَ الأَجْيَالُ القَادِمَةُ فِي هَوَاءٍ نَظِيفٍ. Website mark scheme: Communication (2): all four prompts are addressed clearly and relevantly. Accuracy (2): the necessity subjunctive in prompt 2 (yataṭallabu an + -a) and the Type 1 conditional in prompt 3 are formed correctly. The challenge is described with yushakkilu or yumaththilu. To a girl: صِفِي · اشْرَحِي · اقْتَرِحِي · عَبِّرِي.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CONVERSATION (website, 6 marks): structure · reason · extra (P4-L11). Model openings: تُشَكِّلُ نُدْرَةُ المِيَاهِ أَكْبَرَ تَحَدٍّ، بِسَبَبِ قِلَّةِ الأَمْطَارِ … وَقَدْ أُهْمِلَتِ المَوَارِدُ · لَوْ كَانَتْ لَدَيَّ صَلَاحِيَّاتُهُ، لَأَطْلَقْتُ … · يَتَطَلَّبُ الأَمْرُ أَنْ نُخَصِّصَ مِيزَانِيَّاتٍ لِلتَّرْمِيمِ لِكَيْ نَصُونَ هُوِيَّتَنَا. Website mark scheme: Communication (3): answers are developed with point, reason and example. Quality of language (3): a passive/cause-effect (Q1), a Type 2 conditional (Q2) and a necessity subjunctive (Q3) all appear. Q2 opens with law (Type 2 required) and Q3 invites yataṭallabu an + a verb in -a; give credit for any correct trigger even if the final fatḥa is not perfectly marked in spontaneous speech. Allow time-buying and repair phrases (سُؤَالٌ مُهِمٌّ · دَعْنِي أُفَكِّرُ · عَفْوًا، أَقْصِدُ). To a girl: صِفِي · لَدَيْكِ · كُنْتِ سَتُغَيِّرِينَ · رَأْيِكِ. ORGANISATION: one-to-one while others finish writing, or trusted pairs with the teacher as examiner.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complete the four components to generate targeted guidance). The bands are a teacher guide in line with the P1–P3 assessments. Return each student’s P4-L11 “priority error” note next to their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(P5-L01 · Poverty and Inequality — Analysing Social Disparities) will spend class time USING this language, so students prepare it tonight — short, simple, easy to access (school guidance: “Simple, Short, Interesting, Relevant, Easy to access”). Progression P5 begins with poverty and inequality (website P5-L01 “Poverty and Inequality — Analysing Social Disparities”). Teacher note: approach this topic with care — some students may have direct experience of hardship.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The Built and Natural World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المُرَاجَعَةُ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the built and natural world — li-kay, yataṭallabu an and yarjū an + a verb in -a, idhā … sa- and law … la-, kānat qad, dummirat and qāla inna — then choose one precise target for Progression P5.</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P4-L12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end of unit P4</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spine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P4 checklist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three texts,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27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P5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P5: society.</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spine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صَلَاحِيَّاتٌ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repairs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powers, authority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prayers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purpose clause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نَزْرَعُ الأَشْجَارَ لِكَيْ نُنَقِّيَ الهَوَاءَ.</a:t>
            </a:r>
            <a:endParaRPr lang="ar-SA" sz="20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نَزْرَعُ الأَشْجَارَ لِكَيْ نُنَقِّي الهَوَاءَ.</a:t>
            </a:r>
            <a:endParaRPr lang="ar-SA" sz="20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نَزْرَعُ الأَشْجَارَ لِكَيْ نُنَقِّيْ الهَوَاءَ.</a:t>
            </a:r>
            <a:endParaRPr lang="ar-SA" sz="200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يَهْدِفُ المَشْرُوعُ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 يُقَلِّلَ الانْبِعَاثَاتِ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Type 2 conditional.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بَدَأْنَا مُبَكِّرًا، نَجَحْنَا.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بَدَأْنَا مُبَكِّرًا، سَنَنْجَحُ.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بَدَأْنَا مُبَكِّرًا، لَنَجَحْنَا.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disaster passive is correctly formed?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المَبَانِي فِي الزِّلْزَالِ.</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يُدَمَّرَتِ المَبَانِي فِي الزِّلْزَالِ.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المَبَانِي فِي الزِّلْزَالِ.</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صَلَاحِيَّاتٌ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repairs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powers, authority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prayers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purpose clause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نَزْرَعُ الأَشْجَارَ لِكَيْ نُنَقِّيَ الهَوَاءَ.</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نَزْرَعُ الأَشْجَارَ لِكَيْ نُنَقِّي الهَوَاءَ.</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نَزْرَعُ الأَشْجَارَ لِكَيْ نُنَقِّيْ الهَوَاءَ.</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يَهْدِفُ المَشْرُوعُ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 يُقَلِّلَ الانْبِعَاثَاتِ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Type 2 conditional.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بَدَأْنَا مُبَكِّرًا، نَجَحْنَا.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بَدَأْنَا مُبَكِّرًا، سَنَنْجَحُ.</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بَدَأْنَا مُبَكِّرًا، لَنَجَحْنَا.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6.</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disaster passive is correctly formed?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دُمِّرَتِ المَبَانِي فِي الزِّلْزَالِ.</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يُدَمَّرَتِ المَبَانِي فِي الزِّلْزَالِ.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دَمَّرَتِ المَبَانِي فِي الزِّلْزَالِ.</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9.</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choose ONE thing to check in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لِكَيْ نُنَقِّيَ · أَنْ نَسْتَثْمِرَ · لَوْ … لَنَجَحْنَا · دُمِّرَتْ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P4 GRAMMAR SPINE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P4 accuracy checklist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P4-L01–L06</a:t>
            </a:r>
            <a:endParaRPr lang="en-US" sz="1100" dirty="0"/>
          </a:p>
        </p:txBody>
      </p:sp>
      <p:sp>
        <p:nvSpPr>
          <p:cNvPr id="21" name="Text 18"/>
          <p:cNvSpPr txBox="1"/>
          <p:nvPr/>
        </p:nvSpPr>
        <p:spPr>
          <a:xfrm>
            <a:off x="3291840" y="2267712"/>
            <a:ext cx="585216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لِكَيْ نُنَقِّيَ · يَتَطَلَّبُ أَنْ نُخَصِّصَ · نَخْشَى أَنْ يَتَفَاقَمَ</a:t>
            </a:r>
            <a:endParaRPr lang="ar-SA" sz="19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triggers + -a</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 · P4</a:t>
            </a:r>
            <a:endParaRPr lang="en-US" sz="1100" dirty="0"/>
          </a:p>
        </p:txBody>
      </p:sp>
      <p:sp>
        <p:nvSpPr>
          <p:cNvPr id="27" name="Text 24"/>
          <p:cNvSpPr txBox="1"/>
          <p:nvPr/>
        </p:nvSpPr>
        <p:spPr>
          <a:xfrm>
            <a:off x="3291840" y="3004718"/>
            <a:ext cx="585216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إِذَا اسْتَثْمَرْنَا، سَنَحْمِي الغَدَ · لَوْ بَدَأْنَا مُبَكِّرًا، لَنَجَحْنَا</a:t>
            </a:r>
            <a:endParaRPr lang="ar-SA" sz="19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 Type 2</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P4-L05</a:t>
            </a:r>
            <a:endParaRPr lang="en-US" sz="1100" dirty="0"/>
          </a:p>
        </p:txBody>
      </p:sp>
      <p:sp>
        <p:nvSpPr>
          <p:cNvPr id="33" name="Text 30"/>
          <p:cNvSpPr txBox="1"/>
          <p:nvPr/>
        </p:nvSpPr>
        <p:spPr>
          <a:xfrm>
            <a:off x="3291840" y="3741725"/>
            <a:ext cx="585216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دُمِّرَتِ المَبَانِي · أُعْلِنَتْ حَالَةُ الطَّوَارِئِ</a:t>
            </a:r>
            <a:endParaRPr lang="ar-SA" sz="19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P4-L07</a:t>
            </a:r>
            <a:endParaRPr lang="en-US" sz="1100" dirty="0"/>
          </a:p>
        </p:txBody>
      </p:sp>
      <p:sp>
        <p:nvSpPr>
          <p:cNvPr id="39" name="Text 36"/>
          <p:cNvSpPr txBox="1"/>
          <p:nvPr/>
        </p:nvSpPr>
        <p:spPr>
          <a:xfrm>
            <a:off x="3291840" y="4478731"/>
            <a:ext cx="585216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كَانَتِ المَدِينَةُ قَدْ فَقَدَتْ حَدَائِقَهَا</a:t>
            </a:r>
            <a:endParaRPr lang="ar-SA" sz="1900" dirty="0"/>
          </a:p>
        </p:txBody>
      </p:sp>
      <p:sp>
        <p:nvSpPr>
          <p:cNvPr id="40" name="Text 37"/>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P4-L06 · L09 · P3-L06</a:t>
            </a:r>
            <a:endParaRPr lang="en-US" sz="1100" dirty="0"/>
          </a:p>
        </p:txBody>
      </p:sp>
      <p:sp>
        <p:nvSpPr>
          <p:cNvPr id="43" name="Text 40"/>
          <p:cNvSpPr txBox="1"/>
          <p:nvPr/>
        </p:nvSpPr>
        <p:spPr>
          <a:xfrm>
            <a:off x="3291840" y="5215738"/>
            <a:ext cx="585216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يَهْدِفُ إِلَى أَنْ … · قَالَ الخَبِيرُ إِنَّ …</a:t>
            </a:r>
            <a:endParaRPr lang="ar-SA" sz="1900" dirty="0"/>
          </a:p>
        </p:txBody>
      </p:sp>
      <p:sp>
        <p:nvSpPr>
          <p:cNvPr id="44" name="Text 41"/>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partners · reported</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And one habit for every part today: find the trigger first — then the -a.</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(each heard twice): an environmental expert on water (8) · two architects on heritage (6) · an urban planner on a smart city (6)</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article on the environment in the Arab world: main idea, detail, triggers and the past perfect, gap-fills, purpose</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environmental form (5) + a 145–160-word article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role play: an environmental challenge (4) + a topic conversation (6)</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An environmental expert on water (1)</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current water situation?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has a water surplus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suffers acute water scarcity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is no concern</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say is required (</a:t>
            </a:r>
            <a:pPr algn="l" indent="0" marL="0">
              <a:buNone/>
            </a:pPr>
            <a:r>
              <a:rPr lang="ar-SA" altLang="en-US" sz="1650" b="1" dirty="0">
                <a:solidFill>
                  <a:srgbClr val="1B3B6F"/>
                </a:solidFill>
                <a:latin typeface="Amiri" pitchFamily="2" charset="-78"/>
                <a:ea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should allocate bigger budgets for desalination</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should stop desalination</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is required</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fear (</a:t>
            </a:r>
            <a:pPr algn="l" indent="0" marL="0">
              <a:buNone/>
            </a:pPr>
            <a:r>
              <a:rPr lang="ar-SA" altLang="en-US" sz="1650" b="1" dirty="0">
                <a:solidFill>
                  <a:srgbClr val="1B3B6F"/>
                </a:solidFill>
                <a:latin typeface="Amiri" pitchFamily="2" charset="-78"/>
                <a:ea typeface="Amiri" pitchFamily="2" charset="-78"/>
                <a:cs typeface="Amiri" pitchFamily="2" charset="-78"/>
              </a:rPr>
              <a:t>يَخْشَى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rainfall will increase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budgets will grow</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global warming will exceed its safe limits</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recommendation?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power raises costs</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they rely on solar power, costs will fall</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Costs cannot fall</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An environmental expert on water (1):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current water situation?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region has a water surplus</a:t>
            </a:r>
            <a:endParaRPr lang="en-US" sz="1250" dirty="0"/>
          </a:p>
        </p:txBody>
      </p:sp>
      <p:sp>
        <p:nvSpPr>
          <p:cNvPr id="22" name="Shape 19"/>
          <p:cNvSpPr/>
          <p:nvPr/>
        </p:nvSpPr>
        <p:spPr>
          <a:xfrm>
            <a:off x="548640" y="2825496"/>
            <a:ext cx="5362956"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region suffers acute water scarcity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 is no concern</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تُعَانِي المِنْطَقَةُ العَرَبِيَّةُ مِنْ نُدْرَةِ المِيَاهِ الحَادَّةِ.</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say is required (</a:t>
            </a:r>
            <a:pPr algn="l" indent="0" marL="0">
              <a:buNone/>
            </a:pPr>
            <a:r>
              <a:rPr lang="ar-SA" altLang="en-US" sz="1650" b="1" dirty="0">
                <a:solidFill>
                  <a:srgbClr val="1B3B6F"/>
                </a:solidFill>
                <a:latin typeface="Amiri" pitchFamily="2" charset="-78"/>
                <a:ea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Governments should allocate bigger budgets for desalination</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Governments should stop desalination</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is required</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يَتَطَلَّبُ الوَضْعُ أَنْ تُخَصِّصَ الحُكُومَاتُ مِيزَانِيَّاتٍ أَكْبَرَ لِلتَّحْلِيَةِ.</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fear (</a:t>
            </a:r>
            <a:pPr algn="l" indent="0" marL="0">
              <a:buNone/>
            </a:pPr>
            <a:r>
              <a:rPr lang="ar-SA" altLang="en-US" sz="1650" b="1" dirty="0">
                <a:solidFill>
                  <a:srgbClr val="1B3B6F"/>
                </a:solidFill>
                <a:latin typeface="Amiri" pitchFamily="2" charset="-78"/>
                <a:ea typeface="Amiri" pitchFamily="2" charset="-78"/>
                <a:cs typeface="Amiri" pitchFamily="2" charset="-78"/>
              </a:rPr>
              <a:t>يَخْشَى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rainfall will increase</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budgets will grow</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global warming will exceed its safe limits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نَخْشَى أَنْ يَتَجَاوَزَ الاحْتِرَارُ العَالَمِيُّ حُدُودَهُ الآمِنَةَ.</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recommendation?</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Solar power raises costs</a:t>
            </a:r>
            <a:endParaRPr lang="en-US" sz="1250" dirty="0"/>
          </a:p>
        </p:txBody>
      </p:sp>
      <p:sp>
        <p:nvSpPr>
          <p:cNvPr id="67" name="Shape 64"/>
          <p:cNvSpPr/>
          <p:nvPr/>
        </p:nvSpPr>
        <p:spPr>
          <a:xfrm>
            <a:off x="6277356" y="5166360"/>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If they rely on solar power, costs will fall</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Costs cannot fall</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اعْتَمَدْنَا عَلَى الطَّاقَةِ الشَّمْسِيَّةِ، سَنُخَفِّضُ التَّكَالِيفَ.</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An environmental expert on water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 about past failure?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they invested earlier, they would have avoided this crisis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Investing makes no difference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refused to invest</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statistic is reported from the UN report?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the world will have water</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 will face thirst</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third of the world's people will face thirst</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source of the statistic?</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local newspaper</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 report</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expert's own guess</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hope for (</a:t>
            </a:r>
            <a:pPr algn="l" indent="0" marL="0">
              <a:buNone/>
            </a:pPr>
            <a:r>
              <a:rPr lang="ar-SA" altLang="en-US" sz="1650" b="1" dirty="0">
                <a:solidFill>
                  <a:srgbClr val="1B3B6F"/>
                </a:solidFill>
                <a:latin typeface="Amiri" pitchFamily="2" charset="-78"/>
                <a:ea typeface="Amiri" pitchFamily="2" charset="-78"/>
                <a:cs typeface="Amiri" pitchFamily="2" charset="-78"/>
              </a:rPr>
              <a:t>يَرْجُو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rivers will dry up</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states will sign an agreement to manage shared rivers</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desalination will stop</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An environmental expert on water (2):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 about past failure?</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Had they invested earlier, they would have avoided this crisis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Investing makes no difference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refused to invest</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كُنَّا قَدِ اسْتَثْمَرْنَا مُبَكِّرًا، لَتَجَنَّبْنَا هٰذِهِ الأَزْمَةَ.</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statistic is reported from the UN report?</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the world will have water</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 will face thirst</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third of the world's people will face thirst</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تَقْرِيرٌ أُمَمِيٌّ إِنَّ ثُلُثَ سُكَّانِ العَالَمِ سَيُوَاجِهُونَ العَطَشَ.</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source of the statistic?</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local newspaper</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UN report</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expert's own guess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تَقْرِيرٌ أُمَمِيٌّ إِنَّ ….</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expert hope for (</a:t>
            </a:r>
            <a:pPr algn="l" indent="0" marL="0">
              <a:buNone/>
            </a:pPr>
            <a:r>
              <a:rPr lang="ar-SA" altLang="en-US" sz="1650" b="1" dirty="0">
                <a:solidFill>
                  <a:srgbClr val="1B3B6F"/>
                </a:solidFill>
                <a:latin typeface="Amiri" pitchFamily="2" charset="-78"/>
                <a:ea typeface="Amiri" pitchFamily="2" charset="-78"/>
                <a:cs typeface="Amiri" pitchFamily="2" charset="-78"/>
              </a:rPr>
              <a:t>يَرْجُو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rivers will dry up</a:t>
            </a:r>
            <a:endParaRPr lang="en-US" sz="1250" dirty="0"/>
          </a:p>
        </p:txBody>
      </p:sp>
      <p:sp>
        <p:nvSpPr>
          <p:cNvPr id="67" name="Shape 64"/>
          <p:cNvSpPr/>
          <p:nvPr/>
        </p:nvSpPr>
        <p:spPr>
          <a:xfrm>
            <a:off x="6277356" y="5166360"/>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states will sign an agreement to manage shared rivers</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desalination will stop</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نَرْجُو أَنْ تُوَقِّعَ الدُّوَلُ اتِّفَاقًا لِإِدَارَةِ الأَنْهَارِ المُشْتَرَكَةِ.</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 and Layla: who said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historic buildings must be preserved (necessity)?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states that development is also necessary?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gives the purpose clause about restoring heritage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hopes for a balanced solution (</a:t>
            </a:r>
            <a:pPr algn="l" indent="0" marL="0">
              <a:buNone/>
            </a:pPr>
            <a:r>
              <a:rPr lang="ar-SA" altLang="en-US" sz="1650" b="1" dirty="0">
                <a:solidFill>
                  <a:srgbClr val="1B3B6F"/>
                </a:solidFill>
                <a:latin typeface="Amiri" pitchFamily="2" charset="-78"/>
                <a:ea typeface="Amiri" pitchFamily="2" charset="-78"/>
                <a:cs typeface="Amiri" pitchFamily="2" charset="-78"/>
              </a:rPr>
              <a:t>يَرْجُو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the matter requires consulting experts (</a:t>
            </a:r>
            <a:pPr algn="l" indent="0" marL="0">
              <a:buNone/>
            </a:pPr>
            <a:r>
              <a:rPr lang="ar-SA" altLang="en-US" sz="1650" b="1" dirty="0">
                <a:solidFill>
                  <a:srgbClr val="1B3B6F"/>
                </a:solidFill>
                <a:latin typeface="Amiri" pitchFamily="2" charset="-78"/>
                <a:ea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notes the city had lost buildings to neglect (past perfect)?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Sami and Layla: who said what: answers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historic buildings must be preserved (necessity)?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يَنْبَغِي أَنْ نُحَافِظَ عَلَى المَبَانِي التَّارِيخِيَّةِ.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states that development is also necessary?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لَيْلَى: أَرَى أَنَّ التَّنْمِيَةَ ضَرُورِيَّةٌ أَيْضًا.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gives the purpose clause about restoring heritage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نُرَمِّمُ التُّرَاثَ لِكَيْ نَصُونَ هُوِيَّتَنَا.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hopes for a balanced solution (</a:t>
            </a:r>
            <a:pPr algn="l" indent="0" marL="0">
              <a:buNone/>
            </a:pPr>
            <a:r>
              <a:rPr lang="ar-SA" altLang="en-US" sz="1650" b="1" dirty="0">
                <a:solidFill>
                  <a:srgbClr val="1B3B6F"/>
                </a:solidFill>
                <a:latin typeface="Amiri" pitchFamily="2" charset="-78"/>
                <a:ea typeface="Amiri" pitchFamily="2" charset="-78"/>
                <a:cs typeface="Amiri" pitchFamily="2" charset="-78"/>
              </a:rPr>
              <a:t>يَرْجُو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لَيْلَى: أَرْجُو أَنْ نَجِدَ حَلًّا يُوَازِنُ بَيْنَ القَدِيمِ وَالحَدِيثِ.</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the matter requires consulting experts (</a:t>
            </a:r>
            <a:pPr algn="l" indent="0" marL="0">
              <a:buNone/>
            </a:pPr>
            <a:r>
              <a:rPr lang="ar-SA" altLang="en-US" sz="1650" b="1" dirty="0">
                <a:solidFill>
                  <a:srgbClr val="1B3B6F"/>
                </a:solidFill>
                <a:latin typeface="Amiri" pitchFamily="2" charset="-78"/>
                <a:ea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يَتَطَلَّبُ ذٰلِكَ أَنْ نَسْتَشِيرَ الخُبَرَاءَ.</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notes the city had lost buildings to neglect (past perfect)?</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لَيْلَى: كَانَتِ المَدِينَةُ قَدْ فَقَدَتْ مَبَانِيَ كَثِيرَةً بِسَبَبِ الإِهْمَالِ.</a:t>
            </a:r>
            <a:endParaRPr lang="ar-SA" sz="12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urban planner on a smart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(past perfect).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project never started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government had launched the smart-city project years earlier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project starts next year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(disaster passives).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was damaged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950" dirty="0">
                <a:solidFill>
                  <a:srgbClr val="1F2A37"/>
                </a:solidFill>
                <a:latin typeface="Calibri" pitchFamily="34" charset="0"/>
                <a:cs typeface="Amiri" pitchFamily="2" charset="-78"/>
              </a:rPr>
              <a:t>Old districts were destroyed, residents were evacuated and a state of emergency was declared</a:t>
            </a:r>
            <a:endParaRPr lang="en-US" sz="9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districts were rebuilt overnight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(purpose,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was designed to attract floods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has no design purpose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new city was designed to withstand disasters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(necessity, </a:t>
            </a:r>
            <a:pPr algn="l" indent="0" marL="0">
              <a:buNone/>
            </a:pPr>
            <a:r>
              <a:rPr lang="ar-SA" altLang="en-US" sz="1650" b="1" dirty="0">
                <a:solidFill>
                  <a:srgbClr val="1B3B6F"/>
                </a:solidFill>
                <a:latin typeface="Amiri" pitchFamily="2" charset="-78"/>
                <a:ea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matter requires developing early-warning systems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Early-warning systems are unnecessary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Warnings should be removed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(Type 1).</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Renewable energy raises emissions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they rely on renewable energy, emissions will fall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Emissions cannot fall</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(hope, </a:t>
            </a:r>
            <a:pPr algn="l" indent="0" marL="0">
              <a:buNone/>
            </a:pPr>
            <a:r>
              <a:rPr lang="ar-SA" altLang="en-US" sz="1650" b="1" dirty="0">
                <a:solidFill>
                  <a:srgbClr val="1B3B6F"/>
                </a:solidFill>
                <a:latin typeface="Amiri" pitchFamily="2" charset="-78"/>
                <a:ea typeface="Amiri" pitchFamily="2" charset="-78"/>
                <a:cs typeface="Amiri" pitchFamily="2" charset="-78"/>
              </a:rPr>
              <a:t>يَرْجُو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hope the city becomes a model for the region</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hope it fails</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have no hopes for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 urban planner on a smart city: answers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(past perfect).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project never started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government had launched the smart-city project years earlier</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project starts next year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كَانَتِ الحُكُومَةُ قَدْ أَطْلَقَتْ مَشْرُوعَ المَدِينَةِ الذَّكِيَّةِ قَبْلَ سَنَوَاتٍ.</a:t>
            </a:r>
            <a:endParaRPr lang="ar-SA"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(disaster passives).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was damaged</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950" b="1" dirty="0">
                <a:solidFill>
                  <a:srgbClr val="1F2A37"/>
                </a:solidFill>
                <a:latin typeface="Calibri" pitchFamily="34" charset="0"/>
                <a:cs typeface="Amiri" pitchFamily="2" charset="-78"/>
              </a:rPr>
              <a:t>Old districts were destroyed, residents were evacuated and a state of emergency was declared</a:t>
            </a:r>
            <a:endParaRPr lang="en-US" sz="9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districts were rebuilt overnight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دُمِّرَتْ أَحْيَاءٌ قَدِيمَةٌ … وَأُجْلِيَ السُّكَّانُ، وَأُعْلِنَتْ حَالَةُ الطَّوَارِئِ.</a:t>
            </a:r>
            <a:endParaRPr lang="ar-SA"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(purpose,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The city was designed to attract floods</a:t>
            </a:r>
            <a:endParaRPr lang="en-US" sz="12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city has no design purpose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new city was designed to withstand disasters</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صُمِّمَتِ المَدِينَةُ الجَدِيدَةُ لِكَيْ تُقَاوِمَ الكَوَارِثَ.</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(necessity, </a:t>
            </a:r>
            <a:pPr algn="l" indent="0" marL="0">
              <a:buNone/>
            </a:pPr>
            <a:r>
              <a:rPr lang="ar-SA" altLang="en-US" sz="1650" b="1" dirty="0">
                <a:solidFill>
                  <a:srgbClr val="1B3B6F"/>
                </a:solidFill>
                <a:latin typeface="Amiri" pitchFamily="2" charset="-78"/>
                <a:ea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matter requires developing early-warning systems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Early-warning systems are unnecessary</a:t>
            </a:r>
            <a:endParaRPr lang="en-US" sz="12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Warnings should be removed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يَتَطَلَّبُ الأَمْرُ أَنْ نُطَوِّرَ أَنْظِمَةَ الإِنْذَارِ المُبَكِّرِ.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(Type 1).</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Renewable energy raises emissions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they rely on renewable energy, emissions will fall</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Emissions cannot fall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إِذَا اعْتَمَدْنَا عَلَى الطَّاقَةِ المُتَجَدِّدَةِ، سَتَنْخَفِضُ الانْبِعَاثَاتُ.</a:t>
            </a:r>
            <a:endParaRPr lang="ar-SA" sz="130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a statement supported by the text (hope, </a:t>
            </a:r>
            <a:pPr algn="l" indent="0" marL="0">
              <a:buNone/>
            </a:pPr>
            <a:r>
              <a:rPr lang="ar-SA" altLang="en-US" sz="1650" b="1" dirty="0">
                <a:solidFill>
                  <a:srgbClr val="1B3B6F"/>
                </a:solidFill>
                <a:latin typeface="Amiri" pitchFamily="2" charset="-78"/>
                <a:ea typeface="Amiri" pitchFamily="2" charset="-78"/>
                <a:cs typeface="Amiri" pitchFamily="2" charset="-78"/>
              </a:rPr>
              <a:t>يَرْجُو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hope the city becomes a model for the region</a:t>
            </a:r>
            <a:endParaRPr lang="en-US" sz="115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hope it fails</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have no hopes for it</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نَرْجُو أَنْ تُصْبِحَ مِثَالًا يُحْتَذَى فِي المِنْطَقَةِ.</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B1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The environment in the Arab world</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البِيئَةُ فِي العَالَمِ العَرَبِيِّ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تُوَاجِهُ البِيئَةُ فِي العَالَمِ العَرَبِيِّ تَحَدِّيَاتٍ كَبِيرَةً، مِنْ نُدْرَةِ المِيَاهِ إِلَى التَّلَوُّثِ وَفُقْدَانِ التُّرَاثِ العُمْرَانِيِّ. يَقُولُ كَاتِبُ المَقَالِ: «يَنْبَغِي أَنْ نَسْتَثْمِرَ فِي الطَّاقَةِ المُتَجَدِّدَةِ، وَأَنْ نُحَافِظَ عَلَى مُدُنِنَا القَدِيمَةِ.» وَيُضِيفُ أَنَّنَا نَفْعَلُ ذٰلِكَ لِكَيْ نَحْمِيَ الأَجْيَالَ القَادِمَةَ وَنَصُونَ هُوِيَّتَنَا. وَكَانَتْ مُدُنٌ كَثِيرَةٌ قَدْ فَقَدَتْ مَعَالِمَهَا قَبْلَ أَنْ تَنْتَبِهَ الحُكُومَاتُ لِلْخَطَرِ. وَيَرْجُو الكَاتِبُ أَنْ يَتَغَيَّرَ سُلُوكُ الأَفْرَادِ. وَيُؤَكِّدُ أَنَّهُ إِذَا اعْتَمَدْنَا عَلَى النَّقْلِ النَّظِيفِ، سَتَنْخَفِضُ الانْبِعَاثَاتُ. وَالغَرَضُ مِنَ النَّصِّ إِقْنَاعُ القَارِئِ بِالمَسْؤُولِيَّةِ البِيئِيَّةِ.</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main concern?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environment has no problems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environment faces major challenges in the Arab world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water matters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two challenges the writer lists.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Abundant water and new buildings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specific</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scarcity and loss of built heritage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hope for (</a:t>
            </a:r>
            <a:pPr algn="l" indent="0" marL="0">
              <a:buNone/>
            </a:pPr>
            <a:r>
              <a:rPr lang="ar-SA" altLang="en-US" sz="1650" b="1" dirty="0">
                <a:solidFill>
                  <a:srgbClr val="1B3B6F"/>
                </a:solidFill>
                <a:latin typeface="Amiri" pitchFamily="2" charset="-78"/>
                <a:ea typeface="Amiri" pitchFamily="2" charset="-78"/>
                <a:cs typeface="Amiri" pitchFamily="2" charset="-78"/>
              </a:rPr>
              <a:t>يَرْجُو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individuals' behaviour will change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behaviour stays the same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governments do nothing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Identify ONE subjunctive verb in the first quotation and name its trigger type.</a:t>
            </a:r>
            <a:endParaRPr lang="en-US" sz="11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نَسْتَثْمِرَ</a:t>
            </a:r>
            <a:pPr algn="l" indent="0" marL="0">
              <a:buNone/>
            </a:pPr>
            <a:r>
              <a:rPr lang="en-US" sz="1250" dirty="0">
                <a:solidFill>
                  <a:srgbClr val="1F2A37"/>
                </a:solidFill>
                <a:latin typeface="Calibri" pitchFamily="34" charset="0"/>
                <a:cs typeface="Amiri" pitchFamily="2" charset="-78"/>
              </a:rPr>
              <a:t> — a purpose trigger (</a:t>
            </a:r>
            <a:pPr algn="l" indent="0" marL="0">
              <a:buNone/>
            </a:pPr>
            <a:r>
              <a:rPr lang="ar-SA" altLang="en-US" sz="1650" dirty="0">
                <a:solidFill>
                  <a:srgbClr val="1F2A37"/>
                </a:solidFill>
                <a:latin typeface="Amiri" pitchFamily="2" charset="-78"/>
                <a:ea typeface="Amiri" pitchFamily="2" charset="-78"/>
                <a:cs typeface="Amiri" pitchFamily="2" charset="-78"/>
              </a:rPr>
              <a:t>لِكَيْ</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نَسْتَثْمِرَ</a:t>
            </a:r>
            <a:pPr algn="l" indent="0" marL="0">
              <a:buNone/>
            </a:pPr>
            <a:r>
              <a:rPr lang="en-US" sz="1250" dirty="0">
                <a:solidFill>
                  <a:srgbClr val="1F2A37"/>
                </a:solidFill>
                <a:latin typeface="Calibri" pitchFamily="34" charset="0"/>
                <a:cs typeface="Amiri" pitchFamily="2" charset="-78"/>
              </a:rPr>
              <a:t> — a necessity trigger (</a:t>
            </a:r>
            <a:pPr algn="l" indent="0" marL="0">
              <a:buNone/>
            </a:pPr>
            <a:r>
              <a:rPr lang="ar-SA" altLang="en-US" sz="1650" dirty="0">
                <a:solidFill>
                  <a:srgbClr val="1F2A37"/>
                </a:solidFill>
                <a:latin typeface="Amiri" pitchFamily="2" charset="-78"/>
                <a:ea typeface="Amiri" pitchFamily="2" charset="-78"/>
                <a:cs typeface="Amiri" pitchFamily="2" charset="-78"/>
              </a:rPr>
              <a:t>يَنْبَغِي أَنْ</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سَتَنْخَفِضُ</a:t>
            </a:r>
            <a:pPr algn="l" indent="0" marL="0">
              <a:buNone/>
            </a:pPr>
            <a:r>
              <a:rPr lang="en-US" sz="1250" dirty="0">
                <a:solidFill>
                  <a:srgbClr val="1F2A37"/>
                </a:solidFill>
                <a:latin typeface="Calibri" pitchFamily="34" charset="0"/>
                <a:cs typeface="Amiri" pitchFamily="2" charset="-78"/>
              </a:rPr>
              <a:t> — a conditional result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purpose trigger and its verb.</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لِكَيْ نَحْمِيَ</a:t>
            </a:r>
            <a:pPr algn="l" indent="0" marL="0">
              <a:buNone/>
            </a:pPr>
            <a:r>
              <a:rPr lang="en-US" sz="1250" dirty="0">
                <a:solidFill>
                  <a:srgbClr val="1F2A37"/>
                </a:solidFill>
                <a:latin typeface="Calibri" pitchFamily="34" charset="0"/>
                <a:cs typeface="Amiri" pitchFamily="2" charset="-78"/>
              </a:rPr>
              <a:t> — purpose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يَنْبَغِي أَنْ نَسْتَثْمِرَ</a:t>
            </a:r>
            <a:pPr algn="l" indent="0" marL="0">
              <a:buNone/>
            </a:pPr>
            <a:r>
              <a:rPr lang="en-US" sz="1250" dirty="0">
                <a:solidFill>
                  <a:srgbClr val="1F2A37"/>
                </a:solidFill>
                <a:latin typeface="Calibri" pitchFamily="34" charset="0"/>
                <a:cs typeface="Amiri" pitchFamily="2" charset="-78"/>
              </a:rPr>
              <a:t> — purpose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يَرْجُو أَنْ يَتَغَيَّرَ</a:t>
            </a:r>
            <a:pPr algn="l" indent="0" marL="0">
              <a:buNone/>
            </a:pPr>
            <a:r>
              <a:rPr lang="en-US" sz="1250" dirty="0">
                <a:solidFill>
                  <a:srgbClr val="1F2A37"/>
                </a:solidFill>
                <a:latin typeface="Calibri" pitchFamily="34" charset="0"/>
                <a:cs typeface="Amiri" pitchFamily="2" charset="-78"/>
              </a:rPr>
              <a:t> — purpose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main concern?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environment has no problems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environment faces major challenges in the Arab world</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water matters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تُوَاجِهُ البِيئَةُ فِي العَالَمِ العَرَبِيِّ تَحَدِّيَاتٍ كَبِيرَةً.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two challenges the writer lists.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Abundant water and new buildings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specific</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Water scarcity and loss of built heritage</a:t>
            </a:r>
            <a:endParaRPr lang="en-US" sz="12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نُدْرَةِ المِيَاهِ إِلَى التَّلَوُّثِ وَفُقْدَانِ التُّرَاثِ العُمْرَانِيِّ.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hope for (</a:t>
            </a:r>
            <a:pPr algn="l" indent="0" marL="0">
              <a:buNone/>
            </a:pPr>
            <a:r>
              <a:rPr lang="ar-SA" altLang="en-US" sz="1650" b="1" dirty="0">
                <a:solidFill>
                  <a:srgbClr val="1B3B6F"/>
                </a:solidFill>
                <a:latin typeface="Amiri" pitchFamily="2" charset="-78"/>
                <a:ea typeface="Amiri" pitchFamily="2" charset="-78"/>
                <a:cs typeface="Amiri" pitchFamily="2" charset="-78"/>
              </a:rPr>
              <a:t>يَرْجُو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individuals' behaviour will change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behaviour stays the same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governments do nothing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يَرْجُو الكَاتِبُ أَنْ يَتَغَيَّرَ سُلُوكُ الأَفْرَادِ.</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Identify ONE subjunctive verb in the first quotation and name its trigger type.</a:t>
            </a:r>
            <a:endParaRPr lang="en-US" sz="11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نَسْتَثْمِرَ</a:t>
            </a:r>
            <a:pPr algn="l" indent="0" marL="0">
              <a:buNone/>
            </a:pPr>
            <a:r>
              <a:rPr lang="en-US" sz="1250" dirty="0">
                <a:solidFill>
                  <a:srgbClr val="9AA1AB"/>
                </a:solidFill>
                <a:latin typeface="Calibri" pitchFamily="34" charset="0"/>
                <a:cs typeface="Amiri" pitchFamily="2" charset="-78"/>
              </a:rPr>
              <a:t> — a purpose trigger (</a:t>
            </a:r>
            <a:pPr algn="l" indent="0" marL="0">
              <a:buNone/>
            </a:pPr>
            <a:r>
              <a:rPr lang="ar-SA" altLang="en-US" sz="1650" dirty="0">
                <a:solidFill>
                  <a:srgbClr val="9AA1AB"/>
                </a:solidFill>
                <a:latin typeface="Amiri" pitchFamily="2" charset="-78"/>
                <a:ea typeface="Amiri" pitchFamily="2" charset="-78"/>
                <a:cs typeface="Amiri" pitchFamily="2" charset="-78"/>
              </a:rPr>
              <a:t>لِكَيْ</a:t>
            </a:r>
            <a:pPr algn="l" indent="0" marL="0">
              <a:buNone/>
            </a:pPr>
            <a:r>
              <a:rPr lang="en-US" sz="1250" dirty="0">
                <a:solidFill>
                  <a:srgbClr val="9AA1AB"/>
                </a:solidFill>
                <a:latin typeface="Calibri" pitchFamily="34" charset="0"/>
                <a:cs typeface="Amiri" pitchFamily="2" charset="-78"/>
              </a:rPr>
              <a:t>)</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ar-SA" altLang="en-US" sz="1500" b="1" dirty="0">
                <a:solidFill>
                  <a:srgbClr val="1F2A37"/>
                </a:solidFill>
                <a:latin typeface="Amiri" pitchFamily="2" charset="-78"/>
                <a:ea typeface="Amiri" pitchFamily="2" charset="-78"/>
                <a:cs typeface="Amiri" pitchFamily="2" charset="-78"/>
              </a:rPr>
              <a:t>نَسْتَثْمِرَ</a:t>
            </a:r>
            <a:pPr algn="l" indent="0" marL="0">
              <a:buNone/>
            </a:pPr>
            <a:r>
              <a:rPr lang="en-US" sz="1150" b="1" dirty="0">
                <a:solidFill>
                  <a:srgbClr val="1F2A37"/>
                </a:solidFill>
                <a:latin typeface="Calibri" pitchFamily="34" charset="0"/>
                <a:cs typeface="Amiri" pitchFamily="2" charset="-78"/>
              </a:rPr>
              <a:t> — a necessity trigger (</a:t>
            </a:r>
            <a:pPr algn="l" indent="0" marL="0">
              <a:buNone/>
            </a:pPr>
            <a:r>
              <a:rPr lang="ar-SA" altLang="en-US" sz="1500" b="1" dirty="0">
                <a:solidFill>
                  <a:srgbClr val="1F2A37"/>
                </a:solidFill>
                <a:latin typeface="Amiri" pitchFamily="2" charset="-78"/>
                <a:ea typeface="Amiri" pitchFamily="2" charset="-78"/>
                <a:cs typeface="Amiri" pitchFamily="2" charset="-78"/>
              </a:rPr>
              <a:t>يَنْبَغِي أَنْ</a:t>
            </a:r>
            <a:pPr algn="l" indent="0" marL="0">
              <a:buNone/>
            </a:pPr>
            <a:r>
              <a:rPr lang="en-US" sz="1150" b="1" dirty="0">
                <a:solidFill>
                  <a:srgbClr val="1F2A37"/>
                </a:solidFill>
                <a:latin typeface="Calibri" pitchFamily="34" charset="0"/>
                <a:cs typeface="Amiri" pitchFamily="2" charset="-78"/>
              </a:rPr>
              <a:t>)</a:t>
            </a:r>
            <a:endParaRPr lang="en-US" sz="11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سَتَنْخَفِضُ</a:t>
            </a:r>
            <a:pPr algn="l" indent="0" marL="0">
              <a:buNone/>
            </a:pPr>
            <a:r>
              <a:rPr lang="en-US" sz="1250" dirty="0">
                <a:solidFill>
                  <a:srgbClr val="9AA1AB"/>
                </a:solidFill>
                <a:latin typeface="Calibri" pitchFamily="34" charset="0"/>
                <a:cs typeface="Amiri" pitchFamily="2" charset="-78"/>
              </a:rPr>
              <a:t> — a conditional result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يَنْبَغِي أَنْ نَسْتَثْمِرَ</a:t>
            </a:r>
            <a:pPr algn="l" indent="0" marL="0">
              <a:buNone/>
            </a:pPr>
            <a:r>
              <a:rPr lang="en-US" sz="1050" i="1" dirty="0">
                <a:solidFill>
                  <a:srgbClr val="8A6D1E"/>
                </a:solidFill>
                <a:latin typeface="Calibri" pitchFamily="34" charset="0"/>
                <a:cs typeface="Amiri" pitchFamily="2" charset="-78"/>
              </a:rPr>
              <a:t> is a necessity trigger; the verb </a:t>
            </a:r>
            <a:pPr algn="l" indent="0" marL="0">
              <a:buNone/>
            </a:pPr>
            <a:r>
              <a:rPr lang="ar-SA" altLang="en-US" sz="1350" dirty="0">
                <a:solidFill>
                  <a:srgbClr val="8A6D1E"/>
                </a:solidFill>
                <a:latin typeface="Amiri" pitchFamily="2" charset="-78"/>
                <a:ea typeface="Amiri" pitchFamily="2" charset="-78"/>
                <a:cs typeface="Amiri" pitchFamily="2" charset="-78"/>
              </a:rPr>
              <a:t>نَسْتَثْمِرَ</a:t>
            </a:r>
            <a:pPr algn="l" indent="0" marL="0">
              <a:buNone/>
            </a:pPr>
            <a:r>
              <a:rPr lang="en-US" sz="1050" i="1" dirty="0">
                <a:solidFill>
                  <a:srgbClr val="8A6D1E"/>
                </a:solidFill>
                <a:latin typeface="Calibri" pitchFamily="34" charset="0"/>
                <a:cs typeface="Amiri" pitchFamily="2" charset="-78"/>
              </a:rPr>
              <a:t> is subjunctive.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purpose trigger and its verb.</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لِكَيْ نَحْمِيَ</a:t>
            </a:r>
            <a:pPr algn="l" indent="0" marL="0">
              <a:buNone/>
            </a:pPr>
            <a:r>
              <a:rPr lang="en-US" sz="1250" b="1" dirty="0">
                <a:solidFill>
                  <a:srgbClr val="1F2A37"/>
                </a:solidFill>
                <a:latin typeface="Calibri" pitchFamily="34" charset="0"/>
                <a:cs typeface="Amiri" pitchFamily="2" charset="-78"/>
              </a:rPr>
              <a:t> — purpose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يَنْبَغِي أَنْ نَسْتَثْمِرَ</a:t>
            </a:r>
            <a:pPr algn="l" indent="0" marL="0">
              <a:buNone/>
            </a:pPr>
            <a:r>
              <a:rPr lang="en-US" sz="1250" dirty="0">
                <a:solidFill>
                  <a:srgbClr val="9AA1AB"/>
                </a:solidFill>
                <a:latin typeface="Calibri" pitchFamily="34" charset="0"/>
                <a:cs typeface="Amiri" pitchFamily="2" charset="-78"/>
              </a:rPr>
              <a:t> — purpose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يَرْجُو أَنْ يَتَغَيَّرَ</a:t>
            </a:r>
            <a:pPr algn="l" indent="0" marL="0">
              <a:buNone/>
            </a:pPr>
            <a:r>
              <a:rPr lang="en-US" sz="1250" dirty="0">
                <a:solidFill>
                  <a:srgbClr val="9AA1AB"/>
                </a:solidFill>
                <a:latin typeface="Calibri" pitchFamily="34" charset="0"/>
                <a:cs typeface="Amiri" pitchFamily="2" charset="-78"/>
              </a:rPr>
              <a:t> — purpose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 نَحْمِيَ</a:t>
            </a:r>
            <a:pPr algn="l" indent="0" marL="0">
              <a:buNone/>
            </a:pPr>
            <a:r>
              <a:rPr lang="en-US" sz="1050" i="1" dirty="0">
                <a:solidFill>
                  <a:srgbClr val="8A6D1E"/>
                </a:solidFill>
                <a:latin typeface="Calibri" pitchFamily="34" charset="0"/>
                <a:cs typeface="Amiri" pitchFamily="2" charset="-78"/>
              </a:rPr>
              <a:t> states a purpose.</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purpose clause tell you about the writer's argument?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Preservation is optional and minor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opposes preservation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Preservation is framed as protecting future generations and identity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the past-perfect structure.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كَانَتْ مُدُنٌ كَثِيرَةٌ قَدْ فَقَدَتْ مَعَالِمَهَا</a:t>
            </a:r>
            <a:endParaRPr lang="ar-SA" sz="19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يَنْبَغِي أَنْ نَسْتَثْمِرَ</a:t>
            </a:r>
            <a:endParaRPr lang="ar-SA" sz="19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لِكَيْ نَحْمِيَ الأَجْيَالَ</a:t>
            </a:r>
            <a:endParaRPr lang="ar-SA" sz="19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necessity gap: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عَلَى مُدُنِنَا القَدِيمَةِ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نُحَافِظُ</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نُحَافِظَ</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نُحَافِظْ</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 gap: </a:t>
            </a:r>
            <a:pPr algn="l" indent="0" marL="0">
              <a:buNone/>
            </a:pPr>
            <a:r>
              <a:rPr lang="ar-SA" altLang="en-US" sz="1550" b="1" dirty="0">
                <a:solidFill>
                  <a:srgbClr val="1B3B6F"/>
                </a:solidFill>
                <a:latin typeface="Amiri" pitchFamily="2" charset="-78"/>
                <a:ea typeface="Amiri" pitchFamily="2" charset="-78"/>
                <a:cs typeface="Amiri" pitchFamily="2" charset="-78"/>
              </a:rPr>
              <a:t>إِذَا اعْتَمَدْنَا عَلَى النَّقْلِ النَّظِيفِ،</a:t>
            </a:r>
            <a:pPr algn="l" indent="0" marL="0">
              <a:buNone/>
            </a:pPr>
            <a:r>
              <a:rPr lang="en-US" sz="1200" b="1" dirty="0">
                <a:solidFill>
                  <a:srgbClr val="1B3B6F"/>
                </a:solidFill>
                <a:latin typeface="Calibri" pitchFamily="34" charset="0"/>
                <a:cs typeface="Amiri" pitchFamily="2" charset="-78"/>
              </a:rPr>
              <a:t> ___ </a:t>
            </a:r>
            <a:pPr algn="l" indent="0" marL="0">
              <a:buNone/>
            </a:pPr>
            <a:r>
              <a:rPr lang="ar-SA" altLang="en-US" sz="1550" b="1" dirty="0">
                <a:solidFill>
                  <a:srgbClr val="1B3B6F"/>
                </a:solidFill>
                <a:latin typeface="Amiri" pitchFamily="2" charset="-78"/>
                <a:ea typeface="Amiri" pitchFamily="2" charset="-78"/>
                <a:cs typeface="Amiri" pitchFamily="2" charset="-78"/>
              </a:rPr>
              <a:t>الانْبِعَاثَاتُ</a:t>
            </a:r>
            <a:pPr algn="l" indent="0" marL="0">
              <a:buNone/>
            </a:pPr>
            <a:r>
              <a:rPr lang="en-US" sz="1200" b="1" dirty="0">
                <a:solidFill>
                  <a:srgbClr val="1B3B6F"/>
                </a:solidFill>
                <a:latin typeface="Calibri" pitchFamily="34" charset="0"/>
                <a:cs typeface="Amiri" pitchFamily="2" charset="-78"/>
              </a:rPr>
              <a:t>.</a:t>
            </a:r>
            <a:endParaRPr lang="en-US" sz="120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سَتَنْخَفِضُ</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لَانْخَفَضَتِ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تَنْخَفِضُ</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 text?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report the news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entertain only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persuade the reader of environmental responsibility</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purpose clause tell you about the writer's argument?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Preservation is optional and minor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opposes preservation</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Preservation is framed as protecting future generations and identity</a:t>
            </a:r>
            <a:endParaRPr lang="en-US" sz="11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 نَحْمِيَ الأَجْيَالَ القَادِمَةَ وَنَصُونَ هُوِيَّتَنَا</a:t>
            </a:r>
            <a:pPr algn="l" indent="0" marL="0">
              <a:buNone/>
            </a:pPr>
            <a:r>
              <a:rPr lang="en-US" sz="1050" i="1" dirty="0">
                <a:solidFill>
                  <a:srgbClr val="8A6D1E"/>
                </a:solidFill>
                <a:latin typeface="Calibri" pitchFamily="34" charset="0"/>
                <a:cs typeface="Amiri" pitchFamily="2" charset="-78"/>
              </a:rPr>
              <a:t> frames the argument.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the past-perfect structure.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مُدُنٌ كَثِيرَةٌ قَدْ فَقَدَتْ مَعَالِمَهَا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يَنْبَغِي أَنْ نَسْتَثْمِرَ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 نَحْمِيَ الأَجْيَالَ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 … قَدْ فَقَدَتْ</a:t>
            </a:r>
            <a:pPr algn="l" indent="0" marL="0">
              <a:buNone/>
            </a:pPr>
            <a:r>
              <a:rPr lang="en-US" sz="1050" i="1" dirty="0">
                <a:solidFill>
                  <a:srgbClr val="8A6D1E"/>
                </a:solidFill>
                <a:latin typeface="Calibri" pitchFamily="34" charset="0"/>
                <a:cs typeface="Amiri" pitchFamily="2" charset="-78"/>
              </a:rPr>
              <a:t> is the past perfect.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necessity gap: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عَلَى مُدُنِنَا القَدِيمَةِ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نُحَافِظُ</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نُحَافِظَ</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نُحَافِظْ</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نُحَافِظَ</a:t>
            </a:r>
            <a:pPr algn="l" indent="0" marL="0">
              <a:buNone/>
            </a:pPr>
            <a:r>
              <a:rPr lang="en-US" sz="1050" i="1" dirty="0">
                <a:solidFill>
                  <a:srgbClr val="8A6D1E"/>
                </a:solidFill>
                <a:latin typeface="Calibri" pitchFamily="34" charset="0"/>
                <a:cs typeface="Amiri" pitchFamily="2" charset="-78"/>
              </a:rPr>
              <a:t>, not the indicative </a:t>
            </a:r>
            <a:pPr algn="l" indent="0" marL="0">
              <a:buNone/>
            </a:pPr>
            <a:r>
              <a:rPr lang="ar-SA" altLang="en-US" sz="1350" dirty="0">
                <a:solidFill>
                  <a:srgbClr val="8A6D1E"/>
                </a:solidFill>
                <a:latin typeface="Amiri" pitchFamily="2" charset="-78"/>
                <a:ea typeface="Amiri" pitchFamily="2" charset="-78"/>
                <a:cs typeface="Amiri" pitchFamily="2" charset="-78"/>
              </a:rPr>
              <a:t>نُحَافِظُ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 gap: </a:t>
            </a:r>
            <a:pPr algn="l" indent="0" marL="0">
              <a:buNone/>
            </a:pPr>
            <a:r>
              <a:rPr lang="ar-SA" altLang="en-US" sz="1550" b="1" dirty="0">
                <a:solidFill>
                  <a:srgbClr val="1B3B6F"/>
                </a:solidFill>
                <a:latin typeface="Amiri" pitchFamily="2" charset="-78"/>
                <a:ea typeface="Amiri" pitchFamily="2" charset="-78"/>
                <a:cs typeface="Amiri" pitchFamily="2" charset="-78"/>
              </a:rPr>
              <a:t>إِذَا اعْتَمَدْنَا عَلَى النَّقْلِ النَّظِيفِ،</a:t>
            </a:r>
            <a:pPr algn="l" indent="0" marL="0">
              <a:buNone/>
            </a:pPr>
            <a:r>
              <a:rPr lang="en-US" sz="1200" b="1" dirty="0">
                <a:solidFill>
                  <a:srgbClr val="1B3B6F"/>
                </a:solidFill>
                <a:latin typeface="Calibri" pitchFamily="34" charset="0"/>
                <a:cs typeface="Amiri" pitchFamily="2" charset="-78"/>
              </a:rPr>
              <a:t> ___ </a:t>
            </a:r>
            <a:pPr algn="l" indent="0" marL="0">
              <a:buNone/>
            </a:pPr>
            <a:r>
              <a:rPr lang="ar-SA" altLang="en-US" sz="1550" b="1" dirty="0">
                <a:solidFill>
                  <a:srgbClr val="1B3B6F"/>
                </a:solidFill>
                <a:latin typeface="Amiri" pitchFamily="2" charset="-78"/>
                <a:ea typeface="Amiri" pitchFamily="2" charset="-78"/>
                <a:cs typeface="Amiri" pitchFamily="2" charset="-78"/>
              </a:rPr>
              <a:t>الانْبِعَاثَاتُ</a:t>
            </a:r>
            <a:pPr algn="l" indent="0" marL="0">
              <a:buNone/>
            </a:pPr>
            <a:r>
              <a:rPr lang="en-US" sz="1200" b="1" dirty="0">
                <a:solidFill>
                  <a:srgbClr val="1B3B6F"/>
                </a:solidFill>
                <a:latin typeface="Calibri" pitchFamily="34" charset="0"/>
                <a:cs typeface="Amiri" pitchFamily="2" charset="-78"/>
              </a:rPr>
              <a:t>.</a:t>
            </a:r>
            <a:endParaRPr lang="en-US" sz="120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سَتَنْخَفِضُ</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لَانْخَفَضَتِ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تَنْخَفِضُ</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real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 text?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report the news only</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entertain only</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persuade the reader of environmental responsibility</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الغَرَضُ مِنَ النَّصِّ إِقْنَاعُ القَارِئِ بِالمَسْؤُولِيَّةِ البِيئِيَّةِ.</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WRITING · QUESTION 1 · ENVIRONMENTAL FORM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environmental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02752" y="1810512"/>
            <a:ext cx="3355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409651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339328" y="2267712"/>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4114800" y="2267712"/>
            <a:ext cx="40233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أَكْبَرُ تَحَدٍّ بِيئِيٍّ بِاسْتِعْمَالِ «يُشَكِّلُ / يُمَثِّلُ»</a:t>
            </a:r>
            <a:endParaRPr lang="ar-SA" sz="1700" dirty="0"/>
          </a:p>
        </p:txBody>
      </p:sp>
      <p:sp>
        <p:nvSpPr>
          <p:cNvPr id="22" name="Text 19"/>
          <p:cNvSpPr txBox="1"/>
          <p:nvPr/>
        </p:nvSpPr>
        <p:spPr>
          <a:xfrm>
            <a:off x="566928" y="2267712"/>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The main environmental challenge using yushakkilu or yumaththilu</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339328" y="3004718"/>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4114800" y="3004718"/>
            <a:ext cx="40233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إِجْرَاءٌ ضَرُورِيٌّ بِاسْتِعْمَالِ «يَتَطَلَّبُ أَنْ» + مَنْصُوبٌ</a:t>
            </a:r>
            <a:endParaRPr lang="ar-SA" sz="1700" dirty="0"/>
          </a:p>
        </p:txBody>
      </p:sp>
      <p:sp>
        <p:nvSpPr>
          <p:cNvPr id="28" name="Text 25"/>
          <p:cNvSpPr txBox="1"/>
          <p:nvPr/>
        </p:nvSpPr>
        <p:spPr>
          <a:xfrm>
            <a:off x="566928" y="300471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One required action using yataṭallabu an + a verb in -a</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339328" y="3741725"/>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4114800" y="3741725"/>
            <a:ext cx="40233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غَرَضٌ بِاسْتِعْمَالِ «لِكَيْ» + مَنْصُوبٌ</a:t>
            </a:r>
            <a:endParaRPr lang="ar-SA" sz="1700" dirty="0"/>
          </a:p>
        </p:txBody>
      </p:sp>
      <p:sp>
        <p:nvSpPr>
          <p:cNvPr id="34" name="Text 31"/>
          <p:cNvSpPr txBox="1"/>
          <p:nvPr/>
        </p:nvSpPr>
        <p:spPr>
          <a:xfrm>
            <a:off x="566928" y="3741725"/>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One purpose statement using li-kay + a verb in -a</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339328" y="4478731"/>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4114800" y="4478731"/>
            <a:ext cx="40233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أَمَلٌ بِاسْتِعْمَالِ «يَرْجُو أَنْ» + مَنْصُوبٌ</a:t>
            </a:r>
            <a:endParaRPr lang="ar-SA" sz="1700" dirty="0"/>
          </a:p>
        </p:txBody>
      </p:sp>
      <p:sp>
        <p:nvSpPr>
          <p:cNvPr id="40" name="Text 37"/>
          <p:cNvSpPr txBox="1"/>
          <p:nvPr/>
        </p:nvSpPr>
        <p:spPr>
          <a:xfrm>
            <a:off x="566928" y="4478731"/>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One hope using yarjū an + a verb in -a</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8339328" y="5215738"/>
            <a:ext cx="33192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4114800" y="5215738"/>
            <a:ext cx="40233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تَوْصِيَةٌ شَرْطِيَّةٌ</a:t>
            </a:r>
            <a:endParaRPr lang="ar-SA" sz="1700" dirty="0"/>
          </a:p>
        </p:txBody>
      </p:sp>
      <p:sp>
        <p:nvSpPr>
          <p:cNvPr id="46" name="Text 43"/>
          <p:cNvSpPr txBox="1"/>
          <p:nvPr/>
        </p:nvSpPr>
        <p:spPr>
          <a:xfrm>
            <a:off x="566928" y="5215738"/>
            <a:ext cx="3383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One conditional recommendation using a Type 1 conditional</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Example: </a:t>
            </a:r>
            <a:pPr algn="l" indent="0" marL="0">
              <a:buNone/>
            </a:pPr>
            <a:r>
              <a:rPr lang="ar-SA" altLang="en-US" sz="1450" b="1" dirty="0">
                <a:solidFill>
                  <a:srgbClr val="1B3B6F"/>
                </a:solidFill>
                <a:latin typeface="Amiri" pitchFamily="2" charset="-78"/>
                <a:ea typeface="Amiri" pitchFamily="2" charset="-78"/>
                <a:cs typeface="Amiri" pitchFamily="2" charset="-78"/>
              </a:rPr>
              <a:t>تُشَكِّلُ نُدْرَةُ المِيَاهِ أَكْبَرَ تَحَدٍّ</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يَتَطَلَّبُ الأَمْرُ أَنْ نُخَصِّصَ مِيزَانِيَّةً</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لِكَيْ نَحْمِيَ البِيئَةَ</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أَرْجُو أَنْ يَتَغَيَّرَ السُّلُوكُ</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إِذَا اسْتَثْمَرْنَا، سَنُقَلِّلُ التَّلَوُّثَ</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145–160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environmental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مَقَالَةٌ 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5303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mark scheme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7516368" y="2267712"/>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(TC) /5</a:t>
            </a:r>
            <a:endParaRPr lang="en-US" sz="1100" dirty="0"/>
          </a:p>
        </p:txBody>
      </p:sp>
      <p:sp>
        <p:nvSpPr>
          <p:cNvPr id="20" name="Text 17"/>
          <p:cNvSpPr txBox="1"/>
          <p:nvPr/>
        </p:nvSpPr>
        <p:spPr>
          <a:xfrm>
            <a:off x="566928" y="2267712"/>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built/natural-world challenge is described with ecosystem or urban vocabulary (yushakkilu / yumaththilu). · A past-perfect background gives historical or prior context. · Conditional analysis and a proposed solution are present; 145-160 words.</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516368" y="3054096"/>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a:t>
            </a:r>
            <a:endParaRPr lang="en-US" sz="1100" dirty="0"/>
          </a:p>
        </p:txBody>
      </p:sp>
      <p:sp>
        <p:nvSpPr>
          <p:cNvPr id="25" name="Text 22"/>
          <p:cNvSpPr txBox="1"/>
          <p:nvPr/>
        </p:nvSpPr>
        <p:spPr>
          <a:xfrm>
            <a:off x="566928" y="3054096"/>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purpose trigger (li-kay + a verb in -a) — one mark. · A necessity trigger (yanbaghī / yataṭallabu / min al-ḍarūrī an + a verb in -a) — a second, separate mark. · A volition trigger (yahdifu / yakhshā / yarjū an + a verb in -a), a Type 2 conditional and reported speech.</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7516368" y="3840480"/>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a:t>
            </a:r>
            <a:endParaRPr lang="en-US" sz="1100" dirty="0"/>
          </a:p>
        </p:txBody>
      </p:sp>
      <p:sp>
        <p:nvSpPr>
          <p:cNvPr id="30" name="Text 27"/>
          <p:cNvSpPr txBox="1"/>
          <p:nvPr/>
        </p:nvSpPr>
        <p:spPr>
          <a:xfrm>
            <a:off x="566928" y="3840480"/>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subjunctive final fatḥa (-a) after every trigger (2 marks — the primary criterion). · The Type 2 la- prefix in the result clause (2 marks). · Passive formation (dummirat / uʿlinat) (1 mark).</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Independent evidence: no translation software or AI. Plan the four paragraphs (P4-L09): the problem (kānat qad) · what must happen · why + evidence · future and close.</a:t>
            </a:r>
            <a:endParaRPr lang="en-US" sz="110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ROLE PLAY · 4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Role play: an environmental challenge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المُؤْتَمَرِ البِيئِيِّ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is assessed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an environmental challenge; the response should use yushakkilu or yumaththilu.</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 تَحَدِّيًا بِيئِيًّا.</a:t>
            </a:r>
            <a:endParaRPr lang="ar-SA" sz="1800" dirty="0"/>
          </a:p>
        </p:txBody>
      </p:sp>
      <p:sp>
        <p:nvSpPr>
          <p:cNvPr id="21" name="Shape 1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2" name="Text 19"/>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what the solution requires using yataṭallabu an + a verb in -a (a subjunctive-accuracy mark).</a:t>
            </a:r>
            <a:endParaRPr lang="en-US" sz="1100" dirty="0"/>
          </a:p>
        </p:txBody>
      </p:sp>
      <p:sp>
        <p:nvSpPr>
          <p:cNvPr id="23" name="Text 20"/>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اشْرَحْ مَا الَّذِي يَتَطَلَّبُهُ الحَلُّ.</a:t>
            </a:r>
            <a:endParaRPr lang="ar-SA" sz="1800" dirty="0"/>
          </a:p>
        </p:txBody>
      </p:sp>
      <p:sp>
        <p:nvSpPr>
          <p:cNvPr id="24" name="Shape 2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5" name="Text 22"/>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Propose a future action using a Type 1 conditional.</a:t>
            </a:r>
            <a:endParaRPr lang="en-US" sz="1100" dirty="0"/>
          </a:p>
        </p:txBody>
      </p:sp>
      <p:sp>
        <p:nvSpPr>
          <p:cNvPr id="26" name="Text 23"/>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اقْتَرِحْ إِجْرَاءً مُسْتَقْبَلِيًّا.</a:t>
            </a:r>
            <a:endParaRPr lang="ar-SA" sz="1800" dirty="0"/>
          </a:p>
        </p:txBody>
      </p:sp>
      <p:sp>
        <p:nvSpPr>
          <p:cNvPr id="27" name="Shape 2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6601968" y="4626864"/>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Express a hope for future generations using yarjū an + a verb in -a.</a:t>
            </a:r>
            <a:endParaRPr lang="en-US" sz="1100" dirty="0"/>
          </a:p>
        </p:txBody>
      </p:sp>
      <p:sp>
        <p:nvSpPr>
          <p:cNvPr id="29" name="Text 26"/>
          <p:cNvSpPr txBox="1"/>
          <p:nvPr/>
        </p:nvSpPr>
        <p:spPr>
          <a:xfrm>
            <a:off x="548640" y="4626864"/>
            <a:ext cx="58521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عَبِّرْ عَنْ أَمَلٍ لِلْأَجْيَالِ القَادِمَةِ.</a:t>
            </a:r>
            <a:endParaRPr lang="ar-SA" sz="1800" dirty="0"/>
          </a:p>
        </p:txBody>
      </p:sp>
      <p:sp>
        <p:nvSpPr>
          <p:cNvPr id="30" name="Text 2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2 · accuracy 2 (yataṭallabu an + -a in prompt 2 · an accurate Type 1 in prompt 3).</a:t>
            </a:r>
            <a:endParaRPr lang="en-US" sz="11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TOPIC CONVERSATION · 6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 → required</a:t>
            </a:r>
            <a:endParaRPr lang="en-US" sz="1100" dirty="0"/>
          </a:p>
        </p:txBody>
      </p:sp>
      <p:sp>
        <p:nvSpPr>
          <p:cNvPr id="17" name="Text 14"/>
          <p:cNvSpPr txBox="1"/>
          <p:nvPr/>
        </p:nvSpPr>
        <p:spPr>
          <a:xfrm>
            <a:off x="530352" y="1810512"/>
            <a:ext cx="5614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327648" y="2267712"/>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an environmental challenge in the Arab world and its causes → passive and cause-effect expected</a:t>
            </a:r>
            <a:endParaRPr lang="en-US" sz="1100" dirty="0"/>
          </a:p>
        </p:txBody>
      </p:sp>
      <p:sp>
        <p:nvSpPr>
          <p:cNvPr id="20" name="Text 17"/>
          <p:cNvSpPr txBox="1"/>
          <p:nvPr/>
        </p:nvSpPr>
        <p:spPr>
          <a:xfrm>
            <a:off x="548640" y="2267712"/>
            <a:ext cx="55778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تَحَدِّيًا بِيئِيًّا فِي العَالَمِ العَرَبِيِّ وَمَا أَسْبَابُهُ.</a:t>
            </a:r>
            <a:endParaRPr lang="ar-SA" sz="1700" dirty="0"/>
          </a:p>
        </p:txBody>
      </p:sp>
      <p:sp>
        <p:nvSpPr>
          <p:cNvPr id="21" name="Shape 1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2" name="Text 19"/>
          <p:cNvSpPr txBox="1"/>
          <p:nvPr/>
        </p:nvSpPr>
        <p:spPr>
          <a:xfrm>
            <a:off x="6327648" y="3054096"/>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had an environment minister's powers, what would you change? → Type 2 conditional required</a:t>
            </a:r>
            <a:endParaRPr lang="en-US" sz="1100" dirty="0"/>
          </a:p>
        </p:txBody>
      </p:sp>
      <p:sp>
        <p:nvSpPr>
          <p:cNvPr id="23" name="Text 20"/>
          <p:cNvSpPr txBox="1"/>
          <p:nvPr/>
        </p:nvSpPr>
        <p:spPr>
          <a:xfrm>
            <a:off x="548640" y="3054096"/>
            <a:ext cx="55778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 كَانَتْ لَدَيْكَ صَلَاحِيَّاتُ وَزِيرِ البِيئَةِ، مَاذَا كُنْتَ سَتُغَيِّرُ؟</a:t>
            </a:r>
            <a:endParaRPr lang="ar-SA" sz="1700" dirty="0"/>
          </a:p>
        </p:txBody>
      </p:sp>
      <p:sp>
        <p:nvSpPr>
          <p:cNvPr id="24" name="Shape 2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5" name="Text 22"/>
          <p:cNvSpPr txBox="1"/>
          <p:nvPr/>
        </p:nvSpPr>
        <p:spPr>
          <a:xfrm>
            <a:off x="6327648" y="3840480"/>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conserving heritage require in your view? → yataṭallabu an + a verb in -a required</a:t>
            </a:r>
            <a:endParaRPr lang="en-US" sz="1100" dirty="0"/>
          </a:p>
        </p:txBody>
      </p:sp>
      <p:sp>
        <p:nvSpPr>
          <p:cNvPr id="26" name="Text 23"/>
          <p:cNvSpPr txBox="1"/>
          <p:nvPr/>
        </p:nvSpPr>
        <p:spPr>
          <a:xfrm>
            <a:off x="548640" y="3840480"/>
            <a:ext cx="55778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يَتَطَلَّبُهُ الحِفَاظُ عَلَى التُّرَاثِ فِي رَأْيِكَ؟</a:t>
            </a:r>
            <a:endParaRPr lang="ar-SA" sz="170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3 · quality of language 3 — the examiner records whether the Type 2 and the necessity subjunctive are produced or avoided.</a:t>
            </a:r>
            <a:endParaRPr lang="en-US" sz="11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P4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P4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accurate, varied Arabic about the built and natural world</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P4-L01, L04 and L05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My writing improvement target … · My speaking improvement target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an environmental challenge with yushakkilu and a passive.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a purpose with li-kay + a verb in -a.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what is required (yataṭallabu an) and what I hope (yarjū an) — verb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recommend with idhā … sa- and regret with law … la-.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 145–160-word article with all three triggers, kānat qad and a cited expert.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P4-L12 · P4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P5-L01 · Poverty and Inequality — Analysing Social Disparities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صَحِيحٌ أَنَّ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is true that</a:t>
            </a:r>
            <a:pPr indent="0" marL="0">
              <a:buNone/>
            </a:pPr>
            <a:r>
              <a:rPr lang="en-US" sz="1000" i="1" dirty="0">
                <a:solidFill>
                  <a:srgbClr val="5A6472"/>
                </a:solidFill>
                <a:latin typeface="Calibri" pitchFamily="34" charset="0"/>
                <a:cs typeface="Amiri" pitchFamily="2" charset="-78"/>
              </a:rPr>
              <a:t>  + noun in -a</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غَيْرَ أَنَّ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however, yet</a:t>
            </a:r>
            <a:pPr indent="0" marL="0">
              <a:buNone/>
            </a:pPr>
            <a:r>
              <a:rPr lang="en-US" sz="1000" i="1" dirty="0">
                <a:solidFill>
                  <a:srgbClr val="5A6472"/>
                </a:solidFill>
                <a:latin typeface="Calibri" pitchFamily="34" charset="0"/>
                <a:cs typeface="Amiri" pitchFamily="2" charset="-78"/>
              </a:rPr>
              <a:t>  + noun in -a</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فَقْرٌ مُدْقِعٌ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extreme poverty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البَطَالَةُ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unemployment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العَدَالَةُ الاجْتِمَاعِيَّةُ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social justice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Is poverty only about money? Give one point and one “however”.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صَحِيحٌ أَنَّ ______ ، غَيْرَ 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P4-L12 section with your lowest score; learn the five P5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paragraph of your assessed article (add a missing trigger), then learn the five P5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with ṣaḥīḥun anna … ghayra anna … about a social issue you care about.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P5-L01 · Poverty and Inequality — Analysing Social Disparities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الفَقْرُ وَعَدَمُ المُسَاوَاةِ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P4 complete — well done! Carry the P4 checklist into P5: li-kay · an + a verb in -a · idhā … sa- · law … la- · kānat qad · dummirat · qāla inna.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P4-L12 · Review and Unit Assessment: The Built and Natural World</dc:title>
  <dc:subject>PptxGenJS Presentation</dc:subject>
  <dc:creator>Al Madina Online School · Arabic Department</dc:creator>
  <cp:lastModifiedBy>Al Madina Online School · Arabic Department</cp:lastModifiedBy>
  <cp:revision>1</cp:revision>
  <dcterms:created xsi:type="dcterms:W3CDTF">2026-10-11T06:43:23Z</dcterms:created>
  <dcterms:modified xsi:type="dcterms:W3CDTF">2026-10-11T06:43:23Z</dcterms:modified>
</cp:coreProperties>
</file>