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P5 target.
FLEX slides are optional. Use them if the class is moving quickly; otherwise the same activities are on the website for homework.
Content source: Miftah Arabic website, Pathways › Progression › P4 The Built and Natural World › P4-L12. The website P4-L12 is a four-skill, 60-mark unit assessment: a twelve-question grammar spine (revision, not counted), Part A listening (three texts — an environmental expert on water 8 · two architects, Sami and Layla, on heritage: who said what 6 · an urban planner on a smart city 6 = 20), Part B1 reading (an article on the environment in the Arab world: 10), Part B2 writing (five-field environmental form 5 + 145–160-word article 15, marked task / range / accuracy) and Part C speaking (role play: an environmental challenge 4 + topic conversation 6), then a P5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Environmental topics can worry young people — keep the tone hopeful (the website texts all end on a hope or a solution). Disasters and conflict are not assessed here.
• Accuracy focus today (the website mark scheme): the final -a after every trigger (the PRIMARY criterion) · the la- of the Type 2 result · the passive shape (dummirat / uʿlinat) — and in speaking, the structure each question invites. In spontaneous speech, give credit for the trigger even if the final -a is not perfectly heard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P4-L11.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لِكَيْ نُنَقِّيَ · أَنْ نَسْتَثْمِرَ · أَنْ نُخَصِّصَ · يَهْدِفُ … إِلَى أَنْ · إِذَا اسْتَثْمَرْنَا، سَنَحْمِي · لَوْ بَدَأْنَا، لَنَجَحْنَا · لَوِ اسْتَثْمَرْنَا (past) · كَانَتِ … قَدْ فَقَدَتْ · دُمِّرَتْ · أُعْلِنَتْ · قَالَ … إِنَّ · نَخْشَى أَنْ يَتَفَاقَمَ.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write the trigger you expect beside each question (لِكَيْ · يَتَطَلَّبُ أَنْ · يَخْشَى / يَرْجُو أَنْ · سَـ / لَـ · كَانَ قَدْ) — P4-L10: hear the trigger, not the final -a. Question 2: yataṭallabu an = what is required. Question 3: nakhshā an = a FEAR. Question 4: the sa- result = a real recommendation.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write the trigger you expect beside each question (لِكَيْ · يَتَطَلَّبُ أَنْ · يَخْشَى / يَرْجُو أَنْ · سَـ / لَـ · كَانَ قَدْ) — P4-L10: hear the trigger, not the final -a. Question 5: the la- result = a regret (kunnā qad istathmarnā). Questions 6–7: qāla taqrīrun umamiyyun inna … = a UN report. Question 8: narjū an = a HOPE.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write the trigger you expect beside each question (لِكَيْ · يَتَطَلَّبُ أَنْ · يَخْشَى / يَرْجُو أَنْ · سَـ / لَـ · كَانَ قَدْ) — P4-L10: hear the trigger, not the final -a. Attribution: write S / L / both beside each question while listening — listen for the name before each line, then the trigger. Each recording may be played twice; students answer after the second reading.
SCRIPT: مِعْمَارِيٌّ أَوَّلُ (سَامِي): يَنْبَغِي أَنْ نُحَافِظَ عَلَى المَبَانِي التَّارِيخِيَّةِ لِأَنَّهَا ذَاكِرَةُ المَدِينَةِ. مِعْمَارِيَّةٌ ثَانِيَةٌ (لَيْلَى): أَتَّفِقُ، لٰكِنِّي أَرَى أَنَّ التَّنْمِيَةَ ضَرُورِيَّةٌ أَيْضًا. سَامِي: نُرَمِّمُ التُّرَاثَ لِكَيْ نَصُونَ هُوِيَّتَنَا، وَلَوْ هَدَمْنَاهُ لَفَقَدْنَا جُزْءًا مِنْ تَارِيخِنَا. لَيْلَى: وَأَنَا أَرْجُو أَنْ نَجِدَ حَلًّا يُوَازِنُ بَيْنَ القَدِيمِ وَالحَدِيثِ. سَامِي: وَيَتَطَلَّبُ ذٰلِكَ أَنْ نَسْتَشِيرَ الخُبَرَاءَ. لَيْلَى: وَكَانَتِ المَدِينَةُ قَدْ فَقَدَتْ مَبَانِيَ كَثِيرَةً بِسَبَبِ الإِهْمَالِ.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write the trigger you expect beside each question (لِكَيْ · يَتَطَلَّبُ أَنْ · يَخْشَى / يَرْجُو أَنْ · سَـ / لَـ · كَانَ قَدْ) — P4-L10: hear the trigger, not the final -a. Each question names the structure it tests: listen for kānat qad, the three passives (dummirat · ujliya · uʿlinat), li-kay, yataṭallabu an, idhā … sa- and narjū an. Each recording may be played twice; students answer after the second reading.
SCRIPT: يَقُولُ مُخَطِّطٌ عُمْرَانِيٌّ: كَانَتِ الحُكُومَةُ قَدْ أَطْلَقَتْ مَشْرُوعَ المَدِينَةِ الذَّكِيَّةِ قَبْلَ سَنَوَاتٍ. وَفِي العَامِ المَاضِي، دُمِّرَتْ أَحْيَاءٌ قَدِيمَةٌ فِي فَيَضَانٍ مُفَاجِئٍ، وَأُجْلِيَ السُّكَّانُ، وَأُعْلِنَتْ حَالَةُ الطَّوَارِئِ. وَلِذٰلِكَ صُمِّمَتِ المَدِينَةُ الجَدِيدَةُ لِكَيْ تُقَاوِمَ الكَوَارِثَ. وَيَتَطَلَّبُ الأَمْرُ أَنْ نُطَوِّرَ أَنْظِمَةَ الإِنْذَارِ المُبَكِّرِ. وَإِذَا اعْتَمَدْنَا عَلَى الطَّاقَةِ المُتَجَدِّدَةِ، سَتَنْخَفِضُ الانْبِعَاثَاتُ. وَنَرْجُو أَنْ تُصْبِحَ مِثَالًا يُحْتَذَى فِي المِنْطَقَةِ.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(P4-L08): circle every verb ending in -a and box its trigger (لِكَيْ · أَنْ); underline كَانَ … قَدْ and the result marker سَـ; then ask: what is REQUIRED but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1 must use يُشَكِّلُ / يُمَثِّلُ; field 2 يَتَطَلَّبُ أَنْ + a verb in -a; field 3 لِكَيْ + a verb in -a; field 4 يَرْجُو أَنْ + a verb in -a; field 5 a Type 1 (إِذَا + past → سَـ). Check every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145–160-word article on a built or natural world challenge. Required: a challenge with يُشَكِّلُ / يُمَثِّلُ, a past-perfect background, one of EACH trigger (purpose · necessity · volition — separate Range marks), a Type 2 conditional, reported speech and a proposed solution. Mark scheme exactly as on the website (Accuracy: the final -a after every trigger 2 — the primary criterion · the Type 2 la- 2 · the passive 1). The P4-L09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the host of an environmental conference: أَهْلًا بِكَ فِي المُؤْتَمَرِ البِيئِيِّ. مَا التَّحَدِّي الَّذِي تُرِيدُ أَنْ تَتَحَدَّثَ عَنْهُ؟ Model answers: يُشَكِّلُ التَّلَوُّثُ تَحَدِّيًا كَبِيرًا فِي مَدِينَتِي · يَتَطَلَّبُ الحَلُّ أَنْ نُطَوِّرَ النَّقْلَ العَامَّ · إِذَا اسْتَعْمَلْنَا الحَافِلَاتِ الكَهْرَبَائِيَّةَ، سَيَقِلُّ التَّلَوُّثُ · أَرْجُو أَنْ تَعِيشَ الأَجْيَالُ القَادِمَةُ فِي هَوَاءٍ نَظِيفٍ. Website mark scheme: Communication (2): all four prompts are addressed clearly and relevantly. Accuracy (2): the necessity subjunctive in prompt 2 (yataṭallabu an + -a) and the Type 1 conditional in prompt 3 are formed correctly. The challenge is described with yushakkilu or yumaththilu. To a girl: صِفِي · اشْرَحِي · اقْتَرِحِي · عَبِّرِي.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(P4-L11). Model openings: تُشَكِّلُ نُدْرَةُ المِيَاهِ أَكْبَرَ تَحَدٍّ، بِسَبَبِ قِلَّةِ الأَمْطَارِ … وَقَدْ أُهْمِلَتِ المَوَارِدُ · لَوْ كَانَتْ لَدَيَّ صَلَاحِيَّاتُهُ، لَأَطْلَقْتُ … · يَتَطَلَّبُ الأَمْرُ أَنْ نُخَصِّصَ مِيزَانِيَّاتٍ لِلتَّرْمِيمِ لِكَيْ نَصُونَ هُوِيَّتَنَا. Website mark scheme: Communication (3): answers are developed with point, reason and example. Quality of language (3): a passive/cause-effect (Q1), a Type 2 conditional (Q2) and a necessity subjunctive (Q3) all appear. Q2 opens with law (Type 2 required) and Q3 invites yataṭallabu an + a verb in -a; give credit for any correct trigger even if the final fatḥa is not perfectly marked in spontaneous speech. Allow time-buying and repair phrases (سُؤَالٌ مُهِمٌّ · دَعْنِي أُفَكِّرُ · عَفْوًا، أَقْصِدُ). To a girl: صِفِي · لَدَيْكِ · كُنْتِ سَتُغَيِّرِينَ · رَأْيِكِ.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P1–P3 assessments. Return each student’s P4-L11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(P5-L01 · Poverty and Inequality — Analysing Social Disparities) will spend class time USING this language, so students prepare it tonight — short, simple, easy to access (school guidance: “Simple, Short, Interesting, Relevant, Easy to access”). Progression P5 begins with poverty and inequality (website P5-L01 “Poverty and Inequality — Analysing Social Disparities”). Teacher note: approach this topic with care — some students may have direct experience of hardship.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The Built and Natural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the built and natural world — li-kay, yataṭallabu an and yarjū an + a verb in -a, idhā … sa- and law … la-, kānat qad, dummirat and qāla inna — then choose one precise target for Progression P5.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P4-L12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end of unit P4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P4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P5: society.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صَلَاحِيَّاتٌ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repairs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powers, authority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prayers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نُنَقِّيَ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نُنَقِّي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نُنَقِّيْ الهَوَاءَ.</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نَجَحْنَا.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سَنَنْجَحُ.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بَدَأْنَا مُبَكِّرًا، لَنَجَحْنَا.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disaster passive is correctly formed?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 فِي الزِّلْزَالِ.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يُدَمَّرَتِ المَبَانِي فِي الزِّلْزَالِ.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المَبَانِي فِي الزِّلْزَالِ.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صَلَاحِيَّاتٌ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repairs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powers, authority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prayers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نُنَقِّيَ الهَوَاءَ.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نُنَقِّي الهَوَاءَ.</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نُنَقِّيْ الهَوَاءَ.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بَدَأْنَا مُبَكِّرًا، نَجَحْنَا.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بَدَأْنَا مُبَكِّرًا، سَنَنْجَحُ.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بَدَأْنَا مُبَكِّرًا، لَنَجَحْنَا.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disaster passive is correctly formed?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 المَبَانِي فِي الزِّلْزَالِ.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يُدَمَّرَتِ المَبَانِي فِي الزِّلْزَالِ.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المَبَانِي فِي الزِّلْزَالِ.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نُنَقِّيَ · أَنْ نَسْتَثْمِرَ · لَوْ … لَنَجَحْنَا · 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P4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P4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P4-L01–L06</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لِكَيْ نُنَقِّيَ · يَتَطَلَّبُ أَنْ نُخَصِّصَ · نَخْشَى أَنْ يَتَفَاقَمَ</a:t>
            </a:r>
            <a:endParaRPr lang="ar-SA" sz="19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triggers +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 · P4</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اسْتَثْمَرْنَا، سَنَحْمِي الغَدَ · لَوْ بَدَأْنَا مُبَكِّرًا، لَنَجَحْنَا</a:t>
            </a:r>
            <a:endParaRPr lang="ar-SA" sz="19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دُمِّرَتِ المَبَانِي · أُعْلِنَتْ حَالَةُ الطَّوَارِئِ</a:t>
            </a:r>
            <a:endParaRPr lang="ar-SA" sz="19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كَانَتِ المَدِينَةُ قَدْ فَقَدَتْ حَدَائِقَهَا</a:t>
            </a:r>
            <a:endParaRPr lang="ar-SA" sz="19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P4-L06 · L09 · P3-L06</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يَهْدِفُ إِلَى أَنْ … · قَالَ الخَبِيرُ إِنَّ …</a:t>
            </a:r>
            <a:endParaRPr lang="ar-SA" sz="19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partners · reported</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find the trigger first — then the -a.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an environmental expert on water (8) · two architects on heritage (6) · an urban planner on a smart city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article on the environment in the Arab world: main idea, detail, triggers and the past perfect,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environmental form (5) + a 145–160-word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an environmental challenge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An environmental expert on water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water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has a water surplus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suffers acute water scarcity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is no concern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say is required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allocate bigger budgets for desalination</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stop desalination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required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fear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rainfall will increase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budgets will grow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global warming will exceed its safe limits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recommendation?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power raises costs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solar power, costs will fall</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Costs cannot fall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An environmental expert on water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current water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has a water surplus</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region suffers acute water scarcity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is no concern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تُعَانِي المِنْطَقَةُ العَرَبِيَّةُ مِنْ نُدْرَةِ المِيَاهِ الحَادَّةِ.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say is required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Governments should allocate bigger budgets for desalination</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should stop desalination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required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الوَضْعُ أَنْ تُخَصِّصَ الحُكُومَاتُ مِيزَانِيَّاتٍ أَكْبَرَ لِلتَّحْلِيَةِ.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fear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rainfall will increase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budgets will grow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global warming will exceed its safe limits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نَخْشَى أَنْ يَتَجَاوَزَ الاحْتِرَارُ العَالَمِيُّ حُدُودَهُ الآمِنَةَ.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recommendation?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power raises costs</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 they rely on solar power, costs will fall</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Costs cannot fall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اعْتَمَدْنَا عَلَى الطَّاقَةِ الشَّمْسِيَّةِ، سَنُخَفِّضُ التَّكَالِيفَ.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An environmental expert on water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 about past failure?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invested earlier, they would have avoided this crisis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Investing makes no difference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to invest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statistic is reported from the UN report?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the world will have water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 will face thirst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third of the world's people will face thirst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statistic?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local newspaper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 report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expert's own guess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hope for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rivers will dry up</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states will sign an agreement to manage shared rivers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desalination will stop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An environmental expert on water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 about past failure?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Had they invested earlier, they would have avoided this crisis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Investing makes no difference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to invest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كُنَّا قَدِ اسْتَثْمَرْنَا مُبَكِّرًا، لَتَجَنَّبْنَا هٰذِهِ الأَزْمَةَ.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statistic is reported from the UN report?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the world will have water</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 will face thirst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third of the world's people will face thirst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تَقْرِيرٌ أُمَمِيٌّ إِنَّ ثُلُثَ سُكَّانِ العَالَمِ سَيُوَاجِهُونَ العَطَشَ.</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statistic?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local newspaper</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UN report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expert's own guess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تَقْرِيرٌ أُمَمِيٌّ إِنَّ ….</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hope for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rivers will dry up</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states will sign an agreement to manage shared rivers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desalination will stop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نَرْجُو أَنْ تُوَقِّعَ الدُّوَلُ اتِّفَاقًا لِإِدَارَةِ الأَنْهَارِ المُشْتَرَكَةِ.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historic buildings must be preserved (necessity)?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that development is also necessary?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 purpose clause about restoring heritage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hopes for a balanced solution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 matter requires consulting experts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notes the city had lost buildings to neglect (past perfect)?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historic buildings must be preserved (necessity)?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يَنْبَغِي أَنْ نُحَافِظَ عَلَى المَبَانِي التَّارِيخِيَّةِ.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that development is also necessary?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أَرَى أَنَّ التَّنْمِيَةَ ضَرُورِيَّةٌ أَيْضًا.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 purpose clause about restoring heritage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نُرَمِّمُ التُّرَاثَ لِكَيْ نَصُونَ هُوِيَّتَنَا.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hopes for a balanced solution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أَرْجُو أَنْ نَجِدَ حَلًّا يُوَازِنُ بَيْنَ القَدِيمِ وَالحَدِيثِ.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 matter requires consulting experts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يَتَطَلَّبُ ذٰلِكَ أَنْ نَسْتَشِيرَ الخُبَرَاءَ.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notes the city had lost buildings to neglect (past perfect)?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لَيْلَى: كَانَتِ المَدِينَةُ قَدْ فَقَدَتْ مَبَانِيَ كَثِيرَةً بِسَبَبِ الإِهْمَالِ.</a:t>
            </a:r>
            <a:endParaRPr lang="ar-SA" sz="12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urban planner on a smart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government had launched the smart-city project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(disaster passives).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was damaged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Old districts were destroyed, residents were evacuated and a state of emergency was declared</a:t>
            </a:r>
            <a:endParaRPr lang="en-US" sz="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districts were rebuilt overnight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was designed to attract floods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has no design purpose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city was designed to withstand disasters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(necessity,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matter requires developing early-warning systems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Early-warning systems are unnecessary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Warnings should be removed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(Type 1).</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Renewable energy raises emissions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renewable energy, emissions will fall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cannot fall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hope the city becomes a model for the region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hope it fails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have no hopes for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An urban planner on a smart city: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never started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government had launched the smart-city project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كَانَتِ الحُكُومَةُ قَدْ أَطْلَقَتْ مَشْرُوعَ المَدِينَةِ الذَّكِيَّةِ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(disaster passives).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was damaged</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ea typeface="Calibri" pitchFamily="34" charset="-122"/>
                <a:cs typeface="Calibri" pitchFamily="34" charset="-120"/>
              </a:rPr>
              <a:t>Old districts were destroyed, residents were evacuated and a state of emergency was declared</a:t>
            </a:r>
            <a:endParaRPr lang="en-US" sz="9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districts were rebuilt overnight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دُمِّرَتْ أَحْيَاءٌ قَدِيمَةٌ … وَأُجْلِيَ السُّكَّانُ، وَأُعْلِنَتْ حَالَةُ الطَّوَارِئِ.</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city was designed to attract floods</a:t>
            </a:r>
            <a:endParaRPr lang="en-US" sz="12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has no design purpose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new city was designed to withstand disasters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صُمِّمَتِ المَدِينَةُ الجَدِيدَةُ لِكَيْ تُقَاوِمَ الكَوَارِثَ.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(necessity,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matter requires developing early-warning systems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Early-warning systems are unnecessary</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Warnings should be removed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الأَمْرُ أَنْ نُطَوِّرَ أَنْظِمَةَ الإِنْذَارِ المُبَكِّرِ.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(Type 1).</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Renewable energy raises emissions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rely on renewable energy, emissions will fall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Emissions cannot fall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اعْتَمَدْنَا عَلَى الطَّاقَةِ المُتَجَدِّدَةِ، سَتَنْخَفِضُ الانْبِعَاثَاتُ.</a:t>
            </a:r>
            <a:endParaRPr lang="ar-SA" sz="130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hope the city becomes a model for the region</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hope it fails</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have no hopes for it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نَرْجُو أَنْ تُصْبِحَ مِثَالًا يُحْتَذَى فِي المِنْطَقَةِ.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environment in the Arab world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البِيئَةُ فِي العَالَمِ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تُوَاجِهُ البِيئَةُ فِي العَالَمِ العَرَبِيِّ تَحَدِّيَاتٍ كَبِيرَةً، مِنْ نُدْرَةِ المِيَاهِ إِلَى التَّلَوُّثِ وَفُقْدَانِ التُّرَاثِ العُمْرَانِيِّ. يَقُولُ كَاتِبُ المَقَالِ: «يَنْبَغِي أَنْ نَسْتَثْمِرَ فِي الطَّاقَةِ المُتَجَدِّدَةِ، وَأَنْ نُحَافِظَ عَلَى مُدُنِنَا القَدِيمَةِ.» وَيُضِيفُ أَنَّنَا نَفْعَلُ ذٰلِكَ لِكَيْ نَحْمِيَ الأَجْيَالَ القَادِمَةَ وَنَصُونَ هُوِيَّتَنَا. وَكَانَتْ مُدُنٌ كَثِيرَةٌ قَدْ فَقَدَتْ مَعَالِمَهَا قَبْلَ أَنْ تَنْتَبِهَ الحُكُومَاتُ لِلْخَطَرِ. وَيَرْجُو الكَاتِبُ أَنْ يَتَغَيَّرَ سُلُوكُ الأَفْرَادِ. وَيُؤَكِّدُ أَنَّهُ إِذَا اعْتَمَدْنَا عَلَى النَّقْلِ النَّظِيفِ، سَتَنْخَفِضُ الانْبِعَاثَاتُ. وَالغَرَضُ مِنَ النَّصِّ إِقْنَاعُ القَارِئِ بِالمَسْؤُولِيَّةِ البِيئِيَّةِ.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concern?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 has no problems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 faces major challenges in the Arab world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water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two challenges the writer lists.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Abundant water and new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specific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 and loss of built heritage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hope for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individuals' behaviour will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behaviour stays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governments do nothing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Identify ONE subjunctive verb in the first quotation and name its trigger type.</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نَسْتَثْمِرَ</a:t>
            </a:r>
            <a:pPr algn="l" indent="0" marL="0">
              <a:buNone/>
            </a:pPr>
            <a:r>
              <a:rPr lang="en-US" sz="1250" dirty="0">
                <a:solidFill>
                  <a:srgbClr val="1F2A37"/>
                </a:solidFill>
                <a:latin typeface="Calibri" pitchFamily="34" charset="0"/>
                <a:ea typeface="Calibri" pitchFamily="34" charset="-122"/>
                <a:cs typeface="Calibri" pitchFamily="34" charset="-120"/>
              </a:rPr>
              <a:t> — a purpose trigger (</a:t>
            </a:r>
            <a:pPr algn="l" indent="0" marL="0">
              <a:buNone/>
            </a:pPr>
            <a:r>
              <a:rPr lang="ar-SA" altLang="en-US" sz="1650" dirty="0">
                <a:solidFill>
                  <a:srgbClr val="1F2A37"/>
                </a:solidFill>
                <a:latin typeface="Amiri" pitchFamily="34" charset="0"/>
                <a:ea typeface="Amiri" pitchFamily="34" charset="-122"/>
                <a:cs typeface="Amiri" pitchFamily="34" charset="-120"/>
              </a:rPr>
              <a:t>لِكَيْ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نَسْتَثْمِرَ</a:t>
            </a:r>
            <a:pPr algn="l" indent="0" marL="0">
              <a:buNone/>
            </a:pPr>
            <a:r>
              <a:rPr lang="en-US" sz="1250" dirty="0">
                <a:solidFill>
                  <a:srgbClr val="1F2A37"/>
                </a:solidFill>
                <a:latin typeface="Calibri" pitchFamily="34" charset="0"/>
                <a:ea typeface="Calibri" pitchFamily="34" charset="-122"/>
                <a:cs typeface="Calibri" pitchFamily="34" charset="-120"/>
              </a:rPr>
              <a:t> — a necessity trigger (</a:t>
            </a:r>
            <a:pPr algn="l" indent="0" marL="0">
              <a:buNone/>
            </a:pPr>
            <a:r>
              <a:rPr lang="ar-SA" altLang="en-US" sz="1650" dirty="0">
                <a:solidFill>
                  <a:srgbClr val="1F2A37"/>
                </a:solidFill>
                <a:latin typeface="Amiri" pitchFamily="34" charset="0"/>
                <a:ea typeface="Amiri" pitchFamily="34" charset="-122"/>
                <a:cs typeface="Amiri" pitchFamily="34" charset="-120"/>
              </a:rPr>
              <a:t>يَنْبَغِي 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سَتَنْخَفِضُ</a:t>
            </a:r>
            <a:pPr algn="l" indent="0" marL="0">
              <a:buNone/>
            </a:pPr>
            <a:r>
              <a:rPr lang="en-US" sz="1250" dirty="0">
                <a:solidFill>
                  <a:srgbClr val="1F2A37"/>
                </a:solidFill>
                <a:latin typeface="Calibri" pitchFamily="34" charset="0"/>
                <a:ea typeface="Calibri" pitchFamily="34" charset="-122"/>
                <a:cs typeface="Calibri" pitchFamily="34" charset="-120"/>
              </a:rPr>
              <a:t> — a conditional result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purpose trigger and its verb.</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لِكَيْ نَحْمِيَ</a:t>
            </a:r>
            <a:pPr algn="l" indent="0" marL="0">
              <a:buNone/>
            </a:pPr>
            <a:r>
              <a:rPr lang="en-US" sz="1250" dirty="0">
                <a:solidFill>
                  <a:srgbClr val="1F2A37"/>
                </a:solidFill>
                <a:latin typeface="Calibri" pitchFamily="34" charset="0"/>
                <a:ea typeface="Calibri" pitchFamily="34" charset="-122"/>
                <a:cs typeface="Calibri" pitchFamily="34" charset="-120"/>
              </a:rPr>
              <a:t> — purpose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يَنْبَغِي أَنْ نَسْتَثْمِرَ</a:t>
            </a:r>
            <a:pPr algn="l" indent="0" marL="0">
              <a:buNone/>
            </a:pPr>
            <a:r>
              <a:rPr lang="en-US" sz="1250" dirty="0">
                <a:solidFill>
                  <a:srgbClr val="1F2A37"/>
                </a:solidFill>
                <a:latin typeface="Calibri" pitchFamily="34" charset="0"/>
                <a:ea typeface="Calibri" pitchFamily="34" charset="-122"/>
                <a:cs typeface="Calibri" pitchFamily="34" charset="-120"/>
              </a:rPr>
              <a:t> — purpose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يَرْجُو أَنْ يَتَغَيَّرَ</a:t>
            </a:r>
            <a:pPr algn="l" indent="0" marL="0">
              <a:buNone/>
            </a:pPr>
            <a:r>
              <a:rPr lang="en-US" sz="1250" dirty="0">
                <a:solidFill>
                  <a:srgbClr val="1F2A37"/>
                </a:solidFill>
                <a:latin typeface="Calibri" pitchFamily="34" charset="0"/>
                <a:ea typeface="Calibri" pitchFamily="34" charset="-122"/>
                <a:cs typeface="Calibri" pitchFamily="34" charset="-120"/>
              </a:rPr>
              <a:t> — purpose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concern?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environment has no problems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environment faces major challenges in the Arab world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water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تُوَاجِهُ البِيئَةُ فِي العَالَمِ العَرَبِيِّ تَحَدِّيَاتٍ كَبِيرَةً.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two challenges the writer lists.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Abundant water and new buildings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specific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Water scarcity and loss of built heritage</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نُدْرَةِ المِيَاهِ إِلَى التَّلَوُّثِ وَفُقْدَانِ التُّرَاثِ العُمْرَانِيِّ.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hope for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individuals' behaviour will change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behaviour stays the same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governments do nothing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يَرْجُو الكَاتِبُ أَنْ يَتَغَيَّرَ سُلُوكُ الأَفْرَادِ.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Identify ONE subjunctive verb in the first quotation and name its trigger type.</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نَسْتَثْمِرَ</a:t>
            </a:r>
            <a:pPr algn="l" indent="0" marL="0">
              <a:buNone/>
            </a:pPr>
            <a:r>
              <a:rPr lang="en-US" sz="1250" dirty="0">
                <a:solidFill>
                  <a:srgbClr val="9AA1AB"/>
                </a:solidFill>
                <a:latin typeface="Calibri" pitchFamily="34" charset="0"/>
                <a:ea typeface="Calibri" pitchFamily="34" charset="-122"/>
                <a:cs typeface="Calibri" pitchFamily="34" charset="-120"/>
              </a:rPr>
              <a:t> — a purpose trigger (</a:t>
            </a:r>
            <a:pPr algn="l" indent="0" marL="0">
              <a:buNone/>
            </a:pPr>
            <a:r>
              <a:rPr lang="ar-SA" altLang="en-US" sz="1650" dirty="0">
                <a:solidFill>
                  <a:srgbClr val="9AA1AB"/>
                </a:solidFill>
                <a:latin typeface="Amiri" pitchFamily="34" charset="0"/>
                <a:ea typeface="Amiri" pitchFamily="34" charset="-122"/>
                <a:cs typeface="Amiri" pitchFamily="34" charset="-120"/>
              </a:rPr>
              <a:t>لِكَيْ</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نَسْتَثْمِرَ</a:t>
            </a:r>
            <a:pPr algn="l" indent="0" marL="0">
              <a:buNone/>
            </a:pPr>
            <a:r>
              <a:rPr lang="en-US" sz="1150" b="1" dirty="0">
                <a:solidFill>
                  <a:srgbClr val="1F2A37"/>
                </a:solidFill>
                <a:latin typeface="Calibri" pitchFamily="34" charset="0"/>
                <a:ea typeface="Calibri" pitchFamily="34" charset="-122"/>
                <a:cs typeface="Calibri" pitchFamily="34" charset="-120"/>
              </a:rPr>
              <a:t> — a necessity trigger (</a:t>
            </a:r>
            <a:pPr algn="l" indent="0" marL="0">
              <a:buNone/>
            </a:pPr>
            <a:r>
              <a:rPr lang="ar-SA" altLang="en-US" sz="1500" b="1" dirty="0">
                <a:solidFill>
                  <a:srgbClr val="1F2A37"/>
                </a:solidFill>
                <a:latin typeface="Amiri" pitchFamily="34" charset="0"/>
                <a:ea typeface="Amiri" pitchFamily="34" charset="-122"/>
                <a:cs typeface="Amiri" pitchFamily="34" charset="-120"/>
              </a:rPr>
              <a:t>يَنْبَغِي أَنْ</a:t>
            </a:r>
            <a:pPr algn="l" indent="0" marL="0">
              <a:buNone/>
            </a:pPr>
            <a:r>
              <a:rPr lang="en-US" sz="1150" b="1" dirty="0">
                <a:solidFill>
                  <a:srgbClr val="1F2A37"/>
                </a:solidFill>
                <a:latin typeface="Calibri" pitchFamily="34" charset="0"/>
                <a:ea typeface="Calibri" pitchFamily="34" charset="-122"/>
                <a:cs typeface="Calibri" pitchFamily="34" charset="-120"/>
              </a:rPr>
              <a:t>)</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سَتَنْخَفِضُ</a:t>
            </a:r>
            <a:pPr algn="l" indent="0" marL="0">
              <a:buNone/>
            </a:pPr>
            <a:r>
              <a:rPr lang="en-US" sz="1250" dirty="0">
                <a:solidFill>
                  <a:srgbClr val="9AA1AB"/>
                </a:solidFill>
                <a:latin typeface="Calibri" pitchFamily="34" charset="0"/>
                <a:ea typeface="Calibri" pitchFamily="34" charset="-122"/>
                <a:cs typeface="Calibri" pitchFamily="34" charset="-120"/>
              </a:rPr>
              <a:t> — a conditional result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 نَسْتَثْمِرَ</a:t>
            </a:r>
            <a:pPr algn="l" indent="0" marL="0">
              <a:buNone/>
            </a:pPr>
            <a:r>
              <a:rPr lang="en-US" sz="1050" i="1" dirty="0">
                <a:solidFill>
                  <a:srgbClr val="8A6D1E"/>
                </a:solidFill>
                <a:latin typeface="Calibri" pitchFamily="34" charset="0"/>
                <a:ea typeface="Calibri" pitchFamily="34" charset="-122"/>
                <a:cs typeface="Calibri" pitchFamily="34" charset="-120"/>
              </a:rPr>
              <a:t> is a necessity trigger; the verb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 is subjunctive.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purpose trigger and its verb.</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لِكَيْ نَحْمِيَ</a:t>
            </a:r>
            <a:pPr algn="l" indent="0" marL="0">
              <a:buNone/>
            </a:pPr>
            <a:r>
              <a:rPr lang="en-US" sz="1250" b="1" dirty="0">
                <a:solidFill>
                  <a:srgbClr val="1F2A37"/>
                </a:solidFill>
                <a:latin typeface="Calibri" pitchFamily="34" charset="0"/>
                <a:ea typeface="Calibri" pitchFamily="34" charset="-122"/>
                <a:cs typeface="Calibri" pitchFamily="34" charset="-120"/>
              </a:rPr>
              <a:t> — purpose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يَنْبَغِي أَنْ نَسْتَثْمِرَ</a:t>
            </a:r>
            <a:pPr algn="l" indent="0" marL="0">
              <a:buNone/>
            </a:pPr>
            <a:r>
              <a:rPr lang="en-US" sz="1250" dirty="0">
                <a:solidFill>
                  <a:srgbClr val="9AA1AB"/>
                </a:solidFill>
                <a:latin typeface="Calibri" pitchFamily="34" charset="0"/>
                <a:ea typeface="Calibri" pitchFamily="34" charset="-122"/>
                <a:cs typeface="Calibri" pitchFamily="34" charset="-120"/>
              </a:rPr>
              <a:t> — purpose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يَرْجُو أَنْ يَتَغَيَّرَ</a:t>
            </a:r>
            <a:pPr algn="l" indent="0" marL="0">
              <a:buNone/>
            </a:pPr>
            <a:r>
              <a:rPr lang="en-US" sz="1250" dirty="0">
                <a:solidFill>
                  <a:srgbClr val="9AA1AB"/>
                </a:solidFill>
                <a:latin typeface="Calibri" pitchFamily="34" charset="0"/>
                <a:ea typeface="Calibri" pitchFamily="34" charset="-122"/>
                <a:cs typeface="Calibri" pitchFamily="34" charset="-120"/>
              </a:rPr>
              <a:t> — purpose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 نَحْمِيَ</a:t>
            </a:r>
            <a:pPr algn="l" indent="0" marL="0">
              <a:buNone/>
            </a:pPr>
            <a:r>
              <a:rPr lang="en-US" sz="1050" i="1" dirty="0">
                <a:solidFill>
                  <a:srgbClr val="8A6D1E"/>
                </a:solidFill>
                <a:latin typeface="Calibri" pitchFamily="34" charset="0"/>
                <a:ea typeface="Calibri" pitchFamily="34" charset="-122"/>
                <a:cs typeface="Calibri" pitchFamily="34" charset="-120"/>
              </a:rPr>
              <a:t> states a purpose.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purpose clause tell you about the writer's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Preservation is optional and minor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opposes preservation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Preservation is framed as protecting future generations and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كَانَتْ مُدُنٌ كَثِيرَةٌ قَدْ فَقَدَتْ مَعَالِمَهَا</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يَنْبَغِي أَنْ نَسْتَثْمِرَ</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لِكَيْ نَحْمِيَ الأَجْيَالَ</a:t>
            </a:r>
            <a:endParaRPr lang="ar-SA" sz="19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necessity gap: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مُدُنِنَا القَدِيمَةِ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 gap: </a:t>
            </a:r>
            <a:pPr algn="l" indent="0" marL="0">
              <a:buNone/>
            </a:pPr>
            <a:r>
              <a:rPr lang="ar-SA" altLang="en-US" sz="1550" b="1" dirty="0">
                <a:solidFill>
                  <a:srgbClr val="1B3B6F"/>
                </a:solidFill>
                <a:latin typeface="Amiri" pitchFamily="34" charset="0"/>
                <a:ea typeface="Amiri" pitchFamily="34" charset="-122"/>
                <a:cs typeface="Amiri" pitchFamily="34" charset="-120"/>
              </a:rPr>
              <a:t>إِذَا اعْتَمَدْنَا عَلَى النَّقْلِ النَّظِيفِ،</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الانْبِعَاثَاتُ</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سَتَنْخَفِضُ</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لَانْخَفَضَتِ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of environmental responsibility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purpose clause tell you about the writer's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Preservation is optional and minor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opposes preservation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Preservation is framed as protecting future generations and identity</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 نَحْمِيَ الأَجْيَالَ القَادِمَةَ وَنَصُونَ هُوِيَّتَنَا</a:t>
            </a:r>
            <a:pPr algn="l" indent="0" marL="0">
              <a:buNone/>
            </a:pPr>
            <a:r>
              <a:rPr lang="en-US" sz="1050" i="1" dirty="0">
                <a:solidFill>
                  <a:srgbClr val="8A6D1E"/>
                </a:solidFill>
                <a:latin typeface="Calibri" pitchFamily="34" charset="0"/>
                <a:ea typeface="Calibri" pitchFamily="34" charset="-122"/>
                <a:cs typeface="Calibri" pitchFamily="34" charset="-120"/>
              </a:rPr>
              <a:t> frames the argument.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مُدُنٌ كَثِيرَةٌ قَدْ فَقَدَتْ مَعَالِمَهَا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نَسْتَثْمِرَ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نَحْمِيَ الأَجْيَالَ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 قَدْ فَقَدَتْ</a:t>
            </a:r>
            <a:pPr algn="l" indent="0" marL="0">
              <a:buNone/>
            </a:pPr>
            <a:r>
              <a:rPr lang="en-US" sz="1050" i="1" dirty="0">
                <a:solidFill>
                  <a:srgbClr val="8A6D1E"/>
                </a:solidFill>
                <a:latin typeface="Calibri" pitchFamily="34" charset="0"/>
                <a:ea typeface="Calibri" pitchFamily="34" charset="-122"/>
                <a:cs typeface="Calibri" pitchFamily="34" charset="-120"/>
              </a:rPr>
              <a: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necessity gap: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مُدُنِنَا القَدِيمَةِ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نُحَافِظُ</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نُحَافِظَ</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نُحَافِظْ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نُحَافِظَ</a:t>
            </a:r>
            <a:pPr algn="l" indent="0" marL="0">
              <a:buNone/>
            </a:pPr>
            <a:r>
              <a:rPr lang="en-US" sz="1050" i="1" dirty="0">
                <a:solidFill>
                  <a:srgbClr val="8A6D1E"/>
                </a:solidFill>
                <a:latin typeface="Calibri" pitchFamily="34" charset="0"/>
                <a:ea typeface="Calibri" pitchFamily="34" charset="-122"/>
                <a:cs typeface="Calibri" pitchFamily="34" charset="-120"/>
              </a:rPr>
              <a:t>, not the indicative </a:t>
            </a:r>
            <a:pPr algn="l" indent="0" marL="0">
              <a:buNone/>
            </a:pPr>
            <a:r>
              <a:rPr lang="ar-SA" altLang="en-US" sz="1350" dirty="0">
                <a:solidFill>
                  <a:srgbClr val="8A6D1E"/>
                </a:solidFill>
                <a:latin typeface="Amiri" pitchFamily="34" charset="0"/>
                <a:ea typeface="Amiri" pitchFamily="34" charset="-122"/>
                <a:cs typeface="Amiri" pitchFamily="34" charset="-120"/>
              </a:rPr>
              <a:t>نُحَافِظُ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 gap: </a:t>
            </a:r>
            <a:pPr algn="l" indent="0" marL="0">
              <a:buNone/>
            </a:pPr>
            <a:r>
              <a:rPr lang="ar-SA" altLang="en-US" sz="1550" b="1" dirty="0">
                <a:solidFill>
                  <a:srgbClr val="1B3B6F"/>
                </a:solidFill>
                <a:latin typeface="Amiri" pitchFamily="34" charset="0"/>
                <a:ea typeface="Amiri" pitchFamily="34" charset="-122"/>
                <a:cs typeface="Amiri" pitchFamily="34" charset="-120"/>
              </a:rPr>
              <a:t>إِذَا اعْتَمَدْنَا عَلَى النَّقْلِ النَّظِيفِ،</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الانْبِعَاثَاتُ</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سَتَنْخَفِضُ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لَانْخَفَضَتِ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of environmental responsibility</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الغَرَضُ مِنَ النَّصِّ إِقْنَاعُ القَارِئِ بِالمَسْؤُولِيَّةِ البِيئِيَّةِ.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QUESTION 1 · ENVIRONMENTAL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environmental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أَكْبَرُ تَحَدٍّ بِيئِيٍّ بِاسْتِعْمَالِ «يُشَكِّلُ / يُمَثِّلُ»</a:t>
            </a:r>
            <a:endParaRPr lang="ar-SA" sz="17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main environmental challenge using yushakkilu or yumaththilu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إِجْرَاءٌ ضَرُورِيٌّ بِاسْتِعْمَالِ «يَتَطَلَّبُ أَنْ» + مَنْصُوبٌ</a:t>
            </a:r>
            <a:endParaRPr lang="ar-SA" sz="17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One required action using yataṭallabu an + a verb in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غَرَضٌ بِاسْتِعْمَالِ «لِكَيْ» + مَنْصُوبٌ</a:t>
            </a:r>
            <a:endParaRPr lang="ar-SA" sz="17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One purpose statement using li-kay + a verb in -a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أَمَلٌ بِاسْتِعْمَالِ «يَرْجُو أَنْ» + مَنْصُوبٌ</a:t>
            </a:r>
            <a:endParaRPr lang="ar-SA" sz="17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hope using yarjū an + a verb in -a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تَوْصِيَةٌ شَرْطِيَّةٌ</a:t>
            </a:r>
            <a:endParaRPr lang="ar-SA" sz="17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conditional recommendation using a Type 1 conditional</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450" b="1" dirty="0">
                <a:solidFill>
                  <a:srgbClr val="1B3B6F"/>
                </a:solidFill>
                <a:latin typeface="Amiri" pitchFamily="34" charset="0"/>
                <a:ea typeface="Amiri" pitchFamily="34" charset="-122"/>
                <a:cs typeface="Amiri" pitchFamily="34" charset="-120"/>
              </a:rPr>
              <a:t>تُشَكِّلُ نُدْرَةُ المِيَاهِ أَكْبَرَ تَحَدٍّ</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يَتَطَلَّبُ الأَمْرُ أَنْ نُخَصِّصَ مِيزَانِيَّةً</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لِكَيْ نَحْمِيَ البِيئَةَ</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أَرْجُو أَنْ يَتَغَيَّرَ السُّلُوكُ</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إِذَا اسْتَثْمَرْنَا، سَنُقَلِّلُ التَّلَوُّثَ</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environmental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built/natural-world challenge is described with ecosystem or urban vocabulary (yushakkilu / yumaththilu). · A past-perfect background gives historical or prior context. · Conditional analysis and a proposed solution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purpose trigger (li-kay + a verb in -a) — one mark. · A necessity trigger (yanbaghī / yataṭallabu / min al-ḍarūrī an + a verb in -a) — a second, separate mark. · A volition trigger (yahdifu / yakhshā / yarjū an + a verb in -a), a Type 2 conditional and reported speech.</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subjunctive final fatḥa (-a) after every trigger (2 marks — the primary criterion). · The Type 2 la- prefix in the result clause (2 marks). · Passive formation (dummirat / uʿlinat)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Independent evidence: no translation software or AI. Plan the four paragraphs (P4-L09): the problem (kānat qad) · what must happen · why + evidence · future and close.</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Role play: an environmental challenge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المُؤْتَمَرِ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an environmental challenge; the response should use yushakkilu or yumaththilu.</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 تَحَدِّيًا بِيئِيًّا.</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Explain what the solution requires using yataṭallabu an + a verb in -a (a subjunctive-accuracy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اشْرَحْ مَا الَّذِي يَتَطَلَّبُهُ الحَلُّ.</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Propose a future action using a Type 1 conditional.</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اقْتَرِحْ إِجْرَاءً مُسْتَقْبَلِيًّا.</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Express a hope for future generations using yarjū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عَبِّرْ عَنْ أَمَلٍ لِلْأَجْيَالِ القَادِمَةِ.</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2 (yataṭallabu an + -a in prompt 2 · an accurate Type 1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an environmental challenge in the Arab world and its causes → passive and cause-effect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صِفْ تَحَدِّيًا بِيئِيًّا فِي العَالَمِ العَرَبِيِّ وَمَا أَسْبَابُهُ.</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had an environment minister's powers, what would you change? → Type 2 conditional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كَانَتْ لَدَيْكَ صَلَاحِيَّاتُ وَزِيرِ البِيئَةِ، مَاذَا كُنْتَ سَتُغَيِّرُ؟</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conserving heritage require in your view? → yataṭallabu an + a verb in -a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مَا الَّذِي يَتَطَلَّبُهُ الحِفَاظُ عَلَى التُّرَاثِ فِي رَأْيِكَ؟</a:t>
            </a:r>
            <a:endParaRPr lang="ar-SA" sz="17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 the examiner records whether the Type 2 and the necessity subjunctive are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P4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P4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varied Arabic about the built and natural world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P4-L01, L04 and L05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an environmental challenge with yushakkilu and a passive.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purpose with li-kay + a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is required (yataṭallabu an) and what I hope (yarjū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recommend with idhā … sa- and regret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145–160-word article with all three triggers, kānat qad and a cited expert.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P4-L12 · P4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P5-L01 · Poverty and Inequality — Analysing Social Disparities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صَحِيحٌ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true that</a:t>
            </a:r>
            <a:pPr indent="0" marL="0">
              <a:buNone/>
            </a:pPr>
            <a:r>
              <a:rPr lang="en-US" sz="1000" i="1" dirty="0">
                <a:solidFill>
                  <a:srgbClr val="5A6472"/>
                </a:solidFill>
                <a:latin typeface="Calibri" pitchFamily="34" charset="0"/>
                <a:ea typeface="Calibri" pitchFamily="34" charset="-122"/>
                <a:cs typeface="Calibri" pitchFamily="34" charset="-120"/>
              </a:rPr>
              <a:t>  + noun in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yet</a:t>
            </a:r>
            <a:pPr indent="0" marL="0">
              <a:buNone/>
            </a:pPr>
            <a:r>
              <a:rPr lang="en-US" sz="1000" i="1" dirty="0">
                <a:solidFill>
                  <a:srgbClr val="5A6472"/>
                </a:solidFill>
                <a:latin typeface="Calibri" pitchFamily="34" charset="0"/>
                <a:ea typeface="Calibri" pitchFamily="34" charset="-122"/>
                <a:cs typeface="Calibri" pitchFamily="34" charset="-120"/>
              </a:rPr>
              <a:t>  + noun in -a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 مُدْقِعٌ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extreme poverty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البَطَالَةُ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unemployment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العَدَالَةُ الاجْتِمَاعِيَّةُ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social justice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Is poverty only about money? Give one point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صَحِيحٌ أَنَّ ______ ،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P4-L12 section with your lowest score; learn the five P5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(add a missing trigger), then learn the five P5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with ṣaḥīḥun anna … ghayra anna … about a social issue you care about.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P5-L01 · Poverty and Inequality — Analysing Social Disparities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الفَقْرُ وَعَدَمُ المُسَاوَاةِ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P4 complete — well done! Carry the P4 checklist into P5: li-kay · an + a verb in -a · idhā … sa- · law … la- · kānat qad · dummirat · qāla inna.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P4-L12 · Review and Unit Assessment: The Built and Natural World</dc:title>
  <dc:subject>PptxGenJS Presentation</dc:subject>
  <dc:creator>Al Madina Online School · Arabic Department</dc:creator>
  <cp:lastModifiedBy>Al Madina Online School · Arabic Department</cp:lastModifiedBy>
  <cp:revision>1</cp:revision>
  <dcterms:created xsi:type="dcterms:W3CDTF">2026-10-10T20:08:31Z</dcterms:created>
  <dcterms:modified xsi:type="dcterms:W3CDTF">2026-10-10T20:08:31Z</dcterms:modified>
</cp:coreProperties>
</file>