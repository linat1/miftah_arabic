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TE-L01 — Countries, Nationalities and Languages. Website: Advanced Topics › Topic E (The International World) › Lesson 1.
The website builds this lesson on the D6-L01 lesson engine, with the Topic focus “Locate countries and describe nationality, residence and language accurately.” (grammar: Nisba adjectives; gender; prepositions; skills: Listening · Speaking) and the application challenge “Country–language map match”.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TE-L01. The website lesson “Countries, Nationalities and Languages of the Arab World”: vocabulary, grammar rules and quiz, patterns, common mistakes, sorter, listening, reading, speaking prompts and model, writing task and model, differentiation, final check and the lesson mission. Picture match: website visual game “Countries, Nationalities and Languages of the Arab World”.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(Topic E · Countries, Cultures and Celebrations — the last Development unit). Core: 12 countries + their nationality for a boy and a girl (مَغْرِبِيٌّ / مَغْرِبِيَّةٌ). Develop: diptotes after a preposition (مِنْ لُبْنَانَ · فِي مِصْرَ) and languages used in two countries. Stretch: contrast fuṣḥā and the dialects and qualify a claim about diversity (website ~80-word task).
• Respectful framing: the region is multilingual and diverse (Amazigh, Kurdish, many dialects). Invite students to share their own family’s country and language(s).
• Grammar links: the nisba was met for nationalities in F1 / F2 (عَرَبِيٌّ · بِرِيطَانِيٌّ); diptotes are NEW at this level.
• TEACHER-WRITTEN ITEMS: one quiz distractor replaced (the diptote case-ending errors are kept on purpose) and English added to the patterns and speaking model; the website flag-based visual game is not reproduced.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D5-L12 (website). Questions 4–5 retrieve the nisba (F1 / F2) and the earlier work past tense (هِيَ زَارَتْ … / زُرْتُ).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Country + -iyyun (he) / -iyyatun (she) = the nationality.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-ī ending is the same in Urdu: عربی، پاکستانی، ہندوستانی — this IS the Arabic nisba. CAREFUL: Urdu لہجہ = accent / tone of voice; Arabic لَهْجَةٌ = a whole dialect (اللَّهْجَةُ المِصْرِيَّةُ).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Mashriq and the Gulf (website vocabulary (1 of 3)). Hear → Say → See → Use. Transliteration is printed for Core students (cover it for Develop/Stretch).
Countries of the Mashriq and the Gulf. Each card shows the nationality: m. · f. · pl. Notice the diptotes (no tanwīn): مِصْرُ · لُبْنَانُ · قَطَرُ · عُمَانُ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Mashriq and the Gulf (website vocabulary (2 of 3)). Hear → Say → See → Use. Transliteration is printed for Core students (cover it for Develop/Stretch).
Countries of the Mashriq and the Gulf. Each card shows the nationality: m. · f. · pl. Notice the diptotes (no tanwīn): مِصْرُ · لُبْنَانُ · قَطَرُ · عُمَانُ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Mashriq and the Gulf (website vocabulary (3 of 3)). Hear → Say → See → Use. Transliteration is printed for Core students (cover it for Develop/Stretch).
Countries of the Mashriq and the Gulf. Each card shows the nationality: m. · f. · pl. Notice the diptotes (no tanwīn): مِصْرُ · لُبْنَانُ · قَطَرُ · عُمَانُ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Maghreb and the Horn (website vocabulary (1 of 2)). Hear → Say → See → Use. Transliteration is printed for Core students (cover it for Develop/Stretch).
Countries of the Maghreb and the Horn. Note: المَغْرِبُ → مَغْرِبِيٌّ, but the plural is مَغَارِبَةٌ.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Maghreb and the Horn (website vocabulary (2 of 2)). Hear → Say → See → Use. Transliteration is printed for Core students (cover it for Develop/Stretch).
Countries of the Maghreb and the Horn. Note: المَغْرِبُ → مَغْرِبِيٌّ, but the plural is مَغَارِبَةٌ.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Languages and identity (website vocabulary (1 of 2)). Hear → Say → See → Use. Transliteration is printed for Core students (cover it for Develop/Stretch).
Languages and identity: say what is true — Arabic is shared, but it is not the only language of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Languages and identity (website vocabulary (2 of 2)). Hear → Say → See → Use. Transliteration is printed for Core students (cover it for Develop/Stretch).
Languages and identity: say what is true — Arabic is shared, but it is not the only language of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“Forming the nisba” (the ending carries a shadda on the yāʾ; a final tāʾ marbūṭa or article is dropped first). Website teaching point: “The nisba builds the nationality … the shadda is part of the ending, not an optional decoration.”
Website mistake: هِيَ طَالِبَةٌ مَغْرِبِيٌّ ✗ → مَغْرِبِيَّةٌ. Ask students for their own: أَنَا بِرِيطَانِيٌّ / بَاكِسْتَانِيَّةٌ / صُومَالِيٌّ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“Diptote country names” (no tanwīn; a ḍamma in the nominative and a fatḥa in both the accusative and the genitive), “Past for history, present for today” and “Describing language use accurately” (name co-official languages and qualify claims). Website teaching point: “Several country names are diptotes … writing مِصْرٍ is a visible error.”
Diptotes today: مِصْرُ · لُبْنَانُ · قَطَرُ · عُمَانُ · تُونُسُ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systems carry this lesson: forming the nationality, handling country names that refuse tanwīn, and choosing past or present according to whether you describe history or the present day.”
• Forming the nisba: The ending carries a shadda on the yāʾ. A final tāʾ marbūṭa or article is dropped first.
• Diptote country names: A diptote takes a ḍamma when nominative and a fatḥa in both the accusative and the genitive.
• Past for history, present for today: Use the past for what happened, and the present for what is currently true. Mixing them deliberately is what a strong cultural text does.
• Describing language use accurately: Arabic is not the only language of the region. Name co-official languages and qualify claims rather than generalising.
Website common error: Adding tanwīn to a diptote — writing مِنْ لُبْنَانٍ or زُرْتُ مِصْرًا. These names take a bare fatḥa in the genitive and accusative.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“Is the noun masculine or feminine? Add -iyy or -iyya. Is the country a diptote? Then no tanwīn after a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(“Country–Language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“Country–Language Match”: France · French, Egypt · Arab country, Britain · English.
Website feedback lines: Country and language match. · Egypt is an Arab country. · The country and language shown match.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(“Country–Language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“Country–Language Match”: France · French, Egypt · Arab country, Britain · English.
Website feedback lines: Country and language match. · Egypt is an Arab country. · The country and language shown match.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give the nationality (he / she) of one country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give the nationality (he / she) of one country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note each nationality (he / she).
Listen 1: just listen. Listen 2: note answers. Then chat the letters.
Support: after the second listening, show the read-along slide (Arabic + English, line by line) for Core students.
SCRIPT (read aloud):
أَنَا سَلْمَى، وَأَنَا مَغْرِبِيَّةٌ مِنْ مَدِينَةِ الرِّبَاطِ. فِي بَيْتِنَا نَتَحَدَّثُ العَرَبِيَّةَ وَالأَمَازِيغِيَّةَ، لِأَنَّ الأَمَازِيغِيَّةَ لُغَةٌ رَسْمِيَّةٌ فِي المَغْرِبِ. وَصَدِيقِي كَرِيمٌ عِرَاقِيٌّ مِنْ بَغْدَادَ، وَيَقُولُ إِنَّ الكُرْدِيَّةَ تُسْتَعْمَلُ إِلَى جَانِبِ العَرَبِيَّةِ فِي بِلَادِهِ. أَمَّا زَمِيلَتُنَا نُورُ فَهِيَ لُبْنَانِيَّةٌ، وَقَدْ جَاءَتْ مِنْ لُبْنَانَ قَبْلَ سَنَتَيْنِ. نَحْنُ نَكْتُبُ جَمِيعًا بِالفُصْحَى، وَلٰكِنَّنَا نَتَحَدَّثُ بِلَهَجَاتٍ مُخْتَلِفَةٍ، وَأَحْيَانًا لَا نَفْهَمُ بَعْضَنَا بِسُرْعَةٍ.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“Match countries, nationalities and languages on a map, then give location and identity clues for a partner to solve.”
Website Topic E challenge “Country–language map match”. Cards: مِصْرُ – مِصْرِيٌّ – العَرَبِيَّةُ · المَغْرِبُ – مَغْرِبِيٌّ – العَرَبِيَّةُ وَالأَمَازِيغِيَّةُ · فَرَنْسَا – فَرَنْسِيٌّ – الفَرَنْسِيَّةُ · بَاكِسْتَانُ – بَاكِسْتَانِيٌّ – الأُرْدِيَّةُ · تُرْكِيَا – تُرْكِيٌّ – التُّرْكِيَّةُ · بِرِيطَانْيَا – بِرِيطَانِيٌّ – الإِنْجِلِيزِيَّةُ. Diptotes: no tanwīn on مِصْرُ / فَرَنْسَا.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وَأَيُّ لُغَاتٍ تُسْتَعْمَلُ هُنَاكَ؟ (And which languages are used there?)
B: تُسْتَعْمَلُ العَرَبِيَّةُ وَالأَمَازِيغِيَّةُ، وَالأَمَازِيغِيَّةُ لُغَةٌ رَسْمِيَّةٌ أَيْضًا، وَلَيْسَ الأَمْرُ نَفْسَهُ فِي كُلِّ الدُّوَلِ. (Arabic and Amazigh are used, and Amazigh is an official language too — it is not the same in every country.)
Website prompts and model. Students may choose their family’s country. Check the nisba agreement and the diptotes. To a girl: اِخْتَارِي · تَحَدَّثِي.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Match ten countries to their nationalities and write five sentences with accurate nisba agreement. · Develop — Add a sentence about the languages used in two different countries. · Stretch — Contrast fuṣḥā and the dialects, and qualify one claim about regional diversity.
Website writing task (Stretch): Write about eighty words introducing one Arab country: its name, its capital, the nationality of its people, the languages used there, and one accurate statement about the region's diversity.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مَغْرِبِيٌّ / مَغْرِبِيَّةٌ / مَغَارِبَةٌ · زُرْتُ مِصْرَ · لَهْجَةِ المَغْرِبِ · الأَمَازِيغِيَّةُ لُغَةٌ رَسْمِيَّةٌ · نَكْتُبُ … بِالفُصْحَى … نَتَحَدَّثُ بِلَهَجَاتٍ · لَيْسَ صَحِيحًا أَنَّ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(TE-L02 · Multilingual Life and Communication) will spend class time USING this language, so students prepare it tonight — short, simple, easy to access (school guidance: “Simple, Short, Interesting, Relevant, Easy to access”). The five words come from the website TE-L04 vocabulary (customs and values).
Follow-up: the next Do Now tests two of these words (Flipped Learning: keep it short AND follow up).
Homework by route (website tasks). No internet? Students copy the five words from this slide into their book now.
TOPIC E: the five words are the ones the TE-L02 Do Now tests (preparation list of the website D6-L05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ea typeface="Cambria" pitchFamily="34" charset="-122"/>
                <a:cs typeface="Cambria" pitchFamily="34" charset="-120"/>
              </a:rPr>
              <a:t>Countries, Nationalities and Languages</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الدُّوَلُ وَالجِنْسِيَّاتُ وَاللُّغَاتُ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Locate countries and describe nationality, residence and language accurately.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TE-L01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Nisba for nationality, diptote countries, accurate language facts.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countries by region, fix nisba / tanwīn slips, then meet three students.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TE-L02.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country, state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language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جِنْسِيَّةٌ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nationality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identity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dialect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اللَّهَجَاتُ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countries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capitals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dialects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___ (I am Arab, 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عَرَبِيَّةٌ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عَرَبِيٌّ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مِصْرَ قَبْلَ سَنَتَيْنِ.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زَارْتُ مِصْرَ قَبْلَ سَنَتَيْنِ.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 مِصْرَ قَبْلَ سَنَتَيْنِ.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city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country, state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language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(D5-L12,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جِنْسِيَّةٌ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nationality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identity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dialect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(D5-L12,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اللَّهَجَاتُ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countries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capitals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dialects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(D5-L12,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___ (I am Arab, 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عَرَبِيَّةٌ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عَرَبِيٌّ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 / F2: nationality.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 مِصْرَ قَبْلَ سَنَتَيْنِ.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زَارْتُ مِصْرَ قَبْلَ سَنَتَيْنِ.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أَزُورُ مِصْرَ قَبْلَ سَنَتَيْنِ.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earlier work: hollow verb + past marker.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Country + -iyyun (he) / -iyyatun (she) = the nationality.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34" charset="0"/>
                <a:ea typeface="Amiri" pitchFamily="34" charset="-122"/>
                <a:cs typeface="Amiri" pitchFamily="34" charset="-120"/>
              </a:rPr>
              <a:t>مِصْرُ · </a:t>
            </a:r>
            <a:pPr rtl="1" algn="ctr" indent="0" marL="0">
              <a:buNone/>
            </a:pPr>
            <a:r>
              <a:rPr lang="ar-SA" altLang="en-US" sz="2350" b="1" dirty="0">
                <a:solidFill>
                  <a:srgbClr val="D6336C"/>
                </a:solidFill>
                <a:latin typeface="Amiri" pitchFamily="34" charset="0"/>
                <a:ea typeface="Amiri" pitchFamily="34" charset="-122"/>
                <a:cs typeface="Amiri" pitchFamily="34" charset="-120"/>
              </a:rPr>
              <a:t>مِصْرِيٌّ</a:t>
            </a:r>
            <a:pPr rtl="1" algn="ctr" indent="0" marL="0">
              <a:buNone/>
            </a:pPr>
            <a:r>
              <a:rPr lang="ar-SA" altLang="en-US" sz="2350" b="1" dirty="0">
                <a:solidFill>
                  <a:srgbClr val="1B3B6F"/>
                </a:solidFill>
                <a:latin typeface="Amiri" pitchFamily="34" charset="0"/>
                <a:ea typeface="Amiri" pitchFamily="34" charset="-122"/>
                <a:cs typeface="Amiri" pitchFamily="34" charset="-120"/>
              </a:rPr>
              <a:t> · </a:t>
            </a:r>
            <a:pPr rtl="1" algn="ctr" indent="0" marL="0">
              <a:buNone/>
            </a:pPr>
            <a:r>
              <a:rPr lang="ar-SA" altLang="en-US" sz="2350" b="1" dirty="0">
                <a:solidFill>
                  <a:srgbClr val="0E7C86"/>
                </a:solidFill>
                <a:latin typeface="Amiri" pitchFamily="34" charset="0"/>
                <a:ea typeface="Amiri" pitchFamily="34" charset="-122"/>
                <a:cs typeface="Amiri" pitchFamily="34" charset="-120"/>
              </a:rPr>
              <a:t>مِصْرِيَّةٌ</a:t>
            </a:r>
            <a:pPr rtl="1" algn="ctr" indent="0" marL="0">
              <a:buNone/>
            </a:pPr>
            <a:r>
              <a:rPr lang="ar-SA" altLang="en-US" sz="2350" b="1" dirty="0">
                <a:solidFill>
                  <a:srgbClr val="1B3B6F"/>
                </a:solidFill>
                <a:latin typeface="Amiri" pitchFamily="34" charset="0"/>
                <a:ea typeface="Amiri" pitchFamily="34" charset="-122"/>
                <a:cs typeface="Amiri" pitchFamily="34" charset="-120"/>
              </a:rPr>
              <a:t> · </a:t>
            </a:r>
            <a:pPr rtl="1" algn="ctr" indent="0" marL="0">
              <a:buNone/>
            </a:pPr>
            <a:r>
              <a:rPr lang="ar-SA" altLang="en-US" sz="2350" b="1" dirty="0">
                <a:solidFill>
                  <a:srgbClr val="1D5FBF"/>
                </a:solidFill>
                <a:latin typeface="Amiri" pitchFamily="34" charset="0"/>
                <a:ea typeface="Amiri" pitchFamily="34" charset="-122"/>
                <a:cs typeface="Amiri" pitchFamily="34" charset="-120"/>
              </a:rPr>
              <a:t>مِصْرِيُّونَ</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Arab League countries and their nationalities (m. / f. / pl.).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nisba with </a:t>
            </a:r>
            <a:pPr algn="l" indent="0" marL="0">
              <a:buNone/>
            </a:pPr>
            <a:r>
              <a:rPr lang="ar-SA" altLang="en-US" sz="1700" dirty="0">
                <a:solidFill>
                  <a:srgbClr val="1F2A37"/>
                </a:solidFill>
                <a:latin typeface="Amiri" pitchFamily="34" charset="0"/>
                <a:ea typeface="Amiri" pitchFamily="34" charset="-122"/>
                <a:cs typeface="Amiri" pitchFamily="34" charset="-120"/>
              </a:rPr>
              <a:t>ـِيٌّ / ـِيَّةٌ</a:t>
            </a:r>
            <a:pPr algn="l" indent="0" marL="0">
              <a:buNone/>
            </a:pPr>
            <a:r>
              <a:rPr lang="en-US" sz="1300" dirty="0">
                <a:solidFill>
                  <a:srgbClr val="1F2A37"/>
                </a:solidFill>
                <a:latin typeface="Calibri" pitchFamily="34" charset="0"/>
                <a:ea typeface="Calibri" pitchFamily="34" charset="-122"/>
                <a:cs typeface="Calibri" pitchFamily="34" charset="-120"/>
              </a:rPr>
              <a:t> and make it agree.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diptote country names without tanwīn (</a:t>
            </a:r>
            <a:pPr algn="l" indent="0" marL="0">
              <a:buNone/>
            </a:pPr>
            <a:r>
              <a:rPr lang="ar-SA" altLang="en-US" sz="1700" dirty="0">
                <a:solidFill>
                  <a:srgbClr val="1F2A37"/>
                </a:solidFill>
                <a:latin typeface="Amiri" pitchFamily="34" charset="0"/>
                <a:ea typeface="Amiri" pitchFamily="34" charset="-122"/>
                <a:cs typeface="Amiri" pitchFamily="34" charset="-120"/>
              </a:rPr>
              <a:t>مِنْ لُبْنَانَ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language use accurately and without generalising.</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12 Arab countries.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 nationality for a boy and a girl.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“from Lebanon / in Egypt” without tanwīn.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name languages used in two countries.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contrast fuṣḥā and the dialects.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qualify a claim about the region.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Countries of the Mashriq and the Gulf · 13</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Countries of the Maghreb and the Horn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Languages and identity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مِصْرُ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‎مصر‎ </a:t>
            </a:r>
            <a:pPr indent="0" marL="0">
              <a:buNone/>
            </a:pPr>
            <a:r>
              <a:rPr lang="en-US" sz="950" b="1" dirty="0">
                <a:solidFill>
                  <a:srgbClr val="2E8B57"/>
                </a:solidFill>
                <a:latin typeface="Calibri" pitchFamily="34" charset="0"/>
                <a:ea typeface="Calibri" pitchFamily="34" charset="-122"/>
                <a:cs typeface="Calibri" pitchFamily="34" charset="-120"/>
              </a:rPr>
              <a:t> Miṣr · Egypt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عَرَبِيٌّ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‎عربی‎ </a:t>
            </a:r>
            <a:pPr indent="0" marL="0">
              <a:buNone/>
            </a:pPr>
            <a:r>
              <a:rPr lang="en-US" sz="950" b="1" dirty="0">
                <a:solidFill>
                  <a:srgbClr val="2E8B57"/>
                </a:solidFill>
                <a:latin typeface="Calibri" pitchFamily="34" charset="0"/>
                <a:ea typeface="Calibri" pitchFamily="34" charset="-122"/>
                <a:cs typeface="Calibri" pitchFamily="34" charset="-120"/>
              </a:rPr>
              <a:t> ʿarabī · Arab, Arabic (the same -ī ending!)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جِنْسِيَّةٌ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‎شہریت / قومیت‎ </a:t>
            </a:r>
            <a:pPr indent="0" marL="0">
              <a:buNone/>
            </a:pPr>
            <a:r>
              <a:rPr lang="en-US" sz="950" b="1" dirty="0">
                <a:solidFill>
                  <a:srgbClr val="2E8B57"/>
                </a:solidFill>
                <a:latin typeface="Calibri" pitchFamily="34" charset="0"/>
                <a:ea typeface="Calibri" pitchFamily="34" charset="-122"/>
                <a:cs typeface="Calibri" pitchFamily="34" charset="-120"/>
              </a:rPr>
              <a:t> qaumiyyat · nationality (Urdu uses the same -iyyat pattern)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عَاصِمَةٌ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‎دارالحکومت‎ </a:t>
            </a:r>
            <a:pPr indent="0" marL="0">
              <a:buNone/>
            </a:pPr>
            <a:r>
              <a:rPr lang="en-US" sz="950" b="1" dirty="0">
                <a:solidFill>
                  <a:srgbClr val="2E8B57"/>
                </a:solidFill>
                <a:latin typeface="Calibri" pitchFamily="34" charset="0"/>
                <a:ea typeface="Calibri" pitchFamily="34" charset="-122"/>
                <a:cs typeface="Calibri" pitchFamily="34" charset="-120"/>
              </a:rPr>
              <a:t> dār-ul-ḥukūmat · capital city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لَهْجَةٌ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‎لہجہ‎ </a:t>
            </a:r>
            <a:pPr indent="0" marL="0">
              <a:buNone/>
            </a:pPr>
            <a:r>
              <a:rPr lang="en-US" sz="950" b="1" dirty="0">
                <a:solidFill>
                  <a:srgbClr val="2E8B57"/>
                </a:solidFill>
                <a:latin typeface="Calibri" pitchFamily="34" charset="0"/>
                <a:ea typeface="Calibri" pitchFamily="34" charset="-122"/>
                <a:cs typeface="Calibri" pitchFamily="34" charset="-120"/>
              </a:rPr>
              <a:t> lahja · Urdu: accent, tone · Arabic: dialect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Countries of the Mashriq and the Gulf (1 of 3)</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المَمْلَكَةُ العَرَبِيَّةُ السُّعُودِيَّةُ</a:t>
            </a:r>
            <a:endParaRPr lang="ar-SA" sz="28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Saudi Arabia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al-mam-la-ka-tu al-ʿa-ra-biy-ya-tu as-su-ʿū-diy-ya-tu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سُعُودِيُّونَ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سُعُودِيَّةٌ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سُعُودِيٌّ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مِصْرُ</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Egypt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miṣ-ru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مِصْرِيُّونَ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مِصْرِيَّةٌ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مِصْرِيٌّ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العِرَاقُ</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Iraq</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al-ʿi-rā-qu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عِرَاقِيُّونَ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عِرَاقِيَّةٌ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عِرَاقِيٌّ</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سُورِيَا</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Syria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sū-ri-yā</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سُورِيُّونَ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سُورِيَّةٌ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سُورِيٌّ</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0" name="Shape 8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الأُرْدُنُّ</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Jordan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al-ur-dun-nu</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أُرْدُنِّيُّونَ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9" name="Text 9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أُرْدُنِّيَّةٌ</a:t>
            </a:r>
            <a:endParaRPr lang="ar-SA" sz="150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أُرْدُنِّيٌّ</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Countries of the Mashriq and the Gulf (2 of 3)</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لُبْنَانُ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Lebanon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lub-nā-nu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لُبْنَانِيُّونَ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لُبْنَانِيَّةٌ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لُبْنَانِيٌّ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فِلَسْطِينُ</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Palestine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fi-las-ṭī-nu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فِلَسْطِينِيُّونَ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فِلَسْطِينِيَّةٌ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فِلَسْطِينِيٌّ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الكُوَيْتُ</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Kuwait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al-ku-way-tu</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كُوَيْتِيُّونَ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كُوَيْتِيَّةٌ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كُوَيْتِيٌّ</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الإِمَارَاتُ</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UAE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al-i-mā-rā-tu</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إِمَارَاتِيُّونَ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إِمَارَاتِيَّةٌ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إِمَارَاتِيٌّ</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قَطَرُ</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Qatar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qa-ṭa-ru</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قَطَرِيُّونَ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قَطَرِيَّةٌ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قَطَرِيٌّ</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Countries of the Mashriq and the Gulf (3 of 3)</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البَحْرَيْنُ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Bahrain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al-baḥ-ray-nu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بَحْرَيْنِيُّونَ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بَحْرَيْنِيَّةٌ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بَحْرَيْنِيٌّ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عُمَانُ</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Oman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ʿu-mā-nu</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عُمَانِيُّونَ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عُمَانِيَّةٌ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عُمَانِيٌّ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اليَمَنُ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Yemen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al-ya-ma-nu</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يَمَنِيُّونَ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يَمَنِيَّةٌ</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يَمَنِيٌّ</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Countries of the Maghreb and the Horn (1 of 2)</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لِيبِيَا</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Libya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lī-bi-yā</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لِيبِيُّونَ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لِيبِيَّةٌ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لِيبِيٌّ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تُونُسُ</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Tunisia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tū-nu-su</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تُونُسِيُّونَ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تُونُسِيَّةٌ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تُونُسِيٌّ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الجَزَائِرُ</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Algeria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al-ja-zā-ʾi-ru</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جَزَائِرِيُّونَ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جَزَائِرِيَّةٌ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جَزَائِرِيٌّ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Shape 6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المَغْرِبُ</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Morocco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al-magh-ri-bu</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مَغَارِبَةٌ</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مَغْرِبِيَّةٌ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مَغْرِبِيٌّ</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مُورِيتَانِيَا</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Mauritania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mū-rī-tā-ni-yā</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مُورِيتَانِيُّونَ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مُورِيتَانِيَّةٌ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مُورِيتَانِيٌّ</a:t>
            </a:r>
            <a:endParaRPr lang="ar-SA" sz="150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Countries of the Maghreb and the Horn (2 of 2)</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السُّودَانُ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Sudan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as-sū-dā-nu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سُودَانِيُّونَ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سُودَانِيَّةٌ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سُودَانِيٌّ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الصُّومَالُ</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Somalia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aṣ-ṣū-mā-lu</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صُومَالِيُّونَ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صُومَالِيَّةٌ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صُومَالِيٌّ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جِيبُوتِي</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Djibouti</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jī-bū-tī</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جِيبُوتِيُّونَ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جِيبُوتِيَّةٌ</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جِيبُوتِيٌّ</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66" name="Shape 6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8" name="Text 6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جُزُرُ القَمَرِ</a:t>
            </a:r>
            <a:endParaRPr lang="ar-SA" sz="3000" dirty="0"/>
          </a:p>
        </p:txBody>
      </p:sp>
      <p:sp>
        <p:nvSpPr>
          <p:cNvPr id="69" name="Text 6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Comoros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ju-zu-ru al-qa-ma-ri</a:t>
            </a:r>
            <a:endParaRPr lang="en-US" sz="1350" dirty="0"/>
          </a:p>
        </p:txBody>
      </p:sp>
      <p:sp>
        <p:nvSpPr>
          <p:cNvPr id="70" name="Shape 6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2" name="Text 6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قَمَرِيُّونَ</a:t>
            </a:r>
            <a:endParaRPr lang="ar-SA" sz="1500" dirty="0"/>
          </a:p>
        </p:txBody>
      </p:sp>
      <p:sp>
        <p:nvSpPr>
          <p:cNvPr id="73" name="Shape 7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5" name="Text 7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قَمَرِيَّةٌ</a:t>
            </a:r>
            <a:endParaRPr lang="ar-SA" sz="1500" dirty="0"/>
          </a:p>
        </p:txBody>
      </p:sp>
      <p:sp>
        <p:nvSpPr>
          <p:cNvPr id="76" name="Shape 7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8" name="Text 7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قَمَرِيٌّ</a:t>
            </a:r>
            <a:endParaRPr lang="ar-SA" sz="15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Languages and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العَرَبِيَّةُ الفُصْحَى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 Standard Arabic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al-ʿa-ra-biy-ya-tu al-fuṣ-ḥā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shared written and formal register.</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اللَّهَجَاتُ</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dialects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all-la-ha-jā-tu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Spoken varieties, which differ by region.</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الأَمَازِيغِيَّةُ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Amazigh (Berber)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al-a-mā-zī-ghiy-ya-tu</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Official in Morocco and Algeria.</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الكُرْدِيَّةُ</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Kurdish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al-kur-diy-ya-tu</a:t>
            </a:r>
            <a:endParaRPr lang="en-US" sz="1350" dirty="0"/>
          </a:p>
        </p:txBody>
      </p:sp>
      <p:sp>
        <p:nvSpPr>
          <p:cNvPr id="42" name="Text 3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Official in Iraq alongside Arabic.</a:t>
            </a:r>
            <a:endParaRPr lang="en-US" sz="100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الهُوِيَّةُ العَرَبِيَّةُ</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Arab identity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al-hu-wiy-ya-tu al-ʿa-ra-biy-ya-tu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Languages and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 رَسْمِيَّةٌ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official 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lu-gha-tun ras-miy-ya-tun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عَاصِمَةٌ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capital 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ʿā-ṣi-ma-tun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عَوَاصِمُ</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جِنْسِيَّةٌ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nationality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jin-siy-ya-tun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نَشَأَ / يَنْشَأُ</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arose / arises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na-sha-ʾa / yan-sha-ʾu</a:t>
            </a:r>
            <a:endParaRPr lang="en-US" sz="1350" dirty="0"/>
          </a:p>
        </p:txBody>
      </p:sp>
      <p:sp>
        <p:nvSpPr>
          <p:cNvPr id="42" name="Text 3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Used for civilisations and institutions.</a:t>
            </a:r>
            <a:endParaRPr lang="en-US" sz="100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46" name="Shape 4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VIII.</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اتَّسَعَ / يَتَّسِعُ</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expanded / expands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at-ta-sa-ʿa / yat-ta-si-ʿu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NISBA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country to nationality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7" name="Text 14"/>
          <p:cNvSpPr txBox="1"/>
          <p:nvPr/>
        </p:nvSpPr>
        <p:spPr>
          <a:xfrm>
            <a:off x="79369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a:t>
            </a:r>
            <a:endParaRPr lang="en-US" sz="1100" dirty="0"/>
          </a:p>
        </p:txBody>
      </p:sp>
      <p:sp>
        <p:nvSpPr>
          <p:cNvPr id="18" name="Text 15"/>
          <p:cNvSpPr txBox="1"/>
          <p:nvPr/>
        </p:nvSpPr>
        <p:spPr>
          <a:xfrm>
            <a:off x="55595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a:t>
            </a:r>
            <a:endParaRPr lang="en-US" sz="1100" dirty="0"/>
          </a:p>
        </p:txBody>
      </p:sp>
      <p:sp>
        <p:nvSpPr>
          <p:cNvPr id="19" name="Text 16"/>
          <p:cNvSpPr txBox="1"/>
          <p:nvPr/>
        </p:nvSpPr>
        <p:spPr>
          <a:xfrm>
            <a:off x="31821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a:t>
            </a:r>
            <a:endParaRPr lang="en-US" sz="1100" dirty="0"/>
          </a:p>
        </p:txBody>
      </p:sp>
      <p:sp>
        <p:nvSpPr>
          <p:cNvPr id="20" name="Text 17"/>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-iyy</a:t>
            </a:r>
            <a:endParaRPr lang="en-US" sz="1100" dirty="0"/>
          </a:p>
        </p:txBody>
      </p:sp>
      <p:sp>
        <p:nvSpPr>
          <p:cNvPr id="23" name="Text 20"/>
          <p:cNvSpPr txBox="1"/>
          <p:nvPr/>
        </p:nvSpPr>
        <p:spPr>
          <a:xfrm>
            <a:off x="795528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مِصْرِيُّونَ</a:t>
            </a:r>
            <a:endParaRPr lang="ar-SA" sz="2400" dirty="0"/>
          </a:p>
        </p:txBody>
      </p:sp>
      <p:sp>
        <p:nvSpPr>
          <p:cNvPr id="24" name="Text 21"/>
          <p:cNvSpPr txBox="1"/>
          <p:nvPr/>
        </p:nvSpPr>
        <p:spPr>
          <a:xfrm>
            <a:off x="55778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مِصْرِيَّةٌ</a:t>
            </a:r>
            <a:endParaRPr lang="ar-SA" sz="2400" dirty="0"/>
          </a:p>
        </p:txBody>
      </p:sp>
      <p:sp>
        <p:nvSpPr>
          <p:cNvPr id="25" name="Text 22"/>
          <p:cNvSpPr txBox="1"/>
          <p:nvPr/>
        </p:nvSpPr>
        <p:spPr>
          <a:xfrm>
            <a:off x="320040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مِصْرِيٌّ</a:t>
            </a:r>
            <a:endParaRPr lang="ar-SA" sz="2400" dirty="0"/>
          </a:p>
        </p:txBody>
      </p:sp>
      <p:sp>
        <p:nvSpPr>
          <p:cNvPr id="26" name="Text 23"/>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مِصْرُ</a:t>
            </a:r>
            <a:endParaRPr lang="ar-SA" sz="24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drop al-</a:t>
            </a:r>
            <a:endParaRPr lang="en-US" sz="1100" dirty="0"/>
          </a:p>
        </p:txBody>
      </p:sp>
      <p:sp>
        <p:nvSpPr>
          <p:cNvPr id="31" name="Text 28"/>
          <p:cNvSpPr txBox="1"/>
          <p:nvPr/>
        </p:nvSpPr>
        <p:spPr>
          <a:xfrm>
            <a:off x="795528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مَغَارِبَةٌ</a:t>
            </a:r>
            <a:endParaRPr lang="ar-SA" sz="2400" dirty="0"/>
          </a:p>
        </p:txBody>
      </p:sp>
      <p:sp>
        <p:nvSpPr>
          <p:cNvPr id="32" name="Text 29"/>
          <p:cNvSpPr txBox="1"/>
          <p:nvPr/>
        </p:nvSpPr>
        <p:spPr>
          <a:xfrm>
            <a:off x="55778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مَغْرِبِيَّةٌ</a:t>
            </a:r>
            <a:endParaRPr lang="ar-SA" sz="2400" dirty="0"/>
          </a:p>
        </p:txBody>
      </p:sp>
      <p:sp>
        <p:nvSpPr>
          <p:cNvPr id="33" name="Text 30"/>
          <p:cNvSpPr txBox="1"/>
          <p:nvPr/>
        </p:nvSpPr>
        <p:spPr>
          <a:xfrm>
            <a:off x="320040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مَغْرِبِيٌّ</a:t>
            </a:r>
            <a:endParaRPr lang="ar-SA" sz="2400" dirty="0"/>
          </a:p>
        </p:txBody>
      </p:sp>
      <p:sp>
        <p:nvSpPr>
          <p:cNvPr id="34" name="Text 31"/>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المَغْرِبُ</a:t>
            </a:r>
            <a:endParaRPr lang="ar-SA" sz="24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drop -iyya</a:t>
            </a:r>
            <a:endParaRPr lang="en-US" sz="1100" dirty="0"/>
          </a:p>
        </p:txBody>
      </p:sp>
      <p:sp>
        <p:nvSpPr>
          <p:cNvPr id="39" name="Text 36"/>
          <p:cNvSpPr txBox="1"/>
          <p:nvPr/>
        </p:nvSpPr>
        <p:spPr>
          <a:xfrm>
            <a:off x="795528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سُعُودِيُّونَ</a:t>
            </a:r>
            <a:endParaRPr lang="ar-SA" sz="2400" dirty="0"/>
          </a:p>
        </p:txBody>
      </p:sp>
      <p:sp>
        <p:nvSpPr>
          <p:cNvPr id="40" name="Text 37"/>
          <p:cNvSpPr txBox="1"/>
          <p:nvPr/>
        </p:nvSpPr>
        <p:spPr>
          <a:xfrm>
            <a:off x="55778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سُعُودِيَّةٌ</a:t>
            </a:r>
            <a:endParaRPr lang="ar-SA" sz="2400" dirty="0"/>
          </a:p>
        </p:txBody>
      </p:sp>
      <p:sp>
        <p:nvSpPr>
          <p:cNvPr id="41" name="Text 38"/>
          <p:cNvSpPr txBox="1"/>
          <p:nvPr/>
        </p:nvSpPr>
        <p:spPr>
          <a:xfrm>
            <a:off x="320040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سُعُودِيٌّ</a:t>
            </a:r>
            <a:endParaRPr lang="ar-SA" sz="2400" dirty="0"/>
          </a:p>
        </p:txBody>
      </p:sp>
      <p:sp>
        <p:nvSpPr>
          <p:cNvPr id="42" name="Text 39"/>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السُّعُودِيَّةُ</a:t>
            </a:r>
            <a:endParaRPr lang="ar-SA" sz="24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keep the shadda</a:t>
            </a:r>
            <a:endParaRPr lang="en-US" sz="1100" dirty="0"/>
          </a:p>
        </p:txBody>
      </p:sp>
      <p:sp>
        <p:nvSpPr>
          <p:cNvPr id="45" name="Text 42"/>
          <p:cNvSpPr txBox="1"/>
          <p:nvPr/>
        </p:nvSpPr>
        <p:spPr>
          <a:xfrm>
            <a:off x="795528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أُرْدُنِّيُّونَ</a:t>
            </a:r>
            <a:endParaRPr lang="ar-SA" sz="2400" dirty="0"/>
          </a:p>
        </p:txBody>
      </p:sp>
      <p:sp>
        <p:nvSpPr>
          <p:cNvPr id="46" name="Text 43"/>
          <p:cNvSpPr txBox="1"/>
          <p:nvPr/>
        </p:nvSpPr>
        <p:spPr>
          <a:xfrm>
            <a:off x="55778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أُرْدُنِّيَّةٌ</a:t>
            </a:r>
            <a:endParaRPr lang="ar-SA" sz="2400" dirty="0"/>
          </a:p>
        </p:txBody>
      </p:sp>
      <p:sp>
        <p:nvSpPr>
          <p:cNvPr id="47" name="Text 44"/>
          <p:cNvSpPr txBox="1"/>
          <p:nvPr/>
        </p:nvSpPr>
        <p:spPr>
          <a:xfrm>
            <a:off x="320040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أُرْدُنِّيٌّ</a:t>
            </a:r>
            <a:endParaRPr lang="ar-SA" sz="2400" dirty="0"/>
          </a:p>
        </p:txBody>
      </p:sp>
      <p:sp>
        <p:nvSpPr>
          <p:cNvPr id="48" name="Text 45"/>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الأُرْدُنُّ</a:t>
            </a:r>
            <a:endParaRPr lang="ar-SA" sz="24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-iyy</a:t>
            </a:r>
            <a:endParaRPr lang="en-US" sz="1100" dirty="0"/>
          </a:p>
        </p:txBody>
      </p:sp>
      <p:sp>
        <p:nvSpPr>
          <p:cNvPr id="51" name="Text 48"/>
          <p:cNvSpPr txBox="1"/>
          <p:nvPr/>
        </p:nvSpPr>
        <p:spPr>
          <a:xfrm>
            <a:off x="795528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لُبْنَانِيُّونَ</a:t>
            </a:r>
            <a:endParaRPr lang="ar-SA" sz="2400" dirty="0"/>
          </a:p>
        </p:txBody>
      </p:sp>
      <p:sp>
        <p:nvSpPr>
          <p:cNvPr id="52" name="Text 49"/>
          <p:cNvSpPr txBox="1"/>
          <p:nvPr/>
        </p:nvSpPr>
        <p:spPr>
          <a:xfrm>
            <a:off x="55778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لُبْنَانِيَّةٌ</a:t>
            </a:r>
            <a:endParaRPr lang="ar-SA" sz="2400" dirty="0"/>
          </a:p>
        </p:txBody>
      </p:sp>
      <p:sp>
        <p:nvSpPr>
          <p:cNvPr id="53" name="Text 50"/>
          <p:cNvSpPr txBox="1"/>
          <p:nvPr/>
        </p:nvSpPr>
        <p:spPr>
          <a:xfrm>
            <a:off x="320040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لُبْنَانِيٌّ</a:t>
            </a:r>
            <a:endParaRPr lang="ar-SA" sz="2400" dirty="0"/>
          </a:p>
        </p:txBody>
      </p:sp>
      <p:sp>
        <p:nvSpPr>
          <p:cNvPr id="54" name="Text 51"/>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لُبْنَانُ</a:t>
            </a:r>
            <a:endParaRPr lang="ar-SA" sz="24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nisba is an adjective: it agrees — </a:t>
            </a:r>
            <a:pPr algn="l" indent="0" marL="0">
              <a:buNone/>
            </a:pPr>
            <a:r>
              <a:rPr lang="ar-SA" altLang="en-US" sz="1500" b="1" dirty="0">
                <a:solidFill>
                  <a:srgbClr val="1B3B6F"/>
                </a:solidFill>
                <a:latin typeface="Amiri" pitchFamily="34" charset="0"/>
                <a:ea typeface="Amiri" pitchFamily="34" charset="-122"/>
                <a:cs typeface="Amiri" pitchFamily="34" charset="-120"/>
              </a:rPr>
              <a:t>طَالِبٌ جَزَائِرِيٌّ</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طَالِبَةٌ جَزَائِرِيَّةٌ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DIPTOTES, TENSE, ACCURACY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 tanwīn — and no generalising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مَمْنُوعٌ مِنَ الصَّرْفِ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DIPTOTES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لُبْنَانَ · زُرْتُ مِصْرَ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أَنَا مِنْ لُبْنَانَ، وَزُرْتُ مِصْرَ.</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am from Lebanon, and I visited Egypt.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tanwīn.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0574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2057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HISTORY vs TODAY · DEVELOP</a:t>
            </a:r>
            <a:endParaRPr lang="en-US" sz="850" dirty="0"/>
          </a:p>
        </p:txBody>
      </p:sp>
      <p:sp>
        <p:nvSpPr>
          <p:cNvPr id="26" name="Text 23"/>
          <p:cNvSpPr txBox="1"/>
          <p:nvPr/>
        </p:nvSpPr>
        <p:spPr>
          <a:xfrm>
            <a:off x="6516624" y="1874520"/>
            <a:ext cx="12588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نَشَأَتْ · تُعَدُّ</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نَشَأَتِ الحَضَارَةُ هُنَا، وَتُعَدُّ العَرَبِيَّةُ لُغَةً مُنْتَشِرَةً.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civilisation arose here, and Arabic is (now) a widespread language.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Past · present.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ACCURACY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إِلَى جَانِبِ العَرَبِيَّةِ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تُسْتَعْمَلُ الكُرْدِيَّةُ إِلَى جَانِبِ العَرَبِيَّةِ فِي العِرَاقِ.</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Kurdish is used alongside Arabic in Iraq.</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Name the others.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 diptote never takes tanwīn.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مِنْ لُبْنَانَ</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مِنْ لُبْنَانٍ</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The nisba, diptotes and describing a region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50" b="1" dirty="0">
                <a:solidFill>
                  <a:srgbClr val="8A6D1E"/>
                </a:solidFill>
                <a:latin typeface="Amiri" pitchFamily="34" charset="0"/>
                <a:ea typeface="Amiri" pitchFamily="34" charset="-122"/>
                <a:cs typeface="Amiri" pitchFamily="34" charset="-120"/>
              </a:rPr>
              <a:t>النِّسْبَةُ وَالمَمْنُوعُ مِنَ الصَّرْفِ وَوَصْفُ المِنْطَقَةِ</a:t>
            </a:r>
            <a:endParaRPr lang="ar-SA" sz="22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Forming the nisba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country + </a:t>
            </a:r>
            <a:pPr algn="l" indent="0" marL="0">
              <a:buNone/>
            </a:pPr>
            <a:r>
              <a:rPr lang="ar-SA" altLang="en-US" sz="1350" dirty="0">
                <a:solidFill>
                  <a:srgbClr val="5A6472"/>
                </a:solidFill>
                <a:latin typeface="Amiri" pitchFamily="34" charset="0"/>
                <a:ea typeface="Amiri" pitchFamily="34" charset="-122"/>
                <a:cs typeface="Amiri" pitchFamily="34" charset="-120"/>
              </a:rPr>
              <a:t>ـِيٌّ</a:t>
            </a:r>
            <a:pPr algn="l" indent="0" marL="0">
              <a:buNone/>
            </a:pPr>
            <a:r>
              <a:rPr lang="en-US" sz="1050" dirty="0">
                <a:solidFill>
                  <a:srgbClr val="5A6472"/>
                </a:solidFill>
                <a:latin typeface="Calibri" pitchFamily="34" charset="0"/>
                <a:ea typeface="Calibri" pitchFamily="34" charset="-122"/>
                <a:cs typeface="Calibri" pitchFamily="34" charset="-120"/>
              </a:rPr>
              <a:t> (m.) / </a:t>
            </a:r>
            <a:pPr algn="l" indent="0" marL="0">
              <a:buNone/>
            </a:pPr>
            <a:r>
              <a:rPr lang="ar-SA" altLang="en-US" sz="1350" dirty="0">
                <a:solidFill>
                  <a:srgbClr val="5A6472"/>
                </a:solidFill>
                <a:latin typeface="Amiri" pitchFamily="34" charset="0"/>
                <a:ea typeface="Amiri" pitchFamily="34" charset="-122"/>
                <a:cs typeface="Amiri" pitchFamily="34" charset="-120"/>
              </a:rPr>
              <a:t>ـِيَّةٌ</a:t>
            </a:r>
            <a:pPr algn="l" indent="0" marL="0">
              <a:buNone/>
            </a:pPr>
            <a:r>
              <a:rPr lang="en-US" sz="1050" dirty="0">
                <a:solidFill>
                  <a:srgbClr val="5A6472"/>
                </a:solidFill>
                <a:latin typeface="Calibri" pitchFamily="34" charset="0"/>
                <a:ea typeface="Calibri" pitchFamily="34" charset="-122"/>
                <a:cs typeface="Calibri" pitchFamily="34" charset="-120"/>
              </a:rPr>
              <a:t> (f.)</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المَغْرِبُ · مَغْرِبِيٌّ · مَغْرِبِيَّةٌ   ·   السُّعُودِيَّةُ · سُعُودِيٌّ · سُعُودِيَّةٌ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Diptote country names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no tanwīn; fatḥa instead of kasra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أَنَا مِنْ لُبْنَانَ   ·   زُرْتُ مِصْرَ فِي الصَّيْفِ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Past for history, present for today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past (nashaʾat) for history · present (tuʿaddu) for today</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34" charset="0"/>
                <a:ea typeface="Amiri" pitchFamily="34" charset="-122"/>
                <a:cs typeface="Amiri" pitchFamily="34" charset="-120"/>
              </a:rPr>
              <a:t>نَشَأَتِ الحَضَارَةُ العَرَبِيَّةُ فِي هٰذِهِ المِنْطَقَةِ   ·   تُعَدُّ العَرَبِيَّةُ مِنْ أَكْثَرِ اللُّغَاتِ انْتِشَارًا</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Describing language use accurately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بَعْضِ الدُّوَلِ / إِلَى جَانِبِ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الأَمَازِيغِيَّةُ لُغَةٌ رَسْمِيَّةٌ فِي المَغْرِبِ وَالجَزَائِرِ   ·   تُسْتَعْمَلُ الكُرْدِيَّةُ إِلَى جَانِبِ العَرَبِيَّةِ فِي العِرَاقِ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masculine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المَغْرِب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تُونُس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مِنْ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اللُّبْنَانِيِّ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طَالِبَةٌ جَزَائِرِيَّةٌ.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طَالِبَةٌ جَزَائِرِيٌّ.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 جَزَائِرِيَّةٌ.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masculine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المَغْرِب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مَغْرِبَةٌ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مَغْرِبِيَّةٌ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مَغْرِبِيٌّ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nisba ends in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with a shadda.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تُونُس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تُونُسِيَّةٌ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تُونُسِيٌّ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تُونُسَةٌ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nisba adds tāʾ marbūṭa after the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ending.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مِنْ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لُبْنَانَ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اللُّبْنَانِيِّ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لُبْنَان</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takes a fatḥa and no tanwīn.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طَالِبَةٌ جَزَائِرِيَّةٌ.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طَالِبَةٌ جَزَائِرِيٌّ.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طَالِبٌ جَزَائِرِيَّةٌ.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the noun and its nisba adjective are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introduce a country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Country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المَغْرِبُ · عَاصِمَتُهُ الرِّبَاطُ</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Name + capital.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Nationality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مَغْرِبِيٌّ</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0E7C86"/>
                </a:solidFill>
                <a:latin typeface="Amiri" pitchFamily="34" charset="0"/>
                <a:ea typeface="Amiri" pitchFamily="34" charset="-122"/>
                <a:cs typeface="Amiri" pitchFamily="34" charset="-120"/>
              </a:rPr>
              <a:t>مَغْرِبِيَّةٌ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He / she.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Languages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العَرَبِيَّةُ وَ</a:t>
            </a:r>
            <a:pPr rtl="1" algn="ctr" indent="0" marL="0">
              <a:buNone/>
            </a:pPr>
            <a:r>
              <a:rPr lang="ar-SA" altLang="en-US" sz="2550" b="1" dirty="0">
                <a:solidFill>
                  <a:srgbClr val="1D5FBF"/>
                </a:solidFill>
                <a:latin typeface="Amiri" pitchFamily="34" charset="0"/>
                <a:ea typeface="Amiri" pitchFamily="34" charset="-122"/>
                <a:cs typeface="Amiri" pitchFamily="34" charset="-120"/>
              </a:rPr>
              <a:t>الأَمَازِيغِيَّةُ</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 only Arabic.</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Diptote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زُرْتُ </a:t>
            </a:r>
            <a:pPr rtl="1" algn="ctr" indent="0" marL="0">
              <a:buNone/>
            </a:pPr>
            <a:r>
              <a:rPr lang="ar-SA" altLang="en-US" sz="2800" b="1" dirty="0">
                <a:solidFill>
                  <a:srgbClr val="D6336C"/>
                </a:solidFill>
                <a:latin typeface="Amiri" pitchFamily="34" charset="0"/>
                <a:ea typeface="Amiri" pitchFamily="34" charset="-122"/>
                <a:cs typeface="Amiri" pitchFamily="34" charset="-120"/>
              </a:rPr>
              <a:t>مِصْرَ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tanwīn.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 / DIPTOTE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OTHER LANGUAGE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مِنْ أَجْمَلِ الدُّوَلِ العَرَبِيَّةِ المَغْرِبُ، وَعَاصِمَتُهُ الرِّبَاطُ. وَالطَّالِبُ مِنْهُمْ </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مَغْرِبِيٌّ</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وَالطَّالِبَةُ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مَغْرِبِيَّةٌ</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تُسْتَعْمَلُ فِيهِ العَرَبِيَّةُ وَ</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الأَمَازِيغِيَّةُ</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وَقَدْ زُرْتُ </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مِصْرَ</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أَيْضًا قَبْلَ سَنَتَيْنِ.</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Morocco is one of the most beautiful Arab countries, and its capital is Rabat. A (male) student from there is Moroccan and a (female) student is Moroccan. Arabic and Amazigh are used there. I also visited Egypt two years ago.</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مِصْر ← مِصْرِيٌّ / مِصْرِيَّةٌ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Egypt → Egyptian (m.) / (f.)</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nisba ending carries a shadda on the yāʾ.</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أَنَا مِنْ لُبْنَانَ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from Lebanon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diptote takes a fatḥa in the genitive, with no tanwīn.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تُعَدُّ العَرَبِيَّةُ مِنْ أَكْثَرِ اللُّغَاتِ انْتِشَارًا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Arabic is considered one of the most widespread languages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present passive for a fact that is true now.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2F6FB0"/>
                </a:solidFill>
                <a:latin typeface="Calibri" pitchFamily="34" charset="0"/>
                <a:ea typeface="Calibri" pitchFamily="34" charset="-122"/>
                <a:cs typeface="Calibri" pitchFamily="34" charset="-120"/>
              </a:rPr>
              <a:t>WE DO · PICTURE MATCH · WEBSITE GAME “COUNTRY–LANGUAGE MATCH (TOPIC GAME)”</a:t>
            </a:r>
            <a:endParaRPr lang="en-US" sz="95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الدَّوْلَةَ وَاللُّغَةَ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France · French</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Egypt · Arabic</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Britain · English</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مِصْرُ دَوْلَةٌ عَرَبِيَّةٌ.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أَعِيشُ فِي بِرِيطَانْيَا وَأَتَكَلَّمُ الْإِنْجِلِيزِيَّةَ.</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فَرَنْسَا يَتَكَلَّمُ النَّاسُ الْفَرَنْسِيَّةَ.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الدَّوْلَةَ وَاللُّغَةَ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France · French</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فَرَنْسَا يَتَكَلَّمُ النَّاسُ الْفَرَنْسِيَّةَ.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In France, people speak French.</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Egypt · Arabic</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مِصْرُ دَوْلَةٌ عَرَبِيَّةٌ.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Egypt is an Arab country.</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Britain · English</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أَعِيشُ فِي بِرِيطَانْيَا وَأَتَكَلَّمُ الْإِنْجِلِيزِيَّةَ.</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live in Britain and I speak English.</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العِرَاقُ</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الأُرْدُنُّ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قَطَرُ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تُونُسُ</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الجَزَائِرُ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المَغْرِبُ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الصُّومَالُ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جِيبُوتِي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جُزُرُ القَمَرِ</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Mashriq and Gulf</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Maghreb</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Horn of Africa</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Mashriq and Gulf</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العِرَاقُ</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الأُرْدُنُّ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قَطَرُ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Maghreb</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تُونُسُ</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الجَزَائِرُ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المَغْرِبُ</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Horn of Africa</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الصُّومَالُ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جِيبُوتِي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جُزُرُ القَمَرِ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زُرْتُ ___ فِي الصَّيْفِ المَاضِي.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مِصْرًا</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describes history accurately?</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تَنْشَأُ الحَضَارَةُ العَرَبِيَّةُ فِي هٰذِهِ المِنْطَقَةِ.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نَشَأَتِ الحَضَارَةُ العَرَبِيَّةُ فِي هٰذِهِ المِنْطَقَةِ.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سَتَنْشَأُ الحَضَارَةُ العَرَبِيَّةُ فِي هٰذِهِ المِنْطَقَةِ.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language is accurate?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العَرَبِيَّةُ هِيَ اللُّغَةُ الوَحِيدَةُ فِي كُلِّ الدُّوَلِ العَرَبِيَّةِ.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الأَمَازِيغِيَّةُ لُغَةٌ رَسْمِيَّةٌ فِي المَغْرِبِ وَالجَزَائِرِ.</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تُوجَدُ لَهَجَاتٌ فِي العَالَمِ العَرَبِيِّ.</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الفُصْحَى</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اللَّهَجَاتُ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two names for the same thing.</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الفُصْحَى</a:t>
            </a:r>
            <a:pPr algn="l" indent="0" marL="0">
              <a:buNone/>
            </a:pPr>
            <a:r>
              <a:rPr lang="en-US" sz="1250" dirty="0">
                <a:solidFill>
                  <a:srgbClr val="1F2A37"/>
                </a:solidFill>
                <a:latin typeface="Calibri" pitchFamily="34" charset="0"/>
                <a:ea typeface="Calibri" pitchFamily="34" charset="-122"/>
                <a:cs typeface="Calibri" pitchFamily="34" charset="-120"/>
              </a:rPr>
              <a:t> is spoken only at home.</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الفُصْحَى</a:t>
            </a:r>
            <a:pPr algn="l" indent="0" marL="0">
              <a:buNone/>
            </a:pPr>
            <a:r>
              <a:rPr lang="en-US" sz="1250" dirty="0">
                <a:solidFill>
                  <a:srgbClr val="1F2A37"/>
                </a:solidFill>
                <a:latin typeface="Calibri" pitchFamily="34" charset="0"/>
                <a:ea typeface="Calibri" pitchFamily="34" charset="-122"/>
                <a:cs typeface="Calibri" pitchFamily="34" charset="-120"/>
              </a:rPr>
              <a:t> is the shared formal register; the dialects are spoken and vary by region.</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زُرْتُ ___ فِي الصَّيْفِ المَاضِي.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مِصْرًا</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مِصْرَ</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مِصْر</a:t>
            </a:r>
            <a:pPr algn="l" indent="0" marL="0">
              <a:buNone/>
            </a:pPr>
            <a:r>
              <a:rPr lang="en-US" sz="1050" i="1" dirty="0">
                <a:solidFill>
                  <a:srgbClr val="8A6D1E"/>
                </a:solidFill>
                <a:latin typeface="Calibri" pitchFamily="34" charset="0"/>
                <a:ea typeface="Calibri" pitchFamily="34" charset="-122"/>
                <a:cs typeface="Calibri" pitchFamily="34" charset="-120"/>
              </a:rPr>
              <a:t> is a diptote; the accusative is a bare fatḥa.</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describes history accurately?</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تَنْشَأُ الحَضَارَةُ العَرَبِيَّةُ فِي هٰذِهِ المِنْطَقَةِ.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نَشَأَتِ الحَضَارَةُ العَرَبِيَّةُ فِي هٰذِهِ المِنْطَقَةِ.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سَتَنْشَأُ الحَضَارَةُ العَرَبِيَّةُ فِي هٰذِهِ المِنْطَقَةِ.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completed historical event takes the past tense.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language is accurate?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العَرَبِيَّةُ هِيَ اللُّغَةُ الوَحِيدَةُ فِي كُلِّ الدُّوَلِ العَرَبِيَّةِ.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الأَمَازِيغِيَّةُ لُغَةٌ رَسْمِيَّةٌ فِي المَغْرِبِ وَالجَزَائِرِ.</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تُوجَدُ لَهَجَاتٌ فِي العَالَمِ العَرَبِيِّ.</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Amazigh is co-official in Morocco and Algeria; the region is multilingual.</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الفُصْحَى</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اللَّهَجَاتُ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two names for the same thing.</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الفُصْحَى</a:t>
            </a:r>
            <a:pPr algn="l" indent="0" marL="0">
              <a:buNone/>
            </a:pPr>
            <a:r>
              <a:rPr lang="en-US" sz="1250" dirty="0">
                <a:solidFill>
                  <a:srgbClr val="9AA1AB"/>
                </a:solidFill>
                <a:latin typeface="Calibri" pitchFamily="34" charset="0"/>
                <a:ea typeface="Calibri" pitchFamily="34" charset="-122"/>
                <a:cs typeface="Calibri" pitchFamily="34" charset="-120"/>
              </a:rPr>
              <a:t> is spoken only at home.</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34" charset="0"/>
                <a:ea typeface="Amiri" pitchFamily="34" charset="-122"/>
                <a:cs typeface="Amiri" pitchFamily="34" charset="-120"/>
              </a:rPr>
              <a:t>الفُصْحَى</a:t>
            </a:r>
            <a:pPr algn="l" indent="0" marL="0">
              <a:buNone/>
            </a:pPr>
            <a:r>
              <a:rPr lang="en-US" sz="1150" b="1" dirty="0">
                <a:solidFill>
                  <a:srgbClr val="1F2A37"/>
                </a:solidFill>
                <a:latin typeface="Calibri" pitchFamily="34" charset="0"/>
                <a:ea typeface="Calibri" pitchFamily="34" charset="-122"/>
                <a:cs typeface="Calibri" pitchFamily="34" charset="-120"/>
              </a:rPr>
              <a:t> is the shared formal register; the dialects are spoken and vary by region.</a:t>
            </a:r>
            <a:endParaRPr lang="en-US" sz="11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الفُصْحَى</a:t>
            </a:r>
            <a:pPr algn="l" indent="0" marL="0">
              <a:buNone/>
            </a:pPr>
            <a:r>
              <a:rPr lang="en-US" sz="1050" i="1" dirty="0">
                <a:solidFill>
                  <a:srgbClr val="8A6D1E"/>
                </a:solidFill>
                <a:latin typeface="Calibri" pitchFamily="34" charset="0"/>
                <a:ea typeface="Calibri" pitchFamily="34" charset="-122"/>
                <a:cs typeface="Calibri" pitchFamily="34" charset="-120"/>
              </a:rPr>
              <a:t> is used in writing and formal speech; dialects differ from place to place.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مِنْ لُبْنَانٍ.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Lubnān: tanwīn or not?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طَالِبَةٌ مَغْرِبِيٌّ.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girl: -iyy or -iyya?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العَرَبِيَّةُ هِيَ اللُّغَةُ الوَحِيدَةُ فِي المِنْطَقَةِ.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Arabic the only language?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مِنْ لُبْنَانٍ.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مِنْ لُبْنَانَ.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لُبْنَان</a:t>
            </a:r>
            <a:pPr algn="l" indent="0" marL="0">
              <a:buNone/>
            </a:pPr>
            <a:r>
              <a:rPr lang="en-US" sz="1150" b="1" dirty="0">
                <a:solidFill>
                  <a:srgbClr val="1B3B6F"/>
                </a:solidFill>
                <a:latin typeface="Calibri" pitchFamily="34" charset="0"/>
                <a:ea typeface="Calibri" pitchFamily="34" charset="-122"/>
                <a:cs typeface="Calibri" pitchFamily="34" charset="-120"/>
              </a:rPr>
              <a:t> is a diptote and cannot take tanwīn.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طَالِبَةٌ مَغْرِبِيٌّ.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طَالِبَةٌ مَغْرِبِيَّةٌ.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nisba adjective must agree with its feminine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العَرَبِيَّةُ هِيَ اللُّغَةُ الوَحِيدَةُ فِي المِنْطَقَةِ.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إِلَى جَانِبِ العَرَبِيَّةِ تُوجَدُ لُغَاتٌ أُخْرَى مِثْلُ الأَمَازِيغِيَّةِ وَالكُرْدِيَّةِ.</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region is multilingual, so the version on the left states something untrue.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Listening: introductions from across the region</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Salmā's nationality?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Iraqi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Lebanese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are spoken in her home?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only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Kurdish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Amazigh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Karīm say about Iraq?</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Arabic is used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Amazigh is official there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Kurdish is used alongside Arabic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Nūr arrive from Lebanon?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years ago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month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year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about writing and speaking?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all speak the same dialect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all write in fuṣḥā but speak different dialects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never use fuṣḥā</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people: Salma · Karim · Nur.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سَلْمَى، وَأَنَا مَغْرِبِيَّةٌ مِنْ مَدِينَةِ الرِّبَاطِ.</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Salma, and I am Moroccan, from the city of Rabat.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فِي بَيْتِنَا نَتَحَدَّثُ العَرَبِيَّةَ وَالأَمَازِيغِيَّةَ، لِأَنَّ الأَمَازِيغِيَّةَ لُغَةٌ رَسْمِيَّةٌ فِي المَغْرِبِ.</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home we speak Arabic and Amazigh, because Amazigh is an official language in Morocco.</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وَصَدِيقِي كَرِيمٌ عِرَاقِيٌّ مِنْ بَغْدَادَ، وَيَقُولُ إِنَّ الكُرْدِيَّةَ تُسْتَعْمَلُ إِلَى جَانِبِ العَرَبِيَّةِ فِي بِلَادِهِ.</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friend Karim is Iraqi, from Baghdad, and he says Kurdish is used alongside Arabic in his country.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زَمِيلَتُنَا نُورُ فَهِيَ لُبْنَانِيَّةٌ، وَقَدْ جَاءَتْ مِنْ لُبْنَانَ قَبْلَ سَنَتَيْنِ.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our classmate Nur, she is Lebanese, and she came from Lebanon two years ago.</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نَحْنُ نَكْتُبُ جَمِيعًا بِالفُصْحَى، وَلٰكِنَّنَا نَتَحَدَّثُ بِلَهَجَاتٍ مُخْتَلِفَةٍ، وَأَحْيَانًا لَا نَفْهَمُ بَعْضَنَا بِسُرْعَةٍ.</a:t>
            </a:r>
            <a:endParaRPr lang="ar-SA" sz="16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all write in Standard Arabic, but we speak different dialects, and sometimes we don’t understand each other quickly.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Salmā's nationality?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Moroccan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Iraqi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Lebanese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أَنَا مَغْرِبِيَّةٌ مِنْ مَدِينَةِ الرِّبَاطِ.</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are spoken in her home?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only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and Kurdish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 and Amazigh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نَتَحَدَّثُ العَرَبِيَّةَ وَالأَمَازِيغِيَّةَ.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Karīm say about Iraq?</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Arabic is used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Amazigh is official there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Kurdish is used alongside Arabic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الكُرْدِيَّةَ تُسْتَعْمَلُ إِلَى جَانِبِ العَرَبِيَّةِ فِي بِلَادِهِ.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Nūr arrive from Lebanon?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years ago</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Last month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year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جَاءَتْ مِنْ لُبْنَانَ قَبْلَ سَنَتَيْنِ.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about writing and speaking?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all speak the same dialect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all write in fuṣḥā but speak different dialects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never use fuṣḥā</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نَكْتُبُ جَمِيعًا بِالفُصْحَى، وَلٰكِنَّنَا نَتَحَدَّثُ بِلَهَجَاتٍ مُخْتَلِفَةٍ.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people: Salma · Karim · Nur.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Country–language map match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Country–language map match</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Match countries, nationalities and languages on a map, then give location and identity clues for a partner to solve.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 a map, match 6 countries to their nationality and main language (cards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Choose one country secretly.</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Give three clues: location, nationality, language — no country name.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Partners guess; check the nisba agreement (m. / f.).</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Match the cards; one clue: “yatakallamu an-nās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clues with a nisba adjective and a preposition (fī shamāl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clues + residence vs nationality (huwa miṣriyy lākinnahu yaskunu fī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تَقَعُ فِي شَمَالِ / جَنُوبِ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it is in the north / south of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يَتَكَلَّمُ النَّاسُ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people speak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هُوَ مَغْرِبِيٌّ / هِيَ مَغْرِبِيَّةٌ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he / she is Moroccan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يَسْكُنُ فِي … لٰكِنَّهُ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he lives in … but he is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Speaking: introduce a country and its languages</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اِخْتَرْ دَوْلَةً عَرَبِيَّةً. مَا عَاصِمَتُهَا؟ وَمَا جِنْسِيَّةُ أَهْلِهَا؟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لُغَاتٍ تُسْتَعْمَلُ هُنَاكَ إِلَى جَانِبِ العَرَبِيَّةِ؟</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الفَرْقُ بَيْنَ الفُصْحَى وَاللَّهَجَاتِ؟</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34" charset="0"/>
                <a:ea typeface="Amiri" pitchFamily="34" charset="-122"/>
                <a:cs typeface="Amiri" pitchFamily="34" charset="-120"/>
              </a:rPr>
              <a:t>أَخْتَارُ ___ . عَاصِمَتُهَا ___ ، وَالطَّالِبُ مِنْهَا ___ .</a:t>
            </a:r>
            <a:endParaRPr lang="ar-SA" sz="12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تُسْتَعْمَلُ ___ إِلَى جَانِبِ العَرَبِيَّةِ فِي ___ .</a:t>
            </a:r>
            <a:endParaRPr lang="ar-SA" sz="145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نَكْتُبُ بِالفُصْحَى، وَلٰكِنْ ___ .</a:t>
            </a:r>
            <a:endParaRPr lang="ar-SA" sz="16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اِخْتَرْ دَوْلَةً عَرَبِيَّةً وَتَحَدَّثْ عَنْهَا.</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Choose an Arab country and talk about it.</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أَخْتَارُ المَغْرِبَ. عَاصِمَتُهُ الرِّبَاطُ، وَأَهْلُهُ مَغَارِبَةٌ، وَالوَاحِدُ مِنْهُمْ مَغْرِبِيٌّ.</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choose Morocco. Its capital is Rabat, its people are Moroccans, and one of them is a Moroccan.</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Match ten countries to their nationalities and write five sentences with accurate nisba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country, its capital, its nationality (he / she) and one language.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sentence about the languages used in two different countries.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diptote after a preposition and the languages of two countries.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Contrast fuṣḥā and the dialects, and qualify one claim about regional diversity.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country · capital · nationality · languages · a qualified statement about diversity.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زُرْتُ ______ قَبْلَ سَنَتَيْنِ.</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visited … two years ago.</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تُسْتَعْمَلُ ______ إِلَى جَانِبِ العَرَبِيَّةِ فِي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used alongside Arabic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نَكْتُبُ جَمِيعًا بِالفُصْحَى، وَلٰكِنَّنَا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all write in fuṣḥā, but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وَلَيْسَ صَحِيحًا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not true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أَخْتَارُ ______ ، وَعَاصِمَتُهَا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choose …; its capital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الطَّالِبُ مِنْهَا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(male) student from there is … (-iyyun)</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الطَّالِبَةُ مِنْهَا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(female) student from there is … (-iyyatun)</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اللُّغَةُ الرَّسْمِيَّةُ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official language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مِصْرُ · مِصْرِيٌّ  ·  المَغْرِبُ · مَغْرِبِيٌّ  ·  الأُرْدُنُّ · أُرْدُنِّيٌّ  ·  العِرَاقُ · عِرَاقِيٌّ  ·  عَاصِمَةٌ  ·  جِنْسِيَّةٌ  ·  لُغَةٌ رَسْمِيَّةٌ  ·  الفُصْحَى  ·  اللَّهَجَاتُ  ·  الأَمَازِيغِيَّةُ  ·  الكُرْدِيَّةُ  ·  إِلَى جَانِبِ</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eighty words introducing one Arab country: its name, its capital, the nationality of its people, the languages used there, and one accurate statement about the region's diversity.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correctly formed nisba, matching the gender of its 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diptote country name used after a preposition, with no tanwīn.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sentence naming a language other than Arabic.</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qualified statement about diversity rather than a generalisation.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أَجْمَلِ الدُّوَلِ العَرَبِيَّةِ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one of the most beautiful Arab countries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لَاحَظْتُ أَنَّ اللَّهْجَةَ تَخْتَلِفُ كَثِيرًا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noticed that the dialect differs a lot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تُعَدُّ العَرَبِيَّةُ مِنْ أَكْثَرِ اللُّغَاتِ انْتِشَارًا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Arabic is one of the most widespread languages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لَيْسَ صَحِيحًا أَنَّ المِنْطَقَةَ ذَاتُ ثَقَافَةٍ وَاحِدَةٍ</a:t>
            </a:r>
            <a:endParaRPr lang="ar-SA" sz="17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not true that the region has a single culture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فَالتَّنَوُّعُ فِيهَا كَبِيرٌ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its diversity is great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مِنْ أَجْمَلِ الدُّوَلِ العَرَبِيَّةِ المَغْرِبُ، وَعَاصِمَتُهُ الرِّبَاطُ. وَأَهْلُهُ مَغَارِبَةٌ، وَالطَّالِبُ مِنْهُمْ مَغْرِبِيٌّ وَالطَّالِبَةُ مَغْرِبِيَّةٌ. تُسْتَعْمَلُ فِيهِ العَرَبِيَّةُ وَالأَمَازِيغِيَّةُ، وَالأَمَازِيغِيَّةُ لُغَةٌ رَسْمِيَّةٌ هُنَاكَ. وَقَدْ زُرْتُ مِصْرَ أَيْضًا قَبْلَ سَنَتَيْنِ، وَلَاحَظْتُ أَنَّ اللَّهْجَةَ تَخْتَلِفُ كَثِيرًا عَنْ لَهْجَةِ المَغْرِبِ. نَكْتُبُ جَمِيعًا بِالفُصْحَى، وَلٰكِنَّنَا نَتَحَدَّثُ بِلَهَجَاتٍ مُخْتَلِفَةٍ. وَلَيْسَ صَحِيحًا أَنَّ المِنْطَقَةَ ذَاتُ ثَقَافَةٍ وَاحِدَةٍ؛ فَالتَّنَوُّعُ فِيهَا كَبِيرٌ جِدًّا.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Morocco is one of the most beautiful Arab countries, and its capital is Rabat. Its people are Moroccans: a male student is Moroccan (maghribī) and a female student is Moroccan (maghribiyya). Arabic and Amazigh are used there, and Amazigh is an official language. I also visited Egypt two years ago and noticed that the dialect is very different from Morocco’s. We all write in fuṣḥā, but we speak different dialects. It is not true that the region has one single culture; its diversity is very great.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nisba for he and she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diptote after a verb or preposition (زُرْتُ مِصْرَ)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language other than Arabic</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qualified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nationality agrees: -iyyun (m.), -iyyatun (f.).</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 capital and a language.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diptotes have no tanwīn (</a:t>
            </a:r>
            <a:pPr algn="l" indent="0" marL="0">
              <a:buNone/>
            </a:pPr>
            <a:r>
              <a:rPr lang="ar-SA" altLang="en-US" sz="1700" dirty="0">
                <a:solidFill>
                  <a:srgbClr val="1F2A37"/>
                </a:solidFill>
                <a:latin typeface="Amiri" pitchFamily="34" charset="0"/>
                <a:ea typeface="Amiri" pitchFamily="34" charset="-122"/>
                <a:cs typeface="Amiri" pitchFamily="34" charset="-120"/>
              </a:rPr>
              <a:t>مِنْ لُبْنَانَ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 language other than Arabic.</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contrasted fuṣḥā and dialects and avoided a generalisation.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nisba.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 سُودَانِيَّةٌ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 سُودَانِيٌّ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 سُودَانِيَّةٌ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سَافَرْنَا إِلَى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الرَّبِيعِ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الكُرْدِيَّةُ لُغَةٌ رَسْمِيَّةٌ فِي العِرَاقِ.</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الكُرْدِيَّةُ لُغَةٌ رَسْمِيَّةٌ فِي المَغْرِبِ.</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لَا تُوجَدُ لُغَاتٌ رَسْمِيَّةٌ غَيْرُ العَرَبِيَّةِ.</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nisba.</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طَالِبَةٌ سُودَانِيَّةٌ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طَالِبَةٌ سُودَانِيٌّ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طَالِبٌ سُودَانِيَّةٌ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nisba adjective agrees with its feminine noun.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سَافَرْنَا إِلَى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الرَّبِيعِ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تُونُسٍ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تُونُسَ</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تُونُسًا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تُونُس</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is a bare fatḥa.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الكُرْدِيَّةُ لُغَةٌ رَسْمِيَّةٌ فِي العِرَاقِ.</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الكُرْدِيَّةُ لُغَةٌ رَسْمِيَّةٌ فِي المَغْرِبِ.</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لَا تُوجَدُ لُغَاتٌ رَسْمِيَّةٌ غَيْرُ العَرَبِيَّةِ.</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Kurdish is co-official in Iraq.</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Reading: one region, many languages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34" charset="0"/>
                <a:ea typeface="Amiri" pitchFamily="34" charset="-122"/>
                <a:cs typeface="Amiri" pitchFamily="34" charset="-120"/>
              </a:rPr>
              <a:t>تَضُمُّ جَامِعَةُ الدُّوَلِ العَرَبِيَّةِ اثْنَتَيْنِ وَعِشْرِينَ دَوْلَةً، تَمْتَدُّ مِنَ المُحِيطِ الأَطْلَسِيِّ غَرْبًا إِلَى الخَلِيجِ شَرْقًا. وَتُعَدُّ العَرَبِيَّةُ الفُصْحَى اللُّغَةَ المُشْتَرَكَةَ فِي الكِتَابَةِ وَالإِعْلَامِ وَالتَّعْلِيمِ. أَمَّا فِي الحَيَاةِ اليَوْمِيَّةِ فَيَتَحَدَّثُ النَّاسُ لَهَجَاتٍ مُخْتَلِفَةً تَخْتَلِفُ مِنْ بَلَدٍ إِلَى بَلَدٍ، وَأَحْيَانًا مِنْ مَدِينَةٍ إِلَى مَدِينَةٍ. وَإِلَى جَانِبِ العَرَبِيَّةِ تُوجَدُ لُغَاتٌ أُخْرَى: فَالأَمَازِيغِيَّةُ لُغَةٌ رَسْمِيَّةٌ فِي المَغْرِبِ وَالجَزَائِرِ، وَالكُرْدِيَّةُ لُغَةٌ رَسْمِيَّةٌ فِي العِرَاقِ. وَلَيْسَ صَحِيحًا أَنَّ المِنْطَقَةَ ذَاتُ ثَقَافَةٍ وَاحِدَةٍ؛ فَالتَّنَوُّعُ فِيهَا كَبِيرٌ.</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تَضُمُّ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includes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جَامِعَةُ الدُّوَلِ العَرَبِيَّةِ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Arab League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تَمْتَدُّ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stretch</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المُحِيطِ الأَطْلَسِيِّ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Atlantic Ocean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الخَلِيجِ</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Gulf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المُشْتَرَكَةَ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shared, common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الإِعْلَامِ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media</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الحَيَاةِ اليَوْمِيَّةِ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daily life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تَخْتَلِفُ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ذَاتُ ثَقَافَةٍ وَاحِدَةٍ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 one culture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states are in the Arab League?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Twelve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Twenty-two</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Twenty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fuṣḥā used?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in poetry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at home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Writing, media and education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dialects?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differ between countries and sometimes between cities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identical everywhere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no longer spoken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Amazigh an official language?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Iraq and Syria</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Morocco and Algeria</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Egypt and Sudan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text's closing point?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is not a single culture; its diversity is great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shares one culture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one language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states are in the Arab League?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Twelve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Twenty-two</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Twenty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تَضُمُّ … اثْنَتَيْنِ وَعِشْرِينَ دَوْلَةً.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fuṣḥā used?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in poetry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at home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Writing, media and education</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اللُّغَةَ المُشْتَرَكَةَ فِي الكِتَابَةِ وَالإِعْلَامِ وَالتَّعْلِيمِ.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dialects?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differ between countries and sometimes between cities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identical everywhere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no longer spoken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تَخْتَلِفُ مِنْ بَلَدٍ إِلَى بَلَدٍ، وَأَحْيَانًا مِنْ مَدِينَةٍ إِلَى مَدِينَةٍ.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Amazigh an official language?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Iraq and Syria</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Morocco and Algeria</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Egypt and Sudan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الأَمَازِيغِيَّةُ لُغَةٌ رَسْمِيَّةٌ فِي المَغْرِبِ وَالجَزَائِرِ.</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text's closing point?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region is not a single culture; its diversity is great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region shares one culture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one language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وَلَيْسَ صَحِيحًا أَنَّ المِنْطَقَةَ ذَاتُ ثَقَافَةٍ وَاحِدَةٍ؛ فَالتَّنَوُّعُ فِيهَا كَبِيرٌ.</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Arab World Mission — Countries, Nisba and Diptotes</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Nisba: which is the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العِرَاق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عِرَاقَةٌ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عِرَاقِيٌّ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عِرَاقِيُّونَ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Nisba: which is the feminine for </a:t>
            </a:r>
            <a:pPr algn="l" indent="0" marL="0">
              <a:buNone/>
            </a:pPr>
            <a:r>
              <a:rPr lang="ar-SA" altLang="en-US" sz="1650" b="1" dirty="0">
                <a:solidFill>
                  <a:srgbClr val="1B3B6F"/>
                </a:solidFill>
                <a:latin typeface="Amiri" pitchFamily="34" charset="0"/>
                <a:ea typeface="Amiri" pitchFamily="34" charset="-122"/>
                <a:cs typeface="Amiri" pitchFamily="34" charset="-120"/>
              </a:rPr>
              <a:t>الأُرْدُنّ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أُرْدُنِّيَّةٌ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أُرْدُنِّيٌّ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أُرْدُنَةٌ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Diptote: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أَنَا مِنْ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قَطَرًا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capital of Morocco?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الجَزَائِرُ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طَرَابُلُسُ</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الرِّبَاطُ</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country is in the Horn of Africa?</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الصُّومَالُ</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الكُوَيْتُ</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Language: where is Amazigh official?</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العِرَاقُ وَسُورِيَا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المَغْرِبُ وَالجَزَائِرُ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قَطَرُ وَالبَحْرَيْنُ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Nisba: which is the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العِرَاق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عِرَاقَةٌ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عِرَاقِيٌّ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عِرَاقِيُّونَ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singular nisba is </a:t>
            </a:r>
            <a:pPr algn="l" indent="0" marL="0">
              <a:buNone/>
            </a:pPr>
            <a:r>
              <a:rPr lang="ar-SA" altLang="en-US" sz="1350" dirty="0">
                <a:solidFill>
                  <a:srgbClr val="8A6D1E"/>
                </a:solidFill>
                <a:latin typeface="Amiri" pitchFamily="34" charset="0"/>
                <a:ea typeface="Amiri" pitchFamily="34" charset="-122"/>
                <a:cs typeface="Amiri" pitchFamily="34" charset="-120"/>
              </a:rPr>
              <a:t>عِرَاقِيٌّ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Nisba: which is the feminine for </a:t>
            </a:r>
            <a:pPr algn="l" indent="0" marL="0">
              <a:buNone/>
            </a:pPr>
            <a:r>
              <a:rPr lang="ar-SA" altLang="en-US" sz="1650" b="1" dirty="0">
                <a:solidFill>
                  <a:srgbClr val="1B3B6F"/>
                </a:solidFill>
                <a:latin typeface="Amiri" pitchFamily="34" charset="0"/>
                <a:ea typeface="Amiri" pitchFamily="34" charset="-122"/>
                <a:cs typeface="Amiri" pitchFamily="34" charset="-120"/>
              </a:rPr>
              <a:t>الأُرْدُنّ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أُرْدُنِّيَّةٌ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أُرْدُنِّيٌّ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أُرْدُنَةٌ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Add tāʾ marbūṭa after the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ending.</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Diptote: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أَنَا مِنْ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قَطَرٍ</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قَطَرًا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قَطَرَ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قَطَر</a:t>
            </a:r>
            <a:pPr algn="l" indent="0" marL="0">
              <a:buNone/>
            </a:pPr>
            <a:r>
              <a:rPr lang="en-US" sz="1050" i="1" dirty="0">
                <a:solidFill>
                  <a:srgbClr val="8A6D1E"/>
                </a:solidFill>
                <a:latin typeface="Calibri" pitchFamily="34" charset="0"/>
                <a:ea typeface="Calibri" pitchFamily="34" charset="-122"/>
                <a:cs typeface="Calibri" pitchFamily="34" charset="-120"/>
              </a:rPr>
              <a:t> is a diptote; the genitive is a bare fatḥa.</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capital of Morocco?</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الجَزَائِرُ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طَرَابُلُسُ</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الرِّبَاطُ</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الرِّبَاطُ</a:t>
            </a:r>
            <a:pPr algn="l" indent="0" marL="0">
              <a:buNone/>
            </a:pPr>
            <a:r>
              <a:rPr lang="en-US" sz="1050" i="1" dirty="0">
                <a:solidFill>
                  <a:srgbClr val="8A6D1E"/>
                </a:solidFill>
                <a:latin typeface="Calibri" pitchFamily="34" charset="0"/>
                <a:ea typeface="Calibri" pitchFamily="34" charset="-122"/>
                <a:cs typeface="Calibri" pitchFamily="34" charset="-120"/>
              </a:rPr>
              <a:t> is the capital of Morocco.</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country is in the Horn of Africa?</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الصُّومَالُ</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الكُوَيْتُ</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سُورِيَا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الصُّومَال</a:t>
            </a:r>
            <a:pPr algn="l" indent="0" marL="0">
              <a:buNone/>
            </a:pPr>
            <a:r>
              <a:rPr lang="en-US" sz="1050" i="1" dirty="0">
                <a:solidFill>
                  <a:srgbClr val="8A6D1E"/>
                </a:solidFill>
                <a:latin typeface="Calibri" pitchFamily="34" charset="0"/>
                <a:ea typeface="Calibri" pitchFamily="34" charset="-122"/>
                <a:cs typeface="Calibri" pitchFamily="34" charset="-120"/>
              </a:rPr>
              <a:t> is in the Horn of Africa.</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Language: where is Amazigh official?</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العِرَاقُ وَسُورِيَا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المَغْرِبُ وَالجَزَائِرُ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قَطَرُ وَالبَحْرَيْنُ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Amazigh is co-official in Morocco and Algeria.</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TE-L02 · Multilingual Life and Communication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لُغَةُ الأُمَمِ المُتَّحِدَةِ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UN language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مُتَحَدِّثٌ</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speaker</a:t>
            </a:r>
            <a:pPr indent="0" marL="0">
              <a:buNone/>
            </a:pPr>
            <a:r>
              <a:rPr lang="en-US" sz="1000" i="1" dirty="0">
                <a:solidFill>
                  <a:srgbClr val="5A6472"/>
                </a:solidFill>
                <a:latin typeface="Calibri" pitchFamily="34" charset="0"/>
                <a:ea typeface="Calibri" pitchFamily="34" charset="-122"/>
                <a:cs typeface="Calibri" pitchFamily="34" charset="-120"/>
              </a:rPr>
              <a:t>  pl. مُتَحَدِّثُونَ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الانْتِشَارُ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spread, reach</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كَلِمَاتٌ مُسْتَعَارَةٌ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loanwords</a:t>
            </a:r>
            <a:pPr indent="0" marL="0">
              <a:buNone/>
            </a:pPr>
            <a:r>
              <a:rPr lang="en-US" sz="1000" i="1" dirty="0">
                <a:solidFill>
                  <a:srgbClr val="5A6472"/>
                </a:solidFill>
                <a:latin typeface="Calibri" pitchFamily="34" charset="0"/>
                <a:ea typeface="Calibri" pitchFamily="34" charset="-122"/>
                <a:cs typeface="Calibri" pitchFamily="34" charset="-120"/>
              </a:rPr>
              <a:t>  sing. كَلِمَةٌ مُسْتَعَارَةٌ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يُثْرِي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enriches</a:t>
            </a:r>
            <a:pPr indent="0" marL="0">
              <a:buNone/>
            </a:pPr>
            <a:r>
              <a:rPr lang="en-US" sz="1000" i="1" dirty="0">
                <a:solidFill>
                  <a:srgbClr val="5A6472"/>
                </a:solidFill>
                <a:latin typeface="Calibri" pitchFamily="34" charset="0"/>
                <a:ea typeface="Calibri" pitchFamily="34" charset="-122"/>
                <a:cs typeface="Calibri" pitchFamily="34" charset="-120"/>
              </a:rPr>
              <a:t>  أَثْرَى past</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Do you know any English (or Urdu) words that come from Arabic? List three.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مِنَ الكَلِمَاتِ ذَاتِ الأَصْلِ العَرَبِيِّ: … · … ·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countries with their nationality (he / she);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profile of a country with a diptote and two languages.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 80 words with a qualified statement about diversity.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ea typeface="Cambria" pitchFamily="34" charset="-122"/>
                <a:cs typeface="Cambria" pitchFamily="34" charset="-120"/>
              </a:rPr>
              <a:t>TE-L02 · Multilingual Life and Communication</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الحَيَاةُ مُتَعَدِّدَةُ اللُّغَاتِ وَالتَّوَاصُلُ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TE-L02.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TE-L01 · Countries, Nationalities and Languages</dc:title>
  <dc:subject>PptxGenJS Presentation</dc:subject>
  <dc:creator>Al Madina Online School · Arabic Department</dc:creator>
  <cp:lastModifiedBy>Al Madina Online School · Arabic Department</cp:lastModifiedBy>
  <cp:revision>1</cp:revision>
  <dcterms:created xsi:type="dcterms:W3CDTF">2026-10-11T04:23:23Z</dcterms:created>
  <dcterms:modified xsi:type="dcterms:W3CDTF">2026-10-11T04:23:23Z</dcterms:modified>
</cp:coreProperties>
</file>