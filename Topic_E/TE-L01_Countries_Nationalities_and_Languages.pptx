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TE-L01 — Countries, Nationalities and Languages. Website: Advanced Topics › Topic E (The International World) › Lesson 1.
The website builds this lesson on the D6-L01 lesson engine, with the Topic focus “Locate countries and describe nationality, residence and language accurately.” (grammar: Nisba adjectives; gender; prepositions; skills: Listening · Speaking) and the application challenge “Country–language map match”.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E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D5-L12 (website). Questions 4–5 retrieve the nisba (F1 / F2) and the earlier work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(“Country–Language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“Country–Language Match”: France · French, Egypt · Arab country, Britain · English.
Website feedback lines: Country and language match. · Egypt is an Arab country. · The country and language shown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“Match countries, nationalities and languages on a map, then give location and identity clues for a partner to solve.”
Website Topic E challenge “Country–language map match”. Cards: مِصْرُ – مِصْرِيٌّ – العَرَبِيَّةُ · المَغْرِبُ – مَغْرِبِيٌّ – العَرَبِيَّةُ وَالأَمَازِيغِيَّةُ · فَرَنْسَا – فَرَنْسِيٌّ – الفَرَنْسِيَّةُ · بَاكِسْتَانُ – بَاكِسْتَانِيٌّ – الأُرْدِيَّةُ · تُرْكِيَا – تُرْكِيٌّ – التُّرْكِيَّةُ · بِرِيطَانْيَا – بِرِيطَانِيٌّ – الإِنْجِلِيزِيَّةُ. Diptotes: no tanwīn on مِصْرُ / فَرَنْسَا.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(TE-L02 · Multilingual Life and Communication) will spend class time USING this language, so students prepare it tonight — short, simple, easy to access (school guidance: “Simple, Short, Interesting, Relevant, Easy to access”). The five words come from the website TE-L04 vocabulary (customs and values).
Follow-up: the next Do Now tests two of these words (Flipped Learning: keep it short AND follow up).
Homework by route (website tasks). No internet? Students copy the five words from this slide into their book now.
TOPIC E: the five words are the ones the TE-L02 Do Now tests (preparation list of the website D6-L05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Countries, Nationalities and Languages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الدُّوَلُ وَالجِنْسِيَّاتُ وَاللُّغَاتُ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Locate countries and describe nationality, residence and language accurately.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مِصْرُ · </a:t>
            </a:r>
            <a:pPr rtl="1" algn="ctr" indent="0" marL="0">
              <a:buNone/>
            </a:pPr>
            <a:r>
              <a:rPr lang="ar-SA" altLang="en-US" sz="2350" b="1" dirty="0">
                <a:solidFill>
                  <a:srgbClr val="D6336C"/>
                </a:solidFill>
                <a:latin typeface="Amiri" pitchFamily="2" charset="-78"/>
                <a:ea typeface="Amiri" pitchFamily="2" charset="-78"/>
                <a:cs typeface="Amiri" pitchFamily="2" charset="-78"/>
              </a:rPr>
              <a:t>مِصْرِيٌّ</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0E7C86"/>
                </a:solidFill>
                <a:latin typeface="Amiri" pitchFamily="2" charset="-78"/>
                <a:ea typeface="Amiri" pitchFamily="2" charset="-78"/>
                <a:cs typeface="Amiri" pitchFamily="2" charset="-78"/>
              </a:rPr>
              <a:t>مِصْرِيَّةٌ</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1D5FBF"/>
                </a:solidFill>
                <a:latin typeface="Amiri" pitchFamily="2" charset="-78"/>
                <a:ea typeface="Amiri" pitchFamily="2" charset="-78"/>
                <a:cs typeface="Amiri" pitchFamily="2" charset="-78"/>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nisba with </a:t>
            </a:r>
            <a:pPr algn="l" indent="0" marL="0">
              <a:buNone/>
            </a:pPr>
            <a:r>
              <a:rPr lang="ar-SA" altLang="en-US" sz="1700" dirty="0">
                <a:solidFill>
                  <a:srgbClr val="1F2A37"/>
                </a:solidFill>
                <a:latin typeface="Amiri" pitchFamily="2" charset="-78"/>
                <a:ea typeface="Amiri" pitchFamily="2" charset="-78"/>
                <a:cs typeface="Amiri" pitchFamily="2" charset="-78"/>
              </a:rPr>
              <a:t>ـِيٌّ / ـِيَّةٌ</a:t>
            </a:r>
            <a:pPr algn="l" indent="0" marL="0">
              <a:buNone/>
            </a:pPr>
            <a:r>
              <a:rPr lang="en-US" sz="1300" dirty="0">
                <a:solidFill>
                  <a:srgbClr val="1F2A37"/>
                </a:solidFill>
                <a:latin typeface="Calibri" pitchFamily="34" charset="0"/>
                <a:cs typeface="Amiri" pitchFamily="2" charset="-78"/>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diptote country names without tanwīn (</a:t>
            </a:r>
            <a:pPr algn="l" indent="0" marL="0">
              <a:buNone/>
            </a:pPr>
            <a:r>
              <a:rPr lang="ar-SA" altLang="en-US" sz="1700" dirty="0">
                <a:solidFill>
                  <a:srgbClr val="1F2A37"/>
                </a:solidFill>
                <a:latin typeface="Amiri" pitchFamily="2" charset="-78"/>
                <a:ea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‎مصر‎ </a:t>
            </a:r>
            <a:pPr indent="0" marL="0">
              <a:buNone/>
            </a:pPr>
            <a:r>
              <a:rPr lang="en-US" sz="950" b="1" dirty="0">
                <a:solidFill>
                  <a:srgbClr val="2E8B57"/>
                </a:solidFill>
                <a:latin typeface="Calibri" pitchFamily="34" charset="0"/>
                <a:cs typeface="Amiri" pitchFamily="2" charset="-78"/>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‎عربی‎ </a:t>
            </a:r>
            <a:pPr indent="0" marL="0">
              <a:buNone/>
            </a:pPr>
            <a:r>
              <a:rPr lang="en-US" sz="950" b="1" dirty="0">
                <a:solidFill>
                  <a:srgbClr val="2E8B57"/>
                </a:solidFill>
                <a:latin typeface="Calibri" pitchFamily="34" charset="0"/>
                <a:cs typeface="Amiri" pitchFamily="2" charset="-78"/>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‎شہریت / قومیت‎ </a:t>
            </a:r>
            <a:pPr indent="0" marL="0">
              <a:buNone/>
            </a:pPr>
            <a:r>
              <a:rPr lang="en-US" sz="950" b="1" dirty="0">
                <a:solidFill>
                  <a:srgbClr val="2E8B57"/>
                </a:solidFill>
                <a:latin typeface="Calibri" pitchFamily="34" charset="0"/>
                <a:cs typeface="Amiri" pitchFamily="2" charset="-78"/>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‎دارالحکومت‎ </a:t>
            </a:r>
            <a:pPr indent="0" marL="0">
              <a:buNone/>
            </a:pPr>
            <a:r>
              <a:rPr lang="en-US" sz="950" b="1" dirty="0">
                <a:solidFill>
                  <a:srgbClr val="2E8B57"/>
                </a:solidFill>
                <a:latin typeface="Calibri" pitchFamily="34" charset="0"/>
                <a:cs typeface="Amiri" pitchFamily="2" charset="-78"/>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‎لہجہ‎ </a:t>
            </a:r>
            <a:pPr indent="0" marL="0">
              <a:buNone/>
            </a:pPr>
            <a:r>
              <a:rPr lang="en-US" sz="950" b="1" dirty="0">
                <a:solidFill>
                  <a:srgbClr val="2E8B57"/>
                </a:solidFill>
                <a:latin typeface="Calibri" pitchFamily="34" charset="0"/>
                <a:cs typeface="Amiri" pitchFamily="2" charset="-78"/>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Saudi Arabia</a:t>
            </a:r>
            <a:endParaRPr lang="en-US" sz="1350" dirty="0"/>
          </a:p>
          <a:p>
            <a:pPr indent="0" marL="0">
              <a:buNone/>
            </a:pPr>
            <a:r>
              <a:rPr lang="en-US" sz="1100" i="1" dirty="0">
                <a:solidFill>
                  <a:srgbClr val="5A6472"/>
                </a:solidFill>
                <a:latin typeface="Calibri" pitchFamily="34" charset="0"/>
                <a:cs typeface="Amiri" pitchFamily="2" charset="-78"/>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Egypt</a:t>
            </a:r>
            <a:endParaRPr lang="en-US" sz="1350" dirty="0"/>
          </a:p>
          <a:p>
            <a:pPr indent="0" marL="0">
              <a:buNone/>
            </a:pPr>
            <a:r>
              <a:rPr lang="en-US" sz="1100" i="1" dirty="0">
                <a:solidFill>
                  <a:srgbClr val="5A6472"/>
                </a:solidFill>
                <a:latin typeface="Calibri" pitchFamily="34" charset="0"/>
                <a:cs typeface="Amiri" pitchFamily="2" charset="-78"/>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Iraq</a:t>
            </a:r>
            <a:endParaRPr lang="en-US" sz="1350" dirty="0"/>
          </a:p>
          <a:p>
            <a:pPr indent="0" marL="0">
              <a:buNone/>
            </a:pPr>
            <a:r>
              <a:rPr lang="en-US" sz="1100" i="1" dirty="0">
                <a:solidFill>
                  <a:srgbClr val="5A6472"/>
                </a:solidFill>
                <a:latin typeface="Calibri" pitchFamily="34" charset="0"/>
                <a:cs typeface="Amiri" pitchFamily="2" charset="-78"/>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Syria</a:t>
            </a:r>
            <a:endParaRPr lang="en-US" sz="1350" dirty="0"/>
          </a:p>
          <a:p>
            <a:pPr indent="0" marL="0">
              <a:buNone/>
            </a:pPr>
            <a:r>
              <a:rPr lang="en-US" sz="1100" i="1" dirty="0">
                <a:solidFill>
                  <a:srgbClr val="5A6472"/>
                </a:solidFill>
                <a:latin typeface="Calibri" pitchFamily="34" charset="0"/>
                <a:cs typeface="Amiri" pitchFamily="2" charset="-78"/>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Jordan</a:t>
            </a:r>
            <a:endParaRPr lang="en-US" sz="1350" dirty="0"/>
          </a:p>
          <a:p>
            <a:pPr indent="0" marL="0">
              <a:buNone/>
            </a:pPr>
            <a:r>
              <a:rPr lang="en-US" sz="1100" i="1" dirty="0">
                <a:solidFill>
                  <a:srgbClr val="5A6472"/>
                </a:solidFill>
                <a:latin typeface="Calibri" pitchFamily="34" charset="0"/>
                <a:cs typeface="Amiri" pitchFamily="2" charset="-78"/>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Lebanon</a:t>
            </a:r>
            <a:endParaRPr lang="en-US" sz="1350" dirty="0"/>
          </a:p>
          <a:p>
            <a:pPr indent="0" marL="0">
              <a:buNone/>
            </a:pPr>
            <a:r>
              <a:rPr lang="en-US" sz="1100" i="1" dirty="0">
                <a:solidFill>
                  <a:srgbClr val="5A6472"/>
                </a:solidFill>
                <a:latin typeface="Calibri" pitchFamily="34" charset="0"/>
                <a:cs typeface="Amiri" pitchFamily="2" charset="-78"/>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Palestine</a:t>
            </a:r>
            <a:endParaRPr lang="en-US" sz="1350" dirty="0"/>
          </a:p>
          <a:p>
            <a:pPr indent="0" marL="0">
              <a:buNone/>
            </a:pPr>
            <a:r>
              <a:rPr lang="en-US" sz="1100" i="1" dirty="0">
                <a:solidFill>
                  <a:srgbClr val="5A6472"/>
                </a:solidFill>
                <a:latin typeface="Calibri" pitchFamily="34" charset="0"/>
                <a:cs typeface="Amiri" pitchFamily="2" charset="-78"/>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Kuwait</a:t>
            </a:r>
            <a:endParaRPr lang="en-US" sz="1350" dirty="0"/>
          </a:p>
          <a:p>
            <a:pPr indent="0" marL="0">
              <a:buNone/>
            </a:pPr>
            <a:r>
              <a:rPr lang="en-US" sz="1100" i="1" dirty="0">
                <a:solidFill>
                  <a:srgbClr val="5A6472"/>
                </a:solidFill>
                <a:latin typeface="Calibri" pitchFamily="34" charset="0"/>
                <a:cs typeface="Amiri" pitchFamily="2" charset="-78"/>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UAE</a:t>
            </a:r>
            <a:endParaRPr lang="en-US" sz="1350" dirty="0"/>
          </a:p>
          <a:p>
            <a:pPr indent="0" marL="0">
              <a:buNone/>
            </a:pPr>
            <a:r>
              <a:rPr lang="en-US" sz="1100" i="1" dirty="0">
                <a:solidFill>
                  <a:srgbClr val="5A6472"/>
                </a:solidFill>
                <a:latin typeface="Calibri" pitchFamily="34" charset="0"/>
                <a:cs typeface="Amiri" pitchFamily="2" charset="-78"/>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Qatar</a:t>
            </a:r>
            <a:endParaRPr lang="en-US" sz="1350" dirty="0"/>
          </a:p>
          <a:p>
            <a:pPr indent="0" marL="0">
              <a:buNone/>
            </a:pPr>
            <a:r>
              <a:rPr lang="en-US" sz="1100" i="1" dirty="0">
                <a:solidFill>
                  <a:srgbClr val="5A6472"/>
                </a:solidFill>
                <a:latin typeface="Calibri" pitchFamily="34" charset="0"/>
                <a:cs typeface="Amiri" pitchFamily="2" charset="-78"/>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Bahrain</a:t>
            </a:r>
            <a:endParaRPr lang="en-US" sz="1350" dirty="0"/>
          </a:p>
          <a:p>
            <a:pPr indent="0" marL="0">
              <a:buNone/>
            </a:pPr>
            <a:r>
              <a:rPr lang="en-US" sz="1100" i="1" dirty="0">
                <a:solidFill>
                  <a:srgbClr val="5A6472"/>
                </a:solidFill>
                <a:latin typeface="Calibri" pitchFamily="34" charset="0"/>
                <a:cs typeface="Amiri" pitchFamily="2" charset="-78"/>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Oman</a:t>
            </a:r>
            <a:endParaRPr lang="en-US" sz="1350" dirty="0"/>
          </a:p>
          <a:p>
            <a:pPr indent="0" marL="0">
              <a:buNone/>
            </a:pPr>
            <a:r>
              <a:rPr lang="en-US" sz="1100" i="1" dirty="0">
                <a:solidFill>
                  <a:srgbClr val="5A6472"/>
                </a:solidFill>
                <a:latin typeface="Calibri" pitchFamily="34" charset="0"/>
                <a:cs typeface="Amiri" pitchFamily="2" charset="-78"/>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Yemen</a:t>
            </a:r>
            <a:endParaRPr lang="en-US" sz="1350" dirty="0"/>
          </a:p>
          <a:p>
            <a:pPr indent="0" marL="0">
              <a:buNone/>
            </a:pPr>
            <a:r>
              <a:rPr lang="en-US" sz="1100" i="1" dirty="0">
                <a:solidFill>
                  <a:srgbClr val="5A6472"/>
                </a:solidFill>
                <a:latin typeface="Calibri" pitchFamily="34" charset="0"/>
                <a:cs typeface="Amiri" pitchFamily="2" charset="-78"/>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Libya</a:t>
            </a:r>
            <a:endParaRPr lang="en-US" sz="1350" dirty="0"/>
          </a:p>
          <a:p>
            <a:pPr indent="0" marL="0">
              <a:buNone/>
            </a:pPr>
            <a:r>
              <a:rPr lang="en-US" sz="1100" i="1" dirty="0">
                <a:solidFill>
                  <a:srgbClr val="5A6472"/>
                </a:solidFill>
                <a:latin typeface="Calibri" pitchFamily="34" charset="0"/>
                <a:cs typeface="Amiri" pitchFamily="2" charset="-78"/>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Tunisia</a:t>
            </a:r>
            <a:endParaRPr lang="en-US" sz="1350" dirty="0"/>
          </a:p>
          <a:p>
            <a:pPr indent="0" marL="0">
              <a:buNone/>
            </a:pPr>
            <a:r>
              <a:rPr lang="en-US" sz="1100" i="1" dirty="0">
                <a:solidFill>
                  <a:srgbClr val="5A6472"/>
                </a:solidFill>
                <a:latin typeface="Calibri" pitchFamily="34" charset="0"/>
                <a:cs typeface="Amiri" pitchFamily="2" charset="-78"/>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Algeria</a:t>
            </a:r>
            <a:endParaRPr lang="en-US" sz="1350" dirty="0"/>
          </a:p>
          <a:p>
            <a:pPr indent="0" marL="0">
              <a:buNone/>
            </a:pPr>
            <a:r>
              <a:rPr lang="en-US" sz="1100" i="1" dirty="0">
                <a:solidFill>
                  <a:srgbClr val="5A6472"/>
                </a:solidFill>
                <a:latin typeface="Calibri" pitchFamily="34" charset="0"/>
                <a:cs typeface="Amiri" pitchFamily="2" charset="-78"/>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Morocco</a:t>
            </a:r>
            <a:endParaRPr lang="en-US" sz="1350" dirty="0"/>
          </a:p>
          <a:p>
            <a:pPr indent="0" marL="0">
              <a:buNone/>
            </a:pPr>
            <a:r>
              <a:rPr lang="en-US" sz="1100" i="1" dirty="0">
                <a:solidFill>
                  <a:srgbClr val="5A6472"/>
                </a:solidFill>
                <a:latin typeface="Calibri" pitchFamily="34" charset="0"/>
                <a:cs typeface="Amiri" pitchFamily="2" charset="-78"/>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Mauritania</a:t>
            </a:r>
            <a:endParaRPr lang="en-US" sz="1350" dirty="0"/>
          </a:p>
          <a:p>
            <a:pPr indent="0" marL="0">
              <a:buNone/>
            </a:pPr>
            <a:r>
              <a:rPr lang="en-US" sz="1100" i="1" dirty="0">
                <a:solidFill>
                  <a:srgbClr val="5A6472"/>
                </a:solidFill>
                <a:latin typeface="Calibri" pitchFamily="34" charset="0"/>
                <a:cs typeface="Amiri" pitchFamily="2" charset="-78"/>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Sudan</a:t>
            </a:r>
            <a:endParaRPr lang="en-US" sz="1350" dirty="0"/>
          </a:p>
          <a:p>
            <a:pPr indent="0" marL="0">
              <a:buNone/>
            </a:pPr>
            <a:r>
              <a:rPr lang="en-US" sz="1100" i="1" dirty="0">
                <a:solidFill>
                  <a:srgbClr val="5A6472"/>
                </a:solidFill>
                <a:latin typeface="Calibri" pitchFamily="34" charset="0"/>
                <a:cs typeface="Amiri" pitchFamily="2" charset="-78"/>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Somalia</a:t>
            </a:r>
            <a:endParaRPr lang="en-US" sz="1350" dirty="0"/>
          </a:p>
          <a:p>
            <a:pPr indent="0" marL="0">
              <a:buNone/>
            </a:pPr>
            <a:r>
              <a:rPr lang="en-US" sz="1100" i="1" dirty="0">
                <a:solidFill>
                  <a:srgbClr val="5A6472"/>
                </a:solidFill>
                <a:latin typeface="Calibri" pitchFamily="34" charset="0"/>
                <a:cs typeface="Amiri" pitchFamily="2" charset="-78"/>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Djibouti</a:t>
            </a:r>
            <a:endParaRPr lang="en-US" sz="1350" dirty="0"/>
          </a:p>
          <a:p>
            <a:pPr indent="0" marL="0">
              <a:buNone/>
            </a:pPr>
            <a:r>
              <a:rPr lang="en-US" sz="1100" i="1" dirty="0">
                <a:solidFill>
                  <a:srgbClr val="5A6472"/>
                </a:solidFill>
                <a:latin typeface="Calibri" pitchFamily="34" charset="0"/>
                <a:cs typeface="Amiri" pitchFamily="2" charset="-78"/>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Comoros</a:t>
            </a:r>
            <a:endParaRPr lang="en-US" sz="1350" dirty="0"/>
          </a:p>
          <a:p>
            <a:pPr indent="0" marL="0">
              <a:buNone/>
            </a:pPr>
            <a:r>
              <a:rPr lang="en-US" sz="1100" i="1" dirty="0">
                <a:solidFill>
                  <a:srgbClr val="5A6472"/>
                </a:solidFill>
                <a:latin typeface="Calibri" pitchFamily="34" charset="0"/>
                <a:cs typeface="Amiri" pitchFamily="2" charset="-78"/>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Standard Arabic</a:t>
            </a:r>
            <a:endParaRPr lang="en-US" sz="1350" dirty="0"/>
          </a:p>
          <a:p>
            <a:pPr indent="0" marL="0">
              <a:buNone/>
            </a:pPr>
            <a:r>
              <a:rPr lang="en-US" sz="1100" i="1" dirty="0">
                <a:solidFill>
                  <a:srgbClr val="5A6472"/>
                </a:solidFill>
                <a:latin typeface="Calibri" pitchFamily="34" charset="0"/>
                <a:cs typeface="Amiri" pitchFamily="2" charset="-78"/>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dialects</a:t>
            </a:r>
            <a:endParaRPr lang="en-US" sz="1350" dirty="0"/>
          </a:p>
          <a:p>
            <a:pPr indent="0" marL="0">
              <a:buNone/>
            </a:pPr>
            <a:r>
              <a:rPr lang="en-US" sz="1100" i="1" dirty="0">
                <a:solidFill>
                  <a:srgbClr val="5A6472"/>
                </a:solidFill>
                <a:latin typeface="Calibri" pitchFamily="34" charset="0"/>
                <a:cs typeface="Amiri" pitchFamily="2" charset="-78"/>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Amazigh (Berber)</a:t>
            </a:r>
            <a:endParaRPr lang="en-US" sz="1350" dirty="0"/>
          </a:p>
          <a:p>
            <a:pPr indent="0" marL="0">
              <a:buNone/>
            </a:pPr>
            <a:r>
              <a:rPr lang="en-US" sz="1100" i="1" dirty="0">
                <a:solidFill>
                  <a:srgbClr val="5A6472"/>
                </a:solidFill>
                <a:latin typeface="Calibri" pitchFamily="34" charset="0"/>
                <a:cs typeface="Amiri" pitchFamily="2" charset="-78"/>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Kurdish</a:t>
            </a:r>
            <a:endParaRPr lang="en-US" sz="1350" dirty="0"/>
          </a:p>
          <a:p>
            <a:pPr indent="0" marL="0">
              <a:buNone/>
            </a:pPr>
            <a:r>
              <a:rPr lang="en-US" sz="1100" i="1" dirty="0">
                <a:solidFill>
                  <a:srgbClr val="5A6472"/>
                </a:solidFill>
                <a:latin typeface="Calibri" pitchFamily="34" charset="0"/>
                <a:cs typeface="Amiri" pitchFamily="2" charset="-78"/>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 identity</a:t>
            </a:r>
            <a:endParaRPr lang="en-US" sz="1350" dirty="0"/>
          </a:p>
          <a:p>
            <a:pPr indent="0" marL="0">
              <a:buNone/>
            </a:pPr>
            <a:r>
              <a:rPr lang="en-US" sz="1100" i="1" dirty="0">
                <a:solidFill>
                  <a:srgbClr val="5A6472"/>
                </a:solidFill>
                <a:latin typeface="Calibri" pitchFamily="34" charset="0"/>
                <a:cs typeface="Amiri" pitchFamily="2" charset="-78"/>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capital city</a:t>
            </a:r>
            <a:endParaRPr lang="en-US" sz="1350" dirty="0"/>
          </a:p>
          <a:p>
            <a:pPr indent="0" marL="0">
              <a:buNone/>
            </a:pPr>
            <a:r>
              <a:rPr lang="en-US" sz="1100" i="1" dirty="0">
                <a:solidFill>
                  <a:srgbClr val="5A6472"/>
                </a:solidFill>
                <a:latin typeface="Calibri" pitchFamily="34" charset="0"/>
                <a:cs typeface="Amiri" pitchFamily="2" charset="-78"/>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arose / arises</a:t>
            </a:r>
            <a:endParaRPr lang="en-US" sz="1350" dirty="0"/>
          </a:p>
          <a:p>
            <a:pPr indent="0" marL="0">
              <a:buNone/>
            </a:pPr>
            <a:r>
              <a:rPr lang="en-US" sz="1100" i="1" dirty="0">
                <a:solidFill>
                  <a:srgbClr val="5A6472"/>
                </a:solidFill>
                <a:latin typeface="Calibri" pitchFamily="34" charset="0"/>
                <a:cs typeface="Amiri" pitchFamily="2" charset="-78"/>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expanded / expands</a:t>
            </a:r>
            <a:endParaRPr lang="en-US" sz="1350" dirty="0"/>
          </a:p>
          <a:p>
            <a:pPr indent="0" marL="0">
              <a:buNone/>
            </a:pPr>
            <a:r>
              <a:rPr lang="en-US" sz="1100" i="1" dirty="0">
                <a:solidFill>
                  <a:srgbClr val="5A6472"/>
                </a:solidFill>
                <a:latin typeface="Calibri" pitchFamily="34" charset="0"/>
                <a:cs typeface="Amiri" pitchFamily="2" charset="-78"/>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is an adjective: it agrees — </a:t>
            </a:r>
            <a:pPr algn="l" indent="0" marL="0">
              <a:buNone/>
            </a:pPr>
            <a:r>
              <a:rPr lang="ar-SA" altLang="en-US" sz="1500" b="1" dirty="0">
                <a:solidFill>
                  <a:srgbClr val="1B3B6F"/>
                </a:solidFill>
                <a:latin typeface="Amiri" pitchFamily="2" charset="-78"/>
                <a:ea typeface="Amiri" pitchFamily="2" charset="-78"/>
                <a:cs typeface="Amiri" pitchFamily="2" charset="-78"/>
              </a:rPr>
              <a:t>طَالِبٌ جَزَائِرِيٌّ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طَالِبَةٌ جَزَائِرِيَّةٌ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country + </a:t>
            </a:r>
            <a:pPr algn="l" indent="0" marL="0">
              <a:buNone/>
            </a:pPr>
            <a:r>
              <a:rPr lang="ar-SA" altLang="en-US" sz="1350" dirty="0">
                <a:solidFill>
                  <a:srgbClr val="5A6472"/>
                </a:solidFill>
                <a:latin typeface="Amiri" pitchFamily="2" charset="-78"/>
                <a:ea typeface="Amiri" pitchFamily="2" charset="-78"/>
                <a:cs typeface="Amiri" pitchFamily="2" charset="-78"/>
              </a:rPr>
              <a:t>ـِيٌّ</a:t>
            </a:r>
            <a:pPr algn="l" indent="0" marL="0">
              <a:buNone/>
            </a:pPr>
            <a:r>
              <a:rPr lang="en-US" sz="1050"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ـِيَّةٌ</a:t>
            </a:r>
            <a:pPr algn="l" indent="0" marL="0">
              <a:buNone/>
            </a:pPr>
            <a:r>
              <a:rPr lang="en-US" sz="1050" dirty="0">
                <a:solidFill>
                  <a:srgbClr val="5A6472"/>
                </a:solidFill>
                <a:latin typeface="Calibri" pitchFamily="34" charset="0"/>
                <a:cs typeface="Amiri" pitchFamily="2" charset="-78"/>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adds tāʾ marbūṭa after the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لُبْنَان</a:t>
            </a:r>
            <a:pPr algn="l" indent="0" marL="0">
              <a:buNone/>
            </a:pPr>
            <a:r>
              <a:rPr lang="en-US" sz="1050" i="1" dirty="0">
                <a:solidFill>
                  <a:srgbClr val="8A6D1E"/>
                </a:solidFill>
                <a:latin typeface="Calibri" pitchFamily="34" charset="0"/>
                <a:cs typeface="Amiri" pitchFamily="2" charset="-78"/>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مَغْرِبِيٌّ</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العَرَبِيَّةُ وَ</a:t>
            </a:r>
            <a:pPr rtl="1" algn="ctr" indent="0" marL="0">
              <a:buNone/>
            </a:pPr>
            <a:r>
              <a:rPr lang="ar-SA" altLang="en-US" sz="2550" b="1" dirty="0">
                <a:solidFill>
                  <a:srgbClr val="1D5FBF"/>
                </a:solidFill>
                <a:latin typeface="Amiri" pitchFamily="2" charset="-78"/>
                <a:ea typeface="Amiri" pitchFamily="2" charset="-78"/>
                <a:cs typeface="Amiri" pitchFamily="2" charset="-78"/>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زُرْتُ </a:t>
            </a:r>
            <a:pPr rtl="1" algn="ctr" indent="0" marL="0">
              <a:buNone/>
            </a:pPr>
            <a:r>
              <a:rPr lang="ar-SA" altLang="en-US" sz="2800" b="1" dirty="0">
                <a:solidFill>
                  <a:srgbClr val="D6336C"/>
                </a:solidFill>
                <a:latin typeface="Amiri" pitchFamily="2" charset="-78"/>
                <a:ea typeface="Amiri" pitchFamily="2" charset="-78"/>
                <a:cs typeface="Amiri" pitchFamily="2" charset="-78"/>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مَغْرِبِيٌّ</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وَالطَّالِبَةُ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مَغْرِبِيَّةٌ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تُسْتَعْمَلُ فِيهِ العَرَبِيَّةُ وَ</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الأَمَازِيغِيَّةُ</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وَقَدْ زُرْتُ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مِصْرَ</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Egypt → Egyptian (m.) / (f.)</a:t>
            </a:r>
            <a:endParaRPr lang="en-US" sz="1250" dirty="0"/>
          </a:p>
          <a:p>
            <a:pPr indent="0" marL="0">
              <a:buNone/>
            </a:pPr>
            <a:r>
              <a:rPr lang="en-US" sz="1050" i="1" dirty="0">
                <a:solidFill>
                  <a:srgbClr val="8A6D1E"/>
                </a:solidFill>
                <a:latin typeface="Calibri" pitchFamily="34" charset="0"/>
                <a:cs typeface="Amiri" pitchFamily="2" charset="-78"/>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from Lebanon</a:t>
            </a:r>
            <a:endParaRPr lang="en-US" sz="1250" dirty="0"/>
          </a:p>
          <a:p>
            <a:pPr indent="0" marL="0">
              <a:buNone/>
            </a:pPr>
            <a:r>
              <a:rPr lang="en-US" sz="1050" i="1" dirty="0">
                <a:solidFill>
                  <a:srgbClr val="8A6D1E"/>
                </a:solidFill>
                <a:latin typeface="Calibri" pitchFamily="34" charset="0"/>
                <a:cs typeface="Amiri" pitchFamily="2" charset="-78"/>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considered one of the most widespread languages</a:t>
            </a:r>
            <a:endParaRPr lang="en-US" sz="1250" dirty="0"/>
          </a:p>
          <a:p>
            <a:pPr indent="0" marL="0">
              <a:buNone/>
            </a:pPr>
            <a:r>
              <a:rPr lang="en-US" sz="1050" i="1" dirty="0">
                <a:solidFill>
                  <a:srgbClr val="8A6D1E"/>
                </a:solidFill>
                <a:latin typeface="Calibri" pitchFamily="34" charset="0"/>
                <a:cs typeface="Amiri" pitchFamily="2" charset="-78"/>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cs typeface="Amiri" pitchFamily="2" charset="-78"/>
              </a:rPr>
              <a:t>WE DO · PICTURE MATCH · WEBSITE GAME “COUNTRY–LANGUAGE MATCH (TOPIC GAME)”</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France · French</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Egypt · Arabic</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Britain · English</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مِصْرُ دَوْلَةٌ عَرَبِيَّةٌ.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أَعِيشُ فِي بِرِيطَانْيَا وَأَتَكَلَّمُ الْإِنْجِلِيزِيَّةَ.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فَرَنْسَا يَتَكَلَّمُ النَّاسُ الْفَرَنْسِيَّةَ.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الدَّوْلَةَ وَاللُّغَةَ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France · French</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فَرَنْسَا يَتَكَلَّمُ النَّاسُ الْفَرَنْسِيَّةَ.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France, people speak French.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Egypt · Arabic</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مِصْرُ دَوْلَةٌ عَرَبِيَّةٌ.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Egypt is an Arab country.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Britain · English</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أَعِيشُ فِي بِرِيطَانْيَا وَأَتَكَلَّمُ الْإِنْجِلِيزِيَّةَ.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Britain and I speak English.</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مِصْر</a:t>
            </a:r>
            <a:pPr algn="l" indent="0" marL="0">
              <a:buNone/>
            </a:pPr>
            <a:r>
              <a:rPr lang="en-US" sz="1050" i="1" dirty="0">
                <a:solidFill>
                  <a:srgbClr val="8A6D1E"/>
                </a:solidFill>
                <a:latin typeface="Calibri" pitchFamily="34" charset="0"/>
                <a:cs typeface="Amiri" pitchFamily="2" charset="-78"/>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الفُصْحَى</a:t>
            </a:r>
            <a:pPr algn="l" indent="0" marL="0">
              <a:buNone/>
            </a:pPr>
            <a:r>
              <a:rPr lang="en-US" sz="1250" dirty="0">
                <a:solidFill>
                  <a:srgbClr val="9AA1AB"/>
                </a:solidFill>
                <a:latin typeface="Calibri" pitchFamily="34" charset="0"/>
                <a:cs typeface="Amiri" pitchFamily="2" charset="-78"/>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الفُصْحَى</a:t>
            </a:r>
            <a:pPr algn="l" indent="0" marL="0">
              <a:buNone/>
            </a:pPr>
            <a:r>
              <a:rPr lang="en-US" sz="1150" b="1" dirty="0">
                <a:solidFill>
                  <a:srgbClr val="1F2A37"/>
                </a:solidFill>
                <a:latin typeface="Calibri" pitchFamily="34" charset="0"/>
                <a:cs typeface="Amiri" pitchFamily="2" charset="-78"/>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الفُصْحَى</a:t>
            </a:r>
            <a:pPr algn="l" indent="0" marL="0">
              <a:buNone/>
            </a:pPr>
            <a:r>
              <a:rPr lang="en-US" sz="1050" i="1" dirty="0">
                <a:solidFill>
                  <a:srgbClr val="8A6D1E"/>
                </a:solidFill>
                <a:latin typeface="Calibri" pitchFamily="34" charset="0"/>
                <a:cs typeface="Amiri" pitchFamily="2" charset="-78"/>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لُبْنَان</a:t>
            </a:r>
            <a:pPr algn="l" indent="0" marL="0">
              <a:buNone/>
            </a:pPr>
            <a:r>
              <a:rPr lang="en-US" sz="1150" b="1" dirty="0">
                <a:solidFill>
                  <a:srgbClr val="1B3B6F"/>
                </a:solidFill>
                <a:latin typeface="Calibri" pitchFamily="34" charset="0"/>
                <a:cs typeface="Amiri" pitchFamily="2" charset="-78"/>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Country–language map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Country–language map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countries, nationalities and languages on a map, then give location and identity clues for a partner to solve.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 a map, match 6 countries to their nationality and main language (cards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country secretly.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three clues: location, nationality, language — no country name.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 guess; check the nisba agreement (m. / f.).</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one clue: “yatakallamu an-nās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a nisba adjective and a preposition (fī shamāl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 residence vs nationality (huwa miṣriyy lākinnahu yaskunu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تَقَعُ فِي شَمَالِ / جَنُوبِ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in the north / south of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يَتَكَلَّمُ النَّاسُ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people speak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مَغْرِبِيٌّ / هِيَ مَغْرِبِيَّةٌ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Moroccan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يَسْكُنُ فِي … لٰكِنَّهُ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lives in … but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introduce a country and its languages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اِخْتَرْ دَوْلَةً عَرَبِيَّةً. مَا عَاصِمَتُهَا؟ وَمَا جِنْسِيَّةُ أَهْلِهَا؟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لُغَاتٍ تُسْتَعْمَلُ هُنَاكَ إِلَى جَانِبِ العَرَبِيَّةِ؟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الفُصْحَى وَاللَّهَجَاتِ؟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أَخْتَارُ ___ . عَاصِمَتُهَا ___ ، وَالطَّالِبُ مِنْهَا ___ .</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تُسْتَعْمَلُ ___ إِلَى جَانِبِ العَرَبِيَّةِ فِي ___ .</a:t>
            </a:r>
            <a:endParaRPr lang="ar-SA" sz="145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نَكْتُبُ بِالفُصْحَى، وَلٰكِنْ ___ .</a:t>
            </a:r>
            <a:endParaRPr lang="ar-SA" sz="16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اِخْتَرْ دَوْلَةً عَرَبِيَّةً وَتَحَدَّثْ عَنْهَا.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Choose an Arab country and talk about it.</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أَخْتَارُ المَغْرِبَ. عَاصِمَتُهُ الرِّبَاطُ، وَأَهْلُهُ مَغَارِبَةٌ، وَالوَاحِدُ مِنْهُمْ مَغْرِبِيٌّ.</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choose Morocco. Its capital is Rabat, its people are Moroccans, and one of them is a Moroccan.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diptotes have no tanwīn (</a:t>
            </a:r>
            <a:pPr algn="l" indent="0" marL="0">
              <a:buNone/>
            </a:pPr>
            <a:r>
              <a:rPr lang="ar-SA" altLang="en-US" sz="1700" dirty="0">
                <a:solidFill>
                  <a:srgbClr val="1F2A37"/>
                </a:solidFill>
                <a:latin typeface="Amiri" pitchFamily="2" charset="-78"/>
                <a:ea typeface="Amiri" pitchFamily="2" charset="-78"/>
                <a:cs typeface="Amiri" pitchFamily="2" charset="-78"/>
              </a:rPr>
              <a:t>مِنْ لُبْنَانَ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سَافَرْنَا إِلَى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الرَّبِيعِ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تُونُس</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ea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nationality for </a:t>
            </a:r>
            <a:pPr algn="l" indent="0" marL="0">
              <a:buNone/>
            </a:pPr>
            <a:r>
              <a:rPr lang="ar-SA" altLang="en-US" sz="1650" b="1" dirty="0">
                <a:solidFill>
                  <a:srgbClr val="1B3B6F"/>
                </a:solidFill>
                <a:latin typeface="Amiri" pitchFamily="2" charset="-78"/>
                <a:ea typeface="Amiri" pitchFamily="2" charset="-78"/>
                <a:cs typeface="Amiri" pitchFamily="2" charset="-78"/>
              </a:rPr>
              <a:t>العِرَاق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singular nisba is </a:t>
            </a:r>
            <a:pPr algn="l" indent="0" marL="0">
              <a:buNone/>
            </a:pPr>
            <a:r>
              <a:rPr lang="ar-SA" altLang="en-US" sz="1350" dirty="0">
                <a:solidFill>
                  <a:srgbClr val="8A6D1E"/>
                </a:solidFill>
                <a:latin typeface="Amiri" pitchFamily="2" charset="-78"/>
                <a:ea typeface="Amiri" pitchFamily="2" charset="-78"/>
                <a:cs typeface="Amiri" pitchFamily="2" charset="-78"/>
              </a:rPr>
              <a:t>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Nisba: which is the feminine for </a:t>
            </a:r>
            <a:pPr algn="l" indent="0" marL="0">
              <a:buNone/>
            </a:pPr>
            <a:r>
              <a:rPr lang="ar-SA" altLang="en-US" sz="1650" b="1" dirty="0">
                <a:solidFill>
                  <a:srgbClr val="1B3B6F"/>
                </a:solidFill>
                <a:latin typeface="Amiri" pitchFamily="2" charset="-78"/>
                <a:ea typeface="Amiri" pitchFamily="2" charset="-78"/>
                <a:cs typeface="Amiri" pitchFamily="2" charset="-78"/>
              </a:rPr>
              <a:t>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tāʾ marbūṭa after the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قَطَر</a:t>
            </a:r>
            <a:pPr algn="l" indent="0" marL="0">
              <a:buNone/>
            </a:pPr>
            <a:r>
              <a:rPr lang="en-US" sz="1050" i="1" dirty="0">
                <a:solidFill>
                  <a:srgbClr val="8A6D1E"/>
                </a:solidFill>
                <a:latin typeface="Calibri" pitchFamily="34" charset="0"/>
                <a:cs typeface="Amiri" pitchFamily="2" charset="-78"/>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الرِّبَاطُ</a:t>
            </a:r>
            <a:pPr algn="l" indent="0" marL="0">
              <a:buNone/>
            </a:pPr>
            <a:r>
              <a:rPr lang="en-US" sz="1050" i="1" dirty="0">
                <a:solidFill>
                  <a:srgbClr val="8A6D1E"/>
                </a:solidFill>
                <a:latin typeface="Calibri" pitchFamily="34" charset="0"/>
                <a:cs typeface="Amiri" pitchFamily="2" charset="-78"/>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الصُّومَال</a:t>
            </a:r>
            <a:pPr algn="l" indent="0" marL="0">
              <a:buNone/>
            </a:pPr>
            <a:r>
              <a:rPr lang="en-US" sz="1050" i="1" dirty="0">
                <a:solidFill>
                  <a:srgbClr val="8A6D1E"/>
                </a:solidFill>
                <a:latin typeface="Calibri" pitchFamily="34" charset="0"/>
                <a:cs typeface="Amiri" pitchFamily="2" charset="-78"/>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Countries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TE-L02 · Multilingual Life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speaker</a:t>
            </a:r>
            <a:pPr indent="0" marL="0">
              <a:buNone/>
            </a:pPr>
            <a:r>
              <a:rPr lang="ar-SA" sz="1000" i="1" dirty="0">
                <a:solidFill>
                  <a:srgbClr val="5A6472"/>
                </a:solidFill>
                <a:latin typeface="Calibri" pitchFamily="34" charset="0"/>
                <a:ea typeface="Amiri" pitchFamily="2" charset="-78"/>
                <a:cs typeface="Amiri" pitchFamily="2" charset="-78"/>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spread, reach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loanwords</a:t>
            </a:r>
            <a:pPr indent="0" marL="0">
              <a:buNone/>
            </a:pPr>
            <a:r>
              <a:rPr lang="ar-SA" sz="1000" i="1" dirty="0">
                <a:solidFill>
                  <a:srgbClr val="5A6472"/>
                </a:solidFill>
                <a:latin typeface="Calibri" pitchFamily="34" charset="0"/>
                <a:ea typeface="Amiri" pitchFamily="2" charset="-78"/>
                <a:cs typeface="Amiri" pitchFamily="2" charset="-78"/>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enriches</a:t>
            </a:r>
            <a:pPr indent="0" marL="0">
              <a:buNone/>
            </a:pPr>
            <a:r>
              <a:rPr lang="ar-SA" sz="1000" i="1" dirty="0">
                <a:solidFill>
                  <a:srgbClr val="5A6472"/>
                </a:solidFill>
                <a:latin typeface="Calibri" pitchFamily="34" charset="0"/>
                <a:ea typeface="Amiri" pitchFamily="2" charset="-78"/>
                <a:cs typeface="Amiri" pitchFamily="2" charset="-78"/>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TE-L02 · Multilingual Life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الحَيَاةُ مُتَعَدِّدَةُ اللُّغَاتِ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TE-L01 · Countries, Nationalities and Languages</dc:title>
  <dc:subject>PptxGenJS Presentation</dc:subject>
  <dc:creator>Al Madina Online School · Arabic Department</dc:creator>
  <cp:lastModifiedBy>Al Madina Online School · Arabic Department</cp:lastModifiedBy>
  <cp:revision>1</cp:revision>
  <dcterms:created xsi:type="dcterms:W3CDTF">2026-10-11T06:44:14Z</dcterms:created>
  <dcterms:modified xsi:type="dcterms:W3CDTF">2026-10-11T06:44:14Z</dcterms:modified>
</cp:coreProperties>
</file>