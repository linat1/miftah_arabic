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TE-L11 — Topic E Integrated Communication Workshop. Website: Advanced Topics › Topic E (The International World) › Lesson 11.
The website builds this lesson on the D6-L11 lesson engine, with the Topic focus “Sustain spontaneous and connected communication across international contexts.” (grammar: Mixed tenses; register; cohesion and accuracy; skills: All four skills) and the application challenge “International fair information gap”.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TE-L11. The website lesson “Topic E Consolidation — Complete Review and Speaking Preparation”: vocabulary, grammar rules and quiz, patterns, common mistakes, sorter, listening, reading, speaking prompts and model, writing task and model, differentiation, final check and the lesson mission. Picture match: website visual game “Topic E Consolidation — Complete Review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answer four cultural questions aloud with the frames, each verb with its preposition. Develop: add a reason (لِأَنَّ) and one qualifier to every answer. Stretch: a full topic answer across three tenses with a supported opinion and no overgeneralisation — then the website ~80-word self-review.
• This is the speaking rehearsal for the TE-L12 assessment (topic conversation on ثَقَافَتِي وَهُوِيَّتِي). Run the checklist ALOUD: mirror the tense → fix the preposition → add a reason → qualify the claim.
• Fairness and adab: كُلُّ العَرَبِ / كُلُّ المُسْلِمِينَ … is inaccurate as well as unkind to real diversity. One extra second (فِي بَعْضِ البُلْدَانِ) keeps statements true. Collect each student’s “one priority” for L12.
• TEACHER-WRITTEN ITEMS: one English quiz option replaced with Arabic, the English-description mistake replaced with an Arabic tense slip, and English added to the patterns and speaking model; the website visual game repeats TE-L04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D6-L10 (website). Questions 4–5 retrieve D6-L10 (website) (hedges · كَانَ + present).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Mirror the tense → fix the preposition → add a reason → qualify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علم، عام are shared — عام in Urdu means “common, general”, the root of Arabic أُعَمِّمُ (I generalise). CAREFUL: Urdu عبارت = a passage of text; Arabic بِعِبَارَةٍ أُخْرَى = in other words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with control (website vocabulary (1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with control (website vocabulary (2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Topic E spine to reuse (website vocabulary (1 of 2)). Hear → Say → See → Use. Transliteration is printed for Core students (cover it for Develop/Stretch).
FLEX: teach if time allows; otherwise these are on the website vocabulary tab for homework.
The Topic E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Topic E spine to reuse (website vocabulary (2 of 2)). Hear → Say → See → Use. Transliteration is printed for Core students (cover it for Develop/Stretch).
FLEX: teach if time allows; otherwise these are on the website vocabulary tab for homework.
The Topic E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(1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(2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“Mirror the tense of the question” (past question → past answer) and “Cultural verb plus preposition” (say the verb and the preposition as one unit so the pair never comes apart under pressure).
Drill: teacher says the verb, class answers with the preposition — يَحْتَفِلُ → بِـ · يَنْتَمِي → إِلَى · يَتَكَيَّفُ → مَعَ · يَحْتَفِظُ → بِـ · يَعْتَزُّ → بِـ · يَطْمَحُ →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“Extend with a reason or an example” (a bare answer scores little; one extension turns it into a response) and “Qualify as you speak” (a qualifier keeps a cultural statement accurate and shows control of register).
Website teaching points: “Hedge while you speak, not afterwards.” · “One accurate cultural verb beats three careless ones — examiners hear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checklist you can run while speaking: mirror the tense, fix the preposition, add a reason, qualify the claim.”
• Mirror the tense of the question: If the examiner asks with a past verb, answer with one. Switching to the present is the commonest avoidance pattern.
• Cultural verb plus preposition: Say the verb and the preposition as one unit so the pair never comes apart under pressure.
• Extend with a reason or an example: A bare answer scores little; one extension turns it into a response.
• Qualify as you speak: A qualifier keeps a cultural statement accurate and shows control of register.
Website common error: Overstating a cultural claim while speaking. Saying كُلُّ العَرَبِ is both inaccurate and avoidable; فِي بَعْضِ البُلْدَانِ costs one extra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listening (the candidate). Model the repair on purpose: start with the present passive تُزَيَّنُ, stop, and self-correct to the past زُيِّنَتْ with عَفْوًا، أَقْصِدُ. Students hear that a repair in Arabic is a strength,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(“International Fair Relay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“International Fair Relay”: a country–language stand, a hospitality stand, a traditions stand.
Website feedback lines: The stand gives country and language information. · The stand is about hospitality and greeting customs. · The fair stand combines clothing, food and celebrations.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(“International Fair Relay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“International Fair Relay”: a country–language stand, a hospitality stand, a traditions stand.
Website feedback lines: The stand gives country and language information. · The stand is about hospitality and greeting customs. · The fair stand combines clothing, food and celebrations.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her time-buying, repair and qualifying phrases.
Listen 1: just listen. Listen 2: note answers. Then chat the letters.
Support: after the second listening, show the read-along slide (Arabic + English, line by line) for Core students.
SCRIPT (read aloud):
المُمْتَحِنُ: صِفْ مُنَاسَبَةً ثَقَافِيَّةً مَرَرْتَ بِهَا. الطَّالِبَةُ: دَعْنِي أُفَكِّرُ. فِي العَامِ المَاضِي حَضَرْتُ حَفْلًا فِي المَرْكَزِ الثَّقَافِيِّ، وَتُزَيَّنُ القَاعَةُ عَادَةً بِالأَعْلَامِ وَالفَوَانِيسِ. عَفْوًا، أَقْصِدُ أَنَّهَا زُيِّنَتْ فِي ذٰلِكَ اليَوْمِ. المُمْتَحِنُ: وَهَلْ يَحْتَفِلُ كُلُّ النَّاسِ بِالطَّرِيقَةِ نَفْسِهَا؟ الطَّالِبَةُ: عَلَى حَدِّ عِلْمِي لَا؛ فَفِي بَعْضِ البُلْدَانِ تَخْتَلِفُ العَادَاتُ، وَلَيْسَ دَائِمًا يَتَشَابَهُ الاحْتِفَالُ. المُمْتَحِنُ: وَمَا أَهَمِّيَّةُ اللُّغَةِ العَرَبِيَّةِ فِي حَيَاتِكِ؟ الطَّالِبَةُ: لَا يُمْكِنُ إِنْكَارُ أَنَّ اللُّغَةَ جُزْءٌ مِنَ الهُوِيَّةِ، وَأَعْتَزُّ بِهَا، وَسَأُوَاصِلُ تَعَلُّمَهَا.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“Combine country, language, custom, festival and travel clues to prepare a short information stand, then answer questions from another group.”
Website Topic E challenge “International fair information gap”: combine country, language, custom, festival and travel clues into a short information stand, then answer questions from another group. Suggested countries: المَغْرِبُ · عُمَانُ · مَالِيزْيَا · تُرْكِيَا · مِصْرُ.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يَحْتَفِلُ الجَمِيعُ بِالطَّرِيقَةِ نَفْسِهَا؟ (And does everyone celebrate the same way?)
B: عَلَى حَدِّ عِلْمِي لَا؛ فَفِي بَعْضِ البُلْدَانِ تَخْتَلِفُ العَادَاتُ، وَلَا يُمْكِنُ إِنْكَارُ أَنَّ التَّنَوُّعَ ثَرْوَةٌ. (As far as I know, no — in some countries customs differ, and it cannot be denied that diversity is a richness.)
Website prompts and model: a full topic-conversation rehearsal. Pairs swap roles (examiner / candidate); the examiner ticks: tense mirrored · preposition · reason · qualifier. To a girl: تُرِيدِينَ · مَرَرْتِ · حَيَاتِكِ.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cultural questions aloud using the sentence frames, each with the right preposition. · Develop — Add a reason to each answer and one qualifier. · Stretch — Deliver a full topic answer across three tenses with a supported opinion and no overgeneralisation.
Website writing task (Stretch): Write about eighty words reviewing your own Topic E progress. Say what you found difficult, what you practised, how you improved, and what you will focus on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أُخْطِئُ · كُنْتُ أُعَمِّمُ · تَدَرَّبْتُ · صَارَا · نَحْتَفِلُ بِالعِيدِ · فِي بَعْضِ البُلْدَانِ · عَلَى حَدِّ عِلْمِي · عَلَى الرَّغْمِ مِنْ ذٰلِكَ · سَأُرَكِّزُ · أَطْمَحُ إِلَى أَنْ أَتَحَدَّثَ.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(TE-L12 · Topic E Review and Bridge to Final Revision) will spend class time USING this language, so students prepare it tonight — short, simple, easy to access (school guidance: “Simple, Short, Interesting, Relevant, Easy to access”). The five words prepare students for the TE-L12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Topic E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وَرْشَةُ التَّوَاصُلِ المُتَكَامِلِ لِلْمِحْوَرِ هـ</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Sustain spontaneous and connected communication across international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TE-L11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Mirror, fix, extend, qualify — while speaking.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answer / extend / qualify, fix three slips, then hear a candidate.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hesitation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حَدِّ عِلْمِي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far as I know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أُعَمِّمُ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know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agree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generalise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speaker says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Which option is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families do this.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varies between families.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families do this.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كَانَتْ جَدَّتِي تُعِدُّ الحَلْوَى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grandmother used to make the sweets.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grandmother made the sweets once.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grandmother will make the sweets.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accuracy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hesitation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(D6-L10,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حَدِّ عِلْمِي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as far as I know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my opinion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example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(D6-L10,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أُعَمِّمُ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do not know</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do not agree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do not generalise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(D6-L10,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speaker says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Which option is wrong?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 families do this.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varies between families.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All families do this.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D6-L10 (website): a hedge narrows the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كَانَتْ جَدَّتِي تُعِدُّ الحَلْوَى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My grandmother used to make the sweets.</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My grandmother made the sweets once.</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grandmother will make the sweets.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D6-L10 (website): </a:t>
            </a:r>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 present = past habit.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Mirror the tense → fix the preposition → add a reason → qualify the claim.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حَضَرْتُ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نَحْتَفِلُ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بَعْضِ البُلْدَانِ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Sustain a topic conversation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cultural verbs, three tenses and an opinion while speaking.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Qualify a cultural claim in real time.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my own priority before the final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answer in the tense the question uses.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each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add a reason or an example to every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qualify one claim (</a:t>
            </a:r>
            <a:pPr algn="l" indent="0" marL="0">
              <a:buNone/>
            </a:pPr>
            <a:r>
              <a:rPr lang="ar-SA" altLang="en-US" sz="1700" b="1" dirty="0">
                <a:solidFill>
                  <a:srgbClr val="C9780A"/>
                </a:solidFill>
                <a:latin typeface="Amiri" pitchFamily="34" charset="0"/>
                <a:ea typeface="Amiri" pitchFamily="34" charset="-122"/>
                <a:cs typeface="Amiri" pitchFamily="34" charset="-120"/>
              </a:rPr>
              <a:t>فِي بَعْضِ</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give a full answer across three tenses with a supported opinion.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own priority for the assessment.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with control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Topic E spine to reuse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Qualifying in real time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تَقْيِيمٌ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‎تقییم / قدر‎ </a:t>
            </a:r>
            <a:pPr indent="0" marL="0">
              <a:buNone/>
            </a:pPr>
            <a:r>
              <a:rPr lang="en-US" sz="950" b="1" dirty="0">
                <a:solidFill>
                  <a:srgbClr val="2E8B57"/>
                </a:solidFill>
                <a:latin typeface="Calibri" pitchFamily="34" charset="0"/>
                <a:ea typeface="Calibri" pitchFamily="34" charset="-122"/>
                <a:cs typeface="Calibri" pitchFamily="34" charset="-120"/>
              </a:rPr>
              <a:t> qadr · assessment, evaluation (قِيمَةٌ = value)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‎علم‎ </a:t>
            </a:r>
            <a:pPr indent="0" marL="0">
              <a:buNone/>
            </a:pPr>
            <a:r>
              <a:rPr lang="en-US" sz="950" b="1" dirty="0">
                <a:solidFill>
                  <a:srgbClr val="2E8B57"/>
                </a:solidFill>
                <a:latin typeface="Calibri" pitchFamily="34" charset="0"/>
                <a:ea typeface="Calibri" pitchFamily="34" charset="-122"/>
                <a:cs typeface="Calibri" pitchFamily="34" charset="-120"/>
              </a:rPr>
              <a:t> ʿilm · knowledge (عَلَى حَدِّ عِلْمِي = as far as I know)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عِبَارَةٌ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‎عبارت‎ </a:t>
            </a:r>
            <a:pPr indent="0" marL="0">
              <a:buNone/>
            </a:pPr>
            <a:r>
              <a:rPr lang="en-US" sz="950" b="1" dirty="0">
                <a:solidFill>
                  <a:srgbClr val="2E8B57"/>
                </a:solidFill>
                <a:latin typeface="Calibri" pitchFamily="34" charset="0"/>
                <a:ea typeface="Calibri" pitchFamily="34" charset="-122"/>
                <a:cs typeface="Calibri" pitchFamily="34" charset="-120"/>
              </a:rPr>
              <a:t> ʿibārat · Urdu: a written passage · Arabic: a phrase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عَامٌّ / تَعْمِيمٌ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‎عام‎ </a:t>
            </a:r>
            <a:pPr indent="0" marL="0">
              <a:buNone/>
            </a:pPr>
            <a:r>
              <a:rPr lang="en-US" sz="950" b="1" dirty="0">
                <a:solidFill>
                  <a:srgbClr val="2E8B57"/>
                </a:solidFill>
                <a:latin typeface="Calibri" pitchFamily="34" charset="0"/>
                <a:ea typeface="Calibri" pitchFamily="34" charset="-122"/>
                <a:cs typeface="Calibri" pitchFamily="34" charset="-120"/>
              </a:rPr>
              <a:t> ʿām · general (لَا أُعَمِّمُ = I do not generalise)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with control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نِهَائِيَّةٌ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final 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 ni-hā-ʾiy-ya-tun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تَقْيِيمٌ ذَاتِيٌّ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self-assessment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taq-yī-mun dhā-tiy-yun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تَقْيِيمَاتٌ ذَاتِيَّةٌ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with control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51790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Buys time in Arabic.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دَعْنِي أُفَكِّرُ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 me think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daʿ-nī u-fak-ki-ru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بِعِبَارَةٍ أُخْرَى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other 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bi-ʿi-bā-ra-tin ukh-rā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repair phrase.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عَفْوًا، أَقْصِدُ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sorry, I mean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ʿaf-wan, aq-ṣi-du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The Topic E spine to reuse (1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يَحْتَفِلُ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celebrates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yaḥ-ta-fi-lu bi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3" name="Shape 30"/>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إِلَى.</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يَنْتَمِي إِلَى</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yan-ta-mī i-lā</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يَتَمَسَّكُ بِـ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adheres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ya-ta-mas-sa-ku bi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Shape 42"/>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 · past</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يَتَكَيَّفُ مَعَ</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ya-ta-kay-ya-fu ma-ʿa</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تَكَيَّفَ</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أَتَكَيَّفُ</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The Topic E spine to reuse (2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counted among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Cultural passives.</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تُزَيَّنُ / تُتَبَادَلُ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decorated / are exchanged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tu-zay-ya-nu / tu-ta-bā-da-lu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يُمْكِنُ إِنْكَارُ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cannot be denied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yum-ki-nu in-kā-ru an-na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Qualifying in real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العَائِلَاتِ</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families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al-ʿā-ʾi-lā-ti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عَائِلَةٌ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 دَائِمًا</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 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 dā-ʾi-man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Qualifying in real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حَدِّ عِلْمِي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far as I know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ḥad-di ʿil-mī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يَخْتَلِفُ الأَمْرُ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varies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yakh-ta-li-fu al-am-ru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وِجْهَةِ نَظَرِي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my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wij-ha-ti na-ẓa-rī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Shape 3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II · I · he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أُعَمِّمُ</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do not generalise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u-ʿam-mi-mu</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 يُعَمِّمُ</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 تُعَمِّمُ</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1 · MIRROR THE TENSE, KEEP THE PREPOSITION (WEBSITE RULES 1–2)</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Answer the question that was asked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أَجِبْ بِزَمَنِ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38221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Candidate answers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Examiner asks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past</a:t>
            </a:r>
            <a:endParaRPr lang="en-US" sz="1100" dirty="0"/>
          </a:p>
        </p:txBody>
      </p:sp>
      <p:sp>
        <p:nvSpPr>
          <p:cNvPr id="21" name="Text 18"/>
          <p:cNvSpPr txBox="1"/>
          <p:nvPr/>
        </p:nvSpPr>
        <p:spPr>
          <a:xfrm>
            <a:off x="3840480" y="2286000"/>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العَامِ المَاضِي </a:t>
            </a:r>
            <a:pPr rtl="1" algn="ctr" indent="0" marL="0">
              <a:buNone/>
            </a:pPr>
            <a:r>
              <a:rPr lang="ar-SA" altLang="en-US" sz="2100" b="1" dirty="0">
                <a:solidFill>
                  <a:srgbClr val="0E7C86"/>
                </a:solidFill>
                <a:latin typeface="Amiri" pitchFamily="34" charset="0"/>
                <a:ea typeface="Amiri" pitchFamily="34" charset="-122"/>
                <a:cs typeface="Amiri" pitchFamily="34" charset="-120"/>
              </a:rPr>
              <a:t>حَضَرْتُ</a:t>
            </a:r>
            <a:pPr rtl="1" algn="ctr" indent="0" marL="0">
              <a:buNone/>
            </a:pPr>
            <a:r>
              <a:rPr lang="ar-SA" altLang="en-US" sz="2100" b="1" dirty="0">
                <a:solidFill>
                  <a:srgbClr val="1B3B6F"/>
                </a:solidFill>
                <a:latin typeface="Amiri" pitchFamily="34" charset="0"/>
                <a:ea typeface="Amiri" pitchFamily="34" charset="-122"/>
                <a:cs typeface="Amiri" pitchFamily="34" charset="-120"/>
              </a:rPr>
              <a:t> حَفْلًا فِي المَرْكَزِ.</a:t>
            </a:r>
            <a:endParaRPr lang="ar-SA" sz="2100" dirty="0"/>
          </a:p>
        </p:txBody>
      </p:sp>
      <p:sp>
        <p:nvSpPr>
          <p:cNvPr id="22" name="Text 19"/>
          <p:cNvSpPr txBox="1"/>
          <p:nvPr/>
        </p:nvSpPr>
        <p:spPr>
          <a:xfrm>
            <a:off x="3794760" y="2706624"/>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Last year I attended a party at the centre.</a:t>
            </a:r>
            <a:endParaRPr lang="en-US" sz="950" dirty="0"/>
          </a:p>
        </p:txBody>
      </p:sp>
      <p:sp>
        <p:nvSpPr>
          <p:cNvPr id="23" name="Text 20"/>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مُنَاسَبَةً </a:t>
            </a:r>
            <a:pPr rtl="1" algn="ctr" indent="0" marL="0">
              <a:buNone/>
            </a:pPr>
            <a:r>
              <a:rPr lang="ar-SA" altLang="en-US" sz="2000" b="1" dirty="0">
                <a:solidFill>
                  <a:srgbClr val="0E7C86"/>
                </a:solidFill>
                <a:latin typeface="Amiri" pitchFamily="34" charset="0"/>
                <a:ea typeface="Amiri" pitchFamily="34" charset="-122"/>
                <a:cs typeface="Amiri" pitchFamily="34" charset="-120"/>
              </a:rPr>
              <a:t>مَرَرْتَ</a:t>
            </a:r>
            <a:pPr rtl="1" algn="ctr" indent="0" marL="0">
              <a:buNone/>
            </a:pPr>
            <a:r>
              <a:rPr lang="ar-SA" altLang="en-US" sz="2000" b="1" dirty="0">
                <a:solidFill>
                  <a:srgbClr val="1B3B6F"/>
                </a:solidFill>
                <a:latin typeface="Amiri" pitchFamily="34" charset="0"/>
                <a:ea typeface="Amiri" pitchFamily="34" charset="-122"/>
                <a:cs typeface="Amiri" pitchFamily="34" charset="-120"/>
              </a:rPr>
              <a:t> بِهَا.</a:t>
            </a:r>
            <a:endParaRPr lang="ar-SA" sz="20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bi-</a:t>
            </a:r>
            <a:endParaRPr lang="en-US" sz="1100" dirty="0"/>
          </a:p>
        </p:txBody>
      </p:sp>
      <p:sp>
        <p:nvSpPr>
          <p:cNvPr id="28" name="Text 25"/>
          <p:cNvSpPr txBox="1"/>
          <p:nvPr/>
        </p:nvSpPr>
        <p:spPr>
          <a:xfrm>
            <a:off x="3840480" y="3072384"/>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نَحْتَفِلُ بِالعِيدِ</a:t>
            </a:r>
            <a:pPr rtl="1" algn="ctr" indent="0" marL="0">
              <a:buNone/>
            </a:pPr>
            <a:r>
              <a:rPr lang="ar-SA" altLang="en-US" sz="2100" b="1" dirty="0">
                <a:solidFill>
                  <a:srgbClr val="1B3B6F"/>
                </a:solidFill>
                <a:latin typeface="Amiri" pitchFamily="34" charset="0"/>
                <a:ea typeface="Amiri" pitchFamily="34" charset="-122"/>
                <a:cs typeface="Amiri" pitchFamily="34" charset="-120"/>
              </a:rPr>
              <a:t> كُلَّ سَنَةٍ مَعَ الجَالِيَةِ.</a:t>
            </a:r>
            <a:endParaRPr lang="ar-SA" sz="2100" dirty="0"/>
          </a:p>
        </p:txBody>
      </p:sp>
      <p:sp>
        <p:nvSpPr>
          <p:cNvPr id="29" name="Text 26"/>
          <p:cNvSpPr txBox="1"/>
          <p:nvPr/>
        </p:nvSpPr>
        <p:spPr>
          <a:xfrm>
            <a:off x="3794760" y="3493008"/>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celebrate Eid every year with the community.</a:t>
            </a:r>
            <a:endParaRPr lang="en-US" sz="950" dirty="0"/>
          </a:p>
        </p:txBody>
      </p:sp>
      <p:sp>
        <p:nvSpPr>
          <p:cNvPr id="30" name="Text 27"/>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كَيْفَ </a:t>
            </a:r>
            <a:pPr rtl="1" algn="ctr" indent="0" marL="0">
              <a:buNone/>
            </a:pPr>
            <a:r>
              <a:rPr lang="ar-SA" altLang="en-US" sz="2000" b="1" dirty="0">
                <a:solidFill>
                  <a:srgbClr val="D6336C"/>
                </a:solidFill>
                <a:latin typeface="Amiri" pitchFamily="34" charset="0"/>
                <a:ea typeface="Amiri" pitchFamily="34" charset="-122"/>
                <a:cs typeface="Amiri" pitchFamily="34" charset="-120"/>
              </a:rPr>
              <a:t>تَحْتَفِلُونَ</a:t>
            </a:r>
            <a:pPr rtl="1" algn="ctr" indent="0" marL="0">
              <a:buNone/>
            </a:pPr>
            <a:r>
              <a:rPr lang="ar-SA" altLang="en-US" sz="2000" b="1" dirty="0">
                <a:solidFill>
                  <a:srgbClr val="1B3B6F"/>
                </a:solidFill>
                <a:latin typeface="Amiri" pitchFamily="34" charset="0"/>
                <a:ea typeface="Amiri" pitchFamily="34" charset="-122"/>
                <a:cs typeface="Amiri" pitchFamily="34" charset="-120"/>
              </a:rPr>
              <a:t> بِالعِيدِ؟</a:t>
            </a:r>
            <a:endParaRPr lang="ar-SA" sz="20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ilā</a:t>
            </a:r>
            <a:endParaRPr lang="en-US" sz="1100" dirty="0"/>
          </a:p>
        </p:txBody>
      </p:sp>
      <p:sp>
        <p:nvSpPr>
          <p:cNvPr id="35" name="Text 32"/>
          <p:cNvSpPr txBox="1"/>
          <p:nvPr/>
        </p:nvSpPr>
        <p:spPr>
          <a:xfrm>
            <a:off x="3840480" y="3858768"/>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أَنْتَمِي 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ثَقَافَتَيْنِ.</a:t>
            </a:r>
            <a:endParaRPr lang="ar-SA" sz="2100" dirty="0"/>
          </a:p>
        </p:txBody>
      </p:sp>
      <p:sp>
        <p:nvSpPr>
          <p:cNvPr id="36" name="Text 33"/>
          <p:cNvSpPr txBox="1"/>
          <p:nvPr/>
        </p:nvSpPr>
        <p:spPr>
          <a:xfrm>
            <a:off x="3794760" y="4279392"/>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belong to two cultures.</a:t>
            </a:r>
            <a:endParaRPr lang="en-US" sz="950" dirty="0"/>
          </a:p>
        </p:txBody>
      </p:sp>
      <p:sp>
        <p:nvSpPr>
          <p:cNvPr id="37" name="Text 34"/>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إِلَى أَيِّ ثَقَافَةٍ </a:t>
            </a:r>
            <a:pPr rtl="1" algn="ctr" indent="0" marL="0">
              <a:buNone/>
            </a:pPr>
            <a:r>
              <a:rPr lang="ar-SA" altLang="en-US" sz="2000" b="1" dirty="0">
                <a:solidFill>
                  <a:srgbClr val="D6336C"/>
                </a:solidFill>
                <a:latin typeface="Amiri" pitchFamily="34" charset="0"/>
                <a:ea typeface="Amiri" pitchFamily="34" charset="-122"/>
                <a:cs typeface="Amiri" pitchFamily="34" charset="-120"/>
              </a:rPr>
              <a:t>تَنْتَمِي</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 future</a:t>
            </a:r>
            <a:endParaRPr lang="en-US" sz="1100" dirty="0"/>
          </a:p>
        </p:txBody>
      </p:sp>
      <p:sp>
        <p:nvSpPr>
          <p:cNvPr id="42" name="Text 39"/>
          <p:cNvSpPr txBox="1"/>
          <p:nvPr/>
        </p:nvSpPr>
        <p:spPr>
          <a:xfrm>
            <a:off x="3840480" y="4645152"/>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سَأَزُورُ</a:t>
            </a:r>
            <a:pPr rtl="1" algn="ctr" indent="0" marL="0">
              <a:buNone/>
            </a:pPr>
            <a:r>
              <a:rPr lang="ar-SA" altLang="en-US" sz="2100" b="1" dirty="0">
                <a:solidFill>
                  <a:srgbClr val="1B3B6F"/>
                </a:solidFill>
                <a:latin typeface="Amiri" pitchFamily="34" charset="0"/>
                <a:ea typeface="Amiri" pitchFamily="34" charset="-122"/>
                <a:cs typeface="Amiri" pitchFamily="34" charset="-120"/>
              </a:rPr>
              <a:t> بَلَدَ أُسْرَتِي.</a:t>
            </a:r>
            <a:endParaRPr lang="ar-SA" sz="2100" dirty="0"/>
          </a:p>
        </p:txBody>
      </p:sp>
      <p:sp>
        <p:nvSpPr>
          <p:cNvPr id="43" name="Text 40"/>
          <p:cNvSpPr txBox="1"/>
          <p:nvPr/>
        </p:nvSpPr>
        <p:spPr>
          <a:xfrm>
            <a:off x="3794760" y="5065776"/>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will visit my family’s country.</a:t>
            </a:r>
            <a:endParaRPr lang="en-US" sz="950" dirty="0"/>
          </a:p>
        </p:txBody>
      </p:sp>
      <p:sp>
        <p:nvSpPr>
          <p:cNvPr id="44" name="Text 41"/>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مَاذَا </a:t>
            </a:r>
            <a:pPr rtl="1" algn="ctr" indent="0" marL="0">
              <a:buNone/>
            </a:pPr>
            <a:r>
              <a:rPr lang="ar-SA" altLang="en-US" sz="2000" b="1" dirty="0">
                <a:solidFill>
                  <a:srgbClr val="1D5FBF"/>
                </a:solidFill>
                <a:latin typeface="Amiri" pitchFamily="34" charset="0"/>
                <a:ea typeface="Amiri" pitchFamily="34" charset="-122"/>
                <a:cs typeface="Amiri" pitchFamily="34" charset="-120"/>
              </a:rPr>
              <a:t>سَتَفْعَلُ</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العَامِ القَادِمِ؟</a:t>
            </a:r>
            <a:endParaRPr lang="ar-SA" sz="20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Switching a past question into the present is the commonest avoidance pattern — examiners notice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2 · EXTEND AND QUALIFY (WEBSITE RULES 3–4) · DEVELOP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more clause, one more second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التَّوَسُّعُ وَالتَّحَفُّظُ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REASON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أَعْتَزُّ بِلُغَتِي لِأَنَّهَا تَرْبِطُنِي بِجُذُورِي.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proud of my language because it ties me to my roots.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Claim +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عَلَى سَبِيلِ المِثَالِ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عَلَى سَبِيلِ المِثَالِ، تُزَيَّنُ البُيُوتُ بِالفَوَانِيسِ.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For example, houses are decorated with lanterns.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Make it concrete.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QUALIFY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عَلَى حَدِّ عِلْمِي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عَلَى حَدِّ عِلْمِي تَخْتَلِفُ العَادَاتُ فِي بَعْضِ البُلْدَانِ.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far as I know, customs differ in some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“all”.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claim about a whole population is inaccurate.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فِي بَعْضِ البُلْدَانِ يَحْتَفِلُ النَّاسُ بِهٰذِهِ الطَّرِيقَةِ.</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كُلُّ العَرَبِ يَحْتَفِلُونَ بِالطَّرِيقَةِ نَفْسِهَا.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The Topic E system under speaking pressure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نِظَامُ الوَحْدَةِ تَحْتَ ضَغْطِ 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Mirror the tense of the question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question → past answer</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صِفْ مُنَاسَبَةً مَرَرْتَ بِهَا — حَضَرْتُ حَفْلًا فِي المَرْكَزِ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Cultural verb plus preposition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يَحْتَفِلُ بِـ · يَنْتَمِي إِلَى · يَتَكَيَّفُ مَعَ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Extend with a reason or an example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claim + </a:t>
            </a:r>
            <a:pPr algn="l" indent="0" marL="0">
              <a:buNone/>
            </a:pPr>
            <a:r>
              <a:rPr lang="ar-SA" altLang="en-US" sz="1350" dirty="0">
                <a:solidFill>
                  <a:srgbClr val="5A6472"/>
                </a:solidFill>
                <a:latin typeface="Amiri" pitchFamily="34" charset="0"/>
                <a:ea typeface="Amiri" pitchFamily="34" charset="-122"/>
                <a:cs typeface="Amiri" pitchFamily="34" charset="-120"/>
              </a:rPr>
              <a:t>لِأَنَّ / عَلَى سَبِيلِ المِثَالِ</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أَعْتَزُّ بِلُغَتِي لِأَنَّهَا تَرْبِطُنِي بِجُذُورِي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Qualify as you speak</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 / عَلَى حَدِّ عِلْمِي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بَعْضِ العَائِلَاتِ تُوَزَّعُ العِيدِيَّةُ، وَلَيْسَ دَائِمًا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34" charset="0"/>
                <a:ea typeface="Amiri" pitchFamily="34" charset="-122"/>
                <a:cs typeface="Amiri" pitchFamily="34" charset="-120"/>
              </a:rPr>
              <a:t>صِفْ مُنَاسَبَةً مَرَرْتَ بِهَا</a:t>
            </a:r>
            <a:pPr algn="l" indent="0" marL="0">
              <a:buNone/>
            </a:pPr>
            <a:r>
              <a:rPr lang="en-US" sz="1400" b="1" dirty="0">
                <a:solidFill>
                  <a:srgbClr val="1F2A37"/>
                </a:solidFill>
                <a:latin typeface="Calibri" pitchFamily="34" charset="0"/>
                <a:ea typeface="Calibri" pitchFamily="34" charset="-122"/>
                <a:cs typeface="Calibri" pitchFamily="34" charset="-120"/>
              </a:rPr>
              <a:t>. Which answer is appropriate?</a:t>
            </a:r>
            <a:endParaRPr lang="en-US"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حَفْلًا فِي المَرْكَزِ الثَّقَافِيِّ.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سَأَحْضُرُ حَفْلًا فِي المَرْكَزِ الثَّقَافِيِّ.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حَفْلًا فِي المَرْكَزِ الثَّقَافِيِّ.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نَحْتَفِلُ ___ العِيدِ كُلَّ سَنَةٍ.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extended rather than bare?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أَعْتَزُّ بِلُغَتِي لِأَنَّهَا تَرْبِطُنِي بِجُذُورِي.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أَعْتَزُّ.</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appropriately qualified?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العَائِلَاتِ تُوَزَّعُ العِيدِيَّةُ.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العَائِلَاتِ تُوَزِّعُ العِيدِيَّةَ.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أَحَدَ يُوَزِّعُ العِيدِيَّةَ.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34" charset="0"/>
                <a:ea typeface="Amiri" pitchFamily="34" charset="-122"/>
                <a:cs typeface="Amiri" pitchFamily="34" charset="-120"/>
              </a:rPr>
              <a:t>صِفْ مُنَاسَبَةً مَرَرْتَ بِهَا</a:t>
            </a:r>
            <a:pPr algn="l" indent="0" marL="0">
              <a:buNone/>
            </a:pPr>
            <a:r>
              <a:rPr lang="en-US" sz="1400" b="1" dirty="0">
                <a:solidFill>
                  <a:srgbClr val="1F2A37"/>
                </a:solidFill>
                <a:latin typeface="Calibri" pitchFamily="34" charset="0"/>
                <a:ea typeface="Calibri" pitchFamily="34" charset="-122"/>
                <a:cs typeface="Calibri" pitchFamily="34" charset="-120"/>
              </a:rPr>
              <a:t>. Which answer is appropriate?</a:t>
            </a:r>
            <a:endParaRPr lang="en-US"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حَفْلًا فِي المَرْكَزِ الثَّقَافِيِّ.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سَأَحْضُرُ حَفْلًا فِي المَرْكَزِ الثَّقَافِيِّ.</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حَضَرْتُ حَفْلًا فِي المَرْكَزِ الثَّقَافِيِّ.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 question requires a past answer.</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نَحْتَفِلُ ___ العِيدِ كُلَّ سَنَةٍ.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extended rather than bare?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أَعْتَزُّ بِلُغَتِي لِأَنَّهَا تَرْبِطُنِي بِجُذُورِي.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أَعْتَزُّ.</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reason turns an answer into a response.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appropriately qualified?</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العَائِلَاتِ تُوَزَّعُ العِيدِيَّةُ.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العَائِلَاتِ تُوَزِّعُ العِيدِيَّةَ.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أَحَدَ يُوَزِّعُ العِيدِيَّةَ.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what some families do.</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answer under pressure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Buy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دَعْنِي أُفَكِّرُ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 Arabic.</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Mirror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حَضَرْتُ</a:t>
            </a:r>
            <a:pPr rtl="1" algn="ctr" indent="0" marL="0">
              <a:buNone/>
            </a:pPr>
            <a:r>
              <a:rPr lang="ar-SA" altLang="en-US" sz="2800" b="1" dirty="0">
                <a:solidFill>
                  <a:srgbClr val="1B3B6F"/>
                </a:solidFill>
                <a:latin typeface="Amiri" pitchFamily="34" charset="0"/>
                <a:ea typeface="Amiri" pitchFamily="34" charset="-122"/>
                <a:cs typeface="Amiri" pitchFamily="34" charset="-120"/>
              </a:rPr>
              <a:t> حَفْلًا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question.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Repair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عَفْوًا، أَقْصِدُ</a:t>
            </a:r>
            <a:pPr rtl="1" algn="ctr" indent="0" marL="0">
              <a:buNone/>
            </a:pPr>
            <a:r>
              <a:rPr lang="ar-SA" altLang="en-US" sz="2800" b="1" dirty="0">
                <a:solidFill>
                  <a:srgbClr val="1B3B6F"/>
                </a:solidFill>
                <a:latin typeface="Amiri" pitchFamily="34" charset="0"/>
                <a:ea typeface="Amiri" pitchFamily="34" charset="-122"/>
                <a:cs typeface="Amiri" pitchFamily="34" charset="-120"/>
              </a:rPr>
              <a:t> زُيِّنَتْ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Fix the tense.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Qualify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عَلَى حَدِّ عِلْمِي</a:t>
            </a:r>
            <a:pPr rtl="1" algn="ctr" indent="0" marL="0">
              <a:buNone/>
            </a:pPr>
            <a:r>
              <a:rPr lang="ar-SA" altLang="en-US" sz="2800" b="1" dirty="0">
                <a:solidFill>
                  <a:srgbClr val="1B3B6F"/>
                </a:solidFill>
                <a:latin typeface="Amiri" pitchFamily="34" charset="0"/>
                <a:ea typeface="Amiri" pitchFamily="34" charset="-122"/>
                <a:cs typeface="Amiri" pitchFamily="34" charset="-120"/>
              </a:rPr>
              <a:t> لَا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everyone.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TENSE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 / REPAIR</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QUALIFIER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دَعْنِي أُفَكِّرُ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العَامِ المَاضِي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حَضَرْتُ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حَفْلًا فِي المَرْكَزِ الثَّقَافِيِّ، وَتُزَيَّنُ القَاعَةُ …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عَفْوًا، أَقْصِدُ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أَنَّهَا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زُيِّنَتْ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بِالفَوَانِيسِ.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عَلَى حَدِّ عِلْمِي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لَا يَحْتَفِلُ الجَمِيعُ بِالطَّرِيقَةِ نَفْسِهَا؛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فَفِي بَعْضِ البُلْدَانِ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تَخْتَلِفُ العَادَاتُ.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Let me think. Last year I attended a party at the cultural centre, and the hall is decorated … sorry, I mean it was decorated with lanterns. As far as I know, not everyone celebrates the same way; in some countries customs differ.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نَحْتَفِلُ بِالعِيدِ كُلَّ سَنَةٍ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celebrate Eid every year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Verb and preposition said as one unit.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بَعْضِ العَائِلَاتِ … وَلَيْسَ دَائِمًا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some families … and not always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claim stays accurate.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أَعْتَزُّ بِلُغَتِي لِأَنَّهَا تَرْبِطُنِي بِجُذُورِي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proud of my language because it ties me to my roots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Claim plus reason.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ea typeface="Calibri" pitchFamily="34" charset="-122"/>
                <a:cs typeface="Calibri" pitchFamily="34" charset="-120"/>
              </a:rPr>
              <a:t>WE DO · PICTURE MATCH · WEBSITE GAME “INTERNATIONAL FAIR RELAY (TOPIC GAME)”</a:t>
            </a:r>
            <a:endParaRPr lang="en-US" sz="91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سِبَاقُ الْمَعْرِضِ الدَّوْلِيِّ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Morocco · AR + FR</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 stand</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57912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8" name="Shape 30"/>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0" name="Shape 31"/>
          <p:cNvSpPr/>
          <p:nvPr/>
        </p:nvSpPr>
        <p:spPr>
          <a:xfrm>
            <a:off x="295656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traditions stand</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يَشْرَحُ الْجَنَاحُ عَادَاتِ الضِّيَافَةِ وَالتَّحِيَّةِ.</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يَعْرِضُ الْجَنَاحُ مَلَابِسَ وَأَطْعِمَةً وَاحْتِفَالَاتٍ تَقْلِيدِيَّةً.</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الْمَغْرِبِ تُسْتَعْمَلُ الْعَرَبِيَّةُ وَتَنْتَشِرُ الْفَرَنْسِيَّةُ أَيْضًا.</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سِبَاقُ الْمَعْرِضِ الدَّوْلِيِّ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Morocco · AR + FR</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فِي الْمَغْرِبِ تُسْتَعْمَلُ الْعَرَبِيَّةُ وَتَنْتَشِرُ الْفَرَنْسِيَّةُ أَيْضًا.</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In Morocco Arabic is used, and French is also widespread.</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 stand</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يَشْرَحُ الْجَنَاحُ عَادَاتِ الضِّيَافَةِ وَالتَّحِيَّةِ.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stand explains customs of hospitality and greeting.</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57912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8" name="Shape 40"/>
          <p:cNvSpPr/>
          <p:nvPr/>
        </p:nvSpPr>
        <p:spPr>
          <a:xfrm>
            <a:off x="176784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50" name="Shape 41"/>
          <p:cNvSpPr/>
          <p:nvPr/>
        </p:nvSpPr>
        <p:spPr>
          <a:xfrm>
            <a:off x="295656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traditions stand</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يَعْرِضُ الْجَنَاحُ مَلَابِسَ وَأَطْعِمَةً وَاحْتِفَالَاتٍ تَقْلِيدِيَّةً.</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stand shows traditional clothes, food and celebrations.</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حَضَرْتُ حَفْلًا فِي المَرْكَزِ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نَحْتَفِلُ بِالعِيدِ كُلَّ سَنَةٍ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لِأَنَّهَا تَرْبِطُنِي بِجُذُورِي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وَهٰذَا يُذَكِّرُنِي بِطُفُولَتِي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بَعْضِ البُلْدَانِ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حَدِّ عِلْمِي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لَيْسَ دَائِمًا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Answer the question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Extend the answer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Qualify the claim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Answer the question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حَضَرْتُ حَفْلًا فِي المَرْكَزِ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نَحْتَفِلُ بِالعِيدِ كُلَّ سَنَةٍ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Extend the answer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لِأَنَّهَا تَرْبِطُنِي بِجُذُورِي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وَهٰذَا يُذَكِّرُنِي بِطُفُولَتِي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Qualify the claim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بَعْضِ البُلْدَانِ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حَدِّ عِلْمِي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لَيْسَ دَائِمًا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buys thinking time in Arabic?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أَعْرِفُ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شَيْءَ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دَعْنِي أُفَكِّرُ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لَا يُمْكِنُ إِنْكَارُ أَنَّ ___ ثَرْوَةٌ.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would score highest in a topic conversation?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حَضَرْتُ حَفْلًا.</a:t>
            </a:r>
            <a:endParaRPr lang="ar-SA" sz="15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نَعَمْ، أُحِبُّ الاحْتِفَالَ.</a:t>
            </a:r>
            <a:endParaRPr lang="ar-SA" sz="15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حَضَرْتُ حَفْلًا فِي الطُّفُولَةِ، وَنَحْتَفِلُ الآنَ مَعَ الجَالِيَةِ، وَسَأَزُورُ بَلَدَ أُسْرَتِي.</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buys thinking time in Arabic?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أَعْرِفُ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شَيْءَ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دَعْنِي أُفَكِّرُ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short Arabic filler protects the fluency mark.</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لَا يُمْكِنُ إِنْكَارُ أَنَّ ___ ثَرْوَةٌ.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التَّنَوُّعَ</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would score highest in a topic conversation?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حَضَرْتُ حَفْلًا.</a:t>
            </a:r>
            <a:endParaRPr lang="ar-SA" sz="15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نَعَمْ، أُحِبُّ الاحْتِفَالَ.</a:t>
            </a:r>
            <a:endParaRPr lang="ar-SA" sz="15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حَضَرْتُ حَفْلًا فِي الطُّفُولَةِ، وَنَحْتَفِلُ الآنَ مَعَ الجَالِيَةِ، وَسَأَزُورُ بَلَدَ أُسْرَتِي.</a:t>
            </a:r>
            <a:endParaRPr lang="ar-SA" sz="15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moves through three tenses with accurate forms.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العَرَبِ يَحْتَفِلُونَ بِالطَّرِيقَةِ نَفْسِهَا.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All, or some?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نَحْتَفِلُ العِيدَ.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yaḥtafilu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العَامِ المَاضِي أَحْضُرُ حَفْلًا فِي المَرْكَزِ.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Last year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34" charset="0"/>
                <a:ea typeface="Amiri" pitchFamily="34" charset="-122"/>
                <a:cs typeface="Amiri" pitchFamily="34" charset="-120"/>
              </a:rPr>
              <a:t>فِي بَعْضِ البُلْدَانِ يَحْتَفِلُ النَّاسُ بِهٰذِهِ الطَّرِيقَةِ.</a:t>
            </a:r>
            <a:endParaRPr lang="ar-SA" sz="22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claim about a whole population is inaccurate.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نَحْتَفِلُ العِيدَ.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نَحْتَفِلُ بِالعِيدِ.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yaḥtafilu requires bi-.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فِي العَامِ المَاضِي أَحْضُرُ حَفْلًا فِي المَرْكَزِ.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العَامِ المَاضِي حَضَرْتُ حَفْلًا فِي المَرْكَزِ.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past question needs a past answer.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Listening: a candidate in the topic conversation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time-buying phrase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silence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عَفْوًا، أَقْصِدُ</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Disagreement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end of the answer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self-correction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answer the question about everyone celebrating alike?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everyone is the same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does not answer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as far as she knows; customs differ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opinion structure does she 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يُمْكِنُ إِنْكَارُ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المُمْكِنِ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رُبَّمَا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ending abruptly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future commitment to keep learning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Examiner and candidate — listen for her phrases.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المُمْتَحِنُ: صِفْ مُنَاسَبَةً ثَقَافِيَّةً مَرَرْتَ بِهَا. الطَّالِبَةُ: دَعْنِي أُفَكِّرُ.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Describe a cultural occasion you have experienced. Student: Let me think.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العَامِ المَاضِي حَضَرْتُ حَفْلًا فِي المَرْكَزِ الثَّقَافِيِّ، وَتُزَيَّنُ القَاعَةُ عَادَةً بِالأَعْلَامِ وَالفَوَانِيسِ. عَفْوًا، أَقْصِدُ أَنَّهَا زُيِّنَتْ فِي ذٰلِكَ اليَوْمِ.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 I attended a party at the cultural centre, and the hall is usually decorated with flags and lanterns. Sorry, I mean it was decorated on that 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المُمْتَحِنُ: وَهَلْ يَحْتَفِلُ كُلُّ النَّاسِ بِالطَّرِيقَةِ نَفْسِهَا؟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And does everyone celebrate in the same 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الطَّالِبَةُ: عَلَى حَدِّ عِلْمِي لَا؛ فَفِي بَعْضِ البُلْدَانِ تَخْتَلِفُ العَادَاتُ، وَلَيْسَ دَائِمًا يَتَشَابَهُ الاحْتِفَالُ.</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 As far as I know, no — in some countries customs differ, and the celebration is not always the same.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المُمْتَحِنُ: وَمَا أَهَمِّيَّةُ اللُّغَةِ العَرَبِيَّةِ فِي حَيَاتِكِ؟ الطَّالِبَةُ: لَا يُمْكِنُ إِنْكَارُ أَنَّ اللُّغَةَ جُزْءٌ مِنَ الهُوِيَّةِ، وَأَعْتَزُّ بِهَا، وَسَأُوَاصِلُ تَعَلُّمَهَا.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And how important is Arabic in your life? Student: It cannot be denied that language is part of identity; I am proud of it, and I will keep learning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open?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 time-buying phrase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silence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دَعْنِي أُفَكِّرُ</a:t>
            </a:r>
            <a:pPr algn="l" indent="0" marL="0">
              <a:buNone/>
            </a:pPr>
            <a:r>
              <a:rPr lang="en-US" sz="1050" i="1" dirty="0">
                <a:solidFill>
                  <a:srgbClr val="8A6D1E"/>
                </a:solidFill>
                <a:latin typeface="Calibri" pitchFamily="34" charset="0"/>
                <a:ea typeface="Calibri" pitchFamily="34" charset="-122"/>
                <a:cs typeface="Calibri" pitchFamily="34" charset="-120"/>
              </a:rPr>
              <a:t> buys a moment in Arabic.</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عَفْوًا، أَقْصِدُ</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Disagreement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end of the answer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self-correction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corrects the general present to a specific past passive.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answer the question about everyone celebrating alike?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everyone is the same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does not answer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No, as far as she knows; customs differ</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حَدِّ عِلْمِي لَا؛ فَفِي بَعْضِ البُلْدَانِ تَخْتَلِفُ العَادَاتُ.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opinion structure does she 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يُمْكِنُ إِنْكَارُ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المُمْكِنِ 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رُبَّمَا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يُمْكِنُ إِنْكَارُ 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strong supported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ending abruptly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a future commitment to keep learning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وَسَأُوَاصِلُ تَعَلُّمَهَا.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Examiner and candidate — listen for her phrases.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International fair information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International fair information gap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Combine country, language, custom, festival and travel clues to prepare a short information stand, then answer questions from another group.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Groups get one country and five clue cards: language, custom, festival, food, travel tip.</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Prepare a 1-minute information stand (3–5 sentences).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Other groups ask two questions each.</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Vote for the clearest and most respectful stand.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sentences: country + language.</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Five sentences across the clue cards, mixed tenses.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cohesive stand talk + answers to unprepared questions.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أَهْلًا بِكُمْ فِي جَنَاحِ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welcome to the … stand</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تُسْتَعْمَلُ فِيهَا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 is used there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أَشْهَرِ احْتِفَالَاتِهَا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one of its best-known celebrations …</a:t>
            </a:r>
            <a:endParaRPr lang="en-US" sz="95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نَنْصَحُ الزَّائِرَ بِأَنْ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we advise the visitor to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full topic conversation rehearsal</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بَلَدًا عَرَبِيًّا تُرِيدُ زِيَارَتَهُ. وَلِمَاذَا؟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مُنَاسَبَةً ثَقَافِيَّةً أَوْ دِينِيَّةً مَرَرْتَ بِهَا.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أَهَمِّيَّةُ اللُّغَةِ العَرَبِيَّةِ فِي حَيَاتِكَ؟</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أَنْ أَزُورَ ___ ، لِأَنَّ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فِي العَامِ المَاضِي حَضَرْتُ ___ ، وَزُيِّنَ / زُيِّنَتْ ___ .</a:t>
            </a:r>
            <a:endParaRPr lang="ar-SA" sz="12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لَا يُمْكِنُ إِنْكَارُ أَنَّ ___ ، وَعَلَى حَدِّ عِلْمِي ___ .</a:t>
            </a:r>
            <a:endParaRPr lang="ar-SA" sz="13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مُنَاسَبَةً ثَقَافِيَّةً مَرَرْتَ بِهَا.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cultural occasion you have experienced.</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العَامِ المَاضِي حَضَرْتُ حَفْلًا فِي المَرْكَزِ الثَّقَافِيِّ، وَزُيِّنَتِ القَاعَةُ بِالفَوَانِيسِ.</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Last year I attended a party at the cultural centre, and the hall was decorated with lanterns.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four cultural questions aloud using the sentence frames, each with the right preposition.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What was difficult, what you practised, and one target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reason to each answer and one qualifier.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كَانَ + present for an old habit and one cultural verb with its preposition.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Deliver a full topic answer across three tenses with a supported opinion and no overgeneralisation.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Topic E self-review — difficulty, practice, progress, next focus, one qualifier.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أَقُولُ ______ بَدَلَ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used to say … instead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عَلَى الرَّغْمِ مِنْ ذٰلِكَ مَا زِلْتُ أَحْتَاجُ إِلَى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that, I still need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وَأَطْمَحُ إِلَى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حَدِّ عِلْمِي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far as I know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البِدَايَةِ كُنْتُ أُخْطِئُ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the beginning I used to make mistakes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تَدَرَّبْتُ عَلَى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practised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وَالآنَ أَقُولُ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I say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 المُسْتَقْبَلِ سَأُرَكِّزُ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focus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كُنْتُ أُخْطِئُ  ·  حُرُوفُ الجَرِّ  ·  تَدَرَّبْتُ عَلَى  ·  وَحْدَةً وَاحِدَةً  ·  كُنْتُ أُعَمِّمُ  ·  فِي بَعْضِ البُلْدَانِ  ·  عَلَى حَدِّ عِلْمِي  ·  مَا زِلْتُ أَحْتَاجُ إِلَى  ·  سُرْعَةٌ فِي الرَّدِّ  ·  سَأُرَكِّزُ عَلَى  ·  أَطْمَحُ إِلَى  ·  دُونَ تَرَدُّدٍ</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eighty words reviewing your own Topic E progress. Say what you found difficult, what you practised, how you improved, and what you will focus on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four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plus present construction for an old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cultural verb with its correct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future focus and one qualifier.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حَتَّى صَارَا وَحْدَةً وَاحِدَةً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until they became one unit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رَاجَعْتُ نِقَاطَ ضَعْفِي بِصَرَاحَةٍ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reviewed my weak points honestly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زِلْتُ أَحْتَاجُ إِلَى سُرْعَةٍ أَكْبَرَ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still need more speed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سَأُرَكِّزُ عَلَى إِضَافَةِ سَبَبٍ فِي كُلِّ إِجَابَةٍ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focus on adding a reason to every answer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أَتَحَدَّثَ دُونَ تَرَدُّدٍ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speak without hesitation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وَالآنَ أَقُولُ فِي بَعْضِ البُلْدَانِ أَوْ عَلَى حَدِّ عِلْمِي. عَلَى الرَّغْمِ مِنْ ذٰلِكَ مَا زِلْتُ أَحْتَاجُ إِلَى سُرْعَةٍ أَكْبَرَ فِي الرَّدِّ. وَفِي المُسْتَقْبَلِ سَأُرَكِّزُ عَلَى إِضَافَةِ سَبَبٍ فِي كُلِّ إِجَابَةٍ، وَأَطْمَحُ إِلَى أَنْ أَتَحَدَّثَ دُونَ تَرَدُّدٍ.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At the beginning I used to make mistakes with prepositions after cultural verbs: I said “naḥtafilu al-ʿīda” instead of “naḥtafilu bil-ʿīd”. Then I practised each verb with its preposition until they became one unit. I also sometimes used to generalise, and now I say “in some countries” or “as far as I know”. Despite that, I still need more speed in replying. In the future I will focus on adding a reason to every answer, and I aspire to speak without hesitation.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كَانَ + present (old habit)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past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cultural verb + preposition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focus and a qualifier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in the tense the question used.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cultural verb had its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reason or an example to each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qualified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my one priority for the assessment.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question is </a:t>
            </a:r>
            <a:pPr algn="l" indent="0" marL="0">
              <a:buNone/>
            </a:pPr>
            <a:r>
              <a:rPr lang="ar-SA" altLang="en-US" sz="1650" b="1" dirty="0">
                <a:solidFill>
                  <a:srgbClr val="1B3B6F"/>
                </a:solidFill>
                <a:latin typeface="Amiri" pitchFamily="34" charset="0"/>
                <a:ea typeface="Amiri" pitchFamily="34" charset="-122"/>
                <a:cs typeface="Amiri" pitchFamily="34" charset="-120"/>
              </a:rPr>
              <a:t>صِفْ مُنَاسَبَةً مَرَرْتَ بِهَا</a:t>
            </a:r>
            <a:pPr algn="l" indent="0" marL="0">
              <a:buNone/>
            </a:pPr>
            <a:r>
              <a:rPr lang="en-US" sz="1250" b="1" dirty="0">
                <a:solidFill>
                  <a:srgbClr val="1B3B6F"/>
                </a:solidFill>
                <a:latin typeface="Calibri" pitchFamily="34" charset="0"/>
                <a:ea typeface="Calibri" pitchFamily="34" charset="-122"/>
                <a:cs typeface="Calibri" pitchFamily="34" charset="-120"/>
              </a:rPr>
              <a:t>. Which answer fits?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حَفْلًا فِي المَرْكَزِ.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حَفْلًا فِي المَرْكَزِ.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سَأَحْضُرُ حَفْلًا فِي المَرْكَزِ.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المُنَاسَبَةِ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qualifies a claim?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حَدِّ عِلْمِي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بِالتَّأْكِيدِ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دَائِمًا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question is </a:t>
            </a:r>
            <a:pPr algn="l" indent="0" marL="0">
              <a:buNone/>
            </a:pPr>
            <a:r>
              <a:rPr lang="ar-SA" altLang="en-US" sz="1650" b="1" dirty="0">
                <a:solidFill>
                  <a:srgbClr val="1B3B6F"/>
                </a:solidFill>
                <a:latin typeface="Amiri" pitchFamily="34" charset="0"/>
                <a:ea typeface="Amiri" pitchFamily="34" charset="-122"/>
                <a:cs typeface="Amiri" pitchFamily="34" charset="-120"/>
              </a:rPr>
              <a:t>صِفْ مُنَاسَبَةً مَرَرْتَ بِهَا</a:t>
            </a:r>
            <a:pPr algn="l" indent="0" marL="0">
              <a:buNone/>
            </a:pPr>
            <a:r>
              <a:rPr lang="en-US" sz="1250" b="1" dirty="0">
                <a:solidFill>
                  <a:srgbClr val="1B3B6F"/>
                </a:solidFill>
                <a:latin typeface="Calibri" pitchFamily="34" charset="0"/>
                <a:ea typeface="Calibri" pitchFamily="34" charset="-122"/>
                <a:cs typeface="Calibri" pitchFamily="34" charset="-120"/>
              </a:rPr>
              <a:t>. Which answer fits?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حَضَرْتُ حَفْلًا فِي المَرْكَزِ.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أَحْضُرُ حَفْلًا فِي المَرْكَزِ.</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سَأَحْضُرُ حَفْلًا فِي المَرْكَزِ.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Mirror the tense of the question.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المُنَاسَبَةِ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qualifies a claim?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 حَدِّ عِلْمِي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بِالتَّأْكِيدِ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دَائِمًا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حَدِّ عِلْمِي</a:t>
            </a:r>
            <a:pPr algn="l" indent="0" marL="0">
              <a:buNone/>
            </a:pPr>
            <a:r>
              <a:rPr lang="en-US" sz="1050" i="1" dirty="0">
                <a:solidFill>
                  <a:srgbClr val="8A6D1E"/>
                </a:solidFill>
                <a:latin typeface="Calibri" pitchFamily="34" charset="0"/>
                <a:ea typeface="Calibri" pitchFamily="34" charset="-122"/>
                <a:cs typeface="Calibri" pitchFamily="34" charset="-120"/>
              </a:rPr>
              <a:t> limits the claim to what you know.</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a candidate's self-review</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قَبْلَ التَّقْيِيمِ النِّهَائِيِّ رَاجَعْتُ نِقَاطَ ضَعْفِي بِصَرَاحَةٍ. 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فَأَقُولُ كُلُّ العَرَبِ، وَالآنَ أَقُولُ فِي بَعْضِ البُلْدَانِ أَوْ عَلَى حَدِّ عِلْمِي. عَلَى الرَّغْمِ مِنْ ذٰلِكَ مَا زِلْتُ أَحْتَاجُ إِلَى تَحْسِينِ سُرْعَتِي فِي الرَّدِّ. وَفِي المُسْتَقْبَلِ سَأُرَكِّزُ عَلَى إِضَافَةِ سَبَبٍ فِي كُلِّ إِجَابَةٍ، وَأَطْمَحُ إِلَى أَنْ أَتَحَدَّثَ دُونَ تَرَدُّدٍ.</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التَّقْيِيمِ النِّهَائِيِّ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final assessment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نِقَاطَ ضَعْفِي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weak points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بِصَرَاحَةٍ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honestly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أُخْطِئُ</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make mistakes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instead of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حَتَّى صَارَا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until they became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أُعَمِّمُ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generalise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زِلْتُ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still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سُرْعَتِي فِي الرَّدِّ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speed in replying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تَرَدُّدٍ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without hesitation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original weakness?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Vocabulary range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Prepositions with cultural verbs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Pronunciation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was it fixed?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those verbs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English instead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Practising each verb with its preposition as one unit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replaced </a:t>
            </a:r>
            <a:pPr algn="l" indent="0" marL="0">
              <a:buNone/>
            </a:pPr>
            <a:r>
              <a:rPr lang="ar-SA" altLang="en-US" sz="1650" b="1" dirty="0">
                <a:solidFill>
                  <a:srgbClr val="1B3B6F"/>
                </a:solidFill>
                <a:latin typeface="Amiri" pitchFamily="34" charset="0"/>
                <a:ea typeface="Amiri" pitchFamily="34" charset="-122"/>
                <a:cs typeface="Amiri" pitchFamily="34" charset="-120"/>
              </a:rPr>
              <a:t>كُلُّ العَرَبِ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فِي بَعْضِ البُلْدَانِ</a:t>
            </a:r>
            <a:pPr algn="l" indent="0" marL="0">
              <a:buNone/>
            </a:pPr>
            <a:r>
              <a:rPr lang="en-US" sz="1250" dirty="0">
                <a:solidFill>
                  <a:srgbClr val="1F2A37"/>
                </a:solidFill>
                <a:latin typeface="Calibri" pitchFamily="34" charset="0"/>
                <a:ea typeface="Calibri" pitchFamily="34" charset="-122"/>
                <a:cs typeface="Calibri" pitchFamily="34" charset="-120"/>
              </a:rPr>
              <a:t> or </a:t>
            </a:r>
            <a:pPr algn="l" indent="0" marL="0">
              <a:buNone/>
            </a:pPr>
            <a:r>
              <a:rPr lang="ar-SA" altLang="en-US" sz="1650" dirty="0">
                <a:solidFill>
                  <a:srgbClr val="1F2A37"/>
                </a:solidFill>
                <a:latin typeface="Amiri" pitchFamily="34" charset="0"/>
                <a:ea typeface="Amiri" pitchFamily="34" charset="-122"/>
                <a:cs typeface="Amiri" pitchFamily="34" charset="-120"/>
              </a:rPr>
              <a:t>عَلَى حَدِّ عِلْمِي</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لَا أَحَدَ</a:t>
            </a:r>
            <a:endParaRPr lang="ar-SA" sz="22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دَائِمًا</a:t>
            </a:r>
            <a:endParaRPr lang="ar-SA" sz="22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still needs improvement?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Grammar knowledge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Speed of response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Vocabulary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focus?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Adding a reason to every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more quietly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longer words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original weakness?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Vocabulary range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Prepositions with cultural verbs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Pronunciation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أُخْطِئُ فِي حُرُوفِ الجَرِّ مَعَ الأَفْعَالِ الثَّقَافِيَّةِ.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was it fixed?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those verbs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English instead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Practising each verb with its preposition as one unit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تَدَرَّبْتُ عَلَى كُلِّ فِعْلٍ مَعَ حَرْفِ جَرِّهِ حَتَّى صَارَا وَحْدَةً وَاحِدَةً.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replaced </a:t>
            </a:r>
            <a:pPr algn="l" indent="0" marL="0">
              <a:buNone/>
            </a:pPr>
            <a:r>
              <a:rPr lang="ar-SA" altLang="en-US" sz="1650" b="1" dirty="0">
                <a:solidFill>
                  <a:srgbClr val="1B3B6F"/>
                </a:solidFill>
                <a:latin typeface="Amiri" pitchFamily="34" charset="0"/>
                <a:ea typeface="Amiri" pitchFamily="34" charset="-122"/>
                <a:cs typeface="Amiri" pitchFamily="34" charset="-120"/>
              </a:rPr>
              <a:t>كُلُّ العَرَبِ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فِي بَعْضِ البُلْدَانِ</a:t>
            </a:r>
            <a:pPr algn="l" indent="0" marL="0">
              <a:buNone/>
            </a:pPr>
            <a:r>
              <a:rPr lang="en-US" sz="1250" b="1" dirty="0">
                <a:solidFill>
                  <a:srgbClr val="1F2A37"/>
                </a:solidFill>
                <a:latin typeface="Calibri" pitchFamily="34" charset="0"/>
                <a:ea typeface="Calibri" pitchFamily="34" charset="-122"/>
                <a:cs typeface="Calibri" pitchFamily="34" charset="-120"/>
              </a:rPr>
              <a:t> or </a:t>
            </a:r>
            <a:pPr algn="l" indent="0" marL="0">
              <a:buNone/>
            </a:pPr>
            <a:r>
              <a:rPr lang="ar-SA" altLang="en-US" sz="1650" b="1" dirty="0">
                <a:solidFill>
                  <a:srgbClr val="1F2A37"/>
                </a:solidFill>
                <a:latin typeface="Amiri" pitchFamily="34" charset="0"/>
                <a:ea typeface="Amiri" pitchFamily="34" charset="-122"/>
                <a:cs typeface="Amiri" pitchFamily="34" charset="-120"/>
              </a:rPr>
              <a:t>عَلَى حَدِّ عِلْمِي</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لَا أَحَدَ</a:t>
            </a:r>
            <a:endParaRPr lang="ar-SA" sz="22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دَائِمًا</a:t>
            </a:r>
            <a:endParaRPr lang="ar-SA" sz="22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الآنَ أَقُولُ فِي بَعْضِ البُلْدَانِ أَوْ عَلَى حَدِّ عِلْمِي.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still needs improvement?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Grammar knowledge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Speed of response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Vocabulary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 زِلْتُ أَحْتَاجُ إِلَى تَحْسِينِ سُرْعَتِي فِي الرَّدِّ.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focus?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Adding a reason to every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Speaking more quietly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longer words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سَأُرَكِّزُ عَلَى إِضَافَةِ سَبَبٍ فِي كُلِّ إِجَابَةٍ.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Final Consolidation Mission — Everything at Once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the question uses </a:t>
            </a:r>
            <a:pPr algn="l" indent="0" marL="0">
              <a:buNone/>
            </a:pPr>
            <a:r>
              <a:rPr lang="ar-SA" altLang="en-US" sz="1650" b="1" dirty="0">
                <a:solidFill>
                  <a:srgbClr val="1B3B6F"/>
                </a:solidFill>
                <a:latin typeface="Amiri" pitchFamily="34" charset="0"/>
                <a:ea typeface="Amiri" pitchFamily="34" charset="-122"/>
                <a:cs typeface="Amiri" pitchFamily="34" charset="-120"/>
              </a:rPr>
              <a:t>مَرَرْتَ</a:t>
            </a:r>
            <a:pPr algn="l" indent="0" marL="0">
              <a:buNone/>
            </a:pPr>
            <a:r>
              <a:rPr lang="en-US" sz="1250" b="1" dirty="0">
                <a:solidFill>
                  <a:srgbClr val="1B3B6F"/>
                </a:solidFill>
                <a:latin typeface="Calibri" pitchFamily="34" charset="0"/>
                <a:ea typeface="Calibri" pitchFamily="34" charset="-122"/>
                <a:cs typeface="Calibri" pitchFamily="34" charset="-120"/>
              </a:rPr>
              <a:t>. Which answer mirrors it?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حَفْلًا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سَأَحْضُرُ حَفْلًا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حَفْلًا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Qualification: which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بَعْضِ البُلْدَانِ تَخْتَلِفُ العَادَاتُ.</a:t>
            </a:r>
            <a:endParaRPr lang="ar-SA" sz="18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لَا أَحَدَ يَحْتَفِلُ.</a:t>
            </a:r>
            <a:endParaRPr lang="ar-SA" sz="18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the question uses </a:t>
            </a:r>
            <a:pPr algn="l" indent="0" marL="0">
              <a:buNone/>
            </a:pPr>
            <a:r>
              <a:rPr lang="ar-SA" altLang="en-US" sz="1650" b="1" dirty="0">
                <a:solidFill>
                  <a:srgbClr val="1B3B6F"/>
                </a:solidFill>
                <a:latin typeface="Amiri" pitchFamily="34" charset="0"/>
                <a:ea typeface="Amiri" pitchFamily="34" charset="-122"/>
                <a:cs typeface="Amiri" pitchFamily="34" charset="-120"/>
              </a:rPr>
              <a:t>مَرَرْتَ</a:t>
            </a:r>
            <a:pPr algn="l" indent="0" marL="0">
              <a:buNone/>
            </a:pPr>
            <a:r>
              <a:rPr lang="en-US" sz="1250" b="1" dirty="0">
                <a:solidFill>
                  <a:srgbClr val="1B3B6F"/>
                </a:solidFill>
                <a:latin typeface="Calibri" pitchFamily="34" charset="0"/>
                <a:ea typeface="Calibri" pitchFamily="34" charset="-122"/>
                <a:cs typeface="Calibri" pitchFamily="34" charset="-120"/>
              </a:rPr>
              <a:t>. Which answer mirrors it?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حَفْلًا</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سَأَحْضُرُ حَفْلًا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حَضَرْتُ حَفْلًا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 question needs a past answer.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Qualification: which is accurate?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تَخْتَلِفُ العَادَاتُ.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يَحْتَفِلُونَ بِالطَّرِيقَةِ نَفْسِهَا.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أَحَدَ يَحْتَفِلُ.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variation accurately.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التَّنَوُّعَ</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TE-L12 · Topic E Review and Bridge to Final Revision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conversation</a:t>
            </a:r>
            <a:pPr indent="0" marL="0">
              <a:buNone/>
            </a:pPr>
            <a:r>
              <a:rPr lang="en-US" sz="1000" i="1" dirty="0">
                <a:solidFill>
                  <a:srgbClr val="5A6472"/>
                </a:solidFill>
                <a:latin typeface="Calibri" pitchFamily="34" charset="0"/>
                <a:ea typeface="Calibri" pitchFamily="34" charset="-122"/>
                <a:cs typeface="Calibri" pitchFamily="34" charset="-120"/>
              </a:rPr>
              <a:t>  pl. المُحَادَثَاتُ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check my answer</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three answers for the speaking assessment — one past, one present, one future — each with a reason and one qualifier.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حَضَرْتُ … لِأَنَّ … · نَحْتَفِلُ بِـ … · سَأَزُورُ … · عَلَى حَدِّ عِلْمِي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cultural verbs with their prepositions; answer the four topic questions aloud.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a 60-second answer with a reason and a qualifier.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 80-word self-review of your Topic E progress.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TE-L12 · Topic E Review and Bridge to Final Revision</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مُرَاجَعَةُ المِحْوَرِ هـ وَالِانْتِقَالُ إِلَى المُرَاجَعَةِ النِّهَائِيَّةِ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revise Topic E for the assessment.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TE-L11 · Topic E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2026-10-11T04:25:13Z</dcterms:created>
  <dcterms:modified xsi:type="dcterms:W3CDTF">2026-10-11T04:25:13Z</dcterms:modified>
</cp:coreProperties>
</file>