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TE-L11 — Topic E Integrated Communication Workshop. Website: Advanced Topics › Topic E (The International World) › Lesson 11.
The website builds this lesson on the D6-L11 lesson engine, with the Topic focus “Sustain spontaneous and connected communication across international contexts.” (grammar: Mixed tenses; register; cohesion and accuracy; skills: All four skills) and the application challenge “International fair information gap”.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TE-L11. The website lesson “Topic E Consolidation — Complete Review and Speaking Preparation”: vocabulary, grammar rules and quiz, patterns, common mistakes, sorter, listening, reading, speaking prompts and model, writing task and model, differentiation, final check and the lesson mission. Picture match: website visual game “Topic E Consolidation — Complete Review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answer four cultural questions aloud with the frames, each verb with its preposition. Develop: add a reason (لِأَنَّ) and one qualifier to every answer. Stretch: a full topic answer across three tenses with a supported opinion and no overgeneralisation — then the website ~80-word self-review.
• This is the speaking rehearsal for the TE-L12 assessment (topic conversation on ثَقَافَتِي وَهُوِيَّتِي). Run the checklist ALOUD: mirror the tense → fix the preposition → add a reason → qualify the claim.
• Fairness and adab: كُلُّ العَرَبِ / كُلُّ المُسْلِمِينَ … is inaccurate as well as unkind to real diversity. One extra second (فِي بَعْضِ البُلْدَانِ) keeps statements true. Collect each student’s “one priority” for L12.
• TEACHER-WRITTEN ITEMS: one English quiz option replaced with Arabic, the English-description mistake replaced with an Arabic tense slip, and English added to the patterns and speaking model; the website visual game repeats TE-L04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1–3 test three of the five words prepared at home at the end of D6-L10 (website). Questions 4–5 retrieve D6-L10 (website) (hedges · كَانَ + present).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Mirror the tense → fix the preposition → add a reason → qualify the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مثال، علم، عام are shared — عام in Urdu means “common, general”, the root of Arabic أُعَمِّمُ (I generalise). CAREFUL: Urdu عبارت = a passage of text; Arabic بِعِبَارَةٍ أُخْرَى = in other words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with control (website vocabulary (1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with control (website vocabulary (2 of 2)). Hear → Say → See → Use. Transliteration is printed for Core students (cover it for Develop/Stretch).
Speaking with control: phrases that buy time (دَعْنِي أُفَكِّرُ), extend (عَلَى سَبِيلِ المِثَالِ), rephrase (بِعِبَارَةٍ أُخْرَى) and repair (عَفْوًا، أَقْصِدُ) — all in Arabic, never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Topic E spine to reuse (website vocabulary (1 of 2)). Hear → Say → See → Use. Transliteration is printed for Core students (cover it for Develop/Stretch).
FLEX: teach if time allows; otherwise these are on the website vocabulary tab for homework.
The Topic E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Topic E spine to reuse (website vocabulary (2 of 2)). Hear → Say → See → Use. Transliteration is printed for Core students (cover it for Develop/Stretch).
FLEX: teach if time allows; otherwise these are on the website vocabulary tab for homework.
The Topic E spine to reuse (FLEX — revision of L02–L09): every cultural verb with its fixed preposition, the cultural passives, and the opinion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(1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Qualifying in real time (website vocabulary (2 of 2)). Hear → Say → See → Use. Transliteration is printed for Core students (cover it for Develop/Stretch).
Qualifying in real time: each phrase keeps a cultural statement accurate. Build it INTO the sentence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“Mirror the tense of the question” (past question → past answer) and “Cultural verb plus preposition” (say the verb and the preposition as one unit so the pair never comes apart under pressure).
Drill: teacher says the verb, class answers with the preposition — يَحْتَفِلُ → بِـ · يَنْتَمِي → إِلَى · يَتَكَيَّفُ → مَعَ · يَحْتَفِظُ → بِـ · يَعْتَزُّ → بِـ · يَطْمَحُ → إِلَى.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“Extend with a reason or an example” (a bare answer scores little; one extension turns it into a response) and “Qualify as you speak” (a qualifier keeps a cultural statement accurate and shows control of register).
Website teaching points: “Hedge while you speak, not afterwards.” · “One accurate cultural verb beats three careless ones — examiners hear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checklist you can run while speaking: mirror the tense, fix the preposition, add a reason, qualify the claim.”
• Mirror the tense of the question: If the examiner asks with a past verb, answer with one. Switching to the present is the commonest avoidance pattern.
• Cultural verb plus preposition: Say the verb and the preposition as one unit so the pair never comes apart under pressure.
• Extend with a reason or an example: A bare answer scores little; one extension turns it into a response.
• Qualify as you speak: A qualifier keeps a cultural statement accurate and shows control of register.
Website common error: Overstating a cultural claim while speaking. Saying كُلُّ العَرَبِ is both inaccurate and avoidable; فِي بَعْضِ البُلْدَانِ costs one extra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from the website listening (the candidate). Model the repair on purpose: start with the present passive تُزَيَّنُ, stop, and self-correct to the past زُيِّنَتْ with عَفْوًا، أَقْصِدُ. Students hear that a repair in Arabic is a strength, not a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(“International Fair Relay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“International Fair Relay”: a country–language stand, a hospitality stand, a traditions stand.
Website feedback lines: The stand gives country and language information. · The stand is about hospitality and greeting customs. · The fair stand combines clothing, food and celebrations.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(“International Fair Relay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“International Fair Relay”: a country–language stand, a hospitality stand, a traditions stand.
Website feedback lines: The stand gives country and language information. · The stand is about hospitality and greeting customs. · The fair stand combines clothing, food and celebrations.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one full answer: one card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 and note her time-buying, repair and qualifying phrases.
Listen 1: just listen. Listen 2: note answers. Then chat the letters.
Support: after the second listening, show the read-along slide (Arabic + English, line by line) for Core students.
SCRIPT (read aloud):
المُمْتَحِنُ: صِفْ مُنَاسَبَةً ثَقَافِيَّةً مَرَرْتَ بِهَا. الطَّالِبَةُ: دَعْنِي أُفَكِّرُ. فِي العَامِ المَاضِي حَضَرْتُ حَفْلًا فِي المَرْكَزِ الثَّقَافِيِّ، وَتُزَيَّنُ القَاعَةُ عَادَةً بِالأَعْلَامِ وَالفَوَانِيسِ. عَفْوًا، أَقْصِدُ أَنَّهَا زُيِّنَتْ فِي ذٰلِكَ اليَوْمِ. المُمْتَحِنُ: وَهَلْ يَحْتَفِلُ كُلُّ النَّاسِ بِالطَّرِيقَةِ نَفْسِهَا؟ الطَّالِبَةُ: عَلَى حَدِّ عِلْمِي لَا؛ فَفِي بَعْضِ البُلْدَانِ تَخْتَلِفُ العَادَاتُ، وَلَيْسَ دَائِمًا يَتَشَابَهُ الاحْتِفَالُ. المُمْتَحِنُ: وَمَا أَهَمِّيَّةُ اللُّغَةِ العَرَبِيَّةِ فِي حَيَاتِكِ؟ الطَّالِبَةُ: لَا يُمْكِنُ إِنْكَارُ أَنَّ اللُّغَةَ جُزْءٌ مِنَ الهُوِيَّةِ، وَأَعْتَزُّ بِهَا، وَسَأُوَاصِلُ تَعَلُّمَهَا.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(5 min — it takes the speaking-rehearsal slot; the website speaking slide after it is FLEX) — from the website Topic page: “Combine country, language, custom, festival and travel clues to prepare a short information stand, then answer questions from another group.”
Website Topic E challenge “International fair information gap”: combine country, language, custom, festival and travel clues into a short information stand, then answer questions from another group. Suggested countries: المَغْرِبُ · عُمَانُ · مَالِيزْيَا · تُرْكِيَا · مِصْرُ.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يَحْتَفِلُ الجَمِيعُ بِالطَّرِيقَةِ نَفْسِهَا؟ (And does everyone celebrate the same way?)
B: عَلَى حَدِّ عِلْمِي لَا؛ فَفِي بَعْضِ البُلْدَانِ تَخْتَلِفُ العَادَاتُ، وَلَا يُمْكِنُ إِنْكَارُ أَنَّ التَّنَوُّعَ ثَرْوَةٌ. (As far as I know, no — in some countries customs differ, and it cannot be denied that diversity is a richness.)
Website prompts and model: a full topic-conversation rehearsal. Pairs swap roles (examiner / candidate); the examiner ticks: tense mirrored · preposition · reason · qualifier. To a girl: تُرِيدِينَ · مَرَرْتِ · حَيَاتِكِ.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cultural questions aloud using the sentence frames, each with the right preposition. · Develop — Add a reason to each answer and one qualifier. · Stretch — Deliver a full topic answer across three tenses with a supported opinion and no overgeneralisation.
Website writing task (Stretch): Write about eighty words reviewing your own Topic E progress. Say what you found difficult,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كُنْتُ أُخْطِئُ · كُنْتُ أُعَمِّمُ · تَدَرَّبْتُ · صَارَا · نَحْتَفِلُ بِالعِيدِ · فِي بَعْضِ البُلْدَانِ · عَلَى حَدِّ عِلْمِي · عَلَى الرَّغْمِ مِنْ ذٰلِكَ · سَأُرَكِّزُ · أَطْمَحُ إِلَى أَنْ أَتَحَدَّثَ.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(TE-L12 · Topic E Review and Bridge to Final Revision) will spend class time USING this language, so students prepare it tonight — short, simple, easy to access (school guidance: “Simple, Short, Interesting, Relevant, Easy to access”). The five words prepare students for the TE-L12 assessment (its four parts and checking).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1.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image" Target="../media/image-22-7.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Topic E Integrated Communication Workshop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التَّوَاصُلِ المُتَكَامِلِ لِلْمِحْوَرِ هـ</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Sustain spontaneous and connected communication across international contexts.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TE-L11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Mirror, fix, extend, qualify — while speaking.</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answer / extend / qualify, fix three slips, then hear a candidate.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hesitation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حَدِّ عِلْمِي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as far as I know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my opinion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example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 أُعَمِّمُ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know</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agree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 not generalise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speaker says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families do this.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varies between families.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families do this.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كَانَتْ جَدَّتِي تُعِدُّ الحَلْوَى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used to make the sweets.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made the sweets once.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grandmother will make the sweets.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hesitation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عَلَى حَدِّ عِلْمِي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as far as I know</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my opinion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example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 أُعَمِّمُ</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 not know</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do not agree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do not generalise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(D6-L10,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speaker says </a:t>
            </a:r>
            <a:pPr algn="l" indent="0" marL="0">
              <a:buNone/>
            </a:pPr>
            <a:r>
              <a:rPr lang="ar-SA" altLang="en-US" sz="1650" b="1" dirty="0">
                <a:solidFill>
                  <a:srgbClr val="1B3B6F"/>
                </a:solidFill>
                <a:latin typeface="Amiri" pitchFamily="2" charset="-78"/>
                <a:ea typeface="Amiri" pitchFamily="2" charset="-78"/>
                <a:cs typeface="Amiri" pitchFamily="2" charset="-78"/>
              </a:rPr>
              <a:t>فِي بَعْضِ العَائِلَاتِ</a:t>
            </a:r>
            <a:pPr algn="l" indent="0" marL="0">
              <a:buNone/>
            </a:pPr>
            <a:r>
              <a:rPr lang="en-US" sz="1250" b="1" dirty="0">
                <a:solidFill>
                  <a:srgbClr val="1B3B6F"/>
                </a:solidFill>
                <a:latin typeface="Calibri" pitchFamily="34" charset="0"/>
                <a:cs typeface="Amiri" pitchFamily="2" charset="-78"/>
              </a:rPr>
              <a:t>. Which option is wrong?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 families do this.</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varies between families.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All families do this.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D6-L10 (website): a hedge narrows the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كَانَتْ جَدَّتِي تُعِدُّ الحَلْوَى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My grandmother used to make the sweets.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My grandmother made the sweets once.</a:t>
            </a:r>
            <a:endParaRPr lang="en-US" sz="12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grandmother will make the sweets.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D6-L10 (website): </a:t>
            </a:r>
            <a:pPr algn="l" indent="0" marL="0">
              <a:buNone/>
            </a:pPr>
            <a:r>
              <a:rPr lang="ar-SA" altLang="en-US" sz="1350" dirty="0">
                <a:solidFill>
                  <a:srgbClr val="8A6D1E"/>
                </a:solidFill>
                <a:latin typeface="Amiri" pitchFamily="2" charset="-78"/>
                <a:ea typeface="Amiri" pitchFamily="2" charset="-78"/>
                <a:cs typeface="Amiri" pitchFamily="2" charset="-78"/>
              </a:rPr>
              <a:t>كَانَ</a:t>
            </a:r>
            <a:pPr algn="l" indent="0" marL="0">
              <a:buNone/>
            </a:pPr>
            <a:r>
              <a:rPr lang="en-US" sz="1050" i="1" dirty="0">
                <a:solidFill>
                  <a:srgbClr val="8A6D1E"/>
                </a:solidFill>
                <a:latin typeface="Calibri" pitchFamily="34" charset="0"/>
                <a:cs typeface="Amiri" pitchFamily="2" charset="-78"/>
              </a:rPr>
              <a:t> + present = past habit.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Mirror the tense → fix the preposition → add a reason → qualify the claim.</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حَضَرْتُ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نَحْتَفِلُ بِـ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لِأَنَّ</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فِي بَعْضِ البُلْدَانِ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Sustain a topic conversation on culture and identity.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 verbs, three tenses and an opinion while speaking.</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Qualify a cultural claim in real time.</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my own priority before the final assessment.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answer in the tense the question uses.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say each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add a reason or an example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qualify one claim (</a:t>
            </a:r>
            <a:pPr algn="l" indent="0" marL="0">
              <a:buNone/>
            </a:pPr>
            <a:r>
              <a:rPr lang="ar-SA" altLang="en-US" sz="1700" b="1" dirty="0">
                <a:solidFill>
                  <a:srgbClr val="C9780A"/>
                </a:solidFill>
                <a:latin typeface="Amiri" pitchFamily="2" charset="-78"/>
                <a:ea typeface="Amiri" pitchFamily="2" charset="-78"/>
                <a:cs typeface="Amiri" pitchFamily="2" charset="-78"/>
              </a:rPr>
              <a:t>فِي بَعْضِ</a:t>
            </a:r>
            <a:pPr algn="l" indent="0" marL="0">
              <a:buNone/>
            </a:pPr>
            <a:r>
              <a:rPr lang="en-US" sz="1300" b="1" dirty="0">
                <a:solidFill>
                  <a:srgbClr val="C9780A"/>
                </a:solidFill>
                <a:latin typeface="Calibri" pitchFamily="34" charset="0"/>
                <a:cs typeface="Amiri" pitchFamily="2" charset="-78"/>
              </a:rPr>
              <a:t>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give a full answer across three tenses with a supported opinion.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for the assessment.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Speaking with control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Topic E spine to reuse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Qualifying in real time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تَقْيِيمٌ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‎تقییم / قدر‎ </a:t>
            </a:r>
            <a:pPr indent="0" marL="0">
              <a:buNone/>
            </a:pPr>
            <a:r>
              <a:rPr lang="ar-SA" sz="950" b="1" dirty="0">
                <a:solidFill>
                  <a:srgbClr val="2E8B57"/>
                </a:solidFill>
                <a:latin typeface="Calibri" pitchFamily="34" charset="0"/>
                <a:ea typeface="Amiri" pitchFamily="2" charset="-78"/>
                <a:cs typeface="Amiri" pitchFamily="2" charset="-78"/>
              </a:rPr>
              <a:t> qadr · assessment, evaluation (قِيمَةٌ = value)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مِثَالٌ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‎مثال‎ </a:t>
            </a:r>
            <a:pPr indent="0" marL="0">
              <a:buNone/>
            </a:pPr>
            <a:r>
              <a:rPr lang="en-US" sz="950" b="1" dirty="0">
                <a:solidFill>
                  <a:srgbClr val="2E8B57"/>
                </a:solidFill>
                <a:latin typeface="Calibri" pitchFamily="34" charset="0"/>
                <a:cs typeface="Amiri" pitchFamily="2" charset="-78"/>
              </a:rPr>
              <a:t> misāl · example (same word)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‎علم‎ </a:t>
            </a:r>
            <a:pPr indent="0" marL="0">
              <a:buNone/>
            </a:pPr>
            <a:r>
              <a:rPr lang="ar-SA" sz="950" b="1" dirty="0">
                <a:solidFill>
                  <a:srgbClr val="2E8B57"/>
                </a:solidFill>
                <a:latin typeface="Calibri" pitchFamily="34" charset="0"/>
                <a:ea typeface="Amiri" pitchFamily="2" charset="-78"/>
                <a:cs typeface="Amiri" pitchFamily="2" charset="-78"/>
              </a:rPr>
              <a:t> ʿilm · knowledge (عَلَى حَدِّ عِلْمِي = as far as I know)</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عِبَارَةٌ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‎عبارت‎ </a:t>
            </a:r>
            <a:pPr indent="0" marL="0">
              <a:buNone/>
            </a:pPr>
            <a:r>
              <a:rPr lang="en-US" sz="950" b="1" dirty="0">
                <a:solidFill>
                  <a:srgbClr val="2E8B57"/>
                </a:solidFill>
                <a:latin typeface="Calibri" pitchFamily="34" charset="0"/>
                <a:cs typeface="Amiri" pitchFamily="2" charset="-78"/>
              </a:rPr>
              <a:t> ʿibārat · Urdu: a written passage · Arabic: a phrase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عَامٌّ / تَعْمِيمٌ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‎عام‎ </a:t>
            </a:r>
            <a:pPr indent="0" marL="0">
              <a:buNone/>
            </a:pPr>
            <a:r>
              <a:rPr lang="ar-SA" sz="950" b="1" dirty="0">
                <a:solidFill>
                  <a:srgbClr val="2E8B57"/>
                </a:solidFill>
                <a:latin typeface="Calibri" pitchFamily="34" charset="0"/>
                <a:ea typeface="Amiri" pitchFamily="2" charset="-78"/>
                <a:cs typeface="Amiri" pitchFamily="2" charset="-78"/>
              </a:rPr>
              <a:t> ʿām · general (لَا أُعَمِّمُ = I do not generalise)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with control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مُرَاجَعَةٌ نِهَائِيَّةٌ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final review</a:t>
            </a:r>
            <a:endParaRPr lang="en-US" sz="1350" dirty="0"/>
          </a:p>
          <a:p>
            <a:pPr indent="0" marL="0">
              <a:buNone/>
            </a:pPr>
            <a:r>
              <a:rPr lang="en-US" sz="1100" i="1" dirty="0">
                <a:solidFill>
                  <a:srgbClr val="5A6472"/>
                </a:solidFill>
                <a:latin typeface="Calibri" pitchFamily="34" charset="0"/>
                <a:cs typeface="Amiri" pitchFamily="2" charset="-78"/>
              </a:rPr>
              <a:t>mu-rā-ja-ʿa-tun ni-hā-ʾiy-ya-tun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تَقْيِيمٌ ذَاتِيٌّ</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self-assessment</a:t>
            </a:r>
            <a:endParaRPr lang="en-US" sz="1350" dirty="0"/>
          </a:p>
          <a:p>
            <a:pPr indent="0" marL="0">
              <a:buNone/>
            </a:pPr>
            <a:r>
              <a:rPr lang="en-US" sz="1100" i="1" dirty="0">
                <a:solidFill>
                  <a:srgbClr val="5A6472"/>
                </a:solidFill>
                <a:latin typeface="Calibri" pitchFamily="34" charset="0"/>
                <a:cs typeface="Amiri" pitchFamily="2" charset="-78"/>
              </a:rPr>
              <a:t>taq-yī-mun dhā-tiy-yun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تَقْيِيمَاتٌ ذَاتِيَّةٌ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الدِّقَّةُ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with control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51790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Buys time in Arabic.</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دَعْنِي أُفَكِّرُ</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a:t>
            </a:r>
            <a:endParaRPr lang="en-US" sz="1350" dirty="0"/>
          </a:p>
          <a:p>
            <a:pPr indent="0" marL="0">
              <a:buNone/>
            </a:pPr>
            <a:r>
              <a:rPr lang="en-US" sz="1100" i="1" dirty="0">
                <a:solidFill>
                  <a:srgbClr val="5A6472"/>
                </a:solidFill>
                <a:latin typeface="Calibri" pitchFamily="34" charset="0"/>
                <a:cs typeface="Amiri" pitchFamily="2" charset="-78"/>
              </a:rPr>
              <a:t>daʿ-nī u-fak-ki-ru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بِعِبَارَةٍ أُخْرَى</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repair 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عَفْوًا، أَقْصِدُ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sorry, I mean</a:t>
            </a:r>
            <a:endParaRPr lang="en-US" sz="1350" dirty="0"/>
          </a:p>
          <a:p>
            <a:pPr indent="0" marL="0">
              <a:buNone/>
            </a:pPr>
            <a:r>
              <a:rPr lang="en-US" sz="1100" i="1" dirty="0">
                <a:solidFill>
                  <a:srgbClr val="5A6472"/>
                </a:solidFill>
                <a:latin typeface="Calibri" pitchFamily="34" charset="0"/>
                <a:cs typeface="Amiri" pitchFamily="2" charset="-78"/>
              </a:rPr>
              <a:t>ʿaf-wan, aq-ṣi-du</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Topic E spine to reuse (1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0" name="Shape 17"/>
          <p:cNvSpPr/>
          <p:nvPr/>
        </p:nvSpPr>
        <p:spPr>
          <a:xfrm>
            <a:off x="8604504" y="1938528"/>
            <a:ext cx="958291"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VIII · past</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يَحْتَفِلُ بِـ</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اِحْتَفَلَ</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أَحْتَفِلُ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Shape 30"/>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Fixed with إِلَى.</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يَنْتَمِي إِلَى</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يَتَمَسَّكُ بِـ</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5" name="Shape 42"/>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 · past</a:t>
            </a:r>
            <a:endParaRPr lang="en-US" sz="800" dirty="0"/>
          </a:p>
        </p:txBody>
      </p:sp>
      <p:sp>
        <p:nvSpPr>
          <p:cNvPr id="47" name="Text 4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يَتَكَيَّفُ مَعَ</a:t>
            </a:r>
            <a:endParaRPr lang="ar-SA" sz="3000" dirty="0"/>
          </a:p>
        </p:txBody>
      </p:sp>
      <p:sp>
        <p:nvSpPr>
          <p:cNvPr id="48" name="Text 4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49" name="Shape 4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1" name="Text 4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تَكَيَّفَ</a:t>
            </a:r>
            <a:endParaRPr lang="ar-SA" sz="1350" dirty="0"/>
          </a:p>
        </p:txBody>
      </p:sp>
      <p:sp>
        <p:nvSpPr>
          <p:cNvPr id="52" name="Shape 4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4" name="Text 5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أَتَكَيَّفُ</a:t>
            </a:r>
            <a:endParaRPr lang="ar-SA" sz="15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The Topic E spine to reuse (2 of 2)</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يَحْتَفِظُ بِـ</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يُعَدُّ 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counted among</a:t>
            </a:r>
            <a:endParaRPr lang="en-US" sz="1350" dirty="0"/>
          </a:p>
          <a:p>
            <a:pPr indent="0" marL="0">
              <a:buNone/>
            </a:pPr>
            <a:r>
              <a:rPr lang="en-US" sz="1100" i="1" dirty="0">
                <a:solidFill>
                  <a:srgbClr val="5A6472"/>
                </a:solidFill>
                <a:latin typeface="Calibri" pitchFamily="34" charset="0"/>
                <a:cs typeface="Amiri" pitchFamily="2" charset="-78"/>
              </a:rPr>
              <a:t>yu-ʿad-du min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0" name="Shape 27"/>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Cultural passives.</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تُزَيَّنُ / تُتَبَادَلُ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decorated / are exchanged</a:t>
            </a:r>
            <a:endParaRPr lang="en-US" sz="1350" dirty="0"/>
          </a:p>
          <a:p>
            <a:pPr indent="0" marL="0">
              <a:buNone/>
            </a:pPr>
            <a:r>
              <a:rPr lang="en-US" sz="1100" i="1" dirty="0">
                <a:solidFill>
                  <a:srgbClr val="5A6472"/>
                </a:solidFill>
                <a:latin typeface="Calibri" pitchFamily="34" charset="0"/>
                <a:cs typeface="Amiri" pitchFamily="2" charset="-78"/>
              </a:rPr>
              <a:t>tu-zay-ya-nu / tu-ta-bā-da-lu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يُمْكِنُ إِنْكَارُ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cannot be denied that</a:t>
            </a:r>
            <a:endParaRPr lang="en-US" sz="1350" dirty="0"/>
          </a:p>
          <a:p>
            <a:pPr indent="0" marL="0">
              <a:buNone/>
            </a:pPr>
            <a:r>
              <a:rPr lang="en-US" sz="1100" i="1" dirty="0">
                <a:solidFill>
                  <a:srgbClr val="5A6472"/>
                </a:solidFill>
                <a:latin typeface="Calibri" pitchFamily="34" charset="0"/>
                <a:cs typeface="Amiri" pitchFamily="2" charset="-78"/>
              </a:rPr>
              <a:t>lā yum-ki-nu in-kā-ru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Qualifying in real time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البُلْدَانِ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بَلَدٌ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 · sg</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بَعْضِ العَائِلَاتِ</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families</a:t>
            </a:r>
            <a:endParaRPr lang="en-US" sz="1350" dirty="0"/>
          </a:p>
          <a:p>
            <a:pPr indent="0" marL="0">
              <a:buNone/>
            </a:pPr>
            <a:r>
              <a:rPr lang="en-US" sz="1100" i="1" dirty="0">
                <a:solidFill>
                  <a:srgbClr val="5A6472"/>
                </a:solidFill>
                <a:latin typeface="Calibri" pitchFamily="34" charset="0"/>
                <a:cs typeface="Amiri" pitchFamily="2" charset="-78"/>
              </a:rPr>
              <a:t>fī baʿ-ḍi al-ʿā-ʾi-lā-ti</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عَائِلَةٌ</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لَيْسَ دَائِمًا</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Qualifying in real time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حَدِّ عِلْمِي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far as I know</a:t>
            </a:r>
            <a:endParaRPr lang="en-US" sz="1350" dirty="0"/>
          </a:p>
          <a:p>
            <a:pPr indent="0" marL="0">
              <a:buNone/>
            </a:pPr>
            <a:r>
              <a:rPr lang="en-US" sz="1100" i="1" dirty="0">
                <a:solidFill>
                  <a:srgbClr val="5A6472"/>
                </a:solidFill>
                <a:latin typeface="Calibri" pitchFamily="34" charset="0"/>
                <a:cs typeface="Amiri" pitchFamily="2" charset="-78"/>
              </a:rPr>
              <a:t>ʿa-lā ḥad-di ʿil-mī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يَخْتَلِفُ الأَمْرُ</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varies</a:t>
            </a:r>
            <a:endParaRPr lang="en-US" sz="1350" dirty="0"/>
          </a:p>
          <a:p>
            <a:pPr indent="0" marL="0">
              <a:buNone/>
            </a:pPr>
            <a:r>
              <a:rPr lang="en-US" sz="1100" i="1" dirty="0">
                <a:solidFill>
                  <a:srgbClr val="5A6472"/>
                </a:solidFill>
                <a:latin typeface="Calibri" pitchFamily="34" charset="0"/>
                <a:cs typeface="Amiri" pitchFamily="2" charset="-78"/>
              </a:rPr>
              <a:t>yakh-ta-li-fu al-am-ru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وِجْهَةِ نَظَرِي</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from my point of view</a:t>
            </a:r>
            <a:endParaRPr lang="en-US" sz="1350" dirty="0"/>
          </a:p>
          <a:p>
            <a:pPr indent="0" marL="0">
              <a:buNone/>
            </a:pPr>
            <a:r>
              <a:rPr lang="en-US" sz="1100" i="1" dirty="0">
                <a:solidFill>
                  <a:srgbClr val="5A6472"/>
                </a:solidFill>
                <a:latin typeface="Calibri" pitchFamily="34" charset="0"/>
                <a:cs typeface="Amiri" pitchFamily="2" charset="-78"/>
              </a:rPr>
              <a:t>min wij-ha-ti na-ẓa-rī</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7" name="Shape 34"/>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II · I · he</a:t>
            </a:r>
            <a:endParaRPr lang="en-US" sz="8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أُعَمِّمُ</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generalise</a:t>
            </a:r>
            <a:endParaRPr lang="en-US" sz="1350" dirty="0"/>
          </a:p>
          <a:p>
            <a:pPr indent="0" marL="0">
              <a:buNone/>
            </a:pPr>
            <a:r>
              <a:rPr lang="en-US" sz="1100" i="1" dirty="0">
                <a:solidFill>
                  <a:srgbClr val="5A6472"/>
                </a:solidFill>
                <a:latin typeface="Calibri" pitchFamily="34" charset="0"/>
                <a:cs typeface="Amiri" pitchFamily="2" charset="-78"/>
              </a:rPr>
              <a:t>lā u-ʿam-mi-mu</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 يُعَمِّمُ</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 تُعَمِّمُ</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1 · MIRROR THE TENSE, KEEP THE PREPOSITION (WEBSITE RULES 1–2)</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Answer the question that was asked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أَجِبْ بِزَمَنِ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38221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Candidate answers (website)</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Examiner asks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345168" y="2267712"/>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 past</a:t>
            </a:r>
            <a:endParaRPr lang="en-US" sz="1100" dirty="0"/>
          </a:p>
        </p:txBody>
      </p:sp>
      <p:sp>
        <p:nvSpPr>
          <p:cNvPr id="21" name="Text 18"/>
          <p:cNvSpPr txBox="1"/>
          <p:nvPr/>
        </p:nvSpPr>
        <p:spPr>
          <a:xfrm>
            <a:off x="3840480" y="2286000"/>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فِي العَامِ المَاضِي </a:t>
            </a:r>
            <a:pPr rtl="1" algn="ctr" indent="0" marL="0">
              <a:buNone/>
            </a:pPr>
            <a:r>
              <a:rPr lang="ar-SA" altLang="en-US" sz="2100" b="1" dirty="0">
                <a:solidFill>
                  <a:srgbClr val="0E7C86"/>
                </a:solidFill>
                <a:latin typeface="Amiri" pitchFamily="2" charset="-78"/>
                <a:ea typeface="Amiri" pitchFamily="2" charset="-78"/>
                <a:cs typeface="Amiri" pitchFamily="2" charset="-78"/>
              </a:rPr>
              <a:t>حَضَرْتُ</a:t>
            </a:r>
            <a:pPr rtl="1" algn="ctr" indent="0" marL="0">
              <a:buNone/>
            </a:pPr>
            <a:r>
              <a:rPr lang="ar-SA" altLang="en-US" sz="2100" b="1" dirty="0">
                <a:solidFill>
                  <a:srgbClr val="1B3B6F"/>
                </a:solidFill>
                <a:latin typeface="Amiri" pitchFamily="2" charset="-78"/>
                <a:ea typeface="Amiri" pitchFamily="2" charset="-78"/>
                <a:cs typeface="Amiri" pitchFamily="2" charset="-78"/>
              </a:rPr>
              <a:t> حَفْلًا فِي المَرْكَزِ.</a:t>
            </a:r>
            <a:endParaRPr lang="ar-SA" sz="2100" dirty="0"/>
          </a:p>
        </p:txBody>
      </p:sp>
      <p:sp>
        <p:nvSpPr>
          <p:cNvPr id="22" name="Text 19"/>
          <p:cNvSpPr txBox="1"/>
          <p:nvPr/>
        </p:nvSpPr>
        <p:spPr>
          <a:xfrm>
            <a:off x="3794760" y="2706624"/>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Last year I attended a party at the centre.</a:t>
            </a:r>
            <a:endParaRPr lang="en-US" sz="950" dirty="0"/>
          </a:p>
        </p:txBody>
      </p:sp>
      <p:sp>
        <p:nvSpPr>
          <p:cNvPr id="23" name="Text 20"/>
          <p:cNvSpPr txBox="1"/>
          <p:nvPr/>
        </p:nvSpPr>
        <p:spPr>
          <a:xfrm>
            <a:off x="548640" y="2267712"/>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مُنَاسَبَةً </a:t>
            </a:r>
            <a:pPr rtl="1" algn="ctr" indent="0" marL="0">
              <a:buNone/>
            </a:pPr>
            <a:r>
              <a:rPr lang="ar-SA" altLang="en-US" sz="2000" b="1" dirty="0">
                <a:solidFill>
                  <a:srgbClr val="0E7C86"/>
                </a:solidFill>
                <a:latin typeface="Amiri" pitchFamily="2" charset="-78"/>
                <a:ea typeface="Amiri" pitchFamily="2" charset="-78"/>
                <a:cs typeface="Amiri" pitchFamily="2" charset="-78"/>
              </a:rPr>
              <a:t>مَرَرْتَ</a:t>
            </a:r>
            <a:pPr rtl="1" algn="ctr" indent="0" marL="0">
              <a:buNone/>
            </a:pPr>
            <a:r>
              <a:rPr lang="ar-SA" altLang="en-US" sz="2000" b="1" dirty="0">
                <a:solidFill>
                  <a:srgbClr val="1B3B6F"/>
                </a:solidFill>
                <a:latin typeface="Amiri" pitchFamily="2" charset="-78"/>
                <a:ea typeface="Amiri" pitchFamily="2" charset="-78"/>
                <a:cs typeface="Amiri" pitchFamily="2" charset="-78"/>
              </a:rPr>
              <a:t> بِهَا.</a:t>
            </a:r>
            <a:endParaRPr lang="ar-SA" sz="20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345168" y="3054096"/>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bi-</a:t>
            </a:r>
            <a:endParaRPr lang="en-US" sz="1100" dirty="0"/>
          </a:p>
        </p:txBody>
      </p:sp>
      <p:sp>
        <p:nvSpPr>
          <p:cNvPr id="28" name="Text 25"/>
          <p:cNvSpPr txBox="1"/>
          <p:nvPr/>
        </p:nvSpPr>
        <p:spPr>
          <a:xfrm>
            <a:off x="3840480" y="3072384"/>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نَحْتَفِلُ بِالعِيدِ</a:t>
            </a:r>
            <a:pPr rtl="1" algn="ctr" indent="0" marL="0">
              <a:buNone/>
            </a:pPr>
            <a:r>
              <a:rPr lang="ar-SA" altLang="en-US" sz="2100" b="1" dirty="0">
                <a:solidFill>
                  <a:srgbClr val="1B3B6F"/>
                </a:solidFill>
                <a:latin typeface="Amiri" pitchFamily="2" charset="-78"/>
                <a:ea typeface="Amiri" pitchFamily="2" charset="-78"/>
                <a:cs typeface="Amiri" pitchFamily="2" charset="-78"/>
              </a:rPr>
              <a:t> كُلَّ سَنَةٍ مَعَ الجَالِيَةِ.</a:t>
            </a:r>
            <a:endParaRPr lang="ar-SA" sz="2100" dirty="0"/>
          </a:p>
        </p:txBody>
      </p:sp>
      <p:sp>
        <p:nvSpPr>
          <p:cNvPr id="29" name="Text 26"/>
          <p:cNvSpPr txBox="1"/>
          <p:nvPr/>
        </p:nvSpPr>
        <p:spPr>
          <a:xfrm>
            <a:off x="3794760" y="3493008"/>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celebrate Eid every year with the community.</a:t>
            </a:r>
            <a:endParaRPr lang="en-US" sz="950" dirty="0"/>
          </a:p>
        </p:txBody>
      </p:sp>
      <p:sp>
        <p:nvSpPr>
          <p:cNvPr id="30" name="Text 27"/>
          <p:cNvSpPr txBox="1"/>
          <p:nvPr/>
        </p:nvSpPr>
        <p:spPr>
          <a:xfrm>
            <a:off x="548640" y="3054096"/>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كَيْفَ </a:t>
            </a:r>
            <a:pPr rtl="1" algn="ctr" indent="0" marL="0">
              <a:buNone/>
            </a:pPr>
            <a:r>
              <a:rPr lang="ar-SA" altLang="en-US" sz="2000" b="1" dirty="0">
                <a:solidFill>
                  <a:srgbClr val="D6336C"/>
                </a:solidFill>
                <a:latin typeface="Amiri" pitchFamily="2" charset="-78"/>
                <a:ea typeface="Amiri" pitchFamily="2" charset="-78"/>
                <a:cs typeface="Amiri" pitchFamily="2" charset="-78"/>
              </a:rPr>
              <a:t>تَحْتَفِلُونَ</a:t>
            </a:r>
            <a:pPr rtl="1" algn="ctr" indent="0" marL="0">
              <a:buNone/>
            </a:pPr>
            <a:r>
              <a:rPr lang="ar-SA" altLang="en-US" sz="2000" b="1" dirty="0">
                <a:solidFill>
                  <a:srgbClr val="1B3B6F"/>
                </a:solidFill>
                <a:latin typeface="Amiri" pitchFamily="2" charset="-78"/>
                <a:ea typeface="Amiri" pitchFamily="2" charset="-78"/>
                <a:cs typeface="Amiri" pitchFamily="2" charset="-78"/>
              </a:rPr>
              <a:t> بِالعِيدِ؟</a:t>
            </a:r>
            <a:endParaRPr lang="ar-SA" sz="2000" dirty="0"/>
          </a:p>
        </p:txBody>
      </p:sp>
      <p:sp>
        <p:nvSpPr>
          <p:cNvPr id="31" name="Shape 28"/>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4" name="Text 31"/>
          <p:cNvSpPr txBox="1"/>
          <p:nvPr/>
        </p:nvSpPr>
        <p:spPr>
          <a:xfrm>
            <a:off x="9345168" y="3840480"/>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present + ilā</a:t>
            </a:r>
            <a:endParaRPr lang="en-US" sz="1100" dirty="0"/>
          </a:p>
        </p:txBody>
      </p:sp>
      <p:sp>
        <p:nvSpPr>
          <p:cNvPr id="35" name="Text 32"/>
          <p:cNvSpPr txBox="1"/>
          <p:nvPr/>
        </p:nvSpPr>
        <p:spPr>
          <a:xfrm>
            <a:off x="3840480" y="3858768"/>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D6336C"/>
                </a:solidFill>
                <a:latin typeface="Amiri" pitchFamily="2" charset="-78"/>
                <a:ea typeface="Amiri" pitchFamily="2" charset="-78"/>
                <a:cs typeface="Amiri" pitchFamily="2" charset="-78"/>
              </a:rPr>
              <a:t>أَنْتَمِي إِلَى</a:t>
            </a:r>
            <a:pPr rtl="1" algn="ctr" indent="0" marL="0">
              <a:buNone/>
            </a:pPr>
            <a:r>
              <a:rPr lang="ar-SA" altLang="en-US" sz="2100" b="1" dirty="0">
                <a:solidFill>
                  <a:srgbClr val="1B3B6F"/>
                </a:solidFill>
                <a:latin typeface="Amiri" pitchFamily="2" charset="-78"/>
                <a:ea typeface="Amiri" pitchFamily="2" charset="-78"/>
                <a:cs typeface="Amiri" pitchFamily="2" charset="-78"/>
              </a:rPr>
              <a:t> ثَقَافَتَيْنِ.</a:t>
            </a:r>
            <a:endParaRPr lang="ar-SA" sz="2100" dirty="0"/>
          </a:p>
        </p:txBody>
      </p:sp>
      <p:sp>
        <p:nvSpPr>
          <p:cNvPr id="36" name="Text 33"/>
          <p:cNvSpPr txBox="1"/>
          <p:nvPr/>
        </p:nvSpPr>
        <p:spPr>
          <a:xfrm>
            <a:off x="3794760" y="4279392"/>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belong to two cultures.</a:t>
            </a:r>
            <a:endParaRPr lang="en-US" sz="950" dirty="0"/>
          </a:p>
        </p:txBody>
      </p:sp>
      <p:sp>
        <p:nvSpPr>
          <p:cNvPr id="37" name="Text 34"/>
          <p:cNvSpPr txBox="1"/>
          <p:nvPr/>
        </p:nvSpPr>
        <p:spPr>
          <a:xfrm>
            <a:off x="548640" y="3840480"/>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إِلَى أَيِّ ثَقَافَةٍ </a:t>
            </a:r>
            <a:pPr rtl="1" algn="ctr" indent="0" marL="0">
              <a:buNone/>
            </a:pPr>
            <a:r>
              <a:rPr lang="ar-SA" altLang="en-US" sz="2000" b="1" dirty="0">
                <a:solidFill>
                  <a:srgbClr val="D6336C"/>
                </a:solidFill>
                <a:latin typeface="Amiri" pitchFamily="2" charset="-78"/>
                <a:ea typeface="Amiri" pitchFamily="2" charset="-78"/>
                <a:cs typeface="Amiri" pitchFamily="2" charset="-78"/>
              </a:rPr>
              <a:t>تَنْتَمِي</a:t>
            </a:r>
            <a:pPr rtl="1" algn="ctr" indent="0" marL="0">
              <a:buNone/>
            </a:pPr>
            <a:r>
              <a:rPr lang="ar-SA" altLang="en-US" sz="2000" b="1" dirty="0">
                <a:solidFill>
                  <a:srgbClr val="1B3B6F"/>
                </a:solidFill>
                <a:latin typeface="Amiri" pitchFamily="2" charset="-78"/>
                <a:ea typeface="Amiri" pitchFamily="2" charset="-78"/>
                <a:cs typeface="Amiri" pitchFamily="2" charset="-78"/>
              </a:rPr>
              <a:t>؟</a:t>
            </a:r>
            <a:endParaRPr lang="ar-SA" sz="2000" dirty="0"/>
          </a:p>
        </p:txBody>
      </p:sp>
      <p:sp>
        <p:nvSpPr>
          <p:cNvPr id="38" name="Shape 35"/>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1" name="Text 38"/>
          <p:cNvSpPr txBox="1"/>
          <p:nvPr/>
        </p:nvSpPr>
        <p:spPr>
          <a:xfrm>
            <a:off x="9345168" y="4626864"/>
            <a:ext cx="2313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 future</a:t>
            </a:r>
            <a:endParaRPr lang="en-US" sz="1100" dirty="0"/>
          </a:p>
        </p:txBody>
      </p:sp>
      <p:sp>
        <p:nvSpPr>
          <p:cNvPr id="42" name="Text 39"/>
          <p:cNvSpPr txBox="1"/>
          <p:nvPr/>
        </p:nvSpPr>
        <p:spPr>
          <a:xfrm>
            <a:off x="3840480" y="4645152"/>
            <a:ext cx="53035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2" charset="-78"/>
                <a:ea typeface="Amiri" pitchFamily="2" charset="-78"/>
                <a:cs typeface="Amiri" pitchFamily="2" charset="-78"/>
              </a:rPr>
              <a:t>سَأَزُورُ</a:t>
            </a:r>
            <a:pPr rtl="1" algn="ctr" indent="0" marL="0">
              <a:buNone/>
            </a:pPr>
            <a:r>
              <a:rPr lang="ar-SA" altLang="en-US" sz="2100" b="1" dirty="0">
                <a:solidFill>
                  <a:srgbClr val="1B3B6F"/>
                </a:solidFill>
                <a:latin typeface="Amiri" pitchFamily="2" charset="-78"/>
                <a:ea typeface="Amiri" pitchFamily="2" charset="-78"/>
                <a:cs typeface="Amiri" pitchFamily="2" charset="-78"/>
              </a:rPr>
              <a:t> بَلَدَ أُسْرَتِي.</a:t>
            </a:r>
            <a:endParaRPr lang="ar-SA" sz="2100" dirty="0"/>
          </a:p>
        </p:txBody>
      </p:sp>
      <p:sp>
        <p:nvSpPr>
          <p:cNvPr id="43" name="Text 40"/>
          <p:cNvSpPr txBox="1"/>
          <p:nvPr/>
        </p:nvSpPr>
        <p:spPr>
          <a:xfrm>
            <a:off x="3794760" y="5065776"/>
            <a:ext cx="5394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visit my family’s country.</a:t>
            </a:r>
            <a:endParaRPr lang="en-US" sz="950" dirty="0"/>
          </a:p>
        </p:txBody>
      </p:sp>
      <p:sp>
        <p:nvSpPr>
          <p:cNvPr id="44" name="Text 41"/>
          <p:cNvSpPr txBox="1"/>
          <p:nvPr/>
        </p:nvSpPr>
        <p:spPr>
          <a:xfrm>
            <a:off x="548640" y="4626864"/>
            <a:ext cx="3108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مَاذَا </a:t>
            </a:r>
            <a:pPr rtl="1" algn="ctr" indent="0" marL="0">
              <a:buNone/>
            </a:pPr>
            <a:r>
              <a:rPr lang="ar-SA" altLang="en-US" sz="2000" b="1" dirty="0">
                <a:solidFill>
                  <a:srgbClr val="1D5FBF"/>
                </a:solidFill>
                <a:latin typeface="Amiri" pitchFamily="2" charset="-78"/>
                <a:ea typeface="Amiri" pitchFamily="2" charset="-78"/>
                <a:cs typeface="Amiri" pitchFamily="2" charset="-78"/>
              </a:rPr>
              <a:t>سَتَفْعَلُ</a:t>
            </a:r>
            <a:pPr rtl="1" algn="ctr" indent="0" marL="0">
              <a:buNone/>
            </a:pPr>
            <a:r>
              <a:rPr lang="ar-SA" altLang="en-US" sz="2000" b="1" dirty="0">
                <a:solidFill>
                  <a:srgbClr val="1B3B6F"/>
                </a:solidFill>
                <a:latin typeface="Amiri" pitchFamily="2" charset="-78"/>
                <a:ea typeface="Amiri" pitchFamily="2" charset="-78"/>
                <a:cs typeface="Amiri" pitchFamily="2" charset="-78"/>
              </a:rPr>
              <a:t> فِي العَامِ القَادِمِ؟</a:t>
            </a:r>
            <a:endParaRPr lang="ar-SA" sz="20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Switching a past question into the present is the commonest avoidance pattern — examiners notice it.</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20" b="1" spc="150" kern="0" dirty="0">
                <a:solidFill>
                  <a:srgbClr val="1B3B6F"/>
                </a:solidFill>
                <a:latin typeface="Calibri" pitchFamily="34" charset="0"/>
                <a:cs typeface="Amiri" pitchFamily="2" charset="-78"/>
              </a:rPr>
              <a:t>GRAMMAR FOCUS · PART 2 · EXTEND AND QUALIFY (WEBSITE RULES 3–4) · DEVELOP / STRETCH</a:t>
            </a:r>
            <a:endParaRPr lang="en-US" sz="82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more clause, one more second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التَّوَسُّعُ وَالتَّحَفُّظُ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REASON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أَعْتَزُّ بِلُغَتِي لِأَنَّهَا تَرْبِطُنِي بِجُذُورِي.</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am proud of my language because it ties me to my roots.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Claim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EXAMPLE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عَلَى سَبِيلِ المِثَالِ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عَلَى سَبِيلِ المِثَالِ، تُزَيَّنُ البُيُوتُ بِالفَوَانِيسِ.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For example, houses are decorated with lanterns.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Make it concrete.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QUALIFY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عَلَى حَدِّ عِلْمِي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عَلَى حَدِّ عِلْمِي تَخْتَلِفُ العَادَاتُ فِي بَعْضِ البُلْدَانِ.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 far as I know, customs differ in some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“all”.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claim about a whole population is inaccurate.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ea typeface="Amiri" pitchFamily="2" charset="-78"/>
                <a:cs typeface="Amiri" pitchFamily="2" charset="-78"/>
              </a:rPr>
              <a:t>فِي بَعْضِ البُلْدَانِ يَحْتَفِلُ النَّاسُ بِهٰذِهِ الطَّرِيقَةِ.</a:t>
            </a:r>
            <a:endParaRPr lang="ar-SA" sz="1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كُلُّ العَرَبِ يَحْتَفِلُونَ بِالطَّرِيقَةِ نَفْسِهَا.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The Topic E system under speaking pressure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الوَحْدَةِ تَحْتَ ضَغْطِ 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Mirror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صِفْ مُنَاسَبَةً مَرَرْتَ بِهَا — حَضَرْتُ حَفْلًا فِي المَرْكَزِ</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Cultural verb plus preposition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يَحْتَفِلُ بِـ · يَنْتَمِي إِلَى · يَتَكَيَّفُ مَعَ</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نَحْتَفِلُ بِالعِيدِ كُلَّ سَنَةٍ   ·   أَنْتَمِي إِلَى ثَقَافَتَيْنِ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Extend with a reason or an example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claim + </a:t>
            </a:r>
            <a:pPr algn="l" indent="0" marL="0">
              <a:buNone/>
            </a:pPr>
            <a:r>
              <a:rPr lang="ar-SA" altLang="en-US" sz="1350" dirty="0">
                <a:solidFill>
                  <a:srgbClr val="5A6472"/>
                </a:solidFill>
                <a:latin typeface="Amiri" pitchFamily="2" charset="-78"/>
                <a:ea typeface="Amiri" pitchFamily="2" charset="-78"/>
                <a:cs typeface="Amiri" pitchFamily="2" charset="-78"/>
              </a:rPr>
              <a:t>لِأَنَّ / عَلَى سَبِيلِ المِثَالِ</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أَعْتَزُّ بِلُغَتِي لِأَنَّهَا تَرْبِطُنِي بِجُذُورِي</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Qualify as you speak</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بَعْضِ … / عَلَى حَدِّ عِلْمِي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فِي بَعْضِ العَائِلَاتِ تُوَزَّعُ العِيدِيَّةُ، وَلَيْسَ دَائِمًا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2" charset="-78"/>
                <a:ea typeface="Amiri" pitchFamily="2" charset="-78"/>
                <a:cs typeface="Amiri" pitchFamily="2" charset="-78"/>
              </a:rPr>
              <a:t>صِفْ مُنَاسَبَةً مَرَرْتَ بِهَا</a:t>
            </a:r>
            <a:pPr algn="l" indent="0" marL="0">
              <a:buNone/>
            </a:pPr>
            <a:r>
              <a:rPr lang="en-US" sz="1400" b="1" dirty="0">
                <a:solidFill>
                  <a:srgbClr val="1F2A37"/>
                </a:solidFill>
                <a:latin typeface="Calibri" pitchFamily="34" charset="0"/>
                <a:cs typeface="Amiri" pitchFamily="2" charset="-78"/>
              </a:rPr>
              <a:t>. Which answer is appropriate?</a:t>
            </a:r>
            <a:endParaRPr lang="en-US" sz="14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حَفْلًا فِي المَرْكَزِ الثَّقَافِيِّ.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سَأَحْضُرُ حَفْلًا فِي المَرْكَزِ الثَّقَافِيِّ.</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حَفْلًا فِي المَرْكَزِ الثَّقَافِيِّ.</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نَحْتَفِلُ ___ العِيدِ كُلَّ سَنَةٍ.</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extended rather than bare?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نَعَمْ.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أَعْتَزُّ بِلُغَتِي لِأَنَّهَا تَرْبِطُنِي بِجُذُورِي.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أَعْتَزُّ.</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appropriately qualified?</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بَعْضِ العَائِلَاتِ تُوَزَّعُ العِيدِيَّةُ.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كُلُّ العَائِلَاتِ تُوَزِّعُ العِيدِيَّةَ.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أَحَدَ يُوَزِّعُ العِيدِيَّةَ.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The examiner asks:</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algn="l" indent="0" marL="0">
              <a:buNone/>
            </a:pPr>
            <a:r>
              <a:rPr lang="ar-SA" altLang="en-US" sz="1800" b="1" dirty="0">
                <a:solidFill>
                  <a:srgbClr val="1F2A37"/>
                </a:solidFill>
                <a:latin typeface="Amiri" pitchFamily="2" charset="-78"/>
                <a:ea typeface="Amiri" pitchFamily="2" charset="-78"/>
                <a:cs typeface="Amiri" pitchFamily="2" charset="-78"/>
              </a:rPr>
              <a:t>صِفْ مُنَاسَبَةً مَرَرْتَ بِهَا</a:t>
            </a:r>
            <a:pPr algn="l" indent="0" marL="0">
              <a:buNone/>
            </a:pPr>
            <a:r>
              <a:rPr lang="en-US" sz="1400" b="1" dirty="0">
                <a:solidFill>
                  <a:srgbClr val="1F2A37"/>
                </a:solidFill>
                <a:latin typeface="Calibri" pitchFamily="34" charset="0"/>
                <a:cs typeface="Amiri" pitchFamily="2" charset="-78"/>
              </a:rPr>
              <a:t>. Which answer is appropriate?</a:t>
            </a:r>
            <a:endParaRPr lang="en-US" sz="14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أَحْضُرُ حَفْلًا فِي المَرْكَزِ الثَّقَافِيِّ.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سَأَحْضُرُ حَفْلًا فِي المَرْكَزِ الثَّقَافِيِّ.</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حَضَرْتُ حَفْلًا فِي المَرْكَزِ الثَّقَافِيِّ.</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requires a past answer.</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نَحْتَفِلُ ___ العِيدِ كُلَّ سَنَةٍ.</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is extended rather than bare?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نَعَمْ.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أَعْتَزُّ بِلُغَتِي لِأَنَّهَا تَرْبِطُنِي بِجُذُورِي.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أَعْتَزُّ.</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reason turns an answer into a response.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appropriately qualified?</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العَائِلَاتِ تُوَزَّعُ العِيدِيَّةُ.</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العَائِلَاتِ تُوَزِّعُ العِيدِيَّةَ.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أَحَدَ يُوَزِّعُ العِيدِيَّةَ.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what some families do.</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دَعْنِي أُفَكِّرُ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 Arabic.</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حَضَرْتُ</a:t>
            </a:r>
            <a:pPr rtl="1" algn="ctr" indent="0" marL="0">
              <a:buNone/>
            </a:pPr>
            <a:r>
              <a:rPr lang="ar-SA" altLang="en-US" sz="2800" b="1" dirty="0">
                <a:solidFill>
                  <a:srgbClr val="1B3B6F"/>
                </a:solidFill>
                <a:latin typeface="Amiri" pitchFamily="2" charset="-78"/>
                <a:ea typeface="Amiri" pitchFamily="2" charset="-78"/>
                <a:cs typeface="Amiri" pitchFamily="2" charset="-78"/>
              </a:rPr>
              <a:t> حَفْلًا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question.</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Repair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عَفْوًا، أَقْصِدُ</a:t>
            </a:r>
            <a:pPr rtl="1" algn="ctr" indent="0" marL="0">
              <a:buNone/>
            </a:pPr>
            <a:r>
              <a:rPr lang="ar-SA" altLang="en-US" sz="2800" b="1" dirty="0">
                <a:solidFill>
                  <a:srgbClr val="1B3B6F"/>
                </a:solidFill>
                <a:latin typeface="Amiri" pitchFamily="2" charset="-78"/>
                <a:ea typeface="Amiri" pitchFamily="2" charset="-78"/>
                <a:cs typeface="Amiri" pitchFamily="2" charset="-78"/>
              </a:rPr>
              <a:t> زُيِّنَتْ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 the tense.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Qualify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ea typeface="Amiri" pitchFamily="2" charset="-78"/>
                <a:cs typeface="Amiri" pitchFamily="2" charset="-78"/>
              </a:rPr>
              <a:t>عَلَى حَدِّ عِلْمِي</a:t>
            </a:r>
            <a:pPr rtl="1" algn="ctr" indent="0" marL="0">
              <a:buNone/>
            </a:pPr>
            <a:r>
              <a:rPr lang="ar-SA" altLang="en-US" sz="2800" b="1" dirty="0">
                <a:solidFill>
                  <a:srgbClr val="1B3B6F"/>
                </a:solidFill>
                <a:latin typeface="Amiri" pitchFamily="2" charset="-78"/>
                <a:ea typeface="Amiri" pitchFamily="2" charset="-78"/>
                <a:cs typeface="Amiri" pitchFamily="2" charset="-78"/>
              </a:rPr>
              <a:t> 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everyone.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TENSE</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 / REPAIR</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QUALIFIER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دَعْنِي أُفَكِّرُ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 العَامِ المَاضِي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حَضَرْتُ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حَفْلًا فِي المَرْكَزِ الثَّقَافِيِّ، وَتُزَيَّنُ القَاعَةُ …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عَفْوًا، أَقْصِدُ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أَنَّهَا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زُيِّنَتْ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بِالفَوَانِيسِ.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عَلَى حَدِّ عِلْمِي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لَا يَحْتَفِلُ الجَمِيعُ بِالطَّرِيقَةِ نَفْسِهَا؛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فَفِي بَعْضِ البُلْدَانِ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تَخْتَلِفُ العَادَاتُ.</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Let me think. Last year I attended a party at the cultural centre, and the hall is decorated … sorry, I mean it was decorated with lanterns. As far as I know, not everyone celebrates the same way; in some countries customs differ.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نَحْتَفِلُ بِالعِيدِ كُلَّ سَنَةٍ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celebrate Eid every year</a:t>
            </a:r>
            <a:endParaRPr lang="en-US" sz="1250" dirty="0"/>
          </a:p>
          <a:p>
            <a:pPr indent="0" marL="0">
              <a:buNone/>
            </a:pPr>
            <a:r>
              <a:rPr lang="en-US" sz="1050" i="1" dirty="0">
                <a:solidFill>
                  <a:srgbClr val="8A6D1E"/>
                </a:solidFill>
                <a:latin typeface="Calibri" pitchFamily="34" charset="0"/>
                <a:cs typeface="Amiri" pitchFamily="2" charset="-78"/>
              </a:rPr>
              <a:t>Verb and preposition said as one unit.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بَعْضِ العَائِلَاتِ … وَلَيْسَ دَائِمًا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some families … and not always</a:t>
            </a:r>
            <a:endParaRPr lang="en-US" sz="1250" dirty="0"/>
          </a:p>
          <a:p>
            <a:pPr indent="0" marL="0">
              <a:buNone/>
            </a:pPr>
            <a:r>
              <a:rPr lang="en-US" sz="1050" i="1" dirty="0">
                <a:solidFill>
                  <a:srgbClr val="8A6D1E"/>
                </a:solidFill>
                <a:latin typeface="Calibri" pitchFamily="34" charset="0"/>
                <a:cs typeface="Amiri" pitchFamily="2" charset="-78"/>
              </a:rPr>
              <a:t>The claim stays accurate.</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أَعْتَزُّ بِلُغَتِي لِأَنَّهَا تَرْبِطُنِي بِجُذُورِي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am proud of my language because it ties me to my roots</a:t>
            </a:r>
            <a:endParaRPr lang="en-US" sz="1250" dirty="0"/>
          </a:p>
          <a:p>
            <a:pPr indent="0" marL="0">
              <a:buNone/>
            </a:pPr>
            <a:r>
              <a:rPr lang="en-US" sz="1050" i="1" dirty="0">
                <a:solidFill>
                  <a:srgbClr val="8A6D1E"/>
                </a:solidFill>
                <a:latin typeface="Calibri" pitchFamily="34" charset="0"/>
                <a:cs typeface="Amiri" pitchFamily="2" charset="-78"/>
              </a:rPr>
              <a:t>Claim plus reason.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cs typeface="Amiri" pitchFamily="2" charset="-78"/>
              </a:rPr>
              <a:t>WE DO · PICTURE MATCH · WEBSITE GAME “INTERNATIONAL FAIR RELAY (TOPIC GAME)”</a:t>
            </a:r>
            <a:endParaRPr lang="en-US" sz="918"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الْمَعْرِضِ الدَّوْلِيِّ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Morocco · AR + FR</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stand</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57912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38" name="Shape 30"/>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40" name="Shape 31"/>
          <p:cNvSpPr/>
          <p:nvPr/>
        </p:nvSpPr>
        <p:spPr>
          <a:xfrm>
            <a:off x="295656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42" name="Text 3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traditions stand</a:t>
            </a:r>
            <a:endParaRPr lang="en-US" sz="1100" dirty="0"/>
          </a:p>
        </p:txBody>
      </p:sp>
      <p:sp>
        <p:nvSpPr>
          <p:cNvPr id="43" name="Shape 33"/>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4" name="Shape 34"/>
          <p:cNvSpPr/>
          <p:nvPr/>
        </p:nvSpPr>
        <p:spPr>
          <a:xfrm>
            <a:off x="11247120" y="3831336"/>
            <a:ext cx="292608" cy="292608"/>
          </a:xfrm>
          <a:prstGeom prst="ellipse">
            <a:avLst/>
          </a:prstGeom>
          <a:solidFill>
            <a:srgbClr val="2F6FB0"/>
          </a:solidFill>
          <a:ln w="12700">
            <a:solidFill>
              <a:srgbClr val="2F6FB0"/>
            </a:solidFill>
            <a:prstDash val="solid"/>
          </a:ln>
        </p:spPr>
      </p:sp>
      <p:sp>
        <p:nvSpPr>
          <p:cNvPr id="45" name="Text 35"/>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6" name="Text 36"/>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يَشْرَحُ الْجَنَاحُ عَادَاتِ الضِّيَافَةِ وَالتَّحِيَّةِ.</a:t>
            </a:r>
            <a:endParaRPr lang="ar-SA" sz="2000" dirty="0"/>
          </a:p>
        </p:txBody>
      </p:sp>
      <p:sp>
        <p:nvSpPr>
          <p:cNvPr id="47" name="Shape 37"/>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8" name="Shape 38"/>
          <p:cNvSpPr/>
          <p:nvPr/>
        </p:nvSpPr>
        <p:spPr>
          <a:xfrm>
            <a:off x="11247120" y="4398264"/>
            <a:ext cx="292608" cy="292608"/>
          </a:xfrm>
          <a:prstGeom prst="ellipse">
            <a:avLst/>
          </a:prstGeom>
          <a:solidFill>
            <a:srgbClr val="2F6FB0"/>
          </a:solidFill>
          <a:ln w="12700">
            <a:solidFill>
              <a:srgbClr val="2F6FB0"/>
            </a:solidFill>
            <a:prstDash val="solid"/>
          </a:ln>
        </p:spPr>
      </p:sp>
      <p:sp>
        <p:nvSpPr>
          <p:cNvPr id="49" name="Text 39"/>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50" name="Text 40"/>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يَعْرِضُ الْجَنَاحُ مَلَابِسَ وَأَطْعِمَةً وَاحْتِفَالَاتٍ تَقْلِيدِيَّةً.</a:t>
            </a:r>
            <a:endParaRPr lang="ar-SA" sz="2000" dirty="0"/>
          </a:p>
        </p:txBody>
      </p:sp>
      <p:sp>
        <p:nvSpPr>
          <p:cNvPr id="51" name="Shape 41"/>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2" name="Shape 42"/>
          <p:cNvSpPr/>
          <p:nvPr/>
        </p:nvSpPr>
        <p:spPr>
          <a:xfrm>
            <a:off x="11247120" y="4965192"/>
            <a:ext cx="292608" cy="292608"/>
          </a:xfrm>
          <a:prstGeom prst="ellipse">
            <a:avLst/>
          </a:prstGeom>
          <a:solidFill>
            <a:srgbClr val="2F6FB0"/>
          </a:solidFill>
          <a:ln w="12700">
            <a:solidFill>
              <a:srgbClr val="2F6FB0"/>
            </a:solidFill>
            <a:prstDash val="solid"/>
          </a:ln>
        </p:spPr>
      </p:sp>
      <p:sp>
        <p:nvSpPr>
          <p:cNvPr id="53" name="Text 43"/>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4" name="Text 44"/>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الْمَغْرِبِ تُسْتَعْمَلُ الْعَرَبِيَّةُ وَتَنْتَشِرُ الْفَرَنْسِيَّةُ أَيْضًا.</a:t>
            </a:r>
            <a:endParaRPr lang="ar-SA" sz="2000" dirty="0"/>
          </a:p>
        </p:txBody>
      </p:sp>
      <p:sp>
        <p:nvSpPr>
          <p:cNvPr id="55" name="Text 45"/>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6" name="Text 46"/>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7"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الْمَعْرِضِ الدَّوْلِيِّ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Morocco · AR + FR</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فِي الْمَغْرِبِ تُسْتَعْمَلُ الْعَرَبِيَّةُ وَتَنْتَشِرُ الْفَرَنْسِيَّةُ أَيْضًا.</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In Morocco Arabic is used, and French is also widespread.</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hospitality stand</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يَشْرَحُ الْجَنَاحُ عَادَاتِ الضِّيَافَةِ وَالتَّحِيَّةِ.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stand explains customs of hospitality and greeting.</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57912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762000" y="2249424"/>
            <a:ext cx="649224" cy="649224"/>
          </a:xfrm>
          <a:prstGeom prst="rect">
            <a:avLst/>
          </a:prstGeom>
        </p:spPr>
      </p:pic>
      <p:sp>
        <p:nvSpPr>
          <p:cNvPr id="48" name="Shape 40"/>
          <p:cNvSpPr/>
          <p:nvPr/>
        </p:nvSpPr>
        <p:spPr>
          <a:xfrm>
            <a:off x="176784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1950720" y="2249424"/>
            <a:ext cx="649224" cy="649224"/>
          </a:xfrm>
          <a:prstGeom prst="rect">
            <a:avLst/>
          </a:prstGeom>
        </p:spPr>
      </p:pic>
      <p:sp>
        <p:nvSpPr>
          <p:cNvPr id="50" name="Shape 41"/>
          <p:cNvSpPr/>
          <p:nvPr/>
        </p:nvSpPr>
        <p:spPr>
          <a:xfrm>
            <a:off x="295656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3139440" y="2249424"/>
            <a:ext cx="649224" cy="649224"/>
          </a:xfrm>
          <a:prstGeom prst="rect">
            <a:avLst/>
          </a:prstGeom>
        </p:spPr>
      </p:pic>
      <p:sp>
        <p:nvSpPr>
          <p:cNvPr id="52" name="Text 42"/>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traditions stand</a:t>
            </a:r>
            <a:endParaRPr lang="en-US" sz="1100" dirty="0"/>
          </a:p>
        </p:txBody>
      </p:sp>
      <p:sp>
        <p:nvSpPr>
          <p:cNvPr id="53" name="Shape 43"/>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4" name="Shape 44"/>
          <p:cNvSpPr/>
          <p:nvPr/>
        </p:nvSpPr>
        <p:spPr>
          <a:xfrm>
            <a:off x="3617976" y="3785616"/>
            <a:ext cx="329184" cy="329184"/>
          </a:xfrm>
          <a:prstGeom prst="ellipse">
            <a:avLst/>
          </a:prstGeom>
          <a:solidFill>
            <a:srgbClr val="2E8B57"/>
          </a:solidFill>
          <a:ln w="12700">
            <a:solidFill>
              <a:srgbClr val="2E8B57"/>
            </a:solidFill>
            <a:prstDash val="solid"/>
          </a:ln>
        </p:spPr>
      </p:sp>
      <p:sp>
        <p:nvSpPr>
          <p:cNvPr id="55" name="Text 45"/>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6" name="Text 46"/>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يَعْرِضُ الْجَنَاحُ مَلَابِسَ وَأَطْعِمَةً وَاحْتِفَالَاتٍ تَقْلِيدِيَّةً.</a:t>
            </a:r>
            <a:endParaRPr lang="ar-SA" sz="2200" dirty="0"/>
          </a:p>
        </p:txBody>
      </p:sp>
      <p:sp>
        <p:nvSpPr>
          <p:cNvPr id="57" name="Text 47"/>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stand shows traditional clothes, food and celebrations.</a:t>
            </a:r>
            <a:endParaRPr lang="en-US" sz="1200" dirty="0"/>
          </a:p>
        </p:txBody>
      </p:sp>
      <p:sp>
        <p:nvSpPr>
          <p:cNvPr id="58"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حَضَرْتُ حَفْلًا فِي المَرْكَزِ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أَنْتَمِي إِلَى ثَقَافَتَيْنِ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نَحْتَفِلُ بِالعِيدِ كُلَّ سَنَةٍ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تَرْبِطُنِي بِجُذُورِي</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وَهٰذَا يُذَكِّرُنِي بِطُفُولَتِي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بَعْضِ البُلْدَانِ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حَدِّ عِلْمِي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دَائِمًا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the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Qualify the claim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the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حَضَرْتُ حَفْلًا فِي المَرْكَزِ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أَنْتَمِي إِلَى ثَقَافَتَيْنِ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نَحْتَفِلُ بِالعِيدِ كُلَّ سَنَةٍ</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لِأَنَّهَا تَرْبِطُنِي بِجُذُورِي</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وَهٰذَا يُذَكِّرُنِي بِطُفُولَتِي</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Qualify the claim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بَعْضِ البُلْدَانِ</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عَلَى حَدِّ عِلْمِي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 دَائِمًا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أَنْتَمِي ___ ثَقَافَتَيْنِ.</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لَا يُمْكِنُ إِنْكَارُ أَنَّ ___ ثَرْوَةٌ.</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would score highest in a topic conversation?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حَضَرْتُ حَفْلًا.</a:t>
            </a:r>
            <a:endParaRPr lang="ar-SA" sz="15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نَعَمْ، أُحِبُّ الاحْتِفَالَ.</a:t>
            </a:r>
            <a:endParaRPr lang="ar-SA" sz="15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حَضَرْتُ حَفْلًا فِي الطُّفُولَةِ، وَنَحْتَفِلُ الآنَ مَعَ الجَالِيَةِ، وَسَأَزُورُ بَلَدَ أُسْرَتِي.</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short Arabic filler protects the fluency mark.</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أَنْتَمِي ___ ثَقَافَتَيْنِ.</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لَا يُمْكِنُ إِنْكَارُ أَنَّ ___ ثَرْوَةٌ.</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التَّنَوُّعَ</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would score highest in a topic conversation?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حَضَرْتُ حَفْلًا.</a:t>
            </a:r>
            <a:endParaRPr lang="ar-SA" sz="15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نَعَمْ، أُحِبُّ الاحْتِفَالَ.</a:t>
            </a:r>
            <a:endParaRPr lang="ar-SA" sz="15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حَضَرْتُ حَفْلًا فِي الطُّفُولَةِ، وَنَحْتَفِلُ الآنَ مَعَ الجَالِيَةِ، وَسَأَزُورُ بَلَدَ أُسْرَتِي.</a:t>
            </a:r>
            <a:endParaRPr lang="ar-SA" sz="15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moves through three tenses with accurate forms.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كُلُّ العَرَبِ يَحْتَفِلُونَ بِالطَّرِيقَةِ نَفْسِهَا.</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or some?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نَحْتَفِلُ العِيدَ.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yaḥtafilu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العَامِ المَاضِي أَحْضُرُ حَفْلًا فِي المَرْكَزِ.</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Last year → which tense?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200" b="1" dirty="0">
                <a:solidFill>
                  <a:srgbClr val="1E6B52"/>
                </a:solidFill>
                <a:latin typeface="Amiri" pitchFamily="2" charset="-78"/>
                <a:ea typeface="Amiri" pitchFamily="2" charset="-78"/>
                <a:cs typeface="Amiri" pitchFamily="2" charset="-78"/>
              </a:rPr>
              <a:t>فِي بَعْضِ البُلْدَانِ يَحْتَفِلُ النَّاسُ بِهٰذِهِ الطَّرِيقَةِ.</a:t>
            </a:r>
            <a:endParaRPr lang="ar-SA" sz="22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claim about a whole population is inaccurate.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نَحْتَفِلُ العِيدَ.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نَحْتَفِلُ بِالعِيدِ.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yaḥtafilu requires bi-.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فِي العَامِ المَاضِي أَحْضُرُ حَفْلًا فِي المَرْكَزِ.</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العَامِ المَاضِي حَضَرْتُ حَفْلًا فِي المَرْكَزِ.</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past question needs a past answer.</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Listening: a candidate in the topic conversation</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open?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Disagreement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end of the answer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self-correction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answer the question about everyone celebrating alike?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everyone is the same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answer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as far as she knows; customs differ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opinion structure does she 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لَا يُمْكِنُ إِنْكَارُ أَنَّ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 المُمْكِنِ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رُبَّمَا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close?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ending abruptly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future commitment to keep learning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Examiner and candidate — listen for her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المُمْتَحِنُ: صِفْ مُنَاسَبَةً ثَقَافِيَّةً مَرَرْتَ بِهَا. الطَّالِبَةُ: دَعْنِي أُفَكِّرُ.</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Describe a cultural occasion you have experienced. Student: Let me think.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العَامِ المَاضِي حَضَرْتُ حَفْلًا فِي المَرْكَزِ الثَّقَافِيِّ، وَتُزَيَّنُ القَاعَةُ عَادَةً بِالأَعْلَامِ وَالفَوَانِيسِ. عَفْوًا، أَقْصِدُ أَنَّهَا زُيِّنَتْ فِي ذٰلِكَ اليَوْمِ.</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 I attended a party at the cultural centre, and the hall is usually decorated with flags and lanterns. Sorry, I mean it was decorated on that 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المُمْتَحِنُ: وَهَلْ يَحْتَفِلُ كُلُّ النَّاسِ بِالطَّرِيقَةِ نَفْسِهَا؟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does everyone celebrate in the same way?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الطَّالِبَةُ: عَلَى حَدِّ عِلْمِي لَا؛ فَفِي بَعْضِ البُلْدَانِ تَخْتَلِفُ العَادَاتُ، وَلَيْسَ دَائِمًا يَتَشَابَهُ الاحْتِفَالُ.</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As far as I know, no — in some countries customs differ, and the celebration is not always the same.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المُمْتَحِنُ: وَمَا أَهَمِّيَّةُ اللُّغَةِ العَرَبِيَّةِ فِي حَيَاتِكِ؟ الطَّالِبَةُ: لَا يُمْكِنُ إِنْكَارُ أَنَّ اللُّغَةَ جُزْءٌ مِنَ الهُوِيَّةِ، وَأَعْتَزُّ بِهَا، وَسَأُوَاصِلُ تَعَلُّمَهَا.</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how important is Arabic in your life? Student: It cannot be denied that language is part of identity; I am proud of it, and I will keep learning it.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open?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دَعْنِي أُفَكِّرُ</a:t>
            </a:r>
            <a:pPr algn="l" indent="0" marL="0">
              <a:buNone/>
            </a:pPr>
            <a:r>
              <a:rPr lang="en-US" sz="1050" i="1" dirty="0">
                <a:solidFill>
                  <a:srgbClr val="8A6D1E"/>
                </a:solidFill>
                <a:latin typeface="Calibri" pitchFamily="34" charset="0"/>
                <a:cs typeface="Amiri" pitchFamily="2" charset="-78"/>
              </a:rPr>
              <a:t> buys a moment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Disagreement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end of the answer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self-correction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corrects the general present to a specific past passive.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answer the question about everyone celebrating alike?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everyone is the same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answer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No, as far as she knows; customs differ</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عَلَى حَدِّ عِلْمِي لَا؛ فَفِي بَعْضِ البُلْدَانِ تَخْتَلِفُ العَادَاتُ.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opinion structure does she 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لَا يُمْكِنُ إِنْكَارُ أَنَّ</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 المُمْكِنِ 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رُبَّمَا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لَا يُمْكِنُ إِنْكَارُ أَنَّ</a:t>
            </a:r>
            <a:pPr algn="l" indent="0" marL="0">
              <a:buNone/>
            </a:pPr>
            <a:r>
              <a:rPr lang="en-US" sz="1050" i="1" dirty="0">
                <a:solidFill>
                  <a:srgbClr val="8A6D1E"/>
                </a:solidFill>
                <a:latin typeface="Calibri" pitchFamily="34" charset="0"/>
                <a:cs typeface="Amiri" pitchFamily="2" charset="-78"/>
              </a:rPr>
              <a:t> introduces a strong supported claim.</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she close?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ending abruptly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future commitment to keep learning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وَسَأُوَاصِلُ تَعَلُّمَهَا.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4.</a:t>
            </a:r>
            <a:endParaRPr lang="en-US" sz="1250" dirty="0"/>
          </a:p>
          <a:p>
            <a:pPr algn="l" indent="0" marL="0">
              <a:buNone/>
            </a:pPr>
            <a:r>
              <a:rPr lang="en-US" sz="1250" dirty="0">
                <a:solidFill>
                  <a:srgbClr val="1E6B52"/>
                </a:solidFill>
                <a:latin typeface="Calibri" pitchFamily="34" charset="0"/>
                <a:cs typeface="Amiri" pitchFamily="2" charset="-78"/>
              </a:rPr>
              <a:t>Examiner and candidate — listen for her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International fair information gap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International fair information gap</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Combine country, language, custom, festival and travel clues to prepare a short information stand, then answer questions from another group.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Groups get one country and five clue cards: language, custom, festival, food, travel tip.</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Prepare a 1-minute information stand (3–5 sentences).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Other groups ask two questions each.</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Vote for the clearest and most respectful stand.</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sentences: country + language.</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Five sentences across the clue cards, mixed tenses.</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cohesive stand talk + answers to unprepared questions.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أَهْلًا بِكُمْ فِي جَنَاحِ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welcome to the … stand</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تُسْتَعْمَلُ فِيهَا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is used there</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مِنْ أَشْهَرِ احْتِفَالَاتِهَا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one of its best-known celebrations …</a:t>
            </a:r>
            <a:endParaRPr lang="en-US" sz="95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نَنْصَحُ الزَّائِرَ بِأَنْ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 advise the visitor to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full topic conversation rehearsal</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بَلَدًا عَرَبِيًّا تُرِيدُ زِيَارَتَهُ. وَلِمَاذَا؟</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مُنَاسَبَةً ثَقَافِيَّةً أَوْ دِينِيَّةً مَرَرْتَ بِهَا.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أَهَمِّيَّةُ اللُّغَةِ العَرَبِيَّةِ فِي حَيَاتِكَ؟</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أُرِيدُ أَنْ أَزُورَ ___ ، لِأَنَّ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فِي العَامِ المَاضِي حَضَرْتُ ___ ، وَزُيِّنَ / زُيِّنَتْ ___ .</a:t>
            </a:r>
            <a:endParaRPr lang="ar-SA" sz="12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لَا يُمْكِنُ إِنْكَارُ أَنَّ ___ ، وَعَلَى حَدِّ عِلْمِي ___ .</a:t>
            </a:r>
            <a:endParaRPr lang="ar-SA" sz="13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مُنَاسَبَةً ثَقَافِيَّةً مَرَرْتَ بِهَا.</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cultural occasion you have experienced.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العَامِ المَاضِي حَضَرْتُ حَفْلًا فِي المَرْكَزِ الثَّقَافِيِّ، وَزُيِّنَتِ القَاعَةُ بِالفَوَانِيسِ.</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Last year I attended a party at the cultural centre, and the hall was decorated with lanterns.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four cultural questions aloud using the sentence frames, each with the right preposition.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What was difficult, what you practised, and one target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reason to each answer and one qualifier.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كَانَ + present for an old habit and one cultural verb with its preposition.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full topic answer across three tenses with a supported opinion and no overgeneralisation.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Topic E self-review — difficulty, practice, progress, next focus, one qualifier.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كُنْتُ أَقُولُ ______ بَدَلَ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used to say … instead of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عَلَى الرَّغْمِ مِنْ ذٰلِكَ مَا زِلْتُ أَحْتَاجُ إِلَى ______ .</a:t>
            </a:r>
            <a:endParaRPr lang="ar-SA" sz="15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Despite that, I still need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وَأَطْمَحُ إِلَى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عَلَى حَدِّ عِلْمِي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far as I know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البِدَايَةِ كُنْتُ أُخْطِئُ فِي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beginning I used to make mistakes in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تَدَرَّبْتُ عَلَى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practised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وَالآنَ أَقُولُ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Now I say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المُسْتَقْبَلِ سَأُرَكِّزُ عَلَى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focus on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350" b="1" dirty="0">
                <a:solidFill>
                  <a:srgbClr val="1B3B6F"/>
                </a:solidFill>
                <a:latin typeface="Amiri" pitchFamily="2" charset="-78"/>
                <a:ea typeface="Amiri" pitchFamily="2" charset="-78"/>
                <a:cs typeface="Amiri" pitchFamily="2" charset="-78"/>
              </a:rPr>
              <a:t>كُنْتُ أُخْطِئُ  ·  حُرُوفُ الجَرِّ  ·  تَدَرَّبْتُ عَلَى  ·  وَحْدَةً وَاحِدَةً  ·  كُنْتُ أُعَمِّمُ  ·  فِي بَعْضِ البُلْدَانِ  ·  عَلَى حَدِّ عِلْمِي  ·  مَا زِلْتُ أَحْتَاجُ إِلَى  ·  سُرْعَةٌ فِي الرَّدِّ  ·  سَأُرَكِّزُ عَلَى  ·  أَطْمَحُ إِلَى  ·  دُونَ تَرَدُّدٍ</a:t>
            </a:r>
            <a:endParaRPr lang="ar-SA"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reviewing your own Topic E progress. Say what you found difficult,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ea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present construction for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cultural verb with its correct preposition.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focus and one qualifier.</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حَتَّى صَارَا وَحْدَةً وَاحِدَةً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until they became one unit</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رَاجَعْتُ نِقَاطَ ضَعْفِي بِصَرَاحَةٍ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reviewed my weak points honestly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زِلْتُ أَحْتَاجُ إِلَى سُرْعَةٍ أَكْبَرَ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still need more speed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سَأُرَكِّزُ عَلَى إِضَافَةِ سَبَبٍ فِي كُلِّ إِجَابَةٍ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focus on adding a reason to every answer</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 أَتَحَدَّثَ دُونَ تَرَدُّدٍ</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speak without hesitation</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وَالآنَ أَقُولُ فِي بَعْضِ البُلْدَانِ أَوْ عَلَى حَدِّ عِلْمِي. عَلَى الرَّغْمِ مِنْ ذٰلِكَ مَا زِلْتُ أَحْتَاجُ إِلَى سُرْعَةٍ أَكْبَرَ فِي الرَّدِّ. وَفِي المُسْتَقْبَلِ سَأُرَكِّزُ عَلَى إِضَافَةِ سَبَبٍ فِي كُلِّ إِجَابَةٍ، وَأَطْمَحُ إِلَى أَنْ أَتَحَدَّثَ دُونَ تَرَدُّدٍ.</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At the beginning I used to make mistakes with prepositions after cultural verbs: I said “naḥtafilu al-ʿīda” instead of “naḥtafilu bil-ʿīd”. Then I practised each verb with its preposition until they became one unit. I also sometimes used to generalise, and now I say “in some countries” or “as far as I know”. Despite that, I still need more speed in replying. In the future I will focus on adding a reason to every answer, and I aspire to speak without hesitation.</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كَانَ + present (old habit)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past 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cultural verb + preposition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focus and a qualifier</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in the tense the question used.</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cultural verb had its preposition.</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reason or an example to each answer.</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qualified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my one priority for the assessment.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ea typeface="Amiri" pitchFamily="2" charset="-78"/>
                <a:cs typeface="Amiri" pitchFamily="2" charset="-78"/>
              </a:rPr>
              <a:t>صِفْ مُنَاسَبَةً مَرَرْتَ بِهَا</a:t>
            </a:r>
            <a:pPr algn="l" indent="0" marL="0">
              <a:buNone/>
            </a:pPr>
            <a:r>
              <a:rPr lang="en-US" sz="1250" b="1" dirty="0">
                <a:solidFill>
                  <a:srgbClr val="1B3B6F"/>
                </a:solidFill>
                <a:latin typeface="Calibri" pitchFamily="34" charset="0"/>
                <a:cs typeface="Amiri" pitchFamily="2" charset="-78"/>
              </a:rPr>
              <a:t>. Which answer fits?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حَفْلًا فِي المَرْكَزِ.</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حَفْلًا فِي المَرْكَزِ.</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سَأَحْضُرُ حَفْلًا فِي المَرْكَزِ.</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المُنَاسَبَةِ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qualifies a claim?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حَدِّ عِلْمِي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بِالتَّأْكِيدِ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دَائِمًا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ea typeface="Amiri" pitchFamily="2" charset="-78"/>
                <a:cs typeface="Amiri" pitchFamily="2" charset="-78"/>
              </a:rPr>
              <a:t>صِفْ مُنَاسَبَةً مَرَرْتَ بِهَا</a:t>
            </a:r>
            <a:pPr algn="l" indent="0" marL="0">
              <a:buNone/>
            </a:pPr>
            <a:r>
              <a:rPr lang="en-US" sz="1250" b="1" dirty="0">
                <a:solidFill>
                  <a:srgbClr val="1B3B6F"/>
                </a:solidFill>
                <a:latin typeface="Calibri" pitchFamily="34" charset="0"/>
                <a:cs typeface="Amiri" pitchFamily="2" charset="-78"/>
              </a:rPr>
              <a:t>. Which answer fits?</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حَضَرْتُ حَفْلًا فِي المَرْكَزِ.</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أَحْضُرُ حَفْلًا فِي المَرْكَزِ.</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سَأَحْضُرُ حَفْلًا فِي المَرْكَزِ.</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المُنَاسَبَةِ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qualifies a claim?</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عَلَى حَدِّ عِلْمِي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بِالتَّأْكِيدِ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دَائِمًا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عَلَى حَدِّ عِلْمِي</a:t>
            </a:r>
            <a:pPr algn="l" indent="0" marL="0">
              <a:buNone/>
            </a:pPr>
            <a:r>
              <a:rPr lang="en-US" sz="1050" i="1" dirty="0">
                <a:solidFill>
                  <a:srgbClr val="8A6D1E"/>
                </a:solidFill>
                <a:latin typeface="Calibri" pitchFamily="34" charset="0"/>
                <a:cs typeface="Amiri" pitchFamily="2" charset="-78"/>
              </a:rPr>
              <a:t> limits the claim to what you know.</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a candidate's self-review</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قَبْلَ التَّقْيِيمِ النِّهَائِيِّ رَاجَعْتُ نِقَاطَ ضَعْفِي بِصَرَاحَةٍ. فِي البِدَايَةِ كُنْتُ أُخْطِئُ فِي حُرُوفِ الجَرِّ مَعَ الأَفْعَالِ الثَّقَافِيَّةِ، فَأَقُولُ نَحْتَفِلُ العِيدَ بَدَلَ نَحْتَفِلُ بِالعِيدِ. ثُمَّ تَدَرَّبْتُ عَلَى كُلِّ فِعْلٍ مَعَ حَرْفِ جَرِّهِ حَتَّى صَارَا وَحْدَةً وَاحِدَةً. وَكُنْتُ أُعَمِّمُ أَحْيَانًا فَأَقُولُ كُلُّ العَرَبِ، وَالآنَ أَقُولُ فِي بَعْضِ البُلْدَانِ أَوْ عَلَى حَدِّ عِلْمِي. عَلَى الرَّغْمِ مِنْ ذٰلِكَ مَا زِلْتُ أَحْتَاجُ إِلَى تَحْسِينِ سُرْعَتِي فِي الرَّدِّ. وَفِي المُسْتَقْبَلِ سَأُرَكِّزُ عَلَى إِضَافَةِ سَبَبٍ فِي كُلِّ إِجَابَةٍ، وَأَطْمَحُ إِلَى أَنْ أَتَحَدَّثَ دُونَ تَرَدُّدٍ.</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التَّقْيِيمِ النِّهَائِيِّ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final assessment</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بِصَرَاحَةٍ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honestly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أُخْطِئُ</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make mistakes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بَدَلَ</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instead of</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حَتَّى صَارَا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until they became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أُعَمِّمُ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generalise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مَا زِلْتُ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still</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سُرْعَتِي فِي الرَّدِّ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speed in replying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دُونَ تَرَدُّدٍ</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without hesitation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 range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Prepositions with cultural verbs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Pronunciation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it fixed?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Avoiding those verbs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English instead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Practising each verb with its preposition as one unit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replaced </a:t>
            </a:r>
            <a:pPr algn="l" indent="0" marL="0">
              <a:buNone/>
            </a:pPr>
            <a:r>
              <a:rPr lang="ar-SA" altLang="en-US" sz="1650" b="1" dirty="0">
                <a:solidFill>
                  <a:srgbClr val="1B3B6F"/>
                </a:solidFill>
                <a:latin typeface="Amiri" pitchFamily="2" charset="-78"/>
                <a:ea typeface="Amiri" pitchFamily="2" charset="-78"/>
                <a:cs typeface="Amiri" pitchFamily="2" charset="-78"/>
              </a:rPr>
              <a:t>كُلُّ العَرَبِ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فِي بَعْضِ البُلْدَانِ</a:t>
            </a:r>
            <a:pPr algn="l" indent="0" marL="0">
              <a:buNone/>
            </a:pPr>
            <a:r>
              <a:rPr lang="en-US" sz="1250" dirty="0">
                <a:solidFill>
                  <a:srgbClr val="1F2A37"/>
                </a:solidFill>
                <a:latin typeface="Calibri" pitchFamily="34" charset="0"/>
                <a:cs typeface="Amiri" pitchFamily="2" charset="-78"/>
              </a:rPr>
              <a:t> or </a:t>
            </a:r>
            <a:pPr algn="l" indent="0" marL="0">
              <a:buNone/>
            </a:pPr>
            <a:r>
              <a:rPr lang="ar-SA" altLang="en-US" sz="1650" dirty="0">
                <a:solidFill>
                  <a:srgbClr val="1F2A37"/>
                </a:solidFill>
                <a:latin typeface="Amiri" pitchFamily="2" charset="-78"/>
                <a:ea typeface="Amiri" pitchFamily="2" charset="-78"/>
                <a:cs typeface="Amiri" pitchFamily="2" charset="-78"/>
              </a:rPr>
              <a:t>عَلَى حَدِّ عِلْمِي</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لَا أَحَدَ</a:t>
            </a:r>
            <a:endParaRPr lang="ar-SA" sz="22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200" dirty="0">
                <a:solidFill>
                  <a:srgbClr val="1F2A37"/>
                </a:solidFill>
                <a:latin typeface="Amiri" pitchFamily="2" charset="-78"/>
                <a:ea typeface="Amiri" pitchFamily="2" charset="-78"/>
                <a:cs typeface="Amiri" pitchFamily="2" charset="-78"/>
              </a:rPr>
              <a:t>دَائِمًا</a:t>
            </a:r>
            <a:endParaRPr lang="ar-SA" sz="22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needs improvement?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Grammar knowledge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 of response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Vocabulary</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more quietly</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 range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Prepositions with cultural verbs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Pronunciation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كُنْتُ أُخْطِئُ فِي حُرُوفِ الجَرِّ مَعَ الأَفْعَالِ الثَّقَافِيَّةِ.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was it fixed?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Avoiding those verbs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English instead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Practising each verb with its preposition as one unit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تَدَرَّبْتُ عَلَى كُلِّ فِعْلٍ مَعَ حَرْفِ جَرِّهِ حَتَّى صَارَا وَحْدَةً وَاحِدَةً.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replaced </a:t>
            </a:r>
            <a:pPr algn="l" indent="0" marL="0">
              <a:buNone/>
            </a:pPr>
            <a:r>
              <a:rPr lang="ar-SA" altLang="en-US" sz="1650" b="1" dirty="0">
                <a:solidFill>
                  <a:srgbClr val="1B3B6F"/>
                </a:solidFill>
                <a:latin typeface="Amiri" pitchFamily="2" charset="-78"/>
                <a:ea typeface="Amiri" pitchFamily="2" charset="-78"/>
                <a:cs typeface="Amiri" pitchFamily="2" charset="-78"/>
              </a:rPr>
              <a:t>كُلُّ العَرَبِ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فِي بَعْضِ البُلْدَانِ</a:t>
            </a:r>
            <a:pPr algn="l" indent="0" marL="0">
              <a:buNone/>
            </a:pPr>
            <a:r>
              <a:rPr lang="en-US" sz="1250" b="1" dirty="0">
                <a:solidFill>
                  <a:srgbClr val="1F2A37"/>
                </a:solidFill>
                <a:latin typeface="Calibri" pitchFamily="34" charset="0"/>
                <a:cs typeface="Amiri" pitchFamily="2" charset="-78"/>
              </a:rPr>
              <a:t> or </a:t>
            </a:r>
            <a:pPr algn="l" indent="0" marL="0">
              <a:buNone/>
            </a:pPr>
            <a:r>
              <a:rPr lang="ar-SA" altLang="en-US" sz="1650" b="1" dirty="0">
                <a:solidFill>
                  <a:srgbClr val="1F2A37"/>
                </a:solidFill>
                <a:latin typeface="Amiri" pitchFamily="2" charset="-78"/>
                <a:ea typeface="Amiri" pitchFamily="2" charset="-78"/>
                <a:cs typeface="Amiri" pitchFamily="2" charset="-78"/>
              </a:rPr>
              <a:t>عَلَى حَدِّ عِلْمِي</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لَا أَحَدَ</a:t>
            </a:r>
            <a:endParaRPr lang="ar-SA" sz="22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2200" dirty="0">
                <a:solidFill>
                  <a:srgbClr val="9AA1AB"/>
                </a:solidFill>
                <a:latin typeface="Amiri" pitchFamily="2" charset="-78"/>
                <a:ea typeface="Amiri" pitchFamily="2" charset="-78"/>
                <a:cs typeface="Amiri" pitchFamily="2" charset="-78"/>
              </a:rPr>
              <a:t>دَائِمًا</a:t>
            </a:r>
            <a:endParaRPr lang="ar-SA" sz="22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الآنَ أَقُولُ فِي بَعْضِ البُلْدَانِ أَوْ عَلَى حَدِّ عِلْمِي.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needs improvement?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Grammar knowledge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Speed of response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Vocabulary</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مَا زِلْتُ أَحْتَاجُ إِلَى تَحْسِينِ سُرْعَتِي فِي الرَّدِّ.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more quietly</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Final Consolidation Mission — Everything at Once</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the question uses </a:t>
            </a:r>
            <a:pPr algn="l" indent="0" marL="0">
              <a:buNone/>
            </a:pPr>
            <a:r>
              <a:rPr lang="ar-SA" altLang="en-US" sz="1650" b="1" dirty="0">
                <a:solidFill>
                  <a:srgbClr val="1B3B6F"/>
                </a:solidFill>
                <a:latin typeface="Amiri" pitchFamily="2" charset="-78"/>
                <a:ea typeface="Amiri" pitchFamily="2" charset="-78"/>
                <a:cs typeface="Amiri" pitchFamily="2" charset="-78"/>
              </a:rPr>
              <a:t>مَرَرْتَ</a:t>
            </a:r>
            <a:pPr algn="l" indent="0" marL="0">
              <a:buNone/>
            </a:pPr>
            <a:r>
              <a:rPr lang="en-US" sz="1250" b="1" dirty="0">
                <a:solidFill>
                  <a:srgbClr val="1B3B6F"/>
                </a:solidFill>
                <a:latin typeface="Calibri" pitchFamily="34" charset="0"/>
                <a:cs typeface="Amiri" pitchFamily="2" charset="-78"/>
              </a:rPr>
              <a:t>. Which answer mirrors it?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أَحْضُرُ حَفْلًا</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سَأَحْضُرُ حَفْلًا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حَضَرْتُ حَفْلًا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Qualification: which is accurate?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بَعْضِ البُلْدَانِ تَخْتَلِفُ العَادَاتُ.</a:t>
            </a:r>
            <a:endParaRPr lang="ar-SA" sz="18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العَرَبِ يَحْتَفِلُونَ بِالطَّرِيقَةِ نَفْسِهَا.</a:t>
            </a:r>
            <a:endParaRPr lang="ar-SA" sz="180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 أَحَدَ يَحْتَفِلُ.</a:t>
            </a:r>
            <a:endParaRPr lang="ar-SA" sz="180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التَّنَوُّعِ</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نَحْتَفِلُ</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العِيدِ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Tense: the question uses </a:t>
            </a:r>
            <a:pPr algn="l" indent="0" marL="0">
              <a:buNone/>
            </a:pPr>
            <a:r>
              <a:rPr lang="ar-SA" altLang="en-US" sz="1650" b="1" dirty="0">
                <a:solidFill>
                  <a:srgbClr val="1B3B6F"/>
                </a:solidFill>
                <a:latin typeface="Amiri" pitchFamily="2" charset="-78"/>
                <a:ea typeface="Amiri" pitchFamily="2" charset="-78"/>
                <a:cs typeface="Amiri" pitchFamily="2" charset="-78"/>
              </a:rPr>
              <a:t>مَرَرْتَ</a:t>
            </a:r>
            <a:pPr algn="l" indent="0" marL="0">
              <a:buNone/>
            </a:pPr>
            <a:r>
              <a:rPr lang="en-US" sz="1250" b="1" dirty="0">
                <a:solidFill>
                  <a:srgbClr val="1B3B6F"/>
                </a:solidFill>
                <a:latin typeface="Calibri" pitchFamily="34" charset="0"/>
                <a:cs typeface="Amiri" pitchFamily="2" charset="-78"/>
              </a:rPr>
              <a:t>. Which answer mirrors it?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أَحْضُرُ حَفْلًا</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سَأَحْضُرُ حَفْلًا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حَضَرْتُ حَفْلًا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needs a past answer.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Qualification: which is accurate?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بَعْضِ البُلْدَانِ تَخْتَلِفُ العَادَاتُ.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كُلُّ العَرَبِ يَحْتَفِلُونَ بِالطَّرِيقَةِ نَفْسِهَا.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أَحَدَ يَحْتَفِلُ.</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hedge reports variation accurately.</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Case: complete — </a:t>
            </a:r>
            <a:pPr algn="l" indent="0" marL="0">
              <a:buNone/>
            </a:pPr>
            <a:r>
              <a:rPr lang="ar-SA" altLang="en-US" sz="1650" b="1" dirty="0">
                <a:solidFill>
                  <a:srgbClr val="1B3B6F"/>
                </a:solidFill>
                <a:latin typeface="Amiri" pitchFamily="2" charset="-78"/>
                <a:ea typeface="Amiri" pitchFamily="2" charset="-78"/>
                <a:cs typeface="Amiri" pitchFamily="2" charset="-78"/>
              </a:rPr>
              <a:t>لَا يُمْكِنُ إِنْكَارُ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ثَرْوَةٌ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التَّنَوُّعَ</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التَّنَوُّعِ</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takes an accusative noun.</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TE-L11 · Workshop</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TE-L12 · Topic E Review and Bridge to Final Revision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conversation</a:t>
            </a:r>
            <a:pPr indent="0" marL="0">
              <a:buNone/>
            </a:pPr>
            <a:r>
              <a:rPr lang="ar-SA" sz="1000" i="1" dirty="0">
                <a:solidFill>
                  <a:srgbClr val="5A6472"/>
                </a:solidFill>
                <a:latin typeface="Calibri" pitchFamily="34" charset="0"/>
                <a:ea typeface="Amiri" pitchFamily="2" charset="-78"/>
                <a:cs typeface="Amiri" pitchFamily="2" charset="-78"/>
              </a:rPr>
              <a:t>  pl. المُحَادَثَاتُ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ar-SA" sz="1000" i="1" dirty="0">
                <a:solidFill>
                  <a:srgbClr val="5A6472"/>
                </a:solidFill>
                <a:latin typeface="Calibri" pitchFamily="34" charset="0"/>
                <a:ea typeface="Amiri" pitchFamily="2" charset="-78"/>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three answers for the speaking assessment — one past, one present, one future — each with a reason and one qualifier.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حَضَرْتُ … لِأَنَّ … · نَحْتَفِلُ بِـ … · سَأَزُورُ … · عَلَى حَدِّ عِلْمِي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cultural verbs with their prepositions; answer the four topic questions aloud.</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Record a 60-second answer with a reason and a qualifier.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 80-word self-review of your Topic E progress.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00" b="1" dirty="0">
                <a:solidFill>
                  <a:srgbClr val="FFFFFF"/>
                </a:solidFill>
                <a:latin typeface="Cambria" pitchFamily="34" charset="0"/>
                <a:cs typeface="Amiri" pitchFamily="2" charset="-78"/>
              </a:rPr>
              <a:t>TE-L12 · Topic E Review and Bridge to Final Revision</a:t>
            </a:r>
            <a:endParaRPr lang="en-US" sz="19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مُرَاجَعَةُ المِحْوَرِ هـ وَالِانْتِقَالُ إِلَى المُرَاجَعَةِ النِّهَائِيَّةِ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revise Topic E for the assessment.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TE-L11 · Topic E Integrated Communication Workshop</dc:title>
  <dc:subject>PptxGenJS Presentation</dc:subject>
  <dc:creator>Al Madina Online School · Arabic Department</dc:creator>
  <cp:lastModifiedBy>Al Madina Online School · Arabic Department</cp:lastModifiedBy>
  <cp:revision>1</cp:revision>
  <dcterms:created xsi:type="dcterms:W3CDTF">2026-10-11T06:44:22Z</dcterms:created>
  <dcterms:modified xsi:type="dcterms:W3CDTF">2026-10-11T06:44:22Z</dcterms:modified>
</cp:coreProperties>
</file>