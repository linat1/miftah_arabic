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TE-L11 — Topic E Integrated Communication Workshop. Website: Advanced Topics › Topic E (The International World) › Lesson 11.
The website builds this lesson on the D6-L11 lesson engine, with the Topic focus “Sustain spontaneous and connected communication across international contexts.” (grammar: Mixed tenses; register; cohesion and accuracy; skills: All four skills) and the application challenge “International fair information gap”.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TE-L11. The website lesson “Topic E Consolidation — Complete Review and Speaking Preparation”: vocabulary, grammar rules and quiz, patterns, common mistakes, sorter, listening, reading, speaking prompts and model, writing task and model, differentiation, final check and the lesson mission. Picture match: website visual game “Topic E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TE-L12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D6-L10 (website). Questions 4–5 retrieve D6-L10 (website)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(1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(2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“Combine country, language, custom, festival and travel clues to prepare a short information stand, then answer questions from another group.”
Website Topic E challenge “International fair information gap”: combine country, language, custom, festival and travel clues into a short information stand, then answer questions from another group. Suggested countries: المَغْرِبُ · عُمَانُ · مَالِيزْيَا · تُرْكِيَا ·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Topic E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(TE-L12 · Topic E Review and Bridge to Final Revision) will spend class time USING this language, so students prepare it tonight — short, simple, easy to access (school guidance: “Simple, Short, Interesting, Relevant, Easy to access”). The five words prepare students for the TE-L12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E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التَّوَاصُلِ المُتَكَامِلِ لِلْمِحْوَرِ هـ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Sustain spontaneous and connected communication across international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TE-L11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(website):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(website):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حَضَرْتُ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نَحْتَفِلُ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qualify one claim (</a:t>
            </a:r>
            <a:pPr algn="l" indent="0" marL="0">
              <a:buNone/>
            </a:pPr>
            <a:r>
              <a:rPr lang="ar-SA" altLang="en-US" sz="1700" b="1" dirty="0">
                <a:solidFill>
                  <a:srgbClr val="C9780A"/>
                </a:solidFill>
                <a:latin typeface="Amiri" pitchFamily="34" charset="0"/>
                <a:ea typeface="Amiri" pitchFamily="34" charset="-122"/>
                <a:cs typeface="Amiri" pitchFamily="34" charset="-120"/>
              </a:rPr>
              <a:t>فِي بَعْضِ</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Topic E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‎تقییم / قدر‎ </a:t>
            </a:r>
            <a:pPr indent="0" marL="0">
              <a:buNone/>
            </a:pPr>
            <a:r>
              <a:rPr lang="en-US" sz="950" b="1" dirty="0">
                <a:solidFill>
                  <a:srgbClr val="2E8B57"/>
                </a:solidFill>
                <a:latin typeface="Calibri" pitchFamily="34" charset="0"/>
                <a:ea typeface="Calibri" pitchFamily="34" charset="-122"/>
                <a:cs typeface="Calibri" pitchFamily="34" charset="-120"/>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‎عبارت‎ </a:t>
            </a:r>
            <a:pPr indent="0" marL="0">
              <a:buNone/>
            </a:pPr>
            <a:r>
              <a:rPr lang="en-US" sz="950" b="1" dirty="0">
                <a:solidFill>
                  <a:srgbClr val="2E8B57"/>
                </a:solidFill>
                <a:latin typeface="Calibri" pitchFamily="34" charset="0"/>
                <a:ea typeface="Calibri" pitchFamily="34" charset="-122"/>
                <a:cs typeface="Calibri" pitchFamily="34" charset="-120"/>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‎عام‎ </a:t>
            </a:r>
            <a:pPr indent="0" marL="0">
              <a:buNone/>
            </a:pPr>
            <a:r>
              <a:rPr lang="en-US" sz="950" b="1" dirty="0">
                <a:solidFill>
                  <a:srgbClr val="2E8B57"/>
                </a:solidFill>
                <a:latin typeface="Calibri" pitchFamily="34" charset="0"/>
                <a:ea typeface="Calibri" pitchFamily="34" charset="-122"/>
                <a:cs typeface="Calibri" pitchFamily="34" charset="-120"/>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final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sorry, I mean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Topic E spine to reuse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Topic E spine to reuse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 / 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far as I know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varies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generalise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العَامِ المَاضِي </a:t>
            </a:r>
            <a:pPr rtl="1" algn="ctr" indent="0" marL="0">
              <a:buNone/>
            </a:pPr>
            <a:r>
              <a:rPr lang="ar-SA" altLang="en-US" sz="21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100" b="1" dirty="0">
                <a:solidFill>
                  <a:srgbClr val="1B3B6F"/>
                </a:solidFill>
                <a:latin typeface="Amiri" pitchFamily="34" charset="0"/>
                <a:ea typeface="Amiri" pitchFamily="34" charset="-122"/>
                <a:cs typeface="Amiri" pitchFamily="34" charset="-120"/>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a:t>
            </a:r>
            <a:pPr rtl="1" algn="ctr" indent="0" marL="0">
              <a:buNone/>
            </a:pPr>
            <a:r>
              <a:rPr lang="ar-SA" altLang="en-US" sz="2000" b="1" dirty="0">
                <a:solidFill>
                  <a:srgbClr val="0E7C86"/>
                </a:solidFill>
                <a:latin typeface="Amiri" pitchFamily="34" charset="0"/>
                <a:ea typeface="Amiri" pitchFamily="34" charset="-122"/>
                <a:cs typeface="Amiri" pitchFamily="34" charset="-120"/>
              </a:rPr>
              <a:t>مَرَرْتَ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نَحْتَفِلُ بِالعِيدِ</a:t>
            </a:r>
            <a:pPr rtl="1" algn="ctr" indent="0" marL="0">
              <a:buNone/>
            </a:pPr>
            <a:r>
              <a:rPr lang="ar-SA" altLang="en-US" sz="2100" b="1" dirty="0">
                <a:solidFill>
                  <a:srgbClr val="1B3B6F"/>
                </a:solidFill>
                <a:latin typeface="Amiri" pitchFamily="34" charset="0"/>
                <a:ea typeface="Amiri" pitchFamily="34" charset="-122"/>
                <a:cs typeface="Amiri" pitchFamily="34" charset="-120"/>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2000" b="1" dirty="0">
                <a:solidFill>
                  <a:srgbClr val="D6336C"/>
                </a:solidFill>
                <a:latin typeface="Amiri" pitchFamily="34" charset="0"/>
                <a:ea typeface="Amiri" pitchFamily="34" charset="-122"/>
                <a:cs typeface="Amiri" pitchFamily="34" charset="-120"/>
              </a:rPr>
              <a:t>تَحْتَفِلُونَ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أَنْتَمِي 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إِلَى أَيِّ ثَقَافَةٍ </a:t>
            </a:r>
            <a:pPr rtl="1" algn="ctr" indent="0" marL="0">
              <a:buNone/>
            </a:pPr>
            <a:r>
              <a:rPr lang="ar-SA" altLang="en-US" sz="2000" b="1" dirty="0">
                <a:solidFill>
                  <a:srgbClr val="D6336C"/>
                </a:solidFill>
                <a:latin typeface="Amiri" pitchFamily="34" charset="0"/>
                <a:ea typeface="Amiri" pitchFamily="34" charset="-122"/>
                <a:cs typeface="Amiri" pitchFamily="34" charset="-120"/>
              </a:rPr>
              <a:t>تَنْتَمِي</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سَأَزُورُ</a:t>
            </a:r>
            <a:pPr rtl="1" algn="ctr" indent="0" marL="0">
              <a:buNone/>
            </a:pPr>
            <a:r>
              <a:rPr lang="ar-SA" altLang="en-US" sz="2100" b="1" dirty="0">
                <a:solidFill>
                  <a:srgbClr val="1B3B6F"/>
                </a:solidFill>
                <a:latin typeface="Amiri" pitchFamily="34" charset="0"/>
                <a:ea typeface="Amiri" pitchFamily="34" charset="-122"/>
                <a:cs typeface="Amiri" pitchFamily="34" charset="-120"/>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a:t>
            </a:r>
            <a:pPr rtl="1" algn="ctr" indent="0" marL="0">
              <a:buNone/>
            </a:pPr>
            <a:r>
              <a:rPr lang="ar-SA" altLang="en-US" sz="2000" b="1" dirty="0">
                <a:solidFill>
                  <a:srgbClr val="1D5FBF"/>
                </a:solidFill>
                <a:latin typeface="Amiri" pitchFamily="34" charset="0"/>
                <a:ea typeface="Amiri" pitchFamily="34" charset="-122"/>
                <a:cs typeface="Amiri" pitchFamily="34" charset="-120"/>
              </a:rPr>
              <a:t>سَتَفْعَلُ</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 Topic E system under speaking pressure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claim + </a:t>
            </a:r>
            <a:pPr algn="l" indent="0" marL="0">
              <a:buNone/>
            </a:pPr>
            <a:r>
              <a:rPr lang="ar-SA" altLang="en-US" sz="1350" dirty="0">
                <a:solidFill>
                  <a:srgbClr val="5A6472"/>
                </a:solidFill>
                <a:latin typeface="Amiri" pitchFamily="34" charset="0"/>
                <a:ea typeface="Amiri" pitchFamily="34" charset="-122"/>
                <a:cs typeface="Amiri" pitchFamily="34" charset="-120"/>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عَفْوًا، أَقْصِدُ</a:t>
            </a:r>
            <a:pPr rtl="1" algn="ctr" indent="0" marL="0">
              <a:buNone/>
            </a:pPr>
            <a:r>
              <a:rPr lang="ar-SA" altLang="en-US" sz="2800" b="1" dirty="0">
                <a:solidFill>
                  <a:srgbClr val="1B3B6F"/>
                </a:solidFill>
                <a:latin typeface="Amiri" pitchFamily="34" charset="0"/>
                <a:ea typeface="Amiri" pitchFamily="34" charset="-122"/>
                <a:cs typeface="Amiri" pitchFamily="34" charset="-120"/>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عَلَى حَدِّ عِلْمِي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دَعْنِي أُفَكِّرُ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العَامِ المَاضِي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حَضَرْتُ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حَفْلًا فِي المَرْكَزِ الثَّقَافِيِّ، وَتُزَيَّنُ القَاعَةُ …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عَفْوًا، أَقْصِدُ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زُيِّنَتْ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بِالفَوَانِيسِ.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عَلَى حَدِّ عِلْمِي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يَحْتَفِلُ الجَمِيعُ بِالطَّرِيقَةِ نَفْسِهَا؛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celebrate Eid every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 and not always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proud of my language because it ties me to my roots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PICTURE MATCH · WEBSITE GAME “INTERNATIONAL FAIR RELAY (TOPIC GAME)”</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Morocco · AR + FR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stand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traditions stand</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يَشْرَحُ الْجَنَاحُ عَادَاتِ الضِّيَافَةِ وَالتَّحِيَّةِ.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يَعْرِضُ الْجَنَاحُ مَلَابِسَ وَأَطْعِمَةً وَاحْتِفَالَاتٍ تَقْلِيدِيَّةً.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الْمَغْرِبِ تُسْتَعْمَلُ الْعَرَبِيَّةُ وَتَنْتَشِرُ الْفَرَنْسِيَّةُ أَيْضًا.</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Morocco · AR + FR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الْمَغْرِبِ تُسْتَعْمَلُ الْعَرَبِيَّةُ وَتَنْتَشِرُ الْفَرَنْسِيَّةُ أَيْضًا.</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Morocco Arabic is used, and French is also widespread.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stand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يَشْرَحُ الْجَنَاحُ عَادَاتِ الضِّيَافَةِ وَالتَّحِيَّةِ.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stand explains customs of hospitality and greeting.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traditions stand</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يَعْرِضُ الْجَنَاحُ مَلَابِسَ وَأَطْعِمَةً وَاحْتِفَالَاتٍ تَقْلِيدِيَّةً.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stand shows traditional clothes, food and celebrations.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دَعْنِي أُفَكِّرُ</a:t>
            </a:r>
            <a:pPr algn="l" indent="0" marL="0">
              <a:buNone/>
            </a:pPr>
            <a:r>
              <a:rPr lang="en-US" sz="1050" i="1" dirty="0">
                <a:solidFill>
                  <a:srgbClr val="8A6D1E"/>
                </a:solidFill>
                <a:latin typeface="Calibri" pitchFamily="34" charset="0"/>
                <a:ea typeface="Calibri" pitchFamily="34" charset="-122"/>
                <a:cs typeface="Calibri" pitchFamily="34" charset="-120"/>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يُمْكِنُ إِنْكَارُ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International fair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International fair information gap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Combine country, language, custom, festival and travel clues to prepare a short information stand, then answer questions from another group.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Groups get one country and five clue cards: language, custom, festival, food, travel tip.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Prepare a 1-minute information stand (3–5 sentences).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Other groups ask two questions each.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Vote for the clearest and most respectful stand.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country + language.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sentences across the clue cards, mixed tenses.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cohesive stand talk + answers to unprepared questions.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أَهْلًا بِكُمْ فِي جَنَاحِ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welcome to the … stand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تُسْتَعْمَلُ فِيهَا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used there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أَشْهَرِ احْتِفَالَاتِهَا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one of its best-known celebrations …</a:t>
            </a:r>
            <a:endParaRPr lang="en-US" sz="95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نَنْصَحُ الزَّائِرَ بِأَنْ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advise the visitor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full topic conversation rehearsal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بَلَدًا عَرَبِيًّا تُرِيدُ زِيَارَتَهُ. وَلِمَاذَا؟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أَهَمِّيَّةُ اللُّغَةِ العَرَبِيَّةِ فِي حَيَاتِكَ؟</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أَزُورَ ___ ، لِأَنَّ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العَامِ المَاضِي حَضَرْتُ ___ ، وَزُيِّنَ / زُيِّنَتْ ___ .</a:t>
            </a:r>
            <a:endParaRPr lang="ar-SA" sz="12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لَا يُمْكِنُ إِنْكَارُ أَنَّ ___ ، وَعَلَى حَدِّ عِلْمِي ___ .</a:t>
            </a:r>
            <a:endParaRPr lang="ar-SA" sz="13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مُنَاسَبَةً ثَقَافِيَّةً مَرَرْتَ بِهَا.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cultural occasion you have experienced.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العَامِ المَاضِي حَضَرْتُ حَفْلًا فِي المَرْكَزِ الثَّقَافِيِّ، وَزُيِّنَتِ القَاعَةُ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Last year I attended a party at the cultural centre, and the hall was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Topic E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reviewing your own Topic E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حَدِّ عِلْمِي</a:t>
            </a:r>
            <a:pPr algn="l" indent="0" marL="0">
              <a:buNone/>
            </a:pPr>
            <a:r>
              <a:rPr lang="en-US" sz="1050" i="1" dirty="0">
                <a:solidFill>
                  <a:srgbClr val="8A6D1E"/>
                </a:solidFill>
                <a:latin typeface="Calibri" pitchFamily="34" charset="0"/>
                <a:ea typeface="Calibri" pitchFamily="34" charset="-122"/>
                <a:cs typeface="Calibri" pitchFamily="34" charset="-120"/>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b="1" dirty="0">
                <a:solidFill>
                  <a:srgbClr val="1F2A37"/>
                </a:solidFill>
                <a:latin typeface="Calibri" pitchFamily="34" charset="0"/>
                <a:ea typeface="Calibri" pitchFamily="34" charset="-122"/>
                <a:cs typeface="Calibri" pitchFamily="34" charset="-120"/>
              </a:rPr>
              <a:t> or </a:t>
            </a:r>
            <a:pPr algn="l" indent="0" marL="0">
              <a:buNone/>
            </a:pPr>
            <a:r>
              <a:rPr lang="ar-SA" altLang="en-US" sz="1650" b="1"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TE-L12 · Topic E Review and Bridge to Final Revision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conversation</a:t>
            </a:r>
            <a:pPr indent="0" marL="0">
              <a:buNone/>
            </a:pPr>
            <a:r>
              <a:rPr lang="en-US" sz="1000" i="1" dirty="0">
                <a:solidFill>
                  <a:srgbClr val="5A6472"/>
                </a:solidFill>
                <a:latin typeface="Calibri" pitchFamily="34" charset="0"/>
                <a:ea typeface="Calibri" pitchFamily="34" charset="-122"/>
                <a:cs typeface="Calibri" pitchFamily="34" charset="-120"/>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 80-word self-review of your Topic E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TE-L12 · Topic E Review and Bridge to Final Revision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المِحْوَرِ هـ وَالِانْتِقَالُ إِلَى المُرَاجَعَةِ النِّهَائِيَّةِ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Topic E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Topic E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2026-10-11T04:23:27Z</dcterms:created>
  <dcterms:modified xsi:type="dcterms:W3CDTF">2026-10-11T04:23:27Z</dcterms:modified>
</cp:coreProperties>
</file>