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notesMasterIdLst>
    <p:notesMasterId r:id="rId49"/>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ADVANCED TOPIC E · TE-L11 — Topic E Integrated Communication Workshop. Website: Advanced Topics › Topic E (The International World) › Lesson 11.
The website builds this lesson on the D6-L11 lesson engine, with the Topic focus “Sustain spontaneous and connected communication across international contexts.” (grammar: Mixed tenses; register; cohesion and accuracy; skills: All four skills) and the application challenge “International fair information gap”. This deck follows the same engine, re-sequenced for Topic E: lesson references now point to Topic E codes (lessons outside Topic E keep their website code), and the challenge is added before the speaking task.
No year group: Topic lessons are taught to any class following the Advanced Topics route.
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Development › Topic E Countries, Cultures and Celebrations › TE-L11. The website lesson “Topic E Consolidation — Complete Review and Speaking Preparation”: vocabulary, grammar rules and quiz, patterns, common mistakes, sorter, listening, reading, speaking prompts and model, writing task and model, differentiation, final check and the lesson mission. Picture match: website visual game “Topic E Consolidation — Complete Review and Speaking Preparation”.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answer four cultural questions aloud with the frames, each verb with its preposition. Develop: add a reason (لِأَنَّ) and one qualifier to every answer. Stretch: a full topic answer across three tenses with a supported opinion and no overgeneralisation — then the website ~80-word self-review.
• This is the speaking rehearsal for the TE-L12 assessment (topic conversation on ثَقَافَتِي وَهُوِيَّتِي). Run the checklist ALOUD: mirror the tense → fix the preposition → add a reason → qualify the claim.
• Fairness and adab: كُلُّ العَرَبِ / كُلُّ المُسْلِمِينَ … is inaccurate as well as unkind to real diversity. One extra second (فِي بَعْضِ البُلْدَانِ) keeps statements true. Collect each student’s “one priority” for L12.
• TEACHER-WRITTEN ITEMS: one English quiz option replaced with Arabic, the English-description mistake replaced with an Arabic tense slip, and English added to the patterns and speaking model; the website visual game repeats TE-L04 and is skipped.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1–3 test three of the five words prepared at home at the end of D6-L10 (website). Questions 4–5 retrieve D6-L10 (website) (hedges · كَانَ + present).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Mirror the tense → fix the preposition → add a reason → qualify the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مثال، علم، عام are shared — عام in Urdu means “common, general”, the root of Arabic أُعَمِّمُ (I generalise). CAREFUL: Urdu عبارت = a passage of text; Arabic بِعِبَارَةٍ أُخْرَى = in other words (a phrase).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Speaking with control (website vocabulary (1 of 2)). Hear → Say → See → Use. Transliteration is printed for Core students (cover it for Develop/Stretch).
Speaking with control: phrases that buy time (دَعْنِي أُفَكِّرُ), extend (عَلَى سَبِيلِ المِثَالِ), rephrase (بِعِبَارَةٍ أُخْرَى) and repair (عَفْوًا، أَقْصِدُ) — all in Arabic, never in English.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Speaking with control (website vocabulary (2 of 2)). Hear → Say → See → Use. Transliteration is printed for Core students (cover it for Develop/Stretch).
Speaking with control: phrases that buy time (دَعْنِي أُفَكِّرُ), extend (عَلَى سَبِيلِ المِثَالِ), rephrase (بِعِبَارَةٍ أُخْرَى) and repair (عَفْوًا، أَقْصِدُ) — all in Arabic, never in English.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The Topic E spine to reuse (website vocabulary (1 of 2)). Hear → Say → See → Use. Transliteration is printed for Core students (cover it for Develop/Stretch).
FLEX: teach if time allows; otherwise these are on the website vocabulary tab for homework.
The Topic E spine to reuse (FLEX — revision of L02–L09): every cultural verb with its fixed preposition, the cultural passives, and the opinion 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The Topic E spine to reuse (website vocabulary (2 of 2)). Hear → Say → See → Use. Transliteration is printed for Core students (cover it for Develop/Stretch).
FLEX: teach if time allows; otherwise these are on the website vocabulary tab for homework.
The Topic E spine to reuse (FLEX — revision of L02–L09): every cultural verb with its fixed preposition, the cultural passives, and the opinion 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Qualifying in real time (website vocabulary (1 of 2)). Hear → Say → See → Use. Transliteration is printed for Core students (cover it for Develop/Stretch).
Qualifying in real time: each phrase keeps a cultural statement accurate. Build it INTO the sentence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Qualifying in real time (website vocabulary (2 of 2)). Hear → Say → See → Use. Transliteration is printed for Core students (cover it for Develop/Stretch).
Qualifying in real time: each phrase keeps a cultural statement accurate. Build it INTO the sentence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1 — website rules “Mirror the tense of the question” (past question → past answer) and “Cultural verb plus preposition” (say the verb and the preposition as one unit so the pair never comes apart under pressure).
Drill: teacher says the verb, class answers with the preposition — يَحْتَفِلُ → بِـ · يَنْتَمِي → إِلَى · يَتَكَيَّفُ → مَعَ · يَحْتَفِظُ → بِـ · يَعْتَزُّ → بِـ · يَطْمَحُ → إِلَى.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2 — website rules “Extend with a reason or an example” (a bare answer scores little; one extension turns it into a response) and “Qualify as you speak” (a qualifier keeps a cultural statement accurate and shows control of register).
Website teaching points: “Hedge while you speak, not afterwards.” · “One accurate cultural verb beats three careless ones — examiners hear the preposition.”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GRAMMAR RULES AND EXAMPLES (FLEX — revision or homework). Website overview: “A checklist you can run while speaking: mirror the tense, fix the preposition, add a reason, qualify the claim.”
• Mirror the tense of the question: If the examiner asks with a past verb, answer with one. Switching to the present is the commonest avoidance pattern.
• Cultural verb plus preposition: Say the verb and the preposition as one unit so the pair never comes apart under pressure.
• Extend with a reason or an example: A bare answer scores little; one extension turns it into a response.
• Qualify as you speak: A qualifier keeps a cultural statement accurate and shows control of register.
Website common error: Overstating a cultural claim while speaking. Saying كُلُّ العَرَبِ is both inaccurate and avoidable; فِي بَعْضِ البُلْدَانِ costs one extra second.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3, 4.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from the website listening (the candidate). Model the repair on purpose: start with the present passive تُزَيَّنُ, stop, and self-correct to the past زُيِّنَتْ with عَفْوًا، أَقْصِدُ. Students hear that a repair in Arabic is a strength, not a failure.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(“International Fair Relay (Topic game)”)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TOPIC E GAME “International Fair Relay”: a country–language stand, a hospitality stand, a traditions stand.
Website feedback lines: The stand gives country and language information. · The stand is about hospitality and greeting customs. · The fair stand combines clothing, food and celebrations.
FLEX: use it after the model sentences if the class is secure, or as the next lesson’s warm-up.
This is the website TOPIC game for this lesson (Advanced Topics page), not the pathway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(“International Fair Relay (Topic game)”)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TOPIC E GAME “International Fair Relay”: a country–language stand, a hospitality stand, a traditions stand.
Website feedback lines: The stand gives country and language information. · The stand is about hospitality and greeting customs. · The fair stand combines clothing, food and celebrations.
FLEX: use it after the model sentences if the class is secure, or as the next lesson’s warm-up.
This is the website TOPIC game for this lesson (Advanced Topics page), not the pathway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build one full answer: one card from each column, in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build one full answer: one card from each column, in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5, 6,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(4 min) — website script. Read it aloud yourself, twice, at natural speed with pauses.
Before listening: students read the questions (● 30s). Core: questions 1, 2 and 4. Develop / Stretch: all 5 — and note her time-buying, repair and qualifying phrases.
Listen 1: just listen. Listen 2: note answers. Then chat the letters.
Support: after the second listening, show the read-along slide (Arabic + English, line by line) for Core students.
SCRIPT (read aloud):
المُمْتَحِنُ: صِفْ مُنَاسَبَةً ثَقَافِيَّةً مَرَرْتَ بِهَا. الطَّالِبَةُ: دَعْنِي أُفَكِّرُ. فِي العَامِ المَاضِي حَضَرْتُ حَفْلًا فِي المَرْكَزِ الثَّقَافِيِّ، وَتُزَيَّنُ القَاعَةُ عَادَةً بِالأَعْلَامِ وَالفَوَانِيسِ. عَفْوًا، أَقْصِدُ أَنَّهَا زُيِّنَتْ فِي ذٰلِكَ اليَوْمِ. المُمْتَحِنُ: وَهَلْ يَحْتَفِلُ كُلُّ النَّاسِ بِالطَّرِيقَةِ نَفْسِهَا؟ الطَّالِبَةُ: عَلَى حَدِّ عِلْمِي لَا؛ فَفِي بَعْضِ البُلْدَانِ تَخْتَلِفُ العَادَاتُ، وَلَيْسَ دَائِمًا يَتَشَابَهُ الاحْتِفَالُ. المُمْتَحِنُ: وَمَا أَهَمِّيَّةُ اللُّغَةِ العَرَبِيَّةِ فِي حَيَاتِكِ؟ الطَّالِبَةُ: لَا يُمْكِنُ إِنْكَارُ أَنَّ اللُّغَةَ جُزْءٌ مِنَ الهُوِيَّةِ، وَأَعْتَزُّ بِهَا، وَسَأُوَاصِلُ تَعَلُّمَهَا.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E APPLICATION CHALLENGE (5 min — it takes the speaking-rehearsal slot; the website speaking slide after it is FLEX) — from the website Topic page: “Combine country, language, custom, festival and travel clues to prepare a short information stand, then answer questions from another group.”
Website Topic E challenge “International fair information gap”: combine country, language, custom, festival and travel clues into a short information stand, then answer questions from another group. Suggested countries: المَغْرِبُ · عُمَانُ · مَالِيزْيَا · تُرْكِيَا · مِصْرُ.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FLEX — the Topic E challenge before this slide is the main speaking task; use these website prompts if time allows or as homework rehearsal.
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وَهَلْ يَحْتَفِلُ الجَمِيعُ بِالطَّرِيقَةِ نَفْسِهَا؟ (And does everyone celebrate the same way?)
B: عَلَى حَدِّ عِلْمِي لَا؛ فَفِي بَعْضِ البُلْدَانِ تَخْتَلِفُ العَادَاتُ، وَلَا يُمْكِنُ إِنْكَارُ أَنَّ التَّنَوُّعَ ثَرْوَةٌ. (As far as I know, no — in some countries customs differ, and it cannot be denied that diversity is a richness.)
Website prompts and model: a full topic-conversation rehearsal. Pairs swap roles (examiner / candidate); the examiner ticks: tense mirrored · preposition · reason · qualifier. To a girl: تُرِيدِينَ · مَرَرْتِ · حَيَاتِكِ.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Answer four cultural questions aloud using the sentence frames, each with the right preposition. · Develop — Add a reason to each answer and one qualifier. · Stretch — Deliver a full topic answer across three tenses with a supported opinion and no overgeneralisation.
Website writing task (Stretch): Write about eighty words reviewing your own Topic E progress. Say what you found difficult, what you practised, how you improved, and what you will focus on next.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Website writing model. Evidence: كُنْتُ أُخْطِئُ · كُنْتُ أُعَمِّمُ · تَدَرَّبْتُ · صَارَا · نَحْتَفِلُ بِالعِيدِ · فِي بَعْضِ البُلْدَانِ · عَلَى حَدِّ عِلْمِي · عَلَى الرَّغْمِ مِنْ ذٰلِكَ · سَأُرَكِّزُ · أَطْمَحُ إِلَى أَنْ أَتَحَدَّثَ.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(TE-L12 · Topic E Review and Bridge to Final Revision) will spend class time USING this language, so students prepare it tonight — short, simple, easy to access (school guidance: “Simple, Short, Interesting, Relevant, Easy to access”). The five words prepare students for the TE-L12 assessment (its four parts and checking).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image" Target="../media/image-21-7.png"/><Relationship Id="rId8" Type="http://schemas.openxmlformats.org/officeDocument/2006/relationships/slideLayout" Target="../slideLayouts/slideLayout1.xml"/><Relationship Id="rId9"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image" Target="../media/image-22-7.png"/><Relationship Id="rId8" Type="http://schemas.openxmlformats.org/officeDocument/2006/relationships/slideLayout" Target="../slideLayouts/slideLayout1.xml"/><Relationship Id="rId9"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E  ·  TE-L11</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TE-L11</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Topic E Integrated Communication Workshop</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وَرْشَةُ التَّوَاصُلِ المُتَكَامِلِ لِلْمِحْوَرِ هـ</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Sustain spontaneous and connected communication across international contexts.</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TE-L11 · Advanced Topic E · The International World</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E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E › TE-L11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TE-L11 ·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TE-L11</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47</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TE-L11 ·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TE-L11</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Mirror, fix, extend, qualify — while speaking.</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Sort answer / extend / qualify, fix three slips, then hear a candidate.</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TE-L12.</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47</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TE-L11 ·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TE-L11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الطَّلَاقَةُ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accuracy</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fluency</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hesitation</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عَلَى حَدِّ عِلْمِي</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as far as I know</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my opinion</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for example</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لَا أُعَمِّمُ</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do not know</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do not agree</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do not generalise</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 speaker says </a:t>
            </a:r>
            <a:pPr algn="l" indent="0" marL="0">
              <a:buNone/>
            </a:pPr>
            <a:r>
              <a:rPr lang="ar-SA" altLang="en-US" sz="1650" b="1" dirty="0">
                <a:solidFill>
                  <a:srgbClr val="1B3B6F"/>
                </a:solidFill>
                <a:latin typeface="Amiri" pitchFamily="2" charset="-78"/>
                <a:cs typeface="Amiri" pitchFamily="2" charset="-78"/>
              </a:rPr>
              <a:t>فِي بَعْضِ العَائِلَاتِ</a:t>
            </a:r>
            <a:pPr algn="l" indent="0" marL="0">
              <a:buNone/>
            </a:pPr>
            <a:r>
              <a:rPr lang="en-US" sz="1250" b="1" dirty="0">
                <a:solidFill>
                  <a:srgbClr val="1B3B6F"/>
                </a:solidFill>
                <a:latin typeface="Calibri" pitchFamily="34" charset="0"/>
                <a:cs typeface="Amiri" pitchFamily="2" charset="-78"/>
              </a:rPr>
              <a:t>. Which option is wrong?</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Some families do this.</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varies between families.</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All families do this.</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كَانَتْ جَدَّتِي تُعِدُّ الحَلْوَى</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My grandmother used to make the sweets.</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My grandmother made the sweets once.</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My grandmother will make the sweets.</a:t>
            </a:r>
            <a:endParaRPr lang="en-US" sz="12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47</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TE-L11 ·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TE-L11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الطَّلَاقَةُ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accuracy</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fluency</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hesitation</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(D6-L10, website).</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عَلَى حَدِّ عِلْمِي</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as far as I know</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 my opinion</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for example</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(D6-L10, website).</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لَا أُعَمِّمُ</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 do not know</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 do not agree</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 do not generalise</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(D6-L10, website).</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 speaker says </a:t>
            </a:r>
            <a:pPr algn="l" indent="0" marL="0">
              <a:buNone/>
            </a:pPr>
            <a:r>
              <a:rPr lang="ar-SA" altLang="en-US" sz="1650" b="1" dirty="0">
                <a:solidFill>
                  <a:srgbClr val="1B3B6F"/>
                </a:solidFill>
                <a:latin typeface="Amiri" pitchFamily="2" charset="-78"/>
                <a:cs typeface="Amiri" pitchFamily="2" charset="-78"/>
              </a:rPr>
              <a:t>فِي بَعْضِ العَائِلَاتِ</a:t>
            </a:r>
            <a:pPr algn="l" indent="0" marL="0">
              <a:buNone/>
            </a:pPr>
            <a:r>
              <a:rPr lang="en-US" sz="1250" b="1" dirty="0">
                <a:solidFill>
                  <a:srgbClr val="1B3B6F"/>
                </a:solidFill>
                <a:latin typeface="Calibri" pitchFamily="34" charset="0"/>
                <a:cs typeface="Amiri" pitchFamily="2" charset="-78"/>
              </a:rPr>
              <a:t>. Which option is wrong?</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Some families do this.</a:t>
            </a:r>
            <a:endParaRPr lang="en-US" sz="125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varies between families.</a:t>
            </a:r>
            <a:endParaRPr lang="en-US" sz="125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All families do this.</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D6-L10 (website): a hedge narrows the claim.</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كَانَتْ جَدَّتِي تُعِدُّ الحَلْوَى</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My grandmother used to make the sweets.</a:t>
            </a:r>
            <a:endParaRPr lang="en-US" sz="115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00" dirty="0">
                <a:solidFill>
                  <a:srgbClr val="9AA1AB"/>
                </a:solidFill>
                <a:latin typeface="Calibri" pitchFamily="34" charset="0"/>
                <a:cs typeface="Amiri" pitchFamily="2" charset="-78"/>
              </a:rPr>
              <a:t>My grandmother made the sweets once.</a:t>
            </a:r>
            <a:endParaRPr lang="en-US" sz="12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My grandmother will make the sweets.</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D6-L10 (website): </a:t>
            </a:r>
            <a:pPr algn="l" indent="0" marL="0">
              <a:buNone/>
            </a:pPr>
            <a:r>
              <a:rPr lang="ar-SA" altLang="en-US" sz="1350" dirty="0">
                <a:solidFill>
                  <a:srgbClr val="8A6D1E"/>
                </a:solidFill>
                <a:latin typeface="Amiri" pitchFamily="2" charset="-78"/>
                <a:cs typeface="Amiri" pitchFamily="2" charset="-78"/>
              </a:rPr>
              <a:t>كَانَ</a:t>
            </a:r>
            <a:pPr algn="l" indent="0" marL="0">
              <a:buNone/>
            </a:pPr>
            <a:r>
              <a:rPr lang="en-US" sz="1050" i="1" dirty="0">
                <a:solidFill>
                  <a:srgbClr val="8A6D1E"/>
                </a:solidFill>
                <a:latin typeface="Calibri" pitchFamily="34" charset="0"/>
                <a:cs typeface="Amiri" pitchFamily="2" charset="-78"/>
              </a:rPr>
              <a:t> + present = past habit.</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Mirror the tense → fix the preposition → add a reason → qualify the claim.</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0E7C86"/>
                </a:solidFill>
                <a:latin typeface="Amiri" pitchFamily="2" charset="-78"/>
                <a:cs typeface="Amiri" pitchFamily="2" charset="-78"/>
              </a:rPr>
              <a:t>حَضَرْتُ</a:t>
            </a:r>
            <a:pPr rtl="1" algn="ctr" indent="0" marL="0">
              <a:lnSpc>
                <a:spcPct val="120000"/>
              </a:lnSpc>
              <a:buNone/>
            </a:pPr>
            <a:r>
              <a:rPr lang="ar-SA" altLang="en-US" sz="1950" b="1" dirty="0">
                <a:solidFill>
                  <a:srgbClr val="1B3B6F"/>
                </a:solidFill>
                <a:latin typeface="Amiri" pitchFamily="2" charset="-78"/>
                <a:cs typeface="Amiri" pitchFamily="2" charset="-78"/>
              </a:rPr>
              <a:t> · </a:t>
            </a:r>
            <a:pPr rtl="1" algn="ctr" indent="0" marL="0">
              <a:lnSpc>
                <a:spcPct val="120000"/>
              </a:lnSpc>
              <a:buNone/>
            </a:pPr>
            <a:r>
              <a:rPr lang="ar-SA" altLang="en-US" sz="1950" b="1" dirty="0">
                <a:solidFill>
                  <a:srgbClr val="D6336C"/>
                </a:solidFill>
                <a:latin typeface="Amiri" pitchFamily="2" charset="-78"/>
                <a:cs typeface="Amiri" pitchFamily="2" charset="-78"/>
              </a:rPr>
              <a:t>نَحْتَفِلُ بِـ</a:t>
            </a:r>
            <a:pPr rtl="1" algn="ctr" indent="0" marL="0">
              <a:lnSpc>
                <a:spcPct val="120000"/>
              </a:lnSpc>
              <a:buNone/>
            </a:pPr>
            <a:r>
              <a:rPr lang="ar-SA" altLang="en-US" sz="1950" b="1" dirty="0">
                <a:solidFill>
                  <a:srgbClr val="1B3B6F"/>
                </a:solidFill>
                <a:latin typeface="Amiri" pitchFamily="2" charset="-78"/>
                <a:cs typeface="Amiri" pitchFamily="2" charset="-78"/>
              </a:rPr>
              <a:t> · </a:t>
            </a:r>
            <a:pPr rtl="1" algn="ctr" indent="0" marL="0">
              <a:lnSpc>
                <a:spcPct val="120000"/>
              </a:lnSpc>
              <a:buNone/>
            </a:pPr>
            <a:r>
              <a:rPr lang="ar-SA" altLang="en-US" sz="1950" b="1" dirty="0">
                <a:solidFill>
                  <a:srgbClr val="1D5FBF"/>
                </a:solidFill>
                <a:latin typeface="Amiri" pitchFamily="2" charset="-78"/>
                <a:cs typeface="Amiri" pitchFamily="2" charset="-78"/>
              </a:rPr>
              <a:t>لِأَنَّ</a:t>
            </a:r>
            <a:pPr rtl="1" algn="ctr" indent="0" marL="0">
              <a:lnSpc>
                <a:spcPct val="120000"/>
              </a:lnSpc>
              <a:buNone/>
            </a:pPr>
            <a:r>
              <a:rPr lang="ar-SA" altLang="en-US" sz="1950" b="1" dirty="0">
                <a:solidFill>
                  <a:srgbClr val="1B3B6F"/>
                </a:solidFill>
                <a:latin typeface="Amiri" pitchFamily="2" charset="-78"/>
                <a:cs typeface="Amiri" pitchFamily="2" charset="-78"/>
              </a:rPr>
              <a:t> · </a:t>
            </a:r>
            <a:pPr rtl="1" algn="ctr" indent="0" marL="0">
              <a:lnSpc>
                <a:spcPct val="120000"/>
              </a:lnSpc>
              <a:buNone/>
            </a:pPr>
            <a:r>
              <a:rPr lang="ar-SA" altLang="en-US" sz="1950" b="1" dirty="0">
                <a:solidFill>
                  <a:srgbClr val="0E7C86"/>
                </a:solidFill>
                <a:latin typeface="Amiri" pitchFamily="2" charset="-78"/>
                <a:cs typeface="Amiri" pitchFamily="2" charset="-78"/>
              </a:rPr>
              <a:t>فِي بَعْضِ البُلْدَانِ</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47</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TE-L11 ·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TE-L11</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Sustain a topic conversation on culture and identity.</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cultural verbs, three tenses and an opinion while speaking.</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Qualify a cultural claim in real time.</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Name my own priority before the final assessment.</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answer in the tense the question uses.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say each cultural verb with its preposition.</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add a reason or an example to every answer.</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qualify one claim (</a:t>
            </a:r>
            <a:pPr algn="l" indent="0" marL="0">
              <a:buNone/>
            </a:pPr>
            <a:r>
              <a:rPr lang="ar-SA" altLang="en-US" sz="1700" b="1" dirty="0">
                <a:solidFill>
                  <a:srgbClr val="C9780A"/>
                </a:solidFill>
                <a:latin typeface="Amiri" pitchFamily="2" charset="-78"/>
                <a:cs typeface="Amiri" pitchFamily="2" charset="-78"/>
              </a:rPr>
              <a:t>فِي بَعْضِ</a:t>
            </a:r>
            <a:pPr algn="l" indent="0" marL="0">
              <a:buNone/>
            </a:pPr>
            <a:r>
              <a:rPr lang="en-US" sz="1300" b="1" dirty="0">
                <a:solidFill>
                  <a:srgbClr val="C9780A"/>
                </a:solidFill>
                <a:latin typeface="Calibri" pitchFamily="34" charset="0"/>
                <a:cs typeface="Amiri" pitchFamily="2" charset="-78"/>
              </a:rPr>
              <a:t> …).</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give a full answer across three tenses with a supported opinion.</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name my own priority for the assessment.</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47</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24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Speaking with control · 8</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The Topic E spine to reuse · 8</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Qualifying in real time · 8</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تَقْيِيمٌ</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‎تقییم / قدر‎ </a:t>
            </a:r>
            <a:pPr indent="0" marL="0">
              <a:buNone/>
            </a:pPr>
            <a:r>
              <a:rPr lang="en-US" sz="950" b="1" dirty="0">
                <a:solidFill>
                  <a:srgbClr val="2E8B57"/>
                </a:solidFill>
                <a:latin typeface="Calibri" pitchFamily="34" charset="0"/>
                <a:cs typeface="Amiri" pitchFamily="2" charset="-78"/>
              </a:rPr>
              <a:t> qadr · assessment, evaluation (قِيمَةٌ = value)</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مِثَالٌ</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‎مثال‎ </a:t>
            </a:r>
            <a:pPr indent="0" marL="0">
              <a:buNone/>
            </a:pPr>
            <a:r>
              <a:rPr lang="en-US" sz="950" b="1" dirty="0">
                <a:solidFill>
                  <a:srgbClr val="2E8B57"/>
                </a:solidFill>
                <a:latin typeface="Calibri" pitchFamily="34" charset="0"/>
                <a:cs typeface="Amiri" pitchFamily="2" charset="-78"/>
              </a:rPr>
              <a:t> misāl · example (same word)</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عِلْمٌ</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‎علم‎ </a:t>
            </a:r>
            <a:pPr indent="0" marL="0">
              <a:buNone/>
            </a:pPr>
            <a:r>
              <a:rPr lang="en-US" sz="950" b="1" dirty="0">
                <a:solidFill>
                  <a:srgbClr val="2E8B57"/>
                </a:solidFill>
                <a:latin typeface="Calibri" pitchFamily="34" charset="0"/>
                <a:cs typeface="Amiri" pitchFamily="2" charset="-78"/>
              </a:rPr>
              <a:t> ʿilm · knowledge (عَلَى حَدِّ عِلْمِي = as far as I know)</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عِبَارَةٌ</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‎عبارت‎ </a:t>
            </a:r>
            <a:pPr indent="0" marL="0">
              <a:buNone/>
            </a:pPr>
            <a:r>
              <a:rPr lang="en-US" sz="950" b="1" dirty="0">
                <a:solidFill>
                  <a:srgbClr val="2E8B57"/>
                </a:solidFill>
                <a:latin typeface="Calibri" pitchFamily="34" charset="0"/>
                <a:cs typeface="Amiri" pitchFamily="2" charset="-78"/>
              </a:rPr>
              <a:t> ʿibārat · Urdu: a written passage · Arabic: a phrase</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عَامٌّ / تَعْمِيمٌ</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‎عام‎ </a:t>
            </a:r>
            <a:pPr indent="0" marL="0">
              <a:buNone/>
            </a:pPr>
            <a:r>
              <a:rPr lang="en-US" sz="950" b="1" dirty="0">
                <a:solidFill>
                  <a:srgbClr val="2E8B57"/>
                </a:solidFill>
                <a:latin typeface="Calibri" pitchFamily="34" charset="0"/>
                <a:cs typeface="Amiri" pitchFamily="2" charset="-78"/>
              </a:rPr>
              <a:t> ʿām · general (لَا أُعَمِّمُ = I do not generalise)</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TE-L11 ·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Speaking with control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TE-L11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مُرَاجَعَةٌ نِهَائِيَّةٌ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final review</a:t>
            </a:r>
            <a:endParaRPr lang="en-US" sz="1350" dirty="0"/>
          </a:p>
          <a:p>
            <a:pPr indent="0" marL="0">
              <a:buNone/>
            </a:pPr>
            <a:r>
              <a:rPr lang="en-US" sz="1100" i="1" dirty="0">
                <a:solidFill>
                  <a:srgbClr val="5A6472"/>
                </a:solidFill>
                <a:latin typeface="Calibri" pitchFamily="34" charset="0"/>
                <a:cs typeface="Amiri" pitchFamily="2" charset="-78"/>
              </a:rPr>
              <a:t>mu-rā-ja-ʿa-tun ni-hā-ʾiy-ya-tun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26" name="Text 23"/>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7" name="Shape 24"/>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9" name="Text 26"/>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تَقْيِيمٌ ذَاتِيٌّ</a:t>
            </a:r>
            <a:endParaRPr lang="ar-SA" sz="3000" dirty="0"/>
          </a:p>
        </p:txBody>
      </p:sp>
      <p:sp>
        <p:nvSpPr>
          <p:cNvPr id="30" name="Text 27"/>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self-assessment</a:t>
            </a:r>
            <a:endParaRPr lang="en-US" sz="1350" dirty="0"/>
          </a:p>
          <a:p>
            <a:pPr indent="0" marL="0">
              <a:buNone/>
            </a:pPr>
            <a:r>
              <a:rPr lang="en-US" sz="1100" i="1" dirty="0">
                <a:solidFill>
                  <a:srgbClr val="5A6472"/>
                </a:solidFill>
                <a:latin typeface="Calibri" pitchFamily="34" charset="0"/>
                <a:cs typeface="Amiri" pitchFamily="2" charset="-78"/>
              </a:rPr>
              <a:t>taq-yī-mun dhā-tiy-yun</a:t>
            </a:r>
            <a:endParaRPr lang="en-US" sz="1350" dirty="0"/>
          </a:p>
        </p:txBody>
      </p:sp>
      <p:sp>
        <p:nvSpPr>
          <p:cNvPr id="31" name="Shape 28"/>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2" name="Text 29"/>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3" name="Text 30"/>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تَقْيِيمَاتٌ ذَاتِيَّةٌ</a:t>
            </a:r>
            <a:endParaRPr lang="ar-SA" sz="1500" dirty="0"/>
          </a:p>
        </p:txBody>
      </p:sp>
      <p:sp>
        <p:nvSpPr>
          <p:cNvPr id="34" name="Shape 31"/>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566928" y="1920240"/>
            <a:ext cx="310896" cy="310896"/>
          </a:xfrm>
          <a:prstGeom prst="ellipse">
            <a:avLst/>
          </a:prstGeom>
          <a:solidFill>
            <a:srgbClr val="F4F1EA"/>
          </a:solidFill>
          <a:ln w="12700">
            <a:solidFill>
              <a:srgbClr val="F4F1EA"/>
            </a:solidFill>
            <a:prstDash val="solid"/>
          </a:ln>
        </p:spPr>
      </p:sp>
      <p:sp>
        <p:nvSpPr>
          <p:cNvPr id="36" name="Text 33"/>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7" name="Shape 34"/>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9" name="Text 36"/>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الطَّلَاقَةُ</a:t>
            </a:r>
            <a:endParaRPr lang="ar-SA" sz="3000" dirty="0"/>
          </a:p>
        </p:txBody>
      </p:sp>
      <p:sp>
        <p:nvSpPr>
          <p:cNvPr id="40" name="Text 37"/>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fluency</a:t>
            </a:r>
            <a:endParaRPr lang="en-US" sz="1350" dirty="0"/>
          </a:p>
          <a:p>
            <a:pPr indent="0" marL="0">
              <a:buNone/>
            </a:pPr>
            <a:r>
              <a:rPr lang="en-US" sz="1100" i="1" dirty="0">
                <a:solidFill>
                  <a:srgbClr val="5A6472"/>
                </a:solidFill>
                <a:latin typeface="Calibri" pitchFamily="34" charset="0"/>
                <a:cs typeface="Amiri" pitchFamily="2" charset="-78"/>
              </a:rPr>
              <a:t>aṭ-ṭa-lā-qa-tu</a:t>
            </a:r>
            <a:endParaRPr lang="en-US" sz="1350" dirty="0"/>
          </a:p>
        </p:txBody>
      </p:sp>
      <p:sp>
        <p:nvSpPr>
          <p:cNvPr id="41" name="Shape 3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11312" y="4261104"/>
            <a:ext cx="310896" cy="310896"/>
          </a:xfrm>
          <a:prstGeom prst="ellipse">
            <a:avLst/>
          </a:prstGeom>
          <a:solidFill>
            <a:srgbClr val="F4F1EA"/>
          </a:solidFill>
          <a:ln w="12700">
            <a:solidFill>
              <a:srgbClr val="F4F1EA"/>
            </a:solidFill>
            <a:prstDash val="solid"/>
          </a:ln>
        </p:spPr>
      </p:sp>
      <p:sp>
        <p:nvSpPr>
          <p:cNvPr id="43" name="Text 4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4" name="Text 4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الدِّقَّةُ</a:t>
            </a:r>
            <a:endParaRPr lang="ar-SA" sz="3000" dirty="0"/>
          </a:p>
        </p:txBody>
      </p:sp>
      <p:sp>
        <p:nvSpPr>
          <p:cNvPr id="45" name="Text 4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accuracy</a:t>
            </a:r>
            <a:endParaRPr lang="en-US" sz="1350" dirty="0"/>
          </a:p>
          <a:p>
            <a:pPr indent="0" marL="0">
              <a:buNone/>
            </a:pPr>
            <a:r>
              <a:rPr lang="en-US" sz="1100" i="1" dirty="0">
                <a:solidFill>
                  <a:srgbClr val="5A6472"/>
                </a:solidFill>
                <a:latin typeface="Calibri" pitchFamily="34" charset="0"/>
                <a:cs typeface="Amiri" pitchFamily="2" charset="-78"/>
              </a:rPr>
              <a:t>ad-diq-qa-tu</a:t>
            </a:r>
            <a:endParaRPr lang="en-US" sz="13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47</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TE-L11 ·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Speaking with control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TE-L11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18" name="Shape 15"/>
          <p:cNvSpPr/>
          <p:nvPr/>
        </p:nvSpPr>
        <p:spPr>
          <a:xfrm>
            <a:off x="8604504" y="1938528"/>
            <a:ext cx="151790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51790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Buys time in Arabic.</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دَعْنِي أُفَكِّرُ</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let me think</a:t>
            </a:r>
            <a:endParaRPr lang="en-US" sz="1350" dirty="0"/>
          </a:p>
          <a:p>
            <a:pPr indent="0" marL="0">
              <a:buNone/>
            </a:pPr>
            <a:r>
              <a:rPr lang="en-US" sz="1100" i="1" dirty="0">
                <a:solidFill>
                  <a:srgbClr val="5A6472"/>
                </a:solidFill>
                <a:latin typeface="Calibri" pitchFamily="34" charset="0"/>
                <a:cs typeface="Amiri" pitchFamily="2" charset="-78"/>
              </a:rPr>
              <a:t>daʿ-nī u-fak-ki-ru</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27" name="Shape 24"/>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9" name="Text 26"/>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عَلَى سَبِيلِ المِثَالِ</a:t>
            </a:r>
            <a:endParaRPr lang="ar-SA" sz="3000" dirty="0"/>
          </a:p>
        </p:txBody>
      </p:sp>
      <p:sp>
        <p:nvSpPr>
          <p:cNvPr id="30" name="Text 27"/>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for example</a:t>
            </a:r>
            <a:endParaRPr lang="en-US" sz="1350" dirty="0"/>
          </a:p>
          <a:p>
            <a:pPr indent="0" marL="0">
              <a:buNone/>
            </a:pPr>
            <a:r>
              <a:rPr lang="en-US" sz="1100" i="1" dirty="0">
                <a:solidFill>
                  <a:srgbClr val="5A6472"/>
                </a:solidFill>
                <a:latin typeface="Calibri" pitchFamily="34" charset="0"/>
                <a:cs typeface="Amiri" pitchFamily="2" charset="-78"/>
              </a:rPr>
              <a:t>ʿa-lā sa-bī-li al-mi-thā-li</a:t>
            </a:r>
            <a:endParaRPr lang="en-US" sz="135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بِعِبَارَةٍ أُخْرَى</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other words</a:t>
            </a:r>
            <a:endParaRPr lang="en-US" sz="1350" dirty="0"/>
          </a:p>
          <a:p>
            <a:pPr indent="0" marL="0">
              <a:buNone/>
            </a:pPr>
            <a:r>
              <a:rPr lang="en-US" sz="1100" i="1" dirty="0">
                <a:solidFill>
                  <a:srgbClr val="5A6472"/>
                </a:solidFill>
                <a:latin typeface="Calibri" pitchFamily="34" charset="0"/>
                <a:cs typeface="Amiri" pitchFamily="2" charset="-78"/>
              </a:rPr>
              <a:t>bi-ʿi-bā-ra-tin ukh-rā</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9" name="Shape 36"/>
          <p:cNvSpPr/>
          <p:nvPr/>
        </p:nvSpPr>
        <p:spPr>
          <a:xfrm>
            <a:off x="8604504" y="4279392"/>
            <a:ext cx="1269187" cy="256032"/>
          </a:xfrm>
          <a:prstGeom prst="roundRect">
            <a:avLst>
              <a:gd name="adj" fmla="val 50000"/>
            </a:avLst>
          </a:prstGeom>
          <a:solidFill>
            <a:srgbClr val="EFE7D2"/>
          </a:solidFill>
          <a:ln w="12700">
            <a:solidFill>
              <a:srgbClr val="EFE7D2"/>
            </a:solidFill>
            <a:prstDash val="solid"/>
          </a:ln>
        </p:spPr>
      </p:sp>
      <p:sp>
        <p:nvSpPr>
          <p:cNvPr id="40" name="Text 37"/>
          <p:cNvSpPr txBox="1"/>
          <p:nvPr/>
        </p:nvSpPr>
        <p:spPr>
          <a:xfrm>
            <a:off x="8604504" y="4279392"/>
            <a:ext cx="1269187"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A repair phrase.</a:t>
            </a:r>
            <a:endParaRPr lang="en-US" sz="800" dirty="0"/>
          </a:p>
        </p:txBody>
      </p:sp>
      <p:sp>
        <p:nvSpPr>
          <p:cNvPr id="41" name="Shape 38"/>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3" name="Text 40"/>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عَفْوًا، أَقْصِدُ</a:t>
            </a:r>
            <a:endParaRPr lang="ar-SA" sz="3000" dirty="0"/>
          </a:p>
        </p:txBody>
      </p:sp>
      <p:sp>
        <p:nvSpPr>
          <p:cNvPr id="44" name="Text 41"/>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sorry, I mean</a:t>
            </a:r>
            <a:endParaRPr lang="en-US" sz="1350" dirty="0"/>
          </a:p>
          <a:p>
            <a:pPr indent="0" marL="0">
              <a:buNone/>
            </a:pPr>
            <a:r>
              <a:rPr lang="en-US" sz="1100" i="1" dirty="0">
                <a:solidFill>
                  <a:srgbClr val="5A6472"/>
                </a:solidFill>
                <a:latin typeface="Calibri" pitchFamily="34" charset="0"/>
                <a:cs typeface="Amiri" pitchFamily="2" charset="-78"/>
              </a:rPr>
              <a:t>ʿaf-wan, aq-ṣi-du</a:t>
            </a:r>
            <a:endParaRPr lang="en-US" sz="135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47</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TE-L11 · Workshop</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The Topic E spine to reuse (1 of 2)</a:t>
            </a:r>
            <a:endParaRPr lang="en-US" sz="27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TE-L11</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20" name="Shape 17"/>
          <p:cNvSpPr/>
          <p:nvPr/>
        </p:nvSpPr>
        <p:spPr>
          <a:xfrm>
            <a:off x="8604504" y="1938528"/>
            <a:ext cx="958291"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VIII · past</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يَحْتَفِلُ بِـ</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celebrates</a:t>
            </a:r>
            <a:endParaRPr lang="en-US" sz="1350" dirty="0"/>
          </a:p>
          <a:p>
            <a:pPr indent="0" marL="0">
              <a:buNone/>
            </a:pPr>
            <a:r>
              <a:rPr lang="en-US" sz="1100" i="1" dirty="0">
                <a:solidFill>
                  <a:srgbClr val="5A6472"/>
                </a:solidFill>
                <a:latin typeface="Calibri" pitchFamily="34" charset="0"/>
                <a:cs typeface="Amiri" pitchFamily="2" charset="-78"/>
              </a:rPr>
              <a:t>yaḥ-ta-fi-lu bi</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past</a:t>
            </a:r>
            <a:endParaRPr lang="en-US" sz="700" dirty="0"/>
          </a:p>
        </p:txBody>
      </p:sp>
      <p:sp>
        <p:nvSpPr>
          <p:cNvPr id="26" name="Text 23"/>
          <p:cNvSpPr txBox="1"/>
          <p:nvPr/>
        </p:nvSpPr>
        <p:spPr>
          <a:xfrm>
            <a:off x="10012680"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اِحْتَفَلَ</a:t>
            </a:r>
            <a:endParaRPr lang="ar-SA" sz="135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أَحْتَفِلُ</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33" name="Shape 30"/>
          <p:cNvSpPr/>
          <p:nvPr/>
        </p:nvSpPr>
        <p:spPr>
          <a:xfrm>
            <a:off x="4782312" y="1938528"/>
            <a:ext cx="1331366"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1331366"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Fixed with إِلَى.</a:t>
            </a:r>
            <a:endParaRPr lang="en-US" sz="800" dirty="0"/>
          </a:p>
        </p:txBody>
      </p:sp>
      <p:sp>
        <p:nvSpPr>
          <p:cNvPr id="35" name="Text 3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يَنْتَمِي إِلَى</a:t>
            </a:r>
            <a:endParaRPr lang="ar-SA" sz="3000" dirty="0"/>
          </a:p>
        </p:txBody>
      </p:sp>
      <p:sp>
        <p:nvSpPr>
          <p:cNvPr id="36" name="Text 3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belongs to</a:t>
            </a:r>
            <a:endParaRPr lang="en-US" sz="1350" dirty="0"/>
          </a:p>
          <a:p>
            <a:pPr indent="0" marL="0">
              <a:buNone/>
            </a:pPr>
            <a:r>
              <a:rPr lang="en-US" sz="1100" i="1" dirty="0">
                <a:solidFill>
                  <a:srgbClr val="5A6472"/>
                </a:solidFill>
                <a:latin typeface="Calibri" pitchFamily="34" charset="0"/>
                <a:cs typeface="Amiri" pitchFamily="2" charset="-78"/>
              </a:rPr>
              <a:t>yan-ta-mī i-lā</a:t>
            </a:r>
            <a:endParaRPr lang="en-US" sz="1350" dirty="0"/>
          </a:p>
        </p:txBody>
      </p:sp>
      <p:sp>
        <p:nvSpPr>
          <p:cNvPr id="37" name="Shape 3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566928" y="1920240"/>
            <a:ext cx="310896" cy="310896"/>
          </a:xfrm>
          <a:prstGeom prst="ellipse">
            <a:avLst/>
          </a:prstGeom>
          <a:solidFill>
            <a:srgbClr val="F4F1EA"/>
          </a:solidFill>
          <a:ln w="12700">
            <a:solidFill>
              <a:srgbClr val="F4F1EA"/>
            </a:solidFill>
            <a:prstDash val="solid"/>
          </a:ln>
        </p:spPr>
      </p:sp>
      <p:sp>
        <p:nvSpPr>
          <p:cNvPr id="39" name="Text 3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40" name="Text 3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يَتَمَسَّكُ بِـ</a:t>
            </a:r>
            <a:endParaRPr lang="ar-SA" sz="3000" dirty="0"/>
          </a:p>
        </p:txBody>
      </p:sp>
      <p:sp>
        <p:nvSpPr>
          <p:cNvPr id="41" name="Text 3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adheres to</a:t>
            </a:r>
            <a:endParaRPr lang="en-US" sz="1350" dirty="0"/>
          </a:p>
          <a:p>
            <a:pPr indent="0" marL="0">
              <a:buNone/>
            </a:pPr>
            <a:r>
              <a:rPr lang="en-US" sz="1100" i="1" dirty="0">
                <a:solidFill>
                  <a:srgbClr val="5A6472"/>
                </a:solidFill>
                <a:latin typeface="Calibri" pitchFamily="34" charset="0"/>
                <a:cs typeface="Amiri" pitchFamily="2" charset="-78"/>
              </a:rPr>
              <a:t>ya-ta-mas-sa-ku bi</a:t>
            </a:r>
            <a:endParaRPr lang="en-US" sz="1350" dirty="0"/>
          </a:p>
        </p:txBody>
      </p:sp>
      <p:sp>
        <p:nvSpPr>
          <p:cNvPr id="42" name="Shape 3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11312"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45" name="Shape 42"/>
          <p:cNvSpPr/>
          <p:nvPr/>
        </p:nvSpPr>
        <p:spPr>
          <a:xfrm>
            <a:off x="8604504" y="4279392"/>
            <a:ext cx="771754" cy="256032"/>
          </a:xfrm>
          <a:prstGeom prst="roundRect">
            <a:avLst>
              <a:gd name="adj" fmla="val 50000"/>
            </a:avLst>
          </a:prstGeom>
          <a:solidFill>
            <a:srgbClr val="EFE7D2"/>
          </a:solidFill>
          <a:ln w="12700">
            <a:solidFill>
              <a:srgbClr val="EFE7D2"/>
            </a:solidFill>
            <a:prstDash val="solid"/>
          </a:ln>
        </p:spPr>
      </p:sp>
      <p:sp>
        <p:nvSpPr>
          <p:cNvPr id="46" name="Text 43"/>
          <p:cNvSpPr txBox="1"/>
          <p:nvPr/>
        </p:nvSpPr>
        <p:spPr>
          <a:xfrm>
            <a:off x="8604504" y="4279392"/>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V · past</a:t>
            </a:r>
            <a:endParaRPr lang="en-US" sz="800" dirty="0"/>
          </a:p>
        </p:txBody>
      </p:sp>
      <p:sp>
        <p:nvSpPr>
          <p:cNvPr id="47" name="Text 44"/>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يَتَكَيَّفُ مَعَ</a:t>
            </a:r>
            <a:endParaRPr lang="ar-SA" sz="3000" dirty="0"/>
          </a:p>
        </p:txBody>
      </p:sp>
      <p:sp>
        <p:nvSpPr>
          <p:cNvPr id="48" name="Text 45"/>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adapts to</a:t>
            </a:r>
            <a:endParaRPr lang="en-US" sz="1350" dirty="0"/>
          </a:p>
          <a:p>
            <a:pPr indent="0" marL="0">
              <a:buNone/>
            </a:pPr>
            <a:r>
              <a:rPr lang="en-US" sz="1100" i="1" dirty="0">
                <a:solidFill>
                  <a:srgbClr val="5A6472"/>
                </a:solidFill>
                <a:latin typeface="Calibri" pitchFamily="34" charset="0"/>
                <a:cs typeface="Amiri" pitchFamily="2" charset="-78"/>
              </a:rPr>
              <a:t>ya-ta-kay-ya-fu ma-ʿa</a:t>
            </a:r>
            <a:endParaRPr lang="en-US" sz="1350" dirty="0"/>
          </a:p>
        </p:txBody>
      </p:sp>
      <p:sp>
        <p:nvSpPr>
          <p:cNvPr id="49" name="Shape 46"/>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50" name="Text 47"/>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past</a:t>
            </a:r>
            <a:endParaRPr lang="en-US" sz="700" dirty="0"/>
          </a:p>
        </p:txBody>
      </p:sp>
      <p:sp>
        <p:nvSpPr>
          <p:cNvPr id="51" name="Text 48"/>
          <p:cNvSpPr txBox="1"/>
          <p:nvPr/>
        </p:nvSpPr>
        <p:spPr>
          <a:xfrm>
            <a:off x="10012680"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تَكَيَّفَ</a:t>
            </a:r>
            <a:endParaRPr lang="ar-SA" sz="1350" dirty="0"/>
          </a:p>
        </p:txBody>
      </p:sp>
      <p:sp>
        <p:nvSpPr>
          <p:cNvPr id="52" name="Shape 49"/>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53" name="Text 50"/>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54" name="Text 51"/>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أَتَكَيَّفُ</a:t>
            </a:r>
            <a:endParaRPr lang="ar-SA" sz="15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47</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TE-L11 · Workshop</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The Topic E spine to reuse (2 of 2)</a:t>
            </a:r>
            <a:endParaRPr lang="en-US" sz="27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TE-L11</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يَحْتَفِظُ بِـ</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keeps</a:t>
            </a:r>
            <a:endParaRPr lang="en-US" sz="1350" dirty="0"/>
          </a:p>
          <a:p>
            <a:pPr indent="0" marL="0">
              <a:buNone/>
            </a:pPr>
            <a:r>
              <a:rPr lang="en-US" sz="1100" i="1" dirty="0">
                <a:solidFill>
                  <a:srgbClr val="5A6472"/>
                </a:solidFill>
                <a:latin typeface="Calibri" pitchFamily="34" charset="0"/>
                <a:cs typeface="Amiri" pitchFamily="2" charset="-78"/>
              </a:rPr>
              <a:t>yaḥ-ta-fi-ẓu bi</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يُعَدُّ مِنْ</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is counted among</a:t>
            </a:r>
            <a:endParaRPr lang="en-US" sz="1350" dirty="0"/>
          </a:p>
          <a:p>
            <a:pPr indent="0" marL="0">
              <a:buNone/>
            </a:pPr>
            <a:r>
              <a:rPr lang="en-US" sz="1100" i="1" dirty="0">
                <a:solidFill>
                  <a:srgbClr val="5A6472"/>
                </a:solidFill>
                <a:latin typeface="Calibri" pitchFamily="34" charset="0"/>
                <a:cs typeface="Amiri" pitchFamily="2" charset="-78"/>
              </a:rPr>
              <a:t>yu-ʿad-du min</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30" name="Shape 27"/>
          <p:cNvSpPr/>
          <p:nvPr/>
        </p:nvSpPr>
        <p:spPr>
          <a:xfrm>
            <a:off x="960120" y="1938528"/>
            <a:ext cx="1393546"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960120" y="1938528"/>
            <a:ext cx="1393546"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Cultural passives.</a:t>
            </a:r>
            <a:endParaRPr lang="en-US" sz="8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تُزَيَّنُ / تُتَبَادَلُ</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is decorated / are exchanged</a:t>
            </a:r>
            <a:endParaRPr lang="en-US" sz="1350" dirty="0"/>
          </a:p>
          <a:p>
            <a:pPr indent="0" marL="0">
              <a:buNone/>
            </a:pPr>
            <a:r>
              <a:rPr lang="en-US" sz="1100" i="1" dirty="0">
                <a:solidFill>
                  <a:srgbClr val="5A6472"/>
                </a:solidFill>
                <a:latin typeface="Calibri" pitchFamily="34" charset="0"/>
                <a:cs typeface="Amiri" pitchFamily="2" charset="-78"/>
              </a:rPr>
              <a:t>tu-zay-ya-nu / tu-ta-bā-da-lu</a:t>
            </a:r>
            <a:endParaRPr lang="en-US" sz="1350" dirty="0"/>
          </a:p>
        </p:txBody>
      </p:sp>
      <p:sp>
        <p:nvSpPr>
          <p:cNvPr id="34" name="Shape 3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8211312" y="4261104"/>
            <a:ext cx="310896" cy="310896"/>
          </a:xfrm>
          <a:prstGeom prst="ellipse">
            <a:avLst/>
          </a:prstGeom>
          <a:solidFill>
            <a:srgbClr val="F4F1EA"/>
          </a:solidFill>
          <a:ln w="12700">
            <a:solidFill>
              <a:srgbClr val="F4F1EA"/>
            </a:solidFill>
            <a:prstDash val="solid"/>
          </a:ln>
        </p:spPr>
      </p:sp>
      <p:sp>
        <p:nvSpPr>
          <p:cNvPr id="36" name="Text 3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37" name="Text 3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لَا يُمْكِنُ إِنْكَارُ أَنَّ</a:t>
            </a:r>
            <a:endParaRPr lang="ar-SA" sz="3000" dirty="0"/>
          </a:p>
        </p:txBody>
      </p:sp>
      <p:sp>
        <p:nvSpPr>
          <p:cNvPr id="38" name="Text 3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it cannot be denied that</a:t>
            </a:r>
            <a:endParaRPr lang="en-US" sz="1350" dirty="0"/>
          </a:p>
          <a:p>
            <a:pPr indent="0" marL="0">
              <a:buNone/>
            </a:pPr>
            <a:r>
              <a:rPr lang="en-US" sz="1100" i="1" dirty="0">
                <a:solidFill>
                  <a:srgbClr val="5A6472"/>
                </a:solidFill>
                <a:latin typeface="Calibri" pitchFamily="34" charset="0"/>
                <a:cs typeface="Amiri" pitchFamily="2" charset="-78"/>
              </a:rPr>
              <a:t>lā yum-ki-nu in-kā-ru an-na</a:t>
            </a:r>
            <a:endParaRPr lang="en-US" sz="135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47</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TE-L11 ·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Qualifying in real time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TE-L11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18" name="Shape 15"/>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pl · sg</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فِي بَعْضِ البُلْدَانِ</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some countries</a:t>
            </a:r>
            <a:endParaRPr lang="en-US" sz="1350" dirty="0"/>
          </a:p>
          <a:p>
            <a:pPr indent="0" marL="0">
              <a:buNone/>
            </a:pPr>
            <a:r>
              <a:rPr lang="en-US" sz="1100" i="1" dirty="0">
                <a:solidFill>
                  <a:srgbClr val="5A6472"/>
                </a:solidFill>
                <a:latin typeface="Calibri" pitchFamily="34" charset="0"/>
                <a:cs typeface="Amiri" pitchFamily="2" charset="-78"/>
              </a:rPr>
              <a:t>fī baʿ-ḍi al-bul-dā-ni</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26" name="Text 23"/>
          <p:cNvSpPr txBox="1"/>
          <p:nvPr/>
        </p:nvSpPr>
        <p:spPr>
          <a:xfrm>
            <a:off x="8284464"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بَلَدٌ</a:t>
            </a:r>
            <a:endParaRPr lang="ar-SA" sz="150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30" name="Shape 27"/>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pl · sg</a:t>
            </a:r>
            <a:endParaRPr lang="en-US" sz="800" dirty="0"/>
          </a:p>
        </p:txBody>
      </p:sp>
      <p:sp>
        <p:nvSpPr>
          <p:cNvPr id="32" name="Text 29"/>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فِي بَعْضِ العَائِلَاتِ</a:t>
            </a:r>
            <a:endParaRPr lang="ar-SA" sz="3000" dirty="0"/>
          </a:p>
        </p:txBody>
      </p:sp>
      <p:sp>
        <p:nvSpPr>
          <p:cNvPr id="33" name="Text 30"/>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some families</a:t>
            </a:r>
            <a:endParaRPr lang="en-US" sz="1350" dirty="0"/>
          </a:p>
          <a:p>
            <a:pPr indent="0" marL="0">
              <a:buNone/>
            </a:pPr>
            <a:r>
              <a:rPr lang="en-US" sz="1100" i="1" dirty="0">
                <a:solidFill>
                  <a:srgbClr val="5A6472"/>
                </a:solidFill>
                <a:latin typeface="Calibri" pitchFamily="34" charset="0"/>
                <a:cs typeface="Amiri" pitchFamily="2" charset="-78"/>
              </a:rPr>
              <a:t>fī baʿ-ḍi al-ʿā-ʾi-lā-ti</a:t>
            </a:r>
            <a:endParaRPr lang="en-US" sz="1350" dirty="0"/>
          </a:p>
        </p:txBody>
      </p:sp>
      <p:sp>
        <p:nvSpPr>
          <p:cNvPr id="34" name="Shape 31"/>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5" name="Text 32"/>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36" name="Text 33"/>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عَائِلَةٌ</a:t>
            </a:r>
            <a:endParaRPr lang="ar-SA" sz="1500" dirty="0"/>
          </a:p>
        </p:txBody>
      </p:sp>
      <p:sp>
        <p:nvSpPr>
          <p:cNvPr id="37" name="Shape 3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566928" y="1920240"/>
            <a:ext cx="310896" cy="310896"/>
          </a:xfrm>
          <a:prstGeom prst="ellipse">
            <a:avLst/>
          </a:prstGeom>
          <a:solidFill>
            <a:srgbClr val="F4F1EA"/>
          </a:solidFill>
          <a:ln w="12700">
            <a:solidFill>
              <a:srgbClr val="F4F1EA"/>
            </a:solidFill>
            <a:prstDash val="solid"/>
          </a:ln>
        </p:spPr>
      </p:sp>
      <p:sp>
        <p:nvSpPr>
          <p:cNvPr id="39" name="Text 3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40" name="Shape 3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1" name="Text 3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2" name="Text 3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أَحْيَانًا</a:t>
            </a:r>
            <a:endParaRPr lang="ar-SA" sz="3000" dirty="0"/>
          </a:p>
        </p:txBody>
      </p:sp>
      <p:sp>
        <p:nvSpPr>
          <p:cNvPr id="43" name="Text 4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sometimes</a:t>
            </a:r>
            <a:endParaRPr lang="en-US" sz="1350" dirty="0"/>
          </a:p>
          <a:p>
            <a:pPr indent="0" marL="0">
              <a:buNone/>
            </a:pPr>
            <a:r>
              <a:rPr lang="en-US" sz="1100" i="1" dirty="0">
                <a:solidFill>
                  <a:srgbClr val="5A6472"/>
                </a:solidFill>
                <a:latin typeface="Calibri" pitchFamily="34" charset="0"/>
                <a:cs typeface="Amiri" pitchFamily="2" charset="-78"/>
              </a:rPr>
              <a:t>aḥ-yā-nan</a:t>
            </a:r>
            <a:endParaRPr lang="en-US" sz="1350" dirty="0"/>
          </a:p>
        </p:txBody>
      </p:sp>
      <p:sp>
        <p:nvSpPr>
          <p:cNvPr id="44" name="Shape 4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8211312" y="4261104"/>
            <a:ext cx="310896" cy="310896"/>
          </a:xfrm>
          <a:prstGeom prst="ellipse">
            <a:avLst/>
          </a:prstGeom>
          <a:solidFill>
            <a:srgbClr val="F4F1EA"/>
          </a:solidFill>
          <a:ln w="12700">
            <a:solidFill>
              <a:srgbClr val="F4F1EA"/>
            </a:solidFill>
            <a:prstDash val="solid"/>
          </a:ln>
        </p:spPr>
      </p:sp>
      <p:sp>
        <p:nvSpPr>
          <p:cNvPr id="46" name="Text 4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47" name="Shape 44"/>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9" name="Text 4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لَيْسَ دَائِمًا</a:t>
            </a:r>
            <a:endParaRPr lang="ar-SA" sz="3000" dirty="0"/>
          </a:p>
        </p:txBody>
      </p:sp>
      <p:sp>
        <p:nvSpPr>
          <p:cNvPr id="50" name="Text 4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not always</a:t>
            </a:r>
            <a:endParaRPr lang="en-US" sz="1350" dirty="0"/>
          </a:p>
          <a:p>
            <a:pPr indent="0" marL="0">
              <a:buNone/>
            </a:pPr>
            <a:r>
              <a:rPr lang="en-US" sz="1100" i="1" dirty="0">
                <a:solidFill>
                  <a:srgbClr val="5A6472"/>
                </a:solidFill>
                <a:latin typeface="Calibri" pitchFamily="34" charset="0"/>
                <a:cs typeface="Amiri" pitchFamily="2" charset="-78"/>
              </a:rPr>
              <a:t>lay-sa dā-ʾi-man</a:t>
            </a:r>
            <a:endParaRPr lang="en-US" sz="1350" dirty="0"/>
          </a:p>
        </p:txBody>
      </p:sp>
      <p:sp>
        <p:nvSpPr>
          <p:cNvPr id="51" name="Text 4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47</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TE-L11 ·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Qualifying in real time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TE-L11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عَلَى حَدِّ عِلْمِي</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as far as I know</a:t>
            </a:r>
            <a:endParaRPr lang="en-US" sz="1350" dirty="0"/>
          </a:p>
          <a:p>
            <a:pPr indent="0" marL="0">
              <a:buNone/>
            </a:pPr>
            <a:r>
              <a:rPr lang="en-US" sz="1100" i="1" dirty="0">
                <a:solidFill>
                  <a:srgbClr val="5A6472"/>
                </a:solidFill>
                <a:latin typeface="Calibri" pitchFamily="34" charset="0"/>
                <a:cs typeface="Amiri" pitchFamily="2" charset="-78"/>
              </a:rPr>
              <a:t>ʿa-lā ḥad-di ʿil-mī</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يَخْتَلِفُ الأَمْرُ</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it varies</a:t>
            </a:r>
            <a:endParaRPr lang="en-US" sz="1350" dirty="0"/>
          </a:p>
          <a:p>
            <a:pPr indent="0" marL="0">
              <a:buNone/>
            </a:pPr>
            <a:r>
              <a:rPr lang="en-US" sz="1100" i="1" dirty="0">
                <a:solidFill>
                  <a:srgbClr val="5A6472"/>
                </a:solidFill>
                <a:latin typeface="Calibri" pitchFamily="34" charset="0"/>
                <a:cs typeface="Amiri" pitchFamily="2" charset="-78"/>
              </a:rPr>
              <a:t>yakh-ta-li-fu al-am-ru</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مِنْ وِجْهَةِ نَظَرِي</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from my point of view</a:t>
            </a:r>
            <a:endParaRPr lang="en-US" sz="1350" dirty="0"/>
          </a:p>
          <a:p>
            <a:pPr indent="0" marL="0">
              <a:buNone/>
            </a:pPr>
            <a:r>
              <a:rPr lang="en-US" sz="1100" i="1" dirty="0">
                <a:solidFill>
                  <a:srgbClr val="5A6472"/>
                </a:solidFill>
                <a:latin typeface="Calibri" pitchFamily="34" charset="0"/>
                <a:cs typeface="Amiri" pitchFamily="2" charset="-78"/>
              </a:rPr>
              <a:t>min wij-ha-ti na-ẓa-rī</a:t>
            </a:r>
            <a:endParaRPr lang="en-US" sz="1350" dirty="0"/>
          </a:p>
        </p:txBody>
      </p:sp>
      <p:sp>
        <p:nvSpPr>
          <p:cNvPr id="34" name="Shape 3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8211312" y="4261104"/>
            <a:ext cx="310896" cy="310896"/>
          </a:xfrm>
          <a:prstGeom prst="ellipse">
            <a:avLst/>
          </a:prstGeom>
          <a:solidFill>
            <a:srgbClr val="F4F1EA"/>
          </a:solidFill>
          <a:ln w="12700">
            <a:solidFill>
              <a:srgbClr val="F4F1EA"/>
            </a:solidFill>
            <a:prstDash val="solid"/>
          </a:ln>
        </p:spPr>
      </p:sp>
      <p:sp>
        <p:nvSpPr>
          <p:cNvPr id="36" name="Text 3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37" name="Shape 34"/>
          <p:cNvSpPr/>
          <p:nvPr/>
        </p:nvSpPr>
        <p:spPr>
          <a:xfrm>
            <a:off x="8604504" y="4279392"/>
            <a:ext cx="958291" cy="256032"/>
          </a:xfrm>
          <a:prstGeom prst="roundRect">
            <a:avLst>
              <a:gd name="adj" fmla="val 50000"/>
            </a:avLst>
          </a:prstGeom>
          <a:solidFill>
            <a:srgbClr val="EFE7D2"/>
          </a:solidFill>
          <a:ln w="12700">
            <a:solidFill>
              <a:srgbClr val="EFE7D2"/>
            </a:solidFill>
            <a:prstDash val="solid"/>
          </a:ln>
        </p:spPr>
      </p:sp>
      <p:sp>
        <p:nvSpPr>
          <p:cNvPr id="38" name="Text 35"/>
          <p:cNvSpPr txBox="1"/>
          <p:nvPr/>
        </p:nvSpPr>
        <p:spPr>
          <a:xfrm>
            <a:off x="8604504" y="4279392"/>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II · I · he</a:t>
            </a:r>
            <a:endParaRPr lang="en-US" sz="8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لَا أُعَمِّمُ</a:t>
            </a:r>
            <a:endParaRPr lang="ar-SA" sz="3000" dirty="0"/>
          </a:p>
        </p:txBody>
      </p:sp>
      <p:sp>
        <p:nvSpPr>
          <p:cNvPr id="42" name="Text 39"/>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do not generalise</a:t>
            </a:r>
            <a:endParaRPr lang="en-US" sz="1350" dirty="0"/>
          </a:p>
          <a:p>
            <a:pPr indent="0" marL="0">
              <a:buNone/>
            </a:pPr>
            <a:r>
              <a:rPr lang="en-US" sz="1100" i="1" dirty="0">
                <a:solidFill>
                  <a:srgbClr val="5A6472"/>
                </a:solidFill>
                <a:latin typeface="Calibri" pitchFamily="34" charset="0"/>
                <a:cs typeface="Amiri" pitchFamily="2" charset="-78"/>
              </a:rPr>
              <a:t>lā u-ʿam-mi-mu</a:t>
            </a:r>
            <a:endParaRPr lang="en-US" sz="1350" dirty="0"/>
          </a:p>
        </p:txBody>
      </p:sp>
      <p:sp>
        <p:nvSpPr>
          <p:cNvPr id="43" name="Shape 40"/>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44" name="Text 41"/>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45" name="Text 42"/>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لَا يُعَمِّمُ</a:t>
            </a:r>
            <a:endParaRPr lang="ar-SA" sz="1500" dirty="0"/>
          </a:p>
        </p:txBody>
      </p:sp>
      <p:sp>
        <p:nvSpPr>
          <p:cNvPr id="46" name="Shape 43"/>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47" name="Text 44"/>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48" name="Text 45"/>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لَا تُعَمِّمُ</a:t>
            </a:r>
            <a:endParaRPr lang="ar-SA" sz="150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47</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TE-L11 ·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20" b="1" spc="150" kern="0" dirty="0">
                <a:solidFill>
                  <a:srgbClr val="1B3B6F"/>
                </a:solidFill>
                <a:latin typeface="Calibri" pitchFamily="34" charset="0"/>
                <a:cs typeface="Amiri" pitchFamily="2" charset="-78"/>
              </a:rPr>
              <a:t>GRAMMAR FOCUS · PART 1 · MIRROR THE TENSE, KEEP THE PREPOSITION (WEBSITE RULES 1–2)</a:t>
            </a:r>
            <a:endParaRPr lang="en-US" sz="82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Answer the question that was asked</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أَجِبْ بِزَمَنِ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TE-L11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308592" y="1810512"/>
            <a:ext cx="23500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Check</a:t>
            </a:r>
            <a:endParaRPr lang="en-US" sz="1100" dirty="0"/>
          </a:p>
        </p:txBody>
      </p:sp>
      <p:sp>
        <p:nvSpPr>
          <p:cNvPr id="17" name="Text 14"/>
          <p:cNvSpPr txBox="1"/>
          <p:nvPr/>
        </p:nvSpPr>
        <p:spPr>
          <a:xfrm>
            <a:off x="3822192" y="1810512"/>
            <a:ext cx="5340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Candidate answers (website)</a:t>
            </a:r>
            <a:endParaRPr lang="en-US" sz="1100" dirty="0"/>
          </a:p>
        </p:txBody>
      </p:sp>
      <p:sp>
        <p:nvSpPr>
          <p:cNvPr id="18" name="Text 15"/>
          <p:cNvSpPr txBox="1"/>
          <p:nvPr/>
        </p:nvSpPr>
        <p:spPr>
          <a:xfrm>
            <a:off x="53035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Examiner asks</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9345168" y="2267712"/>
            <a:ext cx="23134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past → past</a:t>
            </a:r>
            <a:endParaRPr lang="en-US" sz="1100" dirty="0"/>
          </a:p>
        </p:txBody>
      </p:sp>
      <p:sp>
        <p:nvSpPr>
          <p:cNvPr id="21" name="Text 18"/>
          <p:cNvSpPr txBox="1"/>
          <p:nvPr/>
        </p:nvSpPr>
        <p:spPr>
          <a:xfrm>
            <a:off x="3840480" y="2286000"/>
            <a:ext cx="53035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cs typeface="Amiri" pitchFamily="2" charset="-78"/>
              </a:rPr>
              <a:t>فِي العَامِ المَاضِي </a:t>
            </a:r>
            <a:pPr rtl="1" algn="ctr" indent="0" marL="0">
              <a:buNone/>
            </a:pPr>
            <a:r>
              <a:rPr lang="ar-SA" altLang="en-US" sz="2100" b="1" dirty="0">
                <a:solidFill>
                  <a:srgbClr val="0E7C86"/>
                </a:solidFill>
                <a:latin typeface="Amiri" pitchFamily="2" charset="-78"/>
                <a:cs typeface="Amiri" pitchFamily="2" charset="-78"/>
              </a:rPr>
              <a:t>حَضَرْتُ</a:t>
            </a:r>
            <a:pPr rtl="1" algn="ctr" indent="0" marL="0">
              <a:buNone/>
            </a:pPr>
            <a:r>
              <a:rPr lang="ar-SA" altLang="en-US" sz="2100" b="1" dirty="0">
                <a:solidFill>
                  <a:srgbClr val="1B3B6F"/>
                </a:solidFill>
                <a:latin typeface="Amiri" pitchFamily="2" charset="-78"/>
                <a:cs typeface="Amiri" pitchFamily="2" charset="-78"/>
              </a:rPr>
              <a:t> حَفْلًا فِي المَرْكَزِ.</a:t>
            </a:r>
            <a:endParaRPr lang="ar-SA" sz="2100" dirty="0"/>
          </a:p>
        </p:txBody>
      </p:sp>
      <p:sp>
        <p:nvSpPr>
          <p:cNvPr id="22" name="Text 19"/>
          <p:cNvSpPr txBox="1"/>
          <p:nvPr/>
        </p:nvSpPr>
        <p:spPr>
          <a:xfrm>
            <a:off x="3794760" y="2706624"/>
            <a:ext cx="53949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Last year I attended a party at the centre.</a:t>
            </a:r>
            <a:endParaRPr lang="en-US" sz="950" dirty="0"/>
          </a:p>
        </p:txBody>
      </p:sp>
      <p:sp>
        <p:nvSpPr>
          <p:cNvPr id="23" name="Text 20"/>
          <p:cNvSpPr txBox="1"/>
          <p:nvPr/>
        </p:nvSpPr>
        <p:spPr>
          <a:xfrm>
            <a:off x="548640" y="2267712"/>
            <a:ext cx="3108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صِفْ مُنَاسَبَةً </a:t>
            </a:r>
            <a:pPr rtl="1" algn="ctr" indent="0" marL="0">
              <a:buNone/>
            </a:pPr>
            <a:r>
              <a:rPr lang="ar-SA" altLang="en-US" sz="2000" b="1" dirty="0">
                <a:solidFill>
                  <a:srgbClr val="0E7C86"/>
                </a:solidFill>
                <a:latin typeface="Amiri" pitchFamily="2" charset="-78"/>
                <a:cs typeface="Amiri" pitchFamily="2" charset="-78"/>
              </a:rPr>
              <a:t>مَرَرْتَ</a:t>
            </a:r>
            <a:pPr rtl="1" algn="ctr" indent="0" marL="0">
              <a:buNone/>
            </a:pPr>
            <a:r>
              <a:rPr lang="ar-SA" altLang="en-US" sz="2000" b="1" dirty="0">
                <a:solidFill>
                  <a:srgbClr val="1B3B6F"/>
                </a:solidFill>
                <a:latin typeface="Amiri" pitchFamily="2" charset="-78"/>
                <a:cs typeface="Amiri" pitchFamily="2" charset="-78"/>
              </a:rPr>
              <a:t> بِهَا.</a:t>
            </a:r>
            <a:endParaRPr lang="ar-SA" sz="2000" dirty="0"/>
          </a:p>
        </p:txBody>
      </p:sp>
      <p:sp>
        <p:nvSpPr>
          <p:cNvPr id="24" name="Shape 21"/>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5" name="Text 22"/>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6" name="Shape 23"/>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7" name="Text 24"/>
          <p:cNvSpPr txBox="1"/>
          <p:nvPr/>
        </p:nvSpPr>
        <p:spPr>
          <a:xfrm>
            <a:off x="9345168" y="3054096"/>
            <a:ext cx="23134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present + bi-</a:t>
            </a:r>
            <a:endParaRPr lang="en-US" sz="1100" dirty="0"/>
          </a:p>
        </p:txBody>
      </p:sp>
      <p:sp>
        <p:nvSpPr>
          <p:cNvPr id="28" name="Text 25"/>
          <p:cNvSpPr txBox="1"/>
          <p:nvPr/>
        </p:nvSpPr>
        <p:spPr>
          <a:xfrm>
            <a:off x="3840480" y="3072384"/>
            <a:ext cx="5303520" cy="453542"/>
          </a:xfrm>
          <a:prstGeom prst="rect">
            <a:avLst/>
          </a:prstGeom>
          <a:noFill/>
          <a:ln/>
        </p:spPr>
        <p:txBody>
          <a:bodyPr wrap="square" lIns="0" tIns="0" rIns="0" bIns="0" rtlCol="0" anchor="ctr"/>
          <a:lstStyle/>
          <a:p>
            <a:pPr rtl="1" algn="ctr" indent="0" marL="0">
              <a:buNone/>
            </a:pPr>
            <a:r>
              <a:rPr lang="ar-SA" altLang="en-US" sz="2100" b="1" dirty="0">
                <a:solidFill>
                  <a:srgbClr val="D6336C"/>
                </a:solidFill>
                <a:latin typeface="Amiri" pitchFamily="2" charset="-78"/>
                <a:cs typeface="Amiri" pitchFamily="2" charset="-78"/>
              </a:rPr>
              <a:t>نَحْتَفِلُ بِالعِيدِ</a:t>
            </a:r>
            <a:pPr rtl="1" algn="ctr" indent="0" marL="0">
              <a:buNone/>
            </a:pPr>
            <a:r>
              <a:rPr lang="ar-SA" altLang="en-US" sz="2100" b="1" dirty="0">
                <a:solidFill>
                  <a:srgbClr val="1B3B6F"/>
                </a:solidFill>
                <a:latin typeface="Amiri" pitchFamily="2" charset="-78"/>
                <a:cs typeface="Amiri" pitchFamily="2" charset="-78"/>
              </a:rPr>
              <a:t> كُلَّ سَنَةٍ مَعَ الجَالِيَةِ.</a:t>
            </a:r>
            <a:endParaRPr lang="ar-SA" sz="2100" dirty="0"/>
          </a:p>
        </p:txBody>
      </p:sp>
      <p:sp>
        <p:nvSpPr>
          <p:cNvPr id="29" name="Text 26"/>
          <p:cNvSpPr txBox="1"/>
          <p:nvPr/>
        </p:nvSpPr>
        <p:spPr>
          <a:xfrm>
            <a:off x="3794760" y="3493008"/>
            <a:ext cx="53949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We celebrate Eid every year with the community.</a:t>
            </a:r>
            <a:endParaRPr lang="en-US" sz="950" dirty="0"/>
          </a:p>
        </p:txBody>
      </p:sp>
      <p:sp>
        <p:nvSpPr>
          <p:cNvPr id="30" name="Text 27"/>
          <p:cNvSpPr txBox="1"/>
          <p:nvPr/>
        </p:nvSpPr>
        <p:spPr>
          <a:xfrm>
            <a:off x="548640" y="3054096"/>
            <a:ext cx="3108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كَيْفَ </a:t>
            </a:r>
            <a:pPr rtl="1" algn="ctr" indent="0" marL="0">
              <a:buNone/>
            </a:pPr>
            <a:r>
              <a:rPr lang="ar-SA" altLang="en-US" sz="2000" b="1" dirty="0">
                <a:solidFill>
                  <a:srgbClr val="D6336C"/>
                </a:solidFill>
                <a:latin typeface="Amiri" pitchFamily="2" charset="-78"/>
                <a:cs typeface="Amiri" pitchFamily="2" charset="-78"/>
              </a:rPr>
              <a:t>تَحْتَفِلُونَ</a:t>
            </a:r>
            <a:pPr rtl="1" algn="ctr" indent="0" marL="0">
              <a:buNone/>
            </a:pPr>
            <a:r>
              <a:rPr lang="ar-SA" altLang="en-US" sz="2000" b="1" dirty="0">
                <a:solidFill>
                  <a:srgbClr val="1B3B6F"/>
                </a:solidFill>
                <a:latin typeface="Amiri" pitchFamily="2" charset="-78"/>
                <a:cs typeface="Amiri" pitchFamily="2" charset="-78"/>
              </a:rPr>
              <a:t> بِالعِيدِ؟</a:t>
            </a:r>
            <a:endParaRPr lang="ar-SA" sz="2000" dirty="0"/>
          </a:p>
        </p:txBody>
      </p:sp>
      <p:sp>
        <p:nvSpPr>
          <p:cNvPr id="31" name="Shape 28"/>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3" name="Shape 30"/>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4" name="Text 31"/>
          <p:cNvSpPr txBox="1"/>
          <p:nvPr/>
        </p:nvSpPr>
        <p:spPr>
          <a:xfrm>
            <a:off x="9345168" y="3840480"/>
            <a:ext cx="23134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present + ilā</a:t>
            </a:r>
            <a:endParaRPr lang="en-US" sz="1100" dirty="0"/>
          </a:p>
        </p:txBody>
      </p:sp>
      <p:sp>
        <p:nvSpPr>
          <p:cNvPr id="35" name="Text 32"/>
          <p:cNvSpPr txBox="1"/>
          <p:nvPr/>
        </p:nvSpPr>
        <p:spPr>
          <a:xfrm>
            <a:off x="3840480" y="3858768"/>
            <a:ext cx="5303520" cy="453542"/>
          </a:xfrm>
          <a:prstGeom prst="rect">
            <a:avLst/>
          </a:prstGeom>
          <a:noFill/>
          <a:ln/>
        </p:spPr>
        <p:txBody>
          <a:bodyPr wrap="square" lIns="0" tIns="0" rIns="0" bIns="0" rtlCol="0" anchor="ctr"/>
          <a:lstStyle/>
          <a:p>
            <a:pPr rtl="1" algn="ctr" indent="0" marL="0">
              <a:buNone/>
            </a:pPr>
            <a:r>
              <a:rPr lang="ar-SA" altLang="en-US" sz="2100" b="1" dirty="0">
                <a:solidFill>
                  <a:srgbClr val="D6336C"/>
                </a:solidFill>
                <a:latin typeface="Amiri" pitchFamily="2" charset="-78"/>
                <a:cs typeface="Amiri" pitchFamily="2" charset="-78"/>
              </a:rPr>
              <a:t>أَنْتَمِي إِلَى</a:t>
            </a:r>
            <a:pPr rtl="1" algn="ctr" indent="0" marL="0">
              <a:buNone/>
            </a:pPr>
            <a:r>
              <a:rPr lang="ar-SA" altLang="en-US" sz="2100" b="1" dirty="0">
                <a:solidFill>
                  <a:srgbClr val="1B3B6F"/>
                </a:solidFill>
                <a:latin typeface="Amiri" pitchFamily="2" charset="-78"/>
                <a:cs typeface="Amiri" pitchFamily="2" charset="-78"/>
              </a:rPr>
              <a:t> ثَقَافَتَيْنِ.</a:t>
            </a:r>
            <a:endParaRPr lang="ar-SA" sz="2100" dirty="0"/>
          </a:p>
        </p:txBody>
      </p:sp>
      <p:sp>
        <p:nvSpPr>
          <p:cNvPr id="36" name="Text 33"/>
          <p:cNvSpPr txBox="1"/>
          <p:nvPr/>
        </p:nvSpPr>
        <p:spPr>
          <a:xfrm>
            <a:off x="3794760" y="4279392"/>
            <a:ext cx="53949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belong to two cultures.</a:t>
            </a:r>
            <a:endParaRPr lang="en-US" sz="950" dirty="0"/>
          </a:p>
        </p:txBody>
      </p:sp>
      <p:sp>
        <p:nvSpPr>
          <p:cNvPr id="37" name="Text 34"/>
          <p:cNvSpPr txBox="1"/>
          <p:nvPr/>
        </p:nvSpPr>
        <p:spPr>
          <a:xfrm>
            <a:off x="548640" y="3840480"/>
            <a:ext cx="3108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إِلَى أَيِّ ثَقَافَةٍ </a:t>
            </a:r>
            <a:pPr rtl="1" algn="ctr" indent="0" marL="0">
              <a:buNone/>
            </a:pPr>
            <a:r>
              <a:rPr lang="ar-SA" altLang="en-US" sz="2000" b="1" dirty="0">
                <a:solidFill>
                  <a:srgbClr val="D6336C"/>
                </a:solidFill>
                <a:latin typeface="Amiri" pitchFamily="2" charset="-78"/>
                <a:cs typeface="Amiri" pitchFamily="2" charset="-78"/>
              </a:rPr>
              <a:t>تَنْتَمِي</a:t>
            </a:r>
            <a:pPr rtl="1" algn="ctr" indent="0" marL="0">
              <a:buNone/>
            </a:pPr>
            <a:r>
              <a:rPr lang="ar-SA" altLang="en-US" sz="2000" b="1" dirty="0">
                <a:solidFill>
                  <a:srgbClr val="1B3B6F"/>
                </a:solidFill>
                <a:latin typeface="Amiri" pitchFamily="2" charset="-78"/>
                <a:cs typeface="Amiri" pitchFamily="2" charset="-78"/>
              </a:rPr>
              <a:t>؟</a:t>
            </a:r>
            <a:endParaRPr lang="ar-SA" sz="2000" dirty="0"/>
          </a:p>
        </p:txBody>
      </p:sp>
      <p:sp>
        <p:nvSpPr>
          <p:cNvPr id="38" name="Shape 35"/>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0" name="Shape 37"/>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1" name="Text 38"/>
          <p:cNvSpPr txBox="1"/>
          <p:nvPr/>
        </p:nvSpPr>
        <p:spPr>
          <a:xfrm>
            <a:off x="9345168" y="4626864"/>
            <a:ext cx="23134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future → future</a:t>
            </a:r>
            <a:endParaRPr lang="en-US" sz="1100" dirty="0"/>
          </a:p>
        </p:txBody>
      </p:sp>
      <p:sp>
        <p:nvSpPr>
          <p:cNvPr id="42" name="Text 39"/>
          <p:cNvSpPr txBox="1"/>
          <p:nvPr/>
        </p:nvSpPr>
        <p:spPr>
          <a:xfrm>
            <a:off x="3840480" y="4645152"/>
            <a:ext cx="5303520" cy="453542"/>
          </a:xfrm>
          <a:prstGeom prst="rect">
            <a:avLst/>
          </a:prstGeom>
          <a:noFill/>
          <a:ln/>
        </p:spPr>
        <p:txBody>
          <a:bodyPr wrap="square" lIns="0" tIns="0" rIns="0" bIns="0" rtlCol="0" anchor="ctr"/>
          <a:lstStyle/>
          <a:p>
            <a:pPr rtl="1" algn="ctr" indent="0" marL="0">
              <a:buNone/>
            </a:pPr>
            <a:r>
              <a:rPr lang="ar-SA" altLang="en-US" sz="2100" b="1" dirty="0">
                <a:solidFill>
                  <a:srgbClr val="1D5FBF"/>
                </a:solidFill>
                <a:latin typeface="Amiri" pitchFamily="2" charset="-78"/>
                <a:cs typeface="Amiri" pitchFamily="2" charset="-78"/>
              </a:rPr>
              <a:t>سَأَزُورُ</a:t>
            </a:r>
            <a:pPr rtl="1" algn="ctr" indent="0" marL="0">
              <a:buNone/>
            </a:pPr>
            <a:r>
              <a:rPr lang="ar-SA" altLang="en-US" sz="2100" b="1" dirty="0">
                <a:solidFill>
                  <a:srgbClr val="1B3B6F"/>
                </a:solidFill>
                <a:latin typeface="Amiri" pitchFamily="2" charset="-78"/>
                <a:cs typeface="Amiri" pitchFamily="2" charset="-78"/>
              </a:rPr>
              <a:t> بَلَدَ أُسْرَتِي.</a:t>
            </a:r>
            <a:endParaRPr lang="ar-SA" sz="2100" dirty="0"/>
          </a:p>
        </p:txBody>
      </p:sp>
      <p:sp>
        <p:nvSpPr>
          <p:cNvPr id="43" name="Text 40"/>
          <p:cNvSpPr txBox="1"/>
          <p:nvPr/>
        </p:nvSpPr>
        <p:spPr>
          <a:xfrm>
            <a:off x="3794760" y="5065776"/>
            <a:ext cx="53949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will visit my family’s country.</a:t>
            </a:r>
            <a:endParaRPr lang="en-US" sz="950" dirty="0"/>
          </a:p>
        </p:txBody>
      </p:sp>
      <p:sp>
        <p:nvSpPr>
          <p:cNvPr id="44" name="Text 41"/>
          <p:cNvSpPr txBox="1"/>
          <p:nvPr/>
        </p:nvSpPr>
        <p:spPr>
          <a:xfrm>
            <a:off x="548640" y="4626864"/>
            <a:ext cx="3108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مَاذَا </a:t>
            </a:r>
            <a:pPr rtl="1" algn="ctr" indent="0" marL="0">
              <a:buNone/>
            </a:pPr>
            <a:r>
              <a:rPr lang="ar-SA" altLang="en-US" sz="2000" b="1" dirty="0">
                <a:solidFill>
                  <a:srgbClr val="1D5FBF"/>
                </a:solidFill>
                <a:latin typeface="Amiri" pitchFamily="2" charset="-78"/>
                <a:cs typeface="Amiri" pitchFamily="2" charset="-78"/>
              </a:rPr>
              <a:t>سَتَفْعَلُ</a:t>
            </a:r>
            <a:pPr rtl="1" algn="ctr" indent="0" marL="0">
              <a:buNone/>
            </a:pPr>
            <a:r>
              <a:rPr lang="ar-SA" altLang="en-US" sz="2000" b="1" dirty="0">
                <a:solidFill>
                  <a:srgbClr val="1B3B6F"/>
                </a:solidFill>
                <a:latin typeface="Amiri" pitchFamily="2" charset="-78"/>
                <a:cs typeface="Amiri" pitchFamily="2" charset="-78"/>
              </a:rPr>
              <a:t> فِي العَامِ القَادِمِ؟</a:t>
            </a:r>
            <a:endParaRPr lang="ar-SA" sz="2000" dirty="0"/>
          </a:p>
        </p:txBody>
      </p:sp>
      <p:sp>
        <p:nvSpPr>
          <p:cNvPr id="45" name="Text 4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Switching a past question into the present is the commonest avoidance pattern — examiners notice it.</a:t>
            </a:r>
            <a:endParaRPr lang="en-US" sz="11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47</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TE-L11 ·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20" b="1" spc="150" kern="0" dirty="0">
                <a:solidFill>
                  <a:srgbClr val="1B3B6F"/>
                </a:solidFill>
                <a:latin typeface="Calibri" pitchFamily="34" charset="0"/>
                <a:cs typeface="Amiri" pitchFamily="2" charset="-78"/>
              </a:rPr>
              <a:t>GRAMMAR FOCUS · PART 2 · EXTEND AND QUALIFY (WEBSITE RULES 3–4) · DEVELOP / STRETCH</a:t>
            </a:r>
            <a:endParaRPr lang="en-US" sz="82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One more clause, one more second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التَّوَسُّعُ وَالتَّحَفُّظُ</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TE-L11</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165860" cy="274320"/>
          </a:xfrm>
          <a:prstGeom prst="roundRect">
            <a:avLst>
              <a:gd name="adj" fmla="val 50000"/>
            </a:avLst>
          </a:prstGeom>
          <a:solidFill>
            <a:srgbClr val="1E6B52"/>
          </a:solidFill>
          <a:ln w="12700">
            <a:solidFill>
              <a:srgbClr val="1E6B52"/>
            </a:solidFill>
            <a:prstDash val="solid"/>
          </a:ln>
        </p:spPr>
      </p:sp>
      <p:sp>
        <p:nvSpPr>
          <p:cNvPr id="17" name="Text 14"/>
          <p:cNvSpPr txBox="1"/>
          <p:nvPr/>
        </p:nvSpPr>
        <p:spPr>
          <a:xfrm>
            <a:off x="8232648" y="1920240"/>
            <a:ext cx="11658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REASON · CORE</a:t>
            </a:r>
            <a:endParaRPr lang="en-US" sz="850" dirty="0"/>
          </a:p>
        </p:txBody>
      </p:sp>
      <p:sp>
        <p:nvSpPr>
          <p:cNvPr id="18" name="Text 15"/>
          <p:cNvSpPr txBox="1"/>
          <p:nvPr/>
        </p:nvSpPr>
        <p:spPr>
          <a:xfrm>
            <a:off x="9444228" y="1874520"/>
            <a:ext cx="21503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لِأَنَّ</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cs typeface="Amiri" pitchFamily="2" charset="-78"/>
              </a:rPr>
              <a:t>أَعْتَزُّ بِلُغَتِي لِأَنَّهَا تَرْبِطُنِي بِجُذُورِي.</a:t>
            </a:r>
            <a:endParaRPr lang="ar-SA" sz="21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 am proud of my language because it ties me to my roots.</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Claim + reason.</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440180" cy="274320"/>
          </a:xfrm>
          <a:prstGeom prst="roundRect">
            <a:avLst>
              <a:gd name="adj" fmla="val 50000"/>
            </a:avLst>
          </a:prstGeom>
          <a:solidFill>
            <a:srgbClr val="1D5FBF"/>
          </a:solidFill>
          <a:ln w="12700">
            <a:solidFill>
              <a:srgbClr val="1D5FBF"/>
            </a:solidFill>
            <a:prstDash val="solid"/>
          </a:ln>
        </p:spPr>
      </p:sp>
      <p:sp>
        <p:nvSpPr>
          <p:cNvPr id="25" name="Text 22"/>
          <p:cNvSpPr txBox="1"/>
          <p:nvPr/>
        </p:nvSpPr>
        <p:spPr>
          <a:xfrm>
            <a:off x="4413504" y="1920240"/>
            <a:ext cx="14401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EXAMPLE · DEVELOP</a:t>
            </a:r>
            <a:endParaRPr lang="en-US" sz="850" dirty="0"/>
          </a:p>
        </p:txBody>
      </p:sp>
      <p:sp>
        <p:nvSpPr>
          <p:cNvPr id="26" name="Text 23"/>
          <p:cNvSpPr txBox="1"/>
          <p:nvPr/>
        </p:nvSpPr>
        <p:spPr>
          <a:xfrm>
            <a:off x="5899404" y="1874520"/>
            <a:ext cx="18760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عَلَى سَبِيلِ المِثَالِ</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cs typeface="Amiri" pitchFamily="2" charset="-78"/>
              </a:rPr>
              <a:t>عَلَى سَبِيلِ المِثَالِ، تُزَيَّنُ البُيُوتُ بِالفَوَانِيسِ.</a:t>
            </a:r>
            <a:endParaRPr lang="ar-SA" sz="21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For example, houses are decorated with lanterns.</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Make it concrete.</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440180" cy="274320"/>
          </a:xfrm>
          <a:prstGeom prst="roundRect">
            <a:avLst>
              <a:gd name="adj" fmla="val 50000"/>
            </a:avLst>
          </a:prstGeom>
          <a:solidFill>
            <a:srgbClr val="6B4C9A"/>
          </a:solidFill>
          <a:ln w="12700">
            <a:solidFill>
              <a:srgbClr val="6B4C9A"/>
            </a:solidFill>
            <a:prstDash val="solid"/>
          </a:ln>
        </p:spPr>
      </p:sp>
      <p:sp>
        <p:nvSpPr>
          <p:cNvPr id="33" name="Text 30"/>
          <p:cNvSpPr txBox="1"/>
          <p:nvPr/>
        </p:nvSpPr>
        <p:spPr>
          <a:xfrm>
            <a:off x="594360" y="1920240"/>
            <a:ext cx="14401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QUALIFY · STRETCH</a:t>
            </a:r>
            <a:endParaRPr lang="en-US" sz="850" dirty="0"/>
          </a:p>
        </p:txBody>
      </p:sp>
      <p:sp>
        <p:nvSpPr>
          <p:cNvPr id="34" name="Text 31"/>
          <p:cNvSpPr txBox="1"/>
          <p:nvPr/>
        </p:nvSpPr>
        <p:spPr>
          <a:xfrm>
            <a:off x="2080260" y="1874520"/>
            <a:ext cx="18760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عَلَى حَدِّ عِلْمِي</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cs typeface="Amiri" pitchFamily="2" charset="-78"/>
              </a:rPr>
              <a:t>عَلَى حَدِّ عِلْمِي تَخْتَلِفُ العَادَاتُ فِي بَعْضِ البُلْدَانِ.</a:t>
            </a:r>
            <a:endParaRPr lang="ar-SA" sz="21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As far as I know, customs differ in some countries.</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Never “all”.</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mistake: a claim about a whole population is inaccurate.</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00" b="1" dirty="0">
                <a:solidFill>
                  <a:srgbClr val="1B3B6F"/>
                </a:solidFill>
                <a:latin typeface="Amiri" pitchFamily="2" charset="-78"/>
                <a:cs typeface="Amiri" pitchFamily="2" charset="-78"/>
              </a:rPr>
              <a:t>فِي بَعْضِ البُلْدَانِ يَحْتَفِلُ النَّاسُ بِهٰذِهِ الطَّرِيقَةِ.</a:t>
            </a:r>
            <a:endParaRPr lang="ar-SA" sz="16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B83227"/>
                </a:solidFill>
                <a:latin typeface="Amiri" pitchFamily="2" charset="-78"/>
                <a:cs typeface="Amiri" pitchFamily="2" charset="-78"/>
              </a:rPr>
              <a:t>كُلُّ العَرَبِ يَحْتَفِلُونَ بِالطَّرِيقَةِ نَفْسِهَا.</a:t>
            </a:r>
            <a:endParaRPr lang="ar-SA" sz="165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47</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TE-L11 · Workshop</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00" b="1" dirty="0">
                <a:solidFill>
                  <a:srgbClr val="1B3B6F"/>
                </a:solidFill>
                <a:latin typeface="Cambria" pitchFamily="34" charset="0"/>
                <a:cs typeface="Amiri" pitchFamily="2" charset="-78"/>
              </a:rPr>
              <a:t>The Topic E system under speaking pressure</a:t>
            </a:r>
            <a:endParaRPr lang="en-US" sz="21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نِظَامُ الوَحْدَةِ تَحْتَ ضَغْطِ التَّحَدُّثِ</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TE-L11</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Mirror the tense of the question</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past question → past answer</a:t>
            </a:r>
            <a:endParaRPr lang="en-US" sz="10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صِفْ مُنَاسَبَةً مَرَرْتَ بِهَا — حَضَرْتُ حَفْلًا فِي المَرْكَزِ</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Cultural verb plus preposition</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cs typeface="Amiri" pitchFamily="2" charset="-78"/>
              </a:rPr>
              <a:t>يَحْتَفِلُ بِـ · يَنْتَمِي إِلَى · يَتَكَيَّفُ مَعَ</a:t>
            </a:r>
            <a:endParaRPr lang="ar-SA" sz="13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نَحْتَفِلُ بِالعِيدِ كُلَّ سَنَةٍ   ·   أَنْتَمِي إِلَى ثَقَافَتَيْنِ</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Extend with a reason or an example</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claim + </a:t>
            </a:r>
            <a:pPr algn="l" indent="0" marL="0">
              <a:buNone/>
            </a:pPr>
            <a:r>
              <a:rPr lang="ar-SA" altLang="en-US" sz="1350" dirty="0">
                <a:solidFill>
                  <a:srgbClr val="5A6472"/>
                </a:solidFill>
                <a:latin typeface="Amiri" pitchFamily="2" charset="-78"/>
                <a:cs typeface="Amiri" pitchFamily="2" charset="-78"/>
              </a:rPr>
              <a:t>لِأَنَّ / عَلَى سَبِيلِ المِثَالِ</a:t>
            </a:r>
            <a:endParaRPr lang="en-US" sz="10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أَعْتَزُّ بِلُغَتِي لِأَنَّهَا تَرْبِطُنِي بِجُذُورِي</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Qualify as you speak</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cs typeface="Amiri" pitchFamily="2" charset="-78"/>
              </a:rPr>
              <a:t>فِي بَعْضِ … / عَلَى حَدِّ عِلْمِي / لَيْسَ دَائِمًا</a:t>
            </a:r>
            <a:endParaRPr lang="ar-SA" sz="13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فِي بَعْضِ العَائِلَاتِ تُوَزَّعُ العِيدِيَّةُ، وَلَيْسَ دَائِمًا</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47</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TE-L11 ·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TE-L11</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The examiner asks:</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algn="l" indent="0" marL="0">
              <a:buNone/>
            </a:pPr>
            <a:r>
              <a:rPr lang="ar-SA" altLang="en-US" sz="1800" b="1" dirty="0">
                <a:solidFill>
                  <a:srgbClr val="1F2A37"/>
                </a:solidFill>
                <a:latin typeface="Amiri" pitchFamily="2" charset="-78"/>
                <a:cs typeface="Amiri" pitchFamily="2" charset="-78"/>
              </a:rPr>
              <a:t>صِفْ مُنَاسَبَةً مَرَرْتَ بِهَا</a:t>
            </a:r>
            <a:pPr algn="l" indent="0" marL="0">
              <a:buNone/>
            </a:pPr>
            <a:r>
              <a:rPr lang="en-US" sz="1400" b="1" dirty="0">
                <a:solidFill>
                  <a:srgbClr val="1F2A37"/>
                </a:solidFill>
                <a:latin typeface="Calibri" pitchFamily="34" charset="0"/>
                <a:cs typeface="Amiri" pitchFamily="2" charset="-78"/>
              </a:rPr>
              <a:t>. Which answer is appropriate?</a:t>
            </a:r>
            <a:endParaRPr lang="en-US" sz="14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أَحْضُرُ حَفْلًا فِي المَرْكَزِ الثَّقَافِيِّ.</a:t>
            </a:r>
            <a:endParaRPr lang="ar-SA" sz="20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سَأَحْضُرُ حَفْلًا فِي المَرْكَزِ الثَّقَافِيِّ.</a:t>
            </a:r>
            <a:endParaRPr lang="ar-SA" sz="20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حَضَرْتُ حَفْلًا فِي المَرْكَزِ الثَّقَافِيِّ.</a:t>
            </a:r>
            <a:endParaRPr lang="ar-SA" sz="2050" dirty="0"/>
          </a:p>
        </p:txBody>
      </p:sp>
      <p:sp>
        <p:nvSpPr>
          <p:cNvPr id="29" name="Shape 26"/>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313932"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2" name="Text 29"/>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3" name="Text 30"/>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نَحْتَفِلُ ___ العِيدِ كُلَّ سَنَةٍ.</a:t>
            </a:r>
            <a:endParaRPr lang="ar-SA" sz="150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بِـ</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عَلَى</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answer is extended rather than bare?</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نَعَمْ.</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أَعْتَزُّ بِلُغَتِي لِأَنَّهَا تَرْبِطُنِي بِجُذُورِي.</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أَعْتَزُّ.</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statement is appropriately qualified?</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 بَعْضِ العَائِلَاتِ تُوَزَّعُ العِيدِيَّةُ.</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كُلُّ العَائِلَاتِ تُوَزِّعُ العِيدِيَّةَ.</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لَا أَحَدَ يُوَزِّعُ العِيدِيَّةَ.</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47</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TE-L11 ·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TE-L11</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The examiner asks:</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algn="l" indent="0" marL="0">
              <a:buNone/>
            </a:pPr>
            <a:r>
              <a:rPr lang="ar-SA" altLang="en-US" sz="1800" b="1" dirty="0">
                <a:solidFill>
                  <a:srgbClr val="1F2A37"/>
                </a:solidFill>
                <a:latin typeface="Amiri" pitchFamily="2" charset="-78"/>
                <a:cs typeface="Amiri" pitchFamily="2" charset="-78"/>
              </a:rPr>
              <a:t>صِفْ مُنَاسَبَةً مَرَرْتَ بِهَا</a:t>
            </a:r>
            <a:pPr algn="l" indent="0" marL="0">
              <a:buNone/>
            </a:pPr>
            <a:r>
              <a:rPr lang="en-US" sz="1400" b="1" dirty="0">
                <a:solidFill>
                  <a:srgbClr val="1F2A37"/>
                </a:solidFill>
                <a:latin typeface="Calibri" pitchFamily="34" charset="0"/>
                <a:cs typeface="Amiri" pitchFamily="2" charset="-78"/>
              </a:rPr>
              <a:t>. Which answer is appropriate?</a:t>
            </a:r>
            <a:endParaRPr lang="en-US" sz="1400" dirty="0"/>
          </a:p>
        </p:txBody>
      </p:sp>
      <p:sp>
        <p:nvSpPr>
          <p:cNvPr id="20" name="Shape 17"/>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أَحْضُرُ حَفْلًا فِي المَرْكَزِ الثَّقَافِيِّ.</a:t>
            </a:r>
            <a:endParaRPr lang="ar-SA" sz="170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سَأَحْضُرُ حَفْلًا فِي المَرْكَزِ الثَّقَافِيِّ.</a:t>
            </a:r>
            <a:endParaRPr lang="ar-SA" sz="1700" dirty="0"/>
          </a:p>
        </p:txBody>
      </p:sp>
      <p:sp>
        <p:nvSpPr>
          <p:cNvPr id="26" name="Shape 23"/>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7" name="Shape 24"/>
          <p:cNvSpPr/>
          <p:nvPr/>
        </p:nvSpPr>
        <p:spPr>
          <a:xfrm>
            <a:off x="640080" y="3233928"/>
            <a:ext cx="256032" cy="256032"/>
          </a:xfrm>
          <a:prstGeom prst="ellipse">
            <a:avLst/>
          </a:prstGeom>
          <a:solidFill>
            <a:srgbClr val="2E8B57"/>
          </a:solidFill>
          <a:ln w="12700">
            <a:solidFill>
              <a:srgbClr val="2E8B57"/>
            </a:solidFill>
            <a:prstDash val="solid"/>
          </a:ln>
        </p:spPr>
      </p:sp>
      <p:sp>
        <p:nvSpPr>
          <p:cNvPr id="28" name="Text 25"/>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9" name="Text 26"/>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حَضَرْتُ حَفْلًا فِي المَرْكَزِ الثَّقَافِيِّ.</a:t>
            </a:r>
            <a:endParaRPr lang="ar-SA" sz="1700" dirty="0"/>
          </a:p>
        </p:txBody>
      </p:sp>
      <p:sp>
        <p:nvSpPr>
          <p:cNvPr id="30" name="Text 27"/>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past question requires a past answer.</a:t>
            </a:r>
            <a:endParaRPr lang="en-US" sz="1050" dirty="0"/>
          </a:p>
        </p:txBody>
      </p:sp>
      <p:sp>
        <p:nvSpPr>
          <p:cNvPr id="31" name="Shape 28"/>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6313932"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1"/>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5" name="Text 32"/>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نَحْتَفِلُ ___ العِيدِ كُلَّ سَنَةٍ.</a:t>
            </a:r>
            <a:endParaRPr lang="ar-SA" sz="1500" dirty="0"/>
          </a:p>
        </p:txBody>
      </p:sp>
      <p:sp>
        <p:nvSpPr>
          <p:cNvPr id="36" name="Shape 33"/>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7" name="Shape 34"/>
          <p:cNvSpPr/>
          <p:nvPr/>
        </p:nvSpPr>
        <p:spPr>
          <a:xfrm>
            <a:off x="6368796" y="2490216"/>
            <a:ext cx="256032" cy="256032"/>
          </a:xfrm>
          <a:prstGeom prst="ellipse">
            <a:avLst/>
          </a:prstGeom>
          <a:solidFill>
            <a:srgbClr val="2E8B57"/>
          </a:solidFill>
          <a:ln w="12700">
            <a:solidFill>
              <a:srgbClr val="2E8B57"/>
            </a:solidFill>
            <a:prstDash val="solid"/>
          </a:ln>
        </p:spPr>
      </p:sp>
      <p:sp>
        <p:nvSpPr>
          <p:cNvPr id="38" name="Text 35"/>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9" name="Text 36"/>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بِـ</a:t>
            </a:r>
            <a:endParaRPr lang="ar-SA" sz="1700" dirty="0"/>
          </a:p>
        </p:txBody>
      </p:sp>
      <p:sp>
        <p:nvSpPr>
          <p:cNvPr id="40" name="Shape 37"/>
          <p:cNvSpPr/>
          <p:nvPr/>
        </p:nvSpPr>
        <p:spPr>
          <a:xfrm>
            <a:off x="6368796" y="2862072"/>
            <a:ext cx="256032" cy="256032"/>
          </a:xfrm>
          <a:prstGeom prst="ellipse">
            <a:avLst/>
          </a:prstGeom>
          <a:solidFill>
            <a:srgbClr val="C9CED6"/>
          </a:solidFill>
          <a:ln w="12700">
            <a:solidFill>
              <a:srgbClr val="C9CED6"/>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عَلَى</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فِي</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يَحْتَفِلُ</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cs typeface="Amiri" pitchFamily="2" charset="-78"/>
              </a:rPr>
              <a:t>بِـ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answer is extended rather than bare?</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نَعَمْ.</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أَعْتَزُّ بِلُغَتِي لِأَنَّهَا تَرْبِطُنِي بِجُذُورِي.</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أَعْتَزُّ.</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reason turns an answer into a response.</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statement is appropriately qualified?</a:t>
            </a:r>
            <a:endParaRPr lang="en-US" sz="1250" dirty="0"/>
          </a:p>
        </p:txBody>
      </p:sp>
      <p:sp>
        <p:nvSpPr>
          <p:cNvPr id="66" name="Shape 63"/>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7" name="Shape 64"/>
          <p:cNvSpPr/>
          <p:nvPr/>
        </p:nvSpPr>
        <p:spPr>
          <a:xfrm>
            <a:off x="6368796" y="4831080"/>
            <a:ext cx="256032" cy="256032"/>
          </a:xfrm>
          <a:prstGeom prst="ellipse">
            <a:avLst/>
          </a:prstGeom>
          <a:solidFill>
            <a:srgbClr val="2E8B57"/>
          </a:solidFill>
          <a:ln w="12700">
            <a:solidFill>
              <a:srgbClr val="2E8B57"/>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فِي بَعْضِ العَائِلَاتِ تُوَزَّعُ العِيدِيَّةُ.</a:t>
            </a:r>
            <a:endParaRPr lang="ar-SA" sz="170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كُلُّ العَائِلَاتِ تُوَزِّعُ العِيدِيَّةَ.</a:t>
            </a:r>
            <a:endParaRPr lang="ar-SA" sz="1700" dirty="0"/>
          </a:p>
        </p:txBody>
      </p:sp>
      <p:sp>
        <p:nvSpPr>
          <p:cNvPr id="73" name="Shape 70"/>
          <p:cNvSpPr/>
          <p:nvPr/>
        </p:nvSpPr>
        <p:spPr>
          <a:xfrm>
            <a:off x="6368796"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لَا أَحَدَ يُوَزِّعُ العِيدِيَّةَ.</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hedge reports what some families do.</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47</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TE-L11 ·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answer under pressure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TE-L11</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Buy time</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D5FBF"/>
                </a:solidFill>
                <a:latin typeface="Amiri" pitchFamily="2" charset="-78"/>
                <a:cs typeface="Amiri" pitchFamily="2" charset="-78"/>
              </a:rPr>
              <a:t>دَعْنِي أُفَكِّرُ</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In Arabic.</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Mirror</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0E7C86"/>
                </a:solidFill>
                <a:latin typeface="Amiri" pitchFamily="2" charset="-78"/>
                <a:cs typeface="Amiri" pitchFamily="2" charset="-78"/>
              </a:rPr>
              <a:t>حَضَرْتُ</a:t>
            </a:r>
            <a:pPr rtl="1" algn="ctr" indent="0" marL="0">
              <a:buNone/>
            </a:pPr>
            <a:r>
              <a:rPr lang="ar-SA" altLang="en-US" sz="2800" b="1" dirty="0">
                <a:solidFill>
                  <a:srgbClr val="1B3B6F"/>
                </a:solidFill>
                <a:latin typeface="Amiri" pitchFamily="2" charset="-78"/>
                <a:cs typeface="Amiri" pitchFamily="2" charset="-78"/>
              </a:rPr>
              <a:t> حَفْلًا</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Past question.</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Repair</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D5FBF"/>
                </a:solidFill>
                <a:latin typeface="Amiri" pitchFamily="2" charset="-78"/>
                <a:cs typeface="Amiri" pitchFamily="2" charset="-78"/>
              </a:rPr>
              <a:t>عَفْوًا، أَقْصِدُ</a:t>
            </a:r>
            <a:pPr rtl="1" algn="ctr" indent="0" marL="0">
              <a:buNone/>
            </a:pPr>
            <a:r>
              <a:rPr lang="ar-SA" altLang="en-US" sz="2800" b="1" dirty="0">
                <a:solidFill>
                  <a:srgbClr val="1B3B6F"/>
                </a:solidFill>
                <a:latin typeface="Amiri" pitchFamily="2" charset="-78"/>
                <a:cs typeface="Amiri" pitchFamily="2" charset="-78"/>
              </a:rPr>
              <a:t> زُيِّنَتْ</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Fix the tense.</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Qualify</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D6336C"/>
                </a:solidFill>
                <a:latin typeface="Amiri" pitchFamily="2" charset="-78"/>
                <a:cs typeface="Amiri" pitchFamily="2" charset="-78"/>
              </a:rPr>
              <a:t>عَلَى حَدِّ عِلْمِي</a:t>
            </a:r>
            <a:pPr rtl="1" algn="ctr" indent="0" marL="0">
              <a:buNone/>
            </a:pPr>
            <a:r>
              <a:rPr lang="ar-SA" altLang="en-US" sz="2800" b="1" dirty="0">
                <a:solidFill>
                  <a:srgbClr val="1B3B6F"/>
                </a:solidFill>
                <a:latin typeface="Amiri" pitchFamily="2" charset="-78"/>
                <a:cs typeface="Amiri" pitchFamily="2" charset="-78"/>
              </a:rPr>
              <a:t> لَا</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Not everyone.</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8540496"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TENSE</a:t>
            </a:r>
            <a:endParaRPr lang="en-US" sz="800" dirty="0"/>
          </a:p>
        </p:txBody>
      </p:sp>
      <p:sp>
        <p:nvSpPr>
          <p:cNvPr id="47" name="Shape 43"/>
          <p:cNvSpPr/>
          <p:nvPr/>
        </p:nvSpPr>
        <p:spPr>
          <a:xfrm>
            <a:off x="9528048" y="4736592"/>
            <a:ext cx="914400" cy="237744"/>
          </a:xfrm>
          <a:prstGeom prst="roundRect">
            <a:avLst>
              <a:gd name="adj" fmla="val 50000"/>
            </a:avLst>
          </a:prstGeom>
          <a:solidFill>
            <a:srgbClr val="1D5FBF"/>
          </a:solidFill>
          <a:ln w="12700">
            <a:solidFill>
              <a:srgbClr val="1D5FBF"/>
            </a:solidFill>
            <a:prstDash val="solid"/>
          </a:ln>
        </p:spPr>
      </p:sp>
      <p:sp>
        <p:nvSpPr>
          <p:cNvPr id="48" name="Text 44"/>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TIME / REPAIR</a:t>
            </a:r>
            <a:endParaRPr lang="en-US" sz="800" dirty="0"/>
          </a:p>
        </p:txBody>
      </p:sp>
      <p:sp>
        <p:nvSpPr>
          <p:cNvPr id="49" name="Shape 45"/>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50" name="Text 46"/>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QUALIFIER</a:t>
            </a:r>
            <a:endParaRPr lang="en-US" sz="800" dirty="0"/>
          </a:p>
        </p:txBody>
      </p:sp>
      <p:sp>
        <p:nvSpPr>
          <p:cNvPr id="51" name="Text 47"/>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1D5FBF"/>
                </a:solidFill>
                <a:latin typeface="Amiri" pitchFamily="2" charset="-78"/>
                <a:cs typeface="Amiri" pitchFamily="2" charset="-78"/>
              </a:rPr>
              <a:t>دَعْنِي أُفَكِّرُ</a:t>
            </a:r>
            <a:pPr rtl="1" algn="r" indent="0" marL="0">
              <a:lnSpc>
                <a:spcPct val="120000"/>
              </a:lnSpc>
              <a:buNone/>
            </a:pPr>
            <a:r>
              <a:rPr lang="ar-SA" altLang="en-US" sz="1400" b="1" dirty="0">
                <a:solidFill>
                  <a:srgbClr val="1B3B6F"/>
                </a:solidFill>
                <a:latin typeface="Amiri" pitchFamily="2" charset="-78"/>
                <a:cs typeface="Amiri" pitchFamily="2" charset="-78"/>
              </a:rPr>
              <a:t>. فِي العَامِ المَاضِي </a:t>
            </a:r>
            <a:pPr rtl="1" algn="r" indent="0" marL="0">
              <a:lnSpc>
                <a:spcPct val="120000"/>
              </a:lnSpc>
              <a:buNone/>
            </a:pPr>
            <a:r>
              <a:rPr lang="ar-SA" altLang="en-US" sz="1400" b="1" dirty="0">
                <a:solidFill>
                  <a:srgbClr val="0E7C86"/>
                </a:solidFill>
                <a:latin typeface="Amiri" pitchFamily="2" charset="-78"/>
                <a:cs typeface="Amiri" pitchFamily="2" charset="-78"/>
              </a:rPr>
              <a:t>حَضَرْتُ</a:t>
            </a:r>
            <a:pPr rtl="1" algn="r" indent="0" marL="0">
              <a:lnSpc>
                <a:spcPct val="120000"/>
              </a:lnSpc>
              <a:buNone/>
            </a:pPr>
            <a:r>
              <a:rPr lang="ar-SA" altLang="en-US" sz="1400" b="1" dirty="0">
                <a:solidFill>
                  <a:srgbClr val="1B3B6F"/>
                </a:solidFill>
                <a:latin typeface="Amiri" pitchFamily="2" charset="-78"/>
                <a:cs typeface="Amiri" pitchFamily="2" charset="-78"/>
              </a:rPr>
              <a:t> حَفْلًا فِي المَرْكَزِ الثَّقَافِيِّ، وَتُزَيَّنُ القَاعَةُ … </a:t>
            </a:r>
            <a:pPr rtl="1" algn="r" indent="0" marL="0">
              <a:lnSpc>
                <a:spcPct val="120000"/>
              </a:lnSpc>
              <a:buNone/>
            </a:pPr>
            <a:r>
              <a:rPr lang="ar-SA" altLang="en-US" sz="1400" b="1" dirty="0">
                <a:solidFill>
                  <a:srgbClr val="1D5FBF"/>
                </a:solidFill>
                <a:latin typeface="Amiri" pitchFamily="2" charset="-78"/>
                <a:cs typeface="Amiri" pitchFamily="2" charset="-78"/>
              </a:rPr>
              <a:t>عَفْوًا، أَقْصِدُ</a:t>
            </a:r>
            <a:pPr rtl="1" algn="r" indent="0" marL="0">
              <a:lnSpc>
                <a:spcPct val="120000"/>
              </a:lnSpc>
              <a:buNone/>
            </a:pPr>
            <a:r>
              <a:rPr lang="ar-SA" altLang="en-US" sz="1400" b="1" dirty="0">
                <a:solidFill>
                  <a:srgbClr val="1B3B6F"/>
                </a:solidFill>
                <a:latin typeface="Amiri" pitchFamily="2" charset="-78"/>
                <a:cs typeface="Amiri" pitchFamily="2" charset="-78"/>
              </a:rPr>
              <a:t> أَنَّهَا </a:t>
            </a:r>
            <a:pPr rtl="1" algn="r" indent="0" marL="0">
              <a:lnSpc>
                <a:spcPct val="120000"/>
              </a:lnSpc>
              <a:buNone/>
            </a:pPr>
            <a:r>
              <a:rPr lang="ar-SA" altLang="en-US" sz="1400" b="1" dirty="0">
                <a:solidFill>
                  <a:srgbClr val="0E7C86"/>
                </a:solidFill>
                <a:latin typeface="Amiri" pitchFamily="2" charset="-78"/>
                <a:cs typeface="Amiri" pitchFamily="2" charset="-78"/>
              </a:rPr>
              <a:t>زُيِّنَتْ</a:t>
            </a:r>
            <a:pPr rtl="1" algn="r" indent="0" marL="0">
              <a:lnSpc>
                <a:spcPct val="120000"/>
              </a:lnSpc>
              <a:buNone/>
            </a:pPr>
            <a:r>
              <a:rPr lang="ar-SA" altLang="en-US" sz="1400" b="1" dirty="0">
                <a:solidFill>
                  <a:srgbClr val="1B3B6F"/>
                </a:solidFill>
                <a:latin typeface="Amiri" pitchFamily="2" charset="-78"/>
                <a:cs typeface="Amiri" pitchFamily="2" charset="-78"/>
              </a:rPr>
              <a:t> بِالفَوَانِيسِ. </a:t>
            </a:r>
            <a:pPr rtl="1" algn="r" indent="0" marL="0">
              <a:lnSpc>
                <a:spcPct val="120000"/>
              </a:lnSpc>
              <a:buNone/>
            </a:pPr>
            <a:r>
              <a:rPr lang="ar-SA" altLang="en-US" sz="1400" b="1" dirty="0">
                <a:solidFill>
                  <a:srgbClr val="D6336C"/>
                </a:solidFill>
                <a:latin typeface="Amiri" pitchFamily="2" charset="-78"/>
                <a:cs typeface="Amiri" pitchFamily="2" charset="-78"/>
              </a:rPr>
              <a:t>عَلَى حَدِّ عِلْمِي</a:t>
            </a:r>
            <a:pPr rtl="1" algn="r" indent="0" marL="0">
              <a:lnSpc>
                <a:spcPct val="120000"/>
              </a:lnSpc>
              <a:buNone/>
            </a:pPr>
            <a:r>
              <a:rPr lang="ar-SA" altLang="en-US" sz="1400" b="1" dirty="0">
                <a:solidFill>
                  <a:srgbClr val="1B3B6F"/>
                </a:solidFill>
                <a:latin typeface="Amiri" pitchFamily="2" charset="-78"/>
                <a:cs typeface="Amiri" pitchFamily="2" charset="-78"/>
              </a:rPr>
              <a:t> لَا يَحْتَفِلُ الجَمِيعُ بِالطَّرِيقَةِ نَفْسِهَا؛ </a:t>
            </a:r>
            <a:pPr rtl="1" algn="r" indent="0" marL="0">
              <a:lnSpc>
                <a:spcPct val="120000"/>
              </a:lnSpc>
              <a:buNone/>
            </a:pPr>
            <a:r>
              <a:rPr lang="ar-SA" altLang="en-US" sz="1400" b="1" dirty="0">
                <a:solidFill>
                  <a:srgbClr val="D6336C"/>
                </a:solidFill>
                <a:latin typeface="Amiri" pitchFamily="2" charset="-78"/>
                <a:cs typeface="Amiri" pitchFamily="2" charset="-78"/>
              </a:rPr>
              <a:t>فَفِي بَعْضِ البُلْدَانِ</a:t>
            </a:r>
            <a:pPr rtl="1" algn="r" indent="0" marL="0">
              <a:lnSpc>
                <a:spcPct val="120000"/>
              </a:lnSpc>
              <a:buNone/>
            </a:pPr>
            <a:r>
              <a:rPr lang="ar-SA" altLang="en-US" sz="1400" b="1" dirty="0">
                <a:solidFill>
                  <a:srgbClr val="1B3B6F"/>
                </a:solidFill>
                <a:latin typeface="Amiri" pitchFamily="2" charset="-78"/>
                <a:cs typeface="Amiri" pitchFamily="2" charset="-78"/>
              </a:rPr>
              <a:t> تَخْتَلِفُ العَادَاتُ.</a:t>
            </a:r>
            <a:endParaRPr lang="ar-SA" sz="1400" dirty="0"/>
          </a:p>
        </p:txBody>
      </p:sp>
      <p:sp>
        <p:nvSpPr>
          <p:cNvPr id="52" name="Text 48"/>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Let me think. Last year I attended a party at the cultural centre, and the hall is decorated … sorry, I mean it was decorated with lanterns. As far as I know, not everyone celebrates the same way; in some countries customs differ.</a:t>
            </a:r>
            <a:endParaRPr lang="en-US" sz="1100" dirty="0"/>
          </a:p>
        </p:txBody>
      </p:sp>
      <p:sp>
        <p:nvSpPr>
          <p:cNvPr id="53"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47</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TE-L11 ·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TE-L11</a:t>
            </a:r>
            <a:endParaRPr lang="en-US" sz="850" dirty="0"/>
          </a:p>
        </p:txBody>
      </p:sp>
      <p:sp>
        <p:nvSpPr>
          <p:cNvPr id="15" name="Shape 12"/>
          <p:cNvSpPr/>
          <p:nvPr/>
        </p:nvSpPr>
        <p:spPr>
          <a:xfrm>
            <a:off x="457200" y="1810512"/>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316480"/>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3164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نَحْتَفِلُ بِالعِيدِ كُلَّ سَنَةٍ</a:t>
            </a:r>
            <a:endParaRPr lang="ar-SA" sz="2600" dirty="0"/>
          </a:p>
        </p:txBody>
      </p:sp>
      <p:sp>
        <p:nvSpPr>
          <p:cNvPr id="19" name="Text 16"/>
          <p:cNvSpPr txBox="1"/>
          <p:nvPr/>
        </p:nvSpPr>
        <p:spPr>
          <a:xfrm>
            <a:off x="685800" y="1856232"/>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we celebrate Eid every year</a:t>
            </a:r>
            <a:endParaRPr lang="en-US" sz="1250" dirty="0"/>
          </a:p>
          <a:p>
            <a:pPr indent="0" marL="0">
              <a:buNone/>
            </a:pPr>
            <a:r>
              <a:rPr lang="en-US" sz="1050" i="1" dirty="0">
                <a:solidFill>
                  <a:srgbClr val="8A6D1E"/>
                </a:solidFill>
                <a:latin typeface="Calibri" pitchFamily="34" charset="0"/>
                <a:cs typeface="Amiri" pitchFamily="2" charset="-78"/>
              </a:rPr>
              <a:t>Verb and preposition said as one unit.</a:t>
            </a:r>
            <a:endParaRPr lang="en-US" sz="1250" dirty="0"/>
          </a:p>
        </p:txBody>
      </p:sp>
      <p:sp>
        <p:nvSpPr>
          <p:cNvPr id="20" name="Shape 17"/>
          <p:cNvSpPr/>
          <p:nvPr/>
        </p:nvSpPr>
        <p:spPr>
          <a:xfrm>
            <a:off x="457200" y="3352800"/>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858768"/>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858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389376"/>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فِي بَعْضِ العَائِلَاتِ … وَلَيْسَ دَائِمًا</a:t>
            </a:r>
            <a:endParaRPr lang="ar-SA" sz="2600" dirty="0"/>
          </a:p>
        </p:txBody>
      </p:sp>
      <p:sp>
        <p:nvSpPr>
          <p:cNvPr id="24" name="Text 21"/>
          <p:cNvSpPr txBox="1"/>
          <p:nvPr/>
        </p:nvSpPr>
        <p:spPr>
          <a:xfrm>
            <a:off x="685800" y="3398520"/>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in some families … and not always</a:t>
            </a:r>
            <a:endParaRPr lang="en-US" sz="1250" dirty="0"/>
          </a:p>
          <a:p>
            <a:pPr indent="0" marL="0">
              <a:buNone/>
            </a:pPr>
            <a:r>
              <a:rPr lang="en-US" sz="1050" i="1" dirty="0">
                <a:solidFill>
                  <a:srgbClr val="8A6D1E"/>
                </a:solidFill>
                <a:latin typeface="Calibri" pitchFamily="34" charset="0"/>
                <a:cs typeface="Amiri" pitchFamily="2" charset="-78"/>
              </a:rPr>
              <a:t>The claim stays accurate.</a:t>
            </a:r>
            <a:endParaRPr lang="en-US" sz="1250" dirty="0"/>
          </a:p>
        </p:txBody>
      </p:sp>
      <p:sp>
        <p:nvSpPr>
          <p:cNvPr id="25" name="Shape 22"/>
          <p:cNvSpPr/>
          <p:nvPr/>
        </p:nvSpPr>
        <p:spPr>
          <a:xfrm>
            <a:off x="457200" y="4895088"/>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540105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540105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931664"/>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أَعْتَزُّ بِلُغَتِي لِأَنَّهَا تَرْبِطُنِي بِجُذُورِي</a:t>
            </a:r>
            <a:endParaRPr lang="ar-SA" sz="2600" dirty="0"/>
          </a:p>
        </p:txBody>
      </p:sp>
      <p:sp>
        <p:nvSpPr>
          <p:cNvPr id="29" name="Text 26"/>
          <p:cNvSpPr txBox="1"/>
          <p:nvPr/>
        </p:nvSpPr>
        <p:spPr>
          <a:xfrm>
            <a:off x="685800" y="4940808"/>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am proud of my language because it ties me to my roots</a:t>
            </a:r>
            <a:endParaRPr lang="en-US" sz="1250" dirty="0"/>
          </a:p>
          <a:p>
            <a:pPr indent="0" marL="0">
              <a:buNone/>
            </a:pPr>
            <a:r>
              <a:rPr lang="en-US" sz="1050" i="1" dirty="0">
                <a:solidFill>
                  <a:srgbClr val="8A6D1E"/>
                </a:solidFill>
                <a:latin typeface="Calibri" pitchFamily="34" charset="0"/>
                <a:cs typeface="Amiri" pitchFamily="2" charset="-78"/>
              </a:rPr>
              <a:t>Claim plus reason.</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47</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TE-L11 ·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18" b="1" spc="150" kern="0" dirty="0">
                <a:solidFill>
                  <a:srgbClr val="2F6FB0"/>
                </a:solidFill>
                <a:latin typeface="Calibri" pitchFamily="34" charset="0"/>
                <a:cs typeface="Amiri" pitchFamily="2" charset="-78"/>
              </a:rPr>
              <a:t>WE DO · PICTURE MATCH · WEBSITE GAME “INTERNATIONAL FAIR RELAY (TOPIC GAME)”</a:t>
            </a:r>
            <a:endParaRPr lang="en-US" sz="918"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Match the picture to the sentence</a:t>
            </a:r>
            <a:endParaRPr lang="en-US" sz="27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سِبَاقُ الْمَعْرِضِ الدَّوْلِيِّ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TE-L11</a:t>
            </a:r>
            <a:endParaRPr lang="en-US" sz="850" dirty="0"/>
          </a:p>
        </p:txBody>
      </p:sp>
      <p:sp>
        <p:nvSpPr>
          <p:cNvPr id="17" name="Shape 14"/>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23504" y="19385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0" name="Shape 17"/>
          <p:cNvSpPr/>
          <p:nvPr/>
        </p:nvSpPr>
        <p:spPr>
          <a:xfrm>
            <a:off x="8811768" y="2066544"/>
            <a:ext cx="1014984" cy="1014984"/>
          </a:xfrm>
          <a:prstGeom prst="ellipse">
            <a:avLst/>
          </a:prstGeom>
          <a:solidFill>
            <a:srgbClr val="F4F1EA"/>
          </a:solidFill>
          <a:ln w="12700">
            <a:solidFill>
              <a:srgbClr val="F4F1EA"/>
            </a:solidFill>
            <a:prstDash val="solid"/>
          </a:ln>
        </p:spPr>
      </p:sp>
      <p:pic>
        <p:nvPicPr>
          <p:cNvPr id="21"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2" name="Shape 18"/>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3"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4" name="Text 19"/>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Morocco · AR + FR</a:t>
            </a:r>
            <a:endParaRPr lang="en-US" sz="1100" dirty="0"/>
          </a:p>
        </p:txBody>
      </p:sp>
      <p:sp>
        <p:nvSpPr>
          <p:cNvPr id="25" name="Shape 20"/>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1"/>
          <p:cNvSpPr/>
          <p:nvPr/>
        </p:nvSpPr>
        <p:spPr>
          <a:xfrm>
            <a:off x="4404360" y="1938528"/>
            <a:ext cx="365760" cy="365760"/>
          </a:xfrm>
          <a:prstGeom prst="ellipse">
            <a:avLst/>
          </a:prstGeom>
          <a:solidFill>
            <a:srgbClr val="1B3B6F"/>
          </a:solidFill>
          <a:ln w="12700">
            <a:solidFill>
              <a:srgbClr val="1B3B6F"/>
            </a:solidFill>
            <a:prstDash val="solid"/>
          </a:ln>
        </p:spPr>
      </p:sp>
      <p:sp>
        <p:nvSpPr>
          <p:cNvPr id="27" name="Text 22"/>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8" name="Shape 23"/>
          <p:cNvSpPr/>
          <p:nvPr/>
        </p:nvSpPr>
        <p:spPr>
          <a:xfrm>
            <a:off x="4992624" y="2066544"/>
            <a:ext cx="1014984" cy="1014984"/>
          </a:xfrm>
          <a:prstGeom prst="ellipse">
            <a:avLst/>
          </a:prstGeom>
          <a:solidFill>
            <a:srgbClr val="F4F1EA"/>
          </a:solidFill>
          <a:ln w="12700">
            <a:solidFill>
              <a:srgbClr val="F4F1EA"/>
            </a:solidFill>
            <a:prstDash val="solid"/>
          </a:ln>
        </p:spPr>
      </p:sp>
      <p:pic>
        <p:nvPicPr>
          <p:cNvPr id="29"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0" name="Shape 24"/>
          <p:cNvSpPr/>
          <p:nvPr/>
        </p:nvSpPr>
        <p:spPr>
          <a:xfrm>
            <a:off x="6181344" y="2066544"/>
            <a:ext cx="1014984" cy="1014984"/>
          </a:xfrm>
          <a:prstGeom prst="ellipse">
            <a:avLst/>
          </a:prstGeom>
          <a:solidFill>
            <a:srgbClr val="F4F1EA"/>
          </a:solidFill>
          <a:ln w="12700">
            <a:solidFill>
              <a:srgbClr val="F4F1EA"/>
            </a:solidFill>
            <a:prstDash val="solid"/>
          </a:ln>
        </p:spPr>
      </p:sp>
      <p:pic>
        <p:nvPicPr>
          <p:cNvPr id="31"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2" name="Text 25"/>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hospitality stand</a:t>
            </a:r>
            <a:endParaRPr lang="en-US" sz="1100" dirty="0"/>
          </a:p>
        </p:txBody>
      </p:sp>
      <p:sp>
        <p:nvSpPr>
          <p:cNvPr id="33" name="Shape 26"/>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27"/>
          <p:cNvSpPr/>
          <p:nvPr/>
        </p:nvSpPr>
        <p:spPr>
          <a:xfrm>
            <a:off x="585216" y="1938528"/>
            <a:ext cx="365760" cy="365760"/>
          </a:xfrm>
          <a:prstGeom prst="ellipse">
            <a:avLst/>
          </a:prstGeom>
          <a:solidFill>
            <a:srgbClr val="1B3B6F"/>
          </a:solidFill>
          <a:ln w="12700">
            <a:solidFill>
              <a:srgbClr val="1B3B6F"/>
            </a:solidFill>
            <a:prstDash val="solid"/>
          </a:ln>
        </p:spPr>
      </p:sp>
      <p:sp>
        <p:nvSpPr>
          <p:cNvPr id="35" name="Text 28"/>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6" name="Shape 29"/>
          <p:cNvSpPr/>
          <p:nvPr/>
        </p:nvSpPr>
        <p:spPr>
          <a:xfrm>
            <a:off x="579120" y="2066544"/>
            <a:ext cx="1014984" cy="1014984"/>
          </a:xfrm>
          <a:prstGeom prst="ellipse">
            <a:avLst/>
          </a:prstGeom>
          <a:solidFill>
            <a:srgbClr val="F4F1EA"/>
          </a:solidFill>
          <a:ln w="12700">
            <a:solidFill>
              <a:srgbClr val="F4F1EA"/>
            </a:solidFill>
            <a:prstDash val="solid"/>
          </a:ln>
        </p:spPr>
      </p:sp>
      <p:pic>
        <p:nvPicPr>
          <p:cNvPr id="37" name="Image 4" descr="preencoded.png">    </p:cNvPr>
          <p:cNvPicPr>
            <a:picLocks noChangeAspect="1"/>
          </p:cNvPicPr>
          <p:nvPr/>
        </p:nvPicPr>
        <p:blipFill>
          <a:blip r:embed="rId5"/>
          <a:stretch>
            <a:fillRect/>
          </a:stretch>
        </p:blipFill>
        <p:spPr>
          <a:xfrm>
            <a:off x="762000" y="2249424"/>
            <a:ext cx="649224" cy="649224"/>
          </a:xfrm>
          <a:prstGeom prst="rect">
            <a:avLst/>
          </a:prstGeom>
        </p:spPr>
      </p:pic>
      <p:sp>
        <p:nvSpPr>
          <p:cNvPr id="38" name="Shape 30"/>
          <p:cNvSpPr/>
          <p:nvPr/>
        </p:nvSpPr>
        <p:spPr>
          <a:xfrm>
            <a:off x="1767840" y="2066544"/>
            <a:ext cx="1014984" cy="1014984"/>
          </a:xfrm>
          <a:prstGeom prst="ellipse">
            <a:avLst/>
          </a:prstGeom>
          <a:solidFill>
            <a:srgbClr val="F4F1EA"/>
          </a:solidFill>
          <a:ln w="12700">
            <a:solidFill>
              <a:srgbClr val="F4F1EA"/>
            </a:solidFill>
            <a:prstDash val="solid"/>
          </a:ln>
        </p:spPr>
      </p:sp>
      <p:pic>
        <p:nvPicPr>
          <p:cNvPr id="39" name="Image 5" descr="preencoded.png">    </p:cNvPr>
          <p:cNvPicPr>
            <a:picLocks noChangeAspect="1"/>
          </p:cNvPicPr>
          <p:nvPr/>
        </p:nvPicPr>
        <p:blipFill>
          <a:blip r:embed="rId6"/>
          <a:stretch>
            <a:fillRect/>
          </a:stretch>
        </p:blipFill>
        <p:spPr>
          <a:xfrm>
            <a:off x="1950720" y="2249424"/>
            <a:ext cx="649224" cy="649224"/>
          </a:xfrm>
          <a:prstGeom prst="rect">
            <a:avLst/>
          </a:prstGeom>
        </p:spPr>
      </p:pic>
      <p:sp>
        <p:nvSpPr>
          <p:cNvPr id="40" name="Shape 31"/>
          <p:cNvSpPr/>
          <p:nvPr/>
        </p:nvSpPr>
        <p:spPr>
          <a:xfrm>
            <a:off x="2956560" y="2066544"/>
            <a:ext cx="1014984" cy="1014984"/>
          </a:xfrm>
          <a:prstGeom prst="ellipse">
            <a:avLst/>
          </a:prstGeom>
          <a:solidFill>
            <a:srgbClr val="F4F1EA"/>
          </a:solidFill>
          <a:ln w="12700">
            <a:solidFill>
              <a:srgbClr val="F4F1EA"/>
            </a:solidFill>
            <a:prstDash val="solid"/>
          </a:ln>
        </p:spPr>
      </p:sp>
      <p:pic>
        <p:nvPicPr>
          <p:cNvPr id="41" name="Image 6" descr="preencoded.png">    </p:cNvPr>
          <p:cNvPicPr>
            <a:picLocks noChangeAspect="1"/>
          </p:cNvPicPr>
          <p:nvPr/>
        </p:nvPicPr>
        <p:blipFill>
          <a:blip r:embed="rId7"/>
          <a:stretch>
            <a:fillRect/>
          </a:stretch>
        </p:blipFill>
        <p:spPr>
          <a:xfrm>
            <a:off x="3139440" y="2249424"/>
            <a:ext cx="649224" cy="649224"/>
          </a:xfrm>
          <a:prstGeom prst="rect">
            <a:avLst/>
          </a:prstGeom>
        </p:spPr>
      </p:pic>
      <p:sp>
        <p:nvSpPr>
          <p:cNvPr id="42" name="Text 32"/>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traditions stand</a:t>
            </a:r>
            <a:endParaRPr lang="en-US" sz="1100" dirty="0"/>
          </a:p>
        </p:txBody>
      </p:sp>
      <p:sp>
        <p:nvSpPr>
          <p:cNvPr id="43" name="Shape 33"/>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4" name="Shape 34"/>
          <p:cNvSpPr/>
          <p:nvPr/>
        </p:nvSpPr>
        <p:spPr>
          <a:xfrm>
            <a:off x="11247120" y="3831336"/>
            <a:ext cx="292608" cy="292608"/>
          </a:xfrm>
          <a:prstGeom prst="ellipse">
            <a:avLst/>
          </a:prstGeom>
          <a:solidFill>
            <a:srgbClr val="2F6FB0"/>
          </a:solidFill>
          <a:ln w="12700">
            <a:solidFill>
              <a:srgbClr val="2F6FB0"/>
            </a:solidFill>
            <a:prstDash val="solid"/>
          </a:ln>
        </p:spPr>
      </p:sp>
      <p:sp>
        <p:nvSpPr>
          <p:cNvPr id="45" name="Text 35"/>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6" name="Text 36"/>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يَشْرَحُ الْجَنَاحُ عَادَاتِ الضِّيَافَةِ وَالتَّحِيَّةِ.</a:t>
            </a:r>
            <a:endParaRPr lang="ar-SA" sz="2000" dirty="0"/>
          </a:p>
        </p:txBody>
      </p:sp>
      <p:sp>
        <p:nvSpPr>
          <p:cNvPr id="47" name="Shape 37"/>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8" name="Shape 38"/>
          <p:cNvSpPr/>
          <p:nvPr/>
        </p:nvSpPr>
        <p:spPr>
          <a:xfrm>
            <a:off x="11247120" y="4398264"/>
            <a:ext cx="292608" cy="292608"/>
          </a:xfrm>
          <a:prstGeom prst="ellipse">
            <a:avLst/>
          </a:prstGeom>
          <a:solidFill>
            <a:srgbClr val="2F6FB0"/>
          </a:solidFill>
          <a:ln w="12700">
            <a:solidFill>
              <a:srgbClr val="2F6FB0"/>
            </a:solidFill>
            <a:prstDash val="solid"/>
          </a:ln>
        </p:spPr>
      </p:sp>
      <p:sp>
        <p:nvSpPr>
          <p:cNvPr id="49" name="Text 39"/>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50" name="Text 40"/>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يَعْرِضُ الْجَنَاحُ مَلَابِسَ وَأَطْعِمَةً وَاحْتِفَالَاتٍ تَقْلِيدِيَّةً.</a:t>
            </a:r>
            <a:endParaRPr lang="ar-SA" sz="2000" dirty="0"/>
          </a:p>
        </p:txBody>
      </p:sp>
      <p:sp>
        <p:nvSpPr>
          <p:cNvPr id="51" name="Shape 41"/>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52" name="Shape 42"/>
          <p:cNvSpPr/>
          <p:nvPr/>
        </p:nvSpPr>
        <p:spPr>
          <a:xfrm>
            <a:off x="11247120" y="4965192"/>
            <a:ext cx="292608" cy="292608"/>
          </a:xfrm>
          <a:prstGeom prst="ellipse">
            <a:avLst/>
          </a:prstGeom>
          <a:solidFill>
            <a:srgbClr val="2F6FB0"/>
          </a:solidFill>
          <a:ln w="12700">
            <a:solidFill>
              <a:srgbClr val="2F6FB0"/>
            </a:solidFill>
            <a:prstDash val="solid"/>
          </a:ln>
        </p:spPr>
      </p:sp>
      <p:sp>
        <p:nvSpPr>
          <p:cNvPr id="53" name="Text 43"/>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54" name="Text 44"/>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فِي الْمَغْرِبِ تُسْتَعْمَلُ الْعَرَبِيَّةُ وَتَنْتَشِرُ الْفَرَنْسِيَّةُ أَيْضًا.</a:t>
            </a:r>
            <a:endParaRPr lang="ar-SA" sz="2000" dirty="0"/>
          </a:p>
        </p:txBody>
      </p:sp>
      <p:sp>
        <p:nvSpPr>
          <p:cNvPr id="55" name="Text 45"/>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6" name="Text 46"/>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7"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47</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TE-L11 ·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سِبَاقُ الْمَعْرِضِ الدَّوْلِيِّ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TE-L11</a:t>
            </a:r>
            <a:endParaRPr lang="en-US" sz="850" dirty="0"/>
          </a:p>
        </p:txBody>
      </p:sp>
      <p:sp>
        <p:nvSpPr>
          <p:cNvPr id="17" name="Shape 14"/>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23504" y="19385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0" name="Shape 17"/>
          <p:cNvSpPr/>
          <p:nvPr/>
        </p:nvSpPr>
        <p:spPr>
          <a:xfrm>
            <a:off x="8811768" y="2066544"/>
            <a:ext cx="1014984" cy="1014984"/>
          </a:xfrm>
          <a:prstGeom prst="ellipse">
            <a:avLst/>
          </a:prstGeom>
          <a:solidFill>
            <a:srgbClr val="F4F1EA"/>
          </a:solidFill>
          <a:ln w="12700">
            <a:solidFill>
              <a:srgbClr val="F4F1EA"/>
            </a:solidFill>
            <a:prstDash val="solid"/>
          </a:ln>
        </p:spPr>
      </p:sp>
      <p:pic>
        <p:nvPicPr>
          <p:cNvPr id="21"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2" name="Shape 18"/>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3"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4" name="Text 19"/>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Morocco · AR + FR</a:t>
            </a:r>
            <a:endParaRPr lang="en-US" sz="1100" dirty="0"/>
          </a:p>
        </p:txBody>
      </p:sp>
      <p:sp>
        <p:nvSpPr>
          <p:cNvPr id="25" name="Shape 20"/>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6" name="Shape 21"/>
          <p:cNvSpPr/>
          <p:nvPr/>
        </p:nvSpPr>
        <p:spPr>
          <a:xfrm>
            <a:off x="11256264" y="3785616"/>
            <a:ext cx="329184" cy="329184"/>
          </a:xfrm>
          <a:prstGeom prst="ellipse">
            <a:avLst/>
          </a:prstGeom>
          <a:solidFill>
            <a:srgbClr val="2E8B57"/>
          </a:solidFill>
          <a:ln w="12700">
            <a:solidFill>
              <a:srgbClr val="2E8B57"/>
            </a:solidFill>
            <a:prstDash val="solid"/>
          </a:ln>
        </p:spPr>
      </p:sp>
      <p:sp>
        <p:nvSpPr>
          <p:cNvPr id="27" name="Text 22"/>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28" name="Text 23"/>
          <p:cNvSpPr txBox="1"/>
          <p:nvPr/>
        </p:nvSpPr>
        <p:spPr>
          <a:xfrm>
            <a:off x="8232648"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cs typeface="Amiri" pitchFamily="2" charset="-78"/>
              </a:rPr>
              <a:t>فِي الْمَغْرِبِ تُسْتَعْمَلُ الْعَرَبِيَّةُ وَتَنْتَشِرُ الْفَرَنْسِيَّةُ أَيْضًا.</a:t>
            </a:r>
            <a:endParaRPr lang="ar-SA" sz="2200" dirty="0"/>
          </a:p>
        </p:txBody>
      </p:sp>
      <p:sp>
        <p:nvSpPr>
          <p:cNvPr id="29" name="Text 24"/>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In Morocco Arabic is used, and French is also widespread.</a:t>
            </a:r>
            <a:endParaRPr lang="en-US" sz="1200" dirty="0"/>
          </a:p>
        </p:txBody>
      </p:sp>
      <p:sp>
        <p:nvSpPr>
          <p:cNvPr id="30" name="Shape 25"/>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6"/>
          <p:cNvSpPr/>
          <p:nvPr/>
        </p:nvSpPr>
        <p:spPr>
          <a:xfrm>
            <a:off x="4404360" y="1938528"/>
            <a:ext cx="365760" cy="365760"/>
          </a:xfrm>
          <a:prstGeom prst="ellipse">
            <a:avLst/>
          </a:prstGeom>
          <a:solidFill>
            <a:srgbClr val="1B3B6F"/>
          </a:solidFill>
          <a:ln w="12700">
            <a:solidFill>
              <a:srgbClr val="1B3B6F"/>
            </a:solidFill>
            <a:prstDash val="solid"/>
          </a:ln>
        </p:spPr>
      </p:sp>
      <p:sp>
        <p:nvSpPr>
          <p:cNvPr id="32" name="Text 27"/>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3" name="Shape 28"/>
          <p:cNvSpPr/>
          <p:nvPr/>
        </p:nvSpPr>
        <p:spPr>
          <a:xfrm>
            <a:off x="4992624" y="2066544"/>
            <a:ext cx="1014984" cy="1014984"/>
          </a:xfrm>
          <a:prstGeom prst="ellipse">
            <a:avLst/>
          </a:prstGeom>
          <a:solidFill>
            <a:srgbClr val="F4F1EA"/>
          </a:solidFill>
          <a:ln w="12700">
            <a:solidFill>
              <a:srgbClr val="F4F1EA"/>
            </a:solidFill>
            <a:prstDash val="solid"/>
          </a:ln>
        </p:spPr>
      </p:sp>
      <p:pic>
        <p:nvPicPr>
          <p:cNvPr id="34"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5" name="Shape 29"/>
          <p:cNvSpPr/>
          <p:nvPr/>
        </p:nvSpPr>
        <p:spPr>
          <a:xfrm>
            <a:off x="6181344" y="2066544"/>
            <a:ext cx="1014984" cy="1014984"/>
          </a:xfrm>
          <a:prstGeom prst="ellipse">
            <a:avLst/>
          </a:prstGeom>
          <a:solidFill>
            <a:srgbClr val="F4F1EA"/>
          </a:solidFill>
          <a:ln w="12700">
            <a:solidFill>
              <a:srgbClr val="F4F1EA"/>
            </a:solidFill>
            <a:prstDash val="solid"/>
          </a:ln>
        </p:spPr>
      </p:sp>
      <p:pic>
        <p:nvPicPr>
          <p:cNvPr id="36"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7" name="Text 30"/>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hospitality stand</a:t>
            </a:r>
            <a:endParaRPr lang="en-US" sz="1100" dirty="0"/>
          </a:p>
        </p:txBody>
      </p:sp>
      <p:sp>
        <p:nvSpPr>
          <p:cNvPr id="38" name="Shape 31"/>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9" name="Shape 32"/>
          <p:cNvSpPr/>
          <p:nvPr/>
        </p:nvSpPr>
        <p:spPr>
          <a:xfrm>
            <a:off x="7437120" y="3785616"/>
            <a:ext cx="329184" cy="329184"/>
          </a:xfrm>
          <a:prstGeom prst="ellipse">
            <a:avLst/>
          </a:prstGeom>
          <a:solidFill>
            <a:srgbClr val="2E8B57"/>
          </a:solidFill>
          <a:ln w="12700">
            <a:solidFill>
              <a:srgbClr val="2E8B57"/>
            </a:solidFill>
            <a:prstDash val="solid"/>
          </a:ln>
        </p:spPr>
      </p:sp>
      <p:sp>
        <p:nvSpPr>
          <p:cNvPr id="40" name="Text 33"/>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41" name="Text 34"/>
          <p:cNvSpPr txBox="1"/>
          <p:nvPr/>
        </p:nvSpPr>
        <p:spPr>
          <a:xfrm>
            <a:off x="4413504"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cs typeface="Amiri" pitchFamily="2" charset="-78"/>
              </a:rPr>
              <a:t>يَشْرَحُ الْجَنَاحُ عَادَاتِ الضِّيَافَةِ وَالتَّحِيَّةِ.</a:t>
            </a:r>
            <a:endParaRPr lang="ar-SA" sz="2200" dirty="0"/>
          </a:p>
        </p:txBody>
      </p:sp>
      <p:sp>
        <p:nvSpPr>
          <p:cNvPr id="42" name="Text 35"/>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The stand explains customs of hospitality and greeting.</a:t>
            </a:r>
            <a:endParaRPr lang="en-US" sz="1200" dirty="0"/>
          </a:p>
        </p:txBody>
      </p:sp>
      <p:sp>
        <p:nvSpPr>
          <p:cNvPr id="43" name="Shape 36"/>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37"/>
          <p:cNvSpPr/>
          <p:nvPr/>
        </p:nvSpPr>
        <p:spPr>
          <a:xfrm>
            <a:off x="585216" y="1938528"/>
            <a:ext cx="365760" cy="365760"/>
          </a:xfrm>
          <a:prstGeom prst="ellipse">
            <a:avLst/>
          </a:prstGeom>
          <a:solidFill>
            <a:srgbClr val="1B3B6F"/>
          </a:solidFill>
          <a:ln w="12700">
            <a:solidFill>
              <a:srgbClr val="1B3B6F"/>
            </a:solidFill>
            <a:prstDash val="solid"/>
          </a:ln>
        </p:spPr>
      </p:sp>
      <p:sp>
        <p:nvSpPr>
          <p:cNvPr id="45" name="Text 38"/>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6" name="Shape 39"/>
          <p:cNvSpPr/>
          <p:nvPr/>
        </p:nvSpPr>
        <p:spPr>
          <a:xfrm>
            <a:off x="579120" y="2066544"/>
            <a:ext cx="1014984" cy="1014984"/>
          </a:xfrm>
          <a:prstGeom prst="ellipse">
            <a:avLst/>
          </a:prstGeom>
          <a:solidFill>
            <a:srgbClr val="F4F1EA"/>
          </a:solidFill>
          <a:ln w="12700">
            <a:solidFill>
              <a:srgbClr val="F4F1EA"/>
            </a:solidFill>
            <a:prstDash val="solid"/>
          </a:ln>
        </p:spPr>
      </p:sp>
      <p:pic>
        <p:nvPicPr>
          <p:cNvPr id="47" name="Image 4" descr="preencoded.png">    </p:cNvPr>
          <p:cNvPicPr>
            <a:picLocks noChangeAspect="1"/>
          </p:cNvPicPr>
          <p:nvPr/>
        </p:nvPicPr>
        <p:blipFill>
          <a:blip r:embed="rId5"/>
          <a:stretch>
            <a:fillRect/>
          </a:stretch>
        </p:blipFill>
        <p:spPr>
          <a:xfrm>
            <a:off x="762000" y="2249424"/>
            <a:ext cx="649224" cy="649224"/>
          </a:xfrm>
          <a:prstGeom prst="rect">
            <a:avLst/>
          </a:prstGeom>
        </p:spPr>
      </p:pic>
      <p:sp>
        <p:nvSpPr>
          <p:cNvPr id="48" name="Shape 40"/>
          <p:cNvSpPr/>
          <p:nvPr/>
        </p:nvSpPr>
        <p:spPr>
          <a:xfrm>
            <a:off x="1767840" y="2066544"/>
            <a:ext cx="1014984" cy="1014984"/>
          </a:xfrm>
          <a:prstGeom prst="ellipse">
            <a:avLst/>
          </a:prstGeom>
          <a:solidFill>
            <a:srgbClr val="F4F1EA"/>
          </a:solidFill>
          <a:ln w="12700">
            <a:solidFill>
              <a:srgbClr val="F4F1EA"/>
            </a:solidFill>
            <a:prstDash val="solid"/>
          </a:ln>
        </p:spPr>
      </p:sp>
      <p:pic>
        <p:nvPicPr>
          <p:cNvPr id="49" name="Image 5" descr="preencoded.png">    </p:cNvPr>
          <p:cNvPicPr>
            <a:picLocks noChangeAspect="1"/>
          </p:cNvPicPr>
          <p:nvPr/>
        </p:nvPicPr>
        <p:blipFill>
          <a:blip r:embed="rId6"/>
          <a:stretch>
            <a:fillRect/>
          </a:stretch>
        </p:blipFill>
        <p:spPr>
          <a:xfrm>
            <a:off x="1950720" y="2249424"/>
            <a:ext cx="649224" cy="649224"/>
          </a:xfrm>
          <a:prstGeom prst="rect">
            <a:avLst/>
          </a:prstGeom>
        </p:spPr>
      </p:pic>
      <p:sp>
        <p:nvSpPr>
          <p:cNvPr id="50" name="Shape 41"/>
          <p:cNvSpPr/>
          <p:nvPr/>
        </p:nvSpPr>
        <p:spPr>
          <a:xfrm>
            <a:off x="2956560" y="2066544"/>
            <a:ext cx="1014984" cy="1014984"/>
          </a:xfrm>
          <a:prstGeom prst="ellipse">
            <a:avLst/>
          </a:prstGeom>
          <a:solidFill>
            <a:srgbClr val="F4F1EA"/>
          </a:solidFill>
          <a:ln w="12700">
            <a:solidFill>
              <a:srgbClr val="F4F1EA"/>
            </a:solidFill>
            <a:prstDash val="solid"/>
          </a:ln>
        </p:spPr>
      </p:sp>
      <p:pic>
        <p:nvPicPr>
          <p:cNvPr id="51" name="Image 6" descr="preencoded.png">    </p:cNvPr>
          <p:cNvPicPr>
            <a:picLocks noChangeAspect="1"/>
          </p:cNvPicPr>
          <p:nvPr/>
        </p:nvPicPr>
        <p:blipFill>
          <a:blip r:embed="rId7"/>
          <a:stretch>
            <a:fillRect/>
          </a:stretch>
        </p:blipFill>
        <p:spPr>
          <a:xfrm>
            <a:off x="3139440" y="2249424"/>
            <a:ext cx="649224" cy="649224"/>
          </a:xfrm>
          <a:prstGeom prst="rect">
            <a:avLst/>
          </a:prstGeom>
        </p:spPr>
      </p:pic>
      <p:sp>
        <p:nvSpPr>
          <p:cNvPr id="52" name="Text 42"/>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traditions stand</a:t>
            </a:r>
            <a:endParaRPr lang="en-US" sz="1100" dirty="0"/>
          </a:p>
        </p:txBody>
      </p:sp>
      <p:sp>
        <p:nvSpPr>
          <p:cNvPr id="53" name="Shape 43"/>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4" name="Shape 44"/>
          <p:cNvSpPr/>
          <p:nvPr/>
        </p:nvSpPr>
        <p:spPr>
          <a:xfrm>
            <a:off x="3617976" y="3785616"/>
            <a:ext cx="329184" cy="329184"/>
          </a:xfrm>
          <a:prstGeom prst="ellipse">
            <a:avLst/>
          </a:prstGeom>
          <a:solidFill>
            <a:srgbClr val="2E8B57"/>
          </a:solidFill>
          <a:ln w="12700">
            <a:solidFill>
              <a:srgbClr val="2E8B57"/>
            </a:solidFill>
            <a:prstDash val="solid"/>
          </a:ln>
        </p:spPr>
      </p:sp>
      <p:sp>
        <p:nvSpPr>
          <p:cNvPr id="55" name="Text 45"/>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56" name="Text 46"/>
          <p:cNvSpPr txBox="1"/>
          <p:nvPr/>
        </p:nvSpPr>
        <p:spPr>
          <a:xfrm>
            <a:off x="594360"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cs typeface="Amiri" pitchFamily="2" charset="-78"/>
              </a:rPr>
              <a:t>يَعْرِضُ الْجَنَاحُ مَلَابِسَ وَأَطْعِمَةً وَاحْتِفَالَاتٍ تَقْلِيدِيَّةً.</a:t>
            </a:r>
            <a:endParaRPr lang="ar-SA" sz="2200" dirty="0"/>
          </a:p>
        </p:txBody>
      </p:sp>
      <p:sp>
        <p:nvSpPr>
          <p:cNvPr id="57" name="Text 47"/>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The stand shows traditional clothes, food and celebrations.</a:t>
            </a:r>
            <a:endParaRPr lang="en-US" sz="1200" dirty="0"/>
          </a:p>
        </p:txBody>
      </p:sp>
      <p:sp>
        <p:nvSpPr>
          <p:cNvPr id="58" name="Text 4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47</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TE-L11 ·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TE-L11</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حَضَرْتُ حَفْلًا فِي المَرْكَزِ</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أَنْتَمِي إِلَى ثَقَافَتَيْنِ</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نَحْتَفِلُ بِالعِيدِ كُلَّ سَنَةٍ</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لِأَنَّهَا تَرْبِطُنِي بِجُذُورِي</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عَلَى سَبِيلِ المِثَالِ</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وَهٰذَا يُذَكِّرُنِي بِطُفُولَتِي</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فِي بَعْضِ البُلْدَانِ</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عَلَى حَدِّ عِلْمِي</a:t>
            </a:r>
            <a:endParaRPr lang="ar-SA" sz="1800" dirty="0"/>
          </a:p>
        </p:txBody>
      </p:sp>
      <p:sp>
        <p:nvSpPr>
          <p:cNvPr id="31" name="Shape 28"/>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لَيْسَ دَائِمًا</a:t>
            </a:r>
            <a:endParaRPr lang="ar-SA" sz="1800" dirty="0"/>
          </a:p>
        </p:txBody>
      </p:sp>
      <p:sp>
        <p:nvSpPr>
          <p:cNvPr id="33" name="Shape 30"/>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4" name="Shape 31"/>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Answer the question</a:t>
            </a:r>
            <a:endParaRPr lang="en-US" sz="950" dirty="0"/>
          </a:p>
        </p:txBody>
      </p:sp>
      <p:sp>
        <p:nvSpPr>
          <p:cNvPr id="36" name="Shape 33"/>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7" name="Shape 34"/>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Extend the answer</a:t>
            </a:r>
            <a:endParaRPr lang="en-US" sz="950" dirty="0"/>
          </a:p>
        </p:txBody>
      </p:sp>
      <p:sp>
        <p:nvSpPr>
          <p:cNvPr id="39" name="Shape 36"/>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0" name="Shape 37"/>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1" name="Text 38"/>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Qualify the claim</a:t>
            </a:r>
            <a:endParaRPr lang="en-US" sz="9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47</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TE-L11 ·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TE-L11</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Answer the question</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حَضَرْتُ حَفْلًا فِي المَرْكَزِ</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أَنْتَمِي إِلَى ثَقَافَتَيْنِ</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نَحْتَفِلُ بِالعِيدِ كُلَّ سَنَةٍ</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Extend the answer</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لِأَنَّهَا تَرْبِطُنِي بِجُذُورِي</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عَلَى سَبِيلِ المِثَالِ</a:t>
            </a:r>
            <a:endParaRPr lang="ar-SA" sz="180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وَهٰذَا يُذَكِّرُنِي بِطُفُولَتِي</a:t>
            </a:r>
            <a:endParaRPr lang="ar-SA" sz="180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Qualify the claim</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فِي بَعْضِ البُلْدَانِ</a:t>
            </a:r>
            <a:endParaRPr lang="ar-SA" sz="18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عَلَى حَدِّ عِلْمِي</a:t>
            </a:r>
            <a:endParaRPr lang="ar-SA" sz="1800" dirty="0"/>
          </a:p>
        </p:txBody>
      </p:sp>
      <p:sp>
        <p:nvSpPr>
          <p:cNvPr id="40" name="Shape 37"/>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لَيْسَ دَائِمًا</a:t>
            </a:r>
            <a:endParaRPr lang="ar-SA" sz="18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47</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TE-L11 ·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5, 6,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TE-L11</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buys thinking time in Arabic?</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لَا أَعْرِفُ</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لَا شَيْءَ</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دَعْنِي أُفَكِّرُ</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4" name="Text 31"/>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أَنْتَمِي ___ ثَقَافَتَيْنِ.</a:t>
            </a:r>
            <a:endParaRPr lang="ar-SA" sz="1500" dirty="0"/>
          </a:p>
        </p:txBody>
      </p:sp>
      <p:sp>
        <p:nvSpPr>
          <p:cNvPr id="35" name="Shape 32"/>
          <p:cNvSpPr/>
          <p:nvPr/>
        </p:nvSpPr>
        <p:spPr>
          <a:xfrm>
            <a:off x="6368796" y="25328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بِـ</a:t>
            </a:r>
            <a:endParaRPr lang="ar-SA" sz="2050" dirty="0"/>
          </a:p>
        </p:txBody>
      </p:sp>
      <p:sp>
        <p:nvSpPr>
          <p:cNvPr id="38" name="Shape 35"/>
          <p:cNvSpPr/>
          <p:nvPr/>
        </p:nvSpPr>
        <p:spPr>
          <a:xfrm>
            <a:off x="6368796" y="29900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إِلَى</a:t>
            </a:r>
            <a:endParaRPr lang="ar-SA" sz="2050" dirty="0"/>
          </a:p>
        </p:txBody>
      </p:sp>
      <p:sp>
        <p:nvSpPr>
          <p:cNvPr id="41" name="Shape 38"/>
          <p:cNvSpPr/>
          <p:nvPr/>
        </p:nvSpPr>
        <p:spPr>
          <a:xfrm>
            <a:off x="6368796" y="3447288"/>
            <a:ext cx="256032" cy="256032"/>
          </a:xfrm>
          <a:prstGeom prst="ellipse">
            <a:avLst/>
          </a:prstGeom>
          <a:solidFill>
            <a:srgbClr val="F4F1EA"/>
          </a:solidFill>
          <a:ln w="12700">
            <a:solidFill>
              <a:srgbClr val="F4F1EA"/>
            </a:solidFill>
            <a:prstDash val="solid"/>
          </a:ln>
        </p:spPr>
      </p:sp>
      <p:sp>
        <p:nvSpPr>
          <p:cNvPr id="42" name="Text 3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مَعَ</a:t>
            </a:r>
            <a:endParaRPr lang="ar-SA" sz="2050" dirty="0"/>
          </a:p>
        </p:txBody>
      </p:sp>
      <p:sp>
        <p:nvSpPr>
          <p:cNvPr id="44" name="Shape 41"/>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585216" y="4288536"/>
            <a:ext cx="310896" cy="310896"/>
          </a:xfrm>
          <a:prstGeom prst="ellipse">
            <a:avLst/>
          </a:prstGeom>
          <a:solidFill>
            <a:srgbClr val="1B3B6F"/>
          </a:solidFill>
          <a:ln w="12700">
            <a:solidFill>
              <a:srgbClr val="1B3B6F"/>
            </a:solidFill>
            <a:prstDash val="solid"/>
          </a:ln>
        </p:spPr>
      </p:sp>
      <p:sp>
        <p:nvSpPr>
          <p:cNvPr id="46" name="Text 4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7" name="Text 44"/>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48" name="Text 45"/>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لَا يُمْكِنُ إِنْكَارُ أَنَّ ___ ثَرْوَةٌ.</a:t>
            </a:r>
            <a:endParaRPr lang="ar-SA" sz="1500" dirty="0"/>
          </a:p>
        </p:txBody>
      </p:sp>
      <p:sp>
        <p:nvSpPr>
          <p:cNvPr id="49" name="Shape 46"/>
          <p:cNvSpPr/>
          <p:nvPr/>
        </p:nvSpPr>
        <p:spPr>
          <a:xfrm>
            <a:off x="640080" y="4873752"/>
            <a:ext cx="256032" cy="256032"/>
          </a:xfrm>
          <a:prstGeom prst="ellipse">
            <a:avLst/>
          </a:prstGeom>
          <a:solidFill>
            <a:srgbClr val="F4F1EA"/>
          </a:solidFill>
          <a:ln w="12700">
            <a:solidFill>
              <a:srgbClr val="F4F1EA"/>
            </a:solidFill>
            <a:prstDash val="solid"/>
          </a:ln>
        </p:spPr>
      </p:sp>
      <p:sp>
        <p:nvSpPr>
          <p:cNvPr id="50" name="Text 47"/>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التَّنَوُّعُ</a:t>
            </a:r>
            <a:endParaRPr lang="ar-SA" sz="2050" dirty="0"/>
          </a:p>
        </p:txBody>
      </p:sp>
      <p:sp>
        <p:nvSpPr>
          <p:cNvPr id="52" name="Shape 49"/>
          <p:cNvSpPr/>
          <p:nvPr/>
        </p:nvSpPr>
        <p:spPr>
          <a:xfrm>
            <a:off x="640080" y="5330952"/>
            <a:ext cx="256032" cy="256032"/>
          </a:xfrm>
          <a:prstGeom prst="ellipse">
            <a:avLst/>
          </a:prstGeom>
          <a:solidFill>
            <a:srgbClr val="F4F1EA"/>
          </a:solidFill>
          <a:ln w="12700">
            <a:solidFill>
              <a:srgbClr val="F4F1EA"/>
            </a:solidFill>
            <a:prstDash val="solid"/>
          </a:ln>
        </p:spPr>
      </p:sp>
      <p:sp>
        <p:nvSpPr>
          <p:cNvPr id="53" name="Text 50"/>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التَّنَوُّعَ</a:t>
            </a:r>
            <a:endParaRPr lang="ar-SA" sz="2050" dirty="0"/>
          </a:p>
        </p:txBody>
      </p:sp>
      <p:sp>
        <p:nvSpPr>
          <p:cNvPr id="55" name="Shape 52"/>
          <p:cNvSpPr/>
          <p:nvPr/>
        </p:nvSpPr>
        <p:spPr>
          <a:xfrm>
            <a:off x="640080" y="5788152"/>
            <a:ext cx="256032" cy="256032"/>
          </a:xfrm>
          <a:prstGeom prst="ellipse">
            <a:avLst/>
          </a:prstGeom>
          <a:solidFill>
            <a:srgbClr val="F4F1EA"/>
          </a:solidFill>
          <a:ln w="12700">
            <a:solidFill>
              <a:srgbClr val="F4F1EA"/>
            </a:solidFill>
            <a:prstDash val="solid"/>
          </a:ln>
        </p:spPr>
      </p:sp>
      <p:sp>
        <p:nvSpPr>
          <p:cNvPr id="56" name="Text 53"/>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7" name="Text 54"/>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التَّنَوُّعِ</a:t>
            </a:r>
            <a:endParaRPr lang="ar-SA" sz="2050" dirty="0"/>
          </a:p>
        </p:txBody>
      </p:sp>
      <p:sp>
        <p:nvSpPr>
          <p:cNvPr id="58" name="Shape 55"/>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9" name="Shape 56"/>
          <p:cNvSpPr/>
          <p:nvPr/>
        </p:nvSpPr>
        <p:spPr>
          <a:xfrm>
            <a:off x="6313932" y="4288536"/>
            <a:ext cx="310896" cy="310896"/>
          </a:xfrm>
          <a:prstGeom prst="ellipse">
            <a:avLst/>
          </a:prstGeom>
          <a:solidFill>
            <a:srgbClr val="1B3B6F"/>
          </a:solidFill>
          <a:ln w="12700">
            <a:solidFill>
              <a:srgbClr val="1B3B6F"/>
            </a:solidFill>
            <a:prstDash val="solid"/>
          </a:ln>
        </p:spPr>
      </p:sp>
      <p:sp>
        <p:nvSpPr>
          <p:cNvPr id="60" name="Text 57"/>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1" name="Text 58"/>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answer would score highest in a topic conversation?</a:t>
            </a:r>
            <a:endParaRPr lang="en-US" sz="1250" dirty="0"/>
          </a:p>
        </p:txBody>
      </p:sp>
      <p:sp>
        <p:nvSpPr>
          <p:cNvPr id="62" name="Shape 59"/>
          <p:cNvSpPr/>
          <p:nvPr/>
        </p:nvSpPr>
        <p:spPr>
          <a:xfrm>
            <a:off x="6368796" y="48737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4" name="Text 61"/>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1500" dirty="0">
                <a:solidFill>
                  <a:srgbClr val="1F2A37"/>
                </a:solidFill>
                <a:latin typeface="Amiri" pitchFamily="2" charset="-78"/>
                <a:cs typeface="Amiri" pitchFamily="2" charset="-78"/>
              </a:rPr>
              <a:t>حَضَرْتُ حَفْلًا.</a:t>
            </a:r>
            <a:endParaRPr lang="ar-SA" sz="1500" dirty="0"/>
          </a:p>
        </p:txBody>
      </p:sp>
      <p:sp>
        <p:nvSpPr>
          <p:cNvPr id="65" name="Shape 62"/>
          <p:cNvSpPr/>
          <p:nvPr/>
        </p:nvSpPr>
        <p:spPr>
          <a:xfrm>
            <a:off x="6368796" y="53309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7" name="Text 64"/>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1500" dirty="0">
                <a:solidFill>
                  <a:srgbClr val="1F2A37"/>
                </a:solidFill>
                <a:latin typeface="Amiri" pitchFamily="2" charset="-78"/>
                <a:cs typeface="Amiri" pitchFamily="2" charset="-78"/>
              </a:rPr>
              <a:t>نَعَمْ، أُحِبُّ الاحْتِفَالَ.</a:t>
            </a:r>
            <a:endParaRPr lang="ar-SA" sz="1500" dirty="0"/>
          </a:p>
        </p:txBody>
      </p:sp>
      <p:sp>
        <p:nvSpPr>
          <p:cNvPr id="68" name="Shape 65"/>
          <p:cNvSpPr/>
          <p:nvPr/>
        </p:nvSpPr>
        <p:spPr>
          <a:xfrm>
            <a:off x="6368796" y="5788152"/>
            <a:ext cx="256032" cy="256032"/>
          </a:xfrm>
          <a:prstGeom prst="ellipse">
            <a:avLst/>
          </a:prstGeom>
          <a:solidFill>
            <a:srgbClr val="F4F1EA"/>
          </a:solidFill>
          <a:ln w="12700">
            <a:solidFill>
              <a:srgbClr val="F4F1EA"/>
            </a:solidFill>
            <a:prstDash val="solid"/>
          </a:ln>
        </p:spPr>
      </p:sp>
      <p:sp>
        <p:nvSpPr>
          <p:cNvPr id="69" name="Text 66"/>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0" name="Text 67"/>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1500" dirty="0">
                <a:solidFill>
                  <a:srgbClr val="1F2A37"/>
                </a:solidFill>
                <a:latin typeface="Amiri" pitchFamily="2" charset="-78"/>
                <a:cs typeface="Amiri" pitchFamily="2" charset="-78"/>
              </a:rPr>
              <a:t>حَضَرْتُ حَفْلًا فِي الطُّفُولَةِ، وَنَحْتَفِلُ الآنَ مَعَ الجَالِيَةِ، وَسَأَزُورُ بَلَدَ أُسْرَتِي.</a:t>
            </a:r>
            <a:endParaRPr lang="ar-SA" sz="1500" dirty="0"/>
          </a:p>
        </p:txBody>
      </p:sp>
      <p:sp>
        <p:nvSpPr>
          <p:cNvPr id="71" name="Text 6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47</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TE-L11 ·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TE-L11</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buys thinking time in Arabic?</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لَا أَعْرِفُ</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لَا شَيْءَ</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دَعْنِي أُفَكِّرُ</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short Arabic filler protects the fluency mark.</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6" name="Text 33"/>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أَنْتَمِي ___ ثَقَافَتَيْنِ.</a:t>
            </a:r>
            <a:endParaRPr lang="ar-SA" sz="1500" dirty="0"/>
          </a:p>
        </p:txBody>
      </p:sp>
      <p:sp>
        <p:nvSpPr>
          <p:cNvPr id="37" name="Shape 34"/>
          <p:cNvSpPr/>
          <p:nvPr/>
        </p:nvSpPr>
        <p:spPr>
          <a:xfrm>
            <a:off x="6368796" y="2490216"/>
            <a:ext cx="256032" cy="256032"/>
          </a:xfrm>
          <a:prstGeom prst="ellipse">
            <a:avLst/>
          </a:prstGeom>
          <a:solidFill>
            <a:srgbClr val="C9CED6"/>
          </a:solidFill>
          <a:ln w="12700">
            <a:solidFill>
              <a:srgbClr val="C9CED6"/>
            </a:solidFill>
            <a:prstDash val="solid"/>
          </a:ln>
        </p:spPr>
      </p:sp>
      <p:sp>
        <p:nvSpPr>
          <p:cNvPr id="38" name="Text 35"/>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9" name="Text 36"/>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بِـ</a:t>
            </a:r>
            <a:endParaRPr lang="ar-SA" sz="1700" dirty="0"/>
          </a:p>
        </p:txBody>
      </p:sp>
      <p:sp>
        <p:nvSpPr>
          <p:cNvPr id="40" name="Shape 37"/>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6368796" y="2862072"/>
            <a:ext cx="256032" cy="256032"/>
          </a:xfrm>
          <a:prstGeom prst="ellipse">
            <a:avLst/>
          </a:prstGeom>
          <a:solidFill>
            <a:srgbClr val="2E8B57"/>
          </a:solidFill>
          <a:ln w="12700">
            <a:solidFill>
              <a:srgbClr val="2E8B57"/>
            </a:solidFill>
            <a:prstDash val="solid"/>
          </a:ln>
        </p:spPr>
      </p:sp>
      <p:sp>
        <p:nvSpPr>
          <p:cNvPr id="42" name="Text 39"/>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3" name="Text 40"/>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إِلَى</a:t>
            </a:r>
            <a:endParaRPr lang="ar-SA" sz="1700" dirty="0"/>
          </a:p>
        </p:txBody>
      </p:sp>
      <p:sp>
        <p:nvSpPr>
          <p:cNvPr id="44" name="Shape 41"/>
          <p:cNvSpPr/>
          <p:nvPr/>
        </p:nvSpPr>
        <p:spPr>
          <a:xfrm>
            <a:off x="6368796" y="3233928"/>
            <a:ext cx="256032" cy="256032"/>
          </a:xfrm>
          <a:prstGeom prst="ellipse">
            <a:avLst/>
          </a:prstGeom>
          <a:solidFill>
            <a:srgbClr val="C9CED6"/>
          </a:solidFill>
          <a:ln w="12700">
            <a:solidFill>
              <a:srgbClr val="C9CED6"/>
            </a:solidFill>
            <a:prstDash val="solid"/>
          </a:ln>
        </p:spPr>
      </p:sp>
      <p:sp>
        <p:nvSpPr>
          <p:cNvPr id="45" name="Text 42"/>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6" name="Text 43"/>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مَعَ</a:t>
            </a:r>
            <a:endParaRPr lang="ar-SA" sz="1700" dirty="0"/>
          </a:p>
        </p:txBody>
      </p:sp>
      <p:sp>
        <p:nvSpPr>
          <p:cNvPr id="47" name="Text 44"/>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يَنْتَمِي</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cs typeface="Amiri" pitchFamily="2" charset="-78"/>
              </a:rPr>
              <a:t>إِلَى</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8" name="Shape 45"/>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585216" y="4288536"/>
            <a:ext cx="310896" cy="310896"/>
          </a:xfrm>
          <a:prstGeom prst="ellipse">
            <a:avLst/>
          </a:prstGeom>
          <a:solidFill>
            <a:srgbClr val="1B3B6F"/>
          </a:solidFill>
          <a:ln w="12700">
            <a:solidFill>
              <a:srgbClr val="1B3B6F"/>
            </a:solidFill>
            <a:prstDash val="solid"/>
          </a:ln>
        </p:spPr>
      </p:sp>
      <p:sp>
        <p:nvSpPr>
          <p:cNvPr id="50" name="Text 47"/>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1" name="Text 48"/>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52" name="Text 49"/>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لَا يُمْكِنُ إِنْكَارُ أَنَّ ___ ثَرْوَةٌ.</a:t>
            </a:r>
            <a:endParaRPr lang="ar-SA" sz="1500" dirty="0"/>
          </a:p>
        </p:txBody>
      </p:sp>
      <p:sp>
        <p:nvSpPr>
          <p:cNvPr id="53" name="Shape 50"/>
          <p:cNvSpPr/>
          <p:nvPr/>
        </p:nvSpPr>
        <p:spPr>
          <a:xfrm>
            <a:off x="640080" y="4831080"/>
            <a:ext cx="256032" cy="256032"/>
          </a:xfrm>
          <a:prstGeom prst="ellipse">
            <a:avLst/>
          </a:prstGeom>
          <a:solidFill>
            <a:srgbClr val="C9CED6"/>
          </a:solidFill>
          <a:ln w="12700">
            <a:solidFill>
              <a:srgbClr val="C9CED6"/>
            </a:solidFill>
            <a:prstDash val="solid"/>
          </a:ln>
        </p:spPr>
      </p:sp>
      <p:sp>
        <p:nvSpPr>
          <p:cNvPr id="54" name="Text 51"/>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5" name="Text 52"/>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التَّنَوُّعُ</a:t>
            </a:r>
            <a:endParaRPr lang="ar-SA" sz="1700" dirty="0"/>
          </a:p>
        </p:txBody>
      </p:sp>
      <p:sp>
        <p:nvSpPr>
          <p:cNvPr id="56" name="Shape 53"/>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7" name="Shape 54"/>
          <p:cNvSpPr/>
          <p:nvPr/>
        </p:nvSpPr>
        <p:spPr>
          <a:xfrm>
            <a:off x="640080" y="5202936"/>
            <a:ext cx="256032" cy="256032"/>
          </a:xfrm>
          <a:prstGeom prst="ellipse">
            <a:avLst/>
          </a:prstGeom>
          <a:solidFill>
            <a:srgbClr val="2E8B57"/>
          </a:solidFill>
          <a:ln w="12700">
            <a:solidFill>
              <a:srgbClr val="2E8B57"/>
            </a:solidFill>
            <a:prstDash val="solid"/>
          </a:ln>
        </p:spPr>
      </p:sp>
      <p:sp>
        <p:nvSpPr>
          <p:cNvPr id="58" name="Text 5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9" name="Text 56"/>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التَّنَوُّعَ</a:t>
            </a:r>
            <a:endParaRPr lang="ar-SA" sz="1700" dirty="0"/>
          </a:p>
        </p:txBody>
      </p:sp>
      <p:sp>
        <p:nvSpPr>
          <p:cNvPr id="60" name="Shape 57"/>
          <p:cNvSpPr/>
          <p:nvPr/>
        </p:nvSpPr>
        <p:spPr>
          <a:xfrm>
            <a:off x="640080" y="5574792"/>
            <a:ext cx="256032" cy="256032"/>
          </a:xfrm>
          <a:prstGeom prst="ellipse">
            <a:avLst/>
          </a:prstGeom>
          <a:solidFill>
            <a:srgbClr val="C9CED6"/>
          </a:solidFill>
          <a:ln w="12700">
            <a:solidFill>
              <a:srgbClr val="C9CED6"/>
            </a:solidFill>
            <a:prstDash val="solid"/>
          </a:ln>
        </p:spPr>
      </p:sp>
      <p:sp>
        <p:nvSpPr>
          <p:cNvPr id="61" name="Text 58"/>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2" name="Text 59"/>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التَّنَوُّعِ</a:t>
            </a:r>
            <a:endParaRPr lang="ar-SA" sz="1700" dirty="0"/>
          </a:p>
        </p:txBody>
      </p:sp>
      <p:sp>
        <p:nvSpPr>
          <p:cNvPr id="63" name="Text 60"/>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takes an accusative noun.</a:t>
            </a:r>
            <a:endParaRPr lang="en-US" sz="1050" dirty="0"/>
          </a:p>
        </p:txBody>
      </p:sp>
      <p:sp>
        <p:nvSpPr>
          <p:cNvPr id="64" name="Shape 6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5" name="Shape 62"/>
          <p:cNvSpPr/>
          <p:nvPr/>
        </p:nvSpPr>
        <p:spPr>
          <a:xfrm>
            <a:off x="6313932" y="4288536"/>
            <a:ext cx="310896" cy="310896"/>
          </a:xfrm>
          <a:prstGeom prst="ellipse">
            <a:avLst/>
          </a:prstGeom>
          <a:solidFill>
            <a:srgbClr val="1B3B6F"/>
          </a:solidFill>
          <a:ln w="12700">
            <a:solidFill>
              <a:srgbClr val="1B3B6F"/>
            </a:solidFill>
            <a:prstDash val="solid"/>
          </a:ln>
        </p:spPr>
      </p:sp>
      <p:sp>
        <p:nvSpPr>
          <p:cNvPr id="66" name="Text 6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7" name="Text 6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answer would score highest in a topic conversation?</a:t>
            </a:r>
            <a:endParaRPr lang="en-US" sz="1250" dirty="0"/>
          </a:p>
        </p:txBody>
      </p:sp>
      <p:sp>
        <p:nvSpPr>
          <p:cNvPr id="68" name="Shape 65"/>
          <p:cNvSpPr/>
          <p:nvPr/>
        </p:nvSpPr>
        <p:spPr>
          <a:xfrm>
            <a:off x="6368796" y="4831080"/>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0" name="Text 67"/>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500" dirty="0">
                <a:solidFill>
                  <a:srgbClr val="9AA1AB"/>
                </a:solidFill>
                <a:latin typeface="Amiri" pitchFamily="2" charset="-78"/>
                <a:cs typeface="Amiri" pitchFamily="2" charset="-78"/>
              </a:rPr>
              <a:t>حَضَرْتُ حَفْلًا.</a:t>
            </a:r>
            <a:endParaRPr lang="ar-SA" sz="1500" dirty="0"/>
          </a:p>
        </p:txBody>
      </p:sp>
      <p:sp>
        <p:nvSpPr>
          <p:cNvPr id="71" name="Shape 68"/>
          <p:cNvSpPr/>
          <p:nvPr/>
        </p:nvSpPr>
        <p:spPr>
          <a:xfrm>
            <a:off x="6368796" y="5202936"/>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3" name="Text 70"/>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500" dirty="0">
                <a:solidFill>
                  <a:srgbClr val="9AA1AB"/>
                </a:solidFill>
                <a:latin typeface="Amiri" pitchFamily="2" charset="-78"/>
                <a:cs typeface="Amiri" pitchFamily="2" charset="-78"/>
              </a:rPr>
              <a:t>نَعَمْ، أُحِبُّ الاحْتِفَالَ.</a:t>
            </a:r>
            <a:endParaRPr lang="ar-SA" sz="1500" dirty="0"/>
          </a:p>
        </p:txBody>
      </p:sp>
      <p:sp>
        <p:nvSpPr>
          <p:cNvPr id="74" name="Shape 71"/>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5" name="Shape 72"/>
          <p:cNvSpPr/>
          <p:nvPr/>
        </p:nvSpPr>
        <p:spPr>
          <a:xfrm>
            <a:off x="6368796" y="5574792"/>
            <a:ext cx="256032" cy="256032"/>
          </a:xfrm>
          <a:prstGeom prst="ellipse">
            <a:avLst/>
          </a:prstGeom>
          <a:solidFill>
            <a:srgbClr val="2E8B57"/>
          </a:solidFill>
          <a:ln w="12700">
            <a:solidFill>
              <a:srgbClr val="2E8B57"/>
            </a:solidFill>
            <a:prstDash val="solid"/>
          </a:ln>
        </p:spPr>
      </p:sp>
      <p:sp>
        <p:nvSpPr>
          <p:cNvPr id="76" name="Text 73"/>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7" name="Text 74"/>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حَضَرْتُ حَفْلًا فِي الطُّفُولَةِ، وَنَحْتَفِلُ الآنَ مَعَ الجَالِيَةِ، وَسَأَزُورُ بَلَدَ أُسْرَتِي.</a:t>
            </a:r>
            <a:endParaRPr lang="ar-SA" sz="1500" dirty="0"/>
          </a:p>
        </p:txBody>
      </p:sp>
      <p:sp>
        <p:nvSpPr>
          <p:cNvPr id="78" name="Text 75"/>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moves through three tenses with accurate forms.</a:t>
            </a:r>
            <a:endParaRPr lang="en-US" sz="1050" dirty="0"/>
          </a:p>
        </p:txBody>
      </p:sp>
      <p:sp>
        <p:nvSpPr>
          <p:cNvPr id="79" name="Text 7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47</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TE-L11 ·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TE-L11</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كُلُّ العَرَبِ يَحْتَفِلُونَ بِالطَّرِيقَةِ نَفْسِهَا.</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All, or some?</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نَحْتَفِلُ العِيدَ.</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yaḥtafilu + which preposition?</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فِي العَامِ المَاضِي أَحْضُرُ حَفْلًا فِي المَرْكَزِ.</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Last year → which tense?</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47</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TE-L11 ·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TE-L11</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كُلُّ العَرَبِ يَحْتَفِلُونَ بِالطَّرِيقَةِ نَفْسِهَا.</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lnSpc>
                <a:spcPct val="120000"/>
              </a:lnSpc>
              <a:buNone/>
            </a:pPr>
            <a:r>
              <a:rPr lang="ar-SA" altLang="en-US" sz="2200" b="1" dirty="0">
                <a:solidFill>
                  <a:srgbClr val="1E6B52"/>
                </a:solidFill>
                <a:latin typeface="Amiri" pitchFamily="2" charset="-78"/>
                <a:cs typeface="Amiri" pitchFamily="2" charset="-78"/>
              </a:rPr>
              <a:t>فِي بَعْضِ البُلْدَانِ يَحْتَفِلُ النَّاسُ بِهٰذِهِ الطَّرِيقَةِ.</a:t>
            </a:r>
            <a:endParaRPr lang="ar-SA" sz="22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claim about a whole population is inaccurate.</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نَحْتَفِلُ العِيدَ.</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نَحْتَفِلُ بِالعِيدِ.</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yaḥtafilu requires bi-.</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cs typeface="Amiri" pitchFamily="2" charset="-78"/>
              </a:rPr>
              <a:t>فِي العَامِ المَاضِي أَحْضُرُ حَفْلًا فِي المَرْكَزِ.</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فِي العَامِ المَاضِي حَضَرْتُ حَفْلًا فِي المَرْكَزِ.</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past question needs a past answer.</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47</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TE-L11 ·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Listening: a candidate in the topic conversation</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TE-L11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the student open?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With a time-buying phrase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With silence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By repeating the question</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عَفْوًا، أَقْصِدُ</a:t>
            </a:r>
            <a:pPr algn="l" indent="0" marL="0">
              <a:buNone/>
            </a:pPr>
            <a:r>
              <a:rPr lang="en-US" sz="1250" b="1" dirty="0">
                <a:solidFill>
                  <a:srgbClr val="1B3B6F"/>
                </a:solidFill>
                <a:latin typeface="Calibri" pitchFamily="34" charset="0"/>
                <a:cs typeface="Amiri" pitchFamily="2" charset="-78"/>
              </a:rPr>
              <a:t> signal?</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Disagreement</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end of the answer</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self-correction</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she answer the question about everyone celebrating alike?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Yes, everyone is the same</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does not answer</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 as far as she knows; customs differ</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opinion structure does she use?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لَا يُمْكِنُ إِنْكَارُ أَنَّ</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مِنَ المُمْكِنِ أَنْ</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رُبَّمَا</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she close?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By ending abruptly</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With a future commitment to keep learning</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With a question</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4.</a:t>
            </a:r>
            <a:endParaRPr lang="en-US" sz="1250" dirty="0"/>
          </a:p>
          <a:p>
            <a:pPr algn="l" indent="0" marL="0">
              <a:buNone/>
            </a:pPr>
            <a:r>
              <a:rPr lang="en-US" sz="1250" dirty="0">
                <a:solidFill>
                  <a:srgbClr val="1E6B52"/>
                </a:solidFill>
                <a:latin typeface="Calibri" pitchFamily="34" charset="0"/>
                <a:cs typeface="Amiri" pitchFamily="2" charset="-78"/>
              </a:rPr>
              <a:t>Examiner and candidate — listen for her phrases.</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47</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TE-L11 ·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TE-L11</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المُمْتَحِنُ: صِفْ مُنَاسَبَةً ثَقَافِيَّةً مَرَرْتَ بِهَا. الطَّالِبَةُ: دَعْنِي أُفَكِّرُ.</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Examiner: Describe a cultural occasion you have experienced. Student: Let me think.</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cs typeface="Amiri" pitchFamily="2" charset="-78"/>
              </a:rPr>
              <a:t>فِي العَامِ المَاضِي حَضَرْتُ حَفْلًا فِي المَرْكَزِ الثَّقَافِيِّ، وَتُزَيَّنُ القَاعَةُ عَادَةً بِالأَعْلَامِ وَالفَوَانِيسِ. عَفْوًا، أَقْصِدُ أَنَّهَا زُيِّنَتْ فِي ذٰلِكَ اليَوْمِ.</a:t>
            </a:r>
            <a:endParaRPr lang="ar-SA" sz="155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Last year I attended a party at the cultural centre, and the hall is usually decorated with flags and lanterns. Sorry, I mean it was decorated on that day.</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المُمْتَحِنُ: وَهَلْ يَحْتَفِلُ كُلُّ النَّاسِ بِالطَّرِيقَةِ نَفْسِهَا؟</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Examiner: And does everyone celebrate in the same way?</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cs typeface="Amiri" pitchFamily="2" charset="-78"/>
              </a:rPr>
              <a:t>الطَّالِبَةُ: عَلَى حَدِّ عِلْمِي لَا؛ فَفِي بَعْضِ البُلْدَانِ تَخْتَلِفُ العَادَاتُ، وَلَيْسَ دَائِمًا يَتَشَابَهُ الاحْتِفَالُ.</a:t>
            </a:r>
            <a:endParaRPr lang="ar-SA" sz="155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Student: As far as I know, no — in some countries customs differ, and the celebration is not always the same.</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cs typeface="Amiri" pitchFamily="2" charset="-78"/>
              </a:rPr>
              <a:t>المُمْتَحِنُ: وَمَا أَهَمِّيَّةُ اللُّغَةِ العَرَبِيَّةِ فِي حَيَاتِكِ؟ الطَّالِبَةُ: لَا يُمْكِنُ إِنْكَارُ أَنَّ اللُّغَةَ جُزْءٌ مِنَ الهُوِيَّةِ، وَأَعْتَزُّ بِهَا، وَسَأُوَاصِلُ تَعَلُّمَهَا.</a:t>
            </a:r>
            <a:endParaRPr lang="ar-SA" sz="155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Examiner: And how important is Arabic in your life? Student: It cannot be denied that language is part of identity; I am proud of it, and I will keep learning it.</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47</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TE-L11 ·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TE-L11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the student open?</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With a time-buying phrase</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With silence</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By repeating the question</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دَعْنِي أُفَكِّرُ</a:t>
            </a:r>
            <a:pPr algn="l" indent="0" marL="0">
              <a:buNone/>
            </a:pPr>
            <a:r>
              <a:rPr lang="en-US" sz="1050" i="1" dirty="0">
                <a:solidFill>
                  <a:srgbClr val="8A6D1E"/>
                </a:solidFill>
                <a:latin typeface="Calibri" pitchFamily="34" charset="0"/>
                <a:cs typeface="Amiri" pitchFamily="2" charset="-78"/>
              </a:rPr>
              <a:t> buys a moment in Arabic.</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عَفْوًا، أَقْصِدُ</a:t>
            </a:r>
            <a:pPr algn="l" indent="0" marL="0">
              <a:buNone/>
            </a:pPr>
            <a:r>
              <a:rPr lang="en-US" sz="1250" b="1" dirty="0">
                <a:solidFill>
                  <a:srgbClr val="1B3B6F"/>
                </a:solidFill>
                <a:latin typeface="Calibri" pitchFamily="34" charset="0"/>
                <a:cs typeface="Amiri" pitchFamily="2" charset="-78"/>
              </a:rPr>
              <a:t> signal?</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Disagreement</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end of the answer</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self-correction</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corrects the general present to a specific past passive.</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she answer the question about everyone celebrating alike?</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Yes, everyone is the same</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She does not answer</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00" b="1" dirty="0">
                <a:solidFill>
                  <a:srgbClr val="1F2A37"/>
                </a:solidFill>
                <a:latin typeface="Calibri" pitchFamily="34" charset="0"/>
                <a:cs typeface="Amiri" pitchFamily="2" charset="-78"/>
              </a:rPr>
              <a:t>No, as far as she knows; customs differ</a:t>
            </a:r>
            <a:endParaRPr lang="en-US" sz="12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عَلَى حَدِّ عِلْمِي لَا؛ فَفِي بَعْضِ البُلْدَانِ تَخْتَلِفُ العَادَاتُ.</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opinion structure does she use?</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لَا يُمْكِنُ إِنْكَارُ أَنَّ</a:t>
            </a:r>
            <a:endParaRPr lang="ar-SA" sz="170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مِنَ المُمْكِنِ أَنْ</a:t>
            </a:r>
            <a:endParaRPr lang="ar-SA" sz="170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رُبَّمَا</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لَا يُمْكِنُ إِنْكَارُ أَنَّ</a:t>
            </a:r>
            <a:pPr algn="l" indent="0" marL="0">
              <a:buNone/>
            </a:pPr>
            <a:r>
              <a:rPr lang="en-US" sz="1050" i="1" dirty="0">
                <a:solidFill>
                  <a:srgbClr val="8A6D1E"/>
                </a:solidFill>
                <a:latin typeface="Calibri" pitchFamily="34" charset="0"/>
                <a:cs typeface="Amiri" pitchFamily="2" charset="-78"/>
              </a:rPr>
              <a:t> introduces a strong supported claim.</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she close?</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By ending abruptly</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With a future commitment to keep learning</a:t>
            </a:r>
            <a:endParaRPr lang="en-US" sz="11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With a question</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وَسَأُوَاصِلُ تَعَلُّمَهَا.</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4.</a:t>
            </a:r>
            <a:endParaRPr lang="en-US" sz="1250" dirty="0"/>
          </a:p>
          <a:p>
            <a:pPr algn="l" indent="0" marL="0">
              <a:buNone/>
            </a:pPr>
            <a:r>
              <a:rPr lang="en-US" sz="1250" dirty="0">
                <a:solidFill>
                  <a:srgbClr val="1E6B52"/>
                </a:solidFill>
                <a:latin typeface="Calibri" pitchFamily="34" charset="0"/>
                <a:cs typeface="Amiri" pitchFamily="2" charset="-78"/>
              </a:rPr>
              <a:t>Examiner and candidate — listen for her phrases.</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47</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TE-L11 ·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TOPIC E APPLICATION CHALLENGE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International fair information gap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تَحَدِّي التَّطْبِيقِ</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TE-L11</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TOPIC E CHALLENGE · WEBSITE</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International fair information gap</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Combine country, language, custom, festival and travel clues to prepare a short information stand, then answer questions from another group.</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Groups get one country and five clue cards: language, custom, festival, food, travel tip.</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Prepare a 1-minute information stand (3–5 sentences).</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Other groups ask two questions each.</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Vote for the clearest and most respectful stand.</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Two sentences: country + language.</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Five sentences across the clue cards, mixed tenses.</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 cohesive stand talk + answers to unprepared questions.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cs typeface="Amiri" pitchFamily="2" charset="-78"/>
              </a:rPr>
              <a:t>أَهْلًا بِكُمْ فِي جَنَاحِ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welcome to the … stand</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cs typeface="Amiri" pitchFamily="2" charset="-78"/>
              </a:rPr>
              <a:t>تُسْتَعْمَلُ فِيهَا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 is used there</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cs typeface="Amiri" pitchFamily="2" charset="-78"/>
              </a:rPr>
              <a:t>مِنْ أَشْهَرِ احْتِفَالَاتِهَا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one of its best-known celebrations …</a:t>
            </a:r>
            <a:endParaRPr lang="en-US" sz="95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cs typeface="Amiri" pitchFamily="2" charset="-78"/>
              </a:rPr>
              <a:t>نَنْصَحُ الزَّائِرَ بِأَنْ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 advise the visitor to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47</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TE-L11 ·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Speaking: full topic conversation rehearsal</a:t>
            </a:r>
            <a:endParaRPr lang="en-US" sz="22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التَّحَدُّثُ</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TE-L11</a:t>
            </a:r>
            <a:endParaRPr lang="en-US" sz="850" dirty="0"/>
          </a:p>
        </p:txBody>
      </p:sp>
      <p:sp>
        <p:nvSpPr>
          <p:cNvPr id="17" name="Shape 14"/>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8" name="Text 15"/>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9" name="Text 16"/>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20" name="Shape 17"/>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21" name="Text 18"/>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2" name="Text 19"/>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3" name="Shape 20"/>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4" name="Text 21"/>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5" name="Text 22"/>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6" name="Shape 23"/>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7" name="Text 24"/>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8" name="Text 25"/>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9" name="Shape 26"/>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30" name="Text 27"/>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31" name="Text 28"/>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2" name="Shape 29"/>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4" name="Text 31"/>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5" name="Text 32"/>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صِفْ بَلَدًا عَرَبِيًّا تُرِيدُ زِيَارَتَهُ. وَلِمَاذَا؟</a:t>
            </a:r>
            <a:endParaRPr lang="ar-SA" sz="1800" dirty="0"/>
          </a:p>
        </p:txBody>
      </p:sp>
      <p:sp>
        <p:nvSpPr>
          <p:cNvPr id="36" name="Shape 33"/>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9" name="Text 36"/>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صِفْ مُنَاسَبَةً ثَقَافِيَّةً أَوْ دِينِيَّةً مَرَرْتَ بِهَا.</a:t>
            </a:r>
            <a:endParaRPr lang="ar-SA" sz="1800" dirty="0"/>
          </a:p>
        </p:txBody>
      </p:sp>
      <p:sp>
        <p:nvSpPr>
          <p:cNvPr id="40" name="Shape 37"/>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2" name="Text 39"/>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3" name="Text 40"/>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 أَهَمِّيَّةُ اللُّغَةِ العَرَبِيَّةِ فِي حَيَاتِكَ؟</a:t>
            </a:r>
            <a:endParaRPr lang="ar-SA" sz="1800" dirty="0"/>
          </a:p>
        </p:txBody>
      </p:sp>
      <p:sp>
        <p:nvSpPr>
          <p:cNvPr id="44" name="Shape 41"/>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5" name="Text 42"/>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6" name="Shape 43"/>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cs typeface="Amiri" pitchFamily="2" charset="-78"/>
              </a:rPr>
              <a:t>أُرِيدُ أَنْ أَزُورَ ___ ، لِأَنَّ ___ .</a:t>
            </a:r>
            <a:endParaRPr lang="ar-SA" sz="1600" dirty="0"/>
          </a:p>
        </p:txBody>
      </p:sp>
      <p:sp>
        <p:nvSpPr>
          <p:cNvPr id="49" name="Shape 46"/>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0" name="Text 47"/>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1" name="Text 48"/>
          <p:cNvSpPr txBox="1"/>
          <p:nvPr/>
        </p:nvSpPr>
        <p:spPr>
          <a:xfrm>
            <a:off x="1783080" y="3410712"/>
            <a:ext cx="2697480" cy="557784"/>
          </a:xfrm>
          <a:prstGeom prst="rect">
            <a:avLst/>
          </a:prstGeom>
          <a:noFill/>
          <a:ln/>
        </p:spPr>
        <p:txBody>
          <a:bodyPr wrap="square" lIns="0" tIns="0" rIns="0" bIns="0" rtlCol="0" anchor="ctr"/>
          <a:lstStyle/>
          <a:p>
            <a:pPr rtl="1" algn="r" indent="0" marL="0">
              <a:lnSpc>
                <a:spcPct val="120000"/>
              </a:lnSpc>
              <a:buNone/>
            </a:pPr>
            <a:r>
              <a:rPr lang="ar-SA" altLang="en-US" sz="1200" b="1" dirty="0">
                <a:solidFill>
                  <a:srgbClr val="1F2A37"/>
                </a:solidFill>
                <a:latin typeface="Amiri" pitchFamily="2" charset="-78"/>
                <a:cs typeface="Amiri" pitchFamily="2" charset="-78"/>
              </a:rPr>
              <a:t>فِي العَامِ المَاضِي حَضَرْتُ ___ ، وَزُيِّنَ / زُيِّنَتْ ___ .</a:t>
            </a:r>
            <a:endParaRPr lang="ar-SA" sz="1200" dirty="0"/>
          </a:p>
        </p:txBody>
      </p:sp>
      <p:sp>
        <p:nvSpPr>
          <p:cNvPr id="52" name="Shape 49"/>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3" name="Text 50"/>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4" name="Text 51"/>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300" b="1" dirty="0">
                <a:solidFill>
                  <a:srgbClr val="1F2A37"/>
                </a:solidFill>
                <a:latin typeface="Amiri" pitchFamily="2" charset="-78"/>
                <a:cs typeface="Amiri" pitchFamily="2" charset="-78"/>
              </a:rPr>
              <a:t>لَا يُمْكِنُ إِنْكَارُ أَنَّ ___ ، وَعَلَى حَدِّ عِلْمِي ___ .</a:t>
            </a:r>
            <a:endParaRPr lang="ar-SA" sz="1300" dirty="0"/>
          </a:p>
        </p:txBody>
      </p:sp>
      <p:sp>
        <p:nvSpPr>
          <p:cNvPr id="55" name="Shape 52"/>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7" name="Shape 54"/>
          <p:cNvSpPr/>
          <p:nvPr/>
        </p:nvSpPr>
        <p:spPr>
          <a:xfrm>
            <a:off x="11274552" y="5559552"/>
            <a:ext cx="292608" cy="292608"/>
          </a:xfrm>
          <a:prstGeom prst="ellipse">
            <a:avLst/>
          </a:prstGeom>
          <a:solidFill>
            <a:srgbClr val="1E6B52"/>
          </a:solidFill>
          <a:ln w="12700">
            <a:solidFill>
              <a:srgbClr val="1E6B52"/>
            </a:solidFill>
            <a:prstDash val="solid"/>
          </a:ln>
        </p:spPr>
      </p:sp>
      <p:sp>
        <p:nvSpPr>
          <p:cNvPr id="58" name="Text 55"/>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9" name="Text 56"/>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صِفْ مُنَاسَبَةً ثَقَافِيَّةً مَرَرْتَ بِهَا.</a:t>
            </a:r>
            <a:endParaRPr lang="ar-SA" sz="1550" dirty="0"/>
          </a:p>
        </p:txBody>
      </p:sp>
      <p:sp>
        <p:nvSpPr>
          <p:cNvPr id="60" name="Text 57"/>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Describe a cultural occasion you have experienced.</a:t>
            </a:r>
            <a:endParaRPr lang="en-US" sz="950" dirty="0"/>
          </a:p>
        </p:txBody>
      </p:sp>
      <p:sp>
        <p:nvSpPr>
          <p:cNvPr id="61" name="Shape 58"/>
          <p:cNvSpPr/>
          <p:nvPr/>
        </p:nvSpPr>
        <p:spPr>
          <a:xfrm>
            <a:off x="11274552" y="5925312"/>
            <a:ext cx="292608" cy="292608"/>
          </a:xfrm>
          <a:prstGeom prst="ellipse">
            <a:avLst/>
          </a:prstGeom>
          <a:solidFill>
            <a:srgbClr val="1E6B52"/>
          </a:solidFill>
          <a:ln w="12700">
            <a:solidFill>
              <a:srgbClr val="1E6B52"/>
            </a:solidFill>
            <a:prstDash val="solid"/>
          </a:ln>
        </p:spPr>
      </p:sp>
      <p:sp>
        <p:nvSpPr>
          <p:cNvPr id="62" name="Text 59"/>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3" name="Text 60"/>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فِي العَامِ المَاضِي حَضَرْتُ حَفْلًا فِي المَرْكَزِ الثَّقَافِيِّ، وَزُيِّنَتِ القَاعَةُ بِالفَوَانِيسِ.</a:t>
            </a:r>
            <a:endParaRPr lang="ar-SA" sz="1550" dirty="0"/>
          </a:p>
        </p:txBody>
      </p:sp>
      <p:sp>
        <p:nvSpPr>
          <p:cNvPr id="64" name="Text 61"/>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750" i="1" dirty="0">
                <a:solidFill>
                  <a:srgbClr val="5A6472"/>
                </a:solidFill>
                <a:latin typeface="Calibri" pitchFamily="34" charset="0"/>
                <a:cs typeface="Amiri" pitchFamily="2" charset="-78"/>
              </a:rPr>
              <a:t>Last year I attended a party at the cultural centre, and the hall was decorated with lanterns.</a:t>
            </a:r>
            <a:endParaRPr lang="en-US" sz="750" dirty="0"/>
          </a:p>
        </p:txBody>
      </p:sp>
      <p:sp>
        <p:nvSpPr>
          <p:cNvPr id="65" name="Text 6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47</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TE-L11 ·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TE-L11</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5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Answer four cultural questions aloud using the sentence frames, each with the right preposition.</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What was difficult, what you practised, and one target (frames).</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60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a reason to each answer and one qualifier.</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Add كَانَ + present for an old habit and one cultural verb with its preposition.</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 80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Deliver a full topic answer across three tenses with a supported opinion and no overgeneralisation.</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your Topic E self-review — difficulty, practice, progress, next focus, one qualifier.</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47</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TE-L11 ·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TE-L11</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كُنْتُ أَقُولُ ______ بَدَلَ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used to say … instead of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cs typeface="Amiri" pitchFamily="2" charset="-78"/>
              </a:rPr>
              <a:t>عَلَى الرَّغْمِ مِنْ ذٰلِكَ مَا زِلْتُ أَحْتَاجُ إِلَى ______ .</a:t>
            </a:r>
            <a:endParaRPr lang="ar-SA" sz="155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Despite that, I still need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وَأَطْمَحُ إِلَى أَنْ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aspire to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عَلَى حَدِّ عِلْمِي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As far as I know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فِي البِدَايَةِ كُنْتُ أُخْطِئُ فِي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At the beginning I used to make mistakes in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ثُمَّ تَدَرَّبْتُ عَلَى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Then I practised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وَالآنَ أَقُولُ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Now I say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وَفِي المُسْتَقْبَلِ سَأُرَكِّزُ عَلَى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the future I will focus on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350" b="1" dirty="0">
                <a:solidFill>
                  <a:srgbClr val="1B3B6F"/>
                </a:solidFill>
                <a:latin typeface="Amiri" pitchFamily="2" charset="-78"/>
                <a:cs typeface="Amiri" pitchFamily="2" charset="-78"/>
              </a:rPr>
              <a:t>كُنْتُ أُخْطِئُ  ·  حُرُوفُ الجَرِّ  ·  تَدَرَّبْتُ عَلَى  ·  وَحْدَةً وَاحِدَةً  ·  كُنْتُ أُعَمِّمُ  ·  فِي بَعْضِ البُلْدَانِ  ·  عَلَى حَدِّ عِلْمِي  ·  مَا زِلْتُ أَحْتَاجُ إِلَى  ·  سُرْعَةٌ فِي الرَّدِّ  ·  سَأُرَكِّزُ عَلَى  ·  أَطْمَحُ إِلَى  ·  دُونَ تَرَدُّدٍ</a:t>
            </a:r>
            <a:endParaRPr lang="ar-SA" sz="13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47</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TE-L11 ·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TE-L11</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about eighty words reviewing your own Topic E progress. Say what you found difficult, what you practised, how you improved, and what you will focus on next.</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four past verbs with accurate suffixes.</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a:t>
            </a:r>
            <a:pPr algn="l" indent="0" marL="0">
              <a:buNone/>
            </a:pPr>
            <a:r>
              <a:rPr lang="ar-SA" altLang="en-US" sz="1550" dirty="0">
                <a:solidFill>
                  <a:srgbClr val="1F2A37"/>
                </a:solidFill>
                <a:latin typeface="Amiri" pitchFamily="2" charset="-78"/>
                <a:cs typeface="Amiri" pitchFamily="2" charset="-78"/>
              </a:rPr>
              <a:t>كَانَ</a:t>
            </a:r>
            <a:pPr algn="l" indent="0" marL="0">
              <a:buNone/>
            </a:pPr>
            <a:r>
              <a:rPr lang="en-US" sz="1200" dirty="0">
                <a:solidFill>
                  <a:srgbClr val="1F2A37"/>
                </a:solidFill>
                <a:latin typeface="Calibri" pitchFamily="34" charset="0"/>
                <a:cs typeface="Amiri" pitchFamily="2" charset="-78"/>
              </a:rPr>
              <a:t> plus present construction for an old habit.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cultural verb with its correct preposition.</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future focus and one qualifier.</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حَتَّى صَارَا وَحْدَةً وَاحِدَةً</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until they became one unit</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رَاجَعْتُ نِقَاطَ ضَعْفِي بِصَرَاحَةٍ</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reviewed my weak points honestly</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 زِلْتُ أَحْتَاجُ إِلَى سُرْعَةٍ أَكْبَرَ</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still need more speed</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سَأُرَكِّزُ عَلَى إِضَافَةِ سَبَبٍ فِي كُلِّ إِجَابَةٍ</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will focus on adding a reason to every answer</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أَنْ أَتَحَدَّثَ دُونَ تَرَدُّدٍ</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to speak without hesitation</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47</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TE-L11 ·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TE-L11</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cs typeface="Amiri" pitchFamily="2" charset="-78"/>
              </a:rPr>
              <a:t>فِي البِدَايَةِ كُنْتُ أُخْطِئُ فِي حُرُوفِ الجَرِّ مَعَ الأَفْعَالِ الثَّقَافِيَّةِ، فَأَقُولُ نَحْتَفِلُ العِيدَ بَدَلَ نَحْتَفِلُ بِالعِيدِ. ثُمَّ تَدَرَّبْتُ عَلَى كُلِّ فِعْلٍ مَعَ حَرْفِ جَرِّهِ حَتَّى صَارَا وَحْدَةً وَاحِدَةً. وَكُنْتُ أُعَمِّمُ أَحْيَانًا، وَالآنَ أَقُولُ فِي بَعْضِ البُلْدَانِ أَوْ عَلَى حَدِّ عِلْمِي. عَلَى الرَّغْمِ مِنْ ذٰلِكَ مَا زِلْتُ أَحْتَاجُ إِلَى سُرْعَةٍ أَكْبَرَ فِي الرَّدِّ. وَفِي المُسْتَقْبَلِ سَأُرَكِّزُ عَلَى إِضَافَةِ سَبَبٍ فِي كُلِّ إِجَابَةٍ، وَأَطْمَحُ إِلَى أَنْ أَتَحَدَّثَ دُونَ تَرَدُّدٍ.</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At the beginning I used to make mistakes with prepositions after cultural verbs: I said “naḥtafilu al-ʿīda” instead of “naḥtafilu bil-ʿīd”. Then I practised each verb with its preposition until they became one unit. I also sometimes used to generalise, and now I say “in some countries” or “as far as I know”. Despite that, I still need more speed in replying. In the future I will focus on adding a reason to every answer, and I aspire to speak without hesitation.</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كَانَ + present (old habit)</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four past verbs</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cultural verb + preposition</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future focus and a qualifier</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47</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TE-L11 ·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TE-L11</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in the tense the question used.</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Every cultural verb had its preposition.</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added a reason or an example to each answer.</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qualified at least one claim.</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named my one priority for the assessment.</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47</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TE-L11 ·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TE-L11</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The question is </a:t>
            </a:r>
            <a:pPr algn="l" indent="0" marL="0">
              <a:buNone/>
            </a:pPr>
            <a:r>
              <a:rPr lang="ar-SA" altLang="en-US" sz="1650" b="1" dirty="0">
                <a:solidFill>
                  <a:srgbClr val="1B3B6F"/>
                </a:solidFill>
                <a:latin typeface="Amiri" pitchFamily="2" charset="-78"/>
                <a:cs typeface="Amiri" pitchFamily="2" charset="-78"/>
              </a:rPr>
              <a:t>صِفْ مُنَاسَبَةً مَرَرْتَ بِهَا</a:t>
            </a:r>
            <a:pPr algn="l" indent="0" marL="0">
              <a:buNone/>
            </a:pPr>
            <a:r>
              <a:rPr lang="en-US" sz="1250" b="1" dirty="0">
                <a:solidFill>
                  <a:srgbClr val="1B3B6F"/>
                </a:solidFill>
                <a:latin typeface="Calibri" pitchFamily="34" charset="0"/>
                <a:cs typeface="Amiri" pitchFamily="2" charset="-78"/>
              </a:rPr>
              <a:t>. Which answer fits?</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حَضَرْتُ حَفْلًا فِي المَرْكَزِ.</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أَحْضُرُ حَفْلًا فِي المَرْكَزِ.</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سَأَحْضُرُ حَفْلًا فِي المَرْكَزِ.</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نَحْتَفِلُ</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المُنَاسَبَةِ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عَلَى</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بِـ</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qualifies a claim?</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عَلَى حَدِّ عِلْمِي</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بِالتَّأْكِيدِ</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دَائِمًا</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47</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TE-L11 ·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TE-L11</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The question is </a:t>
            </a:r>
            <a:pPr algn="l" indent="0" marL="0">
              <a:buNone/>
            </a:pPr>
            <a:r>
              <a:rPr lang="ar-SA" altLang="en-US" sz="1650" b="1" dirty="0">
                <a:solidFill>
                  <a:srgbClr val="1B3B6F"/>
                </a:solidFill>
                <a:latin typeface="Amiri" pitchFamily="2" charset="-78"/>
                <a:cs typeface="Amiri" pitchFamily="2" charset="-78"/>
              </a:rPr>
              <a:t>صِفْ مُنَاسَبَةً مَرَرْتَ بِهَا</a:t>
            </a:r>
            <a:pPr algn="l" indent="0" marL="0">
              <a:buNone/>
            </a:pPr>
            <a:r>
              <a:rPr lang="en-US" sz="1250" b="1" dirty="0">
                <a:solidFill>
                  <a:srgbClr val="1B3B6F"/>
                </a:solidFill>
                <a:latin typeface="Calibri" pitchFamily="34" charset="0"/>
                <a:cs typeface="Amiri" pitchFamily="2" charset="-78"/>
              </a:rPr>
              <a:t>. Which answer fits?</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حَضَرْتُ حَفْلًا فِي المَرْكَزِ.</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أَحْضُرُ حَفْلًا فِي المَرْكَزِ.</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سَأَحْضُرُ حَفْلًا فِي المَرْكَزِ.</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Mirror the tense of the question.</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نَحْتَفِلُ</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المُنَاسَبَةِ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عَلَى</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بِـ</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فِي</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يَحْتَفِلُ</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cs typeface="Amiri" pitchFamily="2" charset="-78"/>
              </a:rPr>
              <a:t>بِـ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qualifies a claim?</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عَلَى حَدِّ عِلْمِي</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بِالتَّأْكِيدِ</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دَائِمًا</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عَلَى حَدِّ عِلْمِي</a:t>
            </a:r>
            <a:pPr algn="l" indent="0" marL="0">
              <a:buNone/>
            </a:pPr>
            <a:r>
              <a:rPr lang="en-US" sz="1050" i="1" dirty="0">
                <a:solidFill>
                  <a:srgbClr val="8A6D1E"/>
                </a:solidFill>
                <a:latin typeface="Calibri" pitchFamily="34" charset="0"/>
                <a:cs typeface="Amiri" pitchFamily="2" charset="-78"/>
              </a:rPr>
              <a:t> limits the claim to what you know.</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47</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TE-L11 ·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Reading: a candidate's self-review</a:t>
            </a:r>
            <a:endParaRPr lang="en-US" sz="27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TE-L11</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450" dirty="0">
                <a:solidFill>
                  <a:srgbClr val="1F2A37"/>
                </a:solidFill>
                <a:latin typeface="Amiri" pitchFamily="2" charset="-78"/>
                <a:cs typeface="Amiri" pitchFamily="2" charset="-78"/>
              </a:rPr>
              <a:t>قَبْلَ التَّقْيِيمِ النِّهَائِيِّ رَاجَعْتُ نِقَاطَ ضَعْفِي بِصَرَاحَةٍ. فِي البِدَايَةِ كُنْتُ أُخْطِئُ فِي حُرُوفِ الجَرِّ مَعَ الأَفْعَالِ الثَّقَافِيَّةِ، فَأَقُولُ نَحْتَفِلُ العِيدَ بَدَلَ نَحْتَفِلُ بِالعِيدِ. ثُمَّ تَدَرَّبْتُ عَلَى كُلِّ فِعْلٍ مَعَ حَرْفِ جَرِّهِ حَتَّى صَارَا وَحْدَةً وَاحِدَةً. وَكُنْتُ أُعَمِّمُ أَحْيَانًا فَأَقُولُ كُلُّ العَرَبِ، وَالآنَ أَقُولُ فِي بَعْضِ البُلْدَانِ أَوْ عَلَى حَدِّ عِلْمِي. عَلَى الرَّغْمِ مِنْ ذٰلِكَ مَا زِلْتُ أَحْتَاجُ إِلَى تَحْسِينِ سُرْعَتِي فِي الرَّدِّ. وَفِي المُسْتَقْبَلِ سَأُرَكِّزُ عَلَى إِضَافَةِ سَبَبٍ فِي كُلِّ إِجَابَةٍ، وَأَطْمَحُ إِلَى أَنْ أَتَحَدَّثَ دُونَ تَرَدُّدٍ.</a:t>
            </a:r>
            <a:endParaRPr lang="ar-SA" sz="245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التَّقْيِيمِ النِّهَائِيِّ</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final assessment</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نِقَاطَ ضَعْفِي</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my weak points</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بِصَرَاحَةٍ</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honestly</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أُخْطِئُ</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make mistakes</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بَدَلَ</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instead of</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حَتَّى صَارَا</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until they became</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أُعَمِّمُ</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generalise</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مَا زِلْتُ</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still</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سُرْعَتِي فِي الرَّدِّ</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my speed in replying</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دُونَ تَرَدُّدٍ</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without hesitation</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47</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TE-L11 ·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TE-L11</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was the original weakness?</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Vocabulary range</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Prepositions with cultural verbs</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Pronunciation</a:t>
            </a:r>
            <a:endParaRPr lang="en-US"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was it fixed?</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Avoiding those verbs</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Using English instead</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Practising each verb with its preposition as one unit</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replaced </a:t>
            </a:r>
            <a:pPr algn="l" indent="0" marL="0">
              <a:buNone/>
            </a:pPr>
            <a:r>
              <a:rPr lang="ar-SA" altLang="en-US" sz="1650" b="1" dirty="0">
                <a:solidFill>
                  <a:srgbClr val="1B3B6F"/>
                </a:solidFill>
                <a:latin typeface="Amiri" pitchFamily="2" charset="-78"/>
                <a:cs typeface="Amiri" pitchFamily="2" charset="-78"/>
              </a:rPr>
              <a:t>كُلُّ العَرَبِ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ar-SA" altLang="en-US" sz="1650" dirty="0">
                <a:solidFill>
                  <a:srgbClr val="1F2A37"/>
                </a:solidFill>
                <a:latin typeface="Amiri" pitchFamily="2" charset="-78"/>
                <a:cs typeface="Amiri" pitchFamily="2" charset="-78"/>
              </a:rPr>
              <a:t>فِي بَعْضِ البُلْدَانِ</a:t>
            </a:r>
            <a:pPr algn="l" indent="0" marL="0">
              <a:buNone/>
            </a:pPr>
            <a:r>
              <a:rPr lang="en-US" sz="1250" dirty="0">
                <a:solidFill>
                  <a:srgbClr val="1F2A37"/>
                </a:solidFill>
                <a:latin typeface="Calibri" pitchFamily="34" charset="0"/>
                <a:cs typeface="Amiri" pitchFamily="2" charset="-78"/>
              </a:rPr>
              <a:t> or </a:t>
            </a:r>
            <a:pPr algn="l" indent="0" marL="0">
              <a:buNone/>
            </a:pPr>
            <a:r>
              <a:rPr lang="ar-SA" altLang="en-US" sz="1650" dirty="0">
                <a:solidFill>
                  <a:srgbClr val="1F2A37"/>
                </a:solidFill>
                <a:latin typeface="Amiri" pitchFamily="2" charset="-78"/>
                <a:cs typeface="Amiri" pitchFamily="2" charset="-78"/>
              </a:rPr>
              <a:t>عَلَى حَدِّ عِلْمِي</a:t>
            </a:r>
            <a:endParaRPr lang="en-US" sz="12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200" dirty="0">
                <a:solidFill>
                  <a:srgbClr val="1F2A37"/>
                </a:solidFill>
                <a:latin typeface="Amiri" pitchFamily="2" charset="-78"/>
                <a:cs typeface="Amiri" pitchFamily="2" charset="-78"/>
              </a:rPr>
              <a:t>لَا أَحَدَ</a:t>
            </a:r>
            <a:endParaRPr lang="ar-SA" sz="220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200" dirty="0">
                <a:solidFill>
                  <a:srgbClr val="1F2A37"/>
                </a:solidFill>
                <a:latin typeface="Amiri" pitchFamily="2" charset="-78"/>
                <a:cs typeface="Amiri" pitchFamily="2" charset="-78"/>
              </a:rPr>
              <a:t>دَائِمًا</a:t>
            </a:r>
            <a:endParaRPr lang="ar-SA" sz="220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still needs improvement?</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Grammar knowledge</a:t>
            </a:r>
            <a:endParaRPr lang="en-US" sz="12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Speed of response</a:t>
            </a:r>
            <a:endParaRPr lang="en-US" sz="12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Vocabulary</a:t>
            </a:r>
            <a:endParaRPr lang="en-US" sz="12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future focus?</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Adding a reason to every answer</a:t>
            </a:r>
            <a:endParaRPr lang="en-US" sz="12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Speaking more quietly</a:t>
            </a:r>
            <a:endParaRPr lang="en-US" sz="12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Using longer words</a:t>
            </a:r>
            <a:endParaRPr lang="en-US" sz="1250" dirty="0"/>
          </a:p>
        </p:txBody>
      </p:sp>
      <p:sp>
        <p:nvSpPr>
          <p:cNvPr id="82" name="Shape 7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84" name="Text 8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47</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TE-L11 ·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TE-L11</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was the original weakness?</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Vocabulary range</a:t>
            </a:r>
            <a:endParaRPr lang="en-US" sz="1250" dirty="0"/>
          </a:p>
        </p:txBody>
      </p:sp>
      <p:sp>
        <p:nvSpPr>
          <p:cNvPr id="24"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Prepositions with cultural verbs</a:t>
            </a:r>
            <a:endParaRPr lang="en-US" sz="12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Pronunciation</a:t>
            </a:r>
            <a:endParaRPr lang="en-US" sz="1250" dirty="0"/>
          </a:p>
        </p:txBody>
      </p:sp>
      <p:sp>
        <p:nvSpPr>
          <p:cNvPr id="31" name="Text 28"/>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كُنْتُ أُخْطِئُ فِي حُرُوفِ الجَرِّ مَعَ الأَفْعَالِ الثَّقَافِيَّةِ.</a:t>
            </a:r>
            <a:endParaRPr lang="ar-SA" sz="1350" dirty="0"/>
          </a:p>
        </p:txBody>
      </p:sp>
      <p:sp>
        <p:nvSpPr>
          <p:cNvPr id="32"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was it fixed?</a:t>
            </a:r>
            <a:endParaRPr lang="en-US" sz="125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Avoiding those verbs</a:t>
            </a:r>
            <a:endParaRPr lang="en-US" sz="125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Using English instead</a:t>
            </a:r>
            <a:endParaRPr lang="en-US" sz="1250" dirty="0"/>
          </a:p>
        </p:txBody>
      </p:sp>
      <p:sp>
        <p:nvSpPr>
          <p:cNvPr id="42" name="Shape 39"/>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4459224"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Practising each verb with its preposition as one unit</a:t>
            </a:r>
            <a:endParaRPr lang="en-US" sz="115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تَدَرَّبْتُ عَلَى كُلِّ فِعْلٍ مَعَ حَرْفِ جَرِّهِ حَتَّى صَارَا وَحْدَةً وَاحِدَةً.</a:t>
            </a:r>
            <a:endParaRPr lang="ar-SA" sz="13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replaced </a:t>
            </a:r>
            <a:pPr algn="l" indent="0" marL="0">
              <a:buNone/>
            </a:pPr>
            <a:r>
              <a:rPr lang="ar-SA" altLang="en-US" sz="1650" b="1" dirty="0">
                <a:solidFill>
                  <a:srgbClr val="1B3B6F"/>
                </a:solidFill>
                <a:latin typeface="Amiri" pitchFamily="2" charset="-78"/>
                <a:cs typeface="Amiri" pitchFamily="2" charset="-78"/>
              </a:rPr>
              <a:t>كُلُّ العَرَبِ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1" name="Shape 48"/>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8278368"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ar-SA" altLang="en-US" sz="1650" b="1" dirty="0">
                <a:solidFill>
                  <a:srgbClr val="1F2A37"/>
                </a:solidFill>
                <a:latin typeface="Amiri" pitchFamily="2" charset="-78"/>
                <a:cs typeface="Amiri" pitchFamily="2" charset="-78"/>
              </a:rPr>
              <a:t>فِي بَعْضِ البُلْدَانِ</a:t>
            </a:r>
            <a:pPr algn="l" indent="0" marL="0">
              <a:buNone/>
            </a:pPr>
            <a:r>
              <a:rPr lang="en-US" sz="1250" b="1" dirty="0">
                <a:solidFill>
                  <a:srgbClr val="1F2A37"/>
                </a:solidFill>
                <a:latin typeface="Calibri" pitchFamily="34" charset="0"/>
                <a:cs typeface="Amiri" pitchFamily="2" charset="-78"/>
              </a:rPr>
              <a:t> or </a:t>
            </a:r>
            <a:pPr algn="l" indent="0" marL="0">
              <a:buNone/>
            </a:pPr>
            <a:r>
              <a:rPr lang="ar-SA" altLang="en-US" sz="1650" b="1" dirty="0">
                <a:solidFill>
                  <a:srgbClr val="1F2A37"/>
                </a:solidFill>
                <a:latin typeface="Amiri" pitchFamily="2" charset="-78"/>
                <a:cs typeface="Amiri" pitchFamily="2" charset="-78"/>
              </a:rPr>
              <a:t>عَلَى حَدِّ عِلْمِي</a:t>
            </a:r>
            <a:endParaRPr lang="en-US" sz="1250" dirty="0"/>
          </a:p>
        </p:txBody>
      </p:sp>
      <p:sp>
        <p:nvSpPr>
          <p:cNvPr id="55"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2200" dirty="0">
                <a:solidFill>
                  <a:srgbClr val="9AA1AB"/>
                </a:solidFill>
                <a:latin typeface="Amiri" pitchFamily="2" charset="-78"/>
                <a:cs typeface="Amiri" pitchFamily="2" charset="-78"/>
              </a:rPr>
              <a:t>لَا أَحَدَ</a:t>
            </a:r>
            <a:endParaRPr lang="ar-SA" sz="2200" dirty="0"/>
          </a:p>
        </p:txBody>
      </p:sp>
      <p:sp>
        <p:nvSpPr>
          <p:cNvPr id="58" name="Shape 55"/>
          <p:cNvSpPr/>
          <p:nvPr/>
        </p:nvSpPr>
        <p:spPr>
          <a:xfrm>
            <a:off x="8278368"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2200" dirty="0">
                <a:solidFill>
                  <a:srgbClr val="9AA1AB"/>
                </a:solidFill>
                <a:latin typeface="Amiri" pitchFamily="2" charset="-78"/>
                <a:cs typeface="Amiri" pitchFamily="2" charset="-78"/>
              </a:rPr>
              <a:t>دَائِمًا</a:t>
            </a:r>
            <a:endParaRPr lang="ar-SA" sz="2200" dirty="0"/>
          </a:p>
        </p:txBody>
      </p:sp>
      <p:sp>
        <p:nvSpPr>
          <p:cNvPr id="61" name="Text 58"/>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الآنَ أَقُولُ فِي بَعْضِ البُلْدَانِ أَوْ عَلَى حَدِّ عِلْمِي.</a:t>
            </a:r>
            <a:endParaRPr lang="ar-SA" sz="1350" dirty="0"/>
          </a:p>
        </p:txBody>
      </p:sp>
      <p:sp>
        <p:nvSpPr>
          <p:cNvPr id="62"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still needs improvement?</a:t>
            </a:r>
            <a:endParaRPr lang="en-US" sz="1250" dirty="0"/>
          </a:p>
        </p:txBody>
      </p:sp>
      <p:sp>
        <p:nvSpPr>
          <p:cNvPr id="66"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Grammar knowledge</a:t>
            </a:r>
            <a:endParaRPr lang="en-US" sz="1250" dirty="0"/>
          </a:p>
        </p:txBody>
      </p:sp>
      <p:sp>
        <p:nvSpPr>
          <p:cNvPr id="69" name="Shape 66"/>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640080" y="5202936"/>
            <a:ext cx="256032" cy="256032"/>
          </a:xfrm>
          <a:prstGeom prst="ellipse">
            <a:avLst/>
          </a:prstGeom>
          <a:solidFill>
            <a:srgbClr val="2E8B57"/>
          </a:solidFill>
          <a:ln w="12700">
            <a:solidFill>
              <a:srgbClr val="2E8B57"/>
            </a:solidFill>
            <a:prstDash val="solid"/>
          </a:ln>
        </p:spPr>
      </p:sp>
      <p:sp>
        <p:nvSpPr>
          <p:cNvPr id="71"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Speed of response</a:t>
            </a:r>
            <a:endParaRPr lang="en-US" sz="1250" dirty="0"/>
          </a:p>
        </p:txBody>
      </p:sp>
      <p:sp>
        <p:nvSpPr>
          <p:cNvPr id="73" name="Shape 70"/>
          <p:cNvSpPr/>
          <p:nvPr/>
        </p:nvSpPr>
        <p:spPr>
          <a:xfrm>
            <a:off x="640080"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Vocabulary</a:t>
            </a:r>
            <a:endParaRPr lang="en-US" sz="125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مَا زِلْتُ أَحْتَاجُ إِلَى تَحْسِينِ سُرْعَتِي فِي الرَّدِّ.</a:t>
            </a:r>
            <a:endParaRPr lang="ar-SA" sz="135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future focus?</a:t>
            </a:r>
            <a:endParaRPr lang="en-US" sz="125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Adding a reason to every answer</a:t>
            </a:r>
            <a:endParaRPr lang="en-US" sz="125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Speaking more quietly</a:t>
            </a:r>
            <a:endParaRPr lang="en-US" sz="125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Using longer words</a:t>
            </a:r>
            <a:endParaRPr lang="en-US" sz="125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سَأُرَكِّزُ عَلَى إِضَافَةِ سَبَبٍ فِي كُلِّ إِجَابَةٍ.</a:t>
            </a:r>
            <a:endParaRPr lang="ar-SA" sz="1350" dirty="0"/>
          </a:p>
        </p:txBody>
      </p:sp>
      <p:sp>
        <p:nvSpPr>
          <p:cNvPr id="92" name="Shape 8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4" name="Text 9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47</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TE-L11 ·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50" b="1" dirty="0">
                <a:solidFill>
                  <a:srgbClr val="1B3B6F"/>
                </a:solidFill>
                <a:latin typeface="Cambria" pitchFamily="34" charset="0"/>
                <a:cs typeface="Amiri" pitchFamily="2" charset="-78"/>
              </a:rPr>
              <a:t>Final Consolidation Mission — Everything at Once</a:t>
            </a:r>
            <a:endParaRPr lang="en-US" sz="19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TE-L11</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Preposition: complete — </a:t>
            </a:r>
            <a:pPr algn="l" indent="0" marL="0">
              <a:buNone/>
            </a:pPr>
            <a:r>
              <a:rPr lang="ar-SA" altLang="en-US" sz="1650" b="1" dirty="0">
                <a:solidFill>
                  <a:srgbClr val="1B3B6F"/>
                </a:solidFill>
                <a:latin typeface="Amiri" pitchFamily="2" charset="-78"/>
                <a:cs typeface="Amiri" pitchFamily="2" charset="-78"/>
              </a:rPr>
              <a:t>نَحْتَفِلُ</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العِيدِ</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عَلَى</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بِـ</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a:t>
            </a:r>
            <a:endParaRPr lang="ar-SA" sz="2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Preposition: complete — </a:t>
            </a:r>
            <a:pPr algn="l" indent="0" marL="0">
              <a:buNone/>
            </a:pPr>
            <a:r>
              <a:rPr lang="ar-SA" altLang="en-US" sz="1650" b="1" dirty="0">
                <a:solidFill>
                  <a:srgbClr val="1B3B6F"/>
                </a:solidFill>
                <a:latin typeface="Amiri" pitchFamily="2" charset="-78"/>
                <a:cs typeface="Amiri" pitchFamily="2" charset="-78"/>
              </a:rPr>
              <a:t>أَنْتَمِي</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ثَقَافَتَيْنِ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إِلَى</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بِـ</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مَعَ</a:t>
            </a:r>
            <a:endParaRPr lang="ar-SA" sz="20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Preposition: complete — </a:t>
            </a:r>
            <a:pPr algn="l" indent="0" marL="0">
              <a:buNone/>
            </a:pPr>
            <a:r>
              <a:rPr lang="ar-SA" altLang="en-US" sz="1650" b="1" dirty="0">
                <a:solidFill>
                  <a:srgbClr val="1B3B6F"/>
                </a:solidFill>
                <a:latin typeface="Amiri" pitchFamily="2" charset="-78"/>
                <a:cs typeface="Amiri" pitchFamily="2" charset="-78"/>
              </a:rPr>
              <a:t>يَتَكَيَّفُ</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الحَيَاةِ الجَدِيدَةِ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عَلَى</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إِلَى</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مَعَ</a:t>
            </a:r>
            <a:endParaRPr lang="ar-SA" sz="20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Tense: the question uses </a:t>
            </a:r>
            <a:pPr algn="l" indent="0" marL="0">
              <a:buNone/>
            </a:pPr>
            <a:r>
              <a:rPr lang="ar-SA" altLang="en-US" sz="1650" b="1" dirty="0">
                <a:solidFill>
                  <a:srgbClr val="1B3B6F"/>
                </a:solidFill>
                <a:latin typeface="Amiri" pitchFamily="2" charset="-78"/>
                <a:cs typeface="Amiri" pitchFamily="2" charset="-78"/>
              </a:rPr>
              <a:t>مَرَرْتَ</a:t>
            </a:r>
            <a:pPr algn="l" indent="0" marL="0">
              <a:buNone/>
            </a:pPr>
            <a:r>
              <a:rPr lang="en-US" sz="1250" b="1" dirty="0">
                <a:solidFill>
                  <a:srgbClr val="1B3B6F"/>
                </a:solidFill>
                <a:latin typeface="Calibri" pitchFamily="34" charset="0"/>
                <a:cs typeface="Amiri" pitchFamily="2" charset="-78"/>
              </a:rPr>
              <a:t>. Which answer mirrors it?</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أَحْضُرُ حَفْلًا</a:t>
            </a:r>
            <a:endParaRPr lang="ar-SA" sz="20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سَأَحْضُرُ حَفْلًا</a:t>
            </a:r>
            <a:endParaRPr lang="ar-SA" sz="20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حَضَرْتُ حَفْلًا</a:t>
            </a:r>
            <a:endParaRPr lang="ar-SA" sz="20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Qualification: which is accurate?</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cs typeface="Amiri" pitchFamily="2" charset="-78"/>
              </a:rPr>
              <a:t>فِي بَعْضِ البُلْدَانِ تَخْتَلِفُ العَادَاتُ.</a:t>
            </a:r>
            <a:endParaRPr lang="ar-SA" sz="180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cs typeface="Amiri" pitchFamily="2" charset="-78"/>
              </a:rPr>
              <a:t>كُلُّ العَرَبِ يَحْتَفِلُونَ بِالطَّرِيقَةِ نَفْسِهَا.</a:t>
            </a:r>
            <a:endParaRPr lang="ar-SA" sz="180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cs typeface="Amiri" pitchFamily="2" charset="-78"/>
              </a:rPr>
              <a:t>لَا أَحَدَ يَحْتَفِلُ.</a:t>
            </a:r>
            <a:endParaRPr lang="ar-SA" sz="1800" dirty="0"/>
          </a:p>
        </p:txBody>
      </p:sp>
      <p:sp>
        <p:nvSpPr>
          <p:cNvPr id="82" name="Shape 7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822350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Case: complete — </a:t>
            </a:r>
            <a:pPr algn="l" indent="0" marL="0">
              <a:buNone/>
            </a:pPr>
            <a:r>
              <a:rPr lang="ar-SA" altLang="en-US" sz="1650" b="1" dirty="0">
                <a:solidFill>
                  <a:srgbClr val="1B3B6F"/>
                </a:solidFill>
                <a:latin typeface="Amiri" pitchFamily="2" charset="-78"/>
                <a:cs typeface="Amiri" pitchFamily="2" charset="-78"/>
              </a:rPr>
              <a:t>لَا يُمْكِنُ إِنْكَارُ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ثَرْوَةٌ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86" name="Shape 83"/>
          <p:cNvSpPr/>
          <p:nvPr/>
        </p:nvSpPr>
        <p:spPr>
          <a:xfrm>
            <a:off x="827836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التَّنَوُّعُ</a:t>
            </a:r>
            <a:endParaRPr lang="ar-SA" sz="2050" dirty="0"/>
          </a:p>
        </p:txBody>
      </p:sp>
      <p:sp>
        <p:nvSpPr>
          <p:cNvPr id="89" name="Shape 86"/>
          <p:cNvSpPr/>
          <p:nvPr/>
        </p:nvSpPr>
        <p:spPr>
          <a:xfrm>
            <a:off x="827836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التَّنَوُّعَ</a:t>
            </a:r>
            <a:endParaRPr lang="ar-SA" sz="2050" dirty="0"/>
          </a:p>
        </p:txBody>
      </p:sp>
      <p:sp>
        <p:nvSpPr>
          <p:cNvPr id="92" name="Shape 89"/>
          <p:cNvSpPr/>
          <p:nvPr/>
        </p:nvSpPr>
        <p:spPr>
          <a:xfrm>
            <a:off x="827836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التَّنَوُّعِ</a:t>
            </a:r>
            <a:endParaRPr lang="ar-SA" sz="20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47</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TE-L11 ·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TE-L11</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Preposition: complete — </a:t>
            </a:r>
            <a:pPr algn="l" indent="0" marL="0">
              <a:buNone/>
            </a:pPr>
            <a:r>
              <a:rPr lang="ar-SA" altLang="en-US" sz="1650" b="1" dirty="0">
                <a:solidFill>
                  <a:srgbClr val="1B3B6F"/>
                </a:solidFill>
                <a:latin typeface="Amiri" pitchFamily="2" charset="-78"/>
                <a:cs typeface="Amiri" pitchFamily="2" charset="-78"/>
              </a:rPr>
              <a:t>نَحْتَفِلُ</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العِيدِ</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عَلَى</a:t>
            </a:r>
            <a:endParaRPr lang="ar-SA" sz="1700" dirty="0"/>
          </a:p>
        </p:txBody>
      </p:sp>
      <p:sp>
        <p:nvSpPr>
          <p:cNvPr id="23"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4"/>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بِـ</a:t>
            </a:r>
            <a:endParaRPr lang="ar-SA" sz="170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7"/>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فِي</a:t>
            </a:r>
            <a:endParaRPr lang="ar-SA" sz="1700" dirty="0"/>
          </a:p>
        </p:txBody>
      </p:sp>
      <p:sp>
        <p:nvSpPr>
          <p:cNvPr id="30"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يَحْتَفِلُ</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cs typeface="Amiri" pitchFamily="2" charset="-78"/>
              </a:rPr>
              <a:t>بِـ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1"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Preposition: complete — </a:t>
            </a:r>
            <a:pPr algn="l" indent="0" marL="0">
              <a:buNone/>
            </a:pPr>
            <a:r>
              <a:rPr lang="ar-SA" altLang="en-US" sz="1650" b="1" dirty="0">
                <a:solidFill>
                  <a:srgbClr val="1B3B6F"/>
                </a:solidFill>
                <a:latin typeface="Amiri" pitchFamily="2" charset="-78"/>
                <a:cs typeface="Amiri" pitchFamily="2" charset="-78"/>
              </a:rPr>
              <a:t>أَنْتَمِي</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ثَقَافَتَيْنِ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5" name="Shape 33"/>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4"/>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5"/>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6"/>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إِلَى</a:t>
            </a:r>
            <a:endParaRPr lang="ar-SA" sz="1700" dirty="0"/>
          </a:p>
        </p:txBody>
      </p:sp>
      <p:sp>
        <p:nvSpPr>
          <p:cNvPr id="39" name="Shape 37"/>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9"/>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بِـ</a:t>
            </a:r>
            <a:endParaRPr lang="ar-SA" sz="1700" dirty="0"/>
          </a:p>
        </p:txBody>
      </p:sp>
      <p:sp>
        <p:nvSpPr>
          <p:cNvPr id="42"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مَعَ</a:t>
            </a:r>
            <a:endParaRPr lang="ar-SA" sz="1700" dirty="0"/>
          </a:p>
        </p:txBody>
      </p:sp>
      <p:sp>
        <p:nvSpPr>
          <p:cNvPr id="45"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يَنْتَمِي</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cs typeface="Amiri" pitchFamily="2" charset="-78"/>
              </a:rPr>
              <a:t>إِلَى</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6"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Preposition: complete — </a:t>
            </a:r>
            <a:pPr algn="l" indent="0" marL="0">
              <a:buNone/>
            </a:pPr>
            <a:r>
              <a:rPr lang="ar-SA" altLang="en-US" sz="1650" b="1" dirty="0">
                <a:solidFill>
                  <a:srgbClr val="1B3B6F"/>
                </a:solidFill>
                <a:latin typeface="Amiri" pitchFamily="2" charset="-78"/>
                <a:cs typeface="Amiri" pitchFamily="2" charset="-78"/>
              </a:rPr>
              <a:t>يَتَكَيَّفُ</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الحَيَاةِ الجَدِيدَةِ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0" name="Shape 48"/>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50"/>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عَلَى</a:t>
            </a:r>
            <a:endParaRPr lang="ar-SA" sz="1700" dirty="0"/>
          </a:p>
        </p:txBody>
      </p:sp>
      <p:sp>
        <p:nvSpPr>
          <p:cNvPr id="53" name="Shape 51"/>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3"/>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إِلَى</a:t>
            </a:r>
            <a:endParaRPr lang="ar-SA" sz="1700" dirty="0"/>
          </a:p>
        </p:txBody>
      </p:sp>
      <p:sp>
        <p:nvSpPr>
          <p:cNvPr id="56" name="Shape 54"/>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5"/>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7"/>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مَعَ</a:t>
            </a:r>
            <a:endParaRPr lang="ar-SA" sz="1700" dirty="0"/>
          </a:p>
        </p:txBody>
      </p:sp>
      <p:sp>
        <p:nvSpPr>
          <p:cNvPr id="60"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يَتَكَيَّفُ</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cs typeface="Amiri" pitchFamily="2" charset="-78"/>
              </a:rPr>
              <a:t>مَعَ</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1"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Tense: the question uses </a:t>
            </a:r>
            <a:pPr algn="l" indent="0" marL="0">
              <a:buNone/>
            </a:pPr>
            <a:r>
              <a:rPr lang="ar-SA" altLang="en-US" sz="1650" b="1" dirty="0">
                <a:solidFill>
                  <a:srgbClr val="1B3B6F"/>
                </a:solidFill>
                <a:latin typeface="Amiri" pitchFamily="2" charset="-78"/>
                <a:cs typeface="Amiri" pitchFamily="2" charset="-78"/>
              </a:rPr>
              <a:t>مَرَرْتَ</a:t>
            </a:r>
            <a:pPr algn="l" indent="0" marL="0">
              <a:buNone/>
            </a:pPr>
            <a:r>
              <a:rPr lang="en-US" sz="1250" b="1" dirty="0">
                <a:solidFill>
                  <a:srgbClr val="1B3B6F"/>
                </a:solidFill>
                <a:latin typeface="Calibri" pitchFamily="34" charset="0"/>
                <a:cs typeface="Amiri" pitchFamily="2" charset="-78"/>
              </a:rPr>
              <a:t>. Which answer mirrors it?</a:t>
            </a:r>
            <a:endParaRPr lang="en-US" sz="1250" dirty="0"/>
          </a:p>
        </p:txBody>
      </p:sp>
      <p:sp>
        <p:nvSpPr>
          <p:cNvPr id="65"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5"/>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أَحْضُرُ حَفْلًا</a:t>
            </a:r>
            <a:endParaRPr lang="ar-SA" sz="1700" dirty="0"/>
          </a:p>
        </p:txBody>
      </p:sp>
      <p:sp>
        <p:nvSpPr>
          <p:cNvPr id="68" name="Shape 66"/>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7"/>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8"/>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سَأَحْضُرُ حَفْلًا</a:t>
            </a:r>
            <a:endParaRPr lang="ar-SA" sz="1700" dirty="0"/>
          </a:p>
        </p:txBody>
      </p:sp>
      <p:sp>
        <p:nvSpPr>
          <p:cNvPr id="71" name="Shape 69"/>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70"/>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4" name="Text 72"/>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حَضَرْتُ حَفْلًا</a:t>
            </a:r>
            <a:endParaRPr lang="ar-SA" sz="1700" dirty="0"/>
          </a:p>
        </p:txBody>
      </p:sp>
      <p:sp>
        <p:nvSpPr>
          <p:cNvPr id="75"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past question needs a past answer.</a:t>
            </a:r>
            <a:endParaRPr lang="en-US" sz="1050" dirty="0"/>
          </a:p>
        </p:txBody>
      </p:sp>
      <p:sp>
        <p:nvSpPr>
          <p:cNvPr id="76"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Qualification: which is accurate?</a:t>
            </a:r>
            <a:endParaRPr lang="en-US" sz="1250" dirty="0"/>
          </a:p>
        </p:txBody>
      </p:sp>
      <p:sp>
        <p:nvSpPr>
          <p:cNvPr id="80"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3" name="Text 81"/>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فِي بَعْضِ البُلْدَانِ تَخْتَلِفُ العَادَاتُ.</a:t>
            </a:r>
            <a:endParaRPr lang="ar-SA" sz="1700" dirty="0"/>
          </a:p>
        </p:txBody>
      </p:sp>
      <p:sp>
        <p:nvSpPr>
          <p:cNvPr id="84"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4"/>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كُلُّ العَرَبِ يَحْتَفِلُونَ بِالطَّرِيقَةِ نَفْسِهَا.</a:t>
            </a:r>
            <a:endParaRPr lang="ar-SA" sz="1700" dirty="0"/>
          </a:p>
        </p:txBody>
      </p:sp>
      <p:sp>
        <p:nvSpPr>
          <p:cNvPr id="87"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9" name="Text 87"/>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لَا أَحَدَ يَحْتَفِلُ.</a:t>
            </a:r>
            <a:endParaRPr lang="ar-SA" sz="1700" dirty="0"/>
          </a:p>
        </p:txBody>
      </p:sp>
      <p:sp>
        <p:nvSpPr>
          <p:cNvPr id="90"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hedge reports variation accurately.</a:t>
            </a:r>
            <a:endParaRPr lang="en-US" sz="1050" dirty="0"/>
          </a:p>
        </p:txBody>
      </p:sp>
      <p:sp>
        <p:nvSpPr>
          <p:cNvPr id="91" name="Shape 8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2" name="Shape 90"/>
          <p:cNvSpPr/>
          <p:nvPr/>
        </p:nvSpPr>
        <p:spPr>
          <a:xfrm>
            <a:off x="8223504" y="4288536"/>
            <a:ext cx="310896" cy="310896"/>
          </a:xfrm>
          <a:prstGeom prst="ellipse">
            <a:avLst/>
          </a:prstGeom>
          <a:solidFill>
            <a:srgbClr val="1B3B6F"/>
          </a:solidFill>
          <a:ln w="12700">
            <a:solidFill>
              <a:srgbClr val="1B3B6F"/>
            </a:solidFill>
            <a:prstDash val="solid"/>
          </a:ln>
        </p:spPr>
      </p:sp>
      <p:sp>
        <p:nvSpPr>
          <p:cNvPr id="93" name="Text 9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4" name="Text 9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Case: complete — </a:t>
            </a:r>
            <a:pPr algn="l" indent="0" marL="0">
              <a:buNone/>
            </a:pPr>
            <a:r>
              <a:rPr lang="ar-SA" altLang="en-US" sz="1650" b="1" dirty="0">
                <a:solidFill>
                  <a:srgbClr val="1B3B6F"/>
                </a:solidFill>
                <a:latin typeface="Amiri" pitchFamily="2" charset="-78"/>
                <a:cs typeface="Amiri" pitchFamily="2" charset="-78"/>
              </a:rPr>
              <a:t>لَا يُمْكِنُ إِنْكَارُ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ثَرْوَةٌ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95" name="Shape 93"/>
          <p:cNvSpPr/>
          <p:nvPr/>
        </p:nvSpPr>
        <p:spPr>
          <a:xfrm>
            <a:off x="8278368" y="4831080"/>
            <a:ext cx="256032" cy="256032"/>
          </a:xfrm>
          <a:prstGeom prst="ellipse">
            <a:avLst/>
          </a:prstGeom>
          <a:solidFill>
            <a:srgbClr val="C9CED6"/>
          </a:solidFill>
          <a:ln w="12700">
            <a:solidFill>
              <a:srgbClr val="C9CED6"/>
            </a:solidFill>
            <a:prstDash val="solid"/>
          </a:ln>
        </p:spPr>
      </p:sp>
      <p:sp>
        <p:nvSpPr>
          <p:cNvPr id="96" name="Text 94"/>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7" name="Text 95"/>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التَّنَوُّعُ</a:t>
            </a:r>
            <a:endParaRPr lang="ar-SA" sz="1700" dirty="0"/>
          </a:p>
        </p:txBody>
      </p:sp>
      <p:sp>
        <p:nvSpPr>
          <p:cNvPr id="98" name="Shape 96"/>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99" name="Shape 97"/>
          <p:cNvSpPr/>
          <p:nvPr/>
        </p:nvSpPr>
        <p:spPr>
          <a:xfrm>
            <a:off x="8278368" y="5202936"/>
            <a:ext cx="256032" cy="256032"/>
          </a:xfrm>
          <a:prstGeom prst="ellipse">
            <a:avLst/>
          </a:prstGeom>
          <a:solidFill>
            <a:srgbClr val="2E8B57"/>
          </a:solidFill>
          <a:ln w="12700">
            <a:solidFill>
              <a:srgbClr val="2E8B57"/>
            </a:solidFill>
            <a:prstDash val="solid"/>
          </a:ln>
        </p:spPr>
      </p:sp>
      <p:sp>
        <p:nvSpPr>
          <p:cNvPr id="100" name="Text 98"/>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1" name="Text 99"/>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التَّنَوُّعَ</a:t>
            </a:r>
            <a:endParaRPr lang="ar-SA" sz="1700" dirty="0"/>
          </a:p>
        </p:txBody>
      </p:sp>
      <p:sp>
        <p:nvSpPr>
          <p:cNvPr id="102" name="Shape 100"/>
          <p:cNvSpPr/>
          <p:nvPr/>
        </p:nvSpPr>
        <p:spPr>
          <a:xfrm>
            <a:off x="8278368" y="5574792"/>
            <a:ext cx="256032" cy="256032"/>
          </a:xfrm>
          <a:prstGeom prst="ellipse">
            <a:avLst/>
          </a:prstGeom>
          <a:solidFill>
            <a:srgbClr val="C9CED6"/>
          </a:solidFill>
          <a:ln w="12700">
            <a:solidFill>
              <a:srgbClr val="C9CED6"/>
            </a:solidFill>
            <a:prstDash val="solid"/>
          </a:ln>
        </p:spPr>
      </p:sp>
      <p:sp>
        <p:nvSpPr>
          <p:cNvPr id="103" name="Text 101"/>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4" name="Text 102"/>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التَّنَوُّعِ</a:t>
            </a:r>
            <a:endParaRPr lang="ar-SA" sz="1700" dirty="0"/>
          </a:p>
        </p:txBody>
      </p:sp>
      <p:sp>
        <p:nvSpPr>
          <p:cNvPr id="105" name="Text 103"/>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takes an accusative noun.</a:t>
            </a:r>
            <a:endParaRPr lang="en-US" sz="1050" dirty="0"/>
          </a:p>
        </p:txBody>
      </p:sp>
      <p:sp>
        <p:nvSpPr>
          <p:cNvPr id="106" name="Text 10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45 / 47</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TE-L11 · Workshop</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TE-L12: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TE-L11</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TE-L12 · Topic E Review and Bridge to Final Revision</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تَقْيِيمٌ</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an assessment</a:t>
            </a:r>
            <a:pPr indent="0" marL="0">
              <a:buNone/>
            </a:pPr>
            <a:r>
              <a:rPr lang="en-US" sz="1000" i="1" dirty="0">
                <a:solidFill>
                  <a:srgbClr val="5A6472"/>
                </a:solidFill>
                <a:latin typeface="Calibri" pitchFamily="34" charset="0"/>
                <a:cs typeface="Amiri" pitchFamily="2" charset="-78"/>
              </a:rPr>
              <a:t>  pl. تَقْيِيمَاتٌ</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فَهْمُ المَسْمُوعِ</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listening comprehension</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فَهْمُ المَقْرُوءِ</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reading comprehension</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المُحَادَثَةُ</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 conversation</a:t>
            </a:r>
            <a:pPr indent="0" marL="0">
              <a:buNone/>
            </a:pPr>
            <a:r>
              <a:rPr lang="en-US" sz="1000" i="1" dirty="0">
                <a:solidFill>
                  <a:srgbClr val="5A6472"/>
                </a:solidFill>
                <a:latin typeface="Calibri" pitchFamily="34" charset="0"/>
                <a:cs typeface="Amiri" pitchFamily="2" charset="-78"/>
              </a:rPr>
              <a:t>  pl. المُحَادَثَاتُ</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أُرَاجِعُ إِجَابَتِي</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 check my answer</a:t>
            </a:r>
            <a:pPr indent="0" marL="0">
              <a:buNone/>
            </a:pPr>
            <a:r>
              <a:rPr lang="en-US" sz="1000" i="1" dirty="0">
                <a:solidFill>
                  <a:srgbClr val="5A6472"/>
                </a:solidFill>
                <a:latin typeface="Calibri" pitchFamily="34" charset="0"/>
                <a:cs typeface="Amiri" pitchFamily="2" charset="-78"/>
              </a:rPr>
              <a:t>  تُرَاجِعُ she</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Prepare three answers for the speaking assessment — one past, one present, one future — each with a reason and one qualifier.</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lnSpc>
                <a:spcPct val="120000"/>
              </a:lnSpc>
              <a:buNone/>
            </a:pPr>
            <a:r>
              <a:rPr lang="ar-SA" altLang="en-US" sz="1700" b="1" dirty="0">
                <a:solidFill>
                  <a:srgbClr val="1B3B6F"/>
                </a:solidFill>
                <a:latin typeface="Amiri" pitchFamily="2" charset="-78"/>
                <a:cs typeface="Amiri" pitchFamily="2" charset="-78"/>
              </a:rPr>
              <a:t>حَضَرْتُ … لِأَنَّ … · نَحْتَفِلُ بِـ … · سَأَزُورُ … · عَلَى حَدِّ عِلْمِي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Learn the cultural verbs with their prepositions; answer the four topic questions aloud.</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Record a 60-second answer with a reason and a qualifier.</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an ≈ 80-word self-review of your Topic E progress.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46 / 47</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TE-L11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cs typeface="Amiri" pitchFamily="2" charset="-78"/>
              </a:rPr>
              <a:t>TE-L12 · Topic E Review and Bridge to Final Revision</a:t>
            </a:r>
            <a:endParaRPr lang="en-US" sz="19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مُرَاجَعَةُ المِحْوَرِ هـ وَالِانْتِقَالُ إِلَى المُرَاجَعَةِ النِّهَائِيَّةِ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revise Topic E for the assessment.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47</Slides>
  <Notes>47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TE-L11 · Topic E Integrated Communication Workshop</dc:title>
  <dc:subject>PptxGenJS Presentation</dc:subject>
  <dc:creator>Al Madina Online School · Arabic Department</dc:creator>
  <cp:lastModifiedBy>Al Madina Online School · Arabic Department</cp:lastModifiedBy>
  <cp:revision>1</cp:revision>
  <dcterms:created xsi:type="dcterms:W3CDTF">2026-10-11T06:44:22Z</dcterms:created>
  <dcterms:modified xsi:type="dcterms:W3CDTF">2026-10-11T06:44:22Z</dcterms:modified>
</cp:coreProperties>
</file>