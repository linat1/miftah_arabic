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TE-L06 — Faith Celebrations and Special Occasions. Website: Advanced Topics › Topic E (The International World) › Lesson 6.
The website builds this lesson on the D6-L03 lesson engine, with the Topic focus “Describe the purpose, practices and personal meaning of celebrations.” (grammar: Past and present; sequencing; object pronouns; skills: Listening · Writing) and the application challenge “Celebration planner”.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TE-L05.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(earlier work: صَامَ → صُمْتُ like زَارَ → زُرْتُ), diptotes (TE-L01: فِي رَمَضَانَ), passive (D4-L03 (website)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the relative clause with fīhi and the broken plural masājid.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TE-L01).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(“Special Occasion Planner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“Special Occasion Planner” — family and a special meal, gifts and visits, a fixed date every year.
Website feedback lines: The celebration includes family and a special meal. · The gifts and family visit match. · The calendar shows an annual occasion.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TE-L07.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(6 min — it takes the speaking-rehearsal slot; the website speaking slide after it is FLEX) — from the website Topic page: “Plan a special occasion using date, activities, food, clothing and greetings. A partner asks follow-up questions and checks the sequence of events.”
Website Topic E challenge “Celebration planner”: plan a special occasion using date, activities, food, clothing and greetings; a partner asks follow-up questions and checks the sequence of events. Any occasion is welcome (Eid, a wedding, a birthday, a national day); students who prefer not to share family details invent an occasion.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(TE-L07 · National Festivals and Traditions) will spend class time USING this language, so students prepare it tonight — short, simple, easy to access (school guidance: “Simple, Short, Interesting, Relevant, Easy to access”). The five words come from the website TE-L07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E  ·  TE-L06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TE-L06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ea typeface="Cambria" pitchFamily="34" charset="-122"/>
                <a:cs typeface="Cambria" pitchFamily="34" charset="-120"/>
              </a:rPr>
              <a:t>Faith Celebrations and Special Occasions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الِاحْتِفَالَاتُ الدِّينِيَّةُ وَالمُنَاسَبَاتُ الخَاصَّةُ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purpose, practices and personal meaning of celebrations.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TE-L06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E › TE-L06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TE-L07.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مُنَاسَبَةٌ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place of worship</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belief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احْتِفَالٌ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celebration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هَدِيَّةٌ</a:t>
            </a:r>
            <a:pPr algn="l" indent="0" marL="0">
              <a:buNone/>
            </a:pPr>
            <a:r>
              <a:rPr lang="en-US" sz="1250" b="1" dirty="0">
                <a:solidFill>
                  <a:srgbClr val="1B3B6F"/>
                </a:solidFill>
                <a:latin typeface="Calibri" pitchFamily="34" charset="0"/>
                <a:ea typeface="Calibri" pitchFamily="34" charset="-122"/>
                <a:cs typeface="Calibri" pitchFamily="34" charset="-120"/>
              </a:rPr>
              <a:t> mean? (pl. </a:t>
            </a:r>
            <a:pPr algn="l" indent="0" marL="0">
              <a:buNone/>
            </a:pPr>
            <a:r>
              <a:rPr lang="ar-SA" altLang="en-US" sz="1650" b="1" dirty="0">
                <a:solidFill>
                  <a:srgbClr val="1B3B6F"/>
                </a:solidFill>
                <a:latin typeface="Amiri" pitchFamily="34" charset="0"/>
                <a:ea typeface="Amiri" pitchFamily="34" charset="-122"/>
                <a:cs typeface="Amiri" pitchFamily="34" charset="-120"/>
              </a:rPr>
              <a:t>هَدَايَا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guest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gift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الكَنِيسَةُ مَكَانٌ يُصَلِّي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المَسِيحِيُّونَ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مِنْهُ</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مَسَاجِدُ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مَسْجِدَاتٌ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مُسْجِدُونَ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مُنَاسَبَةٌ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place of worship</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belief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احْتِفَالٌ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celebration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gift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هَدِيَّةٌ</a:t>
            </a:r>
            <a:pPr algn="l" indent="0" marL="0">
              <a:buNone/>
            </a:pPr>
            <a:r>
              <a:rPr lang="en-US" sz="1250" b="1" dirty="0">
                <a:solidFill>
                  <a:srgbClr val="1B3B6F"/>
                </a:solidFill>
                <a:latin typeface="Calibri" pitchFamily="34" charset="0"/>
                <a:ea typeface="Calibri" pitchFamily="34" charset="-122"/>
                <a:cs typeface="Calibri" pitchFamily="34" charset="-120"/>
              </a:rPr>
              <a:t> mean? (pl. </a:t>
            </a:r>
            <a:pPr algn="l" indent="0" marL="0">
              <a:buNone/>
            </a:pPr>
            <a:r>
              <a:rPr lang="ar-SA" altLang="en-US" sz="1650" b="1" dirty="0">
                <a:solidFill>
                  <a:srgbClr val="1B3B6F"/>
                </a:solidFill>
                <a:latin typeface="Amiri" pitchFamily="34" charset="0"/>
                <a:ea typeface="Amiri" pitchFamily="34" charset="-122"/>
                <a:cs typeface="Amiri" pitchFamily="34" charset="-120"/>
              </a:rPr>
              <a:t>هَدَايَا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guest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greeting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gift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الكَنِيسَةُ مَكَانٌ يُصَلِّي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المَسِيحِيُّونَ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مِنْهُ</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TE-L05: makān (m.) → fīhi.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plural of </a:t>
            </a:r>
            <a:pPr algn="l" indent="0" marL="0">
              <a:buNone/>
            </a:pPr>
            <a:r>
              <a:rPr lang="ar-SA" altLang="en-US" sz="1650" b="1" dirty="0">
                <a:solidFill>
                  <a:srgbClr val="1B3B6F"/>
                </a:solidFill>
                <a:latin typeface="Amiri" pitchFamily="34" charset="0"/>
                <a:ea typeface="Amiri" pitchFamily="34" charset="-122"/>
                <a:cs typeface="Amiri" pitchFamily="34" charset="-120"/>
              </a:rPr>
              <a:t>مَسْجِدٌ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مَسَاجِدُ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مَسْجِدَاتٌ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مُسْجِدُونَ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TE-L05: a broken plural (masājid).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يُزَيِّنُ النَّاسُ الشَّوَارِعَ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تُزَيَّنُ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passive (</a:t>
            </a:r>
            <a:pPr algn="l" indent="0" marL="0">
              <a:buNone/>
            </a:pPr>
            <a:r>
              <a:rPr lang="ar-SA" altLang="en-US" sz="1700" dirty="0">
                <a:solidFill>
                  <a:srgbClr val="1F2A37"/>
                </a:solidFill>
                <a:latin typeface="Amiri" pitchFamily="34" charset="0"/>
                <a:ea typeface="Amiri" pitchFamily="34" charset="-122"/>
                <a:cs typeface="Amiri" pitchFamily="34" charset="-120"/>
              </a:rPr>
              <a:t>يُزَيَّنُ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تُوَزَّعُ</a:t>
            </a:r>
            <a:pPr algn="l" indent="0" marL="0">
              <a:buNone/>
            </a:pPr>
            <a:r>
              <a:rPr lang="en-US" sz="1300" dirty="0">
                <a:solidFill>
                  <a:srgbClr val="1F2A37"/>
                </a:solidFill>
                <a:latin typeface="Calibri" pitchFamily="34" charset="0"/>
                <a:ea typeface="Calibri" pitchFamily="34" charset="-122"/>
                <a:cs typeface="Calibri" pitchFamily="34" charset="-120"/>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present for general customs and the past for a personal memory (</a:t>
            </a:r>
            <a:pPr algn="l" indent="0" marL="0">
              <a:buNone/>
            </a:pPr>
            <a:r>
              <a:rPr lang="ar-SA" altLang="en-US" sz="1700" dirty="0">
                <a:solidFill>
                  <a:srgbClr val="1F2A37"/>
                </a:solidFill>
                <a:latin typeface="Amiri" pitchFamily="34" charset="0"/>
                <a:ea typeface="Amiri" pitchFamily="34" charset="-122"/>
                <a:cs typeface="Amiri" pitchFamily="34" charset="-120"/>
              </a:rPr>
              <a:t>صُمْتُ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t>
            </a:r>
            <a:pPr algn="l" indent="0" marL="0">
              <a:buNone/>
            </a:pPr>
            <a:r>
              <a:rPr lang="ar-SA" altLang="en-US" sz="1700" b="1" dirty="0">
                <a:solidFill>
                  <a:srgbClr val="C9780A"/>
                </a:solidFill>
                <a:latin typeface="Amiri" pitchFamily="34" charset="0"/>
                <a:ea typeface="Amiri" pitchFamily="34" charset="-122"/>
                <a:cs typeface="Amiri" pitchFamily="34" charset="-120"/>
              </a:rPr>
              <a:t>صُمْتُ / صُمْنَا</a:t>
            </a:r>
            <a:pPr algn="l" indent="0" marL="0">
              <a:buNone/>
            </a:pPr>
            <a:r>
              <a:rPr lang="en-US" sz="1300" b="1" dirty="0">
                <a:solidFill>
                  <a:srgbClr val="C9780A"/>
                </a:solidFill>
                <a:latin typeface="Calibri" pitchFamily="34" charset="0"/>
                <a:ea typeface="Calibri" pitchFamily="34" charset="-122"/>
                <a:cs typeface="Calibri" pitchFamily="34" charset="-120"/>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‎رمضان · روزہ‎ </a:t>
            </a:r>
            <a:pPr indent="0" marL="0">
              <a:buNone/>
            </a:pPr>
            <a:r>
              <a:rPr lang="en-US" sz="950" b="1" dirty="0">
                <a:solidFill>
                  <a:srgbClr val="2E8B57"/>
                </a:solidFill>
                <a:latin typeface="Calibri" pitchFamily="34" charset="0"/>
                <a:ea typeface="Calibri" pitchFamily="34" charset="-122"/>
                <a:cs typeface="Calibri" pitchFamily="34" charset="-120"/>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‎افطار · سحری‎ </a:t>
            </a:r>
            <a:pPr indent="0" marL="0">
              <a:buNone/>
            </a:pPr>
            <a:r>
              <a:rPr lang="en-US" sz="950" b="1" dirty="0">
                <a:solidFill>
                  <a:srgbClr val="2E8B57"/>
                </a:solidFill>
                <a:latin typeface="Calibri" pitchFamily="34" charset="0"/>
                <a:ea typeface="Calibri" pitchFamily="34" charset="-122"/>
                <a:cs typeface="Calibri" pitchFamily="34" charset="-120"/>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‎عیدی‎ </a:t>
            </a:r>
            <a:pPr indent="0" marL="0">
              <a:buNone/>
            </a:pPr>
            <a:r>
              <a:rPr lang="en-US" sz="950" b="1" dirty="0">
                <a:solidFill>
                  <a:srgbClr val="2E8B57"/>
                </a:solidFill>
                <a:latin typeface="Calibri" pitchFamily="34" charset="0"/>
                <a:ea typeface="Calibri" pitchFamily="34" charset="-122"/>
                <a:cs typeface="Calibri" pitchFamily="34" charset="-120"/>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‎صدقہ · فطرانہ‎ </a:t>
            </a:r>
            <a:pPr indent="0" marL="0">
              <a:buNone/>
            </a:pPr>
            <a:r>
              <a:rPr lang="en-US" sz="950" b="1" dirty="0">
                <a:solidFill>
                  <a:srgbClr val="2E8B57"/>
                </a:solidFill>
                <a:latin typeface="Calibri" pitchFamily="34" charset="0"/>
                <a:ea typeface="Calibri" pitchFamily="34" charset="-122"/>
                <a:cs typeface="Calibri" pitchFamily="34" charset="-120"/>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‎تراویح · شبِ قدر‎ </a:t>
            </a:r>
            <a:pPr indent="0" marL="0">
              <a:buNone/>
            </a:pPr>
            <a:r>
              <a:rPr lang="en-US" sz="950" b="1" dirty="0">
                <a:solidFill>
                  <a:srgbClr val="2E8B57"/>
                </a:solidFill>
                <a:latin typeface="Calibri" pitchFamily="34" charset="0"/>
                <a:ea typeface="Calibri" pitchFamily="34" charset="-122"/>
                <a:cs typeface="Calibri" pitchFamily="34" charset="-120"/>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diptote: </a:t>
            </a:r>
            <a:pPr algn="l" indent="0" marL="0">
              <a:buNone/>
            </a:pPr>
            <a:r>
              <a:rPr lang="ar-SA" altLang="en-US" sz="1300" dirty="0">
                <a:solidFill>
                  <a:srgbClr val="8A6D1E"/>
                </a:solidFill>
                <a:latin typeface="Amiri" pitchFamily="34" charset="0"/>
                <a:ea typeface="Amiri" pitchFamily="34" charset="-122"/>
                <a:cs typeface="Amiri" pitchFamily="34" charset="-120"/>
              </a:rPr>
              <a:t>فِي رَمَضَانَ</a:t>
            </a:r>
            <a:pPr algn="l" indent="0" marL="0">
              <a:buNone/>
            </a:pPr>
            <a:r>
              <a:rPr lang="en-US" sz="1000" i="1" dirty="0">
                <a:solidFill>
                  <a:srgbClr val="8A6D1E"/>
                </a:solidFill>
                <a:latin typeface="Calibri" pitchFamily="34" charset="0"/>
                <a:ea typeface="Calibri" pitchFamily="34" charset="-122"/>
                <a:cs typeface="Calibri" pitchFamily="34" charset="-120"/>
              </a:rPr>
              <a:t>, never </a:t>
            </a:r>
            <a:pPr algn="l" indent="0" marL="0">
              <a:buNone/>
            </a:pPr>
            <a:r>
              <a:rPr lang="ar-SA" altLang="en-US" sz="1300" dirty="0">
                <a:solidFill>
                  <a:srgbClr val="8A6D1E"/>
                </a:solidFill>
                <a:latin typeface="Amiri" pitchFamily="34" charset="0"/>
                <a:ea typeface="Amiri" pitchFamily="34" charset="-122"/>
                <a:cs typeface="Amiri" pitchFamily="34" charset="-120"/>
              </a:rPr>
              <a:t>رَمَضَانٍ</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fasts / fasted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breaks the fast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iftar, the evening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suhoor, the pre-dawn meal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crescent moon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lanterns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of </a:t>
            </a:r>
            <a:pPr algn="l" indent="0" marL="0">
              <a:buNone/>
            </a:pPr>
            <a:r>
              <a:rPr lang="ar-SA" altLang="en-US" sz="1300" dirty="0">
                <a:solidFill>
                  <a:srgbClr val="8A6D1E"/>
                </a:solidFill>
                <a:latin typeface="Amiri" pitchFamily="34" charset="0"/>
                <a:ea typeface="Amiri" pitchFamily="34" charset="-122"/>
                <a:cs typeface="Amiri" pitchFamily="34" charset="-120"/>
              </a:rPr>
              <a:t>فَانُوسٌ</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Laylat al-Qadr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prays Tarawih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spirit of Ramadan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al-Adha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prayer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Eid takbirs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zakat al-Fitr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Eid money given to children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gives charity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congratulations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sweets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visiting relatives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distributed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are held (of events)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prepared, is considered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dining table, spread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مَوَائِدُ</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يُزَيَّنُ</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الشَّارِعُ</a:t>
            </a:r>
            <a:pPr rtl="1" algn="ctr" indent="0" marL="0">
              <a:buNone/>
            </a:pPr>
            <a:r>
              <a:rPr lang="ar-SA" altLang="en-US" sz="1950" b="1" dirty="0">
                <a:solidFill>
                  <a:srgbClr val="1B3B6F"/>
                </a:solidFill>
                <a:latin typeface="Amiri" pitchFamily="34" charset="0"/>
                <a:ea typeface="Amiri" pitchFamily="34" charset="-122"/>
                <a:cs typeface="Amiri" pitchFamily="34" charset="-120"/>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تُوَزَّعُ</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الحَلْوَى</a:t>
            </a:r>
            <a:pPr rtl="1" algn="ctr" indent="0" marL="0">
              <a:buNone/>
            </a:pPr>
            <a:r>
              <a:rPr lang="ar-SA" altLang="en-US" sz="1950" b="1" dirty="0">
                <a:solidFill>
                  <a:srgbClr val="1B3B6F"/>
                </a:solidFill>
                <a:latin typeface="Amiri" pitchFamily="34" charset="0"/>
                <a:ea typeface="Amiri" pitchFamily="34" charset="-122"/>
                <a:cs typeface="Amiri" pitchFamily="34" charset="-120"/>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تُتَبَادَلُ</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التَّهَانِي</a:t>
            </a:r>
            <a:pPr rtl="1" algn="ctr" indent="0" marL="0">
              <a:buNone/>
            </a:pPr>
            <a:r>
              <a:rPr lang="ar-SA" altLang="en-US" sz="1950" b="1" dirty="0">
                <a:solidFill>
                  <a:srgbClr val="1B3B6F"/>
                </a:solidFill>
                <a:latin typeface="Amiri" pitchFamily="34" charset="0"/>
                <a:ea typeface="Amiri" pitchFamily="34" charset="-122"/>
                <a:cs typeface="Amiri" pitchFamily="34" charset="-120"/>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تُقَامُ</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صَلَاةُ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تُعَدُّ</a:t>
            </a:r>
            <a:pPr rtl="1" algn="ctr" indent="0" marL="0">
              <a:buNone/>
            </a:pPr>
            <a:r>
              <a:rPr lang="ar-SA" altLang="en-US" sz="1950" b="1" dirty="0">
                <a:solidFill>
                  <a:srgbClr val="1B3B6F"/>
                </a:solidFill>
                <a:latin typeface="Amiri" pitchFamily="34" charset="0"/>
                <a:ea typeface="Amiri" pitchFamily="34" charset="-122"/>
                <a:cs typeface="Amiri" pitchFamily="34" charset="-120"/>
              </a:rPr>
              <a:t> </a:t>
            </a:r>
            <a:pPr rtl="1" algn="ctr" indent="0" marL="0">
              <a:buNone/>
            </a:pPr>
            <a:r>
              <a:rPr lang="ar-SA" altLang="en-US" sz="1950" b="1" dirty="0">
                <a:solidFill>
                  <a:srgbClr val="D6336C"/>
                </a:solidFill>
                <a:latin typeface="Amiri" pitchFamily="34" charset="0"/>
                <a:ea typeface="Amiri" pitchFamily="34" charset="-122"/>
                <a:cs typeface="Amiri" pitchFamily="34" charset="-120"/>
              </a:rPr>
              <a:t>المَائِدَةُ</a:t>
            </a:r>
            <a:pPr rtl="1" algn="ctr" indent="0" marL="0">
              <a:buNone/>
            </a:pPr>
            <a:r>
              <a:rPr lang="ar-SA" altLang="en-US" sz="1950" b="1" dirty="0">
                <a:solidFill>
                  <a:srgbClr val="1B3B6F"/>
                </a:solidFill>
                <a:latin typeface="Amiri" pitchFamily="34" charset="0"/>
                <a:ea typeface="Amiri" pitchFamily="34" charset="-122"/>
                <a:cs typeface="Amiri" pitchFamily="34" charset="-120"/>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form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thing affected becomes the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يَصُومُ</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تُعَدُّ</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فِي بَعْضِ البُلْدَانِ</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34" charset="0"/>
                <a:ea typeface="Amiri" pitchFamily="34" charset="-122"/>
                <a:cs typeface="Amiri" pitchFamily="34" charset="-120"/>
              </a:rPr>
              <a:t>زُرْنَا</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يَصُومُ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تُعَدُّ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المَائِدَةُ وَيَجْتَمِعُ الأَقَارِبُ عَلَى الإِفْطَارِ.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تُزَيَّنُ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الشَّوَارِعُ بِالفَوَانِيسِ. وَفِي عِيدِ الفِطْرِ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تُقَامُ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صَلَاةُ العِيدِ صَبَاحًا، وَقَدْ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زُرْنَا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street is decorated with lanterns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Muslims fast in Ramadan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fasted for the first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ea typeface="Calibri" pitchFamily="34" charset="-122"/>
                <a:cs typeface="Calibri" pitchFamily="34" charset="-120"/>
              </a:rPr>
              <a:t>WE DO · PICTURE MATCH · WEBSITE GAME “SPECIAL OCCASION PLANNER (TOPIC GAME)”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Plan the occasion: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 special meal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gifts + visits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every year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نَتَبَادَلُ الْهَدَايَا وَنَزُورُ الأَقَارِبَ.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تَحْدُثُ الْمُنَاسَبَةُ فِي تَارِيخٍ مُحَدَّدٍ كُلَّ عَامٍ.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نَجْتَمِعُ مَعَ الأُسْرَةِ وَنَتَنَاوَلُ طَعَامًا خَاصًّا فِي الْمُنَاسَبَةِ.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مُخَطِّطُ الْمُنَاسَبَةِ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 special meal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نَجْتَمِعُ مَعَ الأُسْرَةِ وَنَتَنَاوَلُ طَعَامًا خَاصًّا فِي الْمُنَاسَبَةِ.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gather with the family and eat a special meal on the occasion.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gifts + visits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نَتَبَادَلُ الْهَدَايَا وَنَزُورُ الأَقَارِبَ.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exchange gifts and visit relatives.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every year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تَحْدُثُ الْمُنَاسَبَةُ فِي تَارِيخٍ مُحَدَّدٍ كُلَّ عَامٍ.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occasion takes place on a set date every year.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verb agrees with the nominative subject </a:t>
            </a:r>
            <a:pPr algn="l" indent="0" marL="0">
              <a:buNone/>
            </a:pPr>
            <a:r>
              <a:rPr lang="ar-SA" altLang="en-US" sz="1350" dirty="0">
                <a:solidFill>
                  <a:srgbClr val="8A6D1E"/>
                </a:solidFill>
                <a:latin typeface="Amiri" pitchFamily="34" charset="0"/>
                <a:ea typeface="Amiri" pitchFamily="34" charset="-122"/>
                <a:cs typeface="Amiri" pitchFamily="34" charset="-120"/>
              </a:rPr>
              <a:t>التَّهَانِي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الحَلْوَى عَلَى الجِيرَانِ فِي أَوَّلِ أَيَّامِ 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الحَلْوَى</a:t>
            </a:r>
            <a:pPr algn="l" indent="0" marL="0">
              <a:buNone/>
            </a:pPr>
            <a:r>
              <a:rPr lang="en-US" sz="1050" i="1" dirty="0">
                <a:solidFill>
                  <a:srgbClr val="8A6D1E"/>
                </a:solidFill>
                <a:latin typeface="Calibri" pitchFamily="34" charset="0"/>
                <a:ea typeface="Calibri" pitchFamily="34" charset="-122"/>
                <a:cs typeface="Calibri" pitchFamily="34" charset="-120"/>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صَامَ</a:t>
            </a:r>
            <a:pPr algn="l" indent="0" marL="0">
              <a:buNone/>
            </a:pPr>
            <a:r>
              <a:rPr lang="en-US" sz="1150" b="1" dirty="0">
                <a:solidFill>
                  <a:srgbClr val="1B3B6F"/>
                </a:solidFill>
                <a:latin typeface="Calibri" pitchFamily="34" charset="0"/>
                <a:ea typeface="Calibri" pitchFamily="34" charset="-122"/>
                <a:cs typeface="Calibri" pitchFamily="34" charset="-120"/>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رَمَضَان</a:t>
            </a:r>
            <a:pPr algn="l" indent="0" marL="0">
              <a:buNone/>
            </a:pPr>
            <a:r>
              <a:rPr lang="en-US" sz="1150" b="1" dirty="0">
                <a:solidFill>
                  <a:srgbClr val="1B3B6F"/>
                </a:solidFill>
                <a:latin typeface="Calibri" pitchFamily="34" charset="0"/>
                <a:ea typeface="Calibri" pitchFamily="34" charset="-122"/>
                <a:cs typeface="Calibri" pitchFamily="34" charset="-120"/>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4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Celebration planner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Celebration planner</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Plan a special occasion using date, activities, food, clothing and greetings. A partner asks follow-up questions and checks the sequence of events.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plan a special occasion: date, activities, food, clothing and greetings.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it as a short sequence: awwalan … thumma … baʿda dhālika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partner asks two follow-up questions (matā? mādhā talbasūn?).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Check the order of events and one passive verb (tuzayyan / tuwazzaʿ).</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steps in the present: “najtamiʿu … thumma nakulu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steps with sequencing words and one passive verb.</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plan + a past memory (iḥtafalnā …) and an object pronoun (nuʿṭīhā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أَوَّلًا … ثُمَّ … بَعْدَ ذٰلِكَ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first … then … after that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نَتَبَادَلُ الهَدَايَا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 exchange gifts</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تُزَيَّنُ البُيُوتُ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houses are decorated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عِيدٌ مُبَارَكٌ! / كُلُّ عَامٍ وَأَنْتُمْ بِخَيْرٍ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Eid Mubarak! / many happy returns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describe a celebration accurately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مَا يَحْدُثُ عَادَةً فِي رَمَضَانَ. اِسْتَعْمِلْ فِعْلًا مَبْنِيًّا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تَخْتَلِفُ العَادَاتُ مِنْ بَلَدٍ إِلَى بَلَدٍ؟ أَعْطِ مِثَالًا.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حَضَرْتَهَا بِنَفْسِكَ، مُسْتَعْمِلًا الفِعْلَ المَاضِيَ.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34" charset="0"/>
                <a:ea typeface="Amiri" pitchFamily="34" charset="-122"/>
                <a:cs typeface="Amiri" pitchFamily="34" charset="-120"/>
              </a:rPr>
              <a:t>فِي رَمَضَانَ يَصُومُ المُسْلِمُونَ ، وَتُعَدُّ ___ .</a:t>
            </a:r>
            <a:endParaRPr lang="ar-SA" sz="15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بَعْضِ البُلْدَانِ ___ ، بَيْنَمَا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العِيدِ المَاضِي ___ ، وَكَانَ يَوْمًا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مَا يَحْدُثُ عَادَةً فِي رَمَضَانَ.</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what usually happens in Ramadan.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يَصُومُ المُسْلِمُونَ مِنَ الفَجْرِ إِلَى المَغْرِبِ، وَفِي بَعْضِ البُلْدَانِ تُزَيَّنُ الشَّوَارِعُ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Muslims fast from dawn to sunset, and in some countries the streets are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past-tense sentence, with a correctly shortened hollow verb if you use </a:t>
            </a:r>
            <a:pPr algn="l" indent="0" marL="0">
              <a:buNone/>
            </a:pPr>
            <a:r>
              <a:rPr lang="ar-SA" altLang="en-US" sz="1550" dirty="0">
                <a:solidFill>
                  <a:srgbClr val="1F2A37"/>
                </a:solidFill>
                <a:latin typeface="Amiri" pitchFamily="34" charset="0"/>
                <a:ea typeface="Amiri" pitchFamily="34" charset="-122"/>
                <a:cs typeface="Amiri" pitchFamily="34" charset="-120"/>
              </a:rPr>
              <a:t>صَامَ</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hedge such as </a:t>
            </a:r>
            <a:pPr algn="l" indent="0" marL="0">
              <a:buNone/>
            </a:pPr>
            <a:r>
              <a:rPr lang="ar-SA" altLang="en-US" sz="1550" dirty="0">
                <a:solidFill>
                  <a:srgbClr val="1F2A37"/>
                </a:solidFill>
                <a:latin typeface="Amiri" pitchFamily="34" charset="0"/>
                <a:ea typeface="Amiri" pitchFamily="34" charset="-122"/>
                <a:cs typeface="Amiri" pitchFamily="34" charset="-120"/>
              </a:rPr>
              <a:t>فِي بَعْضِ البُلْدَانِ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لَيْسَ دَائِمًا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34" charset="0"/>
                <a:ea typeface="Amiri" pitchFamily="34" charset="-122"/>
                <a:cs typeface="Amiri" pitchFamily="34" charset="-120"/>
              </a:rPr>
              <a:t>رَمَضَانَ</a:t>
            </a:r>
            <a:pPr algn="l" indent="0" marL="0">
              <a:buNone/>
            </a:pPr>
            <a:r>
              <a:rPr lang="en-US" sz="1300" dirty="0">
                <a:solidFill>
                  <a:srgbClr val="1F2A37"/>
                </a:solidFill>
                <a:latin typeface="Calibri" pitchFamily="34" charset="0"/>
                <a:ea typeface="Calibri" pitchFamily="34" charset="-122"/>
                <a:cs typeface="Calibri" pitchFamily="34" charset="-120"/>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verb agrees in gender (</a:t>
            </a:r>
            <a:pPr algn="l" indent="0" marL="0">
              <a:buNone/>
            </a:pPr>
            <a:r>
              <a:rPr lang="ar-SA" altLang="en-US" sz="1700" dirty="0">
                <a:solidFill>
                  <a:srgbClr val="1F2A37"/>
                </a:solidFill>
                <a:latin typeface="Amiri" pitchFamily="34" charset="0"/>
                <a:ea typeface="Amiri" pitchFamily="34" charset="-122"/>
                <a:cs typeface="Amiri" pitchFamily="34" charset="-120"/>
              </a:rPr>
              <a:t>تُزَيَّنُ الشَّوَارِعُ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past memory (</a:t>
            </a:r>
            <a:pPr algn="l" indent="0" marL="0">
              <a:buNone/>
            </a:pPr>
            <a:r>
              <a:rPr lang="ar-SA" altLang="en-US" sz="1700" dirty="0">
                <a:solidFill>
                  <a:srgbClr val="1F2A37"/>
                </a:solidFill>
                <a:latin typeface="Amiri" pitchFamily="34" charset="0"/>
                <a:ea typeface="Amiri" pitchFamily="34" charset="-122"/>
                <a:cs typeface="Amiri" pitchFamily="34" charset="-120"/>
              </a:rPr>
              <a:t>صُمْتُ</a:t>
            </a:r>
            <a:pPr algn="l" indent="0" marL="0">
              <a:buNone/>
            </a:pPr>
            <a:r>
              <a:rPr lang="en-US" sz="1300" dirty="0">
                <a:solidFill>
                  <a:srgbClr val="1F2A37"/>
                </a:solidFill>
                <a:latin typeface="Calibri" pitchFamily="34" charset="0"/>
                <a:ea typeface="Calibri" pitchFamily="34" charset="-122"/>
                <a:cs typeface="Calibri" pitchFamily="34" charset="-120"/>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verb takes a nominative subject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 فِي</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صُمْـ</a:t>
            </a:r>
            <a:pPr algn="l" indent="0" marL="0">
              <a:buNone/>
            </a:pPr>
            <a:r>
              <a:rPr lang="en-US" sz="1050" i="1" dirty="0">
                <a:solidFill>
                  <a:srgbClr val="8A6D1E"/>
                </a:solidFill>
                <a:latin typeface="Calibri" pitchFamily="34" charset="0"/>
                <a:ea typeface="Calibri" pitchFamily="34" charset="-122"/>
                <a:cs typeface="Calibri" pitchFamily="34" charset="-120"/>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the passive of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يُزَيَّنُ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بِالفَوَانِيسِ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Diptote: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يَصُومُ النَّاسُ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رَمَضَان</a:t>
            </a:r>
            <a:pPr algn="l" indent="0" marL="0">
              <a:buNone/>
            </a:pPr>
            <a:r>
              <a:rPr lang="en-US" sz="1050" i="1" dirty="0">
                <a:solidFill>
                  <a:srgbClr val="8A6D1E"/>
                </a:solidFill>
                <a:latin typeface="Calibri" pitchFamily="34" charset="0"/>
                <a:ea typeface="Calibri" pitchFamily="34" charset="-122"/>
                <a:cs typeface="Calibri" pitchFamily="34" charset="-120"/>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السَّحُور</a:t>
            </a:r>
            <a:pPr algn="l" indent="0" marL="0">
              <a:buNone/>
            </a:pPr>
            <a:r>
              <a:rPr lang="en-US" sz="1050" i="1" dirty="0">
                <a:solidFill>
                  <a:srgbClr val="8A6D1E"/>
                </a:solidFill>
                <a:latin typeface="Calibri" pitchFamily="34" charset="0"/>
                <a:ea typeface="Calibri" pitchFamily="34" charset="-122"/>
                <a:cs typeface="Calibri" pitchFamily="34" charset="-120"/>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العِيدِيَّة</a:t>
            </a:r>
            <a:pPr algn="l" indent="0" marL="0">
              <a:buNone/>
            </a:pPr>
            <a:r>
              <a:rPr lang="en-US" sz="1050" i="1" dirty="0">
                <a:solidFill>
                  <a:srgbClr val="8A6D1E"/>
                </a:solidFill>
                <a:latin typeface="Calibri" pitchFamily="34" charset="0"/>
                <a:ea typeface="Calibri" pitchFamily="34" charset="-122"/>
                <a:cs typeface="Calibri" pitchFamily="34" charset="-120"/>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صَامَ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TE-L06 · Celebrations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TE-L07: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E · The International World · TE-L06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TE-L07 · National Festivals and Traditions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Christmas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church</a:t>
            </a:r>
            <a:pPr indent="0" marL="0">
              <a:buNone/>
            </a:pPr>
            <a:r>
              <a:rPr lang="en-US" sz="1000" i="1" dirty="0">
                <a:solidFill>
                  <a:srgbClr val="5A6472"/>
                </a:solidFill>
                <a:latin typeface="Calibri" pitchFamily="34" charset="0"/>
                <a:ea typeface="Calibri" pitchFamily="34" charset="-122"/>
                <a:cs typeface="Calibri" pitchFamily="34" charset="-120"/>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festival</a:t>
            </a:r>
            <a:pPr indent="0" marL="0">
              <a:buNone/>
            </a:pPr>
            <a:r>
              <a:rPr lang="en-US" sz="1000" i="1" dirty="0">
                <a:solidFill>
                  <a:srgbClr val="5A6472"/>
                </a:solidFill>
                <a:latin typeface="Calibri" pitchFamily="34" charset="0"/>
                <a:ea typeface="Calibri" pitchFamily="34" charset="-122"/>
                <a:cs typeface="Calibri" pitchFamily="34" charset="-120"/>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coexistence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respects difference</a:t>
            </a:r>
            <a:pPr indent="0" marL="0">
              <a:buNone/>
            </a:pPr>
            <a:r>
              <a:rPr lang="en-US" sz="1000" i="1" dirty="0">
                <a:solidFill>
                  <a:srgbClr val="5A6472"/>
                </a:solidFill>
                <a:latin typeface="Calibri" pitchFamily="34" charset="0"/>
                <a:ea typeface="Calibri" pitchFamily="34" charset="-122"/>
                <a:cs typeface="Calibri" pitchFamily="34" charset="-120"/>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TE-L06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ea typeface="Cambria" pitchFamily="34" charset="-122"/>
                <a:cs typeface="Cambria" pitchFamily="34" charset="-120"/>
              </a:rPr>
              <a:t>TE-L07 · National Festivals and Traditions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الأَعْيَادُ الوَطَنِيَّةُ وَالتَّقَالِيدُ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TE-L07.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TE-L06 · Faith Celebrations and Special Occasions</dc:title>
  <dc:subject>PptxGenJS Presentation</dc:subject>
  <dc:creator>Al Madina Online School · Arabic Department</dc:creator>
  <cp:lastModifiedBy>Al Madina Online School · Arabic Department</cp:lastModifiedBy>
  <cp:revision>1</cp:revision>
  <dcterms:created xsi:type="dcterms:W3CDTF">2026-10-11T04:23:25Z</dcterms:created>
  <dcterms:modified xsi:type="dcterms:W3CDTF">2026-10-11T04:23:25Z</dcterms:modified>
</cp:coreProperties>
</file>