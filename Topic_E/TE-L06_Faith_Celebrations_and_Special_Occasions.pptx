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E · TE-L06 — Faith Celebrations and Special Occasions. Website: Advanced Topics › Topic E (The International World) › Lesson 6.
The website builds this lesson on the D6-L03 lesson engine, with the Topic focus “Describe the purpose, practices and personal meaning of celebrations.” (grammar: Past and present; sequencing; object pronouns; skills: Listening · Writing) and the application challenge “Celebration planner”.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E Countries, Cultures and Celebrations › TE-L05. The website lesson “Islamic Celebrations — Eid, Ramadan and Religious Occasions”: vocabulary, grammar rules and quiz, patterns, common mistakes, sorter, listening, reading, speaking prompts and model, writing task and model, differentiation, final check and the lesson mission. Picture match: website visual game “Islamic Celebrations — Eid, Ramadan and Religious Occasions”.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Ramadan and Eid words + six present-tense sentences (يَصُومُ المُسْلِمُونَ فِي رَمَضَانَ). Develop: two passive verbs with nominative subjects (تُزَيَّنُ الشَّوَارِعُ). Stretch: the website 80–90-word description with a personal memory in the past (صُمْتُ …) and a hedge.
• This is a lesson students know from the inside: draw on their own Ramadan and Eid experiences, family customs and countries of origin. The hedge (فِي بَعْضِ البُلْدَانِ) is about CUSTOMS (lanterns, sweets, Eid money) — the acts of worship (fasting, Eid prayer, zakat al-Fitr) are shared.
• Grammar links: hollow verbs (earlier work: صَامَ → صُمْتُ like زَارَ → زُرْتُ), diptotes (TE-L01: فِي رَمَضَانَ), passive (D4-L03 (website) / L06).
• TEACHER-WRITTEN ITEMS: English added to the patterns and speaking model (quiz items that differ only in vowels test the passive and case endings themselves, so they are kept).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TE-L05. Questions 4–5 retrieve TE-L05: the relative clause with fīhi and the broken plural masājid.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passive puts the CUSTOM first — the doer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almost every word today is shared — افطار، سحری، عیدی، صدقہ، تراویح. Urdu shab-e-qadr = Arabic لَيْلَةُ القَدْرِ (Persian شب = night = Arabic لَيْلَةٌ). Urdu roza = Arabic صَوْمٌ / صِيَامٌ.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Ramadan (website vocabulary (1 of 2)). Hear → Say → See → Use. Transliteration is printed for Core students (cover it for Develop/Stretch).
Ramadan. رَمَضَانُ is a diptote: فِي رَمَضَانَ (never رَمَضَانٍ). صَامَ is hollow: صُمْتُ · صُمْنَا.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Ramadan (website vocabulary (2 of 2)). Hear → Say → See → Use. Transliteration is printed for Core students (cover it for Develop/Stretch).
Ramadan. رَمَضَانُ is a diptote: فِي رَمَضَانَ (never رَمَضَانٍ). صَامَ is hollow: صُمْتُ · صُمْنَا.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two Eids (website vocabulary (1 of 2)). Hear → Say → See → Use. Transliteration is printed for Core students (cover it for Develop/Stretch).
The two Eids: the acts of worship (Eid prayer, takbirs, zakat al-Fitr) and the family customs (Eid money, sweets,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two Eids (website vocabulary (2 of 2)). Hear → Say → See → Use. Transliteration is printed for Core students (cover it for Develop/Stretch).
The two Eids: the acts of worship (Eid prayer, takbirs, zakat al-Fitr) and the family customs (Eid money, sweets,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cultural passive (website vocabulary (1 of 2)). Hear → Say → See → Use. Transliteration is printed for Core students (cover it for Develop/Stretch).
The cultural passive: cards show the active verb too. The doer disappears; the custom becomes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cultural passive (website vocabulary (2 of 2)). Hear → Say → See → Use. Transliteration is printed for Core students (cover it for Develop/Stretch).
The cultural passive: cards show the active verb too. The doer disappears; the custom becomes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“Forming the present passive” (يُفَعِّلُ → يُفَعَّلُ: the prefix takes a ḍamma and the letter before the ending a fatḥa; no extra word) and “The passive verb agrees with the thing affected” (the former object becomes the nominative subject; the verb agrees with it in gender). Website teaching point: “The passive changes the vowels, not the letters.”
Website mistake: يُزَيَّنُ الشَّارِعَ ✗ → الشَّارِعُ. Note الحَلْوَى is feminine → تُوَزَّعُ.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“Present for the general custom” (add a hedge where the custom is regional) and “Past for personal experience” (صَامَ is hollow: صُمْتُ، صُمْنَا). Website teaching point: “General custom in the present, personal memory in the past.”
Website mistake 3: فِي رَمَضَانٍ ✗ → فِي رَمَضَانَ (diptote, TE-L01).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“One new structure and one choice: form the passive by changing the vowel pattern, and decide between present for the general custom and past for your own memory.”
• Forming the present passive: The prefix takes a ḍamma and the letter before the ending takes a fatḥa. No extra word is added.
• The passive verb agrees with the thing affected: What was the object becomes the subject and is nominative. The verb agrees with it in gender.
• Present for the general custom: Use the present for what happens each year, and add a hedge where the custom is regional.
• Past for personal experience: صَامَ is hollow, so the middle vowel shortens: صُمْتُ، صُمْنَا.
Website common error: Leaving the affected noun in the accusative after a passive verb. Once the verb is passive, that noun becomes the subject and must be nominative: يُزَيَّنُ الشَّارِعُ, not الشَّارِعَ.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at each verb: “Every year or my memory? Who does it — does it matter? Then the passive.” Students add one sentence about their own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(“Special Occasion Planner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“Special Occasion Planner” — family and a special meal, gifts and visits, a fixed date every year.
Website feedback lines: The celebration includes family and a special meal. · The gifts and family visit match. · The calendar shows an annual occasion.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(“Special Occasion Planner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“Special Occasion Planner” — family and a special meal, gifts and visits, a fixed date every year.
Website feedback lines: The celebration includes family and a special meal. · The gifts and family visit match. · The calendar shows an annual occasion.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Islamic Celebrations — Eid, Ramadan and Religious Occasions”)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two Eids and the family). Then turn each into a passive: تُقَامُ صَلَاةُ العِيدِ · تُتَبَادَلُ الهَدَايَا. The other website cards (a birthday, a graduation, gifts) lead into TE-L07.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Islamic Celebrations — Eid, Ramadan and Religious Occasions”)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two Eids and the family). Then turn each into a passive: تُقَامُ صَلَاةُ العِيدِ · تُتَبَادَلُ الهَدَايَا. The other website cards (a birthday, a graduation, gifts) lead into TE-L07.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passive sentence about YOUR family’s Ramadan or 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passive sentence about YOUR family’s Ramadan or 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4 and 5. Develop / Stretch: all 5 — and list the passive verbs you hear.
Listen 1: just listen. Listen 2: note answers. Then chat the letters.
Support: after the second listening, show the read-along slide (Arabic + English, line by line) for Core students.
SCRIPT (read aloud):
فِي رَمَضَانَ يَصُومُ المُسْلِمُونَ مِنَ الفَجْرِ إِلَى المَغْرِبِ، ثُمَّ يُفْطِرُونَ مَعًا. عِنْدَنَا تُعَدُّ المَائِدَةُ قَبْلَ المَغْرِبِ بِقَلِيلٍ، وَيَجْتَمِعُ الأَقَارِبُ وَالجِيرَانُ. وَفِي بَعْضِ البُلْدَانِ تُزَيَّنُ الشَّوَارِعُ بِالفَوَانِيسِ، وَلٰكِنْ لَيْسَ دَائِمًا؛ فَالعَادَاتُ تَخْتَلِفُ. أَنَا صُمْتُ لِأَوَّلِ مَرَّةٍ عِنْدَمَا كُنْتُ فِي السَّابِعَةِ، وَكَانَتْ تَجْرِبَةً لَا تُنْسَى. وَفِي عِيدِ الفِطْرِ تُقَامُ صَلَاةُ العِيدِ صَبَاحًا، وَتُتَبَادَلُ التَّهَانِي، وَتُوَزَّعُ الحَلْوَى عَلَى الجِيرَانِ، وَيَأْخُذُ الأَطْفَالُ العِيدِيَّةَ.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APPLICATION CHALLENGE (6 min — it takes the speaking-rehearsal slot; the website speaking slide after it is FLEX) — from the website Topic page: “Plan a special occasion using date, activities, food, clothing and greetings. A partner asks follow-up questions and checks the sequence of events.”
Website Topic E challenge “Celebration planner”: plan a special occasion using date, activities, food, clothing and greetings; a partner asks follow-up questions and checks the sequence of events. Any occasion is welcome (Eid, a wedding, a birthday, a national day); students who prefer not to share family details invent an occasion.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حَضَرْتَ مُنَاسَبَةً بِنَفْسِكَ؟ (And have you attended an occasion yourself?)
B: نَعَمْ، صُمْتُ لِأَوَّلِ مَرَّةٍ وَأَنَا صَغِيرٌ، وَزُرْنَا الأَقَارِبَ فِي أَوَّلِ أَيَّامِ العِيدِ. (Yes, I fasted for the first time when I was little, and we visited relatives on the first day of Eid.)
Website prompts and model: general custom (present + passive + hedge) → personal memory (past, hollow verb). Invite students to compare Ramadan in their family’s country of origin with Ramadan here. To a girl: صِفِي · أَعْطِي · حَضَرْتِهَا · مُسْتَعْمِلَةً.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six sentences naming Ramadan and Eid customs in the present tense. · Develop — Add two passive verbs with accurate nominative subjects. · Stretch — Add a past-tense personal memory and a hedge that acknowledges regional difference.
Website writing task (Stretch): Write eighty to ninety words describing Ramadan and Eid. Use the present tense for the general customs, at least two passive verbs, one past-tense sentence about a personal or observed experience, and one hedge acknowledging that customs differ.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يَصُومُ · يَبْدَأُ · تُعَدُّ · تُوَزَّعُ · تُزَيَّنُ · تُقَامُ · تُتَبَادَلُ (passives) · فِي بَعْضِ البُلْدَانِ … لَيْسَ دَائِمًا · زُرْنَا … وَكَانَ يَوْمًا جَمِيلًا.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(TE-L07 · National Festivals and Traditions) will spend class time USING this language, so students prepare it tonight — short, simple, easy to access (school guidance: “Simple, Short, Interesting, Relevant, Easy to access”). The five words come from the website TE-L07 vocabulary (celebrations of other communities and coexistence).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TE-L06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Faith Celebrations and Special Occasions</a:t>
            </a:r>
            <a:endParaRPr lang="en-US" sz="2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الِاحْتِفَالَاتُ الدِّينِيَّةُ وَالمُنَاسَبَاتُ الخَاصَّةُ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the purpose, practices and personal meaning of celebrations.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TE-L06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cultural passive; present for custom, past for memory.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Ramadan / Eid / passive, fix slips, then a family’s Ramadan and Eid.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TE-L07.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مُنَاسَبَةٌ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place of worship</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occasion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belief</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احْتِفَالٌ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celebration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gift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prayer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هَدِيَّةٌ</a:t>
            </a:r>
            <a:pPr algn="l" indent="0" marL="0">
              <a:buNone/>
            </a:pPr>
            <a:r>
              <a:rPr lang="en-US" sz="1250" b="1" dirty="0">
                <a:solidFill>
                  <a:srgbClr val="1B3B6F"/>
                </a:solidFill>
                <a:latin typeface="Calibri" pitchFamily="34" charset="0"/>
                <a:cs typeface="Amiri" pitchFamily="2" charset="-78"/>
              </a:rPr>
              <a:t> mean? (pl. </a:t>
            </a:r>
            <a:pPr algn="l" indent="0" marL="0">
              <a:buNone/>
            </a:pPr>
            <a:r>
              <a:rPr lang="ar-SA" altLang="en-US" sz="1650" b="1" dirty="0">
                <a:solidFill>
                  <a:srgbClr val="1B3B6F"/>
                </a:solidFill>
                <a:latin typeface="Amiri" pitchFamily="2" charset="-78"/>
                <a:ea typeface="Amiri" pitchFamily="2" charset="-78"/>
                <a:cs typeface="Amiri" pitchFamily="2" charset="-78"/>
              </a:rPr>
              <a:t>هَدَايَا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guest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greeting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gift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الكَنِيسَةُ مَكَانٌ يُصَلِّي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المَسِيحِيُّونَ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فِيهَا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مِنْهُ</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فِيهِ</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plural of </a:t>
            </a:r>
            <a:pPr algn="l" indent="0" marL="0">
              <a:buNone/>
            </a:pPr>
            <a:r>
              <a:rPr lang="ar-SA" altLang="en-US" sz="1650" b="1" dirty="0">
                <a:solidFill>
                  <a:srgbClr val="1B3B6F"/>
                </a:solidFill>
                <a:latin typeface="Amiri" pitchFamily="2" charset="-78"/>
                <a:ea typeface="Amiri" pitchFamily="2" charset="-78"/>
                <a:cs typeface="Amiri" pitchFamily="2" charset="-78"/>
              </a:rPr>
              <a:t>مَسْجِدٌ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مَسَاجِدُ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مَسْجِدَاتٌ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مُسْجِدُونَ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مُنَاسَبَةٌ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place of worship</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occasion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belief</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احْتِفَالٌ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celebration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gift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prayer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هَدِيَّةٌ</a:t>
            </a:r>
            <a:pPr algn="l" indent="0" marL="0">
              <a:buNone/>
            </a:pPr>
            <a:r>
              <a:rPr lang="en-US" sz="1250" b="1" dirty="0">
                <a:solidFill>
                  <a:srgbClr val="1B3B6F"/>
                </a:solidFill>
                <a:latin typeface="Calibri" pitchFamily="34" charset="0"/>
                <a:cs typeface="Amiri" pitchFamily="2" charset="-78"/>
              </a:rPr>
              <a:t> mean? (pl. </a:t>
            </a:r>
            <a:pPr algn="l" indent="0" marL="0">
              <a:buNone/>
            </a:pPr>
            <a:r>
              <a:rPr lang="ar-SA" altLang="en-US" sz="1650" b="1" dirty="0">
                <a:solidFill>
                  <a:srgbClr val="1B3B6F"/>
                </a:solidFill>
                <a:latin typeface="Amiri" pitchFamily="2" charset="-78"/>
                <a:ea typeface="Amiri" pitchFamily="2" charset="-78"/>
                <a:cs typeface="Amiri" pitchFamily="2" charset="-78"/>
              </a:rPr>
              <a:t>هَدَايَا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guest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greeting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gift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الكَنِيسَةُ مَكَانٌ يُصَلِّي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المَسِيحِيُّونَ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فِيهَا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مِنْهُ</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فِيهِ</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TE-L05: makān (m.) → fīhi.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plural of </a:t>
            </a:r>
            <a:pPr algn="l" indent="0" marL="0">
              <a:buNone/>
            </a:pPr>
            <a:r>
              <a:rPr lang="ar-SA" altLang="en-US" sz="1650" b="1" dirty="0">
                <a:solidFill>
                  <a:srgbClr val="1B3B6F"/>
                </a:solidFill>
                <a:latin typeface="Amiri" pitchFamily="2" charset="-78"/>
                <a:ea typeface="Amiri" pitchFamily="2" charset="-78"/>
                <a:cs typeface="Amiri" pitchFamily="2" charset="-78"/>
              </a:rPr>
              <a:t>مَسْجِدٌ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مَسَاجِدُ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مَسْجِدَاتٌ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مُسْجِدُونَ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TE-L05: a broken plural (masājid).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passive puts the CUSTOM first — the doer disappears.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يُزَيِّنُ النَّاسُ الشَّوَارِعَ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تُزَيَّنُ</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الشَّوَارِعُ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customs of Ramadan and the two Eids.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passive (</a:t>
            </a:r>
            <a:pPr algn="l" indent="0" marL="0">
              <a:buNone/>
            </a:pPr>
            <a:r>
              <a:rPr lang="ar-SA" altLang="en-US" sz="1700" dirty="0">
                <a:solidFill>
                  <a:srgbClr val="1F2A37"/>
                </a:solidFill>
                <a:latin typeface="Amiri" pitchFamily="2" charset="-78"/>
                <a:ea typeface="Amiri" pitchFamily="2" charset="-78"/>
                <a:cs typeface="Amiri" pitchFamily="2" charset="-78"/>
              </a:rPr>
              <a:t>يُزَيَّنُ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تُوَزَّعُ</a:t>
            </a:r>
            <a:pPr algn="l" indent="0" marL="0">
              <a:buNone/>
            </a:pPr>
            <a:r>
              <a:rPr lang="en-US" sz="1300" dirty="0">
                <a:solidFill>
                  <a:srgbClr val="1F2A37"/>
                </a:solidFill>
                <a:latin typeface="Calibri" pitchFamily="34" charset="0"/>
                <a:cs typeface="Amiri" pitchFamily="2" charset="-78"/>
              </a:rPr>
              <a:t>) with a nominative subject.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present for general customs and the past for a personal memory (</a:t>
            </a:r>
            <a:pPr algn="l" indent="0" marL="0">
              <a:buNone/>
            </a:pPr>
            <a:r>
              <a:rPr lang="ar-SA" altLang="en-US" sz="1700" dirty="0">
                <a:solidFill>
                  <a:srgbClr val="1F2A37"/>
                </a:solidFill>
                <a:latin typeface="Amiri" pitchFamily="2" charset="-78"/>
                <a:ea typeface="Amiri" pitchFamily="2" charset="-78"/>
                <a:cs typeface="Amiri" pitchFamily="2" charset="-78"/>
              </a:rPr>
              <a:t>صُمْتُ</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Hedge customs that differ between countries.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Ramadan and Eid customs.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them in the present.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two passive verbs with a nominative subject.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a:t>
            </a:r>
            <a:pPr algn="l" indent="0" marL="0">
              <a:buNone/>
            </a:pPr>
            <a:r>
              <a:rPr lang="ar-SA" altLang="en-US" sz="1700" b="1" dirty="0">
                <a:solidFill>
                  <a:srgbClr val="C9780A"/>
                </a:solidFill>
                <a:latin typeface="Amiri" pitchFamily="2" charset="-78"/>
                <a:ea typeface="Amiri" pitchFamily="2" charset="-78"/>
                <a:cs typeface="Amiri" pitchFamily="2" charset="-78"/>
              </a:rPr>
              <a:t>صُمْتُ / صُمْنَا</a:t>
            </a:r>
            <a:pPr algn="l" indent="0" marL="0">
              <a:buNone/>
            </a:pPr>
            <a:r>
              <a:rPr lang="en-US" sz="1300" b="1" dirty="0">
                <a:solidFill>
                  <a:srgbClr val="C9780A"/>
                </a:solidFill>
                <a:latin typeface="Calibri" pitchFamily="34" charset="0"/>
                <a:cs typeface="Amiri" pitchFamily="2" charset="-78"/>
              </a:rPr>
              <a:t> correctly.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personal memory in the past.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hedge a regional custom.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29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Ramadan · 11</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two Eids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cultural passive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رَمَضَانُ · صَوْمٌ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‎رمضان · روزہ‎ </a:t>
            </a:r>
            <a:pPr indent="0" marL="0">
              <a:buNone/>
            </a:pPr>
            <a:r>
              <a:rPr lang="en-US" sz="950" b="1" dirty="0">
                <a:solidFill>
                  <a:srgbClr val="2E8B57"/>
                </a:solidFill>
                <a:latin typeface="Calibri" pitchFamily="34" charset="0"/>
                <a:cs typeface="Amiri" pitchFamily="2" charset="-78"/>
              </a:rPr>
              <a:t> rōza · Ramadan · fasting (Urdu roza is Persian)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الإِفْطَارُ · السَّحُورُ</a:t>
            </a:r>
            <a:endParaRPr lang="ar-SA" sz="175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‎افطار · سحری‎ </a:t>
            </a:r>
            <a:pPr indent="0" marL="0">
              <a:buNone/>
            </a:pPr>
            <a:r>
              <a:rPr lang="en-US" sz="950" b="1" dirty="0">
                <a:solidFill>
                  <a:srgbClr val="2E8B57"/>
                </a:solidFill>
                <a:latin typeface="Calibri" pitchFamily="34" charset="0"/>
                <a:cs typeface="Amiri" pitchFamily="2" charset="-78"/>
              </a:rPr>
              <a:t> iftār · sehrī · iftar · suhoor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عِيدِيَّةٌ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‎عیدی‎ </a:t>
            </a:r>
            <a:pPr indent="0" marL="0">
              <a:buNone/>
            </a:pPr>
            <a:r>
              <a:rPr lang="en-US" sz="950" b="1" dirty="0">
                <a:solidFill>
                  <a:srgbClr val="2E8B57"/>
                </a:solidFill>
                <a:latin typeface="Calibri" pitchFamily="34" charset="0"/>
                <a:cs typeface="Amiri" pitchFamily="2" charset="-78"/>
              </a:rPr>
              <a:t> ʿīdī · Eid money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صَدَقَةٌ · زَكَاةُ الفِطْرِ</a:t>
            </a:r>
            <a:endParaRPr lang="ar-SA" sz="16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‎صدقہ · فطرانہ‎ </a:t>
            </a:r>
            <a:pPr indent="0" marL="0">
              <a:buNone/>
            </a:pPr>
            <a:r>
              <a:rPr lang="en-US" sz="950" b="1" dirty="0">
                <a:solidFill>
                  <a:srgbClr val="2E8B57"/>
                </a:solidFill>
                <a:latin typeface="Calibri" pitchFamily="34" charset="0"/>
                <a:cs typeface="Amiri" pitchFamily="2" charset="-78"/>
              </a:rPr>
              <a:t> fiṭrāna · charity · zakat al-Fitr</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التَّرَاوِيحُ · لَيْلَةُ القَدْرِ</a:t>
            </a:r>
            <a:endParaRPr lang="ar-SA" sz="13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‎تراویح · شبِ قدر‎ </a:t>
            </a:r>
            <a:pPr indent="0" marL="0">
              <a:buNone/>
            </a:pPr>
            <a:r>
              <a:rPr lang="en-US" sz="950" b="1" dirty="0">
                <a:solidFill>
                  <a:srgbClr val="2E8B57"/>
                </a:solidFill>
                <a:latin typeface="Calibri" pitchFamily="34" charset="0"/>
                <a:cs typeface="Amiri" pitchFamily="2" charset="-78"/>
              </a:rPr>
              <a:t> shab-e-qadr · Tarawih · Laylat al-Qadr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Ramadan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رَمَضَانُ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Ramadan</a:t>
            </a:r>
            <a:endParaRPr lang="en-US" sz="1350" dirty="0"/>
          </a:p>
          <a:p>
            <a:pPr indent="0" marL="0">
              <a:buNone/>
            </a:pPr>
            <a:r>
              <a:rPr lang="en-US" sz="1100" i="1" dirty="0">
                <a:solidFill>
                  <a:srgbClr val="5A6472"/>
                </a:solidFill>
                <a:latin typeface="Calibri" pitchFamily="34" charset="0"/>
                <a:cs typeface="Amiri" pitchFamily="2" charset="-78"/>
              </a:rPr>
              <a:t>ra-ma-ḍā-nu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diptote: </a:t>
            </a:r>
            <a:pPr algn="l" indent="0" marL="0">
              <a:buNone/>
            </a:pPr>
            <a:r>
              <a:rPr lang="ar-SA" altLang="en-US" sz="1300" dirty="0">
                <a:solidFill>
                  <a:srgbClr val="8A6D1E"/>
                </a:solidFill>
                <a:latin typeface="Amiri" pitchFamily="2" charset="-78"/>
                <a:ea typeface="Amiri" pitchFamily="2" charset="-78"/>
                <a:cs typeface="Amiri" pitchFamily="2" charset="-78"/>
              </a:rPr>
              <a:t>فِي رَمَضَانَ</a:t>
            </a:r>
            <a:pPr algn="l" indent="0" marL="0">
              <a:buNone/>
            </a:pPr>
            <a:r>
              <a:rPr lang="en-US" sz="1000" i="1" dirty="0">
                <a:solidFill>
                  <a:srgbClr val="8A6D1E"/>
                </a:solidFill>
                <a:latin typeface="Calibri" pitchFamily="34" charset="0"/>
                <a:cs typeface="Amiri" pitchFamily="2" charset="-78"/>
              </a:rPr>
              <a:t>, never </a:t>
            </a:r>
            <a:pPr algn="l" indent="0" marL="0">
              <a:buNone/>
            </a:pPr>
            <a:r>
              <a:rPr lang="ar-SA" altLang="en-US" sz="1300" dirty="0">
                <a:solidFill>
                  <a:srgbClr val="8A6D1E"/>
                </a:solidFill>
                <a:latin typeface="Amiri" pitchFamily="2" charset="-78"/>
                <a:ea typeface="Amiri" pitchFamily="2" charset="-78"/>
                <a:cs typeface="Amiri" pitchFamily="2" charset="-78"/>
              </a:rPr>
              <a:t>رَمَضَانٍ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1704442"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Both forms are current.</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الصِّيَامُ / الصَّوْمُ</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fasting</a:t>
            </a:r>
            <a:endParaRPr lang="en-US" sz="1350" dirty="0"/>
          </a:p>
          <a:p>
            <a:pPr indent="0" marL="0">
              <a:buNone/>
            </a:pPr>
            <a:r>
              <a:rPr lang="en-US" sz="1100" i="1" dirty="0">
                <a:solidFill>
                  <a:srgbClr val="5A6472"/>
                </a:solidFill>
                <a:latin typeface="Calibri" pitchFamily="34" charset="0"/>
                <a:cs typeface="Amiri" pitchFamily="2" charset="-78"/>
              </a:rPr>
              <a:t>aṣ-ṣi-yā-mu / aṣ-ṣaw-mu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we · she</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يَصُومُ / صَامَ</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fasts / fasted</a:t>
            </a:r>
            <a:endParaRPr lang="en-US" sz="1350" dirty="0"/>
          </a:p>
          <a:p>
            <a:pPr indent="0" marL="0">
              <a:buNone/>
            </a:pPr>
            <a:r>
              <a:rPr lang="en-US" sz="1100" i="1" dirty="0">
                <a:solidFill>
                  <a:srgbClr val="5A6472"/>
                </a:solidFill>
                <a:latin typeface="Calibri" pitchFamily="34" charset="0"/>
                <a:cs typeface="Amiri" pitchFamily="2" charset="-78"/>
              </a:rPr>
              <a:t>ya-ṣū-mu / ṣā-ma</a:t>
            </a:r>
            <a:endParaRPr lang="en-US" sz="1350" dirty="0"/>
          </a:p>
        </p:txBody>
      </p:sp>
      <p:sp>
        <p:nvSpPr>
          <p:cNvPr id="41" name="Shape 38"/>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صَامَتْ</a:t>
            </a:r>
            <a:endParaRPr lang="ar-SA" sz="1500" dirty="0"/>
          </a:p>
        </p:txBody>
      </p:sp>
      <p:sp>
        <p:nvSpPr>
          <p:cNvPr id="44" name="Shape 41"/>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6" name="Text 43"/>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صُمْنَا</a:t>
            </a:r>
            <a:endParaRPr lang="ar-SA" sz="1500" dirty="0"/>
          </a:p>
        </p:txBody>
      </p:sp>
      <p:sp>
        <p:nvSpPr>
          <p:cNvPr id="47" name="Shape 44"/>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9" name="Text 46"/>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صُمْتُ</a:t>
            </a:r>
            <a:endParaRPr lang="ar-SA" sz="150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3" name="Shape 5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 · we</a:t>
            </a:r>
            <a:endParaRPr lang="en-US" sz="800" dirty="0"/>
          </a:p>
        </p:txBody>
      </p:sp>
      <p:sp>
        <p:nvSpPr>
          <p:cNvPr id="55" name="Text 5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يُفْطِرُ</a:t>
            </a:r>
            <a:endParaRPr lang="ar-SA" sz="3000" dirty="0"/>
          </a:p>
        </p:txBody>
      </p:sp>
      <p:sp>
        <p:nvSpPr>
          <p:cNvPr id="56" name="Text 5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breaks the fast</a:t>
            </a:r>
            <a:endParaRPr lang="en-US" sz="1350" dirty="0"/>
          </a:p>
          <a:p>
            <a:pPr indent="0" marL="0">
              <a:buNone/>
            </a:pPr>
            <a:r>
              <a:rPr lang="en-US" sz="1100" i="1" dirty="0">
                <a:solidFill>
                  <a:srgbClr val="5A6472"/>
                </a:solidFill>
                <a:latin typeface="Calibri" pitchFamily="34" charset="0"/>
                <a:cs typeface="Amiri" pitchFamily="2" charset="-78"/>
              </a:rPr>
              <a:t>yuf-ṭi-ru</a:t>
            </a:r>
            <a:endParaRPr lang="en-US" sz="1350" dirty="0"/>
          </a:p>
        </p:txBody>
      </p:sp>
      <p:sp>
        <p:nvSpPr>
          <p:cNvPr id="57" name="Shape 5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9" name="Text 5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أَفْطَرْنَا</a:t>
            </a:r>
            <a:endParaRPr lang="ar-SA" sz="1500" dirty="0"/>
          </a:p>
        </p:txBody>
      </p:sp>
      <p:sp>
        <p:nvSpPr>
          <p:cNvPr id="60" name="Shape 5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2" name="Text 59"/>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أَفْطَرَ</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الإِفْطَارُ</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iftar, the evening meal</a:t>
            </a:r>
            <a:endParaRPr lang="en-US" sz="1350" dirty="0"/>
          </a:p>
          <a:p>
            <a:pPr indent="0" marL="0">
              <a:buNone/>
            </a:pPr>
            <a:r>
              <a:rPr lang="en-US" sz="1100" i="1" dirty="0">
                <a:solidFill>
                  <a:srgbClr val="5A6472"/>
                </a:solidFill>
                <a:latin typeface="Calibri" pitchFamily="34" charset="0"/>
                <a:cs typeface="Amiri" pitchFamily="2" charset="-78"/>
              </a:rPr>
              <a:t>al-if-ṭā-ru</a:t>
            </a:r>
            <a:endParaRPr lang="en-US" sz="135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3" name="Shape 7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السَّحُورُ</a:t>
            </a:r>
            <a:endParaRPr lang="ar-SA" sz="3000" dirty="0"/>
          </a:p>
        </p:txBody>
      </p:sp>
      <p:sp>
        <p:nvSpPr>
          <p:cNvPr id="76" name="Text 7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suhoor, the pre-dawn meal</a:t>
            </a:r>
            <a:endParaRPr lang="en-US" sz="1350" dirty="0"/>
          </a:p>
          <a:p>
            <a:pPr indent="0" marL="0">
              <a:buNone/>
            </a:pPr>
            <a:r>
              <a:rPr lang="en-US" sz="1100" i="1" dirty="0">
                <a:solidFill>
                  <a:srgbClr val="5A6472"/>
                </a:solidFill>
                <a:latin typeface="Calibri" pitchFamily="34" charset="0"/>
                <a:cs typeface="Amiri" pitchFamily="2" charset="-78"/>
              </a:rPr>
              <a:t>as-sa-ḥū-ru</a:t>
            </a:r>
            <a:endParaRPr lang="en-US"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Ramadan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الهِلَالُ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crescent moon</a:t>
            </a:r>
            <a:endParaRPr lang="en-US" sz="1350" dirty="0"/>
          </a:p>
          <a:p>
            <a:pPr indent="0" marL="0">
              <a:buNone/>
            </a:pPr>
            <a:r>
              <a:rPr lang="en-US" sz="1100" i="1" dirty="0">
                <a:solidFill>
                  <a:srgbClr val="5A6472"/>
                </a:solidFill>
                <a:latin typeface="Calibri" pitchFamily="34" charset="0"/>
                <a:cs typeface="Amiri" pitchFamily="2" charset="-78"/>
              </a:rPr>
              <a:t>al-hi-lā-lu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Its sighting marks the start of the month.</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الفَوَانِيسُ</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lanterns</a:t>
            </a:r>
            <a:endParaRPr lang="en-US" sz="1350" dirty="0"/>
          </a:p>
          <a:p>
            <a:pPr indent="0" marL="0">
              <a:buNone/>
            </a:pPr>
            <a:r>
              <a:rPr lang="en-US" sz="1100" i="1" dirty="0">
                <a:solidFill>
                  <a:srgbClr val="5A6472"/>
                </a:solidFill>
                <a:latin typeface="Calibri" pitchFamily="34" charset="0"/>
                <a:cs typeface="Amiri" pitchFamily="2" charset="-78"/>
              </a:rPr>
              <a:t>al-fa-wā-nī-su</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of </a:t>
            </a:r>
            <a:pPr algn="l" indent="0" marL="0">
              <a:buNone/>
            </a:pPr>
            <a:r>
              <a:rPr lang="ar-SA" altLang="en-US" sz="1300" dirty="0">
                <a:solidFill>
                  <a:srgbClr val="8A6D1E"/>
                </a:solidFill>
                <a:latin typeface="Amiri" pitchFamily="2" charset="-78"/>
                <a:ea typeface="Amiri" pitchFamily="2" charset="-78"/>
                <a:cs typeface="Amiri" pitchFamily="2" charset="-78"/>
              </a:rPr>
              <a:t>فَانُوسٌ</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لَيْلَةُ القَدْرِ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Laylat al-Qadr</a:t>
            </a:r>
            <a:endParaRPr lang="en-US" sz="1350" dirty="0"/>
          </a:p>
          <a:p>
            <a:pPr indent="0" marL="0">
              <a:buNone/>
            </a:pPr>
            <a:r>
              <a:rPr lang="en-US" sz="1100" i="1" dirty="0">
                <a:solidFill>
                  <a:srgbClr val="5A6472"/>
                </a:solidFill>
                <a:latin typeface="Calibri" pitchFamily="34" charset="0"/>
                <a:cs typeface="Amiri" pitchFamily="2" charset="-78"/>
              </a:rPr>
              <a:t>lay-la-tu al-qad-ri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يُصَلِّي التَّرَاوِيحَ</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prays Tarawih</a:t>
            </a:r>
            <a:endParaRPr lang="en-US" sz="1350" dirty="0"/>
          </a:p>
          <a:p>
            <a:pPr indent="0" marL="0">
              <a:buNone/>
            </a:pPr>
            <a:r>
              <a:rPr lang="en-US" sz="1100" i="1" dirty="0">
                <a:solidFill>
                  <a:srgbClr val="5A6472"/>
                </a:solidFill>
                <a:latin typeface="Calibri" pitchFamily="34" charset="0"/>
                <a:cs typeface="Amiri" pitchFamily="2" charset="-78"/>
              </a:rPr>
              <a:t>yu-ṣal-lī at-ta-rā-wī-ḥa</a:t>
            </a:r>
            <a:endParaRPr lang="en-US" sz="1350" dirty="0"/>
          </a:p>
        </p:txBody>
      </p:sp>
      <p:sp>
        <p:nvSpPr>
          <p:cNvPr id="41" name="Text 3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Night prayers during Ramadan.</a:t>
            </a:r>
            <a:endParaRPr lang="en-US" sz="100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5" name="Text 4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رُوحُ رَمَضَانَ</a:t>
            </a:r>
            <a:endParaRPr lang="ar-SA" sz="3000" dirty="0"/>
          </a:p>
        </p:txBody>
      </p:sp>
      <p:sp>
        <p:nvSpPr>
          <p:cNvPr id="46" name="Text 4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spirit of Ramadan</a:t>
            </a:r>
            <a:endParaRPr lang="en-US" sz="1350" dirty="0"/>
          </a:p>
          <a:p>
            <a:pPr indent="0" marL="0">
              <a:buNone/>
            </a:pPr>
            <a:r>
              <a:rPr lang="en-US" sz="1100" i="1" dirty="0">
                <a:solidFill>
                  <a:srgbClr val="5A6472"/>
                </a:solidFill>
                <a:latin typeface="Calibri" pitchFamily="34" charset="0"/>
                <a:cs typeface="Amiri" pitchFamily="2" charset="-78"/>
              </a:rPr>
              <a:t>rū-ḥu ra-ma-ḍā-na</a:t>
            </a:r>
            <a:endParaRPr lang="en-US" sz="1350" dirty="0"/>
          </a:p>
        </p:txBody>
      </p:sp>
      <p:sp>
        <p:nvSpPr>
          <p:cNvPr id="47" name="Text 4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Note the diptote in the iḍāfa.</a:t>
            </a:r>
            <a:endParaRPr lang="en-US" sz="1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two Eids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الفِطْرِ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al-Fitr</a:t>
            </a:r>
            <a:endParaRPr lang="en-US" sz="1350" dirty="0"/>
          </a:p>
          <a:p>
            <a:pPr indent="0" marL="0">
              <a:buNone/>
            </a:pPr>
            <a:r>
              <a:rPr lang="en-US" sz="1100" i="1" dirty="0">
                <a:solidFill>
                  <a:srgbClr val="5A6472"/>
                </a:solidFill>
                <a:latin typeface="Calibri" pitchFamily="34" charset="0"/>
                <a:cs typeface="Amiri" pitchFamily="2" charset="-78"/>
              </a:rPr>
              <a:t>ʿī-du al-fiṭ-ri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Marks the end of Ramadan.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الأَضْحَى</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al-Adha</a:t>
            </a:r>
            <a:endParaRPr lang="en-US" sz="1350" dirty="0"/>
          </a:p>
          <a:p>
            <a:pPr indent="0" marL="0">
              <a:buNone/>
            </a:pPr>
            <a:r>
              <a:rPr lang="en-US" sz="1100" i="1" dirty="0">
                <a:solidFill>
                  <a:srgbClr val="5A6472"/>
                </a:solidFill>
                <a:latin typeface="Calibri" pitchFamily="34" charset="0"/>
                <a:cs typeface="Amiri" pitchFamily="2" charset="-78"/>
              </a:rPr>
              <a:t>ʿī-du al-aḍ-ḥā</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صَلَاةُ العِيدِ</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Eid prayer</a:t>
            </a:r>
            <a:endParaRPr lang="en-US" sz="1350" dirty="0"/>
          </a:p>
          <a:p>
            <a:pPr indent="0" marL="0">
              <a:buNone/>
            </a:pPr>
            <a:r>
              <a:rPr lang="en-US" sz="1100" i="1" dirty="0">
                <a:solidFill>
                  <a:srgbClr val="5A6472"/>
                </a:solidFill>
                <a:latin typeface="Calibri" pitchFamily="34" charset="0"/>
                <a:cs typeface="Amiri" pitchFamily="2" charset="-78"/>
              </a:rPr>
              <a:t>ṣa-lā-tu al-ʿī-di</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تَكْبِيرَاتُ العِيدِ</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Eid takbirs</a:t>
            </a:r>
            <a:endParaRPr lang="en-US" sz="1350" dirty="0"/>
          </a:p>
          <a:p>
            <a:pPr indent="0" marL="0">
              <a:buNone/>
            </a:pPr>
            <a:r>
              <a:rPr lang="en-US" sz="1100" i="1" dirty="0">
                <a:solidFill>
                  <a:srgbClr val="5A6472"/>
                </a:solidFill>
                <a:latin typeface="Calibri" pitchFamily="34" charset="0"/>
                <a:cs typeface="Amiri" pitchFamily="2" charset="-78"/>
              </a:rPr>
              <a:t>tak-bī-rā-tu al-ʿī-di</a:t>
            </a:r>
            <a:endParaRPr lang="en-US" sz="1350" dirty="0"/>
          </a:p>
        </p:txBody>
      </p:sp>
      <p:sp>
        <p:nvSpPr>
          <p:cNvPr id="42" name="Shape 3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389120"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5" name="Shape 4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زَكَاةُ الفِطْرِ</a:t>
            </a:r>
            <a:endParaRPr lang="ar-SA" sz="3000" dirty="0"/>
          </a:p>
        </p:txBody>
      </p:sp>
      <p:sp>
        <p:nvSpPr>
          <p:cNvPr id="48" name="Text 4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zakat al-Fitr</a:t>
            </a:r>
            <a:endParaRPr lang="en-US" sz="1350" dirty="0"/>
          </a:p>
          <a:p>
            <a:pPr indent="0" marL="0">
              <a:buNone/>
            </a:pPr>
            <a:r>
              <a:rPr lang="en-US" sz="1100" i="1" dirty="0">
                <a:solidFill>
                  <a:srgbClr val="5A6472"/>
                </a:solidFill>
                <a:latin typeface="Calibri" pitchFamily="34" charset="0"/>
                <a:cs typeface="Amiri" pitchFamily="2" charset="-78"/>
              </a:rPr>
              <a:t>za-kā-tu al-fiṭ-ri</a:t>
            </a:r>
            <a:endParaRPr lang="en-US" sz="1350" dirty="0"/>
          </a:p>
        </p:txBody>
      </p:sp>
      <p:sp>
        <p:nvSpPr>
          <p:cNvPr id="49" name="Text 4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Charity given before the Eid prayer.</a:t>
            </a:r>
            <a:endParaRPr lang="en-US" sz="10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two Eids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money given to children</a:t>
            </a:r>
            <a:endParaRPr lang="en-US" sz="1350" dirty="0"/>
          </a:p>
          <a:p>
            <a:pPr indent="0" marL="0">
              <a:buNone/>
            </a:pPr>
            <a:r>
              <a:rPr lang="en-US" sz="1100" i="1" dirty="0">
                <a:solidFill>
                  <a:srgbClr val="5A6472"/>
                </a:solidFill>
                <a:latin typeface="Calibri" pitchFamily="34" charset="0"/>
                <a:cs typeface="Amiri" pitchFamily="2" charset="-78"/>
              </a:rPr>
              <a:t>ʿī-diy-ya-tun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Shape 24"/>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 · we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يَتَصَدَّقُ</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gives charity</a:t>
            </a:r>
            <a:endParaRPr lang="en-US" sz="1350" dirty="0"/>
          </a:p>
          <a:p>
            <a:pPr indent="0" marL="0">
              <a:buNone/>
            </a:pPr>
            <a:r>
              <a:rPr lang="en-US" sz="1100" i="1" dirty="0">
                <a:solidFill>
                  <a:srgbClr val="5A6472"/>
                </a:solidFill>
                <a:latin typeface="Calibri" pitchFamily="34" charset="0"/>
                <a:cs typeface="Amiri" pitchFamily="2" charset="-78"/>
              </a:rPr>
              <a:t>ya-ta-ṣad-da-qu</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تَصَدَّقْنَا</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36" name="Text 33"/>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تَصَدَّقَ</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0" name="Shape 37"/>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of تَهْنِئَةٌ.</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التَّهَانِي</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congratulations</a:t>
            </a:r>
            <a:endParaRPr lang="en-US" sz="1350" dirty="0"/>
          </a:p>
          <a:p>
            <a:pPr indent="0" marL="0">
              <a:buNone/>
            </a:pPr>
            <a:r>
              <a:rPr lang="en-US" sz="1100" i="1" dirty="0">
                <a:solidFill>
                  <a:srgbClr val="5A6472"/>
                </a:solidFill>
                <a:latin typeface="Calibri" pitchFamily="34" charset="0"/>
                <a:cs typeface="Amiri" pitchFamily="2" charset="-78"/>
              </a:rPr>
              <a:t>at-ta-hā-nī</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الحَلْوَى</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sweets</a:t>
            </a:r>
            <a:endParaRPr lang="en-US" sz="1350" dirty="0"/>
          </a:p>
          <a:p>
            <a:pPr indent="0" marL="0">
              <a:buNone/>
            </a:pPr>
            <a:r>
              <a:rPr lang="en-US" sz="1100" i="1" dirty="0">
                <a:solidFill>
                  <a:srgbClr val="5A6472"/>
                </a:solidFill>
                <a:latin typeface="Calibri" pitchFamily="34" charset="0"/>
                <a:cs typeface="Amiri" pitchFamily="2" charset="-78"/>
              </a:rPr>
              <a:t>al-ḥal-wā</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زِيَارَةُ الأَقَارِبِ</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visiting relatives</a:t>
            </a:r>
            <a:endParaRPr lang="en-US" sz="1350" dirty="0"/>
          </a:p>
          <a:p>
            <a:pPr indent="0" marL="0">
              <a:buNone/>
            </a:pPr>
            <a:r>
              <a:rPr lang="en-US" sz="1100" i="1" dirty="0">
                <a:solidFill>
                  <a:srgbClr val="5A6472"/>
                </a:solidFill>
                <a:latin typeface="Calibri" pitchFamily="34" charset="0"/>
                <a:cs typeface="Amiri" pitchFamily="2" charset="-78"/>
              </a:rPr>
              <a:t>zi-yā-ra-tu al-a-qā-ri-bi</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cultural passive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 · 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يُزَيَّنُ</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decorated</a:t>
            </a:r>
            <a:endParaRPr lang="en-US" sz="1350" dirty="0"/>
          </a:p>
          <a:p>
            <a:pPr indent="0" marL="0">
              <a:buNone/>
            </a:pPr>
            <a:r>
              <a:rPr lang="en-US" sz="1100" i="1" dirty="0">
                <a:solidFill>
                  <a:srgbClr val="5A6472"/>
                </a:solidFill>
                <a:latin typeface="Calibri" pitchFamily="34" charset="0"/>
                <a:cs typeface="Amiri" pitchFamily="2" charset="-78"/>
              </a:rPr>
              <a:t>yu-zay-ya-nu</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تُزَيَّنُ</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27" name="Text 24"/>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يُزَيِّنُ</a:t>
            </a:r>
            <a:endParaRPr lang="ar-SA" sz="135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تُتَبَادَلُ</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exchanged</a:t>
            </a:r>
            <a:endParaRPr lang="en-US" sz="1350" dirty="0"/>
          </a:p>
          <a:p>
            <a:pPr indent="0" marL="0">
              <a:buNone/>
            </a:pPr>
            <a:r>
              <a:rPr lang="en-US" sz="1100" i="1" dirty="0">
                <a:solidFill>
                  <a:srgbClr val="5A6472"/>
                </a:solidFill>
                <a:latin typeface="Calibri" pitchFamily="34" charset="0"/>
                <a:cs typeface="Amiri" pitchFamily="2" charset="-78"/>
              </a:rPr>
              <a:t>tu-ta-bā-da-lu</a:t>
            </a:r>
            <a:endParaRPr lang="en-US" sz="1350" dirty="0"/>
          </a:p>
        </p:txBody>
      </p:sp>
      <p:sp>
        <p:nvSpPr>
          <p:cNvPr id="37" name="Shape 34"/>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39" name="Text 36"/>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يَتَبَادَلُ</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3" name="Shape 40"/>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 · m.</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تُوَزَّعُ</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distributed</a:t>
            </a:r>
            <a:endParaRPr lang="en-US" sz="1350" dirty="0"/>
          </a:p>
          <a:p>
            <a:pPr indent="0" marL="0">
              <a:buNone/>
            </a:pPr>
            <a:r>
              <a:rPr lang="en-US" sz="1100" i="1" dirty="0">
                <a:solidFill>
                  <a:srgbClr val="5A6472"/>
                </a:solidFill>
                <a:latin typeface="Calibri" pitchFamily="34" charset="0"/>
                <a:cs typeface="Amiri" pitchFamily="2" charset="-78"/>
              </a:rPr>
              <a:t>tu-waz-za-ʿu</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9" name="Text 46"/>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يُوَزَّعُ</a:t>
            </a:r>
            <a:endParaRPr lang="ar-SA" sz="150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52" name="Text 49"/>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يُوَزِّعُ</a:t>
            </a:r>
            <a:endParaRPr lang="ar-SA" sz="135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تُقَامُ</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held (of events)</a:t>
            </a:r>
            <a:endParaRPr lang="en-US" sz="1350" dirty="0"/>
          </a:p>
          <a:p>
            <a:pPr indent="0" marL="0">
              <a:buNone/>
            </a:pPr>
            <a:r>
              <a:rPr lang="en-US" sz="1100" i="1" dirty="0">
                <a:solidFill>
                  <a:srgbClr val="5A6472"/>
                </a:solidFill>
                <a:latin typeface="Calibri" pitchFamily="34" charset="0"/>
                <a:cs typeface="Amiri" pitchFamily="2" charset="-78"/>
              </a:rPr>
              <a:t>tu-qā-mu</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يُقِيمُ</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cultural passive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يُعَدُّ</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prepared, is considered</a:t>
            </a:r>
            <a:endParaRPr lang="en-US" sz="1350" dirty="0"/>
          </a:p>
          <a:p>
            <a:pPr indent="0" marL="0">
              <a:buNone/>
            </a:pPr>
            <a:r>
              <a:rPr lang="en-US" sz="1100" i="1" dirty="0">
                <a:solidFill>
                  <a:srgbClr val="5A6472"/>
                </a:solidFill>
                <a:latin typeface="Calibri" pitchFamily="34" charset="0"/>
                <a:cs typeface="Amiri" pitchFamily="2" charset="-78"/>
              </a:rPr>
              <a:t>yu-ʿad-du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تَضَامُنٌ مُجْتَمَعِيٌّ</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community solidarity</a:t>
            </a:r>
            <a:endParaRPr lang="en-US" sz="1350" dirty="0"/>
          </a:p>
          <a:p>
            <a:pPr indent="0" marL="0">
              <a:buNone/>
            </a:pPr>
            <a:r>
              <a:rPr lang="en-US" sz="1100" i="1" dirty="0">
                <a:solidFill>
                  <a:srgbClr val="5A6472"/>
                </a:solidFill>
                <a:latin typeface="Calibri" pitchFamily="34" charset="0"/>
                <a:cs typeface="Amiri" pitchFamily="2" charset="-78"/>
              </a:rPr>
              <a:t>ta-ḍā-mu-nun muj-ta-ma-ʿiy-yun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مَائِدَةٌ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dining table, spread</a:t>
            </a:r>
            <a:endParaRPr lang="en-US" sz="1350" dirty="0"/>
          </a:p>
          <a:p>
            <a:pPr indent="0" marL="0">
              <a:buNone/>
            </a:pPr>
            <a:r>
              <a:rPr lang="en-US" sz="1100" i="1" dirty="0">
                <a:solidFill>
                  <a:srgbClr val="5A6472"/>
                </a:solidFill>
                <a:latin typeface="Calibri" pitchFamily="34" charset="0"/>
                <a:cs typeface="Amiri" pitchFamily="2" charset="-78"/>
              </a:rPr>
              <a:t>mā-ʾi-da-tun</a:t>
            </a:r>
            <a:endParaRPr lang="en-US" sz="1350" dirty="0"/>
          </a:p>
        </p:txBody>
      </p:sp>
      <p:sp>
        <p:nvSpPr>
          <p:cNvPr id="30" name="Text 2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a:t>
            </a:r>
            <a:pPr algn="l" indent="0" marL="0">
              <a:buNone/>
            </a:pPr>
            <a:r>
              <a:rPr lang="ar-SA" altLang="en-US" sz="1300" dirty="0">
                <a:solidFill>
                  <a:srgbClr val="8A6D1E"/>
                </a:solidFill>
                <a:latin typeface="Amiri" pitchFamily="2" charset="-78"/>
                <a:ea typeface="Amiri" pitchFamily="2" charset="-78"/>
                <a:cs typeface="Amiri" pitchFamily="2" charset="-78"/>
              </a:rPr>
              <a:t>مَوَائِدُ</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31" name="Shape 2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11312" y="4261104"/>
            <a:ext cx="310896" cy="310896"/>
          </a:xfrm>
          <a:prstGeom prst="ellipse">
            <a:avLst/>
          </a:prstGeom>
          <a:solidFill>
            <a:srgbClr val="F4F1EA"/>
          </a:solidFill>
          <a:ln w="12700">
            <a:solidFill>
              <a:srgbClr val="F4F1EA"/>
            </a:solidFill>
            <a:prstDash val="solid"/>
          </a:ln>
        </p:spPr>
      </p:sp>
      <p:sp>
        <p:nvSpPr>
          <p:cNvPr id="33" name="Text 3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4" name="Shape 31"/>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36" name="Text 3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البُلْدَانِ</a:t>
            </a:r>
            <a:endParaRPr lang="ar-SA" sz="3000" dirty="0"/>
          </a:p>
        </p:txBody>
      </p:sp>
      <p:sp>
        <p:nvSpPr>
          <p:cNvPr id="37" name="Text 3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PRESENT PASSIVE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does it? It doesn’t matter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المَبْنِيُّ لِلْمَجْهُولِ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91947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27249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937760" y="2286000"/>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يُزَيَّنُ</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الشَّارِعُ</a:t>
            </a:r>
            <a:pPr rtl="1" algn="ctr" indent="0" marL="0">
              <a:buNone/>
            </a:pPr>
            <a:r>
              <a:rPr lang="ar-SA" altLang="en-US" sz="1950" b="1" dirty="0">
                <a:solidFill>
                  <a:srgbClr val="1B3B6F"/>
                </a:solidFill>
                <a:latin typeface="Amiri" pitchFamily="2" charset="-78"/>
                <a:ea typeface="Amiri" pitchFamily="2" charset="-78"/>
                <a:cs typeface="Amiri" pitchFamily="2" charset="-78"/>
              </a:rPr>
              <a:t> بِالفَوَانِيسِ.</a:t>
            </a:r>
            <a:endParaRPr lang="ar-SA" sz="1950" dirty="0"/>
          </a:p>
        </p:txBody>
      </p:sp>
      <p:sp>
        <p:nvSpPr>
          <p:cNvPr id="21" name="Text 18"/>
          <p:cNvSpPr txBox="1"/>
          <p:nvPr/>
        </p:nvSpPr>
        <p:spPr>
          <a:xfrm>
            <a:off x="4892040" y="2676997"/>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street is decorated with lanterns.</a:t>
            </a:r>
            <a:endParaRPr lang="en-US" sz="950" dirty="0"/>
          </a:p>
        </p:txBody>
      </p:sp>
      <p:sp>
        <p:nvSpPr>
          <p:cNvPr id="22" name="Text 19"/>
          <p:cNvSpPr txBox="1"/>
          <p:nvPr/>
        </p:nvSpPr>
        <p:spPr>
          <a:xfrm>
            <a:off x="274320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يُزَيَّنُ</a:t>
            </a:r>
            <a:endParaRPr lang="ar-SA" sz="2400" dirty="0"/>
          </a:p>
        </p:txBody>
      </p:sp>
      <p:sp>
        <p:nvSpPr>
          <p:cNvPr id="23" name="Text 20"/>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يُزَيِّنُ</a:t>
            </a:r>
            <a:endParaRPr lang="ar-SA" sz="24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4937760" y="3023006"/>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تُوَزَّعُ</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الحَلْوَى</a:t>
            </a:r>
            <a:pPr rtl="1" algn="ctr" indent="0" marL="0">
              <a:buNone/>
            </a:pPr>
            <a:r>
              <a:rPr lang="ar-SA" altLang="en-US" sz="1950" b="1" dirty="0">
                <a:solidFill>
                  <a:srgbClr val="1B3B6F"/>
                </a:solidFill>
                <a:latin typeface="Amiri" pitchFamily="2" charset="-78"/>
                <a:ea typeface="Amiri" pitchFamily="2" charset="-78"/>
                <a:cs typeface="Amiri" pitchFamily="2" charset="-78"/>
              </a:rPr>
              <a:t> عَلَى الجِيرَانِ.</a:t>
            </a:r>
            <a:endParaRPr lang="ar-SA" sz="1950" dirty="0"/>
          </a:p>
        </p:txBody>
      </p:sp>
      <p:sp>
        <p:nvSpPr>
          <p:cNvPr id="28" name="Text 25"/>
          <p:cNvSpPr txBox="1"/>
          <p:nvPr/>
        </p:nvSpPr>
        <p:spPr>
          <a:xfrm>
            <a:off x="4892040" y="3414004"/>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Sweets are handed out to the neighbours.</a:t>
            </a:r>
            <a:endParaRPr lang="en-US" sz="950" dirty="0"/>
          </a:p>
        </p:txBody>
      </p:sp>
      <p:sp>
        <p:nvSpPr>
          <p:cNvPr id="29" name="Text 26"/>
          <p:cNvSpPr txBox="1"/>
          <p:nvPr/>
        </p:nvSpPr>
        <p:spPr>
          <a:xfrm>
            <a:off x="274320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تُوَزَّعُ</a:t>
            </a:r>
            <a:endParaRPr lang="ar-SA" sz="2400" dirty="0"/>
          </a:p>
        </p:txBody>
      </p:sp>
      <p:sp>
        <p:nvSpPr>
          <p:cNvPr id="30" name="Text 27"/>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يُوَزِّعُ</a:t>
            </a:r>
            <a:endParaRPr lang="ar-SA" sz="24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4937760" y="3760013"/>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تُتَبَادَلُ</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التَّهَانِي</a:t>
            </a:r>
            <a:pPr rtl="1" algn="ctr" indent="0" marL="0">
              <a:buNone/>
            </a:pPr>
            <a:r>
              <a:rPr lang="ar-SA" altLang="en-US" sz="1950" b="1" dirty="0">
                <a:solidFill>
                  <a:srgbClr val="1B3B6F"/>
                </a:solidFill>
                <a:latin typeface="Amiri" pitchFamily="2" charset="-78"/>
                <a:ea typeface="Amiri" pitchFamily="2" charset="-78"/>
                <a:cs typeface="Amiri" pitchFamily="2" charset="-78"/>
              </a:rPr>
              <a:t> وَالهَدَايَا.</a:t>
            </a:r>
            <a:endParaRPr lang="ar-SA" sz="1950" dirty="0"/>
          </a:p>
        </p:txBody>
      </p:sp>
      <p:sp>
        <p:nvSpPr>
          <p:cNvPr id="35" name="Text 32"/>
          <p:cNvSpPr txBox="1"/>
          <p:nvPr/>
        </p:nvSpPr>
        <p:spPr>
          <a:xfrm>
            <a:off x="4892040" y="4151010"/>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Greetings and gifts are exchanged.</a:t>
            </a:r>
            <a:endParaRPr lang="en-US" sz="950" dirty="0"/>
          </a:p>
        </p:txBody>
      </p:sp>
      <p:sp>
        <p:nvSpPr>
          <p:cNvPr id="36" name="Text 33"/>
          <p:cNvSpPr txBox="1"/>
          <p:nvPr/>
        </p:nvSpPr>
        <p:spPr>
          <a:xfrm>
            <a:off x="274320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تُتَبَادَلُ</a:t>
            </a:r>
            <a:endParaRPr lang="ar-SA" sz="2400" dirty="0"/>
          </a:p>
        </p:txBody>
      </p:sp>
      <p:sp>
        <p:nvSpPr>
          <p:cNvPr id="37" name="Text 34"/>
          <p:cNvSpPr txBox="1"/>
          <p:nvPr/>
        </p:nvSpPr>
        <p:spPr>
          <a:xfrm>
            <a:off x="54864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يَتَبَادَلُ</a:t>
            </a:r>
            <a:endParaRPr lang="ar-SA" sz="24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4937760" y="4497019"/>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تُقَامُ</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صَلَاةُ</a:t>
            </a:r>
            <a:pPr rtl="1" algn="ctr" indent="0" marL="0">
              <a:buNone/>
            </a:pPr>
            <a:r>
              <a:rPr lang="ar-SA" altLang="en-US" sz="1950" b="1" dirty="0">
                <a:solidFill>
                  <a:srgbClr val="1B3B6F"/>
                </a:solidFill>
                <a:latin typeface="Amiri" pitchFamily="2" charset="-78"/>
                <a:ea typeface="Amiri" pitchFamily="2" charset="-78"/>
                <a:cs typeface="Amiri" pitchFamily="2" charset="-78"/>
              </a:rPr>
              <a:t> العِيدِ صَبَاحًا.</a:t>
            </a:r>
            <a:endParaRPr lang="ar-SA" sz="1950" dirty="0"/>
          </a:p>
        </p:txBody>
      </p:sp>
      <p:sp>
        <p:nvSpPr>
          <p:cNvPr id="40" name="Text 37"/>
          <p:cNvSpPr txBox="1"/>
          <p:nvPr/>
        </p:nvSpPr>
        <p:spPr>
          <a:xfrm>
            <a:off x="4892040" y="4888017"/>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Eid prayer is held in the morning.</a:t>
            </a:r>
            <a:endParaRPr lang="en-US" sz="950" dirty="0"/>
          </a:p>
        </p:txBody>
      </p:sp>
      <p:sp>
        <p:nvSpPr>
          <p:cNvPr id="41" name="Text 38"/>
          <p:cNvSpPr txBox="1"/>
          <p:nvPr/>
        </p:nvSpPr>
        <p:spPr>
          <a:xfrm>
            <a:off x="274320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تُقَامُ</a:t>
            </a:r>
            <a:endParaRPr lang="ar-SA" sz="2400" dirty="0"/>
          </a:p>
        </p:txBody>
      </p:sp>
      <p:sp>
        <p:nvSpPr>
          <p:cNvPr id="42" name="Text 39"/>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يُقِيمُ</a:t>
            </a:r>
            <a:endParaRPr lang="ar-SA" sz="24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4937760" y="5234026"/>
            <a:ext cx="670255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تُعَدُّ</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D6336C"/>
                </a:solidFill>
                <a:latin typeface="Amiri" pitchFamily="2" charset="-78"/>
                <a:ea typeface="Amiri" pitchFamily="2" charset="-78"/>
                <a:cs typeface="Amiri" pitchFamily="2" charset="-78"/>
              </a:rPr>
              <a:t>المَائِدَةُ</a:t>
            </a:r>
            <a:pPr rtl="1" algn="ctr" indent="0" marL="0">
              <a:buNone/>
            </a:pPr>
            <a:r>
              <a:rPr lang="ar-SA" altLang="en-US" sz="1950" b="1" dirty="0">
                <a:solidFill>
                  <a:srgbClr val="1B3B6F"/>
                </a:solidFill>
                <a:latin typeface="Amiri" pitchFamily="2" charset="-78"/>
                <a:ea typeface="Amiri" pitchFamily="2" charset="-78"/>
                <a:cs typeface="Amiri" pitchFamily="2" charset="-78"/>
              </a:rPr>
              <a:t> قَبْلَ المَغْرِبِ.</a:t>
            </a:r>
            <a:endParaRPr lang="ar-SA" sz="1950" dirty="0"/>
          </a:p>
        </p:txBody>
      </p:sp>
      <p:sp>
        <p:nvSpPr>
          <p:cNvPr id="45" name="Text 42"/>
          <p:cNvSpPr txBox="1"/>
          <p:nvPr/>
        </p:nvSpPr>
        <p:spPr>
          <a:xfrm>
            <a:off x="4892040" y="5625023"/>
            <a:ext cx="679399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table is prepared before sunset.</a:t>
            </a:r>
            <a:endParaRPr lang="en-US" sz="950" dirty="0"/>
          </a:p>
        </p:txBody>
      </p:sp>
      <p:sp>
        <p:nvSpPr>
          <p:cNvPr id="46" name="Text 43"/>
          <p:cNvSpPr txBox="1"/>
          <p:nvPr/>
        </p:nvSpPr>
        <p:spPr>
          <a:xfrm>
            <a:off x="274320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تُعَدُّ</a:t>
            </a:r>
            <a:endParaRPr lang="ar-SA" sz="2400" dirty="0"/>
          </a:p>
        </p:txBody>
      </p:sp>
      <p:sp>
        <p:nvSpPr>
          <p:cNvPr id="47" name="Text 44"/>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يُعِدُّ</a:t>
            </a:r>
            <a:endParaRPr lang="ar-SA" sz="24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Passive: u on the prefix, a before the last letter — and the noun after it is the SUBJECT (-u).</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PRESENT, PAST AND THE HEDGE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Every year — or the year I was seven?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العَادَةُ وَالذِّكْرَى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7145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GENERAL CUSTOM · CORE</a:t>
            </a:r>
            <a:endParaRPr lang="en-US" sz="850" dirty="0"/>
          </a:p>
        </p:txBody>
      </p:sp>
      <p:sp>
        <p:nvSpPr>
          <p:cNvPr id="18" name="Text 15"/>
          <p:cNvSpPr txBox="1"/>
          <p:nvPr/>
        </p:nvSpPr>
        <p:spPr>
          <a:xfrm>
            <a:off x="9992868"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يَصُومُ · يَتَصَدَّقُ</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يَصُومُ المُسْلِمُونَ فِي رَمَضَانَ.</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Muslims fast in Ramadan.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Every year: present.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MY MEMORY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صُمْتُ · زُرْنَا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صُمْتُ لِأَوَّلِ مَرَّةٍ عِنْدَمَا كُنْتُ فِي السَّابِعَةِ.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fasted for the first time when I was seven.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ṣāma → ṣum-tu.</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9888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REGIONAL CUSTOM · STRETCH</a:t>
            </a:r>
            <a:endParaRPr lang="en-US" sz="850" dirty="0"/>
          </a:p>
        </p:txBody>
      </p:sp>
      <p:sp>
        <p:nvSpPr>
          <p:cNvPr id="34" name="Text 31"/>
          <p:cNvSpPr txBox="1"/>
          <p:nvPr/>
        </p:nvSpPr>
        <p:spPr>
          <a:xfrm>
            <a:off x="2628900"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بَعْضِ البُلْدَانِ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بَعْضِ البُلْدَانِ تُزَيَّنُ الشَّوَارِعُ بِالفَوَانِيسِ.</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some countries the streets are decorated with lanterns.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Hedge customs.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ṣāma is hollow — shorten the stem.</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صُمْتُ لِأَوَّلِ مَرَّةٍ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ea typeface="Amiri" pitchFamily="2" charset="-78"/>
                <a:cs typeface="Amiri" pitchFamily="2" charset="-78"/>
              </a:rPr>
              <a:t>صَامْتُ لِأَوَّلِ مَرَّةٍ</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The cultural passive and tense choice</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المَبْنِيُّ لِلْمَجْهُولِ فِي الوَصْفِ الثَّقَافِيِّ</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Forming the present passive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يُفَعِّلُ → يُفَعَّلُ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يُزَيِّنُ ← يُزَيَّنُ   ·   يُوَزِّعُ ← يُوَزَّعُ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The passive verb agrees with the thing affected</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passive verb + nominative subject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يُزَيَّنُ الشَّارِعُ بِالفَوَانِيسِ   ·   تُتَبَادَلُ التَّهَانِي وَالهَدَايَا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Present for the general custom</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يَصُومُ / يَتَصَدَّقُ / تُقَامُ</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يَصُومُ المُسْلِمُونَ فِي رَمَضَانَ   ·   فِي بَعْضِ البُلْدَانِ تُزَيَّنُ الشَّوَارِعُ</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Past for personal experience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صُمْتُ / حَضَرْتُ / زُرْنَا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صُمْتُ لِأَوَّلِ مَرَّةٍ عِنْدَمَا كُنْتُ فِي السَّابِعَةِ   ·   زُرْنَا الأَقَارِبَ فِي أَوَّلِ أَيَّامِ العِيدِ</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form of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 الشَّارِعُ بِالفَوَانِيسِ.</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 الشَّارِعَ بِالفَوَانِيسِ.</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 الشَّارِعُ الفَوَانِيسَ.</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يَصُومُ المُسْلِمُونَ فِي ___.</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personal memory.</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صُمْتُ لِأَوَّلِ مَرَّةٍ فِي السَّابِعَةِ مِنْ عُمْرِي.</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صَامْتُ لِأَوَّلِ مَرَّةٍ فِي السَّابِعَةِ مِنْ عُمْرِي.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أَصُومُ لِأَوَّلِ مَرَّةٍ فِي السَّابِعَةِ مِنْ عُمْرِي.</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form of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يُزَيَّنُ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takes a ḍamma on the prefix and a fatḥa before the ending.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يُزَيَّنُ الشَّارِعُ بِالفَوَانِيسِ.</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 الشَّارِعَ بِالفَوَانِيسِ.</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 الشَّارِعُ الفَوَانِيسَ.</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thing affected becomes the nominative subject, and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introduces the means.</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يَصُومُ المُسْلِمُونَ فِي ___.</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رَمَضَانٍ</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رَمَضَانَ</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رَمَضَانُ</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رَمَضَان</a:t>
            </a:r>
            <a:pPr algn="l" indent="0" marL="0">
              <a:buNone/>
            </a:pPr>
            <a:r>
              <a:rPr lang="en-US" sz="1050" i="1" dirty="0">
                <a:solidFill>
                  <a:srgbClr val="8A6D1E"/>
                </a:solidFill>
                <a:latin typeface="Calibri" pitchFamily="34" charset="0"/>
                <a:cs typeface="Amiri" pitchFamily="2" charset="-78"/>
              </a:rPr>
              <a:t> is a diptote, so the genitive takes a bare fatḥa.</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personal memory.</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صُمْتُ لِأَوَّلِ مَرَّةٍ فِي السَّابِعَةِ مِنْ عُمْرِي.</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صَامْتُ لِأَوَّلِ مَرَّةٍ فِي السَّابِعَةِ مِنْ عُمْرِي.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أَصُومُ لِأَوَّلِ مَرَّةٍ فِي السَّابِعَةِ مِنْ عُمْرِي.</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صَامَ</a:t>
            </a:r>
            <a:pPr algn="l" indent="0" marL="0">
              <a:buNone/>
            </a:pPr>
            <a:r>
              <a:rPr lang="en-US" sz="1050" i="1" dirty="0">
                <a:solidFill>
                  <a:srgbClr val="8A6D1E"/>
                </a:solidFill>
                <a:latin typeface="Calibri" pitchFamily="34" charset="0"/>
                <a:cs typeface="Amiri" pitchFamily="2" charset="-78"/>
              </a:rPr>
              <a:t> is hollow, so the stem shortens to </a:t>
            </a:r>
            <a:pPr algn="l" indent="0" marL="0">
              <a:buNone/>
            </a:pPr>
            <a:r>
              <a:rPr lang="ar-SA" altLang="en-US" sz="1350" dirty="0">
                <a:solidFill>
                  <a:srgbClr val="8A6D1E"/>
                </a:solidFill>
                <a:latin typeface="Amiri" pitchFamily="2" charset="-78"/>
                <a:ea typeface="Amiri" pitchFamily="2" charset="-78"/>
                <a:cs typeface="Amiri" pitchFamily="2" charset="-78"/>
              </a:rPr>
              <a:t>صُمْـ</a:t>
            </a:r>
            <a:pPr algn="l" indent="0" marL="0">
              <a:buNone/>
            </a:pPr>
            <a:r>
              <a:rPr lang="en-US" sz="1050" i="1" dirty="0">
                <a:solidFill>
                  <a:srgbClr val="8A6D1E"/>
                </a:solidFill>
                <a:latin typeface="Calibri" pitchFamily="34" charset="0"/>
                <a:cs typeface="Amiri" pitchFamily="2" charset="-78"/>
              </a:rPr>
              <a:t> before the suffix.</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describe Ramadan and Eid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Custom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يَصُومُ</a:t>
            </a:r>
            <a:pPr rtl="1" algn="ctr" indent="0" marL="0">
              <a:buNone/>
            </a:pPr>
            <a:r>
              <a:rPr lang="ar-SA" altLang="en-US" sz="2200" b="1" dirty="0">
                <a:solidFill>
                  <a:srgbClr val="1B3B6F"/>
                </a:solidFill>
                <a:latin typeface="Amiri" pitchFamily="2" charset="-78"/>
                <a:ea typeface="Amiri" pitchFamily="2" charset="-78"/>
                <a:cs typeface="Amiri" pitchFamily="2" charset="-78"/>
              </a:rPr>
              <a:t> المُسْلِمُونَ فِي رَمَضَانَ</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General: present.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Passive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تُعَدُّ</a:t>
            </a:r>
            <a:pPr rtl="1" algn="ctr" indent="0" marL="0">
              <a:buNone/>
            </a:pPr>
            <a:r>
              <a:rPr lang="ar-SA" altLang="en-US" sz="2800" b="1" dirty="0">
                <a:solidFill>
                  <a:srgbClr val="1B3B6F"/>
                </a:solidFill>
                <a:latin typeface="Amiri" pitchFamily="2" charset="-78"/>
                <a:ea typeface="Amiri" pitchFamily="2" charset="-78"/>
                <a:cs typeface="Amiri" pitchFamily="2" charset="-78"/>
              </a:rPr>
              <a:t> المَائِدَةُ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is done.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Hedge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D6336C"/>
                </a:solidFill>
                <a:latin typeface="Amiri" pitchFamily="2" charset="-78"/>
                <a:ea typeface="Amiri" pitchFamily="2" charset="-78"/>
                <a:cs typeface="Amiri" pitchFamily="2" charset="-78"/>
              </a:rPr>
              <a:t>فِي بَعْضِ البُلْدَانِ</a:t>
            </a:r>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 تُزَيَّنُ الشَّوَارِعُ</a:t>
            </a:r>
            <a:endParaRPr lang="ar-SA" sz="1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Regional.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Memory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D5FBF"/>
                </a:solidFill>
                <a:latin typeface="Amiri" pitchFamily="2" charset="-78"/>
                <a:ea typeface="Amiri" pitchFamily="2" charset="-78"/>
                <a:cs typeface="Amiri" pitchFamily="2" charset="-78"/>
              </a:rPr>
              <a:t>زُرْنَا</a:t>
            </a:r>
            <a:pPr rtl="1" algn="ctr" indent="0" marL="0">
              <a:buNone/>
            </a:pPr>
            <a:r>
              <a:rPr lang="ar-SA" altLang="en-US" sz="2300" b="1" dirty="0">
                <a:solidFill>
                  <a:srgbClr val="1B3B6F"/>
                </a:solidFill>
                <a:latin typeface="Amiri" pitchFamily="2" charset="-78"/>
                <a:ea typeface="Amiri" pitchFamily="2" charset="-78"/>
                <a:cs typeface="Amiri" pitchFamily="2" charset="-78"/>
              </a:rPr>
              <a:t> الأَقَارِبَ فِي العِيدِ</a:t>
            </a:r>
            <a:endParaRPr lang="ar-SA" sz="23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Mine: past.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TENSE CHOICE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PASSIVE</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HEDGE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يَصُومُ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المُسْلِمُونَ شَهْرَ رَمَضَانَ مِنَ الفَجْرِ إِلَى المَغْرِبِ. وَفِي المَسَاءِ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تُعَدُّ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المَائِدَةُ وَيَجْتَمِعُ الأَقَارِبُ عَلَى الإِفْطَارِ.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وَفِي بَعْضِ البُلْدَانِ</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تُزَيَّنُ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الشَّوَارِعُ بِالفَوَانِيسِ. وَفِي عِيدِ الفِطْرِ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تُقَامُ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صَلَاةُ العِيدِ صَبَاحًا، وَقَدْ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زُرْنَا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الأَقَارِبَ فِي أَوَّلِ أَيَّامِ العِيدِ.</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Muslims fast the month of Ramadan from dawn to sunset. In the evening the table is prepared and relatives gather for iftar. In some countries the streets are decorated with lanterns. On Eid al-Fitr the Eid prayer is held in the morning, and we visited our relatives on the first day of Eid.</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يُزَيَّنُ الشَّارِعُ بِالفَوَانِيسِ</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street is decorated with lanterns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Passive verb, nominative subject, بِـ for the means.</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يَصُومُ المُسْلِمُونَ فِي رَمَضَانَ</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Muslims fast in Ramadan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Present for a general custom; رَمَضَان is a diptote.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صُمْتُ لِأَوَّلِ مَرَّةٍ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fasted for the first time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صَامَ is hollow, so the stem becomes صُمْـ.</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2F6FB0"/>
                </a:solidFill>
                <a:latin typeface="Calibri" pitchFamily="34" charset="0"/>
                <a:cs typeface="Amiri" pitchFamily="2" charset="-78"/>
              </a:rPr>
              <a:t>WE DO · PICTURE MATCH · WEBSITE GAME “SPECIAL OCCASION PLANNER (TOPIC GAME)”</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Plan the occasion: match the picture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مُخَطِّطُ الْمُنَاسَبَةِ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 special meal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gifts + visits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every year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نَتَبَادَلُ الْهَدَايَا وَنَزُورُ الأَقَارِبَ.</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تَحْدُثُ الْمُنَاسَبَةُ فِي تَارِيخٍ مُحَدَّدٍ كُلَّ عَامٍ.</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نَجْتَمِعُ مَعَ الأُسْرَةِ وَنَتَنَاوَلُ طَعَامًا خَاصًّا فِي الْمُنَاسَبَةِ.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مُخَطِّطُ الْمُنَاسَبَةِ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 special meal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نَجْتَمِعُ مَعَ الأُسْرَةِ وَنَتَنَاوَلُ طَعَامًا خَاصًّا فِي الْمُنَاسَبَةِ.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gather with the family and eat a special meal on the occasion.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gifts + visits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نَتَبَادَلُ الْهَدَايَا وَنَزُورُ الأَقَارِبَ.</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exchange gifts and visit relatives.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every year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تَحْدُثُ الْمُنَاسَبَةُ فِي تَارِيخٍ مُحَدَّدٍ كُلَّ عَامٍ.</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occasion takes place on a set date every year.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ISLAMIC CELEBRATIONS — EID, RAMADAN AND RELIGIOUS OCCASIONS”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Which occasion? Match the picture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المُنَاسَبَاتُ وَالاحْتِفَالَاتُ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crescent and star</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Kaaba and a mosque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and gifts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عِيدُ الأَضْحَى مُنَاسَبَةٌ إِسْلَامِيَّةٌ.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تَجْتَمِعُ العَائِلَةُ لِلاحْتِفَالِ.</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يَحْتَفِلُ المُسْلِمُونَ بِعِيدِ الفِطْرِ بَعْدَ رَمَضَانَ.</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المُنَاسَبَاتُ وَالاحْتِفَالَاتُ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crescent and star</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يَحْتَفِلُ المُسْلِمُونَ بِعِيدِ الفِطْرِ بَعْدَ رَمَضَانَ.</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Muslims celebrate Eid al-Fitr after Ramadan.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Kaaba and a mosque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عِيدُ الأَضْحَى مُنَاسَبَةٌ إِسْلَامِيَّةٌ.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Eid al-Adha is an Islamic occasion.</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and gifts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تَجْتَمِعُ العَائِلَةُ لِلاحْتِفَالِ.</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family gathers to celebrate.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السَّحُورُ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الإِفْطَارُ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لَيْلَةُ القَدْرِ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عِيدِيَّةٌ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صَلَاةُ العِيدِ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زَكَاةُ الفِطْرِ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يُزَيَّنُ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تُتَبَادَلُ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تُوَزَّعُ</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Ramadan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Eid</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verb</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Ramadan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السَّحُورُ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الإِفْطَارُ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لَيْلَةُ القَدْرِ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Eid</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عِيدِيَّةٌ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صَلَاةُ العِيدِ</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زَكَاةُ الفِطْرِ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verb</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يُزَيَّنُ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تُتَبَادَلُ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تُوَزَّعُ</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with a feminine plural subject.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يُتَبَادَلُ التَّهَانِي وَالهَدَايَا.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تُتَبَادَلُ التَّهَانِيَ وَالهَدَايَا.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تُتَبَادَلُ التَّهَانِي وَالهَدَايَا.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a general custom?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تَصَدَّقْتُ أَمْسِ قَبْلَ الصَّلَاةِ.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يَتَصَدَّقُ النَّاسُ قَبْلَ صَلَاةِ العِيدِ.</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سَأَتَصَدَّقُ غَدًا.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qualifies a regional custom accurately?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تُزَيَّنُ كُلُّ الشَّوَارِعِ فِي كُلِّ البُلْدَانِ.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بَعْضِ البُلْدَانِ تُزَيَّنُ الشَّوَارِعُ بِالفَوَانِيسِ.</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تُزَيَّنُ الشَّوَارِعُ أَبَدًا.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الحَلْوَى عَلَى الجِيرَانِ فِي أَوَّلِ أَيَّامِ 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يُوَزَّعُ</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with a feminine plural subject.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يُتَبَادَلُ التَّهَانِي وَالهَدَايَا.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تُتَبَادَلُ التَّهَانِيَ وَالهَدَايَا.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تُتَبَادَلُ التَّهَانِي وَالهَدَايَا.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agrees with the nominative subject </a:t>
            </a:r>
            <a:pPr algn="l" indent="0" marL="0">
              <a:buNone/>
            </a:pPr>
            <a:r>
              <a:rPr lang="ar-SA" altLang="en-US" sz="1350" dirty="0">
                <a:solidFill>
                  <a:srgbClr val="8A6D1E"/>
                </a:solidFill>
                <a:latin typeface="Amiri" pitchFamily="2" charset="-78"/>
                <a:ea typeface="Amiri" pitchFamily="2" charset="-78"/>
                <a:cs typeface="Amiri" pitchFamily="2" charset="-78"/>
              </a:rPr>
              <a:t>التَّهَانِي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a general custom?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تَصَدَّقْتُ أَمْسِ قَبْلَ الصَّلَاةِ.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يَتَصَدَّقُ النَّاسُ قَبْلَ صَلَاةِ العِيدِ.</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سَأَتَصَدَّقُ غَدًا.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tense describes what generally happens.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qualifies a regional custom accurately?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تُزَيَّنُ كُلُّ الشَّوَارِعِ فِي كُلِّ البُلْدَانِ.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البُلْدَانِ تُزَيَّنُ الشَّوَارِعُ بِالفَوَانِيسِ.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تُزَيَّنُ الشَّوَارِعُ أَبَدًا.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hedge reports where the custom is found without claiming it is universal.</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الحَلْوَى عَلَى الجِيرَانِ فِي أَوَّلِ أَيَّامِ 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يُوَزَّعُ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تُوَزِّعُ</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تُوَزَّعُ</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الحَلْوَى</a:t>
            </a:r>
            <a:pPr algn="l" indent="0" marL="0">
              <a:buNone/>
            </a:pPr>
            <a:r>
              <a:rPr lang="en-US" sz="1050" i="1" dirty="0">
                <a:solidFill>
                  <a:srgbClr val="8A6D1E"/>
                </a:solidFill>
                <a:latin typeface="Calibri" pitchFamily="34" charset="0"/>
                <a:cs typeface="Amiri" pitchFamily="2" charset="-78"/>
              </a:rPr>
              <a:t> is feminine and is the subject of the passive verb.</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يُزَيَّنُ الشَّارِعَ بِالفَوَانِيسِ.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Passive: the noun ends in -u!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صَامْتُ لِأَوَّلِ مَرَّةٍ.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ṣāma + -tu: which stem?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رَمَضَانٍ يَصُومُ النَّاسُ.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Ramaḍān: tanwīn or not?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يُزَيَّنُ الشَّارِعَ بِالفَوَانِيسِ.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يُزَيَّنُ الشَّارِعُ بِالفَوَانِيسِ.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 passive verb the affected noun becomes the nominative subject.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صَامْتُ لِأَوَّلِ مَرَّةٍ.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صُمْتُ لِأَوَّلِ مَرَّةٍ.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صَامَ</a:t>
            </a:r>
            <a:pPr algn="l" indent="0" marL="0">
              <a:buNone/>
            </a:pPr>
            <a:r>
              <a:rPr lang="en-US" sz="1150" b="1" dirty="0">
                <a:solidFill>
                  <a:srgbClr val="1B3B6F"/>
                </a:solidFill>
                <a:latin typeface="Calibri" pitchFamily="34" charset="0"/>
                <a:cs typeface="Amiri" pitchFamily="2" charset="-78"/>
              </a:rPr>
              <a:t> is a hollow verb and shortens before a consonant suffix.</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رَمَضَانٍ يَصُومُ النَّاسُ.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رَمَضَانَ يَصُومُ النَّاسُ.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رَمَضَان</a:t>
            </a:r>
            <a:pPr algn="l" indent="0" marL="0">
              <a:buNone/>
            </a:pPr>
            <a:r>
              <a:rPr lang="en-US" sz="1150" b="1" dirty="0">
                <a:solidFill>
                  <a:srgbClr val="1B3B6F"/>
                </a:solidFill>
                <a:latin typeface="Calibri" pitchFamily="34" charset="0"/>
                <a:cs typeface="Amiri" pitchFamily="2" charset="-78"/>
              </a:rPr>
              <a:t> is a diptote and takes no tanwīn.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Listening: a family describes Ramadan and Eid</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people break the fast?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sunset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dawn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midday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prepared shortly before sunset?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lanterns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prayer mats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table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street decoration?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happens everywhere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never happens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happens in some countries, but not always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was the speaker when first fasting?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Seven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Twelve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children receive at Eid?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New lanterns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Eid money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prayer book</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buNone/>
            </a:pPr>
            <a:r>
              <a:rPr lang="en-US" sz="1250" dirty="0">
                <a:solidFill>
                  <a:srgbClr val="1E6B52"/>
                </a:solidFill>
                <a:latin typeface="Calibri" pitchFamily="34" charset="0"/>
                <a:cs typeface="Amiri" pitchFamily="2" charset="-78"/>
              </a:rPr>
              <a:t>Ramadan first, then Eid.</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رَمَضَانَ يَصُومُ المُسْلِمُونَ مِنَ الفَجْرِ إِلَى المَغْرِبِ، ثُمَّ يُفْطِرُونَ مَعًا.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Ramadan Muslims fast from dawn to sunset, then break their fast together.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عِنْدَنَا تُعَدُّ المَائِدَةُ قَبْلَ المَغْرِبِ بِقَلِيلٍ، وَيَجْتَمِعُ الأَقَارِبُ وَالجِيرَانُ.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ours the table is prepared shortly before sunset, and relatives and neighbours gather.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وَفِي بَعْضِ البُلْدَانِ تُزَيَّنُ الشَّوَارِعُ بِالفَوَانِيسِ، وَلٰكِنْ لَيْسَ دَائِمًا؛ فَالعَادَاتُ تَخْتَلِفُ.</a:t>
            </a:r>
            <a:endParaRPr lang="ar-SA" sz="18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some countries the streets are decorated with lanterns, but not always — customs differ.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صُمْتُ لِأَوَّلِ مَرَّةٍ عِنْدَمَا كُنْتُ فِي السَّابِعَةِ، وَكَانَتْ تَجْرِبَةً لَا تُنْسَى.</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fasted for the first time when I was seven, and it was an unforgettable experience.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وَفِي عِيدِ الفِطْرِ تُقَامُ صَلَاةُ العِيدِ صَبَاحًا، وَتُتَبَادَلُ التَّهَانِي، وَتُوَزَّعُ الحَلْوَى عَلَى الجِيرَانِ، وَيَأْخُذُ الأَطْفَالُ العِيدِيَّةَ.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Eid al-Fitr the Eid prayer is held in the morning, greetings are exchanged, sweets are handed out to neighbours, and children receive Eid money.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 people break the fast?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sunset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dawn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midday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يَصُومُ … مِنَ الفَجْرِ إِلَى المَغْرِبِ، ثُمَّ يُفْطِرُونَ.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prepared shortly before sunset?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lanterns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prayer mats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table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تُعَدُّ المَائِدَةُ قَبْلَ المَغْرِبِ بِقَلِيلٍ.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describe street decoration?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happens everywhere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never happens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happens in some countries, but not always</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بَعْضِ البُلْدَانِ تُزَيَّنُ الشَّوَارِعُ … وَلٰكِنْ لَيْسَ دَائِمًا.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was the speaker when first fasting?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Seven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Twelve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صُمْتُ لِأَوَّلِ مَرَّةٍ عِنْدَمَا كُنْتُ فِي السَّابِعَةِ.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children receive at Eid?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New lanterns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Eid money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prayer book</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وَيَأْخُذُ الأَطْفَالُ العِيدِيَّةَ.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buNone/>
            </a:pPr>
            <a:r>
              <a:rPr lang="en-US" sz="1250" dirty="0">
                <a:solidFill>
                  <a:srgbClr val="1E6B52"/>
                </a:solidFill>
                <a:latin typeface="Calibri" pitchFamily="34" charset="0"/>
                <a:cs typeface="Amiri" pitchFamily="2" charset="-78"/>
              </a:rPr>
              <a:t>Ramadan first, then Eid.</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Celebration planner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Celebration planner</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Plan a special occasion using date, activities, food, clothing and greetings. A partner asks follow-up questions and checks the sequence of events.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plan a special occasion: date, activities, food, clothing and greetings.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Write it as a short sequence: awwalan … thumma … baʿda dhālika …</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partner asks two follow-up questions (matā? mādhā talbasūn?).</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Check the order of events and one passive verb (tuzayyan / tuwazzaʿ).</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steps in the present: “najtamiʿu … thumma nakulu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steps with sequencing words and one passive verb.</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plan + a past memory (iḥtafalnā …) and an object pronoun (nuʿṭīhā li-…).</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نَتَبَادَلُ الهَدَايَا</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 exchange gifts</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تُزَيَّنُ البُيُوتُ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houses are decorated</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عِيدٌ مُبَارَكٌ! / كُلُّ عَامٍ وَأَنْتُمْ بِخَيْرٍ</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Eid Mubarak! / many happy returns</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Speaking: describe a celebration accurately</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مَا يَحْدُثُ عَادَةً فِي رَمَضَانَ. اِسْتَعْمِلْ فِعْلًا مَبْنِيًّا لِلْمَجْهُولِ.</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تَخْتَلِفُ العَادَاتُ مِنْ بَلَدٍ إِلَى بَلَدٍ؟ أَعْطِ مِثَالًا.</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مُنَاسَبَةً حَضَرْتَهَا بِنَفْسِكَ، مُسْتَعْمِلًا الفِعْلَ المَاضِيَ.</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D5FBF"/>
                </a:solidFill>
                <a:latin typeface="Amiri" pitchFamily="2" charset="-78"/>
                <a:ea typeface="Amiri" pitchFamily="2" charset="-78"/>
                <a:cs typeface="Amiri" pitchFamily="2" charset="-78"/>
              </a:rPr>
              <a:t>فِي رَمَضَانَ يَصُومُ المُسْلِمُونَ ، وَتُعَدُّ ___ .</a:t>
            </a:r>
            <a:endParaRPr lang="ar-SA" sz="15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بَعْضِ البُلْدَانِ ___ ، بَيْنَمَا ___ .</a:t>
            </a:r>
            <a:endParaRPr lang="ar-SA" sz="16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فِي العِيدِ المَاضِي ___ ، وَكَانَ يَوْمًا ___ .</a:t>
            </a:r>
            <a:endParaRPr lang="ar-SA" sz="140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مَا يَحْدُثُ عَادَةً فِي رَمَضَانَ.</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what usually happens in Ramadan.</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يَصُومُ المُسْلِمُونَ مِنَ الفَجْرِ إِلَى المَغْرِبِ، وَفِي بَعْضِ البُلْدَانِ تُزَيَّنُ الشَّوَارِعُ بِالفَوَانِيسِ.</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Muslims fast from dawn to sunset, and in some countries the streets are decorated with lanterns.</a:t>
            </a:r>
            <a:endParaRPr lang="en-US" sz="7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sentences naming Ramadan and Eid customs in the present tense.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Ramadan and Eid customs in the present tense.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passive verbs with accurate nominative subjects.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two passive verbs with a nominative subject.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past-tense personal memory and a hedge that acknowledges regional difference.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present custom · 2 passives · a past memory · a hedge.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تُعَدُّ ______ قَبْلَ المَغْرِبِ.</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prepared before sunset.</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تُتَبَادَلُ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are exchanged.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بَعْضِ البُلْدَانِ تُزَيَّنُ ______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countries … are decorated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صُمْتُ لِأَوَّلِ مَرَّةٍ عِنْدَمَا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fasted for the first time when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فِي رَمَضَانَ يَصُومُ المُسْلِمُونَ مِنَ ______ إِلَى ______ .</a:t>
            </a:r>
            <a:endParaRPr lang="ar-SA" sz="14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Ramadan Muslims fast from …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المَسَاءِ نُفْطِرُ مَعَ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evening we break our fast with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صَبَاحِ العِيدِ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Eid morning we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يَأْخُذُ الأَطْفَالُ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Children receive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يَصُومُ  ·  صُمْتُ · صُمْنَا  ·  يُفْطِرُ  ·  الإِفْطَارُ  ·  السَّحُورُ  ·  تُعَدُّ  ·  تُزَيَّنُ  ·  تُتَبَادَلُ  ·  تُوَزَّعُ  ·  تُقَامُ  ·  صَلَاةُ العِيدِ  ·  فِي بَعْضِ البُلْدَانِ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eighty to ninety words describing Ramadan and Eid. Use the present tense for the general customs, at least two passive verbs, one past-tense sentence about a personal or observed experience, and one hedge acknowledging that customs differ.</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passive verbs, each with a nominative subject.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present-tense sentence describing a general custom.</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past-tense sentence, with a correctly shortened hollow verb if you use </a:t>
            </a:r>
            <a:pPr algn="l" indent="0" marL="0">
              <a:buNone/>
            </a:pPr>
            <a:r>
              <a:rPr lang="ar-SA" altLang="en-US" sz="1550" dirty="0">
                <a:solidFill>
                  <a:srgbClr val="1F2A37"/>
                </a:solidFill>
                <a:latin typeface="Amiri" pitchFamily="2" charset="-78"/>
                <a:ea typeface="Amiri" pitchFamily="2" charset="-78"/>
                <a:cs typeface="Amiri" pitchFamily="2" charset="-78"/>
              </a:rPr>
              <a:t>صَامَ</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hedge such as </a:t>
            </a:r>
            <a:pPr algn="l" indent="0" marL="0">
              <a:buNone/>
            </a:pPr>
            <a:r>
              <a:rPr lang="ar-SA" altLang="en-US" sz="1550" dirty="0">
                <a:solidFill>
                  <a:srgbClr val="1F2A37"/>
                </a:solidFill>
                <a:latin typeface="Amiri" pitchFamily="2" charset="-78"/>
                <a:ea typeface="Amiri" pitchFamily="2" charset="-78"/>
                <a:cs typeface="Amiri" pitchFamily="2" charset="-78"/>
              </a:rPr>
              <a:t>فِي بَعْضِ البُلْدَانِ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لَيْسَ دَائِمًا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الشَّهْرُ عِنْدَ رُؤْيَةِ الهِلَالِ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month begins when the crescent is sighted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يَزْدَادُ التَّضَامُنُ المُجْتَمَعِيُّ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community solidarity increases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تُوَزَّعُ الوَجَبَاتُ عَلَى المُحْتَاجِينَ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meals are distributed to those in need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فَلِكُلِّ مُجْتَمَعٍ طَرِيقَتُهُ</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each community has its own way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وَكَانَ يَوْمًا جَمِيلًا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 was a beautiful day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يَصُومُ المُسْلِمُونَ شَهْرَ رَمَضَانَ مِنَ الفَجْرِ إِلَى المَغْرِبِ، وَيَبْدَأُ الشَّهْرُ عِنْدَ رُؤْيَةِ الهِلَالِ. وَفِي المَسَاءِ تُعَدُّ المَائِدَةُ وَيَجْتَمِعُ الأَقَارِبُ عَلَى الإِفْطَارِ. وَيَزْدَادُ التَّضَامُنُ المُجْتَمَعِيُّ، فَيَتَصَدَّقُ النَّاسُ وَتُوَزَّعُ الوَجَبَاتُ عَلَى المُحْتَاجِينَ. وَفِي بَعْضِ البُلْدَانِ تُزَيَّنُ الشَّوَارِعُ بِالفَوَانِيسِ، وَلٰكِنْ لَيْسَ دَائِمًا؛ فَالعَادَاتُ تَخْتَلِفُ مِنْ مَكَانٍ إِلَى مَكَانٍ. وَفِي عِيدِ الفِطْرِ تُقَامُ صَلَاةُ العِيدِ صَبَاحًا، وَتُتَبَادَلُ التَّهَانِي، وَيَأْخُذُ الأَطْفَالُ العِيدِيَّةَ. وَقَدْ زُرْنَا الأَقَارِبَ فِي أَوَّلِ أَيَّامِ العِيدِ، وَكَانَ يَوْمًا جَمِيلًا.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Muslims fast the month of Ramadan from dawn to sunset, and the month begins when the crescent is sighted. In the evening the table is prepared and relatives gather for iftar. Community solidarity increases: people give charity and meals are distributed to those in need. In some countries the streets are decorated with lanterns, but not always — customs differ from place to place. On Eid al-Fitr the Eid prayer is held in the morning, greetings are exchanged and children receive Eid money. We visited our relatives on the first day of Eid, and it was a beautiful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present general custom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passive 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memory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hedge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General customs are in the present.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ar-SA" altLang="en-US" sz="1700" dirty="0">
                <a:solidFill>
                  <a:srgbClr val="1F2A37"/>
                </a:solidFill>
                <a:latin typeface="Amiri" pitchFamily="2" charset="-78"/>
                <a:ea typeface="Amiri" pitchFamily="2" charset="-78"/>
                <a:cs typeface="Amiri" pitchFamily="2" charset="-78"/>
              </a:rPr>
              <a:t>رَمَضَانَ</a:t>
            </a:r>
            <a:pPr algn="l" indent="0" marL="0">
              <a:buNone/>
            </a:pPr>
            <a:r>
              <a:rPr lang="en-US" sz="1300" dirty="0">
                <a:solidFill>
                  <a:srgbClr val="1F2A37"/>
                </a:solidFill>
                <a:latin typeface="Calibri" pitchFamily="34" charset="0"/>
                <a:cs typeface="Amiri" pitchFamily="2" charset="-78"/>
              </a:rPr>
              <a:t> has no tanwīn.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my passive verb the noun ends in -u.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passive verb agrees in gender (</a:t>
            </a:r>
            <a:pPr algn="l" indent="0" marL="0">
              <a:buNone/>
            </a:pPr>
            <a:r>
              <a:rPr lang="ar-SA" altLang="en-US" sz="1700" dirty="0">
                <a:solidFill>
                  <a:srgbClr val="1F2A37"/>
                </a:solidFill>
                <a:latin typeface="Amiri" pitchFamily="2" charset="-78"/>
                <a:ea typeface="Amiri" pitchFamily="2" charset="-78"/>
                <a:cs typeface="Amiri" pitchFamily="2" charset="-78"/>
              </a:rPr>
              <a:t>تُزَيَّنُ الشَّوَارِعُ</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past memory (</a:t>
            </a:r>
            <a:pPr algn="l" indent="0" marL="0">
              <a:buNone/>
            </a:pPr>
            <a:r>
              <a:rPr lang="ar-SA" altLang="en-US" sz="1700" dirty="0">
                <a:solidFill>
                  <a:srgbClr val="1F2A37"/>
                </a:solidFill>
                <a:latin typeface="Amiri" pitchFamily="2" charset="-78"/>
                <a:ea typeface="Amiri" pitchFamily="2" charset="-78"/>
                <a:cs typeface="Amiri" pitchFamily="2" charset="-78"/>
              </a:rPr>
              <a:t>صُمْتُ</a:t>
            </a:r>
            <a:pPr algn="l" indent="0" marL="0">
              <a:buNone/>
            </a:pPr>
            <a:r>
              <a:rPr lang="en-US" sz="1300" dirty="0">
                <a:solidFill>
                  <a:srgbClr val="1F2A37"/>
                </a:solidFill>
                <a:latin typeface="Calibri" pitchFamily="34" charset="0"/>
                <a:cs typeface="Amiri" pitchFamily="2" charset="-78"/>
              </a:rPr>
              <a:t>) and a hedge.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 الحَلْوَى عَلَى الجِيرَانِ.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 الحَلْوَى الجِيرَانَ.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تُوَزِّعُ الحَلْوَى عَلَى الجِيرَانِ.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يَصُومُ النَّاسُ فِي</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 of </a:t>
            </a:r>
            <a:pPr algn="l" indent="0" marL="0">
              <a:buNone/>
            </a:pPr>
            <a:r>
              <a:rPr lang="ar-SA" altLang="en-US" sz="1650" b="1" dirty="0">
                <a:solidFill>
                  <a:srgbClr val="1B3B6F"/>
                </a:solidFill>
                <a:latin typeface="Amiri" pitchFamily="2" charset="-78"/>
                <a:ea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صَامْنَا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passive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تُوَزَّعُ الحَلْوَى عَلَى الجِيرَانِ.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تُوَزَّعُ الحَلْوَى الجِيرَانَ.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تُوَزِّعُ الحَلْوَى عَلَى الجِيرَانِ.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verb takes a nominative subject and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for the recipients.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يَصُومُ النَّاسُ فِي</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رَمَضَانٍ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رَمَضَانَ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رَمَضَانًا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رَمَضَان</a:t>
            </a:r>
            <a:pPr algn="l" indent="0" marL="0">
              <a:buNone/>
            </a:pPr>
            <a:r>
              <a:rPr lang="en-US" sz="1050" i="1" dirty="0">
                <a:solidFill>
                  <a:srgbClr val="8A6D1E"/>
                </a:solidFill>
                <a:latin typeface="Calibri" pitchFamily="34" charset="0"/>
                <a:cs typeface="Amiri" pitchFamily="2" charset="-78"/>
              </a:rPr>
              <a:t> is a diptote, so the genitive is a bare fatḥa.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form of </a:t>
            </a:r>
            <a:pPr algn="l" indent="0" marL="0">
              <a:buNone/>
            </a:pPr>
            <a:r>
              <a:rPr lang="ar-SA" altLang="en-US" sz="1650" b="1" dirty="0">
                <a:solidFill>
                  <a:srgbClr val="1B3B6F"/>
                </a:solidFill>
                <a:latin typeface="Amiri" pitchFamily="2" charset="-78"/>
                <a:ea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صُمْنَا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صَامْنَا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صِمْنَا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hollow stem shortens to </a:t>
            </a:r>
            <a:pPr algn="l" indent="0" marL="0">
              <a:buNone/>
            </a:pPr>
            <a:r>
              <a:rPr lang="ar-SA" altLang="en-US" sz="1350" dirty="0">
                <a:solidFill>
                  <a:srgbClr val="8A6D1E"/>
                </a:solidFill>
                <a:latin typeface="Amiri" pitchFamily="2" charset="-78"/>
                <a:ea typeface="Amiri" pitchFamily="2" charset="-78"/>
                <a:cs typeface="Amiri" pitchFamily="2" charset="-78"/>
              </a:rPr>
              <a:t>صُمْـ</a:t>
            </a:r>
            <a:pPr algn="l" indent="0" marL="0">
              <a:buNone/>
            </a:pPr>
            <a:r>
              <a:rPr lang="en-US" sz="1050" i="1" dirty="0">
                <a:solidFill>
                  <a:srgbClr val="8A6D1E"/>
                </a:solidFill>
                <a:latin typeface="Calibri" pitchFamily="34" charset="0"/>
                <a:cs typeface="Amiri" pitchFamily="2" charset="-78"/>
              </a:rPr>
              <a:t> before a consonant suffix.</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one month, many customs</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يَصُومُ المُسْلِمُونَ شَهْرَ رَمَضَانَ كُلَّ سَنَةٍ، وَيَبْدَأُ الشَّهْرُ عِنْدَ رُؤْيَةِ الهِلَالِ. وَإِلَى جَانِبِ الصِّيَامِ يَزْدَادُ التَّضَامُنُ المُجْتَمَعِيُّ: يَتَصَدَّقُ النَّاسُ، وَتُوَزَّعُ وَجَبَاتُ الإِفْطَارِ عَلَى المُحْتَاجِينَ. وَتَخْتَلِفُ العَادَاتُ مِنْ بَلَدٍ إِلَى بَلَدٍ؛ فَفِي بَعْضِ المُدُنِ تُزَيَّنُ الشَّوَارِعُ بِالفَوَانِيسِ، وَفِي مُدُنٍ أُخْرَى يَكُونُ الاحْتِفَالُ أَبْسَطَ وَأَهْدَأَ. وَفِي عِيدِ الفِطْرِ تُقَامُ صَلَاةُ العِيدِ فِي الصَّبَاحِ، ثُمَّ تُتَبَادَلُ التَّهَانِي وَتُزَارُ الأَقَارِبُ. وَمِنَ الخَطَأِ أَنْ نَتَصَوَّرَ أَنَّ الاحْتِفَالَ وَاحِدٌ فِي كُلِّ مَكَانٍ؛ فَلِكُلِّ مُجْتَمَعٍ طَرِيقَتُهُ.</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رُؤْيَةِ الهِلَالِ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sighting of the crescent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التَّضَامُنُ المُجْتَمَعِيُّ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community solidarity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يَتَصَدَّقُ</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gives charity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وَجَبَاتُ الإِفْطَارِ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iftar meals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المُحْتَاجِينَ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those in need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أَبْسَطَ وَأَهْدَأَ</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simpler and calmer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تُقَامُ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held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تُتَبَادَلُ التَّهَانِي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greetings are exchanged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تُزَارُ الأَقَارِبُ</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relatives are visited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نَتَصَوَّرَ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imagine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marks the start of the month?</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Friday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sighting of the crescent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public holiday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increases alongside fasting?</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Working hours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Community solidarity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distributed to those in need?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Iftar meals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Lanterns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celebrations differ between cities?</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identical everywhere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decorate the streets; in others it is simpler and quieter</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capitals celebrate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Imagining the celebration is the same everywhere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Visiting relatives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Giving to charity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marks the start of the month?</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Friday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sighting of the crescent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public holiday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يَبْدَأُ الشَّهْرُ عِنْدَ رُؤْيَةِ الهِلَالِ.</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increases alongside fasting?</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Working hours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Community solidarity</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يَزْدَادُ التَّضَامُنُ المُجْتَمَعِيُّ.</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distributed to those in need?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Iftar meals</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Lanterns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Books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تُوَزَّعُ وَجَبَاتُ الإِفْطَارِ عَلَى المُحْتَاجِينَ.</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celebrations differ between cities?</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identical everywhere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Some decorate the streets; in others it is simpler and quieter</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capitals celebrate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فَفِي بَعْضِ المُدُنِ تُزَيَّنُ الشَّوَارِعُ … وَفِي مُدُنٍ أُخْرَى يَكُونُ الاحْتِفَالُ أَبْسَطَ.</a:t>
            </a:r>
            <a:endParaRPr lang="ar-SA"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Imagining the celebration is the same everywhere</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Visiting relatives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Giving to charity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وَمِنَ الخَطَأِ أَنْ نَتَصَوَّرَ أَنَّ الاحْتِفَالَ وَاحِدٌ فِي كُلِّ مَكَانٍ.</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Celebration Mission — Passive, Tense and Accuracy</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the passive of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يُزَيَّنُ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زَيَّنَ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بِالفَوَانِيسِ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الشَّارِعُ</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الشَّارِعَ</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الشَّارِعِ</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يَصُومُ النَّاسُ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رَمَضَانَ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pre-dawn meal?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الإِفْطَارُ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الحَلْوَى</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السَّحُورُ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money given to children at Eid?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عِيدِيَّةٌ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زَكَاةُ الفِطْرِ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تَكْبِيرَاتُ العِيدِ</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صَامْنَا</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صُمْنَا</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صِمْنَا</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the passive of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يَزِينُ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يُزَيَّنُ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زَيَّنَ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ḍamma on the prefix and a fatḥa before the ending.</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ea typeface="Amiri" pitchFamily="2" charset="-78"/>
                <a:cs typeface="Amiri" pitchFamily="2" charset="-78"/>
              </a:rPr>
              <a:t>يُزَيَّنُ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بِالفَوَانِيسِ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الشَّارِعُ</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الشَّارِعَ</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الشَّارِعِ</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affected noun becomes the nominative subject.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ea typeface="Amiri" pitchFamily="2" charset="-78"/>
                <a:cs typeface="Amiri" pitchFamily="2" charset="-78"/>
              </a:rPr>
              <a:t>فِي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يَصُومُ النَّاسُ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رَمَضَانٍ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رَمَضَانُ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رَمَضَانَ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رَمَضَان</a:t>
            </a:r>
            <a:pPr algn="l" indent="0" marL="0">
              <a:buNone/>
            </a:pPr>
            <a:r>
              <a:rPr lang="en-US" sz="1050" i="1" dirty="0">
                <a:solidFill>
                  <a:srgbClr val="8A6D1E"/>
                </a:solidFill>
                <a:latin typeface="Calibri" pitchFamily="34" charset="0"/>
                <a:cs typeface="Amiri" pitchFamily="2" charset="-78"/>
              </a:rPr>
              <a:t> takes no tanwīn.</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pre-dawn meal?</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الإِفْطَارُ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الحَلْوَى</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السَّحُورُ</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السَّحُور</a:t>
            </a:r>
            <a:pPr algn="l" indent="0" marL="0">
              <a:buNone/>
            </a:pPr>
            <a:r>
              <a:rPr lang="en-US" sz="1050" i="1" dirty="0">
                <a:solidFill>
                  <a:srgbClr val="8A6D1E"/>
                </a:solidFill>
                <a:latin typeface="Calibri" pitchFamily="34" charset="0"/>
                <a:cs typeface="Amiri" pitchFamily="2" charset="-78"/>
              </a:rPr>
              <a:t> is eaten before dawn.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money given to children at Eid?</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عِيدِيَّةٌ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زَكَاةُ الفِطْرِ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تَكْبِيرَاتُ العِيدِ</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العِيدِيَّة</a:t>
            </a:r>
            <a:pPr algn="l" indent="0" marL="0">
              <a:buNone/>
            </a:pPr>
            <a:r>
              <a:rPr lang="en-US" sz="1050" i="1" dirty="0">
                <a:solidFill>
                  <a:srgbClr val="8A6D1E"/>
                </a:solidFill>
                <a:latin typeface="Calibri" pitchFamily="34" charset="0"/>
                <a:cs typeface="Amiri" pitchFamily="2" charset="-78"/>
              </a:rPr>
              <a:t> is the Eid gift of money.</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صَامَ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صَامْنَا</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صُمْنَا</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صِمْنَا</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hollow verb shortens before a consonant suffix.</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TE-L06 · Celebrations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TE-L07: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TE-L07 · National Festivals and Traditions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عِيدُ المِيلَادِ</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Christmas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كَنِيسَةٌ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church</a:t>
            </a:r>
            <a:pPr indent="0" marL="0">
              <a:buNone/>
            </a:pPr>
            <a:r>
              <a:rPr lang="ar-SA" sz="1000" i="1" dirty="0">
                <a:solidFill>
                  <a:srgbClr val="5A6472"/>
                </a:solidFill>
                <a:latin typeface="Calibri" pitchFamily="34" charset="0"/>
                <a:ea typeface="Amiri" pitchFamily="2" charset="-78"/>
                <a:cs typeface="Amiri" pitchFamily="2" charset="-78"/>
              </a:rPr>
              <a:t>  pl. كَنَائِسُ</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مِهْرَجَانٌ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festival</a:t>
            </a:r>
            <a:pPr indent="0" marL="0">
              <a:buNone/>
            </a:pPr>
            <a:r>
              <a:rPr lang="ar-SA" sz="1000" i="1" dirty="0">
                <a:solidFill>
                  <a:srgbClr val="5A6472"/>
                </a:solidFill>
                <a:latin typeface="Calibri" pitchFamily="34" charset="0"/>
                <a:ea typeface="Amiri" pitchFamily="2" charset="-78"/>
                <a:cs typeface="Amiri" pitchFamily="2" charset="-78"/>
              </a:rPr>
              <a:t>  pl. مِهْرَجَانَاتٌ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العَيْشُ المُشْتَرَكُ</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coexistence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يَحْتَرِمُ الاخْتِلَافَ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respects difference</a:t>
            </a:r>
            <a:pPr indent="0" marL="0">
              <a:buNone/>
            </a:pPr>
            <a:r>
              <a:rPr lang="ar-SA" sz="1000" i="1" dirty="0">
                <a:solidFill>
                  <a:srgbClr val="5A6472"/>
                </a:solidFill>
                <a:latin typeface="Calibri" pitchFamily="34" charset="0"/>
                <a:ea typeface="Amiri" pitchFamily="2" charset="-78"/>
                <a:cs typeface="Amiri" pitchFamily="2" charset="-78"/>
              </a:rPr>
              <a:t>  تَحْتَرِمُ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other communities live in your town or in Arab countries, and what do they celebrate?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مَدِينَتِي يَعِيشُ … وَيَحْتَفِلُونَ بِـ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Ramadan and Eid words; write six present-tense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description with two passive verbs.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with a memory and a hedge.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50" b="1" dirty="0">
                <a:solidFill>
                  <a:srgbClr val="FFFFFF"/>
                </a:solidFill>
                <a:latin typeface="Cambria" pitchFamily="34" charset="0"/>
                <a:cs typeface="Amiri" pitchFamily="2" charset="-78"/>
              </a:rPr>
              <a:t>TE-L07 · National Festivals and Traditions</a:t>
            </a:r>
            <a:endParaRPr lang="en-US" sz="23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الأَعْيَادُ الوَطَنِيَّةُ وَالتَّقَالِيدُ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words for TE-L07.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TE-L06 · Faith Celebrations and Special Occasions</dc:title>
  <dc:subject>PptxGenJS Presentation</dc:subject>
  <dc:creator>Al Madina Online School · Arabic Department</dc:creator>
  <cp:lastModifiedBy>Al Madina Online School · Arabic Department</cp:lastModifiedBy>
  <cp:revision>1</cp:revision>
  <dcterms:created xsi:type="dcterms:W3CDTF">2026-10-11T06:44:18Z</dcterms:created>
  <dcterms:modified xsi:type="dcterms:W3CDTF">2026-10-11T06:44:18Z</dcterms:modified>
</cp:coreProperties>
</file>