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TE-L06 — Faith Celebrations and Special Occasions. Website: Advanced Topics › Topic E (The International World) › Lesson 6.
The website builds this lesson on the D6-L03 lesson engine, with the Topic focus “Describe the purpose, practices and personal meaning of celebrations.” (grammar: Past and present; sequencing; object pronouns; skills: Listening · Writing) and the application challenge “Celebration planner”.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the relative clause with fīhi and the broken plural masājid.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(6 min — it takes the speaking-rehearsal slot; the website speaking slide after it is FLEX) — from the website Topic page: “Plan a special occasion using date, activities, food, clothing and greetings. A partner asks follow-up questions and checks the sequence of events.”
Website Topic E challenge “Celebration planner”: plan a special occasion using date, activities, food, clothing and greetings; a partner asks follow-up questions and checks the sequence of events. Any occasion is welcome (Eid, a wedding, a birthday, a national day); students who prefer not to share family details invent an occasion.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(TE-L07 · National Festivals and Traditions) will spend class time USING this language, so students prepare it tonight — short, simple, easy to access (school guidance: “Simple, Short, Interesting, Relevant, Easy to access”). The five words come from the website TE-L07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Faith Celebrations and Special Occasions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الِاحْتِفَالَاتُ الدِّينِيَّةُ وَالمُنَاسَبَاتُ الخَاصَّةُ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purpose, practices and personal meaning of celebrations.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TE-L06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مُنَاسَبَةٌ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of worship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belief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احْتِفَالٌ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celebration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هَدِيَّةٌ</a:t>
            </a:r>
            <a:pPr algn="l" indent="0" marL="0">
              <a:buNone/>
            </a:pPr>
            <a:r>
              <a:rPr lang="en-US" sz="1250" b="1" dirty="0">
                <a:solidFill>
                  <a:srgbClr val="1B3B6F"/>
                </a:solidFill>
                <a:latin typeface="Calibri" pitchFamily="34" charset="0"/>
                <a:cs typeface="Amiri" pitchFamily="2" charset="-78"/>
              </a:rPr>
              <a:t> mean? (pl. </a:t>
            </a:r>
            <a:pPr algn="l" indent="0" marL="0">
              <a:buNone/>
            </a:pPr>
            <a:r>
              <a:rPr lang="ar-SA" altLang="en-US" sz="1650" b="1" dirty="0">
                <a:solidFill>
                  <a:srgbClr val="1B3B6F"/>
                </a:solidFill>
                <a:latin typeface="Amiri" pitchFamily="2" charset="-78"/>
                <a:cs typeface="Amiri" pitchFamily="2" charset="-78"/>
              </a:rPr>
              <a:t>هَدَايَا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guest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الكَنِيسَةُ مَكَانٌ يُصَلِّي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المَسِيحِيُّونَ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of </a:t>
            </a:r>
            <a:pPr algn="l" indent="0" marL="0">
              <a:buNone/>
            </a:pPr>
            <a:r>
              <a:rPr lang="ar-SA" altLang="en-US" sz="1650" b="1" dirty="0">
                <a:solidFill>
                  <a:srgbClr val="1B3B6F"/>
                </a:solidFill>
                <a:latin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مَسْجِدَاتٌ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مُسْجِدُونَ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مُنَاسَبَةٌ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 of worship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belief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احْتِفَالٌ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celebration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هَدِيَّةٌ</a:t>
            </a:r>
            <a:pPr algn="l" indent="0" marL="0">
              <a:buNone/>
            </a:pPr>
            <a:r>
              <a:rPr lang="en-US" sz="1250" b="1" dirty="0">
                <a:solidFill>
                  <a:srgbClr val="1B3B6F"/>
                </a:solidFill>
                <a:latin typeface="Calibri" pitchFamily="34" charset="0"/>
                <a:cs typeface="Amiri" pitchFamily="2" charset="-78"/>
              </a:rPr>
              <a:t> mean? (pl. </a:t>
            </a:r>
            <a:pPr algn="l" indent="0" marL="0">
              <a:buNone/>
            </a:pPr>
            <a:r>
              <a:rPr lang="ar-SA" altLang="en-US" sz="1650" b="1" dirty="0">
                <a:solidFill>
                  <a:srgbClr val="1B3B6F"/>
                </a:solidFill>
                <a:latin typeface="Amiri" pitchFamily="2" charset="-78"/>
                <a:cs typeface="Amiri" pitchFamily="2" charset="-78"/>
              </a:rPr>
              <a:t>هَدَايَا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guest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الكَنِيسَةُ مَكَانٌ يُصَلِّي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المَسِيحِيُّونَ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makān (m.) → fīhi.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of </a:t>
            </a:r>
            <a:pPr algn="l" indent="0" marL="0">
              <a:buNone/>
            </a:pPr>
            <a:r>
              <a:rPr lang="ar-SA" altLang="en-US" sz="1650" b="1" dirty="0">
                <a:solidFill>
                  <a:srgbClr val="1B3B6F"/>
                </a:solidFill>
                <a:latin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مَسْجِدَاتٌ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مُسْجِدُونَ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a broken plural (masājid).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يُزَيِّنُ النَّاسُ الشَّوَارِعَ ← </a:t>
            </a:r>
            <a:pPr rtl="1" algn="ctr" indent="0" marL="0">
              <a:lnSpc>
                <a:spcPct val="120000"/>
              </a:lnSpc>
              <a:buNone/>
            </a:pPr>
            <a:r>
              <a:rPr lang="ar-SA" altLang="en-US" sz="1950" b="1" dirty="0">
                <a:solidFill>
                  <a:srgbClr val="0E7C86"/>
                </a:solidFill>
                <a:latin typeface="Amiri" pitchFamily="2" charset="-78"/>
                <a:cs typeface="Amiri" pitchFamily="2" charset="-78"/>
              </a:rPr>
              <a:t>تُزَيَّنُ</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a:t>
            </a:r>
            <a:pPr algn="l" indent="0" marL="0">
              <a:buNone/>
            </a:pPr>
            <a:r>
              <a:rPr lang="ar-SA" altLang="en-US" sz="1700" dirty="0">
                <a:solidFill>
                  <a:srgbClr val="1F2A37"/>
                </a:solidFill>
                <a:latin typeface="Amiri" pitchFamily="2" charset="-78"/>
                <a:cs typeface="Amiri" pitchFamily="2" charset="-78"/>
              </a:rPr>
              <a:t>يُزَيَّنُ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تُوَزَّعُ</a:t>
            </a:r>
            <a:pPr algn="l" indent="0" marL="0">
              <a:buNone/>
            </a:pPr>
            <a:r>
              <a:rPr lang="en-US" sz="1300" dirty="0">
                <a:solidFill>
                  <a:srgbClr val="1F2A37"/>
                </a:solidFill>
                <a:latin typeface="Calibri" pitchFamily="34" charset="0"/>
                <a:cs typeface="Amiri" pitchFamily="2" charset="-78"/>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present for general customs and the past for a personal memory (</a:t>
            </a:r>
            <a:pPr algn="l" indent="0" marL="0">
              <a:buNone/>
            </a:pPr>
            <a:r>
              <a:rPr lang="ar-SA" altLang="en-US" sz="1700" dirty="0">
                <a:solidFill>
                  <a:srgbClr val="1F2A37"/>
                </a:solidFill>
                <a:latin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t>
            </a:r>
            <a:pPr algn="l" indent="0" marL="0">
              <a:buNone/>
            </a:pPr>
            <a:r>
              <a:rPr lang="ar-SA" altLang="en-US" sz="1700" b="1" dirty="0">
                <a:solidFill>
                  <a:srgbClr val="C9780A"/>
                </a:solidFill>
                <a:latin typeface="Amiri" pitchFamily="2" charset="-78"/>
                <a:cs typeface="Amiri" pitchFamily="2" charset="-78"/>
              </a:rPr>
              <a:t>صُمْتُ / صُمْنَا</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‎رمضان · روزہ‎ </a:t>
            </a:r>
            <a:pPr indent="0" marL="0">
              <a:buNone/>
            </a:pPr>
            <a:r>
              <a:rPr lang="en-US" sz="950" b="1" dirty="0">
                <a:solidFill>
                  <a:srgbClr val="2E8B57"/>
                </a:solidFill>
                <a:latin typeface="Calibri" pitchFamily="34" charset="0"/>
                <a:cs typeface="Amiri" pitchFamily="2" charset="-78"/>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‎افطار · سحری‎ </a:t>
            </a:r>
            <a:pPr indent="0" marL="0">
              <a:buNone/>
            </a:pPr>
            <a:r>
              <a:rPr lang="en-US" sz="950" b="1" dirty="0">
                <a:solidFill>
                  <a:srgbClr val="2E8B57"/>
                </a:solidFill>
                <a:latin typeface="Calibri" pitchFamily="34" charset="0"/>
                <a:cs typeface="Amiri" pitchFamily="2" charset="-78"/>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‎عیدی‎ </a:t>
            </a:r>
            <a:pPr indent="0" marL="0">
              <a:buNone/>
            </a:pPr>
            <a:r>
              <a:rPr lang="en-US" sz="950" b="1" dirty="0">
                <a:solidFill>
                  <a:srgbClr val="2E8B57"/>
                </a:solidFill>
                <a:latin typeface="Calibri" pitchFamily="34" charset="0"/>
                <a:cs typeface="Amiri" pitchFamily="2" charset="-78"/>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‎صدقہ · فطرانہ‎ </a:t>
            </a:r>
            <a:pPr indent="0" marL="0">
              <a:buNone/>
            </a:pPr>
            <a:r>
              <a:rPr lang="en-US" sz="950" b="1" dirty="0">
                <a:solidFill>
                  <a:srgbClr val="2E8B57"/>
                </a:solidFill>
                <a:latin typeface="Calibri" pitchFamily="34" charset="0"/>
                <a:cs typeface="Amiri" pitchFamily="2" charset="-78"/>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‎تراویح · شبِ قدر‎ </a:t>
            </a:r>
            <a:pPr indent="0" marL="0">
              <a:buNone/>
            </a:pPr>
            <a:r>
              <a:rPr lang="en-US" sz="950" b="1" dirty="0">
                <a:solidFill>
                  <a:srgbClr val="2E8B57"/>
                </a:solidFill>
                <a:latin typeface="Calibri" pitchFamily="34" charset="0"/>
                <a:cs typeface="Amiri" pitchFamily="2" charset="-78"/>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Ramadan</a:t>
            </a:r>
            <a:endParaRPr lang="en-US" sz="1350" dirty="0"/>
          </a:p>
          <a:p>
            <a:pPr indent="0" marL="0">
              <a:buNone/>
            </a:pPr>
            <a:r>
              <a:rPr lang="en-US" sz="1100" i="1" dirty="0">
                <a:solidFill>
                  <a:srgbClr val="5A6472"/>
                </a:solidFill>
                <a:latin typeface="Calibri" pitchFamily="34" charset="0"/>
                <a:cs typeface="Amiri" pitchFamily="2" charset="-78"/>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diptote: </a:t>
            </a:r>
            <a:pPr algn="l" indent="0" marL="0">
              <a:buNone/>
            </a:pPr>
            <a:r>
              <a:rPr lang="ar-SA" altLang="en-US" sz="1300" dirty="0">
                <a:solidFill>
                  <a:srgbClr val="8A6D1E"/>
                </a:solidFill>
                <a:latin typeface="Amiri" pitchFamily="2" charset="-78"/>
                <a:cs typeface="Amiri" pitchFamily="2" charset="-78"/>
              </a:rPr>
              <a:t>فِي رَمَضَانَ</a:t>
            </a:r>
            <a:pPr algn="l" indent="0" marL="0">
              <a:buNone/>
            </a:pPr>
            <a:r>
              <a:rPr lang="en-US" sz="1000" i="1" dirty="0">
                <a:solidFill>
                  <a:srgbClr val="8A6D1E"/>
                </a:solidFill>
                <a:latin typeface="Calibri" pitchFamily="34" charset="0"/>
                <a:cs typeface="Amiri" pitchFamily="2" charset="-78"/>
              </a:rPr>
              <a:t>, never </a:t>
            </a:r>
            <a:pPr algn="l" indent="0" marL="0">
              <a:buNone/>
            </a:pPr>
            <a:r>
              <a:rPr lang="ar-SA" altLang="en-US" sz="1300" dirty="0">
                <a:solidFill>
                  <a:srgbClr val="8A6D1E"/>
                </a:solidFill>
                <a:latin typeface="Amiri" pitchFamily="2" charset="-78"/>
                <a:cs typeface="Amiri" pitchFamily="2" charset="-78"/>
              </a:rPr>
              <a:t>رَمَضَانٍ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fasting</a:t>
            </a:r>
            <a:endParaRPr lang="en-US" sz="1350" dirty="0"/>
          </a:p>
          <a:p>
            <a:pPr indent="0" marL="0">
              <a:buNone/>
            </a:pPr>
            <a:r>
              <a:rPr lang="en-US" sz="1100" i="1" dirty="0">
                <a:solidFill>
                  <a:srgbClr val="5A6472"/>
                </a:solidFill>
                <a:latin typeface="Calibri" pitchFamily="34" charset="0"/>
                <a:cs typeface="Amiri" pitchFamily="2" charset="-78"/>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fasts / fasted</a:t>
            </a:r>
            <a:endParaRPr lang="en-US" sz="1350" dirty="0"/>
          </a:p>
          <a:p>
            <a:pPr indent="0" marL="0">
              <a:buNone/>
            </a:pPr>
            <a:r>
              <a:rPr lang="en-US" sz="1100" i="1" dirty="0">
                <a:solidFill>
                  <a:srgbClr val="5A6472"/>
                </a:solidFill>
                <a:latin typeface="Calibri" pitchFamily="34" charset="0"/>
                <a:cs typeface="Amiri" pitchFamily="2" charset="-78"/>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breaks the fast</a:t>
            </a:r>
            <a:endParaRPr lang="en-US" sz="1350" dirty="0"/>
          </a:p>
          <a:p>
            <a:pPr indent="0" marL="0">
              <a:buNone/>
            </a:pPr>
            <a:r>
              <a:rPr lang="en-US" sz="1100" i="1" dirty="0">
                <a:solidFill>
                  <a:srgbClr val="5A6472"/>
                </a:solidFill>
                <a:latin typeface="Calibri" pitchFamily="34" charset="0"/>
                <a:cs typeface="Amiri" pitchFamily="2" charset="-78"/>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iftar, the evening meal</a:t>
            </a:r>
            <a:endParaRPr lang="en-US" sz="1350" dirty="0"/>
          </a:p>
          <a:p>
            <a:pPr indent="0" marL="0">
              <a:buNone/>
            </a:pPr>
            <a:r>
              <a:rPr lang="en-US" sz="1100" i="1" dirty="0">
                <a:solidFill>
                  <a:srgbClr val="5A6472"/>
                </a:solidFill>
                <a:latin typeface="Calibri" pitchFamily="34" charset="0"/>
                <a:cs typeface="Amiri" pitchFamily="2" charset="-78"/>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suhoor, the pre-dawn meal</a:t>
            </a:r>
            <a:endParaRPr lang="en-US" sz="1350" dirty="0"/>
          </a:p>
          <a:p>
            <a:pPr indent="0" marL="0">
              <a:buNone/>
            </a:pPr>
            <a:r>
              <a:rPr lang="en-US" sz="1100" i="1" dirty="0">
                <a:solidFill>
                  <a:srgbClr val="5A6472"/>
                </a:solidFill>
                <a:latin typeface="Calibri" pitchFamily="34" charset="0"/>
                <a:cs typeface="Amiri" pitchFamily="2" charset="-78"/>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crescent moon</a:t>
            </a:r>
            <a:endParaRPr lang="en-US" sz="1350" dirty="0"/>
          </a:p>
          <a:p>
            <a:pPr indent="0" marL="0">
              <a:buNone/>
            </a:pPr>
            <a:r>
              <a:rPr lang="en-US" sz="1100" i="1" dirty="0">
                <a:solidFill>
                  <a:srgbClr val="5A6472"/>
                </a:solidFill>
                <a:latin typeface="Calibri" pitchFamily="34" charset="0"/>
                <a:cs typeface="Amiri" pitchFamily="2" charset="-78"/>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lanterns</a:t>
            </a:r>
            <a:endParaRPr lang="en-US" sz="1350" dirty="0"/>
          </a:p>
          <a:p>
            <a:pPr indent="0" marL="0">
              <a:buNone/>
            </a:pPr>
            <a:r>
              <a:rPr lang="en-US" sz="1100" i="1" dirty="0">
                <a:solidFill>
                  <a:srgbClr val="5A6472"/>
                </a:solidFill>
                <a:latin typeface="Calibri" pitchFamily="34" charset="0"/>
                <a:cs typeface="Amiri" pitchFamily="2" charset="-78"/>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of </a:t>
            </a:r>
            <a:pPr algn="l" indent="0" marL="0">
              <a:buNone/>
            </a:pPr>
            <a:r>
              <a:rPr lang="ar-SA" altLang="en-US" sz="1300" dirty="0">
                <a:solidFill>
                  <a:srgbClr val="8A6D1E"/>
                </a:solidFill>
                <a:latin typeface="Amiri" pitchFamily="2" charset="-78"/>
                <a:cs typeface="Amiri" pitchFamily="2" charset="-78"/>
              </a:rPr>
              <a:t>فَانُوسٌ</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Laylat al-Qadr</a:t>
            </a:r>
            <a:endParaRPr lang="en-US" sz="1350" dirty="0"/>
          </a:p>
          <a:p>
            <a:pPr indent="0" marL="0">
              <a:buNone/>
            </a:pPr>
            <a:r>
              <a:rPr lang="en-US" sz="1100" i="1" dirty="0">
                <a:solidFill>
                  <a:srgbClr val="5A6472"/>
                </a:solidFill>
                <a:latin typeface="Calibri" pitchFamily="34" charset="0"/>
                <a:cs typeface="Amiri" pitchFamily="2" charset="-78"/>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prays Tarawih</a:t>
            </a:r>
            <a:endParaRPr lang="en-US" sz="1350" dirty="0"/>
          </a:p>
          <a:p>
            <a:pPr indent="0" marL="0">
              <a:buNone/>
            </a:pPr>
            <a:r>
              <a:rPr lang="en-US" sz="1100" i="1" dirty="0">
                <a:solidFill>
                  <a:srgbClr val="5A6472"/>
                </a:solidFill>
                <a:latin typeface="Calibri" pitchFamily="34" charset="0"/>
                <a:cs typeface="Amiri" pitchFamily="2" charset="-78"/>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spirit of Ramadan</a:t>
            </a:r>
            <a:endParaRPr lang="en-US" sz="1350" dirty="0"/>
          </a:p>
          <a:p>
            <a:pPr indent="0" marL="0">
              <a:buNone/>
            </a:pPr>
            <a:r>
              <a:rPr lang="en-US" sz="1100" i="1" dirty="0">
                <a:solidFill>
                  <a:srgbClr val="5A6472"/>
                </a:solidFill>
                <a:latin typeface="Calibri" pitchFamily="34" charset="0"/>
                <a:cs typeface="Amiri" pitchFamily="2" charset="-78"/>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al-Fitr</a:t>
            </a:r>
            <a:endParaRPr lang="en-US" sz="1350" dirty="0"/>
          </a:p>
          <a:p>
            <a:pPr indent="0" marL="0">
              <a:buNone/>
            </a:pPr>
            <a:r>
              <a:rPr lang="en-US" sz="1100" i="1" dirty="0">
                <a:solidFill>
                  <a:srgbClr val="5A6472"/>
                </a:solidFill>
                <a:latin typeface="Calibri" pitchFamily="34" charset="0"/>
                <a:cs typeface="Amiri" pitchFamily="2" charset="-78"/>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al-Adha</a:t>
            </a:r>
            <a:endParaRPr lang="en-US" sz="1350" dirty="0"/>
          </a:p>
          <a:p>
            <a:pPr indent="0" marL="0">
              <a:buNone/>
            </a:pPr>
            <a:r>
              <a:rPr lang="en-US" sz="1100" i="1" dirty="0">
                <a:solidFill>
                  <a:srgbClr val="5A6472"/>
                </a:solidFill>
                <a:latin typeface="Calibri" pitchFamily="34" charset="0"/>
                <a:cs typeface="Amiri" pitchFamily="2" charset="-78"/>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prayer</a:t>
            </a:r>
            <a:endParaRPr lang="en-US" sz="1350" dirty="0"/>
          </a:p>
          <a:p>
            <a:pPr indent="0" marL="0">
              <a:buNone/>
            </a:pPr>
            <a:r>
              <a:rPr lang="en-US" sz="1100" i="1" dirty="0">
                <a:solidFill>
                  <a:srgbClr val="5A6472"/>
                </a:solidFill>
                <a:latin typeface="Calibri" pitchFamily="34" charset="0"/>
                <a:cs typeface="Amiri" pitchFamily="2" charset="-78"/>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takbirs</a:t>
            </a:r>
            <a:endParaRPr lang="en-US" sz="1350" dirty="0"/>
          </a:p>
          <a:p>
            <a:pPr indent="0" marL="0">
              <a:buNone/>
            </a:pPr>
            <a:r>
              <a:rPr lang="en-US" sz="1100" i="1" dirty="0">
                <a:solidFill>
                  <a:srgbClr val="5A6472"/>
                </a:solidFill>
                <a:latin typeface="Calibri" pitchFamily="34" charset="0"/>
                <a:cs typeface="Amiri" pitchFamily="2" charset="-78"/>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zakat al-Fitr</a:t>
            </a:r>
            <a:endParaRPr lang="en-US" sz="1350" dirty="0"/>
          </a:p>
          <a:p>
            <a:pPr indent="0" marL="0">
              <a:buNone/>
            </a:pPr>
            <a:r>
              <a:rPr lang="en-US" sz="1100" i="1" dirty="0">
                <a:solidFill>
                  <a:srgbClr val="5A6472"/>
                </a:solidFill>
                <a:latin typeface="Calibri" pitchFamily="34" charset="0"/>
                <a:cs typeface="Amiri" pitchFamily="2" charset="-78"/>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money given to children</a:t>
            </a:r>
            <a:endParaRPr lang="en-US" sz="1350" dirty="0"/>
          </a:p>
          <a:p>
            <a:pPr indent="0" marL="0">
              <a:buNone/>
            </a:pPr>
            <a:r>
              <a:rPr lang="en-US" sz="1100" i="1" dirty="0">
                <a:solidFill>
                  <a:srgbClr val="5A6472"/>
                </a:solidFill>
                <a:latin typeface="Calibri" pitchFamily="34" charset="0"/>
                <a:cs typeface="Amiri" pitchFamily="2" charset="-78"/>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charity</a:t>
            </a:r>
            <a:endParaRPr lang="en-US" sz="1350" dirty="0"/>
          </a:p>
          <a:p>
            <a:pPr indent="0" marL="0">
              <a:buNone/>
            </a:pPr>
            <a:r>
              <a:rPr lang="en-US" sz="1100" i="1" dirty="0">
                <a:solidFill>
                  <a:srgbClr val="5A6472"/>
                </a:solidFill>
                <a:latin typeface="Calibri" pitchFamily="34" charset="0"/>
                <a:cs typeface="Amiri" pitchFamily="2" charset="-78"/>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congratulations</a:t>
            </a:r>
            <a:endParaRPr lang="en-US" sz="1350" dirty="0"/>
          </a:p>
          <a:p>
            <a:pPr indent="0" marL="0">
              <a:buNone/>
            </a:pPr>
            <a:r>
              <a:rPr lang="en-US" sz="1100" i="1" dirty="0">
                <a:solidFill>
                  <a:srgbClr val="5A6472"/>
                </a:solidFill>
                <a:latin typeface="Calibri" pitchFamily="34" charset="0"/>
                <a:cs typeface="Amiri" pitchFamily="2" charset="-78"/>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sweets</a:t>
            </a:r>
            <a:endParaRPr lang="en-US" sz="1350" dirty="0"/>
          </a:p>
          <a:p>
            <a:pPr indent="0" marL="0">
              <a:buNone/>
            </a:pPr>
            <a:r>
              <a:rPr lang="en-US" sz="1100" i="1" dirty="0">
                <a:solidFill>
                  <a:srgbClr val="5A6472"/>
                </a:solidFill>
                <a:latin typeface="Calibri" pitchFamily="34" charset="0"/>
                <a:cs typeface="Amiri" pitchFamily="2" charset="-78"/>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visiting relatives</a:t>
            </a:r>
            <a:endParaRPr lang="en-US" sz="1350" dirty="0"/>
          </a:p>
          <a:p>
            <a:pPr indent="0" marL="0">
              <a:buNone/>
            </a:pPr>
            <a:r>
              <a:rPr lang="en-US" sz="1100" i="1" dirty="0">
                <a:solidFill>
                  <a:srgbClr val="5A6472"/>
                </a:solidFill>
                <a:latin typeface="Calibri" pitchFamily="34" charset="0"/>
                <a:cs typeface="Amiri" pitchFamily="2" charset="-78"/>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a:t>
            </a:r>
            <a:endParaRPr lang="en-US" sz="1350" dirty="0"/>
          </a:p>
          <a:p>
            <a:pPr indent="0" marL="0">
              <a:buNone/>
            </a:pPr>
            <a:r>
              <a:rPr lang="en-US" sz="1100" i="1" dirty="0">
                <a:solidFill>
                  <a:srgbClr val="5A6472"/>
                </a:solidFill>
                <a:latin typeface="Calibri" pitchFamily="34" charset="0"/>
                <a:cs typeface="Amiri" pitchFamily="2" charset="-78"/>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exchanged</a:t>
            </a:r>
            <a:endParaRPr lang="en-US" sz="1350" dirty="0"/>
          </a:p>
          <a:p>
            <a:pPr indent="0" marL="0">
              <a:buNone/>
            </a:pPr>
            <a:r>
              <a:rPr lang="en-US" sz="1100" i="1" dirty="0">
                <a:solidFill>
                  <a:srgbClr val="5A6472"/>
                </a:solidFill>
                <a:latin typeface="Calibri" pitchFamily="34" charset="0"/>
                <a:cs typeface="Amiri" pitchFamily="2" charset="-78"/>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distributed</a:t>
            </a:r>
            <a:endParaRPr lang="en-US" sz="1350" dirty="0"/>
          </a:p>
          <a:p>
            <a:pPr indent="0" marL="0">
              <a:buNone/>
            </a:pPr>
            <a:r>
              <a:rPr lang="en-US" sz="1100" i="1" dirty="0">
                <a:solidFill>
                  <a:srgbClr val="5A6472"/>
                </a:solidFill>
                <a:latin typeface="Calibri" pitchFamily="34" charset="0"/>
                <a:cs typeface="Amiri" pitchFamily="2" charset="-78"/>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held (of events)</a:t>
            </a:r>
            <a:endParaRPr lang="en-US" sz="1350" dirty="0"/>
          </a:p>
          <a:p>
            <a:pPr indent="0" marL="0">
              <a:buNone/>
            </a:pPr>
            <a:r>
              <a:rPr lang="en-US" sz="1100" i="1" dirty="0">
                <a:solidFill>
                  <a:srgbClr val="5A6472"/>
                </a:solidFill>
                <a:latin typeface="Calibri" pitchFamily="34" charset="0"/>
                <a:cs typeface="Amiri" pitchFamily="2" charset="-78"/>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prepared, is considered</a:t>
            </a:r>
            <a:endParaRPr lang="en-US" sz="1350" dirty="0"/>
          </a:p>
          <a:p>
            <a:pPr indent="0" marL="0">
              <a:buNone/>
            </a:pPr>
            <a:r>
              <a:rPr lang="en-US" sz="1100" i="1" dirty="0">
                <a:solidFill>
                  <a:srgbClr val="5A6472"/>
                </a:solidFill>
                <a:latin typeface="Calibri" pitchFamily="34" charset="0"/>
                <a:cs typeface="Amiri" pitchFamily="2" charset="-78"/>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solidarity</a:t>
            </a:r>
            <a:endParaRPr lang="en-US" sz="1350" dirty="0"/>
          </a:p>
          <a:p>
            <a:pPr indent="0" marL="0">
              <a:buNone/>
            </a:pPr>
            <a:r>
              <a:rPr lang="en-US" sz="1100" i="1" dirty="0">
                <a:solidFill>
                  <a:srgbClr val="5A6472"/>
                </a:solidFill>
                <a:latin typeface="Calibri" pitchFamily="34" charset="0"/>
                <a:cs typeface="Amiri" pitchFamily="2" charset="-78"/>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table, spread</a:t>
            </a:r>
            <a:endParaRPr lang="en-US" sz="1350" dirty="0"/>
          </a:p>
          <a:p>
            <a:pPr indent="0" marL="0">
              <a:buNone/>
            </a:pPr>
            <a:r>
              <a:rPr lang="en-US" sz="1100" i="1" dirty="0">
                <a:solidFill>
                  <a:srgbClr val="5A6472"/>
                </a:solidFill>
                <a:latin typeface="Calibri" pitchFamily="34" charset="0"/>
                <a:cs typeface="Amiri" pitchFamily="2" charset="-78"/>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cs typeface="Amiri" pitchFamily="2" charset="-78"/>
              </a:rPr>
              <a:t>مَوَائِدُ</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يُزَيَّنُ</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الشَّارِعُ</a:t>
            </a:r>
            <a:pPr rtl="1" algn="ctr" indent="0" marL="0">
              <a:buNone/>
            </a:pPr>
            <a:r>
              <a:rPr lang="ar-SA" altLang="en-US" sz="1950" b="1" dirty="0">
                <a:solidFill>
                  <a:srgbClr val="1B3B6F"/>
                </a:solidFill>
                <a:latin typeface="Amiri" pitchFamily="2" charset="-78"/>
                <a:cs typeface="Amiri" pitchFamily="2" charset="-78"/>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تُوَزَّعُ</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الحَلْوَى</a:t>
            </a:r>
            <a:pPr rtl="1" algn="ctr" indent="0" marL="0">
              <a:buNone/>
            </a:pPr>
            <a:r>
              <a:rPr lang="ar-SA" altLang="en-US" sz="1950" b="1" dirty="0">
                <a:solidFill>
                  <a:srgbClr val="1B3B6F"/>
                </a:solidFill>
                <a:latin typeface="Amiri" pitchFamily="2" charset="-78"/>
                <a:cs typeface="Amiri" pitchFamily="2" charset="-78"/>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تُتَبَادَلُ</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التَّهَانِي</a:t>
            </a:r>
            <a:pPr rtl="1" algn="ctr" indent="0" marL="0">
              <a:buNone/>
            </a:pPr>
            <a:r>
              <a:rPr lang="ar-SA" altLang="en-US" sz="1950" b="1" dirty="0">
                <a:solidFill>
                  <a:srgbClr val="1B3B6F"/>
                </a:solidFill>
                <a:latin typeface="Amiri" pitchFamily="2" charset="-78"/>
                <a:cs typeface="Amiri" pitchFamily="2" charset="-78"/>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تُقَامُ</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صَلَاةُ</a:t>
            </a:r>
            <a:pPr rtl="1" algn="ctr" indent="0" marL="0">
              <a:buNone/>
            </a:pPr>
            <a:r>
              <a:rPr lang="ar-SA" altLang="en-US" sz="1950" b="1" dirty="0">
                <a:solidFill>
                  <a:srgbClr val="1B3B6F"/>
                </a:solidFill>
                <a:latin typeface="Amiri" pitchFamily="2" charset="-78"/>
                <a:cs typeface="Amiri" pitchFamily="2" charset="-78"/>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تُعَدُّ</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المَائِدَةُ</a:t>
            </a:r>
            <a:pPr rtl="1" algn="ctr" indent="0" marL="0">
              <a:buNone/>
            </a:pPr>
            <a:r>
              <a:rPr lang="ar-SA" altLang="en-US" sz="1950" b="1" dirty="0">
                <a:solidFill>
                  <a:srgbClr val="1B3B6F"/>
                </a:solidFill>
                <a:latin typeface="Amiri" pitchFamily="2" charset="-78"/>
                <a:cs typeface="Amiri" pitchFamily="2" charset="-78"/>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thing affected becomes the nominative subject, and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يَصُومُ</a:t>
            </a:r>
            <a:pPr rtl="1" algn="ctr" indent="0" marL="0">
              <a:buNone/>
            </a:pPr>
            <a:r>
              <a:rPr lang="ar-SA" altLang="en-US" sz="2200" b="1" dirty="0">
                <a:solidFill>
                  <a:srgbClr val="1B3B6F"/>
                </a:solidFill>
                <a:latin typeface="Amiri" pitchFamily="2" charset="-78"/>
                <a:cs typeface="Amiri" pitchFamily="2" charset="-78"/>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تُعَدُّ</a:t>
            </a:r>
            <a:pPr rtl="1" algn="ctr" indent="0" marL="0">
              <a:buNone/>
            </a:pPr>
            <a:r>
              <a:rPr lang="ar-SA" altLang="en-US" sz="2800" b="1" dirty="0">
                <a:solidFill>
                  <a:srgbClr val="1B3B6F"/>
                </a:solidFill>
                <a:latin typeface="Amiri" pitchFamily="2" charset="-78"/>
                <a:cs typeface="Amiri" pitchFamily="2" charset="-78"/>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cs typeface="Amiri" pitchFamily="2" charset="-78"/>
              </a:rPr>
              <a:t>فِي بَعْضِ البُلْدَانِ</a:t>
            </a:r>
            <a:pPr rtl="1" algn="ctr" indent="0" marL="0">
              <a:lnSpc>
                <a:spcPct val="120000"/>
              </a:lnSpc>
              <a:buNone/>
            </a:pPr>
            <a:r>
              <a:rPr lang="ar-SA" altLang="en-US" sz="1800" b="1" dirty="0">
                <a:solidFill>
                  <a:srgbClr val="1B3B6F"/>
                </a:solidFill>
                <a:latin typeface="Amiri" pitchFamily="2" charset="-78"/>
                <a:cs typeface="Amiri" pitchFamily="2" charset="-78"/>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cs typeface="Amiri" pitchFamily="2" charset="-78"/>
              </a:rPr>
              <a:t>زُرْنَا</a:t>
            </a:r>
            <a:pPr rtl="1" algn="ctr" indent="0" marL="0">
              <a:buNone/>
            </a:pPr>
            <a:r>
              <a:rPr lang="ar-SA" altLang="en-US" sz="2300" b="1" dirty="0">
                <a:solidFill>
                  <a:srgbClr val="1B3B6F"/>
                </a:solidFill>
                <a:latin typeface="Amiri" pitchFamily="2" charset="-78"/>
                <a:cs typeface="Amiri" pitchFamily="2" charset="-78"/>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cs typeface="Amiri" pitchFamily="2" charset="-78"/>
              </a:rPr>
              <a:t>يَصُومُ</a:t>
            </a:r>
            <a:pPr rtl="1" algn="r" indent="0" marL="0">
              <a:lnSpc>
                <a:spcPct val="120000"/>
              </a:lnSpc>
              <a:buNone/>
            </a:pPr>
            <a:r>
              <a:rPr lang="ar-SA" altLang="en-US" sz="1400" b="1" dirty="0">
                <a:solidFill>
                  <a:srgbClr val="1B3B6F"/>
                </a:solidFill>
                <a:latin typeface="Amiri" pitchFamily="2" charset="-78"/>
                <a:cs typeface="Amiri" pitchFamily="2" charset="-78"/>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cs typeface="Amiri" pitchFamily="2" charset="-78"/>
              </a:rPr>
              <a:t> المَائِدَةُ وَيَجْتَمِعُ الأَقَارِبُ عَلَى الإِفْطَارِ. </a:t>
            </a:r>
            <a:pPr rtl="1" algn="r" indent="0" marL="0">
              <a:lnSpc>
                <a:spcPct val="120000"/>
              </a:lnSpc>
              <a:buNone/>
            </a:pPr>
            <a:r>
              <a:rPr lang="ar-SA" altLang="en-US" sz="1400" b="1" dirty="0">
                <a:solidFill>
                  <a:srgbClr val="D6336C"/>
                </a:solidFill>
                <a:latin typeface="Amiri" pitchFamily="2" charset="-78"/>
                <a:cs typeface="Amiri" pitchFamily="2" charset="-78"/>
              </a:rPr>
              <a:t>وَفِي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تُزَيَّنُ</a:t>
            </a:r>
            <a:pPr rtl="1" algn="r" indent="0" marL="0">
              <a:lnSpc>
                <a:spcPct val="120000"/>
              </a:lnSpc>
              <a:buNone/>
            </a:pPr>
            <a:r>
              <a:rPr lang="ar-SA" altLang="en-US" sz="1400" b="1" dirty="0">
                <a:solidFill>
                  <a:srgbClr val="1B3B6F"/>
                </a:solidFill>
                <a:latin typeface="Amiri" pitchFamily="2" charset="-78"/>
                <a:cs typeface="Amiri" pitchFamily="2" charset="-78"/>
              </a:rPr>
              <a:t> الشَّوَارِعُ بِالفَوَانِيسِ. وَفِي عِيدِ الفِطْرِ </a:t>
            </a:r>
            <a:pPr rtl="1" algn="r" indent="0" marL="0">
              <a:lnSpc>
                <a:spcPct val="120000"/>
              </a:lnSpc>
              <a:buNone/>
            </a:pPr>
            <a:r>
              <a:rPr lang="ar-SA" altLang="en-US" sz="1400" b="1" dirty="0">
                <a:solidFill>
                  <a:srgbClr val="0E7C86"/>
                </a:solidFill>
                <a:latin typeface="Amiri" pitchFamily="2" charset="-78"/>
                <a:cs typeface="Amiri" pitchFamily="2" charset="-78"/>
              </a:rPr>
              <a:t>تُقَامُ</a:t>
            </a:r>
            <a:pPr rtl="1" algn="r" indent="0" marL="0">
              <a:lnSpc>
                <a:spcPct val="120000"/>
              </a:lnSpc>
              <a:buNone/>
            </a:pPr>
            <a:r>
              <a:rPr lang="ar-SA" altLang="en-US" sz="1400" b="1" dirty="0">
                <a:solidFill>
                  <a:srgbClr val="1B3B6F"/>
                </a:solidFill>
                <a:latin typeface="Amiri" pitchFamily="2" charset="-78"/>
                <a:cs typeface="Amiri" pitchFamily="2" charset="-78"/>
              </a:rPr>
              <a:t> صَلَاةُ العِيدِ صَبَاحًا، وَقَدْ </a:t>
            </a:r>
            <a:pPr rtl="1" algn="r" indent="0" marL="0">
              <a:lnSpc>
                <a:spcPct val="120000"/>
              </a:lnSpc>
              <a:buNone/>
            </a:pPr>
            <a:r>
              <a:rPr lang="ar-SA" altLang="en-US" sz="1400" b="1" dirty="0">
                <a:solidFill>
                  <a:srgbClr val="1D5FBF"/>
                </a:solidFill>
                <a:latin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cs typeface="Amiri" pitchFamily="2" charset="-78"/>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street is decorated with lanterns</a:t>
            </a:r>
            <a:endParaRPr lang="en-US" sz="1250" dirty="0"/>
          </a:p>
          <a:p>
            <a:pPr indent="0" marL="0">
              <a:buNone/>
            </a:pPr>
            <a:r>
              <a:rPr lang="en-US" sz="1050" i="1" dirty="0">
                <a:solidFill>
                  <a:srgbClr val="8A6D1E"/>
                </a:solidFill>
                <a:latin typeface="Calibri" pitchFamily="34" charset="0"/>
                <a:cs typeface="Amiri" pitchFamily="2" charset="-78"/>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Muslims fast in Ramadan</a:t>
            </a:r>
            <a:endParaRPr lang="en-US" sz="1250" dirty="0"/>
          </a:p>
          <a:p>
            <a:pPr indent="0" marL="0">
              <a:buNone/>
            </a:pPr>
            <a:r>
              <a:rPr lang="en-US" sz="1050" i="1" dirty="0">
                <a:solidFill>
                  <a:srgbClr val="8A6D1E"/>
                </a:solidFill>
                <a:latin typeface="Calibri" pitchFamily="34" charset="0"/>
                <a:cs typeface="Amiri" pitchFamily="2" charset="-78"/>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fasted for the first time</a:t>
            </a:r>
            <a:endParaRPr lang="en-US" sz="1250" dirty="0"/>
          </a:p>
          <a:p>
            <a:pPr indent="0" marL="0">
              <a:buNone/>
            </a:pPr>
            <a:r>
              <a:rPr lang="en-US" sz="1050" i="1" dirty="0">
                <a:solidFill>
                  <a:srgbClr val="8A6D1E"/>
                </a:solidFill>
                <a:latin typeface="Calibri" pitchFamily="34" charset="0"/>
                <a:cs typeface="Amiri" pitchFamily="2" charset="-78"/>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PICTURE MATCH · WEBSITE GAME “SPECIAL OCCASION PLANNER (TOPIC GAME)”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Plan the occasion: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 special meal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gifts + visits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every year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نَتَبَادَلُ الْهَدَايَا وَنَزُورُ الأَقَارِبَ.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تَحْدُثُ الْمُنَاسَبَةُ فِي تَارِيخٍ مُحَدَّدٍ كُلَّ عَامٍ.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نَجْتَمِعُ مَعَ الأُسْرَةِ وَنَتَنَاوَلُ طَعَامًا خَاصًّا فِي الْمُنَاسَبَةِ.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 special meal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نَجْتَمِعُ مَعَ الأُسْرَةِ وَنَتَنَاوَلُ طَعَامًا خَاصًّا فِي الْمُنَاسَبَةِ.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gather with the family and eat a special meal on the occasion.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gifts + visits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نَتَبَادَلُ الْهَدَايَا وَنَزُورُ الأَقَارِبَ.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exchange gifts and visit relatives.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every year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تَحْدُثُ الْمُنَاسَبَةُ فِي تَارِيخٍ مُحَدَّدٍ كُلَّ عَامٍ.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occasion takes place on a set date every year.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agrees with the nominative subject </a:t>
            </a:r>
            <a:pPr algn="l" indent="0" marL="0">
              <a:buNone/>
            </a:pPr>
            <a:r>
              <a:rPr lang="ar-SA" altLang="en-US" sz="1350" dirty="0">
                <a:solidFill>
                  <a:srgbClr val="8A6D1E"/>
                </a:solidFill>
                <a:latin typeface="Amiri" pitchFamily="2" charset="-78"/>
                <a:cs typeface="Amiri" pitchFamily="2" charset="-78"/>
              </a:rPr>
              <a:t>التَّهَانِي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الحَلْوَى</a:t>
            </a:r>
            <a:pPr algn="l" indent="0" marL="0">
              <a:buNone/>
            </a:pPr>
            <a:r>
              <a:rPr lang="en-US" sz="1050" i="1" dirty="0">
                <a:solidFill>
                  <a:srgbClr val="8A6D1E"/>
                </a:solidFill>
                <a:latin typeface="Calibri" pitchFamily="34" charset="0"/>
                <a:cs typeface="Amiri" pitchFamily="2" charset="-78"/>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صَامَ</a:t>
            </a:r>
            <a:pPr algn="l" indent="0" marL="0">
              <a:buNone/>
            </a:pPr>
            <a:r>
              <a:rPr lang="en-US" sz="1150" b="1" dirty="0">
                <a:solidFill>
                  <a:srgbClr val="1B3B6F"/>
                </a:solidFill>
                <a:latin typeface="Calibri" pitchFamily="34" charset="0"/>
                <a:cs typeface="Amiri" pitchFamily="2" charset="-78"/>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رَمَضَان</a:t>
            </a:r>
            <a:pPr algn="l" indent="0" marL="0">
              <a:buNone/>
            </a:pPr>
            <a:r>
              <a:rPr lang="en-US" sz="1150" b="1" dirty="0">
                <a:solidFill>
                  <a:srgbClr val="1B3B6F"/>
                </a:solidFill>
                <a:latin typeface="Calibri" pitchFamily="34" charset="0"/>
                <a:cs typeface="Amiri" pitchFamily="2" charset="-78"/>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Celebration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Celebration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Plan a special occasion using date, activities, food, clothing and greetings. A partner asks follow-up questions and checks the sequence of events.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plan a special occasion: date, activities, food, clothing and greetings.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it as a short sequence: awwalan … thumma … baʿda dhālika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partner asks two follow-up questions (matā? mādhā talbasūn?).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the order of events and one passive verb (tuzayyan / tuwazzaʿ).</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steps in the present: “najtamiʿu … thumma nakulu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steps with sequencing words and one passive verb.</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plan + a past memory (iḥtafalnā …) and an object pronoun (nuʿṭīhā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أَوَّلًا … ثُمَّ … بَعْدَ ذٰلِكَ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after that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نَتَبَادَلُ الهَدَايَا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exchange gifts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تُزَيَّنُ البُيُوتُ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houses are decorated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عِيدٌ مُبَارَكٌ! / كُلُّ عَامٍ وَأَنْتُمْ بِخَيْرٍ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Eid Mubarak! / many happy returns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with a correctly shortened hollow verb if you use </a:t>
            </a:r>
            <a:pPr algn="l" indent="0" marL="0">
              <a:buNone/>
            </a:pPr>
            <a:r>
              <a:rPr lang="ar-SA" altLang="en-US" sz="1550" dirty="0">
                <a:solidFill>
                  <a:srgbClr val="1F2A37"/>
                </a:solidFill>
                <a:latin typeface="Amiri" pitchFamily="2" charset="-78"/>
                <a:cs typeface="Amiri" pitchFamily="2" charset="-78"/>
              </a:rPr>
              <a:t>صَامَ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 such as </a:t>
            </a:r>
            <a:pPr algn="l" indent="0" marL="0">
              <a:buNone/>
            </a:pPr>
            <a:r>
              <a:rPr lang="ar-SA" altLang="en-US" sz="1550" dirty="0">
                <a:solidFill>
                  <a:srgbClr val="1F2A37"/>
                </a:solidFill>
                <a:latin typeface="Amiri" pitchFamily="2" charset="-78"/>
                <a:cs typeface="Amiri" pitchFamily="2" charset="-78"/>
              </a:rPr>
              <a:t>فِي بَعْضِ البُلْدَانِ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رَمَضَانَ</a:t>
            </a:r>
            <a:pPr algn="l" indent="0" marL="0">
              <a:buNone/>
            </a:pPr>
            <a:r>
              <a:rPr lang="en-US" sz="1300" dirty="0">
                <a:solidFill>
                  <a:srgbClr val="1F2A37"/>
                </a:solidFill>
                <a:latin typeface="Calibri" pitchFamily="34" charset="0"/>
                <a:cs typeface="Amiri" pitchFamily="2" charset="-78"/>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 agrees in gender (</a:t>
            </a:r>
            <a:pPr algn="l" indent="0" marL="0">
              <a:buNone/>
            </a:pPr>
            <a:r>
              <a:rPr lang="ar-SA" altLang="en-US" sz="1700" dirty="0">
                <a:solidFill>
                  <a:srgbClr val="1F2A37"/>
                </a:solidFill>
                <a:latin typeface="Amiri" pitchFamily="2" charset="-78"/>
                <a:cs typeface="Amiri" pitchFamily="2" charset="-78"/>
              </a:rPr>
              <a:t>تُزَيَّنُ الشَّوَارِعُ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past memory (</a:t>
            </a:r>
            <a:pPr algn="l" indent="0" marL="0">
              <a:buNone/>
            </a:pPr>
            <a:r>
              <a:rPr lang="ar-SA" altLang="en-US" sz="1700" dirty="0">
                <a:solidFill>
                  <a:srgbClr val="1F2A37"/>
                </a:solidFill>
                <a:latin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verb takes a nominative subject and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السَّحُور</a:t>
            </a:r>
            <a:pPr algn="l" indent="0" marL="0">
              <a:buNone/>
            </a:pPr>
            <a:r>
              <a:rPr lang="en-US" sz="1050" i="1" dirty="0">
                <a:solidFill>
                  <a:srgbClr val="8A6D1E"/>
                </a:solidFill>
                <a:latin typeface="Calibri" pitchFamily="34" charset="0"/>
                <a:cs typeface="Amiri" pitchFamily="2" charset="-78"/>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TE-L07 · National Festivals and Traditions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Christmas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church</a:t>
            </a:r>
            <a:pPr indent="0" marL="0">
              <a:buNone/>
            </a:pPr>
            <a:r>
              <a:rPr lang="en-US" sz="1000" i="1" dirty="0">
                <a:solidFill>
                  <a:srgbClr val="5A6472"/>
                </a:solidFill>
                <a:latin typeface="Calibri" pitchFamily="34" charset="0"/>
                <a:cs typeface="Amiri" pitchFamily="2" charset="-78"/>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festival</a:t>
            </a:r>
            <a:pPr indent="0" marL="0">
              <a:buNone/>
            </a:pPr>
            <a:r>
              <a:rPr lang="en-US" sz="1000" i="1" dirty="0">
                <a:solidFill>
                  <a:srgbClr val="5A6472"/>
                </a:solidFill>
                <a:latin typeface="Calibri" pitchFamily="34" charset="0"/>
                <a:cs typeface="Amiri" pitchFamily="2" charset="-78"/>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coexistence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respects difference</a:t>
            </a:r>
            <a:pPr indent="0" marL="0">
              <a:buNone/>
            </a:pPr>
            <a:r>
              <a:rPr lang="en-US" sz="1000" i="1" dirty="0">
                <a:solidFill>
                  <a:srgbClr val="5A6472"/>
                </a:solidFill>
                <a:latin typeface="Calibri" pitchFamily="34" charset="0"/>
                <a:cs typeface="Amiri" pitchFamily="2" charset="-78"/>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TE-L07 · National Festivals and Traditions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الأَعْيَادُ الوَطَنِيَّةُ وَالتَّقَالِيدُ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2026-10-11T06:44:18Z</dcterms:created>
  <dcterms:modified xsi:type="dcterms:W3CDTF">2026-10-11T06:44:18Z</dcterms:modified>
</cp:coreProperties>
</file>