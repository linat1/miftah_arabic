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TE-L12 — Topic E Review and Bridge to Final Revision. Website: Advanced Topics › Topic E (The International World) › Lesson 12.
The website builds this lesson on the D6-L12 lesson engine, with the Topic focus “Complete the topic assessment, diagnose gaps and move into Exam Skills Extension.” (grammar: Cumulative Topic E grammar; skills: All four skills) and the application challenge “Topic E four-skills relay”.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spine (not marked) · 6–7 Assessment map · 7–21 Listening (20) · 21–29 Reading (10) · 29–46 Writing (20) · 46–56 Speaking (10, one-to-one or trusted pairs) · 56–60 Profile and the next unit target.
FLEX slides are optional. Use them if the class is moving quickly; otherwise the same activities are on the website for homework.
Content source: Miftah Arabic website, Pathways › Development › Topic E Countries, Cultures and Celebrations › TE-L12. The website TE-L12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the next unit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TE-L11.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(3 min — it takes the speaking-rehearsal slot; the website speaking slide after it is FLEX) — from the website Topic page: “Complete country/language, customs, celebration and international-issue stations, then identify the language needed for final revision.”
Website Topic E challenge “Topic E four-skills relay”: complete country/language, customs, celebration and international-issue stations, then identify the language needed for final revision. In the assessment lesson this is FLEX (the D6-L12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mark each question P / N / F and circle “who” and “all / some” questions (D6-L10, website).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mark each question P / N / F and circle “who” and “all / some” questions (D6-L10, website).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website).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2 (website, 15 marks): write 130–140 words on ثَقَافَتِي وَهُوِيَّتِي — describe your background, narrate a past cultural experience (3+ events), give an opinion and state a future aspiration. Mark scheme exactly as on the website. The TE-L03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mirror the tense of each question and qualify cultural claims (TE-L11).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D1–earlier work assessments. Development is now complete — celebrate it before setting the the next unit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(X1-L01 · Exam Skills Extension — Mapping Paper 1 and Paper 2) will spend class time USING this language, so students prepare it tonight — short, simple, easy to access (school guidance: “Simple, Short, Interesting, Relevant, Easy to access”). The five words come from the website X1-L01 exam-terminology vault (Exam Skills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E Review and Bridge to Final Revision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مُرَاجَعَةُ المِحْوَرِ هـ وَالِانْتِقَالُ إِلَى المُرَاجَعَةِ النِّهَائِيَّةِ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Complete the topic assessment, diagnose gaps and move into Exam Skills Extension.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Topic E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the next unit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final exam revision.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E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E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E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Complete country/language, customs, celebration and international-issue stations, then identify the language needed for final revision.</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90 seconds each: countries &amp; languages · customs · celebrations · international issues.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Finish with one spoken and one written sentence linking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the language you most need for final revision.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extended answer per station with a passive, a comparison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يَتَكَلَّمُ النَّاسُ فِي … اللُّغَةَ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countries &amp; languages</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المُهَذَّبِ أَنْ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customs</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يُحْتَفَلُ بِالعِيدِ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celebrations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تَتَعَاوَنُ الدُّوَلُ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international issues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“TOPIC E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E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country + world</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 respect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 زِيَارَةِ احْتِفَالٍ فِي بَلَدٍ آخَرَ أَحْتَرِمُ الْعَادَاتِ وَأَسْأَلُ إِذَا لَمْ أَفْهَمْ.</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تَعَلُّمُ اللُّغَاتِ يُسَاعِدُ عَلَى التَّوَاصُلِ وَفَهْمِ الثَّقَافَاتِ.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مِصْرُ دَوْلَةٌ عَرَبِيَّةٌ وَهِيَ جُزْءٌ مِنَ الْعَالَمِ الدَّوْلِيِّ الْمُتَرَابِطِ.</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country + world</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مِصْرُ دَوْلَةٌ عَرَبِيَّةٌ وَهِيَ جُزْءٌ مِنَ الْعَالَمِ الدَّوْلِيِّ الْمُتَرَابِطِ.</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Egypt is an Arab country and part of the connected international world.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 respect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عِنْدَ زِيَارَةِ احْتِفَالٍ فِي بَلَدٍ آخَرَ أَحْتَرِمُ الْعَادَاتِ وَأَسْأَلُ إِذَا لَمْ أَفْهَمْ.</a:t>
            </a:r>
            <a:endParaRPr lang="ar-SA" sz="205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When visiting a celebration in another country, I respect the customs and ask if I do not understand.</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تَعَلُّمُ اللُّغَاتِ يُسَاعِدُ عَلَى التَّوَاصُلِ وَفَهْمِ الثَّقَافَاتِ.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Learning languages helps communication and understanding cultures.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TOPIC E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Topic E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D6-L07 (website) · D6-L10 (website)</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TE-L04 · TE-L09</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TE-L09 · D6-L07 (website)</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TE-L01 · TE-L03</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a fair, qualified claim — </a:t>
            </a:r>
            <a:pPr algn="l" indent="0" marL="0">
              <a:buNone/>
            </a:pPr>
            <a:r>
              <a:rPr lang="ar-SA" altLang="en-US" sz="1500" b="1" dirty="0">
                <a:solidFill>
                  <a:srgbClr val="1B3B6F"/>
                </a:solidFill>
                <a:latin typeface="Amiri" pitchFamily="2" charset="-78"/>
                <a:ea typeface="Amiri" pitchFamily="2" charset="-78"/>
                <a:cs typeface="Amiri" pitchFamily="2" charset="-78"/>
              </a:rPr>
              <a:t>فِي بَعْضِ</a:t>
            </a:r>
            <a:pPr algn="l" indent="0" marL="0">
              <a:buNone/>
            </a:pPr>
            <a:r>
              <a:rPr lang="en-US" sz="1150" b="1" dirty="0">
                <a:solidFill>
                  <a:srgbClr val="1B3B6F"/>
                </a:solidFill>
                <a:latin typeface="Calibri" pitchFamily="34" charset="0"/>
                <a:cs typeface="Amiri" pitchFamily="2" charset="-78"/>
              </a:rPr>
              <a:t> … · </a:t>
            </a:r>
            <a:pPr algn="l" indent="0" marL="0">
              <a:buNone/>
            </a:pPr>
            <a:r>
              <a:rPr lang="ar-SA" altLang="en-US" sz="1500" b="1" dirty="0">
                <a:solidFill>
                  <a:srgbClr val="1B3B6F"/>
                </a:solidFill>
                <a:latin typeface="Amiri" pitchFamily="2" charset="-78"/>
                <a:ea typeface="Amiri" pitchFamily="2" charset="-78"/>
                <a:cs typeface="Amiri" pitchFamily="2" charset="-78"/>
              </a:rPr>
              <a:t>عَلَى حَدِّ عِلْمِي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وَكَانَتْ جَدَّتِي تُعِدُّ الحَلْوَى بِنَفْسِهَا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Nūr says </a:t>
            </a:r>
            <a:pPr algn="l" indent="0" marL="0">
              <a:buNone/>
            </a:pPr>
            <a:r>
              <a:rPr lang="ar-SA" altLang="en-US" sz="1350" dirty="0">
                <a:solidFill>
                  <a:srgbClr val="8A6D1E"/>
                </a:solidFill>
                <a:latin typeface="Amiri" pitchFamily="2" charset="-78"/>
                <a:ea typeface="Amiri" pitchFamily="2" charset="-78"/>
                <a:cs typeface="Amiri" pitchFamily="2" charset="-78"/>
              </a:rPr>
              <a:t>أَحْتَفِظُ بِعَادَاتِ أُسْرَتِي</a:t>
            </a:r>
            <a:pPr algn="l" indent="0" marL="0">
              <a:buNone/>
            </a:pPr>
            <a:r>
              <a:rPr lang="en-US" sz="1050" i="1" dirty="0">
                <a:solidFill>
                  <a:srgbClr val="8A6D1E"/>
                </a:solidFill>
                <a:latin typeface="Calibri" pitchFamily="34" charset="0"/>
                <a:cs typeface="Amiri" pitchFamily="2" charset="-78"/>
              </a:rPr>
              <a:t> and Sami says </a:t>
            </a:r>
            <a:pPr algn="l" indent="0" marL="0">
              <a:buNone/>
            </a:pPr>
            <a:r>
              <a:rPr lang="ar-SA" altLang="en-US" sz="1350" dirty="0">
                <a:solidFill>
                  <a:srgbClr val="8A6D1E"/>
                </a:solidFill>
                <a:latin typeface="Amiri" pitchFamily="2" charset="-78"/>
                <a:ea typeface="Amiri" pitchFamily="2" charset="-78"/>
                <a:cs typeface="Amiri" pitchFamily="2" charset="-78"/>
              </a:rPr>
              <a:t>وَأَنَا أَيْضًا أَحْتَفِظُ بِهَا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Sami says </a:t>
            </a:r>
            <a:pPr algn="l" indent="0" marL="0">
              <a:buNone/>
            </a:pPr>
            <a:r>
              <a:rPr lang="ar-SA" altLang="en-US" sz="1350" dirty="0">
                <a:solidFill>
                  <a:srgbClr val="8A6D1E"/>
                </a:solidFill>
                <a:latin typeface="Amiri" pitchFamily="2" charset="-78"/>
                <a:ea typeface="Amiri" pitchFamily="2" charset="-78"/>
                <a:cs typeface="Amiri" pitchFamily="2" charset="-78"/>
              </a:rPr>
              <a:t>أَحْيَانًا أَخْلِطُ بَيْنَ اللُّغَتَيْنِ</a:t>
            </a:r>
            <a:pPr algn="l" indent="0" marL="0">
              <a:buNone/>
            </a:pPr>
            <a:r>
              <a:rPr lang="en-US" sz="1050" i="1" dirty="0">
                <a:solidFill>
                  <a:srgbClr val="8A6D1E"/>
                </a:solidFill>
                <a:latin typeface="Calibri" pitchFamily="34" charset="0"/>
                <a:cs typeface="Amiri" pitchFamily="2" charset="-78"/>
              </a:rPr>
              <a:t> and Nūr replies </a:t>
            </a:r>
            <a:pPr algn="l" indent="0" marL="0">
              <a:buNone/>
            </a:pPr>
            <a:r>
              <a:rPr lang="ar-SA" altLang="en-US" sz="1350" dirty="0">
                <a:solidFill>
                  <a:srgbClr val="8A6D1E"/>
                </a:solidFill>
                <a:latin typeface="Amiri" pitchFamily="2" charset="-78"/>
                <a:ea typeface="Amiri" pitchFamily="2" charset="-78"/>
                <a:cs typeface="Amiri" pitchFamily="2" charset="-78"/>
              </a:rPr>
              <a:t>أَنَا كَذٰلِكَ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ea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ea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إِرْثِي ثَقَافِيٌّ مِصْرِيٌّ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تُتَبَادَلُ التَّهَانِي فِي العِيدِ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نَحْتَفِلُ بِعِيدِ الفِطْرِ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أَتَحَدَّثُ الأُرْدِيَّةَ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past · present · opinion · future (TE-L03),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TOPIC E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E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TE-L04,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cultural passive (</a:t>
            </a:r>
            <a:pPr algn="l" indent="0" marL="0">
              <a:buNone/>
            </a:pPr>
            <a:r>
              <a:rPr lang="ar-SA" altLang="en-US" sz="1700" dirty="0">
                <a:solidFill>
                  <a:srgbClr val="1F2A37"/>
                </a:solidFill>
                <a:latin typeface="Amiri" pitchFamily="2" charset="-78"/>
                <a:ea typeface="Amiri" pitchFamily="2" charset="-78"/>
                <a:cs typeface="Amiri" pitchFamily="2" charset="-78"/>
              </a:rPr>
              <a:t>تُزَيَّنُ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تُتَبَادَلُ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X1-L01: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X1-L01 · Exam Skills Extension — Mapping Paper 1 and Paper 2</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الوَرَقَةُ الأُولَى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Paper 1 (listening)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سُؤَالٌ مُتَعَدِّدُ الاخْتِيَارَاتِ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multiple-choice question</a:t>
            </a:r>
            <a:pPr indent="0" marL="0">
              <a:buNone/>
            </a:pPr>
            <a:r>
              <a:rPr lang="ar-SA" sz="1000" i="1" dirty="0">
                <a:solidFill>
                  <a:srgbClr val="5A6472"/>
                </a:solidFill>
                <a:latin typeface="Calibri" pitchFamily="34" charset="0"/>
                <a:ea typeface="Amiri" pitchFamily="2" charset="-78"/>
                <a:cs typeface="Amiri" pitchFamily="2" charset="-78"/>
              </a:rPr>
              <a:t>  pl. أَسْئِلَةٌ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matching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التَّقْيِيمُ الذَّاتِيُّ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self-assessment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exam paper do you feel most ready for,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أَنَا مُسْتَعِدٌّ أَكْثَرَ لِلْوَرَقَةِ ______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Topic E readiness check on the website; learn the five exam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learn the five exam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Topic E reflection (strongest evidence + one precise next action); learn the five exam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X1-L01 · Exam Skills Extension — Mapping Paper 1 and Paper 2</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خَرِيطَةُ الوَرَقَتَيْنِ الأُولَى وَالثَّانِيَةِ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E complete — well done! Learn 5 exam words for final revision.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TE-L12 · Topic E Review and Bridge to Final Revision</dc:title>
  <dc:subject>PptxGenJS Presentation</dc:subject>
  <dc:creator>Al Madina Online School · Arabic Department</dc:creator>
  <cp:lastModifiedBy>Al Madina Online School · Arabic Department</cp:lastModifiedBy>
  <cp:revision>1</cp:revision>
  <dcterms:created xsi:type="dcterms:W3CDTF">2026-10-11T06:44:22Z</dcterms:created>
  <dcterms:modified xsi:type="dcterms:W3CDTF">2026-10-11T06:44:22Z</dcterms:modified>
</cp:coreProperties>
</file>