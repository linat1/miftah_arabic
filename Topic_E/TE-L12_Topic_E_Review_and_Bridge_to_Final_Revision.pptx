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E · TE-L12 — Topic E Review and Bridge to Final Revision. Website: Advanced Topics › Topic E (The International World) › Lesson 12.
The website builds this lesson on the D6-L12 lesson engine, with the Topic focus “Complete the topic assessment, diagnose gaps and move into Exam Skills Extension.” (grammar: Cumulative Topic E grammar; skills: All four skills) and the application challenge “Topic E four-skills relay”.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Map · 2–6 Grammar spine (not marked) · 6–7 Assessment map · 7–21 Listening (20) · 21–29 Reading (10) · 29–46 Writing (20) · 46–56 Speaking (10, one-to-one or trusted pairs) · 56–60 Profile and the next unit target.
FLEX slides are optional. Use them if the class is moving quickly; otherwise the same activities are on the website for homework.
Content source: Miftah Arabic website, Pathways › Development › Topic E Countries, Cultures and Celebrations › TE-L12. The website TE-L12 is a four-skill, 60-mark unit assessment: a twelve-question grammar spine (revision, not counted), Part A listening (three texts — one family’s celebration across three tenses 8 · Nūr and Sami: who said what 6 · Arabic and the Arab world 6 = 20), Part B1 reading (a festival city: 10), Part B2 writing (five-field cultural profile 5 + 130–140-word article 15, marked task / range / accuracy) and Part C speaking (role play: meeting someone from another culture 4 + topic conversation 6), then a the next unit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Identity is personal: the profile, article and role play may be about a fictional family. The reading text describes several communities (including a church service) — read it as describing others respectfully (al-Ḥujurāt 49:13); no participation is implied.
• Accuracy focus today: tense matches its time phrase · cultural verb + preposition · passive subject in -u · أَنَّ + accusative · a fair, qualified claim.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TE-L11. Questions 2–5 are from the website twelve-question grammar spine (used diagnostically; the items that differ only in vowel endings are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(3 min — it takes the speaking-rehearsal slot; the website speaking slide after it is FLEX) — from the website Topic page: “Complete country/language, customs, celebration and international-issue stations, then identify the language needed for final revision.”
Website Topic E challenge “Topic E four-skills relay”: complete country/language, customs, celebration and international-issue stations, then identify the language needed for final revision. In the assessment lesson this is FLEX (the D6-L12 assessment is the main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E Mixed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“Topic E Mixed Challenge”: country + world, travel + respect, languages for understanding.
Website feedback lines: Country, language and global connection combine. · Travel, celebration and respect are combined. · Languages support international understanding.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E Mixed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“Topic E Mixed Challenge”: country + world, travel + respect, languages for understanding.
Website feedback lines: Country, language and global connection combine. · Travel, celebration and respect are combined. · Languages support international understanding.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twelve-question grammar spine, correct answers): زُرْنَا · كَانَتْ تُعِدُّ · سَنُنَظِّمُ · لَنْ · بِـ · إِلَى · مَعَ · تُزَيَّنُ القَاعَةُ · الَّتِي · أَكْبَرُ مِنَ السَّابِقِ · لُبْنَانَ (diptote) · أَنَّ التَّنَوُّعَ.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Part A, 20 marks). Before listening: mark each question P / N / F and circle “who” and “all / some” questions (D6-L10, website). Each recording may be played twice; students answer after the second reading.
SCRIPT: فِي الطُّفُولَةِ كُنَّا نَحْتَفِلُ بِالعِيدِ فِي بَلَدِ أُسْرَتِي، وَكَانَتْ جَدَّتِي تُعِدُّ الحَلْوَى بِنَفْسِهَا. وَفِي العَامِ المَاضِي زُرْنَا الأَقَارِبَ هُنَاكَ بَعْدَ غِيَابٍ طَوِيلٍ، وَوَزَّعَ أَبِي العِيدِيَّةَ عَلَى الأَطْفَالِ. أَمَّا الآنَ فَنَحْتَفِلُ عَادَةً فِي المَرْكَزِ الثَّقَافِيِّ مَعَ الجَالِيَةِ، وَتُزَيَّنُ القَاعَةُ وَتُتَبَادَلُ التَّهَانِي. وَفِي بَعْضِ العَائِلَاتِ تُوَزَّعُ العِيدِيَّةُ، وَلٰكِنْ لَيْسَ دَائِمًا؛ فَالعَادَاتُ تَخْتَلِفُ. وَالعَامَ القَادِمَ سَنُنَظِّمُ حَفْلًا أَكْبَرَ، وَسَنَدْعُو الجِيرَانَ لِكَيْ يَتَعَرَّفُوا عَلَى تَقَالِيدِنَا. وَأَطْمَحُ إِلَى أَنْ أَزُورَ بَلَدَ أُسْرَتِي مَرَّةً أُخْرَى.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5–8 (website Part A, 20 marks). Before listening: mark each question P / N / F and circle “who” and “all / some” questions (D6-L10, website). Each recording may be played twice; students answer after the second reading.
SCRIPT: فِي الطُّفُولَةِ كُنَّا نَحْتَفِلُ بِالعِيدِ فِي بَلَدِ أُسْرَتِي، وَكَانَتْ جَدَّتِي تُعِدُّ الحَلْوَى بِنَفْسِهَا. وَفِي العَامِ المَاضِي زُرْنَا الأَقَارِبَ هُنَاكَ بَعْدَ غِيَابٍ طَوِيلٍ، وَوَزَّعَ أَبِي العِيدِيَّةَ عَلَى الأَطْفَالِ. أَمَّا الآنَ فَنَحْتَفِلُ عَادَةً فِي المَرْكَزِ الثَّقَافِيِّ مَعَ الجَالِيَةِ، وَتُزَيَّنُ القَاعَةُ وَتُتَبَادَلُ التَّهَانِي. وَفِي بَعْضِ العَائِلَاتِ تُوَزَّعُ العِيدِيَّةُ، وَلٰكِنْ لَيْسَ دَائِمًا؛ فَالعَادَاتُ تَخْتَلِفُ. وَالعَامَ القَادِمَ سَنُنَظِّمُ حَفْلًا أَكْبَرَ، وَسَنَدْعُو الجِيرَانَ لِكَيْ يَتَعَرَّفُوا عَلَى تَقَالِيدِنَا. وَأَطْمَحُ إِلَى أَنْ أَزُورَ بَلَدَ أُسْرَتِي مَرَّةً أُخْرَى.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Part A, 20 marks). Before listening: mark each question P / N / F and circle “who” and “all / some” questions (D6-L10, website). Each recording may be played twice; students answer after the second reading.
SCRIPT: نُورُ: أَنَا مِنَ الجِيلِ الثَّانِي، وَأَنْتَمِي إِلَى ثَقَافَتَيْنِ. أَتَحَدَّثُ العَرَبِيَّةَ فِي البَيْتِ. سَامِي: وَأَنَا وُلِدْتُ هُنَاكَ وَجِئْتُ صَغِيرًا، وَتَكَيَّفْتُ مَعَ الحَيَاةِ هُنَا بِسُرْعَةٍ. نُورُ: أَحْتَفِظُ بِعَادَاتِ أُسْرَتِي، وَخَاصَّةً فِي المُنَاسَبَاتِ. سَامِي: وَأَنَا أَيْضًا أَحْتَفِظُ بِهَا، وَلٰكِنَّنِي أَحْيَانًا أَخْلِطُ بَيْنَ اللُّغَتَيْنِ. نُورُ: أَنَا كَذٰلِكَ! وَهٰذَا طَبِيعِيٌّ وَلَيْسَ مُشْكِلَةً. سَامِي: أَحِنُّ إِلَى وَطَنِي أَحْيَانًا. نُورُ: وَأَنَا لَمْ أَعِشْ هُنَاكَ، وَلٰكِنِّي أَشْعُرُ بِالانْتِمَاءِ إِلَيْهِ.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6 QUESTIONS (website Part A, 20 marks). Before listening: mark each question P / N / F and circle “who” and “all / some” questions (D6-L10, website). Each recording may be played twice; students answer after the second reading.
SCRIPT: تُعَدُّ العَرَبِيَّةُ مِنْ أَوْسَعِ اللُّغَاتِ انْتِشَارًا، وَهِيَ إِحْدَى لُغَاتِ الأُمَمِ المُتَّحِدَةِ الرَّسْمِيَّةِ. وَتَضُمُّ المِنْطَقَةُ اثْنَتَيْنِ وَعِشْرِينَ دَوْلَةً تَخْتَلِفُ لَهَجَاتُهَا، بَيْنَمَا تَجْمَعُهَا الفُصْحَى فِي الكِتَابَةِ وَالإِعْلَامِ. وَإِلَى جَانِبِ العَرَبِيَّةِ تُوجَدُ لُغَاتٌ رَسْمِيَّةٌ أُخْرَى، مِثْلُ الأَمَازِيغِيَّةِ فِي المَغْرِبِ وَالجَزَائِرِ. وَقَدِ انْتَقَلَتْ كَلِمَاتٌ عَرَبِيَّةٌ إِلَى لُغَاتٍ أُخْرَى عَبْرَ التِّجَارَةِ وَالتَّرْجَمَةِ. وَيُشَارُ إِلَى أَنَّ التَّنَوُّعَ الثَّقَافِيَّ وَالدِّينِيَّ قَدِيمٌ فِي المِنْطَقَةِ، وَلَيْسَ صَحِيحًا أَنَّهَا ذَاتُ ثَقَافَةٍ وَاحِدَةٍ.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B1). No English support on assessment texts. Strategy: adjectives → attitude · past = completed · what is left out (D6-L08, website). The text describes several communities, including a church service — describing others respectfully.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attitude, omission and tense signal · R4 tense gap-fill and aspiration).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attitude, omission and tense signal · R4 tense gap-fill and aspiration).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1 (website, 5 marks): one mark per field completed accurately in Arabic (a phrase is enough). Field 3 must use يَحْتَفِلُ بِـ with the preposition for the mark; field 5 rewards أَطْمَحُ إِلَى / أَتَمَنَّى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2 (website, 15 marks): write 130–140 words on ثَقَافَتِي وَهُوِيَّتِي — describe your background, narrate a past cultural experience (3+ events), give an opinion and state a future aspiration. Mark scheme exactly as on the website. The TE-L03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(website, 4 marks). Teacher plays a visitor from another culture: مَرْحَبًا! أَنَا مِنْ اليَابَانِ، وَأَنْتَ؟ Answers to model: أَنَا مِنَ الجِيلِ الثَّانِي، وَأَنْتَمِي إِلَى ثَقَافَتَيْنِ … · فِي العِيدِ تُتَبَادَلُ التَّهَانِي … · وَأَنْتَ، كَيْفَ تَحْتَفِلُونَ فِي بَلَدِكَ؟ · تَعَلَّمْتُ مِنْ صَدِيقِي أَنَّ … Listen for the preposition on every cultural verb. To a girl: عَرِّفِي · صِفِي · اِسْأَلِي · اُذْكُرِي.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(website, 6 marks): mirror the tense of each question and qualify cultural claims (TE-L11). Allow time-buying and repair phrases (دَعْنِي أُفَكِّرُ · عَفْوًا، أَقْصِدُ). To a girl: تُرِيدِينَ · مَرَرْتِ · حَيَاتِكِ.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D1–earlier work assessments. Development is now complete — celebrate it before setting the the next unit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(X1-L01 · Exam Skills Extension — Mapping Paper 1 and Paper 2) will spend class time USING this language, so students prepare it tonight — short, simple, easy to access (school guidance: “Simple, Short, Interesting, Relevant, Easy to access”). The five words come from the website X1-L01 exam-terminology vault (Exam Skills Extension).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Topic E Review and Bridge to Final Revision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50" b="1" dirty="0">
                <a:solidFill>
                  <a:srgbClr val="D4AF37"/>
                </a:solidFill>
                <a:latin typeface="Amiri" pitchFamily="2" charset="-78"/>
                <a:ea typeface="Amiri" pitchFamily="2" charset="-78"/>
                <a:cs typeface="Amiri" pitchFamily="2" charset="-78"/>
              </a:rPr>
              <a:t>مُرَاجَعَةُ المِحْوَرِ هـ وَالِانْتِقَالُ إِلَى المُرَاجَعَةِ النِّهَائِيَّةِ</a:t>
            </a:r>
            <a:endParaRPr lang="ar-SA" sz="33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Complete the topic assessment, diagnose gaps and move into Exam Skills Extension.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TE-L12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end of topic</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Topic E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the next unit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final exam revision.</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comprehension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listening comprehension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conversation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زُرْنَا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زَارُوا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نَتَخَلَّى عَنْ لُغَتِنَا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الَّتِي زُرْتُهَا جَمِيلَةٌ.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الَّذِي زُرْتُهَا جَمِيلَةٌ.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الَّذِينَ زُرْتُهَا جَمِيلَةٌ.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comprehension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listening comprehension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conversation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زُرْنَا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زَارْنَا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زَارُوا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نَتَخَلَّى عَنْ لُغَتِنَا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7.</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المَدِينَةُ الَّتِي زُرْتُهَا جَمِيلَةٌ.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الَّذِي زُرْتُهَا جَمِيلَةٌ.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الَّذِينَ زُرْتُهَا جَمِيلَةٌ.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9.</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الزَّمَنُ · حَرْفُ الجَرِّ · المَجْهُولُ · أَنَّ · التَّحَفُّظُ</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TOPIC E APPLICATION CHALLENGE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E four-skills relay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7" name="Shape 14"/>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9" name="Text 16"/>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20" name="Text 17"/>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Topic E four-skills relay</a:t>
            </a:r>
            <a:endParaRPr lang="en-US" sz="2200" dirty="0"/>
          </a:p>
        </p:txBody>
      </p:sp>
      <p:sp>
        <p:nvSpPr>
          <p:cNvPr id="21" name="Text 18"/>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Complete country/language, customs, celebration and international-issue stations, then identify the language needed for final revision.</a:t>
            </a:r>
            <a:endParaRPr lang="en-US" sz="1350" dirty="0"/>
          </a:p>
        </p:txBody>
      </p:sp>
      <p:sp>
        <p:nvSpPr>
          <p:cNvPr id="22" name="Text 19"/>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3" name="Shape 20"/>
          <p:cNvSpPr/>
          <p:nvPr/>
        </p:nvSpPr>
        <p:spPr>
          <a:xfrm>
            <a:off x="658368" y="4407408"/>
            <a:ext cx="274320" cy="274320"/>
          </a:xfrm>
          <a:prstGeom prst="ellipse">
            <a:avLst/>
          </a:prstGeom>
          <a:solidFill>
            <a:srgbClr val="1B3B6F"/>
          </a:solidFill>
          <a:ln w="12700">
            <a:solidFill>
              <a:srgbClr val="1B3B6F"/>
            </a:solidFill>
            <a:prstDash val="solid"/>
          </a:ln>
        </p:spPr>
      </p:sp>
      <p:sp>
        <p:nvSpPr>
          <p:cNvPr id="24" name="Text 21"/>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5" name="Text 22"/>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stations, 90 seconds each: countries &amp; languages · customs · celebrations · international issues.</a:t>
            </a:r>
            <a:endParaRPr lang="en-US" sz="1150" dirty="0"/>
          </a:p>
        </p:txBody>
      </p:sp>
      <p:sp>
        <p:nvSpPr>
          <p:cNvPr id="26" name="Shape 23"/>
          <p:cNvSpPr/>
          <p:nvPr/>
        </p:nvSpPr>
        <p:spPr>
          <a:xfrm>
            <a:off x="658368" y="4864608"/>
            <a:ext cx="274320" cy="274320"/>
          </a:xfrm>
          <a:prstGeom prst="ellipse">
            <a:avLst/>
          </a:prstGeom>
          <a:solidFill>
            <a:srgbClr val="1B3B6F"/>
          </a:solidFill>
          <a:ln w="12700">
            <a:solidFill>
              <a:srgbClr val="1B3B6F"/>
            </a:solidFill>
            <a:prstDash val="solid"/>
          </a:ln>
        </p:spPr>
      </p:sp>
      <p:sp>
        <p:nvSpPr>
          <p:cNvPr id="27" name="Text 24"/>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8" name="Text 25"/>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At each station: 3 words, 1 grammar point, 1 extended sentence.</a:t>
            </a:r>
            <a:endParaRPr lang="en-US" sz="1150" dirty="0"/>
          </a:p>
        </p:txBody>
      </p:sp>
      <p:sp>
        <p:nvSpPr>
          <p:cNvPr id="29" name="Shape 26"/>
          <p:cNvSpPr/>
          <p:nvPr/>
        </p:nvSpPr>
        <p:spPr>
          <a:xfrm>
            <a:off x="658368" y="5321808"/>
            <a:ext cx="274320" cy="274320"/>
          </a:xfrm>
          <a:prstGeom prst="ellipse">
            <a:avLst/>
          </a:prstGeom>
          <a:solidFill>
            <a:srgbClr val="1B3B6F"/>
          </a:solidFill>
          <a:ln w="12700">
            <a:solidFill>
              <a:srgbClr val="1B3B6F"/>
            </a:solidFill>
            <a:prstDash val="solid"/>
          </a:ln>
        </p:spPr>
      </p:sp>
      <p:sp>
        <p:nvSpPr>
          <p:cNvPr id="30" name="Text 27"/>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31" name="Text 28"/>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Finish with one spoken and one written sentence linking two stations.</a:t>
            </a:r>
            <a:endParaRPr lang="en-US" sz="1150" dirty="0"/>
          </a:p>
        </p:txBody>
      </p:sp>
      <p:sp>
        <p:nvSpPr>
          <p:cNvPr id="32" name="Shape 29"/>
          <p:cNvSpPr/>
          <p:nvPr/>
        </p:nvSpPr>
        <p:spPr>
          <a:xfrm>
            <a:off x="658368" y="5779008"/>
            <a:ext cx="274320" cy="274320"/>
          </a:xfrm>
          <a:prstGeom prst="ellipse">
            <a:avLst/>
          </a:prstGeom>
          <a:solidFill>
            <a:srgbClr val="1B3B6F"/>
          </a:solidFill>
          <a:ln w="12700">
            <a:solidFill>
              <a:srgbClr val="1B3B6F"/>
            </a:solidFill>
            <a:prstDash val="solid"/>
          </a:ln>
        </p:spPr>
      </p:sp>
      <p:sp>
        <p:nvSpPr>
          <p:cNvPr id="33" name="Text 30"/>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4" name="Text 31"/>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the language you most need for final revision.</a:t>
            </a:r>
            <a:endParaRPr lang="en-US" sz="1150" dirty="0"/>
          </a:p>
        </p:txBody>
      </p:sp>
      <p:sp>
        <p:nvSpPr>
          <p:cNvPr id="35" name="Shape 32"/>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8" name="Text 35"/>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per station using the frames.</a:t>
            </a:r>
            <a:endParaRPr lang="en-US" sz="1150" dirty="0"/>
          </a:p>
        </p:txBody>
      </p:sp>
      <p:sp>
        <p:nvSpPr>
          <p:cNvPr id="39" name="Shape 36"/>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41" name="Text 38"/>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2" name="Text 39"/>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station with agreement and a reason.</a:t>
            </a:r>
            <a:endParaRPr lang="en-US" sz="1150" dirty="0"/>
          </a:p>
        </p:txBody>
      </p:sp>
      <p:sp>
        <p:nvSpPr>
          <p:cNvPr id="43" name="Shape 40"/>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5" name="Text 42"/>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6" name="Text 43"/>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extended answer per station with a passive, a comparison and a time frame.</a:t>
            </a:r>
            <a:endParaRPr lang="en-US" sz="1150" dirty="0"/>
          </a:p>
        </p:txBody>
      </p:sp>
      <p:sp>
        <p:nvSpPr>
          <p:cNvPr id="47" name="Shape 44"/>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Text 45"/>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9" name="Text 46"/>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يَتَكَلَّمُ النَّاسُ فِي … اللُّغَةَ …</a:t>
            </a:r>
            <a:endParaRPr lang="ar-SA" sz="1300" dirty="0"/>
          </a:p>
        </p:txBody>
      </p:sp>
      <p:sp>
        <p:nvSpPr>
          <p:cNvPr id="50" name="Text 47"/>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countries &amp; languages</a:t>
            </a:r>
            <a:endParaRPr lang="en-US" sz="1000" dirty="0"/>
          </a:p>
        </p:txBody>
      </p:sp>
      <p:sp>
        <p:nvSpPr>
          <p:cNvPr id="51" name="Text 48"/>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المُهَذَّبِ أَنْ …</a:t>
            </a:r>
            <a:endParaRPr lang="ar-SA" sz="1300" dirty="0"/>
          </a:p>
        </p:txBody>
      </p:sp>
      <p:sp>
        <p:nvSpPr>
          <p:cNvPr id="52" name="Text 49"/>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customs</a:t>
            </a:r>
            <a:endParaRPr lang="en-US" sz="1000" dirty="0"/>
          </a:p>
        </p:txBody>
      </p:sp>
      <p:sp>
        <p:nvSpPr>
          <p:cNvPr id="53" name="Text 50"/>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يُحْتَفَلُ بِالعِيدِ فِي …</a:t>
            </a:r>
            <a:endParaRPr lang="ar-SA" sz="1300" dirty="0"/>
          </a:p>
        </p:txBody>
      </p:sp>
      <p:sp>
        <p:nvSpPr>
          <p:cNvPr id="54" name="Text 51"/>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celebrations</a:t>
            </a:r>
            <a:endParaRPr lang="en-US" sz="1000" dirty="0"/>
          </a:p>
        </p:txBody>
      </p:sp>
      <p:sp>
        <p:nvSpPr>
          <p:cNvPr id="55" name="Text 52"/>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تَتَعَاوَنُ الدُّوَلُ فِي …</a:t>
            </a:r>
            <a:endParaRPr lang="ar-SA" sz="1300" dirty="0"/>
          </a:p>
        </p:txBody>
      </p:sp>
      <p:sp>
        <p:nvSpPr>
          <p:cNvPr id="56" name="Text 53"/>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international issues</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PICTURE MATCH · WEBSITE GAME “TOPIC E MIXED CHALLENGE (TOPIC GAME)”</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E in three pictures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الْمِحْوَرِ هـ</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country + world</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39826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4581144" y="2249424"/>
            <a:ext cx="649224" cy="649224"/>
          </a:xfrm>
          <a:prstGeom prst="rect">
            <a:avLst/>
          </a:prstGeom>
        </p:spPr>
      </p:pic>
      <p:sp>
        <p:nvSpPr>
          <p:cNvPr id="30" name="Shape 24"/>
          <p:cNvSpPr/>
          <p:nvPr/>
        </p:nvSpPr>
        <p:spPr>
          <a:xfrm>
            <a:off x="558698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5769864" y="2249424"/>
            <a:ext cx="649224" cy="649224"/>
          </a:xfrm>
          <a:prstGeom prst="rect">
            <a:avLst/>
          </a:prstGeom>
        </p:spPr>
      </p:pic>
      <p:sp>
        <p:nvSpPr>
          <p:cNvPr id="32" name="Shape 25"/>
          <p:cNvSpPr/>
          <p:nvPr/>
        </p:nvSpPr>
        <p:spPr>
          <a:xfrm>
            <a:off x="6775704"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6958584" y="2249424"/>
            <a:ext cx="649224" cy="649224"/>
          </a:xfrm>
          <a:prstGeom prst="rect">
            <a:avLst/>
          </a:prstGeom>
        </p:spPr>
      </p:pic>
      <p:sp>
        <p:nvSpPr>
          <p:cNvPr id="34"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travel + respect</a:t>
            </a:r>
            <a:endParaRPr lang="en-US" sz="1100" dirty="0"/>
          </a:p>
        </p:txBody>
      </p:sp>
      <p:sp>
        <p:nvSpPr>
          <p:cNvPr id="35" name="Shape 2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28"/>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2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8" name="Shape 30"/>
          <p:cNvSpPr/>
          <p:nvPr/>
        </p:nvSpPr>
        <p:spPr>
          <a:xfrm>
            <a:off x="117348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0" name="Shape 31"/>
          <p:cNvSpPr/>
          <p:nvPr/>
        </p:nvSpPr>
        <p:spPr>
          <a:xfrm>
            <a:off x="236220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2" name="Text 3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languages</a:t>
            </a:r>
            <a:endParaRPr lang="en-US" sz="1100" dirty="0"/>
          </a:p>
        </p:txBody>
      </p:sp>
      <p:sp>
        <p:nvSpPr>
          <p:cNvPr id="43" name="Shape 33"/>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4" name="Shape 34"/>
          <p:cNvSpPr/>
          <p:nvPr/>
        </p:nvSpPr>
        <p:spPr>
          <a:xfrm>
            <a:off x="11247120" y="3831336"/>
            <a:ext cx="292608" cy="292608"/>
          </a:xfrm>
          <a:prstGeom prst="ellipse">
            <a:avLst/>
          </a:prstGeom>
          <a:solidFill>
            <a:srgbClr val="2F6FB0"/>
          </a:solidFill>
          <a:ln w="12700">
            <a:solidFill>
              <a:srgbClr val="2F6FB0"/>
            </a:solidFill>
            <a:prstDash val="solid"/>
          </a:ln>
        </p:spPr>
      </p:sp>
      <p:sp>
        <p:nvSpPr>
          <p:cNvPr id="45" name="Text 35"/>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6" name="Text 36"/>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 زِيَارَةِ احْتِفَالٍ فِي بَلَدٍ آخَرَ أَحْتَرِمُ الْعَادَاتِ وَأَسْأَلُ إِذَا لَمْ أَفْهَمْ.</a:t>
            </a:r>
            <a:endParaRPr lang="ar-SA" sz="2000" dirty="0"/>
          </a:p>
        </p:txBody>
      </p:sp>
      <p:sp>
        <p:nvSpPr>
          <p:cNvPr id="47" name="Shape 37"/>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8" name="Shape 38"/>
          <p:cNvSpPr/>
          <p:nvPr/>
        </p:nvSpPr>
        <p:spPr>
          <a:xfrm>
            <a:off x="11247120" y="4398264"/>
            <a:ext cx="292608" cy="292608"/>
          </a:xfrm>
          <a:prstGeom prst="ellipse">
            <a:avLst/>
          </a:prstGeom>
          <a:solidFill>
            <a:srgbClr val="2F6FB0"/>
          </a:solidFill>
          <a:ln w="12700">
            <a:solidFill>
              <a:srgbClr val="2F6FB0"/>
            </a:solidFill>
            <a:prstDash val="solid"/>
          </a:ln>
        </p:spPr>
      </p:sp>
      <p:sp>
        <p:nvSpPr>
          <p:cNvPr id="49" name="Text 39"/>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0" name="Text 40"/>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تَعَلُّمُ اللُّغَاتِ يُسَاعِدُ عَلَى التَّوَاصُلِ وَفَهْمِ الثَّقَافَاتِ.</a:t>
            </a:r>
            <a:endParaRPr lang="ar-SA" sz="2000" dirty="0"/>
          </a:p>
        </p:txBody>
      </p:sp>
      <p:sp>
        <p:nvSpPr>
          <p:cNvPr id="51" name="Shape 41"/>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2" name="Shape 42"/>
          <p:cNvSpPr/>
          <p:nvPr/>
        </p:nvSpPr>
        <p:spPr>
          <a:xfrm>
            <a:off x="11247120" y="4965192"/>
            <a:ext cx="292608" cy="292608"/>
          </a:xfrm>
          <a:prstGeom prst="ellipse">
            <a:avLst/>
          </a:prstGeom>
          <a:solidFill>
            <a:srgbClr val="2F6FB0"/>
          </a:solidFill>
          <a:ln w="12700">
            <a:solidFill>
              <a:srgbClr val="2F6FB0"/>
            </a:solidFill>
            <a:prstDash val="solid"/>
          </a:ln>
        </p:spPr>
      </p:sp>
      <p:sp>
        <p:nvSpPr>
          <p:cNvPr id="53" name="Text 43"/>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4" name="Text 44"/>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مِصْرُ دَوْلَةٌ عَرَبِيَّةٌ وَهِيَ جُزْءٌ مِنَ الْعَالَمِ الدَّوْلِيِّ الْمُتَرَابِطِ.</a:t>
            </a:r>
            <a:endParaRPr lang="ar-SA" sz="2000" dirty="0"/>
          </a:p>
        </p:txBody>
      </p:sp>
      <p:sp>
        <p:nvSpPr>
          <p:cNvPr id="55" name="Text 45"/>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6" name="Text 46"/>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7"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الْمِحْوَرِ هـ</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country + world</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مِصْرُ دَوْلَةٌ عَرَبِيَّةٌ وَهِيَ جُزْءٌ مِنَ الْعَالَمِ الدَّوْلِيِّ الْمُتَرَابِطِ.</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Egypt is an Arab country and part of the connected international world.</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39826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4581144" y="2249424"/>
            <a:ext cx="649224" cy="649224"/>
          </a:xfrm>
          <a:prstGeom prst="rect">
            <a:avLst/>
          </a:prstGeom>
        </p:spPr>
      </p:pic>
      <p:sp>
        <p:nvSpPr>
          <p:cNvPr id="35" name="Shape 29"/>
          <p:cNvSpPr/>
          <p:nvPr/>
        </p:nvSpPr>
        <p:spPr>
          <a:xfrm>
            <a:off x="558698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5769864" y="2249424"/>
            <a:ext cx="649224" cy="649224"/>
          </a:xfrm>
          <a:prstGeom prst="rect">
            <a:avLst/>
          </a:prstGeom>
        </p:spPr>
      </p:pic>
      <p:sp>
        <p:nvSpPr>
          <p:cNvPr id="37" name="Shape 30"/>
          <p:cNvSpPr/>
          <p:nvPr/>
        </p:nvSpPr>
        <p:spPr>
          <a:xfrm>
            <a:off x="6775704" y="2066544"/>
            <a:ext cx="1014984" cy="1014984"/>
          </a:xfrm>
          <a:prstGeom prst="ellipse">
            <a:avLst/>
          </a:prstGeom>
          <a:solidFill>
            <a:srgbClr val="F4F1EA"/>
          </a:solidFill>
          <a:ln w="12700">
            <a:solidFill>
              <a:srgbClr val="F4F1EA"/>
            </a:solidFill>
            <a:prstDash val="solid"/>
          </a:ln>
        </p:spPr>
      </p:sp>
      <p:pic>
        <p:nvPicPr>
          <p:cNvPr id="38" name="Image 4" descr="preencoded.png">    </p:cNvPr>
          <p:cNvPicPr>
            <a:picLocks noChangeAspect="1"/>
          </p:cNvPicPr>
          <p:nvPr/>
        </p:nvPicPr>
        <p:blipFill>
          <a:blip r:embed="rId5"/>
          <a:stretch>
            <a:fillRect/>
          </a:stretch>
        </p:blipFill>
        <p:spPr>
          <a:xfrm>
            <a:off x="6958584" y="2249424"/>
            <a:ext cx="649224" cy="649224"/>
          </a:xfrm>
          <a:prstGeom prst="rect">
            <a:avLst/>
          </a:prstGeom>
        </p:spPr>
      </p:pic>
      <p:sp>
        <p:nvSpPr>
          <p:cNvPr id="39" name="Text 3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travel + respect</a:t>
            </a:r>
            <a:endParaRPr lang="en-US" sz="1100" dirty="0"/>
          </a:p>
        </p:txBody>
      </p:sp>
      <p:sp>
        <p:nvSpPr>
          <p:cNvPr id="40" name="Shape 32"/>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3"/>
          <p:cNvSpPr/>
          <p:nvPr/>
        </p:nvSpPr>
        <p:spPr>
          <a:xfrm>
            <a:off x="7437120" y="3785616"/>
            <a:ext cx="329184" cy="329184"/>
          </a:xfrm>
          <a:prstGeom prst="ellipse">
            <a:avLst/>
          </a:prstGeom>
          <a:solidFill>
            <a:srgbClr val="2E8B57"/>
          </a:solidFill>
          <a:ln w="12700">
            <a:solidFill>
              <a:srgbClr val="2E8B57"/>
            </a:solidFill>
            <a:prstDash val="solid"/>
          </a:ln>
        </p:spPr>
      </p:sp>
      <p:sp>
        <p:nvSpPr>
          <p:cNvPr id="42" name="Text 34"/>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3" name="Text 35"/>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عِنْدَ زِيَارَةِ احْتِفَالٍ فِي بَلَدٍ آخَرَ أَحْتَرِمُ الْعَادَاتِ وَأَسْأَلُ إِذَا لَمْ أَفْهَمْ.</a:t>
            </a:r>
            <a:endParaRPr lang="ar-SA" sz="2050" dirty="0"/>
          </a:p>
        </p:txBody>
      </p:sp>
      <p:sp>
        <p:nvSpPr>
          <p:cNvPr id="44" name="Text 36"/>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When visiting a celebration in another country, I respect the customs and ask if I do not understand.</a:t>
            </a:r>
            <a:endParaRPr lang="en-US" sz="1200" dirty="0"/>
          </a:p>
        </p:txBody>
      </p:sp>
      <p:sp>
        <p:nvSpPr>
          <p:cNvPr id="45" name="Shape 3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38"/>
          <p:cNvSpPr/>
          <p:nvPr/>
        </p:nvSpPr>
        <p:spPr>
          <a:xfrm>
            <a:off x="585216" y="1938528"/>
            <a:ext cx="365760" cy="365760"/>
          </a:xfrm>
          <a:prstGeom prst="ellipse">
            <a:avLst/>
          </a:prstGeom>
          <a:solidFill>
            <a:srgbClr val="1B3B6F"/>
          </a:solidFill>
          <a:ln w="12700">
            <a:solidFill>
              <a:srgbClr val="1B3B6F"/>
            </a:solidFill>
            <a:prstDash val="solid"/>
          </a:ln>
        </p:spPr>
      </p:sp>
      <p:sp>
        <p:nvSpPr>
          <p:cNvPr id="47" name="Text 3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8" name="Shape 40"/>
          <p:cNvSpPr/>
          <p:nvPr/>
        </p:nvSpPr>
        <p:spPr>
          <a:xfrm>
            <a:off x="117348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50" name="Shape 41"/>
          <p:cNvSpPr/>
          <p:nvPr/>
        </p:nvSpPr>
        <p:spPr>
          <a:xfrm>
            <a:off x="236220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2" name="Text 4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languages</a:t>
            </a:r>
            <a:endParaRPr lang="en-US" sz="1100" dirty="0"/>
          </a:p>
        </p:txBody>
      </p:sp>
      <p:sp>
        <p:nvSpPr>
          <p:cNvPr id="53" name="Shape 43"/>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4" name="Shape 44"/>
          <p:cNvSpPr/>
          <p:nvPr/>
        </p:nvSpPr>
        <p:spPr>
          <a:xfrm>
            <a:off x="3617976" y="3785616"/>
            <a:ext cx="329184" cy="329184"/>
          </a:xfrm>
          <a:prstGeom prst="ellipse">
            <a:avLst/>
          </a:prstGeom>
          <a:solidFill>
            <a:srgbClr val="2E8B57"/>
          </a:solidFill>
          <a:ln w="12700">
            <a:solidFill>
              <a:srgbClr val="2E8B57"/>
            </a:solidFill>
            <a:prstDash val="solid"/>
          </a:ln>
        </p:spPr>
      </p:sp>
      <p:sp>
        <p:nvSpPr>
          <p:cNvPr id="55" name="Text 45"/>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6" name="Text 46"/>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تَعَلُّمُ اللُّغَاتِ يُسَاعِدُ عَلَى التَّوَاصُلِ وَفَهْمِ الثَّقَافَاتِ.</a:t>
            </a:r>
            <a:endParaRPr lang="ar-SA" sz="2200" dirty="0"/>
          </a:p>
        </p:txBody>
      </p:sp>
      <p:sp>
        <p:nvSpPr>
          <p:cNvPr id="57" name="Text 47"/>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Learning languages helps communication and understanding cultures.</a:t>
            </a:r>
            <a:endParaRPr lang="en-US" sz="1200" dirty="0"/>
          </a:p>
        </p:txBody>
      </p:sp>
      <p:sp>
        <p:nvSpPr>
          <p:cNvPr id="58"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TOPIC E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Topic E accuracy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D6-L07 (website) · D6-L10 (website)</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زُرْنَا · كَانَتْ تُعِدُّ · سَنُنَظِّمُ · لَنْ نَتَخَلَّى</a:t>
            </a:r>
            <a:endParaRPr lang="ar-SA" sz="22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tense + time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TE-L04 · TE-L09</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نَحْتَفِلُ بِالعِيدِ · أَنْتَمِي إِلَى · يَتَكَيَّفُ مَعَ</a:t>
            </a:r>
            <a:endParaRPr lang="ar-SA" sz="22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preposition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TE-L05</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تُزَيَّنُ القَاعَةُ بِالأَضْوَاءِ</a:t>
            </a:r>
            <a:endParaRPr lang="ar-SA" sz="22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TE-L09 · D6-L07 (website)</a:t>
            </a:r>
            <a:endParaRPr lang="en-US" sz="1100" dirty="0"/>
          </a:p>
        </p:txBody>
      </p:sp>
      <p:sp>
        <p:nvSpPr>
          <p:cNvPr id="37" name="Text 34"/>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المَدِينَةُ الَّتِي زُرْتُهَا · أَكْبَرُ مِنَ السَّابِقِ</a:t>
            </a:r>
            <a:endParaRPr lang="ar-SA" sz="22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relative · comparative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TE-L01 · TE-L03</a:t>
            </a:r>
            <a:endParaRPr lang="en-US" sz="1100" dirty="0"/>
          </a:p>
        </p:txBody>
      </p:sp>
      <p:sp>
        <p:nvSpPr>
          <p:cNvPr id="41" name="Text 38"/>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إِلَى لُبْنَانَ · أَنَّ التَّنَوُّعَ ثَرْوَةٌ</a:t>
            </a:r>
            <a:endParaRPr lang="ar-SA" sz="22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case after a word</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And one habit for every part today: a fair, qualified claim — </a:t>
            </a:r>
            <a:pPr algn="l" indent="0" marL="0">
              <a:buNone/>
            </a:pPr>
            <a:r>
              <a:rPr lang="ar-SA" altLang="en-US" sz="1500" b="1" dirty="0">
                <a:solidFill>
                  <a:srgbClr val="1B3B6F"/>
                </a:solidFill>
                <a:latin typeface="Amiri" pitchFamily="2" charset="-78"/>
                <a:ea typeface="Amiri" pitchFamily="2" charset="-78"/>
                <a:cs typeface="Amiri" pitchFamily="2" charset="-78"/>
              </a:rPr>
              <a:t>فِي بَعْضِ</a:t>
            </a:r>
            <a:pPr algn="l" indent="0" marL="0">
              <a:buNone/>
            </a:pPr>
            <a:r>
              <a:rPr lang="en-US" sz="1150" b="1" dirty="0">
                <a:solidFill>
                  <a:srgbClr val="1B3B6F"/>
                </a:solidFill>
                <a:latin typeface="Calibri" pitchFamily="34" charset="0"/>
                <a:cs typeface="Amiri" pitchFamily="2" charset="-78"/>
              </a:rPr>
              <a:t> … · </a:t>
            </a:r>
            <a:pPr algn="l" indent="0" marL="0">
              <a:buNone/>
            </a:pPr>
            <a:r>
              <a:rPr lang="ar-SA" altLang="en-US" sz="1500" b="1" dirty="0">
                <a:solidFill>
                  <a:srgbClr val="1B3B6F"/>
                </a:solidFill>
                <a:latin typeface="Amiri" pitchFamily="2" charset="-78"/>
                <a:ea typeface="Amiri" pitchFamily="2" charset="-78"/>
                <a:cs typeface="Amiri" pitchFamily="2" charset="-78"/>
              </a:rPr>
              <a:t>عَلَى حَدِّ عِلْمِي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 celebration across three tenses (8) · Nūr and Sami (6) · Arabic and the Arab world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festival city: main idea, detail, attitude, omission and a tense gap-fill</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cultural profile (5) + a 130–140-word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meeting someone from another culture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 celebration across three tenses (1)</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celebrate in childhood?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family's home country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cultural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used to do?</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with them</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Decorate the hall</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Prepare the sweets herself</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cancelled the celebration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moved abroad</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visited relatives after a long absence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they usually celebrate now?</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cultural centre with the community</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village</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a relative's house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A celebration across three tenses (1):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celebrate in childhood?</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family's home country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cultural centre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كُنَّا نَحْتَفِلُ بِالعِيدِ فِي بَلَدِ أُسْرَتِي.</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used to do?</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with them</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Decorate the hall</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Prepare the sweets herself</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وَكَانَتْ جَدَّتِي تُعِدُّ الحَلْوَى بِنَفْسِهَا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cancelled the celebration</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moved abroad</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visited relatives after a long absence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وَفِي العَامِ المَاضِي زُرْنَا الأَقَارِبَ هُنَاكَ بَعْدَ غِيَابٍ طَوِيلٍ.</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they usually celebrate now?</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cultural centre with the community</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village</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a relative's house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أَمَّا الآنَ فَنَحْتَفِلُ عَادَةً فِي المَرْكَزِ الثَّقَافِيِّ.</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 celebration across three tenses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the hall now?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rebuilt each year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stays closed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decorated and greetings are exchanged</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next year?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celebration at all</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move to another city</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larger celebration, with neighbours invited</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aspiration?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visit the family's country again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travelling</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change languages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special sweet</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Money given to children at Eid</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Eid prayer</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A celebration across three tenses (2):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the hall now?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rebuilt each year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stays closed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decorated and greetings are exchanged</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وَتُزَيَّنُ القَاعَةُ وَتُتَبَادَلُ التَّهَانِي.</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next year?</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celebration at all</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move to another city</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larger celebration, with neighbours invited</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وَالعَامَ القَادِمَ سَنُنَظِّمُ حَفْلًا أَكْبَرَ، وَسَنَدْعُو الجِيرَانَ.</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aspiration?</a:t>
            </a:r>
            <a:endParaRPr lang="en-US" sz="1250" dirty="0"/>
          </a:p>
        </p:txBody>
      </p:sp>
      <p:sp>
        <p:nvSpPr>
          <p:cNvPr id="49" name="Shape 46"/>
          <p:cNvSpPr/>
          <p:nvPr/>
        </p:nvSpPr>
        <p:spPr>
          <a:xfrm>
            <a:off x="548640" y="4794504"/>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4831080"/>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visit the family's country again</a:t>
            </a:r>
            <a:endParaRPr lang="en-US" sz="125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travelling</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change languages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وَأَطْمَحُ إِلَى أَنْ أَزُورَ بَلَدَ أُسْرَتِي مَرَّةً أُخْرَى.</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special sweet</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Money given to children at Eid</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Eid prayer</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العِيدِيَّة</a:t>
            </a:r>
            <a:pPr algn="l" indent="0" marL="0">
              <a:buNone/>
            </a:pPr>
            <a:r>
              <a:rPr lang="en-US" sz="1050" i="1" dirty="0">
                <a:solidFill>
                  <a:srgbClr val="8A6D1E"/>
                </a:solidFill>
                <a:latin typeface="Calibri" pitchFamily="34" charset="0"/>
                <a:cs typeface="Amiri" pitchFamily="2" charset="-78"/>
              </a:rPr>
              <a:t> is the gift of money given to children at Eid.</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Nūr and Sami: 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belongs to the second generation?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was born in the family's country?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keeps the family customs?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 only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mixes the two languages sometimes?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 only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feels nostalgia for the homeland?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never lived there?</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Nūr and Sami: who said what?: answers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belongs to the second generation?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Nūr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نُورُ: أَنَا مِنَ الجِيلِ الثَّانِي.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was born in the family's country?</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وَأَنَا وُلِدْتُ هُنَاكَ.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keeps the family customs?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 only</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Nūr says </a:t>
            </a:r>
            <a:pPr algn="l" indent="0" marL="0">
              <a:buNone/>
            </a:pPr>
            <a:r>
              <a:rPr lang="ar-SA" altLang="en-US" sz="1350" dirty="0">
                <a:solidFill>
                  <a:srgbClr val="8A6D1E"/>
                </a:solidFill>
                <a:latin typeface="Amiri" pitchFamily="2" charset="-78"/>
                <a:ea typeface="Amiri" pitchFamily="2" charset="-78"/>
                <a:cs typeface="Amiri" pitchFamily="2" charset="-78"/>
              </a:rPr>
              <a:t>أَحْتَفِظُ بِعَادَاتِ أُسْرَتِي</a:t>
            </a:r>
            <a:pPr algn="l" indent="0" marL="0">
              <a:buNone/>
            </a:pPr>
            <a:r>
              <a:rPr lang="en-US" sz="1050" i="1" dirty="0">
                <a:solidFill>
                  <a:srgbClr val="8A6D1E"/>
                </a:solidFill>
                <a:latin typeface="Calibri" pitchFamily="34" charset="0"/>
                <a:cs typeface="Amiri" pitchFamily="2" charset="-78"/>
              </a:rPr>
              <a:t> and Sami says </a:t>
            </a:r>
            <a:pPr algn="l" indent="0" marL="0">
              <a:buNone/>
            </a:pPr>
            <a:r>
              <a:rPr lang="ar-SA" altLang="en-US" sz="1350" dirty="0">
                <a:solidFill>
                  <a:srgbClr val="8A6D1E"/>
                </a:solidFill>
                <a:latin typeface="Amiri" pitchFamily="2" charset="-78"/>
                <a:ea typeface="Amiri" pitchFamily="2" charset="-78"/>
                <a:cs typeface="Amiri" pitchFamily="2" charset="-78"/>
              </a:rPr>
              <a:t>وَأَنَا أَيْضًا أَحْتَفِظُ بِهَا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mixes the two languages sometimes?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 only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Sami says </a:t>
            </a:r>
            <a:pPr algn="l" indent="0" marL="0">
              <a:buNone/>
            </a:pPr>
            <a:r>
              <a:rPr lang="ar-SA" altLang="en-US" sz="1350" dirty="0">
                <a:solidFill>
                  <a:srgbClr val="8A6D1E"/>
                </a:solidFill>
                <a:latin typeface="Amiri" pitchFamily="2" charset="-78"/>
                <a:ea typeface="Amiri" pitchFamily="2" charset="-78"/>
                <a:cs typeface="Amiri" pitchFamily="2" charset="-78"/>
              </a:rPr>
              <a:t>أَحْيَانًا أَخْلِطُ بَيْنَ اللُّغَتَيْنِ</a:t>
            </a:r>
            <a:pPr algn="l" indent="0" marL="0">
              <a:buNone/>
            </a:pPr>
            <a:r>
              <a:rPr lang="en-US" sz="1050" i="1" dirty="0">
                <a:solidFill>
                  <a:srgbClr val="8A6D1E"/>
                </a:solidFill>
                <a:latin typeface="Calibri" pitchFamily="34" charset="0"/>
                <a:cs typeface="Amiri" pitchFamily="2" charset="-78"/>
              </a:rPr>
              <a:t> and Nūr replies </a:t>
            </a:r>
            <a:pPr algn="l" indent="0" marL="0">
              <a:buNone/>
            </a:pPr>
            <a:r>
              <a:rPr lang="ar-SA" altLang="en-US" sz="1350" dirty="0">
                <a:solidFill>
                  <a:srgbClr val="8A6D1E"/>
                </a:solidFill>
                <a:latin typeface="Amiri" pitchFamily="2" charset="-78"/>
                <a:ea typeface="Amiri" pitchFamily="2" charset="-78"/>
                <a:cs typeface="Amiri" pitchFamily="2" charset="-78"/>
              </a:rPr>
              <a:t>أَنَا كَذٰلِكَ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feels nostalgia for the homeland?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أَحِنُّ إِلَى وَطَنِي أَحْيَانًا.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never lived there?</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Nūr</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نُورُ: وَأَنَا لَمْ أَعِشْ هُنَاكَ.</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and the Arab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Arabic's status.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one of the official UN languages.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only official world language.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official status.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number of states.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contains twelve states.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contains twenty-two states.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 is not given.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dialects and fuṣḥā.</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Dialects differ, while fuṣḥā unites them in writing.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dialects are identical.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Fuṣḥā is no longer used.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other languages.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is the only official language everywhere.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other languages exist.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Amazigh is official in Morocco and Algeria.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loanwords.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Arabic words entered other languages.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Arabic words moved into other languages through trade and translation.</a:t>
            </a:r>
            <a:endParaRPr lang="en-US" sz="1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place names travelled.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closing claim?</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has one uniform culture.</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true that the region has a single culture.</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Diversity is a recent development.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Arabic and the Arab world: answers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Arabic's status.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one of the official UN languages.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only official world language.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official status.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وَهِيَ إِحْدَى لُغَاتِ الأُمَمِ المُتَّحِدَةِ الرَّسْمِيَّةِ.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number of states.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contains twelve states.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region contains twenty-two states.</a:t>
            </a:r>
            <a:endParaRPr lang="en-US" sz="12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 is not given.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وَتَضُمُّ المِنْطَقَةُ اثْنَتَيْنِ وَعِشْرِينَ دَوْلَةً.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dialects and fuṣḥā.</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Dialects differ, while fuṣḥā unites them in writing.</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dialects are identical.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Fuṣḥā is no longer used.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تَخْتَلِفُ لَهَجَاتُهَا، بَيْنَمَا تَجْمَعُهَا الفُصْحَى فِي الكِتَابَةِ وَالإِعْلَامِ.</a:t>
            </a:r>
            <a:endParaRPr lang="ar-SA" sz="12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other languages.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Arabic is the only official language everywhere.</a:t>
            </a:r>
            <a:endParaRPr lang="en-US" sz="11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other languages exist.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Amazigh is official in Morocco and Algeria.</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مِثْلُ الأَمَازِيغِيَّةِ فِي المَغْرِبِ وَالجَزَائِرِ.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loanwords.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No Arabic words entered other languages.</a:t>
            </a:r>
            <a:endParaRPr lang="en-US" sz="11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Arabic words moved into other languages through trade and translation.</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place names travelled.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وَقَدِ انْتَقَلَتْ كَلِمَاتٌ عَرَبِيَّةٌ إِلَى لُغَاتٍ أُخْرَى عَبْرَ التِّجَارَةِ وَالتَّرْجَمَةِ.</a:t>
            </a:r>
            <a:endParaRPr lang="ar-SA" sz="11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closing claim?</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has one uniform culture.</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not true that the region has a single culture.</a:t>
            </a:r>
            <a:endParaRPr lang="en-US" sz="11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Diversity is a recent development.</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وَلَيْسَ صَحِيحًا أَنَّهَا ذَاتُ ثَقَافَةٍ وَاحِدَةٍ.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festival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مَدِينَةُ المِهْرَجَانَاتِ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بَلَدِنَا تُقَامُ مِهْرَجَانَاتٌ ثَقَافِيَّةٌ كُلَّ صَيْفٍ فِي مَسَارِحَ أَثَرِيَّةٍ. وَقَدْ حَضَرْتُ العَامَ المَاضِي وَاحِدًا مِنْهَا مَعَ أُسْرَتِي، وَشَاهَدْنَا عُرُوضَ الرَّقْصِ الشَّعْبِيِّ وَالمُوسِيقَى التَّقْلِيدِيَّةِ. زُيِّنَتِ السَّاحَاتُ بِالأَضْوَاءِ، وَتُبُودِلَتِ الأَطْعِمَةُ بَيْنَ العَائِلَاتِ. وَتَحْتَفِلُ فِي المَدِينَةِ نَفْسِهَا طَوَائِفُ مُخْتَلِفَةٌ بِمُنَاسَبَاتِهَا؛ فَيُقَامُ القُدَّاسُ فِي الكَنِيسَةِ القَدِيمَةِ، وَتُزَيَّنُ البُيُوتُ فِي الأَعْيَادِ الأُخْرَى. وَمِنْ وِجْهَةِ نَظَرِي لَا يُمْكِنُ إِنْكَارُ أَنَّ هٰذَا التَّنَوُّعَ ثَرْوَةٌ حَقِيقِيَّةٌ. عَلَى الرَّغْمِ مِنْ ذٰلِكَ لَا يَذْكُرُ كَثِيرٌ مِنَ الزُّوَّارِ سِوَى الجَانِبِ السِّيَاحِيِّ. وَفِي المُسْتَقْبَلِ سَأَعُودُ إِلَى المِهْرَجَانِ، وَأَطْمَحُ إِلَى أَنْ أُشَارِكَ فِي تَنْظِيمِهِ.</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in the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tournament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Cultural festivals held each summer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writer attend one?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 with the family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month, alone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years ago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watch?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film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debate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Folk dance and traditional music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squares?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closed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decorated with lights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rebuilt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different communities in the city?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share one single festival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celebrate their own occasions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do not celebrate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in the text?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tournament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Cultural festivals held each summer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تُقَامُ مِهْرَجَانَاتٌ ثَقَافِيَّةٌ كُلَّ صَيْفٍ فِي مَسَارِحَ أَثَرِيَّةٍ.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writer attend one?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Last year, with the family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month, alone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 years ago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وَقَدْ حَضَرْتُ العَامَ المَاضِي وَاحِدًا مِنْهَا مَعَ أُسْرَتِي.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watch?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film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debate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Folk dance and traditional music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شَاهَدْنَا عُرُوضَ الرَّقْصِ الشَّعْبِيِّ وَالمُوسِيقَى التَّقْلِيدِيَّةِ.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squares?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closed</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were decorated with lights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rebuilt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زُيِّنَتِ السَّاحَاتُ بِالأَضْوَاءِ.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different communities in the city?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share one single festival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celebrate their own occasions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do not celebrate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وَتَحْتَفِلُ فِي المَدِينَةِ نَفْسِهَا طَوَائِفُ مُخْتَلِفَةٌ بِمُنَاسَبَاتِهَا.</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the writer value the diversity described? How do you know?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 the writer calls this diversity a real richness.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they describe it as a problem.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gives no indication either way.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the writer express?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festivals are too expensive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music is poor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visitors mention only the tourist side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tense of </a:t>
            </a:r>
            <a:pPr algn="l" indent="0" marL="0">
              <a:buNone/>
            </a:pPr>
            <a:r>
              <a:rPr lang="ar-SA" altLang="en-US" sz="1650" b="1" dirty="0">
                <a:solidFill>
                  <a:srgbClr val="1B3B6F"/>
                </a:solidFill>
                <a:latin typeface="Amiri" pitchFamily="2" charset="-78"/>
                <a:ea typeface="Amiri" pitchFamily="2" charset="-78"/>
                <a:cs typeface="Amiri" pitchFamily="2" charset="-78"/>
              </a:rPr>
              <a:t>زُيِّنَتْ</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general habit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completed action on that occasion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future plan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وَفِي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المِهْرَجَانِ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عُدْتُ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سَأَعُودُ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أَعُودُ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aspire to?</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 the city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attending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take part in organising the festival</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the writer value the diversity described? How do you know?</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Yes — the writer calls this diversity a real richness.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 they describe it as a problem.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 text gives no indication either way.</a:t>
            </a:r>
            <a:endParaRPr lang="en-US" sz="12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يُمْكِنُ إِنْكَارُ أَنَّ هٰذَا التَّنَوُّعَ ثَرْوَةٌ حَقِيقِيَّةٌ.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the writer express?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festivals are too expensive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music is poor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Many visitors mention only the tourist side</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يَذْكُرُ كَثِيرٌ مِنَ الزُّوَّارِ سِوَى الجَانِبِ السِّيَاحِيِّ.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tense of </a:t>
            </a:r>
            <a:pPr algn="l" indent="0" marL="0">
              <a:buNone/>
            </a:pPr>
            <a:r>
              <a:rPr lang="ar-SA" altLang="en-US" sz="1650" b="1" dirty="0">
                <a:solidFill>
                  <a:srgbClr val="1B3B6F"/>
                </a:solidFill>
                <a:latin typeface="Amiri" pitchFamily="2" charset="-78"/>
                <a:ea typeface="Amiri" pitchFamily="2" charset="-78"/>
                <a:cs typeface="Amiri" pitchFamily="2" charset="-78"/>
              </a:rPr>
              <a:t>زُيِّنَتْ</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general habit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completed action on that occasion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future plan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passive presents it as completed at that festival.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وَفِي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المِهْرَجَانِ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عُدْتُ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سَأَعُودُ</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أَعُودُ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المُسْتَقْبَلِ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aspire to?</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leave the city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attending</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take part in organising the festival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وَأَطْمَحُ إِلَى أَنْ أُشَارِكَ فِي تَنْظِيمِهِ.</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31</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CULTURAL PROFILE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cultural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جِنْسِيَّتِي أَوْ إِرْثِي الثَّقَافِيُّ</a:t>
            </a:r>
            <a:endParaRPr lang="ar-SA" sz="20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Your nationality or cultural heritage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عَادَةٌ ثَقَافِيَّةٌ أَعْرِفُهَا</a:t>
            </a:r>
            <a:endParaRPr lang="ar-SA" sz="20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One cultural custom you know</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مُنَاسَبَةٌ أَحْتَفِلُ بِهَا</a:t>
            </a:r>
            <a:endParaRPr lang="ar-SA" sz="20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One celebration you mark (with bi-)</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لُغَةٌ أَتَحَدَّثُهَا</a:t>
            </a:r>
            <a:endParaRPr lang="ar-SA" sz="20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One language you speak</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طُمُوحٌ ثَقَافِيٌّ لِلْمُسْتَقْبَلِ</a:t>
            </a:r>
            <a:endParaRPr lang="ar-SA" sz="20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cultural aspiration for the future</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ea typeface="Amiri" pitchFamily="2" charset="-78"/>
                <a:cs typeface="Amiri" pitchFamily="2" charset="-78"/>
              </a:rPr>
              <a:t>إِرْثِي ثَقَافِيٌّ مِصْرِيٌّ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تُتَبَادَلُ التَّهَانِي فِي العِيدِ</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نَحْتَفِلُ بِعِيدِ الفِطْرِ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أَتَحَدَّثُ الأُرْدِيَّةَ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أَطْمَحُ إِلَى أَنْ أُتْقِنَ الفُصْحَى</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130–140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culture and my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ثَقَافَتِي وَهُوِيَّتِي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/5</a:t>
            </a:r>
            <a:endParaRPr lang="en-US" sz="1100" dirty="0"/>
          </a:p>
        </p:txBody>
      </p:sp>
      <p:sp>
        <p:nvSpPr>
          <p:cNvPr id="20" name="Text 17"/>
          <p:cNvSpPr txBox="1"/>
          <p:nvPr/>
        </p:nvSpPr>
        <p:spPr>
          <a:xfrm>
            <a:off x="566928" y="2267712"/>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Cultural background or identity described (1) · A past cultural experience narrated with at least three events (2) · A future aspiration stated (1) · An opinion given (1)</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or more past-tense verbs (2) · Future tense with sa- or sawfa (1) · A cultural verb with its correct preposition (1) · A passive, a comparison or a formal connector (1)</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Past-tense suffix accuracy across five or more verbs (3) · Cultural verb prepositions correct (1) · Adjective, pronoun and case agreement correct (1)</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Plan past · present · opinion · future (TE-L03), then check every ending and preposition.</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 play: meeting someone from another culture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لِقَاءٌ 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yourself and your cultural background.</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عَرِّفْ بِنَفْسِكَ وَبِخَلْفِيَّتِكَ الثَّقَافِيَّةِ.</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custom from your background.</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عَادَةً ثَقَافِيَّةً مِنْ خَلْفِيَّتِكَ.</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other person about their culture.</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اِسْأَلِ الشَّخْصَ الآخَرَ عَنْ ثَقَافَتِهِ.</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one thing you have learned from another culture.</a:t>
            </a:r>
            <a:endParaRPr lang="en-US" sz="1100" dirty="0"/>
          </a:p>
        </p:txBody>
      </p:sp>
      <p:sp>
        <p:nvSpPr>
          <p:cNvPr id="35" name="Text 32"/>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اُذْكُرْ شَيْئًا تَعَلَّمْتَهُ مِنْ ثَقَافَةٍ أُخْرَى.</a:t>
            </a:r>
            <a:endParaRPr lang="ar-SA" sz="2000" dirty="0"/>
          </a:p>
        </p:txBody>
      </p:sp>
      <p:sp>
        <p:nvSpPr>
          <p:cNvPr id="36" name="Shape 3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2 · accuracy, including cultural verb prepositions 2.</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and future; nationality vocabulary expected.</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بَلَدًا عَرَبِيًّا تُرِيدُ زِيَارَتَهُ وَلِمَاذَا.</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tense required throughout.</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مُنَاسَبَةً ثَقَافِيَّةً أَوْ دِينِيَّةً مَرَرْتَ بِهَا.</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structure plus future.</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أَهَمِّيَّةُ اللُّغَةِ العَرَبِيَّةِ فِي حَيَاتِكَ؟</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3 · quality of language 3 (cultural vocabulary range, tense accuracy, opinion structures).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TOPIC E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Topic E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accurate, fair and varied cultural Arabic</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TE-L04, L07 and L09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talk about countries, nationalities and celebrations.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cultural verbs with the right preposition.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the cultural passive (</a:t>
            </a:r>
            <a:pPr algn="l" indent="0" marL="0">
              <a:buNone/>
            </a:pPr>
            <a:r>
              <a:rPr lang="ar-SA" altLang="en-US" sz="1700" dirty="0">
                <a:solidFill>
                  <a:srgbClr val="1F2A37"/>
                </a:solidFill>
                <a:latin typeface="Amiri" pitchFamily="2" charset="-78"/>
                <a:ea typeface="Amiri" pitchFamily="2" charset="-78"/>
                <a:cs typeface="Amiri" pitchFamily="2" charset="-78"/>
              </a:rPr>
              <a:t>تُزَيَّنُ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تُتَبَادَلُ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move between past, present and future accurately.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a supported opinion and qualify cultural claims fairly.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TE-L12 · Topic E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X1-L01: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X1-L01 · Exam Skills Extension — Mapping Paper 1 and Paper 2</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الوَرَقَةُ الأُولَى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Paper 1 (listening)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سُؤَالٌ مُتَعَدِّدُ الاخْتِيَارَاتِ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multiple-choice question</a:t>
            </a:r>
            <a:pPr indent="0" marL="0">
              <a:buNone/>
            </a:pPr>
            <a:r>
              <a:rPr lang="ar-SA" sz="1000" i="1" dirty="0">
                <a:solidFill>
                  <a:srgbClr val="5A6472"/>
                </a:solidFill>
                <a:latin typeface="Calibri" pitchFamily="34" charset="0"/>
                <a:ea typeface="Amiri" pitchFamily="2" charset="-78"/>
                <a:cs typeface="Amiri" pitchFamily="2" charset="-78"/>
              </a:rPr>
              <a:t>  pl. أَسْئِلَةٌ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المُطَابَقَةُ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matching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المُشَتِّتُ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distractor</a:t>
            </a:r>
            <a:pPr indent="0" marL="0">
              <a:buNone/>
            </a:pPr>
            <a:r>
              <a:rPr lang="ar-SA" sz="1000" i="1" dirty="0">
                <a:solidFill>
                  <a:srgbClr val="5A6472"/>
                </a:solidFill>
                <a:latin typeface="Calibri" pitchFamily="34" charset="0"/>
                <a:ea typeface="Amiri" pitchFamily="2" charset="-78"/>
                <a:cs typeface="Amiri" pitchFamily="2" charset="-78"/>
              </a:rPr>
              <a:t>  pl. مُشَتِّتَاتٌ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التَّقْيِيمُ الذَّاتِيُّ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self-assessment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exam paper do you feel most ready for,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أَنَا مُسْتَعِدٌّ أَكْثَرَ لِلْوَرَقَةِ ______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Topic E readiness check on the website; learn the five exam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assessment section with your lowest score; learn the five exam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Topic E reflection (strongest evidence + one precise next action); learn the five exam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X1-L01 · Exam Skills Extension — Mapping Paper 1 and Paper 2</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خَرِيطَةُ الوَرَقَتَيْنِ الأُولَى وَالثَّانِيَةِ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E complete — well done! Learn 5 exam words for final revision.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TE-L12 · Topic E Review and Bridge to Final Revision</dc:title>
  <dc:subject>PptxGenJS Presentation</dc:subject>
  <dc:creator>Al Madina Online School · Arabic Department</dc:creator>
  <cp:lastModifiedBy>Al Madina Online School · Arabic Department</cp:lastModifiedBy>
  <cp:revision>1</cp:revision>
  <dcterms:created xsi:type="dcterms:W3CDTF">2026-10-11T06:44:22Z</dcterms:created>
  <dcterms:modified xsi:type="dcterms:W3CDTF">2026-10-11T06:44:22Z</dcterms:modified>
</cp:coreProperties>
</file>