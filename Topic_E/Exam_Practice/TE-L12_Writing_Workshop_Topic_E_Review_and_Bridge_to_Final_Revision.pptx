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E, Lesson 12 (Topic E Review — mock exam practice, TE-L12).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The boxes recycle Topic E: nationality and languages (L01–L02), customs (L04), festivals (L06), places (L05, L07). Box 7 heading uses a dual verb with a returning pronoun (sa-tazūrānihi).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مَنْ (who) · كَمْ سَتَبْقَى (how long — FUTURE) · فَعَلْتُمَا (you two did — PAST dual) · لَاحَظْتُمَاهُ (you two noticed it) · خِطَطُكِ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(76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(91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(114 words). Core model: the whole of Topic E — hosting and exchange (L08), customs and greetings (L04), comparing cultures with baynamā (L09), Ramadan (L06), languages (L02) — with linkers, li-kay, mithla and sa- + an object pronoun.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(137 words). Full-mark model: an anecdote hook with fa-, a relative clause with an object pronoun, lam akun aʿrifu … illā, surʿāna mā, aqṣaru mimmā kuntu aẓunnu, ka- comparisons, a passive subjunctive (yukrama), idh + reported speech, laysa an … bal an and law … la- with a parallel close.
ENGLISH SUMMARY (read aloud or paste in the chat for Core students): When I opened the door to Yuki, the Japanese student we hosted for a month, she bowed politely — I panicked and held out my hand! That funny moment began a journey into a culture I knew only from films and cartoons → I soon found London and Tokyo closer than I thought: she takes off her shoes at the door like us, holds respect for elders sacred like my grandmother, and believes a guest must be honoured and given the best in the house → the deepest lesson came in Ramadan: she asked to fast one day “to understand”; at iftar, after a long day of hunger and thirst, she put her hand on her heart and said “now I know why you love this month” — I realised respect is not being alike but trying to understand, and respecting what we don’t yet understand → “if anyone asked what cultural exchange means, I’d say: opening your door to a stranger and closing it, a month later, on a friend”.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(136 words). Full-mark model for the Stretch title: a statistic hook with numbers and lā … illā, a passive question (tudarrasa), yarā baʿḍu an-nās anna (respectful hedging), lā al-madrasa, fa-inna + mimmā, baʿda an + a measurable result, a concession and idhā … fa-sa- with a relative-free yaʿīshu fīhi.
ENGLISH SUMMARY (read aloud or paste in the chat for Core students): My class has thirty students from twelve countries and five faiths, yet we know little of each other’s cultures, sometimes wrongly — should cultures and faiths be taught in every school? → some say the curriculum is already crowded and culture is the family’s job, not the school’s; yet ignorance of others is the first cause of fear and stereotypes, making this knowledge a necessity, not a luxury → I saw the effect at my school: after visiting a mosque, a church and a temple in one day and talking with their communities, many classmates stopped hurtful jokes and began asking questions with curiosity and respect about classmates’ festivals and customs → a school can’t teach everything, but one hour a week is enough to start; “if children learn to ask before they judge, we will build a society where everyone lives safely and with dignity”.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EXAM PRACTICE  ·  TE-L12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Writing Workshop — Topic E Mock Exam</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امْتِحَانٌ تَجْرِيبِيٌّ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A full Paper 4 mock across all of Topic E: fill in a host-family form for an exchange student, write an email about hosting a Jordanian exchange student, and write an extended piece about an experience that introduced you to another culture or about whether every school should teach about other cultures and faiths.</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TE-L12 · Advanced Topic E · The International World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hosting an exchange student.</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00" dirty="0">
                <a:solidFill>
                  <a:srgbClr val="1F2A37"/>
                </a:solidFill>
                <a:latin typeface="Calibri" pitchFamily="34" charset="0"/>
                <a:cs typeface="Amiri" pitchFamily="2" charset="-78"/>
              </a:rPr>
              <a:t>Check Topic E accuracy: the nisba in the feminine (urduniyya, yābāniyya); relative clauses with returning pronouns (allatī istaḍafnāhā); object pronouns (akhadhtuhā, sa-azūruhā); baynamā and ammā … fa-; the passive where the doer is unknown (tudarrasa, yukrama); li-kay + subjunctive; and respectful hedging (baʿḍu an-nās).</a:t>
            </a:r>
            <a:endParaRPr lang="en-US" sz="12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وَهِيَ طَالِبَةُ تَبَادُلٍ أُرْدُنِيَّةٌ</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she is a Jordanian exchange student</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نَتَعَشَّى مُبَكِّرًا، بَيْنَمَا يَتَعَشَّى النَّاسُ فِي الأُرْدُنِّ مُتَأَخِّرِينَ</a:t>
            </a:r>
            <a:endParaRPr lang="ar-SA" sz="19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 dine early, whereas people in Jordan dine late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أَمَّا أُمِّي فَطَبَخَتْ لَهَا … لِكَيْ تَشْعُرَ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as for my mum, she cooked her … so that she would feel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Host-family form for an exchange student</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50" b="1" dirty="0">
                <a:solidFill>
                  <a:srgbClr val="8A6D1E"/>
                </a:solidFill>
                <a:latin typeface="Amiri" pitchFamily="2" charset="-78"/>
                <a:ea typeface="Amiri" pitchFamily="2" charset="-78"/>
                <a:cs typeface="Amiri" pitchFamily="2" charset="-78"/>
              </a:rPr>
              <a:t>اسْتِمَارَةُ العَائِلَةِ المُضِيفَةِ لِطَالِبِ التَّبَادُلِ</a:t>
            </a:r>
            <a:endParaRPr lang="ar-SA" sz="22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Host student’s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اسْمُ الطَّالِبَةِ المُضِيفَةِ</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الجِنْسِيَّةُ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Home languages</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لُغَاتُ البَيْتِ</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family members</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أَفْرَادِ الأُسْرَةِ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house custom</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عَادَةٌ فِي البَيْتِ</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festival during the visit</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عِيدٌ خِلَالَ الزِّيَارَةِ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place you will visit together</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مَكَانٌ سَتَزُورَانِهِ مَعًا</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to host a student</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تُرِيدِينَ اسْتِضَافَةَ طَالِبَةٍ؟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feminine agreement for a female host (barīṭāniyya); the last box is a full sentence with li-anna and a future verb.</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Host-family form for an exchange student: model answers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Sumaya Rahman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سُمَيَّةُ رَحْمَانُ</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 الطَّالِبَةِ المُضِيفَةِ</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British</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بَرِيطَانِيَّةٌ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الجِنْسِيَّةُ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English, Arabic and Bengali</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الإِنْجْلِيزِيَّةُ وَالعَرَبِيَّةُ وَالبَنْغَالِيَّةُ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لُغَاتُ البَيْتِ</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five</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عَدَدُ أَفْرَادِ الأُسْرَةِ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taking shoes off</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خَلْعُ الأَحْذِيَةِ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عَادَةٌ فِي البَيْتِ</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Eid al-Fitr</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عِيدُ الفِطْرِ</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عِيدٌ خِلَالَ الزِّيَارَةِ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British Museum</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المُتْحَفُ البَرِيطَانِيُّ</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مَكَانٌ سَتَزُورَانِهِ مَعًا</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800" dirty="0">
                <a:solidFill>
                  <a:srgbClr val="5A6472"/>
                </a:solidFill>
                <a:latin typeface="Calibri" pitchFamily="34" charset="0"/>
                <a:cs typeface="Amiri" pitchFamily="2" charset="-78"/>
              </a:rPr>
              <a:t>I want to get to know a new culture, because it will make me understand the world better.</a:t>
            </a:r>
            <a:endParaRPr lang="en-US" sz="8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250" b="1" dirty="0">
                <a:solidFill>
                  <a:srgbClr val="1B3B6F"/>
                </a:solidFill>
                <a:latin typeface="Amiri" pitchFamily="2" charset="-78"/>
                <a:ea typeface="Amiri" pitchFamily="2" charset="-78"/>
                <a:cs typeface="Amiri" pitchFamily="2" charset="-78"/>
              </a:rPr>
              <a:t>أُرِيدُ أَنْ أَتَعَرَّفَ عَلَى ثَقَافَةٍ جَدِيدَةٍ، لِأَنَّ ذٰلِكَ سَيَجْعَلُنِي أَفْهَمُ العَالَمَ أَكْثَرَ.</a:t>
            </a:r>
            <a:endParaRPr lang="ar-SA" sz="12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تُرِيدِينَ اسْتِضَافَةَ طَالِبَةٍ؟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our exchange guest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ضَيْفَتُنَا مِنَ الأُرْدُنِّ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an email in Arabic to a friend of about 80–90 words. You must include: • who your guest is and how long she is staying • what you did on the first day • a cultural difference you noticed • your opinion of the exchange and your plans, and a question for your friend.</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nisba, baynamā and an object pronoun.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present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اسْمُهَا … ، وَهِيَ طَالِبَةُ تَبَادُلٍ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her name is …; she is a … exchange student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اليَوْمِ الأَوَّلِ أَخَذْتُهَا إِلَى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first day I took her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بَيْنَمَا يَتَعَشَّى النَّاسُ فِي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whereas people in … dine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الصَّيْفِ سَأَزُورُهَا فِي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summer I will visit her in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the exchange student staying with you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اكْتُبِي رِسَالَةً إِلَى صَدِيقَتِكِ عَنْ طَالِبَةِ التَّبَادُلِ الَّتِي تُقِيمُ عِنْدَكُمْ (٨٠–٩٠ كَلِمَةً).</a:t>
            </a:r>
            <a:endParaRPr lang="ar-SA" sz="17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your guest is; how long she will stay</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ضَيْفَتُكِ؟ وَكَمْ سَتَبْقَى؟</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both did on the first day</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فَعَلْتُمَا فِي اليَوْمِ الأَوَّلِ؟</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cultural difference you noticed</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الاخْتِلَافُ الثَّقَافِيُّ الَّذِي لَاحَظْتُمَاهُ؟</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plans;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فِي التَّبَادُلِ؟ وَمَا خِطَطُكِ؟ وَاسْأَلِي صَدِيقَتَكِ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a guest: her name is …; she is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عِنْدِي ضَيْفَةٌ: اسْمُهَا ______ ، وَهِيَ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day one I took her to …, then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اليَوْمِ الأَوَّلِ أَخَذْتُهَا إِلَى ______ ، ثُمَّ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 whereas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نَحْنُ ______ ، بَيْنَمَا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think the exchange … I’ll visit her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أَظُنُّ أَنَّ التَّبَادُلَ ______ . سَأَزُورُهَا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 Goodbye.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وَأَنْتِ، ______ ؟ مَعَ السَّلَامَةِ.</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مَرْحَبًا يَا رِيمُ،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كَيْفَ حَالُكِ؟ عِنْدِي ضَيْفَةٌ جَدِيدَةٌ فِي البَيْتِ! اسْمُهَا لَمَى، وَهِيَ طَالِبَةُ تَبَادُلٍ أُرْدُنِيَّةٌ. وَصَلَتْ يَوْمَ السَّبْتِ، وَسَتَبْقَى ثَلَاثَةَ أَسَابِيعَ. فِي اليَوْمِ الأَوَّلِ أَخَذْتُهَا إِلَى وَسَطِ لَنْدَنَ، ثُمَّ أَكَلْنَا السَّمَكَ وَالبَطَاطَا. أَمَّا أُمِّي فَطَبَخَتْ لَهَا المَقْلُوبَةَ، لِكَيْ تَشْعُرَ بِأَنَّهَا فِي بَيْتِهَا. لَاحَظَتْ لَمَى أَنَّنَا نَتَعَشَّى مُبَكِّرًا، بَيْنَمَا يَتَعَشَّى النَّاسُ فِي الأُرْدُنِّ مُتَأَخِّرِينَ. أَظُنُّ أَنَّ التَّبَادُلَ مُفِيدٌ جِدًّا، لِأَنَّنَا نَتَعَلَّمُ مِنْ بَعْضِنَا. فِي الصَّيْفِ سَأَزُورُهَا فِي عَمَّانَ. وَأَنْتِ، هَلْ تُرِيدِينَ أَنْ تُقَابِلِيهَا؟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مَعَ السَّلَامَةِ،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سُمَيَّةُ</a:t>
            </a:r>
            <a:endParaRPr lang="ar-SA" sz="17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Reem, how are you? I have a new guest at home! Her name is Lama, and she’s a Jordanian exchange student. She arrived on Saturday and will stay three weeks. On the first day I took her to central London, then we ate fish and chips. As for my mum, she cooked her maqluba so she’d feel at home. Lama noticed we eat dinner early, whereas people in Jordan dine late. I think the exchange is very useful, because we learn from each other. In the summer I’ll visit her in Amman. And you, would you like to meet her? Goodbye, Sumaya.”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أُرْدُنِيَّةٌ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أَخَذْتُهَا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أُمِّي فَطَبَخَتْ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يَتَعَشَّى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رِيمُ،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صَارَ بَيْتُنَا هٰذَا الأُسْبُوعَ أَكْثَرَ ازْدِحَامًا وَدِفْئًا؛ فَقَدْ وَصَلَتْ لَمَى، طَالِبَةُ التَّبَادُلِ الأُرْدُنِيَّةُ الَّتِي سَتُقِيمُ عِنْدَنَا ثَلَاثَةَ أَسَابِيعَ. حَرَصْتُ عَلَى أَنْ أُرِيَهَا لَنْدَنَ الحَقِيقِيَّةَ، فَأَخَذْتُهَا إِلَى سُوقٍ شَعْبِيٍّ بَدَلًا مِنَ المَحَلَّاتِ السِّيَاحِيَّةِ، بَيْنَمَا حَرَصَتْ أُمِّي عَلَى أَنْ تَطْبُخَ لَهَا المَقْلُوبَةَ كَيْ لَا تَشْتَاقَ إِلَى بَيْتِهَا. وَأَكْثَرُ مَا أَضْحَكَنَا أَنَّهَا اسْتَغْرَبَتْ عَشَاءَنَا فِي السَّادِسَةِ، لِأَنَّهُمْ لَا يَتَعَشَّوْنَ فِي عَمَّانَ قَبْلَ التَّاسِعَةِ! صَحِيحٌ أَنَّ عَادَاتِنَا مُخْتَلِفَةٌ، غَيْرَ أَنَّنَا اكْتَشَفْنَا أَنَّ مَا يَجْمَعُنَا أَكْثَرُ بِكَثِيرٍ. وَإِذَا سَمَحَ وَالِدَايَ، فَسَأُرَافِقُهَا إِلَى الأُرْدُنِّ فِي الصَّيْفِ. أَلَا تُرِيدِينَ أَنْ تَتَعَشَّيْ مَعَنَا يَوْمَ الجُمُعَةِ؟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بِمَحَبَّةٍ،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سُمَيَّةُ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Reem, our house is busier and warmer this week: Lama has arrived, the Jordanian exchange student who will stay with us for three weeks. I made sure to show her the real London, taking her to a street market instead of tourist shops, while my mum made sure to cook her maqluba so she wouldn’t miss home. What made us laugh most was her surprise at our dinner at six — in Amman they don’t dine before nine! Our customs are different, but we discovered that what unites us is far greater. If my parents allow, I’ll go with her to Jordan in the summer. Won’t you have dinner with us on Friday? With love, Sumaya.”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أَكْثَرَ ازْدِحَامًا وَدِفْئًا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الَّتِي سَتُقِيمُ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بَدَلًا مِنَ … بَيْنَمَا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سَمَحَ … فَسَأُرَافِقُهَا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experience that introduced me to another culture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تَجْرِبَةٌ عَرَّفَتْنِي بِثَقَافَةٍ أُخْرَى</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the experience was and when · differences and similarities · an important moment · what you learnt and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مَا التَّجْرِبَةُ وَمَتَى · الاخْتِلَافَاتُ وَالتَّشَابُهَاتُ · لَحْظَةٌ مُهِمَّةٌ · مَا تَعَلَّمْتَهُ وَخُطَطُكَ</a:t>
            </a:r>
            <a:endParaRPr lang="ar-SA" sz="165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Should cultures and faiths be taught in every school?</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يَجِبُ أَنْ تُدَرَّسَ الثَّقَافَاتُ وَالأَدْيَانُ فِي كُلِّ المَدَارِسِ؟</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different views · an example from your school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المَوْضُوعُ · الآرَاءُ المُخْتَلِفَةُ · مِثَالٌ مِنْ مَدْرَسَتِكَ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experience — fī as-sanati al-māḍiya istaqbalat usratī …; baqiyat ʿindanā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Differences + similarities — awwalan lāḥaẓtu anna …; kānat … baynamā naḥnu …; mithlanā tamāman li-annahum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An important moment — bi-l-iḍāfati ilā dhālika …; fī ramaḍāna ṣāmat … li-kay …; thumma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Lesson + future — taʿallamtu anna … lākinna …, mithla …; li-dhālika sa- …; Stretch: laysa … bal,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كَانَتْ تَنْحَنِي، بَيْنَمَا نَحْنُ نُصَافِحُ.</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contrast: she bowed, whereas we shake hands.</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صَامَتْ مَعَنَا لِكَيْ تَفْهَمَ تَجْرِبَتَنَا.</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purpose: she fasted with us to understand.</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سَأَزُورُهَا وَأُسْرَتَهَا بَعْدَ الامْتِحَانَاتِ.</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I’ll visit her family after exams.</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فِي السَّنَةِ المَاضِيَةِ اسْتَقْبَلَتْ أُسْرَتِي طَالِبَةَ تَبَادُلٍ مِنَ اليَابَانِ اسْمُهَا يُوكِي. بَقِيَتْ عِنْدَنَا شَهْرًا كَامِلًا، وَكَانَتْ هٰذِهِ أَوَّلَ مَرَّةٍ أَتَعَرَّفُ فِيهَا عَلَى ثَقَافَةٍ بَعِيدَةٍ جِدًّا عَنْ ثَقَافَتِي.</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أَوَّلًا، لَاحَظْتُ أَنَّ يُوكِي هَادِئَةٌ وَمُؤَدَّبَةٌ جِدًّا. كَانَتْ تَنْحَنِي لِتُحَيِّيَ أُمِّي، بَيْنَمَا نَحْنُ نُصَافِحُ أَوْ نُقَبِّلُ. وَكَانَتْ تَخْلَعُ حِذَاءَهَا عِنْدَ البَابِ مِثْلَنَا تَمَامًا، لِأَنَّهُمْ فِي اليَابَانِ يَفْعَلُونَ ذٰلِكَ أَيْضًا.</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بِالإِضَافَةِ إِلَى ذٰلِكَ، عَلَّمَتْنِي كَلِمَاتٍ يَابَانِيَّةً، وَعَلَّمْتُهَا الحُرُوفَ العَرَبِيَّةَ وَكِتَابَةَ اسْمِهَا. فِي رَمَضَانَ صَامَتْ يَوْمًا وَاحِدًا مَعَنَا، لِكَيْ تَفْهَمَ تَجْرِبَتَنَا، ثُمَّ أَفْطَرْنَا مَعًا. كَانَ ذٰلِكَ اليَوْمُ جَمِيلًا جِدًّا، وَلَنْ أَنْسَاهُ أَبَدًا.</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تَعَلَّمْتُ أَنَّ الثَّقَافَاتِ مُخْتَلِفَةٌ، لٰكِنَّ النَّاسَ يَتَشَابَهُونَ فِي أَشْيَاءَ كَثِيرَةٍ، مِثْلَ احْتِرَامِ الكِبَارِ وَحُبِّ العَائِلَةِ. لِذٰلِكَ سَأُسَافِرُ إِلَى اليَابَانِ بَعْدَ الامْتِحَانَاتِ، وَسَأَزُورُ يُوكِي وَأُسْرَتَهَا إِنْ شَاءَ اللّٰهُ.</a:t>
            </a:r>
            <a:endParaRPr lang="ar-SA" sz="1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We hosted Yuki from Japan for a month — my first very distant culture → she bowed to greet mum, whereas we shake hands, but took her shoes off at the door just like us → we swapped words and letters; in Ramadan she fasted one day with us to understand → cultures differ, but people share much; I’ll visit her in Japan after my exams.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نَحْنُ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مِثْلَنَا تَمَامًا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تَفْهَمَ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لِذٰلِكَ سَأُسَافِرُ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حِينَ فَتَحْتُ البَابَ لِيُوكِي، الطَّالِبَةِ اليَابَانِيَّةِ الَّتِي اسْتَضَفْنَاهَا شَهْرًا، انْحَنَتْ أَمَامِي بِأَدَبٍ، فَارْتَبَكْتُ وَمَدَدْتُ يَدِي! وَكَانَتْ تِلْكَ اللَّحْظَةُ المُضْحِكَةُ بِدَايَةَ رِحْلَةٍ عَرَّفَتْنِي بِثَقَافَةٍ لَمْ أَكُنْ أَعْرِفُ عَنْهَا إِلَّا الأَفْلَامَ وَالرُّسُومَ المُتَحَرِّكَةَ.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وَسُرْعَانَ مَا اكْتَشَفْتُ أَنَّ المَسَافَةَ بَيْنَ لَنْدَنَ وَطُوكْيُو أَقْصَرُ مِمَّا كُنْتُ أَظُنُّ؛ فَيُوكِي تَخْلَعُ حِذَاءَهَا عِنْدَ البَابِ مِثْلَنَا، وَتُقَدِّسُ احْتِرَامَ الكِبَارِ كَجَدَّتِي، وَتَرَى أَنَّ الضَّيْفَ يَجِبُ أَنْ يُكْرَمَ، وَأَنْ يُقَدَّمَ لَهُ أَفْضَلُ مَا فِي البَيْتِ.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غَيْرَ أَنَّ أَعْمَقَ مَا تَعَلَّمْتُهُ جَاءَ فِي رَمَضَانَ؛ إِذْ طَلَبَتْ أَنْ تَصُومَ مَعَنَا يَوْمًا وَاحِدًا "لِتَفْهَمَ"، كَمَا قَالَتْ. وَعِنْدَ الإِفْطَارِ، بَعْدَ يَوْمٍ طَوِيلٍ مِنَ الجُوعِ وَالعَطَشِ، وَضَعَتْ يَدَهَا عَلَى قَلْبِهَا وَقَالَتْ: "الآنَ أَعْرِفُ لِمَاذَا تُحِبُّونَ هٰذَا الشَّهْرَ". فَأَدْرَكْتُ أَنَّ الاحْتِرَامَ لَيْسَ أَنْ نَتَشَابَهَ، بَلْ أَنْ نُحَاوِلَ الفَهْمَ، وَأَنْ نَحْتَرِمَ مَا لَا نَفْهَمُهُ بَعْدُ.</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وَلَوْ سَأَلَنِي أَحَدٌ الآنَ مَاذَا يَعْنِي التَّبَادُلُ الثَّقَافِيُّ، لَقُلْتُ: "أَنْ تَفْتَحَ بَابَكَ لِغَرِيبٍ، فَتُغْلِقَهُ بَعْدَ شَهْرٍ عَلَى صَدِيقَةٍ".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الَّتِي اسْتَضَفْنَاهَا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أَقْصَرُ مِمَّا كُنْتُ أَظُنُّ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لَيْسَ أَنْ نَتَشَابَهَ، بَلْ</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سَأَلَنِي … لَقُلْتُ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Q3 (</a:t>
            </a:r>
            <a:pPr algn="l" indent="0" marL="0">
              <a:buNone/>
            </a:pPr>
            <a:r>
              <a:rPr lang="ar-SA" altLang="en-US" sz="2400" b="1" dirty="0">
                <a:solidFill>
                  <a:srgbClr val="1B3B6F"/>
                </a:solidFill>
                <a:latin typeface="Amiri" pitchFamily="2" charset="-78"/>
                <a:ea typeface="Amiri" pitchFamily="2" charset="-78"/>
                <a:cs typeface="Amiri" pitchFamily="2" charset="-78"/>
              </a:rPr>
              <a:t>ب</a:t>
            </a:r>
            <a:pPr algn="l" indent="0" marL="0">
              <a:buNone/>
            </a:pPr>
            <a:r>
              <a:rPr lang="en-US" sz="1850" b="1" dirty="0">
                <a:solidFill>
                  <a:srgbClr val="1B3B6F"/>
                </a:solidFill>
                <a:latin typeface="Cambria" pitchFamily="34" charset="0"/>
                <a:cs typeface="Amiri" pitchFamily="2" charset="-78"/>
              </a:rPr>
              <a:t>) full-mark model: cultures in the curriculum?</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صَفِّي ثَلَاثُونَ طَالِبًا مِنْ اثْنَيْ عَشَرَ بَلَدًا وَخَمْسَةِ أَدْيَانٍ. وَمَعَ ذٰلِكَ، لَا نَعْرِفُ عَنْ ثَقَافَاتِ بَعْضِنَا إِلَّا القَلِيلَ، وَأَحْيَانًا مَا هُوَ خَاطِئٌ. فَهَلْ يَجِبُ أَنْ تُدَرَّسَ الثَّقَافَاتُ وَالأَدْيَانُ فِي كُلِّ المَدَارِسِ؟</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يَرَى بَعْضُ النَّاسِ أَنَّ المَنْهَجَ مُزْدَحِمٌ أَصْلًا بِالرِّيَاضِيَّاتِ وَالعُلُومِ، وَأَنَّ الثَّقَافَةَ مَسْؤُولِيَّةُ الأُسْرَةِ لَا المَدْرَسَةِ. وَمِنْ نَاحِيَةٍ أُخْرَى، فَإِنَّ الجَهْلَ بِالآخَرِ هُوَ أَوَّلُ أَسْبَابِ الخَوْفِ وَالصُّوَرِ النَّمَطِيَّةِ، مِمَّا يَجْعَلُ هٰذِهِ المَعْرِفَةَ ضَرُورَةً لَا تَرَفًا.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رَأَيْتُ أَثَرَ ذٰلِكَ فِي مَدْرَسَتِي؛ فَبَعْدَ أَنْ زُرْنَا مَسْجِدًا وَكَنِيسَةً وَمَعْبَدًا فِي يَوْمٍ وَاحِدٍ، وَتَحَدَّثْنَا مَعَ أَهْلِهَا بِصَرَاحَةٍ وَلُطْفٍ، تَوَقَّفَ زُمَلَاءُ كَثِيرُونَ عَنِ النُّكَتِ الجَارِحَةِ، وَبَدَؤُوا يَطْرَحُونَ أَسْئِلَةً بِفُضُولٍ وَاحْتِرَامٍ عَنْ أَعْيَادِ زُمَلَائِهِمْ وَعَادَاتِهِمْ.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المَدْرَسَةَ لَا تَسْتَطِيعُ أَنْ تُعَلِّمَ كُلَّ شَيْءٍ، غَيْرَ أَنَّ سَاعَةً وَاحِدَةً فِي الأُسْبُوعِ تَكْفِي لِتَبْدَأَ التَّغْيِيرَ. فَإِذَا تَعَلَّمَ الأَطْفَالُ أَنْ يَسْأَلُوا قَبْلَ أَنْ يَحْكُمُوا، فَسَنَبْنِي مُجْتَمَعًا يَعِيشُ فِيهِ الجَمِيعُ بِأَمَانٍ وَكَرَامَةٍ.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نَعْرِفُ … إِلَّا القَلِيلَ</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المَدْرَسَةِ</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ضَرُورَةً لَا تَرَفًا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تَعَلَّمَ … فَسَنَبْنِي</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with feminine agreement where needed.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nisba, baynamā and an object pronoun.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with linkers and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laysa … bal,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cs typeface="Amiri" pitchFamily="2" charset="-78"/>
              </a:rPr>
              <a:t>Final revision · Exam skills and final revision</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النِّهَائِيَّةُ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Topic E exam practice complete — well done!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TE-L12 · Writing Workshop — Topic E Mock Exam</dc:title>
  <dc:subject>PptxGenJS Presentation</dc:subject>
  <dc:creator>Al Madina Online School · Arabic Department</dc:creator>
  <cp:lastModifiedBy>Al Madina Online School · Arabic Department</cp:lastModifiedBy>
  <cp:revision>1</cp:revision>
  <dcterms:created xsi:type="dcterms:W3CDTF">2026-10-11T18:19:32Z</dcterms:created>
  <dcterms:modified xsi:type="dcterms:W3CDTF">2026-10-11T18:19:32Z</dcterms:modified>
</cp:coreProperties>
</file>