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3 (Culture and Personal Identity, TE-L03).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8 recycles the lesson pattern: claim + li-anna + mathalan. Watch the possessive in thaqāfatī.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مَا (what) · وَضَعْتَ (you put — PAST) · لِمَاذَا (why → لِأَنَّ + مَثَلًا) · سَتَفْعَلُ (you will do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(69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(86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(116 words). Core model: possessives throughout (huwiyyatī, thaqāfatinā, aqāribinā, ʿādātinā), inna usratī (acc.), mathalan + present habits, mithla + examples, kuntu + present vs al-āna, sa- + li-annī.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a concrete-object hook, kullamā … tadhakkartu, ghayra anna, bi-imtiyāz, a relative clause with lā … ghayrahā, khawfan min (mafʿūl li-ajlih), laysa … bal, wa-d-dalīlu anna, inna + laysat … bal and law … la- + li-kay.
ENGLISH SUMMARY (read aloud or paste in the chat for Core students): My grandfather keeps an old iron key in his desk drawer — the key to his house in Jaffa; whenever I ask “who am I?” I think of it, because it opens a door onto a large part of my identity → I was born in London and love its rain and red buses, yet our home is thoroughly Palestinian: thyme and olive oil in the morning, grandma’s tales at night, Arabic at the table → the mix wasn’t always easy: in primary I hid my food from classmates, fearing mockery; today I know difference isn’t a flaw but a treasure — my classmates now ask for grandma’s biscuits at every occasion! → identity is not a closed box but a house with many rooms, each with its own language and memories; “if grandpa gave me that key one day, I’d keep it for my children, so they know they have a home there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(136 words). Full-mark model for the Stretch title: a tricolon hook (nafsahā ×3), lā shakka anna li- …, tutīḥu lanā an, mithla, wa-maʿa dhālika fa-inna, bi-sababi + mimmā, kāna + present in a relative clause, a ḥāl clause (wa-huwa yughannī), man … man contrast and idhā … fa-sa- + badalan min an.
ENGLISH SUMMARY (read aloud or paste in the chat for Core students): In any big city young people wear the same clothes, hear the same songs and eat in the same restaurants — does globalisation threaten peoples’ identities? → it has benefits, letting us discover distant cultures such as Japanese cooking African music and Indian films without leaving home; yet big cultures spread through advertising power, pushing small languages and customs gradually towards disappearance → I noticed this in my family: my cousins in Amman don’t know the folk songs grandpa used to sing but know many American ones; when we recorded grandpa singing and posted it, thousands of young people loved it, and his grandchildren asked him to teach them → globalisation is not an enemy but a tool: it threatens those who forget their culture and serves those proud of it; “if young people use its means to spread their heritage, it will become a bridge instead of a danger to our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Culture and Personal Identity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الثَّقَافَةُ وَالهُوِيَّةُ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cultural-profile form for a twinning project, write an email about an “identity box” school project, and write an extended piece about your culture and identity or about whether globalisation threatens identity.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TE-L03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an “identity box” project.</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Check possessive endings and al-: thaqāfatī (not al-thaqāfatī), ʿādātunā, ajdāduhum; inna / anna + accusative (inna usratī muhimmatun — the noun after inna is manṣūb); one reason (li-anna) AND one example (mathalan / mithla) per paragraph; the feminine for non-human plurals (al-ʿādātu jamīlatun).</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هُوِيَّتِي مَزِيجٌ مِنْ ثَقَافَتَيْنِ</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identity is a mix of two cultures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إِنَّ أُسْرَتِي مُهِمَّةٌ جِدًّا فِي ثَقَافَتِنَا؛ مَثَلًا …</a:t>
            </a:r>
            <a:endParaRPr lang="ar-SA" sz="255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is very important in our culture; for example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أَنَا فَخُورٌ بِثَقَافَتِي، لِأَنَّهَا تُعَلِّمُنِي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am proud of my culture, because it teaches me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Cultural-profile form (school twinning)</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المَلَفِّ الثَّقَافِيِّ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origin</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أَصْلُ الأُسْرَةِ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Home language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لُغَةُ البَيْتِ</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traditional dish</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أَكْلَةٌ شَعْبِيَّةٌ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Traditional dress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زِيٌّ تَقْلِيدِيٌّ</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important occasion</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مُنَاسَبَةٌ مُهِمَّةٌ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important value in your culture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قِيمَةٌ مُهِمَّةٌ فِي ثَقَافَتِكَ</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are proud of your culture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لِمَاذَا تَعْتَزُّ بِثَقَافَتِكَ؟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 reason AND an example.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Cultural-profile form (school twinning): model answers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Ibrahim Khalil</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إِبْرَاهِيمُ خَلِيلٌ</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Palestine</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فِلَسْطِينُ</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أَصْلُ الأُسْرَةِ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العَرَبِيَّةُ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لُغَةُ البَيْتِ</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maqluba</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المَقْلُوبَةُ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أَكْلَةٌ شَعْبِيَّةٌ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keffiyeh</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الكُوفِيَّةُ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زِيٌّ تَقْلِيدِيٌّ</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Eid al-Fitr</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عِيدُ الفِطْرِ</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مُنَاسَبَةٌ مُهِمَّةٌ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generosity</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الكَرَمُ</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قِيمَةٌ مُهِمَّةٌ فِي ثَقَافَتِكَ</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00" dirty="0">
                <a:solidFill>
                  <a:srgbClr val="5A6472"/>
                </a:solidFill>
                <a:latin typeface="Calibri" pitchFamily="34" charset="0"/>
                <a:cs typeface="Amiri" pitchFamily="2" charset="-78"/>
              </a:rPr>
              <a:t>Because it brings my family together — e.g. we meet every Friday.</a:t>
            </a:r>
            <a:endParaRPr lang="en-US" sz="10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أَعْتَزُّ بِثَقَافَتِي لِأَنَّهَا تَجْمَعُ أُسْرَتِي؛ مَثَلًا، نَلْتَقِي كُلَّ جُمُعَةٍ.</a:t>
            </a:r>
            <a:endParaRPr lang="ar-SA" sz="15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لِمَاذَا تَعْتَزُّ بِثَقَافَتِكَ؟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identity box</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صُنْدُوقُ هُوِيَّتِي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an email in Arabic to a friend of about 80–90 words. You must include: • the school project and what it is • the objects you chose • why you chose them (a reason and an example) • your opinion of the project and what you will do next, and a question for your friend.</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Possessive endings (</a:t>
            </a:r>
            <a:pPr algn="l" indent="0" marL="0">
              <a:buNone/>
            </a:pPr>
            <a:r>
              <a:rPr lang="ar-SA" altLang="en-US" sz="1550" dirty="0">
                <a:solidFill>
                  <a:srgbClr val="1F2A37"/>
                </a:solidFill>
                <a:latin typeface="Amiri" pitchFamily="2" charset="-78"/>
                <a:cs typeface="Amiri" pitchFamily="2" charset="-78"/>
              </a:rPr>
              <a:t>ثَقَافَتِي</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cs typeface="Amiri" pitchFamily="2" charset="-78"/>
              </a:rPr>
              <a:t>أَكْلَتُنَا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طَلَبَتْ مِنَّا المُعَلِّمَةُ مَشْرُوعًا اسْمُهُ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teacher set us a project called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صُنْدُوقِي وَضَعْتُ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box I put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اخْتَرْتُهَا لِأَنَّهَا جُزْءٌ مِنْ ثَقَافَتِي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chose them because they are part of my culture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إِنَّ المَشْرُوعَ كَانَ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project was (indeed)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the “identity box” project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اكْتُبْ رِسَالَةً إِلَى صَدِيقِكَ عَنْ مَشْرُوعِ "صُنْدُوقِ الهُوِيَّةِ"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project is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المَشْرُوعُ؟</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put in your box</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وَضَعْتَ فِي صُنْدُوقِكَ؟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chose them (reason + example)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لِمَاذَا اخْتَرْتَ هٰذِهِ الأَشْيَاءَ؟</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what next;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رَأْيُكَ فِي المَشْرُوعِ؟ وَمَاذَا سَتَفْعَلُ؟ وَاسْأَلْ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teacher set a project called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طَلَبَتْ مِنَّا المُعَلِّمَةُ مَشْرُوعًا اسْمُهُ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box I put … and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صُنْدُوقِي وَضَعْتُ ______ وَ______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chose them because …; e.g.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اخْتَرْتُهَا لِأَنَّ ______ ؛ مَثَلًا،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project was … I’ll present it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إِنَّ المَشْرُوعَ ______ . سَأُقَدِّمُهُ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Goodbye.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وَأَنْتَ، ______ ؟ مَعَ السَّلَامَةِ.</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50" dirty="0">
                <a:solidFill>
                  <a:srgbClr val="1F2A37"/>
                </a:solidFill>
                <a:latin typeface="Amiri" pitchFamily="2" charset="-78"/>
                <a:cs typeface="Amiri" pitchFamily="2" charset="-78"/>
              </a:rPr>
              <a:t>مَرْحَبًا يَا آدَمُ،</a:t>
            </a:r>
            <a:endParaRPr lang="ar-SA" sz="1850" dirty="0"/>
          </a:p>
          <a:p>
            <a:pPr rtl="1" algn="r" indent="0" marL="0">
              <a:lnSpc>
                <a:spcPct val="120000"/>
              </a:lnSpc>
              <a:buNone/>
            </a:pPr>
            <a:r>
              <a:rPr lang="ar-SA" altLang="en-US" sz="1850" dirty="0">
                <a:solidFill>
                  <a:srgbClr val="1F2A37"/>
                </a:solidFill>
                <a:latin typeface="Amiri" pitchFamily="2" charset="-78"/>
                <a:cs typeface="Amiri" pitchFamily="2" charset="-78"/>
              </a:rPr>
              <a:t>كَيْفَ حَالُكَ؟ فِي المَدْرَسَةِ طَلَبَتْ مِنَّا المُعَلِّمَةُ مَشْرُوعًا اسْمُهُ "صُنْدُوقُ هُوِيَّتِي". فِي صُنْدُوقِي وَضَعْتُ ثَلَاثَةَ أَشْيَاءَ. أَوَّلًا، صُورَةً لِبَيْتِ جَدِّي فِي فِلَسْطِينَ. ثَانِيًا، الكُوفِيَّةَ الَّتِي أَعْطَانِي إِيَّاهَا أَبِي. ثَالِثًا، وَصْفَةَ المَقْلُوبَةِ، وَهِيَ أَكْلَتُنَا الشَّعْبِيَّةُ. اخْتَرْتُ هٰذِهِ الأَشْيَاءَ لِأَنَّهَا جُزْءٌ مِنْ ثَقَافَتِي. إِنَّ المَشْرُوعَ كَانَ مُمْتِعًا جِدًّا، لِأَنِّي تَعَلَّمْتُ عَنْ ثَقَافَاتِ زُمَلَائِي أَيْضًا. فِي الأُسْبُوعِ القَادِمِ سَأُقَدِّمُهُ أَمَامَ الصَّفِّ. وَأَنْتَ، مَاذَا تَضَعُ فِي صُنْدُوقِكَ؟</a:t>
            </a:r>
            <a:endParaRPr lang="ar-SA" sz="1850" dirty="0"/>
          </a:p>
          <a:p>
            <a:pPr rtl="1" algn="r" indent="0" marL="0">
              <a:lnSpc>
                <a:spcPct val="120000"/>
              </a:lnSpc>
              <a:buNone/>
            </a:pPr>
            <a:r>
              <a:rPr lang="ar-SA" altLang="en-US" sz="1850" dirty="0">
                <a:solidFill>
                  <a:srgbClr val="1F2A37"/>
                </a:solidFill>
                <a:latin typeface="Amiri" pitchFamily="2" charset="-78"/>
                <a:cs typeface="Amiri" pitchFamily="2" charset="-78"/>
              </a:rPr>
              <a:t>مَعَ السَّلَامَةِ،</a:t>
            </a:r>
            <a:endParaRPr lang="ar-SA" sz="1850" dirty="0"/>
          </a:p>
          <a:p>
            <a:pPr rtl="1" algn="r" indent="0" marL="0">
              <a:lnSpc>
                <a:spcPct val="120000"/>
              </a:lnSpc>
              <a:buNone/>
            </a:pPr>
            <a:r>
              <a:rPr lang="ar-SA" altLang="en-US" sz="1850" dirty="0">
                <a:solidFill>
                  <a:srgbClr val="1F2A37"/>
                </a:solidFill>
                <a:latin typeface="Amiri" pitchFamily="2" charset="-78"/>
                <a:cs typeface="Amiri" pitchFamily="2" charset="-78"/>
              </a:rPr>
              <a:t>إِبْرَاهِيمُ</a:t>
            </a:r>
            <a:endParaRPr lang="ar-SA" sz="18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Adam, how are you? At school our teacher set us a project called ‘My identity box’. In my box I put three things. First, a photo of my grandfather’s house in Palestine. Second, the keffiyeh my father gave me. Third, the recipe for maqluba, our traditional dish. I chose these things because they are part of my culture. The project was really enjoyable, because I learnt about my classmates’ cultures too. Next week I’ll present it to the class. And you, what would you put in your box? Goodbye, Ibrahim.”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صُنْدُوقُ هُوِيَّتِي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أَكْلَتُنَا الشَّعْبِيَّةُ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جُزْءٌ مِنْ ثَقَافَتِي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إِنَّ المَشْرُوعَ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عَزِيزِي آدَمُ،</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أَكْتُبُ إِلَيْكَ وَأَنَا مُتَحَمِّسٌ لِمَشْرُوعٍ جَدِيدٍ فِي المَدْرَسَةِ اسْمُهُ "صُنْدُوقُ هُوِيَّتِي"؛ إِذْ طَلَبَتْ مِنَّا المُعَلِّمَةُ أَنْ نَضَعَ فِي صُنْدُوقٍ ثَلَاثَةَ أَشْيَاءَ تُعَبِّرُ عَنَّا. فَاخْتَرْتُ مِفْتَاحَ بَيْتِ جَدِّي القَدِيمِ فِي يَافَا، وَالكُوفِيَّةَ الَّتِي أَهْدَانِي إِيَّاهَا أَبِي، وَوَصْفَةَ المَقْلُوبَةِ بِخَطِّ جَدَّتِي. إِنَّ كُلَّ شَيْءٍ مِنْهَا يَحْمِلُ قِصَّةً؛ فَالمِفْتَاحُ مَثَلًا يُذَكِّرُنَا بِأَنَّ جُذُورَنَا عَمِيقَةٌ مَهْمَا ابْتَعَدْنَا. وَقَدْ أَعْجَبَنِي المَشْرُوعُ لِأَنَّهُ جَعَلَنِي أَسْأَلُ أَهْلِي أَسْئِلَةً لَمْ أَطْرَحْهَا مِنْ قَبْلُ. وَعِنْدَمَا أُقَدِّمُهُ أَمَامَ الصَّفِّ الأُسْبُوعَ القَادِمَ، سَأَطْبُخُ المَقْلُوبَةَ لِزُمَلَائِي! وَأَنْتَ، مَا الشَّيْءُ الَّذِي يُعَبِّرُ عَنْكَ أَكْثَرَ؟</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إِبْرَاهِيمُ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Adam, I’m writing excited about a new school project called ‘My identity box’: our teacher asked us to put three things that express who we are into a box. I chose the key to my grandfather’s old house in Jaffa, the keffiyeh my father gave me, and the maqluba recipe in my grandmother’s handwriting. Each one carries a story — the key, for example, reminds us our roots are deep however far we go. I liked the project because it made me ask my family questions I had never asked. When I present it next week, I’ll cook maqluba for my classmates! And you, what expresses you best? Best wishes, Ibrahim.”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تُعَبِّرُ عَنَّا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أَهْدَانِي إِيَّاهَا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إِنَّ كُلَّ شَيْءٍ … مَثَلًا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لَمْ أَطْرَحْهَا مِنْ قَبْلُ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am I? My culture and identity</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مَنْ أَنَا؟ ثَقَافَتِي وَهُوِيَّتِي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origin and culture · your family’s customs (with an example) · life between home and school · why you are proud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أَصْلُكَ وَثَقَافَتُكَ · عَادَاتُ أُسْرَتِكَ (مَعَ مِثَالٍ) · حَيَاتُكَ بَيْنَ البَيْتِ وَالمَدْرَسَةِ · لِمَاذَا تَعْتَزُّ بِثَقَافَتِكَ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globalisation threaten peoples’ identity?</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هَلْ تُهَدِّدُ العَوْلَمَةُ هُوِيَّةَ الشُّعُوبِ؟</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benefits and dangers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المَوْضُوعُ · الفَوَائِدُ وَالمَخَاطِرُ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Origin — wulidtu fī … lākinna abī wa-ummī min …; li-dhālika huwiyyatī mazījun min thaqāfatayni</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Customs — inna usratī muhimmatun …; mathalan, najtamiʿu …; fī al-ʿīdi albasu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Two worlds — fī al-madrasati … ammā fī al-bayti fa- …; ʿindamā kuntu ṣaghīran kuntu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Pride + future — anā fakhūrun bi-thaqāfatī li-annahā …, mithla …; sa-uʿallimu awlādī …; Stretch: laysa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إِنَّ أُسْرَتِي مُهِمَّةٌ جِدًّا فِي ثَقَافَتِنَا.</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inna: family matters a lot in our culture.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مَثَلًا، نَجْتَمِعُ كُلَّ جُمُعَةٍ فِي بَيْتِ جَدِّي.</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example: we meet every Friday at grandpa’s.</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سَأُعَلِّمُ أَوْلَادِي لُغَتَنَا وَعَادَاتِنَا.</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I’ll teach my children our ways.</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اسْمِي إِبْرَاهِيمُ، وَعُمْرِي سِتَّ عَشْرَةَ سَنَةً. وُلِدْتُ فِي لَنْدَنَ، لٰكِنَّ أَبِي وَأُمِّي مِنْ فِلَسْطِينَ. لِذٰلِكَ هُوِيَّتِي مَزِيجٌ مِنْ ثَقَافَتَيْنِ: الثَّقَافَةِ البَرِيطَانِيَّةِ وَالثَّقَافَةِ الفِلَسْطِينِيَّةِ.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إِنَّ أُسْرَتِي مُهِمَّةٌ جِدًّا فِي ثَقَافَتِنَا. مَثَلًا، نَجْتَمِعُ كُلَّ يَوْمِ جُمُعَةٍ فِي بَيْتِ جَدِّي، وَنَأْكُلُ المَقْلُوبَةَ مَعًا. جَدَّتِي تَطْبُخُهَا، وَأَنَا أُسَاعِدُهَا فِي المَطْبَخِ، لِأَنِّي أُرِيدُ أَنْ أَتَعَلَّمَ الوَصْفَةَ. فِي العِيدِ أَلْبَسُ الكُوفِيَّةَ، وَنَزُورُ كُلَّ أَقَارِبِنَا، وَنَتَبَادَلُ الهَدَايَا وَالحَلَوِيَّاتِ.</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المَدْرَسَةِ أَتَكَلَّمُ الإِنْجْلِيزِيَّةَ، وَأُحِبُّ كُرَةَ القَدَمِ مِثْلَ أَصْدِقَائِي. أَمَّا فِي البَيْتِ فَنَتَكَلَّمُ العَرَبِيَّةَ. عِنْدَمَا كُنْتُ صَغِيرًا، كُنْتُ أَخْجَلُ مِنْ طَعَامِنَا فِي المَدْرَسَةِ، لٰكِنِّي الآنَ أُشَارِكُهُ مَعَ زُمَلَائِي، وَهُمْ يُحِبُّونَهُ كَثِيرًا.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أَنَا فَخُورٌ بِثَقَافَتِي، لِأَنَّهَا تُعَلِّمُنِي قِيَمًا جَمِيلَةً، مِثْلَ الكَرَمِ وَاحْتِرَامِ الكِبَارِ وَمُسَاعَدَةِ الجِيرَانِ. فِي المُسْتَقْبَلِ سَأُعَلِّمُ أَوْلَادِي لُغَتَنَا وَعَادَاتِنَا، لِأَنِّي أُرِيدُ أَنْ يَعْرِفُوا جُذُورَهُمْ.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Born in London to Palestinian parents, so my identity mixes two cultures → family is central: every Friday we eat maqluba at grandpa’s; I wear the keffiyeh at Eid and we visit relatives → English and football at school, Arabic at home; as a child I was shy of our food, now I share it → I’m proud of my culture’s values, like generosity, and will teach my children our language and customs.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هُوِيَّتِي مَزِيجٌ</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إِنَّ أُسْرَتِي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مَثَلًا، نَجْتَمِعُ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لِأَنَّهَا تُعَلِّمُنِي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يَحْتَفِظُ جَدِّي فِي دُرْجِ مَكْتَبِهِ بِمِفْتَاحٍ حَدِيدِيٍّ قَدِيمٍ، هُوَ مِفْتَاحُ بَيْتِهِ فِي يَافَا. وَكُلَّمَا سَأَلْتُ نَفْسِي: "مَنْ أَنَا؟"، تَذَكَّرْتُ ذٰلِكَ المِفْتَاحَ، لِأَنَّهُ يَفْتَحُ بَابًا عَلَى جُزْءٍ كَبِيرٍ مِنْ هُوِيَّتِي.</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فَأَنَا وُلِدْتُ فِي لَنْدَنَ، وَأُحِبُّ مَطَرَهَا وَحَافِلَاتِهَا الحَمْرَاءَ وَمَتَاحِفَهَا، غَيْرَ أَنَّ بَيْتَنَا فِلَسْطِينِيٌّ بِامْتِيَازٍ: رَائِحَةُ الزَّعْتَرِ وَزَيْتِ الزَّيْتُونِ فِي الصَّبَاحِ، وَحِكَايَاتُ جَدَّتِي فِي المَسَاءِ، وَالعَرَبِيَّةُ الَّتِي لَا نَتَكَلَّمُ غَيْرَهَا عَلَى المَائِدَةِ.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وَلَمْ يَكُنْ هٰذَا المَزِيجُ سَهْلًا دَائِمًا؛ فَعِنْدَمَا كُنْتُ فِي الابْتِدَائِيَّةِ، كُنْتُ أُخْفِي طَعَامِي عَنْ زُمَلَائِي خَوْفًا مِنْ سُخْرِيَتِهِمْ وَنَظَرَاتِهِمْ. أَمَّا اليَوْمَ، فَقَدْ أَدْرَكْتُ أَنَّ الاخْتِلَافَ لَيْسَ عَيْبًا، بَلْ ثَرْوَةٌ؛ وَالدَّلِيلُ أَنَّ زُمَلَائِي صَارُوا يَطْلُبُونَ مِنِّي أَنْ أُحْضِرَ لَهُمْ كَعْكَ جَدَّتِي فِي كُلِّ مُنَاسَبَةٍ!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إِنَّ هُوِيَّتِي، فِي رَأْيِي، لَيْسَتْ صُنْدُوقًا مُغْلَقًا، بَلْ بَيْتٌ بِغُرَفٍ كَثِيرَةٍ، لِكُلِّ غُرْفَةٍ مِنْهَا لُغَتُهَا وَذِكْرَيَاتُهَا. وَلَوْ أَعْطَانِي جَدِّي ذٰلِكَ المِفْتَاحَ يَوْمًا، لَحَفِظْتُهُ لِأَوْلَادِي، لِكَيْ يَعْرِفُوا أَنَّ لَهُمْ بَيْتًا هُنَاكَ أَيْضًا.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كُلَّمَا … تَذَكَّرْتُ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نَتَكَلَّمُ غَيْرَهَا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 عَيْبًا، بَلْ ثَرْوَةٌ</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أَعْطَانِي … لَحَفِظْتُهُ</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Q3 (</a:t>
            </a:r>
            <a:pPr algn="l" indent="0" marL="0">
              <a:buNone/>
            </a:pPr>
            <a:r>
              <a:rPr lang="ar-SA" altLang="en-US" sz="2550" b="1" dirty="0">
                <a:solidFill>
                  <a:srgbClr val="1B3B6F"/>
                </a:solidFill>
                <a:latin typeface="Amiri" pitchFamily="2" charset="-78"/>
                <a:cs typeface="Amiri" pitchFamily="2" charset="-78"/>
              </a:rPr>
              <a:t>ب</a:t>
            </a:r>
            <a:pPr algn="l" indent="0" marL="0">
              <a:buNone/>
            </a:pPr>
            <a:r>
              <a:rPr lang="en-US" sz="1950" b="1" dirty="0">
                <a:solidFill>
                  <a:srgbClr val="1B3B6F"/>
                </a:solidFill>
                <a:latin typeface="Cambria" pitchFamily="34" charset="0"/>
                <a:cs typeface="Amiri" pitchFamily="2" charset="-78"/>
              </a:rPr>
              <a:t>) full-mark model: is globalisation a threat?</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فِي أَيِّ مَدِينَةٍ كَبِيرَةٍ فِي العَالَمِ، تَرَى الشَّبَابَ يَلْبَسُونَ المَلَابِسَ نَفْسَهَا، وَيَسْمَعُونَ الأَغَانِيَ نَفْسَهَا، وَيَأْكُلُونَ فِي المَطَاعِمِ نَفْسِهَا. فَهَلْ تُهَدِّدُ العَوْلَمَةُ هُوِيَّاتِ الشُّعُوبِ؟</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لَا شَكَّ أَنَّ لِلْعَوْلَمَةِ فَوَائِدَ؛ فَهِيَ تُتِيحُ لَنَا أَنْ نَتَعَرَّفَ عَلَى ثَقَافَاتٍ بَعِيدَةٍ، مِثْلَ الطَّبْخِ اليَابَانِيِّ وَالمُوسِيقَى الإِفْرِيقِيَّةِ وَالأَفْلَامِ الهِنْدِيَّةِ، دُونَ أَنْ نُغَادِرَ بُيُوتَنَا. وَمَعَ ذٰلِكَ، فَإِنَّ الثَّقَافَاتِ الكَبِيرَةَ تَنْتَشِرُ بِسَبَبِ قُوَّةِ الإِعْلَانَاتِ، مِمَّا يَدْفَعُ اللُّغَاتِ وَالعَادَاتِ الصَّغِيرَةَ إِلَى الاخْتِفَاءِ شَيْئًا فَشَيْئًا.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لَاحَظْتُ ذٰلِكَ فِي أُسْرَتِي؛ فَأَبْنَاءُ عَمِّي فِي عَمَّانَ لَا يَعْرِفُونَ الأَغَانِيَ الشَّعْبِيَّةَ الَّتِي كَانَ جَدِّي يُغَنِّيهَا، لٰكِنَّهُمْ يَحْفَظُونَ أَغَانِيَ أَمْرِيكِيَّةً كَثِيرَةً. وَعِنْدَمَا سَجَّلْنَا جَدِّي وَهُوَ يُغَنِّي، وَنَشَرْنَا التَّسْجِيلَ، أُعْجِبَ بِهِ آلَافُ الشَّبَابِ، وَطَلَبَ مِنْهُ أَحْفَادُهُ أَنْ يُعَلِّمَهُمْ إِيَّاهَا.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لِذٰلِكَ أَرَى أَنَّ العَوْلَمَةَ لَيْسَتْ عَدُوًّا، بَلْ أَدَاةٌ؛ فَهِيَ تُهَدِّدُ مَنْ يَنْسَى ثَقَافَتَهُ، وَتَخْدُمُ مَنْ يَعْتَزُّ بِهَا. وَإِذَا اسْتَخْدَمَ الشَّبَابُ وَسَائِلَهَا لِنَشْرِ تُرَاثِهِمْ، فَسَتُصْبِحُ جِسْرًا بَدَلًا مِنْ أَنْ تَكُونَ خَطَرًا عَلَى هُوِيَّاتِنَا.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شَكَّ أَنَّ لِلْعَوْلَمَةِ</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مِمَّا يَدْفَعُ</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وَهُوَ يُغَنِّي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لَيْسَتْ عَدُوًّا، بَلْ أَدَاةٌ</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a full sentence in box 8.</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possessive endings and a reason with an example.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inna + accusative and mathalan in at least two paragraphs.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laysa … bal,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TE-L04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TE-L03 · Writing Workshop — Culture and Personal Identity</dc:title>
  <dc:subject>PptxGenJS Presentation</dc:subject>
  <dc:creator>Al Madina Online School · Arabic Department</dc:creator>
  <cp:lastModifiedBy>Al Madina Online School · Arabic Department</cp:lastModifiedBy>
  <cp:revision>1</cp:revision>
  <dcterms:created xsi:type="dcterms:W3CDTF">2026-10-11T14:27:24Z</dcterms:created>
  <dcterms:modified xsi:type="dcterms:W3CDTF">2026-10-11T14:27:24Z</dcterms:modified>
</cp:coreProperties>
</file>