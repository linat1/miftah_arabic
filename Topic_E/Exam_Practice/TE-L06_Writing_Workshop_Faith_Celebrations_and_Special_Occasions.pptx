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6 (Faith Celebrations and Special Occasions, TE-L06).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Boxes 3–4 headings use relative-free clauses with feminine verbs (tuḥḍirīnahā) — a boy reads تُحْضِرُهَا / تُشَارِكُ. Box 8: ahdaytuhā (object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اسْتَعْدَدْتِ (you prepared — PAST) · بِالتَّرْتِيبِ (in order) · سَتَفْعَلِينَ (you will do — FUTURE) · اسْأَلِي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(85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past narrative with object pronouns (ʿallamatnī, aʿṭānī, li-nazūrahā), kuntu + present for Ramadan habits, four sequencers, a present general truth (fī kulli ʿīdin naḥtafilu) and a future plan with 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a contrast hook (lā atadhakkaru … ghayra anna), ghiyābun dāma, kuntu + three present verbs, a relative clause with an object pronoun (warithathā), baʿda an, a ḥāl (qāʾilatan), lam astaṭiʿ an, laysa … wa-lā … bal and a passive law khuyyirtu … la-.
ENGLISH SUMMARY (read aloud or paste in the chat for Core students): I don’t remember every Eid I’ve celebrated, but last Eid al-Fitr is engraved in my memory: grandma came back to our home after five years away in Amman, far from her grandchildren → its joy began days before: I counted Ramadan’s last nights, learnt grandma’s biscuit recipe inherited from her mother, and we shared them with neighbours of all faiths, who returned the plates full of their own sweets → after praying among thousands in the park, our house filled with relatives, laughter and the smell of Arabic coffee; when grandma took an old necklace from her bag and gave it to me, saying “this was mine at your age”, I couldn’t hold back tears → I realised Eid is not new clothes or gifts but hearts coming together that distance keeps apart all year; “if I could relive one day, I’d choose that morning without hesitation”.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a vivid hook, hal … wa-ṣārat, lā shakka anna, akbar mimmā kāna, akthar mimmā tastaṭīʿu, wa-maʿa dhālika fa-inna, a narrated choice with two an-clauses, lam … bal, innamā naḥnu alladhīna and a rhyming close (li-l-qulūb lā li-l-juyūb).
ENGLISH SUMMARY (read aloud or paste in the chat for Core students): Weeks before every festival shops fill with decorations and offers, and adverts chase us on our phones and TV screens — have festivals lost their meaning and become shopping occasions? → the commercial side is bigger than in our grandparents’ time: many families spend more than they can, and some children judge a festival by their presents, not the time spent with loved ones; yet the heart of religious festivals lives on: prayer, family ties and helping those in need → last Eid my family chose fewer presents and sent the difference to refugee families in our city through the mosque charity; we lost nothing — it was our happiest Eid in years → festivals haven’t lost their meaning; we sometimes forget it amid the rush; “if we remember why we celebrate, Eid will stay a day for hearts, not wallets”.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Faith Celebrations and Special Occasions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الأَعْيَادُ الدِّينِيَّةُ وَالمُنَاسَبَاتُ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form for a school Eid celebration, write an email describing your Eid in sequence, and write an extended piece about an unforgettable celebration or about whether festivals have lost their true meaning.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TE-L06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how you celebrated Eid.</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tense: past (ṣallaynā, zurnā) for last Eid, present (nuṣallī, nazūru) for every year, kunnā + present for childhood; the object pronoun must match the noun (al-fustān → labistuhu, al-kaʿk → wazzaʿnāhu, al-uswira → ahdatnī iyyāhā); four sequencers in order.</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اشْتَرَيْتُ فُسْتَانًا أَزْرَقَ، وَلَبِسْتُهُ صَبَاحَ العِيدِ</a:t>
            </a:r>
            <a:endParaRPr lang="ar-SA" sz="24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bought a blue dress and wore it on Eid morning</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أَوَّلًا … ثُمَّ … بَعْدَ ذٰلِكَ … أَخِيرًا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first … then … after that … finally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أَهْدَتْنِي إِيَّاهَا خَالَتِي</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aunt gave it to me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Eid celebration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احْتِفَالِ المَدْرَسَةِ بِالعِيدِ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Festival</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العِيدُ</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dish you will bring</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أَكْلَةٌ سَتُحْضِرِينَهَا</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you will join</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تُشَارِكِينَ فِيهِ</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Clothes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المَلَابِسُ</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greeting in Arabic</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التَّهْنِئَةُ بِالعَرَبِيَّةِ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word describing Eid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كَلِمَةٌ تَصِفُ العِيدَ</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did last Eid</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فَعَلْتِ فِي العِيدِ المَاضِي؟</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in the past, with a sequencer and an object pronoun.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School Eid celebration form: model answers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Zainab Ali, Year 10</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زَيْنَبُ عَلِيٌّ، العَاشِرُ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Eid al-Fitr</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عِيدُ الفِطْرِ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العِيدُ</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maamoul</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المَعْمُولُ</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أَكْلَةٌ سَتُحْضِرِينَهَا</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henna painting</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رَسْمُ الحِنَّاءِ</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نَشَاطٌ تُشَارِكِينَ فِيهِ</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traditional dress</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فُسْتَانٌ تَقْلِيدِيٌّ</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المَلَابِسُ</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Eid Mubarak</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عِيدٌ مُبَارَكٌ</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التَّهْنِئَةُ بِالعَرَبِيَّةِ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joy</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فَرْحَةٌ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كَلِمَةٌ تَصِفُ العِيدَ</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000" dirty="0">
                <a:solidFill>
                  <a:srgbClr val="5A6472"/>
                </a:solidFill>
                <a:latin typeface="Calibri" pitchFamily="34" charset="0"/>
                <a:cs typeface="Amiri" pitchFamily="2" charset="-78"/>
              </a:rPr>
              <a:t>I prayed in the park, then visited my grandmother and gave her flowers.</a:t>
            </a:r>
            <a:endParaRPr lang="en-US" sz="10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صَلَّيْتُ فِي الحَدِيقَةِ، ثُمَّ زُرْتُ جَدَّتِي وَأَهْدَيْتُهَا وُرُودًا.</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فَعَلْتِ فِي العِيدِ المَاضِي؟</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Eid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احْتَفَلْتُ بِالعِيدِ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an email in Arabic to a friend of about 80–90 words. You must include: • how you prepared for Eid • what you did on the day, in order • a present you received or gave and your opinion of the day • your plans for the next Eid, and a question for your friend.</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sequencing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AND future, with an object pronoun.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العِيدِ اشْتَرَيْتُ … وَلَبِسْتُهُ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Eid I bought … and wore it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بَعْدَ ذٰلِكَ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after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زُرْنَا … وَأَعْطَوْنِي عِيدِيَّةً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visited … and they gave me Eid money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سَأَطْبُخُ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Eid I will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how you celebrated Eid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اكْتُبِي رِسَالَةً إِلَى صَدِيقَتِكِ عَنِ احْتِفَالِكِ بِالعِيدِ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prepared for Eid</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اسْتَعْدَدْتِ لِلْعِيدِ؟</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on the day, in order</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يَوْمَ العِيدِ؟ (بِالتَّرْتِيبِ)</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present; your opinion of the day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الهَدِيَّةُ؟ وَمَا رَأْيُكِ فِي اليَوْمِ؟</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Plans for next Eid;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سَتَفْعَلِينَ فِي العِيدِ القَادِمِ؟ وَاسْأَلِي صَدِيقَتَكِ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Eid Mubarak!</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عِيدٌ مُبَارَكٌ!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Eid I bought …, and wore it.</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العِيدِ اشْتَرَيْتُ ______ ، وَلَبِسْتُ______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 then …, after that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______ ، ثُمَّ ______ ، بَعْدَ ذٰلِكَ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gave me … The day was … because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أَعْطَانِي ______ . كَانَ اليَوْمُ ______ لِأَنَّ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Eid I will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سَأَ______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رِيمُ،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عِيدٌ مُبَارَكٌ! أُرِيدُ أَنْ أُخْبِرَكِ عَنْ عِيدِ الفِطْرِ. قَبْلَ العِيدِ اشْتَرَيْتُ فُسْتَانًا أَزْرَقَ جَمِيلًا، وَلَبِسْتُهُ صَبَاحَ العِيدِ. أَوَّلًا، صَلَّيْنَا صَلَاةَ العِيدِ فِي الحَدِيقَةِ الكَبِيرَةِ. ثُمَّ ذَهَبْنَا إِلَى بَيْتِ جَدَّتِي، وَأَكَلْنَا الكَعْكَ هُنَاكَ. بَعْدَ ذٰلِكَ زُرْنَا خَالَاتِي، وَأَعْطَيْنَنِي عِيدِيَّةً. كَانَ اليَوْمُ رَائِعًا، لِأَنَّ كُلَّ العَائِلَةِ كَانَتْ مَعًا. فِي العِيدِ القَادِمِ سَأَطْبُخُ المَعْمُولَ مَعَ أُمِّي. وَأَنْتِ، كَيْفَ احْتَفَلْتِ بِالعِيدِ؟</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زَيْنَبُ</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Reem, how are you? Eid Mubarak! I want to tell you about Eid al-Fitr. Before Eid I bought a beautiful blue dress and wore it on Eid morning. First, we prayed the Eid prayer in the big park. Then we went to my grandmother’s house and ate biscuits there. After that we visited my aunts, and they gave me Eid money. The day was wonderful, because the whole family was together. Next Eid I’ll cook maamoul with my mum. And you, how did you celebrate Eid? Goodbye, Zainab.”</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وَلَبِسْتُهُ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سَأَطْبُخُ المَعْمُولَ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رِيمُ،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كُلُّ عَامٍ وَأَنْتِ بِخَيْرٍ! مَا زِلْتُ أَعِيشُ فَرْحَةَ العِيدِ، فَأَرَدْتُ أَنْ أُشَارِكَكِ تَفَاصِيلَهُ. فِي اللَّيْلَةِ الأَخِيرَةِ مِنْ رَمَضَانَ، خَبَزْنَا الكَعْكَ فِي مَطْبَخِ جَدَّتِي حَتَّى مُنْتَصَفِ اللَّيْلِ، ثُمَّ وَزَّعْنَاهُ عَلَى الجِيرَانِ صَبَاحًا. وَبَعْدَ أَنْ صَلَّيْنَا العِيدَ فِي الحَدِيقَةِ مَعَ آلَافِ النَّاسِ، اجْتَمَعَتِ العَائِلَةُ كُلُّهَا عَلَى الفُطُورِ. أَمَّا أَجْمَلُ هَدِيَّةٍ فَكَانَتْ أُسْوِرَةً فِضِّيَّةً أَهْدَتْنِي إِيَّاهَا خَالَتِي، وَلَمْ أَخْلَعْهَا مُنْذُ ذٰلِكَ اليَوْمِ. صَحِيحٌ أَنَّنِي تَعِبْتُ مِنْ كَثْرَةِ الزِّيَارَاتِ، غَيْرَ أَنَّ ضَحِكَاتِ الأَطْفَالِ أَنْسَتْنِي التَّعَبَ. وَإِذَا سَمَحَتْ أُمُّكِ، فَسَأَدْعُوكِ إِلَى إِفْطَارِ رَمَضَانَ القَادِمِ. هَلْ تَقْبَلِينَ؟</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زَيْنَبُ</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Reem, many happy returns! I’m still living the joy of Eid, so I wanted to share the details with you. On the last night of Ramadan we baked biscuits in grandma’s kitchen until midnight, then handed them out to the neighbours in the morning. After praying Eid in the park with thousands of people, the whole family gathered for breakfast. The best present was a silver bracelet my aunt gave me — I haven’t taken it off since. I got tired from so many visits, but the children’s laughter made me forget it. If your mum allows, I’ll invite you to iftar next Ramadan. Will you accept? With love, Zainab.”</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مَا زِلْتُ أَعِيشُ</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وَزَّعْنَاهُ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أَهْدَتْنِي إِيَّاهَا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أَنْسَتْنِي التَّعَبَ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celebration I will never forget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عِيدٌ لَا أَنْسَاهُ</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celebration and why it was special · the preparations · the day in order · your feelings and plans for the next one</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أَيُّ عِيدٍ وَلِمَاذَا كَانَ مُمَيَّزًا · التَّحْضِيرُ · يَوْمُ العِيدِ بِالتَّرْتِيبِ · مَشَاعِرُكَ وَخُطَطُكَ لِلْعِيدِ القَادِمِ</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festivals lost their true meaning?</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فَقَدَتِ الأَعْيَادُ مَعْنَاهَا الحَقِيقِيَّ؟</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the commercial side and the heart of the festival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الجَانِبُ التِّجَارِيُّ وَجَوْهَرُ العِيدِ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Which Eid — ajmalu ʿīdin fī ḥayātī kāna …; fī dhālika al-ʿīdi zāratnā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Preparation — qabla al-ʿīdi ṣumtu …; kuntu usāʿidu …; khabaznā al-kaʿka wa-ʿallamatnī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day — awwalan … thumma … baʿda dhālika … akhīran …; aʿṭānī ʿammī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Feelings + future — fī kulli ʿīdin naḥtafilu, lākinna …; fī al-ʿīdi al-qādimi sa- …; Stretch: laysa … wa-lā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خَبَزْنَا الكَعْكَ، وَوَزَّعْنَاهُ عَلَى الجِيرَانِ.</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 object: we baked and shared it.</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فِي كُلِّ عِيدٍ نَحْتَفِلُ مَعًا.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every Eid we celebrate together.</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سَنُسَافِرُ لِنَزُورَهَا هُنَاكَ.</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we’ll travel to visit her there.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أَجْمَلُ عِيدٍ فِي حَيَاتِي كَانَ عِيدَ الفِطْرِ فِي السَّنَةِ المَاضِيَةِ. فِي ذٰلِكَ العِيدِ زَارَتْنَا جَدَّتِي مِنَ الأُرْدُنِّ لِأَوَّلِ مَرَّةٍ مُنْذُ خَمْسِ سَنَوَاتٍ.</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قَبْلَ العِيدِ صُمْتُ رَمَضَانَ كُلَّهُ، وَكُنْتُ أُسَاعِدُ أُمِّي فِي تَحْضِيرِ الإِفْطَارِ كُلَّ يَوْمٍ. فِي اللَّيْلَةِ الأَخِيرَةِ خَبَزْنَا الكَعْكَ مَعَ جَدَّتِي، وَعَلَّمَتْنِي وَصْفَتَهَا القَدِيمَةَ.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فِي صَبَاحِ العِيدِ لَبِسْتُ فُسْتَانًا جَدِيدًا اشْتَرَتْهُ لِي أُمِّي. أَوَّلًا، صَلَّيْنَا فِي الحَدِيقَةِ مَعَ النَّاسِ. ثُمَّ أَكَلْنَا الفُطُورَ مَعًا فِي البَيْتِ. بَعْدَ ذٰلِكَ جَاءَ أَعْمَامِي وَأَوْلَادُهُمْ، وَأَعْطَانِي عَمِّي عِيدِيَّةً كَبِيرَةً، فَاشْتَرَيْتُ بِهَا كِتَابًا جَدِيدًا. أَخِيرًا، ذَهَبْنَا إِلَى المَلَاهِي فِي المَسَاءِ، وَرَكِبْنَا العَجَلَةَ الكَبِيرَةَ مَعًا.</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فِي كُلِّ عِيدٍ نَحْتَفِلُ مَعًا، لٰكِنَّ ذٰلِكَ العِيدَ كَانَ مُخْتَلِفًا، لِأَنَّ جَدَّتِي كَانَتْ مَعَنَا. فِي العِيدِ القَادِمِ سَنُسَافِرُ إِلَى الأُرْدُنِّ لِنَزُورَهَا هُنَاكَ إِنْ شَاءَ اللّٰهُ.</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Best Eid: last year, when grandma visited from Jordan for the first time in five years → I fasted all Ramadan, helped mum with iftar; on the last night we baked biscuits and she taught me her recipe → new dress; first prayer in the park, then breakfast, after that uncles came with Eid money, finally the funfair → different because grandma was with us; next Eid we’ll visit her in Jordan.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وَعَلَّمَتْنِي وَصْفَتَهَا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أَعْطَانِي عَمِّي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لِنَزُورَهَا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لَا أَتَذَكَّرُ كُلَّ الأَعْيَادِ الَّتِي احْتَفَلْتُ بِهَا، غَيْرَ أَنَّ عِيدَ الفِطْرِ المَاضِيَ مَحْفُورٌ فِي ذَاكِرَتِي؛ فَفِيهِ عَادَتْ جَدَّتِي إِلَى بَيْتِنَا بَعْدَ غِيَابٍ دَامَ خَمْسَ سَنَوَاتٍ، قَضَتْهَا فِي عَمَّانَ بَعِيدَةً عَنْ أَحْفَادِهَا.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بَدَأَتْ فَرْحَتُهُ قَبْلَهُ بِأَيَّامٍ؛ فَكُنْتُ أَعُدُّ اللَّيَالِيَ الأَخِيرَةَ مِنْ رَمَضَانَ، وَأَتَعَلَّمُ مِنْ جَدَّتِي وَصْفَةَ كَعْكِهَا الَّتِي وَرِثَتْهَا عَنْ أُمِّهَا، ثُمَّ نُوَزِّعُهُ مَعًا عَلَى جِيرَانِنَا مِنْ كُلِّ الأَدْيَانِ، فَيَرُدُّونَ الأَطْبَاقَ مَلِيئَةً بِحَلَوِيَّاتِهِمْ.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وَفِي صَبَاحِ العِيدِ، بَعْدَ أَنْ صَلَّيْنَا فِي الحَدِيقَةِ وَسَطَ آلَافِ المُصَلِّينَ، امْتَلَأَ بَيْتُنَا بِالأَقَارِبِ وَالضَّحِكَاتِ وَرَائِحَةِ القَهْوَةِ العَرَبِيَّةِ. وَحِينَ أَخْرَجَتْ جَدَّتِي مِنْ حَقِيبَتِهَا قِلَادَةً قَدِيمَةً وَأَهْدَتْنِي إِيَّاهَا قَائِلَةً: "هٰذِهِ كَانَتْ لِي حِينَ كُنْتُ فِي عُمْرِكِ"، لَمْ أَسْتَطِعْ أَنْ أَحْبِسَ دُمُوعِي.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أَدْرَكْتُ يَوْمَهَا أَنَّ العِيدَ لَيْسَ مَلَابِسَ جَدِيدَةً وَلَا هَدَايَا، بَلْ هُوَ لَمَّةُ القُلُوبِ الَّتِي تُبَاعِدُ بَيْنَهَا المَسَافَاتُ طُولَ العَامِ. وَلَوْ خُيِّرْتُ أَنْ أَعِيشَ يَوْمًا وَاحِدًا مِنْ جَدِيدٍ، لَاخْتَرْتُ ذٰلِكَ الصَّبَاحَ دُونَ تَرَدُّدٍ.</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مَحْفُورٌ فِي ذَاكِرَتِي</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وَرِثَتْهَا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أَهْدَتْنِي إِيَّاهَا قَائِلَةً</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خُيِّرْتُ … لَاخْتَرْتُ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Q3 (</a:t>
            </a:r>
            <a:pPr algn="l" indent="0" marL="0">
              <a:buNone/>
            </a:pPr>
            <a:r>
              <a:rPr lang="ar-SA" altLang="en-US" sz="2350" b="1" dirty="0">
                <a:solidFill>
                  <a:srgbClr val="1B3B6F"/>
                </a:solidFill>
                <a:latin typeface="Amiri" pitchFamily="2" charset="-78"/>
                <a:ea typeface="Amiri" pitchFamily="2" charset="-78"/>
                <a:cs typeface="Amiri" pitchFamily="2" charset="-78"/>
              </a:rPr>
              <a:t>ب</a:t>
            </a:r>
            <a:pPr algn="l" indent="0" marL="0">
              <a:buNone/>
            </a:pPr>
            <a:r>
              <a:rPr lang="en-US" sz="1800" b="1" dirty="0">
                <a:solidFill>
                  <a:srgbClr val="1B3B6F"/>
                </a:solidFill>
                <a:latin typeface="Cambria" pitchFamily="34" charset="0"/>
                <a:cs typeface="Amiri" pitchFamily="2" charset="-78"/>
              </a:rPr>
              <a:t>) full-mark model: have festivals lost meaning?</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قَبْلَ أَسَابِيعَ مِنْ كُلِّ عِيدٍ، تَمْتَلِئُ المَحَلَّاتُ بِالزِّينَةِ وَالعُرُوضِ، وَتُطَارِدُنَا الإِعْلَانَاتُ عَلَى هَوَاتِفِنَا وَشَاشَاتِ التِّلْفَازِ. فَهَلْ فَقَدَتِ الأَعْيَادُ مَعْنَاهَا الحَقِيقِيَّ وَصَارَتْ مُنَاسَبَاتٍ لِلشِّرَاءِ فَقَطْ؟</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لَا شَكَّ أَنَّ الجَانِبَ التِّجَارِيَّ صَارَ أَكْبَرَ مِمَّا كَانَ فِي زَمَنِ أَجْدَادِنَا بِكَثِيرٍ؛ فَكَثِيرٌ مِنَ العَائِلَاتِ تُنْفِقُ أَكْثَرَ مِمَّا تَسْتَطِيعُ، وَبَعْضُ الأَطْفَالِ يَحْكُمُونَ عَلَى العِيدِ بِقِيمَةِ هَدَايَاهُمْ، لَا بِالوَقْتِ الَّذِي قَضَوْهُ مَعَ أَحِبَّائِهِمْ. وَمَعَ ذٰلِكَ، فَإِنَّ جَوْهَرَ الأَعْيَادِ الدِّينِيَّةِ مَا زَالَ حَيًّا: الصَّلَاةُ، وَصِلَةُ الرَّحِمِ، وَمُسَاعَدَةُ المُحْتَاجِينَ وَالفُقَرَاءِ.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وَقَدْ رَأَيْتُ ذٰلِكَ فِي العِيدِ المَاضِي، عِنْدَمَا قَرَّرَتْ أُسْرَتِي أَنْ تَشْتَرِيَ هَدَايَا أَقَلَّ، وَأَنْ تُرْسِلَ الفَرْقَ إِلَى أُسَرٍ لَاجِئَةٍ فِي مَدِينَتِنَا، عَنْ طَرِيقِ جَمْعِيَّةِ المَسْجِدِ. فَلَمْ نَشْعُرْ بِأَنَّنَا خَسِرْنَا شَيْئًا، بَلْ كَانَ ذٰلِكَ أَسْعَدَ عِيدٍ عِشْنَاهُ مُنْذُ سَنَوَاتٍ.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لِذٰلِكَ أَرَى أَنَّ الأَعْيَادَ لَمْ تَفْقِدْ مَعْنَاهَا، وَإِنَّمَا نَحْنُ الَّذِينَ نَنْسَاهُ أَحْيَانًا وَسَطَ الزِّحَامِ. فَإِذَا تَذَكَّرْنَا لِمَاذَا نَحْتَفِلُ، فَسَيَبْقَى العِيدُ يَوْمًا لِلْقُلُوبِ لَا لِلْجُيُوبِ.</a:t>
            </a:r>
            <a:endParaRPr lang="ar-SA" sz="16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تُطَارِدُنَا الإِعْلَانَاتُ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مِمَّا تَسْتَطِيعُ</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أَسْعَدَ عِيدٍ عِشْنَاهُ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لِلْقُلُوبِ لَا لِلْجُيُوبِ</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past sentence in box 8.</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three sequencers and one object pronoun.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past for one Eid, present for every year, future for next year.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TE-L07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TE-L06 · Writing Workshop — Faith Celebrations and Special Occasions</dc:title>
  <dc:subject>PptxGenJS Presentation</dc:subject>
  <dc:creator>Al Madina Online School · Arabic Department</dc:creator>
  <cp:lastModifiedBy>Al Madina Online School · Arabic Department</cp:lastModifiedBy>
  <cp:revision>1</cp:revision>
  <dcterms:created xsi:type="dcterms:W3CDTF">2026-10-11T14:39:28Z</dcterms:created>
  <dcterms:modified xsi:type="dcterms:W3CDTF">2026-10-11T14:39:28Z</dcterms:modified>
</cp:coreProperties>
</file>