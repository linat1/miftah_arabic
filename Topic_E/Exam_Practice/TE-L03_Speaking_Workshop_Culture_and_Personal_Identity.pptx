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3 (Culture and Personal Identity, TE-L03), using that lesson’s language (possessive suffixes (thaqāfatī, lughatunā, ajdāduhum); inna / anna + accusative (inna al-huwiyyata …); reasons and examples (li-anna, bi-sababi, mathalan, mithla)).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possessive suffixes: ـِي my, ـُنَا our, ـُهُمْ their, ـُكَ / ـُكِ your. Drill: ثَقَافَتِي · ثَقَافَتُنَا · ثَقَافَتُهُمْ. Reminder: the noun loses al- when a suffix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pattern: إِنَّ + noun (acc.) + claim → لِأَنَّ + reason → مَثَلًا + example. E.g. إِنَّ الطَّعَامَ جُزْءٌ مِنْ هُوِيَّتِي، لِأَنَّهُ يُذَكِّرُنِي بِأَجْدَادِي؛ مَثَلًا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school culture club.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ثَقَافَتُكِ · ثَقَافَتِكِ · فِلَسْطِينِيَّةٌ (same).
Core: possessives (thaqāfatī, aklatunā, -kum in the question), nisba in the feminine to agree with thaqāfa, mithla + relative clause, fī ayyi yawmin?, li-annanā.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International Day at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سَتُحْضِرِينَ · سَتَلْبَسِينَ · اخْتَرْتِ · أَنْتِ فَخُورَةٌ · بِثَقَافَتِكِ.
Core+: sa- + objects, lawnuhā (possessive), li-annahā + inna al-kūfiyyata (acc.), the CANDIDATE asks two questions, aʿtazzu bihā + li-annahā + mathalan.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youth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هُوِيَّتَكِ · أَعْطِينَا · أُسْرَتِكِ · نَظْرَتُكِ · ثَقَافَتِكِ · تَشْعُرِينَ · بَرِيطَانِيَّةٌ أَمْ عَرَبِيَّةٌ.
Develop: mazīj min + three possessives, mathalan + present habit + li-annahu, kuntu + present vs ammā al-āna fa-, inna thaqāfatanā (acc.) + qabla an, ashʿuru bi-annanī + laysat … 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televised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تُحَافِظِينَ · أَنْتِ · هُوِيَّتِكِ · لَكِ · ثَقَافَتِكِ.
Stretch: lā shakka anna … ghayra annanī arā anna, idhā lam + jussive (naḥmihā), bi-sababi + mimmā (yunsīhim), ṣaḥīḥun anna … wa-maʿa dhālika fa-inna, bi- + verbal nouns, law … la- with a relative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reason and an example.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Culture and Personal Identity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الثَّقَافَةُ وَالهُوِيَّةُ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culture and what makes you who you are — food, clothes, language, faith, family traditions — with possessive endings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عَادَاتُنَا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/ أَنَّ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+ accusative, and a reason plus an example in every answer (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7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مِثْلُ</a:t>
            </a:r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CULTURE AND POSSESSIVES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culture · our customs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وَعَادَاتُنَا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culture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tha-qā-fa-tun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culture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cultures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ثَقَافَاتٌ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identity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hu-wiy-ya-tun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identities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هُوِيَّاتٌ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our identity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هُوِيَّتُنَا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custom / habit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ʿā-da-tun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our customs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عَادَاتُنَا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customs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عَادَاتٌ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تَقْلِيدٌ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tradition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taq-lī-dun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traditional (f.)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تَقْلِيدِيَّةٌ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traditions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تَقَالِيدُ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جُذُورٌ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ju-dhū-run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heritage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تُرَاثٌ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ancestors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أَجْدَادٌ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أَعْتَزُّ بِثَقَافَتِي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take pride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aʿ-taz-zu bi-tha-qā-fa-tī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belong to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أَنْتَمِي إِلَى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proud (m. · f.)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فَخُورٌ · فَخُورَةٌ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INNA, REASONS AND EXAMPLES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Make a claim, then prove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الرَّأْيُ وَالسَّبَبُ وَالمِثَالُ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grammar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… · أَنَّ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indeed … · that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in-na … · an-na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think that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أَنَّ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inna + acc.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الهُوِيَّةَ مُهِمَّةٌ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linkers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· مِثْلُ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example · such as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ma-tha-lan · mith-lu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 of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زِيٌّ تَقْلِيدِيٌّ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traditional dress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ziy-yun taq-lī-diy-yun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wear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clothes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مَلَابِسُ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أَكْلَةٌ شَعْبِيَّةٌ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traditional dish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ak-la-tun shaʿ-biy-ya-tun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grandmother’s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أَكْلَةُ جَدَّتِي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dishes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أَكَلَاتٌ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قِيَمٌ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values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qi-ya-mun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generosity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الكَرَمُ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respect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الاحْتِرَامُ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adjective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مُخْتَلِفٌ عَنْ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different from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mukh-ta-li-fun ʿan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mixture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مَزِيجٌ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similar to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يُشْبِهُ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SCHOOL CULTURE CLUB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Joining the culture club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نَادِي الثَّقَافَاتِ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… لِأَنَّ أُسْرَتِي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culture / origin.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ثَقَافَتُكَ؟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أَكْلَتُنَا الشَّعْبِيَّةُ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traditional dish.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أَكْلَتُكُمُ الشَّعْبِيَّةُ؟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مِثْلُ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traditional dress.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عِنْدَكُمْ زِيٌّ تَقْلِيدِيٌّ؟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يَوْمٍ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which day.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 كُلَّ أُسْبُوعٍ.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الخَمِيسِ. مَا أَهَمُّ شَيْءٍ فِي ثَقَافَتِكَ؟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club leader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INTERNATIONAL DAY AT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Preparing for International Day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التَّحْضِيرُ لِلْيَوْمِ الدُّوَلِيِّ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will bring.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سَتُحْضِرُ إِلَى اليَوْمِ الدُّوَلِيِّ؟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سَأَلْبَسُ … لَوْنُهُ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what you will wear.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سَتَلْبَسُ؟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؛ إِنَّ … جُزْءٌ مِنْ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 with inna.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الأَشْيَاءَ؟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وَمَتَى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day.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هُنَاكَ طُلَّابٌ مِنْ ثَلَاثِينَ بَلَدًا.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أَعْتَزُّ بِهَا لِأَنَّ … مَثَلًا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(reason + example).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الثَّانِيَةِ. هَلْ أَنْتَ فَخُورٌ بِثَقَافَتِكَ؟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teacher organising the day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YOUTH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What makes me “me”?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يَصْنَعُ هُوِيَّتِي؟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هُوِيَّتِي مَزِيجٌ مِنْ: … وَ…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three elements with possessives.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يُكَوِّنُ هُوِيَّتَكَ؟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كُلَّ … نَجْتَمِعُ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and explain it.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عَلَى تَقْلِيدٍ فِي أُسْرَتِكَ.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 كُنْتُ … أَمَّا الآنَ فَأُشَارِكُ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Contrast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نَظْرَتُكَ إِلَى ثَقَافَتِكَ؟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… ؛ 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Make a claim with inna + an example.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تُرِيدُ أَنْ يَفْهَمَهُ النَّاسُ عَنْ ثَقَافَتِكَ؟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بِأَنَّنِي … وَ… مَعًا،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(balanced).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تَشْعُرُ بِأَنَّكَ بَرِيطَانِيٌّ أَمْ عَرَبِيٌّ؟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TELEVISED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Does globalisation threaten identity?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العَوْلَمَةُ وَالهُوِيَّةُ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شَكَّ أَنَّ … غَيْرَ أَنَّنِي أَرَى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Open with a balanced thesis.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تُهَدِّدُ العَوْلَمَةُ هُوِيَّاتِ الشُّعُوبِ؟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… بِسَبَبِ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evidence with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دَلِيلًا.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وَمَعَ ذٰلِكَ فَإِنَّ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refine.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الإِنْتَرْنِتَ يُسَاعِدُ عَلَى نَشْرِ الثَّقَافَاتِ أَيْضًا.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عَلَيْهَا بِالقِرَاءَةِ … ؛ فَقَدْ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personal action (present + past).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أَنْتَ عَلَى هُوِيَّتِكَ؟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لِي ذٰلِكَ، لَاخْتَرْتُ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لَكَ أَنْ تَحْفَظَ شَيْئًا وَاحِدًا مِنْ ثَقَافَتِكَ لِلْمُسْتَقْبَلِ، فَمَا هُوَ؟</a:t>
            </a:r>
            <a:endParaRPr lang="ar-SA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speaker  ·  The examiner is: the debate moderator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their culture with possessive endings (thaqāfatī, ʿādātunā)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AND an example (li-anna … mathalan …)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فِلَسْطِينِيَّةٌ وَبَرِيطَانِيَّةٌ، لِأَنَّ أُسْرَتِي مِنْ فِلَسْطِينَ.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culture is Palestinian and British, because my family is from Palestine.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 ثَقَافَتُكَ؟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أَكْلَتُنَا الشَّعْبِيَّةُ المَقْلُوبَةُ، وَهِيَ لَذِيذَةٌ جِدًّا.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traditional dish is maqluba; it’s delicious.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أَكْلَتُكُمُ الشَّعْبِيَّةُ؟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مِثْلُ الثَّوْبِ المُطَرَّزِ الَّذِي تَلْبَسُهُ جَدَّتِي.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such as the embroidered dress my grandmother wears.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عِنْدَكُمْ زِيٌّ تَقْلِيدِيٌّ؟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أَيِّ يَوْمٍ نَلْتَقِي؟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day do we meet?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نَلْتَقِي كُلَّ أُسْبُوعٍ.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أَهَمُّ شَيْءٍ الأُسْرَةُ، لِأَنَّنَا نَجْتَمِعُ كُلَّ جُمُعَةٍ.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Family — we get together every Friday.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الخَمِيسِ. مَا أَهَمُّ شَيْءٍ فِي ثَقَافَتِكَ؟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سَأُحْضِرُ كَعْكًا بِالتَّمْرِ وَصُوَرًا لِقَرْيَةِ أَجْدَادِي.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bring date biscuits and photos of my grandparents’ village.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سَتُحْضِرُ إِلَى اليَوْمِ الدُّوَلِيِّ؟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سَأَلْبَسُ الكُوفِيَّةَ، وَلَوْنُهَا أَبْيَضُ وَأَسْوَدُ.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wear the keffiyeh; it is black and white.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سَتَلْبَسُ؟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تُمَثِّلُ تُرَاثَنَا؛ إِنَّ الكُوفِيَّةَ جُزْءٌ مِنْ هُوِيَّتِنَا.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they represent our heritage — the keffiyeh is part of our identity.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الأَشْيَاءَ؟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هَلْ سَيَكُونُ هُنَاكَ عَرْضُ أَزْيَاءٍ؟ وَمَتَى يَبْدَأُ الحَفْلُ؟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Great! Will there be a fashion show? And when does it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هُنَاكَ طُلَّابٌ مِنْ ثَلَاثِينَ بَلَدًا.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أَعْتَزُّ بِهَا كَثِيرًا، لِأَنَّهَا تُعَلِّمُنَا الكَرَمَ؛ مَثَلًا، نُقَدِّمُ القَهْوَةَ لِكُلِّ ضَيْفٍ.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very — it teaches us generosity; for example, we offer coffee to every guest.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الثَّانِيَةِ. هَلْ أَنْتَ فَخُورٌ بِثَقَافَتِكَ؟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هُوِيَّتِي مَزِيجٌ مِنْ ثَلَاثَةِ أَشْيَاءَ: دِينِي، وَلُغَةِ أَجْدَادِي، وَالمَدِينَةِ الَّتِي نَشَأْتُ فِيهَا.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mix of three things: my faith, my grandparents’ language and the city I grew up in.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يُكَوِّنُ هُوِيَّتَكَ؟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كُلَّ لَيْلَةِ جُمُعَةٍ نَجْتَمِعُ عِنْدَ جَدِّي، فَيَحْكِي لَنَا قِصَصًا عَنْ قَرْيَتِهِ، لِأَنَّهُ يُرِيدُ أَنْ نَعْرِفَ جُذُورَنَا.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Every Thursday night we gather at grandpa’s and he tells stories of his village, because he wants us to know our roots.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مِثَالًا عَلَى تَقْلِيدٍ فِي أُسْرَتِكَ.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صَغِيرًا كُنْتُ أَخْجَلُ مِنْ طَعَامِنَا فِي المَدْرَسَةِ، أَمَّا الآنَ فَأُشَارِكُهُ مَعَ أَصْدِقَائِي بِفَخْرٍ.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 a child I was embarrassed by our food at school; now I share it proudly with friends.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نَظْرَتُكَ إِلَى ثَقَافَتِكَ؟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ثَقَافَتَنَا تَقُومُ عَلَى احْتِرَامِ الكِبَارِ؛ مَثَلًا، لَا نَجْلِسُ قَبْلَ أَنْ يَجْلِسَ جَدُّنَا.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culture rests on respecting elders: for example, we don’t sit before grandpa sits.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الَّذِي تُرِيدُ أَنْ يَفْهَمَهُ النَّاسُ عَنْ ثَقَافَتِكَ؟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بِأَنَّنِي الاثْنَانِ مَعًا، لِأَنَّ الهُوِيَّةَ لَيْسَتْ صُنْدُوقًا وَاحِدًا، بَلْ بَيْتٌ فِيهِ غُرَفٌ كَثِيرَةٌ.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at once — identity isn’t one box but a house with many rooms.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تَشْعُرُ بِأَنَّكَ بَرِيطَانِيٌّ أَمْ عَرَبِيٌّ؟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شَكَّ أَنَّ العَوْلَمَةَ قَرَّبَتِ الثَّقَافَاتِ، غَيْرَ أَنَّنِي أَرَى أَنَّهَا تُهَدِّدُ اللُّغَاتِ وَالعَادَاتِ الصَّغِيرَةَ إِذَا لَمْ نَحْمِهَا.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Globalisation has brought cultures closer, but it threatens small languages and customs if we don’t protect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تُهَدِّدُ العَوْلَمَةُ هُوِيَّاتِ الشُّعُوبِ؟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مَثَلًا، أَصْبَحَ الشَّبَابُ فِي كُلِّ مَكَانٍ يَأْكُلُونَ الطَّعَامَ نَفْسَهُ وَيَلْبَسُونَ المَلَابِسَ نَفْسَهَا بِسَبَبِ الإِعْلَانَاتِ، مِمَّا يُنْسِيهِمْ أَكَلَاتِ أَجْدَادِهِمْ.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Young people everywhere now eat the same food and wear the same clothes because of adverts, making them forget their grandparents’ dishes.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أَعْطِنَا دَلِيلًا.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الإِنْتَرْنِتَ نَشَرَ مَوْسِيقَانَا وَمَطْبَخَنَا، وَمَعَ ذٰلِكَ فَإِنَّ مَا يَنْتَشِرُ هُوَ الشَّكْلُ لَا المَعْنَى العَمِيقُ.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it spread our music and cuisine — yet what spreads is the surface, not the deep meaning.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الإِنْتَرْنِتَ يُسَاعِدُ عَلَى نَشْرِ الثَّقَافَاتِ أَيْضًا.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أُحَافِظُ عَلَيْهَا بِالقِرَاءَةِ بِلُغَتِي، وَبِتَعَلُّمِ الطَّبْخِ مِنْ جَدَّتِي؛ فَقَدْ سَجَّلْتُ وَصَفَاتِهَا كُلَّهَا فِي دَفْتَرٍ خَاصٍّ.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By reading in my language and learning to cook from grandma — I’ve recorded all her recipes in a special notebook.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تُحَافِظُ أَنْتَ عَلَى هُوِيَّتِكَ؟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لِي ذٰلِكَ، لَاخْتَرْتُ لُغَتَنَا، لِأَنَّ اللُّغَةَ هِيَ الوِعَاءُ الَّذِي يَحْمِلُ القِصَصَ وَالقِيَمَ وَالأَمْثَالَ مَعًا.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Our language — it is the vessel that carries the stories, values and proverbs together.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لَكَ أَنْ تَحْفَظَ شَيْئًا وَاحِدًا مِنْ ثَقَافَتِكَ لِلْمُسْتَقْبَلِ، فَمَا هُوَ؟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thesis, evidence, concession, personal action and law … la- — a complete debate speech in formal Arabic.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culture in two words.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ثَقَافَتَكَ بِكَلِمَتَيْنِ.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أَكْلَتِي المُفَضَّلَةُ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favourite dish from your culture?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أَكْلَتُكَ المُفَضَّلَةُ مِنْ ثَقَافَتِكَ؟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أَلْبَسُ …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wear traditional clothes?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تَلْبَسُ مَلَابِسَ تَقْلِيدِيَّةً؟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لُغَةُ أَجْدَادِي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grandparents’ language?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لُغَةُ أَجْدَادِكَ؟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أَنَا فَخُورٌ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you proud of your culture?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فَخُورٌ بِثَقَافَتِكَ؟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use my / our endings (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ـُنَا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).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هُوِيَّتِي وَعَادَاتُنَا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 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family traditions do you love?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التَّقَالِيدُ الَّتِي تُحِبُّهَا فِي أُسْرَتِكَ؟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ثَقَافَتِنَا … بَيْنَمَا فِي ثَقَافَتِهِمْ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culture differ from your friends’?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ثَقَافَتُكَ عَنْ ثَقَافَةِ أَصْدِقَائِكَ؟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فَأَقْرَأُ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relationship with your culture changed?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عَلَاقَتُكَ بِثَقَافَتِكَ؟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مِنْهُمَا … مِثْلَ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values did you learn from your parents?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القِيَمُ الَّتِي تَعَلَّمْتَهَا مِنْ وَالِدَيْكَ؟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سَأُعَلِّمُهُمْ … وَسَآخُذُهُمْ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will you pass your culture on to your children?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سَتَنْقُلُ ثَقَافَتَكَ إِلَى أَوْلَادِكَ؟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reason AND an example, with possessive endings.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الهُوِيَّةُ فِي عَالَمٍ مُتَغَيِّرٍ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الهُوِيَّةَ … ؛ فَمَثَلًا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a person have more than one identity?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يَكُونَ لِلْإِنْسَانِ أَكْثَرُ مِنْ هُوِيَّةٍ؟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أَنَّ … بِسَبَبِ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threatens traditional cultures?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يُهَدِّدُ الثَّقَافَاتِ التَّقْلِيدِيَّةَ؟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an immigrant give up their culture?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يَتَخَلَّى المُهَاجِرُ عَنْ ثَقَافَتِهِ؟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تُؤَثِّرُ … ؛ مَثَلًا،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culture affect your decisions?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ثَقَافَتُكَ فِي قَرَارَاتِكَ؟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هُنَاكَ، لَكَانَتْ … لٰكِنَّ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in your grandparents’ country, would you be different?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فِي بَلَدِ أَجْدَادِكَ، هَلْ سَتَكُونُ شَخْصًا مُخْتَلِفًا؟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inna + laysa … bal, bi-sababi + mimmā, a concession, a narrated example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ثَقَافَتِي غَنِيَّةٌ وَجَمِيلَةٌ.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Rich and beautiful.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ثَقَافَتَكَ بِكَلِمَتَيْنِ.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أَكْلَتِيَ المُفَضَّلَةُ الكُسْكُسُ، لِأَنَّ أُمِّي تَطْبُخُهُ يَوْمَ الجُمُعَةِ.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Couscous — mum cooks it on Fridays.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أَكْلَتُكَ المُفَضَّلَةُ مِنْ ثَقَافَتِكَ؟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أَلْبَسُ الجَلَّابِيَّةَ فِي العِيدِ.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 jellaba at Eid.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تَلْبَسُ مَلَابِسَ تَقْلِيدِيَّةً؟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لُغَةُ أَجْدَادِي العَرَبِيَّةُ.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لُغَةُ أَجْدَادِكَ؟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أَنَا فَخُورٌ بِهَا، لِأَنَّهَا جُزْءٌ مِنِّي.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it’s part of 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أَنْتَ فَخُورٌ بِثَقَافَتِكَ؟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possessive +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اجْتِمَاعَنَا فِي بَيْتِ جَدَّتِي، لِأَنَّهُ يُقَرِّبُنَا؛ مَثَلًا، نَطْبُخُ مَعًا وَنَحْكِي القِصَصَ.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Gathering at grandma’s — it brings us close: we cook together and tell stories.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التَّقَالِيدُ الَّتِي تُحِبُّهَا فِي أُسْرَتِكَ؟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ثَقَافَتِنَا نَأْكُلُ العَشَاءَ مُتَأَخِّرِينَ مَعَ كُلِّ الأُسْرَةِ، بَيْنَمَا يَأْكُلُ أَصْدِقَائِي مُبَكِّرًا، وَأَحْيَانًا أَمَامَ التِّلْفَازِ.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eat dinner late as a whole family; my friends eat early, sometimes in front of the TV.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ثَقَافَتُكَ عَنْ ثَقَافَةِ أَصْدِقَائِكَ؟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لَا أَهْتَمُّ بِهَا، أَمَّا الآنَ فَأَقْرَأُ عَنْ تَارِيخِ بَلَدِ أَجْدَادِي، لِأَنَّنِي أُرِيدُ أَنْ أَفْهَمَ جُذُورِي.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didn’t care; now I read about my grandparents’ country’s history to understand my roots.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عَلَاقَتُكَ بِثَقَافَتِكَ؟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مِنْهُمَا قِيَمًا كَثِيرَةً، مِثْلَ احْتِرَامِ الكِبَارِ وَمُسَاعَدَةِ الجِيرَانِ وَالصِّدْقِ.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Many values, such as respecting elders, helping neighbours and honesty.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القِيَمُ الَّتِي تَعَلَّمْتَهَا مِنْ وَالِدَيْكَ؟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سَأُعَلِّمُهُمْ لُغَتَنَا وَأَكَلَاتِنَا، وَسَآخُذُهُمْ إِلَى بَلَدِ أَجْدَادِهِمْ كُلَّ صَيْفٍ.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teach them our language and dishes, and take them to their ancestors’ country every summer.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سَتَنْقُلُ ثَقَافَتَكَ إِلَى أَوْلَادِكَ؟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Possessives + li-anna + mathalan / mithla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إِنَّ الهُوِيَّةَ لَيْسَتْ وَاحِدَةً، بَلْ طَبَقَاتٌ؛ فَمَثَلًا، أَنَا مُسْلِمٌ وَعَرَبِيٌّ وَبَرِيطَانِيٌّ وَمُحِبٌّ لِكُرَةِ القَدَمِ فِي الوَقْتِ نَفْسِهِ.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Identity isn’t single but layered: I’m Muslim, Arab, British and a football fan at once.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يَكُونَ لِلْإِنْسَانِ أَكْثَرُ مِنْ هُوِيَّةٍ؟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أَنَّ السُّرْعَةَ هِيَ الخَطَرُ الأَكْبَرُ؛ فَبِسَبَبِ ضَغْطِ الحَيَاةِ لَا يَجِدُ النَّاسُ وَقْتًا لِلطَّبْخِ وَالزِّيَارَاتِ، مِمَّا يُضْعِفُ العَادَاتِ.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Speed — under life’s pressure people have no time to cook or visit, which weakens customs.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يُهَدِّدُ الثَّقَافَاتِ التَّقْلِيدِيَّةَ؟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عَلَيْهِ أَنْ يَحْتَرِمَ قَوَانِينَ البَلَدِ الجَدِيدِ وَيَتَعَلَّمَ لُغَتَهُ، غَيْرَ أَنَّ التَّخَلِّيَ عَنِ الجُذُورِ يَجْعَلُهُ شَجَرَةً بِلَا أَصْلٍ.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should respect the new country’s laws and learn its language, but abandoning roots makes them a tree without a base.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يَتَخَلَّى المُهَاجِرُ عَنْ ثَقَافَتِهِ؟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inna, layered identity, mimmā yuḍʿifu, ṣaḥīḥun anna … ghayra anna, akthara minhu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تُؤَثِّرُ كَثِيرًا؛ مَثَلًا، عِنْدَمَا اخْتَرْتُ مَوَادِّي، فَكَّرْتُ فِي رَأْيِ أُسْرَتِي، لِأَنَّ القَرَارَ عِنْدَنَا عَائِلِيٌّ أَكْثَرَ مِنْهُ فَرْدِيٌّ.</a:t>
            </a:r>
            <a:endParaRPr lang="ar-SA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lot: choosing my subjects, I considered my family’s view, because decisions with us are more collective than individual.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ثَقَافَتُكَ فِي قَرَارَاتِكَ؟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هُنَاكَ، لَكَانَتْ لُغَتِيَ العَرَبِيَّةُ أَقْوَى، وَلَعَرَفْتُ أَقَارِبِي أَكْثَرَ، لٰكِنَّ قِيَمِي سَتَبْقَى كَمَا هِيَ.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Arabic would be stronger and I’d know relatives better, but my values would stay the same.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فِي بَلَدِ أَجْدَادِكَ، هَلْ سَتَكُونُ شَخْصًا مُخْتَلِفًا؟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inna, layered identity, mimmā yuḍʿifu, ṣaḥīḥun anna … ghayra anna, akthara minhu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TE-L03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 culture: food, clothes, language.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my / our endings (thaqāfatī, ʿādātunā).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AND an example in one answer.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inna or anna with the accusative.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discussed identity with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TE-L03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TE-L03 · Speaking Workshop — Culture and Personal Identity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2026-10-11T14:27:24Z</dcterms:created>
  <dcterms:modified xsi:type="dcterms:W3CDTF">2026-10-11T14:27:24Z</dcterms:modified>
</cp:coreProperties>
</file>