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 AT A GLANCE — 60 minutes on Teams, mostly in breakout rooms of three.
0–2 Welcome · 2–6 How Paper 3 works · 6–10 Language bank · 10–13 Breakout routine · 13–33 Role plays A–D in rooms (rotate roles) · 33–37 Role-play models (main room) · 37–50 Topic conversation in rooms · 50–55 Conversation models · 55–58 Feedback + self-check · 58–60 Close.
Content: teacher-made exam scenarios for Advanced Topic E, Lesson 12 (Topic E Review — mock exam practice, TE-L12), using that lesson’s language (all of Topic E: nisba and agreement, verbal nouns and relative clauses, possessives and inna, imperatives and advice, respectful factual language, sequencing and object pronouns, the passive, cause and result, comparatives with baynamā / ammā … fa-, conditionals and balanced opinion). Every task has Core · Develop · Stretch support and a model answer.
EXAM FORMAT: Paper 3 Speaking = a role play and a topic conversation, as in the Cambridge IGCSE Arabic 0544 speaking test. Check timings and marks against the current syllabus and the past paper you use.
BREAKOUT ROOMS: set up rooms of three before the lesson. Share the deck (or a PDF) so every room can see the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most of the lesson happens in breakout rooms; the teacher visits each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TEACH (3 min). Role play = precise and complete; conversation = develop. Choral repetition of the repair phrases. To a girl: تُعِيدِي.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LANGUAGE BANK (2 min) — a revision map: each card recalls one lesson (L01–L11). Ask students to say ONE sentence with each structure before the role plays.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LANGUAGE BANK (2 min) — top-band answers are precise (nisba, agreement, the passive), linked (awwalan, li-dhālika, maʿa dhālika), developed (a concession and a conditional) and respectful (ghāliban, baʿḍu an-nās, mukhtalif lā afḍal).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BREAKOUT ROUTINE (3 min, in the main room). Same-level rooms make the routes simple; mixed rooms work if the strongest student is examiner first. Post the room timer in the chat. Visit every room for about two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A (Core) — airport arrivals.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(a boy hosting a boy: أَنَا بَرِيطَانِيٌّ · تَتَكَلَّمُ).
Core: welcome phrases, the nisba (barīṭāniyya), languages (L01–L02), kam sāʿatan …?, sa- + thumma, a house custom (L04).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B (Core+) — a friend’s invitation.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(model is f.; a boy: أَدْعُوكَ · أَرَدْتَ · جَدَّتَكَ · تَقُولُ · تُحِبُّ).
Core+: courtesy (bi-kulli surūr), a respectful comparison with mithlakum + baynamā (L05–L06, L09), the CANDIDATE asks about etiquette (L04), li-annahā + mathalan + taʿallamtu anna (L03).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C (Develop) — a trip report.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فَاجَأَكِ · تُقَارِنِينَ · سَتَعُودِينَ.
Develop: alladhī buniya + an ordinal century (L07), respectful factual language about two faiths (L05), faājaʾanī anna + mimmā (L08), ammā … fa- + ghāliban (L09), idhā … fa-sa- (L10).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D (Stretch) — a radio interview.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أَعْطِينَا · جِيلَكِ · أَعْطَيْتِ.
Stretch: akthar iḥtirāman min (L09), a balanced view with mimmā (L08, L10), kānū yaẓunnūna … thumma iktashafnā, a concession with lā yaʿnī … bal an (L03, L05), passive subjunctives (tudarrasa, tunaẓẓama), law … la- with plural imperatives (L04).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Observers keep this slide open (or copy the six points into their book). Collect one strong WWW per room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Core. Examiner asks the questions in order and may add “لِمَاذَا؟ / هَلْ يُمْكِنُ أَنْ تَشْرَحَ أَكْثَرَ؟” to push for more. Candidate aims for one full sentence per question.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Develop. Examiner asks the questions in order and may add “لِمَاذَا؟ / هَلْ يُمْكِنُ أَنْ تَشْرَحَ أَكْثَرَ؟” to push for more. Candidate aims for two or three sentences, mixing time frames.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Stretch. Examiner asks the questions in order and may add “لِمَاذَا؟ / هَلْ يُمْكِنُ أَنْ تَشْرَحَ أَكْثَرَ؟” to push for more. Candidate aims for a developed answer: opinion, balance, concession and a conditional.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(Core)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(Develop)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E · EXAM PRACTICE  ·  TE-L12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TE-L12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Workshop — Topic E Mock Exam</a:t>
            </a:r>
            <a:endParaRPr lang="en-US" sz="27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التَّحَدُّثِ — امْتِحَانٌ تَجْرِيبِيٌّ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A full Paper 3 mock in breakout rooms: four role plays and a mixed topic conversation covering the whole of Topic E — nationalities and languages, identity, hospitality, faith and national celebrations, travel and exchange, comparing cultures with respect, and global connections.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TE-L12 · Advanced Topic E · The International World · exam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E · A2 → B1+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E › TE-L12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WORKSHOP MAP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 practice, step by step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خَرِيطَةُ الوَرْشَةِ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32281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32281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How the speaking exam works; the language you need.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73771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4744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8401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88401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20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127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27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86573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A–D in breakout rooms.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82915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5018227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7955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4531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64531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330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330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146243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Role-play models.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109667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النَّمُوذَجُ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7298741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08469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45045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445045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13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738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738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426757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in breakout rooms.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90181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957925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68898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2555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72555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9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454335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454335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970727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Conversation models, feedback, self-check.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67069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IF ARABIC FEELS HARD TODAY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the rooms everyone has a job: examiner, candidate or observer. You swap after each role play, so everybody speaks.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TEACH · PAPER 3 SPEAKING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How the speaking exam works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امْتِحَانُ التَّحَدُّثِ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THE TWO PARTS WE PRACTISE TODAY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 — a card with a situation and tasks. The examiner asks; you answer every task in a full, clear sentence. One task is unexpected (!).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— the examiner asks questions about a topic you know. Short answers are not enough: develop each one.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Examiners reward: completing the tasks, a range of language (tenses, linking words, opinions) and accuracy.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Never stay silent — use a repair phrase and keep going.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REPAIR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أَقْصِدُ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mean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ONE KEY STRUCTURE FROM EACH PART OF TOPIC 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E in twelve structures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المِحْوَرُ الخَامِسُ فِي اثْنَتَيْ عَشْرَةَ بِنْيَةً</a:t>
            </a:r>
            <a:endParaRPr lang="ar-SA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L01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مِصْرِيٌّ · مِصْرِيَّةٌ · مِصْرِيُّونَ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Egyptian (m. · f. · pl.)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miṣ-riy-yun · miṣ-riy-ya-tun · miṣ-riy-yū-na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in the north of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شَمَالِ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is located in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يَقَعُ / تَقَعُ فِي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L02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اللُّغَةُ الَّتِي أَتَكَلَّمُهَا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language (that) I speak</a:t>
            </a:r>
            <a:endParaRPr lang="en-US" sz="1350" dirty="0"/>
          </a:p>
          <a:p>
            <a:pPr indent="0" marL="0">
              <a:buNone/>
            </a:pPr>
            <a:r>
              <a:rPr lang="ar-SA" sz="1100" i="1" dirty="0">
                <a:solidFill>
                  <a:srgbClr val="5A6472"/>
                </a:solidFill>
                <a:latin typeface="Calibri" pitchFamily="34" charset="0"/>
                <a:ea typeface="Amiri" pitchFamily="2" charset="-78"/>
                <a:cs typeface="Amiri" pitchFamily="2" charset="-78"/>
              </a:rPr>
              <a:t>all-lu-gha-tu al-َ-tī a-ta-kal-la-mu-hā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communication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التَّوَاصُلُ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learning (v.n.)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تَعَلُّمُ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L03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إِنَّ ثَقَافَتَنَا …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indeed our culture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in-na tha-qā-fa-ta-nā …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for example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مَثَلًا</a:t>
            </a:r>
            <a:endParaRPr lang="ar-SA" sz="135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my identity</a:t>
            </a:r>
            <a:endParaRPr lang="en-US" sz="70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هُوِيَّتِي</a:t>
            </a:r>
            <a:endParaRPr lang="ar-SA" sz="135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L04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اِخْلَعْ · لَا تَرْفُضْ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take off! · don’t refuse!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ikh-laʿ · lā tar-fuḍ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one should</a:t>
            </a:r>
            <a:endParaRPr lang="en-US" sz="700" dirty="0"/>
          </a:p>
        </p:txBody>
      </p:sp>
      <p:sp>
        <p:nvSpPr>
          <p:cNvPr id="71" name="Text 68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يَنْبَغِي أَنْ</a:t>
            </a:r>
            <a:endParaRPr lang="ar-SA" sz="1350" dirty="0"/>
          </a:p>
        </p:txBody>
      </p:sp>
      <p:sp>
        <p:nvSpPr>
          <p:cNvPr id="72" name="Shape 69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74" name="Text 71"/>
          <p:cNvSpPr txBox="1"/>
          <p:nvPr/>
        </p:nvSpPr>
        <p:spPr>
          <a:xfrm>
            <a:off x="8284464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اِخْلَعِي · لَا تَرْفُضِي</a:t>
            </a:r>
            <a:endParaRPr lang="ar-SA" sz="150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L05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المَسْجِدُ الَّذِي … · الكَنِيسَةُ الَّتِي …</a:t>
            </a:r>
            <a:endParaRPr lang="ar-SA" sz="22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mosque which … · the church which …</a:t>
            </a:r>
            <a:endParaRPr lang="en-US" sz="1350" dirty="0"/>
          </a:p>
          <a:p>
            <a:pPr indent="0" marL="0">
              <a:buNone/>
            </a:pPr>
            <a:r>
              <a:rPr lang="ar-SA" sz="1100" i="1" dirty="0">
                <a:solidFill>
                  <a:srgbClr val="5A6472"/>
                </a:solidFill>
                <a:latin typeface="Calibri" pitchFamily="34" charset="0"/>
                <a:ea typeface="Amiri" pitchFamily="2" charset="-78"/>
                <a:cs typeface="Amiri" pitchFamily="2" charset="-78"/>
              </a:rPr>
              <a:t>al-mas-ji-du al-َ-dhī … · al-ka-nī-sa-tu al-َ-tī …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respect</a:t>
            </a:r>
            <a:endParaRPr lang="en-US" sz="700" dirty="0"/>
          </a:p>
        </p:txBody>
      </p:sp>
      <p:sp>
        <p:nvSpPr>
          <p:cNvPr id="86" name="Text 83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أَحْتَرِمُ</a:t>
            </a:r>
            <a:endParaRPr lang="ar-SA" sz="1350" dirty="0"/>
          </a:p>
        </p:txBody>
      </p:sp>
      <p:sp>
        <p:nvSpPr>
          <p:cNvPr id="87" name="Shape 84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next to</a:t>
            </a:r>
            <a:endParaRPr lang="en-US" sz="700" dirty="0"/>
          </a:p>
        </p:txBody>
      </p:sp>
      <p:sp>
        <p:nvSpPr>
          <p:cNvPr id="89" name="Text 86"/>
          <p:cNvSpPr txBox="1"/>
          <p:nvPr/>
        </p:nvSpPr>
        <p:spPr>
          <a:xfrm>
            <a:off x="4462272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بِجَانِبِ</a:t>
            </a:r>
            <a:endParaRPr lang="ar-SA" sz="1350" dirty="0"/>
          </a:p>
        </p:txBody>
      </p:sp>
      <p:sp>
        <p:nvSpPr>
          <p:cNvPr id="90" name="Shape 8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960120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960120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L06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7" name="Text 94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زُرْنَاهُمْ · اشْتَرَيْتُهَا</a:t>
            </a:r>
            <a:endParaRPr lang="ar-SA" sz="3000" dirty="0"/>
          </a:p>
        </p:txBody>
      </p:sp>
      <p:sp>
        <p:nvSpPr>
          <p:cNvPr id="98" name="Text 95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we visited them · I bought it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zur-nā-hum · ash-ta-ray-tu-hā</a:t>
            </a:r>
            <a:endParaRPr lang="en-US" sz="1350" dirty="0"/>
          </a:p>
        </p:txBody>
      </p:sp>
      <p:sp>
        <p:nvSpPr>
          <p:cNvPr id="99" name="Shape 96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finally</a:t>
            </a:r>
            <a:endParaRPr lang="en-US" sz="700" dirty="0"/>
          </a:p>
        </p:txBody>
      </p:sp>
      <p:sp>
        <p:nvSpPr>
          <p:cNvPr id="101" name="Text 98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أَخِيرًا</a:t>
            </a:r>
            <a:endParaRPr lang="ar-SA" sz="1350" dirty="0"/>
          </a:p>
        </p:txBody>
      </p:sp>
      <p:sp>
        <p:nvSpPr>
          <p:cNvPr id="102" name="Shape 99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first … then</a:t>
            </a:r>
            <a:endParaRPr lang="en-US" sz="700" dirty="0"/>
          </a:p>
        </p:txBody>
      </p:sp>
      <p:sp>
        <p:nvSpPr>
          <p:cNvPr id="104" name="Text 101"/>
          <p:cNvSpPr txBox="1"/>
          <p:nvPr/>
        </p:nvSpPr>
        <p:spPr>
          <a:xfrm>
            <a:off x="6400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… ثُمَّ</a:t>
            </a:r>
            <a:endParaRPr lang="ar-SA" sz="1350" dirty="0"/>
          </a:p>
        </p:txBody>
      </p:sp>
      <p:sp>
        <p:nvSpPr>
          <p:cNvPr id="105" name="Text 10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STRUCTURES THAT LIFT A MARK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Precise, linked, developed, respectful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بِنْيَاتٌ تَرْفَعُ الدَّرَجَةَ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L07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يُحْتَفَلُ بِهِ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it is celebrated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yuḥ-ta-fa-lu bi-hi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it was made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صُنِعَ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flags are raised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تُرْفَعُ الأَعْلَامُ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L08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بِسَبَبِ … مِمَّا …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because of … which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bi-sa-ba-bi … mim-mā …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as a result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نَتِيجَةً لِذٰلِكَ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so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لِذٰلِكَ</a:t>
            </a:r>
            <a:endParaRPr lang="ar-SA" sz="150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L09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بَيْنَمَا · أَمَّا … فَهُوَ …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whereas · as for … it is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bay-na-mā · am-mā … fa-hu-wa …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different, not better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مُخْتَلِفٌ لَا أَفْضَلُ</a:t>
            </a:r>
            <a:endParaRPr lang="ar-SA" sz="135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bigger than</a:t>
            </a:r>
            <a:endParaRPr lang="en-US" sz="70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أَكْبَرُ مِنْ</a:t>
            </a:r>
            <a:endParaRPr lang="ar-SA" sz="135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L10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إِذَا … فَسَأُسَافِرُ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if … I will travel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i-dhā … fa-sa-ʾu-sā-fi-ru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on the other</a:t>
            </a:r>
            <a:endParaRPr lang="en-US" sz="700" dirty="0"/>
          </a:p>
        </p:txBody>
      </p:sp>
      <p:sp>
        <p:nvSpPr>
          <p:cNvPr id="71" name="Text 68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وَمِنْ نَاحِيَةٍ أُخْرَى</a:t>
            </a:r>
            <a:endParaRPr lang="ar-SA" sz="1350" dirty="0"/>
          </a:p>
        </p:txBody>
      </p:sp>
      <p:sp>
        <p:nvSpPr>
          <p:cNvPr id="72" name="Shape 69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on one hand</a:t>
            </a:r>
            <a:endParaRPr lang="en-US" sz="700" dirty="0"/>
          </a:p>
        </p:txBody>
      </p:sp>
      <p:sp>
        <p:nvSpPr>
          <p:cNvPr id="74" name="Text 71"/>
          <p:cNvSpPr txBox="1"/>
          <p:nvPr/>
        </p:nvSpPr>
        <p:spPr>
          <a:xfrm>
            <a:off x="8284464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</a:t>
            </a:r>
            <a:endParaRPr lang="ar-SA" sz="135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L11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· بِالإِضَافَةِ إِلَى ذٰلِكَ</a:t>
            </a:r>
            <a:endParaRPr lang="ar-SA" sz="29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firstly · in addition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aw-wa-lan · bil-ʾi-ḍā-fa-ti i-lā dhā-li-ka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therefore</a:t>
            </a:r>
            <a:endParaRPr lang="en-US" sz="700" dirty="0"/>
          </a:p>
        </p:txBody>
      </p:sp>
      <p:sp>
        <p:nvSpPr>
          <p:cNvPr id="86" name="Text 83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لِذٰلِكَ</a:t>
            </a:r>
            <a:endParaRPr lang="ar-SA" sz="1350" dirty="0"/>
          </a:p>
        </p:txBody>
      </p:sp>
      <p:sp>
        <p:nvSpPr>
          <p:cNvPr id="87" name="Shape 84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however</a:t>
            </a:r>
            <a:endParaRPr lang="en-US" sz="700" dirty="0"/>
          </a:p>
        </p:txBody>
      </p:sp>
      <p:sp>
        <p:nvSpPr>
          <p:cNvPr id="89" name="Text 86"/>
          <p:cNvSpPr txBox="1"/>
          <p:nvPr/>
        </p:nvSpPr>
        <p:spPr>
          <a:xfrm>
            <a:off x="4462272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مَعَ ذٰلِكَ</a:t>
            </a:r>
            <a:endParaRPr lang="ar-SA" sz="1350" dirty="0"/>
          </a:p>
        </p:txBody>
      </p:sp>
      <p:sp>
        <p:nvSpPr>
          <p:cNvPr id="90" name="Shape 8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960120" y="4279392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960120" y="4279392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top band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7" name="Text 94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3000" dirty="0"/>
          </a:p>
        </p:txBody>
      </p:sp>
      <p:sp>
        <p:nvSpPr>
          <p:cNvPr id="98" name="Text 95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it is true that … but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ṣa-ḥī-ḥun an-na … ghay-ra an-na …</a:t>
            </a:r>
            <a:endParaRPr lang="en-US" sz="1350" dirty="0"/>
          </a:p>
        </p:txBody>
      </p:sp>
      <p:sp>
        <p:nvSpPr>
          <p:cNvPr id="99" name="Shape 96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not … but</a:t>
            </a:r>
            <a:endParaRPr lang="en-US" sz="700" dirty="0"/>
          </a:p>
        </p:txBody>
      </p:sp>
      <p:sp>
        <p:nvSpPr>
          <p:cNvPr id="101" name="Text 98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لَيْسَ … بَلْ</a:t>
            </a:r>
            <a:endParaRPr lang="ar-SA" sz="1350" dirty="0"/>
          </a:p>
        </p:txBody>
      </p:sp>
      <p:sp>
        <p:nvSpPr>
          <p:cNvPr id="102" name="Shape 99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if … would</a:t>
            </a:r>
            <a:endParaRPr lang="en-US" sz="700" dirty="0"/>
          </a:p>
        </p:txBody>
      </p:sp>
      <p:sp>
        <p:nvSpPr>
          <p:cNvPr id="104" name="Text 101"/>
          <p:cNvSpPr txBox="1"/>
          <p:nvPr/>
        </p:nvSpPr>
        <p:spPr>
          <a:xfrm>
            <a:off x="6400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كُنْتُ … لَاخْتَرْتُ</a:t>
            </a:r>
            <a:endParaRPr lang="ar-SA" sz="1350" dirty="0"/>
          </a:p>
        </p:txBody>
      </p:sp>
      <p:sp>
        <p:nvSpPr>
          <p:cNvPr id="105" name="Text 10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BREAKOUT ROOMS · HOW WE WORK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Examiner · candidate · observer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الغُرَفِ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BREAKOUT ROUTINE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🎧  Three jobs, then swap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Rooms of three. A = examiner (reads the questions only). B = candidate (answers from the task card). C = observer (ticks the checklist and gives one WWW and one EBI).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candidate reads the card and plans (no writing full sentences).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About 3 minutes: the role play — the examiner reads every question in order.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observer gives feedback (WWW + EBI).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jobs and do the next role play. Then the topic conversation.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 and B, with the help column. Conversation: Core questions.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B and C, help column covered. Conversation: Core + Develop questions.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C and D, no help. Conversation: Develop + Stretch questions, push with “why?”.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أَكْثَرَ، مِنْ فَضْلِكَ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more, please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A · CORE · AIRPORT ARRIVALS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 — Meeting your exchange student</a:t>
            </a:r>
            <a:endParaRPr lang="en-US" sz="21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اسْتِقْبَالُ طَالِبَةِ التَّبَادُلِ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 وَسَهْلًا! أَنَا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Greet her and say who you are.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مَرْحَبًا! أَنَا لَمَى مِنْ عَمَّانَ.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أَتَكَلَّمُ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Name your languages.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لُغَةً تَتَكَلَّمِينَ؟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… ؟ كَمْ سَاعَةً …؟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about the journey.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جَمِيلٌ! الرِّحْلَةُ كَانَتْ طَوِيلَةً.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سَنَذْهَبُ إِلَى … ثُمَّ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you will do (future).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سِتُّ سَاعَاتٍ. مَاذَا سَنَفْعَلُ اليَوْمَ؟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… عِنْدَ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أَخْلَعُ حِذَائِي فِي بَيْتِكُمْ؟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host student in Britain  ·  The examiner is: an exchange student just arrived from Jordan  ·  ! = unexpected question: listen carefully.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B · CORE+ · A FRIEND’S INVITATION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 — Invited to Diwali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دَعْوَةٌ إِلَى عِيدِ دِيوَالِي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شُكْرًا … ، بِكُلِّ سُرُورٍ!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Thank her and accept.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أَدْعُوكِ إِلَى احْتِفَالِ دِيوَالِي فِي بَيْتِنَا يَوْمَ السَّبْتِ!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…؟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what you should bring.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سَيَكُونُ هُنَاكَ طَعَامٌ وَأَضْوَاءٌ كَثِيرَةٌ.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عِيدُ … ؛ وَفِيهِ … مِثْلَكُمْ، بَيْنَمَا تُضِيئُونَ …</a:t>
            </a:r>
            <a:endParaRPr lang="ar-SA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 respectfully with Eid.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حَلَوِيَّاتٍ إِنْ أَرَدْتِ. هَلْ عِنْدَكُمْ عِيدٌ مِثْلُهُ؟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أُحَيِّي …؟ وَهَلْ …؟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about etiquette (two questions).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رَائِعٌ! سَتَحْضُرُ جَدَّتِي أَيْضًا.</a:t>
            </a:r>
            <a:endParaRPr lang="ar-SA" sz="17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 … ؛ مَثَلًا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(reason + example).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تَقُولِينَ "نَمَسْتِي" وَتَضُمِّينَ يَدَيْكِ. لِمَاذَا تُحِبِّينَ أَعْيَادَ الآخَرِينَ؟</a:t>
            </a:r>
            <a:endParaRPr lang="ar-SA" sz="14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 ·  The examiner is: a Hindu classmate inviting you to her family’s Diwali celebration  ·  ! = unexpected question: listen carefully.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C · DEVELOP · A TRIP REPORT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 — The school trip to Andalusia</a:t>
            </a:r>
            <a:endParaRPr lang="en-US" sz="23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رِحْلَةٌ مَدْرَسِيَّةٌ إِلَى الأَنْدَلُسِ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زُرْنَا … الَّذِي بُنِيَ فِي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 place with the passive.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زُرْتُمْ فِي غَرْنَاطَةَ؟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زُرْنَا … ، وَهُوَ … ؛ كَانَ … ثُمَّ بُنِيَتْ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Explain with respectful, factual language.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وَفِي قُرْطُبَةَ؟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فَاجَأَنِي أَنَّ … ، مِمَّا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Cause and result.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الَّذِي فَاجَأَكَ؟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إِسْبَانْيَا … غَالِبًا … أَمَّا فِي بَرِيطَانْيَا فَنَتَعَشَّى …</a:t>
            </a:r>
            <a:endParaRPr lang="ar-SA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 with ammā … fa- and a hedge.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تُقَارِنُ إِسْبَانْيَا اليَوْمَ بِبَرِيطَانْيَا؟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إِذَا حَصَلْتُ عَلَى … فَسَأَدْرُسُ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(conditional).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سَتَعُودُ إِلَى هُنَاكَ؟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back from Granada and Córdoba  ·  The examiner is: your History teacher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D · STRETCH · A RADIO INTERVIEW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 — Do young people respect other cultures?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يَحْتَرِمُ الشَّبَابُ الثَّقَافَاتِ الأُخْرَى؟</a:t>
            </a:r>
            <a:endParaRPr lang="ar-SA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 … وَمِنْ نَاحِيَةٍ أُخْرَى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Balanced comparison of generations.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جِيلُكُمْ أَكْثَرُ احْتِرَامًا لِلثَّقَافَاتِ الأُخْرَى مِنْ جِيلِ آبَائِكُمْ؟</a:t>
            </a:r>
            <a:endParaRPr lang="ar-SA" sz="145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عِنْدَمَا … كُنْتُ أَظُنُّ … ثُمَّ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Narrate a personal example.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أَعْطِنَا مِثَالًا.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الاحْتِرَامَ لَا يَعْنِي … بَلْ …</a:t>
            </a:r>
            <a:endParaRPr lang="ar-SA" sz="145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Concede and clarify.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 بَعْضَ النَّاسِ يَقُولُونَ إِنَّ الاحْتِرَامَ يَعْنِي أَنْ نَقْبَلَ كُلَّ شَيْءٍ.</a:t>
            </a:r>
            <a:endParaRPr lang="ar-SA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يَنْبَغِي أَنْ تُدَرَّسَ … وَأَنْ تُنَظَّمَ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Formal advice with the passive.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يَنْبَغِي أَنْ تَفْعَلَ المَدَارِسُ؟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أَعْطَيْتُهُمْ نَصِيحَةً، لَقُلْتُ: "…"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(law … la-).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أَعْطَيْتَ جِيلَكَ نَصِيحَةً وَاحِدَةً، فَمَا هِيَ؟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young guest  ·  The examiner is: the radio presenter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OBSERVER · FEEDBACK CHECKLIST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Observer: tick and give feedback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وَرَقَةُ المُلَاحِظِ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662672" y="1810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199632" y="181051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52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candidate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99248" y="226771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236208" y="226771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task, including the unexpected one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699248" y="2881884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236208" y="2881884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completed every role-play task, including the unexpected one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699248" y="3496056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236208" y="3496056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three Topic E structures accurately and two time frames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699248" y="4110228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236208" y="4110228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(li-anna) or an opinion (fī ra’yī)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699248" y="4724400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236208" y="4724400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more than one time frame (past / future)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699248" y="533857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236208" y="533857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in the room: one WWW (what went well) + one EBI (even better if …).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25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A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 وَسَهْلًا يَا لَمَى! أَنَا سُمَيَّةُ، وَأَنَا بَرِيطَانِيَّةٌ.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Welcome, Lama! I’m Sumaya, and I’m British.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مَرْحَبًا! أَنَا لَمَى مِنْ عَمَّانَ.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أَتَكَلَّمُ الإِنْجْلِيزِيَّةَ وَالعَرَبِيَّةَ.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English and Arabic.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لُغَةً تَتَكَلَّمِينَ؟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سَاعَةً كَانَتِ الرِّحْلَةُ؟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many hours was the flight?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جَمِيلٌ! الرِّحْلَةُ كَانَتْ طَوِيلَةً.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سَنَذْهَبُ إِلَى البَيْتِ، ثُمَّ نَتَعَشَّى مَعَ أُسْرَتِي.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We’ll go home, then have dinner with my family.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سِتُّ سَاعَاتٍ. مَاذَا سَنَفْعَلُ اليَوْمَ؟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نَخْلَعُ الأَحْذِيَةَ عِنْدَ البَابِ.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we take shoes off at the door.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أَخْلَعُ حِذَائِي فِي بَيْتِكُمْ؟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B · CORE+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شُكْرًا جَزِيلًا، بِكُلِّ سُرُورٍ!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Thank you so much — with pleasure!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أَدْعُوكِ إِلَى احْتِفَالِ دِيوَالِي فِي بَيْتِنَا يَوْمَ السَّبْتِ!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أُحْضِرُ مَعِي؟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should I bring?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سَيَكُونُ هُنَاكَ طَعَامٌ وَأَضْوَاءٌ كَثِيرَةٌ.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عِيدُ الفِطْرِ؛ وَفِيهِ نَزُورُ الأَقَارِبَ وَنَأْكُلُ الحَلَوِيَّاتِ مِثْلَكُمْ، بَيْنَمَا تُضِيئُونَ أَنْتُمُ المَصَابِيحَ.</a:t>
            </a:r>
            <a:endParaRPr lang="ar-SA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Eid al-Fitr: we visit relatives and eat sweets like you, whereas you light lamps.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حَلَوِيَّاتٍ إِنْ أَرَدْتِ. هَلْ عِنْدَكُمْ عِيدٌ مِثْلُهُ؟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أُحَيِّي جَدَّتَكِ بِاحْتِرَامٍ؟ وَهَلْ يَجِبُ أَنْ أَخْلَعَ حِذَائِي؟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should I greet your grandmother respectfully? And should I take off my shoes?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رَائِعٌ! سَتَحْضُرُ جَدَّتِي أَيْضًا.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لِأَنَّهَا تُعَلِّمُنِي أَشْيَاءَ جَدِيدَةً؛ مَثَلًا، تَعَلَّمْتُ أَنَّ الضَّوْءَ فِي دِيوَالِي رَمْزٌ لِلْأَمَلِ.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They teach me new things — I learnt the light at Diwali symbolises hope.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تَقُولِينَ "نَمَسْتِي" وَتَضُمِّينَ يَدَيْكِ. لِمَاذَا تُحِبِّينَ أَعْيَادَ الآخَرِينَ؟</a:t>
            </a:r>
            <a:endParaRPr lang="ar-SA" sz="13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C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زُرْنَا قَصْرَ الحَمْرَاءِ الَّذِي بُنِيَ فِي القَرْنِ الرَّابِعَ عَشَرَ، وَرَأَيْنَا الكِتَابَاتِ العَرَبِيَّةَ عَلَى جُدْرَانِهِ.</a:t>
            </a:r>
            <a:endParaRPr lang="ar-SA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Alhambra, built in the fourteenth century — we saw the Arabic inscriptions on its walls.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زُرْتُمْ فِي غَرْنَاطَةَ؟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زُرْنَا المَسْجِدَ الكَبِيرَ، وَهُوَ اليَوْمَ كَاتِدْرَائِيَّةٌ؛ كَانَ مَسْجِدًا لِقُرُونٍ، ثُمَّ بُنِيَتْ كَنِيسَةٌ فِي وَسَطِهِ، فَتَرَى فِيهِ تَارِيخَ دِينَيْنِ.</a:t>
            </a:r>
            <a:endParaRPr lang="ar-SA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Great Mosque, today a cathedral: a mosque for centuries, then a church built in its middle — two faiths’ history in one place.</a:t>
            </a:r>
            <a:endParaRPr lang="en-US" sz="8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وَفِي قُرْطُبَةَ؟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فَاجَأَنِي أَنَّ العُلَمَاءَ المُسْلِمِينَ وَاليَهُودَ وَالمَسِيحِيِّينَ عَمِلُوا مَعًا فِي التَّرْجَمَةِ، مِمَّا جَعَلَ قُرْطُبَةَ أَكْبَرَ مَدِينَةٍ عِلْمِيَّةٍ فِي أُورُوبَّا.</a:t>
            </a:r>
            <a:endParaRPr lang="ar-SA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Muslim, Jewish and Christian scholars worked together on translation, making Córdoba Europe’s greatest centre of learning.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الَّذِي فَاجَأَكَ؟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إِسْبَانْيَا يَتَعَشَّى النَّاسُ غَالِبًا فِي العَاشِرَةِ، أَمَّا فِي بَرِيطَانْيَا فَنَتَعَشَّى قَبْلَ ذٰلِكَ بِكَثِيرٍ؛ وَلِكُلٍّ مِنْهُمَا سَبَبُهُ.</a:t>
            </a:r>
            <a:endParaRPr lang="ar-SA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Spaniards usually dine at ten; in Britain much earlier — each for its reasons.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تُقَارِنُ إِسْبَانْيَا اليَوْمَ بِبَرِيطَانْيَا؟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إِذَا حَصَلْتُ عَلَى مِنْحَةٍ، فَسَأَدْرُسُ التَّارِيخَ الأَنْدَلُسِيَّ فِي جَامِعَةِ غَرْنَاطَةَ.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get a scholarship, I’ll study Andalusian history at the University of Granada.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سَتَعُودُ إِلَى هُنَاكَ؟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D · STRETCH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نَاحِيَةٍ، نَدْرُسُ وَنَلْعَبُ مَعَ زُمَلَاءَ مِنْ عَشَرَاتِ البُلْدَانِ، مِمَّا يَجْعَلُنَا أَكْثَرَ انْفِتَاحًا، وَمِنْ نَاحِيَةٍ أُخْرَى، تَنْتَشِرُ الصُّوَرُ النَّمَطِيَّةُ عَلَى الإِنْتَرْنِتِ أَسْرَعَ مِنْ قَبْلُ.</a:t>
            </a:r>
            <a:endParaRPr lang="ar-SA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study and play with classmates from dozens of countries, making us more open; yet stereotypes spread online faster than before.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جِيلُكُمْ أَكْثَرُ احْتِرَامًا لِلثَّقَافَاتِ الأُخْرَى مِنْ جِيلِ آبَائِكُمْ؟</a:t>
            </a:r>
            <a:endParaRPr lang="ar-SA" sz="135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عِنْدَمَا وَصَلَتْ إِلَى صَفِّنَا طَالِبَةٌ مِنْ أَفْغَانِسْتَانَ، كَانَ بَعْضُ الزُّمَلَاءِ يَظُنُّونَ أَنَّهَا لَا تَتَكَلَّمُ، ثُمَّ اكْتَشَفْنَا أَنَّهَا تَتَكَلَّمُ أَرْبَعَ لُغَاتٍ!</a:t>
            </a:r>
            <a:endParaRPr lang="ar-SA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a girl from Afghanistan joined our class, some thought she couldn’t speak — then we found she spoke four languages!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أَعْطِنَا مِثَالًا.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الاحْتِرَامَ يَحْتَاجُ إِلَى تَسَامُحٍ، غَيْرَ أَنَّهُ لَا يَعْنِي أَنْ نَتَّفِقَ فِي كُلِّ شَيْءٍ، بَلْ أَنْ نَخْتَلِفَ بِأَدَبٍ، وَأَنْ نَسْأَلَ قَبْلَ أَنْ نَحْكُمَ.</a:t>
            </a:r>
            <a:endParaRPr lang="ar-SA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Respect needs tolerance, but it doesn’t mean agreeing on everything — it means disagreeing politely and asking before judging.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 بَعْضَ النَّاسِ يَقُولُونَ إِنَّ الاحْتِرَامَ يَعْنِي أَنْ نَقْبَلَ كُلَّ شَيْءٍ.</a:t>
            </a:r>
            <a:endParaRPr lang="ar-SA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يَنْبَغِي أَنْ تُدَرَّسَ اللُّغَاتُ وَالأَدْيَانُ بِطَرِيقَةٍ مُحْتَرِمَةٍ، وَأَنْ تُنَظَّمَ زِيَارَاتٌ لِأَمَاكِنِ العِبَادَةِ وَبَرَامِجُ لِلتَّبَادُلِ، لِأَنَّ المَعْرِفَةَ تَقْتُلُ الخَوْفَ.</a:t>
            </a:r>
            <a:endParaRPr lang="ar-SA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Languages and faiths should be taught respectfully, and visits and exchanges organised — knowledge kills fear.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يَنْبَغِي أَنْ تَفْعَلَ المَدَارِسُ؟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أَعْطَيْتُهُمْ نَصِيحَةً وَاحِدَةً، لَقُلْتُ: "تَعَلَّمُوا لُغَةَ جَارِكُمْ، وَكُلُوا عَلَى مَائِدَتِهِ مَرَّةً؛ فَلَنْ تَرَوْهُ غَرِيبًا بَعْدَ ذٰلِكَ".</a:t>
            </a:r>
            <a:endParaRPr lang="ar-SA" sz="14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“Learn your neighbour’s language and eat at their table once — you’ll never see them as a stranger again.”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أَعْطَيْتَ جِيلَكَ نَصِيحَةً وَاحِدَةً، فَمَا هِيَ؟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every Topic E skill in one card — comparison, an example, a concession, formal advice with the passive and law … la-.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CORE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Core questions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العَالَمُ الدُّوَلِيُّ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… وَأُسْرَتِي مِنْ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your nationality, and where is your family from?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جِنْسِيَّتُكَ؟ وَمِنْ أَيْنَ أُسْرَتُكَ؟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أَتَكَلَّمُهَا مَعَ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Who do you speak Arabic with?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مَعَ مَنْ تَتَكَلَّمُ العَرَبِيَّةَ؟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نُقَدِّمُ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do you offer guests?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تُقَدِّمُونَ لِلضُّيُوفِ؟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… ثُمَّ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do you celebrate Eid?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تَحْتَفِلُونَ بِالعِيدِ؟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أَنْ أَزُورَ … لِأَنَّ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Which country do you want to visit?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أَيُّ بَلَدٍ تُرِيدُ أَنْ تَزُورَ؟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Core: one full sentence for every question — each question comes from a different Topic E lesson. If you are stuck: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25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DEVELOP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Develop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ثَقَافَاتٌ وَلُغَاتٌ وَرِحْلَاتٌ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البَيْتِ … بَيْنَمَا فِي المَدْرَسَةِ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does your life at home differ from school?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تَخْتَلِفُ حَيَاتُكَ فِي البَيْتِ عَنْ حَيَاتِكَ فِي المَدْرَسَةِ؟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حَضَرْتُ … ؛ رَأَيْتُ … وَتَعَلَّمْتُ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 celebration you attended in another culture.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احْتِفَالًا حَضَرْتَهُ فِي ثَقَافَةٍ أُخْرَى.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سَافَرْتُ إِلَى … ؛ وَبِسَبَبِ … فَاكْتَشَفْتُ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Tell me about a trip abroad.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حَدِّثْنِي عَنْ رِحْلَةٍ إِلَى الخَارِجِ.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 … أَمَّا الآنَ فَأَرَاهَا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Has your view of your own culture changed?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تَغَيَّرَتْ نَظْرَتُكَ إِلَى ثَقَافَتِكَ؟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إِذَا دَرَسْتُ … فَسَأَسْتَخْدِمُ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will you use your languages in future?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سَتَسْتَخْدِمُ لُغَاتِكَ فِي المُسْتَقْبَلِ؟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Develop: two or three sentences — a comparison, a cause or result, and a past or future detail.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STRETCH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Stretch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الإِنْسَانُ بَيْنَ ثَقَافَتِهِ وَالعَالَمِ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Should faiths and cultures be taught in every school?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يَجِبُ أَنْ تُدَرَّسَ الأَدْيَانُ وَالثَّقَافَاتُ فِي كُلِّ المَدَارِسِ؟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 … وَمِنْ نَاحِيَةٍ أُخْرَى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Is travel the best teacher?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السَّفَرُ أَفْضَلُ مُعَلِّمٍ؟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إِنَّ … ؛ فَإِذَا … فَسَيَحْفَظُهَا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do immigrant families keep their language?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تُحَافِظُ الأُسَرُ المُهَاجِرَةُ عَلَى لُغَتِهَا؟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تَعَلَّمْتُ أَنَّ … لَيْسَ … بَلْ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has this topic taught you about yourself?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الَّذِي تَعَلَّمْتَهُ مِنْ هٰذَا المِحْوَرِ عَنْ نَفْسِكَ؟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لَوِ اسْتَطَعْتُ، لَجَعَلْتُ … لِكَيْ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you could change one thing in the world, what would it be?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اسْتَطَعْتَ أَنْ تُغَيِّرَ شَيْئًا وَاحِدًا فِي العَالَمِ، فَمَا هُوَ؟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a concession, a balanced view, inna + idhā … fa-sa-, laysa … bal and law … la-.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25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Core: what a strong answer sounds like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بَرِيطَانِيٌّ، وَأُسْرَتِي مِنَ العِرَاقِ.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British; my family is from Iraq.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جِنْسِيَّتُكَ؟ وَمِنْ أَيْنَ أُسْرَتُكَ؟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أَتَكَلَّمُهَا مَعَ جَدِّي وَجَدَّتِي.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With my grandparents.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مَعَ مَنْ تَتَكَلَّمُ العَرَبِيَّةَ؟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نُقَدِّمُ الشَّايَ وَالكَعْكَ.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Tea and biscuits.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تُقَدِّمُونَ لِلضُّيُوفِ؟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نُصَلِّي، ثُمَّ نَزُورُ الأَقَارِبَ.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pray, then visit relatives.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تَحْتَفِلُونَ بِالعِيدِ؟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أَنْ أَزُورَ إِسْبَانْيَا، لِأَنَّ فِيهَا آثَارًا عَرَبِيَّةً.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Spain — it has Arab monuments.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أَيُّ بَلَدٍ تُرِيدُ أَنْ تَزُورَ؟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Full sentence + accurate agreement = a secure Core answer on every theme.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25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Develop: what a strong answer sounds like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البَيْتِ نَتَكَلَّمُ العَرَبِيَّةَ وَنَأْكُلُ مَعًا، بَيْنَمَا فِي المَدْرَسَةِ أَتَكَلَّمُ الإِنْجْلِيزِيَّةَ وَأَعِيشُ ثَقَافَةً أُخْرَى، لٰكِنَّنِي أُحِبُّ العَالَمَيْنِ.</a:t>
            </a:r>
            <a:endParaRPr lang="ar-SA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Arabic and shared meals at home; English and another culture at school — I love both worlds.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تَخْتَلِفُ حَيَاتُكَ فِي البَيْتِ عَنْ حَيَاتِكَ فِي المَدْرَسَةِ؟</a:t>
            </a:r>
            <a:endParaRPr lang="ar-SA" sz="135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حَضَرْتُ عِيدَ المِيلَادِ عِنْدَ جِيرَانِي؛ رَأَيْتُ الشَّجَرَةَ المُزَيَّنَةَ، وَتَعَلَّمْتُ أَنَّهُمْ يَجْتَمِعُونَ كَعَائِلَةٍ مِثْلَنَا تَمَامًا.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Christmas at my neighbours’: a decorated tree — and they gather as a family just like us.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احْتِفَالًا حَضَرْتَهُ فِي ثَقَافَةٍ أُخْرَى.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سَافَرْتُ إِلَى تُونِسَ؛ وَبِسَبَبِ الحَرِّ كُنَّا نَخْرُجُ فِي المَسَاءِ، فَاكْتَشَفْتُ أَنَّ الأَسْوَاقَ أَجْمَلُ فِي اللَّيْلِ.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Tunisia: because of the heat we went out in the evenings, and I found the markets lovelier at night.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حَدِّثْنِي عَنْ رِحْلَةٍ إِلَى الخَارِجِ.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 أَرَاهَا قَدِيمَةً، أَمَّا الآنَ فَأَرَاهَا كَنْزًا، لِأَنَّ أَصْدِقَائِي يُحِبُّونَ طَعَامَنَا وَقِصَصَنَا.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saw it as old-fashioned; now as a treasure, because my friends love our food and stories.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تَغَيَّرَتْ نَظْرَتُكَ إِلَى ثَقَافَتِكَ؟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إِذَا دَرَسْتُ القَانُونَ الدُّوَلِيَّ، فَسَأَسْتَخْدِمُ لُغَاتِي لِمُسَاعَدَةِ اللَّاجِئِينَ فِي المَحَاكِمِ.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study international law, I’ll use my languages to help refugees in court.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سَتَسْتَخْدِمُ لُغَاتِكَ فِي المُسْتَقْبَلِ؟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Comparison + cause / result + two time frames = a strong Develop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21 / 25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المَنْهَجَ مُزْدَحِمٌ، غَيْرَ أَنَّ مَعْرِفَةَ الآخَرِ لَمْ تَعُدْ تَرَفًا؛ فَنَحْنُ نَعِيشُ وَنَعْمَلُ مَعَهُ كُلَّ يَوْمٍ.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curriculum is crowded, but knowing others is no longer a luxury — we live and work with them daily.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يَجِبُ أَنْ تُدَرَّسَ الأَدْيَانُ وَالثَّقَافَاتُ فِي كُلِّ المَدَارِسِ؟</a:t>
            </a:r>
            <a:endParaRPr lang="ar-SA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نَاحِيَةٍ، يُرِينَا السَّفَرُ مَا لَا تُرِيهِ الكُتُبُ، وَمِنْ نَاحِيَةٍ أُخْرَى، لَا يَتَعَلَّمُ إِلَّا مَنْ يُسَافِرُ بِعَقْلٍ مَفْتُوحٍ.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Travel shows what books can’t — yet only those who travel with an open mind learn.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السَّفَرُ أَفْضَلُ مُعَلِّمٍ؟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إِنَّ البَيْتَ هُوَ المَدْرَسَةُ الأُولَى؛ فَإِذَا تَكَلَّمَ الوَالِدَانِ لُغَتَهُمَا كُلَّ يَوْمٍ وَقَرَأَا القِصَصَ، فَسَيَحْفَظُهَا الأَطْفَالُ دُونَ جُهْدٍ كَبِيرٍ.</a:t>
            </a:r>
            <a:endParaRPr lang="ar-SA" sz="135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Home is the first school: if parents speak their language daily and read stories, children will keep it without great effort.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تُحَافِظُ الأُسَرُ المُهَاجِرَةُ عَلَى لُغَتِهَا؟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lam taʿud, lā … illā man, a dual verb (qaraʾā), laysat … bal and law … la- + li-kay — range is rewarded.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22 / 25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تَعَلَّمْتُ أَنَّ هُوِيَّتِي لَيْسَتْ شَيْئًا ثَابِتًا، بَلْ رِحْلَةٌ؛ فَكُلُّ لُغَةٍ أَتَعَلَّمُهَا وَكُلُّ صَدِيقٍ مِنْ ثَقَافَةٍ أُخْرَى يُضِيفُ إِلَيْهَا شَيْئًا جَمِيلًا.</a:t>
            </a:r>
            <a:endParaRPr lang="ar-SA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identity isn’t fixed but a journey: every language and every friend from another culture adds something beautiful.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الَّذِي تَعَلَّمْتَهُ مِنْ هٰذَا المِحْوَرِ عَنْ نَفْسِكَ؟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لَوِ اسْتَطَعْتُ، لَجَعَلْتُ كُلَّ طِفْلٍ يَتَعَلَّمُ لُغَتَيْنِ وَيَزُورُ بَلَدًا آخَرَ، لِكَيْ يَكْبُرَ جِيلٌ لَا يَخَافُ مِنَ المُخْتَلِفِ.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Every child would learn two languages and visit another country, so a generation grows up unafraid of difference.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اسْتَطَعْتَ أَنْ تُغَيِّرَ شَيْئًا وَاحِدًا فِي العَالَمِ، فَمَا هُوَ؟</a:t>
            </a:r>
            <a:endParaRPr lang="ar-SA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lam taʿud, lā … illā man, a dual verb (qaraʾā), laysat … bal and law … la- + li-kay — range is rewarded.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23 / 25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completed every role-play task, including the unexpected one.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answered in full sentences on at least three Topic E themes.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a nisba, a passive or a relative clause accurately.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linked ideas and used two time frames in one answer.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compared cultures with respect, with a concession and a conditional.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24 / 25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TE-L12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great speaking practice today!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 WORKSHOP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TE-L12 · Writing workshop · Form filling, directed writing and extended writing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in the role play answer EVERY task; in the conversation, develop every answer.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TE-L12 · Speaking Workshop — Topic E Mock Exam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2026-10-11T18:19:31Z</dcterms:created>
  <dcterms:modified xsi:type="dcterms:W3CDTF">2026-10-11T18:19:31Z</dcterms:modified>
</cp:coreProperties>
</file>