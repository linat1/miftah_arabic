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E, Lesson 11 (Topic E Integrated Communication Workshop, TE-L11).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The boxes recycle Topic E: nationality (L01), languages (L02), customs (L04), festivals (L06), travel (L08), global issues (L10). Box 2: two nisbas.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مَنْ شَارَكَ (who took part — PAST) · مَاذَا فَعَلْتَ (what did you do) · مَا رَأْيُكَ (your opinion) · خِطَطُكَ (your plans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(72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(87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(114 words). Core model: the whole Topic E journey — origins and languages (L01–L02), customs and festivals (L04, L06), travel (L08), comparing cultures (L09) and global ambitions (L10) — with four linkers and three tenses.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a ḥāl clause, a then-vs-now parallel (aḥmilu ×2), three relative clauses (one passive yuqaddamu), ghayra anna + kuntu + present, laysa … bal + a relative clause, li- of purpose and law … la- with a negative imperative — five Topic E lessons woven together.
ENGLISH SUMMARY (read aloud or paste in the chat for Core students): Arriving in Birmingham at ten I carried a small bag and three English words; today I carry three languages, two cultures and many questions about belonging and home → Algeria is still present at home: mint tea served to every visitor, Friday couscous, Eid prayer in the city park with thousands of Muslims from dozens of countries exchanging greetings in many languages → it wasn’t easy: I was ashamed of my dialect and hid my food, fearing questions; on an exchange in Morocco I realised difference isn’t a flaw but a window onto the world — and for the world onto us → so I aspire to work for an international organisation to build bridges between peoples and cultures; “if that frightened child at the airport saw me today, I’d tell him: don’t be afraid — your little bag will grow big enough for the whole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(136 words). Full-mark model for the Stretch title: an appositive hook (ʿālamayni: ʿālami … wa-ʿālamin …), hal yumkinu an … wa-nahtafiẓa, a balanced view with mimmā qad, al-wasāʾilu nafsuhā, a narrated example with fa-, jisran lā jidāran, a dual verb (lā tatanāqaḍāni) with bal tukmilu iḥdāhumā al-ukhrā and idhā … fa-sa-.
ENGLISH SUMMARY (read aloud or paste in the chat for Core students): Many young people in big cities live between two worlds: the family’s, with its language, festivals and customs, and a connected world without borders or sleep — can we be global citizens and keep our identity? → globalisation pushes us towards sameness — the same clothes, songs and series — which may weaken our languages and traditions; yet the same tools let us introduce our culture to the world and learn from others without leaving home → I lived this: when I posted a video on Eid customs in Algeria, thousands of young people watched it and many asked about my language and food — my identity became a bridge, not a wall, and my language a treasure worth sharing → identity and global citizenship don’t contradict but complete each other, as roots complete branches; “if we know our roots well, we will reach our branches out to the world without fear or shame”.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EXAM PRACTICE  ·  TE-L11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Integrated Communication Workshop</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وَرْشَةُ التَّوَاصُلِ المُتَكَامِلِ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Paper 4 practice mixing all of Topic E: fill in a profile form for an international youth forum, write an email about your school’s International Evening, and write a cohesive extended piece about your own cultural journey or about whether we can be global citizens and keep our identity.</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TE-L11 · Advanced Topic E · The International World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TE-L11</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the International Evening.</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200" dirty="0">
                <a:solidFill>
                  <a:srgbClr val="1F2A37"/>
                </a:solidFill>
                <a:latin typeface="Calibri" pitchFamily="34" charset="0"/>
                <a:cs typeface="Amiri" pitchFamily="2" charset="-78"/>
              </a:rPr>
              <a:t>Check cohesion and time across Topic E: at least four linkers (awwalan, bi-l-iḍāfati ilā dhālika, maʿa dhālika, li-dhālika); a past paragraph (wulidtu, kuntu + present, shāraktu), a present one (nuḥāfiẓu, nuqaddimu) and a future one (aṭmaḥu ilā an, idhā … fa-sa-); nisba and agreement (jazāʾiriyyīna); one register throughout.</a:t>
            </a:r>
            <a:endParaRPr lang="en-US" sz="12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كَانَتِ الأُمْسِيَةُ مُتْعِبَةً، وَمَعَ ذٰلِكَ أَحْبَبْتُهَا كَثِيرًا</a:t>
            </a:r>
            <a:endParaRPr lang="ar-SA" sz="22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evening was tiring; nevertheless I loved it</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كُنْتُ أَتَكَلَّمُ … أَمَّا الآنَ فَأَتَكَلَّمُ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used to speak … now I speak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إِذَا نَجَحْتُ فِي ذٰلِكَ، فَسَأُسَاعِدُ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if I succeed in that, I will help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International youth forum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اسْتِمَارَةُ المُلْتَقَى الدُّوَلِيِّ لِلشَّبَابِ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الجِنْسِيَّةُ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اللُّغَاتُ</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custom from your culture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عَادَةٌ مِنْ ثَقَافَتِكَ</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festival you love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عِيدٌ تُحِبُّهُ</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country you visited</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بَلَدٌ زُرْتَهُ</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global issue you care about</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قَضِيَّةٌ عَالَمِيَّةٌ تُهِمُّكَ</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living between two cultures taught you</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مَاذَا تَعَلَّمْتَ مِنَ العَيْشِ بَيْنَ ثَقَافَتَيْنِ؟</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moving from past to present (kuntu … ammā al-āna fa-).</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International youth forum profile: model answers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Yassine Belkacem</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يَاسِينُ بَلْقَاسِمَ</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Algerian and British</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جَزَائِرِيٌّ وَبَرِيطَانِيٌّ</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الجِنْسِيَّةُ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Arabic, French and English</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العَرَبِيَّةُ وَالفَرَنْسِيَّةُ وَالإِنْجْلِيزِيَّةُ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اللُّغَاتُ</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serving mint tea</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تَقْدِيمُ الشَّايِ بِالنَّعْنَاعِ</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عَادَةٌ مِنْ ثَقَافَتِكَ</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Eid al-Adha</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عِيدُ الأَضْحَى</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عِيدٌ تُحِبُّهُ</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Morocco</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المَغْرِبُ</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بَلَدٌ زُرْتَهُ</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education for refugees</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التَّعْلِيمُ لِلَّاجِئِينَ</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قَضِيَّةٌ عَالَمِيَّةٌ تُهِمُّكَ</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cs typeface="Amiri" pitchFamily="2" charset="-78"/>
              </a:rPr>
              <a:t>I used to be ashamed of being different; now I see it as a bridge between people.</a:t>
            </a:r>
            <a:endParaRPr lang="en-US" sz="9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cs typeface="Amiri" pitchFamily="2" charset="-78"/>
              </a:rPr>
              <a:t>كُنْتُ أَخْجَلُ مِنِ اخْتِلَافِي، أَمَّا الآنَ فَأَرَاهُ جِسْرًا بَيْنَ النَّاسِ.</a:t>
            </a:r>
            <a:endParaRPr lang="ar-SA" sz="15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مَاذَا تَعَلَّمْتَ مِنَ العَيْشِ بَيْنَ ثَقَافَتَيْنِ؟</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Question 2: our International Evening</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الأُمْسِيَةُ الدُّوَلِيَّةُ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an email in Arabic to a friend of about 80–90 words. You must include: • what the event was and who took part • what you did at your stall (food, customs) • something else that happened and your opinion • your plans for next year, and a question for your friend.</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three linking words.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present AND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أَمْسِ نَظَّمْنَا … فِي مَدْرَسَتِي</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we organised … at my school</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قَدَّمْنَا … وَشَرَحْنَا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served … and explained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 مُتْعِبَةً، وَمَعَ ذٰلِكَ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tiring; nevertheless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لِذٰلِكَ سَأُشَارِكُ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I will take part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your school’s International Evening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اكْتُبْ رِسَالَةً إِلَى صَدِيقِكَ عَنِ الأُمْسِيَةِ الدُّوَلِيَّةِ فِي مَدْرَسَتِكَ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the event was; who took part</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الحَدَثُ؟ وَمَنْ شَارَكَ فِيهِ؟</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at your stall</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فَعَلْتَ فِي جَنَاحِكَ؟</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else happened; your opinion</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حَدَثَ أَيْضًا؟ وَمَا رَأْيُكَ؟</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year’s plans;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خِطَطُكَ لِلسَّنَةِ القَادِمَةِ؟ وَاسْأَلْ صَدِيقَكَ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we organised …; there were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أَمْسِ نَظَّمْنَا ______ ، وَكَانَ هُنَاكَ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was at the … stall; we served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كُنْتُ فِي جَنَاحِ ______ ، وَقَدَّمْنَا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evening was …; nevertheless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كَانَتِ الأُمْسِيَةُ ______ ، وَمَعَ ذٰلِكَ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 I’ll take part … And you,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لِذٰلِكَ سَأُشَارِكُ ______ . وَأَنْتَ،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See you,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إِلَى اللِّقَاءِ،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مَرْحَبًا يَا أَيْمَنُ،</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كَيْفَ حَالُكَ؟ أَمْسِ نَظَّمْنَا "الأُمْسِيَةَ الدُّوَلِيَّةَ" فِي مَدْرَسَتِي، وَكَانَتْ رَائِعَةً! أَوَّلًا، كَانَ هُنَاكَ أَجْنِحَةٌ لِخَمْسَةَ عَشَرَ بَلَدًا. أَنَا كُنْتُ فِي جَنَاحِ الجَزَائِرِ مَعَ أُخْتِي. قَدَّمْنَا الكُسْكُسَ وَالشَّايَ بِالنَّعْنَاعِ، وَشَرَحْنَا عَادَاتِ الضِّيَافَةِ عِنْدَنَا. بِالإِضَافَةِ إِلَى ذٰلِكَ، رَقَصَ الطُّلَّابُ رَقَصَاتٍ شَعْبِيَّةً عَلَى المَسْرَحِ. الأُمْسِيَةُ كَانَتْ مُتْعِبَةً، وَمَعَ ذٰلِكَ أَحْبَبْتُهَا كَثِيرًا، لِأَنِّي تَعَلَّمْتُ عَنْ ثَقَافَاتٍ جَدِيدَةٍ. لِذٰلِكَ سَأُشَارِكُ فِي السَّنَةِ القَادِمَةِ أَيْضًا. وَأَنْتَ، هَلْ عِنْدَكُمْ أُمْسِيَةٌ مِثْلُهَا فِي مَدْرَسَتِكَ؟</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إِلَى اللِّقَاءِ،</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يَاسِينُ</a:t>
            </a:r>
            <a:endParaRPr lang="ar-SA" sz="17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Ayman, how are you? Yesterday we organised the ‘International Evening’ at my school, and it was amazing! Firstly, there were stalls for fifteen countries. I was at the Algeria stall with my sister. We served couscous and mint tea and explained our hospitality customs. In addition, students performed folk dances on stage. The evening was tiring; nevertheless I loved it, because I learnt about new cultures. So I’ll take part next year too. And you, do you have an evening like this at your school? See you, Yassine.”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أَوَّلًا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بِالإِضَافَةِ إِلَى ذٰلِكَ</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وَمَعَ 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لِذٰلِكَ سَأُشَارِكُ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عَزِيزِي أَيْمَنُ،</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مَا زِلْتُ أَشُمُّ رَائِحَةَ الكُسْكُسِ فِي مَلَابِسِي بَعْدَ "الأُمْسِيَةِ الدُّوَلِيَّةِ" الَّتِي نَظَّمْنَاهَا أَمْسِ، وَشَارَكَ فِيهَا طُلَّابٌ مِنْ خَمْسَةَ عَشَرَ بَلَدًا. كُنْتُ مَسْؤُولًا عَنْ جَنَاحِ الجَزَائِرِ، فَقَدَّمْتُ لِلزُّوَّارِ الشَّايَ بِالنَّعْنَاعِ كَمَا تُقَدِّمُهُ جَدَّتِي، وَشَرَحْتُ لَهُمْ لِمَاذَا لَا يَخْرُجُ الضَّيْفُ عِنْدَنَا قَبْلَ أَنْ يَأْكُلَ. وَأَكْثَرُ مَا أَدْهَشَنِي أَنَّ الجَنَاحَ اليَابَانِيَّ كَانَ يُشْبِهُ جَنَاحَنَا فِي احْتِرَامِ الكِبَارِ، مَعَ أَنَّ الثَّقَافَتَيْنِ بَعِيدَتَانِ جِدًّا. صَحِيحٌ أَنَّنِي وَقَفْتُ خَمْسَ سَاعَاتٍ، غَيْرَ أَنَّ ابْتِسَامَاتِ الزُّوَّارِ أَنْسَتْنِي التَّعَبَ. لِذٰلِكَ اقْتَرَحْتُ عَلَى المُدِيرِ أَنْ نَدْعُوَ مَدْرَسَتَكُمْ فِي العَامِ القَادِمِ. هَلْ تَقْبَلُ؟</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يَاسِينُ</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Ayman, I can still smell couscous on my clothes after the ‘International Evening’ we organised yesterday, with students from fifteen countries. I was in charge of the Algeria stall, serving visitors mint tea the way my grandmother does and explaining why a guest never leaves our home before eating. What amazed me most was that the Japanese stall resembled ours in respect for elders, although the two cultures are so far apart. I stood for five hours, but the visitors’ smiles made me forget the tiredness. So I suggested to the head that we invite your school next year. Will you accept? Best wishes, Yassine.”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مَا زِلْتُ أَشُمُّ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كَمَا تُقَدِّمُهُ جَدَّتِي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مَعَ أَنَّ … بَعِيدَتَانِ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أَنْسَتْنِي التَّعَبَ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 and the world: my cultural journey</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أَنَا وَالعَالَمُ: رِحْلَتِي الثَّقَافِيَّةُ</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origins and languages, then and now · your customs and festivals · a travel or exchange experience · what you learnt and your ambitions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أَصْلُكَ وَلُغَاتُكَ فِي المَاضِي وَالآنَ · عَادَاتُكَ وَأَعْيَادُكَ · تَجْرِبَةُ سَفَرٍ أَوْ تَبَادُلٍ · مَا تَعَلَّمْتَهُ وَطُمُوحَاتُكَ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Can we be global citizens and keep our identity?</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هَلْ يُمْكِنُ أَنْ نَكُونَ مُوَاطِنِينَ عَالَمِيِّينَ وَنَحْتَفِظَ بِهُوِيَّتِنَا؟</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the effect of globalisation on identity · an example from your experience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المَوْضُوعُ · تَأْثِيرُ العَوْلَمَةِ عَلَى الهُوِيَّةِ · مِثَالٌ مِنْ تَجْرِبَتِكَ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Origins — awwalan, wulidtu fī …; ʿindamā kuntu fī …, intaqalat usratī …; kuntu atakallamu … ammā al-āna fa-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Customs + festivals — fī al-bayti nuḥāfiẓu ʿalā …; mathalan, nuqaddimu …; fī al-ʿīdi nuṣallī …, thumma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Travel — bi-l-iḍāfati ilā dhālika …; shāraktu fī tabādulin …; kānat …, wa-maʿa dhālika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Lesson + ambition — taʿallamtu anna …; li-dhālika aṭmaḥu ilā an …; idhā najaḥtu fa-sa- …; Stretch: laysa … bal,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كُنْتُ أَتَكَلَّمُ العَرَبِيَّةَ فَقَطْ.</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only spoke Arabic.</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نُقَدِّمُ الشَّايَ بِالنَّعْنَاعِ لِكُلِّ ضَيْفٍ.</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we serve mint tea to every guest.</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إِذَا نَجَحْتُ، فَسَأُسَاعِدُ النَّاسَ.</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if I succeed, I’ll help people.</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550" dirty="0">
                <a:solidFill>
                  <a:srgbClr val="1F2A37"/>
                </a:solidFill>
                <a:latin typeface="Amiri" pitchFamily="2" charset="-78"/>
                <a:cs typeface="Amiri" pitchFamily="2" charset="-78"/>
              </a:rPr>
              <a:t>أَوَّلًا، اسْمِي يَاسِينُ، وَوُلِدْتُ فِي مَدِينَةِ قَسَنْطِينَةَ فِي الجَزَائِرِ. عِنْدَمَا كُنْتُ فِي العَاشِرَةِ، انْتَقَلَتْ أُسْرَتِي إِلَى بِرْمِنْغْهَامَ. فِي البِدَايَةِ كُنْتُ أَتَكَلَّمُ العَرَبِيَّةَ وَالفَرَنْسِيَّةَ فَقَطْ، أَمَّا الآنَ فَأَتَكَلَّمُ الإِنْجْلِيزِيَّةَ بِطَلَاقَةٍ.</a:t>
            </a:r>
            <a:endParaRPr lang="ar-SA" sz="1550" dirty="0"/>
          </a:p>
          <a:p>
            <a:pPr rtl="1" algn="r" indent="0" marL="0">
              <a:lnSpc>
                <a:spcPct val="120000"/>
              </a:lnSpc>
              <a:buNone/>
            </a:pPr>
            <a:r>
              <a:rPr lang="ar-SA" altLang="en-US" sz="1550" dirty="0">
                <a:solidFill>
                  <a:srgbClr val="1F2A37"/>
                </a:solidFill>
                <a:latin typeface="Amiri" pitchFamily="2" charset="-78"/>
                <a:cs typeface="Amiri" pitchFamily="2" charset="-78"/>
              </a:rPr>
              <a:t>فِي البَيْتِ نُحَافِظُ عَلَى عَادَاتِنَا. مَثَلًا، نُقَدِّمُ الشَّايَ بِالنَّعْنَاعِ لِكُلِّ ضَيْفٍ، وَنَأْكُلُ الكُسْكُسَ يَوْمَ الجُمُعَةِ. فِي العِيدِ نُصَلِّي فِي الحَدِيقَةِ، ثُمَّ نَزُورُ أَصْدِقَاءَنَا الجَزَائِرِيِّينَ وَجِيرَانَنَا الإِنْجْلِيزَ أَيْضًا.</a:t>
            </a:r>
            <a:endParaRPr lang="ar-SA" sz="1550" dirty="0"/>
          </a:p>
          <a:p>
            <a:pPr rtl="1" algn="r" indent="0" marL="0">
              <a:lnSpc>
                <a:spcPct val="120000"/>
              </a:lnSpc>
              <a:buNone/>
            </a:pPr>
            <a:r>
              <a:rPr lang="ar-SA" altLang="en-US" sz="1550" dirty="0">
                <a:solidFill>
                  <a:srgbClr val="1F2A37"/>
                </a:solidFill>
                <a:latin typeface="Amiri" pitchFamily="2" charset="-78"/>
                <a:cs typeface="Amiri" pitchFamily="2" charset="-78"/>
              </a:rPr>
              <a:t>بِالإِضَافَةِ إِلَى ذٰلِكَ، أُحِبُّ السَّفَرَ كَثِيرًا. فِي الصَّيْفِ المَاضِي شَارَكْتُ فِي تَبَادُلٍ ثَقَافِيٍّ فِي المَغْرِبِ، وَأَقَمْتُ عِنْدَ عَائِلَةٍ لَطِيفَةٍ ثَلَاثَةَ أَسَابِيعَ. كَانَتِ اللَّهْجَةُ صَعْبَةً، وَمَعَ ذٰلِكَ فَهِمْتُ النَّاسَ جَيِّدًا، وَصَارُوا أَصْدِقَائِي.</a:t>
            </a:r>
            <a:endParaRPr lang="ar-SA" sz="1550" dirty="0"/>
          </a:p>
          <a:p>
            <a:pPr rtl="1" algn="r" indent="0" marL="0">
              <a:lnSpc>
                <a:spcPct val="120000"/>
              </a:lnSpc>
              <a:buNone/>
            </a:pPr>
            <a:r>
              <a:rPr lang="ar-SA" altLang="en-US" sz="1550" dirty="0">
                <a:solidFill>
                  <a:srgbClr val="1F2A37"/>
                </a:solidFill>
                <a:latin typeface="Amiri" pitchFamily="2" charset="-78"/>
                <a:cs typeface="Amiri" pitchFamily="2" charset="-78"/>
              </a:rPr>
              <a:t>تَعَلَّمْتُ أَنَّ الثَّقَافَاتِ مُخْتَلِفَةٌ، لٰكِنْ لَيْسَتْ إِحْدَاهَا أَفْضَلَ مِنَ الأُخْرَى. لِذٰلِكَ أَطْمَحُ إِلَى أَنْ أَعْمَلَ فِي مُنَظَّمَةٍ دُوَلِيَّةٍ. إِذَا نَجَحْتُ فِي ذٰلِكَ، فَسَأُسَاعِدُ النَّاسَ عَلَى التَّفَاهُمِ وَالاحْتِرَامِ.</a:t>
            </a:r>
            <a:endParaRPr lang="ar-SA" sz="1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Born in Constantine, moved to Birmingham at ten; I spoke Arabic and French, now fluent English → at home we keep our customs: mint tea for guests, couscous on Fridays, Eid prayer in the park → I love travel: an exchange in Morocco with a kind family; the dialect was hard, yet I understood people → cultures differ but none is better; I aspire to work for an international organisation.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أَوَّلًا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بِالإِضَافَةِ إِلَى ذٰلِكَ</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وَمَعَ 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لِذٰلِكَ أَطْمَحُ</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حِينَ وَصَلْتُ إِلَى بِرْمِنْغْهَامَ وَأَنَا فِي العَاشِرَةِ، كُنْتُ أَحْمِلُ حَقِيبَةً صَغِيرَةً زَرْقَاءَ وَثَلَاثَ كَلِمَاتٍ إِنْجْلِيزِيَّةٍ فَقَطْ. أَمَّا اليَوْمَ، فَأَحْمِلُ ثَلَاثَ لُغَاتٍ وَثَقَافَتَيْنِ، وَأَسْئِلَةً كَثِيرَةً عَنْ مَعْنَى الانْتِمَاءِ وَالوَطَنِ.</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فَفِي بَيْتِنَا مَا زَالَتِ الجَزَائِرُ حَاضِرَةً: الشَّايُ بِالنَّعْنَاعِ الَّذِي يُقَدَّمُ لِكُلِّ زَائِرٍ، وَالكُسْكُسُ الَّذِي يَجْمَعُنَا كُلَّ جُمُعَةٍ، وَصَلَاةُ العِيدِ الَّتِي نُؤَدِّيهَا فِي حَدِيقَةِ المَدِينَةِ مَعَ آلَافِ المُسْلِمِينَ مِنْ عَشَرَاتِ البُلْدَانِ، يَتَبَادَلُونَ التَّهَانِيَ بِلُغَاتٍ مُخْتَلِفَةٍ.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غَيْرَ أَنَّ الرِّحْلَةَ لَمْ تَكُنْ سَهْلَةً؛ فَقَدْ كُنْتُ أَخْجَلُ مِنْ لَهْجَتِي، وَأُخْفِي طَعَامِي عَنْ زُمَلَائِي خَوْفًا مِنْ أَسْئِلَتِهِمْ. وَحِينَ شَارَكْتُ فِي تَبَادُلٍ ثَقَافِيٍّ فِي المَغْرِبِ، أَدْرَكْتُ أَنَّ الاخْتِلَافَ لَيْسَ عَيْبًا، بَلْ نَافِذَةٌ نَرَى مِنْهَا العَالَمَ بِعُيُونٍ جَدِيدَةٍ، وَيَرَانَا مِنْهَا الآخَرُونَ أَيْضًا.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لِذٰلِكَ أَطْمَحُ إِلَى أَنْ أَعْمَلَ فِي مُنَظَّمَةٍ دُوَلِيَّةٍ، لِأَبْنِيَ جُسُورًا بَيْنَ الشُّعُوبِ وَالثَّقَافَاتِ. وَلَوْ رَآنِي ذٰلِكَ الطِّفْلُ الخَائِفُ فِي المَطَارِ اليَوْمَ، لَقُلْتُ لَهُ: "لَا تَخَفْ؛ فَحَقِيبَتُكَ الصَّغِيرَةُ سَتَتَّسِعُ لِلْعَالَمِ كُلِّهِ".</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وَأَنَا فِي العَاشِرَةِ</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الَّذِي يُقَدَّمُ</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لَيْسَ عَيْبًا، بَلْ نَافِذَةٌ</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رَآنِي … لَقُلْتُ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Q3 (</a:t>
            </a:r>
            <a:pPr algn="l" indent="0" marL="0">
              <a:buNone/>
            </a:pPr>
            <a:r>
              <a:rPr lang="ar-SA" altLang="en-US" sz="2950" b="1" dirty="0">
                <a:solidFill>
                  <a:srgbClr val="1B3B6F"/>
                </a:solidFill>
                <a:latin typeface="Amiri" pitchFamily="2" charset="-78"/>
                <a:cs typeface="Amiri" pitchFamily="2" charset="-78"/>
              </a:rPr>
              <a:t>ب</a:t>
            </a:r>
            <a:pPr algn="l" indent="0" marL="0">
              <a:buNone/>
            </a:pPr>
            <a:r>
              <a:rPr lang="en-US" sz="2250" b="1" dirty="0">
                <a:solidFill>
                  <a:srgbClr val="1B3B6F"/>
                </a:solidFill>
                <a:latin typeface="Cambria" pitchFamily="34" charset="0"/>
                <a:cs typeface="Amiri" pitchFamily="2" charset="-78"/>
              </a:rPr>
              <a:t>) full-mark model: global and rooted?</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يَعِيشُ كَثِيرٌ مِنَ الشَّبَابِ فِي المُدُنِ الكَبِيرَةِ اليَوْمَ بَيْنَ عَالَمَيْنِ: عَالَمِ الأُسْرَةِ بِلُغَتِهَا وَأَعْيَادِهَا وَعَادَاتِهَا، وَعَالَمٍ مُتَّصِلٍ لَا يَعْرِفُ الحُدُودَ وَلَا يَنَامُ. فَهَلْ يُمْكِنُ أَنْ نَكُونَ مُوَاطِنِينَ عَالَمِيِّينَ وَنَحْتَفِظَ بِهُوِيَّتِنَا فِي الوَقْتِ نَفْسِهِ؟</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مِنْ نَاحِيَةٍ، تَدْفَعُنَا العَوْلَمَةُ نَحْوَ التَّشَابُهِ؛ فَنَلْبَسُ المَلَابِسَ نَفْسَهَا، وَنَسْمَعُ الأَغَانِيَ نَفْسَهَا، وَنُشَاهِدُ المُسَلْسَلَاتِ نَفْسَهَا، مِمَّا قَدْ يُضْعِفُ لُغَاتِنَا وَتَقَالِيدَنَا. وَمِنْ نَاحِيَةٍ أُخْرَى، تُتِيحُ لَنَا الوَسَائِلُ نَفْسُهَا أَنْ نُعَرِّفَ العَالَمَ بِثَقَافَتِنَا، وَأَنْ نَتَعَلَّمَ مِنْ ثَقَافَاتٍ أُخْرَى دُونَ أَنْ نُغَادِرَ بُيُوتَنَا.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وَقَدْ عِشْتُ ذٰلِكَ بِنَفْسِي؛ فَحِينَ نَشَرْتُ فِيدْيُو عَنْ عَادَاتِ العِيدِ فِي الجَزَائِرِ، شَاهَدَهُ آلَافُ الشَّبَابِ مِنْ بُلْدَانٍ مُخْتَلِفَةٍ، وَسَأَلَنِي كَثِيرُونَ عَنْ لُغَتِي وَطَعَامِنَا، فَشَعَرْتُ بِأَنَّ هُوِيَّتِي صَارَتْ جِسْرًا لَا جِدَارًا، وَأَنَّ لُغَتِي كَنْزٌ يَسْتَحِقُّ المُشَارَكَةَ.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لِذٰلِكَ أَرَى أَنَّ الهُوِيَّةَ وَالمُوَاطَنَةَ العَالَمِيَّةَ لَا تَتَنَاقَضَانِ، بَلْ تُكْمِلُ إِحْدَاهُمَا الأُخْرَى، كَمَا تُكْمِلُ الجُذُورُ الأَغْصَانَ. فَإِذَا عَرَفْنَا جُذُورَنَا جَيِّدًا، فَسَنَمُدُّ أَغْصَانَنَا إِلَى العَالَمِ دُونَ خَوْفٍ أَوْ خَجَلٍ.</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بَيْنَ عَالَمَيْنِ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مِمَّا قَدْ يُضْعِفُ</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جِسْرًا لَا جِدَارًا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لَا تَتَنَاقَضَانِ، بَلْ</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across all of Topic 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three linking words and past, present and future.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from roots to customs to travel to the future.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or more linkers,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TE-L12 · Exam practice · Speaking and writing workshops — the next Topic E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TE-L11 · Writing Workshop — Integrated Communication Workshop</dc:title>
  <dc:subject>PptxGenJS Presentation</dc:subject>
  <dc:creator>Al Madina Online School · Arabic Department</dc:creator>
  <cp:lastModifiedBy>Al Madina Online School · Arabic Department</cp:lastModifiedBy>
  <cp:revision>1</cp:revision>
  <dcterms:created xsi:type="dcterms:W3CDTF">2026-10-11T18:15:03Z</dcterms:created>
  <dcterms:modified xsi:type="dcterms:W3CDTF">2026-10-11T18:15:03Z</dcterms:modified>
</cp:coreProperties>
</file>