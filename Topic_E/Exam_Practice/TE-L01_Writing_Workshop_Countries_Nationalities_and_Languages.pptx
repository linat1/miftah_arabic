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E, Lesson 1 (Countries, Nationalities and Languages, TE-L01).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1 — FORM FILLING. About 8 minutes. Core: boxes 1–6. Develop / Stretch: all 8. A girl writes بَرِيطَانِيَّةٌ in box 2. Box 4 takes the country (al-maghrib), not the nisba — a common slip.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أَيْنَ وُلِدْتَ (where were you born — PAST) · مَا جِنْسِيَّتُكَ (nationality — nisba) · مَعَ مَنْ (with whom) · سَتَتَعَلَّمُهَا (you will learn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(67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(86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(120 words). Core model: nisba with m. and f. (maghribiyy / maghribiyya), min aṣlin, yaqaʿu fī shamāli + qurba, maʿa + family, li-annahā, kuntu + present and sa- — four paragraphs, four time markers.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(135 words). Full-mark model: a hook with direct speech, ghayra anna, a relative clause without allatī (baladun taltaqī fīhi), four nisbas in agreement with al-thaqāfāt, laʿalla, maʿa annanī … fa-innanī, li-kay and law … la-qultu with a circular ending.
ENGLISH SUMMARY (read aloud or paste in the chat for Core students): People sometimes ask “Where are you from?” and I smile, because my answer isn’t one word: I was born in Birmingham and hold British nationality, but my roots reach a small village in Morocco’s Atlas Mountains; dad is Amazigh Moroccan, mum Arab Moroccan, and I’m a lovely mix → Morocco lies in Africa’s far north-west, between the Mediterranean and the Atlantic, where Arab, Amazigh, African and European cultures meet; its capital is Rabat, its largest city Casablanca → perhaps the finest thing I inherited is languages: I think in English, pray and talk with grandma in Arabic, learn French at school; though I was shy of my Moroccan dialect as a child, I’m proud of it today and use it whenever I visit relatives → I aspire to learn Spanish to work as an interpreter across the Mediterranean; “asked today, I’d say: from Birmingham and the Atlas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(135 words). Full-mark model for the Stretch title: a hal … am question, a balanced view with kamā anna, a narrated turning point (ilā an … ʿindaʾidhin), yajibu allā, bi-l-ḥubbi lā bi-l-ijbār and idhā … fa-sa-.
ENGLISH SUMMARY (read aloud or paste in the chat for Core students): In the world’s big cities millions of children grow up in homes speaking one language and schools speaking another — should they keep their parents’ language, or is it enough to master the local one? → it connects children to grandparents, faith and history, and two languages from early on strengthen memory and focus and open more job opportunities; yet some children feel great pressure, studying all week then attending extra Saturday classes → I lived this: I hated weekend Arabic lessons until I visited Morocco and spoke with my grandfather without an interpreter for the first time, and he wept with joy and hugged me — then I understood those hours’ value → the parents’ language is a treasure we mustn’t lose, but families should teach it with love, not force; “if it is tied to stories, trips and games, children will love it and keep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EXAM PRACTICE  ·  TE-L01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Countries, Nationalities and Languages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البُلْدَانُ وَالجِنْسِيَّاتُ وَاللُّغَاتُ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an international exchange registration form, write an email introducing yourself to a new penfriend (origins, location, languages), and write an extended piece about your country and languages or about keeping your parents’ language.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TE-L01 · Advanced Topic E · The International World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TE-L01</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to a new penfriend.</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Check every nisba: m. </a:t>
            </a:r>
            <a:pPr algn="l" indent="0" marL="0">
              <a:buNone/>
            </a:pPr>
            <a:r>
              <a:rPr lang="ar-SA" altLang="en-US" sz="1650" dirty="0">
                <a:solidFill>
                  <a:srgbClr val="1F2A37"/>
                </a:solidFill>
                <a:latin typeface="Amiri" pitchFamily="2" charset="-78"/>
                <a:ea typeface="Amiri" pitchFamily="2" charset="-78"/>
                <a:cs typeface="Amiri" pitchFamily="2" charset="-78"/>
              </a:rPr>
              <a:t>ـِيٌّ</a:t>
            </a:r>
            <a:pPr algn="l" indent="0" marL="0">
              <a:buNone/>
            </a:pPr>
            <a:r>
              <a:rPr lang="en-US" sz="1250" dirty="0">
                <a:solidFill>
                  <a:srgbClr val="1F2A37"/>
                </a:solidFill>
                <a:latin typeface="Calibri" pitchFamily="34" charset="0"/>
                <a:cs typeface="Amiri" pitchFamily="2" charset="-78"/>
              </a:rPr>
              <a:t> (bārīṭāniyy), f. </a:t>
            </a:r>
            <a:pPr algn="l" indent="0" marL="0">
              <a:buNone/>
            </a:pPr>
            <a:r>
              <a:rPr lang="ar-SA" altLang="en-US" sz="1650" dirty="0">
                <a:solidFill>
                  <a:srgbClr val="1F2A37"/>
                </a:solidFill>
                <a:latin typeface="Amiri" pitchFamily="2" charset="-78"/>
                <a:ea typeface="Amiri" pitchFamily="2" charset="-78"/>
                <a:cs typeface="Amiri" pitchFamily="2" charset="-78"/>
              </a:rPr>
              <a:t>ـِيَّةٌ</a:t>
            </a:r>
            <a:pPr algn="l" indent="0" marL="0">
              <a:buNone/>
            </a:pPr>
            <a:r>
              <a:rPr lang="en-US" sz="1250" dirty="0">
                <a:solidFill>
                  <a:srgbClr val="1F2A37"/>
                </a:solidFill>
                <a:latin typeface="Calibri" pitchFamily="34" charset="0"/>
                <a:cs typeface="Amiri" pitchFamily="2" charset="-78"/>
              </a:rPr>
              <a:t> (ummī maghribiyya), pl. </a:t>
            </a:r>
            <a:pPr algn="l" indent="0" marL="0">
              <a:buNone/>
            </a:pPr>
            <a:r>
              <a:rPr lang="ar-SA" altLang="en-US" sz="1650" dirty="0">
                <a:solidFill>
                  <a:srgbClr val="1F2A37"/>
                </a:solidFill>
                <a:latin typeface="Amiri" pitchFamily="2" charset="-78"/>
                <a:ea typeface="Amiri" pitchFamily="2" charset="-78"/>
                <a:cs typeface="Amiri" pitchFamily="2" charset="-78"/>
              </a:rPr>
              <a:t>ـِيُّونَ</a:t>
            </a:r>
            <a:pPr algn="l" indent="0" marL="0">
              <a:buNone/>
            </a:pPr>
            <a:r>
              <a:rPr lang="en-US" sz="1250" dirty="0">
                <a:solidFill>
                  <a:srgbClr val="1F2A37"/>
                </a:solidFill>
                <a:latin typeface="Calibri" pitchFamily="34" charset="0"/>
                <a:cs typeface="Amiri" pitchFamily="2" charset="-78"/>
              </a:rPr>
              <a:t>; yaqaʿu for a masculine country, taqaʿu for a feminine one (Miṣr, Sūriyā, cities); languages take the feminine (al-ʿarabiyya al-jamīla); prepositions of place: fī shamāli, bayna … wa-, qurba.</a:t>
            </a:r>
            <a:endParaRPr lang="en-US" sz="125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أَنَا بَرِيطَانِيٌّ، لٰكِنَّ أَصْلَ أُسْرَتِي مِنَ المَغْرِبِ</a:t>
            </a:r>
            <a:endParaRPr lang="ar-SA" sz="255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am British, but my family is originally from Morocco</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يَقَعُ المَغْرِبُ فِي شَمَالِ إِفْرِيقْيَا، قُرْبَ إِسْبَانْيَا</a:t>
            </a:r>
            <a:endParaRPr lang="ar-SA" sz="235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Morocco is in North Africa, near Spain</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أَتَكَلَّمُ العَرَبِيَّةَ مَعَ جَدَّتِي، لِأَنَّهَا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speak Arabic with my grandmother, because she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International exchange registration form</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050" b="1" dirty="0">
                <a:solidFill>
                  <a:srgbClr val="8A6D1E"/>
                </a:solidFill>
                <a:latin typeface="Amiri" pitchFamily="2" charset="-78"/>
                <a:ea typeface="Amiri" pitchFamily="2" charset="-78"/>
                <a:cs typeface="Amiri" pitchFamily="2" charset="-78"/>
              </a:rPr>
              <a:t>اسْتِمَارَةُ التَّسْجِيلِ فِي بَرْنَامَجِ التَّبَادُلِ الدُّوَلِيِّ</a:t>
            </a:r>
            <a:endParaRPr lang="ar-SA" sz="20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الجِنْسِيَّةُ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Place of birth</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مَكَانُ الوِلَادَةِ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origin</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أَصْلُ الأُسْرَةِ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Mother tongue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اللُّغَةُ الأُمُّ</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Other languages</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لُغَاتٌ أُخْرَى</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Country you want to go to</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البَلَدُ المَطْلُوبُ</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this country</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هٰذَا البَلَدُ؟</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a nisba for nationality (barīṭāniyy / barīṭāniyya); the last box is a full sentence with a reason.</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International exchange registration form: model answers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Omar Ben Ali</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عُمَرُ بِنْ عَلِيٍّ</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British</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بَرِيطَانِيٌّ</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الجِنْسِيَّةُ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Birmingham</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بِرْمِنْغْهَامُ</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مَكَانُ الوِلَادَةِ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Morocco</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المَغْرِبُ</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أَصْلُ الأُسْرَةِ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English</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الإِنْجْلِيزِيَّةُ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اللُّغَةُ الأُمُّ</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Arabic and French</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العَرَبِيَّةُ وَالفَرَنْسِيَّةُ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لُغَاتٌ أُخْرَى</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Jordan</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الأُرْدُنُّ</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البَلَدُ المَطْلُوبُ</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950" dirty="0">
                <a:solidFill>
                  <a:srgbClr val="5A6472"/>
                </a:solidFill>
                <a:latin typeface="Calibri" pitchFamily="34" charset="0"/>
                <a:cs typeface="Amiri" pitchFamily="2" charset="-78"/>
              </a:rPr>
              <a:t>I want to improve my Arabic, because people there speak it every day.</a:t>
            </a:r>
            <a:endParaRPr lang="en-US" sz="95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أُرِيدُ أَنْ أُحَسِّنَ لُغَتِيَ العَرَبِيَّةَ، لِأَنَّ النَّاسَ هُنَاكَ يَتَكَلَّمُونَهَا كُلَّ يَوْمٍ.</a:t>
            </a:r>
            <a:endParaRPr lang="ar-SA" sz="13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هٰذَا البَلَدُ؟</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Question 2: introducing myself to a penfriend</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إِلَى صَدِيقٍ 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email in Arabic to a new penfriend of about 80–90 words. You must include: • where you were born and your nationality • where your family’s country is and its capital • the languages you speak and with whom • your favourite language and a language you will learn, and a question for your friend.</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Correct nisba endings.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Present AND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وُلِدْتُ فِي … لٰكِنَّ أَصْلَ أُسْرَتِي مِنْ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was born in … but my family is from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يَقَعُ … فِي … وَعَاصِمَتُهُ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in …, and its capital is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أَتَكَلَّمُ … مَعَ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speak … with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المُسْتَقْبَلِ سَأَتَعَلَّمُ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future I will learn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new penfriend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اكْتُبْ رِسَالَةً إِلَى صَدِيقِكَ الجَدِيدِ بِالمُرَاسَلَةِ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were born; your nationality</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وُلِدْتَ؟ وَمَا جِنْسِيَّتُكَ؟</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your family’s country is; its capital</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يَقَعُ بَلَدُ أُسْرَتِكَ؟ وَمَا عَاصِمَتُهُ؟</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languages you speak, and with whom</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اللُّغَاتُ الَّتِي تَتَكَلَّمُهَا؟ وَمَعَ مَنْ؟</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Favourite language; one you will learn;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لُغَتُكَ المُفَضَّلَةُ؟ وَمَا اللُّغَةُ الَّتِي سَتَتَعَلَّمُهَا؟ وَاسْأَلْ صَدِيقَكَ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my name is …</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اسْمِي ______ .</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was born in …, and I am (nisba).</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وُلِدْتُ فِي ______ ، وَأَنَا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is in …; its capital is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يَقَعُ ______ فِي ______ ، وَعَاصِمَتُهُ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speak … with …, and … with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أَتَكَلَّمُ ______ مَعَ ______ ، وَ______ مَعَ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favourite language is … I’ll learn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لُغَتِيَ المُفَضَّلَةُ ______ . وَسَأَتَعَلَّمُ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 Goodbye.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وَأَنْتَ، ______ ؟ مَعَ السَّلَامَةِ.</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مَرْحَبًا يَا كَرِيمُ،</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اسْمِي عُمَرُ، وَعُمْرِي خَمْسَ عَشْرَةَ سَنَةً. وُلِدْتُ فِي مَدِينَةِ بِرْمِنْغْهَامَ فِي بَرِيطَانْيَا، لٰكِنَّ أَصْلَ أُسْرَتِي مِنَ المَغْرِبِ. أَنَا بَرِيطَانِيٌّ وَمَغْرِبِيٌّ أَيْضًا! يَقَعُ المَغْرِبُ فِي شَمَالِ إِفْرِيقْيَا، وَعَاصِمَتُهُ الرِّبَاطُ. أَتَكَلَّمُ ثَلَاثَ لُغَاتٍ: الإِنْجْلِيزِيَّةَ وَالعَرَبِيَّةَ وَالفَرَنْسِيَّةَ قَلِيلًا. فِي البَيْتِ أَتَكَلَّمُ العَرَبِيَّةَ مَعَ جَدَّتِي، وَفِي المَدْرَسَةِ أَتَكَلَّمُ الإِنْجْلِيزِيَّةَ. لُغَتِيَ المُفَضَّلَةُ العَرَبِيَّةُ، لِأَنَّهَا لُغَةُ القُرْآنِ وَلُغَةُ عَائِلَتِي. فِي المُسْتَقْبَلِ سَأَتَعَلَّمُ الإِسْبَانِيَّةَ. وَأَنْتَ، كَمْ لُغَةً تَتَكَلَّمُ؟</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مَعَ السَّلَامَةِ،</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عُمَرُ</a:t>
            </a:r>
            <a:endParaRPr lang="ar-SA" sz="18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Karim, my name is Omar and I’m fifteen. I was born in Birmingham in Britain, but my family is originally from Morocco. I’m British and Moroccan too! Morocco is in North Africa, and its capital is Rabat. I speak three languages: English, Arabic and a little French. At home I speak Arabic with my grandmother, and at school English. My favourite language is Arabic, because it’s the language of the Qur’an and of my family. In future I’ll learn Spanish. And you, how many languages do you speak? Goodbye, Omar.”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لٰكِنَّ أَصْلَ أُسْرَتِي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بَرِيطَانِيٌّ وَمَغْرِبِيٌّ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يَقَعُ المَغْرِبُ فِي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مَعَ جَدَّتِي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عَزِيزِي كَرِيمُ،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يَسُرُّنِي أَنْ أَكُونَ صَدِيقَكَ بِالمُرَاسَلَةِ! اسْمِي عُمَرُ، وُلِدْتُ وَنَشَأْتُ فِي بِرْمِنْغْهَامَ، غَيْرَ أَنَّ جُذُورَ أُسْرَتِي مَغْرِبِيَّةٌ؛ فَأَنَا أَحْمِلُ الجِنْسِيَّتَيْنِ البَرِيطَانِيَّةَ وَالمَغْرِبِيَّةَ. يَقَعُ المَغْرِبُ فِي أَقْصَى شَمَالِ غَرْبِ إِفْرِيقْيَا، وَلَا يَفْصِلُهُ عَنْ إِسْبَانْيَا إِلَّا مَضِيقٌ صَغِيرٌ. أَمَّا اللُّغَاتُ، فَأَتَكَلَّمُ الإِنْجْلِيزِيَّةَ بِطَلَاقَةٍ، وَالعَرَبِيَّةَ مَعَ جَدَّتِي الَّتِي تَسْكُنُ مَعَنَا، وَأَفْهَمُ الأَمَازِيغِيَّةَ قَلِيلًا، وَهِيَ لُغَةُ جَدِّي الأَصْلِيَّةُ. أُحِبُّ العَرَبِيَّةَ أَكْثَرَ مِنْ غَيْرِهَا، لِأَنَّهَا تَرْبِطُنِي بِدِينِي وَبِأَهْلِي. وَإِذَا سَنَحَتْ لِيَ الفُرْصَةُ، فَسَأَتَعَلَّمُ الإِسْبَانِيَّةَ، لِأَنَّ جِيرَانَنَا فِي الشَّمَالِ يَتَكَلَّمُونَهَا. وَأَنْتَ، مَا اللُّغَاتُ الَّتِي تَتَكَلَّمُهَا فِي بَيْتِكَ؟</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أَطْيَبِ التَّحِيَّاتِ،</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عُمَرُ</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Karim, I’m delighted to be your penfriend! I’m Omar; I was born and raised in Birmingham, but my family’s roots are Moroccan, so I hold both British and Moroccan nationality. Morocco lies in the far north-west of Africa, separated from Spain only by a narrow strait. As for languages, I speak English fluently, Arabic with my grandmother who lives with us, and understand a little Amazigh, my grandfather’s original language. I love Arabic most, because it connects me to my faith and family. And if I get the chance, I’ll learn Spanish, because our northern neighbours speak it. And you — what languages do you speak at home? Best wishes, Omar.”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غَيْرَ أَنَّ جُذُورَ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الجِنْسِيَّتَيْنِ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لَا يَفْصِلُهُ … إِلَّا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سَنَحَتْ … فَسَأَتَعَلَّمُ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country and my languages</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بَلَدِي وَلُغَاتِي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were born and your nationality · your family’s country: location and capital · the languages you speak and when · a language you want to learn and why</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أَيْنَ وُلِدْتَ وَمَا جِنْسِيَّتُكَ · بَلَدُ أُسْرَتِكَ: المَوْقِعُ وَالعَاصِمَةُ · اللُّغَاتُ الَّتِي تَتَكَلَّمُهَا وَمَتَى · لُغَةٌ تُرِيدُ أَنْ تَتَعَلَّمَهَا وَلِمَاذَا</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it important to speak our parents’ language?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مِنَ المُهِمِّ أَنْ نَتَكَلَّمَ لُغَةَ آبَائِنَا؟</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benefits and difficulties · an example from your experience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المَوْضُوعُ · الفَوَائِدُ وَالصُّعُوبَاتُ · مِثَالٌ مِنْ تَجْرِبَتِكَ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Me — ismī …; anā barīṭāniyy min aṣlin …; wulidtu fī …; abī … wa-ummī … (nisba m. / f.)</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country — yaqaʿu … fī shamāli …, qurba …; ʿāṣimatuhu …; fīhi jibālun ʿāliya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Languages — atakallamu … maʿa … wa-… maʿa …; li-annahā …; ʿindamā kuntu ṣaghīran kuntu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Future — urīdu an ataʿallama … li-annahā …; li-dhālika sa- …; Stretch: maʿa anna … fa-inna,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وُلِدْتُ فِي بِرْمِنْغْهَامَ، وَأَنَا بَرِيطَانِيٌّ.</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 nisba: born in Birmingham; British.</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أَتَكَلَّمُ العَرَبِيَّةَ مَعَ جَدَّتِي.</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speak Arabic with my grandma.</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سَأَتَعَلَّمُ الإِسْبَانِيَّةَ فِي الجَامِعَةِ.</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I’ll learn Spanish at university.</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اسْمِي عُمَرُ، وَأَنَا بَرِيطَانِيٌّ مِنْ أَصْلٍ مَغْرِبِيٍّ. وُلِدْتُ فِي مَدِينَةِ بِرْمِنْغْهَامَ فِي وَسَطِ إِنْجِلْتِرَا، وَأَسْكُنُ فِيهَا مَعَ أُسْرَتِي. أَبِي مَغْرِبِيٌّ، وَأُمِّي مَغْرِبِيَّةٌ، وَجَدَّتِي تَسْكُنُ مَعَنَا.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يَقَعُ المَغْرِبُ فِي شَمَالِ إِفْرِيقْيَا، قُرْبَ إِسْبَانْيَا. عَاصِمَتُهُ الرِّبَاطُ، وَأَكْبَرُ مَدِينَةٍ فِيهِ الدَّارُ البَيْضَاءُ. فِيهِ جِبَالٌ عَالِيَةٌ وَشَوَاطِئُ جَمِيلَةٌ. نُسَافِرُ إِلَى هُنَاكَ كُلَّ صَيْفٍ لِنَزُورَ أَقَارِبَنَا فِي مَدِينَةِ فَاسَ، وَهِيَ مَدِينَةٌ قَدِيمَةٌ جِدًّا.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أَتَكَلَّمُ ثَلَاثَ لُغَاتٍ. فِي المَدْرَسَةِ أَتَكَلَّمُ الإِنْجْلِيزِيَّةَ مَعَ أَصْدِقَائِي، وَفِي البَيْتِ أَتَكَلَّمُ العَرَبِيَّةَ مَعَ جَدَّتِي، لِأَنَّهَا لَا تَتَكَلَّمُ الإِنْجْلِيزِيَّةَ. أَدْرُسُ الفَرَنْسِيَّةَ أَيْضًا، وَهِيَ لُغَةٌ مُفِيدَةٌ فِي المَغْرِبِ وَفِي فَرَنْسَا. عِنْدَمَا كُنْتُ صَغِيرًا، كُنْتُ أَتَكَلَّمُ العَرَبِيَّةَ قَلِيلًا فَقَطْ، أَمَّا الآنَ فَأَتَكَلَّمُهَا جَيِّدًا.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المُسْتَقْبَلِ أُرِيدُ أَنْ أَتَعَلَّمَ الإِسْبَانِيَّةَ، لِأَنَّهَا لُغَةٌ عَالَمِيَّةٌ، وَلِأَنَّ إِسْبَانْيَا قَرِيبَةٌ مِنَ المَغْرِبِ. لِذٰلِكَ سَأَدْرُسُهَا فِي الجَامِعَةِ إِنْ شَاءَ اللّٰهُ.</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I’m Omar, British of Moroccan origin, born in Birmingham; dad and mum are Moroccan → Morocco is in North Africa near Spain; capital Rabat, biggest city Casablanca; we visit every summer → three languages: English with friends, Arabic with grandma, French at school; as a child I spoke little Arabic → in future I want to learn Spanish, a world language, at university.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مِنْ أَصْلٍ مَغْرِبِيٍّ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أَبِي مَغْرِبِيٌّ، وَأُمِّي مَغْرِبِيَّةٌ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يَقَعُ المَغْرِبُ فِي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كُنْتُ أَتَكَلَّمُ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يَسْأَلُنِي النَّاسُ أَحْيَانًا: "مِنْ أَيْنَ أَنْتَ؟"، فَأَبْتَسِمُ، لِأَنَّ الجَوَابَ عِنْدِي لَيْسَ كَلِمَةً وَاحِدَةً. فَأَنَا وُلِدْتُ فِي بِرْمِنْغْهَامَ، وَأَحْمِلُ الجِنْسِيَّةَ البَرِيطَانِيَّةَ، غَيْرَ أَنَّ جُذُورِي تَمْتَدُّ إِلَى قَرْيَةٍ صَغِيرَةٍ فِي جِبَالِ الأَطْلَسِ المَغْرِبِيَّةِ. فَأَبِي مَغْرِبِيٌّ أَمَازِيغِيٌّ، وَأُمِّي مَغْرِبِيَّةٌ عَرَبِيَّةٌ، وَأَنَا خَلِيطٌ جَمِيلٌ مِنْهُمَا.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يَقَعُ المَغْرِبُ فِي أَقْصَى شَمَالِ غَرْبِ إِفْرِيقْيَا، بَيْنَ البَحْرِ الأَبْيَضِ المُتَوَسِّطِ وَالمُحِيطِ الأَطْلَسِيِّ، وَهُوَ بَلَدٌ تَلْتَقِي فِيهِ الثَّقَافَاتُ العَرَبِيَّةُ وَالأَمَازِيغِيَّةُ وَالإِفْرِيقِيَّةُ وَالأُورُوبِّيَّةُ. وَعَاصِمَتُهُ الرِّبَاطُ، أَمَّا أَكْبَرُ مُدُنِهِ فَالدَّارُ البَيْضَاءُ.</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وَلَعَلَّ أَجْمَلَ مَا وَرِثْتُهُ مِنْ هٰذَا التَّنَوُّعِ هُوَ اللُّغَاتُ؛ فَأَنَا أُفَكِّرُ بِالإِنْجْلِيزِيَّةِ، وَأُصَلِّي وَأَتَحَدَّثُ مَعَ جَدَّتِي بِالعَرَبِيَّةِ، وَأَتَعَلَّمُ الفَرَنْسِيَّةَ فِي المَدْرَسَةِ. وَمَعَ أَنَّنِي كُنْتُ أَخْجَلُ مِنْ لَهْجَتِي المَغْرِبِيَّةِ فِي صِغَرِي، فَإِنَّنِي أَعْتَزُّ بِهَا اليَوْمَ، وَأَسْتَخْدِمُهَا بِفَخْرٍ كُلَّمَا زُرْتُ أَقَارِبِي.</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أَمَّا فِي المُسْتَقْبَلِ، فَأَطْمَحُ إِلَى تَعَلُّمِ الإِسْبَانِيَّةِ، لِكَيْ أَعْمَلَ مُتَرْجِمًا بَيْنَ ضِفَّتَيِ المُتَوَسِّطِ. وَلَوْ سَأَلَنِي أَحَدٌ اليَوْمَ: "مِنْ أَيْنَ أَنْتَ؟"، لَقُلْتُ: "مِنْ بِرْمِنْغْهَامَ وَمِنَ الأَطْلَسِ مَعًا".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لَيْسَ كَلِمَةً وَاحِدَةً</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تَلْتَقِي فِيهِ الثَّقَافَاتُ</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مَعَ أَنَّنِي … فَإِنَّنِي</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سَأَلَنِي … لَقُلْتُ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Q3 (</a:t>
            </a:r>
            <a:pPr algn="l" indent="0" marL="0">
              <a:buNone/>
            </a:pPr>
            <a:r>
              <a:rPr lang="ar-SA" altLang="en-US" sz="2300" b="1" dirty="0">
                <a:solidFill>
                  <a:srgbClr val="1B3B6F"/>
                </a:solidFill>
                <a:latin typeface="Amiri" pitchFamily="2" charset="-78"/>
                <a:ea typeface="Amiri" pitchFamily="2" charset="-78"/>
                <a:cs typeface="Amiri" pitchFamily="2" charset="-78"/>
              </a:rPr>
              <a:t>ب</a:t>
            </a:r>
            <a:pPr algn="l" indent="0" marL="0">
              <a:buNone/>
            </a:pPr>
            <a:r>
              <a:rPr lang="en-US" sz="1750" b="1" dirty="0">
                <a:solidFill>
                  <a:srgbClr val="1B3B6F"/>
                </a:solidFill>
                <a:latin typeface="Cambria" pitchFamily="34" charset="0"/>
                <a:cs typeface="Amiri" pitchFamily="2" charset="-78"/>
              </a:rPr>
              <a:t>) full-mark model: is our parents’ language important?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مُدُنِ العَالَمِ الكُبْرَى، يَنْشَأُ مَلَايِينُ الأَطْفَالِ فِي بُيُوتٍ تَتَكَلَّمُ لُغَةً، وَمَدَارِسَ تَتَكَلَّمُ لُغَةً أُخْرَى. فَهَلْ مِنَ المُهِمِّ أَنْ يَحْتَفِظُوا بِلُغَةِ آبَائِهِمْ، أَمْ يَكْفِي أَنْ يُتْقِنُوا لُغَةَ البَلَدِ الَّذِي يَعِيشُونَ فِيهِ؟</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تَرْبِطُ لُغَةُ الآبَاءِ الطِّفْلَ بِأَجْدَادِهِ وَدِينِهِ وَتَارِيخِهِ، كَمَا أَنَّ تَعَلُّمَ لُغَتَيْنِ مُنْذُ الصِّغَرِ يُقَوِّي الذَّاكِرَةَ وَالتَّرْكِيزَ وَيَفْتَحُ فُرَصَ عَمَلٍ أَكْثَرَ. وَمِنْ نَاحِيَةٍ أُخْرَى، يَشْعُرُ بَعْضُ الأَطْفَالِ بِضَغْطٍ كَبِيرٍ، لِأَنَّهُمْ يَدْرُسُونَ طُولَ الأُسْبُوعِ، ثُمَّ يَذْهَبُونَ إِلَى دُرُوسٍ إِضَافِيَّةٍ يَوْمَ السَّبْتِ.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عِشْتُ هٰذِهِ التَّجْرِبَةَ بِنَفْسِي؛ فَكُنْتُ أَكْرَهُ دُرُوسَ العَرَبِيَّةِ فِي عُطْلَةِ نِهَايَةِ الأُسْبُوعِ، إِلَى أَنْ زُرْتُ المَغْرِبَ، وَاسْتَطَعْتُ لِأَوَّلِ مَرَّةٍ أَنْ أَتَحَدَّثَ مَعَ جَدِّي دُونَ مُتَرْجِمٍ، فَبَكَى مِنَ الفَرَحِ وَعَانَقَنِي طَوِيلًا. عِنْدَئِذٍ فَهِمْتُ قِيمَةَ تِلْكَ السَّاعَاتِ الطَّوِيلَةِ.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أَرَى أَنَّ لُغَةَ الآبَاءِ كَنْزٌ يَجِبُ أَلَّا نَفْقِدَهُ، غَيْرَ أَنَّ الأُسَرَ يَنْبَغِي أَنْ تُعَلِّمَهَا بِالحُبِّ لَا بِالإِجْبَارِ. فَإِذَا ارْتَبَطَتِ اللُّغَةُ بِالقِصَصِ وَالرِّحْلَاتِ وَالأَلْعَابِ، فَسَيُحِبُّهَا الأَطْفَالُ وَيَحْفَظُونَهَا.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هَلْ … أَمْ يَكْفِي</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كَمَا أَنَّ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إِلَى أَنْ زُرْتُ</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ارْتَبَطَتْ … فَسَيُحِبُّهَا</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with a nisba for nationality.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nisba agreement for m. and f., and a preposition of place.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me, the country, languages, the future.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concession (maʿa anna … fa-inna)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TE-L02 · Exam practice · Speaking and writing workshops — the next Topic E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TE-L01 · Writing Workshop — Countries, Nationalities and Languages</dc:title>
  <dc:subject>PptxGenJS Presentation</dc:subject>
  <dc:creator>Al Madina Online School · Arabic Department</dc:creator>
  <cp:lastModifiedBy>Al Madina Online School · Arabic Department</cp:lastModifiedBy>
  <cp:revision>1</cp:revision>
  <dcterms:created xsi:type="dcterms:W3CDTF">2026-10-11T14:19:12Z</dcterms:created>
  <dcterms:modified xsi:type="dcterms:W3CDTF">2026-10-11T14:19:12Z</dcterms:modified>
</cp:coreProperties>
</file>