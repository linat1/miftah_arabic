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2 (Multilingual Life and Communication, TE-L02).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3 and 4 headings contain relative clauses — point out allatī + returning pronoun (-hā). A boy writes مُبْتَدِئٌ in box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مَنْ (who) · كَيْفَ (how) · كَمْ مَرَّةً (how often) · تَتَوَاصَلَانِ (you two communicate — dual) · خِطَطُكِ (plans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(73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(116 words). Core model: the present tense throughout (asmaʿu, attaṣilu, utarjimu, astakhdimu), a relative clause with a returning pronoun, verbal nouns (taʿallum, kalām), li-dhālika and maʿa dhālika, and a future plan with li-annī.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(138 words). Full-mark model: three relative clauses with returning pronouns (bihā, -hā), lā … illā, mimmā, laysa … bal with verbal nouns (ḥifẓ, istiʿmāl, iṣghāʾ, iḥtirām), ṣirtu + present, a passive law suʾiltu … la-qultu and the dual (lughatāni, bihimā).
ENGLISH SUMMARY (read aloud or paste in the chat for Core students): When I wake up, I don’t know which language I’ll dream in! I live between three: English, which I study in; Arabic, in which I pray and talk to grandma; and French, which I began this year for a school trip to Paris → switching isn’t always easy: I often look for an Arabic word and find only its English equivalent, which makes my relatives in Khartoum laugh; but I’ve found the best way to learn is not memorising but real use in daily situations, however many mistakes → so I translate for mum on visits to dad’s family and do a weekly exchange with a Jordanian student — she corrects my pronunciation, I her grammar; these taught me communication is not just words but listening and respect → I aspire to interpret for a humanitarian organisation serving refugees and newcomers; “asked for my parents’ most precious gift, I’d say: two languages, and a heart that understands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for the Stretch title: a then-and-now hook, a rhetorical question, lā shakka anna, kamā anna, wa-maʿa dhālika fa-innahā, idh + lā … wa-lā, a narrated example with baʿda an, and idhā … fa-sa-naẓallu.
ENGLISH SUMMARY (read aloud or paste in the chat for Core students): A few years ago tourists carried heavy paper dictionaries; today pointing a phone at a sign is enough to read it in their own language in a second — will machine translation make learning languages unnecessary? → no doubt it is very useful, helping travellers, patients and refugees communicate in hard moments, and it is fast, free and improving every year; yet it translates words, not meanings — it can’t grasp a joke, a proverb or a tone of voice → I saw this when a classmate used an app to send Eid greetings to her Arab neighbour: the message came out strange and the neighbour laughed, though my classmate was very embarrassed; after I taught her the right phrase, she greeted her with it every Eid → the machine is an excellent tool, but it can’t build friendship or trust between people of two cultures; “if we truly want to understand people, we will still need to learn their languages and cultures”.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Multilingual Life and Communication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الحَيَاةُ بِلُغَاتٍ مُتَعَدِّدَةٍ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language-exchange application form, write an email about an online language exchange, and write an extended piece about living with several languages or about whether machine translation will replace learning languages.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TE-L02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an online language exchange.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Check the present tense endings (atakallamu, natawāṣalu, tuṣaḥḥiḥu for "she"); verbal nouns after uḥibbu / as subjects (taʿallumu al-lughati mumtiʿun); allatī for feminine nouns and non-human plurals with the returning pronoun (al-lughātu allatī atakallamuhā); and the feminine for a female writer (mutarjima).</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تَعَلُّمُ اللُّغَةِ بِهٰذِهِ الطَّرِيقَةِ مُمْتِعٌ جِدًّا</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learning a language this way is great fun</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الطَّرِيقَةُ الَّتِي تُسَاعِدُنِي أَكْثَرَ هِيَ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method that helps me most is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جَدَّتِي لَا تَتَكَلَّمُ الإِنْجْلِيزِيَّةَ، لِذٰلِكَ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grandmother doesn’t speak English, so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Language-exchange application form</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طَلَبِ تَبَادُلٍ لُغَوِيٍّ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 you speak</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اللُّغَاتُ الَّتِي تَتَكَلَّمُهَا</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 you want to learn</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اللُّغَةُ الَّتِي تُرِيدُ تَعَلُّمَهَا</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Level</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المُسْتَوَى</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Way of communicating</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طَرِيقَةُ التَّوَاصُلِ</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Suitable times</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الأَوْقَاتُ المُنَاسِبَةُ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your aim for the exchange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مَا هَدَفُكَ مِنَ التَّبَادُلِ؟</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verbal noun (taḥsīn) and a reason.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Language-exchange application form: model answers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Salma Ahmed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سَلْمَى أَحْمَدُ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سِتَّ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and Arabic</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الإِنْجْلِيزِيَّةُ وَالعَرَبِيَّةُ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اللُّغَاتُ الَّتِي تَتَكَلَّمُهَا</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French</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الفَرَنْسِيَّةُ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اللُّغَةُ الَّتِي تُرِيدُ تَعَلُّمَهَا</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beginner (f.)</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مُبْتَدِئَةٌ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المُسْتَوَى</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video call</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مُكَالَمَةُ فِيدْيُو</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طَرِيقَةُ التَّوَاصُلِ</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Tuesday and Thursday evenings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مَسَاءَ الثُّلَاثَاءِ وَالخَمِيسِ</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الأَوْقَاتُ المُنَاسِبَةُ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800" dirty="0">
                <a:solidFill>
                  <a:srgbClr val="5A6472"/>
                </a:solidFill>
                <a:latin typeface="Calibri" pitchFamily="34" charset="0"/>
                <a:cs typeface="Amiri" pitchFamily="2" charset="-78"/>
              </a:rPr>
              <a:t>I want to improve my pronunciation, because I’m travelling to France in the summer.</a:t>
            </a:r>
            <a:endParaRPr lang="en-US" sz="8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أُرِيدُ تَحْسِينَ نُطْقِي، لِأَنِّي سَأُسَافِرُ إِلَى فَرَنْسَا فِي الصَّيْفِ.</a:t>
            </a:r>
            <a:endParaRPr lang="ar-SA" sz="16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مَا هَدَفُكَ مِنَ التَّبَادُلِ؟</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language exchange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تَبَادُلِي اللُّغَوِيُّ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email in Arabic to a friend of about 80–90 words. You must include: • who your language-exchange partner is • how and how often you communicate • what you do in the sessions and your opinion • your plans, and a question for your friend.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and one relative clause.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بَدَأْتُ تَبَادُلًا لُغَوِيًّا مَعَ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started a language exchange with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نَتَوَاصَلُ بِالفِيدْيُو مَرَّتَيْنِ فِي الأُسْبُوعِ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communicate by … twice a week</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تَعَلُّمُ اللُّغَةِ بِهٰذِهِ الطَّرِيقَةِ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learning a language this way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الصَّيْفِ سَأَزُورُ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summer I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language exchange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اكْتُبِي رِسَالَةً إِلَى صَدِيقَتِكِ عَنْ تَبَادُلِكِ اللُّغَوِيِّ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your exchange partner is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شَرِيكَتُكِ فِي التَّبَادُلِ؟</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and how often you communicate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كَيْفَ تَتَوَاصَلَانِ؟ وَكَمْ مَرَّةً؟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do; your opinion</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تَفْعَلَانِ؟ وَمَا رَأْيُكِ؟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plans; a question for your friend</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خِطَطُكِ؟ وَاسْأَلِي صَدِيقَتَكِ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started an exchange with …; she is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بَدَأْتُ تَبَادُلًا لُغَوِيًّا مَعَ ______ ، وَهِيَ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communicate by … … a week.</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نَتَوَاصَلُ عَبْرَ ______ ______ فِي الأُسْبُوعِ.</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 and I … The exchange is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هِيَ ______ ، وَأَنَا ______ . التَّبَادُلُ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summer I will … And you,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الصَّيْفِ سَأَ______ . وَأَنْتِ،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cs typeface="Amiri" pitchFamily="2" charset="-78"/>
              </a:rPr>
              <a:t>مَرْحَبًا يَا نُورُ،</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كَيْفَ حَالُكِ؟ عِنْدِي خَبَرٌ جَمِيلٌ! بَدَأْتُ تَبَادُلًا لُغَوِيًّا عَلَى الإِنْتَرْنِتِ مَعَ بِنْتٍ اسْمُهَا لِينَا. لِينَا أُرْدُنِيَّةٌ، وَتَسْكُنُ فِي عَمَّانَ. نَتَوَاصَلُ بِمُكَالَمَةِ فِيدْيُو مَرَّتَيْنِ فِي الأُسْبُوعِ. أَوَّلًا نَتَكَلَّمُ بِالعَرَبِيَّةِ نِصْفَ سَاعَةٍ، ثُمَّ بِالإِنْجْلِيزِيَّةِ نِصْفَ سَاعَةٍ. هِيَ تُصَحِّحُ نُطْقِي، وَأَنَا أُسَاعِدُهَا فِي القَوَاعِدِ. تَعَلُّمُ اللُّغَةِ بِهٰذِهِ الطَّرِيقَةِ مُمْتِعٌ جِدًّا، لِأَنِّي أَتَكَلَّمُ مَعَ شَخْصٍ حَقِيقِيٍّ. فِي الصَّيْفِ سَأَزُورُ الأُرْدُنَّ، وَسَأُقَابِلُ لِينَا إِنْ شَاءَ اللّٰهُ. وَأَنْتِ، هَلْ تُرِيدِينَ صَدِيقَةً لِلتَّبَادُلِ أَيْضًا؟</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مَعَ السَّلَامَةِ،</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سَلْمَى</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Nour, how are you? I have lovely news! I started an online language exchange with a girl called Lina. Lina is Jordanian and lives in Amman. We talk by video call twice a week: first half an hour in Arabic, then half an hour in English. She corrects my pronunciation and I help her with grammar. Learning a language this way is great fun, because I speak with a real person. In the summer I’ll visit Jordan and meet Lina, God willing. And you, do you want an exchange friend too? Goodbye, Salma.”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تَبَادُلًا لُغَوِيًّا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نَتَوَاصَلُ بِمُكَالَمَةِ فِيدْيُو</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تَعَلُّمُ اللُّغَةِ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سَأَزُورُ الأُرْدُنَّ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عَزِيزَتِي نُورُ،</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أَكْتُبُ إِلَيْكِ لِأُخْبِرَكِ بِتَجْرِبَةٍ غَيَّرَتْ طَرِيقَةَ تَعَلُّمِي! فَقَدْ بَدَأْتُ تَبَادُلًا لُغَوِيًّا مَعَ لِينَا، وَهِيَ طَالِبَةٌ أُرْدُنِيَّةٌ تَدْرُسُ الطِّبَّ فِي عَمَّانَ وَتُرِيدُ أَنْ تُحَسِّنَ لُغَتَهَا الإِنْجْلِيزِيَّةَ. نَتَوَاصَلُ مَرَّتَيْنِ فِي الأُسْبُوعِ بِالفِيدْيُو، فَنَتَحَدَّثُ نِصْفَ السَّاعَةِ الأُولَى بِالعَرَبِيَّةِ، وَالثَّانِيَةَ بِالإِنْجْلِيزِيَّةِ. أَكْثَرُ مَا يُعْجِبُنِي أَنَّ لِينَا تُعَلِّمُنِي عِبَارَاتٍ لَا تُوجَدُ فِي الكُتُبِ، وَتَشْرَحُ لِي الفَرْقَ بَيْنَ لَهْجَتِهَا وَالفُصْحَى. صَحِيحٌ أَنَّنِي أَخْجَلُ أَحْيَانًا مِنْ أَخْطَائِي، غَيْرَ أَنَّهَا صَبُورَةٌ جِدًّا. وَإِذَا اسْتَمْرَرْنَا هٰكَذَا، فَسَأَتَكَلَّمُ بِطَلَاقَةٍ قَبْلَ الامْتِحَانِ. هَلْ تُرِيدِينَ أَنْ أُعَرِّفَكِ بِصَدِيقَةٍ لَهَا؟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سَلْمَى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Nour, I’m writing to tell you about an experience that changed how I learn! I started a language exchange with Lina, a Jordanian medical student in Amman who wants to improve her English. We talk by video twice a week: the first half hour in Arabic, the second in English. What I like most is that Lina teaches me expressions you won’t find in books and explains the difference between her dialect and fuṣḥā. I’m sometimes embarrassed by my mistakes, but she is very patient. If we keep this up, I’ll speak fluently before the exam. Shall I introduce you to a friend of hers? With love, Salma.”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تَجْرِبَةٍ غَيَّرَتْ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طَالِبَةٌ أُرْدُنِيَّةٌ تَدْرُسُ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تُوجَدُ فِي الكُتُبِ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اسْتَمْرَرْنَا … فَسَأَتَكَلَّمُ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 in my daily life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اللُّغَاتُ فِي حَيَاتِي اليَوْمِيَّةِ</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languages you speak and with whom · your day between languages · how you learn and the difficulties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اللُّغَاتُ الَّتِي تَتَكَلَّمُهَا وَمَعَ مَنْ · يَوْمُكَ بَيْنَ اللُّغَاتِ · كَيْفَ تَتَعَلَّمُ وَمَا الصُّعُوبَاتُ · رَأْيُكَ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machine translation replace learning languages?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سَتُغْنِينَا التَّرْجَمَةُ الآلِيَّةُ عَنْ تَعَلُّمِ اللُّغَاتِ؟</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benefits and limits of machine translation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المَوْضُوعُ · فَوَائِدُ التَّرْجَمَةِ الآلِيَّةِ وَحُدُودُهَا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Who I am — abī … wa-ummī …; li-dhālika atakallamu lughatayni; fī al-bayti … wa-fī al-madrasati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My day — fī aṣ-ṣabāḥi … wa-fī al-masāʾi attaṣilu bi- …; aḥyānan utarjimu li-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Learning — ataʿallamu …; astakhdimu …; aṭ-ṭarīqatu allatī tusāʿidunī …; aṣʿabu shayʾin …, wa-maʿa dhālika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arā anna taʿallumu al-lughāti …; sa-ataʿallamu … li-annī …; Stretch: laysa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أَتَّصِلُ بِجَدَّتِي، وَأَتَكَلَّمُ مَعَهَا بِالعَرَبِيَّةِ.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call grandma and speak Arabic.</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cs typeface="Amiri" pitchFamily="2" charset="-78"/>
              </a:rPr>
              <a:t>الطَّرِيقَةُ الَّتِي تُسَاعِدُنِي هِيَ الكَلَامُ مَعَ النَّاسِ.</a:t>
            </a:r>
            <a:endParaRPr lang="ar-SA" sz="22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relative: the way that helps me is talking.</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سَأَتَعَلَّمُ الفَرَنْسِيَّةَ، لِأَنِّي أُرِيدُ أَنْ أُتَرْجِمَ.</a:t>
            </a:r>
            <a:endParaRPr lang="ar-SA" sz="255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I’ll learn French to translate.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أَنَا سَلْمَى، وَأَعِيشُ فِي لَنْدَنَ. أَبِي سُودَانِيٌّ، وَأُمِّي إِنْجْلِيزِيَّةٌ، لِذٰلِكَ أَتَكَلَّمُ لُغَتَيْنِ مُنْذُ صِغَرِي. فِي البَيْتِ نَتَكَلَّمُ الإِنْجْلِيزِيَّةَ وَالعَرَبِيَّةَ، وَفِي المَدْرَسَةِ أَتَكَلَّمُ الإِنْجْلِيزِيَّةَ فَقَطْ.</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الصَّبَاحِ أَسْمَعُ القُرْآنَ بِالعَرَبِيَّةِ، وَفِي المَسَاءِ أَتَّصِلُ بِجَدَّتِي فِي الخُرْطُومِ عَبْرَ الفِيدْيُو، وَنَتَكَلَّمُ نِصْفَ سَاعَةٍ. جَدَّتِي لَا تَتَكَلَّمُ الإِنْجْلِيزِيَّةَ، لِذٰلِكَ أَتَكَلَّمُ مَعَهَا بِالعَرَبِيَّةِ دَائِمًا. أَحْيَانًا أُتَرْجِمُ لِأُمِّي، لِأَنَّهَا لَا تَفْهَمُ كُلَّ الكَلِمَاتِ العَرَبِيَّةِ، وَأَنَا أُحِبُّ مُسَاعَدَتَهَا.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أَتَعَلَّمُ الفُصْحَى فِي المَدْرَسَةِ ثَلَاثَ سَاعَاتٍ فِي الأُسْبُوعِ. أَسْتَخْدِمُ تَطْبِيقًا لِلْمُفْرَدَاتِ، وَأُشَاهِدُ مُسَلْسَلًا عَرَبِيًّا مَعَ أُخْتِي. الطَّرِيقَةُ الَّتِي تُسَاعِدُنِي أَكْثَرَ هِيَ الكَلَامُ مَعَ النَّاسِ، لِأَنِّي أَسْمَعُ النُّطْقَ الصَّحِيحَ. أَصْعَبُ شَيْءٍ هُوَ القَوَاعِدُ، وَمَعَ ذٰلِكَ أُحِبُّهَا كَثِيرًا.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أَرَى أَنَّ تَعَلُّمَ اللُّغَاتِ مُهِمٌّ جِدًّا. فِي المُسْتَقْبَلِ سَأَتَعَلَّمُ الفَرَنْسِيَّةَ أَيْضًا، لِأَنِّي أُرِيدُ أَنْ أَعْمَلَ مُتَرْجِمَةً فِي مُنَظَّمَةٍ دُوَلِيَّةٍ.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I’m Salma in London: Sudanese dad, English mum, so two languages since childhood → mornings Qur’an in Arabic, evenings calls to grandma in Khartoum in Arabic; I sometimes translate for mum → I study fuṣḥā three hours a week, use an app and watch a series; talking to people helps most; grammar is hardest, yet I like it → learning languages matters; I’ll learn French to be a translator.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لِذٰلِكَ أَتَكَلَّمُ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أُتَرْجِمُ لِأُمِّي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الطَّرِيقَةُ الَّتِي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تَعَلُّمَ اللُّغَاتِ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حِينَ أَسْتَيْقِظُ صَبَاحًا، لَا أَعْرِفُ بِأَيِّ لُغَةٍ سَأَحْلُمُ فِي اللَّيْلِ! فَأَنَا أَعِيشُ يَوْمِي بَيْنَ ثَلَاثِ لُغَاتٍ: الإِنْجْلِيزِيَّةِ الَّتِي أَدْرُسُ بِهَا، وَالعَرَبِيَّةِ الَّتِي أُصَلِّي وَأُكَلِّمُ بِهَا جَدَّتِي، وَالفَرَنْسِيَّةِ الَّتِي بَدَأْتُ أَتَعَلَّمُهَا هٰذَا العَامَ، اسْتِعْدَادًا لِرِحْلَةٍ مَدْرَسِيَّةٍ إِلَى بَارِيسَ.</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وَلَيْسَ هٰذَا التَّنَقُّلُ سَهْلًا دَائِمًا؛ فَكَثِيرًا مَا أَبْحَثُ عَنْ كَلِمَةٍ عَرَبِيَّةٍ فَلَا أَجِدُ إِلَّا مُقَابِلَهَا الإِنْجْلِيزِيَّ، مِمَّا يُضْحِكُ أَقَارِبِي فِي الخُرْطُومِ. غَيْرَ أَنَّنِي اكْتَشَفْتُ أَنَّ أَفْضَلَ طَرِيقَةٍ لِلتَّعَلُّمِ لَيْسَتِ الحِفْظَ، بَلِ الاسْتِعْمَالُ الحَقِيقِيُّ فِي مَوَاقِفِ الحَيَاةِ اليَوْمِيَّةِ، مَهْمَا كَثُرَتِ الأَخْطَاءُ.</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صِرْتُ أُتَرْجِمُ لِأُمِّي فِي زِيَارَاتِهَا لِأُسْرَةِ أَبِي، وَأُشَارِكُ فِي تَبَادُلٍ لُغَوِيٍّ أُسْبُوعِيٍّ مَعَ طَالِبَةٍ أُرْدُنِيَّةٍ تُصَحِّحُ نُطْقِي وَأُصَحِّحُ قَوَاعِدَهَا. وَقَدْ عَلَّمَتْنِي هٰذِهِ التَّجَارِبُ أَنَّ التَّوَاصُلَ لَيْسَ كَلِمَاتٍ فَقَطْ، بَلْ إِصْغَاءٌ وَاحْتِرَامٌ أَيْضًا.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أَمَّا فِي المُسْتَقْبَلِ، فَأَطْمَحُ إِلَى أَنْ أَعْمَلَ مُتَرْجِمَةً فِي مُنَظَّمَةٍ إِنْسَانِيَّةٍ تَخْدُمُ اللَّاجِئِينَ وَالمُهَاجِرِينَ الجُدُدَ. وَلَوْ سُئِلْتُ عَنْ أَثْمَنِ هَدِيَّةٍ أَعْطَانِي إِيَّاهَا وَالِدَايَ، لَقُلْتُ: "لُغَتَانِ، وَقَلْبٌ يَفْهَمُ بِهِمَا".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الَّتِي أَدْرُسُ بِهَا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مِمَّا يُضْحِكُ</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لَيْسَتِ الحِفْظَ،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سُئِلْتُ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will machines replace languages?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قَبْلَ سَنَوَاتٍ قَلِيلَةٍ، كَانَ السَّائِحُ يَحْمِلُ قَامُوسًا وَرَقِيًّا ثَقِيلًا؛ أَمَّا اليَوْمَ فَيَكْفِيهِ أَنْ يُوَجِّهَ هَاتِفَهُ إِلَى لَافِتَةٍ لِيَقْرَأَهَا بِلُغَتِهِ فِي ثَانِيَةٍ. فَهَلْ سَتُغْنِينَا التَّرْجَمَةُ الآلِيَّةُ عَنْ تَعَلُّمِ اللُّغَاتِ؟</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لَا شَكَّ أَنَّ هٰذِهِ التِّكْنُولُوجْيَا مُفِيدَةٌ جِدًّا؛ فَهِيَ تُسَاعِدُ المُسَافِرِينَ وَالمَرْضَى وَاللَّاجِئِينَ عَلَى التَّوَاصُلِ فِي لَحَظَاتٍ صَعْبَةٍ، كَمَا أَنَّهَا سَرِيعَةٌ وَمَجَّانِيَّةٌ، وَتَتَحَسَّنُ عَامًا بَعْدَ عَامٍ. وَمَعَ ذٰلِكَ، فَإِنَّهَا تُتَرْجِمُ الكَلِمَاتِ لَا المَعَانِيَ؛ إِذْ لَا تَفْهَمُ النُّكْتَةَ وَلَا المَثَلَ وَلَا نَبْرَةَ الصَّوْتِ.</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رَأَيْتُ ذٰلِكَ بِنَفْسِي عِنْدَمَا اسْتَخْدَمَتْ زَمِيلَتِي تَطْبِيقًا لِتُرْسِلَ تَهْنِئَةً بِالعِيدِ إِلَى جَارَتِهَا العَرَبِيَّةِ، فَخَرَجَتِ الرِّسَالَةُ غَرِيبَةً، وَضَحِكَتِ الجَارَةُ كَثِيرًا، لٰكِنَّ زَمِيلَتِي شَعَرَتْ بِالحَرَجِ الشَّدِيدِ. وَبَعْدَ أَنْ عَلَّمْتُهَا العِبَارَةَ الصَّحِيحَةَ، صَارَتْ تُحَيِّيهَا بِهَا كُلَّ عِيدٍ.</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أَرَى أَنَّ الآلَةَ أَدَاةٌ مُمْتَازَةٌ، غَيْرَ أَنَّهَا لَا تَسْتَطِيعُ أَنْ تَبْنِيَ صَدَاقَةً أَوْ ثِقَةً بَيْنَ شَخْصَيْنِ مِنْ ثَقَافَتَيْنِ مُخْتَلِفَتَيْنِ. فَإِذَا أَرَدْنَا أَنْ نَفْهَمَ النَّاسَ حَقًّا، فَسَنَظَلُّ نَحْتَاجُ إِلَى تَعَلُّمِ لُغَاتِهِمْ وَثَقَافَاتِهِمْ.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فَيَكْفِيهِ</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شَكَّ أَنَّ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الكَلِمَاتِ لَا المَعَانِيَ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أَرَدْنَا … فَسَنَظَلُّ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full sentence in box 8.</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verbal noun and a relative clause.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mostly in the present tense, with a future ending.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TE-L03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TE-L02 · Writing Workshop — Multilingual Life and Communication</dc:title>
  <dc:subject>PptxGenJS Presentation</dc:subject>
  <dc:creator>Al Madina Online School · Arabic Department</dc:creator>
  <cp:lastModifiedBy>Al Madina Online School · Arabic Department</cp:lastModifiedBy>
  <cp:revision>1</cp:revision>
  <dcterms:created xsi:type="dcterms:W3CDTF">2026-10-11T14:23:24Z</dcterms:created>
  <dcterms:modified xsi:type="dcterms:W3CDTF">2026-10-11T14:23:24Z</dcterms:modified>
</cp:coreProperties>
</file>