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WORKSHOP AT A GLANCE — 60 minutes on Teams; individual writing with live feedback (shared document or paper + photo).
0–2 Welcome · 2–6 How Paper 4 works · 6–14 Q1 form filling + model · 14–17 Q2 the task, in English and Arabic · 17–19 Q2 frames (Core) · 19–31 Q2 writing · 31–35 Q2 models · 35–38 Q3 choose a title + plan · 38–54 Q3 writing (Stretch) / Q2 redraft (Core) · 54–58 Q3 models + self-check · 58–60 Close.
Content: teacher-made exam questions for Advanced Topic E, Lesson 2 (Multilingual Life and Communication, TE-L02). Every question has Core · Develop · Stretch support; models are given at two levels (a secure Core answer and a full-mark answer).
EXAM FORMAT: Paper 4 Writing — Q1 form filling, Q2 directed writing (about 80–90 words), Q3 extended writing (one title from two, about 130–150 words), following the Cambridge IGCSE Arabic 0544 format. Check word counts and marks against the current syllabus and the past paper you use.
Q3 in one lesson: Stretch students write Q3 in class; Core students redraft Q2 and plan Q3, then write Q3 for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(3 min). The two biggest losses: a missed bullet point (Q2) and staying in one tense (Q3). Word counts are a guide: far too short cannot cover the task; far too long creates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QUESTION 1 — FORM FILLING. About 8 minutes. Core: boxes 1–6. Develop / Stretch: all 8. Box 3 and 4 headings contain relative clauses — point out allatī + returning pronoun (-hā). A boy writes مُبْتَدِئٌ in box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 students check their own form and correct one answer in a different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Q2 TASK (3 min to read and plan). Students number the four bullets 1–4 in the margin and tick each one as they write 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Question words: مَنْ (who) · كَيْفَ (how) · كَمْ مَرَّةً (how often) · تَتَوَاصَلَانِ (you two communicate — dual) · خِطَطُكِ (plans — FUTURE).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(12 min). Live feedback: check bullet coverage first, then verb endings and agreement. Core completes the frames; Develop adds detail; Stretch writes freely and reaches 90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(73 words). A Core model: every bullet answered in short, accurate sentences. Show how ONE extra detail per bullet brings it to 80–90 words.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(81 words). Full-mark model: all four bullets, a range of linking words, an opinion with a reason and a contrast. Students compare with their own: what can I add?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Q3 (3 min to choose and read). Title (أ) suits Core and Develop; title (ب) suits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(3 min) then WRITE (16 min). Check the plan before students write: four paragraphs = four bullet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(116 words). Core model: the present tense throughout (asmaʿu, attaṣilu, utarjimu, astakhdimu), a relative clause with a returning pronoun, verbal nouns (taʿallum, kalām), li-dhālika and maʿa dhālika, and a future plan with li-annī.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(138 words). Full-mark model: three relative clauses with returning pronouns (bihā, -hā), lā … illā, mimmā, laysa … bal with verbal nouns (ḥifẓ, istiʿmāl, iṣghāʾ, iḥtirām), ṣirtu + present, a passive law suʾiltu … la-qultu and the dual (lughatāni, bihimā).
ENGLISH SUMMARY (read aloud or paste in the chat for Core students): When I wake up, I don’t know which language I’ll dream in! I live between three: English, which I study in; Arabic, in which I pray and talk to grandma; and French, which I began this year for a school trip to Paris → switching isn’t always easy: I often look for an Arabic word and find only its English equivalent, which makes my relatives in Khartoum laugh; but I’ve found the best way to learn is not memorising but real use in daily situations, however many mistakes → so I translate for mum on visits to dad’s family and do a weekly exchange with a Jordanian student — she corrects my pronunciation, I her grammar; these taught me communication is not just words but listening and respect → I aspire to interpret for a humanitarian organisation serving refugees and newcomers; “asked for my parents’ most precious gift, I’d say: two languages, and a heart that understands through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(135 words). Full-mark model for the Stretch title: a then-and-now hook, a rhetorical question, lā shakka anna, kamā anna, wa-maʿa dhālika fa-innahā, idh + lā … wa-lā, a narrated example with baʿda an, and idhā … fa-sa-naẓallu.
ENGLISH SUMMARY (read aloud or paste in the chat for Core students): A few years ago tourists carried heavy paper dictionaries; today pointing a phone at a sign is enough to read it in their own language in a second — will machine translation make learning languages unnecessary? → no doubt it is very useful, helping travellers, patients and refugees communicate in hard moments, and it is fast, free and improving every year; yet it translates words, not meanings — it can’t grasp a joke, a proverb or a tone of voice → I saw this when a classmate used an app to send Eid greetings to her Arab neighbour: the message came out strange and the neighbour laughed, though my classmate was very embarrassed; after I taught her the right phrase, she greeted her with it every Eid → the machine is an excellent tool, but it can’t build friendship or trust between people of two cultures; “if we truly want to understand people, we will still need to learn their languages and cultures”.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E · EXAM PRACTICE  ·  TE-L02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TE-L02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Writing Workshop — Multilingual Life and Communication</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الكِتَابَةِ — الحَيَاةُ بِلُغَاتٍ مُتَعَدِّدَةٍ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Paper 4 practice: fill in a language-exchange application form, write an email about an online language exchange, and write an extended piece about living with several languages or about whether machine translation will replace learning languages.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TE-L02 · Advanced Topic E · The International World · exam practice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E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E › TE-L02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TE-L02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18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TE-L02 · Writing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WORKSHOP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Exam practice,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TE-L02</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How the writing paper works.</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كَيْفَ</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1: fill in the form.</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الاسْتِمَارَةُ</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17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2: an email about an online language exchange.</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الرِّسَالَةُ</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23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3: extended writing (choose a title).</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المَقَالُ</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Model answers and self-check.</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Core students: Questions 1 and 2 today, with frames; plan Question 3 and finish it at home. Stretch: all three questions in class.</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18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TE-L02 · Writing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PAPER 4 WRITING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the writing exam works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امْتِحَانُ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TE-L02</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THREE QUESTIONS</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Q1 FORM FILLING — short answers (a word or a phrase) in Arabic. Answer exactly what each box asks.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Q2 DIRECTED WRITING — about 80–90 words. Cover EVERY bullet point; a missing bullet loses marks.</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Q3 EXTENDED WRITING — choose ONE title, about 130–150 words. Show range: past, present and future, opinions, reasons, linking words.</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200" dirty="0">
                <a:solidFill>
                  <a:srgbClr val="1F2A37"/>
                </a:solidFill>
                <a:latin typeface="Calibri" pitchFamily="34" charset="0"/>
                <a:cs typeface="Amiri" pitchFamily="2" charset="-78"/>
              </a:rPr>
              <a:t>Check the present tense endings (atakallamu, natawāṣalu, tuṣaḥḥiḥu for "she"); verbal nouns after uḥibbu / as subjects (taʿallumu al-lughati mumtiʿun); allatī for feminine nouns and non-human plurals with the returning pronoun (al-lughātu allatī atakallamuhā); and the feminine for a female writer (mutarjima).</a:t>
            </a:r>
            <a:endParaRPr lang="en-US" sz="12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WORDS THAT LIFT YOUR WRITING</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تَعَلُّمُ اللُّغَةِ بِهٰذِهِ الطَّرِيقَةِ مُمْتِعٌ جِدًّا</a:t>
            </a:r>
            <a:endParaRPr lang="ar-SA" sz="280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learning a language this way is great fun</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الطَّرِيقَةُ الَّتِي تُسَاعِدُنِي أَكْثَرَ هِيَ …</a:t>
            </a:r>
            <a:endParaRPr lang="ar-SA" sz="28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the method that helps me most is …</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جَدَّتِي لَا تَتَكَلَّمُ الإِنْجْلِيزِيَّةَ، لِذٰلِكَ …</a:t>
            </a:r>
            <a:endParaRPr lang="ar-SA" sz="28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my grandmother doesn’t speak English, so …</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18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TE-L02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1 · FORM FILLING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Language-exchange application form</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اسْتِمَارَةُ طَلَبِ تَبَادُلٍ لُغَوِيٍّ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97112" y="1810512"/>
            <a:ext cx="2761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answer</a:t>
            </a:r>
            <a:endParaRPr lang="en-US" sz="1100" dirty="0"/>
          </a:p>
        </p:txBody>
      </p:sp>
      <p:sp>
        <p:nvSpPr>
          <p:cNvPr id="17" name="Text 14"/>
          <p:cNvSpPr txBox="1"/>
          <p:nvPr/>
        </p:nvSpPr>
        <p:spPr>
          <a:xfrm>
            <a:off x="560527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to write</a:t>
            </a:r>
            <a:endParaRPr lang="en-US" sz="1100" dirty="0"/>
          </a:p>
        </p:txBody>
      </p:sp>
      <p:sp>
        <p:nvSpPr>
          <p:cNvPr id="18" name="Text 15"/>
          <p:cNvSpPr txBox="1"/>
          <p:nvPr/>
        </p:nvSpPr>
        <p:spPr>
          <a:xfrm>
            <a:off x="103327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8933688" y="2267712"/>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2" name="Text 19"/>
          <p:cNvSpPr txBox="1"/>
          <p:nvPr/>
        </p:nvSpPr>
        <p:spPr>
          <a:xfrm>
            <a:off x="5641848" y="2267712"/>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a:t>
            </a:r>
            <a:endParaRPr lang="en-US" sz="1100" dirty="0"/>
          </a:p>
        </p:txBody>
      </p:sp>
      <p:sp>
        <p:nvSpPr>
          <p:cNvPr id="23" name="Text 20"/>
          <p:cNvSpPr txBox="1"/>
          <p:nvPr/>
        </p:nvSpPr>
        <p:spPr>
          <a:xfrm>
            <a:off x="1051560" y="2267712"/>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الاسْمُ</a:t>
            </a:r>
            <a:endParaRPr lang="ar-SA" sz="17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8" name="Text 25"/>
          <p:cNvSpPr txBox="1"/>
          <p:nvPr/>
        </p:nvSpPr>
        <p:spPr>
          <a:xfrm>
            <a:off x="8933688" y="2728341"/>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9" name="Text 26"/>
          <p:cNvSpPr txBox="1"/>
          <p:nvPr/>
        </p:nvSpPr>
        <p:spPr>
          <a:xfrm>
            <a:off x="5641848" y="2728341"/>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Age</a:t>
            </a:r>
            <a:endParaRPr lang="en-US" sz="1100" dirty="0"/>
          </a:p>
        </p:txBody>
      </p:sp>
      <p:sp>
        <p:nvSpPr>
          <p:cNvPr id="30" name="Text 27"/>
          <p:cNvSpPr txBox="1"/>
          <p:nvPr/>
        </p:nvSpPr>
        <p:spPr>
          <a:xfrm>
            <a:off x="1051560" y="2728341"/>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العُمْرُ</a:t>
            </a:r>
            <a:endParaRPr lang="ar-SA" sz="1700" dirty="0"/>
          </a:p>
        </p:txBody>
      </p:sp>
      <p:sp>
        <p:nvSpPr>
          <p:cNvPr id="31" name="Text 28"/>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2774061"/>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77406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5" name="Text 32"/>
          <p:cNvSpPr txBox="1"/>
          <p:nvPr/>
        </p:nvSpPr>
        <p:spPr>
          <a:xfrm>
            <a:off x="8933688" y="3188970"/>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641848" y="3188970"/>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Languages you speak</a:t>
            </a:r>
            <a:endParaRPr lang="en-US" sz="1100" dirty="0"/>
          </a:p>
        </p:txBody>
      </p:sp>
      <p:sp>
        <p:nvSpPr>
          <p:cNvPr id="37" name="Text 34"/>
          <p:cNvSpPr txBox="1"/>
          <p:nvPr/>
        </p:nvSpPr>
        <p:spPr>
          <a:xfrm>
            <a:off x="1051560" y="3188970"/>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اللُّغَاتُ الَّتِي تَتَكَلَّمُهَا</a:t>
            </a:r>
            <a:endParaRPr lang="ar-SA" sz="1700" dirty="0"/>
          </a:p>
        </p:txBody>
      </p:sp>
      <p:sp>
        <p:nvSpPr>
          <p:cNvPr id="38" name="Text 35"/>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23469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23469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42" name="Text 39"/>
          <p:cNvSpPr txBox="1"/>
          <p:nvPr/>
        </p:nvSpPr>
        <p:spPr>
          <a:xfrm>
            <a:off x="8933688" y="3649599"/>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3" name="Text 40"/>
          <p:cNvSpPr txBox="1"/>
          <p:nvPr/>
        </p:nvSpPr>
        <p:spPr>
          <a:xfrm>
            <a:off x="5641848" y="3649599"/>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Language you want to learn</a:t>
            </a:r>
            <a:endParaRPr lang="en-US" sz="1100" dirty="0"/>
          </a:p>
        </p:txBody>
      </p:sp>
      <p:sp>
        <p:nvSpPr>
          <p:cNvPr id="44" name="Text 41"/>
          <p:cNvSpPr txBox="1"/>
          <p:nvPr/>
        </p:nvSpPr>
        <p:spPr>
          <a:xfrm>
            <a:off x="1051560" y="3649599"/>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اللُّغَةُ الَّتِي تُرِيدُ تَعَلُّمَهَا</a:t>
            </a:r>
            <a:endParaRPr lang="ar-SA" sz="1700" dirty="0"/>
          </a:p>
        </p:txBody>
      </p:sp>
      <p:sp>
        <p:nvSpPr>
          <p:cNvPr id="45" name="Text 42"/>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3695319"/>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3695319"/>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9" name="Text 46"/>
          <p:cNvSpPr txBox="1"/>
          <p:nvPr/>
        </p:nvSpPr>
        <p:spPr>
          <a:xfrm>
            <a:off x="8933688" y="4110228"/>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0" name="Text 47"/>
          <p:cNvSpPr txBox="1"/>
          <p:nvPr/>
        </p:nvSpPr>
        <p:spPr>
          <a:xfrm>
            <a:off x="5641848" y="4110228"/>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Level</a:t>
            </a:r>
            <a:endParaRPr lang="en-US" sz="1100" dirty="0"/>
          </a:p>
        </p:txBody>
      </p:sp>
      <p:sp>
        <p:nvSpPr>
          <p:cNvPr id="51" name="Text 48"/>
          <p:cNvSpPr txBox="1"/>
          <p:nvPr/>
        </p:nvSpPr>
        <p:spPr>
          <a:xfrm>
            <a:off x="1051560" y="4110228"/>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المُسْتَوَى</a:t>
            </a:r>
            <a:endParaRPr lang="ar-SA" sz="1700" dirty="0"/>
          </a:p>
        </p:txBody>
      </p:sp>
      <p:sp>
        <p:nvSpPr>
          <p:cNvPr id="52" name="Text 49"/>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3" name="Shape 50"/>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Shape 5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8933688" y="4570857"/>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7" name="Text 54"/>
          <p:cNvSpPr txBox="1"/>
          <p:nvPr/>
        </p:nvSpPr>
        <p:spPr>
          <a:xfrm>
            <a:off x="5641848" y="4570857"/>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Way of communicating</a:t>
            </a:r>
            <a:endParaRPr lang="en-US" sz="1100" dirty="0"/>
          </a:p>
        </p:txBody>
      </p:sp>
      <p:sp>
        <p:nvSpPr>
          <p:cNvPr id="58" name="Text 55"/>
          <p:cNvSpPr txBox="1"/>
          <p:nvPr/>
        </p:nvSpPr>
        <p:spPr>
          <a:xfrm>
            <a:off x="1051560" y="4570857"/>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طَرِيقَةُ التَّوَاصُلِ</a:t>
            </a:r>
            <a:endParaRPr lang="ar-SA" sz="1700" dirty="0"/>
          </a:p>
        </p:txBody>
      </p:sp>
      <p:sp>
        <p:nvSpPr>
          <p:cNvPr id="59" name="Text 5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0" name="Shape 57"/>
          <p:cNvSpPr/>
          <p:nvPr/>
        </p:nvSpPr>
        <p:spPr>
          <a:xfrm>
            <a:off x="11091672" y="4616577"/>
            <a:ext cx="548640" cy="182880"/>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11091672" y="4616577"/>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62" name="Shape 59"/>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63" name="Text 60"/>
          <p:cNvSpPr txBox="1"/>
          <p:nvPr/>
        </p:nvSpPr>
        <p:spPr>
          <a:xfrm>
            <a:off x="8933688" y="5031486"/>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4" name="Text 61"/>
          <p:cNvSpPr txBox="1"/>
          <p:nvPr/>
        </p:nvSpPr>
        <p:spPr>
          <a:xfrm>
            <a:off x="5641848" y="5031486"/>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Suitable times</a:t>
            </a:r>
            <a:endParaRPr lang="en-US" sz="1100" dirty="0"/>
          </a:p>
        </p:txBody>
      </p:sp>
      <p:sp>
        <p:nvSpPr>
          <p:cNvPr id="65" name="Text 62"/>
          <p:cNvSpPr txBox="1"/>
          <p:nvPr/>
        </p:nvSpPr>
        <p:spPr>
          <a:xfrm>
            <a:off x="1051560" y="5031486"/>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الأَوْقَاتُ المُنَاسِبَةُ</a:t>
            </a:r>
            <a:endParaRPr lang="ar-SA" sz="1700" dirty="0"/>
          </a:p>
        </p:txBody>
      </p:sp>
      <p:sp>
        <p:nvSpPr>
          <p:cNvPr id="66" name="Text 63"/>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67" name="Shape 64"/>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68" name="Text 65"/>
          <p:cNvSpPr txBox="1"/>
          <p:nvPr/>
        </p:nvSpPr>
        <p:spPr>
          <a:xfrm>
            <a:off x="8933688" y="5492115"/>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9" name="Text 66"/>
          <p:cNvSpPr txBox="1"/>
          <p:nvPr/>
        </p:nvSpPr>
        <p:spPr>
          <a:xfrm>
            <a:off x="5641848" y="5492115"/>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sentence: your aim for the exchange</a:t>
            </a:r>
            <a:endParaRPr lang="en-US" sz="1100" dirty="0"/>
          </a:p>
        </p:txBody>
      </p:sp>
      <p:sp>
        <p:nvSpPr>
          <p:cNvPr id="70" name="Text 67"/>
          <p:cNvSpPr txBox="1"/>
          <p:nvPr/>
        </p:nvSpPr>
        <p:spPr>
          <a:xfrm>
            <a:off x="1051560" y="5492115"/>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جُمْلَةٌ: مَا هَدَفُكَ مِنَ التَّبَادُلِ؟</a:t>
            </a:r>
            <a:endParaRPr lang="ar-SA" sz="1700" dirty="0"/>
          </a:p>
        </p:txBody>
      </p:sp>
      <p:sp>
        <p:nvSpPr>
          <p:cNvPr id="71" name="Text 68"/>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72" name="Text 6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One word or a short phrase for each box — the last box is a full sentence with a verbal noun (taḥsīn) and a reason.</a:t>
            </a:r>
            <a:endParaRPr lang="en-US" sz="115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18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TE-L02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1 · MODEL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00" b="1" dirty="0">
                <a:solidFill>
                  <a:srgbClr val="1B3B6F"/>
                </a:solidFill>
                <a:latin typeface="Cambria" pitchFamily="34" charset="0"/>
                <a:cs typeface="Amiri" pitchFamily="2" charset="-78"/>
              </a:rPr>
              <a:t>Language-exchange application form: model answers</a:t>
            </a:r>
            <a:endParaRPr lang="en-US" sz="1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54312" y="1810512"/>
            <a:ext cx="2304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5056632" y="1810512"/>
            <a:ext cx="4151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answer</a:t>
            </a:r>
            <a:endParaRPr lang="en-US" sz="1100" dirty="0"/>
          </a:p>
        </p:txBody>
      </p:sp>
      <p:sp>
        <p:nvSpPr>
          <p:cNvPr id="18" name="Text 15"/>
          <p:cNvSpPr txBox="1"/>
          <p:nvPr/>
        </p:nvSpPr>
        <p:spPr>
          <a:xfrm>
            <a:off x="103327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9390888" y="2267712"/>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Salma Ahmed</a:t>
            </a:r>
            <a:endParaRPr lang="en-US" sz="1100" dirty="0"/>
          </a:p>
        </p:txBody>
      </p:sp>
      <p:sp>
        <p:nvSpPr>
          <p:cNvPr id="22" name="Text 19"/>
          <p:cNvSpPr txBox="1"/>
          <p:nvPr/>
        </p:nvSpPr>
        <p:spPr>
          <a:xfrm>
            <a:off x="5074920" y="2267712"/>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سَلْمَى أَحْمَدُ</a:t>
            </a:r>
            <a:endParaRPr lang="ar-SA" sz="1800" dirty="0"/>
          </a:p>
        </p:txBody>
      </p:sp>
      <p:sp>
        <p:nvSpPr>
          <p:cNvPr id="23" name="Text 20"/>
          <p:cNvSpPr txBox="1"/>
          <p:nvPr/>
        </p:nvSpPr>
        <p:spPr>
          <a:xfrm>
            <a:off x="1051560" y="2267712"/>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الاسْمُ</a:t>
            </a:r>
            <a:endParaRPr lang="ar-SA" sz="16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6" name="Text 23"/>
          <p:cNvSpPr txBox="1"/>
          <p:nvPr/>
        </p:nvSpPr>
        <p:spPr>
          <a:xfrm>
            <a:off x="9390888" y="2728341"/>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sixteen</a:t>
            </a:r>
            <a:endParaRPr lang="en-US" sz="1100" dirty="0"/>
          </a:p>
        </p:txBody>
      </p:sp>
      <p:sp>
        <p:nvSpPr>
          <p:cNvPr id="27" name="Text 24"/>
          <p:cNvSpPr txBox="1"/>
          <p:nvPr/>
        </p:nvSpPr>
        <p:spPr>
          <a:xfrm>
            <a:off x="5074920" y="2728341"/>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سِتَّ عَشْرَةَ سَنَةً</a:t>
            </a:r>
            <a:endParaRPr lang="ar-SA" sz="1800" dirty="0"/>
          </a:p>
        </p:txBody>
      </p:sp>
      <p:sp>
        <p:nvSpPr>
          <p:cNvPr id="28" name="Text 25"/>
          <p:cNvSpPr txBox="1"/>
          <p:nvPr/>
        </p:nvSpPr>
        <p:spPr>
          <a:xfrm>
            <a:off x="1051560" y="2728341"/>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العُمْرُ</a:t>
            </a:r>
            <a:endParaRPr lang="ar-SA" sz="1600" dirty="0"/>
          </a:p>
        </p:txBody>
      </p:sp>
      <p:sp>
        <p:nvSpPr>
          <p:cNvPr id="29" name="Text 26"/>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0" name="Shape 27"/>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1" name="Text 28"/>
          <p:cNvSpPr txBox="1"/>
          <p:nvPr/>
        </p:nvSpPr>
        <p:spPr>
          <a:xfrm>
            <a:off x="9390888" y="3188970"/>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English and Arabic</a:t>
            </a:r>
            <a:endParaRPr lang="en-US" sz="1100" dirty="0"/>
          </a:p>
        </p:txBody>
      </p:sp>
      <p:sp>
        <p:nvSpPr>
          <p:cNvPr id="32" name="Text 29"/>
          <p:cNvSpPr txBox="1"/>
          <p:nvPr/>
        </p:nvSpPr>
        <p:spPr>
          <a:xfrm>
            <a:off x="5074920" y="3188970"/>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الإِنْجْلِيزِيَّةُ وَالعَرَبِيَّةُ</a:t>
            </a:r>
            <a:endParaRPr lang="ar-SA" sz="1800" dirty="0"/>
          </a:p>
        </p:txBody>
      </p:sp>
      <p:sp>
        <p:nvSpPr>
          <p:cNvPr id="33" name="Text 30"/>
          <p:cNvSpPr txBox="1"/>
          <p:nvPr/>
        </p:nvSpPr>
        <p:spPr>
          <a:xfrm>
            <a:off x="1051560" y="3188970"/>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اللُّغَاتُ الَّتِي تَتَكَلَّمُهَا</a:t>
            </a:r>
            <a:endParaRPr lang="ar-SA" sz="1600" dirty="0"/>
          </a:p>
        </p:txBody>
      </p:sp>
      <p:sp>
        <p:nvSpPr>
          <p:cNvPr id="34" name="Text 31"/>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36" name="Text 33"/>
          <p:cNvSpPr txBox="1"/>
          <p:nvPr/>
        </p:nvSpPr>
        <p:spPr>
          <a:xfrm>
            <a:off x="9390888" y="3649599"/>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French</a:t>
            </a:r>
            <a:endParaRPr lang="en-US" sz="1100" dirty="0"/>
          </a:p>
        </p:txBody>
      </p:sp>
      <p:sp>
        <p:nvSpPr>
          <p:cNvPr id="37" name="Text 34"/>
          <p:cNvSpPr txBox="1"/>
          <p:nvPr/>
        </p:nvSpPr>
        <p:spPr>
          <a:xfrm>
            <a:off x="5074920" y="3649599"/>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الفَرَنْسِيَّةُ</a:t>
            </a:r>
            <a:endParaRPr lang="ar-SA" sz="1800" dirty="0"/>
          </a:p>
        </p:txBody>
      </p:sp>
      <p:sp>
        <p:nvSpPr>
          <p:cNvPr id="38" name="Text 35"/>
          <p:cNvSpPr txBox="1"/>
          <p:nvPr/>
        </p:nvSpPr>
        <p:spPr>
          <a:xfrm>
            <a:off x="1051560" y="3649599"/>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اللُّغَةُ الَّتِي تُرِيدُ تَعَلُّمَهَا</a:t>
            </a:r>
            <a:endParaRPr lang="ar-SA" sz="1600" dirty="0"/>
          </a:p>
        </p:txBody>
      </p:sp>
      <p:sp>
        <p:nvSpPr>
          <p:cNvPr id="39" name="Text 36"/>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0" name="Shape 37"/>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1" name="Text 38"/>
          <p:cNvSpPr txBox="1"/>
          <p:nvPr/>
        </p:nvSpPr>
        <p:spPr>
          <a:xfrm>
            <a:off x="9390888" y="4110228"/>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beginner (f.)</a:t>
            </a:r>
            <a:endParaRPr lang="en-US" sz="1100" dirty="0"/>
          </a:p>
        </p:txBody>
      </p:sp>
      <p:sp>
        <p:nvSpPr>
          <p:cNvPr id="42" name="Text 39"/>
          <p:cNvSpPr txBox="1"/>
          <p:nvPr/>
        </p:nvSpPr>
        <p:spPr>
          <a:xfrm>
            <a:off x="5074920" y="4110228"/>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مُبْتَدِئَةٌ</a:t>
            </a:r>
            <a:endParaRPr lang="ar-SA" sz="1800" dirty="0"/>
          </a:p>
        </p:txBody>
      </p:sp>
      <p:sp>
        <p:nvSpPr>
          <p:cNvPr id="43" name="Text 40"/>
          <p:cNvSpPr txBox="1"/>
          <p:nvPr/>
        </p:nvSpPr>
        <p:spPr>
          <a:xfrm>
            <a:off x="1051560" y="4110228"/>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المُسْتَوَى</a:t>
            </a:r>
            <a:endParaRPr lang="ar-SA" sz="1600" dirty="0"/>
          </a:p>
        </p:txBody>
      </p:sp>
      <p:sp>
        <p:nvSpPr>
          <p:cNvPr id="44" name="Text 41"/>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5" name="Shape 4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46" name="Text 43"/>
          <p:cNvSpPr txBox="1"/>
          <p:nvPr/>
        </p:nvSpPr>
        <p:spPr>
          <a:xfrm>
            <a:off x="9390888" y="4570857"/>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video call</a:t>
            </a:r>
            <a:endParaRPr lang="en-US" sz="1100" dirty="0"/>
          </a:p>
        </p:txBody>
      </p:sp>
      <p:sp>
        <p:nvSpPr>
          <p:cNvPr id="47" name="Text 44"/>
          <p:cNvSpPr txBox="1"/>
          <p:nvPr/>
        </p:nvSpPr>
        <p:spPr>
          <a:xfrm>
            <a:off x="5074920" y="4570857"/>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مُكَالَمَةُ فِيدْيُو</a:t>
            </a:r>
            <a:endParaRPr lang="ar-SA" sz="1800" dirty="0"/>
          </a:p>
        </p:txBody>
      </p:sp>
      <p:sp>
        <p:nvSpPr>
          <p:cNvPr id="48" name="Text 45"/>
          <p:cNvSpPr txBox="1"/>
          <p:nvPr/>
        </p:nvSpPr>
        <p:spPr>
          <a:xfrm>
            <a:off x="1051560" y="4570857"/>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طَرِيقَةُ التَّوَاصُلِ</a:t>
            </a:r>
            <a:endParaRPr lang="ar-SA" sz="1600" dirty="0"/>
          </a:p>
        </p:txBody>
      </p:sp>
      <p:sp>
        <p:nvSpPr>
          <p:cNvPr id="49" name="Text 4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50" name="Shape 47"/>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51" name="Text 48"/>
          <p:cNvSpPr txBox="1"/>
          <p:nvPr/>
        </p:nvSpPr>
        <p:spPr>
          <a:xfrm>
            <a:off x="9390888" y="5031486"/>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Tuesday and Thursday evenings</a:t>
            </a:r>
            <a:endParaRPr lang="en-US" sz="1100" dirty="0"/>
          </a:p>
        </p:txBody>
      </p:sp>
      <p:sp>
        <p:nvSpPr>
          <p:cNvPr id="52" name="Text 49"/>
          <p:cNvSpPr txBox="1"/>
          <p:nvPr/>
        </p:nvSpPr>
        <p:spPr>
          <a:xfrm>
            <a:off x="5074920" y="5031486"/>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مَسَاءَ الثُّلَاثَاءِ وَالخَمِيسِ</a:t>
            </a:r>
            <a:endParaRPr lang="ar-SA" sz="1800" dirty="0"/>
          </a:p>
        </p:txBody>
      </p:sp>
      <p:sp>
        <p:nvSpPr>
          <p:cNvPr id="53" name="Text 50"/>
          <p:cNvSpPr txBox="1"/>
          <p:nvPr/>
        </p:nvSpPr>
        <p:spPr>
          <a:xfrm>
            <a:off x="1051560" y="5031486"/>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الأَوْقَاتُ المُنَاسِبَةُ</a:t>
            </a:r>
            <a:endParaRPr lang="ar-SA" sz="1600" dirty="0"/>
          </a:p>
        </p:txBody>
      </p:sp>
      <p:sp>
        <p:nvSpPr>
          <p:cNvPr id="54" name="Text 51"/>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55" name="Shape 52"/>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9390888" y="5492115"/>
            <a:ext cx="2267712" cy="405765"/>
          </a:xfrm>
          <a:prstGeom prst="rect">
            <a:avLst/>
          </a:prstGeom>
          <a:noFill/>
          <a:ln/>
        </p:spPr>
        <p:txBody>
          <a:bodyPr wrap="square" lIns="0" tIns="0" rIns="0" bIns="0" rtlCol="0" anchor="ctr"/>
          <a:lstStyle/>
          <a:p>
            <a:pPr algn="l" indent="0" marL="0">
              <a:buNone/>
            </a:pPr>
            <a:r>
              <a:rPr lang="en-US" sz="800" dirty="0">
                <a:solidFill>
                  <a:srgbClr val="5A6472"/>
                </a:solidFill>
                <a:latin typeface="Calibri" pitchFamily="34" charset="0"/>
                <a:cs typeface="Amiri" pitchFamily="2" charset="-78"/>
              </a:rPr>
              <a:t>I want to improve my pronunciation, because I’m travelling to France in the summer.</a:t>
            </a:r>
            <a:endParaRPr lang="en-US" sz="800" dirty="0"/>
          </a:p>
        </p:txBody>
      </p:sp>
      <p:sp>
        <p:nvSpPr>
          <p:cNvPr id="57" name="Text 54"/>
          <p:cNvSpPr txBox="1"/>
          <p:nvPr/>
        </p:nvSpPr>
        <p:spPr>
          <a:xfrm>
            <a:off x="5074920" y="5492115"/>
            <a:ext cx="4114800" cy="405765"/>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2" charset="-78"/>
                <a:ea typeface="Amiri" pitchFamily="2" charset="-78"/>
                <a:cs typeface="Amiri" pitchFamily="2" charset="-78"/>
              </a:rPr>
              <a:t>أُرِيدُ تَحْسِينَ نُطْقِي، لِأَنِّي سَأُسَافِرُ إِلَى فَرَنْسَا فِي الصَّيْفِ.</a:t>
            </a:r>
            <a:endParaRPr lang="ar-SA" sz="1650" dirty="0"/>
          </a:p>
        </p:txBody>
      </p:sp>
      <p:sp>
        <p:nvSpPr>
          <p:cNvPr id="58" name="Text 55"/>
          <p:cNvSpPr txBox="1"/>
          <p:nvPr/>
        </p:nvSpPr>
        <p:spPr>
          <a:xfrm>
            <a:off x="1051560" y="5492115"/>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جُمْلَةٌ: مَا هَدَفُكَ مِنَ التَّبَادُلِ؟</a:t>
            </a:r>
            <a:endParaRPr lang="ar-SA" sz="1600" dirty="0"/>
          </a:p>
        </p:txBody>
      </p:sp>
      <p:sp>
        <p:nvSpPr>
          <p:cNvPr id="59" name="Text 56"/>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60" name="Text 5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Short answers are fine — but they must be accurate, in Arabic, and answer exactly what the form asks.</a:t>
            </a:r>
            <a:endParaRPr lang="en-US" sz="11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18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TE-L02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DIRECTED WRITING · ABOUT 80–90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2: my language exchange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تَبَادُلِي اللُّغَوِيُّ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TE-L02</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06524"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0652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Q2 · DIRECTED WRITING</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an email in Arabic to a friend of about 80–90 words. You must include: • who your language-exchange partner is • how and how often you communicate • what you do in the sessions and your opinion • your plans, and a question for your friend.</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four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greeting and a closing.</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verbal noun and one relative clause.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Present AND future.</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About 80–90 words.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بَدَأْتُ تَبَادُلًا لُغَوِيًّا مَعَ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started a language exchange with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نَتَوَاصَلُ بِالفِيدْيُو مَرَّتَيْنِ فِي الأُسْبُوعِ</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we communicate by … twice a week</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تَعَلُّمُ اللُّغَةِ بِهٰذِهِ الطَّرِيقَةِ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learning a language this way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الصَّيْفِ سَأَزُورُ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in the summer I will visit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18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TE-L02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THE TASK IN ARABIC (AS IN THE EXAM)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the Arabic rubric</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السُّؤَالِ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627632" y="1810512"/>
            <a:ext cx="6071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82128" y="2267712"/>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Write to your friend about your language exchange (80–90 words).</a:t>
            </a:r>
            <a:endParaRPr lang="en-US" sz="1100" dirty="0"/>
          </a:p>
        </p:txBody>
      </p:sp>
      <p:sp>
        <p:nvSpPr>
          <p:cNvPr id="21" name="Text 18"/>
          <p:cNvSpPr txBox="1"/>
          <p:nvPr/>
        </p:nvSpPr>
        <p:spPr>
          <a:xfrm>
            <a:off x="1645920" y="2267712"/>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اكْتُبِي رِسَالَةً إِلَى صَدِيقَتِكِ عَنْ تَبَادُلِكِ اللُّغَوِيِّ (٨٠–٩٠ كَلِمَةً).</a:t>
            </a:r>
            <a:endParaRPr lang="ar-SA" sz="1800" dirty="0"/>
          </a:p>
        </p:txBody>
      </p:sp>
      <p:sp>
        <p:nvSpPr>
          <p:cNvPr id="22" name="Text 19"/>
          <p:cNvSpPr txBox="1"/>
          <p:nvPr/>
        </p:nvSpPr>
        <p:spPr>
          <a:xfrm>
            <a:off x="566928" y="2267712"/>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task</a:t>
            </a:r>
            <a:endParaRPr lang="en-US" sz="110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7882128" y="300471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Who your exchange partner is</a:t>
            </a:r>
            <a:endParaRPr lang="en-US" sz="1100" dirty="0"/>
          </a:p>
        </p:txBody>
      </p:sp>
      <p:sp>
        <p:nvSpPr>
          <p:cNvPr id="25" name="Text 22"/>
          <p:cNvSpPr txBox="1"/>
          <p:nvPr/>
        </p:nvSpPr>
        <p:spPr>
          <a:xfrm>
            <a:off x="1645920" y="300471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مَنْ شَرِيكَتُكِ فِي التَّبَادُلِ؟</a:t>
            </a:r>
            <a:endParaRPr lang="ar-SA" sz="1800" dirty="0"/>
          </a:p>
        </p:txBody>
      </p:sp>
      <p:sp>
        <p:nvSpPr>
          <p:cNvPr id="26" name="Text 23"/>
          <p:cNvSpPr txBox="1"/>
          <p:nvPr/>
        </p:nvSpPr>
        <p:spPr>
          <a:xfrm>
            <a:off x="566928" y="300471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8" name="Text 25"/>
          <p:cNvSpPr txBox="1"/>
          <p:nvPr/>
        </p:nvSpPr>
        <p:spPr>
          <a:xfrm>
            <a:off x="7882128" y="3741725"/>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and how often you communicate</a:t>
            </a:r>
            <a:endParaRPr lang="en-US" sz="1100" dirty="0"/>
          </a:p>
        </p:txBody>
      </p:sp>
      <p:sp>
        <p:nvSpPr>
          <p:cNvPr id="29" name="Text 26"/>
          <p:cNvSpPr txBox="1"/>
          <p:nvPr/>
        </p:nvSpPr>
        <p:spPr>
          <a:xfrm>
            <a:off x="1645920" y="3741725"/>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كَيْفَ تَتَوَاصَلَانِ؟ وَكَمْ مَرَّةً؟</a:t>
            </a:r>
            <a:endParaRPr lang="ar-SA" sz="1800" dirty="0"/>
          </a:p>
        </p:txBody>
      </p:sp>
      <p:sp>
        <p:nvSpPr>
          <p:cNvPr id="30" name="Text 27"/>
          <p:cNvSpPr txBox="1"/>
          <p:nvPr/>
        </p:nvSpPr>
        <p:spPr>
          <a:xfrm>
            <a:off x="566928" y="3741725"/>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1" name="Shape 2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2" name="Text 29"/>
          <p:cNvSpPr txBox="1"/>
          <p:nvPr/>
        </p:nvSpPr>
        <p:spPr>
          <a:xfrm>
            <a:off x="7882128" y="4478731"/>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you do; your opinion</a:t>
            </a:r>
            <a:endParaRPr lang="en-US" sz="1100" dirty="0"/>
          </a:p>
        </p:txBody>
      </p:sp>
      <p:sp>
        <p:nvSpPr>
          <p:cNvPr id="33" name="Text 30"/>
          <p:cNvSpPr txBox="1"/>
          <p:nvPr/>
        </p:nvSpPr>
        <p:spPr>
          <a:xfrm>
            <a:off x="1645920" y="4478731"/>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مَاذَا تَفْعَلَانِ؟ وَمَا رَأْيُكِ؟</a:t>
            </a:r>
            <a:endParaRPr lang="ar-SA" sz="1800" dirty="0"/>
          </a:p>
        </p:txBody>
      </p:sp>
      <p:sp>
        <p:nvSpPr>
          <p:cNvPr id="34" name="Text 31"/>
          <p:cNvSpPr txBox="1"/>
          <p:nvPr/>
        </p:nvSpPr>
        <p:spPr>
          <a:xfrm>
            <a:off x="566928" y="4478731"/>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7882128" y="521573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plans; a question for your friend</a:t>
            </a:r>
            <a:endParaRPr lang="en-US" sz="1100" dirty="0"/>
          </a:p>
        </p:txBody>
      </p:sp>
      <p:sp>
        <p:nvSpPr>
          <p:cNvPr id="37" name="Text 34"/>
          <p:cNvSpPr txBox="1"/>
          <p:nvPr/>
        </p:nvSpPr>
        <p:spPr>
          <a:xfrm>
            <a:off x="1645920" y="521573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 خِطَطُكِ؟ وَاسْأَلِي صَدِيقَتَكِ سُؤَالًا.</a:t>
            </a:r>
            <a:endParaRPr lang="ar-SA" sz="1800" dirty="0"/>
          </a:p>
        </p:txBody>
      </p:sp>
      <p:sp>
        <p:nvSpPr>
          <p:cNvPr id="38" name="Text 35"/>
          <p:cNvSpPr txBox="1"/>
          <p:nvPr/>
        </p:nvSpPr>
        <p:spPr>
          <a:xfrm>
            <a:off x="566928" y="521573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 the exam the instructions are in Arabic: underline the question word in each bullet.</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18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TE-L02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CORE FRAMES (DEVELOP: USE THEM ONLY IF STUCK)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with these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162763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Frame</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065008" y="226771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Hello …, how are you?</a:t>
            </a:r>
            <a:endParaRPr lang="en-US" sz="1100" dirty="0"/>
          </a:p>
        </p:txBody>
      </p:sp>
      <p:sp>
        <p:nvSpPr>
          <p:cNvPr id="21" name="Text 18"/>
          <p:cNvSpPr txBox="1"/>
          <p:nvPr/>
        </p:nvSpPr>
        <p:spPr>
          <a:xfrm>
            <a:off x="1645920" y="226771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مَرْحَبًا يَا ______ ، كَيْفَ حَالُكِ؟</a:t>
            </a:r>
            <a:endParaRPr lang="ar-SA" sz="1800" dirty="0"/>
          </a:p>
        </p:txBody>
      </p:sp>
      <p:sp>
        <p:nvSpPr>
          <p:cNvPr id="22" name="Text 19"/>
          <p:cNvSpPr txBox="1"/>
          <p:nvPr/>
        </p:nvSpPr>
        <p:spPr>
          <a:xfrm>
            <a:off x="566928" y="226771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start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065008" y="2881884"/>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started an exchange with …; she is …</a:t>
            </a:r>
            <a:endParaRPr lang="en-US" sz="1100" dirty="0"/>
          </a:p>
        </p:txBody>
      </p:sp>
      <p:sp>
        <p:nvSpPr>
          <p:cNvPr id="27" name="Text 24"/>
          <p:cNvSpPr txBox="1"/>
          <p:nvPr/>
        </p:nvSpPr>
        <p:spPr>
          <a:xfrm>
            <a:off x="1645920" y="2881884"/>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بَدَأْتُ تَبَادُلًا لُغَوِيًّا مَعَ ______ ، وَهِيَ ______ .</a:t>
            </a:r>
            <a:endParaRPr lang="ar-SA" sz="1800" dirty="0"/>
          </a:p>
        </p:txBody>
      </p:sp>
      <p:sp>
        <p:nvSpPr>
          <p:cNvPr id="28" name="Text 25"/>
          <p:cNvSpPr txBox="1"/>
          <p:nvPr/>
        </p:nvSpPr>
        <p:spPr>
          <a:xfrm>
            <a:off x="566928" y="2881884"/>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065008" y="3496056"/>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 communicate by … … a week.</a:t>
            </a:r>
            <a:endParaRPr lang="en-US" sz="1100" dirty="0"/>
          </a:p>
        </p:txBody>
      </p:sp>
      <p:sp>
        <p:nvSpPr>
          <p:cNvPr id="33" name="Text 30"/>
          <p:cNvSpPr txBox="1"/>
          <p:nvPr/>
        </p:nvSpPr>
        <p:spPr>
          <a:xfrm>
            <a:off x="1645920" y="3496056"/>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نَتَوَاصَلُ عَبْرَ ______ ______ فِي الأُسْبُوعِ.</a:t>
            </a:r>
            <a:endParaRPr lang="ar-SA" sz="1800" dirty="0"/>
          </a:p>
        </p:txBody>
      </p:sp>
      <p:sp>
        <p:nvSpPr>
          <p:cNvPr id="34" name="Text 31"/>
          <p:cNvSpPr txBox="1"/>
          <p:nvPr/>
        </p:nvSpPr>
        <p:spPr>
          <a:xfrm>
            <a:off x="566928" y="3496056"/>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065008" y="4110228"/>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She …, and I … The exchange is …</a:t>
            </a:r>
            <a:endParaRPr lang="en-US" sz="1100" dirty="0"/>
          </a:p>
        </p:txBody>
      </p:sp>
      <p:sp>
        <p:nvSpPr>
          <p:cNvPr id="39" name="Text 36"/>
          <p:cNvSpPr txBox="1"/>
          <p:nvPr/>
        </p:nvSpPr>
        <p:spPr>
          <a:xfrm>
            <a:off x="1645920" y="4110228"/>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هِيَ ______ ، وَأَنَا ______ . التَّبَادُلُ ______ .</a:t>
            </a:r>
            <a:endParaRPr lang="ar-SA" sz="1800" dirty="0"/>
          </a:p>
        </p:txBody>
      </p:sp>
      <p:sp>
        <p:nvSpPr>
          <p:cNvPr id="40" name="Text 37"/>
          <p:cNvSpPr txBox="1"/>
          <p:nvPr/>
        </p:nvSpPr>
        <p:spPr>
          <a:xfrm>
            <a:off x="566928" y="4110228"/>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1" name="Shape 3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4" name="Text 41"/>
          <p:cNvSpPr txBox="1"/>
          <p:nvPr/>
        </p:nvSpPr>
        <p:spPr>
          <a:xfrm>
            <a:off x="8065008" y="4724400"/>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 summer I will … And you, …?</a:t>
            </a:r>
            <a:endParaRPr lang="en-US" sz="1100" dirty="0"/>
          </a:p>
        </p:txBody>
      </p:sp>
      <p:sp>
        <p:nvSpPr>
          <p:cNvPr id="45" name="Text 42"/>
          <p:cNvSpPr txBox="1"/>
          <p:nvPr/>
        </p:nvSpPr>
        <p:spPr>
          <a:xfrm>
            <a:off x="1645920" y="4724400"/>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الصَّيْفِ سَأَ______ . وَأَنْتِ، ______ ؟</a:t>
            </a:r>
            <a:endParaRPr lang="ar-SA" sz="1800" dirty="0"/>
          </a:p>
        </p:txBody>
      </p:sp>
      <p:sp>
        <p:nvSpPr>
          <p:cNvPr id="46" name="Text 43"/>
          <p:cNvSpPr txBox="1"/>
          <p:nvPr/>
        </p:nvSpPr>
        <p:spPr>
          <a:xfrm>
            <a:off x="566928" y="4724400"/>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7" name="Shape 44"/>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8065008" y="533857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Goodbye, (your name)</a:t>
            </a:r>
            <a:endParaRPr lang="en-US" sz="1100" dirty="0"/>
          </a:p>
        </p:txBody>
      </p:sp>
      <p:sp>
        <p:nvSpPr>
          <p:cNvPr id="51" name="Text 48"/>
          <p:cNvSpPr txBox="1"/>
          <p:nvPr/>
        </p:nvSpPr>
        <p:spPr>
          <a:xfrm>
            <a:off x="1645920" y="533857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مَعَ السَّلَامَةِ، ______</a:t>
            </a:r>
            <a:endParaRPr lang="ar-SA" sz="1800" dirty="0"/>
          </a:p>
        </p:txBody>
      </p:sp>
      <p:sp>
        <p:nvSpPr>
          <p:cNvPr id="52" name="Text 49"/>
          <p:cNvSpPr txBox="1"/>
          <p:nvPr/>
        </p:nvSpPr>
        <p:spPr>
          <a:xfrm>
            <a:off x="566928" y="533857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end</a:t>
            </a:r>
            <a:endParaRPr lang="en-US" sz="1100" dirty="0"/>
          </a:p>
        </p:txBody>
      </p:sp>
      <p:sp>
        <p:nvSpPr>
          <p:cNvPr id="53" name="Shape 50"/>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Develop: add a frequency word and a “but” (lākin). Stretch: write without frames and add a second opinion.</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18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TE-L02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CORE MODEL · A SECURE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Q2 Core model: every bullet covered</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800" dirty="0">
                <a:solidFill>
                  <a:srgbClr val="1F2A37"/>
                </a:solidFill>
                <a:latin typeface="Amiri" pitchFamily="2" charset="-78"/>
                <a:ea typeface="Amiri" pitchFamily="2" charset="-78"/>
                <a:cs typeface="Amiri" pitchFamily="2" charset="-78"/>
              </a:rPr>
              <a:t>مَرْحَبًا يَا نُورُ،</a:t>
            </a:r>
            <a:endParaRPr lang="ar-SA" sz="1800" dirty="0"/>
          </a:p>
          <a:p>
            <a:pPr rtl="1" algn="r" indent="0" marL="0">
              <a:lnSpc>
                <a:spcPct val="120000"/>
              </a:lnSpc>
              <a:buNone/>
            </a:pPr>
            <a:r>
              <a:rPr lang="ar-SA" altLang="en-US" sz="1800" dirty="0">
                <a:solidFill>
                  <a:srgbClr val="1F2A37"/>
                </a:solidFill>
                <a:latin typeface="Amiri" pitchFamily="2" charset="-78"/>
                <a:ea typeface="Amiri" pitchFamily="2" charset="-78"/>
                <a:cs typeface="Amiri" pitchFamily="2" charset="-78"/>
              </a:rPr>
              <a:t>كَيْفَ حَالُكِ؟ عِنْدِي خَبَرٌ جَمِيلٌ! بَدَأْتُ تَبَادُلًا لُغَوِيًّا عَلَى الإِنْتَرْنِتِ مَعَ بِنْتٍ اسْمُهَا لِينَا. لِينَا أُرْدُنِيَّةٌ، وَتَسْكُنُ فِي عَمَّانَ. نَتَوَاصَلُ بِمُكَالَمَةِ فِيدْيُو مَرَّتَيْنِ فِي الأُسْبُوعِ. أَوَّلًا نَتَكَلَّمُ بِالعَرَبِيَّةِ نِصْفَ سَاعَةٍ، ثُمَّ بِالإِنْجْلِيزِيَّةِ نِصْفَ سَاعَةٍ. هِيَ تُصَحِّحُ نُطْقِي، وَأَنَا أُسَاعِدُهَا فِي القَوَاعِدِ. تَعَلُّمُ اللُّغَةِ بِهٰذِهِ الطَّرِيقَةِ مُمْتِعٌ جِدًّا، لِأَنِّي أَتَكَلَّمُ مَعَ شَخْصٍ حَقِيقِيٍّ. فِي الصَّيْفِ سَأَزُورُ الأُرْدُنَّ، وَسَأُقَابِلُ لِينَا إِنْ شَاءَ اللّٰهُ. وَأَنْتِ، هَلْ تُرِيدِينَ صَدِيقَةً لِلتَّبَادُلِ أَيْضًا؟</a:t>
            </a:r>
            <a:endParaRPr lang="ar-SA" sz="1800" dirty="0"/>
          </a:p>
          <a:p>
            <a:pPr rtl="1" algn="r" indent="0" marL="0">
              <a:lnSpc>
                <a:spcPct val="120000"/>
              </a:lnSpc>
              <a:buNone/>
            </a:pPr>
            <a:r>
              <a:rPr lang="ar-SA" altLang="en-US" sz="1800" dirty="0">
                <a:solidFill>
                  <a:srgbClr val="1F2A37"/>
                </a:solidFill>
                <a:latin typeface="Amiri" pitchFamily="2" charset="-78"/>
                <a:ea typeface="Amiri" pitchFamily="2" charset="-78"/>
                <a:cs typeface="Amiri" pitchFamily="2" charset="-78"/>
              </a:rPr>
              <a:t>مَعَ السَّلَامَةِ،</a:t>
            </a:r>
            <a:endParaRPr lang="ar-SA" sz="1800" dirty="0"/>
          </a:p>
          <a:p>
            <a:pPr rtl="1" algn="r" indent="0" marL="0">
              <a:lnSpc>
                <a:spcPct val="120000"/>
              </a:lnSpc>
              <a:buNone/>
            </a:pPr>
            <a:r>
              <a:rPr lang="ar-SA" altLang="en-US" sz="1800" dirty="0">
                <a:solidFill>
                  <a:srgbClr val="1F2A37"/>
                </a:solidFill>
                <a:latin typeface="Amiri" pitchFamily="2" charset="-78"/>
                <a:ea typeface="Amiri" pitchFamily="2" charset="-78"/>
                <a:cs typeface="Amiri" pitchFamily="2" charset="-78"/>
              </a:rPr>
              <a:t>سَلْمَى</a:t>
            </a:r>
            <a:endParaRPr lang="ar-SA" sz="18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“Hello Nour, how are you? I have lovely news! I started an online language exchange with a girl called Lina. Lina is Jordanian and lives in Amman. We talk by video call twice a week: first half an hour in Arabic, then half an hour in English. She corrects my pronunciation and I help her with grammar. Learning a language this way is great fun, because I speak with a real person. In the summer I’ll visit Jordan and meet Lina, God willing. And you, do you want an exchange friend too? Goodbye, Salma.”</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تَبَادُلًا لُغَوِيًّا</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نَتَوَاصَلُ بِمُكَالَمَةِ فِيدْيُو</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تَعَلُّمُ اللُّغَةِ</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سَأَزُورُ الأُرْدُنَّ</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18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TE-L02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Q2 full-mark model: detail, linking, opinion</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عَزِيزَتِي نُورُ،</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أَكْتُبُ إِلَيْكِ لِأُخْبِرَكِ بِتَجْرِبَةٍ غَيَّرَتْ طَرِيقَةَ تَعَلُّمِي! فَقَدْ بَدَأْتُ تَبَادُلًا لُغَوِيًّا مَعَ لِينَا، وَهِيَ طَالِبَةٌ أُرْدُنِيَّةٌ تَدْرُسُ الطِّبَّ فِي عَمَّانَ وَتُرِيدُ أَنْ تُحَسِّنَ لُغَتَهَا الإِنْجْلِيزِيَّةَ. نَتَوَاصَلُ مَرَّتَيْنِ فِي الأُسْبُوعِ بِالفِيدْيُو، فَنَتَحَدَّثُ نِصْفَ السَّاعَةِ الأُولَى بِالعَرَبِيَّةِ، وَالثَّانِيَةَ بِالإِنْجْلِيزِيَّةِ. أَكْثَرُ مَا يُعْجِبُنِي أَنَّ لِينَا تُعَلِّمُنِي عِبَارَاتٍ لَا تُوجَدُ فِي الكُتُبِ، وَتَشْرَحُ لِي الفَرْقَ بَيْنَ لَهْجَتِهَا وَالفُصْحَى. صَحِيحٌ أَنَّنِي أَخْجَلُ أَحْيَانًا مِنْ أَخْطَائِي، غَيْرَ أَنَّهَا صَبُورَةٌ جِدًّا. وَإِذَا اسْتَمْرَرْنَا هٰكَذَا، فَسَأَتَكَلَّمُ بِطَلَاقَةٍ قَبْلَ الامْتِحَانِ. هَلْ تُرِيدِينَ أَنْ أُعَرِّفَكِ بِصَدِيقَةٍ لَهَا؟</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بِمَحَبَّةٍ،</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سَلْمَى</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“Dear Nour, I’m writing to tell you about an experience that changed how I learn! I started a language exchange with Lina, a Jordanian medical student in Amman who wants to improve her English. We talk by video twice a week: the first half hour in Arabic, the second in English. What I like most is that Lina teaches me expressions you won’t find in books and explains the difference between her dialect and fuṣḥā. I’m sometimes embarrassed by my mistakes, but she is very patient. If we keep this up, I’ll speak fluently before the exam. Shall I introduce you to a friend of hers? With love, Salma.”</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تَجْرِبَةٍ غَيَّرَتْ</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طَالِبَةٌ أُرْدُنِيَّةٌ تَدْرُسُ</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لَا تُوجَدُ فِي الكُتُبِ</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إِذَا اسْتَمْرَرْنَا … فَسَأَتَكَلَّمُ</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18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TE-L02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QUESTION 3 · EXTENDED WRITING · ABOUT 130–150 WORDS · CHOOSE ONE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3: choose one title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اخْتَرْ عُنْوَانًا وَاحِدًا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71232" y="1810512"/>
            <a:ext cx="4087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53619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859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Title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07808" y="2267712"/>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Languages in my daily life</a:t>
            </a:r>
            <a:endParaRPr lang="en-US" sz="1100" dirty="0"/>
          </a:p>
        </p:txBody>
      </p:sp>
      <p:sp>
        <p:nvSpPr>
          <p:cNvPr id="21" name="Text 18"/>
          <p:cNvSpPr txBox="1"/>
          <p:nvPr/>
        </p:nvSpPr>
        <p:spPr>
          <a:xfrm>
            <a:off x="1554480" y="2267712"/>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اللُّغَاتُ فِي حَيَاتِي اليَوْمِيَّةِ</a:t>
            </a:r>
            <a:endParaRPr lang="ar-SA" sz="1700" dirty="0"/>
          </a:p>
        </p:txBody>
      </p:sp>
      <p:sp>
        <p:nvSpPr>
          <p:cNvPr id="22" name="Text 19"/>
          <p:cNvSpPr txBox="1"/>
          <p:nvPr/>
        </p:nvSpPr>
        <p:spPr>
          <a:xfrm>
            <a:off x="548640" y="2267712"/>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a:t>
            </a:r>
            <a:endParaRPr lang="ar-SA" sz="20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7607808" y="3054096"/>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languages you speak and with whom · your day between languages · how you learn and the difficulties · your opinion and plans</a:t>
            </a:r>
            <a:endParaRPr lang="en-US" sz="1100" dirty="0"/>
          </a:p>
        </p:txBody>
      </p:sp>
      <p:sp>
        <p:nvSpPr>
          <p:cNvPr id="25" name="Text 22"/>
          <p:cNvSpPr txBox="1"/>
          <p:nvPr/>
        </p:nvSpPr>
        <p:spPr>
          <a:xfrm>
            <a:off x="1554480" y="3054096"/>
            <a:ext cx="5852160"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اللُّغَاتُ الَّتِي تَتَكَلَّمُهَا وَمَعَ مَنْ · يَوْمُكَ بَيْنَ اللُّغَاتِ · كَيْفَ تَتَعَلَّمُ وَمَا الصُّعُوبَاتُ · رَأْيُكَ وَخُطَطُكَ</a:t>
            </a:r>
            <a:endParaRPr lang="ar-SA" sz="1400" dirty="0"/>
          </a:p>
        </p:txBody>
      </p:sp>
      <p:sp>
        <p:nvSpPr>
          <p:cNvPr id="26" name="Text 23"/>
          <p:cNvSpPr txBox="1"/>
          <p:nvPr/>
        </p:nvSpPr>
        <p:spPr>
          <a:xfrm>
            <a:off x="566928" y="3054096"/>
            <a:ext cx="822960" cy="731520"/>
          </a:xfrm>
          <a:prstGeom prst="rect">
            <a:avLst/>
          </a:prstGeom>
          <a:noFill/>
          <a:ln/>
        </p:spPr>
        <p:txBody>
          <a:bodyPr wrap="square" lIns="0" tIns="0" rIns="0" bIns="0" rtlCol="0" anchor="ctr"/>
          <a:lstStyle/>
          <a:p>
            <a:pPr algn="l" indent="0" marL="0">
              <a:buNone/>
            </a:pP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7607808" y="3840480"/>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Will machine translation replace learning languages?</a:t>
            </a:r>
            <a:endParaRPr lang="en-US" sz="1100" dirty="0"/>
          </a:p>
        </p:txBody>
      </p:sp>
      <p:sp>
        <p:nvSpPr>
          <p:cNvPr id="29" name="Text 26"/>
          <p:cNvSpPr txBox="1"/>
          <p:nvPr/>
        </p:nvSpPr>
        <p:spPr>
          <a:xfrm>
            <a:off x="1554480" y="3840480"/>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هَلْ سَتُغْنِينَا التَّرْجَمَةُ الآلِيَّةُ عَنْ تَعَلُّمِ اللُّغَاتِ؟</a:t>
            </a:r>
            <a:endParaRPr lang="ar-SA" sz="1700" dirty="0"/>
          </a:p>
        </p:txBody>
      </p:sp>
      <p:sp>
        <p:nvSpPr>
          <p:cNvPr id="30" name="Text 27"/>
          <p:cNvSpPr txBox="1"/>
          <p:nvPr/>
        </p:nvSpPr>
        <p:spPr>
          <a:xfrm>
            <a:off x="548640" y="3840480"/>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(ب)</a:t>
            </a:r>
            <a:endParaRPr lang="ar-SA" sz="2000" dirty="0"/>
          </a:p>
        </p:txBody>
      </p:sp>
      <p:sp>
        <p:nvSpPr>
          <p:cNvPr id="31" name="Shape 2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2" name="Text 29"/>
          <p:cNvSpPr txBox="1"/>
          <p:nvPr/>
        </p:nvSpPr>
        <p:spPr>
          <a:xfrm>
            <a:off x="7607808" y="4626864"/>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issue · benefits and limits of machine translation · an example from your experience · your opinion</a:t>
            </a:r>
            <a:endParaRPr lang="en-US" sz="1100" dirty="0"/>
          </a:p>
        </p:txBody>
      </p:sp>
      <p:sp>
        <p:nvSpPr>
          <p:cNvPr id="33" name="Text 30"/>
          <p:cNvSpPr txBox="1"/>
          <p:nvPr/>
        </p:nvSpPr>
        <p:spPr>
          <a:xfrm>
            <a:off x="1554480" y="4626864"/>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المَوْضُوعُ · فَوَائِدُ التَّرْجَمَةِ الآلِيَّةِ وَحُدُودُهَا · مِثَالٌ مِنْ تَجْرِبَتِكَ · رَأْيُكَ</a:t>
            </a:r>
            <a:endParaRPr lang="ar-SA" sz="1700" dirty="0"/>
          </a:p>
        </p:txBody>
      </p:sp>
      <p:sp>
        <p:nvSpPr>
          <p:cNvPr id="34" name="Text 31"/>
          <p:cNvSpPr txBox="1"/>
          <p:nvPr/>
        </p:nvSpPr>
        <p:spPr>
          <a:xfrm>
            <a:off x="566928" y="4626864"/>
            <a:ext cx="822960" cy="731520"/>
          </a:xfrm>
          <a:prstGeom prst="rect">
            <a:avLst/>
          </a:prstGeom>
          <a:noFill/>
          <a:ln/>
        </p:spPr>
        <p:txBody>
          <a:bodyPr wrap="square" lIns="0" tIns="0" rIns="0" bIns="0" rtlCol="0" anchor="ctr"/>
          <a:lstStyle/>
          <a:p>
            <a:pPr algn="l" indent="0" marL="0">
              <a:buNone/>
            </a:pPr>
            <a:endParaRPr lang="en-US" sz="11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Cover all four points. Use three time frames (present · past · future), opinions with reasons, and linking words.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18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TE-L02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3 · PLAN BEFORE YOU WRITE (4 PARAGRAPHS)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four-paragraph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خُطَّةُ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TE-L02</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ONE PARAGRAPH FOR EACH POINT</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Who I am — abī … wa-ummī …; li-dhālika atakallamu lughatayni; fī al-bayti … wa-fī al-madrasati …</a:t>
            </a:r>
            <a:endParaRPr lang="en-US" sz="1300" dirty="0"/>
          </a:p>
        </p:txBody>
      </p:sp>
      <p:sp>
        <p:nvSpPr>
          <p:cNvPr id="20" name="Shape 17"/>
          <p:cNvSpPr/>
          <p:nvPr/>
        </p:nvSpPr>
        <p:spPr>
          <a:xfrm>
            <a:off x="658368" y="3035808"/>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03580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926080"/>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My day — fī aṣ-ṣabāḥi … wa-fī al-masāʾi attaṣilu bi- …; aḥyānan utarjimu li- …</a:t>
            </a:r>
            <a:endParaRPr lang="en-US" sz="1300" dirty="0"/>
          </a:p>
        </p:txBody>
      </p:sp>
      <p:sp>
        <p:nvSpPr>
          <p:cNvPr id="23" name="Shape 20"/>
          <p:cNvSpPr/>
          <p:nvPr/>
        </p:nvSpPr>
        <p:spPr>
          <a:xfrm>
            <a:off x="658368" y="3785616"/>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7856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675888"/>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Learning — ataʿallamu …; astakhdimu …; aṭ-ṭarīqatu allatī tusāʿidunī …; aṣʿabu shayʾin …, wa-maʿa dhālika …</a:t>
            </a:r>
            <a:endParaRPr lang="en-US" sz="1300" dirty="0"/>
          </a:p>
        </p:txBody>
      </p:sp>
      <p:sp>
        <p:nvSpPr>
          <p:cNvPr id="26" name="Shape 23"/>
          <p:cNvSpPr/>
          <p:nvPr/>
        </p:nvSpPr>
        <p:spPr>
          <a:xfrm>
            <a:off x="658368" y="4535424"/>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5354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4425696"/>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Opinion + future — arā anna taʿallumu al-lughāti …; sa-ataʿallamu … li-annī …; Stretch: laysa … bal, law … la-.</a:t>
            </a:r>
            <a:endParaRPr lang="en-US" sz="1300" dirty="0"/>
          </a:p>
        </p:txBody>
      </p:sp>
      <p:sp>
        <p:nvSpPr>
          <p:cNvPr id="29" name="Shape 26"/>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ONE SENTENCE PER TIME FRAME</a:t>
            </a:r>
            <a:endParaRPr lang="en-US" sz="1000" dirty="0"/>
          </a:p>
        </p:txBody>
      </p:sp>
      <p:sp>
        <p:nvSpPr>
          <p:cNvPr id="31" name="Text 28"/>
          <p:cNvSpPr txBox="1"/>
          <p:nvPr/>
        </p:nvSpPr>
        <p:spPr>
          <a:xfrm>
            <a:off x="6949440" y="2194560"/>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أَتَّصِلُ بِجَدَّتِي، وَأَتَكَلَّمُ مَعَهَا بِالعَرَبِيَّةِ.</a:t>
            </a:r>
            <a:endParaRPr lang="ar-SA" sz="2600" dirty="0"/>
          </a:p>
        </p:txBody>
      </p:sp>
      <p:sp>
        <p:nvSpPr>
          <p:cNvPr id="32" name="Text 29"/>
          <p:cNvSpPr txBox="1"/>
          <p:nvPr/>
        </p:nvSpPr>
        <p:spPr>
          <a:xfrm>
            <a:off x="6949440" y="2761244"/>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present: I call grandma and speak Arabic.</a:t>
            </a:r>
            <a:endParaRPr lang="en-US" sz="1100" dirty="0"/>
          </a:p>
        </p:txBody>
      </p:sp>
      <p:sp>
        <p:nvSpPr>
          <p:cNvPr id="33" name="Shape 30"/>
          <p:cNvSpPr/>
          <p:nvPr/>
        </p:nvSpPr>
        <p:spPr>
          <a:xfrm>
            <a:off x="6995160" y="3188208"/>
            <a:ext cx="4553712" cy="0"/>
          </a:xfrm>
          <a:prstGeom prst="line">
            <a:avLst/>
          </a:prstGeom>
          <a:noFill/>
          <a:ln w="9525">
            <a:solidFill>
              <a:srgbClr val="E4DCCB"/>
            </a:solidFill>
            <a:prstDash val="dash"/>
          </a:ln>
        </p:spPr>
      </p:sp>
      <p:sp>
        <p:nvSpPr>
          <p:cNvPr id="34" name="Text 31"/>
          <p:cNvSpPr txBox="1"/>
          <p:nvPr/>
        </p:nvSpPr>
        <p:spPr>
          <a:xfrm>
            <a:off x="6949440" y="3206496"/>
            <a:ext cx="4645152" cy="566684"/>
          </a:xfrm>
          <a:prstGeom prst="rect">
            <a:avLst/>
          </a:prstGeom>
          <a:noFill/>
          <a:ln/>
        </p:spPr>
        <p:txBody>
          <a:bodyPr wrap="square" lIns="0" tIns="0" rIns="0" bIns="0" rtlCol="0" anchor="ctr"/>
          <a:lstStyle/>
          <a:p>
            <a:pPr rtl="1" algn="ctr" indent="0" marL="0">
              <a:buNone/>
            </a:pPr>
            <a:r>
              <a:rPr lang="ar-SA" altLang="en-US" sz="2250" b="1" dirty="0">
                <a:solidFill>
                  <a:srgbClr val="1B3B6F"/>
                </a:solidFill>
                <a:latin typeface="Amiri" pitchFamily="2" charset="-78"/>
                <a:ea typeface="Amiri" pitchFamily="2" charset="-78"/>
                <a:cs typeface="Amiri" pitchFamily="2" charset="-78"/>
              </a:rPr>
              <a:t>الطَّرِيقَةُ الَّتِي تُسَاعِدُنِي هِيَ الكَلَامُ مَعَ النَّاسِ.</a:t>
            </a:r>
            <a:endParaRPr lang="ar-SA" sz="2250" dirty="0"/>
          </a:p>
        </p:txBody>
      </p:sp>
      <p:sp>
        <p:nvSpPr>
          <p:cNvPr id="35" name="Text 32"/>
          <p:cNvSpPr txBox="1"/>
          <p:nvPr/>
        </p:nvSpPr>
        <p:spPr>
          <a:xfrm>
            <a:off x="6949440" y="3773180"/>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relative: the way that helps me is talking.</a:t>
            </a:r>
            <a:endParaRPr lang="en-US" sz="1100" dirty="0"/>
          </a:p>
        </p:txBody>
      </p:sp>
      <p:sp>
        <p:nvSpPr>
          <p:cNvPr id="36" name="Shape 33"/>
          <p:cNvSpPr/>
          <p:nvPr/>
        </p:nvSpPr>
        <p:spPr>
          <a:xfrm>
            <a:off x="6995160" y="4200144"/>
            <a:ext cx="4553712" cy="0"/>
          </a:xfrm>
          <a:prstGeom prst="line">
            <a:avLst/>
          </a:prstGeom>
          <a:noFill/>
          <a:ln w="9525">
            <a:solidFill>
              <a:srgbClr val="E4DCCB"/>
            </a:solidFill>
            <a:prstDash val="dash"/>
          </a:ln>
        </p:spPr>
      </p:sp>
      <p:sp>
        <p:nvSpPr>
          <p:cNvPr id="37" name="Text 34"/>
          <p:cNvSpPr txBox="1"/>
          <p:nvPr/>
        </p:nvSpPr>
        <p:spPr>
          <a:xfrm>
            <a:off x="6949440" y="4218432"/>
            <a:ext cx="4645152" cy="566684"/>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2" charset="-78"/>
                <a:ea typeface="Amiri" pitchFamily="2" charset="-78"/>
                <a:cs typeface="Amiri" pitchFamily="2" charset="-78"/>
              </a:rPr>
              <a:t>سَأَتَعَلَّمُ الفَرَنْسِيَّةَ، لِأَنِّي أُرِيدُ أَنْ أُتَرْجِمَ.</a:t>
            </a:r>
            <a:endParaRPr lang="ar-SA" sz="2550" dirty="0"/>
          </a:p>
        </p:txBody>
      </p:sp>
      <p:sp>
        <p:nvSpPr>
          <p:cNvPr id="38" name="Text 35"/>
          <p:cNvSpPr txBox="1"/>
          <p:nvPr/>
        </p:nvSpPr>
        <p:spPr>
          <a:xfrm>
            <a:off x="6949440" y="4785116"/>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future: I’ll learn French to translate.</a:t>
            </a:r>
            <a:endParaRPr lang="en-US" sz="1100" dirty="0"/>
          </a:p>
        </p:txBody>
      </p:sp>
      <p:sp>
        <p:nvSpPr>
          <p:cNvPr id="39" name="Shape 36"/>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cs typeface="Amiri" pitchFamily="2" charset="-78"/>
              </a:rPr>
              <a:t>ROUTES</a:t>
            </a:r>
            <a:endParaRPr lang="en-US" sz="1100" dirty="0"/>
          </a:p>
        </p:txBody>
      </p:sp>
      <p:sp>
        <p:nvSpPr>
          <p:cNvPr id="41" name="Text 38"/>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Core: title (</a:t>
            </a:r>
            <a:pPr algn="l" indent="0" marL="0">
              <a:buNone/>
            </a:pPr>
            <a:r>
              <a:rPr lang="ar-SA" altLang="en-US" sz="1650" dirty="0">
                <a:solidFill>
                  <a:srgbClr val="1F2A37"/>
                </a:solidFill>
                <a:latin typeface="Amiri" pitchFamily="2" charset="-78"/>
                <a:ea typeface="Amiri" pitchFamily="2" charset="-78"/>
                <a:cs typeface="Amiri" pitchFamily="2" charset="-78"/>
              </a:rPr>
              <a:t>أ</a:t>
            </a:r>
            <a:pPr algn="l" indent="0" marL="0">
              <a:buNone/>
            </a:pPr>
            <a:r>
              <a:rPr lang="en-US" sz="1250" dirty="0">
                <a:solidFill>
                  <a:srgbClr val="1F2A37"/>
                </a:solidFill>
                <a:latin typeface="Calibri" pitchFamily="34" charset="0"/>
                <a:cs typeface="Amiri" pitchFamily="2" charset="-78"/>
              </a:rPr>
              <a:t>), one or two sentences per paragraph, then finish at home. Develop: three sentences per paragraph. Stretch: title (</a:t>
            </a:r>
            <a:pPr algn="l" indent="0" marL="0">
              <a:buNone/>
            </a:pPr>
            <a:r>
              <a:rPr lang="ar-SA" altLang="en-US" sz="1650" dirty="0">
                <a:solidFill>
                  <a:srgbClr val="1F2A37"/>
                </a:solidFill>
                <a:latin typeface="Amiri" pitchFamily="2" charset="-78"/>
                <a:ea typeface="Amiri" pitchFamily="2" charset="-78"/>
                <a:cs typeface="Amiri" pitchFamily="2" charset="-78"/>
              </a:rPr>
              <a:t>ب</a:t>
            </a:r>
            <a:pPr algn="l" indent="0" marL="0">
              <a:buNone/>
            </a:pPr>
            <a:r>
              <a:rPr lang="en-US" sz="1250" dirty="0">
                <a:solidFill>
                  <a:srgbClr val="1F2A37"/>
                </a:solidFill>
                <a:latin typeface="Calibri" pitchFamily="34" charset="0"/>
                <a:cs typeface="Amiri" pitchFamily="2" charset="-78"/>
              </a:rPr>
              <a:t>) with a contrast and a conditional.</a:t>
            </a:r>
            <a:endParaRPr lang="en-US" sz="12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18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TE-L02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CORE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Q3 (</a:t>
            </a:r>
            <a:pPr algn="l" indent="0" marL="0">
              <a:buNone/>
            </a:pPr>
            <a:r>
              <a:rPr lang="ar-SA" altLang="en-US" sz="3250" b="1" dirty="0">
                <a:solidFill>
                  <a:srgbClr val="1B3B6F"/>
                </a:solidFill>
                <a:latin typeface="Amiri" pitchFamily="2" charset="-78"/>
                <a:ea typeface="Amiri" pitchFamily="2" charset="-78"/>
                <a:cs typeface="Amiri" pitchFamily="2" charset="-78"/>
              </a:rPr>
              <a:t>أ</a:t>
            </a:r>
            <a:pPr algn="l" indent="0" marL="0">
              <a:buNone/>
            </a:pPr>
            <a:r>
              <a:rPr lang="en-US" sz="2500" b="1" dirty="0">
                <a:solidFill>
                  <a:srgbClr val="1B3B6F"/>
                </a:solidFill>
                <a:latin typeface="Cambria" pitchFamily="34" charset="0"/>
                <a:cs typeface="Amiri" pitchFamily="2" charset="-78"/>
              </a:rPr>
              <a:t>) Core model: clear and complete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أَنَا سَلْمَى، وَأَعِيشُ فِي لَنْدَنَ. أَبِي سُودَانِيٌّ، وَأُمِّي إِنْجْلِيزِيَّةٌ، لِذٰلِكَ أَتَكَلَّمُ لُغَتَيْنِ مُنْذُ صِغَرِي. فِي البَيْتِ نَتَكَلَّمُ الإِنْجْلِيزِيَّةَ وَالعَرَبِيَّةَ، وَفِي المَدْرَسَةِ أَتَكَلَّمُ الإِنْجْلِيزِيَّةَ فَقَطْ.</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فِي الصَّبَاحِ أَسْمَعُ القُرْآنَ بِالعَرَبِيَّةِ، وَفِي المَسَاءِ أَتَّصِلُ بِجَدَّتِي فِي الخُرْطُومِ عَبْرَ الفِيدْيُو، وَنَتَكَلَّمُ نِصْفَ سَاعَةٍ. جَدَّتِي لَا تَتَكَلَّمُ الإِنْجْلِيزِيَّةَ، لِذٰلِكَ أَتَكَلَّمُ مَعَهَا بِالعَرَبِيَّةِ دَائِمًا. أَحْيَانًا أُتَرْجِمُ لِأُمِّي، لِأَنَّهَا لَا تَفْهَمُ كُلَّ الكَلِمَاتِ العَرَبِيَّةِ، وَأَنَا أُحِبُّ مُسَاعَدَتَهَا.</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أَتَعَلَّمُ الفُصْحَى فِي المَدْرَسَةِ ثَلَاثَ سَاعَاتٍ فِي الأُسْبُوعِ. أَسْتَخْدِمُ تَطْبِيقًا لِلْمُفْرَدَاتِ، وَأُشَاهِدُ مُسَلْسَلًا عَرَبِيًّا مَعَ أُخْتِي. الطَّرِيقَةُ الَّتِي تُسَاعِدُنِي أَكْثَرَ هِيَ الكَلَامُ مَعَ النَّاسِ، لِأَنِّي أَسْمَعُ النُّطْقَ الصَّحِيحَ. أَصْعَبُ شَيْءٍ هُوَ القَوَاعِدُ، وَمَعَ ذٰلِكَ أُحِبُّهَا كَثِيرًا.</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أَرَى أَنَّ تَعَلُّمَ اللُّغَاتِ مُهِمٌّ جِدًّا. فِي المُسْتَقْبَلِ سَأَتَعَلَّمُ الفَرَنْسِيَّةَ أَيْضًا، لِأَنِّي أُرِيدُ أَنْ أَعْمَلَ مُتَرْجِمَةً فِي مُنَظَّمَةٍ دُوَلِيَّةٍ.</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I’m Salma in London: Sudanese dad, English mum, so two languages since childhood → mornings Qur’an in Arabic, evenings calls to grandma in Khartoum in Arabic; I sometimes translate for mum → I study fuṣḥā three hours a week, use an app and watch a series; talking to people helps most; grammar is hardest, yet I like it → learning languages matters; I’ll learn French to be a translator.</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لِذٰلِكَ أَتَكَلَّمُ</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أُتَرْجِمُ لِأُمِّي</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الطَّرِيقَةُ الَّتِي</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تَعَلُّمَ اللُّغَاتِ</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18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TE-L02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Q3 (</a:t>
            </a:r>
            <a:pPr algn="l" indent="0" marL="0">
              <a:buNone/>
            </a:pPr>
            <a:r>
              <a:rPr lang="ar-SA" altLang="en-US" sz="2850" b="1" dirty="0">
                <a:solidFill>
                  <a:srgbClr val="1B3B6F"/>
                </a:solidFill>
                <a:latin typeface="Amiri" pitchFamily="2" charset="-78"/>
                <a:ea typeface="Amiri" pitchFamily="2" charset="-78"/>
                <a:cs typeface="Amiri" pitchFamily="2" charset="-78"/>
              </a:rPr>
              <a:t>أ</a:t>
            </a:r>
            <a:pPr algn="l" indent="0" marL="0">
              <a:buNone/>
            </a:pPr>
            <a:r>
              <a:rPr lang="en-US" sz="2200" b="1" dirty="0">
                <a:solidFill>
                  <a:srgbClr val="1B3B6F"/>
                </a:solidFill>
                <a:latin typeface="Cambria" pitchFamily="34" charset="0"/>
                <a:cs typeface="Amiri" pitchFamily="2" charset="-78"/>
              </a:rPr>
              <a:t>) full-mark model: range and accuracy</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TE-L02</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حِينَ أَسْتَيْقِظُ صَبَاحًا، لَا أَعْرِفُ بِأَيِّ لُغَةٍ سَأَحْلُمُ فِي اللَّيْلِ! فَأَنَا أَعِيشُ يَوْمِي بَيْنَ ثَلَاثِ لُغَاتٍ: الإِنْجْلِيزِيَّةِ الَّتِي أَدْرُسُ بِهَا، وَالعَرَبِيَّةِ الَّتِي أُصَلِّي وَأُكَلِّمُ بِهَا جَدَّتِي، وَالفَرَنْسِيَّةِ الَّتِي بَدَأْتُ أَتَعَلَّمُهَا هٰذَا العَامَ، اسْتِعْدَادًا لِرِحْلَةٍ مَدْرَسِيَّةٍ إِلَى بَارِيسَ.</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وَلَيْسَ هٰذَا التَّنَقُّلُ سَهْلًا دَائِمًا؛ فَكَثِيرًا مَا أَبْحَثُ عَنْ كَلِمَةٍ عَرَبِيَّةٍ فَلَا أَجِدُ إِلَّا مُقَابِلَهَا الإِنْجْلِيزِيَّ، مِمَّا يُضْحِكُ أَقَارِبِي فِي الخُرْطُومِ. غَيْرَ أَنَّنِي اكْتَشَفْتُ أَنَّ أَفْضَلَ طَرِيقَةٍ لِلتَّعَلُّمِ لَيْسَتِ الحِفْظَ، بَلِ الاسْتِعْمَالُ الحَقِيقِيُّ فِي مَوَاقِفِ الحَيَاةِ اليَوْمِيَّةِ، مَهْمَا كَثُرَتِ الأَخْطَاءُ.</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لِذٰلِكَ صِرْتُ أُتَرْجِمُ لِأُمِّي فِي زِيَارَاتِهَا لِأُسْرَةِ أَبِي، وَأُشَارِكُ فِي تَبَادُلٍ لُغَوِيٍّ أُسْبُوعِيٍّ مَعَ طَالِبَةٍ أُرْدُنِيَّةٍ تُصَحِّحُ نُطْقِي وَأُصَحِّحُ قَوَاعِدَهَا. وَقَدْ عَلَّمَتْنِي هٰذِهِ التَّجَارِبُ أَنَّ التَّوَاصُلَ لَيْسَ كَلِمَاتٍ فَقَطْ، بَلْ إِصْغَاءٌ وَاحْتِرَامٌ أَيْضًا.</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أَمَّا فِي المُسْتَقْبَلِ، فَأَطْمَحُ إِلَى أَنْ أَعْمَلَ مُتَرْجِمَةً فِي مُنَظَّمَةٍ إِنْسَانِيَّةٍ تَخْدُمُ اللَّاجِئِينَ وَالمُهَاجِرِينَ الجُدُدَ. وَلَوْ سُئِلْتُ عَنْ أَثْمَنِ هَدِيَّةٍ أَعْطَانِي إِيَّاهَا وَالِدَايَ، لَقُلْتُ: "لُغَتَانِ، وَقَلْبٌ يَفْهَمُ بِهِمَا".</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الَّتِي أَدْرُسُ بِهَا</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مِمَّا يُضْحِكُ</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لَيْسَتِ الحِفْظَ، بَلِ</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لَوْ سُئِلْتُ … لَقُلْتُ</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18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TE-L02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ب</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Q3 (</a:t>
            </a:r>
            <a:pPr algn="l" indent="0" marL="0">
              <a:buNone/>
            </a:pPr>
            <a:r>
              <a:rPr lang="ar-SA" altLang="en-US" sz="2300" b="1" dirty="0">
                <a:solidFill>
                  <a:srgbClr val="1B3B6F"/>
                </a:solidFill>
                <a:latin typeface="Amiri" pitchFamily="2" charset="-78"/>
                <a:ea typeface="Amiri" pitchFamily="2" charset="-78"/>
                <a:cs typeface="Amiri" pitchFamily="2" charset="-78"/>
              </a:rPr>
              <a:t>ب</a:t>
            </a:r>
            <a:pPr algn="l" indent="0" marL="0">
              <a:buNone/>
            </a:pPr>
            <a:r>
              <a:rPr lang="en-US" sz="1750" b="1" dirty="0">
                <a:solidFill>
                  <a:srgbClr val="1B3B6F"/>
                </a:solidFill>
                <a:latin typeface="Cambria" pitchFamily="34" charset="0"/>
                <a:cs typeface="Amiri" pitchFamily="2" charset="-78"/>
              </a:rPr>
              <a:t>) full-mark model: will machines replace languages?</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TE-L02</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قَبْلَ سَنَوَاتٍ قَلِيلَةٍ، كَانَ السَّائِحُ يَحْمِلُ قَامُوسًا وَرَقِيًّا ثَقِيلًا؛ أَمَّا اليَوْمَ فَيَكْفِيهِ أَنْ يُوَجِّهَ هَاتِفَهُ إِلَى لَافِتَةٍ لِيَقْرَأَهَا بِلُغَتِهِ فِي ثَانِيَةٍ. فَهَلْ سَتُغْنِينَا التَّرْجَمَةُ الآلِيَّةُ عَنْ تَعَلُّمِ اللُّغَاتِ؟</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لَا شَكَّ أَنَّ هٰذِهِ التِّكْنُولُوجْيَا مُفِيدَةٌ جِدًّا؛ فَهِيَ تُسَاعِدُ المُسَافِرِينَ وَالمَرْضَى وَاللَّاجِئِينَ عَلَى التَّوَاصُلِ فِي لَحَظَاتٍ صَعْبَةٍ، كَمَا أَنَّهَا سَرِيعَةٌ وَمَجَّانِيَّةٌ، وَتَتَحَسَّنُ عَامًا بَعْدَ عَامٍ. وَمَعَ ذٰلِكَ، فَإِنَّهَا تُتَرْجِمُ الكَلِمَاتِ لَا المَعَانِيَ؛ إِذْ لَا تَفْهَمُ النُّكْتَةَ وَلَا المَثَلَ وَلَا نَبْرَةَ الصَّوْتِ.</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وَقَدْ رَأَيْتُ ذٰلِكَ بِنَفْسِي عِنْدَمَا اسْتَخْدَمَتْ زَمِيلَتِي تَطْبِيقًا لِتُرْسِلَ تَهْنِئَةً بِالعِيدِ إِلَى جَارَتِهَا العَرَبِيَّةِ، فَخَرَجَتِ الرِّسَالَةُ غَرِيبَةً، وَضَحِكَتِ الجَارَةُ كَثِيرًا، لٰكِنَّ زَمِيلَتِي شَعَرَتْ بِالحَرَجِ الشَّدِيدِ. وَبَعْدَ أَنْ عَلَّمْتُهَا العِبَارَةَ الصَّحِيحَةَ، صَارَتْ تُحَيِّيهَا بِهَا كُلَّ عِيدٍ.</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أَرَى أَنَّ الآلَةَ أَدَاةٌ مُمْتَازَةٌ، غَيْرَ أَنَّهَا لَا تَسْتَطِيعُ أَنْ تَبْنِيَ صَدَاقَةً أَوْ ثِقَةً بَيْنَ شَخْصَيْنِ مِنْ ثَقَافَتَيْنِ مُخْتَلِفَتَيْنِ. فَإِذَا أَرَدْنَا أَنْ نَفْهَمَ النَّاسَ حَقًّا، فَسَنَظَلُّ نَحْتَاجُ إِلَى تَعَلُّمِ لُغَاتِهِمْ وَثَقَافَاتِهِمْ.</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أَمَّا اليَوْمَ فَيَكْفِيهِ</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لَا شَكَّ أَنَّ</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الكَلِمَاتِ لَا المَعَانِيَ</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إِذَا أَرَدْنَا … فَسَنَظَلُّ</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18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TE-L02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Q1: every box in Arabic, with a full sentence in box 8.</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all four bullet points, with a greeting and a closing.</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 verbal noun and a relative clause.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four paragraphs, mostly in the present tense, with a future ending.</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laysa … bal, a concession and a conditional.</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18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TE-L02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great writing practice today!</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WORKSHOP</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TE-L03 · Exam practice · Speaking and writing workshops — the next Topic E lesson</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وَرْشَةُ التَّدْرِيبِ</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cover every bullet point, check your verb endings, and use three time frames in Question 3.</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TE-L02 · Writing Workshop — Multilingual Life and Communication</dc:title>
  <dc:subject>PptxGenJS Presentation</dc:subject>
  <dc:creator>Al Madina Online School · Arabic Department</dc:creator>
  <cp:lastModifiedBy>Al Madina Online School · Arabic Department</cp:lastModifiedBy>
  <cp:revision>1</cp:revision>
  <dcterms:created xsi:type="dcterms:W3CDTF">2026-10-11T14:23:24Z</dcterms:created>
  <dcterms:modified xsi:type="dcterms:W3CDTF">2026-10-11T14:23:24Z</dcterms:modified>
</cp:coreProperties>
</file>